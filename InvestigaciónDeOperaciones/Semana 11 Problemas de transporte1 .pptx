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3"/>
  </p:notesMasterIdLst>
  <p:handoutMasterIdLst>
    <p:handoutMasterId r:id="rId84"/>
  </p:handoutMasterIdLst>
  <p:sldIdLst>
    <p:sldId id="481" r:id="rId2"/>
    <p:sldId id="384" r:id="rId3"/>
    <p:sldId id="302" r:id="rId4"/>
    <p:sldId id="392" r:id="rId5"/>
    <p:sldId id="273" r:id="rId6"/>
    <p:sldId id="277" r:id="rId7"/>
    <p:sldId id="278" r:id="rId8"/>
    <p:sldId id="303" r:id="rId9"/>
    <p:sldId id="305" r:id="rId10"/>
    <p:sldId id="396" r:id="rId11"/>
    <p:sldId id="393" r:id="rId12"/>
    <p:sldId id="395" r:id="rId13"/>
    <p:sldId id="388" r:id="rId14"/>
    <p:sldId id="394" r:id="rId15"/>
    <p:sldId id="389" r:id="rId16"/>
    <p:sldId id="390" r:id="rId17"/>
    <p:sldId id="391" r:id="rId18"/>
    <p:sldId id="310" r:id="rId19"/>
    <p:sldId id="312" r:id="rId20"/>
    <p:sldId id="314" r:id="rId21"/>
    <p:sldId id="315" r:id="rId22"/>
    <p:sldId id="316" r:id="rId23"/>
    <p:sldId id="317" r:id="rId24"/>
    <p:sldId id="318" r:id="rId25"/>
    <p:sldId id="319" r:id="rId26"/>
    <p:sldId id="321" r:id="rId27"/>
    <p:sldId id="325" r:id="rId28"/>
    <p:sldId id="326" r:id="rId29"/>
    <p:sldId id="327" r:id="rId30"/>
    <p:sldId id="328" r:id="rId31"/>
    <p:sldId id="329" r:id="rId32"/>
    <p:sldId id="330" r:id="rId33"/>
    <p:sldId id="357" r:id="rId34"/>
    <p:sldId id="331" r:id="rId35"/>
    <p:sldId id="332" r:id="rId36"/>
    <p:sldId id="333" r:id="rId37"/>
    <p:sldId id="334" r:id="rId38"/>
    <p:sldId id="335" r:id="rId39"/>
    <p:sldId id="336" r:id="rId40"/>
    <p:sldId id="338" r:id="rId41"/>
    <p:sldId id="397" r:id="rId42"/>
    <p:sldId id="342" r:id="rId43"/>
    <p:sldId id="343" r:id="rId44"/>
    <p:sldId id="344" r:id="rId45"/>
    <p:sldId id="345" r:id="rId46"/>
    <p:sldId id="348" r:id="rId47"/>
    <p:sldId id="349" r:id="rId48"/>
    <p:sldId id="351" r:id="rId49"/>
    <p:sldId id="352" r:id="rId50"/>
    <p:sldId id="353" r:id="rId51"/>
    <p:sldId id="354" r:id="rId52"/>
    <p:sldId id="366" r:id="rId53"/>
    <p:sldId id="361" r:id="rId54"/>
    <p:sldId id="367" r:id="rId55"/>
    <p:sldId id="362" r:id="rId56"/>
    <p:sldId id="364" r:id="rId57"/>
    <p:sldId id="363" r:id="rId58"/>
    <p:sldId id="372" r:id="rId59"/>
    <p:sldId id="398" r:id="rId60"/>
    <p:sldId id="370" r:id="rId61"/>
    <p:sldId id="375" r:id="rId62"/>
    <p:sldId id="376" r:id="rId63"/>
    <p:sldId id="378" r:id="rId64"/>
    <p:sldId id="379" r:id="rId65"/>
    <p:sldId id="380" r:id="rId66"/>
    <p:sldId id="381" r:id="rId67"/>
    <p:sldId id="269" r:id="rId68"/>
    <p:sldId id="270" r:id="rId69"/>
    <p:sldId id="407" r:id="rId70"/>
    <p:sldId id="281" r:id="rId71"/>
    <p:sldId id="282" r:id="rId72"/>
    <p:sldId id="284" r:id="rId73"/>
    <p:sldId id="283" r:id="rId74"/>
    <p:sldId id="265" r:id="rId75"/>
    <p:sldId id="442" r:id="rId76"/>
    <p:sldId id="271" r:id="rId77"/>
    <p:sldId id="443" r:id="rId78"/>
    <p:sldId id="448" r:id="rId79"/>
    <p:sldId id="260" r:id="rId80"/>
    <p:sldId id="441" r:id="rId81"/>
    <p:sldId id="280" r:id="rId82"/>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315" autoAdjust="0"/>
    <p:restoredTop sz="94660"/>
  </p:normalViewPr>
  <p:slideViewPr>
    <p:cSldViewPr snapToGrid="0">
      <p:cViewPr varScale="1">
        <p:scale>
          <a:sx n="85" d="100"/>
          <a:sy n="85" d="100"/>
        </p:scale>
        <p:origin x="96" y="1674"/>
      </p:cViewPr>
      <p:guideLst>
        <p:guide orient="horz" pos="2160"/>
        <p:guide pos="3840"/>
      </p:guideLst>
    </p:cSldViewPr>
  </p:slideViewPr>
  <p:notesTextViewPr>
    <p:cViewPr>
      <p:scale>
        <a:sx n="1" d="1"/>
        <a:sy n="1" d="1"/>
      </p:scale>
      <p:origin x="0" y="0"/>
    </p:cViewPr>
  </p:notesTextViewPr>
  <p:sorterViewPr>
    <p:cViewPr varScale="1">
      <p:scale>
        <a:sx n="1" d="1"/>
        <a:sy n="1" d="1"/>
      </p:scale>
      <p:origin x="0" y="-11772"/>
    </p:cViewPr>
  </p:sorter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94FA0D0-CCE8-4A2D-ACDE-08436C2EE14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82797A12-897B-4990-8DCF-B4DEA56E11D2}">
      <dgm:prSet custT="1"/>
      <dgm:spPr/>
      <dgm:t>
        <a:bodyPr/>
        <a:lstStyle/>
        <a:p>
          <a:pPr algn="just" rtl="0"/>
          <a:r>
            <a:rPr lang="es-PE" sz="2000" b="0" noProof="0" dirty="0"/>
            <a:t>Florida Citrus procesa jugo de naranja y lo transforma en concentrado congelado en tres plantas localizadas en Chosica, Vitarte y Comas. De cualquiera de los dos huertos ubicados cerca de Huaral y Cañete se pueden enviar libras de naranja hacia cualquier planta. el huerto que está cerca de Huaral tiene 20000 libras y el huerto que está cerca a Cañete tiene 12000 libras. </a:t>
          </a:r>
          <a:endParaRPr lang="es-PE" sz="2000" noProof="0" dirty="0"/>
        </a:p>
      </dgm:t>
    </dgm:pt>
    <dgm:pt modelId="{112DB09E-1BE2-467A-A05F-A850007CAC4A}" type="parTrans" cxnId="{7F3563A1-1F5C-4F1D-A6D6-AE0B2FC27C08}">
      <dgm:prSet/>
      <dgm:spPr/>
      <dgm:t>
        <a:bodyPr/>
        <a:lstStyle/>
        <a:p>
          <a:pPr algn="just"/>
          <a:endParaRPr lang="es-PE" sz="2000" noProof="0" dirty="0"/>
        </a:p>
      </dgm:t>
    </dgm:pt>
    <dgm:pt modelId="{A9658F3A-C283-42E9-8580-F264ACEF336B}" type="sibTrans" cxnId="{7F3563A1-1F5C-4F1D-A6D6-AE0B2FC27C08}">
      <dgm:prSet/>
      <dgm:spPr/>
      <dgm:t>
        <a:bodyPr/>
        <a:lstStyle/>
        <a:p>
          <a:pPr algn="just"/>
          <a:endParaRPr lang="es-PE" sz="2000" noProof="0" dirty="0"/>
        </a:p>
      </dgm:t>
    </dgm:pt>
    <dgm:pt modelId="{006A939D-EA60-43DE-9438-2E290BE0DA1D}">
      <dgm:prSet custT="1"/>
      <dgm:spPr/>
      <dgm:t>
        <a:bodyPr/>
        <a:lstStyle/>
        <a:p>
          <a:pPr algn="just" rtl="0"/>
          <a:r>
            <a:rPr lang="es-PE" sz="2000" b="0" noProof="0" dirty="0"/>
            <a:t>La planta de Chosica requiere al menos 8000 libras para cumplir su cuota de producción. Las plantas de Vitarte y Comas requieren cada una al menos 11000 libras. Dado el costo de transporte y el precio de venta del concentrado, el objetivo, sujeto a ciertas restricciones de oferta y demanda, es determinar cómo transportar estas naranjas desde de los dos huertos a las tres plantas procesadoras para maximizar la ganancia. Desarrollar y resolver el modelo matemático.</a:t>
          </a:r>
          <a:endParaRPr lang="es-PE" sz="2000" noProof="0" dirty="0"/>
        </a:p>
      </dgm:t>
    </dgm:pt>
    <dgm:pt modelId="{26AB91BD-FAD5-4D6A-847C-BB2FF2CAE0BF}" type="parTrans" cxnId="{E622B70D-3D59-4820-9B32-AD2A172C84A9}">
      <dgm:prSet/>
      <dgm:spPr/>
      <dgm:t>
        <a:bodyPr/>
        <a:lstStyle/>
        <a:p>
          <a:pPr algn="just"/>
          <a:endParaRPr lang="es-PE" sz="2000" noProof="0" dirty="0"/>
        </a:p>
      </dgm:t>
    </dgm:pt>
    <dgm:pt modelId="{EB12F905-2B29-45A6-BA04-D1C791836EAE}" type="sibTrans" cxnId="{E622B70D-3D59-4820-9B32-AD2A172C84A9}">
      <dgm:prSet/>
      <dgm:spPr/>
      <dgm:t>
        <a:bodyPr/>
        <a:lstStyle/>
        <a:p>
          <a:pPr algn="just"/>
          <a:endParaRPr lang="es-PE" sz="2000" noProof="0" dirty="0"/>
        </a:p>
      </dgm:t>
    </dgm:pt>
    <dgm:pt modelId="{12FAA85C-731E-4A8F-B3DA-D6F464426122}" type="pres">
      <dgm:prSet presAssocID="{494FA0D0-CCE8-4A2D-ACDE-08436C2EE148}" presName="linear" presStyleCnt="0">
        <dgm:presLayoutVars>
          <dgm:animLvl val="lvl"/>
          <dgm:resizeHandles val="exact"/>
        </dgm:presLayoutVars>
      </dgm:prSet>
      <dgm:spPr/>
    </dgm:pt>
    <dgm:pt modelId="{E536D257-274E-4CCF-87CC-B791CF35B8BE}" type="pres">
      <dgm:prSet presAssocID="{82797A12-897B-4990-8DCF-B4DEA56E11D2}" presName="parentText" presStyleLbl="node1" presStyleIdx="0" presStyleCnt="2" custScaleY="85106" custLinFactNeighborX="-141">
        <dgm:presLayoutVars>
          <dgm:chMax val="0"/>
          <dgm:bulletEnabled val="1"/>
        </dgm:presLayoutVars>
      </dgm:prSet>
      <dgm:spPr/>
    </dgm:pt>
    <dgm:pt modelId="{45C94C50-D3B9-4531-9ADD-F7594F291221}" type="pres">
      <dgm:prSet presAssocID="{A9658F3A-C283-42E9-8580-F264ACEF336B}" presName="spacer" presStyleCnt="0"/>
      <dgm:spPr/>
    </dgm:pt>
    <dgm:pt modelId="{096A12EE-DF6A-43F4-8564-6B59492D4D37}" type="pres">
      <dgm:prSet presAssocID="{006A939D-EA60-43DE-9438-2E290BE0DA1D}" presName="parentText" presStyleLbl="node1" presStyleIdx="1" presStyleCnt="2" custLinFactY="3931" custLinFactNeighborX="-282" custLinFactNeighborY="100000">
        <dgm:presLayoutVars>
          <dgm:chMax val="0"/>
          <dgm:bulletEnabled val="1"/>
        </dgm:presLayoutVars>
      </dgm:prSet>
      <dgm:spPr/>
    </dgm:pt>
  </dgm:ptLst>
  <dgm:cxnLst>
    <dgm:cxn modelId="{E622B70D-3D59-4820-9B32-AD2A172C84A9}" srcId="{494FA0D0-CCE8-4A2D-ACDE-08436C2EE148}" destId="{006A939D-EA60-43DE-9438-2E290BE0DA1D}" srcOrd="1" destOrd="0" parTransId="{26AB91BD-FAD5-4D6A-847C-BB2FF2CAE0BF}" sibTransId="{EB12F905-2B29-45A6-BA04-D1C791836EAE}"/>
    <dgm:cxn modelId="{61951B80-C723-41EE-8A36-AC65C4ADBE1D}" type="presOf" srcId="{82797A12-897B-4990-8DCF-B4DEA56E11D2}" destId="{E536D257-274E-4CCF-87CC-B791CF35B8BE}" srcOrd="0" destOrd="0" presId="urn:microsoft.com/office/officeart/2005/8/layout/vList2"/>
    <dgm:cxn modelId="{7F3563A1-1F5C-4F1D-A6D6-AE0B2FC27C08}" srcId="{494FA0D0-CCE8-4A2D-ACDE-08436C2EE148}" destId="{82797A12-897B-4990-8DCF-B4DEA56E11D2}" srcOrd="0" destOrd="0" parTransId="{112DB09E-1BE2-467A-A05F-A850007CAC4A}" sibTransId="{A9658F3A-C283-42E9-8580-F264ACEF336B}"/>
    <dgm:cxn modelId="{08543CC4-209D-46EF-815B-E9E39D62B292}" type="presOf" srcId="{494FA0D0-CCE8-4A2D-ACDE-08436C2EE148}" destId="{12FAA85C-731E-4A8F-B3DA-D6F464426122}" srcOrd="0" destOrd="0" presId="urn:microsoft.com/office/officeart/2005/8/layout/vList2"/>
    <dgm:cxn modelId="{72CF7FE3-FF36-4226-83EB-B80DF018334A}" type="presOf" srcId="{006A939D-EA60-43DE-9438-2E290BE0DA1D}" destId="{096A12EE-DF6A-43F4-8564-6B59492D4D37}" srcOrd="0" destOrd="0" presId="urn:microsoft.com/office/officeart/2005/8/layout/vList2"/>
    <dgm:cxn modelId="{35CD5124-E040-4A83-923E-C5D063D1AD20}" type="presParOf" srcId="{12FAA85C-731E-4A8F-B3DA-D6F464426122}" destId="{E536D257-274E-4CCF-87CC-B791CF35B8BE}" srcOrd="0" destOrd="0" presId="urn:microsoft.com/office/officeart/2005/8/layout/vList2"/>
    <dgm:cxn modelId="{2FA7ECEC-5AF0-4B28-9A06-31967F442A1F}" type="presParOf" srcId="{12FAA85C-731E-4A8F-B3DA-D6F464426122}" destId="{45C94C50-D3B9-4531-9ADD-F7594F291221}" srcOrd="1" destOrd="0" presId="urn:microsoft.com/office/officeart/2005/8/layout/vList2"/>
    <dgm:cxn modelId="{F8225514-3C36-409C-B7B7-2B6D933B2D15}" type="presParOf" srcId="{12FAA85C-731E-4A8F-B3DA-D6F464426122}" destId="{096A12EE-DF6A-43F4-8564-6B59492D4D37}"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086FF77-FCB5-4D4C-8D1D-FCDA35AAFC9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47A15D18-4A34-460E-B2CC-198F58DEED0E}">
      <dgm:prSet custT="1"/>
      <dgm:spPr/>
      <dgm:t>
        <a:bodyPr/>
        <a:lstStyle/>
        <a:p>
          <a:pPr algn="just" rtl="0"/>
          <a:r>
            <a:rPr lang="es-PE" sz="2400" b="0" noProof="0" dirty="0">
              <a:latin typeface="Arial Narrow" panose="020B0606020202030204" pitchFamily="34" charset="0"/>
            </a:rPr>
            <a:t>La empresa “</a:t>
          </a:r>
          <a:r>
            <a:rPr lang="es-PE" sz="2400" b="0" noProof="0" dirty="0" err="1">
              <a:latin typeface="Arial Narrow" panose="020B0606020202030204" pitchFamily="34" charset="0"/>
            </a:rPr>
            <a:t>C.N</a:t>
          </a:r>
          <a:r>
            <a:rPr lang="es-PE" sz="2400" b="0" noProof="0" dirty="0">
              <a:latin typeface="Arial Narrow" panose="020B0606020202030204" pitchFamily="34" charset="0"/>
            </a:rPr>
            <a:t>.” elabora una cerveza que se distribuye a nivel nacional a partir de dos fábricas, una  en el norte  y la otra en el sur del país.  La cerveza se envía a cuatro mayoristas  que se encargan de la distribución, por lo que la empresa se ocupa sólo de la distribución a los mayoristas. </a:t>
          </a:r>
          <a:endParaRPr lang="es-PE" sz="2400" noProof="0" dirty="0">
            <a:latin typeface="Arial Narrow" panose="020B0606020202030204" pitchFamily="34" charset="0"/>
          </a:endParaRPr>
        </a:p>
      </dgm:t>
    </dgm:pt>
    <dgm:pt modelId="{37EEE730-24F0-48D3-9868-8A1DE4C5A18E}" type="parTrans" cxnId="{0791BF15-BF6C-4EF0-B514-9E76388E9C03}">
      <dgm:prSet/>
      <dgm:spPr/>
      <dgm:t>
        <a:bodyPr/>
        <a:lstStyle/>
        <a:p>
          <a:pPr algn="just"/>
          <a:endParaRPr lang="es-PE" sz="2400" noProof="0" dirty="0">
            <a:latin typeface="Arial Narrow" panose="020B0606020202030204" pitchFamily="34" charset="0"/>
          </a:endParaRPr>
        </a:p>
      </dgm:t>
    </dgm:pt>
    <dgm:pt modelId="{A4586672-5DE2-482C-9621-BD4BC6527BEF}" type="sibTrans" cxnId="{0791BF15-BF6C-4EF0-B514-9E76388E9C03}">
      <dgm:prSet/>
      <dgm:spPr/>
      <dgm:t>
        <a:bodyPr/>
        <a:lstStyle/>
        <a:p>
          <a:pPr algn="just"/>
          <a:endParaRPr lang="es-PE" sz="2400" noProof="0" dirty="0">
            <a:latin typeface="Arial Narrow" panose="020B0606020202030204" pitchFamily="34" charset="0"/>
          </a:endParaRPr>
        </a:p>
      </dgm:t>
    </dgm:pt>
    <dgm:pt modelId="{110EAFB9-D385-4075-ADDC-112E6FC22505}">
      <dgm:prSet custT="1"/>
      <dgm:spPr/>
      <dgm:t>
        <a:bodyPr/>
        <a:lstStyle/>
        <a:p>
          <a:pPr algn="just" rtl="0"/>
          <a:r>
            <a:rPr lang="es-PE" sz="2400" b="0" noProof="0" dirty="0">
              <a:latin typeface="Arial Narrow" panose="020B0606020202030204" pitchFamily="34" charset="0"/>
            </a:rPr>
            <a:t>Los costos de distribución en dólares por conjunto  de 100 cajas que se envían a cada mayoristas; se presenta en la siguiente tabla junto con la oferta mensual en cada fábrica y la demanda mensual de cada mayorista. Determine la distribución más económica usando Vogel.</a:t>
          </a:r>
          <a:endParaRPr lang="es-PE" sz="2400" noProof="0" dirty="0">
            <a:latin typeface="Arial Narrow" panose="020B0606020202030204" pitchFamily="34" charset="0"/>
          </a:endParaRPr>
        </a:p>
      </dgm:t>
    </dgm:pt>
    <dgm:pt modelId="{89A31541-E60B-41CF-A95E-E7FD217E92D9}" type="parTrans" cxnId="{AAF11547-CE1A-4E4B-A35D-FB21F4BC93AC}">
      <dgm:prSet/>
      <dgm:spPr/>
      <dgm:t>
        <a:bodyPr/>
        <a:lstStyle/>
        <a:p>
          <a:pPr algn="just"/>
          <a:endParaRPr lang="es-PE" sz="2400" noProof="0" dirty="0">
            <a:latin typeface="Arial Narrow" panose="020B0606020202030204" pitchFamily="34" charset="0"/>
          </a:endParaRPr>
        </a:p>
      </dgm:t>
    </dgm:pt>
    <dgm:pt modelId="{7D171103-B9BB-4819-A711-FCC617B115D5}" type="sibTrans" cxnId="{AAF11547-CE1A-4E4B-A35D-FB21F4BC93AC}">
      <dgm:prSet/>
      <dgm:spPr/>
      <dgm:t>
        <a:bodyPr/>
        <a:lstStyle/>
        <a:p>
          <a:pPr algn="just"/>
          <a:endParaRPr lang="es-PE" sz="2400" noProof="0" dirty="0">
            <a:latin typeface="Arial Narrow" panose="020B0606020202030204" pitchFamily="34" charset="0"/>
          </a:endParaRPr>
        </a:p>
      </dgm:t>
    </dgm:pt>
    <dgm:pt modelId="{35813896-86A4-4729-BF96-0BADB3324478}" type="pres">
      <dgm:prSet presAssocID="{6086FF77-FCB5-4D4C-8D1D-FCDA35AAFC94}" presName="linear" presStyleCnt="0">
        <dgm:presLayoutVars>
          <dgm:animLvl val="lvl"/>
          <dgm:resizeHandles val="exact"/>
        </dgm:presLayoutVars>
      </dgm:prSet>
      <dgm:spPr/>
    </dgm:pt>
    <dgm:pt modelId="{94DA69E6-FF44-410D-9485-5A5830DF4BE4}" type="pres">
      <dgm:prSet presAssocID="{47A15D18-4A34-460E-B2CC-198F58DEED0E}" presName="parentText" presStyleLbl="node1" presStyleIdx="0" presStyleCnt="2" custLinFactNeighborX="-111">
        <dgm:presLayoutVars>
          <dgm:chMax val="0"/>
          <dgm:bulletEnabled val="1"/>
        </dgm:presLayoutVars>
      </dgm:prSet>
      <dgm:spPr/>
    </dgm:pt>
    <dgm:pt modelId="{0EDA1E3A-7908-4981-81AE-AA856DF9B1F7}" type="pres">
      <dgm:prSet presAssocID="{A4586672-5DE2-482C-9621-BD4BC6527BEF}" presName="spacer" presStyleCnt="0"/>
      <dgm:spPr/>
    </dgm:pt>
    <dgm:pt modelId="{0BCAEB8F-4F7E-46E3-9AB1-2ABA485431A7}" type="pres">
      <dgm:prSet presAssocID="{110EAFB9-D385-4075-ADDC-112E6FC22505}" presName="parentText" presStyleLbl="node1" presStyleIdx="1" presStyleCnt="2">
        <dgm:presLayoutVars>
          <dgm:chMax val="0"/>
          <dgm:bulletEnabled val="1"/>
        </dgm:presLayoutVars>
      </dgm:prSet>
      <dgm:spPr/>
    </dgm:pt>
  </dgm:ptLst>
  <dgm:cxnLst>
    <dgm:cxn modelId="{0791BF15-BF6C-4EF0-B514-9E76388E9C03}" srcId="{6086FF77-FCB5-4D4C-8D1D-FCDA35AAFC94}" destId="{47A15D18-4A34-460E-B2CC-198F58DEED0E}" srcOrd="0" destOrd="0" parTransId="{37EEE730-24F0-48D3-9868-8A1DE4C5A18E}" sibTransId="{A4586672-5DE2-482C-9621-BD4BC6527BEF}"/>
    <dgm:cxn modelId="{E83D945B-87F1-407F-BE05-287A94E120B3}" type="presOf" srcId="{110EAFB9-D385-4075-ADDC-112E6FC22505}" destId="{0BCAEB8F-4F7E-46E3-9AB1-2ABA485431A7}" srcOrd="0" destOrd="0" presId="urn:microsoft.com/office/officeart/2005/8/layout/vList2"/>
    <dgm:cxn modelId="{AAF11547-CE1A-4E4B-A35D-FB21F4BC93AC}" srcId="{6086FF77-FCB5-4D4C-8D1D-FCDA35AAFC94}" destId="{110EAFB9-D385-4075-ADDC-112E6FC22505}" srcOrd="1" destOrd="0" parTransId="{89A31541-E60B-41CF-A95E-E7FD217E92D9}" sibTransId="{7D171103-B9BB-4819-A711-FCC617B115D5}"/>
    <dgm:cxn modelId="{A2E3B180-2B97-4A7F-A292-57FBD73BA54E}" type="presOf" srcId="{6086FF77-FCB5-4D4C-8D1D-FCDA35AAFC94}" destId="{35813896-86A4-4729-BF96-0BADB3324478}" srcOrd="0" destOrd="0" presId="urn:microsoft.com/office/officeart/2005/8/layout/vList2"/>
    <dgm:cxn modelId="{C2E8E1BC-1747-4CFE-9C8C-F70CA6512359}" type="presOf" srcId="{47A15D18-4A34-460E-B2CC-198F58DEED0E}" destId="{94DA69E6-FF44-410D-9485-5A5830DF4BE4}" srcOrd="0" destOrd="0" presId="urn:microsoft.com/office/officeart/2005/8/layout/vList2"/>
    <dgm:cxn modelId="{974D09BA-9B6D-4EE8-81D4-3C3A3BEF5FF5}" type="presParOf" srcId="{35813896-86A4-4729-BF96-0BADB3324478}" destId="{94DA69E6-FF44-410D-9485-5A5830DF4BE4}" srcOrd="0" destOrd="0" presId="urn:microsoft.com/office/officeart/2005/8/layout/vList2"/>
    <dgm:cxn modelId="{DB8D87C6-AD70-4B05-A02E-CE5C7F87289D}" type="presParOf" srcId="{35813896-86A4-4729-BF96-0BADB3324478}" destId="{0EDA1E3A-7908-4981-81AE-AA856DF9B1F7}" srcOrd="1" destOrd="0" presId="urn:microsoft.com/office/officeart/2005/8/layout/vList2"/>
    <dgm:cxn modelId="{F06B5693-522E-4DE3-9C4C-F120B88BC4F3}" type="presParOf" srcId="{35813896-86A4-4729-BF96-0BADB3324478}" destId="{0BCAEB8F-4F7E-46E3-9AB1-2ABA485431A7}"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BA6A6CE-71EA-4630-95DE-8ECCE6BFD6D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CA8868FA-58E7-4C7C-A169-E446446D68D6}">
      <dgm:prSet/>
      <dgm:spPr/>
      <dgm:t>
        <a:bodyPr/>
        <a:lstStyle/>
        <a:p>
          <a:pPr rtl="0"/>
          <a:r>
            <a:rPr lang="en-US" b="0" dirty="0" err="1"/>
            <a:t>X14</a:t>
          </a:r>
          <a:r>
            <a:rPr lang="en-US" b="0" dirty="0"/>
            <a:t>=350		C= 350*9   = 3150</a:t>
          </a:r>
          <a:endParaRPr lang="es-PE" dirty="0"/>
        </a:p>
      </dgm:t>
    </dgm:pt>
    <dgm:pt modelId="{7B4D5596-067C-44D4-9FF6-AFBEEDBD41B8}" type="parTrans" cxnId="{EDBB3BFB-7999-4835-AA76-94DECF396FBD}">
      <dgm:prSet/>
      <dgm:spPr/>
      <dgm:t>
        <a:bodyPr/>
        <a:lstStyle/>
        <a:p>
          <a:endParaRPr lang="es-PE"/>
        </a:p>
      </dgm:t>
    </dgm:pt>
    <dgm:pt modelId="{3BFCC184-1EB1-4160-A628-9213DAC075CE}" type="sibTrans" cxnId="{EDBB3BFB-7999-4835-AA76-94DECF396FBD}">
      <dgm:prSet/>
      <dgm:spPr/>
      <dgm:t>
        <a:bodyPr/>
        <a:lstStyle/>
        <a:p>
          <a:endParaRPr lang="es-PE"/>
        </a:p>
      </dgm:t>
    </dgm:pt>
    <dgm:pt modelId="{216B442F-908D-48C8-B09F-B2643B8B7EEB}">
      <dgm:prSet/>
      <dgm:spPr/>
      <dgm:t>
        <a:bodyPr/>
        <a:lstStyle/>
        <a:p>
          <a:pPr rtl="0"/>
          <a:r>
            <a:rPr lang="en-US" b="0"/>
            <a:t>X21=200		C= 200*10 = 2000</a:t>
          </a:r>
          <a:endParaRPr lang="es-PE"/>
        </a:p>
      </dgm:t>
    </dgm:pt>
    <dgm:pt modelId="{C7397FEE-BEAD-4858-8881-C5C1A766A4BA}" type="parTrans" cxnId="{48E7F183-55E5-4707-9D6A-F99844D1A47B}">
      <dgm:prSet/>
      <dgm:spPr/>
      <dgm:t>
        <a:bodyPr/>
        <a:lstStyle/>
        <a:p>
          <a:endParaRPr lang="es-PE"/>
        </a:p>
      </dgm:t>
    </dgm:pt>
    <dgm:pt modelId="{80E0E8F4-46CB-41C6-97B0-87221FFACD93}" type="sibTrans" cxnId="{48E7F183-55E5-4707-9D6A-F99844D1A47B}">
      <dgm:prSet/>
      <dgm:spPr/>
      <dgm:t>
        <a:bodyPr/>
        <a:lstStyle/>
        <a:p>
          <a:endParaRPr lang="es-PE"/>
        </a:p>
      </dgm:t>
    </dgm:pt>
    <dgm:pt modelId="{B0951F05-5E85-4106-A306-85B8B10BD975}">
      <dgm:prSet/>
      <dgm:spPr/>
      <dgm:t>
        <a:bodyPr/>
        <a:lstStyle/>
        <a:p>
          <a:pPr rtl="0"/>
          <a:r>
            <a:rPr lang="en-US" b="0"/>
            <a:t>X12=200		C= 200*15 = 3000</a:t>
          </a:r>
          <a:endParaRPr lang="es-PE"/>
        </a:p>
      </dgm:t>
    </dgm:pt>
    <dgm:pt modelId="{A01314D9-B2D9-425C-A6EE-D643B5CF72C6}" type="parTrans" cxnId="{5ED8258F-E41D-4F42-BF76-9B67DE84D0A2}">
      <dgm:prSet/>
      <dgm:spPr/>
      <dgm:t>
        <a:bodyPr/>
        <a:lstStyle/>
        <a:p>
          <a:endParaRPr lang="es-PE"/>
        </a:p>
      </dgm:t>
    </dgm:pt>
    <dgm:pt modelId="{384C7112-910D-4900-983E-ECC002E63996}" type="sibTrans" cxnId="{5ED8258F-E41D-4F42-BF76-9B67DE84D0A2}">
      <dgm:prSet/>
      <dgm:spPr/>
      <dgm:t>
        <a:bodyPr/>
        <a:lstStyle/>
        <a:p>
          <a:endParaRPr lang="es-PE"/>
        </a:p>
      </dgm:t>
    </dgm:pt>
    <dgm:pt modelId="{37101007-318B-4BD1-A790-50303100FD8A}">
      <dgm:prSet/>
      <dgm:spPr/>
      <dgm:t>
        <a:bodyPr/>
        <a:lstStyle/>
        <a:p>
          <a:pPr rtl="0"/>
          <a:r>
            <a:rPr lang="en-US" b="0" dirty="0" err="1"/>
            <a:t>X22</a:t>
          </a:r>
          <a:r>
            <a:rPr lang="en-US" b="0" dirty="0"/>
            <a:t>=50			C= 50*14  =   700</a:t>
          </a:r>
          <a:endParaRPr lang="es-PE" dirty="0"/>
        </a:p>
      </dgm:t>
    </dgm:pt>
    <dgm:pt modelId="{EE7C72DB-8A55-4936-A673-A05259F42760}" type="parTrans" cxnId="{F27F387A-5561-44CD-802F-1D1B26077399}">
      <dgm:prSet/>
      <dgm:spPr/>
      <dgm:t>
        <a:bodyPr/>
        <a:lstStyle/>
        <a:p>
          <a:endParaRPr lang="es-PE"/>
        </a:p>
      </dgm:t>
    </dgm:pt>
    <dgm:pt modelId="{D0F29A3B-AD64-47A3-B44A-11C7302C6D82}" type="sibTrans" cxnId="{F27F387A-5561-44CD-802F-1D1B26077399}">
      <dgm:prSet/>
      <dgm:spPr/>
      <dgm:t>
        <a:bodyPr/>
        <a:lstStyle/>
        <a:p>
          <a:endParaRPr lang="es-PE"/>
        </a:p>
      </dgm:t>
    </dgm:pt>
    <dgm:pt modelId="{73DB2F12-8BE5-432D-95AA-9A727A167826}">
      <dgm:prSet/>
      <dgm:spPr/>
      <dgm:t>
        <a:bodyPr/>
        <a:lstStyle/>
        <a:p>
          <a:pPr rtl="0"/>
          <a:r>
            <a:rPr lang="en-US" b="0"/>
            <a:t>X23=400		C= 400*16 = 6400</a:t>
          </a:r>
          <a:endParaRPr lang="es-PE"/>
        </a:p>
      </dgm:t>
    </dgm:pt>
    <dgm:pt modelId="{E19FE19A-0AC4-4C05-87C7-034831600577}" type="parTrans" cxnId="{659AABD9-3D35-4C18-8627-A266B34F7965}">
      <dgm:prSet/>
      <dgm:spPr/>
      <dgm:t>
        <a:bodyPr/>
        <a:lstStyle/>
        <a:p>
          <a:endParaRPr lang="es-PE"/>
        </a:p>
      </dgm:t>
    </dgm:pt>
    <dgm:pt modelId="{51E4CD1F-3E8A-4996-B76E-43D5F81DC87C}" type="sibTrans" cxnId="{659AABD9-3D35-4C18-8627-A266B34F7965}">
      <dgm:prSet/>
      <dgm:spPr/>
      <dgm:t>
        <a:bodyPr/>
        <a:lstStyle/>
        <a:p>
          <a:endParaRPr lang="es-PE"/>
        </a:p>
      </dgm:t>
    </dgm:pt>
    <dgm:pt modelId="{A45F1D23-3669-48E0-B25E-AE706074F31B}">
      <dgm:prSet/>
      <dgm:spPr/>
      <dgm:t>
        <a:bodyPr/>
        <a:lstStyle/>
        <a:p>
          <a:pPr rtl="0"/>
          <a:r>
            <a:rPr lang="en-US" b="0" dirty="0">
              <a:solidFill>
                <a:schemeClr val="tx1"/>
              </a:solidFill>
            </a:rPr>
            <a:t>                                                          </a:t>
          </a:r>
          <a:endParaRPr lang="es-PE" dirty="0">
            <a:solidFill>
              <a:srgbClr val="FF0000"/>
            </a:solidFill>
          </a:endParaRPr>
        </a:p>
      </dgm:t>
    </dgm:pt>
    <dgm:pt modelId="{83677C34-91EF-4AB5-90C5-A4DF9EEDE1CE}" type="parTrans" cxnId="{483582B8-656E-4B99-B08C-DD8404DACF20}">
      <dgm:prSet/>
      <dgm:spPr/>
      <dgm:t>
        <a:bodyPr/>
        <a:lstStyle/>
        <a:p>
          <a:endParaRPr lang="es-PE"/>
        </a:p>
      </dgm:t>
    </dgm:pt>
    <dgm:pt modelId="{DF431603-8AC0-4F32-BAD5-6BBEB9D75181}" type="sibTrans" cxnId="{483582B8-656E-4B99-B08C-DD8404DACF20}">
      <dgm:prSet/>
      <dgm:spPr/>
      <dgm:t>
        <a:bodyPr/>
        <a:lstStyle/>
        <a:p>
          <a:endParaRPr lang="es-PE"/>
        </a:p>
      </dgm:t>
    </dgm:pt>
    <dgm:pt modelId="{C6BEB74C-3D31-46D1-9097-74790BF6716E}" type="pres">
      <dgm:prSet presAssocID="{EBA6A6CE-71EA-4630-95DE-8ECCE6BFD6DC}" presName="linear" presStyleCnt="0">
        <dgm:presLayoutVars>
          <dgm:animLvl val="lvl"/>
          <dgm:resizeHandles val="exact"/>
        </dgm:presLayoutVars>
      </dgm:prSet>
      <dgm:spPr/>
    </dgm:pt>
    <dgm:pt modelId="{577DD6FD-2301-4633-AC29-6506B46E7A68}" type="pres">
      <dgm:prSet presAssocID="{CA8868FA-58E7-4C7C-A169-E446446D68D6}" presName="parentText" presStyleLbl="node1" presStyleIdx="0" presStyleCnt="5">
        <dgm:presLayoutVars>
          <dgm:chMax val="0"/>
          <dgm:bulletEnabled val="1"/>
        </dgm:presLayoutVars>
      </dgm:prSet>
      <dgm:spPr/>
    </dgm:pt>
    <dgm:pt modelId="{5AB3BB00-5AC0-4EF0-B150-88636B8144E7}" type="pres">
      <dgm:prSet presAssocID="{3BFCC184-1EB1-4160-A628-9213DAC075CE}" presName="spacer" presStyleCnt="0"/>
      <dgm:spPr/>
    </dgm:pt>
    <dgm:pt modelId="{CE6BCFCB-8580-4F57-90B0-6D14E4574938}" type="pres">
      <dgm:prSet presAssocID="{216B442F-908D-48C8-B09F-B2643B8B7EEB}" presName="parentText" presStyleLbl="node1" presStyleIdx="1" presStyleCnt="5">
        <dgm:presLayoutVars>
          <dgm:chMax val="0"/>
          <dgm:bulletEnabled val="1"/>
        </dgm:presLayoutVars>
      </dgm:prSet>
      <dgm:spPr/>
    </dgm:pt>
    <dgm:pt modelId="{C2106ED2-D348-41F7-A0F9-8DFA58CA722D}" type="pres">
      <dgm:prSet presAssocID="{80E0E8F4-46CB-41C6-97B0-87221FFACD93}" presName="spacer" presStyleCnt="0"/>
      <dgm:spPr/>
    </dgm:pt>
    <dgm:pt modelId="{584D219A-42B9-4697-9423-343927B0ABA1}" type="pres">
      <dgm:prSet presAssocID="{B0951F05-5E85-4106-A306-85B8B10BD975}" presName="parentText" presStyleLbl="node1" presStyleIdx="2" presStyleCnt="5">
        <dgm:presLayoutVars>
          <dgm:chMax val="0"/>
          <dgm:bulletEnabled val="1"/>
        </dgm:presLayoutVars>
      </dgm:prSet>
      <dgm:spPr/>
    </dgm:pt>
    <dgm:pt modelId="{E2F800FF-8286-48D8-93A8-1C264AA6573D}" type="pres">
      <dgm:prSet presAssocID="{384C7112-910D-4900-983E-ECC002E63996}" presName="spacer" presStyleCnt="0"/>
      <dgm:spPr/>
    </dgm:pt>
    <dgm:pt modelId="{BC736452-51AD-48BC-980B-33D917687D50}" type="pres">
      <dgm:prSet presAssocID="{37101007-318B-4BD1-A790-50303100FD8A}" presName="parentText" presStyleLbl="node1" presStyleIdx="3" presStyleCnt="5">
        <dgm:presLayoutVars>
          <dgm:chMax val="0"/>
          <dgm:bulletEnabled val="1"/>
        </dgm:presLayoutVars>
      </dgm:prSet>
      <dgm:spPr/>
    </dgm:pt>
    <dgm:pt modelId="{2B248C85-4580-42DE-9051-CBC54B8009E4}" type="pres">
      <dgm:prSet presAssocID="{D0F29A3B-AD64-47A3-B44A-11C7302C6D82}" presName="spacer" presStyleCnt="0"/>
      <dgm:spPr/>
    </dgm:pt>
    <dgm:pt modelId="{0C248D5F-BC3A-4597-8C25-89273EB00973}" type="pres">
      <dgm:prSet presAssocID="{73DB2F12-8BE5-432D-95AA-9A727A167826}" presName="parentText" presStyleLbl="node1" presStyleIdx="4" presStyleCnt="5">
        <dgm:presLayoutVars>
          <dgm:chMax val="0"/>
          <dgm:bulletEnabled val="1"/>
        </dgm:presLayoutVars>
      </dgm:prSet>
      <dgm:spPr/>
    </dgm:pt>
    <dgm:pt modelId="{7FAFC8E3-27F1-466C-A1FC-93C060D6B014}" type="pres">
      <dgm:prSet presAssocID="{73DB2F12-8BE5-432D-95AA-9A727A167826}" presName="childText" presStyleLbl="revTx" presStyleIdx="0" presStyleCnt="1">
        <dgm:presLayoutVars>
          <dgm:bulletEnabled val="1"/>
        </dgm:presLayoutVars>
      </dgm:prSet>
      <dgm:spPr/>
    </dgm:pt>
  </dgm:ptLst>
  <dgm:cxnLst>
    <dgm:cxn modelId="{F1DAD319-FDCA-4CB9-B511-3464B1ECF412}" type="presOf" srcId="{CA8868FA-58E7-4C7C-A169-E446446D68D6}" destId="{577DD6FD-2301-4633-AC29-6506B46E7A68}" srcOrd="0" destOrd="0" presId="urn:microsoft.com/office/officeart/2005/8/layout/vList2"/>
    <dgm:cxn modelId="{42FF6949-6491-461A-A82D-051B9887502B}" type="presOf" srcId="{A45F1D23-3669-48E0-B25E-AE706074F31B}" destId="{7FAFC8E3-27F1-466C-A1FC-93C060D6B014}" srcOrd="0" destOrd="0" presId="urn:microsoft.com/office/officeart/2005/8/layout/vList2"/>
    <dgm:cxn modelId="{F736FE4A-A5F8-4BE4-AA03-D82132630166}" type="presOf" srcId="{73DB2F12-8BE5-432D-95AA-9A727A167826}" destId="{0C248D5F-BC3A-4597-8C25-89273EB00973}" srcOrd="0" destOrd="0" presId="urn:microsoft.com/office/officeart/2005/8/layout/vList2"/>
    <dgm:cxn modelId="{9F0E574F-7080-40C7-9439-7B1FF08FAD97}" type="presOf" srcId="{37101007-318B-4BD1-A790-50303100FD8A}" destId="{BC736452-51AD-48BC-980B-33D917687D50}" srcOrd="0" destOrd="0" presId="urn:microsoft.com/office/officeart/2005/8/layout/vList2"/>
    <dgm:cxn modelId="{3CE47278-9641-4B70-9DCC-00DCB97629F0}" type="presOf" srcId="{EBA6A6CE-71EA-4630-95DE-8ECCE6BFD6DC}" destId="{C6BEB74C-3D31-46D1-9097-74790BF6716E}" srcOrd="0" destOrd="0" presId="urn:microsoft.com/office/officeart/2005/8/layout/vList2"/>
    <dgm:cxn modelId="{F27F387A-5561-44CD-802F-1D1B26077399}" srcId="{EBA6A6CE-71EA-4630-95DE-8ECCE6BFD6DC}" destId="{37101007-318B-4BD1-A790-50303100FD8A}" srcOrd="3" destOrd="0" parTransId="{EE7C72DB-8A55-4936-A673-A05259F42760}" sibTransId="{D0F29A3B-AD64-47A3-B44A-11C7302C6D82}"/>
    <dgm:cxn modelId="{48E7F183-55E5-4707-9D6A-F99844D1A47B}" srcId="{EBA6A6CE-71EA-4630-95DE-8ECCE6BFD6DC}" destId="{216B442F-908D-48C8-B09F-B2643B8B7EEB}" srcOrd="1" destOrd="0" parTransId="{C7397FEE-BEAD-4858-8881-C5C1A766A4BA}" sibTransId="{80E0E8F4-46CB-41C6-97B0-87221FFACD93}"/>
    <dgm:cxn modelId="{5ED8258F-E41D-4F42-BF76-9B67DE84D0A2}" srcId="{EBA6A6CE-71EA-4630-95DE-8ECCE6BFD6DC}" destId="{B0951F05-5E85-4106-A306-85B8B10BD975}" srcOrd="2" destOrd="0" parTransId="{A01314D9-B2D9-425C-A6EE-D643B5CF72C6}" sibTransId="{384C7112-910D-4900-983E-ECC002E63996}"/>
    <dgm:cxn modelId="{17D373A9-FA20-49C0-AD9D-F49E15032C20}" type="presOf" srcId="{216B442F-908D-48C8-B09F-B2643B8B7EEB}" destId="{CE6BCFCB-8580-4F57-90B0-6D14E4574938}" srcOrd="0" destOrd="0" presId="urn:microsoft.com/office/officeart/2005/8/layout/vList2"/>
    <dgm:cxn modelId="{483582B8-656E-4B99-B08C-DD8404DACF20}" srcId="{73DB2F12-8BE5-432D-95AA-9A727A167826}" destId="{A45F1D23-3669-48E0-B25E-AE706074F31B}" srcOrd="0" destOrd="0" parTransId="{83677C34-91EF-4AB5-90C5-A4DF9EEDE1CE}" sibTransId="{DF431603-8AC0-4F32-BAD5-6BBEB9D75181}"/>
    <dgm:cxn modelId="{A1E731CC-3C8C-4B9D-9EA9-D597AD01FE3F}" type="presOf" srcId="{B0951F05-5E85-4106-A306-85B8B10BD975}" destId="{584D219A-42B9-4697-9423-343927B0ABA1}" srcOrd="0" destOrd="0" presId="urn:microsoft.com/office/officeart/2005/8/layout/vList2"/>
    <dgm:cxn modelId="{659AABD9-3D35-4C18-8627-A266B34F7965}" srcId="{EBA6A6CE-71EA-4630-95DE-8ECCE6BFD6DC}" destId="{73DB2F12-8BE5-432D-95AA-9A727A167826}" srcOrd="4" destOrd="0" parTransId="{E19FE19A-0AC4-4C05-87C7-034831600577}" sibTransId="{51E4CD1F-3E8A-4996-B76E-43D5F81DC87C}"/>
    <dgm:cxn modelId="{EDBB3BFB-7999-4835-AA76-94DECF396FBD}" srcId="{EBA6A6CE-71EA-4630-95DE-8ECCE6BFD6DC}" destId="{CA8868FA-58E7-4C7C-A169-E446446D68D6}" srcOrd="0" destOrd="0" parTransId="{7B4D5596-067C-44D4-9FF6-AFBEEDBD41B8}" sibTransId="{3BFCC184-1EB1-4160-A628-9213DAC075CE}"/>
    <dgm:cxn modelId="{9F2A3982-43C9-4C42-98A6-A3F3A92547A6}" type="presParOf" srcId="{C6BEB74C-3D31-46D1-9097-74790BF6716E}" destId="{577DD6FD-2301-4633-AC29-6506B46E7A68}" srcOrd="0" destOrd="0" presId="urn:microsoft.com/office/officeart/2005/8/layout/vList2"/>
    <dgm:cxn modelId="{DED2559B-EEA7-45C6-9805-2B68BE3BD281}" type="presParOf" srcId="{C6BEB74C-3D31-46D1-9097-74790BF6716E}" destId="{5AB3BB00-5AC0-4EF0-B150-88636B8144E7}" srcOrd="1" destOrd="0" presId="urn:microsoft.com/office/officeart/2005/8/layout/vList2"/>
    <dgm:cxn modelId="{63DC0E06-79AA-4639-A05E-FAC5000FE301}" type="presParOf" srcId="{C6BEB74C-3D31-46D1-9097-74790BF6716E}" destId="{CE6BCFCB-8580-4F57-90B0-6D14E4574938}" srcOrd="2" destOrd="0" presId="urn:microsoft.com/office/officeart/2005/8/layout/vList2"/>
    <dgm:cxn modelId="{95528881-E5E7-4D5D-A5B5-88ED0CB0E1A7}" type="presParOf" srcId="{C6BEB74C-3D31-46D1-9097-74790BF6716E}" destId="{C2106ED2-D348-41F7-A0F9-8DFA58CA722D}" srcOrd="3" destOrd="0" presId="urn:microsoft.com/office/officeart/2005/8/layout/vList2"/>
    <dgm:cxn modelId="{83747735-30D2-4121-961B-5EEC2CBD30A2}" type="presParOf" srcId="{C6BEB74C-3D31-46D1-9097-74790BF6716E}" destId="{584D219A-42B9-4697-9423-343927B0ABA1}" srcOrd="4" destOrd="0" presId="urn:microsoft.com/office/officeart/2005/8/layout/vList2"/>
    <dgm:cxn modelId="{5002FB01-D5E1-4286-A4EF-6A31189AF3FA}" type="presParOf" srcId="{C6BEB74C-3D31-46D1-9097-74790BF6716E}" destId="{E2F800FF-8286-48D8-93A8-1C264AA6573D}" srcOrd="5" destOrd="0" presId="urn:microsoft.com/office/officeart/2005/8/layout/vList2"/>
    <dgm:cxn modelId="{3157D28E-6C10-443E-BBF5-C3259B107A83}" type="presParOf" srcId="{C6BEB74C-3D31-46D1-9097-74790BF6716E}" destId="{BC736452-51AD-48BC-980B-33D917687D50}" srcOrd="6" destOrd="0" presId="urn:microsoft.com/office/officeart/2005/8/layout/vList2"/>
    <dgm:cxn modelId="{51EB4DCA-BFD6-4B33-83A2-53063B673D46}" type="presParOf" srcId="{C6BEB74C-3D31-46D1-9097-74790BF6716E}" destId="{2B248C85-4580-42DE-9051-CBC54B8009E4}" srcOrd="7" destOrd="0" presId="urn:microsoft.com/office/officeart/2005/8/layout/vList2"/>
    <dgm:cxn modelId="{40B46027-AD2A-4C4A-9FCA-69F72A170C1B}" type="presParOf" srcId="{C6BEB74C-3D31-46D1-9097-74790BF6716E}" destId="{0C248D5F-BC3A-4597-8C25-89273EB00973}" srcOrd="8" destOrd="0" presId="urn:microsoft.com/office/officeart/2005/8/layout/vList2"/>
    <dgm:cxn modelId="{F64C01EF-7142-45EA-9613-B01BCF728A86}" type="presParOf" srcId="{C6BEB74C-3D31-46D1-9097-74790BF6716E}" destId="{7FAFC8E3-27F1-466C-A1FC-93C060D6B014}"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706A2F2-DCFD-406B-8E5A-262A654D104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CA9336CF-0B22-40AB-886A-39F17B29127A}">
      <dgm:prSet custT="1"/>
      <dgm:spPr/>
      <dgm:t>
        <a:bodyPr/>
        <a:lstStyle/>
        <a:p>
          <a:pPr algn="just" rtl="0"/>
          <a:r>
            <a:rPr lang="es-PE" sz="2400" b="0" dirty="0">
              <a:latin typeface="Arial Narrow" panose="020B0606020202030204" pitchFamily="34" charset="0"/>
            </a:rPr>
            <a:t>Medican, Inc., renta equipos especializado de rayos X a hospitales.  Actualmente hay tres máquinas ubicadas en Nueva York, dos en Chicago y tres en Los Ángeles.  Hay hospitales en Dallas que requieren cuatro máquinas.  Los de Denver y Phoenix necesitan cada uno dos máquinas.  El costo (en dólares) de enviar una máquina de cada ciudad a cada hospital se muestra en la siguiente tabla. Resolver usando el Método de Vogel.</a:t>
          </a:r>
          <a:endParaRPr lang="es-PE" sz="2400" dirty="0">
            <a:latin typeface="Arial Narrow" panose="020B0606020202030204" pitchFamily="34" charset="0"/>
          </a:endParaRPr>
        </a:p>
      </dgm:t>
    </dgm:pt>
    <dgm:pt modelId="{6BE35D2D-8AB1-4BFB-A4FA-2F3E5E7AD96D}" type="parTrans" cxnId="{FCA0AA8B-782A-400E-A241-A2B32080AC98}">
      <dgm:prSet/>
      <dgm:spPr/>
      <dgm:t>
        <a:bodyPr/>
        <a:lstStyle/>
        <a:p>
          <a:endParaRPr lang="es-PE" sz="2400"/>
        </a:p>
      </dgm:t>
    </dgm:pt>
    <dgm:pt modelId="{14DA9C4D-1250-40D0-9221-0FC32B565185}" type="sibTrans" cxnId="{FCA0AA8B-782A-400E-A241-A2B32080AC98}">
      <dgm:prSet/>
      <dgm:spPr/>
      <dgm:t>
        <a:bodyPr/>
        <a:lstStyle/>
        <a:p>
          <a:endParaRPr lang="es-PE" sz="2400"/>
        </a:p>
      </dgm:t>
    </dgm:pt>
    <dgm:pt modelId="{56C4EF59-AEB9-4B84-A893-48B7AA166852}" type="pres">
      <dgm:prSet presAssocID="{2706A2F2-DCFD-406B-8E5A-262A654D1048}" presName="linear" presStyleCnt="0">
        <dgm:presLayoutVars>
          <dgm:animLvl val="lvl"/>
          <dgm:resizeHandles val="exact"/>
        </dgm:presLayoutVars>
      </dgm:prSet>
      <dgm:spPr/>
    </dgm:pt>
    <dgm:pt modelId="{D4AA69EC-2A94-4881-8545-C98BB47DE48E}" type="pres">
      <dgm:prSet presAssocID="{CA9336CF-0B22-40AB-886A-39F17B29127A}" presName="parentText" presStyleLbl="node1" presStyleIdx="0" presStyleCnt="1" custScaleY="934431" custLinFactNeighborX="-349" custLinFactNeighborY="-5654">
        <dgm:presLayoutVars>
          <dgm:chMax val="0"/>
          <dgm:bulletEnabled val="1"/>
        </dgm:presLayoutVars>
      </dgm:prSet>
      <dgm:spPr/>
    </dgm:pt>
  </dgm:ptLst>
  <dgm:cxnLst>
    <dgm:cxn modelId="{43057E70-209A-45F9-AB77-0284FE735DDC}" type="presOf" srcId="{2706A2F2-DCFD-406B-8E5A-262A654D1048}" destId="{56C4EF59-AEB9-4B84-A893-48B7AA166852}" srcOrd="0" destOrd="0" presId="urn:microsoft.com/office/officeart/2005/8/layout/vList2"/>
    <dgm:cxn modelId="{FCA0AA8B-782A-400E-A241-A2B32080AC98}" srcId="{2706A2F2-DCFD-406B-8E5A-262A654D1048}" destId="{CA9336CF-0B22-40AB-886A-39F17B29127A}" srcOrd="0" destOrd="0" parTransId="{6BE35D2D-8AB1-4BFB-A4FA-2F3E5E7AD96D}" sibTransId="{14DA9C4D-1250-40D0-9221-0FC32B565185}"/>
    <dgm:cxn modelId="{93D652EC-5FD0-450B-A7E5-5AF0CF1BF1AA}" type="presOf" srcId="{CA9336CF-0B22-40AB-886A-39F17B29127A}" destId="{D4AA69EC-2A94-4881-8545-C98BB47DE48E}" srcOrd="0" destOrd="0" presId="urn:microsoft.com/office/officeart/2005/8/layout/vList2"/>
    <dgm:cxn modelId="{9F8FAE0D-F7F5-4D7C-BCB4-BAAFDBAF15C5}" type="presParOf" srcId="{56C4EF59-AEB9-4B84-A893-48B7AA166852}" destId="{D4AA69EC-2A94-4881-8545-C98BB47DE48E}"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8C95554-93C0-47A6-A9FE-4707401D1E5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A762D686-BB7B-49EB-B46A-6EE5451793AB}">
      <dgm:prSet custT="1"/>
      <dgm:spPr/>
      <dgm:t>
        <a:bodyPr/>
        <a:lstStyle/>
        <a:p>
          <a:pPr rtl="0"/>
          <a:r>
            <a:rPr lang="es-PE" sz="2000" b="1" dirty="0" err="1"/>
            <a:t>X33</a:t>
          </a:r>
          <a:r>
            <a:rPr lang="es-PE" sz="2000" b="1" dirty="0"/>
            <a:t>=2	     C=2*400</a:t>
          </a:r>
          <a:endParaRPr lang="es-PE" sz="2000" dirty="0"/>
        </a:p>
      </dgm:t>
    </dgm:pt>
    <dgm:pt modelId="{C479F654-03FE-4225-8AEA-540F1A720A98}" type="parTrans" cxnId="{64E7533A-E1B8-45D5-A3CD-4977B9B21D35}">
      <dgm:prSet/>
      <dgm:spPr/>
      <dgm:t>
        <a:bodyPr/>
        <a:lstStyle/>
        <a:p>
          <a:endParaRPr lang="es-PE" sz="2000"/>
        </a:p>
      </dgm:t>
    </dgm:pt>
    <dgm:pt modelId="{6FC97DFA-27F6-4CB0-9E64-4BE795CDE4D1}" type="sibTrans" cxnId="{64E7533A-E1B8-45D5-A3CD-4977B9B21D35}">
      <dgm:prSet/>
      <dgm:spPr/>
      <dgm:t>
        <a:bodyPr/>
        <a:lstStyle/>
        <a:p>
          <a:endParaRPr lang="es-PE" sz="2000"/>
        </a:p>
      </dgm:t>
    </dgm:pt>
    <dgm:pt modelId="{679CC2C5-B49D-4A79-AAF3-CF5F2FDBFF3F}" type="pres">
      <dgm:prSet presAssocID="{08C95554-93C0-47A6-A9FE-4707401D1E53}" presName="linear" presStyleCnt="0">
        <dgm:presLayoutVars>
          <dgm:animLvl val="lvl"/>
          <dgm:resizeHandles val="exact"/>
        </dgm:presLayoutVars>
      </dgm:prSet>
      <dgm:spPr/>
    </dgm:pt>
    <dgm:pt modelId="{441F2DFD-555B-4170-8653-56704F5A863F}" type="pres">
      <dgm:prSet presAssocID="{A762D686-BB7B-49EB-B46A-6EE5451793AB}" presName="parentText" presStyleLbl="node1" presStyleIdx="0" presStyleCnt="1">
        <dgm:presLayoutVars>
          <dgm:chMax val="0"/>
          <dgm:bulletEnabled val="1"/>
        </dgm:presLayoutVars>
      </dgm:prSet>
      <dgm:spPr/>
    </dgm:pt>
  </dgm:ptLst>
  <dgm:cxnLst>
    <dgm:cxn modelId="{64E7533A-E1B8-45D5-A3CD-4977B9B21D35}" srcId="{08C95554-93C0-47A6-A9FE-4707401D1E53}" destId="{A762D686-BB7B-49EB-B46A-6EE5451793AB}" srcOrd="0" destOrd="0" parTransId="{C479F654-03FE-4225-8AEA-540F1A720A98}" sibTransId="{6FC97DFA-27F6-4CB0-9E64-4BE795CDE4D1}"/>
    <dgm:cxn modelId="{C3AB1A90-A18E-4908-B93F-1022BD1C1F77}" type="presOf" srcId="{08C95554-93C0-47A6-A9FE-4707401D1E53}" destId="{679CC2C5-B49D-4A79-AAF3-CF5F2FDBFF3F}" srcOrd="0" destOrd="0" presId="urn:microsoft.com/office/officeart/2005/8/layout/vList2"/>
    <dgm:cxn modelId="{1E9A83FA-BD31-4AAF-9B38-7D99066DD44D}" type="presOf" srcId="{A762D686-BB7B-49EB-B46A-6EE5451793AB}" destId="{441F2DFD-555B-4170-8653-56704F5A863F}" srcOrd="0" destOrd="0" presId="urn:microsoft.com/office/officeart/2005/8/layout/vList2"/>
    <dgm:cxn modelId="{7F7B7FF8-F5EF-42FE-9E19-40F0E4575F02}" type="presParOf" srcId="{679CC2C5-B49D-4A79-AAF3-CF5F2FDBFF3F}" destId="{441F2DFD-555B-4170-8653-56704F5A863F}"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4635547-6379-4318-B9D5-693DF273686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s-PE"/>
        </a:p>
      </dgm:t>
    </dgm:pt>
    <dgm:pt modelId="{1BB3DD58-F7BD-4EF1-B607-63C42FC617AA}">
      <dgm:prSet/>
      <dgm:spPr/>
      <dgm:t>
        <a:bodyPr/>
        <a:lstStyle/>
        <a:p>
          <a:pPr rtl="0"/>
          <a:r>
            <a:rPr lang="es-PE" b="1" dirty="0" err="1"/>
            <a:t>X33</a:t>
          </a:r>
          <a:r>
            <a:rPr lang="es-PE" b="1" dirty="0"/>
            <a:t>=2     C=2*400</a:t>
          </a:r>
          <a:endParaRPr lang="es-PE" dirty="0"/>
        </a:p>
      </dgm:t>
    </dgm:pt>
    <dgm:pt modelId="{71C5F180-1871-4903-A4AF-CC1BAC6DD4B7}" type="parTrans" cxnId="{216EEDAD-FAEF-4C51-AE77-8E681D2017E4}">
      <dgm:prSet/>
      <dgm:spPr/>
      <dgm:t>
        <a:bodyPr/>
        <a:lstStyle/>
        <a:p>
          <a:endParaRPr lang="es-PE"/>
        </a:p>
      </dgm:t>
    </dgm:pt>
    <dgm:pt modelId="{B9AC788D-1951-452F-BEEE-BF5F7637E668}" type="sibTrans" cxnId="{216EEDAD-FAEF-4C51-AE77-8E681D2017E4}">
      <dgm:prSet/>
      <dgm:spPr/>
      <dgm:t>
        <a:bodyPr/>
        <a:lstStyle/>
        <a:p>
          <a:endParaRPr lang="es-PE"/>
        </a:p>
      </dgm:t>
    </dgm:pt>
    <dgm:pt modelId="{C631D1C2-6CDC-47A5-8A75-EB47FC3A8121}">
      <dgm:prSet/>
      <dgm:spPr/>
      <dgm:t>
        <a:bodyPr/>
        <a:lstStyle/>
        <a:p>
          <a:pPr rtl="0"/>
          <a:r>
            <a:rPr lang="es-PE" b="1"/>
            <a:t>X32=1     C=1*1000</a:t>
          </a:r>
          <a:endParaRPr lang="es-PE"/>
        </a:p>
      </dgm:t>
    </dgm:pt>
    <dgm:pt modelId="{EE8E56E9-66A0-46F8-B926-8BA7B7CAA7FF}" type="parTrans" cxnId="{4132B96C-5EA3-45A4-95A8-D1B864EB81AB}">
      <dgm:prSet/>
      <dgm:spPr/>
      <dgm:t>
        <a:bodyPr/>
        <a:lstStyle/>
        <a:p>
          <a:endParaRPr lang="es-PE"/>
        </a:p>
      </dgm:t>
    </dgm:pt>
    <dgm:pt modelId="{B59133B6-6228-4AB4-B3BF-A248B9FF32AE}" type="sibTrans" cxnId="{4132B96C-5EA3-45A4-95A8-D1B864EB81AB}">
      <dgm:prSet/>
      <dgm:spPr/>
      <dgm:t>
        <a:bodyPr/>
        <a:lstStyle/>
        <a:p>
          <a:endParaRPr lang="es-PE"/>
        </a:p>
      </dgm:t>
    </dgm:pt>
    <dgm:pt modelId="{14FDA5CC-7552-44AD-A994-6C5BCD59D88F}">
      <dgm:prSet/>
      <dgm:spPr/>
      <dgm:t>
        <a:bodyPr/>
        <a:lstStyle/>
        <a:p>
          <a:pPr rtl="0"/>
          <a:endParaRPr lang="es-PE"/>
        </a:p>
      </dgm:t>
    </dgm:pt>
    <dgm:pt modelId="{20085C76-574C-4627-8BEB-26D87D0792CC}" type="parTrans" cxnId="{FB5EB883-E679-4B77-AEDB-099DFDFEC4D8}">
      <dgm:prSet/>
      <dgm:spPr/>
      <dgm:t>
        <a:bodyPr/>
        <a:lstStyle/>
        <a:p>
          <a:endParaRPr lang="es-PE"/>
        </a:p>
      </dgm:t>
    </dgm:pt>
    <dgm:pt modelId="{B7055404-F622-43AE-96BD-A53217353F67}" type="sibTrans" cxnId="{FB5EB883-E679-4B77-AEDB-099DFDFEC4D8}">
      <dgm:prSet/>
      <dgm:spPr/>
      <dgm:t>
        <a:bodyPr/>
        <a:lstStyle/>
        <a:p>
          <a:endParaRPr lang="es-PE"/>
        </a:p>
      </dgm:t>
    </dgm:pt>
    <dgm:pt modelId="{F7887B9F-342B-471A-B32F-D75F4EED4F69}" type="pres">
      <dgm:prSet presAssocID="{14635547-6379-4318-B9D5-693DF273686E}" presName="linear" presStyleCnt="0">
        <dgm:presLayoutVars>
          <dgm:animLvl val="lvl"/>
          <dgm:resizeHandles val="exact"/>
        </dgm:presLayoutVars>
      </dgm:prSet>
      <dgm:spPr/>
    </dgm:pt>
    <dgm:pt modelId="{73C1FB7D-530D-4968-BE59-E637ADB844CA}" type="pres">
      <dgm:prSet presAssocID="{1BB3DD58-F7BD-4EF1-B607-63C42FC617AA}" presName="parentText" presStyleLbl="node1" presStyleIdx="0" presStyleCnt="2">
        <dgm:presLayoutVars>
          <dgm:chMax val="0"/>
          <dgm:bulletEnabled val="1"/>
        </dgm:presLayoutVars>
      </dgm:prSet>
      <dgm:spPr/>
    </dgm:pt>
    <dgm:pt modelId="{8FC9E4DD-34E2-4ED3-A98B-4614A58BDA99}" type="pres">
      <dgm:prSet presAssocID="{B9AC788D-1951-452F-BEEE-BF5F7637E668}" presName="spacer" presStyleCnt="0"/>
      <dgm:spPr/>
    </dgm:pt>
    <dgm:pt modelId="{F809467A-CF9C-4ED6-8300-7998A0E977B3}" type="pres">
      <dgm:prSet presAssocID="{C631D1C2-6CDC-47A5-8A75-EB47FC3A8121}" presName="parentText" presStyleLbl="node1" presStyleIdx="1" presStyleCnt="2">
        <dgm:presLayoutVars>
          <dgm:chMax val="0"/>
          <dgm:bulletEnabled val="1"/>
        </dgm:presLayoutVars>
      </dgm:prSet>
      <dgm:spPr/>
    </dgm:pt>
    <dgm:pt modelId="{294E6DB6-008D-4B4C-A4F9-EF4A072BD2BB}" type="pres">
      <dgm:prSet presAssocID="{C631D1C2-6CDC-47A5-8A75-EB47FC3A8121}" presName="childText" presStyleLbl="revTx" presStyleIdx="0" presStyleCnt="1">
        <dgm:presLayoutVars>
          <dgm:bulletEnabled val="1"/>
        </dgm:presLayoutVars>
      </dgm:prSet>
      <dgm:spPr/>
    </dgm:pt>
  </dgm:ptLst>
  <dgm:cxnLst>
    <dgm:cxn modelId="{C2507F02-CDE7-4AF2-890B-FC134C94C774}" type="presOf" srcId="{14635547-6379-4318-B9D5-693DF273686E}" destId="{F7887B9F-342B-471A-B32F-D75F4EED4F69}" srcOrd="0" destOrd="0" presId="urn:microsoft.com/office/officeart/2005/8/layout/vList2"/>
    <dgm:cxn modelId="{050DEF2E-E31B-4895-8B52-DF2744D8536B}" type="presOf" srcId="{14FDA5CC-7552-44AD-A994-6C5BCD59D88F}" destId="{294E6DB6-008D-4B4C-A4F9-EF4A072BD2BB}" srcOrd="0" destOrd="0" presId="urn:microsoft.com/office/officeart/2005/8/layout/vList2"/>
    <dgm:cxn modelId="{92E0DF40-2662-45DB-92B6-993152D88855}" type="presOf" srcId="{C631D1C2-6CDC-47A5-8A75-EB47FC3A8121}" destId="{F809467A-CF9C-4ED6-8300-7998A0E977B3}" srcOrd="0" destOrd="0" presId="urn:microsoft.com/office/officeart/2005/8/layout/vList2"/>
    <dgm:cxn modelId="{4132B96C-5EA3-45A4-95A8-D1B864EB81AB}" srcId="{14635547-6379-4318-B9D5-693DF273686E}" destId="{C631D1C2-6CDC-47A5-8A75-EB47FC3A8121}" srcOrd="1" destOrd="0" parTransId="{EE8E56E9-66A0-46F8-B926-8BA7B7CAA7FF}" sibTransId="{B59133B6-6228-4AB4-B3BF-A248B9FF32AE}"/>
    <dgm:cxn modelId="{57036C7D-4031-4F91-8443-420F8D92C5D2}" type="presOf" srcId="{1BB3DD58-F7BD-4EF1-B607-63C42FC617AA}" destId="{73C1FB7D-530D-4968-BE59-E637ADB844CA}" srcOrd="0" destOrd="0" presId="urn:microsoft.com/office/officeart/2005/8/layout/vList2"/>
    <dgm:cxn modelId="{FB5EB883-E679-4B77-AEDB-099DFDFEC4D8}" srcId="{C631D1C2-6CDC-47A5-8A75-EB47FC3A8121}" destId="{14FDA5CC-7552-44AD-A994-6C5BCD59D88F}" srcOrd="0" destOrd="0" parTransId="{20085C76-574C-4627-8BEB-26D87D0792CC}" sibTransId="{B7055404-F622-43AE-96BD-A53217353F67}"/>
    <dgm:cxn modelId="{216EEDAD-FAEF-4C51-AE77-8E681D2017E4}" srcId="{14635547-6379-4318-B9D5-693DF273686E}" destId="{1BB3DD58-F7BD-4EF1-B607-63C42FC617AA}" srcOrd="0" destOrd="0" parTransId="{71C5F180-1871-4903-A4AF-CC1BAC6DD4B7}" sibTransId="{B9AC788D-1951-452F-BEEE-BF5F7637E668}"/>
    <dgm:cxn modelId="{2BAF5D3B-C708-4193-A0C6-6B44329577DF}" type="presParOf" srcId="{F7887B9F-342B-471A-B32F-D75F4EED4F69}" destId="{73C1FB7D-530D-4968-BE59-E637ADB844CA}" srcOrd="0" destOrd="0" presId="urn:microsoft.com/office/officeart/2005/8/layout/vList2"/>
    <dgm:cxn modelId="{23E6C31E-E47C-4A2E-9336-9E5D338D562C}" type="presParOf" srcId="{F7887B9F-342B-471A-B32F-D75F4EED4F69}" destId="{8FC9E4DD-34E2-4ED3-A98B-4614A58BDA99}" srcOrd="1" destOrd="0" presId="urn:microsoft.com/office/officeart/2005/8/layout/vList2"/>
    <dgm:cxn modelId="{53911F1E-B400-469D-90E9-8B82CD4D1FF1}" type="presParOf" srcId="{F7887B9F-342B-471A-B32F-D75F4EED4F69}" destId="{F809467A-CF9C-4ED6-8300-7998A0E977B3}" srcOrd="2" destOrd="0" presId="urn:microsoft.com/office/officeart/2005/8/layout/vList2"/>
    <dgm:cxn modelId="{6B3B5698-BC46-47EB-B4A4-329217F6B67D}" type="presParOf" srcId="{F7887B9F-342B-471A-B32F-D75F4EED4F69}" destId="{294E6DB6-008D-4B4C-A4F9-EF4A072BD2BB}"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8851675-D2ED-4E5D-855E-10ED36166FE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s-PE"/>
        </a:p>
      </dgm:t>
    </dgm:pt>
    <dgm:pt modelId="{CACB59DE-3AE1-4268-ABB5-E8E33D5D1588}">
      <dgm:prSet custT="1"/>
      <dgm:spPr/>
      <dgm:t>
        <a:bodyPr/>
        <a:lstStyle/>
        <a:p>
          <a:pPr rtl="0"/>
          <a:r>
            <a:rPr lang="es-PE" sz="2000" b="1"/>
            <a:t>X33=2     C=2*400</a:t>
          </a:r>
          <a:endParaRPr lang="es-PE" sz="2000"/>
        </a:p>
      </dgm:t>
    </dgm:pt>
    <dgm:pt modelId="{72B904C2-912F-4424-9916-2E76099AAAE9}" type="parTrans" cxnId="{534CAB56-1033-4F39-A97C-D520D0FC45B4}">
      <dgm:prSet/>
      <dgm:spPr/>
      <dgm:t>
        <a:bodyPr/>
        <a:lstStyle/>
        <a:p>
          <a:endParaRPr lang="es-PE" sz="2000"/>
        </a:p>
      </dgm:t>
    </dgm:pt>
    <dgm:pt modelId="{36F31FD9-0455-4A0F-8E9C-913F9130EDC3}" type="sibTrans" cxnId="{534CAB56-1033-4F39-A97C-D520D0FC45B4}">
      <dgm:prSet/>
      <dgm:spPr/>
      <dgm:t>
        <a:bodyPr/>
        <a:lstStyle/>
        <a:p>
          <a:endParaRPr lang="es-PE" sz="2000"/>
        </a:p>
      </dgm:t>
    </dgm:pt>
    <dgm:pt modelId="{A2F9F625-23B0-423C-BE1B-4CDA2BDE085F}">
      <dgm:prSet custT="1"/>
      <dgm:spPr/>
      <dgm:t>
        <a:bodyPr/>
        <a:lstStyle/>
        <a:p>
          <a:pPr rtl="0"/>
          <a:r>
            <a:rPr lang="es-PE" sz="2000" b="1"/>
            <a:t>X32=1      C=1*1000</a:t>
          </a:r>
          <a:endParaRPr lang="es-PE" sz="2000"/>
        </a:p>
      </dgm:t>
    </dgm:pt>
    <dgm:pt modelId="{F0C4DADA-C788-4258-98D8-19524395CAAD}" type="parTrans" cxnId="{49064969-ADAF-478F-B2B2-CC9FB37C3440}">
      <dgm:prSet/>
      <dgm:spPr/>
      <dgm:t>
        <a:bodyPr/>
        <a:lstStyle/>
        <a:p>
          <a:endParaRPr lang="es-PE" sz="2000"/>
        </a:p>
      </dgm:t>
    </dgm:pt>
    <dgm:pt modelId="{EFCADDEE-0777-4103-ACA9-867AC3706ADA}" type="sibTrans" cxnId="{49064969-ADAF-478F-B2B2-CC9FB37C3440}">
      <dgm:prSet/>
      <dgm:spPr/>
      <dgm:t>
        <a:bodyPr/>
        <a:lstStyle/>
        <a:p>
          <a:endParaRPr lang="es-PE" sz="2000"/>
        </a:p>
      </dgm:t>
    </dgm:pt>
    <dgm:pt modelId="{20B667AD-BF78-46AF-A063-10AA06D87658}">
      <dgm:prSet custT="1"/>
      <dgm:spPr/>
      <dgm:t>
        <a:bodyPr/>
        <a:lstStyle/>
        <a:p>
          <a:pPr rtl="0"/>
          <a:r>
            <a:rPr lang="es-PE" sz="2000" b="1"/>
            <a:t>X22=1      C=1*1000</a:t>
          </a:r>
          <a:endParaRPr lang="es-PE" sz="2000"/>
        </a:p>
      </dgm:t>
    </dgm:pt>
    <dgm:pt modelId="{23D817BA-4019-443C-B624-CE4DAE2AE7C7}" type="parTrans" cxnId="{31F63E2A-40AB-4167-917A-5D0C23C07A71}">
      <dgm:prSet/>
      <dgm:spPr/>
      <dgm:t>
        <a:bodyPr/>
        <a:lstStyle/>
        <a:p>
          <a:endParaRPr lang="es-PE" sz="2000"/>
        </a:p>
      </dgm:t>
    </dgm:pt>
    <dgm:pt modelId="{6842355A-8929-4317-A51C-C84DE720800A}" type="sibTrans" cxnId="{31F63E2A-40AB-4167-917A-5D0C23C07A71}">
      <dgm:prSet/>
      <dgm:spPr/>
      <dgm:t>
        <a:bodyPr/>
        <a:lstStyle/>
        <a:p>
          <a:endParaRPr lang="es-PE" sz="2000"/>
        </a:p>
      </dgm:t>
    </dgm:pt>
    <dgm:pt modelId="{0748D72A-1AEF-48DF-9895-003CEAC335F4}">
      <dgm:prSet custT="1"/>
      <dgm:spPr/>
      <dgm:t>
        <a:bodyPr/>
        <a:lstStyle/>
        <a:p>
          <a:pPr rtl="0"/>
          <a:endParaRPr lang="es-PE" sz="2000"/>
        </a:p>
      </dgm:t>
    </dgm:pt>
    <dgm:pt modelId="{FCF56B86-DB77-469F-929D-8C5329CDA067}" type="parTrans" cxnId="{71230172-A2F0-4EA9-8170-DE949EE5F016}">
      <dgm:prSet/>
      <dgm:spPr/>
      <dgm:t>
        <a:bodyPr/>
        <a:lstStyle/>
        <a:p>
          <a:endParaRPr lang="es-PE" sz="2000"/>
        </a:p>
      </dgm:t>
    </dgm:pt>
    <dgm:pt modelId="{39437212-E59C-471F-AE69-AA13F84D6BBD}" type="sibTrans" cxnId="{71230172-A2F0-4EA9-8170-DE949EE5F016}">
      <dgm:prSet/>
      <dgm:spPr/>
      <dgm:t>
        <a:bodyPr/>
        <a:lstStyle/>
        <a:p>
          <a:endParaRPr lang="es-PE" sz="2000"/>
        </a:p>
      </dgm:t>
    </dgm:pt>
    <dgm:pt modelId="{107DFA32-44A6-474D-A66C-E9904E8B677C}" type="pres">
      <dgm:prSet presAssocID="{A8851675-D2ED-4E5D-855E-10ED36166FEE}" presName="linear" presStyleCnt="0">
        <dgm:presLayoutVars>
          <dgm:animLvl val="lvl"/>
          <dgm:resizeHandles val="exact"/>
        </dgm:presLayoutVars>
      </dgm:prSet>
      <dgm:spPr/>
    </dgm:pt>
    <dgm:pt modelId="{15844FD2-024D-4C53-9D85-5B0843C5F4D1}" type="pres">
      <dgm:prSet presAssocID="{CACB59DE-3AE1-4268-ABB5-E8E33D5D1588}" presName="parentText" presStyleLbl="node1" presStyleIdx="0" presStyleCnt="3">
        <dgm:presLayoutVars>
          <dgm:chMax val="0"/>
          <dgm:bulletEnabled val="1"/>
        </dgm:presLayoutVars>
      </dgm:prSet>
      <dgm:spPr/>
    </dgm:pt>
    <dgm:pt modelId="{3FF5D9E7-7781-4D1F-AB77-DDFE6F8287A3}" type="pres">
      <dgm:prSet presAssocID="{36F31FD9-0455-4A0F-8E9C-913F9130EDC3}" presName="spacer" presStyleCnt="0"/>
      <dgm:spPr/>
    </dgm:pt>
    <dgm:pt modelId="{1EBF173C-53D4-42DB-A09B-4C8675212294}" type="pres">
      <dgm:prSet presAssocID="{A2F9F625-23B0-423C-BE1B-4CDA2BDE085F}" presName="parentText" presStyleLbl="node1" presStyleIdx="1" presStyleCnt="3">
        <dgm:presLayoutVars>
          <dgm:chMax val="0"/>
          <dgm:bulletEnabled val="1"/>
        </dgm:presLayoutVars>
      </dgm:prSet>
      <dgm:spPr/>
    </dgm:pt>
    <dgm:pt modelId="{9821712A-2EE9-47A0-805B-190864D61F57}" type="pres">
      <dgm:prSet presAssocID="{EFCADDEE-0777-4103-ACA9-867AC3706ADA}" presName="spacer" presStyleCnt="0"/>
      <dgm:spPr/>
    </dgm:pt>
    <dgm:pt modelId="{63211B87-6E66-4134-A9C2-FB816F9FC05E}" type="pres">
      <dgm:prSet presAssocID="{20B667AD-BF78-46AF-A063-10AA06D87658}" presName="parentText" presStyleLbl="node1" presStyleIdx="2" presStyleCnt="3">
        <dgm:presLayoutVars>
          <dgm:chMax val="0"/>
          <dgm:bulletEnabled val="1"/>
        </dgm:presLayoutVars>
      </dgm:prSet>
      <dgm:spPr/>
    </dgm:pt>
    <dgm:pt modelId="{30DB14E0-A221-4E50-9FA5-FFB6CC3785A1}" type="pres">
      <dgm:prSet presAssocID="{20B667AD-BF78-46AF-A063-10AA06D87658}" presName="childText" presStyleLbl="revTx" presStyleIdx="0" presStyleCnt="1">
        <dgm:presLayoutVars>
          <dgm:bulletEnabled val="1"/>
        </dgm:presLayoutVars>
      </dgm:prSet>
      <dgm:spPr/>
    </dgm:pt>
  </dgm:ptLst>
  <dgm:cxnLst>
    <dgm:cxn modelId="{D2A8DE1E-D2E4-45D0-B24E-02B5E6DFF957}" type="presOf" srcId="{CACB59DE-3AE1-4268-ABB5-E8E33D5D1588}" destId="{15844FD2-024D-4C53-9D85-5B0843C5F4D1}" srcOrd="0" destOrd="0" presId="urn:microsoft.com/office/officeart/2005/8/layout/vList2"/>
    <dgm:cxn modelId="{31F63E2A-40AB-4167-917A-5D0C23C07A71}" srcId="{A8851675-D2ED-4E5D-855E-10ED36166FEE}" destId="{20B667AD-BF78-46AF-A063-10AA06D87658}" srcOrd="2" destOrd="0" parTransId="{23D817BA-4019-443C-B624-CE4DAE2AE7C7}" sibTransId="{6842355A-8929-4317-A51C-C84DE720800A}"/>
    <dgm:cxn modelId="{49064969-ADAF-478F-B2B2-CC9FB37C3440}" srcId="{A8851675-D2ED-4E5D-855E-10ED36166FEE}" destId="{A2F9F625-23B0-423C-BE1B-4CDA2BDE085F}" srcOrd="1" destOrd="0" parTransId="{F0C4DADA-C788-4258-98D8-19524395CAAD}" sibTransId="{EFCADDEE-0777-4103-ACA9-867AC3706ADA}"/>
    <dgm:cxn modelId="{71230172-A2F0-4EA9-8170-DE949EE5F016}" srcId="{20B667AD-BF78-46AF-A063-10AA06D87658}" destId="{0748D72A-1AEF-48DF-9895-003CEAC335F4}" srcOrd="0" destOrd="0" parTransId="{FCF56B86-DB77-469F-929D-8C5329CDA067}" sibTransId="{39437212-E59C-471F-AE69-AA13F84D6BBD}"/>
    <dgm:cxn modelId="{534CAB56-1033-4F39-A97C-D520D0FC45B4}" srcId="{A8851675-D2ED-4E5D-855E-10ED36166FEE}" destId="{CACB59DE-3AE1-4268-ABB5-E8E33D5D1588}" srcOrd="0" destOrd="0" parTransId="{72B904C2-912F-4424-9916-2E76099AAAE9}" sibTransId="{36F31FD9-0455-4A0F-8E9C-913F9130EDC3}"/>
    <dgm:cxn modelId="{003F967E-955A-45B4-B6AD-C26D8F60D3C7}" type="presOf" srcId="{20B667AD-BF78-46AF-A063-10AA06D87658}" destId="{63211B87-6E66-4134-A9C2-FB816F9FC05E}" srcOrd="0" destOrd="0" presId="urn:microsoft.com/office/officeart/2005/8/layout/vList2"/>
    <dgm:cxn modelId="{AFF1D588-E4C2-4956-93EB-CEDEE186134B}" type="presOf" srcId="{A2F9F625-23B0-423C-BE1B-4CDA2BDE085F}" destId="{1EBF173C-53D4-42DB-A09B-4C8675212294}" srcOrd="0" destOrd="0" presId="urn:microsoft.com/office/officeart/2005/8/layout/vList2"/>
    <dgm:cxn modelId="{766D30AA-174A-46E6-9BDF-AC72707B0F84}" type="presOf" srcId="{A8851675-D2ED-4E5D-855E-10ED36166FEE}" destId="{107DFA32-44A6-474D-A66C-E9904E8B677C}" srcOrd="0" destOrd="0" presId="urn:microsoft.com/office/officeart/2005/8/layout/vList2"/>
    <dgm:cxn modelId="{C3280FAE-90E0-45CB-8882-6753C1AA0CBC}" type="presOf" srcId="{0748D72A-1AEF-48DF-9895-003CEAC335F4}" destId="{30DB14E0-A221-4E50-9FA5-FFB6CC3785A1}" srcOrd="0" destOrd="0" presId="urn:microsoft.com/office/officeart/2005/8/layout/vList2"/>
    <dgm:cxn modelId="{A8224AA4-968B-4314-A77C-18D8676A6B33}" type="presParOf" srcId="{107DFA32-44A6-474D-A66C-E9904E8B677C}" destId="{15844FD2-024D-4C53-9D85-5B0843C5F4D1}" srcOrd="0" destOrd="0" presId="urn:microsoft.com/office/officeart/2005/8/layout/vList2"/>
    <dgm:cxn modelId="{0237DBE8-038A-4B0A-BE33-4FF8A45D5F71}" type="presParOf" srcId="{107DFA32-44A6-474D-A66C-E9904E8B677C}" destId="{3FF5D9E7-7781-4D1F-AB77-DDFE6F8287A3}" srcOrd="1" destOrd="0" presId="urn:microsoft.com/office/officeart/2005/8/layout/vList2"/>
    <dgm:cxn modelId="{C0CA1167-D1A8-4A95-9131-BA8A7B27111E}" type="presParOf" srcId="{107DFA32-44A6-474D-A66C-E9904E8B677C}" destId="{1EBF173C-53D4-42DB-A09B-4C8675212294}" srcOrd="2" destOrd="0" presId="urn:microsoft.com/office/officeart/2005/8/layout/vList2"/>
    <dgm:cxn modelId="{72309972-8498-43F8-9DAA-88893D3A63BA}" type="presParOf" srcId="{107DFA32-44A6-474D-A66C-E9904E8B677C}" destId="{9821712A-2EE9-47A0-805B-190864D61F57}" srcOrd="3" destOrd="0" presId="urn:microsoft.com/office/officeart/2005/8/layout/vList2"/>
    <dgm:cxn modelId="{C9573F07-2CD5-4970-B4D0-08C1DDA4ECBE}" type="presParOf" srcId="{107DFA32-44A6-474D-A66C-E9904E8B677C}" destId="{63211B87-6E66-4134-A9C2-FB816F9FC05E}" srcOrd="4" destOrd="0" presId="urn:microsoft.com/office/officeart/2005/8/layout/vList2"/>
    <dgm:cxn modelId="{DB760317-64EE-40E5-8608-D0EDC1B62098}" type="presParOf" srcId="{107DFA32-44A6-474D-A66C-E9904E8B677C}" destId="{30DB14E0-A221-4E50-9FA5-FFB6CC3785A1}"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7139277-F55D-462C-9EC9-216C3CC10F5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68E9EBC9-64F5-4EFD-A2CB-2AE82C60230F}">
      <dgm:prSet custT="1"/>
      <dgm:spPr/>
      <dgm:t>
        <a:bodyPr/>
        <a:lstStyle/>
        <a:p>
          <a:pPr rtl="0"/>
          <a:r>
            <a:rPr lang="es-PE" sz="2000" b="1" dirty="0" err="1"/>
            <a:t>X33</a:t>
          </a:r>
          <a:r>
            <a:rPr lang="es-PE" sz="2000" b="1" dirty="0"/>
            <a:t>=2	  C=2*400</a:t>
          </a:r>
          <a:endParaRPr lang="es-PE" sz="2000" dirty="0"/>
        </a:p>
      </dgm:t>
    </dgm:pt>
    <dgm:pt modelId="{F7F0DC02-9029-41CB-97EB-9F7E3A6C473F}" type="parTrans" cxnId="{6A581A59-0B07-4F91-9D40-814EA79BA04A}">
      <dgm:prSet/>
      <dgm:spPr/>
      <dgm:t>
        <a:bodyPr/>
        <a:lstStyle/>
        <a:p>
          <a:endParaRPr lang="es-PE" sz="2000"/>
        </a:p>
      </dgm:t>
    </dgm:pt>
    <dgm:pt modelId="{691B71F3-6E37-4A47-8B87-F3E07F0C91A2}" type="sibTrans" cxnId="{6A581A59-0B07-4F91-9D40-814EA79BA04A}">
      <dgm:prSet/>
      <dgm:spPr/>
      <dgm:t>
        <a:bodyPr/>
        <a:lstStyle/>
        <a:p>
          <a:endParaRPr lang="es-PE" sz="2000"/>
        </a:p>
      </dgm:t>
    </dgm:pt>
    <dgm:pt modelId="{1D3F44A0-70B4-45A4-9FF5-45571357CEA8}">
      <dgm:prSet custT="1"/>
      <dgm:spPr/>
      <dgm:t>
        <a:bodyPr/>
        <a:lstStyle/>
        <a:p>
          <a:pPr rtl="0"/>
          <a:r>
            <a:rPr lang="es-PE" sz="2000" b="1"/>
            <a:t>X32=1      C=1*1000</a:t>
          </a:r>
          <a:endParaRPr lang="es-PE" sz="2000"/>
        </a:p>
      </dgm:t>
    </dgm:pt>
    <dgm:pt modelId="{04135072-5A1B-441D-A2FF-4F0BC529C965}" type="parTrans" cxnId="{AA11971B-3F43-43AB-AD76-8DF47035AE8D}">
      <dgm:prSet/>
      <dgm:spPr/>
      <dgm:t>
        <a:bodyPr/>
        <a:lstStyle/>
        <a:p>
          <a:endParaRPr lang="es-PE" sz="2000"/>
        </a:p>
      </dgm:t>
    </dgm:pt>
    <dgm:pt modelId="{1F0A43E9-A4A7-43FA-8AEA-CC5B104A9095}" type="sibTrans" cxnId="{AA11971B-3F43-43AB-AD76-8DF47035AE8D}">
      <dgm:prSet/>
      <dgm:spPr/>
      <dgm:t>
        <a:bodyPr/>
        <a:lstStyle/>
        <a:p>
          <a:endParaRPr lang="es-PE" sz="2000"/>
        </a:p>
      </dgm:t>
    </dgm:pt>
    <dgm:pt modelId="{EC490CA3-181D-4830-8BE8-E0882F8CC4AB}">
      <dgm:prSet custT="1"/>
      <dgm:spPr/>
      <dgm:t>
        <a:bodyPr/>
        <a:lstStyle/>
        <a:p>
          <a:pPr rtl="0"/>
          <a:r>
            <a:rPr lang="es-PE" sz="2000" b="1" dirty="0" err="1"/>
            <a:t>X22</a:t>
          </a:r>
          <a:r>
            <a:rPr lang="es-PE" sz="2000" b="1" dirty="0"/>
            <a:t>=1      C=1*1000</a:t>
          </a:r>
          <a:endParaRPr lang="es-PE" sz="2000" dirty="0"/>
        </a:p>
      </dgm:t>
    </dgm:pt>
    <dgm:pt modelId="{CA13400F-60E5-4DD9-80E1-7F1812F0D935}" type="parTrans" cxnId="{4E640542-307C-4AC0-8C15-0D1D76F2DC7B}">
      <dgm:prSet/>
      <dgm:spPr/>
      <dgm:t>
        <a:bodyPr/>
        <a:lstStyle/>
        <a:p>
          <a:endParaRPr lang="es-PE" sz="2000"/>
        </a:p>
      </dgm:t>
    </dgm:pt>
    <dgm:pt modelId="{BB0A9C7C-AE38-4E01-9509-6A69F7BE5540}" type="sibTrans" cxnId="{4E640542-307C-4AC0-8C15-0D1D76F2DC7B}">
      <dgm:prSet/>
      <dgm:spPr/>
      <dgm:t>
        <a:bodyPr/>
        <a:lstStyle/>
        <a:p>
          <a:endParaRPr lang="es-PE" sz="2000"/>
        </a:p>
      </dgm:t>
    </dgm:pt>
    <dgm:pt modelId="{9D896273-D57B-4FB6-9718-17AFE1DA1C8A}">
      <dgm:prSet custT="1"/>
      <dgm:spPr/>
      <dgm:t>
        <a:bodyPr/>
        <a:lstStyle/>
        <a:p>
          <a:pPr rtl="0"/>
          <a:r>
            <a:rPr lang="es-PE" sz="2000" b="1"/>
            <a:t>X11=3      C=3*1600</a:t>
          </a:r>
          <a:endParaRPr lang="es-PE" sz="2000"/>
        </a:p>
      </dgm:t>
    </dgm:pt>
    <dgm:pt modelId="{C98DED28-BFAB-4B51-BA5C-C8EAD7B202CF}" type="parTrans" cxnId="{0052AB53-C8AB-419D-9156-DAD24DFE6CAB}">
      <dgm:prSet/>
      <dgm:spPr/>
      <dgm:t>
        <a:bodyPr/>
        <a:lstStyle/>
        <a:p>
          <a:endParaRPr lang="es-PE" sz="2000"/>
        </a:p>
      </dgm:t>
    </dgm:pt>
    <dgm:pt modelId="{FF51C68F-58F4-4E44-A78A-3F838E7B0444}" type="sibTrans" cxnId="{0052AB53-C8AB-419D-9156-DAD24DFE6CAB}">
      <dgm:prSet/>
      <dgm:spPr/>
      <dgm:t>
        <a:bodyPr/>
        <a:lstStyle/>
        <a:p>
          <a:endParaRPr lang="es-PE" sz="2000"/>
        </a:p>
      </dgm:t>
    </dgm:pt>
    <dgm:pt modelId="{085DB984-F377-4B4A-AED4-195E871F42A1}">
      <dgm:prSet custT="1"/>
      <dgm:spPr/>
      <dgm:t>
        <a:bodyPr/>
        <a:lstStyle/>
        <a:p>
          <a:pPr rtl="0"/>
          <a:r>
            <a:rPr lang="es-PE" sz="2000" b="1"/>
            <a:t>X21=1      C=1*900</a:t>
          </a:r>
          <a:endParaRPr lang="es-PE" sz="2000"/>
        </a:p>
      </dgm:t>
    </dgm:pt>
    <dgm:pt modelId="{49280A58-AB01-49B4-B7C7-9E492BAB5A7F}" type="parTrans" cxnId="{5A21B73F-CE3E-485D-AB4F-43412BC11BDC}">
      <dgm:prSet/>
      <dgm:spPr/>
      <dgm:t>
        <a:bodyPr/>
        <a:lstStyle/>
        <a:p>
          <a:endParaRPr lang="es-PE" sz="2000"/>
        </a:p>
      </dgm:t>
    </dgm:pt>
    <dgm:pt modelId="{12222AFC-DDB8-46EF-B39E-FA3EF51CE9CC}" type="sibTrans" cxnId="{5A21B73F-CE3E-485D-AB4F-43412BC11BDC}">
      <dgm:prSet/>
      <dgm:spPr/>
      <dgm:t>
        <a:bodyPr/>
        <a:lstStyle/>
        <a:p>
          <a:endParaRPr lang="es-PE" sz="2000"/>
        </a:p>
      </dgm:t>
    </dgm:pt>
    <dgm:pt modelId="{5EFE5C1B-CDF1-4E7F-8171-B320093E227F}">
      <dgm:prSet custT="1"/>
      <dgm:spPr/>
      <dgm:t>
        <a:bodyPr/>
        <a:lstStyle/>
        <a:p>
          <a:pPr rtl="0"/>
          <a:endParaRPr lang="es-PE" sz="2000"/>
        </a:p>
      </dgm:t>
    </dgm:pt>
    <dgm:pt modelId="{CC3B299F-8150-4F53-AC77-473878C85794}" type="parTrans" cxnId="{544DAA79-3233-4E65-82D4-5E6433106F13}">
      <dgm:prSet/>
      <dgm:spPr/>
      <dgm:t>
        <a:bodyPr/>
        <a:lstStyle/>
        <a:p>
          <a:endParaRPr lang="es-PE" sz="2000"/>
        </a:p>
      </dgm:t>
    </dgm:pt>
    <dgm:pt modelId="{72D7D355-E7B5-4613-BEB1-9D0982B431CF}" type="sibTrans" cxnId="{544DAA79-3233-4E65-82D4-5E6433106F13}">
      <dgm:prSet/>
      <dgm:spPr/>
      <dgm:t>
        <a:bodyPr/>
        <a:lstStyle/>
        <a:p>
          <a:endParaRPr lang="es-PE" sz="2000"/>
        </a:p>
      </dgm:t>
    </dgm:pt>
    <dgm:pt modelId="{BB786F07-0572-422A-B853-01FB5D15FC1E}" type="pres">
      <dgm:prSet presAssocID="{C7139277-F55D-462C-9EC9-216C3CC10F5C}" presName="linear" presStyleCnt="0">
        <dgm:presLayoutVars>
          <dgm:animLvl val="lvl"/>
          <dgm:resizeHandles val="exact"/>
        </dgm:presLayoutVars>
      </dgm:prSet>
      <dgm:spPr/>
    </dgm:pt>
    <dgm:pt modelId="{64D42E5D-DA8E-4D08-BBE6-BE5AE9B38563}" type="pres">
      <dgm:prSet presAssocID="{68E9EBC9-64F5-4EFD-A2CB-2AE82C60230F}" presName="parentText" presStyleLbl="node1" presStyleIdx="0" presStyleCnt="5">
        <dgm:presLayoutVars>
          <dgm:chMax val="0"/>
          <dgm:bulletEnabled val="1"/>
        </dgm:presLayoutVars>
      </dgm:prSet>
      <dgm:spPr/>
    </dgm:pt>
    <dgm:pt modelId="{E92EFBB7-6255-4F82-8044-8E586A91DB26}" type="pres">
      <dgm:prSet presAssocID="{691B71F3-6E37-4A47-8B87-F3E07F0C91A2}" presName="spacer" presStyleCnt="0"/>
      <dgm:spPr/>
    </dgm:pt>
    <dgm:pt modelId="{EA11949A-548B-4467-96B4-0210D9D146AB}" type="pres">
      <dgm:prSet presAssocID="{1D3F44A0-70B4-45A4-9FF5-45571357CEA8}" presName="parentText" presStyleLbl="node1" presStyleIdx="1" presStyleCnt="5">
        <dgm:presLayoutVars>
          <dgm:chMax val="0"/>
          <dgm:bulletEnabled val="1"/>
        </dgm:presLayoutVars>
      </dgm:prSet>
      <dgm:spPr/>
    </dgm:pt>
    <dgm:pt modelId="{4599B914-32B5-438A-A694-533F37A98622}" type="pres">
      <dgm:prSet presAssocID="{1F0A43E9-A4A7-43FA-8AEA-CC5B104A9095}" presName="spacer" presStyleCnt="0"/>
      <dgm:spPr/>
    </dgm:pt>
    <dgm:pt modelId="{92540235-C791-45EF-B069-590172302293}" type="pres">
      <dgm:prSet presAssocID="{EC490CA3-181D-4830-8BE8-E0882F8CC4AB}" presName="parentText" presStyleLbl="node1" presStyleIdx="2" presStyleCnt="5">
        <dgm:presLayoutVars>
          <dgm:chMax val="0"/>
          <dgm:bulletEnabled val="1"/>
        </dgm:presLayoutVars>
      </dgm:prSet>
      <dgm:spPr/>
    </dgm:pt>
    <dgm:pt modelId="{D8DF0E20-7339-423A-9CB6-1685EEBCE9EB}" type="pres">
      <dgm:prSet presAssocID="{BB0A9C7C-AE38-4E01-9509-6A69F7BE5540}" presName="spacer" presStyleCnt="0"/>
      <dgm:spPr/>
    </dgm:pt>
    <dgm:pt modelId="{1876AF68-6AA6-422B-A27C-3EE366831962}" type="pres">
      <dgm:prSet presAssocID="{9D896273-D57B-4FB6-9718-17AFE1DA1C8A}" presName="parentText" presStyleLbl="node1" presStyleIdx="3" presStyleCnt="5">
        <dgm:presLayoutVars>
          <dgm:chMax val="0"/>
          <dgm:bulletEnabled val="1"/>
        </dgm:presLayoutVars>
      </dgm:prSet>
      <dgm:spPr/>
    </dgm:pt>
    <dgm:pt modelId="{52A0CCA9-F758-4732-B67B-7DC4618DAB91}" type="pres">
      <dgm:prSet presAssocID="{FF51C68F-58F4-4E44-A78A-3F838E7B0444}" presName="spacer" presStyleCnt="0"/>
      <dgm:spPr/>
    </dgm:pt>
    <dgm:pt modelId="{7BA51C33-66F2-4ABF-88D9-C1CF3A6D6AD8}" type="pres">
      <dgm:prSet presAssocID="{085DB984-F377-4B4A-AED4-195E871F42A1}" presName="parentText" presStyleLbl="node1" presStyleIdx="4" presStyleCnt="5">
        <dgm:presLayoutVars>
          <dgm:chMax val="0"/>
          <dgm:bulletEnabled val="1"/>
        </dgm:presLayoutVars>
      </dgm:prSet>
      <dgm:spPr/>
    </dgm:pt>
    <dgm:pt modelId="{7BE1AE85-2CFF-4C45-8781-8F2CB881C971}" type="pres">
      <dgm:prSet presAssocID="{085DB984-F377-4B4A-AED4-195E871F42A1}" presName="childText" presStyleLbl="revTx" presStyleIdx="0" presStyleCnt="1">
        <dgm:presLayoutVars>
          <dgm:bulletEnabled val="1"/>
        </dgm:presLayoutVars>
      </dgm:prSet>
      <dgm:spPr/>
    </dgm:pt>
  </dgm:ptLst>
  <dgm:cxnLst>
    <dgm:cxn modelId="{AA11971B-3F43-43AB-AD76-8DF47035AE8D}" srcId="{C7139277-F55D-462C-9EC9-216C3CC10F5C}" destId="{1D3F44A0-70B4-45A4-9FF5-45571357CEA8}" srcOrd="1" destOrd="0" parTransId="{04135072-5A1B-441D-A2FF-4F0BC529C965}" sibTransId="{1F0A43E9-A4A7-43FA-8AEA-CC5B104A9095}"/>
    <dgm:cxn modelId="{01012526-4036-4D1A-8944-0581A6047FBD}" type="presOf" srcId="{EC490CA3-181D-4830-8BE8-E0882F8CC4AB}" destId="{92540235-C791-45EF-B069-590172302293}" srcOrd="0" destOrd="0" presId="urn:microsoft.com/office/officeart/2005/8/layout/vList2"/>
    <dgm:cxn modelId="{1F885730-07B3-4FA6-AC2F-B9450F410F14}" type="presOf" srcId="{085DB984-F377-4B4A-AED4-195E871F42A1}" destId="{7BA51C33-66F2-4ABF-88D9-C1CF3A6D6AD8}" srcOrd="0" destOrd="0" presId="urn:microsoft.com/office/officeart/2005/8/layout/vList2"/>
    <dgm:cxn modelId="{5A21B73F-CE3E-485D-AB4F-43412BC11BDC}" srcId="{C7139277-F55D-462C-9EC9-216C3CC10F5C}" destId="{085DB984-F377-4B4A-AED4-195E871F42A1}" srcOrd="4" destOrd="0" parTransId="{49280A58-AB01-49B4-B7C7-9E492BAB5A7F}" sibTransId="{12222AFC-DDB8-46EF-B39E-FA3EF51CE9CC}"/>
    <dgm:cxn modelId="{4E640542-307C-4AC0-8C15-0D1D76F2DC7B}" srcId="{C7139277-F55D-462C-9EC9-216C3CC10F5C}" destId="{EC490CA3-181D-4830-8BE8-E0882F8CC4AB}" srcOrd="2" destOrd="0" parTransId="{CA13400F-60E5-4DD9-80E1-7F1812F0D935}" sibTransId="{BB0A9C7C-AE38-4E01-9509-6A69F7BE5540}"/>
    <dgm:cxn modelId="{09D8E644-2A33-4EC5-B2C9-99FC57E55806}" type="presOf" srcId="{1D3F44A0-70B4-45A4-9FF5-45571357CEA8}" destId="{EA11949A-548B-4467-96B4-0210D9D146AB}" srcOrd="0" destOrd="0" presId="urn:microsoft.com/office/officeart/2005/8/layout/vList2"/>
    <dgm:cxn modelId="{67D1196A-69B6-47C7-AF33-B8058501C427}" type="presOf" srcId="{9D896273-D57B-4FB6-9718-17AFE1DA1C8A}" destId="{1876AF68-6AA6-422B-A27C-3EE366831962}" srcOrd="0" destOrd="0" presId="urn:microsoft.com/office/officeart/2005/8/layout/vList2"/>
    <dgm:cxn modelId="{0052AB53-C8AB-419D-9156-DAD24DFE6CAB}" srcId="{C7139277-F55D-462C-9EC9-216C3CC10F5C}" destId="{9D896273-D57B-4FB6-9718-17AFE1DA1C8A}" srcOrd="3" destOrd="0" parTransId="{C98DED28-BFAB-4B51-BA5C-C8EAD7B202CF}" sibTransId="{FF51C68F-58F4-4E44-A78A-3F838E7B0444}"/>
    <dgm:cxn modelId="{6A581A59-0B07-4F91-9D40-814EA79BA04A}" srcId="{C7139277-F55D-462C-9EC9-216C3CC10F5C}" destId="{68E9EBC9-64F5-4EFD-A2CB-2AE82C60230F}" srcOrd="0" destOrd="0" parTransId="{F7F0DC02-9029-41CB-97EB-9F7E3A6C473F}" sibTransId="{691B71F3-6E37-4A47-8B87-F3E07F0C91A2}"/>
    <dgm:cxn modelId="{544DAA79-3233-4E65-82D4-5E6433106F13}" srcId="{085DB984-F377-4B4A-AED4-195E871F42A1}" destId="{5EFE5C1B-CDF1-4E7F-8171-B320093E227F}" srcOrd="0" destOrd="0" parTransId="{CC3B299F-8150-4F53-AC77-473878C85794}" sibTransId="{72D7D355-E7B5-4613-BEB1-9D0982B431CF}"/>
    <dgm:cxn modelId="{54813E8B-0C45-4D8D-96B7-123DADB0DDE4}" type="presOf" srcId="{5EFE5C1B-CDF1-4E7F-8171-B320093E227F}" destId="{7BE1AE85-2CFF-4C45-8781-8F2CB881C971}" srcOrd="0" destOrd="0" presId="urn:microsoft.com/office/officeart/2005/8/layout/vList2"/>
    <dgm:cxn modelId="{82DCA5DF-2861-4377-A0F7-BEF27DD4A8D9}" type="presOf" srcId="{C7139277-F55D-462C-9EC9-216C3CC10F5C}" destId="{BB786F07-0572-422A-B853-01FB5D15FC1E}" srcOrd="0" destOrd="0" presId="urn:microsoft.com/office/officeart/2005/8/layout/vList2"/>
    <dgm:cxn modelId="{12EEACFF-AF12-4D8D-898D-87466BB95EAB}" type="presOf" srcId="{68E9EBC9-64F5-4EFD-A2CB-2AE82C60230F}" destId="{64D42E5D-DA8E-4D08-BBE6-BE5AE9B38563}" srcOrd="0" destOrd="0" presId="urn:microsoft.com/office/officeart/2005/8/layout/vList2"/>
    <dgm:cxn modelId="{EB0C6E9E-B9B5-4715-BC53-2CF72D89D45A}" type="presParOf" srcId="{BB786F07-0572-422A-B853-01FB5D15FC1E}" destId="{64D42E5D-DA8E-4D08-BBE6-BE5AE9B38563}" srcOrd="0" destOrd="0" presId="urn:microsoft.com/office/officeart/2005/8/layout/vList2"/>
    <dgm:cxn modelId="{DA7FFF7E-D3E9-4316-A78E-42EB94AC8A5F}" type="presParOf" srcId="{BB786F07-0572-422A-B853-01FB5D15FC1E}" destId="{E92EFBB7-6255-4F82-8044-8E586A91DB26}" srcOrd="1" destOrd="0" presId="urn:microsoft.com/office/officeart/2005/8/layout/vList2"/>
    <dgm:cxn modelId="{2E582B96-D5D0-4D27-8139-C7B273D96230}" type="presParOf" srcId="{BB786F07-0572-422A-B853-01FB5D15FC1E}" destId="{EA11949A-548B-4467-96B4-0210D9D146AB}" srcOrd="2" destOrd="0" presId="urn:microsoft.com/office/officeart/2005/8/layout/vList2"/>
    <dgm:cxn modelId="{0C89C884-D77B-44CC-896A-FF865CA6D11A}" type="presParOf" srcId="{BB786F07-0572-422A-B853-01FB5D15FC1E}" destId="{4599B914-32B5-438A-A694-533F37A98622}" srcOrd="3" destOrd="0" presId="urn:microsoft.com/office/officeart/2005/8/layout/vList2"/>
    <dgm:cxn modelId="{44C5E9EF-CF25-4054-A5CC-0CB235EE9F83}" type="presParOf" srcId="{BB786F07-0572-422A-B853-01FB5D15FC1E}" destId="{92540235-C791-45EF-B069-590172302293}" srcOrd="4" destOrd="0" presId="urn:microsoft.com/office/officeart/2005/8/layout/vList2"/>
    <dgm:cxn modelId="{69E8A78C-0965-4F87-B26E-E1C16433E846}" type="presParOf" srcId="{BB786F07-0572-422A-B853-01FB5D15FC1E}" destId="{D8DF0E20-7339-423A-9CB6-1685EEBCE9EB}" srcOrd="5" destOrd="0" presId="urn:microsoft.com/office/officeart/2005/8/layout/vList2"/>
    <dgm:cxn modelId="{6CCCA465-42BE-490B-8E06-9E5164332EC4}" type="presParOf" srcId="{BB786F07-0572-422A-B853-01FB5D15FC1E}" destId="{1876AF68-6AA6-422B-A27C-3EE366831962}" srcOrd="6" destOrd="0" presId="urn:microsoft.com/office/officeart/2005/8/layout/vList2"/>
    <dgm:cxn modelId="{D1322F25-6FE8-4A2A-A936-720311883030}" type="presParOf" srcId="{BB786F07-0572-422A-B853-01FB5D15FC1E}" destId="{52A0CCA9-F758-4732-B67B-7DC4618DAB91}" srcOrd="7" destOrd="0" presId="urn:microsoft.com/office/officeart/2005/8/layout/vList2"/>
    <dgm:cxn modelId="{54EAF268-DCFA-4F1B-B4C7-07722842D61F}" type="presParOf" srcId="{BB786F07-0572-422A-B853-01FB5D15FC1E}" destId="{7BA51C33-66F2-4ABF-88D9-C1CF3A6D6AD8}" srcOrd="8" destOrd="0" presId="urn:microsoft.com/office/officeart/2005/8/layout/vList2"/>
    <dgm:cxn modelId="{E086397D-F2E7-4184-B872-39BF61523A35}" type="presParOf" srcId="{BB786F07-0572-422A-B853-01FB5D15FC1E}" destId="{7BE1AE85-2CFF-4C45-8781-8F2CB881C971}"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48989E3-EF1A-40E2-9071-5EFA405F3C1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DC26DC3A-8B9F-4925-A37B-39F76486AC66}">
      <dgm:prSet/>
      <dgm:spPr/>
      <dgm:t>
        <a:bodyPr/>
        <a:lstStyle/>
        <a:p>
          <a:pPr rtl="0"/>
          <a:r>
            <a:rPr lang="en-US" b="0"/>
            <a:t>X33=2			C= 2* 400  =   800</a:t>
          </a:r>
          <a:endParaRPr lang="es-PE"/>
        </a:p>
      </dgm:t>
    </dgm:pt>
    <dgm:pt modelId="{15618AE4-C851-46CF-A7C1-8DE81C8E44BC}" type="parTrans" cxnId="{DB489929-F67D-4F13-9706-BE423CE250E5}">
      <dgm:prSet/>
      <dgm:spPr/>
      <dgm:t>
        <a:bodyPr/>
        <a:lstStyle/>
        <a:p>
          <a:endParaRPr lang="es-PE"/>
        </a:p>
      </dgm:t>
    </dgm:pt>
    <dgm:pt modelId="{1D03CA1E-C004-4ACF-9CAC-8545112277E5}" type="sibTrans" cxnId="{DB489929-F67D-4F13-9706-BE423CE250E5}">
      <dgm:prSet/>
      <dgm:spPr/>
      <dgm:t>
        <a:bodyPr/>
        <a:lstStyle/>
        <a:p>
          <a:endParaRPr lang="es-PE"/>
        </a:p>
      </dgm:t>
    </dgm:pt>
    <dgm:pt modelId="{D1EB3F5C-42F7-488E-9743-B791550836EE}">
      <dgm:prSet/>
      <dgm:spPr/>
      <dgm:t>
        <a:bodyPr/>
        <a:lstStyle/>
        <a:p>
          <a:pPr rtl="0"/>
          <a:r>
            <a:rPr lang="en-US" b="0"/>
            <a:t>X32=1			C= 1*1000 = 1000</a:t>
          </a:r>
          <a:endParaRPr lang="es-PE"/>
        </a:p>
      </dgm:t>
    </dgm:pt>
    <dgm:pt modelId="{54D888B0-0F59-4D4D-8340-FE887CB9D534}" type="parTrans" cxnId="{6C95FB0F-D8A4-4B96-BB91-94FF2B3F6F8F}">
      <dgm:prSet/>
      <dgm:spPr/>
      <dgm:t>
        <a:bodyPr/>
        <a:lstStyle/>
        <a:p>
          <a:endParaRPr lang="es-PE"/>
        </a:p>
      </dgm:t>
    </dgm:pt>
    <dgm:pt modelId="{19968042-7C0C-47BF-9348-9E5357EE46A1}" type="sibTrans" cxnId="{6C95FB0F-D8A4-4B96-BB91-94FF2B3F6F8F}">
      <dgm:prSet/>
      <dgm:spPr/>
      <dgm:t>
        <a:bodyPr/>
        <a:lstStyle/>
        <a:p>
          <a:endParaRPr lang="es-PE"/>
        </a:p>
      </dgm:t>
    </dgm:pt>
    <dgm:pt modelId="{51D30368-9507-4F17-8302-1B679E6274E4}">
      <dgm:prSet/>
      <dgm:spPr/>
      <dgm:t>
        <a:bodyPr/>
        <a:lstStyle/>
        <a:p>
          <a:pPr rtl="0"/>
          <a:r>
            <a:rPr lang="en-US" b="0"/>
            <a:t>X22=1			C= 1*1000 = 1000</a:t>
          </a:r>
          <a:endParaRPr lang="es-PE"/>
        </a:p>
      </dgm:t>
    </dgm:pt>
    <dgm:pt modelId="{4313CA57-F38C-4CDA-ACA8-105CC965C21E}" type="parTrans" cxnId="{85E7F279-A6D9-423F-98D7-F3AAE21D0E8F}">
      <dgm:prSet/>
      <dgm:spPr/>
      <dgm:t>
        <a:bodyPr/>
        <a:lstStyle/>
        <a:p>
          <a:endParaRPr lang="es-PE"/>
        </a:p>
      </dgm:t>
    </dgm:pt>
    <dgm:pt modelId="{2BF4AF90-9DFF-41F1-8BDC-AC109246FD5C}" type="sibTrans" cxnId="{85E7F279-A6D9-423F-98D7-F3AAE21D0E8F}">
      <dgm:prSet/>
      <dgm:spPr/>
      <dgm:t>
        <a:bodyPr/>
        <a:lstStyle/>
        <a:p>
          <a:endParaRPr lang="es-PE"/>
        </a:p>
      </dgm:t>
    </dgm:pt>
    <dgm:pt modelId="{F7E0BE00-9BCA-408D-918A-50C99A593B45}">
      <dgm:prSet/>
      <dgm:spPr/>
      <dgm:t>
        <a:bodyPr/>
        <a:lstStyle/>
        <a:p>
          <a:pPr rtl="0"/>
          <a:r>
            <a:rPr lang="en-US" b="0"/>
            <a:t>X11=3			C= 3*1600 = 4800</a:t>
          </a:r>
          <a:endParaRPr lang="es-PE"/>
        </a:p>
      </dgm:t>
    </dgm:pt>
    <dgm:pt modelId="{33ECC21B-63CB-4535-B52E-2DE7423A3E67}" type="parTrans" cxnId="{F0CAC53E-72CC-44CF-9083-0094E3AACBBE}">
      <dgm:prSet/>
      <dgm:spPr/>
      <dgm:t>
        <a:bodyPr/>
        <a:lstStyle/>
        <a:p>
          <a:endParaRPr lang="es-PE"/>
        </a:p>
      </dgm:t>
    </dgm:pt>
    <dgm:pt modelId="{CEDD46F3-D22B-432E-AF6B-F575D4FB7CDE}" type="sibTrans" cxnId="{F0CAC53E-72CC-44CF-9083-0094E3AACBBE}">
      <dgm:prSet/>
      <dgm:spPr/>
      <dgm:t>
        <a:bodyPr/>
        <a:lstStyle/>
        <a:p>
          <a:endParaRPr lang="es-PE"/>
        </a:p>
      </dgm:t>
    </dgm:pt>
    <dgm:pt modelId="{BE94588D-3418-4753-8610-FF79B328F97D}">
      <dgm:prSet/>
      <dgm:spPr/>
      <dgm:t>
        <a:bodyPr/>
        <a:lstStyle/>
        <a:p>
          <a:pPr rtl="0"/>
          <a:r>
            <a:rPr lang="en-US" b="0"/>
            <a:t>X21=1			C= 1*  900 =   900</a:t>
          </a:r>
          <a:endParaRPr lang="es-PE"/>
        </a:p>
      </dgm:t>
    </dgm:pt>
    <dgm:pt modelId="{2C395796-0B06-4475-80F6-2D79BE693DE4}" type="parTrans" cxnId="{73D5639E-D19E-4976-8334-C5B3F9710245}">
      <dgm:prSet/>
      <dgm:spPr/>
      <dgm:t>
        <a:bodyPr/>
        <a:lstStyle/>
        <a:p>
          <a:endParaRPr lang="es-PE"/>
        </a:p>
      </dgm:t>
    </dgm:pt>
    <dgm:pt modelId="{711FDF28-B703-4E4B-B0FF-34737120D623}" type="sibTrans" cxnId="{73D5639E-D19E-4976-8334-C5B3F9710245}">
      <dgm:prSet/>
      <dgm:spPr/>
      <dgm:t>
        <a:bodyPr/>
        <a:lstStyle/>
        <a:p>
          <a:endParaRPr lang="es-PE"/>
        </a:p>
      </dgm:t>
    </dgm:pt>
    <dgm:pt modelId="{F4FCD532-2F35-4C33-A78D-1A649E2C2DD6}">
      <dgm:prSet custT="1"/>
      <dgm:spPr/>
      <dgm:t>
        <a:bodyPr/>
        <a:lstStyle/>
        <a:p>
          <a:pPr rtl="0"/>
          <a:r>
            <a:rPr lang="en-US" sz="2400" b="0" dirty="0">
              <a:solidFill>
                <a:srgbClr val="FF0000"/>
              </a:solidFill>
            </a:rPr>
            <a:t>                                                       </a:t>
          </a:r>
          <a:r>
            <a:rPr lang="en-US" sz="3000" b="0" dirty="0" err="1">
              <a:solidFill>
                <a:srgbClr val="FF0000"/>
              </a:solidFill>
            </a:rPr>
            <a:t>Costo</a:t>
          </a:r>
          <a:r>
            <a:rPr lang="en-US" sz="3000" b="0" dirty="0">
              <a:solidFill>
                <a:srgbClr val="FF0000"/>
              </a:solidFill>
            </a:rPr>
            <a:t> total =  8500  </a:t>
          </a:r>
          <a:endParaRPr lang="es-PE" sz="3000" dirty="0">
            <a:solidFill>
              <a:srgbClr val="FF0000"/>
            </a:solidFill>
          </a:endParaRPr>
        </a:p>
      </dgm:t>
    </dgm:pt>
    <dgm:pt modelId="{328AF4C1-0EFA-43A9-9EDE-D2AF33AAFE82}" type="parTrans" cxnId="{3C1ABEA7-994D-44EE-8F53-7129C1641B7D}">
      <dgm:prSet/>
      <dgm:spPr/>
      <dgm:t>
        <a:bodyPr/>
        <a:lstStyle/>
        <a:p>
          <a:endParaRPr lang="es-PE"/>
        </a:p>
      </dgm:t>
    </dgm:pt>
    <dgm:pt modelId="{82717E88-B92B-4F7A-A2D3-911AF8068D42}" type="sibTrans" cxnId="{3C1ABEA7-994D-44EE-8F53-7129C1641B7D}">
      <dgm:prSet/>
      <dgm:spPr/>
      <dgm:t>
        <a:bodyPr/>
        <a:lstStyle/>
        <a:p>
          <a:endParaRPr lang="es-PE"/>
        </a:p>
      </dgm:t>
    </dgm:pt>
    <dgm:pt modelId="{B6887BFB-F8CC-4FD8-9FFB-2532346DE7DE}" type="pres">
      <dgm:prSet presAssocID="{548989E3-EF1A-40E2-9071-5EFA405F3C16}" presName="linear" presStyleCnt="0">
        <dgm:presLayoutVars>
          <dgm:animLvl val="lvl"/>
          <dgm:resizeHandles val="exact"/>
        </dgm:presLayoutVars>
      </dgm:prSet>
      <dgm:spPr/>
    </dgm:pt>
    <dgm:pt modelId="{A148BD9A-8DFA-4E1B-95F4-5EC8602343F4}" type="pres">
      <dgm:prSet presAssocID="{DC26DC3A-8B9F-4925-A37B-39F76486AC66}" presName="parentText" presStyleLbl="node1" presStyleIdx="0" presStyleCnt="5">
        <dgm:presLayoutVars>
          <dgm:chMax val="0"/>
          <dgm:bulletEnabled val="1"/>
        </dgm:presLayoutVars>
      </dgm:prSet>
      <dgm:spPr/>
    </dgm:pt>
    <dgm:pt modelId="{C2F68C56-D9EC-4A5F-B65D-5A097AE1F2C8}" type="pres">
      <dgm:prSet presAssocID="{1D03CA1E-C004-4ACF-9CAC-8545112277E5}" presName="spacer" presStyleCnt="0"/>
      <dgm:spPr/>
    </dgm:pt>
    <dgm:pt modelId="{390D64EE-6C3A-445D-B0BE-49C0BD505B4B}" type="pres">
      <dgm:prSet presAssocID="{D1EB3F5C-42F7-488E-9743-B791550836EE}" presName="parentText" presStyleLbl="node1" presStyleIdx="1" presStyleCnt="5">
        <dgm:presLayoutVars>
          <dgm:chMax val="0"/>
          <dgm:bulletEnabled val="1"/>
        </dgm:presLayoutVars>
      </dgm:prSet>
      <dgm:spPr/>
    </dgm:pt>
    <dgm:pt modelId="{0ED2FC20-EAAC-4405-8463-9F42D7B986A0}" type="pres">
      <dgm:prSet presAssocID="{19968042-7C0C-47BF-9348-9E5357EE46A1}" presName="spacer" presStyleCnt="0"/>
      <dgm:spPr/>
    </dgm:pt>
    <dgm:pt modelId="{FFE86B58-02C2-4822-B490-9A5A294B119B}" type="pres">
      <dgm:prSet presAssocID="{51D30368-9507-4F17-8302-1B679E6274E4}" presName="parentText" presStyleLbl="node1" presStyleIdx="2" presStyleCnt="5">
        <dgm:presLayoutVars>
          <dgm:chMax val="0"/>
          <dgm:bulletEnabled val="1"/>
        </dgm:presLayoutVars>
      </dgm:prSet>
      <dgm:spPr/>
    </dgm:pt>
    <dgm:pt modelId="{4B4DC1FB-09ED-4505-AAF6-866B3E94590E}" type="pres">
      <dgm:prSet presAssocID="{2BF4AF90-9DFF-41F1-8BDC-AC109246FD5C}" presName="spacer" presStyleCnt="0"/>
      <dgm:spPr/>
    </dgm:pt>
    <dgm:pt modelId="{E8AE5829-062C-4D91-A65B-95B6C9312F47}" type="pres">
      <dgm:prSet presAssocID="{F7E0BE00-9BCA-408D-918A-50C99A593B45}" presName="parentText" presStyleLbl="node1" presStyleIdx="3" presStyleCnt="5">
        <dgm:presLayoutVars>
          <dgm:chMax val="0"/>
          <dgm:bulletEnabled val="1"/>
        </dgm:presLayoutVars>
      </dgm:prSet>
      <dgm:spPr/>
    </dgm:pt>
    <dgm:pt modelId="{06341359-46A0-4159-8746-1733FB02A9F0}" type="pres">
      <dgm:prSet presAssocID="{CEDD46F3-D22B-432E-AF6B-F575D4FB7CDE}" presName="spacer" presStyleCnt="0"/>
      <dgm:spPr/>
    </dgm:pt>
    <dgm:pt modelId="{C6529E42-C940-466F-9062-62B6527D616A}" type="pres">
      <dgm:prSet presAssocID="{BE94588D-3418-4753-8610-FF79B328F97D}" presName="parentText" presStyleLbl="node1" presStyleIdx="4" presStyleCnt="5">
        <dgm:presLayoutVars>
          <dgm:chMax val="0"/>
          <dgm:bulletEnabled val="1"/>
        </dgm:presLayoutVars>
      </dgm:prSet>
      <dgm:spPr/>
    </dgm:pt>
    <dgm:pt modelId="{C5B67770-4C7E-4243-B3AA-DF1B1F26177F}" type="pres">
      <dgm:prSet presAssocID="{BE94588D-3418-4753-8610-FF79B328F97D}" presName="childText" presStyleLbl="revTx" presStyleIdx="0" presStyleCnt="1">
        <dgm:presLayoutVars>
          <dgm:bulletEnabled val="1"/>
        </dgm:presLayoutVars>
      </dgm:prSet>
      <dgm:spPr/>
    </dgm:pt>
  </dgm:ptLst>
  <dgm:cxnLst>
    <dgm:cxn modelId="{6C95FB0F-D8A4-4B96-BB91-94FF2B3F6F8F}" srcId="{548989E3-EF1A-40E2-9071-5EFA405F3C16}" destId="{D1EB3F5C-42F7-488E-9743-B791550836EE}" srcOrd="1" destOrd="0" parTransId="{54D888B0-0F59-4D4D-8340-FE887CB9D534}" sibTransId="{19968042-7C0C-47BF-9348-9E5357EE46A1}"/>
    <dgm:cxn modelId="{E0A5D221-0ED7-43BE-BEBB-DDD724AFDAFA}" type="presOf" srcId="{F7E0BE00-9BCA-408D-918A-50C99A593B45}" destId="{E8AE5829-062C-4D91-A65B-95B6C9312F47}" srcOrd="0" destOrd="0" presId="urn:microsoft.com/office/officeart/2005/8/layout/vList2"/>
    <dgm:cxn modelId="{DB489929-F67D-4F13-9706-BE423CE250E5}" srcId="{548989E3-EF1A-40E2-9071-5EFA405F3C16}" destId="{DC26DC3A-8B9F-4925-A37B-39F76486AC66}" srcOrd="0" destOrd="0" parTransId="{15618AE4-C851-46CF-A7C1-8DE81C8E44BC}" sibTransId="{1D03CA1E-C004-4ACF-9CAC-8545112277E5}"/>
    <dgm:cxn modelId="{D5602D39-0F05-4DEF-B131-EAF8B65D9E7F}" type="presOf" srcId="{DC26DC3A-8B9F-4925-A37B-39F76486AC66}" destId="{A148BD9A-8DFA-4E1B-95F4-5EC8602343F4}" srcOrd="0" destOrd="0" presId="urn:microsoft.com/office/officeart/2005/8/layout/vList2"/>
    <dgm:cxn modelId="{F0CAC53E-72CC-44CF-9083-0094E3AACBBE}" srcId="{548989E3-EF1A-40E2-9071-5EFA405F3C16}" destId="{F7E0BE00-9BCA-408D-918A-50C99A593B45}" srcOrd="3" destOrd="0" parTransId="{33ECC21B-63CB-4535-B52E-2DE7423A3E67}" sibTransId="{CEDD46F3-D22B-432E-AF6B-F575D4FB7CDE}"/>
    <dgm:cxn modelId="{6952E640-4210-4811-B463-FB0C5113AC82}" type="presOf" srcId="{548989E3-EF1A-40E2-9071-5EFA405F3C16}" destId="{B6887BFB-F8CC-4FD8-9FFB-2532346DE7DE}" srcOrd="0" destOrd="0" presId="urn:microsoft.com/office/officeart/2005/8/layout/vList2"/>
    <dgm:cxn modelId="{96A7655D-EA88-47BD-8705-754D7A15C401}" type="presOf" srcId="{F4FCD532-2F35-4C33-A78D-1A649E2C2DD6}" destId="{C5B67770-4C7E-4243-B3AA-DF1B1F26177F}" srcOrd="0" destOrd="0" presId="urn:microsoft.com/office/officeart/2005/8/layout/vList2"/>
    <dgm:cxn modelId="{F3AEFC6D-B86D-48DB-9732-FACDA2274D82}" type="presOf" srcId="{BE94588D-3418-4753-8610-FF79B328F97D}" destId="{C6529E42-C940-466F-9062-62B6527D616A}" srcOrd="0" destOrd="0" presId="urn:microsoft.com/office/officeart/2005/8/layout/vList2"/>
    <dgm:cxn modelId="{CC412B52-868F-4A26-88DC-BC30237E9969}" type="presOf" srcId="{D1EB3F5C-42F7-488E-9743-B791550836EE}" destId="{390D64EE-6C3A-445D-B0BE-49C0BD505B4B}" srcOrd="0" destOrd="0" presId="urn:microsoft.com/office/officeart/2005/8/layout/vList2"/>
    <dgm:cxn modelId="{F2B71C75-370B-4A4D-828C-82CA5BB4A611}" type="presOf" srcId="{51D30368-9507-4F17-8302-1B679E6274E4}" destId="{FFE86B58-02C2-4822-B490-9A5A294B119B}" srcOrd="0" destOrd="0" presId="urn:microsoft.com/office/officeart/2005/8/layout/vList2"/>
    <dgm:cxn modelId="{85E7F279-A6D9-423F-98D7-F3AAE21D0E8F}" srcId="{548989E3-EF1A-40E2-9071-5EFA405F3C16}" destId="{51D30368-9507-4F17-8302-1B679E6274E4}" srcOrd="2" destOrd="0" parTransId="{4313CA57-F38C-4CDA-ACA8-105CC965C21E}" sibTransId="{2BF4AF90-9DFF-41F1-8BDC-AC109246FD5C}"/>
    <dgm:cxn modelId="{73D5639E-D19E-4976-8334-C5B3F9710245}" srcId="{548989E3-EF1A-40E2-9071-5EFA405F3C16}" destId="{BE94588D-3418-4753-8610-FF79B328F97D}" srcOrd="4" destOrd="0" parTransId="{2C395796-0B06-4475-80F6-2D79BE693DE4}" sibTransId="{711FDF28-B703-4E4B-B0FF-34737120D623}"/>
    <dgm:cxn modelId="{3C1ABEA7-994D-44EE-8F53-7129C1641B7D}" srcId="{BE94588D-3418-4753-8610-FF79B328F97D}" destId="{F4FCD532-2F35-4C33-A78D-1A649E2C2DD6}" srcOrd="0" destOrd="0" parTransId="{328AF4C1-0EFA-43A9-9EDE-D2AF33AAFE82}" sibTransId="{82717E88-B92B-4F7A-A2D3-911AF8068D42}"/>
    <dgm:cxn modelId="{DF309E4D-7FB1-4176-B324-A1088F7E1531}" type="presParOf" srcId="{B6887BFB-F8CC-4FD8-9FFB-2532346DE7DE}" destId="{A148BD9A-8DFA-4E1B-95F4-5EC8602343F4}" srcOrd="0" destOrd="0" presId="urn:microsoft.com/office/officeart/2005/8/layout/vList2"/>
    <dgm:cxn modelId="{FB1DA959-0115-4853-82A9-8EA09FB2803F}" type="presParOf" srcId="{B6887BFB-F8CC-4FD8-9FFB-2532346DE7DE}" destId="{C2F68C56-D9EC-4A5F-B65D-5A097AE1F2C8}" srcOrd="1" destOrd="0" presId="urn:microsoft.com/office/officeart/2005/8/layout/vList2"/>
    <dgm:cxn modelId="{C5E5B533-579F-4BB3-BE56-077866120974}" type="presParOf" srcId="{B6887BFB-F8CC-4FD8-9FFB-2532346DE7DE}" destId="{390D64EE-6C3A-445D-B0BE-49C0BD505B4B}" srcOrd="2" destOrd="0" presId="urn:microsoft.com/office/officeart/2005/8/layout/vList2"/>
    <dgm:cxn modelId="{FD9A0B3F-9BD6-49AF-ACD0-D92DA1F34966}" type="presParOf" srcId="{B6887BFB-F8CC-4FD8-9FFB-2532346DE7DE}" destId="{0ED2FC20-EAAC-4405-8463-9F42D7B986A0}" srcOrd="3" destOrd="0" presId="urn:microsoft.com/office/officeart/2005/8/layout/vList2"/>
    <dgm:cxn modelId="{384C499D-F8F9-4E2F-80FE-CD0034CF1718}" type="presParOf" srcId="{B6887BFB-F8CC-4FD8-9FFB-2532346DE7DE}" destId="{FFE86B58-02C2-4822-B490-9A5A294B119B}" srcOrd="4" destOrd="0" presId="urn:microsoft.com/office/officeart/2005/8/layout/vList2"/>
    <dgm:cxn modelId="{8A19333C-6709-48F1-829B-380F162619B6}" type="presParOf" srcId="{B6887BFB-F8CC-4FD8-9FFB-2532346DE7DE}" destId="{4B4DC1FB-09ED-4505-AAF6-866B3E94590E}" srcOrd="5" destOrd="0" presId="urn:microsoft.com/office/officeart/2005/8/layout/vList2"/>
    <dgm:cxn modelId="{87CC131B-2385-46BB-AEA5-953C176B28CC}" type="presParOf" srcId="{B6887BFB-F8CC-4FD8-9FFB-2532346DE7DE}" destId="{E8AE5829-062C-4D91-A65B-95B6C9312F47}" srcOrd="6" destOrd="0" presId="urn:microsoft.com/office/officeart/2005/8/layout/vList2"/>
    <dgm:cxn modelId="{B042FA2E-CA71-4B09-BAB2-AEC0EFF893B9}" type="presParOf" srcId="{B6887BFB-F8CC-4FD8-9FFB-2532346DE7DE}" destId="{06341359-46A0-4159-8746-1733FB02A9F0}" srcOrd="7" destOrd="0" presId="urn:microsoft.com/office/officeart/2005/8/layout/vList2"/>
    <dgm:cxn modelId="{524A4707-95FD-45F0-B27A-4A64D6D2FE56}" type="presParOf" srcId="{B6887BFB-F8CC-4FD8-9FFB-2532346DE7DE}" destId="{C6529E42-C940-466F-9062-62B6527D616A}" srcOrd="8" destOrd="0" presId="urn:microsoft.com/office/officeart/2005/8/layout/vList2"/>
    <dgm:cxn modelId="{062BC3B5-D95C-4950-A4DB-4C91510FE603}" type="presParOf" srcId="{B6887BFB-F8CC-4FD8-9FFB-2532346DE7DE}" destId="{C5B67770-4C7E-4243-B3AA-DF1B1F26177F}"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706A2F2-DCFD-406B-8E5A-262A654D104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CA9336CF-0B22-40AB-886A-39F17B29127A}">
      <dgm:prSet custT="1"/>
      <dgm:spPr/>
      <dgm:t>
        <a:bodyPr/>
        <a:lstStyle/>
        <a:p>
          <a:pPr algn="just" rtl="0"/>
          <a:r>
            <a:rPr lang="es-PE" sz="2200" b="0" dirty="0"/>
            <a:t>Medican, Inc., renta equipos especializado de rayos X a hospitales.  Actualmente hay tres máquinas ubicadas en Nueva York, dos en Chicago y tres en Los Ángeles.  Hay hospitales en Dallas que requieren cuatro máquinas.  Los de Denver y Phoenix necesitan cada uno dos máquinas. Además el hospital de Miami necesita 2 máquinas. El costo (en dólares) de enviar una máquina de cada ciudad a cada hospital se muestra en la siguiente tabla. Use el Método de Vogel.</a:t>
          </a:r>
          <a:endParaRPr lang="es-PE" sz="2200" dirty="0"/>
        </a:p>
      </dgm:t>
    </dgm:pt>
    <dgm:pt modelId="{6BE35D2D-8AB1-4BFB-A4FA-2F3E5E7AD96D}" type="parTrans" cxnId="{FCA0AA8B-782A-400E-A241-A2B32080AC98}">
      <dgm:prSet/>
      <dgm:spPr/>
      <dgm:t>
        <a:bodyPr/>
        <a:lstStyle/>
        <a:p>
          <a:pPr algn="just"/>
          <a:endParaRPr lang="es-PE" sz="2200"/>
        </a:p>
      </dgm:t>
    </dgm:pt>
    <dgm:pt modelId="{14DA9C4D-1250-40D0-9221-0FC32B565185}" type="sibTrans" cxnId="{FCA0AA8B-782A-400E-A241-A2B32080AC98}">
      <dgm:prSet/>
      <dgm:spPr/>
      <dgm:t>
        <a:bodyPr/>
        <a:lstStyle/>
        <a:p>
          <a:pPr algn="just"/>
          <a:endParaRPr lang="es-PE" sz="2200"/>
        </a:p>
      </dgm:t>
    </dgm:pt>
    <dgm:pt modelId="{56C4EF59-AEB9-4B84-A893-48B7AA166852}" type="pres">
      <dgm:prSet presAssocID="{2706A2F2-DCFD-406B-8E5A-262A654D1048}" presName="linear" presStyleCnt="0">
        <dgm:presLayoutVars>
          <dgm:animLvl val="lvl"/>
          <dgm:resizeHandles val="exact"/>
        </dgm:presLayoutVars>
      </dgm:prSet>
      <dgm:spPr/>
    </dgm:pt>
    <dgm:pt modelId="{D4AA69EC-2A94-4881-8545-C98BB47DE48E}" type="pres">
      <dgm:prSet presAssocID="{CA9336CF-0B22-40AB-886A-39F17B29127A}" presName="parentText" presStyleLbl="node1" presStyleIdx="0" presStyleCnt="1" custLinFactNeighborX="-349" custLinFactNeighborY="-5654">
        <dgm:presLayoutVars>
          <dgm:chMax val="0"/>
          <dgm:bulletEnabled val="1"/>
        </dgm:presLayoutVars>
      </dgm:prSet>
      <dgm:spPr/>
    </dgm:pt>
  </dgm:ptLst>
  <dgm:cxnLst>
    <dgm:cxn modelId="{314EEC07-D2E6-4E9D-8D76-17B894684312}" type="presOf" srcId="{2706A2F2-DCFD-406B-8E5A-262A654D1048}" destId="{56C4EF59-AEB9-4B84-A893-48B7AA166852}" srcOrd="0" destOrd="0" presId="urn:microsoft.com/office/officeart/2005/8/layout/vList2"/>
    <dgm:cxn modelId="{FCA0AA8B-782A-400E-A241-A2B32080AC98}" srcId="{2706A2F2-DCFD-406B-8E5A-262A654D1048}" destId="{CA9336CF-0B22-40AB-886A-39F17B29127A}" srcOrd="0" destOrd="0" parTransId="{6BE35D2D-8AB1-4BFB-A4FA-2F3E5E7AD96D}" sibTransId="{14DA9C4D-1250-40D0-9221-0FC32B565185}"/>
    <dgm:cxn modelId="{6C3D4EA4-C8CA-47DC-B9F0-5FE6A0C08737}" type="presOf" srcId="{CA9336CF-0B22-40AB-886A-39F17B29127A}" destId="{D4AA69EC-2A94-4881-8545-C98BB47DE48E}" srcOrd="0" destOrd="0" presId="urn:microsoft.com/office/officeart/2005/8/layout/vList2"/>
    <dgm:cxn modelId="{2A857CA1-BB32-4023-A5BB-6FD07B9B1D44}" type="presParOf" srcId="{56C4EF59-AEB9-4B84-A893-48B7AA166852}" destId="{D4AA69EC-2A94-4881-8545-C98BB47DE48E}"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79A921B-C112-4E5F-95EE-D693064B9D5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09E17CDE-A668-4FCC-A54A-7DA8971CAA65}">
      <dgm:prSet custT="1"/>
      <dgm:spPr/>
      <dgm:t>
        <a:bodyPr/>
        <a:lstStyle/>
        <a:p>
          <a:pPr rtl="0"/>
          <a:r>
            <a:rPr lang="es-PE" sz="2000" b="1" dirty="0" err="1"/>
            <a:t>X44</a:t>
          </a:r>
          <a:r>
            <a:rPr lang="es-PE" sz="2000" b="1" dirty="0"/>
            <a:t>=2	  C=2*0</a:t>
          </a:r>
          <a:endParaRPr lang="es-PE" sz="2000" dirty="0"/>
        </a:p>
      </dgm:t>
    </dgm:pt>
    <dgm:pt modelId="{48652F98-B011-4D72-AB94-8D1D424BCD2A}" type="parTrans" cxnId="{08028FDA-70C6-48DD-9123-44B9DA026C12}">
      <dgm:prSet/>
      <dgm:spPr/>
      <dgm:t>
        <a:bodyPr/>
        <a:lstStyle/>
        <a:p>
          <a:endParaRPr lang="es-PE" sz="2000"/>
        </a:p>
      </dgm:t>
    </dgm:pt>
    <dgm:pt modelId="{FE98F9B4-DE0F-4110-AEFD-A44C93D59E24}" type="sibTrans" cxnId="{08028FDA-70C6-48DD-9123-44B9DA026C12}">
      <dgm:prSet/>
      <dgm:spPr/>
      <dgm:t>
        <a:bodyPr/>
        <a:lstStyle/>
        <a:p>
          <a:endParaRPr lang="es-PE" sz="2000"/>
        </a:p>
      </dgm:t>
    </dgm:pt>
    <dgm:pt modelId="{DED88460-FD1A-4CCC-A9AB-D26938EE689B}" type="pres">
      <dgm:prSet presAssocID="{F79A921B-C112-4E5F-95EE-D693064B9D54}" presName="linear" presStyleCnt="0">
        <dgm:presLayoutVars>
          <dgm:animLvl val="lvl"/>
          <dgm:resizeHandles val="exact"/>
        </dgm:presLayoutVars>
      </dgm:prSet>
      <dgm:spPr/>
    </dgm:pt>
    <dgm:pt modelId="{9F035B5A-C64A-45A1-86A7-3D822B58A3D8}" type="pres">
      <dgm:prSet presAssocID="{09E17CDE-A668-4FCC-A54A-7DA8971CAA65}" presName="parentText" presStyleLbl="node1" presStyleIdx="0" presStyleCnt="1">
        <dgm:presLayoutVars>
          <dgm:chMax val="0"/>
          <dgm:bulletEnabled val="1"/>
        </dgm:presLayoutVars>
      </dgm:prSet>
      <dgm:spPr/>
    </dgm:pt>
  </dgm:ptLst>
  <dgm:cxnLst>
    <dgm:cxn modelId="{08B41E5F-46CF-4FA1-834F-B701DC14A1EE}" type="presOf" srcId="{F79A921B-C112-4E5F-95EE-D693064B9D54}" destId="{DED88460-FD1A-4CCC-A9AB-D26938EE689B}" srcOrd="0" destOrd="0" presId="urn:microsoft.com/office/officeart/2005/8/layout/vList2"/>
    <dgm:cxn modelId="{DFA55995-E232-46E8-BE9C-FD089C3E60FC}" type="presOf" srcId="{09E17CDE-A668-4FCC-A54A-7DA8971CAA65}" destId="{9F035B5A-C64A-45A1-86A7-3D822B58A3D8}" srcOrd="0" destOrd="0" presId="urn:microsoft.com/office/officeart/2005/8/layout/vList2"/>
    <dgm:cxn modelId="{08028FDA-70C6-48DD-9123-44B9DA026C12}" srcId="{F79A921B-C112-4E5F-95EE-D693064B9D54}" destId="{09E17CDE-A668-4FCC-A54A-7DA8971CAA65}" srcOrd="0" destOrd="0" parTransId="{48652F98-B011-4D72-AB94-8D1D424BCD2A}" sibTransId="{FE98F9B4-DE0F-4110-AEFD-A44C93D59E24}"/>
    <dgm:cxn modelId="{D2EC1FCD-BDBC-474E-A096-7772C9C2AD03}" type="presParOf" srcId="{DED88460-FD1A-4CCC-A9AB-D26938EE689B}" destId="{9F035B5A-C64A-45A1-86A7-3D822B58A3D8}"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79A921B-C112-4E5F-95EE-D693064B9D5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s-PE"/>
        </a:p>
      </dgm:t>
    </dgm:pt>
    <dgm:pt modelId="{09E17CDE-A668-4FCC-A54A-7DA8971CAA65}">
      <dgm:prSet custT="1"/>
      <dgm:spPr/>
      <dgm:t>
        <a:bodyPr/>
        <a:lstStyle/>
        <a:p>
          <a:pPr rtl="0"/>
          <a:r>
            <a:rPr lang="es-PE" sz="2000" b="1" dirty="0" err="1"/>
            <a:t>X44</a:t>
          </a:r>
          <a:r>
            <a:rPr lang="es-PE" sz="2000" b="1" dirty="0"/>
            <a:t>=2	  C=2*0</a:t>
          </a:r>
          <a:endParaRPr lang="es-PE" sz="2000" dirty="0"/>
        </a:p>
      </dgm:t>
    </dgm:pt>
    <dgm:pt modelId="{48652F98-B011-4D72-AB94-8D1D424BCD2A}" type="parTrans" cxnId="{08028FDA-70C6-48DD-9123-44B9DA026C12}">
      <dgm:prSet/>
      <dgm:spPr/>
      <dgm:t>
        <a:bodyPr/>
        <a:lstStyle/>
        <a:p>
          <a:endParaRPr lang="es-PE" sz="2000"/>
        </a:p>
      </dgm:t>
    </dgm:pt>
    <dgm:pt modelId="{FE98F9B4-DE0F-4110-AEFD-A44C93D59E24}" type="sibTrans" cxnId="{08028FDA-70C6-48DD-9123-44B9DA026C12}">
      <dgm:prSet/>
      <dgm:spPr/>
      <dgm:t>
        <a:bodyPr/>
        <a:lstStyle/>
        <a:p>
          <a:endParaRPr lang="es-PE" sz="2000"/>
        </a:p>
      </dgm:t>
    </dgm:pt>
    <dgm:pt modelId="{FEFF5D4B-8EB3-4A93-9B07-684525138D46}">
      <dgm:prSet custT="1"/>
      <dgm:spPr/>
      <dgm:t>
        <a:bodyPr/>
        <a:lstStyle/>
        <a:p>
          <a:pPr rtl="0"/>
          <a:r>
            <a:rPr lang="es-PE" sz="2000" b="1" dirty="0" err="1"/>
            <a:t>X33</a:t>
          </a:r>
          <a:r>
            <a:rPr lang="es-PE" sz="2000" b="1" dirty="0"/>
            <a:t>=2	   C=2*400</a:t>
          </a:r>
          <a:endParaRPr lang="es-PE" sz="2000" dirty="0"/>
        </a:p>
      </dgm:t>
    </dgm:pt>
    <dgm:pt modelId="{0C052283-03AE-4DAE-BA7E-0C0601153AA8}" type="parTrans" cxnId="{80B97585-5903-47B4-8DA8-9C640329D36D}">
      <dgm:prSet/>
      <dgm:spPr/>
      <dgm:t>
        <a:bodyPr/>
        <a:lstStyle/>
        <a:p>
          <a:endParaRPr lang="es-PE" sz="2000"/>
        </a:p>
      </dgm:t>
    </dgm:pt>
    <dgm:pt modelId="{09F3FC4F-B744-4E7A-87B4-2FDE2EB1D4AD}" type="sibTrans" cxnId="{80B97585-5903-47B4-8DA8-9C640329D36D}">
      <dgm:prSet/>
      <dgm:spPr/>
      <dgm:t>
        <a:bodyPr/>
        <a:lstStyle/>
        <a:p>
          <a:endParaRPr lang="es-PE" sz="2000"/>
        </a:p>
      </dgm:t>
    </dgm:pt>
    <dgm:pt modelId="{DED88460-FD1A-4CCC-A9AB-D26938EE689B}" type="pres">
      <dgm:prSet presAssocID="{F79A921B-C112-4E5F-95EE-D693064B9D54}" presName="linear" presStyleCnt="0">
        <dgm:presLayoutVars>
          <dgm:animLvl val="lvl"/>
          <dgm:resizeHandles val="exact"/>
        </dgm:presLayoutVars>
      </dgm:prSet>
      <dgm:spPr/>
    </dgm:pt>
    <dgm:pt modelId="{9F035B5A-C64A-45A1-86A7-3D822B58A3D8}" type="pres">
      <dgm:prSet presAssocID="{09E17CDE-A668-4FCC-A54A-7DA8971CAA65}" presName="parentText" presStyleLbl="node1" presStyleIdx="0" presStyleCnt="2">
        <dgm:presLayoutVars>
          <dgm:chMax val="0"/>
          <dgm:bulletEnabled val="1"/>
        </dgm:presLayoutVars>
      </dgm:prSet>
      <dgm:spPr/>
    </dgm:pt>
    <dgm:pt modelId="{C677961F-0C73-42F0-B636-8234C41DFF42}" type="pres">
      <dgm:prSet presAssocID="{FE98F9B4-DE0F-4110-AEFD-A44C93D59E24}" presName="spacer" presStyleCnt="0"/>
      <dgm:spPr/>
    </dgm:pt>
    <dgm:pt modelId="{6D2F16E3-CCC7-4F69-98B8-610C7C7E7277}" type="pres">
      <dgm:prSet presAssocID="{FEFF5D4B-8EB3-4A93-9B07-684525138D46}" presName="parentText" presStyleLbl="node1" presStyleIdx="1" presStyleCnt="2">
        <dgm:presLayoutVars>
          <dgm:chMax val="0"/>
          <dgm:bulletEnabled val="1"/>
        </dgm:presLayoutVars>
      </dgm:prSet>
      <dgm:spPr/>
    </dgm:pt>
  </dgm:ptLst>
  <dgm:cxnLst>
    <dgm:cxn modelId="{08B41E5F-46CF-4FA1-834F-B701DC14A1EE}" type="presOf" srcId="{F79A921B-C112-4E5F-95EE-D693064B9D54}" destId="{DED88460-FD1A-4CCC-A9AB-D26938EE689B}" srcOrd="0" destOrd="0" presId="urn:microsoft.com/office/officeart/2005/8/layout/vList2"/>
    <dgm:cxn modelId="{144D5C46-6304-44E9-A8C9-18CBCC970C15}" type="presOf" srcId="{FEFF5D4B-8EB3-4A93-9B07-684525138D46}" destId="{6D2F16E3-CCC7-4F69-98B8-610C7C7E7277}" srcOrd="0" destOrd="0" presId="urn:microsoft.com/office/officeart/2005/8/layout/vList2"/>
    <dgm:cxn modelId="{80B97585-5903-47B4-8DA8-9C640329D36D}" srcId="{F79A921B-C112-4E5F-95EE-D693064B9D54}" destId="{FEFF5D4B-8EB3-4A93-9B07-684525138D46}" srcOrd="1" destOrd="0" parTransId="{0C052283-03AE-4DAE-BA7E-0C0601153AA8}" sibTransId="{09F3FC4F-B744-4E7A-87B4-2FDE2EB1D4AD}"/>
    <dgm:cxn modelId="{DFA55995-E232-46E8-BE9C-FD089C3E60FC}" type="presOf" srcId="{09E17CDE-A668-4FCC-A54A-7DA8971CAA65}" destId="{9F035B5A-C64A-45A1-86A7-3D822B58A3D8}" srcOrd="0" destOrd="0" presId="urn:microsoft.com/office/officeart/2005/8/layout/vList2"/>
    <dgm:cxn modelId="{08028FDA-70C6-48DD-9123-44B9DA026C12}" srcId="{F79A921B-C112-4E5F-95EE-D693064B9D54}" destId="{09E17CDE-A668-4FCC-A54A-7DA8971CAA65}" srcOrd="0" destOrd="0" parTransId="{48652F98-B011-4D72-AB94-8D1D424BCD2A}" sibTransId="{FE98F9B4-DE0F-4110-AEFD-A44C93D59E24}"/>
    <dgm:cxn modelId="{D2EC1FCD-BDBC-474E-A096-7772C9C2AD03}" type="presParOf" srcId="{DED88460-FD1A-4CCC-A9AB-D26938EE689B}" destId="{9F035B5A-C64A-45A1-86A7-3D822B58A3D8}" srcOrd="0" destOrd="0" presId="urn:microsoft.com/office/officeart/2005/8/layout/vList2"/>
    <dgm:cxn modelId="{9C14FE63-1196-414D-B3D7-AE0002ABE8A8}" type="presParOf" srcId="{DED88460-FD1A-4CCC-A9AB-D26938EE689B}" destId="{C677961F-0C73-42F0-B636-8234C41DFF42}" srcOrd="1" destOrd="0" presId="urn:microsoft.com/office/officeart/2005/8/layout/vList2"/>
    <dgm:cxn modelId="{ECA90C36-0677-4D7E-9BD9-3C57B706B3BA}" type="presParOf" srcId="{DED88460-FD1A-4CCC-A9AB-D26938EE689B}" destId="{6D2F16E3-CCC7-4F69-98B8-610C7C7E7277}"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3369942-C148-46CA-A725-CA7BEDAD07E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37D2B76C-DECB-47DC-9C31-BB8BA10A1478}">
      <dgm:prSet custT="1"/>
      <dgm:spPr/>
      <dgm:t>
        <a:bodyPr/>
        <a:lstStyle/>
        <a:p>
          <a:pPr rtl="0"/>
          <a:r>
            <a:rPr lang="es-PE" sz="2000" b="1" dirty="0" err="1"/>
            <a:t>X44</a:t>
          </a:r>
          <a:r>
            <a:rPr lang="es-PE" sz="2000" b="1" dirty="0"/>
            <a:t>=2	  C=2*0</a:t>
          </a:r>
          <a:endParaRPr lang="es-PE" sz="2000" dirty="0"/>
        </a:p>
      </dgm:t>
    </dgm:pt>
    <dgm:pt modelId="{274B2D37-383F-493E-A410-40B8129F928D}" type="parTrans" cxnId="{F4B2268D-421B-4528-8653-1F6BFC56B74A}">
      <dgm:prSet/>
      <dgm:spPr/>
      <dgm:t>
        <a:bodyPr/>
        <a:lstStyle/>
        <a:p>
          <a:endParaRPr lang="es-PE" sz="2000"/>
        </a:p>
      </dgm:t>
    </dgm:pt>
    <dgm:pt modelId="{0A181857-8D73-4304-94D6-BF7ADBA0E7C3}" type="sibTrans" cxnId="{F4B2268D-421B-4528-8653-1F6BFC56B74A}">
      <dgm:prSet/>
      <dgm:spPr/>
      <dgm:t>
        <a:bodyPr/>
        <a:lstStyle/>
        <a:p>
          <a:endParaRPr lang="es-PE" sz="2000"/>
        </a:p>
      </dgm:t>
    </dgm:pt>
    <dgm:pt modelId="{466646E5-D4AA-4726-A3E6-276465DBC5D9}">
      <dgm:prSet custT="1"/>
      <dgm:spPr/>
      <dgm:t>
        <a:bodyPr/>
        <a:lstStyle/>
        <a:p>
          <a:pPr rtl="0"/>
          <a:r>
            <a:rPr lang="es-PE" sz="2000" b="1" dirty="0" err="1"/>
            <a:t>X33</a:t>
          </a:r>
          <a:r>
            <a:rPr lang="es-PE" sz="2000" b="1" dirty="0"/>
            <a:t>=2	   C=2*400</a:t>
          </a:r>
          <a:endParaRPr lang="es-PE" sz="2000" dirty="0"/>
        </a:p>
      </dgm:t>
    </dgm:pt>
    <dgm:pt modelId="{8F24EED8-3071-4875-B740-2B4FA3F64999}" type="parTrans" cxnId="{C2C8661E-EFB3-4F49-AE1F-4D0DED4AFEC5}">
      <dgm:prSet/>
      <dgm:spPr/>
      <dgm:t>
        <a:bodyPr/>
        <a:lstStyle/>
        <a:p>
          <a:endParaRPr lang="es-PE" sz="2000"/>
        </a:p>
      </dgm:t>
    </dgm:pt>
    <dgm:pt modelId="{201FE8ED-2BB1-486D-9C11-7FEDC37331DA}" type="sibTrans" cxnId="{C2C8661E-EFB3-4F49-AE1F-4D0DED4AFEC5}">
      <dgm:prSet/>
      <dgm:spPr/>
      <dgm:t>
        <a:bodyPr/>
        <a:lstStyle/>
        <a:p>
          <a:endParaRPr lang="es-PE" sz="2000"/>
        </a:p>
      </dgm:t>
    </dgm:pt>
    <dgm:pt modelId="{819B1D8F-72D9-47F3-95F0-9A64A7E5E28C}">
      <dgm:prSet custT="1"/>
      <dgm:spPr/>
      <dgm:t>
        <a:bodyPr/>
        <a:lstStyle/>
        <a:p>
          <a:pPr rtl="0"/>
          <a:r>
            <a:rPr lang="es-PE" sz="2000" b="1" dirty="0" err="1"/>
            <a:t>X32</a:t>
          </a:r>
          <a:r>
            <a:rPr lang="es-PE" sz="2000" b="1" dirty="0"/>
            <a:t>=1	   C=1*1000</a:t>
          </a:r>
          <a:endParaRPr lang="es-PE" sz="2000" dirty="0"/>
        </a:p>
      </dgm:t>
    </dgm:pt>
    <dgm:pt modelId="{DF77A11A-C75A-461F-92CC-5C3A58A373C1}" type="parTrans" cxnId="{FA79DD32-1D40-4FA9-A622-7920730F459D}">
      <dgm:prSet/>
      <dgm:spPr/>
      <dgm:t>
        <a:bodyPr/>
        <a:lstStyle/>
        <a:p>
          <a:endParaRPr lang="es-PE" sz="2000"/>
        </a:p>
      </dgm:t>
    </dgm:pt>
    <dgm:pt modelId="{17E0B272-1BF2-41A1-B8F6-996656518FCA}" type="sibTrans" cxnId="{FA79DD32-1D40-4FA9-A622-7920730F459D}">
      <dgm:prSet/>
      <dgm:spPr/>
      <dgm:t>
        <a:bodyPr/>
        <a:lstStyle/>
        <a:p>
          <a:endParaRPr lang="es-PE" sz="2000"/>
        </a:p>
      </dgm:t>
    </dgm:pt>
    <dgm:pt modelId="{B7B04E13-C45C-4710-B6D2-C1A016DC705B}" type="pres">
      <dgm:prSet presAssocID="{83369942-C148-46CA-A725-CA7BEDAD07E3}" presName="linear" presStyleCnt="0">
        <dgm:presLayoutVars>
          <dgm:animLvl val="lvl"/>
          <dgm:resizeHandles val="exact"/>
        </dgm:presLayoutVars>
      </dgm:prSet>
      <dgm:spPr/>
    </dgm:pt>
    <dgm:pt modelId="{EAAAC432-3C0B-42BA-8D7E-B7039D8613C2}" type="pres">
      <dgm:prSet presAssocID="{37D2B76C-DECB-47DC-9C31-BB8BA10A1478}" presName="parentText" presStyleLbl="node1" presStyleIdx="0" presStyleCnt="3" custScaleY="65631" custLinFactY="-46950" custLinFactNeighborX="573" custLinFactNeighborY="-100000">
        <dgm:presLayoutVars>
          <dgm:chMax val="0"/>
          <dgm:bulletEnabled val="1"/>
        </dgm:presLayoutVars>
      </dgm:prSet>
      <dgm:spPr/>
    </dgm:pt>
    <dgm:pt modelId="{989B4627-FCBB-4469-8011-3C8FD56A2B60}" type="pres">
      <dgm:prSet presAssocID="{0A181857-8D73-4304-94D6-BF7ADBA0E7C3}" presName="spacer" presStyleCnt="0"/>
      <dgm:spPr/>
    </dgm:pt>
    <dgm:pt modelId="{05FB5A11-69BB-4152-B76E-2DCC839A4768}" type="pres">
      <dgm:prSet presAssocID="{466646E5-D4AA-4726-A3E6-276465DBC5D9}" presName="parentText" presStyleLbl="node1" presStyleIdx="1" presStyleCnt="3" custScaleY="74786">
        <dgm:presLayoutVars>
          <dgm:chMax val="0"/>
          <dgm:bulletEnabled val="1"/>
        </dgm:presLayoutVars>
      </dgm:prSet>
      <dgm:spPr/>
    </dgm:pt>
    <dgm:pt modelId="{EAF34420-D7C7-402C-A515-3AA595976059}" type="pres">
      <dgm:prSet presAssocID="{201FE8ED-2BB1-486D-9C11-7FEDC37331DA}" presName="spacer" presStyleCnt="0"/>
      <dgm:spPr/>
    </dgm:pt>
    <dgm:pt modelId="{CA5C1159-77CC-460F-A0DB-B9BD3D0F6F20}" type="pres">
      <dgm:prSet presAssocID="{819B1D8F-72D9-47F3-95F0-9A64A7E5E28C}" presName="parentText" presStyleLbl="node1" presStyleIdx="2" presStyleCnt="3" custScaleY="63869">
        <dgm:presLayoutVars>
          <dgm:chMax val="0"/>
          <dgm:bulletEnabled val="1"/>
        </dgm:presLayoutVars>
      </dgm:prSet>
      <dgm:spPr/>
    </dgm:pt>
  </dgm:ptLst>
  <dgm:cxnLst>
    <dgm:cxn modelId="{C2C8661E-EFB3-4F49-AE1F-4D0DED4AFEC5}" srcId="{83369942-C148-46CA-A725-CA7BEDAD07E3}" destId="{466646E5-D4AA-4726-A3E6-276465DBC5D9}" srcOrd="1" destOrd="0" parTransId="{8F24EED8-3071-4875-B740-2B4FA3F64999}" sibTransId="{201FE8ED-2BB1-486D-9C11-7FEDC37331DA}"/>
    <dgm:cxn modelId="{FA79DD32-1D40-4FA9-A622-7920730F459D}" srcId="{83369942-C148-46CA-A725-CA7BEDAD07E3}" destId="{819B1D8F-72D9-47F3-95F0-9A64A7E5E28C}" srcOrd="2" destOrd="0" parTransId="{DF77A11A-C75A-461F-92CC-5C3A58A373C1}" sibTransId="{17E0B272-1BF2-41A1-B8F6-996656518FCA}"/>
    <dgm:cxn modelId="{698BB334-F0EE-43D8-A579-68D9EDB18DDE}" type="presOf" srcId="{83369942-C148-46CA-A725-CA7BEDAD07E3}" destId="{B7B04E13-C45C-4710-B6D2-C1A016DC705B}" srcOrd="0" destOrd="0" presId="urn:microsoft.com/office/officeart/2005/8/layout/vList2"/>
    <dgm:cxn modelId="{F4B2268D-421B-4528-8653-1F6BFC56B74A}" srcId="{83369942-C148-46CA-A725-CA7BEDAD07E3}" destId="{37D2B76C-DECB-47DC-9C31-BB8BA10A1478}" srcOrd="0" destOrd="0" parTransId="{274B2D37-383F-493E-A410-40B8129F928D}" sibTransId="{0A181857-8D73-4304-94D6-BF7ADBA0E7C3}"/>
    <dgm:cxn modelId="{8F9050A5-9683-4EFB-ADA1-D509D8BF1B87}" type="presOf" srcId="{466646E5-D4AA-4726-A3E6-276465DBC5D9}" destId="{05FB5A11-69BB-4152-B76E-2DCC839A4768}" srcOrd="0" destOrd="0" presId="urn:microsoft.com/office/officeart/2005/8/layout/vList2"/>
    <dgm:cxn modelId="{1EBB86E9-97F2-4938-B93A-4D06B01020E4}" type="presOf" srcId="{819B1D8F-72D9-47F3-95F0-9A64A7E5E28C}" destId="{CA5C1159-77CC-460F-A0DB-B9BD3D0F6F20}" srcOrd="0" destOrd="0" presId="urn:microsoft.com/office/officeart/2005/8/layout/vList2"/>
    <dgm:cxn modelId="{BB5971F2-5F4F-43F6-9F76-B619FB36C7D0}" type="presOf" srcId="{37D2B76C-DECB-47DC-9C31-BB8BA10A1478}" destId="{EAAAC432-3C0B-42BA-8D7E-B7039D8613C2}" srcOrd="0" destOrd="0" presId="urn:microsoft.com/office/officeart/2005/8/layout/vList2"/>
    <dgm:cxn modelId="{D9F83F57-16F4-4803-BB3F-47958BD4ECAD}" type="presParOf" srcId="{B7B04E13-C45C-4710-B6D2-C1A016DC705B}" destId="{EAAAC432-3C0B-42BA-8D7E-B7039D8613C2}" srcOrd="0" destOrd="0" presId="urn:microsoft.com/office/officeart/2005/8/layout/vList2"/>
    <dgm:cxn modelId="{FC46E4A8-CA8C-4106-AE43-B86261C09A85}" type="presParOf" srcId="{B7B04E13-C45C-4710-B6D2-C1A016DC705B}" destId="{989B4627-FCBB-4469-8011-3C8FD56A2B60}" srcOrd="1" destOrd="0" presId="urn:microsoft.com/office/officeart/2005/8/layout/vList2"/>
    <dgm:cxn modelId="{95035360-2DD8-48F3-97AB-219E8E706F58}" type="presParOf" srcId="{B7B04E13-C45C-4710-B6D2-C1A016DC705B}" destId="{05FB5A11-69BB-4152-B76E-2DCC839A4768}" srcOrd="2" destOrd="0" presId="urn:microsoft.com/office/officeart/2005/8/layout/vList2"/>
    <dgm:cxn modelId="{ED4DCCC0-88FB-4680-9724-EC505E8E23E6}" type="presParOf" srcId="{B7B04E13-C45C-4710-B6D2-C1A016DC705B}" destId="{EAF34420-D7C7-402C-A515-3AA595976059}" srcOrd="3" destOrd="0" presId="urn:microsoft.com/office/officeart/2005/8/layout/vList2"/>
    <dgm:cxn modelId="{88BA5EA8-62D5-48A6-B0B9-54304F0AA5DC}" type="presParOf" srcId="{B7B04E13-C45C-4710-B6D2-C1A016DC705B}" destId="{CA5C1159-77CC-460F-A0DB-B9BD3D0F6F20}"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1A403E07-0E02-4C8F-A40E-B54AD790EB2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14154294-0AB8-48C4-9A0A-C64FD2BE92B3}">
      <dgm:prSet custT="1"/>
      <dgm:spPr/>
      <dgm:t>
        <a:bodyPr/>
        <a:lstStyle/>
        <a:p>
          <a:pPr rtl="0"/>
          <a:r>
            <a:rPr lang="es-PE" sz="2000" b="1"/>
            <a:t>X44=2	  C=2*0</a:t>
          </a:r>
          <a:endParaRPr lang="es-PE" sz="2000"/>
        </a:p>
      </dgm:t>
    </dgm:pt>
    <dgm:pt modelId="{D0EDBE55-871C-4581-80CE-2D187E6946B6}" type="parTrans" cxnId="{2B797204-C50F-4A19-8F5D-521890954420}">
      <dgm:prSet/>
      <dgm:spPr/>
      <dgm:t>
        <a:bodyPr/>
        <a:lstStyle/>
        <a:p>
          <a:endParaRPr lang="es-PE" sz="2000"/>
        </a:p>
      </dgm:t>
    </dgm:pt>
    <dgm:pt modelId="{1A8D8ACC-0AA2-4170-9FF5-403BDAA2064D}" type="sibTrans" cxnId="{2B797204-C50F-4A19-8F5D-521890954420}">
      <dgm:prSet/>
      <dgm:spPr/>
      <dgm:t>
        <a:bodyPr/>
        <a:lstStyle/>
        <a:p>
          <a:endParaRPr lang="es-PE" sz="2000"/>
        </a:p>
      </dgm:t>
    </dgm:pt>
    <dgm:pt modelId="{FD12DE27-E5A7-4BC7-8CC2-378E01F82225}">
      <dgm:prSet custT="1"/>
      <dgm:spPr/>
      <dgm:t>
        <a:bodyPr/>
        <a:lstStyle/>
        <a:p>
          <a:pPr rtl="0"/>
          <a:r>
            <a:rPr lang="es-PE" sz="2000" b="1"/>
            <a:t>X33=2	   C=2*400</a:t>
          </a:r>
          <a:endParaRPr lang="es-PE" sz="2000"/>
        </a:p>
      </dgm:t>
    </dgm:pt>
    <dgm:pt modelId="{2BA1CE60-1EC3-4CAF-9CBD-3C80BC33BD42}" type="parTrans" cxnId="{9A6C7064-8FEA-4067-A574-29E91BBFD2EA}">
      <dgm:prSet/>
      <dgm:spPr/>
      <dgm:t>
        <a:bodyPr/>
        <a:lstStyle/>
        <a:p>
          <a:endParaRPr lang="es-PE" sz="2000"/>
        </a:p>
      </dgm:t>
    </dgm:pt>
    <dgm:pt modelId="{02996EF2-A2CC-4D28-B702-845D67035241}" type="sibTrans" cxnId="{9A6C7064-8FEA-4067-A574-29E91BBFD2EA}">
      <dgm:prSet/>
      <dgm:spPr/>
      <dgm:t>
        <a:bodyPr/>
        <a:lstStyle/>
        <a:p>
          <a:endParaRPr lang="es-PE" sz="2000"/>
        </a:p>
      </dgm:t>
    </dgm:pt>
    <dgm:pt modelId="{7E4582CF-A6BC-4643-B799-E59D0405A6C3}">
      <dgm:prSet custT="1"/>
      <dgm:spPr/>
      <dgm:t>
        <a:bodyPr/>
        <a:lstStyle/>
        <a:p>
          <a:pPr rtl="0"/>
          <a:r>
            <a:rPr lang="es-PE" sz="2000" b="1"/>
            <a:t>X32=1	   C=1*1000</a:t>
          </a:r>
          <a:endParaRPr lang="es-PE" sz="2000"/>
        </a:p>
      </dgm:t>
    </dgm:pt>
    <dgm:pt modelId="{370F8A23-52FA-441B-A5A9-14DDF02B54DE}" type="parTrans" cxnId="{7C5204FA-B571-4E79-A7FB-01A5A76C47EA}">
      <dgm:prSet/>
      <dgm:spPr/>
      <dgm:t>
        <a:bodyPr/>
        <a:lstStyle/>
        <a:p>
          <a:endParaRPr lang="es-PE" sz="2000"/>
        </a:p>
      </dgm:t>
    </dgm:pt>
    <dgm:pt modelId="{7813960D-96B2-4913-9E91-9ABBC0AA644F}" type="sibTrans" cxnId="{7C5204FA-B571-4E79-A7FB-01A5A76C47EA}">
      <dgm:prSet/>
      <dgm:spPr/>
      <dgm:t>
        <a:bodyPr/>
        <a:lstStyle/>
        <a:p>
          <a:endParaRPr lang="es-PE" sz="2000"/>
        </a:p>
      </dgm:t>
    </dgm:pt>
    <dgm:pt modelId="{301DED02-68B1-43D9-BF3B-F53A048AB7D1}">
      <dgm:prSet custT="1"/>
      <dgm:spPr/>
      <dgm:t>
        <a:bodyPr/>
        <a:lstStyle/>
        <a:p>
          <a:pPr rtl="0"/>
          <a:r>
            <a:rPr lang="es-PE" sz="2000" b="1" dirty="0" err="1"/>
            <a:t>X22</a:t>
          </a:r>
          <a:r>
            <a:rPr lang="es-PE" sz="2000" b="1" dirty="0"/>
            <a:t>=1	   C=1*1000	</a:t>
          </a:r>
          <a:endParaRPr lang="es-PE" sz="2000" dirty="0"/>
        </a:p>
      </dgm:t>
    </dgm:pt>
    <dgm:pt modelId="{FC014515-9B07-49BD-B0C1-044F9DECCC96}" type="parTrans" cxnId="{C1406D83-04CF-4370-A9B2-A84E22278743}">
      <dgm:prSet/>
      <dgm:spPr/>
      <dgm:t>
        <a:bodyPr/>
        <a:lstStyle/>
        <a:p>
          <a:endParaRPr lang="es-PE" sz="2000"/>
        </a:p>
      </dgm:t>
    </dgm:pt>
    <dgm:pt modelId="{0F23464C-F778-4879-886E-62002FB6C23E}" type="sibTrans" cxnId="{C1406D83-04CF-4370-A9B2-A84E22278743}">
      <dgm:prSet/>
      <dgm:spPr/>
      <dgm:t>
        <a:bodyPr/>
        <a:lstStyle/>
        <a:p>
          <a:endParaRPr lang="es-PE" sz="2000"/>
        </a:p>
      </dgm:t>
    </dgm:pt>
    <dgm:pt modelId="{559E09F4-2A10-4C8B-BBD0-C18D541E2160}" type="pres">
      <dgm:prSet presAssocID="{1A403E07-0E02-4C8F-A40E-B54AD790EB26}" presName="linear" presStyleCnt="0">
        <dgm:presLayoutVars>
          <dgm:animLvl val="lvl"/>
          <dgm:resizeHandles val="exact"/>
        </dgm:presLayoutVars>
      </dgm:prSet>
      <dgm:spPr/>
    </dgm:pt>
    <dgm:pt modelId="{AD431D5A-79DC-4ED7-AA38-6F5003A44139}" type="pres">
      <dgm:prSet presAssocID="{14154294-0AB8-48C4-9A0A-C64FD2BE92B3}" presName="parentText" presStyleLbl="node1" presStyleIdx="0" presStyleCnt="4">
        <dgm:presLayoutVars>
          <dgm:chMax val="0"/>
          <dgm:bulletEnabled val="1"/>
        </dgm:presLayoutVars>
      </dgm:prSet>
      <dgm:spPr/>
    </dgm:pt>
    <dgm:pt modelId="{D71C4862-FFEA-48BF-A142-7778160E3997}" type="pres">
      <dgm:prSet presAssocID="{1A8D8ACC-0AA2-4170-9FF5-403BDAA2064D}" presName="spacer" presStyleCnt="0"/>
      <dgm:spPr/>
    </dgm:pt>
    <dgm:pt modelId="{C1464AE5-DBBC-43DB-AEE1-C4A93B53A093}" type="pres">
      <dgm:prSet presAssocID="{FD12DE27-E5A7-4BC7-8CC2-378E01F82225}" presName="parentText" presStyleLbl="node1" presStyleIdx="1" presStyleCnt="4">
        <dgm:presLayoutVars>
          <dgm:chMax val="0"/>
          <dgm:bulletEnabled val="1"/>
        </dgm:presLayoutVars>
      </dgm:prSet>
      <dgm:spPr/>
    </dgm:pt>
    <dgm:pt modelId="{E77ACED7-3D52-491F-9CF1-449EAC3BF3B4}" type="pres">
      <dgm:prSet presAssocID="{02996EF2-A2CC-4D28-B702-845D67035241}" presName="spacer" presStyleCnt="0"/>
      <dgm:spPr/>
    </dgm:pt>
    <dgm:pt modelId="{6A82E5A7-A309-414F-A4AA-E49E287E881D}" type="pres">
      <dgm:prSet presAssocID="{7E4582CF-A6BC-4643-B799-E59D0405A6C3}" presName="parentText" presStyleLbl="node1" presStyleIdx="2" presStyleCnt="4">
        <dgm:presLayoutVars>
          <dgm:chMax val="0"/>
          <dgm:bulletEnabled val="1"/>
        </dgm:presLayoutVars>
      </dgm:prSet>
      <dgm:spPr/>
    </dgm:pt>
    <dgm:pt modelId="{7141D8CD-A4EC-45B3-B60B-7ED961D9D13E}" type="pres">
      <dgm:prSet presAssocID="{7813960D-96B2-4913-9E91-9ABBC0AA644F}" presName="spacer" presStyleCnt="0"/>
      <dgm:spPr/>
    </dgm:pt>
    <dgm:pt modelId="{65E708A9-420A-4DA1-987C-AF01A6433678}" type="pres">
      <dgm:prSet presAssocID="{301DED02-68B1-43D9-BF3B-F53A048AB7D1}" presName="parentText" presStyleLbl="node1" presStyleIdx="3" presStyleCnt="4">
        <dgm:presLayoutVars>
          <dgm:chMax val="0"/>
          <dgm:bulletEnabled val="1"/>
        </dgm:presLayoutVars>
      </dgm:prSet>
      <dgm:spPr/>
    </dgm:pt>
  </dgm:ptLst>
  <dgm:cxnLst>
    <dgm:cxn modelId="{2B797204-C50F-4A19-8F5D-521890954420}" srcId="{1A403E07-0E02-4C8F-A40E-B54AD790EB26}" destId="{14154294-0AB8-48C4-9A0A-C64FD2BE92B3}" srcOrd="0" destOrd="0" parTransId="{D0EDBE55-871C-4581-80CE-2D187E6946B6}" sibTransId="{1A8D8ACC-0AA2-4170-9FF5-403BDAA2064D}"/>
    <dgm:cxn modelId="{7AB04934-0628-4E6A-A090-6FC0429FFEE7}" type="presOf" srcId="{14154294-0AB8-48C4-9A0A-C64FD2BE92B3}" destId="{AD431D5A-79DC-4ED7-AA38-6F5003A44139}" srcOrd="0" destOrd="0" presId="urn:microsoft.com/office/officeart/2005/8/layout/vList2"/>
    <dgm:cxn modelId="{A5122A61-BD61-41C5-A01D-DA6C7CDEBEC3}" type="presOf" srcId="{1A403E07-0E02-4C8F-A40E-B54AD790EB26}" destId="{559E09F4-2A10-4C8B-BBD0-C18D541E2160}" srcOrd="0" destOrd="0" presId="urn:microsoft.com/office/officeart/2005/8/layout/vList2"/>
    <dgm:cxn modelId="{9A6C7064-8FEA-4067-A574-29E91BBFD2EA}" srcId="{1A403E07-0E02-4C8F-A40E-B54AD790EB26}" destId="{FD12DE27-E5A7-4BC7-8CC2-378E01F82225}" srcOrd="1" destOrd="0" parTransId="{2BA1CE60-1EC3-4CAF-9CBD-3C80BC33BD42}" sibTransId="{02996EF2-A2CC-4D28-B702-845D67035241}"/>
    <dgm:cxn modelId="{4031DD6F-2096-476E-BFFF-E6E686532DBD}" type="presOf" srcId="{FD12DE27-E5A7-4BC7-8CC2-378E01F82225}" destId="{C1464AE5-DBBC-43DB-AEE1-C4A93B53A093}" srcOrd="0" destOrd="0" presId="urn:microsoft.com/office/officeart/2005/8/layout/vList2"/>
    <dgm:cxn modelId="{C1406D83-04CF-4370-A9B2-A84E22278743}" srcId="{1A403E07-0E02-4C8F-A40E-B54AD790EB26}" destId="{301DED02-68B1-43D9-BF3B-F53A048AB7D1}" srcOrd="3" destOrd="0" parTransId="{FC014515-9B07-49BD-B0C1-044F9DECCC96}" sibTransId="{0F23464C-F778-4879-886E-62002FB6C23E}"/>
    <dgm:cxn modelId="{603202D5-00AE-48AA-AF99-4F5E8B131992}" type="presOf" srcId="{301DED02-68B1-43D9-BF3B-F53A048AB7D1}" destId="{65E708A9-420A-4DA1-987C-AF01A6433678}" srcOrd="0" destOrd="0" presId="urn:microsoft.com/office/officeart/2005/8/layout/vList2"/>
    <dgm:cxn modelId="{C38EF8D9-B52B-4700-ABFF-3187913015BE}" type="presOf" srcId="{7E4582CF-A6BC-4643-B799-E59D0405A6C3}" destId="{6A82E5A7-A309-414F-A4AA-E49E287E881D}" srcOrd="0" destOrd="0" presId="urn:microsoft.com/office/officeart/2005/8/layout/vList2"/>
    <dgm:cxn modelId="{7C5204FA-B571-4E79-A7FB-01A5A76C47EA}" srcId="{1A403E07-0E02-4C8F-A40E-B54AD790EB26}" destId="{7E4582CF-A6BC-4643-B799-E59D0405A6C3}" srcOrd="2" destOrd="0" parTransId="{370F8A23-52FA-441B-A5A9-14DDF02B54DE}" sibTransId="{7813960D-96B2-4913-9E91-9ABBC0AA644F}"/>
    <dgm:cxn modelId="{D1734B33-29D9-486E-A485-0CF67977E3C6}" type="presParOf" srcId="{559E09F4-2A10-4C8B-BBD0-C18D541E2160}" destId="{AD431D5A-79DC-4ED7-AA38-6F5003A44139}" srcOrd="0" destOrd="0" presId="urn:microsoft.com/office/officeart/2005/8/layout/vList2"/>
    <dgm:cxn modelId="{6200CD94-FD24-4400-9549-0E232FB60454}" type="presParOf" srcId="{559E09F4-2A10-4C8B-BBD0-C18D541E2160}" destId="{D71C4862-FFEA-48BF-A142-7778160E3997}" srcOrd="1" destOrd="0" presId="urn:microsoft.com/office/officeart/2005/8/layout/vList2"/>
    <dgm:cxn modelId="{A07B4C15-4B72-4F90-A3D6-ABD2AC767CDB}" type="presParOf" srcId="{559E09F4-2A10-4C8B-BBD0-C18D541E2160}" destId="{C1464AE5-DBBC-43DB-AEE1-C4A93B53A093}" srcOrd="2" destOrd="0" presId="urn:microsoft.com/office/officeart/2005/8/layout/vList2"/>
    <dgm:cxn modelId="{9061D263-3E37-4C91-8CC4-BFBE29CCE90A}" type="presParOf" srcId="{559E09F4-2A10-4C8B-BBD0-C18D541E2160}" destId="{E77ACED7-3D52-491F-9CF1-449EAC3BF3B4}" srcOrd="3" destOrd="0" presId="urn:microsoft.com/office/officeart/2005/8/layout/vList2"/>
    <dgm:cxn modelId="{0C0173B6-6964-45C8-98AC-927A808F0D9A}" type="presParOf" srcId="{559E09F4-2A10-4C8B-BBD0-C18D541E2160}" destId="{6A82E5A7-A309-414F-A4AA-E49E287E881D}" srcOrd="4" destOrd="0" presId="urn:microsoft.com/office/officeart/2005/8/layout/vList2"/>
    <dgm:cxn modelId="{38E2D7F5-4788-4338-B2EA-4836868DFB31}" type="presParOf" srcId="{559E09F4-2A10-4C8B-BBD0-C18D541E2160}" destId="{7141D8CD-A4EC-45B3-B60B-7ED961D9D13E}" srcOrd="5" destOrd="0" presId="urn:microsoft.com/office/officeart/2005/8/layout/vList2"/>
    <dgm:cxn modelId="{DC182022-3238-4DE8-AB49-93B2F39DB33B}" type="presParOf" srcId="{559E09F4-2A10-4C8B-BBD0-C18D541E2160}" destId="{65E708A9-420A-4DA1-987C-AF01A643367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BB855BEC-4BDE-4663-A71C-0AABE347B93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s-PE"/>
        </a:p>
      </dgm:t>
    </dgm:pt>
    <dgm:pt modelId="{FEB9AAC5-7ABD-47D4-A433-F5F7E60A8891}">
      <dgm:prSet custT="1"/>
      <dgm:spPr/>
      <dgm:t>
        <a:bodyPr/>
        <a:lstStyle/>
        <a:p>
          <a:pPr rtl="0"/>
          <a:r>
            <a:rPr lang="es-PE" sz="1600" b="1"/>
            <a:t>X44=2	  C=2*0</a:t>
          </a:r>
          <a:endParaRPr lang="es-PE" sz="1600"/>
        </a:p>
      </dgm:t>
    </dgm:pt>
    <dgm:pt modelId="{F376F278-EA2B-4EA1-B84D-C5A8AABB67BC}" type="parTrans" cxnId="{65AC0931-2DEC-429C-86DD-11F973047915}">
      <dgm:prSet/>
      <dgm:spPr/>
      <dgm:t>
        <a:bodyPr/>
        <a:lstStyle/>
        <a:p>
          <a:endParaRPr lang="es-PE" sz="1600"/>
        </a:p>
      </dgm:t>
    </dgm:pt>
    <dgm:pt modelId="{F85A55DD-05AE-4E7E-B305-3F9F1C602A53}" type="sibTrans" cxnId="{65AC0931-2DEC-429C-86DD-11F973047915}">
      <dgm:prSet/>
      <dgm:spPr/>
      <dgm:t>
        <a:bodyPr/>
        <a:lstStyle/>
        <a:p>
          <a:endParaRPr lang="es-PE" sz="1600"/>
        </a:p>
      </dgm:t>
    </dgm:pt>
    <dgm:pt modelId="{AA6F62DA-9BF9-4CB9-A564-A744A12D8A31}">
      <dgm:prSet custT="1"/>
      <dgm:spPr/>
      <dgm:t>
        <a:bodyPr/>
        <a:lstStyle/>
        <a:p>
          <a:pPr rtl="0"/>
          <a:r>
            <a:rPr lang="es-PE" sz="1600" b="1"/>
            <a:t>X33=2	   C=2*400</a:t>
          </a:r>
          <a:endParaRPr lang="es-PE" sz="1600"/>
        </a:p>
      </dgm:t>
    </dgm:pt>
    <dgm:pt modelId="{48D91978-E003-461B-A674-F26F787F0E3C}" type="parTrans" cxnId="{F2AEC2CA-862A-404A-AD60-C8C7ABED9AE2}">
      <dgm:prSet/>
      <dgm:spPr/>
      <dgm:t>
        <a:bodyPr/>
        <a:lstStyle/>
        <a:p>
          <a:endParaRPr lang="es-PE" sz="1600"/>
        </a:p>
      </dgm:t>
    </dgm:pt>
    <dgm:pt modelId="{0E66926A-D8BF-4CD8-93EB-7367B94E0E15}" type="sibTrans" cxnId="{F2AEC2CA-862A-404A-AD60-C8C7ABED9AE2}">
      <dgm:prSet/>
      <dgm:spPr/>
      <dgm:t>
        <a:bodyPr/>
        <a:lstStyle/>
        <a:p>
          <a:endParaRPr lang="es-PE" sz="1600"/>
        </a:p>
      </dgm:t>
    </dgm:pt>
    <dgm:pt modelId="{29E5C60E-3856-4379-A008-7A2436C0A034}">
      <dgm:prSet custT="1"/>
      <dgm:spPr/>
      <dgm:t>
        <a:bodyPr/>
        <a:lstStyle/>
        <a:p>
          <a:pPr rtl="0"/>
          <a:r>
            <a:rPr lang="es-PE" sz="1600" b="1"/>
            <a:t>X32=1	   C=1*1000</a:t>
          </a:r>
          <a:endParaRPr lang="es-PE" sz="1600"/>
        </a:p>
      </dgm:t>
    </dgm:pt>
    <dgm:pt modelId="{7E79BE0F-1315-4CA6-8384-4372CF34D395}" type="parTrans" cxnId="{74362C77-54CC-4820-81DE-176289FE15B7}">
      <dgm:prSet/>
      <dgm:spPr/>
      <dgm:t>
        <a:bodyPr/>
        <a:lstStyle/>
        <a:p>
          <a:endParaRPr lang="es-PE" sz="1600"/>
        </a:p>
      </dgm:t>
    </dgm:pt>
    <dgm:pt modelId="{C2E41A89-9E1D-4C6A-B8F7-E26236746BD8}" type="sibTrans" cxnId="{74362C77-54CC-4820-81DE-176289FE15B7}">
      <dgm:prSet/>
      <dgm:spPr/>
      <dgm:t>
        <a:bodyPr/>
        <a:lstStyle/>
        <a:p>
          <a:endParaRPr lang="es-PE" sz="1600"/>
        </a:p>
      </dgm:t>
    </dgm:pt>
    <dgm:pt modelId="{291932F7-8534-47F4-A07C-50D5B5D3FF88}">
      <dgm:prSet custT="1"/>
      <dgm:spPr/>
      <dgm:t>
        <a:bodyPr/>
        <a:lstStyle/>
        <a:p>
          <a:pPr rtl="0"/>
          <a:r>
            <a:rPr lang="es-PE" sz="1600" b="1"/>
            <a:t>X22=1	   C=1*1000</a:t>
          </a:r>
          <a:endParaRPr lang="es-PE" sz="1600"/>
        </a:p>
      </dgm:t>
    </dgm:pt>
    <dgm:pt modelId="{301128C7-600B-4B53-B01F-BC8E6C146862}" type="parTrans" cxnId="{E32928B8-1891-4907-AC8E-EB3348C72B1A}">
      <dgm:prSet/>
      <dgm:spPr/>
      <dgm:t>
        <a:bodyPr/>
        <a:lstStyle/>
        <a:p>
          <a:endParaRPr lang="es-PE" sz="1600"/>
        </a:p>
      </dgm:t>
    </dgm:pt>
    <dgm:pt modelId="{19B27CE1-05A0-4388-9A94-F51ABF5E537E}" type="sibTrans" cxnId="{E32928B8-1891-4907-AC8E-EB3348C72B1A}">
      <dgm:prSet/>
      <dgm:spPr/>
      <dgm:t>
        <a:bodyPr/>
        <a:lstStyle/>
        <a:p>
          <a:endParaRPr lang="es-PE" sz="1600"/>
        </a:p>
      </dgm:t>
    </dgm:pt>
    <dgm:pt modelId="{32EB8BCA-6307-44AE-B486-88C58CF860DF}">
      <dgm:prSet custT="1"/>
      <dgm:spPr/>
      <dgm:t>
        <a:bodyPr/>
        <a:lstStyle/>
        <a:p>
          <a:pPr rtl="0"/>
          <a:r>
            <a:rPr lang="es-PE" sz="1600" b="1"/>
            <a:t>X11=3	   C=3*1600</a:t>
          </a:r>
          <a:endParaRPr lang="es-PE" sz="1600"/>
        </a:p>
      </dgm:t>
    </dgm:pt>
    <dgm:pt modelId="{175CFDDB-8C4B-4D72-BF86-D6247E4E4178}" type="parTrans" cxnId="{B2FAEEEC-3673-44B3-8C9D-662434228782}">
      <dgm:prSet/>
      <dgm:spPr/>
      <dgm:t>
        <a:bodyPr/>
        <a:lstStyle/>
        <a:p>
          <a:endParaRPr lang="es-PE" sz="1600"/>
        </a:p>
      </dgm:t>
    </dgm:pt>
    <dgm:pt modelId="{0BF2549A-A104-48D8-98A6-B2044B0BB032}" type="sibTrans" cxnId="{B2FAEEEC-3673-44B3-8C9D-662434228782}">
      <dgm:prSet/>
      <dgm:spPr/>
      <dgm:t>
        <a:bodyPr/>
        <a:lstStyle/>
        <a:p>
          <a:endParaRPr lang="es-PE" sz="1600"/>
        </a:p>
      </dgm:t>
    </dgm:pt>
    <dgm:pt modelId="{FFC3688E-9348-4410-B27C-CB34FDFE3472}">
      <dgm:prSet custT="1"/>
      <dgm:spPr/>
      <dgm:t>
        <a:bodyPr/>
        <a:lstStyle/>
        <a:p>
          <a:pPr rtl="0"/>
          <a:r>
            <a:rPr lang="es-PE" sz="1600" b="1"/>
            <a:t>X21=1	   C=1*900</a:t>
          </a:r>
          <a:endParaRPr lang="es-PE" sz="1600"/>
        </a:p>
      </dgm:t>
    </dgm:pt>
    <dgm:pt modelId="{7177CD9D-4FE6-4FBB-B1A1-DBE14E4F52F3}" type="parTrans" cxnId="{C0426427-DB36-4FBC-ADF6-EFC95A9A61ED}">
      <dgm:prSet/>
      <dgm:spPr/>
      <dgm:t>
        <a:bodyPr/>
        <a:lstStyle/>
        <a:p>
          <a:endParaRPr lang="es-PE" sz="1600"/>
        </a:p>
      </dgm:t>
    </dgm:pt>
    <dgm:pt modelId="{BBF5D7F2-BF0C-4656-B14F-1DDE598A7C0D}" type="sibTrans" cxnId="{C0426427-DB36-4FBC-ADF6-EFC95A9A61ED}">
      <dgm:prSet/>
      <dgm:spPr/>
      <dgm:t>
        <a:bodyPr/>
        <a:lstStyle/>
        <a:p>
          <a:endParaRPr lang="es-PE" sz="1600"/>
        </a:p>
      </dgm:t>
    </dgm:pt>
    <dgm:pt modelId="{D9AE9F09-F7D2-4BDB-9129-1333FFCD69A7}">
      <dgm:prSet custT="1"/>
      <dgm:spPr/>
      <dgm:t>
        <a:bodyPr/>
        <a:lstStyle/>
        <a:p>
          <a:pPr rtl="0"/>
          <a:endParaRPr lang="es-PE" sz="1600"/>
        </a:p>
      </dgm:t>
    </dgm:pt>
    <dgm:pt modelId="{62F705CC-063B-4CD4-AB55-0775816CD779}" type="parTrans" cxnId="{45B765F2-1750-4256-96D7-F963540C4F45}">
      <dgm:prSet/>
      <dgm:spPr/>
      <dgm:t>
        <a:bodyPr/>
        <a:lstStyle/>
        <a:p>
          <a:endParaRPr lang="es-PE" sz="1600"/>
        </a:p>
      </dgm:t>
    </dgm:pt>
    <dgm:pt modelId="{A5896F53-038E-416E-B273-571974DFF6C6}" type="sibTrans" cxnId="{45B765F2-1750-4256-96D7-F963540C4F45}">
      <dgm:prSet/>
      <dgm:spPr/>
      <dgm:t>
        <a:bodyPr/>
        <a:lstStyle/>
        <a:p>
          <a:endParaRPr lang="es-PE" sz="1600"/>
        </a:p>
      </dgm:t>
    </dgm:pt>
    <dgm:pt modelId="{CC133427-3E12-4835-95CC-F7D9465BF442}" type="pres">
      <dgm:prSet presAssocID="{BB855BEC-4BDE-4663-A71C-0AABE347B93E}" presName="linear" presStyleCnt="0">
        <dgm:presLayoutVars>
          <dgm:animLvl val="lvl"/>
          <dgm:resizeHandles val="exact"/>
        </dgm:presLayoutVars>
      </dgm:prSet>
      <dgm:spPr/>
    </dgm:pt>
    <dgm:pt modelId="{340D7DB1-9C1B-442B-8BCC-CA6F11ED4FBC}" type="pres">
      <dgm:prSet presAssocID="{FEB9AAC5-7ABD-47D4-A433-F5F7E60A8891}" presName="parentText" presStyleLbl="node1" presStyleIdx="0" presStyleCnt="6">
        <dgm:presLayoutVars>
          <dgm:chMax val="0"/>
          <dgm:bulletEnabled val="1"/>
        </dgm:presLayoutVars>
      </dgm:prSet>
      <dgm:spPr/>
    </dgm:pt>
    <dgm:pt modelId="{D05770C1-BC68-49F9-9785-997B65B4B876}" type="pres">
      <dgm:prSet presAssocID="{F85A55DD-05AE-4E7E-B305-3F9F1C602A53}" presName="spacer" presStyleCnt="0"/>
      <dgm:spPr/>
    </dgm:pt>
    <dgm:pt modelId="{72CF2FFB-C98C-440C-B865-79352155AEB5}" type="pres">
      <dgm:prSet presAssocID="{AA6F62DA-9BF9-4CB9-A564-A744A12D8A31}" presName="parentText" presStyleLbl="node1" presStyleIdx="1" presStyleCnt="6">
        <dgm:presLayoutVars>
          <dgm:chMax val="0"/>
          <dgm:bulletEnabled val="1"/>
        </dgm:presLayoutVars>
      </dgm:prSet>
      <dgm:spPr/>
    </dgm:pt>
    <dgm:pt modelId="{EE66B651-554D-4583-A7E6-9B16FC8B5D2C}" type="pres">
      <dgm:prSet presAssocID="{0E66926A-D8BF-4CD8-93EB-7367B94E0E15}" presName="spacer" presStyleCnt="0"/>
      <dgm:spPr/>
    </dgm:pt>
    <dgm:pt modelId="{8B0D38AE-3CB4-4482-B9E0-8522795AAC51}" type="pres">
      <dgm:prSet presAssocID="{29E5C60E-3856-4379-A008-7A2436C0A034}" presName="parentText" presStyleLbl="node1" presStyleIdx="2" presStyleCnt="6">
        <dgm:presLayoutVars>
          <dgm:chMax val="0"/>
          <dgm:bulletEnabled val="1"/>
        </dgm:presLayoutVars>
      </dgm:prSet>
      <dgm:spPr/>
    </dgm:pt>
    <dgm:pt modelId="{C7361EE2-DC42-4429-A3CB-D80DB40CE053}" type="pres">
      <dgm:prSet presAssocID="{C2E41A89-9E1D-4C6A-B8F7-E26236746BD8}" presName="spacer" presStyleCnt="0"/>
      <dgm:spPr/>
    </dgm:pt>
    <dgm:pt modelId="{C6FB2F74-A746-4C4D-890D-CEA9F831DFD7}" type="pres">
      <dgm:prSet presAssocID="{291932F7-8534-47F4-A07C-50D5B5D3FF88}" presName="parentText" presStyleLbl="node1" presStyleIdx="3" presStyleCnt="6">
        <dgm:presLayoutVars>
          <dgm:chMax val="0"/>
          <dgm:bulletEnabled val="1"/>
        </dgm:presLayoutVars>
      </dgm:prSet>
      <dgm:spPr/>
    </dgm:pt>
    <dgm:pt modelId="{518097C1-7F8A-479B-A404-73CBF6EAD114}" type="pres">
      <dgm:prSet presAssocID="{19B27CE1-05A0-4388-9A94-F51ABF5E537E}" presName="spacer" presStyleCnt="0"/>
      <dgm:spPr/>
    </dgm:pt>
    <dgm:pt modelId="{91B69223-2677-448D-AF2B-5AC1157645AF}" type="pres">
      <dgm:prSet presAssocID="{32EB8BCA-6307-44AE-B486-88C58CF860DF}" presName="parentText" presStyleLbl="node1" presStyleIdx="4" presStyleCnt="6">
        <dgm:presLayoutVars>
          <dgm:chMax val="0"/>
          <dgm:bulletEnabled val="1"/>
        </dgm:presLayoutVars>
      </dgm:prSet>
      <dgm:spPr/>
    </dgm:pt>
    <dgm:pt modelId="{E6EF4A32-33B3-4A82-8A76-19DE5E8E88A8}" type="pres">
      <dgm:prSet presAssocID="{0BF2549A-A104-48D8-98A6-B2044B0BB032}" presName="spacer" presStyleCnt="0"/>
      <dgm:spPr/>
    </dgm:pt>
    <dgm:pt modelId="{2E08D2DC-42A8-4D3B-BCBB-CFE8A338E4FC}" type="pres">
      <dgm:prSet presAssocID="{FFC3688E-9348-4410-B27C-CB34FDFE3472}" presName="parentText" presStyleLbl="node1" presStyleIdx="5" presStyleCnt="6">
        <dgm:presLayoutVars>
          <dgm:chMax val="0"/>
          <dgm:bulletEnabled val="1"/>
        </dgm:presLayoutVars>
      </dgm:prSet>
      <dgm:spPr/>
    </dgm:pt>
    <dgm:pt modelId="{94C15FC8-E420-4AB0-9D4F-EA52EDF9CFB6}" type="pres">
      <dgm:prSet presAssocID="{FFC3688E-9348-4410-B27C-CB34FDFE3472}" presName="childText" presStyleLbl="revTx" presStyleIdx="0" presStyleCnt="1">
        <dgm:presLayoutVars>
          <dgm:bulletEnabled val="1"/>
        </dgm:presLayoutVars>
      </dgm:prSet>
      <dgm:spPr/>
    </dgm:pt>
  </dgm:ptLst>
  <dgm:cxnLst>
    <dgm:cxn modelId="{EC277D09-F83E-460A-8028-4A8CFF628857}" type="presOf" srcId="{291932F7-8534-47F4-A07C-50D5B5D3FF88}" destId="{C6FB2F74-A746-4C4D-890D-CEA9F831DFD7}" srcOrd="0" destOrd="0" presId="urn:microsoft.com/office/officeart/2005/8/layout/vList2"/>
    <dgm:cxn modelId="{44261413-0702-496B-B017-ACF33C1F49A4}" type="presOf" srcId="{AA6F62DA-9BF9-4CB9-A564-A744A12D8A31}" destId="{72CF2FFB-C98C-440C-B865-79352155AEB5}" srcOrd="0" destOrd="0" presId="urn:microsoft.com/office/officeart/2005/8/layout/vList2"/>
    <dgm:cxn modelId="{C0426427-DB36-4FBC-ADF6-EFC95A9A61ED}" srcId="{BB855BEC-4BDE-4663-A71C-0AABE347B93E}" destId="{FFC3688E-9348-4410-B27C-CB34FDFE3472}" srcOrd="5" destOrd="0" parTransId="{7177CD9D-4FE6-4FBB-B1A1-DBE14E4F52F3}" sibTransId="{BBF5D7F2-BF0C-4656-B14F-1DDE598A7C0D}"/>
    <dgm:cxn modelId="{63228028-5EAE-452F-9D40-AC0E1C112ACC}" type="presOf" srcId="{BB855BEC-4BDE-4663-A71C-0AABE347B93E}" destId="{CC133427-3E12-4835-95CC-F7D9465BF442}" srcOrd="0" destOrd="0" presId="urn:microsoft.com/office/officeart/2005/8/layout/vList2"/>
    <dgm:cxn modelId="{65AC0931-2DEC-429C-86DD-11F973047915}" srcId="{BB855BEC-4BDE-4663-A71C-0AABE347B93E}" destId="{FEB9AAC5-7ABD-47D4-A433-F5F7E60A8891}" srcOrd="0" destOrd="0" parTransId="{F376F278-EA2B-4EA1-B84D-C5A8AABB67BC}" sibTransId="{F85A55DD-05AE-4E7E-B305-3F9F1C602A53}"/>
    <dgm:cxn modelId="{340D3B3F-329A-4E97-B82C-DA609ECF5B92}" type="presOf" srcId="{29E5C60E-3856-4379-A008-7A2436C0A034}" destId="{8B0D38AE-3CB4-4482-B9E0-8522795AAC51}" srcOrd="0" destOrd="0" presId="urn:microsoft.com/office/officeart/2005/8/layout/vList2"/>
    <dgm:cxn modelId="{74362C77-54CC-4820-81DE-176289FE15B7}" srcId="{BB855BEC-4BDE-4663-A71C-0AABE347B93E}" destId="{29E5C60E-3856-4379-A008-7A2436C0A034}" srcOrd="2" destOrd="0" parTransId="{7E79BE0F-1315-4CA6-8384-4372CF34D395}" sibTransId="{C2E41A89-9E1D-4C6A-B8F7-E26236746BD8}"/>
    <dgm:cxn modelId="{B2A0477B-7791-414C-AE73-B0B3E850C333}" type="presOf" srcId="{32EB8BCA-6307-44AE-B486-88C58CF860DF}" destId="{91B69223-2677-448D-AF2B-5AC1157645AF}" srcOrd="0" destOrd="0" presId="urn:microsoft.com/office/officeart/2005/8/layout/vList2"/>
    <dgm:cxn modelId="{E32928B8-1891-4907-AC8E-EB3348C72B1A}" srcId="{BB855BEC-4BDE-4663-A71C-0AABE347B93E}" destId="{291932F7-8534-47F4-A07C-50D5B5D3FF88}" srcOrd="3" destOrd="0" parTransId="{301128C7-600B-4B53-B01F-BC8E6C146862}" sibTransId="{19B27CE1-05A0-4388-9A94-F51ABF5E537E}"/>
    <dgm:cxn modelId="{495E97B8-C044-4A39-A523-EA6BD9C8C6F3}" type="presOf" srcId="{FEB9AAC5-7ABD-47D4-A433-F5F7E60A8891}" destId="{340D7DB1-9C1B-442B-8BCC-CA6F11ED4FBC}" srcOrd="0" destOrd="0" presId="urn:microsoft.com/office/officeart/2005/8/layout/vList2"/>
    <dgm:cxn modelId="{A935C4BF-9F3E-4AF9-8378-1A6A7F8B390E}" type="presOf" srcId="{FFC3688E-9348-4410-B27C-CB34FDFE3472}" destId="{2E08D2DC-42A8-4D3B-BCBB-CFE8A338E4FC}" srcOrd="0" destOrd="0" presId="urn:microsoft.com/office/officeart/2005/8/layout/vList2"/>
    <dgm:cxn modelId="{089521C7-C504-44D7-87A2-41EF5A408CBA}" type="presOf" srcId="{D9AE9F09-F7D2-4BDB-9129-1333FFCD69A7}" destId="{94C15FC8-E420-4AB0-9D4F-EA52EDF9CFB6}" srcOrd="0" destOrd="0" presId="urn:microsoft.com/office/officeart/2005/8/layout/vList2"/>
    <dgm:cxn modelId="{F2AEC2CA-862A-404A-AD60-C8C7ABED9AE2}" srcId="{BB855BEC-4BDE-4663-A71C-0AABE347B93E}" destId="{AA6F62DA-9BF9-4CB9-A564-A744A12D8A31}" srcOrd="1" destOrd="0" parTransId="{48D91978-E003-461B-A674-F26F787F0E3C}" sibTransId="{0E66926A-D8BF-4CD8-93EB-7367B94E0E15}"/>
    <dgm:cxn modelId="{B2FAEEEC-3673-44B3-8C9D-662434228782}" srcId="{BB855BEC-4BDE-4663-A71C-0AABE347B93E}" destId="{32EB8BCA-6307-44AE-B486-88C58CF860DF}" srcOrd="4" destOrd="0" parTransId="{175CFDDB-8C4B-4D72-BF86-D6247E4E4178}" sibTransId="{0BF2549A-A104-48D8-98A6-B2044B0BB032}"/>
    <dgm:cxn modelId="{45B765F2-1750-4256-96D7-F963540C4F45}" srcId="{FFC3688E-9348-4410-B27C-CB34FDFE3472}" destId="{D9AE9F09-F7D2-4BDB-9129-1333FFCD69A7}" srcOrd="0" destOrd="0" parTransId="{62F705CC-063B-4CD4-AB55-0775816CD779}" sibTransId="{A5896F53-038E-416E-B273-571974DFF6C6}"/>
    <dgm:cxn modelId="{2D6F09E4-52B8-479F-AC65-B1B7B1CE1CD1}" type="presParOf" srcId="{CC133427-3E12-4835-95CC-F7D9465BF442}" destId="{340D7DB1-9C1B-442B-8BCC-CA6F11ED4FBC}" srcOrd="0" destOrd="0" presId="urn:microsoft.com/office/officeart/2005/8/layout/vList2"/>
    <dgm:cxn modelId="{6E5631A0-905E-46E8-87CE-283204205446}" type="presParOf" srcId="{CC133427-3E12-4835-95CC-F7D9465BF442}" destId="{D05770C1-BC68-49F9-9785-997B65B4B876}" srcOrd="1" destOrd="0" presId="urn:microsoft.com/office/officeart/2005/8/layout/vList2"/>
    <dgm:cxn modelId="{21C521E9-4CC4-48C1-8D0F-5DB4357A8C01}" type="presParOf" srcId="{CC133427-3E12-4835-95CC-F7D9465BF442}" destId="{72CF2FFB-C98C-440C-B865-79352155AEB5}" srcOrd="2" destOrd="0" presId="urn:microsoft.com/office/officeart/2005/8/layout/vList2"/>
    <dgm:cxn modelId="{AD3E3CBB-3FC2-4D80-A3A6-879A66DC05D0}" type="presParOf" srcId="{CC133427-3E12-4835-95CC-F7D9465BF442}" destId="{EE66B651-554D-4583-A7E6-9B16FC8B5D2C}" srcOrd="3" destOrd="0" presId="urn:microsoft.com/office/officeart/2005/8/layout/vList2"/>
    <dgm:cxn modelId="{C2F421E4-EC4F-4C78-8977-85F8DCC369BE}" type="presParOf" srcId="{CC133427-3E12-4835-95CC-F7D9465BF442}" destId="{8B0D38AE-3CB4-4482-B9E0-8522795AAC51}" srcOrd="4" destOrd="0" presId="urn:microsoft.com/office/officeart/2005/8/layout/vList2"/>
    <dgm:cxn modelId="{C67C22B6-7A35-44E6-A2C6-B44E10E6D25C}" type="presParOf" srcId="{CC133427-3E12-4835-95CC-F7D9465BF442}" destId="{C7361EE2-DC42-4429-A3CB-D80DB40CE053}" srcOrd="5" destOrd="0" presId="urn:microsoft.com/office/officeart/2005/8/layout/vList2"/>
    <dgm:cxn modelId="{488F07C6-0F78-46DC-ABD6-8BEEFA3037C6}" type="presParOf" srcId="{CC133427-3E12-4835-95CC-F7D9465BF442}" destId="{C6FB2F74-A746-4C4D-890D-CEA9F831DFD7}" srcOrd="6" destOrd="0" presId="urn:microsoft.com/office/officeart/2005/8/layout/vList2"/>
    <dgm:cxn modelId="{CB589FA1-D324-4E8F-9678-AE9DE55706BC}" type="presParOf" srcId="{CC133427-3E12-4835-95CC-F7D9465BF442}" destId="{518097C1-7F8A-479B-A404-73CBF6EAD114}" srcOrd="7" destOrd="0" presId="urn:microsoft.com/office/officeart/2005/8/layout/vList2"/>
    <dgm:cxn modelId="{E063F61D-E0BA-49A6-AE6A-77771D531068}" type="presParOf" srcId="{CC133427-3E12-4835-95CC-F7D9465BF442}" destId="{91B69223-2677-448D-AF2B-5AC1157645AF}" srcOrd="8" destOrd="0" presId="urn:microsoft.com/office/officeart/2005/8/layout/vList2"/>
    <dgm:cxn modelId="{CA71282D-183A-4675-8F30-8E1641DC4F02}" type="presParOf" srcId="{CC133427-3E12-4835-95CC-F7D9465BF442}" destId="{E6EF4A32-33B3-4A82-8A76-19DE5E8E88A8}" srcOrd="9" destOrd="0" presId="urn:microsoft.com/office/officeart/2005/8/layout/vList2"/>
    <dgm:cxn modelId="{39072129-9391-4693-8CBE-88F70008D4F8}" type="presParOf" srcId="{CC133427-3E12-4835-95CC-F7D9465BF442}" destId="{2E08D2DC-42A8-4D3B-BCBB-CFE8A338E4FC}" srcOrd="10" destOrd="0" presId="urn:microsoft.com/office/officeart/2005/8/layout/vList2"/>
    <dgm:cxn modelId="{F2C21F91-FF78-4838-9A52-9DF933B08630}" type="presParOf" srcId="{CC133427-3E12-4835-95CC-F7D9465BF442}" destId="{94C15FC8-E420-4AB0-9D4F-EA52EDF9CFB6}" srcOrd="1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15F2FED7-B260-4A4C-AC42-8B2840EC43B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AE8ECE62-888B-4D94-97ED-F2ACE6C0978A}">
      <dgm:prSet/>
      <dgm:spPr/>
      <dgm:t>
        <a:bodyPr/>
        <a:lstStyle/>
        <a:p>
          <a:pPr rtl="0"/>
          <a:r>
            <a:rPr lang="en-US" b="0" dirty="0" err="1"/>
            <a:t>X44</a:t>
          </a:r>
          <a:r>
            <a:rPr lang="en-US" b="0" dirty="0"/>
            <a:t>=2     	              	C= 2 * 0      =  0</a:t>
          </a:r>
          <a:endParaRPr lang="es-PE" dirty="0"/>
        </a:p>
      </dgm:t>
    </dgm:pt>
    <dgm:pt modelId="{9287F83A-D376-4A53-A2AA-E930CC10F813}" type="parTrans" cxnId="{19BA7F79-4242-439D-89DA-54CA1B6369D1}">
      <dgm:prSet/>
      <dgm:spPr/>
      <dgm:t>
        <a:bodyPr/>
        <a:lstStyle/>
        <a:p>
          <a:endParaRPr lang="es-PE"/>
        </a:p>
      </dgm:t>
    </dgm:pt>
    <dgm:pt modelId="{4A1E4520-DDE4-4C6F-B060-B49C343A5418}" type="sibTrans" cxnId="{19BA7F79-4242-439D-89DA-54CA1B6369D1}">
      <dgm:prSet/>
      <dgm:spPr/>
      <dgm:t>
        <a:bodyPr/>
        <a:lstStyle/>
        <a:p>
          <a:endParaRPr lang="es-PE"/>
        </a:p>
      </dgm:t>
    </dgm:pt>
    <dgm:pt modelId="{B44F1403-474A-48CE-B9A3-33251EB58975}">
      <dgm:prSet/>
      <dgm:spPr/>
      <dgm:t>
        <a:bodyPr/>
        <a:lstStyle/>
        <a:p>
          <a:pPr rtl="0"/>
          <a:r>
            <a:rPr lang="en-US" b="0"/>
            <a:t>X33=2			C= 2* 400  =   800</a:t>
          </a:r>
          <a:endParaRPr lang="es-PE"/>
        </a:p>
      </dgm:t>
    </dgm:pt>
    <dgm:pt modelId="{B071D957-CA6E-44E5-AE86-79175CC2F009}" type="parTrans" cxnId="{BC1CE192-25E2-4684-9F1A-32C1376AE6CB}">
      <dgm:prSet/>
      <dgm:spPr/>
      <dgm:t>
        <a:bodyPr/>
        <a:lstStyle/>
        <a:p>
          <a:endParaRPr lang="es-PE"/>
        </a:p>
      </dgm:t>
    </dgm:pt>
    <dgm:pt modelId="{26A3B5CC-74F6-4F24-8B8C-0525BA8360AF}" type="sibTrans" cxnId="{BC1CE192-25E2-4684-9F1A-32C1376AE6CB}">
      <dgm:prSet/>
      <dgm:spPr/>
      <dgm:t>
        <a:bodyPr/>
        <a:lstStyle/>
        <a:p>
          <a:endParaRPr lang="es-PE"/>
        </a:p>
      </dgm:t>
    </dgm:pt>
    <dgm:pt modelId="{9E70213F-2565-48EC-A0F4-FC8121C6EC07}">
      <dgm:prSet/>
      <dgm:spPr/>
      <dgm:t>
        <a:bodyPr/>
        <a:lstStyle/>
        <a:p>
          <a:pPr rtl="0"/>
          <a:r>
            <a:rPr lang="en-US" b="0"/>
            <a:t>X32=1			C= 1*1000 = 1000</a:t>
          </a:r>
          <a:endParaRPr lang="es-PE"/>
        </a:p>
      </dgm:t>
    </dgm:pt>
    <dgm:pt modelId="{096A6ECA-2758-4B73-A72B-EB813ECEF378}" type="parTrans" cxnId="{6B969AE7-5FE0-4F37-814D-9B817EB2D6D9}">
      <dgm:prSet/>
      <dgm:spPr/>
      <dgm:t>
        <a:bodyPr/>
        <a:lstStyle/>
        <a:p>
          <a:endParaRPr lang="es-PE"/>
        </a:p>
      </dgm:t>
    </dgm:pt>
    <dgm:pt modelId="{7BC1AB1A-DDCB-41DF-BD56-7C04B7B6C741}" type="sibTrans" cxnId="{6B969AE7-5FE0-4F37-814D-9B817EB2D6D9}">
      <dgm:prSet/>
      <dgm:spPr/>
      <dgm:t>
        <a:bodyPr/>
        <a:lstStyle/>
        <a:p>
          <a:endParaRPr lang="es-PE"/>
        </a:p>
      </dgm:t>
    </dgm:pt>
    <dgm:pt modelId="{2DC409EC-FA03-40E4-AD49-C3535F413ECC}">
      <dgm:prSet/>
      <dgm:spPr/>
      <dgm:t>
        <a:bodyPr/>
        <a:lstStyle/>
        <a:p>
          <a:pPr rtl="0"/>
          <a:r>
            <a:rPr lang="en-US" b="0"/>
            <a:t>X22=1			C= 1*1000 = 1000</a:t>
          </a:r>
          <a:endParaRPr lang="es-PE"/>
        </a:p>
      </dgm:t>
    </dgm:pt>
    <dgm:pt modelId="{AF6643C7-EE00-40EA-98B1-44E5954BE216}" type="parTrans" cxnId="{4973F739-A5C6-425A-BCFF-8C8B6920C059}">
      <dgm:prSet/>
      <dgm:spPr/>
      <dgm:t>
        <a:bodyPr/>
        <a:lstStyle/>
        <a:p>
          <a:endParaRPr lang="es-PE"/>
        </a:p>
      </dgm:t>
    </dgm:pt>
    <dgm:pt modelId="{0E40226E-42B8-4C8F-A8B6-009AEA905F93}" type="sibTrans" cxnId="{4973F739-A5C6-425A-BCFF-8C8B6920C059}">
      <dgm:prSet/>
      <dgm:spPr/>
      <dgm:t>
        <a:bodyPr/>
        <a:lstStyle/>
        <a:p>
          <a:endParaRPr lang="es-PE"/>
        </a:p>
      </dgm:t>
    </dgm:pt>
    <dgm:pt modelId="{889B64D3-70E9-4311-807B-8EE53A317105}">
      <dgm:prSet/>
      <dgm:spPr/>
      <dgm:t>
        <a:bodyPr/>
        <a:lstStyle/>
        <a:p>
          <a:pPr rtl="0"/>
          <a:r>
            <a:rPr lang="en-US" b="0"/>
            <a:t>X11=3			C= 3*1600 = 4800</a:t>
          </a:r>
          <a:endParaRPr lang="es-PE"/>
        </a:p>
      </dgm:t>
    </dgm:pt>
    <dgm:pt modelId="{D3FDA8E5-46AA-445D-AF5F-7376943110EC}" type="parTrans" cxnId="{F931519E-27F7-42EF-BFB5-810ACB740107}">
      <dgm:prSet/>
      <dgm:spPr/>
      <dgm:t>
        <a:bodyPr/>
        <a:lstStyle/>
        <a:p>
          <a:endParaRPr lang="es-PE"/>
        </a:p>
      </dgm:t>
    </dgm:pt>
    <dgm:pt modelId="{11132833-C7C0-4F0B-BF7A-3DCAAC843A46}" type="sibTrans" cxnId="{F931519E-27F7-42EF-BFB5-810ACB740107}">
      <dgm:prSet/>
      <dgm:spPr/>
      <dgm:t>
        <a:bodyPr/>
        <a:lstStyle/>
        <a:p>
          <a:endParaRPr lang="es-PE"/>
        </a:p>
      </dgm:t>
    </dgm:pt>
    <dgm:pt modelId="{69246825-A92F-445F-AF94-C1B4D40B6E60}">
      <dgm:prSet/>
      <dgm:spPr/>
      <dgm:t>
        <a:bodyPr/>
        <a:lstStyle/>
        <a:p>
          <a:pPr rtl="0"/>
          <a:r>
            <a:rPr lang="en-US" b="0"/>
            <a:t>X21=1			C= 1*  900 =   900</a:t>
          </a:r>
          <a:endParaRPr lang="es-PE"/>
        </a:p>
      </dgm:t>
    </dgm:pt>
    <dgm:pt modelId="{0F4C4B05-B12F-45DB-BA95-0A35891B35D9}" type="parTrans" cxnId="{71F48A43-C631-4B40-962C-B1B70F36940D}">
      <dgm:prSet/>
      <dgm:spPr/>
      <dgm:t>
        <a:bodyPr/>
        <a:lstStyle/>
        <a:p>
          <a:endParaRPr lang="es-PE"/>
        </a:p>
      </dgm:t>
    </dgm:pt>
    <dgm:pt modelId="{900235C3-84A1-4A7C-9798-3D84C94E2484}" type="sibTrans" cxnId="{71F48A43-C631-4B40-962C-B1B70F36940D}">
      <dgm:prSet/>
      <dgm:spPr/>
      <dgm:t>
        <a:bodyPr/>
        <a:lstStyle/>
        <a:p>
          <a:endParaRPr lang="es-PE"/>
        </a:p>
      </dgm:t>
    </dgm:pt>
    <dgm:pt modelId="{0F995DD4-1920-4870-BD55-1B364A8FC8E4}">
      <dgm:prSet custT="1"/>
      <dgm:spPr/>
      <dgm:t>
        <a:bodyPr/>
        <a:lstStyle/>
        <a:p>
          <a:pPr rtl="0"/>
          <a:r>
            <a:rPr lang="en-US" sz="2400" b="0" dirty="0">
              <a:solidFill>
                <a:srgbClr val="FF0000"/>
              </a:solidFill>
            </a:rPr>
            <a:t>                                             </a:t>
          </a:r>
          <a:r>
            <a:rPr lang="en-US" sz="2800" b="1" dirty="0" err="1">
              <a:solidFill>
                <a:srgbClr val="FF0000"/>
              </a:solidFill>
            </a:rPr>
            <a:t>Costo</a:t>
          </a:r>
          <a:r>
            <a:rPr lang="en-US" sz="2800" b="1" dirty="0">
              <a:solidFill>
                <a:srgbClr val="FF0000"/>
              </a:solidFill>
            </a:rPr>
            <a:t> total = 8500  </a:t>
          </a:r>
          <a:endParaRPr lang="es-PE" sz="2800" b="1" dirty="0">
            <a:solidFill>
              <a:srgbClr val="FF0000"/>
            </a:solidFill>
          </a:endParaRPr>
        </a:p>
      </dgm:t>
    </dgm:pt>
    <dgm:pt modelId="{CC01CDC8-E2B4-4291-AB88-0016CF70714B}" type="parTrans" cxnId="{FD3E36C6-E0BC-4084-9001-29EC899C3427}">
      <dgm:prSet/>
      <dgm:spPr/>
      <dgm:t>
        <a:bodyPr/>
        <a:lstStyle/>
        <a:p>
          <a:endParaRPr lang="es-PE"/>
        </a:p>
      </dgm:t>
    </dgm:pt>
    <dgm:pt modelId="{B2228D0C-08BA-425A-BB80-44792050DDC1}" type="sibTrans" cxnId="{FD3E36C6-E0BC-4084-9001-29EC899C3427}">
      <dgm:prSet/>
      <dgm:spPr/>
      <dgm:t>
        <a:bodyPr/>
        <a:lstStyle/>
        <a:p>
          <a:endParaRPr lang="es-PE"/>
        </a:p>
      </dgm:t>
    </dgm:pt>
    <dgm:pt modelId="{6F90B0BF-D187-44E8-A7A0-AF9DE8ED76C6}" type="pres">
      <dgm:prSet presAssocID="{15F2FED7-B260-4A4C-AC42-8B2840EC43BA}" presName="linear" presStyleCnt="0">
        <dgm:presLayoutVars>
          <dgm:animLvl val="lvl"/>
          <dgm:resizeHandles val="exact"/>
        </dgm:presLayoutVars>
      </dgm:prSet>
      <dgm:spPr/>
    </dgm:pt>
    <dgm:pt modelId="{DC79BBBC-6DF8-4C5F-B71D-99D3562FF0F9}" type="pres">
      <dgm:prSet presAssocID="{AE8ECE62-888B-4D94-97ED-F2ACE6C0978A}" presName="parentText" presStyleLbl="node1" presStyleIdx="0" presStyleCnt="6">
        <dgm:presLayoutVars>
          <dgm:chMax val="0"/>
          <dgm:bulletEnabled val="1"/>
        </dgm:presLayoutVars>
      </dgm:prSet>
      <dgm:spPr/>
    </dgm:pt>
    <dgm:pt modelId="{430961EE-1ACC-4436-879D-9CC385809D36}" type="pres">
      <dgm:prSet presAssocID="{4A1E4520-DDE4-4C6F-B060-B49C343A5418}" presName="spacer" presStyleCnt="0"/>
      <dgm:spPr/>
    </dgm:pt>
    <dgm:pt modelId="{4BCFB751-FBF6-40AD-BDD7-95D2D0B6E8B2}" type="pres">
      <dgm:prSet presAssocID="{B44F1403-474A-48CE-B9A3-33251EB58975}" presName="parentText" presStyleLbl="node1" presStyleIdx="1" presStyleCnt="6">
        <dgm:presLayoutVars>
          <dgm:chMax val="0"/>
          <dgm:bulletEnabled val="1"/>
        </dgm:presLayoutVars>
      </dgm:prSet>
      <dgm:spPr/>
    </dgm:pt>
    <dgm:pt modelId="{ADE19075-BFAB-462D-A7E1-53A1C01368B0}" type="pres">
      <dgm:prSet presAssocID="{26A3B5CC-74F6-4F24-8B8C-0525BA8360AF}" presName="spacer" presStyleCnt="0"/>
      <dgm:spPr/>
    </dgm:pt>
    <dgm:pt modelId="{943D2645-E583-485E-81CC-27E77A812380}" type="pres">
      <dgm:prSet presAssocID="{9E70213F-2565-48EC-A0F4-FC8121C6EC07}" presName="parentText" presStyleLbl="node1" presStyleIdx="2" presStyleCnt="6">
        <dgm:presLayoutVars>
          <dgm:chMax val="0"/>
          <dgm:bulletEnabled val="1"/>
        </dgm:presLayoutVars>
      </dgm:prSet>
      <dgm:spPr/>
    </dgm:pt>
    <dgm:pt modelId="{6E2F67B1-7456-402B-9764-F1F8D0D7C06C}" type="pres">
      <dgm:prSet presAssocID="{7BC1AB1A-DDCB-41DF-BD56-7C04B7B6C741}" presName="spacer" presStyleCnt="0"/>
      <dgm:spPr/>
    </dgm:pt>
    <dgm:pt modelId="{5313A16D-D5A9-45DC-9C08-D842989445CF}" type="pres">
      <dgm:prSet presAssocID="{2DC409EC-FA03-40E4-AD49-C3535F413ECC}" presName="parentText" presStyleLbl="node1" presStyleIdx="3" presStyleCnt="6">
        <dgm:presLayoutVars>
          <dgm:chMax val="0"/>
          <dgm:bulletEnabled val="1"/>
        </dgm:presLayoutVars>
      </dgm:prSet>
      <dgm:spPr/>
    </dgm:pt>
    <dgm:pt modelId="{A738DAEC-9F07-4885-9A9D-32F63E9EB519}" type="pres">
      <dgm:prSet presAssocID="{0E40226E-42B8-4C8F-A8B6-009AEA905F93}" presName="spacer" presStyleCnt="0"/>
      <dgm:spPr/>
    </dgm:pt>
    <dgm:pt modelId="{D8089D7D-BBF6-4B1B-B25A-6BADB8BE6F34}" type="pres">
      <dgm:prSet presAssocID="{889B64D3-70E9-4311-807B-8EE53A317105}" presName="parentText" presStyleLbl="node1" presStyleIdx="4" presStyleCnt="6">
        <dgm:presLayoutVars>
          <dgm:chMax val="0"/>
          <dgm:bulletEnabled val="1"/>
        </dgm:presLayoutVars>
      </dgm:prSet>
      <dgm:spPr/>
    </dgm:pt>
    <dgm:pt modelId="{3E2CBECC-8B4B-433F-9A1B-CFCA7DB0C9D0}" type="pres">
      <dgm:prSet presAssocID="{11132833-C7C0-4F0B-BF7A-3DCAAC843A46}" presName="spacer" presStyleCnt="0"/>
      <dgm:spPr/>
    </dgm:pt>
    <dgm:pt modelId="{DEF7E4A1-7BBB-4FF5-B6EA-E0FD67EA53E6}" type="pres">
      <dgm:prSet presAssocID="{69246825-A92F-445F-AF94-C1B4D40B6E60}" presName="parentText" presStyleLbl="node1" presStyleIdx="5" presStyleCnt="6">
        <dgm:presLayoutVars>
          <dgm:chMax val="0"/>
          <dgm:bulletEnabled val="1"/>
        </dgm:presLayoutVars>
      </dgm:prSet>
      <dgm:spPr/>
    </dgm:pt>
    <dgm:pt modelId="{745DF0BF-572D-4017-99B4-095C85BE35A4}" type="pres">
      <dgm:prSet presAssocID="{69246825-A92F-445F-AF94-C1B4D40B6E60}" presName="childText" presStyleLbl="revTx" presStyleIdx="0" presStyleCnt="1">
        <dgm:presLayoutVars>
          <dgm:bulletEnabled val="1"/>
        </dgm:presLayoutVars>
      </dgm:prSet>
      <dgm:spPr/>
    </dgm:pt>
  </dgm:ptLst>
  <dgm:cxnLst>
    <dgm:cxn modelId="{3478A205-2552-4226-8EB9-068327C2D741}" type="presOf" srcId="{0F995DD4-1920-4870-BD55-1B364A8FC8E4}" destId="{745DF0BF-572D-4017-99B4-095C85BE35A4}" srcOrd="0" destOrd="0" presId="urn:microsoft.com/office/officeart/2005/8/layout/vList2"/>
    <dgm:cxn modelId="{4973F739-A5C6-425A-BCFF-8C8B6920C059}" srcId="{15F2FED7-B260-4A4C-AC42-8B2840EC43BA}" destId="{2DC409EC-FA03-40E4-AD49-C3535F413ECC}" srcOrd="3" destOrd="0" parTransId="{AF6643C7-EE00-40EA-98B1-44E5954BE216}" sibTransId="{0E40226E-42B8-4C8F-A8B6-009AEA905F93}"/>
    <dgm:cxn modelId="{9F8C273C-5443-4768-BECF-A4DFCC6113D4}" type="presOf" srcId="{69246825-A92F-445F-AF94-C1B4D40B6E60}" destId="{DEF7E4A1-7BBB-4FF5-B6EA-E0FD67EA53E6}" srcOrd="0" destOrd="0" presId="urn:microsoft.com/office/officeart/2005/8/layout/vList2"/>
    <dgm:cxn modelId="{B9E06E40-0407-4A73-9BE0-B5225591DFED}" type="presOf" srcId="{15F2FED7-B260-4A4C-AC42-8B2840EC43BA}" destId="{6F90B0BF-D187-44E8-A7A0-AF9DE8ED76C6}" srcOrd="0" destOrd="0" presId="urn:microsoft.com/office/officeart/2005/8/layout/vList2"/>
    <dgm:cxn modelId="{6557145B-F876-4F2D-8BFE-EB671FEE2562}" type="presOf" srcId="{889B64D3-70E9-4311-807B-8EE53A317105}" destId="{D8089D7D-BBF6-4B1B-B25A-6BADB8BE6F34}" srcOrd="0" destOrd="0" presId="urn:microsoft.com/office/officeart/2005/8/layout/vList2"/>
    <dgm:cxn modelId="{71F48A43-C631-4B40-962C-B1B70F36940D}" srcId="{15F2FED7-B260-4A4C-AC42-8B2840EC43BA}" destId="{69246825-A92F-445F-AF94-C1B4D40B6E60}" srcOrd="5" destOrd="0" parTransId="{0F4C4B05-B12F-45DB-BA95-0A35891B35D9}" sibTransId="{900235C3-84A1-4A7C-9798-3D84C94E2484}"/>
    <dgm:cxn modelId="{777E1879-44A7-48F6-A0B0-FDDBECE90B3F}" type="presOf" srcId="{AE8ECE62-888B-4D94-97ED-F2ACE6C0978A}" destId="{DC79BBBC-6DF8-4C5F-B71D-99D3562FF0F9}" srcOrd="0" destOrd="0" presId="urn:microsoft.com/office/officeart/2005/8/layout/vList2"/>
    <dgm:cxn modelId="{19BA7F79-4242-439D-89DA-54CA1B6369D1}" srcId="{15F2FED7-B260-4A4C-AC42-8B2840EC43BA}" destId="{AE8ECE62-888B-4D94-97ED-F2ACE6C0978A}" srcOrd="0" destOrd="0" parTransId="{9287F83A-D376-4A53-A2AA-E930CC10F813}" sibTransId="{4A1E4520-DDE4-4C6F-B060-B49C343A5418}"/>
    <dgm:cxn modelId="{BC1CE192-25E2-4684-9F1A-32C1376AE6CB}" srcId="{15F2FED7-B260-4A4C-AC42-8B2840EC43BA}" destId="{B44F1403-474A-48CE-B9A3-33251EB58975}" srcOrd="1" destOrd="0" parTransId="{B071D957-CA6E-44E5-AE86-79175CC2F009}" sibTransId="{26A3B5CC-74F6-4F24-8B8C-0525BA8360AF}"/>
    <dgm:cxn modelId="{F931519E-27F7-42EF-BFB5-810ACB740107}" srcId="{15F2FED7-B260-4A4C-AC42-8B2840EC43BA}" destId="{889B64D3-70E9-4311-807B-8EE53A317105}" srcOrd="4" destOrd="0" parTransId="{D3FDA8E5-46AA-445D-AF5F-7376943110EC}" sibTransId="{11132833-C7C0-4F0B-BF7A-3DCAAC843A46}"/>
    <dgm:cxn modelId="{FD3E36C6-E0BC-4084-9001-29EC899C3427}" srcId="{69246825-A92F-445F-AF94-C1B4D40B6E60}" destId="{0F995DD4-1920-4870-BD55-1B364A8FC8E4}" srcOrd="0" destOrd="0" parTransId="{CC01CDC8-E2B4-4291-AB88-0016CF70714B}" sibTransId="{B2228D0C-08BA-425A-BB80-44792050DDC1}"/>
    <dgm:cxn modelId="{B4FF6BD0-CFCB-4167-8602-E50370B51D26}" type="presOf" srcId="{B44F1403-474A-48CE-B9A3-33251EB58975}" destId="{4BCFB751-FBF6-40AD-BDD7-95D2D0B6E8B2}" srcOrd="0" destOrd="0" presId="urn:microsoft.com/office/officeart/2005/8/layout/vList2"/>
    <dgm:cxn modelId="{6B969AE7-5FE0-4F37-814D-9B817EB2D6D9}" srcId="{15F2FED7-B260-4A4C-AC42-8B2840EC43BA}" destId="{9E70213F-2565-48EC-A0F4-FC8121C6EC07}" srcOrd="2" destOrd="0" parTransId="{096A6ECA-2758-4B73-A72B-EB813ECEF378}" sibTransId="{7BC1AB1A-DDCB-41DF-BD56-7C04B7B6C741}"/>
    <dgm:cxn modelId="{25D247EA-733A-46B6-9FE0-090B01FAB653}" type="presOf" srcId="{9E70213F-2565-48EC-A0F4-FC8121C6EC07}" destId="{943D2645-E583-485E-81CC-27E77A812380}" srcOrd="0" destOrd="0" presId="urn:microsoft.com/office/officeart/2005/8/layout/vList2"/>
    <dgm:cxn modelId="{FF5A9EF4-C557-4DC9-A5EF-69F66103F45B}" type="presOf" srcId="{2DC409EC-FA03-40E4-AD49-C3535F413ECC}" destId="{5313A16D-D5A9-45DC-9C08-D842989445CF}" srcOrd="0" destOrd="0" presId="urn:microsoft.com/office/officeart/2005/8/layout/vList2"/>
    <dgm:cxn modelId="{80CF4CA8-91DE-481A-B5A7-5BD4180BC1C2}" type="presParOf" srcId="{6F90B0BF-D187-44E8-A7A0-AF9DE8ED76C6}" destId="{DC79BBBC-6DF8-4C5F-B71D-99D3562FF0F9}" srcOrd="0" destOrd="0" presId="urn:microsoft.com/office/officeart/2005/8/layout/vList2"/>
    <dgm:cxn modelId="{29B4FD21-5219-4706-A5DF-1B7D5C8085BB}" type="presParOf" srcId="{6F90B0BF-D187-44E8-A7A0-AF9DE8ED76C6}" destId="{430961EE-1ACC-4436-879D-9CC385809D36}" srcOrd="1" destOrd="0" presId="urn:microsoft.com/office/officeart/2005/8/layout/vList2"/>
    <dgm:cxn modelId="{EC2E8D2D-4E5D-4E96-9CF0-3C1E3A2F3059}" type="presParOf" srcId="{6F90B0BF-D187-44E8-A7A0-AF9DE8ED76C6}" destId="{4BCFB751-FBF6-40AD-BDD7-95D2D0B6E8B2}" srcOrd="2" destOrd="0" presId="urn:microsoft.com/office/officeart/2005/8/layout/vList2"/>
    <dgm:cxn modelId="{CE77757D-C75D-430E-9315-05D0C5CFDA9E}" type="presParOf" srcId="{6F90B0BF-D187-44E8-A7A0-AF9DE8ED76C6}" destId="{ADE19075-BFAB-462D-A7E1-53A1C01368B0}" srcOrd="3" destOrd="0" presId="urn:microsoft.com/office/officeart/2005/8/layout/vList2"/>
    <dgm:cxn modelId="{BDA110BC-41CA-4AAC-BB54-F33685241362}" type="presParOf" srcId="{6F90B0BF-D187-44E8-A7A0-AF9DE8ED76C6}" destId="{943D2645-E583-485E-81CC-27E77A812380}" srcOrd="4" destOrd="0" presId="urn:microsoft.com/office/officeart/2005/8/layout/vList2"/>
    <dgm:cxn modelId="{503D2047-DDA3-46A1-B959-606A1B149046}" type="presParOf" srcId="{6F90B0BF-D187-44E8-A7A0-AF9DE8ED76C6}" destId="{6E2F67B1-7456-402B-9764-F1F8D0D7C06C}" srcOrd="5" destOrd="0" presId="urn:microsoft.com/office/officeart/2005/8/layout/vList2"/>
    <dgm:cxn modelId="{B89AE47B-B1F3-480D-97C3-95733F272133}" type="presParOf" srcId="{6F90B0BF-D187-44E8-A7A0-AF9DE8ED76C6}" destId="{5313A16D-D5A9-45DC-9C08-D842989445CF}" srcOrd="6" destOrd="0" presId="urn:microsoft.com/office/officeart/2005/8/layout/vList2"/>
    <dgm:cxn modelId="{BB317336-22AE-43E8-970D-D7754F6B3F96}" type="presParOf" srcId="{6F90B0BF-D187-44E8-A7A0-AF9DE8ED76C6}" destId="{A738DAEC-9F07-4885-9A9D-32F63E9EB519}" srcOrd="7" destOrd="0" presId="urn:microsoft.com/office/officeart/2005/8/layout/vList2"/>
    <dgm:cxn modelId="{1ADE96AD-BD18-4D87-AA8A-6783A5B2097B}" type="presParOf" srcId="{6F90B0BF-D187-44E8-A7A0-AF9DE8ED76C6}" destId="{D8089D7D-BBF6-4B1B-B25A-6BADB8BE6F34}" srcOrd="8" destOrd="0" presId="urn:microsoft.com/office/officeart/2005/8/layout/vList2"/>
    <dgm:cxn modelId="{7A1AF132-638C-4FE4-A8B8-7CAFE5D721A0}" type="presParOf" srcId="{6F90B0BF-D187-44E8-A7A0-AF9DE8ED76C6}" destId="{3E2CBECC-8B4B-433F-9A1B-CFCA7DB0C9D0}" srcOrd="9" destOrd="0" presId="urn:microsoft.com/office/officeart/2005/8/layout/vList2"/>
    <dgm:cxn modelId="{AE1C4115-6686-4453-8D5F-69C611CA89E0}" type="presParOf" srcId="{6F90B0BF-D187-44E8-A7A0-AF9DE8ED76C6}" destId="{DEF7E4A1-7BBB-4FF5-B6EA-E0FD67EA53E6}" srcOrd="10" destOrd="0" presId="urn:microsoft.com/office/officeart/2005/8/layout/vList2"/>
    <dgm:cxn modelId="{61551B28-2A36-4F44-A1E8-21352D063250}" type="presParOf" srcId="{6F90B0BF-D187-44E8-A7A0-AF9DE8ED76C6}" destId="{745DF0BF-572D-4017-99B4-095C85BE35A4}" srcOrd="1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258E8CA0-3185-4A49-8656-E682170F9E9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F950B76B-CFEC-4DB2-9767-C3942EF3ED5F}">
      <dgm:prSet custT="1"/>
      <dgm:spPr/>
      <dgm:t>
        <a:bodyPr/>
        <a:lstStyle/>
        <a:p>
          <a:pPr rtl="0"/>
          <a:r>
            <a:rPr lang="es-PE" sz="2000" b="1" dirty="0" err="1"/>
            <a:t>X35</a:t>
          </a:r>
          <a:r>
            <a:rPr lang="es-PE" sz="2000" b="1" dirty="0"/>
            <a:t>=50        C=50*0</a:t>
          </a:r>
        </a:p>
      </dgm:t>
    </dgm:pt>
    <dgm:pt modelId="{C5084481-14CE-4396-B1DF-13CA2B8F6ADF}" type="parTrans" cxnId="{BEC67E86-F561-47D9-AEB4-43F08382602D}">
      <dgm:prSet/>
      <dgm:spPr/>
      <dgm:t>
        <a:bodyPr/>
        <a:lstStyle/>
        <a:p>
          <a:endParaRPr lang="es-PE" sz="2000" b="1"/>
        </a:p>
      </dgm:t>
    </dgm:pt>
    <dgm:pt modelId="{786293F0-1C76-4895-B7A7-EAC768D63AF5}" type="sibTrans" cxnId="{BEC67E86-F561-47D9-AEB4-43F08382602D}">
      <dgm:prSet/>
      <dgm:spPr/>
      <dgm:t>
        <a:bodyPr/>
        <a:lstStyle/>
        <a:p>
          <a:endParaRPr lang="es-PE" sz="2000" b="1"/>
        </a:p>
      </dgm:t>
    </dgm:pt>
    <dgm:pt modelId="{96B263DE-2E64-4426-8663-A6E8DABB03C6}">
      <dgm:prSet custT="1"/>
      <dgm:spPr/>
      <dgm:t>
        <a:bodyPr/>
        <a:lstStyle/>
        <a:p>
          <a:pPr rtl="0"/>
          <a:r>
            <a:rPr lang="es-PE" sz="2000" b="1" dirty="0" err="1"/>
            <a:t>X13</a:t>
          </a:r>
          <a:r>
            <a:rPr lang="es-PE" sz="2000" b="1" dirty="0"/>
            <a:t>=200      C=200*3</a:t>
          </a:r>
        </a:p>
      </dgm:t>
    </dgm:pt>
    <dgm:pt modelId="{5EE68841-BA67-447C-A1C9-86D0D63BFE15}" type="parTrans" cxnId="{35B41F50-AAA9-48F6-A476-CDEF41A0D273}">
      <dgm:prSet/>
      <dgm:spPr/>
      <dgm:t>
        <a:bodyPr/>
        <a:lstStyle/>
        <a:p>
          <a:endParaRPr lang="es-PE" sz="2000" b="1"/>
        </a:p>
      </dgm:t>
    </dgm:pt>
    <dgm:pt modelId="{C2899FC9-1ECA-432D-9C2D-6AC1EE010B7D}" type="sibTrans" cxnId="{35B41F50-AAA9-48F6-A476-CDEF41A0D273}">
      <dgm:prSet/>
      <dgm:spPr/>
      <dgm:t>
        <a:bodyPr/>
        <a:lstStyle/>
        <a:p>
          <a:endParaRPr lang="es-PE" sz="2000" b="1"/>
        </a:p>
      </dgm:t>
    </dgm:pt>
    <dgm:pt modelId="{2AC583AB-6DAA-417E-AAAE-F866A447A8AD}" type="pres">
      <dgm:prSet presAssocID="{258E8CA0-3185-4A49-8656-E682170F9E93}" presName="linear" presStyleCnt="0">
        <dgm:presLayoutVars>
          <dgm:animLvl val="lvl"/>
          <dgm:resizeHandles val="exact"/>
        </dgm:presLayoutVars>
      </dgm:prSet>
      <dgm:spPr/>
    </dgm:pt>
    <dgm:pt modelId="{E059C566-BC52-470D-A2D0-9E59A565B807}" type="pres">
      <dgm:prSet presAssocID="{F950B76B-CFEC-4DB2-9767-C3942EF3ED5F}" presName="parentText" presStyleLbl="node1" presStyleIdx="0" presStyleCnt="2">
        <dgm:presLayoutVars>
          <dgm:chMax val="0"/>
          <dgm:bulletEnabled val="1"/>
        </dgm:presLayoutVars>
      </dgm:prSet>
      <dgm:spPr/>
    </dgm:pt>
    <dgm:pt modelId="{7A9B6A8F-0CE9-4657-8A2F-94300A0D9E45}" type="pres">
      <dgm:prSet presAssocID="{786293F0-1C76-4895-B7A7-EAC768D63AF5}" presName="spacer" presStyleCnt="0"/>
      <dgm:spPr/>
    </dgm:pt>
    <dgm:pt modelId="{60B7B039-67CE-4D51-986B-8BB0EBABF183}" type="pres">
      <dgm:prSet presAssocID="{96B263DE-2E64-4426-8663-A6E8DABB03C6}" presName="parentText" presStyleLbl="node1" presStyleIdx="1" presStyleCnt="2">
        <dgm:presLayoutVars>
          <dgm:chMax val="0"/>
          <dgm:bulletEnabled val="1"/>
        </dgm:presLayoutVars>
      </dgm:prSet>
      <dgm:spPr/>
    </dgm:pt>
  </dgm:ptLst>
  <dgm:cxnLst>
    <dgm:cxn modelId="{E16DBF03-9AD3-44CC-B395-3887485F6DAE}" type="presOf" srcId="{258E8CA0-3185-4A49-8656-E682170F9E93}" destId="{2AC583AB-6DAA-417E-AAAE-F866A447A8AD}" srcOrd="0" destOrd="0" presId="urn:microsoft.com/office/officeart/2005/8/layout/vList2"/>
    <dgm:cxn modelId="{35B41F50-AAA9-48F6-A476-CDEF41A0D273}" srcId="{258E8CA0-3185-4A49-8656-E682170F9E93}" destId="{96B263DE-2E64-4426-8663-A6E8DABB03C6}" srcOrd="1" destOrd="0" parTransId="{5EE68841-BA67-447C-A1C9-86D0D63BFE15}" sibTransId="{C2899FC9-1ECA-432D-9C2D-6AC1EE010B7D}"/>
    <dgm:cxn modelId="{BEC67E86-F561-47D9-AEB4-43F08382602D}" srcId="{258E8CA0-3185-4A49-8656-E682170F9E93}" destId="{F950B76B-CFEC-4DB2-9767-C3942EF3ED5F}" srcOrd="0" destOrd="0" parTransId="{C5084481-14CE-4396-B1DF-13CA2B8F6ADF}" sibTransId="{786293F0-1C76-4895-B7A7-EAC768D63AF5}"/>
    <dgm:cxn modelId="{F7D372BD-62CB-4835-A4B9-1D19656AF54A}" type="presOf" srcId="{96B263DE-2E64-4426-8663-A6E8DABB03C6}" destId="{60B7B039-67CE-4D51-986B-8BB0EBABF183}" srcOrd="0" destOrd="0" presId="urn:microsoft.com/office/officeart/2005/8/layout/vList2"/>
    <dgm:cxn modelId="{97C2FCC9-028C-41BB-A189-713C3C135A6C}" type="presOf" srcId="{F950B76B-CFEC-4DB2-9767-C3942EF3ED5F}" destId="{E059C566-BC52-470D-A2D0-9E59A565B807}" srcOrd="0" destOrd="0" presId="urn:microsoft.com/office/officeart/2005/8/layout/vList2"/>
    <dgm:cxn modelId="{BA24ECD6-549A-4E09-94D2-3FC71E91A38B}" type="presParOf" srcId="{2AC583AB-6DAA-417E-AAAE-F866A447A8AD}" destId="{E059C566-BC52-470D-A2D0-9E59A565B807}" srcOrd="0" destOrd="0" presId="urn:microsoft.com/office/officeart/2005/8/layout/vList2"/>
    <dgm:cxn modelId="{50356EF3-C336-43F3-B75E-BDC906B2696B}" type="presParOf" srcId="{2AC583AB-6DAA-417E-AAAE-F866A447A8AD}" destId="{7A9B6A8F-0CE9-4657-8A2F-94300A0D9E45}" srcOrd="1" destOrd="0" presId="urn:microsoft.com/office/officeart/2005/8/layout/vList2"/>
    <dgm:cxn modelId="{36C01BC2-947D-46B0-84E8-0C976819FE16}" type="presParOf" srcId="{2AC583AB-6DAA-417E-AAAE-F866A447A8AD}" destId="{60B7B039-67CE-4D51-986B-8BB0EBABF183}"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A8C0A4D5-C72E-499A-8692-E1A83162102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BCAFD66D-3A30-45FC-B93D-285B6A9C6991}">
      <dgm:prSet custT="1"/>
      <dgm:spPr/>
      <dgm:t>
        <a:bodyPr/>
        <a:lstStyle/>
        <a:p>
          <a:pPr rtl="0"/>
          <a:r>
            <a:rPr lang="es-PE" sz="1600" b="1" dirty="0" err="1"/>
            <a:t>X35</a:t>
          </a:r>
          <a:r>
            <a:rPr lang="es-PE" sz="1600" b="1" dirty="0"/>
            <a:t>=50   C=50*0   =0</a:t>
          </a:r>
        </a:p>
      </dgm:t>
    </dgm:pt>
    <dgm:pt modelId="{97B1F264-BC48-44ED-B72C-5874278CE313}" type="parTrans" cxnId="{324C532C-7D32-4A8B-AD3C-B3A48BE52D27}">
      <dgm:prSet/>
      <dgm:spPr/>
      <dgm:t>
        <a:bodyPr/>
        <a:lstStyle/>
        <a:p>
          <a:endParaRPr lang="es-PE" sz="1600" b="1"/>
        </a:p>
      </dgm:t>
    </dgm:pt>
    <dgm:pt modelId="{7BFEF068-4F7C-429B-A149-EE15E9B476A3}" type="sibTrans" cxnId="{324C532C-7D32-4A8B-AD3C-B3A48BE52D27}">
      <dgm:prSet/>
      <dgm:spPr/>
      <dgm:t>
        <a:bodyPr/>
        <a:lstStyle/>
        <a:p>
          <a:endParaRPr lang="es-PE" sz="1600" b="1"/>
        </a:p>
      </dgm:t>
    </dgm:pt>
    <dgm:pt modelId="{3D51D290-0DD6-4EBC-817A-78E3F750B044}">
      <dgm:prSet custT="1"/>
      <dgm:spPr/>
      <dgm:t>
        <a:bodyPr/>
        <a:lstStyle/>
        <a:p>
          <a:pPr rtl="0"/>
          <a:r>
            <a:rPr lang="es-PE" sz="1600" b="1" dirty="0" err="1"/>
            <a:t>X13</a:t>
          </a:r>
          <a:r>
            <a:rPr lang="es-PE" sz="1600" b="1" dirty="0"/>
            <a:t>=200 C=200*3 =600</a:t>
          </a:r>
        </a:p>
      </dgm:t>
    </dgm:pt>
    <dgm:pt modelId="{0A75DB9F-87D9-4A7D-A3DD-C48AE98CA4F2}" type="parTrans" cxnId="{8D3A83A7-487B-4D93-99E2-39D23969732A}">
      <dgm:prSet/>
      <dgm:spPr/>
      <dgm:t>
        <a:bodyPr/>
        <a:lstStyle/>
        <a:p>
          <a:endParaRPr lang="es-PE" sz="1600" b="1"/>
        </a:p>
      </dgm:t>
    </dgm:pt>
    <dgm:pt modelId="{CC4A0083-CD2D-460E-B418-88D0B43F97C3}" type="sibTrans" cxnId="{8D3A83A7-487B-4D93-99E2-39D23969732A}">
      <dgm:prSet/>
      <dgm:spPr/>
      <dgm:t>
        <a:bodyPr/>
        <a:lstStyle/>
        <a:p>
          <a:endParaRPr lang="es-PE" sz="1600" b="1"/>
        </a:p>
      </dgm:t>
    </dgm:pt>
    <dgm:pt modelId="{C59C0CE4-101C-46CE-BCC4-2B79EC74DC43}">
      <dgm:prSet custT="1"/>
      <dgm:spPr/>
      <dgm:t>
        <a:bodyPr/>
        <a:lstStyle/>
        <a:p>
          <a:pPr rtl="0"/>
          <a:r>
            <a:rPr lang="es-PE" sz="1600" b="1" dirty="0" err="1"/>
            <a:t>X12</a:t>
          </a:r>
          <a:r>
            <a:rPr lang="es-PE" sz="1600" b="1" dirty="0"/>
            <a:t>=100 C=100*4=400</a:t>
          </a:r>
        </a:p>
      </dgm:t>
    </dgm:pt>
    <dgm:pt modelId="{757B647B-7A2D-4A67-AD88-9D8AD6CEC6E0}" type="parTrans" cxnId="{10CB52E7-E456-4F4B-B649-A20D3121E00B}">
      <dgm:prSet/>
      <dgm:spPr/>
      <dgm:t>
        <a:bodyPr/>
        <a:lstStyle/>
        <a:p>
          <a:endParaRPr lang="es-PE" sz="1600" b="1"/>
        </a:p>
      </dgm:t>
    </dgm:pt>
    <dgm:pt modelId="{5CDF2FE2-69BB-4C54-91EF-4CF338B82974}" type="sibTrans" cxnId="{10CB52E7-E456-4F4B-B649-A20D3121E00B}">
      <dgm:prSet/>
      <dgm:spPr/>
      <dgm:t>
        <a:bodyPr/>
        <a:lstStyle/>
        <a:p>
          <a:endParaRPr lang="es-PE" sz="1600" b="1"/>
        </a:p>
      </dgm:t>
    </dgm:pt>
    <dgm:pt modelId="{EC37E4F6-4FEB-401B-A990-5C6B1142B4C5}">
      <dgm:prSet custT="1"/>
      <dgm:spPr/>
      <dgm:t>
        <a:bodyPr/>
        <a:lstStyle/>
        <a:p>
          <a:pPr rtl="0"/>
          <a:r>
            <a:rPr lang="es-PE" sz="1600" b="1" dirty="0" err="1"/>
            <a:t>X21</a:t>
          </a:r>
          <a:r>
            <a:rPr lang="es-PE" sz="1600" b="1" dirty="0"/>
            <a:t>=150 C=150*5=750</a:t>
          </a:r>
        </a:p>
      </dgm:t>
    </dgm:pt>
    <dgm:pt modelId="{867D9EB2-4541-4852-BBFC-17FD1DDF8CDB}" type="parTrans" cxnId="{EC0F2F95-8EAB-41D5-BD59-8A4FC8107BBD}">
      <dgm:prSet/>
      <dgm:spPr/>
      <dgm:t>
        <a:bodyPr/>
        <a:lstStyle/>
        <a:p>
          <a:endParaRPr lang="es-PE" sz="1600" b="1"/>
        </a:p>
      </dgm:t>
    </dgm:pt>
    <dgm:pt modelId="{82A4153C-DDA0-414B-95A5-81E89497E9EB}" type="sibTrans" cxnId="{EC0F2F95-8EAB-41D5-BD59-8A4FC8107BBD}">
      <dgm:prSet/>
      <dgm:spPr/>
      <dgm:t>
        <a:bodyPr/>
        <a:lstStyle/>
        <a:p>
          <a:endParaRPr lang="es-PE" sz="1600" b="1"/>
        </a:p>
      </dgm:t>
    </dgm:pt>
    <dgm:pt modelId="{56B1818F-A60E-42BE-A047-D6C8413BEA56}">
      <dgm:prSet custT="1"/>
      <dgm:spPr/>
      <dgm:t>
        <a:bodyPr/>
        <a:lstStyle/>
        <a:p>
          <a:pPr rtl="0"/>
          <a:r>
            <a:rPr lang="es-PE" sz="1600" b="1" dirty="0" err="1"/>
            <a:t>X24</a:t>
          </a:r>
          <a:r>
            <a:rPr lang="es-PE" sz="1600" b="1" dirty="0"/>
            <a:t>=50   C=50*11=55</a:t>
          </a:r>
        </a:p>
      </dgm:t>
    </dgm:pt>
    <dgm:pt modelId="{B9AA7B9F-C8F1-4B71-82C8-CD46B73EA961}" type="parTrans" cxnId="{AB8323D8-84A7-49CA-B2FC-EA2CCEFC64E6}">
      <dgm:prSet/>
      <dgm:spPr/>
      <dgm:t>
        <a:bodyPr/>
        <a:lstStyle/>
        <a:p>
          <a:endParaRPr lang="es-PE" sz="1600" b="1"/>
        </a:p>
      </dgm:t>
    </dgm:pt>
    <dgm:pt modelId="{6AB73E3E-B497-4B98-B179-CF01B89E5EEE}" type="sibTrans" cxnId="{AB8323D8-84A7-49CA-B2FC-EA2CCEFC64E6}">
      <dgm:prSet/>
      <dgm:spPr/>
      <dgm:t>
        <a:bodyPr/>
        <a:lstStyle/>
        <a:p>
          <a:endParaRPr lang="es-PE" sz="1600" b="1"/>
        </a:p>
      </dgm:t>
    </dgm:pt>
    <dgm:pt modelId="{15D5C1B7-14F4-40C6-A747-42AFD1E8EAEE}">
      <dgm:prSet custT="1"/>
      <dgm:spPr/>
      <dgm:t>
        <a:bodyPr/>
        <a:lstStyle/>
        <a:p>
          <a:pPr rtl="0"/>
          <a:r>
            <a:rPr lang="es-PE" sz="1600" b="1" dirty="0" err="1"/>
            <a:t>X25</a:t>
          </a:r>
          <a:r>
            <a:rPr lang="es-PE" sz="1600" b="1" dirty="0"/>
            <a:t>=200 C=200*13=2600</a:t>
          </a:r>
        </a:p>
      </dgm:t>
    </dgm:pt>
    <dgm:pt modelId="{42C1C715-220C-42B3-AF04-8D3E7E7A3A8E}" type="parTrans" cxnId="{59C1F6B6-FD60-42E8-AE54-AA93422761BD}">
      <dgm:prSet/>
      <dgm:spPr/>
      <dgm:t>
        <a:bodyPr/>
        <a:lstStyle/>
        <a:p>
          <a:endParaRPr lang="es-PE" sz="1600" b="1"/>
        </a:p>
      </dgm:t>
    </dgm:pt>
    <dgm:pt modelId="{AA4D9387-8DD3-4D8D-9637-1E72251351AB}" type="sibTrans" cxnId="{59C1F6B6-FD60-42E8-AE54-AA93422761BD}">
      <dgm:prSet/>
      <dgm:spPr/>
      <dgm:t>
        <a:bodyPr/>
        <a:lstStyle/>
        <a:p>
          <a:endParaRPr lang="es-PE" sz="1600" b="1"/>
        </a:p>
      </dgm:t>
    </dgm:pt>
    <dgm:pt modelId="{7342FF7F-81A1-4DFF-81E1-5D2BD0C428E7}" type="pres">
      <dgm:prSet presAssocID="{A8C0A4D5-C72E-499A-8692-E1A83162102C}" presName="linear" presStyleCnt="0">
        <dgm:presLayoutVars>
          <dgm:animLvl val="lvl"/>
          <dgm:resizeHandles val="exact"/>
        </dgm:presLayoutVars>
      </dgm:prSet>
      <dgm:spPr/>
    </dgm:pt>
    <dgm:pt modelId="{8AF2BD64-16DB-4CFF-ACA0-6A998A6C6D65}" type="pres">
      <dgm:prSet presAssocID="{BCAFD66D-3A30-45FC-B93D-285B6A9C6991}" presName="parentText" presStyleLbl="node1" presStyleIdx="0" presStyleCnt="6">
        <dgm:presLayoutVars>
          <dgm:chMax val="0"/>
          <dgm:bulletEnabled val="1"/>
        </dgm:presLayoutVars>
      </dgm:prSet>
      <dgm:spPr/>
    </dgm:pt>
    <dgm:pt modelId="{E717B6EC-2E1A-4CA4-9658-DFA583D5BA1F}" type="pres">
      <dgm:prSet presAssocID="{7BFEF068-4F7C-429B-A149-EE15E9B476A3}" presName="spacer" presStyleCnt="0"/>
      <dgm:spPr/>
    </dgm:pt>
    <dgm:pt modelId="{D2243664-1AF1-40FC-AA5B-4734F47722C3}" type="pres">
      <dgm:prSet presAssocID="{3D51D290-0DD6-4EBC-817A-78E3F750B044}" presName="parentText" presStyleLbl="node1" presStyleIdx="1" presStyleCnt="6" custLinFactNeighborX="1029">
        <dgm:presLayoutVars>
          <dgm:chMax val="0"/>
          <dgm:bulletEnabled val="1"/>
        </dgm:presLayoutVars>
      </dgm:prSet>
      <dgm:spPr/>
    </dgm:pt>
    <dgm:pt modelId="{A17F04B9-838C-498D-ADDA-2A12FA95E9A2}" type="pres">
      <dgm:prSet presAssocID="{CC4A0083-CD2D-460E-B418-88D0B43F97C3}" presName="spacer" presStyleCnt="0"/>
      <dgm:spPr/>
    </dgm:pt>
    <dgm:pt modelId="{70CC60C6-E337-4192-B38E-C67A02BD80AE}" type="pres">
      <dgm:prSet presAssocID="{C59C0CE4-101C-46CE-BCC4-2B79EC74DC43}" presName="parentText" presStyleLbl="node1" presStyleIdx="2" presStyleCnt="6">
        <dgm:presLayoutVars>
          <dgm:chMax val="0"/>
          <dgm:bulletEnabled val="1"/>
        </dgm:presLayoutVars>
      </dgm:prSet>
      <dgm:spPr/>
    </dgm:pt>
    <dgm:pt modelId="{D7D868B6-42E5-4EC0-9DEA-9D5DC74AAEAC}" type="pres">
      <dgm:prSet presAssocID="{5CDF2FE2-69BB-4C54-91EF-4CF338B82974}" presName="spacer" presStyleCnt="0"/>
      <dgm:spPr/>
    </dgm:pt>
    <dgm:pt modelId="{5E576F98-A0B7-438B-91DA-247A0417784A}" type="pres">
      <dgm:prSet presAssocID="{EC37E4F6-4FEB-401B-A990-5C6B1142B4C5}" presName="parentText" presStyleLbl="node1" presStyleIdx="3" presStyleCnt="6" custLinFactNeighborY="-37731">
        <dgm:presLayoutVars>
          <dgm:chMax val="0"/>
          <dgm:bulletEnabled val="1"/>
        </dgm:presLayoutVars>
      </dgm:prSet>
      <dgm:spPr/>
    </dgm:pt>
    <dgm:pt modelId="{21231D98-5F88-45A9-BD77-16E9231BA93C}" type="pres">
      <dgm:prSet presAssocID="{82A4153C-DDA0-414B-95A5-81E89497E9EB}" presName="spacer" presStyleCnt="0"/>
      <dgm:spPr/>
    </dgm:pt>
    <dgm:pt modelId="{65A6A187-0533-4CF2-A477-D5CB05D82706}" type="pres">
      <dgm:prSet presAssocID="{56B1818F-A60E-42BE-A047-D6C8413BEA56}" presName="parentText" presStyleLbl="node1" presStyleIdx="4" presStyleCnt="6" custLinFactNeighborY="-98388">
        <dgm:presLayoutVars>
          <dgm:chMax val="0"/>
          <dgm:bulletEnabled val="1"/>
        </dgm:presLayoutVars>
      </dgm:prSet>
      <dgm:spPr/>
    </dgm:pt>
    <dgm:pt modelId="{2BAAF28F-88D8-4182-B76C-BC37C23246FE}" type="pres">
      <dgm:prSet presAssocID="{6AB73E3E-B497-4B98-B179-CF01B89E5EEE}" presName="spacer" presStyleCnt="0"/>
      <dgm:spPr/>
    </dgm:pt>
    <dgm:pt modelId="{216E1AEE-8EFA-4041-8212-06521B572029}" type="pres">
      <dgm:prSet presAssocID="{15D5C1B7-14F4-40C6-A747-42AFD1E8EAEE}" presName="parentText" presStyleLbl="node1" presStyleIdx="5" presStyleCnt="6" custLinFactNeighborY="-60657">
        <dgm:presLayoutVars>
          <dgm:chMax val="0"/>
          <dgm:bulletEnabled val="1"/>
        </dgm:presLayoutVars>
      </dgm:prSet>
      <dgm:spPr/>
    </dgm:pt>
  </dgm:ptLst>
  <dgm:cxnLst>
    <dgm:cxn modelId="{F544D324-13B7-464D-B089-5024F521298F}" type="presOf" srcId="{3D51D290-0DD6-4EBC-817A-78E3F750B044}" destId="{D2243664-1AF1-40FC-AA5B-4734F47722C3}" srcOrd="0" destOrd="0" presId="urn:microsoft.com/office/officeart/2005/8/layout/vList2"/>
    <dgm:cxn modelId="{5DD9F42A-A25C-484E-ACCA-A7C311AE85AF}" type="presOf" srcId="{EC37E4F6-4FEB-401B-A990-5C6B1142B4C5}" destId="{5E576F98-A0B7-438B-91DA-247A0417784A}" srcOrd="0" destOrd="0" presId="urn:microsoft.com/office/officeart/2005/8/layout/vList2"/>
    <dgm:cxn modelId="{324C532C-7D32-4A8B-AD3C-B3A48BE52D27}" srcId="{A8C0A4D5-C72E-499A-8692-E1A83162102C}" destId="{BCAFD66D-3A30-45FC-B93D-285B6A9C6991}" srcOrd="0" destOrd="0" parTransId="{97B1F264-BC48-44ED-B72C-5874278CE313}" sibTransId="{7BFEF068-4F7C-429B-A149-EE15E9B476A3}"/>
    <dgm:cxn modelId="{4D848068-2912-4506-9537-84C12AD336BC}" type="presOf" srcId="{BCAFD66D-3A30-45FC-B93D-285B6A9C6991}" destId="{8AF2BD64-16DB-4CFF-ACA0-6A998A6C6D65}" srcOrd="0" destOrd="0" presId="urn:microsoft.com/office/officeart/2005/8/layout/vList2"/>
    <dgm:cxn modelId="{D701B377-2D93-4DF7-B3A7-8E5C2BD1CB00}" type="presOf" srcId="{C59C0CE4-101C-46CE-BCC4-2B79EC74DC43}" destId="{70CC60C6-E337-4192-B38E-C67A02BD80AE}" srcOrd="0" destOrd="0" presId="urn:microsoft.com/office/officeart/2005/8/layout/vList2"/>
    <dgm:cxn modelId="{EC0F2F95-8EAB-41D5-BD59-8A4FC8107BBD}" srcId="{A8C0A4D5-C72E-499A-8692-E1A83162102C}" destId="{EC37E4F6-4FEB-401B-A990-5C6B1142B4C5}" srcOrd="3" destOrd="0" parTransId="{867D9EB2-4541-4852-BBFC-17FD1DDF8CDB}" sibTransId="{82A4153C-DDA0-414B-95A5-81E89497E9EB}"/>
    <dgm:cxn modelId="{090B5999-B536-40A2-A7F9-745349880B95}" type="presOf" srcId="{15D5C1B7-14F4-40C6-A747-42AFD1E8EAEE}" destId="{216E1AEE-8EFA-4041-8212-06521B572029}" srcOrd="0" destOrd="0" presId="urn:microsoft.com/office/officeart/2005/8/layout/vList2"/>
    <dgm:cxn modelId="{8D3A83A7-487B-4D93-99E2-39D23969732A}" srcId="{A8C0A4D5-C72E-499A-8692-E1A83162102C}" destId="{3D51D290-0DD6-4EBC-817A-78E3F750B044}" srcOrd="1" destOrd="0" parTransId="{0A75DB9F-87D9-4A7D-A3DD-C48AE98CA4F2}" sibTransId="{CC4A0083-CD2D-460E-B418-88D0B43F97C3}"/>
    <dgm:cxn modelId="{59C1F6B6-FD60-42E8-AE54-AA93422761BD}" srcId="{A8C0A4D5-C72E-499A-8692-E1A83162102C}" destId="{15D5C1B7-14F4-40C6-A747-42AFD1E8EAEE}" srcOrd="5" destOrd="0" parTransId="{42C1C715-220C-42B3-AF04-8D3E7E7A3A8E}" sibTransId="{AA4D9387-8DD3-4D8D-9637-1E72251351AB}"/>
    <dgm:cxn modelId="{AB8323D8-84A7-49CA-B2FC-EA2CCEFC64E6}" srcId="{A8C0A4D5-C72E-499A-8692-E1A83162102C}" destId="{56B1818F-A60E-42BE-A047-D6C8413BEA56}" srcOrd="4" destOrd="0" parTransId="{B9AA7B9F-C8F1-4B71-82C8-CD46B73EA961}" sibTransId="{6AB73E3E-B497-4B98-B179-CF01B89E5EEE}"/>
    <dgm:cxn modelId="{ED2361DC-F282-4E3D-9E10-CD9FE0C73380}" type="presOf" srcId="{A8C0A4D5-C72E-499A-8692-E1A83162102C}" destId="{7342FF7F-81A1-4DFF-81E1-5D2BD0C428E7}" srcOrd="0" destOrd="0" presId="urn:microsoft.com/office/officeart/2005/8/layout/vList2"/>
    <dgm:cxn modelId="{10CB52E7-E456-4F4B-B649-A20D3121E00B}" srcId="{A8C0A4D5-C72E-499A-8692-E1A83162102C}" destId="{C59C0CE4-101C-46CE-BCC4-2B79EC74DC43}" srcOrd="2" destOrd="0" parTransId="{757B647B-7A2D-4A67-AD88-9D8AD6CEC6E0}" sibTransId="{5CDF2FE2-69BB-4C54-91EF-4CF338B82974}"/>
    <dgm:cxn modelId="{2C8FD1EA-F0EA-4F2F-ACE7-A61E27A43A1F}" type="presOf" srcId="{56B1818F-A60E-42BE-A047-D6C8413BEA56}" destId="{65A6A187-0533-4CF2-A477-D5CB05D82706}" srcOrd="0" destOrd="0" presId="urn:microsoft.com/office/officeart/2005/8/layout/vList2"/>
    <dgm:cxn modelId="{36110705-174C-405B-9843-09A808EA5019}" type="presParOf" srcId="{7342FF7F-81A1-4DFF-81E1-5D2BD0C428E7}" destId="{8AF2BD64-16DB-4CFF-ACA0-6A998A6C6D65}" srcOrd="0" destOrd="0" presId="urn:microsoft.com/office/officeart/2005/8/layout/vList2"/>
    <dgm:cxn modelId="{CA6ACA14-0659-415B-9AFF-AB5F6004B1F3}" type="presParOf" srcId="{7342FF7F-81A1-4DFF-81E1-5D2BD0C428E7}" destId="{E717B6EC-2E1A-4CA4-9658-DFA583D5BA1F}" srcOrd="1" destOrd="0" presId="urn:microsoft.com/office/officeart/2005/8/layout/vList2"/>
    <dgm:cxn modelId="{E9C97AFE-EA4A-489E-B1D8-45F40B7F7399}" type="presParOf" srcId="{7342FF7F-81A1-4DFF-81E1-5D2BD0C428E7}" destId="{D2243664-1AF1-40FC-AA5B-4734F47722C3}" srcOrd="2" destOrd="0" presId="urn:microsoft.com/office/officeart/2005/8/layout/vList2"/>
    <dgm:cxn modelId="{E97EE53F-3B6C-4B74-9C8F-2E16BFDDEA52}" type="presParOf" srcId="{7342FF7F-81A1-4DFF-81E1-5D2BD0C428E7}" destId="{A17F04B9-838C-498D-ADDA-2A12FA95E9A2}" srcOrd="3" destOrd="0" presId="urn:microsoft.com/office/officeart/2005/8/layout/vList2"/>
    <dgm:cxn modelId="{A5CF6C68-8D8F-485A-86C7-04F65417A64E}" type="presParOf" srcId="{7342FF7F-81A1-4DFF-81E1-5D2BD0C428E7}" destId="{70CC60C6-E337-4192-B38E-C67A02BD80AE}" srcOrd="4" destOrd="0" presId="urn:microsoft.com/office/officeart/2005/8/layout/vList2"/>
    <dgm:cxn modelId="{BD1E6496-47F0-4B4A-A4AC-0810B3A04860}" type="presParOf" srcId="{7342FF7F-81A1-4DFF-81E1-5D2BD0C428E7}" destId="{D7D868B6-42E5-4EC0-9DEA-9D5DC74AAEAC}" srcOrd="5" destOrd="0" presId="urn:microsoft.com/office/officeart/2005/8/layout/vList2"/>
    <dgm:cxn modelId="{A151F470-96C6-433E-9598-1D692B9BB347}" type="presParOf" srcId="{7342FF7F-81A1-4DFF-81E1-5D2BD0C428E7}" destId="{5E576F98-A0B7-438B-91DA-247A0417784A}" srcOrd="6" destOrd="0" presId="urn:microsoft.com/office/officeart/2005/8/layout/vList2"/>
    <dgm:cxn modelId="{A774EA37-D463-4C97-BD0A-A500342310DF}" type="presParOf" srcId="{7342FF7F-81A1-4DFF-81E1-5D2BD0C428E7}" destId="{21231D98-5F88-45A9-BD77-16E9231BA93C}" srcOrd="7" destOrd="0" presId="urn:microsoft.com/office/officeart/2005/8/layout/vList2"/>
    <dgm:cxn modelId="{330EB7D5-292B-4AAA-B7A7-CCA5B94ED778}" type="presParOf" srcId="{7342FF7F-81A1-4DFF-81E1-5D2BD0C428E7}" destId="{65A6A187-0533-4CF2-A477-D5CB05D82706}" srcOrd="8" destOrd="0" presId="urn:microsoft.com/office/officeart/2005/8/layout/vList2"/>
    <dgm:cxn modelId="{1DB50F6A-4BAC-40D6-B8A2-D1F62EAA1935}" type="presParOf" srcId="{7342FF7F-81A1-4DFF-81E1-5D2BD0C428E7}" destId="{2BAAF28F-88D8-4182-B76C-BC37C23246FE}" srcOrd="9" destOrd="0" presId="urn:microsoft.com/office/officeart/2005/8/layout/vList2"/>
    <dgm:cxn modelId="{935E4A07-D572-45FF-AA17-356B9EB67DF8}" type="presParOf" srcId="{7342FF7F-81A1-4DFF-81E1-5D2BD0C428E7}" destId="{216E1AEE-8EFA-4041-8212-06521B572029}"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C4898FFB-7F04-4744-8CA0-DD1F2F14811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1D91AE39-6B44-4419-AFE0-AFD1E3108F69}">
      <dgm:prSet custT="1"/>
      <dgm:spPr/>
      <dgm:t>
        <a:bodyPr/>
        <a:lstStyle/>
        <a:p>
          <a:pPr algn="just" rtl="0"/>
          <a:r>
            <a:rPr lang="es-PE" sz="2000" b="0" dirty="0"/>
            <a:t>Hay tres refinerías, con capacidades diarias de 6, 5 y 8 millones de galones, respectivamente, que abastecen a tres áreas de distribución cuyas demandas diarias son de 4, 8 y 7 millones de galones, respectivamente. La gasolina se transporta por una red de oleoductos de las tres áreas de distribución. El costo de transporte es 10 centavos por 1000 galones por milla de oleoducto. En la tabla se ven las distancias entre las refinerías y las áreas de distribución. La refinería 1 no está conectada con el área de distribución 3. Se pide: </a:t>
          </a:r>
          <a:r>
            <a:rPr lang="es-PE" sz="2000" b="1" dirty="0"/>
            <a:t>Determinar la mejor distribución</a:t>
          </a:r>
          <a:r>
            <a:rPr lang="es-PE" sz="2000" b="0" dirty="0"/>
            <a:t>. </a:t>
          </a:r>
          <a:r>
            <a:rPr lang="es-PE" sz="2000" b="1" dirty="0"/>
            <a:t>Use el método de </a:t>
          </a:r>
          <a:r>
            <a:rPr lang="es-PE" sz="2000" b="1" dirty="0" err="1"/>
            <a:t>Vogel</a:t>
          </a:r>
          <a:r>
            <a:rPr lang="es-PE" sz="2000" b="1" dirty="0"/>
            <a:t>.</a:t>
          </a:r>
          <a:endParaRPr lang="es-PE" sz="2000" dirty="0"/>
        </a:p>
      </dgm:t>
    </dgm:pt>
    <dgm:pt modelId="{1350760E-C963-4B29-B446-48ED331CE8A0}" type="parTrans" cxnId="{10219BFA-3F77-4CDD-8578-FEFF9F09D2DB}">
      <dgm:prSet/>
      <dgm:spPr/>
      <dgm:t>
        <a:bodyPr/>
        <a:lstStyle/>
        <a:p>
          <a:pPr algn="just"/>
          <a:endParaRPr lang="es-PE"/>
        </a:p>
      </dgm:t>
    </dgm:pt>
    <dgm:pt modelId="{197695C2-7FA4-401C-9E81-FA80AB551B36}" type="sibTrans" cxnId="{10219BFA-3F77-4CDD-8578-FEFF9F09D2DB}">
      <dgm:prSet/>
      <dgm:spPr/>
      <dgm:t>
        <a:bodyPr/>
        <a:lstStyle/>
        <a:p>
          <a:pPr algn="just"/>
          <a:endParaRPr lang="es-PE"/>
        </a:p>
      </dgm:t>
    </dgm:pt>
    <dgm:pt modelId="{1F6C2219-A9AC-4F33-9E66-27540D174405}" type="pres">
      <dgm:prSet presAssocID="{C4898FFB-7F04-4744-8CA0-DD1F2F148115}" presName="linear" presStyleCnt="0">
        <dgm:presLayoutVars>
          <dgm:animLvl val="lvl"/>
          <dgm:resizeHandles val="exact"/>
        </dgm:presLayoutVars>
      </dgm:prSet>
      <dgm:spPr/>
    </dgm:pt>
    <dgm:pt modelId="{5076FAB9-D5A9-428A-8C4F-D33DF5A6B008}" type="pres">
      <dgm:prSet presAssocID="{1D91AE39-6B44-4419-AFE0-AFD1E3108F69}" presName="parentText" presStyleLbl="node1" presStyleIdx="0" presStyleCnt="1" custScaleY="875292">
        <dgm:presLayoutVars>
          <dgm:chMax val="0"/>
          <dgm:bulletEnabled val="1"/>
        </dgm:presLayoutVars>
      </dgm:prSet>
      <dgm:spPr/>
    </dgm:pt>
  </dgm:ptLst>
  <dgm:cxnLst>
    <dgm:cxn modelId="{BE064249-9DA2-417C-A4F8-E0B487F06A79}" type="presOf" srcId="{1D91AE39-6B44-4419-AFE0-AFD1E3108F69}" destId="{5076FAB9-D5A9-428A-8C4F-D33DF5A6B008}" srcOrd="0" destOrd="0" presId="urn:microsoft.com/office/officeart/2005/8/layout/vList2"/>
    <dgm:cxn modelId="{4E1CBBBD-1853-4C9E-B51A-468FEA36D674}" type="presOf" srcId="{C4898FFB-7F04-4744-8CA0-DD1F2F148115}" destId="{1F6C2219-A9AC-4F33-9E66-27540D174405}" srcOrd="0" destOrd="0" presId="urn:microsoft.com/office/officeart/2005/8/layout/vList2"/>
    <dgm:cxn modelId="{10219BFA-3F77-4CDD-8578-FEFF9F09D2DB}" srcId="{C4898FFB-7F04-4744-8CA0-DD1F2F148115}" destId="{1D91AE39-6B44-4419-AFE0-AFD1E3108F69}" srcOrd="0" destOrd="0" parTransId="{1350760E-C963-4B29-B446-48ED331CE8A0}" sibTransId="{197695C2-7FA4-401C-9E81-FA80AB551B36}"/>
    <dgm:cxn modelId="{1C044DC4-E5DC-4002-967B-8ECF40391457}" type="presParOf" srcId="{1F6C2219-A9AC-4F33-9E66-27540D174405}" destId="{5076FAB9-D5A9-428A-8C4F-D33DF5A6B008}"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BB96F03B-CF3D-4837-9CEF-E34103EF189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845637F2-5E9C-4AB4-839F-F7F18B99082F}">
      <dgm:prSet custT="1"/>
      <dgm:spPr/>
      <dgm:t>
        <a:bodyPr/>
        <a:lstStyle/>
        <a:p>
          <a:pPr rtl="0"/>
          <a:r>
            <a:rPr lang="es-PE" sz="2000" b="1" dirty="0" err="1"/>
            <a:t>X22</a:t>
          </a:r>
          <a:r>
            <a:rPr lang="es-PE" sz="2000" b="1" dirty="0"/>
            <a:t>=5       C=5*100=500		</a:t>
          </a:r>
          <a:endParaRPr lang="es-PE" sz="2000" dirty="0"/>
        </a:p>
      </dgm:t>
    </dgm:pt>
    <dgm:pt modelId="{A13D20AE-AD8C-4CF3-AE27-6AA5F3ADC540}" type="parTrans" cxnId="{0B56ABE5-4CAF-4318-A569-E9C010E67514}">
      <dgm:prSet/>
      <dgm:spPr/>
      <dgm:t>
        <a:bodyPr/>
        <a:lstStyle/>
        <a:p>
          <a:endParaRPr lang="es-PE" sz="2000"/>
        </a:p>
      </dgm:t>
    </dgm:pt>
    <dgm:pt modelId="{A6FCBCF2-3CD1-4F8B-AD6A-80943186AD19}" type="sibTrans" cxnId="{0B56ABE5-4CAF-4318-A569-E9C010E67514}">
      <dgm:prSet/>
      <dgm:spPr/>
      <dgm:t>
        <a:bodyPr/>
        <a:lstStyle/>
        <a:p>
          <a:endParaRPr lang="es-PE" sz="2000"/>
        </a:p>
      </dgm:t>
    </dgm:pt>
    <dgm:pt modelId="{C39CBCEF-0778-47BC-85A5-0C7E9155A079}" type="pres">
      <dgm:prSet presAssocID="{BB96F03B-CF3D-4837-9CEF-E34103EF1895}" presName="linear" presStyleCnt="0">
        <dgm:presLayoutVars>
          <dgm:animLvl val="lvl"/>
          <dgm:resizeHandles val="exact"/>
        </dgm:presLayoutVars>
      </dgm:prSet>
      <dgm:spPr/>
    </dgm:pt>
    <dgm:pt modelId="{3A69D621-1D4A-4E7D-831A-21F418F09C15}" type="pres">
      <dgm:prSet presAssocID="{845637F2-5E9C-4AB4-839F-F7F18B99082F}" presName="parentText" presStyleLbl="node1" presStyleIdx="0" presStyleCnt="1">
        <dgm:presLayoutVars>
          <dgm:chMax val="0"/>
          <dgm:bulletEnabled val="1"/>
        </dgm:presLayoutVars>
      </dgm:prSet>
      <dgm:spPr/>
    </dgm:pt>
  </dgm:ptLst>
  <dgm:cxnLst>
    <dgm:cxn modelId="{F6A63F3D-4A0E-4EB7-9199-D8BC7C4398A1}" type="presOf" srcId="{BB96F03B-CF3D-4837-9CEF-E34103EF1895}" destId="{C39CBCEF-0778-47BC-85A5-0C7E9155A079}" srcOrd="0" destOrd="0" presId="urn:microsoft.com/office/officeart/2005/8/layout/vList2"/>
    <dgm:cxn modelId="{19ED60A0-4E0F-4C4D-A4BD-17060F94AABA}" type="presOf" srcId="{845637F2-5E9C-4AB4-839F-F7F18B99082F}" destId="{3A69D621-1D4A-4E7D-831A-21F418F09C15}" srcOrd="0" destOrd="0" presId="urn:microsoft.com/office/officeart/2005/8/layout/vList2"/>
    <dgm:cxn modelId="{0B56ABE5-4CAF-4318-A569-E9C010E67514}" srcId="{BB96F03B-CF3D-4837-9CEF-E34103EF1895}" destId="{845637F2-5E9C-4AB4-839F-F7F18B99082F}" srcOrd="0" destOrd="0" parTransId="{A13D20AE-AD8C-4CF3-AE27-6AA5F3ADC540}" sibTransId="{A6FCBCF2-3CD1-4F8B-AD6A-80943186AD19}"/>
    <dgm:cxn modelId="{A2E5ADF9-D3B2-416A-9E47-C13FE24CEA8D}" type="presParOf" srcId="{C39CBCEF-0778-47BC-85A5-0C7E9155A079}" destId="{3A69D621-1D4A-4E7D-831A-21F418F09C1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89DA2B12-6E6A-45A9-A017-2BBD4F5A3E8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s-PE"/>
        </a:p>
      </dgm:t>
    </dgm:pt>
    <dgm:pt modelId="{88D65CE5-DB21-4F89-912F-71D949E86507}">
      <dgm:prSet/>
      <dgm:spPr/>
      <dgm:t>
        <a:bodyPr/>
        <a:lstStyle/>
        <a:p>
          <a:pPr rtl="0"/>
          <a:r>
            <a:rPr lang="es-PE" b="1"/>
            <a:t>X22=5 C=5*100=500</a:t>
          </a:r>
          <a:endParaRPr lang="es-PE"/>
        </a:p>
      </dgm:t>
    </dgm:pt>
    <dgm:pt modelId="{F347E07B-2BD1-4878-975D-8FAC55FFAF43}" type="parTrans" cxnId="{ECCF4927-4DF6-418A-B87A-AEA5D7CDA10B}">
      <dgm:prSet/>
      <dgm:spPr/>
      <dgm:t>
        <a:bodyPr/>
        <a:lstStyle/>
        <a:p>
          <a:endParaRPr lang="es-PE"/>
        </a:p>
      </dgm:t>
    </dgm:pt>
    <dgm:pt modelId="{A66960A0-477C-4B4E-ABA2-D4C076CA88E4}" type="sibTrans" cxnId="{ECCF4927-4DF6-418A-B87A-AEA5D7CDA10B}">
      <dgm:prSet/>
      <dgm:spPr/>
      <dgm:t>
        <a:bodyPr/>
        <a:lstStyle/>
        <a:p>
          <a:endParaRPr lang="es-PE"/>
        </a:p>
      </dgm:t>
    </dgm:pt>
    <dgm:pt modelId="{163346E8-39E2-4B9D-873F-A9BC4A375D4A}">
      <dgm:prSet/>
      <dgm:spPr/>
      <dgm:t>
        <a:bodyPr/>
        <a:lstStyle/>
        <a:p>
          <a:pPr rtl="0"/>
          <a:r>
            <a:rPr lang="es-PE" b="1"/>
            <a:t>X33=7 C=7*120=840		</a:t>
          </a:r>
          <a:endParaRPr lang="es-PE"/>
        </a:p>
      </dgm:t>
    </dgm:pt>
    <dgm:pt modelId="{207AA479-16CE-43AF-8FC7-81F9DC145E29}" type="parTrans" cxnId="{27961938-7EA4-4326-BDD5-AE440C070F58}">
      <dgm:prSet/>
      <dgm:spPr/>
      <dgm:t>
        <a:bodyPr/>
        <a:lstStyle/>
        <a:p>
          <a:endParaRPr lang="es-PE"/>
        </a:p>
      </dgm:t>
    </dgm:pt>
    <dgm:pt modelId="{61155CFD-F438-488C-89BF-5457FB4C3D2C}" type="sibTrans" cxnId="{27961938-7EA4-4326-BDD5-AE440C070F58}">
      <dgm:prSet/>
      <dgm:spPr/>
      <dgm:t>
        <a:bodyPr/>
        <a:lstStyle/>
        <a:p>
          <a:endParaRPr lang="es-PE"/>
        </a:p>
      </dgm:t>
    </dgm:pt>
    <dgm:pt modelId="{EE29AEE8-CA5B-44EB-B63C-DE49EA40CAF8}" type="pres">
      <dgm:prSet presAssocID="{89DA2B12-6E6A-45A9-A017-2BBD4F5A3E88}" presName="linear" presStyleCnt="0">
        <dgm:presLayoutVars>
          <dgm:animLvl val="lvl"/>
          <dgm:resizeHandles val="exact"/>
        </dgm:presLayoutVars>
      </dgm:prSet>
      <dgm:spPr/>
    </dgm:pt>
    <dgm:pt modelId="{CCC6A0A2-0D7E-4248-A258-BF04ECA4054C}" type="pres">
      <dgm:prSet presAssocID="{88D65CE5-DB21-4F89-912F-71D949E86507}" presName="parentText" presStyleLbl="node1" presStyleIdx="0" presStyleCnt="2">
        <dgm:presLayoutVars>
          <dgm:chMax val="0"/>
          <dgm:bulletEnabled val="1"/>
        </dgm:presLayoutVars>
      </dgm:prSet>
      <dgm:spPr/>
    </dgm:pt>
    <dgm:pt modelId="{2B4EF68A-9310-4B6B-8021-6D2DD958A4A5}" type="pres">
      <dgm:prSet presAssocID="{A66960A0-477C-4B4E-ABA2-D4C076CA88E4}" presName="spacer" presStyleCnt="0"/>
      <dgm:spPr/>
    </dgm:pt>
    <dgm:pt modelId="{4990BBD3-2243-458D-83C2-C6843E591A41}" type="pres">
      <dgm:prSet presAssocID="{163346E8-39E2-4B9D-873F-A9BC4A375D4A}" presName="parentText" presStyleLbl="node1" presStyleIdx="1" presStyleCnt="2">
        <dgm:presLayoutVars>
          <dgm:chMax val="0"/>
          <dgm:bulletEnabled val="1"/>
        </dgm:presLayoutVars>
      </dgm:prSet>
      <dgm:spPr/>
    </dgm:pt>
  </dgm:ptLst>
  <dgm:cxnLst>
    <dgm:cxn modelId="{ECCF4927-4DF6-418A-B87A-AEA5D7CDA10B}" srcId="{89DA2B12-6E6A-45A9-A017-2BBD4F5A3E88}" destId="{88D65CE5-DB21-4F89-912F-71D949E86507}" srcOrd="0" destOrd="0" parTransId="{F347E07B-2BD1-4878-975D-8FAC55FFAF43}" sibTransId="{A66960A0-477C-4B4E-ABA2-D4C076CA88E4}"/>
    <dgm:cxn modelId="{27961938-7EA4-4326-BDD5-AE440C070F58}" srcId="{89DA2B12-6E6A-45A9-A017-2BBD4F5A3E88}" destId="{163346E8-39E2-4B9D-873F-A9BC4A375D4A}" srcOrd="1" destOrd="0" parTransId="{207AA479-16CE-43AF-8FC7-81F9DC145E29}" sibTransId="{61155CFD-F438-488C-89BF-5457FB4C3D2C}"/>
    <dgm:cxn modelId="{ED3BD15E-D2E1-4FC8-9A6A-235CC4421173}" type="presOf" srcId="{88D65CE5-DB21-4F89-912F-71D949E86507}" destId="{CCC6A0A2-0D7E-4248-A258-BF04ECA4054C}" srcOrd="0" destOrd="0" presId="urn:microsoft.com/office/officeart/2005/8/layout/vList2"/>
    <dgm:cxn modelId="{C5C363A2-D3ED-4BC5-8EE9-6F6EA44A1747}" type="presOf" srcId="{89DA2B12-6E6A-45A9-A017-2BBD4F5A3E88}" destId="{EE29AEE8-CA5B-44EB-B63C-DE49EA40CAF8}" srcOrd="0" destOrd="0" presId="urn:microsoft.com/office/officeart/2005/8/layout/vList2"/>
    <dgm:cxn modelId="{FD2CB6F0-12CF-4AE7-8836-2A2597169E79}" type="presOf" srcId="{163346E8-39E2-4B9D-873F-A9BC4A375D4A}" destId="{4990BBD3-2243-458D-83C2-C6843E591A41}" srcOrd="0" destOrd="0" presId="urn:microsoft.com/office/officeart/2005/8/layout/vList2"/>
    <dgm:cxn modelId="{F2BA1C25-53CF-4CBE-A635-DFCE41BBBC98}" type="presParOf" srcId="{EE29AEE8-CA5B-44EB-B63C-DE49EA40CAF8}" destId="{CCC6A0A2-0D7E-4248-A258-BF04ECA4054C}" srcOrd="0" destOrd="0" presId="urn:microsoft.com/office/officeart/2005/8/layout/vList2"/>
    <dgm:cxn modelId="{81C57D57-D900-4900-A328-692A3CE1FB6E}" type="presParOf" srcId="{EE29AEE8-CA5B-44EB-B63C-DE49EA40CAF8}" destId="{2B4EF68A-9310-4B6B-8021-6D2DD958A4A5}" srcOrd="1" destOrd="0" presId="urn:microsoft.com/office/officeart/2005/8/layout/vList2"/>
    <dgm:cxn modelId="{EA2A2ADF-EEE3-4382-A0CA-9A0A71D97E8F}" type="presParOf" srcId="{EE29AEE8-CA5B-44EB-B63C-DE49EA40CAF8}" destId="{4990BBD3-2243-458D-83C2-C6843E591A41}"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3FF3EF13-F889-4500-B681-3FCC7A86D32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C9DAFE3C-EB07-4304-82B5-5AED4E38D9B2}">
      <dgm:prSet custT="1"/>
      <dgm:spPr/>
      <dgm:t>
        <a:bodyPr/>
        <a:lstStyle/>
        <a:p>
          <a:pPr algn="just"/>
          <a:r>
            <a:rPr lang="es-PE" sz="2000" b="0" dirty="0"/>
            <a:t>COSAPI DATA, tiene siete consultores nacionales de sistemas contables, uno de los cuales residen en Trujillo, dos en Arequipa y cuatro en Lima. Iquitos ha solicitado tres consultores durante una semana a una tarifa de $800, Madre de Dios ha solicitado dos consultores durante una semana a una tarifa de $600 y Piura ha solicitado un consultor durante una semana a una tarifa de $700. Los gastos por consultor son de $160 en Iquitos, $180 en Madre de Dios y $220 en Piura. La siguiente tabla muestra las tarifas de viaje en $ para enviar por avión a los consultores. Resuelva utilizando el Método de Vogel.</a:t>
          </a:r>
        </a:p>
      </dgm:t>
    </dgm:pt>
    <dgm:pt modelId="{AA953900-D5C3-4B47-A90A-FBF347F10A06}" type="parTrans" cxnId="{5C7BECDB-E7C1-43E6-9D03-43EE0158861C}">
      <dgm:prSet/>
      <dgm:spPr/>
      <dgm:t>
        <a:bodyPr/>
        <a:lstStyle/>
        <a:p>
          <a:endParaRPr lang="es-PE" sz="2000" b="0"/>
        </a:p>
      </dgm:t>
    </dgm:pt>
    <dgm:pt modelId="{C30F6C3D-3B8A-4DDD-9721-F1B3D176E723}" type="sibTrans" cxnId="{5C7BECDB-E7C1-43E6-9D03-43EE0158861C}">
      <dgm:prSet/>
      <dgm:spPr/>
      <dgm:t>
        <a:bodyPr/>
        <a:lstStyle/>
        <a:p>
          <a:endParaRPr lang="es-PE" sz="2000" b="0"/>
        </a:p>
      </dgm:t>
    </dgm:pt>
    <dgm:pt modelId="{AA8BAB3F-F01E-4711-8DA4-FCD84FD8B99B}" type="pres">
      <dgm:prSet presAssocID="{3FF3EF13-F889-4500-B681-3FCC7A86D327}" presName="linear" presStyleCnt="0">
        <dgm:presLayoutVars>
          <dgm:animLvl val="lvl"/>
          <dgm:resizeHandles val="exact"/>
        </dgm:presLayoutVars>
      </dgm:prSet>
      <dgm:spPr/>
    </dgm:pt>
    <dgm:pt modelId="{8CAD0071-8373-4251-85FA-06FB9B063D6A}" type="pres">
      <dgm:prSet presAssocID="{C9DAFE3C-EB07-4304-82B5-5AED4E38D9B2}" presName="parentText" presStyleLbl="node1" presStyleIdx="0" presStyleCnt="1" custScaleY="87209" custLinFactNeighborX="-103">
        <dgm:presLayoutVars>
          <dgm:chMax val="0"/>
          <dgm:bulletEnabled val="1"/>
        </dgm:presLayoutVars>
      </dgm:prSet>
      <dgm:spPr/>
    </dgm:pt>
  </dgm:ptLst>
  <dgm:cxnLst>
    <dgm:cxn modelId="{B6E761B5-E484-48A0-916C-959DFBC0C127}" type="presOf" srcId="{3FF3EF13-F889-4500-B681-3FCC7A86D327}" destId="{AA8BAB3F-F01E-4711-8DA4-FCD84FD8B99B}" srcOrd="0" destOrd="0" presId="urn:microsoft.com/office/officeart/2005/8/layout/vList2"/>
    <dgm:cxn modelId="{F0EAC7CF-8368-46AF-A720-F344A837DB1C}" type="presOf" srcId="{C9DAFE3C-EB07-4304-82B5-5AED4E38D9B2}" destId="{8CAD0071-8373-4251-85FA-06FB9B063D6A}" srcOrd="0" destOrd="0" presId="urn:microsoft.com/office/officeart/2005/8/layout/vList2"/>
    <dgm:cxn modelId="{5C7BECDB-E7C1-43E6-9D03-43EE0158861C}" srcId="{3FF3EF13-F889-4500-B681-3FCC7A86D327}" destId="{C9DAFE3C-EB07-4304-82B5-5AED4E38D9B2}" srcOrd="0" destOrd="0" parTransId="{AA953900-D5C3-4B47-A90A-FBF347F10A06}" sibTransId="{C30F6C3D-3B8A-4DDD-9721-F1B3D176E723}"/>
    <dgm:cxn modelId="{1AEBDA63-5998-44F2-9C7E-9D72F2B4E8A9}" type="presParOf" srcId="{AA8BAB3F-F01E-4711-8DA4-FCD84FD8B99B}" destId="{8CAD0071-8373-4251-85FA-06FB9B063D6A}"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36D257-274E-4CCF-87CC-B791CF35B8BE}">
      <dsp:nvSpPr>
        <dsp:cNvPr id="0" name=""/>
        <dsp:cNvSpPr/>
      </dsp:nvSpPr>
      <dsp:spPr>
        <a:xfrm>
          <a:off x="0" y="2965"/>
          <a:ext cx="5852986" cy="244155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rtl="0">
            <a:lnSpc>
              <a:spcPct val="90000"/>
            </a:lnSpc>
            <a:spcBef>
              <a:spcPct val="0"/>
            </a:spcBef>
            <a:spcAft>
              <a:spcPct val="35000"/>
            </a:spcAft>
            <a:buNone/>
          </a:pPr>
          <a:r>
            <a:rPr lang="es-PE" sz="2000" b="0" kern="1200" noProof="0" dirty="0"/>
            <a:t>Florida Citrus procesa jugo de naranja y lo transforma en concentrado congelado en tres plantas localizadas en Chosica, Vitarte y Comas. De cualquiera de los dos huertos ubicados cerca de Huaral y Cañete se pueden enviar libras de naranja hacia cualquier planta. el huerto que está cerca de Huaral tiene 20000 libras y el huerto que está cerca a Cañete tiene 12000 libras. </a:t>
          </a:r>
          <a:endParaRPr lang="es-PE" sz="2000" kern="1200" noProof="0" dirty="0"/>
        </a:p>
      </dsp:txBody>
      <dsp:txXfrm>
        <a:off x="119187" y="122152"/>
        <a:ext cx="5614612" cy="2203182"/>
      </dsp:txXfrm>
    </dsp:sp>
    <dsp:sp modelId="{096A12EE-DF6A-43F4-8564-6B59492D4D37}">
      <dsp:nvSpPr>
        <dsp:cNvPr id="0" name=""/>
        <dsp:cNvSpPr/>
      </dsp:nvSpPr>
      <dsp:spPr>
        <a:xfrm>
          <a:off x="0" y="2459877"/>
          <a:ext cx="5852986" cy="286884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rtl="0">
            <a:lnSpc>
              <a:spcPct val="90000"/>
            </a:lnSpc>
            <a:spcBef>
              <a:spcPct val="0"/>
            </a:spcBef>
            <a:spcAft>
              <a:spcPct val="35000"/>
            </a:spcAft>
            <a:buNone/>
          </a:pPr>
          <a:r>
            <a:rPr lang="es-PE" sz="2000" b="0" kern="1200" noProof="0" dirty="0"/>
            <a:t>La planta de Chosica requiere al menos 8000 libras para cumplir su cuota de producción. Las plantas de Vitarte y Comas requieren cada una al menos 11000 libras. Dado el costo de transporte y el precio de venta del concentrado, el objetivo, sujeto a ciertas restricciones de oferta y demanda, es determinar cómo transportar estas naranjas desde de los dos huertos a las tres plantas procesadoras para maximizar la ganancia. Desarrollar y resolver el modelo matemático.</a:t>
          </a:r>
          <a:endParaRPr lang="es-PE" sz="2000" kern="1200" noProof="0" dirty="0"/>
        </a:p>
      </dsp:txBody>
      <dsp:txXfrm>
        <a:off x="140045" y="2599922"/>
        <a:ext cx="5572896" cy="25887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DA69E6-FF44-410D-9485-5A5830DF4BE4}">
      <dsp:nvSpPr>
        <dsp:cNvPr id="0" name=""/>
        <dsp:cNvSpPr/>
      </dsp:nvSpPr>
      <dsp:spPr>
        <a:xfrm>
          <a:off x="0" y="16267"/>
          <a:ext cx="5755571" cy="26535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rtl="0">
            <a:lnSpc>
              <a:spcPct val="90000"/>
            </a:lnSpc>
            <a:spcBef>
              <a:spcPct val="0"/>
            </a:spcBef>
            <a:spcAft>
              <a:spcPct val="35000"/>
            </a:spcAft>
            <a:buNone/>
          </a:pPr>
          <a:r>
            <a:rPr lang="es-PE" sz="2400" b="0" kern="1200" noProof="0" dirty="0">
              <a:latin typeface="Arial Narrow" panose="020B0606020202030204" pitchFamily="34" charset="0"/>
            </a:rPr>
            <a:t>La empresa “</a:t>
          </a:r>
          <a:r>
            <a:rPr lang="es-PE" sz="2400" b="0" kern="1200" noProof="0" dirty="0" err="1">
              <a:latin typeface="Arial Narrow" panose="020B0606020202030204" pitchFamily="34" charset="0"/>
            </a:rPr>
            <a:t>C.N</a:t>
          </a:r>
          <a:r>
            <a:rPr lang="es-PE" sz="2400" b="0" kern="1200" noProof="0" dirty="0">
              <a:latin typeface="Arial Narrow" panose="020B0606020202030204" pitchFamily="34" charset="0"/>
            </a:rPr>
            <a:t>.” elabora una cerveza que se distribuye a nivel nacional a partir de dos fábricas, una  en el norte  y la otra en el sur del país.  La cerveza se envía a cuatro mayoristas  que se encargan de la distribución, por lo que la empresa se ocupa sólo de la distribución a los mayoristas. </a:t>
          </a:r>
          <a:endParaRPr lang="es-PE" sz="2400" kern="1200" noProof="0" dirty="0">
            <a:latin typeface="Arial Narrow" panose="020B0606020202030204" pitchFamily="34" charset="0"/>
          </a:endParaRPr>
        </a:p>
      </dsp:txBody>
      <dsp:txXfrm>
        <a:off x="129536" y="145803"/>
        <a:ext cx="5496499" cy="2394488"/>
      </dsp:txXfrm>
    </dsp:sp>
    <dsp:sp modelId="{0BCAEB8F-4F7E-46E3-9AB1-2ABA485431A7}">
      <dsp:nvSpPr>
        <dsp:cNvPr id="0" name=""/>
        <dsp:cNvSpPr/>
      </dsp:nvSpPr>
      <dsp:spPr>
        <a:xfrm>
          <a:off x="0" y="2730308"/>
          <a:ext cx="5755571" cy="26535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rtl="0">
            <a:lnSpc>
              <a:spcPct val="90000"/>
            </a:lnSpc>
            <a:spcBef>
              <a:spcPct val="0"/>
            </a:spcBef>
            <a:spcAft>
              <a:spcPct val="35000"/>
            </a:spcAft>
            <a:buNone/>
          </a:pPr>
          <a:r>
            <a:rPr lang="es-PE" sz="2400" b="0" kern="1200" noProof="0" dirty="0">
              <a:latin typeface="Arial Narrow" panose="020B0606020202030204" pitchFamily="34" charset="0"/>
            </a:rPr>
            <a:t>Los costos de distribución en dólares por conjunto  de 100 cajas que se envían a cada mayoristas; se presenta en la siguiente tabla junto con la oferta mensual en cada fábrica y la demanda mensual de cada mayorista. Determine la distribución más económica usando Vogel.</a:t>
          </a:r>
          <a:endParaRPr lang="es-PE" sz="2400" kern="1200" noProof="0" dirty="0">
            <a:latin typeface="Arial Narrow" panose="020B0606020202030204" pitchFamily="34" charset="0"/>
          </a:endParaRPr>
        </a:p>
      </dsp:txBody>
      <dsp:txXfrm>
        <a:off x="129536" y="2859844"/>
        <a:ext cx="5496499" cy="239448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7DD6FD-2301-4633-AC29-6506B46E7A68}">
      <dsp:nvSpPr>
        <dsp:cNvPr id="0" name=""/>
        <dsp:cNvSpPr/>
      </dsp:nvSpPr>
      <dsp:spPr>
        <a:xfrm>
          <a:off x="0" y="24335"/>
          <a:ext cx="7604368" cy="69556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rtl="0">
            <a:lnSpc>
              <a:spcPct val="90000"/>
            </a:lnSpc>
            <a:spcBef>
              <a:spcPct val="0"/>
            </a:spcBef>
            <a:spcAft>
              <a:spcPct val="35000"/>
            </a:spcAft>
            <a:buNone/>
          </a:pPr>
          <a:r>
            <a:rPr lang="en-US" sz="2900" b="0" kern="1200" dirty="0" err="1"/>
            <a:t>X14</a:t>
          </a:r>
          <a:r>
            <a:rPr lang="en-US" sz="2900" b="0" kern="1200" dirty="0"/>
            <a:t>=350		C= 350*9   = 3150</a:t>
          </a:r>
          <a:endParaRPr lang="es-PE" sz="2900" kern="1200" dirty="0"/>
        </a:p>
      </dsp:txBody>
      <dsp:txXfrm>
        <a:off x="33955" y="58290"/>
        <a:ext cx="7536458" cy="627655"/>
      </dsp:txXfrm>
    </dsp:sp>
    <dsp:sp modelId="{CE6BCFCB-8580-4F57-90B0-6D14E4574938}">
      <dsp:nvSpPr>
        <dsp:cNvPr id="0" name=""/>
        <dsp:cNvSpPr/>
      </dsp:nvSpPr>
      <dsp:spPr>
        <a:xfrm>
          <a:off x="0" y="803420"/>
          <a:ext cx="7604368" cy="69556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rtl="0">
            <a:lnSpc>
              <a:spcPct val="90000"/>
            </a:lnSpc>
            <a:spcBef>
              <a:spcPct val="0"/>
            </a:spcBef>
            <a:spcAft>
              <a:spcPct val="35000"/>
            </a:spcAft>
            <a:buNone/>
          </a:pPr>
          <a:r>
            <a:rPr lang="en-US" sz="2900" b="0" kern="1200"/>
            <a:t>X21=200		C= 200*10 = 2000</a:t>
          </a:r>
          <a:endParaRPr lang="es-PE" sz="2900" kern="1200"/>
        </a:p>
      </dsp:txBody>
      <dsp:txXfrm>
        <a:off x="33955" y="837375"/>
        <a:ext cx="7536458" cy="627655"/>
      </dsp:txXfrm>
    </dsp:sp>
    <dsp:sp modelId="{584D219A-42B9-4697-9423-343927B0ABA1}">
      <dsp:nvSpPr>
        <dsp:cNvPr id="0" name=""/>
        <dsp:cNvSpPr/>
      </dsp:nvSpPr>
      <dsp:spPr>
        <a:xfrm>
          <a:off x="0" y="1582505"/>
          <a:ext cx="7604368" cy="69556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rtl="0">
            <a:lnSpc>
              <a:spcPct val="90000"/>
            </a:lnSpc>
            <a:spcBef>
              <a:spcPct val="0"/>
            </a:spcBef>
            <a:spcAft>
              <a:spcPct val="35000"/>
            </a:spcAft>
            <a:buNone/>
          </a:pPr>
          <a:r>
            <a:rPr lang="en-US" sz="2900" b="0" kern="1200"/>
            <a:t>X12=200		C= 200*15 = 3000</a:t>
          </a:r>
          <a:endParaRPr lang="es-PE" sz="2900" kern="1200"/>
        </a:p>
      </dsp:txBody>
      <dsp:txXfrm>
        <a:off x="33955" y="1616460"/>
        <a:ext cx="7536458" cy="627655"/>
      </dsp:txXfrm>
    </dsp:sp>
    <dsp:sp modelId="{BC736452-51AD-48BC-980B-33D917687D50}">
      <dsp:nvSpPr>
        <dsp:cNvPr id="0" name=""/>
        <dsp:cNvSpPr/>
      </dsp:nvSpPr>
      <dsp:spPr>
        <a:xfrm>
          <a:off x="0" y="2361590"/>
          <a:ext cx="7604368" cy="69556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rtl="0">
            <a:lnSpc>
              <a:spcPct val="90000"/>
            </a:lnSpc>
            <a:spcBef>
              <a:spcPct val="0"/>
            </a:spcBef>
            <a:spcAft>
              <a:spcPct val="35000"/>
            </a:spcAft>
            <a:buNone/>
          </a:pPr>
          <a:r>
            <a:rPr lang="en-US" sz="2900" b="0" kern="1200" dirty="0" err="1"/>
            <a:t>X22</a:t>
          </a:r>
          <a:r>
            <a:rPr lang="en-US" sz="2900" b="0" kern="1200" dirty="0"/>
            <a:t>=50			C= 50*14  =   700</a:t>
          </a:r>
          <a:endParaRPr lang="es-PE" sz="2900" kern="1200" dirty="0"/>
        </a:p>
      </dsp:txBody>
      <dsp:txXfrm>
        <a:off x="33955" y="2395545"/>
        <a:ext cx="7536458" cy="627655"/>
      </dsp:txXfrm>
    </dsp:sp>
    <dsp:sp modelId="{0C248D5F-BC3A-4597-8C25-89273EB00973}">
      <dsp:nvSpPr>
        <dsp:cNvPr id="0" name=""/>
        <dsp:cNvSpPr/>
      </dsp:nvSpPr>
      <dsp:spPr>
        <a:xfrm>
          <a:off x="0" y="3140675"/>
          <a:ext cx="7604368" cy="69556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rtl="0">
            <a:lnSpc>
              <a:spcPct val="90000"/>
            </a:lnSpc>
            <a:spcBef>
              <a:spcPct val="0"/>
            </a:spcBef>
            <a:spcAft>
              <a:spcPct val="35000"/>
            </a:spcAft>
            <a:buNone/>
          </a:pPr>
          <a:r>
            <a:rPr lang="en-US" sz="2900" b="0" kern="1200"/>
            <a:t>X23=400		C= 400*16 = 6400</a:t>
          </a:r>
          <a:endParaRPr lang="es-PE" sz="2900" kern="1200"/>
        </a:p>
      </dsp:txBody>
      <dsp:txXfrm>
        <a:off x="33955" y="3174630"/>
        <a:ext cx="7536458" cy="627655"/>
      </dsp:txXfrm>
    </dsp:sp>
    <dsp:sp modelId="{7FAFC8E3-27F1-466C-A1FC-93C060D6B014}">
      <dsp:nvSpPr>
        <dsp:cNvPr id="0" name=""/>
        <dsp:cNvSpPr/>
      </dsp:nvSpPr>
      <dsp:spPr>
        <a:xfrm>
          <a:off x="0" y="3836240"/>
          <a:ext cx="7604368" cy="480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1439" tIns="36830" rIns="206248" bIns="36830" numCol="1" spcCol="1270" anchor="t" anchorCtr="0">
          <a:noAutofit/>
        </a:bodyPr>
        <a:lstStyle/>
        <a:p>
          <a:pPr marL="228600" lvl="1" indent="-228600" algn="l" defTabSz="1022350" rtl="0">
            <a:lnSpc>
              <a:spcPct val="90000"/>
            </a:lnSpc>
            <a:spcBef>
              <a:spcPct val="0"/>
            </a:spcBef>
            <a:spcAft>
              <a:spcPct val="20000"/>
            </a:spcAft>
            <a:buChar char="•"/>
          </a:pPr>
          <a:r>
            <a:rPr lang="en-US" sz="2300" b="0" kern="1200" dirty="0">
              <a:solidFill>
                <a:schemeClr val="tx1"/>
              </a:solidFill>
            </a:rPr>
            <a:t>                                                          </a:t>
          </a:r>
          <a:endParaRPr lang="es-PE" sz="2300" kern="1200" dirty="0">
            <a:solidFill>
              <a:srgbClr val="FF0000"/>
            </a:solidFill>
          </a:endParaRPr>
        </a:p>
      </dsp:txBody>
      <dsp:txXfrm>
        <a:off x="0" y="3836240"/>
        <a:ext cx="7604368" cy="4802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AA69EC-2A94-4881-8545-C98BB47DE48E}">
      <dsp:nvSpPr>
        <dsp:cNvPr id="0" name=""/>
        <dsp:cNvSpPr/>
      </dsp:nvSpPr>
      <dsp:spPr>
        <a:xfrm>
          <a:off x="0" y="108877"/>
          <a:ext cx="6044560" cy="32766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rtl="0">
            <a:lnSpc>
              <a:spcPct val="90000"/>
            </a:lnSpc>
            <a:spcBef>
              <a:spcPct val="0"/>
            </a:spcBef>
            <a:spcAft>
              <a:spcPct val="35000"/>
            </a:spcAft>
            <a:buNone/>
          </a:pPr>
          <a:r>
            <a:rPr lang="es-PE" sz="2400" b="0" kern="1200" dirty="0">
              <a:latin typeface="Arial Narrow" panose="020B0606020202030204" pitchFamily="34" charset="0"/>
            </a:rPr>
            <a:t>Medican, Inc., renta equipos especializado de rayos X a hospitales.  Actualmente hay tres máquinas ubicadas en Nueva York, dos en Chicago y tres en Los Ángeles.  Hay hospitales en Dallas que requieren cuatro máquinas.  Los de Denver y Phoenix necesitan cada uno dos máquinas.  El costo (en dólares) de enviar una máquina de cada ciudad a cada hospital se muestra en la siguiente tabla. Resolver usando el Método de Vogel.</a:t>
          </a:r>
          <a:endParaRPr lang="es-PE" sz="2400" kern="1200" dirty="0">
            <a:latin typeface="Arial Narrow" panose="020B0606020202030204" pitchFamily="34" charset="0"/>
          </a:endParaRPr>
        </a:p>
      </dsp:txBody>
      <dsp:txXfrm>
        <a:off x="159953" y="268830"/>
        <a:ext cx="5724654" cy="295674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1F2DFD-555B-4170-8653-56704F5A863F}">
      <dsp:nvSpPr>
        <dsp:cNvPr id="0" name=""/>
        <dsp:cNvSpPr/>
      </dsp:nvSpPr>
      <dsp:spPr>
        <a:xfrm>
          <a:off x="0" y="2866"/>
          <a:ext cx="2528405" cy="524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PE" sz="2000" b="1" kern="1200" dirty="0" err="1"/>
            <a:t>X33</a:t>
          </a:r>
          <a:r>
            <a:rPr lang="es-PE" sz="2000" b="1" kern="1200" dirty="0"/>
            <a:t>=2	     C=2*400</a:t>
          </a:r>
          <a:endParaRPr lang="es-PE" sz="2000" kern="1200" dirty="0"/>
        </a:p>
      </dsp:txBody>
      <dsp:txXfrm>
        <a:off x="25587" y="28453"/>
        <a:ext cx="2477231" cy="47298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C1FB7D-530D-4968-BE59-E637ADB844CA}">
      <dsp:nvSpPr>
        <dsp:cNvPr id="0" name=""/>
        <dsp:cNvSpPr/>
      </dsp:nvSpPr>
      <dsp:spPr>
        <a:xfrm>
          <a:off x="0" y="5130"/>
          <a:ext cx="2657432"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s-PE" sz="1800" b="1" kern="1200" dirty="0" err="1"/>
            <a:t>X33</a:t>
          </a:r>
          <a:r>
            <a:rPr lang="es-PE" sz="1800" b="1" kern="1200" dirty="0"/>
            <a:t>=2     C=2*400</a:t>
          </a:r>
          <a:endParaRPr lang="es-PE" sz="1800" kern="1200" dirty="0"/>
        </a:p>
      </dsp:txBody>
      <dsp:txXfrm>
        <a:off x="21075" y="26205"/>
        <a:ext cx="2615282" cy="389580"/>
      </dsp:txXfrm>
    </dsp:sp>
    <dsp:sp modelId="{F809467A-CF9C-4ED6-8300-7998A0E977B3}">
      <dsp:nvSpPr>
        <dsp:cNvPr id="0" name=""/>
        <dsp:cNvSpPr/>
      </dsp:nvSpPr>
      <dsp:spPr>
        <a:xfrm>
          <a:off x="0" y="488700"/>
          <a:ext cx="2657432"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s-PE" sz="1800" b="1" kern="1200"/>
            <a:t>X32=1     C=1*1000</a:t>
          </a:r>
          <a:endParaRPr lang="es-PE" sz="1800" kern="1200"/>
        </a:p>
      </dsp:txBody>
      <dsp:txXfrm>
        <a:off x="21075" y="509775"/>
        <a:ext cx="2615282" cy="389580"/>
      </dsp:txXfrm>
    </dsp:sp>
    <dsp:sp modelId="{294E6DB6-008D-4B4C-A4F9-EF4A072BD2BB}">
      <dsp:nvSpPr>
        <dsp:cNvPr id="0" name=""/>
        <dsp:cNvSpPr/>
      </dsp:nvSpPr>
      <dsp:spPr>
        <a:xfrm>
          <a:off x="0" y="920430"/>
          <a:ext cx="2657432" cy="29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373" tIns="22860" rIns="128016" bIns="22860" numCol="1" spcCol="1270" anchor="t" anchorCtr="0">
          <a:noAutofit/>
        </a:bodyPr>
        <a:lstStyle/>
        <a:p>
          <a:pPr marL="114300" lvl="1" indent="-114300" algn="l" defTabSz="622300" rtl="0">
            <a:lnSpc>
              <a:spcPct val="90000"/>
            </a:lnSpc>
            <a:spcBef>
              <a:spcPct val="0"/>
            </a:spcBef>
            <a:spcAft>
              <a:spcPct val="20000"/>
            </a:spcAft>
            <a:buChar char="•"/>
          </a:pPr>
          <a:endParaRPr lang="es-PE" sz="1400" kern="1200"/>
        </a:p>
      </dsp:txBody>
      <dsp:txXfrm>
        <a:off x="0" y="920430"/>
        <a:ext cx="2657432" cy="2980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844FD2-024D-4C53-9D85-5B0843C5F4D1}">
      <dsp:nvSpPr>
        <dsp:cNvPr id="0" name=""/>
        <dsp:cNvSpPr/>
      </dsp:nvSpPr>
      <dsp:spPr>
        <a:xfrm>
          <a:off x="0" y="20"/>
          <a:ext cx="2544591" cy="37851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PE" sz="2000" b="1" kern="1200"/>
            <a:t>X33=2     C=2*400</a:t>
          </a:r>
          <a:endParaRPr lang="es-PE" sz="2000" kern="1200"/>
        </a:p>
      </dsp:txBody>
      <dsp:txXfrm>
        <a:off x="18477" y="18497"/>
        <a:ext cx="2507637" cy="341559"/>
      </dsp:txXfrm>
    </dsp:sp>
    <dsp:sp modelId="{1EBF173C-53D4-42DB-A09B-4C8675212294}">
      <dsp:nvSpPr>
        <dsp:cNvPr id="0" name=""/>
        <dsp:cNvSpPr/>
      </dsp:nvSpPr>
      <dsp:spPr>
        <a:xfrm>
          <a:off x="0" y="389896"/>
          <a:ext cx="2544591" cy="37851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PE" sz="2000" b="1" kern="1200"/>
            <a:t>X32=1      C=1*1000</a:t>
          </a:r>
          <a:endParaRPr lang="es-PE" sz="2000" kern="1200"/>
        </a:p>
      </dsp:txBody>
      <dsp:txXfrm>
        <a:off x="18477" y="408373"/>
        <a:ext cx="2507637" cy="341559"/>
      </dsp:txXfrm>
    </dsp:sp>
    <dsp:sp modelId="{63211B87-6E66-4134-A9C2-FB816F9FC05E}">
      <dsp:nvSpPr>
        <dsp:cNvPr id="0" name=""/>
        <dsp:cNvSpPr/>
      </dsp:nvSpPr>
      <dsp:spPr>
        <a:xfrm>
          <a:off x="0" y="779771"/>
          <a:ext cx="2544591" cy="37851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PE" sz="2000" b="1" kern="1200"/>
            <a:t>X22=1      C=1*1000</a:t>
          </a:r>
          <a:endParaRPr lang="es-PE" sz="2000" kern="1200"/>
        </a:p>
      </dsp:txBody>
      <dsp:txXfrm>
        <a:off x="18477" y="798248"/>
        <a:ext cx="2507637" cy="341559"/>
      </dsp:txXfrm>
    </dsp:sp>
    <dsp:sp modelId="{30DB14E0-A221-4E50-9FA5-FFB6CC3785A1}">
      <dsp:nvSpPr>
        <dsp:cNvPr id="0" name=""/>
        <dsp:cNvSpPr/>
      </dsp:nvSpPr>
      <dsp:spPr>
        <a:xfrm>
          <a:off x="0" y="1158285"/>
          <a:ext cx="2544591" cy="6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91" tIns="25400" rIns="142240" bIns="25400" numCol="1" spcCol="1270" anchor="t" anchorCtr="0">
          <a:noAutofit/>
        </a:bodyPr>
        <a:lstStyle/>
        <a:p>
          <a:pPr marL="228600" lvl="1" indent="-228600" algn="l" defTabSz="889000" rtl="0">
            <a:lnSpc>
              <a:spcPct val="90000"/>
            </a:lnSpc>
            <a:spcBef>
              <a:spcPct val="0"/>
            </a:spcBef>
            <a:spcAft>
              <a:spcPct val="20000"/>
            </a:spcAft>
            <a:buChar char="•"/>
          </a:pPr>
          <a:endParaRPr lang="es-PE" sz="2000" kern="1200"/>
        </a:p>
      </dsp:txBody>
      <dsp:txXfrm>
        <a:off x="0" y="1158285"/>
        <a:ext cx="2544591" cy="6533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D42E5D-DA8E-4D08-BBE6-BE5AE9B38563}">
      <dsp:nvSpPr>
        <dsp:cNvPr id="0" name=""/>
        <dsp:cNvSpPr/>
      </dsp:nvSpPr>
      <dsp:spPr>
        <a:xfrm>
          <a:off x="0" y="28"/>
          <a:ext cx="2520000" cy="3536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PE" sz="2000" b="1" kern="1200" dirty="0" err="1"/>
            <a:t>X33</a:t>
          </a:r>
          <a:r>
            <a:rPr lang="es-PE" sz="2000" b="1" kern="1200" dirty="0"/>
            <a:t>=2	  C=2*400</a:t>
          </a:r>
          <a:endParaRPr lang="es-PE" sz="2000" kern="1200" dirty="0"/>
        </a:p>
      </dsp:txBody>
      <dsp:txXfrm>
        <a:off x="17265" y="17293"/>
        <a:ext cx="2485470" cy="319155"/>
      </dsp:txXfrm>
    </dsp:sp>
    <dsp:sp modelId="{EA11949A-548B-4467-96B4-0210D9D146AB}">
      <dsp:nvSpPr>
        <dsp:cNvPr id="0" name=""/>
        <dsp:cNvSpPr/>
      </dsp:nvSpPr>
      <dsp:spPr>
        <a:xfrm>
          <a:off x="0" y="364330"/>
          <a:ext cx="2520000" cy="3536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PE" sz="2000" b="1" kern="1200"/>
            <a:t>X32=1      C=1*1000</a:t>
          </a:r>
          <a:endParaRPr lang="es-PE" sz="2000" kern="1200"/>
        </a:p>
      </dsp:txBody>
      <dsp:txXfrm>
        <a:off x="17265" y="381595"/>
        <a:ext cx="2485470" cy="319155"/>
      </dsp:txXfrm>
    </dsp:sp>
    <dsp:sp modelId="{92540235-C791-45EF-B069-590172302293}">
      <dsp:nvSpPr>
        <dsp:cNvPr id="0" name=""/>
        <dsp:cNvSpPr/>
      </dsp:nvSpPr>
      <dsp:spPr>
        <a:xfrm>
          <a:off x="0" y="728633"/>
          <a:ext cx="2520000" cy="3536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PE" sz="2000" b="1" kern="1200" dirty="0" err="1"/>
            <a:t>X22</a:t>
          </a:r>
          <a:r>
            <a:rPr lang="es-PE" sz="2000" b="1" kern="1200" dirty="0"/>
            <a:t>=1      C=1*1000</a:t>
          </a:r>
          <a:endParaRPr lang="es-PE" sz="2000" kern="1200" dirty="0"/>
        </a:p>
      </dsp:txBody>
      <dsp:txXfrm>
        <a:off x="17265" y="745898"/>
        <a:ext cx="2485470" cy="319155"/>
      </dsp:txXfrm>
    </dsp:sp>
    <dsp:sp modelId="{1876AF68-6AA6-422B-A27C-3EE366831962}">
      <dsp:nvSpPr>
        <dsp:cNvPr id="0" name=""/>
        <dsp:cNvSpPr/>
      </dsp:nvSpPr>
      <dsp:spPr>
        <a:xfrm>
          <a:off x="0" y="1092935"/>
          <a:ext cx="2520000" cy="3536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PE" sz="2000" b="1" kern="1200"/>
            <a:t>X11=3      C=3*1600</a:t>
          </a:r>
          <a:endParaRPr lang="es-PE" sz="2000" kern="1200"/>
        </a:p>
      </dsp:txBody>
      <dsp:txXfrm>
        <a:off x="17265" y="1110200"/>
        <a:ext cx="2485470" cy="319155"/>
      </dsp:txXfrm>
    </dsp:sp>
    <dsp:sp modelId="{7BA51C33-66F2-4ABF-88D9-C1CF3A6D6AD8}">
      <dsp:nvSpPr>
        <dsp:cNvPr id="0" name=""/>
        <dsp:cNvSpPr/>
      </dsp:nvSpPr>
      <dsp:spPr>
        <a:xfrm>
          <a:off x="0" y="1457237"/>
          <a:ext cx="2520000" cy="3536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PE" sz="2000" b="1" kern="1200"/>
            <a:t>X21=1      C=1*900</a:t>
          </a:r>
          <a:endParaRPr lang="es-PE" sz="2000" kern="1200"/>
        </a:p>
      </dsp:txBody>
      <dsp:txXfrm>
        <a:off x="17265" y="1474502"/>
        <a:ext cx="2485470" cy="319155"/>
      </dsp:txXfrm>
    </dsp:sp>
    <dsp:sp modelId="{7BE1AE85-2CFF-4C45-8781-8F2CB881C971}">
      <dsp:nvSpPr>
        <dsp:cNvPr id="0" name=""/>
        <dsp:cNvSpPr/>
      </dsp:nvSpPr>
      <dsp:spPr>
        <a:xfrm>
          <a:off x="0" y="1810922"/>
          <a:ext cx="2520000" cy="610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25400" rIns="142240" bIns="25400" numCol="1" spcCol="1270" anchor="t" anchorCtr="0">
          <a:noAutofit/>
        </a:bodyPr>
        <a:lstStyle/>
        <a:p>
          <a:pPr marL="228600" lvl="1" indent="-228600" algn="l" defTabSz="889000" rtl="0">
            <a:lnSpc>
              <a:spcPct val="90000"/>
            </a:lnSpc>
            <a:spcBef>
              <a:spcPct val="0"/>
            </a:spcBef>
            <a:spcAft>
              <a:spcPct val="20000"/>
            </a:spcAft>
            <a:buChar char="•"/>
          </a:pPr>
          <a:endParaRPr lang="es-PE" sz="2000" kern="1200"/>
        </a:p>
      </dsp:txBody>
      <dsp:txXfrm>
        <a:off x="0" y="1810922"/>
        <a:ext cx="2520000" cy="6104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8BD9A-8DFA-4E1B-95F4-5EC8602343F4}">
      <dsp:nvSpPr>
        <dsp:cNvPr id="0" name=""/>
        <dsp:cNvSpPr/>
      </dsp:nvSpPr>
      <dsp:spPr>
        <a:xfrm>
          <a:off x="0" y="20346"/>
          <a:ext cx="785772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rtl="0">
            <a:lnSpc>
              <a:spcPct val="90000"/>
            </a:lnSpc>
            <a:spcBef>
              <a:spcPct val="0"/>
            </a:spcBef>
            <a:spcAft>
              <a:spcPct val="35000"/>
            </a:spcAft>
            <a:buNone/>
          </a:pPr>
          <a:r>
            <a:rPr lang="en-US" sz="3100" b="0" kern="1200"/>
            <a:t>X33=2			C= 2* 400  =   800</a:t>
          </a:r>
          <a:endParaRPr lang="es-PE" sz="3100" kern="1200"/>
        </a:p>
      </dsp:txBody>
      <dsp:txXfrm>
        <a:off x="36296" y="56642"/>
        <a:ext cx="7785128" cy="670943"/>
      </dsp:txXfrm>
    </dsp:sp>
    <dsp:sp modelId="{390D64EE-6C3A-445D-B0BE-49C0BD505B4B}">
      <dsp:nvSpPr>
        <dsp:cNvPr id="0" name=""/>
        <dsp:cNvSpPr/>
      </dsp:nvSpPr>
      <dsp:spPr>
        <a:xfrm>
          <a:off x="0" y="853161"/>
          <a:ext cx="785772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rtl="0">
            <a:lnSpc>
              <a:spcPct val="90000"/>
            </a:lnSpc>
            <a:spcBef>
              <a:spcPct val="0"/>
            </a:spcBef>
            <a:spcAft>
              <a:spcPct val="35000"/>
            </a:spcAft>
            <a:buNone/>
          </a:pPr>
          <a:r>
            <a:rPr lang="en-US" sz="3100" b="0" kern="1200"/>
            <a:t>X32=1			C= 1*1000 = 1000</a:t>
          </a:r>
          <a:endParaRPr lang="es-PE" sz="3100" kern="1200"/>
        </a:p>
      </dsp:txBody>
      <dsp:txXfrm>
        <a:off x="36296" y="889457"/>
        <a:ext cx="7785128" cy="670943"/>
      </dsp:txXfrm>
    </dsp:sp>
    <dsp:sp modelId="{FFE86B58-02C2-4822-B490-9A5A294B119B}">
      <dsp:nvSpPr>
        <dsp:cNvPr id="0" name=""/>
        <dsp:cNvSpPr/>
      </dsp:nvSpPr>
      <dsp:spPr>
        <a:xfrm>
          <a:off x="0" y="1685976"/>
          <a:ext cx="785772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rtl="0">
            <a:lnSpc>
              <a:spcPct val="90000"/>
            </a:lnSpc>
            <a:spcBef>
              <a:spcPct val="0"/>
            </a:spcBef>
            <a:spcAft>
              <a:spcPct val="35000"/>
            </a:spcAft>
            <a:buNone/>
          </a:pPr>
          <a:r>
            <a:rPr lang="en-US" sz="3100" b="0" kern="1200"/>
            <a:t>X22=1			C= 1*1000 = 1000</a:t>
          </a:r>
          <a:endParaRPr lang="es-PE" sz="3100" kern="1200"/>
        </a:p>
      </dsp:txBody>
      <dsp:txXfrm>
        <a:off x="36296" y="1722272"/>
        <a:ext cx="7785128" cy="670943"/>
      </dsp:txXfrm>
    </dsp:sp>
    <dsp:sp modelId="{E8AE5829-062C-4D91-A65B-95B6C9312F47}">
      <dsp:nvSpPr>
        <dsp:cNvPr id="0" name=""/>
        <dsp:cNvSpPr/>
      </dsp:nvSpPr>
      <dsp:spPr>
        <a:xfrm>
          <a:off x="0" y="2518791"/>
          <a:ext cx="785772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rtl="0">
            <a:lnSpc>
              <a:spcPct val="90000"/>
            </a:lnSpc>
            <a:spcBef>
              <a:spcPct val="0"/>
            </a:spcBef>
            <a:spcAft>
              <a:spcPct val="35000"/>
            </a:spcAft>
            <a:buNone/>
          </a:pPr>
          <a:r>
            <a:rPr lang="en-US" sz="3100" b="0" kern="1200"/>
            <a:t>X11=3			C= 3*1600 = 4800</a:t>
          </a:r>
          <a:endParaRPr lang="es-PE" sz="3100" kern="1200"/>
        </a:p>
      </dsp:txBody>
      <dsp:txXfrm>
        <a:off x="36296" y="2555087"/>
        <a:ext cx="7785128" cy="670943"/>
      </dsp:txXfrm>
    </dsp:sp>
    <dsp:sp modelId="{C6529E42-C940-466F-9062-62B6527D616A}">
      <dsp:nvSpPr>
        <dsp:cNvPr id="0" name=""/>
        <dsp:cNvSpPr/>
      </dsp:nvSpPr>
      <dsp:spPr>
        <a:xfrm>
          <a:off x="0" y="3351606"/>
          <a:ext cx="785772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rtl="0">
            <a:lnSpc>
              <a:spcPct val="90000"/>
            </a:lnSpc>
            <a:spcBef>
              <a:spcPct val="0"/>
            </a:spcBef>
            <a:spcAft>
              <a:spcPct val="35000"/>
            </a:spcAft>
            <a:buNone/>
          </a:pPr>
          <a:r>
            <a:rPr lang="en-US" sz="3100" b="0" kern="1200"/>
            <a:t>X21=1			C= 1*  900 =   900</a:t>
          </a:r>
          <a:endParaRPr lang="es-PE" sz="3100" kern="1200"/>
        </a:p>
      </dsp:txBody>
      <dsp:txXfrm>
        <a:off x="36296" y="3387902"/>
        <a:ext cx="7785128" cy="670943"/>
      </dsp:txXfrm>
    </dsp:sp>
    <dsp:sp modelId="{C5B67770-4C7E-4243-B3AA-DF1B1F26177F}">
      <dsp:nvSpPr>
        <dsp:cNvPr id="0" name=""/>
        <dsp:cNvSpPr/>
      </dsp:nvSpPr>
      <dsp:spPr>
        <a:xfrm>
          <a:off x="0" y="4095141"/>
          <a:ext cx="7857720" cy="51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9483" tIns="30480" rIns="170688" bIns="30480" numCol="1" spcCol="1270" anchor="t" anchorCtr="0">
          <a:noAutofit/>
        </a:bodyPr>
        <a:lstStyle/>
        <a:p>
          <a:pPr marL="228600" lvl="1" indent="-228600" algn="l" defTabSz="1066800" rtl="0">
            <a:lnSpc>
              <a:spcPct val="90000"/>
            </a:lnSpc>
            <a:spcBef>
              <a:spcPct val="0"/>
            </a:spcBef>
            <a:spcAft>
              <a:spcPct val="20000"/>
            </a:spcAft>
            <a:buChar char="•"/>
          </a:pPr>
          <a:r>
            <a:rPr lang="en-US" sz="2400" b="0" kern="1200" dirty="0">
              <a:solidFill>
                <a:srgbClr val="FF0000"/>
              </a:solidFill>
            </a:rPr>
            <a:t>                                                       </a:t>
          </a:r>
          <a:r>
            <a:rPr lang="en-US" sz="3000" b="0" kern="1200" dirty="0" err="1">
              <a:solidFill>
                <a:srgbClr val="FF0000"/>
              </a:solidFill>
            </a:rPr>
            <a:t>Costo</a:t>
          </a:r>
          <a:r>
            <a:rPr lang="en-US" sz="3000" b="0" kern="1200" dirty="0">
              <a:solidFill>
                <a:srgbClr val="FF0000"/>
              </a:solidFill>
            </a:rPr>
            <a:t> total =  8500  </a:t>
          </a:r>
          <a:endParaRPr lang="es-PE" sz="3000" kern="1200" dirty="0">
            <a:solidFill>
              <a:srgbClr val="FF0000"/>
            </a:solidFill>
          </a:endParaRPr>
        </a:p>
      </dsp:txBody>
      <dsp:txXfrm>
        <a:off x="0" y="4095141"/>
        <a:ext cx="7857720" cy="51336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AA69EC-2A94-4881-8545-C98BB47DE48E}">
      <dsp:nvSpPr>
        <dsp:cNvPr id="0" name=""/>
        <dsp:cNvSpPr/>
      </dsp:nvSpPr>
      <dsp:spPr>
        <a:xfrm>
          <a:off x="0" y="0"/>
          <a:ext cx="5914845" cy="336301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just" defTabSz="977900" rtl="0">
            <a:lnSpc>
              <a:spcPct val="90000"/>
            </a:lnSpc>
            <a:spcBef>
              <a:spcPct val="0"/>
            </a:spcBef>
            <a:spcAft>
              <a:spcPct val="35000"/>
            </a:spcAft>
            <a:buNone/>
          </a:pPr>
          <a:r>
            <a:rPr lang="es-PE" sz="2200" b="0" kern="1200" dirty="0"/>
            <a:t>Medican, Inc., renta equipos especializado de rayos X a hospitales.  Actualmente hay tres máquinas ubicadas en Nueva York, dos en Chicago y tres en Los Ángeles.  Hay hospitales en Dallas que requieren cuatro máquinas.  Los de Denver y Phoenix necesitan cada uno dos máquinas. Además el hospital de Miami necesita 2 máquinas. El costo (en dólares) de enviar una máquina de cada ciudad a cada hospital se muestra en la siguiente tabla. Use el Método de Vogel.</a:t>
          </a:r>
          <a:endParaRPr lang="es-PE" sz="2200" kern="1200" dirty="0"/>
        </a:p>
      </dsp:txBody>
      <dsp:txXfrm>
        <a:off x="164169" y="164169"/>
        <a:ext cx="5586507" cy="303468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035B5A-C64A-45A1-86A7-3D822B58A3D8}">
      <dsp:nvSpPr>
        <dsp:cNvPr id="0" name=""/>
        <dsp:cNvSpPr/>
      </dsp:nvSpPr>
      <dsp:spPr>
        <a:xfrm>
          <a:off x="0" y="113"/>
          <a:ext cx="2356920" cy="4052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PE" sz="2000" b="1" kern="1200" dirty="0" err="1"/>
            <a:t>X44</a:t>
          </a:r>
          <a:r>
            <a:rPr lang="es-PE" sz="2000" b="1" kern="1200" dirty="0"/>
            <a:t>=2	  C=2*0</a:t>
          </a:r>
          <a:endParaRPr lang="es-PE" sz="2000" kern="1200" dirty="0"/>
        </a:p>
      </dsp:txBody>
      <dsp:txXfrm>
        <a:off x="19781" y="19894"/>
        <a:ext cx="2317358" cy="36565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035B5A-C64A-45A1-86A7-3D822B58A3D8}">
      <dsp:nvSpPr>
        <dsp:cNvPr id="0" name=""/>
        <dsp:cNvSpPr/>
      </dsp:nvSpPr>
      <dsp:spPr>
        <a:xfrm>
          <a:off x="0" y="6"/>
          <a:ext cx="2356920" cy="3869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PE" sz="2000" b="1" kern="1200" dirty="0" err="1"/>
            <a:t>X44</a:t>
          </a:r>
          <a:r>
            <a:rPr lang="es-PE" sz="2000" b="1" kern="1200" dirty="0"/>
            <a:t>=2	  C=2*0</a:t>
          </a:r>
          <a:endParaRPr lang="es-PE" sz="2000" kern="1200" dirty="0"/>
        </a:p>
      </dsp:txBody>
      <dsp:txXfrm>
        <a:off x="18889" y="18895"/>
        <a:ext cx="2319142" cy="349167"/>
      </dsp:txXfrm>
    </dsp:sp>
    <dsp:sp modelId="{6D2F16E3-CCC7-4F69-98B8-610C7C7E7277}">
      <dsp:nvSpPr>
        <dsp:cNvPr id="0" name=""/>
        <dsp:cNvSpPr/>
      </dsp:nvSpPr>
      <dsp:spPr>
        <a:xfrm>
          <a:off x="0" y="398567"/>
          <a:ext cx="2356920" cy="3869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PE" sz="2000" b="1" kern="1200" dirty="0" err="1"/>
            <a:t>X33</a:t>
          </a:r>
          <a:r>
            <a:rPr lang="es-PE" sz="2000" b="1" kern="1200" dirty="0"/>
            <a:t>=2	   C=2*400</a:t>
          </a:r>
          <a:endParaRPr lang="es-PE" sz="2000" kern="1200" dirty="0"/>
        </a:p>
      </dsp:txBody>
      <dsp:txXfrm>
        <a:off x="18889" y="417456"/>
        <a:ext cx="2319142" cy="34916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AAC432-3C0B-42BA-8D7E-B7039D8613C2}">
      <dsp:nvSpPr>
        <dsp:cNvPr id="0" name=""/>
        <dsp:cNvSpPr/>
      </dsp:nvSpPr>
      <dsp:spPr>
        <a:xfrm>
          <a:off x="0" y="0"/>
          <a:ext cx="2356920" cy="4177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PE" sz="2000" b="1" kern="1200" dirty="0" err="1"/>
            <a:t>X44</a:t>
          </a:r>
          <a:r>
            <a:rPr lang="es-PE" sz="2000" b="1" kern="1200" dirty="0"/>
            <a:t>=2	  C=2*0</a:t>
          </a:r>
          <a:endParaRPr lang="es-PE" sz="2000" kern="1200" dirty="0"/>
        </a:p>
      </dsp:txBody>
      <dsp:txXfrm>
        <a:off x="20392" y="20392"/>
        <a:ext cx="2316136" cy="376944"/>
      </dsp:txXfrm>
    </dsp:sp>
    <dsp:sp modelId="{05FB5A11-69BB-4152-B76E-2DCC839A4768}">
      <dsp:nvSpPr>
        <dsp:cNvPr id="0" name=""/>
        <dsp:cNvSpPr/>
      </dsp:nvSpPr>
      <dsp:spPr>
        <a:xfrm>
          <a:off x="0" y="526732"/>
          <a:ext cx="2356920" cy="47599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PE" sz="2000" b="1" kern="1200" dirty="0" err="1"/>
            <a:t>X33</a:t>
          </a:r>
          <a:r>
            <a:rPr lang="es-PE" sz="2000" b="1" kern="1200" dirty="0"/>
            <a:t>=2	   C=2*400</a:t>
          </a:r>
          <a:endParaRPr lang="es-PE" sz="2000" kern="1200" dirty="0"/>
        </a:p>
      </dsp:txBody>
      <dsp:txXfrm>
        <a:off x="23236" y="549968"/>
        <a:ext cx="2310448" cy="429525"/>
      </dsp:txXfrm>
    </dsp:sp>
    <dsp:sp modelId="{CA5C1159-77CC-460F-A0DB-B9BD3D0F6F20}">
      <dsp:nvSpPr>
        <dsp:cNvPr id="0" name=""/>
        <dsp:cNvSpPr/>
      </dsp:nvSpPr>
      <dsp:spPr>
        <a:xfrm>
          <a:off x="0" y="1100650"/>
          <a:ext cx="2356920" cy="40651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PE" sz="2000" b="1" kern="1200" dirty="0" err="1"/>
            <a:t>X32</a:t>
          </a:r>
          <a:r>
            <a:rPr lang="es-PE" sz="2000" b="1" kern="1200" dirty="0"/>
            <a:t>=1	   C=1*1000</a:t>
          </a:r>
          <a:endParaRPr lang="es-PE" sz="2000" kern="1200" dirty="0"/>
        </a:p>
      </dsp:txBody>
      <dsp:txXfrm>
        <a:off x="19844" y="1120494"/>
        <a:ext cx="2317232" cy="366825"/>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431D5A-79DC-4ED7-AA38-6F5003A44139}">
      <dsp:nvSpPr>
        <dsp:cNvPr id="0" name=""/>
        <dsp:cNvSpPr/>
      </dsp:nvSpPr>
      <dsp:spPr>
        <a:xfrm>
          <a:off x="0" y="5511"/>
          <a:ext cx="2880320" cy="479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PE" sz="2000" b="1" kern="1200"/>
            <a:t>X44=2	  C=2*0</a:t>
          </a:r>
          <a:endParaRPr lang="es-PE" sz="2000" kern="1200"/>
        </a:p>
      </dsp:txBody>
      <dsp:txXfrm>
        <a:off x="23417" y="28928"/>
        <a:ext cx="2833486" cy="432866"/>
      </dsp:txXfrm>
    </dsp:sp>
    <dsp:sp modelId="{C1464AE5-DBBC-43DB-AEE1-C4A93B53A093}">
      <dsp:nvSpPr>
        <dsp:cNvPr id="0" name=""/>
        <dsp:cNvSpPr/>
      </dsp:nvSpPr>
      <dsp:spPr>
        <a:xfrm>
          <a:off x="0" y="514011"/>
          <a:ext cx="2880320" cy="479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PE" sz="2000" b="1" kern="1200"/>
            <a:t>X33=2	   C=2*400</a:t>
          </a:r>
          <a:endParaRPr lang="es-PE" sz="2000" kern="1200"/>
        </a:p>
      </dsp:txBody>
      <dsp:txXfrm>
        <a:off x="23417" y="537428"/>
        <a:ext cx="2833486" cy="432866"/>
      </dsp:txXfrm>
    </dsp:sp>
    <dsp:sp modelId="{6A82E5A7-A309-414F-A4AA-E49E287E881D}">
      <dsp:nvSpPr>
        <dsp:cNvPr id="0" name=""/>
        <dsp:cNvSpPr/>
      </dsp:nvSpPr>
      <dsp:spPr>
        <a:xfrm>
          <a:off x="0" y="1022512"/>
          <a:ext cx="2880320" cy="479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PE" sz="2000" b="1" kern="1200"/>
            <a:t>X32=1	   C=1*1000</a:t>
          </a:r>
          <a:endParaRPr lang="es-PE" sz="2000" kern="1200"/>
        </a:p>
      </dsp:txBody>
      <dsp:txXfrm>
        <a:off x="23417" y="1045929"/>
        <a:ext cx="2833486" cy="432866"/>
      </dsp:txXfrm>
    </dsp:sp>
    <dsp:sp modelId="{65E708A9-420A-4DA1-987C-AF01A6433678}">
      <dsp:nvSpPr>
        <dsp:cNvPr id="0" name=""/>
        <dsp:cNvSpPr/>
      </dsp:nvSpPr>
      <dsp:spPr>
        <a:xfrm>
          <a:off x="0" y="1531012"/>
          <a:ext cx="2880320" cy="479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PE" sz="2000" b="1" kern="1200" dirty="0" err="1"/>
            <a:t>X22</a:t>
          </a:r>
          <a:r>
            <a:rPr lang="es-PE" sz="2000" b="1" kern="1200" dirty="0"/>
            <a:t>=1	   C=1*1000	</a:t>
          </a:r>
          <a:endParaRPr lang="es-PE" sz="2000" kern="1200" dirty="0"/>
        </a:p>
      </dsp:txBody>
      <dsp:txXfrm>
        <a:off x="23417" y="1554429"/>
        <a:ext cx="2833486" cy="43286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0D7DB1-9C1B-442B-8BCC-CA6F11ED4FBC}">
      <dsp:nvSpPr>
        <dsp:cNvPr id="0" name=""/>
        <dsp:cNvSpPr/>
      </dsp:nvSpPr>
      <dsp:spPr>
        <a:xfrm>
          <a:off x="0" y="38"/>
          <a:ext cx="2356920" cy="35706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s-PE" sz="1600" b="1" kern="1200"/>
            <a:t>X44=2	  C=2*0</a:t>
          </a:r>
          <a:endParaRPr lang="es-PE" sz="1600" kern="1200"/>
        </a:p>
      </dsp:txBody>
      <dsp:txXfrm>
        <a:off x="17431" y="17469"/>
        <a:ext cx="2322058" cy="322205"/>
      </dsp:txXfrm>
    </dsp:sp>
    <dsp:sp modelId="{72CF2FFB-C98C-440C-B865-79352155AEB5}">
      <dsp:nvSpPr>
        <dsp:cNvPr id="0" name=""/>
        <dsp:cNvSpPr/>
      </dsp:nvSpPr>
      <dsp:spPr>
        <a:xfrm>
          <a:off x="0" y="370423"/>
          <a:ext cx="2356920" cy="35706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s-PE" sz="1600" b="1" kern="1200"/>
            <a:t>X33=2	   C=2*400</a:t>
          </a:r>
          <a:endParaRPr lang="es-PE" sz="1600" kern="1200"/>
        </a:p>
      </dsp:txBody>
      <dsp:txXfrm>
        <a:off x="17431" y="387854"/>
        <a:ext cx="2322058" cy="322205"/>
      </dsp:txXfrm>
    </dsp:sp>
    <dsp:sp modelId="{8B0D38AE-3CB4-4482-B9E0-8522795AAC51}">
      <dsp:nvSpPr>
        <dsp:cNvPr id="0" name=""/>
        <dsp:cNvSpPr/>
      </dsp:nvSpPr>
      <dsp:spPr>
        <a:xfrm>
          <a:off x="0" y="740807"/>
          <a:ext cx="2356920" cy="35706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s-PE" sz="1600" b="1" kern="1200"/>
            <a:t>X32=1	   C=1*1000</a:t>
          </a:r>
          <a:endParaRPr lang="es-PE" sz="1600" kern="1200"/>
        </a:p>
      </dsp:txBody>
      <dsp:txXfrm>
        <a:off x="17431" y="758238"/>
        <a:ext cx="2322058" cy="322205"/>
      </dsp:txXfrm>
    </dsp:sp>
    <dsp:sp modelId="{C6FB2F74-A746-4C4D-890D-CEA9F831DFD7}">
      <dsp:nvSpPr>
        <dsp:cNvPr id="0" name=""/>
        <dsp:cNvSpPr/>
      </dsp:nvSpPr>
      <dsp:spPr>
        <a:xfrm>
          <a:off x="0" y="1111191"/>
          <a:ext cx="2356920" cy="35706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s-PE" sz="1600" b="1" kern="1200"/>
            <a:t>X22=1	   C=1*1000</a:t>
          </a:r>
          <a:endParaRPr lang="es-PE" sz="1600" kern="1200"/>
        </a:p>
      </dsp:txBody>
      <dsp:txXfrm>
        <a:off x="17431" y="1128622"/>
        <a:ext cx="2322058" cy="322205"/>
      </dsp:txXfrm>
    </dsp:sp>
    <dsp:sp modelId="{91B69223-2677-448D-AF2B-5AC1157645AF}">
      <dsp:nvSpPr>
        <dsp:cNvPr id="0" name=""/>
        <dsp:cNvSpPr/>
      </dsp:nvSpPr>
      <dsp:spPr>
        <a:xfrm>
          <a:off x="0" y="1481575"/>
          <a:ext cx="2356920" cy="35706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s-PE" sz="1600" b="1" kern="1200"/>
            <a:t>X11=3	   C=3*1600</a:t>
          </a:r>
          <a:endParaRPr lang="es-PE" sz="1600" kern="1200"/>
        </a:p>
      </dsp:txBody>
      <dsp:txXfrm>
        <a:off x="17431" y="1499006"/>
        <a:ext cx="2322058" cy="322205"/>
      </dsp:txXfrm>
    </dsp:sp>
    <dsp:sp modelId="{2E08D2DC-42A8-4D3B-BCBB-CFE8A338E4FC}">
      <dsp:nvSpPr>
        <dsp:cNvPr id="0" name=""/>
        <dsp:cNvSpPr/>
      </dsp:nvSpPr>
      <dsp:spPr>
        <a:xfrm>
          <a:off x="0" y="1851960"/>
          <a:ext cx="2356920" cy="35706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s-PE" sz="1600" b="1" kern="1200"/>
            <a:t>X21=1	   C=1*900</a:t>
          </a:r>
          <a:endParaRPr lang="es-PE" sz="1600" kern="1200"/>
        </a:p>
      </dsp:txBody>
      <dsp:txXfrm>
        <a:off x="17431" y="1869391"/>
        <a:ext cx="2322058" cy="322205"/>
      </dsp:txXfrm>
    </dsp:sp>
    <dsp:sp modelId="{94C15FC8-E420-4AB0-9D4F-EA52EDF9CFB6}">
      <dsp:nvSpPr>
        <dsp:cNvPr id="0" name=""/>
        <dsp:cNvSpPr/>
      </dsp:nvSpPr>
      <dsp:spPr>
        <a:xfrm>
          <a:off x="0" y="2209027"/>
          <a:ext cx="2356920" cy="7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832" tIns="20320" rIns="113792" bIns="20320" numCol="1" spcCol="1270" anchor="t" anchorCtr="0">
          <a:noAutofit/>
        </a:bodyPr>
        <a:lstStyle/>
        <a:p>
          <a:pPr marL="171450" lvl="1" indent="-171450" algn="l" defTabSz="711200" rtl="0">
            <a:lnSpc>
              <a:spcPct val="90000"/>
            </a:lnSpc>
            <a:spcBef>
              <a:spcPct val="0"/>
            </a:spcBef>
            <a:spcAft>
              <a:spcPct val="20000"/>
            </a:spcAft>
            <a:buChar char="•"/>
          </a:pPr>
          <a:endParaRPr lang="es-PE" sz="1600" kern="1200"/>
        </a:p>
      </dsp:txBody>
      <dsp:txXfrm>
        <a:off x="0" y="2209027"/>
        <a:ext cx="2356920" cy="76573"/>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79BBBC-6DF8-4C5F-B71D-99D3562FF0F9}">
      <dsp:nvSpPr>
        <dsp:cNvPr id="0" name=""/>
        <dsp:cNvSpPr/>
      </dsp:nvSpPr>
      <dsp:spPr>
        <a:xfrm>
          <a:off x="0" y="169631"/>
          <a:ext cx="6395341"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0" kern="1200" dirty="0" err="1"/>
            <a:t>X44</a:t>
          </a:r>
          <a:r>
            <a:rPr lang="en-US" sz="2700" b="0" kern="1200" dirty="0"/>
            <a:t>=2     	              	C= 2 * 0      =  0</a:t>
          </a:r>
          <a:endParaRPr lang="es-PE" sz="2700" kern="1200" dirty="0"/>
        </a:p>
      </dsp:txBody>
      <dsp:txXfrm>
        <a:off x="31613" y="201244"/>
        <a:ext cx="6332115" cy="584369"/>
      </dsp:txXfrm>
    </dsp:sp>
    <dsp:sp modelId="{4BCFB751-FBF6-40AD-BDD7-95D2D0B6E8B2}">
      <dsp:nvSpPr>
        <dsp:cNvPr id="0" name=""/>
        <dsp:cNvSpPr/>
      </dsp:nvSpPr>
      <dsp:spPr>
        <a:xfrm>
          <a:off x="0" y="894986"/>
          <a:ext cx="6395341"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0" kern="1200"/>
            <a:t>X33=2			C= 2* 400  =   800</a:t>
          </a:r>
          <a:endParaRPr lang="es-PE" sz="2700" kern="1200"/>
        </a:p>
      </dsp:txBody>
      <dsp:txXfrm>
        <a:off x="31613" y="926599"/>
        <a:ext cx="6332115" cy="584369"/>
      </dsp:txXfrm>
    </dsp:sp>
    <dsp:sp modelId="{943D2645-E583-485E-81CC-27E77A812380}">
      <dsp:nvSpPr>
        <dsp:cNvPr id="0" name=""/>
        <dsp:cNvSpPr/>
      </dsp:nvSpPr>
      <dsp:spPr>
        <a:xfrm>
          <a:off x="0" y="1620341"/>
          <a:ext cx="6395341"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0" kern="1200"/>
            <a:t>X32=1			C= 1*1000 = 1000</a:t>
          </a:r>
          <a:endParaRPr lang="es-PE" sz="2700" kern="1200"/>
        </a:p>
      </dsp:txBody>
      <dsp:txXfrm>
        <a:off x="31613" y="1651954"/>
        <a:ext cx="6332115" cy="584369"/>
      </dsp:txXfrm>
    </dsp:sp>
    <dsp:sp modelId="{5313A16D-D5A9-45DC-9C08-D842989445CF}">
      <dsp:nvSpPr>
        <dsp:cNvPr id="0" name=""/>
        <dsp:cNvSpPr/>
      </dsp:nvSpPr>
      <dsp:spPr>
        <a:xfrm>
          <a:off x="0" y="2345696"/>
          <a:ext cx="6395341"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0" kern="1200"/>
            <a:t>X22=1			C= 1*1000 = 1000</a:t>
          </a:r>
          <a:endParaRPr lang="es-PE" sz="2700" kern="1200"/>
        </a:p>
      </dsp:txBody>
      <dsp:txXfrm>
        <a:off x="31613" y="2377309"/>
        <a:ext cx="6332115" cy="584369"/>
      </dsp:txXfrm>
    </dsp:sp>
    <dsp:sp modelId="{D8089D7D-BBF6-4B1B-B25A-6BADB8BE6F34}">
      <dsp:nvSpPr>
        <dsp:cNvPr id="0" name=""/>
        <dsp:cNvSpPr/>
      </dsp:nvSpPr>
      <dsp:spPr>
        <a:xfrm>
          <a:off x="0" y="3071051"/>
          <a:ext cx="6395341"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0" kern="1200"/>
            <a:t>X11=3			C= 3*1600 = 4800</a:t>
          </a:r>
          <a:endParaRPr lang="es-PE" sz="2700" kern="1200"/>
        </a:p>
      </dsp:txBody>
      <dsp:txXfrm>
        <a:off x="31613" y="3102664"/>
        <a:ext cx="6332115" cy="584369"/>
      </dsp:txXfrm>
    </dsp:sp>
    <dsp:sp modelId="{DEF7E4A1-7BBB-4FF5-B6EA-E0FD67EA53E6}">
      <dsp:nvSpPr>
        <dsp:cNvPr id="0" name=""/>
        <dsp:cNvSpPr/>
      </dsp:nvSpPr>
      <dsp:spPr>
        <a:xfrm>
          <a:off x="0" y="3796406"/>
          <a:ext cx="6395341"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0" kern="1200"/>
            <a:t>X21=1			C= 1*  900 =   900</a:t>
          </a:r>
          <a:endParaRPr lang="es-PE" sz="2700" kern="1200"/>
        </a:p>
      </dsp:txBody>
      <dsp:txXfrm>
        <a:off x="31613" y="3828019"/>
        <a:ext cx="6332115" cy="584369"/>
      </dsp:txXfrm>
    </dsp:sp>
    <dsp:sp modelId="{745DF0BF-572D-4017-99B4-095C85BE35A4}">
      <dsp:nvSpPr>
        <dsp:cNvPr id="0" name=""/>
        <dsp:cNvSpPr/>
      </dsp:nvSpPr>
      <dsp:spPr>
        <a:xfrm>
          <a:off x="0" y="4444001"/>
          <a:ext cx="6395341" cy="4610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052" tIns="30480" rIns="170688" bIns="30480" numCol="1" spcCol="1270" anchor="t" anchorCtr="0">
          <a:noAutofit/>
        </a:bodyPr>
        <a:lstStyle/>
        <a:p>
          <a:pPr marL="228600" lvl="1" indent="-228600" algn="l" defTabSz="1066800" rtl="0">
            <a:lnSpc>
              <a:spcPct val="90000"/>
            </a:lnSpc>
            <a:spcBef>
              <a:spcPct val="0"/>
            </a:spcBef>
            <a:spcAft>
              <a:spcPct val="20000"/>
            </a:spcAft>
            <a:buChar char="•"/>
          </a:pPr>
          <a:r>
            <a:rPr lang="en-US" sz="2400" b="0" kern="1200" dirty="0">
              <a:solidFill>
                <a:srgbClr val="FF0000"/>
              </a:solidFill>
            </a:rPr>
            <a:t>                                             </a:t>
          </a:r>
          <a:r>
            <a:rPr lang="en-US" sz="2800" b="1" kern="1200" dirty="0" err="1">
              <a:solidFill>
                <a:srgbClr val="FF0000"/>
              </a:solidFill>
            </a:rPr>
            <a:t>Costo</a:t>
          </a:r>
          <a:r>
            <a:rPr lang="en-US" sz="2800" b="1" kern="1200" dirty="0">
              <a:solidFill>
                <a:srgbClr val="FF0000"/>
              </a:solidFill>
            </a:rPr>
            <a:t> total = 8500  </a:t>
          </a:r>
          <a:endParaRPr lang="es-PE" sz="2800" b="1" kern="1200" dirty="0">
            <a:solidFill>
              <a:srgbClr val="FF0000"/>
            </a:solidFill>
          </a:endParaRPr>
        </a:p>
      </dsp:txBody>
      <dsp:txXfrm>
        <a:off x="0" y="4444001"/>
        <a:ext cx="6395341" cy="461092"/>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59C566-BC52-470D-A2D0-9E59A565B807}">
      <dsp:nvSpPr>
        <dsp:cNvPr id="0" name=""/>
        <dsp:cNvSpPr/>
      </dsp:nvSpPr>
      <dsp:spPr>
        <a:xfrm>
          <a:off x="0" y="358"/>
          <a:ext cx="2928599" cy="39397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PE" sz="2000" b="1" kern="1200" dirty="0" err="1"/>
            <a:t>X35</a:t>
          </a:r>
          <a:r>
            <a:rPr lang="es-PE" sz="2000" b="1" kern="1200" dirty="0"/>
            <a:t>=50        C=50*0</a:t>
          </a:r>
        </a:p>
      </dsp:txBody>
      <dsp:txXfrm>
        <a:off x="19232" y="19590"/>
        <a:ext cx="2890135" cy="355508"/>
      </dsp:txXfrm>
    </dsp:sp>
    <dsp:sp modelId="{60B7B039-67CE-4D51-986B-8BB0EBABF183}">
      <dsp:nvSpPr>
        <dsp:cNvPr id="0" name=""/>
        <dsp:cNvSpPr/>
      </dsp:nvSpPr>
      <dsp:spPr>
        <a:xfrm>
          <a:off x="0" y="406157"/>
          <a:ext cx="2928599" cy="39397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PE" sz="2000" b="1" kern="1200" dirty="0" err="1"/>
            <a:t>X13</a:t>
          </a:r>
          <a:r>
            <a:rPr lang="es-PE" sz="2000" b="1" kern="1200" dirty="0"/>
            <a:t>=200      C=200*3</a:t>
          </a:r>
        </a:p>
      </dsp:txBody>
      <dsp:txXfrm>
        <a:off x="19232" y="425389"/>
        <a:ext cx="2890135" cy="35550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F2BD64-16DB-4CFF-ACA0-6A998A6C6D65}">
      <dsp:nvSpPr>
        <dsp:cNvPr id="0" name=""/>
        <dsp:cNvSpPr/>
      </dsp:nvSpPr>
      <dsp:spPr>
        <a:xfrm>
          <a:off x="0" y="182"/>
          <a:ext cx="2515130" cy="3680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s-PE" sz="1600" b="1" kern="1200" dirty="0" err="1"/>
            <a:t>X35</a:t>
          </a:r>
          <a:r>
            <a:rPr lang="es-PE" sz="1600" b="1" kern="1200" dirty="0"/>
            <a:t>=50   C=50*0   =0</a:t>
          </a:r>
        </a:p>
      </dsp:txBody>
      <dsp:txXfrm>
        <a:off x="17964" y="18146"/>
        <a:ext cx="2479202" cy="332073"/>
      </dsp:txXfrm>
    </dsp:sp>
    <dsp:sp modelId="{D2243664-1AF1-40FC-AA5B-4734F47722C3}">
      <dsp:nvSpPr>
        <dsp:cNvPr id="0" name=""/>
        <dsp:cNvSpPr/>
      </dsp:nvSpPr>
      <dsp:spPr>
        <a:xfrm>
          <a:off x="0" y="381909"/>
          <a:ext cx="2515130" cy="3680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s-PE" sz="1600" b="1" kern="1200" dirty="0" err="1"/>
            <a:t>X13</a:t>
          </a:r>
          <a:r>
            <a:rPr lang="es-PE" sz="1600" b="1" kern="1200" dirty="0"/>
            <a:t>=200 C=200*3 =600</a:t>
          </a:r>
        </a:p>
      </dsp:txBody>
      <dsp:txXfrm>
        <a:off x="17964" y="399873"/>
        <a:ext cx="2479202" cy="332073"/>
      </dsp:txXfrm>
    </dsp:sp>
    <dsp:sp modelId="{70CC60C6-E337-4192-B38E-C67A02BD80AE}">
      <dsp:nvSpPr>
        <dsp:cNvPr id="0" name=""/>
        <dsp:cNvSpPr/>
      </dsp:nvSpPr>
      <dsp:spPr>
        <a:xfrm>
          <a:off x="0" y="763635"/>
          <a:ext cx="2515130" cy="3680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s-PE" sz="1600" b="1" kern="1200" dirty="0" err="1"/>
            <a:t>X12</a:t>
          </a:r>
          <a:r>
            <a:rPr lang="es-PE" sz="1600" b="1" kern="1200" dirty="0"/>
            <a:t>=100 C=100*4=400</a:t>
          </a:r>
        </a:p>
      </dsp:txBody>
      <dsp:txXfrm>
        <a:off x="17964" y="781599"/>
        <a:ext cx="2479202" cy="332073"/>
      </dsp:txXfrm>
    </dsp:sp>
    <dsp:sp modelId="{5E576F98-A0B7-438B-91DA-247A0417784A}">
      <dsp:nvSpPr>
        <dsp:cNvPr id="0" name=""/>
        <dsp:cNvSpPr/>
      </dsp:nvSpPr>
      <dsp:spPr>
        <a:xfrm>
          <a:off x="0" y="1140183"/>
          <a:ext cx="2515130" cy="3680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s-PE" sz="1600" b="1" kern="1200" dirty="0" err="1"/>
            <a:t>X21</a:t>
          </a:r>
          <a:r>
            <a:rPr lang="es-PE" sz="1600" b="1" kern="1200" dirty="0"/>
            <a:t>=150 C=150*5=750</a:t>
          </a:r>
        </a:p>
      </dsp:txBody>
      <dsp:txXfrm>
        <a:off x="17964" y="1158147"/>
        <a:ext cx="2479202" cy="332073"/>
      </dsp:txXfrm>
    </dsp:sp>
    <dsp:sp modelId="{65A6A187-0533-4CF2-A477-D5CB05D82706}">
      <dsp:nvSpPr>
        <dsp:cNvPr id="0" name=""/>
        <dsp:cNvSpPr/>
      </dsp:nvSpPr>
      <dsp:spPr>
        <a:xfrm>
          <a:off x="0" y="1513585"/>
          <a:ext cx="2515130" cy="3680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s-PE" sz="1600" b="1" kern="1200" dirty="0" err="1"/>
            <a:t>X24</a:t>
          </a:r>
          <a:r>
            <a:rPr lang="es-PE" sz="1600" b="1" kern="1200" dirty="0"/>
            <a:t>=50   C=50*11=55</a:t>
          </a:r>
        </a:p>
      </dsp:txBody>
      <dsp:txXfrm>
        <a:off x="17964" y="1531549"/>
        <a:ext cx="2479202" cy="332073"/>
      </dsp:txXfrm>
    </dsp:sp>
    <dsp:sp modelId="{216E1AEE-8EFA-4041-8212-06521B572029}">
      <dsp:nvSpPr>
        <dsp:cNvPr id="0" name=""/>
        <dsp:cNvSpPr/>
      </dsp:nvSpPr>
      <dsp:spPr>
        <a:xfrm>
          <a:off x="0" y="1900490"/>
          <a:ext cx="2515130" cy="3680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s-PE" sz="1600" b="1" kern="1200" dirty="0" err="1"/>
            <a:t>X25</a:t>
          </a:r>
          <a:r>
            <a:rPr lang="es-PE" sz="1600" b="1" kern="1200" dirty="0"/>
            <a:t>=200 C=200*13=2600</a:t>
          </a:r>
        </a:p>
      </dsp:txBody>
      <dsp:txXfrm>
        <a:off x="17964" y="1918454"/>
        <a:ext cx="2479202" cy="332073"/>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76FAB9-D5A9-428A-8C4F-D33DF5A6B008}">
      <dsp:nvSpPr>
        <dsp:cNvPr id="0" name=""/>
        <dsp:cNvSpPr/>
      </dsp:nvSpPr>
      <dsp:spPr>
        <a:xfrm>
          <a:off x="0" y="72895"/>
          <a:ext cx="5932097" cy="3580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rtl="0">
            <a:lnSpc>
              <a:spcPct val="90000"/>
            </a:lnSpc>
            <a:spcBef>
              <a:spcPct val="0"/>
            </a:spcBef>
            <a:spcAft>
              <a:spcPct val="35000"/>
            </a:spcAft>
            <a:buNone/>
          </a:pPr>
          <a:r>
            <a:rPr lang="es-PE" sz="2000" b="0" kern="1200" dirty="0"/>
            <a:t>Hay tres refinerías, con capacidades diarias de 6, 5 y 8 millones de galones, respectivamente, que abastecen a tres áreas de distribución cuyas demandas diarias son de 4, 8 y 7 millones de galones, respectivamente. La gasolina se transporta por una red de oleoductos de las tres áreas de distribución. El costo de transporte es 10 centavos por 1000 galones por milla de oleoducto. En la tabla se ven las distancias entre las refinerías y las áreas de distribución. La refinería 1 no está conectada con el área de distribución 3. Se pide: </a:t>
          </a:r>
          <a:r>
            <a:rPr lang="es-PE" sz="2000" b="1" kern="1200" dirty="0"/>
            <a:t>Determinar la mejor distribución</a:t>
          </a:r>
          <a:r>
            <a:rPr lang="es-PE" sz="2000" b="0" kern="1200" dirty="0"/>
            <a:t>. </a:t>
          </a:r>
          <a:r>
            <a:rPr lang="es-PE" sz="2000" b="1" kern="1200" dirty="0"/>
            <a:t>Use el método de </a:t>
          </a:r>
          <a:r>
            <a:rPr lang="es-PE" sz="2000" b="1" kern="1200" dirty="0" err="1"/>
            <a:t>Vogel</a:t>
          </a:r>
          <a:r>
            <a:rPr lang="es-PE" sz="2000" b="1" kern="1200" dirty="0"/>
            <a:t>.</a:t>
          </a:r>
          <a:endParaRPr lang="es-PE" sz="2000" kern="1200" dirty="0"/>
        </a:p>
      </dsp:txBody>
      <dsp:txXfrm>
        <a:off x="174801" y="247696"/>
        <a:ext cx="5582495" cy="3231218"/>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69D621-1D4A-4E7D-831A-21F418F09C15}">
      <dsp:nvSpPr>
        <dsp:cNvPr id="0" name=""/>
        <dsp:cNvSpPr/>
      </dsp:nvSpPr>
      <dsp:spPr>
        <a:xfrm>
          <a:off x="0" y="4859"/>
          <a:ext cx="3857400" cy="561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PE" sz="2000" b="1" kern="1200" dirty="0" err="1"/>
            <a:t>X22</a:t>
          </a:r>
          <a:r>
            <a:rPr lang="es-PE" sz="2000" b="1" kern="1200" dirty="0"/>
            <a:t>=5       C=5*100=500		</a:t>
          </a:r>
          <a:endParaRPr lang="es-PE" sz="2000" kern="1200" dirty="0"/>
        </a:p>
      </dsp:txBody>
      <dsp:txXfrm>
        <a:off x="27415" y="32274"/>
        <a:ext cx="3802570" cy="506770"/>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C6A0A2-0D7E-4248-A258-BF04ECA4054C}">
      <dsp:nvSpPr>
        <dsp:cNvPr id="0" name=""/>
        <dsp:cNvSpPr/>
      </dsp:nvSpPr>
      <dsp:spPr>
        <a:xfrm>
          <a:off x="0" y="166589"/>
          <a:ext cx="4214520"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rtl="0">
            <a:lnSpc>
              <a:spcPct val="90000"/>
            </a:lnSpc>
            <a:spcBef>
              <a:spcPct val="0"/>
            </a:spcBef>
            <a:spcAft>
              <a:spcPct val="35000"/>
            </a:spcAft>
            <a:buNone/>
          </a:pPr>
          <a:r>
            <a:rPr lang="es-PE" sz="2200" b="1" kern="1200"/>
            <a:t>X22=5 C=5*100=500</a:t>
          </a:r>
          <a:endParaRPr lang="es-PE" sz="2200" kern="1200"/>
        </a:p>
      </dsp:txBody>
      <dsp:txXfrm>
        <a:off x="25759" y="192348"/>
        <a:ext cx="4163002" cy="476152"/>
      </dsp:txXfrm>
    </dsp:sp>
    <dsp:sp modelId="{4990BBD3-2243-458D-83C2-C6843E591A41}">
      <dsp:nvSpPr>
        <dsp:cNvPr id="0" name=""/>
        <dsp:cNvSpPr/>
      </dsp:nvSpPr>
      <dsp:spPr>
        <a:xfrm>
          <a:off x="0" y="757619"/>
          <a:ext cx="4214520"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rtl="0">
            <a:lnSpc>
              <a:spcPct val="90000"/>
            </a:lnSpc>
            <a:spcBef>
              <a:spcPct val="0"/>
            </a:spcBef>
            <a:spcAft>
              <a:spcPct val="35000"/>
            </a:spcAft>
            <a:buNone/>
          </a:pPr>
          <a:r>
            <a:rPr lang="es-PE" sz="2200" b="1" kern="1200"/>
            <a:t>X33=7 C=7*120=840		</a:t>
          </a:r>
          <a:endParaRPr lang="es-PE" sz="2200" kern="1200"/>
        </a:p>
      </dsp:txBody>
      <dsp:txXfrm>
        <a:off x="25759" y="783378"/>
        <a:ext cx="4163002" cy="476152"/>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D0071-8373-4251-85FA-06FB9B063D6A}">
      <dsp:nvSpPr>
        <dsp:cNvPr id="0" name=""/>
        <dsp:cNvSpPr/>
      </dsp:nvSpPr>
      <dsp:spPr>
        <a:xfrm>
          <a:off x="0" y="129568"/>
          <a:ext cx="5973756" cy="33957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s-PE" sz="2000" b="0" kern="1200" dirty="0"/>
            <a:t>COSAPI DATA, tiene siete consultores nacionales de sistemas contables, uno de los cuales residen en Trujillo, dos en Arequipa y cuatro en Lima. Iquitos ha solicitado tres consultores durante una semana a una tarifa de $800, Madre de Dios ha solicitado dos consultores durante una semana a una tarifa de $600 y Piura ha solicitado un consultor durante una semana a una tarifa de $700. Los gastos por consultor son de $160 en Iquitos, $180 en Madre de Dios y $220 en Piura. La siguiente tabla muestra las tarifas de viaje en $ para enviar por avión a los consultores. Resuelva utilizando el Método de Vogel.</a:t>
          </a:r>
        </a:p>
      </dsp:txBody>
      <dsp:txXfrm>
        <a:off x="165765" y="295333"/>
        <a:ext cx="5642226" cy="306417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5178B7CE-16B1-4D5A-BEDA-E05D7C0F0E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a:extLst>
              <a:ext uri="{FF2B5EF4-FFF2-40B4-BE49-F238E27FC236}">
                <a16:creationId xmlns:a16="http://schemas.microsoft.com/office/drawing/2014/main" id="{E5CE36C0-2D64-40DB-852E-EFE530BD79E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703D107-6AA0-4BB9-B3AF-2511759F0087}" type="datetimeFigureOut">
              <a:rPr lang="es-PE" smtClean="0"/>
              <a:t>16/08/2026</a:t>
            </a:fld>
            <a:endParaRPr lang="es-PE"/>
          </a:p>
        </p:txBody>
      </p:sp>
      <p:sp>
        <p:nvSpPr>
          <p:cNvPr id="4" name="Marcador de pie de página 3">
            <a:extLst>
              <a:ext uri="{FF2B5EF4-FFF2-40B4-BE49-F238E27FC236}">
                <a16:creationId xmlns:a16="http://schemas.microsoft.com/office/drawing/2014/main" id="{CBB9BBA3-CB3B-42EF-AC1C-A77E63AFD7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5" name="Marcador de número de diapositiva 4">
            <a:extLst>
              <a:ext uri="{FF2B5EF4-FFF2-40B4-BE49-F238E27FC236}">
                <a16:creationId xmlns:a16="http://schemas.microsoft.com/office/drawing/2014/main" id="{B59A3671-5C2E-4C01-9181-86F7078515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4CDB2B-DC05-4B7E-84A4-8E8FE9CBF710}" type="slidenum">
              <a:rPr lang="es-PE" smtClean="0"/>
              <a:t>‹Nº›</a:t>
            </a:fld>
            <a:endParaRPr lang="es-PE"/>
          </a:p>
        </p:txBody>
      </p:sp>
    </p:spTree>
    <p:extLst>
      <p:ext uri="{BB962C8B-B14F-4D97-AF65-F5344CB8AC3E}">
        <p14:creationId xmlns:p14="http://schemas.microsoft.com/office/powerpoint/2010/main" val="29674508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1D54B5-B035-46F5-86D2-1F43704B1BDB}" type="datetimeFigureOut">
              <a:rPr lang="es-PE" smtClean="0"/>
              <a:t>16/08/2026</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836FA3-1F11-49F4-B68F-8771EDD4DFA8}" type="slidenum">
              <a:rPr lang="es-PE" smtClean="0"/>
              <a:t>‹Nº›</a:t>
            </a:fld>
            <a:endParaRPr lang="es-PE"/>
          </a:p>
        </p:txBody>
      </p:sp>
    </p:spTree>
    <p:extLst>
      <p:ext uri="{BB962C8B-B14F-4D97-AF65-F5344CB8AC3E}">
        <p14:creationId xmlns:p14="http://schemas.microsoft.com/office/powerpoint/2010/main" val="3081994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a:xfrm>
            <a:off x="3884613" y="8685213"/>
            <a:ext cx="2971800" cy="457200"/>
          </a:xfrm>
          <a:prstGeom prst="rect">
            <a:avLst/>
          </a:prstGeom>
        </p:spPr>
        <p:txBody>
          <a:bodyPr/>
          <a:lstStyle/>
          <a:p>
            <a:fld id="{937FDB4C-8DB5-4895-9E8B-EB4F1648811C}" type="slidenum">
              <a:rPr lang="es-ES" smtClean="0"/>
              <a:pPr/>
              <a:t>3</a:t>
            </a:fld>
            <a:endParaRPr lang="es-ES" dirty="0"/>
          </a:p>
        </p:txBody>
      </p:sp>
    </p:spTree>
    <p:extLst>
      <p:ext uri="{BB962C8B-B14F-4D97-AF65-F5344CB8AC3E}">
        <p14:creationId xmlns:p14="http://schemas.microsoft.com/office/powerpoint/2010/main" val="672980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PE" dirty="0"/>
          </a:p>
        </p:txBody>
      </p:sp>
      <p:sp>
        <p:nvSpPr>
          <p:cNvPr id="4" name="3 Marcador de número de diapositiva"/>
          <p:cNvSpPr>
            <a:spLocks noGrp="1"/>
          </p:cNvSpPr>
          <p:nvPr>
            <p:ph type="sldNum" sz="quarter" idx="10"/>
          </p:nvPr>
        </p:nvSpPr>
        <p:spPr/>
        <p:txBody>
          <a:bodyPr/>
          <a:lstStyle/>
          <a:p>
            <a:fld id="{C8670894-317D-47E7-A2D6-BBD5CEEF50F8}" type="slidenum">
              <a:rPr lang="es-ES" smtClean="0"/>
              <a:t>64</a:t>
            </a:fld>
            <a:endParaRPr lang="es-ES" dirty="0"/>
          </a:p>
        </p:txBody>
      </p:sp>
    </p:spTree>
    <p:extLst>
      <p:ext uri="{BB962C8B-B14F-4D97-AF65-F5344CB8AC3E}">
        <p14:creationId xmlns:p14="http://schemas.microsoft.com/office/powerpoint/2010/main" val="13255475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PE" dirty="0"/>
          </a:p>
        </p:txBody>
      </p:sp>
      <p:sp>
        <p:nvSpPr>
          <p:cNvPr id="4" name="3 Marcador de número de diapositiva"/>
          <p:cNvSpPr>
            <a:spLocks noGrp="1"/>
          </p:cNvSpPr>
          <p:nvPr>
            <p:ph type="sldNum" sz="quarter" idx="10"/>
          </p:nvPr>
        </p:nvSpPr>
        <p:spPr/>
        <p:txBody>
          <a:bodyPr/>
          <a:lstStyle/>
          <a:p>
            <a:fld id="{C8670894-317D-47E7-A2D6-BBD5CEEF50F8}" type="slidenum">
              <a:rPr lang="es-ES" smtClean="0"/>
              <a:t>65</a:t>
            </a:fld>
            <a:endParaRPr lang="es-ES" dirty="0"/>
          </a:p>
        </p:txBody>
      </p:sp>
    </p:spTree>
    <p:extLst>
      <p:ext uri="{BB962C8B-B14F-4D97-AF65-F5344CB8AC3E}">
        <p14:creationId xmlns:p14="http://schemas.microsoft.com/office/powerpoint/2010/main" val="1325547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PE" dirty="0"/>
          </a:p>
        </p:txBody>
      </p:sp>
      <p:sp>
        <p:nvSpPr>
          <p:cNvPr id="4" name="3 Marcador de número de diapositiva"/>
          <p:cNvSpPr>
            <a:spLocks noGrp="1"/>
          </p:cNvSpPr>
          <p:nvPr>
            <p:ph type="sldNum" sz="quarter" idx="10"/>
          </p:nvPr>
        </p:nvSpPr>
        <p:spPr/>
        <p:txBody>
          <a:bodyPr/>
          <a:lstStyle/>
          <a:p>
            <a:fld id="{C8670894-317D-47E7-A2D6-BBD5CEEF50F8}" type="slidenum">
              <a:rPr lang="es-ES" smtClean="0"/>
              <a:t>66</a:t>
            </a:fld>
            <a:endParaRPr lang="es-ES" dirty="0"/>
          </a:p>
        </p:txBody>
      </p:sp>
    </p:spTree>
    <p:extLst>
      <p:ext uri="{BB962C8B-B14F-4D97-AF65-F5344CB8AC3E}">
        <p14:creationId xmlns:p14="http://schemas.microsoft.com/office/powerpoint/2010/main" val="13255475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10"/>
          </p:nvPr>
        </p:nvSpPr>
        <p:spPr/>
        <p:txBody>
          <a:bodyPr/>
          <a:lstStyle/>
          <a:p>
            <a:pPr rtl="0"/>
            <a:fld id="{DED491D0-8E1B-49C7-849B-A28568D94497}" type="slidenum">
              <a:rPr lang="es-ES" noProof="0" smtClean="0"/>
              <a:t>67</a:t>
            </a:fld>
            <a:endParaRPr lang="es-ES" noProof="0" dirty="0"/>
          </a:p>
        </p:txBody>
      </p:sp>
    </p:spTree>
    <p:extLst>
      <p:ext uri="{BB962C8B-B14F-4D97-AF65-F5344CB8AC3E}">
        <p14:creationId xmlns:p14="http://schemas.microsoft.com/office/powerpoint/2010/main" val="1996033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10"/>
          </p:nvPr>
        </p:nvSpPr>
        <p:spPr/>
        <p:txBody>
          <a:bodyPr/>
          <a:lstStyle/>
          <a:p>
            <a:pPr rtl="0"/>
            <a:fld id="{DED491D0-8E1B-49C7-849B-A28568D94497}" type="slidenum">
              <a:rPr lang="es-ES" noProof="0" smtClean="0"/>
              <a:t>68</a:t>
            </a:fld>
            <a:endParaRPr lang="es-ES" noProof="0" dirty="0"/>
          </a:p>
        </p:txBody>
      </p:sp>
    </p:spTree>
    <p:extLst>
      <p:ext uri="{BB962C8B-B14F-4D97-AF65-F5344CB8AC3E}">
        <p14:creationId xmlns:p14="http://schemas.microsoft.com/office/powerpoint/2010/main" val="14635839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10"/>
          </p:nvPr>
        </p:nvSpPr>
        <p:spPr/>
        <p:txBody>
          <a:bodyPr/>
          <a:lstStyle/>
          <a:p>
            <a:pPr rtl="0"/>
            <a:fld id="{DED491D0-8E1B-49C7-849B-A28568D94497}" type="slidenum">
              <a:rPr lang="es-ES" noProof="0" smtClean="0"/>
              <a:t>74</a:t>
            </a:fld>
            <a:endParaRPr lang="es-ES" noProof="0" dirty="0"/>
          </a:p>
        </p:txBody>
      </p:sp>
    </p:spTree>
    <p:extLst>
      <p:ext uri="{BB962C8B-B14F-4D97-AF65-F5344CB8AC3E}">
        <p14:creationId xmlns:p14="http://schemas.microsoft.com/office/powerpoint/2010/main" val="1373554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10"/>
          </p:nvPr>
        </p:nvSpPr>
        <p:spPr/>
        <p:txBody>
          <a:bodyPr/>
          <a:lstStyle/>
          <a:p>
            <a:pPr rtl="0"/>
            <a:fld id="{DED491D0-8E1B-49C7-849B-A28568D94497}" type="slidenum">
              <a:rPr lang="es-ES" noProof="0" smtClean="0"/>
              <a:t>76</a:t>
            </a:fld>
            <a:endParaRPr lang="es-ES" noProof="0" dirty="0"/>
          </a:p>
        </p:txBody>
      </p:sp>
    </p:spTree>
    <p:extLst>
      <p:ext uri="{BB962C8B-B14F-4D97-AF65-F5344CB8AC3E}">
        <p14:creationId xmlns:p14="http://schemas.microsoft.com/office/powerpoint/2010/main" val="5032551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10"/>
          </p:nvPr>
        </p:nvSpPr>
        <p:spPr/>
        <p:txBody>
          <a:bodyPr/>
          <a:lstStyle/>
          <a:p>
            <a:pPr rtl="0"/>
            <a:fld id="{DED491D0-8E1B-49C7-849B-A28568D94497}" type="slidenum">
              <a:rPr lang="es-ES" noProof="0" smtClean="0"/>
              <a:t>77</a:t>
            </a:fld>
            <a:endParaRPr lang="es-ES" noProof="0" dirty="0"/>
          </a:p>
        </p:txBody>
      </p:sp>
    </p:spTree>
    <p:extLst>
      <p:ext uri="{BB962C8B-B14F-4D97-AF65-F5344CB8AC3E}">
        <p14:creationId xmlns:p14="http://schemas.microsoft.com/office/powerpoint/2010/main" val="35822156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10"/>
          </p:nvPr>
        </p:nvSpPr>
        <p:spPr/>
        <p:txBody>
          <a:bodyPr/>
          <a:lstStyle/>
          <a:p>
            <a:pPr rtl="0"/>
            <a:fld id="{DED491D0-8E1B-49C7-849B-A28568D94497}" type="slidenum">
              <a:rPr lang="es-ES" noProof="0" smtClean="0"/>
              <a:t>79</a:t>
            </a:fld>
            <a:endParaRPr lang="es-ES" noProof="0" dirty="0"/>
          </a:p>
        </p:txBody>
      </p:sp>
    </p:spTree>
    <p:extLst>
      <p:ext uri="{BB962C8B-B14F-4D97-AF65-F5344CB8AC3E}">
        <p14:creationId xmlns:p14="http://schemas.microsoft.com/office/powerpoint/2010/main" val="17410037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5f391192_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5f391192_0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20E13C-61E5-46CC-960D-63C41DAD061E}"/>
              </a:ext>
            </a:extLst>
          </p:cNvPr>
          <p:cNvSpPr>
            <a:spLocks noGrp="1"/>
          </p:cNvSpPr>
          <p:nvPr>
            <p:ph type="ctrTitle"/>
          </p:nvPr>
        </p:nvSpPr>
        <p:spPr>
          <a:xfrm>
            <a:off x="1524000" y="1263684"/>
            <a:ext cx="9144000" cy="2387600"/>
          </a:xfrm>
          <a:prstGeom prst="rect">
            <a:avLst/>
          </a:prstGeo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E6267FC4-894E-4993-BA18-2C880EE5C7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0CFA1ECE-8248-44B1-88C7-8265017B783A}"/>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4C7FFCCB-2285-4BA7-B745-4CE0B16C5B27}"/>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7C464D61-7B3F-4D44-B814-04BD0FE4C3C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884842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2F9EE1-AB02-439C-A953-D0BD302CF3B0}"/>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EF391F11-EC76-4F7E-AC56-EAD0CEBCAEA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DB378AEF-A6A9-47DF-9C5C-6B50070076FC}"/>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B8D63CA0-8BC2-4AA4-81B5-97227686EA4A}"/>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2EA60248-016B-4028-85F2-75F83EB9133C}"/>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273057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0EA209-C4D8-4196-890A-95A7CD4C0680}"/>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07D6A4D1-0438-48FA-ADCC-AC432CD76F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A542E60-612D-41CC-9EE5-C343BC61B2E7}"/>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9BA065A3-6AD0-4723-847E-57B36A32A33D}"/>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86EC95E3-1973-401E-B849-5F2F2C4250A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2837268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FDB3A3-9D86-449F-A088-128C6B5F0AB9}"/>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28EF8CB9-38CA-4EBF-8F62-EE68B4D6F6A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F5BC23C3-AE0F-4F5F-B104-BC7EA7551CA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7FCBCC75-FAFB-4988-ADC8-1E30F0A4E934}"/>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6" name="Marcador de pie de página 5">
            <a:extLst>
              <a:ext uri="{FF2B5EF4-FFF2-40B4-BE49-F238E27FC236}">
                <a16:creationId xmlns:a16="http://schemas.microsoft.com/office/drawing/2014/main" id="{9A7CF524-1AD2-4D6E-AF46-445C3506EF87}"/>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1FB533D9-E06A-43BB-8FFF-B7E7E56A373C}"/>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239711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E725AD-02A9-499A-B864-01AF086F41AE}"/>
              </a:ext>
            </a:extLst>
          </p:cNvPr>
          <p:cNvSpPr>
            <a:spLocks noGrp="1"/>
          </p:cNvSpPr>
          <p:nvPr>
            <p:ph type="title"/>
          </p:nvPr>
        </p:nvSpPr>
        <p:spPr>
          <a:xfrm>
            <a:off x="839788" y="365125"/>
            <a:ext cx="10515600" cy="1325563"/>
          </a:xfrm>
          <a:prstGeom prst="rect">
            <a:avLst/>
          </a:prstGeo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0A753734-FC45-4B55-9A29-B26B4CA130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198FBB3-E4E6-411C-A6B3-B26D0633537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0EBACB3A-C4CB-4902-9988-B007A97C90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EE2010D-8FDA-4E19-9A31-23C0FE9DC25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7D1D191B-5CF0-419F-BF5B-EA606AC8D5E6}"/>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8" name="Marcador de pie de página 7">
            <a:extLst>
              <a:ext uri="{FF2B5EF4-FFF2-40B4-BE49-F238E27FC236}">
                <a16:creationId xmlns:a16="http://schemas.microsoft.com/office/drawing/2014/main" id="{3D8A4629-604A-46AD-BB45-292C54D7C6BA}"/>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5C5A188A-724B-44E9-BEF7-9E257530ECA1}"/>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749276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94FFE6-E44F-47FD-8C64-C1FC42A7E758}"/>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A168DDD2-028A-4549-9EB3-E843188772B4}"/>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4" name="Marcador de pie de página 3">
            <a:extLst>
              <a:ext uri="{FF2B5EF4-FFF2-40B4-BE49-F238E27FC236}">
                <a16:creationId xmlns:a16="http://schemas.microsoft.com/office/drawing/2014/main" id="{ED50669B-5EDE-4060-A1CA-FE7DBD964491}"/>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6F429BDB-A623-46DB-A3B7-8B68CD92E4DB}"/>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576645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578ADCC-78DF-44C4-A2C7-A7CF2426998D}"/>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3" name="Marcador de pie de página 2">
            <a:extLst>
              <a:ext uri="{FF2B5EF4-FFF2-40B4-BE49-F238E27FC236}">
                <a16:creationId xmlns:a16="http://schemas.microsoft.com/office/drawing/2014/main" id="{BB7367FB-6CD9-4469-A229-B61F0DC43390}"/>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C301C5A5-C7FD-466A-934B-60249339DC95}"/>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052191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11FB1A-74AA-4E0D-83B3-1170F865B31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65D0C1AE-BAE4-48E0-88AC-F6958D0E85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6F3CCC19-652F-4628-8819-4FD180AB86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33BD21F-BC06-43CD-9F66-5FD87304EEC4}"/>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6" name="Marcador de pie de página 5">
            <a:extLst>
              <a:ext uri="{FF2B5EF4-FFF2-40B4-BE49-F238E27FC236}">
                <a16:creationId xmlns:a16="http://schemas.microsoft.com/office/drawing/2014/main" id="{B82DF95C-F515-4AB8-9206-5F559DA0B4D2}"/>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93A0F4A3-A4A8-4405-B84F-C1D44A15E05E}"/>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478757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593BB7-CA9F-4940-8C7F-2CBF43BB503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3045E52B-AEB7-42F1-BC8E-CA7E0DDCD4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193A4FC1-5C27-4983-99E0-60D4F82D50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FFB805C-3A94-453E-BC4E-88A5F9C856A2}"/>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6" name="Marcador de pie de página 5">
            <a:extLst>
              <a:ext uri="{FF2B5EF4-FFF2-40B4-BE49-F238E27FC236}">
                <a16:creationId xmlns:a16="http://schemas.microsoft.com/office/drawing/2014/main" id="{C448EB1F-6B71-43D0-B4BB-2F47A94BAF65}"/>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F90476AE-7DAC-4DCA-A6E4-E2E505CBF2BE}"/>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519759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15B00E-0B7A-4AA1-B637-DC7127C42E77}"/>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882176F4-1231-4795-897F-95458CBCE8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606A9332-3346-4724-9DEE-503B007FAF02}"/>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86A3589D-3073-43DA-AEA2-6F6C05DA511B}"/>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3FEE47B5-2AEE-4851-B029-9988B8B57A7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771582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4AFE1D6-7CA5-4A02-A9CE-8A394A8F3E8F}"/>
              </a:ext>
            </a:extLst>
          </p:cNvPr>
          <p:cNvSpPr>
            <a:spLocks noGrp="1"/>
          </p:cNvSpPr>
          <p:nvPr>
            <p:ph type="title" orient="vert"/>
          </p:nvPr>
        </p:nvSpPr>
        <p:spPr>
          <a:xfrm>
            <a:off x="8724900" y="365125"/>
            <a:ext cx="2628900" cy="5811838"/>
          </a:xfrm>
          <a:prstGeom prst="rect">
            <a:avLst/>
          </a:prstGeo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C218F9D7-F895-4417-B97E-7076B318453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4A8AE240-89B5-46F0-94D1-CF5205BCB4DE}"/>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E4EB6FE0-843B-48B7-80F0-575414327683}"/>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42CE9982-F23C-426D-A95A-1B50FADAB460}"/>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670270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title"/>
          </p:nvPr>
        </p:nvSpPr>
        <p:spPr>
          <a:xfrm>
            <a:off x="974400" y="3986567"/>
            <a:ext cx="5629600" cy="1220400"/>
          </a:xfrm>
          <a:prstGeom prst="rect">
            <a:avLst/>
          </a:prstGeom>
        </p:spPr>
        <p:txBody>
          <a:bodyPr spcFirstLastPara="1" wrap="square" lIns="0" tIns="0" rIns="0" bIns="0" anchor="ctr" anchorCtr="0">
            <a:noAutofit/>
          </a:bodyPr>
          <a:lstStyle>
            <a:lvl1pPr lvl="0" rtl="0">
              <a:spcBef>
                <a:spcPts val="0"/>
              </a:spcBef>
              <a:spcAft>
                <a:spcPts val="0"/>
              </a:spcAft>
              <a:buSzPts val="9400"/>
              <a:buNone/>
              <a:defRPr sz="12535"/>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r>
              <a:rPr lang="es-ES"/>
              <a:t>Haga clic para modificar el estilo de título del patrón</a:t>
            </a:r>
          </a:p>
        </p:txBody>
      </p:sp>
      <p:grpSp>
        <p:nvGrpSpPr>
          <p:cNvPr id="10" name="Google Shape;10;p2"/>
          <p:cNvGrpSpPr/>
          <p:nvPr/>
        </p:nvGrpSpPr>
        <p:grpSpPr>
          <a:xfrm>
            <a:off x="4658468" y="-60667"/>
            <a:ext cx="7533533" cy="6979333"/>
            <a:chOff x="970375" y="238125"/>
            <a:chExt cx="5650150" cy="5234500"/>
          </a:xfrm>
        </p:grpSpPr>
        <p:sp>
          <p:nvSpPr>
            <p:cNvPr id="11" name="Google Shape;11;p2"/>
            <p:cNvSpPr/>
            <p:nvPr/>
          </p:nvSpPr>
          <p:spPr>
            <a:xfrm>
              <a:off x="970375" y="238125"/>
              <a:ext cx="1456750" cy="5234500"/>
            </a:xfrm>
            <a:custGeom>
              <a:avLst/>
              <a:gdLst/>
              <a:ahLst/>
              <a:cxnLst/>
              <a:rect l="l" t="t" r="r" b="b"/>
              <a:pathLst>
                <a:path w="58270" h="209380" extrusionOk="0">
                  <a:moveTo>
                    <a:pt x="55587" y="0"/>
                  </a:moveTo>
                  <a:lnTo>
                    <a:pt x="7833" y="82697"/>
                  </a:lnTo>
                  <a:cubicBezTo>
                    <a:pt x="0" y="96268"/>
                    <a:pt x="16" y="113111"/>
                    <a:pt x="7833" y="126682"/>
                  </a:cubicBezTo>
                  <a:lnTo>
                    <a:pt x="55587" y="209379"/>
                  </a:lnTo>
                  <a:lnTo>
                    <a:pt x="58270" y="209379"/>
                  </a:lnTo>
                  <a:lnTo>
                    <a:pt x="9849" y="125519"/>
                  </a:lnTo>
                  <a:cubicBezTo>
                    <a:pt x="2435" y="112677"/>
                    <a:pt x="2435" y="96718"/>
                    <a:pt x="9849" y="83860"/>
                  </a:cubicBezTo>
                  <a:lnTo>
                    <a:pt x="582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 name="Google Shape;12;p2"/>
            <p:cNvSpPr/>
            <p:nvPr/>
          </p:nvSpPr>
          <p:spPr>
            <a:xfrm>
              <a:off x="1607825" y="238125"/>
              <a:ext cx="5012700" cy="5234500"/>
            </a:xfrm>
            <a:custGeom>
              <a:avLst/>
              <a:gdLst/>
              <a:ahLst/>
              <a:cxnLst/>
              <a:rect l="l" t="t" r="r" b="b"/>
              <a:pathLst>
                <a:path w="200508" h="209380" extrusionOk="0">
                  <a:moveTo>
                    <a:pt x="58300" y="0"/>
                  </a:moveTo>
                  <a:lnTo>
                    <a:pt x="3490" y="94919"/>
                  </a:lnTo>
                  <a:cubicBezTo>
                    <a:pt x="0" y="100967"/>
                    <a:pt x="0" y="108412"/>
                    <a:pt x="3490" y="114461"/>
                  </a:cubicBezTo>
                  <a:lnTo>
                    <a:pt x="58300" y="209379"/>
                  </a:lnTo>
                  <a:lnTo>
                    <a:pt x="200507" y="209379"/>
                  </a:lnTo>
                  <a:lnTo>
                    <a:pt x="2005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 name="Google Shape;13;p2"/>
          <p:cNvSpPr/>
          <p:nvPr/>
        </p:nvSpPr>
        <p:spPr>
          <a:xfrm rot="1799984">
            <a:off x="7317323" y="61421"/>
            <a:ext cx="28460" cy="2319628"/>
          </a:xfrm>
          <a:custGeom>
            <a:avLst/>
            <a:gdLst/>
            <a:ahLst/>
            <a:cxnLst/>
            <a:rect l="l" t="t" r="r" b="b"/>
            <a:pathLst>
              <a:path w="2187" h="207239" extrusionOk="0">
                <a:moveTo>
                  <a:pt x="1094" y="0"/>
                </a:moveTo>
                <a:cubicBezTo>
                  <a:pt x="500" y="0"/>
                  <a:pt x="1" y="469"/>
                  <a:pt x="1" y="1063"/>
                </a:cubicBezTo>
                <a:lnTo>
                  <a:pt x="1" y="206145"/>
                </a:lnTo>
                <a:cubicBezTo>
                  <a:pt x="1" y="206739"/>
                  <a:pt x="500" y="207239"/>
                  <a:pt x="1094" y="207239"/>
                </a:cubicBezTo>
                <a:cubicBezTo>
                  <a:pt x="1281" y="207239"/>
                  <a:pt x="1469" y="207176"/>
                  <a:pt x="1625" y="207083"/>
                </a:cubicBezTo>
                <a:cubicBezTo>
                  <a:pt x="1968" y="206895"/>
                  <a:pt x="2187" y="206552"/>
                  <a:pt x="2187" y="206145"/>
                </a:cubicBezTo>
                <a:lnTo>
                  <a:pt x="2187" y="1063"/>
                </a:lnTo>
                <a:cubicBezTo>
                  <a:pt x="2187" y="469"/>
                  <a:pt x="1687" y="0"/>
                  <a:pt x="109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 name="Google Shape;14;p2"/>
          <p:cNvSpPr/>
          <p:nvPr/>
        </p:nvSpPr>
        <p:spPr>
          <a:xfrm rot="1799984">
            <a:off x="8289458" y="-929179"/>
            <a:ext cx="28460" cy="2319628"/>
          </a:xfrm>
          <a:custGeom>
            <a:avLst/>
            <a:gdLst/>
            <a:ahLst/>
            <a:cxnLst/>
            <a:rect l="l" t="t" r="r" b="b"/>
            <a:pathLst>
              <a:path w="2187" h="207239" extrusionOk="0">
                <a:moveTo>
                  <a:pt x="1094" y="0"/>
                </a:moveTo>
                <a:cubicBezTo>
                  <a:pt x="500" y="0"/>
                  <a:pt x="1" y="469"/>
                  <a:pt x="1" y="1063"/>
                </a:cubicBezTo>
                <a:lnTo>
                  <a:pt x="1" y="206145"/>
                </a:lnTo>
                <a:cubicBezTo>
                  <a:pt x="1" y="206739"/>
                  <a:pt x="500" y="207239"/>
                  <a:pt x="1094" y="207239"/>
                </a:cubicBezTo>
                <a:cubicBezTo>
                  <a:pt x="1281" y="207239"/>
                  <a:pt x="1469" y="207176"/>
                  <a:pt x="1625" y="207083"/>
                </a:cubicBezTo>
                <a:cubicBezTo>
                  <a:pt x="1968" y="206895"/>
                  <a:pt x="2187" y="206552"/>
                  <a:pt x="2187" y="206145"/>
                </a:cubicBezTo>
                <a:lnTo>
                  <a:pt x="2187" y="1063"/>
                </a:lnTo>
                <a:cubicBezTo>
                  <a:pt x="2187" y="469"/>
                  <a:pt x="1687" y="0"/>
                  <a:pt x="109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 name="Google Shape;15;p2"/>
          <p:cNvGrpSpPr/>
          <p:nvPr/>
        </p:nvGrpSpPr>
        <p:grpSpPr>
          <a:xfrm>
            <a:off x="1016002" y="1081899"/>
            <a:ext cx="620999" cy="573676"/>
            <a:chOff x="1877325" y="757774"/>
            <a:chExt cx="581969" cy="537619"/>
          </a:xfrm>
        </p:grpSpPr>
        <p:sp>
          <p:nvSpPr>
            <p:cNvPr id="16" name="Google Shape;16;p2"/>
            <p:cNvSpPr/>
            <p:nvPr/>
          </p:nvSpPr>
          <p:spPr>
            <a:xfrm>
              <a:off x="1877325" y="757774"/>
              <a:ext cx="63598" cy="63598"/>
            </a:xfrm>
            <a:custGeom>
              <a:avLst/>
              <a:gdLst/>
              <a:ahLst/>
              <a:cxnLst/>
              <a:rect l="l" t="t" r="r" b="b"/>
              <a:pathLst>
                <a:path w="13312" h="13312" extrusionOk="0">
                  <a:moveTo>
                    <a:pt x="6656" y="0"/>
                  </a:moveTo>
                  <a:cubicBezTo>
                    <a:pt x="3026" y="0"/>
                    <a:pt x="0" y="3026"/>
                    <a:pt x="0" y="6656"/>
                  </a:cubicBezTo>
                  <a:cubicBezTo>
                    <a:pt x="0" y="10387"/>
                    <a:pt x="3026" y="13312"/>
                    <a:pt x="6656" y="13312"/>
                  </a:cubicBezTo>
                  <a:cubicBezTo>
                    <a:pt x="10387" y="13312"/>
                    <a:pt x="13311" y="10387"/>
                    <a:pt x="13311" y="6656"/>
                  </a:cubicBezTo>
                  <a:cubicBezTo>
                    <a:pt x="13311" y="3026"/>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2050274" y="757774"/>
              <a:ext cx="63598" cy="63598"/>
            </a:xfrm>
            <a:custGeom>
              <a:avLst/>
              <a:gdLst/>
              <a:ahLst/>
              <a:cxnLst/>
              <a:rect l="l" t="t" r="r" b="b"/>
              <a:pathLst>
                <a:path w="13312" h="13312" extrusionOk="0">
                  <a:moveTo>
                    <a:pt x="6656" y="0"/>
                  </a:moveTo>
                  <a:cubicBezTo>
                    <a:pt x="3026" y="0"/>
                    <a:pt x="1" y="3026"/>
                    <a:pt x="1" y="6656"/>
                  </a:cubicBezTo>
                  <a:cubicBezTo>
                    <a:pt x="1" y="10387"/>
                    <a:pt x="3026" y="13312"/>
                    <a:pt x="6656" y="13312"/>
                  </a:cubicBezTo>
                  <a:cubicBezTo>
                    <a:pt x="10287" y="13312"/>
                    <a:pt x="13312" y="10387"/>
                    <a:pt x="13312" y="6656"/>
                  </a:cubicBezTo>
                  <a:cubicBezTo>
                    <a:pt x="13312" y="3026"/>
                    <a:pt x="102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2223224" y="757774"/>
              <a:ext cx="63603" cy="63598"/>
            </a:xfrm>
            <a:custGeom>
              <a:avLst/>
              <a:gdLst/>
              <a:ahLst/>
              <a:cxnLst/>
              <a:rect l="l" t="t" r="r" b="b"/>
              <a:pathLst>
                <a:path w="13313" h="13312" extrusionOk="0">
                  <a:moveTo>
                    <a:pt x="6657" y="0"/>
                  </a:moveTo>
                  <a:cubicBezTo>
                    <a:pt x="2925" y="0"/>
                    <a:pt x="1" y="3026"/>
                    <a:pt x="1" y="6656"/>
                  </a:cubicBezTo>
                  <a:cubicBezTo>
                    <a:pt x="1" y="10387"/>
                    <a:pt x="2925" y="13312"/>
                    <a:pt x="6657" y="13312"/>
                  </a:cubicBezTo>
                  <a:cubicBezTo>
                    <a:pt x="10287" y="13312"/>
                    <a:pt x="13312" y="10387"/>
                    <a:pt x="13312" y="6656"/>
                  </a:cubicBezTo>
                  <a:cubicBezTo>
                    <a:pt x="13312" y="3026"/>
                    <a:pt x="10287" y="0"/>
                    <a:pt x="66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9;p2"/>
            <p:cNvSpPr/>
            <p:nvPr/>
          </p:nvSpPr>
          <p:spPr>
            <a:xfrm>
              <a:off x="2395695" y="757774"/>
              <a:ext cx="63598" cy="63598"/>
            </a:xfrm>
            <a:custGeom>
              <a:avLst/>
              <a:gdLst/>
              <a:ahLst/>
              <a:cxnLst/>
              <a:rect l="l" t="t" r="r" b="b"/>
              <a:pathLst>
                <a:path w="13312" h="13312" extrusionOk="0">
                  <a:moveTo>
                    <a:pt x="6656" y="0"/>
                  </a:moveTo>
                  <a:cubicBezTo>
                    <a:pt x="3026" y="0"/>
                    <a:pt x="0" y="3026"/>
                    <a:pt x="0" y="6656"/>
                  </a:cubicBezTo>
                  <a:cubicBezTo>
                    <a:pt x="0" y="10387"/>
                    <a:pt x="3026" y="13312"/>
                    <a:pt x="6656" y="13312"/>
                  </a:cubicBezTo>
                  <a:cubicBezTo>
                    <a:pt x="10387" y="13312"/>
                    <a:pt x="13312" y="10387"/>
                    <a:pt x="13312" y="6656"/>
                  </a:cubicBezTo>
                  <a:cubicBezTo>
                    <a:pt x="13312" y="3026"/>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1877325" y="915780"/>
              <a:ext cx="63598" cy="63598"/>
            </a:xfrm>
            <a:custGeom>
              <a:avLst/>
              <a:gdLst/>
              <a:ahLst/>
              <a:cxnLst/>
              <a:rect l="l" t="t" r="r" b="b"/>
              <a:pathLst>
                <a:path w="13312" h="13312" extrusionOk="0">
                  <a:moveTo>
                    <a:pt x="6656" y="1"/>
                  </a:moveTo>
                  <a:cubicBezTo>
                    <a:pt x="3026" y="1"/>
                    <a:pt x="0" y="3026"/>
                    <a:pt x="0" y="6656"/>
                  </a:cubicBezTo>
                  <a:cubicBezTo>
                    <a:pt x="0" y="10387"/>
                    <a:pt x="3026" y="13312"/>
                    <a:pt x="6656" y="13312"/>
                  </a:cubicBezTo>
                  <a:cubicBezTo>
                    <a:pt x="10387" y="13312"/>
                    <a:pt x="13311" y="10387"/>
                    <a:pt x="13311" y="6656"/>
                  </a:cubicBezTo>
                  <a:cubicBezTo>
                    <a:pt x="13311"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2050274" y="915780"/>
              <a:ext cx="63598" cy="63598"/>
            </a:xfrm>
            <a:custGeom>
              <a:avLst/>
              <a:gdLst/>
              <a:ahLst/>
              <a:cxnLst/>
              <a:rect l="l" t="t" r="r" b="b"/>
              <a:pathLst>
                <a:path w="13312" h="13312" extrusionOk="0">
                  <a:moveTo>
                    <a:pt x="6656" y="1"/>
                  </a:moveTo>
                  <a:cubicBezTo>
                    <a:pt x="3026" y="1"/>
                    <a:pt x="1" y="3026"/>
                    <a:pt x="1" y="6656"/>
                  </a:cubicBezTo>
                  <a:cubicBezTo>
                    <a:pt x="1" y="10387"/>
                    <a:pt x="3026" y="13312"/>
                    <a:pt x="6656" y="13312"/>
                  </a:cubicBezTo>
                  <a:cubicBezTo>
                    <a:pt x="10287" y="13312"/>
                    <a:pt x="13312" y="10387"/>
                    <a:pt x="13312" y="6656"/>
                  </a:cubicBezTo>
                  <a:cubicBezTo>
                    <a:pt x="13312" y="3026"/>
                    <a:pt x="102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2;p2"/>
            <p:cNvSpPr/>
            <p:nvPr/>
          </p:nvSpPr>
          <p:spPr>
            <a:xfrm>
              <a:off x="2223224" y="915780"/>
              <a:ext cx="63603" cy="63598"/>
            </a:xfrm>
            <a:custGeom>
              <a:avLst/>
              <a:gdLst/>
              <a:ahLst/>
              <a:cxnLst/>
              <a:rect l="l" t="t" r="r" b="b"/>
              <a:pathLst>
                <a:path w="13313" h="13312" extrusionOk="0">
                  <a:moveTo>
                    <a:pt x="6657" y="1"/>
                  </a:moveTo>
                  <a:cubicBezTo>
                    <a:pt x="2925" y="1"/>
                    <a:pt x="1" y="3026"/>
                    <a:pt x="1" y="6656"/>
                  </a:cubicBezTo>
                  <a:cubicBezTo>
                    <a:pt x="1" y="10387"/>
                    <a:pt x="2925" y="13312"/>
                    <a:pt x="6657" y="13312"/>
                  </a:cubicBezTo>
                  <a:cubicBezTo>
                    <a:pt x="10287" y="13312"/>
                    <a:pt x="13312" y="10387"/>
                    <a:pt x="13312" y="6656"/>
                  </a:cubicBezTo>
                  <a:cubicBezTo>
                    <a:pt x="13312" y="3026"/>
                    <a:pt x="10287" y="1"/>
                    <a:pt x="66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23;p2"/>
            <p:cNvSpPr/>
            <p:nvPr/>
          </p:nvSpPr>
          <p:spPr>
            <a:xfrm>
              <a:off x="2395695" y="915780"/>
              <a:ext cx="63598" cy="63598"/>
            </a:xfrm>
            <a:custGeom>
              <a:avLst/>
              <a:gdLst/>
              <a:ahLst/>
              <a:cxnLst/>
              <a:rect l="l" t="t" r="r" b="b"/>
              <a:pathLst>
                <a:path w="13312" h="13312" extrusionOk="0">
                  <a:moveTo>
                    <a:pt x="6656" y="1"/>
                  </a:moveTo>
                  <a:cubicBezTo>
                    <a:pt x="3026" y="1"/>
                    <a:pt x="0" y="3026"/>
                    <a:pt x="0" y="6656"/>
                  </a:cubicBezTo>
                  <a:cubicBezTo>
                    <a:pt x="0" y="10387"/>
                    <a:pt x="3026" y="13312"/>
                    <a:pt x="6656" y="13312"/>
                  </a:cubicBezTo>
                  <a:cubicBezTo>
                    <a:pt x="10387" y="13312"/>
                    <a:pt x="13312" y="10387"/>
                    <a:pt x="13312" y="6656"/>
                  </a:cubicBezTo>
                  <a:cubicBezTo>
                    <a:pt x="13312"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2"/>
            <p:cNvSpPr/>
            <p:nvPr/>
          </p:nvSpPr>
          <p:spPr>
            <a:xfrm>
              <a:off x="1877325" y="1073785"/>
              <a:ext cx="63598" cy="63603"/>
            </a:xfrm>
            <a:custGeom>
              <a:avLst/>
              <a:gdLst/>
              <a:ahLst/>
              <a:cxnLst/>
              <a:rect l="l" t="t" r="r" b="b"/>
              <a:pathLst>
                <a:path w="13312" h="13313" extrusionOk="0">
                  <a:moveTo>
                    <a:pt x="6656" y="1"/>
                  </a:moveTo>
                  <a:cubicBezTo>
                    <a:pt x="3026" y="1"/>
                    <a:pt x="0" y="3026"/>
                    <a:pt x="0" y="6656"/>
                  </a:cubicBezTo>
                  <a:cubicBezTo>
                    <a:pt x="0" y="10287"/>
                    <a:pt x="3026" y="13312"/>
                    <a:pt x="6656" y="13312"/>
                  </a:cubicBezTo>
                  <a:cubicBezTo>
                    <a:pt x="10387" y="13312"/>
                    <a:pt x="13311" y="10287"/>
                    <a:pt x="13311" y="6656"/>
                  </a:cubicBezTo>
                  <a:cubicBezTo>
                    <a:pt x="13311"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2"/>
            <p:cNvSpPr/>
            <p:nvPr/>
          </p:nvSpPr>
          <p:spPr>
            <a:xfrm>
              <a:off x="2050274" y="1073785"/>
              <a:ext cx="63598" cy="63603"/>
            </a:xfrm>
            <a:custGeom>
              <a:avLst/>
              <a:gdLst/>
              <a:ahLst/>
              <a:cxnLst/>
              <a:rect l="l" t="t" r="r" b="b"/>
              <a:pathLst>
                <a:path w="13312" h="13313" extrusionOk="0">
                  <a:moveTo>
                    <a:pt x="6656" y="1"/>
                  </a:moveTo>
                  <a:cubicBezTo>
                    <a:pt x="3026" y="1"/>
                    <a:pt x="1" y="3026"/>
                    <a:pt x="1" y="6656"/>
                  </a:cubicBezTo>
                  <a:cubicBezTo>
                    <a:pt x="1" y="10287"/>
                    <a:pt x="3026" y="13312"/>
                    <a:pt x="6656" y="13312"/>
                  </a:cubicBezTo>
                  <a:cubicBezTo>
                    <a:pt x="10287" y="13312"/>
                    <a:pt x="13312" y="10287"/>
                    <a:pt x="13312" y="6656"/>
                  </a:cubicBezTo>
                  <a:cubicBezTo>
                    <a:pt x="13312" y="3026"/>
                    <a:pt x="102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26;p2"/>
            <p:cNvSpPr/>
            <p:nvPr/>
          </p:nvSpPr>
          <p:spPr>
            <a:xfrm>
              <a:off x="2223224" y="1073785"/>
              <a:ext cx="63603" cy="63603"/>
            </a:xfrm>
            <a:custGeom>
              <a:avLst/>
              <a:gdLst/>
              <a:ahLst/>
              <a:cxnLst/>
              <a:rect l="l" t="t" r="r" b="b"/>
              <a:pathLst>
                <a:path w="13313" h="13313" extrusionOk="0">
                  <a:moveTo>
                    <a:pt x="6657" y="1"/>
                  </a:moveTo>
                  <a:cubicBezTo>
                    <a:pt x="2925" y="1"/>
                    <a:pt x="1" y="3026"/>
                    <a:pt x="1" y="6656"/>
                  </a:cubicBezTo>
                  <a:cubicBezTo>
                    <a:pt x="1" y="10287"/>
                    <a:pt x="2925" y="13312"/>
                    <a:pt x="6657" y="13312"/>
                  </a:cubicBezTo>
                  <a:cubicBezTo>
                    <a:pt x="10287" y="13312"/>
                    <a:pt x="13312" y="10287"/>
                    <a:pt x="13312" y="6656"/>
                  </a:cubicBezTo>
                  <a:cubicBezTo>
                    <a:pt x="13312" y="3026"/>
                    <a:pt x="10287" y="1"/>
                    <a:pt x="66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2"/>
            <p:cNvSpPr/>
            <p:nvPr/>
          </p:nvSpPr>
          <p:spPr>
            <a:xfrm>
              <a:off x="2395695" y="1073785"/>
              <a:ext cx="63598" cy="63603"/>
            </a:xfrm>
            <a:custGeom>
              <a:avLst/>
              <a:gdLst/>
              <a:ahLst/>
              <a:cxnLst/>
              <a:rect l="l" t="t" r="r" b="b"/>
              <a:pathLst>
                <a:path w="13312" h="13313" extrusionOk="0">
                  <a:moveTo>
                    <a:pt x="6656" y="1"/>
                  </a:moveTo>
                  <a:cubicBezTo>
                    <a:pt x="3026" y="1"/>
                    <a:pt x="0" y="3026"/>
                    <a:pt x="0" y="6656"/>
                  </a:cubicBezTo>
                  <a:cubicBezTo>
                    <a:pt x="0" y="10287"/>
                    <a:pt x="3026" y="13312"/>
                    <a:pt x="6656" y="13312"/>
                  </a:cubicBezTo>
                  <a:cubicBezTo>
                    <a:pt x="10387" y="13312"/>
                    <a:pt x="13312" y="10287"/>
                    <a:pt x="13312" y="6656"/>
                  </a:cubicBezTo>
                  <a:cubicBezTo>
                    <a:pt x="13312"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 name="Google Shape;28;p2"/>
            <p:cNvSpPr/>
            <p:nvPr/>
          </p:nvSpPr>
          <p:spPr>
            <a:xfrm>
              <a:off x="1877325" y="1231796"/>
              <a:ext cx="63598" cy="63598"/>
            </a:xfrm>
            <a:custGeom>
              <a:avLst/>
              <a:gdLst/>
              <a:ahLst/>
              <a:cxnLst/>
              <a:rect l="l" t="t" r="r" b="b"/>
              <a:pathLst>
                <a:path w="13312" h="13312" extrusionOk="0">
                  <a:moveTo>
                    <a:pt x="6656" y="0"/>
                  </a:moveTo>
                  <a:cubicBezTo>
                    <a:pt x="3026" y="0"/>
                    <a:pt x="0" y="2925"/>
                    <a:pt x="0" y="6656"/>
                  </a:cubicBezTo>
                  <a:cubicBezTo>
                    <a:pt x="0" y="10286"/>
                    <a:pt x="3026" y="13311"/>
                    <a:pt x="6656" y="13311"/>
                  </a:cubicBezTo>
                  <a:cubicBezTo>
                    <a:pt x="10387" y="13311"/>
                    <a:pt x="13311" y="10286"/>
                    <a:pt x="13311" y="6656"/>
                  </a:cubicBezTo>
                  <a:cubicBezTo>
                    <a:pt x="13311" y="2925"/>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29;p2"/>
            <p:cNvSpPr/>
            <p:nvPr/>
          </p:nvSpPr>
          <p:spPr>
            <a:xfrm>
              <a:off x="2050274" y="1231796"/>
              <a:ext cx="63598" cy="63598"/>
            </a:xfrm>
            <a:custGeom>
              <a:avLst/>
              <a:gdLst/>
              <a:ahLst/>
              <a:cxnLst/>
              <a:rect l="l" t="t" r="r" b="b"/>
              <a:pathLst>
                <a:path w="13312" h="13312" extrusionOk="0">
                  <a:moveTo>
                    <a:pt x="6656" y="0"/>
                  </a:moveTo>
                  <a:cubicBezTo>
                    <a:pt x="3026" y="0"/>
                    <a:pt x="1" y="2925"/>
                    <a:pt x="1" y="6656"/>
                  </a:cubicBezTo>
                  <a:cubicBezTo>
                    <a:pt x="1" y="10286"/>
                    <a:pt x="3026" y="13311"/>
                    <a:pt x="6656" y="13311"/>
                  </a:cubicBezTo>
                  <a:cubicBezTo>
                    <a:pt x="10287" y="13311"/>
                    <a:pt x="13312" y="10286"/>
                    <a:pt x="13312" y="6656"/>
                  </a:cubicBezTo>
                  <a:cubicBezTo>
                    <a:pt x="13312" y="2925"/>
                    <a:pt x="102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30;p2"/>
            <p:cNvSpPr/>
            <p:nvPr/>
          </p:nvSpPr>
          <p:spPr>
            <a:xfrm>
              <a:off x="2223224" y="1231796"/>
              <a:ext cx="63603" cy="63598"/>
            </a:xfrm>
            <a:custGeom>
              <a:avLst/>
              <a:gdLst/>
              <a:ahLst/>
              <a:cxnLst/>
              <a:rect l="l" t="t" r="r" b="b"/>
              <a:pathLst>
                <a:path w="13313" h="13312" extrusionOk="0">
                  <a:moveTo>
                    <a:pt x="6657" y="0"/>
                  </a:moveTo>
                  <a:cubicBezTo>
                    <a:pt x="2925" y="0"/>
                    <a:pt x="1" y="2925"/>
                    <a:pt x="1" y="6656"/>
                  </a:cubicBezTo>
                  <a:cubicBezTo>
                    <a:pt x="1" y="10286"/>
                    <a:pt x="2925" y="13311"/>
                    <a:pt x="6657" y="13311"/>
                  </a:cubicBezTo>
                  <a:cubicBezTo>
                    <a:pt x="10287" y="13311"/>
                    <a:pt x="13312" y="10286"/>
                    <a:pt x="13312" y="6656"/>
                  </a:cubicBezTo>
                  <a:cubicBezTo>
                    <a:pt x="13312" y="2925"/>
                    <a:pt x="10287" y="0"/>
                    <a:pt x="66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31;p2"/>
            <p:cNvSpPr/>
            <p:nvPr/>
          </p:nvSpPr>
          <p:spPr>
            <a:xfrm>
              <a:off x="2395695" y="1231796"/>
              <a:ext cx="63598" cy="63598"/>
            </a:xfrm>
            <a:custGeom>
              <a:avLst/>
              <a:gdLst/>
              <a:ahLst/>
              <a:cxnLst/>
              <a:rect l="l" t="t" r="r" b="b"/>
              <a:pathLst>
                <a:path w="13312" h="13312" extrusionOk="0">
                  <a:moveTo>
                    <a:pt x="6656" y="0"/>
                  </a:moveTo>
                  <a:cubicBezTo>
                    <a:pt x="3026" y="0"/>
                    <a:pt x="0" y="2925"/>
                    <a:pt x="0" y="6656"/>
                  </a:cubicBezTo>
                  <a:cubicBezTo>
                    <a:pt x="0" y="10286"/>
                    <a:pt x="3026" y="13311"/>
                    <a:pt x="6656" y="13311"/>
                  </a:cubicBezTo>
                  <a:cubicBezTo>
                    <a:pt x="10387" y="13311"/>
                    <a:pt x="13312" y="10286"/>
                    <a:pt x="13312" y="6656"/>
                  </a:cubicBezTo>
                  <a:cubicBezTo>
                    <a:pt x="13312" y="2925"/>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2" name="Google Shape;32;p2"/>
          <p:cNvSpPr/>
          <p:nvPr/>
        </p:nvSpPr>
        <p:spPr>
          <a:xfrm>
            <a:off x="7726169" y="5880102"/>
            <a:ext cx="947851" cy="117881"/>
          </a:xfrm>
          <a:custGeom>
            <a:avLst/>
            <a:gdLst/>
            <a:ahLst/>
            <a:cxnLst/>
            <a:rect l="l" t="t" r="r" b="b"/>
            <a:pathLst>
              <a:path w="178391" h="22186" extrusionOk="0">
                <a:moveTo>
                  <a:pt x="173752" y="13009"/>
                </a:moveTo>
                <a:cubicBezTo>
                  <a:pt x="172743" y="13009"/>
                  <a:pt x="171836" y="12807"/>
                  <a:pt x="171130" y="12202"/>
                </a:cubicBezTo>
                <a:cubicBezTo>
                  <a:pt x="170525" y="11698"/>
                  <a:pt x="170020" y="10992"/>
                  <a:pt x="169718" y="9883"/>
                </a:cubicBezTo>
                <a:cubicBezTo>
                  <a:pt x="168911" y="6958"/>
                  <a:pt x="167298" y="4437"/>
                  <a:pt x="165079" y="2723"/>
                </a:cubicBezTo>
                <a:cubicBezTo>
                  <a:pt x="162760" y="1009"/>
                  <a:pt x="159936" y="0"/>
                  <a:pt x="156911" y="0"/>
                </a:cubicBezTo>
                <a:cubicBezTo>
                  <a:pt x="153785" y="0"/>
                  <a:pt x="150961" y="1009"/>
                  <a:pt x="148642" y="2723"/>
                </a:cubicBezTo>
                <a:cubicBezTo>
                  <a:pt x="146423" y="4437"/>
                  <a:pt x="144810" y="6958"/>
                  <a:pt x="144003" y="9883"/>
                </a:cubicBezTo>
                <a:cubicBezTo>
                  <a:pt x="143701" y="10992"/>
                  <a:pt x="143196" y="11698"/>
                  <a:pt x="142591" y="12202"/>
                </a:cubicBezTo>
                <a:cubicBezTo>
                  <a:pt x="141885" y="12807"/>
                  <a:pt x="140978" y="13009"/>
                  <a:pt x="139969" y="13009"/>
                </a:cubicBezTo>
                <a:cubicBezTo>
                  <a:pt x="138961" y="13009"/>
                  <a:pt x="138053" y="12807"/>
                  <a:pt x="137348" y="12202"/>
                </a:cubicBezTo>
                <a:cubicBezTo>
                  <a:pt x="136642" y="11698"/>
                  <a:pt x="136137" y="10891"/>
                  <a:pt x="135936" y="9883"/>
                </a:cubicBezTo>
                <a:cubicBezTo>
                  <a:pt x="135129" y="6958"/>
                  <a:pt x="133516" y="4437"/>
                  <a:pt x="131196" y="2723"/>
                </a:cubicBezTo>
                <a:cubicBezTo>
                  <a:pt x="128877" y="1009"/>
                  <a:pt x="126053" y="0"/>
                  <a:pt x="123028" y="0"/>
                </a:cubicBezTo>
                <a:cubicBezTo>
                  <a:pt x="120003" y="0"/>
                  <a:pt x="117179" y="1009"/>
                  <a:pt x="114860" y="2723"/>
                </a:cubicBezTo>
                <a:cubicBezTo>
                  <a:pt x="112540" y="4437"/>
                  <a:pt x="110927" y="6958"/>
                  <a:pt x="110120" y="9883"/>
                </a:cubicBezTo>
                <a:cubicBezTo>
                  <a:pt x="109918" y="10992"/>
                  <a:pt x="109414" y="11698"/>
                  <a:pt x="108708" y="12202"/>
                </a:cubicBezTo>
                <a:cubicBezTo>
                  <a:pt x="108002" y="12807"/>
                  <a:pt x="107095" y="13009"/>
                  <a:pt x="106086" y="13009"/>
                </a:cubicBezTo>
                <a:cubicBezTo>
                  <a:pt x="105078" y="13009"/>
                  <a:pt x="104170" y="12807"/>
                  <a:pt x="103465" y="12202"/>
                </a:cubicBezTo>
                <a:cubicBezTo>
                  <a:pt x="102859" y="11698"/>
                  <a:pt x="102355" y="10992"/>
                  <a:pt x="102053" y="9883"/>
                </a:cubicBezTo>
                <a:cubicBezTo>
                  <a:pt x="101246" y="6958"/>
                  <a:pt x="99633" y="4437"/>
                  <a:pt x="97313" y="2723"/>
                </a:cubicBezTo>
                <a:cubicBezTo>
                  <a:pt x="95095" y="1009"/>
                  <a:pt x="92271" y="0"/>
                  <a:pt x="89145" y="0"/>
                </a:cubicBezTo>
                <a:cubicBezTo>
                  <a:pt x="86120" y="0"/>
                  <a:pt x="83296" y="1009"/>
                  <a:pt x="80977" y="2723"/>
                </a:cubicBezTo>
                <a:cubicBezTo>
                  <a:pt x="78758" y="4437"/>
                  <a:pt x="77044" y="6958"/>
                  <a:pt x="76338" y="9883"/>
                </a:cubicBezTo>
                <a:cubicBezTo>
                  <a:pt x="76035" y="10891"/>
                  <a:pt x="75531" y="11698"/>
                  <a:pt x="74926" y="12202"/>
                </a:cubicBezTo>
                <a:cubicBezTo>
                  <a:pt x="74220" y="12807"/>
                  <a:pt x="73313" y="13009"/>
                  <a:pt x="72304" y="13009"/>
                </a:cubicBezTo>
                <a:cubicBezTo>
                  <a:pt x="71195" y="13009"/>
                  <a:pt x="70287" y="12807"/>
                  <a:pt x="69682" y="12202"/>
                </a:cubicBezTo>
                <a:cubicBezTo>
                  <a:pt x="68977" y="11698"/>
                  <a:pt x="68472" y="10891"/>
                  <a:pt x="68170" y="9883"/>
                </a:cubicBezTo>
                <a:cubicBezTo>
                  <a:pt x="67464" y="6958"/>
                  <a:pt x="65750" y="4437"/>
                  <a:pt x="63531" y="2723"/>
                </a:cubicBezTo>
                <a:cubicBezTo>
                  <a:pt x="61212" y="1009"/>
                  <a:pt x="58388" y="0"/>
                  <a:pt x="55363" y="0"/>
                </a:cubicBezTo>
                <a:cubicBezTo>
                  <a:pt x="52237" y="0"/>
                  <a:pt x="49413" y="1009"/>
                  <a:pt x="47195" y="2723"/>
                </a:cubicBezTo>
                <a:cubicBezTo>
                  <a:pt x="44875" y="4437"/>
                  <a:pt x="43262" y="6958"/>
                  <a:pt x="42455" y="9883"/>
                </a:cubicBezTo>
                <a:cubicBezTo>
                  <a:pt x="42153" y="10992"/>
                  <a:pt x="41749" y="11698"/>
                  <a:pt x="41043" y="12202"/>
                </a:cubicBezTo>
                <a:cubicBezTo>
                  <a:pt x="40337" y="12807"/>
                  <a:pt x="39430" y="13009"/>
                  <a:pt x="38421" y="13009"/>
                </a:cubicBezTo>
                <a:cubicBezTo>
                  <a:pt x="37413" y="13009"/>
                  <a:pt x="36505" y="12807"/>
                  <a:pt x="35799" y="12202"/>
                </a:cubicBezTo>
                <a:cubicBezTo>
                  <a:pt x="35094" y="11698"/>
                  <a:pt x="34589" y="10992"/>
                  <a:pt x="34388" y="9883"/>
                </a:cubicBezTo>
                <a:cubicBezTo>
                  <a:pt x="33581" y="6958"/>
                  <a:pt x="31967" y="4437"/>
                  <a:pt x="29648" y="2723"/>
                </a:cubicBezTo>
                <a:cubicBezTo>
                  <a:pt x="27329" y="1009"/>
                  <a:pt x="24505" y="0"/>
                  <a:pt x="21480" y="0"/>
                </a:cubicBezTo>
                <a:cubicBezTo>
                  <a:pt x="18455" y="0"/>
                  <a:pt x="15631" y="1009"/>
                  <a:pt x="13312" y="2723"/>
                </a:cubicBezTo>
                <a:cubicBezTo>
                  <a:pt x="10992" y="4437"/>
                  <a:pt x="9379" y="6958"/>
                  <a:pt x="8572" y="9883"/>
                </a:cubicBezTo>
                <a:cubicBezTo>
                  <a:pt x="8370" y="10891"/>
                  <a:pt x="7866" y="11698"/>
                  <a:pt x="7160" y="12202"/>
                </a:cubicBezTo>
                <a:cubicBezTo>
                  <a:pt x="6555" y="12807"/>
                  <a:pt x="5648" y="13009"/>
                  <a:pt x="4538" y="13009"/>
                </a:cubicBezTo>
                <a:cubicBezTo>
                  <a:pt x="2017" y="13009"/>
                  <a:pt x="0" y="15127"/>
                  <a:pt x="0" y="17648"/>
                </a:cubicBezTo>
                <a:cubicBezTo>
                  <a:pt x="0" y="20169"/>
                  <a:pt x="2017" y="22186"/>
                  <a:pt x="4538" y="22186"/>
                </a:cubicBezTo>
                <a:cubicBezTo>
                  <a:pt x="7664" y="22186"/>
                  <a:pt x="10488" y="21278"/>
                  <a:pt x="12707" y="19463"/>
                </a:cubicBezTo>
                <a:cubicBezTo>
                  <a:pt x="15026" y="17748"/>
                  <a:pt x="16639" y="15227"/>
                  <a:pt x="17446" y="12303"/>
                </a:cubicBezTo>
                <a:cubicBezTo>
                  <a:pt x="17749" y="11295"/>
                  <a:pt x="18152" y="10488"/>
                  <a:pt x="18858" y="9984"/>
                </a:cubicBezTo>
                <a:cubicBezTo>
                  <a:pt x="19564" y="9479"/>
                  <a:pt x="20471" y="9177"/>
                  <a:pt x="21480" y="9177"/>
                </a:cubicBezTo>
                <a:cubicBezTo>
                  <a:pt x="22488" y="9177"/>
                  <a:pt x="23396" y="9479"/>
                  <a:pt x="24102" y="9984"/>
                </a:cubicBezTo>
                <a:cubicBezTo>
                  <a:pt x="24808" y="10488"/>
                  <a:pt x="25211" y="11295"/>
                  <a:pt x="25514" y="12303"/>
                </a:cubicBezTo>
                <a:cubicBezTo>
                  <a:pt x="26320" y="15227"/>
                  <a:pt x="27934" y="17748"/>
                  <a:pt x="30253" y="19463"/>
                </a:cubicBezTo>
                <a:cubicBezTo>
                  <a:pt x="32472" y="21278"/>
                  <a:pt x="35396" y="22186"/>
                  <a:pt x="38421" y="22186"/>
                </a:cubicBezTo>
                <a:cubicBezTo>
                  <a:pt x="41447" y="22186"/>
                  <a:pt x="44270" y="21278"/>
                  <a:pt x="46590" y="19463"/>
                </a:cubicBezTo>
                <a:cubicBezTo>
                  <a:pt x="48909" y="17748"/>
                  <a:pt x="50522" y="15227"/>
                  <a:pt x="51329" y="12303"/>
                </a:cubicBezTo>
                <a:cubicBezTo>
                  <a:pt x="51531" y="11295"/>
                  <a:pt x="52035" y="10488"/>
                  <a:pt x="52741" y="9984"/>
                </a:cubicBezTo>
                <a:cubicBezTo>
                  <a:pt x="53346" y="9479"/>
                  <a:pt x="54254" y="9177"/>
                  <a:pt x="55363" y="9177"/>
                </a:cubicBezTo>
                <a:cubicBezTo>
                  <a:pt x="56371" y="9177"/>
                  <a:pt x="57279" y="9479"/>
                  <a:pt x="57985" y="9984"/>
                </a:cubicBezTo>
                <a:cubicBezTo>
                  <a:pt x="58590" y="10488"/>
                  <a:pt x="59094" y="11295"/>
                  <a:pt x="59397" y="12303"/>
                </a:cubicBezTo>
                <a:cubicBezTo>
                  <a:pt x="60203" y="15227"/>
                  <a:pt x="61817" y="17748"/>
                  <a:pt x="64035" y="19463"/>
                </a:cubicBezTo>
                <a:cubicBezTo>
                  <a:pt x="66355" y="21278"/>
                  <a:pt x="69178" y="22186"/>
                  <a:pt x="72203" y="22186"/>
                </a:cubicBezTo>
                <a:cubicBezTo>
                  <a:pt x="75330" y="22186"/>
                  <a:pt x="78153" y="21278"/>
                  <a:pt x="80473" y="19463"/>
                </a:cubicBezTo>
                <a:cubicBezTo>
                  <a:pt x="82691" y="17748"/>
                  <a:pt x="84305" y="15227"/>
                  <a:pt x="85111" y="12303"/>
                </a:cubicBezTo>
                <a:cubicBezTo>
                  <a:pt x="85414" y="11295"/>
                  <a:pt x="85918" y="10488"/>
                  <a:pt x="86523" y="9984"/>
                </a:cubicBezTo>
                <a:cubicBezTo>
                  <a:pt x="87229" y="9479"/>
                  <a:pt x="88137" y="9177"/>
                  <a:pt x="89145" y="9177"/>
                </a:cubicBezTo>
                <a:cubicBezTo>
                  <a:pt x="90254" y="9177"/>
                  <a:pt x="91162" y="9479"/>
                  <a:pt x="91767" y="9984"/>
                </a:cubicBezTo>
                <a:cubicBezTo>
                  <a:pt x="92473" y="10488"/>
                  <a:pt x="92977" y="11295"/>
                  <a:pt x="93179" y="12303"/>
                </a:cubicBezTo>
                <a:cubicBezTo>
                  <a:pt x="93985" y="15227"/>
                  <a:pt x="95599" y="17748"/>
                  <a:pt x="97918" y="19463"/>
                </a:cubicBezTo>
                <a:cubicBezTo>
                  <a:pt x="100238" y="21278"/>
                  <a:pt x="103061" y="22186"/>
                  <a:pt x="106086" y="22186"/>
                </a:cubicBezTo>
                <a:cubicBezTo>
                  <a:pt x="109112" y="22186"/>
                  <a:pt x="112036" y="21278"/>
                  <a:pt x="114255" y="19463"/>
                </a:cubicBezTo>
                <a:cubicBezTo>
                  <a:pt x="116574" y="17748"/>
                  <a:pt x="118187" y="15227"/>
                  <a:pt x="118994" y="12303"/>
                </a:cubicBezTo>
                <a:cubicBezTo>
                  <a:pt x="119297" y="11295"/>
                  <a:pt x="119700" y="10488"/>
                  <a:pt x="120406" y="9984"/>
                </a:cubicBezTo>
                <a:cubicBezTo>
                  <a:pt x="121112" y="9479"/>
                  <a:pt x="122019" y="9177"/>
                  <a:pt x="123028" y="9177"/>
                </a:cubicBezTo>
                <a:cubicBezTo>
                  <a:pt x="124036" y="9177"/>
                  <a:pt x="124944" y="9479"/>
                  <a:pt x="125650" y="9984"/>
                </a:cubicBezTo>
                <a:cubicBezTo>
                  <a:pt x="126356" y="10488"/>
                  <a:pt x="126759" y="11295"/>
                  <a:pt x="127062" y="12303"/>
                </a:cubicBezTo>
                <a:cubicBezTo>
                  <a:pt x="127868" y="15227"/>
                  <a:pt x="129482" y="17748"/>
                  <a:pt x="131801" y="19463"/>
                </a:cubicBezTo>
                <a:cubicBezTo>
                  <a:pt x="134020" y="21278"/>
                  <a:pt x="136843" y="22186"/>
                  <a:pt x="139969" y="22186"/>
                </a:cubicBezTo>
                <a:cubicBezTo>
                  <a:pt x="142995" y="22186"/>
                  <a:pt x="145818" y="21278"/>
                  <a:pt x="148138" y="19463"/>
                </a:cubicBezTo>
                <a:cubicBezTo>
                  <a:pt x="150356" y="17748"/>
                  <a:pt x="152070" y="15227"/>
                  <a:pt x="152776" y="12303"/>
                </a:cubicBezTo>
                <a:cubicBezTo>
                  <a:pt x="153079" y="11295"/>
                  <a:pt x="153583" y="10488"/>
                  <a:pt x="154289" y="9984"/>
                </a:cubicBezTo>
                <a:cubicBezTo>
                  <a:pt x="154894" y="9479"/>
                  <a:pt x="155802" y="9177"/>
                  <a:pt x="156911" y="9177"/>
                </a:cubicBezTo>
                <a:cubicBezTo>
                  <a:pt x="157919" y="9177"/>
                  <a:pt x="158827" y="9479"/>
                  <a:pt x="159533" y="9984"/>
                </a:cubicBezTo>
                <a:cubicBezTo>
                  <a:pt x="160138" y="10488"/>
                  <a:pt x="160642" y="11295"/>
                  <a:pt x="160945" y="12303"/>
                </a:cubicBezTo>
                <a:cubicBezTo>
                  <a:pt x="161751" y="15227"/>
                  <a:pt x="163365" y="17748"/>
                  <a:pt x="165583" y="19463"/>
                </a:cubicBezTo>
                <a:cubicBezTo>
                  <a:pt x="167903" y="21278"/>
                  <a:pt x="170726" y="22186"/>
                  <a:pt x="173752" y="22186"/>
                </a:cubicBezTo>
                <a:cubicBezTo>
                  <a:pt x="176273" y="22186"/>
                  <a:pt x="178390" y="20169"/>
                  <a:pt x="178390" y="17648"/>
                </a:cubicBezTo>
                <a:cubicBezTo>
                  <a:pt x="178390" y="15127"/>
                  <a:pt x="176273" y="13009"/>
                  <a:pt x="173752" y="1300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 name="Google Shape;33;p2"/>
          <p:cNvSpPr/>
          <p:nvPr/>
        </p:nvSpPr>
        <p:spPr>
          <a:xfrm>
            <a:off x="1016000" y="5406567"/>
            <a:ext cx="838000" cy="1196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 name="Google Shape;34;p2"/>
          <p:cNvSpPr txBox="1">
            <a:spLocks noGrp="1"/>
          </p:cNvSpPr>
          <p:nvPr>
            <p:ph type="subTitle" idx="1"/>
          </p:nvPr>
        </p:nvSpPr>
        <p:spPr>
          <a:xfrm>
            <a:off x="974400" y="2720472"/>
            <a:ext cx="5706000" cy="11620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2300"/>
              <a:buNone/>
              <a:defRPr sz="5465" b="1">
                <a:solidFill>
                  <a:schemeClr val="dk1"/>
                </a:solidFill>
                <a:latin typeface="Signika"/>
                <a:ea typeface="Signika"/>
                <a:cs typeface="Signika"/>
                <a:sym typeface="Signika"/>
              </a:defRPr>
            </a:lvl1pPr>
            <a:lvl2pPr lvl="1">
              <a:lnSpc>
                <a:spcPct val="100000"/>
              </a:lnSpc>
              <a:spcBef>
                <a:spcPts val="0"/>
              </a:spcBef>
              <a:spcAft>
                <a:spcPts val="0"/>
              </a:spcAft>
              <a:buSzPts val="2800"/>
              <a:buNone/>
              <a:defRPr sz="3735"/>
            </a:lvl2pPr>
            <a:lvl3pPr lvl="2">
              <a:lnSpc>
                <a:spcPct val="100000"/>
              </a:lnSpc>
              <a:spcBef>
                <a:spcPts val="0"/>
              </a:spcBef>
              <a:spcAft>
                <a:spcPts val="0"/>
              </a:spcAft>
              <a:buSzPts val="2800"/>
              <a:buNone/>
              <a:defRPr sz="3735"/>
            </a:lvl3pPr>
            <a:lvl4pPr lvl="3">
              <a:lnSpc>
                <a:spcPct val="100000"/>
              </a:lnSpc>
              <a:spcBef>
                <a:spcPts val="0"/>
              </a:spcBef>
              <a:spcAft>
                <a:spcPts val="0"/>
              </a:spcAft>
              <a:buSzPts val="2800"/>
              <a:buNone/>
              <a:defRPr sz="3735"/>
            </a:lvl4pPr>
            <a:lvl5pPr lvl="4">
              <a:lnSpc>
                <a:spcPct val="100000"/>
              </a:lnSpc>
              <a:spcBef>
                <a:spcPts val="0"/>
              </a:spcBef>
              <a:spcAft>
                <a:spcPts val="0"/>
              </a:spcAft>
              <a:buSzPts val="2800"/>
              <a:buNone/>
              <a:defRPr sz="3735"/>
            </a:lvl5pPr>
            <a:lvl6pPr lvl="5">
              <a:lnSpc>
                <a:spcPct val="100000"/>
              </a:lnSpc>
              <a:spcBef>
                <a:spcPts val="0"/>
              </a:spcBef>
              <a:spcAft>
                <a:spcPts val="0"/>
              </a:spcAft>
              <a:buSzPts val="2800"/>
              <a:buNone/>
              <a:defRPr sz="3735"/>
            </a:lvl6pPr>
            <a:lvl7pPr lvl="6">
              <a:lnSpc>
                <a:spcPct val="100000"/>
              </a:lnSpc>
              <a:spcBef>
                <a:spcPts val="0"/>
              </a:spcBef>
              <a:spcAft>
                <a:spcPts val="0"/>
              </a:spcAft>
              <a:buSzPts val="2800"/>
              <a:buNone/>
              <a:defRPr sz="3735"/>
            </a:lvl7pPr>
            <a:lvl8pPr lvl="7">
              <a:lnSpc>
                <a:spcPct val="100000"/>
              </a:lnSpc>
              <a:spcBef>
                <a:spcPts val="0"/>
              </a:spcBef>
              <a:spcAft>
                <a:spcPts val="0"/>
              </a:spcAft>
              <a:buSzPts val="2800"/>
              <a:buNone/>
              <a:defRPr sz="3735"/>
            </a:lvl8pPr>
            <a:lvl9pPr lvl="8">
              <a:lnSpc>
                <a:spcPct val="100000"/>
              </a:lnSpc>
              <a:spcBef>
                <a:spcPts val="0"/>
              </a:spcBef>
              <a:spcAft>
                <a:spcPts val="0"/>
              </a:spcAft>
              <a:buSzPts val="2800"/>
              <a:buNone/>
              <a:defRPr sz="3735"/>
            </a:lvl9pPr>
          </a:lstStyle>
          <a:p>
            <a:r>
              <a:rPr lang="es-ES"/>
              <a:t>Haga clic para editar el estilo de subtítulo del patrón</a:t>
            </a:r>
          </a:p>
        </p:txBody>
      </p:sp>
      <p:sp>
        <p:nvSpPr>
          <p:cNvPr id="35" name="Google Shape;35;p2"/>
          <p:cNvSpPr txBox="1">
            <a:spLocks noGrp="1"/>
          </p:cNvSpPr>
          <p:nvPr>
            <p:ph type="subTitle" idx="2"/>
          </p:nvPr>
        </p:nvSpPr>
        <p:spPr>
          <a:xfrm>
            <a:off x="974400" y="5716467"/>
            <a:ext cx="4996800" cy="3164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2135">
                <a:latin typeface="Signika"/>
                <a:ea typeface="Signika"/>
                <a:cs typeface="Signika"/>
                <a:sym typeface="Signika"/>
              </a:defRPr>
            </a:lvl1pPr>
            <a:lvl2pPr lvl="1">
              <a:spcBef>
                <a:spcPts val="0"/>
              </a:spcBef>
              <a:spcAft>
                <a:spcPts val="0"/>
              </a:spcAft>
              <a:buSzPts val="1400"/>
              <a:buNone/>
              <a:defRPr/>
            </a:lvl2pPr>
            <a:lvl3pPr lvl="2">
              <a:spcBef>
                <a:spcPts val="2135"/>
              </a:spcBef>
              <a:spcAft>
                <a:spcPts val="0"/>
              </a:spcAft>
              <a:buSzPts val="1400"/>
              <a:buNone/>
              <a:defRPr/>
            </a:lvl3pPr>
            <a:lvl4pPr lvl="3">
              <a:spcBef>
                <a:spcPts val="2135"/>
              </a:spcBef>
              <a:spcAft>
                <a:spcPts val="0"/>
              </a:spcAft>
              <a:buSzPts val="1400"/>
              <a:buNone/>
              <a:defRPr/>
            </a:lvl4pPr>
            <a:lvl5pPr lvl="4">
              <a:spcBef>
                <a:spcPts val="2135"/>
              </a:spcBef>
              <a:spcAft>
                <a:spcPts val="0"/>
              </a:spcAft>
              <a:buSzPts val="1400"/>
              <a:buNone/>
              <a:defRPr/>
            </a:lvl5pPr>
            <a:lvl6pPr lvl="5">
              <a:spcBef>
                <a:spcPts val="2135"/>
              </a:spcBef>
              <a:spcAft>
                <a:spcPts val="0"/>
              </a:spcAft>
              <a:buSzPts val="1400"/>
              <a:buNone/>
              <a:defRPr/>
            </a:lvl6pPr>
            <a:lvl7pPr lvl="6">
              <a:spcBef>
                <a:spcPts val="2135"/>
              </a:spcBef>
              <a:spcAft>
                <a:spcPts val="0"/>
              </a:spcAft>
              <a:buSzPts val="1400"/>
              <a:buNone/>
              <a:defRPr/>
            </a:lvl7pPr>
            <a:lvl8pPr lvl="7">
              <a:spcBef>
                <a:spcPts val="2135"/>
              </a:spcBef>
              <a:spcAft>
                <a:spcPts val="0"/>
              </a:spcAft>
              <a:buSzPts val="1400"/>
              <a:buNone/>
              <a:defRPr/>
            </a:lvl8pPr>
            <a:lvl9pPr lvl="8">
              <a:spcBef>
                <a:spcPts val="2135"/>
              </a:spcBef>
              <a:spcAft>
                <a:spcPts val="2135"/>
              </a:spcAft>
              <a:buSzPts val="1400"/>
              <a:buNone/>
              <a:defRPr/>
            </a:lvl9pPr>
          </a:lstStyle>
          <a:p>
            <a:r>
              <a:rPr lang="es-ES"/>
              <a:t>Haga clic para editar el estilo de subtítulo del patrón</a:t>
            </a:r>
          </a:p>
        </p:txBody>
      </p:sp>
    </p:spTree>
    <p:extLst>
      <p:ext uri="{BB962C8B-B14F-4D97-AF65-F5344CB8AC3E}">
        <p14:creationId xmlns:p14="http://schemas.microsoft.com/office/powerpoint/2010/main" val="1622341512"/>
      </p:ext>
    </p:extLst>
  </p:cSld>
  <p:clrMapOvr>
    <a:masterClrMapping/>
  </p:clrMapOvr>
  <p:transition>
    <p:fade thruBlk="1"/>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4" name="Google Shape;14;p3"/>
          <p:cNvSpPr txBox="1">
            <a:spLocks noGrp="1"/>
          </p:cNvSpPr>
          <p:nvPr>
            <p:ph type="ctrTitle"/>
          </p:nvPr>
        </p:nvSpPr>
        <p:spPr>
          <a:xfrm>
            <a:off x="914400" y="2212733"/>
            <a:ext cx="5685200" cy="1546400"/>
          </a:xfrm>
          <a:prstGeom prst="rect">
            <a:avLst/>
          </a:prstGeom>
        </p:spPr>
        <p:txBody>
          <a:bodyPr spcFirstLastPara="1" wrap="square" lIns="0" tIns="0" rIns="0" bIns="0"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5" name="Google Shape;15;p3"/>
          <p:cNvSpPr txBox="1">
            <a:spLocks noGrp="1"/>
          </p:cNvSpPr>
          <p:nvPr>
            <p:ph type="subTitle" idx="1"/>
          </p:nvPr>
        </p:nvSpPr>
        <p:spPr>
          <a:xfrm>
            <a:off x="914400" y="3888339"/>
            <a:ext cx="5685200" cy="1046400"/>
          </a:xfrm>
          <a:prstGeom prst="rect">
            <a:avLst/>
          </a:prstGeom>
        </p:spPr>
        <p:txBody>
          <a:bodyPr spcFirstLastPara="1" wrap="square" lIns="0" tIns="0" rIns="0" bIns="0" anchor="t" anchorCtr="0">
            <a:noAutofit/>
          </a:bodyPr>
          <a:lstStyle>
            <a:lvl1pPr lvl="0" rtl="0">
              <a:spcBef>
                <a:spcPts val="0"/>
              </a:spcBef>
              <a:spcAft>
                <a:spcPts val="0"/>
              </a:spcAft>
              <a:buClr>
                <a:schemeClr val="accent4"/>
              </a:buClr>
              <a:buSzPts val="1800"/>
              <a:buNone/>
              <a:defRPr sz="1800">
                <a:solidFill>
                  <a:schemeClr val="accent4"/>
                </a:solidFill>
              </a:defRPr>
            </a:lvl1pPr>
            <a:lvl2pPr lvl="1" rtl="0">
              <a:spcBef>
                <a:spcPts val="0"/>
              </a:spcBef>
              <a:spcAft>
                <a:spcPts val="0"/>
              </a:spcAft>
              <a:buClr>
                <a:schemeClr val="accent4"/>
              </a:buClr>
              <a:buSzPts val="1800"/>
              <a:buNone/>
              <a:defRPr sz="1800">
                <a:solidFill>
                  <a:schemeClr val="accent4"/>
                </a:solidFill>
              </a:defRPr>
            </a:lvl2pPr>
            <a:lvl3pPr lvl="2" rtl="0">
              <a:spcBef>
                <a:spcPts val="0"/>
              </a:spcBef>
              <a:spcAft>
                <a:spcPts val="0"/>
              </a:spcAft>
              <a:buClr>
                <a:schemeClr val="accent4"/>
              </a:buClr>
              <a:buSzPts val="1800"/>
              <a:buNone/>
              <a:defRPr sz="1800">
                <a:solidFill>
                  <a:schemeClr val="accent4"/>
                </a:solidFill>
              </a:defRPr>
            </a:lvl3pPr>
            <a:lvl4pPr lvl="3" rtl="0">
              <a:spcBef>
                <a:spcPts val="0"/>
              </a:spcBef>
              <a:spcAft>
                <a:spcPts val="0"/>
              </a:spcAft>
              <a:buClr>
                <a:schemeClr val="accent4"/>
              </a:buClr>
              <a:buSzPts val="1800"/>
              <a:buNone/>
              <a:defRPr sz="1800">
                <a:solidFill>
                  <a:schemeClr val="accent4"/>
                </a:solidFill>
              </a:defRPr>
            </a:lvl4pPr>
            <a:lvl5pPr lvl="4" rtl="0">
              <a:spcBef>
                <a:spcPts val="0"/>
              </a:spcBef>
              <a:spcAft>
                <a:spcPts val="0"/>
              </a:spcAft>
              <a:buClr>
                <a:schemeClr val="accent4"/>
              </a:buClr>
              <a:buSzPts val="1800"/>
              <a:buNone/>
              <a:defRPr sz="1800">
                <a:solidFill>
                  <a:schemeClr val="accent4"/>
                </a:solidFill>
              </a:defRPr>
            </a:lvl5pPr>
            <a:lvl6pPr lvl="5" rtl="0">
              <a:spcBef>
                <a:spcPts val="0"/>
              </a:spcBef>
              <a:spcAft>
                <a:spcPts val="0"/>
              </a:spcAft>
              <a:buClr>
                <a:schemeClr val="accent4"/>
              </a:buClr>
              <a:buSzPts val="1800"/>
              <a:buNone/>
              <a:defRPr sz="1800">
                <a:solidFill>
                  <a:schemeClr val="accent4"/>
                </a:solidFill>
              </a:defRPr>
            </a:lvl6pPr>
            <a:lvl7pPr lvl="6" rtl="0">
              <a:spcBef>
                <a:spcPts val="0"/>
              </a:spcBef>
              <a:spcAft>
                <a:spcPts val="0"/>
              </a:spcAft>
              <a:buClr>
                <a:schemeClr val="accent4"/>
              </a:buClr>
              <a:buSzPts val="1800"/>
              <a:buNone/>
              <a:defRPr sz="1800">
                <a:solidFill>
                  <a:schemeClr val="accent4"/>
                </a:solidFill>
              </a:defRPr>
            </a:lvl7pPr>
            <a:lvl8pPr lvl="7" rtl="0">
              <a:spcBef>
                <a:spcPts val="0"/>
              </a:spcBef>
              <a:spcAft>
                <a:spcPts val="0"/>
              </a:spcAft>
              <a:buClr>
                <a:schemeClr val="accent4"/>
              </a:buClr>
              <a:buSzPts val="1800"/>
              <a:buNone/>
              <a:defRPr sz="1800">
                <a:solidFill>
                  <a:schemeClr val="accent4"/>
                </a:solidFill>
              </a:defRPr>
            </a:lvl8pPr>
            <a:lvl9pPr lvl="8" rtl="0">
              <a:spcBef>
                <a:spcPts val="0"/>
              </a:spcBef>
              <a:spcAft>
                <a:spcPts val="0"/>
              </a:spcAft>
              <a:buClr>
                <a:schemeClr val="accent4"/>
              </a:buClr>
              <a:buSzPts val="1800"/>
              <a:buNone/>
              <a:defRPr sz="1800">
                <a:solidFill>
                  <a:schemeClr val="accent4"/>
                </a:solidFill>
              </a:defRPr>
            </a:lvl9pPr>
          </a:lstStyle>
          <a:p>
            <a:endParaRPr/>
          </a:p>
        </p:txBody>
      </p:sp>
    </p:spTree>
    <p:extLst>
      <p:ext uri="{BB962C8B-B14F-4D97-AF65-F5344CB8AC3E}">
        <p14:creationId xmlns:p14="http://schemas.microsoft.com/office/powerpoint/2010/main" val="21237471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 Big circuit">
  <p:cSld name="Blank · Big circuit">
    <p:spTree>
      <p:nvGrpSpPr>
        <p:cNvPr id="1" name="Shape 51"/>
        <p:cNvGrpSpPr/>
        <p:nvPr/>
      </p:nvGrpSpPr>
      <p:grpSpPr>
        <a:xfrm>
          <a:off x="0" y="0"/>
          <a:ext cx="0" cy="0"/>
          <a:chOff x="0" y="0"/>
          <a:chExt cx="0" cy="0"/>
        </a:xfrm>
      </p:grpSpPr>
      <p:sp>
        <p:nvSpPr>
          <p:cNvPr id="53" name="Google Shape;53;p11"/>
          <p:cNvSpPr txBox="1">
            <a:spLocks noGrp="1"/>
          </p:cNvSpPr>
          <p:nvPr>
            <p:ph type="sldNum" idx="12"/>
          </p:nvPr>
        </p:nvSpPr>
        <p:spPr>
          <a:xfrm>
            <a:off x="11307445" y="6333135"/>
            <a:ext cx="731600" cy="5248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s-PE" smtClean="0"/>
              <a:pPr/>
              <a:t>‹Nº›</a:t>
            </a:fld>
            <a:endParaRPr lang="es-PE" dirty="0"/>
          </a:p>
        </p:txBody>
      </p:sp>
    </p:spTree>
    <p:extLst>
      <p:ext uri="{BB962C8B-B14F-4D97-AF65-F5344CB8AC3E}">
        <p14:creationId xmlns:p14="http://schemas.microsoft.com/office/powerpoint/2010/main" val="25799604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AF1AAE89-7064-421D-9916-420AA2E7F7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7A6A12CE-274A-4C60-9546-77A9682AF5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2573BBF9-6C16-49C0-B59C-BBB728D49E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a:extLst>
              <a:ext uri="{FF2B5EF4-FFF2-40B4-BE49-F238E27FC236}">
                <a16:creationId xmlns:a16="http://schemas.microsoft.com/office/drawing/2014/main" id="{950E9423-4AA5-436D-A3A1-72E3B07693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7BA379-2009-4338-BF9E-30C0A8FACAF6}" type="slidenum">
              <a:rPr lang="es-PE" smtClean="0"/>
              <a:t>‹Nº›</a:t>
            </a:fld>
            <a:endParaRPr lang="es-PE"/>
          </a:p>
        </p:txBody>
      </p:sp>
      <p:sp>
        <p:nvSpPr>
          <p:cNvPr id="8" name="Rectángulo 7">
            <a:extLst>
              <a:ext uri="{FF2B5EF4-FFF2-40B4-BE49-F238E27FC236}">
                <a16:creationId xmlns:a16="http://schemas.microsoft.com/office/drawing/2014/main" id="{91A87426-75BB-4DA5-A531-460DD7508A1B}"/>
              </a:ext>
            </a:extLst>
          </p:cNvPr>
          <p:cNvSpPr/>
          <p:nvPr userDrawn="1"/>
        </p:nvSpPr>
        <p:spPr>
          <a:xfrm>
            <a:off x="6096000" y="-9331"/>
            <a:ext cx="6096000" cy="1073257"/>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ángulo 9">
            <a:extLst>
              <a:ext uri="{FF2B5EF4-FFF2-40B4-BE49-F238E27FC236}">
                <a16:creationId xmlns:a16="http://schemas.microsoft.com/office/drawing/2014/main" id="{E90ED3DD-A7C3-4095-9269-329F194BB6AC}"/>
              </a:ext>
            </a:extLst>
          </p:cNvPr>
          <p:cNvSpPr/>
          <p:nvPr userDrawn="1"/>
        </p:nvSpPr>
        <p:spPr>
          <a:xfrm>
            <a:off x="0" y="1073257"/>
            <a:ext cx="12192000" cy="151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11" name="Imagen 10" descr="Resultado de imagen para LOGO UNAC">
            <a:extLst>
              <a:ext uri="{FF2B5EF4-FFF2-40B4-BE49-F238E27FC236}">
                <a16:creationId xmlns:a16="http://schemas.microsoft.com/office/drawing/2014/main" id="{C8363EE3-3A68-4118-94B3-883E5C704F10}"/>
              </a:ext>
            </a:extLst>
          </p:cNvPr>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152732" y="188233"/>
            <a:ext cx="537224" cy="684603"/>
          </a:xfrm>
          <a:prstGeom prst="rect">
            <a:avLst/>
          </a:prstGeom>
          <a:noFill/>
          <a:ln>
            <a:noFill/>
          </a:ln>
        </p:spPr>
      </p:pic>
    </p:spTree>
    <p:extLst>
      <p:ext uri="{BB962C8B-B14F-4D97-AF65-F5344CB8AC3E}">
        <p14:creationId xmlns:p14="http://schemas.microsoft.com/office/powerpoint/2010/main" val="24801735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5" r:id="rId12"/>
    <p:sldLayoutId id="2147483666" r:id="rId13"/>
    <p:sldLayoutId id="2147483667"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8.wmf"/><Relationship Id="rId3" Type="http://schemas.openxmlformats.org/officeDocument/2006/relationships/image" Target="../media/image13.wmf"/><Relationship Id="rId7" Type="http://schemas.openxmlformats.org/officeDocument/2006/relationships/image" Target="../media/image15.wmf"/><Relationship Id="rId12" Type="http://schemas.openxmlformats.org/officeDocument/2006/relationships/oleObject" Target="../embeddings/oleObject6.bin"/><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image" Target="../media/image17.wmf"/><Relationship Id="rId5" Type="http://schemas.openxmlformats.org/officeDocument/2006/relationships/image" Target="../media/image14.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16.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7.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7.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7.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7.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7.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7.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7.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7.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7.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7.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7.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7.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7.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7.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21.tmp"/></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2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24.tmp"/><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25.tmp"/></Relationships>
</file>

<file path=ppt/slides/_rels/slide7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3" Type="http://schemas.openxmlformats.org/officeDocument/2006/relationships/image" Target="../media/image27.tmp"/><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p:cNvPicPr>
            <a:picLocks noChangeAspect="1"/>
          </p:cNvPicPr>
          <p:nvPr/>
        </p:nvPicPr>
        <p:blipFill>
          <a:blip r:embed="rId2"/>
          <a:stretch>
            <a:fillRect/>
          </a:stretch>
        </p:blipFill>
        <p:spPr>
          <a:xfrm>
            <a:off x="7235024" y="2518396"/>
            <a:ext cx="4913785" cy="2916657"/>
          </a:xfrm>
          <a:prstGeom prst="rect">
            <a:avLst/>
          </a:prstGeom>
          <a:solidFill>
            <a:srgbClr val="FFFFFF">
              <a:shade val="85000"/>
            </a:srgbClr>
          </a:solidFill>
          <a:ln w="88900" cap="sq">
            <a:solidFill>
              <a:srgbClr val="FFFFFF"/>
            </a:solidFill>
            <a:miter lim="800000"/>
            <a:headEnd/>
            <a:tailEnd/>
          </a:ln>
          <a:effectLst/>
          <a:scene3d>
            <a:camera prst="orthographicFront"/>
            <a:lightRig rig="twoPt" dir="t">
              <a:rot lat="0" lon="0" rev="7200000"/>
            </a:lightRig>
          </a:scene3d>
          <a:sp3d>
            <a:bevelT w="25400" h="19050"/>
            <a:contourClr>
              <a:srgbClr val="FFFFFF"/>
            </a:contourClr>
          </a:sp3d>
        </p:spPr>
      </p:pic>
      <p:pic>
        <p:nvPicPr>
          <p:cNvPr id="5" name="Picture 2" descr="UNA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071" y="190477"/>
            <a:ext cx="2855333" cy="674048"/>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p:cNvSpPr/>
          <p:nvPr/>
        </p:nvSpPr>
        <p:spPr>
          <a:xfrm>
            <a:off x="7261461" y="5795306"/>
            <a:ext cx="467139" cy="450222"/>
          </a:xfrm>
          <a:prstGeom prst="rect">
            <a:avLst/>
          </a:prstGeom>
          <a:solidFill>
            <a:srgbClr val="D7E7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0" name="Título 2"/>
          <p:cNvSpPr txBox="1"/>
          <p:nvPr/>
        </p:nvSpPr>
        <p:spPr>
          <a:xfrm>
            <a:off x="8321150" y="5795306"/>
            <a:ext cx="2803628" cy="697178"/>
          </a:xfrm>
          <a:prstGeom prst="roundRect">
            <a:avLst/>
          </a:prstGeom>
          <a:solidFill>
            <a:schemeClr val="bg1"/>
          </a:solidFill>
          <a:ln w="28575">
            <a:noFill/>
            <a:prstDash val="lgDashDot"/>
          </a:ln>
        </p:spPr>
        <p:txBody>
          <a:bodyPr vert="horz" lIns="91440" tIns="45720" rIns="91440" bIns="45720" rtlCol="0" anchor="ctr">
            <a:noAutofit/>
          </a:bodyPr>
          <a:lstStyle>
            <a:lvl1pPr algn="l" defTabSz="914400" rtl="0" eaLnBrk="1" latinLnBrk="0" hangingPunct="1">
              <a:lnSpc>
                <a:spcPct val="90000"/>
              </a:lnSpc>
              <a:spcBef>
                <a:spcPct val="0"/>
              </a:spcBef>
              <a:buNone/>
              <a:defRPr sz="6000" b="1" kern="1200">
                <a:solidFill>
                  <a:schemeClr val="bg1"/>
                </a:solidFill>
                <a:latin typeface="+mj-lt"/>
                <a:ea typeface="+mj-ea"/>
                <a:cs typeface="+mj-cs"/>
              </a:defRPr>
            </a:lvl1pPr>
          </a:lstStyle>
          <a:p>
            <a:pPr algn="ctr"/>
            <a:r>
              <a:rPr lang="es-PE" sz="1800" dirty="0">
                <a:solidFill>
                  <a:srgbClr val="002060"/>
                </a:solidFill>
                <a:latin typeface="Bodoni MT Black" panose="02070A03080606020203" pitchFamily="18" charset="0"/>
                <a:cs typeface="Leelawadee UI" panose="020B0502040204020203" pitchFamily="34" charset="-34"/>
              </a:rPr>
              <a:t>SEMESTRE ACADÉMICO 2026 B</a:t>
            </a:r>
            <a:endParaRPr lang="es-ES" sz="1800" dirty="0">
              <a:solidFill>
                <a:srgbClr val="002060"/>
              </a:solidFill>
              <a:latin typeface="Bodoni MT Black" panose="02070A03080606020203" pitchFamily="18" charset="0"/>
              <a:cs typeface="Leelawadee UI" panose="020B0502040204020203" pitchFamily="34" charset="-34"/>
            </a:endParaRPr>
          </a:p>
        </p:txBody>
      </p:sp>
      <p:pic>
        <p:nvPicPr>
          <p:cNvPr id="26" name="Imagen 25"/>
          <p:cNvPicPr>
            <a:picLocks noChangeAspect="1"/>
          </p:cNvPicPr>
          <p:nvPr/>
        </p:nvPicPr>
        <p:blipFill>
          <a:blip r:embed="rId4"/>
          <a:stretch>
            <a:fillRect/>
          </a:stretch>
        </p:blipFill>
        <p:spPr>
          <a:xfrm>
            <a:off x="7261461" y="0"/>
            <a:ext cx="4923006" cy="1400220"/>
          </a:xfrm>
          <a:prstGeom prst="rect">
            <a:avLst/>
          </a:prstGeom>
        </p:spPr>
      </p:pic>
      <p:sp>
        <p:nvSpPr>
          <p:cNvPr id="15" name="4 CuadroTexto">
            <a:extLst>
              <a:ext uri="{FF2B5EF4-FFF2-40B4-BE49-F238E27FC236}">
                <a16:creationId xmlns:a16="http://schemas.microsoft.com/office/drawing/2014/main" id="{4365F436-E173-4817-8107-4110CE39FADE}"/>
              </a:ext>
            </a:extLst>
          </p:cNvPr>
          <p:cNvSpPr txBox="1"/>
          <p:nvPr/>
        </p:nvSpPr>
        <p:spPr>
          <a:xfrm>
            <a:off x="0" y="4134513"/>
            <a:ext cx="6096000" cy="830997"/>
          </a:xfrm>
          <a:prstGeom prst="rect">
            <a:avLst/>
          </a:prstGeom>
          <a:noFill/>
        </p:spPr>
        <p:txBody>
          <a:bodyPr wrap="square" rtlCol="0">
            <a:spAutoFit/>
          </a:bodyPr>
          <a:lstStyle/>
          <a:p>
            <a:pPr algn="ctr"/>
            <a:r>
              <a:rPr lang="es-ES" sz="2400" b="1" dirty="0">
                <a:solidFill>
                  <a:srgbClr val="700000"/>
                </a:solidFill>
              </a:rPr>
              <a:t>Docente:</a:t>
            </a:r>
          </a:p>
          <a:p>
            <a:pPr algn="ctr"/>
            <a:r>
              <a:rPr lang="es-ES" sz="2400" b="1" dirty="0" err="1">
                <a:solidFill>
                  <a:srgbClr val="700000"/>
                </a:solidFill>
              </a:rPr>
              <a:t>ANIVAL</a:t>
            </a:r>
            <a:r>
              <a:rPr lang="es-ES" sz="2400" b="1" dirty="0">
                <a:solidFill>
                  <a:srgbClr val="700000"/>
                </a:solidFill>
              </a:rPr>
              <a:t> TORRE CAMONES</a:t>
            </a:r>
            <a:endParaRPr lang="es-PE" sz="2400" b="1" dirty="0">
              <a:solidFill>
                <a:srgbClr val="700000"/>
              </a:solidFill>
            </a:endParaRPr>
          </a:p>
        </p:txBody>
      </p:sp>
      <p:sp>
        <p:nvSpPr>
          <p:cNvPr id="2" name="5 Rectángulo">
            <a:extLst>
              <a:ext uri="{FF2B5EF4-FFF2-40B4-BE49-F238E27FC236}">
                <a16:creationId xmlns:a16="http://schemas.microsoft.com/office/drawing/2014/main" id="{3267FC93-B427-4E7C-B243-BE63C44CB29D}"/>
              </a:ext>
            </a:extLst>
          </p:cNvPr>
          <p:cNvSpPr/>
          <p:nvPr/>
        </p:nvSpPr>
        <p:spPr>
          <a:xfrm>
            <a:off x="390" y="2394096"/>
            <a:ext cx="6096000" cy="1323439"/>
          </a:xfrm>
          <a:prstGeom prst="rect">
            <a:avLst/>
          </a:prstGeom>
          <a:noFill/>
        </p:spPr>
        <p:txBody>
          <a:bodyPr wrap="square" rtlCol="0">
            <a:spAutoFit/>
          </a:bodyPr>
          <a:ls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4000" b="1" dirty="0">
                <a:solidFill>
                  <a:srgbClr val="700000"/>
                </a:solidFill>
              </a:rPr>
              <a:t>INVESTIGACION DE OPERACIONES</a:t>
            </a:r>
            <a:endParaRPr lang="es-PE" sz="4000" b="1" dirty="0">
              <a:solidFill>
                <a:srgbClr val="700000"/>
              </a:solidFill>
            </a:endParaRPr>
          </a:p>
        </p:txBody>
      </p:sp>
      <p:pic>
        <p:nvPicPr>
          <p:cNvPr id="4" name="Imagen 3">
            <a:extLst>
              <a:ext uri="{FF2B5EF4-FFF2-40B4-BE49-F238E27FC236}">
                <a16:creationId xmlns:a16="http://schemas.microsoft.com/office/drawing/2014/main" id="{EF291808-C582-26D7-9A61-E42C7376AD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47736" y="3366595"/>
            <a:ext cx="1097308" cy="1097308"/>
          </a:xfrm>
          <a:prstGeom prst="rect">
            <a:avLst/>
          </a:prstGeom>
        </p:spPr>
      </p:pic>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3" name="2 Título"/>
          <p:cNvSpPr>
            <a:spLocks noGrp="1"/>
          </p:cNvSpPr>
          <p:nvPr>
            <p:ph type="ctrTitle"/>
          </p:nvPr>
        </p:nvSpPr>
        <p:spPr>
          <a:xfrm>
            <a:off x="410800" y="2475062"/>
            <a:ext cx="5685200" cy="2380481"/>
          </a:xfrm>
        </p:spPr>
        <p:txBody>
          <a:bodyPr/>
          <a:lstStyle/>
          <a:p>
            <a:pPr algn="ctr"/>
            <a:r>
              <a:rPr lang="es-PE" sz="6000" dirty="0">
                <a:solidFill>
                  <a:srgbClr val="FF0000"/>
                </a:solidFill>
                <a:latin typeface="Bauhaus 93" pitchFamily="82" charset="0"/>
              </a:rPr>
              <a:t>PROBLEMA </a:t>
            </a:r>
            <a:br>
              <a:rPr lang="es-PE" sz="6000" dirty="0">
                <a:solidFill>
                  <a:srgbClr val="FF0000"/>
                </a:solidFill>
                <a:latin typeface="Bauhaus 93" pitchFamily="82" charset="0"/>
              </a:rPr>
            </a:br>
            <a:r>
              <a:rPr lang="es-PE" sz="6000" dirty="0">
                <a:solidFill>
                  <a:srgbClr val="FF0000"/>
                </a:solidFill>
                <a:latin typeface="Bauhaus 93" pitchFamily="82" charset="0"/>
              </a:rPr>
              <a:t>DE</a:t>
            </a:r>
            <a:br>
              <a:rPr lang="es-PE" sz="6000" dirty="0">
                <a:solidFill>
                  <a:srgbClr val="FF0000"/>
                </a:solidFill>
                <a:latin typeface="Bauhaus 93" pitchFamily="82" charset="0"/>
              </a:rPr>
            </a:br>
            <a:r>
              <a:rPr lang="es-PE" sz="6000" dirty="0">
                <a:solidFill>
                  <a:srgbClr val="FF0000"/>
                </a:solidFill>
                <a:latin typeface="Bauhaus 93" pitchFamily="82" charset="0"/>
              </a:rPr>
              <a:t> TRANSPORTE</a:t>
            </a:r>
            <a:endParaRPr lang="es-ES" sz="6000" dirty="0">
              <a:solidFill>
                <a:srgbClr val="0064AE"/>
              </a:solidFill>
              <a:effectLst>
                <a:outerShdw blurRad="38100" dist="38100" dir="2700000" algn="tl">
                  <a:srgbClr val="000000">
                    <a:alpha val="43137"/>
                  </a:srgbClr>
                </a:outerShdw>
              </a:effectLst>
              <a:latin typeface="Arial Black" panose="020B0A04020102020204" pitchFamily="34" charset="0"/>
            </a:endParaRPr>
          </a:p>
        </p:txBody>
      </p:sp>
      <p:sp>
        <p:nvSpPr>
          <p:cNvPr id="83" name="Google Shape;83;p15"/>
          <p:cNvSpPr txBox="1">
            <a:spLocks noGrp="1"/>
          </p:cNvSpPr>
          <p:nvPr>
            <p:ph type="sldNum" idx="4294967295"/>
          </p:nvPr>
        </p:nvSpPr>
        <p:spPr>
          <a:xfrm>
            <a:off x="10118726" y="6332538"/>
            <a:ext cx="549275" cy="525462"/>
          </a:xfrm>
          <a:prstGeom prst="rect">
            <a:avLst/>
          </a:prstGeom>
        </p:spPr>
        <p:txBody>
          <a:bodyPr spcFirstLastPara="1" vert="horz" wrap="square" lIns="0" tIns="0" rIns="0" bIns="0" rtlCol="0" anchor="ctr" anchorCtr="0">
            <a:noAutofit/>
          </a:bodyPr>
          <a:lstStyle/>
          <a:p>
            <a:fld id="{00000000-1234-1234-1234-123412341234}" type="slidenum">
              <a:rPr lang="en"/>
              <a:pPr/>
              <a:t>2</a:t>
            </a:fld>
            <a:endParaRPr dirty="0"/>
          </a:p>
        </p:txBody>
      </p:sp>
      <p:sp>
        <p:nvSpPr>
          <p:cNvPr id="7" name="Rectangle 2"/>
          <p:cNvSpPr txBox="1">
            <a:spLocks noChangeArrowheads="1"/>
          </p:cNvSpPr>
          <p:nvPr/>
        </p:nvSpPr>
        <p:spPr bwMode="black">
          <a:xfrm>
            <a:off x="6096000" y="109243"/>
            <a:ext cx="6096000" cy="8583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rtl="0" eaLnBrk="1" fontAlgn="base" hangingPunct="1">
              <a:spcBef>
                <a:spcPct val="0"/>
              </a:spcBef>
              <a:spcAft>
                <a:spcPct val="0"/>
              </a:spcAft>
              <a:defRPr sz="2800" b="1" i="1">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itchFamily="34" charset="0"/>
              </a:defRPr>
            </a:lvl2pPr>
            <a:lvl3pPr algn="r" rtl="0" eaLnBrk="1" fontAlgn="base" hangingPunct="1">
              <a:spcBef>
                <a:spcPct val="0"/>
              </a:spcBef>
              <a:spcAft>
                <a:spcPct val="0"/>
              </a:spcAft>
              <a:defRPr sz="2800" b="1" i="1">
                <a:solidFill>
                  <a:schemeClr val="tx1"/>
                </a:solidFill>
                <a:latin typeface="Verdana" pitchFamily="34" charset="0"/>
              </a:defRPr>
            </a:lvl3pPr>
            <a:lvl4pPr algn="r" rtl="0" eaLnBrk="1" fontAlgn="base" hangingPunct="1">
              <a:spcBef>
                <a:spcPct val="0"/>
              </a:spcBef>
              <a:spcAft>
                <a:spcPct val="0"/>
              </a:spcAft>
              <a:defRPr sz="2800" b="1" i="1">
                <a:solidFill>
                  <a:schemeClr val="tx1"/>
                </a:solidFill>
                <a:latin typeface="Verdana" pitchFamily="34" charset="0"/>
              </a:defRPr>
            </a:lvl4pPr>
            <a:lvl5pPr algn="r" rtl="0" eaLnBrk="1" fontAlgn="base" hangingPunct="1">
              <a:spcBef>
                <a:spcPct val="0"/>
              </a:spcBef>
              <a:spcAft>
                <a:spcPct val="0"/>
              </a:spcAft>
              <a:defRPr sz="2800" b="1" i="1">
                <a:solidFill>
                  <a:schemeClr val="tx1"/>
                </a:solidFill>
                <a:latin typeface="Verdana" pitchFamily="34" charset="0"/>
              </a:defRPr>
            </a:lvl5pPr>
            <a:lvl6pPr marL="457200" algn="r" rtl="0" eaLnBrk="1" fontAlgn="base" hangingPunct="1">
              <a:spcBef>
                <a:spcPct val="0"/>
              </a:spcBef>
              <a:spcAft>
                <a:spcPct val="0"/>
              </a:spcAft>
              <a:defRPr sz="2800" b="1" i="1">
                <a:solidFill>
                  <a:schemeClr val="tx1"/>
                </a:solidFill>
                <a:latin typeface="Verdana" pitchFamily="34" charset="0"/>
              </a:defRPr>
            </a:lvl6pPr>
            <a:lvl7pPr marL="914400" algn="r" rtl="0" eaLnBrk="1" fontAlgn="base" hangingPunct="1">
              <a:spcBef>
                <a:spcPct val="0"/>
              </a:spcBef>
              <a:spcAft>
                <a:spcPct val="0"/>
              </a:spcAft>
              <a:defRPr sz="2800" b="1" i="1">
                <a:solidFill>
                  <a:schemeClr val="tx1"/>
                </a:solidFill>
                <a:latin typeface="Verdana" pitchFamily="34" charset="0"/>
              </a:defRPr>
            </a:lvl7pPr>
            <a:lvl8pPr marL="1371600" algn="r" rtl="0" eaLnBrk="1" fontAlgn="base" hangingPunct="1">
              <a:spcBef>
                <a:spcPct val="0"/>
              </a:spcBef>
              <a:spcAft>
                <a:spcPct val="0"/>
              </a:spcAft>
              <a:defRPr sz="2800" b="1" i="1">
                <a:solidFill>
                  <a:schemeClr val="tx1"/>
                </a:solidFill>
                <a:latin typeface="Verdana" pitchFamily="34" charset="0"/>
              </a:defRPr>
            </a:lvl8pPr>
            <a:lvl9pPr marL="1828800" algn="r" rtl="0" eaLnBrk="1" fontAlgn="base" hangingPunct="1">
              <a:spcBef>
                <a:spcPct val="0"/>
              </a:spcBef>
              <a:spcAft>
                <a:spcPct val="0"/>
              </a:spcAft>
              <a:defRPr sz="2800" b="1" i="1">
                <a:solidFill>
                  <a:schemeClr val="tx1"/>
                </a:solidFill>
                <a:latin typeface="Verdana" pitchFamily="34" charset="0"/>
              </a:defRPr>
            </a:lvl9pPr>
          </a:lstStyle>
          <a:p>
            <a:pPr algn="ctr"/>
            <a:r>
              <a:rPr lang="es-ES_tradnl" sz="3200" b="0" i="0" dirty="0">
                <a:solidFill>
                  <a:schemeClr val="bg1"/>
                </a:solidFill>
                <a:latin typeface="Bauhaus 93" pitchFamily="82" charset="0"/>
                <a:ea typeface="+mn-ea"/>
                <a:cs typeface="+mn-cs"/>
              </a:rPr>
              <a:t>Semana 11</a:t>
            </a:r>
          </a:p>
        </p:txBody>
      </p:sp>
      <p:pic>
        <p:nvPicPr>
          <p:cNvPr id="8" name="Google Shape;61;p13"/>
          <p:cNvPicPr preferRelativeResize="0"/>
          <p:nvPr/>
        </p:nvPicPr>
        <p:blipFill>
          <a:blip r:embed="rId3">
            <a:alphaModFix/>
          </a:blip>
          <a:stretch>
            <a:fillRect/>
          </a:stretch>
        </p:blipFill>
        <p:spPr>
          <a:xfrm>
            <a:off x="9058003" y="1676383"/>
            <a:ext cx="1782850" cy="1988920"/>
          </a:xfrm>
          <a:prstGeom prst="rect">
            <a:avLst/>
          </a:prstGeom>
          <a:noFill/>
          <a:ln>
            <a:noFill/>
          </a:ln>
        </p:spPr>
      </p:pic>
    </p:spTree>
    <p:extLst>
      <p:ext uri="{BB962C8B-B14F-4D97-AF65-F5344CB8AC3E}">
        <p14:creationId xmlns:p14="http://schemas.microsoft.com/office/powerpoint/2010/main" val="2826427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6096000" y="274634"/>
            <a:ext cx="6096000" cy="58182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fontAlgn="base">
              <a:spcAft>
                <a:spcPct val="0"/>
              </a:spcAft>
            </a:pPr>
            <a:r>
              <a:rPr lang="es-ES" sz="3200" dirty="0">
                <a:solidFill>
                  <a:schemeClr val="bg1"/>
                </a:solidFill>
                <a:latin typeface="Bauhaus 93" pitchFamily="82" charset="0"/>
                <a:ea typeface="+mn-ea"/>
                <a:cs typeface="+mn-cs"/>
              </a:rPr>
              <a:t>Contenido</a:t>
            </a:r>
          </a:p>
        </p:txBody>
      </p:sp>
      <p:grpSp>
        <p:nvGrpSpPr>
          <p:cNvPr id="67587" name="Group 3"/>
          <p:cNvGrpSpPr>
            <a:grpSpLocks/>
          </p:cNvGrpSpPr>
          <p:nvPr/>
        </p:nvGrpSpPr>
        <p:grpSpPr bwMode="auto">
          <a:xfrm>
            <a:off x="2635074" y="2037150"/>
            <a:ext cx="762000" cy="665163"/>
            <a:chOff x="1110" y="2656"/>
            <a:chExt cx="1549" cy="1351"/>
          </a:xfrm>
          <a:solidFill>
            <a:schemeClr val="accent6">
              <a:lumMod val="75000"/>
            </a:schemeClr>
          </a:solidFill>
        </p:grpSpPr>
        <p:sp>
          <p:nvSpPr>
            <p:cNvPr id="67588" name="AutoShape 4"/>
            <p:cNvSpPr>
              <a:spLocks noChangeArrowheads="1"/>
            </p:cNvSpPr>
            <p:nvPr/>
          </p:nvSpPr>
          <p:spPr bwMode="gray">
            <a:xfrm>
              <a:off x="1123" y="2679"/>
              <a:ext cx="1536" cy="1328"/>
            </a:xfrm>
            <a:prstGeom prst="hexagon">
              <a:avLst>
                <a:gd name="adj" fmla="val 28916"/>
                <a:gd name="vf" fmla="val 115470"/>
              </a:avLst>
            </a:prstGeom>
            <a:grpFill/>
            <a:ln w="9525">
              <a:noFill/>
              <a:miter lim="800000"/>
              <a:headEnd/>
              <a:tailEnd/>
            </a:ln>
            <a:effectLst/>
          </p:spPr>
          <p:txBody>
            <a:bodyPr wrap="none" anchor="ctr"/>
            <a:lstStyle/>
            <a:p>
              <a:endParaRPr lang="es-ES" sz="3600" dirty="0"/>
            </a:p>
          </p:txBody>
        </p:sp>
        <p:sp>
          <p:nvSpPr>
            <p:cNvPr id="67589" name="AutoShape 5"/>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p:spPr>
          <p:txBody>
            <a:bodyPr wrap="none" anchor="ctr"/>
            <a:lstStyle/>
            <a:p>
              <a:endParaRPr lang="es-ES" sz="3600" dirty="0"/>
            </a:p>
          </p:txBody>
        </p:sp>
        <p:sp>
          <p:nvSpPr>
            <p:cNvPr id="67590" name="AutoShape 6"/>
            <p:cNvSpPr>
              <a:spLocks noChangeArrowheads="1"/>
            </p:cNvSpPr>
            <p:nvPr/>
          </p:nvSpPr>
          <p:spPr bwMode="gray">
            <a:xfrm>
              <a:off x="1200" y="2736"/>
              <a:ext cx="1350" cy="1168"/>
            </a:xfrm>
            <a:prstGeom prst="hexagon">
              <a:avLst>
                <a:gd name="adj" fmla="val 28896"/>
                <a:gd name="vf" fmla="val 115470"/>
              </a:avLst>
            </a:prstGeom>
            <a:grpFill/>
            <a:ln w="9525">
              <a:solidFill>
                <a:schemeClr val="tx1"/>
              </a:solidFill>
              <a:miter lim="800000"/>
              <a:headEnd/>
              <a:tailEnd/>
            </a:ln>
            <a:effectLst/>
          </p:spPr>
          <p:txBody>
            <a:bodyPr wrap="none" anchor="ctr"/>
            <a:lstStyle/>
            <a:p>
              <a:endParaRPr lang="es-ES" sz="3600" dirty="0"/>
            </a:p>
          </p:txBody>
        </p:sp>
      </p:grpSp>
      <p:grpSp>
        <p:nvGrpSpPr>
          <p:cNvPr id="67591" name="Group 7"/>
          <p:cNvGrpSpPr>
            <a:grpSpLocks/>
          </p:cNvGrpSpPr>
          <p:nvPr/>
        </p:nvGrpSpPr>
        <p:grpSpPr bwMode="auto">
          <a:xfrm>
            <a:off x="2627879" y="2945666"/>
            <a:ext cx="762000" cy="665163"/>
            <a:chOff x="3174" y="2656"/>
            <a:chExt cx="1549" cy="1351"/>
          </a:xfrm>
        </p:grpSpPr>
        <p:sp>
          <p:nvSpPr>
            <p:cNvPr id="67592"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es-ES" sz="3600" dirty="0"/>
            </a:p>
          </p:txBody>
        </p:sp>
        <p:sp>
          <p:nvSpPr>
            <p:cNvPr id="67593"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es-ES" sz="3600" dirty="0"/>
            </a:p>
          </p:txBody>
        </p:sp>
        <p:sp>
          <p:nvSpPr>
            <p:cNvPr id="67594"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endParaRPr lang="es-ES" sz="3600" dirty="0"/>
            </a:p>
          </p:txBody>
        </p:sp>
      </p:grpSp>
      <p:sp>
        <p:nvSpPr>
          <p:cNvPr id="67595" name="Line 11"/>
          <p:cNvSpPr>
            <a:spLocks noChangeShapeType="1"/>
          </p:cNvSpPr>
          <p:nvPr/>
        </p:nvSpPr>
        <p:spPr bwMode="auto">
          <a:xfrm>
            <a:off x="3791744" y="2643767"/>
            <a:ext cx="5760640" cy="0"/>
          </a:xfrm>
          <a:prstGeom prst="line">
            <a:avLst/>
          </a:prstGeom>
          <a:noFill/>
          <a:ln w="25400">
            <a:solidFill>
              <a:schemeClr val="tx2"/>
            </a:solidFill>
            <a:prstDash val="sysDot"/>
            <a:round/>
            <a:headEnd/>
            <a:tailEnd type="oval" w="med" len="med"/>
          </a:ln>
          <a:effectLst/>
        </p:spPr>
        <p:txBody>
          <a:bodyPr wrap="none" anchor="ctr"/>
          <a:lstStyle/>
          <a:p>
            <a:endParaRPr lang="es-ES" sz="3600" dirty="0"/>
          </a:p>
        </p:txBody>
      </p:sp>
      <p:sp>
        <p:nvSpPr>
          <p:cNvPr id="67597" name="Text Box 13"/>
          <p:cNvSpPr txBox="1">
            <a:spLocks noChangeArrowheads="1"/>
          </p:cNvSpPr>
          <p:nvPr/>
        </p:nvSpPr>
        <p:spPr bwMode="gray">
          <a:xfrm>
            <a:off x="2809920" y="2122490"/>
            <a:ext cx="418705" cy="646331"/>
          </a:xfrm>
          <a:prstGeom prst="rect">
            <a:avLst/>
          </a:prstGeom>
          <a:noFill/>
          <a:ln w="9525" algn="ctr">
            <a:noFill/>
            <a:miter lim="800000"/>
            <a:headEnd/>
            <a:tailEnd/>
          </a:ln>
          <a:effectLst/>
        </p:spPr>
        <p:txBody>
          <a:bodyPr wrap="none">
            <a:spAutoFit/>
          </a:bodyPr>
          <a:lstStyle/>
          <a:p>
            <a:pPr algn="ctr" eaLnBrk="0" hangingPunct="0"/>
            <a:r>
              <a:rPr lang="en-US" sz="3600" dirty="0">
                <a:solidFill>
                  <a:schemeClr val="bg1"/>
                </a:solidFill>
              </a:rPr>
              <a:t>1</a:t>
            </a:r>
          </a:p>
        </p:txBody>
      </p:sp>
      <p:sp>
        <p:nvSpPr>
          <p:cNvPr id="67598" name="Line 14"/>
          <p:cNvSpPr>
            <a:spLocks noChangeShapeType="1"/>
          </p:cNvSpPr>
          <p:nvPr/>
        </p:nvSpPr>
        <p:spPr bwMode="auto">
          <a:xfrm>
            <a:off x="3791744" y="3548063"/>
            <a:ext cx="5760640" cy="0"/>
          </a:xfrm>
          <a:prstGeom prst="line">
            <a:avLst/>
          </a:prstGeom>
          <a:noFill/>
          <a:ln w="25400">
            <a:solidFill>
              <a:schemeClr val="tx2"/>
            </a:solidFill>
            <a:prstDash val="sysDot"/>
            <a:round/>
            <a:headEnd/>
            <a:tailEnd type="oval" w="med" len="med"/>
          </a:ln>
          <a:effectLst/>
        </p:spPr>
        <p:txBody>
          <a:bodyPr wrap="none" anchor="ctr"/>
          <a:lstStyle/>
          <a:p>
            <a:endParaRPr lang="es-ES" sz="3600" dirty="0"/>
          </a:p>
        </p:txBody>
      </p:sp>
      <p:sp>
        <p:nvSpPr>
          <p:cNvPr id="67599" name="Text Box 15"/>
          <p:cNvSpPr txBox="1">
            <a:spLocks noChangeArrowheads="1"/>
          </p:cNvSpPr>
          <p:nvPr/>
        </p:nvSpPr>
        <p:spPr bwMode="auto">
          <a:xfrm>
            <a:off x="3666522" y="3032425"/>
            <a:ext cx="5922583" cy="646331"/>
          </a:xfrm>
          <a:prstGeom prst="rect">
            <a:avLst/>
          </a:prstGeom>
          <a:noFill/>
          <a:ln w="9525" algn="ctr">
            <a:noFill/>
            <a:miter lim="800000"/>
            <a:headEnd/>
            <a:tailEnd/>
          </a:ln>
          <a:effectLst/>
        </p:spPr>
        <p:txBody>
          <a:bodyPr wrap="none">
            <a:spAutoFit/>
          </a:bodyPr>
          <a:lstStyle>
            <a:defPPr>
              <a:defRPr lang="es-ES"/>
            </a:defPPr>
            <a:lvl1pPr eaLnBrk="0" hangingPunct="0">
              <a:defRPr sz="2800" b="0">
                <a:solidFill>
                  <a:schemeClr val="bg1"/>
                </a:solidFill>
              </a:defRPr>
            </a:lvl1pPr>
          </a:lstStyle>
          <a:p>
            <a:r>
              <a:rPr lang="es-ES_tradnl" sz="3600" dirty="0">
                <a:solidFill>
                  <a:schemeClr val="tx1"/>
                </a:solidFill>
              </a:rPr>
              <a:t>Modelo tabular de transportes</a:t>
            </a:r>
          </a:p>
        </p:txBody>
      </p:sp>
      <p:sp>
        <p:nvSpPr>
          <p:cNvPr id="67600" name="Text Box 16"/>
          <p:cNvSpPr txBox="1">
            <a:spLocks noChangeArrowheads="1"/>
          </p:cNvSpPr>
          <p:nvPr/>
        </p:nvSpPr>
        <p:spPr bwMode="gray">
          <a:xfrm>
            <a:off x="2854194" y="3036890"/>
            <a:ext cx="418705" cy="646331"/>
          </a:xfrm>
          <a:prstGeom prst="rect">
            <a:avLst/>
          </a:prstGeom>
          <a:noFill/>
          <a:ln w="9525" algn="ctr">
            <a:noFill/>
            <a:miter lim="800000"/>
            <a:headEnd/>
            <a:tailEnd/>
          </a:ln>
          <a:effectLst/>
        </p:spPr>
        <p:txBody>
          <a:bodyPr wrap="none">
            <a:spAutoFit/>
          </a:bodyPr>
          <a:lstStyle/>
          <a:p>
            <a:pPr algn="ctr" eaLnBrk="0" hangingPunct="0"/>
            <a:r>
              <a:rPr lang="en-US" sz="3600" dirty="0">
                <a:solidFill>
                  <a:schemeClr val="bg1"/>
                </a:solidFill>
              </a:rPr>
              <a:t>2</a:t>
            </a:r>
          </a:p>
        </p:txBody>
      </p:sp>
      <p:grpSp>
        <p:nvGrpSpPr>
          <p:cNvPr id="67601" name="Group 17"/>
          <p:cNvGrpSpPr>
            <a:grpSpLocks/>
          </p:cNvGrpSpPr>
          <p:nvPr/>
        </p:nvGrpSpPr>
        <p:grpSpPr bwMode="auto">
          <a:xfrm>
            <a:off x="2641469" y="3841962"/>
            <a:ext cx="762000" cy="665163"/>
            <a:chOff x="1110" y="2656"/>
            <a:chExt cx="1549" cy="1351"/>
          </a:xfrm>
          <a:solidFill>
            <a:schemeClr val="accent6">
              <a:lumMod val="75000"/>
            </a:schemeClr>
          </a:solidFill>
        </p:grpSpPr>
        <p:sp>
          <p:nvSpPr>
            <p:cNvPr id="67602" name="AutoShape 18"/>
            <p:cNvSpPr>
              <a:spLocks noChangeArrowheads="1"/>
            </p:cNvSpPr>
            <p:nvPr/>
          </p:nvSpPr>
          <p:spPr bwMode="gray">
            <a:xfrm>
              <a:off x="1123" y="2679"/>
              <a:ext cx="1536" cy="1328"/>
            </a:xfrm>
            <a:prstGeom prst="hexagon">
              <a:avLst>
                <a:gd name="adj" fmla="val 28916"/>
                <a:gd name="vf" fmla="val 115470"/>
              </a:avLst>
            </a:prstGeom>
            <a:grpFill/>
            <a:ln w="9525">
              <a:noFill/>
              <a:miter lim="800000"/>
              <a:headEnd/>
              <a:tailEnd/>
            </a:ln>
            <a:effectLst/>
          </p:spPr>
          <p:txBody>
            <a:bodyPr wrap="none" anchor="ctr"/>
            <a:lstStyle/>
            <a:p>
              <a:endParaRPr lang="es-ES" sz="3600" dirty="0"/>
            </a:p>
          </p:txBody>
        </p:sp>
        <p:sp>
          <p:nvSpPr>
            <p:cNvPr id="67603" name="AutoShape 19"/>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p:spPr>
          <p:txBody>
            <a:bodyPr wrap="none" anchor="ctr"/>
            <a:lstStyle/>
            <a:p>
              <a:endParaRPr lang="es-ES" sz="3600" dirty="0"/>
            </a:p>
          </p:txBody>
        </p:sp>
        <p:sp>
          <p:nvSpPr>
            <p:cNvPr id="67604" name="AutoShape 20"/>
            <p:cNvSpPr>
              <a:spLocks noChangeArrowheads="1"/>
            </p:cNvSpPr>
            <p:nvPr/>
          </p:nvSpPr>
          <p:spPr bwMode="gray">
            <a:xfrm>
              <a:off x="1200" y="2736"/>
              <a:ext cx="1350" cy="1168"/>
            </a:xfrm>
            <a:prstGeom prst="hexagon">
              <a:avLst>
                <a:gd name="adj" fmla="val 28896"/>
                <a:gd name="vf" fmla="val 115470"/>
              </a:avLst>
            </a:prstGeom>
            <a:grpFill/>
            <a:ln w="9525">
              <a:solidFill>
                <a:schemeClr val="tx1"/>
              </a:solidFill>
              <a:miter lim="800000"/>
              <a:headEnd/>
              <a:tailEnd/>
            </a:ln>
            <a:effectLst/>
          </p:spPr>
          <p:txBody>
            <a:bodyPr wrap="none" anchor="ctr"/>
            <a:lstStyle/>
            <a:p>
              <a:endParaRPr lang="es-ES" sz="3600" dirty="0"/>
            </a:p>
          </p:txBody>
        </p:sp>
      </p:grpSp>
      <p:grpSp>
        <p:nvGrpSpPr>
          <p:cNvPr id="67605" name="Group 21"/>
          <p:cNvGrpSpPr>
            <a:grpSpLocks/>
          </p:cNvGrpSpPr>
          <p:nvPr/>
        </p:nvGrpSpPr>
        <p:grpSpPr bwMode="auto">
          <a:xfrm>
            <a:off x="2635074" y="4719490"/>
            <a:ext cx="762000" cy="665163"/>
            <a:chOff x="3174" y="2656"/>
            <a:chExt cx="1549" cy="1351"/>
          </a:xfrm>
        </p:grpSpPr>
        <p:sp>
          <p:nvSpPr>
            <p:cNvPr id="67606"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es-ES" sz="3600" dirty="0"/>
            </a:p>
          </p:txBody>
        </p:sp>
        <p:sp>
          <p:nvSpPr>
            <p:cNvPr id="67607"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es-ES" sz="3600" dirty="0"/>
            </a:p>
          </p:txBody>
        </p:sp>
        <p:sp>
          <p:nvSpPr>
            <p:cNvPr id="67608"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endParaRPr lang="es-ES" sz="3600" dirty="0"/>
            </a:p>
          </p:txBody>
        </p:sp>
      </p:grpSp>
      <p:sp>
        <p:nvSpPr>
          <p:cNvPr id="67609" name="Line 25"/>
          <p:cNvSpPr>
            <a:spLocks noChangeShapeType="1"/>
          </p:cNvSpPr>
          <p:nvPr/>
        </p:nvSpPr>
        <p:spPr bwMode="auto">
          <a:xfrm>
            <a:off x="3791744" y="4444292"/>
            <a:ext cx="5760640" cy="51509"/>
          </a:xfrm>
          <a:prstGeom prst="line">
            <a:avLst/>
          </a:prstGeom>
          <a:noFill/>
          <a:ln w="25400">
            <a:solidFill>
              <a:schemeClr val="tx2"/>
            </a:solidFill>
            <a:prstDash val="sysDot"/>
            <a:round/>
            <a:headEnd/>
            <a:tailEnd type="oval" w="med" len="med"/>
          </a:ln>
          <a:effectLst/>
        </p:spPr>
        <p:txBody>
          <a:bodyPr wrap="none" anchor="ctr"/>
          <a:lstStyle/>
          <a:p>
            <a:endParaRPr lang="es-ES" sz="3600" dirty="0"/>
          </a:p>
        </p:txBody>
      </p:sp>
      <p:sp>
        <p:nvSpPr>
          <p:cNvPr id="67610" name="Text Box 26"/>
          <p:cNvSpPr txBox="1">
            <a:spLocks noChangeArrowheads="1"/>
          </p:cNvSpPr>
          <p:nvPr/>
        </p:nvSpPr>
        <p:spPr bwMode="auto">
          <a:xfrm>
            <a:off x="3691481" y="3938049"/>
            <a:ext cx="2823465" cy="646331"/>
          </a:xfrm>
          <a:prstGeom prst="rect">
            <a:avLst/>
          </a:prstGeom>
          <a:noFill/>
          <a:ln w="9525" algn="ctr">
            <a:noFill/>
            <a:miter lim="800000"/>
            <a:headEnd/>
            <a:tailEnd/>
          </a:ln>
          <a:effectLst/>
        </p:spPr>
        <p:txBody>
          <a:bodyPr wrap="none">
            <a:spAutoFit/>
          </a:bodyPr>
          <a:lstStyle>
            <a:defPPr>
              <a:defRPr lang="es-ES"/>
            </a:defPPr>
            <a:lvl1pPr eaLnBrk="0" hangingPunct="0">
              <a:defRPr sz="2800" b="0">
                <a:solidFill>
                  <a:schemeClr val="bg1"/>
                </a:solidFill>
              </a:defRPr>
            </a:lvl1pPr>
          </a:lstStyle>
          <a:p>
            <a:r>
              <a:rPr lang="es-ES_tradnl" sz="3600" dirty="0">
                <a:solidFill>
                  <a:schemeClr val="tx1"/>
                </a:solidFill>
              </a:rPr>
              <a:t>Método Vogel</a:t>
            </a:r>
          </a:p>
        </p:txBody>
      </p:sp>
      <p:sp>
        <p:nvSpPr>
          <p:cNvPr id="67611" name="Text Box 27"/>
          <p:cNvSpPr txBox="1">
            <a:spLocks noChangeArrowheads="1"/>
          </p:cNvSpPr>
          <p:nvPr/>
        </p:nvSpPr>
        <p:spPr bwMode="gray">
          <a:xfrm>
            <a:off x="2816315" y="3951607"/>
            <a:ext cx="418705" cy="646331"/>
          </a:xfrm>
          <a:prstGeom prst="rect">
            <a:avLst/>
          </a:prstGeom>
          <a:noFill/>
          <a:ln w="9525" algn="ctr">
            <a:noFill/>
            <a:miter lim="800000"/>
            <a:headEnd/>
            <a:tailEnd/>
          </a:ln>
          <a:effectLst/>
        </p:spPr>
        <p:txBody>
          <a:bodyPr wrap="none">
            <a:spAutoFit/>
          </a:bodyPr>
          <a:lstStyle/>
          <a:p>
            <a:pPr algn="ctr" eaLnBrk="0" hangingPunct="0"/>
            <a:r>
              <a:rPr lang="en-US" sz="3600" dirty="0">
                <a:solidFill>
                  <a:schemeClr val="bg1"/>
                </a:solidFill>
              </a:rPr>
              <a:t>3</a:t>
            </a:r>
          </a:p>
        </p:txBody>
      </p:sp>
      <p:sp>
        <p:nvSpPr>
          <p:cNvPr id="67612" name="Line 28"/>
          <p:cNvSpPr>
            <a:spLocks noChangeShapeType="1"/>
          </p:cNvSpPr>
          <p:nvPr/>
        </p:nvSpPr>
        <p:spPr bwMode="auto">
          <a:xfrm>
            <a:off x="3791744" y="5342518"/>
            <a:ext cx="5760640" cy="30811"/>
          </a:xfrm>
          <a:prstGeom prst="line">
            <a:avLst/>
          </a:prstGeom>
          <a:noFill/>
          <a:ln w="25400">
            <a:solidFill>
              <a:schemeClr val="tx2"/>
            </a:solidFill>
            <a:prstDash val="sysDot"/>
            <a:round/>
            <a:headEnd/>
            <a:tailEnd type="oval" w="med" len="med"/>
          </a:ln>
          <a:effectLst/>
        </p:spPr>
        <p:txBody>
          <a:bodyPr wrap="none" anchor="ctr"/>
          <a:lstStyle/>
          <a:p>
            <a:endParaRPr lang="es-ES" sz="3600" dirty="0"/>
          </a:p>
        </p:txBody>
      </p:sp>
      <p:sp>
        <p:nvSpPr>
          <p:cNvPr id="67613" name="Text Box 29"/>
          <p:cNvSpPr txBox="1">
            <a:spLocks noChangeArrowheads="1"/>
          </p:cNvSpPr>
          <p:nvPr/>
        </p:nvSpPr>
        <p:spPr bwMode="auto">
          <a:xfrm>
            <a:off x="3691478" y="4837457"/>
            <a:ext cx="2168158" cy="646331"/>
          </a:xfrm>
          <a:prstGeom prst="rect">
            <a:avLst/>
          </a:prstGeom>
          <a:noFill/>
          <a:ln w="9525" algn="ctr">
            <a:noFill/>
            <a:miter lim="800000"/>
            <a:headEnd/>
            <a:tailEnd/>
          </a:ln>
          <a:effectLst/>
        </p:spPr>
        <p:txBody>
          <a:bodyPr wrap="none">
            <a:spAutoFit/>
          </a:bodyPr>
          <a:lstStyle>
            <a:defPPr>
              <a:defRPr lang="es-ES"/>
            </a:defPPr>
            <a:lvl1pPr eaLnBrk="0" hangingPunct="0">
              <a:defRPr sz="2800" b="0">
                <a:solidFill>
                  <a:schemeClr val="bg1"/>
                </a:solidFill>
              </a:defRPr>
            </a:lvl1pPr>
          </a:lstStyle>
          <a:p>
            <a:r>
              <a:rPr lang="es-ES_tradnl" sz="3600" dirty="0">
                <a:solidFill>
                  <a:schemeClr val="tx1"/>
                </a:solidFill>
              </a:rPr>
              <a:t>Problemas</a:t>
            </a:r>
          </a:p>
        </p:txBody>
      </p:sp>
      <p:sp>
        <p:nvSpPr>
          <p:cNvPr id="67614" name="Text Box 30"/>
          <p:cNvSpPr txBox="1">
            <a:spLocks noChangeArrowheads="1"/>
          </p:cNvSpPr>
          <p:nvPr/>
        </p:nvSpPr>
        <p:spPr bwMode="gray">
          <a:xfrm>
            <a:off x="2808445" y="4832917"/>
            <a:ext cx="418705" cy="646331"/>
          </a:xfrm>
          <a:prstGeom prst="rect">
            <a:avLst/>
          </a:prstGeom>
          <a:noFill/>
          <a:ln w="9525" algn="ctr">
            <a:noFill/>
            <a:miter lim="800000"/>
            <a:headEnd/>
            <a:tailEnd/>
          </a:ln>
          <a:effectLst/>
        </p:spPr>
        <p:txBody>
          <a:bodyPr wrap="none">
            <a:spAutoFit/>
          </a:bodyPr>
          <a:lstStyle/>
          <a:p>
            <a:pPr algn="ctr" eaLnBrk="0" hangingPunct="0"/>
            <a:r>
              <a:rPr lang="en-US" sz="3600" dirty="0">
                <a:solidFill>
                  <a:schemeClr val="bg1"/>
                </a:solidFill>
              </a:rPr>
              <a:t>4</a:t>
            </a:r>
          </a:p>
        </p:txBody>
      </p:sp>
      <p:sp>
        <p:nvSpPr>
          <p:cNvPr id="67615" name="Text Box 31"/>
          <p:cNvSpPr txBox="1">
            <a:spLocks noChangeArrowheads="1"/>
          </p:cNvSpPr>
          <p:nvPr/>
        </p:nvSpPr>
        <p:spPr bwMode="auto">
          <a:xfrm>
            <a:off x="3184527" y="722314"/>
            <a:ext cx="184731" cy="369332"/>
          </a:xfrm>
          <a:prstGeom prst="rect">
            <a:avLst/>
          </a:prstGeom>
          <a:noFill/>
          <a:ln w="9525">
            <a:noFill/>
            <a:miter lim="800000"/>
            <a:headEnd/>
            <a:tailEnd/>
          </a:ln>
          <a:effectLst/>
        </p:spPr>
        <p:txBody>
          <a:bodyPr wrap="none">
            <a:spAutoFit/>
          </a:bodyPr>
          <a:lstStyle/>
          <a:p>
            <a:endParaRPr lang="es-ES" dirty="0"/>
          </a:p>
        </p:txBody>
      </p:sp>
      <p:sp>
        <p:nvSpPr>
          <p:cNvPr id="32" name="Text Box 15">
            <a:extLst>
              <a:ext uri="{FF2B5EF4-FFF2-40B4-BE49-F238E27FC236}">
                <a16:creationId xmlns:a16="http://schemas.microsoft.com/office/drawing/2014/main" id="{FA645641-393B-4544-9E28-66FDF12EEA8F}"/>
              </a:ext>
            </a:extLst>
          </p:cNvPr>
          <p:cNvSpPr txBox="1">
            <a:spLocks noChangeArrowheads="1"/>
          </p:cNvSpPr>
          <p:nvPr/>
        </p:nvSpPr>
        <p:spPr bwMode="auto">
          <a:xfrm>
            <a:off x="3680906" y="2141047"/>
            <a:ext cx="4477508" cy="646331"/>
          </a:xfrm>
          <a:prstGeom prst="rect">
            <a:avLst/>
          </a:prstGeom>
          <a:noFill/>
          <a:ln w="9525" algn="ctr">
            <a:noFill/>
            <a:miter lim="800000"/>
            <a:headEnd/>
            <a:tailEnd/>
          </a:ln>
          <a:effectLst/>
        </p:spPr>
        <p:txBody>
          <a:bodyPr wrap="none">
            <a:spAutoFit/>
          </a:bodyPr>
          <a:lstStyle>
            <a:defPPr>
              <a:defRPr lang="es-ES"/>
            </a:defPPr>
            <a:lvl1pPr eaLnBrk="0" hangingPunct="0">
              <a:defRPr sz="2800" b="0">
                <a:solidFill>
                  <a:schemeClr val="bg1"/>
                </a:solidFill>
              </a:defRPr>
            </a:lvl1pPr>
          </a:lstStyle>
          <a:p>
            <a:r>
              <a:rPr lang="es-ES_tradnl" sz="3600" dirty="0">
                <a:solidFill>
                  <a:schemeClr val="tx1"/>
                </a:solidFill>
              </a:rPr>
              <a:t>Modelo de transportes</a:t>
            </a:r>
          </a:p>
        </p:txBody>
      </p:sp>
    </p:spTree>
    <p:extLst>
      <p:ext uri="{BB962C8B-B14F-4D97-AF65-F5344CB8AC3E}">
        <p14:creationId xmlns:p14="http://schemas.microsoft.com/office/powerpoint/2010/main" val="3058150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ustomShape 2"/>
          <p:cNvSpPr/>
          <p:nvPr/>
        </p:nvSpPr>
        <p:spPr>
          <a:xfrm>
            <a:off x="647138" y="2304754"/>
            <a:ext cx="790986" cy="421826"/>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nSpc>
                <a:spcPct val="100000"/>
              </a:lnSpc>
            </a:pPr>
            <a:r>
              <a:rPr lang="es-ES" sz="2400" b="1" i="1" spc="-1" dirty="0" err="1">
                <a:solidFill>
                  <a:schemeClr val="bg2">
                    <a:lumMod val="25000"/>
                  </a:schemeClr>
                </a:solidFill>
                <a:latin typeface="Arial"/>
                <a:ea typeface="ＭＳ 明朝"/>
              </a:rPr>
              <a:t>a</a:t>
            </a:r>
            <a:r>
              <a:rPr lang="es-ES" sz="2400" b="1" i="1" spc="-1" baseline="-25000" dirty="0" err="1">
                <a:solidFill>
                  <a:schemeClr val="bg2">
                    <a:lumMod val="25000"/>
                  </a:schemeClr>
                </a:solidFill>
                <a:latin typeface="Arial"/>
                <a:ea typeface="ＭＳ 明朝"/>
              </a:rPr>
              <a:t>1</a:t>
            </a:r>
            <a:r>
              <a:rPr lang="es-ES" sz="2400" b="1" i="1" spc="-1" dirty="0">
                <a:solidFill>
                  <a:schemeClr val="bg2">
                    <a:lumMod val="25000"/>
                  </a:schemeClr>
                </a:solidFill>
                <a:latin typeface="Arial"/>
                <a:ea typeface="ＭＳ 明朝"/>
                <a:sym typeface="Wingdings" panose="05000000000000000000" pitchFamily="2" charset="2"/>
              </a:rPr>
              <a:t></a:t>
            </a:r>
            <a:endParaRPr lang="es-PE" sz="2400" spc="-1" baseline="-25000" dirty="0">
              <a:solidFill>
                <a:schemeClr val="bg2">
                  <a:lumMod val="25000"/>
                </a:schemeClr>
              </a:solidFill>
              <a:latin typeface="Arial"/>
            </a:endParaRPr>
          </a:p>
        </p:txBody>
      </p:sp>
      <p:sp>
        <p:nvSpPr>
          <p:cNvPr id="13" name="CustomShape 3"/>
          <p:cNvSpPr/>
          <p:nvPr/>
        </p:nvSpPr>
        <p:spPr>
          <a:xfrm>
            <a:off x="438913" y="3973759"/>
            <a:ext cx="1224554" cy="421826"/>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z="2400" b="1" i="1" spc="-1" dirty="0">
                <a:solidFill>
                  <a:schemeClr val="bg2">
                    <a:lumMod val="25000"/>
                  </a:schemeClr>
                </a:solidFill>
                <a:latin typeface="Arial"/>
                <a:ea typeface="ＭＳ 明朝"/>
              </a:rPr>
              <a:t>  </a:t>
            </a:r>
            <a:r>
              <a:rPr lang="es-ES" sz="2400" b="1" i="1" spc="-1" dirty="0" err="1">
                <a:solidFill>
                  <a:schemeClr val="bg2">
                    <a:lumMod val="25000"/>
                  </a:schemeClr>
                </a:solidFill>
                <a:latin typeface="Arial"/>
                <a:ea typeface="ＭＳ 明朝"/>
              </a:rPr>
              <a:t>a</a:t>
            </a:r>
            <a:r>
              <a:rPr lang="es-ES" sz="2400" b="1" i="1" spc="-1" baseline="-25000" dirty="0" err="1">
                <a:solidFill>
                  <a:schemeClr val="bg2">
                    <a:lumMod val="25000"/>
                  </a:schemeClr>
                </a:solidFill>
                <a:latin typeface="Arial"/>
                <a:ea typeface="ＭＳ 明朝"/>
              </a:rPr>
              <a:t>2</a:t>
            </a:r>
            <a:r>
              <a:rPr lang="es-ES" sz="2400" b="1" i="1" spc="-1" dirty="0">
                <a:solidFill>
                  <a:schemeClr val="bg2">
                    <a:lumMod val="25000"/>
                  </a:schemeClr>
                </a:solidFill>
                <a:latin typeface="Arial"/>
                <a:ea typeface="ＭＳ 明朝"/>
                <a:sym typeface="Wingdings" panose="05000000000000000000" pitchFamily="2" charset="2"/>
              </a:rPr>
              <a:t></a:t>
            </a:r>
            <a:endParaRPr lang="es-PE" sz="2400" spc="-1" baseline="-25000" dirty="0">
              <a:solidFill>
                <a:schemeClr val="bg2">
                  <a:lumMod val="25000"/>
                </a:schemeClr>
              </a:solidFill>
              <a:latin typeface="Arial"/>
            </a:endParaRPr>
          </a:p>
        </p:txBody>
      </p:sp>
      <p:sp>
        <p:nvSpPr>
          <p:cNvPr id="15" name="CustomShape 5"/>
          <p:cNvSpPr/>
          <p:nvPr/>
        </p:nvSpPr>
        <p:spPr>
          <a:xfrm>
            <a:off x="1351498" y="3959237"/>
            <a:ext cx="440763" cy="444804"/>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6" name="CustomShape 6"/>
          <p:cNvSpPr/>
          <p:nvPr/>
        </p:nvSpPr>
        <p:spPr>
          <a:xfrm>
            <a:off x="3880745" y="2241162"/>
            <a:ext cx="462431" cy="444804"/>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7" name="CustomShape 7"/>
          <p:cNvSpPr/>
          <p:nvPr/>
        </p:nvSpPr>
        <p:spPr>
          <a:xfrm>
            <a:off x="1401194" y="2250368"/>
            <a:ext cx="427382" cy="444804"/>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8" name="CustomShape 8"/>
          <p:cNvSpPr/>
          <p:nvPr/>
        </p:nvSpPr>
        <p:spPr>
          <a:xfrm>
            <a:off x="3881742" y="3983867"/>
            <a:ext cx="444181" cy="444804"/>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9" name="CustomShape 9"/>
          <p:cNvSpPr/>
          <p:nvPr/>
        </p:nvSpPr>
        <p:spPr>
          <a:xfrm>
            <a:off x="3933905" y="5586372"/>
            <a:ext cx="449027" cy="444804"/>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20" name="Line 10"/>
          <p:cNvSpPr/>
          <p:nvPr/>
        </p:nvSpPr>
        <p:spPr>
          <a:xfrm flipV="1">
            <a:off x="1809367" y="2481751"/>
            <a:ext cx="2026915" cy="17017"/>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21" name="Line 11"/>
          <p:cNvSpPr/>
          <p:nvPr/>
        </p:nvSpPr>
        <p:spPr>
          <a:xfrm>
            <a:off x="1752045" y="2598160"/>
            <a:ext cx="2163749" cy="1486974"/>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dirty="0"/>
          </a:p>
        </p:txBody>
      </p:sp>
      <p:sp>
        <p:nvSpPr>
          <p:cNvPr id="22" name="Line 12"/>
          <p:cNvSpPr/>
          <p:nvPr/>
        </p:nvSpPr>
        <p:spPr>
          <a:xfrm>
            <a:off x="1752045" y="2659865"/>
            <a:ext cx="2222320" cy="3072053"/>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23" name="Line 13"/>
          <p:cNvSpPr/>
          <p:nvPr/>
        </p:nvSpPr>
        <p:spPr>
          <a:xfrm flipV="1">
            <a:off x="1802442" y="2557574"/>
            <a:ext cx="2038293" cy="1501049"/>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24" name="Line 14"/>
          <p:cNvSpPr/>
          <p:nvPr/>
        </p:nvSpPr>
        <p:spPr>
          <a:xfrm>
            <a:off x="1802442" y="4197542"/>
            <a:ext cx="2103413" cy="15135"/>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25" name="Line 15"/>
          <p:cNvSpPr/>
          <p:nvPr/>
        </p:nvSpPr>
        <p:spPr>
          <a:xfrm>
            <a:off x="1752045" y="4336791"/>
            <a:ext cx="2171923" cy="1400407"/>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27" name="CustomShape 17"/>
          <p:cNvSpPr/>
          <p:nvPr/>
        </p:nvSpPr>
        <p:spPr>
          <a:xfrm>
            <a:off x="2156242" y="2127685"/>
            <a:ext cx="1163204" cy="337100"/>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sz="1600" b="1" spc="-1" dirty="0" err="1">
                <a:solidFill>
                  <a:schemeClr val="bg2">
                    <a:lumMod val="25000"/>
                  </a:schemeClr>
                </a:solidFill>
                <a:latin typeface="Arial"/>
                <a:ea typeface="ＭＳ 明朝"/>
              </a:rPr>
              <a:t>C</a:t>
            </a:r>
            <a:r>
              <a:rPr lang="es-PE" sz="1600" b="1" spc="-1" baseline="-25000" dirty="0" err="1">
                <a:solidFill>
                  <a:schemeClr val="bg2">
                    <a:lumMod val="25000"/>
                  </a:schemeClr>
                </a:solidFill>
                <a:latin typeface="Arial"/>
                <a:ea typeface="ＭＳ 明朝"/>
              </a:rPr>
              <a:t>11</a:t>
            </a:r>
            <a:r>
              <a:rPr lang="es-PE" sz="1600" b="1" spc="-1" dirty="0">
                <a:solidFill>
                  <a:schemeClr val="bg2">
                    <a:lumMod val="25000"/>
                  </a:schemeClr>
                </a:solidFill>
                <a:latin typeface="Arial"/>
                <a:ea typeface="ＭＳ 明朝"/>
              </a:rPr>
              <a:t> : </a:t>
            </a:r>
            <a:r>
              <a:rPr lang="es-PE" sz="1600" b="1" spc="-1" dirty="0" err="1">
                <a:solidFill>
                  <a:schemeClr val="bg2">
                    <a:lumMod val="25000"/>
                  </a:schemeClr>
                </a:solidFill>
                <a:latin typeface="Arial"/>
                <a:ea typeface="ＭＳ 明朝"/>
              </a:rPr>
              <a:t>X</a:t>
            </a:r>
            <a:r>
              <a:rPr lang="es-PE" sz="1600" b="1" spc="-1" baseline="-25000" dirty="0" err="1">
                <a:solidFill>
                  <a:schemeClr val="bg2">
                    <a:lumMod val="25000"/>
                  </a:schemeClr>
                </a:solidFill>
                <a:latin typeface="Arial"/>
                <a:ea typeface="ＭＳ 明朝"/>
              </a:rPr>
              <a:t>11</a:t>
            </a:r>
            <a:endParaRPr lang="es-PE" sz="1600" spc="-1" baseline="-25000" dirty="0">
              <a:solidFill>
                <a:schemeClr val="bg2">
                  <a:lumMod val="25000"/>
                </a:schemeClr>
              </a:solidFill>
              <a:latin typeface="Arial"/>
            </a:endParaRPr>
          </a:p>
        </p:txBody>
      </p:sp>
      <p:sp>
        <p:nvSpPr>
          <p:cNvPr id="30" name="CustomShape 20"/>
          <p:cNvSpPr/>
          <p:nvPr/>
        </p:nvSpPr>
        <p:spPr>
          <a:xfrm>
            <a:off x="4249377" y="2156307"/>
            <a:ext cx="988321" cy="760353"/>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nSpc>
                <a:spcPct val="100000"/>
              </a:lnSpc>
            </a:pPr>
            <a:r>
              <a:rPr lang="es-ES" sz="2400" b="1" i="1" spc="-1" dirty="0">
                <a:solidFill>
                  <a:schemeClr val="bg2">
                    <a:lumMod val="25000"/>
                  </a:schemeClr>
                </a:solidFill>
                <a:latin typeface="Arial"/>
                <a:ea typeface="ＭＳ 明朝"/>
                <a:sym typeface="Wingdings" panose="05000000000000000000" pitchFamily="2" charset="2"/>
              </a:rPr>
              <a:t></a:t>
            </a:r>
            <a:r>
              <a:rPr lang="es-ES" sz="2400" b="1" i="1" spc="-1" dirty="0">
                <a:solidFill>
                  <a:schemeClr val="bg2">
                    <a:lumMod val="25000"/>
                  </a:schemeClr>
                </a:solidFill>
                <a:latin typeface="Arial"/>
                <a:ea typeface="ＭＳ 明朝"/>
              </a:rPr>
              <a:t> </a:t>
            </a:r>
            <a:r>
              <a:rPr lang="es-ES" sz="2400" b="1" i="1" spc="-1" dirty="0" err="1">
                <a:solidFill>
                  <a:schemeClr val="bg2">
                    <a:lumMod val="25000"/>
                  </a:schemeClr>
                </a:solidFill>
                <a:latin typeface="Arial"/>
                <a:ea typeface="ＭＳ 明朝"/>
              </a:rPr>
              <a:t>b</a:t>
            </a:r>
            <a:r>
              <a:rPr lang="es-ES" sz="2400" b="1" i="1" spc="-1" baseline="-25000" dirty="0" err="1">
                <a:solidFill>
                  <a:schemeClr val="bg2">
                    <a:lumMod val="25000"/>
                  </a:schemeClr>
                </a:solidFill>
                <a:latin typeface="Arial"/>
                <a:ea typeface="ＭＳ 明朝"/>
              </a:rPr>
              <a:t>1</a:t>
            </a:r>
            <a:endParaRPr lang="es-PE" sz="2400" spc="-1" baseline="-25000" dirty="0">
              <a:solidFill>
                <a:schemeClr val="bg2">
                  <a:lumMod val="25000"/>
                </a:schemeClr>
              </a:solidFill>
              <a:latin typeface="Arial"/>
            </a:endParaRPr>
          </a:p>
          <a:p>
            <a:pPr algn="ctr">
              <a:lnSpc>
                <a:spcPct val="100000"/>
              </a:lnSpc>
            </a:pPr>
            <a:endParaRPr lang="es-PE" sz="2400" spc="-1" dirty="0">
              <a:solidFill>
                <a:schemeClr val="bg2">
                  <a:lumMod val="25000"/>
                </a:schemeClr>
              </a:solidFill>
              <a:latin typeface="Arial"/>
            </a:endParaRPr>
          </a:p>
        </p:txBody>
      </p:sp>
      <p:sp>
        <p:nvSpPr>
          <p:cNvPr id="31" name="CustomShape 21"/>
          <p:cNvSpPr/>
          <p:nvPr/>
        </p:nvSpPr>
        <p:spPr>
          <a:xfrm>
            <a:off x="162927" y="1759300"/>
            <a:ext cx="5231137" cy="391816"/>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80000"/>
              </a:lnSpc>
            </a:pPr>
            <a:r>
              <a:rPr lang="es-PE" sz="2800" b="1" spc="-1" dirty="0">
                <a:solidFill>
                  <a:srgbClr val="FF0000"/>
                </a:solidFill>
                <a:latin typeface="Arial Narrow" pitchFamily="34" charset="0"/>
              </a:rPr>
              <a:t>Origen  	            Destino  </a:t>
            </a:r>
            <a:endParaRPr lang="es-PE" sz="2800" spc="-1" dirty="0">
              <a:solidFill>
                <a:srgbClr val="FF0000"/>
              </a:solidFill>
              <a:latin typeface="Arial Narrow" pitchFamily="34" charset="0"/>
            </a:endParaRPr>
          </a:p>
        </p:txBody>
      </p:sp>
      <p:sp>
        <p:nvSpPr>
          <p:cNvPr id="32" name="CustomShape 22"/>
          <p:cNvSpPr/>
          <p:nvPr/>
        </p:nvSpPr>
        <p:spPr>
          <a:xfrm>
            <a:off x="2175574" y="2717217"/>
            <a:ext cx="1104116" cy="308983"/>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r>
              <a:rPr lang="es-PE" sz="1600" b="1" spc="-1" dirty="0" err="1">
                <a:solidFill>
                  <a:schemeClr val="bg2">
                    <a:lumMod val="25000"/>
                  </a:schemeClr>
                </a:solidFill>
                <a:latin typeface="Arial"/>
                <a:ea typeface="ＭＳ 明朝"/>
              </a:rPr>
              <a:t>C</a:t>
            </a:r>
            <a:r>
              <a:rPr lang="es-PE" sz="1600" b="1" spc="-1" baseline="-25000" dirty="0" err="1">
                <a:solidFill>
                  <a:schemeClr val="bg2">
                    <a:lumMod val="25000"/>
                  </a:schemeClr>
                </a:solidFill>
                <a:latin typeface="Arial"/>
                <a:ea typeface="ＭＳ 明朝"/>
              </a:rPr>
              <a:t>12</a:t>
            </a:r>
            <a:r>
              <a:rPr lang="es-PE" sz="1600" b="1" spc="-1" dirty="0">
                <a:solidFill>
                  <a:schemeClr val="bg2">
                    <a:lumMod val="25000"/>
                  </a:schemeClr>
                </a:solidFill>
                <a:latin typeface="Arial"/>
                <a:ea typeface="ＭＳ 明朝"/>
              </a:rPr>
              <a:t> : </a:t>
            </a:r>
            <a:r>
              <a:rPr lang="es-PE" sz="1600" b="1" spc="-1" dirty="0" err="1">
                <a:solidFill>
                  <a:schemeClr val="bg2">
                    <a:lumMod val="25000"/>
                  </a:schemeClr>
                </a:solidFill>
                <a:latin typeface="Arial"/>
                <a:ea typeface="ＭＳ 明朝"/>
              </a:rPr>
              <a:t>X</a:t>
            </a:r>
            <a:r>
              <a:rPr lang="es-PE" sz="1600" b="1" spc="-1" baseline="-25000" dirty="0" err="1">
                <a:solidFill>
                  <a:schemeClr val="bg2">
                    <a:lumMod val="25000"/>
                  </a:schemeClr>
                </a:solidFill>
                <a:latin typeface="Arial"/>
                <a:ea typeface="ＭＳ 明朝"/>
              </a:rPr>
              <a:t>12</a:t>
            </a:r>
            <a:endParaRPr lang="es-PE" sz="1600" b="1" spc="-1" baseline="-25000" dirty="0">
              <a:solidFill>
                <a:schemeClr val="bg2">
                  <a:lumMod val="25000"/>
                </a:schemeClr>
              </a:solidFill>
              <a:latin typeface="Arial"/>
              <a:ea typeface="ＭＳ 明朝"/>
            </a:endParaRPr>
          </a:p>
        </p:txBody>
      </p:sp>
      <p:sp>
        <p:nvSpPr>
          <p:cNvPr id="34" name="CustomShape 24"/>
          <p:cNvSpPr/>
          <p:nvPr/>
        </p:nvSpPr>
        <p:spPr>
          <a:xfrm>
            <a:off x="1482420" y="2259479"/>
            <a:ext cx="277675" cy="365404"/>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dirty="0">
                <a:solidFill>
                  <a:schemeClr val="bg2">
                    <a:lumMod val="25000"/>
                  </a:schemeClr>
                </a:solidFill>
                <a:latin typeface="Garamond"/>
              </a:rPr>
              <a:t>1</a:t>
            </a:r>
            <a:endParaRPr lang="es-PE" sz="2000" spc="-1" dirty="0">
              <a:solidFill>
                <a:schemeClr val="bg2">
                  <a:lumMod val="25000"/>
                </a:schemeClr>
              </a:solidFill>
              <a:latin typeface="Arial"/>
            </a:endParaRPr>
          </a:p>
        </p:txBody>
      </p:sp>
      <p:sp>
        <p:nvSpPr>
          <p:cNvPr id="35" name="CustomShape 25"/>
          <p:cNvSpPr/>
          <p:nvPr/>
        </p:nvSpPr>
        <p:spPr>
          <a:xfrm>
            <a:off x="3956705" y="4014041"/>
            <a:ext cx="231384" cy="365404"/>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s-PE" sz="2000" b="1" spc="-1" dirty="0">
                <a:solidFill>
                  <a:schemeClr val="bg2">
                    <a:lumMod val="25000"/>
                  </a:schemeClr>
                </a:solidFill>
                <a:latin typeface="Garamond"/>
              </a:rPr>
              <a:t>2</a:t>
            </a:r>
            <a:endParaRPr lang="es-PE" sz="2000" spc="-1" dirty="0">
              <a:solidFill>
                <a:schemeClr val="bg2">
                  <a:lumMod val="25000"/>
                </a:schemeClr>
              </a:solidFill>
              <a:latin typeface="Arial"/>
            </a:endParaRPr>
          </a:p>
        </p:txBody>
      </p:sp>
      <p:sp>
        <p:nvSpPr>
          <p:cNvPr id="36" name="CustomShape 26"/>
          <p:cNvSpPr/>
          <p:nvPr/>
        </p:nvSpPr>
        <p:spPr>
          <a:xfrm>
            <a:off x="1414475" y="3990887"/>
            <a:ext cx="296574" cy="365404"/>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dirty="0">
                <a:solidFill>
                  <a:schemeClr val="bg2">
                    <a:lumMod val="25000"/>
                  </a:schemeClr>
                </a:solidFill>
                <a:latin typeface="Garamond"/>
              </a:rPr>
              <a:t>2</a:t>
            </a:r>
            <a:endParaRPr lang="es-PE" sz="2000" spc="-1" dirty="0">
              <a:solidFill>
                <a:schemeClr val="bg2">
                  <a:lumMod val="25000"/>
                </a:schemeClr>
              </a:solidFill>
              <a:latin typeface="Arial"/>
            </a:endParaRPr>
          </a:p>
        </p:txBody>
      </p:sp>
      <p:sp>
        <p:nvSpPr>
          <p:cNvPr id="37" name="CustomShape 27"/>
          <p:cNvSpPr/>
          <p:nvPr/>
        </p:nvSpPr>
        <p:spPr>
          <a:xfrm>
            <a:off x="3955963" y="2245229"/>
            <a:ext cx="360022" cy="365404"/>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s-PE" sz="2000" b="1" spc="-1" dirty="0">
                <a:solidFill>
                  <a:schemeClr val="bg2">
                    <a:lumMod val="25000"/>
                  </a:schemeClr>
                </a:solidFill>
                <a:latin typeface="Garamond"/>
              </a:rPr>
              <a:t>1</a:t>
            </a:r>
            <a:endParaRPr lang="es-PE" sz="2000" spc="-1" dirty="0">
              <a:solidFill>
                <a:schemeClr val="bg2">
                  <a:lumMod val="25000"/>
                </a:schemeClr>
              </a:solidFill>
              <a:latin typeface="Arial"/>
            </a:endParaRPr>
          </a:p>
        </p:txBody>
      </p:sp>
      <p:sp>
        <p:nvSpPr>
          <p:cNvPr id="38" name="CustomShape 28"/>
          <p:cNvSpPr/>
          <p:nvPr/>
        </p:nvSpPr>
        <p:spPr>
          <a:xfrm>
            <a:off x="3993225" y="5544321"/>
            <a:ext cx="322694" cy="365404"/>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dirty="0">
                <a:solidFill>
                  <a:srgbClr val="FF0000"/>
                </a:solidFill>
                <a:latin typeface="Garamond"/>
              </a:rPr>
              <a:t>n</a:t>
            </a:r>
            <a:endParaRPr lang="es-PE" sz="2000" spc="-1" dirty="0">
              <a:solidFill>
                <a:srgbClr val="FF0000"/>
              </a:solidFill>
              <a:latin typeface="Arial"/>
            </a:endParaRPr>
          </a:p>
        </p:txBody>
      </p:sp>
      <p:sp>
        <p:nvSpPr>
          <p:cNvPr id="6" name="CustomShape 29"/>
          <p:cNvSpPr/>
          <p:nvPr/>
        </p:nvSpPr>
        <p:spPr>
          <a:xfrm>
            <a:off x="1375316" y="5580651"/>
            <a:ext cx="441464" cy="418736"/>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7" name="CustomShape 30"/>
          <p:cNvSpPr/>
          <p:nvPr/>
        </p:nvSpPr>
        <p:spPr>
          <a:xfrm>
            <a:off x="1410736" y="5571652"/>
            <a:ext cx="391072" cy="365404"/>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dirty="0">
                <a:solidFill>
                  <a:srgbClr val="FF0000"/>
                </a:solidFill>
                <a:latin typeface="Garamond"/>
              </a:rPr>
              <a:t>m</a:t>
            </a:r>
            <a:endParaRPr lang="es-PE" sz="2000" spc="-1" dirty="0">
              <a:latin typeface="Arial"/>
            </a:endParaRPr>
          </a:p>
        </p:txBody>
      </p:sp>
      <p:sp>
        <p:nvSpPr>
          <p:cNvPr id="8" name="CustomShape 31"/>
          <p:cNvSpPr/>
          <p:nvPr/>
        </p:nvSpPr>
        <p:spPr>
          <a:xfrm>
            <a:off x="432302" y="5448411"/>
            <a:ext cx="1319487" cy="421826"/>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nSpc>
                <a:spcPct val="100000"/>
              </a:lnSpc>
            </a:pPr>
            <a:r>
              <a:rPr lang="es-PE" sz="2400" b="1" i="1" spc="-1" dirty="0">
                <a:solidFill>
                  <a:schemeClr val="bg2">
                    <a:lumMod val="25000"/>
                  </a:schemeClr>
                </a:solidFill>
                <a:latin typeface="Arial"/>
                <a:ea typeface="ＭＳ 明朝"/>
              </a:rPr>
              <a:t>  </a:t>
            </a:r>
            <a:r>
              <a:rPr lang="es-ES" sz="2400" b="1" i="1" spc="-1" dirty="0">
                <a:solidFill>
                  <a:schemeClr val="bg2">
                    <a:lumMod val="25000"/>
                  </a:schemeClr>
                </a:solidFill>
                <a:latin typeface="Arial"/>
                <a:ea typeface="ＭＳ 明朝"/>
              </a:rPr>
              <a:t>a</a:t>
            </a:r>
            <a:r>
              <a:rPr lang="es-ES" sz="2400" b="1" i="1" spc="-1" baseline="-25000" dirty="0">
                <a:solidFill>
                  <a:schemeClr val="bg2">
                    <a:lumMod val="25000"/>
                  </a:schemeClr>
                </a:solidFill>
                <a:latin typeface="Arial"/>
                <a:ea typeface="ＭＳ 明朝"/>
              </a:rPr>
              <a:t>m</a:t>
            </a:r>
            <a:r>
              <a:rPr lang="es-ES" sz="2400" b="1" i="1" spc="-1" dirty="0">
                <a:solidFill>
                  <a:schemeClr val="bg2">
                    <a:lumMod val="25000"/>
                  </a:schemeClr>
                </a:solidFill>
                <a:latin typeface="Arial"/>
                <a:ea typeface="ＭＳ 明朝"/>
                <a:sym typeface="Wingdings" panose="05000000000000000000" pitchFamily="2" charset="2"/>
              </a:rPr>
              <a:t></a:t>
            </a:r>
            <a:endParaRPr lang="es-PE" sz="2400" spc="-1" baseline="-25000" dirty="0">
              <a:solidFill>
                <a:schemeClr val="bg2">
                  <a:lumMod val="25000"/>
                </a:schemeClr>
              </a:solidFill>
              <a:latin typeface="Arial"/>
            </a:endParaRPr>
          </a:p>
        </p:txBody>
      </p:sp>
      <p:sp>
        <p:nvSpPr>
          <p:cNvPr id="9" name="Line 32"/>
          <p:cNvSpPr/>
          <p:nvPr/>
        </p:nvSpPr>
        <p:spPr>
          <a:xfrm flipV="1">
            <a:off x="1752045" y="2653295"/>
            <a:ext cx="2198697" cy="2953232"/>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0" name="Line 33"/>
          <p:cNvSpPr/>
          <p:nvPr/>
        </p:nvSpPr>
        <p:spPr>
          <a:xfrm flipV="1">
            <a:off x="1853094" y="4362199"/>
            <a:ext cx="2070873" cy="1316924"/>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1" name="Line 34"/>
          <p:cNvSpPr/>
          <p:nvPr/>
        </p:nvSpPr>
        <p:spPr>
          <a:xfrm flipV="1">
            <a:off x="1853094" y="5816060"/>
            <a:ext cx="2063746" cy="2641"/>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39" name="TextShape 29">
            <a:extLst>
              <a:ext uri="{FF2B5EF4-FFF2-40B4-BE49-F238E27FC236}">
                <a16:creationId xmlns:a16="http://schemas.microsoft.com/office/drawing/2014/main" id="{C74B2EB4-CC05-430A-AE6C-5A84825B482C}"/>
              </a:ext>
            </a:extLst>
          </p:cNvPr>
          <p:cNvSpPr txBox="1"/>
          <p:nvPr/>
        </p:nvSpPr>
        <p:spPr>
          <a:xfrm>
            <a:off x="2288537" y="1158110"/>
            <a:ext cx="1402080" cy="496172"/>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defPPr>
              <a:defRPr lang="es-ES"/>
            </a:defPPr>
            <a:lvl1pPr algn="ctr">
              <a:lnSpc>
                <a:spcPts val="5800"/>
              </a:lnSpc>
              <a:spcBef>
                <a:spcPct val="0"/>
              </a:spcBef>
              <a:defRPr sz="3200">
                <a:solidFill>
                  <a:schemeClr val="bg1"/>
                </a:solidFill>
                <a:effectLst>
                  <a:outerShdw blurRad="63500" dist="38100" dir="5400000" algn="t" rotWithShape="0">
                    <a:prstClr val="black">
                      <a:alpha val="25000"/>
                    </a:prstClr>
                  </a:outerShdw>
                </a:effectLst>
                <a:latin typeface="Bauhaus 93" pitchFamily="82" charset="0"/>
              </a:defRPr>
            </a:lvl1pPr>
          </a:lstStyle>
          <a:p>
            <a:r>
              <a:rPr lang="en-US" dirty="0">
                <a:solidFill>
                  <a:srgbClr val="8A0000"/>
                </a:solidFill>
              </a:rPr>
              <a:t>Red</a:t>
            </a:r>
          </a:p>
        </p:txBody>
      </p:sp>
      <p:sp>
        <p:nvSpPr>
          <p:cNvPr id="40" name="CustomShape 20">
            <a:extLst>
              <a:ext uri="{FF2B5EF4-FFF2-40B4-BE49-F238E27FC236}">
                <a16:creationId xmlns:a16="http://schemas.microsoft.com/office/drawing/2014/main" id="{BD06C681-7866-4FFD-BB9E-3A01B2145C7F}"/>
              </a:ext>
            </a:extLst>
          </p:cNvPr>
          <p:cNvSpPr/>
          <p:nvPr/>
        </p:nvSpPr>
        <p:spPr>
          <a:xfrm>
            <a:off x="4328809" y="3997722"/>
            <a:ext cx="882429" cy="829543"/>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nSpc>
                <a:spcPct val="100000"/>
              </a:lnSpc>
            </a:pPr>
            <a:r>
              <a:rPr lang="es-ES" sz="2400" b="1" i="1" spc="-1" dirty="0">
                <a:solidFill>
                  <a:schemeClr val="bg2">
                    <a:lumMod val="25000"/>
                  </a:schemeClr>
                </a:solidFill>
                <a:latin typeface="Arial"/>
                <a:ea typeface="ＭＳ 明朝"/>
                <a:sym typeface="Wingdings" panose="05000000000000000000" pitchFamily="2" charset="2"/>
              </a:rPr>
              <a:t></a:t>
            </a:r>
            <a:r>
              <a:rPr lang="es-ES" sz="2400" b="1" i="1" spc="-1" dirty="0">
                <a:solidFill>
                  <a:schemeClr val="bg2">
                    <a:lumMod val="25000"/>
                  </a:schemeClr>
                </a:solidFill>
                <a:latin typeface="Arial"/>
                <a:ea typeface="ＭＳ 明朝"/>
              </a:rPr>
              <a:t> </a:t>
            </a:r>
            <a:r>
              <a:rPr lang="es-ES" sz="2400" b="1" i="1" spc="-1" dirty="0" err="1">
                <a:solidFill>
                  <a:schemeClr val="bg2">
                    <a:lumMod val="25000"/>
                  </a:schemeClr>
                </a:solidFill>
                <a:latin typeface="Arial"/>
                <a:ea typeface="ＭＳ 明朝"/>
              </a:rPr>
              <a:t>b</a:t>
            </a:r>
            <a:r>
              <a:rPr lang="es-ES" sz="2400" b="1" i="1" spc="-1" baseline="-25000" dirty="0" err="1">
                <a:solidFill>
                  <a:schemeClr val="bg2">
                    <a:lumMod val="25000"/>
                  </a:schemeClr>
                </a:solidFill>
                <a:latin typeface="Arial"/>
                <a:ea typeface="ＭＳ 明朝"/>
              </a:rPr>
              <a:t>2</a:t>
            </a:r>
            <a:endParaRPr lang="es-PE" sz="2400" spc="-1" baseline="-25000" dirty="0">
              <a:solidFill>
                <a:schemeClr val="bg2">
                  <a:lumMod val="25000"/>
                </a:schemeClr>
              </a:solidFill>
              <a:latin typeface="Arial"/>
            </a:endParaRPr>
          </a:p>
          <a:p>
            <a:pPr algn="ctr">
              <a:lnSpc>
                <a:spcPct val="100000"/>
              </a:lnSpc>
            </a:pPr>
            <a:endParaRPr lang="es-PE" sz="2400" spc="-1" dirty="0">
              <a:solidFill>
                <a:schemeClr val="bg2">
                  <a:lumMod val="25000"/>
                </a:schemeClr>
              </a:solidFill>
              <a:latin typeface="Arial"/>
            </a:endParaRPr>
          </a:p>
        </p:txBody>
      </p:sp>
      <p:sp>
        <p:nvSpPr>
          <p:cNvPr id="41" name="CustomShape 20">
            <a:extLst>
              <a:ext uri="{FF2B5EF4-FFF2-40B4-BE49-F238E27FC236}">
                <a16:creationId xmlns:a16="http://schemas.microsoft.com/office/drawing/2014/main" id="{C5996484-7DFB-4222-8CDC-08947BE4BAFA}"/>
              </a:ext>
            </a:extLst>
          </p:cNvPr>
          <p:cNvSpPr/>
          <p:nvPr/>
        </p:nvSpPr>
        <p:spPr>
          <a:xfrm>
            <a:off x="4369255" y="5546663"/>
            <a:ext cx="938750" cy="829543"/>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nSpc>
                <a:spcPct val="100000"/>
              </a:lnSpc>
            </a:pPr>
            <a:r>
              <a:rPr lang="es-ES" sz="2400" b="1" i="1" spc="-1" dirty="0">
                <a:solidFill>
                  <a:schemeClr val="bg2">
                    <a:lumMod val="25000"/>
                  </a:schemeClr>
                </a:solidFill>
                <a:latin typeface="Arial"/>
                <a:ea typeface="ＭＳ 明朝"/>
                <a:sym typeface="Wingdings" panose="05000000000000000000" pitchFamily="2" charset="2"/>
              </a:rPr>
              <a:t></a:t>
            </a:r>
            <a:r>
              <a:rPr lang="es-ES" sz="2400" b="1" i="1" spc="-1" dirty="0">
                <a:solidFill>
                  <a:schemeClr val="bg2">
                    <a:lumMod val="25000"/>
                  </a:schemeClr>
                </a:solidFill>
                <a:latin typeface="Arial"/>
                <a:ea typeface="ＭＳ 明朝"/>
              </a:rPr>
              <a:t> </a:t>
            </a:r>
            <a:r>
              <a:rPr lang="es-ES" sz="2400" b="1" i="1" spc="-1" dirty="0" err="1">
                <a:solidFill>
                  <a:schemeClr val="bg2">
                    <a:lumMod val="25000"/>
                  </a:schemeClr>
                </a:solidFill>
                <a:latin typeface="Arial"/>
                <a:ea typeface="ＭＳ 明朝"/>
              </a:rPr>
              <a:t>b</a:t>
            </a:r>
            <a:r>
              <a:rPr lang="es-ES" sz="2400" b="1" i="1" spc="-1" baseline="-25000" dirty="0" err="1">
                <a:solidFill>
                  <a:schemeClr val="bg2">
                    <a:lumMod val="25000"/>
                  </a:schemeClr>
                </a:solidFill>
                <a:latin typeface="Arial"/>
                <a:ea typeface="ＭＳ 明朝"/>
              </a:rPr>
              <a:t>n</a:t>
            </a:r>
            <a:endParaRPr lang="es-PE" sz="2400" spc="-1" baseline="-25000" dirty="0">
              <a:solidFill>
                <a:schemeClr val="bg2">
                  <a:lumMod val="25000"/>
                </a:schemeClr>
              </a:solidFill>
              <a:latin typeface="Arial"/>
            </a:endParaRPr>
          </a:p>
          <a:p>
            <a:pPr algn="ctr">
              <a:lnSpc>
                <a:spcPct val="100000"/>
              </a:lnSpc>
            </a:pPr>
            <a:endParaRPr lang="es-PE" sz="2400" spc="-1" dirty="0">
              <a:solidFill>
                <a:schemeClr val="bg2">
                  <a:lumMod val="25000"/>
                </a:schemeClr>
              </a:solidFill>
              <a:latin typeface="Arial"/>
            </a:endParaRPr>
          </a:p>
        </p:txBody>
      </p:sp>
      <p:sp>
        <p:nvSpPr>
          <p:cNvPr id="42" name="CustomShape 2">
            <a:extLst>
              <a:ext uri="{FF2B5EF4-FFF2-40B4-BE49-F238E27FC236}">
                <a16:creationId xmlns:a16="http://schemas.microsoft.com/office/drawing/2014/main" id="{6ABF3765-C4A0-43D0-A79D-08214BBBEBE1}"/>
              </a:ext>
            </a:extLst>
          </p:cNvPr>
          <p:cNvSpPr/>
          <p:nvPr/>
        </p:nvSpPr>
        <p:spPr>
          <a:xfrm>
            <a:off x="734475" y="5999001"/>
            <a:ext cx="1426603" cy="829543"/>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nSpc>
                <a:spcPct val="100000"/>
              </a:lnSpc>
            </a:pPr>
            <a:r>
              <a:rPr lang="es-ES" sz="2400" b="1" i="1" spc="-1" dirty="0">
                <a:solidFill>
                  <a:srgbClr val="700000"/>
                </a:solidFill>
                <a:latin typeface="Arial Narrow" panose="020B0606020202030204" pitchFamily="34" charset="0"/>
                <a:ea typeface="ＭＳ 明朝"/>
              </a:rPr>
              <a:t>Unidades ofertadas</a:t>
            </a:r>
            <a:endParaRPr lang="es-PE" sz="2400" spc="-1" baseline="-25000" dirty="0">
              <a:solidFill>
                <a:srgbClr val="700000"/>
              </a:solidFill>
              <a:latin typeface="Arial Narrow" panose="020B0606020202030204" pitchFamily="34" charset="0"/>
            </a:endParaRPr>
          </a:p>
        </p:txBody>
      </p:sp>
      <p:sp>
        <p:nvSpPr>
          <p:cNvPr id="43" name="CustomShape 2">
            <a:extLst>
              <a:ext uri="{FF2B5EF4-FFF2-40B4-BE49-F238E27FC236}">
                <a16:creationId xmlns:a16="http://schemas.microsoft.com/office/drawing/2014/main" id="{940E4471-EA55-46F7-B246-545B0EE9A2E8}"/>
              </a:ext>
            </a:extLst>
          </p:cNvPr>
          <p:cNvSpPr/>
          <p:nvPr/>
        </p:nvSpPr>
        <p:spPr>
          <a:xfrm>
            <a:off x="3203756" y="5968784"/>
            <a:ext cx="1781105" cy="829543"/>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nSpc>
                <a:spcPct val="100000"/>
              </a:lnSpc>
            </a:pPr>
            <a:r>
              <a:rPr lang="es-ES" sz="2400" b="1" i="1" spc="-1" dirty="0">
                <a:solidFill>
                  <a:srgbClr val="700000"/>
                </a:solidFill>
                <a:latin typeface="Arial Narrow" panose="020B0606020202030204" pitchFamily="34" charset="0"/>
                <a:ea typeface="ＭＳ 明朝"/>
              </a:rPr>
              <a:t>Unidades demandadas</a:t>
            </a:r>
            <a:endParaRPr lang="es-PE" sz="2400" spc="-1" baseline="-25000" dirty="0">
              <a:solidFill>
                <a:srgbClr val="700000"/>
              </a:solidFill>
              <a:latin typeface="Arial Narrow" panose="020B0606020202030204" pitchFamily="34" charset="0"/>
            </a:endParaRPr>
          </a:p>
        </p:txBody>
      </p:sp>
      <p:sp>
        <p:nvSpPr>
          <p:cNvPr id="45" name="CuadroTexto 44">
            <a:extLst>
              <a:ext uri="{FF2B5EF4-FFF2-40B4-BE49-F238E27FC236}">
                <a16:creationId xmlns:a16="http://schemas.microsoft.com/office/drawing/2014/main" id="{F669B229-A730-402C-A7A9-8D0F12A2A40E}"/>
              </a:ext>
            </a:extLst>
          </p:cNvPr>
          <p:cNvSpPr txBox="1"/>
          <p:nvPr/>
        </p:nvSpPr>
        <p:spPr>
          <a:xfrm>
            <a:off x="6063045" y="1321327"/>
            <a:ext cx="5884540" cy="1384995"/>
          </a:xfrm>
          <a:prstGeom prst="rect">
            <a:avLst/>
          </a:prstGeom>
          <a:noFill/>
        </p:spPr>
        <p:txBody>
          <a:bodyPr wrap="square" rtlCol="0">
            <a:spAutoFit/>
          </a:bodyPr>
          <a:lstStyle/>
          <a:p>
            <a:pPr algn="just">
              <a:spcAft>
                <a:spcPts val="600"/>
              </a:spcAft>
            </a:pPr>
            <a:r>
              <a:rPr lang="es-PE" sz="2800" dirty="0">
                <a:solidFill>
                  <a:srgbClr val="000000"/>
                </a:solidFill>
                <a:latin typeface="Arial Narrow" panose="020B0606020202030204" pitchFamily="34" charset="0"/>
                <a:ea typeface="Times New Roman" panose="02020603050405020304" pitchFamily="18" charset="0"/>
                <a:cs typeface="Times New Roman" panose="02020603050405020304" pitchFamily="18" charset="0"/>
              </a:rPr>
              <a:t>El modelo de transporte busca determinar un </a:t>
            </a:r>
            <a:r>
              <a:rPr lang="es-PE" sz="2800" i="1" dirty="0">
                <a:solidFill>
                  <a:srgbClr val="FF0000"/>
                </a:solidFill>
                <a:latin typeface="Arial Narrow" panose="020B0606020202030204" pitchFamily="34" charset="0"/>
                <a:ea typeface="Times New Roman" panose="02020603050405020304" pitchFamily="18" charset="0"/>
                <a:cs typeface="Times New Roman" panose="02020603050405020304" pitchFamily="18" charset="0"/>
              </a:rPr>
              <a:t>plan de transporte </a:t>
            </a:r>
            <a:r>
              <a:rPr lang="es-PE" sz="2800" dirty="0">
                <a:solidFill>
                  <a:srgbClr val="000000"/>
                </a:solidFill>
                <a:latin typeface="Arial Narrow" panose="020B0606020202030204" pitchFamily="34" charset="0"/>
                <a:ea typeface="Times New Roman" panose="02020603050405020304" pitchFamily="18" charset="0"/>
                <a:cs typeface="Times New Roman" panose="02020603050405020304" pitchFamily="18" charset="0"/>
              </a:rPr>
              <a:t>de una mercancía de los lugares orígenes a los lugares destinos. </a:t>
            </a:r>
          </a:p>
        </p:txBody>
      </p:sp>
      <p:sp>
        <p:nvSpPr>
          <p:cNvPr id="46" name="Rectángulo 45">
            <a:extLst>
              <a:ext uri="{FF2B5EF4-FFF2-40B4-BE49-F238E27FC236}">
                <a16:creationId xmlns:a16="http://schemas.microsoft.com/office/drawing/2014/main" id="{310DC27E-729B-469D-B834-38DA6F71971D}"/>
              </a:ext>
            </a:extLst>
          </p:cNvPr>
          <p:cNvSpPr/>
          <p:nvPr/>
        </p:nvSpPr>
        <p:spPr>
          <a:xfrm>
            <a:off x="6096000" y="260754"/>
            <a:ext cx="6096000"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fontAlgn="base">
              <a:spcBef>
                <a:spcPct val="0"/>
              </a:spcBef>
              <a:spcAft>
                <a:spcPct val="0"/>
              </a:spcAft>
            </a:pPr>
            <a:r>
              <a:rPr lang="es-PE" sz="3200" dirty="0">
                <a:solidFill>
                  <a:schemeClr val="bg1"/>
                </a:solidFill>
                <a:latin typeface="Bauhaus 93" pitchFamily="82" charset="0"/>
              </a:rPr>
              <a:t>Modelo de transporte</a:t>
            </a:r>
          </a:p>
        </p:txBody>
      </p:sp>
      <p:sp>
        <p:nvSpPr>
          <p:cNvPr id="2" name="Rectángulo 1">
            <a:extLst>
              <a:ext uri="{FF2B5EF4-FFF2-40B4-BE49-F238E27FC236}">
                <a16:creationId xmlns:a16="http://schemas.microsoft.com/office/drawing/2014/main" id="{8D45D556-DCA3-441F-B2C9-0999ED7B31FB}"/>
              </a:ext>
            </a:extLst>
          </p:cNvPr>
          <p:cNvSpPr/>
          <p:nvPr/>
        </p:nvSpPr>
        <p:spPr>
          <a:xfrm>
            <a:off x="6005785" y="3119342"/>
            <a:ext cx="6186213" cy="2477601"/>
          </a:xfrm>
          <a:prstGeom prst="rect">
            <a:avLst/>
          </a:prstGeom>
        </p:spPr>
        <p:txBody>
          <a:bodyPr wrap="square">
            <a:spAutoFit/>
          </a:bodyPr>
          <a:lstStyle/>
          <a:p>
            <a:pPr>
              <a:spcAft>
                <a:spcPts val="600"/>
              </a:spcAft>
            </a:pPr>
            <a:r>
              <a:rPr lang="es-PE" sz="2800" dirty="0">
                <a:solidFill>
                  <a:srgbClr val="000000"/>
                </a:solidFill>
                <a:latin typeface="Arial Narrow" panose="020B0606020202030204" pitchFamily="34" charset="0"/>
                <a:ea typeface="Times New Roman" panose="02020603050405020304" pitchFamily="18" charset="0"/>
                <a:cs typeface="Times New Roman" panose="02020603050405020304" pitchFamily="18" charset="0"/>
              </a:rPr>
              <a:t>Los datos necesarios del modelo son:</a:t>
            </a:r>
            <a:r>
              <a:rPr lang="es-PE" sz="2800" dirty="0">
                <a:latin typeface="Arial Narrow" panose="020B0606020202030204" pitchFamily="34" charset="0"/>
                <a:ea typeface="Times New Roman" panose="02020603050405020304" pitchFamily="18" charset="0"/>
                <a:cs typeface="Times New Roman" panose="02020603050405020304" pitchFamily="18" charset="0"/>
              </a:rPr>
              <a:t> </a:t>
            </a:r>
            <a:endParaRPr lang="es-PE" sz="2800" dirty="0">
              <a:latin typeface="Arial Narrow" panose="020B0606020202030204" pitchFamily="34" charset="0"/>
              <a:ea typeface="Calibri" panose="020F0502020204030204" pitchFamily="34" charset="0"/>
              <a:cs typeface="Times New Roman" panose="02020603050405020304" pitchFamily="18" charset="0"/>
            </a:endParaRPr>
          </a:p>
          <a:p>
            <a:pPr marL="361950" lvl="1" indent="-361950">
              <a:spcAft>
                <a:spcPts val="600"/>
              </a:spcAft>
              <a:buFont typeface="Arial" panose="020B0604020202020204" pitchFamily="34" charset="0"/>
              <a:buChar char="•"/>
              <a:tabLst>
                <a:tab pos="266700" algn="l"/>
              </a:tabLst>
            </a:pPr>
            <a:r>
              <a:rPr lang="es-PE" sz="2800" i="1" dirty="0">
                <a:solidFill>
                  <a:srgbClr val="7030A0"/>
                </a:solidFill>
                <a:latin typeface="Arial Narrow" panose="020B0606020202030204" pitchFamily="34" charset="0"/>
                <a:ea typeface="Times New Roman" panose="02020603050405020304" pitchFamily="18" charset="0"/>
                <a:cs typeface="Times New Roman" panose="02020603050405020304" pitchFamily="18" charset="0"/>
              </a:rPr>
              <a:t>Cantidad de oferta</a:t>
            </a:r>
            <a:r>
              <a:rPr lang="es-PE" sz="2800" dirty="0">
                <a:solidFill>
                  <a:srgbClr val="000000"/>
                </a:solidFill>
                <a:latin typeface="Arial Narrow" panose="020B0606020202030204" pitchFamily="34" charset="0"/>
                <a:ea typeface="Times New Roman" panose="02020603050405020304" pitchFamily="18" charset="0"/>
                <a:cs typeface="Times New Roman" panose="02020603050405020304" pitchFamily="18" charset="0"/>
              </a:rPr>
              <a:t> en cada origen </a:t>
            </a:r>
            <a:r>
              <a:rPr lang="es-PE" sz="2800" dirty="0" err="1">
                <a:solidFill>
                  <a:srgbClr val="000000"/>
                </a:solidFill>
                <a:latin typeface="Arial Narrow" panose="020B0606020202030204" pitchFamily="34" charset="0"/>
                <a:ea typeface="Times New Roman" panose="02020603050405020304" pitchFamily="18" charset="0"/>
                <a:cs typeface="Times New Roman" panose="02020603050405020304" pitchFamily="18" charset="0"/>
              </a:rPr>
              <a:t>a</a:t>
            </a:r>
            <a:r>
              <a:rPr lang="es-PE" sz="2800" baseline="-25000" dirty="0" err="1">
                <a:solidFill>
                  <a:srgbClr val="000000"/>
                </a:solidFill>
                <a:latin typeface="Arial Narrow" panose="020B0606020202030204" pitchFamily="34" charset="0"/>
                <a:ea typeface="Times New Roman" panose="02020603050405020304" pitchFamily="18" charset="0"/>
                <a:cs typeface="Times New Roman" panose="02020603050405020304" pitchFamily="18" charset="0"/>
              </a:rPr>
              <a:t>i</a:t>
            </a:r>
            <a:endParaRPr lang="es-PE" sz="2800" baseline="-25000" dirty="0">
              <a:solidFill>
                <a:srgbClr val="000000"/>
              </a:solidFill>
              <a:latin typeface="Arial Narrow" panose="020B0606020202030204" pitchFamily="34" charset="0"/>
              <a:ea typeface="Times New Roman" panose="02020603050405020304" pitchFamily="18" charset="0"/>
              <a:cs typeface="Times New Roman" panose="02020603050405020304" pitchFamily="18" charset="0"/>
            </a:endParaRPr>
          </a:p>
          <a:p>
            <a:pPr marL="361950" lvl="1" indent="-361950">
              <a:spcAft>
                <a:spcPts val="600"/>
              </a:spcAft>
              <a:buFont typeface="Arial" panose="020B0604020202020204" pitchFamily="34" charset="0"/>
              <a:buChar char="•"/>
              <a:tabLst>
                <a:tab pos="266700" algn="l"/>
              </a:tabLst>
            </a:pPr>
            <a:r>
              <a:rPr lang="es-PE" sz="2800" i="1" dirty="0">
                <a:solidFill>
                  <a:srgbClr val="7030A0"/>
                </a:solidFill>
                <a:latin typeface="Arial Narrow" panose="020B0606020202030204" pitchFamily="34" charset="0"/>
                <a:ea typeface="Times New Roman" panose="02020603050405020304" pitchFamily="18" charset="0"/>
                <a:cs typeface="Times New Roman" panose="02020603050405020304" pitchFamily="18" charset="0"/>
              </a:rPr>
              <a:t>Cantidad de demanda</a:t>
            </a:r>
            <a:r>
              <a:rPr lang="es-PE" sz="2800" dirty="0">
                <a:solidFill>
                  <a:srgbClr val="000000"/>
                </a:solidFill>
                <a:latin typeface="Arial Narrow" panose="020B0606020202030204" pitchFamily="34" charset="0"/>
                <a:ea typeface="Times New Roman" panose="02020603050405020304" pitchFamily="18" charset="0"/>
                <a:cs typeface="Times New Roman" panose="02020603050405020304" pitchFamily="18" charset="0"/>
              </a:rPr>
              <a:t> en cada destino </a:t>
            </a:r>
            <a:r>
              <a:rPr lang="es-PE" sz="2800" dirty="0" err="1">
                <a:solidFill>
                  <a:srgbClr val="000000"/>
                </a:solidFill>
                <a:latin typeface="Arial Narrow" panose="020B0606020202030204" pitchFamily="34" charset="0"/>
                <a:ea typeface="Times New Roman" panose="02020603050405020304" pitchFamily="18" charset="0"/>
                <a:cs typeface="Times New Roman" panose="02020603050405020304" pitchFamily="18" charset="0"/>
              </a:rPr>
              <a:t>b</a:t>
            </a:r>
            <a:r>
              <a:rPr lang="es-PE" sz="2800" baseline="-25000" dirty="0" err="1">
                <a:solidFill>
                  <a:srgbClr val="000000"/>
                </a:solidFill>
                <a:latin typeface="Arial Narrow" panose="020B0606020202030204" pitchFamily="34" charset="0"/>
                <a:ea typeface="Times New Roman" panose="02020603050405020304" pitchFamily="18" charset="0"/>
                <a:cs typeface="Times New Roman" panose="02020603050405020304" pitchFamily="18" charset="0"/>
              </a:rPr>
              <a:t>i</a:t>
            </a:r>
            <a:endParaRPr lang="es-PE" sz="2800" dirty="0">
              <a:solidFill>
                <a:srgbClr val="000000"/>
              </a:solidFill>
              <a:latin typeface="Arial Narrow" panose="020B0606020202030204" pitchFamily="34" charset="0"/>
              <a:ea typeface="Calibri" panose="020F0502020204030204" pitchFamily="34" charset="0"/>
              <a:cs typeface="Times New Roman" panose="02020603050405020304" pitchFamily="18" charset="0"/>
            </a:endParaRPr>
          </a:p>
          <a:p>
            <a:pPr marL="361950" lvl="1" indent="-361950">
              <a:spcAft>
                <a:spcPts val="600"/>
              </a:spcAft>
              <a:buFont typeface="Arial" panose="020B0604020202020204" pitchFamily="34" charset="0"/>
              <a:buChar char="•"/>
              <a:tabLst>
                <a:tab pos="266700" algn="l"/>
              </a:tabLst>
            </a:pPr>
            <a:r>
              <a:rPr lang="es-PE" sz="2800" i="1" dirty="0">
                <a:solidFill>
                  <a:srgbClr val="7030A0"/>
                </a:solidFill>
                <a:latin typeface="Arial Narrow" panose="020B0606020202030204" pitchFamily="34" charset="0"/>
                <a:ea typeface="Times New Roman" panose="02020603050405020304" pitchFamily="18" charset="0"/>
                <a:cs typeface="Times New Roman" panose="02020603050405020304" pitchFamily="18" charset="0"/>
              </a:rPr>
              <a:t>Costo unitario </a:t>
            </a:r>
            <a:r>
              <a:rPr lang="es-PE" sz="2800" dirty="0">
                <a:solidFill>
                  <a:srgbClr val="000000"/>
                </a:solidFill>
                <a:latin typeface="Arial Narrow" panose="020B0606020202030204" pitchFamily="34" charset="0"/>
                <a:ea typeface="Times New Roman" panose="02020603050405020304" pitchFamily="18" charset="0"/>
                <a:cs typeface="Times New Roman" panose="02020603050405020304" pitchFamily="18" charset="0"/>
              </a:rPr>
              <a:t>de transporte de cada origen a cada destino</a:t>
            </a:r>
            <a:r>
              <a:rPr lang="es-PE" sz="2800" dirty="0">
                <a:latin typeface="Arial Narrow" panose="020B0606020202030204" pitchFamily="34" charset="0"/>
              </a:rPr>
              <a:t> </a:t>
            </a:r>
            <a:r>
              <a:rPr lang="es-PE" sz="2800" dirty="0" err="1">
                <a:solidFill>
                  <a:srgbClr val="000000"/>
                </a:solidFill>
                <a:latin typeface="Arial Narrow" panose="020B0606020202030204" pitchFamily="34" charset="0"/>
                <a:ea typeface="Times New Roman" panose="02020603050405020304" pitchFamily="18" charset="0"/>
                <a:cs typeface="Times New Roman" panose="02020603050405020304" pitchFamily="18" charset="0"/>
              </a:rPr>
              <a:t>c</a:t>
            </a:r>
            <a:r>
              <a:rPr lang="es-PE" sz="2800" baseline="-25000" dirty="0" err="1">
                <a:solidFill>
                  <a:srgbClr val="000000"/>
                </a:solidFill>
                <a:latin typeface="Arial Narrow" panose="020B0606020202030204" pitchFamily="34" charset="0"/>
                <a:ea typeface="Times New Roman" panose="02020603050405020304" pitchFamily="18" charset="0"/>
                <a:cs typeface="Times New Roman" panose="02020603050405020304" pitchFamily="18" charset="0"/>
              </a:rPr>
              <a:t>ij</a:t>
            </a:r>
            <a:r>
              <a:rPr lang="es-PE" sz="2800" dirty="0">
                <a:solidFill>
                  <a:srgbClr val="000000"/>
                </a:solidFill>
                <a:latin typeface="Arial Narrow" panose="020B0606020202030204" pitchFamily="34" charset="0"/>
                <a:ea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383576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500" fill="hold"/>
                                        <p:tgtEl>
                                          <p:spTgt spid="42"/>
                                        </p:tgtEl>
                                        <p:attrNameLst>
                                          <p:attrName>ppt_x</p:attrName>
                                        </p:attrNameLst>
                                      </p:cBhvr>
                                      <p:tavLst>
                                        <p:tav tm="0">
                                          <p:val>
                                            <p:strVal val="#ppt_x"/>
                                          </p:val>
                                        </p:tav>
                                        <p:tav tm="100000">
                                          <p:val>
                                            <p:strVal val="#ppt_x"/>
                                          </p:val>
                                        </p:tav>
                                      </p:tavLst>
                                    </p:anim>
                                    <p:anim calcmode="lin" valueType="num">
                                      <p:cBhvr additive="base">
                                        <p:cTn id="20"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30" grpId="0"/>
      <p:bldP spid="8" grpId="0"/>
      <p:bldP spid="40" grpId="0"/>
      <p:bldP spid="41" grpId="0"/>
      <p:bldP spid="42" grpId="0"/>
      <p:bldP spid="43" grpId="0"/>
      <p:bldP spid="45"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E4CB46C-4B9E-45C0-BA0C-17935C3526A1}"/>
              </a:ext>
            </a:extLst>
          </p:cNvPr>
          <p:cNvSpPr txBox="1"/>
          <p:nvPr/>
        </p:nvSpPr>
        <p:spPr>
          <a:xfrm>
            <a:off x="192623" y="5211395"/>
            <a:ext cx="4954142" cy="1646605"/>
          </a:xfrm>
          <a:prstGeom prst="rect">
            <a:avLst/>
          </a:prstGeom>
          <a:noFill/>
        </p:spPr>
        <p:txBody>
          <a:bodyPr wrap="square" rtlCol="0">
            <a:spAutoFit/>
          </a:bodyPr>
          <a:lstStyle>
            <a:defPPr>
              <a:defRPr lang="es-PE"/>
            </a:defPPr>
            <a:lvl1pPr algn="just">
              <a:lnSpc>
                <a:spcPct val="150000"/>
              </a:lnSpc>
              <a:spcAft>
                <a:spcPts val="600"/>
              </a:spcAft>
              <a:defRPr sz="2000">
                <a:solidFill>
                  <a:srgbClr val="000000"/>
                </a:solidFill>
                <a:latin typeface="Tahoma" panose="020B0604030504040204" pitchFamily="34" charset="0"/>
                <a:ea typeface="Times New Roman" panose="02020603050405020304" pitchFamily="18" charset="0"/>
                <a:cs typeface="Times New Roman" panose="02020603050405020304" pitchFamily="18" charset="0"/>
              </a:defRPr>
            </a:lvl1pPr>
          </a:lstStyle>
          <a:p>
            <a:pPr>
              <a:lnSpc>
                <a:spcPct val="100000"/>
              </a:lnSpc>
            </a:pPr>
            <a:r>
              <a:rPr lang="es-ES" sz="2400" b="1" dirty="0">
                <a:solidFill>
                  <a:srgbClr val="7030A0"/>
                </a:solidFill>
                <a:latin typeface="Arial Narrow" panose="020B0606020202030204" pitchFamily="34" charset="0"/>
              </a:rPr>
              <a:t>La suma de los envíos desde un origen no puede ser mayor que su </a:t>
            </a:r>
            <a:r>
              <a:rPr lang="es-ES" sz="2400" b="1" dirty="0">
                <a:solidFill>
                  <a:srgbClr val="FF0000"/>
                </a:solidFill>
                <a:latin typeface="Arial Narrow" panose="020B0606020202030204" pitchFamily="34" charset="0"/>
              </a:rPr>
              <a:t>oferta.</a:t>
            </a:r>
          </a:p>
          <a:p>
            <a:pPr>
              <a:lnSpc>
                <a:spcPct val="100000"/>
              </a:lnSpc>
            </a:pPr>
            <a:r>
              <a:rPr lang="es-ES" sz="2400" b="1" dirty="0">
                <a:solidFill>
                  <a:srgbClr val="7030A0"/>
                </a:solidFill>
                <a:latin typeface="Arial Narrow" panose="020B0606020202030204" pitchFamily="34" charset="0"/>
              </a:rPr>
              <a:t>La suma de los envíos a un destino debe satisfacer la </a:t>
            </a:r>
            <a:r>
              <a:rPr lang="es-ES" sz="2400" b="1" dirty="0">
                <a:solidFill>
                  <a:srgbClr val="FF0000"/>
                </a:solidFill>
                <a:latin typeface="Arial Narrow" panose="020B0606020202030204" pitchFamily="34" charset="0"/>
              </a:rPr>
              <a:t>demanda.</a:t>
            </a:r>
            <a:endParaRPr lang="es-PE" sz="2400" b="1" dirty="0">
              <a:solidFill>
                <a:srgbClr val="FF0000"/>
              </a:solidFill>
              <a:latin typeface="Arial Narrow" panose="020B0606020202030204" pitchFamily="34" charset="0"/>
            </a:endParaRPr>
          </a:p>
        </p:txBody>
      </p:sp>
      <p:pic>
        <p:nvPicPr>
          <p:cNvPr id="5" name="Imagen 4">
            <a:extLst>
              <a:ext uri="{FF2B5EF4-FFF2-40B4-BE49-F238E27FC236}">
                <a16:creationId xmlns:a16="http://schemas.microsoft.com/office/drawing/2014/main" id="{A5C46746-78A6-454A-BBCD-DB73A194DD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8287" y="1249820"/>
            <a:ext cx="6313710" cy="4915850"/>
          </a:xfrm>
          <a:prstGeom prst="rect">
            <a:avLst/>
          </a:prstGeom>
          <a:solidFill>
            <a:schemeClr val="accent2"/>
          </a:solidFill>
        </p:spPr>
      </p:pic>
      <p:sp>
        <p:nvSpPr>
          <p:cNvPr id="4" name="Rectángulo 3">
            <a:extLst>
              <a:ext uri="{FF2B5EF4-FFF2-40B4-BE49-F238E27FC236}">
                <a16:creationId xmlns:a16="http://schemas.microsoft.com/office/drawing/2014/main" id="{CBBF69F1-EA8B-435D-83C8-69287F23A241}"/>
              </a:ext>
            </a:extLst>
          </p:cNvPr>
          <p:cNvSpPr/>
          <p:nvPr/>
        </p:nvSpPr>
        <p:spPr>
          <a:xfrm>
            <a:off x="6096000" y="260754"/>
            <a:ext cx="6096000"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fontAlgn="base">
              <a:spcBef>
                <a:spcPct val="0"/>
              </a:spcBef>
              <a:spcAft>
                <a:spcPct val="0"/>
              </a:spcAft>
            </a:pPr>
            <a:r>
              <a:rPr lang="es-PE" sz="3200" dirty="0">
                <a:solidFill>
                  <a:schemeClr val="bg1"/>
                </a:solidFill>
                <a:latin typeface="Bauhaus 93" pitchFamily="82" charset="0"/>
              </a:rPr>
              <a:t>Modelo de transporte</a:t>
            </a:r>
          </a:p>
        </p:txBody>
      </p:sp>
      <p:pic>
        <p:nvPicPr>
          <p:cNvPr id="8" name="Imagen 7">
            <a:extLst>
              <a:ext uri="{FF2B5EF4-FFF2-40B4-BE49-F238E27FC236}">
                <a16:creationId xmlns:a16="http://schemas.microsoft.com/office/drawing/2014/main" id="{4FF75E58-4B00-43EF-974D-A85C6E643B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623" y="1240134"/>
            <a:ext cx="5615993" cy="4089772"/>
          </a:xfrm>
          <a:prstGeom prst="rect">
            <a:avLst/>
          </a:prstGeom>
        </p:spPr>
      </p:pic>
    </p:spTree>
    <p:extLst>
      <p:ext uri="{BB962C8B-B14F-4D97-AF65-F5344CB8AC3E}">
        <p14:creationId xmlns:p14="http://schemas.microsoft.com/office/powerpoint/2010/main" val="2244880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D83D25E-0B5F-49A2-8A85-ED4B4E452E0A}"/>
              </a:ext>
            </a:extLst>
          </p:cNvPr>
          <p:cNvSpPr/>
          <p:nvPr/>
        </p:nvSpPr>
        <p:spPr>
          <a:xfrm>
            <a:off x="163906" y="1231308"/>
            <a:ext cx="5065041" cy="5324535"/>
          </a:xfrm>
          <a:prstGeom prst="rect">
            <a:avLst/>
          </a:prstGeom>
        </p:spPr>
        <p:txBody>
          <a:bodyPr wrap="square">
            <a:spAutoFit/>
          </a:bodyPr>
          <a:lstStyle/>
          <a:p>
            <a:pPr algn="just"/>
            <a:r>
              <a:rPr lang="es-ES" sz="2000" b="1" dirty="0">
                <a:solidFill>
                  <a:srgbClr val="000000"/>
                </a:solidFill>
                <a:latin typeface="Arial" panose="020B0604020202020204" pitchFamily="34" charset="0"/>
                <a:cs typeface="Times New Roman" panose="02020603050405020304" pitchFamily="18" charset="0"/>
              </a:rPr>
              <a:t>El diagrama de la distancia puede traducirse en costo por automóvil (redondeado), que representan a </a:t>
            </a:r>
            <a:r>
              <a:rPr lang="es-ES" sz="2000" b="1" dirty="0" err="1">
                <a:solidFill>
                  <a:srgbClr val="000000"/>
                </a:solidFill>
                <a:latin typeface="Arial" panose="020B0604020202020204" pitchFamily="34" charset="0"/>
                <a:cs typeface="Times New Roman" panose="02020603050405020304" pitchFamily="18" charset="0"/>
              </a:rPr>
              <a:t>C</a:t>
            </a:r>
            <a:r>
              <a:rPr lang="es-ES" sz="2000" b="1" baseline="-25000" dirty="0" err="1">
                <a:solidFill>
                  <a:srgbClr val="000000"/>
                </a:solidFill>
                <a:latin typeface="Arial" panose="020B0604020202020204" pitchFamily="34" charset="0"/>
                <a:cs typeface="Times New Roman" panose="02020603050405020304" pitchFamily="18" charset="0"/>
              </a:rPr>
              <a:t>ij</a:t>
            </a:r>
            <a:r>
              <a:rPr lang="es-ES" sz="2000" b="1" dirty="0">
                <a:solidFill>
                  <a:srgbClr val="000000"/>
                </a:solidFill>
                <a:latin typeface="Arial" panose="020B0604020202020204" pitchFamily="34" charset="0"/>
                <a:cs typeface="Times New Roman" panose="02020603050405020304" pitchFamily="18" charset="0"/>
              </a:rPr>
              <a:t> del modelo original. La tabla que representa el modelo es el siguiente:</a:t>
            </a:r>
          </a:p>
          <a:p>
            <a:pPr algn="just"/>
            <a:r>
              <a:rPr lang="es-ES" sz="2000" b="1" dirty="0">
                <a:solidFill>
                  <a:srgbClr val="000000"/>
                </a:solidFill>
                <a:latin typeface="Arial" panose="020B0604020202020204" pitchFamily="34" charset="0"/>
                <a:cs typeface="Times New Roman" panose="02020603050405020304" pitchFamily="18" charset="0"/>
              </a:rPr>
              <a:t>		    D                E</a:t>
            </a:r>
          </a:p>
          <a:p>
            <a:pPr algn="just"/>
            <a:endParaRPr lang="es-ES" sz="2000" b="1" dirty="0">
              <a:solidFill>
                <a:srgbClr val="000000"/>
              </a:solidFill>
              <a:latin typeface="Arial" panose="020B0604020202020204" pitchFamily="34" charset="0"/>
              <a:cs typeface="Times New Roman" panose="02020603050405020304" pitchFamily="18" charset="0"/>
            </a:endParaRPr>
          </a:p>
          <a:p>
            <a:pPr algn="just"/>
            <a:r>
              <a:rPr lang="es-ES" sz="2000" b="1" dirty="0">
                <a:solidFill>
                  <a:srgbClr val="000000"/>
                </a:solidFill>
                <a:latin typeface="Arial" panose="020B0604020202020204" pitchFamily="34" charset="0"/>
                <a:cs typeface="Times New Roman" panose="02020603050405020304" pitchFamily="18" charset="0"/>
              </a:rPr>
              <a:t>	A			      1000</a:t>
            </a:r>
          </a:p>
          <a:p>
            <a:pPr algn="just"/>
            <a:endParaRPr lang="es-ES" sz="2000" b="1" dirty="0">
              <a:solidFill>
                <a:srgbClr val="000000"/>
              </a:solidFill>
              <a:latin typeface="Arial" panose="020B0604020202020204" pitchFamily="34" charset="0"/>
              <a:cs typeface="Times New Roman" panose="02020603050405020304" pitchFamily="18" charset="0"/>
            </a:endParaRPr>
          </a:p>
          <a:p>
            <a:pPr algn="just"/>
            <a:endParaRPr lang="es-ES" sz="2000" b="1" dirty="0">
              <a:solidFill>
                <a:srgbClr val="000000"/>
              </a:solidFill>
              <a:latin typeface="Arial" panose="020B0604020202020204" pitchFamily="34" charset="0"/>
              <a:cs typeface="Times New Roman" panose="02020603050405020304" pitchFamily="18" charset="0"/>
            </a:endParaRPr>
          </a:p>
          <a:p>
            <a:pPr algn="just"/>
            <a:endParaRPr lang="es-ES" sz="2000" b="1" dirty="0">
              <a:solidFill>
                <a:srgbClr val="000000"/>
              </a:solidFill>
              <a:latin typeface="Arial" panose="020B0604020202020204" pitchFamily="34" charset="0"/>
              <a:cs typeface="Times New Roman" panose="02020603050405020304" pitchFamily="18" charset="0"/>
            </a:endParaRPr>
          </a:p>
          <a:p>
            <a:pPr algn="just"/>
            <a:r>
              <a:rPr lang="es-ES" sz="2000" b="1" dirty="0">
                <a:solidFill>
                  <a:srgbClr val="000000"/>
                </a:solidFill>
                <a:latin typeface="Arial" panose="020B0604020202020204" pitchFamily="34" charset="0"/>
                <a:cs typeface="Times New Roman" panose="02020603050405020304" pitchFamily="18" charset="0"/>
              </a:rPr>
              <a:t>	B			      1500</a:t>
            </a:r>
          </a:p>
          <a:p>
            <a:pPr algn="just"/>
            <a:endParaRPr lang="es-ES" sz="2000" b="1" dirty="0">
              <a:solidFill>
                <a:srgbClr val="000000"/>
              </a:solidFill>
              <a:latin typeface="Arial" panose="020B0604020202020204" pitchFamily="34" charset="0"/>
              <a:cs typeface="Times New Roman" panose="02020603050405020304" pitchFamily="18" charset="0"/>
            </a:endParaRPr>
          </a:p>
          <a:p>
            <a:pPr algn="just"/>
            <a:endParaRPr lang="es-ES" sz="2000" b="1" dirty="0">
              <a:solidFill>
                <a:srgbClr val="000000"/>
              </a:solidFill>
              <a:latin typeface="Arial" panose="020B0604020202020204" pitchFamily="34" charset="0"/>
              <a:cs typeface="Times New Roman" panose="02020603050405020304" pitchFamily="18" charset="0"/>
            </a:endParaRPr>
          </a:p>
          <a:p>
            <a:pPr algn="just"/>
            <a:r>
              <a:rPr lang="es-ES" sz="2000" b="1" dirty="0">
                <a:solidFill>
                  <a:srgbClr val="000000"/>
                </a:solidFill>
                <a:latin typeface="Arial" panose="020B0604020202020204" pitchFamily="34" charset="0"/>
                <a:cs typeface="Times New Roman" panose="02020603050405020304" pitchFamily="18" charset="0"/>
              </a:rPr>
              <a:t>	C			      1200</a:t>
            </a:r>
          </a:p>
          <a:p>
            <a:pPr algn="just"/>
            <a:endParaRPr lang="es-ES" sz="2000" b="1" dirty="0">
              <a:solidFill>
                <a:srgbClr val="000000"/>
              </a:solidFill>
              <a:latin typeface="Arial" panose="020B0604020202020204" pitchFamily="34" charset="0"/>
              <a:cs typeface="Times New Roman" panose="02020603050405020304" pitchFamily="18" charset="0"/>
            </a:endParaRPr>
          </a:p>
          <a:p>
            <a:pPr algn="just"/>
            <a:r>
              <a:rPr lang="es-ES" sz="2000" b="1" dirty="0">
                <a:solidFill>
                  <a:srgbClr val="000000"/>
                </a:solidFill>
                <a:latin typeface="Arial" panose="020B0604020202020204" pitchFamily="34" charset="0"/>
                <a:cs typeface="Times New Roman" panose="02020603050405020304" pitchFamily="18" charset="0"/>
              </a:rPr>
              <a:t>		   2300	          1400</a:t>
            </a:r>
            <a:endParaRPr lang="es-PE" sz="2000" b="1" dirty="0">
              <a:solidFill>
                <a:srgbClr val="000000"/>
              </a:solidFill>
              <a:latin typeface="Arial" panose="020B0604020202020204" pitchFamily="34" charset="0"/>
              <a:cs typeface="Times New Roman" panose="02020603050405020304" pitchFamily="18" charset="0"/>
            </a:endParaRPr>
          </a:p>
        </p:txBody>
      </p:sp>
      <p:pic>
        <p:nvPicPr>
          <p:cNvPr id="9" name="Imagen 8">
            <a:extLst>
              <a:ext uri="{FF2B5EF4-FFF2-40B4-BE49-F238E27FC236}">
                <a16:creationId xmlns:a16="http://schemas.microsoft.com/office/drawing/2014/main" id="{67580E3B-370F-480D-ADE4-60E703629D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9684" y="3155082"/>
            <a:ext cx="2838172" cy="3007358"/>
          </a:xfrm>
          <a:prstGeom prst="rect">
            <a:avLst/>
          </a:prstGeom>
        </p:spPr>
      </p:pic>
      <p:sp>
        <p:nvSpPr>
          <p:cNvPr id="8" name="TextShape 2">
            <a:extLst>
              <a:ext uri="{FF2B5EF4-FFF2-40B4-BE49-F238E27FC236}">
                <a16:creationId xmlns:a16="http://schemas.microsoft.com/office/drawing/2014/main" id="{EC9955F3-590E-4256-A507-DB5478F290D7}"/>
              </a:ext>
            </a:extLst>
          </p:cNvPr>
          <p:cNvSpPr txBox="1"/>
          <p:nvPr/>
        </p:nvSpPr>
        <p:spPr>
          <a:xfrm>
            <a:off x="5597085" y="1170257"/>
            <a:ext cx="6594915" cy="605527"/>
          </a:xfrm>
          <a:prstGeom prst="rect">
            <a:avLst/>
          </a:prstGeom>
          <a:noFill/>
          <a:ln w="9360">
            <a:noFill/>
          </a:ln>
        </p:spPr>
        <p:txBody>
          <a:bodyPr>
            <a:noAutofit/>
          </a:bodyPr>
          <a:lstStyle/>
          <a:p>
            <a:pPr marL="343080" indent="-342720"/>
            <a:r>
              <a:rPr lang="es-ES" sz="2000" b="1" spc="-1" dirty="0">
                <a:solidFill>
                  <a:srgbClr val="FF0000"/>
                </a:solidFill>
                <a:latin typeface="Arial Narrow" panose="020B0606020202030204" pitchFamily="34" charset="0"/>
              </a:rPr>
              <a:t>I.	Identificación de variables. </a:t>
            </a:r>
          </a:p>
          <a:p>
            <a:pPr marL="343080" indent="-342720"/>
            <a:r>
              <a:rPr lang="es-ES" sz="2000" b="1" spc="-1" dirty="0">
                <a:solidFill>
                  <a:schemeClr val="accent1">
                    <a:lumMod val="75000"/>
                  </a:schemeClr>
                </a:solidFill>
                <a:latin typeface="Arial Narrow" panose="020B0606020202030204" pitchFamily="34" charset="0"/>
              </a:rPr>
              <a:t>	</a:t>
            </a:r>
            <a:r>
              <a:rPr lang="es-ES" sz="2000" b="1" spc="-1" dirty="0" err="1">
                <a:solidFill>
                  <a:schemeClr val="accent1">
                    <a:lumMod val="75000"/>
                  </a:schemeClr>
                </a:solidFill>
                <a:latin typeface="Arial Narrow" panose="020B0606020202030204" pitchFamily="34" charset="0"/>
              </a:rPr>
              <a:t>Xij</a:t>
            </a:r>
            <a:r>
              <a:rPr lang="es-ES" sz="2000" b="1" spc="-1" dirty="0">
                <a:solidFill>
                  <a:schemeClr val="accent1">
                    <a:lumMod val="75000"/>
                  </a:schemeClr>
                </a:solidFill>
                <a:latin typeface="Arial Narrow" panose="020B0606020202030204" pitchFamily="34" charset="0"/>
              </a:rPr>
              <a:t> = # de unidades transportada desde el origen i al destino j</a:t>
            </a:r>
          </a:p>
          <a:p>
            <a:pPr marL="343080" indent="-342720"/>
            <a:endParaRPr lang="es-ES" sz="2000" b="1" spc="-1" dirty="0">
              <a:solidFill>
                <a:srgbClr val="FF0000"/>
              </a:solidFill>
              <a:latin typeface="Arial Narrow" panose="020B0606020202030204" pitchFamily="34" charset="0"/>
            </a:endParaRPr>
          </a:p>
          <a:p>
            <a:pPr marL="343080" indent="-342720"/>
            <a:endParaRPr lang="es-ES" sz="2000" b="1" spc="-1" dirty="0">
              <a:solidFill>
                <a:schemeClr val="accent1">
                  <a:lumMod val="75000"/>
                </a:schemeClr>
              </a:solidFill>
              <a:latin typeface="Arial Narrow" panose="020B0606020202030204" pitchFamily="34" charset="0"/>
            </a:endParaRPr>
          </a:p>
        </p:txBody>
      </p:sp>
      <p:sp>
        <p:nvSpPr>
          <p:cNvPr id="3" name="Rectángulo 2">
            <a:extLst>
              <a:ext uri="{FF2B5EF4-FFF2-40B4-BE49-F238E27FC236}">
                <a16:creationId xmlns:a16="http://schemas.microsoft.com/office/drawing/2014/main" id="{6FBF2746-2FCC-4C69-A82A-C730A13C3437}"/>
              </a:ext>
            </a:extLst>
          </p:cNvPr>
          <p:cNvSpPr/>
          <p:nvPr/>
        </p:nvSpPr>
        <p:spPr>
          <a:xfrm>
            <a:off x="5596639" y="2272344"/>
            <a:ext cx="4252823" cy="2246769"/>
          </a:xfrm>
          <a:prstGeom prst="rect">
            <a:avLst/>
          </a:prstGeom>
        </p:spPr>
        <p:txBody>
          <a:bodyPr wrap="square">
            <a:spAutoFit/>
          </a:bodyPr>
          <a:lstStyle/>
          <a:p>
            <a:pPr marL="343080" indent="-342720"/>
            <a:r>
              <a:rPr lang="es-ES" sz="2000" b="1" spc="-1" dirty="0">
                <a:solidFill>
                  <a:srgbClr val="FF0000"/>
                </a:solidFill>
                <a:latin typeface="Arial Narrow" panose="020B0606020202030204" pitchFamily="34" charset="0"/>
              </a:rPr>
              <a:t>III	Identificación de Restricciones.</a:t>
            </a:r>
          </a:p>
          <a:p>
            <a:pPr marL="343080" indent="-342720"/>
            <a:r>
              <a:rPr lang="es-ES" sz="2000" b="1" spc="-1" dirty="0">
                <a:solidFill>
                  <a:schemeClr val="accent1">
                    <a:lumMod val="75000"/>
                  </a:schemeClr>
                </a:solidFill>
                <a:latin typeface="Arial Narrow" panose="020B0606020202030204" pitchFamily="34" charset="0"/>
              </a:rPr>
              <a:t>		</a:t>
            </a:r>
            <a:r>
              <a:rPr lang="es-ES" sz="2000" b="1" spc="-1" dirty="0" err="1">
                <a:solidFill>
                  <a:schemeClr val="accent1">
                    <a:lumMod val="75000"/>
                  </a:schemeClr>
                </a:solidFill>
                <a:latin typeface="Arial Narrow" panose="020B0606020202030204" pitchFamily="34" charset="0"/>
              </a:rPr>
              <a:t>X11</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X12</a:t>
            </a:r>
            <a:r>
              <a:rPr lang="es-ES" sz="2000" b="1" spc="-1" dirty="0">
                <a:solidFill>
                  <a:schemeClr val="accent1">
                    <a:lumMod val="75000"/>
                  </a:schemeClr>
                </a:solidFill>
                <a:latin typeface="Arial Narrow" panose="020B0606020202030204" pitchFamily="34" charset="0"/>
              </a:rPr>
              <a:t>  ≤ 1000</a:t>
            </a:r>
          </a:p>
          <a:p>
            <a:pPr marL="343080" indent="-342720"/>
            <a:r>
              <a:rPr lang="es-ES" sz="2000" b="1" spc="-1" dirty="0">
                <a:solidFill>
                  <a:schemeClr val="accent1">
                    <a:lumMod val="75000"/>
                  </a:schemeClr>
                </a:solidFill>
                <a:latin typeface="Arial Narrow" panose="020B0606020202030204" pitchFamily="34" charset="0"/>
              </a:rPr>
              <a:t>		</a:t>
            </a:r>
            <a:r>
              <a:rPr lang="es-ES" sz="2000" b="1" spc="-1" dirty="0" err="1">
                <a:solidFill>
                  <a:schemeClr val="accent1">
                    <a:lumMod val="75000"/>
                  </a:schemeClr>
                </a:solidFill>
                <a:latin typeface="Arial Narrow" panose="020B0606020202030204" pitchFamily="34" charset="0"/>
              </a:rPr>
              <a:t>X21</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X22</a:t>
            </a:r>
            <a:r>
              <a:rPr lang="es-ES" sz="2000" b="1" spc="-1" dirty="0">
                <a:solidFill>
                  <a:schemeClr val="accent1">
                    <a:lumMod val="75000"/>
                  </a:schemeClr>
                </a:solidFill>
                <a:latin typeface="Arial Narrow" panose="020B0606020202030204" pitchFamily="34" charset="0"/>
              </a:rPr>
              <a:t>  ≤ 1500</a:t>
            </a:r>
          </a:p>
          <a:p>
            <a:pPr marL="343080" indent="-342720"/>
            <a:r>
              <a:rPr lang="es-ES" sz="2000" b="1" spc="-1" dirty="0">
                <a:solidFill>
                  <a:schemeClr val="accent1">
                    <a:lumMod val="75000"/>
                  </a:schemeClr>
                </a:solidFill>
                <a:latin typeface="Arial Narrow" panose="020B0606020202030204" pitchFamily="34" charset="0"/>
              </a:rPr>
              <a:t>		</a:t>
            </a:r>
            <a:r>
              <a:rPr lang="es-ES" sz="2000" b="1" spc="-1" dirty="0" err="1">
                <a:solidFill>
                  <a:schemeClr val="accent1">
                    <a:lumMod val="75000"/>
                  </a:schemeClr>
                </a:solidFill>
                <a:latin typeface="Arial Narrow" panose="020B0606020202030204" pitchFamily="34" charset="0"/>
              </a:rPr>
              <a:t>X31</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X32</a:t>
            </a:r>
            <a:r>
              <a:rPr lang="es-ES" sz="2000" b="1" spc="-1" dirty="0">
                <a:solidFill>
                  <a:schemeClr val="accent1">
                    <a:lumMod val="75000"/>
                  </a:schemeClr>
                </a:solidFill>
                <a:latin typeface="Arial Narrow" panose="020B0606020202030204" pitchFamily="34" charset="0"/>
              </a:rPr>
              <a:t>  ≤ 1200</a:t>
            </a:r>
          </a:p>
          <a:p>
            <a:pPr marL="343080" indent="-342720"/>
            <a:r>
              <a:rPr lang="es-ES" sz="2000" b="1" spc="-1" dirty="0">
                <a:solidFill>
                  <a:schemeClr val="accent1">
                    <a:lumMod val="75000"/>
                  </a:schemeClr>
                </a:solidFill>
                <a:latin typeface="Arial Narrow" panose="020B0606020202030204" pitchFamily="34" charset="0"/>
              </a:rPr>
              <a:t>		</a:t>
            </a:r>
            <a:r>
              <a:rPr lang="es-ES" sz="2000" b="1" spc="-1" dirty="0" err="1">
                <a:solidFill>
                  <a:srgbClr val="7030A0"/>
                </a:solidFill>
                <a:latin typeface="Arial Narrow" panose="020B0606020202030204" pitchFamily="34" charset="0"/>
              </a:rPr>
              <a:t>X11</a:t>
            </a:r>
            <a:r>
              <a:rPr lang="es-ES" sz="2000" b="1" spc="-1" dirty="0">
                <a:solidFill>
                  <a:srgbClr val="7030A0"/>
                </a:solidFill>
                <a:latin typeface="Arial Narrow" panose="020B0606020202030204" pitchFamily="34" charset="0"/>
              </a:rPr>
              <a:t> + </a:t>
            </a:r>
            <a:r>
              <a:rPr lang="es-ES" sz="2000" b="1" spc="-1" dirty="0" err="1">
                <a:solidFill>
                  <a:srgbClr val="7030A0"/>
                </a:solidFill>
                <a:latin typeface="Arial Narrow" panose="020B0606020202030204" pitchFamily="34" charset="0"/>
              </a:rPr>
              <a:t>X21</a:t>
            </a:r>
            <a:r>
              <a:rPr lang="es-ES" sz="2000" b="1" spc="-1" dirty="0">
                <a:solidFill>
                  <a:srgbClr val="7030A0"/>
                </a:solidFill>
                <a:latin typeface="Arial Narrow" panose="020B0606020202030204" pitchFamily="34" charset="0"/>
              </a:rPr>
              <a:t>  + </a:t>
            </a:r>
            <a:r>
              <a:rPr lang="es-ES" sz="2000" b="1" spc="-1" dirty="0" err="1">
                <a:solidFill>
                  <a:srgbClr val="7030A0"/>
                </a:solidFill>
                <a:latin typeface="Arial Narrow" panose="020B0606020202030204" pitchFamily="34" charset="0"/>
              </a:rPr>
              <a:t>X31</a:t>
            </a:r>
            <a:r>
              <a:rPr lang="es-ES" sz="2000" b="1" spc="-1" dirty="0">
                <a:solidFill>
                  <a:srgbClr val="7030A0"/>
                </a:solidFill>
                <a:latin typeface="Arial Narrow" panose="020B0606020202030204" pitchFamily="34" charset="0"/>
              </a:rPr>
              <a:t>  =   2300</a:t>
            </a:r>
          </a:p>
          <a:p>
            <a:pPr marL="343080" indent="-342720"/>
            <a:r>
              <a:rPr lang="es-ES" sz="2000" b="1" spc="-1" dirty="0">
                <a:solidFill>
                  <a:srgbClr val="7030A0"/>
                </a:solidFill>
                <a:latin typeface="Arial Narrow" panose="020B0606020202030204" pitchFamily="34" charset="0"/>
              </a:rPr>
              <a:t>		</a:t>
            </a:r>
            <a:r>
              <a:rPr lang="es-ES" sz="2000" b="1" spc="-1" dirty="0" err="1">
                <a:solidFill>
                  <a:srgbClr val="7030A0"/>
                </a:solidFill>
                <a:latin typeface="Arial Narrow" panose="020B0606020202030204" pitchFamily="34" charset="0"/>
              </a:rPr>
              <a:t>X12</a:t>
            </a:r>
            <a:r>
              <a:rPr lang="es-ES" sz="2000" b="1" spc="-1" dirty="0">
                <a:solidFill>
                  <a:srgbClr val="7030A0"/>
                </a:solidFill>
                <a:latin typeface="Arial Narrow" panose="020B0606020202030204" pitchFamily="34" charset="0"/>
              </a:rPr>
              <a:t> + </a:t>
            </a:r>
            <a:r>
              <a:rPr lang="es-ES" sz="2000" b="1" spc="-1" dirty="0" err="1">
                <a:solidFill>
                  <a:srgbClr val="7030A0"/>
                </a:solidFill>
                <a:latin typeface="Arial Narrow" panose="020B0606020202030204" pitchFamily="34" charset="0"/>
              </a:rPr>
              <a:t>X22</a:t>
            </a:r>
            <a:r>
              <a:rPr lang="es-ES" sz="2000" b="1" spc="-1" dirty="0">
                <a:solidFill>
                  <a:srgbClr val="7030A0"/>
                </a:solidFill>
                <a:latin typeface="Arial Narrow" panose="020B0606020202030204" pitchFamily="34" charset="0"/>
              </a:rPr>
              <a:t>  + </a:t>
            </a:r>
            <a:r>
              <a:rPr lang="es-ES" sz="2000" b="1" spc="-1" dirty="0" err="1">
                <a:solidFill>
                  <a:srgbClr val="7030A0"/>
                </a:solidFill>
                <a:latin typeface="Arial Narrow" panose="020B0606020202030204" pitchFamily="34" charset="0"/>
              </a:rPr>
              <a:t>X32</a:t>
            </a:r>
            <a:r>
              <a:rPr lang="es-ES" sz="2000" b="1" spc="-1" dirty="0">
                <a:solidFill>
                  <a:srgbClr val="7030A0"/>
                </a:solidFill>
                <a:latin typeface="Arial Narrow" panose="020B0606020202030204" pitchFamily="34" charset="0"/>
              </a:rPr>
              <a:t>  =   1400</a:t>
            </a:r>
          </a:p>
          <a:p>
            <a:pPr marL="343080" indent="-342720"/>
            <a:r>
              <a:rPr lang="es-ES" sz="2000" b="1" spc="-1" dirty="0">
                <a:solidFill>
                  <a:schemeClr val="accent1">
                    <a:lumMod val="75000"/>
                  </a:schemeClr>
                </a:solidFill>
                <a:latin typeface="Arial Narrow" panose="020B0606020202030204" pitchFamily="34" charset="0"/>
              </a:rPr>
              <a:t>		           	       </a:t>
            </a:r>
            <a:r>
              <a:rPr lang="es-ES" sz="2000" b="1" spc="-1" dirty="0" err="1">
                <a:solidFill>
                  <a:schemeClr val="accent1">
                    <a:lumMod val="75000"/>
                  </a:schemeClr>
                </a:solidFill>
                <a:latin typeface="Arial Narrow" panose="020B0606020202030204" pitchFamily="34" charset="0"/>
              </a:rPr>
              <a:t>Xij</a:t>
            </a:r>
            <a:r>
              <a:rPr lang="es-ES" sz="2000" b="1" spc="-1" dirty="0">
                <a:solidFill>
                  <a:schemeClr val="accent1">
                    <a:lumMod val="75000"/>
                  </a:schemeClr>
                </a:solidFill>
                <a:latin typeface="Arial Narrow" panose="020B0606020202030204" pitchFamily="34" charset="0"/>
              </a:rPr>
              <a:t>    ≥   0</a:t>
            </a:r>
            <a:endParaRPr lang="es-PE" sz="2000" dirty="0"/>
          </a:p>
        </p:txBody>
      </p:sp>
      <p:sp>
        <p:nvSpPr>
          <p:cNvPr id="4" name="Rectángulo 3">
            <a:extLst>
              <a:ext uri="{FF2B5EF4-FFF2-40B4-BE49-F238E27FC236}">
                <a16:creationId xmlns:a16="http://schemas.microsoft.com/office/drawing/2014/main" id="{F14807D9-F315-4CF4-8C24-7D84DC09C0D0}"/>
              </a:ext>
            </a:extLst>
          </p:cNvPr>
          <p:cNvSpPr/>
          <p:nvPr/>
        </p:nvSpPr>
        <p:spPr>
          <a:xfrm>
            <a:off x="5582042" y="1732023"/>
            <a:ext cx="6609958" cy="707886"/>
          </a:xfrm>
          <a:prstGeom prst="rect">
            <a:avLst/>
          </a:prstGeom>
        </p:spPr>
        <p:txBody>
          <a:bodyPr wrap="square">
            <a:spAutoFit/>
          </a:bodyPr>
          <a:lstStyle/>
          <a:p>
            <a:pPr marL="343080" indent="-342720"/>
            <a:r>
              <a:rPr lang="es-ES" sz="2000" b="1" spc="-1" dirty="0">
                <a:solidFill>
                  <a:srgbClr val="FF0000"/>
                </a:solidFill>
                <a:latin typeface="Arial Narrow" panose="020B0606020202030204" pitchFamily="34" charset="0"/>
              </a:rPr>
              <a:t>II.	Identificación de la función objetivo.</a:t>
            </a:r>
          </a:p>
          <a:p>
            <a:pPr marL="343080" indent="-342720"/>
            <a:r>
              <a:rPr lang="es-ES" sz="2000" b="1" spc="-1" dirty="0">
                <a:solidFill>
                  <a:schemeClr val="accent1">
                    <a:lumMod val="75000"/>
                  </a:schemeClr>
                </a:solidFill>
                <a:latin typeface="Arial Narrow" panose="020B0606020202030204" pitchFamily="34" charset="0"/>
              </a:rPr>
              <a:t>	MIN </a:t>
            </a:r>
            <a:r>
              <a:rPr lang="es-ES" sz="2000" b="1" spc="-1" dirty="0" err="1">
                <a:solidFill>
                  <a:schemeClr val="accent1">
                    <a:lumMod val="75000"/>
                  </a:schemeClr>
                </a:solidFill>
                <a:latin typeface="Arial Narrow" panose="020B0606020202030204" pitchFamily="34" charset="0"/>
              </a:rPr>
              <a:t>80X11</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215X12</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100X21</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108X22</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102X31</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68X32</a:t>
            </a:r>
            <a:endParaRPr lang="es-ES" sz="2000" b="1" spc="-1" dirty="0">
              <a:solidFill>
                <a:schemeClr val="accent1">
                  <a:lumMod val="75000"/>
                </a:schemeClr>
              </a:solidFill>
              <a:latin typeface="Arial Narrow" panose="020B0606020202030204" pitchFamily="34" charset="0"/>
            </a:endParaRPr>
          </a:p>
        </p:txBody>
      </p:sp>
      <p:sp>
        <p:nvSpPr>
          <p:cNvPr id="5" name="Rectángulo 4">
            <a:extLst>
              <a:ext uri="{FF2B5EF4-FFF2-40B4-BE49-F238E27FC236}">
                <a16:creationId xmlns:a16="http://schemas.microsoft.com/office/drawing/2014/main" id="{FB74F56C-B7A3-497F-A6A8-6E43A17FE122}"/>
              </a:ext>
            </a:extLst>
          </p:cNvPr>
          <p:cNvSpPr/>
          <p:nvPr/>
        </p:nvSpPr>
        <p:spPr>
          <a:xfrm>
            <a:off x="5765322" y="4434313"/>
            <a:ext cx="6426678" cy="2246769"/>
          </a:xfrm>
          <a:prstGeom prst="rect">
            <a:avLst/>
          </a:prstGeom>
          <a:solidFill>
            <a:srgbClr val="FFFF00"/>
          </a:solidFill>
        </p:spPr>
        <p:txBody>
          <a:bodyPr wrap="square">
            <a:spAutoFit/>
          </a:bodyPr>
          <a:lstStyle/>
          <a:p>
            <a:r>
              <a:rPr lang="es-ES" sz="2000" b="1" spc="-1" dirty="0">
                <a:solidFill>
                  <a:schemeClr val="accent1">
                    <a:lumMod val="75000"/>
                  </a:schemeClr>
                </a:solidFill>
                <a:latin typeface="Arial Narrow" panose="020B0606020202030204" pitchFamily="34" charset="0"/>
              </a:rPr>
              <a:t>MIN     </a:t>
            </a:r>
            <a:r>
              <a:rPr lang="es-ES" sz="2000" b="1" spc="-1" dirty="0" err="1">
                <a:solidFill>
                  <a:schemeClr val="accent1">
                    <a:lumMod val="75000"/>
                  </a:schemeClr>
                </a:solidFill>
                <a:latin typeface="Arial Narrow" panose="020B0606020202030204" pitchFamily="34" charset="0"/>
              </a:rPr>
              <a:t>80X11</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215X12</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100X21</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108X22</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102X31</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68X32</a:t>
            </a:r>
            <a:endParaRPr lang="es-ES" sz="2000" b="1" spc="-1" dirty="0">
              <a:solidFill>
                <a:schemeClr val="accent1">
                  <a:lumMod val="75000"/>
                </a:schemeClr>
              </a:solidFill>
              <a:latin typeface="Arial Narrow" panose="020B0606020202030204" pitchFamily="34" charset="0"/>
            </a:endParaRPr>
          </a:p>
          <a:p>
            <a:r>
              <a:rPr lang="es-ES" sz="2000" b="1" spc="-1" dirty="0" err="1">
                <a:solidFill>
                  <a:schemeClr val="accent1">
                    <a:lumMod val="75000"/>
                  </a:schemeClr>
                </a:solidFill>
                <a:latin typeface="Arial Narrow" panose="020B0606020202030204" pitchFamily="34" charset="0"/>
              </a:rPr>
              <a:t>ST</a:t>
            </a:r>
            <a:endParaRPr lang="es-ES" sz="2000" b="1" spc="-1" dirty="0">
              <a:solidFill>
                <a:schemeClr val="accent1">
                  <a:lumMod val="75000"/>
                </a:schemeClr>
              </a:solidFill>
              <a:latin typeface="Arial Narrow" panose="020B0606020202030204" pitchFamily="34" charset="0"/>
            </a:endParaRPr>
          </a:p>
          <a:p>
            <a:pPr marL="343080" indent="-342720"/>
            <a:r>
              <a:rPr lang="es-ES" sz="2000" b="1" spc="-1" dirty="0" err="1">
                <a:solidFill>
                  <a:schemeClr val="accent1">
                    <a:lumMod val="75000"/>
                  </a:schemeClr>
                </a:solidFill>
                <a:latin typeface="Arial Narrow" panose="020B0606020202030204" pitchFamily="34" charset="0"/>
              </a:rPr>
              <a:t>X11</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X12</a:t>
            </a:r>
            <a:r>
              <a:rPr lang="es-ES" sz="2000" b="1" spc="-1" dirty="0">
                <a:solidFill>
                  <a:schemeClr val="accent1">
                    <a:lumMod val="75000"/>
                  </a:schemeClr>
                </a:solidFill>
                <a:latin typeface="Arial Narrow" panose="020B0606020202030204" pitchFamily="34" charset="0"/>
              </a:rPr>
              <a:t>  &lt;= 1000</a:t>
            </a:r>
          </a:p>
          <a:p>
            <a:pPr marL="343080" indent="-342720"/>
            <a:r>
              <a:rPr lang="es-ES" sz="2000" b="1" spc="-1" dirty="0" err="1">
                <a:solidFill>
                  <a:schemeClr val="accent1">
                    <a:lumMod val="75000"/>
                  </a:schemeClr>
                </a:solidFill>
                <a:latin typeface="Arial Narrow" panose="020B0606020202030204" pitchFamily="34" charset="0"/>
              </a:rPr>
              <a:t>X21</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X22</a:t>
            </a:r>
            <a:r>
              <a:rPr lang="es-ES" sz="2000" b="1" spc="-1" dirty="0">
                <a:solidFill>
                  <a:schemeClr val="accent1">
                    <a:lumMod val="75000"/>
                  </a:schemeClr>
                </a:solidFill>
                <a:latin typeface="Arial Narrow" panose="020B0606020202030204" pitchFamily="34" charset="0"/>
              </a:rPr>
              <a:t>  &lt;= 1500</a:t>
            </a:r>
          </a:p>
          <a:p>
            <a:pPr marL="343080" indent="-342720"/>
            <a:r>
              <a:rPr lang="es-ES" sz="2000" b="1" spc="-1" dirty="0" err="1">
                <a:solidFill>
                  <a:schemeClr val="accent1">
                    <a:lumMod val="75000"/>
                  </a:schemeClr>
                </a:solidFill>
                <a:latin typeface="Arial Narrow" panose="020B0606020202030204" pitchFamily="34" charset="0"/>
              </a:rPr>
              <a:t>X31</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X32</a:t>
            </a:r>
            <a:r>
              <a:rPr lang="es-ES" sz="2000" b="1" spc="-1" dirty="0">
                <a:solidFill>
                  <a:schemeClr val="accent1">
                    <a:lumMod val="75000"/>
                  </a:schemeClr>
                </a:solidFill>
                <a:latin typeface="Arial Narrow" panose="020B0606020202030204" pitchFamily="34" charset="0"/>
              </a:rPr>
              <a:t>  &lt;= 1200</a:t>
            </a:r>
          </a:p>
          <a:p>
            <a:pPr marL="343080" indent="-342720"/>
            <a:r>
              <a:rPr lang="es-ES" sz="2000" b="1" spc="-1" dirty="0" err="1">
                <a:solidFill>
                  <a:srgbClr val="7030A0"/>
                </a:solidFill>
                <a:latin typeface="Arial Narrow" panose="020B0606020202030204" pitchFamily="34" charset="0"/>
              </a:rPr>
              <a:t>X11</a:t>
            </a:r>
            <a:r>
              <a:rPr lang="es-ES" sz="2000" b="1" spc="-1" dirty="0">
                <a:solidFill>
                  <a:srgbClr val="7030A0"/>
                </a:solidFill>
                <a:latin typeface="Arial Narrow" panose="020B0606020202030204" pitchFamily="34" charset="0"/>
              </a:rPr>
              <a:t> + </a:t>
            </a:r>
            <a:r>
              <a:rPr lang="es-ES" sz="2000" b="1" spc="-1" dirty="0" err="1">
                <a:solidFill>
                  <a:srgbClr val="7030A0"/>
                </a:solidFill>
                <a:latin typeface="Arial Narrow" panose="020B0606020202030204" pitchFamily="34" charset="0"/>
              </a:rPr>
              <a:t>X21</a:t>
            </a:r>
            <a:r>
              <a:rPr lang="es-ES" sz="2000" b="1" spc="-1" dirty="0">
                <a:solidFill>
                  <a:srgbClr val="7030A0"/>
                </a:solidFill>
                <a:latin typeface="Arial Narrow" panose="020B0606020202030204" pitchFamily="34" charset="0"/>
              </a:rPr>
              <a:t>  + </a:t>
            </a:r>
            <a:r>
              <a:rPr lang="es-ES" sz="2000" b="1" spc="-1" dirty="0" err="1">
                <a:solidFill>
                  <a:srgbClr val="7030A0"/>
                </a:solidFill>
                <a:latin typeface="Arial Narrow" panose="020B0606020202030204" pitchFamily="34" charset="0"/>
              </a:rPr>
              <a:t>X31</a:t>
            </a:r>
            <a:r>
              <a:rPr lang="es-ES" sz="2000" b="1" spc="-1" dirty="0">
                <a:solidFill>
                  <a:srgbClr val="7030A0"/>
                </a:solidFill>
                <a:latin typeface="Arial Narrow" panose="020B0606020202030204" pitchFamily="34" charset="0"/>
              </a:rPr>
              <a:t>  =   2300</a:t>
            </a:r>
          </a:p>
          <a:p>
            <a:pPr marL="343080" indent="-342720"/>
            <a:r>
              <a:rPr lang="es-ES" sz="2000" b="1" spc="-1" dirty="0" err="1">
                <a:solidFill>
                  <a:srgbClr val="7030A0"/>
                </a:solidFill>
                <a:latin typeface="Arial Narrow" panose="020B0606020202030204" pitchFamily="34" charset="0"/>
              </a:rPr>
              <a:t>X12</a:t>
            </a:r>
            <a:r>
              <a:rPr lang="es-ES" sz="2000" b="1" spc="-1" dirty="0">
                <a:solidFill>
                  <a:srgbClr val="7030A0"/>
                </a:solidFill>
                <a:latin typeface="Arial Narrow" panose="020B0606020202030204" pitchFamily="34" charset="0"/>
              </a:rPr>
              <a:t> + </a:t>
            </a:r>
            <a:r>
              <a:rPr lang="es-ES" sz="2000" b="1" spc="-1" dirty="0" err="1">
                <a:solidFill>
                  <a:srgbClr val="7030A0"/>
                </a:solidFill>
                <a:latin typeface="Arial Narrow" panose="020B0606020202030204" pitchFamily="34" charset="0"/>
              </a:rPr>
              <a:t>X22</a:t>
            </a:r>
            <a:r>
              <a:rPr lang="es-ES" sz="2000" b="1" spc="-1" dirty="0">
                <a:solidFill>
                  <a:srgbClr val="7030A0"/>
                </a:solidFill>
                <a:latin typeface="Arial Narrow" panose="020B0606020202030204" pitchFamily="34" charset="0"/>
              </a:rPr>
              <a:t>  + </a:t>
            </a:r>
            <a:r>
              <a:rPr lang="es-ES" sz="2000" b="1" spc="-1" dirty="0" err="1">
                <a:solidFill>
                  <a:srgbClr val="7030A0"/>
                </a:solidFill>
                <a:latin typeface="Arial Narrow" panose="020B0606020202030204" pitchFamily="34" charset="0"/>
              </a:rPr>
              <a:t>X32</a:t>
            </a:r>
            <a:r>
              <a:rPr lang="es-ES" sz="2000" b="1" spc="-1" dirty="0">
                <a:solidFill>
                  <a:srgbClr val="7030A0"/>
                </a:solidFill>
                <a:latin typeface="Arial Narrow" panose="020B0606020202030204" pitchFamily="34" charset="0"/>
              </a:rPr>
              <a:t>  =   1400</a:t>
            </a:r>
            <a:endParaRPr lang="es-PE" sz="2000" dirty="0"/>
          </a:p>
        </p:txBody>
      </p:sp>
      <p:sp>
        <p:nvSpPr>
          <p:cNvPr id="7" name="Rectángulo 6">
            <a:extLst>
              <a:ext uri="{FF2B5EF4-FFF2-40B4-BE49-F238E27FC236}">
                <a16:creationId xmlns:a16="http://schemas.microsoft.com/office/drawing/2014/main" id="{E9F26AC3-B7CB-4E8C-9B85-76CD69430162}"/>
              </a:ext>
            </a:extLst>
          </p:cNvPr>
          <p:cNvSpPr/>
          <p:nvPr/>
        </p:nvSpPr>
        <p:spPr>
          <a:xfrm>
            <a:off x="8704052" y="4795897"/>
            <a:ext cx="3332672" cy="2062103"/>
          </a:xfrm>
          <a:prstGeom prst="rect">
            <a:avLst/>
          </a:prstGeom>
          <a:solidFill>
            <a:schemeClr val="accent2">
              <a:lumMod val="40000"/>
              <a:lumOff val="60000"/>
            </a:schemeClr>
          </a:solidFill>
        </p:spPr>
        <p:txBody>
          <a:bodyPr wrap="square">
            <a:spAutoFit/>
          </a:bodyPr>
          <a:lstStyle/>
          <a:p>
            <a:r>
              <a:rPr lang="es-PE" sz="1600" b="1" dirty="0">
                <a:latin typeface="Arial Narrow" panose="020B0606020202030204" pitchFamily="34" charset="0"/>
              </a:rPr>
              <a:t> 1)      313200.0</a:t>
            </a:r>
          </a:p>
          <a:p>
            <a:r>
              <a:rPr lang="es-PE" sz="1600" b="1" dirty="0">
                <a:latin typeface="Arial Narrow" panose="020B0606020202030204" pitchFamily="34" charset="0"/>
              </a:rPr>
              <a:t>  VARIABLE  VALUE     REDUCED COST</a:t>
            </a:r>
          </a:p>
          <a:p>
            <a:r>
              <a:rPr lang="es-PE" sz="1600" b="1" dirty="0">
                <a:latin typeface="Arial Narrow" panose="020B0606020202030204" pitchFamily="34" charset="0"/>
              </a:rPr>
              <a:t>       X11      1000.000            0.000</a:t>
            </a:r>
          </a:p>
          <a:p>
            <a:r>
              <a:rPr lang="es-PE" sz="1600" b="1" dirty="0">
                <a:latin typeface="Arial Narrow" panose="020B0606020202030204" pitchFamily="34" charset="0"/>
              </a:rPr>
              <a:t>       X12            0.000        127.000</a:t>
            </a:r>
          </a:p>
          <a:p>
            <a:r>
              <a:rPr lang="es-PE" sz="1600" b="1" dirty="0">
                <a:latin typeface="Arial Narrow" panose="020B0606020202030204" pitchFamily="34" charset="0"/>
              </a:rPr>
              <a:t>       X21      1300.000             0.000</a:t>
            </a:r>
          </a:p>
          <a:p>
            <a:r>
              <a:rPr lang="es-PE" sz="1600" b="1" dirty="0">
                <a:latin typeface="Arial Narrow" panose="020B0606020202030204" pitchFamily="34" charset="0"/>
              </a:rPr>
              <a:t>       X22        200.000             0.000</a:t>
            </a:r>
          </a:p>
          <a:p>
            <a:r>
              <a:rPr lang="es-PE" sz="1600" b="1" dirty="0">
                <a:latin typeface="Arial Narrow" panose="020B0606020202030204" pitchFamily="34" charset="0"/>
              </a:rPr>
              <a:t>       X31            0.000           42.000</a:t>
            </a:r>
          </a:p>
          <a:p>
            <a:r>
              <a:rPr lang="es-PE" sz="1600" b="1" dirty="0">
                <a:latin typeface="Arial Narrow" panose="020B0606020202030204" pitchFamily="34" charset="0"/>
              </a:rPr>
              <a:t>       X32      1200.0000           0.000</a:t>
            </a:r>
          </a:p>
        </p:txBody>
      </p:sp>
      <p:sp>
        <p:nvSpPr>
          <p:cNvPr id="11" name="CustomShape 2">
            <a:extLst>
              <a:ext uri="{FF2B5EF4-FFF2-40B4-BE49-F238E27FC236}">
                <a16:creationId xmlns:a16="http://schemas.microsoft.com/office/drawing/2014/main" id="{76A1F9AC-98E5-4FA2-A8BD-1EFF01487439}"/>
              </a:ext>
            </a:extLst>
          </p:cNvPr>
          <p:cNvSpPr/>
          <p:nvPr/>
        </p:nvSpPr>
        <p:spPr>
          <a:xfrm>
            <a:off x="6096000" y="278627"/>
            <a:ext cx="6096000" cy="480498"/>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lnSpc>
                <a:spcPts val="5800"/>
              </a:lnSpc>
              <a:spcBef>
                <a:spcPct val="0"/>
              </a:spcBef>
            </a:pPr>
            <a:r>
              <a:rPr lang="es-PE" sz="3200" dirty="0">
                <a:solidFill>
                  <a:schemeClr val="bg1"/>
                </a:solidFill>
                <a:effectLst>
                  <a:outerShdw blurRad="63500" dist="38100" dir="5400000" algn="t" rotWithShape="0">
                    <a:prstClr val="black">
                      <a:alpha val="25000"/>
                    </a:prstClr>
                  </a:outerShdw>
                </a:effectLst>
                <a:latin typeface="Bauhaus 93" pitchFamily="82" charset="0"/>
              </a:rPr>
              <a:t>Problema 1</a:t>
            </a:r>
          </a:p>
        </p:txBody>
      </p:sp>
    </p:spTree>
    <p:extLst>
      <p:ext uri="{BB962C8B-B14F-4D97-AF65-F5344CB8AC3E}">
        <p14:creationId xmlns:p14="http://schemas.microsoft.com/office/powerpoint/2010/main" val="2427504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P spid="4" grpId="0"/>
      <p:bldP spid="5"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1F750E75-715E-4CA8-872B-A152209D5C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3205" y="1378051"/>
            <a:ext cx="4077269" cy="3096057"/>
          </a:xfrm>
          <a:prstGeom prst="rect">
            <a:avLst/>
          </a:prstGeom>
        </p:spPr>
      </p:pic>
      <p:pic>
        <p:nvPicPr>
          <p:cNvPr id="8" name="Imagen 7">
            <a:extLst>
              <a:ext uri="{FF2B5EF4-FFF2-40B4-BE49-F238E27FC236}">
                <a16:creationId xmlns:a16="http://schemas.microsoft.com/office/drawing/2014/main" id="{4CFEE80E-B6EE-48A6-887C-34071A038C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0984" y="1262583"/>
            <a:ext cx="4527926" cy="3096057"/>
          </a:xfrm>
          <a:prstGeom prst="rect">
            <a:avLst/>
          </a:prstGeom>
        </p:spPr>
      </p:pic>
      <p:sp>
        <p:nvSpPr>
          <p:cNvPr id="9" name="Rectángulo 8">
            <a:extLst>
              <a:ext uri="{FF2B5EF4-FFF2-40B4-BE49-F238E27FC236}">
                <a16:creationId xmlns:a16="http://schemas.microsoft.com/office/drawing/2014/main" id="{4E47C86A-8F66-4934-81A7-50333B140DD3}"/>
              </a:ext>
            </a:extLst>
          </p:cNvPr>
          <p:cNvSpPr/>
          <p:nvPr/>
        </p:nvSpPr>
        <p:spPr>
          <a:xfrm>
            <a:off x="322217" y="4724264"/>
            <a:ext cx="5634445" cy="1631216"/>
          </a:xfrm>
          <a:prstGeom prst="rect">
            <a:avLst/>
          </a:prstGeom>
        </p:spPr>
        <p:txBody>
          <a:bodyPr wrap="square">
            <a:spAutoFit/>
          </a:bodyPr>
          <a:lstStyle/>
          <a:p>
            <a:pPr algn="just"/>
            <a:r>
              <a:rPr lang="es-ES" sz="2000" dirty="0">
                <a:solidFill>
                  <a:srgbClr val="002060"/>
                </a:solidFill>
                <a:latin typeface="Tahoma" panose="020B0604030504040204" pitchFamily="34" charset="0"/>
                <a:ea typeface="Tahoma" panose="020B0604030504040204" pitchFamily="34" charset="0"/>
              </a:rPr>
              <a:t>Supóngase que la capacidad de la planta de B es de 1300 automóviles (en vez de 1500).   Se dice que </a:t>
            </a:r>
            <a:r>
              <a:rPr lang="es-ES" sz="2000" dirty="0">
                <a:solidFill>
                  <a:srgbClr val="FF0000"/>
                </a:solidFill>
                <a:latin typeface="Tahoma" panose="020B0604030504040204" pitchFamily="34" charset="0"/>
                <a:ea typeface="Tahoma" panose="020B0604030504040204" pitchFamily="34" charset="0"/>
              </a:rPr>
              <a:t>la situación está desbalanceada </a:t>
            </a:r>
            <a:r>
              <a:rPr lang="es-ES" sz="2000" dirty="0">
                <a:solidFill>
                  <a:srgbClr val="002060"/>
                </a:solidFill>
                <a:latin typeface="Tahoma" panose="020B0604030504040204" pitchFamily="34" charset="0"/>
                <a:ea typeface="Tahoma" panose="020B0604030504040204" pitchFamily="34" charset="0"/>
              </a:rPr>
              <a:t>(o sin balanceo) debido a que la oferta total (= 3500) no es igual a la demanda total (= 3700).</a:t>
            </a:r>
            <a:endParaRPr lang="es-PE" sz="2000" dirty="0">
              <a:solidFill>
                <a:srgbClr val="002060"/>
              </a:solidFill>
              <a:latin typeface="Tahoma" panose="020B0604030504040204" pitchFamily="34" charset="0"/>
              <a:ea typeface="Tahoma" panose="020B0604030504040204" pitchFamily="34" charset="0"/>
            </a:endParaRPr>
          </a:p>
        </p:txBody>
      </p:sp>
      <p:sp>
        <p:nvSpPr>
          <p:cNvPr id="10" name="Rectángulo 9">
            <a:extLst>
              <a:ext uri="{FF2B5EF4-FFF2-40B4-BE49-F238E27FC236}">
                <a16:creationId xmlns:a16="http://schemas.microsoft.com/office/drawing/2014/main" id="{026A5443-5FEC-480F-AF4D-51DCBC89EF76}"/>
              </a:ext>
            </a:extLst>
          </p:cNvPr>
          <p:cNvSpPr/>
          <p:nvPr/>
        </p:nvSpPr>
        <p:spPr>
          <a:xfrm>
            <a:off x="6331131" y="4705662"/>
            <a:ext cx="5634445" cy="1938992"/>
          </a:xfrm>
          <a:prstGeom prst="rect">
            <a:avLst/>
          </a:prstGeom>
        </p:spPr>
        <p:txBody>
          <a:bodyPr wrap="square">
            <a:spAutoFit/>
          </a:bodyPr>
          <a:lstStyle/>
          <a:p>
            <a:pPr algn="just"/>
            <a:r>
              <a:rPr lang="es-ES" sz="2000" dirty="0">
                <a:solidFill>
                  <a:srgbClr val="002060"/>
                </a:solidFill>
                <a:latin typeface="Tahoma" panose="020B0604030504040204" pitchFamily="34" charset="0"/>
                <a:ea typeface="Tahoma" panose="020B0604030504040204" pitchFamily="34" charset="0"/>
              </a:rPr>
              <a:t>Si la </a:t>
            </a:r>
            <a:r>
              <a:rPr lang="es-ES" sz="2000" dirty="0">
                <a:solidFill>
                  <a:srgbClr val="FF0000"/>
                </a:solidFill>
                <a:latin typeface="Tahoma" panose="020B0604030504040204" pitchFamily="34" charset="0"/>
                <a:ea typeface="Tahoma" panose="020B0604030504040204" pitchFamily="34" charset="0"/>
              </a:rPr>
              <a:t>oferta supera la demanda</a:t>
            </a:r>
            <a:r>
              <a:rPr lang="es-ES" sz="2000" dirty="0">
                <a:solidFill>
                  <a:srgbClr val="002060"/>
                </a:solidFill>
                <a:latin typeface="Tahoma" panose="020B0604030504040204" pitchFamily="34" charset="0"/>
                <a:ea typeface="Tahoma" panose="020B0604030504040204" pitchFamily="34" charset="0"/>
              </a:rPr>
              <a:t>, podemos introducir un destino ficticio que absorba la diferencia. Si la demanda disminuye a 1900 automóviles , cualquier automóvil enviado de una planta a un centro de distribución ficticio representará un excedente en esa planta.</a:t>
            </a:r>
            <a:endParaRPr lang="es-PE" sz="2000" dirty="0">
              <a:solidFill>
                <a:srgbClr val="002060"/>
              </a:solidFill>
              <a:latin typeface="Tahoma" panose="020B0604030504040204" pitchFamily="34" charset="0"/>
              <a:ea typeface="Tahoma" panose="020B0604030504040204" pitchFamily="34" charset="0"/>
            </a:endParaRPr>
          </a:p>
        </p:txBody>
      </p:sp>
      <p:sp>
        <p:nvSpPr>
          <p:cNvPr id="7" name="Rectángulo 6">
            <a:extLst>
              <a:ext uri="{FF2B5EF4-FFF2-40B4-BE49-F238E27FC236}">
                <a16:creationId xmlns:a16="http://schemas.microsoft.com/office/drawing/2014/main" id="{1D6E36C1-1198-4144-B491-77EE3A5370CB}"/>
              </a:ext>
            </a:extLst>
          </p:cNvPr>
          <p:cNvSpPr/>
          <p:nvPr/>
        </p:nvSpPr>
        <p:spPr>
          <a:xfrm>
            <a:off x="6096000" y="260754"/>
            <a:ext cx="6096000"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fontAlgn="base">
              <a:spcBef>
                <a:spcPct val="0"/>
              </a:spcBef>
              <a:spcAft>
                <a:spcPct val="0"/>
              </a:spcAft>
            </a:pPr>
            <a:r>
              <a:rPr lang="es-PE" sz="3200" dirty="0">
                <a:solidFill>
                  <a:schemeClr val="bg1"/>
                </a:solidFill>
                <a:latin typeface="Bauhaus 93" pitchFamily="82" charset="0"/>
              </a:rPr>
              <a:t>Modelo de transporte no balanceado</a:t>
            </a:r>
          </a:p>
        </p:txBody>
      </p:sp>
    </p:spTree>
    <p:extLst>
      <p:ext uri="{BB962C8B-B14F-4D97-AF65-F5344CB8AC3E}">
        <p14:creationId xmlns:p14="http://schemas.microsoft.com/office/powerpoint/2010/main" val="3257193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a 1"/>
          <p:cNvGraphicFramePr/>
          <p:nvPr/>
        </p:nvGraphicFramePr>
        <p:xfrm>
          <a:off x="243015" y="1357200"/>
          <a:ext cx="5852986" cy="53287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91" name="CustomShape 2"/>
          <p:cNvSpPr/>
          <p:nvPr/>
        </p:nvSpPr>
        <p:spPr>
          <a:xfrm>
            <a:off x="6096000" y="278627"/>
            <a:ext cx="6096000" cy="480498"/>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lnSpc>
                <a:spcPts val="5800"/>
              </a:lnSpc>
              <a:spcBef>
                <a:spcPct val="0"/>
              </a:spcBef>
            </a:pPr>
            <a:r>
              <a:rPr lang="es-PE" sz="3200" dirty="0">
                <a:solidFill>
                  <a:schemeClr val="bg1"/>
                </a:solidFill>
                <a:effectLst>
                  <a:outerShdw blurRad="63500" dist="38100" dir="5400000" algn="t" rotWithShape="0">
                    <a:prstClr val="black">
                      <a:alpha val="25000"/>
                    </a:prstClr>
                  </a:outerShdw>
                </a:effectLst>
                <a:latin typeface="Bauhaus 93" pitchFamily="82" charset="0"/>
              </a:rPr>
              <a:t>Problema 2</a:t>
            </a:r>
          </a:p>
        </p:txBody>
      </p:sp>
      <p:graphicFrame>
        <p:nvGraphicFramePr>
          <p:cNvPr id="4" name="1 Tabla">
            <a:extLst>
              <a:ext uri="{FF2B5EF4-FFF2-40B4-BE49-F238E27FC236}">
                <a16:creationId xmlns:a16="http://schemas.microsoft.com/office/drawing/2014/main" id="{B2F84FD6-4966-41FB-A04C-DAFFA491FB58}"/>
              </a:ext>
            </a:extLst>
          </p:cNvPr>
          <p:cNvGraphicFramePr>
            <a:graphicFrameLocks noGrp="1"/>
          </p:cNvGraphicFramePr>
          <p:nvPr/>
        </p:nvGraphicFramePr>
        <p:xfrm>
          <a:off x="6814880" y="1645690"/>
          <a:ext cx="4804916" cy="3810540"/>
        </p:xfrm>
        <a:graphic>
          <a:graphicData uri="http://schemas.openxmlformats.org/drawingml/2006/table">
            <a:tbl>
              <a:tblPr firstRow="1" bandRow="1">
                <a:tableStyleId>{5C22544A-7EE6-4342-B048-85BDC9FD1C3A}</a:tableStyleId>
              </a:tblPr>
              <a:tblGrid>
                <a:gridCol w="1233577">
                  <a:extLst>
                    <a:ext uri="{9D8B030D-6E8A-4147-A177-3AD203B41FA5}">
                      <a16:colId xmlns:a16="http://schemas.microsoft.com/office/drawing/2014/main" val="20000"/>
                    </a:ext>
                  </a:extLst>
                </a:gridCol>
                <a:gridCol w="1157757">
                  <a:extLst>
                    <a:ext uri="{9D8B030D-6E8A-4147-A177-3AD203B41FA5}">
                      <a16:colId xmlns:a16="http://schemas.microsoft.com/office/drawing/2014/main" val="20001"/>
                    </a:ext>
                  </a:extLst>
                </a:gridCol>
                <a:gridCol w="1206791">
                  <a:extLst>
                    <a:ext uri="{9D8B030D-6E8A-4147-A177-3AD203B41FA5}">
                      <a16:colId xmlns:a16="http://schemas.microsoft.com/office/drawing/2014/main" val="20002"/>
                    </a:ext>
                  </a:extLst>
                </a:gridCol>
                <a:gridCol w="1206791">
                  <a:extLst>
                    <a:ext uri="{9D8B030D-6E8A-4147-A177-3AD203B41FA5}">
                      <a16:colId xmlns:a16="http://schemas.microsoft.com/office/drawing/2014/main" val="20003"/>
                    </a:ext>
                  </a:extLst>
                </a:gridCol>
              </a:tblGrid>
              <a:tr h="1167131">
                <a:tc>
                  <a:txBody>
                    <a:bodyPr/>
                    <a:lstStyle/>
                    <a:p>
                      <a:pPr algn="ctr"/>
                      <a:r>
                        <a:rPr lang="es-ES" sz="2400" dirty="0"/>
                        <a:t>        A</a:t>
                      </a:r>
                    </a:p>
                    <a:p>
                      <a:pPr algn="ctr"/>
                      <a:endParaRPr lang="es-ES" sz="2400" dirty="0"/>
                    </a:p>
                    <a:p>
                      <a:r>
                        <a:rPr lang="es-ES" sz="2400" dirty="0"/>
                        <a:t>Desde</a:t>
                      </a:r>
                      <a:endParaRPr lang="es-PE" sz="2400" dirty="0"/>
                    </a:p>
                  </a:txBody>
                  <a:tcPr anchor="ctr"/>
                </a:tc>
                <a:tc>
                  <a:txBody>
                    <a:bodyPr/>
                    <a:lstStyle/>
                    <a:p>
                      <a:pPr algn="ctr"/>
                      <a:r>
                        <a:rPr lang="es-ES" sz="2400" dirty="0"/>
                        <a:t>Chosica</a:t>
                      </a:r>
                      <a:endParaRPr lang="es-PE" sz="2400" dirty="0"/>
                    </a:p>
                  </a:txBody>
                  <a:tcPr anchor="ctr"/>
                </a:tc>
                <a:tc>
                  <a:txBody>
                    <a:bodyPr/>
                    <a:lstStyle/>
                    <a:p>
                      <a:pPr algn="ctr"/>
                      <a:r>
                        <a:rPr lang="es-ES" sz="2400" dirty="0"/>
                        <a:t>Vitarte</a:t>
                      </a:r>
                      <a:endParaRPr lang="es-PE" sz="2400" dirty="0"/>
                    </a:p>
                  </a:txBody>
                  <a:tcPr anchor="ctr"/>
                </a:tc>
                <a:tc>
                  <a:txBody>
                    <a:bodyPr/>
                    <a:lstStyle/>
                    <a:p>
                      <a:pPr algn="ctr"/>
                      <a:r>
                        <a:rPr lang="es-ES" sz="2400" dirty="0"/>
                        <a:t>Comas</a:t>
                      </a:r>
                      <a:endParaRPr lang="es-PE" sz="2400" dirty="0"/>
                    </a:p>
                  </a:txBody>
                  <a:tcPr anchor="ctr"/>
                </a:tc>
                <a:extLst>
                  <a:ext uri="{0D108BD9-81ED-4DB2-BD59-A6C34878D82A}">
                    <a16:rowId xmlns:a16="http://schemas.microsoft.com/office/drawing/2014/main" val="10000"/>
                  </a:ext>
                </a:extLst>
              </a:tr>
              <a:tr h="873940">
                <a:tc>
                  <a:txBody>
                    <a:bodyPr/>
                    <a:lstStyle/>
                    <a:p>
                      <a:r>
                        <a:rPr lang="es-ES" sz="2400" dirty="0"/>
                        <a:t>Huaral</a:t>
                      </a:r>
                      <a:endParaRPr lang="es-PE" sz="2400" dirty="0"/>
                    </a:p>
                  </a:txBody>
                  <a:tcPr anchor="ctr"/>
                </a:tc>
                <a:tc>
                  <a:txBody>
                    <a:bodyPr/>
                    <a:lstStyle/>
                    <a:p>
                      <a:pPr algn="ctr"/>
                      <a:r>
                        <a:rPr lang="es-ES" sz="2400" dirty="0"/>
                        <a:t>50</a:t>
                      </a:r>
                      <a:endParaRPr lang="es-PE" sz="2400" dirty="0"/>
                    </a:p>
                  </a:txBody>
                  <a:tcPr anchor="ctr"/>
                </a:tc>
                <a:tc>
                  <a:txBody>
                    <a:bodyPr/>
                    <a:lstStyle/>
                    <a:p>
                      <a:pPr algn="ctr"/>
                      <a:r>
                        <a:rPr lang="es-ES" sz="2400" dirty="0"/>
                        <a:t>75</a:t>
                      </a:r>
                      <a:endParaRPr lang="es-PE" sz="2400" dirty="0"/>
                    </a:p>
                  </a:txBody>
                  <a:tcPr anchor="ctr"/>
                </a:tc>
                <a:tc>
                  <a:txBody>
                    <a:bodyPr/>
                    <a:lstStyle/>
                    <a:p>
                      <a:pPr algn="ctr"/>
                      <a:r>
                        <a:rPr lang="es-ES" sz="2400" dirty="0"/>
                        <a:t>60</a:t>
                      </a:r>
                      <a:endParaRPr lang="es-PE" sz="2400" dirty="0"/>
                    </a:p>
                  </a:txBody>
                  <a:tcPr anchor="ctr"/>
                </a:tc>
                <a:extLst>
                  <a:ext uri="{0D108BD9-81ED-4DB2-BD59-A6C34878D82A}">
                    <a16:rowId xmlns:a16="http://schemas.microsoft.com/office/drawing/2014/main" val="10001"/>
                  </a:ext>
                </a:extLst>
              </a:tr>
              <a:tr h="873940">
                <a:tc>
                  <a:txBody>
                    <a:bodyPr/>
                    <a:lstStyle/>
                    <a:p>
                      <a:r>
                        <a:rPr lang="es-ES" sz="2400" dirty="0"/>
                        <a:t>Cañete</a:t>
                      </a:r>
                      <a:endParaRPr lang="es-PE" sz="2400" dirty="0"/>
                    </a:p>
                  </a:txBody>
                  <a:tcPr anchor="ctr"/>
                </a:tc>
                <a:tc>
                  <a:txBody>
                    <a:bodyPr/>
                    <a:lstStyle/>
                    <a:p>
                      <a:pPr algn="ctr"/>
                      <a:r>
                        <a:rPr lang="es-ES" sz="2400" dirty="0"/>
                        <a:t>60</a:t>
                      </a:r>
                      <a:endParaRPr lang="es-PE" sz="2400" dirty="0"/>
                    </a:p>
                  </a:txBody>
                  <a:tcPr anchor="ctr"/>
                </a:tc>
                <a:tc>
                  <a:txBody>
                    <a:bodyPr/>
                    <a:lstStyle/>
                    <a:p>
                      <a:pPr algn="ctr"/>
                      <a:r>
                        <a:rPr lang="es-ES" sz="2400" dirty="0"/>
                        <a:t>90</a:t>
                      </a:r>
                      <a:endParaRPr lang="es-PE" sz="2400" dirty="0"/>
                    </a:p>
                  </a:txBody>
                  <a:tcPr anchor="ctr"/>
                </a:tc>
                <a:tc>
                  <a:txBody>
                    <a:bodyPr/>
                    <a:lstStyle/>
                    <a:p>
                      <a:pPr algn="ctr"/>
                      <a:r>
                        <a:rPr lang="es-ES" sz="2400" dirty="0"/>
                        <a:t>45</a:t>
                      </a:r>
                      <a:endParaRPr lang="es-PE" sz="2400" dirty="0"/>
                    </a:p>
                  </a:txBody>
                  <a:tcPr anchor="ctr"/>
                </a:tc>
                <a:extLst>
                  <a:ext uri="{0D108BD9-81ED-4DB2-BD59-A6C34878D82A}">
                    <a16:rowId xmlns:a16="http://schemas.microsoft.com/office/drawing/2014/main" val="10002"/>
                  </a:ext>
                </a:extLst>
              </a:tr>
              <a:tr h="873940">
                <a:tc>
                  <a:txBody>
                    <a:bodyPr/>
                    <a:lstStyle/>
                    <a:p>
                      <a:r>
                        <a:rPr lang="es-ES" sz="2400" dirty="0"/>
                        <a:t>Ingresos ($/</a:t>
                      </a:r>
                      <a:r>
                        <a:rPr lang="es-ES" sz="2400" dirty="0" err="1"/>
                        <a:t>Tn</a:t>
                      </a:r>
                      <a:r>
                        <a:rPr lang="es-ES" sz="2400" dirty="0"/>
                        <a:t>)</a:t>
                      </a:r>
                      <a:endParaRPr lang="es-PE" sz="2400" dirty="0"/>
                    </a:p>
                  </a:txBody>
                  <a:tcPr anchor="ctr"/>
                </a:tc>
                <a:tc>
                  <a:txBody>
                    <a:bodyPr/>
                    <a:lstStyle/>
                    <a:p>
                      <a:pPr algn="ctr"/>
                      <a:r>
                        <a:rPr lang="es-ES" sz="2400" dirty="0"/>
                        <a:t>550</a:t>
                      </a:r>
                      <a:endParaRPr lang="es-PE" sz="2400" dirty="0"/>
                    </a:p>
                  </a:txBody>
                  <a:tcPr anchor="ctr"/>
                </a:tc>
                <a:tc>
                  <a:txBody>
                    <a:bodyPr/>
                    <a:lstStyle/>
                    <a:p>
                      <a:pPr algn="ctr"/>
                      <a:r>
                        <a:rPr lang="es-ES" sz="2400" dirty="0"/>
                        <a:t>750</a:t>
                      </a:r>
                      <a:endParaRPr lang="es-PE" sz="2400" dirty="0"/>
                    </a:p>
                  </a:txBody>
                  <a:tcPr anchor="ctr"/>
                </a:tc>
                <a:tc>
                  <a:txBody>
                    <a:bodyPr/>
                    <a:lstStyle/>
                    <a:p>
                      <a:pPr algn="ctr"/>
                      <a:r>
                        <a:rPr lang="es-ES" sz="2400" dirty="0"/>
                        <a:t>600</a:t>
                      </a:r>
                      <a:endParaRPr lang="es-PE" sz="2400" dirty="0"/>
                    </a:p>
                  </a:txBody>
                  <a:tcPr anchor="ctr"/>
                </a:tc>
                <a:extLst>
                  <a:ext uri="{0D108BD9-81ED-4DB2-BD59-A6C34878D82A}">
                    <a16:rowId xmlns:a16="http://schemas.microsoft.com/office/drawing/2014/main" val="10003"/>
                  </a:ext>
                </a:extLst>
              </a:tr>
            </a:tbl>
          </a:graphicData>
        </a:graphic>
      </p:graphicFrame>
      <p:cxnSp>
        <p:nvCxnSpPr>
          <p:cNvPr id="5" name="Conector recto 4">
            <a:extLst>
              <a:ext uri="{FF2B5EF4-FFF2-40B4-BE49-F238E27FC236}">
                <a16:creationId xmlns:a16="http://schemas.microsoft.com/office/drawing/2014/main" id="{D84D5642-F4C2-421C-8832-B88FDC526599}"/>
              </a:ext>
            </a:extLst>
          </p:cNvPr>
          <p:cNvCxnSpPr>
            <a:cxnSpLocks/>
          </p:cNvCxnSpPr>
          <p:nvPr/>
        </p:nvCxnSpPr>
        <p:spPr>
          <a:xfrm>
            <a:off x="6797618" y="1639020"/>
            <a:ext cx="1268080" cy="1199071"/>
          </a:xfrm>
          <a:prstGeom prst="line">
            <a:avLst/>
          </a:prstGeom>
          <a:ln w="12700">
            <a:solidFill>
              <a:schemeClr val="bg1"/>
            </a:solidFill>
          </a:ln>
        </p:spPr>
        <p:style>
          <a:lnRef idx="1">
            <a:schemeClr val="accent4"/>
          </a:lnRef>
          <a:fillRef idx="0">
            <a:schemeClr val="accent4"/>
          </a:fillRef>
          <a:effectRef idx="0">
            <a:schemeClr val="accent4"/>
          </a:effectRef>
          <a:fontRef idx="minor">
            <a:schemeClr val="tx1"/>
          </a:fontRef>
        </p:style>
      </p:cxnSp>
      <p:sp>
        <p:nvSpPr>
          <p:cNvPr id="3" name="Rectángulo 2">
            <a:extLst>
              <a:ext uri="{FF2B5EF4-FFF2-40B4-BE49-F238E27FC236}">
                <a16:creationId xmlns:a16="http://schemas.microsoft.com/office/drawing/2014/main" id="{CC87B50D-6005-4FD7-9538-1BA1A9A92116}"/>
              </a:ext>
            </a:extLst>
          </p:cNvPr>
          <p:cNvSpPr/>
          <p:nvPr/>
        </p:nvSpPr>
        <p:spPr>
          <a:xfrm>
            <a:off x="6832122" y="1208501"/>
            <a:ext cx="4779034" cy="461665"/>
          </a:xfrm>
          <a:prstGeom prst="rect">
            <a:avLst/>
          </a:prstGeom>
        </p:spPr>
        <p:txBody>
          <a:bodyPr wrap="square">
            <a:spAutoFit/>
          </a:bodyPr>
          <a:lstStyle/>
          <a:p>
            <a:pPr lvl="0" algn="ctr"/>
            <a:r>
              <a:rPr lang="es-PE" sz="2400" dirty="0"/>
              <a:t>Costo de transporte</a:t>
            </a:r>
            <a:r>
              <a:rPr lang="es-ES" sz="2400" dirty="0"/>
              <a:t>($/</a:t>
            </a:r>
            <a:r>
              <a:rPr lang="es-ES" sz="2400" dirty="0" err="1"/>
              <a:t>Tn</a:t>
            </a:r>
            <a:r>
              <a:rPr lang="es-ES" sz="2400" dirty="0"/>
              <a:t>)</a:t>
            </a:r>
            <a:r>
              <a:rPr lang="es-PE" sz="2400" dirty="0"/>
              <a:t> </a:t>
            </a:r>
          </a:p>
        </p:txBody>
      </p:sp>
    </p:spTree>
    <p:extLst>
      <p:ext uri="{BB962C8B-B14F-4D97-AF65-F5344CB8AC3E}">
        <p14:creationId xmlns:p14="http://schemas.microsoft.com/office/powerpoint/2010/main" val="478728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4" name="Group 1"/>
          <p:cNvGrpSpPr/>
          <p:nvPr/>
        </p:nvGrpSpPr>
        <p:grpSpPr>
          <a:xfrm>
            <a:off x="74880" y="1286013"/>
            <a:ext cx="5845881" cy="4833678"/>
            <a:chOff x="981720" y="1318680"/>
            <a:chExt cx="6551592" cy="5493533"/>
          </a:xfrm>
        </p:grpSpPr>
        <p:sp>
          <p:nvSpPr>
            <p:cNvPr id="795" name="CustomShape 2"/>
            <p:cNvSpPr/>
            <p:nvPr/>
          </p:nvSpPr>
          <p:spPr>
            <a:xfrm>
              <a:off x="981720" y="3539502"/>
              <a:ext cx="1553400" cy="63936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z="1100" b="1" i="1" spc="-1" dirty="0">
                  <a:solidFill>
                    <a:schemeClr val="bg2">
                      <a:lumMod val="25000"/>
                    </a:schemeClr>
                  </a:solidFill>
                  <a:latin typeface="Arial"/>
                  <a:ea typeface="ＭＳ 明朝"/>
                </a:rPr>
                <a:t>      </a:t>
              </a:r>
              <a:r>
                <a:rPr lang="es-PE" b="1" i="1" spc="-1" dirty="0">
                  <a:solidFill>
                    <a:schemeClr val="bg2">
                      <a:lumMod val="25000"/>
                    </a:schemeClr>
                  </a:solidFill>
                  <a:latin typeface="Arial"/>
                  <a:ea typeface="ＭＳ 明朝"/>
                </a:rPr>
                <a:t>HUARAL</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20000</a:t>
              </a:r>
              <a:endParaRPr lang="es-PE" spc="-1" dirty="0">
                <a:solidFill>
                  <a:schemeClr val="bg2">
                    <a:lumMod val="25000"/>
                  </a:schemeClr>
                </a:solidFill>
                <a:latin typeface="Arial"/>
              </a:endParaRPr>
            </a:p>
          </p:txBody>
        </p:sp>
        <p:sp>
          <p:nvSpPr>
            <p:cNvPr id="796" name="CustomShape 3"/>
            <p:cNvSpPr/>
            <p:nvPr/>
          </p:nvSpPr>
          <p:spPr>
            <a:xfrm>
              <a:off x="1046520" y="5441459"/>
              <a:ext cx="1357008" cy="732910"/>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sz="1100" b="1" i="1" spc="-1" dirty="0">
                  <a:solidFill>
                    <a:schemeClr val="bg2">
                      <a:lumMod val="25000"/>
                    </a:schemeClr>
                  </a:solidFill>
                  <a:latin typeface="Arial"/>
                  <a:ea typeface="ＭＳ 明朝"/>
                </a:rPr>
                <a:t>  </a:t>
              </a:r>
              <a:r>
                <a:rPr lang="es-PE" b="1" i="1" spc="-1" dirty="0">
                  <a:solidFill>
                    <a:schemeClr val="bg2">
                      <a:lumMod val="25000"/>
                    </a:schemeClr>
                  </a:solidFill>
                  <a:latin typeface="Arial"/>
                  <a:ea typeface="ＭＳ 明朝"/>
                </a:rPr>
                <a:t>CAÑETE</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12000</a:t>
              </a:r>
              <a:endParaRPr lang="es-PE" spc="-1" dirty="0">
                <a:solidFill>
                  <a:schemeClr val="bg2">
                    <a:lumMod val="25000"/>
                  </a:schemeClr>
                </a:solidFill>
                <a:latin typeface="Arial"/>
              </a:endParaRPr>
            </a:p>
          </p:txBody>
        </p:sp>
        <p:grpSp>
          <p:nvGrpSpPr>
            <p:cNvPr id="797" name="Group 4"/>
            <p:cNvGrpSpPr/>
            <p:nvPr/>
          </p:nvGrpSpPr>
          <p:grpSpPr>
            <a:xfrm>
              <a:off x="1745641" y="1318680"/>
              <a:ext cx="5787671" cy="5493533"/>
              <a:chOff x="1745641" y="1318680"/>
              <a:chExt cx="5787671" cy="5493533"/>
            </a:xfrm>
          </p:grpSpPr>
          <p:sp>
            <p:nvSpPr>
              <p:cNvPr id="798" name="CustomShape 5"/>
              <p:cNvSpPr/>
              <p:nvPr/>
            </p:nvSpPr>
            <p:spPr>
              <a:xfrm>
                <a:off x="2387520" y="5577840"/>
                <a:ext cx="414000" cy="42480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799" name="CustomShape 6"/>
              <p:cNvSpPr/>
              <p:nvPr/>
            </p:nvSpPr>
            <p:spPr>
              <a:xfrm>
                <a:off x="5650920" y="2967120"/>
                <a:ext cx="414000" cy="42480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800" name="CustomShape 7"/>
              <p:cNvSpPr/>
              <p:nvPr/>
            </p:nvSpPr>
            <p:spPr>
              <a:xfrm>
                <a:off x="2387520" y="3635640"/>
                <a:ext cx="414000" cy="42480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801" name="CustomShape 8"/>
              <p:cNvSpPr/>
              <p:nvPr/>
            </p:nvSpPr>
            <p:spPr>
              <a:xfrm>
                <a:off x="5650920" y="4506480"/>
                <a:ext cx="414000" cy="42480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802" name="CustomShape 9"/>
              <p:cNvSpPr/>
              <p:nvPr/>
            </p:nvSpPr>
            <p:spPr>
              <a:xfrm>
                <a:off x="5671080" y="6221329"/>
                <a:ext cx="414000" cy="42480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803" name="Line 10"/>
              <p:cNvSpPr/>
              <p:nvPr/>
            </p:nvSpPr>
            <p:spPr>
              <a:xfrm flipV="1">
                <a:off x="2798568" y="3233880"/>
                <a:ext cx="2870280" cy="559440"/>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804" name="Line 11"/>
              <p:cNvSpPr/>
              <p:nvPr/>
            </p:nvSpPr>
            <p:spPr>
              <a:xfrm>
                <a:off x="2816856" y="3903840"/>
                <a:ext cx="2805480" cy="736560"/>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805" name="Line 12"/>
              <p:cNvSpPr/>
              <p:nvPr/>
            </p:nvSpPr>
            <p:spPr>
              <a:xfrm>
                <a:off x="2761992" y="4036680"/>
                <a:ext cx="3001320" cy="2209320"/>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806" name="Line 13"/>
              <p:cNvSpPr/>
              <p:nvPr/>
            </p:nvSpPr>
            <p:spPr>
              <a:xfrm flipV="1">
                <a:off x="2714040" y="3301920"/>
                <a:ext cx="2936520" cy="2327400"/>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807" name="Line 14"/>
              <p:cNvSpPr/>
              <p:nvPr/>
            </p:nvSpPr>
            <p:spPr>
              <a:xfrm flipV="1">
                <a:off x="2780280" y="4773240"/>
                <a:ext cx="2870280" cy="916560"/>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808" name="Line 15"/>
              <p:cNvSpPr/>
              <p:nvPr/>
            </p:nvSpPr>
            <p:spPr>
              <a:xfrm>
                <a:off x="2816856" y="5826312"/>
                <a:ext cx="2870280" cy="535680"/>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810" name="CustomShape 17"/>
              <p:cNvSpPr/>
              <p:nvPr/>
            </p:nvSpPr>
            <p:spPr>
              <a:xfrm>
                <a:off x="3267720" y="3094497"/>
                <a:ext cx="914760" cy="521766"/>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z="2800" b="1" spc="-1">
                    <a:solidFill>
                      <a:schemeClr val="bg2">
                        <a:lumMod val="25000"/>
                      </a:schemeClr>
                    </a:solidFill>
                    <a:latin typeface="Arial"/>
                    <a:ea typeface="ＭＳ 明朝"/>
                  </a:rPr>
                  <a:t>X11</a:t>
                </a:r>
                <a:endParaRPr lang="es-PE" sz="2800" spc="-1">
                  <a:solidFill>
                    <a:schemeClr val="bg2">
                      <a:lumMod val="25000"/>
                    </a:schemeClr>
                  </a:solidFill>
                  <a:latin typeface="Arial"/>
                </a:endParaRPr>
              </a:p>
            </p:txBody>
          </p:sp>
          <p:sp>
            <p:nvSpPr>
              <p:cNvPr id="811" name="CustomShape 18"/>
              <p:cNvSpPr/>
              <p:nvPr/>
            </p:nvSpPr>
            <p:spPr>
              <a:xfrm>
                <a:off x="6133248" y="4285174"/>
                <a:ext cx="1317768" cy="732910"/>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sz="1100" b="1" i="1" spc="-1" dirty="0">
                    <a:solidFill>
                      <a:schemeClr val="bg2">
                        <a:lumMod val="25000"/>
                      </a:schemeClr>
                    </a:solidFill>
                    <a:latin typeface="Arial"/>
                    <a:ea typeface="ＭＳ 明朝"/>
                  </a:rPr>
                  <a:t> </a:t>
                </a:r>
                <a:r>
                  <a:rPr lang="es-PE" b="1" i="1" spc="-1" dirty="0">
                    <a:solidFill>
                      <a:schemeClr val="bg2">
                        <a:lumMod val="25000"/>
                      </a:schemeClr>
                    </a:solidFill>
                    <a:latin typeface="Arial"/>
                    <a:ea typeface="ＭＳ 明朝"/>
                  </a:rPr>
                  <a:t>VITARTE</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11000</a:t>
                </a:r>
                <a:endParaRPr lang="es-PE" spc="-1" dirty="0">
                  <a:solidFill>
                    <a:schemeClr val="bg2">
                      <a:lumMod val="25000"/>
                    </a:schemeClr>
                  </a:solidFill>
                  <a:latin typeface="Arial"/>
                </a:endParaRPr>
              </a:p>
            </p:txBody>
          </p:sp>
          <p:sp>
            <p:nvSpPr>
              <p:cNvPr id="812" name="CustomShape 19"/>
              <p:cNvSpPr/>
              <p:nvPr/>
            </p:nvSpPr>
            <p:spPr>
              <a:xfrm>
                <a:off x="6127200" y="6079303"/>
                <a:ext cx="1387824" cy="732910"/>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b="1" i="1" spc="-1" dirty="0">
                    <a:solidFill>
                      <a:schemeClr val="bg2">
                        <a:lumMod val="25000"/>
                      </a:schemeClr>
                    </a:solidFill>
                    <a:latin typeface="Arial"/>
                    <a:ea typeface="ＭＳ 明朝"/>
                  </a:rPr>
                  <a:t>COMAS</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11000</a:t>
                </a:r>
                <a:endParaRPr lang="es-PE" spc="-1" dirty="0">
                  <a:solidFill>
                    <a:schemeClr val="bg2">
                      <a:lumMod val="25000"/>
                    </a:schemeClr>
                  </a:solidFill>
                  <a:latin typeface="Arial"/>
                </a:endParaRPr>
              </a:p>
            </p:txBody>
          </p:sp>
          <p:sp>
            <p:nvSpPr>
              <p:cNvPr id="813" name="CustomShape 20"/>
              <p:cNvSpPr/>
              <p:nvPr/>
            </p:nvSpPr>
            <p:spPr>
              <a:xfrm>
                <a:off x="6097704" y="2820499"/>
                <a:ext cx="1435608" cy="732910"/>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b="1" i="1" spc="-1" dirty="0">
                    <a:solidFill>
                      <a:schemeClr val="bg2">
                        <a:lumMod val="25000"/>
                      </a:schemeClr>
                    </a:solidFill>
                    <a:latin typeface="Arial"/>
                    <a:ea typeface="ＭＳ 明朝"/>
                  </a:rPr>
                  <a:t>CHOSICA</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8000</a:t>
                </a:r>
                <a:endParaRPr lang="es-PE" spc="-1" dirty="0">
                  <a:solidFill>
                    <a:schemeClr val="bg2">
                      <a:lumMod val="25000"/>
                    </a:schemeClr>
                  </a:solidFill>
                  <a:latin typeface="Arial"/>
                </a:endParaRPr>
              </a:p>
            </p:txBody>
          </p:sp>
          <p:sp>
            <p:nvSpPr>
              <p:cNvPr id="814" name="CustomShape 21"/>
              <p:cNvSpPr/>
              <p:nvPr/>
            </p:nvSpPr>
            <p:spPr>
              <a:xfrm>
                <a:off x="1745641" y="1318680"/>
                <a:ext cx="5387874" cy="101520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80000"/>
                  </a:lnSpc>
                </a:pPr>
                <a:r>
                  <a:rPr lang="es-PE" sz="2400" b="1" i="1" spc="-1" dirty="0">
                    <a:solidFill>
                      <a:schemeClr val="bg2">
                        <a:lumMod val="25000"/>
                      </a:schemeClr>
                    </a:solidFill>
                    <a:latin typeface="Verdana"/>
                  </a:rPr>
                  <a:t>ORIGEN 		DESTINO </a:t>
                </a:r>
                <a:br>
                  <a:rPr dirty="0">
                    <a:solidFill>
                      <a:schemeClr val="bg2">
                        <a:lumMod val="25000"/>
                      </a:schemeClr>
                    </a:solidFill>
                  </a:rPr>
                </a:br>
                <a:r>
                  <a:rPr lang="es-PE" sz="2400" b="1" i="1" spc="-1" dirty="0">
                    <a:solidFill>
                      <a:schemeClr val="bg2">
                        <a:lumMod val="25000"/>
                      </a:schemeClr>
                    </a:solidFill>
                    <a:latin typeface="Verdana"/>
                  </a:rPr>
                  <a:t>(Huerto) 	         (planta)</a:t>
                </a:r>
                <a:endParaRPr lang="es-PE" sz="2400" spc="-1" dirty="0">
                  <a:solidFill>
                    <a:schemeClr val="bg2">
                      <a:lumMod val="25000"/>
                    </a:schemeClr>
                  </a:solidFill>
                  <a:latin typeface="Arial"/>
                </a:endParaRPr>
              </a:p>
            </p:txBody>
          </p:sp>
          <p:sp>
            <p:nvSpPr>
              <p:cNvPr id="815" name="CustomShape 22"/>
              <p:cNvSpPr/>
              <p:nvPr/>
            </p:nvSpPr>
            <p:spPr>
              <a:xfrm>
                <a:off x="3270352" y="3616054"/>
                <a:ext cx="914760" cy="521766"/>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z="2800" b="1" spc="-1" dirty="0" err="1">
                    <a:solidFill>
                      <a:schemeClr val="bg2">
                        <a:lumMod val="25000"/>
                      </a:schemeClr>
                    </a:solidFill>
                    <a:latin typeface="Arial"/>
                    <a:ea typeface="ＭＳ 明朝"/>
                  </a:rPr>
                  <a:t>X12</a:t>
                </a:r>
                <a:endParaRPr lang="es-PE" sz="2800" spc="-1" dirty="0">
                  <a:solidFill>
                    <a:schemeClr val="bg2">
                      <a:lumMod val="25000"/>
                    </a:schemeClr>
                  </a:solidFill>
                  <a:latin typeface="Arial"/>
                </a:endParaRPr>
              </a:p>
            </p:txBody>
          </p:sp>
          <p:sp>
            <p:nvSpPr>
              <p:cNvPr id="816" name="CustomShape 23"/>
              <p:cNvSpPr/>
              <p:nvPr/>
            </p:nvSpPr>
            <p:spPr>
              <a:xfrm>
                <a:off x="3267720" y="4090977"/>
                <a:ext cx="946800" cy="521766"/>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z="2800" b="1" spc="-1">
                    <a:solidFill>
                      <a:schemeClr val="bg2">
                        <a:lumMod val="25000"/>
                      </a:schemeClr>
                    </a:solidFill>
                    <a:latin typeface="Arial"/>
                    <a:ea typeface="ＭＳ 明朝"/>
                  </a:rPr>
                  <a:t>X13</a:t>
                </a:r>
                <a:endParaRPr lang="es-PE" sz="2800" spc="-1">
                  <a:solidFill>
                    <a:schemeClr val="bg2">
                      <a:lumMod val="25000"/>
                    </a:schemeClr>
                  </a:solidFill>
                  <a:latin typeface="Arial"/>
                </a:endParaRPr>
              </a:p>
            </p:txBody>
          </p:sp>
          <p:sp>
            <p:nvSpPr>
              <p:cNvPr id="817" name="CustomShape 24"/>
              <p:cNvSpPr/>
              <p:nvPr/>
            </p:nvSpPr>
            <p:spPr>
              <a:xfrm>
                <a:off x="2459880" y="3642840"/>
                <a:ext cx="282619"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1</a:t>
                </a:r>
                <a:endParaRPr lang="es-PE" sz="2000" spc="-1">
                  <a:solidFill>
                    <a:schemeClr val="bg2">
                      <a:lumMod val="25000"/>
                    </a:schemeClr>
                  </a:solidFill>
                  <a:latin typeface="Arial"/>
                </a:endParaRPr>
              </a:p>
            </p:txBody>
          </p:sp>
          <p:sp>
            <p:nvSpPr>
              <p:cNvPr id="818" name="CustomShape 25"/>
              <p:cNvSpPr/>
              <p:nvPr/>
            </p:nvSpPr>
            <p:spPr>
              <a:xfrm>
                <a:off x="5706720" y="4572720"/>
                <a:ext cx="301855"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2</a:t>
                </a:r>
                <a:endParaRPr lang="es-PE" sz="2000" spc="-1">
                  <a:solidFill>
                    <a:schemeClr val="bg2">
                      <a:lumMod val="25000"/>
                    </a:schemeClr>
                  </a:solidFill>
                  <a:latin typeface="Arial"/>
                </a:endParaRPr>
              </a:p>
            </p:txBody>
          </p:sp>
          <p:sp>
            <p:nvSpPr>
              <p:cNvPr id="819" name="CustomShape 26"/>
              <p:cNvSpPr/>
              <p:nvPr/>
            </p:nvSpPr>
            <p:spPr>
              <a:xfrm>
                <a:off x="2469600" y="5635440"/>
                <a:ext cx="301855"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2</a:t>
                </a:r>
                <a:endParaRPr lang="es-PE" sz="2000" spc="-1">
                  <a:solidFill>
                    <a:schemeClr val="bg2">
                      <a:lumMod val="25000"/>
                    </a:schemeClr>
                  </a:solidFill>
                  <a:latin typeface="Arial"/>
                </a:endParaRPr>
              </a:p>
            </p:txBody>
          </p:sp>
          <p:sp>
            <p:nvSpPr>
              <p:cNvPr id="820" name="CustomShape 27"/>
              <p:cNvSpPr/>
              <p:nvPr/>
            </p:nvSpPr>
            <p:spPr>
              <a:xfrm>
                <a:off x="5697000" y="2979000"/>
                <a:ext cx="282619"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1</a:t>
                </a:r>
                <a:endParaRPr lang="es-PE" sz="2000" spc="-1">
                  <a:solidFill>
                    <a:schemeClr val="bg2">
                      <a:lumMod val="25000"/>
                    </a:schemeClr>
                  </a:solidFill>
                  <a:latin typeface="Arial"/>
                </a:endParaRPr>
              </a:p>
            </p:txBody>
          </p:sp>
          <p:sp>
            <p:nvSpPr>
              <p:cNvPr id="821" name="CustomShape 28"/>
              <p:cNvSpPr/>
              <p:nvPr/>
            </p:nvSpPr>
            <p:spPr>
              <a:xfrm>
                <a:off x="5771520" y="6233040"/>
                <a:ext cx="301855"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dirty="0">
                    <a:solidFill>
                      <a:schemeClr val="bg2">
                        <a:lumMod val="25000"/>
                      </a:schemeClr>
                    </a:solidFill>
                    <a:latin typeface="Garamond"/>
                  </a:rPr>
                  <a:t>3</a:t>
                </a:r>
                <a:endParaRPr lang="es-PE" sz="2000" spc="-1" dirty="0">
                  <a:solidFill>
                    <a:schemeClr val="bg2">
                      <a:lumMod val="25000"/>
                    </a:schemeClr>
                  </a:solidFill>
                  <a:latin typeface="Arial"/>
                </a:endParaRPr>
              </a:p>
            </p:txBody>
          </p:sp>
        </p:grpSp>
      </p:grpSp>
      <p:sp>
        <p:nvSpPr>
          <p:cNvPr id="822" name="TextShape 29"/>
          <p:cNvSpPr txBox="1"/>
          <p:nvPr/>
        </p:nvSpPr>
        <p:spPr>
          <a:xfrm>
            <a:off x="6096000" y="290213"/>
            <a:ext cx="6096000" cy="496172"/>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defPPr>
              <a:defRPr lang="es-ES"/>
            </a:defPPr>
            <a:lvl1pPr algn="ctr">
              <a:lnSpc>
                <a:spcPts val="5800"/>
              </a:lnSpc>
              <a:spcBef>
                <a:spcPct val="0"/>
              </a:spcBef>
              <a:defRPr sz="3200">
                <a:solidFill>
                  <a:schemeClr val="bg1"/>
                </a:solidFill>
                <a:effectLst>
                  <a:outerShdw blurRad="63500" dist="38100" dir="5400000" algn="t" rotWithShape="0">
                    <a:prstClr val="black">
                      <a:alpha val="25000"/>
                    </a:prstClr>
                  </a:outerShdw>
                </a:effectLst>
                <a:latin typeface="Bauhaus 93" pitchFamily="82" charset="0"/>
              </a:defRPr>
            </a:lvl1pPr>
          </a:lstStyle>
          <a:p>
            <a:r>
              <a:rPr lang="en-US" dirty="0"/>
              <a:t>Red</a:t>
            </a:r>
          </a:p>
        </p:txBody>
      </p:sp>
      <p:sp>
        <p:nvSpPr>
          <p:cNvPr id="30" name="TextShape 2">
            <a:extLst>
              <a:ext uri="{FF2B5EF4-FFF2-40B4-BE49-F238E27FC236}">
                <a16:creationId xmlns:a16="http://schemas.microsoft.com/office/drawing/2014/main" id="{55D77BB8-744E-4EFA-9EC9-731A1D0B91FE}"/>
              </a:ext>
            </a:extLst>
          </p:cNvPr>
          <p:cNvSpPr txBox="1"/>
          <p:nvPr/>
        </p:nvSpPr>
        <p:spPr>
          <a:xfrm>
            <a:off x="6096000" y="1268760"/>
            <a:ext cx="2898485" cy="5589240"/>
          </a:xfrm>
          <a:prstGeom prst="rect">
            <a:avLst/>
          </a:prstGeom>
          <a:solidFill>
            <a:schemeClr val="accent2">
              <a:lumMod val="40000"/>
              <a:lumOff val="60000"/>
            </a:schemeClr>
          </a:solidFill>
          <a:ln w="9360">
            <a:noFill/>
          </a:ln>
        </p:spPr>
        <p:txBody>
          <a:bodyPr>
            <a:noAutofit/>
          </a:bodyPr>
          <a:lstStyle/>
          <a:p>
            <a:pPr marL="343080" indent="-342720">
              <a:lnSpc>
                <a:spcPct val="200000"/>
              </a:lnSpc>
              <a:spcBef>
                <a:spcPts val="561"/>
              </a:spcBef>
            </a:pPr>
            <a:r>
              <a:rPr lang="es-ES" sz="2000" spc="-1" dirty="0">
                <a:latin typeface="Arial Narrow" panose="020B0606020202030204" pitchFamily="34" charset="0"/>
              </a:rPr>
              <a:t>CALCULO DE LA UTILIDAD</a:t>
            </a:r>
          </a:p>
          <a:p>
            <a:pPr marL="343080" indent="-342720">
              <a:lnSpc>
                <a:spcPct val="200000"/>
              </a:lnSpc>
              <a:spcBef>
                <a:spcPts val="561"/>
              </a:spcBef>
            </a:pPr>
            <a:r>
              <a:rPr lang="es-ES" sz="2000" b="1" spc="-1" dirty="0">
                <a:latin typeface="Arial Narrow" panose="020B0606020202030204" pitchFamily="34" charset="0"/>
              </a:rPr>
              <a:t>Utilidad= Ingreso – Gastos</a:t>
            </a:r>
          </a:p>
          <a:p>
            <a:pPr marL="343080" indent="-342720">
              <a:lnSpc>
                <a:spcPct val="200000"/>
              </a:lnSpc>
              <a:spcBef>
                <a:spcPts val="561"/>
              </a:spcBef>
            </a:pPr>
            <a:r>
              <a:rPr lang="es-ES" sz="2000" spc="-1" dirty="0" err="1">
                <a:latin typeface="Arial Narrow" panose="020B0606020202030204" pitchFamily="34" charset="0"/>
              </a:rPr>
              <a:t>U11</a:t>
            </a:r>
            <a:r>
              <a:rPr lang="es-ES" sz="2000" spc="-1" dirty="0">
                <a:latin typeface="Arial Narrow" panose="020B0606020202030204" pitchFamily="34" charset="0"/>
              </a:rPr>
              <a:t>= 550 – 50 = 500 $/TN.</a:t>
            </a:r>
          </a:p>
          <a:p>
            <a:pPr marL="343080" indent="-342720">
              <a:lnSpc>
                <a:spcPct val="200000"/>
              </a:lnSpc>
              <a:spcBef>
                <a:spcPts val="561"/>
              </a:spcBef>
            </a:pPr>
            <a:r>
              <a:rPr lang="es-ES" sz="2000" spc="-1" dirty="0">
                <a:latin typeface="Arial Narrow" panose="020B0606020202030204" pitchFamily="34" charset="0"/>
              </a:rPr>
              <a:t>	</a:t>
            </a:r>
          </a:p>
          <a:p>
            <a:pPr marL="343080" indent="-342720">
              <a:lnSpc>
                <a:spcPct val="200000"/>
              </a:lnSpc>
              <a:spcBef>
                <a:spcPts val="561"/>
              </a:spcBef>
            </a:pPr>
            <a:r>
              <a:rPr lang="es-ES" sz="2000" spc="-1" dirty="0" err="1">
                <a:latin typeface="Arial Narrow" panose="020B0606020202030204" pitchFamily="34" charset="0"/>
              </a:rPr>
              <a:t>U12</a:t>
            </a:r>
            <a:r>
              <a:rPr lang="es-ES" sz="2000" spc="-1" dirty="0">
                <a:latin typeface="Arial Narrow" panose="020B0606020202030204" pitchFamily="34" charset="0"/>
              </a:rPr>
              <a:t>= 750 – 75 = 675 $/TN.</a:t>
            </a:r>
          </a:p>
          <a:p>
            <a:pPr marL="343080" indent="-342720">
              <a:lnSpc>
                <a:spcPct val="200000"/>
              </a:lnSpc>
              <a:spcBef>
                <a:spcPts val="561"/>
              </a:spcBef>
            </a:pPr>
            <a:endParaRPr lang="es-ES" sz="2000" spc="-1" dirty="0">
              <a:latin typeface="Arial Narrow" panose="020B0606020202030204" pitchFamily="34" charset="0"/>
            </a:endParaRPr>
          </a:p>
          <a:p>
            <a:pPr marL="343080" indent="-342720">
              <a:lnSpc>
                <a:spcPct val="200000"/>
              </a:lnSpc>
              <a:spcBef>
                <a:spcPts val="561"/>
              </a:spcBef>
            </a:pPr>
            <a:r>
              <a:rPr lang="es-ES" sz="2000" spc="-1" dirty="0" err="1">
                <a:latin typeface="Arial Narrow" panose="020B0606020202030204" pitchFamily="34" charset="0"/>
              </a:rPr>
              <a:t>U13</a:t>
            </a:r>
            <a:r>
              <a:rPr lang="es-ES" sz="2000" spc="-1" dirty="0">
                <a:latin typeface="Arial Narrow" panose="020B0606020202030204" pitchFamily="34" charset="0"/>
              </a:rPr>
              <a:t>= 600 – 60 = 540 $/TN.</a:t>
            </a:r>
          </a:p>
          <a:p>
            <a:pPr marL="343080" indent="-342720">
              <a:lnSpc>
                <a:spcPct val="200000"/>
              </a:lnSpc>
              <a:spcBef>
                <a:spcPts val="561"/>
              </a:spcBef>
            </a:pPr>
            <a:endParaRPr lang="es-ES" sz="2000" spc="-1" dirty="0">
              <a:latin typeface="Arial Narrow" panose="020B0606020202030204" pitchFamily="34" charset="0"/>
            </a:endParaRPr>
          </a:p>
        </p:txBody>
      </p:sp>
      <p:sp>
        <p:nvSpPr>
          <p:cNvPr id="31" name="CustomShape 3">
            <a:extLst>
              <a:ext uri="{FF2B5EF4-FFF2-40B4-BE49-F238E27FC236}">
                <a16:creationId xmlns:a16="http://schemas.microsoft.com/office/drawing/2014/main" id="{FC629C98-8C3E-4CFF-8749-18731CCC9E5B}"/>
              </a:ext>
            </a:extLst>
          </p:cNvPr>
          <p:cNvSpPr/>
          <p:nvPr/>
        </p:nvSpPr>
        <p:spPr>
          <a:xfrm>
            <a:off x="9435901" y="1700280"/>
            <a:ext cx="2376000" cy="36648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sp>
        <p:nvSpPr>
          <p:cNvPr id="32" name="TextShape 2">
            <a:extLst>
              <a:ext uri="{FF2B5EF4-FFF2-40B4-BE49-F238E27FC236}">
                <a16:creationId xmlns:a16="http://schemas.microsoft.com/office/drawing/2014/main" id="{8B19C867-3FFF-4076-BB45-B52903776D11}"/>
              </a:ext>
            </a:extLst>
          </p:cNvPr>
          <p:cNvSpPr txBox="1"/>
          <p:nvPr/>
        </p:nvSpPr>
        <p:spPr>
          <a:xfrm>
            <a:off x="9184834" y="1268760"/>
            <a:ext cx="2883521" cy="5589240"/>
          </a:xfrm>
          <a:prstGeom prst="rect">
            <a:avLst/>
          </a:prstGeom>
          <a:solidFill>
            <a:schemeClr val="accent2">
              <a:lumMod val="40000"/>
              <a:lumOff val="60000"/>
            </a:schemeClr>
          </a:solidFill>
          <a:ln w="9360">
            <a:noFill/>
          </a:ln>
        </p:spPr>
        <p:txBody>
          <a:bodyPr>
            <a:noAutofit/>
          </a:bodyPr>
          <a:lstStyle>
            <a:defPPr>
              <a:defRPr lang="es-ES"/>
            </a:defPPr>
            <a:lvl1pPr marL="343080" indent="-342720">
              <a:lnSpc>
                <a:spcPct val="150000"/>
              </a:lnSpc>
              <a:spcBef>
                <a:spcPts val="561"/>
              </a:spcBef>
              <a:defRPr sz="2000" b="0" strike="noStrike" spc="-1">
                <a:solidFill>
                  <a:schemeClr val="accent1">
                    <a:lumMod val="75000"/>
                  </a:schemeClr>
                </a:solidFill>
                <a:latin typeface="Arial"/>
              </a:defRPr>
            </a:lvl1pPr>
          </a:lstStyle>
          <a:p>
            <a:pPr>
              <a:lnSpc>
                <a:spcPct val="200000"/>
              </a:lnSpc>
            </a:pPr>
            <a:r>
              <a:rPr lang="es-ES" dirty="0">
                <a:solidFill>
                  <a:schemeClr val="tx1"/>
                </a:solidFill>
                <a:latin typeface="Arial Narrow" panose="020B0606020202030204" pitchFamily="34" charset="0"/>
              </a:rPr>
              <a:t>CALCULO DE LA UTILIDAD</a:t>
            </a:r>
          </a:p>
          <a:p>
            <a:pPr>
              <a:lnSpc>
                <a:spcPct val="200000"/>
              </a:lnSpc>
            </a:pPr>
            <a:r>
              <a:rPr lang="es-ES" b="1" dirty="0">
                <a:solidFill>
                  <a:schemeClr val="tx1"/>
                </a:solidFill>
                <a:latin typeface="Arial Narrow" panose="020B0606020202030204" pitchFamily="34" charset="0"/>
              </a:rPr>
              <a:t>Utilidad= Ingreso – Gastos</a:t>
            </a:r>
          </a:p>
          <a:p>
            <a:pPr>
              <a:lnSpc>
                <a:spcPct val="200000"/>
              </a:lnSpc>
            </a:pPr>
            <a:r>
              <a:rPr lang="es-ES" dirty="0" err="1">
                <a:solidFill>
                  <a:schemeClr val="tx1"/>
                </a:solidFill>
                <a:latin typeface="Arial Narrow" panose="020B0606020202030204" pitchFamily="34" charset="0"/>
              </a:rPr>
              <a:t>U21</a:t>
            </a:r>
            <a:r>
              <a:rPr lang="es-ES" dirty="0">
                <a:solidFill>
                  <a:schemeClr val="tx1"/>
                </a:solidFill>
                <a:latin typeface="Arial Narrow" panose="020B0606020202030204" pitchFamily="34" charset="0"/>
              </a:rPr>
              <a:t>= 550 – 60 = 490 $/TN.</a:t>
            </a:r>
          </a:p>
          <a:p>
            <a:pPr>
              <a:lnSpc>
                <a:spcPct val="200000"/>
              </a:lnSpc>
            </a:pPr>
            <a:r>
              <a:rPr lang="es-ES" dirty="0">
                <a:solidFill>
                  <a:schemeClr val="tx1"/>
                </a:solidFill>
                <a:latin typeface="Arial Narrow" panose="020B0606020202030204" pitchFamily="34" charset="0"/>
              </a:rPr>
              <a:t>	</a:t>
            </a:r>
          </a:p>
          <a:p>
            <a:pPr>
              <a:lnSpc>
                <a:spcPct val="200000"/>
              </a:lnSpc>
            </a:pPr>
            <a:r>
              <a:rPr lang="es-ES" dirty="0" err="1">
                <a:solidFill>
                  <a:schemeClr val="tx1"/>
                </a:solidFill>
                <a:latin typeface="Arial Narrow" panose="020B0606020202030204" pitchFamily="34" charset="0"/>
              </a:rPr>
              <a:t>U22</a:t>
            </a:r>
            <a:r>
              <a:rPr lang="es-ES" dirty="0">
                <a:solidFill>
                  <a:schemeClr val="tx1"/>
                </a:solidFill>
                <a:latin typeface="Arial Narrow" panose="020B0606020202030204" pitchFamily="34" charset="0"/>
              </a:rPr>
              <a:t>= 750 – 90 = 660 $/TN.</a:t>
            </a:r>
          </a:p>
          <a:p>
            <a:pPr>
              <a:lnSpc>
                <a:spcPct val="200000"/>
              </a:lnSpc>
            </a:pPr>
            <a:r>
              <a:rPr lang="es-ES" dirty="0">
                <a:solidFill>
                  <a:schemeClr val="tx1"/>
                </a:solidFill>
                <a:latin typeface="Arial Narrow" panose="020B0606020202030204" pitchFamily="34" charset="0"/>
              </a:rPr>
              <a:t>	</a:t>
            </a:r>
          </a:p>
          <a:p>
            <a:pPr>
              <a:lnSpc>
                <a:spcPct val="200000"/>
              </a:lnSpc>
            </a:pPr>
            <a:r>
              <a:rPr lang="es-ES" dirty="0" err="1">
                <a:solidFill>
                  <a:schemeClr val="tx1"/>
                </a:solidFill>
                <a:latin typeface="Arial Narrow" panose="020B0606020202030204" pitchFamily="34" charset="0"/>
              </a:rPr>
              <a:t>U23</a:t>
            </a:r>
            <a:r>
              <a:rPr lang="es-ES" dirty="0">
                <a:solidFill>
                  <a:schemeClr val="tx1"/>
                </a:solidFill>
                <a:latin typeface="Arial Narrow" panose="020B0606020202030204" pitchFamily="34" charset="0"/>
              </a:rPr>
              <a:t>= 600 – 45 = 555 $/TN.</a:t>
            </a:r>
          </a:p>
          <a:p>
            <a:pPr>
              <a:lnSpc>
                <a:spcPct val="200000"/>
              </a:lnSpc>
            </a:pPr>
            <a:r>
              <a:rPr lang="es-ES" dirty="0">
                <a:solidFill>
                  <a:schemeClr val="tx1"/>
                </a:solidFill>
                <a:latin typeface="Arial Narrow" panose="020B0606020202030204" pitchFamily="34" charset="0"/>
              </a:rPr>
              <a:t>	</a:t>
            </a:r>
          </a:p>
          <a:p>
            <a:pPr>
              <a:lnSpc>
                <a:spcPct val="200000"/>
              </a:lnSpc>
            </a:pPr>
            <a:endParaRPr lang="es-ES" dirty="0">
              <a:solidFill>
                <a:schemeClr val="tx1"/>
              </a:solidFill>
              <a:latin typeface="Arial Narrow" panose="020B0606020202030204" pitchFamily="34" charset="0"/>
            </a:endParaRPr>
          </a:p>
        </p:txBody>
      </p:sp>
      <p:graphicFrame>
        <p:nvGraphicFramePr>
          <p:cNvPr id="33" name="Objeto 32">
            <a:extLst>
              <a:ext uri="{FF2B5EF4-FFF2-40B4-BE49-F238E27FC236}">
                <a16:creationId xmlns:a16="http://schemas.microsoft.com/office/drawing/2014/main" id="{7320FA32-7CD2-407C-ACF7-32EA0FA45504}"/>
              </a:ext>
            </a:extLst>
          </p:cNvPr>
          <p:cNvGraphicFramePr>
            <a:graphicFrameLocks noChangeAspect="1"/>
          </p:cNvGraphicFramePr>
          <p:nvPr/>
        </p:nvGraphicFramePr>
        <p:xfrm>
          <a:off x="6190552" y="3293156"/>
          <a:ext cx="2720536" cy="511094"/>
        </p:xfrm>
        <a:graphic>
          <a:graphicData uri="http://schemas.openxmlformats.org/presentationml/2006/ole">
            <mc:AlternateContent xmlns:mc="http://schemas.openxmlformats.org/markup-compatibility/2006">
              <mc:Choice xmlns:v="urn:schemas-microsoft-com:vml" Requires="v">
                <p:oleObj r:id="rId2" imgW="2425680" imgH="431640" progId="">
                  <p:embed/>
                </p:oleObj>
              </mc:Choice>
              <mc:Fallback>
                <p:oleObj r:id="rId2" imgW="2425680" imgH="431640" progId="">
                  <p:embed/>
                  <p:pic>
                    <p:nvPicPr>
                      <p:cNvPr id="33" name="Objeto 32">
                        <a:extLst>
                          <a:ext uri="{FF2B5EF4-FFF2-40B4-BE49-F238E27FC236}">
                            <a16:creationId xmlns:a16="http://schemas.microsoft.com/office/drawing/2014/main" id="{7320FA32-7CD2-407C-ACF7-32EA0FA45504}"/>
                          </a:ext>
                        </a:extLst>
                      </p:cNvPr>
                      <p:cNvPicPr/>
                      <p:nvPr/>
                    </p:nvPicPr>
                    <p:blipFill>
                      <a:blip r:embed="rId3"/>
                      <a:stretch>
                        <a:fillRect/>
                      </a:stretch>
                    </p:blipFill>
                    <p:spPr>
                      <a:xfrm>
                        <a:off x="6190552" y="3293156"/>
                        <a:ext cx="2720536" cy="511094"/>
                      </a:xfrm>
                      <a:prstGeom prst="rect">
                        <a:avLst/>
                      </a:prstGeom>
                    </p:spPr>
                  </p:pic>
                </p:oleObj>
              </mc:Fallback>
            </mc:AlternateContent>
          </a:graphicData>
        </a:graphic>
      </p:graphicFrame>
      <p:graphicFrame>
        <p:nvGraphicFramePr>
          <p:cNvPr id="34" name="Objeto 33">
            <a:extLst>
              <a:ext uri="{FF2B5EF4-FFF2-40B4-BE49-F238E27FC236}">
                <a16:creationId xmlns:a16="http://schemas.microsoft.com/office/drawing/2014/main" id="{0F261B05-0863-4347-AF8F-88AE75B3F132}"/>
              </a:ext>
            </a:extLst>
          </p:cNvPr>
          <p:cNvGraphicFramePr>
            <a:graphicFrameLocks noChangeAspect="1"/>
          </p:cNvGraphicFramePr>
          <p:nvPr/>
        </p:nvGraphicFramePr>
        <p:xfrm>
          <a:off x="6202383" y="4713743"/>
          <a:ext cx="2751836" cy="513865"/>
        </p:xfrm>
        <a:graphic>
          <a:graphicData uri="http://schemas.openxmlformats.org/presentationml/2006/ole">
            <mc:AlternateContent xmlns:mc="http://schemas.openxmlformats.org/markup-compatibility/2006">
              <mc:Choice xmlns:v="urn:schemas-microsoft-com:vml" Requires="v">
                <p:oleObj r:id="rId4" imgW="2438280" imgH="431640" progId="">
                  <p:embed/>
                </p:oleObj>
              </mc:Choice>
              <mc:Fallback>
                <p:oleObj r:id="rId4" imgW="2438280" imgH="431640" progId="">
                  <p:embed/>
                  <p:pic>
                    <p:nvPicPr>
                      <p:cNvPr id="34" name="Objeto 33">
                        <a:extLst>
                          <a:ext uri="{FF2B5EF4-FFF2-40B4-BE49-F238E27FC236}">
                            <a16:creationId xmlns:a16="http://schemas.microsoft.com/office/drawing/2014/main" id="{0F261B05-0863-4347-AF8F-88AE75B3F132}"/>
                          </a:ext>
                        </a:extLst>
                      </p:cNvPr>
                      <p:cNvPicPr/>
                      <p:nvPr/>
                    </p:nvPicPr>
                    <p:blipFill>
                      <a:blip r:embed="rId5"/>
                      <a:stretch>
                        <a:fillRect/>
                      </a:stretch>
                    </p:blipFill>
                    <p:spPr>
                      <a:xfrm>
                        <a:off x="6202383" y="4713743"/>
                        <a:ext cx="2751836" cy="513865"/>
                      </a:xfrm>
                      <a:prstGeom prst="rect">
                        <a:avLst/>
                      </a:prstGeom>
                    </p:spPr>
                  </p:pic>
                </p:oleObj>
              </mc:Fallback>
            </mc:AlternateContent>
          </a:graphicData>
        </a:graphic>
      </p:graphicFrame>
      <p:graphicFrame>
        <p:nvGraphicFramePr>
          <p:cNvPr id="35" name="Objeto 34">
            <a:extLst>
              <a:ext uri="{FF2B5EF4-FFF2-40B4-BE49-F238E27FC236}">
                <a16:creationId xmlns:a16="http://schemas.microsoft.com/office/drawing/2014/main" id="{A3A95F9C-4BC6-488E-8908-ECDA198C98B2}"/>
              </a:ext>
            </a:extLst>
          </p:cNvPr>
          <p:cNvGraphicFramePr>
            <a:graphicFrameLocks noChangeAspect="1"/>
          </p:cNvGraphicFramePr>
          <p:nvPr/>
        </p:nvGraphicFramePr>
        <p:xfrm>
          <a:off x="6167877" y="6057787"/>
          <a:ext cx="2760463" cy="535768"/>
        </p:xfrm>
        <a:graphic>
          <a:graphicData uri="http://schemas.openxmlformats.org/presentationml/2006/ole">
            <mc:AlternateContent xmlns:mc="http://schemas.openxmlformats.org/markup-compatibility/2006">
              <mc:Choice xmlns:v="urn:schemas-microsoft-com:vml" Requires="v">
                <p:oleObj r:id="rId6" imgW="2438280" imgH="431640" progId="">
                  <p:embed/>
                </p:oleObj>
              </mc:Choice>
              <mc:Fallback>
                <p:oleObj r:id="rId6" imgW="2438280" imgH="431640" progId="">
                  <p:embed/>
                  <p:pic>
                    <p:nvPicPr>
                      <p:cNvPr id="35" name="Objeto 34">
                        <a:extLst>
                          <a:ext uri="{FF2B5EF4-FFF2-40B4-BE49-F238E27FC236}">
                            <a16:creationId xmlns:a16="http://schemas.microsoft.com/office/drawing/2014/main" id="{A3A95F9C-4BC6-488E-8908-ECDA198C98B2}"/>
                          </a:ext>
                        </a:extLst>
                      </p:cNvPr>
                      <p:cNvPicPr/>
                      <p:nvPr/>
                    </p:nvPicPr>
                    <p:blipFill>
                      <a:blip r:embed="rId7"/>
                      <a:stretch>
                        <a:fillRect/>
                      </a:stretch>
                    </p:blipFill>
                    <p:spPr>
                      <a:xfrm>
                        <a:off x="6167877" y="6057787"/>
                        <a:ext cx="2760463" cy="535768"/>
                      </a:xfrm>
                      <a:prstGeom prst="rect">
                        <a:avLst/>
                      </a:prstGeom>
                    </p:spPr>
                  </p:pic>
                </p:oleObj>
              </mc:Fallback>
            </mc:AlternateContent>
          </a:graphicData>
        </a:graphic>
      </p:graphicFrame>
      <p:graphicFrame>
        <p:nvGraphicFramePr>
          <p:cNvPr id="36" name="Objeto 35">
            <a:extLst>
              <a:ext uri="{FF2B5EF4-FFF2-40B4-BE49-F238E27FC236}">
                <a16:creationId xmlns:a16="http://schemas.microsoft.com/office/drawing/2014/main" id="{07A60D7F-2C78-4926-8652-36AA0C4384F0}"/>
              </a:ext>
            </a:extLst>
          </p:cNvPr>
          <p:cNvGraphicFramePr>
            <a:graphicFrameLocks noChangeAspect="1"/>
          </p:cNvGraphicFramePr>
          <p:nvPr/>
        </p:nvGraphicFramePr>
        <p:xfrm>
          <a:off x="9361965" y="3249612"/>
          <a:ext cx="2715008" cy="520131"/>
        </p:xfrm>
        <a:graphic>
          <a:graphicData uri="http://schemas.openxmlformats.org/presentationml/2006/ole">
            <mc:AlternateContent xmlns:mc="http://schemas.openxmlformats.org/markup-compatibility/2006">
              <mc:Choice xmlns:v="urn:schemas-microsoft-com:vml" Requires="v">
                <p:oleObj r:id="rId8" imgW="2438280" imgH="431640" progId="">
                  <p:embed/>
                </p:oleObj>
              </mc:Choice>
              <mc:Fallback>
                <p:oleObj r:id="rId8" imgW="2438280" imgH="431640" progId="">
                  <p:embed/>
                  <p:pic>
                    <p:nvPicPr>
                      <p:cNvPr id="36" name="Objeto 35">
                        <a:extLst>
                          <a:ext uri="{FF2B5EF4-FFF2-40B4-BE49-F238E27FC236}">
                            <a16:creationId xmlns:a16="http://schemas.microsoft.com/office/drawing/2014/main" id="{07A60D7F-2C78-4926-8652-36AA0C4384F0}"/>
                          </a:ext>
                        </a:extLst>
                      </p:cNvPr>
                      <p:cNvPicPr/>
                      <p:nvPr/>
                    </p:nvPicPr>
                    <p:blipFill>
                      <a:blip r:embed="rId9"/>
                      <a:stretch>
                        <a:fillRect/>
                      </a:stretch>
                    </p:blipFill>
                    <p:spPr>
                      <a:xfrm>
                        <a:off x="9361965" y="3249612"/>
                        <a:ext cx="2715008" cy="520131"/>
                      </a:xfrm>
                      <a:prstGeom prst="rect">
                        <a:avLst/>
                      </a:prstGeom>
                    </p:spPr>
                  </p:pic>
                </p:oleObj>
              </mc:Fallback>
            </mc:AlternateContent>
          </a:graphicData>
        </a:graphic>
      </p:graphicFrame>
      <p:graphicFrame>
        <p:nvGraphicFramePr>
          <p:cNvPr id="37" name="Objeto 36">
            <a:extLst>
              <a:ext uri="{FF2B5EF4-FFF2-40B4-BE49-F238E27FC236}">
                <a16:creationId xmlns:a16="http://schemas.microsoft.com/office/drawing/2014/main" id="{430A63B3-72D3-42C2-8256-813D609D0159}"/>
              </a:ext>
            </a:extLst>
          </p:cNvPr>
          <p:cNvGraphicFramePr>
            <a:graphicFrameLocks noChangeAspect="1"/>
          </p:cNvGraphicFramePr>
          <p:nvPr/>
        </p:nvGraphicFramePr>
        <p:xfrm>
          <a:off x="9400498" y="4779056"/>
          <a:ext cx="2745499" cy="511706"/>
        </p:xfrm>
        <a:graphic>
          <a:graphicData uri="http://schemas.openxmlformats.org/presentationml/2006/ole">
            <mc:AlternateContent xmlns:mc="http://schemas.openxmlformats.org/markup-compatibility/2006">
              <mc:Choice xmlns:v="urn:schemas-microsoft-com:vml" Requires="v">
                <p:oleObj r:id="rId10" imgW="2463480" imgH="431640" progId="">
                  <p:embed/>
                </p:oleObj>
              </mc:Choice>
              <mc:Fallback>
                <p:oleObj r:id="rId10" imgW="2463480" imgH="431640" progId="">
                  <p:embed/>
                  <p:pic>
                    <p:nvPicPr>
                      <p:cNvPr id="37" name="Objeto 36">
                        <a:extLst>
                          <a:ext uri="{FF2B5EF4-FFF2-40B4-BE49-F238E27FC236}">
                            <a16:creationId xmlns:a16="http://schemas.microsoft.com/office/drawing/2014/main" id="{430A63B3-72D3-42C2-8256-813D609D0159}"/>
                          </a:ext>
                        </a:extLst>
                      </p:cNvPr>
                      <p:cNvPicPr/>
                      <p:nvPr/>
                    </p:nvPicPr>
                    <p:blipFill>
                      <a:blip r:embed="rId11"/>
                      <a:stretch>
                        <a:fillRect/>
                      </a:stretch>
                    </p:blipFill>
                    <p:spPr>
                      <a:xfrm>
                        <a:off x="9400498" y="4779056"/>
                        <a:ext cx="2745499" cy="511706"/>
                      </a:xfrm>
                      <a:prstGeom prst="rect">
                        <a:avLst/>
                      </a:prstGeom>
                    </p:spPr>
                  </p:pic>
                </p:oleObj>
              </mc:Fallback>
            </mc:AlternateContent>
          </a:graphicData>
        </a:graphic>
      </p:graphicFrame>
      <p:graphicFrame>
        <p:nvGraphicFramePr>
          <p:cNvPr id="38" name="Objeto 37">
            <a:extLst>
              <a:ext uri="{FF2B5EF4-FFF2-40B4-BE49-F238E27FC236}">
                <a16:creationId xmlns:a16="http://schemas.microsoft.com/office/drawing/2014/main" id="{BBDF6C18-836A-4178-AD8D-9F79585452A0}"/>
              </a:ext>
            </a:extLst>
          </p:cNvPr>
          <p:cNvGraphicFramePr>
            <a:graphicFrameLocks noChangeAspect="1"/>
          </p:cNvGraphicFramePr>
          <p:nvPr/>
        </p:nvGraphicFramePr>
        <p:xfrm>
          <a:off x="9400481" y="6072997"/>
          <a:ext cx="2702366" cy="526212"/>
        </p:xfrm>
        <a:graphic>
          <a:graphicData uri="http://schemas.openxmlformats.org/presentationml/2006/ole">
            <mc:AlternateContent xmlns:mc="http://schemas.openxmlformats.org/markup-compatibility/2006">
              <mc:Choice xmlns:v="urn:schemas-microsoft-com:vml" Requires="v">
                <p:oleObj r:id="rId12" imgW="2450880" imgH="431640" progId="">
                  <p:embed/>
                </p:oleObj>
              </mc:Choice>
              <mc:Fallback>
                <p:oleObj r:id="rId12" imgW="2450880" imgH="431640" progId="">
                  <p:embed/>
                  <p:pic>
                    <p:nvPicPr>
                      <p:cNvPr id="38" name="Objeto 37">
                        <a:extLst>
                          <a:ext uri="{FF2B5EF4-FFF2-40B4-BE49-F238E27FC236}">
                            <a16:creationId xmlns:a16="http://schemas.microsoft.com/office/drawing/2014/main" id="{BBDF6C18-836A-4178-AD8D-9F79585452A0}"/>
                          </a:ext>
                        </a:extLst>
                      </p:cNvPr>
                      <p:cNvPicPr/>
                      <p:nvPr/>
                    </p:nvPicPr>
                    <p:blipFill>
                      <a:blip r:embed="rId13"/>
                      <a:stretch>
                        <a:fillRect/>
                      </a:stretch>
                    </p:blipFill>
                    <p:spPr>
                      <a:xfrm>
                        <a:off x="9400481" y="6072997"/>
                        <a:ext cx="2702366" cy="526212"/>
                      </a:xfrm>
                      <a:prstGeom prst="rect">
                        <a:avLst/>
                      </a:prstGeom>
                    </p:spPr>
                  </p:pic>
                </p:oleObj>
              </mc:Fallback>
            </mc:AlternateContent>
          </a:graphicData>
        </a:graphic>
      </p:graphicFrame>
    </p:spTree>
    <p:extLst>
      <p:ext uri="{BB962C8B-B14F-4D97-AF65-F5344CB8AC3E}">
        <p14:creationId xmlns:p14="http://schemas.microsoft.com/office/powerpoint/2010/main" val="673659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nodePh="1">
                                  <p:stCondLst>
                                    <p:cond delay="0"/>
                                  </p:stCondLst>
                                  <p:endCondLst>
                                    <p:cond evt="begin" delay="0">
                                      <p:tn val="15"/>
                                    </p:cond>
                                  </p:end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p:bldP spid="3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 name="TextShape 1"/>
          <p:cNvSpPr txBox="1"/>
          <p:nvPr/>
        </p:nvSpPr>
        <p:spPr>
          <a:xfrm>
            <a:off x="6096000" y="214669"/>
            <a:ext cx="6096000" cy="62658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defPPr>
              <a:defRPr lang="es-ES"/>
            </a:defPPr>
            <a:lvl1pPr algn="ctr">
              <a:lnSpc>
                <a:spcPts val="5800"/>
              </a:lnSpc>
              <a:spcBef>
                <a:spcPct val="0"/>
              </a:spcBef>
              <a:defRPr sz="3200">
                <a:solidFill>
                  <a:schemeClr val="bg1"/>
                </a:solidFill>
                <a:effectLst>
                  <a:outerShdw blurRad="63500" dist="38100" dir="5400000" algn="t" rotWithShape="0">
                    <a:prstClr val="black">
                      <a:alpha val="25000"/>
                    </a:prstClr>
                  </a:outerShdw>
                </a:effectLst>
                <a:latin typeface="Bauhaus 93" pitchFamily="82" charset="0"/>
              </a:defRPr>
            </a:lvl1pPr>
          </a:lstStyle>
          <a:p>
            <a:r>
              <a:rPr lang="es-ES" dirty="0"/>
              <a:t>Modelo matemático</a:t>
            </a:r>
          </a:p>
        </p:txBody>
      </p:sp>
      <p:sp>
        <p:nvSpPr>
          <p:cNvPr id="831" name="TextShape 2"/>
          <p:cNvSpPr txBox="1"/>
          <p:nvPr/>
        </p:nvSpPr>
        <p:spPr>
          <a:xfrm>
            <a:off x="254994" y="1518240"/>
            <a:ext cx="5602343" cy="4597867"/>
          </a:xfrm>
          <a:prstGeom prst="rect">
            <a:avLst/>
          </a:prstGeom>
          <a:noFill/>
          <a:ln w="9360">
            <a:noFill/>
          </a:ln>
        </p:spPr>
        <p:txBody>
          <a:bodyPr>
            <a:noAutofit/>
          </a:bodyPr>
          <a:lstStyle/>
          <a:p>
            <a:pPr marL="343080" indent="-342720"/>
            <a:r>
              <a:rPr lang="es-ES" sz="2000" spc="-1" dirty="0">
                <a:solidFill>
                  <a:srgbClr val="FF0000"/>
                </a:solidFill>
                <a:latin typeface="Arial"/>
              </a:rPr>
              <a:t>I.	Identificación de variables. </a:t>
            </a:r>
          </a:p>
          <a:p>
            <a:pPr marL="343080" indent="-342720"/>
            <a:r>
              <a:rPr lang="es-ES" sz="2000" spc="-1" dirty="0">
                <a:solidFill>
                  <a:schemeClr val="accent1">
                    <a:lumMod val="75000"/>
                  </a:schemeClr>
                </a:solidFill>
                <a:latin typeface="Arial"/>
              </a:rPr>
              <a:t>	</a:t>
            </a:r>
            <a:r>
              <a:rPr lang="es-ES" sz="2000" spc="-1" dirty="0" err="1">
                <a:solidFill>
                  <a:schemeClr val="accent1">
                    <a:lumMod val="75000"/>
                  </a:schemeClr>
                </a:solidFill>
                <a:latin typeface="Arial"/>
              </a:rPr>
              <a:t>Xij</a:t>
            </a:r>
            <a:r>
              <a:rPr lang="es-ES" sz="2000" spc="-1" dirty="0">
                <a:solidFill>
                  <a:schemeClr val="accent1">
                    <a:lumMod val="75000"/>
                  </a:schemeClr>
                </a:solidFill>
                <a:latin typeface="Arial"/>
              </a:rPr>
              <a:t> = 	# de libras de naranjas a enviar del </a:t>
            </a:r>
          </a:p>
          <a:p>
            <a:pPr marL="343080" indent="-342720"/>
            <a:r>
              <a:rPr lang="es-ES" sz="2000" spc="-1" dirty="0">
                <a:solidFill>
                  <a:schemeClr val="accent1">
                    <a:lumMod val="75000"/>
                  </a:schemeClr>
                </a:solidFill>
                <a:latin typeface="Arial"/>
              </a:rPr>
              <a:t>			huerto i a la planta j</a:t>
            </a:r>
          </a:p>
          <a:p>
            <a:pPr marL="343080" indent="-342720"/>
            <a:r>
              <a:rPr lang="es-ES" sz="2000" spc="-1" dirty="0">
                <a:solidFill>
                  <a:srgbClr val="FF0000"/>
                </a:solidFill>
                <a:latin typeface="Arial"/>
              </a:rPr>
              <a:t>II.	Identificación de la función objetivo.</a:t>
            </a:r>
          </a:p>
          <a:p>
            <a:pPr marL="343080" indent="-342720"/>
            <a:r>
              <a:rPr lang="es-ES" sz="2000" spc="-1" dirty="0">
                <a:solidFill>
                  <a:schemeClr val="accent1">
                    <a:lumMod val="75000"/>
                  </a:schemeClr>
                </a:solidFill>
                <a:latin typeface="Arial"/>
              </a:rPr>
              <a:t>	MAX </a:t>
            </a:r>
            <a:r>
              <a:rPr lang="es-ES" sz="2000" spc="-1" dirty="0" err="1">
                <a:solidFill>
                  <a:schemeClr val="accent1">
                    <a:lumMod val="75000"/>
                  </a:schemeClr>
                </a:solidFill>
                <a:latin typeface="Arial"/>
              </a:rPr>
              <a:t>0.2268X11</a:t>
            </a:r>
            <a:r>
              <a:rPr lang="es-ES" sz="2000" spc="-1" dirty="0">
                <a:solidFill>
                  <a:schemeClr val="accent1">
                    <a:lumMod val="75000"/>
                  </a:schemeClr>
                </a:solidFill>
                <a:latin typeface="Arial"/>
              </a:rPr>
              <a:t>+ </a:t>
            </a:r>
            <a:r>
              <a:rPr lang="es-ES" sz="2000" spc="-1" dirty="0" err="1">
                <a:solidFill>
                  <a:schemeClr val="accent1">
                    <a:lumMod val="75000"/>
                  </a:schemeClr>
                </a:solidFill>
                <a:latin typeface="Arial"/>
              </a:rPr>
              <a:t>0.3062X12</a:t>
            </a:r>
            <a:r>
              <a:rPr lang="es-ES" sz="2000" spc="-1" dirty="0">
                <a:solidFill>
                  <a:schemeClr val="accent1">
                    <a:lumMod val="75000"/>
                  </a:schemeClr>
                </a:solidFill>
                <a:latin typeface="Arial"/>
              </a:rPr>
              <a:t> + </a:t>
            </a:r>
            <a:r>
              <a:rPr lang="es-ES" sz="2000" spc="-1" dirty="0" err="1">
                <a:solidFill>
                  <a:schemeClr val="accent1">
                    <a:lumMod val="75000"/>
                  </a:schemeClr>
                </a:solidFill>
                <a:latin typeface="Arial"/>
              </a:rPr>
              <a:t>0.2449X13</a:t>
            </a:r>
            <a:r>
              <a:rPr lang="es-ES" sz="2000" spc="-1" dirty="0">
                <a:solidFill>
                  <a:schemeClr val="accent1">
                    <a:lumMod val="75000"/>
                  </a:schemeClr>
                </a:solidFill>
                <a:latin typeface="Arial"/>
              </a:rPr>
              <a:t> + </a:t>
            </a:r>
          </a:p>
          <a:p>
            <a:pPr marL="343080" indent="-342720"/>
            <a:r>
              <a:rPr lang="es-ES" sz="2000" spc="-1" dirty="0">
                <a:solidFill>
                  <a:schemeClr val="accent1">
                    <a:lumMod val="75000"/>
                  </a:schemeClr>
                </a:solidFill>
                <a:latin typeface="Arial"/>
              </a:rPr>
              <a:t>		   </a:t>
            </a:r>
            <a:r>
              <a:rPr lang="es-ES" sz="2000" spc="-1" dirty="0" err="1">
                <a:solidFill>
                  <a:schemeClr val="accent1">
                    <a:lumMod val="75000"/>
                  </a:schemeClr>
                </a:solidFill>
                <a:latin typeface="Arial"/>
              </a:rPr>
              <a:t>0.2223X21</a:t>
            </a:r>
            <a:r>
              <a:rPr lang="es-ES" sz="2000" spc="-1" dirty="0">
                <a:solidFill>
                  <a:schemeClr val="accent1">
                    <a:lumMod val="75000"/>
                  </a:schemeClr>
                </a:solidFill>
                <a:latin typeface="Arial"/>
              </a:rPr>
              <a:t> + </a:t>
            </a:r>
            <a:r>
              <a:rPr lang="es-ES" sz="2000" spc="-1" dirty="0" err="1">
                <a:solidFill>
                  <a:schemeClr val="accent1">
                    <a:lumMod val="75000"/>
                  </a:schemeClr>
                </a:solidFill>
                <a:latin typeface="Arial"/>
              </a:rPr>
              <a:t>0.2994X22</a:t>
            </a:r>
            <a:r>
              <a:rPr lang="es-ES" sz="2000" spc="-1" dirty="0">
                <a:solidFill>
                  <a:schemeClr val="accent1">
                    <a:lumMod val="75000"/>
                  </a:schemeClr>
                </a:solidFill>
                <a:latin typeface="Arial"/>
              </a:rPr>
              <a:t> + </a:t>
            </a:r>
            <a:r>
              <a:rPr lang="es-ES" sz="2000" spc="-1" dirty="0" err="1">
                <a:solidFill>
                  <a:schemeClr val="accent1">
                    <a:lumMod val="75000"/>
                  </a:schemeClr>
                </a:solidFill>
                <a:latin typeface="Arial"/>
              </a:rPr>
              <a:t>0.2517X23</a:t>
            </a:r>
            <a:endParaRPr lang="es-ES" sz="2000" spc="-1" dirty="0">
              <a:solidFill>
                <a:schemeClr val="accent1">
                  <a:lumMod val="75000"/>
                </a:schemeClr>
              </a:solidFill>
              <a:latin typeface="Arial"/>
            </a:endParaRPr>
          </a:p>
          <a:p>
            <a:pPr marL="343080" indent="-342720"/>
            <a:r>
              <a:rPr lang="es-ES" sz="2000" spc="-1" dirty="0">
                <a:solidFill>
                  <a:srgbClr val="FF0000"/>
                </a:solidFill>
                <a:latin typeface="Arial"/>
              </a:rPr>
              <a:t>III	Identificación de Restricciones.</a:t>
            </a:r>
          </a:p>
          <a:p>
            <a:pPr marL="343080" indent="-342720"/>
            <a:r>
              <a:rPr lang="es-ES" sz="2000" spc="-1" dirty="0">
                <a:solidFill>
                  <a:schemeClr val="accent1">
                    <a:lumMod val="75000"/>
                  </a:schemeClr>
                </a:solidFill>
                <a:latin typeface="Arial"/>
              </a:rPr>
              <a:t>		   </a:t>
            </a:r>
            <a:r>
              <a:rPr lang="es-ES" sz="2000" spc="-1" dirty="0" err="1">
                <a:solidFill>
                  <a:schemeClr val="accent1">
                    <a:lumMod val="75000"/>
                  </a:schemeClr>
                </a:solidFill>
                <a:latin typeface="Arial"/>
              </a:rPr>
              <a:t>X11</a:t>
            </a:r>
            <a:r>
              <a:rPr lang="es-ES" sz="2000" spc="-1" dirty="0">
                <a:solidFill>
                  <a:schemeClr val="accent1">
                    <a:lumMod val="75000"/>
                  </a:schemeClr>
                </a:solidFill>
                <a:latin typeface="Arial"/>
              </a:rPr>
              <a:t> + </a:t>
            </a:r>
            <a:r>
              <a:rPr lang="es-ES" sz="2000" spc="-1" dirty="0" err="1">
                <a:solidFill>
                  <a:schemeClr val="accent1">
                    <a:lumMod val="75000"/>
                  </a:schemeClr>
                </a:solidFill>
                <a:latin typeface="Arial"/>
              </a:rPr>
              <a:t>X12</a:t>
            </a:r>
            <a:r>
              <a:rPr lang="es-ES" sz="2000" spc="-1" dirty="0">
                <a:solidFill>
                  <a:schemeClr val="accent1">
                    <a:lumMod val="75000"/>
                  </a:schemeClr>
                </a:solidFill>
                <a:latin typeface="Arial"/>
              </a:rPr>
              <a:t>   + </a:t>
            </a:r>
            <a:r>
              <a:rPr lang="es-ES" sz="2000" spc="-1" dirty="0" err="1">
                <a:solidFill>
                  <a:schemeClr val="accent1">
                    <a:lumMod val="75000"/>
                  </a:schemeClr>
                </a:solidFill>
                <a:latin typeface="Arial"/>
              </a:rPr>
              <a:t>X13</a:t>
            </a:r>
            <a:r>
              <a:rPr lang="es-ES" sz="2000" spc="-1" dirty="0">
                <a:solidFill>
                  <a:schemeClr val="accent1">
                    <a:lumMod val="75000"/>
                  </a:schemeClr>
                </a:solidFill>
                <a:latin typeface="Arial"/>
              </a:rPr>
              <a:t> 	≤ 20000</a:t>
            </a:r>
          </a:p>
          <a:p>
            <a:pPr marL="343080" indent="-342720"/>
            <a:r>
              <a:rPr lang="es-ES" sz="2000" spc="-1" dirty="0">
                <a:solidFill>
                  <a:schemeClr val="accent1">
                    <a:lumMod val="75000"/>
                  </a:schemeClr>
                </a:solidFill>
                <a:latin typeface="Arial"/>
              </a:rPr>
              <a:t>		   </a:t>
            </a:r>
            <a:r>
              <a:rPr lang="es-ES" sz="2000" spc="-1" dirty="0" err="1">
                <a:solidFill>
                  <a:schemeClr val="accent1">
                    <a:lumMod val="75000"/>
                  </a:schemeClr>
                </a:solidFill>
                <a:latin typeface="Arial"/>
              </a:rPr>
              <a:t>X21</a:t>
            </a:r>
            <a:r>
              <a:rPr lang="es-ES" sz="2000" spc="-1" dirty="0">
                <a:solidFill>
                  <a:schemeClr val="accent1">
                    <a:lumMod val="75000"/>
                  </a:schemeClr>
                </a:solidFill>
                <a:latin typeface="Arial"/>
              </a:rPr>
              <a:t> + </a:t>
            </a:r>
            <a:r>
              <a:rPr lang="es-ES" sz="2000" spc="-1" dirty="0" err="1">
                <a:solidFill>
                  <a:schemeClr val="accent1">
                    <a:lumMod val="75000"/>
                  </a:schemeClr>
                </a:solidFill>
                <a:latin typeface="Arial"/>
              </a:rPr>
              <a:t>X22</a:t>
            </a:r>
            <a:r>
              <a:rPr lang="es-ES" sz="2000" spc="-1" dirty="0">
                <a:solidFill>
                  <a:schemeClr val="accent1">
                    <a:lumMod val="75000"/>
                  </a:schemeClr>
                </a:solidFill>
                <a:latin typeface="Arial"/>
              </a:rPr>
              <a:t>   + </a:t>
            </a:r>
            <a:r>
              <a:rPr lang="es-ES" sz="2000" spc="-1" dirty="0" err="1">
                <a:solidFill>
                  <a:schemeClr val="accent1">
                    <a:lumMod val="75000"/>
                  </a:schemeClr>
                </a:solidFill>
                <a:latin typeface="Arial"/>
              </a:rPr>
              <a:t>X23</a:t>
            </a:r>
            <a:r>
              <a:rPr lang="es-ES" sz="2000" spc="-1" dirty="0">
                <a:solidFill>
                  <a:schemeClr val="accent1">
                    <a:lumMod val="75000"/>
                  </a:schemeClr>
                </a:solidFill>
                <a:latin typeface="Arial"/>
              </a:rPr>
              <a:t> 	≤ 12000</a:t>
            </a:r>
          </a:p>
          <a:p>
            <a:pPr marL="343080" indent="-342720"/>
            <a:r>
              <a:rPr lang="es-ES" sz="2000" spc="-1" dirty="0">
                <a:solidFill>
                  <a:schemeClr val="accent1">
                    <a:lumMod val="75000"/>
                  </a:schemeClr>
                </a:solidFill>
                <a:latin typeface="Arial"/>
              </a:rPr>
              <a:t>			 </a:t>
            </a:r>
            <a:r>
              <a:rPr lang="es-ES" sz="2000" spc="-1" dirty="0" err="1">
                <a:solidFill>
                  <a:srgbClr val="7030A0"/>
                </a:solidFill>
                <a:latin typeface="Arial"/>
              </a:rPr>
              <a:t>X11</a:t>
            </a:r>
            <a:r>
              <a:rPr lang="es-ES" sz="2000" spc="-1" dirty="0">
                <a:solidFill>
                  <a:srgbClr val="7030A0"/>
                </a:solidFill>
                <a:latin typeface="Arial"/>
              </a:rPr>
              <a:t>   + </a:t>
            </a:r>
            <a:r>
              <a:rPr lang="es-ES" sz="2000" spc="-1" dirty="0" err="1">
                <a:solidFill>
                  <a:srgbClr val="7030A0"/>
                </a:solidFill>
                <a:latin typeface="Arial"/>
              </a:rPr>
              <a:t>X21</a:t>
            </a:r>
            <a:r>
              <a:rPr lang="es-ES" sz="2000" spc="-1" dirty="0">
                <a:solidFill>
                  <a:srgbClr val="7030A0"/>
                </a:solidFill>
                <a:latin typeface="Arial"/>
              </a:rPr>
              <a:t>  	≥   8000</a:t>
            </a:r>
          </a:p>
          <a:p>
            <a:pPr marL="343080" indent="-342720"/>
            <a:r>
              <a:rPr lang="es-ES" sz="2000" spc="-1" dirty="0">
                <a:solidFill>
                  <a:srgbClr val="7030A0"/>
                </a:solidFill>
                <a:latin typeface="Arial"/>
              </a:rPr>
              <a:t>			 </a:t>
            </a:r>
            <a:r>
              <a:rPr lang="es-ES" sz="2000" spc="-1" dirty="0" err="1">
                <a:solidFill>
                  <a:srgbClr val="7030A0"/>
                </a:solidFill>
                <a:latin typeface="Arial"/>
              </a:rPr>
              <a:t>X12</a:t>
            </a:r>
            <a:r>
              <a:rPr lang="es-ES" sz="2000" spc="-1" dirty="0">
                <a:solidFill>
                  <a:srgbClr val="7030A0"/>
                </a:solidFill>
                <a:latin typeface="Arial"/>
              </a:rPr>
              <a:t>   + </a:t>
            </a:r>
            <a:r>
              <a:rPr lang="es-ES" sz="2000" spc="-1" dirty="0" err="1">
                <a:solidFill>
                  <a:srgbClr val="7030A0"/>
                </a:solidFill>
                <a:latin typeface="Arial"/>
              </a:rPr>
              <a:t>X22</a:t>
            </a:r>
            <a:r>
              <a:rPr lang="es-ES" sz="2000" spc="-1" dirty="0">
                <a:solidFill>
                  <a:srgbClr val="7030A0"/>
                </a:solidFill>
                <a:latin typeface="Arial"/>
              </a:rPr>
              <a:t>  	≥ 11000</a:t>
            </a:r>
          </a:p>
          <a:p>
            <a:pPr marL="343080" indent="-342720"/>
            <a:r>
              <a:rPr lang="es-ES" sz="2000" spc="-1" dirty="0">
                <a:solidFill>
                  <a:srgbClr val="7030A0"/>
                </a:solidFill>
                <a:latin typeface="Arial"/>
              </a:rPr>
              <a:t>			 </a:t>
            </a:r>
            <a:r>
              <a:rPr lang="es-ES" sz="2000" spc="-1" dirty="0" err="1">
                <a:solidFill>
                  <a:srgbClr val="7030A0"/>
                </a:solidFill>
                <a:latin typeface="Arial"/>
              </a:rPr>
              <a:t>X13</a:t>
            </a:r>
            <a:r>
              <a:rPr lang="es-ES" sz="2000" spc="-1" dirty="0">
                <a:solidFill>
                  <a:srgbClr val="7030A0"/>
                </a:solidFill>
                <a:latin typeface="Arial"/>
              </a:rPr>
              <a:t>   + </a:t>
            </a:r>
            <a:r>
              <a:rPr lang="es-ES" sz="2000" spc="-1" dirty="0" err="1">
                <a:solidFill>
                  <a:srgbClr val="7030A0"/>
                </a:solidFill>
                <a:latin typeface="Arial"/>
              </a:rPr>
              <a:t>X23</a:t>
            </a:r>
            <a:r>
              <a:rPr lang="es-ES" sz="2000" spc="-1" dirty="0">
                <a:solidFill>
                  <a:srgbClr val="7030A0"/>
                </a:solidFill>
                <a:latin typeface="Arial"/>
              </a:rPr>
              <a:t>  	≥ 11000</a:t>
            </a:r>
          </a:p>
          <a:p>
            <a:pPr marL="343080" indent="-342720"/>
            <a:r>
              <a:rPr lang="es-ES" sz="2000" spc="-1" dirty="0">
                <a:solidFill>
                  <a:schemeClr val="accent1">
                    <a:lumMod val="75000"/>
                  </a:schemeClr>
                </a:solidFill>
                <a:latin typeface="Arial"/>
              </a:rPr>
              <a:t>				   </a:t>
            </a:r>
            <a:r>
              <a:rPr lang="es-ES" sz="2000" spc="-1" dirty="0" err="1">
                <a:solidFill>
                  <a:schemeClr val="accent1">
                    <a:lumMod val="75000"/>
                  </a:schemeClr>
                </a:solidFill>
                <a:latin typeface="Arial"/>
              </a:rPr>
              <a:t>Xij</a:t>
            </a:r>
            <a:r>
              <a:rPr lang="es-ES" sz="2000" spc="-1" dirty="0">
                <a:solidFill>
                  <a:schemeClr val="accent1">
                    <a:lumMod val="75000"/>
                  </a:schemeClr>
                </a:solidFill>
                <a:latin typeface="Arial"/>
              </a:rPr>
              <a:t> 	≥ 0</a:t>
            </a:r>
          </a:p>
        </p:txBody>
      </p:sp>
      <p:sp>
        <p:nvSpPr>
          <p:cNvPr id="4" name="Rectángulo 3">
            <a:extLst>
              <a:ext uri="{FF2B5EF4-FFF2-40B4-BE49-F238E27FC236}">
                <a16:creationId xmlns:a16="http://schemas.microsoft.com/office/drawing/2014/main" id="{5D606E17-BD03-435E-BBB2-4F4ED2292E84}"/>
              </a:ext>
            </a:extLst>
          </p:cNvPr>
          <p:cNvSpPr/>
          <p:nvPr/>
        </p:nvSpPr>
        <p:spPr>
          <a:xfrm>
            <a:off x="6583107" y="1604738"/>
            <a:ext cx="5346192" cy="2554545"/>
          </a:xfrm>
          <a:prstGeom prst="rect">
            <a:avLst/>
          </a:prstGeom>
          <a:solidFill>
            <a:srgbClr val="FFFF00"/>
          </a:solidFill>
        </p:spPr>
        <p:txBody>
          <a:bodyPr wrap="square">
            <a:spAutoFit/>
          </a:bodyPr>
          <a:lstStyle/>
          <a:p>
            <a:pPr marL="343080" indent="-342720"/>
            <a:r>
              <a:rPr lang="es-ES" sz="2000" spc="-1" dirty="0">
                <a:latin typeface="Arial Narrow" panose="020B0606020202030204" pitchFamily="34" charset="0"/>
              </a:rPr>
              <a:t>MAX </a:t>
            </a:r>
            <a:r>
              <a:rPr lang="es-ES" sz="2000" spc="-1" dirty="0" err="1">
                <a:latin typeface="Arial Narrow" panose="020B0606020202030204" pitchFamily="34" charset="0"/>
              </a:rPr>
              <a:t>0.2268X11</a:t>
            </a:r>
            <a:r>
              <a:rPr lang="es-ES" sz="2000" spc="-1" dirty="0">
                <a:latin typeface="Arial Narrow" panose="020B0606020202030204" pitchFamily="34" charset="0"/>
              </a:rPr>
              <a:t>+ </a:t>
            </a:r>
            <a:r>
              <a:rPr lang="es-ES" sz="2000" spc="-1" dirty="0" err="1">
                <a:latin typeface="Arial Narrow" panose="020B0606020202030204" pitchFamily="34" charset="0"/>
              </a:rPr>
              <a:t>0.3062X12</a:t>
            </a:r>
            <a:r>
              <a:rPr lang="es-ES" sz="2000" spc="-1" dirty="0">
                <a:latin typeface="Arial Narrow" panose="020B0606020202030204" pitchFamily="34" charset="0"/>
              </a:rPr>
              <a:t> + </a:t>
            </a:r>
            <a:r>
              <a:rPr lang="es-ES" sz="2000" spc="-1" dirty="0" err="1">
                <a:latin typeface="Arial Narrow" panose="020B0606020202030204" pitchFamily="34" charset="0"/>
              </a:rPr>
              <a:t>0.2449X13</a:t>
            </a:r>
            <a:r>
              <a:rPr lang="es-ES" sz="2000" spc="-1" dirty="0">
                <a:latin typeface="Arial Narrow" panose="020B0606020202030204" pitchFamily="34" charset="0"/>
              </a:rPr>
              <a:t> + </a:t>
            </a:r>
          </a:p>
          <a:p>
            <a:pPr marL="343080" indent="-342720"/>
            <a:r>
              <a:rPr lang="es-ES" sz="2000" spc="-1" dirty="0">
                <a:latin typeface="Arial Narrow" panose="020B0606020202030204" pitchFamily="34" charset="0"/>
              </a:rPr>
              <a:t>		   </a:t>
            </a:r>
            <a:r>
              <a:rPr lang="es-ES" sz="2000" spc="-1" dirty="0" err="1">
                <a:latin typeface="Arial Narrow" panose="020B0606020202030204" pitchFamily="34" charset="0"/>
              </a:rPr>
              <a:t>0.2223X21</a:t>
            </a:r>
            <a:r>
              <a:rPr lang="es-ES" sz="2000" spc="-1" dirty="0">
                <a:latin typeface="Arial Narrow" panose="020B0606020202030204" pitchFamily="34" charset="0"/>
              </a:rPr>
              <a:t> + </a:t>
            </a:r>
            <a:r>
              <a:rPr lang="es-ES" sz="2000" spc="-1" dirty="0" err="1">
                <a:latin typeface="Arial Narrow" panose="020B0606020202030204" pitchFamily="34" charset="0"/>
              </a:rPr>
              <a:t>0.2994X22</a:t>
            </a:r>
            <a:r>
              <a:rPr lang="es-ES" sz="2000" spc="-1" dirty="0">
                <a:latin typeface="Arial Narrow" panose="020B0606020202030204" pitchFamily="34" charset="0"/>
              </a:rPr>
              <a:t> + </a:t>
            </a:r>
            <a:r>
              <a:rPr lang="es-ES" sz="2000" spc="-1" dirty="0" err="1">
                <a:latin typeface="Arial Narrow" panose="020B0606020202030204" pitchFamily="34" charset="0"/>
              </a:rPr>
              <a:t>0.2517X23</a:t>
            </a:r>
            <a:endParaRPr lang="es-ES" sz="2000" spc="-1" dirty="0">
              <a:latin typeface="Arial Narrow" panose="020B0606020202030204" pitchFamily="34" charset="0"/>
            </a:endParaRPr>
          </a:p>
          <a:p>
            <a:r>
              <a:rPr lang="es-PE" sz="2000" dirty="0" err="1">
                <a:latin typeface="Arial Narrow" panose="020B0606020202030204" pitchFamily="34" charset="0"/>
              </a:rPr>
              <a:t>ST</a:t>
            </a:r>
            <a:endParaRPr lang="es-PE" sz="2000" dirty="0">
              <a:latin typeface="Arial Narrow" panose="020B0606020202030204" pitchFamily="34" charset="0"/>
            </a:endParaRPr>
          </a:p>
          <a:p>
            <a:r>
              <a:rPr lang="es-PE" sz="2000" dirty="0">
                <a:latin typeface="Arial Narrow" panose="020B0606020202030204" pitchFamily="34" charset="0"/>
              </a:rPr>
              <a:t>	       </a:t>
            </a:r>
            <a:r>
              <a:rPr lang="es-PE" sz="2000" dirty="0" err="1">
                <a:latin typeface="Arial Narrow" panose="020B0606020202030204" pitchFamily="34" charset="0"/>
              </a:rPr>
              <a:t>X11</a:t>
            </a:r>
            <a:r>
              <a:rPr lang="es-PE" sz="2000" dirty="0">
                <a:latin typeface="Arial Narrow" panose="020B0606020202030204" pitchFamily="34" charset="0"/>
              </a:rPr>
              <a:t> + </a:t>
            </a:r>
            <a:r>
              <a:rPr lang="es-PE" sz="2000" dirty="0" err="1">
                <a:latin typeface="Arial Narrow" panose="020B0606020202030204" pitchFamily="34" charset="0"/>
              </a:rPr>
              <a:t>X12</a:t>
            </a:r>
            <a:r>
              <a:rPr lang="es-PE" sz="2000" dirty="0">
                <a:latin typeface="Arial Narrow" panose="020B0606020202030204" pitchFamily="34" charset="0"/>
              </a:rPr>
              <a:t> + </a:t>
            </a:r>
            <a:r>
              <a:rPr lang="es-PE" sz="2000" dirty="0" err="1">
                <a:latin typeface="Arial Narrow" panose="020B0606020202030204" pitchFamily="34" charset="0"/>
              </a:rPr>
              <a:t>X13</a:t>
            </a:r>
            <a:r>
              <a:rPr lang="es-PE" sz="2000" dirty="0">
                <a:latin typeface="Arial Narrow" panose="020B0606020202030204" pitchFamily="34" charset="0"/>
              </a:rPr>
              <a:t> &lt;= 20000</a:t>
            </a:r>
          </a:p>
          <a:p>
            <a:r>
              <a:rPr lang="es-PE" sz="2000" dirty="0">
                <a:latin typeface="Arial Narrow" panose="020B0606020202030204" pitchFamily="34" charset="0"/>
              </a:rPr>
              <a:t>	       </a:t>
            </a:r>
            <a:r>
              <a:rPr lang="es-PE" sz="2000" dirty="0" err="1">
                <a:latin typeface="Arial Narrow" panose="020B0606020202030204" pitchFamily="34" charset="0"/>
              </a:rPr>
              <a:t>X21</a:t>
            </a:r>
            <a:r>
              <a:rPr lang="es-PE" sz="2000" dirty="0">
                <a:latin typeface="Arial Narrow" panose="020B0606020202030204" pitchFamily="34" charset="0"/>
              </a:rPr>
              <a:t> + </a:t>
            </a:r>
            <a:r>
              <a:rPr lang="es-PE" sz="2000" dirty="0" err="1">
                <a:latin typeface="Arial Narrow" panose="020B0606020202030204" pitchFamily="34" charset="0"/>
              </a:rPr>
              <a:t>X22</a:t>
            </a:r>
            <a:r>
              <a:rPr lang="es-PE" sz="2000" dirty="0">
                <a:latin typeface="Arial Narrow" panose="020B0606020202030204" pitchFamily="34" charset="0"/>
              </a:rPr>
              <a:t> + </a:t>
            </a:r>
            <a:r>
              <a:rPr lang="es-PE" sz="2000" dirty="0" err="1">
                <a:latin typeface="Arial Narrow" panose="020B0606020202030204" pitchFamily="34" charset="0"/>
              </a:rPr>
              <a:t>X23</a:t>
            </a:r>
            <a:r>
              <a:rPr lang="es-PE" sz="2000" dirty="0">
                <a:latin typeface="Arial Narrow" panose="020B0606020202030204" pitchFamily="34" charset="0"/>
              </a:rPr>
              <a:t> &lt;= 12000</a:t>
            </a:r>
          </a:p>
          <a:p>
            <a:r>
              <a:rPr lang="es-PE" sz="2000" dirty="0">
                <a:latin typeface="Arial Narrow" panose="020B0606020202030204" pitchFamily="34" charset="0"/>
              </a:rPr>
              <a:t>		</a:t>
            </a:r>
            <a:r>
              <a:rPr lang="es-PE" sz="2000" dirty="0" err="1">
                <a:latin typeface="Arial Narrow" panose="020B0606020202030204" pitchFamily="34" charset="0"/>
              </a:rPr>
              <a:t>X11</a:t>
            </a:r>
            <a:r>
              <a:rPr lang="es-PE" sz="2000" dirty="0">
                <a:latin typeface="Arial Narrow" panose="020B0606020202030204" pitchFamily="34" charset="0"/>
              </a:rPr>
              <a:t>  + </a:t>
            </a:r>
            <a:r>
              <a:rPr lang="es-PE" sz="2000" dirty="0" err="1">
                <a:latin typeface="Arial Narrow" panose="020B0606020202030204" pitchFamily="34" charset="0"/>
              </a:rPr>
              <a:t>X21</a:t>
            </a:r>
            <a:r>
              <a:rPr lang="es-PE" sz="2000" dirty="0">
                <a:latin typeface="Arial Narrow" panose="020B0606020202030204" pitchFamily="34" charset="0"/>
              </a:rPr>
              <a:t> &gt;=   8000</a:t>
            </a:r>
          </a:p>
          <a:p>
            <a:r>
              <a:rPr lang="es-PE" sz="2000" dirty="0">
                <a:latin typeface="Arial Narrow" panose="020B0606020202030204" pitchFamily="34" charset="0"/>
              </a:rPr>
              <a:t>		</a:t>
            </a:r>
            <a:r>
              <a:rPr lang="es-PE" sz="2000" dirty="0" err="1">
                <a:latin typeface="Arial Narrow" panose="020B0606020202030204" pitchFamily="34" charset="0"/>
              </a:rPr>
              <a:t>X12</a:t>
            </a:r>
            <a:r>
              <a:rPr lang="es-PE" sz="2000" dirty="0">
                <a:latin typeface="Arial Narrow" panose="020B0606020202030204" pitchFamily="34" charset="0"/>
              </a:rPr>
              <a:t>  + </a:t>
            </a:r>
            <a:r>
              <a:rPr lang="es-PE" sz="2000" dirty="0" err="1">
                <a:latin typeface="Arial Narrow" panose="020B0606020202030204" pitchFamily="34" charset="0"/>
              </a:rPr>
              <a:t>X22</a:t>
            </a:r>
            <a:r>
              <a:rPr lang="es-PE" sz="2000" dirty="0">
                <a:latin typeface="Arial Narrow" panose="020B0606020202030204" pitchFamily="34" charset="0"/>
              </a:rPr>
              <a:t> &gt;= 11000</a:t>
            </a:r>
          </a:p>
          <a:p>
            <a:r>
              <a:rPr lang="es-PE" sz="2000" dirty="0">
                <a:latin typeface="Arial Narrow" panose="020B0606020202030204" pitchFamily="34" charset="0"/>
              </a:rPr>
              <a:t>		</a:t>
            </a:r>
            <a:r>
              <a:rPr lang="es-PE" sz="2000" dirty="0" err="1">
                <a:latin typeface="Arial Narrow" panose="020B0606020202030204" pitchFamily="34" charset="0"/>
              </a:rPr>
              <a:t>X13</a:t>
            </a:r>
            <a:r>
              <a:rPr lang="es-PE" sz="2000" dirty="0">
                <a:latin typeface="Arial Narrow" panose="020B0606020202030204" pitchFamily="34" charset="0"/>
              </a:rPr>
              <a:t>  + </a:t>
            </a:r>
            <a:r>
              <a:rPr lang="es-PE" sz="2000" dirty="0" err="1">
                <a:latin typeface="Arial Narrow" panose="020B0606020202030204" pitchFamily="34" charset="0"/>
              </a:rPr>
              <a:t>X23</a:t>
            </a:r>
            <a:r>
              <a:rPr lang="es-PE" sz="2000" dirty="0">
                <a:latin typeface="Arial Narrow" panose="020B0606020202030204" pitchFamily="34" charset="0"/>
              </a:rPr>
              <a:t> &gt;= 11000</a:t>
            </a:r>
          </a:p>
        </p:txBody>
      </p:sp>
      <p:sp>
        <p:nvSpPr>
          <p:cNvPr id="5" name="Rectángulo 4">
            <a:extLst>
              <a:ext uri="{FF2B5EF4-FFF2-40B4-BE49-F238E27FC236}">
                <a16:creationId xmlns:a16="http://schemas.microsoft.com/office/drawing/2014/main" id="{BC40C462-5C9F-4CE2-B65B-F56F47C85AA9}"/>
              </a:ext>
            </a:extLst>
          </p:cNvPr>
          <p:cNvSpPr/>
          <p:nvPr/>
        </p:nvSpPr>
        <p:spPr>
          <a:xfrm>
            <a:off x="6909761" y="4272677"/>
            <a:ext cx="4618008" cy="2585323"/>
          </a:xfrm>
          <a:prstGeom prst="rect">
            <a:avLst/>
          </a:prstGeom>
        </p:spPr>
        <p:txBody>
          <a:bodyPr wrap="square">
            <a:spAutoFit/>
          </a:bodyPr>
          <a:lstStyle/>
          <a:p>
            <a:r>
              <a:rPr lang="es-PE" dirty="0"/>
              <a:t> </a:t>
            </a:r>
            <a:r>
              <a:rPr lang="en-US" dirty="0"/>
              <a:t> 1)      8559.200</a:t>
            </a:r>
          </a:p>
          <a:p>
            <a:r>
              <a:rPr lang="en-US" dirty="0"/>
              <a:t>  VARIABLE        VALUE          REDUCED COST</a:t>
            </a:r>
          </a:p>
          <a:p>
            <a:r>
              <a:rPr lang="en-US" dirty="0"/>
              <a:t>       </a:t>
            </a:r>
            <a:r>
              <a:rPr lang="en-US" dirty="0" err="1"/>
              <a:t>X11</a:t>
            </a:r>
            <a:r>
              <a:rPr lang="en-US" dirty="0"/>
              <a:t>       7000.000000          0.000000</a:t>
            </a:r>
          </a:p>
          <a:p>
            <a:r>
              <a:rPr lang="en-US" dirty="0"/>
              <a:t>       </a:t>
            </a:r>
            <a:r>
              <a:rPr lang="en-US" dirty="0" err="1"/>
              <a:t>X12</a:t>
            </a:r>
            <a:r>
              <a:rPr lang="en-US" dirty="0"/>
              <a:t>     13000.000000          0.000000</a:t>
            </a:r>
          </a:p>
          <a:p>
            <a:r>
              <a:rPr lang="en-US" dirty="0"/>
              <a:t>       </a:t>
            </a:r>
            <a:r>
              <a:rPr lang="en-US" dirty="0" err="1"/>
              <a:t>X13</a:t>
            </a:r>
            <a:r>
              <a:rPr lang="en-US" dirty="0"/>
              <a:t>              0.000000          0.011300</a:t>
            </a:r>
          </a:p>
          <a:p>
            <a:r>
              <a:rPr lang="en-US" dirty="0"/>
              <a:t>       </a:t>
            </a:r>
            <a:r>
              <a:rPr lang="en-US" dirty="0" err="1"/>
              <a:t>X21</a:t>
            </a:r>
            <a:r>
              <a:rPr lang="en-US" dirty="0"/>
              <a:t>       1000.000000          0.000000</a:t>
            </a:r>
          </a:p>
          <a:p>
            <a:r>
              <a:rPr lang="en-US" dirty="0"/>
              <a:t>       </a:t>
            </a:r>
            <a:r>
              <a:rPr lang="en-US" dirty="0" err="1"/>
              <a:t>X22</a:t>
            </a:r>
            <a:r>
              <a:rPr lang="en-US" dirty="0"/>
              <a:t>              0.000000          0.002300</a:t>
            </a:r>
          </a:p>
          <a:p>
            <a:r>
              <a:rPr lang="en-US" dirty="0"/>
              <a:t>       </a:t>
            </a:r>
            <a:r>
              <a:rPr lang="en-US" dirty="0" err="1"/>
              <a:t>X23</a:t>
            </a:r>
            <a:r>
              <a:rPr lang="en-US" dirty="0"/>
              <a:t>      11000.000000          0.000000</a:t>
            </a:r>
          </a:p>
          <a:p>
            <a:r>
              <a:rPr lang="en-US" dirty="0"/>
              <a:t>       </a:t>
            </a:r>
            <a:endParaRPr lang="es-PE" dirty="0"/>
          </a:p>
        </p:txBody>
      </p:sp>
    </p:spTree>
    <p:extLst>
      <p:ext uri="{BB962C8B-B14F-4D97-AF65-F5344CB8AC3E}">
        <p14:creationId xmlns:p14="http://schemas.microsoft.com/office/powerpoint/2010/main" val="151631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F734CF80-092D-490B-BED1-EAF514515F6F}"/>
              </a:ext>
            </a:extLst>
          </p:cNvPr>
          <p:cNvSpPr/>
          <p:nvPr/>
        </p:nvSpPr>
        <p:spPr>
          <a:xfrm>
            <a:off x="6096000" y="249563"/>
            <a:ext cx="6096000"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fontAlgn="base">
              <a:spcBef>
                <a:spcPct val="0"/>
              </a:spcBef>
              <a:spcAft>
                <a:spcPct val="0"/>
              </a:spcAft>
            </a:pPr>
            <a:r>
              <a:rPr lang="es-PE" sz="3200" dirty="0">
                <a:solidFill>
                  <a:schemeClr val="bg1"/>
                </a:solidFill>
                <a:latin typeface="Bauhaus 93" pitchFamily="82" charset="0"/>
              </a:rPr>
              <a:t>Problema 3</a:t>
            </a:r>
          </a:p>
        </p:txBody>
      </p:sp>
      <p:sp>
        <p:nvSpPr>
          <p:cNvPr id="2" name="Rectángulo 1">
            <a:extLst>
              <a:ext uri="{FF2B5EF4-FFF2-40B4-BE49-F238E27FC236}">
                <a16:creationId xmlns:a16="http://schemas.microsoft.com/office/drawing/2014/main" id="{70DE1BFF-3961-4056-A77B-A5EE600CAE05}"/>
              </a:ext>
            </a:extLst>
          </p:cNvPr>
          <p:cNvSpPr/>
          <p:nvPr/>
        </p:nvSpPr>
        <p:spPr>
          <a:xfrm>
            <a:off x="0" y="1288668"/>
            <a:ext cx="6096000" cy="1015663"/>
          </a:xfrm>
          <a:prstGeom prst="rect">
            <a:avLst/>
          </a:prstGeom>
        </p:spPr>
        <p:txBody>
          <a:bodyPr wrap="square">
            <a:spAutoFit/>
          </a:bodyPr>
          <a:lstStyle/>
          <a:p>
            <a:pPr marL="64770">
              <a:spcBef>
                <a:spcPts val="1165"/>
              </a:spcBef>
              <a:spcAft>
                <a:spcPts val="0"/>
              </a:spcAft>
            </a:pPr>
            <a:r>
              <a:rPr lang="es-ES" sz="2000" dirty="0">
                <a:latin typeface="Arial Narrow" panose="020B0606020202030204" pitchFamily="34" charset="0"/>
                <a:ea typeface="Tahoma" panose="020B0604030504040204" pitchFamily="34" charset="0"/>
              </a:rPr>
              <a:t>En</a:t>
            </a:r>
            <a:r>
              <a:rPr lang="es-ES" sz="2000" spc="250"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el</a:t>
            </a:r>
            <a:r>
              <a:rPr lang="es-ES" sz="2000" spc="255"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problema</a:t>
            </a:r>
            <a:r>
              <a:rPr lang="es-ES" sz="2000" spc="250"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de</a:t>
            </a:r>
            <a:r>
              <a:rPr lang="es-ES" sz="2000" spc="260"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transporte,</a:t>
            </a:r>
            <a:r>
              <a:rPr lang="es-ES" sz="2000" spc="250"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se</a:t>
            </a:r>
            <a:r>
              <a:rPr lang="es-ES" sz="2000" spc="255"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pide</a:t>
            </a:r>
            <a:r>
              <a:rPr lang="es-ES" sz="2000" spc="255" dirty="0">
                <a:latin typeface="Arial Narrow" panose="020B0606020202030204" pitchFamily="34" charset="0"/>
                <a:ea typeface="Tahoma" panose="020B0604030504040204" pitchFamily="34" charset="0"/>
              </a:rPr>
              <a:t> desarrollar y resolver el modelos matemático usando el </a:t>
            </a:r>
            <a:r>
              <a:rPr lang="es-ES" sz="2000" b="1" spc="255" dirty="0">
                <a:solidFill>
                  <a:srgbClr val="FF0000"/>
                </a:solidFill>
                <a:latin typeface="Arial Narrow" panose="020B0606020202030204" pitchFamily="34" charset="0"/>
                <a:ea typeface="Tahoma" panose="020B0604030504040204" pitchFamily="34" charset="0"/>
              </a:rPr>
              <a:t>Método Vogel</a:t>
            </a:r>
            <a:r>
              <a:rPr lang="es-ES" sz="2000" spc="255" dirty="0">
                <a:latin typeface="Arial Narrow" panose="020B0606020202030204" pitchFamily="34" charset="0"/>
                <a:ea typeface="Tahoma" panose="020B0604030504040204" pitchFamily="34" charset="0"/>
              </a:rPr>
              <a:t>.</a:t>
            </a:r>
            <a:endParaRPr lang="es-PE" sz="2000" dirty="0">
              <a:latin typeface="Arial Narrow" panose="020B0606020202030204" pitchFamily="34" charset="0"/>
              <a:ea typeface="Tahoma" panose="020B0604030504040204" pitchFamily="34" charset="0"/>
            </a:endParaRPr>
          </a:p>
        </p:txBody>
      </p:sp>
      <p:sp>
        <p:nvSpPr>
          <p:cNvPr id="12" name="TextShape 2">
            <a:extLst>
              <a:ext uri="{FF2B5EF4-FFF2-40B4-BE49-F238E27FC236}">
                <a16:creationId xmlns:a16="http://schemas.microsoft.com/office/drawing/2014/main" id="{EB60C537-D0C0-41DA-BBE2-BBCE5DA71E25}"/>
              </a:ext>
            </a:extLst>
          </p:cNvPr>
          <p:cNvSpPr txBox="1"/>
          <p:nvPr/>
        </p:nvSpPr>
        <p:spPr>
          <a:xfrm>
            <a:off x="6096000" y="1214640"/>
            <a:ext cx="6108000" cy="838447"/>
          </a:xfrm>
          <a:prstGeom prst="rect">
            <a:avLst/>
          </a:prstGeom>
          <a:noFill/>
          <a:ln w="9360">
            <a:noFill/>
          </a:ln>
        </p:spPr>
        <p:txBody>
          <a:bodyPr>
            <a:noAutofit/>
          </a:bodyPr>
          <a:lstStyle/>
          <a:p>
            <a:pPr marL="343080" indent="-342720"/>
            <a:r>
              <a:rPr lang="es-ES" sz="2000" b="1" spc="-1" dirty="0">
                <a:solidFill>
                  <a:srgbClr val="FF0000"/>
                </a:solidFill>
                <a:latin typeface="Arial Narrow" panose="020B0606020202030204" pitchFamily="34" charset="0"/>
              </a:rPr>
              <a:t>I.	Identificación de variables. </a:t>
            </a:r>
          </a:p>
          <a:p>
            <a:pPr marL="343080" indent="-342720"/>
            <a:r>
              <a:rPr lang="es-ES" sz="2000" b="1" spc="-1" dirty="0">
                <a:solidFill>
                  <a:schemeClr val="accent1">
                    <a:lumMod val="75000"/>
                  </a:schemeClr>
                </a:solidFill>
                <a:latin typeface="Arial Narrow" panose="020B0606020202030204" pitchFamily="34" charset="0"/>
              </a:rPr>
              <a:t>	</a:t>
            </a:r>
            <a:r>
              <a:rPr lang="es-ES" sz="2000" b="1" spc="-1" dirty="0" err="1">
                <a:solidFill>
                  <a:schemeClr val="accent1">
                    <a:lumMod val="75000"/>
                  </a:schemeClr>
                </a:solidFill>
                <a:latin typeface="Arial Narrow" panose="020B0606020202030204" pitchFamily="34" charset="0"/>
              </a:rPr>
              <a:t>Xij</a:t>
            </a:r>
            <a:r>
              <a:rPr lang="es-ES" sz="2000" b="1" spc="-1" dirty="0">
                <a:solidFill>
                  <a:schemeClr val="accent1">
                    <a:lumMod val="75000"/>
                  </a:schemeClr>
                </a:solidFill>
                <a:latin typeface="Arial Narrow" panose="020B0606020202030204" pitchFamily="34" charset="0"/>
              </a:rPr>
              <a:t> = # de unidades a enviar del origen i al destino j</a:t>
            </a:r>
          </a:p>
          <a:p>
            <a:pPr marL="343080" indent="-342720"/>
            <a:endParaRPr lang="es-ES" sz="2000" b="1" spc="-1" dirty="0">
              <a:solidFill>
                <a:srgbClr val="FF0000"/>
              </a:solidFill>
              <a:latin typeface="Arial Narrow" panose="020B0606020202030204" pitchFamily="34" charset="0"/>
            </a:endParaRPr>
          </a:p>
          <a:p>
            <a:pPr marL="343080" indent="-342720"/>
            <a:endParaRPr lang="es-ES" sz="2000" b="1" spc="-1" dirty="0">
              <a:solidFill>
                <a:srgbClr val="FF0000"/>
              </a:solidFill>
              <a:latin typeface="Arial Narrow" panose="020B0606020202030204" pitchFamily="34" charset="0"/>
            </a:endParaRPr>
          </a:p>
          <a:p>
            <a:pPr marL="343080" indent="-342720"/>
            <a:endParaRPr lang="es-ES" sz="2000" b="1" spc="-1" dirty="0">
              <a:solidFill>
                <a:schemeClr val="accent1">
                  <a:lumMod val="75000"/>
                </a:schemeClr>
              </a:solidFill>
              <a:latin typeface="Arial Narrow" panose="020B0606020202030204" pitchFamily="34" charset="0"/>
            </a:endParaRPr>
          </a:p>
        </p:txBody>
      </p:sp>
      <p:sp>
        <p:nvSpPr>
          <p:cNvPr id="3" name="Rectángulo 2">
            <a:extLst>
              <a:ext uri="{FF2B5EF4-FFF2-40B4-BE49-F238E27FC236}">
                <a16:creationId xmlns:a16="http://schemas.microsoft.com/office/drawing/2014/main" id="{2DB8234A-0721-4388-A9A9-28AA2E75C8D4}"/>
              </a:ext>
            </a:extLst>
          </p:cNvPr>
          <p:cNvSpPr/>
          <p:nvPr/>
        </p:nvSpPr>
        <p:spPr>
          <a:xfrm>
            <a:off x="6096000" y="3378552"/>
            <a:ext cx="4203940" cy="2862322"/>
          </a:xfrm>
          <a:prstGeom prst="rect">
            <a:avLst/>
          </a:prstGeom>
        </p:spPr>
        <p:txBody>
          <a:bodyPr wrap="square">
            <a:spAutoFit/>
          </a:bodyPr>
          <a:lstStyle/>
          <a:p>
            <a:pPr marL="343080" indent="-342720"/>
            <a:r>
              <a:rPr lang="es-ES" sz="2000" b="1" spc="-1" dirty="0">
                <a:solidFill>
                  <a:srgbClr val="FF0000"/>
                </a:solidFill>
                <a:latin typeface="Arial Narrow" panose="020B0606020202030204" pitchFamily="34" charset="0"/>
              </a:rPr>
              <a:t>III	Identificación de Restricciones.</a:t>
            </a:r>
          </a:p>
          <a:p>
            <a:pPr marL="343080" indent="-342720"/>
            <a:r>
              <a:rPr lang="es-ES" sz="2000" b="1" spc="-1" dirty="0">
                <a:solidFill>
                  <a:schemeClr val="accent1">
                    <a:lumMod val="75000"/>
                  </a:schemeClr>
                </a:solidFill>
                <a:latin typeface="Arial Narrow" panose="020B0606020202030204" pitchFamily="34" charset="0"/>
              </a:rPr>
              <a:t>		</a:t>
            </a:r>
            <a:r>
              <a:rPr lang="es-ES" sz="2000" b="1" spc="-1" dirty="0" err="1">
                <a:solidFill>
                  <a:schemeClr val="accent1">
                    <a:lumMod val="75000"/>
                  </a:schemeClr>
                </a:solidFill>
                <a:latin typeface="Arial Narrow" panose="020B0606020202030204" pitchFamily="34" charset="0"/>
              </a:rPr>
              <a:t>X11</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X12</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X13</a:t>
            </a:r>
            <a:r>
              <a:rPr lang="es-ES" sz="2000" b="1" spc="-1" dirty="0">
                <a:solidFill>
                  <a:schemeClr val="accent1">
                    <a:lumMod val="75000"/>
                  </a:schemeClr>
                </a:solidFill>
                <a:latin typeface="Arial Narrow" panose="020B0606020202030204" pitchFamily="34" charset="0"/>
              </a:rPr>
              <a:t> ≤ 45</a:t>
            </a:r>
          </a:p>
          <a:p>
            <a:pPr marL="343080" indent="-342720"/>
            <a:r>
              <a:rPr lang="es-ES" sz="2000" b="1" spc="-1" dirty="0">
                <a:solidFill>
                  <a:schemeClr val="accent1">
                    <a:lumMod val="75000"/>
                  </a:schemeClr>
                </a:solidFill>
                <a:latin typeface="Arial Narrow" panose="020B0606020202030204" pitchFamily="34" charset="0"/>
              </a:rPr>
              <a:t>		</a:t>
            </a:r>
            <a:r>
              <a:rPr lang="es-ES" sz="2000" b="1" spc="-1" dirty="0" err="1">
                <a:solidFill>
                  <a:schemeClr val="accent1">
                    <a:lumMod val="75000"/>
                  </a:schemeClr>
                </a:solidFill>
                <a:latin typeface="Arial Narrow" panose="020B0606020202030204" pitchFamily="34" charset="0"/>
              </a:rPr>
              <a:t>X21</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X22</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X23</a:t>
            </a:r>
            <a:r>
              <a:rPr lang="es-ES" sz="2000" b="1" spc="-1" dirty="0">
                <a:solidFill>
                  <a:schemeClr val="accent1">
                    <a:lumMod val="75000"/>
                  </a:schemeClr>
                </a:solidFill>
                <a:latin typeface="Arial Narrow" panose="020B0606020202030204" pitchFamily="34" charset="0"/>
              </a:rPr>
              <a:t> ≤ 50</a:t>
            </a:r>
          </a:p>
          <a:p>
            <a:pPr marL="343080" indent="-342720"/>
            <a:r>
              <a:rPr lang="es-ES" sz="2000" b="1" spc="-1" dirty="0">
                <a:solidFill>
                  <a:schemeClr val="accent1">
                    <a:lumMod val="75000"/>
                  </a:schemeClr>
                </a:solidFill>
                <a:latin typeface="Arial Narrow" panose="020B0606020202030204" pitchFamily="34" charset="0"/>
              </a:rPr>
              <a:t>		</a:t>
            </a:r>
            <a:r>
              <a:rPr lang="es-ES" sz="2000" b="1" spc="-1" dirty="0" err="1">
                <a:solidFill>
                  <a:schemeClr val="accent1">
                    <a:lumMod val="75000"/>
                  </a:schemeClr>
                </a:solidFill>
                <a:latin typeface="Arial Narrow" panose="020B0606020202030204" pitchFamily="34" charset="0"/>
              </a:rPr>
              <a:t>X31</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X32</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X33</a:t>
            </a:r>
            <a:r>
              <a:rPr lang="es-ES" sz="2000" b="1" spc="-1" dirty="0">
                <a:solidFill>
                  <a:schemeClr val="accent1">
                    <a:lumMod val="75000"/>
                  </a:schemeClr>
                </a:solidFill>
                <a:latin typeface="Arial Narrow" panose="020B0606020202030204" pitchFamily="34" charset="0"/>
              </a:rPr>
              <a:t> ≤ 45</a:t>
            </a:r>
          </a:p>
          <a:p>
            <a:pPr marL="343080" indent="-342720"/>
            <a:r>
              <a:rPr lang="es-ES" sz="2000" b="1" spc="-1" dirty="0">
                <a:solidFill>
                  <a:schemeClr val="accent1">
                    <a:lumMod val="75000"/>
                  </a:schemeClr>
                </a:solidFill>
                <a:latin typeface="Arial Narrow" panose="020B0606020202030204" pitchFamily="34" charset="0"/>
              </a:rPr>
              <a:t>		</a:t>
            </a:r>
            <a:r>
              <a:rPr lang="es-ES" sz="2000" b="1" spc="-1" dirty="0" err="1">
                <a:solidFill>
                  <a:schemeClr val="accent1">
                    <a:lumMod val="75000"/>
                  </a:schemeClr>
                </a:solidFill>
                <a:latin typeface="Arial Narrow" panose="020B0606020202030204" pitchFamily="34" charset="0"/>
              </a:rPr>
              <a:t>X41</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X42</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X43</a:t>
            </a:r>
            <a:r>
              <a:rPr lang="es-ES" sz="2000" b="1" spc="-1" dirty="0">
                <a:solidFill>
                  <a:schemeClr val="accent1">
                    <a:lumMod val="75000"/>
                  </a:schemeClr>
                </a:solidFill>
                <a:latin typeface="Arial Narrow" panose="020B0606020202030204" pitchFamily="34" charset="0"/>
              </a:rPr>
              <a:t> ≤ 30</a:t>
            </a:r>
          </a:p>
          <a:p>
            <a:pPr marL="343080" indent="-342720"/>
            <a:r>
              <a:rPr lang="es-ES" sz="2000" b="1" spc="-1" dirty="0">
                <a:solidFill>
                  <a:schemeClr val="accent1">
                    <a:lumMod val="75000"/>
                  </a:schemeClr>
                </a:solidFill>
                <a:latin typeface="Arial Narrow" panose="020B0606020202030204" pitchFamily="34" charset="0"/>
              </a:rPr>
              <a:t>		</a:t>
            </a:r>
            <a:r>
              <a:rPr lang="es-ES" sz="2000" b="1" spc="-1" dirty="0" err="1">
                <a:solidFill>
                  <a:srgbClr val="7030A0"/>
                </a:solidFill>
                <a:latin typeface="Arial Narrow" panose="020B0606020202030204" pitchFamily="34" charset="0"/>
              </a:rPr>
              <a:t>X11</a:t>
            </a:r>
            <a:r>
              <a:rPr lang="es-ES" sz="2000" b="1" spc="-1" dirty="0">
                <a:solidFill>
                  <a:srgbClr val="7030A0"/>
                </a:solidFill>
                <a:latin typeface="Arial Narrow" panose="020B0606020202030204" pitchFamily="34" charset="0"/>
              </a:rPr>
              <a:t> + </a:t>
            </a:r>
            <a:r>
              <a:rPr lang="es-ES" sz="2000" b="1" spc="-1" dirty="0" err="1">
                <a:solidFill>
                  <a:srgbClr val="7030A0"/>
                </a:solidFill>
                <a:latin typeface="Arial Narrow" panose="020B0606020202030204" pitchFamily="34" charset="0"/>
              </a:rPr>
              <a:t>X21</a:t>
            </a:r>
            <a:r>
              <a:rPr lang="es-ES" sz="2000" b="1" spc="-1" dirty="0">
                <a:solidFill>
                  <a:srgbClr val="7030A0"/>
                </a:solidFill>
                <a:latin typeface="Arial Narrow" panose="020B0606020202030204" pitchFamily="34" charset="0"/>
              </a:rPr>
              <a:t>  + </a:t>
            </a:r>
            <a:r>
              <a:rPr lang="es-ES" sz="2000" b="1" spc="-1" dirty="0" err="1">
                <a:solidFill>
                  <a:srgbClr val="7030A0"/>
                </a:solidFill>
                <a:latin typeface="Arial Narrow" panose="020B0606020202030204" pitchFamily="34" charset="0"/>
              </a:rPr>
              <a:t>X31</a:t>
            </a:r>
            <a:r>
              <a:rPr lang="es-ES" sz="2000" b="1" spc="-1" dirty="0">
                <a:solidFill>
                  <a:srgbClr val="7030A0"/>
                </a:solidFill>
                <a:latin typeface="Arial Narrow" panose="020B0606020202030204" pitchFamily="34" charset="0"/>
              </a:rPr>
              <a:t>  + </a:t>
            </a:r>
            <a:r>
              <a:rPr lang="es-ES" sz="2000" b="1" spc="-1" dirty="0" err="1">
                <a:solidFill>
                  <a:srgbClr val="7030A0"/>
                </a:solidFill>
                <a:latin typeface="Arial Narrow" panose="020B0606020202030204" pitchFamily="34" charset="0"/>
              </a:rPr>
              <a:t>X41</a:t>
            </a:r>
            <a:r>
              <a:rPr lang="es-ES" sz="2000" b="1" spc="-1" dirty="0">
                <a:solidFill>
                  <a:srgbClr val="7030A0"/>
                </a:solidFill>
                <a:latin typeface="Arial Narrow" panose="020B0606020202030204" pitchFamily="34" charset="0"/>
              </a:rPr>
              <a:t> =   90</a:t>
            </a:r>
          </a:p>
          <a:p>
            <a:pPr marL="343080" indent="-342720"/>
            <a:r>
              <a:rPr lang="es-ES" sz="2000" b="1" spc="-1" dirty="0">
                <a:solidFill>
                  <a:srgbClr val="7030A0"/>
                </a:solidFill>
                <a:latin typeface="Arial Narrow" panose="020B0606020202030204" pitchFamily="34" charset="0"/>
              </a:rPr>
              <a:t>		</a:t>
            </a:r>
            <a:r>
              <a:rPr lang="es-ES" sz="2000" b="1" spc="-1" dirty="0" err="1">
                <a:solidFill>
                  <a:srgbClr val="7030A0"/>
                </a:solidFill>
                <a:latin typeface="Arial Narrow" panose="020B0606020202030204" pitchFamily="34" charset="0"/>
              </a:rPr>
              <a:t>X12</a:t>
            </a:r>
            <a:r>
              <a:rPr lang="es-ES" sz="2000" b="1" spc="-1" dirty="0">
                <a:solidFill>
                  <a:srgbClr val="7030A0"/>
                </a:solidFill>
                <a:latin typeface="Arial Narrow" panose="020B0606020202030204" pitchFamily="34" charset="0"/>
              </a:rPr>
              <a:t> + </a:t>
            </a:r>
            <a:r>
              <a:rPr lang="es-ES" sz="2000" b="1" spc="-1" dirty="0" err="1">
                <a:solidFill>
                  <a:srgbClr val="7030A0"/>
                </a:solidFill>
                <a:latin typeface="Arial Narrow" panose="020B0606020202030204" pitchFamily="34" charset="0"/>
              </a:rPr>
              <a:t>X22</a:t>
            </a:r>
            <a:r>
              <a:rPr lang="es-ES" sz="2000" b="1" spc="-1" dirty="0">
                <a:solidFill>
                  <a:srgbClr val="7030A0"/>
                </a:solidFill>
                <a:latin typeface="Arial Narrow" panose="020B0606020202030204" pitchFamily="34" charset="0"/>
              </a:rPr>
              <a:t>  + </a:t>
            </a:r>
            <a:r>
              <a:rPr lang="es-ES" sz="2000" b="1" spc="-1" dirty="0" err="1">
                <a:solidFill>
                  <a:srgbClr val="7030A0"/>
                </a:solidFill>
                <a:latin typeface="Arial Narrow" panose="020B0606020202030204" pitchFamily="34" charset="0"/>
              </a:rPr>
              <a:t>X32</a:t>
            </a:r>
            <a:r>
              <a:rPr lang="es-ES" sz="2000" b="1" spc="-1" dirty="0">
                <a:solidFill>
                  <a:srgbClr val="7030A0"/>
                </a:solidFill>
                <a:latin typeface="Arial Narrow" panose="020B0606020202030204" pitchFamily="34" charset="0"/>
              </a:rPr>
              <a:t>  + </a:t>
            </a:r>
            <a:r>
              <a:rPr lang="es-ES" sz="2000" b="1" spc="-1" dirty="0" err="1">
                <a:solidFill>
                  <a:srgbClr val="7030A0"/>
                </a:solidFill>
                <a:latin typeface="Arial Narrow" panose="020B0606020202030204" pitchFamily="34" charset="0"/>
              </a:rPr>
              <a:t>X42</a:t>
            </a:r>
            <a:r>
              <a:rPr lang="es-ES" sz="2000" b="1" spc="-1" dirty="0">
                <a:solidFill>
                  <a:srgbClr val="7030A0"/>
                </a:solidFill>
                <a:latin typeface="Arial Narrow" panose="020B0606020202030204" pitchFamily="34" charset="0"/>
              </a:rPr>
              <a:t> =   30</a:t>
            </a:r>
          </a:p>
          <a:p>
            <a:pPr marL="343080" indent="-342720"/>
            <a:r>
              <a:rPr lang="es-ES" sz="2000" b="1" spc="-1" dirty="0">
                <a:solidFill>
                  <a:srgbClr val="7030A0"/>
                </a:solidFill>
                <a:latin typeface="Arial Narrow" panose="020B0606020202030204" pitchFamily="34" charset="0"/>
              </a:rPr>
              <a:t>		</a:t>
            </a:r>
            <a:r>
              <a:rPr lang="es-ES" sz="2000" b="1" spc="-1" dirty="0" err="1">
                <a:solidFill>
                  <a:srgbClr val="7030A0"/>
                </a:solidFill>
                <a:latin typeface="Arial Narrow" panose="020B0606020202030204" pitchFamily="34" charset="0"/>
              </a:rPr>
              <a:t>X13</a:t>
            </a:r>
            <a:r>
              <a:rPr lang="es-ES" sz="2000" b="1" spc="-1" dirty="0">
                <a:solidFill>
                  <a:srgbClr val="7030A0"/>
                </a:solidFill>
                <a:latin typeface="Arial Narrow" panose="020B0606020202030204" pitchFamily="34" charset="0"/>
              </a:rPr>
              <a:t> + </a:t>
            </a:r>
            <a:r>
              <a:rPr lang="es-ES" sz="2000" b="1" spc="-1" dirty="0" err="1">
                <a:solidFill>
                  <a:srgbClr val="7030A0"/>
                </a:solidFill>
                <a:latin typeface="Arial Narrow" panose="020B0606020202030204" pitchFamily="34" charset="0"/>
              </a:rPr>
              <a:t>X23</a:t>
            </a:r>
            <a:r>
              <a:rPr lang="es-ES" sz="2000" b="1" spc="-1" dirty="0">
                <a:solidFill>
                  <a:srgbClr val="7030A0"/>
                </a:solidFill>
                <a:latin typeface="Arial Narrow" panose="020B0606020202030204" pitchFamily="34" charset="0"/>
              </a:rPr>
              <a:t>  + </a:t>
            </a:r>
            <a:r>
              <a:rPr lang="es-ES" sz="2000" b="1" spc="-1" dirty="0" err="1">
                <a:solidFill>
                  <a:srgbClr val="7030A0"/>
                </a:solidFill>
                <a:latin typeface="Arial Narrow" panose="020B0606020202030204" pitchFamily="34" charset="0"/>
              </a:rPr>
              <a:t>X33</a:t>
            </a:r>
            <a:r>
              <a:rPr lang="es-ES" sz="2000" b="1" spc="-1" dirty="0">
                <a:solidFill>
                  <a:srgbClr val="7030A0"/>
                </a:solidFill>
                <a:latin typeface="Arial Narrow" panose="020B0606020202030204" pitchFamily="34" charset="0"/>
              </a:rPr>
              <a:t>  + </a:t>
            </a:r>
            <a:r>
              <a:rPr lang="es-ES" sz="2000" b="1" spc="-1" dirty="0" err="1">
                <a:solidFill>
                  <a:srgbClr val="7030A0"/>
                </a:solidFill>
                <a:latin typeface="Arial Narrow" panose="020B0606020202030204" pitchFamily="34" charset="0"/>
              </a:rPr>
              <a:t>X43</a:t>
            </a:r>
            <a:r>
              <a:rPr lang="es-ES" sz="2000" b="1" spc="-1" dirty="0">
                <a:solidFill>
                  <a:srgbClr val="7030A0"/>
                </a:solidFill>
                <a:latin typeface="Arial Narrow" panose="020B0606020202030204" pitchFamily="34" charset="0"/>
              </a:rPr>
              <a:t> =   50</a:t>
            </a:r>
          </a:p>
          <a:p>
            <a:pPr marL="343080" indent="-342720"/>
            <a:r>
              <a:rPr lang="es-ES" sz="2000" b="1" spc="-1" dirty="0">
                <a:solidFill>
                  <a:schemeClr val="accent1">
                    <a:lumMod val="75000"/>
                  </a:schemeClr>
                </a:solidFill>
                <a:latin typeface="Arial Narrow" panose="020B0606020202030204" pitchFamily="34" charset="0"/>
              </a:rPr>
              <a:t>			           </a:t>
            </a:r>
            <a:r>
              <a:rPr lang="es-ES" sz="2000" b="1" spc="-1" dirty="0" err="1">
                <a:solidFill>
                  <a:schemeClr val="accent1">
                    <a:lumMod val="75000"/>
                  </a:schemeClr>
                </a:solidFill>
                <a:latin typeface="Arial Narrow" panose="020B0606020202030204" pitchFamily="34" charset="0"/>
              </a:rPr>
              <a:t>Xij</a:t>
            </a:r>
            <a:r>
              <a:rPr lang="es-ES" sz="2000" b="1" spc="-1" dirty="0">
                <a:solidFill>
                  <a:schemeClr val="accent1">
                    <a:lumMod val="75000"/>
                  </a:schemeClr>
                </a:solidFill>
                <a:latin typeface="Arial Narrow" panose="020B0606020202030204" pitchFamily="34" charset="0"/>
              </a:rPr>
              <a:t>          ≥ 0</a:t>
            </a:r>
            <a:endParaRPr lang="es-PE" sz="2000" dirty="0"/>
          </a:p>
        </p:txBody>
      </p:sp>
      <p:sp>
        <p:nvSpPr>
          <p:cNvPr id="4" name="Rectángulo 3">
            <a:extLst>
              <a:ext uri="{FF2B5EF4-FFF2-40B4-BE49-F238E27FC236}">
                <a16:creationId xmlns:a16="http://schemas.microsoft.com/office/drawing/2014/main" id="{313D8481-CF32-4000-BA9A-CA5E70FEAE4C}"/>
              </a:ext>
            </a:extLst>
          </p:cNvPr>
          <p:cNvSpPr/>
          <p:nvPr/>
        </p:nvSpPr>
        <p:spPr>
          <a:xfrm>
            <a:off x="6096000" y="2035696"/>
            <a:ext cx="6096000" cy="1015663"/>
          </a:xfrm>
          <a:prstGeom prst="rect">
            <a:avLst/>
          </a:prstGeom>
        </p:spPr>
        <p:txBody>
          <a:bodyPr>
            <a:spAutoFit/>
          </a:bodyPr>
          <a:lstStyle/>
          <a:p>
            <a:pPr marL="343080" indent="-342720"/>
            <a:r>
              <a:rPr lang="es-ES" sz="2000" b="1" spc="-1" dirty="0">
                <a:solidFill>
                  <a:srgbClr val="FF0000"/>
                </a:solidFill>
                <a:latin typeface="Arial Narrow" panose="020B0606020202030204" pitchFamily="34" charset="0"/>
              </a:rPr>
              <a:t>II.	Identificación de la función objetivo.</a:t>
            </a:r>
          </a:p>
          <a:p>
            <a:pPr marL="343080" indent="-342720"/>
            <a:r>
              <a:rPr lang="es-ES" sz="2000" b="1" spc="-1" dirty="0">
                <a:solidFill>
                  <a:schemeClr val="accent1">
                    <a:lumMod val="75000"/>
                  </a:schemeClr>
                </a:solidFill>
                <a:latin typeface="Arial Narrow" panose="020B0606020202030204" pitchFamily="34" charset="0"/>
              </a:rPr>
              <a:t>	MIN  </a:t>
            </a:r>
            <a:r>
              <a:rPr lang="es-ES" sz="2000" b="1" spc="-1" dirty="0" err="1">
                <a:solidFill>
                  <a:schemeClr val="accent1">
                    <a:lumMod val="75000"/>
                  </a:schemeClr>
                </a:solidFill>
                <a:latin typeface="Arial Narrow" panose="020B0606020202030204" pitchFamily="34" charset="0"/>
              </a:rPr>
              <a:t>10X11</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8X12</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4X13</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9X21</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5X22</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7X23</a:t>
            </a:r>
            <a:r>
              <a:rPr lang="es-ES" sz="2000" b="1" spc="-1" dirty="0">
                <a:solidFill>
                  <a:schemeClr val="accent1">
                    <a:lumMod val="75000"/>
                  </a:schemeClr>
                </a:solidFill>
                <a:latin typeface="Arial Narrow" panose="020B0606020202030204" pitchFamily="34" charset="0"/>
              </a:rPr>
              <a:t>+</a:t>
            </a:r>
          </a:p>
          <a:p>
            <a:pPr marL="343080" indent="-342720"/>
            <a:r>
              <a:rPr lang="es-ES" sz="2000" b="1" spc="-1" dirty="0">
                <a:solidFill>
                  <a:schemeClr val="accent1">
                    <a:lumMod val="75000"/>
                  </a:schemeClr>
                </a:solidFill>
                <a:latin typeface="Arial Narrow" panose="020B0606020202030204" pitchFamily="34" charset="0"/>
              </a:rPr>
              <a:t>		   </a:t>
            </a:r>
            <a:r>
              <a:rPr lang="es-ES" sz="2000" b="1" spc="-1" dirty="0" err="1">
                <a:solidFill>
                  <a:schemeClr val="accent1">
                    <a:lumMod val="75000"/>
                  </a:schemeClr>
                </a:solidFill>
                <a:latin typeface="Arial Narrow" panose="020B0606020202030204" pitchFamily="34" charset="0"/>
              </a:rPr>
              <a:t>3X31</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6X32</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9X33</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5X41</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7X42</a:t>
            </a:r>
            <a:r>
              <a:rPr lang="es-ES" sz="2000" b="1" spc="-1" dirty="0">
                <a:solidFill>
                  <a:schemeClr val="accent1">
                    <a:lumMod val="75000"/>
                  </a:schemeClr>
                </a:solidFill>
                <a:latin typeface="Arial Narrow" panose="020B0606020202030204" pitchFamily="34" charset="0"/>
              </a:rPr>
              <a:t> + </a:t>
            </a:r>
            <a:r>
              <a:rPr lang="es-ES" sz="2000" b="1" spc="-1" dirty="0" err="1">
                <a:solidFill>
                  <a:schemeClr val="accent1">
                    <a:lumMod val="75000"/>
                  </a:schemeClr>
                </a:solidFill>
                <a:latin typeface="Arial Narrow" panose="020B0606020202030204" pitchFamily="34" charset="0"/>
              </a:rPr>
              <a:t>6X43</a:t>
            </a:r>
            <a:endParaRPr lang="es-ES" sz="2000" b="1" spc="-1" dirty="0">
              <a:solidFill>
                <a:schemeClr val="accent1">
                  <a:lumMod val="75000"/>
                </a:schemeClr>
              </a:solidFill>
              <a:latin typeface="Arial Narrow" panose="020B0606020202030204" pitchFamily="34" charset="0"/>
            </a:endParaRPr>
          </a:p>
        </p:txBody>
      </p:sp>
      <p:pic>
        <p:nvPicPr>
          <p:cNvPr id="11" name="Imagen 10">
            <a:extLst>
              <a:ext uri="{FF2B5EF4-FFF2-40B4-BE49-F238E27FC236}">
                <a16:creationId xmlns:a16="http://schemas.microsoft.com/office/drawing/2014/main" id="{257CF173-6C99-45A1-9147-89B9EDB71F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9341" y="2895549"/>
            <a:ext cx="3524742" cy="3258005"/>
          </a:xfrm>
          <a:prstGeom prst="rect">
            <a:avLst/>
          </a:prstGeom>
        </p:spPr>
      </p:pic>
      <p:cxnSp>
        <p:nvCxnSpPr>
          <p:cNvPr id="14" name="Conector recto 13">
            <a:extLst>
              <a:ext uri="{FF2B5EF4-FFF2-40B4-BE49-F238E27FC236}">
                <a16:creationId xmlns:a16="http://schemas.microsoft.com/office/drawing/2014/main" id="{D83598A0-5A75-4CE9-BB83-78920B525A35}"/>
              </a:ext>
            </a:extLst>
          </p:cNvPr>
          <p:cNvCxnSpPr/>
          <p:nvPr/>
        </p:nvCxnSpPr>
        <p:spPr>
          <a:xfrm>
            <a:off x="966158" y="2907102"/>
            <a:ext cx="0" cy="3217653"/>
          </a:xfrm>
          <a:prstGeom prst="line">
            <a:avLst/>
          </a:prstGeom>
          <a:ln w="15875"/>
        </p:spPr>
        <p:style>
          <a:lnRef idx="1">
            <a:schemeClr val="dk1"/>
          </a:lnRef>
          <a:fillRef idx="0">
            <a:schemeClr val="dk1"/>
          </a:fillRef>
          <a:effectRef idx="0">
            <a:schemeClr val="dk1"/>
          </a:effectRef>
          <a:fontRef idx="minor">
            <a:schemeClr val="tx1"/>
          </a:fontRef>
        </p:style>
      </p:cxnSp>
      <p:sp>
        <p:nvSpPr>
          <p:cNvPr id="15" name="Rectángulo 14">
            <a:extLst>
              <a:ext uri="{FF2B5EF4-FFF2-40B4-BE49-F238E27FC236}">
                <a16:creationId xmlns:a16="http://schemas.microsoft.com/office/drawing/2014/main" id="{E3A21FB7-515A-423D-BB6E-FC9B8C13F95E}"/>
              </a:ext>
            </a:extLst>
          </p:cNvPr>
          <p:cNvSpPr/>
          <p:nvPr/>
        </p:nvSpPr>
        <p:spPr>
          <a:xfrm>
            <a:off x="37379" y="2408658"/>
            <a:ext cx="5198853" cy="4098751"/>
          </a:xfrm>
          <a:prstGeom prst="rect">
            <a:avLst/>
          </a:prstGeom>
        </p:spPr>
        <p:txBody>
          <a:bodyPr wrap="square">
            <a:spAutoFit/>
          </a:bodyPr>
          <a:lstStyle/>
          <a:p>
            <a:pPr marL="64770">
              <a:lnSpc>
                <a:spcPct val="200000"/>
              </a:lnSpc>
              <a:spcBef>
                <a:spcPts val="1165"/>
              </a:spcBef>
              <a:spcAft>
                <a:spcPts val="0"/>
              </a:spcAft>
            </a:pPr>
            <a:r>
              <a:rPr lang="es-ES" dirty="0">
                <a:latin typeface="Arial Narrow" panose="020B0606020202030204" pitchFamily="34" charset="0"/>
                <a:ea typeface="Tahoma" panose="020B0604030504040204" pitchFamily="34" charset="0"/>
              </a:rPr>
              <a:t>	          1                   2             	3</a:t>
            </a:r>
          </a:p>
          <a:p>
            <a:pPr marL="64770">
              <a:lnSpc>
                <a:spcPct val="200000"/>
              </a:lnSpc>
              <a:spcBef>
                <a:spcPts val="1165"/>
              </a:spcBef>
              <a:spcAft>
                <a:spcPts val="0"/>
              </a:spcAft>
            </a:pPr>
            <a:r>
              <a:rPr lang="es-ES" dirty="0">
                <a:latin typeface="Arial Narrow" panose="020B0606020202030204" pitchFamily="34" charset="0"/>
                <a:ea typeface="Tahoma" panose="020B0604030504040204" pitchFamily="34" charset="0"/>
              </a:rPr>
              <a:t>       1					45</a:t>
            </a:r>
          </a:p>
          <a:p>
            <a:pPr marL="64770">
              <a:lnSpc>
                <a:spcPct val="200000"/>
              </a:lnSpc>
              <a:spcBef>
                <a:spcPts val="1165"/>
              </a:spcBef>
              <a:spcAft>
                <a:spcPts val="0"/>
              </a:spcAft>
            </a:pPr>
            <a:r>
              <a:rPr lang="es-ES" dirty="0">
                <a:latin typeface="Arial Narrow" panose="020B0606020202030204" pitchFamily="34" charset="0"/>
                <a:ea typeface="Tahoma" panose="020B0604030504040204" pitchFamily="34" charset="0"/>
              </a:rPr>
              <a:t>       2					50</a:t>
            </a:r>
          </a:p>
          <a:p>
            <a:pPr marL="64770">
              <a:lnSpc>
                <a:spcPct val="200000"/>
              </a:lnSpc>
              <a:spcBef>
                <a:spcPts val="1165"/>
              </a:spcBef>
              <a:spcAft>
                <a:spcPts val="0"/>
              </a:spcAft>
            </a:pPr>
            <a:r>
              <a:rPr lang="es-ES" dirty="0">
                <a:latin typeface="Arial Narrow" panose="020B0606020202030204" pitchFamily="34" charset="0"/>
                <a:ea typeface="Tahoma" panose="020B0604030504040204" pitchFamily="34" charset="0"/>
              </a:rPr>
              <a:t>       3					45</a:t>
            </a:r>
          </a:p>
          <a:p>
            <a:pPr marL="64770">
              <a:lnSpc>
                <a:spcPct val="200000"/>
              </a:lnSpc>
              <a:spcBef>
                <a:spcPts val="1165"/>
              </a:spcBef>
              <a:spcAft>
                <a:spcPts val="0"/>
              </a:spcAft>
            </a:pPr>
            <a:r>
              <a:rPr lang="es-ES" dirty="0">
                <a:latin typeface="Arial Narrow" panose="020B0606020202030204" pitchFamily="34" charset="0"/>
                <a:ea typeface="Tahoma" panose="020B0604030504040204" pitchFamily="34" charset="0"/>
              </a:rPr>
              <a:t>       4					30</a:t>
            </a:r>
          </a:p>
          <a:p>
            <a:pPr marL="64770">
              <a:lnSpc>
                <a:spcPct val="200000"/>
              </a:lnSpc>
              <a:spcBef>
                <a:spcPts val="1165"/>
              </a:spcBef>
              <a:spcAft>
                <a:spcPts val="0"/>
              </a:spcAft>
            </a:pPr>
            <a:r>
              <a:rPr lang="es-ES" dirty="0">
                <a:latin typeface="Arial Narrow" panose="020B0606020202030204" pitchFamily="34" charset="0"/>
                <a:ea typeface="Tahoma" panose="020B0604030504040204" pitchFamily="34" charset="0"/>
              </a:rPr>
              <a:t>	         </a:t>
            </a:r>
            <a:r>
              <a:rPr lang="es-ES" b="1" dirty="0">
                <a:solidFill>
                  <a:srgbClr val="7030A0"/>
                </a:solidFill>
                <a:latin typeface="Arial Narrow" panose="020B0606020202030204" pitchFamily="34" charset="0"/>
                <a:ea typeface="Tahoma" panose="020B0604030504040204" pitchFamily="34" charset="0"/>
              </a:rPr>
              <a:t>90                  30                 50</a:t>
            </a:r>
          </a:p>
        </p:txBody>
      </p:sp>
    </p:spTree>
    <p:extLst>
      <p:ext uri="{BB962C8B-B14F-4D97-AF65-F5344CB8AC3E}">
        <p14:creationId xmlns:p14="http://schemas.microsoft.com/office/powerpoint/2010/main" val="1623430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2C12C34B-3213-47DF-8AE0-6CD40B2FB30E}"/>
              </a:ext>
            </a:extLst>
          </p:cNvPr>
          <p:cNvSpPr/>
          <p:nvPr/>
        </p:nvSpPr>
        <p:spPr>
          <a:xfrm>
            <a:off x="8188735" y="1274022"/>
            <a:ext cx="3988603" cy="5324535"/>
          </a:xfrm>
          <a:prstGeom prst="rect">
            <a:avLst/>
          </a:prstGeom>
          <a:solidFill>
            <a:schemeClr val="accent5">
              <a:lumMod val="40000"/>
              <a:lumOff val="60000"/>
            </a:schemeClr>
          </a:solidFill>
        </p:spPr>
        <p:txBody>
          <a:bodyPr wrap="square">
            <a:spAutoFit/>
          </a:bodyPr>
          <a:lstStyle/>
          <a:p>
            <a:r>
              <a:rPr lang="es-PE" sz="2000" b="1" dirty="0"/>
              <a:t> </a:t>
            </a:r>
            <a:r>
              <a:rPr lang="es-PE" sz="2000" b="1" dirty="0" err="1"/>
              <a:t>OBJECTIVE</a:t>
            </a:r>
            <a:r>
              <a:rPr lang="es-PE" sz="2000" b="1" dirty="0"/>
              <a:t> </a:t>
            </a:r>
            <a:r>
              <a:rPr lang="es-PE" sz="2000" b="1" dirty="0" err="1"/>
              <a:t>FUNCTION</a:t>
            </a:r>
            <a:r>
              <a:rPr lang="es-PE" sz="2000" b="1" dirty="0"/>
              <a:t> </a:t>
            </a:r>
            <a:r>
              <a:rPr lang="es-PE" sz="2000" b="1" dirty="0" err="1"/>
              <a:t>VALUE</a:t>
            </a:r>
            <a:endParaRPr lang="es-PE" sz="2000" b="1" dirty="0"/>
          </a:p>
          <a:p>
            <a:endParaRPr lang="es-PE" sz="2000" b="1" dirty="0"/>
          </a:p>
          <a:p>
            <a:r>
              <a:rPr lang="es-PE" sz="2000" b="1" dirty="0"/>
              <a:t>        1)      785.0000</a:t>
            </a:r>
          </a:p>
          <a:p>
            <a:endParaRPr lang="es-PE" sz="2000" b="1" dirty="0"/>
          </a:p>
          <a:p>
            <a:r>
              <a:rPr lang="es-PE" sz="2000" b="1" dirty="0"/>
              <a:t>  VARIABLE    VALUE  REDUCED COST</a:t>
            </a:r>
          </a:p>
          <a:p>
            <a:r>
              <a:rPr lang="es-PE" sz="2000" b="1" dirty="0"/>
              <a:t>       X11         0.0000          4.000000</a:t>
            </a:r>
          </a:p>
          <a:p>
            <a:r>
              <a:rPr lang="es-PE" sz="2000" b="1" dirty="0"/>
              <a:t>       X12         0.0000          6.000000</a:t>
            </a:r>
          </a:p>
          <a:p>
            <a:r>
              <a:rPr lang="es-PE" sz="2000" b="1" dirty="0"/>
              <a:t>       X13        45.0000          0.000000</a:t>
            </a:r>
          </a:p>
          <a:p>
            <a:r>
              <a:rPr lang="es-PE" sz="2000" b="1" dirty="0"/>
              <a:t>       X21        15.0000          0.000000</a:t>
            </a:r>
          </a:p>
          <a:p>
            <a:r>
              <a:rPr lang="es-PE" sz="2000" b="1" dirty="0"/>
              <a:t>       X22        30.0000          0.000000</a:t>
            </a:r>
          </a:p>
          <a:p>
            <a:r>
              <a:rPr lang="es-PE" sz="2000" b="1" dirty="0"/>
              <a:t>       X23         5.0000          0.000000</a:t>
            </a:r>
          </a:p>
          <a:p>
            <a:r>
              <a:rPr lang="es-PE" sz="2000" b="1" dirty="0"/>
              <a:t>       X31        45.0000          0.000000</a:t>
            </a:r>
          </a:p>
          <a:p>
            <a:r>
              <a:rPr lang="es-PE" sz="2000" b="1" dirty="0"/>
              <a:t>       X32         0.0000          7.000000</a:t>
            </a:r>
          </a:p>
          <a:p>
            <a:r>
              <a:rPr lang="es-PE" sz="2000" b="1" dirty="0"/>
              <a:t>       X33         0.0000          8.000000</a:t>
            </a:r>
          </a:p>
          <a:p>
            <a:r>
              <a:rPr lang="es-PE" sz="2000" b="1" dirty="0"/>
              <a:t>       X41        30.0000          0.000000</a:t>
            </a:r>
          </a:p>
          <a:p>
            <a:r>
              <a:rPr lang="es-PE" sz="2000" b="1" dirty="0"/>
              <a:t>       X42         0.0000          6.000000</a:t>
            </a:r>
          </a:p>
          <a:p>
            <a:r>
              <a:rPr lang="es-PE" sz="2000" b="1" dirty="0"/>
              <a:t>       X43         0.0000          3.000000</a:t>
            </a:r>
          </a:p>
        </p:txBody>
      </p:sp>
      <p:sp>
        <p:nvSpPr>
          <p:cNvPr id="4" name="Rectángulo 3">
            <a:extLst>
              <a:ext uri="{FF2B5EF4-FFF2-40B4-BE49-F238E27FC236}">
                <a16:creationId xmlns:a16="http://schemas.microsoft.com/office/drawing/2014/main" id="{4C16645E-4258-4D4B-9325-216291E38F3B}"/>
              </a:ext>
            </a:extLst>
          </p:cNvPr>
          <p:cNvSpPr/>
          <p:nvPr/>
        </p:nvSpPr>
        <p:spPr>
          <a:xfrm>
            <a:off x="3622431" y="1489292"/>
            <a:ext cx="4566304" cy="5122941"/>
          </a:xfrm>
          <a:prstGeom prst="rect">
            <a:avLst/>
          </a:prstGeom>
          <a:solidFill>
            <a:srgbClr val="FFFF00"/>
          </a:solidFill>
        </p:spPr>
        <p:txBody>
          <a:bodyPr wrap="square">
            <a:spAutoFit/>
          </a:bodyPr>
          <a:lstStyle/>
          <a:p>
            <a:pPr>
              <a:lnSpc>
                <a:spcPct val="150000"/>
              </a:lnSpc>
            </a:pPr>
            <a:r>
              <a:rPr lang="es-PE" sz="2000" b="1" dirty="0"/>
              <a:t>MIN  </a:t>
            </a:r>
            <a:r>
              <a:rPr lang="es-PE" sz="2000" b="1" dirty="0" err="1"/>
              <a:t>10X11</a:t>
            </a:r>
            <a:r>
              <a:rPr lang="es-PE" sz="2000" b="1" dirty="0"/>
              <a:t> +  </a:t>
            </a:r>
            <a:r>
              <a:rPr lang="es-PE" sz="2000" b="1" dirty="0" err="1"/>
              <a:t>8X12</a:t>
            </a:r>
            <a:r>
              <a:rPr lang="es-PE" sz="2000" b="1" dirty="0"/>
              <a:t> + </a:t>
            </a:r>
            <a:r>
              <a:rPr lang="es-PE" sz="2000" b="1" dirty="0" err="1"/>
              <a:t>4X13</a:t>
            </a:r>
            <a:r>
              <a:rPr lang="es-PE" sz="2000" b="1" dirty="0"/>
              <a:t> + </a:t>
            </a:r>
            <a:r>
              <a:rPr lang="es-PE" sz="2000" b="1" dirty="0" err="1"/>
              <a:t>9X21</a:t>
            </a:r>
            <a:r>
              <a:rPr lang="es-PE" sz="2000" b="1" dirty="0"/>
              <a:t> + </a:t>
            </a:r>
            <a:r>
              <a:rPr lang="es-PE" sz="2000" b="1" dirty="0" err="1"/>
              <a:t>5X22</a:t>
            </a:r>
            <a:r>
              <a:rPr lang="es-PE" sz="2000" b="1" dirty="0"/>
              <a:t> + </a:t>
            </a:r>
            <a:r>
              <a:rPr lang="es-PE" sz="2000" b="1" dirty="0" err="1"/>
              <a:t>7X23</a:t>
            </a:r>
            <a:r>
              <a:rPr lang="es-PE" sz="2000" b="1" dirty="0"/>
              <a:t>+ </a:t>
            </a:r>
            <a:r>
              <a:rPr lang="es-PE" sz="2000" b="1" dirty="0" err="1"/>
              <a:t>3X31</a:t>
            </a:r>
            <a:r>
              <a:rPr lang="es-PE" sz="2000" b="1" dirty="0"/>
              <a:t> + </a:t>
            </a:r>
            <a:r>
              <a:rPr lang="es-PE" sz="2000" b="1" dirty="0" err="1"/>
              <a:t>6X32</a:t>
            </a:r>
            <a:r>
              <a:rPr lang="es-PE" sz="2000" b="1" dirty="0"/>
              <a:t> + </a:t>
            </a:r>
            <a:r>
              <a:rPr lang="es-PE" sz="2000" b="1" dirty="0" err="1"/>
              <a:t>9X33</a:t>
            </a:r>
            <a:r>
              <a:rPr lang="es-PE" sz="2000" b="1" dirty="0"/>
              <a:t> + </a:t>
            </a:r>
            <a:r>
              <a:rPr lang="es-PE" sz="2000" b="1" dirty="0" err="1"/>
              <a:t>5X41</a:t>
            </a:r>
            <a:r>
              <a:rPr lang="es-PE" sz="2000" b="1" dirty="0"/>
              <a:t> + </a:t>
            </a:r>
            <a:r>
              <a:rPr lang="es-PE" sz="2000" b="1" dirty="0" err="1"/>
              <a:t>7X42</a:t>
            </a:r>
            <a:r>
              <a:rPr lang="es-PE" sz="2000" b="1" dirty="0"/>
              <a:t> + </a:t>
            </a:r>
            <a:r>
              <a:rPr lang="es-PE" sz="2000" b="1" dirty="0" err="1"/>
              <a:t>6X43</a:t>
            </a:r>
            <a:endParaRPr lang="es-PE" sz="2000" b="1" dirty="0"/>
          </a:p>
          <a:p>
            <a:pPr>
              <a:lnSpc>
                <a:spcPct val="150000"/>
              </a:lnSpc>
            </a:pPr>
            <a:r>
              <a:rPr lang="es-PE" sz="2000" b="1" dirty="0" err="1"/>
              <a:t>ST</a:t>
            </a:r>
            <a:endParaRPr lang="es-PE" sz="2000" b="1" dirty="0"/>
          </a:p>
          <a:p>
            <a:pPr>
              <a:lnSpc>
                <a:spcPct val="150000"/>
              </a:lnSpc>
            </a:pPr>
            <a:r>
              <a:rPr lang="es-PE" sz="2000" b="1" dirty="0"/>
              <a:t>		</a:t>
            </a:r>
            <a:r>
              <a:rPr lang="es-PE" sz="2000" b="1" dirty="0" err="1"/>
              <a:t>X11</a:t>
            </a:r>
            <a:r>
              <a:rPr lang="es-PE" sz="2000" b="1" dirty="0"/>
              <a:t> + </a:t>
            </a:r>
            <a:r>
              <a:rPr lang="es-PE" sz="2000" b="1" dirty="0" err="1"/>
              <a:t>X12</a:t>
            </a:r>
            <a:r>
              <a:rPr lang="es-PE" sz="2000" b="1" dirty="0"/>
              <a:t>  + </a:t>
            </a:r>
            <a:r>
              <a:rPr lang="es-PE" sz="2000" b="1" dirty="0" err="1"/>
              <a:t>X13</a:t>
            </a:r>
            <a:r>
              <a:rPr lang="es-PE" sz="2000" b="1" dirty="0"/>
              <a:t> &lt;= 45</a:t>
            </a:r>
          </a:p>
          <a:p>
            <a:pPr>
              <a:lnSpc>
                <a:spcPct val="150000"/>
              </a:lnSpc>
            </a:pPr>
            <a:r>
              <a:rPr lang="es-PE" sz="2000" b="1" dirty="0"/>
              <a:t>		</a:t>
            </a:r>
            <a:r>
              <a:rPr lang="es-PE" sz="2000" b="1" dirty="0" err="1"/>
              <a:t>X21</a:t>
            </a:r>
            <a:r>
              <a:rPr lang="es-PE" sz="2000" b="1" dirty="0"/>
              <a:t> + </a:t>
            </a:r>
            <a:r>
              <a:rPr lang="es-PE" sz="2000" b="1" dirty="0" err="1"/>
              <a:t>X22</a:t>
            </a:r>
            <a:r>
              <a:rPr lang="es-PE" sz="2000" b="1" dirty="0"/>
              <a:t>  + </a:t>
            </a:r>
            <a:r>
              <a:rPr lang="es-PE" sz="2000" b="1" dirty="0" err="1"/>
              <a:t>X23</a:t>
            </a:r>
            <a:r>
              <a:rPr lang="es-PE" sz="2000" b="1" dirty="0"/>
              <a:t> &lt;= 50</a:t>
            </a:r>
          </a:p>
          <a:p>
            <a:pPr>
              <a:lnSpc>
                <a:spcPct val="150000"/>
              </a:lnSpc>
            </a:pPr>
            <a:r>
              <a:rPr lang="es-PE" sz="2000" b="1" dirty="0"/>
              <a:t>		</a:t>
            </a:r>
            <a:r>
              <a:rPr lang="es-PE" sz="2000" b="1" dirty="0" err="1"/>
              <a:t>X31</a:t>
            </a:r>
            <a:r>
              <a:rPr lang="es-PE" sz="2000" b="1" dirty="0"/>
              <a:t> + </a:t>
            </a:r>
            <a:r>
              <a:rPr lang="es-PE" sz="2000" b="1" dirty="0" err="1"/>
              <a:t>X32</a:t>
            </a:r>
            <a:r>
              <a:rPr lang="es-PE" sz="2000" b="1" dirty="0"/>
              <a:t>  + </a:t>
            </a:r>
            <a:r>
              <a:rPr lang="es-PE" sz="2000" b="1" dirty="0" err="1"/>
              <a:t>X33</a:t>
            </a:r>
            <a:r>
              <a:rPr lang="es-PE" sz="2000" b="1" dirty="0"/>
              <a:t> &lt;= 45</a:t>
            </a:r>
          </a:p>
          <a:p>
            <a:pPr>
              <a:lnSpc>
                <a:spcPct val="150000"/>
              </a:lnSpc>
            </a:pPr>
            <a:r>
              <a:rPr lang="es-PE" sz="2000" b="1" dirty="0"/>
              <a:t>		</a:t>
            </a:r>
            <a:r>
              <a:rPr lang="es-PE" sz="2000" b="1" dirty="0" err="1"/>
              <a:t>X41</a:t>
            </a:r>
            <a:r>
              <a:rPr lang="es-PE" sz="2000" b="1" dirty="0"/>
              <a:t> + </a:t>
            </a:r>
            <a:r>
              <a:rPr lang="es-PE" sz="2000" b="1" dirty="0" err="1"/>
              <a:t>X42</a:t>
            </a:r>
            <a:r>
              <a:rPr lang="es-PE" sz="2000" b="1" dirty="0"/>
              <a:t>  + </a:t>
            </a:r>
            <a:r>
              <a:rPr lang="es-PE" sz="2000" b="1" dirty="0" err="1"/>
              <a:t>X43</a:t>
            </a:r>
            <a:r>
              <a:rPr lang="es-PE" sz="2000" b="1" dirty="0"/>
              <a:t> &lt;= 30</a:t>
            </a:r>
          </a:p>
          <a:p>
            <a:pPr>
              <a:lnSpc>
                <a:spcPct val="150000"/>
              </a:lnSpc>
            </a:pPr>
            <a:r>
              <a:rPr lang="es-PE" sz="2000" b="1" dirty="0"/>
              <a:t>	X11 + X21  + X31  + X41 = 90</a:t>
            </a:r>
          </a:p>
          <a:p>
            <a:pPr>
              <a:lnSpc>
                <a:spcPct val="150000"/>
              </a:lnSpc>
            </a:pPr>
            <a:r>
              <a:rPr lang="es-PE" sz="2000" b="1" dirty="0"/>
              <a:t>	</a:t>
            </a:r>
            <a:r>
              <a:rPr lang="es-PE" sz="2000" b="1" dirty="0" err="1"/>
              <a:t>X12</a:t>
            </a:r>
            <a:r>
              <a:rPr lang="es-PE" sz="2000" b="1" dirty="0"/>
              <a:t> + </a:t>
            </a:r>
            <a:r>
              <a:rPr lang="es-PE" sz="2000" b="1" dirty="0" err="1"/>
              <a:t>X22</a:t>
            </a:r>
            <a:r>
              <a:rPr lang="es-PE" sz="2000" b="1" dirty="0"/>
              <a:t>  + </a:t>
            </a:r>
            <a:r>
              <a:rPr lang="es-PE" sz="2000" b="1" dirty="0" err="1"/>
              <a:t>X32</a:t>
            </a:r>
            <a:r>
              <a:rPr lang="es-PE" sz="2000" b="1" dirty="0"/>
              <a:t>  + </a:t>
            </a:r>
            <a:r>
              <a:rPr lang="es-PE" sz="2000" b="1" dirty="0" err="1"/>
              <a:t>X42</a:t>
            </a:r>
            <a:r>
              <a:rPr lang="es-PE" sz="2000" b="1" dirty="0"/>
              <a:t> = 30</a:t>
            </a:r>
          </a:p>
          <a:p>
            <a:pPr>
              <a:lnSpc>
                <a:spcPct val="150000"/>
              </a:lnSpc>
            </a:pPr>
            <a:r>
              <a:rPr lang="es-PE" sz="2000" b="1" dirty="0"/>
              <a:t>	</a:t>
            </a:r>
            <a:r>
              <a:rPr lang="es-PE" sz="2000" b="1" dirty="0" err="1"/>
              <a:t>X13</a:t>
            </a:r>
            <a:r>
              <a:rPr lang="es-PE" sz="2000" b="1" dirty="0"/>
              <a:t> + </a:t>
            </a:r>
            <a:r>
              <a:rPr lang="es-PE" sz="2000" b="1" dirty="0" err="1"/>
              <a:t>X23</a:t>
            </a:r>
            <a:r>
              <a:rPr lang="es-PE" sz="2000" b="1" dirty="0"/>
              <a:t>  + </a:t>
            </a:r>
            <a:r>
              <a:rPr lang="es-PE" sz="2000" b="1" dirty="0" err="1"/>
              <a:t>X33</a:t>
            </a:r>
            <a:r>
              <a:rPr lang="es-PE" sz="2000" b="1" dirty="0"/>
              <a:t>  + </a:t>
            </a:r>
            <a:r>
              <a:rPr lang="es-PE" sz="2000" b="1" dirty="0" err="1"/>
              <a:t>X43</a:t>
            </a:r>
            <a:r>
              <a:rPr lang="es-PE" sz="2000" b="1" dirty="0"/>
              <a:t> = 50</a:t>
            </a:r>
          </a:p>
        </p:txBody>
      </p:sp>
      <p:sp>
        <p:nvSpPr>
          <p:cNvPr id="5" name="CustomShape 5">
            <a:extLst>
              <a:ext uri="{FF2B5EF4-FFF2-40B4-BE49-F238E27FC236}">
                <a16:creationId xmlns:a16="http://schemas.microsoft.com/office/drawing/2014/main" id="{D27D94E4-7757-4E82-A8B0-F3CFDAC5BC00}"/>
              </a:ext>
            </a:extLst>
          </p:cNvPr>
          <p:cNvSpPr/>
          <p:nvPr/>
        </p:nvSpPr>
        <p:spPr>
          <a:xfrm>
            <a:off x="6096000" y="163488"/>
            <a:ext cx="6096000" cy="56304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lnSpc>
                <a:spcPts val="5800"/>
              </a:lnSpc>
              <a:spcBef>
                <a:spcPct val="0"/>
              </a:spcBef>
            </a:pPr>
            <a:r>
              <a:rPr lang="es-PE" sz="3200" dirty="0">
                <a:solidFill>
                  <a:schemeClr val="bg1"/>
                </a:solidFill>
                <a:effectLst>
                  <a:outerShdw blurRad="63500" dist="38100" dir="5400000" algn="t" rotWithShape="0">
                    <a:prstClr val="black">
                      <a:alpha val="25000"/>
                    </a:prstClr>
                  </a:outerShdw>
                </a:effectLst>
                <a:latin typeface="Bauhaus 93" pitchFamily="82" charset="0"/>
              </a:rPr>
              <a:t>Usando lindo</a:t>
            </a:r>
          </a:p>
        </p:txBody>
      </p:sp>
      <p:pic>
        <p:nvPicPr>
          <p:cNvPr id="6" name="Imagen 5">
            <a:extLst>
              <a:ext uri="{FF2B5EF4-FFF2-40B4-BE49-F238E27FC236}">
                <a16:creationId xmlns:a16="http://schemas.microsoft.com/office/drawing/2014/main" id="{F14E7D9D-3238-2AF3-49DB-67DF6388CD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535" y="2168548"/>
            <a:ext cx="2210051" cy="3258005"/>
          </a:xfrm>
          <a:prstGeom prst="rect">
            <a:avLst/>
          </a:prstGeom>
        </p:spPr>
      </p:pic>
      <p:cxnSp>
        <p:nvCxnSpPr>
          <p:cNvPr id="7" name="Conector recto 6">
            <a:extLst>
              <a:ext uri="{FF2B5EF4-FFF2-40B4-BE49-F238E27FC236}">
                <a16:creationId xmlns:a16="http://schemas.microsoft.com/office/drawing/2014/main" id="{A0A0C1D5-AC91-2E0A-5428-9B158A0AAE68}"/>
              </a:ext>
            </a:extLst>
          </p:cNvPr>
          <p:cNvCxnSpPr>
            <a:cxnSpLocks/>
          </p:cNvCxnSpPr>
          <p:nvPr/>
        </p:nvCxnSpPr>
        <p:spPr>
          <a:xfrm>
            <a:off x="992535" y="2168548"/>
            <a:ext cx="0" cy="3217653"/>
          </a:xfrm>
          <a:prstGeom prst="line">
            <a:avLst/>
          </a:prstGeom>
          <a:ln w="15875"/>
        </p:spPr>
        <p:style>
          <a:lnRef idx="1">
            <a:schemeClr val="dk1"/>
          </a:lnRef>
          <a:fillRef idx="0">
            <a:schemeClr val="dk1"/>
          </a:fillRef>
          <a:effectRef idx="0">
            <a:schemeClr val="dk1"/>
          </a:effectRef>
          <a:fontRef idx="minor">
            <a:schemeClr val="tx1"/>
          </a:fontRef>
        </p:style>
      </p:cxnSp>
      <p:sp>
        <p:nvSpPr>
          <p:cNvPr id="8" name="Rectángulo 7">
            <a:extLst>
              <a:ext uri="{FF2B5EF4-FFF2-40B4-BE49-F238E27FC236}">
                <a16:creationId xmlns:a16="http://schemas.microsoft.com/office/drawing/2014/main" id="{F4840B9F-5875-D8E2-CFBB-161E6E8DDF29}"/>
              </a:ext>
            </a:extLst>
          </p:cNvPr>
          <p:cNvSpPr/>
          <p:nvPr/>
        </p:nvSpPr>
        <p:spPr>
          <a:xfrm>
            <a:off x="17588" y="1556239"/>
            <a:ext cx="3200401" cy="4806572"/>
          </a:xfrm>
          <a:prstGeom prst="rect">
            <a:avLst/>
          </a:prstGeom>
        </p:spPr>
        <p:txBody>
          <a:bodyPr wrap="square">
            <a:spAutoFit/>
          </a:bodyPr>
          <a:lstStyle/>
          <a:p>
            <a:pPr marL="64770">
              <a:lnSpc>
                <a:spcPct val="200000"/>
              </a:lnSpc>
              <a:spcBef>
                <a:spcPts val="1165"/>
              </a:spcBef>
              <a:spcAft>
                <a:spcPts val="0"/>
              </a:spcAft>
            </a:pPr>
            <a:r>
              <a:rPr lang="es-ES" dirty="0">
                <a:latin typeface="Arial Narrow" panose="020B0606020202030204" pitchFamily="34" charset="0"/>
                <a:ea typeface="Tahoma" panose="020B0604030504040204" pitchFamily="34" charset="0"/>
              </a:rPr>
              <a:t>	    1            2             	3</a:t>
            </a:r>
          </a:p>
          <a:p>
            <a:pPr marL="64770">
              <a:lnSpc>
                <a:spcPct val="200000"/>
              </a:lnSpc>
              <a:spcBef>
                <a:spcPts val="1165"/>
              </a:spcBef>
              <a:spcAft>
                <a:spcPts val="0"/>
              </a:spcAft>
            </a:pPr>
            <a:r>
              <a:rPr lang="es-ES" dirty="0">
                <a:latin typeface="Arial Narrow" panose="020B0606020202030204" pitchFamily="34" charset="0"/>
                <a:ea typeface="Tahoma" panose="020B0604030504040204" pitchFamily="34" charset="0"/>
              </a:rPr>
              <a:t>1(45)</a:t>
            </a:r>
          </a:p>
          <a:p>
            <a:pPr marL="64770">
              <a:lnSpc>
                <a:spcPct val="200000"/>
              </a:lnSpc>
              <a:spcBef>
                <a:spcPts val="1165"/>
              </a:spcBef>
              <a:spcAft>
                <a:spcPts val="0"/>
              </a:spcAft>
            </a:pPr>
            <a:r>
              <a:rPr lang="es-ES" dirty="0">
                <a:latin typeface="Arial Narrow" panose="020B0606020202030204" pitchFamily="34" charset="0"/>
                <a:ea typeface="Tahoma" panose="020B0604030504040204" pitchFamily="34" charset="0"/>
              </a:rPr>
              <a:t> 2(50)</a:t>
            </a:r>
          </a:p>
          <a:p>
            <a:pPr marL="64770">
              <a:lnSpc>
                <a:spcPct val="200000"/>
              </a:lnSpc>
              <a:spcBef>
                <a:spcPts val="1165"/>
              </a:spcBef>
              <a:spcAft>
                <a:spcPts val="0"/>
              </a:spcAft>
            </a:pPr>
            <a:r>
              <a:rPr lang="es-ES" dirty="0">
                <a:latin typeface="Arial Narrow" panose="020B0606020202030204" pitchFamily="34" charset="0"/>
                <a:ea typeface="Tahoma" panose="020B0604030504040204" pitchFamily="34" charset="0"/>
              </a:rPr>
              <a:t> 3(45)</a:t>
            </a:r>
          </a:p>
          <a:p>
            <a:pPr marL="64770">
              <a:lnSpc>
                <a:spcPct val="200000"/>
              </a:lnSpc>
              <a:spcBef>
                <a:spcPts val="1165"/>
              </a:spcBef>
              <a:spcAft>
                <a:spcPts val="0"/>
              </a:spcAft>
            </a:pPr>
            <a:r>
              <a:rPr lang="es-ES" dirty="0">
                <a:latin typeface="Arial Narrow" panose="020B0606020202030204" pitchFamily="34" charset="0"/>
                <a:ea typeface="Tahoma" panose="020B0604030504040204" pitchFamily="34" charset="0"/>
              </a:rPr>
              <a:t> 4(30)</a:t>
            </a:r>
          </a:p>
          <a:p>
            <a:pPr marL="64770">
              <a:lnSpc>
                <a:spcPct val="200000"/>
              </a:lnSpc>
              <a:spcBef>
                <a:spcPts val="1165"/>
              </a:spcBef>
              <a:spcAft>
                <a:spcPts val="0"/>
              </a:spcAft>
            </a:pPr>
            <a:r>
              <a:rPr lang="es-ES" dirty="0">
                <a:latin typeface="Arial Narrow" panose="020B0606020202030204" pitchFamily="34" charset="0"/>
                <a:ea typeface="Tahoma" panose="020B0604030504040204" pitchFamily="34" charset="0"/>
              </a:rPr>
              <a:t> </a:t>
            </a:r>
          </a:p>
          <a:p>
            <a:pPr marL="64770">
              <a:lnSpc>
                <a:spcPct val="200000"/>
              </a:lnSpc>
              <a:spcBef>
                <a:spcPts val="1165"/>
              </a:spcBef>
              <a:spcAft>
                <a:spcPts val="0"/>
              </a:spcAft>
            </a:pPr>
            <a:r>
              <a:rPr lang="es-ES" dirty="0">
                <a:latin typeface="Arial Narrow" panose="020B0606020202030204" pitchFamily="34" charset="0"/>
                <a:ea typeface="Tahoma" panose="020B0604030504040204" pitchFamily="34" charset="0"/>
              </a:rPr>
              <a:t>                   </a:t>
            </a:r>
            <a:r>
              <a:rPr lang="es-ES" b="1" dirty="0">
                <a:solidFill>
                  <a:srgbClr val="7030A0"/>
                </a:solidFill>
                <a:latin typeface="Arial Narrow" panose="020B0606020202030204" pitchFamily="34" charset="0"/>
                <a:ea typeface="Tahoma" panose="020B0604030504040204" pitchFamily="34" charset="0"/>
              </a:rPr>
              <a:t>90            30           50</a:t>
            </a:r>
          </a:p>
        </p:txBody>
      </p:sp>
    </p:spTree>
    <p:extLst>
      <p:ext uri="{BB962C8B-B14F-4D97-AF65-F5344CB8AC3E}">
        <p14:creationId xmlns:p14="http://schemas.microsoft.com/office/powerpoint/2010/main" val="144513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1" name="CustomShape 1"/>
          <p:cNvSpPr/>
          <p:nvPr/>
        </p:nvSpPr>
        <p:spPr>
          <a:xfrm>
            <a:off x="1524000" y="239400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1012" name="Table 2"/>
          <p:cNvGraphicFramePr/>
          <p:nvPr>
            <p:extLst>
              <p:ext uri="{D42A27DB-BD31-4B8C-83A1-F6EECF244321}">
                <p14:modId xmlns:p14="http://schemas.microsoft.com/office/powerpoint/2010/main" val="1732475495"/>
              </p:ext>
            </p:extLst>
          </p:nvPr>
        </p:nvGraphicFramePr>
        <p:xfrm>
          <a:off x="1952760" y="1245411"/>
          <a:ext cx="8500680" cy="3654878"/>
        </p:xfrm>
        <a:graphic>
          <a:graphicData uri="http://schemas.openxmlformats.org/drawingml/2006/table">
            <a:tbl>
              <a:tblPr/>
              <a:tblGrid>
                <a:gridCol w="1228320">
                  <a:extLst>
                    <a:ext uri="{9D8B030D-6E8A-4147-A177-3AD203B41FA5}">
                      <a16:colId xmlns:a16="http://schemas.microsoft.com/office/drawing/2014/main" val="20000"/>
                    </a:ext>
                  </a:extLst>
                </a:gridCol>
                <a:gridCol w="883440">
                  <a:extLst>
                    <a:ext uri="{9D8B030D-6E8A-4147-A177-3AD203B41FA5}">
                      <a16:colId xmlns:a16="http://schemas.microsoft.com/office/drawing/2014/main" val="20001"/>
                    </a:ext>
                  </a:extLst>
                </a:gridCol>
                <a:gridCol w="981000">
                  <a:extLst>
                    <a:ext uri="{9D8B030D-6E8A-4147-A177-3AD203B41FA5}">
                      <a16:colId xmlns:a16="http://schemas.microsoft.com/office/drawing/2014/main" val="20002"/>
                    </a:ext>
                  </a:extLst>
                </a:gridCol>
                <a:gridCol w="1077694">
                  <a:extLst>
                    <a:ext uri="{9D8B030D-6E8A-4147-A177-3AD203B41FA5}">
                      <a16:colId xmlns:a16="http://schemas.microsoft.com/office/drawing/2014/main" val="20003"/>
                    </a:ext>
                  </a:extLst>
                </a:gridCol>
                <a:gridCol w="1773506">
                  <a:extLst>
                    <a:ext uri="{9D8B030D-6E8A-4147-A177-3AD203B41FA5}">
                      <a16:colId xmlns:a16="http://schemas.microsoft.com/office/drawing/2014/main" val="20005"/>
                    </a:ext>
                  </a:extLst>
                </a:gridCol>
                <a:gridCol w="667800">
                  <a:extLst>
                    <a:ext uri="{9D8B030D-6E8A-4147-A177-3AD203B41FA5}">
                      <a16:colId xmlns:a16="http://schemas.microsoft.com/office/drawing/2014/main" val="20006"/>
                    </a:ext>
                  </a:extLst>
                </a:gridCol>
                <a:gridCol w="569880">
                  <a:extLst>
                    <a:ext uri="{9D8B030D-6E8A-4147-A177-3AD203B41FA5}">
                      <a16:colId xmlns:a16="http://schemas.microsoft.com/office/drawing/2014/main" val="20007"/>
                    </a:ext>
                  </a:extLst>
                </a:gridCol>
                <a:gridCol w="658800">
                  <a:extLst>
                    <a:ext uri="{9D8B030D-6E8A-4147-A177-3AD203B41FA5}">
                      <a16:colId xmlns:a16="http://schemas.microsoft.com/office/drawing/2014/main" val="20008"/>
                    </a:ext>
                  </a:extLst>
                </a:gridCol>
                <a:gridCol w="660240">
                  <a:extLst>
                    <a:ext uri="{9D8B030D-6E8A-4147-A177-3AD203B41FA5}">
                      <a16:colId xmlns:a16="http://schemas.microsoft.com/office/drawing/2014/main" val="20009"/>
                    </a:ext>
                  </a:extLst>
                </a:gridCol>
              </a:tblGrid>
              <a:tr h="424729">
                <a:tc>
                  <a:txBody>
                    <a:bodyPr/>
                    <a:lstStyle/>
                    <a:p>
                      <a:endParaRPr lang="en-US" sz="2000"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PE" sz="2000" b="1" strike="noStrike" spc="-1" dirty="0">
                          <a:solidFill>
                            <a:schemeClr val="bg2">
                              <a:lumMod val="25000"/>
                            </a:schemeClr>
                          </a:solidFill>
                          <a:latin typeface="Arial Narrow"/>
                        </a:rPr>
                        <a:t>1</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PE" sz="2000" b="1" strike="noStrike" spc="-1" dirty="0">
                          <a:solidFill>
                            <a:schemeClr val="bg2">
                              <a:lumMod val="25000"/>
                            </a:schemeClr>
                          </a:solidFill>
                          <a:latin typeface="Arial Narrow"/>
                        </a:rPr>
                        <a:t>2</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PE" sz="2000" b="1" strike="noStrike" spc="-1" dirty="0">
                          <a:solidFill>
                            <a:schemeClr val="bg2">
                              <a:lumMod val="25000"/>
                            </a:schemeClr>
                          </a:solidFill>
                          <a:latin typeface="Arial Narrow"/>
                        </a:rPr>
                        <a:t>3</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a:lnSpc>
                          <a:spcPct val="95000"/>
                        </a:lnSpc>
                      </a:pPr>
                      <a:r>
                        <a:rPr lang="es-PE" sz="2000" b="1" strike="noStrike" spc="-1" dirty="0">
                          <a:solidFill>
                            <a:schemeClr val="bg2">
                              <a:lumMod val="25000"/>
                            </a:schemeClr>
                          </a:solidFill>
                          <a:latin typeface="Arial Narrow"/>
                        </a:rPr>
                        <a:t>Oferta</a:t>
                      </a:r>
                      <a:endParaRPr lang="es-PE" sz="2000" b="0" strike="noStrike" spc="-1" dirty="0">
                        <a:solidFill>
                          <a:schemeClr val="bg2">
                            <a:lumMod val="25000"/>
                          </a:schemeClr>
                        </a:solidFill>
                        <a:latin typeface="Arial"/>
                      </a:endParaRPr>
                    </a:p>
                  </a:txBody>
                  <a:tcPr>
                    <a:lnL w="12240" cap="flat" cmpd="sng" algn="ctr">
                      <a:solidFill>
                        <a:srgbClr val="000000"/>
                      </a:solidFill>
                      <a:prstDash val="solid"/>
                      <a:round/>
                      <a:headEnd type="none" w="med" len="med"/>
                      <a:tailEnd type="none" w="med" len="med"/>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r">
                        <a:lnSpc>
                          <a:spcPct val="95000"/>
                        </a:lnSpc>
                      </a:pPr>
                      <a:r>
                        <a:rPr lang="es-PE" sz="2000" b="1" strike="noStrike" spc="-1" dirty="0" err="1">
                          <a:solidFill>
                            <a:schemeClr val="bg2">
                              <a:lumMod val="25000"/>
                            </a:schemeClr>
                          </a:solidFill>
                          <a:latin typeface="Arial Narrow"/>
                        </a:rPr>
                        <a:t>P</a:t>
                      </a:r>
                      <a:r>
                        <a:rPr lang="es-PE" sz="2000" b="1" strike="noStrike" spc="-1" baseline="-30000" dirty="0" err="1">
                          <a:solidFill>
                            <a:schemeClr val="bg2">
                              <a:lumMod val="25000"/>
                            </a:schemeClr>
                          </a:solidFill>
                          <a:latin typeface="Arial Narrow"/>
                        </a:rPr>
                        <a:t>1</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r">
                        <a:lnSpc>
                          <a:spcPct val="95000"/>
                        </a:lnSpc>
                      </a:pPr>
                      <a:r>
                        <a:rPr lang="es-PE" sz="2000" b="1" strike="noStrike" spc="-1" dirty="0" err="1">
                          <a:solidFill>
                            <a:schemeClr val="bg2">
                              <a:lumMod val="25000"/>
                            </a:schemeClr>
                          </a:solidFill>
                          <a:latin typeface="Arial Narrow"/>
                        </a:rPr>
                        <a:t>P</a:t>
                      </a:r>
                      <a:r>
                        <a:rPr lang="es-PE" sz="2000" b="1" strike="noStrike" spc="-1" baseline="-30000" dirty="0" err="1">
                          <a:solidFill>
                            <a:schemeClr val="bg2">
                              <a:lumMod val="25000"/>
                            </a:schemeClr>
                          </a:solidFill>
                          <a:latin typeface="Arial Narrow"/>
                        </a:rPr>
                        <a:t>2</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r">
                        <a:lnSpc>
                          <a:spcPct val="95000"/>
                        </a:lnSpc>
                      </a:pPr>
                      <a:r>
                        <a:rPr lang="es-PE" sz="2000" b="1" strike="noStrike" spc="-1" dirty="0" err="1">
                          <a:solidFill>
                            <a:schemeClr val="bg2">
                              <a:lumMod val="25000"/>
                            </a:schemeClr>
                          </a:solidFill>
                          <a:latin typeface="Arial Narrow"/>
                        </a:rPr>
                        <a:t>P</a:t>
                      </a:r>
                      <a:r>
                        <a:rPr lang="es-PE" sz="2000" b="1" strike="noStrike" spc="-1" baseline="-30000" dirty="0" err="1">
                          <a:solidFill>
                            <a:schemeClr val="bg2">
                              <a:lumMod val="25000"/>
                            </a:schemeClr>
                          </a:solidFill>
                          <a:latin typeface="Arial Narrow"/>
                        </a:rPr>
                        <a:t>3</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r">
                        <a:lnSpc>
                          <a:spcPct val="95000"/>
                        </a:lnSpc>
                      </a:pPr>
                      <a:r>
                        <a:rPr lang="es-PE" sz="2000" b="1" strike="noStrike" spc="-1" dirty="0" err="1">
                          <a:solidFill>
                            <a:schemeClr val="bg2">
                              <a:lumMod val="25000"/>
                            </a:schemeClr>
                          </a:solidFill>
                          <a:latin typeface="Arial Narrow"/>
                        </a:rPr>
                        <a:t>P</a:t>
                      </a:r>
                      <a:r>
                        <a:rPr lang="es-PE" sz="2000" b="1" strike="noStrike" spc="-1" baseline="-30000" dirty="0" err="1">
                          <a:solidFill>
                            <a:schemeClr val="bg2">
                              <a:lumMod val="25000"/>
                            </a:schemeClr>
                          </a:solidFill>
                          <a:latin typeface="Arial Narrow"/>
                        </a:rPr>
                        <a:t>4</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extLst>
                  <a:ext uri="{0D108BD9-81ED-4DB2-BD59-A6C34878D82A}">
                    <a16:rowId xmlns:a16="http://schemas.microsoft.com/office/drawing/2014/main" val="10000"/>
                  </a:ext>
                </a:extLst>
              </a:tr>
              <a:tr h="628733">
                <a:tc>
                  <a:txBody>
                    <a:bodyPr/>
                    <a:lstStyle/>
                    <a:p>
                      <a:pPr algn="ctr">
                        <a:lnSpc>
                          <a:spcPct val="95000"/>
                        </a:lnSpc>
                      </a:pPr>
                      <a:r>
                        <a:rPr lang="es-PE" sz="2000" b="1" strike="noStrike" spc="-1" dirty="0">
                          <a:solidFill>
                            <a:schemeClr val="bg2">
                              <a:lumMod val="25000"/>
                            </a:schemeClr>
                          </a:solidFill>
                          <a:latin typeface="Arial Narrow"/>
                        </a:rPr>
                        <a:t>A</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10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8</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4</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45</a:t>
                      </a:r>
                      <a:endParaRPr lang="es-PE" sz="2000" b="0" strike="noStrike" spc="-1" dirty="0">
                        <a:solidFill>
                          <a:schemeClr val="bg2">
                            <a:lumMod val="25000"/>
                          </a:schemeClr>
                        </a:solidFill>
                        <a:latin typeface="Arial"/>
                      </a:endParaRPr>
                    </a:p>
                  </a:txBody>
                  <a:tcPr>
                    <a:lnL w="12240" cap="flat" cmpd="sng" algn="ctr">
                      <a:solidFill>
                        <a:srgbClr val="000000"/>
                      </a:solidFill>
                      <a:prstDash val="solid"/>
                      <a:round/>
                      <a:headEnd type="none" w="med" len="med"/>
                      <a:tailEnd type="none" w="med" len="med"/>
                    </a:lnL>
                    <a:lnR w="12240">
                      <a:solidFill>
                        <a:srgbClr val="000000"/>
                      </a:solidFill>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noFill/>
                  </a:tcPr>
                </a:tc>
                <a:tc>
                  <a:txBody>
                    <a:bodyPr/>
                    <a:lstStyle/>
                    <a:p>
                      <a:pPr algn="ctr">
                        <a:lnSpc>
                          <a:spcPct val="95000"/>
                        </a:lnSpc>
                      </a:pP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628733">
                <a:tc>
                  <a:txBody>
                    <a:bodyPr/>
                    <a:lstStyle/>
                    <a:p>
                      <a:pPr algn="ctr">
                        <a:lnSpc>
                          <a:spcPct val="95000"/>
                        </a:lnSpc>
                      </a:pPr>
                      <a:r>
                        <a:rPr lang="es-PE" sz="2000" b="1" strike="noStrike" spc="-1" dirty="0">
                          <a:solidFill>
                            <a:schemeClr val="bg2">
                              <a:lumMod val="25000"/>
                            </a:schemeClr>
                          </a:solidFill>
                          <a:latin typeface="Arial Narrow"/>
                        </a:rPr>
                        <a:t>B</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9</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5</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7</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50</a:t>
                      </a:r>
                      <a:endParaRPr lang="es-PE" sz="2000" b="0" strike="noStrike" spc="-1" dirty="0">
                        <a:solidFill>
                          <a:schemeClr val="bg2">
                            <a:lumMod val="25000"/>
                          </a:schemeClr>
                        </a:solidFill>
                        <a:latin typeface="Arial"/>
                      </a:endParaRPr>
                    </a:p>
                  </a:txBody>
                  <a:tcPr>
                    <a:lnL w="12240" cap="flat" cmpd="sng" algn="ctr">
                      <a:solidFill>
                        <a:srgbClr val="000000"/>
                      </a:solidFill>
                      <a:prstDash val="solid"/>
                      <a:round/>
                      <a:headEnd type="none" w="med" len="med"/>
                      <a:tailEnd type="none" w="med" len="med"/>
                    </a:lnL>
                    <a:lnR w="12240">
                      <a:solidFill>
                        <a:srgbClr val="000000"/>
                      </a:solidFill>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noFill/>
                  </a:tcPr>
                </a:tc>
                <a:tc>
                  <a:txBody>
                    <a:bodyPr/>
                    <a:lstStyle/>
                    <a:p>
                      <a:pPr algn="ctr">
                        <a:lnSpc>
                          <a:spcPct val="95000"/>
                        </a:lnSpc>
                      </a:pP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628733">
                <a:tc>
                  <a:txBody>
                    <a:bodyPr/>
                    <a:lstStyle/>
                    <a:p>
                      <a:pPr algn="ctr">
                        <a:lnSpc>
                          <a:spcPct val="95000"/>
                        </a:lnSpc>
                      </a:pPr>
                      <a:r>
                        <a:rPr lang="es-PE" sz="2000" b="1" strike="noStrike" spc="-1" dirty="0">
                          <a:solidFill>
                            <a:schemeClr val="bg2">
                              <a:lumMod val="25000"/>
                            </a:schemeClr>
                          </a:solidFill>
                          <a:latin typeface="Arial Narrow"/>
                        </a:rPr>
                        <a:t>C</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3</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6</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9</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45</a:t>
                      </a:r>
                      <a:endParaRPr lang="es-PE" sz="2000" b="0" strike="noStrike" spc="-1" dirty="0">
                        <a:solidFill>
                          <a:schemeClr val="bg2">
                            <a:lumMod val="25000"/>
                          </a:schemeClr>
                        </a:solidFill>
                        <a:latin typeface="Arial"/>
                      </a:endParaRPr>
                    </a:p>
                  </a:txBody>
                  <a:tcPr>
                    <a:lnL w="12240" cap="flat" cmpd="sng" algn="ctr">
                      <a:solidFill>
                        <a:srgbClr val="000000"/>
                      </a:solidFill>
                      <a:prstDash val="solid"/>
                      <a:round/>
                      <a:headEnd type="none" w="med" len="med"/>
                      <a:tailEnd type="none" w="med" len="med"/>
                    </a:lnL>
                    <a:lnR w="12240">
                      <a:solidFill>
                        <a:srgbClr val="000000"/>
                      </a:solidFill>
                    </a:lnR>
                    <a:lnT w="1224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endParaRPr lang="en-US" sz="2000"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628733">
                <a:tc>
                  <a:txBody>
                    <a:bodyPr/>
                    <a:lstStyle/>
                    <a:p>
                      <a:pPr algn="ctr">
                        <a:lnSpc>
                          <a:spcPct val="95000"/>
                        </a:lnSpc>
                      </a:pPr>
                      <a:r>
                        <a:rPr lang="es-PE" sz="2000" b="1" strike="noStrike" spc="-1" dirty="0">
                          <a:solidFill>
                            <a:schemeClr val="bg2">
                              <a:lumMod val="25000"/>
                            </a:schemeClr>
                          </a:solidFill>
                          <a:latin typeface="Arial Narrow"/>
                        </a:rPr>
                        <a:t>D</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5</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7</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6</a:t>
                      </a:r>
                      <a:endParaRPr lang="es-PE" sz="2000" b="0" strike="noStrike" spc="-1" dirty="0">
                        <a:solidFill>
                          <a:schemeClr val="bg2">
                            <a:lumMod val="25000"/>
                          </a:schemeClr>
                        </a:solidFill>
                        <a:latin typeface="Arial"/>
                      </a:endParaRPr>
                    </a:p>
                  </a:txBody>
                  <a:tcPr>
                    <a:lnL w="12240">
                      <a:solidFill>
                        <a:srgbClr val="000000"/>
                      </a:solidFill>
                    </a:lnL>
                    <a:lnR w="12700" cap="flat" cmpd="sng" algn="ctr">
                      <a:solidFill>
                        <a:schemeClr val="tx1"/>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bg1"/>
                    </a:solidFill>
                  </a:tcPr>
                </a:tc>
                <a:tc>
                  <a:txBody>
                    <a:bodyPr/>
                    <a:lstStyle/>
                    <a:p>
                      <a:pPr algn="ctr">
                        <a:lnSpc>
                          <a:spcPct val="95000"/>
                        </a:lnSpc>
                        <a:spcBef>
                          <a:spcPts val="1199"/>
                        </a:spcBef>
                      </a:pPr>
                      <a:r>
                        <a:rPr lang="es-ES" sz="2000" b="0" strike="noStrike" spc="-1" dirty="0">
                          <a:solidFill>
                            <a:schemeClr val="bg2">
                              <a:lumMod val="25000"/>
                            </a:schemeClr>
                          </a:solidFill>
                          <a:latin typeface="Arial"/>
                        </a:rPr>
                        <a:t>30</a:t>
                      </a:r>
                      <a:endParaRPr lang="es-PE" sz="2000" b="0" strike="noStrike" spc="-1" dirty="0">
                        <a:solidFill>
                          <a:schemeClr val="bg2">
                            <a:lumMod val="25000"/>
                          </a:schemeClr>
                        </a:solidFill>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endParaRPr lang="es-PE" sz="2000" b="0" strike="noStrike" spc="-1" dirty="0">
                        <a:solidFill>
                          <a:schemeClr val="bg2">
                            <a:lumMod val="25000"/>
                          </a:schemeClr>
                        </a:solidFill>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dirty="0">
                        <a:solidFill>
                          <a:schemeClr val="bg2">
                            <a:lumMod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dirty="0">
                        <a:solidFill>
                          <a:schemeClr val="bg2">
                            <a:lumMod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dirty="0">
                        <a:solidFill>
                          <a:schemeClr val="bg2">
                            <a:lumMod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715217">
                <a:tc>
                  <a:txBody>
                    <a:bodyPr/>
                    <a:lstStyle/>
                    <a:p>
                      <a:pPr algn="ctr">
                        <a:lnSpc>
                          <a:spcPct val="95000"/>
                        </a:lnSpc>
                      </a:pPr>
                      <a:r>
                        <a:rPr lang="es-PE" sz="2000" b="1" strike="noStrike" spc="-1" dirty="0">
                          <a:solidFill>
                            <a:schemeClr val="bg2">
                              <a:lumMod val="25000"/>
                            </a:schemeClr>
                          </a:solidFill>
                          <a:latin typeface="Arial Narrow"/>
                        </a:rPr>
                        <a:t>Demanda</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90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2000" b="0" strike="noStrike" spc="-1" dirty="0">
                          <a:solidFill>
                            <a:schemeClr val="bg2">
                              <a:lumMod val="25000"/>
                            </a:schemeClr>
                          </a:solidFill>
                          <a:latin typeface="Arial"/>
                        </a:rPr>
                        <a:t>30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2000" b="0" strike="noStrike" spc="-1" dirty="0">
                          <a:solidFill>
                            <a:schemeClr val="bg2">
                              <a:lumMod val="25000"/>
                            </a:schemeClr>
                          </a:solidFill>
                          <a:latin typeface="Arial"/>
                        </a:rPr>
                        <a:t>50</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1D528D"/>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endParaRPr lang="en-US" sz="2000" dirty="0">
                        <a:solidFill>
                          <a:schemeClr val="bg2">
                            <a:lumMod val="25000"/>
                          </a:schemeClr>
                        </a:solidFill>
                      </a:endParaRPr>
                    </a:p>
                  </a:txBody>
                  <a:tcPr>
                    <a:lnL w="12240" cap="flat" cmpd="sng" algn="ctr">
                      <a:solidFill>
                        <a:srgbClr val="1D528D"/>
                      </a:solidFill>
                      <a:prstDash val="solid"/>
                      <a:round/>
                      <a:headEnd type="none" w="med" len="med"/>
                      <a:tailEnd type="none" w="med" len="med"/>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sz="2000" dirty="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sz="200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sz="200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sz="2000" dirty="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extLst>
                  <a:ext uri="{0D108BD9-81ED-4DB2-BD59-A6C34878D82A}">
                    <a16:rowId xmlns:a16="http://schemas.microsoft.com/office/drawing/2014/main" val="10005"/>
                  </a:ext>
                </a:extLst>
              </a:tr>
            </a:tbl>
          </a:graphicData>
        </a:graphic>
      </p:graphicFrame>
      <p:sp>
        <p:nvSpPr>
          <p:cNvPr id="1013" name="CustomShape 3"/>
          <p:cNvSpPr/>
          <p:nvPr/>
        </p:nvSpPr>
        <p:spPr>
          <a:xfrm>
            <a:off x="1524000" y="277488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1014" name="Table 4"/>
          <p:cNvGraphicFramePr/>
          <p:nvPr>
            <p:extLst>
              <p:ext uri="{D42A27DB-BD31-4B8C-83A1-F6EECF244321}">
                <p14:modId xmlns:p14="http://schemas.microsoft.com/office/powerpoint/2010/main" val="3704649699"/>
              </p:ext>
            </p:extLst>
          </p:nvPr>
        </p:nvGraphicFramePr>
        <p:xfrm>
          <a:off x="1991544" y="5136988"/>
          <a:ext cx="4131670" cy="1690126"/>
        </p:xfrm>
        <a:graphic>
          <a:graphicData uri="http://schemas.openxmlformats.org/drawingml/2006/table">
            <a:tbl>
              <a:tblPr/>
              <a:tblGrid>
                <a:gridCol w="1152128">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998849">
                  <a:extLst>
                    <a:ext uri="{9D8B030D-6E8A-4147-A177-3AD203B41FA5}">
                      <a16:colId xmlns:a16="http://schemas.microsoft.com/office/drawing/2014/main" val="20002"/>
                    </a:ext>
                  </a:extLst>
                </a:gridCol>
                <a:gridCol w="1044589">
                  <a:extLst>
                    <a:ext uri="{9D8B030D-6E8A-4147-A177-3AD203B41FA5}">
                      <a16:colId xmlns:a16="http://schemas.microsoft.com/office/drawing/2014/main" val="20003"/>
                    </a:ext>
                  </a:extLst>
                </a:gridCol>
              </a:tblGrid>
              <a:tr h="346201">
                <a:tc>
                  <a:txBody>
                    <a:bodyPr/>
                    <a:lstStyle/>
                    <a:p>
                      <a:pPr algn="ctr">
                        <a:lnSpc>
                          <a:spcPct val="95000"/>
                        </a:lnSpc>
                      </a:pPr>
                      <a:r>
                        <a:rPr lang="es-PE" sz="1800" b="1" strike="noStrike" spc="-1" dirty="0" err="1">
                          <a:solidFill>
                            <a:schemeClr val="bg2">
                              <a:lumMod val="25000"/>
                            </a:schemeClr>
                          </a:solidFill>
                          <a:latin typeface="Arial Narrow"/>
                        </a:rPr>
                        <a:t>P</a:t>
                      </a:r>
                      <a:r>
                        <a:rPr lang="es-PE" sz="1800" b="1" strike="noStrike" spc="-1" baseline="-30000" dirty="0" err="1">
                          <a:solidFill>
                            <a:schemeClr val="bg2">
                              <a:lumMod val="25000"/>
                            </a:schemeClr>
                          </a:solidFill>
                          <a:latin typeface="Arial Narrow"/>
                        </a:rPr>
                        <a:t>1</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18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346201">
                <a:tc>
                  <a:txBody>
                    <a:bodyPr/>
                    <a:lstStyle/>
                    <a:p>
                      <a:pPr algn="ctr">
                        <a:lnSpc>
                          <a:spcPct val="95000"/>
                        </a:lnSpc>
                      </a:pPr>
                      <a:r>
                        <a:rPr lang="es-PE" sz="1800" b="1" strike="noStrike" spc="-1" dirty="0" err="1">
                          <a:solidFill>
                            <a:schemeClr val="bg2">
                              <a:lumMod val="25000"/>
                            </a:schemeClr>
                          </a:solidFill>
                          <a:latin typeface="Arial Narrow"/>
                        </a:rPr>
                        <a:t>P</a:t>
                      </a:r>
                      <a:r>
                        <a:rPr lang="es-PE" sz="1800" b="1" strike="noStrike" spc="-1" baseline="-30000" dirty="0" err="1">
                          <a:solidFill>
                            <a:schemeClr val="bg2">
                              <a:lumMod val="25000"/>
                            </a:schemeClr>
                          </a:solidFill>
                          <a:latin typeface="Arial Narrow"/>
                        </a:rPr>
                        <a:t>2</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18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346201">
                <a:tc>
                  <a:txBody>
                    <a:bodyPr/>
                    <a:lstStyle/>
                    <a:p>
                      <a:pPr algn="ctr">
                        <a:lnSpc>
                          <a:spcPct val="95000"/>
                        </a:lnSpc>
                      </a:pPr>
                      <a:r>
                        <a:rPr lang="es-PE" sz="1800" b="1" strike="noStrike" spc="-1" dirty="0" err="1">
                          <a:solidFill>
                            <a:schemeClr val="bg2">
                              <a:lumMod val="25000"/>
                            </a:schemeClr>
                          </a:solidFill>
                          <a:latin typeface="Arial Narrow"/>
                        </a:rPr>
                        <a:t>P</a:t>
                      </a:r>
                      <a:r>
                        <a:rPr lang="es-PE" sz="1800" b="1" strike="noStrike" spc="-1" baseline="-30000" dirty="0" err="1">
                          <a:solidFill>
                            <a:schemeClr val="bg2">
                              <a:lumMod val="25000"/>
                            </a:schemeClr>
                          </a:solidFill>
                          <a:latin typeface="Arial Narrow"/>
                        </a:rPr>
                        <a:t>3</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spcBef>
                          <a:spcPts val="1199"/>
                        </a:spcBef>
                      </a:pPr>
                      <a:endParaRPr lang="es-PE" sz="18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1800" dirty="0">
                        <a:solidFill>
                          <a:schemeClr val="bg2">
                            <a:lumMod val="25000"/>
                          </a:schemeClr>
                        </a:solidFil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620278">
                <a:tc>
                  <a:txBody>
                    <a:bodyPr/>
                    <a:lstStyle/>
                    <a:p>
                      <a:pPr algn="ctr">
                        <a:lnSpc>
                          <a:spcPct val="95000"/>
                        </a:lnSpc>
                      </a:pPr>
                      <a:r>
                        <a:rPr lang="es-PE" sz="1800" b="1" strike="noStrike" spc="-1" dirty="0" err="1">
                          <a:solidFill>
                            <a:schemeClr val="bg2">
                              <a:lumMod val="25000"/>
                            </a:schemeClr>
                          </a:solidFill>
                          <a:latin typeface="Arial Narrow"/>
                        </a:rPr>
                        <a:t>P</a:t>
                      </a:r>
                      <a:r>
                        <a:rPr lang="es-PE" sz="1800" b="1" strike="noStrike" spc="-1" baseline="-30000" dirty="0" err="1">
                          <a:solidFill>
                            <a:schemeClr val="bg2">
                              <a:lumMod val="25000"/>
                            </a:schemeClr>
                          </a:solidFill>
                          <a:latin typeface="Arial Narrow"/>
                        </a:rPr>
                        <a:t>4</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spcBef>
                          <a:spcPts val="1199"/>
                        </a:spcBef>
                      </a:pP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1800" dirty="0">
                        <a:solidFill>
                          <a:schemeClr val="bg2">
                            <a:lumMod val="25000"/>
                          </a:schemeClr>
                        </a:solidFil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8" name="CustomShape 5">
            <a:extLst>
              <a:ext uri="{FF2B5EF4-FFF2-40B4-BE49-F238E27FC236}">
                <a16:creationId xmlns:a16="http://schemas.microsoft.com/office/drawing/2014/main" id="{54E3C167-328B-4F8C-8D92-3147DE697B13}"/>
              </a:ext>
            </a:extLst>
          </p:cNvPr>
          <p:cNvSpPr/>
          <p:nvPr/>
        </p:nvSpPr>
        <p:spPr>
          <a:xfrm>
            <a:off x="6096000" y="163488"/>
            <a:ext cx="6096000" cy="56304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lnSpc>
                <a:spcPts val="5800"/>
              </a:lnSpc>
              <a:spcBef>
                <a:spcPct val="0"/>
              </a:spcBef>
            </a:pPr>
            <a:r>
              <a:rPr lang="es-PE" sz="3200" dirty="0">
                <a:solidFill>
                  <a:schemeClr val="bg1"/>
                </a:solidFill>
                <a:effectLst>
                  <a:outerShdw blurRad="63500" dist="38100" dir="5400000" algn="t" rotWithShape="0">
                    <a:prstClr val="black">
                      <a:alpha val="25000"/>
                    </a:prstClr>
                  </a:outerShdw>
                </a:effectLst>
                <a:latin typeface="Bauhaus 93" pitchFamily="82" charset="0"/>
              </a:rPr>
              <a:t>Método Vogel</a:t>
            </a:r>
          </a:p>
        </p:txBody>
      </p:sp>
    </p:spTree>
    <p:extLst>
      <p:ext uri="{BB962C8B-B14F-4D97-AF65-F5344CB8AC3E}">
        <p14:creationId xmlns:p14="http://schemas.microsoft.com/office/powerpoint/2010/main" val="2694703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1" name="CustomShape 1"/>
          <p:cNvSpPr/>
          <p:nvPr/>
        </p:nvSpPr>
        <p:spPr>
          <a:xfrm>
            <a:off x="1524000" y="239400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1012" name="Table 2"/>
          <p:cNvGraphicFramePr/>
          <p:nvPr>
            <p:extLst>
              <p:ext uri="{D42A27DB-BD31-4B8C-83A1-F6EECF244321}">
                <p14:modId xmlns:p14="http://schemas.microsoft.com/office/powerpoint/2010/main" val="2310615662"/>
              </p:ext>
            </p:extLst>
          </p:nvPr>
        </p:nvGraphicFramePr>
        <p:xfrm>
          <a:off x="1952760" y="1244098"/>
          <a:ext cx="8500680" cy="3654878"/>
        </p:xfrm>
        <a:graphic>
          <a:graphicData uri="http://schemas.openxmlformats.org/drawingml/2006/table">
            <a:tbl>
              <a:tblPr/>
              <a:tblGrid>
                <a:gridCol w="1228320">
                  <a:extLst>
                    <a:ext uri="{9D8B030D-6E8A-4147-A177-3AD203B41FA5}">
                      <a16:colId xmlns:a16="http://schemas.microsoft.com/office/drawing/2014/main" val="20000"/>
                    </a:ext>
                  </a:extLst>
                </a:gridCol>
                <a:gridCol w="883440">
                  <a:extLst>
                    <a:ext uri="{9D8B030D-6E8A-4147-A177-3AD203B41FA5}">
                      <a16:colId xmlns:a16="http://schemas.microsoft.com/office/drawing/2014/main" val="20001"/>
                    </a:ext>
                  </a:extLst>
                </a:gridCol>
                <a:gridCol w="981000">
                  <a:extLst>
                    <a:ext uri="{9D8B030D-6E8A-4147-A177-3AD203B41FA5}">
                      <a16:colId xmlns:a16="http://schemas.microsoft.com/office/drawing/2014/main" val="20002"/>
                    </a:ext>
                  </a:extLst>
                </a:gridCol>
                <a:gridCol w="1077694">
                  <a:extLst>
                    <a:ext uri="{9D8B030D-6E8A-4147-A177-3AD203B41FA5}">
                      <a16:colId xmlns:a16="http://schemas.microsoft.com/office/drawing/2014/main" val="20003"/>
                    </a:ext>
                  </a:extLst>
                </a:gridCol>
                <a:gridCol w="1773506">
                  <a:extLst>
                    <a:ext uri="{9D8B030D-6E8A-4147-A177-3AD203B41FA5}">
                      <a16:colId xmlns:a16="http://schemas.microsoft.com/office/drawing/2014/main" val="20005"/>
                    </a:ext>
                  </a:extLst>
                </a:gridCol>
                <a:gridCol w="667800">
                  <a:extLst>
                    <a:ext uri="{9D8B030D-6E8A-4147-A177-3AD203B41FA5}">
                      <a16:colId xmlns:a16="http://schemas.microsoft.com/office/drawing/2014/main" val="20006"/>
                    </a:ext>
                  </a:extLst>
                </a:gridCol>
                <a:gridCol w="569880">
                  <a:extLst>
                    <a:ext uri="{9D8B030D-6E8A-4147-A177-3AD203B41FA5}">
                      <a16:colId xmlns:a16="http://schemas.microsoft.com/office/drawing/2014/main" val="20007"/>
                    </a:ext>
                  </a:extLst>
                </a:gridCol>
                <a:gridCol w="658800">
                  <a:extLst>
                    <a:ext uri="{9D8B030D-6E8A-4147-A177-3AD203B41FA5}">
                      <a16:colId xmlns:a16="http://schemas.microsoft.com/office/drawing/2014/main" val="20008"/>
                    </a:ext>
                  </a:extLst>
                </a:gridCol>
                <a:gridCol w="660240">
                  <a:extLst>
                    <a:ext uri="{9D8B030D-6E8A-4147-A177-3AD203B41FA5}">
                      <a16:colId xmlns:a16="http://schemas.microsoft.com/office/drawing/2014/main" val="20009"/>
                    </a:ext>
                  </a:extLst>
                </a:gridCol>
              </a:tblGrid>
              <a:tr h="424729">
                <a:tc>
                  <a:txBody>
                    <a:bodyPr/>
                    <a:lstStyle/>
                    <a:p>
                      <a:endParaRPr lang="en-US" sz="2000"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PE" sz="2000" b="1" strike="noStrike" spc="-1" dirty="0">
                          <a:solidFill>
                            <a:schemeClr val="bg2">
                              <a:lumMod val="25000"/>
                            </a:schemeClr>
                          </a:solidFill>
                          <a:latin typeface="Arial Narrow"/>
                        </a:rPr>
                        <a:t>1</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PE" sz="2000" b="1" strike="noStrike" spc="-1" dirty="0">
                          <a:solidFill>
                            <a:schemeClr val="bg2">
                              <a:lumMod val="25000"/>
                            </a:schemeClr>
                          </a:solidFill>
                          <a:latin typeface="Arial Narrow"/>
                        </a:rPr>
                        <a:t>2</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PE" sz="2000" b="1" strike="noStrike" spc="-1" dirty="0">
                          <a:solidFill>
                            <a:schemeClr val="bg2">
                              <a:lumMod val="25000"/>
                            </a:schemeClr>
                          </a:solidFill>
                          <a:latin typeface="Arial Narrow"/>
                        </a:rPr>
                        <a:t>3</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a:lnSpc>
                          <a:spcPct val="95000"/>
                        </a:lnSpc>
                      </a:pPr>
                      <a:r>
                        <a:rPr lang="es-PE" sz="2000" b="1" strike="noStrike" spc="-1" dirty="0">
                          <a:solidFill>
                            <a:schemeClr val="bg2">
                              <a:lumMod val="25000"/>
                            </a:schemeClr>
                          </a:solidFill>
                          <a:latin typeface="Arial Narrow"/>
                        </a:rPr>
                        <a:t>Oferta</a:t>
                      </a:r>
                      <a:endParaRPr lang="es-PE" sz="2000" b="0" strike="noStrike" spc="-1" dirty="0">
                        <a:solidFill>
                          <a:schemeClr val="bg2">
                            <a:lumMod val="25000"/>
                          </a:schemeClr>
                        </a:solidFill>
                        <a:latin typeface="Arial"/>
                      </a:endParaRPr>
                    </a:p>
                  </a:txBody>
                  <a:tcPr>
                    <a:lnL w="12240" cap="flat" cmpd="sng" algn="ctr">
                      <a:solidFill>
                        <a:srgbClr val="000000"/>
                      </a:solidFill>
                      <a:prstDash val="solid"/>
                      <a:round/>
                      <a:headEnd type="none" w="med" len="med"/>
                      <a:tailEnd type="none" w="med" len="med"/>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r">
                        <a:lnSpc>
                          <a:spcPct val="95000"/>
                        </a:lnSpc>
                      </a:pPr>
                      <a:r>
                        <a:rPr lang="es-PE" sz="2000" b="1" strike="noStrike" spc="-1" dirty="0" err="1">
                          <a:solidFill>
                            <a:schemeClr val="bg2">
                              <a:lumMod val="25000"/>
                            </a:schemeClr>
                          </a:solidFill>
                          <a:latin typeface="Arial Narrow"/>
                        </a:rPr>
                        <a:t>P</a:t>
                      </a:r>
                      <a:r>
                        <a:rPr lang="es-PE" sz="2000" b="1" strike="noStrike" spc="-1" baseline="-30000" dirty="0" err="1">
                          <a:solidFill>
                            <a:schemeClr val="bg2">
                              <a:lumMod val="25000"/>
                            </a:schemeClr>
                          </a:solidFill>
                          <a:latin typeface="Arial Narrow"/>
                        </a:rPr>
                        <a:t>1</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r">
                        <a:lnSpc>
                          <a:spcPct val="95000"/>
                        </a:lnSpc>
                      </a:pPr>
                      <a:r>
                        <a:rPr lang="es-PE" sz="2000" b="1" strike="noStrike" spc="-1" dirty="0" err="1">
                          <a:solidFill>
                            <a:schemeClr val="bg2">
                              <a:lumMod val="25000"/>
                            </a:schemeClr>
                          </a:solidFill>
                          <a:latin typeface="Arial Narrow"/>
                        </a:rPr>
                        <a:t>P</a:t>
                      </a:r>
                      <a:r>
                        <a:rPr lang="es-PE" sz="2000" b="1" strike="noStrike" spc="-1" baseline="-30000" dirty="0" err="1">
                          <a:solidFill>
                            <a:schemeClr val="bg2">
                              <a:lumMod val="25000"/>
                            </a:schemeClr>
                          </a:solidFill>
                          <a:latin typeface="Arial Narrow"/>
                        </a:rPr>
                        <a:t>2</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r">
                        <a:lnSpc>
                          <a:spcPct val="95000"/>
                        </a:lnSpc>
                      </a:pPr>
                      <a:r>
                        <a:rPr lang="es-PE" sz="2000" b="1" strike="noStrike" spc="-1" dirty="0" err="1">
                          <a:solidFill>
                            <a:schemeClr val="bg2">
                              <a:lumMod val="25000"/>
                            </a:schemeClr>
                          </a:solidFill>
                          <a:latin typeface="Arial Narrow"/>
                        </a:rPr>
                        <a:t>P</a:t>
                      </a:r>
                      <a:r>
                        <a:rPr lang="es-PE" sz="2000" b="1" strike="noStrike" spc="-1" baseline="-30000" dirty="0" err="1">
                          <a:solidFill>
                            <a:schemeClr val="bg2">
                              <a:lumMod val="25000"/>
                            </a:schemeClr>
                          </a:solidFill>
                          <a:latin typeface="Arial Narrow"/>
                        </a:rPr>
                        <a:t>3</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r">
                        <a:lnSpc>
                          <a:spcPct val="95000"/>
                        </a:lnSpc>
                      </a:pPr>
                      <a:r>
                        <a:rPr lang="es-PE" sz="2000" b="1" strike="noStrike" spc="-1" dirty="0" err="1">
                          <a:solidFill>
                            <a:schemeClr val="bg2">
                              <a:lumMod val="25000"/>
                            </a:schemeClr>
                          </a:solidFill>
                          <a:latin typeface="Arial Narrow"/>
                        </a:rPr>
                        <a:t>P</a:t>
                      </a:r>
                      <a:r>
                        <a:rPr lang="es-PE" sz="2000" b="1" strike="noStrike" spc="-1" baseline="-30000" dirty="0" err="1">
                          <a:solidFill>
                            <a:schemeClr val="bg2">
                              <a:lumMod val="25000"/>
                            </a:schemeClr>
                          </a:solidFill>
                          <a:latin typeface="Arial Narrow"/>
                        </a:rPr>
                        <a:t>4</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extLst>
                  <a:ext uri="{0D108BD9-81ED-4DB2-BD59-A6C34878D82A}">
                    <a16:rowId xmlns:a16="http://schemas.microsoft.com/office/drawing/2014/main" val="10000"/>
                  </a:ext>
                </a:extLst>
              </a:tr>
              <a:tr h="628733">
                <a:tc>
                  <a:txBody>
                    <a:bodyPr/>
                    <a:lstStyle/>
                    <a:p>
                      <a:pPr algn="ctr">
                        <a:lnSpc>
                          <a:spcPct val="95000"/>
                        </a:lnSpc>
                      </a:pPr>
                      <a:r>
                        <a:rPr lang="es-PE" sz="2000" b="1" strike="noStrike" spc="-1" dirty="0">
                          <a:solidFill>
                            <a:schemeClr val="bg2">
                              <a:lumMod val="25000"/>
                            </a:schemeClr>
                          </a:solidFill>
                          <a:latin typeface="Arial Narrow"/>
                        </a:rPr>
                        <a:t>A</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10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2"/>
                    </a:solidFill>
                  </a:tcPr>
                </a:tc>
                <a:tc>
                  <a:txBody>
                    <a:bodyPr/>
                    <a:lstStyle/>
                    <a:p>
                      <a:pPr algn="ctr">
                        <a:lnSpc>
                          <a:spcPct val="95000"/>
                        </a:lnSpc>
                      </a:pPr>
                      <a:r>
                        <a:rPr lang="es-ES" sz="2000" b="0" strike="noStrike" spc="-1" dirty="0">
                          <a:solidFill>
                            <a:schemeClr val="bg2">
                              <a:lumMod val="25000"/>
                            </a:schemeClr>
                          </a:solidFill>
                          <a:latin typeface="Arial"/>
                        </a:rPr>
                        <a:t>8</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2"/>
                    </a:solidFill>
                  </a:tcPr>
                </a:tc>
                <a:tc>
                  <a:txBody>
                    <a:bodyPr/>
                    <a:lstStyle/>
                    <a:p>
                      <a:pPr algn="ctr">
                        <a:lnSpc>
                          <a:spcPct val="95000"/>
                        </a:lnSpc>
                      </a:pPr>
                      <a:r>
                        <a:rPr lang="es-ES" sz="2000" b="0" strike="noStrike" spc="-1" dirty="0">
                          <a:solidFill>
                            <a:schemeClr val="bg2">
                              <a:lumMod val="25000"/>
                            </a:schemeClr>
                          </a:solidFill>
                          <a:latin typeface="Arial"/>
                        </a:rPr>
                        <a:t>4*</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bg2"/>
                    </a:solidFill>
                  </a:tcPr>
                </a:tc>
                <a:tc>
                  <a:txBody>
                    <a:bodyPr/>
                    <a:lstStyle/>
                    <a:p>
                      <a:pPr algn="ctr">
                        <a:lnSpc>
                          <a:spcPct val="95000"/>
                        </a:lnSpc>
                      </a:pPr>
                      <a:r>
                        <a:rPr lang="es-ES" sz="2000" b="0" strike="noStrike" spc="-1" dirty="0">
                          <a:solidFill>
                            <a:schemeClr val="bg2">
                              <a:lumMod val="25000"/>
                            </a:schemeClr>
                          </a:solidFill>
                          <a:latin typeface="Arial"/>
                        </a:rPr>
                        <a:t>45/0</a:t>
                      </a:r>
                      <a:endParaRPr lang="es-PE" sz="2000" b="0" strike="noStrike" spc="-1" dirty="0">
                        <a:solidFill>
                          <a:schemeClr val="bg2">
                            <a:lumMod val="25000"/>
                          </a:schemeClr>
                        </a:solidFill>
                        <a:latin typeface="Arial"/>
                      </a:endParaRPr>
                    </a:p>
                  </a:txBody>
                  <a:tcPr>
                    <a:lnL w="12240" cap="flat" cmpd="sng" algn="ctr">
                      <a:solidFill>
                        <a:srgbClr val="000000"/>
                      </a:solidFill>
                      <a:prstDash val="solid"/>
                      <a:round/>
                      <a:headEnd type="none" w="med" len="med"/>
                      <a:tailEnd type="none" w="med" len="med"/>
                    </a:lnL>
                    <a:lnR w="12240">
                      <a:solidFill>
                        <a:srgbClr val="000000"/>
                      </a:solidFill>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noFill/>
                  </a:tcPr>
                </a:tc>
                <a:tc>
                  <a:txBody>
                    <a:bodyPr/>
                    <a:lstStyle/>
                    <a:p>
                      <a:pPr algn="ctr">
                        <a:lnSpc>
                          <a:spcPct val="95000"/>
                        </a:lnSpc>
                      </a:pPr>
                      <a:r>
                        <a:rPr lang="es-ES" sz="2000" b="0" strike="noStrike" spc="-1" dirty="0">
                          <a:solidFill>
                            <a:srgbClr val="FF0000"/>
                          </a:solidFill>
                          <a:latin typeface="Arial"/>
                        </a:rPr>
                        <a:t>4</a:t>
                      </a:r>
                      <a:endParaRPr lang="es-PE" sz="20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628733">
                <a:tc>
                  <a:txBody>
                    <a:bodyPr/>
                    <a:lstStyle/>
                    <a:p>
                      <a:pPr algn="ctr">
                        <a:lnSpc>
                          <a:spcPct val="95000"/>
                        </a:lnSpc>
                      </a:pPr>
                      <a:r>
                        <a:rPr lang="es-PE" sz="2000" b="1" strike="noStrike" spc="-1" dirty="0">
                          <a:solidFill>
                            <a:schemeClr val="bg2">
                              <a:lumMod val="25000"/>
                            </a:schemeClr>
                          </a:solidFill>
                          <a:latin typeface="Arial Narrow"/>
                        </a:rPr>
                        <a:t>B</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9</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5</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7</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50</a:t>
                      </a:r>
                      <a:endParaRPr lang="es-PE" sz="2000" b="0" strike="noStrike" spc="-1" dirty="0">
                        <a:solidFill>
                          <a:schemeClr val="bg2">
                            <a:lumMod val="25000"/>
                          </a:schemeClr>
                        </a:solidFill>
                        <a:latin typeface="Arial"/>
                      </a:endParaRPr>
                    </a:p>
                  </a:txBody>
                  <a:tcPr>
                    <a:lnL w="12240" cap="flat" cmpd="sng" algn="ctr">
                      <a:solidFill>
                        <a:srgbClr val="000000"/>
                      </a:solidFill>
                      <a:prstDash val="solid"/>
                      <a:round/>
                      <a:headEnd type="none" w="med" len="med"/>
                      <a:tailEnd type="none" w="med" len="med"/>
                    </a:lnL>
                    <a:lnR w="12240">
                      <a:solidFill>
                        <a:srgbClr val="000000"/>
                      </a:solidFill>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noFill/>
                  </a:tcPr>
                </a:tc>
                <a:tc>
                  <a:txBody>
                    <a:bodyPr/>
                    <a:lstStyle/>
                    <a:p>
                      <a:pPr algn="ctr">
                        <a:lnSpc>
                          <a:spcPct val="95000"/>
                        </a:lnSpc>
                      </a:pPr>
                      <a:r>
                        <a:rPr lang="es-ES" sz="2000" b="0" strike="noStrike" spc="-1" dirty="0">
                          <a:solidFill>
                            <a:srgbClr val="FF0000"/>
                          </a:solidFill>
                          <a:latin typeface="Arial"/>
                        </a:rPr>
                        <a:t>2</a:t>
                      </a:r>
                      <a:endParaRPr lang="es-PE" sz="20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628733">
                <a:tc>
                  <a:txBody>
                    <a:bodyPr/>
                    <a:lstStyle/>
                    <a:p>
                      <a:pPr algn="ctr">
                        <a:lnSpc>
                          <a:spcPct val="95000"/>
                        </a:lnSpc>
                      </a:pPr>
                      <a:r>
                        <a:rPr lang="es-PE" sz="2000" b="1" strike="noStrike" spc="-1" dirty="0">
                          <a:solidFill>
                            <a:schemeClr val="bg2">
                              <a:lumMod val="25000"/>
                            </a:schemeClr>
                          </a:solidFill>
                          <a:latin typeface="Arial Narrow"/>
                        </a:rPr>
                        <a:t>C</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3</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6</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9</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45</a:t>
                      </a:r>
                      <a:endParaRPr lang="es-PE" sz="2000" b="0" strike="noStrike" spc="-1" dirty="0">
                        <a:solidFill>
                          <a:schemeClr val="bg2">
                            <a:lumMod val="25000"/>
                          </a:schemeClr>
                        </a:solidFill>
                        <a:latin typeface="Arial"/>
                      </a:endParaRPr>
                    </a:p>
                  </a:txBody>
                  <a:tcPr>
                    <a:lnL w="12240" cap="flat" cmpd="sng" algn="ctr">
                      <a:solidFill>
                        <a:srgbClr val="000000"/>
                      </a:solidFill>
                      <a:prstDash val="solid"/>
                      <a:round/>
                      <a:headEnd type="none" w="med" len="med"/>
                      <a:tailEnd type="none" w="med" len="med"/>
                    </a:lnL>
                    <a:lnR w="12240">
                      <a:solidFill>
                        <a:srgbClr val="000000"/>
                      </a:solidFill>
                    </a:lnR>
                    <a:lnT w="1224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ES" sz="2000" b="0" strike="noStrike" spc="-1" dirty="0">
                          <a:solidFill>
                            <a:srgbClr val="FF0000"/>
                          </a:solidFill>
                          <a:latin typeface="Arial"/>
                        </a:rPr>
                        <a:t>3</a:t>
                      </a:r>
                      <a:endParaRPr lang="es-PE" sz="20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endParaRPr lang="en-US" sz="2000"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628733">
                <a:tc>
                  <a:txBody>
                    <a:bodyPr/>
                    <a:lstStyle/>
                    <a:p>
                      <a:pPr algn="ctr">
                        <a:lnSpc>
                          <a:spcPct val="95000"/>
                        </a:lnSpc>
                      </a:pPr>
                      <a:r>
                        <a:rPr lang="es-PE" sz="2000" b="1" strike="noStrike" spc="-1" dirty="0">
                          <a:solidFill>
                            <a:schemeClr val="bg2">
                              <a:lumMod val="25000"/>
                            </a:schemeClr>
                          </a:solidFill>
                          <a:latin typeface="Arial Narrow"/>
                        </a:rPr>
                        <a:t>D</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5</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7</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6</a:t>
                      </a:r>
                      <a:endParaRPr lang="es-PE" sz="2000" b="0" strike="noStrike" spc="-1" dirty="0">
                        <a:solidFill>
                          <a:schemeClr val="bg2">
                            <a:lumMod val="25000"/>
                          </a:schemeClr>
                        </a:solidFill>
                        <a:latin typeface="Arial"/>
                      </a:endParaRPr>
                    </a:p>
                  </a:txBody>
                  <a:tcPr>
                    <a:lnL w="12240">
                      <a:solidFill>
                        <a:srgbClr val="000000"/>
                      </a:solidFill>
                    </a:lnL>
                    <a:lnR w="12700" cap="flat" cmpd="sng" algn="ctr">
                      <a:solidFill>
                        <a:schemeClr val="tx1"/>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bg1"/>
                    </a:solidFill>
                  </a:tcPr>
                </a:tc>
                <a:tc>
                  <a:txBody>
                    <a:bodyPr/>
                    <a:lstStyle/>
                    <a:p>
                      <a:pPr algn="ctr">
                        <a:lnSpc>
                          <a:spcPct val="95000"/>
                        </a:lnSpc>
                        <a:spcBef>
                          <a:spcPts val="1199"/>
                        </a:spcBef>
                      </a:pPr>
                      <a:r>
                        <a:rPr lang="es-ES" sz="2000" b="0" strike="noStrike" spc="-1" dirty="0">
                          <a:solidFill>
                            <a:schemeClr val="bg2">
                              <a:lumMod val="25000"/>
                            </a:schemeClr>
                          </a:solidFill>
                          <a:latin typeface="Arial"/>
                        </a:rPr>
                        <a:t>30</a:t>
                      </a:r>
                      <a:endParaRPr lang="es-PE" sz="2000" b="0" strike="noStrike" spc="-1" dirty="0">
                        <a:solidFill>
                          <a:schemeClr val="bg2">
                            <a:lumMod val="25000"/>
                          </a:schemeClr>
                        </a:solidFill>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ES" sz="2000" b="0" strike="noStrike" spc="-1" dirty="0">
                          <a:solidFill>
                            <a:srgbClr val="FF0000"/>
                          </a:solidFill>
                          <a:latin typeface="Arial"/>
                        </a:rPr>
                        <a:t>1</a:t>
                      </a:r>
                      <a:endParaRPr lang="es-PE" sz="2000" b="0" strike="noStrike" spc="-1" dirty="0">
                        <a:solidFill>
                          <a:srgbClr val="FF0000"/>
                        </a:solidFill>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endParaRPr lang="es-PE" sz="2000" b="0" strike="noStrike" spc="-1" dirty="0">
                        <a:solidFill>
                          <a:schemeClr val="bg2">
                            <a:lumMod val="25000"/>
                          </a:schemeClr>
                        </a:solidFill>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endParaRPr lang="es-PE" sz="2000" b="0" strike="noStrike" spc="-1" dirty="0">
                        <a:solidFill>
                          <a:schemeClr val="bg2">
                            <a:lumMod val="25000"/>
                          </a:schemeClr>
                        </a:solidFill>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dirty="0">
                        <a:solidFill>
                          <a:schemeClr val="bg2">
                            <a:lumMod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715217">
                <a:tc>
                  <a:txBody>
                    <a:bodyPr/>
                    <a:lstStyle/>
                    <a:p>
                      <a:pPr algn="ctr">
                        <a:lnSpc>
                          <a:spcPct val="95000"/>
                        </a:lnSpc>
                      </a:pPr>
                      <a:r>
                        <a:rPr lang="es-PE" sz="2000" b="1" strike="noStrike" spc="-1" dirty="0">
                          <a:solidFill>
                            <a:schemeClr val="bg2">
                              <a:lumMod val="25000"/>
                            </a:schemeClr>
                          </a:solidFill>
                          <a:latin typeface="Arial Narrow"/>
                        </a:rPr>
                        <a:t>Demanda</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90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2000" b="0" strike="noStrike" spc="-1" dirty="0">
                          <a:solidFill>
                            <a:schemeClr val="bg2">
                              <a:lumMod val="25000"/>
                            </a:schemeClr>
                          </a:solidFill>
                          <a:latin typeface="Arial"/>
                        </a:rPr>
                        <a:t>30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2000" b="0" strike="noStrike" spc="-1" dirty="0">
                          <a:solidFill>
                            <a:schemeClr val="bg2">
                              <a:lumMod val="25000"/>
                            </a:schemeClr>
                          </a:solidFill>
                          <a:latin typeface="Arial"/>
                        </a:rPr>
                        <a:t>50/5</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1D528D"/>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endParaRPr lang="en-US" sz="2000" dirty="0">
                        <a:solidFill>
                          <a:schemeClr val="bg2">
                            <a:lumMod val="25000"/>
                          </a:schemeClr>
                        </a:solidFill>
                      </a:endParaRPr>
                    </a:p>
                  </a:txBody>
                  <a:tcPr>
                    <a:lnL w="12240" cap="flat" cmpd="sng" algn="ctr">
                      <a:solidFill>
                        <a:srgbClr val="1D528D"/>
                      </a:solidFill>
                      <a:prstDash val="solid"/>
                      <a:round/>
                      <a:headEnd type="none" w="med" len="med"/>
                      <a:tailEnd type="none" w="med" len="med"/>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sz="2000" dirty="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sz="200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sz="200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sz="2000" dirty="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extLst>
                  <a:ext uri="{0D108BD9-81ED-4DB2-BD59-A6C34878D82A}">
                    <a16:rowId xmlns:a16="http://schemas.microsoft.com/office/drawing/2014/main" val="10005"/>
                  </a:ext>
                </a:extLst>
              </a:tr>
            </a:tbl>
          </a:graphicData>
        </a:graphic>
      </p:graphicFrame>
      <p:sp>
        <p:nvSpPr>
          <p:cNvPr id="1013" name="CustomShape 3"/>
          <p:cNvSpPr/>
          <p:nvPr/>
        </p:nvSpPr>
        <p:spPr>
          <a:xfrm>
            <a:off x="1524000" y="277488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1014" name="Table 4"/>
          <p:cNvGraphicFramePr/>
          <p:nvPr>
            <p:extLst>
              <p:ext uri="{D42A27DB-BD31-4B8C-83A1-F6EECF244321}">
                <p14:modId xmlns:p14="http://schemas.microsoft.com/office/powerpoint/2010/main" val="904785056"/>
              </p:ext>
            </p:extLst>
          </p:nvPr>
        </p:nvGraphicFramePr>
        <p:xfrm>
          <a:off x="1991544" y="5136988"/>
          <a:ext cx="4131670" cy="1690126"/>
        </p:xfrm>
        <a:graphic>
          <a:graphicData uri="http://schemas.openxmlformats.org/drawingml/2006/table">
            <a:tbl>
              <a:tblPr/>
              <a:tblGrid>
                <a:gridCol w="1152128">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998849">
                  <a:extLst>
                    <a:ext uri="{9D8B030D-6E8A-4147-A177-3AD203B41FA5}">
                      <a16:colId xmlns:a16="http://schemas.microsoft.com/office/drawing/2014/main" val="20002"/>
                    </a:ext>
                  </a:extLst>
                </a:gridCol>
                <a:gridCol w="1044589">
                  <a:extLst>
                    <a:ext uri="{9D8B030D-6E8A-4147-A177-3AD203B41FA5}">
                      <a16:colId xmlns:a16="http://schemas.microsoft.com/office/drawing/2014/main" val="20003"/>
                    </a:ext>
                  </a:extLst>
                </a:gridCol>
              </a:tblGrid>
              <a:tr h="346201">
                <a:tc>
                  <a:txBody>
                    <a:bodyPr/>
                    <a:lstStyle/>
                    <a:p>
                      <a:pPr algn="ctr">
                        <a:lnSpc>
                          <a:spcPct val="95000"/>
                        </a:lnSpc>
                      </a:pPr>
                      <a:r>
                        <a:rPr lang="es-PE" sz="1800" b="1" strike="noStrike" spc="-1" dirty="0" err="1">
                          <a:solidFill>
                            <a:schemeClr val="bg2">
                              <a:lumMod val="25000"/>
                            </a:schemeClr>
                          </a:solidFill>
                          <a:latin typeface="Arial Narrow"/>
                        </a:rPr>
                        <a:t>P</a:t>
                      </a:r>
                      <a:r>
                        <a:rPr lang="es-PE" sz="1800" b="1" strike="noStrike" spc="-1" baseline="-30000" dirty="0" err="1">
                          <a:solidFill>
                            <a:schemeClr val="bg2">
                              <a:lumMod val="25000"/>
                            </a:schemeClr>
                          </a:solidFill>
                          <a:latin typeface="Arial Narrow"/>
                        </a:rPr>
                        <a:t>1</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1800" b="1" strike="noStrike" spc="-1" dirty="0">
                          <a:solidFill>
                            <a:srgbClr val="FF0000"/>
                          </a:solidFill>
                          <a:latin typeface="Arial"/>
                        </a:rPr>
                        <a:t>2</a:t>
                      </a:r>
                      <a:endParaRPr lang="es-PE" sz="1800" b="1"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1800" b="1" strike="noStrike" spc="-1" dirty="0">
                          <a:solidFill>
                            <a:srgbClr val="FF0000"/>
                          </a:solidFill>
                          <a:latin typeface="Arial"/>
                        </a:rPr>
                        <a:t>1</a:t>
                      </a:r>
                      <a:endParaRPr lang="es-PE" sz="1800" b="1"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1800" b="1" strike="noStrike" spc="-1" dirty="0">
                          <a:solidFill>
                            <a:srgbClr val="FF0000"/>
                          </a:solidFill>
                          <a:latin typeface="Arial"/>
                        </a:rPr>
                        <a:t>2</a:t>
                      </a:r>
                      <a:endParaRPr lang="es-PE" sz="1800" b="1" strike="noStrike" spc="-1" dirty="0">
                        <a:solidFill>
                          <a:srgbClr val="FF0000"/>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346201">
                <a:tc>
                  <a:txBody>
                    <a:bodyPr/>
                    <a:lstStyle/>
                    <a:p>
                      <a:pPr algn="ctr">
                        <a:lnSpc>
                          <a:spcPct val="95000"/>
                        </a:lnSpc>
                      </a:pPr>
                      <a:r>
                        <a:rPr lang="es-PE" sz="1800" b="1" strike="noStrike" spc="-1" dirty="0" err="1">
                          <a:solidFill>
                            <a:schemeClr val="bg2">
                              <a:lumMod val="25000"/>
                            </a:schemeClr>
                          </a:solidFill>
                          <a:latin typeface="Arial Narrow"/>
                        </a:rPr>
                        <a:t>P</a:t>
                      </a:r>
                      <a:r>
                        <a:rPr lang="es-PE" sz="1800" b="1" strike="noStrike" spc="-1" baseline="-30000" dirty="0" err="1">
                          <a:solidFill>
                            <a:schemeClr val="bg2">
                              <a:lumMod val="25000"/>
                            </a:schemeClr>
                          </a:solidFill>
                          <a:latin typeface="Arial Narrow"/>
                        </a:rPr>
                        <a:t>2</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18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346201">
                <a:tc>
                  <a:txBody>
                    <a:bodyPr/>
                    <a:lstStyle/>
                    <a:p>
                      <a:pPr algn="ctr">
                        <a:lnSpc>
                          <a:spcPct val="95000"/>
                        </a:lnSpc>
                      </a:pPr>
                      <a:r>
                        <a:rPr lang="es-PE" sz="1800" b="1" strike="noStrike" spc="-1" dirty="0" err="1">
                          <a:solidFill>
                            <a:schemeClr val="bg2">
                              <a:lumMod val="25000"/>
                            </a:schemeClr>
                          </a:solidFill>
                          <a:latin typeface="Arial Narrow"/>
                        </a:rPr>
                        <a:t>P</a:t>
                      </a:r>
                      <a:r>
                        <a:rPr lang="es-PE" sz="1800" b="1" strike="noStrike" spc="-1" baseline="-30000" dirty="0" err="1">
                          <a:solidFill>
                            <a:schemeClr val="bg2">
                              <a:lumMod val="25000"/>
                            </a:schemeClr>
                          </a:solidFill>
                          <a:latin typeface="Arial Narrow"/>
                        </a:rPr>
                        <a:t>3</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spcBef>
                          <a:spcPts val="1199"/>
                        </a:spcBef>
                      </a:pPr>
                      <a:endParaRPr lang="es-PE" sz="18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1800" dirty="0">
                        <a:solidFill>
                          <a:schemeClr val="bg2">
                            <a:lumMod val="25000"/>
                          </a:schemeClr>
                        </a:solidFil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620278">
                <a:tc>
                  <a:txBody>
                    <a:bodyPr/>
                    <a:lstStyle/>
                    <a:p>
                      <a:pPr algn="ctr">
                        <a:lnSpc>
                          <a:spcPct val="95000"/>
                        </a:lnSpc>
                      </a:pPr>
                      <a:r>
                        <a:rPr lang="es-PE" sz="1800" b="1" strike="noStrike" spc="-1" dirty="0" err="1">
                          <a:solidFill>
                            <a:schemeClr val="bg2">
                              <a:lumMod val="25000"/>
                            </a:schemeClr>
                          </a:solidFill>
                          <a:latin typeface="Arial Narrow"/>
                        </a:rPr>
                        <a:t>P</a:t>
                      </a:r>
                      <a:r>
                        <a:rPr lang="es-PE" sz="1800" b="1" strike="noStrike" spc="-1" baseline="-30000" dirty="0" err="1">
                          <a:solidFill>
                            <a:schemeClr val="bg2">
                              <a:lumMod val="25000"/>
                            </a:schemeClr>
                          </a:solidFill>
                          <a:latin typeface="Arial Narrow"/>
                        </a:rPr>
                        <a:t>4</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spcBef>
                          <a:spcPts val="1199"/>
                        </a:spcBef>
                      </a:pP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1800" dirty="0">
                        <a:solidFill>
                          <a:schemeClr val="bg2">
                            <a:lumMod val="25000"/>
                          </a:schemeClr>
                        </a:solidFil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grpSp>
        <p:nvGrpSpPr>
          <p:cNvPr id="5" name="Grupo 4">
            <a:extLst>
              <a:ext uri="{FF2B5EF4-FFF2-40B4-BE49-F238E27FC236}">
                <a16:creationId xmlns:a16="http://schemas.microsoft.com/office/drawing/2014/main" id="{54F66A6E-58D2-462E-9D00-C620354C84E2}"/>
              </a:ext>
            </a:extLst>
          </p:cNvPr>
          <p:cNvGrpSpPr/>
          <p:nvPr/>
        </p:nvGrpSpPr>
        <p:grpSpPr>
          <a:xfrm>
            <a:off x="7810680" y="4572549"/>
            <a:ext cx="2356920" cy="2284541"/>
            <a:chOff x="7810680" y="4572549"/>
            <a:chExt cx="2356920" cy="2284541"/>
          </a:xfrm>
        </p:grpSpPr>
        <p:sp>
          <p:nvSpPr>
            <p:cNvPr id="7" name="Forma libre: forma 6">
              <a:extLst>
                <a:ext uri="{FF2B5EF4-FFF2-40B4-BE49-F238E27FC236}">
                  <a16:creationId xmlns:a16="http://schemas.microsoft.com/office/drawing/2014/main" id="{577D751B-3F75-4104-AFFF-3BADE62EC80E}"/>
                </a:ext>
              </a:extLst>
            </p:cNvPr>
            <p:cNvSpPr/>
            <p:nvPr/>
          </p:nvSpPr>
          <p:spPr>
            <a:xfrm>
              <a:off x="7810680" y="4572549"/>
              <a:ext cx="2356920" cy="359340"/>
            </a:xfrm>
            <a:custGeom>
              <a:avLst/>
              <a:gdLst>
                <a:gd name="connsiteX0" fmla="*/ 0 w 2356920"/>
                <a:gd name="connsiteY0" fmla="*/ 59891 h 359340"/>
                <a:gd name="connsiteX1" fmla="*/ 59891 w 2356920"/>
                <a:gd name="connsiteY1" fmla="*/ 0 h 359340"/>
                <a:gd name="connsiteX2" fmla="*/ 2297029 w 2356920"/>
                <a:gd name="connsiteY2" fmla="*/ 0 h 359340"/>
                <a:gd name="connsiteX3" fmla="*/ 2356920 w 2356920"/>
                <a:gd name="connsiteY3" fmla="*/ 59891 h 359340"/>
                <a:gd name="connsiteX4" fmla="*/ 2356920 w 2356920"/>
                <a:gd name="connsiteY4" fmla="*/ 299449 h 359340"/>
                <a:gd name="connsiteX5" fmla="*/ 2297029 w 2356920"/>
                <a:gd name="connsiteY5" fmla="*/ 359340 h 359340"/>
                <a:gd name="connsiteX6" fmla="*/ 59891 w 2356920"/>
                <a:gd name="connsiteY6" fmla="*/ 359340 h 359340"/>
                <a:gd name="connsiteX7" fmla="*/ 0 w 2356920"/>
                <a:gd name="connsiteY7" fmla="*/ 299449 h 359340"/>
                <a:gd name="connsiteX8" fmla="*/ 0 w 2356920"/>
                <a:gd name="connsiteY8" fmla="*/ 59891 h 359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920" h="359340">
                  <a:moveTo>
                    <a:pt x="0" y="59891"/>
                  </a:moveTo>
                  <a:cubicBezTo>
                    <a:pt x="0" y="26814"/>
                    <a:pt x="26814" y="0"/>
                    <a:pt x="59891" y="0"/>
                  </a:cubicBezTo>
                  <a:lnTo>
                    <a:pt x="2297029" y="0"/>
                  </a:lnTo>
                  <a:cubicBezTo>
                    <a:pt x="2330106" y="0"/>
                    <a:pt x="2356920" y="26814"/>
                    <a:pt x="2356920" y="59891"/>
                  </a:cubicBezTo>
                  <a:lnTo>
                    <a:pt x="2356920" y="299449"/>
                  </a:lnTo>
                  <a:cubicBezTo>
                    <a:pt x="2356920" y="332526"/>
                    <a:pt x="2330106" y="359340"/>
                    <a:pt x="2297029" y="359340"/>
                  </a:cubicBezTo>
                  <a:lnTo>
                    <a:pt x="59891" y="359340"/>
                  </a:lnTo>
                  <a:cubicBezTo>
                    <a:pt x="26814" y="359340"/>
                    <a:pt x="0" y="332526"/>
                    <a:pt x="0" y="299449"/>
                  </a:cubicBezTo>
                  <a:lnTo>
                    <a:pt x="0" y="5989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6122" tIns="86122" rIns="86122" bIns="86122" numCol="1" spcCol="1270" anchor="ctr" anchorCtr="0">
              <a:noAutofit/>
            </a:bodyPr>
            <a:lstStyle/>
            <a:p>
              <a:pPr marL="0" lvl="0" indent="0" algn="l" defTabSz="800100" rtl="0">
                <a:lnSpc>
                  <a:spcPct val="90000"/>
                </a:lnSpc>
                <a:spcBef>
                  <a:spcPct val="0"/>
                </a:spcBef>
                <a:spcAft>
                  <a:spcPct val="35000"/>
                </a:spcAft>
                <a:buNone/>
              </a:pPr>
              <a:r>
                <a:rPr lang="es-ES" sz="1800" kern="1200" dirty="0" err="1"/>
                <a:t>X13</a:t>
              </a:r>
              <a:r>
                <a:rPr lang="es-ES" sz="1800" kern="1200" dirty="0"/>
                <a:t>=</a:t>
              </a:r>
              <a:r>
                <a:rPr lang="es-ES" sz="1800" kern="1200" dirty="0" err="1"/>
                <a:t>45</a:t>
              </a:r>
              <a:r>
                <a:rPr lang="es-ES" sz="1800" kern="1200" dirty="0" err="1">
                  <a:sym typeface="Wingdings" panose="05000000000000000000" pitchFamily="2" charset="2"/>
                </a:rPr>
                <a:t>C</a:t>
              </a:r>
              <a:r>
                <a:rPr lang="es-ES" sz="1800" kern="1200" dirty="0">
                  <a:sym typeface="Wingdings" panose="05000000000000000000" pitchFamily="2" charset="2"/>
                </a:rPr>
                <a:t>=45*4=180</a:t>
              </a:r>
              <a:endParaRPr lang="es-PE" sz="1800" kern="1200" dirty="0"/>
            </a:p>
          </p:txBody>
        </p:sp>
        <p:sp>
          <p:nvSpPr>
            <p:cNvPr id="16" name="Forma libre: forma 15">
              <a:extLst>
                <a:ext uri="{FF2B5EF4-FFF2-40B4-BE49-F238E27FC236}">
                  <a16:creationId xmlns:a16="http://schemas.microsoft.com/office/drawing/2014/main" id="{FAAD073D-8FE6-45C3-93CD-B86C83C3F9E4}"/>
                </a:ext>
              </a:extLst>
            </p:cNvPr>
            <p:cNvSpPr/>
            <p:nvPr/>
          </p:nvSpPr>
          <p:spPr>
            <a:xfrm>
              <a:off x="7810680" y="6788360"/>
              <a:ext cx="2356920" cy="68730"/>
            </a:xfrm>
            <a:custGeom>
              <a:avLst/>
              <a:gdLst>
                <a:gd name="connsiteX0" fmla="*/ 0 w 2356920"/>
                <a:gd name="connsiteY0" fmla="*/ 0 h 68730"/>
                <a:gd name="connsiteX1" fmla="*/ 2356920 w 2356920"/>
                <a:gd name="connsiteY1" fmla="*/ 0 h 68730"/>
                <a:gd name="connsiteX2" fmla="*/ 2356920 w 2356920"/>
                <a:gd name="connsiteY2" fmla="*/ 68730 h 68730"/>
                <a:gd name="connsiteX3" fmla="*/ 0 w 2356920"/>
                <a:gd name="connsiteY3" fmla="*/ 68730 h 68730"/>
                <a:gd name="connsiteX4" fmla="*/ 0 w 2356920"/>
                <a:gd name="connsiteY4" fmla="*/ 0 h 68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6920" h="68730">
                  <a:moveTo>
                    <a:pt x="0" y="0"/>
                  </a:moveTo>
                  <a:lnTo>
                    <a:pt x="2356920" y="0"/>
                  </a:lnTo>
                  <a:lnTo>
                    <a:pt x="2356920" y="68730"/>
                  </a:lnTo>
                  <a:lnTo>
                    <a:pt x="0" y="6873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4832" tIns="22860" rIns="128016" bIns="22860" numCol="1" spcCol="1270" anchor="t" anchorCtr="0">
              <a:noAutofit/>
            </a:bodyPr>
            <a:lstStyle/>
            <a:p>
              <a:pPr marL="171450" lvl="1" indent="-171450" algn="l" defTabSz="800100" rtl="0">
                <a:lnSpc>
                  <a:spcPct val="90000"/>
                </a:lnSpc>
                <a:spcBef>
                  <a:spcPct val="0"/>
                </a:spcBef>
                <a:spcAft>
                  <a:spcPct val="20000"/>
                </a:spcAft>
                <a:buChar char="•"/>
              </a:pPr>
              <a:endParaRPr lang="es-PE" sz="1800" kern="1200"/>
            </a:p>
          </p:txBody>
        </p:sp>
      </p:grpSp>
      <p:sp>
        <p:nvSpPr>
          <p:cNvPr id="8" name="CustomShape 5">
            <a:extLst>
              <a:ext uri="{FF2B5EF4-FFF2-40B4-BE49-F238E27FC236}">
                <a16:creationId xmlns:a16="http://schemas.microsoft.com/office/drawing/2014/main" id="{54E3C167-328B-4F8C-8D92-3147DE697B13}"/>
              </a:ext>
            </a:extLst>
          </p:cNvPr>
          <p:cNvSpPr/>
          <p:nvPr/>
        </p:nvSpPr>
        <p:spPr>
          <a:xfrm>
            <a:off x="6096000" y="163488"/>
            <a:ext cx="6096000" cy="56304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lnSpc>
                <a:spcPts val="5800"/>
              </a:lnSpc>
              <a:spcBef>
                <a:spcPct val="0"/>
              </a:spcBef>
            </a:pPr>
            <a:r>
              <a:rPr lang="es-PE" sz="3200" dirty="0">
                <a:solidFill>
                  <a:schemeClr val="bg1"/>
                </a:solidFill>
                <a:effectLst>
                  <a:outerShdw blurRad="63500" dist="38100" dir="5400000" algn="t" rotWithShape="0">
                    <a:prstClr val="black">
                      <a:alpha val="25000"/>
                    </a:prstClr>
                  </a:outerShdw>
                </a:effectLst>
                <a:latin typeface="Bauhaus 93" pitchFamily="82" charset="0"/>
              </a:rPr>
              <a:t>Método Vogel</a:t>
            </a:r>
          </a:p>
        </p:txBody>
      </p:sp>
      <p:sp>
        <p:nvSpPr>
          <p:cNvPr id="3" name="CuadroTexto 2">
            <a:extLst>
              <a:ext uri="{FF2B5EF4-FFF2-40B4-BE49-F238E27FC236}">
                <a16:creationId xmlns:a16="http://schemas.microsoft.com/office/drawing/2014/main" id="{94068D84-C38F-4A73-8516-0D12DAC69682}"/>
              </a:ext>
            </a:extLst>
          </p:cNvPr>
          <p:cNvSpPr txBox="1"/>
          <p:nvPr/>
        </p:nvSpPr>
        <p:spPr>
          <a:xfrm>
            <a:off x="258793" y="2191109"/>
            <a:ext cx="1380226" cy="646331"/>
          </a:xfrm>
          <a:prstGeom prst="rect">
            <a:avLst/>
          </a:prstGeom>
          <a:solidFill>
            <a:srgbClr val="FFFF00"/>
          </a:solidFill>
        </p:spPr>
        <p:txBody>
          <a:bodyPr wrap="square" rtlCol="0">
            <a:spAutoFit/>
          </a:bodyPr>
          <a:lstStyle/>
          <a:p>
            <a:r>
              <a:rPr lang="es-ES" b="1" dirty="0"/>
              <a:t>Hallamos las penalidades</a:t>
            </a:r>
          </a:p>
        </p:txBody>
      </p:sp>
      <p:sp>
        <p:nvSpPr>
          <p:cNvPr id="4" name="Rectángulo 3">
            <a:extLst>
              <a:ext uri="{FF2B5EF4-FFF2-40B4-BE49-F238E27FC236}">
                <a16:creationId xmlns:a16="http://schemas.microsoft.com/office/drawing/2014/main" id="{32EFFBBE-0896-4CC9-B463-E75186039674}"/>
              </a:ext>
            </a:extLst>
          </p:cNvPr>
          <p:cNvSpPr/>
          <p:nvPr/>
        </p:nvSpPr>
        <p:spPr>
          <a:xfrm>
            <a:off x="258136" y="3054556"/>
            <a:ext cx="1372258" cy="923330"/>
          </a:xfrm>
          <a:prstGeom prst="rect">
            <a:avLst/>
          </a:prstGeom>
          <a:solidFill>
            <a:srgbClr val="FFFF00"/>
          </a:solidFill>
        </p:spPr>
        <p:txBody>
          <a:bodyPr wrap="square">
            <a:spAutoFit/>
          </a:bodyPr>
          <a:lstStyle/>
          <a:p>
            <a:r>
              <a:rPr lang="es-ES" b="1" dirty="0"/>
              <a:t>Hallamos la mayor penalidad</a:t>
            </a:r>
            <a:endParaRPr lang="es-PE" b="1" dirty="0"/>
          </a:p>
        </p:txBody>
      </p:sp>
      <p:sp>
        <p:nvSpPr>
          <p:cNvPr id="10" name="CuadroTexto 9">
            <a:extLst>
              <a:ext uri="{FF2B5EF4-FFF2-40B4-BE49-F238E27FC236}">
                <a16:creationId xmlns:a16="http://schemas.microsoft.com/office/drawing/2014/main" id="{97A34C44-51A1-43F7-8163-E4857A72742B}"/>
              </a:ext>
            </a:extLst>
          </p:cNvPr>
          <p:cNvSpPr txBox="1"/>
          <p:nvPr/>
        </p:nvSpPr>
        <p:spPr>
          <a:xfrm>
            <a:off x="264551" y="4198193"/>
            <a:ext cx="1380226" cy="646331"/>
          </a:xfrm>
          <a:prstGeom prst="rect">
            <a:avLst/>
          </a:prstGeom>
          <a:solidFill>
            <a:srgbClr val="FFFF00"/>
          </a:solidFill>
        </p:spPr>
        <p:txBody>
          <a:bodyPr wrap="square" rtlCol="0">
            <a:spAutoFit/>
          </a:bodyPr>
          <a:lstStyle/>
          <a:p>
            <a:r>
              <a:rPr lang="es-ES" b="1" dirty="0"/>
              <a:t>Hallamos el menor costo</a:t>
            </a:r>
          </a:p>
        </p:txBody>
      </p:sp>
      <p:sp>
        <p:nvSpPr>
          <p:cNvPr id="11" name="CuadroTexto 10">
            <a:extLst>
              <a:ext uri="{FF2B5EF4-FFF2-40B4-BE49-F238E27FC236}">
                <a16:creationId xmlns:a16="http://schemas.microsoft.com/office/drawing/2014/main" id="{25937844-EAF5-4340-A0A9-1F47613FF054}"/>
              </a:ext>
            </a:extLst>
          </p:cNvPr>
          <p:cNvSpPr txBox="1"/>
          <p:nvPr/>
        </p:nvSpPr>
        <p:spPr>
          <a:xfrm>
            <a:off x="264551" y="5086705"/>
            <a:ext cx="1380226" cy="646331"/>
          </a:xfrm>
          <a:prstGeom prst="rect">
            <a:avLst/>
          </a:prstGeom>
          <a:solidFill>
            <a:srgbClr val="FFFF00"/>
          </a:solidFill>
        </p:spPr>
        <p:txBody>
          <a:bodyPr wrap="square" rtlCol="0">
            <a:spAutoFit/>
          </a:bodyPr>
          <a:lstStyle/>
          <a:p>
            <a:r>
              <a:rPr lang="es-ES" b="1" dirty="0"/>
              <a:t>Anotamos la operación</a:t>
            </a:r>
          </a:p>
        </p:txBody>
      </p:sp>
      <p:sp>
        <p:nvSpPr>
          <p:cNvPr id="6" name="Globo: flecha hacia abajo 5">
            <a:extLst>
              <a:ext uri="{FF2B5EF4-FFF2-40B4-BE49-F238E27FC236}">
                <a16:creationId xmlns:a16="http://schemas.microsoft.com/office/drawing/2014/main" id="{9E1F870D-90F8-4BAE-A43D-414C4CE53C6F}"/>
              </a:ext>
            </a:extLst>
          </p:cNvPr>
          <p:cNvSpPr/>
          <p:nvPr/>
        </p:nvSpPr>
        <p:spPr>
          <a:xfrm>
            <a:off x="276044" y="1276709"/>
            <a:ext cx="1345721" cy="897148"/>
          </a:xfrm>
          <a:prstGeom prst="downArrowCallou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rgbClr val="FF0000"/>
                </a:solidFill>
              </a:rPr>
              <a:t>Pasos:</a:t>
            </a:r>
            <a:endParaRPr lang="es-PE" sz="2400" dirty="0">
              <a:solidFill>
                <a:srgbClr val="FF0000"/>
              </a:solidFill>
            </a:endParaRPr>
          </a:p>
        </p:txBody>
      </p:sp>
    </p:spTree>
    <p:extLst>
      <p:ext uri="{BB962C8B-B14F-4D97-AF65-F5344CB8AC3E}">
        <p14:creationId xmlns:p14="http://schemas.microsoft.com/office/powerpoint/2010/main" val="3270099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0" grpId="0" animBg="1"/>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1" name="CustomShape 1"/>
          <p:cNvSpPr/>
          <p:nvPr/>
        </p:nvSpPr>
        <p:spPr>
          <a:xfrm>
            <a:off x="1524000" y="239400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1012" name="Table 2"/>
          <p:cNvGraphicFramePr/>
          <p:nvPr>
            <p:extLst>
              <p:ext uri="{D42A27DB-BD31-4B8C-83A1-F6EECF244321}">
                <p14:modId xmlns:p14="http://schemas.microsoft.com/office/powerpoint/2010/main" val="3398359949"/>
              </p:ext>
            </p:extLst>
          </p:nvPr>
        </p:nvGraphicFramePr>
        <p:xfrm>
          <a:off x="1952760" y="1244098"/>
          <a:ext cx="8500680" cy="3654878"/>
        </p:xfrm>
        <a:graphic>
          <a:graphicData uri="http://schemas.openxmlformats.org/drawingml/2006/table">
            <a:tbl>
              <a:tblPr/>
              <a:tblGrid>
                <a:gridCol w="1228320">
                  <a:extLst>
                    <a:ext uri="{9D8B030D-6E8A-4147-A177-3AD203B41FA5}">
                      <a16:colId xmlns:a16="http://schemas.microsoft.com/office/drawing/2014/main" val="20000"/>
                    </a:ext>
                  </a:extLst>
                </a:gridCol>
                <a:gridCol w="883440">
                  <a:extLst>
                    <a:ext uri="{9D8B030D-6E8A-4147-A177-3AD203B41FA5}">
                      <a16:colId xmlns:a16="http://schemas.microsoft.com/office/drawing/2014/main" val="20001"/>
                    </a:ext>
                  </a:extLst>
                </a:gridCol>
                <a:gridCol w="981000">
                  <a:extLst>
                    <a:ext uri="{9D8B030D-6E8A-4147-A177-3AD203B41FA5}">
                      <a16:colId xmlns:a16="http://schemas.microsoft.com/office/drawing/2014/main" val="20002"/>
                    </a:ext>
                  </a:extLst>
                </a:gridCol>
                <a:gridCol w="1077694">
                  <a:extLst>
                    <a:ext uri="{9D8B030D-6E8A-4147-A177-3AD203B41FA5}">
                      <a16:colId xmlns:a16="http://schemas.microsoft.com/office/drawing/2014/main" val="20003"/>
                    </a:ext>
                  </a:extLst>
                </a:gridCol>
                <a:gridCol w="1773506">
                  <a:extLst>
                    <a:ext uri="{9D8B030D-6E8A-4147-A177-3AD203B41FA5}">
                      <a16:colId xmlns:a16="http://schemas.microsoft.com/office/drawing/2014/main" val="20005"/>
                    </a:ext>
                  </a:extLst>
                </a:gridCol>
                <a:gridCol w="667800">
                  <a:extLst>
                    <a:ext uri="{9D8B030D-6E8A-4147-A177-3AD203B41FA5}">
                      <a16:colId xmlns:a16="http://schemas.microsoft.com/office/drawing/2014/main" val="20006"/>
                    </a:ext>
                  </a:extLst>
                </a:gridCol>
                <a:gridCol w="569880">
                  <a:extLst>
                    <a:ext uri="{9D8B030D-6E8A-4147-A177-3AD203B41FA5}">
                      <a16:colId xmlns:a16="http://schemas.microsoft.com/office/drawing/2014/main" val="20007"/>
                    </a:ext>
                  </a:extLst>
                </a:gridCol>
                <a:gridCol w="658800">
                  <a:extLst>
                    <a:ext uri="{9D8B030D-6E8A-4147-A177-3AD203B41FA5}">
                      <a16:colId xmlns:a16="http://schemas.microsoft.com/office/drawing/2014/main" val="20008"/>
                    </a:ext>
                  </a:extLst>
                </a:gridCol>
                <a:gridCol w="660240">
                  <a:extLst>
                    <a:ext uri="{9D8B030D-6E8A-4147-A177-3AD203B41FA5}">
                      <a16:colId xmlns:a16="http://schemas.microsoft.com/office/drawing/2014/main" val="20009"/>
                    </a:ext>
                  </a:extLst>
                </a:gridCol>
              </a:tblGrid>
              <a:tr h="424729">
                <a:tc>
                  <a:txBody>
                    <a:bodyPr/>
                    <a:lstStyle/>
                    <a:p>
                      <a:endParaRPr lang="en-US" sz="2000"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PE" sz="2000" b="1" strike="noStrike" spc="-1" dirty="0">
                          <a:solidFill>
                            <a:schemeClr val="bg2">
                              <a:lumMod val="25000"/>
                            </a:schemeClr>
                          </a:solidFill>
                          <a:latin typeface="Arial Narrow"/>
                        </a:rPr>
                        <a:t>1</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PE" sz="2000" b="1" strike="noStrike" spc="-1" dirty="0">
                          <a:solidFill>
                            <a:schemeClr val="bg2">
                              <a:lumMod val="25000"/>
                            </a:schemeClr>
                          </a:solidFill>
                          <a:latin typeface="Arial Narrow"/>
                        </a:rPr>
                        <a:t>2</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PE" sz="2000" b="1" strike="noStrike" spc="-1" dirty="0">
                          <a:solidFill>
                            <a:schemeClr val="bg2">
                              <a:lumMod val="25000"/>
                            </a:schemeClr>
                          </a:solidFill>
                          <a:latin typeface="Arial Narrow"/>
                        </a:rPr>
                        <a:t>3</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a:lnSpc>
                          <a:spcPct val="95000"/>
                        </a:lnSpc>
                      </a:pPr>
                      <a:r>
                        <a:rPr lang="es-PE" sz="2000" b="1" strike="noStrike" spc="-1" dirty="0">
                          <a:solidFill>
                            <a:schemeClr val="bg2">
                              <a:lumMod val="25000"/>
                            </a:schemeClr>
                          </a:solidFill>
                          <a:latin typeface="Arial Narrow"/>
                        </a:rPr>
                        <a:t>Oferta</a:t>
                      </a:r>
                      <a:endParaRPr lang="es-PE" sz="2000" b="0" strike="noStrike" spc="-1" dirty="0">
                        <a:solidFill>
                          <a:schemeClr val="bg2">
                            <a:lumMod val="25000"/>
                          </a:schemeClr>
                        </a:solidFill>
                        <a:latin typeface="Arial"/>
                      </a:endParaRPr>
                    </a:p>
                  </a:txBody>
                  <a:tcPr>
                    <a:lnL w="12240" cap="flat" cmpd="sng" algn="ctr">
                      <a:solidFill>
                        <a:srgbClr val="000000"/>
                      </a:solidFill>
                      <a:prstDash val="solid"/>
                      <a:round/>
                      <a:headEnd type="none" w="med" len="med"/>
                      <a:tailEnd type="none" w="med" len="med"/>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r">
                        <a:lnSpc>
                          <a:spcPct val="95000"/>
                        </a:lnSpc>
                      </a:pPr>
                      <a:r>
                        <a:rPr lang="es-PE" sz="2000" b="1" strike="noStrike" spc="-1" dirty="0" err="1">
                          <a:solidFill>
                            <a:schemeClr val="bg2">
                              <a:lumMod val="25000"/>
                            </a:schemeClr>
                          </a:solidFill>
                          <a:latin typeface="Arial Narrow"/>
                        </a:rPr>
                        <a:t>P</a:t>
                      </a:r>
                      <a:r>
                        <a:rPr lang="es-PE" sz="2000" b="1" strike="noStrike" spc="-1" baseline="-30000" dirty="0" err="1">
                          <a:solidFill>
                            <a:schemeClr val="bg2">
                              <a:lumMod val="25000"/>
                            </a:schemeClr>
                          </a:solidFill>
                          <a:latin typeface="Arial Narrow"/>
                        </a:rPr>
                        <a:t>1</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r">
                        <a:lnSpc>
                          <a:spcPct val="95000"/>
                        </a:lnSpc>
                      </a:pPr>
                      <a:r>
                        <a:rPr lang="es-PE" sz="2000" b="1" strike="noStrike" spc="-1" dirty="0" err="1">
                          <a:solidFill>
                            <a:schemeClr val="bg2">
                              <a:lumMod val="25000"/>
                            </a:schemeClr>
                          </a:solidFill>
                          <a:latin typeface="Arial Narrow"/>
                        </a:rPr>
                        <a:t>P</a:t>
                      </a:r>
                      <a:r>
                        <a:rPr lang="es-PE" sz="2000" b="1" strike="noStrike" spc="-1" baseline="-30000" dirty="0" err="1">
                          <a:solidFill>
                            <a:schemeClr val="bg2">
                              <a:lumMod val="25000"/>
                            </a:schemeClr>
                          </a:solidFill>
                          <a:latin typeface="Arial Narrow"/>
                        </a:rPr>
                        <a:t>2</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r">
                        <a:lnSpc>
                          <a:spcPct val="95000"/>
                        </a:lnSpc>
                      </a:pPr>
                      <a:r>
                        <a:rPr lang="es-PE" sz="2000" b="1" strike="noStrike" spc="-1" dirty="0" err="1">
                          <a:solidFill>
                            <a:schemeClr val="bg2">
                              <a:lumMod val="25000"/>
                            </a:schemeClr>
                          </a:solidFill>
                          <a:latin typeface="Arial Narrow"/>
                        </a:rPr>
                        <a:t>P</a:t>
                      </a:r>
                      <a:r>
                        <a:rPr lang="es-PE" sz="2000" b="1" strike="noStrike" spc="-1" baseline="-30000" dirty="0" err="1">
                          <a:solidFill>
                            <a:schemeClr val="bg2">
                              <a:lumMod val="25000"/>
                            </a:schemeClr>
                          </a:solidFill>
                          <a:latin typeface="Arial Narrow"/>
                        </a:rPr>
                        <a:t>3</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r">
                        <a:lnSpc>
                          <a:spcPct val="95000"/>
                        </a:lnSpc>
                      </a:pPr>
                      <a:r>
                        <a:rPr lang="es-PE" sz="2000" b="1" strike="noStrike" spc="-1" dirty="0" err="1">
                          <a:solidFill>
                            <a:schemeClr val="bg2">
                              <a:lumMod val="25000"/>
                            </a:schemeClr>
                          </a:solidFill>
                          <a:latin typeface="Arial Narrow"/>
                        </a:rPr>
                        <a:t>P</a:t>
                      </a:r>
                      <a:r>
                        <a:rPr lang="es-PE" sz="2000" b="1" strike="noStrike" spc="-1" baseline="-30000" dirty="0" err="1">
                          <a:solidFill>
                            <a:schemeClr val="bg2">
                              <a:lumMod val="25000"/>
                            </a:schemeClr>
                          </a:solidFill>
                          <a:latin typeface="Arial Narrow"/>
                        </a:rPr>
                        <a:t>4</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extLst>
                  <a:ext uri="{0D108BD9-81ED-4DB2-BD59-A6C34878D82A}">
                    <a16:rowId xmlns:a16="http://schemas.microsoft.com/office/drawing/2014/main" val="10000"/>
                  </a:ext>
                </a:extLst>
              </a:tr>
              <a:tr h="628733">
                <a:tc>
                  <a:txBody>
                    <a:bodyPr/>
                    <a:lstStyle/>
                    <a:p>
                      <a:pPr algn="ctr">
                        <a:lnSpc>
                          <a:spcPct val="95000"/>
                        </a:lnSpc>
                      </a:pPr>
                      <a:r>
                        <a:rPr lang="es-PE" sz="2000" b="1" strike="noStrike" spc="-1" dirty="0">
                          <a:solidFill>
                            <a:schemeClr val="bg2">
                              <a:lumMod val="25000"/>
                            </a:schemeClr>
                          </a:solidFill>
                          <a:latin typeface="Arial Narrow"/>
                        </a:rPr>
                        <a:t>A</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10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ES" sz="2000" b="0" strike="noStrike" spc="-1" dirty="0">
                          <a:solidFill>
                            <a:schemeClr val="bg2">
                              <a:lumMod val="25000"/>
                            </a:schemeClr>
                          </a:solidFill>
                          <a:latin typeface="Arial"/>
                        </a:rPr>
                        <a:t>8</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ES" sz="2000" b="0" strike="noStrike" spc="-1" dirty="0">
                          <a:solidFill>
                            <a:schemeClr val="bg2">
                              <a:lumMod val="25000"/>
                            </a:schemeClr>
                          </a:solidFill>
                          <a:latin typeface="Arial"/>
                        </a:rPr>
                        <a:t>4</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tx1"/>
                    </a:solidFill>
                  </a:tcPr>
                </a:tc>
                <a:tc>
                  <a:txBody>
                    <a:bodyPr/>
                    <a:lstStyle/>
                    <a:p>
                      <a:pPr algn="ctr">
                        <a:lnSpc>
                          <a:spcPct val="95000"/>
                        </a:lnSpc>
                      </a:pPr>
                      <a:r>
                        <a:rPr lang="es-ES" sz="2000" b="0" strike="noStrike" spc="-1" dirty="0">
                          <a:solidFill>
                            <a:schemeClr val="bg2">
                              <a:lumMod val="25000"/>
                            </a:schemeClr>
                          </a:solidFill>
                          <a:latin typeface="Arial"/>
                        </a:rPr>
                        <a:t>45/0</a:t>
                      </a:r>
                      <a:endParaRPr lang="es-PE" sz="2000" b="0" strike="noStrike" spc="-1" dirty="0">
                        <a:solidFill>
                          <a:schemeClr val="bg2">
                            <a:lumMod val="25000"/>
                          </a:schemeClr>
                        </a:solidFill>
                        <a:latin typeface="Arial"/>
                      </a:endParaRPr>
                    </a:p>
                  </a:txBody>
                  <a:tcPr>
                    <a:lnL w="12240" cap="flat" cmpd="sng" algn="ctr">
                      <a:solidFill>
                        <a:srgbClr val="000000"/>
                      </a:solidFill>
                      <a:prstDash val="solid"/>
                      <a:round/>
                      <a:headEnd type="none" w="med" len="med"/>
                      <a:tailEnd type="none" w="med" len="med"/>
                    </a:lnL>
                    <a:lnR w="12240">
                      <a:solidFill>
                        <a:srgbClr val="000000"/>
                      </a:solidFill>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noFill/>
                  </a:tcPr>
                </a:tc>
                <a:tc>
                  <a:txBody>
                    <a:bodyPr/>
                    <a:lstStyle/>
                    <a:p>
                      <a:pPr algn="ctr">
                        <a:lnSpc>
                          <a:spcPct val="95000"/>
                        </a:lnSpc>
                      </a:pPr>
                      <a:r>
                        <a:rPr lang="es-ES" sz="2000" b="1" strike="noStrike" spc="-1" dirty="0">
                          <a:solidFill>
                            <a:schemeClr val="bg2">
                              <a:lumMod val="25000"/>
                            </a:schemeClr>
                          </a:solidFill>
                          <a:latin typeface="Arial"/>
                        </a:rPr>
                        <a:t>4</a:t>
                      </a:r>
                      <a:endParaRPr lang="es-PE" sz="2000" b="1"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2000" b="1" strike="noStrike" spc="-1" dirty="0">
                          <a:solidFill>
                            <a:srgbClr val="FF0000"/>
                          </a:solidFill>
                          <a:latin typeface="Arial"/>
                        </a:rPr>
                        <a:t>-</a:t>
                      </a:r>
                      <a:endParaRPr lang="es-PE" sz="2000" b="1"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628733">
                <a:tc>
                  <a:txBody>
                    <a:bodyPr/>
                    <a:lstStyle/>
                    <a:p>
                      <a:pPr algn="ctr">
                        <a:lnSpc>
                          <a:spcPct val="95000"/>
                        </a:lnSpc>
                      </a:pPr>
                      <a:r>
                        <a:rPr lang="es-PE" sz="2000" b="1" strike="noStrike" spc="-1" dirty="0">
                          <a:solidFill>
                            <a:schemeClr val="bg2">
                              <a:lumMod val="25000"/>
                            </a:schemeClr>
                          </a:solidFill>
                          <a:latin typeface="Arial Narrow"/>
                        </a:rPr>
                        <a:t>B</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9</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5</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7</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50</a:t>
                      </a:r>
                      <a:endParaRPr lang="es-PE" sz="2000" b="0" strike="noStrike" spc="-1" dirty="0">
                        <a:solidFill>
                          <a:schemeClr val="bg2">
                            <a:lumMod val="25000"/>
                          </a:schemeClr>
                        </a:solidFill>
                        <a:latin typeface="Arial"/>
                      </a:endParaRPr>
                    </a:p>
                  </a:txBody>
                  <a:tcPr>
                    <a:lnL w="12240" cap="flat" cmpd="sng" algn="ctr">
                      <a:solidFill>
                        <a:srgbClr val="000000"/>
                      </a:solidFill>
                      <a:prstDash val="solid"/>
                      <a:round/>
                      <a:headEnd type="none" w="med" len="med"/>
                      <a:tailEnd type="none" w="med" len="med"/>
                    </a:lnL>
                    <a:lnR w="12240">
                      <a:solidFill>
                        <a:srgbClr val="000000"/>
                      </a:solidFill>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noFill/>
                  </a:tcPr>
                </a:tc>
                <a:tc>
                  <a:txBody>
                    <a:bodyPr/>
                    <a:lstStyle/>
                    <a:p>
                      <a:pPr algn="ctr">
                        <a:lnSpc>
                          <a:spcPct val="95000"/>
                        </a:lnSpc>
                      </a:pPr>
                      <a:r>
                        <a:rPr lang="es-ES" sz="2000" b="1" strike="noStrike" spc="-1" dirty="0">
                          <a:solidFill>
                            <a:schemeClr val="bg2">
                              <a:lumMod val="25000"/>
                            </a:schemeClr>
                          </a:solidFill>
                          <a:latin typeface="Arial"/>
                        </a:rPr>
                        <a:t>2</a:t>
                      </a:r>
                      <a:endParaRPr lang="es-PE" sz="2000" b="1"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2000" b="1" strike="noStrike" spc="-1" dirty="0">
                          <a:solidFill>
                            <a:srgbClr val="FF0000"/>
                          </a:solidFill>
                          <a:latin typeface="Arial"/>
                        </a:rPr>
                        <a:t>2</a:t>
                      </a:r>
                      <a:endParaRPr lang="es-PE" sz="2000" b="1"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628733">
                <a:tc>
                  <a:txBody>
                    <a:bodyPr/>
                    <a:lstStyle/>
                    <a:p>
                      <a:pPr algn="ctr">
                        <a:lnSpc>
                          <a:spcPct val="95000"/>
                        </a:lnSpc>
                      </a:pPr>
                      <a:r>
                        <a:rPr lang="es-PE" sz="2000" b="1" strike="noStrike" spc="-1" dirty="0">
                          <a:solidFill>
                            <a:schemeClr val="bg2">
                              <a:lumMod val="25000"/>
                            </a:schemeClr>
                          </a:solidFill>
                          <a:latin typeface="Arial Narrow"/>
                        </a:rPr>
                        <a:t>C</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3*</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2"/>
                    </a:solidFill>
                  </a:tcPr>
                </a:tc>
                <a:tc>
                  <a:txBody>
                    <a:bodyPr/>
                    <a:lstStyle/>
                    <a:p>
                      <a:pPr algn="ctr">
                        <a:lnSpc>
                          <a:spcPct val="95000"/>
                        </a:lnSpc>
                      </a:pPr>
                      <a:r>
                        <a:rPr lang="es-ES" sz="2000" b="0" strike="noStrike" spc="-1" dirty="0">
                          <a:solidFill>
                            <a:schemeClr val="bg2">
                              <a:lumMod val="25000"/>
                            </a:schemeClr>
                          </a:solidFill>
                          <a:latin typeface="Arial"/>
                        </a:rPr>
                        <a:t>6</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2"/>
                    </a:solidFill>
                  </a:tcPr>
                </a:tc>
                <a:tc>
                  <a:txBody>
                    <a:bodyPr/>
                    <a:lstStyle/>
                    <a:p>
                      <a:pPr algn="ctr">
                        <a:lnSpc>
                          <a:spcPct val="95000"/>
                        </a:lnSpc>
                      </a:pPr>
                      <a:r>
                        <a:rPr lang="es-ES" sz="2000" b="0" strike="noStrike" spc="-1" dirty="0">
                          <a:solidFill>
                            <a:schemeClr val="bg2">
                              <a:lumMod val="25000"/>
                            </a:schemeClr>
                          </a:solidFill>
                          <a:latin typeface="Arial"/>
                        </a:rPr>
                        <a:t>9</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bg2"/>
                    </a:solidFill>
                  </a:tcPr>
                </a:tc>
                <a:tc>
                  <a:txBody>
                    <a:bodyPr/>
                    <a:lstStyle/>
                    <a:p>
                      <a:pPr algn="ctr">
                        <a:lnSpc>
                          <a:spcPct val="95000"/>
                        </a:lnSpc>
                      </a:pPr>
                      <a:r>
                        <a:rPr lang="es-ES" sz="2000" b="0" strike="noStrike" spc="-1" dirty="0">
                          <a:solidFill>
                            <a:schemeClr val="bg2">
                              <a:lumMod val="25000"/>
                            </a:schemeClr>
                          </a:solidFill>
                          <a:latin typeface="Arial"/>
                        </a:rPr>
                        <a:t>45/0</a:t>
                      </a:r>
                      <a:endParaRPr lang="es-PE" sz="2000" b="0" strike="noStrike" spc="-1" dirty="0">
                        <a:solidFill>
                          <a:schemeClr val="bg2">
                            <a:lumMod val="25000"/>
                          </a:schemeClr>
                        </a:solidFill>
                        <a:latin typeface="Arial"/>
                      </a:endParaRPr>
                    </a:p>
                  </a:txBody>
                  <a:tcPr>
                    <a:lnL w="12240" cap="flat" cmpd="sng" algn="ctr">
                      <a:solidFill>
                        <a:srgbClr val="000000"/>
                      </a:solidFill>
                      <a:prstDash val="solid"/>
                      <a:round/>
                      <a:headEnd type="none" w="med" len="med"/>
                      <a:tailEnd type="none" w="med" len="med"/>
                    </a:lnL>
                    <a:lnR w="12240">
                      <a:solidFill>
                        <a:srgbClr val="000000"/>
                      </a:solidFill>
                    </a:lnR>
                    <a:lnT w="1224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ES" sz="2000" b="1" strike="noStrike" spc="-1" dirty="0">
                          <a:solidFill>
                            <a:schemeClr val="bg2">
                              <a:lumMod val="25000"/>
                            </a:schemeClr>
                          </a:solidFill>
                          <a:latin typeface="Arial"/>
                        </a:rPr>
                        <a:t>3</a:t>
                      </a:r>
                      <a:endParaRPr lang="es-PE" sz="2000" b="1"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ES" sz="2000" b="1" strike="noStrike" spc="-1" dirty="0">
                          <a:solidFill>
                            <a:srgbClr val="FF0000"/>
                          </a:solidFill>
                          <a:latin typeface="Arial"/>
                        </a:rPr>
                        <a:t>3</a:t>
                      </a:r>
                      <a:endParaRPr lang="es-PE" sz="2000" b="1"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endParaRPr lang="en-US" sz="2000"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628733">
                <a:tc>
                  <a:txBody>
                    <a:bodyPr/>
                    <a:lstStyle/>
                    <a:p>
                      <a:pPr algn="ctr">
                        <a:lnSpc>
                          <a:spcPct val="95000"/>
                        </a:lnSpc>
                      </a:pPr>
                      <a:r>
                        <a:rPr lang="es-PE" sz="2000" b="1" strike="noStrike" spc="-1" dirty="0">
                          <a:solidFill>
                            <a:schemeClr val="bg2">
                              <a:lumMod val="25000"/>
                            </a:schemeClr>
                          </a:solidFill>
                          <a:latin typeface="Arial Narrow"/>
                        </a:rPr>
                        <a:t>D</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5</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7</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6</a:t>
                      </a:r>
                      <a:endParaRPr lang="es-PE" sz="2000" b="0" strike="noStrike" spc="-1" dirty="0">
                        <a:solidFill>
                          <a:schemeClr val="bg2">
                            <a:lumMod val="25000"/>
                          </a:schemeClr>
                        </a:solidFill>
                        <a:latin typeface="Arial"/>
                      </a:endParaRPr>
                    </a:p>
                  </a:txBody>
                  <a:tcPr>
                    <a:lnL w="12240">
                      <a:solidFill>
                        <a:srgbClr val="000000"/>
                      </a:solidFill>
                    </a:lnL>
                    <a:lnR w="12700" cap="flat" cmpd="sng" algn="ctr">
                      <a:solidFill>
                        <a:schemeClr val="tx1"/>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bg1"/>
                    </a:solidFill>
                  </a:tcPr>
                </a:tc>
                <a:tc>
                  <a:txBody>
                    <a:bodyPr/>
                    <a:lstStyle/>
                    <a:p>
                      <a:pPr algn="ctr">
                        <a:lnSpc>
                          <a:spcPct val="95000"/>
                        </a:lnSpc>
                        <a:spcBef>
                          <a:spcPts val="1199"/>
                        </a:spcBef>
                      </a:pPr>
                      <a:r>
                        <a:rPr lang="es-ES" sz="2000" b="0" strike="noStrike" spc="-1" dirty="0">
                          <a:solidFill>
                            <a:schemeClr val="bg2">
                              <a:lumMod val="25000"/>
                            </a:schemeClr>
                          </a:solidFill>
                          <a:latin typeface="Arial"/>
                        </a:rPr>
                        <a:t>30</a:t>
                      </a:r>
                      <a:endParaRPr lang="es-PE" sz="2000" b="0" strike="noStrike" spc="-1" dirty="0">
                        <a:solidFill>
                          <a:schemeClr val="bg2">
                            <a:lumMod val="25000"/>
                          </a:schemeClr>
                        </a:solidFill>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ES" sz="2000" b="1" strike="noStrike" spc="-1" dirty="0">
                          <a:solidFill>
                            <a:schemeClr val="bg2">
                              <a:lumMod val="25000"/>
                            </a:schemeClr>
                          </a:solidFill>
                          <a:latin typeface="Arial"/>
                        </a:rPr>
                        <a:t>1</a:t>
                      </a:r>
                      <a:endParaRPr lang="es-PE" sz="2000" b="1" strike="noStrike" spc="-1" dirty="0">
                        <a:solidFill>
                          <a:schemeClr val="bg2">
                            <a:lumMod val="25000"/>
                          </a:schemeClr>
                        </a:solidFill>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1" dirty="0">
                          <a:solidFill>
                            <a:srgbClr val="FF0000"/>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dirty="0">
                        <a:solidFill>
                          <a:schemeClr val="bg2">
                            <a:lumMod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dirty="0">
                        <a:solidFill>
                          <a:schemeClr val="bg2">
                            <a:lumMod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715217">
                <a:tc>
                  <a:txBody>
                    <a:bodyPr/>
                    <a:lstStyle/>
                    <a:p>
                      <a:pPr algn="ctr">
                        <a:lnSpc>
                          <a:spcPct val="95000"/>
                        </a:lnSpc>
                      </a:pPr>
                      <a:r>
                        <a:rPr lang="es-PE" sz="2000" b="1" strike="noStrike" spc="-1" dirty="0">
                          <a:solidFill>
                            <a:schemeClr val="bg2">
                              <a:lumMod val="25000"/>
                            </a:schemeClr>
                          </a:solidFill>
                          <a:latin typeface="Arial Narrow"/>
                        </a:rPr>
                        <a:t>Demanda</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90/45</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2000" b="0" strike="noStrike" spc="-1" dirty="0">
                          <a:solidFill>
                            <a:schemeClr val="bg2">
                              <a:lumMod val="25000"/>
                            </a:schemeClr>
                          </a:solidFill>
                          <a:latin typeface="Arial"/>
                        </a:rPr>
                        <a:t>30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2000" b="0" strike="noStrike" spc="-1" dirty="0">
                          <a:solidFill>
                            <a:schemeClr val="bg2">
                              <a:lumMod val="25000"/>
                            </a:schemeClr>
                          </a:solidFill>
                          <a:latin typeface="Arial"/>
                        </a:rPr>
                        <a:t>50/5</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1D528D"/>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endParaRPr lang="en-US" sz="2000" dirty="0">
                        <a:solidFill>
                          <a:schemeClr val="bg2">
                            <a:lumMod val="25000"/>
                          </a:schemeClr>
                        </a:solidFill>
                      </a:endParaRPr>
                    </a:p>
                  </a:txBody>
                  <a:tcPr>
                    <a:lnL w="12240" cap="flat" cmpd="sng" algn="ctr">
                      <a:solidFill>
                        <a:srgbClr val="1D528D"/>
                      </a:solidFill>
                      <a:prstDash val="solid"/>
                      <a:round/>
                      <a:headEnd type="none" w="med" len="med"/>
                      <a:tailEnd type="none" w="med" len="med"/>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sz="2000" dirty="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sz="200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sz="200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sz="2000" dirty="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extLst>
                  <a:ext uri="{0D108BD9-81ED-4DB2-BD59-A6C34878D82A}">
                    <a16:rowId xmlns:a16="http://schemas.microsoft.com/office/drawing/2014/main" val="10005"/>
                  </a:ext>
                </a:extLst>
              </a:tr>
            </a:tbl>
          </a:graphicData>
        </a:graphic>
      </p:graphicFrame>
      <p:sp>
        <p:nvSpPr>
          <p:cNvPr id="1013" name="CustomShape 3"/>
          <p:cNvSpPr/>
          <p:nvPr/>
        </p:nvSpPr>
        <p:spPr>
          <a:xfrm>
            <a:off x="1524000" y="277488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1014" name="Table 4"/>
          <p:cNvGraphicFramePr/>
          <p:nvPr>
            <p:extLst>
              <p:ext uri="{D42A27DB-BD31-4B8C-83A1-F6EECF244321}">
                <p14:modId xmlns:p14="http://schemas.microsoft.com/office/powerpoint/2010/main" val="3806745857"/>
              </p:ext>
            </p:extLst>
          </p:nvPr>
        </p:nvGraphicFramePr>
        <p:xfrm>
          <a:off x="1991544" y="5136988"/>
          <a:ext cx="4131670" cy="1690126"/>
        </p:xfrm>
        <a:graphic>
          <a:graphicData uri="http://schemas.openxmlformats.org/drawingml/2006/table">
            <a:tbl>
              <a:tblPr/>
              <a:tblGrid>
                <a:gridCol w="1152128">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998849">
                  <a:extLst>
                    <a:ext uri="{9D8B030D-6E8A-4147-A177-3AD203B41FA5}">
                      <a16:colId xmlns:a16="http://schemas.microsoft.com/office/drawing/2014/main" val="20002"/>
                    </a:ext>
                  </a:extLst>
                </a:gridCol>
                <a:gridCol w="1044589">
                  <a:extLst>
                    <a:ext uri="{9D8B030D-6E8A-4147-A177-3AD203B41FA5}">
                      <a16:colId xmlns:a16="http://schemas.microsoft.com/office/drawing/2014/main" val="20003"/>
                    </a:ext>
                  </a:extLst>
                </a:gridCol>
              </a:tblGrid>
              <a:tr h="346201">
                <a:tc>
                  <a:txBody>
                    <a:bodyPr/>
                    <a:lstStyle/>
                    <a:p>
                      <a:pPr algn="ctr">
                        <a:lnSpc>
                          <a:spcPct val="95000"/>
                        </a:lnSpc>
                      </a:pPr>
                      <a:r>
                        <a:rPr lang="es-PE" sz="1800" b="1" strike="noStrike" spc="-1" dirty="0" err="1">
                          <a:solidFill>
                            <a:schemeClr val="bg2">
                              <a:lumMod val="25000"/>
                            </a:schemeClr>
                          </a:solidFill>
                          <a:latin typeface="Arial Narrow"/>
                        </a:rPr>
                        <a:t>P</a:t>
                      </a:r>
                      <a:r>
                        <a:rPr lang="es-PE" sz="1800" b="1" strike="noStrike" spc="-1" baseline="-30000" dirty="0" err="1">
                          <a:solidFill>
                            <a:schemeClr val="bg2">
                              <a:lumMod val="25000"/>
                            </a:schemeClr>
                          </a:solidFill>
                          <a:latin typeface="Arial Narrow"/>
                        </a:rPr>
                        <a:t>1</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1800" b="1" strike="noStrike" spc="-1" dirty="0">
                          <a:solidFill>
                            <a:schemeClr val="bg2">
                              <a:lumMod val="25000"/>
                            </a:schemeClr>
                          </a:solidFill>
                          <a:latin typeface="Arial"/>
                        </a:rPr>
                        <a:t>2</a:t>
                      </a:r>
                      <a:endParaRPr lang="es-PE" sz="1800" b="1"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1800" b="1" strike="noStrike" spc="-1" dirty="0">
                          <a:solidFill>
                            <a:schemeClr val="bg2">
                              <a:lumMod val="25000"/>
                            </a:schemeClr>
                          </a:solidFill>
                          <a:latin typeface="Arial"/>
                        </a:rPr>
                        <a:t>1</a:t>
                      </a:r>
                      <a:endParaRPr lang="es-PE" sz="1800" b="1"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1800" b="1" strike="noStrike" spc="-1" dirty="0">
                          <a:solidFill>
                            <a:schemeClr val="bg2">
                              <a:lumMod val="25000"/>
                            </a:schemeClr>
                          </a:solidFill>
                          <a:latin typeface="Arial"/>
                        </a:rPr>
                        <a:t>2</a:t>
                      </a:r>
                      <a:endParaRPr lang="es-PE" sz="1800" b="1"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346201">
                <a:tc>
                  <a:txBody>
                    <a:bodyPr/>
                    <a:lstStyle/>
                    <a:p>
                      <a:pPr algn="ctr">
                        <a:lnSpc>
                          <a:spcPct val="95000"/>
                        </a:lnSpc>
                      </a:pPr>
                      <a:r>
                        <a:rPr lang="es-PE" sz="1800" b="1" strike="noStrike" spc="-1" dirty="0" err="1">
                          <a:solidFill>
                            <a:schemeClr val="bg2">
                              <a:lumMod val="25000"/>
                            </a:schemeClr>
                          </a:solidFill>
                          <a:latin typeface="Arial Narrow"/>
                        </a:rPr>
                        <a:t>P</a:t>
                      </a:r>
                      <a:r>
                        <a:rPr lang="es-PE" sz="1800" b="1" strike="noStrike" spc="-1" baseline="-30000" dirty="0" err="1">
                          <a:solidFill>
                            <a:schemeClr val="bg2">
                              <a:lumMod val="25000"/>
                            </a:schemeClr>
                          </a:solidFill>
                          <a:latin typeface="Arial Narrow"/>
                        </a:rPr>
                        <a:t>2</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1800" b="1" strike="noStrike" spc="-1" dirty="0">
                          <a:solidFill>
                            <a:srgbClr val="FF0000"/>
                          </a:solidFill>
                          <a:latin typeface="Arial"/>
                        </a:rPr>
                        <a:t>2</a:t>
                      </a:r>
                      <a:endParaRPr lang="es-PE" sz="1800" b="1"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1800" b="1" strike="noStrike" spc="-1" dirty="0">
                          <a:solidFill>
                            <a:srgbClr val="FF0000"/>
                          </a:solidFill>
                          <a:latin typeface="Arial"/>
                        </a:rPr>
                        <a:t>1</a:t>
                      </a:r>
                      <a:endParaRPr lang="es-PE" sz="1800" b="1"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1800" b="1" strike="noStrike" spc="-1" dirty="0">
                          <a:solidFill>
                            <a:srgbClr val="FF0000"/>
                          </a:solidFill>
                          <a:latin typeface="Arial"/>
                        </a:rPr>
                        <a:t>1</a:t>
                      </a:r>
                      <a:endParaRPr lang="es-PE" sz="1800" b="1" strike="noStrike" spc="-1" dirty="0">
                        <a:solidFill>
                          <a:srgbClr val="FF0000"/>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346201">
                <a:tc>
                  <a:txBody>
                    <a:bodyPr/>
                    <a:lstStyle/>
                    <a:p>
                      <a:pPr algn="ctr">
                        <a:lnSpc>
                          <a:spcPct val="95000"/>
                        </a:lnSpc>
                      </a:pPr>
                      <a:r>
                        <a:rPr lang="es-PE" sz="1800" b="1" strike="noStrike" spc="-1" dirty="0" err="1">
                          <a:solidFill>
                            <a:schemeClr val="bg2">
                              <a:lumMod val="25000"/>
                            </a:schemeClr>
                          </a:solidFill>
                          <a:latin typeface="Arial Narrow"/>
                        </a:rPr>
                        <a:t>P</a:t>
                      </a:r>
                      <a:r>
                        <a:rPr lang="es-PE" sz="1800" b="1" strike="noStrike" spc="-1" baseline="-30000" dirty="0" err="1">
                          <a:solidFill>
                            <a:schemeClr val="bg2">
                              <a:lumMod val="25000"/>
                            </a:schemeClr>
                          </a:solidFill>
                          <a:latin typeface="Arial Narrow"/>
                        </a:rPr>
                        <a:t>3</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spcBef>
                          <a:spcPts val="1199"/>
                        </a:spcBef>
                      </a:pPr>
                      <a:endParaRPr lang="es-PE" sz="18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1800" dirty="0">
                        <a:solidFill>
                          <a:schemeClr val="bg2">
                            <a:lumMod val="25000"/>
                          </a:schemeClr>
                        </a:solidFil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620278">
                <a:tc>
                  <a:txBody>
                    <a:bodyPr/>
                    <a:lstStyle/>
                    <a:p>
                      <a:pPr algn="ctr">
                        <a:lnSpc>
                          <a:spcPct val="95000"/>
                        </a:lnSpc>
                      </a:pPr>
                      <a:r>
                        <a:rPr lang="es-PE" sz="1800" b="1" strike="noStrike" spc="-1" dirty="0" err="1">
                          <a:solidFill>
                            <a:schemeClr val="bg2">
                              <a:lumMod val="25000"/>
                            </a:schemeClr>
                          </a:solidFill>
                          <a:latin typeface="Arial Narrow"/>
                        </a:rPr>
                        <a:t>P</a:t>
                      </a:r>
                      <a:r>
                        <a:rPr lang="es-PE" sz="1800" b="1" strike="noStrike" spc="-1" baseline="-30000" dirty="0" err="1">
                          <a:solidFill>
                            <a:schemeClr val="bg2">
                              <a:lumMod val="25000"/>
                            </a:schemeClr>
                          </a:solidFill>
                          <a:latin typeface="Arial Narrow"/>
                        </a:rPr>
                        <a:t>4</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spcBef>
                          <a:spcPts val="1199"/>
                        </a:spcBef>
                      </a:pP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1800" dirty="0">
                        <a:solidFill>
                          <a:schemeClr val="bg2">
                            <a:lumMod val="25000"/>
                          </a:schemeClr>
                        </a:solidFil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grpSp>
        <p:nvGrpSpPr>
          <p:cNvPr id="3" name="Grupo 2">
            <a:extLst>
              <a:ext uri="{FF2B5EF4-FFF2-40B4-BE49-F238E27FC236}">
                <a16:creationId xmlns:a16="http://schemas.microsoft.com/office/drawing/2014/main" id="{EC72C89F-114C-4D77-8A96-14640755E7EF}"/>
              </a:ext>
            </a:extLst>
          </p:cNvPr>
          <p:cNvGrpSpPr/>
          <p:nvPr/>
        </p:nvGrpSpPr>
        <p:grpSpPr>
          <a:xfrm>
            <a:off x="7810680" y="4572549"/>
            <a:ext cx="2356920" cy="2284541"/>
            <a:chOff x="7810680" y="4572549"/>
            <a:chExt cx="2356920" cy="2284541"/>
          </a:xfrm>
        </p:grpSpPr>
        <p:sp>
          <p:nvSpPr>
            <p:cNvPr id="4" name="Forma libre: forma 3">
              <a:extLst>
                <a:ext uri="{FF2B5EF4-FFF2-40B4-BE49-F238E27FC236}">
                  <a16:creationId xmlns:a16="http://schemas.microsoft.com/office/drawing/2014/main" id="{C60978E3-CDAC-480E-AABC-457E966B21CB}"/>
                </a:ext>
              </a:extLst>
            </p:cNvPr>
            <p:cNvSpPr/>
            <p:nvPr/>
          </p:nvSpPr>
          <p:spPr>
            <a:xfrm>
              <a:off x="7810680" y="4572549"/>
              <a:ext cx="2356920" cy="359340"/>
            </a:xfrm>
            <a:custGeom>
              <a:avLst/>
              <a:gdLst>
                <a:gd name="connsiteX0" fmla="*/ 0 w 2356920"/>
                <a:gd name="connsiteY0" fmla="*/ 59891 h 359340"/>
                <a:gd name="connsiteX1" fmla="*/ 59891 w 2356920"/>
                <a:gd name="connsiteY1" fmla="*/ 0 h 359340"/>
                <a:gd name="connsiteX2" fmla="*/ 2297029 w 2356920"/>
                <a:gd name="connsiteY2" fmla="*/ 0 h 359340"/>
                <a:gd name="connsiteX3" fmla="*/ 2356920 w 2356920"/>
                <a:gd name="connsiteY3" fmla="*/ 59891 h 359340"/>
                <a:gd name="connsiteX4" fmla="*/ 2356920 w 2356920"/>
                <a:gd name="connsiteY4" fmla="*/ 299449 h 359340"/>
                <a:gd name="connsiteX5" fmla="*/ 2297029 w 2356920"/>
                <a:gd name="connsiteY5" fmla="*/ 359340 h 359340"/>
                <a:gd name="connsiteX6" fmla="*/ 59891 w 2356920"/>
                <a:gd name="connsiteY6" fmla="*/ 359340 h 359340"/>
                <a:gd name="connsiteX7" fmla="*/ 0 w 2356920"/>
                <a:gd name="connsiteY7" fmla="*/ 299449 h 359340"/>
                <a:gd name="connsiteX8" fmla="*/ 0 w 2356920"/>
                <a:gd name="connsiteY8" fmla="*/ 59891 h 359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920" h="359340">
                  <a:moveTo>
                    <a:pt x="0" y="59891"/>
                  </a:moveTo>
                  <a:cubicBezTo>
                    <a:pt x="0" y="26814"/>
                    <a:pt x="26814" y="0"/>
                    <a:pt x="59891" y="0"/>
                  </a:cubicBezTo>
                  <a:lnTo>
                    <a:pt x="2297029" y="0"/>
                  </a:lnTo>
                  <a:cubicBezTo>
                    <a:pt x="2330106" y="0"/>
                    <a:pt x="2356920" y="26814"/>
                    <a:pt x="2356920" y="59891"/>
                  </a:cubicBezTo>
                  <a:lnTo>
                    <a:pt x="2356920" y="299449"/>
                  </a:lnTo>
                  <a:cubicBezTo>
                    <a:pt x="2356920" y="332526"/>
                    <a:pt x="2330106" y="359340"/>
                    <a:pt x="2297029" y="359340"/>
                  </a:cubicBezTo>
                  <a:lnTo>
                    <a:pt x="59891" y="359340"/>
                  </a:lnTo>
                  <a:cubicBezTo>
                    <a:pt x="26814" y="359340"/>
                    <a:pt x="0" y="332526"/>
                    <a:pt x="0" y="299449"/>
                  </a:cubicBezTo>
                  <a:lnTo>
                    <a:pt x="0" y="5989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6122" tIns="86122" rIns="86122" bIns="86122" numCol="1" spcCol="1270" anchor="ctr" anchorCtr="0">
              <a:noAutofit/>
            </a:bodyPr>
            <a:lstStyle/>
            <a:p>
              <a:pPr marL="0" lvl="0" indent="0" algn="l" defTabSz="800100" rtl="0">
                <a:lnSpc>
                  <a:spcPct val="90000"/>
                </a:lnSpc>
                <a:spcBef>
                  <a:spcPct val="0"/>
                </a:spcBef>
                <a:spcAft>
                  <a:spcPct val="35000"/>
                </a:spcAft>
                <a:buNone/>
              </a:pPr>
              <a:r>
                <a:rPr lang="es-ES" sz="1800" kern="1200" dirty="0" err="1"/>
                <a:t>X13</a:t>
              </a:r>
              <a:r>
                <a:rPr lang="es-ES" sz="1800" kern="1200" dirty="0"/>
                <a:t>=</a:t>
              </a:r>
              <a:r>
                <a:rPr lang="es-ES" sz="1800" kern="1200" dirty="0" err="1"/>
                <a:t>45</a:t>
              </a:r>
              <a:r>
                <a:rPr lang="es-ES" sz="1800" kern="1200" dirty="0" err="1">
                  <a:sym typeface="Wingdings" panose="05000000000000000000" pitchFamily="2" charset="2"/>
                </a:rPr>
                <a:t>C</a:t>
              </a:r>
              <a:r>
                <a:rPr lang="es-ES" sz="1800" kern="1200" dirty="0">
                  <a:sym typeface="Wingdings" panose="05000000000000000000" pitchFamily="2" charset="2"/>
                </a:rPr>
                <a:t>=45*4=180</a:t>
              </a:r>
              <a:endParaRPr lang="es-PE" sz="1800" kern="1200" dirty="0"/>
            </a:p>
          </p:txBody>
        </p:sp>
        <p:sp>
          <p:nvSpPr>
            <p:cNvPr id="16" name="Forma libre: forma 15">
              <a:extLst>
                <a:ext uri="{FF2B5EF4-FFF2-40B4-BE49-F238E27FC236}">
                  <a16:creationId xmlns:a16="http://schemas.microsoft.com/office/drawing/2014/main" id="{D3C1BCC4-1580-4ABD-8D0E-EB6C3336B0DC}"/>
                </a:ext>
              </a:extLst>
            </p:cNvPr>
            <p:cNvSpPr/>
            <p:nvPr/>
          </p:nvSpPr>
          <p:spPr>
            <a:xfrm>
              <a:off x="7810680" y="6788360"/>
              <a:ext cx="2356920" cy="68730"/>
            </a:xfrm>
            <a:custGeom>
              <a:avLst/>
              <a:gdLst>
                <a:gd name="connsiteX0" fmla="*/ 0 w 2356920"/>
                <a:gd name="connsiteY0" fmla="*/ 0 h 68730"/>
                <a:gd name="connsiteX1" fmla="*/ 2356920 w 2356920"/>
                <a:gd name="connsiteY1" fmla="*/ 0 h 68730"/>
                <a:gd name="connsiteX2" fmla="*/ 2356920 w 2356920"/>
                <a:gd name="connsiteY2" fmla="*/ 68730 h 68730"/>
                <a:gd name="connsiteX3" fmla="*/ 0 w 2356920"/>
                <a:gd name="connsiteY3" fmla="*/ 68730 h 68730"/>
                <a:gd name="connsiteX4" fmla="*/ 0 w 2356920"/>
                <a:gd name="connsiteY4" fmla="*/ 0 h 68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6920" h="68730">
                  <a:moveTo>
                    <a:pt x="0" y="0"/>
                  </a:moveTo>
                  <a:lnTo>
                    <a:pt x="2356920" y="0"/>
                  </a:lnTo>
                  <a:lnTo>
                    <a:pt x="2356920" y="68730"/>
                  </a:lnTo>
                  <a:lnTo>
                    <a:pt x="0" y="6873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4832" tIns="22860" rIns="128016" bIns="22860" numCol="1" spcCol="1270" anchor="t" anchorCtr="0">
              <a:noAutofit/>
            </a:bodyPr>
            <a:lstStyle/>
            <a:p>
              <a:pPr marL="171450" lvl="1" indent="-171450" algn="l" defTabSz="800100" rtl="0">
                <a:lnSpc>
                  <a:spcPct val="90000"/>
                </a:lnSpc>
                <a:spcBef>
                  <a:spcPct val="0"/>
                </a:spcBef>
                <a:spcAft>
                  <a:spcPct val="20000"/>
                </a:spcAft>
                <a:buChar char="•"/>
              </a:pPr>
              <a:endParaRPr lang="es-PE" sz="1800" kern="1200"/>
            </a:p>
          </p:txBody>
        </p:sp>
      </p:grpSp>
      <p:sp>
        <p:nvSpPr>
          <p:cNvPr id="8" name="CustomShape 5">
            <a:extLst>
              <a:ext uri="{FF2B5EF4-FFF2-40B4-BE49-F238E27FC236}">
                <a16:creationId xmlns:a16="http://schemas.microsoft.com/office/drawing/2014/main" id="{54E3C167-328B-4F8C-8D92-3147DE697B13}"/>
              </a:ext>
            </a:extLst>
          </p:cNvPr>
          <p:cNvSpPr/>
          <p:nvPr/>
        </p:nvSpPr>
        <p:spPr>
          <a:xfrm>
            <a:off x="6096000" y="163488"/>
            <a:ext cx="6096000" cy="56304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lnSpc>
                <a:spcPts val="5800"/>
              </a:lnSpc>
              <a:spcBef>
                <a:spcPct val="0"/>
              </a:spcBef>
            </a:pPr>
            <a:r>
              <a:rPr lang="es-PE" sz="3200" dirty="0">
                <a:solidFill>
                  <a:schemeClr val="bg1"/>
                </a:solidFill>
                <a:effectLst>
                  <a:outerShdw blurRad="63500" dist="38100" dir="5400000" algn="t" rotWithShape="0">
                    <a:prstClr val="black">
                      <a:alpha val="25000"/>
                    </a:prstClr>
                  </a:outerShdw>
                </a:effectLst>
                <a:latin typeface="Bauhaus 93" pitchFamily="82" charset="0"/>
              </a:rPr>
              <a:t>Método Vogel</a:t>
            </a:r>
          </a:p>
        </p:txBody>
      </p:sp>
      <p:sp>
        <p:nvSpPr>
          <p:cNvPr id="9" name="CuadroTexto 8">
            <a:extLst>
              <a:ext uri="{FF2B5EF4-FFF2-40B4-BE49-F238E27FC236}">
                <a16:creationId xmlns:a16="http://schemas.microsoft.com/office/drawing/2014/main" id="{2A747A03-7E8F-4C78-BD2C-01EE8461951E}"/>
              </a:ext>
            </a:extLst>
          </p:cNvPr>
          <p:cNvSpPr txBox="1"/>
          <p:nvPr/>
        </p:nvSpPr>
        <p:spPr>
          <a:xfrm>
            <a:off x="258793" y="2191109"/>
            <a:ext cx="1380226" cy="646331"/>
          </a:xfrm>
          <a:prstGeom prst="rect">
            <a:avLst/>
          </a:prstGeom>
          <a:solidFill>
            <a:srgbClr val="FFFF00"/>
          </a:solidFill>
        </p:spPr>
        <p:txBody>
          <a:bodyPr wrap="square" rtlCol="0">
            <a:spAutoFit/>
          </a:bodyPr>
          <a:lstStyle/>
          <a:p>
            <a:r>
              <a:rPr lang="es-ES" b="1" dirty="0"/>
              <a:t>Hallamos las penalidades</a:t>
            </a:r>
          </a:p>
        </p:txBody>
      </p:sp>
      <p:sp>
        <p:nvSpPr>
          <p:cNvPr id="10" name="Rectángulo 9">
            <a:extLst>
              <a:ext uri="{FF2B5EF4-FFF2-40B4-BE49-F238E27FC236}">
                <a16:creationId xmlns:a16="http://schemas.microsoft.com/office/drawing/2014/main" id="{48E8E0EA-E164-4580-B9EE-8F74F6B71499}"/>
              </a:ext>
            </a:extLst>
          </p:cNvPr>
          <p:cNvSpPr/>
          <p:nvPr/>
        </p:nvSpPr>
        <p:spPr>
          <a:xfrm>
            <a:off x="258136" y="3054556"/>
            <a:ext cx="1372258" cy="923330"/>
          </a:xfrm>
          <a:prstGeom prst="rect">
            <a:avLst/>
          </a:prstGeom>
          <a:solidFill>
            <a:srgbClr val="FFFF00"/>
          </a:solidFill>
        </p:spPr>
        <p:txBody>
          <a:bodyPr wrap="square">
            <a:spAutoFit/>
          </a:bodyPr>
          <a:lstStyle/>
          <a:p>
            <a:r>
              <a:rPr lang="es-ES" b="1" dirty="0"/>
              <a:t>Hallamos la mayor penalidad</a:t>
            </a:r>
            <a:endParaRPr lang="es-PE" b="1" dirty="0"/>
          </a:p>
        </p:txBody>
      </p:sp>
      <p:sp>
        <p:nvSpPr>
          <p:cNvPr id="11" name="CuadroTexto 10">
            <a:extLst>
              <a:ext uri="{FF2B5EF4-FFF2-40B4-BE49-F238E27FC236}">
                <a16:creationId xmlns:a16="http://schemas.microsoft.com/office/drawing/2014/main" id="{8EA7F2F2-9611-4BCE-A1BF-7398075A021B}"/>
              </a:ext>
            </a:extLst>
          </p:cNvPr>
          <p:cNvSpPr txBox="1"/>
          <p:nvPr/>
        </p:nvSpPr>
        <p:spPr>
          <a:xfrm>
            <a:off x="264551" y="4198193"/>
            <a:ext cx="1380226" cy="646331"/>
          </a:xfrm>
          <a:prstGeom prst="rect">
            <a:avLst/>
          </a:prstGeom>
          <a:solidFill>
            <a:srgbClr val="FFFF00"/>
          </a:solidFill>
        </p:spPr>
        <p:txBody>
          <a:bodyPr wrap="square" rtlCol="0">
            <a:spAutoFit/>
          </a:bodyPr>
          <a:lstStyle/>
          <a:p>
            <a:r>
              <a:rPr lang="es-ES" b="1" dirty="0"/>
              <a:t>Hallamos el menor costo</a:t>
            </a:r>
          </a:p>
        </p:txBody>
      </p:sp>
      <p:sp>
        <p:nvSpPr>
          <p:cNvPr id="12" name="CuadroTexto 11">
            <a:extLst>
              <a:ext uri="{FF2B5EF4-FFF2-40B4-BE49-F238E27FC236}">
                <a16:creationId xmlns:a16="http://schemas.microsoft.com/office/drawing/2014/main" id="{760C8BCE-D2C3-473D-92D5-CE17A961D3E4}"/>
              </a:ext>
            </a:extLst>
          </p:cNvPr>
          <p:cNvSpPr txBox="1"/>
          <p:nvPr/>
        </p:nvSpPr>
        <p:spPr>
          <a:xfrm>
            <a:off x="264551" y="5086705"/>
            <a:ext cx="1380226" cy="646331"/>
          </a:xfrm>
          <a:prstGeom prst="rect">
            <a:avLst/>
          </a:prstGeom>
          <a:solidFill>
            <a:srgbClr val="FFFF00"/>
          </a:solidFill>
        </p:spPr>
        <p:txBody>
          <a:bodyPr wrap="square" rtlCol="0">
            <a:spAutoFit/>
          </a:bodyPr>
          <a:lstStyle/>
          <a:p>
            <a:r>
              <a:rPr lang="es-ES" b="1" dirty="0"/>
              <a:t>Anotamos la operación</a:t>
            </a:r>
          </a:p>
        </p:txBody>
      </p:sp>
      <p:sp>
        <p:nvSpPr>
          <p:cNvPr id="13" name="Globo: flecha hacia abajo 12">
            <a:extLst>
              <a:ext uri="{FF2B5EF4-FFF2-40B4-BE49-F238E27FC236}">
                <a16:creationId xmlns:a16="http://schemas.microsoft.com/office/drawing/2014/main" id="{059E1003-981D-4497-B43C-967CED0F4A4B}"/>
              </a:ext>
            </a:extLst>
          </p:cNvPr>
          <p:cNvSpPr/>
          <p:nvPr/>
        </p:nvSpPr>
        <p:spPr>
          <a:xfrm>
            <a:off x="276044" y="1276709"/>
            <a:ext cx="1345721" cy="897148"/>
          </a:xfrm>
          <a:prstGeom prst="downArrowCallou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rgbClr val="FF0000"/>
                </a:solidFill>
              </a:rPr>
              <a:t>Pasos:</a:t>
            </a:r>
            <a:endParaRPr lang="es-PE" sz="2400" dirty="0">
              <a:solidFill>
                <a:srgbClr val="FF0000"/>
              </a:solidFill>
            </a:endParaRPr>
          </a:p>
        </p:txBody>
      </p:sp>
      <p:sp>
        <p:nvSpPr>
          <p:cNvPr id="21" name="Forma libre: forma 20">
            <a:extLst>
              <a:ext uri="{FF2B5EF4-FFF2-40B4-BE49-F238E27FC236}">
                <a16:creationId xmlns:a16="http://schemas.microsoft.com/office/drawing/2014/main" id="{FC24B381-7EBB-49B6-A3B7-B23CB36BB8CA}"/>
              </a:ext>
            </a:extLst>
          </p:cNvPr>
          <p:cNvSpPr/>
          <p:nvPr/>
        </p:nvSpPr>
        <p:spPr>
          <a:xfrm>
            <a:off x="7810680" y="4943843"/>
            <a:ext cx="2356920" cy="359340"/>
          </a:xfrm>
          <a:custGeom>
            <a:avLst/>
            <a:gdLst>
              <a:gd name="connsiteX0" fmla="*/ 0 w 2356920"/>
              <a:gd name="connsiteY0" fmla="*/ 59891 h 359340"/>
              <a:gd name="connsiteX1" fmla="*/ 59891 w 2356920"/>
              <a:gd name="connsiteY1" fmla="*/ 0 h 359340"/>
              <a:gd name="connsiteX2" fmla="*/ 2297029 w 2356920"/>
              <a:gd name="connsiteY2" fmla="*/ 0 h 359340"/>
              <a:gd name="connsiteX3" fmla="*/ 2356920 w 2356920"/>
              <a:gd name="connsiteY3" fmla="*/ 59891 h 359340"/>
              <a:gd name="connsiteX4" fmla="*/ 2356920 w 2356920"/>
              <a:gd name="connsiteY4" fmla="*/ 299449 h 359340"/>
              <a:gd name="connsiteX5" fmla="*/ 2297029 w 2356920"/>
              <a:gd name="connsiteY5" fmla="*/ 359340 h 359340"/>
              <a:gd name="connsiteX6" fmla="*/ 59891 w 2356920"/>
              <a:gd name="connsiteY6" fmla="*/ 359340 h 359340"/>
              <a:gd name="connsiteX7" fmla="*/ 0 w 2356920"/>
              <a:gd name="connsiteY7" fmla="*/ 299449 h 359340"/>
              <a:gd name="connsiteX8" fmla="*/ 0 w 2356920"/>
              <a:gd name="connsiteY8" fmla="*/ 59891 h 359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920" h="359340">
                <a:moveTo>
                  <a:pt x="0" y="59891"/>
                </a:moveTo>
                <a:cubicBezTo>
                  <a:pt x="0" y="26814"/>
                  <a:pt x="26814" y="0"/>
                  <a:pt x="59891" y="0"/>
                </a:cubicBezTo>
                <a:lnTo>
                  <a:pt x="2297029" y="0"/>
                </a:lnTo>
                <a:cubicBezTo>
                  <a:pt x="2330106" y="0"/>
                  <a:pt x="2356920" y="26814"/>
                  <a:pt x="2356920" y="59891"/>
                </a:cubicBezTo>
                <a:lnTo>
                  <a:pt x="2356920" y="299449"/>
                </a:lnTo>
                <a:cubicBezTo>
                  <a:pt x="2356920" y="332526"/>
                  <a:pt x="2330106" y="359340"/>
                  <a:pt x="2297029" y="359340"/>
                </a:cubicBezTo>
                <a:lnTo>
                  <a:pt x="59891" y="359340"/>
                </a:lnTo>
                <a:cubicBezTo>
                  <a:pt x="26814" y="359340"/>
                  <a:pt x="0" y="332526"/>
                  <a:pt x="0" y="299449"/>
                </a:cubicBezTo>
                <a:lnTo>
                  <a:pt x="0" y="5989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6122" tIns="86122" rIns="86122" bIns="86122" numCol="1" spcCol="1270" anchor="ctr" anchorCtr="0">
            <a:noAutofit/>
          </a:bodyPr>
          <a:lstStyle/>
          <a:p>
            <a:pPr marL="0" lvl="0" indent="0" algn="l" defTabSz="800100" rtl="0">
              <a:lnSpc>
                <a:spcPct val="90000"/>
              </a:lnSpc>
              <a:spcBef>
                <a:spcPct val="0"/>
              </a:spcBef>
              <a:spcAft>
                <a:spcPct val="35000"/>
              </a:spcAft>
              <a:buNone/>
            </a:pPr>
            <a:r>
              <a:rPr lang="es-ES" sz="1800" kern="1200" dirty="0" err="1"/>
              <a:t>X31</a:t>
            </a:r>
            <a:r>
              <a:rPr lang="es-ES" sz="1800" kern="1200" dirty="0"/>
              <a:t>=</a:t>
            </a:r>
            <a:r>
              <a:rPr lang="es-ES" sz="1800" kern="1200" dirty="0" err="1"/>
              <a:t>45</a:t>
            </a:r>
            <a:r>
              <a:rPr lang="es-ES" sz="1800" kern="1200" dirty="0" err="1">
                <a:sym typeface="Wingdings" panose="05000000000000000000" pitchFamily="2" charset="2"/>
              </a:rPr>
              <a:t>C</a:t>
            </a:r>
            <a:r>
              <a:rPr lang="es-ES" sz="1800" kern="1200" dirty="0">
                <a:sym typeface="Wingdings" panose="05000000000000000000" pitchFamily="2" charset="2"/>
              </a:rPr>
              <a:t>=45*3=135</a:t>
            </a:r>
            <a:endParaRPr lang="es-PE" sz="1800" kern="1200" dirty="0"/>
          </a:p>
        </p:txBody>
      </p:sp>
    </p:spTree>
    <p:extLst>
      <p:ext uri="{BB962C8B-B14F-4D97-AF65-F5344CB8AC3E}">
        <p14:creationId xmlns:p14="http://schemas.microsoft.com/office/powerpoint/2010/main" val="1965245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ppt_x"/>
                                          </p:val>
                                        </p:tav>
                                        <p:tav tm="100000">
                                          <p:val>
                                            <p:strVal val="#ppt_x"/>
                                          </p:val>
                                        </p:tav>
                                      </p:tavLst>
                                    </p:anim>
                                    <p:anim calcmode="lin" valueType="num">
                                      <p:cBhvr additive="base">
                                        <p:cTn id="1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1" name="CustomShape 1"/>
          <p:cNvSpPr/>
          <p:nvPr/>
        </p:nvSpPr>
        <p:spPr>
          <a:xfrm>
            <a:off x="1524000" y="239400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1012" name="Table 2"/>
          <p:cNvGraphicFramePr/>
          <p:nvPr>
            <p:extLst>
              <p:ext uri="{D42A27DB-BD31-4B8C-83A1-F6EECF244321}">
                <p14:modId xmlns:p14="http://schemas.microsoft.com/office/powerpoint/2010/main" val="715202075"/>
              </p:ext>
            </p:extLst>
          </p:nvPr>
        </p:nvGraphicFramePr>
        <p:xfrm>
          <a:off x="1952760" y="1244098"/>
          <a:ext cx="8500680" cy="3654878"/>
        </p:xfrm>
        <a:graphic>
          <a:graphicData uri="http://schemas.openxmlformats.org/drawingml/2006/table">
            <a:tbl>
              <a:tblPr/>
              <a:tblGrid>
                <a:gridCol w="1228320">
                  <a:extLst>
                    <a:ext uri="{9D8B030D-6E8A-4147-A177-3AD203B41FA5}">
                      <a16:colId xmlns:a16="http://schemas.microsoft.com/office/drawing/2014/main" val="20000"/>
                    </a:ext>
                  </a:extLst>
                </a:gridCol>
                <a:gridCol w="883440">
                  <a:extLst>
                    <a:ext uri="{9D8B030D-6E8A-4147-A177-3AD203B41FA5}">
                      <a16:colId xmlns:a16="http://schemas.microsoft.com/office/drawing/2014/main" val="20001"/>
                    </a:ext>
                  </a:extLst>
                </a:gridCol>
                <a:gridCol w="981000">
                  <a:extLst>
                    <a:ext uri="{9D8B030D-6E8A-4147-A177-3AD203B41FA5}">
                      <a16:colId xmlns:a16="http://schemas.microsoft.com/office/drawing/2014/main" val="20002"/>
                    </a:ext>
                  </a:extLst>
                </a:gridCol>
                <a:gridCol w="1077694">
                  <a:extLst>
                    <a:ext uri="{9D8B030D-6E8A-4147-A177-3AD203B41FA5}">
                      <a16:colId xmlns:a16="http://schemas.microsoft.com/office/drawing/2014/main" val="20003"/>
                    </a:ext>
                  </a:extLst>
                </a:gridCol>
                <a:gridCol w="1537043">
                  <a:extLst>
                    <a:ext uri="{9D8B030D-6E8A-4147-A177-3AD203B41FA5}">
                      <a16:colId xmlns:a16="http://schemas.microsoft.com/office/drawing/2014/main" val="20005"/>
                    </a:ext>
                  </a:extLst>
                </a:gridCol>
                <a:gridCol w="776377">
                  <a:extLst>
                    <a:ext uri="{9D8B030D-6E8A-4147-A177-3AD203B41FA5}">
                      <a16:colId xmlns:a16="http://schemas.microsoft.com/office/drawing/2014/main" val="20006"/>
                    </a:ext>
                  </a:extLst>
                </a:gridCol>
                <a:gridCol w="697766">
                  <a:extLst>
                    <a:ext uri="{9D8B030D-6E8A-4147-A177-3AD203B41FA5}">
                      <a16:colId xmlns:a16="http://schemas.microsoft.com/office/drawing/2014/main" val="20007"/>
                    </a:ext>
                  </a:extLst>
                </a:gridCol>
                <a:gridCol w="658800">
                  <a:extLst>
                    <a:ext uri="{9D8B030D-6E8A-4147-A177-3AD203B41FA5}">
                      <a16:colId xmlns:a16="http://schemas.microsoft.com/office/drawing/2014/main" val="20008"/>
                    </a:ext>
                  </a:extLst>
                </a:gridCol>
                <a:gridCol w="660240">
                  <a:extLst>
                    <a:ext uri="{9D8B030D-6E8A-4147-A177-3AD203B41FA5}">
                      <a16:colId xmlns:a16="http://schemas.microsoft.com/office/drawing/2014/main" val="20009"/>
                    </a:ext>
                  </a:extLst>
                </a:gridCol>
              </a:tblGrid>
              <a:tr h="424729">
                <a:tc>
                  <a:txBody>
                    <a:bodyPr/>
                    <a:lstStyle/>
                    <a:p>
                      <a:endParaRPr lang="en-US" sz="2000"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PE" sz="2000" b="1" strike="noStrike" spc="-1" dirty="0">
                          <a:solidFill>
                            <a:schemeClr val="bg2">
                              <a:lumMod val="25000"/>
                            </a:schemeClr>
                          </a:solidFill>
                          <a:latin typeface="Arial Narrow"/>
                        </a:rPr>
                        <a:t>1</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PE" sz="2000" b="1" strike="noStrike" spc="-1" dirty="0">
                          <a:solidFill>
                            <a:schemeClr val="bg2">
                              <a:lumMod val="25000"/>
                            </a:schemeClr>
                          </a:solidFill>
                          <a:latin typeface="Arial Narrow"/>
                        </a:rPr>
                        <a:t>2</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PE" sz="2000" b="1" strike="noStrike" spc="-1" dirty="0">
                          <a:solidFill>
                            <a:schemeClr val="bg2">
                              <a:lumMod val="25000"/>
                            </a:schemeClr>
                          </a:solidFill>
                          <a:latin typeface="Arial Narrow"/>
                        </a:rPr>
                        <a:t>3</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a:lnSpc>
                          <a:spcPct val="95000"/>
                        </a:lnSpc>
                      </a:pPr>
                      <a:r>
                        <a:rPr lang="es-PE" sz="2000" b="1" strike="noStrike" spc="-1" dirty="0">
                          <a:solidFill>
                            <a:schemeClr val="bg2">
                              <a:lumMod val="25000"/>
                            </a:schemeClr>
                          </a:solidFill>
                          <a:latin typeface="Arial Narrow"/>
                        </a:rPr>
                        <a:t>Oferta</a:t>
                      </a:r>
                      <a:endParaRPr lang="es-PE" sz="2000" b="0" strike="noStrike" spc="-1" dirty="0">
                        <a:solidFill>
                          <a:schemeClr val="bg2">
                            <a:lumMod val="25000"/>
                          </a:schemeClr>
                        </a:solidFill>
                        <a:latin typeface="Arial"/>
                      </a:endParaRPr>
                    </a:p>
                  </a:txBody>
                  <a:tcPr>
                    <a:lnL w="12240" cap="flat" cmpd="sng" algn="ctr">
                      <a:solidFill>
                        <a:srgbClr val="000000"/>
                      </a:solidFill>
                      <a:prstDash val="solid"/>
                      <a:round/>
                      <a:headEnd type="none" w="med" len="med"/>
                      <a:tailEnd type="none" w="med" len="med"/>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a:lnSpc>
                          <a:spcPct val="95000"/>
                        </a:lnSpc>
                      </a:pPr>
                      <a:r>
                        <a:rPr lang="es-PE" sz="2000" b="1" strike="noStrike" spc="-1" dirty="0" err="1">
                          <a:solidFill>
                            <a:schemeClr val="bg2">
                              <a:lumMod val="25000"/>
                            </a:schemeClr>
                          </a:solidFill>
                          <a:latin typeface="Arial Narrow"/>
                        </a:rPr>
                        <a:t>P</a:t>
                      </a:r>
                      <a:r>
                        <a:rPr lang="es-PE" sz="2000" b="1" strike="noStrike" spc="-1" baseline="-30000" dirty="0" err="1">
                          <a:solidFill>
                            <a:schemeClr val="bg2">
                              <a:lumMod val="25000"/>
                            </a:schemeClr>
                          </a:solidFill>
                          <a:latin typeface="Arial Narrow"/>
                        </a:rPr>
                        <a:t>1</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r">
                        <a:lnSpc>
                          <a:spcPct val="95000"/>
                        </a:lnSpc>
                      </a:pPr>
                      <a:r>
                        <a:rPr lang="es-PE" sz="2000" b="1" strike="noStrike" spc="-1" dirty="0" err="1">
                          <a:solidFill>
                            <a:schemeClr val="bg2">
                              <a:lumMod val="25000"/>
                            </a:schemeClr>
                          </a:solidFill>
                          <a:latin typeface="Arial Narrow"/>
                        </a:rPr>
                        <a:t>P</a:t>
                      </a:r>
                      <a:r>
                        <a:rPr lang="es-PE" sz="2000" b="1" strike="noStrike" spc="-1" baseline="-30000" dirty="0" err="1">
                          <a:solidFill>
                            <a:schemeClr val="bg2">
                              <a:lumMod val="25000"/>
                            </a:schemeClr>
                          </a:solidFill>
                          <a:latin typeface="Arial Narrow"/>
                        </a:rPr>
                        <a:t>2</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r">
                        <a:lnSpc>
                          <a:spcPct val="95000"/>
                        </a:lnSpc>
                      </a:pPr>
                      <a:r>
                        <a:rPr lang="es-PE" sz="2000" b="1" strike="noStrike" spc="-1" dirty="0" err="1">
                          <a:solidFill>
                            <a:schemeClr val="bg2">
                              <a:lumMod val="25000"/>
                            </a:schemeClr>
                          </a:solidFill>
                          <a:latin typeface="Arial Narrow"/>
                        </a:rPr>
                        <a:t>P</a:t>
                      </a:r>
                      <a:r>
                        <a:rPr lang="es-PE" sz="2000" b="1" strike="noStrike" spc="-1" baseline="-30000" dirty="0" err="1">
                          <a:solidFill>
                            <a:schemeClr val="bg2">
                              <a:lumMod val="25000"/>
                            </a:schemeClr>
                          </a:solidFill>
                          <a:latin typeface="Arial Narrow"/>
                        </a:rPr>
                        <a:t>3</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r">
                        <a:lnSpc>
                          <a:spcPct val="95000"/>
                        </a:lnSpc>
                      </a:pPr>
                      <a:r>
                        <a:rPr lang="es-PE" sz="2000" b="1" strike="noStrike" spc="-1" dirty="0" err="1">
                          <a:solidFill>
                            <a:schemeClr val="bg2">
                              <a:lumMod val="25000"/>
                            </a:schemeClr>
                          </a:solidFill>
                          <a:latin typeface="Arial Narrow"/>
                        </a:rPr>
                        <a:t>P</a:t>
                      </a:r>
                      <a:r>
                        <a:rPr lang="es-PE" sz="2000" b="1" strike="noStrike" spc="-1" baseline="-30000" dirty="0" err="1">
                          <a:solidFill>
                            <a:schemeClr val="bg2">
                              <a:lumMod val="25000"/>
                            </a:schemeClr>
                          </a:solidFill>
                          <a:latin typeface="Arial Narrow"/>
                        </a:rPr>
                        <a:t>4</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extLst>
                  <a:ext uri="{0D108BD9-81ED-4DB2-BD59-A6C34878D82A}">
                    <a16:rowId xmlns:a16="http://schemas.microsoft.com/office/drawing/2014/main" val="10000"/>
                  </a:ext>
                </a:extLst>
              </a:tr>
              <a:tr h="628733">
                <a:tc>
                  <a:txBody>
                    <a:bodyPr/>
                    <a:lstStyle/>
                    <a:p>
                      <a:pPr algn="ctr">
                        <a:lnSpc>
                          <a:spcPct val="95000"/>
                        </a:lnSpc>
                      </a:pPr>
                      <a:r>
                        <a:rPr lang="es-PE" sz="2000" b="1" strike="noStrike" spc="-1" dirty="0">
                          <a:solidFill>
                            <a:schemeClr val="bg2">
                              <a:lumMod val="25000"/>
                            </a:schemeClr>
                          </a:solidFill>
                          <a:latin typeface="Arial Narrow"/>
                        </a:rPr>
                        <a:t>A</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10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ES" sz="2000" b="0" strike="noStrike" spc="-1" dirty="0">
                          <a:solidFill>
                            <a:schemeClr val="bg2">
                              <a:lumMod val="25000"/>
                            </a:schemeClr>
                          </a:solidFill>
                          <a:latin typeface="Arial"/>
                        </a:rPr>
                        <a:t>8</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ES" sz="2000" b="0" strike="noStrike" spc="-1" dirty="0">
                          <a:solidFill>
                            <a:schemeClr val="bg2">
                              <a:lumMod val="25000"/>
                            </a:schemeClr>
                          </a:solidFill>
                          <a:latin typeface="Arial"/>
                        </a:rPr>
                        <a:t>4</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tx1"/>
                    </a:solidFill>
                  </a:tcPr>
                </a:tc>
                <a:tc>
                  <a:txBody>
                    <a:bodyPr/>
                    <a:lstStyle/>
                    <a:p>
                      <a:pPr algn="ctr">
                        <a:lnSpc>
                          <a:spcPct val="95000"/>
                        </a:lnSpc>
                      </a:pPr>
                      <a:r>
                        <a:rPr lang="es-ES" sz="2000" b="0" strike="noStrike" spc="-1" dirty="0">
                          <a:solidFill>
                            <a:schemeClr val="bg2">
                              <a:lumMod val="25000"/>
                            </a:schemeClr>
                          </a:solidFill>
                          <a:latin typeface="Arial"/>
                        </a:rPr>
                        <a:t>45/0</a:t>
                      </a:r>
                      <a:endParaRPr lang="es-PE" sz="2000" b="0" strike="noStrike" spc="-1" dirty="0">
                        <a:solidFill>
                          <a:schemeClr val="bg2">
                            <a:lumMod val="25000"/>
                          </a:schemeClr>
                        </a:solidFill>
                        <a:latin typeface="Arial"/>
                      </a:endParaRPr>
                    </a:p>
                  </a:txBody>
                  <a:tcPr>
                    <a:lnL w="12240" cap="flat" cmpd="sng" algn="ctr">
                      <a:solidFill>
                        <a:srgbClr val="000000"/>
                      </a:solidFill>
                      <a:prstDash val="solid"/>
                      <a:round/>
                      <a:headEnd type="none" w="med" len="med"/>
                      <a:tailEnd type="none" w="med" len="med"/>
                    </a:lnL>
                    <a:lnR w="12240">
                      <a:solidFill>
                        <a:srgbClr val="000000"/>
                      </a:solidFill>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noFill/>
                  </a:tcPr>
                </a:tc>
                <a:tc>
                  <a:txBody>
                    <a:bodyPr/>
                    <a:lstStyle/>
                    <a:p>
                      <a:pPr algn="ctr">
                        <a:lnSpc>
                          <a:spcPct val="95000"/>
                        </a:lnSpc>
                      </a:pPr>
                      <a:r>
                        <a:rPr lang="es-ES" sz="2000" b="0" strike="noStrike" spc="-1" dirty="0">
                          <a:solidFill>
                            <a:schemeClr val="bg2">
                              <a:lumMod val="25000"/>
                            </a:schemeClr>
                          </a:solidFill>
                          <a:latin typeface="Arial"/>
                        </a:rPr>
                        <a:t>4</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2000" b="0" strike="noStrike" spc="-1" dirty="0">
                          <a:solidFill>
                            <a:schemeClr val="bg2">
                              <a:lumMod val="25000"/>
                            </a:schemeClr>
                          </a:solidFill>
                          <a:latin typeface="Arial"/>
                        </a:rPr>
                        <a:t>-</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2000" b="0" strike="noStrike" spc="-1" dirty="0">
                          <a:solidFill>
                            <a:srgbClr val="FF0000"/>
                          </a:solidFill>
                          <a:latin typeface="Arial"/>
                        </a:rPr>
                        <a:t>-</a:t>
                      </a:r>
                      <a:endParaRPr lang="es-PE" sz="20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628733">
                <a:tc>
                  <a:txBody>
                    <a:bodyPr/>
                    <a:lstStyle/>
                    <a:p>
                      <a:pPr algn="ctr">
                        <a:lnSpc>
                          <a:spcPct val="95000"/>
                        </a:lnSpc>
                      </a:pPr>
                      <a:r>
                        <a:rPr lang="es-PE" sz="2000" b="1" strike="noStrike" spc="-1" dirty="0">
                          <a:solidFill>
                            <a:schemeClr val="bg2">
                              <a:lumMod val="25000"/>
                            </a:schemeClr>
                          </a:solidFill>
                          <a:latin typeface="Arial Narrow"/>
                        </a:rPr>
                        <a:t>B</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9</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2"/>
                    </a:solidFill>
                  </a:tcPr>
                </a:tc>
                <a:tc>
                  <a:txBody>
                    <a:bodyPr/>
                    <a:lstStyle/>
                    <a:p>
                      <a:pPr algn="ctr">
                        <a:lnSpc>
                          <a:spcPct val="95000"/>
                        </a:lnSpc>
                      </a:pPr>
                      <a:r>
                        <a:rPr lang="es-ES" sz="2000" b="0" strike="noStrike" spc="-1" dirty="0">
                          <a:solidFill>
                            <a:schemeClr val="bg2">
                              <a:lumMod val="25000"/>
                            </a:schemeClr>
                          </a:solidFill>
                          <a:latin typeface="Arial"/>
                        </a:rPr>
                        <a:t>5</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7</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50</a:t>
                      </a:r>
                      <a:endParaRPr lang="es-PE" sz="2000" b="0" strike="noStrike" spc="-1" dirty="0">
                        <a:solidFill>
                          <a:schemeClr val="bg2">
                            <a:lumMod val="25000"/>
                          </a:schemeClr>
                        </a:solidFill>
                        <a:latin typeface="Arial"/>
                      </a:endParaRPr>
                    </a:p>
                  </a:txBody>
                  <a:tcPr>
                    <a:lnL w="12240" cap="flat" cmpd="sng" algn="ctr">
                      <a:solidFill>
                        <a:srgbClr val="000000"/>
                      </a:solidFill>
                      <a:prstDash val="solid"/>
                      <a:round/>
                      <a:headEnd type="none" w="med" len="med"/>
                      <a:tailEnd type="none" w="med" len="med"/>
                    </a:lnL>
                    <a:lnR w="12240">
                      <a:solidFill>
                        <a:srgbClr val="000000"/>
                      </a:solidFill>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noFill/>
                  </a:tcPr>
                </a:tc>
                <a:tc>
                  <a:txBody>
                    <a:bodyPr/>
                    <a:lstStyle/>
                    <a:p>
                      <a:pPr algn="ctr">
                        <a:lnSpc>
                          <a:spcPct val="95000"/>
                        </a:lnSpc>
                      </a:pPr>
                      <a:r>
                        <a:rPr lang="es-ES" sz="2000" b="0" strike="noStrike" spc="-1" dirty="0">
                          <a:solidFill>
                            <a:schemeClr val="bg2">
                              <a:lumMod val="25000"/>
                            </a:schemeClr>
                          </a:solidFill>
                          <a:latin typeface="Arial"/>
                        </a:rPr>
                        <a:t>2</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2000" b="0" strike="noStrike" spc="-1" dirty="0">
                          <a:solidFill>
                            <a:schemeClr val="bg2">
                              <a:lumMod val="25000"/>
                            </a:schemeClr>
                          </a:solidFill>
                          <a:latin typeface="Arial"/>
                        </a:rPr>
                        <a:t>2</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2000" b="0" strike="noStrike" spc="-1" dirty="0">
                          <a:solidFill>
                            <a:srgbClr val="FF0000"/>
                          </a:solidFill>
                          <a:latin typeface="Arial"/>
                        </a:rPr>
                        <a:t>2</a:t>
                      </a:r>
                      <a:endParaRPr lang="es-PE" sz="20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628733">
                <a:tc>
                  <a:txBody>
                    <a:bodyPr/>
                    <a:lstStyle/>
                    <a:p>
                      <a:pPr algn="ctr">
                        <a:lnSpc>
                          <a:spcPct val="95000"/>
                        </a:lnSpc>
                      </a:pPr>
                      <a:r>
                        <a:rPr lang="es-PE" sz="2000" b="1" strike="noStrike" spc="-1" dirty="0">
                          <a:solidFill>
                            <a:schemeClr val="bg2">
                              <a:lumMod val="25000"/>
                            </a:schemeClr>
                          </a:solidFill>
                          <a:latin typeface="Arial Narrow"/>
                        </a:rPr>
                        <a:t>C</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3</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ES" sz="2000" b="0" strike="noStrike" spc="-1" dirty="0">
                          <a:solidFill>
                            <a:schemeClr val="bg2">
                              <a:lumMod val="25000"/>
                            </a:schemeClr>
                          </a:solidFill>
                          <a:latin typeface="Arial"/>
                        </a:rPr>
                        <a:t>6</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ES" sz="2000" b="0" strike="noStrike" spc="-1" dirty="0">
                          <a:solidFill>
                            <a:schemeClr val="bg2">
                              <a:lumMod val="25000"/>
                            </a:schemeClr>
                          </a:solidFill>
                          <a:latin typeface="Arial"/>
                        </a:rPr>
                        <a:t>9</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tx1"/>
                    </a:solidFill>
                  </a:tcPr>
                </a:tc>
                <a:tc>
                  <a:txBody>
                    <a:bodyPr/>
                    <a:lstStyle/>
                    <a:p>
                      <a:pPr algn="ctr">
                        <a:lnSpc>
                          <a:spcPct val="95000"/>
                        </a:lnSpc>
                      </a:pPr>
                      <a:r>
                        <a:rPr lang="es-ES" sz="2000" b="0" strike="noStrike" spc="-1" dirty="0">
                          <a:solidFill>
                            <a:schemeClr val="bg2">
                              <a:lumMod val="25000"/>
                            </a:schemeClr>
                          </a:solidFill>
                          <a:latin typeface="Arial"/>
                        </a:rPr>
                        <a:t>45/0</a:t>
                      </a:r>
                      <a:endParaRPr lang="es-PE" sz="2000" b="0" strike="noStrike" spc="-1" dirty="0">
                        <a:solidFill>
                          <a:schemeClr val="bg2">
                            <a:lumMod val="25000"/>
                          </a:schemeClr>
                        </a:solidFill>
                        <a:latin typeface="Arial"/>
                      </a:endParaRPr>
                    </a:p>
                  </a:txBody>
                  <a:tcPr>
                    <a:lnL w="12240" cap="flat" cmpd="sng" algn="ctr">
                      <a:solidFill>
                        <a:srgbClr val="000000"/>
                      </a:solidFill>
                      <a:prstDash val="solid"/>
                      <a:round/>
                      <a:headEnd type="none" w="med" len="med"/>
                      <a:tailEnd type="none" w="med" len="med"/>
                    </a:lnL>
                    <a:lnR w="12240">
                      <a:solidFill>
                        <a:srgbClr val="000000"/>
                      </a:solidFill>
                    </a:lnR>
                    <a:lnT w="1224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ES" sz="2000" b="0" strike="noStrike" spc="-1" dirty="0">
                          <a:solidFill>
                            <a:schemeClr val="bg2">
                              <a:lumMod val="25000"/>
                            </a:schemeClr>
                          </a:solidFill>
                          <a:latin typeface="Arial"/>
                        </a:rPr>
                        <a:t>3</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ES" sz="2000" b="0" strike="noStrike" spc="-1" dirty="0">
                          <a:solidFill>
                            <a:schemeClr val="bg2">
                              <a:lumMod val="25000"/>
                            </a:schemeClr>
                          </a:solidFill>
                          <a:latin typeface="Arial"/>
                        </a:rPr>
                        <a:t>3</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ES" sz="2000" b="0" strike="noStrike" spc="-1" dirty="0">
                          <a:solidFill>
                            <a:srgbClr val="FF0000"/>
                          </a:solidFill>
                          <a:latin typeface="Arial"/>
                        </a:rPr>
                        <a:t>-</a:t>
                      </a:r>
                      <a:endParaRPr lang="es-PE" sz="20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endParaRPr lang="en-US" sz="2000"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628733">
                <a:tc>
                  <a:txBody>
                    <a:bodyPr/>
                    <a:lstStyle/>
                    <a:p>
                      <a:pPr algn="ctr">
                        <a:lnSpc>
                          <a:spcPct val="95000"/>
                        </a:lnSpc>
                      </a:pPr>
                      <a:r>
                        <a:rPr lang="es-PE" sz="2000" b="1" strike="noStrike" spc="-1" dirty="0">
                          <a:solidFill>
                            <a:schemeClr val="bg2">
                              <a:lumMod val="25000"/>
                            </a:schemeClr>
                          </a:solidFill>
                          <a:latin typeface="Arial Narrow"/>
                        </a:rPr>
                        <a:t>D</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5*</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2"/>
                    </a:solidFill>
                  </a:tcPr>
                </a:tc>
                <a:tc>
                  <a:txBody>
                    <a:bodyPr/>
                    <a:lstStyle/>
                    <a:p>
                      <a:pPr algn="ctr">
                        <a:lnSpc>
                          <a:spcPct val="95000"/>
                        </a:lnSpc>
                      </a:pPr>
                      <a:r>
                        <a:rPr lang="es-ES" sz="2000" b="0" strike="noStrike" spc="-1" dirty="0">
                          <a:solidFill>
                            <a:schemeClr val="bg2">
                              <a:lumMod val="25000"/>
                            </a:schemeClr>
                          </a:solidFill>
                          <a:latin typeface="Arial"/>
                        </a:rPr>
                        <a:t>7</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6</a:t>
                      </a:r>
                      <a:endParaRPr lang="es-PE" sz="2000" b="0" strike="noStrike" spc="-1" dirty="0">
                        <a:solidFill>
                          <a:schemeClr val="bg2">
                            <a:lumMod val="25000"/>
                          </a:schemeClr>
                        </a:solidFill>
                        <a:latin typeface="Arial"/>
                      </a:endParaRPr>
                    </a:p>
                  </a:txBody>
                  <a:tcPr>
                    <a:lnL w="12240">
                      <a:solidFill>
                        <a:srgbClr val="000000"/>
                      </a:solidFill>
                    </a:lnL>
                    <a:lnR w="12700" cap="flat" cmpd="sng" algn="ctr">
                      <a:solidFill>
                        <a:schemeClr val="tx1"/>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bg1"/>
                    </a:solidFill>
                  </a:tcPr>
                </a:tc>
                <a:tc>
                  <a:txBody>
                    <a:bodyPr/>
                    <a:lstStyle/>
                    <a:p>
                      <a:pPr algn="ctr">
                        <a:lnSpc>
                          <a:spcPct val="95000"/>
                        </a:lnSpc>
                        <a:spcBef>
                          <a:spcPts val="1199"/>
                        </a:spcBef>
                      </a:pPr>
                      <a:r>
                        <a:rPr lang="es-ES" sz="2000" b="0" strike="noStrike" spc="-1" dirty="0">
                          <a:solidFill>
                            <a:schemeClr val="bg2">
                              <a:lumMod val="25000"/>
                            </a:schemeClr>
                          </a:solidFill>
                          <a:latin typeface="Arial"/>
                        </a:rPr>
                        <a:t>30/0</a:t>
                      </a:r>
                      <a:endParaRPr lang="es-PE" sz="2000" b="0" strike="noStrike" spc="-1" dirty="0">
                        <a:solidFill>
                          <a:schemeClr val="bg2">
                            <a:lumMod val="25000"/>
                          </a:schemeClr>
                        </a:solidFill>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ES" sz="2000" b="0" strike="noStrike" spc="-1" dirty="0">
                          <a:solidFill>
                            <a:schemeClr val="bg2">
                              <a:lumMod val="25000"/>
                            </a:schemeClr>
                          </a:solidFill>
                          <a:latin typeface="Arial"/>
                        </a:rPr>
                        <a:t>1</a:t>
                      </a:r>
                      <a:endParaRPr lang="es-PE" sz="2000" b="0" strike="noStrike" spc="-1" dirty="0">
                        <a:solidFill>
                          <a:schemeClr val="bg2">
                            <a:lumMod val="25000"/>
                          </a:schemeClr>
                        </a:solidFill>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dirty="0">
                        <a:solidFill>
                          <a:schemeClr val="bg2">
                            <a:lumMod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rgbClr val="FF0000"/>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dirty="0">
                        <a:solidFill>
                          <a:schemeClr val="bg2">
                            <a:lumMod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715217">
                <a:tc>
                  <a:txBody>
                    <a:bodyPr/>
                    <a:lstStyle/>
                    <a:p>
                      <a:pPr algn="ctr">
                        <a:lnSpc>
                          <a:spcPct val="95000"/>
                        </a:lnSpc>
                      </a:pPr>
                      <a:r>
                        <a:rPr lang="es-PE" sz="2000" b="1" strike="noStrike" spc="-1" dirty="0">
                          <a:solidFill>
                            <a:schemeClr val="bg2">
                              <a:lumMod val="25000"/>
                            </a:schemeClr>
                          </a:solidFill>
                          <a:latin typeface="Arial Narrow"/>
                        </a:rPr>
                        <a:t>Demanda</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90/45/15</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2000" b="0" strike="noStrike" spc="-1" dirty="0">
                          <a:solidFill>
                            <a:schemeClr val="bg2">
                              <a:lumMod val="25000"/>
                            </a:schemeClr>
                          </a:solidFill>
                          <a:latin typeface="Arial"/>
                        </a:rPr>
                        <a:t>30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2000" b="0" strike="noStrike" spc="-1" dirty="0">
                          <a:solidFill>
                            <a:schemeClr val="bg2">
                              <a:lumMod val="25000"/>
                            </a:schemeClr>
                          </a:solidFill>
                          <a:latin typeface="Arial"/>
                        </a:rPr>
                        <a:t>50/5</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1D528D"/>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endParaRPr lang="en-US" sz="2000" dirty="0">
                        <a:solidFill>
                          <a:schemeClr val="bg2">
                            <a:lumMod val="25000"/>
                          </a:schemeClr>
                        </a:solidFill>
                      </a:endParaRPr>
                    </a:p>
                  </a:txBody>
                  <a:tcPr>
                    <a:lnL w="12240" cap="flat" cmpd="sng" algn="ctr">
                      <a:solidFill>
                        <a:srgbClr val="1D528D"/>
                      </a:solidFill>
                      <a:prstDash val="solid"/>
                      <a:round/>
                      <a:headEnd type="none" w="med" len="med"/>
                      <a:tailEnd type="none" w="med" len="med"/>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sz="2000" dirty="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sz="200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sz="2000" dirty="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sz="2000" dirty="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extLst>
                  <a:ext uri="{0D108BD9-81ED-4DB2-BD59-A6C34878D82A}">
                    <a16:rowId xmlns:a16="http://schemas.microsoft.com/office/drawing/2014/main" val="10005"/>
                  </a:ext>
                </a:extLst>
              </a:tr>
            </a:tbl>
          </a:graphicData>
        </a:graphic>
      </p:graphicFrame>
      <p:sp>
        <p:nvSpPr>
          <p:cNvPr id="1013" name="CustomShape 3"/>
          <p:cNvSpPr/>
          <p:nvPr/>
        </p:nvSpPr>
        <p:spPr>
          <a:xfrm>
            <a:off x="1524000" y="277488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1014" name="Table 4"/>
          <p:cNvGraphicFramePr/>
          <p:nvPr>
            <p:extLst>
              <p:ext uri="{D42A27DB-BD31-4B8C-83A1-F6EECF244321}">
                <p14:modId xmlns:p14="http://schemas.microsoft.com/office/powerpoint/2010/main" val="2596452204"/>
              </p:ext>
            </p:extLst>
          </p:nvPr>
        </p:nvGraphicFramePr>
        <p:xfrm>
          <a:off x="1991544" y="5136988"/>
          <a:ext cx="4131670" cy="1690126"/>
        </p:xfrm>
        <a:graphic>
          <a:graphicData uri="http://schemas.openxmlformats.org/drawingml/2006/table">
            <a:tbl>
              <a:tblPr/>
              <a:tblGrid>
                <a:gridCol w="1152128">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998849">
                  <a:extLst>
                    <a:ext uri="{9D8B030D-6E8A-4147-A177-3AD203B41FA5}">
                      <a16:colId xmlns:a16="http://schemas.microsoft.com/office/drawing/2014/main" val="20002"/>
                    </a:ext>
                  </a:extLst>
                </a:gridCol>
                <a:gridCol w="1044589">
                  <a:extLst>
                    <a:ext uri="{9D8B030D-6E8A-4147-A177-3AD203B41FA5}">
                      <a16:colId xmlns:a16="http://schemas.microsoft.com/office/drawing/2014/main" val="20003"/>
                    </a:ext>
                  </a:extLst>
                </a:gridCol>
              </a:tblGrid>
              <a:tr h="346201">
                <a:tc>
                  <a:txBody>
                    <a:bodyPr/>
                    <a:lstStyle/>
                    <a:p>
                      <a:pPr algn="ctr">
                        <a:lnSpc>
                          <a:spcPct val="95000"/>
                        </a:lnSpc>
                      </a:pPr>
                      <a:r>
                        <a:rPr lang="es-PE" sz="1800" b="1" strike="noStrike" spc="-1" dirty="0" err="1">
                          <a:solidFill>
                            <a:schemeClr val="bg2">
                              <a:lumMod val="25000"/>
                            </a:schemeClr>
                          </a:solidFill>
                          <a:latin typeface="Arial Narrow"/>
                        </a:rPr>
                        <a:t>P</a:t>
                      </a:r>
                      <a:r>
                        <a:rPr lang="es-PE" sz="1800" b="1" strike="noStrike" spc="-1" baseline="-30000" dirty="0" err="1">
                          <a:solidFill>
                            <a:schemeClr val="bg2">
                              <a:lumMod val="25000"/>
                            </a:schemeClr>
                          </a:solidFill>
                          <a:latin typeface="Arial Narrow"/>
                        </a:rPr>
                        <a:t>1</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1800" b="0" strike="noStrike" spc="-1" dirty="0">
                          <a:solidFill>
                            <a:schemeClr val="bg2">
                              <a:lumMod val="25000"/>
                            </a:schemeClr>
                          </a:solidFill>
                          <a:latin typeface="Arial"/>
                        </a:rPr>
                        <a:t>2</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1800" b="0" strike="noStrike" spc="-1" dirty="0">
                          <a:solidFill>
                            <a:schemeClr val="bg2">
                              <a:lumMod val="25000"/>
                            </a:schemeClr>
                          </a:solidFill>
                          <a:latin typeface="Arial"/>
                        </a:rPr>
                        <a:t>1</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1800" b="0" strike="noStrike" spc="-1" dirty="0">
                          <a:solidFill>
                            <a:schemeClr val="bg2">
                              <a:lumMod val="25000"/>
                            </a:schemeClr>
                          </a:solidFill>
                          <a:latin typeface="Arial"/>
                        </a:rPr>
                        <a:t>2</a:t>
                      </a:r>
                      <a:endParaRPr lang="es-PE" sz="18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346201">
                <a:tc>
                  <a:txBody>
                    <a:bodyPr/>
                    <a:lstStyle/>
                    <a:p>
                      <a:pPr algn="ctr">
                        <a:lnSpc>
                          <a:spcPct val="95000"/>
                        </a:lnSpc>
                      </a:pPr>
                      <a:r>
                        <a:rPr lang="es-PE" sz="1800" b="1" strike="noStrike" spc="-1" dirty="0" err="1">
                          <a:solidFill>
                            <a:schemeClr val="bg2">
                              <a:lumMod val="25000"/>
                            </a:schemeClr>
                          </a:solidFill>
                          <a:latin typeface="Arial Narrow"/>
                        </a:rPr>
                        <a:t>P</a:t>
                      </a:r>
                      <a:r>
                        <a:rPr lang="es-PE" sz="1800" b="1" strike="noStrike" spc="-1" baseline="-30000" dirty="0" err="1">
                          <a:solidFill>
                            <a:schemeClr val="bg2">
                              <a:lumMod val="25000"/>
                            </a:schemeClr>
                          </a:solidFill>
                          <a:latin typeface="Arial Narrow"/>
                        </a:rPr>
                        <a:t>2</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1800" b="0" strike="noStrike" spc="-1" dirty="0">
                          <a:solidFill>
                            <a:schemeClr val="bg2">
                              <a:lumMod val="25000"/>
                            </a:schemeClr>
                          </a:solidFill>
                          <a:latin typeface="Arial"/>
                        </a:rPr>
                        <a:t>2</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1800" b="0" strike="noStrike" spc="-1" dirty="0">
                          <a:solidFill>
                            <a:schemeClr val="bg2">
                              <a:lumMod val="25000"/>
                            </a:schemeClr>
                          </a:solidFill>
                          <a:latin typeface="Arial"/>
                        </a:rPr>
                        <a:t>1</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1800" b="0" strike="noStrike" spc="-1" dirty="0">
                          <a:solidFill>
                            <a:schemeClr val="bg2">
                              <a:lumMod val="25000"/>
                            </a:schemeClr>
                          </a:solidFill>
                          <a:latin typeface="Arial"/>
                        </a:rPr>
                        <a:t>1</a:t>
                      </a:r>
                      <a:endParaRPr lang="es-PE" sz="18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346201">
                <a:tc>
                  <a:txBody>
                    <a:bodyPr/>
                    <a:lstStyle/>
                    <a:p>
                      <a:pPr algn="ctr">
                        <a:lnSpc>
                          <a:spcPct val="95000"/>
                        </a:lnSpc>
                      </a:pPr>
                      <a:r>
                        <a:rPr lang="es-PE" sz="1800" b="1" strike="noStrike" spc="-1" dirty="0" err="1">
                          <a:solidFill>
                            <a:schemeClr val="bg2">
                              <a:lumMod val="25000"/>
                            </a:schemeClr>
                          </a:solidFill>
                          <a:latin typeface="Arial Narrow"/>
                        </a:rPr>
                        <a:t>P</a:t>
                      </a:r>
                      <a:r>
                        <a:rPr lang="es-PE" sz="1800" b="1" strike="noStrike" spc="-1" baseline="-30000" dirty="0" err="1">
                          <a:solidFill>
                            <a:schemeClr val="bg2">
                              <a:lumMod val="25000"/>
                            </a:schemeClr>
                          </a:solidFill>
                          <a:latin typeface="Arial Narrow"/>
                        </a:rPr>
                        <a:t>3</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spcBef>
                          <a:spcPts val="1199"/>
                        </a:spcBef>
                      </a:pPr>
                      <a:r>
                        <a:rPr lang="es-ES" sz="1800" b="0" strike="noStrike" spc="-1" dirty="0">
                          <a:solidFill>
                            <a:srgbClr val="FF0000"/>
                          </a:solidFill>
                          <a:latin typeface="Arial"/>
                        </a:rPr>
                        <a:t>4</a:t>
                      </a:r>
                      <a:endParaRPr lang="es-PE" sz="18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1800" b="0" strike="noStrike" spc="-1" dirty="0">
                          <a:solidFill>
                            <a:srgbClr val="FF0000"/>
                          </a:solidFill>
                          <a:latin typeface="Arial"/>
                        </a:rPr>
                        <a:t>2</a:t>
                      </a:r>
                      <a:endParaRPr lang="es-PE" sz="18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r>
                        <a:rPr lang="en-US" sz="1800" dirty="0">
                          <a:solidFill>
                            <a:srgbClr val="FF0000"/>
                          </a:solidFill>
                        </a:rPr>
                        <a:t>1</a:t>
                      </a: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620278">
                <a:tc>
                  <a:txBody>
                    <a:bodyPr/>
                    <a:lstStyle/>
                    <a:p>
                      <a:pPr algn="ctr">
                        <a:lnSpc>
                          <a:spcPct val="95000"/>
                        </a:lnSpc>
                      </a:pPr>
                      <a:r>
                        <a:rPr lang="es-PE" sz="1800" b="1" strike="noStrike" spc="-1" dirty="0" err="1">
                          <a:solidFill>
                            <a:schemeClr val="bg2">
                              <a:lumMod val="25000"/>
                            </a:schemeClr>
                          </a:solidFill>
                          <a:latin typeface="Arial Narrow"/>
                        </a:rPr>
                        <a:t>P</a:t>
                      </a:r>
                      <a:r>
                        <a:rPr lang="es-PE" sz="1800" b="1" strike="noStrike" spc="-1" baseline="-30000" dirty="0" err="1">
                          <a:solidFill>
                            <a:schemeClr val="bg2">
                              <a:lumMod val="25000"/>
                            </a:schemeClr>
                          </a:solidFill>
                          <a:latin typeface="Arial Narrow"/>
                        </a:rPr>
                        <a:t>4</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spcBef>
                          <a:spcPts val="1199"/>
                        </a:spcBef>
                      </a:pP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1800" dirty="0">
                        <a:solidFill>
                          <a:schemeClr val="bg2">
                            <a:lumMod val="25000"/>
                          </a:schemeClr>
                        </a:solidFil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grpSp>
        <p:nvGrpSpPr>
          <p:cNvPr id="3" name="Grupo 2">
            <a:extLst>
              <a:ext uri="{FF2B5EF4-FFF2-40B4-BE49-F238E27FC236}">
                <a16:creationId xmlns:a16="http://schemas.microsoft.com/office/drawing/2014/main" id="{0FCE025D-BECC-4D8D-9E22-9DF659B5986F}"/>
              </a:ext>
            </a:extLst>
          </p:cNvPr>
          <p:cNvGrpSpPr/>
          <p:nvPr/>
        </p:nvGrpSpPr>
        <p:grpSpPr>
          <a:xfrm>
            <a:off x="7810680" y="4572549"/>
            <a:ext cx="2356920" cy="2284541"/>
            <a:chOff x="7810680" y="4572549"/>
            <a:chExt cx="2356920" cy="2284541"/>
          </a:xfrm>
        </p:grpSpPr>
        <p:sp>
          <p:nvSpPr>
            <p:cNvPr id="4" name="Forma libre: forma 3">
              <a:extLst>
                <a:ext uri="{FF2B5EF4-FFF2-40B4-BE49-F238E27FC236}">
                  <a16:creationId xmlns:a16="http://schemas.microsoft.com/office/drawing/2014/main" id="{1BAEEBD1-40EF-47A1-8BF7-531551560A79}"/>
                </a:ext>
              </a:extLst>
            </p:cNvPr>
            <p:cNvSpPr/>
            <p:nvPr/>
          </p:nvSpPr>
          <p:spPr>
            <a:xfrm>
              <a:off x="7810680" y="4572549"/>
              <a:ext cx="2356920" cy="359340"/>
            </a:xfrm>
            <a:custGeom>
              <a:avLst/>
              <a:gdLst>
                <a:gd name="connsiteX0" fmla="*/ 0 w 2356920"/>
                <a:gd name="connsiteY0" fmla="*/ 59891 h 359340"/>
                <a:gd name="connsiteX1" fmla="*/ 59891 w 2356920"/>
                <a:gd name="connsiteY1" fmla="*/ 0 h 359340"/>
                <a:gd name="connsiteX2" fmla="*/ 2297029 w 2356920"/>
                <a:gd name="connsiteY2" fmla="*/ 0 h 359340"/>
                <a:gd name="connsiteX3" fmla="*/ 2356920 w 2356920"/>
                <a:gd name="connsiteY3" fmla="*/ 59891 h 359340"/>
                <a:gd name="connsiteX4" fmla="*/ 2356920 w 2356920"/>
                <a:gd name="connsiteY4" fmla="*/ 299449 h 359340"/>
                <a:gd name="connsiteX5" fmla="*/ 2297029 w 2356920"/>
                <a:gd name="connsiteY5" fmla="*/ 359340 h 359340"/>
                <a:gd name="connsiteX6" fmla="*/ 59891 w 2356920"/>
                <a:gd name="connsiteY6" fmla="*/ 359340 h 359340"/>
                <a:gd name="connsiteX7" fmla="*/ 0 w 2356920"/>
                <a:gd name="connsiteY7" fmla="*/ 299449 h 359340"/>
                <a:gd name="connsiteX8" fmla="*/ 0 w 2356920"/>
                <a:gd name="connsiteY8" fmla="*/ 59891 h 359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920" h="359340">
                  <a:moveTo>
                    <a:pt x="0" y="59891"/>
                  </a:moveTo>
                  <a:cubicBezTo>
                    <a:pt x="0" y="26814"/>
                    <a:pt x="26814" y="0"/>
                    <a:pt x="59891" y="0"/>
                  </a:cubicBezTo>
                  <a:lnTo>
                    <a:pt x="2297029" y="0"/>
                  </a:lnTo>
                  <a:cubicBezTo>
                    <a:pt x="2330106" y="0"/>
                    <a:pt x="2356920" y="26814"/>
                    <a:pt x="2356920" y="59891"/>
                  </a:cubicBezTo>
                  <a:lnTo>
                    <a:pt x="2356920" y="299449"/>
                  </a:lnTo>
                  <a:cubicBezTo>
                    <a:pt x="2356920" y="332526"/>
                    <a:pt x="2330106" y="359340"/>
                    <a:pt x="2297029" y="359340"/>
                  </a:cubicBezTo>
                  <a:lnTo>
                    <a:pt x="59891" y="359340"/>
                  </a:lnTo>
                  <a:cubicBezTo>
                    <a:pt x="26814" y="359340"/>
                    <a:pt x="0" y="332526"/>
                    <a:pt x="0" y="299449"/>
                  </a:cubicBezTo>
                  <a:lnTo>
                    <a:pt x="0" y="5989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6122" tIns="86122" rIns="86122" bIns="86122" numCol="1" spcCol="1270" anchor="ctr" anchorCtr="0">
              <a:noAutofit/>
            </a:bodyPr>
            <a:lstStyle/>
            <a:p>
              <a:pPr marL="0" lvl="0" indent="0" algn="l" defTabSz="800100" rtl="0">
                <a:lnSpc>
                  <a:spcPct val="90000"/>
                </a:lnSpc>
                <a:spcBef>
                  <a:spcPct val="0"/>
                </a:spcBef>
                <a:spcAft>
                  <a:spcPct val="35000"/>
                </a:spcAft>
                <a:buNone/>
              </a:pPr>
              <a:r>
                <a:rPr lang="es-ES" sz="1800" kern="1200" dirty="0" err="1"/>
                <a:t>X13</a:t>
              </a:r>
              <a:r>
                <a:rPr lang="es-ES" sz="1800" kern="1200" dirty="0"/>
                <a:t>=</a:t>
              </a:r>
              <a:r>
                <a:rPr lang="es-ES" sz="1800" kern="1200" dirty="0" err="1"/>
                <a:t>45</a:t>
              </a:r>
              <a:r>
                <a:rPr lang="es-ES" sz="1800" kern="1200" dirty="0" err="1">
                  <a:sym typeface="Wingdings" panose="05000000000000000000" pitchFamily="2" charset="2"/>
                </a:rPr>
                <a:t>C</a:t>
              </a:r>
              <a:r>
                <a:rPr lang="es-ES" sz="1800" kern="1200" dirty="0">
                  <a:sym typeface="Wingdings" panose="05000000000000000000" pitchFamily="2" charset="2"/>
                </a:rPr>
                <a:t>=45*4=180</a:t>
              </a:r>
              <a:endParaRPr lang="es-PE" sz="1800" kern="1200" dirty="0"/>
            </a:p>
          </p:txBody>
        </p:sp>
        <p:sp>
          <p:nvSpPr>
            <p:cNvPr id="5" name="Forma libre: forma 4">
              <a:extLst>
                <a:ext uri="{FF2B5EF4-FFF2-40B4-BE49-F238E27FC236}">
                  <a16:creationId xmlns:a16="http://schemas.microsoft.com/office/drawing/2014/main" id="{3DEC7E37-B33E-4F25-875C-A2C1E290C1CD}"/>
                </a:ext>
              </a:extLst>
            </p:cNvPr>
            <p:cNvSpPr/>
            <p:nvPr/>
          </p:nvSpPr>
          <p:spPr>
            <a:xfrm>
              <a:off x="7810680" y="4943843"/>
              <a:ext cx="2356920" cy="359340"/>
            </a:xfrm>
            <a:custGeom>
              <a:avLst/>
              <a:gdLst>
                <a:gd name="connsiteX0" fmla="*/ 0 w 2356920"/>
                <a:gd name="connsiteY0" fmla="*/ 59891 h 359340"/>
                <a:gd name="connsiteX1" fmla="*/ 59891 w 2356920"/>
                <a:gd name="connsiteY1" fmla="*/ 0 h 359340"/>
                <a:gd name="connsiteX2" fmla="*/ 2297029 w 2356920"/>
                <a:gd name="connsiteY2" fmla="*/ 0 h 359340"/>
                <a:gd name="connsiteX3" fmla="*/ 2356920 w 2356920"/>
                <a:gd name="connsiteY3" fmla="*/ 59891 h 359340"/>
                <a:gd name="connsiteX4" fmla="*/ 2356920 w 2356920"/>
                <a:gd name="connsiteY4" fmla="*/ 299449 h 359340"/>
                <a:gd name="connsiteX5" fmla="*/ 2297029 w 2356920"/>
                <a:gd name="connsiteY5" fmla="*/ 359340 h 359340"/>
                <a:gd name="connsiteX6" fmla="*/ 59891 w 2356920"/>
                <a:gd name="connsiteY6" fmla="*/ 359340 h 359340"/>
                <a:gd name="connsiteX7" fmla="*/ 0 w 2356920"/>
                <a:gd name="connsiteY7" fmla="*/ 299449 h 359340"/>
                <a:gd name="connsiteX8" fmla="*/ 0 w 2356920"/>
                <a:gd name="connsiteY8" fmla="*/ 59891 h 359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920" h="359340">
                  <a:moveTo>
                    <a:pt x="0" y="59891"/>
                  </a:moveTo>
                  <a:cubicBezTo>
                    <a:pt x="0" y="26814"/>
                    <a:pt x="26814" y="0"/>
                    <a:pt x="59891" y="0"/>
                  </a:cubicBezTo>
                  <a:lnTo>
                    <a:pt x="2297029" y="0"/>
                  </a:lnTo>
                  <a:cubicBezTo>
                    <a:pt x="2330106" y="0"/>
                    <a:pt x="2356920" y="26814"/>
                    <a:pt x="2356920" y="59891"/>
                  </a:cubicBezTo>
                  <a:lnTo>
                    <a:pt x="2356920" y="299449"/>
                  </a:lnTo>
                  <a:cubicBezTo>
                    <a:pt x="2356920" y="332526"/>
                    <a:pt x="2330106" y="359340"/>
                    <a:pt x="2297029" y="359340"/>
                  </a:cubicBezTo>
                  <a:lnTo>
                    <a:pt x="59891" y="359340"/>
                  </a:lnTo>
                  <a:cubicBezTo>
                    <a:pt x="26814" y="359340"/>
                    <a:pt x="0" y="332526"/>
                    <a:pt x="0" y="299449"/>
                  </a:cubicBezTo>
                  <a:lnTo>
                    <a:pt x="0" y="5989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6122" tIns="86122" rIns="86122" bIns="86122" numCol="1" spcCol="1270" anchor="ctr" anchorCtr="0">
              <a:noAutofit/>
            </a:bodyPr>
            <a:lstStyle/>
            <a:p>
              <a:pPr marL="0" lvl="0" indent="0" algn="l" defTabSz="800100" rtl="0">
                <a:lnSpc>
                  <a:spcPct val="90000"/>
                </a:lnSpc>
                <a:spcBef>
                  <a:spcPct val="0"/>
                </a:spcBef>
                <a:spcAft>
                  <a:spcPct val="35000"/>
                </a:spcAft>
                <a:buNone/>
              </a:pPr>
              <a:r>
                <a:rPr lang="es-ES" sz="1800" kern="1200" dirty="0" err="1"/>
                <a:t>X31</a:t>
              </a:r>
              <a:r>
                <a:rPr lang="es-ES" sz="1800" kern="1200" dirty="0"/>
                <a:t>=</a:t>
              </a:r>
              <a:r>
                <a:rPr lang="es-ES" sz="1800" kern="1200" dirty="0" err="1"/>
                <a:t>45</a:t>
              </a:r>
              <a:r>
                <a:rPr lang="es-ES" sz="1800" kern="1200" dirty="0" err="1">
                  <a:sym typeface="Wingdings" panose="05000000000000000000" pitchFamily="2" charset="2"/>
                </a:rPr>
                <a:t>C</a:t>
              </a:r>
              <a:r>
                <a:rPr lang="es-ES" sz="1800" kern="1200" dirty="0">
                  <a:sym typeface="Wingdings" panose="05000000000000000000" pitchFamily="2" charset="2"/>
                </a:rPr>
                <a:t>=45*3=135</a:t>
              </a:r>
              <a:endParaRPr lang="es-PE" sz="1800" kern="1200" dirty="0"/>
            </a:p>
          </p:txBody>
        </p:sp>
        <p:sp>
          <p:nvSpPr>
            <p:cNvPr id="16" name="Forma libre: forma 15">
              <a:extLst>
                <a:ext uri="{FF2B5EF4-FFF2-40B4-BE49-F238E27FC236}">
                  <a16:creationId xmlns:a16="http://schemas.microsoft.com/office/drawing/2014/main" id="{3B85C61B-A780-46B9-ABD5-CC8F828A6735}"/>
                </a:ext>
              </a:extLst>
            </p:cNvPr>
            <p:cNvSpPr/>
            <p:nvPr/>
          </p:nvSpPr>
          <p:spPr>
            <a:xfrm>
              <a:off x="7810680" y="6788360"/>
              <a:ext cx="2356920" cy="68730"/>
            </a:xfrm>
            <a:custGeom>
              <a:avLst/>
              <a:gdLst>
                <a:gd name="connsiteX0" fmla="*/ 0 w 2356920"/>
                <a:gd name="connsiteY0" fmla="*/ 0 h 68730"/>
                <a:gd name="connsiteX1" fmla="*/ 2356920 w 2356920"/>
                <a:gd name="connsiteY1" fmla="*/ 0 h 68730"/>
                <a:gd name="connsiteX2" fmla="*/ 2356920 w 2356920"/>
                <a:gd name="connsiteY2" fmla="*/ 68730 h 68730"/>
                <a:gd name="connsiteX3" fmla="*/ 0 w 2356920"/>
                <a:gd name="connsiteY3" fmla="*/ 68730 h 68730"/>
                <a:gd name="connsiteX4" fmla="*/ 0 w 2356920"/>
                <a:gd name="connsiteY4" fmla="*/ 0 h 68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6920" h="68730">
                  <a:moveTo>
                    <a:pt x="0" y="0"/>
                  </a:moveTo>
                  <a:lnTo>
                    <a:pt x="2356920" y="0"/>
                  </a:lnTo>
                  <a:lnTo>
                    <a:pt x="2356920" y="68730"/>
                  </a:lnTo>
                  <a:lnTo>
                    <a:pt x="0" y="6873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4832" tIns="22860" rIns="128016" bIns="22860" numCol="1" spcCol="1270" anchor="t" anchorCtr="0">
              <a:noAutofit/>
            </a:bodyPr>
            <a:lstStyle/>
            <a:p>
              <a:pPr marL="171450" lvl="1" indent="-171450" algn="l" defTabSz="800100" rtl="0">
                <a:lnSpc>
                  <a:spcPct val="90000"/>
                </a:lnSpc>
                <a:spcBef>
                  <a:spcPct val="0"/>
                </a:spcBef>
                <a:spcAft>
                  <a:spcPct val="20000"/>
                </a:spcAft>
                <a:buChar char="•"/>
              </a:pPr>
              <a:endParaRPr lang="es-PE" sz="1800" kern="1200"/>
            </a:p>
          </p:txBody>
        </p:sp>
      </p:grpSp>
      <p:sp>
        <p:nvSpPr>
          <p:cNvPr id="8" name="CustomShape 5">
            <a:extLst>
              <a:ext uri="{FF2B5EF4-FFF2-40B4-BE49-F238E27FC236}">
                <a16:creationId xmlns:a16="http://schemas.microsoft.com/office/drawing/2014/main" id="{54E3C167-328B-4F8C-8D92-3147DE697B13}"/>
              </a:ext>
            </a:extLst>
          </p:cNvPr>
          <p:cNvSpPr/>
          <p:nvPr/>
        </p:nvSpPr>
        <p:spPr>
          <a:xfrm>
            <a:off x="6096000" y="163488"/>
            <a:ext cx="6096000" cy="56304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lnSpc>
                <a:spcPts val="5800"/>
              </a:lnSpc>
              <a:spcBef>
                <a:spcPct val="0"/>
              </a:spcBef>
            </a:pPr>
            <a:r>
              <a:rPr lang="es-PE" sz="3200" dirty="0">
                <a:solidFill>
                  <a:schemeClr val="bg1"/>
                </a:solidFill>
                <a:effectLst>
                  <a:outerShdw blurRad="63500" dist="38100" dir="5400000" algn="t" rotWithShape="0">
                    <a:prstClr val="black">
                      <a:alpha val="25000"/>
                    </a:prstClr>
                  </a:outerShdw>
                </a:effectLst>
                <a:latin typeface="Bauhaus 93" pitchFamily="82" charset="0"/>
              </a:rPr>
              <a:t>Método Vogel</a:t>
            </a:r>
          </a:p>
        </p:txBody>
      </p:sp>
      <p:sp>
        <p:nvSpPr>
          <p:cNvPr id="9" name="CuadroTexto 8">
            <a:extLst>
              <a:ext uri="{FF2B5EF4-FFF2-40B4-BE49-F238E27FC236}">
                <a16:creationId xmlns:a16="http://schemas.microsoft.com/office/drawing/2014/main" id="{3FADEFEF-6069-43F7-997B-64C182955F23}"/>
              </a:ext>
            </a:extLst>
          </p:cNvPr>
          <p:cNvSpPr txBox="1"/>
          <p:nvPr/>
        </p:nvSpPr>
        <p:spPr>
          <a:xfrm>
            <a:off x="258793" y="2191109"/>
            <a:ext cx="1380226" cy="646331"/>
          </a:xfrm>
          <a:prstGeom prst="rect">
            <a:avLst/>
          </a:prstGeom>
          <a:solidFill>
            <a:srgbClr val="FFFF00"/>
          </a:solidFill>
        </p:spPr>
        <p:txBody>
          <a:bodyPr wrap="square" rtlCol="0">
            <a:spAutoFit/>
          </a:bodyPr>
          <a:lstStyle/>
          <a:p>
            <a:r>
              <a:rPr lang="es-ES" b="1" dirty="0"/>
              <a:t>Hallamos las penalidades</a:t>
            </a:r>
          </a:p>
        </p:txBody>
      </p:sp>
      <p:sp>
        <p:nvSpPr>
          <p:cNvPr id="10" name="Rectángulo 9">
            <a:extLst>
              <a:ext uri="{FF2B5EF4-FFF2-40B4-BE49-F238E27FC236}">
                <a16:creationId xmlns:a16="http://schemas.microsoft.com/office/drawing/2014/main" id="{1138481B-8622-4CB0-B838-1AE0DFB8BF3F}"/>
              </a:ext>
            </a:extLst>
          </p:cNvPr>
          <p:cNvSpPr/>
          <p:nvPr/>
        </p:nvSpPr>
        <p:spPr>
          <a:xfrm>
            <a:off x="258136" y="3054556"/>
            <a:ext cx="1372258" cy="923330"/>
          </a:xfrm>
          <a:prstGeom prst="rect">
            <a:avLst/>
          </a:prstGeom>
          <a:solidFill>
            <a:srgbClr val="FFFF00"/>
          </a:solidFill>
        </p:spPr>
        <p:txBody>
          <a:bodyPr wrap="square">
            <a:spAutoFit/>
          </a:bodyPr>
          <a:lstStyle/>
          <a:p>
            <a:r>
              <a:rPr lang="es-ES" b="1" dirty="0"/>
              <a:t>Hallamos la mayor penalidad</a:t>
            </a:r>
            <a:endParaRPr lang="es-PE" b="1" dirty="0"/>
          </a:p>
        </p:txBody>
      </p:sp>
      <p:sp>
        <p:nvSpPr>
          <p:cNvPr id="11" name="CuadroTexto 10">
            <a:extLst>
              <a:ext uri="{FF2B5EF4-FFF2-40B4-BE49-F238E27FC236}">
                <a16:creationId xmlns:a16="http://schemas.microsoft.com/office/drawing/2014/main" id="{40ED2A4F-33F4-49D4-95BD-67C021051215}"/>
              </a:ext>
            </a:extLst>
          </p:cNvPr>
          <p:cNvSpPr txBox="1"/>
          <p:nvPr/>
        </p:nvSpPr>
        <p:spPr>
          <a:xfrm>
            <a:off x="264551" y="4198193"/>
            <a:ext cx="1380226" cy="646331"/>
          </a:xfrm>
          <a:prstGeom prst="rect">
            <a:avLst/>
          </a:prstGeom>
          <a:solidFill>
            <a:srgbClr val="FFFF00"/>
          </a:solidFill>
        </p:spPr>
        <p:txBody>
          <a:bodyPr wrap="square" rtlCol="0">
            <a:spAutoFit/>
          </a:bodyPr>
          <a:lstStyle/>
          <a:p>
            <a:r>
              <a:rPr lang="es-ES" b="1" dirty="0"/>
              <a:t>Hallamos el menor costo</a:t>
            </a:r>
          </a:p>
        </p:txBody>
      </p:sp>
      <p:sp>
        <p:nvSpPr>
          <p:cNvPr id="12" name="CuadroTexto 11">
            <a:extLst>
              <a:ext uri="{FF2B5EF4-FFF2-40B4-BE49-F238E27FC236}">
                <a16:creationId xmlns:a16="http://schemas.microsoft.com/office/drawing/2014/main" id="{7D87FA4F-791B-400E-A6D2-0668DBA7539B}"/>
              </a:ext>
            </a:extLst>
          </p:cNvPr>
          <p:cNvSpPr txBox="1"/>
          <p:nvPr/>
        </p:nvSpPr>
        <p:spPr>
          <a:xfrm>
            <a:off x="264551" y="5086705"/>
            <a:ext cx="1380226" cy="646331"/>
          </a:xfrm>
          <a:prstGeom prst="rect">
            <a:avLst/>
          </a:prstGeom>
          <a:solidFill>
            <a:srgbClr val="FFFF00"/>
          </a:solidFill>
        </p:spPr>
        <p:txBody>
          <a:bodyPr wrap="square" rtlCol="0">
            <a:spAutoFit/>
          </a:bodyPr>
          <a:lstStyle/>
          <a:p>
            <a:r>
              <a:rPr lang="es-ES" b="1" dirty="0"/>
              <a:t>Anotamos la operación</a:t>
            </a:r>
          </a:p>
        </p:txBody>
      </p:sp>
      <p:sp>
        <p:nvSpPr>
          <p:cNvPr id="13" name="Globo: flecha hacia abajo 12">
            <a:extLst>
              <a:ext uri="{FF2B5EF4-FFF2-40B4-BE49-F238E27FC236}">
                <a16:creationId xmlns:a16="http://schemas.microsoft.com/office/drawing/2014/main" id="{04C17866-EA38-4F9E-84AA-3DC012313901}"/>
              </a:ext>
            </a:extLst>
          </p:cNvPr>
          <p:cNvSpPr/>
          <p:nvPr/>
        </p:nvSpPr>
        <p:spPr>
          <a:xfrm>
            <a:off x="276044" y="1276709"/>
            <a:ext cx="1345721" cy="897148"/>
          </a:xfrm>
          <a:prstGeom prst="downArrowCallou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rgbClr val="FF0000"/>
                </a:solidFill>
              </a:rPr>
              <a:t>Pasos:</a:t>
            </a:r>
            <a:endParaRPr lang="es-PE" sz="2400" dirty="0">
              <a:solidFill>
                <a:srgbClr val="FF0000"/>
              </a:solidFill>
            </a:endParaRPr>
          </a:p>
        </p:txBody>
      </p:sp>
      <p:sp>
        <p:nvSpPr>
          <p:cNvPr id="21" name="Forma libre: forma 20">
            <a:extLst>
              <a:ext uri="{FF2B5EF4-FFF2-40B4-BE49-F238E27FC236}">
                <a16:creationId xmlns:a16="http://schemas.microsoft.com/office/drawing/2014/main" id="{9AF8DA77-606D-4A84-904D-DDD28FEE37C3}"/>
              </a:ext>
            </a:extLst>
          </p:cNvPr>
          <p:cNvSpPr/>
          <p:nvPr/>
        </p:nvSpPr>
        <p:spPr>
          <a:xfrm>
            <a:off x="7810680" y="5315137"/>
            <a:ext cx="2356920" cy="359340"/>
          </a:xfrm>
          <a:custGeom>
            <a:avLst/>
            <a:gdLst>
              <a:gd name="connsiteX0" fmla="*/ 0 w 2356920"/>
              <a:gd name="connsiteY0" fmla="*/ 59891 h 359340"/>
              <a:gd name="connsiteX1" fmla="*/ 59891 w 2356920"/>
              <a:gd name="connsiteY1" fmla="*/ 0 h 359340"/>
              <a:gd name="connsiteX2" fmla="*/ 2297029 w 2356920"/>
              <a:gd name="connsiteY2" fmla="*/ 0 h 359340"/>
              <a:gd name="connsiteX3" fmla="*/ 2356920 w 2356920"/>
              <a:gd name="connsiteY3" fmla="*/ 59891 h 359340"/>
              <a:gd name="connsiteX4" fmla="*/ 2356920 w 2356920"/>
              <a:gd name="connsiteY4" fmla="*/ 299449 h 359340"/>
              <a:gd name="connsiteX5" fmla="*/ 2297029 w 2356920"/>
              <a:gd name="connsiteY5" fmla="*/ 359340 h 359340"/>
              <a:gd name="connsiteX6" fmla="*/ 59891 w 2356920"/>
              <a:gd name="connsiteY6" fmla="*/ 359340 h 359340"/>
              <a:gd name="connsiteX7" fmla="*/ 0 w 2356920"/>
              <a:gd name="connsiteY7" fmla="*/ 299449 h 359340"/>
              <a:gd name="connsiteX8" fmla="*/ 0 w 2356920"/>
              <a:gd name="connsiteY8" fmla="*/ 59891 h 359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920" h="359340">
                <a:moveTo>
                  <a:pt x="0" y="59891"/>
                </a:moveTo>
                <a:cubicBezTo>
                  <a:pt x="0" y="26814"/>
                  <a:pt x="26814" y="0"/>
                  <a:pt x="59891" y="0"/>
                </a:cubicBezTo>
                <a:lnTo>
                  <a:pt x="2297029" y="0"/>
                </a:lnTo>
                <a:cubicBezTo>
                  <a:pt x="2330106" y="0"/>
                  <a:pt x="2356920" y="26814"/>
                  <a:pt x="2356920" y="59891"/>
                </a:cubicBezTo>
                <a:lnTo>
                  <a:pt x="2356920" y="299449"/>
                </a:lnTo>
                <a:cubicBezTo>
                  <a:pt x="2356920" y="332526"/>
                  <a:pt x="2330106" y="359340"/>
                  <a:pt x="2297029" y="359340"/>
                </a:cubicBezTo>
                <a:lnTo>
                  <a:pt x="59891" y="359340"/>
                </a:lnTo>
                <a:cubicBezTo>
                  <a:pt x="26814" y="359340"/>
                  <a:pt x="0" y="332526"/>
                  <a:pt x="0" y="299449"/>
                </a:cubicBezTo>
                <a:lnTo>
                  <a:pt x="0" y="5989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6122" tIns="86122" rIns="86122" bIns="86122" numCol="1" spcCol="1270" anchor="ctr" anchorCtr="0">
            <a:noAutofit/>
          </a:bodyPr>
          <a:lstStyle/>
          <a:p>
            <a:pPr marL="0" lvl="0" indent="0" algn="l" defTabSz="800100" rtl="0">
              <a:lnSpc>
                <a:spcPct val="90000"/>
              </a:lnSpc>
              <a:spcBef>
                <a:spcPct val="0"/>
              </a:spcBef>
              <a:spcAft>
                <a:spcPct val="35000"/>
              </a:spcAft>
              <a:buNone/>
            </a:pPr>
            <a:r>
              <a:rPr lang="es-ES" sz="1800" kern="1200" dirty="0" err="1"/>
              <a:t>X41</a:t>
            </a:r>
            <a:r>
              <a:rPr lang="es-ES" sz="1800" kern="1200" dirty="0"/>
              <a:t>=</a:t>
            </a:r>
            <a:r>
              <a:rPr lang="es-ES" sz="1800" kern="1200" dirty="0" err="1"/>
              <a:t>30</a:t>
            </a:r>
            <a:r>
              <a:rPr lang="es-ES" sz="1800" kern="1200" dirty="0" err="1">
                <a:sym typeface="Wingdings" panose="05000000000000000000" pitchFamily="2" charset="2"/>
              </a:rPr>
              <a:t>C</a:t>
            </a:r>
            <a:r>
              <a:rPr lang="es-ES" sz="1800" kern="1200" dirty="0">
                <a:sym typeface="Wingdings" panose="05000000000000000000" pitchFamily="2" charset="2"/>
              </a:rPr>
              <a:t>=30*5=150</a:t>
            </a:r>
            <a:endParaRPr lang="es-PE" sz="1800" kern="1200" dirty="0"/>
          </a:p>
        </p:txBody>
      </p:sp>
    </p:spTree>
    <p:extLst>
      <p:ext uri="{BB962C8B-B14F-4D97-AF65-F5344CB8AC3E}">
        <p14:creationId xmlns:p14="http://schemas.microsoft.com/office/powerpoint/2010/main" val="1669259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ppt_x"/>
                                          </p:val>
                                        </p:tav>
                                        <p:tav tm="100000">
                                          <p:val>
                                            <p:strVal val="#ppt_x"/>
                                          </p:val>
                                        </p:tav>
                                      </p:tavLst>
                                    </p:anim>
                                    <p:anim calcmode="lin" valueType="num">
                                      <p:cBhvr additive="base">
                                        <p:cTn id="1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1" name="CustomShape 1"/>
          <p:cNvSpPr/>
          <p:nvPr/>
        </p:nvSpPr>
        <p:spPr>
          <a:xfrm>
            <a:off x="1524000" y="239400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1012" name="Table 2"/>
          <p:cNvGraphicFramePr/>
          <p:nvPr>
            <p:extLst>
              <p:ext uri="{D42A27DB-BD31-4B8C-83A1-F6EECF244321}">
                <p14:modId xmlns:p14="http://schemas.microsoft.com/office/powerpoint/2010/main" val="3576775648"/>
              </p:ext>
            </p:extLst>
          </p:nvPr>
        </p:nvGraphicFramePr>
        <p:xfrm>
          <a:off x="1952760" y="1244098"/>
          <a:ext cx="8500680" cy="3654878"/>
        </p:xfrm>
        <a:graphic>
          <a:graphicData uri="http://schemas.openxmlformats.org/drawingml/2006/table">
            <a:tbl>
              <a:tblPr/>
              <a:tblGrid>
                <a:gridCol w="1228320">
                  <a:extLst>
                    <a:ext uri="{9D8B030D-6E8A-4147-A177-3AD203B41FA5}">
                      <a16:colId xmlns:a16="http://schemas.microsoft.com/office/drawing/2014/main" val="20000"/>
                    </a:ext>
                  </a:extLst>
                </a:gridCol>
                <a:gridCol w="883440">
                  <a:extLst>
                    <a:ext uri="{9D8B030D-6E8A-4147-A177-3AD203B41FA5}">
                      <a16:colId xmlns:a16="http://schemas.microsoft.com/office/drawing/2014/main" val="20001"/>
                    </a:ext>
                  </a:extLst>
                </a:gridCol>
                <a:gridCol w="981000">
                  <a:extLst>
                    <a:ext uri="{9D8B030D-6E8A-4147-A177-3AD203B41FA5}">
                      <a16:colId xmlns:a16="http://schemas.microsoft.com/office/drawing/2014/main" val="20002"/>
                    </a:ext>
                  </a:extLst>
                </a:gridCol>
                <a:gridCol w="1077694">
                  <a:extLst>
                    <a:ext uri="{9D8B030D-6E8A-4147-A177-3AD203B41FA5}">
                      <a16:colId xmlns:a16="http://schemas.microsoft.com/office/drawing/2014/main" val="20003"/>
                    </a:ext>
                  </a:extLst>
                </a:gridCol>
                <a:gridCol w="1773506">
                  <a:extLst>
                    <a:ext uri="{9D8B030D-6E8A-4147-A177-3AD203B41FA5}">
                      <a16:colId xmlns:a16="http://schemas.microsoft.com/office/drawing/2014/main" val="20005"/>
                    </a:ext>
                  </a:extLst>
                </a:gridCol>
                <a:gridCol w="667800">
                  <a:extLst>
                    <a:ext uri="{9D8B030D-6E8A-4147-A177-3AD203B41FA5}">
                      <a16:colId xmlns:a16="http://schemas.microsoft.com/office/drawing/2014/main" val="20006"/>
                    </a:ext>
                  </a:extLst>
                </a:gridCol>
                <a:gridCol w="569880">
                  <a:extLst>
                    <a:ext uri="{9D8B030D-6E8A-4147-A177-3AD203B41FA5}">
                      <a16:colId xmlns:a16="http://schemas.microsoft.com/office/drawing/2014/main" val="20007"/>
                    </a:ext>
                  </a:extLst>
                </a:gridCol>
                <a:gridCol w="658800">
                  <a:extLst>
                    <a:ext uri="{9D8B030D-6E8A-4147-A177-3AD203B41FA5}">
                      <a16:colId xmlns:a16="http://schemas.microsoft.com/office/drawing/2014/main" val="20008"/>
                    </a:ext>
                  </a:extLst>
                </a:gridCol>
                <a:gridCol w="660240">
                  <a:extLst>
                    <a:ext uri="{9D8B030D-6E8A-4147-A177-3AD203B41FA5}">
                      <a16:colId xmlns:a16="http://schemas.microsoft.com/office/drawing/2014/main" val="20009"/>
                    </a:ext>
                  </a:extLst>
                </a:gridCol>
              </a:tblGrid>
              <a:tr h="424729">
                <a:tc>
                  <a:txBody>
                    <a:bodyPr/>
                    <a:lstStyle/>
                    <a:p>
                      <a:endParaRPr lang="en-US" sz="2000"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PE" sz="2000" b="1" strike="noStrike" spc="-1" dirty="0">
                          <a:solidFill>
                            <a:schemeClr val="bg2">
                              <a:lumMod val="25000"/>
                            </a:schemeClr>
                          </a:solidFill>
                          <a:latin typeface="Arial Narrow"/>
                        </a:rPr>
                        <a:t>1</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PE" sz="2000" b="1" strike="noStrike" spc="-1" dirty="0">
                          <a:solidFill>
                            <a:schemeClr val="bg2">
                              <a:lumMod val="25000"/>
                            </a:schemeClr>
                          </a:solidFill>
                          <a:latin typeface="Arial Narrow"/>
                        </a:rPr>
                        <a:t>2</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PE" sz="2000" b="1" strike="noStrike" spc="-1" dirty="0">
                          <a:solidFill>
                            <a:schemeClr val="bg2">
                              <a:lumMod val="25000"/>
                            </a:schemeClr>
                          </a:solidFill>
                          <a:latin typeface="Arial Narrow"/>
                        </a:rPr>
                        <a:t>3</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a:lnSpc>
                          <a:spcPct val="95000"/>
                        </a:lnSpc>
                      </a:pPr>
                      <a:r>
                        <a:rPr lang="es-PE" sz="2000" b="1" strike="noStrike" spc="-1" dirty="0">
                          <a:solidFill>
                            <a:schemeClr val="bg2">
                              <a:lumMod val="25000"/>
                            </a:schemeClr>
                          </a:solidFill>
                          <a:latin typeface="Arial Narrow"/>
                        </a:rPr>
                        <a:t>Oferta</a:t>
                      </a:r>
                      <a:endParaRPr lang="es-PE" sz="2000" b="0" strike="noStrike" spc="-1" dirty="0">
                        <a:solidFill>
                          <a:schemeClr val="bg2">
                            <a:lumMod val="25000"/>
                          </a:schemeClr>
                        </a:solidFill>
                        <a:latin typeface="Arial"/>
                      </a:endParaRPr>
                    </a:p>
                  </a:txBody>
                  <a:tcPr>
                    <a:lnL w="12240" cap="flat" cmpd="sng" algn="ctr">
                      <a:solidFill>
                        <a:srgbClr val="000000"/>
                      </a:solidFill>
                      <a:prstDash val="solid"/>
                      <a:round/>
                      <a:headEnd type="none" w="med" len="med"/>
                      <a:tailEnd type="none" w="med" len="med"/>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r">
                        <a:lnSpc>
                          <a:spcPct val="95000"/>
                        </a:lnSpc>
                      </a:pPr>
                      <a:r>
                        <a:rPr lang="es-PE" sz="2000" b="1" strike="noStrike" spc="-1" dirty="0" err="1">
                          <a:solidFill>
                            <a:schemeClr val="bg2">
                              <a:lumMod val="25000"/>
                            </a:schemeClr>
                          </a:solidFill>
                          <a:latin typeface="Arial Narrow"/>
                        </a:rPr>
                        <a:t>P</a:t>
                      </a:r>
                      <a:r>
                        <a:rPr lang="es-PE" sz="2000" b="1" strike="noStrike" spc="-1" baseline="-30000" dirty="0" err="1">
                          <a:solidFill>
                            <a:schemeClr val="bg2">
                              <a:lumMod val="25000"/>
                            </a:schemeClr>
                          </a:solidFill>
                          <a:latin typeface="Arial Narrow"/>
                        </a:rPr>
                        <a:t>1</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r">
                        <a:lnSpc>
                          <a:spcPct val="95000"/>
                        </a:lnSpc>
                      </a:pPr>
                      <a:r>
                        <a:rPr lang="es-PE" sz="2000" b="1" strike="noStrike" spc="-1" dirty="0" err="1">
                          <a:solidFill>
                            <a:schemeClr val="bg2">
                              <a:lumMod val="25000"/>
                            </a:schemeClr>
                          </a:solidFill>
                          <a:latin typeface="Arial Narrow"/>
                        </a:rPr>
                        <a:t>P</a:t>
                      </a:r>
                      <a:r>
                        <a:rPr lang="es-PE" sz="2000" b="1" strike="noStrike" spc="-1" baseline="-30000" dirty="0" err="1">
                          <a:solidFill>
                            <a:schemeClr val="bg2">
                              <a:lumMod val="25000"/>
                            </a:schemeClr>
                          </a:solidFill>
                          <a:latin typeface="Arial Narrow"/>
                        </a:rPr>
                        <a:t>2</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r">
                        <a:lnSpc>
                          <a:spcPct val="95000"/>
                        </a:lnSpc>
                      </a:pPr>
                      <a:r>
                        <a:rPr lang="es-PE" sz="2000" b="1" strike="noStrike" spc="-1" dirty="0" err="1">
                          <a:solidFill>
                            <a:schemeClr val="bg2">
                              <a:lumMod val="25000"/>
                            </a:schemeClr>
                          </a:solidFill>
                          <a:latin typeface="Arial Narrow"/>
                        </a:rPr>
                        <a:t>P</a:t>
                      </a:r>
                      <a:r>
                        <a:rPr lang="es-PE" sz="2000" b="1" strike="noStrike" spc="-1" baseline="-30000" dirty="0" err="1">
                          <a:solidFill>
                            <a:schemeClr val="bg2">
                              <a:lumMod val="25000"/>
                            </a:schemeClr>
                          </a:solidFill>
                          <a:latin typeface="Arial Narrow"/>
                        </a:rPr>
                        <a:t>3</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r">
                        <a:lnSpc>
                          <a:spcPct val="95000"/>
                        </a:lnSpc>
                      </a:pPr>
                      <a:r>
                        <a:rPr lang="es-PE" sz="2000" b="1" strike="noStrike" spc="-1" dirty="0" err="1">
                          <a:solidFill>
                            <a:schemeClr val="bg2">
                              <a:lumMod val="25000"/>
                            </a:schemeClr>
                          </a:solidFill>
                          <a:latin typeface="Arial Narrow"/>
                        </a:rPr>
                        <a:t>P</a:t>
                      </a:r>
                      <a:r>
                        <a:rPr lang="es-PE" sz="2000" b="1" strike="noStrike" spc="-1" baseline="-30000" dirty="0" err="1">
                          <a:solidFill>
                            <a:schemeClr val="bg2">
                              <a:lumMod val="25000"/>
                            </a:schemeClr>
                          </a:solidFill>
                          <a:latin typeface="Arial Narrow"/>
                        </a:rPr>
                        <a:t>4</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extLst>
                  <a:ext uri="{0D108BD9-81ED-4DB2-BD59-A6C34878D82A}">
                    <a16:rowId xmlns:a16="http://schemas.microsoft.com/office/drawing/2014/main" val="10000"/>
                  </a:ext>
                </a:extLst>
              </a:tr>
              <a:tr h="628733">
                <a:tc>
                  <a:txBody>
                    <a:bodyPr/>
                    <a:lstStyle/>
                    <a:p>
                      <a:pPr algn="ctr">
                        <a:lnSpc>
                          <a:spcPct val="95000"/>
                        </a:lnSpc>
                      </a:pPr>
                      <a:r>
                        <a:rPr lang="es-PE" sz="2000" b="1" strike="noStrike" spc="-1" dirty="0">
                          <a:solidFill>
                            <a:schemeClr val="bg2">
                              <a:lumMod val="25000"/>
                            </a:schemeClr>
                          </a:solidFill>
                          <a:latin typeface="Arial Narrow"/>
                        </a:rPr>
                        <a:t>A</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10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ES" sz="2000" b="0" strike="noStrike" spc="-1" dirty="0">
                          <a:solidFill>
                            <a:schemeClr val="bg2">
                              <a:lumMod val="25000"/>
                            </a:schemeClr>
                          </a:solidFill>
                          <a:latin typeface="Arial"/>
                        </a:rPr>
                        <a:t>8</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ES" sz="2000" b="0" strike="noStrike" spc="-1" dirty="0">
                          <a:solidFill>
                            <a:schemeClr val="bg2">
                              <a:lumMod val="25000"/>
                            </a:schemeClr>
                          </a:solidFill>
                          <a:latin typeface="Arial"/>
                        </a:rPr>
                        <a:t>4</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tx1"/>
                    </a:solidFill>
                  </a:tcPr>
                </a:tc>
                <a:tc>
                  <a:txBody>
                    <a:bodyPr/>
                    <a:lstStyle/>
                    <a:p>
                      <a:pPr algn="ctr">
                        <a:lnSpc>
                          <a:spcPct val="95000"/>
                        </a:lnSpc>
                      </a:pPr>
                      <a:r>
                        <a:rPr lang="es-ES" sz="2000" b="0" strike="noStrike" spc="-1" dirty="0">
                          <a:solidFill>
                            <a:schemeClr val="bg2">
                              <a:lumMod val="25000"/>
                            </a:schemeClr>
                          </a:solidFill>
                          <a:latin typeface="Arial"/>
                        </a:rPr>
                        <a:t>45/0</a:t>
                      </a:r>
                      <a:endParaRPr lang="es-PE" sz="2000" b="0" strike="noStrike" spc="-1" dirty="0">
                        <a:solidFill>
                          <a:schemeClr val="bg2">
                            <a:lumMod val="25000"/>
                          </a:schemeClr>
                        </a:solidFill>
                        <a:latin typeface="Arial"/>
                      </a:endParaRPr>
                    </a:p>
                  </a:txBody>
                  <a:tcPr>
                    <a:lnL w="12240" cap="flat" cmpd="sng" algn="ctr">
                      <a:solidFill>
                        <a:srgbClr val="000000"/>
                      </a:solidFill>
                      <a:prstDash val="solid"/>
                      <a:round/>
                      <a:headEnd type="none" w="med" len="med"/>
                      <a:tailEnd type="none" w="med" len="med"/>
                    </a:lnL>
                    <a:lnR w="12240">
                      <a:solidFill>
                        <a:srgbClr val="000000"/>
                      </a:solidFill>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noFill/>
                  </a:tcPr>
                </a:tc>
                <a:tc>
                  <a:txBody>
                    <a:bodyPr/>
                    <a:lstStyle/>
                    <a:p>
                      <a:pPr algn="ctr">
                        <a:lnSpc>
                          <a:spcPct val="95000"/>
                        </a:lnSpc>
                      </a:pPr>
                      <a:r>
                        <a:rPr lang="es-ES" sz="2000" b="0" strike="noStrike" spc="-1" dirty="0">
                          <a:solidFill>
                            <a:schemeClr val="bg2">
                              <a:lumMod val="25000"/>
                            </a:schemeClr>
                          </a:solidFill>
                          <a:latin typeface="Arial"/>
                        </a:rPr>
                        <a:t>4</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2000" b="0" strike="noStrike" spc="-1" dirty="0">
                          <a:solidFill>
                            <a:schemeClr val="bg2">
                              <a:lumMod val="25000"/>
                            </a:schemeClr>
                          </a:solidFill>
                          <a:latin typeface="Arial"/>
                        </a:rPr>
                        <a:t>-</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2000" b="0" strike="noStrike" spc="-1" dirty="0">
                          <a:solidFill>
                            <a:schemeClr val="bg2">
                              <a:lumMod val="25000"/>
                            </a:schemeClr>
                          </a:solidFill>
                          <a:latin typeface="Arial"/>
                        </a:rPr>
                        <a:t>-</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628733">
                <a:tc>
                  <a:txBody>
                    <a:bodyPr/>
                    <a:lstStyle/>
                    <a:p>
                      <a:pPr algn="ctr">
                        <a:lnSpc>
                          <a:spcPct val="95000"/>
                        </a:lnSpc>
                      </a:pPr>
                      <a:r>
                        <a:rPr lang="es-PE" sz="2000" b="1" strike="noStrike" spc="-1" dirty="0">
                          <a:solidFill>
                            <a:schemeClr val="bg2">
                              <a:lumMod val="25000"/>
                            </a:schemeClr>
                          </a:solidFill>
                          <a:latin typeface="Arial Narrow"/>
                        </a:rPr>
                        <a:t>B</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9</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5</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7</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bg1"/>
                    </a:solidFill>
                  </a:tcPr>
                </a:tc>
                <a:tc>
                  <a:txBody>
                    <a:bodyPr/>
                    <a:lstStyle/>
                    <a:p>
                      <a:pPr algn="ctr">
                        <a:lnSpc>
                          <a:spcPct val="95000"/>
                        </a:lnSpc>
                      </a:pPr>
                      <a:r>
                        <a:rPr lang="es-ES" sz="2000" b="0" strike="noStrike" spc="-1" dirty="0">
                          <a:solidFill>
                            <a:schemeClr val="bg2">
                              <a:lumMod val="25000"/>
                            </a:schemeClr>
                          </a:solidFill>
                          <a:latin typeface="Arial"/>
                        </a:rPr>
                        <a:t>50</a:t>
                      </a:r>
                      <a:endParaRPr lang="es-PE" sz="2000" b="0" strike="noStrike" spc="-1" dirty="0">
                        <a:solidFill>
                          <a:schemeClr val="bg2">
                            <a:lumMod val="25000"/>
                          </a:schemeClr>
                        </a:solidFill>
                        <a:latin typeface="Arial"/>
                      </a:endParaRPr>
                    </a:p>
                  </a:txBody>
                  <a:tcPr>
                    <a:lnL w="12240" cap="flat" cmpd="sng" algn="ctr">
                      <a:solidFill>
                        <a:srgbClr val="000000"/>
                      </a:solidFill>
                      <a:prstDash val="solid"/>
                      <a:round/>
                      <a:headEnd type="none" w="med" len="med"/>
                      <a:tailEnd type="none" w="med" len="med"/>
                    </a:lnL>
                    <a:lnR w="12240">
                      <a:solidFill>
                        <a:srgbClr val="000000"/>
                      </a:solidFill>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noFill/>
                  </a:tcPr>
                </a:tc>
                <a:tc>
                  <a:txBody>
                    <a:bodyPr/>
                    <a:lstStyle/>
                    <a:p>
                      <a:pPr algn="ctr">
                        <a:lnSpc>
                          <a:spcPct val="95000"/>
                        </a:lnSpc>
                      </a:pPr>
                      <a:r>
                        <a:rPr lang="es-ES" sz="2000" b="0" strike="noStrike" spc="-1" dirty="0">
                          <a:solidFill>
                            <a:schemeClr val="bg2">
                              <a:lumMod val="25000"/>
                            </a:schemeClr>
                          </a:solidFill>
                          <a:latin typeface="Arial"/>
                        </a:rPr>
                        <a:t>2</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2000" b="0" strike="noStrike" spc="-1" dirty="0">
                          <a:solidFill>
                            <a:schemeClr val="bg2">
                              <a:lumMod val="25000"/>
                            </a:schemeClr>
                          </a:solidFill>
                          <a:latin typeface="Arial"/>
                        </a:rPr>
                        <a:t>2</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2000" b="0" strike="noStrike" spc="-1" dirty="0">
                          <a:solidFill>
                            <a:schemeClr val="bg2">
                              <a:lumMod val="25000"/>
                            </a:schemeClr>
                          </a:solidFill>
                          <a:latin typeface="Arial"/>
                        </a:rPr>
                        <a:t>2</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628733">
                <a:tc>
                  <a:txBody>
                    <a:bodyPr/>
                    <a:lstStyle/>
                    <a:p>
                      <a:pPr algn="ctr">
                        <a:lnSpc>
                          <a:spcPct val="95000"/>
                        </a:lnSpc>
                      </a:pPr>
                      <a:r>
                        <a:rPr lang="es-PE" sz="2000" b="1" strike="noStrike" spc="-1" dirty="0">
                          <a:solidFill>
                            <a:schemeClr val="bg2">
                              <a:lumMod val="25000"/>
                            </a:schemeClr>
                          </a:solidFill>
                          <a:latin typeface="Arial Narrow"/>
                        </a:rPr>
                        <a:t>C</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3</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ES" sz="2000" b="0" strike="noStrike" spc="-1" dirty="0">
                          <a:solidFill>
                            <a:schemeClr val="bg2">
                              <a:lumMod val="25000"/>
                            </a:schemeClr>
                          </a:solidFill>
                          <a:latin typeface="Arial"/>
                        </a:rPr>
                        <a:t>6</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ES" sz="2000" b="0" strike="noStrike" spc="-1" dirty="0">
                          <a:solidFill>
                            <a:schemeClr val="bg2">
                              <a:lumMod val="25000"/>
                            </a:schemeClr>
                          </a:solidFill>
                          <a:latin typeface="Arial"/>
                        </a:rPr>
                        <a:t>9</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tx1"/>
                    </a:solidFill>
                  </a:tcPr>
                </a:tc>
                <a:tc>
                  <a:txBody>
                    <a:bodyPr/>
                    <a:lstStyle/>
                    <a:p>
                      <a:pPr algn="ctr">
                        <a:lnSpc>
                          <a:spcPct val="95000"/>
                        </a:lnSpc>
                      </a:pPr>
                      <a:r>
                        <a:rPr lang="es-ES" sz="2000" b="0" strike="noStrike" spc="-1" dirty="0">
                          <a:solidFill>
                            <a:schemeClr val="bg2">
                              <a:lumMod val="25000"/>
                            </a:schemeClr>
                          </a:solidFill>
                          <a:latin typeface="Arial"/>
                        </a:rPr>
                        <a:t>45/0</a:t>
                      </a:r>
                      <a:endParaRPr lang="es-PE" sz="2000" b="0" strike="noStrike" spc="-1" dirty="0">
                        <a:solidFill>
                          <a:schemeClr val="bg2">
                            <a:lumMod val="25000"/>
                          </a:schemeClr>
                        </a:solidFill>
                        <a:latin typeface="Arial"/>
                      </a:endParaRPr>
                    </a:p>
                  </a:txBody>
                  <a:tcPr>
                    <a:lnL w="12240" cap="flat" cmpd="sng" algn="ctr">
                      <a:solidFill>
                        <a:srgbClr val="000000"/>
                      </a:solidFill>
                      <a:prstDash val="solid"/>
                      <a:round/>
                      <a:headEnd type="none" w="med" len="med"/>
                      <a:tailEnd type="none" w="med" len="med"/>
                    </a:lnL>
                    <a:lnR w="12240">
                      <a:solidFill>
                        <a:srgbClr val="000000"/>
                      </a:solidFill>
                    </a:lnR>
                    <a:lnT w="1224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ES" sz="2000" b="0" strike="noStrike" spc="-1" dirty="0">
                          <a:solidFill>
                            <a:schemeClr val="bg2">
                              <a:lumMod val="25000"/>
                            </a:schemeClr>
                          </a:solidFill>
                          <a:latin typeface="Arial"/>
                        </a:rPr>
                        <a:t>3</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ES" sz="2000" b="0" strike="noStrike" spc="-1" dirty="0">
                          <a:solidFill>
                            <a:schemeClr val="bg2">
                              <a:lumMod val="25000"/>
                            </a:schemeClr>
                          </a:solidFill>
                          <a:latin typeface="Arial"/>
                        </a:rPr>
                        <a:t>3</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ES" sz="2000" b="0" strike="noStrike" spc="-1" dirty="0">
                          <a:solidFill>
                            <a:schemeClr val="bg2">
                              <a:lumMod val="25000"/>
                            </a:schemeClr>
                          </a:solidFill>
                          <a:latin typeface="Arial"/>
                        </a:rPr>
                        <a:t>-</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endParaRPr lang="en-US" sz="2000"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628733">
                <a:tc>
                  <a:txBody>
                    <a:bodyPr/>
                    <a:lstStyle/>
                    <a:p>
                      <a:pPr algn="ctr">
                        <a:lnSpc>
                          <a:spcPct val="95000"/>
                        </a:lnSpc>
                      </a:pPr>
                      <a:r>
                        <a:rPr lang="es-PE" sz="2000" b="1" strike="noStrike" spc="-1" dirty="0">
                          <a:solidFill>
                            <a:schemeClr val="bg2">
                              <a:lumMod val="25000"/>
                            </a:schemeClr>
                          </a:solidFill>
                          <a:latin typeface="Arial Narrow"/>
                        </a:rPr>
                        <a:t>D</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5</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ES" sz="2000" b="0" strike="noStrike" spc="-1" dirty="0">
                          <a:solidFill>
                            <a:schemeClr val="bg2">
                              <a:lumMod val="25000"/>
                            </a:schemeClr>
                          </a:solidFill>
                          <a:latin typeface="Arial"/>
                        </a:rPr>
                        <a:t>7</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ES" sz="2000" b="0" strike="noStrike" spc="-1" dirty="0">
                          <a:solidFill>
                            <a:schemeClr val="bg2">
                              <a:lumMod val="25000"/>
                            </a:schemeClr>
                          </a:solidFill>
                          <a:latin typeface="Arial"/>
                        </a:rPr>
                        <a:t>6</a:t>
                      </a:r>
                      <a:endParaRPr lang="es-PE" sz="2000" b="0" strike="noStrike" spc="-1" dirty="0">
                        <a:solidFill>
                          <a:schemeClr val="bg2">
                            <a:lumMod val="25000"/>
                          </a:schemeClr>
                        </a:solidFill>
                        <a:latin typeface="Arial"/>
                      </a:endParaRPr>
                    </a:p>
                  </a:txBody>
                  <a:tcPr>
                    <a:lnL w="12240">
                      <a:solidFill>
                        <a:srgbClr val="000000"/>
                      </a:solidFill>
                    </a:lnL>
                    <a:lnR w="12700" cap="flat" cmpd="sng" algn="ctr">
                      <a:solidFill>
                        <a:schemeClr val="tx1"/>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solidFill>
                      <a:schemeClr val="tx1"/>
                    </a:solidFill>
                  </a:tcPr>
                </a:tc>
                <a:tc>
                  <a:txBody>
                    <a:bodyPr/>
                    <a:lstStyle/>
                    <a:p>
                      <a:pPr algn="ctr">
                        <a:lnSpc>
                          <a:spcPct val="95000"/>
                        </a:lnSpc>
                        <a:spcBef>
                          <a:spcPts val="1199"/>
                        </a:spcBef>
                      </a:pPr>
                      <a:r>
                        <a:rPr lang="es-ES" sz="2000" b="0" strike="noStrike" spc="-1" dirty="0">
                          <a:solidFill>
                            <a:schemeClr val="bg2">
                              <a:lumMod val="25000"/>
                            </a:schemeClr>
                          </a:solidFill>
                          <a:latin typeface="Arial"/>
                        </a:rPr>
                        <a:t>30/0</a:t>
                      </a:r>
                      <a:endParaRPr lang="es-PE" sz="2000" b="0" strike="noStrike" spc="-1" dirty="0">
                        <a:solidFill>
                          <a:schemeClr val="bg2">
                            <a:lumMod val="25000"/>
                          </a:schemeClr>
                        </a:solidFill>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ES" sz="2000" b="0" strike="noStrike" spc="-1" dirty="0">
                          <a:solidFill>
                            <a:schemeClr val="bg2">
                              <a:lumMod val="25000"/>
                            </a:schemeClr>
                          </a:solidFill>
                          <a:latin typeface="Arial"/>
                        </a:rPr>
                        <a:t>1</a:t>
                      </a:r>
                      <a:endParaRPr lang="es-PE" sz="2000" b="0" strike="noStrike" spc="-1" dirty="0">
                        <a:solidFill>
                          <a:schemeClr val="bg2">
                            <a:lumMod val="25000"/>
                          </a:schemeClr>
                        </a:solidFill>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dirty="0">
                        <a:solidFill>
                          <a:schemeClr val="bg2">
                            <a:lumMod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bg2">
                              <a:lumMod val="25000"/>
                            </a:schemeClr>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dirty="0">
                        <a:solidFill>
                          <a:schemeClr val="bg2">
                            <a:lumMod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715217">
                <a:tc>
                  <a:txBody>
                    <a:bodyPr/>
                    <a:lstStyle/>
                    <a:p>
                      <a:pPr algn="ctr">
                        <a:lnSpc>
                          <a:spcPct val="95000"/>
                        </a:lnSpc>
                      </a:pPr>
                      <a:r>
                        <a:rPr lang="es-PE" sz="2000" b="1" strike="noStrike" spc="-1" dirty="0">
                          <a:solidFill>
                            <a:schemeClr val="bg2">
                              <a:lumMod val="25000"/>
                            </a:schemeClr>
                          </a:solidFill>
                          <a:latin typeface="Arial Narrow"/>
                        </a:rPr>
                        <a:t>Demanda</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2000" b="0" strike="noStrike" spc="-1" dirty="0">
                          <a:solidFill>
                            <a:schemeClr val="bg2">
                              <a:lumMod val="25000"/>
                            </a:schemeClr>
                          </a:solidFill>
                          <a:latin typeface="Arial"/>
                        </a:rPr>
                        <a:t>90/45/15</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2000" b="0" strike="noStrike" spc="-1" dirty="0">
                          <a:solidFill>
                            <a:schemeClr val="bg2">
                              <a:lumMod val="25000"/>
                            </a:schemeClr>
                          </a:solidFill>
                          <a:latin typeface="Arial"/>
                        </a:rPr>
                        <a:t>30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2000" b="0" strike="noStrike" spc="-1" dirty="0">
                          <a:solidFill>
                            <a:schemeClr val="bg2">
                              <a:lumMod val="25000"/>
                            </a:schemeClr>
                          </a:solidFill>
                          <a:latin typeface="Arial"/>
                        </a:rPr>
                        <a:t>50/5</a:t>
                      </a:r>
                      <a:endParaRPr lang="es-PE" sz="2000" b="0" strike="noStrike" spc="-1" dirty="0">
                        <a:solidFill>
                          <a:schemeClr val="bg2">
                            <a:lumMod val="25000"/>
                          </a:schemeClr>
                        </a:solidFill>
                        <a:latin typeface="Arial"/>
                      </a:endParaRPr>
                    </a:p>
                  </a:txBody>
                  <a:tcPr>
                    <a:lnL w="12240">
                      <a:solidFill>
                        <a:srgbClr val="000000"/>
                      </a:solidFill>
                    </a:lnL>
                    <a:lnR w="12240" cap="flat" cmpd="sng" algn="ctr">
                      <a:solidFill>
                        <a:srgbClr val="1D528D"/>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tc>
                  <a:txBody>
                    <a:bodyPr/>
                    <a:lstStyle/>
                    <a:p>
                      <a:endParaRPr lang="en-US" sz="2000" dirty="0">
                        <a:solidFill>
                          <a:schemeClr val="bg2">
                            <a:lumMod val="25000"/>
                          </a:schemeClr>
                        </a:solidFill>
                      </a:endParaRPr>
                    </a:p>
                  </a:txBody>
                  <a:tcPr>
                    <a:lnL w="12240" cap="flat" cmpd="sng" algn="ctr">
                      <a:solidFill>
                        <a:srgbClr val="1D528D"/>
                      </a:solidFill>
                      <a:prstDash val="solid"/>
                      <a:round/>
                      <a:headEnd type="none" w="med" len="med"/>
                      <a:tailEnd type="none" w="med" len="med"/>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sz="2000" dirty="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sz="200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sz="2000" dirty="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sz="2000" dirty="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extLst>
                  <a:ext uri="{0D108BD9-81ED-4DB2-BD59-A6C34878D82A}">
                    <a16:rowId xmlns:a16="http://schemas.microsoft.com/office/drawing/2014/main" val="10005"/>
                  </a:ext>
                </a:extLst>
              </a:tr>
            </a:tbl>
          </a:graphicData>
        </a:graphic>
      </p:graphicFrame>
      <p:sp>
        <p:nvSpPr>
          <p:cNvPr id="1013" name="CustomShape 3"/>
          <p:cNvSpPr/>
          <p:nvPr/>
        </p:nvSpPr>
        <p:spPr>
          <a:xfrm>
            <a:off x="1524000" y="277488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1014" name="Table 4"/>
          <p:cNvGraphicFramePr/>
          <p:nvPr>
            <p:extLst>
              <p:ext uri="{D42A27DB-BD31-4B8C-83A1-F6EECF244321}">
                <p14:modId xmlns:p14="http://schemas.microsoft.com/office/powerpoint/2010/main" val="2517658983"/>
              </p:ext>
            </p:extLst>
          </p:nvPr>
        </p:nvGraphicFramePr>
        <p:xfrm>
          <a:off x="1991544" y="5136988"/>
          <a:ext cx="4131670" cy="1690126"/>
        </p:xfrm>
        <a:graphic>
          <a:graphicData uri="http://schemas.openxmlformats.org/drawingml/2006/table">
            <a:tbl>
              <a:tblPr/>
              <a:tblGrid>
                <a:gridCol w="1152128">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998849">
                  <a:extLst>
                    <a:ext uri="{9D8B030D-6E8A-4147-A177-3AD203B41FA5}">
                      <a16:colId xmlns:a16="http://schemas.microsoft.com/office/drawing/2014/main" val="20002"/>
                    </a:ext>
                  </a:extLst>
                </a:gridCol>
                <a:gridCol w="1044589">
                  <a:extLst>
                    <a:ext uri="{9D8B030D-6E8A-4147-A177-3AD203B41FA5}">
                      <a16:colId xmlns:a16="http://schemas.microsoft.com/office/drawing/2014/main" val="20003"/>
                    </a:ext>
                  </a:extLst>
                </a:gridCol>
              </a:tblGrid>
              <a:tr h="346201">
                <a:tc>
                  <a:txBody>
                    <a:bodyPr/>
                    <a:lstStyle/>
                    <a:p>
                      <a:pPr algn="ctr">
                        <a:lnSpc>
                          <a:spcPct val="95000"/>
                        </a:lnSpc>
                      </a:pPr>
                      <a:r>
                        <a:rPr lang="es-PE" sz="1800" b="1" strike="noStrike" spc="-1" dirty="0" err="1">
                          <a:solidFill>
                            <a:schemeClr val="bg2">
                              <a:lumMod val="25000"/>
                            </a:schemeClr>
                          </a:solidFill>
                          <a:latin typeface="Arial Narrow"/>
                        </a:rPr>
                        <a:t>P</a:t>
                      </a:r>
                      <a:r>
                        <a:rPr lang="es-PE" sz="1800" b="1" strike="noStrike" spc="-1" baseline="-30000" dirty="0" err="1">
                          <a:solidFill>
                            <a:schemeClr val="bg2">
                              <a:lumMod val="25000"/>
                            </a:schemeClr>
                          </a:solidFill>
                          <a:latin typeface="Arial Narrow"/>
                        </a:rPr>
                        <a:t>1</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1800" b="0" strike="noStrike" spc="-1" dirty="0">
                          <a:solidFill>
                            <a:schemeClr val="bg2">
                              <a:lumMod val="25000"/>
                            </a:schemeClr>
                          </a:solidFill>
                          <a:latin typeface="Arial"/>
                        </a:rPr>
                        <a:t>2</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1800" b="0" strike="noStrike" spc="-1" dirty="0">
                          <a:solidFill>
                            <a:schemeClr val="bg2">
                              <a:lumMod val="25000"/>
                            </a:schemeClr>
                          </a:solidFill>
                          <a:latin typeface="Arial"/>
                        </a:rPr>
                        <a:t>1</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1800" b="0" strike="noStrike" spc="-1" dirty="0">
                          <a:solidFill>
                            <a:schemeClr val="bg2">
                              <a:lumMod val="25000"/>
                            </a:schemeClr>
                          </a:solidFill>
                          <a:latin typeface="Arial"/>
                        </a:rPr>
                        <a:t>2</a:t>
                      </a:r>
                      <a:endParaRPr lang="es-PE" sz="18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346201">
                <a:tc>
                  <a:txBody>
                    <a:bodyPr/>
                    <a:lstStyle/>
                    <a:p>
                      <a:pPr algn="ctr">
                        <a:lnSpc>
                          <a:spcPct val="95000"/>
                        </a:lnSpc>
                      </a:pPr>
                      <a:r>
                        <a:rPr lang="es-PE" sz="1800" b="1" strike="noStrike" spc="-1" dirty="0" err="1">
                          <a:solidFill>
                            <a:schemeClr val="bg2">
                              <a:lumMod val="25000"/>
                            </a:schemeClr>
                          </a:solidFill>
                          <a:latin typeface="Arial Narrow"/>
                        </a:rPr>
                        <a:t>P</a:t>
                      </a:r>
                      <a:r>
                        <a:rPr lang="es-PE" sz="1800" b="1" strike="noStrike" spc="-1" baseline="-30000" dirty="0" err="1">
                          <a:solidFill>
                            <a:schemeClr val="bg2">
                              <a:lumMod val="25000"/>
                            </a:schemeClr>
                          </a:solidFill>
                          <a:latin typeface="Arial Narrow"/>
                        </a:rPr>
                        <a:t>2</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pPr>
                      <a:r>
                        <a:rPr lang="es-ES" sz="1800" b="0" strike="noStrike" spc="-1" dirty="0">
                          <a:solidFill>
                            <a:schemeClr val="bg2">
                              <a:lumMod val="25000"/>
                            </a:schemeClr>
                          </a:solidFill>
                          <a:latin typeface="Arial"/>
                        </a:rPr>
                        <a:t>2</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1800" b="0" strike="noStrike" spc="-1" dirty="0">
                          <a:solidFill>
                            <a:schemeClr val="bg2">
                              <a:lumMod val="25000"/>
                            </a:schemeClr>
                          </a:solidFill>
                          <a:latin typeface="Arial"/>
                        </a:rPr>
                        <a:t>1</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1800" b="0" strike="noStrike" spc="-1" dirty="0">
                          <a:solidFill>
                            <a:schemeClr val="bg2">
                              <a:lumMod val="25000"/>
                            </a:schemeClr>
                          </a:solidFill>
                          <a:latin typeface="Arial"/>
                        </a:rPr>
                        <a:t>1</a:t>
                      </a:r>
                      <a:endParaRPr lang="es-PE" sz="1800" b="0" strike="noStrike" spc="-1" dirty="0">
                        <a:solidFill>
                          <a:schemeClr val="bg2">
                            <a:lumMod val="25000"/>
                          </a:schemeClr>
                        </a:solidFill>
                        <a:latin typeface="Aria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346201">
                <a:tc>
                  <a:txBody>
                    <a:bodyPr/>
                    <a:lstStyle/>
                    <a:p>
                      <a:pPr algn="ctr">
                        <a:lnSpc>
                          <a:spcPct val="95000"/>
                        </a:lnSpc>
                      </a:pPr>
                      <a:r>
                        <a:rPr lang="es-PE" sz="1800" b="1" strike="noStrike" spc="-1" dirty="0" err="1">
                          <a:solidFill>
                            <a:schemeClr val="bg2">
                              <a:lumMod val="25000"/>
                            </a:schemeClr>
                          </a:solidFill>
                          <a:latin typeface="Arial Narrow"/>
                        </a:rPr>
                        <a:t>P</a:t>
                      </a:r>
                      <a:r>
                        <a:rPr lang="es-PE" sz="1800" b="1" strike="noStrike" spc="-1" baseline="-30000" dirty="0" err="1">
                          <a:solidFill>
                            <a:schemeClr val="bg2">
                              <a:lumMod val="25000"/>
                            </a:schemeClr>
                          </a:solidFill>
                          <a:latin typeface="Arial Narrow"/>
                        </a:rPr>
                        <a:t>3</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spcBef>
                          <a:spcPts val="1199"/>
                        </a:spcBef>
                      </a:pPr>
                      <a:r>
                        <a:rPr lang="es-ES" sz="1800" b="0" strike="noStrike" spc="-1" dirty="0">
                          <a:solidFill>
                            <a:schemeClr val="bg2">
                              <a:lumMod val="25000"/>
                            </a:schemeClr>
                          </a:solidFill>
                          <a:latin typeface="Arial"/>
                        </a:rPr>
                        <a:t>4</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ES" sz="1800" b="0" strike="noStrike" spc="-1" dirty="0">
                          <a:solidFill>
                            <a:schemeClr val="bg2">
                              <a:lumMod val="25000"/>
                            </a:schemeClr>
                          </a:solidFill>
                          <a:latin typeface="Arial"/>
                        </a:rPr>
                        <a:t>2</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r>
                        <a:rPr lang="en-US" sz="1800" dirty="0">
                          <a:solidFill>
                            <a:schemeClr val="bg2">
                              <a:lumMod val="25000"/>
                            </a:schemeClr>
                          </a:solidFill>
                        </a:rPr>
                        <a:t>1</a:t>
                      </a: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620278">
                <a:tc>
                  <a:txBody>
                    <a:bodyPr/>
                    <a:lstStyle/>
                    <a:p>
                      <a:pPr algn="ctr">
                        <a:lnSpc>
                          <a:spcPct val="95000"/>
                        </a:lnSpc>
                      </a:pPr>
                      <a:r>
                        <a:rPr lang="es-PE" sz="1800" b="1" strike="noStrike" spc="-1" dirty="0" err="1">
                          <a:solidFill>
                            <a:schemeClr val="bg2">
                              <a:lumMod val="25000"/>
                            </a:schemeClr>
                          </a:solidFill>
                          <a:latin typeface="Arial Narrow"/>
                        </a:rPr>
                        <a:t>P</a:t>
                      </a:r>
                      <a:r>
                        <a:rPr lang="es-PE" sz="1800" b="1" strike="noStrike" spc="-1" baseline="-30000" dirty="0" err="1">
                          <a:solidFill>
                            <a:schemeClr val="bg2">
                              <a:lumMod val="25000"/>
                            </a:schemeClr>
                          </a:solidFill>
                          <a:latin typeface="Arial Narrow"/>
                        </a:rPr>
                        <a:t>4</a:t>
                      </a: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4">
                        <a:lumMod val="40000"/>
                        <a:lumOff val="60000"/>
                      </a:schemeClr>
                    </a:solidFill>
                  </a:tcPr>
                </a:tc>
                <a:tc>
                  <a:txBody>
                    <a:bodyPr/>
                    <a:lstStyle/>
                    <a:p>
                      <a:pPr algn="ctr">
                        <a:lnSpc>
                          <a:spcPct val="95000"/>
                        </a:lnSpc>
                        <a:spcBef>
                          <a:spcPts val="1199"/>
                        </a:spcBef>
                      </a:pP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endParaRPr lang="es-PE" sz="18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1800" dirty="0">
                        <a:solidFill>
                          <a:schemeClr val="bg2">
                            <a:lumMod val="25000"/>
                          </a:schemeClr>
                        </a:solidFill>
                      </a:endParaRPr>
                    </a:p>
                  </a:txBody>
                  <a:tcPr>
                    <a:lnL w="12240">
                      <a:solidFill>
                        <a:srgbClr val="000000"/>
                      </a:solidFill>
                    </a:lnL>
                    <a:lnR w="12240" cap="flat" cmpd="sng" algn="ctr">
                      <a:solidFill>
                        <a:srgbClr val="000000"/>
                      </a:solidFill>
                      <a:prstDash val="solid"/>
                      <a:round/>
                      <a:headEnd type="none" w="med" len="med"/>
                      <a:tailEnd type="none" w="med" len="med"/>
                    </a:lnR>
                    <a:lnT w="12240">
                      <a:solidFill>
                        <a:srgbClr val="000000"/>
                      </a:solidFill>
                    </a:lnT>
                    <a:lnB w="1224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grpSp>
        <p:nvGrpSpPr>
          <p:cNvPr id="4" name="Grupo 3">
            <a:extLst>
              <a:ext uri="{FF2B5EF4-FFF2-40B4-BE49-F238E27FC236}">
                <a16:creationId xmlns:a16="http://schemas.microsoft.com/office/drawing/2014/main" id="{61CA720A-D2EC-4EA1-915B-CF7945364ED8}"/>
              </a:ext>
            </a:extLst>
          </p:cNvPr>
          <p:cNvGrpSpPr/>
          <p:nvPr/>
        </p:nvGrpSpPr>
        <p:grpSpPr>
          <a:xfrm>
            <a:off x="7810680" y="4572549"/>
            <a:ext cx="2356920" cy="2284541"/>
            <a:chOff x="7810680" y="4572549"/>
            <a:chExt cx="2356920" cy="2284541"/>
          </a:xfrm>
        </p:grpSpPr>
        <p:sp>
          <p:nvSpPr>
            <p:cNvPr id="5" name="Forma libre: forma 4">
              <a:extLst>
                <a:ext uri="{FF2B5EF4-FFF2-40B4-BE49-F238E27FC236}">
                  <a16:creationId xmlns:a16="http://schemas.microsoft.com/office/drawing/2014/main" id="{C015ADE6-856A-4CE0-994C-B178665B197C}"/>
                </a:ext>
              </a:extLst>
            </p:cNvPr>
            <p:cNvSpPr/>
            <p:nvPr/>
          </p:nvSpPr>
          <p:spPr>
            <a:xfrm>
              <a:off x="7810680" y="4572549"/>
              <a:ext cx="2356920" cy="359340"/>
            </a:xfrm>
            <a:custGeom>
              <a:avLst/>
              <a:gdLst>
                <a:gd name="connsiteX0" fmla="*/ 0 w 2356920"/>
                <a:gd name="connsiteY0" fmla="*/ 59891 h 359340"/>
                <a:gd name="connsiteX1" fmla="*/ 59891 w 2356920"/>
                <a:gd name="connsiteY1" fmla="*/ 0 h 359340"/>
                <a:gd name="connsiteX2" fmla="*/ 2297029 w 2356920"/>
                <a:gd name="connsiteY2" fmla="*/ 0 h 359340"/>
                <a:gd name="connsiteX3" fmla="*/ 2356920 w 2356920"/>
                <a:gd name="connsiteY3" fmla="*/ 59891 h 359340"/>
                <a:gd name="connsiteX4" fmla="*/ 2356920 w 2356920"/>
                <a:gd name="connsiteY4" fmla="*/ 299449 h 359340"/>
                <a:gd name="connsiteX5" fmla="*/ 2297029 w 2356920"/>
                <a:gd name="connsiteY5" fmla="*/ 359340 h 359340"/>
                <a:gd name="connsiteX6" fmla="*/ 59891 w 2356920"/>
                <a:gd name="connsiteY6" fmla="*/ 359340 h 359340"/>
                <a:gd name="connsiteX7" fmla="*/ 0 w 2356920"/>
                <a:gd name="connsiteY7" fmla="*/ 299449 h 359340"/>
                <a:gd name="connsiteX8" fmla="*/ 0 w 2356920"/>
                <a:gd name="connsiteY8" fmla="*/ 59891 h 359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920" h="359340">
                  <a:moveTo>
                    <a:pt x="0" y="59891"/>
                  </a:moveTo>
                  <a:cubicBezTo>
                    <a:pt x="0" y="26814"/>
                    <a:pt x="26814" y="0"/>
                    <a:pt x="59891" y="0"/>
                  </a:cubicBezTo>
                  <a:lnTo>
                    <a:pt x="2297029" y="0"/>
                  </a:lnTo>
                  <a:cubicBezTo>
                    <a:pt x="2330106" y="0"/>
                    <a:pt x="2356920" y="26814"/>
                    <a:pt x="2356920" y="59891"/>
                  </a:cubicBezTo>
                  <a:lnTo>
                    <a:pt x="2356920" y="299449"/>
                  </a:lnTo>
                  <a:cubicBezTo>
                    <a:pt x="2356920" y="332526"/>
                    <a:pt x="2330106" y="359340"/>
                    <a:pt x="2297029" y="359340"/>
                  </a:cubicBezTo>
                  <a:lnTo>
                    <a:pt x="59891" y="359340"/>
                  </a:lnTo>
                  <a:cubicBezTo>
                    <a:pt x="26814" y="359340"/>
                    <a:pt x="0" y="332526"/>
                    <a:pt x="0" y="299449"/>
                  </a:cubicBezTo>
                  <a:lnTo>
                    <a:pt x="0" y="5989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6122" tIns="86122" rIns="86122" bIns="86122" numCol="1" spcCol="1270" anchor="ctr" anchorCtr="0">
              <a:noAutofit/>
            </a:bodyPr>
            <a:lstStyle/>
            <a:p>
              <a:pPr marL="0" lvl="0" indent="0" algn="l" defTabSz="800100" rtl="0">
                <a:lnSpc>
                  <a:spcPct val="90000"/>
                </a:lnSpc>
                <a:spcBef>
                  <a:spcPct val="0"/>
                </a:spcBef>
                <a:spcAft>
                  <a:spcPct val="35000"/>
                </a:spcAft>
                <a:buNone/>
              </a:pPr>
              <a:r>
                <a:rPr lang="es-ES" sz="1800" kern="1200" dirty="0" err="1"/>
                <a:t>X13</a:t>
              </a:r>
              <a:r>
                <a:rPr lang="es-ES" sz="1800" kern="1200" dirty="0"/>
                <a:t>=</a:t>
              </a:r>
              <a:r>
                <a:rPr lang="es-ES" sz="1800" kern="1200" dirty="0" err="1"/>
                <a:t>45</a:t>
              </a:r>
              <a:r>
                <a:rPr lang="es-ES" sz="1800" kern="1200" dirty="0" err="1">
                  <a:sym typeface="Wingdings" panose="05000000000000000000" pitchFamily="2" charset="2"/>
                </a:rPr>
                <a:t>C</a:t>
              </a:r>
              <a:r>
                <a:rPr lang="es-ES" sz="1800" kern="1200" dirty="0">
                  <a:sym typeface="Wingdings" panose="05000000000000000000" pitchFamily="2" charset="2"/>
                </a:rPr>
                <a:t>=45*4=180</a:t>
              </a:r>
              <a:endParaRPr lang="es-PE" sz="1800" kern="1200" dirty="0"/>
            </a:p>
          </p:txBody>
        </p:sp>
        <p:sp>
          <p:nvSpPr>
            <p:cNvPr id="6" name="Forma libre: forma 5">
              <a:extLst>
                <a:ext uri="{FF2B5EF4-FFF2-40B4-BE49-F238E27FC236}">
                  <a16:creationId xmlns:a16="http://schemas.microsoft.com/office/drawing/2014/main" id="{718F4697-0B85-4188-8976-9614C5EE33E1}"/>
                </a:ext>
              </a:extLst>
            </p:cNvPr>
            <p:cNvSpPr/>
            <p:nvPr/>
          </p:nvSpPr>
          <p:spPr>
            <a:xfrm>
              <a:off x="7810680" y="4943843"/>
              <a:ext cx="2356920" cy="359340"/>
            </a:xfrm>
            <a:custGeom>
              <a:avLst/>
              <a:gdLst>
                <a:gd name="connsiteX0" fmla="*/ 0 w 2356920"/>
                <a:gd name="connsiteY0" fmla="*/ 59891 h 359340"/>
                <a:gd name="connsiteX1" fmla="*/ 59891 w 2356920"/>
                <a:gd name="connsiteY1" fmla="*/ 0 h 359340"/>
                <a:gd name="connsiteX2" fmla="*/ 2297029 w 2356920"/>
                <a:gd name="connsiteY2" fmla="*/ 0 h 359340"/>
                <a:gd name="connsiteX3" fmla="*/ 2356920 w 2356920"/>
                <a:gd name="connsiteY3" fmla="*/ 59891 h 359340"/>
                <a:gd name="connsiteX4" fmla="*/ 2356920 w 2356920"/>
                <a:gd name="connsiteY4" fmla="*/ 299449 h 359340"/>
                <a:gd name="connsiteX5" fmla="*/ 2297029 w 2356920"/>
                <a:gd name="connsiteY5" fmla="*/ 359340 h 359340"/>
                <a:gd name="connsiteX6" fmla="*/ 59891 w 2356920"/>
                <a:gd name="connsiteY6" fmla="*/ 359340 h 359340"/>
                <a:gd name="connsiteX7" fmla="*/ 0 w 2356920"/>
                <a:gd name="connsiteY7" fmla="*/ 299449 h 359340"/>
                <a:gd name="connsiteX8" fmla="*/ 0 w 2356920"/>
                <a:gd name="connsiteY8" fmla="*/ 59891 h 359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920" h="359340">
                  <a:moveTo>
                    <a:pt x="0" y="59891"/>
                  </a:moveTo>
                  <a:cubicBezTo>
                    <a:pt x="0" y="26814"/>
                    <a:pt x="26814" y="0"/>
                    <a:pt x="59891" y="0"/>
                  </a:cubicBezTo>
                  <a:lnTo>
                    <a:pt x="2297029" y="0"/>
                  </a:lnTo>
                  <a:cubicBezTo>
                    <a:pt x="2330106" y="0"/>
                    <a:pt x="2356920" y="26814"/>
                    <a:pt x="2356920" y="59891"/>
                  </a:cubicBezTo>
                  <a:lnTo>
                    <a:pt x="2356920" y="299449"/>
                  </a:lnTo>
                  <a:cubicBezTo>
                    <a:pt x="2356920" y="332526"/>
                    <a:pt x="2330106" y="359340"/>
                    <a:pt x="2297029" y="359340"/>
                  </a:cubicBezTo>
                  <a:lnTo>
                    <a:pt x="59891" y="359340"/>
                  </a:lnTo>
                  <a:cubicBezTo>
                    <a:pt x="26814" y="359340"/>
                    <a:pt x="0" y="332526"/>
                    <a:pt x="0" y="299449"/>
                  </a:cubicBezTo>
                  <a:lnTo>
                    <a:pt x="0" y="5989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6122" tIns="86122" rIns="86122" bIns="86122" numCol="1" spcCol="1270" anchor="ctr" anchorCtr="0">
              <a:noAutofit/>
            </a:bodyPr>
            <a:lstStyle/>
            <a:p>
              <a:pPr marL="0" lvl="0" indent="0" algn="l" defTabSz="800100" rtl="0">
                <a:lnSpc>
                  <a:spcPct val="90000"/>
                </a:lnSpc>
                <a:spcBef>
                  <a:spcPct val="0"/>
                </a:spcBef>
                <a:spcAft>
                  <a:spcPct val="35000"/>
                </a:spcAft>
                <a:buNone/>
              </a:pPr>
              <a:r>
                <a:rPr lang="es-ES" sz="1800" kern="1200" dirty="0" err="1"/>
                <a:t>X31</a:t>
              </a:r>
              <a:r>
                <a:rPr lang="es-ES" sz="1800" kern="1200" dirty="0"/>
                <a:t>=</a:t>
              </a:r>
              <a:r>
                <a:rPr lang="es-ES" sz="1800" kern="1200" dirty="0" err="1"/>
                <a:t>45</a:t>
              </a:r>
              <a:r>
                <a:rPr lang="es-ES" sz="1800" kern="1200" dirty="0" err="1">
                  <a:sym typeface="Wingdings" panose="05000000000000000000" pitchFamily="2" charset="2"/>
                </a:rPr>
                <a:t>C</a:t>
              </a:r>
              <a:r>
                <a:rPr lang="es-ES" sz="1800" kern="1200" dirty="0">
                  <a:sym typeface="Wingdings" panose="05000000000000000000" pitchFamily="2" charset="2"/>
                </a:rPr>
                <a:t>=45*3=135</a:t>
              </a:r>
              <a:endParaRPr lang="es-PE" sz="1800" kern="1200" dirty="0"/>
            </a:p>
          </p:txBody>
        </p:sp>
        <p:sp>
          <p:nvSpPr>
            <p:cNvPr id="7" name="Forma libre: forma 6">
              <a:extLst>
                <a:ext uri="{FF2B5EF4-FFF2-40B4-BE49-F238E27FC236}">
                  <a16:creationId xmlns:a16="http://schemas.microsoft.com/office/drawing/2014/main" id="{041646B6-4A30-44EF-80ED-56387DCCF5F7}"/>
                </a:ext>
              </a:extLst>
            </p:cNvPr>
            <p:cNvSpPr/>
            <p:nvPr/>
          </p:nvSpPr>
          <p:spPr>
            <a:xfrm>
              <a:off x="7810680" y="5315137"/>
              <a:ext cx="2356920" cy="359340"/>
            </a:xfrm>
            <a:custGeom>
              <a:avLst/>
              <a:gdLst>
                <a:gd name="connsiteX0" fmla="*/ 0 w 2356920"/>
                <a:gd name="connsiteY0" fmla="*/ 59891 h 359340"/>
                <a:gd name="connsiteX1" fmla="*/ 59891 w 2356920"/>
                <a:gd name="connsiteY1" fmla="*/ 0 h 359340"/>
                <a:gd name="connsiteX2" fmla="*/ 2297029 w 2356920"/>
                <a:gd name="connsiteY2" fmla="*/ 0 h 359340"/>
                <a:gd name="connsiteX3" fmla="*/ 2356920 w 2356920"/>
                <a:gd name="connsiteY3" fmla="*/ 59891 h 359340"/>
                <a:gd name="connsiteX4" fmla="*/ 2356920 w 2356920"/>
                <a:gd name="connsiteY4" fmla="*/ 299449 h 359340"/>
                <a:gd name="connsiteX5" fmla="*/ 2297029 w 2356920"/>
                <a:gd name="connsiteY5" fmla="*/ 359340 h 359340"/>
                <a:gd name="connsiteX6" fmla="*/ 59891 w 2356920"/>
                <a:gd name="connsiteY6" fmla="*/ 359340 h 359340"/>
                <a:gd name="connsiteX7" fmla="*/ 0 w 2356920"/>
                <a:gd name="connsiteY7" fmla="*/ 299449 h 359340"/>
                <a:gd name="connsiteX8" fmla="*/ 0 w 2356920"/>
                <a:gd name="connsiteY8" fmla="*/ 59891 h 359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920" h="359340">
                  <a:moveTo>
                    <a:pt x="0" y="59891"/>
                  </a:moveTo>
                  <a:cubicBezTo>
                    <a:pt x="0" y="26814"/>
                    <a:pt x="26814" y="0"/>
                    <a:pt x="59891" y="0"/>
                  </a:cubicBezTo>
                  <a:lnTo>
                    <a:pt x="2297029" y="0"/>
                  </a:lnTo>
                  <a:cubicBezTo>
                    <a:pt x="2330106" y="0"/>
                    <a:pt x="2356920" y="26814"/>
                    <a:pt x="2356920" y="59891"/>
                  </a:cubicBezTo>
                  <a:lnTo>
                    <a:pt x="2356920" y="299449"/>
                  </a:lnTo>
                  <a:cubicBezTo>
                    <a:pt x="2356920" y="332526"/>
                    <a:pt x="2330106" y="359340"/>
                    <a:pt x="2297029" y="359340"/>
                  </a:cubicBezTo>
                  <a:lnTo>
                    <a:pt x="59891" y="359340"/>
                  </a:lnTo>
                  <a:cubicBezTo>
                    <a:pt x="26814" y="359340"/>
                    <a:pt x="0" y="332526"/>
                    <a:pt x="0" y="299449"/>
                  </a:cubicBezTo>
                  <a:lnTo>
                    <a:pt x="0" y="5989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6122" tIns="86122" rIns="86122" bIns="86122" numCol="1" spcCol="1270" anchor="ctr" anchorCtr="0">
              <a:noAutofit/>
            </a:bodyPr>
            <a:lstStyle/>
            <a:p>
              <a:pPr marL="0" lvl="0" indent="0" algn="l" defTabSz="800100" rtl="0">
                <a:lnSpc>
                  <a:spcPct val="90000"/>
                </a:lnSpc>
                <a:spcBef>
                  <a:spcPct val="0"/>
                </a:spcBef>
                <a:spcAft>
                  <a:spcPct val="35000"/>
                </a:spcAft>
                <a:buNone/>
              </a:pPr>
              <a:r>
                <a:rPr lang="es-ES" sz="1800" kern="1200" dirty="0" err="1"/>
                <a:t>X41</a:t>
              </a:r>
              <a:r>
                <a:rPr lang="es-ES" sz="1800" kern="1200" dirty="0"/>
                <a:t>=</a:t>
              </a:r>
              <a:r>
                <a:rPr lang="es-ES" sz="1800" kern="1200" dirty="0" err="1"/>
                <a:t>30</a:t>
              </a:r>
              <a:r>
                <a:rPr lang="es-ES" sz="1800" kern="1200" dirty="0" err="1">
                  <a:sym typeface="Wingdings" panose="05000000000000000000" pitchFamily="2" charset="2"/>
                </a:rPr>
                <a:t>C</a:t>
              </a:r>
              <a:r>
                <a:rPr lang="es-ES" sz="1800" kern="1200" dirty="0">
                  <a:sym typeface="Wingdings" panose="05000000000000000000" pitchFamily="2" charset="2"/>
                </a:rPr>
                <a:t>=30*5=150</a:t>
              </a:r>
              <a:endParaRPr lang="es-PE" sz="1800" kern="1200" dirty="0"/>
            </a:p>
          </p:txBody>
        </p:sp>
        <p:sp>
          <p:nvSpPr>
            <p:cNvPr id="12" name="Forma libre: forma 11">
              <a:extLst>
                <a:ext uri="{FF2B5EF4-FFF2-40B4-BE49-F238E27FC236}">
                  <a16:creationId xmlns:a16="http://schemas.microsoft.com/office/drawing/2014/main" id="{E886BF60-CFA6-47DF-9E9B-B07CFAD7F769}"/>
                </a:ext>
              </a:extLst>
            </p:cNvPr>
            <p:cNvSpPr/>
            <p:nvPr/>
          </p:nvSpPr>
          <p:spPr>
            <a:xfrm>
              <a:off x="7810680" y="6788360"/>
              <a:ext cx="2356920" cy="68730"/>
            </a:xfrm>
            <a:custGeom>
              <a:avLst/>
              <a:gdLst>
                <a:gd name="connsiteX0" fmla="*/ 0 w 2356920"/>
                <a:gd name="connsiteY0" fmla="*/ 0 h 68730"/>
                <a:gd name="connsiteX1" fmla="*/ 2356920 w 2356920"/>
                <a:gd name="connsiteY1" fmla="*/ 0 h 68730"/>
                <a:gd name="connsiteX2" fmla="*/ 2356920 w 2356920"/>
                <a:gd name="connsiteY2" fmla="*/ 68730 h 68730"/>
                <a:gd name="connsiteX3" fmla="*/ 0 w 2356920"/>
                <a:gd name="connsiteY3" fmla="*/ 68730 h 68730"/>
                <a:gd name="connsiteX4" fmla="*/ 0 w 2356920"/>
                <a:gd name="connsiteY4" fmla="*/ 0 h 68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6920" h="68730">
                  <a:moveTo>
                    <a:pt x="0" y="0"/>
                  </a:moveTo>
                  <a:lnTo>
                    <a:pt x="2356920" y="0"/>
                  </a:lnTo>
                  <a:lnTo>
                    <a:pt x="2356920" y="68730"/>
                  </a:lnTo>
                  <a:lnTo>
                    <a:pt x="0" y="6873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4832" tIns="22860" rIns="128016" bIns="22860" numCol="1" spcCol="1270" anchor="t" anchorCtr="0">
              <a:noAutofit/>
            </a:bodyPr>
            <a:lstStyle/>
            <a:p>
              <a:pPr marL="171450" lvl="1" indent="-171450" algn="l" defTabSz="800100" rtl="0">
                <a:lnSpc>
                  <a:spcPct val="90000"/>
                </a:lnSpc>
                <a:spcBef>
                  <a:spcPct val="0"/>
                </a:spcBef>
                <a:spcAft>
                  <a:spcPct val="20000"/>
                </a:spcAft>
                <a:buChar char="•"/>
              </a:pPr>
              <a:endParaRPr lang="es-PE" sz="1800" kern="1200"/>
            </a:p>
          </p:txBody>
        </p:sp>
      </p:grpSp>
      <p:sp>
        <p:nvSpPr>
          <p:cNvPr id="8" name="CustomShape 5">
            <a:extLst>
              <a:ext uri="{FF2B5EF4-FFF2-40B4-BE49-F238E27FC236}">
                <a16:creationId xmlns:a16="http://schemas.microsoft.com/office/drawing/2014/main" id="{54E3C167-328B-4F8C-8D92-3147DE697B13}"/>
              </a:ext>
            </a:extLst>
          </p:cNvPr>
          <p:cNvSpPr/>
          <p:nvPr/>
        </p:nvSpPr>
        <p:spPr>
          <a:xfrm>
            <a:off x="6096000" y="163488"/>
            <a:ext cx="6096000" cy="56304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lnSpc>
                <a:spcPts val="5800"/>
              </a:lnSpc>
              <a:spcBef>
                <a:spcPct val="0"/>
              </a:spcBef>
            </a:pPr>
            <a:r>
              <a:rPr lang="es-PE" sz="3200" dirty="0">
                <a:solidFill>
                  <a:schemeClr val="bg1"/>
                </a:solidFill>
                <a:effectLst>
                  <a:outerShdw blurRad="63500" dist="38100" dir="5400000" algn="t" rotWithShape="0">
                    <a:prstClr val="black">
                      <a:alpha val="25000"/>
                    </a:prstClr>
                  </a:outerShdw>
                </a:effectLst>
                <a:latin typeface="Bauhaus 93" pitchFamily="82" charset="0"/>
              </a:rPr>
              <a:t>Método Vogel</a:t>
            </a:r>
          </a:p>
        </p:txBody>
      </p:sp>
      <p:sp>
        <p:nvSpPr>
          <p:cNvPr id="3" name="Elipse 2">
            <a:extLst>
              <a:ext uri="{FF2B5EF4-FFF2-40B4-BE49-F238E27FC236}">
                <a16:creationId xmlns:a16="http://schemas.microsoft.com/office/drawing/2014/main" id="{638BA7FD-1B0A-484A-87AA-4CE31FF44589}"/>
              </a:ext>
            </a:extLst>
          </p:cNvPr>
          <p:cNvSpPr/>
          <p:nvPr/>
        </p:nvSpPr>
        <p:spPr>
          <a:xfrm>
            <a:off x="10420714" y="4986067"/>
            <a:ext cx="1442487" cy="14503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Z=785</a:t>
            </a:r>
            <a:endParaRPr lang="es-PE" sz="2400" dirty="0"/>
          </a:p>
        </p:txBody>
      </p:sp>
      <p:sp>
        <p:nvSpPr>
          <p:cNvPr id="17" name="Forma libre: forma 16">
            <a:extLst>
              <a:ext uri="{FF2B5EF4-FFF2-40B4-BE49-F238E27FC236}">
                <a16:creationId xmlns:a16="http://schemas.microsoft.com/office/drawing/2014/main" id="{5C8B6802-38F2-431A-A830-FC6F09A96526}"/>
              </a:ext>
            </a:extLst>
          </p:cNvPr>
          <p:cNvSpPr/>
          <p:nvPr/>
        </p:nvSpPr>
        <p:spPr>
          <a:xfrm>
            <a:off x="7810680" y="5686431"/>
            <a:ext cx="2356920" cy="359340"/>
          </a:xfrm>
          <a:custGeom>
            <a:avLst/>
            <a:gdLst>
              <a:gd name="connsiteX0" fmla="*/ 0 w 2356920"/>
              <a:gd name="connsiteY0" fmla="*/ 59891 h 359340"/>
              <a:gd name="connsiteX1" fmla="*/ 59891 w 2356920"/>
              <a:gd name="connsiteY1" fmla="*/ 0 h 359340"/>
              <a:gd name="connsiteX2" fmla="*/ 2297029 w 2356920"/>
              <a:gd name="connsiteY2" fmla="*/ 0 h 359340"/>
              <a:gd name="connsiteX3" fmla="*/ 2356920 w 2356920"/>
              <a:gd name="connsiteY3" fmla="*/ 59891 h 359340"/>
              <a:gd name="connsiteX4" fmla="*/ 2356920 w 2356920"/>
              <a:gd name="connsiteY4" fmla="*/ 299449 h 359340"/>
              <a:gd name="connsiteX5" fmla="*/ 2297029 w 2356920"/>
              <a:gd name="connsiteY5" fmla="*/ 359340 h 359340"/>
              <a:gd name="connsiteX6" fmla="*/ 59891 w 2356920"/>
              <a:gd name="connsiteY6" fmla="*/ 359340 h 359340"/>
              <a:gd name="connsiteX7" fmla="*/ 0 w 2356920"/>
              <a:gd name="connsiteY7" fmla="*/ 299449 h 359340"/>
              <a:gd name="connsiteX8" fmla="*/ 0 w 2356920"/>
              <a:gd name="connsiteY8" fmla="*/ 59891 h 359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920" h="359340">
                <a:moveTo>
                  <a:pt x="0" y="59891"/>
                </a:moveTo>
                <a:cubicBezTo>
                  <a:pt x="0" y="26814"/>
                  <a:pt x="26814" y="0"/>
                  <a:pt x="59891" y="0"/>
                </a:cubicBezTo>
                <a:lnTo>
                  <a:pt x="2297029" y="0"/>
                </a:lnTo>
                <a:cubicBezTo>
                  <a:pt x="2330106" y="0"/>
                  <a:pt x="2356920" y="26814"/>
                  <a:pt x="2356920" y="59891"/>
                </a:cubicBezTo>
                <a:lnTo>
                  <a:pt x="2356920" y="299449"/>
                </a:lnTo>
                <a:cubicBezTo>
                  <a:pt x="2356920" y="332526"/>
                  <a:pt x="2330106" y="359340"/>
                  <a:pt x="2297029" y="359340"/>
                </a:cubicBezTo>
                <a:lnTo>
                  <a:pt x="59891" y="359340"/>
                </a:lnTo>
                <a:cubicBezTo>
                  <a:pt x="26814" y="359340"/>
                  <a:pt x="0" y="332526"/>
                  <a:pt x="0" y="299449"/>
                </a:cubicBezTo>
                <a:lnTo>
                  <a:pt x="0" y="5989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6122" tIns="86122" rIns="86122" bIns="86122" numCol="1" spcCol="1270" anchor="ctr" anchorCtr="0">
            <a:noAutofit/>
          </a:bodyPr>
          <a:lstStyle/>
          <a:p>
            <a:pPr marL="0" lvl="0" indent="0" algn="l" defTabSz="800100" rtl="0">
              <a:lnSpc>
                <a:spcPct val="90000"/>
              </a:lnSpc>
              <a:spcBef>
                <a:spcPct val="0"/>
              </a:spcBef>
              <a:spcAft>
                <a:spcPct val="35000"/>
              </a:spcAft>
              <a:buNone/>
            </a:pPr>
            <a:r>
              <a:rPr lang="es-ES" sz="1800" kern="1200" dirty="0" err="1"/>
              <a:t>X21</a:t>
            </a:r>
            <a:r>
              <a:rPr lang="es-ES" sz="1800" kern="1200" dirty="0"/>
              <a:t>=</a:t>
            </a:r>
            <a:r>
              <a:rPr lang="es-ES" sz="1800" kern="1200" dirty="0" err="1"/>
              <a:t>15</a:t>
            </a:r>
            <a:r>
              <a:rPr lang="es-ES" sz="1800" kern="1200" dirty="0" err="1">
                <a:sym typeface="Wingdings" panose="05000000000000000000" pitchFamily="2" charset="2"/>
              </a:rPr>
              <a:t>C</a:t>
            </a:r>
            <a:r>
              <a:rPr lang="es-ES" sz="1800" kern="1200" dirty="0">
                <a:sym typeface="Wingdings" panose="05000000000000000000" pitchFamily="2" charset="2"/>
              </a:rPr>
              <a:t>=15*9=135</a:t>
            </a:r>
            <a:endParaRPr lang="es-PE" sz="1800" kern="1200" dirty="0"/>
          </a:p>
        </p:txBody>
      </p:sp>
      <p:sp>
        <p:nvSpPr>
          <p:cNvPr id="18" name="Forma libre: forma 17">
            <a:extLst>
              <a:ext uri="{FF2B5EF4-FFF2-40B4-BE49-F238E27FC236}">
                <a16:creationId xmlns:a16="http://schemas.microsoft.com/office/drawing/2014/main" id="{5FB945AE-4DDF-4E90-93E7-61EC57D4FF17}"/>
              </a:ext>
            </a:extLst>
          </p:cNvPr>
          <p:cNvSpPr/>
          <p:nvPr/>
        </p:nvSpPr>
        <p:spPr>
          <a:xfrm>
            <a:off x="7810680" y="6057725"/>
            <a:ext cx="2356920" cy="359340"/>
          </a:xfrm>
          <a:custGeom>
            <a:avLst/>
            <a:gdLst>
              <a:gd name="connsiteX0" fmla="*/ 0 w 2356920"/>
              <a:gd name="connsiteY0" fmla="*/ 59891 h 359340"/>
              <a:gd name="connsiteX1" fmla="*/ 59891 w 2356920"/>
              <a:gd name="connsiteY1" fmla="*/ 0 h 359340"/>
              <a:gd name="connsiteX2" fmla="*/ 2297029 w 2356920"/>
              <a:gd name="connsiteY2" fmla="*/ 0 h 359340"/>
              <a:gd name="connsiteX3" fmla="*/ 2356920 w 2356920"/>
              <a:gd name="connsiteY3" fmla="*/ 59891 h 359340"/>
              <a:gd name="connsiteX4" fmla="*/ 2356920 w 2356920"/>
              <a:gd name="connsiteY4" fmla="*/ 299449 h 359340"/>
              <a:gd name="connsiteX5" fmla="*/ 2297029 w 2356920"/>
              <a:gd name="connsiteY5" fmla="*/ 359340 h 359340"/>
              <a:gd name="connsiteX6" fmla="*/ 59891 w 2356920"/>
              <a:gd name="connsiteY6" fmla="*/ 359340 h 359340"/>
              <a:gd name="connsiteX7" fmla="*/ 0 w 2356920"/>
              <a:gd name="connsiteY7" fmla="*/ 299449 h 359340"/>
              <a:gd name="connsiteX8" fmla="*/ 0 w 2356920"/>
              <a:gd name="connsiteY8" fmla="*/ 59891 h 359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920" h="359340">
                <a:moveTo>
                  <a:pt x="0" y="59891"/>
                </a:moveTo>
                <a:cubicBezTo>
                  <a:pt x="0" y="26814"/>
                  <a:pt x="26814" y="0"/>
                  <a:pt x="59891" y="0"/>
                </a:cubicBezTo>
                <a:lnTo>
                  <a:pt x="2297029" y="0"/>
                </a:lnTo>
                <a:cubicBezTo>
                  <a:pt x="2330106" y="0"/>
                  <a:pt x="2356920" y="26814"/>
                  <a:pt x="2356920" y="59891"/>
                </a:cubicBezTo>
                <a:lnTo>
                  <a:pt x="2356920" y="299449"/>
                </a:lnTo>
                <a:cubicBezTo>
                  <a:pt x="2356920" y="332526"/>
                  <a:pt x="2330106" y="359340"/>
                  <a:pt x="2297029" y="359340"/>
                </a:cubicBezTo>
                <a:lnTo>
                  <a:pt x="59891" y="359340"/>
                </a:lnTo>
                <a:cubicBezTo>
                  <a:pt x="26814" y="359340"/>
                  <a:pt x="0" y="332526"/>
                  <a:pt x="0" y="299449"/>
                </a:cubicBezTo>
                <a:lnTo>
                  <a:pt x="0" y="5989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6122" tIns="86122" rIns="86122" bIns="86122" numCol="1" spcCol="1270" anchor="ctr" anchorCtr="0">
            <a:noAutofit/>
          </a:bodyPr>
          <a:lstStyle/>
          <a:p>
            <a:pPr marL="0" lvl="0" indent="0" algn="l" defTabSz="800100">
              <a:lnSpc>
                <a:spcPct val="90000"/>
              </a:lnSpc>
              <a:spcBef>
                <a:spcPct val="0"/>
              </a:spcBef>
              <a:spcAft>
                <a:spcPct val="35000"/>
              </a:spcAft>
              <a:buNone/>
            </a:pPr>
            <a:r>
              <a:rPr lang="es-ES" sz="1800" kern="1200" dirty="0" err="1"/>
              <a:t>X22</a:t>
            </a:r>
            <a:r>
              <a:rPr lang="es-ES" sz="1800" kern="1200" dirty="0"/>
              <a:t>=</a:t>
            </a:r>
            <a:r>
              <a:rPr lang="es-ES" sz="1800" kern="1200" dirty="0" err="1"/>
              <a:t>30</a:t>
            </a:r>
            <a:r>
              <a:rPr lang="es-ES" sz="1800" kern="1200" dirty="0" err="1">
                <a:sym typeface="Wingdings" panose="05000000000000000000" pitchFamily="2" charset="2"/>
              </a:rPr>
              <a:t>C</a:t>
            </a:r>
            <a:r>
              <a:rPr lang="es-ES" sz="1800" kern="1200" dirty="0">
                <a:sym typeface="Wingdings" panose="05000000000000000000" pitchFamily="2" charset="2"/>
              </a:rPr>
              <a:t>=30*5=150</a:t>
            </a:r>
            <a:endParaRPr lang="es-PE" sz="1800" kern="1200" dirty="0"/>
          </a:p>
        </p:txBody>
      </p:sp>
      <p:sp>
        <p:nvSpPr>
          <p:cNvPr id="19" name="Forma libre: forma 18">
            <a:extLst>
              <a:ext uri="{FF2B5EF4-FFF2-40B4-BE49-F238E27FC236}">
                <a16:creationId xmlns:a16="http://schemas.microsoft.com/office/drawing/2014/main" id="{D296B434-BFD4-43A5-9E4C-CC63A0BF2BEE}"/>
              </a:ext>
            </a:extLst>
          </p:cNvPr>
          <p:cNvSpPr/>
          <p:nvPr/>
        </p:nvSpPr>
        <p:spPr>
          <a:xfrm>
            <a:off x="7810680" y="6429019"/>
            <a:ext cx="2356920" cy="359340"/>
          </a:xfrm>
          <a:custGeom>
            <a:avLst/>
            <a:gdLst>
              <a:gd name="connsiteX0" fmla="*/ 0 w 2356920"/>
              <a:gd name="connsiteY0" fmla="*/ 59891 h 359340"/>
              <a:gd name="connsiteX1" fmla="*/ 59891 w 2356920"/>
              <a:gd name="connsiteY1" fmla="*/ 0 h 359340"/>
              <a:gd name="connsiteX2" fmla="*/ 2297029 w 2356920"/>
              <a:gd name="connsiteY2" fmla="*/ 0 h 359340"/>
              <a:gd name="connsiteX3" fmla="*/ 2356920 w 2356920"/>
              <a:gd name="connsiteY3" fmla="*/ 59891 h 359340"/>
              <a:gd name="connsiteX4" fmla="*/ 2356920 w 2356920"/>
              <a:gd name="connsiteY4" fmla="*/ 299449 h 359340"/>
              <a:gd name="connsiteX5" fmla="*/ 2297029 w 2356920"/>
              <a:gd name="connsiteY5" fmla="*/ 359340 h 359340"/>
              <a:gd name="connsiteX6" fmla="*/ 59891 w 2356920"/>
              <a:gd name="connsiteY6" fmla="*/ 359340 h 359340"/>
              <a:gd name="connsiteX7" fmla="*/ 0 w 2356920"/>
              <a:gd name="connsiteY7" fmla="*/ 299449 h 359340"/>
              <a:gd name="connsiteX8" fmla="*/ 0 w 2356920"/>
              <a:gd name="connsiteY8" fmla="*/ 59891 h 359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920" h="359340">
                <a:moveTo>
                  <a:pt x="0" y="59891"/>
                </a:moveTo>
                <a:cubicBezTo>
                  <a:pt x="0" y="26814"/>
                  <a:pt x="26814" y="0"/>
                  <a:pt x="59891" y="0"/>
                </a:cubicBezTo>
                <a:lnTo>
                  <a:pt x="2297029" y="0"/>
                </a:lnTo>
                <a:cubicBezTo>
                  <a:pt x="2330106" y="0"/>
                  <a:pt x="2356920" y="26814"/>
                  <a:pt x="2356920" y="59891"/>
                </a:cubicBezTo>
                <a:lnTo>
                  <a:pt x="2356920" y="299449"/>
                </a:lnTo>
                <a:cubicBezTo>
                  <a:pt x="2356920" y="332526"/>
                  <a:pt x="2330106" y="359340"/>
                  <a:pt x="2297029" y="359340"/>
                </a:cubicBezTo>
                <a:lnTo>
                  <a:pt x="59891" y="359340"/>
                </a:lnTo>
                <a:cubicBezTo>
                  <a:pt x="26814" y="359340"/>
                  <a:pt x="0" y="332526"/>
                  <a:pt x="0" y="299449"/>
                </a:cubicBezTo>
                <a:lnTo>
                  <a:pt x="0" y="5989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6122" tIns="86122" rIns="86122" bIns="86122" numCol="1" spcCol="1270" anchor="ctr" anchorCtr="0">
            <a:noAutofit/>
          </a:bodyPr>
          <a:lstStyle/>
          <a:p>
            <a:pPr marL="0" lvl="0" indent="0" algn="l" defTabSz="800100">
              <a:lnSpc>
                <a:spcPct val="90000"/>
              </a:lnSpc>
              <a:spcBef>
                <a:spcPct val="0"/>
              </a:spcBef>
              <a:spcAft>
                <a:spcPct val="35000"/>
              </a:spcAft>
              <a:buNone/>
            </a:pPr>
            <a:r>
              <a:rPr lang="es-ES" sz="1800" kern="1200" dirty="0" err="1"/>
              <a:t>X23</a:t>
            </a:r>
            <a:r>
              <a:rPr lang="es-ES" sz="1800" kern="1200" dirty="0"/>
              <a:t>=5   </a:t>
            </a:r>
            <a:r>
              <a:rPr lang="es-ES" sz="1800" kern="1200" dirty="0">
                <a:sym typeface="Wingdings" panose="05000000000000000000" pitchFamily="2" charset="2"/>
              </a:rPr>
              <a:t>C=5*7=  35</a:t>
            </a:r>
            <a:endParaRPr lang="es-PE" sz="1800" kern="1200" dirty="0"/>
          </a:p>
        </p:txBody>
      </p:sp>
      <p:sp>
        <p:nvSpPr>
          <p:cNvPr id="2" name="CuadroTexto 1">
            <a:extLst>
              <a:ext uri="{FF2B5EF4-FFF2-40B4-BE49-F238E27FC236}">
                <a16:creationId xmlns:a16="http://schemas.microsoft.com/office/drawing/2014/main" id="{B4C77798-7971-79DB-7A80-BD790D390F73}"/>
              </a:ext>
            </a:extLst>
          </p:cNvPr>
          <p:cNvSpPr txBox="1"/>
          <p:nvPr/>
        </p:nvSpPr>
        <p:spPr>
          <a:xfrm>
            <a:off x="258793" y="2191109"/>
            <a:ext cx="1380226" cy="646331"/>
          </a:xfrm>
          <a:prstGeom prst="rect">
            <a:avLst/>
          </a:prstGeom>
          <a:solidFill>
            <a:srgbClr val="FFFF00"/>
          </a:solidFill>
        </p:spPr>
        <p:txBody>
          <a:bodyPr wrap="square" rtlCol="0">
            <a:spAutoFit/>
          </a:bodyPr>
          <a:lstStyle/>
          <a:p>
            <a:r>
              <a:rPr lang="es-ES" b="1" dirty="0"/>
              <a:t>Hallamos las penalidades</a:t>
            </a:r>
          </a:p>
        </p:txBody>
      </p:sp>
      <p:sp>
        <p:nvSpPr>
          <p:cNvPr id="9" name="Rectángulo 8">
            <a:extLst>
              <a:ext uri="{FF2B5EF4-FFF2-40B4-BE49-F238E27FC236}">
                <a16:creationId xmlns:a16="http://schemas.microsoft.com/office/drawing/2014/main" id="{A26AE9DB-EC4D-3555-9B1C-9C11F6BE16E0}"/>
              </a:ext>
            </a:extLst>
          </p:cNvPr>
          <p:cNvSpPr/>
          <p:nvPr/>
        </p:nvSpPr>
        <p:spPr>
          <a:xfrm>
            <a:off x="258136" y="3054556"/>
            <a:ext cx="1372258" cy="923330"/>
          </a:xfrm>
          <a:prstGeom prst="rect">
            <a:avLst/>
          </a:prstGeom>
          <a:solidFill>
            <a:srgbClr val="FFFF00"/>
          </a:solidFill>
        </p:spPr>
        <p:txBody>
          <a:bodyPr wrap="square">
            <a:spAutoFit/>
          </a:bodyPr>
          <a:lstStyle/>
          <a:p>
            <a:r>
              <a:rPr lang="es-ES" b="1" dirty="0"/>
              <a:t>Hallamos la mayor penalidad</a:t>
            </a:r>
            <a:endParaRPr lang="es-PE" b="1" dirty="0"/>
          </a:p>
        </p:txBody>
      </p:sp>
      <p:sp>
        <p:nvSpPr>
          <p:cNvPr id="10" name="CuadroTexto 9">
            <a:extLst>
              <a:ext uri="{FF2B5EF4-FFF2-40B4-BE49-F238E27FC236}">
                <a16:creationId xmlns:a16="http://schemas.microsoft.com/office/drawing/2014/main" id="{708200AE-DA3E-7A0C-DAC2-CA4BF413F5B6}"/>
              </a:ext>
            </a:extLst>
          </p:cNvPr>
          <p:cNvSpPr txBox="1"/>
          <p:nvPr/>
        </p:nvSpPr>
        <p:spPr>
          <a:xfrm>
            <a:off x="264551" y="4198193"/>
            <a:ext cx="1380226" cy="646331"/>
          </a:xfrm>
          <a:prstGeom prst="rect">
            <a:avLst/>
          </a:prstGeom>
          <a:solidFill>
            <a:srgbClr val="FFFF00"/>
          </a:solidFill>
        </p:spPr>
        <p:txBody>
          <a:bodyPr wrap="square" rtlCol="0">
            <a:spAutoFit/>
          </a:bodyPr>
          <a:lstStyle/>
          <a:p>
            <a:r>
              <a:rPr lang="es-ES" b="1" dirty="0"/>
              <a:t>Hallamos el menor costo</a:t>
            </a:r>
          </a:p>
        </p:txBody>
      </p:sp>
      <p:sp>
        <p:nvSpPr>
          <p:cNvPr id="11" name="CuadroTexto 10">
            <a:extLst>
              <a:ext uri="{FF2B5EF4-FFF2-40B4-BE49-F238E27FC236}">
                <a16:creationId xmlns:a16="http://schemas.microsoft.com/office/drawing/2014/main" id="{414821C6-291F-1DB0-65E5-EA47A8EEC26A}"/>
              </a:ext>
            </a:extLst>
          </p:cNvPr>
          <p:cNvSpPr txBox="1"/>
          <p:nvPr/>
        </p:nvSpPr>
        <p:spPr>
          <a:xfrm>
            <a:off x="264551" y="5086705"/>
            <a:ext cx="1380226" cy="646331"/>
          </a:xfrm>
          <a:prstGeom prst="rect">
            <a:avLst/>
          </a:prstGeom>
          <a:solidFill>
            <a:srgbClr val="FFFF00"/>
          </a:solidFill>
        </p:spPr>
        <p:txBody>
          <a:bodyPr wrap="square" rtlCol="0">
            <a:spAutoFit/>
          </a:bodyPr>
          <a:lstStyle/>
          <a:p>
            <a:r>
              <a:rPr lang="es-ES" b="1" dirty="0"/>
              <a:t>Anotamos la operación</a:t>
            </a:r>
          </a:p>
        </p:txBody>
      </p:sp>
      <p:sp>
        <p:nvSpPr>
          <p:cNvPr id="13" name="Globo: flecha hacia abajo 12">
            <a:extLst>
              <a:ext uri="{FF2B5EF4-FFF2-40B4-BE49-F238E27FC236}">
                <a16:creationId xmlns:a16="http://schemas.microsoft.com/office/drawing/2014/main" id="{BD47D50A-7AE1-B2C8-078C-164D27AA4FE4}"/>
              </a:ext>
            </a:extLst>
          </p:cNvPr>
          <p:cNvSpPr/>
          <p:nvPr/>
        </p:nvSpPr>
        <p:spPr>
          <a:xfrm>
            <a:off x="276044" y="1276709"/>
            <a:ext cx="1345721" cy="897148"/>
          </a:xfrm>
          <a:prstGeom prst="downArrowCallou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rgbClr val="FF0000"/>
                </a:solidFill>
              </a:rPr>
              <a:t>Pasos:</a:t>
            </a:r>
            <a:endParaRPr lang="es-PE" sz="2400" dirty="0">
              <a:solidFill>
                <a:srgbClr val="FF0000"/>
              </a:solidFill>
            </a:endParaRPr>
          </a:p>
        </p:txBody>
      </p:sp>
    </p:spTree>
    <p:extLst>
      <p:ext uri="{BB962C8B-B14F-4D97-AF65-F5344CB8AC3E}">
        <p14:creationId xmlns:p14="http://schemas.microsoft.com/office/powerpoint/2010/main" val="1288268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5"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2000"/>
                                        <p:tgtEl>
                                          <p:spTgt spid="3"/>
                                        </p:tgtEl>
                                      </p:cBhvr>
                                    </p:animEffect>
                                    <p:anim calcmode="lin" valueType="num">
                                      <p:cBhvr>
                                        <p:cTn id="16" dur="2000" fill="hold"/>
                                        <p:tgtEl>
                                          <p:spTgt spid="3"/>
                                        </p:tgtEl>
                                        <p:attrNameLst>
                                          <p:attrName>ppt_w</p:attrName>
                                        </p:attrNameLst>
                                      </p:cBhvr>
                                      <p:tavLst>
                                        <p:tav tm="0" fmla="#ppt_w*sin(2.5*pi*$)">
                                          <p:val>
                                            <p:fltVal val="0"/>
                                          </p:val>
                                        </p:tav>
                                        <p:tav tm="100000">
                                          <p:val>
                                            <p:fltVal val="1"/>
                                          </p:val>
                                        </p:tav>
                                      </p:tavLst>
                                    </p:anim>
                                    <p:anim calcmode="lin" valueType="num">
                                      <p:cBhvr>
                                        <p:cTn id="17" dur="20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9" grpId="0" animBg="1"/>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a 1"/>
          <p:cNvGraphicFramePr/>
          <p:nvPr/>
        </p:nvGraphicFramePr>
        <p:xfrm>
          <a:off x="340429" y="1345721"/>
          <a:ext cx="5755571" cy="54001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CustomShape 2">
            <a:extLst>
              <a:ext uri="{FF2B5EF4-FFF2-40B4-BE49-F238E27FC236}">
                <a16:creationId xmlns:a16="http://schemas.microsoft.com/office/drawing/2014/main" id="{CFFFDEA5-1499-4B45-80E3-1E144658AD68}"/>
              </a:ext>
            </a:extLst>
          </p:cNvPr>
          <p:cNvSpPr/>
          <p:nvPr/>
        </p:nvSpPr>
        <p:spPr>
          <a:xfrm>
            <a:off x="6096000" y="278627"/>
            <a:ext cx="6096000" cy="480498"/>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lnSpc>
                <a:spcPts val="5800"/>
              </a:lnSpc>
              <a:spcBef>
                <a:spcPct val="0"/>
              </a:spcBef>
            </a:pPr>
            <a:r>
              <a:rPr lang="es-PE" sz="3200" dirty="0">
                <a:solidFill>
                  <a:schemeClr val="bg1"/>
                </a:solidFill>
                <a:effectLst>
                  <a:outerShdw blurRad="63500" dist="38100" dir="5400000" algn="t" rotWithShape="0">
                    <a:prstClr val="black">
                      <a:alpha val="25000"/>
                    </a:prstClr>
                  </a:outerShdw>
                </a:effectLst>
                <a:latin typeface="Bauhaus 93" pitchFamily="82" charset="0"/>
              </a:rPr>
              <a:t>Problema 4</a:t>
            </a:r>
          </a:p>
        </p:txBody>
      </p:sp>
      <p:graphicFrame>
        <p:nvGraphicFramePr>
          <p:cNvPr id="5" name="Table 3">
            <a:extLst>
              <a:ext uri="{FF2B5EF4-FFF2-40B4-BE49-F238E27FC236}">
                <a16:creationId xmlns:a16="http://schemas.microsoft.com/office/drawing/2014/main" id="{FC95A7B4-C4A4-4C78-A1B8-D13D4DD82F67}"/>
              </a:ext>
            </a:extLst>
          </p:cNvPr>
          <p:cNvGraphicFramePr/>
          <p:nvPr/>
        </p:nvGraphicFramePr>
        <p:xfrm>
          <a:off x="6832112" y="2205000"/>
          <a:ext cx="5020574" cy="3154977"/>
        </p:xfrm>
        <a:graphic>
          <a:graphicData uri="http://schemas.openxmlformats.org/drawingml/2006/table">
            <a:tbl>
              <a:tblPr/>
              <a:tblGrid>
                <a:gridCol w="1513538">
                  <a:extLst>
                    <a:ext uri="{9D8B030D-6E8A-4147-A177-3AD203B41FA5}">
                      <a16:colId xmlns:a16="http://schemas.microsoft.com/office/drawing/2014/main" val="20000"/>
                    </a:ext>
                  </a:extLst>
                </a:gridCol>
                <a:gridCol w="632728">
                  <a:extLst>
                    <a:ext uri="{9D8B030D-6E8A-4147-A177-3AD203B41FA5}">
                      <a16:colId xmlns:a16="http://schemas.microsoft.com/office/drawing/2014/main" val="20001"/>
                    </a:ext>
                  </a:extLst>
                </a:gridCol>
                <a:gridCol w="621391">
                  <a:extLst>
                    <a:ext uri="{9D8B030D-6E8A-4147-A177-3AD203B41FA5}">
                      <a16:colId xmlns:a16="http://schemas.microsoft.com/office/drawing/2014/main" val="20002"/>
                    </a:ext>
                  </a:extLst>
                </a:gridCol>
                <a:gridCol w="621391">
                  <a:extLst>
                    <a:ext uri="{9D8B030D-6E8A-4147-A177-3AD203B41FA5}">
                      <a16:colId xmlns:a16="http://schemas.microsoft.com/office/drawing/2014/main" val="20003"/>
                    </a:ext>
                  </a:extLst>
                </a:gridCol>
                <a:gridCol w="630862">
                  <a:extLst>
                    <a:ext uri="{9D8B030D-6E8A-4147-A177-3AD203B41FA5}">
                      <a16:colId xmlns:a16="http://schemas.microsoft.com/office/drawing/2014/main" val="20004"/>
                    </a:ext>
                  </a:extLst>
                </a:gridCol>
                <a:gridCol w="1000664">
                  <a:extLst>
                    <a:ext uri="{9D8B030D-6E8A-4147-A177-3AD203B41FA5}">
                      <a16:colId xmlns:a16="http://schemas.microsoft.com/office/drawing/2014/main" val="20005"/>
                    </a:ext>
                  </a:extLst>
                </a:gridCol>
              </a:tblGrid>
              <a:tr h="779740">
                <a:tc>
                  <a:txBody>
                    <a:bodyPr/>
                    <a:lstStyle/>
                    <a:p>
                      <a:pPr algn="ctr">
                        <a:lnSpc>
                          <a:spcPct val="95000"/>
                        </a:lnSpc>
                      </a:pPr>
                      <a:r>
                        <a:rPr lang="es-PE" sz="2400" b="1" strike="noStrike" spc="-1" dirty="0">
                          <a:solidFill>
                            <a:schemeClr val="bg2">
                              <a:lumMod val="25000"/>
                            </a:schemeClr>
                          </a:solidFill>
                          <a:latin typeface="Arial Narrow" panose="020B0606020202030204" pitchFamily="34" charset="0"/>
                        </a:rPr>
                        <a:t>Mayoristas</a:t>
                      </a:r>
                      <a:endParaRPr lang="es-PE" sz="2400" b="0" strike="noStrike" spc="-1" dirty="0">
                        <a:solidFill>
                          <a:schemeClr val="bg2">
                            <a:lumMod val="25000"/>
                          </a:schemeClr>
                        </a:solidFill>
                        <a:latin typeface="Arial Narrow" panose="020B0606020202030204" pitchFamily="34" charset="0"/>
                      </a:endParaRPr>
                    </a:p>
                    <a:p>
                      <a:pPr algn="ctr">
                        <a:lnSpc>
                          <a:spcPct val="95000"/>
                        </a:lnSpc>
                      </a:pPr>
                      <a:r>
                        <a:rPr lang="es-PE" sz="2400" b="1" strike="noStrike" spc="-1" dirty="0">
                          <a:solidFill>
                            <a:schemeClr val="bg2">
                              <a:lumMod val="25000"/>
                            </a:schemeClr>
                          </a:solidFill>
                          <a:latin typeface="Arial Narrow" panose="020B0606020202030204" pitchFamily="34" charset="0"/>
                        </a:rPr>
                        <a:t>Fábricas</a:t>
                      </a:r>
                      <a:endParaRPr lang="es-PE" sz="2400" b="0" strike="noStrike" spc="-1" dirty="0">
                        <a:solidFill>
                          <a:schemeClr val="bg2">
                            <a:lumMod val="25000"/>
                          </a:schemeClr>
                        </a:solidFill>
                        <a:latin typeface="Arial Narrow" panose="020B0606020202030204" pitchFamily="34" charset="0"/>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panose="020B0606020202030204" pitchFamily="34" charset="0"/>
                        </a:rPr>
                        <a:t>A</a:t>
                      </a:r>
                      <a:endParaRPr lang="es-PE" sz="2400" b="0" strike="noStrike" spc="-1">
                        <a:solidFill>
                          <a:schemeClr val="bg2">
                            <a:lumMod val="25000"/>
                          </a:schemeClr>
                        </a:solidFill>
                        <a:latin typeface="Arial Narrow" panose="020B0606020202030204" pitchFamily="34" charset="0"/>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panose="020B0606020202030204" pitchFamily="34" charset="0"/>
                        </a:rPr>
                        <a:t>B</a:t>
                      </a:r>
                      <a:endParaRPr lang="es-PE" sz="2400" b="0" strike="noStrike" spc="-1">
                        <a:solidFill>
                          <a:schemeClr val="bg2">
                            <a:lumMod val="25000"/>
                          </a:schemeClr>
                        </a:solidFill>
                        <a:latin typeface="Arial Narrow" panose="020B0606020202030204" pitchFamily="34" charset="0"/>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panose="020B0606020202030204" pitchFamily="34" charset="0"/>
                        </a:rPr>
                        <a:t>C</a:t>
                      </a:r>
                      <a:endParaRPr lang="es-PE" sz="2400" b="0" strike="noStrike" spc="-1">
                        <a:solidFill>
                          <a:schemeClr val="bg2">
                            <a:lumMod val="25000"/>
                          </a:schemeClr>
                        </a:solidFill>
                        <a:latin typeface="Arial Narrow" panose="020B0606020202030204" pitchFamily="34" charset="0"/>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panose="020B0606020202030204" pitchFamily="34" charset="0"/>
                        </a:rPr>
                        <a:t>D</a:t>
                      </a:r>
                      <a:endParaRPr lang="es-PE" sz="2400" b="0" strike="noStrike" spc="-1">
                        <a:solidFill>
                          <a:schemeClr val="bg2">
                            <a:lumMod val="25000"/>
                          </a:schemeClr>
                        </a:solidFill>
                        <a:latin typeface="Arial Narrow" panose="020B0606020202030204" pitchFamily="34" charset="0"/>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panose="020B0606020202030204" pitchFamily="34" charset="0"/>
                        </a:rPr>
                        <a:t>Oferta</a:t>
                      </a:r>
                      <a:endParaRPr lang="es-PE" sz="2400" b="0" strike="noStrike" spc="-1">
                        <a:solidFill>
                          <a:schemeClr val="bg2">
                            <a:lumMod val="25000"/>
                          </a:schemeClr>
                        </a:solidFill>
                        <a:latin typeface="Arial Narrow" panose="020B0606020202030204" pitchFamily="34" charset="0"/>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753585">
                <a:tc>
                  <a:txBody>
                    <a:bodyPr/>
                    <a:lstStyle/>
                    <a:p>
                      <a:pPr algn="ctr">
                        <a:lnSpc>
                          <a:spcPct val="95000"/>
                        </a:lnSpc>
                      </a:pPr>
                      <a:r>
                        <a:rPr lang="es-PE" sz="2400" b="1" strike="noStrike" spc="-1">
                          <a:solidFill>
                            <a:schemeClr val="bg2">
                              <a:lumMod val="25000"/>
                            </a:schemeClr>
                          </a:solidFill>
                          <a:latin typeface="Arial Narrow" panose="020B0606020202030204" pitchFamily="34" charset="0"/>
                        </a:rPr>
                        <a:t>Norte</a:t>
                      </a:r>
                      <a:endParaRPr lang="es-PE" sz="2400" b="0" strike="noStrike" spc="-1">
                        <a:solidFill>
                          <a:schemeClr val="bg2">
                            <a:lumMod val="25000"/>
                          </a:schemeClr>
                        </a:solidFill>
                        <a:latin typeface="Arial Narrow" panose="020B0606020202030204" pitchFamily="34" charset="0"/>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0" strike="noStrike" spc="-1" dirty="0">
                          <a:solidFill>
                            <a:srgbClr val="7030A0"/>
                          </a:solidFill>
                          <a:latin typeface="Arial Narrow" panose="020B0606020202030204" pitchFamily="34" charset="0"/>
                        </a:rPr>
                        <a:t>21</a:t>
                      </a: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0" strike="noStrike" spc="-1" dirty="0">
                          <a:solidFill>
                            <a:srgbClr val="7030A0"/>
                          </a:solidFill>
                          <a:latin typeface="Arial Narrow" panose="020B0606020202030204" pitchFamily="34" charset="0"/>
                        </a:rPr>
                        <a:t>15</a:t>
                      </a: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0" strike="noStrike" spc="-1" dirty="0">
                          <a:solidFill>
                            <a:srgbClr val="7030A0"/>
                          </a:solidFill>
                          <a:latin typeface="Arial Narrow" panose="020B0606020202030204" pitchFamily="34" charset="0"/>
                        </a:rPr>
                        <a:t>18</a:t>
                      </a: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0" strike="noStrike" spc="-1" dirty="0">
                          <a:solidFill>
                            <a:srgbClr val="7030A0"/>
                          </a:solidFill>
                          <a:latin typeface="Arial Narrow" panose="020B0606020202030204" pitchFamily="34" charset="0"/>
                        </a:rPr>
                        <a:t>9</a:t>
                      </a: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0" strike="noStrike" spc="-1">
                          <a:solidFill>
                            <a:schemeClr val="bg2">
                              <a:lumMod val="25000"/>
                            </a:schemeClr>
                          </a:solidFill>
                          <a:latin typeface="Arial Narrow" panose="020B0606020202030204" pitchFamily="34" charset="0"/>
                        </a:rPr>
                        <a:t>550</a:t>
                      </a: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753585">
                <a:tc>
                  <a:txBody>
                    <a:bodyPr/>
                    <a:lstStyle/>
                    <a:p>
                      <a:pPr algn="ctr">
                        <a:lnSpc>
                          <a:spcPct val="95000"/>
                        </a:lnSpc>
                      </a:pPr>
                      <a:r>
                        <a:rPr lang="es-PE" sz="2400" b="1" strike="noStrike" spc="-1">
                          <a:solidFill>
                            <a:schemeClr val="bg2">
                              <a:lumMod val="25000"/>
                            </a:schemeClr>
                          </a:solidFill>
                          <a:latin typeface="Arial Narrow" panose="020B0606020202030204" pitchFamily="34" charset="0"/>
                        </a:rPr>
                        <a:t>Sur</a:t>
                      </a:r>
                      <a:endParaRPr lang="es-PE" sz="2400" b="0" strike="noStrike" spc="-1">
                        <a:solidFill>
                          <a:schemeClr val="bg2">
                            <a:lumMod val="25000"/>
                          </a:schemeClr>
                        </a:solidFill>
                        <a:latin typeface="Arial Narrow" panose="020B0606020202030204" pitchFamily="34" charset="0"/>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0" strike="noStrike" spc="-1" dirty="0">
                          <a:solidFill>
                            <a:srgbClr val="7030A0"/>
                          </a:solidFill>
                          <a:latin typeface="Arial Narrow" panose="020B0606020202030204" pitchFamily="34" charset="0"/>
                        </a:rPr>
                        <a:t>10</a:t>
                      </a: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0" strike="noStrike" spc="-1" dirty="0">
                          <a:solidFill>
                            <a:srgbClr val="7030A0"/>
                          </a:solidFill>
                          <a:latin typeface="Arial Narrow" panose="020B0606020202030204" pitchFamily="34" charset="0"/>
                        </a:rPr>
                        <a:t>14</a:t>
                      </a: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0" strike="noStrike" spc="-1">
                          <a:solidFill>
                            <a:srgbClr val="7030A0"/>
                          </a:solidFill>
                          <a:latin typeface="Arial Narrow" panose="020B0606020202030204" pitchFamily="34" charset="0"/>
                        </a:rPr>
                        <a:t>16</a:t>
                      </a: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0" strike="noStrike" spc="-1" dirty="0">
                          <a:solidFill>
                            <a:srgbClr val="7030A0"/>
                          </a:solidFill>
                          <a:latin typeface="Arial Narrow" panose="020B0606020202030204" pitchFamily="34" charset="0"/>
                        </a:rPr>
                        <a:t>23</a:t>
                      </a: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0" strike="noStrike" spc="-1">
                          <a:solidFill>
                            <a:schemeClr val="bg2">
                              <a:lumMod val="25000"/>
                            </a:schemeClr>
                          </a:solidFill>
                          <a:latin typeface="Arial Narrow" panose="020B0606020202030204" pitchFamily="34" charset="0"/>
                        </a:rPr>
                        <a:t>650</a:t>
                      </a: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861423">
                <a:tc>
                  <a:txBody>
                    <a:bodyPr/>
                    <a:lstStyle/>
                    <a:p>
                      <a:pPr algn="ctr">
                        <a:lnSpc>
                          <a:spcPct val="95000"/>
                        </a:lnSpc>
                      </a:pPr>
                      <a:r>
                        <a:rPr lang="es-PE" sz="2400" b="1" strike="noStrike" spc="-1" dirty="0">
                          <a:solidFill>
                            <a:schemeClr val="bg2">
                              <a:lumMod val="25000"/>
                            </a:schemeClr>
                          </a:solidFill>
                          <a:latin typeface="Arial Narrow" panose="020B0606020202030204" pitchFamily="34" charset="0"/>
                        </a:rPr>
                        <a:t>Demanda</a:t>
                      </a:r>
                      <a:endParaRPr lang="es-PE" sz="2400" b="0" strike="noStrike" spc="-1" dirty="0">
                        <a:solidFill>
                          <a:schemeClr val="bg2">
                            <a:lumMod val="25000"/>
                          </a:schemeClr>
                        </a:solidFill>
                        <a:latin typeface="Arial Narrow" panose="020B0606020202030204" pitchFamily="34" charset="0"/>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0" strike="noStrike" spc="-1">
                          <a:solidFill>
                            <a:schemeClr val="bg2">
                              <a:lumMod val="25000"/>
                            </a:schemeClr>
                          </a:solidFill>
                          <a:latin typeface="Arial Narrow" panose="020B0606020202030204" pitchFamily="34" charset="0"/>
                        </a:rPr>
                        <a:t>200</a:t>
                      </a: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0" strike="noStrike" spc="-1" dirty="0">
                          <a:solidFill>
                            <a:schemeClr val="bg2">
                              <a:lumMod val="25000"/>
                            </a:schemeClr>
                          </a:solidFill>
                          <a:latin typeface="Arial Narrow" panose="020B0606020202030204" pitchFamily="34" charset="0"/>
                        </a:rPr>
                        <a:t>250</a:t>
                      </a: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0" strike="noStrike" spc="-1" dirty="0">
                          <a:solidFill>
                            <a:schemeClr val="bg2">
                              <a:lumMod val="25000"/>
                            </a:schemeClr>
                          </a:solidFill>
                          <a:latin typeface="Arial Narrow" panose="020B0606020202030204" pitchFamily="34" charset="0"/>
                        </a:rPr>
                        <a:t>400</a:t>
                      </a: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0" strike="noStrike" spc="-1" dirty="0">
                          <a:solidFill>
                            <a:schemeClr val="bg2">
                              <a:lumMod val="25000"/>
                            </a:schemeClr>
                          </a:solidFill>
                          <a:latin typeface="Arial Narrow" panose="020B0606020202030204" pitchFamily="34" charset="0"/>
                        </a:rPr>
                        <a:t>350</a:t>
                      </a: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0" strike="noStrike" spc="-1" dirty="0">
                          <a:solidFill>
                            <a:srgbClr val="FF0000"/>
                          </a:solidFill>
                          <a:latin typeface="Arial Narrow" panose="020B0606020202030204" pitchFamily="34" charset="0"/>
                        </a:rPr>
                        <a:t>1200</a:t>
                      </a: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3"/>
                  </a:ext>
                </a:extLst>
              </a:tr>
            </a:tbl>
          </a:graphicData>
        </a:graphic>
      </p:graphicFrame>
      <p:sp>
        <p:nvSpPr>
          <p:cNvPr id="6" name="TextShape 1">
            <a:extLst>
              <a:ext uri="{FF2B5EF4-FFF2-40B4-BE49-F238E27FC236}">
                <a16:creationId xmlns:a16="http://schemas.microsoft.com/office/drawing/2014/main" id="{A85F1C25-C29E-44C1-AD22-DBB27A6570AA}"/>
              </a:ext>
            </a:extLst>
          </p:cNvPr>
          <p:cNvSpPr txBox="1"/>
          <p:nvPr/>
        </p:nvSpPr>
        <p:spPr>
          <a:xfrm>
            <a:off x="6096000" y="1413000"/>
            <a:ext cx="6139958" cy="444240"/>
          </a:xfrm>
          <a:prstGeom prst="rect">
            <a:avLst/>
          </a:prstGeom>
          <a:solidFill>
            <a:srgbClr val="FFFFFF"/>
          </a:solidFill>
          <a:ln w="9360">
            <a:noFill/>
          </a:ln>
        </p:spPr>
        <p:txBody>
          <a:bodyPr>
            <a:noAutofit/>
          </a:bodyPr>
          <a:lstStyle/>
          <a:p>
            <a:pPr algn="ctr">
              <a:lnSpc>
                <a:spcPct val="100000"/>
              </a:lnSpc>
            </a:pPr>
            <a:r>
              <a:rPr lang="es-ES" sz="2400" b="1" i="1" spc="-1">
                <a:solidFill>
                  <a:srgbClr val="1D528D"/>
                </a:solidFill>
                <a:latin typeface="Arial Narrow"/>
              </a:rPr>
              <a:t>Costo de distribución por 100 cajas de cerveza</a:t>
            </a:r>
            <a:endParaRPr lang="es-ES" sz="2400" spc="-1">
              <a:solidFill>
                <a:srgbClr val="1D528D"/>
              </a:solidFill>
              <a:latin typeface="Arial"/>
            </a:endParaRPr>
          </a:p>
        </p:txBody>
      </p:sp>
    </p:spTree>
    <p:extLst>
      <p:ext uri="{BB962C8B-B14F-4D97-AF65-F5344CB8AC3E}">
        <p14:creationId xmlns:p14="http://schemas.microsoft.com/office/powerpoint/2010/main" val="33114147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2" name="CustomShape 1"/>
          <p:cNvSpPr/>
          <p:nvPr/>
        </p:nvSpPr>
        <p:spPr>
          <a:xfrm>
            <a:off x="4564842" y="5192804"/>
            <a:ext cx="414000" cy="45684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843" name="CustomShape 2"/>
          <p:cNvSpPr/>
          <p:nvPr/>
        </p:nvSpPr>
        <p:spPr>
          <a:xfrm>
            <a:off x="0" y="2550909"/>
            <a:ext cx="1314262" cy="829543"/>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sz="2400" b="1" i="1" spc="-1" dirty="0">
                <a:solidFill>
                  <a:schemeClr val="bg2">
                    <a:lumMod val="25000"/>
                  </a:schemeClr>
                </a:solidFill>
                <a:latin typeface="Arial"/>
                <a:ea typeface="ＭＳ 明朝"/>
              </a:rPr>
              <a:t>NORTE</a:t>
            </a:r>
            <a:endParaRPr lang="es-PE" sz="2400" spc="-1" dirty="0">
              <a:solidFill>
                <a:schemeClr val="bg2">
                  <a:lumMod val="25000"/>
                </a:schemeClr>
              </a:solidFill>
              <a:latin typeface="Arial"/>
            </a:endParaRPr>
          </a:p>
          <a:p>
            <a:pPr algn="ctr">
              <a:lnSpc>
                <a:spcPct val="100000"/>
              </a:lnSpc>
            </a:pPr>
            <a:r>
              <a:rPr lang="es-PE" sz="2400" b="1" i="1" spc="-1" dirty="0">
                <a:solidFill>
                  <a:schemeClr val="bg2">
                    <a:lumMod val="25000"/>
                  </a:schemeClr>
                </a:solidFill>
                <a:latin typeface="Arial"/>
                <a:ea typeface="ＭＳ 明朝"/>
              </a:rPr>
              <a:t>550</a:t>
            </a:r>
            <a:endParaRPr lang="es-PE" sz="2400" spc="-1" dirty="0">
              <a:solidFill>
                <a:schemeClr val="bg2">
                  <a:lumMod val="25000"/>
                </a:schemeClr>
              </a:solidFill>
              <a:latin typeface="Arial"/>
            </a:endParaRPr>
          </a:p>
        </p:txBody>
      </p:sp>
      <p:sp>
        <p:nvSpPr>
          <p:cNvPr id="844" name="CustomShape 3"/>
          <p:cNvSpPr/>
          <p:nvPr/>
        </p:nvSpPr>
        <p:spPr>
          <a:xfrm>
            <a:off x="0" y="4625589"/>
            <a:ext cx="1403542" cy="829543"/>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sz="2400" b="1" i="1" spc="-1" dirty="0">
                <a:solidFill>
                  <a:schemeClr val="bg2">
                    <a:lumMod val="25000"/>
                  </a:schemeClr>
                </a:solidFill>
                <a:latin typeface="Arial"/>
                <a:ea typeface="ＭＳ 明朝"/>
              </a:rPr>
              <a:t>  SUR</a:t>
            </a:r>
            <a:endParaRPr lang="es-PE" sz="2400" spc="-1" dirty="0">
              <a:solidFill>
                <a:schemeClr val="bg2">
                  <a:lumMod val="25000"/>
                </a:schemeClr>
              </a:solidFill>
              <a:latin typeface="Arial"/>
            </a:endParaRPr>
          </a:p>
          <a:p>
            <a:pPr algn="ctr">
              <a:lnSpc>
                <a:spcPct val="100000"/>
              </a:lnSpc>
            </a:pPr>
            <a:r>
              <a:rPr lang="es-PE" sz="2400" b="1" i="1" spc="-1" dirty="0">
                <a:solidFill>
                  <a:schemeClr val="bg2">
                    <a:lumMod val="25000"/>
                  </a:schemeClr>
                </a:solidFill>
                <a:latin typeface="Arial"/>
                <a:ea typeface="ＭＳ 明朝"/>
              </a:rPr>
              <a:t>650</a:t>
            </a:r>
            <a:endParaRPr lang="es-PE" sz="2400" spc="-1" dirty="0">
              <a:solidFill>
                <a:schemeClr val="bg2">
                  <a:lumMod val="25000"/>
                </a:schemeClr>
              </a:solidFill>
              <a:latin typeface="Arial"/>
            </a:endParaRPr>
          </a:p>
        </p:txBody>
      </p:sp>
      <p:sp>
        <p:nvSpPr>
          <p:cNvPr id="846" name="CustomShape 5"/>
          <p:cNvSpPr/>
          <p:nvPr/>
        </p:nvSpPr>
        <p:spPr>
          <a:xfrm>
            <a:off x="1267562" y="4786200"/>
            <a:ext cx="414044" cy="4438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847" name="CustomShape 6"/>
          <p:cNvSpPr/>
          <p:nvPr/>
        </p:nvSpPr>
        <p:spPr>
          <a:xfrm>
            <a:off x="4505431" y="2142940"/>
            <a:ext cx="414044" cy="4438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848" name="CustomShape 7"/>
          <p:cNvSpPr/>
          <p:nvPr/>
        </p:nvSpPr>
        <p:spPr>
          <a:xfrm>
            <a:off x="1267562" y="2755440"/>
            <a:ext cx="414044" cy="4438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849" name="CustomShape 8"/>
          <p:cNvSpPr/>
          <p:nvPr/>
        </p:nvSpPr>
        <p:spPr>
          <a:xfrm>
            <a:off x="4505749" y="3180240"/>
            <a:ext cx="414044" cy="4438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850" name="CustomShape 9"/>
          <p:cNvSpPr/>
          <p:nvPr/>
        </p:nvSpPr>
        <p:spPr>
          <a:xfrm>
            <a:off x="4533902" y="4313520"/>
            <a:ext cx="414044" cy="4438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851" name="Line 10"/>
          <p:cNvSpPr/>
          <p:nvPr/>
        </p:nvSpPr>
        <p:spPr>
          <a:xfrm flipV="1">
            <a:off x="1660364" y="2335680"/>
            <a:ext cx="2870588" cy="584640"/>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852" name="Line 11"/>
          <p:cNvSpPr/>
          <p:nvPr/>
        </p:nvSpPr>
        <p:spPr>
          <a:xfrm>
            <a:off x="1660364" y="3036240"/>
            <a:ext cx="2845025" cy="365940"/>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853" name="Line 12"/>
          <p:cNvSpPr/>
          <p:nvPr/>
        </p:nvSpPr>
        <p:spPr>
          <a:xfrm>
            <a:off x="1660364" y="3175200"/>
            <a:ext cx="2991201" cy="2097720"/>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854" name="Line 13"/>
          <p:cNvSpPr/>
          <p:nvPr/>
        </p:nvSpPr>
        <p:spPr>
          <a:xfrm flipV="1">
            <a:off x="1594117" y="2406600"/>
            <a:ext cx="2936835" cy="2433240"/>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855" name="Line 14"/>
          <p:cNvSpPr/>
          <p:nvPr/>
        </p:nvSpPr>
        <p:spPr>
          <a:xfrm flipV="1">
            <a:off x="1660364" y="3449047"/>
            <a:ext cx="2845385" cy="1454153"/>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856" name="Line 15"/>
          <p:cNvSpPr/>
          <p:nvPr/>
        </p:nvSpPr>
        <p:spPr>
          <a:xfrm>
            <a:off x="1660364" y="5065200"/>
            <a:ext cx="2912117" cy="378068"/>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857" name="CustomShape 16"/>
          <p:cNvSpPr/>
          <p:nvPr/>
        </p:nvSpPr>
        <p:spPr>
          <a:xfrm>
            <a:off x="333262" y="1434444"/>
            <a:ext cx="1105207" cy="429433"/>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a:lnSpc>
                <a:spcPct val="100000"/>
              </a:lnSpc>
            </a:pPr>
            <a:r>
              <a:rPr lang="es-PE" sz="1100" b="1" i="1" spc="-1">
                <a:solidFill>
                  <a:schemeClr val="bg2">
                    <a:lumMod val="25000"/>
                  </a:schemeClr>
                </a:solidFill>
                <a:latin typeface="Arial"/>
                <a:ea typeface="ＭＳ 明朝"/>
              </a:rPr>
              <a:t>	</a:t>
            </a:r>
            <a:endParaRPr lang="es-PE" sz="1100" spc="-1">
              <a:solidFill>
                <a:schemeClr val="bg2">
                  <a:lumMod val="25000"/>
                </a:schemeClr>
              </a:solidFill>
              <a:latin typeface="Arial"/>
            </a:endParaRPr>
          </a:p>
          <a:p>
            <a:pPr>
              <a:lnSpc>
                <a:spcPct val="100000"/>
              </a:lnSpc>
            </a:pPr>
            <a:endParaRPr lang="es-PE" sz="1100" spc="-1">
              <a:solidFill>
                <a:schemeClr val="bg2">
                  <a:lumMod val="25000"/>
                </a:schemeClr>
              </a:solidFill>
              <a:latin typeface="Arial"/>
            </a:endParaRPr>
          </a:p>
        </p:txBody>
      </p:sp>
      <p:sp>
        <p:nvSpPr>
          <p:cNvPr id="858" name="CustomShape 17"/>
          <p:cNvSpPr/>
          <p:nvPr/>
        </p:nvSpPr>
        <p:spPr>
          <a:xfrm>
            <a:off x="2290792" y="2315160"/>
            <a:ext cx="771923" cy="45648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z="2400" b="1" spc="-1">
                <a:solidFill>
                  <a:schemeClr val="bg2">
                    <a:lumMod val="25000"/>
                  </a:schemeClr>
                </a:solidFill>
                <a:latin typeface="Arial"/>
                <a:ea typeface="ＭＳ 明朝"/>
              </a:rPr>
              <a:t>X11</a:t>
            </a:r>
            <a:endParaRPr lang="es-PE" sz="2400" spc="-1">
              <a:solidFill>
                <a:schemeClr val="bg2">
                  <a:lumMod val="25000"/>
                </a:schemeClr>
              </a:solidFill>
              <a:latin typeface="Arial"/>
            </a:endParaRPr>
          </a:p>
        </p:txBody>
      </p:sp>
      <p:sp>
        <p:nvSpPr>
          <p:cNvPr id="859" name="CustomShape 18"/>
          <p:cNvSpPr/>
          <p:nvPr/>
        </p:nvSpPr>
        <p:spPr>
          <a:xfrm>
            <a:off x="4969885" y="3031560"/>
            <a:ext cx="999827" cy="82224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a:lnSpc>
                <a:spcPct val="100000"/>
              </a:lnSpc>
            </a:pPr>
            <a:r>
              <a:rPr lang="es-PE" sz="2400" b="1" i="1" spc="-1" dirty="0">
                <a:solidFill>
                  <a:schemeClr val="bg2">
                    <a:lumMod val="25000"/>
                  </a:schemeClr>
                </a:solidFill>
                <a:latin typeface="Arial"/>
                <a:ea typeface="ＭＳ 明朝"/>
              </a:rPr>
              <a:t> B</a:t>
            </a:r>
            <a:endParaRPr lang="es-PE" sz="2400" spc="-1" dirty="0">
              <a:solidFill>
                <a:schemeClr val="bg2">
                  <a:lumMod val="25000"/>
                </a:schemeClr>
              </a:solidFill>
              <a:latin typeface="Arial"/>
            </a:endParaRPr>
          </a:p>
          <a:p>
            <a:pPr algn="ctr">
              <a:lnSpc>
                <a:spcPct val="100000"/>
              </a:lnSpc>
            </a:pPr>
            <a:r>
              <a:rPr lang="es-PE" sz="2400" b="1" i="1" spc="-1" dirty="0">
                <a:solidFill>
                  <a:schemeClr val="bg2">
                    <a:lumMod val="25000"/>
                  </a:schemeClr>
                </a:solidFill>
                <a:latin typeface="Arial"/>
                <a:ea typeface="ＭＳ 明朝"/>
              </a:rPr>
              <a:t>250</a:t>
            </a:r>
            <a:endParaRPr lang="es-PE" sz="2400" spc="-1" dirty="0">
              <a:solidFill>
                <a:schemeClr val="bg2">
                  <a:lumMod val="25000"/>
                </a:schemeClr>
              </a:solidFill>
              <a:latin typeface="Arial"/>
            </a:endParaRPr>
          </a:p>
        </p:txBody>
      </p:sp>
      <p:sp>
        <p:nvSpPr>
          <p:cNvPr id="860" name="CustomShape 19"/>
          <p:cNvSpPr/>
          <p:nvPr/>
        </p:nvSpPr>
        <p:spPr>
          <a:xfrm>
            <a:off x="5050160" y="4082698"/>
            <a:ext cx="928540" cy="82224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a:lnSpc>
                <a:spcPct val="100000"/>
              </a:lnSpc>
            </a:pPr>
            <a:r>
              <a:rPr lang="es-PE" sz="2400" b="1" i="1" spc="-1" dirty="0">
                <a:solidFill>
                  <a:schemeClr val="bg2">
                    <a:lumMod val="25000"/>
                  </a:schemeClr>
                </a:solidFill>
                <a:latin typeface="Arial"/>
                <a:ea typeface="ＭＳ 明朝"/>
              </a:rPr>
              <a:t>C</a:t>
            </a:r>
            <a:endParaRPr lang="es-PE" sz="2400" spc="-1" dirty="0">
              <a:solidFill>
                <a:schemeClr val="bg2">
                  <a:lumMod val="25000"/>
                </a:schemeClr>
              </a:solidFill>
              <a:latin typeface="Arial"/>
            </a:endParaRPr>
          </a:p>
          <a:p>
            <a:pPr algn="ctr">
              <a:lnSpc>
                <a:spcPct val="100000"/>
              </a:lnSpc>
            </a:pPr>
            <a:r>
              <a:rPr lang="es-PE" sz="2400" b="1" i="1" spc="-1" dirty="0">
                <a:solidFill>
                  <a:schemeClr val="bg2">
                    <a:lumMod val="25000"/>
                  </a:schemeClr>
                </a:solidFill>
                <a:latin typeface="Arial"/>
                <a:ea typeface="ＭＳ 明朝"/>
              </a:rPr>
              <a:t>400</a:t>
            </a:r>
            <a:endParaRPr lang="es-PE" sz="2400" spc="-1" dirty="0">
              <a:solidFill>
                <a:schemeClr val="bg2">
                  <a:lumMod val="25000"/>
                </a:schemeClr>
              </a:solidFill>
              <a:latin typeface="Arial"/>
            </a:endParaRPr>
          </a:p>
        </p:txBody>
      </p:sp>
      <p:sp>
        <p:nvSpPr>
          <p:cNvPr id="861" name="CustomShape 20"/>
          <p:cNvSpPr/>
          <p:nvPr/>
        </p:nvSpPr>
        <p:spPr>
          <a:xfrm>
            <a:off x="5004393" y="1926360"/>
            <a:ext cx="999827" cy="118800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a:lnSpc>
                <a:spcPct val="100000"/>
              </a:lnSpc>
            </a:pPr>
            <a:r>
              <a:rPr lang="es-PE" sz="2400" b="1" i="1" spc="-1" dirty="0">
                <a:solidFill>
                  <a:schemeClr val="bg2">
                    <a:lumMod val="25000"/>
                  </a:schemeClr>
                </a:solidFill>
                <a:latin typeface="Arial"/>
                <a:ea typeface="ＭＳ 明朝"/>
              </a:rPr>
              <a:t>A</a:t>
            </a:r>
            <a:endParaRPr lang="es-PE" sz="2400" spc="-1" dirty="0">
              <a:solidFill>
                <a:schemeClr val="bg2">
                  <a:lumMod val="25000"/>
                </a:schemeClr>
              </a:solidFill>
              <a:latin typeface="Arial"/>
            </a:endParaRPr>
          </a:p>
          <a:p>
            <a:pPr algn="ctr">
              <a:lnSpc>
                <a:spcPct val="100000"/>
              </a:lnSpc>
            </a:pPr>
            <a:r>
              <a:rPr lang="es-PE" sz="2400" b="1" i="1" spc="-1" dirty="0">
                <a:solidFill>
                  <a:schemeClr val="bg2">
                    <a:lumMod val="25000"/>
                  </a:schemeClr>
                </a:solidFill>
                <a:latin typeface="Arial"/>
                <a:ea typeface="ＭＳ 明朝"/>
              </a:rPr>
              <a:t>200</a:t>
            </a:r>
            <a:endParaRPr lang="es-PE" sz="2400" spc="-1" dirty="0">
              <a:solidFill>
                <a:schemeClr val="bg2">
                  <a:lumMod val="25000"/>
                </a:schemeClr>
              </a:solidFill>
              <a:latin typeface="Arial"/>
            </a:endParaRPr>
          </a:p>
          <a:p>
            <a:pPr algn="ctr">
              <a:lnSpc>
                <a:spcPct val="100000"/>
              </a:lnSpc>
            </a:pPr>
            <a:endParaRPr lang="es-PE" sz="2400" spc="-1" dirty="0">
              <a:solidFill>
                <a:schemeClr val="bg2">
                  <a:lumMod val="25000"/>
                </a:schemeClr>
              </a:solidFill>
              <a:latin typeface="Arial"/>
            </a:endParaRPr>
          </a:p>
        </p:txBody>
      </p:sp>
      <p:sp>
        <p:nvSpPr>
          <p:cNvPr id="862" name="CustomShape 21"/>
          <p:cNvSpPr/>
          <p:nvPr/>
        </p:nvSpPr>
        <p:spPr>
          <a:xfrm>
            <a:off x="333262" y="1434600"/>
            <a:ext cx="5762738" cy="48564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80000"/>
              </a:lnSpc>
            </a:pPr>
            <a:r>
              <a:rPr lang="es-PE" sz="2000" b="1" spc="-1" dirty="0">
                <a:solidFill>
                  <a:schemeClr val="bg2">
                    <a:lumMod val="25000"/>
                  </a:schemeClr>
                </a:solidFill>
                <a:latin typeface="Arial Black"/>
              </a:rPr>
              <a:t>      ORIGEN 			   DESTINO</a:t>
            </a:r>
            <a:endParaRPr lang="es-PE" sz="2000" spc="-1" dirty="0">
              <a:solidFill>
                <a:schemeClr val="bg2">
                  <a:lumMod val="25000"/>
                </a:schemeClr>
              </a:solidFill>
              <a:latin typeface="Arial"/>
            </a:endParaRPr>
          </a:p>
          <a:p>
            <a:pPr>
              <a:lnSpc>
                <a:spcPct val="80000"/>
              </a:lnSpc>
            </a:pPr>
            <a:r>
              <a:rPr lang="es-PE" sz="2000" b="1" spc="-1" dirty="0">
                <a:solidFill>
                  <a:schemeClr val="bg2">
                    <a:lumMod val="25000"/>
                  </a:schemeClr>
                </a:solidFill>
                <a:latin typeface="Arial Black"/>
              </a:rPr>
              <a:t>     (fábricas) 	 	(mayoristas)</a:t>
            </a:r>
            <a:endParaRPr lang="es-PE" sz="2000" spc="-1" dirty="0">
              <a:solidFill>
                <a:schemeClr val="bg2">
                  <a:lumMod val="25000"/>
                </a:schemeClr>
              </a:solidFill>
              <a:latin typeface="Arial"/>
            </a:endParaRPr>
          </a:p>
        </p:txBody>
      </p:sp>
      <p:sp>
        <p:nvSpPr>
          <p:cNvPr id="863" name="CustomShape 22"/>
          <p:cNvSpPr/>
          <p:nvPr/>
        </p:nvSpPr>
        <p:spPr>
          <a:xfrm>
            <a:off x="2290792" y="2765520"/>
            <a:ext cx="843210" cy="45648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z="2400" b="1" spc="-1">
                <a:solidFill>
                  <a:schemeClr val="bg2">
                    <a:lumMod val="25000"/>
                  </a:schemeClr>
                </a:solidFill>
                <a:latin typeface="Arial"/>
                <a:ea typeface="ＭＳ 明朝"/>
              </a:rPr>
              <a:t>X12</a:t>
            </a:r>
            <a:endParaRPr lang="es-PE" sz="2400" spc="-1">
              <a:solidFill>
                <a:schemeClr val="bg2">
                  <a:lumMod val="25000"/>
                </a:schemeClr>
              </a:solidFill>
              <a:latin typeface="Arial"/>
            </a:endParaRPr>
          </a:p>
        </p:txBody>
      </p:sp>
      <p:sp>
        <p:nvSpPr>
          <p:cNvPr id="864" name="CustomShape 23"/>
          <p:cNvSpPr/>
          <p:nvPr/>
        </p:nvSpPr>
        <p:spPr>
          <a:xfrm>
            <a:off x="2290792" y="3172680"/>
            <a:ext cx="928540" cy="45648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z="2400" b="1" spc="-1">
                <a:solidFill>
                  <a:schemeClr val="bg2">
                    <a:lumMod val="25000"/>
                  </a:schemeClr>
                </a:solidFill>
                <a:latin typeface="Arial"/>
                <a:ea typeface="ＭＳ 明朝"/>
              </a:rPr>
              <a:t>X13</a:t>
            </a:r>
            <a:endParaRPr lang="es-PE" sz="2400" spc="-1">
              <a:solidFill>
                <a:schemeClr val="bg2">
                  <a:lumMod val="25000"/>
                </a:schemeClr>
              </a:solidFill>
              <a:latin typeface="Arial"/>
            </a:endParaRPr>
          </a:p>
        </p:txBody>
      </p:sp>
      <p:sp>
        <p:nvSpPr>
          <p:cNvPr id="865" name="CustomShape 24"/>
          <p:cNvSpPr/>
          <p:nvPr/>
        </p:nvSpPr>
        <p:spPr>
          <a:xfrm>
            <a:off x="1339930" y="2763360"/>
            <a:ext cx="282649"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1</a:t>
            </a:r>
            <a:endParaRPr lang="es-PE" sz="2000" spc="-1">
              <a:solidFill>
                <a:schemeClr val="bg2">
                  <a:lumMod val="25000"/>
                </a:schemeClr>
              </a:solidFill>
              <a:latin typeface="Arial"/>
            </a:endParaRPr>
          </a:p>
        </p:txBody>
      </p:sp>
      <p:sp>
        <p:nvSpPr>
          <p:cNvPr id="866" name="CustomShape 25"/>
          <p:cNvSpPr/>
          <p:nvPr/>
        </p:nvSpPr>
        <p:spPr>
          <a:xfrm>
            <a:off x="4575597" y="3249720"/>
            <a:ext cx="301887"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2</a:t>
            </a:r>
            <a:endParaRPr lang="es-PE" sz="2000" spc="-1">
              <a:solidFill>
                <a:schemeClr val="bg2">
                  <a:lumMod val="25000"/>
                </a:schemeClr>
              </a:solidFill>
              <a:latin typeface="Arial"/>
            </a:endParaRPr>
          </a:p>
        </p:txBody>
      </p:sp>
      <p:sp>
        <p:nvSpPr>
          <p:cNvPr id="867" name="CustomShape 26"/>
          <p:cNvSpPr/>
          <p:nvPr/>
        </p:nvSpPr>
        <p:spPr>
          <a:xfrm>
            <a:off x="1349651" y="4846320"/>
            <a:ext cx="301887"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2</a:t>
            </a:r>
            <a:endParaRPr lang="es-PE" sz="2000" spc="-1">
              <a:solidFill>
                <a:schemeClr val="bg2">
                  <a:lumMod val="25000"/>
                </a:schemeClr>
              </a:solidFill>
              <a:latin typeface="Arial"/>
            </a:endParaRPr>
          </a:p>
        </p:txBody>
      </p:sp>
      <p:sp>
        <p:nvSpPr>
          <p:cNvPr id="868" name="CustomShape 27"/>
          <p:cNvSpPr/>
          <p:nvPr/>
        </p:nvSpPr>
        <p:spPr>
          <a:xfrm>
            <a:off x="4577757" y="2155180"/>
            <a:ext cx="282649"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dirty="0">
                <a:solidFill>
                  <a:schemeClr val="bg2">
                    <a:lumMod val="25000"/>
                  </a:schemeClr>
                </a:solidFill>
                <a:latin typeface="Garamond"/>
              </a:rPr>
              <a:t>1</a:t>
            </a:r>
            <a:endParaRPr lang="es-PE" sz="2000" spc="-1" dirty="0">
              <a:solidFill>
                <a:schemeClr val="bg2">
                  <a:lumMod val="25000"/>
                </a:schemeClr>
              </a:solidFill>
              <a:latin typeface="Arial"/>
            </a:endParaRPr>
          </a:p>
        </p:txBody>
      </p:sp>
      <p:sp>
        <p:nvSpPr>
          <p:cNvPr id="869" name="CustomShape 28"/>
          <p:cNvSpPr/>
          <p:nvPr/>
        </p:nvSpPr>
        <p:spPr>
          <a:xfrm>
            <a:off x="4577037" y="4313520"/>
            <a:ext cx="428446" cy="39528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s-PE" sz="2000" b="1" spc="-1" dirty="0">
                <a:solidFill>
                  <a:schemeClr val="bg2">
                    <a:lumMod val="25000"/>
                  </a:schemeClr>
                </a:solidFill>
                <a:latin typeface="Garamond"/>
              </a:rPr>
              <a:t>3</a:t>
            </a:r>
            <a:endParaRPr lang="es-PE" sz="2000" spc="-1" dirty="0">
              <a:solidFill>
                <a:schemeClr val="bg2">
                  <a:lumMod val="25000"/>
                </a:schemeClr>
              </a:solidFill>
              <a:latin typeface="Arial"/>
            </a:endParaRPr>
          </a:p>
        </p:txBody>
      </p:sp>
      <p:sp>
        <p:nvSpPr>
          <p:cNvPr id="872" name="CustomShape 31"/>
          <p:cNvSpPr/>
          <p:nvPr/>
        </p:nvSpPr>
        <p:spPr>
          <a:xfrm>
            <a:off x="4608799" y="5212691"/>
            <a:ext cx="307800" cy="39528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dirty="0">
                <a:solidFill>
                  <a:srgbClr val="000000"/>
                </a:solidFill>
                <a:latin typeface="Garamond"/>
              </a:rPr>
              <a:t>4</a:t>
            </a:r>
            <a:endParaRPr lang="es-PE" sz="2000" spc="-1" dirty="0">
              <a:latin typeface="Arial"/>
            </a:endParaRPr>
          </a:p>
        </p:txBody>
      </p:sp>
      <p:sp>
        <p:nvSpPr>
          <p:cNvPr id="873" name="Line 32"/>
          <p:cNvSpPr/>
          <p:nvPr/>
        </p:nvSpPr>
        <p:spPr>
          <a:xfrm>
            <a:off x="1661662" y="3120840"/>
            <a:ext cx="2917800" cy="1295344"/>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874" name="Line 33"/>
          <p:cNvSpPr/>
          <p:nvPr/>
        </p:nvSpPr>
        <p:spPr>
          <a:xfrm flipV="1">
            <a:off x="1681822" y="4625588"/>
            <a:ext cx="2897640" cy="375892"/>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875" name="CustomShape 34"/>
          <p:cNvSpPr/>
          <p:nvPr/>
        </p:nvSpPr>
        <p:spPr>
          <a:xfrm>
            <a:off x="5169576" y="4939434"/>
            <a:ext cx="713880" cy="82224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a:lnSpc>
                <a:spcPct val="100000"/>
              </a:lnSpc>
            </a:pPr>
            <a:r>
              <a:rPr lang="es-PE" sz="2400" b="1" i="1" spc="-1" dirty="0">
                <a:latin typeface="Arial"/>
                <a:ea typeface="ＭＳ 明朝"/>
              </a:rPr>
              <a:t>D</a:t>
            </a:r>
            <a:endParaRPr lang="es-PE" sz="2400" spc="-1" dirty="0">
              <a:latin typeface="Arial"/>
            </a:endParaRPr>
          </a:p>
          <a:p>
            <a:pPr algn="ctr">
              <a:lnSpc>
                <a:spcPct val="100000"/>
              </a:lnSpc>
            </a:pPr>
            <a:r>
              <a:rPr lang="es-PE" sz="2400" b="1" i="1" spc="-1" dirty="0">
                <a:latin typeface="Arial"/>
                <a:ea typeface="ＭＳ 明朝"/>
              </a:rPr>
              <a:t>350</a:t>
            </a:r>
            <a:endParaRPr lang="es-PE" sz="2400" spc="-1" dirty="0">
              <a:latin typeface="Arial"/>
            </a:endParaRPr>
          </a:p>
        </p:txBody>
      </p:sp>
      <p:sp>
        <p:nvSpPr>
          <p:cNvPr id="35" name="TextShape 29">
            <a:extLst>
              <a:ext uri="{FF2B5EF4-FFF2-40B4-BE49-F238E27FC236}">
                <a16:creationId xmlns:a16="http://schemas.microsoft.com/office/drawing/2014/main" id="{A925FAF9-2742-4619-8E1E-28E10D450DE5}"/>
              </a:ext>
            </a:extLst>
          </p:cNvPr>
          <p:cNvSpPr txBox="1"/>
          <p:nvPr/>
        </p:nvSpPr>
        <p:spPr>
          <a:xfrm>
            <a:off x="6096000" y="290213"/>
            <a:ext cx="6096000" cy="496172"/>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defPPr>
              <a:defRPr lang="es-ES"/>
            </a:defPPr>
            <a:lvl1pPr algn="ctr">
              <a:lnSpc>
                <a:spcPts val="5800"/>
              </a:lnSpc>
              <a:spcBef>
                <a:spcPct val="0"/>
              </a:spcBef>
              <a:defRPr sz="3200">
                <a:solidFill>
                  <a:schemeClr val="bg1"/>
                </a:solidFill>
                <a:effectLst>
                  <a:outerShdw blurRad="63500" dist="38100" dir="5400000" algn="t" rotWithShape="0">
                    <a:prstClr val="black">
                      <a:alpha val="25000"/>
                    </a:prstClr>
                  </a:outerShdw>
                </a:effectLst>
                <a:latin typeface="Bauhaus 93" pitchFamily="82" charset="0"/>
              </a:defRPr>
            </a:lvl1pPr>
          </a:lstStyle>
          <a:p>
            <a:r>
              <a:rPr lang="en-US" dirty="0"/>
              <a:t>Red y </a:t>
            </a:r>
            <a:r>
              <a:rPr lang="en-US" dirty="0" err="1"/>
              <a:t>modelo</a:t>
            </a:r>
            <a:endParaRPr lang="en-US" dirty="0"/>
          </a:p>
        </p:txBody>
      </p:sp>
      <p:sp>
        <p:nvSpPr>
          <p:cNvPr id="36" name="TextShape 2">
            <a:extLst>
              <a:ext uri="{FF2B5EF4-FFF2-40B4-BE49-F238E27FC236}">
                <a16:creationId xmlns:a16="http://schemas.microsoft.com/office/drawing/2014/main" id="{0C3CB7B0-0482-4BA5-8C99-82B649EAB61F}"/>
              </a:ext>
            </a:extLst>
          </p:cNvPr>
          <p:cNvSpPr txBox="1"/>
          <p:nvPr/>
        </p:nvSpPr>
        <p:spPr>
          <a:xfrm>
            <a:off x="6096000" y="1332014"/>
            <a:ext cx="5848052" cy="1178273"/>
          </a:xfrm>
          <a:prstGeom prst="rect">
            <a:avLst/>
          </a:prstGeom>
          <a:solidFill>
            <a:schemeClr val="accent4">
              <a:lumMod val="40000"/>
              <a:lumOff val="60000"/>
            </a:schemeClr>
          </a:solidFill>
          <a:ln w="9360">
            <a:noFill/>
          </a:ln>
        </p:spPr>
        <p:txBody>
          <a:bodyPr>
            <a:noAutofit/>
          </a:bodyPr>
          <a:lstStyle/>
          <a:p>
            <a:pPr marL="343080" indent="-342720"/>
            <a:r>
              <a:rPr lang="es-ES" sz="2400" spc="-1" dirty="0">
                <a:solidFill>
                  <a:srgbClr val="FF0000"/>
                </a:solidFill>
                <a:latin typeface="Arial"/>
              </a:rPr>
              <a:t>I.	Identificación de variables. </a:t>
            </a:r>
          </a:p>
          <a:p>
            <a:pPr lvl="0"/>
            <a:r>
              <a:rPr lang="es-PE" sz="2400" dirty="0"/>
              <a:t>	</a:t>
            </a:r>
            <a:r>
              <a:rPr lang="es-PE" sz="2400" dirty="0" err="1"/>
              <a:t>Xij</a:t>
            </a:r>
            <a:r>
              <a:rPr lang="es-PE" sz="2400" dirty="0"/>
              <a:t> = </a:t>
            </a:r>
            <a:r>
              <a:rPr lang="es-PE" sz="2400" dirty="0" err="1"/>
              <a:t>N°</a:t>
            </a:r>
            <a:r>
              <a:rPr lang="es-PE" sz="2400" dirty="0"/>
              <a:t> de cientos de cajas que se</a:t>
            </a:r>
          </a:p>
          <a:p>
            <a:pPr lvl="0"/>
            <a:r>
              <a:rPr lang="es-PE" sz="2400" dirty="0"/>
              <a:t>	envía de la fábrica i al mayorista j </a:t>
            </a:r>
          </a:p>
          <a:p>
            <a:pPr marL="343080" indent="-342720"/>
            <a:endParaRPr lang="es-ES" sz="2400" spc="-1" dirty="0">
              <a:solidFill>
                <a:schemeClr val="accent1">
                  <a:lumMod val="75000"/>
                </a:schemeClr>
              </a:solidFill>
              <a:latin typeface="Arial"/>
            </a:endParaRPr>
          </a:p>
        </p:txBody>
      </p:sp>
      <p:sp>
        <p:nvSpPr>
          <p:cNvPr id="37" name="TextShape 29">
            <a:extLst>
              <a:ext uri="{FF2B5EF4-FFF2-40B4-BE49-F238E27FC236}">
                <a16:creationId xmlns:a16="http://schemas.microsoft.com/office/drawing/2014/main" id="{2AD6DB2C-273A-40C3-99CF-D64BA79D5D5E}"/>
              </a:ext>
            </a:extLst>
          </p:cNvPr>
          <p:cNvSpPr txBox="1"/>
          <p:nvPr/>
        </p:nvSpPr>
        <p:spPr>
          <a:xfrm>
            <a:off x="2884" y="6041153"/>
            <a:ext cx="6096000" cy="496172"/>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defPPr>
              <a:defRPr lang="es-ES"/>
            </a:defPPr>
            <a:lvl1pPr algn="ctr">
              <a:lnSpc>
                <a:spcPts val="5800"/>
              </a:lnSpc>
              <a:spcBef>
                <a:spcPct val="0"/>
              </a:spcBef>
              <a:defRPr sz="3200">
                <a:solidFill>
                  <a:schemeClr val="bg1"/>
                </a:solidFill>
                <a:effectLst>
                  <a:outerShdw blurRad="63500" dist="38100" dir="5400000" algn="t" rotWithShape="0">
                    <a:prstClr val="black">
                      <a:alpha val="25000"/>
                    </a:prstClr>
                  </a:outerShdw>
                </a:effectLst>
                <a:latin typeface="Bauhaus 93" pitchFamily="82" charset="0"/>
              </a:defRPr>
            </a:lvl1pPr>
          </a:lstStyle>
          <a:p>
            <a:r>
              <a:rPr lang="en-US" dirty="0">
                <a:solidFill>
                  <a:srgbClr val="FF0000"/>
                </a:solidFill>
              </a:rPr>
              <a:t>Red</a:t>
            </a:r>
          </a:p>
        </p:txBody>
      </p:sp>
      <p:sp>
        <p:nvSpPr>
          <p:cNvPr id="2" name="Rectángulo 1">
            <a:extLst>
              <a:ext uri="{FF2B5EF4-FFF2-40B4-BE49-F238E27FC236}">
                <a16:creationId xmlns:a16="http://schemas.microsoft.com/office/drawing/2014/main" id="{66BF1F34-2973-4CBC-AE7C-E295B6CD089D}"/>
              </a:ext>
            </a:extLst>
          </p:cNvPr>
          <p:cNvSpPr/>
          <p:nvPr/>
        </p:nvSpPr>
        <p:spPr>
          <a:xfrm>
            <a:off x="6096000" y="3647110"/>
            <a:ext cx="5851585" cy="3046988"/>
          </a:xfrm>
          <a:prstGeom prst="rect">
            <a:avLst/>
          </a:prstGeom>
          <a:solidFill>
            <a:schemeClr val="accent4">
              <a:lumMod val="40000"/>
              <a:lumOff val="60000"/>
            </a:schemeClr>
          </a:solidFill>
        </p:spPr>
        <p:txBody>
          <a:bodyPr wrap="square">
            <a:spAutoFit/>
          </a:bodyPr>
          <a:lstStyle/>
          <a:p>
            <a:pPr marL="343080" indent="-342720"/>
            <a:r>
              <a:rPr lang="es-ES" sz="2400" spc="-1" dirty="0">
                <a:solidFill>
                  <a:srgbClr val="FF0000"/>
                </a:solidFill>
                <a:latin typeface="Arial"/>
              </a:rPr>
              <a:t>III	Identificación de Restricciones.</a:t>
            </a:r>
          </a:p>
          <a:p>
            <a:pPr lvl="0"/>
            <a:r>
              <a:rPr lang="es-ES" sz="2400" spc="-1" dirty="0">
                <a:solidFill>
                  <a:schemeClr val="accent1">
                    <a:lumMod val="75000"/>
                  </a:schemeClr>
                </a:solidFill>
                <a:latin typeface="Arial"/>
              </a:rPr>
              <a:t>	</a:t>
            </a:r>
            <a:r>
              <a:rPr lang="es-PE" sz="2400" dirty="0" err="1"/>
              <a:t>X11</a:t>
            </a:r>
            <a:r>
              <a:rPr lang="es-PE" sz="2400" dirty="0"/>
              <a:t> + </a:t>
            </a:r>
            <a:r>
              <a:rPr lang="es-PE" sz="2400" dirty="0" err="1"/>
              <a:t>X12</a:t>
            </a:r>
            <a:r>
              <a:rPr lang="es-PE" sz="2400" dirty="0"/>
              <a:t> + </a:t>
            </a:r>
            <a:r>
              <a:rPr lang="es-PE" sz="2400" dirty="0" err="1"/>
              <a:t>X13</a:t>
            </a:r>
            <a:r>
              <a:rPr lang="es-PE" sz="2400" dirty="0"/>
              <a:t> + </a:t>
            </a:r>
            <a:r>
              <a:rPr lang="es-PE" sz="2400" dirty="0" err="1"/>
              <a:t>X14</a:t>
            </a:r>
            <a:r>
              <a:rPr lang="es-PE" sz="2400" dirty="0"/>
              <a:t>  ≤ 550 </a:t>
            </a:r>
          </a:p>
          <a:p>
            <a:pPr lvl="0"/>
            <a:r>
              <a:rPr lang="es-PE" sz="2400" dirty="0"/>
              <a:t>	</a:t>
            </a:r>
            <a:r>
              <a:rPr lang="es-PE" sz="2400" dirty="0" err="1"/>
              <a:t>X21</a:t>
            </a:r>
            <a:r>
              <a:rPr lang="es-PE" sz="2400" dirty="0"/>
              <a:t> + </a:t>
            </a:r>
            <a:r>
              <a:rPr lang="es-PE" sz="2400" dirty="0" err="1"/>
              <a:t>X22</a:t>
            </a:r>
            <a:r>
              <a:rPr lang="es-PE" sz="2400" dirty="0"/>
              <a:t> + </a:t>
            </a:r>
            <a:r>
              <a:rPr lang="es-PE" sz="2400" dirty="0" err="1"/>
              <a:t>X23</a:t>
            </a:r>
            <a:r>
              <a:rPr lang="es-PE" sz="2400" dirty="0"/>
              <a:t> + </a:t>
            </a:r>
            <a:r>
              <a:rPr lang="es-PE" sz="2400" dirty="0" err="1"/>
              <a:t>X24</a:t>
            </a:r>
            <a:r>
              <a:rPr lang="es-PE" sz="2400" dirty="0"/>
              <a:t>  ≤ 650</a:t>
            </a:r>
          </a:p>
          <a:p>
            <a:pPr lvl="0"/>
            <a:r>
              <a:rPr lang="es-PE" sz="2400" dirty="0"/>
              <a:t>	</a:t>
            </a:r>
            <a:r>
              <a:rPr lang="es-PE" sz="2400" dirty="0" err="1"/>
              <a:t>X11</a:t>
            </a:r>
            <a:r>
              <a:rPr lang="es-PE" sz="2400" dirty="0"/>
              <a:t> + </a:t>
            </a:r>
            <a:r>
              <a:rPr lang="es-PE" sz="2400" dirty="0" err="1"/>
              <a:t>X21</a:t>
            </a:r>
            <a:r>
              <a:rPr lang="es-PE" sz="2400" dirty="0"/>
              <a:t> =  200</a:t>
            </a:r>
          </a:p>
          <a:p>
            <a:pPr lvl="0"/>
            <a:r>
              <a:rPr lang="es-PE" sz="2400" dirty="0"/>
              <a:t>	</a:t>
            </a:r>
            <a:r>
              <a:rPr lang="es-PE" sz="2400" dirty="0" err="1"/>
              <a:t>X12</a:t>
            </a:r>
            <a:r>
              <a:rPr lang="es-PE" sz="2400" dirty="0"/>
              <a:t> + </a:t>
            </a:r>
            <a:r>
              <a:rPr lang="es-PE" sz="2400" dirty="0" err="1"/>
              <a:t>X22</a:t>
            </a:r>
            <a:r>
              <a:rPr lang="es-PE" sz="2400" dirty="0"/>
              <a:t> =  250</a:t>
            </a:r>
          </a:p>
          <a:p>
            <a:pPr lvl="0"/>
            <a:r>
              <a:rPr lang="es-PE" sz="2400" dirty="0"/>
              <a:t>	</a:t>
            </a:r>
            <a:r>
              <a:rPr lang="es-PE" sz="2400" dirty="0" err="1"/>
              <a:t>X13</a:t>
            </a:r>
            <a:r>
              <a:rPr lang="es-PE" sz="2400" dirty="0"/>
              <a:t> + </a:t>
            </a:r>
            <a:r>
              <a:rPr lang="es-PE" sz="2400" dirty="0" err="1"/>
              <a:t>X23</a:t>
            </a:r>
            <a:r>
              <a:rPr lang="es-PE" sz="2400" dirty="0"/>
              <a:t> =  400 </a:t>
            </a:r>
          </a:p>
          <a:p>
            <a:pPr lvl="0"/>
            <a:r>
              <a:rPr lang="es-PE" sz="2400" dirty="0"/>
              <a:t>	</a:t>
            </a:r>
            <a:r>
              <a:rPr lang="es-PE" sz="2400" dirty="0" err="1"/>
              <a:t>X14</a:t>
            </a:r>
            <a:r>
              <a:rPr lang="es-PE" sz="2400" dirty="0"/>
              <a:t> + </a:t>
            </a:r>
            <a:r>
              <a:rPr lang="es-PE" sz="2400" dirty="0" err="1"/>
              <a:t>X24</a:t>
            </a:r>
            <a:r>
              <a:rPr lang="es-PE" sz="2400" dirty="0"/>
              <a:t> =  350   </a:t>
            </a:r>
          </a:p>
          <a:p>
            <a:pPr lvl="0"/>
            <a:r>
              <a:rPr lang="es-PE" sz="2400" dirty="0"/>
              <a:t>	             </a:t>
            </a:r>
            <a:r>
              <a:rPr lang="es-PE" sz="2400" dirty="0" err="1"/>
              <a:t>X</a:t>
            </a:r>
            <a:r>
              <a:rPr lang="es-PE" sz="2400" baseline="-25000" dirty="0" err="1"/>
              <a:t>ij</a:t>
            </a:r>
            <a:r>
              <a:rPr lang="es-PE" sz="2400" dirty="0"/>
              <a:t>  ≥ 0</a:t>
            </a:r>
          </a:p>
        </p:txBody>
      </p:sp>
      <p:sp>
        <p:nvSpPr>
          <p:cNvPr id="3" name="Rectángulo 2">
            <a:extLst>
              <a:ext uri="{FF2B5EF4-FFF2-40B4-BE49-F238E27FC236}">
                <a16:creationId xmlns:a16="http://schemas.microsoft.com/office/drawing/2014/main" id="{00A2F05C-7FCE-4929-A556-56710499DE86}"/>
              </a:ext>
            </a:extLst>
          </p:cNvPr>
          <p:cNvSpPr/>
          <p:nvPr/>
        </p:nvSpPr>
        <p:spPr>
          <a:xfrm>
            <a:off x="6096000" y="2484256"/>
            <a:ext cx="5851585" cy="1200329"/>
          </a:xfrm>
          <a:prstGeom prst="rect">
            <a:avLst/>
          </a:prstGeom>
          <a:solidFill>
            <a:schemeClr val="accent4">
              <a:lumMod val="40000"/>
              <a:lumOff val="60000"/>
            </a:schemeClr>
          </a:solidFill>
        </p:spPr>
        <p:txBody>
          <a:bodyPr wrap="square">
            <a:spAutoFit/>
          </a:bodyPr>
          <a:lstStyle/>
          <a:p>
            <a:pPr marL="343080" indent="-342720"/>
            <a:r>
              <a:rPr lang="es-ES" sz="2400" spc="-1" dirty="0">
                <a:solidFill>
                  <a:srgbClr val="FF0000"/>
                </a:solidFill>
                <a:latin typeface="Arial"/>
              </a:rPr>
              <a:t>II.	Identificación de la función objetivo.</a:t>
            </a:r>
          </a:p>
          <a:p>
            <a:pPr lvl="0"/>
            <a:r>
              <a:rPr lang="es-ES" sz="2400" spc="-1" dirty="0">
                <a:solidFill>
                  <a:schemeClr val="accent1">
                    <a:lumMod val="75000"/>
                  </a:schemeClr>
                </a:solidFill>
                <a:latin typeface="Arial"/>
              </a:rPr>
              <a:t>	</a:t>
            </a:r>
            <a:r>
              <a:rPr lang="es-PE" sz="2400" dirty="0"/>
              <a:t>MIN </a:t>
            </a:r>
            <a:r>
              <a:rPr lang="es-PE" sz="2400" dirty="0" err="1"/>
              <a:t>21X11</a:t>
            </a:r>
            <a:r>
              <a:rPr lang="es-PE" sz="2400" dirty="0"/>
              <a:t> + </a:t>
            </a:r>
            <a:r>
              <a:rPr lang="es-PE" sz="2400" dirty="0" err="1"/>
              <a:t>15X12</a:t>
            </a:r>
            <a:r>
              <a:rPr lang="es-PE" sz="2400" dirty="0"/>
              <a:t> + </a:t>
            </a:r>
            <a:r>
              <a:rPr lang="es-PE" sz="2400" dirty="0" err="1"/>
              <a:t>18X13</a:t>
            </a:r>
            <a:r>
              <a:rPr lang="es-PE" sz="2400" dirty="0"/>
              <a:t> +  </a:t>
            </a:r>
            <a:r>
              <a:rPr lang="es-PE" sz="2400" dirty="0" err="1"/>
              <a:t>9X14</a:t>
            </a:r>
            <a:r>
              <a:rPr lang="es-PE" sz="2400" dirty="0"/>
              <a:t> +</a:t>
            </a:r>
          </a:p>
          <a:p>
            <a:pPr lvl="0"/>
            <a:r>
              <a:rPr lang="es-PE" sz="2400" dirty="0"/>
              <a:t>	         </a:t>
            </a:r>
            <a:r>
              <a:rPr lang="es-PE" sz="2400" dirty="0" err="1"/>
              <a:t>10X21</a:t>
            </a:r>
            <a:r>
              <a:rPr lang="es-PE" sz="2400" dirty="0"/>
              <a:t> + </a:t>
            </a:r>
            <a:r>
              <a:rPr lang="es-PE" sz="2400" dirty="0" err="1"/>
              <a:t>14X22</a:t>
            </a:r>
            <a:r>
              <a:rPr lang="es-PE" sz="2400" dirty="0"/>
              <a:t> + </a:t>
            </a:r>
            <a:r>
              <a:rPr lang="es-PE" sz="2400" dirty="0" err="1"/>
              <a:t>16X23</a:t>
            </a:r>
            <a:r>
              <a:rPr lang="es-PE" sz="2400" dirty="0"/>
              <a:t> + </a:t>
            </a:r>
            <a:r>
              <a:rPr lang="es-PE" sz="2400" dirty="0" err="1"/>
              <a:t>23X24</a:t>
            </a:r>
            <a:r>
              <a:rPr lang="es-PE" sz="2400" dirty="0"/>
              <a:t>   </a:t>
            </a:r>
          </a:p>
        </p:txBody>
      </p:sp>
    </p:spTree>
    <p:extLst>
      <p:ext uri="{BB962C8B-B14F-4D97-AF65-F5344CB8AC3E}">
        <p14:creationId xmlns:p14="http://schemas.microsoft.com/office/powerpoint/2010/main" val="3177118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6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5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6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7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3" grpId="0"/>
      <p:bldP spid="844" grpId="0"/>
      <p:bldP spid="859" grpId="0"/>
      <p:bldP spid="860" grpId="0"/>
      <p:bldP spid="861" grpId="0"/>
      <p:bldP spid="875" grpId="0"/>
      <p:bldP spid="36" grpId="0" animBg="1"/>
      <p:bldP spid="2" grpId="0" animBg="1"/>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6391656" y="1467229"/>
            <a:ext cx="5466437" cy="4893647"/>
          </a:xfrm>
          <a:prstGeom prst="rect">
            <a:avLst/>
          </a:prstGeom>
          <a:solidFill>
            <a:schemeClr val="accent4">
              <a:lumMod val="40000"/>
              <a:lumOff val="60000"/>
            </a:schemeClr>
          </a:solidFill>
        </p:spPr>
        <p:txBody>
          <a:bodyPr wrap="square">
            <a:spAutoFit/>
          </a:bodyPr>
          <a:lstStyle/>
          <a:p>
            <a:r>
              <a:rPr lang="en-US" sz="2400" dirty="0">
                <a:latin typeface="Arial Narrow" pitchFamily="34" charset="0"/>
              </a:rPr>
              <a:t>        OBJECTIVE FUNCTION VALUE</a:t>
            </a:r>
          </a:p>
          <a:p>
            <a:r>
              <a:rPr lang="en-US" sz="2400" dirty="0">
                <a:latin typeface="Arial Narrow" pitchFamily="34" charset="0"/>
              </a:rPr>
              <a:t>        1)      15250.00</a:t>
            </a:r>
          </a:p>
          <a:p>
            <a:r>
              <a:rPr lang="en-US" sz="2400" dirty="0">
                <a:latin typeface="Arial Narrow" pitchFamily="34" charset="0"/>
              </a:rPr>
              <a:t>  VARIABLE        VALUE          REDUCED COST</a:t>
            </a:r>
          </a:p>
          <a:p>
            <a:r>
              <a:rPr lang="en-US" sz="2400" dirty="0">
                <a:latin typeface="Arial Narrow" pitchFamily="34" charset="0"/>
              </a:rPr>
              <a:t>       </a:t>
            </a:r>
            <a:r>
              <a:rPr lang="en-US" sz="2400" dirty="0" err="1">
                <a:latin typeface="Arial Narrow" pitchFamily="34" charset="0"/>
              </a:rPr>
              <a:t>X11</a:t>
            </a:r>
            <a:r>
              <a:rPr lang="en-US" sz="2400" dirty="0">
                <a:latin typeface="Arial Narrow" pitchFamily="34" charset="0"/>
              </a:rPr>
              <a:t>           0.000000         10.000000</a:t>
            </a:r>
          </a:p>
          <a:p>
            <a:r>
              <a:rPr lang="en-US" sz="2400" dirty="0">
                <a:latin typeface="Arial Narrow" pitchFamily="34" charset="0"/>
              </a:rPr>
              <a:t>       </a:t>
            </a:r>
            <a:r>
              <a:rPr lang="en-US" sz="2400" dirty="0" err="1">
                <a:latin typeface="Arial Narrow" pitchFamily="34" charset="0"/>
              </a:rPr>
              <a:t>X12</a:t>
            </a:r>
            <a:r>
              <a:rPr lang="en-US" sz="2400" dirty="0">
                <a:latin typeface="Arial Narrow" pitchFamily="34" charset="0"/>
              </a:rPr>
              <a:t>       200.000000          0.000000</a:t>
            </a:r>
          </a:p>
          <a:p>
            <a:r>
              <a:rPr lang="en-US" sz="2400" dirty="0">
                <a:latin typeface="Arial Narrow" pitchFamily="34" charset="0"/>
              </a:rPr>
              <a:t>       </a:t>
            </a:r>
            <a:r>
              <a:rPr lang="en-US" sz="2400" dirty="0" err="1">
                <a:latin typeface="Arial Narrow" pitchFamily="34" charset="0"/>
              </a:rPr>
              <a:t>X13</a:t>
            </a:r>
            <a:r>
              <a:rPr lang="en-US" sz="2400" dirty="0">
                <a:latin typeface="Arial Narrow" pitchFamily="34" charset="0"/>
              </a:rPr>
              <a:t>           0.000000          1.000000</a:t>
            </a:r>
          </a:p>
          <a:p>
            <a:r>
              <a:rPr lang="en-US" sz="2400" dirty="0">
                <a:latin typeface="Arial Narrow" pitchFamily="34" charset="0"/>
              </a:rPr>
              <a:t>       </a:t>
            </a:r>
            <a:r>
              <a:rPr lang="en-US" sz="2400" dirty="0" err="1">
                <a:latin typeface="Arial Narrow" pitchFamily="34" charset="0"/>
              </a:rPr>
              <a:t>X14</a:t>
            </a:r>
            <a:r>
              <a:rPr lang="en-US" sz="2400" dirty="0">
                <a:latin typeface="Arial Narrow" pitchFamily="34" charset="0"/>
              </a:rPr>
              <a:t>       350.000000          0.000000</a:t>
            </a:r>
          </a:p>
          <a:p>
            <a:r>
              <a:rPr lang="en-US" sz="2400" dirty="0">
                <a:latin typeface="Arial Narrow" pitchFamily="34" charset="0"/>
              </a:rPr>
              <a:t>       </a:t>
            </a:r>
            <a:r>
              <a:rPr lang="en-US" sz="2400" dirty="0" err="1">
                <a:latin typeface="Arial Narrow" pitchFamily="34" charset="0"/>
              </a:rPr>
              <a:t>X21</a:t>
            </a:r>
            <a:r>
              <a:rPr lang="en-US" sz="2400" dirty="0">
                <a:latin typeface="Arial Narrow" pitchFamily="34" charset="0"/>
              </a:rPr>
              <a:t>       200.000000          0.000000</a:t>
            </a:r>
          </a:p>
          <a:p>
            <a:r>
              <a:rPr lang="en-US" sz="2400" dirty="0">
                <a:latin typeface="Arial Narrow" pitchFamily="34" charset="0"/>
              </a:rPr>
              <a:t>       </a:t>
            </a:r>
            <a:r>
              <a:rPr lang="en-US" sz="2400" dirty="0" err="1">
                <a:latin typeface="Arial Narrow" pitchFamily="34" charset="0"/>
              </a:rPr>
              <a:t>X22</a:t>
            </a:r>
            <a:r>
              <a:rPr lang="en-US" sz="2400" dirty="0">
                <a:latin typeface="Arial Narrow" pitchFamily="34" charset="0"/>
              </a:rPr>
              <a:t>         50.000000          0.000000</a:t>
            </a:r>
          </a:p>
          <a:p>
            <a:r>
              <a:rPr lang="en-US" sz="2400" dirty="0">
                <a:latin typeface="Arial Narrow" pitchFamily="34" charset="0"/>
              </a:rPr>
              <a:t>       </a:t>
            </a:r>
            <a:r>
              <a:rPr lang="en-US" sz="2400" dirty="0" err="1">
                <a:latin typeface="Arial Narrow" pitchFamily="34" charset="0"/>
              </a:rPr>
              <a:t>X23</a:t>
            </a:r>
            <a:r>
              <a:rPr lang="en-US" sz="2400" dirty="0">
                <a:latin typeface="Arial Narrow" pitchFamily="34" charset="0"/>
              </a:rPr>
              <a:t>       400.000000          0.000000</a:t>
            </a:r>
          </a:p>
          <a:p>
            <a:r>
              <a:rPr lang="en-US" sz="2400" dirty="0">
                <a:latin typeface="Arial Narrow" pitchFamily="34" charset="0"/>
              </a:rPr>
              <a:t>       </a:t>
            </a:r>
            <a:r>
              <a:rPr lang="en-US" sz="2400" dirty="0" err="1">
                <a:latin typeface="Arial Narrow" pitchFamily="34" charset="0"/>
              </a:rPr>
              <a:t>X24</a:t>
            </a:r>
            <a:r>
              <a:rPr lang="en-US" sz="2400" dirty="0">
                <a:latin typeface="Arial Narrow" pitchFamily="34" charset="0"/>
              </a:rPr>
              <a:t>           0.000000         15.000000</a:t>
            </a:r>
          </a:p>
          <a:p>
            <a:r>
              <a:rPr lang="en-US" sz="2400" dirty="0">
                <a:latin typeface="Arial Narrow" pitchFamily="34" charset="0"/>
              </a:rPr>
              <a:t>       </a:t>
            </a:r>
            <a:endParaRPr lang="es-PE" sz="2400" dirty="0">
              <a:latin typeface="Arial Narrow" pitchFamily="34" charset="0"/>
            </a:endParaRPr>
          </a:p>
        </p:txBody>
      </p:sp>
      <p:sp>
        <p:nvSpPr>
          <p:cNvPr id="3" name="2 Rectángulo"/>
          <p:cNvSpPr/>
          <p:nvPr/>
        </p:nvSpPr>
        <p:spPr>
          <a:xfrm>
            <a:off x="585216" y="1420124"/>
            <a:ext cx="5218175" cy="5262979"/>
          </a:xfrm>
          <a:prstGeom prst="rect">
            <a:avLst/>
          </a:prstGeom>
          <a:solidFill>
            <a:srgbClr val="FFFF00"/>
          </a:solidFill>
        </p:spPr>
        <p:txBody>
          <a:bodyPr wrap="square">
            <a:spAutoFit/>
          </a:bodyPr>
          <a:lstStyle/>
          <a:p>
            <a:r>
              <a:rPr lang="es-PE" sz="2400" dirty="0"/>
              <a:t>MIN </a:t>
            </a:r>
            <a:r>
              <a:rPr lang="es-PE" sz="2400" dirty="0" err="1"/>
              <a:t>21X11</a:t>
            </a:r>
            <a:r>
              <a:rPr lang="es-PE" sz="2400" dirty="0"/>
              <a:t> + </a:t>
            </a:r>
            <a:r>
              <a:rPr lang="es-PE" sz="2400" dirty="0" err="1"/>
              <a:t>15X12</a:t>
            </a:r>
            <a:r>
              <a:rPr lang="es-PE" sz="2400" dirty="0"/>
              <a:t> + </a:t>
            </a:r>
            <a:r>
              <a:rPr lang="es-PE" sz="2400" dirty="0" err="1"/>
              <a:t>18X13</a:t>
            </a:r>
            <a:r>
              <a:rPr lang="es-PE" sz="2400" dirty="0"/>
              <a:t> +  </a:t>
            </a:r>
            <a:r>
              <a:rPr lang="es-PE" sz="2400" dirty="0" err="1"/>
              <a:t>9X14</a:t>
            </a:r>
            <a:r>
              <a:rPr lang="es-PE" sz="2400" dirty="0"/>
              <a:t> + </a:t>
            </a:r>
            <a:r>
              <a:rPr lang="es-PE" sz="2400" dirty="0" err="1"/>
              <a:t>10X21</a:t>
            </a:r>
            <a:r>
              <a:rPr lang="es-PE" sz="2400" dirty="0"/>
              <a:t> + </a:t>
            </a:r>
            <a:r>
              <a:rPr lang="es-PE" sz="2400" dirty="0" err="1"/>
              <a:t>14X22</a:t>
            </a:r>
            <a:r>
              <a:rPr lang="es-PE" sz="2400" dirty="0"/>
              <a:t> + </a:t>
            </a:r>
            <a:r>
              <a:rPr lang="es-PE" sz="2400" dirty="0" err="1"/>
              <a:t>16X23</a:t>
            </a:r>
            <a:r>
              <a:rPr lang="es-PE" sz="2400" dirty="0"/>
              <a:t> + </a:t>
            </a:r>
            <a:r>
              <a:rPr lang="es-PE" sz="2400" dirty="0" err="1"/>
              <a:t>23X24</a:t>
            </a:r>
            <a:r>
              <a:rPr lang="es-PE" sz="2400" dirty="0"/>
              <a:t>   </a:t>
            </a:r>
          </a:p>
          <a:p>
            <a:r>
              <a:rPr lang="es-PE" sz="2400" dirty="0" err="1"/>
              <a:t>ST</a:t>
            </a:r>
            <a:endParaRPr lang="es-PE" sz="2400" dirty="0"/>
          </a:p>
          <a:p>
            <a:r>
              <a:rPr lang="es-PE" sz="2400" dirty="0" err="1"/>
              <a:t>X11</a:t>
            </a:r>
            <a:r>
              <a:rPr lang="es-PE" sz="2400" dirty="0"/>
              <a:t> + </a:t>
            </a:r>
            <a:r>
              <a:rPr lang="es-PE" sz="2400" dirty="0" err="1"/>
              <a:t>X12</a:t>
            </a:r>
            <a:r>
              <a:rPr lang="es-PE" sz="2400" dirty="0"/>
              <a:t> + </a:t>
            </a:r>
            <a:r>
              <a:rPr lang="es-PE" sz="2400" dirty="0" err="1"/>
              <a:t>X13</a:t>
            </a:r>
            <a:r>
              <a:rPr lang="es-PE" sz="2400" dirty="0"/>
              <a:t> + </a:t>
            </a:r>
            <a:r>
              <a:rPr lang="es-PE" sz="2400" dirty="0" err="1"/>
              <a:t>X14</a:t>
            </a:r>
            <a:r>
              <a:rPr lang="es-PE" sz="2400" dirty="0"/>
              <a:t>  &lt;= 550 </a:t>
            </a:r>
          </a:p>
          <a:p>
            <a:endParaRPr lang="es-PE" sz="2400" dirty="0"/>
          </a:p>
          <a:p>
            <a:r>
              <a:rPr lang="es-PE" sz="2400" dirty="0" err="1"/>
              <a:t>X21</a:t>
            </a:r>
            <a:r>
              <a:rPr lang="es-PE" sz="2400" dirty="0"/>
              <a:t> + </a:t>
            </a:r>
            <a:r>
              <a:rPr lang="es-PE" sz="2400" dirty="0" err="1"/>
              <a:t>X22</a:t>
            </a:r>
            <a:r>
              <a:rPr lang="es-PE" sz="2400" dirty="0"/>
              <a:t> + </a:t>
            </a:r>
            <a:r>
              <a:rPr lang="es-PE" sz="2400" dirty="0" err="1"/>
              <a:t>X23</a:t>
            </a:r>
            <a:r>
              <a:rPr lang="es-PE" sz="2400" dirty="0"/>
              <a:t> + </a:t>
            </a:r>
            <a:r>
              <a:rPr lang="es-PE" sz="2400" dirty="0" err="1"/>
              <a:t>X24</a:t>
            </a:r>
            <a:r>
              <a:rPr lang="es-PE" sz="2400" dirty="0"/>
              <a:t>  &lt;= 650</a:t>
            </a:r>
          </a:p>
          <a:p>
            <a:endParaRPr lang="es-PE" sz="2400" dirty="0"/>
          </a:p>
          <a:p>
            <a:r>
              <a:rPr lang="es-PE" sz="2400" dirty="0" err="1"/>
              <a:t>X11</a:t>
            </a:r>
            <a:r>
              <a:rPr lang="es-PE" sz="2400" dirty="0"/>
              <a:t> + </a:t>
            </a:r>
            <a:r>
              <a:rPr lang="es-PE" sz="2400" dirty="0" err="1"/>
              <a:t>X21</a:t>
            </a:r>
            <a:r>
              <a:rPr lang="es-PE" sz="2400" dirty="0"/>
              <a:t> =  200</a:t>
            </a:r>
          </a:p>
          <a:p>
            <a:endParaRPr lang="es-PE" sz="2400" dirty="0"/>
          </a:p>
          <a:p>
            <a:r>
              <a:rPr lang="es-PE" sz="2400" dirty="0" err="1"/>
              <a:t>X12</a:t>
            </a:r>
            <a:r>
              <a:rPr lang="es-PE" sz="2400" dirty="0"/>
              <a:t> + </a:t>
            </a:r>
            <a:r>
              <a:rPr lang="es-PE" sz="2400" dirty="0" err="1"/>
              <a:t>X22</a:t>
            </a:r>
            <a:r>
              <a:rPr lang="es-PE" sz="2400" dirty="0"/>
              <a:t> =  250</a:t>
            </a:r>
          </a:p>
          <a:p>
            <a:endParaRPr lang="es-PE" sz="2400" dirty="0"/>
          </a:p>
          <a:p>
            <a:r>
              <a:rPr lang="es-PE" sz="2400" dirty="0" err="1"/>
              <a:t>X13</a:t>
            </a:r>
            <a:r>
              <a:rPr lang="es-PE" sz="2400" dirty="0"/>
              <a:t> + </a:t>
            </a:r>
            <a:r>
              <a:rPr lang="es-PE" sz="2400" dirty="0" err="1"/>
              <a:t>X23</a:t>
            </a:r>
            <a:r>
              <a:rPr lang="es-PE" sz="2400" dirty="0"/>
              <a:t> =  400 </a:t>
            </a:r>
          </a:p>
          <a:p>
            <a:endParaRPr lang="es-PE" sz="2400" dirty="0"/>
          </a:p>
          <a:p>
            <a:r>
              <a:rPr lang="es-PE" sz="2400" dirty="0" err="1"/>
              <a:t>X14</a:t>
            </a:r>
            <a:r>
              <a:rPr lang="es-PE" sz="2400" dirty="0"/>
              <a:t> + </a:t>
            </a:r>
            <a:r>
              <a:rPr lang="es-PE" sz="2400" dirty="0" err="1"/>
              <a:t>X24</a:t>
            </a:r>
            <a:r>
              <a:rPr lang="es-PE" sz="2400" dirty="0"/>
              <a:t> =  350 </a:t>
            </a:r>
          </a:p>
        </p:txBody>
      </p:sp>
      <p:sp>
        <p:nvSpPr>
          <p:cNvPr id="4" name="TextShape 1">
            <a:extLst>
              <a:ext uri="{FF2B5EF4-FFF2-40B4-BE49-F238E27FC236}">
                <a16:creationId xmlns:a16="http://schemas.microsoft.com/office/drawing/2014/main" id="{540F0943-C654-4679-8FA4-34CC992F788C}"/>
              </a:ext>
            </a:extLst>
          </p:cNvPr>
          <p:cNvSpPr txBox="1"/>
          <p:nvPr/>
        </p:nvSpPr>
        <p:spPr>
          <a:xfrm>
            <a:off x="6096000" y="260389"/>
            <a:ext cx="6096000" cy="608292"/>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defPPr>
              <a:defRPr lang="es-ES"/>
            </a:defPPr>
            <a:lvl1pPr algn="ctr">
              <a:lnSpc>
                <a:spcPts val="5800"/>
              </a:lnSpc>
              <a:spcBef>
                <a:spcPct val="0"/>
              </a:spcBef>
              <a:defRPr sz="3200">
                <a:solidFill>
                  <a:schemeClr val="bg1"/>
                </a:solidFill>
                <a:effectLst>
                  <a:outerShdw blurRad="63500" dist="38100" dir="5400000" algn="t" rotWithShape="0">
                    <a:prstClr val="black">
                      <a:alpha val="25000"/>
                    </a:prstClr>
                  </a:outerShdw>
                </a:effectLst>
                <a:latin typeface="Bauhaus 93" pitchFamily="82" charset="0"/>
              </a:defRPr>
            </a:lvl1pPr>
          </a:lstStyle>
          <a:p>
            <a:r>
              <a:rPr lang="en-US" dirty="0"/>
              <a:t>Lindo</a:t>
            </a:r>
          </a:p>
        </p:txBody>
      </p:sp>
    </p:spTree>
    <p:extLst>
      <p:ext uri="{BB962C8B-B14F-4D97-AF65-F5344CB8AC3E}">
        <p14:creationId xmlns:p14="http://schemas.microsoft.com/office/powerpoint/2010/main" val="1069148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 name="CustomShape 1"/>
          <p:cNvSpPr/>
          <p:nvPr/>
        </p:nvSpPr>
        <p:spPr>
          <a:xfrm>
            <a:off x="1524000" y="239400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883" name="Table 2"/>
          <p:cNvGraphicFramePr/>
          <p:nvPr/>
        </p:nvGraphicFramePr>
        <p:xfrm>
          <a:off x="2135560" y="1268280"/>
          <a:ext cx="7960401" cy="3041071"/>
        </p:xfrm>
        <a:graphic>
          <a:graphicData uri="http://schemas.openxmlformats.org/drawingml/2006/table">
            <a:tbl>
              <a:tblPr/>
              <a:tblGrid>
                <a:gridCol w="1944217">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792088">
                  <a:extLst>
                    <a:ext uri="{9D8B030D-6E8A-4147-A177-3AD203B41FA5}">
                      <a16:colId xmlns:a16="http://schemas.microsoft.com/office/drawing/2014/main" val="20002"/>
                    </a:ext>
                  </a:extLst>
                </a:gridCol>
                <a:gridCol w="792088">
                  <a:extLst>
                    <a:ext uri="{9D8B030D-6E8A-4147-A177-3AD203B41FA5}">
                      <a16:colId xmlns:a16="http://schemas.microsoft.com/office/drawing/2014/main" val="20003"/>
                    </a:ext>
                  </a:extLst>
                </a:gridCol>
                <a:gridCol w="792088">
                  <a:extLst>
                    <a:ext uri="{9D8B030D-6E8A-4147-A177-3AD203B41FA5}">
                      <a16:colId xmlns:a16="http://schemas.microsoft.com/office/drawing/2014/main" val="20004"/>
                    </a:ext>
                  </a:extLst>
                </a:gridCol>
                <a:gridCol w="1152128">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43576">
                  <a:extLst>
                    <a:ext uri="{9D8B030D-6E8A-4147-A177-3AD203B41FA5}">
                      <a16:colId xmlns:a16="http://schemas.microsoft.com/office/drawing/2014/main" val="20008"/>
                    </a:ext>
                  </a:extLst>
                </a:gridCol>
              </a:tblGrid>
              <a:tr h="736920">
                <a:tc>
                  <a:txBody>
                    <a:bodyPr/>
                    <a:lstStyle/>
                    <a:p>
                      <a:pPr>
                        <a:lnSpc>
                          <a:spcPct val="95000"/>
                        </a:lnSpc>
                      </a:pPr>
                      <a:r>
                        <a:rPr lang="es-PE" sz="2400" b="1" strike="noStrike" spc="-1" dirty="0">
                          <a:solidFill>
                            <a:schemeClr val="bg1"/>
                          </a:solidFill>
                          <a:latin typeface="Arial"/>
                        </a:rPr>
                        <a:t>Mayoristas</a:t>
                      </a:r>
                      <a:endParaRPr lang="es-PE" sz="2400" b="0" strike="noStrike" spc="-1" dirty="0">
                        <a:solidFill>
                          <a:schemeClr val="bg1"/>
                        </a:solidFill>
                        <a:latin typeface="Arial"/>
                      </a:endParaRPr>
                    </a:p>
                    <a:p>
                      <a:pPr>
                        <a:lnSpc>
                          <a:spcPct val="95000"/>
                        </a:lnSpc>
                      </a:pPr>
                      <a:r>
                        <a:rPr lang="es-PE" sz="2400" b="1" strike="noStrike" spc="-1" dirty="0">
                          <a:solidFill>
                            <a:schemeClr val="bg1"/>
                          </a:solidFill>
                          <a:latin typeface="Arial"/>
                        </a:rPr>
                        <a:t>Fábrica</a:t>
                      </a:r>
                      <a:endParaRPr lang="es-PE" sz="2400" b="0" strike="noStrike" spc="-1" dirty="0">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a:solidFill>
                            <a:schemeClr val="bg1"/>
                          </a:solidFill>
                          <a:latin typeface="Arial"/>
                        </a:rPr>
                        <a:t>A</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a:solidFill>
                            <a:schemeClr val="bg1"/>
                          </a:solidFill>
                          <a:latin typeface="Arial"/>
                        </a:rPr>
                        <a:t>B</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a:solidFill>
                            <a:schemeClr val="bg1"/>
                          </a:solidFill>
                          <a:latin typeface="Arial"/>
                        </a:rPr>
                        <a:t>C</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a:solidFill>
                            <a:schemeClr val="bg1"/>
                          </a:solidFill>
                          <a:latin typeface="Arial"/>
                        </a:rPr>
                        <a:t>D</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a:solidFill>
                            <a:schemeClr val="bg1"/>
                          </a:solidFill>
                          <a:latin typeface="Arial"/>
                        </a:rPr>
                        <a:t>Oferta </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r">
                        <a:lnSpc>
                          <a:spcPct val="95000"/>
                        </a:lnSpc>
                      </a:pPr>
                      <a:r>
                        <a:rPr lang="es-PE" sz="2400" b="1" strike="noStrike" spc="-1" dirty="0">
                          <a:solidFill>
                            <a:schemeClr val="tx1"/>
                          </a:solidFill>
                          <a:latin typeface="Arial"/>
                        </a:rPr>
                        <a:t>P</a:t>
                      </a:r>
                      <a:r>
                        <a:rPr lang="es-PE" sz="2400" b="1" strike="noStrike" spc="-1" baseline="-30000" dirty="0">
                          <a:solidFill>
                            <a:schemeClr val="tx1"/>
                          </a:solidFill>
                          <a:latin typeface="Arial"/>
                        </a:rPr>
                        <a:t>1</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838447">
                <a:tc>
                  <a:txBody>
                    <a:bodyPr/>
                    <a:lstStyle/>
                    <a:p>
                      <a:pPr algn="ctr">
                        <a:lnSpc>
                          <a:spcPct val="95000"/>
                        </a:lnSpc>
                      </a:pPr>
                      <a:r>
                        <a:rPr lang="es-PE" sz="2400" b="1" strike="noStrike" spc="-1">
                          <a:solidFill>
                            <a:schemeClr val="bg1"/>
                          </a:solidFill>
                          <a:latin typeface="Arial"/>
                        </a:rPr>
                        <a:t>Norte</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dirty="0">
                          <a:solidFill>
                            <a:srgbClr val="7030A0"/>
                          </a:solidFill>
                          <a:latin typeface="Arial"/>
                        </a:rPr>
                        <a:t>21</a:t>
                      </a:r>
                      <a:endParaRPr lang="es-PE" sz="2400" b="0" strike="noStrike" spc="-1" dirty="0">
                        <a:solidFill>
                          <a:srgbClr val="7030A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7030A0"/>
                          </a:solidFill>
                          <a:latin typeface="Arial"/>
                        </a:rPr>
                        <a:t>15</a:t>
                      </a:r>
                      <a:endParaRPr lang="es-PE" sz="2400" b="0" strike="noStrike" spc="-1" dirty="0">
                        <a:solidFill>
                          <a:srgbClr val="7030A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rgbClr val="7030A0"/>
                          </a:solidFill>
                          <a:latin typeface="Arial"/>
                        </a:rPr>
                        <a:t>18</a:t>
                      </a:r>
                      <a:endParaRPr lang="es-PE" sz="2400" b="0" strike="noStrike" spc="-1">
                        <a:solidFill>
                          <a:srgbClr val="7030A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rgbClr val="7030A0"/>
                          </a:solidFill>
                          <a:latin typeface="Arial"/>
                        </a:rPr>
                        <a:t>9</a:t>
                      </a:r>
                      <a:endParaRPr lang="es-PE" sz="2400" b="0" strike="noStrike" spc="-1">
                        <a:solidFill>
                          <a:srgbClr val="7030A0"/>
                        </a:solidFill>
                        <a:latin typeface="Arial"/>
                      </a:endParaRPr>
                    </a:p>
                    <a:p>
                      <a:pPr algn="ctr">
                        <a:lnSpc>
                          <a:spcPct val="95000"/>
                        </a:lnSpc>
                      </a:pPr>
                      <a:r>
                        <a:rPr lang="es-PE" sz="2400" b="1" strike="noStrike" spc="-1">
                          <a:solidFill>
                            <a:srgbClr val="7030A0"/>
                          </a:solidFill>
                          <a:latin typeface="Arial"/>
                        </a:rPr>
                        <a:t>*</a:t>
                      </a:r>
                      <a:endParaRPr lang="es-PE" sz="2400" b="0" strike="noStrike" spc="-1">
                        <a:solidFill>
                          <a:srgbClr val="7030A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0C0C0"/>
                    </a:solidFill>
                  </a:tcPr>
                </a:tc>
                <a:tc>
                  <a:txBody>
                    <a:bodyPr/>
                    <a:lstStyle/>
                    <a:p>
                      <a:pPr algn="ctr">
                        <a:lnSpc>
                          <a:spcPct val="95000"/>
                        </a:lnSpc>
                      </a:pPr>
                      <a:r>
                        <a:rPr lang="es-PE" sz="2400" b="1" strike="noStrike" spc="-1" dirty="0">
                          <a:solidFill>
                            <a:schemeClr val="tx1"/>
                          </a:solidFill>
                          <a:latin typeface="Arial"/>
                        </a:rPr>
                        <a:t>550</a:t>
                      </a:r>
                      <a:endParaRPr lang="es-PE" sz="2400" b="0" strike="noStrike" spc="-1" dirty="0">
                        <a:solidFill>
                          <a:schemeClr val="tx1"/>
                        </a:solidFill>
                        <a:latin typeface="Arial"/>
                      </a:endParaRPr>
                    </a:p>
                    <a:p>
                      <a:pPr algn="ctr">
                        <a:lnSpc>
                          <a:spcPct val="95000"/>
                        </a:lnSpc>
                      </a:pPr>
                      <a:r>
                        <a:rPr lang="es-PE" sz="2400" b="1" strike="noStrike" spc="-1" dirty="0">
                          <a:solidFill>
                            <a:schemeClr val="tx1"/>
                          </a:solidFill>
                          <a:latin typeface="Arial"/>
                        </a:rPr>
                        <a:t>200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a:rPr>
                        <a:t>6</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626040">
                <a:tc>
                  <a:txBody>
                    <a:bodyPr/>
                    <a:lstStyle/>
                    <a:p>
                      <a:pPr algn="ctr">
                        <a:lnSpc>
                          <a:spcPct val="95000"/>
                        </a:lnSpc>
                      </a:pPr>
                      <a:r>
                        <a:rPr lang="es-PE" sz="2400" b="1" strike="noStrike" spc="-1">
                          <a:solidFill>
                            <a:schemeClr val="bg1"/>
                          </a:solidFill>
                          <a:latin typeface="Arial"/>
                        </a:rPr>
                        <a:t>Sur</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dirty="0">
                          <a:solidFill>
                            <a:srgbClr val="7030A0"/>
                          </a:solidFill>
                          <a:latin typeface="Arial"/>
                        </a:rPr>
                        <a:t>10</a:t>
                      </a:r>
                      <a:endParaRPr lang="es-PE" sz="2400" b="0" strike="noStrike" spc="-1" dirty="0">
                        <a:solidFill>
                          <a:srgbClr val="7030A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7030A0"/>
                          </a:solidFill>
                          <a:latin typeface="Arial"/>
                        </a:rPr>
                        <a:t>14</a:t>
                      </a:r>
                      <a:endParaRPr lang="es-PE" sz="2400" b="0" strike="noStrike" spc="-1" dirty="0">
                        <a:solidFill>
                          <a:srgbClr val="7030A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7030A0"/>
                          </a:solidFill>
                          <a:latin typeface="Arial"/>
                        </a:rPr>
                        <a:t>16</a:t>
                      </a:r>
                      <a:endParaRPr lang="es-PE" sz="2400" b="0" strike="noStrike" spc="-1" dirty="0">
                        <a:solidFill>
                          <a:srgbClr val="7030A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7030A0"/>
                          </a:solidFill>
                          <a:latin typeface="Arial"/>
                        </a:rPr>
                        <a:t>23</a:t>
                      </a:r>
                      <a:endParaRPr lang="es-PE" sz="2400" b="0" strike="noStrike" spc="-1" dirty="0">
                        <a:solidFill>
                          <a:srgbClr val="7030A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0C0C0"/>
                    </a:solidFill>
                  </a:tcPr>
                </a:tc>
                <a:tc>
                  <a:txBody>
                    <a:bodyPr/>
                    <a:lstStyle/>
                    <a:p>
                      <a:pPr algn="ctr">
                        <a:lnSpc>
                          <a:spcPct val="95000"/>
                        </a:lnSpc>
                      </a:pPr>
                      <a:r>
                        <a:rPr lang="es-PE" sz="2400" b="1" strike="noStrike" spc="-1">
                          <a:solidFill>
                            <a:schemeClr val="tx1"/>
                          </a:solidFill>
                          <a:latin typeface="Arial"/>
                        </a:rPr>
                        <a:t>650</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a:rPr>
                        <a:t>4</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790200">
                <a:tc>
                  <a:txBody>
                    <a:bodyPr/>
                    <a:lstStyle/>
                    <a:p>
                      <a:pPr algn="ctr">
                        <a:lnSpc>
                          <a:spcPct val="95000"/>
                        </a:lnSpc>
                      </a:pPr>
                      <a:r>
                        <a:rPr lang="es-PE" sz="2400" b="1" strike="noStrike" spc="-1">
                          <a:solidFill>
                            <a:schemeClr val="bg1"/>
                          </a:solidFill>
                          <a:latin typeface="Arial"/>
                        </a:rPr>
                        <a:t>Demanda </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a:solidFill>
                            <a:schemeClr val="tx1"/>
                          </a:solidFill>
                          <a:latin typeface="Arial"/>
                        </a:rPr>
                        <a:t>200</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a:rPr>
                        <a:t>250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a:rPr>
                        <a:t>400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a:rPr>
                        <a:t>350</a:t>
                      </a:r>
                      <a:endParaRPr lang="es-PE" sz="2400" b="0" strike="noStrike" spc="-1" dirty="0">
                        <a:solidFill>
                          <a:schemeClr val="tx1"/>
                        </a:solidFill>
                        <a:latin typeface="Arial"/>
                      </a:endParaRPr>
                    </a:p>
                    <a:p>
                      <a:pPr algn="ctr">
                        <a:lnSpc>
                          <a:spcPct val="95000"/>
                        </a:lnSpc>
                      </a:pPr>
                      <a:r>
                        <a:rPr lang="es-PE" sz="2400" b="1" strike="noStrike" spc="-1" dirty="0">
                          <a:solidFill>
                            <a:schemeClr val="tx1"/>
                          </a:solidFill>
                          <a:latin typeface="Arial"/>
                        </a:rPr>
                        <a:t>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3"/>
                  </a:ext>
                </a:extLst>
              </a:tr>
            </a:tbl>
          </a:graphicData>
        </a:graphic>
      </p:graphicFrame>
      <p:sp>
        <p:nvSpPr>
          <p:cNvPr id="884" name="CustomShape 3"/>
          <p:cNvSpPr/>
          <p:nvPr/>
        </p:nvSpPr>
        <p:spPr>
          <a:xfrm>
            <a:off x="1524000" y="277488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885" name="Table 4"/>
          <p:cNvGraphicFramePr/>
          <p:nvPr/>
        </p:nvGraphicFramePr>
        <p:xfrm>
          <a:off x="2135559" y="5286240"/>
          <a:ext cx="5184576" cy="1285560"/>
        </p:xfrm>
        <a:graphic>
          <a:graphicData uri="http://schemas.openxmlformats.org/drawingml/2006/table">
            <a:tbl>
              <a:tblPr/>
              <a:tblGrid>
                <a:gridCol w="1944217">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792088">
                  <a:extLst>
                    <a:ext uri="{9D8B030D-6E8A-4147-A177-3AD203B41FA5}">
                      <a16:colId xmlns:a16="http://schemas.microsoft.com/office/drawing/2014/main" val="20002"/>
                    </a:ext>
                  </a:extLst>
                </a:gridCol>
                <a:gridCol w="792088">
                  <a:extLst>
                    <a:ext uri="{9D8B030D-6E8A-4147-A177-3AD203B41FA5}">
                      <a16:colId xmlns:a16="http://schemas.microsoft.com/office/drawing/2014/main" val="20003"/>
                    </a:ext>
                  </a:extLst>
                </a:gridCol>
                <a:gridCol w="864095">
                  <a:extLst>
                    <a:ext uri="{9D8B030D-6E8A-4147-A177-3AD203B41FA5}">
                      <a16:colId xmlns:a16="http://schemas.microsoft.com/office/drawing/2014/main" val="20004"/>
                    </a:ext>
                  </a:extLst>
                </a:gridCol>
              </a:tblGrid>
              <a:tr h="475560">
                <a:tc>
                  <a:txBody>
                    <a:bodyPr/>
                    <a:lstStyle/>
                    <a:p>
                      <a:pPr algn="r">
                        <a:lnSpc>
                          <a:spcPct val="95000"/>
                        </a:lnSpc>
                      </a:pPr>
                      <a:r>
                        <a:rPr lang="es-PE" sz="2400" b="1" strike="noStrike" spc="-1" dirty="0">
                          <a:solidFill>
                            <a:schemeClr val="tx1"/>
                          </a:solidFill>
                          <a:latin typeface="Arial"/>
                        </a:rPr>
                        <a:t>P</a:t>
                      </a:r>
                      <a:r>
                        <a:rPr lang="es-PE" sz="2400" b="1" strike="noStrike" spc="-1" baseline="-30000" dirty="0">
                          <a:solidFill>
                            <a:schemeClr val="tx1"/>
                          </a:solidFill>
                          <a:latin typeface="Arial"/>
                        </a:rPr>
                        <a:t>1</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a:rPr>
                        <a:t>11</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a:rPr>
                        <a:t>1</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a:rPr>
                        <a:t>2</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a:rPr>
                        <a:t>14</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405000">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405000">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bl>
          </a:graphicData>
        </a:graphic>
      </p:graphicFrame>
      <p:sp>
        <p:nvSpPr>
          <p:cNvPr id="8" name="CustomShape 5"/>
          <p:cNvSpPr/>
          <p:nvPr/>
        </p:nvSpPr>
        <p:spPr>
          <a:xfrm>
            <a:off x="6096000" y="163488"/>
            <a:ext cx="6096000" cy="56304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lnSpc>
                <a:spcPts val="5800"/>
              </a:lnSpc>
              <a:spcBef>
                <a:spcPct val="0"/>
              </a:spcBef>
            </a:pPr>
            <a:r>
              <a:rPr lang="es-PE" sz="3200" dirty="0">
                <a:solidFill>
                  <a:schemeClr val="bg1"/>
                </a:solidFill>
                <a:effectLst>
                  <a:outerShdw blurRad="63500" dist="38100" dir="5400000" algn="t" rotWithShape="0">
                    <a:prstClr val="black">
                      <a:alpha val="25000"/>
                    </a:prstClr>
                  </a:outerShdw>
                </a:effectLst>
                <a:latin typeface="Bauhaus 93" pitchFamily="82" charset="0"/>
              </a:rPr>
              <a:t>Método Vogel</a:t>
            </a:r>
          </a:p>
        </p:txBody>
      </p:sp>
      <p:sp>
        <p:nvSpPr>
          <p:cNvPr id="9" name="CuadroTexto 8">
            <a:extLst>
              <a:ext uri="{FF2B5EF4-FFF2-40B4-BE49-F238E27FC236}">
                <a16:creationId xmlns:a16="http://schemas.microsoft.com/office/drawing/2014/main" id="{78AA07D0-2CF3-4322-9FA7-74B000F61BEB}"/>
              </a:ext>
            </a:extLst>
          </p:cNvPr>
          <p:cNvSpPr txBox="1"/>
          <p:nvPr/>
        </p:nvSpPr>
        <p:spPr>
          <a:xfrm>
            <a:off x="258793" y="2191109"/>
            <a:ext cx="1380226" cy="646331"/>
          </a:xfrm>
          <a:prstGeom prst="rect">
            <a:avLst/>
          </a:prstGeom>
          <a:solidFill>
            <a:srgbClr val="FFFF00"/>
          </a:solidFill>
        </p:spPr>
        <p:txBody>
          <a:bodyPr wrap="square" rtlCol="0">
            <a:spAutoFit/>
          </a:bodyPr>
          <a:lstStyle/>
          <a:p>
            <a:r>
              <a:rPr lang="es-ES" b="1" dirty="0"/>
              <a:t>Hallamos las penalidades</a:t>
            </a:r>
          </a:p>
        </p:txBody>
      </p:sp>
      <p:sp>
        <p:nvSpPr>
          <p:cNvPr id="10" name="Rectángulo 9">
            <a:extLst>
              <a:ext uri="{FF2B5EF4-FFF2-40B4-BE49-F238E27FC236}">
                <a16:creationId xmlns:a16="http://schemas.microsoft.com/office/drawing/2014/main" id="{7F60EABA-6B2A-428A-9C2F-352FF41AD31C}"/>
              </a:ext>
            </a:extLst>
          </p:cNvPr>
          <p:cNvSpPr/>
          <p:nvPr/>
        </p:nvSpPr>
        <p:spPr>
          <a:xfrm>
            <a:off x="258136" y="3054556"/>
            <a:ext cx="1372258" cy="923330"/>
          </a:xfrm>
          <a:prstGeom prst="rect">
            <a:avLst/>
          </a:prstGeom>
          <a:solidFill>
            <a:srgbClr val="FFFF00"/>
          </a:solidFill>
        </p:spPr>
        <p:txBody>
          <a:bodyPr wrap="square">
            <a:spAutoFit/>
          </a:bodyPr>
          <a:lstStyle/>
          <a:p>
            <a:r>
              <a:rPr lang="es-ES" b="1" dirty="0"/>
              <a:t>Hallamos la mayor penalidad</a:t>
            </a:r>
            <a:endParaRPr lang="es-PE" b="1" dirty="0"/>
          </a:p>
        </p:txBody>
      </p:sp>
      <p:sp>
        <p:nvSpPr>
          <p:cNvPr id="11" name="CuadroTexto 10">
            <a:extLst>
              <a:ext uri="{FF2B5EF4-FFF2-40B4-BE49-F238E27FC236}">
                <a16:creationId xmlns:a16="http://schemas.microsoft.com/office/drawing/2014/main" id="{9F2629AC-0CBD-4533-9F3B-76D9FBD80D8F}"/>
              </a:ext>
            </a:extLst>
          </p:cNvPr>
          <p:cNvSpPr txBox="1"/>
          <p:nvPr/>
        </p:nvSpPr>
        <p:spPr>
          <a:xfrm>
            <a:off x="264551" y="4198193"/>
            <a:ext cx="1380226" cy="646331"/>
          </a:xfrm>
          <a:prstGeom prst="rect">
            <a:avLst/>
          </a:prstGeom>
          <a:solidFill>
            <a:srgbClr val="FFFF00"/>
          </a:solidFill>
        </p:spPr>
        <p:txBody>
          <a:bodyPr wrap="square" rtlCol="0">
            <a:spAutoFit/>
          </a:bodyPr>
          <a:lstStyle/>
          <a:p>
            <a:r>
              <a:rPr lang="es-ES" b="1" dirty="0"/>
              <a:t>Hallamos el menor costo</a:t>
            </a:r>
          </a:p>
        </p:txBody>
      </p:sp>
      <p:sp>
        <p:nvSpPr>
          <p:cNvPr id="12" name="CuadroTexto 11">
            <a:extLst>
              <a:ext uri="{FF2B5EF4-FFF2-40B4-BE49-F238E27FC236}">
                <a16:creationId xmlns:a16="http://schemas.microsoft.com/office/drawing/2014/main" id="{ADFB68BC-C4F7-47A8-9937-7749E86792A6}"/>
              </a:ext>
            </a:extLst>
          </p:cNvPr>
          <p:cNvSpPr txBox="1"/>
          <p:nvPr/>
        </p:nvSpPr>
        <p:spPr>
          <a:xfrm>
            <a:off x="264551" y="5086705"/>
            <a:ext cx="1380226" cy="646331"/>
          </a:xfrm>
          <a:prstGeom prst="rect">
            <a:avLst/>
          </a:prstGeom>
          <a:solidFill>
            <a:srgbClr val="FFFF00"/>
          </a:solidFill>
        </p:spPr>
        <p:txBody>
          <a:bodyPr wrap="square" rtlCol="0">
            <a:spAutoFit/>
          </a:bodyPr>
          <a:lstStyle/>
          <a:p>
            <a:r>
              <a:rPr lang="es-ES" b="1" dirty="0"/>
              <a:t>Anotamos la operación</a:t>
            </a:r>
          </a:p>
        </p:txBody>
      </p:sp>
      <p:sp>
        <p:nvSpPr>
          <p:cNvPr id="13" name="Globo: flecha hacia abajo 12">
            <a:extLst>
              <a:ext uri="{FF2B5EF4-FFF2-40B4-BE49-F238E27FC236}">
                <a16:creationId xmlns:a16="http://schemas.microsoft.com/office/drawing/2014/main" id="{BBE04A83-A809-460A-A619-64E08F7CA1B4}"/>
              </a:ext>
            </a:extLst>
          </p:cNvPr>
          <p:cNvSpPr/>
          <p:nvPr/>
        </p:nvSpPr>
        <p:spPr>
          <a:xfrm>
            <a:off x="276044" y="1276709"/>
            <a:ext cx="1345721" cy="897148"/>
          </a:xfrm>
          <a:prstGeom prst="downArrowCallou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rgbClr val="FF0000"/>
                </a:solidFill>
              </a:rPr>
              <a:t>Pasos:</a:t>
            </a:r>
            <a:endParaRPr lang="es-PE" sz="2400" dirty="0">
              <a:solidFill>
                <a:srgbClr val="FF0000"/>
              </a:solidFill>
            </a:endParaRPr>
          </a:p>
        </p:txBody>
      </p:sp>
      <p:sp>
        <p:nvSpPr>
          <p:cNvPr id="4" name="Forma libre: forma 3">
            <a:extLst>
              <a:ext uri="{FF2B5EF4-FFF2-40B4-BE49-F238E27FC236}">
                <a16:creationId xmlns:a16="http://schemas.microsoft.com/office/drawing/2014/main" id="{983A948C-EE38-43D6-BB11-38FB0D669562}"/>
              </a:ext>
            </a:extLst>
          </p:cNvPr>
          <p:cNvSpPr/>
          <p:nvPr/>
        </p:nvSpPr>
        <p:spPr>
          <a:xfrm>
            <a:off x="8096160" y="5122665"/>
            <a:ext cx="2356920" cy="431730"/>
          </a:xfrm>
          <a:custGeom>
            <a:avLst/>
            <a:gdLst>
              <a:gd name="connsiteX0" fmla="*/ 0 w 2356920"/>
              <a:gd name="connsiteY0" fmla="*/ 71956 h 431730"/>
              <a:gd name="connsiteX1" fmla="*/ 71956 w 2356920"/>
              <a:gd name="connsiteY1" fmla="*/ 0 h 431730"/>
              <a:gd name="connsiteX2" fmla="*/ 2284964 w 2356920"/>
              <a:gd name="connsiteY2" fmla="*/ 0 h 431730"/>
              <a:gd name="connsiteX3" fmla="*/ 2356920 w 2356920"/>
              <a:gd name="connsiteY3" fmla="*/ 71956 h 431730"/>
              <a:gd name="connsiteX4" fmla="*/ 2356920 w 2356920"/>
              <a:gd name="connsiteY4" fmla="*/ 359774 h 431730"/>
              <a:gd name="connsiteX5" fmla="*/ 2284964 w 2356920"/>
              <a:gd name="connsiteY5" fmla="*/ 431730 h 431730"/>
              <a:gd name="connsiteX6" fmla="*/ 71956 w 2356920"/>
              <a:gd name="connsiteY6" fmla="*/ 431730 h 431730"/>
              <a:gd name="connsiteX7" fmla="*/ 0 w 2356920"/>
              <a:gd name="connsiteY7" fmla="*/ 359774 h 431730"/>
              <a:gd name="connsiteX8" fmla="*/ 0 w 235692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920" h="431730">
                <a:moveTo>
                  <a:pt x="0" y="71956"/>
                </a:moveTo>
                <a:cubicBezTo>
                  <a:pt x="0" y="32216"/>
                  <a:pt x="32216" y="0"/>
                  <a:pt x="71956" y="0"/>
                </a:cubicBezTo>
                <a:lnTo>
                  <a:pt x="2284964" y="0"/>
                </a:lnTo>
                <a:cubicBezTo>
                  <a:pt x="2324704" y="0"/>
                  <a:pt x="2356920" y="32216"/>
                  <a:pt x="2356920" y="71956"/>
                </a:cubicBezTo>
                <a:lnTo>
                  <a:pt x="2356920" y="359774"/>
                </a:lnTo>
                <a:cubicBezTo>
                  <a:pt x="2356920" y="399514"/>
                  <a:pt x="2324704" y="431730"/>
                  <a:pt x="2284964" y="431730"/>
                </a:cubicBezTo>
                <a:lnTo>
                  <a:pt x="71956" y="431730"/>
                </a:lnTo>
                <a:cubicBezTo>
                  <a:pt x="32216" y="431730"/>
                  <a:pt x="0" y="399514"/>
                  <a:pt x="0" y="359774"/>
                </a:cubicBezTo>
                <a:lnTo>
                  <a:pt x="0" y="7195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l" defTabSz="800100" rtl="0">
              <a:lnSpc>
                <a:spcPct val="90000"/>
              </a:lnSpc>
              <a:spcBef>
                <a:spcPct val="0"/>
              </a:spcBef>
              <a:spcAft>
                <a:spcPct val="35000"/>
              </a:spcAft>
              <a:buNone/>
            </a:pPr>
            <a:r>
              <a:rPr lang="es-PE" sz="1800" b="0" kern="1200" dirty="0" err="1"/>
              <a:t>X14</a:t>
            </a:r>
            <a:r>
              <a:rPr lang="es-PE" sz="1800" b="0" kern="1200" dirty="0"/>
              <a:t>=350    C=(350)(9)</a:t>
            </a:r>
            <a:endParaRPr lang="es-PE" sz="1800" kern="1200" dirty="0"/>
          </a:p>
        </p:txBody>
      </p:sp>
    </p:spTree>
    <p:extLst>
      <p:ext uri="{BB962C8B-B14F-4D97-AF65-F5344CB8AC3E}">
        <p14:creationId xmlns:p14="http://schemas.microsoft.com/office/powerpoint/2010/main" val="77561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8" name="CustomShape 1"/>
          <p:cNvSpPr/>
          <p:nvPr/>
        </p:nvSpPr>
        <p:spPr>
          <a:xfrm>
            <a:off x="1524000" y="239400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889" name="Table 2"/>
          <p:cNvGraphicFramePr/>
          <p:nvPr>
            <p:extLst>
              <p:ext uri="{D42A27DB-BD31-4B8C-83A1-F6EECF244321}">
                <p14:modId xmlns:p14="http://schemas.microsoft.com/office/powerpoint/2010/main" val="1502203417"/>
              </p:ext>
            </p:extLst>
          </p:nvPr>
        </p:nvGraphicFramePr>
        <p:xfrm>
          <a:off x="2135560" y="1285920"/>
          <a:ext cx="7960761" cy="3262104"/>
        </p:xfrm>
        <a:graphic>
          <a:graphicData uri="http://schemas.openxmlformats.org/drawingml/2006/table">
            <a:tbl>
              <a:tblPr/>
              <a:tblGrid>
                <a:gridCol w="2009945">
                  <a:extLst>
                    <a:ext uri="{9D8B030D-6E8A-4147-A177-3AD203B41FA5}">
                      <a16:colId xmlns:a16="http://schemas.microsoft.com/office/drawing/2014/main" val="20000"/>
                    </a:ext>
                  </a:extLst>
                </a:gridCol>
                <a:gridCol w="803978">
                  <a:extLst>
                    <a:ext uri="{9D8B030D-6E8A-4147-A177-3AD203B41FA5}">
                      <a16:colId xmlns:a16="http://schemas.microsoft.com/office/drawing/2014/main" val="20001"/>
                    </a:ext>
                  </a:extLst>
                </a:gridCol>
                <a:gridCol w="803978">
                  <a:extLst>
                    <a:ext uri="{9D8B030D-6E8A-4147-A177-3AD203B41FA5}">
                      <a16:colId xmlns:a16="http://schemas.microsoft.com/office/drawing/2014/main" val="20002"/>
                    </a:ext>
                  </a:extLst>
                </a:gridCol>
                <a:gridCol w="803978">
                  <a:extLst>
                    <a:ext uri="{9D8B030D-6E8A-4147-A177-3AD203B41FA5}">
                      <a16:colId xmlns:a16="http://schemas.microsoft.com/office/drawing/2014/main" val="20003"/>
                    </a:ext>
                  </a:extLst>
                </a:gridCol>
                <a:gridCol w="803978">
                  <a:extLst>
                    <a:ext uri="{9D8B030D-6E8A-4147-A177-3AD203B41FA5}">
                      <a16:colId xmlns:a16="http://schemas.microsoft.com/office/drawing/2014/main" val="20004"/>
                    </a:ext>
                  </a:extLst>
                </a:gridCol>
                <a:gridCol w="1107880">
                  <a:extLst>
                    <a:ext uri="{9D8B030D-6E8A-4147-A177-3AD203B41FA5}">
                      <a16:colId xmlns:a16="http://schemas.microsoft.com/office/drawing/2014/main" val="20005"/>
                    </a:ext>
                  </a:extLst>
                </a:gridCol>
                <a:gridCol w="550416">
                  <a:extLst>
                    <a:ext uri="{9D8B030D-6E8A-4147-A177-3AD203B41FA5}">
                      <a16:colId xmlns:a16="http://schemas.microsoft.com/office/drawing/2014/main" val="20006"/>
                    </a:ext>
                  </a:extLst>
                </a:gridCol>
                <a:gridCol w="532660">
                  <a:extLst>
                    <a:ext uri="{9D8B030D-6E8A-4147-A177-3AD203B41FA5}">
                      <a16:colId xmlns:a16="http://schemas.microsoft.com/office/drawing/2014/main" val="20007"/>
                    </a:ext>
                  </a:extLst>
                </a:gridCol>
                <a:gridCol w="543948">
                  <a:extLst>
                    <a:ext uri="{9D8B030D-6E8A-4147-A177-3AD203B41FA5}">
                      <a16:colId xmlns:a16="http://schemas.microsoft.com/office/drawing/2014/main" val="20008"/>
                    </a:ext>
                  </a:extLst>
                </a:gridCol>
              </a:tblGrid>
              <a:tr h="798120">
                <a:tc>
                  <a:txBody>
                    <a:bodyPr/>
                    <a:lstStyle/>
                    <a:p>
                      <a:pPr algn="ctr">
                        <a:lnSpc>
                          <a:spcPct val="95000"/>
                        </a:lnSpc>
                      </a:pPr>
                      <a:r>
                        <a:rPr lang="es-PE" sz="2400" b="1" strike="noStrike" spc="-1" dirty="0">
                          <a:solidFill>
                            <a:schemeClr val="bg1"/>
                          </a:solidFill>
                          <a:latin typeface="Arial"/>
                        </a:rPr>
                        <a:t>Mayoristas</a:t>
                      </a:r>
                      <a:endParaRPr lang="es-PE" sz="2400" b="0" strike="noStrike" spc="-1" dirty="0">
                        <a:solidFill>
                          <a:schemeClr val="bg1"/>
                        </a:solidFill>
                        <a:latin typeface="Arial"/>
                      </a:endParaRPr>
                    </a:p>
                    <a:p>
                      <a:pPr algn="ctr">
                        <a:lnSpc>
                          <a:spcPct val="95000"/>
                        </a:lnSpc>
                      </a:pPr>
                      <a:r>
                        <a:rPr lang="es-PE" sz="2400" b="1" strike="noStrike" spc="-1" dirty="0">
                          <a:solidFill>
                            <a:schemeClr val="bg1"/>
                          </a:solidFill>
                          <a:latin typeface="Arial"/>
                        </a:rPr>
                        <a:t>Fábrica</a:t>
                      </a:r>
                      <a:endParaRPr lang="es-PE" sz="2400" b="0" strike="noStrike" spc="-1" dirty="0">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a:solidFill>
                            <a:schemeClr val="bg1"/>
                          </a:solidFill>
                          <a:latin typeface="Arial"/>
                        </a:rPr>
                        <a:t>A</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a:solidFill>
                            <a:schemeClr val="bg1"/>
                          </a:solidFill>
                          <a:latin typeface="Arial"/>
                        </a:rPr>
                        <a:t>B</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a:solidFill>
                            <a:schemeClr val="bg1"/>
                          </a:solidFill>
                          <a:latin typeface="Arial"/>
                        </a:rPr>
                        <a:t>C</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a:solidFill>
                            <a:schemeClr val="bg1"/>
                          </a:solidFill>
                          <a:latin typeface="Arial"/>
                        </a:rPr>
                        <a:t>D</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a:solidFill>
                            <a:schemeClr val="bg1"/>
                          </a:solidFill>
                          <a:latin typeface="Arial"/>
                        </a:rPr>
                        <a:t>Oferta </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r">
                        <a:lnSpc>
                          <a:spcPct val="95000"/>
                        </a:lnSpc>
                      </a:pPr>
                      <a:r>
                        <a:rPr lang="es-PE" sz="2400" b="1" strike="noStrike" spc="-1" dirty="0">
                          <a:solidFill>
                            <a:schemeClr val="tx1"/>
                          </a:solidFill>
                          <a:latin typeface="Arial"/>
                        </a:rPr>
                        <a:t>P</a:t>
                      </a:r>
                      <a:r>
                        <a:rPr lang="es-PE" sz="2400" b="1" strike="noStrike" spc="-1" baseline="-30000" dirty="0">
                          <a:solidFill>
                            <a:schemeClr val="tx1"/>
                          </a:solidFill>
                          <a:latin typeface="Arial"/>
                        </a:rPr>
                        <a:t>1</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dirty="0">
                          <a:solidFill>
                            <a:schemeClr val="tx1"/>
                          </a:solidFill>
                          <a:latin typeface="Arial"/>
                        </a:rPr>
                        <a:t>P</a:t>
                      </a:r>
                      <a:r>
                        <a:rPr lang="es-PE" sz="2400" b="1" strike="noStrike" spc="-1" baseline="-30000" dirty="0">
                          <a:solidFill>
                            <a:schemeClr val="tx1"/>
                          </a:solidFill>
                          <a:latin typeface="Arial"/>
                        </a:rPr>
                        <a:t>2</a:t>
                      </a:r>
                      <a:endParaRPr lang="es-PE" sz="2400" b="0" strike="noStrike" spc="-1" dirty="0">
                        <a:solidFill>
                          <a:schemeClr val="tx1"/>
                        </a:solidFill>
                        <a:latin typeface="Arial"/>
                      </a:endParaRPr>
                    </a:p>
                    <a:p>
                      <a:pPr algn="r">
                        <a:lnSpc>
                          <a:spcPct val="95000"/>
                        </a:lnSpc>
                      </a:pP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826560">
                <a:tc>
                  <a:txBody>
                    <a:bodyPr/>
                    <a:lstStyle/>
                    <a:p>
                      <a:pPr algn="ctr">
                        <a:lnSpc>
                          <a:spcPct val="95000"/>
                        </a:lnSpc>
                      </a:pPr>
                      <a:r>
                        <a:rPr lang="es-PE" sz="2400" b="1" strike="noStrike" spc="-1">
                          <a:solidFill>
                            <a:schemeClr val="bg1"/>
                          </a:solidFill>
                          <a:latin typeface="Arial"/>
                        </a:rPr>
                        <a:t>Norte</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dirty="0">
                          <a:solidFill>
                            <a:schemeClr val="tx1"/>
                          </a:solidFill>
                          <a:latin typeface="Arial"/>
                        </a:rPr>
                        <a:t>21</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tc>
                  <a:txBody>
                    <a:bodyPr/>
                    <a:lstStyle/>
                    <a:p>
                      <a:pPr algn="ctr">
                        <a:lnSpc>
                          <a:spcPct val="95000"/>
                        </a:lnSpc>
                      </a:pPr>
                      <a:r>
                        <a:rPr lang="es-PE" sz="2400" b="1" strike="noStrike" spc="-1">
                          <a:solidFill>
                            <a:schemeClr val="tx1"/>
                          </a:solidFill>
                          <a:latin typeface="Arial"/>
                        </a:rPr>
                        <a:t>15</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18</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a:solidFill>
                            <a:schemeClr val="tx1"/>
                          </a:solidFill>
                          <a:latin typeface="Arial"/>
                        </a:rPr>
                        <a:t>550</a:t>
                      </a:r>
                      <a:endParaRPr lang="es-PE" sz="2400" b="0" strike="noStrike" spc="-1">
                        <a:solidFill>
                          <a:schemeClr val="tx1"/>
                        </a:solidFill>
                        <a:latin typeface="Arial"/>
                      </a:endParaRPr>
                    </a:p>
                    <a:p>
                      <a:pPr algn="ctr">
                        <a:lnSpc>
                          <a:spcPct val="95000"/>
                        </a:lnSpc>
                      </a:pPr>
                      <a:r>
                        <a:rPr lang="es-PE" sz="2400" b="1" strike="noStrike" spc="-1">
                          <a:solidFill>
                            <a:schemeClr val="tx1"/>
                          </a:solidFill>
                          <a:latin typeface="Arial"/>
                        </a:rPr>
                        <a:t>200</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6</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a:rPr>
                        <a:t>3</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736920">
                <a:tc>
                  <a:txBody>
                    <a:bodyPr/>
                    <a:lstStyle/>
                    <a:p>
                      <a:pPr algn="ctr">
                        <a:lnSpc>
                          <a:spcPct val="95000"/>
                        </a:lnSpc>
                      </a:pPr>
                      <a:r>
                        <a:rPr lang="es-PE" sz="2400" b="1" strike="noStrike" spc="-1">
                          <a:solidFill>
                            <a:schemeClr val="bg1"/>
                          </a:solidFill>
                          <a:latin typeface="Arial"/>
                        </a:rPr>
                        <a:t>Sur</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dirty="0">
                          <a:solidFill>
                            <a:schemeClr val="tx1"/>
                          </a:solidFill>
                          <a:latin typeface="Arial"/>
                        </a:rPr>
                        <a:t>10</a:t>
                      </a:r>
                      <a:endParaRPr lang="es-PE" sz="2400" b="0" strike="noStrike" spc="-1" dirty="0">
                        <a:solidFill>
                          <a:schemeClr val="tx1"/>
                        </a:solidFill>
                        <a:latin typeface="Arial"/>
                      </a:endParaRPr>
                    </a:p>
                    <a:p>
                      <a:pPr algn="ctr">
                        <a:lnSpc>
                          <a:spcPct val="95000"/>
                        </a:lnSpc>
                      </a:pPr>
                      <a:r>
                        <a:rPr lang="es-PE" sz="2400" b="1" strike="noStrike" spc="-1" dirty="0">
                          <a:solidFill>
                            <a:schemeClr val="tx1"/>
                          </a:solidFill>
                          <a:latin typeface="Arial"/>
                        </a:rPr>
                        <a:t>*</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tc>
                  <a:txBody>
                    <a:bodyPr/>
                    <a:lstStyle/>
                    <a:p>
                      <a:pPr algn="ctr">
                        <a:lnSpc>
                          <a:spcPct val="95000"/>
                        </a:lnSpc>
                      </a:pPr>
                      <a:r>
                        <a:rPr lang="es-PE" sz="2400" b="1" strike="noStrike" spc="-1" dirty="0">
                          <a:solidFill>
                            <a:schemeClr val="tx1"/>
                          </a:solidFill>
                          <a:latin typeface="Arial"/>
                        </a:rPr>
                        <a:t>14</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a:rPr>
                        <a:t>16</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a:solidFill>
                            <a:schemeClr val="tx1"/>
                          </a:solidFill>
                          <a:latin typeface="Arial"/>
                        </a:rPr>
                        <a:t>650</a:t>
                      </a:r>
                      <a:endParaRPr lang="es-PE" sz="2400" b="0" strike="noStrike" spc="-1">
                        <a:solidFill>
                          <a:schemeClr val="tx1"/>
                        </a:solidFill>
                        <a:latin typeface="Arial"/>
                      </a:endParaRPr>
                    </a:p>
                    <a:p>
                      <a:pPr algn="ctr">
                        <a:lnSpc>
                          <a:spcPct val="95000"/>
                        </a:lnSpc>
                      </a:pPr>
                      <a:r>
                        <a:rPr lang="es-PE" sz="2400" b="1" strike="noStrike" spc="-1">
                          <a:solidFill>
                            <a:schemeClr val="tx1"/>
                          </a:solidFill>
                          <a:latin typeface="Arial"/>
                        </a:rPr>
                        <a:t>450</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4</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a:rPr>
                        <a:t>4</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851040">
                <a:tc>
                  <a:txBody>
                    <a:bodyPr/>
                    <a:lstStyle/>
                    <a:p>
                      <a:pPr algn="ctr">
                        <a:lnSpc>
                          <a:spcPct val="95000"/>
                        </a:lnSpc>
                      </a:pPr>
                      <a:r>
                        <a:rPr lang="es-PE" sz="2400" b="1" strike="noStrike" spc="-1">
                          <a:solidFill>
                            <a:schemeClr val="bg1"/>
                          </a:solidFill>
                          <a:latin typeface="Arial"/>
                        </a:rPr>
                        <a:t>Demanda </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a:solidFill>
                            <a:schemeClr val="tx1"/>
                          </a:solidFill>
                          <a:latin typeface="Arial"/>
                        </a:rPr>
                        <a:t>200</a:t>
                      </a:r>
                      <a:endParaRPr lang="es-PE" sz="2400" b="0" strike="noStrike" spc="-1">
                        <a:solidFill>
                          <a:schemeClr val="tx1"/>
                        </a:solidFill>
                        <a:latin typeface="Arial"/>
                      </a:endParaRPr>
                    </a:p>
                    <a:p>
                      <a:pPr algn="ctr">
                        <a:lnSpc>
                          <a:spcPct val="95000"/>
                        </a:lnSpc>
                      </a:pPr>
                      <a:r>
                        <a:rPr lang="es-PE" sz="2400" b="1" strike="noStrike" spc="-1">
                          <a:solidFill>
                            <a:schemeClr val="tx1"/>
                          </a:solidFill>
                          <a:latin typeface="Arial"/>
                        </a:rPr>
                        <a:t>0</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250</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a:rPr>
                        <a:t>400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a:rPr>
                        <a:t>350</a:t>
                      </a:r>
                      <a:endParaRPr lang="es-PE" sz="2400" b="0" strike="noStrike" spc="-1" dirty="0">
                        <a:solidFill>
                          <a:schemeClr val="tx1"/>
                        </a:solidFill>
                        <a:latin typeface="Arial"/>
                      </a:endParaRPr>
                    </a:p>
                    <a:p>
                      <a:pPr algn="ctr">
                        <a:lnSpc>
                          <a:spcPct val="95000"/>
                        </a:lnSpc>
                      </a:pPr>
                      <a:r>
                        <a:rPr lang="es-PE" sz="2400" b="1" strike="noStrike" spc="-1" dirty="0">
                          <a:solidFill>
                            <a:schemeClr val="tx1"/>
                          </a:solidFill>
                          <a:latin typeface="Arial"/>
                        </a:rPr>
                        <a:t>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3"/>
                  </a:ext>
                </a:extLst>
              </a:tr>
            </a:tbl>
          </a:graphicData>
        </a:graphic>
      </p:graphicFrame>
      <p:sp>
        <p:nvSpPr>
          <p:cNvPr id="890" name="CustomShape 3"/>
          <p:cNvSpPr/>
          <p:nvPr/>
        </p:nvSpPr>
        <p:spPr>
          <a:xfrm>
            <a:off x="1524000" y="2552760"/>
            <a:ext cx="183960" cy="45684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891" name="Table 4"/>
          <p:cNvGraphicFramePr/>
          <p:nvPr/>
        </p:nvGraphicFramePr>
        <p:xfrm>
          <a:off x="2135562" y="5000760"/>
          <a:ext cx="5328591" cy="1366560"/>
        </p:xfrm>
        <a:graphic>
          <a:graphicData uri="http://schemas.openxmlformats.org/drawingml/2006/table">
            <a:tbl>
              <a:tblPr/>
              <a:tblGrid>
                <a:gridCol w="2016223">
                  <a:extLst>
                    <a:ext uri="{9D8B030D-6E8A-4147-A177-3AD203B41FA5}">
                      <a16:colId xmlns:a16="http://schemas.microsoft.com/office/drawing/2014/main" val="20000"/>
                    </a:ext>
                  </a:extLst>
                </a:gridCol>
                <a:gridCol w="864096">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864096">
                  <a:extLst>
                    <a:ext uri="{9D8B030D-6E8A-4147-A177-3AD203B41FA5}">
                      <a16:colId xmlns:a16="http://schemas.microsoft.com/office/drawing/2014/main" val="20003"/>
                    </a:ext>
                  </a:extLst>
                </a:gridCol>
                <a:gridCol w="864096">
                  <a:extLst>
                    <a:ext uri="{9D8B030D-6E8A-4147-A177-3AD203B41FA5}">
                      <a16:colId xmlns:a16="http://schemas.microsoft.com/office/drawing/2014/main" val="20004"/>
                    </a:ext>
                  </a:extLst>
                </a:gridCol>
              </a:tblGrid>
              <a:tr h="475560">
                <a:tc>
                  <a:txBody>
                    <a:bodyPr/>
                    <a:lstStyle/>
                    <a:p>
                      <a:pPr algn="r">
                        <a:lnSpc>
                          <a:spcPct val="95000"/>
                        </a:lnSpc>
                      </a:pPr>
                      <a:r>
                        <a:rPr lang="es-PE" sz="2400" b="1" strike="noStrike" spc="-1" dirty="0">
                          <a:solidFill>
                            <a:schemeClr val="tx1"/>
                          </a:solidFill>
                          <a:latin typeface="Arial"/>
                        </a:rPr>
                        <a:t>P</a:t>
                      </a:r>
                      <a:r>
                        <a:rPr lang="es-PE" sz="2400" b="1" strike="noStrike" spc="-1" baseline="-30000" dirty="0">
                          <a:solidFill>
                            <a:schemeClr val="tx1"/>
                          </a:solidFill>
                          <a:latin typeface="Arial"/>
                        </a:rPr>
                        <a:t>1</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0" strike="noStrike" spc="-1">
                          <a:solidFill>
                            <a:schemeClr val="tx1"/>
                          </a:solidFill>
                          <a:latin typeface="Arial"/>
                        </a:rPr>
                        <a:t>11</a:t>
                      </a: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0" strike="noStrike" spc="-1">
                          <a:solidFill>
                            <a:schemeClr val="tx1"/>
                          </a:solidFill>
                          <a:latin typeface="Arial"/>
                        </a:rPr>
                        <a:t>1</a:t>
                      </a: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0" strike="noStrike" spc="-1">
                          <a:solidFill>
                            <a:schemeClr val="tx1"/>
                          </a:solidFill>
                          <a:latin typeface="Arial"/>
                        </a:rPr>
                        <a:t>2</a:t>
                      </a: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0" strike="noStrike" spc="-1">
                          <a:solidFill>
                            <a:schemeClr val="tx1"/>
                          </a:solidFill>
                          <a:latin typeface="Arial"/>
                        </a:rPr>
                        <a:t>14</a:t>
                      </a: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475560">
                <a:tc>
                  <a:txBody>
                    <a:bodyPr/>
                    <a:lstStyle/>
                    <a:p>
                      <a:pPr algn="r">
                        <a:lnSpc>
                          <a:spcPct val="95000"/>
                        </a:lnSpc>
                      </a:pPr>
                      <a:r>
                        <a:rPr lang="es-PE" sz="2400" b="1" strike="noStrike" spc="-1" dirty="0">
                          <a:solidFill>
                            <a:schemeClr val="tx1"/>
                          </a:solidFill>
                          <a:latin typeface="Arial"/>
                        </a:rPr>
                        <a:t>P</a:t>
                      </a:r>
                      <a:r>
                        <a:rPr lang="es-PE" sz="2400" b="1" strike="noStrike" spc="-1" baseline="-30000" dirty="0">
                          <a:solidFill>
                            <a:schemeClr val="tx1"/>
                          </a:solidFill>
                          <a:latin typeface="Arial"/>
                        </a:rPr>
                        <a:t>2</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a:rPr>
                        <a:t>11</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a:rPr>
                        <a:t>1</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a:rPr>
                        <a:t>2</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415440">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bl>
          </a:graphicData>
        </a:graphic>
      </p:graphicFrame>
      <p:sp>
        <p:nvSpPr>
          <p:cNvPr id="8" name="CustomShape 5">
            <a:extLst>
              <a:ext uri="{FF2B5EF4-FFF2-40B4-BE49-F238E27FC236}">
                <a16:creationId xmlns:a16="http://schemas.microsoft.com/office/drawing/2014/main" id="{24842E0E-8C82-41C4-B57B-1C5D1E26E45E}"/>
              </a:ext>
            </a:extLst>
          </p:cNvPr>
          <p:cNvSpPr/>
          <p:nvPr/>
        </p:nvSpPr>
        <p:spPr>
          <a:xfrm>
            <a:off x="6096000" y="163488"/>
            <a:ext cx="6096000" cy="56304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lnSpc>
                <a:spcPts val="5800"/>
              </a:lnSpc>
              <a:spcBef>
                <a:spcPct val="0"/>
              </a:spcBef>
            </a:pPr>
            <a:r>
              <a:rPr lang="es-PE" sz="3200" dirty="0">
                <a:solidFill>
                  <a:schemeClr val="bg1"/>
                </a:solidFill>
                <a:effectLst>
                  <a:outerShdw blurRad="63500" dist="38100" dir="5400000" algn="t" rotWithShape="0">
                    <a:prstClr val="black">
                      <a:alpha val="25000"/>
                    </a:prstClr>
                  </a:outerShdw>
                </a:effectLst>
                <a:latin typeface="Bauhaus 93" pitchFamily="82" charset="0"/>
              </a:rPr>
              <a:t>Método Vogel</a:t>
            </a:r>
          </a:p>
        </p:txBody>
      </p:sp>
      <p:sp>
        <p:nvSpPr>
          <p:cNvPr id="9" name="CuadroTexto 8">
            <a:extLst>
              <a:ext uri="{FF2B5EF4-FFF2-40B4-BE49-F238E27FC236}">
                <a16:creationId xmlns:a16="http://schemas.microsoft.com/office/drawing/2014/main" id="{93B3669B-C565-4C90-887E-A3E795A324F9}"/>
              </a:ext>
            </a:extLst>
          </p:cNvPr>
          <p:cNvSpPr txBox="1"/>
          <p:nvPr/>
        </p:nvSpPr>
        <p:spPr>
          <a:xfrm>
            <a:off x="258793" y="2191109"/>
            <a:ext cx="1380226" cy="646331"/>
          </a:xfrm>
          <a:prstGeom prst="rect">
            <a:avLst/>
          </a:prstGeom>
          <a:solidFill>
            <a:srgbClr val="FFFF00"/>
          </a:solidFill>
        </p:spPr>
        <p:txBody>
          <a:bodyPr wrap="square" rtlCol="0">
            <a:spAutoFit/>
          </a:bodyPr>
          <a:lstStyle/>
          <a:p>
            <a:r>
              <a:rPr lang="es-ES" b="1" dirty="0"/>
              <a:t>Hallamos las penalidades</a:t>
            </a:r>
          </a:p>
        </p:txBody>
      </p:sp>
      <p:sp>
        <p:nvSpPr>
          <p:cNvPr id="10" name="Rectángulo 9">
            <a:extLst>
              <a:ext uri="{FF2B5EF4-FFF2-40B4-BE49-F238E27FC236}">
                <a16:creationId xmlns:a16="http://schemas.microsoft.com/office/drawing/2014/main" id="{42037CF1-E2BA-4634-8EFE-CE06DDD61B32}"/>
              </a:ext>
            </a:extLst>
          </p:cNvPr>
          <p:cNvSpPr/>
          <p:nvPr/>
        </p:nvSpPr>
        <p:spPr>
          <a:xfrm>
            <a:off x="258136" y="3054556"/>
            <a:ext cx="1372258" cy="923330"/>
          </a:xfrm>
          <a:prstGeom prst="rect">
            <a:avLst/>
          </a:prstGeom>
          <a:solidFill>
            <a:srgbClr val="FFFF00"/>
          </a:solidFill>
        </p:spPr>
        <p:txBody>
          <a:bodyPr wrap="square">
            <a:spAutoFit/>
          </a:bodyPr>
          <a:lstStyle/>
          <a:p>
            <a:r>
              <a:rPr lang="es-ES" b="1" dirty="0"/>
              <a:t>Hallamos la mayor penalidad</a:t>
            </a:r>
            <a:endParaRPr lang="es-PE" b="1" dirty="0"/>
          </a:p>
        </p:txBody>
      </p:sp>
      <p:sp>
        <p:nvSpPr>
          <p:cNvPr id="11" name="CuadroTexto 10">
            <a:extLst>
              <a:ext uri="{FF2B5EF4-FFF2-40B4-BE49-F238E27FC236}">
                <a16:creationId xmlns:a16="http://schemas.microsoft.com/office/drawing/2014/main" id="{ABD6A511-D8C2-444B-8516-4FE1D19EB43C}"/>
              </a:ext>
            </a:extLst>
          </p:cNvPr>
          <p:cNvSpPr txBox="1"/>
          <p:nvPr/>
        </p:nvSpPr>
        <p:spPr>
          <a:xfrm>
            <a:off x="264551" y="4198193"/>
            <a:ext cx="1380226" cy="646331"/>
          </a:xfrm>
          <a:prstGeom prst="rect">
            <a:avLst/>
          </a:prstGeom>
          <a:solidFill>
            <a:srgbClr val="FFFF00"/>
          </a:solidFill>
        </p:spPr>
        <p:txBody>
          <a:bodyPr wrap="square" rtlCol="0">
            <a:spAutoFit/>
          </a:bodyPr>
          <a:lstStyle/>
          <a:p>
            <a:r>
              <a:rPr lang="es-ES" b="1" dirty="0"/>
              <a:t>Hallamos el menor costo</a:t>
            </a:r>
          </a:p>
        </p:txBody>
      </p:sp>
      <p:sp>
        <p:nvSpPr>
          <p:cNvPr id="12" name="CuadroTexto 11">
            <a:extLst>
              <a:ext uri="{FF2B5EF4-FFF2-40B4-BE49-F238E27FC236}">
                <a16:creationId xmlns:a16="http://schemas.microsoft.com/office/drawing/2014/main" id="{0350FDB2-46AF-42C6-A69A-8EC257907DCC}"/>
              </a:ext>
            </a:extLst>
          </p:cNvPr>
          <p:cNvSpPr txBox="1"/>
          <p:nvPr/>
        </p:nvSpPr>
        <p:spPr>
          <a:xfrm>
            <a:off x="264551" y="5086705"/>
            <a:ext cx="1380226" cy="646331"/>
          </a:xfrm>
          <a:prstGeom prst="rect">
            <a:avLst/>
          </a:prstGeom>
          <a:solidFill>
            <a:srgbClr val="FFFF00"/>
          </a:solidFill>
        </p:spPr>
        <p:txBody>
          <a:bodyPr wrap="square" rtlCol="0">
            <a:spAutoFit/>
          </a:bodyPr>
          <a:lstStyle/>
          <a:p>
            <a:r>
              <a:rPr lang="es-ES" b="1" dirty="0"/>
              <a:t>Anotamos la operación</a:t>
            </a:r>
          </a:p>
        </p:txBody>
      </p:sp>
      <p:sp>
        <p:nvSpPr>
          <p:cNvPr id="4" name="Forma libre: forma 3">
            <a:extLst>
              <a:ext uri="{FF2B5EF4-FFF2-40B4-BE49-F238E27FC236}">
                <a16:creationId xmlns:a16="http://schemas.microsoft.com/office/drawing/2014/main" id="{14ADEBBB-50C7-43C8-9250-B06429B32481}"/>
              </a:ext>
            </a:extLst>
          </p:cNvPr>
          <p:cNvSpPr/>
          <p:nvPr/>
        </p:nvSpPr>
        <p:spPr>
          <a:xfrm>
            <a:off x="8096160" y="5122665"/>
            <a:ext cx="2356920" cy="431730"/>
          </a:xfrm>
          <a:custGeom>
            <a:avLst/>
            <a:gdLst>
              <a:gd name="connsiteX0" fmla="*/ 0 w 2356920"/>
              <a:gd name="connsiteY0" fmla="*/ 71956 h 431730"/>
              <a:gd name="connsiteX1" fmla="*/ 71956 w 2356920"/>
              <a:gd name="connsiteY1" fmla="*/ 0 h 431730"/>
              <a:gd name="connsiteX2" fmla="*/ 2284964 w 2356920"/>
              <a:gd name="connsiteY2" fmla="*/ 0 h 431730"/>
              <a:gd name="connsiteX3" fmla="*/ 2356920 w 2356920"/>
              <a:gd name="connsiteY3" fmla="*/ 71956 h 431730"/>
              <a:gd name="connsiteX4" fmla="*/ 2356920 w 2356920"/>
              <a:gd name="connsiteY4" fmla="*/ 359774 h 431730"/>
              <a:gd name="connsiteX5" fmla="*/ 2284964 w 2356920"/>
              <a:gd name="connsiteY5" fmla="*/ 431730 h 431730"/>
              <a:gd name="connsiteX6" fmla="*/ 71956 w 2356920"/>
              <a:gd name="connsiteY6" fmla="*/ 431730 h 431730"/>
              <a:gd name="connsiteX7" fmla="*/ 0 w 2356920"/>
              <a:gd name="connsiteY7" fmla="*/ 359774 h 431730"/>
              <a:gd name="connsiteX8" fmla="*/ 0 w 235692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920" h="431730">
                <a:moveTo>
                  <a:pt x="0" y="71956"/>
                </a:moveTo>
                <a:cubicBezTo>
                  <a:pt x="0" y="32216"/>
                  <a:pt x="32216" y="0"/>
                  <a:pt x="71956" y="0"/>
                </a:cubicBezTo>
                <a:lnTo>
                  <a:pt x="2284964" y="0"/>
                </a:lnTo>
                <a:cubicBezTo>
                  <a:pt x="2324704" y="0"/>
                  <a:pt x="2356920" y="32216"/>
                  <a:pt x="2356920" y="71956"/>
                </a:cubicBezTo>
                <a:lnTo>
                  <a:pt x="2356920" y="359774"/>
                </a:lnTo>
                <a:cubicBezTo>
                  <a:pt x="2356920" y="399514"/>
                  <a:pt x="2324704" y="431730"/>
                  <a:pt x="2284964" y="431730"/>
                </a:cubicBezTo>
                <a:lnTo>
                  <a:pt x="71956" y="431730"/>
                </a:lnTo>
                <a:cubicBezTo>
                  <a:pt x="32216" y="431730"/>
                  <a:pt x="0" y="399514"/>
                  <a:pt x="0" y="359774"/>
                </a:cubicBezTo>
                <a:lnTo>
                  <a:pt x="0" y="7195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l" defTabSz="800100" rtl="0">
              <a:lnSpc>
                <a:spcPct val="90000"/>
              </a:lnSpc>
              <a:spcBef>
                <a:spcPct val="0"/>
              </a:spcBef>
              <a:spcAft>
                <a:spcPct val="35000"/>
              </a:spcAft>
              <a:buNone/>
            </a:pPr>
            <a:r>
              <a:rPr lang="es-PE" sz="1800" b="0" kern="1200" dirty="0" err="1"/>
              <a:t>X14</a:t>
            </a:r>
            <a:r>
              <a:rPr lang="es-PE" sz="1800" b="0" kern="1200" dirty="0"/>
              <a:t>=350    C=(350)(9)</a:t>
            </a:r>
            <a:endParaRPr lang="es-PE" sz="1800" kern="1200" dirty="0"/>
          </a:p>
        </p:txBody>
      </p:sp>
      <p:sp>
        <p:nvSpPr>
          <p:cNvPr id="14" name="Globo: flecha hacia abajo 13">
            <a:extLst>
              <a:ext uri="{FF2B5EF4-FFF2-40B4-BE49-F238E27FC236}">
                <a16:creationId xmlns:a16="http://schemas.microsoft.com/office/drawing/2014/main" id="{49C0C835-C728-4A20-82F6-F6DD6C42E555}"/>
              </a:ext>
            </a:extLst>
          </p:cNvPr>
          <p:cNvSpPr/>
          <p:nvPr/>
        </p:nvSpPr>
        <p:spPr>
          <a:xfrm>
            <a:off x="276044" y="1276709"/>
            <a:ext cx="1345721" cy="897148"/>
          </a:xfrm>
          <a:prstGeom prst="downArrowCallou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rgbClr val="FF0000"/>
                </a:solidFill>
              </a:rPr>
              <a:t>Pasos:</a:t>
            </a:r>
            <a:endParaRPr lang="es-PE" sz="2400" dirty="0">
              <a:solidFill>
                <a:srgbClr val="FF0000"/>
              </a:solidFill>
            </a:endParaRPr>
          </a:p>
        </p:txBody>
      </p:sp>
      <p:sp>
        <p:nvSpPr>
          <p:cNvPr id="18" name="Forma libre: forma 17">
            <a:extLst>
              <a:ext uri="{FF2B5EF4-FFF2-40B4-BE49-F238E27FC236}">
                <a16:creationId xmlns:a16="http://schemas.microsoft.com/office/drawing/2014/main" id="{C38A491D-CC3C-4688-ADB1-5C2C5D4A835C}"/>
              </a:ext>
            </a:extLst>
          </p:cNvPr>
          <p:cNvSpPr/>
          <p:nvPr/>
        </p:nvSpPr>
        <p:spPr>
          <a:xfrm>
            <a:off x="8096160" y="5606235"/>
            <a:ext cx="2356920" cy="431730"/>
          </a:xfrm>
          <a:custGeom>
            <a:avLst/>
            <a:gdLst>
              <a:gd name="connsiteX0" fmla="*/ 0 w 2356920"/>
              <a:gd name="connsiteY0" fmla="*/ 71956 h 431730"/>
              <a:gd name="connsiteX1" fmla="*/ 71956 w 2356920"/>
              <a:gd name="connsiteY1" fmla="*/ 0 h 431730"/>
              <a:gd name="connsiteX2" fmla="*/ 2284964 w 2356920"/>
              <a:gd name="connsiteY2" fmla="*/ 0 h 431730"/>
              <a:gd name="connsiteX3" fmla="*/ 2356920 w 2356920"/>
              <a:gd name="connsiteY3" fmla="*/ 71956 h 431730"/>
              <a:gd name="connsiteX4" fmla="*/ 2356920 w 2356920"/>
              <a:gd name="connsiteY4" fmla="*/ 359774 h 431730"/>
              <a:gd name="connsiteX5" fmla="*/ 2284964 w 2356920"/>
              <a:gd name="connsiteY5" fmla="*/ 431730 h 431730"/>
              <a:gd name="connsiteX6" fmla="*/ 71956 w 2356920"/>
              <a:gd name="connsiteY6" fmla="*/ 431730 h 431730"/>
              <a:gd name="connsiteX7" fmla="*/ 0 w 2356920"/>
              <a:gd name="connsiteY7" fmla="*/ 359774 h 431730"/>
              <a:gd name="connsiteX8" fmla="*/ 0 w 235692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920" h="431730">
                <a:moveTo>
                  <a:pt x="0" y="71956"/>
                </a:moveTo>
                <a:cubicBezTo>
                  <a:pt x="0" y="32216"/>
                  <a:pt x="32216" y="0"/>
                  <a:pt x="71956" y="0"/>
                </a:cubicBezTo>
                <a:lnTo>
                  <a:pt x="2284964" y="0"/>
                </a:lnTo>
                <a:cubicBezTo>
                  <a:pt x="2324704" y="0"/>
                  <a:pt x="2356920" y="32216"/>
                  <a:pt x="2356920" y="71956"/>
                </a:cubicBezTo>
                <a:lnTo>
                  <a:pt x="2356920" y="359774"/>
                </a:lnTo>
                <a:cubicBezTo>
                  <a:pt x="2356920" y="399514"/>
                  <a:pt x="2324704" y="431730"/>
                  <a:pt x="2284964" y="431730"/>
                </a:cubicBezTo>
                <a:lnTo>
                  <a:pt x="71956" y="431730"/>
                </a:lnTo>
                <a:cubicBezTo>
                  <a:pt x="32216" y="431730"/>
                  <a:pt x="0" y="399514"/>
                  <a:pt x="0" y="359774"/>
                </a:cubicBezTo>
                <a:lnTo>
                  <a:pt x="0" y="7195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l" defTabSz="800100" rtl="0">
              <a:lnSpc>
                <a:spcPct val="90000"/>
              </a:lnSpc>
              <a:spcBef>
                <a:spcPct val="0"/>
              </a:spcBef>
              <a:spcAft>
                <a:spcPct val="35000"/>
              </a:spcAft>
              <a:buNone/>
            </a:pPr>
            <a:r>
              <a:rPr lang="es-PE" sz="1800" b="0" kern="1200" dirty="0" err="1"/>
              <a:t>X21</a:t>
            </a:r>
            <a:r>
              <a:rPr lang="es-PE" sz="1800" b="0" kern="1200" dirty="0"/>
              <a:t>=200    C=(200)(10) </a:t>
            </a:r>
            <a:endParaRPr lang="es-PE" sz="1800" kern="1200" dirty="0"/>
          </a:p>
        </p:txBody>
      </p:sp>
    </p:spTree>
    <p:extLst>
      <p:ext uri="{BB962C8B-B14F-4D97-AF65-F5344CB8AC3E}">
        <p14:creationId xmlns:p14="http://schemas.microsoft.com/office/powerpoint/2010/main" val="3658278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 name="CustomShape 1"/>
          <p:cNvSpPr/>
          <p:nvPr/>
        </p:nvSpPr>
        <p:spPr>
          <a:xfrm>
            <a:off x="1524000" y="239400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895" name="Table 2"/>
          <p:cNvGraphicFramePr/>
          <p:nvPr>
            <p:extLst>
              <p:ext uri="{D42A27DB-BD31-4B8C-83A1-F6EECF244321}">
                <p14:modId xmlns:p14="http://schemas.microsoft.com/office/powerpoint/2010/main" val="40808584"/>
              </p:ext>
            </p:extLst>
          </p:nvPr>
        </p:nvGraphicFramePr>
        <p:xfrm>
          <a:off x="2130724" y="1285920"/>
          <a:ext cx="7965235" cy="3624480"/>
        </p:xfrm>
        <a:graphic>
          <a:graphicData uri="http://schemas.openxmlformats.org/drawingml/2006/table">
            <a:tbl>
              <a:tblPr/>
              <a:tblGrid>
                <a:gridCol w="2011178">
                  <a:extLst>
                    <a:ext uri="{9D8B030D-6E8A-4147-A177-3AD203B41FA5}">
                      <a16:colId xmlns:a16="http://schemas.microsoft.com/office/drawing/2014/main" val="20000"/>
                    </a:ext>
                  </a:extLst>
                </a:gridCol>
                <a:gridCol w="804471">
                  <a:extLst>
                    <a:ext uri="{9D8B030D-6E8A-4147-A177-3AD203B41FA5}">
                      <a16:colId xmlns:a16="http://schemas.microsoft.com/office/drawing/2014/main" val="20001"/>
                    </a:ext>
                  </a:extLst>
                </a:gridCol>
                <a:gridCol w="804471">
                  <a:extLst>
                    <a:ext uri="{9D8B030D-6E8A-4147-A177-3AD203B41FA5}">
                      <a16:colId xmlns:a16="http://schemas.microsoft.com/office/drawing/2014/main" val="20002"/>
                    </a:ext>
                  </a:extLst>
                </a:gridCol>
                <a:gridCol w="804471">
                  <a:extLst>
                    <a:ext uri="{9D8B030D-6E8A-4147-A177-3AD203B41FA5}">
                      <a16:colId xmlns:a16="http://schemas.microsoft.com/office/drawing/2014/main" val="20003"/>
                    </a:ext>
                  </a:extLst>
                </a:gridCol>
                <a:gridCol w="809742">
                  <a:extLst>
                    <a:ext uri="{9D8B030D-6E8A-4147-A177-3AD203B41FA5}">
                      <a16:colId xmlns:a16="http://schemas.microsoft.com/office/drawing/2014/main" val="20004"/>
                    </a:ext>
                  </a:extLst>
                </a:gridCol>
                <a:gridCol w="1130873">
                  <a:extLst>
                    <a:ext uri="{9D8B030D-6E8A-4147-A177-3AD203B41FA5}">
                      <a16:colId xmlns:a16="http://schemas.microsoft.com/office/drawing/2014/main" val="20005"/>
                    </a:ext>
                  </a:extLst>
                </a:gridCol>
                <a:gridCol w="506027">
                  <a:extLst>
                    <a:ext uri="{9D8B030D-6E8A-4147-A177-3AD203B41FA5}">
                      <a16:colId xmlns:a16="http://schemas.microsoft.com/office/drawing/2014/main" val="20006"/>
                    </a:ext>
                  </a:extLst>
                </a:gridCol>
                <a:gridCol w="541538">
                  <a:extLst>
                    <a:ext uri="{9D8B030D-6E8A-4147-A177-3AD203B41FA5}">
                      <a16:colId xmlns:a16="http://schemas.microsoft.com/office/drawing/2014/main" val="20007"/>
                    </a:ext>
                  </a:extLst>
                </a:gridCol>
                <a:gridCol w="552464">
                  <a:extLst>
                    <a:ext uri="{9D8B030D-6E8A-4147-A177-3AD203B41FA5}">
                      <a16:colId xmlns:a16="http://schemas.microsoft.com/office/drawing/2014/main" val="20008"/>
                    </a:ext>
                  </a:extLst>
                </a:gridCol>
              </a:tblGrid>
              <a:tr h="798120">
                <a:tc>
                  <a:txBody>
                    <a:bodyPr/>
                    <a:lstStyle/>
                    <a:p>
                      <a:pPr>
                        <a:lnSpc>
                          <a:spcPct val="95000"/>
                        </a:lnSpc>
                      </a:pPr>
                      <a:r>
                        <a:rPr lang="es-PE" sz="2400" b="1" strike="noStrike" spc="-1" dirty="0">
                          <a:solidFill>
                            <a:schemeClr val="bg1"/>
                          </a:solidFill>
                          <a:latin typeface="Arial"/>
                        </a:rPr>
                        <a:t>Mayoristas</a:t>
                      </a:r>
                      <a:endParaRPr lang="es-PE" sz="2400" b="0" strike="noStrike" spc="-1" dirty="0">
                        <a:solidFill>
                          <a:schemeClr val="bg1"/>
                        </a:solidFill>
                        <a:latin typeface="Arial"/>
                      </a:endParaRPr>
                    </a:p>
                    <a:p>
                      <a:pPr>
                        <a:lnSpc>
                          <a:spcPct val="95000"/>
                        </a:lnSpc>
                      </a:pPr>
                      <a:r>
                        <a:rPr lang="es-PE" sz="2400" b="1" strike="noStrike" spc="-1" dirty="0">
                          <a:solidFill>
                            <a:schemeClr val="bg1"/>
                          </a:solidFill>
                          <a:latin typeface="Arial"/>
                        </a:rPr>
                        <a:t>Fábrica</a:t>
                      </a:r>
                      <a:endParaRPr lang="es-PE" sz="2400" b="0" strike="noStrike" spc="-1" dirty="0">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a:solidFill>
                            <a:schemeClr val="bg1"/>
                          </a:solidFill>
                          <a:latin typeface="Arial"/>
                        </a:rPr>
                        <a:t>A</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a:solidFill>
                            <a:schemeClr val="bg1"/>
                          </a:solidFill>
                          <a:latin typeface="Arial"/>
                        </a:rPr>
                        <a:t>B</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a:solidFill>
                            <a:schemeClr val="bg1"/>
                          </a:solidFill>
                          <a:latin typeface="Arial"/>
                        </a:rPr>
                        <a:t>C</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a:solidFill>
                            <a:schemeClr val="bg1"/>
                          </a:solidFill>
                          <a:latin typeface="Arial"/>
                        </a:rPr>
                        <a:t>D</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a:solidFill>
                            <a:schemeClr val="bg1"/>
                          </a:solidFill>
                          <a:latin typeface="Arial"/>
                        </a:rPr>
                        <a:t>Oferta </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r">
                        <a:lnSpc>
                          <a:spcPct val="95000"/>
                        </a:lnSpc>
                      </a:pPr>
                      <a:r>
                        <a:rPr lang="es-PE" sz="2400" b="1" strike="noStrike" spc="-1" dirty="0">
                          <a:solidFill>
                            <a:schemeClr val="tx1"/>
                          </a:solidFill>
                          <a:latin typeface="Arial"/>
                        </a:rPr>
                        <a:t>P</a:t>
                      </a:r>
                      <a:r>
                        <a:rPr lang="es-PE" sz="2400" b="1" strike="noStrike" spc="-1" baseline="-30000" dirty="0">
                          <a:solidFill>
                            <a:schemeClr val="tx1"/>
                          </a:solidFill>
                          <a:latin typeface="Arial"/>
                        </a:rPr>
                        <a:t>1</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dirty="0">
                          <a:solidFill>
                            <a:schemeClr val="tx1"/>
                          </a:solidFill>
                          <a:latin typeface="Arial"/>
                        </a:rPr>
                        <a:t>P</a:t>
                      </a:r>
                      <a:r>
                        <a:rPr lang="es-PE" sz="2400" b="1" strike="noStrike" spc="-1" baseline="-30000" dirty="0">
                          <a:solidFill>
                            <a:schemeClr val="tx1"/>
                          </a:solidFill>
                          <a:latin typeface="Arial"/>
                        </a:rPr>
                        <a:t>2</a:t>
                      </a:r>
                      <a:endParaRPr lang="es-PE" sz="2400" b="0" strike="noStrike" spc="-1" dirty="0">
                        <a:solidFill>
                          <a:schemeClr val="tx1"/>
                        </a:solidFill>
                        <a:latin typeface="Arial"/>
                      </a:endParaRPr>
                    </a:p>
                    <a:p>
                      <a:pPr algn="r">
                        <a:lnSpc>
                          <a:spcPct val="95000"/>
                        </a:lnSpc>
                      </a:pP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dirty="0">
                          <a:solidFill>
                            <a:schemeClr val="tx1"/>
                          </a:solidFill>
                          <a:latin typeface="Arial"/>
                        </a:rPr>
                        <a:t>P</a:t>
                      </a:r>
                      <a:r>
                        <a:rPr lang="es-PE" sz="2400" b="1" strike="noStrike" spc="-1" baseline="-30000" dirty="0">
                          <a:solidFill>
                            <a:schemeClr val="tx1"/>
                          </a:solidFill>
                          <a:latin typeface="Arial"/>
                        </a:rPr>
                        <a:t>3</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1112760">
                <a:tc>
                  <a:txBody>
                    <a:bodyPr/>
                    <a:lstStyle/>
                    <a:p>
                      <a:pPr algn="ctr">
                        <a:lnSpc>
                          <a:spcPct val="95000"/>
                        </a:lnSpc>
                      </a:pPr>
                      <a:r>
                        <a:rPr lang="es-PE" sz="2400" b="1" strike="noStrike" spc="-1">
                          <a:solidFill>
                            <a:schemeClr val="bg1"/>
                          </a:solidFill>
                          <a:latin typeface="Arial"/>
                        </a:rPr>
                        <a:t>01 Norte</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dirty="0">
                          <a:solidFill>
                            <a:schemeClr val="tx1"/>
                          </a:solidFill>
                          <a:latin typeface="Arial"/>
                        </a:rPr>
                        <a:t>15 </a:t>
                      </a:r>
                      <a:endParaRPr lang="es-PE" sz="2400" b="0" strike="noStrike" spc="-1" dirty="0">
                        <a:solidFill>
                          <a:schemeClr val="tx1"/>
                        </a:solidFill>
                        <a:latin typeface="Arial"/>
                      </a:endParaRPr>
                    </a:p>
                    <a:p>
                      <a:pPr algn="ctr">
                        <a:lnSpc>
                          <a:spcPct val="95000"/>
                        </a:lnSpc>
                      </a:pPr>
                      <a:r>
                        <a:rPr lang="es-PE" sz="2400" b="1" strike="noStrike" spc="-1" dirty="0">
                          <a:solidFill>
                            <a:schemeClr val="tx1"/>
                          </a:solidFill>
                          <a:latin typeface="Arial"/>
                        </a:rPr>
                        <a:t>*</a:t>
                      </a:r>
                      <a:endParaRPr lang="es-PE" sz="2400" b="0" strike="noStrike" spc="-1" dirty="0">
                        <a:solidFill>
                          <a:schemeClr val="tx1"/>
                        </a:solidFill>
                        <a:latin typeface="Arial"/>
                      </a:endParaRPr>
                    </a:p>
                    <a:p>
                      <a:pPr algn="ctr">
                        <a:lnSpc>
                          <a:spcPct val="95000"/>
                        </a:lnSpc>
                      </a:pP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tc>
                  <a:txBody>
                    <a:bodyPr/>
                    <a:lstStyle/>
                    <a:p>
                      <a:pPr algn="ctr">
                        <a:lnSpc>
                          <a:spcPct val="95000"/>
                        </a:lnSpc>
                      </a:pPr>
                      <a:r>
                        <a:rPr lang="es-PE" sz="2400" b="1" strike="noStrike" spc="-1" dirty="0">
                          <a:solidFill>
                            <a:schemeClr val="tx1"/>
                          </a:solidFill>
                          <a:latin typeface="Arial"/>
                        </a:rPr>
                        <a:t>18</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dirty="0">
                          <a:solidFill>
                            <a:schemeClr val="tx1"/>
                          </a:solidFill>
                          <a:latin typeface="Arial"/>
                        </a:rPr>
                        <a:t>550</a:t>
                      </a:r>
                      <a:endParaRPr lang="es-PE" sz="2400" b="0" strike="noStrike" spc="-1" dirty="0">
                        <a:solidFill>
                          <a:schemeClr val="tx1"/>
                        </a:solidFill>
                        <a:latin typeface="Arial"/>
                      </a:endParaRPr>
                    </a:p>
                    <a:p>
                      <a:pPr algn="ctr">
                        <a:lnSpc>
                          <a:spcPct val="95000"/>
                        </a:lnSpc>
                      </a:pPr>
                      <a:r>
                        <a:rPr lang="es-PE" sz="2400" b="1" strike="noStrike" spc="-1" dirty="0">
                          <a:solidFill>
                            <a:schemeClr val="tx1"/>
                          </a:solidFill>
                          <a:latin typeface="Arial"/>
                        </a:rPr>
                        <a:t>200</a:t>
                      </a:r>
                      <a:endParaRPr lang="es-PE" sz="2400" b="0" strike="noStrike" spc="-1" dirty="0">
                        <a:solidFill>
                          <a:schemeClr val="tx1"/>
                        </a:solidFill>
                        <a:latin typeface="Arial"/>
                      </a:endParaRPr>
                    </a:p>
                    <a:p>
                      <a:pPr algn="ctr">
                        <a:lnSpc>
                          <a:spcPct val="95000"/>
                        </a:lnSpc>
                      </a:pPr>
                      <a:r>
                        <a:rPr lang="es-PE" sz="2400" b="1" strike="noStrike" spc="-1" dirty="0">
                          <a:solidFill>
                            <a:schemeClr val="tx1"/>
                          </a:solidFill>
                          <a:latin typeface="Arial"/>
                        </a:rPr>
                        <a:t>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a:rPr>
                        <a:t>6</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a:rPr>
                        <a:t>3</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a:rPr>
                        <a:t>3</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771840">
                <a:tc>
                  <a:txBody>
                    <a:bodyPr/>
                    <a:lstStyle/>
                    <a:p>
                      <a:pPr algn="ctr">
                        <a:lnSpc>
                          <a:spcPct val="95000"/>
                        </a:lnSpc>
                      </a:pPr>
                      <a:r>
                        <a:rPr lang="es-PE" sz="2400" b="1" strike="noStrike" spc="-1" dirty="0">
                          <a:solidFill>
                            <a:schemeClr val="bg1"/>
                          </a:solidFill>
                          <a:latin typeface="Arial"/>
                        </a:rPr>
                        <a:t>Sur</a:t>
                      </a:r>
                      <a:endParaRPr lang="es-PE" sz="2400" b="0" strike="noStrike" spc="-1" dirty="0">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a:solidFill>
                            <a:schemeClr val="tx1"/>
                          </a:solidFill>
                          <a:latin typeface="Arial"/>
                        </a:rPr>
                        <a:t>14</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16</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a:solidFill>
                            <a:schemeClr val="tx1"/>
                          </a:solidFill>
                          <a:latin typeface="Arial"/>
                        </a:rPr>
                        <a:t>650</a:t>
                      </a:r>
                      <a:endParaRPr lang="es-PE" sz="2400" b="0" strike="noStrike" spc="-1">
                        <a:solidFill>
                          <a:schemeClr val="tx1"/>
                        </a:solidFill>
                        <a:latin typeface="Arial"/>
                      </a:endParaRPr>
                    </a:p>
                    <a:p>
                      <a:pPr algn="ctr">
                        <a:lnSpc>
                          <a:spcPct val="95000"/>
                        </a:lnSpc>
                      </a:pPr>
                      <a:r>
                        <a:rPr lang="es-PE" sz="2400" b="1" strike="noStrike" spc="-1">
                          <a:solidFill>
                            <a:schemeClr val="tx1"/>
                          </a:solidFill>
                          <a:latin typeface="Arial"/>
                        </a:rPr>
                        <a:t>450</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4</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4</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a:rPr>
                        <a:t>2</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906120">
                <a:tc>
                  <a:txBody>
                    <a:bodyPr/>
                    <a:lstStyle/>
                    <a:p>
                      <a:pPr algn="ctr">
                        <a:lnSpc>
                          <a:spcPct val="95000"/>
                        </a:lnSpc>
                      </a:pPr>
                      <a:r>
                        <a:rPr lang="es-PE" sz="2400" b="1" strike="noStrike" spc="-1">
                          <a:solidFill>
                            <a:schemeClr val="bg1"/>
                          </a:solidFill>
                          <a:latin typeface="Arial"/>
                        </a:rPr>
                        <a:t>Demanda </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a:solidFill>
                            <a:schemeClr val="tx1"/>
                          </a:solidFill>
                          <a:latin typeface="Arial"/>
                        </a:rPr>
                        <a:t>200</a:t>
                      </a:r>
                      <a:endParaRPr lang="es-PE" sz="2400" b="0" strike="noStrike" spc="-1">
                        <a:solidFill>
                          <a:schemeClr val="tx1"/>
                        </a:solidFill>
                        <a:latin typeface="Arial"/>
                      </a:endParaRPr>
                    </a:p>
                    <a:p>
                      <a:pPr algn="ctr">
                        <a:lnSpc>
                          <a:spcPct val="95000"/>
                        </a:lnSpc>
                      </a:pPr>
                      <a:r>
                        <a:rPr lang="es-PE" sz="2400" b="1" strike="noStrike" spc="-1">
                          <a:solidFill>
                            <a:schemeClr val="tx1"/>
                          </a:solidFill>
                          <a:latin typeface="Arial"/>
                        </a:rPr>
                        <a:t>0</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250</a:t>
                      </a:r>
                      <a:endParaRPr lang="es-PE" sz="2400" b="0" strike="noStrike" spc="-1">
                        <a:solidFill>
                          <a:schemeClr val="tx1"/>
                        </a:solidFill>
                        <a:latin typeface="Arial"/>
                      </a:endParaRPr>
                    </a:p>
                    <a:p>
                      <a:pPr algn="ctr">
                        <a:lnSpc>
                          <a:spcPct val="95000"/>
                        </a:lnSpc>
                      </a:pPr>
                      <a:r>
                        <a:rPr lang="es-PE" sz="2400" b="1" strike="noStrike" spc="-1">
                          <a:solidFill>
                            <a:schemeClr val="tx1"/>
                          </a:solidFill>
                          <a:latin typeface="Arial"/>
                        </a:rPr>
                        <a:t>50</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400</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350</a:t>
                      </a:r>
                      <a:endParaRPr lang="es-PE" sz="2400" b="0" strike="noStrike" spc="-1">
                        <a:solidFill>
                          <a:schemeClr val="tx1"/>
                        </a:solidFill>
                        <a:latin typeface="Arial"/>
                      </a:endParaRPr>
                    </a:p>
                    <a:p>
                      <a:pPr algn="ctr">
                        <a:lnSpc>
                          <a:spcPct val="95000"/>
                        </a:lnSpc>
                      </a:pPr>
                      <a:r>
                        <a:rPr lang="es-PE" sz="2400" b="1" strike="noStrike" spc="-1">
                          <a:solidFill>
                            <a:schemeClr val="tx1"/>
                          </a:solidFill>
                          <a:latin typeface="Arial"/>
                        </a:rPr>
                        <a:t>0</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3"/>
                  </a:ext>
                </a:extLst>
              </a:tr>
            </a:tbl>
          </a:graphicData>
        </a:graphic>
      </p:graphicFrame>
      <p:sp>
        <p:nvSpPr>
          <p:cNvPr id="896" name="CustomShape 3"/>
          <p:cNvSpPr/>
          <p:nvPr/>
        </p:nvSpPr>
        <p:spPr>
          <a:xfrm>
            <a:off x="1524000" y="2552760"/>
            <a:ext cx="183960" cy="45684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897" name="Table 4"/>
          <p:cNvGraphicFramePr/>
          <p:nvPr/>
        </p:nvGraphicFramePr>
        <p:xfrm>
          <a:off x="2063553" y="5143680"/>
          <a:ext cx="5328591" cy="1426680"/>
        </p:xfrm>
        <a:graphic>
          <a:graphicData uri="http://schemas.openxmlformats.org/drawingml/2006/table">
            <a:tbl>
              <a:tblPr/>
              <a:tblGrid>
                <a:gridCol w="2016224">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gridCol w="792088">
                  <a:extLst>
                    <a:ext uri="{9D8B030D-6E8A-4147-A177-3AD203B41FA5}">
                      <a16:colId xmlns:a16="http://schemas.microsoft.com/office/drawing/2014/main" val="20003"/>
                    </a:ext>
                  </a:extLst>
                </a:gridCol>
                <a:gridCol w="864095">
                  <a:extLst>
                    <a:ext uri="{9D8B030D-6E8A-4147-A177-3AD203B41FA5}">
                      <a16:colId xmlns:a16="http://schemas.microsoft.com/office/drawing/2014/main" val="20004"/>
                    </a:ext>
                  </a:extLst>
                </a:gridCol>
              </a:tblGrid>
              <a:tr h="475560">
                <a:tc>
                  <a:txBody>
                    <a:bodyPr/>
                    <a:lstStyle/>
                    <a:p>
                      <a:pPr algn="r">
                        <a:lnSpc>
                          <a:spcPct val="95000"/>
                        </a:lnSpc>
                      </a:pPr>
                      <a:r>
                        <a:rPr lang="es-PE" sz="2400" b="1" strike="noStrike" spc="-1" dirty="0" err="1">
                          <a:solidFill>
                            <a:schemeClr val="tx1"/>
                          </a:solidFill>
                          <a:latin typeface="Arial"/>
                        </a:rPr>
                        <a:t>P</a:t>
                      </a:r>
                      <a:r>
                        <a:rPr lang="es-PE" sz="2400" b="1" strike="noStrike" spc="-1" baseline="-30000" dirty="0" err="1">
                          <a:solidFill>
                            <a:schemeClr val="tx1"/>
                          </a:solidFill>
                          <a:latin typeface="Arial"/>
                        </a:rPr>
                        <a:t>1</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11</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1</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2</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14</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475560">
                <a:tc>
                  <a:txBody>
                    <a:bodyPr/>
                    <a:lstStyle/>
                    <a:p>
                      <a:pPr algn="r">
                        <a:lnSpc>
                          <a:spcPct val="95000"/>
                        </a:lnSpc>
                      </a:pPr>
                      <a:r>
                        <a:rPr lang="es-PE" sz="2400" b="1" strike="noStrike" spc="-1" dirty="0">
                          <a:solidFill>
                            <a:schemeClr val="tx1"/>
                          </a:solidFill>
                          <a:latin typeface="Arial"/>
                        </a:rPr>
                        <a:t>P</a:t>
                      </a:r>
                      <a:r>
                        <a:rPr lang="es-PE" sz="2400" b="1" strike="noStrike" spc="-1" baseline="-30000" dirty="0">
                          <a:solidFill>
                            <a:schemeClr val="tx1"/>
                          </a:solidFill>
                          <a:latin typeface="Arial"/>
                        </a:rPr>
                        <a:t>2</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11</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1</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a:rPr>
                        <a:t>2</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475560">
                <a:tc>
                  <a:txBody>
                    <a:bodyPr/>
                    <a:lstStyle/>
                    <a:p>
                      <a:pPr algn="r">
                        <a:lnSpc>
                          <a:spcPct val="95000"/>
                        </a:lnSpc>
                      </a:pPr>
                      <a:r>
                        <a:rPr lang="es-PE" sz="2400" b="1" strike="noStrike" spc="-1" dirty="0">
                          <a:solidFill>
                            <a:schemeClr val="tx1"/>
                          </a:solidFill>
                          <a:latin typeface="Arial"/>
                        </a:rPr>
                        <a:t>P</a:t>
                      </a:r>
                      <a:r>
                        <a:rPr lang="es-PE" sz="2400" b="1" strike="noStrike" spc="-1" baseline="-30000" dirty="0">
                          <a:solidFill>
                            <a:schemeClr val="tx1"/>
                          </a:solidFill>
                          <a:latin typeface="Arial"/>
                        </a:rPr>
                        <a:t>3</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rgbClr val="FF0000"/>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a:rPr>
                        <a:t>1</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a:rPr>
                        <a:t>2</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rgbClr val="FF0000"/>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bl>
          </a:graphicData>
        </a:graphic>
      </p:graphicFrame>
      <p:grpSp>
        <p:nvGrpSpPr>
          <p:cNvPr id="3" name="Grupo 2">
            <a:extLst>
              <a:ext uri="{FF2B5EF4-FFF2-40B4-BE49-F238E27FC236}">
                <a16:creationId xmlns:a16="http://schemas.microsoft.com/office/drawing/2014/main" id="{9E6CC3F5-FA93-417C-A841-C920CD989FAB}"/>
              </a:ext>
            </a:extLst>
          </p:cNvPr>
          <p:cNvGrpSpPr/>
          <p:nvPr/>
        </p:nvGrpSpPr>
        <p:grpSpPr>
          <a:xfrm>
            <a:off x="8096159" y="5122665"/>
            <a:ext cx="2690209" cy="915300"/>
            <a:chOff x="8096160" y="5122665"/>
            <a:chExt cx="2356920" cy="915300"/>
          </a:xfrm>
        </p:grpSpPr>
        <p:sp>
          <p:nvSpPr>
            <p:cNvPr id="4" name="Forma libre: forma 3">
              <a:extLst>
                <a:ext uri="{FF2B5EF4-FFF2-40B4-BE49-F238E27FC236}">
                  <a16:creationId xmlns:a16="http://schemas.microsoft.com/office/drawing/2014/main" id="{882A7197-96DA-4FD9-BDC5-12313A2C4206}"/>
                </a:ext>
              </a:extLst>
            </p:cNvPr>
            <p:cNvSpPr/>
            <p:nvPr/>
          </p:nvSpPr>
          <p:spPr>
            <a:xfrm>
              <a:off x="8096160" y="5122665"/>
              <a:ext cx="2356920" cy="431730"/>
            </a:xfrm>
            <a:custGeom>
              <a:avLst/>
              <a:gdLst>
                <a:gd name="connsiteX0" fmla="*/ 0 w 2356920"/>
                <a:gd name="connsiteY0" fmla="*/ 71956 h 431730"/>
                <a:gd name="connsiteX1" fmla="*/ 71956 w 2356920"/>
                <a:gd name="connsiteY1" fmla="*/ 0 h 431730"/>
                <a:gd name="connsiteX2" fmla="*/ 2284964 w 2356920"/>
                <a:gd name="connsiteY2" fmla="*/ 0 h 431730"/>
                <a:gd name="connsiteX3" fmla="*/ 2356920 w 2356920"/>
                <a:gd name="connsiteY3" fmla="*/ 71956 h 431730"/>
                <a:gd name="connsiteX4" fmla="*/ 2356920 w 2356920"/>
                <a:gd name="connsiteY4" fmla="*/ 359774 h 431730"/>
                <a:gd name="connsiteX5" fmla="*/ 2284964 w 2356920"/>
                <a:gd name="connsiteY5" fmla="*/ 431730 h 431730"/>
                <a:gd name="connsiteX6" fmla="*/ 71956 w 2356920"/>
                <a:gd name="connsiteY6" fmla="*/ 431730 h 431730"/>
                <a:gd name="connsiteX7" fmla="*/ 0 w 2356920"/>
                <a:gd name="connsiteY7" fmla="*/ 359774 h 431730"/>
                <a:gd name="connsiteX8" fmla="*/ 0 w 235692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920" h="431730">
                  <a:moveTo>
                    <a:pt x="0" y="71956"/>
                  </a:moveTo>
                  <a:cubicBezTo>
                    <a:pt x="0" y="32216"/>
                    <a:pt x="32216" y="0"/>
                    <a:pt x="71956" y="0"/>
                  </a:cubicBezTo>
                  <a:lnTo>
                    <a:pt x="2284964" y="0"/>
                  </a:lnTo>
                  <a:cubicBezTo>
                    <a:pt x="2324704" y="0"/>
                    <a:pt x="2356920" y="32216"/>
                    <a:pt x="2356920" y="71956"/>
                  </a:cubicBezTo>
                  <a:lnTo>
                    <a:pt x="2356920" y="359774"/>
                  </a:lnTo>
                  <a:cubicBezTo>
                    <a:pt x="2356920" y="399514"/>
                    <a:pt x="2324704" y="431730"/>
                    <a:pt x="2284964" y="431730"/>
                  </a:cubicBezTo>
                  <a:lnTo>
                    <a:pt x="71956" y="431730"/>
                  </a:lnTo>
                  <a:cubicBezTo>
                    <a:pt x="32216" y="431730"/>
                    <a:pt x="0" y="399514"/>
                    <a:pt x="0" y="359774"/>
                  </a:cubicBezTo>
                  <a:lnTo>
                    <a:pt x="0" y="7195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l" defTabSz="800100" rtl="0">
                <a:lnSpc>
                  <a:spcPct val="90000"/>
                </a:lnSpc>
                <a:spcBef>
                  <a:spcPct val="0"/>
                </a:spcBef>
                <a:spcAft>
                  <a:spcPct val="35000"/>
                </a:spcAft>
                <a:buNone/>
              </a:pPr>
              <a:r>
                <a:rPr lang="es-PE" sz="2000" b="0" kern="1200" dirty="0" err="1"/>
                <a:t>X14</a:t>
              </a:r>
              <a:r>
                <a:rPr lang="es-PE" sz="2000" b="0" kern="1200" dirty="0"/>
                <a:t>=350    C=(350)(9)</a:t>
              </a:r>
              <a:endParaRPr lang="es-PE" sz="2000" kern="1200" dirty="0"/>
            </a:p>
          </p:txBody>
        </p:sp>
        <p:sp>
          <p:nvSpPr>
            <p:cNvPr id="5" name="Forma libre: forma 4">
              <a:extLst>
                <a:ext uri="{FF2B5EF4-FFF2-40B4-BE49-F238E27FC236}">
                  <a16:creationId xmlns:a16="http://schemas.microsoft.com/office/drawing/2014/main" id="{60CCF354-30EE-4BAC-8A7C-F7C205A4F3D7}"/>
                </a:ext>
              </a:extLst>
            </p:cNvPr>
            <p:cNvSpPr/>
            <p:nvPr/>
          </p:nvSpPr>
          <p:spPr>
            <a:xfrm>
              <a:off x="8096160" y="5606235"/>
              <a:ext cx="2356920" cy="431730"/>
            </a:xfrm>
            <a:custGeom>
              <a:avLst/>
              <a:gdLst>
                <a:gd name="connsiteX0" fmla="*/ 0 w 2356920"/>
                <a:gd name="connsiteY0" fmla="*/ 71956 h 431730"/>
                <a:gd name="connsiteX1" fmla="*/ 71956 w 2356920"/>
                <a:gd name="connsiteY1" fmla="*/ 0 h 431730"/>
                <a:gd name="connsiteX2" fmla="*/ 2284964 w 2356920"/>
                <a:gd name="connsiteY2" fmla="*/ 0 h 431730"/>
                <a:gd name="connsiteX3" fmla="*/ 2356920 w 2356920"/>
                <a:gd name="connsiteY3" fmla="*/ 71956 h 431730"/>
                <a:gd name="connsiteX4" fmla="*/ 2356920 w 2356920"/>
                <a:gd name="connsiteY4" fmla="*/ 359774 h 431730"/>
                <a:gd name="connsiteX5" fmla="*/ 2284964 w 2356920"/>
                <a:gd name="connsiteY5" fmla="*/ 431730 h 431730"/>
                <a:gd name="connsiteX6" fmla="*/ 71956 w 2356920"/>
                <a:gd name="connsiteY6" fmla="*/ 431730 h 431730"/>
                <a:gd name="connsiteX7" fmla="*/ 0 w 2356920"/>
                <a:gd name="connsiteY7" fmla="*/ 359774 h 431730"/>
                <a:gd name="connsiteX8" fmla="*/ 0 w 235692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920" h="431730">
                  <a:moveTo>
                    <a:pt x="0" y="71956"/>
                  </a:moveTo>
                  <a:cubicBezTo>
                    <a:pt x="0" y="32216"/>
                    <a:pt x="32216" y="0"/>
                    <a:pt x="71956" y="0"/>
                  </a:cubicBezTo>
                  <a:lnTo>
                    <a:pt x="2284964" y="0"/>
                  </a:lnTo>
                  <a:cubicBezTo>
                    <a:pt x="2324704" y="0"/>
                    <a:pt x="2356920" y="32216"/>
                    <a:pt x="2356920" y="71956"/>
                  </a:cubicBezTo>
                  <a:lnTo>
                    <a:pt x="2356920" y="359774"/>
                  </a:lnTo>
                  <a:cubicBezTo>
                    <a:pt x="2356920" y="399514"/>
                    <a:pt x="2324704" y="431730"/>
                    <a:pt x="2284964" y="431730"/>
                  </a:cubicBezTo>
                  <a:lnTo>
                    <a:pt x="71956" y="431730"/>
                  </a:lnTo>
                  <a:cubicBezTo>
                    <a:pt x="32216" y="431730"/>
                    <a:pt x="0" y="399514"/>
                    <a:pt x="0" y="359774"/>
                  </a:cubicBezTo>
                  <a:lnTo>
                    <a:pt x="0" y="7195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l" defTabSz="800100" rtl="0">
                <a:lnSpc>
                  <a:spcPct val="90000"/>
                </a:lnSpc>
                <a:spcBef>
                  <a:spcPct val="0"/>
                </a:spcBef>
                <a:spcAft>
                  <a:spcPct val="35000"/>
                </a:spcAft>
                <a:buNone/>
              </a:pPr>
              <a:r>
                <a:rPr lang="es-PE" sz="2000" b="0" kern="1200" dirty="0" err="1"/>
                <a:t>X21</a:t>
              </a:r>
              <a:r>
                <a:rPr lang="es-PE" sz="2000" b="0" kern="1200" dirty="0"/>
                <a:t>=200    C=(200)(10) </a:t>
              </a:r>
              <a:endParaRPr lang="es-PE" sz="2000" kern="1200" dirty="0"/>
            </a:p>
          </p:txBody>
        </p:sp>
      </p:grpSp>
      <p:sp>
        <p:nvSpPr>
          <p:cNvPr id="9" name="CustomShape 5">
            <a:extLst>
              <a:ext uri="{FF2B5EF4-FFF2-40B4-BE49-F238E27FC236}">
                <a16:creationId xmlns:a16="http://schemas.microsoft.com/office/drawing/2014/main" id="{551409F5-0396-4A17-B97E-8B1D7B09AF03}"/>
              </a:ext>
            </a:extLst>
          </p:cNvPr>
          <p:cNvSpPr/>
          <p:nvPr/>
        </p:nvSpPr>
        <p:spPr>
          <a:xfrm>
            <a:off x="6096000" y="163488"/>
            <a:ext cx="6096000" cy="56304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lnSpc>
                <a:spcPts val="5800"/>
              </a:lnSpc>
              <a:spcBef>
                <a:spcPct val="0"/>
              </a:spcBef>
            </a:pPr>
            <a:r>
              <a:rPr lang="es-PE" sz="3200" dirty="0">
                <a:solidFill>
                  <a:schemeClr val="bg1"/>
                </a:solidFill>
                <a:effectLst>
                  <a:outerShdw blurRad="63500" dist="38100" dir="5400000" algn="t" rotWithShape="0">
                    <a:prstClr val="black">
                      <a:alpha val="25000"/>
                    </a:prstClr>
                  </a:outerShdw>
                </a:effectLst>
                <a:latin typeface="Bauhaus 93" pitchFamily="82" charset="0"/>
              </a:rPr>
              <a:t>Método Vogel</a:t>
            </a:r>
          </a:p>
        </p:txBody>
      </p:sp>
      <p:sp>
        <p:nvSpPr>
          <p:cNvPr id="8" name="CuadroTexto 7">
            <a:extLst>
              <a:ext uri="{FF2B5EF4-FFF2-40B4-BE49-F238E27FC236}">
                <a16:creationId xmlns:a16="http://schemas.microsoft.com/office/drawing/2014/main" id="{5ADF18B1-9A28-40BC-B17B-DB1040F46252}"/>
              </a:ext>
            </a:extLst>
          </p:cNvPr>
          <p:cNvSpPr txBox="1"/>
          <p:nvPr/>
        </p:nvSpPr>
        <p:spPr>
          <a:xfrm>
            <a:off x="258793" y="2191109"/>
            <a:ext cx="1380226" cy="646331"/>
          </a:xfrm>
          <a:prstGeom prst="rect">
            <a:avLst/>
          </a:prstGeom>
          <a:solidFill>
            <a:srgbClr val="FFFF00"/>
          </a:solidFill>
        </p:spPr>
        <p:txBody>
          <a:bodyPr wrap="square" rtlCol="0">
            <a:spAutoFit/>
          </a:bodyPr>
          <a:lstStyle/>
          <a:p>
            <a:r>
              <a:rPr lang="es-ES" b="1" dirty="0"/>
              <a:t>Hallamos las penalidades</a:t>
            </a:r>
          </a:p>
        </p:txBody>
      </p:sp>
      <p:sp>
        <p:nvSpPr>
          <p:cNvPr id="10" name="Rectángulo 9">
            <a:extLst>
              <a:ext uri="{FF2B5EF4-FFF2-40B4-BE49-F238E27FC236}">
                <a16:creationId xmlns:a16="http://schemas.microsoft.com/office/drawing/2014/main" id="{3F5193E2-3CEA-4BA1-A617-F9C6A21E8B57}"/>
              </a:ext>
            </a:extLst>
          </p:cNvPr>
          <p:cNvSpPr/>
          <p:nvPr/>
        </p:nvSpPr>
        <p:spPr>
          <a:xfrm>
            <a:off x="258136" y="3054556"/>
            <a:ext cx="1372258" cy="923330"/>
          </a:xfrm>
          <a:prstGeom prst="rect">
            <a:avLst/>
          </a:prstGeom>
          <a:solidFill>
            <a:srgbClr val="FFFF00"/>
          </a:solidFill>
        </p:spPr>
        <p:txBody>
          <a:bodyPr wrap="square">
            <a:spAutoFit/>
          </a:bodyPr>
          <a:lstStyle/>
          <a:p>
            <a:r>
              <a:rPr lang="es-ES" b="1" dirty="0"/>
              <a:t>Hallamos la mayor penalidad</a:t>
            </a:r>
            <a:endParaRPr lang="es-PE" b="1" dirty="0"/>
          </a:p>
        </p:txBody>
      </p:sp>
      <p:sp>
        <p:nvSpPr>
          <p:cNvPr id="11" name="CuadroTexto 10">
            <a:extLst>
              <a:ext uri="{FF2B5EF4-FFF2-40B4-BE49-F238E27FC236}">
                <a16:creationId xmlns:a16="http://schemas.microsoft.com/office/drawing/2014/main" id="{20686E7B-333B-42F6-AD95-5014193E9F25}"/>
              </a:ext>
            </a:extLst>
          </p:cNvPr>
          <p:cNvSpPr txBox="1"/>
          <p:nvPr/>
        </p:nvSpPr>
        <p:spPr>
          <a:xfrm>
            <a:off x="264551" y="4198193"/>
            <a:ext cx="1380226" cy="646331"/>
          </a:xfrm>
          <a:prstGeom prst="rect">
            <a:avLst/>
          </a:prstGeom>
          <a:solidFill>
            <a:srgbClr val="FFFF00"/>
          </a:solidFill>
        </p:spPr>
        <p:txBody>
          <a:bodyPr wrap="square" rtlCol="0">
            <a:spAutoFit/>
          </a:bodyPr>
          <a:lstStyle/>
          <a:p>
            <a:r>
              <a:rPr lang="es-ES" b="1" dirty="0"/>
              <a:t>Hallamos el menor costo</a:t>
            </a:r>
          </a:p>
        </p:txBody>
      </p:sp>
      <p:sp>
        <p:nvSpPr>
          <p:cNvPr id="12" name="CuadroTexto 11">
            <a:extLst>
              <a:ext uri="{FF2B5EF4-FFF2-40B4-BE49-F238E27FC236}">
                <a16:creationId xmlns:a16="http://schemas.microsoft.com/office/drawing/2014/main" id="{548EACBA-593A-4DFD-AF2E-315F9949CBBC}"/>
              </a:ext>
            </a:extLst>
          </p:cNvPr>
          <p:cNvSpPr txBox="1"/>
          <p:nvPr/>
        </p:nvSpPr>
        <p:spPr>
          <a:xfrm>
            <a:off x="264551" y="5086705"/>
            <a:ext cx="1380226" cy="646331"/>
          </a:xfrm>
          <a:prstGeom prst="rect">
            <a:avLst/>
          </a:prstGeom>
          <a:solidFill>
            <a:srgbClr val="FFFF00"/>
          </a:solidFill>
        </p:spPr>
        <p:txBody>
          <a:bodyPr wrap="square" rtlCol="0">
            <a:spAutoFit/>
          </a:bodyPr>
          <a:lstStyle/>
          <a:p>
            <a:r>
              <a:rPr lang="es-ES" b="1" dirty="0"/>
              <a:t>Anotamos la operación</a:t>
            </a:r>
          </a:p>
        </p:txBody>
      </p:sp>
      <p:sp>
        <p:nvSpPr>
          <p:cNvPr id="13" name="Globo: flecha hacia abajo 12">
            <a:extLst>
              <a:ext uri="{FF2B5EF4-FFF2-40B4-BE49-F238E27FC236}">
                <a16:creationId xmlns:a16="http://schemas.microsoft.com/office/drawing/2014/main" id="{673F6333-0720-4B3C-8612-B66CD69CE219}"/>
              </a:ext>
            </a:extLst>
          </p:cNvPr>
          <p:cNvSpPr/>
          <p:nvPr/>
        </p:nvSpPr>
        <p:spPr>
          <a:xfrm>
            <a:off x="276044" y="1276709"/>
            <a:ext cx="1345721" cy="897148"/>
          </a:xfrm>
          <a:prstGeom prst="downArrowCallou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rgbClr val="FF0000"/>
                </a:solidFill>
              </a:rPr>
              <a:t>Pasos:</a:t>
            </a:r>
            <a:endParaRPr lang="es-PE" sz="2400" dirty="0">
              <a:solidFill>
                <a:srgbClr val="FF0000"/>
              </a:solidFill>
            </a:endParaRPr>
          </a:p>
        </p:txBody>
      </p:sp>
      <p:sp>
        <p:nvSpPr>
          <p:cNvPr id="17" name="Forma libre: forma 16">
            <a:extLst>
              <a:ext uri="{FF2B5EF4-FFF2-40B4-BE49-F238E27FC236}">
                <a16:creationId xmlns:a16="http://schemas.microsoft.com/office/drawing/2014/main" id="{57389B82-39F5-469C-900C-01C27487B993}"/>
              </a:ext>
            </a:extLst>
          </p:cNvPr>
          <p:cNvSpPr/>
          <p:nvPr/>
        </p:nvSpPr>
        <p:spPr>
          <a:xfrm>
            <a:off x="8096160" y="6089805"/>
            <a:ext cx="2690208" cy="431730"/>
          </a:xfrm>
          <a:custGeom>
            <a:avLst/>
            <a:gdLst>
              <a:gd name="connsiteX0" fmla="*/ 0 w 2356920"/>
              <a:gd name="connsiteY0" fmla="*/ 71956 h 431730"/>
              <a:gd name="connsiteX1" fmla="*/ 71956 w 2356920"/>
              <a:gd name="connsiteY1" fmla="*/ 0 h 431730"/>
              <a:gd name="connsiteX2" fmla="*/ 2284964 w 2356920"/>
              <a:gd name="connsiteY2" fmla="*/ 0 h 431730"/>
              <a:gd name="connsiteX3" fmla="*/ 2356920 w 2356920"/>
              <a:gd name="connsiteY3" fmla="*/ 71956 h 431730"/>
              <a:gd name="connsiteX4" fmla="*/ 2356920 w 2356920"/>
              <a:gd name="connsiteY4" fmla="*/ 359774 h 431730"/>
              <a:gd name="connsiteX5" fmla="*/ 2284964 w 2356920"/>
              <a:gd name="connsiteY5" fmla="*/ 431730 h 431730"/>
              <a:gd name="connsiteX6" fmla="*/ 71956 w 2356920"/>
              <a:gd name="connsiteY6" fmla="*/ 431730 h 431730"/>
              <a:gd name="connsiteX7" fmla="*/ 0 w 2356920"/>
              <a:gd name="connsiteY7" fmla="*/ 359774 h 431730"/>
              <a:gd name="connsiteX8" fmla="*/ 0 w 235692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920" h="431730">
                <a:moveTo>
                  <a:pt x="0" y="71956"/>
                </a:moveTo>
                <a:cubicBezTo>
                  <a:pt x="0" y="32216"/>
                  <a:pt x="32216" y="0"/>
                  <a:pt x="71956" y="0"/>
                </a:cubicBezTo>
                <a:lnTo>
                  <a:pt x="2284964" y="0"/>
                </a:lnTo>
                <a:cubicBezTo>
                  <a:pt x="2324704" y="0"/>
                  <a:pt x="2356920" y="32216"/>
                  <a:pt x="2356920" y="71956"/>
                </a:cubicBezTo>
                <a:lnTo>
                  <a:pt x="2356920" y="359774"/>
                </a:lnTo>
                <a:cubicBezTo>
                  <a:pt x="2356920" y="399514"/>
                  <a:pt x="2324704" y="431730"/>
                  <a:pt x="2284964" y="431730"/>
                </a:cubicBezTo>
                <a:lnTo>
                  <a:pt x="71956" y="431730"/>
                </a:lnTo>
                <a:cubicBezTo>
                  <a:pt x="32216" y="431730"/>
                  <a:pt x="0" y="399514"/>
                  <a:pt x="0" y="359774"/>
                </a:cubicBezTo>
                <a:lnTo>
                  <a:pt x="0" y="7195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l" defTabSz="800100" rtl="0">
              <a:lnSpc>
                <a:spcPct val="90000"/>
              </a:lnSpc>
              <a:spcBef>
                <a:spcPct val="0"/>
              </a:spcBef>
              <a:spcAft>
                <a:spcPct val="35000"/>
              </a:spcAft>
              <a:buNone/>
            </a:pPr>
            <a:r>
              <a:rPr lang="es-PE" sz="2000" b="0" kern="1200" dirty="0" err="1"/>
              <a:t>X12</a:t>
            </a:r>
            <a:r>
              <a:rPr lang="es-PE" sz="2000" b="0" kern="1200" dirty="0"/>
              <a:t>=200    C=(200)(15) </a:t>
            </a:r>
            <a:endParaRPr lang="es-PE" sz="2000" kern="1200" dirty="0"/>
          </a:p>
        </p:txBody>
      </p:sp>
    </p:spTree>
    <p:extLst>
      <p:ext uri="{BB962C8B-B14F-4D97-AF65-F5344CB8AC3E}">
        <p14:creationId xmlns:p14="http://schemas.microsoft.com/office/powerpoint/2010/main" val="2301227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CustomShape 1"/>
          <p:cNvSpPr/>
          <p:nvPr/>
        </p:nvSpPr>
        <p:spPr>
          <a:xfrm>
            <a:off x="1524000" y="239400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901" name="Table 2"/>
          <p:cNvGraphicFramePr/>
          <p:nvPr>
            <p:extLst>
              <p:ext uri="{D42A27DB-BD31-4B8C-83A1-F6EECF244321}">
                <p14:modId xmlns:p14="http://schemas.microsoft.com/office/powerpoint/2010/main" val="3560940431"/>
              </p:ext>
            </p:extLst>
          </p:nvPr>
        </p:nvGraphicFramePr>
        <p:xfrm>
          <a:off x="2135560" y="1268280"/>
          <a:ext cx="7960401" cy="3665664"/>
        </p:xfrm>
        <a:graphic>
          <a:graphicData uri="http://schemas.openxmlformats.org/drawingml/2006/table">
            <a:tbl>
              <a:tblPr/>
              <a:tblGrid>
                <a:gridCol w="2009956">
                  <a:extLst>
                    <a:ext uri="{9D8B030D-6E8A-4147-A177-3AD203B41FA5}">
                      <a16:colId xmlns:a16="http://schemas.microsoft.com/office/drawing/2014/main" val="20000"/>
                    </a:ext>
                  </a:extLst>
                </a:gridCol>
                <a:gridCol w="803983">
                  <a:extLst>
                    <a:ext uri="{9D8B030D-6E8A-4147-A177-3AD203B41FA5}">
                      <a16:colId xmlns:a16="http://schemas.microsoft.com/office/drawing/2014/main" val="20001"/>
                    </a:ext>
                  </a:extLst>
                </a:gridCol>
                <a:gridCol w="803983">
                  <a:extLst>
                    <a:ext uri="{9D8B030D-6E8A-4147-A177-3AD203B41FA5}">
                      <a16:colId xmlns:a16="http://schemas.microsoft.com/office/drawing/2014/main" val="20002"/>
                    </a:ext>
                  </a:extLst>
                </a:gridCol>
                <a:gridCol w="803983">
                  <a:extLst>
                    <a:ext uri="{9D8B030D-6E8A-4147-A177-3AD203B41FA5}">
                      <a16:colId xmlns:a16="http://schemas.microsoft.com/office/drawing/2014/main" val="20003"/>
                    </a:ext>
                  </a:extLst>
                </a:gridCol>
                <a:gridCol w="803983">
                  <a:extLst>
                    <a:ext uri="{9D8B030D-6E8A-4147-A177-3AD203B41FA5}">
                      <a16:colId xmlns:a16="http://schemas.microsoft.com/office/drawing/2014/main" val="20004"/>
                    </a:ext>
                  </a:extLst>
                </a:gridCol>
                <a:gridCol w="1143360">
                  <a:extLst>
                    <a:ext uri="{9D8B030D-6E8A-4147-A177-3AD203B41FA5}">
                      <a16:colId xmlns:a16="http://schemas.microsoft.com/office/drawing/2014/main" val="20005"/>
                    </a:ext>
                  </a:extLst>
                </a:gridCol>
                <a:gridCol w="532660">
                  <a:extLst>
                    <a:ext uri="{9D8B030D-6E8A-4147-A177-3AD203B41FA5}">
                      <a16:colId xmlns:a16="http://schemas.microsoft.com/office/drawing/2014/main" val="20006"/>
                    </a:ext>
                  </a:extLst>
                </a:gridCol>
                <a:gridCol w="550415">
                  <a:extLst>
                    <a:ext uri="{9D8B030D-6E8A-4147-A177-3AD203B41FA5}">
                      <a16:colId xmlns:a16="http://schemas.microsoft.com/office/drawing/2014/main" val="20007"/>
                    </a:ext>
                  </a:extLst>
                </a:gridCol>
                <a:gridCol w="508078">
                  <a:extLst>
                    <a:ext uri="{9D8B030D-6E8A-4147-A177-3AD203B41FA5}">
                      <a16:colId xmlns:a16="http://schemas.microsoft.com/office/drawing/2014/main" val="20008"/>
                    </a:ext>
                  </a:extLst>
                </a:gridCol>
              </a:tblGrid>
              <a:tr h="798120">
                <a:tc>
                  <a:txBody>
                    <a:bodyPr/>
                    <a:lstStyle/>
                    <a:p>
                      <a:pPr>
                        <a:lnSpc>
                          <a:spcPct val="95000"/>
                        </a:lnSpc>
                      </a:pPr>
                      <a:r>
                        <a:rPr lang="es-PE" sz="2400" b="1" strike="noStrike" spc="-1" dirty="0">
                          <a:solidFill>
                            <a:schemeClr val="bg1"/>
                          </a:solidFill>
                          <a:latin typeface="Arial"/>
                        </a:rPr>
                        <a:t>Mayoristas</a:t>
                      </a:r>
                      <a:endParaRPr lang="es-PE" sz="2400" b="0" strike="noStrike" spc="-1" dirty="0">
                        <a:solidFill>
                          <a:schemeClr val="bg1"/>
                        </a:solidFill>
                        <a:latin typeface="Arial"/>
                      </a:endParaRPr>
                    </a:p>
                    <a:p>
                      <a:pPr>
                        <a:lnSpc>
                          <a:spcPct val="95000"/>
                        </a:lnSpc>
                      </a:pPr>
                      <a:r>
                        <a:rPr lang="es-PE" sz="2400" b="1" strike="noStrike" spc="-1" dirty="0">
                          <a:solidFill>
                            <a:schemeClr val="bg1"/>
                          </a:solidFill>
                          <a:latin typeface="Arial"/>
                        </a:rPr>
                        <a:t>Fábrica</a:t>
                      </a:r>
                      <a:endParaRPr lang="es-PE" sz="2400" b="0" strike="noStrike" spc="-1" dirty="0">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a:solidFill>
                            <a:schemeClr val="bg1"/>
                          </a:solidFill>
                          <a:latin typeface="Arial"/>
                        </a:rPr>
                        <a:t>A</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a:solidFill>
                            <a:schemeClr val="bg1"/>
                          </a:solidFill>
                          <a:latin typeface="Arial"/>
                        </a:rPr>
                        <a:t>B</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a:solidFill>
                            <a:schemeClr val="bg1"/>
                          </a:solidFill>
                          <a:latin typeface="Arial"/>
                        </a:rPr>
                        <a:t>C</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a:solidFill>
                            <a:schemeClr val="bg1"/>
                          </a:solidFill>
                          <a:latin typeface="Arial"/>
                        </a:rPr>
                        <a:t>D</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a:solidFill>
                            <a:schemeClr val="bg1"/>
                          </a:solidFill>
                          <a:latin typeface="Arial"/>
                        </a:rPr>
                        <a:t>Oferta </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r">
                        <a:lnSpc>
                          <a:spcPct val="95000"/>
                        </a:lnSpc>
                      </a:pPr>
                      <a:r>
                        <a:rPr lang="es-PE" sz="2400" b="1" strike="noStrike" spc="-1" dirty="0">
                          <a:solidFill>
                            <a:schemeClr val="tx1"/>
                          </a:solidFill>
                          <a:latin typeface="Arial"/>
                        </a:rPr>
                        <a:t>P</a:t>
                      </a:r>
                      <a:r>
                        <a:rPr lang="es-PE" sz="2400" b="1" strike="noStrike" spc="-1" baseline="-30000" dirty="0">
                          <a:solidFill>
                            <a:schemeClr val="tx1"/>
                          </a:solidFill>
                          <a:latin typeface="Arial"/>
                        </a:rPr>
                        <a:t>1</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dirty="0">
                          <a:solidFill>
                            <a:schemeClr val="tx1"/>
                          </a:solidFill>
                          <a:latin typeface="Arial"/>
                        </a:rPr>
                        <a:t>P</a:t>
                      </a:r>
                      <a:r>
                        <a:rPr lang="es-PE" sz="2400" b="1" strike="noStrike" spc="-1" baseline="-30000" dirty="0">
                          <a:solidFill>
                            <a:schemeClr val="tx1"/>
                          </a:solidFill>
                          <a:latin typeface="Arial"/>
                        </a:rPr>
                        <a:t>2</a:t>
                      </a:r>
                      <a:endParaRPr lang="es-PE" sz="2400" b="0" strike="noStrike" spc="-1" dirty="0">
                        <a:solidFill>
                          <a:schemeClr val="tx1"/>
                        </a:solidFill>
                        <a:latin typeface="Arial"/>
                      </a:endParaRPr>
                    </a:p>
                    <a:p>
                      <a:pPr algn="r">
                        <a:lnSpc>
                          <a:spcPct val="95000"/>
                        </a:lnSpc>
                      </a:pP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dirty="0">
                          <a:solidFill>
                            <a:schemeClr val="tx1"/>
                          </a:solidFill>
                          <a:latin typeface="Arial"/>
                        </a:rPr>
                        <a:t>P</a:t>
                      </a:r>
                      <a:r>
                        <a:rPr lang="es-PE" sz="2400" b="1" strike="noStrike" spc="-1" baseline="-30000" dirty="0">
                          <a:solidFill>
                            <a:schemeClr val="tx1"/>
                          </a:solidFill>
                          <a:latin typeface="Arial"/>
                        </a:rPr>
                        <a:t>3</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1163880">
                <a:tc>
                  <a:txBody>
                    <a:bodyPr/>
                    <a:lstStyle/>
                    <a:p>
                      <a:pPr algn="ctr">
                        <a:lnSpc>
                          <a:spcPct val="95000"/>
                        </a:lnSpc>
                      </a:pPr>
                      <a:r>
                        <a:rPr lang="es-PE" sz="2400" b="1" strike="noStrike" spc="-1" dirty="0">
                          <a:solidFill>
                            <a:schemeClr val="bg1"/>
                          </a:solidFill>
                          <a:latin typeface="Arial"/>
                        </a:rPr>
                        <a:t>01 Norte</a:t>
                      </a:r>
                      <a:endParaRPr lang="es-PE" sz="2400" b="0" strike="noStrike" spc="-1" dirty="0">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a:solidFill>
                            <a:schemeClr val="tx1"/>
                          </a:solidFill>
                          <a:latin typeface="Arial"/>
                        </a:rPr>
                        <a:t>550</a:t>
                      </a:r>
                      <a:endParaRPr lang="es-PE" sz="2400" b="0" strike="noStrike" spc="-1">
                        <a:solidFill>
                          <a:schemeClr val="tx1"/>
                        </a:solidFill>
                        <a:latin typeface="Arial"/>
                      </a:endParaRPr>
                    </a:p>
                    <a:p>
                      <a:pPr algn="ctr">
                        <a:lnSpc>
                          <a:spcPct val="95000"/>
                        </a:lnSpc>
                      </a:pPr>
                      <a:r>
                        <a:rPr lang="es-PE" sz="2400" b="1" strike="noStrike" spc="-1">
                          <a:solidFill>
                            <a:schemeClr val="tx1"/>
                          </a:solidFill>
                          <a:latin typeface="Arial"/>
                        </a:rPr>
                        <a:t>200</a:t>
                      </a:r>
                      <a:endParaRPr lang="es-PE" sz="2400" b="0" strike="noStrike" spc="-1">
                        <a:solidFill>
                          <a:schemeClr val="tx1"/>
                        </a:solidFill>
                        <a:latin typeface="Arial"/>
                      </a:endParaRPr>
                    </a:p>
                    <a:p>
                      <a:pPr algn="ctr">
                        <a:lnSpc>
                          <a:spcPct val="95000"/>
                        </a:lnSpc>
                      </a:pPr>
                      <a:r>
                        <a:rPr lang="es-PE" sz="2400" b="1" strike="noStrike" spc="-1">
                          <a:solidFill>
                            <a:schemeClr val="tx1"/>
                          </a:solidFill>
                          <a:latin typeface="Arial"/>
                        </a:rPr>
                        <a:t>0</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6</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3</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3</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781200">
                <a:tc>
                  <a:txBody>
                    <a:bodyPr/>
                    <a:lstStyle/>
                    <a:p>
                      <a:pPr algn="ctr">
                        <a:lnSpc>
                          <a:spcPct val="95000"/>
                        </a:lnSpc>
                      </a:pPr>
                      <a:r>
                        <a:rPr lang="es-PE" sz="2400" b="1" strike="noStrike" spc="-1">
                          <a:solidFill>
                            <a:schemeClr val="bg1"/>
                          </a:solidFill>
                          <a:latin typeface="Arial"/>
                        </a:rPr>
                        <a:t>Sur</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dirty="0">
                          <a:solidFill>
                            <a:schemeClr val="tx1"/>
                          </a:solidFill>
                          <a:latin typeface="Arial"/>
                        </a:rPr>
                        <a:t>14</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a:rPr>
                        <a:t>16</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a:solidFill>
                            <a:schemeClr val="tx1"/>
                          </a:solidFill>
                          <a:latin typeface="Arial"/>
                        </a:rPr>
                        <a:t>650</a:t>
                      </a:r>
                      <a:endParaRPr lang="es-PE" sz="2400" b="0" strike="noStrike" spc="-1">
                        <a:solidFill>
                          <a:schemeClr val="tx1"/>
                        </a:solidFill>
                        <a:latin typeface="Arial"/>
                      </a:endParaRPr>
                    </a:p>
                    <a:p>
                      <a:pPr algn="ctr">
                        <a:lnSpc>
                          <a:spcPct val="95000"/>
                        </a:lnSpc>
                      </a:pPr>
                      <a:r>
                        <a:rPr lang="es-PE" sz="2400" b="1" strike="noStrike" spc="-1">
                          <a:solidFill>
                            <a:schemeClr val="tx1"/>
                          </a:solidFill>
                          <a:latin typeface="Arial"/>
                        </a:rPr>
                        <a:t>450</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4</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4</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2</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917280">
                <a:tc>
                  <a:txBody>
                    <a:bodyPr/>
                    <a:lstStyle/>
                    <a:p>
                      <a:pPr algn="ctr">
                        <a:lnSpc>
                          <a:spcPct val="95000"/>
                        </a:lnSpc>
                      </a:pPr>
                      <a:r>
                        <a:rPr lang="es-PE" sz="2400" b="1" strike="noStrike" spc="-1">
                          <a:solidFill>
                            <a:schemeClr val="bg1"/>
                          </a:solidFill>
                          <a:latin typeface="Arial"/>
                        </a:rPr>
                        <a:t>Demanda </a:t>
                      </a:r>
                      <a:endParaRPr lang="es-PE" sz="2400" b="0" strike="noStrike" spc="-1">
                        <a:solidFill>
                          <a:schemeClr val="bg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7030A0"/>
                    </a:solidFill>
                  </a:tcPr>
                </a:tc>
                <a:tc>
                  <a:txBody>
                    <a:bodyPr/>
                    <a:lstStyle/>
                    <a:p>
                      <a:pPr algn="ctr">
                        <a:lnSpc>
                          <a:spcPct val="95000"/>
                        </a:lnSpc>
                      </a:pPr>
                      <a:r>
                        <a:rPr lang="es-PE" sz="2400" b="1" strike="noStrike" spc="-1">
                          <a:solidFill>
                            <a:schemeClr val="tx1"/>
                          </a:solidFill>
                          <a:latin typeface="Arial"/>
                        </a:rPr>
                        <a:t>200</a:t>
                      </a:r>
                      <a:endParaRPr lang="es-PE" sz="2400" b="0" strike="noStrike" spc="-1">
                        <a:solidFill>
                          <a:schemeClr val="tx1"/>
                        </a:solidFill>
                        <a:latin typeface="Arial"/>
                      </a:endParaRPr>
                    </a:p>
                    <a:p>
                      <a:pPr algn="ctr">
                        <a:lnSpc>
                          <a:spcPct val="95000"/>
                        </a:lnSpc>
                      </a:pPr>
                      <a:r>
                        <a:rPr lang="es-PE" sz="2400" b="1" strike="noStrike" spc="-1">
                          <a:solidFill>
                            <a:schemeClr val="tx1"/>
                          </a:solidFill>
                          <a:latin typeface="Arial"/>
                        </a:rPr>
                        <a:t>0</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250</a:t>
                      </a:r>
                      <a:endParaRPr lang="es-PE" sz="2400" b="0" strike="noStrike" spc="-1">
                        <a:solidFill>
                          <a:schemeClr val="tx1"/>
                        </a:solidFill>
                        <a:latin typeface="Arial"/>
                      </a:endParaRPr>
                    </a:p>
                    <a:p>
                      <a:pPr algn="ctr">
                        <a:lnSpc>
                          <a:spcPct val="95000"/>
                        </a:lnSpc>
                      </a:pPr>
                      <a:r>
                        <a:rPr lang="es-PE" sz="2400" b="1" strike="noStrike" spc="-1">
                          <a:solidFill>
                            <a:schemeClr val="tx1"/>
                          </a:solidFill>
                          <a:latin typeface="Arial"/>
                        </a:rPr>
                        <a:t>50</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a:rPr>
                        <a:t>400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a:rPr>
                        <a:t>350</a:t>
                      </a:r>
                      <a:endParaRPr lang="es-PE" sz="2400" b="0" strike="noStrike" spc="-1" dirty="0">
                        <a:solidFill>
                          <a:schemeClr val="tx1"/>
                        </a:solidFill>
                        <a:latin typeface="Arial"/>
                      </a:endParaRPr>
                    </a:p>
                    <a:p>
                      <a:pPr algn="ctr">
                        <a:lnSpc>
                          <a:spcPct val="95000"/>
                        </a:lnSpc>
                      </a:pPr>
                      <a:r>
                        <a:rPr lang="es-PE" sz="2400" b="1" strike="noStrike" spc="-1" dirty="0">
                          <a:solidFill>
                            <a:schemeClr val="tx1"/>
                          </a:solidFill>
                          <a:latin typeface="Arial"/>
                        </a:rPr>
                        <a:t>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3"/>
                  </a:ext>
                </a:extLst>
              </a:tr>
            </a:tbl>
          </a:graphicData>
        </a:graphic>
      </p:graphicFrame>
      <p:sp>
        <p:nvSpPr>
          <p:cNvPr id="902" name="CustomShape 3"/>
          <p:cNvSpPr/>
          <p:nvPr/>
        </p:nvSpPr>
        <p:spPr>
          <a:xfrm>
            <a:off x="1524000" y="2552760"/>
            <a:ext cx="183960" cy="45684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903" name="Table 4"/>
          <p:cNvGraphicFramePr/>
          <p:nvPr/>
        </p:nvGraphicFramePr>
        <p:xfrm>
          <a:off x="2135560" y="5157192"/>
          <a:ext cx="5256584" cy="1428480"/>
        </p:xfrm>
        <a:graphic>
          <a:graphicData uri="http://schemas.openxmlformats.org/drawingml/2006/table">
            <a:tbl>
              <a:tblPr/>
              <a:tblGrid>
                <a:gridCol w="1990887">
                  <a:extLst>
                    <a:ext uri="{9D8B030D-6E8A-4147-A177-3AD203B41FA5}">
                      <a16:colId xmlns:a16="http://schemas.microsoft.com/office/drawing/2014/main" val="20000"/>
                    </a:ext>
                  </a:extLst>
                </a:gridCol>
                <a:gridCol w="796355">
                  <a:extLst>
                    <a:ext uri="{9D8B030D-6E8A-4147-A177-3AD203B41FA5}">
                      <a16:colId xmlns:a16="http://schemas.microsoft.com/office/drawing/2014/main" val="20001"/>
                    </a:ext>
                  </a:extLst>
                </a:gridCol>
                <a:gridCol w="813158">
                  <a:extLst>
                    <a:ext uri="{9D8B030D-6E8A-4147-A177-3AD203B41FA5}">
                      <a16:colId xmlns:a16="http://schemas.microsoft.com/office/drawing/2014/main" val="20002"/>
                    </a:ext>
                  </a:extLst>
                </a:gridCol>
                <a:gridCol w="864096">
                  <a:extLst>
                    <a:ext uri="{9D8B030D-6E8A-4147-A177-3AD203B41FA5}">
                      <a16:colId xmlns:a16="http://schemas.microsoft.com/office/drawing/2014/main" val="20003"/>
                    </a:ext>
                  </a:extLst>
                </a:gridCol>
                <a:gridCol w="792088">
                  <a:extLst>
                    <a:ext uri="{9D8B030D-6E8A-4147-A177-3AD203B41FA5}">
                      <a16:colId xmlns:a16="http://schemas.microsoft.com/office/drawing/2014/main" val="20004"/>
                    </a:ext>
                  </a:extLst>
                </a:gridCol>
              </a:tblGrid>
              <a:tr h="475920">
                <a:tc>
                  <a:txBody>
                    <a:bodyPr/>
                    <a:lstStyle/>
                    <a:p>
                      <a:pPr algn="r">
                        <a:lnSpc>
                          <a:spcPct val="95000"/>
                        </a:lnSpc>
                      </a:pPr>
                      <a:r>
                        <a:rPr lang="es-PE" sz="2400" b="1" strike="noStrike" spc="-1" dirty="0" err="1">
                          <a:solidFill>
                            <a:schemeClr val="tx1"/>
                          </a:solidFill>
                          <a:latin typeface="Arial"/>
                        </a:rPr>
                        <a:t>P</a:t>
                      </a:r>
                      <a:r>
                        <a:rPr lang="es-PE" sz="2400" b="1" strike="noStrike" spc="-1" baseline="-30000" dirty="0" err="1">
                          <a:solidFill>
                            <a:schemeClr val="tx1"/>
                          </a:solidFill>
                          <a:latin typeface="Arial"/>
                        </a:rPr>
                        <a:t>1</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11</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1</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2</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14</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475920">
                <a:tc>
                  <a:txBody>
                    <a:bodyPr/>
                    <a:lstStyle/>
                    <a:p>
                      <a:pPr algn="r">
                        <a:lnSpc>
                          <a:spcPct val="95000"/>
                        </a:lnSpc>
                      </a:pPr>
                      <a:r>
                        <a:rPr lang="es-PE" sz="2400" b="1" strike="noStrike" spc="-1" dirty="0">
                          <a:solidFill>
                            <a:schemeClr val="tx1"/>
                          </a:solidFill>
                          <a:latin typeface="Arial"/>
                        </a:rPr>
                        <a:t>P</a:t>
                      </a:r>
                      <a:r>
                        <a:rPr lang="es-PE" sz="2400" b="1" strike="noStrike" spc="-1" baseline="-30000" dirty="0">
                          <a:solidFill>
                            <a:schemeClr val="tx1"/>
                          </a:solidFill>
                          <a:latin typeface="Arial"/>
                        </a:rPr>
                        <a:t>2</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11</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1</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a:rPr>
                        <a:t>2</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476640">
                <a:tc>
                  <a:txBody>
                    <a:bodyPr/>
                    <a:lstStyle/>
                    <a:p>
                      <a:pPr algn="r">
                        <a:lnSpc>
                          <a:spcPct val="95000"/>
                        </a:lnSpc>
                      </a:pPr>
                      <a:r>
                        <a:rPr lang="es-PE" sz="2400" b="1" strike="noStrike" spc="-1" dirty="0">
                          <a:solidFill>
                            <a:schemeClr val="tx1"/>
                          </a:solidFill>
                          <a:latin typeface="Arial"/>
                        </a:rPr>
                        <a:t>P</a:t>
                      </a:r>
                      <a:r>
                        <a:rPr lang="es-PE" sz="2400" b="1" strike="noStrike" spc="-1" baseline="-30000" dirty="0">
                          <a:solidFill>
                            <a:schemeClr val="tx1"/>
                          </a:solidFill>
                          <a:latin typeface="Arial"/>
                        </a:rPr>
                        <a:t>3</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a:rPr>
                        <a:t>1</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a:rPr>
                        <a:t>2</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bl>
          </a:graphicData>
        </a:graphic>
      </p:graphicFrame>
      <p:grpSp>
        <p:nvGrpSpPr>
          <p:cNvPr id="3" name="Grupo 2">
            <a:extLst>
              <a:ext uri="{FF2B5EF4-FFF2-40B4-BE49-F238E27FC236}">
                <a16:creationId xmlns:a16="http://schemas.microsoft.com/office/drawing/2014/main" id="{B038CAE2-8AE7-4B74-AB75-40373AB5FC1B}"/>
              </a:ext>
            </a:extLst>
          </p:cNvPr>
          <p:cNvGrpSpPr/>
          <p:nvPr/>
        </p:nvGrpSpPr>
        <p:grpSpPr>
          <a:xfrm>
            <a:off x="8096159" y="5001578"/>
            <a:ext cx="3338279" cy="1310140"/>
            <a:chOff x="8096160" y="5001578"/>
            <a:chExt cx="2571480" cy="1310140"/>
          </a:xfrm>
        </p:grpSpPr>
        <p:sp>
          <p:nvSpPr>
            <p:cNvPr id="4" name="Forma libre: forma 3">
              <a:extLst>
                <a:ext uri="{FF2B5EF4-FFF2-40B4-BE49-F238E27FC236}">
                  <a16:creationId xmlns:a16="http://schemas.microsoft.com/office/drawing/2014/main" id="{1633D51B-7EDF-442F-AD03-AAB661A18C0E}"/>
                </a:ext>
              </a:extLst>
            </p:cNvPr>
            <p:cNvSpPr/>
            <p:nvPr/>
          </p:nvSpPr>
          <p:spPr>
            <a:xfrm>
              <a:off x="8096160" y="5001578"/>
              <a:ext cx="2571480" cy="317431"/>
            </a:xfrm>
            <a:custGeom>
              <a:avLst/>
              <a:gdLst>
                <a:gd name="connsiteX0" fmla="*/ 0 w 2571480"/>
                <a:gd name="connsiteY0" fmla="*/ 52906 h 317431"/>
                <a:gd name="connsiteX1" fmla="*/ 52906 w 2571480"/>
                <a:gd name="connsiteY1" fmla="*/ 0 h 317431"/>
                <a:gd name="connsiteX2" fmla="*/ 2518574 w 2571480"/>
                <a:gd name="connsiteY2" fmla="*/ 0 h 317431"/>
                <a:gd name="connsiteX3" fmla="*/ 2571480 w 2571480"/>
                <a:gd name="connsiteY3" fmla="*/ 52906 h 317431"/>
                <a:gd name="connsiteX4" fmla="*/ 2571480 w 2571480"/>
                <a:gd name="connsiteY4" fmla="*/ 264525 h 317431"/>
                <a:gd name="connsiteX5" fmla="*/ 2518574 w 2571480"/>
                <a:gd name="connsiteY5" fmla="*/ 317431 h 317431"/>
                <a:gd name="connsiteX6" fmla="*/ 52906 w 2571480"/>
                <a:gd name="connsiteY6" fmla="*/ 317431 h 317431"/>
                <a:gd name="connsiteX7" fmla="*/ 0 w 2571480"/>
                <a:gd name="connsiteY7" fmla="*/ 264525 h 317431"/>
                <a:gd name="connsiteX8" fmla="*/ 0 w 2571480"/>
                <a:gd name="connsiteY8" fmla="*/ 52906 h 317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1480" h="317431">
                  <a:moveTo>
                    <a:pt x="0" y="52906"/>
                  </a:moveTo>
                  <a:cubicBezTo>
                    <a:pt x="0" y="23687"/>
                    <a:pt x="23687" y="0"/>
                    <a:pt x="52906" y="0"/>
                  </a:cubicBezTo>
                  <a:lnTo>
                    <a:pt x="2518574" y="0"/>
                  </a:lnTo>
                  <a:cubicBezTo>
                    <a:pt x="2547793" y="0"/>
                    <a:pt x="2571480" y="23687"/>
                    <a:pt x="2571480" y="52906"/>
                  </a:cubicBezTo>
                  <a:lnTo>
                    <a:pt x="2571480" y="264525"/>
                  </a:lnTo>
                  <a:cubicBezTo>
                    <a:pt x="2571480" y="293744"/>
                    <a:pt x="2547793" y="317431"/>
                    <a:pt x="2518574" y="317431"/>
                  </a:cubicBezTo>
                  <a:lnTo>
                    <a:pt x="52906" y="317431"/>
                  </a:lnTo>
                  <a:cubicBezTo>
                    <a:pt x="23687" y="317431"/>
                    <a:pt x="0" y="293744"/>
                    <a:pt x="0" y="264525"/>
                  </a:cubicBezTo>
                  <a:lnTo>
                    <a:pt x="0" y="5290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836" tIns="68836" rIns="68836" bIns="68836" numCol="1" spcCol="1270" anchor="ctr" anchorCtr="0">
              <a:noAutofit/>
            </a:bodyPr>
            <a:lstStyle/>
            <a:p>
              <a:pPr marL="0" lvl="0" indent="0" algn="l" defTabSz="622300" rtl="0">
                <a:lnSpc>
                  <a:spcPct val="90000"/>
                </a:lnSpc>
                <a:spcBef>
                  <a:spcPct val="0"/>
                </a:spcBef>
                <a:spcAft>
                  <a:spcPct val="35000"/>
                </a:spcAft>
                <a:buNone/>
              </a:pPr>
              <a:r>
                <a:rPr lang="es-PE" sz="2000" b="0" kern="1200" dirty="0" err="1"/>
                <a:t>X14</a:t>
              </a:r>
              <a:r>
                <a:rPr lang="es-PE" sz="2000" b="0" kern="1200" dirty="0"/>
                <a:t>=350           C=(350)(9)</a:t>
              </a:r>
              <a:endParaRPr lang="es-PE" sz="2000" kern="1200" dirty="0"/>
            </a:p>
          </p:txBody>
        </p:sp>
        <p:sp>
          <p:nvSpPr>
            <p:cNvPr id="5" name="Forma libre: forma 4">
              <a:extLst>
                <a:ext uri="{FF2B5EF4-FFF2-40B4-BE49-F238E27FC236}">
                  <a16:creationId xmlns:a16="http://schemas.microsoft.com/office/drawing/2014/main" id="{14C8E91B-5F64-4312-8DEE-01C43817FDDA}"/>
                </a:ext>
              </a:extLst>
            </p:cNvPr>
            <p:cNvSpPr/>
            <p:nvPr/>
          </p:nvSpPr>
          <p:spPr>
            <a:xfrm>
              <a:off x="8096160" y="5332481"/>
              <a:ext cx="2571480" cy="317431"/>
            </a:xfrm>
            <a:custGeom>
              <a:avLst/>
              <a:gdLst>
                <a:gd name="connsiteX0" fmla="*/ 0 w 2571480"/>
                <a:gd name="connsiteY0" fmla="*/ 52906 h 317431"/>
                <a:gd name="connsiteX1" fmla="*/ 52906 w 2571480"/>
                <a:gd name="connsiteY1" fmla="*/ 0 h 317431"/>
                <a:gd name="connsiteX2" fmla="*/ 2518574 w 2571480"/>
                <a:gd name="connsiteY2" fmla="*/ 0 h 317431"/>
                <a:gd name="connsiteX3" fmla="*/ 2571480 w 2571480"/>
                <a:gd name="connsiteY3" fmla="*/ 52906 h 317431"/>
                <a:gd name="connsiteX4" fmla="*/ 2571480 w 2571480"/>
                <a:gd name="connsiteY4" fmla="*/ 264525 h 317431"/>
                <a:gd name="connsiteX5" fmla="*/ 2518574 w 2571480"/>
                <a:gd name="connsiteY5" fmla="*/ 317431 h 317431"/>
                <a:gd name="connsiteX6" fmla="*/ 52906 w 2571480"/>
                <a:gd name="connsiteY6" fmla="*/ 317431 h 317431"/>
                <a:gd name="connsiteX7" fmla="*/ 0 w 2571480"/>
                <a:gd name="connsiteY7" fmla="*/ 264525 h 317431"/>
                <a:gd name="connsiteX8" fmla="*/ 0 w 2571480"/>
                <a:gd name="connsiteY8" fmla="*/ 52906 h 317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1480" h="317431">
                  <a:moveTo>
                    <a:pt x="0" y="52906"/>
                  </a:moveTo>
                  <a:cubicBezTo>
                    <a:pt x="0" y="23687"/>
                    <a:pt x="23687" y="0"/>
                    <a:pt x="52906" y="0"/>
                  </a:cubicBezTo>
                  <a:lnTo>
                    <a:pt x="2518574" y="0"/>
                  </a:lnTo>
                  <a:cubicBezTo>
                    <a:pt x="2547793" y="0"/>
                    <a:pt x="2571480" y="23687"/>
                    <a:pt x="2571480" y="52906"/>
                  </a:cubicBezTo>
                  <a:lnTo>
                    <a:pt x="2571480" y="264525"/>
                  </a:lnTo>
                  <a:cubicBezTo>
                    <a:pt x="2571480" y="293744"/>
                    <a:pt x="2547793" y="317431"/>
                    <a:pt x="2518574" y="317431"/>
                  </a:cubicBezTo>
                  <a:lnTo>
                    <a:pt x="52906" y="317431"/>
                  </a:lnTo>
                  <a:cubicBezTo>
                    <a:pt x="23687" y="317431"/>
                    <a:pt x="0" y="293744"/>
                    <a:pt x="0" y="264525"/>
                  </a:cubicBezTo>
                  <a:lnTo>
                    <a:pt x="0" y="5290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836" tIns="68836" rIns="68836" bIns="68836" numCol="1" spcCol="1270" anchor="ctr" anchorCtr="0">
              <a:noAutofit/>
            </a:bodyPr>
            <a:lstStyle/>
            <a:p>
              <a:pPr marL="0" lvl="0" indent="0" algn="l" defTabSz="622300" rtl="0">
                <a:lnSpc>
                  <a:spcPct val="90000"/>
                </a:lnSpc>
                <a:spcBef>
                  <a:spcPct val="0"/>
                </a:spcBef>
                <a:spcAft>
                  <a:spcPct val="35000"/>
                </a:spcAft>
                <a:buNone/>
              </a:pPr>
              <a:r>
                <a:rPr lang="es-PE" sz="2000" b="0" kern="1200" dirty="0" err="1"/>
                <a:t>X21</a:t>
              </a:r>
              <a:r>
                <a:rPr lang="es-PE" sz="2000" b="0" kern="1200" dirty="0"/>
                <a:t>=200           C=(200)(10)</a:t>
              </a:r>
              <a:endParaRPr lang="es-PE" sz="2000" kern="1200" dirty="0"/>
            </a:p>
          </p:txBody>
        </p:sp>
        <p:sp>
          <p:nvSpPr>
            <p:cNvPr id="6" name="Forma libre: forma 5">
              <a:extLst>
                <a:ext uri="{FF2B5EF4-FFF2-40B4-BE49-F238E27FC236}">
                  <a16:creationId xmlns:a16="http://schemas.microsoft.com/office/drawing/2014/main" id="{266A7B22-13E3-43C5-BF76-C15FBEDDD4CA}"/>
                </a:ext>
              </a:extLst>
            </p:cNvPr>
            <p:cNvSpPr/>
            <p:nvPr/>
          </p:nvSpPr>
          <p:spPr>
            <a:xfrm>
              <a:off x="8096160" y="5663384"/>
              <a:ext cx="2571480" cy="317431"/>
            </a:xfrm>
            <a:custGeom>
              <a:avLst/>
              <a:gdLst>
                <a:gd name="connsiteX0" fmla="*/ 0 w 2571480"/>
                <a:gd name="connsiteY0" fmla="*/ 52906 h 317431"/>
                <a:gd name="connsiteX1" fmla="*/ 52906 w 2571480"/>
                <a:gd name="connsiteY1" fmla="*/ 0 h 317431"/>
                <a:gd name="connsiteX2" fmla="*/ 2518574 w 2571480"/>
                <a:gd name="connsiteY2" fmla="*/ 0 h 317431"/>
                <a:gd name="connsiteX3" fmla="*/ 2571480 w 2571480"/>
                <a:gd name="connsiteY3" fmla="*/ 52906 h 317431"/>
                <a:gd name="connsiteX4" fmla="*/ 2571480 w 2571480"/>
                <a:gd name="connsiteY4" fmla="*/ 264525 h 317431"/>
                <a:gd name="connsiteX5" fmla="*/ 2518574 w 2571480"/>
                <a:gd name="connsiteY5" fmla="*/ 317431 h 317431"/>
                <a:gd name="connsiteX6" fmla="*/ 52906 w 2571480"/>
                <a:gd name="connsiteY6" fmla="*/ 317431 h 317431"/>
                <a:gd name="connsiteX7" fmla="*/ 0 w 2571480"/>
                <a:gd name="connsiteY7" fmla="*/ 264525 h 317431"/>
                <a:gd name="connsiteX8" fmla="*/ 0 w 2571480"/>
                <a:gd name="connsiteY8" fmla="*/ 52906 h 317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1480" h="317431">
                  <a:moveTo>
                    <a:pt x="0" y="52906"/>
                  </a:moveTo>
                  <a:cubicBezTo>
                    <a:pt x="0" y="23687"/>
                    <a:pt x="23687" y="0"/>
                    <a:pt x="52906" y="0"/>
                  </a:cubicBezTo>
                  <a:lnTo>
                    <a:pt x="2518574" y="0"/>
                  </a:lnTo>
                  <a:cubicBezTo>
                    <a:pt x="2547793" y="0"/>
                    <a:pt x="2571480" y="23687"/>
                    <a:pt x="2571480" y="52906"/>
                  </a:cubicBezTo>
                  <a:lnTo>
                    <a:pt x="2571480" y="264525"/>
                  </a:lnTo>
                  <a:cubicBezTo>
                    <a:pt x="2571480" y="293744"/>
                    <a:pt x="2547793" y="317431"/>
                    <a:pt x="2518574" y="317431"/>
                  </a:cubicBezTo>
                  <a:lnTo>
                    <a:pt x="52906" y="317431"/>
                  </a:lnTo>
                  <a:cubicBezTo>
                    <a:pt x="23687" y="317431"/>
                    <a:pt x="0" y="293744"/>
                    <a:pt x="0" y="264525"/>
                  </a:cubicBezTo>
                  <a:lnTo>
                    <a:pt x="0" y="5290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836" tIns="68836" rIns="68836" bIns="68836" numCol="1" spcCol="1270" anchor="ctr" anchorCtr="0">
              <a:noAutofit/>
            </a:bodyPr>
            <a:lstStyle/>
            <a:p>
              <a:pPr marL="0" lvl="0" indent="0" algn="l" defTabSz="622300" rtl="0">
                <a:lnSpc>
                  <a:spcPct val="90000"/>
                </a:lnSpc>
                <a:spcBef>
                  <a:spcPct val="0"/>
                </a:spcBef>
                <a:spcAft>
                  <a:spcPct val="35000"/>
                </a:spcAft>
                <a:buNone/>
              </a:pPr>
              <a:r>
                <a:rPr lang="es-PE" sz="2000" b="0" kern="1200" dirty="0" err="1"/>
                <a:t>X12</a:t>
              </a:r>
              <a:r>
                <a:rPr lang="es-PE" sz="2000" b="0" kern="1200" dirty="0"/>
                <a:t>=200           C=(200)(15)</a:t>
              </a:r>
              <a:endParaRPr lang="es-PE" sz="2000" kern="1200" dirty="0"/>
            </a:p>
          </p:txBody>
        </p:sp>
        <p:sp>
          <p:nvSpPr>
            <p:cNvPr id="7" name="Forma libre: forma 6">
              <a:extLst>
                <a:ext uri="{FF2B5EF4-FFF2-40B4-BE49-F238E27FC236}">
                  <a16:creationId xmlns:a16="http://schemas.microsoft.com/office/drawing/2014/main" id="{62984F9C-57C4-4846-9767-4D76BCACCBBE}"/>
                </a:ext>
              </a:extLst>
            </p:cNvPr>
            <p:cNvSpPr/>
            <p:nvPr/>
          </p:nvSpPr>
          <p:spPr>
            <a:xfrm>
              <a:off x="8096160" y="5994287"/>
              <a:ext cx="2571480" cy="317431"/>
            </a:xfrm>
            <a:custGeom>
              <a:avLst/>
              <a:gdLst>
                <a:gd name="connsiteX0" fmla="*/ 0 w 2571480"/>
                <a:gd name="connsiteY0" fmla="*/ 52906 h 317431"/>
                <a:gd name="connsiteX1" fmla="*/ 52906 w 2571480"/>
                <a:gd name="connsiteY1" fmla="*/ 0 h 317431"/>
                <a:gd name="connsiteX2" fmla="*/ 2518574 w 2571480"/>
                <a:gd name="connsiteY2" fmla="*/ 0 h 317431"/>
                <a:gd name="connsiteX3" fmla="*/ 2571480 w 2571480"/>
                <a:gd name="connsiteY3" fmla="*/ 52906 h 317431"/>
                <a:gd name="connsiteX4" fmla="*/ 2571480 w 2571480"/>
                <a:gd name="connsiteY4" fmla="*/ 264525 h 317431"/>
                <a:gd name="connsiteX5" fmla="*/ 2518574 w 2571480"/>
                <a:gd name="connsiteY5" fmla="*/ 317431 h 317431"/>
                <a:gd name="connsiteX6" fmla="*/ 52906 w 2571480"/>
                <a:gd name="connsiteY6" fmla="*/ 317431 h 317431"/>
                <a:gd name="connsiteX7" fmla="*/ 0 w 2571480"/>
                <a:gd name="connsiteY7" fmla="*/ 264525 h 317431"/>
                <a:gd name="connsiteX8" fmla="*/ 0 w 2571480"/>
                <a:gd name="connsiteY8" fmla="*/ 52906 h 317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1480" h="317431">
                  <a:moveTo>
                    <a:pt x="0" y="52906"/>
                  </a:moveTo>
                  <a:cubicBezTo>
                    <a:pt x="0" y="23687"/>
                    <a:pt x="23687" y="0"/>
                    <a:pt x="52906" y="0"/>
                  </a:cubicBezTo>
                  <a:lnTo>
                    <a:pt x="2518574" y="0"/>
                  </a:lnTo>
                  <a:cubicBezTo>
                    <a:pt x="2547793" y="0"/>
                    <a:pt x="2571480" y="23687"/>
                    <a:pt x="2571480" y="52906"/>
                  </a:cubicBezTo>
                  <a:lnTo>
                    <a:pt x="2571480" y="264525"/>
                  </a:lnTo>
                  <a:cubicBezTo>
                    <a:pt x="2571480" y="293744"/>
                    <a:pt x="2547793" y="317431"/>
                    <a:pt x="2518574" y="317431"/>
                  </a:cubicBezTo>
                  <a:lnTo>
                    <a:pt x="52906" y="317431"/>
                  </a:lnTo>
                  <a:cubicBezTo>
                    <a:pt x="23687" y="317431"/>
                    <a:pt x="0" y="293744"/>
                    <a:pt x="0" y="264525"/>
                  </a:cubicBezTo>
                  <a:lnTo>
                    <a:pt x="0" y="5290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836" tIns="68836" rIns="68836" bIns="68836" numCol="1" spcCol="1270" anchor="ctr" anchorCtr="0">
              <a:noAutofit/>
            </a:bodyPr>
            <a:lstStyle/>
            <a:p>
              <a:pPr marL="0" lvl="0" indent="0" algn="l" defTabSz="622300" rtl="0">
                <a:lnSpc>
                  <a:spcPct val="90000"/>
                </a:lnSpc>
                <a:spcBef>
                  <a:spcPct val="0"/>
                </a:spcBef>
                <a:spcAft>
                  <a:spcPct val="35000"/>
                </a:spcAft>
                <a:buNone/>
              </a:pPr>
              <a:r>
                <a:rPr lang="es-PE" sz="2000" b="0" kern="1200" dirty="0" err="1"/>
                <a:t>X22</a:t>
              </a:r>
              <a:r>
                <a:rPr lang="es-PE" sz="2000" b="0" kern="1200" dirty="0"/>
                <a:t>=50             C=(50)(14)</a:t>
              </a:r>
              <a:endParaRPr lang="es-PE" sz="2000" kern="1200" dirty="0"/>
            </a:p>
          </p:txBody>
        </p:sp>
      </p:grpSp>
      <p:sp>
        <p:nvSpPr>
          <p:cNvPr id="9" name="CustomShape 5">
            <a:extLst>
              <a:ext uri="{FF2B5EF4-FFF2-40B4-BE49-F238E27FC236}">
                <a16:creationId xmlns:a16="http://schemas.microsoft.com/office/drawing/2014/main" id="{B91FCF09-427A-4FB7-97C7-669BA7B1E373}"/>
              </a:ext>
            </a:extLst>
          </p:cNvPr>
          <p:cNvSpPr/>
          <p:nvPr/>
        </p:nvSpPr>
        <p:spPr>
          <a:xfrm>
            <a:off x="6096000" y="163488"/>
            <a:ext cx="6096000" cy="56304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lnSpc>
                <a:spcPts val="5800"/>
              </a:lnSpc>
              <a:spcBef>
                <a:spcPct val="0"/>
              </a:spcBef>
            </a:pPr>
            <a:r>
              <a:rPr lang="es-PE" sz="3200" dirty="0">
                <a:solidFill>
                  <a:schemeClr val="bg1"/>
                </a:solidFill>
                <a:effectLst>
                  <a:outerShdw blurRad="63500" dist="38100" dir="5400000" algn="t" rotWithShape="0">
                    <a:prstClr val="black">
                      <a:alpha val="25000"/>
                    </a:prstClr>
                  </a:outerShdw>
                </a:effectLst>
                <a:latin typeface="Bauhaus 93" pitchFamily="82" charset="0"/>
              </a:rPr>
              <a:t>Método Vogel</a:t>
            </a:r>
          </a:p>
        </p:txBody>
      </p:sp>
      <p:sp>
        <p:nvSpPr>
          <p:cNvPr id="15" name="Forma libre: forma 14">
            <a:extLst>
              <a:ext uri="{FF2B5EF4-FFF2-40B4-BE49-F238E27FC236}">
                <a16:creationId xmlns:a16="http://schemas.microsoft.com/office/drawing/2014/main" id="{075E9AD8-6661-424E-B0D7-26420D4E5F79}"/>
              </a:ext>
            </a:extLst>
          </p:cNvPr>
          <p:cNvSpPr/>
          <p:nvPr/>
        </p:nvSpPr>
        <p:spPr>
          <a:xfrm>
            <a:off x="8096160" y="6325190"/>
            <a:ext cx="3338278" cy="317431"/>
          </a:xfrm>
          <a:custGeom>
            <a:avLst/>
            <a:gdLst>
              <a:gd name="connsiteX0" fmla="*/ 0 w 2571480"/>
              <a:gd name="connsiteY0" fmla="*/ 52906 h 317431"/>
              <a:gd name="connsiteX1" fmla="*/ 52906 w 2571480"/>
              <a:gd name="connsiteY1" fmla="*/ 0 h 317431"/>
              <a:gd name="connsiteX2" fmla="*/ 2518574 w 2571480"/>
              <a:gd name="connsiteY2" fmla="*/ 0 h 317431"/>
              <a:gd name="connsiteX3" fmla="*/ 2571480 w 2571480"/>
              <a:gd name="connsiteY3" fmla="*/ 52906 h 317431"/>
              <a:gd name="connsiteX4" fmla="*/ 2571480 w 2571480"/>
              <a:gd name="connsiteY4" fmla="*/ 264525 h 317431"/>
              <a:gd name="connsiteX5" fmla="*/ 2518574 w 2571480"/>
              <a:gd name="connsiteY5" fmla="*/ 317431 h 317431"/>
              <a:gd name="connsiteX6" fmla="*/ 52906 w 2571480"/>
              <a:gd name="connsiteY6" fmla="*/ 317431 h 317431"/>
              <a:gd name="connsiteX7" fmla="*/ 0 w 2571480"/>
              <a:gd name="connsiteY7" fmla="*/ 264525 h 317431"/>
              <a:gd name="connsiteX8" fmla="*/ 0 w 2571480"/>
              <a:gd name="connsiteY8" fmla="*/ 52906 h 317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1480" h="317431">
                <a:moveTo>
                  <a:pt x="0" y="52906"/>
                </a:moveTo>
                <a:cubicBezTo>
                  <a:pt x="0" y="23687"/>
                  <a:pt x="23687" y="0"/>
                  <a:pt x="52906" y="0"/>
                </a:cubicBezTo>
                <a:lnTo>
                  <a:pt x="2518574" y="0"/>
                </a:lnTo>
                <a:cubicBezTo>
                  <a:pt x="2547793" y="0"/>
                  <a:pt x="2571480" y="23687"/>
                  <a:pt x="2571480" y="52906"/>
                </a:cubicBezTo>
                <a:lnTo>
                  <a:pt x="2571480" y="264525"/>
                </a:lnTo>
                <a:cubicBezTo>
                  <a:pt x="2571480" y="293744"/>
                  <a:pt x="2547793" y="317431"/>
                  <a:pt x="2518574" y="317431"/>
                </a:cubicBezTo>
                <a:lnTo>
                  <a:pt x="52906" y="317431"/>
                </a:lnTo>
                <a:cubicBezTo>
                  <a:pt x="23687" y="317431"/>
                  <a:pt x="0" y="293744"/>
                  <a:pt x="0" y="264525"/>
                </a:cubicBezTo>
                <a:lnTo>
                  <a:pt x="0" y="5290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836" tIns="68836" rIns="68836" bIns="68836" numCol="1" spcCol="1270" anchor="ctr" anchorCtr="0">
            <a:noAutofit/>
          </a:bodyPr>
          <a:lstStyle/>
          <a:p>
            <a:pPr marL="0" lvl="0" indent="0" algn="l" defTabSz="622300" rtl="0">
              <a:lnSpc>
                <a:spcPct val="90000"/>
              </a:lnSpc>
              <a:spcBef>
                <a:spcPct val="0"/>
              </a:spcBef>
              <a:spcAft>
                <a:spcPct val="35000"/>
              </a:spcAft>
              <a:buNone/>
            </a:pPr>
            <a:r>
              <a:rPr lang="es-PE" sz="2000" b="0" kern="1200" dirty="0" err="1"/>
              <a:t>X23</a:t>
            </a:r>
            <a:r>
              <a:rPr lang="es-PE" sz="2000" b="0" kern="1200" dirty="0"/>
              <a:t>=400           C=(400)(16) </a:t>
            </a:r>
            <a:endParaRPr lang="es-PE" sz="2000" kern="1200" dirty="0"/>
          </a:p>
        </p:txBody>
      </p:sp>
    </p:spTree>
    <p:extLst>
      <p:ext uri="{BB962C8B-B14F-4D97-AF65-F5344CB8AC3E}">
        <p14:creationId xmlns:p14="http://schemas.microsoft.com/office/powerpoint/2010/main" val="454077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Diagrama"/>
          <p:cNvGraphicFramePr/>
          <p:nvPr>
            <p:extLst>
              <p:ext uri="{D42A27DB-BD31-4B8C-83A1-F6EECF244321}">
                <p14:modId xmlns:p14="http://schemas.microsoft.com/office/powerpoint/2010/main" val="3919676765"/>
              </p:ext>
            </p:extLst>
          </p:nvPr>
        </p:nvGraphicFramePr>
        <p:xfrm>
          <a:off x="2524080" y="1752480"/>
          <a:ext cx="7604368" cy="43408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07" name="CustomShape 2"/>
          <p:cNvSpPr/>
          <p:nvPr/>
        </p:nvSpPr>
        <p:spPr>
          <a:xfrm>
            <a:off x="4583832" y="2051292"/>
            <a:ext cx="1150560" cy="215640"/>
          </a:xfrm>
          <a:prstGeom prst="rightArrow">
            <a:avLst>
              <a:gd name="adj1" fmla="val 50000"/>
              <a:gd name="adj2" fmla="val 133272"/>
            </a:avLst>
          </a:prstGeom>
          <a:solidFill>
            <a:srgbClr val="FFFF00"/>
          </a:solidFill>
          <a:ln w="12600">
            <a:solidFill>
              <a:schemeClr val="tx1"/>
            </a:solidFill>
            <a:miter/>
          </a:ln>
        </p:spPr>
        <p:style>
          <a:lnRef idx="0">
            <a:scrgbClr r="0" g="0" b="0"/>
          </a:lnRef>
          <a:fillRef idx="0">
            <a:scrgbClr r="0" g="0" b="0"/>
          </a:fillRef>
          <a:effectRef idx="0">
            <a:scrgbClr r="0" g="0" b="0"/>
          </a:effectRef>
          <a:fontRef idx="minor"/>
        </p:style>
        <p:txBody>
          <a:bodyPr/>
          <a:lstStyle/>
          <a:p>
            <a:endParaRPr lang="es-PE"/>
          </a:p>
        </p:txBody>
      </p:sp>
      <p:sp>
        <p:nvSpPr>
          <p:cNvPr id="908" name="CustomShape 3"/>
          <p:cNvSpPr/>
          <p:nvPr/>
        </p:nvSpPr>
        <p:spPr>
          <a:xfrm>
            <a:off x="4583832" y="2729250"/>
            <a:ext cx="1150560" cy="215640"/>
          </a:xfrm>
          <a:prstGeom prst="rightArrow">
            <a:avLst>
              <a:gd name="adj1" fmla="val 50000"/>
              <a:gd name="adj2" fmla="val 133272"/>
            </a:avLst>
          </a:prstGeom>
          <a:solidFill>
            <a:srgbClr val="FFFF00"/>
          </a:solidFill>
          <a:ln w="12600">
            <a:solidFill>
              <a:schemeClr val="tx1"/>
            </a:solidFill>
            <a:miter/>
          </a:ln>
        </p:spPr>
        <p:style>
          <a:lnRef idx="0">
            <a:scrgbClr r="0" g="0" b="0"/>
          </a:lnRef>
          <a:fillRef idx="0">
            <a:scrgbClr r="0" g="0" b="0"/>
          </a:fillRef>
          <a:effectRef idx="0">
            <a:scrgbClr r="0" g="0" b="0"/>
          </a:effectRef>
          <a:fontRef idx="minor"/>
        </p:style>
        <p:txBody>
          <a:bodyPr/>
          <a:lstStyle/>
          <a:p>
            <a:endParaRPr lang="es-PE"/>
          </a:p>
        </p:txBody>
      </p:sp>
      <p:sp>
        <p:nvSpPr>
          <p:cNvPr id="909" name="CustomShape 4"/>
          <p:cNvSpPr/>
          <p:nvPr/>
        </p:nvSpPr>
        <p:spPr>
          <a:xfrm>
            <a:off x="4583832" y="3573016"/>
            <a:ext cx="1150560" cy="215640"/>
          </a:xfrm>
          <a:prstGeom prst="rightArrow">
            <a:avLst>
              <a:gd name="adj1" fmla="val 50000"/>
              <a:gd name="adj2" fmla="val 133272"/>
            </a:avLst>
          </a:prstGeom>
          <a:solidFill>
            <a:srgbClr val="FFFF00"/>
          </a:solidFill>
          <a:ln w="12600">
            <a:solidFill>
              <a:schemeClr val="tx1"/>
            </a:solidFill>
            <a:miter/>
          </a:ln>
        </p:spPr>
        <p:style>
          <a:lnRef idx="0">
            <a:scrgbClr r="0" g="0" b="0"/>
          </a:lnRef>
          <a:fillRef idx="0">
            <a:scrgbClr r="0" g="0" b="0"/>
          </a:fillRef>
          <a:effectRef idx="0">
            <a:scrgbClr r="0" g="0" b="0"/>
          </a:effectRef>
          <a:fontRef idx="minor"/>
        </p:style>
        <p:txBody>
          <a:bodyPr/>
          <a:lstStyle/>
          <a:p>
            <a:endParaRPr lang="es-PE"/>
          </a:p>
        </p:txBody>
      </p:sp>
      <p:sp>
        <p:nvSpPr>
          <p:cNvPr id="910" name="CustomShape 5"/>
          <p:cNvSpPr/>
          <p:nvPr/>
        </p:nvSpPr>
        <p:spPr>
          <a:xfrm>
            <a:off x="4568984" y="4365104"/>
            <a:ext cx="1150560" cy="215640"/>
          </a:xfrm>
          <a:prstGeom prst="rightArrow">
            <a:avLst>
              <a:gd name="adj1" fmla="val 50000"/>
              <a:gd name="adj2" fmla="val 133272"/>
            </a:avLst>
          </a:prstGeom>
          <a:solidFill>
            <a:srgbClr val="FFFF00"/>
          </a:solidFill>
          <a:ln w="12600">
            <a:solidFill>
              <a:schemeClr val="tx1"/>
            </a:solidFill>
            <a:miter/>
          </a:ln>
        </p:spPr>
        <p:style>
          <a:lnRef idx="0">
            <a:scrgbClr r="0" g="0" b="0"/>
          </a:lnRef>
          <a:fillRef idx="0">
            <a:scrgbClr r="0" g="0" b="0"/>
          </a:fillRef>
          <a:effectRef idx="0">
            <a:scrgbClr r="0" g="0" b="0"/>
          </a:effectRef>
          <a:fontRef idx="minor"/>
        </p:style>
        <p:txBody>
          <a:bodyPr/>
          <a:lstStyle/>
          <a:p>
            <a:endParaRPr lang="es-PE"/>
          </a:p>
        </p:txBody>
      </p:sp>
      <p:sp>
        <p:nvSpPr>
          <p:cNvPr id="911" name="CustomShape 6"/>
          <p:cNvSpPr/>
          <p:nvPr/>
        </p:nvSpPr>
        <p:spPr>
          <a:xfrm>
            <a:off x="4583832" y="5157192"/>
            <a:ext cx="1150560" cy="215640"/>
          </a:xfrm>
          <a:prstGeom prst="rightArrow">
            <a:avLst>
              <a:gd name="adj1" fmla="val 50000"/>
              <a:gd name="adj2" fmla="val 133272"/>
            </a:avLst>
          </a:prstGeom>
          <a:solidFill>
            <a:srgbClr val="FFFF00"/>
          </a:solidFill>
          <a:ln w="12600">
            <a:solidFill>
              <a:schemeClr val="tx1"/>
            </a:solidFill>
            <a:miter/>
          </a:ln>
        </p:spPr>
        <p:style>
          <a:lnRef idx="0">
            <a:scrgbClr r="0" g="0" b="0"/>
          </a:lnRef>
          <a:fillRef idx="0">
            <a:scrgbClr r="0" g="0" b="0"/>
          </a:fillRef>
          <a:effectRef idx="0">
            <a:scrgbClr r="0" g="0" b="0"/>
          </a:effectRef>
          <a:fontRef idx="minor"/>
        </p:style>
        <p:txBody>
          <a:bodyPr/>
          <a:lstStyle/>
          <a:p>
            <a:endParaRPr lang="es-PE"/>
          </a:p>
        </p:txBody>
      </p:sp>
      <p:sp>
        <p:nvSpPr>
          <p:cNvPr id="9" name="CustomShape 5">
            <a:extLst>
              <a:ext uri="{FF2B5EF4-FFF2-40B4-BE49-F238E27FC236}">
                <a16:creationId xmlns:a16="http://schemas.microsoft.com/office/drawing/2014/main" id="{851F2C9E-78C7-4630-B87E-7B6AA059DEF2}"/>
              </a:ext>
            </a:extLst>
          </p:cNvPr>
          <p:cNvSpPr/>
          <p:nvPr/>
        </p:nvSpPr>
        <p:spPr>
          <a:xfrm>
            <a:off x="6096000" y="163488"/>
            <a:ext cx="6096000" cy="56304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lnSpc>
                <a:spcPts val="5800"/>
              </a:lnSpc>
              <a:spcBef>
                <a:spcPct val="0"/>
              </a:spcBef>
            </a:pPr>
            <a:r>
              <a:rPr lang="es-PE" sz="3200" dirty="0">
                <a:solidFill>
                  <a:schemeClr val="bg1"/>
                </a:solidFill>
                <a:effectLst>
                  <a:outerShdw blurRad="63500" dist="38100" dir="5400000" algn="t" rotWithShape="0">
                    <a:prstClr val="black">
                      <a:alpha val="25000"/>
                    </a:prstClr>
                  </a:outerShdw>
                </a:effectLst>
                <a:latin typeface="Bauhaus 93" pitchFamily="82" charset="0"/>
              </a:rPr>
              <a:t>Método Vogel</a:t>
            </a:r>
          </a:p>
        </p:txBody>
      </p:sp>
      <p:sp>
        <p:nvSpPr>
          <p:cNvPr id="3" name="Rectángulo 2">
            <a:extLst>
              <a:ext uri="{FF2B5EF4-FFF2-40B4-BE49-F238E27FC236}">
                <a16:creationId xmlns:a16="http://schemas.microsoft.com/office/drawing/2014/main" id="{A41B0791-BB8B-4A95-96D2-2113F44B5912}"/>
              </a:ext>
            </a:extLst>
          </p:cNvPr>
          <p:cNvSpPr/>
          <p:nvPr/>
        </p:nvSpPr>
        <p:spPr>
          <a:xfrm>
            <a:off x="6463517" y="5745994"/>
            <a:ext cx="3655268" cy="523220"/>
          </a:xfrm>
          <a:prstGeom prst="rect">
            <a:avLst/>
          </a:prstGeom>
          <a:solidFill>
            <a:schemeClr val="accent1">
              <a:lumMod val="40000"/>
              <a:lumOff val="60000"/>
            </a:schemeClr>
          </a:solidFill>
        </p:spPr>
        <p:txBody>
          <a:bodyPr wrap="square">
            <a:spAutoFit/>
          </a:bodyPr>
          <a:lstStyle/>
          <a:p>
            <a:pPr lvl="0"/>
            <a:r>
              <a:rPr lang="en-US" sz="2800" dirty="0" err="1"/>
              <a:t>Costo</a:t>
            </a:r>
            <a:r>
              <a:rPr lang="en-US" sz="2800" dirty="0"/>
              <a:t> total =</a:t>
            </a:r>
            <a:r>
              <a:rPr lang="en-US" sz="2800" dirty="0">
                <a:solidFill>
                  <a:srgbClr val="FF0000"/>
                </a:solidFill>
              </a:rPr>
              <a:t>15250  </a:t>
            </a:r>
            <a:endParaRPr lang="es-PE" sz="2800" dirty="0"/>
          </a:p>
        </p:txBody>
      </p:sp>
      <p:sp>
        <p:nvSpPr>
          <p:cNvPr id="10" name="Elipse 9">
            <a:extLst>
              <a:ext uri="{FF2B5EF4-FFF2-40B4-BE49-F238E27FC236}">
                <a16:creationId xmlns:a16="http://schemas.microsoft.com/office/drawing/2014/main" id="{3970B109-7FD3-48AD-906F-C8A0B1C93F9A}"/>
              </a:ext>
            </a:extLst>
          </p:cNvPr>
          <p:cNvSpPr/>
          <p:nvPr/>
        </p:nvSpPr>
        <p:spPr>
          <a:xfrm>
            <a:off x="10420714" y="4986067"/>
            <a:ext cx="1771286" cy="17987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Lindo:</a:t>
            </a:r>
          </a:p>
          <a:p>
            <a:pPr algn="ctr"/>
            <a:r>
              <a:rPr lang="es-ES" sz="2400" dirty="0"/>
              <a:t>Z=15250</a:t>
            </a:r>
            <a:endParaRPr lang="es-PE" sz="2400" dirty="0"/>
          </a:p>
        </p:txBody>
      </p:sp>
    </p:spTree>
    <p:extLst>
      <p:ext uri="{BB962C8B-B14F-4D97-AF65-F5344CB8AC3E}">
        <p14:creationId xmlns:p14="http://schemas.microsoft.com/office/powerpoint/2010/main" val="194441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5"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000"/>
                                        <p:tgtEl>
                                          <p:spTgt spid="10"/>
                                        </p:tgtEl>
                                      </p:cBhvr>
                                    </p:animEffect>
                                    <p:anim calcmode="lin" valueType="num">
                                      <p:cBhvr>
                                        <p:cTn id="14" dur="2000" fill="hold"/>
                                        <p:tgtEl>
                                          <p:spTgt spid="10"/>
                                        </p:tgtEl>
                                        <p:attrNameLst>
                                          <p:attrName>ppt_w</p:attrName>
                                        </p:attrNameLst>
                                      </p:cBhvr>
                                      <p:tavLst>
                                        <p:tav tm="0" fmla="#ppt_w*sin(2.5*pi*$)">
                                          <p:val>
                                            <p:fltVal val="0"/>
                                          </p:val>
                                        </p:tav>
                                        <p:tav tm="100000">
                                          <p:val>
                                            <p:fltVal val="1"/>
                                          </p:val>
                                        </p:tav>
                                      </p:tavLst>
                                    </p:anim>
                                    <p:anim calcmode="lin" valueType="num">
                                      <p:cBhvr>
                                        <p:cTn id="15" dur="2000" fill="hold"/>
                                        <p:tgtEl>
                                          <p:spTgt spid="1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5" name="TextShape 1"/>
          <p:cNvSpPr txBox="1"/>
          <p:nvPr/>
        </p:nvSpPr>
        <p:spPr>
          <a:xfrm>
            <a:off x="6096000" y="194997"/>
            <a:ext cx="6096000" cy="649008"/>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defPPr>
              <a:defRPr lang="es-ES"/>
            </a:defPPr>
            <a:lvl1pPr algn="ctr">
              <a:lnSpc>
                <a:spcPts val="5800"/>
              </a:lnSpc>
              <a:spcBef>
                <a:spcPct val="0"/>
              </a:spcBef>
              <a:defRPr sz="3200">
                <a:solidFill>
                  <a:schemeClr val="bg1"/>
                </a:solidFill>
                <a:effectLst>
                  <a:outerShdw blurRad="63500" dist="38100" dir="5400000" algn="t" rotWithShape="0">
                    <a:prstClr val="black">
                      <a:alpha val="25000"/>
                    </a:prstClr>
                  </a:outerShdw>
                </a:effectLst>
                <a:latin typeface="Bauhaus 93" pitchFamily="82" charset="0"/>
              </a:defRPr>
            </a:lvl1pPr>
          </a:lstStyle>
          <a:p>
            <a:r>
              <a:rPr lang="en-US" dirty="0" err="1"/>
              <a:t>Problema</a:t>
            </a:r>
            <a:r>
              <a:rPr lang="en-US" dirty="0"/>
              <a:t> 5</a:t>
            </a:r>
          </a:p>
        </p:txBody>
      </p:sp>
      <p:graphicFrame>
        <p:nvGraphicFramePr>
          <p:cNvPr id="2" name="1 Diagrama"/>
          <p:cNvGraphicFramePr/>
          <p:nvPr>
            <p:extLst>
              <p:ext uri="{D42A27DB-BD31-4B8C-83A1-F6EECF244321}">
                <p14:modId xmlns:p14="http://schemas.microsoft.com/office/powerpoint/2010/main" val="1673116199"/>
              </p:ext>
            </p:extLst>
          </p:nvPr>
        </p:nvGraphicFramePr>
        <p:xfrm>
          <a:off x="51440" y="1268761"/>
          <a:ext cx="6044560" cy="35340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17" name="Table 3"/>
          <p:cNvGraphicFramePr/>
          <p:nvPr>
            <p:extLst>
              <p:ext uri="{D42A27DB-BD31-4B8C-83A1-F6EECF244321}">
                <p14:modId xmlns:p14="http://schemas.microsoft.com/office/powerpoint/2010/main" val="2597846653"/>
              </p:ext>
            </p:extLst>
          </p:nvPr>
        </p:nvGraphicFramePr>
        <p:xfrm>
          <a:off x="107221" y="4952172"/>
          <a:ext cx="5978660" cy="1715428"/>
        </p:xfrm>
        <a:graphic>
          <a:graphicData uri="http://schemas.openxmlformats.org/drawingml/2006/table">
            <a:tbl>
              <a:tblPr/>
              <a:tblGrid>
                <a:gridCol w="1883986">
                  <a:extLst>
                    <a:ext uri="{9D8B030D-6E8A-4147-A177-3AD203B41FA5}">
                      <a16:colId xmlns:a16="http://schemas.microsoft.com/office/drawing/2014/main" val="20000"/>
                    </a:ext>
                  </a:extLst>
                </a:gridCol>
                <a:gridCol w="1337095">
                  <a:extLst>
                    <a:ext uri="{9D8B030D-6E8A-4147-A177-3AD203B41FA5}">
                      <a16:colId xmlns:a16="http://schemas.microsoft.com/office/drawing/2014/main" val="20001"/>
                    </a:ext>
                  </a:extLst>
                </a:gridCol>
                <a:gridCol w="1380226">
                  <a:extLst>
                    <a:ext uri="{9D8B030D-6E8A-4147-A177-3AD203B41FA5}">
                      <a16:colId xmlns:a16="http://schemas.microsoft.com/office/drawing/2014/main" val="20002"/>
                    </a:ext>
                  </a:extLst>
                </a:gridCol>
                <a:gridCol w="1377353">
                  <a:extLst>
                    <a:ext uri="{9D8B030D-6E8A-4147-A177-3AD203B41FA5}">
                      <a16:colId xmlns:a16="http://schemas.microsoft.com/office/drawing/2014/main" val="20003"/>
                    </a:ext>
                  </a:extLst>
                </a:gridCol>
              </a:tblGrid>
              <a:tr h="428857">
                <a:tc>
                  <a:txBody>
                    <a:bodyPr/>
                    <a:lstStyle/>
                    <a:p>
                      <a:pPr>
                        <a:lnSpc>
                          <a:spcPct val="100000"/>
                        </a:lnSpc>
                      </a:pPr>
                      <a:r>
                        <a:rPr lang="es-PE" sz="2000" b="1" strike="noStrike" spc="-1" dirty="0">
                          <a:solidFill>
                            <a:srgbClr val="FFFFFF"/>
                          </a:solidFill>
                          <a:latin typeface="Arial"/>
                        </a:rPr>
                        <a:t>Desde Hacia</a:t>
                      </a:r>
                      <a:endParaRPr lang="es-PE" sz="2000" b="0" strike="noStrike" spc="-1" dirty="0">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2F85F7"/>
                    </a:solidFill>
                  </a:tcPr>
                </a:tc>
                <a:tc>
                  <a:txBody>
                    <a:bodyPr/>
                    <a:lstStyle/>
                    <a:p>
                      <a:pPr algn="ctr">
                        <a:lnSpc>
                          <a:spcPct val="100000"/>
                        </a:lnSpc>
                      </a:pPr>
                      <a:r>
                        <a:rPr lang="es-PE" sz="2000" b="1" strike="noStrike" spc="-1">
                          <a:solidFill>
                            <a:srgbClr val="FFFFFF"/>
                          </a:solidFill>
                          <a:latin typeface="Arial"/>
                        </a:rPr>
                        <a:t>Dallas</a:t>
                      </a:r>
                      <a:endParaRPr lang="es-PE" sz="20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2F85F7"/>
                    </a:solidFill>
                  </a:tcPr>
                </a:tc>
                <a:tc>
                  <a:txBody>
                    <a:bodyPr/>
                    <a:lstStyle/>
                    <a:p>
                      <a:pPr algn="ctr">
                        <a:lnSpc>
                          <a:spcPct val="100000"/>
                        </a:lnSpc>
                      </a:pPr>
                      <a:r>
                        <a:rPr lang="es-PE" sz="2000" b="1" strike="noStrike" spc="-1" dirty="0">
                          <a:solidFill>
                            <a:srgbClr val="FFFFFF"/>
                          </a:solidFill>
                          <a:latin typeface="Arial"/>
                        </a:rPr>
                        <a:t>Denver</a:t>
                      </a:r>
                      <a:endParaRPr lang="es-PE" sz="2000" b="0" strike="noStrike" spc="-1" dirty="0">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2F85F7"/>
                    </a:solidFill>
                  </a:tcPr>
                </a:tc>
                <a:tc>
                  <a:txBody>
                    <a:bodyPr/>
                    <a:lstStyle/>
                    <a:p>
                      <a:pPr algn="ctr">
                        <a:lnSpc>
                          <a:spcPct val="100000"/>
                        </a:lnSpc>
                      </a:pPr>
                      <a:r>
                        <a:rPr lang="es-PE" sz="2000" b="1" strike="noStrike" spc="-1">
                          <a:solidFill>
                            <a:srgbClr val="FFFFFF"/>
                          </a:solidFill>
                          <a:latin typeface="Arial"/>
                        </a:rPr>
                        <a:t>Phoenix</a:t>
                      </a:r>
                      <a:endParaRPr lang="es-PE" sz="20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2F85F7"/>
                    </a:solidFill>
                  </a:tcPr>
                </a:tc>
                <a:extLst>
                  <a:ext uri="{0D108BD9-81ED-4DB2-BD59-A6C34878D82A}">
                    <a16:rowId xmlns:a16="http://schemas.microsoft.com/office/drawing/2014/main" val="10000"/>
                  </a:ext>
                </a:extLst>
              </a:tr>
              <a:tr h="428857">
                <a:tc>
                  <a:txBody>
                    <a:bodyPr/>
                    <a:lstStyle/>
                    <a:p>
                      <a:pPr>
                        <a:lnSpc>
                          <a:spcPct val="100000"/>
                        </a:lnSpc>
                      </a:pPr>
                      <a:r>
                        <a:rPr lang="es-PE" sz="2000" b="1" strike="noStrike" spc="-1" dirty="0">
                          <a:solidFill>
                            <a:srgbClr val="1D528D"/>
                          </a:solidFill>
                          <a:latin typeface="Arial"/>
                        </a:rPr>
                        <a:t>New york</a:t>
                      </a:r>
                      <a:endParaRPr lang="es-PE" sz="2000" b="0" strike="noStrike" spc="-1" dirty="0">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CDD8FB"/>
                    </a:solidFill>
                  </a:tcPr>
                </a:tc>
                <a:tc>
                  <a:txBody>
                    <a:bodyPr/>
                    <a:lstStyle/>
                    <a:p>
                      <a:pPr algn="ctr">
                        <a:lnSpc>
                          <a:spcPct val="100000"/>
                        </a:lnSpc>
                      </a:pPr>
                      <a:r>
                        <a:rPr lang="es-PE" sz="2000" b="1" strike="noStrike" spc="-1">
                          <a:solidFill>
                            <a:srgbClr val="1D528D"/>
                          </a:solidFill>
                          <a:latin typeface="Arial"/>
                        </a:rPr>
                        <a:t>1600</a:t>
                      </a:r>
                      <a:endParaRPr lang="es-PE" sz="20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CDD8FB"/>
                    </a:solidFill>
                  </a:tcPr>
                </a:tc>
                <a:tc>
                  <a:txBody>
                    <a:bodyPr/>
                    <a:lstStyle/>
                    <a:p>
                      <a:pPr algn="ctr">
                        <a:lnSpc>
                          <a:spcPct val="100000"/>
                        </a:lnSpc>
                      </a:pPr>
                      <a:r>
                        <a:rPr lang="es-PE" sz="2000" b="1" strike="noStrike" spc="-1" dirty="0">
                          <a:solidFill>
                            <a:srgbClr val="1D528D"/>
                          </a:solidFill>
                          <a:latin typeface="Arial"/>
                        </a:rPr>
                        <a:t>1800</a:t>
                      </a:r>
                      <a:endParaRPr lang="es-PE" sz="2000" b="0" strike="noStrike" spc="-1" dirty="0">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CDD8FB"/>
                    </a:solidFill>
                  </a:tcPr>
                </a:tc>
                <a:tc>
                  <a:txBody>
                    <a:bodyPr/>
                    <a:lstStyle/>
                    <a:p>
                      <a:pPr algn="ctr">
                        <a:lnSpc>
                          <a:spcPct val="100000"/>
                        </a:lnSpc>
                      </a:pPr>
                      <a:r>
                        <a:rPr lang="es-PE" sz="2000" b="1" strike="noStrike" spc="-1">
                          <a:solidFill>
                            <a:srgbClr val="1D528D"/>
                          </a:solidFill>
                          <a:latin typeface="Arial"/>
                        </a:rPr>
                        <a:t>2500</a:t>
                      </a:r>
                      <a:endParaRPr lang="es-PE" sz="20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CDD8FB"/>
                    </a:solidFill>
                  </a:tcPr>
                </a:tc>
                <a:extLst>
                  <a:ext uri="{0D108BD9-81ED-4DB2-BD59-A6C34878D82A}">
                    <a16:rowId xmlns:a16="http://schemas.microsoft.com/office/drawing/2014/main" val="10001"/>
                  </a:ext>
                </a:extLst>
              </a:tr>
              <a:tr h="428857">
                <a:tc>
                  <a:txBody>
                    <a:bodyPr/>
                    <a:lstStyle/>
                    <a:p>
                      <a:pPr>
                        <a:lnSpc>
                          <a:spcPct val="100000"/>
                        </a:lnSpc>
                      </a:pPr>
                      <a:r>
                        <a:rPr lang="es-PE" sz="2000" b="1" strike="noStrike" spc="-1">
                          <a:solidFill>
                            <a:srgbClr val="1D528D"/>
                          </a:solidFill>
                          <a:latin typeface="Arial"/>
                        </a:rPr>
                        <a:t>Chicago</a:t>
                      </a:r>
                      <a:endParaRPr lang="es-PE" sz="20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7ECFD"/>
                    </a:solidFill>
                  </a:tcPr>
                </a:tc>
                <a:tc>
                  <a:txBody>
                    <a:bodyPr/>
                    <a:lstStyle/>
                    <a:p>
                      <a:pPr algn="ctr">
                        <a:lnSpc>
                          <a:spcPct val="100000"/>
                        </a:lnSpc>
                      </a:pPr>
                      <a:r>
                        <a:rPr lang="es-PE" sz="2000" b="1" strike="noStrike" spc="-1">
                          <a:solidFill>
                            <a:srgbClr val="1D528D"/>
                          </a:solidFill>
                          <a:latin typeface="Arial"/>
                        </a:rPr>
                        <a:t>900</a:t>
                      </a:r>
                      <a:endParaRPr lang="es-PE" sz="20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7ECFD"/>
                    </a:solidFill>
                  </a:tcPr>
                </a:tc>
                <a:tc>
                  <a:txBody>
                    <a:bodyPr/>
                    <a:lstStyle/>
                    <a:p>
                      <a:pPr algn="ctr">
                        <a:lnSpc>
                          <a:spcPct val="100000"/>
                        </a:lnSpc>
                      </a:pPr>
                      <a:r>
                        <a:rPr lang="es-PE" sz="2000" b="1" strike="noStrike" spc="-1">
                          <a:solidFill>
                            <a:srgbClr val="1D528D"/>
                          </a:solidFill>
                          <a:latin typeface="Arial"/>
                        </a:rPr>
                        <a:t>1000</a:t>
                      </a:r>
                      <a:endParaRPr lang="es-PE" sz="20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7ECFD"/>
                    </a:solidFill>
                  </a:tcPr>
                </a:tc>
                <a:tc>
                  <a:txBody>
                    <a:bodyPr/>
                    <a:lstStyle/>
                    <a:p>
                      <a:pPr algn="ctr">
                        <a:lnSpc>
                          <a:spcPct val="100000"/>
                        </a:lnSpc>
                      </a:pPr>
                      <a:r>
                        <a:rPr lang="es-PE" sz="2000" b="1" strike="noStrike" spc="-1">
                          <a:solidFill>
                            <a:srgbClr val="1D528D"/>
                          </a:solidFill>
                          <a:latin typeface="Arial"/>
                        </a:rPr>
                        <a:t>1800</a:t>
                      </a:r>
                      <a:endParaRPr lang="es-PE" sz="20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7ECFD"/>
                    </a:solidFill>
                  </a:tcPr>
                </a:tc>
                <a:extLst>
                  <a:ext uri="{0D108BD9-81ED-4DB2-BD59-A6C34878D82A}">
                    <a16:rowId xmlns:a16="http://schemas.microsoft.com/office/drawing/2014/main" val="10002"/>
                  </a:ext>
                </a:extLst>
              </a:tr>
              <a:tr h="428857">
                <a:tc>
                  <a:txBody>
                    <a:bodyPr/>
                    <a:lstStyle/>
                    <a:p>
                      <a:pPr>
                        <a:lnSpc>
                          <a:spcPct val="100000"/>
                        </a:lnSpc>
                      </a:pPr>
                      <a:r>
                        <a:rPr lang="es-PE" sz="2000" b="1" strike="noStrike" spc="-1">
                          <a:solidFill>
                            <a:srgbClr val="1D528D"/>
                          </a:solidFill>
                          <a:latin typeface="Arial"/>
                        </a:rPr>
                        <a:t>Los Ángeles</a:t>
                      </a:r>
                      <a:endParaRPr lang="es-PE" sz="20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CDD8FB"/>
                    </a:solidFill>
                  </a:tcPr>
                </a:tc>
                <a:tc>
                  <a:txBody>
                    <a:bodyPr/>
                    <a:lstStyle/>
                    <a:p>
                      <a:pPr algn="ctr">
                        <a:lnSpc>
                          <a:spcPct val="100000"/>
                        </a:lnSpc>
                      </a:pPr>
                      <a:r>
                        <a:rPr lang="es-PE" sz="2000" b="1" strike="noStrike" spc="-1" dirty="0">
                          <a:solidFill>
                            <a:srgbClr val="1D528D"/>
                          </a:solidFill>
                          <a:latin typeface="Arial"/>
                        </a:rPr>
                        <a:t>1400</a:t>
                      </a:r>
                      <a:endParaRPr lang="es-PE" sz="2000" b="0" strike="noStrike" spc="-1" dirty="0">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CDD8FB"/>
                    </a:solidFill>
                  </a:tcPr>
                </a:tc>
                <a:tc>
                  <a:txBody>
                    <a:bodyPr/>
                    <a:lstStyle/>
                    <a:p>
                      <a:pPr algn="ctr">
                        <a:lnSpc>
                          <a:spcPct val="100000"/>
                        </a:lnSpc>
                      </a:pPr>
                      <a:r>
                        <a:rPr lang="es-PE" sz="2000" b="1" strike="noStrike" spc="-1">
                          <a:solidFill>
                            <a:srgbClr val="1D528D"/>
                          </a:solidFill>
                          <a:latin typeface="Arial"/>
                        </a:rPr>
                        <a:t>1000</a:t>
                      </a:r>
                      <a:endParaRPr lang="es-PE" sz="20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CDD8FB"/>
                    </a:solidFill>
                  </a:tcPr>
                </a:tc>
                <a:tc>
                  <a:txBody>
                    <a:bodyPr/>
                    <a:lstStyle/>
                    <a:p>
                      <a:pPr algn="ctr">
                        <a:lnSpc>
                          <a:spcPct val="100000"/>
                        </a:lnSpc>
                      </a:pPr>
                      <a:r>
                        <a:rPr lang="es-PE" sz="2000" b="1" strike="noStrike" spc="-1" dirty="0">
                          <a:solidFill>
                            <a:srgbClr val="1D528D"/>
                          </a:solidFill>
                          <a:latin typeface="Arial"/>
                        </a:rPr>
                        <a:t>400</a:t>
                      </a:r>
                      <a:endParaRPr lang="es-PE" sz="2000" b="0" strike="noStrike" spc="-1" dirty="0">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CDD8FB"/>
                    </a:solidFill>
                  </a:tcPr>
                </a:tc>
                <a:extLst>
                  <a:ext uri="{0D108BD9-81ED-4DB2-BD59-A6C34878D82A}">
                    <a16:rowId xmlns:a16="http://schemas.microsoft.com/office/drawing/2014/main" val="10003"/>
                  </a:ext>
                </a:extLst>
              </a:tr>
            </a:tbl>
          </a:graphicData>
        </a:graphic>
      </p:graphicFrame>
      <p:grpSp>
        <p:nvGrpSpPr>
          <p:cNvPr id="5" name="3 Grupo">
            <a:extLst>
              <a:ext uri="{FF2B5EF4-FFF2-40B4-BE49-F238E27FC236}">
                <a16:creationId xmlns:a16="http://schemas.microsoft.com/office/drawing/2014/main" id="{7A2D3ED9-E8E3-418C-AFDB-CE40B443B59D}"/>
              </a:ext>
            </a:extLst>
          </p:cNvPr>
          <p:cNvGrpSpPr/>
          <p:nvPr/>
        </p:nvGrpSpPr>
        <p:grpSpPr>
          <a:xfrm>
            <a:off x="6185134" y="1429748"/>
            <a:ext cx="5925160" cy="4872979"/>
            <a:chOff x="154722" y="1334861"/>
            <a:chExt cx="8233702" cy="4872979"/>
          </a:xfrm>
        </p:grpSpPr>
        <p:grpSp>
          <p:nvGrpSpPr>
            <p:cNvPr id="6" name="Group 1">
              <a:extLst>
                <a:ext uri="{FF2B5EF4-FFF2-40B4-BE49-F238E27FC236}">
                  <a16:creationId xmlns:a16="http://schemas.microsoft.com/office/drawing/2014/main" id="{52D23125-5F29-42FE-B4A5-61B756DA8D67}"/>
                </a:ext>
              </a:extLst>
            </p:cNvPr>
            <p:cNvGrpSpPr/>
            <p:nvPr/>
          </p:nvGrpSpPr>
          <p:grpSpPr>
            <a:xfrm>
              <a:off x="286586" y="1334861"/>
              <a:ext cx="8101838" cy="4872979"/>
              <a:chOff x="286586" y="1334861"/>
              <a:chExt cx="8101838" cy="4872979"/>
            </a:xfrm>
          </p:grpSpPr>
          <p:sp>
            <p:nvSpPr>
              <p:cNvPr id="13" name="CustomShape 2">
                <a:extLst>
                  <a:ext uri="{FF2B5EF4-FFF2-40B4-BE49-F238E27FC236}">
                    <a16:creationId xmlns:a16="http://schemas.microsoft.com/office/drawing/2014/main" id="{5F7FAF09-6E2B-4065-92B0-8818447892F7}"/>
                  </a:ext>
                </a:extLst>
              </p:cNvPr>
              <p:cNvSpPr/>
              <p:nvPr/>
            </p:nvSpPr>
            <p:spPr>
              <a:xfrm>
                <a:off x="286586" y="2020441"/>
                <a:ext cx="2124335" cy="644877"/>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nSpc>
                    <a:spcPct val="100000"/>
                  </a:lnSpc>
                </a:pPr>
                <a:r>
                  <a:rPr lang="es-PE" sz="1100" b="1" i="1" spc="-1" dirty="0">
                    <a:solidFill>
                      <a:schemeClr val="bg2">
                        <a:lumMod val="25000"/>
                      </a:schemeClr>
                    </a:solidFill>
                    <a:latin typeface="Arial"/>
                    <a:ea typeface="ＭＳ 明朝"/>
                  </a:rPr>
                  <a:t>      </a:t>
                </a:r>
                <a:r>
                  <a:rPr lang="es-PE" b="1" i="1" spc="-1" dirty="0">
                    <a:solidFill>
                      <a:schemeClr val="bg2">
                        <a:lumMod val="25000"/>
                      </a:schemeClr>
                    </a:solidFill>
                    <a:latin typeface="Arial"/>
                    <a:ea typeface="ＭＳ 明朝"/>
                  </a:rPr>
                  <a:t>New York</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(3)</a:t>
                </a:r>
                <a:endParaRPr lang="es-PE" spc="-1" dirty="0">
                  <a:solidFill>
                    <a:schemeClr val="bg2">
                      <a:lumMod val="25000"/>
                    </a:schemeClr>
                  </a:solidFill>
                  <a:latin typeface="Arial"/>
                </a:endParaRPr>
              </a:p>
            </p:txBody>
          </p:sp>
          <p:sp>
            <p:nvSpPr>
              <p:cNvPr id="14" name="CustomShape 3">
                <a:extLst>
                  <a:ext uri="{FF2B5EF4-FFF2-40B4-BE49-F238E27FC236}">
                    <a16:creationId xmlns:a16="http://schemas.microsoft.com/office/drawing/2014/main" id="{C0AD1F9D-C593-4A72-9CDA-939B00292119}"/>
                  </a:ext>
                </a:extLst>
              </p:cNvPr>
              <p:cNvSpPr/>
              <p:nvPr/>
            </p:nvSpPr>
            <p:spPr>
              <a:xfrm>
                <a:off x="486209" y="3844080"/>
                <a:ext cx="1731960" cy="63936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z="1100" b="1" i="1" spc="-1" dirty="0">
                    <a:solidFill>
                      <a:schemeClr val="bg2">
                        <a:lumMod val="25000"/>
                      </a:schemeClr>
                    </a:solidFill>
                    <a:latin typeface="Arial"/>
                    <a:ea typeface="ＭＳ 明朝"/>
                  </a:rPr>
                  <a:t>  </a:t>
                </a:r>
                <a:r>
                  <a:rPr lang="es-PE" b="1" i="1" spc="-1" dirty="0">
                    <a:solidFill>
                      <a:schemeClr val="bg2">
                        <a:lumMod val="25000"/>
                      </a:schemeClr>
                    </a:solidFill>
                    <a:latin typeface="Arial"/>
                    <a:ea typeface="ＭＳ 明朝"/>
                  </a:rPr>
                  <a:t>Chicago</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(2)</a:t>
                </a:r>
                <a:endParaRPr lang="es-PE" spc="-1" dirty="0">
                  <a:solidFill>
                    <a:schemeClr val="bg2">
                      <a:lumMod val="25000"/>
                    </a:schemeClr>
                  </a:solidFill>
                  <a:latin typeface="Arial"/>
                </a:endParaRPr>
              </a:p>
            </p:txBody>
          </p:sp>
          <p:grpSp>
            <p:nvGrpSpPr>
              <p:cNvPr id="15" name="Group 4">
                <a:extLst>
                  <a:ext uri="{FF2B5EF4-FFF2-40B4-BE49-F238E27FC236}">
                    <a16:creationId xmlns:a16="http://schemas.microsoft.com/office/drawing/2014/main" id="{12BEDC83-428E-43A7-B73B-9CC60C48E919}"/>
                  </a:ext>
                </a:extLst>
              </p:cNvPr>
              <p:cNvGrpSpPr/>
              <p:nvPr/>
            </p:nvGrpSpPr>
            <p:grpSpPr>
              <a:xfrm>
                <a:off x="395536" y="1334861"/>
                <a:ext cx="7992888" cy="4872979"/>
                <a:chOff x="395536" y="1334861"/>
                <a:chExt cx="7992888" cy="4872979"/>
              </a:xfrm>
            </p:grpSpPr>
            <p:sp>
              <p:nvSpPr>
                <p:cNvPr id="16" name="CustomShape 5">
                  <a:extLst>
                    <a:ext uri="{FF2B5EF4-FFF2-40B4-BE49-F238E27FC236}">
                      <a16:creationId xmlns:a16="http://schemas.microsoft.com/office/drawing/2014/main" id="{53B712E1-A7A3-43A7-9F50-C4E9CDBDF2D1}"/>
                    </a:ext>
                  </a:extLst>
                </p:cNvPr>
                <p:cNvSpPr/>
                <p:nvPr/>
              </p:nvSpPr>
              <p:spPr>
                <a:xfrm>
                  <a:off x="2286000" y="391781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7" name="CustomShape 6">
                  <a:extLst>
                    <a:ext uri="{FF2B5EF4-FFF2-40B4-BE49-F238E27FC236}">
                      <a16:creationId xmlns:a16="http://schemas.microsoft.com/office/drawing/2014/main" id="{CA783127-C049-4F9F-9384-EEA1A04B8884}"/>
                    </a:ext>
                  </a:extLst>
                </p:cNvPr>
                <p:cNvSpPr/>
                <p:nvPr/>
              </p:nvSpPr>
              <p:spPr>
                <a:xfrm>
                  <a:off x="5597640" y="200628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8" name="CustomShape 7">
                  <a:extLst>
                    <a:ext uri="{FF2B5EF4-FFF2-40B4-BE49-F238E27FC236}">
                      <a16:creationId xmlns:a16="http://schemas.microsoft.com/office/drawing/2014/main" id="{611771E6-A9C0-45C9-8A66-EB4CD8A2033C}"/>
                    </a:ext>
                  </a:extLst>
                </p:cNvPr>
                <p:cNvSpPr/>
                <p:nvPr/>
              </p:nvSpPr>
              <p:spPr>
                <a:xfrm>
                  <a:off x="2286000" y="205344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9" name="CustomShape 8">
                  <a:extLst>
                    <a:ext uri="{FF2B5EF4-FFF2-40B4-BE49-F238E27FC236}">
                      <a16:creationId xmlns:a16="http://schemas.microsoft.com/office/drawing/2014/main" id="{65118091-C8AD-4419-A2E5-6C02FA450FD1}"/>
                    </a:ext>
                  </a:extLst>
                </p:cNvPr>
                <p:cNvSpPr/>
                <p:nvPr/>
              </p:nvSpPr>
              <p:spPr>
                <a:xfrm>
                  <a:off x="5679680" y="3931354"/>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20" name="CustomShape 9">
                  <a:extLst>
                    <a:ext uri="{FF2B5EF4-FFF2-40B4-BE49-F238E27FC236}">
                      <a16:creationId xmlns:a16="http://schemas.microsoft.com/office/drawing/2014/main" id="{35E2145E-CD2C-4BC8-9684-D60B322A1051}"/>
                    </a:ext>
                  </a:extLst>
                </p:cNvPr>
                <p:cNvSpPr/>
                <p:nvPr/>
              </p:nvSpPr>
              <p:spPr>
                <a:xfrm>
                  <a:off x="5715000" y="571500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21" name="Line 10">
                  <a:extLst>
                    <a:ext uri="{FF2B5EF4-FFF2-40B4-BE49-F238E27FC236}">
                      <a16:creationId xmlns:a16="http://schemas.microsoft.com/office/drawing/2014/main" id="{B4E4B4ED-9B47-44FB-A6FB-32137AC93B95}"/>
                    </a:ext>
                  </a:extLst>
                </p:cNvPr>
                <p:cNvSpPr/>
                <p:nvPr/>
              </p:nvSpPr>
              <p:spPr>
                <a:xfrm>
                  <a:off x="2696079" y="2294625"/>
                  <a:ext cx="2901202" cy="16575"/>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22" name="Line 11">
                  <a:extLst>
                    <a:ext uri="{FF2B5EF4-FFF2-40B4-BE49-F238E27FC236}">
                      <a16:creationId xmlns:a16="http://schemas.microsoft.com/office/drawing/2014/main" id="{C1C91E78-5454-4C97-BD96-AC76445A598B}"/>
                    </a:ext>
                  </a:extLst>
                </p:cNvPr>
                <p:cNvSpPr/>
                <p:nvPr/>
              </p:nvSpPr>
              <p:spPr>
                <a:xfrm>
                  <a:off x="2679081" y="2398376"/>
                  <a:ext cx="3025821" cy="1690548"/>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23" name="Line 12">
                  <a:extLst>
                    <a:ext uri="{FF2B5EF4-FFF2-40B4-BE49-F238E27FC236}">
                      <a16:creationId xmlns:a16="http://schemas.microsoft.com/office/drawing/2014/main" id="{0227F48F-C75E-47BB-A50C-CCC33B20423A}"/>
                    </a:ext>
                  </a:extLst>
                </p:cNvPr>
                <p:cNvSpPr/>
                <p:nvPr/>
              </p:nvSpPr>
              <p:spPr>
                <a:xfrm>
                  <a:off x="2643120" y="2482948"/>
                  <a:ext cx="3181655" cy="3262248"/>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24" name="Line 13">
                  <a:extLst>
                    <a:ext uri="{FF2B5EF4-FFF2-40B4-BE49-F238E27FC236}">
                      <a16:creationId xmlns:a16="http://schemas.microsoft.com/office/drawing/2014/main" id="{189C8A87-8B88-41BB-896E-1777EC31BC06}"/>
                    </a:ext>
                  </a:extLst>
                </p:cNvPr>
                <p:cNvSpPr/>
                <p:nvPr/>
              </p:nvSpPr>
              <p:spPr>
                <a:xfrm flipV="1">
                  <a:off x="2714400" y="2388600"/>
                  <a:ext cx="2882880" cy="1637640"/>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25" name="Line 14">
                  <a:extLst>
                    <a:ext uri="{FF2B5EF4-FFF2-40B4-BE49-F238E27FC236}">
                      <a16:creationId xmlns:a16="http://schemas.microsoft.com/office/drawing/2014/main" id="{25F77DE6-8D76-484B-BE54-7B554E4E5BEB}"/>
                    </a:ext>
                  </a:extLst>
                </p:cNvPr>
                <p:cNvSpPr/>
                <p:nvPr/>
              </p:nvSpPr>
              <p:spPr>
                <a:xfrm>
                  <a:off x="2714401" y="4177800"/>
                  <a:ext cx="3014476" cy="6015"/>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26" name="Line 15">
                  <a:extLst>
                    <a:ext uri="{FF2B5EF4-FFF2-40B4-BE49-F238E27FC236}">
                      <a16:creationId xmlns:a16="http://schemas.microsoft.com/office/drawing/2014/main" id="{54102AD8-FB75-4528-B64F-00DE64728BE3}"/>
                    </a:ext>
                  </a:extLst>
                </p:cNvPr>
                <p:cNvSpPr/>
                <p:nvPr/>
              </p:nvSpPr>
              <p:spPr>
                <a:xfrm>
                  <a:off x="2643120" y="4329720"/>
                  <a:ext cx="3071880" cy="1527840"/>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27" name="CustomShape 16">
                  <a:extLst>
                    <a:ext uri="{FF2B5EF4-FFF2-40B4-BE49-F238E27FC236}">
                      <a16:creationId xmlns:a16="http://schemas.microsoft.com/office/drawing/2014/main" id="{B0B5A416-3E6A-40CF-9E7C-8EC9A707EAD3}"/>
                    </a:ext>
                  </a:extLst>
                </p:cNvPr>
                <p:cNvSpPr/>
                <p:nvPr/>
              </p:nvSpPr>
              <p:spPr>
                <a:xfrm>
                  <a:off x="1400040" y="1346244"/>
                  <a:ext cx="1535649" cy="429433"/>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a:lnSpc>
                      <a:spcPct val="100000"/>
                    </a:lnSpc>
                  </a:pPr>
                  <a:r>
                    <a:rPr lang="es-PE" sz="1100" b="1" i="1" spc="-1">
                      <a:solidFill>
                        <a:schemeClr val="bg2">
                          <a:lumMod val="25000"/>
                        </a:schemeClr>
                      </a:solidFill>
                      <a:latin typeface="Arial"/>
                      <a:ea typeface="ＭＳ 明朝"/>
                    </a:rPr>
                    <a:t>	</a:t>
                  </a:r>
                  <a:endParaRPr lang="es-PE" sz="1100" spc="-1">
                    <a:solidFill>
                      <a:schemeClr val="bg2">
                        <a:lumMod val="25000"/>
                      </a:schemeClr>
                    </a:solidFill>
                    <a:latin typeface="Arial"/>
                  </a:endParaRPr>
                </a:p>
                <a:p>
                  <a:pPr>
                    <a:lnSpc>
                      <a:spcPct val="100000"/>
                    </a:lnSpc>
                  </a:pPr>
                  <a:endParaRPr lang="es-PE" sz="1100" spc="-1">
                    <a:solidFill>
                      <a:schemeClr val="bg2">
                        <a:lumMod val="25000"/>
                      </a:schemeClr>
                    </a:solidFill>
                    <a:latin typeface="Arial"/>
                  </a:endParaRPr>
                </a:p>
              </p:txBody>
            </p:sp>
            <p:sp>
              <p:nvSpPr>
                <p:cNvPr id="28" name="CustomShape 17">
                  <a:extLst>
                    <a:ext uri="{FF2B5EF4-FFF2-40B4-BE49-F238E27FC236}">
                      <a16:creationId xmlns:a16="http://schemas.microsoft.com/office/drawing/2014/main" id="{BA0237A4-7138-4887-8D40-5A8100DD54F1}"/>
                    </a:ext>
                  </a:extLst>
                </p:cNvPr>
                <p:cNvSpPr/>
                <p:nvPr/>
              </p:nvSpPr>
              <p:spPr>
                <a:xfrm>
                  <a:off x="3214800" y="1934930"/>
                  <a:ext cx="914760" cy="33710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z="1600" b="1" spc="-1" dirty="0" err="1">
                      <a:solidFill>
                        <a:schemeClr val="bg2">
                          <a:lumMod val="25000"/>
                        </a:schemeClr>
                      </a:solidFill>
                      <a:latin typeface="Arial"/>
                      <a:ea typeface="ＭＳ 明朝"/>
                    </a:rPr>
                    <a:t>X11</a:t>
                  </a:r>
                  <a:endParaRPr lang="es-PE" sz="1600" spc="-1" dirty="0">
                    <a:solidFill>
                      <a:schemeClr val="bg2">
                        <a:lumMod val="25000"/>
                      </a:schemeClr>
                    </a:solidFill>
                    <a:latin typeface="Arial"/>
                  </a:endParaRPr>
                </a:p>
              </p:txBody>
            </p:sp>
            <p:sp>
              <p:nvSpPr>
                <p:cNvPr id="29" name="CustomShape 18">
                  <a:extLst>
                    <a:ext uri="{FF2B5EF4-FFF2-40B4-BE49-F238E27FC236}">
                      <a16:creationId xmlns:a16="http://schemas.microsoft.com/office/drawing/2014/main" id="{4CB469BB-5EB9-4018-9BFB-C7AE9546F10D}"/>
                    </a:ext>
                  </a:extLst>
                </p:cNvPr>
                <p:cNvSpPr/>
                <p:nvPr/>
              </p:nvSpPr>
              <p:spPr>
                <a:xfrm>
                  <a:off x="6190883" y="3920040"/>
                  <a:ext cx="1476000" cy="63936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a:lnSpc>
                      <a:spcPct val="100000"/>
                    </a:lnSpc>
                  </a:pPr>
                  <a:r>
                    <a:rPr lang="es-PE" sz="1100" b="1" i="1" spc="-1" dirty="0">
                      <a:solidFill>
                        <a:schemeClr val="bg2">
                          <a:lumMod val="25000"/>
                        </a:schemeClr>
                      </a:solidFill>
                      <a:latin typeface="Arial"/>
                      <a:ea typeface="ＭＳ 明朝"/>
                    </a:rPr>
                    <a:t> </a:t>
                  </a:r>
                  <a:r>
                    <a:rPr lang="es-PE" b="1" i="1" spc="-1" dirty="0">
                      <a:solidFill>
                        <a:schemeClr val="bg2">
                          <a:lumMod val="25000"/>
                        </a:schemeClr>
                      </a:solidFill>
                      <a:latin typeface="Arial"/>
                      <a:ea typeface="ＭＳ 明朝"/>
                    </a:rPr>
                    <a:t>Denver</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(2)</a:t>
                  </a:r>
                  <a:endParaRPr lang="es-PE" spc="-1" dirty="0">
                    <a:solidFill>
                      <a:schemeClr val="bg2">
                        <a:lumMod val="25000"/>
                      </a:schemeClr>
                    </a:solidFill>
                    <a:latin typeface="Arial"/>
                  </a:endParaRPr>
                </a:p>
              </p:txBody>
            </p:sp>
            <p:sp>
              <p:nvSpPr>
                <p:cNvPr id="30" name="CustomShape 19">
                  <a:extLst>
                    <a:ext uri="{FF2B5EF4-FFF2-40B4-BE49-F238E27FC236}">
                      <a16:creationId xmlns:a16="http://schemas.microsoft.com/office/drawing/2014/main" id="{2862D639-376A-499F-AECB-54211B51C1E0}"/>
                    </a:ext>
                  </a:extLst>
                </p:cNvPr>
                <p:cNvSpPr/>
                <p:nvPr/>
              </p:nvSpPr>
              <p:spPr>
                <a:xfrm>
                  <a:off x="5922484" y="5568480"/>
                  <a:ext cx="2036033" cy="639360"/>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b="1" i="1" spc="-1" dirty="0">
                      <a:solidFill>
                        <a:schemeClr val="bg2">
                          <a:lumMod val="25000"/>
                        </a:schemeClr>
                      </a:solidFill>
                      <a:latin typeface="Arial"/>
                      <a:ea typeface="ＭＳ 明朝"/>
                    </a:rPr>
                    <a:t>Phoenix</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(2)</a:t>
                  </a:r>
                  <a:endParaRPr lang="es-PE" spc="-1" dirty="0">
                    <a:solidFill>
                      <a:schemeClr val="bg2">
                        <a:lumMod val="25000"/>
                      </a:schemeClr>
                    </a:solidFill>
                    <a:latin typeface="Arial"/>
                  </a:endParaRPr>
                </a:p>
              </p:txBody>
            </p:sp>
            <p:sp>
              <p:nvSpPr>
                <p:cNvPr id="31" name="CustomShape 20">
                  <a:extLst>
                    <a:ext uri="{FF2B5EF4-FFF2-40B4-BE49-F238E27FC236}">
                      <a16:creationId xmlns:a16="http://schemas.microsoft.com/office/drawing/2014/main" id="{3594E01C-3DAF-438D-AF44-7B8569124F9C}"/>
                    </a:ext>
                  </a:extLst>
                </p:cNvPr>
                <p:cNvSpPr/>
                <p:nvPr/>
              </p:nvSpPr>
              <p:spPr>
                <a:xfrm>
                  <a:off x="6024105" y="2003456"/>
                  <a:ext cx="1697400" cy="91368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a:lnSpc>
                      <a:spcPct val="100000"/>
                    </a:lnSpc>
                  </a:pPr>
                  <a:r>
                    <a:rPr lang="es-PE" b="1" i="1" spc="-1" dirty="0">
                      <a:solidFill>
                        <a:schemeClr val="bg2">
                          <a:lumMod val="25000"/>
                        </a:schemeClr>
                      </a:solidFill>
                      <a:latin typeface="Arial"/>
                      <a:ea typeface="ＭＳ 明朝"/>
                    </a:rPr>
                    <a:t>Dallas</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(4)</a:t>
                  </a:r>
                  <a:endParaRPr lang="es-PE" spc="-1" dirty="0">
                    <a:solidFill>
                      <a:schemeClr val="bg2">
                        <a:lumMod val="25000"/>
                      </a:schemeClr>
                    </a:solidFill>
                    <a:latin typeface="Arial"/>
                  </a:endParaRPr>
                </a:p>
                <a:p>
                  <a:pPr algn="ctr">
                    <a:lnSpc>
                      <a:spcPct val="100000"/>
                    </a:lnSpc>
                  </a:pPr>
                  <a:endParaRPr lang="es-PE" spc="-1" dirty="0">
                    <a:solidFill>
                      <a:schemeClr val="bg2">
                        <a:lumMod val="25000"/>
                      </a:schemeClr>
                    </a:solidFill>
                    <a:latin typeface="Arial"/>
                  </a:endParaRPr>
                </a:p>
              </p:txBody>
            </p:sp>
            <p:sp>
              <p:nvSpPr>
                <p:cNvPr id="32" name="CustomShape 21">
                  <a:extLst>
                    <a:ext uri="{FF2B5EF4-FFF2-40B4-BE49-F238E27FC236}">
                      <a16:creationId xmlns:a16="http://schemas.microsoft.com/office/drawing/2014/main" id="{A456144E-4FD3-493C-AC45-77766FF5C2F6}"/>
                    </a:ext>
                  </a:extLst>
                </p:cNvPr>
                <p:cNvSpPr/>
                <p:nvPr/>
              </p:nvSpPr>
              <p:spPr>
                <a:xfrm>
                  <a:off x="395536" y="1334861"/>
                  <a:ext cx="7992888" cy="67068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80000"/>
                    </a:lnSpc>
                  </a:pPr>
                  <a:r>
                    <a:rPr lang="es-PE" sz="2800" b="1" spc="-1" dirty="0">
                      <a:solidFill>
                        <a:schemeClr val="bg2">
                          <a:lumMod val="25000"/>
                        </a:schemeClr>
                      </a:solidFill>
                      <a:latin typeface="Arial Narrow" pitchFamily="34" charset="0"/>
                    </a:rPr>
                    <a:t>ORIGEN 		DESTINO </a:t>
                  </a:r>
                  <a:br>
                    <a:rPr dirty="0">
                      <a:solidFill>
                        <a:schemeClr val="bg2">
                          <a:lumMod val="25000"/>
                        </a:schemeClr>
                      </a:solidFill>
                      <a:latin typeface="Arial Narrow" pitchFamily="34" charset="0"/>
                    </a:rPr>
                  </a:br>
                  <a:r>
                    <a:rPr lang="es-PE" sz="2800" b="1" spc="-1" dirty="0">
                      <a:solidFill>
                        <a:schemeClr val="bg2">
                          <a:lumMod val="25000"/>
                        </a:schemeClr>
                      </a:solidFill>
                      <a:latin typeface="Arial Narrow" pitchFamily="34" charset="0"/>
                    </a:rPr>
                    <a:t>  (Ciudad)  	             (hospital)</a:t>
                  </a:r>
                  <a:endParaRPr lang="es-PE" sz="2800" spc="-1" dirty="0">
                    <a:solidFill>
                      <a:schemeClr val="bg2">
                        <a:lumMod val="25000"/>
                      </a:schemeClr>
                    </a:solidFill>
                    <a:latin typeface="Arial Narrow" pitchFamily="34" charset="0"/>
                  </a:endParaRPr>
                </a:p>
              </p:txBody>
            </p:sp>
            <p:sp>
              <p:nvSpPr>
                <p:cNvPr id="33" name="CustomShape 22">
                  <a:extLst>
                    <a:ext uri="{FF2B5EF4-FFF2-40B4-BE49-F238E27FC236}">
                      <a16:creationId xmlns:a16="http://schemas.microsoft.com/office/drawing/2014/main" id="{CDC86FB7-3BC8-4437-AE64-536370BC4DC5}"/>
                    </a:ext>
                  </a:extLst>
                </p:cNvPr>
                <p:cNvSpPr/>
                <p:nvPr/>
              </p:nvSpPr>
              <p:spPr>
                <a:xfrm>
                  <a:off x="3256200" y="2562770"/>
                  <a:ext cx="914760" cy="33710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r>
                    <a:rPr lang="es-PE" sz="1600" b="1" spc="-1" dirty="0" err="1">
                      <a:solidFill>
                        <a:schemeClr val="bg2">
                          <a:lumMod val="25000"/>
                        </a:schemeClr>
                      </a:solidFill>
                      <a:latin typeface="Arial"/>
                      <a:ea typeface="ＭＳ 明朝"/>
                    </a:rPr>
                    <a:t>X12</a:t>
                  </a:r>
                  <a:endParaRPr lang="es-PE" sz="1600" b="1" spc="-1" dirty="0">
                    <a:solidFill>
                      <a:schemeClr val="bg2">
                        <a:lumMod val="25000"/>
                      </a:schemeClr>
                    </a:solidFill>
                    <a:latin typeface="Arial"/>
                    <a:ea typeface="ＭＳ 明朝"/>
                  </a:endParaRPr>
                </a:p>
              </p:txBody>
            </p:sp>
            <p:sp>
              <p:nvSpPr>
                <p:cNvPr id="34" name="CustomShape 23">
                  <a:extLst>
                    <a:ext uri="{FF2B5EF4-FFF2-40B4-BE49-F238E27FC236}">
                      <a16:creationId xmlns:a16="http://schemas.microsoft.com/office/drawing/2014/main" id="{2EAF3635-7710-4907-9EA3-8F9299D1E9D7}"/>
                    </a:ext>
                  </a:extLst>
                </p:cNvPr>
                <p:cNvSpPr/>
                <p:nvPr/>
              </p:nvSpPr>
              <p:spPr>
                <a:xfrm>
                  <a:off x="3267720" y="3038690"/>
                  <a:ext cx="946800" cy="33710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r>
                    <a:rPr lang="es-PE" sz="1600" b="1" spc="-1" dirty="0" err="1">
                      <a:solidFill>
                        <a:schemeClr val="bg2">
                          <a:lumMod val="25000"/>
                        </a:schemeClr>
                      </a:solidFill>
                      <a:latin typeface="Arial"/>
                      <a:ea typeface="ＭＳ 明朝"/>
                    </a:rPr>
                    <a:t>X13</a:t>
                  </a:r>
                  <a:endParaRPr lang="es-PE" sz="1600" b="1" spc="-1" dirty="0">
                    <a:solidFill>
                      <a:schemeClr val="bg2">
                        <a:lumMod val="25000"/>
                      </a:schemeClr>
                    </a:solidFill>
                    <a:latin typeface="Arial"/>
                    <a:ea typeface="ＭＳ 明朝"/>
                  </a:endParaRPr>
                </a:p>
              </p:txBody>
            </p:sp>
            <p:sp>
              <p:nvSpPr>
                <p:cNvPr id="35" name="CustomShape 24">
                  <a:extLst>
                    <a:ext uri="{FF2B5EF4-FFF2-40B4-BE49-F238E27FC236}">
                      <a16:creationId xmlns:a16="http://schemas.microsoft.com/office/drawing/2014/main" id="{7455A8AD-84BB-49B3-80ED-B8E79D241113}"/>
                    </a:ext>
                  </a:extLst>
                </p:cNvPr>
                <p:cNvSpPr/>
                <p:nvPr/>
              </p:nvSpPr>
              <p:spPr>
                <a:xfrm>
                  <a:off x="2346120" y="2053440"/>
                  <a:ext cx="392732"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1</a:t>
                  </a:r>
                  <a:endParaRPr lang="es-PE" sz="2000" spc="-1">
                    <a:solidFill>
                      <a:schemeClr val="bg2">
                        <a:lumMod val="25000"/>
                      </a:schemeClr>
                    </a:solidFill>
                    <a:latin typeface="Arial"/>
                  </a:endParaRPr>
                </a:p>
              </p:txBody>
            </p:sp>
            <p:sp>
              <p:nvSpPr>
                <p:cNvPr id="36" name="CustomShape 25">
                  <a:extLst>
                    <a:ext uri="{FF2B5EF4-FFF2-40B4-BE49-F238E27FC236}">
                      <a16:creationId xmlns:a16="http://schemas.microsoft.com/office/drawing/2014/main" id="{C32421A7-8DEE-43D4-A05F-2583E75B4A4F}"/>
                    </a:ext>
                  </a:extLst>
                </p:cNvPr>
                <p:cNvSpPr/>
                <p:nvPr/>
              </p:nvSpPr>
              <p:spPr>
                <a:xfrm>
                  <a:off x="5701574" y="3974484"/>
                  <a:ext cx="419463"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dirty="0">
                      <a:solidFill>
                        <a:schemeClr val="bg2">
                          <a:lumMod val="25000"/>
                        </a:schemeClr>
                      </a:solidFill>
                      <a:latin typeface="Garamond"/>
                    </a:rPr>
                    <a:t>2</a:t>
                  </a:r>
                  <a:endParaRPr lang="es-PE" sz="2000" spc="-1" dirty="0">
                    <a:solidFill>
                      <a:schemeClr val="bg2">
                        <a:lumMod val="25000"/>
                      </a:schemeClr>
                    </a:solidFill>
                    <a:latin typeface="Arial"/>
                  </a:endParaRPr>
                </a:p>
              </p:txBody>
            </p:sp>
            <p:sp>
              <p:nvSpPr>
                <p:cNvPr id="37" name="CustomShape 26">
                  <a:extLst>
                    <a:ext uri="{FF2B5EF4-FFF2-40B4-BE49-F238E27FC236}">
                      <a16:creationId xmlns:a16="http://schemas.microsoft.com/office/drawing/2014/main" id="{98941141-BB89-48BE-839A-071AB007B883}"/>
                    </a:ext>
                  </a:extLst>
                </p:cNvPr>
                <p:cNvSpPr/>
                <p:nvPr/>
              </p:nvSpPr>
              <p:spPr>
                <a:xfrm>
                  <a:off x="2295906" y="4002036"/>
                  <a:ext cx="419463"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dirty="0">
                      <a:solidFill>
                        <a:schemeClr val="bg2">
                          <a:lumMod val="25000"/>
                        </a:schemeClr>
                      </a:solidFill>
                      <a:latin typeface="Garamond"/>
                    </a:rPr>
                    <a:t>2</a:t>
                  </a:r>
                  <a:endParaRPr lang="es-PE" sz="2000" spc="-1" dirty="0">
                    <a:solidFill>
                      <a:schemeClr val="bg2">
                        <a:lumMod val="25000"/>
                      </a:schemeClr>
                    </a:solidFill>
                    <a:latin typeface="Arial"/>
                  </a:endParaRPr>
                </a:p>
              </p:txBody>
            </p:sp>
            <p:sp>
              <p:nvSpPr>
                <p:cNvPr id="38" name="CustomShape 27">
                  <a:extLst>
                    <a:ext uri="{FF2B5EF4-FFF2-40B4-BE49-F238E27FC236}">
                      <a16:creationId xmlns:a16="http://schemas.microsoft.com/office/drawing/2014/main" id="{999A3C3A-89BA-4962-AA0D-BEAEB8B9A19B}"/>
                    </a:ext>
                  </a:extLst>
                </p:cNvPr>
                <p:cNvSpPr/>
                <p:nvPr/>
              </p:nvSpPr>
              <p:spPr>
                <a:xfrm>
                  <a:off x="5644080" y="2019600"/>
                  <a:ext cx="392732"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1</a:t>
                  </a:r>
                  <a:endParaRPr lang="es-PE" sz="2000" spc="-1">
                    <a:solidFill>
                      <a:schemeClr val="bg2">
                        <a:lumMod val="25000"/>
                      </a:schemeClr>
                    </a:solidFill>
                    <a:latin typeface="Arial"/>
                  </a:endParaRPr>
                </a:p>
              </p:txBody>
            </p:sp>
            <p:sp>
              <p:nvSpPr>
                <p:cNvPr id="39" name="CustomShape 28">
                  <a:extLst>
                    <a:ext uri="{FF2B5EF4-FFF2-40B4-BE49-F238E27FC236}">
                      <a16:creationId xmlns:a16="http://schemas.microsoft.com/office/drawing/2014/main" id="{5931DC1C-1C1E-46D4-ADD6-413D34826EAF}"/>
                    </a:ext>
                  </a:extLst>
                </p:cNvPr>
                <p:cNvSpPr/>
                <p:nvPr/>
              </p:nvSpPr>
              <p:spPr>
                <a:xfrm>
                  <a:off x="5784839" y="5786280"/>
                  <a:ext cx="419463"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3</a:t>
                  </a:r>
                  <a:endParaRPr lang="es-PE" sz="2000" spc="-1">
                    <a:solidFill>
                      <a:schemeClr val="bg2">
                        <a:lumMod val="25000"/>
                      </a:schemeClr>
                    </a:solidFill>
                    <a:latin typeface="Arial"/>
                  </a:endParaRPr>
                </a:p>
              </p:txBody>
            </p:sp>
          </p:grpSp>
        </p:grpSp>
        <p:sp>
          <p:nvSpPr>
            <p:cNvPr id="7" name="CustomShape 29">
              <a:extLst>
                <a:ext uri="{FF2B5EF4-FFF2-40B4-BE49-F238E27FC236}">
                  <a16:creationId xmlns:a16="http://schemas.microsoft.com/office/drawing/2014/main" id="{BD5158D1-A85E-464F-A5AA-852655068710}"/>
                </a:ext>
              </a:extLst>
            </p:cNvPr>
            <p:cNvSpPr/>
            <p:nvPr/>
          </p:nvSpPr>
          <p:spPr>
            <a:xfrm>
              <a:off x="2357280" y="5715000"/>
              <a:ext cx="414000" cy="45684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8" name="CustomShape 30">
              <a:extLst>
                <a:ext uri="{FF2B5EF4-FFF2-40B4-BE49-F238E27FC236}">
                  <a16:creationId xmlns:a16="http://schemas.microsoft.com/office/drawing/2014/main" id="{6E52B11A-B281-42B3-A070-2AA4F00BE81B}"/>
                </a:ext>
              </a:extLst>
            </p:cNvPr>
            <p:cNvSpPr/>
            <p:nvPr/>
          </p:nvSpPr>
          <p:spPr>
            <a:xfrm>
              <a:off x="2427479" y="5786280"/>
              <a:ext cx="419463"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rgbClr val="FF0000"/>
                  </a:solidFill>
                  <a:latin typeface="Garamond"/>
                </a:rPr>
                <a:t>3</a:t>
              </a:r>
              <a:endParaRPr lang="es-PE" sz="2000" spc="-1">
                <a:latin typeface="Arial"/>
              </a:endParaRPr>
            </a:p>
          </p:txBody>
        </p:sp>
        <p:sp>
          <p:nvSpPr>
            <p:cNvPr id="9" name="CustomShape 31">
              <a:extLst>
                <a:ext uri="{FF2B5EF4-FFF2-40B4-BE49-F238E27FC236}">
                  <a16:creationId xmlns:a16="http://schemas.microsoft.com/office/drawing/2014/main" id="{F8BF44FB-EEF2-411E-8434-0EE3E984C765}"/>
                </a:ext>
              </a:extLst>
            </p:cNvPr>
            <p:cNvSpPr/>
            <p:nvPr/>
          </p:nvSpPr>
          <p:spPr>
            <a:xfrm>
              <a:off x="154722" y="5450161"/>
              <a:ext cx="2488037" cy="644877"/>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r>
                <a:rPr lang="es-PE" b="1" i="1" spc="-1" dirty="0">
                  <a:solidFill>
                    <a:schemeClr val="bg2">
                      <a:lumMod val="25000"/>
                    </a:schemeClr>
                  </a:solidFill>
                  <a:latin typeface="Arial"/>
                  <a:ea typeface="ＭＳ 明朝"/>
                </a:rPr>
                <a:t> Los Ángeles</a:t>
              </a:r>
            </a:p>
            <a:p>
              <a:pPr algn="ctr"/>
              <a:r>
                <a:rPr lang="es-PE" b="1" i="1" spc="-1" dirty="0">
                  <a:solidFill>
                    <a:schemeClr val="bg2">
                      <a:lumMod val="25000"/>
                    </a:schemeClr>
                  </a:solidFill>
                  <a:latin typeface="Arial"/>
                  <a:ea typeface="ＭＳ 明朝"/>
                </a:rPr>
                <a:t>(3)</a:t>
              </a:r>
            </a:p>
          </p:txBody>
        </p:sp>
        <p:sp>
          <p:nvSpPr>
            <p:cNvPr id="10" name="Line 32">
              <a:extLst>
                <a:ext uri="{FF2B5EF4-FFF2-40B4-BE49-F238E27FC236}">
                  <a16:creationId xmlns:a16="http://schemas.microsoft.com/office/drawing/2014/main" id="{F594013A-AC9D-4831-838A-4A831D6B89F4}"/>
                </a:ext>
              </a:extLst>
            </p:cNvPr>
            <p:cNvSpPr/>
            <p:nvPr/>
          </p:nvSpPr>
          <p:spPr>
            <a:xfrm flipV="1">
              <a:off x="2643120" y="2493032"/>
              <a:ext cx="3109748" cy="3221967"/>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1" name="Line 33">
              <a:extLst>
                <a:ext uri="{FF2B5EF4-FFF2-40B4-BE49-F238E27FC236}">
                  <a16:creationId xmlns:a16="http://schemas.microsoft.com/office/drawing/2014/main" id="{B964E02D-A5D6-466A-B4AB-3EF67F50488E}"/>
                </a:ext>
              </a:extLst>
            </p:cNvPr>
            <p:cNvSpPr/>
            <p:nvPr/>
          </p:nvSpPr>
          <p:spPr>
            <a:xfrm flipV="1">
              <a:off x="2714120" y="4347717"/>
              <a:ext cx="3002769" cy="1455109"/>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2" name="Line 34">
              <a:extLst>
                <a:ext uri="{FF2B5EF4-FFF2-40B4-BE49-F238E27FC236}">
                  <a16:creationId xmlns:a16="http://schemas.microsoft.com/office/drawing/2014/main" id="{72F71C93-032F-47F5-855C-609844A56128}"/>
                </a:ext>
              </a:extLst>
            </p:cNvPr>
            <p:cNvSpPr/>
            <p:nvPr/>
          </p:nvSpPr>
          <p:spPr>
            <a:xfrm flipV="1">
              <a:off x="2786041" y="5943598"/>
              <a:ext cx="2918879" cy="2881"/>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grpSp>
    </p:spTree>
    <p:extLst>
      <p:ext uri="{BB962C8B-B14F-4D97-AF65-F5344CB8AC3E}">
        <p14:creationId xmlns:p14="http://schemas.microsoft.com/office/powerpoint/2010/main" val="3798159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6" name="TextShape 1"/>
          <p:cNvSpPr txBox="1"/>
          <p:nvPr/>
        </p:nvSpPr>
        <p:spPr>
          <a:xfrm>
            <a:off x="1981200" y="228600"/>
            <a:ext cx="7391160" cy="563040"/>
          </a:xfrm>
          <a:prstGeom prst="rect">
            <a:avLst/>
          </a:prstGeom>
          <a:noFill/>
          <a:ln w="9360">
            <a:noFill/>
          </a:ln>
        </p:spPr>
        <p:txBody>
          <a:bodyPr anchor="ctr">
            <a:noAutofit/>
          </a:bodyPr>
          <a:lstStyle/>
          <a:p>
            <a:endParaRPr lang="en-US" sz="2800" spc="-1">
              <a:solidFill>
                <a:srgbClr val="1D528D"/>
              </a:solidFill>
              <a:latin typeface="Arial"/>
            </a:endParaRPr>
          </a:p>
        </p:txBody>
      </p:sp>
      <p:sp>
        <p:nvSpPr>
          <p:cNvPr id="39" name="TextShape 29">
            <a:extLst>
              <a:ext uri="{FF2B5EF4-FFF2-40B4-BE49-F238E27FC236}">
                <a16:creationId xmlns:a16="http://schemas.microsoft.com/office/drawing/2014/main" id="{C74B2EB4-CC05-430A-AE6C-5A84825B482C}"/>
              </a:ext>
            </a:extLst>
          </p:cNvPr>
          <p:cNvSpPr txBox="1"/>
          <p:nvPr/>
        </p:nvSpPr>
        <p:spPr>
          <a:xfrm>
            <a:off x="6096000" y="290213"/>
            <a:ext cx="6096000" cy="496172"/>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defPPr>
              <a:defRPr lang="es-ES"/>
            </a:defPPr>
            <a:lvl1pPr algn="ctr">
              <a:lnSpc>
                <a:spcPts val="5800"/>
              </a:lnSpc>
              <a:spcBef>
                <a:spcPct val="0"/>
              </a:spcBef>
              <a:defRPr sz="3200">
                <a:solidFill>
                  <a:schemeClr val="bg1"/>
                </a:solidFill>
                <a:effectLst>
                  <a:outerShdw blurRad="63500" dist="38100" dir="5400000" algn="t" rotWithShape="0">
                    <a:prstClr val="black">
                      <a:alpha val="25000"/>
                    </a:prstClr>
                  </a:outerShdw>
                </a:effectLst>
                <a:latin typeface="Bauhaus 93" pitchFamily="82" charset="0"/>
              </a:defRPr>
            </a:lvl1pPr>
          </a:lstStyle>
          <a:p>
            <a:r>
              <a:rPr lang="en-US" dirty="0"/>
              <a:t>Red</a:t>
            </a:r>
          </a:p>
        </p:txBody>
      </p:sp>
      <p:sp>
        <p:nvSpPr>
          <p:cNvPr id="40" name="TextShape 2">
            <a:extLst>
              <a:ext uri="{FF2B5EF4-FFF2-40B4-BE49-F238E27FC236}">
                <a16:creationId xmlns:a16="http://schemas.microsoft.com/office/drawing/2014/main" id="{746B9F05-F640-449C-83AB-6B2C39041855}"/>
              </a:ext>
            </a:extLst>
          </p:cNvPr>
          <p:cNvSpPr txBox="1"/>
          <p:nvPr/>
        </p:nvSpPr>
        <p:spPr>
          <a:xfrm>
            <a:off x="11985" y="1253231"/>
            <a:ext cx="6075389" cy="5604769"/>
          </a:xfrm>
          <a:prstGeom prst="rect">
            <a:avLst/>
          </a:prstGeom>
          <a:noFill/>
          <a:ln w="9360">
            <a:noFill/>
          </a:ln>
        </p:spPr>
        <p:txBody>
          <a:bodyPr>
            <a:noAutofit/>
          </a:bodyPr>
          <a:lstStyle/>
          <a:p>
            <a:pPr marL="343080" indent="-342720"/>
            <a:r>
              <a:rPr lang="es-ES" sz="2400" b="1" spc="-1" dirty="0">
                <a:solidFill>
                  <a:srgbClr val="FF0000"/>
                </a:solidFill>
                <a:latin typeface="Arial Narrow" panose="020B0606020202030204" pitchFamily="34" charset="0"/>
              </a:rPr>
              <a:t>I.	Identificación de variables. </a:t>
            </a:r>
          </a:p>
          <a:p>
            <a:pPr lvl="0"/>
            <a:r>
              <a:rPr lang="es-PE" sz="2400" b="1" dirty="0">
                <a:solidFill>
                  <a:schemeClr val="bg2">
                    <a:lumMod val="25000"/>
                  </a:schemeClr>
                </a:solidFill>
                <a:latin typeface="Arial Narrow" panose="020B0606020202030204" pitchFamily="34" charset="0"/>
              </a:rPr>
              <a:t>     </a:t>
            </a:r>
            <a:r>
              <a:rPr lang="es-PE" sz="2400" b="1" dirty="0" err="1">
                <a:solidFill>
                  <a:schemeClr val="bg2">
                    <a:lumMod val="25000"/>
                  </a:schemeClr>
                </a:solidFill>
                <a:latin typeface="Arial Narrow" panose="020B0606020202030204" pitchFamily="34" charset="0"/>
              </a:rPr>
              <a:t>Xij</a:t>
            </a:r>
            <a:r>
              <a:rPr lang="es-PE" sz="2400" b="1" dirty="0">
                <a:solidFill>
                  <a:schemeClr val="bg2">
                    <a:lumMod val="25000"/>
                  </a:schemeClr>
                </a:solidFill>
                <a:latin typeface="Arial Narrow" panose="020B0606020202030204" pitchFamily="34" charset="0"/>
              </a:rPr>
              <a:t> = Número de máquinas a enviar del origen</a:t>
            </a:r>
          </a:p>
          <a:p>
            <a:pPr lvl="0"/>
            <a:r>
              <a:rPr lang="es-PE" sz="2400" b="1" dirty="0">
                <a:solidFill>
                  <a:schemeClr val="bg2">
                    <a:lumMod val="25000"/>
                  </a:schemeClr>
                </a:solidFill>
                <a:latin typeface="Arial Narrow" panose="020B0606020202030204" pitchFamily="34" charset="0"/>
              </a:rPr>
              <a:t>	i al destino j</a:t>
            </a:r>
          </a:p>
          <a:p>
            <a:pPr marL="343080" indent="-342720"/>
            <a:r>
              <a:rPr lang="es-ES" sz="2400" b="1" spc="-1" dirty="0">
                <a:solidFill>
                  <a:srgbClr val="FF0000"/>
                </a:solidFill>
                <a:latin typeface="Arial Narrow" panose="020B0606020202030204" pitchFamily="34" charset="0"/>
              </a:rPr>
              <a:t>II.	Identificación de la función objetivo.</a:t>
            </a:r>
          </a:p>
          <a:p>
            <a:pPr lvl="0"/>
            <a:r>
              <a:rPr lang="es-ES" sz="2400" b="1" spc="-1" dirty="0">
                <a:solidFill>
                  <a:schemeClr val="accent1">
                    <a:lumMod val="75000"/>
                  </a:schemeClr>
                </a:solidFill>
                <a:latin typeface="Arial Narrow" panose="020B0606020202030204" pitchFamily="34" charset="0"/>
              </a:rPr>
              <a:t>     </a:t>
            </a:r>
            <a:r>
              <a:rPr lang="es-PE" sz="2400" b="1" dirty="0">
                <a:solidFill>
                  <a:schemeClr val="bg2">
                    <a:lumMod val="25000"/>
                  </a:schemeClr>
                </a:solidFill>
                <a:latin typeface="Arial Narrow" panose="020B0606020202030204" pitchFamily="34" charset="0"/>
              </a:rPr>
              <a:t>MIN   </a:t>
            </a:r>
            <a:r>
              <a:rPr lang="es-PE" sz="2400" b="1" dirty="0" err="1">
                <a:solidFill>
                  <a:schemeClr val="bg2">
                    <a:lumMod val="25000"/>
                  </a:schemeClr>
                </a:solidFill>
                <a:latin typeface="Arial Narrow" panose="020B0606020202030204" pitchFamily="34" charset="0"/>
              </a:rPr>
              <a:t>1600X11</a:t>
            </a:r>
            <a:r>
              <a:rPr lang="es-PE" sz="2400" b="1" dirty="0">
                <a:solidFill>
                  <a:schemeClr val="bg2">
                    <a:lumMod val="25000"/>
                  </a:schemeClr>
                </a:solidFill>
                <a:latin typeface="Arial Narrow" panose="020B0606020202030204" pitchFamily="34" charset="0"/>
              </a:rPr>
              <a:t> + </a:t>
            </a:r>
            <a:r>
              <a:rPr lang="es-PE" sz="2400" b="1" dirty="0" err="1">
                <a:solidFill>
                  <a:schemeClr val="bg2">
                    <a:lumMod val="25000"/>
                  </a:schemeClr>
                </a:solidFill>
                <a:latin typeface="Arial Narrow" panose="020B0606020202030204" pitchFamily="34" charset="0"/>
              </a:rPr>
              <a:t>1800X12</a:t>
            </a:r>
            <a:r>
              <a:rPr lang="es-PE" sz="2400" b="1" dirty="0">
                <a:solidFill>
                  <a:schemeClr val="bg2">
                    <a:lumMod val="25000"/>
                  </a:schemeClr>
                </a:solidFill>
                <a:latin typeface="Arial Narrow" panose="020B0606020202030204" pitchFamily="34" charset="0"/>
              </a:rPr>
              <a:t> + </a:t>
            </a:r>
            <a:r>
              <a:rPr lang="es-PE" sz="2400" b="1" dirty="0" err="1">
                <a:solidFill>
                  <a:schemeClr val="bg2">
                    <a:lumMod val="25000"/>
                  </a:schemeClr>
                </a:solidFill>
                <a:latin typeface="Arial Narrow" panose="020B0606020202030204" pitchFamily="34" charset="0"/>
              </a:rPr>
              <a:t>2500X13</a:t>
            </a:r>
            <a:r>
              <a:rPr lang="es-PE" sz="2400" b="1" dirty="0">
                <a:solidFill>
                  <a:schemeClr val="bg2">
                    <a:lumMod val="25000"/>
                  </a:schemeClr>
                </a:solidFill>
                <a:latin typeface="Arial Narrow" panose="020B0606020202030204" pitchFamily="34" charset="0"/>
              </a:rPr>
              <a:t> + </a:t>
            </a:r>
            <a:r>
              <a:rPr lang="es-PE" sz="2400" b="1" dirty="0" err="1">
                <a:solidFill>
                  <a:schemeClr val="bg2">
                    <a:lumMod val="25000"/>
                  </a:schemeClr>
                </a:solidFill>
                <a:latin typeface="Arial Narrow" panose="020B0606020202030204" pitchFamily="34" charset="0"/>
              </a:rPr>
              <a:t>900X21</a:t>
            </a:r>
            <a:r>
              <a:rPr lang="es-PE" sz="2400" b="1" dirty="0">
                <a:solidFill>
                  <a:schemeClr val="bg2">
                    <a:lumMod val="25000"/>
                  </a:schemeClr>
                </a:solidFill>
                <a:latin typeface="Arial Narrow" panose="020B0606020202030204" pitchFamily="34" charset="0"/>
              </a:rPr>
              <a:t> + </a:t>
            </a:r>
            <a:r>
              <a:rPr lang="es-PE" sz="2400" b="1" dirty="0" err="1">
                <a:solidFill>
                  <a:schemeClr val="bg2">
                    <a:lumMod val="25000"/>
                  </a:schemeClr>
                </a:solidFill>
                <a:latin typeface="Arial Narrow" panose="020B0606020202030204" pitchFamily="34" charset="0"/>
              </a:rPr>
              <a:t>1000X22+1800X23+1400X31+1000X32</a:t>
            </a:r>
            <a:r>
              <a:rPr lang="es-PE" sz="2400" b="1" dirty="0">
                <a:solidFill>
                  <a:schemeClr val="bg2">
                    <a:lumMod val="25000"/>
                  </a:schemeClr>
                </a:solidFill>
                <a:latin typeface="Arial Narrow" panose="020B0606020202030204" pitchFamily="34" charset="0"/>
              </a:rPr>
              <a:t> + </a:t>
            </a:r>
            <a:r>
              <a:rPr lang="es-PE" sz="2400" b="1" dirty="0" err="1">
                <a:solidFill>
                  <a:schemeClr val="bg2">
                    <a:lumMod val="25000"/>
                  </a:schemeClr>
                </a:solidFill>
                <a:latin typeface="Arial Narrow" panose="020B0606020202030204" pitchFamily="34" charset="0"/>
              </a:rPr>
              <a:t>400X33</a:t>
            </a:r>
            <a:endParaRPr lang="es-PE" sz="2400" b="1" dirty="0">
              <a:solidFill>
                <a:schemeClr val="bg2">
                  <a:lumMod val="25000"/>
                </a:schemeClr>
              </a:solidFill>
              <a:latin typeface="Arial Narrow" panose="020B0606020202030204" pitchFamily="34" charset="0"/>
            </a:endParaRPr>
          </a:p>
          <a:p>
            <a:pPr marL="343080" indent="-342720"/>
            <a:r>
              <a:rPr lang="es-ES" sz="2400" b="1" spc="-1" dirty="0">
                <a:solidFill>
                  <a:srgbClr val="FF0000"/>
                </a:solidFill>
                <a:latin typeface="Arial Narrow" panose="020B0606020202030204" pitchFamily="34" charset="0"/>
              </a:rPr>
              <a:t>III	Identificación de Restricciones.</a:t>
            </a:r>
          </a:p>
          <a:p>
            <a:pPr lvl="0"/>
            <a:r>
              <a:rPr lang="es-ES" sz="2400" b="1" spc="-1" dirty="0">
                <a:solidFill>
                  <a:schemeClr val="accent1">
                    <a:lumMod val="75000"/>
                  </a:schemeClr>
                </a:solidFill>
                <a:latin typeface="Arial Narrow" panose="020B0606020202030204" pitchFamily="34" charset="0"/>
              </a:rPr>
              <a:t>	</a:t>
            </a:r>
            <a:r>
              <a:rPr lang="es-PE" sz="2400" b="1" dirty="0" err="1">
                <a:solidFill>
                  <a:schemeClr val="bg2">
                    <a:lumMod val="25000"/>
                  </a:schemeClr>
                </a:solidFill>
                <a:latin typeface="Arial Narrow" panose="020B0606020202030204" pitchFamily="34" charset="0"/>
              </a:rPr>
              <a:t>X11</a:t>
            </a:r>
            <a:r>
              <a:rPr lang="es-PE" sz="2400" b="1" dirty="0">
                <a:solidFill>
                  <a:schemeClr val="bg2">
                    <a:lumMod val="25000"/>
                  </a:schemeClr>
                </a:solidFill>
                <a:latin typeface="Arial Narrow" panose="020B0606020202030204" pitchFamily="34" charset="0"/>
              </a:rPr>
              <a:t> + </a:t>
            </a:r>
            <a:r>
              <a:rPr lang="es-PE" sz="2400" b="1" dirty="0" err="1">
                <a:solidFill>
                  <a:schemeClr val="bg2">
                    <a:lumMod val="25000"/>
                  </a:schemeClr>
                </a:solidFill>
                <a:latin typeface="Arial Narrow" panose="020B0606020202030204" pitchFamily="34" charset="0"/>
              </a:rPr>
              <a:t>X12</a:t>
            </a:r>
            <a:r>
              <a:rPr lang="es-PE" sz="2400" b="1" dirty="0">
                <a:solidFill>
                  <a:schemeClr val="bg2">
                    <a:lumMod val="25000"/>
                  </a:schemeClr>
                </a:solidFill>
                <a:latin typeface="Arial Narrow" panose="020B0606020202030204" pitchFamily="34" charset="0"/>
              </a:rPr>
              <a:t> + </a:t>
            </a:r>
            <a:r>
              <a:rPr lang="es-PE" sz="2400" b="1" dirty="0" err="1">
                <a:solidFill>
                  <a:schemeClr val="bg2">
                    <a:lumMod val="25000"/>
                  </a:schemeClr>
                </a:solidFill>
                <a:latin typeface="Arial Narrow" panose="020B0606020202030204" pitchFamily="34" charset="0"/>
              </a:rPr>
              <a:t>X13</a:t>
            </a:r>
            <a:r>
              <a:rPr lang="es-PE" sz="2400" b="1" dirty="0">
                <a:solidFill>
                  <a:schemeClr val="bg2">
                    <a:lumMod val="25000"/>
                  </a:schemeClr>
                </a:solidFill>
                <a:latin typeface="Arial Narrow" panose="020B0606020202030204" pitchFamily="34" charset="0"/>
              </a:rPr>
              <a:t> ≤ 3		</a:t>
            </a:r>
          </a:p>
          <a:p>
            <a:pPr lvl="0"/>
            <a:r>
              <a:rPr lang="es-PE" sz="2400" b="1" dirty="0">
                <a:solidFill>
                  <a:schemeClr val="bg2">
                    <a:lumMod val="25000"/>
                  </a:schemeClr>
                </a:solidFill>
                <a:latin typeface="Arial Narrow" panose="020B0606020202030204" pitchFamily="34" charset="0"/>
              </a:rPr>
              <a:t>	</a:t>
            </a:r>
            <a:r>
              <a:rPr lang="es-PE" sz="2400" b="1" dirty="0" err="1">
                <a:solidFill>
                  <a:schemeClr val="bg2">
                    <a:lumMod val="25000"/>
                  </a:schemeClr>
                </a:solidFill>
                <a:latin typeface="Arial Narrow" panose="020B0606020202030204" pitchFamily="34" charset="0"/>
              </a:rPr>
              <a:t>X21</a:t>
            </a:r>
            <a:r>
              <a:rPr lang="es-PE" sz="2400" b="1" dirty="0">
                <a:solidFill>
                  <a:schemeClr val="bg2">
                    <a:lumMod val="25000"/>
                  </a:schemeClr>
                </a:solidFill>
                <a:latin typeface="Arial Narrow" panose="020B0606020202030204" pitchFamily="34" charset="0"/>
              </a:rPr>
              <a:t> + </a:t>
            </a:r>
            <a:r>
              <a:rPr lang="es-PE" sz="2400" b="1" dirty="0" err="1">
                <a:solidFill>
                  <a:schemeClr val="bg2">
                    <a:lumMod val="25000"/>
                  </a:schemeClr>
                </a:solidFill>
                <a:latin typeface="Arial Narrow" panose="020B0606020202030204" pitchFamily="34" charset="0"/>
              </a:rPr>
              <a:t>X22</a:t>
            </a:r>
            <a:r>
              <a:rPr lang="es-PE" sz="2400" b="1" dirty="0">
                <a:solidFill>
                  <a:schemeClr val="bg2">
                    <a:lumMod val="25000"/>
                  </a:schemeClr>
                </a:solidFill>
                <a:latin typeface="Arial Narrow" panose="020B0606020202030204" pitchFamily="34" charset="0"/>
              </a:rPr>
              <a:t> + </a:t>
            </a:r>
            <a:r>
              <a:rPr lang="es-PE" sz="2400" b="1" dirty="0" err="1">
                <a:solidFill>
                  <a:schemeClr val="bg2">
                    <a:lumMod val="25000"/>
                  </a:schemeClr>
                </a:solidFill>
                <a:latin typeface="Arial Narrow" panose="020B0606020202030204" pitchFamily="34" charset="0"/>
              </a:rPr>
              <a:t>X23</a:t>
            </a:r>
            <a:r>
              <a:rPr lang="es-PE" sz="2400" b="1" dirty="0">
                <a:solidFill>
                  <a:schemeClr val="bg2">
                    <a:lumMod val="25000"/>
                  </a:schemeClr>
                </a:solidFill>
                <a:latin typeface="Arial Narrow" panose="020B0606020202030204" pitchFamily="34" charset="0"/>
              </a:rPr>
              <a:t> ≤ 2	 	</a:t>
            </a:r>
          </a:p>
          <a:p>
            <a:pPr lvl="0"/>
            <a:r>
              <a:rPr lang="es-PE" sz="2400" b="1" dirty="0">
                <a:solidFill>
                  <a:schemeClr val="bg2">
                    <a:lumMod val="25000"/>
                  </a:schemeClr>
                </a:solidFill>
                <a:latin typeface="Arial Narrow" panose="020B0606020202030204" pitchFamily="34" charset="0"/>
              </a:rPr>
              <a:t>	</a:t>
            </a:r>
            <a:r>
              <a:rPr lang="es-PE" sz="2400" b="1" dirty="0" err="1">
                <a:solidFill>
                  <a:schemeClr val="bg2">
                    <a:lumMod val="25000"/>
                  </a:schemeClr>
                </a:solidFill>
                <a:latin typeface="Arial Narrow" panose="020B0606020202030204" pitchFamily="34" charset="0"/>
              </a:rPr>
              <a:t>X31</a:t>
            </a:r>
            <a:r>
              <a:rPr lang="es-PE" sz="2400" b="1" dirty="0">
                <a:solidFill>
                  <a:schemeClr val="bg2">
                    <a:lumMod val="25000"/>
                  </a:schemeClr>
                </a:solidFill>
                <a:latin typeface="Arial Narrow" panose="020B0606020202030204" pitchFamily="34" charset="0"/>
              </a:rPr>
              <a:t> + </a:t>
            </a:r>
            <a:r>
              <a:rPr lang="es-PE" sz="2400" b="1" dirty="0" err="1">
                <a:solidFill>
                  <a:schemeClr val="bg2">
                    <a:lumMod val="25000"/>
                  </a:schemeClr>
                </a:solidFill>
                <a:latin typeface="Arial Narrow" panose="020B0606020202030204" pitchFamily="34" charset="0"/>
              </a:rPr>
              <a:t>X32</a:t>
            </a:r>
            <a:r>
              <a:rPr lang="es-PE" sz="2400" b="1" dirty="0">
                <a:solidFill>
                  <a:schemeClr val="bg2">
                    <a:lumMod val="25000"/>
                  </a:schemeClr>
                </a:solidFill>
                <a:latin typeface="Arial Narrow" panose="020B0606020202030204" pitchFamily="34" charset="0"/>
              </a:rPr>
              <a:t> + </a:t>
            </a:r>
            <a:r>
              <a:rPr lang="es-PE" sz="2400" b="1" dirty="0" err="1">
                <a:solidFill>
                  <a:schemeClr val="bg2">
                    <a:lumMod val="25000"/>
                  </a:schemeClr>
                </a:solidFill>
                <a:latin typeface="Arial Narrow" panose="020B0606020202030204" pitchFamily="34" charset="0"/>
              </a:rPr>
              <a:t>X33</a:t>
            </a:r>
            <a:r>
              <a:rPr lang="es-PE" sz="2400" b="1" dirty="0">
                <a:solidFill>
                  <a:schemeClr val="bg2">
                    <a:lumMod val="25000"/>
                  </a:schemeClr>
                </a:solidFill>
                <a:latin typeface="Arial Narrow" panose="020B0606020202030204" pitchFamily="34" charset="0"/>
              </a:rPr>
              <a:t> ≤ 3</a:t>
            </a:r>
          </a:p>
          <a:p>
            <a:r>
              <a:rPr lang="es-PE" sz="2400" b="1" dirty="0">
                <a:solidFill>
                  <a:schemeClr val="bg2">
                    <a:lumMod val="25000"/>
                  </a:schemeClr>
                </a:solidFill>
                <a:latin typeface="Arial Narrow" panose="020B0606020202030204" pitchFamily="34" charset="0"/>
              </a:rPr>
              <a:t>	</a:t>
            </a:r>
            <a:r>
              <a:rPr lang="es-PE" sz="2400" b="1" dirty="0" err="1">
                <a:solidFill>
                  <a:schemeClr val="bg2">
                    <a:lumMod val="25000"/>
                  </a:schemeClr>
                </a:solidFill>
                <a:latin typeface="Arial Narrow" panose="020B0606020202030204" pitchFamily="34" charset="0"/>
              </a:rPr>
              <a:t>X11</a:t>
            </a:r>
            <a:r>
              <a:rPr lang="es-PE" sz="2400" b="1" dirty="0">
                <a:solidFill>
                  <a:schemeClr val="bg2">
                    <a:lumMod val="25000"/>
                  </a:schemeClr>
                </a:solidFill>
                <a:latin typeface="Arial Narrow" panose="020B0606020202030204" pitchFamily="34" charset="0"/>
              </a:rPr>
              <a:t>  + </a:t>
            </a:r>
            <a:r>
              <a:rPr lang="es-PE" sz="2400" b="1" dirty="0" err="1">
                <a:solidFill>
                  <a:schemeClr val="bg2">
                    <a:lumMod val="25000"/>
                  </a:schemeClr>
                </a:solidFill>
                <a:latin typeface="Arial Narrow" panose="020B0606020202030204" pitchFamily="34" charset="0"/>
              </a:rPr>
              <a:t>X21</a:t>
            </a:r>
            <a:r>
              <a:rPr lang="es-PE" sz="2400" b="1" dirty="0">
                <a:solidFill>
                  <a:schemeClr val="bg2">
                    <a:lumMod val="25000"/>
                  </a:schemeClr>
                </a:solidFill>
                <a:latin typeface="Arial Narrow" panose="020B0606020202030204" pitchFamily="34" charset="0"/>
              </a:rPr>
              <a:t>  + </a:t>
            </a:r>
            <a:r>
              <a:rPr lang="es-PE" sz="2400" b="1" dirty="0" err="1">
                <a:solidFill>
                  <a:schemeClr val="bg2">
                    <a:lumMod val="25000"/>
                  </a:schemeClr>
                </a:solidFill>
                <a:latin typeface="Arial Narrow" panose="020B0606020202030204" pitchFamily="34" charset="0"/>
              </a:rPr>
              <a:t>X31</a:t>
            </a:r>
            <a:r>
              <a:rPr lang="es-PE" sz="2400" b="1" dirty="0">
                <a:solidFill>
                  <a:schemeClr val="bg2">
                    <a:lumMod val="25000"/>
                  </a:schemeClr>
                </a:solidFill>
                <a:latin typeface="Arial Narrow" panose="020B0606020202030204" pitchFamily="34" charset="0"/>
              </a:rPr>
              <a:t> = 4</a:t>
            </a:r>
          </a:p>
          <a:p>
            <a:r>
              <a:rPr lang="es-PE" sz="2400" b="1" dirty="0">
                <a:solidFill>
                  <a:schemeClr val="bg2">
                    <a:lumMod val="25000"/>
                  </a:schemeClr>
                </a:solidFill>
                <a:latin typeface="Arial Narrow" panose="020B0606020202030204" pitchFamily="34" charset="0"/>
              </a:rPr>
              <a:t>	</a:t>
            </a:r>
            <a:r>
              <a:rPr lang="es-PE" sz="2400" b="1" dirty="0" err="1">
                <a:solidFill>
                  <a:schemeClr val="bg2">
                    <a:lumMod val="25000"/>
                  </a:schemeClr>
                </a:solidFill>
                <a:latin typeface="Arial Narrow" panose="020B0606020202030204" pitchFamily="34" charset="0"/>
              </a:rPr>
              <a:t>X12</a:t>
            </a:r>
            <a:r>
              <a:rPr lang="es-PE" sz="2400" b="1" dirty="0">
                <a:solidFill>
                  <a:schemeClr val="bg2">
                    <a:lumMod val="25000"/>
                  </a:schemeClr>
                </a:solidFill>
                <a:latin typeface="Arial Narrow" panose="020B0606020202030204" pitchFamily="34" charset="0"/>
              </a:rPr>
              <a:t>  + </a:t>
            </a:r>
            <a:r>
              <a:rPr lang="es-PE" sz="2400" b="1" dirty="0" err="1">
                <a:solidFill>
                  <a:schemeClr val="bg2">
                    <a:lumMod val="25000"/>
                  </a:schemeClr>
                </a:solidFill>
                <a:latin typeface="Arial Narrow" panose="020B0606020202030204" pitchFamily="34" charset="0"/>
              </a:rPr>
              <a:t>X22</a:t>
            </a:r>
            <a:r>
              <a:rPr lang="es-PE" sz="2400" b="1" dirty="0">
                <a:solidFill>
                  <a:schemeClr val="bg2">
                    <a:lumMod val="25000"/>
                  </a:schemeClr>
                </a:solidFill>
                <a:latin typeface="Arial Narrow" panose="020B0606020202030204" pitchFamily="34" charset="0"/>
              </a:rPr>
              <a:t>  + </a:t>
            </a:r>
            <a:r>
              <a:rPr lang="es-PE" sz="2400" b="1" dirty="0" err="1">
                <a:solidFill>
                  <a:schemeClr val="bg2">
                    <a:lumMod val="25000"/>
                  </a:schemeClr>
                </a:solidFill>
                <a:latin typeface="Arial Narrow" panose="020B0606020202030204" pitchFamily="34" charset="0"/>
              </a:rPr>
              <a:t>X32</a:t>
            </a:r>
            <a:r>
              <a:rPr lang="es-PE" sz="2400" b="1" dirty="0">
                <a:solidFill>
                  <a:schemeClr val="bg2">
                    <a:lumMod val="25000"/>
                  </a:schemeClr>
                </a:solidFill>
                <a:latin typeface="Arial Narrow" panose="020B0606020202030204" pitchFamily="34" charset="0"/>
              </a:rPr>
              <a:t> = 2</a:t>
            </a:r>
          </a:p>
          <a:p>
            <a:pPr lvl="0"/>
            <a:r>
              <a:rPr lang="es-PE" sz="2400" b="1" dirty="0">
                <a:solidFill>
                  <a:schemeClr val="bg2">
                    <a:lumMod val="25000"/>
                  </a:schemeClr>
                </a:solidFill>
                <a:latin typeface="Arial Narrow" panose="020B0606020202030204" pitchFamily="34" charset="0"/>
              </a:rPr>
              <a:t> 	</a:t>
            </a:r>
            <a:r>
              <a:rPr lang="es-PE" sz="2400" b="1" dirty="0" err="1">
                <a:solidFill>
                  <a:schemeClr val="bg2">
                    <a:lumMod val="25000"/>
                  </a:schemeClr>
                </a:solidFill>
                <a:latin typeface="Arial Narrow" panose="020B0606020202030204" pitchFamily="34" charset="0"/>
              </a:rPr>
              <a:t>X13</a:t>
            </a:r>
            <a:r>
              <a:rPr lang="es-PE" sz="2400" b="1" dirty="0">
                <a:solidFill>
                  <a:schemeClr val="bg2">
                    <a:lumMod val="25000"/>
                  </a:schemeClr>
                </a:solidFill>
                <a:latin typeface="Arial Narrow" panose="020B0606020202030204" pitchFamily="34" charset="0"/>
              </a:rPr>
              <a:t>  + </a:t>
            </a:r>
            <a:r>
              <a:rPr lang="es-PE" sz="2400" b="1" dirty="0" err="1">
                <a:solidFill>
                  <a:schemeClr val="bg2">
                    <a:lumMod val="25000"/>
                  </a:schemeClr>
                </a:solidFill>
                <a:latin typeface="Arial Narrow" panose="020B0606020202030204" pitchFamily="34" charset="0"/>
              </a:rPr>
              <a:t>X23</a:t>
            </a:r>
            <a:r>
              <a:rPr lang="es-PE" sz="2400" b="1" dirty="0">
                <a:solidFill>
                  <a:schemeClr val="bg2">
                    <a:lumMod val="25000"/>
                  </a:schemeClr>
                </a:solidFill>
                <a:latin typeface="Arial Narrow" panose="020B0606020202030204" pitchFamily="34" charset="0"/>
              </a:rPr>
              <a:t>  + </a:t>
            </a:r>
            <a:r>
              <a:rPr lang="es-PE" sz="2400" b="1" dirty="0" err="1">
                <a:solidFill>
                  <a:schemeClr val="bg2">
                    <a:lumMod val="25000"/>
                  </a:schemeClr>
                </a:solidFill>
                <a:latin typeface="Arial Narrow" panose="020B0606020202030204" pitchFamily="34" charset="0"/>
              </a:rPr>
              <a:t>X33</a:t>
            </a:r>
            <a:r>
              <a:rPr lang="es-PE" sz="2400" b="1" dirty="0">
                <a:solidFill>
                  <a:schemeClr val="bg2">
                    <a:lumMod val="25000"/>
                  </a:schemeClr>
                </a:solidFill>
                <a:latin typeface="Arial Narrow" panose="020B0606020202030204" pitchFamily="34" charset="0"/>
              </a:rPr>
              <a:t> = 2</a:t>
            </a:r>
          </a:p>
          <a:p>
            <a:pPr lvl="1"/>
            <a:r>
              <a:rPr lang="es-PE" sz="2400" b="1" dirty="0">
                <a:solidFill>
                  <a:schemeClr val="bg2">
                    <a:lumMod val="25000"/>
                  </a:schemeClr>
                </a:solidFill>
                <a:latin typeface="Arial Narrow" panose="020B0606020202030204" pitchFamily="34" charset="0"/>
              </a:rPr>
              <a:t>			</a:t>
            </a:r>
            <a:r>
              <a:rPr lang="es-PE" sz="2400" b="1" dirty="0" err="1">
                <a:solidFill>
                  <a:schemeClr val="bg2">
                    <a:lumMod val="25000"/>
                  </a:schemeClr>
                </a:solidFill>
                <a:latin typeface="Arial Narrow" panose="020B0606020202030204" pitchFamily="34" charset="0"/>
              </a:rPr>
              <a:t>Xij</a:t>
            </a:r>
            <a:r>
              <a:rPr lang="es-PE" sz="2400" b="1" dirty="0">
                <a:solidFill>
                  <a:schemeClr val="bg2">
                    <a:lumMod val="25000"/>
                  </a:schemeClr>
                </a:solidFill>
                <a:latin typeface="Arial Narrow" panose="020B0606020202030204" pitchFamily="34" charset="0"/>
              </a:rPr>
              <a:t> ≥ 0, </a:t>
            </a:r>
            <a:r>
              <a:rPr lang="es-PE" sz="2400" b="1" dirty="0">
                <a:solidFill>
                  <a:srgbClr val="FF0000"/>
                </a:solidFill>
                <a:latin typeface="Arial Narrow" panose="020B0606020202030204" pitchFamily="34" charset="0"/>
              </a:rPr>
              <a:t>Entera</a:t>
            </a:r>
            <a:endParaRPr lang="es-PE" sz="2400" b="1" dirty="0">
              <a:latin typeface="Arial Narrow" panose="020B0606020202030204" pitchFamily="34" charset="0"/>
            </a:endParaRPr>
          </a:p>
          <a:p>
            <a:endParaRPr lang="es-PE" sz="2400" b="1" dirty="0">
              <a:latin typeface="Arial Narrow" panose="020B0606020202030204" pitchFamily="34" charset="0"/>
            </a:endParaRPr>
          </a:p>
          <a:p>
            <a:pPr lvl="0"/>
            <a:endParaRPr lang="es-PE" sz="2400" b="1" dirty="0">
              <a:latin typeface="Arial Narrow" panose="020B0606020202030204" pitchFamily="34" charset="0"/>
            </a:endParaRPr>
          </a:p>
          <a:p>
            <a:pPr marL="343080" indent="-342720"/>
            <a:endParaRPr lang="es-ES" sz="2400" b="1" spc="-1" dirty="0">
              <a:solidFill>
                <a:schemeClr val="accent1">
                  <a:lumMod val="75000"/>
                </a:schemeClr>
              </a:solidFill>
              <a:latin typeface="Arial Narrow" panose="020B0606020202030204" pitchFamily="34" charset="0"/>
            </a:endParaRPr>
          </a:p>
        </p:txBody>
      </p:sp>
      <p:sp>
        <p:nvSpPr>
          <p:cNvPr id="41" name="Rectángulo 40">
            <a:extLst>
              <a:ext uri="{FF2B5EF4-FFF2-40B4-BE49-F238E27FC236}">
                <a16:creationId xmlns:a16="http://schemas.microsoft.com/office/drawing/2014/main" id="{EF1FDDB8-1161-4C0C-A998-8971DD66A10A}"/>
              </a:ext>
            </a:extLst>
          </p:cNvPr>
          <p:cNvSpPr/>
          <p:nvPr/>
        </p:nvSpPr>
        <p:spPr>
          <a:xfrm>
            <a:off x="6104628" y="1400383"/>
            <a:ext cx="4889069" cy="3785652"/>
          </a:xfrm>
          <a:prstGeom prst="rect">
            <a:avLst/>
          </a:prstGeom>
          <a:solidFill>
            <a:srgbClr val="FFFF00"/>
          </a:solidFill>
        </p:spPr>
        <p:txBody>
          <a:bodyPr wrap="square">
            <a:spAutoFit/>
          </a:bodyPr>
          <a:lstStyle/>
          <a:p>
            <a:r>
              <a:rPr lang="es-PE" sz="2400" dirty="0"/>
              <a:t>MIN   </a:t>
            </a:r>
            <a:r>
              <a:rPr lang="es-PE" sz="2400" dirty="0" err="1"/>
              <a:t>1600X11</a:t>
            </a:r>
            <a:r>
              <a:rPr lang="es-PE" sz="2400" dirty="0"/>
              <a:t> + </a:t>
            </a:r>
            <a:r>
              <a:rPr lang="es-PE" sz="2400" dirty="0" err="1"/>
              <a:t>1800X12</a:t>
            </a:r>
            <a:r>
              <a:rPr lang="es-PE" sz="2400" dirty="0"/>
              <a:t> + </a:t>
            </a:r>
            <a:r>
              <a:rPr lang="es-PE" sz="2400" dirty="0" err="1"/>
              <a:t>2500X13</a:t>
            </a:r>
            <a:endParaRPr lang="es-PE" sz="2400" dirty="0"/>
          </a:p>
          <a:p>
            <a:r>
              <a:rPr lang="es-PE" sz="2400" dirty="0"/>
              <a:t>        + </a:t>
            </a:r>
            <a:r>
              <a:rPr lang="es-PE" sz="2400" dirty="0" err="1"/>
              <a:t>900X21</a:t>
            </a:r>
            <a:r>
              <a:rPr lang="es-PE" sz="2400" dirty="0"/>
              <a:t>   + </a:t>
            </a:r>
            <a:r>
              <a:rPr lang="es-PE" sz="2400" dirty="0" err="1"/>
              <a:t>1000X22</a:t>
            </a:r>
            <a:r>
              <a:rPr lang="es-PE" sz="2400" dirty="0"/>
              <a:t> +</a:t>
            </a:r>
            <a:r>
              <a:rPr lang="es-PE" sz="2400" dirty="0" err="1"/>
              <a:t>1800X23</a:t>
            </a:r>
            <a:endParaRPr lang="es-PE" sz="2400" dirty="0"/>
          </a:p>
          <a:p>
            <a:r>
              <a:rPr lang="es-PE" sz="2400" dirty="0"/>
              <a:t>        +</a:t>
            </a:r>
            <a:r>
              <a:rPr lang="es-PE" sz="2400" dirty="0" err="1"/>
              <a:t>1400X31</a:t>
            </a:r>
            <a:r>
              <a:rPr lang="es-PE" sz="2400" dirty="0"/>
              <a:t> + </a:t>
            </a:r>
            <a:r>
              <a:rPr lang="es-PE" sz="2400" dirty="0" err="1"/>
              <a:t>1000X32</a:t>
            </a:r>
            <a:r>
              <a:rPr lang="es-PE" sz="2400" dirty="0"/>
              <a:t> + </a:t>
            </a:r>
            <a:r>
              <a:rPr lang="es-PE" sz="2400" dirty="0" err="1"/>
              <a:t>400X33</a:t>
            </a:r>
            <a:endParaRPr lang="es-PE" sz="2400" dirty="0"/>
          </a:p>
          <a:p>
            <a:r>
              <a:rPr lang="es-PE" sz="2400" dirty="0" err="1"/>
              <a:t>ST</a:t>
            </a:r>
            <a:endParaRPr lang="es-PE" sz="2400" dirty="0"/>
          </a:p>
          <a:p>
            <a:r>
              <a:rPr lang="es-PE" sz="2400" dirty="0" err="1"/>
              <a:t>X11</a:t>
            </a:r>
            <a:r>
              <a:rPr lang="es-PE" sz="2400" dirty="0"/>
              <a:t> + </a:t>
            </a:r>
            <a:r>
              <a:rPr lang="es-PE" sz="2400" dirty="0" err="1"/>
              <a:t>X12</a:t>
            </a:r>
            <a:r>
              <a:rPr lang="es-PE" sz="2400" dirty="0"/>
              <a:t> + </a:t>
            </a:r>
            <a:r>
              <a:rPr lang="es-PE" sz="2400" dirty="0" err="1"/>
              <a:t>X13</a:t>
            </a:r>
            <a:r>
              <a:rPr lang="es-PE" sz="2400" dirty="0"/>
              <a:t> &lt;= 3</a:t>
            </a:r>
          </a:p>
          <a:p>
            <a:r>
              <a:rPr lang="es-PE" sz="2400" dirty="0" err="1"/>
              <a:t>X21</a:t>
            </a:r>
            <a:r>
              <a:rPr lang="es-PE" sz="2400" dirty="0"/>
              <a:t> + </a:t>
            </a:r>
            <a:r>
              <a:rPr lang="es-PE" sz="2400" dirty="0" err="1"/>
              <a:t>X22</a:t>
            </a:r>
            <a:r>
              <a:rPr lang="es-PE" sz="2400" dirty="0"/>
              <a:t> + </a:t>
            </a:r>
            <a:r>
              <a:rPr lang="es-PE" sz="2400" dirty="0" err="1"/>
              <a:t>X23</a:t>
            </a:r>
            <a:r>
              <a:rPr lang="es-PE" sz="2400" dirty="0"/>
              <a:t> &lt;= 2</a:t>
            </a:r>
          </a:p>
          <a:p>
            <a:r>
              <a:rPr lang="es-PE" sz="2400" dirty="0" err="1"/>
              <a:t>X31</a:t>
            </a:r>
            <a:r>
              <a:rPr lang="es-PE" sz="2400" dirty="0"/>
              <a:t> + </a:t>
            </a:r>
            <a:r>
              <a:rPr lang="es-PE" sz="2400" dirty="0" err="1"/>
              <a:t>X32</a:t>
            </a:r>
            <a:r>
              <a:rPr lang="es-PE" sz="2400" dirty="0"/>
              <a:t> + </a:t>
            </a:r>
            <a:r>
              <a:rPr lang="es-PE" sz="2400" dirty="0" err="1"/>
              <a:t>X33</a:t>
            </a:r>
            <a:r>
              <a:rPr lang="es-PE" sz="2400" dirty="0"/>
              <a:t> &lt;= 3</a:t>
            </a:r>
          </a:p>
          <a:p>
            <a:r>
              <a:rPr lang="es-PE" sz="2400" dirty="0" err="1"/>
              <a:t>X11</a:t>
            </a:r>
            <a:r>
              <a:rPr lang="es-PE" sz="2400" dirty="0"/>
              <a:t>  + </a:t>
            </a:r>
            <a:r>
              <a:rPr lang="es-PE" sz="2400" dirty="0" err="1"/>
              <a:t>X21</a:t>
            </a:r>
            <a:r>
              <a:rPr lang="es-PE" sz="2400" dirty="0"/>
              <a:t>  + </a:t>
            </a:r>
            <a:r>
              <a:rPr lang="es-PE" sz="2400" dirty="0" err="1"/>
              <a:t>X31</a:t>
            </a:r>
            <a:r>
              <a:rPr lang="es-PE" sz="2400" dirty="0"/>
              <a:t> = 4</a:t>
            </a:r>
          </a:p>
          <a:p>
            <a:r>
              <a:rPr lang="es-PE" sz="2400" dirty="0" err="1"/>
              <a:t>X12</a:t>
            </a:r>
            <a:r>
              <a:rPr lang="es-PE" sz="2400" dirty="0"/>
              <a:t>  + </a:t>
            </a:r>
            <a:r>
              <a:rPr lang="es-PE" sz="2400" dirty="0" err="1"/>
              <a:t>X22</a:t>
            </a:r>
            <a:r>
              <a:rPr lang="es-PE" sz="2400" dirty="0"/>
              <a:t>  + </a:t>
            </a:r>
            <a:r>
              <a:rPr lang="es-PE" sz="2400" dirty="0" err="1"/>
              <a:t>X32</a:t>
            </a:r>
            <a:r>
              <a:rPr lang="es-PE" sz="2400" dirty="0"/>
              <a:t> = 2</a:t>
            </a:r>
          </a:p>
          <a:p>
            <a:r>
              <a:rPr lang="es-PE" sz="2400" dirty="0" err="1"/>
              <a:t>X13</a:t>
            </a:r>
            <a:r>
              <a:rPr lang="es-PE" sz="2400" dirty="0"/>
              <a:t>  + </a:t>
            </a:r>
            <a:r>
              <a:rPr lang="es-PE" sz="2400" dirty="0" err="1"/>
              <a:t>X23</a:t>
            </a:r>
            <a:r>
              <a:rPr lang="es-PE" sz="2400" dirty="0"/>
              <a:t>  + </a:t>
            </a:r>
            <a:r>
              <a:rPr lang="es-PE" sz="2400" dirty="0" err="1"/>
              <a:t>X33</a:t>
            </a:r>
            <a:r>
              <a:rPr lang="es-PE" sz="2400" dirty="0"/>
              <a:t> = 2</a:t>
            </a:r>
          </a:p>
        </p:txBody>
      </p:sp>
      <p:sp>
        <p:nvSpPr>
          <p:cNvPr id="42" name="Rectángulo 41">
            <a:extLst>
              <a:ext uri="{FF2B5EF4-FFF2-40B4-BE49-F238E27FC236}">
                <a16:creationId xmlns:a16="http://schemas.microsoft.com/office/drawing/2014/main" id="{C8F6B52A-AABF-4206-9E50-94ADDF85CA5D}"/>
              </a:ext>
            </a:extLst>
          </p:cNvPr>
          <p:cNvSpPr/>
          <p:nvPr/>
        </p:nvSpPr>
        <p:spPr>
          <a:xfrm>
            <a:off x="8886548" y="3564791"/>
            <a:ext cx="3305452" cy="3293209"/>
          </a:xfrm>
          <a:prstGeom prst="rect">
            <a:avLst/>
          </a:prstGeom>
          <a:solidFill>
            <a:schemeClr val="accent2">
              <a:lumMod val="60000"/>
              <a:lumOff val="40000"/>
            </a:schemeClr>
          </a:solidFill>
        </p:spPr>
        <p:txBody>
          <a:bodyPr wrap="square">
            <a:spAutoFit/>
          </a:bodyPr>
          <a:lstStyle/>
          <a:p>
            <a:r>
              <a:rPr lang="es-PE" sz="1600" dirty="0">
                <a:latin typeface="Arial Narrow" panose="020B0606020202030204" pitchFamily="34" charset="0"/>
              </a:rPr>
              <a:t> </a:t>
            </a:r>
            <a:r>
              <a:rPr lang="es-PE" sz="1600" dirty="0" err="1">
                <a:latin typeface="Arial Narrow" panose="020B0606020202030204" pitchFamily="34" charset="0"/>
              </a:rPr>
              <a:t>OBJECTIVE</a:t>
            </a:r>
            <a:r>
              <a:rPr lang="es-PE" sz="1600" dirty="0">
                <a:latin typeface="Arial Narrow" panose="020B0606020202030204" pitchFamily="34" charset="0"/>
              </a:rPr>
              <a:t> </a:t>
            </a:r>
            <a:r>
              <a:rPr lang="es-PE" sz="1600" dirty="0" err="1">
                <a:latin typeface="Arial Narrow" panose="020B0606020202030204" pitchFamily="34" charset="0"/>
              </a:rPr>
              <a:t>FUNCTION</a:t>
            </a:r>
            <a:r>
              <a:rPr lang="es-PE" sz="1600" dirty="0">
                <a:latin typeface="Arial Narrow" panose="020B0606020202030204" pitchFamily="34" charset="0"/>
              </a:rPr>
              <a:t> </a:t>
            </a:r>
            <a:r>
              <a:rPr lang="es-PE" sz="1600" dirty="0" err="1">
                <a:latin typeface="Arial Narrow" panose="020B0606020202030204" pitchFamily="34" charset="0"/>
              </a:rPr>
              <a:t>VALUE</a:t>
            </a:r>
            <a:endParaRPr lang="es-PE" sz="1600" dirty="0">
              <a:latin typeface="Arial Narrow" panose="020B0606020202030204" pitchFamily="34" charset="0"/>
            </a:endParaRPr>
          </a:p>
          <a:p>
            <a:r>
              <a:rPr lang="es-PE" sz="1600" dirty="0">
                <a:latin typeface="Arial Narrow" panose="020B0606020202030204" pitchFamily="34" charset="0"/>
              </a:rPr>
              <a:t>        1)      8500.000</a:t>
            </a:r>
          </a:p>
          <a:p>
            <a:r>
              <a:rPr lang="es-PE" sz="1600" dirty="0">
                <a:latin typeface="Arial Narrow" panose="020B0606020202030204" pitchFamily="34" charset="0"/>
              </a:rPr>
              <a:t>  VARIABLE   VALUE    REDUCED COST</a:t>
            </a:r>
          </a:p>
          <a:p>
            <a:r>
              <a:rPr lang="es-PE" sz="1600" dirty="0">
                <a:latin typeface="Arial Narrow" panose="020B0606020202030204" pitchFamily="34" charset="0"/>
              </a:rPr>
              <a:t>       X11         3.000000             0.000000</a:t>
            </a:r>
          </a:p>
          <a:p>
            <a:r>
              <a:rPr lang="es-PE" sz="1600" dirty="0">
                <a:latin typeface="Arial Narrow" panose="020B0606020202030204" pitchFamily="34" charset="0"/>
              </a:rPr>
              <a:t>       X12         0.000000         100.000000</a:t>
            </a:r>
          </a:p>
          <a:p>
            <a:r>
              <a:rPr lang="es-PE" sz="1600" dirty="0">
                <a:latin typeface="Arial Narrow" panose="020B0606020202030204" pitchFamily="34" charset="0"/>
              </a:rPr>
              <a:t>       </a:t>
            </a:r>
            <a:r>
              <a:rPr lang="es-PE" sz="1600" dirty="0" err="1">
                <a:latin typeface="Arial Narrow" panose="020B0606020202030204" pitchFamily="34" charset="0"/>
              </a:rPr>
              <a:t>X13</a:t>
            </a:r>
            <a:r>
              <a:rPr lang="es-PE" sz="1600" dirty="0">
                <a:latin typeface="Arial Narrow" panose="020B0606020202030204" pitchFamily="34" charset="0"/>
              </a:rPr>
              <a:t>         0.000000       1400.000000</a:t>
            </a:r>
          </a:p>
          <a:p>
            <a:r>
              <a:rPr lang="es-PE" sz="1600" dirty="0">
                <a:latin typeface="Arial Narrow" panose="020B0606020202030204" pitchFamily="34" charset="0"/>
              </a:rPr>
              <a:t>       X21         1.000000             0.000000</a:t>
            </a:r>
          </a:p>
          <a:p>
            <a:r>
              <a:rPr lang="es-PE" sz="1600" dirty="0">
                <a:latin typeface="Arial Narrow" panose="020B0606020202030204" pitchFamily="34" charset="0"/>
              </a:rPr>
              <a:t>       X22         1.000000             0.000000</a:t>
            </a:r>
          </a:p>
          <a:p>
            <a:r>
              <a:rPr lang="es-PE" sz="1600" dirty="0">
                <a:latin typeface="Arial Narrow" panose="020B0606020202030204" pitchFamily="34" charset="0"/>
              </a:rPr>
              <a:t>       </a:t>
            </a:r>
            <a:r>
              <a:rPr lang="es-PE" sz="1600" dirty="0" err="1">
                <a:latin typeface="Arial Narrow" panose="020B0606020202030204" pitchFamily="34" charset="0"/>
              </a:rPr>
              <a:t>X23</a:t>
            </a:r>
            <a:r>
              <a:rPr lang="es-PE" sz="1600" dirty="0">
                <a:latin typeface="Arial Narrow" panose="020B0606020202030204" pitchFamily="34" charset="0"/>
              </a:rPr>
              <a:t>         0.000000       1400.000000</a:t>
            </a:r>
          </a:p>
          <a:p>
            <a:r>
              <a:rPr lang="es-PE" sz="1600" dirty="0">
                <a:latin typeface="Arial Narrow" panose="020B0606020202030204" pitchFamily="34" charset="0"/>
              </a:rPr>
              <a:t>       X31         0.000000         500.000000</a:t>
            </a:r>
          </a:p>
          <a:p>
            <a:r>
              <a:rPr lang="es-PE" sz="1600" dirty="0">
                <a:latin typeface="Arial Narrow" panose="020B0606020202030204" pitchFamily="34" charset="0"/>
              </a:rPr>
              <a:t>       X32         1.000000             0.000000</a:t>
            </a:r>
          </a:p>
          <a:p>
            <a:r>
              <a:rPr lang="es-PE" sz="1600" dirty="0">
                <a:latin typeface="Arial Narrow" panose="020B0606020202030204" pitchFamily="34" charset="0"/>
              </a:rPr>
              <a:t>       X33         2.000000             0.000000</a:t>
            </a:r>
          </a:p>
          <a:p>
            <a:r>
              <a:rPr lang="es-PE" sz="1600" dirty="0">
                <a:latin typeface="Arial Narrow" panose="020B0606020202030204" pitchFamily="34" charset="0"/>
              </a:rPr>
              <a:t>   </a:t>
            </a:r>
          </a:p>
        </p:txBody>
      </p:sp>
    </p:spTree>
    <p:extLst>
      <p:ext uri="{BB962C8B-B14F-4D97-AF65-F5344CB8AC3E}">
        <p14:creationId xmlns:p14="http://schemas.microsoft.com/office/powerpoint/2010/main" val="3863213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2"/>
                                        </p:tgtEl>
                                        <p:attrNameLst>
                                          <p:attrName>style.visibility</p:attrName>
                                        </p:attrNameLst>
                                      </p:cBhvr>
                                      <p:to>
                                        <p:strVal val="visible"/>
                                      </p:to>
                                    </p:set>
                                    <p:anim calcmode="lin" valueType="num">
                                      <p:cBhvr additive="base">
                                        <p:cTn id="11" dur="500" fill="hold"/>
                                        <p:tgtEl>
                                          <p:spTgt spid="42"/>
                                        </p:tgtEl>
                                        <p:attrNameLst>
                                          <p:attrName>ppt_x</p:attrName>
                                        </p:attrNameLst>
                                      </p:cBhvr>
                                      <p:tavLst>
                                        <p:tav tm="0">
                                          <p:val>
                                            <p:strVal val="#ppt_x"/>
                                          </p:val>
                                        </p:tav>
                                        <p:tav tm="100000">
                                          <p:val>
                                            <p:strVal val="#ppt_x"/>
                                          </p:val>
                                        </p:tav>
                                      </p:tavLst>
                                    </p:anim>
                                    <p:anim calcmode="lin" valueType="num">
                                      <p:cBhvr additive="base">
                                        <p:cTn id="12"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8" name="CustomShape 1"/>
          <p:cNvSpPr/>
          <p:nvPr/>
        </p:nvSpPr>
        <p:spPr>
          <a:xfrm>
            <a:off x="1524000" y="239400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959" name="Table 2"/>
          <p:cNvGraphicFramePr/>
          <p:nvPr/>
        </p:nvGraphicFramePr>
        <p:xfrm>
          <a:off x="2952840" y="1268280"/>
          <a:ext cx="7429320" cy="3584448"/>
        </p:xfrm>
        <a:graphic>
          <a:graphicData uri="http://schemas.openxmlformats.org/drawingml/2006/table">
            <a:tbl>
              <a:tblPr/>
              <a:tblGrid>
                <a:gridCol w="1357200">
                  <a:extLst>
                    <a:ext uri="{9D8B030D-6E8A-4147-A177-3AD203B41FA5}">
                      <a16:colId xmlns:a16="http://schemas.microsoft.com/office/drawing/2014/main" val="20000"/>
                    </a:ext>
                  </a:extLst>
                </a:gridCol>
                <a:gridCol w="957960">
                  <a:extLst>
                    <a:ext uri="{9D8B030D-6E8A-4147-A177-3AD203B41FA5}">
                      <a16:colId xmlns:a16="http://schemas.microsoft.com/office/drawing/2014/main" val="20001"/>
                    </a:ext>
                  </a:extLst>
                </a:gridCol>
                <a:gridCol w="1041840">
                  <a:extLst>
                    <a:ext uri="{9D8B030D-6E8A-4147-A177-3AD203B41FA5}">
                      <a16:colId xmlns:a16="http://schemas.microsoft.com/office/drawing/2014/main" val="20002"/>
                    </a:ext>
                  </a:extLst>
                </a:gridCol>
                <a:gridCol w="1214280">
                  <a:extLst>
                    <a:ext uri="{9D8B030D-6E8A-4147-A177-3AD203B41FA5}">
                      <a16:colId xmlns:a16="http://schemas.microsoft.com/office/drawing/2014/main" val="20003"/>
                    </a:ext>
                  </a:extLst>
                </a:gridCol>
                <a:gridCol w="928440">
                  <a:extLst>
                    <a:ext uri="{9D8B030D-6E8A-4147-A177-3AD203B41FA5}">
                      <a16:colId xmlns:a16="http://schemas.microsoft.com/office/drawing/2014/main" val="20004"/>
                    </a:ext>
                  </a:extLst>
                </a:gridCol>
                <a:gridCol w="714240">
                  <a:extLst>
                    <a:ext uri="{9D8B030D-6E8A-4147-A177-3AD203B41FA5}">
                      <a16:colId xmlns:a16="http://schemas.microsoft.com/office/drawing/2014/main" val="20005"/>
                    </a:ext>
                  </a:extLst>
                </a:gridCol>
                <a:gridCol w="595080">
                  <a:extLst>
                    <a:ext uri="{9D8B030D-6E8A-4147-A177-3AD203B41FA5}">
                      <a16:colId xmlns:a16="http://schemas.microsoft.com/office/drawing/2014/main" val="20006"/>
                    </a:ext>
                  </a:extLst>
                </a:gridCol>
                <a:gridCol w="620280">
                  <a:extLst>
                    <a:ext uri="{9D8B030D-6E8A-4147-A177-3AD203B41FA5}">
                      <a16:colId xmlns:a16="http://schemas.microsoft.com/office/drawing/2014/main" val="20007"/>
                    </a:ext>
                  </a:extLst>
                </a:gridCol>
              </a:tblGrid>
              <a:tr h="425160">
                <a:tc>
                  <a:txBody>
                    <a:bodyPr/>
                    <a:lstStyle/>
                    <a:p>
                      <a:endParaRPr lang="en-US"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Dallas</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Denver</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Phoenix</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Oferta </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a:solidFill>
                            <a:schemeClr val="bg2">
                              <a:lumMod val="25000"/>
                            </a:schemeClr>
                          </a:solidFill>
                          <a:latin typeface="Arial Narrow"/>
                        </a:rPr>
                        <a:t>P</a:t>
                      </a:r>
                      <a:r>
                        <a:rPr lang="es-PE" sz="2400" b="1" strike="noStrike" spc="-1" baseline="-30000">
                          <a:solidFill>
                            <a:schemeClr val="bg2">
                              <a:lumMod val="25000"/>
                            </a:schemeClr>
                          </a:solidFill>
                          <a:latin typeface="Arial Narrow"/>
                        </a:rPr>
                        <a:t>1</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636120">
                <a:tc>
                  <a:txBody>
                    <a:bodyPr/>
                    <a:lstStyle/>
                    <a:p>
                      <a:pPr algn="ctr">
                        <a:lnSpc>
                          <a:spcPct val="95000"/>
                        </a:lnSpc>
                      </a:pPr>
                      <a:r>
                        <a:rPr lang="es-PE" sz="2400" b="1" strike="noStrike" spc="-1">
                          <a:solidFill>
                            <a:schemeClr val="bg2">
                              <a:lumMod val="25000"/>
                            </a:schemeClr>
                          </a:solidFill>
                          <a:latin typeface="Arial Narrow"/>
                        </a:rPr>
                        <a:t>Nueva York</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marL="0" algn="ctr" defTabSz="914400" rtl="0" eaLnBrk="1" latinLnBrk="0" hangingPunct="1">
                        <a:lnSpc>
                          <a:spcPct val="95000"/>
                        </a:lnSpc>
                      </a:pPr>
                      <a:r>
                        <a:rPr lang="es-PE" sz="2400" b="1" strike="noStrike" kern="1200" spc="-1" dirty="0">
                          <a:solidFill>
                            <a:schemeClr val="bg2">
                              <a:lumMod val="25000"/>
                            </a:schemeClr>
                          </a:solidFill>
                          <a:latin typeface="Arial Narrow"/>
                          <a:ea typeface="+mn-ea"/>
                          <a:cs typeface="+mn-cs"/>
                        </a:rPr>
                        <a:t>1600</a:t>
                      </a: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marL="0" algn="ctr" defTabSz="914400" rtl="0" eaLnBrk="1" latinLnBrk="0" hangingPunct="1">
                        <a:lnSpc>
                          <a:spcPct val="95000"/>
                        </a:lnSpc>
                      </a:pPr>
                      <a:r>
                        <a:rPr lang="es-PE" sz="2400" b="1" strike="noStrike" kern="1200" spc="-1" dirty="0">
                          <a:solidFill>
                            <a:schemeClr val="bg2">
                              <a:lumMod val="25000"/>
                            </a:schemeClr>
                          </a:solidFill>
                          <a:latin typeface="Arial Narrow"/>
                          <a:ea typeface="+mn-ea"/>
                          <a:cs typeface="+mn-cs"/>
                        </a:rPr>
                        <a:t>1800</a:t>
                      </a: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2500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tc>
                  <a:txBody>
                    <a:bodyPr/>
                    <a:lstStyle/>
                    <a:p>
                      <a:pPr algn="ctr">
                        <a:lnSpc>
                          <a:spcPct val="95000"/>
                        </a:lnSpc>
                      </a:pPr>
                      <a:r>
                        <a:rPr lang="es-PE" sz="2400" b="1" strike="noStrike" spc="-1">
                          <a:solidFill>
                            <a:schemeClr val="bg2">
                              <a:lumMod val="25000"/>
                            </a:schemeClr>
                          </a:solidFill>
                          <a:latin typeface="Arial Narrow"/>
                        </a:rPr>
                        <a:t>3</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200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636120">
                <a:tc>
                  <a:txBody>
                    <a:bodyPr/>
                    <a:lstStyle/>
                    <a:p>
                      <a:pPr algn="ctr">
                        <a:lnSpc>
                          <a:spcPct val="95000"/>
                        </a:lnSpc>
                      </a:pPr>
                      <a:r>
                        <a:rPr lang="es-PE" sz="2400" b="1" strike="noStrike" spc="-1" dirty="0">
                          <a:solidFill>
                            <a:schemeClr val="bg2">
                              <a:lumMod val="25000"/>
                            </a:schemeClr>
                          </a:solidFill>
                          <a:latin typeface="Arial Narrow"/>
                        </a:rPr>
                        <a:t>Chicago</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marL="0" algn="ctr" defTabSz="914400" rtl="0" eaLnBrk="1" latinLnBrk="0" hangingPunct="1">
                        <a:lnSpc>
                          <a:spcPct val="95000"/>
                        </a:lnSpc>
                      </a:pPr>
                      <a:r>
                        <a:rPr lang="es-PE" sz="2400" b="1" strike="noStrike" kern="1200" spc="-1" dirty="0">
                          <a:solidFill>
                            <a:schemeClr val="bg2">
                              <a:lumMod val="25000"/>
                            </a:schemeClr>
                          </a:solidFill>
                          <a:latin typeface="Arial Narrow"/>
                          <a:ea typeface="+mn-ea"/>
                          <a:cs typeface="+mn-cs"/>
                        </a:rPr>
                        <a:t>900</a:t>
                      </a: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marL="0" algn="ctr" defTabSz="914400" rtl="0" eaLnBrk="1" latinLnBrk="0" hangingPunct="1">
                        <a:lnSpc>
                          <a:spcPct val="95000"/>
                        </a:lnSpc>
                      </a:pPr>
                      <a:r>
                        <a:rPr lang="es-PE" sz="2400" b="1" strike="noStrike" kern="1200" spc="-1" dirty="0">
                          <a:solidFill>
                            <a:schemeClr val="bg2">
                              <a:lumMod val="25000"/>
                            </a:schemeClr>
                          </a:solidFill>
                          <a:latin typeface="Arial Narrow"/>
                          <a:ea typeface="+mn-ea"/>
                          <a:cs typeface="+mn-cs"/>
                        </a:rPr>
                        <a:t>1000</a:t>
                      </a: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1800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tc>
                  <a:txBody>
                    <a:bodyPr/>
                    <a:lstStyle/>
                    <a:p>
                      <a:pPr algn="ctr">
                        <a:lnSpc>
                          <a:spcPct val="95000"/>
                        </a:lnSpc>
                      </a:pPr>
                      <a:r>
                        <a:rPr lang="es-PE" sz="2400" b="1" strike="noStrike" spc="-1">
                          <a:solidFill>
                            <a:schemeClr val="bg2">
                              <a:lumMod val="25000"/>
                            </a:schemeClr>
                          </a:solidFill>
                          <a:latin typeface="Arial Narrow"/>
                        </a:rPr>
                        <a:t>2</a:t>
                      </a:r>
                      <a:endParaRPr lang="es-PE" sz="2400" b="0" strike="noStrike" spc="-1">
                        <a:solidFill>
                          <a:schemeClr val="bg2">
                            <a:lumMod val="25000"/>
                          </a:schemeClr>
                        </a:solidFill>
                        <a:latin typeface="Arial"/>
                      </a:endParaRPr>
                    </a:p>
                    <a:p>
                      <a:pPr algn="ctr">
                        <a:lnSpc>
                          <a:spcPct val="95000"/>
                        </a:lnSpc>
                      </a:pP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100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636120">
                <a:tc>
                  <a:txBody>
                    <a:bodyPr/>
                    <a:lstStyle/>
                    <a:p>
                      <a:pPr algn="ctr">
                        <a:lnSpc>
                          <a:spcPct val="95000"/>
                        </a:lnSpc>
                      </a:pPr>
                      <a:r>
                        <a:rPr lang="es-PE" sz="2400" b="1" strike="noStrike" spc="-1">
                          <a:solidFill>
                            <a:schemeClr val="bg2">
                              <a:lumMod val="25000"/>
                            </a:schemeClr>
                          </a:solidFill>
                          <a:latin typeface="Arial Narrow"/>
                        </a:rPr>
                        <a:t>Los Ángeles</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1400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1000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400</a:t>
                      </a:r>
                      <a:endParaRPr lang="es-PE" sz="2400" b="0" strike="noStrike" spc="-1" dirty="0">
                        <a:solidFill>
                          <a:schemeClr val="bg2">
                            <a:lumMod val="25000"/>
                          </a:schemeClr>
                        </a:solidFill>
                        <a:latin typeface="Arial"/>
                      </a:endParaRPr>
                    </a:p>
                    <a:p>
                      <a:pPr algn="ctr">
                        <a:lnSpc>
                          <a:spcPct val="95000"/>
                        </a:lnSpc>
                      </a:pPr>
                      <a:r>
                        <a:rPr lang="es-PE" sz="2400" b="1" strike="noStrike" spc="-1" dirty="0">
                          <a:solidFill>
                            <a:schemeClr val="bg2">
                              <a:lumMod val="25000"/>
                            </a:schemeClr>
                          </a:solidFill>
                          <a:latin typeface="Arial Narrow"/>
                        </a:rPr>
                        <a:t>*</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9D9D9"/>
                    </a:solidFill>
                  </a:tcPr>
                </a:tc>
                <a:tc>
                  <a:txBody>
                    <a:bodyPr/>
                    <a:lstStyle/>
                    <a:p>
                      <a:pPr algn="ctr">
                        <a:lnSpc>
                          <a:spcPct val="95000"/>
                        </a:lnSpc>
                      </a:pPr>
                      <a:r>
                        <a:rPr lang="es-PE" sz="2400" b="1" strike="noStrike" spc="-1">
                          <a:solidFill>
                            <a:schemeClr val="bg2">
                              <a:lumMod val="25000"/>
                            </a:schemeClr>
                          </a:solidFill>
                          <a:latin typeface="Arial Narrow"/>
                        </a:rPr>
                        <a:t>3      </a:t>
                      </a:r>
                      <a:endParaRPr lang="es-PE" sz="2400" b="0" strike="noStrike" spc="-1">
                        <a:solidFill>
                          <a:schemeClr val="bg2">
                            <a:lumMod val="25000"/>
                          </a:schemeClr>
                        </a:solidFill>
                        <a:latin typeface="Arial"/>
                      </a:endParaRPr>
                    </a:p>
                    <a:p>
                      <a:pPr algn="ctr">
                        <a:lnSpc>
                          <a:spcPct val="95000"/>
                        </a:lnSpc>
                      </a:pPr>
                      <a:r>
                        <a:rPr lang="es-PE" sz="2400" b="1" strike="noStrike" spc="-1">
                          <a:solidFill>
                            <a:schemeClr val="bg2">
                              <a:lumMod val="25000"/>
                            </a:schemeClr>
                          </a:solidFill>
                          <a:latin typeface="Arial Narrow"/>
                        </a:rPr>
                        <a:t>1</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nSpc>
                          <a:spcPct val="95000"/>
                        </a:lnSpc>
                        <a:spcBef>
                          <a:spcPts val="1199"/>
                        </a:spcBef>
                      </a:pPr>
                      <a:r>
                        <a:rPr lang="es-PE" sz="2400" b="1" strike="noStrike" spc="-1" dirty="0">
                          <a:solidFill>
                            <a:srgbClr val="FF0000"/>
                          </a:solidFill>
                          <a:latin typeface="Arial Narrow"/>
                        </a:rPr>
                        <a:t>600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1D528D"/>
                      </a:solidFill>
                    </a:lnB>
                    <a:noFill/>
                  </a:tcPr>
                </a:tc>
                <a:extLst>
                  <a:ext uri="{0D108BD9-81ED-4DB2-BD59-A6C34878D82A}">
                    <a16:rowId xmlns:a16="http://schemas.microsoft.com/office/drawing/2014/main" val="10003"/>
                  </a:ext>
                </a:extLst>
              </a:tr>
              <a:tr h="636120">
                <a:tc>
                  <a:txBody>
                    <a:bodyPr/>
                    <a:lstStyle/>
                    <a:p>
                      <a:pPr algn="ctr">
                        <a:lnSpc>
                          <a:spcPct val="95000"/>
                        </a:lnSpc>
                      </a:pPr>
                      <a:r>
                        <a:rPr lang="es-PE" sz="2400" b="1" strike="noStrike" spc="-1">
                          <a:solidFill>
                            <a:schemeClr val="bg2">
                              <a:lumMod val="25000"/>
                            </a:schemeClr>
                          </a:solidFill>
                          <a:latin typeface="Arial Narrow"/>
                        </a:rPr>
                        <a:t>Demanda </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4</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2</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2</a:t>
                      </a:r>
                      <a:endParaRPr lang="es-PE" sz="2400" b="0" strike="noStrike" spc="-1">
                        <a:solidFill>
                          <a:schemeClr val="bg2">
                            <a:lumMod val="25000"/>
                          </a:schemeClr>
                        </a:solidFill>
                        <a:latin typeface="Arial"/>
                      </a:endParaRPr>
                    </a:p>
                    <a:p>
                      <a:pPr algn="ctr">
                        <a:lnSpc>
                          <a:spcPct val="95000"/>
                        </a:lnSpc>
                      </a:pPr>
                      <a:r>
                        <a:rPr lang="es-PE" sz="2400" b="1" strike="noStrike" spc="-1">
                          <a:solidFill>
                            <a:schemeClr val="bg2">
                              <a:lumMod val="25000"/>
                            </a:schemeClr>
                          </a:solidFill>
                          <a:latin typeface="Arial Narrow"/>
                        </a:rPr>
                        <a:t>0</a:t>
                      </a:r>
                      <a:endParaRPr lang="es-PE" sz="2400" b="0" strike="noStrike" spc="-1">
                        <a:solidFill>
                          <a:schemeClr val="bg2">
                            <a:lumMod val="25000"/>
                          </a:schemeClr>
                        </a:solidFill>
                        <a:latin typeface="Arial"/>
                      </a:endParaRPr>
                    </a:p>
                  </a:txBody>
                  <a:tcPr>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1D528D"/>
                      </a:solidFill>
                    </a:lnL>
                    <a:lnR w="12240">
                      <a:noFill/>
                    </a:lnR>
                    <a:lnT w="12240">
                      <a:solidFill>
                        <a:srgbClr val="1D528D"/>
                      </a:solidFill>
                    </a:lnT>
                    <a:lnB w="12240">
                      <a:noFill/>
                    </a:lnB>
                    <a:noFill/>
                  </a:tcPr>
                </a:tc>
                <a:tc>
                  <a:txBody>
                    <a:bodyPr/>
                    <a:lstStyle/>
                    <a:p>
                      <a:endParaRPr lang="en-US">
                        <a:solidFill>
                          <a:schemeClr val="bg2">
                            <a:lumMod val="25000"/>
                          </a:schemeClr>
                        </a:solidFill>
                      </a:endParaRPr>
                    </a:p>
                  </a:txBody>
                  <a:tcPr>
                    <a:lnL w="12240">
                      <a:noFill/>
                    </a:lnL>
                    <a:lnR w="12240">
                      <a:noFill/>
                    </a:lnR>
                    <a:lnT w="12240">
                      <a:solidFill>
                        <a:srgbClr val="1D528D"/>
                      </a:solidFill>
                    </a:lnT>
                    <a:lnB w="12240">
                      <a:noFill/>
                    </a:lnB>
                    <a:noFill/>
                  </a:tcPr>
                </a:tc>
                <a:tc>
                  <a:txBody>
                    <a:bodyPr/>
                    <a:lstStyle/>
                    <a:p>
                      <a:endParaRPr lang="en-US">
                        <a:solidFill>
                          <a:schemeClr val="bg2">
                            <a:lumMod val="25000"/>
                          </a:schemeClr>
                        </a:solidFill>
                      </a:endParaRPr>
                    </a:p>
                  </a:txBody>
                  <a:tcPr>
                    <a:lnL w="12240">
                      <a:noFill/>
                    </a:lnL>
                    <a:lnR w="12240">
                      <a:noFill/>
                    </a:lnR>
                    <a:lnT w="12240">
                      <a:solidFill>
                        <a:srgbClr val="1D528D"/>
                      </a:solidFill>
                    </a:lnT>
                    <a:lnB w="12240">
                      <a:noFill/>
                    </a:lnB>
                    <a:noFill/>
                  </a:tcPr>
                </a:tc>
                <a:tc>
                  <a:txBody>
                    <a:bodyPr/>
                    <a:lstStyle/>
                    <a:p>
                      <a:endParaRPr lang="en-US" dirty="0">
                        <a:solidFill>
                          <a:schemeClr val="bg2">
                            <a:lumMod val="25000"/>
                          </a:schemeClr>
                        </a:solidFill>
                      </a:endParaRPr>
                    </a:p>
                  </a:txBody>
                  <a:tcPr>
                    <a:lnL w="12240">
                      <a:noFill/>
                    </a:lnL>
                    <a:lnR w="12240">
                      <a:noFill/>
                    </a:lnR>
                    <a:lnT w="12240">
                      <a:solidFill>
                        <a:srgbClr val="1D528D"/>
                      </a:solidFill>
                    </a:lnT>
                    <a:lnB w="12240">
                      <a:noFill/>
                    </a:lnB>
                    <a:noFill/>
                  </a:tcPr>
                </a:tc>
                <a:extLst>
                  <a:ext uri="{0D108BD9-81ED-4DB2-BD59-A6C34878D82A}">
                    <a16:rowId xmlns:a16="http://schemas.microsoft.com/office/drawing/2014/main" val="10004"/>
                  </a:ext>
                </a:extLst>
              </a:tr>
            </a:tbl>
          </a:graphicData>
        </a:graphic>
      </p:graphicFrame>
      <p:sp>
        <p:nvSpPr>
          <p:cNvPr id="960" name="CustomShape 3"/>
          <p:cNvSpPr/>
          <p:nvPr/>
        </p:nvSpPr>
        <p:spPr>
          <a:xfrm>
            <a:off x="1524000" y="277488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961" name="Table 4"/>
          <p:cNvGraphicFramePr/>
          <p:nvPr/>
        </p:nvGraphicFramePr>
        <p:xfrm>
          <a:off x="2952840" y="5351400"/>
          <a:ext cx="4571640" cy="1251792"/>
        </p:xfrm>
        <a:graphic>
          <a:graphicData uri="http://schemas.openxmlformats.org/drawingml/2006/table">
            <a:tbl>
              <a:tblPr/>
              <a:tblGrid>
                <a:gridCol w="1357200">
                  <a:extLst>
                    <a:ext uri="{9D8B030D-6E8A-4147-A177-3AD203B41FA5}">
                      <a16:colId xmlns:a16="http://schemas.microsoft.com/office/drawing/2014/main" val="20000"/>
                    </a:ext>
                  </a:extLst>
                </a:gridCol>
                <a:gridCol w="1000080">
                  <a:extLst>
                    <a:ext uri="{9D8B030D-6E8A-4147-A177-3AD203B41FA5}">
                      <a16:colId xmlns:a16="http://schemas.microsoft.com/office/drawing/2014/main" val="20001"/>
                    </a:ext>
                  </a:extLst>
                </a:gridCol>
                <a:gridCol w="1000080">
                  <a:extLst>
                    <a:ext uri="{9D8B030D-6E8A-4147-A177-3AD203B41FA5}">
                      <a16:colId xmlns:a16="http://schemas.microsoft.com/office/drawing/2014/main" val="20002"/>
                    </a:ext>
                  </a:extLst>
                </a:gridCol>
                <a:gridCol w="1214280">
                  <a:extLst>
                    <a:ext uri="{9D8B030D-6E8A-4147-A177-3AD203B41FA5}">
                      <a16:colId xmlns:a16="http://schemas.microsoft.com/office/drawing/2014/main" val="20003"/>
                    </a:ext>
                  </a:extLst>
                </a:gridCol>
              </a:tblGrid>
              <a:tr h="425160">
                <a:tc>
                  <a:txBody>
                    <a:bodyPr/>
                    <a:lstStyle/>
                    <a:p>
                      <a:pPr algn="r">
                        <a:lnSpc>
                          <a:spcPct val="95000"/>
                        </a:lnSpc>
                      </a:pPr>
                      <a:r>
                        <a:rPr lang="es-PE" sz="2400" b="1" strike="noStrike" spc="-1" dirty="0" err="1">
                          <a:solidFill>
                            <a:schemeClr val="bg2">
                              <a:lumMod val="25000"/>
                            </a:schemeClr>
                          </a:solidFill>
                          <a:latin typeface="Arial Narrow"/>
                        </a:rPr>
                        <a:t>P</a:t>
                      </a:r>
                      <a:r>
                        <a:rPr lang="es-PE" sz="2400" b="1" strike="noStrike" spc="-1" baseline="-30000" dirty="0" err="1">
                          <a:solidFill>
                            <a:schemeClr val="bg2">
                              <a:lumMod val="25000"/>
                            </a:schemeClr>
                          </a:solidFill>
                          <a:latin typeface="Arial Narrow"/>
                        </a:rPr>
                        <a:t>1</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500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800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1400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406440">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406440">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bl>
          </a:graphicData>
        </a:graphic>
      </p:graphicFrame>
      <p:graphicFrame>
        <p:nvGraphicFramePr>
          <p:cNvPr id="2" name="1 Diagrama"/>
          <p:cNvGraphicFramePr/>
          <p:nvPr/>
        </p:nvGraphicFramePr>
        <p:xfrm>
          <a:off x="7831919" y="4554747"/>
          <a:ext cx="2528405" cy="5298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CustomShape 5">
            <a:extLst>
              <a:ext uri="{FF2B5EF4-FFF2-40B4-BE49-F238E27FC236}">
                <a16:creationId xmlns:a16="http://schemas.microsoft.com/office/drawing/2014/main" id="{63D7FD22-53A8-4F24-AA99-9ED9FA175E9F}"/>
              </a:ext>
            </a:extLst>
          </p:cNvPr>
          <p:cNvSpPr/>
          <p:nvPr/>
        </p:nvSpPr>
        <p:spPr>
          <a:xfrm>
            <a:off x="6096000" y="163488"/>
            <a:ext cx="6096000" cy="56304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lnSpc>
                <a:spcPts val="5800"/>
              </a:lnSpc>
              <a:spcBef>
                <a:spcPct val="0"/>
              </a:spcBef>
            </a:pPr>
            <a:r>
              <a:rPr lang="es-PE" sz="3200" dirty="0">
                <a:solidFill>
                  <a:schemeClr val="bg1"/>
                </a:solidFill>
                <a:effectLst>
                  <a:outerShdw blurRad="63500" dist="38100" dir="5400000" algn="t" rotWithShape="0">
                    <a:prstClr val="black">
                      <a:alpha val="25000"/>
                    </a:prstClr>
                  </a:outerShdw>
                </a:effectLst>
                <a:latin typeface="Bauhaus 93" pitchFamily="82" charset="0"/>
              </a:rPr>
              <a:t>Método Vogel</a:t>
            </a:r>
          </a:p>
        </p:txBody>
      </p:sp>
      <p:sp>
        <p:nvSpPr>
          <p:cNvPr id="9" name="CuadroTexto 8">
            <a:extLst>
              <a:ext uri="{FF2B5EF4-FFF2-40B4-BE49-F238E27FC236}">
                <a16:creationId xmlns:a16="http://schemas.microsoft.com/office/drawing/2014/main" id="{91A7E87A-6257-4A82-93D1-EE1639B6C58A}"/>
              </a:ext>
            </a:extLst>
          </p:cNvPr>
          <p:cNvSpPr txBox="1"/>
          <p:nvPr/>
        </p:nvSpPr>
        <p:spPr>
          <a:xfrm>
            <a:off x="258793" y="2191109"/>
            <a:ext cx="1380226" cy="646331"/>
          </a:xfrm>
          <a:prstGeom prst="rect">
            <a:avLst/>
          </a:prstGeom>
          <a:solidFill>
            <a:srgbClr val="FFFF00"/>
          </a:solidFill>
        </p:spPr>
        <p:txBody>
          <a:bodyPr wrap="square" rtlCol="0">
            <a:spAutoFit/>
          </a:bodyPr>
          <a:lstStyle/>
          <a:p>
            <a:r>
              <a:rPr lang="es-ES" b="1" dirty="0"/>
              <a:t>Hallamos las penalidades</a:t>
            </a:r>
          </a:p>
        </p:txBody>
      </p:sp>
      <p:sp>
        <p:nvSpPr>
          <p:cNvPr id="10" name="Rectángulo 9">
            <a:extLst>
              <a:ext uri="{FF2B5EF4-FFF2-40B4-BE49-F238E27FC236}">
                <a16:creationId xmlns:a16="http://schemas.microsoft.com/office/drawing/2014/main" id="{07EED747-9EEC-489C-953A-0B57864F675E}"/>
              </a:ext>
            </a:extLst>
          </p:cNvPr>
          <p:cNvSpPr/>
          <p:nvPr/>
        </p:nvSpPr>
        <p:spPr>
          <a:xfrm>
            <a:off x="258136" y="3054556"/>
            <a:ext cx="1372258" cy="923330"/>
          </a:xfrm>
          <a:prstGeom prst="rect">
            <a:avLst/>
          </a:prstGeom>
          <a:solidFill>
            <a:srgbClr val="FFFF00"/>
          </a:solidFill>
        </p:spPr>
        <p:txBody>
          <a:bodyPr wrap="square">
            <a:spAutoFit/>
          </a:bodyPr>
          <a:lstStyle/>
          <a:p>
            <a:r>
              <a:rPr lang="es-ES" b="1" dirty="0"/>
              <a:t>Hallamos la mayor penalidad</a:t>
            </a:r>
            <a:endParaRPr lang="es-PE" b="1" dirty="0"/>
          </a:p>
        </p:txBody>
      </p:sp>
      <p:sp>
        <p:nvSpPr>
          <p:cNvPr id="11" name="CuadroTexto 10">
            <a:extLst>
              <a:ext uri="{FF2B5EF4-FFF2-40B4-BE49-F238E27FC236}">
                <a16:creationId xmlns:a16="http://schemas.microsoft.com/office/drawing/2014/main" id="{E79BA6A3-ED03-450F-B313-4AC97D77D6F8}"/>
              </a:ext>
            </a:extLst>
          </p:cNvPr>
          <p:cNvSpPr txBox="1"/>
          <p:nvPr/>
        </p:nvSpPr>
        <p:spPr>
          <a:xfrm>
            <a:off x="264551" y="4198193"/>
            <a:ext cx="1380226" cy="646331"/>
          </a:xfrm>
          <a:prstGeom prst="rect">
            <a:avLst/>
          </a:prstGeom>
          <a:solidFill>
            <a:srgbClr val="FFFF00"/>
          </a:solidFill>
        </p:spPr>
        <p:txBody>
          <a:bodyPr wrap="square" rtlCol="0">
            <a:spAutoFit/>
          </a:bodyPr>
          <a:lstStyle/>
          <a:p>
            <a:r>
              <a:rPr lang="es-ES" b="1" dirty="0"/>
              <a:t>Hallamos el menor costo</a:t>
            </a:r>
          </a:p>
        </p:txBody>
      </p:sp>
      <p:sp>
        <p:nvSpPr>
          <p:cNvPr id="12" name="CuadroTexto 11">
            <a:extLst>
              <a:ext uri="{FF2B5EF4-FFF2-40B4-BE49-F238E27FC236}">
                <a16:creationId xmlns:a16="http://schemas.microsoft.com/office/drawing/2014/main" id="{AF377540-CEAA-4C8E-9162-188565D258F0}"/>
              </a:ext>
            </a:extLst>
          </p:cNvPr>
          <p:cNvSpPr txBox="1"/>
          <p:nvPr/>
        </p:nvSpPr>
        <p:spPr>
          <a:xfrm>
            <a:off x="264551" y="5086705"/>
            <a:ext cx="1380226" cy="646331"/>
          </a:xfrm>
          <a:prstGeom prst="rect">
            <a:avLst/>
          </a:prstGeom>
          <a:solidFill>
            <a:srgbClr val="FFFF00"/>
          </a:solidFill>
        </p:spPr>
        <p:txBody>
          <a:bodyPr wrap="square" rtlCol="0">
            <a:spAutoFit/>
          </a:bodyPr>
          <a:lstStyle/>
          <a:p>
            <a:r>
              <a:rPr lang="es-ES" b="1" dirty="0"/>
              <a:t>Anotamos la operación</a:t>
            </a:r>
          </a:p>
        </p:txBody>
      </p:sp>
      <p:sp>
        <p:nvSpPr>
          <p:cNvPr id="13" name="Globo: flecha hacia abajo 12">
            <a:extLst>
              <a:ext uri="{FF2B5EF4-FFF2-40B4-BE49-F238E27FC236}">
                <a16:creationId xmlns:a16="http://schemas.microsoft.com/office/drawing/2014/main" id="{A4DB5703-B34E-42E3-8917-8480D05BB918}"/>
              </a:ext>
            </a:extLst>
          </p:cNvPr>
          <p:cNvSpPr/>
          <p:nvPr/>
        </p:nvSpPr>
        <p:spPr>
          <a:xfrm>
            <a:off x="276044" y="1276709"/>
            <a:ext cx="1345721" cy="897148"/>
          </a:xfrm>
          <a:prstGeom prst="downArrowCallou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rgbClr val="FF0000"/>
                </a:solidFill>
              </a:rPr>
              <a:t>Pasos:</a:t>
            </a:r>
            <a:endParaRPr lang="es-PE" sz="2400" dirty="0">
              <a:solidFill>
                <a:srgbClr val="FF0000"/>
              </a:solidFill>
            </a:endParaRPr>
          </a:p>
        </p:txBody>
      </p:sp>
    </p:spTree>
    <p:extLst>
      <p:ext uri="{BB962C8B-B14F-4D97-AF65-F5344CB8AC3E}">
        <p14:creationId xmlns:p14="http://schemas.microsoft.com/office/powerpoint/2010/main" val="1663161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4" name="CustomShape 1"/>
          <p:cNvSpPr/>
          <p:nvPr/>
        </p:nvSpPr>
        <p:spPr>
          <a:xfrm>
            <a:off x="1524000" y="239400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965" name="Table 2"/>
          <p:cNvGraphicFramePr/>
          <p:nvPr/>
        </p:nvGraphicFramePr>
        <p:xfrm>
          <a:off x="2952840" y="1268280"/>
          <a:ext cx="7429320" cy="3584448"/>
        </p:xfrm>
        <a:graphic>
          <a:graphicData uri="http://schemas.openxmlformats.org/drawingml/2006/table">
            <a:tbl>
              <a:tblPr/>
              <a:tblGrid>
                <a:gridCol w="1328760">
                  <a:extLst>
                    <a:ext uri="{9D8B030D-6E8A-4147-A177-3AD203B41FA5}">
                      <a16:colId xmlns:a16="http://schemas.microsoft.com/office/drawing/2014/main" val="20000"/>
                    </a:ext>
                  </a:extLst>
                </a:gridCol>
                <a:gridCol w="975960">
                  <a:extLst>
                    <a:ext uri="{9D8B030D-6E8A-4147-A177-3AD203B41FA5}">
                      <a16:colId xmlns:a16="http://schemas.microsoft.com/office/drawing/2014/main" val="20001"/>
                    </a:ext>
                  </a:extLst>
                </a:gridCol>
                <a:gridCol w="1083960">
                  <a:extLst>
                    <a:ext uri="{9D8B030D-6E8A-4147-A177-3AD203B41FA5}">
                      <a16:colId xmlns:a16="http://schemas.microsoft.com/office/drawing/2014/main" val="20002"/>
                    </a:ext>
                  </a:extLst>
                </a:gridCol>
                <a:gridCol w="1205640">
                  <a:extLst>
                    <a:ext uri="{9D8B030D-6E8A-4147-A177-3AD203B41FA5}">
                      <a16:colId xmlns:a16="http://schemas.microsoft.com/office/drawing/2014/main" val="20003"/>
                    </a:ext>
                  </a:extLst>
                </a:gridCol>
                <a:gridCol w="993600">
                  <a:extLst>
                    <a:ext uri="{9D8B030D-6E8A-4147-A177-3AD203B41FA5}">
                      <a16:colId xmlns:a16="http://schemas.microsoft.com/office/drawing/2014/main" val="20004"/>
                    </a:ext>
                  </a:extLst>
                </a:gridCol>
                <a:gridCol w="769320">
                  <a:extLst>
                    <a:ext uri="{9D8B030D-6E8A-4147-A177-3AD203B41FA5}">
                      <a16:colId xmlns:a16="http://schemas.microsoft.com/office/drawing/2014/main" val="20005"/>
                    </a:ext>
                  </a:extLst>
                </a:gridCol>
                <a:gridCol w="714240">
                  <a:extLst>
                    <a:ext uri="{9D8B030D-6E8A-4147-A177-3AD203B41FA5}">
                      <a16:colId xmlns:a16="http://schemas.microsoft.com/office/drawing/2014/main" val="20006"/>
                    </a:ext>
                  </a:extLst>
                </a:gridCol>
                <a:gridCol w="357840">
                  <a:extLst>
                    <a:ext uri="{9D8B030D-6E8A-4147-A177-3AD203B41FA5}">
                      <a16:colId xmlns:a16="http://schemas.microsoft.com/office/drawing/2014/main" val="20007"/>
                    </a:ext>
                  </a:extLst>
                </a:gridCol>
              </a:tblGrid>
              <a:tr h="425160">
                <a:tc>
                  <a:txBody>
                    <a:bodyPr/>
                    <a:lstStyle/>
                    <a:p>
                      <a:endParaRPr lang="en-US" dirty="0">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Narrow"/>
                        </a:rPr>
                        <a:t>Dallas</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Narrow"/>
                        </a:rPr>
                        <a:t>Denver</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Narrow"/>
                        </a:rPr>
                        <a:t>Phoenix</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Narrow"/>
                        </a:rPr>
                        <a:t>Oferta </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a:solidFill>
                            <a:schemeClr val="tx1"/>
                          </a:solidFill>
                          <a:latin typeface="Arial Narrow"/>
                        </a:rPr>
                        <a:t>P</a:t>
                      </a:r>
                      <a:r>
                        <a:rPr lang="es-PE" sz="2400" b="1" strike="noStrike" spc="-1" baseline="-30000">
                          <a:solidFill>
                            <a:schemeClr val="tx1"/>
                          </a:solidFill>
                          <a:latin typeface="Arial Narrow"/>
                        </a:rPr>
                        <a:t>1</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a:solidFill>
                            <a:schemeClr val="tx1"/>
                          </a:solidFill>
                          <a:latin typeface="Arial Narrow"/>
                        </a:rPr>
                        <a:t>P</a:t>
                      </a:r>
                      <a:r>
                        <a:rPr lang="es-PE" sz="2400" b="1" strike="noStrike" spc="-1" baseline="-30000">
                          <a:solidFill>
                            <a:schemeClr val="tx1"/>
                          </a:solidFill>
                          <a:latin typeface="Arial Narrow"/>
                        </a:rPr>
                        <a:t>2</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636120">
                <a:tc>
                  <a:txBody>
                    <a:bodyPr/>
                    <a:lstStyle/>
                    <a:p>
                      <a:pPr algn="ctr">
                        <a:lnSpc>
                          <a:spcPct val="95000"/>
                        </a:lnSpc>
                      </a:pPr>
                      <a:r>
                        <a:rPr lang="es-PE" sz="2400" b="1" strike="noStrike" spc="-1">
                          <a:solidFill>
                            <a:schemeClr val="tx1"/>
                          </a:solidFill>
                          <a:latin typeface="Arial Narrow"/>
                        </a:rPr>
                        <a:t>Nueva York</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Narrow"/>
                        </a:rPr>
                        <a:t>1600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Narrow"/>
                        </a:rPr>
                        <a:t>1800</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EE7FD"/>
                    </a:solid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a:solidFill>
                            <a:schemeClr val="tx1"/>
                          </a:solidFill>
                          <a:latin typeface="Arial Narrow"/>
                        </a:rPr>
                        <a:t>3</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Narrow"/>
                        </a:rPr>
                        <a:t>200</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200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363960">
                <a:tc>
                  <a:txBody>
                    <a:bodyPr/>
                    <a:lstStyle/>
                    <a:p>
                      <a:pPr algn="ctr">
                        <a:lnSpc>
                          <a:spcPct val="95000"/>
                        </a:lnSpc>
                      </a:pPr>
                      <a:r>
                        <a:rPr lang="es-PE" sz="2400" b="1" strike="noStrike" spc="-1">
                          <a:solidFill>
                            <a:schemeClr val="tx1"/>
                          </a:solidFill>
                          <a:latin typeface="Arial Narrow"/>
                        </a:rPr>
                        <a:t>Chicago</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Narrow"/>
                        </a:rPr>
                        <a:t>900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Narrow"/>
                        </a:rPr>
                        <a:t>1000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EE7FD"/>
                    </a:solid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a:solidFill>
                            <a:schemeClr val="tx1"/>
                          </a:solidFill>
                          <a:latin typeface="Arial Narrow"/>
                        </a:rPr>
                        <a:t>2</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Narrow"/>
                        </a:rPr>
                        <a:t>100</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100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908280">
                <a:tc>
                  <a:txBody>
                    <a:bodyPr/>
                    <a:lstStyle/>
                    <a:p>
                      <a:pPr algn="ctr">
                        <a:lnSpc>
                          <a:spcPct val="95000"/>
                        </a:lnSpc>
                      </a:pPr>
                      <a:r>
                        <a:rPr lang="es-PE" sz="2400" b="1" strike="noStrike" spc="-1">
                          <a:solidFill>
                            <a:schemeClr val="tx1"/>
                          </a:solidFill>
                          <a:latin typeface="Arial Narrow"/>
                        </a:rPr>
                        <a:t>Los Angeles</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Narrow"/>
                        </a:rPr>
                        <a:t>1400</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Narrow"/>
                        </a:rPr>
                        <a:t>1000</a:t>
                      </a:r>
                      <a:endParaRPr lang="es-PE" sz="2400" b="0" strike="noStrike" spc="-1" dirty="0">
                        <a:solidFill>
                          <a:schemeClr val="tx1"/>
                        </a:solidFill>
                        <a:latin typeface="Arial"/>
                      </a:endParaRPr>
                    </a:p>
                    <a:p>
                      <a:pPr algn="ctr">
                        <a:lnSpc>
                          <a:spcPct val="95000"/>
                        </a:lnSpc>
                      </a:pPr>
                      <a:r>
                        <a:rPr lang="es-PE" sz="2400" b="1" strike="noStrike" spc="-1" dirty="0">
                          <a:solidFill>
                            <a:schemeClr val="tx1"/>
                          </a:solidFill>
                          <a:latin typeface="Arial Narrow"/>
                        </a:rPr>
                        <a:t>*</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EE7FD"/>
                    </a:solid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a:solidFill>
                            <a:schemeClr val="tx1"/>
                          </a:solidFill>
                          <a:latin typeface="Arial Narrow"/>
                        </a:rPr>
                        <a:t>3</a:t>
                      </a:r>
                      <a:endParaRPr lang="es-PE" sz="2400" b="0" strike="noStrike" spc="-1">
                        <a:solidFill>
                          <a:schemeClr val="tx1"/>
                        </a:solidFill>
                        <a:latin typeface="Arial"/>
                      </a:endParaRPr>
                    </a:p>
                    <a:p>
                      <a:pPr algn="ctr">
                        <a:lnSpc>
                          <a:spcPct val="95000"/>
                        </a:lnSpc>
                      </a:pPr>
                      <a:r>
                        <a:rPr lang="es-PE" sz="2400" b="1" strike="noStrike" spc="-1">
                          <a:solidFill>
                            <a:schemeClr val="tx1"/>
                          </a:solidFill>
                          <a:latin typeface="Arial Narrow"/>
                        </a:rPr>
                        <a:t>1</a:t>
                      </a:r>
                      <a:endParaRPr lang="es-PE" sz="2400" b="0" strike="noStrike" spc="-1">
                        <a:solidFill>
                          <a:schemeClr val="tx1"/>
                        </a:solidFill>
                        <a:latin typeface="Arial"/>
                      </a:endParaRPr>
                    </a:p>
                    <a:p>
                      <a:pPr algn="ctr">
                        <a:lnSpc>
                          <a:spcPct val="95000"/>
                        </a:lnSpc>
                      </a:pPr>
                      <a:r>
                        <a:rPr lang="es-PE" sz="2400" b="1" strike="noStrike" spc="-1">
                          <a:solidFill>
                            <a:schemeClr val="tx1"/>
                          </a:solidFill>
                          <a:latin typeface="Arial Narrow"/>
                        </a:rPr>
                        <a:t>0</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nSpc>
                          <a:spcPct val="95000"/>
                        </a:lnSpc>
                        <a:spcBef>
                          <a:spcPts val="1199"/>
                        </a:spcBef>
                      </a:pPr>
                      <a:r>
                        <a:rPr lang="es-PE" sz="2400" b="1" strike="noStrike" spc="-1">
                          <a:solidFill>
                            <a:schemeClr val="tx1"/>
                          </a:solidFill>
                          <a:latin typeface="Arial Narrow"/>
                        </a:rPr>
                        <a:t>600</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nSpc>
                          <a:spcPct val="95000"/>
                        </a:lnSpc>
                        <a:spcBef>
                          <a:spcPts val="1199"/>
                        </a:spcBef>
                      </a:pPr>
                      <a:r>
                        <a:rPr lang="es-PE" sz="2400" b="1" strike="noStrike" spc="-1" dirty="0">
                          <a:solidFill>
                            <a:srgbClr val="FF0000"/>
                          </a:solidFill>
                          <a:latin typeface="Arial Narrow"/>
                        </a:rPr>
                        <a:t>400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endParaRPr lang="en-US">
                        <a:solidFill>
                          <a:schemeClr val="tx1"/>
                        </a:solidFill>
                      </a:endParaRPr>
                    </a:p>
                  </a:txBody>
                  <a:tcPr>
                    <a:lnL w="12240">
                      <a:solidFill>
                        <a:srgbClr val="000000"/>
                      </a:solidFill>
                    </a:lnL>
                    <a:lnR w="12240">
                      <a:solidFill>
                        <a:srgbClr val="000000"/>
                      </a:solidFill>
                    </a:lnR>
                    <a:lnT w="12240">
                      <a:solidFill>
                        <a:srgbClr val="000000"/>
                      </a:solidFill>
                    </a:lnT>
                    <a:lnB w="12240">
                      <a:solidFill>
                        <a:srgbClr val="1D528D"/>
                      </a:solidFill>
                    </a:lnB>
                    <a:noFill/>
                  </a:tcPr>
                </a:tc>
                <a:extLst>
                  <a:ext uri="{0D108BD9-81ED-4DB2-BD59-A6C34878D82A}">
                    <a16:rowId xmlns:a16="http://schemas.microsoft.com/office/drawing/2014/main" val="10003"/>
                  </a:ext>
                </a:extLst>
              </a:tr>
              <a:tr h="636120">
                <a:tc>
                  <a:txBody>
                    <a:bodyPr/>
                    <a:lstStyle/>
                    <a:p>
                      <a:pPr algn="ctr">
                        <a:lnSpc>
                          <a:spcPct val="95000"/>
                        </a:lnSpc>
                      </a:pPr>
                      <a:r>
                        <a:rPr lang="es-PE" sz="2400" b="1" strike="noStrike" spc="-1">
                          <a:solidFill>
                            <a:schemeClr val="tx1"/>
                          </a:solidFill>
                          <a:latin typeface="Arial Narrow"/>
                        </a:rPr>
                        <a:t>Demanda</a:t>
                      </a:r>
                      <a:r>
                        <a:rPr lang="es-PE" sz="2400" b="0" strike="noStrike" spc="-1">
                          <a:solidFill>
                            <a:schemeClr val="tx1"/>
                          </a:solidFill>
                          <a:latin typeface="Arial Narrow"/>
                        </a:rPr>
                        <a:t> </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Narrow"/>
                        </a:rPr>
                        <a:t>4</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Narrow"/>
                        </a:rPr>
                        <a:t>2</a:t>
                      </a:r>
                      <a:endParaRPr lang="es-PE" sz="2400" b="0" strike="noStrike" spc="-1">
                        <a:solidFill>
                          <a:schemeClr val="tx1"/>
                        </a:solidFill>
                        <a:latin typeface="Arial"/>
                      </a:endParaRPr>
                    </a:p>
                    <a:p>
                      <a:pPr algn="ctr">
                        <a:lnSpc>
                          <a:spcPct val="95000"/>
                        </a:lnSpc>
                      </a:pPr>
                      <a:r>
                        <a:rPr lang="es-PE" sz="2400" b="1" strike="noStrike" spc="-1">
                          <a:solidFill>
                            <a:schemeClr val="tx1"/>
                          </a:solidFill>
                          <a:latin typeface="Arial Narrow"/>
                        </a:rPr>
                        <a:t>1</a:t>
                      </a:r>
                      <a:endParaRPr lang="es-PE" sz="2400" b="0" strike="noStrike" spc="-1">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tx1"/>
                          </a:solidFill>
                          <a:latin typeface="Arial Narrow"/>
                        </a:rPr>
                        <a:t>2</a:t>
                      </a:r>
                      <a:endParaRPr lang="es-PE" sz="2400" b="0" strike="noStrike" spc="-1">
                        <a:solidFill>
                          <a:schemeClr val="tx1"/>
                        </a:solidFill>
                        <a:latin typeface="Arial"/>
                      </a:endParaRPr>
                    </a:p>
                    <a:p>
                      <a:pPr algn="ctr">
                        <a:lnSpc>
                          <a:spcPct val="95000"/>
                        </a:lnSpc>
                      </a:pPr>
                      <a:r>
                        <a:rPr lang="es-PE" sz="2400" b="1" strike="noStrike" spc="-1">
                          <a:solidFill>
                            <a:schemeClr val="tx1"/>
                          </a:solidFill>
                          <a:latin typeface="Arial Narrow"/>
                        </a:rPr>
                        <a:t>0</a:t>
                      </a:r>
                      <a:endParaRPr lang="es-PE" sz="2400" b="0" strike="noStrike" spc="-1">
                        <a:solidFill>
                          <a:schemeClr val="tx1"/>
                        </a:solidFill>
                        <a:latin typeface="Arial"/>
                      </a:endParaRPr>
                    </a:p>
                  </a:txBody>
                  <a:tcPr>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endParaRPr lang="en-US">
                        <a:solidFill>
                          <a:schemeClr val="tx1"/>
                        </a:solidFill>
                      </a:endParaRPr>
                    </a:p>
                  </a:txBody>
                  <a:tcPr>
                    <a:lnL w="12240">
                      <a:solidFill>
                        <a:srgbClr val="1D528D"/>
                      </a:solidFill>
                    </a:lnL>
                    <a:lnR w="12240">
                      <a:noFill/>
                    </a:lnR>
                    <a:lnT w="12240">
                      <a:solidFill>
                        <a:srgbClr val="1D528D"/>
                      </a:solidFill>
                    </a:lnT>
                    <a:lnB w="12240">
                      <a:noFill/>
                    </a:lnB>
                    <a:noFill/>
                  </a:tcPr>
                </a:tc>
                <a:tc>
                  <a:txBody>
                    <a:bodyPr/>
                    <a:lstStyle/>
                    <a:p>
                      <a:endParaRPr lang="en-US">
                        <a:solidFill>
                          <a:schemeClr val="tx1"/>
                        </a:solidFill>
                      </a:endParaRPr>
                    </a:p>
                  </a:txBody>
                  <a:tcPr>
                    <a:lnL w="12240">
                      <a:noFill/>
                    </a:lnL>
                    <a:lnR w="12240">
                      <a:noFill/>
                    </a:lnR>
                    <a:lnT w="12240">
                      <a:solidFill>
                        <a:srgbClr val="1D528D"/>
                      </a:solidFill>
                    </a:lnT>
                    <a:lnB w="12240">
                      <a:noFill/>
                    </a:lnB>
                    <a:noFill/>
                  </a:tcPr>
                </a:tc>
                <a:tc>
                  <a:txBody>
                    <a:bodyPr/>
                    <a:lstStyle/>
                    <a:p>
                      <a:endParaRPr lang="en-US">
                        <a:solidFill>
                          <a:schemeClr val="tx1"/>
                        </a:solidFill>
                      </a:endParaRPr>
                    </a:p>
                  </a:txBody>
                  <a:tcPr>
                    <a:lnL w="12240">
                      <a:noFill/>
                    </a:lnL>
                    <a:lnR w="12240">
                      <a:noFill/>
                    </a:lnR>
                    <a:lnT w="12240">
                      <a:solidFill>
                        <a:srgbClr val="1D528D"/>
                      </a:solidFill>
                    </a:lnT>
                    <a:lnB w="12240">
                      <a:noFill/>
                    </a:lnB>
                    <a:noFill/>
                  </a:tcPr>
                </a:tc>
                <a:tc>
                  <a:txBody>
                    <a:bodyPr/>
                    <a:lstStyle/>
                    <a:p>
                      <a:endParaRPr lang="en-US" dirty="0">
                        <a:solidFill>
                          <a:schemeClr val="tx1"/>
                        </a:solidFill>
                      </a:endParaRPr>
                    </a:p>
                  </a:txBody>
                  <a:tcPr>
                    <a:lnL w="12240">
                      <a:noFill/>
                    </a:lnL>
                    <a:lnR w="12240">
                      <a:noFill/>
                    </a:lnR>
                    <a:lnT w="12240">
                      <a:solidFill>
                        <a:srgbClr val="1D528D"/>
                      </a:solidFill>
                    </a:lnT>
                    <a:lnB w="12240">
                      <a:noFill/>
                    </a:lnB>
                    <a:noFill/>
                  </a:tcPr>
                </a:tc>
                <a:extLst>
                  <a:ext uri="{0D108BD9-81ED-4DB2-BD59-A6C34878D82A}">
                    <a16:rowId xmlns:a16="http://schemas.microsoft.com/office/drawing/2014/main" val="10004"/>
                  </a:ext>
                </a:extLst>
              </a:tr>
            </a:tbl>
          </a:graphicData>
        </a:graphic>
      </p:graphicFrame>
      <p:sp>
        <p:nvSpPr>
          <p:cNvPr id="966" name="CustomShape 3"/>
          <p:cNvSpPr/>
          <p:nvPr/>
        </p:nvSpPr>
        <p:spPr>
          <a:xfrm>
            <a:off x="1524000" y="277488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967" name="Table 4"/>
          <p:cNvGraphicFramePr/>
          <p:nvPr/>
        </p:nvGraphicFramePr>
        <p:xfrm>
          <a:off x="2952840" y="5300640"/>
          <a:ext cx="4571640" cy="1366560"/>
        </p:xfrm>
        <a:graphic>
          <a:graphicData uri="http://schemas.openxmlformats.org/drawingml/2006/table">
            <a:tbl>
              <a:tblPr/>
              <a:tblGrid>
                <a:gridCol w="1357200">
                  <a:extLst>
                    <a:ext uri="{9D8B030D-6E8A-4147-A177-3AD203B41FA5}">
                      <a16:colId xmlns:a16="http://schemas.microsoft.com/office/drawing/2014/main" val="20000"/>
                    </a:ext>
                  </a:extLst>
                </a:gridCol>
                <a:gridCol w="92844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55400">
                <a:tc>
                  <a:txBody>
                    <a:bodyPr/>
                    <a:lstStyle/>
                    <a:p>
                      <a:pPr algn="r">
                        <a:lnSpc>
                          <a:spcPct val="95000"/>
                        </a:lnSpc>
                      </a:pPr>
                      <a:r>
                        <a:rPr lang="es-PE" sz="2400" b="1" strike="noStrike" spc="-1" dirty="0" err="1">
                          <a:solidFill>
                            <a:schemeClr val="bg2">
                              <a:lumMod val="25000"/>
                            </a:schemeClr>
                          </a:solidFill>
                          <a:latin typeface="Arial Narrow"/>
                        </a:rPr>
                        <a:t>P</a:t>
                      </a:r>
                      <a:r>
                        <a:rPr lang="es-PE" sz="2400" b="1" strike="noStrike" spc="-1" baseline="-30000" dirty="0" err="1">
                          <a:solidFill>
                            <a:schemeClr val="bg2">
                              <a:lumMod val="25000"/>
                            </a:schemeClr>
                          </a:solidFill>
                          <a:latin typeface="Arial Narrow"/>
                        </a:rPr>
                        <a:t>1</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500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800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1400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455400">
                <a:tc>
                  <a:txBody>
                    <a:bodyPr/>
                    <a:lstStyle/>
                    <a:p>
                      <a:pPr algn="r">
                        <a:lnSpc>
                          <a:spcPct val="95000"/>
                        </a:lnSpc>
                      </a:pPr>
                      <a:r>
                        <a:rPr lang="es-PE" sz="2400" b="1" strike="noStrike" spc="-1">
                          <a:solidFill>
                            <a:schemeClr val="bg2">
                              <a:lumMod val="25000"/>
                            </a:schemeClr>
                          </a:solidFill>
                          <a:latin typeface="Arial Narrow"/>
                        </a:rPr>
                        <a:t>P</a:t>
                      </a:r>
                      <a:r>
                        <a:rPr lang="es-PE" sz="2400" b="1" strike="noStrike" spc="-1" baseline="-30000">
                          <a:solidFill>
                            <a:schemeClr val="bg2">
                              <a:lumMod val="25000"/>
                            </a:schemeClr>
                          </a:solidFill>
                          <a:latin typeface="Arial Narrow"/>
                        </a:rPr>
                        <a:t>2</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500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800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455760">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bl>
          </a:graphicData>
        </a:graphic>
      </p:graphicFrame>
      <p:graphicFrame>
        <p:nvGraphicFramePr>
          <p:cNvPr id="2" name="1 Diagrama"/>
          <p:cNvGraphicFramePr/>
          <p:nvPr/>
        </p:nvGraphicFramePr>
        <p:xfrm>
          <a:off x="7780530" y="4379941"/>
          <a:ext cx="2657432" cy="1223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CustomShape 5">
            <a:extLst>
              <a:ext uri="{FF2B5EF4-FFF2-40B4-BE49-F238E27FC236}">
                <a16:creationId xmlns:a16="http://schemas.microsoft.com/office/drawing/2014/main" id="{AF6FCA89-BBB3-401B-9093-6746D0DAF94E}"/>
              </a:ext>
            </a:extLst>
          </p:cNvPr>
          <p:cNvSpPr/>
          <p:nvPr/>
        </p:nvSpPr>
        <p:spPr>
          <a:xfrm>
            <a:off x="6096000" y="163488"/>
            <a:ext cx="6096000" cy="56304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lnSpc>
                <a:spcPts val="5800"/>
              </a:lnSpc>
              <a:spcBef>
                <a:spcPct val="0"/>
              </a:spcBef>
            </a:pPr>
            <a:r>
              <a:rPr lang="es-PE" sz="3200" dirty="0">
                <a:solidFill>
                  <a:schemeClr val="bg1"/>
                </a:solidFill>
                <a:effectLst>
                  <a:outerShdw blurRad="63500" dist="38100" dir="5400000" algn="t" rotWithShape="0">
                    <a:prstClr val="black">
                      <a:alpha val="25000"/>
                    </a:prstClr>
                  </a:outerShdw>
                </a:effectLst>
                <a:latin typeface="Bauhaus 93" pitchFamily="82" charset="0"/>
              </a:rPr>
              <a:t>Método Vogel</a:t>
            </a:r>
          </a:p>
        </p:txBody>
      </p:sp>
      <p:sp>
        <p:nvSpPr>
          <p:cNvPr id="8" name="CuadroTexto 7">
            <a:extLst>
              <a:ext uri="{FF2B5EF4-FFF2-40B4-BE49-F238E27FC236}">
                <a16:creationId xmlns:a16="http://schemas.microsoft.com/office/drawing/2014/main" id="{5FC9627D-E19B-46C3-9ED4-1490665BD71A}"/>
              </a:ext>
            </a:extLst>
          </p:cNvPr>
          <p:cNvSpPr txBox="1"/>
          <p:nvPr/>
        </p:nvSpPr>
        <p:spPr>
          <a:xfrm>
            <a:off x="258793" y="2191109"/>
            <a:ext cx="1380226" cy="646331"/>
          </a:xfrm>
          <a:prstGeom prst="rect">
            <a:avLst/>
          </a:prstGeom>
          <a:solidFill>
            <a:srgbClr val="FFFF00"/>
          </a:solidFill>
        </p:spPr>
        <p:txBody>
          <a:bodyPr wrap="square" rtlCol="0">
            <a:spAutoFit/>
          </a:bodyPr>
          <a:lstStyle/>
          <a:p>
            <a:r>
              <a:rPr lang="es-ES" b="1" dirty="0"/>
              <a:t>Hallamos las penalidades</a:t>
            </a:r>
          </a:p>
        </p:txBody>
      </p:sp>
      <p:sp>
        <p:nvSpPr>
          <p:cNvPr id="9" name="Rectángulo 8">
            <a:extLst>
              <a:ext uri="{FF2B5EF4-FFF2-40B4-BE49-F238E27FC236}">
                <a16:creationId xmlns:a16="http://schemas.microsoft.com/office/drawing/2014/main" id="{D5CD4EAF-833E-434D-ADB2-713381419F14}"/>
              </a:ext>
            </a:extLst>
          </p:cNvPr>
          <p:cNvSpPr/>
          <p:nvPr/>
        </p:nvSpPr>
        <p:spPr>
          <a:xfrm>
            <a:off x="258136" y="3054556"/>
            <a:ext cx="1372258" cy="923330"/>
          </a:xfrm>
          <a:prstGeom prst="rect">
            <a:avLst/>
          </a:prstGeom>
          <a:solidFill>
            <a:srgbClr val="FFFF00"/>
          </a:solidFill>
        </p:spPr>
        <p:txBody>
          <a:bodyPr wrap="square">
            <a:spAutoFit/>
          </a:bodyPr>
          <a:lstStyle/>
          <a:p>
            <a:r>
              <a:rPr lang="es-ES" b="1" dirty="0"/>
              <a:t>Hallamos la mayor penalidad</a:t>
            </a:r>
            <a:endParaRPr lang="es-PE" b="1" dirty="0"/>
          </a:p>
        </p:txBody>
      </p:sp>
      <p:sp>
        <p:nvSpPr>
          <p:cNvPr id="10" name="CuadroTexto 9">
            <a:extLst>
              <a:ext uri="{FF2B5EF4-FFF2-40B4-BE49-F238E27FC236}">
                <a16:creationId xmlns:a16="http://schemas.microsoft.com/office/drawing/2014/main" id="{1C60DC4E-FD9C-4EA7-AE21-00EC9F953059}"/>
              </a:ext>
            </a:extLst>
          </p:cNvPr>
          <p:cNvSpPr txBox="1"/>
          <p:nvPr/>
        </p:nvSpPr>
        <p:spPr>
          <a:xfrm>
            <a:off x="264551" y="4198193"/>
            <a:ext cx="1380226" cy="646331"/>
          </a:xfrm>
          <a:prstGeom prst="rect">
            <a:avLst/>
          </a:prstGeom>
          <a:solidFill>
            <a:srgbClr val="FFFF00"/>
          </a:solidFill>
        </p:spPr>
        <p:txBody>
          <a:bodyPr wrap="square" rtlCol="0">
            <a:spAutoFit/>
          </a:bodyPr>
          <a:lstStyle/>
          <a:p>
            <a:r>
              <a:rPr lang="es-ES" b="1" dirty="0"/>
              <a:t>Hallamos el menor costo</a:t>
            </a:r>
          </a:p>
        </p:txBody>
      </p:sp>
      <p:sp>
        <p:nvSpPr>
          <p:cNvPr id="11" name="CuadroTexto 10">
            <a:extLst>
              <a:ext uri="{FF2B5EF4-FFF2-40B4-BE49-F238E27FC236}">
                <a16:creationId xmlns:a16="http://schemas.microsoft.com/office/drawing/2014/main" id="{583C6ECA-78A8-4F9F-A827-9D7A832C4404}"/>
              </a:ext>
            </a:extLst>
          </p:cNvPr>
          <p:cNvSpPr txBox="1"/>
          <p:nvPr/>
        </p:nvSpPr>
        <p:spPr>
          <a:xfrm>
            <a:off x="264551" y="5086705"/>
            <a:ext cx="1380226" cy="646331"/>
          </a:xfrm>
          <a:prstGeom prst="rect">
            <a:avLst/>
          </a:prstGeom>
          <a:solidFill>
            <a:srgbClr val="FFFF00"/>
          </a:solidFill>
        </p:spPr>
        <p:txBody>
          <a:bodyPr wrap="square" rtlCol="0">
            <a:spAutoFit/>
          </a:bodyPr>
          <a:lstStyle/>
          <a:p>
            <a:r>
              <a:rPr lang="es-ES" b="1" dirty="0"/>
              <a:t>Anotamos la operación</a:t>
            </a:r>
          </a:p>
        </p:txBody>
      </p:sp>
      <p:sp>
        <p:nvSpPr>
          <p:cNvPr id="3" name="Globo: flecha hacia abajo 2">
            <a:extLst>
              <a:ext uri="{FF2B5EF4-FFF2-40B4-BE49-F238E27FC236}">
                <a16:creationId xmlns:a16="http://schemas.microsoft.com/office/drawing/2014/main" id="{EF0CF3D5-C56A-0DC1-BD0B-90C69419C242}"/>
              </a:ext>
            </a:extLst>
          </p:cNvPr>
          <p:cNvSpPr/>
          <p:nvPr/>
        </p:nvSpPr>
        <p:spPr>
          <a:xfrm>
            <a:off x="276044" y="1276709"/>
            <a:ext cx="1345721" cy="897148"/>
          </a:xfrm>
          <a:prstGeom prst="downArrowCallou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rgbClr val="FF0000"/>
                </a:solidFill>
              </a:rPr>
              <a:t>Pasos:</a:t>
            </a:r>
            <a:endParaRPr lang="es-PE" sz="2400" dirty="0">
              <a:solidFill>
                <a:srgbClr val="FF0000"/>
              </a:solidFill>
            </a:endParaRPr>
          </a:p>
        </p:txBody>
      </p:sp>
    </p:spTree>
    <p:extLst>
      <p:ext uri="{BB962C8B-B14F-4D97-AF65-F5344CB8AC3E}">
        <p14:creationId xmlns:p14="http://schemas.microsoft.com/office/powerpoint/2010/main" val="40506343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9" name="CustomShape 1"/>
          <p:cNvSpPr/>
          <p:nvPr/>
        </p:nvSpPr>
        <p:spPr>
          <a:xfrm>
            <a:off x="1524000" y="239400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970" name="Table 2"/>
          <p:cNvGraphicFramePr/>
          <p:nvPr/>
        </p:nvGraphicFramePr>
        <p:xfrm>
          <a:off x="2881200" y="1214280"/>
          <a:ext cx="7429320" cy="4321080"/>
        </p:xfrm>
        <a:graphic>
          <a:graphicData uri="http://schemas.openxmlformats.org/drawingml/2006/table">
            <a:tbl>
              <a:tblPr/>
              <a:tblGrid>
                <a:gridCol w="1357200">
                  <a:extLst>
                    <a:ext uri="{9D8B030D-6E8A-4147-A177-3AD203B41FA5}">
                      <a16:colId xmlns:a16="http://schemas.microsoft.com/office/drawing/2014/main" val="20000"/>
                    </a:ext>
                  </a:extLst>
                </a:gridCol>
                <a:gridCol w="928440">
                  <a:extLst>
                    <a:ext uri="{9D8B030D-6E8A-4147-A177-3AD203B41FA5}">
                      <a16:colId xmlns:a16="http://schemas.microsoft.com/office/drawing/2014/main" val="20001"/>
                    </a:ext>
                  </a:extLst>
                </a:gridCol>
                <a:gridCol w="1071360">
                  <a:extLst>
                    <a:ext uri="{9D8B030D-6E8A-4147-A177-3AD203B41FA5}">
                      <a16:colId xmlns:a16="http://schemas.microsoft.com/office/drawing/2014/main" val="20002"/>
                    </a:ext>
                  </a:extLst>
                </a:gridCol>
                <a:gridCol w="1214280">
                  <a:extLst>
                    <a:ext uri="{9D8B030D-6E8A-4147-A177-3AD203B41FA5}">
                      <a16:colId xmlns:a16="http://schemas.microsoft.com/office/drawing/2014/main" val="20003"/>
                    </a:ext>
                  </a:extLst>
                </a:gridCol>
                <a:gridCol w="928440">
                  <a:extLst>
                    <a:ext uri="{9D8B030D-6E8A-4147-A177-3AD203B41FA5}">
                      <a16:colId xmlns:a16="http://schemas.microsoft.com/office/drawing/2014/main" val="20004"/>
                    </a:ext>
                  </a:extLst>
                </a:gridCol>
                <a:gridCol w="642600">
                  <a:extLst>
                    <a:ext uri="{9D8B030D-6E8A-4147-A177-3AD203B41FA5}">
                      <a16:colId xmlns:a16="http://schemas.microsoft.com/office/drawing/2014/main" val="20005"/>
                    </a:ext>
                  </a:extLst>
                </a:gridCol>
                <a:gridCol w="642600">
                  <a:extLst>
                    <a:ext uri="{9D8B030D-6E8A-4147-A177-3AD203B41FA5}">
                      <a16:colId xmlns:a16="http://schemas.microsoft.com/office/drawing/2014/main" val="20006"/>
                    </a:ext>
                  </a:extLst>
                </a:gridCol>
                <a:gridCol w="644400">
                  <a:extLst>
                    <a:ext uri="{9D8B030D-6E8A-4147-A177-3AD203B41FA5}">
                      <a16:colId xmlns:a16="http://schemas.microsoft.com/office/drawing/2014/main" val="20007"/>
                    </a:ext>
                  </a:extLst>
                </a:gridCol>
              </a:tblGrid>
              <a:tr h="480600">
                <a:tc>
                  <a:txBody>
                    <a:bodyPr/>
                    <a:lstStyle/>
                    <a:p>
                      <a:endParaRPr lang="en-US"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Dallas</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Denver</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Phoenix</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Oferta </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a:solidFill>
                            <a:schemeClr val="bg2">
                              <a:lumMod val="25000"/>
                            </a:schemeClr>
                          </a:solidFill>
                          <a:latin typeface="Arial Narrow"/>
                        </a:rPr>
                        <a:t>P</a:t>
                      </a:r>
                      <a:r>
                        <a:rPr lang="es-PE" sz="2400" b="1" strike="noStrike" spc="-1" baseline="-30000">
                          <a:solidFill>
                            <a:schemeClr val="bg2">
                              <a:lumMod val="25000"/>
                            </a:schemeClr>
                          </a:solidFill>
                          <a:latin typeface="Arial Narrow"/>
                        </a:rPr>
                        <a:t>1</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a:solidFill>
                            <a:schemeClr val="bg2">
                              <a:lumMod val="25000"/>
                            </a:schemeClr>
                          </a:solidFill>
                          <a:latin typeface="Arial Narrow"/>
                        </a:rPr>
                        <a:t>P</a:t>
                      </a:r>
                      <a:r>
                        <a:rPr lang="es-PE" sz="2400" b="1" strike="noStrike" spc="-1" baseline="-30000">
                          <a:solidFill>
                            <a:schemeClr val="bg2">
                              <a:lumMod val="25000"/>
                            </a:schemeClr>
                          </a:solidFill>
                          <a:latin typeface="Arial Narrow"/>
                        </a:rPr>
                        <a:t>2</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a:solidFill>
                            <a:schemeClr val="bg2">
                              <a:lumMod val="25000"/>
                            </a:schemeClr>
                          </a:solidFill>
                          <a:latin typeface="Arial Narrow"/>
                        </a:rPr>
                        <a:t>P</a:t>
                      </a:r>
                      <a:r>
                        <a:rPr lang="es-PE" sz="2400" b="1" strike="noStrike" spc="-1" baseline="-30000">
                          <a:solidFill>
                            <a:schemeClr val="bg2">
                              <a:lumMod val="25000"/>
                            </a:schemeClr>
                          </a:solidFill>
                          <a:latin typeface="Arial Narrow"/>
                        </a:rPr>
                        <a:t>3</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767880">
                <a:tc>
                  <a:txBody>
                    <a:bodyPr/>
                    <a:lstStyle/>
                    <a:p>
                      <a:pPr algn="ctr">
                        <a:lnSpc>
                          <a:spcPct val="95000"/>
                        </a:lnSpc>
                      </a:pPr>
                      <a:r>
                        <a:rPr lang="es-PE" sz="2400" b="1" strike="noStrike" spc="-1">
                          <a:solidFill>
                            <a:schemeClr val="bg2">
                              <a:lumMod val="25000"/>
                            </a:schemeClr>
                          </a:solidFill>
                          <a:latin typeface="Arial Narrow"/>
                        </a:rPr>
                        <a:t>Nueva York</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1600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1800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EE7FD"/>
                    </a:solid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a:solidFill>
                            <a:schemeClr val="bg2">
                              <a:lumMod val="25000"/>
                            </a:schemeClr>
                          </a:solidFill>
                          <a:latin typeface="Arial Narrow"/>
                        </a:rPr>
                        <a:t>3</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200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200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200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767880">
                <a:tc>
                  <a:txBody>
                    <a:bodyPr/>
                    <a:lstStyle/>
                    <a:p>
                      <a:pPr algn="ctr">
                        <a:lnSpc>
                          <a:spcPct val="95000"/>
                        </a:lnSpc>
                      </a:pPr>
                      <a:r>
                        <a:rPr lang="es-PE" sz="2400" b="1" strike="noStrike" spc="-1">
                          <a:solidFill>
                            <a:schemeClr val="bg2">
                              <a:lumMod val="25000"/>
                            </a:schemeClr>
                          </a:solidFill>
                          <a:latin typeface="Arial Narrow"/>
                        </a:rPr>
                        <a:t>Chicago</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900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1000</a:t>
                      </a:r>
                      <a:endParaRPr lang="es-PE" sz="2400" b="0" strike="noStrike" spc="-1">
                        <a:solidFill>
                          <a:schemeClr val="bg2">
                            <a:lumMod val="25000"/>
                          </a:schemeClr>
                        </a:solidFill>
                        <a:latin typeface="Arial"/>
                      </a:endParaRPr>
                    </a:p>
                    <a:p>
                      <a:pPr algn="ctr">
                        <a:lnSpc>
                          <a:spcPct val="95000"/>
                        </a:lnSpc>
                      </a:pPr>
                      <a:r>
                        <a:rPr lang="es-PE" sz="2400" b="1" strike="noStrike" spc="-1">
                          <a:solidFill>
                            <a:schemeClr val="bg2">
                              <a:lumMod val="25000"/>
                            </a:schemeClr>
                          </a:solidFill>
                          <a:latin typeface="Arial Narrow"/>
                        </a:rPr>
                        <a:t>*</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DEE7FD"/>
                    </a:solid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a:solidFill>
                            <a:schemeClr val="bg2">
                              <a:lumMod val="25000"/>
                            </a:schemeClr>
                          </a:solidFill>
                          <a:latin typeface="Arial Narrow"/>
                        </a:rPr>
                        <a:t>2</a:t>
                      </a:r>
                      <a:endParaRPr lang="es-PE" sz="2400" b="0" strike="noStrike" spc="-1">
                        <a:solidFill>
                          <a:schemeClr val="bg2">
                            <a:lumMod val="25000"/>
                          </a:schemeClr>
                        </a:solidFill>
                        <a:latin typeface="Arial"/>
                      </a:endParaRPr>
                    </a:p>
                    <a:p>
                      <a:pPr algn="ctr">
                        <a:lnSpc>
                          <a:spcPct val="95000"/>
                        </a:lnSpc>
                      </a:pPr>
                      <a:r>
                        <a:rPr lang="es-PE" sz="2400" b="1" strike="noStrike" spc="-1">
                          <a:solidFill>
                            <a:schemeClr val="bg2">
                              <a:lumMod val="25000"/>
                            </a:schemeClr>
                          </a:solidFill>
                          <a:latin typeface="Arial Narrow"/>
                        </a:rPr>
                        <a:t>1</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100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100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100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1069560">
                <a:tc>
                  <a:txBody>
                    <a:bodyPr/>
                    <a:lstStyle/>
                    <a:p>
                      <a:pPr algn="ctr">
                        <a:lnSpc>
                          <a:spcPct val="95000"/>
                        </a:lnSpc>
                      </a:pPr>
                      <a:r>
                        <a:rPr lang="es-PE" sz="2400" b="1" strike="noStrike" spc="-1">
                          <a:solidFill>
                            <a:schemeClr val="bg2">
                              <a:lumMod val="25000"/>
                            </a:schemeClr>
                          </a:solidFill>
                          <a:latin typeface="Arial Narrow"/>
                        </a:rPr>
                        <a:t>Los Angeles</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a:solidFill>
                            <a:schemeClr val="bg2">
                              <a:lumMod val="25000"/>
                            </a:schemeClr>
                          </a:solidFill>
                          <a:latin typeface="Arial Narrow"/>
                        </a:rPr>
                        <a:t>3</a:t>
                      </a:r>
                      <a:endParaRPr lang="es-PE" sz="2400" b="0" strike="noStrike" spc="-1">
                        <a:solidFill>
                          <a:schemeClr val="bg2">
                            <a:lumMod val="25000"/>
                          </a:schemeClr>
                        </a:solidFill>
                        <a:latin typeface="Arial"/>
                      </a:endParaRPr>
                    </a:p>
                    <a:p>
                      <a:pPr algn="ctr">
                        <a:lnSpc>
                          <a:spcPct val="95000"/>
                        </a:lnSpc>
                      </a:pPr>
                      <a:r>
                        <a:rPr lang="es-PE" sz="2400" b="1" strike="noStrike" spc="-1">
                          <a:solidFill>
                            <a:schemeClr val="bg2">
                              <a:lumMod val="25000"/>
                            </a:schemeClr>
                          </a:solidFill>
                          <a:latin typeface="Arial Narrow"/>
                        </a:rPr>
                        <a:t>1</a:t>
                      </a:r>
                      <a:endParaRPr lang="es-PE" sz="2400" b="0" strike="noStrike" spc="-1">
                        <a:solidFill>
                          <a:schemeClr val="bg2">
                            <a:lumMod val="25000"/>
                          </a:schemeClr>
                        </a:solidFill>
                        <a:latin typeface="Arial"/>
                      </a:endParaRPr>
                    </a:p>
                    <a:p>
                      <a:pPr algn="ctr">
                        <a:lnSpc>
                          <a:spcPct val="95000"/>
                        </a:lnSpc>
                      </a:pPr>
                      <a:r>
                        <a:rPr lang="es-PE" sz="2400" b="1" strike="noStrike" spc="-1">
                          <a:solidFill>
                            <a:schemeClr val="bg2">
                              <a:lumMod val="25000"/>
                            </a:schemeClr>
                          </a:solidFill>
                          <a:latin typeface="Arial Narrow"/>
                        </a:rPr>
                        <a:t>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gn="ctr">
                        <a:lnSpc>
                          <a:spcPct val="95000"/>
                        </a:lnSpc>
                        <a:spcBef>
                          <a:spcPts val="1199"/>
                        </a:spcBef>
                      </a:pPr>
                      <a:r>
                        <a:rPr lang="es-PE" sz="2400" b="1" strike="noStrike" spc="-1">
                          <a:solidFill>
                            <a:schemeClr val="bg2">
                              <a:lumMod val="25000"/>
                            </a:schemeClr>
                          </a:solidFill>
                          <a:latin typeface="Arial Narrow"/>
                        </a:rPr>
                        <a:t>600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gn="ctr">
                        <a:lnSpc>
                          <a:spcPct val="95000"/>
                        </a:lnSpc>
                        <a:spcBef>
                          <a:spcPts val="1199"/>
                        </a:spcBef>
                      </a:pPr>
                      <a:r>
                        <a:rPr lang="es-PE" sz="2400" b="1" strike="noStrike" spc="-1">
                          <a:solidFill>
                            <a:schemeClr val="bg2">
                              <a:lumMod val="25000"/>
                            </a:schemeClr>
                          </a:solidFill>
                          <a:latin typeface="Arial Narrow"/>
                        </a:rPr>
                        <a:t>400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1D528D"/>
                      </a:solidFill>
                    </a:lnB>
                    <a:noFill/>
                  </a:tcPr>
                </a:tc>
                <a:extLst>
                  <a:ext uri="{0D108BD9-81ED-4DB2-BD59-A6C34878D82A}">
                    <a16:rowId xmlns:a16="http://schemas.microsoft.com/office/drawing/2014/main" val="10003"/>
                  </a:ext>
                </a:extLst>
              </a:tr>
              <a:tr h="1113480">
                <a:tc>
                  <a:txBody>
                    <a:bodyPr/>
                    <a:lstStyle/>
                    <a:p>
                      <a:pPr algn="ctr">
                        <a:lnSpc>
                          <a:spcPct val="95000"/>
                        </a:lnSpc>
                      </a:pPr>
                      <a:r>
                        <a:rPr lang="es-PE" sz="2400" b="1" strike="noStrike" spc="-1">
                          <a:solidFill>
                            <a:schemeClr val="bg2">
                              <a:lumMod val="25000"/>
                            </a:schemeClr>
                          </a:solidFill>
                          <a:latin typeface="Arial Narrow"/>
                        </a:rPr>
                        <a:t>Demanda </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4</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2</a:t>
                      </a:r>
                      <a:endParaRPr lang="es-PE" sz="2400" b="0" strike="noStrike" spc="-1">
                        <a:solidFill>
                          <a:schemeClr val="bg2">
                            <a:lumMod val="25000"/>
                          </a:schemeClr>
                        </a:solidFill>
                        <a:latin typeface="Arial"/>
                      </a:endParaRPr>
                    </a:p>
                    <a:p>
                      <a:pPr algn="ctr">
                        <a:lnSpc>
                          <a:spcPct val="95000"/>
                        </a:lnSpc>
                      </a:pPr>
                      <a:r>
                        <a:rPr lang="es-PE" sz="2400" b="1" strike="noStrike" spc="-1">
                          <a:solidFill>
                            <a:schemeClr val="bg2">
                              <a:lumMod val="25000"/>
                            </a:schemeClr>
                          </a:solidFill>
                          <a:latin typeface="Arial Narrow"/>
                        </a:rPr>
                        <a:t>1</a:t>
                      </a:r>
                      <a:endParaRPr lang="es-PE" sz="2400" b="0" strike="noStrike" spc="-1">
                        <a:solidFill>
                          <a:schemeClr val="bg2">
                            <a:lumMod val="25000"/>
                          </a:schemeClr>
                        </a:solidFill>
                        <a:latin typeface="Arial"/>
                      </a:endParaRPr>
                    </a:p>
                    <a:p>
                      <a:pPr algn="ctr">
                        <a:lnSpc>
                          <a:spcPct val="95000"/>
                        </a:lnSpc>
                      </a:pPr>
                      <a:r>
                        <a:rPr lang="es-PE" sz="2400" b="1" strike="noStrike" spc="-1">
                          <a:solidFill>
                            <a:schemeClr val="bg2">
                              <a:lumMod val="25000"/>
                            </a:schemeClr>
                          </a:solidFill>
                          <a:latin typeface="Arial Narrow"/>
                        </a:rPr>
                        <a:t>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2</a:t>
                      </a:r>
                      <a:endParaRPr lang="es-PE" sz="2400" b="0" strike="noStrike" spc="-1">
                        <a:solidFill>
                          <a:schemeClr val="bg2">
                            <a:lumMod val="25000"/>
                          </a:schemeClr>
                        </a:solidFill>
                        <a:latin typeface="Arial"/>
                      </a:endParaRPr>
                    </a:p>
                    <a:p>
                      <a:pPr algn="ctr">
                        <a:lnSpc>
                          <a:spcPct val="95000"/>
                        </a:lnSpc>
                      </a:pPr>
                      <a:r>
                        <a:rPr lang="es-PE" sz="2400" b="1" strike="noStrike" spc="-1">
                          <a:solidFill>
                            <a:schemeClr val="bg2">
                              <a:lumMod val="25000"/>
                            </a:schemeClr>
                          </a:solidFill>
                          <a:latin typeface="Arial Narrow"/>
                        </a:rPr>
                        <a:t>0</a:t>
                      </a:r>
                      <a:endParaRPr lang="es-PE" sz="2400" b="0" strike="noStrike" spc="-1">
                        <a:solidFill>
                          <a:schemeClr val="bg2">
                            <a:lumMod val="25000"/>
                          </a:schemeClr>
                        </a:solidFill>
                        <a:latin typeface="Arial"/>
                      </a:endParaRPr>
                    </a:p>
                  </a:txBody>
                  <a:tcPr>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1D528D"/>
                      </a:solidFill>
                    </a:lnL>
                    <a:lnR w="12240">
                      <a:noFill/>
                    </a:lnR>
                    <a:lnT w="12240">
                      <a:solidFill>
                        <a:srgbClr val="1D528D"/>
                      </a:solidFill>
                    </a:lnT>
                    <a:lnB w="12240">
                      <a:noFill/>
                    </a:lnB>
                    <a:noFill/>
                  </a:tcPr>
                </a:tc>
                <a:tc>
                  <a:txBody>
                    <a:bodyPr/>
                    <a:lstStyle/>
                    <a:p>
                      <a:endParaRPr lang="en-US">
                        <a:solidFill>
                          <a:schemeClr val="bg2">
                            <a:lumMod val="25000"/>
                          </a:schemeClr>
                        </a:solidFill>
                      </a:endParaRPr>
                    </a:p>
                  </a:txBody>
                  <a:tcPr>
                    <a:lnL w="12240">
                      <a:noFill/>
                    </a:lnL>
                    <a:lnR w="12240">
                      <a:noFill/>
                    </a:lnR>
                    <a:lnT w="12240">
                      <a:solidFill>
                        <a:srgbClr val="1D528D"/>
                      </a:solidFill>
                    </a:lnT>
                    <a:lnB w="12240">
                      <a:noFill/>
                    </a:lnB>
                    <a:noFill/>
                  </a:tcPr>
                </a:tc>
                <a:tc>
                  <a:txBody>
                    <a:bodyPr/>
                    <a:lstStyle/>
                    <a:p>
                      <a:endParaRPr lang="en-US">
                        <a:solidFill>
                          <a:schemeClr val="bg2">
                            <a:lumMod val="25000"/>
                          </a:schemeClr>
                        </a:solidFill>
                      </a:endParaRPr>
                    </a:p>
                  </a:txBody>
                  <a:tcPr>
                    <a:lnL w="12240">
                      <a:noFill/>
                    </a:lnL>
                    <a:lnR w="12240">
                      <a:noFill/>
                    </a:lnR>
                    <a:lnT w="12240">
                      <a:solidFill>
                        <a:srgbClr val="1D528D"/>
                      </a:solidFill>
                    </a:lnT>
                    <a:lnB w="12240">
                      <a:noFill/>
                    </a:lnB>
                    <a:noFill/>
                  </a:tcPr>
                </a:tc>
                <a:tc>
                  <a:txBody>
                    <a:bodyPr/>
                    <a:lstStyle/>
                    <a:p>
                      <a:endParaRPr lang="en-US" dirty="0">
                        <a:solidFill>
                          <a:schemeClr val="bg2">
                            <a:lumMod val="25000"/>
                          </a:schemeClr>
                        </a:solidFill>
                      </a:endParaRPr>
                    </a:p>
                  </a:txBody>
                  <a:tcPr>
                    <a:lnL w="12240">
                      <a:noFill/>
                    </a:lnL>
                    <a:lnR w="12240">
                      <a:noFill/>
                    </a:lnR>
                    <a:lnT w="12240">
                      <a:solidFill>
                        <a:srgbClr val="1D528D"/>
                      </a:solidFill>
                    </a:lnT>
                    <a:lnB w="12240">
                      <a:noFill/>
                    </a:lnB>
                    <a:noFill/>
                  </a:tcPr>
                </a:tc>
                <a:extLst>
                  <a:ext uri="{0D108BD9-81ED-4DB2-BD59-A6C34878D82A}">
                    <a16:rowId xmlns:a16="http://schemas.microsoft.com/office/drawing/2014/main" val="10004"/>
                  </a:ext>
                </a:extLst>
              </a:tr>
            </a:tbl>
          </a:graphicData>
        </a:graphic>
      </p:graphicFrame>
      <p:sp>
        <p:nvSpPr>
          <p:cNvPr id="971" name="CustomShape 3"/>
          <p:cNvSpPr/>
          <p:nvPr/>
        </p:nvSpPr>
        <p:spPr>
          <a:xfrm>
            <a:off x="1524000" y="277488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972" name="Table 4"/>
          <p:cNvGraphicFramePr/>
          <p:nvPr/>
        </p:nvGraphicFramePr>
        <p:xfrm>
          <a:off x="2881200" y="5516640"/>
          <a:ext cx="4571640" cy="1316736"/>
        </p:xfrm>
        <a:graphic>
          <a:graphicData uri="http://schemas.openxmlformats.org/drawingml/2006/table">
            <a:tbl>
              <a:tblPr/>
              <a:tblGrid>
                <a:gridCol w="1357200">
                  <a:extLst>
                    <a:ext uri="{9D8B030D-6E8A-4147-A177-3AD203B41FA5}">
                      <a16:colId xmlns:a16="http://schemas.microsoft.com/office/drawing/2014/main" val="20000"/>
                    </a:ext>
                  </a:extLst>
                </a:gridCol>
                <a:gridCol w="1000080">
                  <a:extLst>
                    <a:ext uri="{9D8B030D-6E8A-4147-A177-3AD203B41FA5}">
                      <a16:colId xmlns:a16="http://schemas.microsoft.com/office/drawing/2014/main" val="20001"/>
                    </a:ext>
                  </a:extLst>
                </a:gridCol>
                <a:gridCol w="1000080">
                  <a:extLst>
                    <a:ext uri="{9D8B030D-6E8A-4147-A177-3AD203B41FA5}">
                      <a16:colId xmlns:a16="http://schemas.microsoft.com/office/drawing/2014/main" val="20002"/>
                    </a:ext>
                  </a:extLst>
                </a:gridCol>
                <a:gridCol w="1214280">
                  <a:extLst>
                    <a:ext uri="{9D8B030D-6E8A-4147-A177-3AD203B41FA5}">
                      <a16:colId xmlns:a16="http://schemas.microsoft.com/office/drawing/2014/main" val="20003"/>
                    </a:ext>
                  </a:extLst>
                </a:gridCol>
              </a:tblGrid>
              <a:tr h="425160">
                <a:tc>
                  <a:txBody>
                    <a:bodyPr/>
                    <a:lstStyle/>
                    <a:p>
                      <a:pPr algn="r">
                        <a:lnSpc>
                          <a:spcPct val="95000"/>
                        </a:lnSpc>
                      </a:pPr>
                      <a:r>
                        <a:rPr lang="es-PE" sz="2400" b="1" strike="noStrike" spc="-1" dirty="0" err="1">
                          <a:solidFill>
                            <a:schemeClr val="bg2">
                              <a:lumMod val="25000"/>
                            </a:schemeClr>
                          </a:solidFill>
                          <a:latin typeface="Arial Narrow"/>
                        </a:rPr>
                        <a:t>P</a:t>
                      </a:r>
                      <a:r>
                        <a:rPr lang="es-PE" sz="2400" b="1" strike="noStrike" spc="-1" baseline="-30000" dirty="0" err="1">
                          <a:solidFill>
                            <a:schemeClr val="bg2">
                              <a:lumMod val="25000"/>
                            </a:schemeClr>
                          </a:solidFill>
                          <a:latin typeface="Arial Narrow"/>
                        </a:rPr>
                        <a:t>1</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500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800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1400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425160">
                <a:tc>
                  <a:txBody>
                    <a:bodyPr/>
                    <a:lstStyle/>
                    <a:p>
                      <a:pPr algn="r">
                        <a:lnSpc>
                          <a:spcPct val="95000"/>
                        </a:lnSpc>
                      </a:pPr>
                      <a:r>
                        <a:rPr lang="es-PE" sz="2400" b="1" strike="noStrike" spc="-1">
                          <a:solidFill>
                            <a:schemeClr val="bg2">
                              <a:lumMod val="25000"/>
                            </a:schemeClr>
                          </a:solidFill>
                          <a:latin typeface="Arial Narrow"/>
                        </a:rPr>
                        <a:t>P</a:t>
                      </a:r>
                      <a:r>
                        <a:rPr lang="es-PE" sz="2400" b="1" strike="noStrike" spc="-1" baseline="-30000">
                          <a:solidFill>
                            <a:schemeClr val="bg2">
                              <a:lumMod val="25000"/>
                            </a:schemeClr>
                          </a:solidFill>
                          <a:latin typeface="Arial Narrow"/>
                        </a:rPr>
                        <a:t>2</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500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800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435240">
                <a:tc>
                  <a:txBody>
                    <a:bodyPr/>
                    <a:lstStyle/>
                    <a:p>
                      <a:pPr algn="r">
                        <a:lnSpc>
                          <a:spcPct val="95000"/>
                        </a:lnSpc>
                      </a:pPr>
                      <a:r>
                        <a:rPr lang="es-PE" sz="2400" b="1" strike="noStrike" spc="-1">
                          <a:solidFill>
                            <a:schemeClr val="bg2">
                              <a:lumMod val="25000"/>
                            </a:schemeClr>
                          </a:solidFill>
                          <a:latin typeface="Arial Narrow"/>
                        </a:rPr>
                        <a:t>P</a:t>
                      </a:r>
                      <a:r>
                        <a:rPr lang="es-PE" sz="2400" b="1" strike="noStrike" spc="-1" baseline="-30000">
                          <a:solidFill>
                            <a:schemeClr val="bg2">
                              <a:lumMod val="25000"/>
                            </a:schemeClr>
                          </a:solidFill>
                          <a:latin typeface="Arial Narrow"/>
                        </a:rPr>
                        <a:t>3</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spcBef>
                          <a:spcPts val="1199"/>
                        </a:spcBef>
                      </a:pPr>
                      <a:r>
                        <a:rPr lang="es-PE" sz="2400" b="1" strike="noStrike" spc="-1" dirty="0">
                          <a:solidFill>
                            <a:srgbClr val="FF0000"/>
                          </a:solidFill>
                          <a:latin typeface="Arial Narrow"/>
                        </a:rPr>
                        <a:t>700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800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bl>
          </a:graphicData>
        </a:graphic>
      </p:graphicFrame>
      <p:graphicFrame>
        <p:nvGraphicFramePr>
          <p:cNvPr id="2" name="1 Diagrama"/>
          <p:cNvGraphicFramePr/>
          <p:nvPr/>
        </p:nvGraphicFramePr>
        <p:xfrm>
          <a:off x="7824360" y="4725000"/>
          <a:ext cx="2544591" cy="1223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CustomShape 5">
            <a:extLst>
              <a:ext uri="{FF2B5EF4-FFF2-40B4-BE49-F238E27FC236}">
                <a16:creationId xmlns:a16="http://schemas.microsoft.com/office/drawing/2014/main" id="{FB5745AE-7582-484E-9F10-49B0C39291DD}"/>
              </a:ext>
            </a:extLst>
          </p:cNvPr>
          <p:cNvSpPr/>
          <p:nvPr/>
        </p:nvSpPr>
        <p:spPr>
          <a:xfrm>
            <a:off x="6096000" y="163488"/>
            <a:ext cx="6096000" cy="56304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lnSpc>
                <a:spcPts val="5800"/>
              </a:lnSpc>
              <a:spcBef>
                <a:spcPct val="0"/>
              </a:spcBef>
            </a:pPr>
            <a:r>
              <a:rPr lang="es-PE" sz="3200" dirty="0">
                <a:solidFill>
                  <a:schemeClr val="bg1"/>
                </a:solidFill>
                <a:effectLst>
                  <a:outerShdw blurRad="63500" dist="38100" dir="5400000" algn="t" rotWithShape="0">
                    <a:prstClr val="black">
                      <a:alpha val="25000"/>
                    </a:prstClr>
                  </a:outerShdw>
                </a:effectLst>
                <a:latin typeface="Bauhaus 93" pitchFamily="82" charset="0"/>
              </a:rPr>
              <a:t>Método Vogel</a:t>
            </a:r>
          </a:p>
        </p:txBody>
      </p:sp>
      <p:sp>
        <p:nvSpPr>
          <p:cNvPr id="8" name="CuadroTexto 7">
            <a:extLst>
              <a:ext uri="{FF2B5EF4-FFF2-40B4-BE49-F238E27FC236}">
                <a16:creationId xmlns:a16="http://schemas.microsoft.com/office/drawing/2014/main" id="{78079350-3431-4D6D-8E31-6F999072EAB5}"/>
              </a:ext>
            </a:extLst>
          </p:cNvPr>
          <p:cNvSpPr txBox="1"/>
          <p:nvPr/>
        </p:nvSpPr>
        <p:spPr>
          <a:xfrm>
            <a:off x="258793" y="2191109"/>
            <a:ext cx="1380226" cy="646331"/>
          </a:xfrm>
          <a:prstGeom prst="rect">
            <a:avLst/>
          </a:prstGeom>
          <a:solidFill>
            <a:srgbClr val="FFFF00"/>
          </a:solidFill>
        </p:spPr>
        <p:txBody>
          <a:bodyPr wrap="square" rtlCol="0">
            <a:spAutoFit/>
          </a:bodyPr>
          <a:lstStyle/>
          <a:p>
            <a:r>
              <a:rPr lang="es-ES" b="1" dirty="0"/>
              <a:t>Hallamos las penalidades</a:t>
            </a:r>
          </a:p>
        </p:txBody>
      </p:sp>
      <p:sp>
        <p:nvSpPr>
          <p:cNvPr id="9" name="Rectángulo 8">
            <a:extLst>
              <a:ext uri="{FF2B5EF4-FFF2-40B4-BE49-F238E27FC236}">
                <a16:creationId xmlns:a16="http://schemas.microsoft.com/office/drawing/2014/main" id="{D5E27924-6FBD-4748-B2EC-0A890D5BCCDD}"/>
              </a:ext>
            </a:extLst>
          </p:cNvPr>
          <p:cNvSpPr/>
          <p:nvPr/>
        </p:nvSpPr>
        <p:spPr>
          <a:xfrm>
            <a:off x="258136" y="3054556"/>
            <a:ext cx="1372258" cy="923330"/>
          </a:xfrm>
          <a:prstGeom prst="rect">
            <a:avLst/>
          </a:prstGeom>
          <a:solidFill>
            <a:srgbClr val="FFFF00"/>
          </a:solidFill>
        </p:spPr>
        <p:txBody>
          <a:bodyPr wrap="square">
            <a:spAutoFit/>
          </a:bodyPr>
          <a:lstStyle/>
          <a:p>
            <a:r>
              <a:rPr lang="es-ES" b="1" dirty="0"/>
              <a:t>Hallamos la mayor penalidad</a:t>
            </a:r>
            <a:endParaRPr lang="es-PE" b="1" dirty="0"/>
          </a:p>
        </p:txBody>
      </p:sp>
      <p:sp>
        <p:nvSpPr>
          <p:cNvPr id="10" name="CuadroTexto 9">
            <a:extLst>
              <a:ext uri="{FF2B5EF4-FFF2-40B4-BE49-F238E27FC236}">
                <a16:creationId xmlns:a16="http://schemas.microsoft.com/office/drawing/2014/main" id="{6CD7C9B9-6580-4886-96F7-C021F37121C7}"/>
              </a:ext>
            </a:extLst>
          </p:cNvPr>
          <p:cNvSpPr txBox="1"/>
          <p:nvPr/>
        </p:nvSpPr>
        <p:spPr>
          <a:xfrm>
            <a:off x="264551" y="4198193"/>
            <a:ext cx="1380226" cy="646331"/>
          </a:xfrm>
          <a:prstGeom prst="rect">
            <a:avLst/>
          </a:prstGeom>
          <a:solidFill>
            <a:srgbClr val="FFFF00"/>
          </a:solidFill>
        </p:spPr>
        <p:txBody>
          <a:bodyPr wrap="square" rtlCol="0">
            <a:spAutoFit/>
          </a:bodyPr>
          <a:lstStyle/>
          <a:p>
            <a:r>
              <a:rPr lang="es-ES" b="1" dirty="0"/>
              <a:t>Hallamos el menor costo</a:t>
            </a:r>
          </a:p>
        </p:txBody>
      </p:sp>
      <p:sp>
        <p:nvSpPr>
          <p:cNvPr id="11" name="CuadroTexto 10">
            <a:extLst>
              <a:ext uri="{FF2B5EF4-FFF2-40B4-BE49-F238E27FC236}">
                <a16:creationId xmlns:a16="http://schemas.microsoft.com/office/drawing/2014/main" id="{1943844C-BAA4-4EB3-9189-FF186C5FACFD}"/>
              </a:ext>
            </a:extLst>
          </p:cNvPr>
          <p:cNvSpPr txBox="1"/>
          <p:nvPr/>
        </p:nvSpPr>
        <p:spPr>
          <a:xfrm>
            <a:off x="264551" y="5086705"/>
            <a:ext cx="1380226" cy="646331"/>
          </a:xfrm>
          <a:prstGeom prst="rect">
            <a:avLst/>
          </a:prstGeom>
          <a:solidFill>
            <a:srgbClr val="FFFF00"/>
          </a:solidFill>
        </p:spPr>
        <p:txBody>
          <a:bodyPr wrap="square" rtlCol="0">
            <a:spAutoFit/>
          </a:bodyPr>
          <a:lstStyle/>
          <a:p>
            <a:r>
              <a:rPr lang="es-ES" b="1" dirty="0"/>
              <a:t>Anotamos la operación</a:t>
            </a:r>
          </a:p>
        </p:txBody>
      </p:sp>
      <p:sp>
        <p:nvSpPr>
          <p:cNvPr id="3" name="Globo: flecha hacia abajo 2">
            <a:extLst>
              <a:ext uri="{FF2B5EF4-FFF2-40B4-BE49-F238E27FC236}">
                <a16:creationId xmlns:a16="http://schemas.microsoft.com/office/drawing/2014/main" id="{F146E877-4DAC-D619-404D-E8DCCCFEC125}"/>
              </a:ext>
            </a:extLst>
          </p:cNvPr>
          <p:cNvSpPr/>
          <p:nvPr/>
        </p:nvSpPr>
        <p:spPr>
          <a:xfrm>
            <a:off x="276044" y="1276709"/>
            <a:ext cx="1345721" cy="897148"/>
          </a:xfrm>
          <a:prstGeom prst="downArrowCallou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rgbClr val="FF0000"/>
                </a:solidFill>
              </a:rPr>
              <a:t>Pasos:</a:t>
            </a:r>
            <a:endParaRPr lang="es-PE" sz="2400" dirty="0">
              <a:solidFill>
                <a:srgbClr val="FF0000"/>
              </a:solidFill>
            </a:endParaRPr>
          </a:p>
        </p:txBody>
      </p:sp>
    </p:spTree>
    <p:extLst>
      <p:ext uri="{BB962C8B-B14F-4D97-AF65-F5344CB8AC3E}">
        <p14:creationId xmlns:p14="http://schemas.microsoft.com/office/powerpoint/2010/main" val="11626812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4" name="CustomShape 1"/>
          <p:cNvSpPr/>
          <p:nvPr/>
        </p:nvSpPr>
        <p:spPr>
          <a:xfrm>
            <a:off x="1524000" y="239400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975" name="Table 2"/>
          <p:cNvGraphicFramePr/>
          <p:nvPr/>
        </p:nvGraphicFramePr>
        <p:xfrm>
          <a:off x="2881200" y="1214280"/>
          <a:ext cx="7457760" cy="4279392"/>
        </p:xfrm>
        <a:graphic>
          <a:graphicData uri="http://schemas.openxmlformats.org/drawingml/2006/table">
            <a:tbl>
              <a:tblPr/>
              <a:tblGrid>
                <a:gridCol w="1357200">
                  <a:extLst>
                    <a:ext uri="{9D8B030D-6E8A-4147-A177-3AD203B41FA5}">
                      <a16:colId xmlns:a16="http://schemas.microsoft.com/office/drawing/2014/main" val="20000"/>
                    </a:ext>
                  </a:extLst>
                </a:gridCol>
                <a:gridCol w="975960">
                  <a:extLst>
                    <a:ext uri="{9D8B030D-6E8A-4147-A177-3AD203B41FA5}">
                      <a16:colId xmlns:a16="http://schemas.microsoft.com/office/drawing/2014/main" val="20001"/>
                    </a:ext>
                  </a:extLst>
                </a:gridCol>
                <a:gridCol w="1083960">
                  <a:extLst>
                    <a:ext uri="{9D8B030D-6E8A-4147-A177-3AD203B41FA5}">
                      <a16:colId xmlns:a16="http://schemas.microsoft.com/office/drawing/2014/main" val="20002"/>
                    </a:ext>
                  </a:extLst>
                </a:gridCol>
                <a:gridCol w="1205640">
                  <a:extLst>
                    <a:ext uri="{9D8B030D-6E8A-4147-A177-3AD203B41FA5}">
                      <a16:colId xmlns:a16="http://schemas.microsoft.com/office/drawing/2014/main" val="20003"/>
                    </a:ext>
                  </a:extLst>
                </a:gridCol>
                <a:gridCol w="993600">
                  <a:extLst>
                    <a:ext uri="{9D8B030D-6E8A-4147-A177-3AD203B41FA5}">
                      <a16:colId xmlns:a16="http://schemas.microsoft.com/office/drawing/2014/main" val="20004"/>
                    </a:ext>
                  </a:extLst>
                </a:gridCol>
                <a:gridCol w="613440">
                  <a:extLst>
                    <a:ext uri="{9D8B030D-6E8A-4147-A177-3AD203B41FA5}">
                      <a16:colId xmlns:a16="http://schemas.microsoft.com/office/drawing/2014/main" val="20005"/>
                    </a:ext>
                  </a:extLst>
                </a:gridCol>
                <a:gridCol w="621360">
                  <a:extLst>
                    <a:ext uri="{9D8B030D-6E8A-4147-A177-3AD203B41FA5}">
                      <a16:colId xmlns:a16="http://schemas.microsoft.com/office/drawing/2014/main" val="20006"/>
                    </a:ext>
                  </a:extLst>
                </a:gridCol>
                <a:gridCol w="606600">
                  <a:extLst>
                    <a:ext uri="{9D8B030D-6E8A-4147-A177-3AD203B41FA5}">
                      <a16:colId xmlns:a16="http://schemas.microsoft.com/office/drawing/2014/main" val="20007"/>
                    </a:ext>
                  </a:extLst>
                </a:gridCol>
              </a:tblGrid>
              <a:tr h="430920">
                <a:tc>
                  <a:txBody>
                    <a:bodyPr/>
                    <a:lstStyle/>
                    <a:p>
                      <a:endParaRPr lang="en-US"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Dallas</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Denver</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Phoenix</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Oferta </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a:solidFill>
                            <a:schemeClr val="bg2">
                              <a:lumMod val="25000"/>
                            </a:schemeClr>
                          </a:solidFill>
                          <a:latin typeface="Arial Narrow"/>
                        </a:rPr>
                        <a:t>P</a:t>
                      </a:r>
                      <a:r>
                        <a:rPr lang="es-PE" sz="2400" b="1" strike="noStrike" spc="-1" baseline="-30000">
                          <a:solidFill>
                            <a:schemeClr val="bg2">
                              <a:lumMod val="25000"/>
                            </a:schemeClr>
                          </a:solidFill>
                          <a:latin typeface="Arial Narrow"/>
                        </a:rPr>
                        <a:t>1</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a:solidFill>
                            <a:schemeClr val="bg2">
                              <a:lumMod val="25000"/>
                            </a:schemeClr>
                          </a:solidFill>
                          <a:latin typeface="Arial Narrow"/>
                        </a:rPr>
                        <a:t>P</a:t>
                      </a:r>
                      <a:r>
                        <a:rPr lang="es-PE" sz="2400" b="1" strike="noStrike" spc="-1" baseline="-30000">
                          <a:solidFill>
                            <a:schemeClr val="bg2">
                              <a:lumMod val="25000"/>
                            </a:schemeClr>
                          </a:solidFill>
                          <a:latin typeface="Arial Narrow"/>
                        </a:rPr>
                        <a:t>2</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a:solidFill>
                            <a:schemeClr val="bg2">
                              <a:lumMod val="25000"/>
                            </a:schemeClr>
                          </a:solidFill>
                          <a:latin typeface="Arial Narrow"/>
                        </a:rPr>
                        <a:t>P</a:t>
                      </a:r>
                      <a:r>
                        <a:rPr lang="es-PE" sz="2400" b="1" strike="noStrike" spc="-1" baseline="-30000">
                          <a:solidFill>
                            <a:schemeClr val="bg2">
                              <a:lumMod val="25000"/>
                            </a:schemeClr>
                          </a:solidFill>
                          <a:latin typeface="Arial Narrow"/>
                        </a:rPr>
                        <a:t>3</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772200">
                <a:tc>
                  <a:txBody>
                    <a:bodyPr/>
                    <a:lstStyle/>
                    <a:p>
                      <a:pPr algn="ctr">
                        <a:lnSpc>
                          <a:spcPct val="95000"/>
                        </a:lnSpc>
                      </a:pPr>
                      <a:r>
                        <a:rPr lang="es-PE" sz="2400" b="1" strike="noStrike" spc="-1">
                          <a:solidFill>
                            <a:schemeClr val="bg2">
                              <a:lumMod val="25000"/>
                            </a:schemeClr>
                          </a:solidFill>
                          <a:latin typeface="Arial Narrow"/>
                        </a:rPr>
                        <a:t>Nueva York</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1600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a:solidFill>
                            <a:schemeClr val="bg2">
                              <a:lumMod val="25000"/>
                            </a:schemeClr>
                          </a:solidFill>
                          <a:latin typeface="Arial Narrow"/>
                        </a:rPr>
                        <a:t>3</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200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200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200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772200">
                <a:tc>
                  <a:txBody>
                    <a:bodyPr/>
                    <a:lstStyle/>
                    <a:p>
                      <a:pPr algn="ctr">
                        <a:lnSpc>
                          <a:spcPct val="95000"/>
                        </a:lnSpc>
                      </a:pPr>
                      <a:r>
                        <a:rPr lang="es-PE" sz="2400" b="1" strike="noStrike" spc="-1">
                          <a:solidFill>
                            <a:schemeClr val="bg2">
                              <a:lumMod val="25000"/>
                            </a:schemeClr>
                          </a:solidFill>
                          <a:latin typeface="Arial Narrow"/>
                        </a:rPr>
                        <a:t>Chicago</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900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a:solidFill>
                            <a:schemeClr val="bg2">
                              <a:lumMod val="25000"/>
                            </a:schemeClr>
                          </a:solidFill>
                          <a:latin typeface="Arial Narrow"/>
                        </a:rPr>
                        <a:t>2</a:t>
                      </a:r>
                      <a:endParaRPr lang="es-PE" sz="2400" b="0" strike="noStrike" spc="-1">
                        <a:solidFill>
                          <a:schemeClr val="bg2">
                            <a:lumMod val="25000"/>
                          </a:schemeClr>
                        </a:solidFill>
                        <a:latin typeface="Arial"/>
                      </a:endParaRPr>
                    </a:p>
                    <a:p>
                      <a:pPr algn="ctr">
                        <a:lnSpc>
                          <a:spcPct val="95000"/>
                        </a:lnSpc>
                      </a:pPr>
                      <a:r>
                        <a:rPr lang="es-PE" sz="2400" b="1" strike="noStrike" spc="-1">
                          <a:solidFill>
                            <a:schemeClr val="bg2">
                              <a:lumMod val="25000"/>
                            </a:schemeClr>
                          </a:solidFill>
                          <a:latin typeface="Arial Narrow"/>
                        </a:rPr>
                        <a:t>1</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100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100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100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1113480">
                <a:tc>
                  <a:txBody>
                    <a:bodyPr/>
                    <a:lstStyle/>
                    <a:p>
                      <a:pPr algn="ctr">
                        <a:lnSpc>
                          <a:spcPct val="95000"/>
                        </a:lnSpc>
                      </a:pPr>
                      <a:r>
                        <a:rPr lang="es-PE" sz="2400" b="1" strike="noStrike" spc="-1">
                          <a:solidFill>
                            <a:schemeClr val="bg2">
                              <a:lumMod val="25000"/>
                            </a:schemeClr>
                          </a:solidFill>
                          <a:latin typeface="Arial Narrow"/>
                        </a:rPr>
                        <a:t>Los Ángeles</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a:solidFill>
                            <a:schemeClr val="bg2">
                              <a:lumMod val="25000"/>
                            </a:schemeClr>
                          </a:solidFill>
                          <a:latin typeface="Arial Narrow"/>
                        </a:rPr>
                        <a:t>3</a:t>
                      </a:r>
                      <a:endParaRPr lang="es-PE" sz="2400" b="0" strike="noStrike" spc="-1">
                        <a:solidFill>
                          <a:schemeClr val="bg2">
                            <a:lumMod val="25000"/>
                          </a:schemeClr>
                        </a:solidFill>
                        <a:latin typeface="Arial"/>
                      </a:endParaRPr>
                    </a:p>
                    <a:p>
                      <a:pPr algn="ctr">
                        <a:lnSpc>
                          <a:spcPct val="95000"/>
                        </a:lnSpc>
                      </a:pPr>
                      <a:r>
                        <a:rPr lang="es-PE" sz="2400" b="1" strike="noStrike" spc="-1">
                          <a:solidFill>
                            <a:schemeClr val="bg2">
                              <a:lumMod val="25000"/>
                            </a:schemeClr>
                          </a:solidFill>
                          <a:latin typeface="Arial Narrow"/>
                        </a:rPr>
                        <a:t>1</a:t>
                      </a:r>
                      <a:endParaRPr lang="es-PE" sz="2400" b="0" strike="noStrike" spc="-1">
                        <a:solidFill>
                          <a:schemeClr val="bg2">
                            <a:lumMod val="25000"/>
                          </a:schemeClr>
                        </a:solidFill>
                        <a:latin typeface="Arial"/>
                      </a:endParaRPr>
                    </a:p>
                    <a:p>
                      <a:pPr algn="ctr">
                        <a:lnSpc>
                          <a:spcPct val="95000"/>
                        </a:lnSpc>
                      </a:pPr>
                      <a:r>
                        <a:rPr lang="es-PE" sz="2400" b="1" strike="noStrike" spc="-1">
                          <a:solidFill>
                            <a:schemeClr val="bg2">
                              <a:lumMod val="25000"/>
                            </a:schemeClr>
                          </a:solidFill>
                          <a:latin typeface="Arial Narrow"/>
                        </a:rPr>
                        <a:t>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gn="ctr">
                        <a:lnSpc>
                          <a:spcPct val="95000"/>
                        </a:lnSpc>
                        <a:spcBef>
                          <a:spcPts val="1199"/>
                        </a:spcBef>
                      </a:pPr>
                      <a:r>
                        <a:rPr lang="es-PE" sz="2400" b="1" strike="noStrike" spc="-1">
                          <a:solidFill>
                            <a:schemeClr val="bg2">
                              <a:lumMod val="25000"/>
                            </a:schemeClr>
                          </a:solidFill>
                          <a:latin typeface="Arial Narrow"/>
                        </a:rPr>
                        <a:t>600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gn="ctr">
                        <a:lnSpc>
                          <a:spcPct val="95000"/>
                        </a:lnSpc>
                        <a:spcBef>
                          <a:spcPts val="1199"/>
                        </a:spcBef>
                      </a:pPr>
                      <a:r>
                        <a:rPr lang="es-PE" sz="2400" b="1" strike="noStrike" spc="-1">
                          <a:solidFill>
                            <a:schemeClr val="bg2">
                              <a:lumMod val="25000"/>
                            </a:schemeClr>
                          </a:solidFill>
                          <a:latin typeface="Arial Narrow"/>
                        </a:rPr>
                        <a:t>400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1D528D"/>
                      </a:solidFill>
                    </a:lnB>
                    <a:noFill/>
                  </a:tcPr>
                </a:tc>
                <a:extLst>
                  <a:ext uri="{0D108BD9-81ED-4DB2-BD59-A6C34878D82A}">
                    <a16:rowId xmlns:a16="http://schemas.microsoft.com/office/drawing/2014/main" val="10003"/>
                  </a:ext>
                </a:extLst>
              </a:tr>
              <a:tr h="1114200">
                <a:tc>
                  <a:txBody>
                    <a:bodyPr/>
                    <a:lstStyle/>
                    <a:p>
                      <a:pPr algn="ctr">
                        <a:lnSpc>
                          <a:spcPct val="95000"/>
                        </a:lnSpc>
                      </a:pPr>
                      <a:r>
                        <a:rPr lang="es-PE" sz="2400" b="1" strike="noStrike" spc="-1">
                          <a:solidFill>
                            <a:schemeClr val="bg2">
                              <a:lumMod val="25000"/>
                            </a:schemeClr>
                          </a:solidFill>
                          <a:latin typeface="Arial Narrow"/>
                        </a:rPr>
                        <a:t>Demanda </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4</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2</a:t>
                      </a:r>
                      <a:endParaRPr lang="es-PE" sz="2400" b="0" strike="noStrike" spc="-1">
                        <a:solidFill>
                          <a:schemeClr val="bg2">
                            <a:lumMod val="25000"/>
                          </a:schemeClr>
                        </a:solidFill>
                        <a:latin typeface="Arial"/>
                      </a:endParaRPr>
                    </a:p>
                    <a:p>
                      <a:pPr algn="ctr">
                        <a:lnSpc>
                          <a:spcPct val="95000"/>
                        </a:lnSpc>
                      </a:pPr>
                      <a:r>
                        <a:rPr lang="es-PE" sz="2400" b="1" strike="noStrike" spc="-1">
                          <a:solidFill>
                            <a:schemeClr val="bg2">
                              <a:lumMod val="25000"/>
                            </a:schemeClr>
                          </a:solidFill>
                          <a:latin typeface="Arial Narrow"/>
                        </a:rPr>
                        <a:t>1</a:t>
                      </a:r>
                      <a:endParaRPr lang="es-PE" sz="2400" b="0" strike="noStrike" spc="-1">
                        <a:solidFill>
                          <a:schemeClr val="bg2">
                            <a:lumMod val="25000"/>
                          </a:schemeClr>
                        </a:solidFill>
                        <a:latin typeface="Arial"/>
                      </a:endParaRPr>
                    </a:p>
                    <a:p>
                      <a:pPr algn="ctr">
                        <a:lnSpc>
                          <a:spcPct val="95000"/>
                        </a:lnSpc>
                      </a:pPr>
                      <a:r>
                        <a:rPr lang="es-PE" sz="2400" b="1" strike="noStrike" spc="-1">
                          <a:solidFill>
                            <a:schemeClr val="bg2">
                              <a:lumMod val="25000"/>
                            </a:schemeClr>
                          </a:solidFill>
                          <a:latin typeface="Arial Narrow"/>
                        </a:rPr>
                        <a:t>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2</a:t>
                      </a:r>
                      <a:endParaRPr lang="es-PE" sz="2400" b="0" strike="noStrike" spc="-1">
                        <a:solidFill>
                          <a:schemeClr val="bg2">
                            <a:lumMod val="25000"/>
                          </a:schemeClr>
                        </a:solidFill>
                        <a:latin typeface="Arial"/>
                      </a:endParaRPr>
                    </a:p>
                    <a:p>
                      <a:pPr algn="ctr">
                        <a:lnSpc>
                          <a:spcPct val="95000"/>
                        </a:lnSpc>
                      </a:pPr>
                      <a:r>
                        <a:rPr lang="es-PE" sz="2400" b="1" strike="noStrike" spc="-1">
                          <a:solidFill>
                            <a:schemeClr val="bg2">
                              <a:lumMod val="25000"/>
                            </a:schemeClr>
                          </a:solidFill>
                          <a:latin typeface="Arial Narrow"/>
                        </a:rPr>
                        <a:t>0</a:t>
                      </a:r>
                      <a:endParaRPr lang="es-PE" sz="2400" b="0" strike="noStrike" spc="-1">
                        <a:solidFill>
                          <a:schemeClr val="bg2">
                            <a:lumMod val="25000"/>
                          </a:schemeClr>
                        </a:solidFill>
                        <a:latin typeface="Arial"/>
                      </a:endParaRPr>
                    </a:p>
                  </a:txBody>
                  <a:tcPr>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1D528D"/>
                      </a:solidFill>
                    </a:lnL>
                    <a:lnR w="12240">
                      <a:noFill/>
                    </a:lnR>
                    <a:lnT w="12240">
                      <a:solidFill>
                        <a:srgbClr val="1D528D"/>
                      </a:solidFill>
                    </a:lnT>
                    <a:lnB w="12240">
                      <a:noFill/>
                    </a:lnB>
                    <a:noFill/>
                  </a:tcPr>
                </a:tc>
                <a:tc>
                  <a:txBody>
                    <a:bodyPr/>
                    <a:lstStyle/>
                    <a:p>
                      <a:endParaRPr lang="en-US">
                        <a:solidFill>
                          <a:schemeClr val="bg2">
                            <a:lumMod val="25000"/>
                          </a:schemeClr>
                        </a:solidFill>
                      </a:endParaRPr>
                    </a:p>
                  </a:txBody>
                  <a:tcPr>
                    <a:lnL w="12240">
                      <a:noFill/>
                    </a:lnL>
                    <a:lnR w="12240">
                      <a:noFill/>
                    </a:lnR>
                    <a:lnT w="12240">
                      <a:solidFill>
                        <a:srgbClr val="1D528D"/>
                      </a:solidFill>
                    </a:lnT>
                    <a:lnB w="12240">
                      <a:noFill/>
                    </a:lnB>
                    <a:noFill/>
                  </a:tcPr>
                </a:tc>
                <a:tc>
                  <a:txBody>
                    <a:bodyPr/>
                    <a:lstStyle/>
                    <a:p>
                      <a:endParaRPr lang="en-US">
                        <a:solidFill>
                          <a:schemeClr val="bg2">
                            <a:lumMod val="25000"/>
                          </a:schemeClr>
                        </a:solidFill>
                      </a:endParaRPr>
                    </a:p>
                  </a:txBody>
                  <a:tcPr>
                    <a:lnL w="12240">
                      <a:noFill/>
                    </a:lnL>
                    <a:lnR w="12240">
                      <a:noFill/>
                    </a:lnR>
                    <a:lnT w="12240">
                      <a:solidFill>
                        <a:srgbClr val="1D528D"/>
                      </a:solidFill>
                    </a:lnT>
                    <a:lnB w="12240">
                      <a:noFill/>
                    </a:lnB>
                    <a:noFill/>
                  </a:tcPr>
                </a:tc>
                <a:tc>
                  <a:txBody>
                    <a:bodyPr/>
                    <a:lstStyle/>
                    <a:p>
                      <a:endParaRPr lang="en-US" dirty="0">
                        <a:solidFill>
                          <a:schemeClr val="bg2">
                            <a:lumMod val="25000"/>
                          </a:schemeClr>
                        </a:solidFill>
                      </a:endParaRPr>
                    </a:p>
                  </a:txBody>
                  <a:tcPr>
                    <a:lnL w="12240">
                      <a:noFill/>
                    </a:lnL>
                    <a:lnR w="12240">
                      <a:noFill/>
                    </a:lnR>
                    <a:lnT w="12240">
                      <a:solidFill>
                        <a:srgbClr val="1D528D"/>
                      </a:solidFill>
                    </a:lnT>
                    <a:lnB w="12240">
                      <a:noFill/>
                    </a:lnB>
                    <a:noFill/>
                  </a:tcPr>
                </a:tc>
                <a:extLst>
                  <a:ext uri="{0D108BD9-81ED-4DB2-BD59-A6C34878D82A}">
                    <a16:rowId xmlns:a16="http://schemas.microsoft.com/office/drawing/2014/main" val="10004"/>
                  </a:ext>
                </a:extLst>
              </a:tr>
            </a:tbl>
          </a:graphicData>
        </a:graphic>
      </p:graphicFrame>
      <p:sp>
        <p:nvSpPr>
          <p:cNvPr id="976" name="CustomShape 3"/>
          <p:cNvSpPr/>
          <p:nvPr/>
        </p:nvSpPr>
        <p:spPr>
          <a:xfrm>
            <a:off x="1524000" y="277488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977" name="Table 4"/>
          <p:cNvGraphicFramePr/>
          <p:nvPr/>
        </p:nvGraphicFramePr>
        <p:xfrm>
          <a:off x="2881200" y="5484960"/>
          <a:ext cx="4643280" cy="1316736"/>
        </p:xfrm>
        <a:graphic>
          <a:graphicData uri="http://schemas.openxmlformats.org/drawingml/2006/table">
            <a:tbl>
              <a:tblPr/>
              <a:tblGrid>
                <a:gridCol w="1357200">
                  <a:extLst>
                    <a:ext uri="{9D8B030D-6E8A-4147-A177-3AD203B41FA5}">
                      <a16:colId xmlns:a16="http://schemas.microsoft.com/office/drawing/2014/main" val="20000"/>
                    </a:ext>
                  </a:extLst>
                </a:gridCol>
                <a:gridCol w="966960">
                  <a:extLst>
                    <a:ext uri="{9D8B030D-6E8A-4147-A177-3AD203B41FA5}">
                      <a16:colId xmlns:a16="http://schemas.microsoft.com/office/drawing/2014/main" val="20001"/>
                    </a:ext>
                  </a:extLst>
                </a:gridCol>
                <a:gridCol w="1086840">
                  <a:extLst>
                    <a:ext uri="{9D8B030D-6E8A-4147-A177-3AD203B41FA5}">
                      <a16:colId xmlns:a16="http://schemas.microsoft.com/office/drawing/2014/main" val="20002"/>
                    </a:ext>
                  </a:extLst>
                </a:gridCol>
                <a:gridCol w="1232280">
                  <a:extLst>
                    <a:ext uri="{9D8B030D-6E8A-4147-A177-3AD203B41FA5}">
                      <a16:colId xmlns:a16="http://schemas.microsoft.com/office/drawing/2014/main" val="20003"/>
                    </a:ext>
                  </a:extLst>
                </a:gridCol>
              </a:tblGrid>
              <a:tr h="425160">
                <a:tc>
                  <a:txBody>
                    <a:bodyPr/>
                    <a:lstStyle/>
                    <a:p>
                      <a:pPr algn="r">
                        <a:lnSpc>
                          <a:spcPct val="95000"/>
                        </a:lnSpc>
                      </a:pPr>
                      <a:r>
                        <a:rPr lang="es-PE" sz="2400" b="1" strike="noStrike" spc="-1" dirty="0" err="1">
                          <a:solidFill>
                            <a:schemeClr val="bg2">
                              <a:lumMod val="25000"/>
                            </a:schemeClr>
                          </a:solidFill>
                          <a:latin typeface="Arial Narrow"/>
                        </a:rPr>
                        <a:t>P</a:t>
                      </a:r>
                      <a:r>
                        <a:rPr lang="es-PE" sz="2400" b="1" strike="noStrike" spc="-1" baseline="-30000" dirty="0" err="1">
                          <a:solidFill>
                            <a:schemeClr val="bg2">
                              <a:lumMod val="25000"/>
                            </a:schemeClr>
                          </a:solidFill>
                          <a:latin typeface="Arial Narrow"/>
                        </a:rPr>
                        <a:t>1</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500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800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1400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425160">
                <a:tc>
                  <a:txBody>
                    <a:bodyPr/>
                    <a:lstStyle/>
                    <a:p>
                      <a:pPr algn="r">
                        <a:lnSpc>
                          <a:spcPct val="95000"/>
                        </a:lnSpc>
                      </a:pPr>
                      <a:r>
                        <a:rPr lang="es-PE" sz="2400" b="1" strike="noStrike" spc="-1">
                          <a:solidFill>
                            <a:schemeClr val="bg2">
                              <a:lumMod val="25000"/>
                            </a:schemeClr>
                          </a:solidFill>
                          <a:latin typeface="Arial Narrow"/>
                        </a:rPr>
                        <a:t>P</a:t>
                      </a:r>
                      <a:r>
                        <a:rPr lang="es-PE" sz="2400" b="1" strike="noStrike" spc="-1" baseline="-30000">
                          <a:solidFill>
                            <a:schemeClr val="bg2">
                              <a:lumMod val="25000"/>
                            </a:schemeClr>
                          </a:solidFill>
                          <a:latin typeface="Arial Narrow"/>
                        </a:rPr>
                        <a:t>2</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500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800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435240">
                <a:tc>
                  <a:txBody>
                    <a:bodyPr/>
                    <a:lstStyle/>
                    <a:p>
                      <a:pPr algn="r">
                        <a:lnSpc>
                          <a:spcPct val="95000"/>
                        </a:lnSpc>
                      </a:pPr>
                      <a:r>
                        <a:rPr lang="es-PE" sz="2400" b="1" strike="noStrike" spc="-1">
                          <a:solidFill>
                            <a:schemeClr val="bg2">
                              <a:lumMod val="25000"/>
                            </a:schemeClr>
                          </a:solidFill>
                          <a:latin typeface="Arial Narrow"/>
                        </a:rPr>
                        <a:t>P</a:t>
                      </a:r>
                      <a:r>
                        <a:rPr lang="es-PE" sz="2400" b="1" strike="noStrike" spc="-1" baseline="-30000">
                          <a:solidFill>
                            <a:schemeClr val="bg2">
                              <a:lumMod val="25000"/>
                            </a:schemeClr>
                          </a:solidFill>
                          <a:latin typeface="Arial Narrow"/>
                        </a:rPr>
                        <a:t>3</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spcBef>
                          <a:spcPts val="1199"/>
                        </a:spcBef>
                      </a:pPr>
                      <a:r>
                        <a:rPr lang="es-PE" sz="2400" b="1" strike="noStrike" spc="-1" dirty="0">
                          <a:solidFill>
                            <a:srgbClr val="FF0000"/>
                          </a:solidFill>
                          <a:latin typeface="Arial Narrow"/>
                        </a:rPr>
                        <a:t>700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800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bl>
          </a:graphicData>
        </a:graphic>
      </p:graphicFrame>
      <p:graphicFrame>
        <p:nvGraphicFramePr>
          <p:cNvPr id="2" name="1 Diagrama"/>
          <p:cNvGraphicFramePr/>
          <p:nvPr/>
        </p:nvGraphicFramePr>
        <p:xfrm>
          <a:off x="7824360" y="4725000"/>
          <a:ext cx="2520000" cy="18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CustomShape 5">
            <a:extLst>
              <a:ext uri="{FF2B5EF4-FFF2-40B4-BE49-F238E27FC236}">
                <a16:creationId xmlns:a16="http://schemas.microsoft.com/office/drawing/2014/main" id="{46C85B1C-CDD2-40B7-B2B0-D39C20991F2C}"/>
              </a:ext>
            </a:extLst>
          </p:cNvPr>
          <p:cNvSpPr/>
          <p:nvPr/>
        </p:nvSpPr>
        <p:spPr>
          <a:xfrm>
            <a:off x="6096000" y="163488"/>
            <a:ext cx="6096000" cy="56304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lnSpc>
                <a:spcPts val="5800"/>
              </a:lnSpc>
              <a:spcBef>
                <a:spcPct val="0"/>
              </a:spcBef>
            </a:pPr>
            <a:r>
              <a:rPr lang="es-PE" sz="3200" dirty="0">
                <a:solidFill>
                  <a:schemeClr val="bg1"/>
                </a:solidFill>
                <a:effectLst>
                  <a:outerShdw blurRad="63500" dist="38100" dir="5400000" algn="t" rotWithShape="0">
                    <a:prstClr val="black">
                      <a:alpha val="25000"/>
                    </a:prstClr>
                  </a:outerShdw>
                </a:effectLst>
                <a:latin typeface="Bauhaus 93" pitchFamily="82" charset="0"/>
              </a:rPr>
              <a:t>Método Vogel</a:t>
            </a:r>
          </a:p>
        </p:txBody>
      </p:sp>
      <p:sp>
        <p:nvSpPr>
          <p:cNvPr id="3" name="Globo: flecha hacia abajo 2">
            <a:extLst>
              <a:ext uri="{FF2B5EF4-FFF2-40B4-BE49-F238E27FC236}">
                <a16:creationId xmlns:a16="http://schemas.microsoft.com/office/drawing/2014/main" id="{EE06A600-30CD-8068-4535-D2CCC5DC028D}"/>
              </a:ext>
            </a:extLst>
          </p:cNvPr>
          <p:cNvSpPr/>
          <p:nvPr/>
        </p:nvSpPr>
        <p:spPr>
          <a:xfrm>
            <a:off x="276044" y="1276709"/>
            <a:ext cx="1345721" cy="897148"/>
          </a:xfrm>
          <a:prstGeom prst="downArrowCallou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rgbClr val="FF0000"/>
                </a:solidFill>
              </a:rPr>
              <a:t>Pasos:</a:t>
            </a:r>
            <a:endParaRPr lang="es-PE" sz="2400" dirty="0">
              <a:solidFill>
                <a:srgbClr val="FF0000"/>
              </a:solidFill>
            </a:endParaRPr>
          </a:p>
        </p:txBody>
      </p:sp>
      <p:sp>
        <p:nvSpPr>
          <p:cNvPr id="4" name="CuadroTexto 3">
            <a:extLst>
              <a:ext uri="{FF2B5EF4-FFF2-40B4-BE49-F238E27FC236}">
                <a16:creationId xmlns:a16="http://schemas.microsoft.com/office/drawing/2014/main" id="{C5FF490C-9D15-499C-EF6F-0320EEA42055}"/>
              </a:ext>
            </a:extLst>
          </p:cNvPr>
          <p:cNvSpPr txBox="1"/>
          <p:nvPr/>
        </p:nvSpPr>
        <p:spPr>
          <a:xfrm>
            <a:off x="258793" y="2191109"/>
            <a:ext cx="1380226" cy="646331"/>
          </a:xfrm>
          <a:prstGeom prst="rect">
            <a:avLst/>
          </a:prstGeom>
          <a:solidFill>
            <a:srgbClr val="FFFF00"/>
          </a:solidFill>
        </p:spPr>
        <p:txBody>
          <a:bodyPr wrap="square" rtlCol="0">
            <a:spAutoFit/>
          </a:bodyPr>
          <a:lstStyle/>
          <a:p>
            <a:r>
              <a:rPr lang="es-ES" b="1" dirty="0"/>
              <a:t>Hallamos las penalidades</a:t>
            </a:r>
          </a:p>
        </p:txBody>
      </p:sp>
      <p:sp>
        <p:nvSpPr>
          <p:cNvPr id="5" name="Rectángulo 4">
            <a:extLst>
              <a:ext uri="{FF2B5EF4-FFF2-40B4-BE49-F238E27FC236}">
                <a16:creationId xmlns:a16="http://schemas.microsoft.com/office/drawing/2014/main" id="{51EA7C9C-8AAA-A08C-C9D8-C2F5E2514F3D}"/>
              </a:ext>
            </a:extLst>
          </p:cNvPr>
          <p:cNvSpPr/>
          <p:nvPr/>
        </p:nvSpPr>
        <p:spPr>
          <a:xfrm>
            <a:off x="258136" y="3054556"/>
            <a:ext cx="1372258" cy="923330"/>
          </a:xfrm>
          <a:prstGeom prst="rect">
            <a:avLst/>
          </a:prstGeom>
          <a:solidFill>
            <a:srgbClr val="FFFF00"/>
          </a:solidFill>
        </p:spPr>
        <p:txBody>
          <a:bodyPr wrap="square">
            <a:spAutoFit/>
          </a:bodyPr>
          <a:lstStyle/>
          <a:p>
            <a:r>
              <a:rPr lang="es-ES" b="1" dirty="0"/>
              <a:t>Hallamos la mayor penalidad</a:t>
            </a:r>
            <a:endParaRPr lang="es-PE" b="1" dirty="0"/>
          </a:p>
        </p:txBody>
      </p:sp>
      <p:sp>
        <p:nvSpPr>
          <p:cNvPr id="6" name="CuadroTexto 5">
            <a:extLst>
              <a:ext uri="{FF2B5EF4-FFF2-40B4-BE49-F238E27FC236}">
                <a16:creationId xmlns:a16="http://schemas.microsoft.com/office/drawing/2014/main" id="{50B5E171-4E3E-5F29-736D-2F06DB725A5C}"/>
              </a:ext>
            </a:extLst>
          </p:cNvPr>
          <p:cNvSpPr txBox="1"/>
          <p:nvPr/>
        </p:nvSpPr>
        <p:spPr>
          <a:xfrm>
            <a:off x="264551" y="4198193"/>
            <a:ext cx="1380226" cy="646331"/>
          </a:xfrm>
          <a:prstGeom prst="rect">
            <a:avLst/>
          </a:prstGeom>
          <a:solidFill>
            <a:srgbClr val="FFFF00"/>
          </a:solidFill>
        </p:spPr>
        <p:txBody>
          <a:bodyPr wrap="square" rtlCol="0">
            <a:spAutoFit/>
          </a:bodyPr>
          <a:lstStyle/>
          <a:p>
            <a:r>
              <a:rPr lang="es-ES" b="1" dirty="0"/>
              <a:t>Hallamos el menor costo</a:t>
            </a:r>
          </a:p>
        </p:txBody>
      </p:sp>
      <p:sp>
        <p:nvSpPr>
          <p:cNvPr id="7" name="CuadroTexto 6">
            <a:extLst>
              <a:ext uri="{FF2B5EF4-FFF2-40B4-BE49-F238E27FC236}">
                <a16:creationId xmlns:a16="http://schemas.microsoft.com/office/drawing/2014/main" id="{4694A4BE-4AAF-B8A3-745C-53FBA2C4E0CA}"/>
              </a:ext>
            </a:extLst>
          </p:cNvPr>
          <p:cNvSpPr txBox="1"/>
          <p:nvPr/>
        </p:nvSpPr>
        <p:spPr>
          <a:xfrm>
            <a:off x="264551" y="5086705"/>
            <a:ext cx="1380226" cy="646331"/>
          </a:xfrm>
          <a:prstGeom prst="rect">
            <a:avLst/>
          </a:prstGeom>
          <a:solidFill>
            <a:srgbClr val="FFFF00"/>
          </a:solidFill>
        </p:spPr>
        <p:txBody>
          <a:bodyPr wrap="square" rtlCol="0">
            <a:spAutoFit/>
          </a:bodyPr>
          <a:lstStyle/>
          <a:p>
            <a:r>
              <a:rPr lang="es-ES" b="1" dirty="0"/>
              <a:t>Anotamos la operación</a:t>
            </a:r>
          </a:p>
        </p:txBody>
      </p:sp>
    </p:spTree>
    <p:extLst>
      <p:ext uri="{BB962C8B-B14F-4D97-AF65-F5344CB8AC3E}">
        <p14:creationId xmlns:p14="http://schemas.microsoft.com/office/powerpoint/2010/main" val="536571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 name="TextShape 1"/>
          <p:cNvSpPr txBox="1"/>
          <p:nvPr/>
        </p:nvSpPr>
        <p:spPr>
          <a:xfrm>
            <a:off x="6096000" y="257778"/>
            <a:ext cx="6096000" cy="72504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defPPr>
              <a:defRPr lang="es-PE"/>
            </a:defPPr>
            <a:lvl1pPr algn="ctr" fontAlgn="base">
              <a:lnSpc>
                <a:spcPct val="90000"/>
              </a:lnSpc>
              <a:spcBef>
                <a:spcPct val="0"/>
              </a:spcBef>
              <a:spcAft>
                <a:spcPct val="0"/>
              </a:spcAft>
              <a:buNone/>
              <a:defRPr sz="3200">
                <a:solidFill>
                  <a:schemeClr val="bg1"/>
                </a:solidFill>
                <a:latin typeface="Bauhaus 93" pitchFamily="82" charset="0"/>
              </a:defRPr>
            </a:lvl1pPr>
          </a:lstStyle>
          <a:p>
            <a:r>
              <a:rPr lang="en-US" dirty="0"/>
              <a:t>Respuesta</a:t>
            </a:r>
          </a:p>
        </p:txBody>
      </p:sp>
      <p:graphicFrame>
        <p:nvGraphicFramePr>
          <p:cNvPr id="2" name="1 Diagrama"/>
          <p:cNvGraphicFramePr/>
          <p:nvPr/>
        </p:nvGraphicFramePr>
        <p:xfrm>
          <a:off x="2024040" y="1752480"/>
          <a:ext cx="7857720" cy="46288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82" name="CustomShape 3"/>
          <p:cNvSpPr/>
          <p:nvPr/>
        </p:nvSpPr>
        <p:spPr>
          <a:xfrm>
            <a:off x="4238760" y="2012830"/>
            <a:ext cx="1150560" cy="215640"/>
          </a:xfrm>
          <a:prstGeom prst="rightArrow">
            <a:avLst>
              <a:gd name="adj1" fmla="val 50000"/>
              <a:gd name="adj2" fmla="val 133272"/>
            </a:avLst>
          </a:prstGeom>
          <a:solidFill>
            <a:schemeClr val="bg1"/>
          </a:solidFill>
          <a:ln w="12600">
            <a:solidFill>
              <a:schemeClr val="tx1"/>
            </a:solidFill>
            <a:miter/>
          </a:ln>
        </p:spPr>
        <p:style>
          <a:lnRef idx="0">
            <a:scrgbClr r="0" g="0" b="0"/>
          </a:lnRef>
          <a:fillRef idx="0">
            <a:scrgbClr r="0" g="0" b="0"/>
          </a:fillRef>
          <a:effectRef idx="0">
            <a:scrgbClr r="0" g="0" b="0"/>
          </a:effectRef>
          <a:fontRef idx="minor"/>
        </p:style>
        <p:txBody>
          <a:bodyPr/>
          <a:lstStyle/>
          <a:p>
            <a:endParaRPr lang="es-PE"/>
          </a:p>
        </p:txBody>
      </p:sp>
      <p:sp>
        <p:nvSpPr>
          <p:cNvPr id="983" name="CustomShape 4"/>
          <p:cNvSpPr/>
          <p:nvPr/>
        </p:nvSpPr>
        <p:spPr>
          <a:xfrm>
            <a:off x="4238760" y="4519518"/>
            <a:ext cx="1150560" cy="215640"/>
          </a:xfrm>
          <a:prstGeom prst="rightArrow">
            <a:avLst>
              <a:gd name="adj1" fmla="val 50000"/>
              <a:gd name="adj2" fmla="val 133272"/>
            </a:avLst>
          </a:prstGeom>
          <a:solidFill>
            <a:schemeClr val="bg1"/>
          </a:solidFill>
          <a:ln w="12600">
            <a:solidFill>
              <a:schemeClr val="tx1"/>
            </a:solidFill>
            <a:miter/>
          </a:ln>
        </p:spPr>
        <p:style>
          <a:lnRef idx="0">
            <a:scrgbClr r="0" g="0" b="0"/>
          </a:lnRef>
          <a:fillRef idx="0">
            <a:scrgbClr r="0" g="0" b="0"/>
          </a:fillRef>
          <a:effectRef idx="0">
            <a:scrgbClr r="0" g="0" b="0"/>
          </a:effectRef>
          <a:fontRef idx="minor"/>
        </p:style>
        <p:txBody>
          <a:bodyPr/>
          <a:lstStyle/>
          <a:p>
            <a:endParaRPr lang="es-PE"/>
          </a:p>
        </p:txBody>
      </p:sp>
      <p:sp>
        <p:nvSpPr>
          <p:cNvPr id="984" name="CustomShape 5"/>
          <p:cNvSpPr/>
          <p:nvPr/>
        </p:nvSpPr>
        <p:spPr>
          <a:xfrm>
            <a:off x="4238760" y="2821140"/>
            <a:ext cx="1150560" cy="215640"/>
          </a:xfrm>
          <a:prstGeom prst="rightArrow">
            <a:avLst>
              <a:gd name="adj1" fmla="val 50000"/>
              <a:gd name="adj2" fmla="val 133272"/>
            </a:avLst>
          </a:prstGeom>
          <a:solidFill>
            <a:schemeClr val="bg1"/>
          </a:solidFill>
          <a:ln w="12600">
            <a:solidFill>
              <a:schemeClr val="tx1"/>
            </a:solidFill>
            <a:miter/>
          </a:ln>
        </p:spPr>
        <p:style>
          <a:lnRef idx="0">
            <a:scrgbClr r="0" g="0" b="0"/>
          </a:lnRef>
          <a:fillRef idx="0">
            <a:scrgbClr r="0" g="0" b="0"/>
          </a:fillRef>
          <a:effectRef idx="0">
            <a:scrgbClr r="0" g="0" b="0"/>
          </a:effectRef>
          <a:fontRef idx="minor"/>
        </p:style>
        <p:txBody>
          <a:bodyPr/>
          <a:lstStyle/>
          <a:p>
            <a:endParaRPr lang="es-PE"/>
          </a:p>
        </p:txBody>
      </p:sp>
      <p:sp>
        <p:nvSpPr>
          <p:cNvPr id="985" name="CustomShape 6"/>
          <p:cNvSpPr/>
          <p:nvPr/>
        </p:nvSpPr>
        <p:spPr>
          <a:xfrm>
            <a:off x="4230051" y="3702862"/>
            <a:ext cx="1150560" cy="215640"/>
          </a:xfrm>
          <a:prstGeom prst="rightArrow">
            <a:avLst>
              <a:gd name="adj1" fmla="val 50000"/>
              <a:gd name="adj2" fmla="val 133272"/>
            </a:avLst>
          </a:prstGeom>
          <a:solidFill>
            <a:schemeClr val="bg1"/>
          </a:solidFill>
          <a:ln w="12600">
            <a:solidFill>
              <a:schemeClr val="tx1"/>
            </a:solidFill>
            <a:miter/>
          </a:ln>
        </p:spPr>
        <p:style>
          <a:lnRef idx="0">
            <a:scrgbClr r="0" g="0" b="0"/>
          </a:lnRef>
          <a:fillRef idx="0">
            <a:scrgbClr r="0" g="0" b="0"/>
          </a:fillRef>
          <a:effectRef idx="0">
            <a:scrgbClr r="0" g="0" b="0"/>
          </a:effectRef>
          <a:fontRef idx="minor"/>
        </p:style>
        <p:txBody>
          <a:bodyPr/>
          <a:lstStyle/>
          <a:p>
            <a:endParaRPr lang="es-PE"/>
          </a:p>
        </p:txBody>
      </p:sp>
      <p:sp>
        <p:nvSpPr>
          <p:cNvPr id="986" name="CustomShape 7"/>
          <p:cNvSpPr/>
          <p:nvPr/>
        </p:nvSpPr>
        <p:spPr>
          <a:xfrm>
            <a:off x="4230052" y="5315847"/>
            <a:ext cx="1150560" cy="215640"/>
          </a:xfrm>
          <a:prstGeom prst="rightArrow">
            <a:avLst>
              <a:gd name="adj1" fmla="val 50000"/>
              <a:gd name="adj2" fmla="val 133272"/>
            </a:avLst>
          </a:prstGeom>
          <a:solidFill>
            <a:schemeClr val="bg1"/>
          </a:solidFill>
          <a:ln w="12600">
            <a:solidFill>
              <a:schemeClr val="tx1"/>
            </a:solidFill>
            <a:miter/>
          </a:ln>
        </p:spPr>
        <p:style>
          <a:lnRef idx="0">
            <a:scrgbClr r="0" g="0" b="0"/>
          </a:lnRef>
          <a:fillRef idx="0">
            <a:scrgbClr r="0" g="0" b="0"/>
          </a:fillRef>
          <a:effectRef idx="0">
            <a:scrgbClr r="0" g="0" b="0"/>
          </a:effectRef>
          <a:fontRef idx="minor"/>
        </p:style>
        <p:txBody>
          <a:bodyPr/>
          <a:lstStyle/>
          <a:p>
            <a:endParaRPr lang="es-PE"/>
          </a:p>
        </p:txBody>
      </p:sp>
    </p:spTree>
    <p:extLst>
      <p:ext uri="{BB962C8B-B14F-4D97-AF65-F5344CB8AC3E}">
        <p14:creationId xmlns:p14="http://schemas.microsoft.com/office/powerpoint/2010/main" val="14329198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Shape 29">
            <a:extLst>
              <a:ext uri="{FF2B5EF4-FFF2-40B4-BE49-F238E27FC236}">
                <a16:creationId xmlns:a16="http://schemas.microsoft.com/office/drawing/2014/main" id="{1E38C3CD-BD75-4B7B-9379-24160417B84B}"/>
              </a:ext>
            </a:extLst>
          </p:cNvPr>
          <p:cNvSpPr txBox="1"/>
          <p:nvPr/>
        </p:nvSpPr>
        <p:spPr>
          <a:xfrm>
            <a:off x="6096000" y="290213"/>
            <a:ext cx="6096000" cy="496172"/>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defPPr>
              <a:defRPr lang="es-ES"/>
            </a:defPPr>
            <a:lvl1pPr algn="ctr">
              <a:lnSpc>
                <a:spcPts val="5800"/>
              </a:lnSpc>
              <a:spcBef>
                <a:spcPct val="0"/>
              </a:spcBef>
              <a:defRPr sz="3200">
                <a:solidFill>
                  <a:schemeClr val="bg1"/>
                </a:solidFill>
                <a:effectLst>
                  <a:outerShdw blurRad="63500" dist="38100" dir="5400000" algn="t" rotWithShape="0">
                    <a:prstClr val="black">
                      <a:alpha val="25000"/>
                    </a:prstClr>
                  </a:outerShdw>
                </a:effectLst>
                <a:latin typeface="Bauhaus 93" pitchFamily="82" charset="0"/>
              </a:defRPr>
            </a:lvl1pPr>
          </a:lstStyle>
          <a:p>
            <a:r>
              <a:rPr lang="en-US" dirty="0" err="1"/>
              <a:t>Problema</a:t>
            </a:r>
            <a:r>
              <a:rPr lang="en-US" dirty="0"/>
              <a:t> 6</a:t>
            </a:r>
          </a:p>
        </p:txBody>
      </p:sp>
      <p:graphicFrame>
        <p:nvGraphicFramePr>
          <p:cNvPr id="49" name="1 Diagrama">
            <a:extLst>
              <a:ext uri="{FF2B5EF4-FFF2-40B4-BE49-F238E27FC236}">
                <a16:creationId xmlns:a16="http://schemas.microsoft.com/office/drawing/2014/main" id="{45EBD399-9C6B-4A30-BA8E-415A40B2EB59}"/>
              </a:ext>
            </a:extLst>
          </p:cNvPr>
          <p:cNvGraphicFramePr/>
          <p:nvPr/>
        </p:nvGraphicFramePr>
        <p:xfrm>
          <a:off x="181155" y="1259458"/>
          <a:ext cx="5914845" cy="3364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0" name="Table 3">
            <a:extLst>
              <a:ext uri="{FF2B5EF4-FFF2-40B4-BE49-F238E27FC236}">
                <a16:creationId xmlns:a16="http://schemas.microsoft.com/office/drawing/2014/main" id="{68FA6219-415E-4611-8097-3F526B033C65}"/>
              </a:ext>
            </a:extLst>
          </p:cNvPr>
          <p:cNvGraphicFramePr/>
          <p:nvPr/>
        </p:nvGraphicFramePr>
        <p:xfrm>
          <a:off x="232914" y="4624633"/>
          <a:ext cx="5863086" cy="2187079"/>
        </p:xfrm>
        <a:graphic>
          <a:graphicData uri="http://schemas.openxmlformats.org/drawingml/2006/table">
            <a:tbl>
              <a:tblPr/>
              <a:tblGrid>
                <a:gridCol w="1595886">
                  <a:extLst>
                    <a:ext uri="{9D8B030D-6E8A-4147-A177-3AD203B41FA5}">
                      <a16:colId xmlns:a16="http://schemas.microsoft.com/office/drawing/2014/main" val="20000"/>
                    </a:ext>
                  </a:extLst>
                </a:gridCol>
                <a:gridCol w="941955">
                  <a:extLst>
                    <a:ext uri="{9D8B030D-6E8A-4147-A177-3AD203B41FA5}">
                      <a16:colId xmlns:a16="http://schemas.microsoft.com/office/drawing/2014/main" val="20001"/>
                    </a:ext>
                  </a:extLst>
                </a:gridCol>
                <a:gridCol w="1132809">
                  <a:extLst>
                    <a:ext uri="{9D8B030D-6E8A-4147-A177-3AD203B41FA5}">
                      <a16:colId xmlns:a16="http://schemas.microsoft.com/office/drawing/2014/main" val="20002"/>
                    </a:ext>
                  </a:extLst>
                </a:gridCol>
                <a:gridCol w="1211841">
                  <a:extLst>
                    <a:ext uri="{9D8B030D-6E8A-4147-A177-3AD203B41FA5}">
                      <a16:colId xmlns:a16="http://schemas.microsoft.com/office/drawing/2014/main" val="20003"/>
                    </a:ext>
                  </a:extLst>
                </a:gridCol>
                <a:gridCol w="980595">
                  <a:extLst>
                    <a:ext uri="{9D8B030D-6E8A-4147-A177-3AD203B41FA5}">
                      <a16:colId xmlns:a16="http://schemas.microsoft.com/office/drawing/2014/main" val="20004"/>
                    </a:ext>
                  </a:extLst>
                </a:gridCol>
              </a:tblGrid>
              <a:tr h="604820">
                <a:tc>
                  <a:txBody>
                    <a:bodyPr/>
                    <a:lstStyle/>
                    <a:p>
                      <a:pPr>
                        <a:lnSpc>
                          <a:spcPct val="100000"/>
                        </a:lnSpc>
                      </a:pPr>
                      <a:r>
                        <a:rPr lang="es-PE" sz="2000" b="0" strike="noStrike" spc="-1" dirty="0">
                          <a:solidFill>
                            <a:srgbClr val="FFFFFF"/>
                          </a:solidFill>
                          <a:latin typeface="Arial"/>
                        </a:rPr>
                        <a:t>Desde </a:t>
                      </a:r>
                    </a:p>
                    <a:p>
                      <a:pPr>
                        <a:lnSpc>
                          <a:spcPct val="100000"/>
                        </a:lnSpc>
                      </a:pPr>
                      <a:r>
                        <a:rPr lang="es-PE" sz="2000" b="0" strike="noStrike" spc="-1" dirty="0">
                          <a:solidFill>
                            <a:srgbClr val="FFFFFF"/>
                          </a:solidFill>
                          <a:latin typeface="Arial"/>
                        </a:rPr>
                        <a:t>Hacia</a:t>
                      </a:r>
                      <a:endParaRPr lang="es-PE" sz="2000" b="0" strike="noStrike" spc="-1" dirty="0">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2F85F7"/>
                    </a:solidFill>
                  </a:tcPr>
                </a:tc>
                <a:tc>
                  <a:txBody>
                    <a:bodyPr/>
                    <a:lstStyle/>
                    <a:p>
                      <a:pPr algn="ctr">
                        <a:lnSpc>
                          <a:spcPct val="100000"/>
                        </a:lnSpc>
                      </a:pPr>
                      <a:r>
                        <a:rPr lang="es-PE" sz="2000" b="0" strike="noStrike" spc="-1">
                          <a:solidFill>
                            <a:srgbClr val="FFFFFF"/>
                          </a:solidFill>
                          <a:latin typeface="Arial"/>
                        </a:rPr>
                        <a:t>Dallas</a:t>
                      </a:r>
                      <a:endParaRPr lang="es-PE" sz="20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2F85F7"/>
                    </a:solidFill>
                  </a:tcPr>
                </a:tc>
                <a:tc>
                  <a:txBody>
                    <a:bodyPr/>
                    <a:lstStyle/>
                    <a:p>
                      <a:pPr algn="ctr">
                        <a:lnSpc>
                          <a:spcPct val="100000"/>
                        </a:lnSpc>
                      </a:pPr>
                      <a:r>
                        <a:rPr lang="es-PE" sz="2000" b="0" strike="noStrike" spc="-1">
                          <a:solidFill>
                            <a:srgbClr val="FFFFFF"/>
                          </a:solidFill>
                          <a:latin typeface="Arial"/>
                        </a:rPr>
                        <a:t>Denver</a:t>
                      </a:r>
                      <a:endParaRPr lang="es-PE" sz="20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2F85F7"/>
                    </a:solidFill>
                  </a:tcPr>
                </a:tc>
                <a:tc>
                  <a:txBody>
                    <a:bodyPr/>
                    <a:lstStyle/>
                    <a:p>
                      <a:pPr algn="ctr">
                        <a:lnSpc>
                          <a:spcPct val="100000"/>
                        </a:lnSpc>
                      </a:pPr>
                      <a:r>
                        <a:rPr lang="es-PE" sz="2000" b="0" strike="noStrike" spc="-1" dirty="0">
                          <a:solidFill>
                            <a:srgbClr val="FFFFFF"/>
                          </a:solidFill>
                          <a:latin typeface="Arial"/>
                        </a:rPr>
                        <a:t>Phoenix</a:t>
                      </a:r>
                      <a:endParaRPr lang="es-PE" sz="2000" b="0" strike="noStrike" spc="-1" dirty="0">
                        <a:latin typeface="Arial"/>
                      </a:endParaRPr>
                    </a:p>
                  </a:txBody>
                  <a:tcPr>
                    <a:lnL w="12240">
                      <a:solidFill>
                        <a:srgbClr val="FFFFFF"/>
                      </a:solidFill>
                    </a:lnL>
                    <a:lnR w="12240" cap="flat" cmpd="sng" algn="ctr">
                      <a:solidFill>
                        <a:srgbClr val="FFFFFF"/>
                      </a:solidFill>
                      <a:prstDash val="solid"/>
                      <a:round/>
                      <a:headEnd type="none" w="med" len="med"/>
                      <a:tailEnd type="none" w="med" len="med"/>
                    </a:lnR>
                    <a:lnT w="12240">
                      <a:solidFill>
                        <a:srgbClr val="FFFFFF"/>
                      </a:solidFill>
                    </a:lnT>
                    <a:lnB w="38160">
                      <a:solidFill>
                        <a:srgbClr val="FFFFFF"/>
                      </a:solidFill>
                    </a:lnB>
                    <a:solidFill>
                      <a:srgbClr val="2F85F7"/>
                    </a:solidFill>
                  </a:tcPr>
                </a:tc>
                <a:tc>
                  <a:txBody>
                    <a:bodyPr/>
                    <a:lstStyle/>
                    <a:p>
                      <a:pPr marL="0" algn="ctr" defTabSz="914400" rtl="0" eaLnBrk="1" latinLnBrk="0" hangingPunct="1">
                        <a:lnSpc>
                          <a:spcPct val="100000"/>
                        </a:lnSpc>
                      </a:pPr>
                      <a:r>
                        <a:rPr lang="es-ES" sz="2000" b="0" strike="noStrike" kern="1200" spc="-1" dirty="0">
                          <a:solidFill>
                            <a:srgbClr val="FFFFFF"/>
                          </a:solidFill>
                          <a:latin typeface="Arial"/>
                          <a:ea typeface="+mn-ea"/>
                          <a:cs typeface="+mn-cs"/>
                        </a:rPr>
                        <a:t>Miami</a:t>
                      </a:r>
                      <a:endParaRPr lang="es-PE" sz="2000" b="0" strike="noStrike" kern="1200" spc="-1" dirty="0">
                        <a:solidFill>
                          <a:srgbClr val="FFFFFF"/>
                        </a:solidFill>
                        <a:latin typeface="Arial"/>
                        <a:ea typeface="+mn-ea"/>
                        <a:cs typeface="+mn-cs"/>
                      </a:endParaRPr>
                    </a:p>
                  </a:txBody>
                  <a:tcPr>
                    <a:lnL w="12240">
                      <a:solidFill>
                        <a:srgbClr val="FFFFFF"/>
                      </a:solidFill>
                    </a:lnL>
                    <a:lnR w="12240">
                      <a:solidFill>
                        <a:srgbClr val="FFFFFF"/>
                      </a:solidFill>
                    </a:lnR>
                    <a:lnT w="12240">
                      <a:solidFill>
                        <a:srgbClr val="FFFFFF"/>
                      </a:solidFill>
                    </a:lnT>
                    <a:lnB w="38160" cap="flat" cmpd="sng" algn="ctr">
                      <a:solidFill>
                        <a:srgbClr val="FFFFFF"/>
                      </a:solidFill>
                      <a:prstDash val="solid"/>
                      <a:round/>
                      <a:headEnd type="none" w="med" len="med"/>
                      <a:tailEnd type="none" w="med" len="med"/>
                    </a:lnB>
                    <a:solidFill>
                      <a:srgbClr val="2F85F7"/>
                    </a:solidFill>
                  </a:tcPr>
                </a:tc>
                <a:extLst>
                  <a:ext uri="{0D108BD9-81ED-4DB2-BD59-A6C34878D82A}">
                    <a16:rowId xmlns:a16="http://schemas.microsoft.com/office/drawing/2014/main" val="10000"/>
                  </a:ext>
                </a:extLst>
              </a:tr>
              <a:tr h="423907">
                <a:tc>
                  <a:txBody>
                    <a:bodyPr/>
                    <a:lstStyle/>
                    <a:p>
                      <a:pPr>
                        <a:lnSpc>
                          <a:spcPct val="100000"/>
                        </a:lnSpc>
                      </a:pPr>
                      <a:r>
                        <a:rPr lang="es-PE" sz="2000" b="0" strike="noStrike" spc="-1" dirty="0">
                          <a:solidFill>
                            <a:srgbClr val="1D528D"/>
                          </a:solidFill>
                          <a:latin typeface="Arial"/>
                        </a:rPr>
                        <a:t>New york</a:t>
                      </a:r>
                      <a:endParaRPr lang="es-PE" sz="2000" b="0" strike="noStrike" spc="-1" dirty="0">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CDD8FB"/>
                    </a:solidFill>
                  </a:tcPr>
                </a:tc>
                <a:tc>
                  <a:txBody>
                    <a:bodyPr/>
                    <a:lstStyle/>
                    <a:p>
                      <a:pPr algn="ctr">
                        <a:lnSpc>
                          <a:spcPct val="100000"/>
                        </a:lnSpc>
                      </a:pPr>
                      <a:r>
                        <a:rPr lang="es-PE" sz="2000" b="0" strike="noStrike" spc="-1">
                          <a:solidFill>
                            <a:srgbClr val="1D528D"/>
                          </a:solidFill>
                          <a:latin typeface="Arial"/>
                        </a:rPr>
                        <a:t>1600</a:t>
                      </a:r>
                      <a:endParaRPr lang="es-PE" sz="20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CDD8FB"/>
                    </a:solidFill>
                  </a:tcPr>
                </a:tc>
                <a:tc>
                  <a:txBody>
                    <a:bodyPr/>
                    <a:lstStyle/>
                    <a:p>
                      <a:pPr algn="ctr">
                        <a:lnSpc>
                          <a:spcPct val="100000"/>
                        </a:lnSpc>
                      </a:pPr>
                      <a:r>
                        <a:rPr lang="es-PE" sz="2000" b="0" strike="noStrike" spc="-1" dirty="0">
                          <a:solidFill>
                            <a:srgbClr val="1D528D"/>
                          </a:solidFill>
                          <a:latin typeface="Arial"/>
                        </a:rPr>
                        <a:t>1800</a:t>
                      </a:r>
                      <a:endParaRPr lang="es-PE" sz="2000" b="0" strike="noStrike" spc="-1" dirty="0">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CDD8FB"/>
                    </a:solidFill>
                  </a:tcPr>
                </a:tc>
                <a:tc>
                  <a:txBody>
                    <a:bodyPr/>
                    <a:lstStyle/>
                    <a:p>
                      <a:pPr algn="ctr">
                        <a:lnSpc>
                          <a:spcPct val="100000"/>
                        </a:lnSpc>
                      </a:pPr>
                      <a:r>
                        <a:rPr lang="es-PE" sz="2000" b="0" strike="noStrike" spc="-1" dirty="0">
                          <a:solidFill>
                            <a:srgbClr val="1D528D"/>
                          </a:solidFill>
                          <a:latin typeface="Arial"/>
                        </a:rPr>
                        <a:t>2500</a:t>
                      </a:r>
                      <a:endParaRPr lang="es-PE" sz="2000" b="0" strike="noStrike" spc="-1" dirty="0">
                        <a:latin typeface="Arial"/>
                      </a:endParaRPr>
                    </a:p>
                  </a:txBody>
                  <a:tcPr>
                    <a:lnL w="12240">
                      <a:solidFill>
                        <a:srgbClr val="FFFFFF"/>
                      </a:solidFill>
                    </a:lnL>
                    <a:lnR w="12240" cap="flat" cmpd="sng" algn="ctr">
                      <a:solidFill>
                        <a:srgbClr val="FFFFFF"/>
                      </a:solidFill>
                      <a:prstDash val="solid"/>
                      <a:round/>
                      <a:headEnd type="none" w="med" len="med"/>
                      <a:tailEnd type="none" w="med" len="med"/>
                    </a:lnR>
                    <a:lnT w="38160" cap="flat" cmpd="sng" algn="ctr">
                      <a:solidFill>
                        <a:srgbClr val="FFFFFF"/>
                      </a:solidFill>
                      <a:prstDash val="solid"/>
                      <a:round/>
                      <a:headEnd type="none" w="med" len="med"/>
                      <a:tailEnd type="none" w="med" len="med"/>
                    </a:lnT>
                    <a:lnB w="12240">
                      <a:solidFill>
                        <a:srgbClr val="FFFFFF"/>
                      </a:solidFill>
                    </a:lnB>
                    <a:solidFill>
                      <a:srgbClr val="CDD8FB"/>
                    </a:solidFill>
                  </a:tcPr>
                </a:tc>
                <a:tc>
                  <a:txBody>
                    <a:bodyPr/>
                    <a:lstStyle/>
                    <a:p>
                      <a:pPr algn="ctr">
                        <a:lnSpc>
                          <a:spcPct val="95000"/>
                        </a:lnSpc>
                      </a:pPr>
                      <a:r>
                        <a:rPr lang="es-PE" sz="2400" b="0" strike="noStrike" spc="-1" dirty="0">
                          <a:solidFill>
                            <a:schemeClr val="bg2">
                              <a:lumMod val="25000"/>
                            </a:schemeClr>
                          </a:solidFill>
                          <a:latin typeface="Arial Narrow"/>
                        </a:rPr>
                        <a:t>1300</a:t>
                      </a:r>
                      <a:endParaRPr lang="es-PE" sz="2400" b="0" strike="noStrike" spc="-1" dirty="0">
                        <a:solidFill>
                          <a:schemeClr val="bg2">
                            <a:lumMod val="25000"/>
                          </a:schemeClr>
                        </a:solidFill>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solidFill>
                      <a:srgbClr val="CDD8FB"/>
                    </a:solidFill>
                  </a:tcPr>
                </a:tc>
                <a:extLst>
                  <a:ext uri="{0D108BD9-81ED-4DB2-BD59-A6C34878D82A}">
                    <a16:rowId xmlns:a16="http://schemas.microsoft.com/office/drawing/2014/main" val="10001"/>
                  </a:ext>
                </a:extLst>
              </a:tr>
              <a:tr h="423907">
                <a:tc>
                  <a:txBody>
                    <a:bodyPr/>
                    <a:lstStyle/>
                    <a:p>
                      <a:pPr>
                        <a:lnSpc>
                          <a:spcPct val="100000"/>
                        </a:lnSpc>
                      </a:pPr>
                      <a:r>
                        <a:rPr lang="es-PE" sz="2000" b="0" strike="noStrike" spc="-1">
                          <a:solidFill>
                            <a:srgbClr val="1D528D"/>
                          </a:solidFill>
                          <a:latin typeface="Arial"/>
                        </a:rPr>
                        <a:t>Chicago</a:t>
                      </a:r>
                      <a:endParaRPr lang="es-PE" sz="20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7ECFD"/>
                    </a:solidFill>
                  </a:tcPr>
                </a:tc>
                <a:tc>
                  <a:txBody>
                    <a:bodyPr/>
                    <a:lstStyle/>
                    <a:p>
                      <a:pPr algn="ctr">
                        <a:lnSpc>
                          <a:spcPct val="100000"/>
                        </a:lnSpc>
                      </a:pPr>
                      <a:r>
                        <a:rPr lang="es-PE" sz="2000" b="0" strike="noStrike" spc="-1">
                          <a:solidFill>
                            <a:srgbClr val="1D528D"/>
                          </a:solidFill>
                          <a:latin typeface="Arial"/>
                        </a:rPr>
                        <a:t>900</a:t>
                      </a:r>
                      <a:endParaRPr lang="es-PE" sz="20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7ECFD"/>
                    </a:solidFill>
                  </a:tcPr>
                </a:tc>
                <a:tc>
                  <a:txBody>
                    <a:bodyPr/>
                    <a:lstStyle/>
                    <a:p>
                      <a:pPr algn="ctr">
                        <a:lnSpc>
                          <a:spcPct val="100000"/>
                        </a:lnSpc>
                      </a:pPr>
                      <a:r>
                        <a:rPr lang="es-PE" sz="2000" b="0" strike="noStrike" spc="-1">
                          <a:solidFill>
                            <a:srgbClr val="1D528D"/>
                          </a:solidFill>
                          <a:latin typeface="Arial"/>
                        </a:rPr>
                        <a:t>1000</a:t>
                      </a:r>
                      <a:endParaRPr lang="es-PE" sz="20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7ECFD"/>
                    </a:solidFill>
                  </a:tcPr>
                </a:tc>
                <a:tc>
                  <a:txBody>
                    <a:bodyPr/>
                    <a:lstStyle/>
                    <a:p>
                      <a:pPr algn="ctr">
                        <a:lnSpc>
                          <a:spcPct val="100000"/>
                        </a:lnSpc>
                      </a:pPr>
                      <a:r>
                        <a:rPr lang="es-PE" sz="2000" b="0" strike="noStrike" spc="-1" dirty="0">
                          <a:solidFill>
                            <a:srgbClr val="1D528D"/>
                          </a:solidFill>
                          <a:latin typeface="Arial"/>
                        </a:rPr>
                        <a:t>1800</a:t>
                      </a:r>
                      <a:endParaRPr lang="es-PE" sz="2000" b="0" strike="noStrike" spc="-1" dirty="0">
                        <a:latin typeface="Arial"/>
                      </a:endParaRPr>
                    </a:p>
                  </a:txBody>
                  <a:tcPr>
                    <a:lnL w="12240">
                      <a:solidFill>
                        <a:srgbClr val="FFFFFF"/>
                      </a:solidFill>
                    </a:lnL>
                    <a:lnR w="12240" cap="flat" cmpd="sng" algn="ctr">
                      <a:solidFill>
                        <a:srgbClr val="FFFFFF"/>
                      </a:solidFill>
                      <a:prstDash val="solid"/>
                      <a:round/>
                      <a:headEnd type="none" w="med" len="med"/>
                      <a:tailEnd type="none" w="med" len="med"/>
                    </a:lnR>
                    <a:lnT w="12240">
                      <a:solidFill>
                        <a:srgbClr val="FFFFFF"/>
                      </a:solidFill>
                    </a:lnT>
                    <a:lnB w="12240">
                      <a:solidFill>
                        <a:srgbClr val="FFFFFF"/>
                      </a:solidFill>
                    </a:lnB>
                    <a:solidFill>
                      <a:srgbClr val="E7ECFD"/>
                    </a:solidFill>
                  </a:tcPr>
                </a:tc>
                <a:tc>
                  <a:txBody>
                    <a:bodyPr/>
                    <a:lstStyle/>
                    <a:p>
                      <a:pPr algn="ctr">
                        <a:lnSpc>
                          <a:spcPct val="95000"/>
                        </a:lnSpc>
                      </a:pPr>
                      <a:r>
                        <a:rPr lang="es-PE" sz="2400" b="0" strike="noStrike" spc="-1" dirty="0">
                          <a:solidFill>
                            <a:schemeClr val="bg2">
                              <a:lumMod val="25000"/>
                            </a:schemeClr>
                          </a:solidFill>
                          <a:latin typeface="Arial Narrow"/>
                        </a:rPr>
                        <a:t>1400</a:t>
                      </a:r>
                      <a:endParaRPr lang="es-PE" sz="2400" b="0" strike="noStrike" spc="-1" dirty="0">
                        <a:solidFill>
                          <a:schemeClr val="bg2">
                            <a:lumMod val="25000"/>
                          </a:schemeClr>
                        </a:solidFill>
                        <a:latin typeface="Arial"/>
                      </a:endParaRPr>
                    </a:p>
                  </a:txBody>
                  <a:tcPr>
                    <a:lnL w="12240">
                      <a:solidFill>
                        <a:srgbClr val="FFFFFF"/>
                      </a:solidFill>
                    </a:lnL>
                    <a:lnR w="12240">
                      <a:solidFill>
                        <a:srgbClr val="FFFFFF"/>
                      </a:solidFill>
                    </a:lnR>
                    <a:lnT w="1224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solidFill>
                      <a:srgbClr val="E7ECFD"/>
                    </a:solidFill>
                  </a:tcPr>
                </a:tc>
                <a:extLst>
                  <a:ext uri="{0D108BD9-81ED-4DB2-BD59-A6C34878D82A}">
                    <a16:rowId xmlns:a16="http://schemas.microsoft.com/office/drawing/2014/main" val="10002"/>
                  </a:ext>
                </a:extLst>
              </a:tr>
              <a:tr h="608215">
                <a:tc>
                  <a:txBody>
                    <a:bodyPr/>
                    <a:lstStyle/>
                    <a:p>
                      <a:pPr>
                        <a:lnSpc>
                          <a:spcPct val="100000"/>
                        </a:lnSpc>
                      </a:pPr>
                      <a:r>
                        <a:rPr lang="es-PE" sz="2000" b="0" strike="noStrike" spc="-1" dirty="0">
                          <a:solidFill>
                            <a:srgbClr val="1D528D"/>
                          </a:solidFill>
                          <a:latin typeface="Arial"/>
                        </a:rPr>
                        <a:t>Los Ángeles</a:t>
                      </a:r>
                      <a:endParaRPr lang="es-PE" sz="2000" b="0" strike="noStrike" spc="-1" dirty="0">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CDD8FB"/>
                    </a:solidFill>
                  </a:tcPr>
                </a:tc>
                <a:tc>
                  <a:txBody>
                    <a:bodyPr/>
                    <a:lstStyle/>
                    <a:p>
                      <a:pPr algn="ctr">
                        <a:lnSpc>
                          <a:spcPct val="100000"/>
                        </a:lnSpc>
                      </a:pPr>
                      <a:r>
                        <a:rPr lang="es-PE" sz="2000" b="0" strike="noStrike" spc="-1">
                          <a:solidFill>
                            <a:srgbClr val="1D528D"/>
                          </a:solidFill>
                          <a:latin typeface="Arial"/>
                        </a:rPr>
                        <a:t>1400</a:t>
                      </a:r>
                      <a:endParaRPr lang="es-PE" sz="20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CDD8FB"/>
                    </a:solidFill>
                  </a:tcPr>
                </a:tc>
                <a:tc>
                  <a:txBody>
                    <a:bodyPr/>
                    <a:lstStyle/>
                    <a:p>
                      <a:pPr algn="ctr">
                        <a:lnSpc>
                          <a:spcPct val="100000"/>
                        </a:lnSpc>
                      </a:pPr>
                      <a:r>
                        <a:rPr lang="es-PE" sz="2000" b="0" strike="noStrike" spc="-1">
                          <a:solidFill>
                            <a:srgbClr val="1D528D"/>
                          </a:solidFill>
                          <a:latin typeface="Arial"/>
                        </a:rPr>
                        <a:t>1000</a:t>
                      </a:r>
                      <a:endParaRPr lang="es-PE" sz="20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CDD8FB"/>
                    </a:solidFill>
                  </a:tcPr>
                </a:tc>
                <a:tc>
                  <a:txBody>
                    <a:bodyPr/>
                    <a:lstStyle/>
                    <a:p>
                      <a:pPr algn="ctr">
                        <a:lnSpc>
                          <a:spcPct val="100000"/>
                        </a:lnSpc>
                      </a:pPr>
                      <a:r>
                        <a:rPr lang="es-PE" sz="2000" b="0" strike="noStrike" spc="-1" dirty="0">
                          <a:solidFill>
                            <a:srgbClr val="1D528D"/>
                          </a:solidFill>
                          <a:latin typeface="Arial"/>
                        </a:rPr>
                        <a:t>400</a:t>
                      </a:r>
                      <a:endParaRPr lang="es-PE" sz="2000" b="0" strike="noStrike" spc="-1" dirty="0">
                        <a:latin typeface="Arial"/>
                      </a:endParaRPr>
                    </a:p>
                  </a:txBody>
                  <a:tcPr>
                    <a:lnL w="12240">
                      <a:solidFill>
                        <a:srgbClr val="FFFFFF"/>
                      </a:solidFill>
                    </a:lnL>
                    <a:lnR w="12240" cap="flat" cmpd="sng" algn="ctr">
                      <a:solidFill>
                        <a:srgbClr val="FFFFFF"/>
                      </a:solidFill>
                      <a:prstDash val="solid"/>
                      <a:round/>
                      <a:headEnd type="none" w="med" len="med"/>
                      <a:tailEnd type="none" w="med" len="med"/>
                    </a:lnR>
                    <a:lnT w="12240">
                      <a:solidFill>
                        <a:srgbClr val="FFFFFF"/>
                      </a:solidFill>
                    </a:lnT>
                    <a:lnB w="12240">
                      <a:solidFill>
                        <a:srgbClr val="FFFFFF"/>
                      </a:solidFill>
                    </a:lnB>
                    <a:solidFill>
                      <a:srgbClr val="CDD8FB"/>
                    </a:solidFill>
                  </a:tcPr>
                </a:tc>
                <a:tc>
                  <a:txBody>
                    <a:bodyPr/>
                    <a:lstStyle/>
                    <a:p>
                      <a:pPr algn="ctr">
                        <a:lnSpc>
                          <a:spcPct val="95000"/>
                        </a:lnSpc>
                      </a:pPr>
                      <a:r>
                        <a:rPr lang="es-PE" sz="2400" b="0" strike="noStrike" spc="-1" dirty="0">
                          <a:solidFill>
                            <a:schemeClr val="bg2">
                              <a:lumMod val="25000"/>
                            </a:schemeClr>
                          </a:solidFill>
                          <a:latin typeface="Arial Narrow"/>
                        </a:rPr>
                        <a:t>2700</a:t>
                      </a:r>
                      <a:endParaRPr lang="es-PE" sz="2400" b="0" strike="noStrike" spc="-1" dirty="0">
                        <a:solidFill>
                          <a:schemeClr val="bg2">
                            <a:lumMod val="25000"/>
                          </a:schemeClr>
                        </a:solidFill>
                        <a:latin typeface="Arial"/>
                      </a:endParaRPr>
                    </a:p>
                  </a:txBody>
                  <a:tcPr>
                    <a:lnL w="12240">
                      <a:solidFill>
                        <a:srgbClr val="FFFFFF"/>
                      </a:solidFill>
                    </a:lnL>
                    <a:lnR w="12240">
                      <a:solidFill>
                        <a:srgbClr val="FFFFFF"/>
                      </a:solidFill>
                    </a:lnR>
                    <a:lnT w="12240" cap="flat" cmpd="sng" algn="ctr">
                      <a:solidFill>
                        <a:srgbClr val="FFFFFF"/>
                      </a:solidFill>
                      <a:prstDash val="solid"/>
                      <a:round/>
                      <a:headEnd type="none" w="med" len="med"/>
                      <a:tailEnd type="none" w="med" len="med"/>
                    </a:lnT>
                    <a:lnB w="12240">
                      <a:solidFill>
                        <a:srgbClr val="FFFFFF"/>
                      </a:solidFill>
                    </a:lnB>
                    <a:solidFill>
                      <a:srgbClr val="CDD8FB"/>
                    </a:solidFill>
                  </a:tcPr>
                </a:tc>
                <a:extLst>
                  <a:ext uri="{0D108BD9-81ED-4DB2-BD59-A6C34878D82A}">
                    <a16:rowId xmlns:a16="http://schemas.microsoft.com/office/drawing/2014/main" val="10003"/>
                  </a:ext>
                </a:extLst>
              </a:tr>
            </a:tbl>
          </a:graphicData>
        </a:graphic>
      </p:graphicFrame>
      <p:grpSp>
        <p:nvGrpSpPr>
          <p:cNvPr id="3" name="Grupo 2">
            <a:extLst>
              <a:ext uri="{FF2B5EF4-FFF2-40B4-BE49-F238E27FC236}">
                <a16:creationId xmlns:a16="http://schemas.microsoft.com/office/drawing/2014/main" id="{23297C23-EC5E-47F2-A91F-28F2A81292C9}"/>
              </a:ext>
            </a:extLst>
          </p:cNvPr>
          <p:cNvGrpSpPr/>
          <p:nvPr/>
        </p:nvGrpSpPr>
        <p:grpSpPr>
          <a:xfrm>
            <a:off x="6613451" y="1352115"/>
            <a:ext cx="5422605" cy="5193051"/>
            <a:chOff x="5909091" y="1352115"/>
            <a:chExt cx="6126965" cy="4357959"/>
          </a:xfrm>
        </p:grpSpPr>
        <p:sp>
          <p:nvSpPr>
            <p:cNvPr id="37" name="CustomShape 19"/>
            <p:cNvSpPr/>
            <p:nvPr/>
          </p:nvSpPr>
          <p:spPr>
            <a:xfrm>
              <a:off x="10873186" y="5114656"/>
              <a:ext cx="1006691" cy="541175"/>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b="1" i="1" spc="-1" dirty="0">
                  <a:solidFill>
                    <a:schemeClr val="bg2">
                      <a:lumMod val="25000"/>
                    </a:schemeClr>
                  </a:solidFill>
                  <a:latin typeface="Arial"/>
                  <a:ea typeface="ＭＳ 明朝"/>
                </a:rPr>
                <a:t>Miami</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(2)</a:t>
              </a:r>
              <a:endParaRPr lang="es-PE" spc="-1" dirty="0">
                <a:solidFill>
                  <a:schemeClr val="bg2">
                    <a:lumMod val="25000"/>
                  </a:schemeClr>
                </a:solidFill>
                <a:latin typeface="Arial"/>
              </a:endParaRPr>
            </a:p>
          </p:txBody>
        </p:sp>
        <p:grpSp>
          <p:nvGrpSpPr>
            <p:cNvPr id="918" name="Group 1"/>
            <p:cNvGrpSpPr/>
            <p:nvPr/>
          </p:nvGrpSpPr>
          <p:grpSpPr>
            <a:xfrm>
              <a:off x="5923314" y="1352115"/>
              <a:ext cx="6112742" cy="3687719"/>
              <a:chOff x="500040" y="1334861"/>
              <a:chExt cx="6935361" cy="3878447"/>
            </a:xfrm>
          </p:grpSpPr>
          <p:sp>
            <p:nvSpPr>
              <p:cNvPr id="919" name="CustomShape 2"/>
              <p:cNvSpPr/>
              <p:nvPr/>
            </p:nvSpPr>
            <p:spPr>
              <a:xfrm>
                <a:off x="500040" y="2023200"/>
                <a:ext cx="1910880" cy="63936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z="1100" b="1" i="1" spc="-1" dirty="0">
                    <a:solidFill>
                      <a:schemeClr val="bg2">
                        <a:lumMod val="25000"/>
                      </a:schemeClr>
                    </a:solidFill>
                    <a:latin typeface="Arial"/>
                    <a:ea typeface="ＭＳ 明朝"/>
                  </a:rPr>
                  <a:t>      </a:t>
                </a:r>
                <a:r>
                  <a:rPr lang="es-PE" b="1" i="1" spc="-1" dirty="0">
                    <a:solidFill>
                      <a:schemeClr val="bg2">
                        <a:lumMod val="25000"/>
                      </a:schemeClr>
                    </a:solidFill>
                    <a:latin typeface="Arial"/>
                    <a:ea typeface="ＭＳ 明朝"/>
                  </a:rPr>
                  <a:t>New York</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(3)</a:t>
                </a:r>
                <a:endParaRPr lang="es-PE" spc="-1" dirty="0">
                  <a:solidFill>
                    <a:schemeClr val="bg2">
                      <a:lumMod val="25000"/>
                    </a:schemeClr>
                  </a:solidFill>
                  <a:latin typeface="Arial"/>
                </a:endParaRPr>
              </a:p>
            </p:txBody>
          </p:sp>
          <p:sp>
            <p:nvSpPr>
              <p:cNvPr id="920" name="CustomShape 3"/>
              <p:cNvSpPr/>
              <p:nvPr/>
            </p:nvSpPr>
            <p:spPr>
              <a:xfrm>
                <a:off x="695965" y="3050125"/>
                <a:ext cx="1731960" cy="63936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z="1100" b="1" i="1" spc="-1" dirty="0">
                    <a:solidFill>
                      <a:schemeClr val="bg2">
                        <a:lumMod val="25000"/>
                      </a:schemeClr>
                    </a:solidFill>
                    <a:latin typeface="Arial"/>
                    <a:ea typeface="ＭＳ 明朝"/>
                  </a:rPr>
                  <a:t>  </a:t>
                </a:r>
                <a:r>
                  <a:rPr lang="es-PE" b="1" i="1" spc="-1" dirty="0">
                    <a:solidFill>
                      <a:schemeClr val="bg2">
                        <a:lumMod val="25000"/>
                      </a:schemeClr>
                    </a:solidFill>
                    <a:latin typeface="Arial"/>
                    <a:ea typeface="ＭＳ 明朝"/>
                  </a:rPr>
                  <a:t>Chicago</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(2)</a:t>
                </a:r>
                <a:endParaRPr lang="es-PE" spc="-1" dirty="0">
                  <a:solidFill>
                    <a:schemeClr val="bg2">
                      <a:lumMod val="25000"/>
                    </a:schemeClr>
                  </a:solidFill>
                  <a:latin typeface="Arial"/>
                </a:endParaRPr>
              </a:p>
            </p:txBody>
          </p:sp>
          <p:grpSp>
            <p:nvGrpSpPr>
              <p:cNvPr id="921" name="Group 4"/>
              <p:cNvGrpSpPr/>
              <p:nvPr/>
            </p:nvGrpSpPr>
            <p:grpSpPr>
              <a:xfrm>
                <a:off x="1008180" y="1334861"/>
                <a:ext cx="6427221" cy="3878447"/>
                <a:chOff x="1008180" y="1334861"/>
                <a:chExt cx="6427221" cy="3878447"/>
              </a:xfrm>
            </p:grpSpPr>
            <p:sp>
              <p:nvSpPr>
                <p:cNvPr id="922" name="CustomShape 5"/>
                <p:cNvSpPr/>
                <p:nvPr/>
              </p:nvSpPr>
              <p:spPr>
                <a:xfrm>
                  <a:off x="2286000" y="3080726"/>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923" name="CustomShape 6"/>
                <p:cNvSpPr/>
                <p:nvPr/>
              </p:nvSpPr>
              <p:spPr>
                <a:xfrm>
                  <a:off x="5597640" y="200628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924" name="CustomShape 7"/>
                <p:cNvSpPr/>
                <p:nvPr/>
              </p:nvSpPr>
              <p:spPr>
                <a:xfrm>
                  <a:off x="2286000" y="205344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925" name="CustomShape 8"/>
                <p:cNvSpPr/>
                <p:nvPr/>
              </p:nvSpPr>
              <p:spPr>
                <a:xfrm>
                  <a:off x="5643720" y="3075725"/>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926" name="CustomShape 9"/>
                <p:cNvSpPr/>
                <p:nvPr/>
              </p:nvSpPr>
              <p:spPr>
                <a:xfrm>
                  <a:off x="5640542" y="4200921"/>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927" name="Line 10"/>
                <p:cNvSpPr/>
                <p:nvPr/>
              </p:nvSpPr>
              <p:spPr>
                <a:xfrm flipV="1">
                  <a:off x="2714399" y="2204188"/>
                  <a:ext cx="2882880" cy="3848"/>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928" name="Line 11"/>
                <p:cNvSpPr/>
                <p:nvPr/>
              </p:nvSpPr>
              <p:spPr>
                <a:xfrm>
                  <a:off x="2720196" y="2403766"/>
                  <a:ext cx="2997775" cy="1829248"/>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929" name="Line 12"/>
                <p:cNvSpPr/>
                <p:nvPr/>
              </p:nvSpPr>
              <p:spPr>
                <a:xfrm>
                  <a:off x="2668437" y="2472585"/>
                  <a:ext cx="3102211" cy="2740723"/>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930" name="Line 13"/>
                <p:cNvSpPr/>
                <p:nvPr/>
              </p:nvSpPr>
              <p:spPr>
                <a:xfrm flipV="1">
                  <a:off x="2694473" y="2294680"/>
                  <a:ext cx="2931413" cy="916962"/>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931" name="Line 14"/>
                <p:cNvSpPr/>
                <p:nvPr/>
              </p:nvSpPr>
              <p:spPr>
                <a:xfrm>
                  <a:off x="2706537" y="3368198"/>
                  <a:ext cx="2943284" cy="939891"/>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932" name="Line 15"/>
                <p:cNvSpPr/>
                <p:nvPr/>
              </p:nvSpPr>
              <p:spPr>
                <a:xfrm flipV="1">
                  <a:off x="2730662" y="3289923"/>
                  <a:ext cx="2919351" cy="11182"/>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933" name="CustomShape 16"/>
                <p:cNvSpPr/>
                <p:nvPr/>
              </p:nvSpPr>
              <p:spPr>
                <a:xfrm>
                  <a:off x="1400040" y="1346244"/>
                  <a:ext cx="1105088" cy="429433"/>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a:lnSpc>
                      <a:spcPct val="100000"/>
                    </a:lnSpc>
                  </a:pPr>
                  <a:r>
                    <a:rPr lang="es-PE" sz="1100" b="1" i="1" spc="-1">
                      <a:solidFill>
                        <a:schemeClr val="bg2">
                          <a:lumMod val="25000"/>
                        </a:schemeClr>
                      </a:solidFill>
                      <a:latin typeface="Arial"/>
                      <a:ea typeface="ＭＳ 明朝"/>
                    </a:rPr>
                    <a:t>	</a:t>
                  </a:r>
                  <a:endParaRPr lang="es-PE" sz="1100" spc="-1">
                    <a:solidFill>
                      <a:schemeClr val="bg2">
                        <a:lumMod val="25000"/>
                      </a:schemeClr>
                    </a:solidFill>
                    <a:latin typeface="Arial"/>
                  </a:endParaRPr>
                </a:p>
                <a:p>
                  <a:pPr>
                    <a:lnSpc>
                      <a:spcPct val="100000"/>
                    </a:lnSpc>
                  </a:pPr>
                  <a:endParaRPr lang="es-PE" sz="1100" spc="-1">
                    <a:solidFill>
                      <a:schemeClr val="bg2">
                        <a:lumMod val="25000"/>
                      </a:schemeClr>
                    </a:solidFill>
                    <a:latin typeface="Arial"/>
                  </a:endParaRPr>
                </a:p>
              </p:txBody>
            </p:sp>
            <p:sp>
              <p:nvSpPr>
                <p:cNvPr id="934" name="CustomShape 17"/>
                <p:cNvSpPr/>
                <p:nvPr/>
              </p:nvSpPr>
              <p:spPr>
                <a:xfrm>
                  <a:off x="3444006" y="1894007"/>
                  <a:ext cx="914760" cy="35185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z="2000" b="1" spc="-1" dirty="0" err="1">
                      <a:solidFill>
                        <a:schemeClr val="bg2">
                          <a:lumMod val="25000"/>
                        </a:schemeClr>
                      </a:solidFill>
                      <a:latin typeface="Arial"/>
                      <a:ea typeface="ＭＳ 明朝"/>
                    </a:rPr>
                    <a:t>X11</a:t>
                  </a:r>
                  <a:endParaRPr lang="es-PE" sz="2000" spc="-1" dirty="0">
                    <a:solidFill>
                      <a:schemeClr val="bg2">
                        <a:lumMod val="25000"/>
                      </a:schemeClr>
                    </a:solidFill>
                    <a:latin typeface="Arial"/>
                  </a:endParaRPr>
                </a:p>
              </p:txBody>
            </p:sp>
            <p:sp>
              <p:nvSpPr>
                <p:cNvPr id="935" name="CustomShape 18"/>
                <p:cNvSpPr/>
                <p:nvPr/>
              </p:nvSpPr>
              <p:spPr>
                <a:xfrm>
                  <a:off x="6082551" y="2945328"/>
                  <a:ext cx="1257436" cy="718567"/>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sz="1100" b="1" i="1" spc="-1" dirty="0">
                      <a:solidFill>
                        <a:schemeClr val="bg2">
                          <a:lumMod val="25000"/>
                        </a:schemeClr>
                      </a:solidFill>
                      <a:latin typeface="Arial"/>
                      <a:ea typeface="ＭＳ 明朝"/>
                    </a:rPr>
                    <a:t> </a:t>
                  </a:r>
                  <a:r>
                    <a:rPr lang="es-PE" b="1" i="1" spc="-1" dirty="0">
                      <a:solidFill>
                        <a:schemeClr val="bg2">
                          <a:lumMod val="25000"/>
                        </a:schemeClr>
                      </a:solidFill>
                      <a:latin typeface="Arial"/>
                      <a:ea typeface="ＭＳ 明朝"/>
                    </a:rPr>
                    <a:t>Denver</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(2)</a:t>
                  </a:r>
                  <a:endParaRPr lang="es-PE" spc="-1" dirty="0">
                    <a:solidFill>
                      <a:schemeClr val="bg2">
                        <a:lumMod val="25000"/>
                      </a:schemeClr>
                    </a:solidFill>
                    <a:latin typeface="Arial"/>
                  </a:endParaRPr>
                </a:p>
              </p:txBody>
            </p:sp>
            <p:sp>
              <p:nvSpPr>
                <p:cNvPr id="936" name="CustomShape 19"/>
                <p:cNvSpPr/>
                <p:nvPr/>
              </p:nvSpPr>
              <p:spPr>
                <a:xfrm>
                  <a:off x="5987515" y="4192570"/>
                  <a:ext cx="1447886" cy="639360"/>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b="1" i="1" spc="-1" dirty="0">
                      <a:solidFill>
                        <a:schemeClr val="bg2">
                          <a:lumMod val="25000"/>
                        </a:schemeClr>
                      </a:solidFill>
                      <a:latin typeface="Arial"/>
                      <a:ea typeface="ＭＳ 明朝"/>
                    </a:rPr>
                    <a:t>Phoenix</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(2)</a:t>
                  </a:r>
                  <a:endParaRPr lang="es-PE" spc="-1" dirty="0">
                    <a:solidFill>
                      <a:schemeClr val="bg2">
                        <a:lumMod val="25000"/>
                      </a:schemeClr>
                    </a:solidFill>
                    <a:latin typeface="Arial"/>
                  </a:endParaRPr>
                </a:p>
              </p:txBody>
            </p:sp>
            <p:sp>
              <p:nvSpPr>
                <p:cNvPr id="937" name="CustomShape 20"/>
                <p:cNvSpPr/>
                <p:nvPr/>
              </p:nvSpPr>
              <p:spPr>
                <a:xfrm>
                  <a:off x="6090772" y="2003763"/>
                  <a:ext cx="1181063" cy="569164"/>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b="1" i="1" spc="-1" dirty="0">
                      <a:solidFill>
                        <a:schemeClr val="bg2">
                          <a:lumMod val="25000"/>
                        </a:schemeClr>
                      </a:solidFill>
                      <a:latin typeface="Arial"/>
                      <a:ea typeface="ＭＳ 明朝"/>
                    </a:rPr>
                    <a:t>Dallas</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(4)</a:t>
                  </a:r>
                  <a:endParaRPr lang="es-PE" spc="-1" dirty="0">
                    <a:solidFill>
                      <a:schemeClr val="bg2">
                        <a:lumMod val="25000"/>
                      </a:schemeClr>
                    </a:solidFill>
                    <a:latin typeface="Arial"/>
                  </a:endParaRPr>
                </a:p>
              </p:txBody>
            </p:sp>
            <p:sp>
              <p:nvSpPr>
                <p:cNvPr id="938" name="CustomShape 21"/>
                <p:cNvSpPr/>
                <p:nvPr/>
              </p:nvSpPr>
              <p:spPr>
                <a:xfrm>
                  <a:off x="1008180" y="1334861"/>
                  <a:ext cx="6341760" cy="67068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80000"/>
                    </a:lnSpc>
                  </a:pPr>
                  <a:r>
                    <a:rPr lang="es-PE" sz="2000" b="1" spc="-1" dirty="0">
                      <a:solidFill>
                        <a:schemeClr val="bg2">
                          <a:lumMod val="25000"/>
                        </a:schemeClr>
                      </a:solidFill>
                      <a:latin typeface="Arial Black"/>
                    </a:rPr>
                    <a:t>ORIGEN 		      DESTINO </a:t>
                  </a:r>
                  <a:br>
                    <a:rPr sz="2000" dirty="0">
                      <a:solidFill>
                        <a:schemeClr val="bg2">
                          <a:lumMod val="25000"/>
                        </a:schemeClr>
                      </a:solidFill>
                    </a:rPr>
                  </a:br>
                  <a:r>
                    <a:rPr lang="es-PE" sz="2000" b="1" spc="-1" dirty="0">
                      <a:solidFill>
                        <a:schemeClr val="bg2">
                          <a:lumMod val="25000"/>
                        </a:schemeClr>
                      </a:solidFill>
                      <a:latin typeface="Arial Black"/>
                    </a:rPr>
                    <a:t>   			       (hospital)</a:t>
                  </a:r>
                  <a:endParaRPr lang="es-PE" sz="2000" spc="-1" dirty="0">
                    <a:solidFill>
                      <a:schemeClr val="bg2">
                        <a:lumMod val="25000"/>
                      </a:schemeClr>
                    </a:solidFill>
                    <a:latin typeface="Arial"/>
                  </a:endParaRPr>
                </a:p>
              </p:txBody>
            </p:sp>
            <p:sp>
              <p:nvSpPr>
                <p:cNvPr id="939" name="CustomShape 22"/>
                <p:cNvSpPr/>
                <p:nvPr/>
              </p:nvSpPr>
              <p:spPr>
                <a:xfrm>
                  <a:off x="3449216" y="2264651"/>
                  <a:ext cx="914760" cy="35185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z="2000" b="1" spc="-1" dirty="0" err="1">
                      <a:solidFill>
                        <a:schemeClr val="bg2">
                          <a:lumMod val="25000"/>
                        </a:schemeClr>
                      </a:solidFill>
                      <a:latin typeface="Arial"/>
                      <a:ea typeface="ＭＳ 明朝"/>
                    </a:rPr>
                    <a:t>X12</a:t>
                  </a:r>
                  <a:endParaRPr lang="es-PE" sz="2000" spc="-1" dirty="0">
                    <a:solidFill>
                      <a:schemeClr val="bg2">
                        <a:lumMod val="25000"/>
                      </a:schemeClr>
                    </a:solidFill>
                    <a:latin typeface="Arial"/>
                  </a:endParaRPr>
                </a:p>
              </p:txBody>
            </p:sp>
            <p:sp>
              <p:nvSpPr>
                <p:cNvPr id="941" name="CustomShape 24"/>
                <p:cNvSpPr/>
                <p:nvPr/>
              </p:nvSpPr>
              <p:spPr>
                <a:xfrm>
                  <a:off x="2346120" y="2053440"/>
                  <a:ext cx="282619"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1</a:t>
                  </a:r>
                  <a:endParaRPr lang="es-PE" sz="2000" spc="-1">
                    <a:solidFill>
                      <a:schemeClr val="bg2">
                        <a:lumMod val="25000"/>
                      </a:schemeClr>
                    </a:solidFill>
                    <a:latin typeface="Arial"/>
                  </a:endParaRPr>
                </a:p>
              </p:txBody>
            </p:sp>
            <p:sp>
              <p:nvSpPr>
                <p:cNvPr id="942" name="CustomShape 25"/>
                <p:cNvSpPr/>
                <p:nvPr/>
              </p:nvSpPr>
              <p:spPr>
                <a:xfrm>
                  <a:off x="5713560" y="3075725"/>
                  <a:ext cx="307800" cy="39528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2</a:t>
                  </a:r>
                  <a:endParaRPr lang="es-PE" sz="2000" spc="-1">
                    <a:solidFill>
                      <a:schemeClr val="bg2">
                        <a:lumMod val="25000"/>
                      </a:schemeClr>
                    </a:solidFill>
                    <a:latin typeface="Arial"/>
                  </a:endParaRPr>
                </a:p>
              </p:txBody>
            </p:sp>
            <p:sp>
              <p:nvSpPr>
                <p:cNvPr id="943" name="CustomShape 26"/>
                <p:cNvSpPr/>
                <p:nvPr/>
              </p:nvSpPr>
              <p:spPr>
                <a:xfrm>
                  <a:off x="2355840" y="3156326"/>
                  <a:ext cx="307800" cy="39528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2</a:t>
                  </a:r>
                  <a:endParaRPr lang="es-PE" sz="2000" spc="-1">
                    <a:solidFill>
                      <a:schemeClr val="bg2">
                        <a:lumMod val="25000"/>
                      </a:schemeClr>
                    </a:solidFill>
                    <a:latin typeface="Arial"/>
                  </a:endParaRPr>
                </a:p>
              </p:txBody>
            </p:sp>
            <p:sp>
              <p:nvSpPr>
                <p:cNvPr id="944" name="CustomShape 27"/>
                <p:cNvSpPr/>
                <p:nvPr/>
              </p:nvSpPr>
              <p:spPr>
                <a:xfrm>
                  <a:off x="5644080" y="2019600"/>
                  <a:ext cx="282619"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1</a:t>
                  </a:r>
                  <a:endParaRPr lang="es-PE" sz="2000" spc="-1">
                    <a:solidFill>
                      <a:schemeClr val="bg2">
                        <a:lumMod val="25000"/>
                      </a:schemeClr>
                    </a:solidFill>
                    <a:latin typeface="Arial"/>
                  </a:endParaRPr>
                </a:p>
              </p:txBody>
            </p:sp>
            <p:sp>
              <p:nvSpPr>
                <p:cNvPr id="945" name="CustomShape 28"/>
                <p:cNvSpPr/>
                <p:nvPr/>
              </p:nvSpPr>
              <p:spPr>
                <a:xfrm>
                  <a:off x="5680279" y="4290922"/>
                  <a:ext cx="307800" cy="39528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dirty="0">
                      <a:solidFill>
                        <a:schemeClr val="bg2">
                          <a:lumMod val="25000"/>
                        </a:schemeClr>
                      </a:solidFill>
                      <a:latin typeface="Garamond"/>
                    </a:rPr>
                    <a:t>3</a:t>
                  </a:r>
                  <a:endParaRPr lang="es-PE" sz="2000" spc="-1" dirty="0">
                    <a:solidFill>
                      <a:schemeClr val="bg2">
                        <a:lumMod val="25000"/>
                      </a:schemeClr>
                    </a:solidFill>
                    <a:latin typeface="Arial"/>
                  </a:endParaRPr>
                </a:p>
              </p:txBody>
            </p:sp>
          </p:grpSp>
        </p:grpSp>
        <p:sp>
          <p:nvSpPr>
            <p:cNvPr id="946" name="CustomShape 29"/>
            <p:cNvSpPr/>
            <p:nvPr/>
          </p:nvSpPr>
          <p:spPr>
            <a:xfrm>
              <a:off x="7520326" y="4139594"/>
              <a:ext cx="360355" cy="392987"/>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947" name="CustomShape 30"/>
            <p:cNvSpPr/>
            <p:nvPr/>
          </p:nvSpPr>
          <p:spPr>
            <a:xfrm>
              <a:off x="7567346" y="4151370"/>
              <a:ext cx="267916" cy="369434"/>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s-PE" sz="2000" b="1" spc="-1" dirty="0">
                  <a:latin typeface="Garamond"/>
                </a:rPr>
                <a:t>3</a:t>
              </a:r>
              <a:endParaRPr lang="es-PE" sz="2000" spc="-1" dirty="0">
                <a:latin typeface="Arial"/>
              </a:endParaRPr>
            </a:p>
          </p:txBody>
        </p:sp>
        <p:sp>
          <p:nvSpPr>
            <p:cNvPr id="948" name="CustomShape 31"/>
            <p:cNvSpPr/>
            <p:nvPr/>
          </p:nvSpPr>
          <p:spPr>
            <a:xfrm>
              <a:off x="5909091" y="4018616"/>
              <a:ext cx="1709295" cy="602711"/>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r>
                <a:rPr lang="es-PE" b="1" i="1" spc="-1" dirty="0">
                  <a:solidFill>
                    <a:schemeClr val="bg2">
                      <a:lumMod val="25000"/>
                    </a:schemeClr>
                  </a:solidFill>
                  <a:latin typeface="Arial"/>
                  <a:ea typeface="ＭＳ 明朝"/>
                </a:rPr>
                <a:t>  Los Ángeles</a:t>
              </a:r>
            </a:p>
            <a:p>
              <a:pPr algn="ctr"/>
              <a:r>
                <a:rPr lang="es-PE" b="1" i="1" spc="-1" dirty="0">
                  <a:solidFill>
                    <a:schemeClr val="bg2">
                      <a:lumMod val="25000"/>
                    </a:schemeClr>
                  </a:solidFill>
                  <a:latin typeface="Arial"/>
                  <a:ea typeface="ＭＳ 明朝"/>
                </a:rPr>
                <a:t>(3)</a:t>
              </a:r>
            </a:p>
          </p:txBody>
        </p:sp>
        <p:sp>
          <p:nvSpPr>
            <p:cNvPr id="949" name="Line 32"/>
            <p:cNvSpPr/>
            <p:nvPr/>
          </p:nvSpPr>
          <p:spPr>
            <a:xfrm flipV="1">
              <a:off x="7825564" y="2371059"/>
              <a:ext cx="2636874" cy="1786269"/>
            </a:xfrm>
            <a:prstGeom prst="line">
              <a:avLst/>
            </a:prstGeom>
            <a:ln w="38160">
              <a:solidFill>
                <a:srgbClr val="00B0F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950" name="Line 33"/>
            <p:cNvSpPr/>
            <p:nvPr/>
          </p:nvSpPr>
          <p:spPr>
            <a:xfrm flipV="1">
              <a:off x="7868092" y="3313625"/>
              <a:ext cx="2618201" cy="918133"/>
            </a:xfrm>
            <a:prstGeom prst="line">
              <a:avLst/>
            </a:prstGeom>
            <a:ln w="38160">
              <a:solidFill>
                <a:srgbClr val="00B0F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951" name="Line 34"/>
            <p:cNvSpPr/>
            <p:nvPr/>
          </p:nvSpPr>
          <p:spPr>
            <a:xfrm flipV="1">
              <a:off x="7857461" y="4316819"/>
              <a:ext cx="2615609" cy="10632"/>
            </a:xfrm>
            <a:prstGeom prst="line">
              <a:avLst/>
            </a:prstGeom>
            <a:ln w="38160">
              <a:solidFill>
                <a:srgbClr val="00B0F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36" name="CustomShape 9"/>
            <p:cNvSpPr/>
            <p:nvPr/>
          </p:nvSpPr>
          <p:spPr>
            <a:xfrm>
              <a:off x="10476241" y="5005590"/>
              <a:ext cx="360355" cy="45355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38" name="Line 12"/>
            <p:cNvSpPr/>
            <p:nvPr/>
          </p:nvSpPr>
          <p:spPr>
            <a:xfrm>
              <a:off x="7910623" y="2307265"/>
              <a:ext cx="2594344" cy="839972"/>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39" name="Line 15"/>
            <p:cNvSpPr/>
            <p:nvPr/>
          </p:nvSpPr>
          <p:spPr>
            <a:xfrm>
              <a:off x="7857459" y="3370520"/>
              <a:ext cx="2616822" cy="1745497"/>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40" name="CustomShape 28"/>
            <p:cNvSpPr/>
            <p:nvPr/>
          </p:nvSpPr>
          <p:spPr>
            <a:xfrm>
              <a:off x="10482998" y="5023466"/>
              <a:ext cx="267916" cy="369434"/>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s-PE" sz="2000" b="1" spc="-1" dirty="0">
                  <a:solidFill>
                    <a:schemeClr val="bg2">
                      <a:lumMod val="25000"/>
                    </a:schemeClr>
                  </a:solidFill>
                  <a:latin typeface="Garamond"/>
                </a:rPr>
                <a:t>4</a:t>
              </a:r>
              <a:endParaRPr lang="es-PE" sz="2000" spc="-1" dirty="0">
                <a:solidFill>
                  <a:schemeClr val="bg2">
                    <a:lumMod val="25000"/>
                  </a:schemeClr>
                </a:solidFill>
                <a:latin typeface="Arial"/>
              </a:endParaRPr>
            </a:p>
          </p:txBody>
        </p:sp>
        <p:sp>
          <p:nvSpPr>
            <p:cNvPr id="41" name="CustomShape 29"/>
            <p:cNvSpPr/>
            <p:nvPr/>
          </p:nvSpPr>
          <p:spPr>
            <a:xfrm>
              <a:off x="7519317" y="5085483"/>
              <a:ext cx="360355" cy="426969"/>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42" name="CustomShape 30"/>
            <p:cNvSpPr/>
            <p:nvPr/>
          </p:nvSpPr>
          <p:spPr>
            <a:xfrm>
              <a:off x="7554249" y="5116930"/>
              <a:ext cx="267916" cy="369434"/>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s-PE" sz="2000" b="1" spc="-1" dirty="0">
                  <a:latin typeface="Garamond"/>
                </a:rPr>
                <a:t>4</a:t>
              </a:r>
              <a:endParaRPr lang="es-PE" sz="2000" spc="-1" dirty="0">
                <a:latin typeface="Arial"/>
              </a:endParaRPr>
            </a:p>
          </p:txBody>
        </p:sp>
        <p:sp>
          <p:nvSpPr>
            <p:cNvPr id="43" name="CustomShape 31"/>
            <p:cNvSpPr/>
            <p:nvPr/>
          </p:nvSpPr>
          <p:spPr>
            <a:xfrm>
              <a:off x="6110111" y="4936444"/>
              <a:ext cx="1446773" cy="773630"/>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r>
                <a:rPr lang="es-PE" b="1" i="1" spc="-1" dirty="0">
                  <a:solidFill>
                    <a:srgbClr val="FF0000"/>
                  </a:solidFill>
                  <a:latin typeface="Arial"/>
                  <a:ea typeface="ＭＳ 明朝"/>
                </a:rPr>
                <a:t>  Figurado</a:t>
              </a:r>
            </a:p>
            <a:p>
              <a:pPr algn="ctr"/>
              <a:r>
                <a:rPr lang="es-PE" b="1" i="1" spc="-1" dirty="0">
                  <a:solidFill>
                    <a:srgbClr val="FF0000"/>
                  </a:solidFill>
                  <a:latin typeface="Arial"/>
                  <a:ea typeface="ＭＳ 明朝"/>
                </a:rPr>
                <a:t>(2)</a:t>
              </a:r>
            </a:p>
          </p:txBody>
        </p:sp>
        <p:sp>
          <p:nvSpPr>
            <p:cNvPr id="44" name="Line 34"/>
            <p:cNvSpPr/>
            <p:nvPr/>
          </p:nvSpPr>
          <p:spPr>
            <a:xfrm flipV="1">
              <a:off x="7906165" y="4452280"/>
              <a:ext cx="2615905" cy="830427"/>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45" name="Line 34"/>
            <p:cNvSpPr/>
            <p:nvPr/>
          </p:nvSpPr>
          <p:spPr>
            <a:xfrm flipV="1">
              <a:off x="7880003" y="3423683"/>
              <a:ext cx="2635597" cy="1786461"/>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46" name="Line 34"/>
            <p:cNvSpPr/>
            <p:nvPr/>
          </p:nvSpPr>
          <p:spPr>
            <a:xfrm flipV="1">
              <a:off x="7814930" y="2434557"/>
              <a:ext cx="2735717" cy="2690335"/>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47" name="Line 34"/>
            <p:cNvSpPr/>
            <p:nvPr/>
          </p:nvSpPr>
          <p:spPr>
            <a:xfrm flipV="1">
              <a:off x="7906166" y="5337543"/>
              <a:ext cx="2609434" cy="9662"/>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51" name="Line 34">
              <a:extLst>
                <a:ext uri="{FF2B5EF4-FFF2-40B4-BE49-F238E27FC236}">
                  <a16:creationId xmlns:a16="http://schemas.microsoft.com/office/drawing/2014/main" id="{FE5D2629-6395-4C22-A758-7CAE3865D825}"/>
                </a:ext>
              </a:extLst>
            </p:cNvPr>
            <p:cNvSpPr/>
            <p:nvPr/>
          </p:nvSpPr>
          <p:spPr>
            <a:xfrm>
              <a:off x="7868093" y="4455042"/>
              <a:ext cx="2594344" cy="754911"/>
            </a:xfrm>
            <a:prstGeom prst="line">
              <a:avLst/>
            </a:prstGeom>
            <a:ln w="38160">
              <a:solidFill>
                <a:srgbClr val="00B0F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grpSp>
    </p:spTree>
    <p:extLst>
      <p:ext uri="{BB962C8B-B14F-4D97-AF65-F5344CB8AC3E}">
        <p14:creationId xmlns:p14="http://schemas.microsoft.com/office/powerpoint/2010/main" val="4071574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7" name="CustomShape 1"/>
          <p:cNvSpPr/>
          <p:nvPr/>
        </p:nvSpPr>
        <p:spPr>
          <a:xfrm>
            <a:off x="1524000" y="239400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988" name="Table 2"/>
          <p:cNvGraphicFramePr/>
          <p:nvPr/>
        </p:nvGraphicFramePr>
        <p:xfrm>
          <a:off x="1902540" y="1281656"/>
          <a:ext cx="8386560" cy="3675888"/>
        </p:xfrm>
        <a:graphic>
          <a:graphicData uri="http://schemas.openxmlformats.org/drawingml/2006/table">
            <a:tbl>
              <a:tblPr/>
              <a:tblGrid>
                <a:gridCol w="1313640">
                  <a:extLst>
                    <a:ext uri="{9D8B030D-6E8A-4147-A177-3AD203B41FA5}">
                      <a16:colId xmlns:a16="http://schemas.microsoft.com/office/drawing/2014/main" val="20000"/>
                    </a:ext>
                  </a:extLst>
                </a:gridCol>
                <a:gridCol w="945000">
                  <a:extLst>
                    <a:ext uri="{9D8B030D-6E8A-4147-A177-3AD203B41FA5}">
                      <a16:colId xmlns:a16="http://schemas.microsoft.com/office/drawing/2014/main" val="20001"/>
                    </a:ext>
                  </a:extLst>
                </a:gridCol>
                <a:gridCol w="1049040">
                  <a:extLst>
                    <a:ext uri="{9D8B030D-6E8A-4147-A177-3AD203B41FA5}">
                      <a16:colId xmlns:a16="http://schemas.microsoft.com/office/drawing/2014/main" val="20002"/>
                    </a:ext>
                  </a:extLst>
                </a:gridCol>
                <a:gridCol w="1167120">
                  <a:extLst>
                    <a:ext uri="{9D8B030D-6E8A-4147-A177-3AD203B41FA5}">
                      <a16:colId xmlns:a16="http://schemas.microsoft.com/office/drawing/2014/main" val="20003"/>
                    </a:ext>
                  </a:extLst>
                </a:gridCol>
                <a:gridCol w="953640">
                  <a:extLst>
                    <a:ext uri="{9D8B030D-6E8A-4147-A177-3AD203B41FA5}">
                      <a16:colId xmlns:a16="http://schemas.microsoft.com/office/drawing/2014/main" val="20004"/>
                    </a:ext>
                  </a:extLst>
                </a:gridCol>
                <a:gridCol w="928440">
                  <a:extLst>
                    <a:ext uri="{9D8B030D-6E8A-4147-A177-3AD203B41FA5}">
                      <a16:colId xmlns:a16="http://schemas.microsoft.com/office/drawing/2014/main" val="20005"/>
                    </a:ext>
                  </a:extLst>
                </a:gridCol>
                <a:gridCol w="840600">
                  <a:extLst>
                    <a:ext uri="{9D8B030D-6E8A-4147-A177-3AD203B41FA5}">
                      <a16:colId xmlns:a16="http://schemas.microsoft.com/office/drawing/2014/main" val="20006"/>
                    </a:ext>
                  </a:extLst>
                </a:gridCol>
                <a:gridCol w="601560">
                  <a:extLst>
                    <a:ext uri="{9D8B030D-6E8A-4147-A177-3AD203B41FA5}">
                      <a16:colId xmlns:a16="http://schemas.microsoft.com/office/drawing/2014/main" val="20007"/>
                    </a:ext>
                  </a:extLst>
                </a:gridCol>
                <a:gridCol w="587520">
                  <a:extLst>
                    <a:ext uri="{9D8B030D-6E8A-4147-A177-3AD203B41FA5}">
                      <a16:colId xmlns:a16="http://schemas.microsoft.com/office/drawing/2014/main" val="20008"/>
                    </a:ext>
                  </a:extLst>
                </a:gridCol>
              </a:tblGrid>
              <a:tr h="425160">
                <a:tc>
                  <a:txBody>
                    <a:bodyPr/>
                    <a:lstStyle/>
                    <a:p>
                      <a:endParaRPr lang="en-US"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Dallas</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Denver</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Phoenix</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Miami</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Oferta </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a:solidFill>
                            <a:schemeClr val="bg2">
                              <a:lumMod val="25000"/>
                            </a:schemeClr>
                          </a:solidFill>
                          <a:latin typeface="Arial Narrow"/>
                        </a:rPr>
                        <a:t>P</a:t>
                      </a:r>
                      <a:r>
                        <a:rPr lang="es-PE" sz="2400" b="1" strike="noStrike" spc="-1" baseline="-30000">
                          <a:solidFill>
                            <a:schemeClr val="bg2">
                              <a:lumMod val="25000"/>
                            </a:schemeClr>
                          </a:solidFill>
                          <a:latin typeface="Arial Narrow"/>
                        </a:rPr>
                        <a:t>1</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a:solidFill>
                            <a:schemeClr val="bg2">
                              <a:lumMod val="25000"/>
                            </a:schemeClr>
                          </a:solidFill>
                          <a:latin typeface="Arial Narrow"/>
                        </a:rPr>
                        <a:t>P</a:t>
                      </a:r>
                      <a:r>
                        <a:rPr lang="es-PE" sz="2400" b="1" strike="noStrike" spc="-1" baseline="-30000">
                          <a:solidFill>
                            <a:schemeClr val="bg2">
                              <a:lumMod val="25000"/>
                            </a:schemeClr>
                          </a:solidFill>
                          <a:latin typeface="Arial Narrow"/>
                        </a:rPr>
                        <a:t>2</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a:solidFill>
                            <a:schemeClr val="bg2">
                              <a:lumMod val="25000"/>
                            </a:schemeClr>
                          </a:solidFill>
                          <a:latin typeface="Arial Narrow"/>
                        </a:rPr>
                        <a:t>P</a:t>
                      </a:r>
                      <a:r>
                        <a:rPr lang="es-PE" sz="2400" b="1" strike="noStrike" spc="-1" baseline="-30000">
                          <a:solidFill>
                            <a:schemeClr val="bg2">
                              <a:lumMod val="25000"/>
                            </a:schemeClr>
                          </a:solidFill>
                          <a:latin typeface="Arial Narrow"/>
                        </a:rPr>
                        <a:t>3</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370080">
                <a:tc>
                  <a:txBody>
                    <a:bodyPr/>
                    <a:lstStyle/>
                    <a:p>
                      <a:pPr algn="ctr">
                        <a:lnSpc>
                          <a:spcPct val="95000"/>
                        </a:lnSpc>
                      </a:pPr>
                      <a:r>
                        <a:rPr lang="es-PE" sz="2000" b="1" strike="noStrike" spc="-1">
                          <a:solidFill>
                            <a:schemeClr val="bg2">
                              <a:lumMod val="25000"/>
                            </a:schemeClr>
                          </a:solidFill>
                          <a:latin typeface="Arial Narrow"/>
                        </a:rPr>
                        <a:t>Nueva York</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1600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95000"/>
                        </a:lnSpc>
                      </a:pPr>
                      <a:r>
                        <a:rPr lang="es-PE" sz="2400" b="1" strike="noStrike" spc="-1">
                          <a:solidFill>
                            <a:schemeClr val="bg2">
                              <a:lumMod val="25000"/>
                            </a:schemeClr>
                          </a:solidFill>
                          <a:latin typeface="Arial Narrow"/>
                        </a:rPr>
                        <a:t>1800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95000"/>
                        </a:lnSpc>
                      </a:pPr>
                      <a:r>
                        <a:rPr lang="es-PE" sz="2400" b="1" strike="noStrike" spc="-1">
                          <a:solidFill>
                            <a:schemeClr val="bg2">
                              <a:lumMod val="25000"/>
                            </a:schemeClr>
                          </a:solidFill>
                          <a:latin typeface="Arial Narrow"/>
                        </a:rPr>
                        <a:t>2500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95000"/>
                        </a:lnSpc>
                      </a:pPr>
                      <a:r>
                        <a:rPr lang="es-PE" sz="2400" b="1" strike="noStrike" spc="-1" dirty="0">
                          <a:solidFill>
                            <a:schemeClr val="bg2">
                              <a:lumMod val="25000"/>
                            </a:schemeClr>
                          </a:solidFill>
                          <a:latin typeface="Arial Narrow"/>
                        </a:rPr>
                        <a:t>1300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pPr algn="ctr">
                        <a:lnSpc>
                          <a:spcPct val="95000"/>
                        </a:lnSpc>
                      </a:pPr>
                      <a:r>
                        <a:rPr lang="es-PE" sz="2400" b="1" strike="noStrike" spc="-1" dirty="0">
                          <a:solidFill>
                            <a:schemeClr val="bg2">
                              <a:lumMod val="25000"/>
                            </a:schemeClr>
                          </a:solidFill>
                          <a:latin typeface="Arial Narrow"/>
                        </a:rPr>
                        <a:t>3</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300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621448">
                <a:tc>
                  <a:txBody>
                    <a:bodyPr/>
                    <a:lstStyle/>
                    <a:p>
                      <a:pPr algn="ctr">
                        <a:lnSpc>
                          <a:spcPct val="95000"/>
                        </a:lnSpc>
                      </a:pPr>
                      <a:r>
                        <a:rPr lang="es-PE" sz="2000" b="1" strike="noStrike" spc="-1" dirty="0">
                          <a:solidFill>
                            <a:schemeClr val="bg2">
                              <a:lumMod val="25000"/>
                            </a:schemeClr>
                          </a:solidFill>
                          <a:latin typeface="Arial Narrow"/>
                        </a:rPr>
                        <a:t>Chicago</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900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95000"/>
                        </a:lnSpc>
                      </a:pPr>
                      <a:r>
                        <a:rPr lang="es-PE" sz="2400" b="1" strike="noStrike" spc="-1">
                          <a:solidFill>
                            <a:schemeClr val="bg2">
                              <a:lumMod val="25000"/>
                            </a:schemeClr>
                          </a:solidFill>
                          <a:latin typeface="Arial Narrow"/>
                        </a:rPr>
                        <a:t>1000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95000"/>
                        </a:lnSpc>
                      </a:pPr>
                      <a:r>
                        <a:rPr lang="es-PE" sz="2400" b="1" strike="noStrike" spc="-1">
                          <a:solidFill>
                            <a:schemeClr val="bg2">
                              <a:lumMod val="25000"/>
                            </a:schemeClr>
                          </a:solidFill>
                          <a:latin typeface="Arial Narrow"/>
                        </a:rPr>
                        <a:t>1800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95000"/>
                        </a:lnSpc>
                      </a:pPr>
                      <a:r>
                        <a:rPr lang="es-PE" sz="2400" b="1" strike="noStrike" spc="-1" dirty="0">
                          <a:solidFill>
                            <a:schemeClr val="bg2">
                              <a:lumMod val="25000"/>
                            </a:schemeClr>
                          </a:solidFill>
                          <a:latin typeface="Arial Narrow"/>
                        </a:rPr>
                        <a:t>1400</a:t>
                      </a:r>
                      <a:endParaRPr lang="es-PE" sz="2400" b="0" strike="noStrike" spc="-1" dirty="0">
                        <a:solidFill>
                          <a:schemeClr val="bg2">
                            <a:lumMod val="25000"/>
                          </a:schemeClr>
                        </a:solidFill>
                        <a:latin typeface="Arial"/>
                      </a:endParaRPr>
                    </a:p>
                    <a:p>
                      <a:pPr algn="ctr">
                        <a:lnSpc>
                          <a:spcPct val="95000"/>
                        </a:lnSpc>
                      </a:pP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pPr algn="ctr">
                        <a:lnSpc>
                          <a:spcPct val="95000"/>
                        </a:lnSpc>
                      </a:pPr>
                      <a:r>
                        <a:rPr lang="es-PE" sz="2400" b="1" strike="noStrike" spc="-1" dirty="0">
                          <a:solidFill>
                            <a:schemeClr val="bg2">
                              <a:lumMod val="25000"/>
                            </a:schemeClr>
                          </a:solidFill>
                          <a:latin typeface="Arial Narrow"/>
                        </a:rPr>
                        <a:t>2</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100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662760">
                <a:tc>
                  <a:txBody>
                    <a:bodyPr/>
                    <a:lstStyle/>
                    <a:p>
                      <a:pPr algn="ctr">
                        <a:lnSpc>
                          <a:spcPct val="95000"/>
                        </a:lnSpc>
                      </a:pPr>
                      <a:r>
                        <a:rPr lang="es-PE" sz="2000" b="1" strike="noStrike" spc="-1" dirty="0">
                          <a:solidFill>
                            <a:schemeClr val="bg2">
                              <a:lumMod val="25000"/>
                            </a:schemeClr>
                          </a:solidFill>
                          <a:latin typeface="Arial Narrow"/>
                        </a:rPr>
                        <a:t>Los Ángeles</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1400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95000"/>
                        </a:lnSpc>
                      </a:pPr>
                      <a:r>
                        <a:rPr lang="es-PE" sz="2400" b="1" strike="noStrike" spc="-1">
                          <a:solidFill>
                            <a:schemeClr val="bg2">
                              <a:lumMod val="25000"/>
                            </a:schemeClr>
                          </a:solidFill>
                          <a:latin typeface="Arial Narrow"/>
                        </a:rPr>
                        <a:t>1000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95000"/>
                        </a:lnSpc>
                      </a:pPr>
                      <a:r>
                        <a:rPr lang="es-PE" sz="2400" b="1" strike="noStrike" spc="-1">
                          <a:solidFill>
                            <a:schemeClr val="bg2">
                              <a:lumMod val="25000"/>
                            </a:schemeClr>
                          </a:solidFill>
                          <a:latin typeface="Arial Narrow"/>
                        </a:rPr>
                        <a:t>400</a:t>
                      </a:r>
                      <a:endParaRPr lang="es-PE" sz="2400" b="0" strike="noStrike" spc="-1">
                        <a:solidFill>
                          <a:schemeClr val="bg2">
                            <a:lumMod val="25000"/>
                          </a:schemeClr>
                        </a:solidFill>
                        <a:latin typeface="Arial"/>
                      </a:endParaRPr>
                    </a:p>
                    <a:p>
                      <a:pPr algn="ctr">
                        <a:lnSpc>
                          <a:spcPct val="95000"/>
                        </a:lnSpc>
                      </a:pP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95000"/>
                        </a:lnSpc>
                      </a:pPr>
                      <a:r>
                        <a:rPr lang="es-PE" sz="2400" b="1" strike="noStrike" spc="-1" dirty="0">
                          <a:solidFill>
                            <a:schemeClr val="bg2">
                              <a:lumMod val="25000"/>
                            </a:schemeClr>
                          </a:solidFill>
                          <a:latin typeface="Arial Narrow"/>
                        </a:rPr>
                        <a:t>2700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pPr algn="ctr">
                        <a:lnSpc>
                          <a:spcPct val="95000"/>
                        </a:lnSpc>
                      </a:pPr>
                      <a:r>
                        <a:rPr lang="es-PE" sz="2400" b="1" strike="noStrike" spc="-1">
                          <a:solidFill>
                            <a:schemeClr val="bg2">
                              <a:lumMod val="25000"/>
                            </a:schemeClr>
                          </a:solidFill>
                          <a:latin typeface="Arial Narrow"/>
                        </a:rPr>
                        <a:t>3</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PE" sz="2400" b="1" strike="noStrike" spc="-1" dirty="0">
                          <a:solidFill>
                            <a:srgbClr val="FF0000"/>
                          </a:solidFill>
                          <a:latin typeface="Arial Narrow"/>
                        </a:rPr>
                        <a:t>600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endParaRPr lang="en-US"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endParaRPr lang="en-US"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662760">
                <a:tc>
                  <a:txBody>
                    <a:bodyPr/>
                    <a:lstStyle/>
                    <a:p>
                      <a:pPr algn="ctr">
                        <a:lnSpc>
                          <a:spcPct val="95000"/>
                        </a:lnSpc>
                      </a:pPr>
                      <a:r>
                        <a:rPr lang="es-PE" sz="2000" b="1" strike="noStrike" spc="-1" dirty="0">
                          <a:solidFill>
                            <a:schemeClr val="bg2">
                              <a:lumMod val="25000"/>
                            </a:schemeClr>
                          </a:solidFill>
                          <a:latin typeface="Arial Narrow"/>
                        </a:rPr>
                        <a:t>Figurado</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0</a:t>
                      </a:r>
                      <a:endParaRPr lang="es-PE" sz="2400" b="0" strike="noStrike" spc="-1">
                        <a:solidFill>
                          <a:schemeClr val="bg2">
                            <a:lumMod val="25000"/>
                          </a:schemeClr>
                        </a:solidFill>
                        <a:latin typeface="Arial"/>
                      </a:endParaRPr>
                    </a:p>
                  </a:txBody>
                  <a:tcPr>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0</a:t>
                      </a:r>
                      <a:endParaRPr lang="es-PE" sz="2400" b="0" strike="noStrike" spc="-1">
                        <a:solidFill>
                          <a:schemeClr val="bg2">
                            <a:lumMod val="25000"/>
                          </a:schemeClr>
                        </a:solidFill>
                        <a:latin typeface="Arial"/>
                      </a:endParaRPr>
                    </a:p>
                    <a:p>
                      <a:pPr algn="ctr">
                        <a:lnSpc>
                          <a:spcPct val="95000"/>
                        </a:lnSpc>
                      </a:pPr>
                      <a:r>
                        <a:rPr lang="es-PE" sz="2400" b="1" strike="noStrike" spc="-1">
                          <a:solidFill>
                            <a:schemeClr val="bg2">
                              <a:lumMod val="25000"/>
                            </a:schemeClr>
                          </a:solidFill>
                          <a:latin typeface="Arial Narrow"/>
                        </a:rPr>
                        <a:t>*</a:t>
                      </a:r>
                      <a:endParaRPr lang="es-PE" sz="2400" b="0" strike="noStrike" spc="-1">
                        <a:solidFill>
                          <a:schemeClr val="bg2">
                            <a:lumMod val="25000"/>
                          </a:schemeClr>
                        </a:solidFill>
                        <a:latin typeface="Arial"/>
                      </a:endParaRPr>
                    </a:p>
                  </a:txBody>
                  <a:tcPr>
                    <a:lnL w="12240">
                      <a:solidFill>
                        <a:srgbClr val="1D528D"/>
                      </a:solidFill>
                    </a:lnL>
                    <a:lnR w="12700" cap="flat" cmpd="sng" algn="ctr">
                      <a:solidFill>
                        <a:schemeClr val="tx1"/>
                      </a:solidFill>
                      <a:prstDash val="solid"/>
                      <a:round/>
                      <a:headEnd type="none" w="med" len="med"/>
                      <a:tailEnd type="none" w="med" len="med"/>
                    </a:lnR>
                    <a:lnT w="12240">
                      <a:solidFill>
                        <a:srgbClr val="000000"/>
                      </a:solidFill>
                    </a:lnT>
                    <a:lnB w="12240">
                      <a:solidFill>
                        <a:srgbClr val="000000"/>
                      </a:solidFill>
                    </a:lnB>
                    <a:solidFill>
                      <a:srgbClr val="FFFF00"/>
                    </a:solidFill>
                  </a:tcPr>
                </a:tc>
                <a:tc>
                  <a:txBody>
                    <a:bodyPr/>
                    <a:lstStyle/>
                    <a:p>
                      <a:pPr algn="ctr">
                        <a:lnSpc>
                          <a:spcPct val="95000"/>
                        </a:lnSpc>
                        <a:spcBef>
                          <a:spcPts val="1199"/>
                        </a:spcBef>
                      </a:pPr>
                      <a:r>
                        <a:rPr lang="es-PE" sz="2400" b="1" strike="noStrike" spc="-1" dirty="0">
                          <a:solidFill>
                            <a:schemeClr val="bg2">
                              <a:lumMod val="25000"/>
                            </a:schemeClr>
                          </a:solidFill>
                          <a:latin typeface="Arial Narrow"/>
                        </a:rPr>
                        <a:t>2/0</a:t>
                      </a:r>
                      <a:endParaRPr lang="es-PE" sz="2400" b="0" strike="noStrike" spc="-1" dirty="0">
                        <a:solidFill>
                          <a:schemeClr val="bg2">
                            <a:lumMod val="25000"/>
                          </a:schemeClr>
                        </a:solidFill>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PE" sz="2400" b="1" strike="noStrike" spc="-1" dirty="0">
                          <a:solidFill>
                            <a:srgbClr val="FF0000"/>
                          </a:solidFill>
                          <a:latin typeface="Arial Narrow"/>
                        </a:rPr>
                        <a:t>0</a:t>
                      </a:r>
                      <a:endParaRPr lang="es-PE" sz="2400" b="0" strike="noStrike" spc="-1" dirty="0">
                        <a:solidFill>
                          <a:srgbClr val="FF0000"/>
                        </a:solidFill>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solidFill>
                          <a:schemeClr val="bg2">
                            <a:lumMod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solidFill>
                          <a:schemeClr val="bg2">
                            <a:lumMod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10040">
                <a:tc>
                  <a:txBody>
                    <a:bodyPr/>
                    <a:lstStyle/>
                    <a:p>
                      <a:pPr algn="ctr">
                        <a:lnSpc>
                          <a:spcPct val="95000"/>
                        </a:lnSpc>
                      </a:pPr>
                      <a:r>
                        <a:rPr lang="es-PE" sz="2000" b="1" strike="noStrike" spc="-1">
                          <a:solidFill>
                            <a:schemeClr val="bg2">
                              <a:lumMod val="25000"/>
                            </a:schemeClr>
                          </a:solidFill>
                          <a:latin typeface="Arial Narrow"/>
                        </a:rPr>
                        <a:t>Demanda </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4</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2</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2</a:t>
                      </a:r>
                      <a:endParaRPr lang="es-PE" sz="2400" b="0" strike="noStrike" spc="-1" dirty="0">
                        <a:solidFill>
                          <a:schemeClr val="bg2">
                            <a:lumMod val="25000"/>
                          </a:schemeClr>
                        </a:solidFill>
                        <a:latin typeface="Arial"/>
                      </a:endParaRPr>
                    </a:p>
                  </a:txBody>
                  <a:tcPr>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2/0</a:t>
                      </a:r>
                      <a:endParaRPr lang="es-PE" sz="2400" b="0" strike="noStrike" spc="-1" dirty="0">
                        <a:solidFill>
                          <a:schemeClr val="bg2">
                            <a:lumMod val="25000"/>
                          </a:schemeClr>
                        </a:solidFill>
                        <a:latin typeface="Arial"/>
                      </a:endParaRPr>
                    </a:p>
                  </a:txBody>
                  <a:tcPr>
                    <a:lnL w="12240">
                      <a:solidFill>
                        <a:srgbClr val="1D528D"/>
                      </a:solidFill>
                    </a:lnL>
                    <a:lnR w="12240">
                      <a:solidFill>
                        <a:srgbClr val="1D528D"/>
                      </a:solidFill>
                    </a:lnR>
                    <a:lnT w="12240">
                      <a:solidFill>
                        <a:srgbClr val="000000"/>
                      </a:solidFill>
                    </a:lnT>
                    <a:lnB w="12240">
                      <a:solidFill>
                        <a:srgbClr val="000000"/>
                      </a:solidFill>
                    </a:lnB>
                    <a:noFill/>
                  </a:tcPr>
                </a:tc>
                <a:tc>
                  <a:txBody>
                    <a:bodyPr/>
                    <a:lstStyle/>
                    <a:p>
                      <a:endParaRPr lang="en-US" dirty="0">
                        <a:solidFill>
                          <a:schemeClr val="bg2">
                            <a:lumMod val="25000"/>
                          </a:schemeClr>
                        </a:solidFill>
                      </a:endParaRPr>
                    </a:p>
                  </a:txBody>
                  <a:tcPr>
                    <a:lnL w="12240">
                      <a:solidFill>
                        <a:srgbClr val="1D528D"/>
                      </a:solid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dirty="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dirty="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dirty="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extLst>
                  <a:ext uri="{0D108BD9-81ED-4DB2-BD59-A6C34878D82A}">
                    <a16:rowId xmlns:a16="http://schemas.microsoft.com/office/drawing/2014/main" val="10005"/>
                  </a:ext>
                </a:extLst>
              </a:tr>
            </a:tbl>
          </a:graphicData>
        </a:graphic>
      </p:graphicFrame>
      <p:sp>
        <p:nvSpPr>
          <p:cNvPr id="989" name="CustomShape 3"/>
          <p:cNvSpPr/>
          <p:nvPr/>
        </p:nvSpPr>
        <p:spPr>
          <a:xfrm>
            <a:off x="1524000" y="277488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990" name="Table 4"/>
          <p:cNvGraphicFramePr/>
          <p:nvPr>
            <p:extLst>
              <p:ext uri="{D42A27DB-BD31-4B8C-83A1-F6EECF244321}">
                <p14:modId xmlns:p14="http://schemas.microsoft.com/office/powerpoint/2010/main" val="2188370775"/>
              </p:ext>
            </p:extLst>
          </p:nvPr>
        </p:nvGraphicFramePr>
        <p:xfrm>
          <a:off x="1847640" y="5072040"/>
          <a:ext cx="5476269" cy="1458242"/>
        </p:xfrm>
        <a:graphic>
          <a:graphicData uri="http://schemas.openxmlformats.org/drawingml/2006/table">
            <a:tbl>
              <a:tblPr/>
              <a:tblGrid>
                <a:gridCol w="1368040">
                  <a:extLst>
                    <a:ext uri="{9D8B030D-6E8A-4147-A177-3AD203B41FA5}">
                      <a16:colId xmlns:a16="http://schemas.microsoft.com/office/drawing/2014/main" val="20000"/>
                    </a:ext>
                  </a:extLst>
                </a:gridCol>
                <a:gridCol w="938309">
                  <a:extLst>
                    <a:ext uri="{9D8B030D-6E8A-4147-A177-3AD203B41FA5}">
                      <a16:colId xmlns:a16="http://schemas.microsoft.com/office/drawing/2014/main" val="20001"/>
                    </a:ext>
                  </a:extLst>
                </a:gridCol>
                <a:gridCol w="1053737">
                  <a:extLst>
                    <a:ext uri="{9D8B030D-6E8A-4147-A177-3AD203B41FA5}">
                      <a16:colId xmlns:a16="http://schemas.microsoft.com/office/drawing/2014/main" val="20002"/>
                    </a:ext>
                  </a:extLst>
                </a:gridCol>
                <a:gridCol w="1175657">
                  <a:extLst>
                    <a:ext uri="{9D8B030D-6E8A-4147-A177-3AD203B41FA5}">
                      <a16:colId xmlns:a16="http://schemas.microsoft.com/office/drawing/2014/main" val="20003"/>
                    </a:ext>
                  </a:extLst>
                </a:gridCol>
                <a:gridCol w="940526">
                  <a:extLst>
                    <a:ext uri="{9D8B030D-6E8A-4147-A177-3AD203B41FA5}">
                      <a16:colId xmlns:a16="http://schemas.microsoft.com/office/drawing/2014/main" val="20004"/>
                    </a:ext>
                  </a:extLst>
                </a:gridCol>
              </a:tblGrid>
              <a:tr h="535130">
                <a:tc>
                  <a:txBody>
                    <a:bodyPr/>
                    <a:lstStyle/>
                    <a:p>
                      <a:pPr algn="ctr">
                        <a:lnSpc>
                          <a:spcPct val="95000"/>
                        </a:lnSpc>
                      </a:pPr>
                      <a:r>
                        <a:rPr lang="es-PE" sz="2400" b="1" strike="noStrike" spc="-1" dirty="0" err="1">
                          <a:solidFill>
                            <a:srgbClr val="1D528D"/>
                          </a:solidFill>
                          <a:latin typeface="Arial Narrow"/>
                        </a:rPr>
                        <a:t>P</a:t>
                      </a:r>
                      <a:r>
                        <a:rPr lang="es-PE" sz="2400" b="1" strike="noStrike" spc="-1" baseline="-30000" dirty="0" err="1">
                          <a:solidFill>
                            <a:srgbClr val="1D528D"/>
                          </a:solidFill>
                          <a:latin typeface="Arial Narrow"/>
                        </a:rPr>
                        <a:t>1</a:t>
                      </a:r>
                      <a:endParaRPr lang="es-PE" sz="2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rgbClr val="FF0000"/>
                          </a:solidFill>
                          <a:latin typeface="Arial Narrow"/>
                        </a:rPr>
                        <a:t>900</a:t>
                      </a:r>
                      <a:endParaRPr lang="es-PE"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rgbClr val="FF0000"/>
                          </a:solidFill>
                          <a:latin typeface="Arial Narrow"/>
                        </a:rPr>
                        <a:t>1000</a:t>
                      </a:r>
                      <a:endParaRPr lang="es-PE"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rgbClr val="FF0000"/>
                          </a:solidFill>
                          <a:latin typeface="Arial Narrow"/>
                        </a:rPr>
                        <a:t>400</a:t>
                      </a:r>
                      <a:endParaRPr lang="es-PE"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rgbClr val="FF0000"/>
                          </a:solidFill>
                          <a:latin typeface="Arial Narrow"/>
                        </a:rPr>
                        <a:t>1300</a:t>
                      </a:r>
                      <a:endParaRPr lang="es-PE"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425160">
                <a:tc>
                  <a:txBody>
                    <a:bodyPr/>
                    <a:lstStyle/>
                    <a:p>
                      <a:pPr algn="ctr">
                        <a:lnSpc>
                          <a:spcPct val="95000"/>
                        </a:lnSpc>
                      </a:pPr>
                      <a:r>
                        <a:rPr lang="es-PE" sz="2400" b="1" strike="noStrike" spc="-1" dirty="0" err="1">
                          <a:solidFill>
                            <a:srgbClr val="1D528D"/>
                          </a:solidFill>
                          <a:latin typeface="Arial Narrow"/>
                        </a:rPr>
                        <a:t>P</a:t>
                      </a:r>
                      <a:r>
                        <a:rPr lang="es-PE" sz="2400" b="1" strike="noStrike" spc="-1" baseline="-30000" dirty="0" err="1">
                          <a:solidFill>
                            <a:srgbClr val="1D528D"/>
                          </a:solidFill>
                          <a:latin typeface="Arial Narrow"/>
                        </a:rPr>
                        <a:t>2</a:t>
                      </a:r>
                      <a:endParaRPr lang="es-PE" sz="2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484200">
                <a:tc>
                  <a:txBody>
                    <a:bodyPr/>
                    <a:lstStyle/>
                    <a:p>
                      <a:pPr algn="ctr">
                        <a:lnSpc>
                          <a:spcPct val="95000"/>
                        </a:lnSpc>
                      </a:pPr>
                      <a:r>
                        <a:rPr lang="es-PE" sz="2400" b="1" strike="noStrike" spc="-1" dirty="0" err="1">
                          <a:solidFill>
                            <a:srgbClr val="1D528D"/>
                          </a:solidFill>
                          <a:latin typeface="Arial Narrow"/>
                        </a:rPr>
                        <a:t>P</a:t>
                      </a:r>
                      <a:r>
                        <a:rPr lang="es-PE" sz="2400" b="1" strike="noStrike" spc="-1" baseline="-30000" dirty="0" err="1">
                          <a:solidFill>
                            <a:srgbClr val="1D528D"/>
                          </a:solidFill>
                          <a:latin typeface="Arial Narrow"/>
                        </a:rPr>
                        <a:t>3</a:t>
                      </a:r>
                      <a:endParaRPr lang="es-PE" sz="2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bl>
          </a:graphicData>
        </a:graphic>
      </p:graphicFrame>
      <p:sp>
        <p:nvSpPr>
          <p:cNvPr id="8" name="CustomShape 5">
            <a:extLst>
              <a:ext uri="{FF2B5EF4-FFF2-40B4-BE49-F238E27FC236}">
                <a16:creationId xmlns:a16="http://schemas.microsoft.com/office/drawing/2014/main" id="{16B3B2F4-1764-4BDD-BCA7-DE3710F6B175}"/>
              </a:ext>
            </a:extLst>
          </p:cNvPr>
          <p:cNvSpPr/>
          <p:nvPr/>
        </p:nvSpPr>
        <p:spPr>
          <a:xfrm>
            <a:off x="6096000" y="163488"/>
            <a:ext cx="6096000" cy="56304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lnSpc>
                <a:spcPts val="5800"/>
              </a:lnSpc>
              <a:spcBef>
                <a:spcPct val="0"/>
              </a:spcBef>
            </a:pPr>
            <a:r>
              <a:rPr lang="es-PE" sz="3200" dirty="0">
                <a:solidFill>
                  <a:schemeClr val="bg1"/>
                </a:solidFill>
                <a:effectLst>
                  <a:outerShdw blurRad="63500" dist="38100" dir="5400000" algn="t" rotWithShape="0">
                    <a:prstClr val="black">
                      <a:alpha val="25000"/>
                    </a:prstClr>
                  </a:outerShdw>
                </a:effectLst>
                <a:latin typeface="Bauhaus 93" pitchFamily="82" charset="0"/>
              </a:rPr>
              <a:t>Método Vogel</a:t>
            </a:r>
          </a:p>
        </p:txBody>
      </p:sp>
      <p:sp>
        <p:nvSpPr>
          <p:cNvPr id="9" name="CuadroTexto 8">
            <a:extLst>
              <a:ext uri="{FF2B5EF4-FFF2-40B4-BE49-F238E27FC236}">
                <a16:creationId xmlns:a16="http://schemas.microsoft.com/office/drawing/2014/main" id="{4C8B5275-0374-4869-BA65-417B28AAF93C}"/>
              </a:ext>
            </a:extLst>
          </p:cNvPr>
          <p:cNvSpPr txBox="1"/>
          <p:nvPr/>
        </p:nvSpPr>
        <p:spPr>
          <a:xfrm>
            <a:off x="258793" y="2191109"/>
            <a:ext cx="1380226" cy="646331"/>
          </a:xfrm>
          <a:prstGeom prst="rect">
            <a:avLst/>
          </a:prstGeom>
          <a:solidFill>
            <a:srgbClr val="FFFF00"/>
          </a:solidFill>
        </p:spPr>
        <p:txBody>
          <a:bodyPr wrap="square" rtlCol="0">
            <a:spAutoFit/>
          </a:bodyPr>
          <a:lstStyle/>
          <a:p>
            <a:r>
              <a:rPr lang="es-ES" b="1" dirty="0"/>
              <a:t>Hallamos las penalidades</a:t>
            </a:r>
          </a:p>
        </p:txBody>
      </p:sp>
      <p:sp>
        <p:nvSpPr>
          <p:cNvPr id="10" name="Rectángulo 9">
            <a:extLst>
              <a:ext uri="{FF2B5EF4-FFF2-40B4-BE49-F238E27FC236}">
                <a16:creationId xmlns:a16="http://schemas.microsoft.com/office/drawing/2014/main" id="{A038B85D-89DD-4E1B-83DD-D54DA3A130BB}"/>
              </a:ext>
            </a:extLst>
          </p:cNvPr>
          <p:cNvSpPr/>
          <p:nvPr/>
        </p:nvSpPr>
        <p:spPr>
          <a:xfrm>
            <a:off x="258136" y="3054556"/>
            <a:ext cx="1372258" cy="923330"/>
          </a:xfrm>
          <a:prstGeom prst="rect">
            <a:avLst/>
          </a:prstGeom>
          <a:solidFill>
            <a:srgbClr val="FFFF00"/>
          </a:solidFill>
        </p:spPr>
        <p:txBody>
          <a:bodyPr wrap="square">
            <a:spAutoFit/>
          </a:bodyPr>
          <a:lstStyle/>
          <a:p>
            <a:r>
              <a:rPr lang="es-ES" b="1" dirty="0"/>
              <a:t>Hallamos la mayor penalidad</a:t>
            </a:r>
            <a:endParaRPr lang="es-PE" b="1" dirty="0"/>
          </a:p>
        </p:txBody>
      </p:sp>
      <p:sp>
        <p:nvSpPr>
          <p:cNvPr id="11" name="CuadroTexto 10">
            <a:extLst>
              <a:ext uri="{FF2B5EF4-FFF2-40B4-BE49-F238E27FC236}">
                <a16:creationId xmlns:a16="http://schemas.microsoft.com/office/drawing/2014/main" id="{E423A498-A3B5-42BF-B6AC-9D6C1AD1BCBE}"/>
              </a:ext>
            </a:extLst>
          </p:cNvPr>
          <p:cNvSpPr txBox="1"/>
          <p:nvPr/>
        </p:nvSpPr>
        <p:spPr>
          <a:xfrm>
            <a:off x="264551" y="4198193"/>
            <a:ext cx="1380226" cy="646331"/>
          </a:xfrm>
          <a:prstGeom prst="rect">
            <a:avLst/>
          </a:prstGeom>
          <a:solidFill>
            <a:srgbClr val="FFFF00"/>
          </a:solidFill>
        </p:spPr>
        <p:txBody>
          <a:bodyPr wrap="square" rtlCol="0">
            <a:spAutoFit/>
          </a:bodyPr>
          <a:lstStyle/>
          <a:p>
            <a:r>
              <a:rPr lang="es-ES" b="1" dirty="0"/>
              <a:t>Hallamos el menor costo</a:t>
            </a:r>
          </a:p>
        </p:txBody>
      </p:sp>
      <p:sp>
        <p:nvSpPr>
          <p:cNvPr id="12" name="CuadroTexto 11">
            <a:extLst>
              <a:ext uri="{FF2B5EF4-FFF2-40B4-BE49-F238E27FC236}">
                <a16:creationId xmlns:a16="http://schemas.microsoft.com/office/drawing/2014/main" id="{43FCA277-6023-4BEA-B2D9-C0B896F2CE71}"/>
              </a:ext>
            </a:extLst>
          </p:cNvPr>
          <p:cNvSpPr txBox="1"/>
          <p:nvPr/>
        </p:nvSpPr>
        <p:spPr>
          <a:xfrm>
            <a:off x="264551" y="5086705"/>
            <a:ext cx="1380226" cy="646331"/>
          </a:xfrm>
          <a:prstGeom prst="rect">
            <a:avLst/>
          </a:prstGeom>
          <a:solidFill>
            <a:srgbClr val="FFFF00"/>
          </a:solidFill>
        </p:spPr>
        <p:txBody>
          <a:bodyPr wrap="square" rtlCol="0">
            <a:spAutoFit/>
          </a:bodyPr>
          <a:lstStyle/>
          <a:p>
            <a:r>
              <a:rPr lang="es-ES" b="1" dirty="0"/>
              <a:t>Anotamos la operación</a:t>
            </a:r>
          </a:p>
        </p:txBody>
      </p:sp>
      <p:graphicFrame>
        <p:nvGraphicFramePr>
          <p:cNvPr id="13" name="1 Diagrama">
            <a:extLst>
              <a:ext uri="{FF2B5EF4-FFF2-40B4-BE49-F238E27FC236}">
                <a16:creationId xmlns:a16="http://schemas.microsoft.com/office/drawing/2014/main" id="{F11C4BA2-4228-473E-A531-357F8A35C196}"/>
              </a:ext>
            </a:extLst>
          </p:cNvPr>
          <p:cNvGraphicFramePr/>
          <p:nvPr/>
        </p:nvGraphicFramePr>
        <p:xfrm>
          <a:off x="7810680" y="4572000"/>
          <a:ext cx="2356920" cy="4054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Globo: flecha hacia abajo 13">
            <a:extLst>
              <a:ext uri="{FF2B5EF4-FFF2-40B4-BE49-F238E27FC236}">
                <a16:creationId xmlns:a16="http://schemas.microsoft.com/office/drawing/2014/main" id="{16985225-26C1-4CD0-A17C-73C50DA53578}"/>
              </a:ext>
            </a:extLst>
          </p:cNvPr>
          <p:cNvSpPr/>
          <p:nvPr/>
        </p:nvSpPr>
        <p:spPr>
          <a:xfrm>
            <a:off x="276044" y="1276709"/>
            <a:ext cx="1345721" cy="897148"/>
          </a:xfrm>
          <a:prstGeom prst="downArrowCallou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rgbClr val="FF0000"/>
                </a:solidFill>
              </a:rPr>
              <a:t>Pasos:</a:t>
            </a:r>
            <a:endParaRPr lang="es-PE" sz="2400" dirty="0">
              <a:solidFill>
                <a:srgbClr val="FF0000"/>
              </a:solidFill>
            </a:endParaRPr>
          </a:p>
        </p:txBody>
      </p:sp>
    </p:spTree>
    <p:extLst>
      <p:ext uri="{BB962C8B-B14F-4D97-AF65-F5344CB8AC3E}">
        <p14:creationId xmlns:p14="http://schemas.microsoft.com/office/powerpoint/2010/main" val="4199209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 name="CustomShape 1"/>
          <p:cNvSpPr/>
          <p:nvPr/>
        </p:nvSpPr>
        <p:spPr>
          <a:xfrm>
            <a:off x="1524000" y="239400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994" name="Table 2"/>
          <p:cNvGraphicFramePr/>
          <p:nvPr>
            <p:extLst>
              <p:ext uri="{D42A27DB-BD31-4B8C-83A1-F6EECF244321}">
                <p14:modId xmlns:p14="http://schemas.microsoft.com/office/powerpoint/2010/main" val="4195920224"/>
              </p:ext>
            </p:extLst>
          </p:nvPr>
        </p:nvGraphicFramePr>
        <p:xfrm>
          <a:off x="1923691" y="1275243"/>
          <a:ext cx="8415628" cy="3787776"/>
        </p:xfrm>
        <a:graphic>
          <a:graphicData uri="http://schemas.openxmlformats.org/drawingml/2006/table">
            <a:tbl>
              <a:tblPr/>
              <a:tblGrid>
                <a:gridCol w="1318193">
                  <a:extLst>
                    <a:ext uri="{9D8B030D-6E8A-4147-A177-3AD203B41FA5}">
                      <a16:colId xmlns:a16="http://schemas.microsoft.com/office/drawing/2014/main" val="20000"/>
                    </a:ext>
                  </a:extLst>
                </a:gridCol>
                <a:gridCol w="948276">
                  <a:extLst>
                    <a:ext uri="{9D8B030D-6E8A-4147-A177-3AD203B41FA5}">
                      <a16:colId xmlns:a16="http://schemas.microsoft.com/office/drawing/2014/main" val="20001"/>
                    </a:ext>
                  </a:extLst>
                </a:gridCol>
                <a:gridCol w="1052676">
                  <a:extLst>
                    <a:ext uri="{9D8B030D-6E8A-4147-A177-3AD203B41FA5}">
                      <a16:colId xmlns:a16="http://schemas.microsoft.com/office/drawing/2014/main" val="20002"/>
                    </a:ext>
                  </a:extLst>
                </a:gridCol>
                <a:gridCol w="1171165">
                  <a:extLst>
                    <a:ext uri="{9D8B030D-6E8A-4147-A177-3AD203B41FA5}">
                      <a16:colId xmlns:a16="http://schemas.microsoft.com/office/drawing/2014/main" val="20003"/>
                    </a:ext>
                  </a:extLst>
                </a:gridCol>
                <a:gridCol w="956945">
                  <a:extLst>
                    <a:ext uri="{9D8B030D-6E8A-4147-A177-3AD203B41FA5}">
                      <a16:colId xmlns:a16="http://schemas.microsoft.com/office/drawing/2014/main" val="20004"/>
                    </a:ext>
                  </a:extLst>
                </a:gridCol>
                <a:gridCol w="931658">
                  <a:extLst>
                    <a:ext uri="{9D8B030D-6E8A-4147-A177-3AD203B41FA5}">
                      <a16:colId xmlns:a16="http://schemas.microsoft.com/office/drawing/2014/main" val="20005"/>
                    </a:ext>
                  </a:extLst>
                </a:gridCol>
                <a:gridCol w="716716">
                  <a:extLst>
                    <a:ext uri="{9D8B030D-6E8A-4147-A177-3AD203B41FA5}">
                      <a16:colId xmlns:a16="http://schemas.microsoft.com/office/drawing/2014/main" val="20006"/>
                    </a:ext>
                  </a:extLst>
                </a:gridCol>
                <a:gridCol w="730443">
                  <a:extLst>
                    <a:ext uri="{9D8B030D-6E8A-4147-A177-3AD203B41FA5}">
                      <a16:colId xmlns:a16="http://schemas.microsoft.com/office/drawing/2014/main" val="20007"/>
                    </a:ext>
                  </a:extLst>
                </a:gridCol>
                <a:gridCol w="589556">
                  <a:extLst>
                    <a:ext uri="{9D8B030D-6E8A-4147-A177-3AD203B41FA5}">
                      <a16:colId xmlns:a16="http://schemas.microsoft.com/office/drawing/2014/main" val="20008"/>
                    </a:ext>
                  </a:extLst>
                </a:gridCol>
              </a:tblGrid>
              <a:tr h="425160">
                <a:tc>
                  <a:txBody>
                    <a:bodyPr/>
                    <a:lstStyle/>
                    <a:p>
                      <a:endParaRPr lang="en-US"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Dallas</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Denver</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Phoenix</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Miami</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Oferta </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a:solidFill>
                            <a:schemeClr val="bg2">
                              <a:lumMod val="25000"/>
                            </a:schemeClr>
                          </a:solidFill>
                          <a:latin typeface="Arial Narrow"/>
                        </a:rPr>
                        <a:t>P</a:t>
                      </a:r>
                      <a:r>
                        <a:rPr lang="es-PE" sz="2400" b="1" strike="noStrike" spc="-1" baseline="-30000">
                          <a:solidFill>
                            <a:schemeClr val="bg2">
                              <a:lumMod val="25000"/>
                            </a:schemeClr>
                          </a:solidFill>
                          <a:latin typeface="Arial Narrow"/>
                        </a:rPr>
                        <a:t>1</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a:solidFill>
                            <a:schemeClr val="bg2">
                              <a:lumMod val="25000"/>
                            </a:schemeClr>
                          </a:solidFill>
                          <a:latin typeface="Arial Narrow"/>
                        </a:rPr>
                        <a:t>P</a:t>
                      </a:r>
                      <a:r>
                        <a:rPr lang="es-PE" sz="2400" b="1" strike="noStrike" spc="-1" baseline="-30000">
                          <a:solidFill>
                            <a:schemeClr val="bg2">
                              <a:lumMod val="25000"/>
                            </a:schemeClr>
                          </a:solidFill>
                          <a:latin typeface="Arial Narrow"/>
                        </a:rPr>
                        <a:t>2</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a:solidFill>
                            <a:schemeClr val="bg2">
                              <a:lumMod val="25000"/>
                            </a:schemeClr>
                          </a:solidFill>
                          <a:latin typeface="Arial Narrow"/>
                        </a:rPr>
                        <a:t>P</a:t>
                      </a:r>
                      <a:r>
                        <a:rPr lang="es-PE" sz="2400" b="1" strike="noStrike" spc="-1" baseline="-30000">
                          <a:solidFill>
                            <a:schemeClr val="bg2">
                              <a:lumMod val="25000"/>
                            </a:schemeClr>
                          </a:solidFill>
                          <a:latin typeface="Arial Narrow"/>
                        </a:rPr>
                        <a:t>3</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368640">
                <a:tc>
                  <a:txBody>
                    <a:bodyPr/>
                    <a:lstStyle/>
                    <a:p>
                      <a:pPr algn="ctr">
                        <a:lnSpc>
                          <a:spcPct val="95000"/>
                        </a:lnSpc>
                      </a:pPr>
                      <a:r>
                        <a:rPr lang="es-PE" sz="2000" b="1" strike="noStrike" spc="-1">
                          <a:solidFill>
                            <a:schemeClr val="bg2">
                              <a:lumMod val="25000"/>
                            </a:schemeClr>
                          </a:solidFill>
                          <a:latin typeface="Arial Narrow"/>
                        </a:rPr>
                        <a:t>Nueva York</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1600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95000"/>
                        </a:lnSpc>
                      </a:pPr>
                      <a:r>
                        <a:rPr lang="es-PE" sz="2400" b="1" strike="noStrike" spc="-1">
                          <a:solidFill>
                            <a:schemeClr val="bg2">
                              <a:lumMod val="25000"/>
                            </a:schemeClr>
                          </a:solidFill>
                          <a:latin typeface="Arial Narrow"/>
                        </a:rPr>
                        <a:t>1800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95000"/>
                        </a:lnSpc>
                      </a:pPr>
                      <a:r>
                        <a:rPr lang="es-PE" sz="2400" b="1" strike="noStrike" spc="-1">
                          <a:solidFill>
                            <a:schemeClr val="bg2">
                              <a:lumMod val="25000"/>
                            </a:schemeClr>
                          </a:solidFill>
                          <a:latin typeface="Arial Narrow"/>
                        </a:rPr>
                        <a:t>2500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pPr algn="ctr">
                        <a:lnSpc>
                          <a:spcPct val="95000"/>
                        </a:lnSpc>
                      </a:pPr>
                      <a:r>
                        <a:rPr lang="es-PE" sz="2400" b="1" strike="noStrike" spc="-1" dirty="0">
                          <a:solidFill>
                            <a:schemeClr val="bg2">
                              <a:lumMod val="25000"/>
                            </a:schemeClr>
                          </a:solidFill>
                          <a:latin typeface="Arial Narrow"/>
                        </a:rPr>
                        <a:t>1300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dirty="0">
                          <a:solidFill>
                            <a:schemeClr val="bg2">
                              <a:lumMod val="25000"/>
                            </a:schemeClr>
                          </a:solidFill>
                          <a:latin typeface="Arial Narrow"/>
                        </a:rPr>
                        <a:t>3</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Narrow"/>
                        </a:rPr>
                        <a:t>300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200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660240">
                <a:tc>
                  <a:txBody>
                    <a:bodyPr/>
                    <a:lstStyle/>
                    <a:p>
                      <a:pPr algn="ctr">
                        <a:lnSpc>
                          <a:spcPct val="95000"/>
                        </a:lnSpc>
                      </a:pPr>
                      <a:r>
                        <a:rPr lang="es-PE" sz="2000" b="1" strike="noStrike" spc="-1">
                          <a:solidFill>
                            <a:schemeClr val="bg2">
                              <a:lumMod val="25000"/>
                            </a:schemeClr>
                          </a:solidFill>
                          <a:latin typeface="Arial Narrow"/>
                        </a:rPr>
                        <a:t>Chicago</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900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95000"/>
                        </a:lnSpc>
                      </a:pPr>
                      <a:r>
                        <a:rPr lang="es-PE" sz="2400" b="1" strike="noStrike" spc="-1">
                          <a:solidFill>
                            <a:schemeClr val="bg2">
                              <a:lumMod val="25000"/>
                            </a:schemeClr>
                          </a:solidFill>
                          <a:latin typeface="Arial Narrow"/>
                        </a:rPr>
                        <a:t>1000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95000"/>
                        </a:lnSpc>
                      </a:pPr>
                      <a:r>
                        <a:rPr lang="es-PE" sz="2400" b="1" strike="noStrike" spc="-1">
                          <a:solidFill>
                            <a:schemeClr val="bg2">
                              <a:lumMod val="25000"/>
                            </a:schemeClr>
                          </a:solidFill>
                          <a:latin typeface="Arial Narrow"/>
                        </a:rPr>
                        <a:t>1800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pPr algn="ctr">
                        <a:lnSpc>
                          <a:spcPct val="95000"/>
                        </a:lnSpc>
                      </a:pPr>
                      <a:r>
                        <a:rPr lang="es-PE" sz="2400" b="1" strike="noStrike" spc="-1" dirty="0">
                          <a:solidFill>
                            <a:schemeClr val="bg2">
                              <a:lumMod val="25000"/>
                            </a:schemeClr>
                          </a:solidFill>
                          <a:latin typeface="Arial Narrow"/>
                        </a:rPr>
                        <a:t>1400</a:t>
                      </a:r>
                      <a:endParaRPr lang="es-PE" sz="2400" b="0" strike="noStrike" spc="-1" dirty="0">
                        <a:solidFill>
                          <a:schemeClr val="bg2">
                            <a:lumMod val="25000"/>
                          </a:schemeClr>
                        </a:solidFill>
                        <a:latin typeface="Arial"/>
                      </a:endParaRPr>
                    </a:p>
                    <a:p>
                      <a:pPr algn="ctr">
                        <a:lnSpc>
                          <a:spcPct val="95000"/>
                        </a:lnSpc>
                      </a:pP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dirty="0">
                          <a:solidFill>
                            <a:schemeClr val="bg2">
                              <a:lumMod val="25000"/>
                            </a:schemeClr>
                          </a:solidFill>
                          <a:latin typeface="Arial Narrow"/>
                        </a:rPr>
                        <a:t>2</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Narrow"/>
                        </a:rPr>
                        <a:t>100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100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660240">
                <a:tc>
                  <a:txBody>
                    <a:bodyPr/>
                    <a:lstStyle/>
                    <a:p>
                      <a:pPr algn="ctr">
                        <a:lnSpc>
                          <a:spcPct val="95000"/>
                        </a:lnSpc>
                      </a:pPr>
                      <a:r>
                        <a:rPr lang="es-PE" sz="2000" b="1" strike="noStrike" spc="-1" dirty="0">
                          <a:solidFill>
                            <a:schemeClr val="bg2">
                              <a:lumMod val="25000"/>
                            </a:schemeClr>
                          </a:solidFill>
                          <a:latin typeface="Arial Narrow"/>
                        </a:rPr>
                        <a:t>Los Ángeles</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1400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95000"/>
                        </a:lnSpc>
                      </a:pPr>
                      <a:r>
                        <a:rPr lang="es-PE" sz="2400" b="1" strike="noStrike" spc="-1">
                          <a:solidFill>
                            <a:schemeClr val="bg2">
                              <a:lumMod val="25000"/>
                            </a:schemeClr>
                          </a:solidFill>
                          <a:latin typeface="Arial Narrow"/>
                        </a:rPr>
                        <a:t>1000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95000"/>
                        </a:lnSpc>
                      </a:pPr>
                      <a:r>
                        <a:rPr lang="es-PE" sz="2400" b="1" strike="noStrike" spc="-1" dirty="0">
                          <a:solidFill>
                            <a:schemeClr val="bg2">
                              <a:lumMod val="25000"/>
                            </a:schemeClr>
                          </a:solidFill>
                          <a:latin typeface="Arial Narrow"/>
                        </a:rPr>
                        <a:t>400</a:t>
                      </a:r>
                      <a:endParaRPr lang="es-PE" sz="2400" b="0" strike="noStrike" spc="-1" dirty="0">
                        <a:solidFill>
                          <a:schemeClr val="bg2">
                            <a:lumMod val="25000"/>
                          </a:schemeClr>
                        </a:solidFill>
                        <a:latin typeface="Arial"/>
                      </a:endParaRPr>
                    </a:p>
                    <a:p>
                      <a:pPr algn="ctr">
                        <a:lnSpc>
                          <a:spcPct val="95000"/>
                        </a:lnSpc>
                      </a:pPr>
                      <a:r>
                        <a:rPr lang="es-PE" sz="2400" b="1" strike="noStrike" spc="-1" dirty="0">
                          <a:solidFill>
                            <a:schemeClr val="bg2">
                              <a:lumMod val="25000"/>
                            </a:schemeClr>
                          </a:solidFill>
                          <a:latin typeface="Arial Narrow"/>
                        </a:rPr>
                        <a:t>*</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pPr algn="ctr">
                        <a:lnSpc>
                          <a:spcPct val="95000"/>
                        </a:lnSpc>
                      </a:pPr>
                      <a:r>
                        <a:rPr lang="es-PE" sz="2400" b="1" strike="noStrike" spc="-1" dirty="0">
                          <a:solidFill>
                            <a:schemeClr val="bg2">
                              <a:lumMod val="25000"/>
                            </a:schemeClr>
                          </a:solidFill>
                          <a:latin typeface="Arial Narrow"/>
                        </a:rPr>
                        <a:t>2700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a:solidFill>
                            <a:schemeClr val="bg2">
                              <a:lumMod val="25000"/>
                            </a:schemeClr>
                          </a:solidFill>
                          <a:latin typeface="Arial Narrow"/>
                        </a:rPr>
                        <a:t>3/1</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PE" sz="2400" b="1" strike="noStrike" spc="-1" dirty="0">
                          <a:solidFill>
                            <a:schemeClr val="tx1"/>
                          </a:solidFill>
                          <a:latin typeface="Arial Narrow"/>
                        </a:rPr>
                        <a:t>600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PE" sz="2400" b="1" strike="noStrike" spc="-1" dirty="0">
                          <a:solidFill>
                            <a:srgbClr val="FF0000"/>
                          </a:solidFill>
                          <a:latin typeface="Arial Narrow"/>
                        </a:rPr>
                        <a:t>600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endParaRPr lang="en-US">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660240">
                <a:tc>
                  <a:txBody>
                    <a:bodyPr/>
                    <a:lstStyle/>
                    <a:p>
                      <a:pPr algn="ctr">
                        <a:lnSpc>
                          <a:spcPct val="95000"/>
                        </a:lnSpc>
                      </a:pPr>
                      <a:r>
                        <a:rPr lang="es-PE" sz="2000" b="1" strike="noStrike" spc="-1" dirty="0">
                          <a:solidFill>
                            <a:schemeClr val="bg2">
                              <a:lumMod val="25000"/>
                            </a:schemeClr>
                          </a:solidFill>
                          <a:latin typeface="Arial Narrow"/>
                        </a:rPr>
                        <a:t>Figurado</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400" b="1" strike="noStrike" spc="-1" dirty="0">
                          <a:solidFill>
                            <a:schemeClr val="bg2">
                              <a:lumMod val="25000"/>
                            </a:schemeClr>
                          </a:solidFill>
                          <a:latin typeface="Arial Narrow"/>
                        </a:rPr>
                        <a:t>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400" b="1" strike="noStrike" spc="-1" dirty="0">
                          <a:solidFill>
                            <a:schemeClr val="bg2">
                              <a:lumMod val="25000"/>
                            </a:schemeClr>
                          </a:solidFill>
                          <a:latin typeface="Arial Narrow"/>
                        </a:rPr>
                        <a:t>0</a:t>
                      </a:r>
                      <a:endParaRPr lang="es-PE" sz="2400" b="0" strike="noStrike" spc="-1" dirty="0">
                        <a:solidFill>
                          <a:schemeClr val="bg2">
                            <a:lumMod val="25000"/>
                          </a:schemeClr>
                        </a:solidFill>
                        <a:latin typeface="Arial"/>
                      </a:endParaRPr>
                    </a:p>
                  </a:txBody>
                  <a:tcPr>
                    <a:lnL w="12240">
                      <a:solidFill>
                        <a:srgbClr val="000000"/>
                      </a:solidFill>
                    </a:lnL>
                    <a:lnR w="12240">
                      <a:solidFill>
                        <a:srgbClr val="1D528D"/>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400" b="1" strike="noStrike" spc="-1" dirty="0">
                          <a:solidFill>
                            <a:schemeClr val="bg2">
                              <a:lumMod val="25000"/>
                            </a:schemeClr>
                          </a:solidFill>
                          <a:latin typeface="Arial Narrow"/>
                        </a:rPr>
                        <a:t>0</a:t>
                      </a:r>
                      <a:endParaRPr lang="es-PE" sz="2400" b="0" strike="noStrike" spc="-1" dirty="0">
                        <a:solidFill>
                          <a:schemeClr val="bg2">
                            <a:lumMod val="25000"/>
                          </a:schemeClr>
                        </a:solidFill>
                        <a:latin typeface="Arial"/>
                      </a:endParaRPr>
                    </a:p>
                    <a:p>
                      <a:pPr algn="ctr">
                        <a:lnSpc>
                          <a:spcPct val="95000"/>
                        </a:lnSpc>
                      </a:pPr>
                      <a:r>
                        <a:rPr lang="es-PE" sz="2400" b="1" strike="noStrike" spc="-1" dirty="0">
                          <a:solidFill>
                            <a:schemeClr val="bg2">
                              <a:lumMod val="25000"/>
                            </a:schemeClr>
                          </a:solidFill>
                          <a:latin typeface="Arial Narrow"/>
                        </a:rPr>
                        <a:t>*</a:t>
                      </a:r>
                      <a:endParaRPr lang="es-PE" sz="2400" b="0" strike="noStrike" spc="-1" dirty="0">
                        <a:solidFill>
                          <a:schemeClr val="bg2">
                            <a:lumMod val="25000"/>
                          </a:schemeClr>
                        </a:solidFill>
                        <a:latin typeface="Arial"/>
                      </a:endParaRPr>
                    </a:p>
                  </a:txBody>
                  <a:tcPr>
                    <a:lnL w="12240">
                      <a:solidFill>
                        <a:srgbClr val="1D528D"/>
                      </a:solidFill>
                    </a:lnL>
                    <a:lnR w="12700" cap="flat" cmpd="sng" algn="ctr">
                      <a:solidFill>
                        <a:schemeClr val="tx1"/>
                      </a:solidFill>
                      <a:prstDash val="solid"/>
                      <a:round/>
                      <a:headEnd type="none" w="med" len="med"/>
                      <a:tailEnd type="none" w="med" len="med"/>
                    </a:lnR>
                    <a:lnT w="12240">
                      <a:solidFill>
                        <a:srgbClr val="000000"/>
                      </a:solidFill>
                    </a:lnT>
                    <a:lnB w="12240">
                      <a:solidFill>
                        <a:srgbClr val="000000"/>
                      </a:solidFill>
                    </a:lnB>
                    <a:solidFill>
                      <a:schemeClr val="tx1"/>
                    </a:solidFill>
                  </a:tcPr>
                </a:tc>
                <a:tc>
                  <a:txBody>
                    <a:bodyPr/>
                    <a:lstStyle/>
                    <a:p>
                      <a:pPr algn="ctr">
                        <a:lnSpc>
                          <a:spcPct val="95000"/>
                        </a:lnSpc>
                        <a:spcBef>
                          <a:spcPts val="1199"/>
                        </a:spcBef>
                      </a:pPr>
                      <a:r>
                        <a:rPr lang="es-PE" sz="2400" b="1" strike="noStrike" spc="-1" dirty="0">
                          <a:solidFill>
                            <a:schemeClr val="bg2">
                              <a:lumMod val="25000"/>
                            </a:schemeClr>
                          </a:solidFill>
                          <a:latin typeface="Arial Narrow"/>
                        </a:rPr>
                        <a:t>2/0</a:t>
                      </a:r>
                      <a:endParaRPr lang="es-PE" sz="2400" b="0" strike="noStrike" spc="-1" dirty="0">
                        <a:solidFill>
                          <a:schemeClr val="bg2">
                            <a:lumMod val="25000"/>
                          </a:schemeClr>
                        </a:solidFill>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PE" sz="2400" b="1" strike="noStrike" spc="-1" dirty="0">
                          <a:solidFill>
                            <a:schemeClr val="tx1"/>
                          </a:solidFill>
                          <a:latin typeface="Arial Narrow"/>
                        </a:rPr>
                        <a:t>0</a:t>
                      </a:r>
                      <a:endParaRPr lang="es-PE" sz="2400" b="0" strike="noStrike" spc="-1" dirty="0">
                        <a:solidFill>
                          <a:schemeClr val="tx1"/>
                        </a:solidFill>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solidFill>
                          <a:schemeClr val="bg2">
                            <a:lumMod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550800">
                <a:tc>
                  <a:txBody>
                    <a:bodyPr/>
                    <a:lstStyle/>
                    <a:p>
                      <a:pPr algn="ctr">
                        <a:lnSpc>
                          <a:spcPct val="95000"/>
                        </a:lnSpc>
                      </a:pPr>
                      <a:r>
                        <a:rPr lang="es-PE" sz="2000" b="1" strike="noStrike" spc="-1" dirty="0">
                          <a:solidFill>
                            <a:schemeClr val="bg2">
                              <a:lumMod val="25000"/>
                            </a:schemeClr>
                          </a:solidFill>
                          <a:latin typeface="Arial Narrow"/>
                        </a:rPr>
                        <a:t>Demanda </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4</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2</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2/0</a:t>
                      </a:r>
                      <a:endParaRPr lang="es-PE" sz="2400" b="0" strike="noStrike" spc="-1" dirty="0">
                        <a:solidFill>
                          <a:schemeClr val="bg2">
                            <a:lumMod val="25000"/>
                          </a:schemeClr>
                        </a:solidFill>
                        <a:latin typeface="Arial"/>
                      </a:endParaRPr>
                    </a:p>
                  </a:txBody>
                  <a:tcPr>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2/0</a:t>
                      </a:r>
                      <a:endParaRPr lang="es-PE" sz="2400" b="0" strike="noStrike" spc="-1" dirty="0">
                        <a:solidFill>
                          <a:schemeClr val="bg2">
                            <a:lumMod val="25000"/>
                          </a:schemeClr>
                        </a:solidFill>
                        <a:latin typeface="Arial"/>
                      </a:endParaRPr>
                    </a:p>
                  </a:txBody>
                  <a:tcPr>
                    <a:lnL w="12240">
                      <a:solidFill>
                        <a:srgbClr val="1D528D"/>
                      </a:solidFill>
                    </a:lnL>
                    <a:lnR w="12240">
                      <a:solidFill>
                        <a:srgbClr val="1D528D"/>
                      </a:solidFill>
                    </a:lnR>
                    <a:lnT w="12240">
                      <a:solidFill>
                        <a:srgbClr val="000000"/>
                      </a:solidFill>
                    </a:lnT>
                    <a:lnB w="12240">
                      <a:solidFill>
                        <a:srgbClr val="000000"/>
                      </a:solidFill>
                    </a:lnB>
                    <a:noFill/>
                  </a:tcPr>
                </a:tc>
                <a:tc>
                  <a:txBody>
                    <a:bodyPr/>
                    <a:lstStyle/>
                    <a:p>
                      <a:endParaRPr lang="en-US" dirty="0">
                        <a:solidFill>
                          <a:schemeClr val="bg2">
                            <a:lumMod val="25000"/>
                          </a:schemeClr>
                        </a:solidFill>
                      </a:endParaRPr>
                    </a:p>
                  </a:txBody>
                  <a:tcPr>
                    <a:lnL w="12240">
                      <a:solidFill>
                        <a:srgbClr val="1D528D"/>
                      </a:solid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dirty="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dirty="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dirty="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extLst>
                  <a:ext uri="{0D108BD9-81ED-4DB2-BD59-A6C34878D82A}">
                    <a16:rowId xmlns:a16="http://schemas.microsoft.com/office/drawing/2014/main" val="10005"/>
                  </a:ext>
                </a:extLst>
              </a:tr>
            </a:tbl>
          </a:graphicData>
        </a:graphic>
      </p:graphicFrame>
      <p:sp>
        <p:nvSpPr>
          <p:cNvPr id="995" name="CustomShape 3"/>
          <p:cNvSpPr/>
          <p:nvPr/>
        </p:nvSpPr>
        <p:spPr>
          <a:xfrm>
            <a:off x="1524000" y="277488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996" name="Table 4"/>
          <p:cNvGraphicFramePr/>
          <p:nvPr>
            <p:extLst>
              <p:ext uri="{D42A27DB-BD31-4B8C-83A1-F6EECF244321}">
                <p14:modId xmlns:p14="http://schemas.microsoft.com/office/powerpoint/2010/main" val="472074237"/>
              </p:ext>
            </p:extLst>
          </p:nvPr>
        </p:nvGraphicFramePr>
        <p:xfrm>
          <a:off x="1923691" y="5074503"/>
          <a:ext cx="5457321" cy="1404072"/>
        </p:xfrm>
        <a:graphic>
          <a:graphicData uri="http://schemas.openxmlformats.org/drawingml/2006/table">
            <a:tbl>
              <a:tblPr/>
              <a:tblGrid>
                <a:gridCol w="1310876">
                  <a:extLst>
                    <a:ext uri="{9D8B030D-6E8A-4147-A177-3AD203B41FA5}">
                      <a16:colId xmlns:a16="http://schemas.microsoft.com/office/drawing/2014/main" val="20000"/>
                    </a:ext>
                  </a:extLst>
                </a:gridCol>
                <a:gridCol w="954944">
                  <a:extLst>
                    <a:ext uri="{9D8B030D-6E8A-4147-A177-3AD203B41FA5}">
                      <a16:colId xmlns:a16="http://schemas.microsoft.com/office/drawing/2014/main" val="20001"/>
                    </a:ext>
                  </a:extLst>
                </a:gridCol>
                <a:gridCol w="1050438">
                  <a:extLst>
                    <a:ext uri="{9D8B030D-6E8A-4147-A177-3AD203B41FA5}">
                      <a16:colId xmlns:a16="http://schemas.microsoft.com/office/drawing/2014/main" val="20002"/>
                    </a:ext>
                  </a:extLst>
                </a:gridCol>
                <a:gridCol w="1171976">
                  <a:extLst>
                    <a:ext uri="{9D8B030D-6E8A-4147-A177-3AD203B41FA5}">
                      <a16:colId xmlns:a16="http://schemas.microsoft.com/office/drawing/2014/main" val="20003"/>
                    </a:ext>
                  </a:extLst>
                </a:gridCol>
                <a:gridCol w="969087">
                  <a:extLst>
                    <a:ext uri="{9D8B030D-6E8A-4147-A177-3AD203B41FA5}">
                      <a16:colId xmlns:a16="http://schemas.microsoft.com/office/drawing/2014/main" val="20004"/>
                    </a:ext>
                  </a:extLst>
                </a:gridCol>
              </a:tblGrid>
              <a:tr h="484920">
                <a:tc>
                  <a:txBody>
                    <a:bodyPr/>
                    <a:lstStyle/>
                    <a:p>
                      <a:pPr algn="ctr">
                        <a:lnSpc>
                          <a:spcPct val="95000"/>
                        </a:lnSpc>
                      </a:pPr>
                      <a:r>
                        <a:rPr lang="es-PE" sz="2400" b="1" strike="noStrike" spc="-1" dirty="0" err="1">
                          <a:solidFill>
                            <a:srgbClr val="1D528D"/>
                          </a:solidFill>
                          <a:latin typeface="Arial Narrow"/>
                        </a:rPr>
                        <a:t>P</a:t>
                      </a:r>
                      <a:r>
                        <a:rPr lang="es-PE" sz="2400" b="1" strike="noStrike" spc="-1" baseline="-30000" dirty="0" err="1">
                          <a:solidFill>
                            <a:srgbClr val="1D528D"/>
                          </a:solidFill>
                          <a:latin typeface="Arial Narrow"/>
                        </a:rPr>
                        <a:t>1</a:t>
                      </a:r>
                      <a:endParaRPr lang="es-PE" sz="2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Narrow"/>
                        </a:rPr>
                        <a:t>900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Narrow"/>
                        </a:rPr>
                        <a:t>1000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Narrow"/>
                        </a:rPr>
                        <a:t>400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Narrow"/>
                        </a:rPr>
                        <a:t>1300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425160">
                <a:tc>
                  <a:txBody>
                    <a:bodyPr/>
                    <a:lstStyle/>
                    <a:p>
                      <a:pPr algn="ctr">
                        <a:lnSpc>
                          <a:spcPct val="95000"/>
                        </a:lnSpc>
                      </a:pPr>
                      <a:r>
                        <a:rPr lang="es-PE" sz="2400" b="1" strike="noStrike" spc="-1" dirty="0" err="1">
                          <a:solidFill>
                            <a:srgbClr val="1D528D"/>
                          </a:solidFill>
                          <a:latin typeface="Arial Narrow"/>
                        </a:rPr>
                        <a:t>P</a:t>
                      </a:r>
                      <a:r>
                        <a:rPr lang="es-PE" sz="2400" b="1" strike="noStrike" spc="-1" baseline="-30000" dirty="0" err="1">
                          <a:solidFill>
                            <a:srgbClr val="1D528D"/>
                          </a:solidFill>
                          <a:latin typeface="Arial Narrow"/>
                        </a:rPr>
                        <a:t>2</a:t>
                      </a:r>
                      <a:endParaRPr lang="es-PE" sz="2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500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800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1400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480240">
                <a:tc>
                  <a:txBody>
                    <a:bodyPr/>
                    <a:lstStyle/>
                    <a:p>
                      <a:pPr algn="ctr">
                        <a:lnSpc>
                          <a:spcPct val="95000"/>
                        </a:lnSpc>
                      </a:pPr>
                      <a:r>
                        <a:rPr lang="es-PE" sz="2400" b="1" strike="noStrike" spc="-1" dirty="0" err="1">
                          <a:solidFill>
                            <a:srgbClr val="1D528D"/>
                          </a:solidFill>
                          <a:latin typeface="Arial Narrow"/>
                        </a:rPr>
                        <a:t>P</a:t>
                      </a:r>
                      <a:r>
                        <a:rPr lang="es-PE" sz="2400" b="1" strike="noStrike" spc="-1" baseline="-30000" dirty="0" err="1">
                          <a:solidFill>
                            <a:srgbClr val="1D528D"/>
                          </a:solidFill>
                          <a:latin typeface="Arial Narrow"/>
                        </a:rPr>
                        <a:t>3</a:t>
                      </a:r>
                      <a:endParaRPr lang="es-PE" sz="2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bl>
          </a:graphicData>
        </a:graphic>
      </p:graphicFrame>
      <p:graphicFrame>
        <p:nvGraphicFramePr>
          <p:cNvPr id="2" name="1 Diagrama"/>
          <p:cNvGraphicFramePr/>
          <p:nvPr>
            <p:extLst>
              <p:ext uri="{D42A27DB-BD31-4B8C-83A1-F6EECF244321}">
                <p14:modId xmlns:p14="http://schemas.microsoft.com/office/powerpoint/2010/main" val="937325886"/>
              </p:ext>
            </p:extLst>
          </p:nvPr>
        </p:nvGraphicFramePr>
        <p:xfrm>
          <a:off x="7810680" y="4632963"/>
          <a:ext cx="2356920" cy="785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CustomShape 5">
            <a:extLst>
              <a:ext uri="{FF2B5EF4-FFF2-40B4-BE49-F238E27FC236}">
                <a16:creationId xmlns:a16="http://schemas.microsoft.com/office/drawing/2014/main" id="{6550A269-ECE3-40D6-8AAC-9B8EC9D62437}"/>
              </a:ext>
            </a:extLst>
          </p:cNvPr>
          <p:cNvSpPr/>
          <p:nvPr/>
        </p:nvSpPr>
        <p:spPr>
          <a:xfrm>
            <a:off x="6096000" y="163488"/>
            <a:ext cx="6096000" cy="56304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lnSpc>
                <a:spcPts val="5800"/>
              </a:lnSpc>
              <a:spcBef>
                <a:spcPct val="0"/>
              </a:spcBef>
            </a:pPr>
            <a:r>
              <a:rPr lang="es-PE" sz="3200" dirty="0">
                <a:solidFill>
                  <a:schemeClr val="bg1"/>
                </a:solidFill>
                <a:effectLst>
                  <a:outerShdw blurRad="63500" dist="38100" dir="5400000" algn="t" rotWithShape="0">
                    <a:prstClr val="black">
                      <a:alpha val="25000"/>
                    </a:prstClr>
                  </a:outerShdw>
                </a:effectLst>
                <a:latin typeface="Bauhaus 93" pitchFamily="82" charset="0"/>
              </a:rPr>
              <a:t>Método Vogel</a:t>
            </a:r>
          </a:p>
        </p:txBody>
      </p:sp>
      <p:sp>
        <p:nvSpPr>
          <p:cNvPr id="9" name="CuadroTexto 8">
            <a:extLst>
              <a:ext uri="{FF2B5EF4-FFF2-40B4-BE49-F238E27FC236}">
                <a16:creationId xmlns:a16="http://schemas.microsoft.com/office/drawing/2014/main" id="{6AA37D58-50FF-4334-8349-C136A9D7482F}"/>
              </a:ext>
            </a:extLst>
          </p:cNvPr>
          <p:cNvSpPr txBox="1"/>
          <p:nvPr/>
        </p:nvSpPr>
        <p:spPr>
          <a:xfrm>
            <a:off x="258793" y="2191109"/>
            <a:ext cx="1380226" cy="646331"/>
          </a:xfrm>
          <a:prstGeom prst="rect">
            <a:avLst/>
          </a:prstGeom>
          <a:solidFill>
            <a:srgbClr val="FFFF00"/>
          </a:solidFill>
        </p:spPr>
        <p:txBody>
          <a:bodyPr wrap="square" rtlCol="0">
            <a:spAutoFit/>
          </a:bodyPr>
          <a:lstStyle/>
          <a:p>
            <a:r>
              <a:rPr lang="es-ES" b="1" dirty="0"/>
              <a:t>Hallamos las penalidades</a:t>
            </a:r>
          </a:p>
        </p:txBody>
      </p:sp>
      <p:sp>
        <p:nvSpPr>
          <p:cNvPr id="10" name="Rectángulo 9">
            <a:extLst>
              <a:ext uri="{FF2B5EF4-FFF2-40B4-BE49-F238E27FC236}">
                <a16:creationId xmlns:a16="http://schemas.microsoft.com/office/drawing/2014/main" id="{7677C1BC-1CE7-4BFF-A836-2E265046A559}"/>
              </a:ext>
            </a:extLst>
          </p:cNvPr>
          <p:cNvSpPr/>
          <p:nvPr/>
        </p:nvSpPr>
        <p:spPr>
          <a:xfrm>
            <a:off x="258136" y="3054556"/>
            <a:ext cx="1372258" cy="923330"/>
          </a:xfrm>
          <a:prstGeom prst="rect">
            <a:avLst/>
          </a:prstGeom>
          <a:solidFill>
            <a:srgbClr val="FFFF00"/>
          </a:solidFill>
        </p:spPr>
        <p:txBody>
          <a:bodyPr wrap="square">
            <a:spAutoFit/>
          </a:bodyPr>
          <a:lstStyle/>
          <a:p>
            <a:r>
              <a:rPr lang="es-ES" b="1" dirty="0"/>
              <a:t>Hallamos la mayor penalidad</a:t>
            </a:r>
            <a:endParaRPr lang="es-PE" b="1" dirty="0"/>
          </a:p>
        </p:txBody>
      </p:sp>
      <p:sp>
        <p:nvSpPr>
          <p:cNvPr id="11" name="CuadroTexto 10">
            <a:extLst>
              <a:ext uri="{FF2B5EF4-FFF2-40B4-BE49-F238E27FC236}">
                <a16:creationId xmlns:a16="http://schemas.microsoft.com/office/drawing/2014/main" id="{2DDC7157-4A27-45A0-B9FF-EA0F2039C495}"/>
              </a:ext>
            </a:extLst>
          </p:cNvPr>
          <p:cNvSpPr txBox="1"/>
          <p:nvPr/>
        </p:nvSpPr>
        <p:spPr>
          <a:xfrm>
            <a:off x="264551" y="4198193"/>
            <a:ext cx="1380226" cy="646331"/>
          </a:xfrm>
          <a:prstGeom prst="rect">
            <a:avLst/>
          </a:prstGeom>
          <a:solidFill>
            <a:srgbClr val="FFFF00"/>
          </a:solidFill>
        </p:spPr>
        <p:txBody>
          <a:bodyPr wrap="square" rtlCol="0">
            <a:spAutoFit/>
          </a:bodyPr>
          <a:lstStyle/>
          <a:p>
            <a:r>
              <a:rPr lang="es-ES" b="1" dirty="0"/>
              <a:t>Hallamos el menor costo</a:t>
            </a:r>
          </a:p>
        </p:txBody>
      </p:sp>
      <p:sp>
        <p:nvSpPr>
          <p:cNvPr id="12" name="CuadroTexto 11">
            <a:extLst>
              <a:ext uri="{FF2B5EF4-FFF2-40B4-BE49-F238E27FC236}">
                <a16:creationId xmlns:a16="http://schemas.microsoft.com/office/drawing/2014/main" id="{E5735BBF-993F-4727-A52B-D39BE422F5B7}"/>
              </a:ext>
            </a:extLst>
          </p:cNvPr>
          <p:cNvSpPr txBox="1"/>
          <p:nvPr/>
        </p:nvSpPr>
        <p:spPr>
          <a:xfrm>
            <a:off x="264551" y="5086705"/>
            <a:ext cx="1380226" cy="646331"/>
          </a:xfrm>
          <a:prstGeom prst="rect">
            <a:avLst/>
          </a:prstGeom>
          <a:solidFill>
            <a:srgbClr val="FFFF00"/>
          </a:solidFill>
        </p:spPr>
        <p:txBody>
          <a:bodyPr wrap="square" rtlCol="0">
            <a:spAutoFit/>
          </a:bodyPr>
          <a:lstStyle/>
          <a:p>
            <a:r>
              <a:rPr lang="es-ES" b="1" dirty="0"/>
              <a:t>Anotamos la operación</a:t>
            </a:r>
          </a:p>
        </p:txBody>
      </p:sp>
      <p:sp>
        <p:nvSpPr>
          <p:cNvPr id="3" name="Globo: flecha hacia abajo 2">
            <a:extLst>
              <a:ext uri="{FF2B5EF4-FFF2-40B4-BE49-F238E27FC236}">
                <a16:creationId xmlns:a16="http://schemas.microsoft.com/office/drawing/2014/main" id="{1ED6B1FE-BB26-BB6C-5778-F7FB7EAB87C0}"/>
              </a:ext>
            </a:extLst>
          </p:cNvPr>
          <p:cNvSpPr/>
          <p:nvPr/>
        </p:nvSpPr>
        <p:spPr>
          <a:xfrm>
            <a:off x="276044" y="1276709"/>
            <a:ext cx="1345721" cy="897148"/>
          </a:xfrm>
          <a:prstGeom prst="downArrowCallou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rgbClr val="FF0000"/>
                </a:solidFill>
              </a:rPr>
              <a:t>Pasos:</a:t>
            </a:r>
            <a:endParaRPr lang="es-PE" sz="2400" dirty="0">
              <a:solidFill>
                <a:srgbClr val="FF0000"/>
              </a:solidFill>
            </a:endParaRPr>
          </a:p>
        </p:txBody>
      </p:sp>
    </p:spTree>
    <p:extLst>
      <p:ext uri="{BB962C8B-B14F-4D97-AF65-F5344CB8AC3E}">
        <p14:creationId xmlns:p14="http://schemas.microsoft.com/office/powerpoint/2010/main" val="40869647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9" name="CustomShape 1"/>
          <p:cNvSpPr/>
          <p:nvPr/>
        </p:nvSpPr>
        <p:spPr>
          <a:xfrm>
            <a:off x="1524000" y="239400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1000" name="Table 2"/>
          <p:cNvGraphicFramePr/>
          <p:nvPr>
            <p:extLst>
              <p:ext uri="{D42A27DB-BD31-4B8C-83A1-F6EECF244321}">
                <p14:modId xmlns:p14="http://schemas.microsoft.com/office/powerpoint/2010/main" val="3435705626"/>
              </p:ext>
            </p:extLst>
          </p:nvPr>
        </p:nvGraphicFramePr>
        <p:xfrm>
          <a:off x="1952760" y="1275244"/>
          <a:ext cx="8500680" cy="4151078"/>
        </p:xfrm>
        <a:graphic>
          <a:graphicData uri="http://schemas.openxmlformats.org/drawingml/2006/table">
            <a:tbl>
              <a:tblPr/>
              <a:tblGrid>
                <a:gridCol w="1331640">
                  <a:extLst>
                    <a:ext uri="{9D8B030D-6E8A-4147-A177-3AD203B41FA5}">
                      <a16:colId xmlns:a16="http://schemas.microsoft.com/office/drawing/2014/main" val="20000"/>
                    </a:ext>
                  </a:extLst>
                </a:gridCol>
                <a:gridCol w="957600">
                  <a:extLst>
                    <a:ext uri="{9D8B030D-6E8A-4147-A177-3AD203B41FA5}">
                      <a16:colId xmlns:a16="http://schemas.microsoft.com/office/drawing/2014/main" val="20001"/>
                    </a:ext>
                  </a:extLst>
                </a:gridCol>
                <a:gridCol w="1063440">
                  <a:extLst>
                    <a:ext uri="{9D8B030D-6E8A-4147-A177-3AD203B41FA5}">
                      <a16:colId xmlns:a16="http://schemas.microsoft.com/office/drawing/2014/main" val="20002"/>
                    </a:ext>
                  </a:extLst>
                </a:gridCol>
                <a:gridCol w="1182960">
                  <a:extLst>
                    <a:ext uri="{9D8B030D-6E8A-4147-A177-3AD203B41FA5}">
                      <a16:colId xmlns:a16="http://schemas.microsoft.com/office/drawing/2014/main" val="20003"/>
                    </a:ext>
                  </a:extLst>
                </a:gridCol>
                <a:gridCol w="966600">
                  <a:extLst>
                    <a:ext uri="{9D8B030D-6E8A-4147-A177-3AD203B41FA5}">
                      <a16:colId xmlns:a16="http://schemas.microsoft.com/office/drawing/2014/main" val="20004"/>
                    </a:ext>
                  </a:extLst>
                </a:gridCol>
                <a:gridCol w="941040">
                  <a:extLst>
                    <a:ext uri="{9D8B030D-6E8A-4147-A177-3AD203B41FA5}">
                      <a16:colId xmlns:a16="http://schemas.microsoft.com/office/drawing/2014/main" val="20005"/>
                    </a:ext>
                  </a:extLst>
                </a:gridCol>
                <a:gridCol w="723960">
                  <a:extLst>
                    <a:ext uri="{9D8B030D-6E8A-4147-A177-3AD203B41FA5}">
                      <a16:colId xmlns:a16="http://schemas.microsoft.com/office/drawing/2014/main" val="20006"/>
                    </a:ext>
                  </a:extLst>
                </a:gridCol>
                <a:gridCol w="617760">
                  <a:extLst>
                    <a:ext uri="{9D8B030D-6E8A-4147-A177-3AD203B41FA5}">
                      <a16:colId xmlns:a16="http://schemas.microsoft.com/office/drawing/2014/main" val="20007"/>
                    </a:ext>
                  </a:extLst>
                </a:gridCol>
                <a:gridCol w="715680">
                  <a:extLst>
                    <a:ext uri="{9D8B030D-6E8A-4147-A177-3AD203B41FA5}">
                      <a16:colId xmlns:a16="http://schemas.microsoft.com/office/drawing/2014/main" val="20008"/>
                    </a:ext>
                  </a:extLst>
                </a:gridCol>
              </a:tblGrid>
              <a:tr h="420450">
                <a:tc>
                  <a:txBody>
                    <a:bodyPr/>
                    <a:lstStyle/>
                    <a:p>
                      <a:endParaRPr lang="en-US"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Dallas</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Denver</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Phoenix</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Miami</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Oferta </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a:solidFill>
                            <a:schemeClr val="bg2">
                              <a:lumMod val="25000"/>
                            </a:schemeClr>
                          </a:solidFill>
                          <a:latin typeface="Arial Narrow"/>
                        </a:rPr>
                        <a:t>P</a:t>
                      </a:r>
                      <a:r>
                        <a:rPr lang="es-PE" sz="2400" b="1" strike="noStrike" spc="-1" baseline="-30000">
                          <a:solidFill>
                            <a:schemeClr val="bg2">
                              <a:lumMod val="25000"/>
                            </a:schemeClr>
                          </a:solidFill>
                          <a:latin typeface="Arial Narrow"/>
                        </a:rPr>
                        <a:t>1</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a:solidFill>
                            <a:schemeClr val="bg2">
                              <a:lumMod val="25000"/>
                            </a:schemeClr>
                          </a:solidFill>
                          <a:latin typeface="Arial Narrow"/>
                        </a:rPr>
                        <a:t>P</a:t>
                      </a:r>
                      <a:r>
                        <a:rPr lang="es-PE" sz="2400" b="1" strike="noStrike" spc="-1" baseline="-30000">
                          <a:solidFill>
                            <a:schemeClr val="bg2">
                              <a:lumMod val="25000"/>
                            </a:schemeClr>
                          </a:solidFill>
                          <a:latin typeface="Arial Narrow"/>
                        </a:rPr>
                        <a:t>2</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a:solidFill>
                            <a:schemeClr val="bg2">
                              <a:lumMod val="25000"/>
                            </a:schemeClr>
                          </a:solidFill>
                          <a:latin typeface="Arial Narrow"/>
                        </a:rPr>
                        <a:t>P</a:t>
                      </a:r>
                      <a:r>
                        <a:rPr lang="es-PE" sz="2400" b="1" strike="noStrike" spc="-1" baseline="-30000">
                          <a:solidFill>
                            <a:schemeClr val="bg2">
                              <a:lumMod val="25000"/>
                            </a:schemeClr>
                          </a:solidFill>
                          <a:latin typeface="Arial Narrow"/>
                        </a:rPr>
                        <a:t>3</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420450">
                <a:tc>
                  <a:txBody>
                    <a:bodyPr/>
                    <a:lstStyle/>
                    <a:p>
                      <a:pPr algn="ctr">
                        <a:lnSpc>
                          <a:spcPct val="95000"/>
                        </a:lnSpc>
                      </a:pPr>
                      <a:r>
                        <a:rPr lang="es-PE" sz="2000" b="1" strike="noStrike" spc="-1">
                          <a:solidFill>
                            <a:schemeClr val="bg2">
                              <a:lumMod val="25000"/>
                            </a:schemeClr>
                          </a:solidFill>
                          <a:latin typeface="Arial Narrow"/>
                        </a:rPr>
                        <a:t>Nueva York</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1600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95000"/>
                        </a:lnSpc>
                      </a:pPr>
                      <a:r>
                        <a:rPr lang="es-PE" sz="2400" b="1" strike="noStrike" spc="-1">
                          <a:solidFill>
                            <a:schemeClr val="bg2">
                              <a:lumMod val="25000"/>
                            </a:schemeClr>
                          </a:solidFill>
                          <a:latin typeface="Arial Narrow"/>
                        </a:rPr>
                        <a:t>1800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3">
                        <a:lumMod val="20000"/>
                        <a:lumOff val="80000"/>
                      </a:schemeClr>
                    </a:solidFill>
                  </a:tcPr>
                </a:tc>
                <a:tc>
                  <a:txBody>
                    <a:bodyPr/>
                    <a:lstStyle/>
                    <a:p>
                      <a:pPr algn="ctr">
                        <a:lnSpc>
                          <a:spcPct val="95000"/>
                        </a:lnSpc>
                      </a:pPr>
                      <a:r>
                        <a:rPr lang="es-PE" sz="2400" b="1" strike="noStrike" spc="-1" dirty="0">
                          <a:solidFill>
                            <a:schemeClr val="bg2">
                              <a:lumMod val="25000"/>
                            </a:schemeClr>
                          </a:solidFill>
                          <a:latin typeface="Arial Narrow"/>
                        </a:rPr>
                        <a:t>2500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400" b="1" strike="noStrike" spc="-1">
                          <a:solidFill>
                            <a:schemeClr val="bg2">
                              <a:lumMod val="25000"/>
                            </a:schemeClr>
                          </a:solidFill>
                          <a:latin typeface="Arial Narrow"/>
                        </a:rPr>
                        <a:t>1300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dirty="0">
                          <a:solidFill>
                            <a:schemeClr val="bg2">
                              <a:lumMod val="25000"/>
                            </a:schemeClr>
                          </a:solidFill>
                          <a:latin typeface="Arial Narrow"/>
                        </a:rPr>
                        <a:t>3</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300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200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200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753306">
                <a:tc>
                  <a:txBody>
                    <a:bodyPr/>
                    <a:lstStyle/>
                    <a:p>
                      <a:pPr algn="ctr">
                        <a:lnSpc>
                          <a:spcPct val="95000"/>
                        </a:lnSpc>
                      </a:pPr>
                      <a:r>
                        <a:rPr lang="es-PE" sz="2000" b="1" strike="noStrike" spc="-1" dirty="0">
                          <a:solidFill>
                            <a:schemeClr val="bg2">
                              <a:lumMod val="25000"/>
                            </a:schemeClr>
                          </a:solidFill>
                          <a:latin typeface="Arial Narrow"/>
                        </a:rPr>
                        <a:t>Chicago</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900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95000"/>
                        </a:lnSpc>
                      </a:pPr>
                      <a:r>
                        <a:rPr lang="es-PE" sz="2400" b="1" strike="noStrike" spc="-1">
                          <a:solidFill>
                            <a:schemeClr val="bg2">
                              <a:lumMod val="25000"/>
                            </a:schemeClr>
                          </a:solidFill>
                          <a:latin typeface="Arial Narrow"/>
                        </a:rPr>
                        <a:t>1000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3">
                        <a:lumMod val="20000"/>
                        <a:lumOff val="80000"/>
                      </a:schemeClr>
                    </a:solidFill>
                  </a:tcPr>
                </a:tc>
                <a:tc>
                  <a:txBody>
                    <a:bodyPr/>
                    <a:lstStyle/>
                    <a:p>
                      <a:pPr algn="ctr">
                        <a:lnSpc>
                          <a:spcPct val="95000"/>
                        </a:lnSpc>
                      </a:pPr>
                      <a:r>
                        <a:rPr lang="es-PE" sz="2400" b="1" strike="noStrike" spc="-1" dirty="0">
                          <a:solidFill>
                            <a:schemeClr val="bg2">
                              <a:lumMod val="25000"/>
                            </a:schemeClr>
                          </a:solidFill>
                          <a:latin typeface="Arial Narrow"/>
                        </a:rPr>
                        <a:t>1800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400" b="1" strike="noStrike" spc="-1">
                          <a:solidFill>
                            <a:schemeClr val="bg2">
                              <a:lumMod val="25000"/>
                            </a:schemeClr>
                          </a:solidFill>
                          <a:latin typeface="Arial Narrow"/>
                        </a:rPr>
                        <a:t>1400</a:t>
                      </a:r>
                      <a:endParaRPr lang="es-PE" sz="2400" b="0" strike="noStrike" spc="-1">
                        <a:solidFill>
                          <a:schemeClr val="bg2">
                            <a:lumMod val="25000"/>
                          </a:schemeClr>
                        </a:solidFill>
                        <a:latin typeface="Arial"/>
                      </a:endParaRPr>
                    </a:p>
                    <a:p>
                      <a:pPr algn="ctr">
                        <a:lnSpc>
                          <a:spcPct val="95000"/>
                        </a:lnSpc>
                      </a:pP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dirty="0">
                          <a:solidFill>
                            <a:schemeClr val="bg2">
                              <a:lumMod val="25000"/>
                            </a:schemeClr>
                          </a:solidFill>
                          <a:latin typeface="Arial Narrow"/>
                        </a:rPr>
                        <a:t>2</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100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100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100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753306">
                <a:tc>
                  <a:txBody>
                    <a:bodyPr/>
                    <a:lstStyle/>
                    <a:p>
                      <a:pPr algn="ctr">
                        <a:lnSpc>
                          <a:spcPct val="95000"/>
                        </a:lnSpc>
                      </a:pPr>
                      <a:r>
                        <a:rPr lang="es-PE" sz="2000" b="1" strike="noStrike" spc="-1">
                          <a:solidFill>
                            <a:schemeClr val="bg2">
                              <a:lumMod val="25000"/>
                            </a:schemeClr>
                          </a:solidFill>
                          <a:latin typeface="Arial Narrow"/>
                        </a:rPr>
                        <a:t>Los Angeles</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1400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95000"/>
                        </a:lnSpc>
                      </a:pPr>
                      <a:r>
                        <a:rPr lang="es-PE" sz="2400" b="1" strike="noStrike" spc="-1" dirty="0">
                          <a:solidFill>
                            <a:schemeClr val="bg2">
                              <a:lumMod val="25000"/>
                            </a:schemeClr>
                          </a:solidFill>
                          <a:latin typeface="Arial Narrow"/>
                        </a:rPr>
                        <a:t>1000</a:t>
                      </a:r>
                      <a:endParaRPr lang="es-PE" sz="2400" b="0" strike="noStrike" spc="-1" dirty="0">
                        <a:solidFill>
                          <a:schemeClr val="bg2">
                            <a:lumMod val="25000"/>
                          </a:schemeClr>
                        </a:solidFill>
                        <a:latin typeface="Arial"/>
                      </a:endParaRPr>
                    </a:p>
                    <a:p>
                      <a:pPr algn="ctr">
                        <a:lnSpc>
                          <a:spcPct val="95000"/>
                        </a:lnSpc>
                      </a:pPr>
                      <a:r>
                        <a:rPr lang="es-PE" sz="2400" b="1" strike="noStrike" spc="-1" dirty="0">
                          <a:solidFill>
                            <a:schemeClr val="bg2">
                              <a:lumMod val="25000"/>
                            </a:schemeClr>
                          </a:solidFill>
                          <a:latin typeface="Arial Narrow"/>
                        </a:rPr>
                        <a:t>*</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accent3">
                        <a:lumMod val="20000"/>
                        <a:lumOff val="80000"/>
                      </a:schemeClr>
                    </a:solidFill>
                  </a:tcPr>
                </a:tc>
                <a:tc>
                  <a:txBody>
                    <a:bodyPr/>
                    <a:lstStyle/>
                    <a:p>
                      <a:pPr algn="ctr">
                        <a:lnSpc>
                          <a:spcPct val="95000"/>
                        </a:lnSpc>
                      </a:pPr>
                      <a:r>
                        <a:rPr lang="es-PE" sz="2400" b="1" strike="noStrike" spc="-1" dirty="0">
                          <a:solidFill>
                            <a:schemeClr val="bg2">
                              <a:lumMod val="25000"/>
                            </a:schemeClr>
                          </a:solidFill>
                          <a:latin typeface="Arial Narrow"/>
                        </a:rPr>
                        <a:t>400</a:t>
                      </a:r>
                      <a:endParaRPr lang="es-PE" sz="2400" b="0" strike="noStrike" spc="-1" dirty="0">
                        <a:solidFill>
                          <a:schemeClr val="bg2">
                            <a:lumMod val="25000"/>
                          </a:schemeClr>
                        </a:solidFill>
                        <a:latin typeface="Arial"/>
                      </a:endParaRPr>
                    </a:p>
                    <a:p>
                      <a:pPr algn="ctr">
                        <a:lnSpc>
                          <a:spcPct val="95000"/>
                        </a:lnSpc>
                      </a:pPr>
                      <a:r>
                        <a:rPr lang="es-PE" sz="2400" b="1" strike="noStrike" spc="-1" dirty="0">
                          <a:solidFill>
                            <a:schemeClr val="bg2">
                              <a:lumMod val="25000"/>
                            </a:schemeClr>
                          </a:solidFill>
                          <a:latin typeface="Arial Narrow"/>
                        </a:rPr>
                        <a:t>*</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400" b="1" strike="noStrike" spc="-1">
                          <a:solidFill>
                            <a:schemeClr val="bg2">
                              <a:lumMod val="25000"/>
                            </a:schemeClr>
                          </a:solidFill>
                          <a:latin typeface="Arial Narrow"/>
                        </a:rPr>
                        <a:t>2700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400" b="1" strike="noStrike" spc="-1">
                          <a:solidFill>
                            <a:schemeClr val="bg2">
                              <a:lumMod val="25000"/>
                            </a:schemeClr>
                          </a:solidFill>
                          <a:latin typeface="Arial Narrow"/>
                        </a:rPr>
                        <a:t>3/1/0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PE" sz="2400" b="1" strike="noStrike" spc="-1" dirty="0">
                          <a:solidFill>
                            <a:schemeClr val="bg2">
                              <a:lumMod val="25000"/>
                            </a:schemeClr>
                          </a:solidFill>
                          <a:latin typeface="Arial Narrow"/>
                        </a:rPr>
                        <a:t>600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PE" sz="2400" b="1" strike="noStrike" spc="-1" dirty="0">
                          <a:solidFill>
                            <a:schemeClr val="bg2">
                              <a:lumMod val="25000"/>
                            </a:schemeClr>
                          </a:solidFill>
                          <a:latin typeface="Arial Narrow"/>
                        </a:rPr>
                        <a:t>600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PE" sz="2400" b="1" strike="noStrike" spc="-1" dirty="0">
                          <a:solidFill>
                            <a:srgbClr val="FF0000"/>
                          </a:solidFill>
                          <a:latin typeface="Arial Narrow"/>
                        </a:rPr>
                        <a:t>400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753306">
                <a:tc>
                  <a:txBody>
                    <a:bodyPr/>
                    <a:lstStyle/>
                    <a:p>
                      <a:pPr algn="ctr">
                        <a:lnSpc>
                          <a:spcPct val="95000"/>
                        </a:lnSpc>
                      </a:pPr>
                      <a:r>
                        <a:rPr lang="es-PE" sz="2000" b="1" strike="noStrike" spc="-1" dirty="0">
                          <a:solidFill>
                            <a:schemeClr val="bg2">
                              <a:lumMod val="25000"/>
                            </a:schemeClr>
                          </a:solidFill>
                          <a:latin typeface="Arial Narrow"/>
                        </a:rPr>
                        <a:t>Figurado</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400" b="1" strike="noStrike" spc="-1" dirty="0">
                          <a:solidFill>
                            <a:schemeClr val="bg2">
                              <a:lumMod val="25000"/>
                            </a:schemeClr>
                          </a:solidFill>
                          <a:latin typeface="Arial Narrow"/>
                        </a:rPr>
                        <a:t>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400" b="1" strike="noStrike" spc="-1" dirty="0">
                          <a:solidFill>
                            <a:schemeClr val="bg2">
                              <a:lumMod val="25000"/>
                            </a:schemeClr>
                          </a:solidFill>
                          <a:latin typeface="Arial Narrow"/>
                        </a:rPr>
                        <a:t>0</a:t>
                      </a:r>
                      <a:endParaRPr lang="es-PE" sz="2400" b="0" strike="noStrike" spc="-1" dirty="0">
                        <a:solidFill>
                          <a:schemeClr val="bg2">
                            <a:lumMod val="25000"/>
                          </a:schemeClr>
                        </a:solidFill>
                        <a:latin typeface="Arial"/>
                      </a:endParaRPr>
                    </a:p>
                  </a:txBody>
                  <a:tcPr>
                    <a:lnL w="12240">
                      <a:solidFill>
                        <a:srgbClr val="000000"/>
                      </a:solidFill>
                    </a:lnL>
                    <a:lnR w="12240">
                      <a:solidFill>
                        <a:srgbClr val="1D528D"/>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400" b="1" strike="noStrike" spc="-1" dirty="0">
                          <a:solidFill>
                            <a:schemeClr val="bg2">
                              <a:lumMod val="25000"/>
                            </a:schemeClr>
                          </a:solidFill>
                          <a:latin typeface="Arial Narrow"/>
                        </a:rPr>
                        <a:t>0</a:t>
                      </a:r>
                      <a:endParaRPr lang="es-PE" sz="2400" b="0" strike="noStrike" spc="-1" dirty="0">
                        <a:solidFill>
                          <a:schemeClr val="bg2">
                            <a:lumMod val="25000"/>
                          </a:schemeClr>
                        </a:solidFill>
                        <a:latin typeface="Arial"/>
                      </a:endParaRPr>
                    </a:p>
                    <a:p>
                      <a:pPr algn="ctr">
                        <a:lnSpc>
                          <a:spcPct val="95000"/>
                        </a:lnSpc>
                      </a:pPr>
                      <a:r>
                        <a:rPr lang="es-PE" sz="2400" b="1" strike="noStrike" spc="-1" dirty="0">
                          <a:solidFill>
                            <a:schemeClr val="bg2">
                              <a:lumMod val="25000"/>
                            </a:schemeClr>
                          </a:solidFill>
                          <a:latin typeface="Arial Narrow"/>
                        </a:rPr>
                        <a:t>*</a:t>
                      </a:r>
                      <a:endParaRPr lang="es-PE" sz="2400" b="0" strike="noStrike" spc="-1" dirty="0">
                        <a:solidFill>
                          <a:schemeClr val="bg2">
                            <a:lumMod val="25000"/>
                          </a:schemeClr>
                        </a:solidFill>
                        <a:latin typeface="Arial"/>
                      </a:endParaRPr>
                    </a:p>
                  </a:txBody>
                  <a:tcPr>
                    <a:lnL w="12240">
                      <a:solidFill>
                        <a:srgbClr val="1D528D"/>
                      </a:solidFill>
                    </a:lnL>
                    <a:lnR w="12700" cap="flat" cmpd="sng" algn="ctr">
                      <a:solidFill>
                        <a:schemeClr val="tx1"/>
                      </a:solidFill>
                      <a:prstDash val="solid"/>
                      <a:round/>
                      <a:headEnd type="none" w="med" len="med"/>
                      <a:tailEnd type="none" w="med" len="med"/>
                    </a:lnR>
                    <a:lnT w="12240">
                      <a:solidFill>
                        <a:srgbClr val="000000"/>
                      </a:solidFill>
                    </a:lnT>
                    <a:lnB w="12240">
                      <a:solidFill>
                        <a:srgbClr val="000000"/>
                      </a:solidFill>
                    </a:lnB>
                    <a:solidFill>
                      <a:schemeClr val="tx1"/>
                    </a:solidFill>
                  </a:tcPr>
                </a:tc>
                <a:tc>
                  <a:txBody>
                    <a:bodyPr/>
                    <a:lstStyle/>
                    <a:p>
                      <a:pPr algn="ctr">
                        <a:lnSpc>
                          <a:spcPct val="95000"/>
                        </a:lnSpc>
                        <a:spcBef>
                          <a:spcPts val="1199"/>
                        </a:spcBef>
                      </a:pPr>
                      <a:r>
                        <a:rPr lang="es-PE" sz="2400" b="1" strike="noStrike" spc="-1" dirty="0">
                          <a:solidFill>
                            <a:schemeClr val="bg2">
                              <a:lumMod val="25000"/>
                            </a:schemeClr>
                          </a:solidFill>
                          <a:latin typeface="Arial Narrow"/>
                        </a:rPr>
                        <a:t>2/0</a:t>
                      </a:r>
                      <a:endParaRPr lang="es-PE" sz="2400" b="0" strike="noStrike" spc="-1" dirty="0">
                        <a:solidFill>
                          <a:schemeClr val="bg2">
                            <a:lumMod val="25000"/>
                          </a:schemeClr>
                        </a:solidFill>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PE" sz="2400" b="1" strike="noStrike" spc="-1" dirty="0">
                          <a:solidFill>
                            <a:schemeClr val="bg2">
                              <a:lumMod val="25000"/>
                            </a:schemeClr>
                          </a:solidFill>
                          <a:latin typeface="Arial Narrow"/>
                        </a:rPr>
                        <a:t>0</a:t>
                      </a:r>
                      <a:endParaRPr lang="es-PE" sz="2400" b="0" strike="noStrike" spc="-1" dirty="0">
                        <a:solidFill>
                          <a:schemeClr val="bg2">
                            <a:lumMod val="25000"/>
                          </a:schemeClr>
                        </a:solidFill>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solidFill>
                          <a:schemeClr val="bg2">
                            <a:lumMod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solidFill>
                          <a:schemeClr val="bg2">
                            <a:lumMod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914102">
                <a:tc>
                  <a:txBody>
                    <a:bodyPr/>
                    <a:lstStyle/>
                    <a:p>
                      <a:pPr algn="ctr">
                        <a:lnSpc>
                          <a:spcPct val="95000"/>
                        </a:lnSpc>
                      </a:pPr>
                      <a:r>
                        <a:rPr lang="es-PE" sz="2000" b="1" strike="noStrike" spc="-1" dirty="0">
                          <a:solidFill>
                            <a:schemeClr val="bg2">
                              <a:lumMod val="25000"/>
                            </a:schemeClr>
                          </a:solidFill>
                          <a:latin typeface="Arial Narrow"/>
                        </a:rPr>
                        <a:t>Demanda </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4</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2</a:t>
                      </a:r>
                      <a:endParaRPr lang="es-PE" sz="2400" b="0" strike="noStrike" spc="-1" dirty="0">
                        <a:solidFill>
                          <a:schemeClr val="bg2">
                            <a:lumMod val="25000"/>
                          </a:schemeClr>
                        </a:solidFill>
                        <a:latin typeface="Arial"/>
                      </a:endParaRPr>
                    </a:p>
                    <a:p>
                      <a:pPr algn="ctr">
                        <a:lnSpc>
                          <a:spcPct val="95000"/>
                        </a:lnSpc>
                      </a:pPr>
                      <a:r>
                        <a:rPr lang="es-PE" sz="2400" b="1" strike="noStrike" spc="-1" dirty="0">
                          <a:solidFill>
                            <a:schemeClr val="bg2">
                              <a:lumMod val="25000"/>
                            </a:schemeClr>
                          </a:solidFill>
                          <a:latin typeface="Arial Narrow"/>
                        </a:rPr>
                        <a:t>1</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2</a:t>
                      </a:r>
                      <a:endParaRPr lang="es-PE" sz="2400" b="0" strike="noStrike" spc="-1" dirty="0">
                        <a:solidFill>
                          <a:schemeClr val="bg2">
                            <a:lumMod val="25000"/>
                          </a:schemeClr>
                        </a:solidFill>
                        <a:latin typeface="Arial"/>
                      </a:endParaRPr>
                    </a:p>
                    <a:p>
                      <a:pPr algn="ctr">
                        <a:lnSpc>
                          <a:spcPct val="95000"/>
                        </a:lnSpc>
                      </a:pPr>
                      <a:r>
                        <a:rPr lang="es-PE" sz="2400" b="1" strike="noStrike" spc="-1" dirty="0">
                          <a:solidFill>
                            <a:schemeClr val="bg2">
                              <a:lumMod val="25000"/>
                            </a:schemeClr>
                          </a:solidFill>
                          <a:latin typeface="Arial Narrow"/>
                        </a:rPr>
                        <a:t>0</a:t>
                      </a:r>
                      <a:endParaRPr lang="es-PE" sz="2400" b="0" strike="noStrike" spc="-1" dirty="0">
                        <a:solidFill>
                          <a:schemeClr val="bg2">
                            <a:lumMod val="25000"/>
                          </a:schemeClr>
                        </a:solidFill>
                        <a:latin typeface="Arial"/>
                      </a:endParaRPr>
                    </a:p>
                  </a:txBody>
                  <a:tcPr>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2</a:t>
                      </a:r>
                      <a:endParaRPr lang="es-PE" sz="2400" b="0" strike="noStrike" spc="-1" dirty="0">
                        <a:solidFill>
                          <a:schemeClr val="bg2">
                            <a:lumMod val="25000"/>
                          </a:schemeClr>
                        </a:solidFill>
                        <a:latin typeface="Arial"/>
                      </a:endParaRPr>
                    </a:p>
                    <a:p>
                      <a:pPr algn="ctr">
                        <a:lnSpc>
                          <a:spcPct val="95000"/>
                        </a:lnSpc>
                      </a:pPr>
                      <a:r>
                        <a:rPr lang="es-PE" sz="2400" b="1" strike="noStrike" spc="-1" dirty="0">
                          <a:solidFill>
                            <a:schemeClr val="bg2">
                              <a:lumMod val="25000"/>
                            </a:schemeClr>
                          </a:solidFill>
                          <a:latin typeface="Arial Narrow"/>
                        </a:rPr>
                        <a:t>0</a:t>
                      </a:r>
                      <a:endParaRPr lang="es-PE" sz="2400" b="0" strike="noStrike" spc="-1" dirty="0">
                        <a:solidFill>
                          <a:schemeClr val="bg2">
                            <a:lumMod val="25000"/>
                          </a:schemeClr>
                        </a:solidFill>
                        <a:latin typeface="Arial"/>
                      </a:endParaRPr>
                    </a:p>
                  </a:txBody>
                  <a:tcPr>
                    <a:lnL w="12240">
                      <a:solidFill>
                        <a:srgbClr val="1D528D"/>
                      </a:solidFill>
                    </a:lnL>
                    <a:lnR w="12240">
                      <a:solidFill>
                        <a:srgbClr val="1D528D"/>
                      </a:solidFill>
                    </a:lnR>
                    <a:lnT w="12240">
                      <a:solidFill>
                        <a:srgbClr val="000000"/>
                      </a:solidFill>
                    </a:lnT>
                    <a:lnB w="12240">
                      <a:solidFill>
                        <a:srgbClr val="000000"/>
                      </a:solidFill>
                    </a:lnB>
                    <a:noFill/>
                  </a:tcPr>
                </a:tc>
                <a:tc>
                  <a:txBody>
                    <a:bodyPr/>
                    <a:lstStyle/>
                    <a:p>
                      <a:endParaRPr lang="en-US" dirty="0">
                        <a:solidFill>
                          <a:schemeClr val="bg2">
                            <a:lumMod val="25000"/>
                          </a:schemeClr>
                        </a:solidFill>
                      </a:endParaRPr>
                    </a:p>
                  </a:txBody>
                  <a:tcPr>
                    <a:lnL w="12240">
                      <a:solidFill>
                        <a:srgbClr val="1D528D"/>
                      </a:solid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dirty="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dirty="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dirty="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extLst>
                  <a:ext uri="{0D108BD9-81ED-4DB2-BD59-A6C34878D82A}">
                    <a16:rowId xmlns:a16="http://schemas.microsoft.com/office/drawing/2014/main" val="10005"/>
                  </a:ext>
                </a:extLst>
              </a:tr>
            </a:tbl>
          </a:graphicData>
        </a:graphic>
      </p:graphicFrame>
      <p:sp>
        <p:nvSpPr>
          <p:cNvPr id="1001" name="CustomShape 3"/>
          <p:cNvSpPr/>
          <p:nvPr/>
        </p:nvSpPr>
        <p:spPr>
          <a:xfrm>
            <a:off x="1524000" y="277488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1002" name="Table 4"/>
          <p:cNvGraphicFramePr/>
          <p:nvPr>
            <p:extLst>
              <p:ext uri="{D42A27DB-BD31-4B8C-83A1-F6EECF244321}">
                <p14:modId xmlns:p14="http://schemas.microsoft.com/office/powerpoint/2010/main" val="296737712"/>
              </p:ext>
            </p:extLst>
          </p:nvPr>
        </p:nvGraphicFramePr>
        <p:xfrm>
          <a:off x="1949570" y="5434179"/>
          <a:ext cx="5514581" cy="1404072"/>
        </p:xfrm>
        <a:graphic>
          <a:graphicData uri="http://schemas.openxmlformats.org/drawingml/2006/table">
            <a:tbl>
              <a:tblPr/>
              <a:tblGrid>
                <a:gridCol w="1337094">
                  <a:extLst>
                    <a:ext uri="{9D8B030D-6E8A-4147-A177-3AD203B41FA5}">
                      <a16:colId xmlns:a16="http://schemas.microsoft.com/office/drawing/2014/main" val="20000"/>
                    </a:ext>
                  </a:extLst>
                </a:gridCol>
                <a:gridCol w="948906">
                  <a:extLst>
                    <a:ext uri="{9D8B030D-6E8A-4147-A177-3AD203B41FA5}">
                      <a16:colId xmlns:a16="http://schemas.microsoft.com/office/drawing/2014/main" val="20001"/>
                    </a:ext>
                  </a:extLst>
                </a:gridCol>
                <a:gridCol w="1081369">
                  <a:extLst>
                    <a:ext uri="{9D8B030D-6E8A-4147-A177-3AD203B41FA5}">
                      <a16:colId xmlns:a16="http://schemas.microsoft.com/office/drawing/2014/main" val="20002"/>
                    </a:ext>
                  </a:extLst>
                </a:gridCol>
                <a:gridCol w="1183997">
                  <a:extLst>
                    <a:ext uri="{9D8B030D-6E8A-4147-A177-3AD203B41FA5}">
                      <a16:colId xmlns:a16="http://schemas.microsoft.com/office/drawing/2014/main" val="20003"/>
                    </a:ext>
                  </a:extLst>
                </a:gridCol>
                <a:gridCol w="963215">
                  <a:extLst>
                    <a:ext uri="{9D8B030D-6E8A-4147-A177-3AD203B41FA5}">
                      <a16:colId xmlns:a16="http://schemas.microsoft.com/office/drawing/2014/main" val="20004"/>
                    </a:ext>
                  </a:extLst>
                </a:gridCol>
              </a:tblGrid>
              <a:tr h="484920">
                <a:tc>
                  <a:txBody>
                    <a:bodyPr/>
                    <a:lstStyle/>
                    <a:p>
                      <a:pPr algn="ctr">
                        <a:lnSpc>
                          <a:spcPct val="95000"/>
                        </a:lnSpc>
                      </a:pPr>
                      <a:r>
                        <a:rPr lang="es-PE" sz="2400" b="1" strike="noStrike" spc="-1" dirty="0" err="1">
                          <a:solidFill>
                            <a:schemeClr val="bg2">
                              <a:lumMod val="25000"/>
                            </a:schemeClr>
                          </a:solidFill>
                          <a:latin typeface="Arial Narrow"/>
                        </a:rPr>
                        <a:t>P</a:t>
                      </a:r>
                      <a:r>
                        <a:rPr lang="es-PE" sz="2400" b="1" strike="noStrike" spc="-1" baseline="-30000" dirty="0" err="1">
                          <a:solidFill>
                            <a:schemeClr val="bg2">
                              <a:lumMod val="25000"/>
                            </a:schemeClr>
                          </a:solidFill>
                          <a:latin typeface="Arial Narrow"/>
                        </a:rPr>
                        <a:t>1</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900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1000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400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1300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425160">
                <a:tc>
                  <a:txBody>
                    <a:bodyPr/>
                    <a:lstStyle/>
                    <a:p>
                      <a:pPr algn="ctr">
                        <a:lnSpc>
                          <a:spcPct val="95000"/>
                        </a:lnSpc>
                      </a:pPr>
                      <a:r>
                        <a:rPr lang="es-PE" sz="2400" b="1" strike="noStrike" spc="-1" dirty="0" err="1">
                          <a:solidFill>
                            <a:schemeClr val="bg2">
                              <a:lumMod val="25000"/>
                            </a:schemeClr>
                          </a:solidFill>
                          <a:latin typeface="Arial Narrow"/>
                        </a:rPr>
                        <a:t>P</a:t>
                      </a:r>
                      <a:r>
                        <a:rPr lang="es-PE" sz="2400" b="1" strike="noStrike" spc="-1" baseline="-30000" dirty="0" err="1">
                          <a:solidFill>
                            <a:schemeClr val="bg2">
                              <a:lumMod val="25000"/>
                            </a:schemeClr>
                          </a:solidFill>
                          <a:latin typeface="Arial Narrow"/>
                        </a:rPr>
                        <a:t>2</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500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800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1400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480240">
                <a:tc>
                  <a:txBody>
                    <a:bodyPr/>
                    <a:lstStyle/>
                    <a:p>
                      <a:pPr algn="ctr">
                        <a:lnSpc>
                          <a:spcPct val="95000"/>
                        </a:lnSpc>
                      </a:pPr>
                      <a:r>
                        <a:rPr lang="es-PE" sz="2400" b="1" strike="noStrike" spc="-1" dirty="0" err="1">
                          <a:solidFill>
                            <a:schemeClr val="bg2">
                              <a:lumMod val="25000"/>
                            </a:schemeClr>
                          </a:solidFill>
                          <a:latin typeface="Arial Narrow"/>
                        </a:rPr>
                        <a:t>P</a:t>
                      </a:r>
                      <a:r>
                        <a:rPr lang="es-PE" sz="2400" b="1" strike="noStrike" spc="-1" baseline="-30000" dirty="0" err="1">
                          <a:solidFill>
                            <a:schemeClr val="bg2">
                              <a:lumMod val="25000"/>
                            </a:schemeClr>
                          </a:solidFill>
                          <a:latin typeface="Arial Narrow"/>
                        </a:rPr>
                        <a:t>3</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spcBef>
                          <a:spcPts val="1199"/>
                        </a:spcBef>
                      </a:pPr>
                      <a:r>
                        <a:rPr lang="es-PE" sz="2400" b="1" strike="noStrike" spc="-1" dirty="0">
                          <a:solidFill>
                            <a:srgbClr val="FF0000"/>
                          </a:solidFill>
                          <a:latin typeface="Arial Narrow"/>
                        </a:rPr>
                        <a:t>500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800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rgbClr val="FF0000"/>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rgbClr val="FF0000"/>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bl>
          </a:graphicData>
        </a:graphic>
      </p:graphicFrame>
      <p:graphicFrame>
        <p:nvGraphicFramePr>
          <p:cNvPr id="2" name="1 Diagrama"/>
          <p:cNvGraphicFramePr/>
          <p:nvPr>
            <p:extLst>
              <p:ext uri="{D42A27DB-BD31-4B8C-83A1-F6EECF244321}">
                <p14:modId xmlns:p14="http://schemas.microsoft.com/office/powerpoint/2010/main" val="1851887731"/>
              </p:ext>
            </p:extLst>
          </p:nvPr>
        </p:nvGraphicFramePr>
        <p:xfrm>
          <a:off x="7810680" y="4632963"/>
          <a:ext cx="2356920" cy="15182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CustomShape 5">
            <a:extLst>
              <a:ext uri="{FF2B5EF4-FFF2-40B4-BE49-F238E27FC236}">
                <a16:creationId xmlns:a16="http://schemas.microsoft.com/office/drawing/2014/main" id="{0C660879-F99C-4794-A5A1-3E81346C4C73}"/>
              </a:ext>
            </a:extLst>
          </p:cNvPr>
          <p:cNvSpPr/>
          <p:nvPr/>
        </p:nvSpPr>
        <p:spPr>
          <a:xfrm>
            <a:off x="6096000" y="163488"/>
            <a:ext cx="6096000" cy="56304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lnSpc>
                <a:spcPts val="5800"/>
              </a:lnSpc>
              <a:spcBef>
                <a:spcPct val="0"/>
              </a:spcBef>
            </a:pPr>
            <a:r>
              <a:rPr lang="es-PE" sz="3200" dirty="0">
                <a:solidFill>
                  <a:schemeClr val="bg1"/>
                </a:solidFill>
                <a:effectLst>
                  <a:outerShdw blurRad="63500" dist="38100" dir="5400000" algn="t" rotWithShape="0">
                    <a:prstClr val="black">
                      <a:alpha val="25000"/>
                    </a:prstClr>
                  </a:outerShdw>
                </a:effectLst>
                <a:latin typeface="Bauhaus 93" pitchFamily="82" charset="0"/>
              </a:rPr>
              <a:t>Método Vogel</a:t>
            </a:r>
          </a:p>
        </p:txBody>
      </p:sp>
      <p:sp>
        <p:nvSpPr>
          <p:cNvPr id="9" name="CuadroTexto 8">
            <a:extLst>
              <a:ext uri="{FF2B5EF4-FFF2-40B4-BE49-F238E27FC236}">
                <a16:creationId xmlns:a16="http://schemas.microsoft.com/office/drawing/2014/main" id="{338414C0-5DDE-4680-8028-2F3F9ED6E5D2}"/>
              </a:ext>
            </a:extLst>
          </p:cNvPr>
          <p:cNvSpPr txBox="1"/>
          <p:nvPr/>
        </p:nvSpPr>
        <p:spPr>
          <a:xfrm>
            <a:off x="258793" y="2191109"/>
            <a:ext cx="1380226" cy="646331"/>
          </a:xfrm>
          <a:prstGeom prst="rect">
            <a:avLst/>
          </a:prstGeom>
          <a:solidFill>
            <a:srgbClr val="FFFF00"/>
          </a:solidFill>
        </p:spPr>
        <p:txBody>
          <a:bodyPr wrap="square" rtlCol="0">
            <a:spAutoFit/>
          </a:bodyPr>
          <a:lstStyle/>
          <a:p>
            <a:r>
              <a:rPr lang="es-ES" b="1" dirty="0"/>
              <a:t>Hallamos las penalidades</a:t>
            </a:r>
          </a:p>
        </p:txBody>
      </p:sp>
      <p:sp>
        <p:nvSpPr>
          <p:cNvPr id="10" name="Rectángulo 9">
            <a:extLst>
              <a:ext uri="{FF2B5EF4-FFF2-40B4-BE49-F238E27FC236}">
                <a16:creationId xmlns:a16="http://schemas.microsoft.com/office/drawing/2014/main" id="{34886E0D-F238-423D-9B9B-89560F1800B2}"/>
              </a:ext>
            </a:extLst>
          </p:cNvPr>
          <p:cNvSpPr/>
          <p:nvPr/>
        </p:nvSpPr>
        <p:spPr>
          <a:xfrm>
            <a:off x="258136" y="3054556"/>
            <a:ext cx="1372258" cy="923330"/>
          </a:xfrm>
          <a:prstGeom prst="rect">
            <a:avLst/>
          </a:prstGeom>
          <a:solidFill>
            <a:srgbClr val="FFFF00"/>
          </a:solidFill>
        </p:spPr>
        <p:txBody>
          <a:bodyPr wrap="square">
            <a:spAutoFit/>
          </a:bodyPr>
          <a:lstStyle/>
          <a:p>
            <a:r>
              <a:rPr lang="es-ES" b="1" dirty="0"/>
              <a:t>Hallamos la mayor penalidad</a:t>
            </a:r>
            <a:endParaRPr lang="es-PE" b="1" dirty="0"/>
          </a:p>
        </p:txBody>
      </p:sp>
      <p:sp>
        <p:nvSpPr>
          <p:cNvPr id="11" name="CuadroTexto 10">
            <a:extLst>
              <a:ext uri="{FF2B5EF4-FFF2-40B4-BE49-F238E27FC236}">
                <a16:creationId xmlns:a16="http://schemas.microsoft.com/office/drawing/2014/main" id="{0AFCB89E-5294-4D1A-9F63-042664BD0472}"/>
              </a:ext>
            </a:extLst>
          </p:cNvPr>
          <p:cNvSpPr txBox="1"/>
          <p:nvPr/>
        </p:nvSpPr>
        <p:spPr>
          <a:xfrm>
            <a:off x="264551" y="4198193"/>
            <a:ext cx="1380226" cy="646331"/>
          </a:xfrm>
          <a:prstGeom prst="rect">
            <a:avLst/>
          </a:prstGeom>
          <a:solidFill>
            <a:srgbClr val="FFFF00"/>
          </a:solidFill>
        </p:spPr>
        <p:txBody>
          <a:bodyPr wrap="square" rtlCol="0">
            <a:spAutoFit/>
          </a:bodyPr>
          <a:lstStyle/>
          <a:p>
            <a:r>
              <a:rPr lang="es-ES" b="1" dirty="0"/>
              <a:t>Hallamos el menor costo</a:t>
            </a:r>
          </a:p>
        </p:txBody>
      </p:sp>
      <p:sp>
        <p:nvSpPr>
          <p:cNvPr id="12" name="CuadroTexto 11">
            <a:extLst>
              <a:ext uri="{FF2B5EF4-FFF2-40B4-BE49-F238E27FC236}">
                <a16:creationId xmlns:a16="http://schemas.microsoft.com/office/drawing/2014/main" id="{D21295AF-F4A8-40D5-B65A-BBF5BE8BA302}"/>
              </a:ext>
            </a:extLst>
          </p:cNvPr>
          <p:cNvSpPr txBox="1"/>
          <p:nvPr/>
        </p:nvSpPr>
        <p:spPr>
          <a:xfrm>
            <a:off x="264551" y="5086705"/>
            <a:ext cx="1380226" cy="646331"/>
          </a:xfrm>
          <a:prstGeom prst="rect">
            <a:avLst/>
          </a:prstGeom>
          <a:solidFill>
            <a:srgbClr val="FFFF00"/>
          </a:solidFill>
        </p:spPr>
        <p:txBody>
          <a:bodyPr wrap="square" rtlCol="0">
            <a:spAutoFit/>
          </a:bodyPr>
          <a:lstStyle/>
          <a:p>
            <a:r>
              <a:rPr lang="es-ES" b="1" dirty="0"/>
              <a:t>Anotamos la operación</a:t>
            </a:r>
          </a:p>
        </p:txBody>
      </p:sp>
      <p:sp>
        <p:nvSpPr>
          <p:cNvPr id="3" name="Globo: flecha hacia abajo 2">
            <a:extLst>
              <a:ext uri="{FF2B5EF4-FFF2-40B4-BE49-F238E27FC236}">
                <a16:creationId xmlns:a16="http://schemas.microsoft.com/office/drawing/2014/main" id="{E7C11BAA-A3D0-838A-834D-E4750AFF1021}"/>
              </a:ext>
            </a:extLst>
          </p:cNvPr>
          <p:cNvSpPr/>
          <p:nvPr/>
        </p:nvSpPr>
        <p:spPr>
          <a:xfrm>
            <a:off x="276044" y="1276709"/>
            <a:ext cx="1345721" cy="897148"/>
          </a:xfrm>
          <a:prstGeom prst="downArrowCallou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rgbClr val="FF0000"/>
                </a:solidFill>
              </a:rPr>
              <a:t>Pasos:</a:t>
            </a:r>
            <a:endParaRPr lang="es-PE" sz="2400" dirty="0">
              <a:solidFill>
                <a:srgbClr val="FF0000"/>
              </a:solidFill>
            </a:endParaRPr>
          </a:p>
        </p:txBody>
      </p:sp>
    </p:spTree>
    <p:extLst>
      <p:ext uri="{BB962C8B-B14F-4D97-AF65-F5344CB8AC3E}">
        <p14:creationId xmlns:p14="http://schemas.microsoft.com/office/powerpoint/2010/main" val="4969673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5" name="CustomShape 1"/>
          <p:cNvSpPr/>
          <p:nvPr/>
        </p:nvSpPr>
        <p:spPr>
          <a:xfrm>
            <a:off x="1524000" y="239400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1006" name="Table 2"/>
          <p:cNvGraphicFramePr/>
          <p:nvPr>
            <p:extLst>
              <p:ext uri="{D42A27DB-BD31-4B8C-83A1-F6EECF244321}">
                <p14:modId xmlns:p14="http://schemas.microsoft.com/office/powerpoint/2010/main" val="1105920283"/>
              </p:ext>
            </p:extLst>
          </p:nvPr>
        </p:nvGraphicFramePr>
        <p:xfrm>
          <a:off x="1941835" y="1269774"/>
          <a:ext cx="8552281" cy="3738710"/>
        </p:xfrm>
        <a:graphic>
          <a:graphicData uri="http://schemas.openxmlformats.org/drawingml/2006/table">
            <a:tbl>
              <a:tblPr/>
              <a:tblGrid>
                <a:gridCol w="1289045">
                  <a:extLst>
                    <a:ext uri="{9D8B030D-6E8A-4147-A177-3AD203B41FA5}">
                      <a16:colId xmlns:a16="http://schemas.microsoft.com/office/drawing/2014/main" val="20000"/>
                    </a:ext>
                  </a:extLst>
                </a:gridCol>
                <a:gridCol w="835384">
                  <a:extLst>
                    <a:ext uri="{9D8B030D-6E8A-4147-A177-3AD203B41FA5}">
                      <a16:colId xmlns:a16="http://schemas.microsoft.com/office/drawing/2014/main" val="20001"/>
                    </a:ext>
                  </a:extLst>
                </a:gridCol>
                <a:gridCol w="986913">
                  <a:extLst>
                    <a:ext uri="{9D8B030D-6E8A-4147-A177-3AD203B41FA5}">
                      <a16:colId xmlns:a16="http://schemas.microsoft.com/office/drawing/2014/main" val="20002"/>
                    </a:ext>
                  </a:extLst>
                </a:gridCol>
                <a:gridCol w="1097864">
                  <a:extLst>
                    <a:ext uri="{9D8B030D-6E8A-4147-A177-3AD203B41FA5}">
                      <a16:colId xmlns:a16="http://schemas.microsoft.com/office/drawing/2014/main" val="20003"/>
                    </a:ext>
                  </a:extLst>
                </a:gridCol>
                <a:gridCol w="814682">
                  <a:extLst>
                    <a:ext uri="{9D8B030D-6E8A-4147-A177-3AD203B41FA5}">
                      <a16:colId xmlns:a16="http://schemas.microsoft.com/office/drawing/2014/main" val="20004"/>
                    </a:ext>
                  </a:extLst>
                </a:gridCol>
                <a:gridCol w="864096">
                  <a:extLst>
                    <a:ext uri="{9D8B030D-6E8A-4147-A177-3AD203B41FA5}">
                      <a16:colId xmlns:a16="http://schemas.microsoft.com/office/drawing/2014/main" val="20005"/>
                    </a:ext>
                  </a:extLst>
                </a:gridCol>
                <a:gridCol w="648072">
                  <a:extLst>
                    <a:ext uri="{9D8B030D-6E8A-4147-A177-3AD203B41FA5}">
                      <a16:colId xmlns:a16="http://schemas.microsoft.com/office/drawing/2014/main" val="20006"/>
                    </a:ext>
                  </a:extLst>
                </a:gridCol>
                <a:gridCol w="720080">
                  <a:extLst>
                    <a:ext uri="{9D8B030D-6E8A-4147-A177-3AD203B41FA5}">
                      <a16:colId xmlns:a16="http://schemas.microsoft.com/office/drawing/2014/main" val="20007"/>
                    </a:ext>
                  </a:extLst>
                </a:gridCol>
                <a:gridCol w="648072">
                  <a:extLst>
                    <a:ext uri="{9D8B030D-6E8A-4147-A177-3AD203B41FA5}">
                      <a16:colId xmlns:a16="http://schemas.microsoft.com/office/drawing/2014/main" val="20008"/>
                    </a:ext>
                  </a:extLst>
                </a:gridCol>
                <a:gridCol w="648073">
                  <a:extLst>
                    <a:ext uri="{9D8B030D-6E8A-4147-A177-3AD203B41FA5}">
                      <a16:colId xmlns:a16="http://schemas.microsoft.com/office/drawing/2014/main" val="20009"/>
                    </a:ext>
                  </a:extLst>
                </a:gridCol>
              </a:tblGrid>
              <a:tr h="552379">
                <a:tc>
                  <a:txBody>
                    <a:bodyPr/>
                    <a:lstStyle/>
                    <a:p>
                      <a:endParaRPr lang="en-US"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dirty="0">
                          <a:solidFill>
                            <a:schemeClr val="bg2">
                              <a:lumMod val="25000"/>
                            </a:schemeClr>
                          </a:solidFill>
                          <a:latin typeface="Arial Narrow"/>
                        </a:rPr>
                        <a:t>Dallas</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dirty="0">
                          <a:solidFill>
                            <a:schemeClr val="bg2">
                              <a:lumMod val="25000"/>
                            </a:schemeClr>
                          </a:solidFill>
                          <a:latin typeface="Arial Narrow"/>
                        </a:rPr>
                        <a:t>Denver</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dirty="0">
                          <a:solidFill>
                            <a:schemeClr val="bg2">
                              <a:lumMod val="25000"/>
                            </a:schemeClr>
                          </a:solidFill>
                          <a:latin typeface="Arial Narrow"/>
                        </a:rPr>
                        <a:t>Phoenix</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dirty="0">
                          <a:solidFill>
                            <a:schemeClr val="bg2">
                              <a:lumMod val="25000"/>
                            </a:schemeClr>
                          </a:solidFill>
                          <a:latin typeface="Arial Narrow"/>
                        </a:rPr>
                        <a:t>Miami</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dirty="0">
                          <a:solidFill>
                            <a:schemeClr val="bg2">
                              <a:lumMod val="25000"/>
                            </a:schemeClr>
                          </a:solidFill>
                          <a:latin typeface="Arial Narrow"/>
                        </a:rPr>
                        <a:t>Oferta</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dirty="0">
                          <a:solidFill>
                            <a:schemeClr val="bg2">
                              <a:lumMod val="25000"/>
                            </a:schemeClr>
                          </a:solidFill>
                          <a:latin typeface="Arial Narrow"/>
                        </a:rPr>
                        <a:t>P</a:t>
                      </a:r>
                      <a:r>
                        <a:rPr lang="es-PE" sz="2400" b="1" strike="noStrike" spc="-1" baseline="-30000" dirty="0">
                          <a:solidFill>
                            <a:schemeClr val="bg2">
                              <a:lumMod val="25000"/>
                            </a:schemeClr>
                          </a:solidFill>
                          <a:latin typeface="Arial Narrow"/>
                        </a:rPr>
                        <a:t>1</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dirty="0">
                          <a:solidFill>
                            <a:schemeClr val="bg2">
                              <a:lumMod val="25000"/>
                            </a:schemeClr>
                          </a:solidFill>
                          <a:latin typeface="Arial Narrow"/>
                        </a:rPr>
                        <a:t>P</a:t>
                      </a:r>
                      <a:r>
                        <a:rPr lang="es-PE" sz="2400" b="1" strike="noStrike" spc="-1" baseline="-30000" dirty="0">
                          <a:solidFill>
                            <a:schemeClr val="bg2">
                              <a:lumMod val="25000"/>
                            </a:schemeClr>
                          </a:solidFill>
                          <a:latin typeface="Arial Narrow"/>
                        </a:rPr>
                        <a:t>2</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dirty="0">
                          <a:solidFill>
                            <a:schemeClr val="bg2">
                              <a:lumMod val="25000"/>
                            </a:schemeClr>
                          </a:solidFill>
                          <a:latin typeface="Arial Narrow"/>
                        </a:rPr>
                        <a:t>P</a:t>
                      </a:r>
                      <a:r>
                        <a:rPr lang="es-PE" sz="2400" b="1" strike="noStrike" spc="-1" baseline="-30000" dirty="0">
                          <a:solidFill>
                            <a:schemeClr val="bg2">
                              <a:lumMod val="25000"/>
                            </a:schemeClr>
                          </a:solidFill>
                          <a:latin typeface="Arial Narrow"/>
                        </a:rPr>
                        <a:t>3</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400" b="1" strike="noStrike" spc="-1" dirty="0">
                          <a:solidFill>
                            <a:schemeClr val="bg2">
                              <a:lumMod val="25000"/>
                            </a:schemeClr>
                          </a:solidFill>
                          <a:latin typeface="Arial Narrow"/>
                        </a:rPr>
                        <a:t>P</a:t>
                      </a:r>
                      <a:r>
                        <a:rPr lang="es-PE" sz="2400" b="1" strike="noStrike" spc="-1" baseline="-30000" dirty="0">
                          <a:solidFill>
                            <a:schemeClr val="bg2">
                              <a:lumMod val="25000"/>
                            </a:schemeClr>
                          </a:solidFill>
                          <a:latin typeface="Arial Narrow"/>
                        </a:rPr>
                        <a:t>4</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647297">
                <a:tc>
                  <a:txBody>
                    <a:bodyPr/>
                    <a:lstStyle/>
                    <a:p>
                      <a:pPr algn="ctr">
                        <a:lnSpc>
                          <a:spcPct val="95000"/>
                        </a:lnSpc>
                      </a:pPr>
                      <a:r>
                        <a:rPr lang="es-PE" sz="2000" b="1" strike="noStrike" spc="-1" dirty="0">
                          <a:solidFill>
                            <a:schemeClr val="bg2">
                              <a:lumMod val="25000"/>
                            </a:schemeClr>
                          </a:solidFill>
                          <a:latin typeface="Arial Narrow"/>
                        </a:rPr>
                        <a:t>Nueva York</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1600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95000"/>
                        </a:lnSpc>
                      </a:pPr>
                      <a:r>
                        <a:rPr lang="es-PE" sz="2400" b="1" strike="noStrike" spc="-1">
                          <a:solidFill>
                            <a:schemeClr val="bg2">
                              <a:lumMod val="25000"/>
                            </a:schemeClr>
                          </a:solidFill>
                          <a:latin typeface="Arial Narrow"/>
                        </a:rPr>
                        <a:t>1800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2F2F2"/>
                    </a:solidFill>
                  </a:tcPr>
                </a:tc>
                <a:tc>
                  <a:txBody>
                    <a:bodyPr/>
                    <a:lstStyle/>
                    <a:p>
                      <a:pPr algn="ctr">
                        <a:lnSpc>
                          <a:spcPct val="95000"/>
                        </a:lnSpc>
                      </a:pPr>
                      <a:r>
                        <a:rPr lang="es-PE" sz="2400" b="1" strike="noStrike" spc="-1" dirty="0">
                          <a:solidFill>
                            <a:schemeClr val="bg2">
                              <a:lumMod val="25000"/>
                            </a:schemeClr>
                          </a:solidFill>
                          <a:latin typeface="Arial Narrow"/>
                        </a:rPr>
                        <a:t>2500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400" b="1" strike="noStrike" spc="-1">
                          <a:solidFill>
                            <a:schemeClr val="bg2">
                              <a:lumMod val="25000"/>
                            </a:schemeClr>
                          </a:solidFill>
                          <a:latin typeface="Arial Narrow"/>
                        </a:rPr>
                        <a:t>1300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dirty="0">
                          <a:solidFill>
                            <a:schemeClr val="bg2">
                              <a:lumMod val="25000"/>
                            </a:schemeClr>
                          </a:solidFill>
                          <a:latin typeface="Arial Narrow"/>
                        </a:rPr>
                        <a:t>3</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Narrow"/>
                        </a:rPr>
                        <a:t>300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00B0F0"/>
                          </a:solidFill>
                          <a:latin typeface="Arial Narrow"/>
                        </a:rPr>
                        <a:t>200</a:t>
                      </a:r>
                      <a:endParaRPr lang="es-PE" sz="2400" b="0" strike="noStrike" spc="-1" dirty="0">
                        <a:solidFill>
                          <a:srgbClr val="00B0F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92D050"/>
                          </a:solidFill>
                          <a:latin typeface="Arial Narrow"/>
                        </a:rPr>
                        <a:t>200</a:t>
                      </a:r>
                      <a:endParaRPr lang="es-PE" sz="2400" b="0" strike="noStrike" spc="-1" dirty="0">
                        <a:solidFill>
                          <a:srgbClr val="92D05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200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759103">
                <a:tc>
                  <a:txBody>
                    <a:bodyPr/>
                    <a:lstStyle/>
                    <a:p>
                      <a:pPr algn="ctr">
                        <a:lnSpc>
                          <a:spcPct val="95000"/>
                        </a:lnSpc>
                      </a:pPr>
                      <a:r>
                        <a:rPr lang="es-PE" sz="2000" b="1" strike="noStrike" spc="-1" dirty="0">
                          <a:solidFill>
                            <a:schemeClr val="bg2">
                              <a:lumMod val="25000"/>
                            </a:schemeClr>
                          </a:solidFill>
                          <a:latin typeface="Arial Narrow"/>
                        </a:rPr>
                        <a:t>Chicago</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chemeClr val="bg2">
                              <a:lumMod val="25000"/>
                            </a:schemeClr>
                          </a:solidFill>
                          <a:latin typeface="Arial Narrow"/>
                        </a:rPr>
                        <a:t>900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95000"/>
                        </a:lnSpc>
                      </a:pPr>
                      <a:r>
                        <a:rPr lang="es-PE" sz="2400" b="1" strike="noStrike" spc="-1">
                          <a:solidFill>
                            <a:schemeClr val="bg2">
                              <a:lumMod val="25000"/>
                            </a:schemeClr>
                          </a:solidFill>
                          <a:latin typeface="Arial Narrow"/>
                        </a:rPr>
                        <a:t>1000</a:t>
                      </a:r>
                      <a:endParaRPr lang="es-PE" sz="2400" b="0" strike="noStrike" spc="-1">
                        <a:solidFill>
                          <a:schemeClr val="bg2">
                            <a:lumMod val="25000"/>
                          </a:schemeClr>
                        </a:solidFill>
                        <a:latin typeface="Arial"/>
                      </a:endParaRPr>
                    </a:p>
                    <a:p>
                      <a:pPr algn="ctr">
                        <a:lnSpc>
                          <a:spcPct val="95000"/>
                        </a:lnSpc>
                      </a:pPr>
                      <a:r>
                        <a:rPr lang="es-PE" sz="2400" b="1" strike="noStrike" spc="-1">
                          <a:solidFill>
                            <a:schemeClr val="bg2">
                              <a:lumMod val="25000"/>
                            </a:schemeClr>
                          </a:solidFill>
                          <a:latin typeface="Arial Narrow"/>
                        </a:rPr>
                        <a:t>*</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2F2F2"/>
                    </a:solidFill>
                  </a:tcPr>
                </a:tc>
                <a:tc>
                  <a:txBody>
                    <a:bodyPr/>
                    <a:lstStyle/>
                    <a:p>
                      <a:pPr algn="ctr">
                        <a:lnSpc>
                          <a:spcPct val="95000"/>
                        </a:lnSpc>
                      </a:pPr>
                      <a:r>
                        <a:rPr lang="es-PE" sz="2400" b="1" strike="noStrike" spc="-1" dirty="0">
                          <a:solidFill>
                            <a:schemeClr val="bg2">
                              <a:lumMod val="25000"/>
                            </a:schemeClr>
                          </a:solidFill>
                          <a:latin typeface="Arial Narrow"/>
                        </a:rPr>
                        <a:t>1800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400" b="1" strike="noStrike" spc="-1">
                          <a:solidFill>
                            <a:schemeClr val="bg2">
                              <a:lumMod val="25000"/>
                            </a:schemeClr>
                          </a:solidFill>
                          <a:latin typeface="Arial Narrow"/>
                        </a:rPr>
                        <a:t>1400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a:solidFill>
                            <a:schemeClr val="bg2">
                              <a:lumMod val="25000"/>
                            </a:schemeClr>
                          </a:solidFill>
                          <a:latin typeface="Arial Narrow"/>
                        </a:rPr>
                        <a:t>2/1</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Narrow"/>
                        </a:rPr>
                        <a:t>100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00B0F0"/>
                          </a:solidFill>
                          <a:latin typeface="Arial Narrow"/>
                        </a:rPr>
                        <a:t>100</a:t>
                      </a:r>
                      <a:endParaRPr lang="es-PE" sz="2400" b="0" strike="noStrike" spc="-1" dirty="0">
                        <a:solidFill>
                          <a:srgbClr val="00B0F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92D050"/>
                          </a:solidFill>
                          <a:latin typeface="Arial Narrow"/>
                        </a:rPr>
                        <a:t>100</a:t>
                      </a:r>
                      <a:endParaRPr lang="es-PE" sz="2400" b="0" strike="noStrike" spc="-1" dirty="0">
                        <a:solidFill>
                          <a:srgbClr val="92D05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100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759103">
                <a:tc>
                  <a:txBody>
                    <a:bodyPr/>
                    <a:lstStyle/>
                    <a:p>
                      <a:pPr algn="ctr">
                        <a:lnSpc>
                          <a:spcPct val="95000"/>
                        </a:lnSpc>
                      </a:pPr>
                      <a:r>
                        <a:rPr lang="es-PE" sz="2000" b="1" strike="noStrike" spc="-1" dirty="0">
                          <a:solidFill>
                            <a:schemeClr val="bg2">
                              <a:lumMod val="25000"/>
                            </a:schemeClr>
                          </a:solidFill>
                          <a:latin typeface="Arial Narrow"/>
                        </a:rPr>
                        <a:t>Los </a:t>
                      </a:r>
                      <a:r>
                        <a:rPr lang="es-PE" sz="2000" b="1" strike="noStrike" spc="-1" dirty="0" err="1">
                          <a:solidFill>
                            <a:schemeClr val="bg2">
                              <a:lumMod val="25000"/>
                            </a:schemeClr>
                          </a:solidFill>
                          <a:latin typeface="Arial Narrow"/>
                        </a:rPr>
                        <a:t>Angeles</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1400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400" b="1" strike="noStrike" spc="-1" dirty="0">
                          <a:solidFill>
                            <a:schemeClr val="bg2">
                              <a:lumMod val="25000"/>
                            </a:schemeClr>
                          </a:solidFill>
                          <a:latin typeface="Arial Narrow"/>
                        </a:rPr>
                        <a:t>1000</a:t>
                      </a:r>
                      <a:endParaRPr lang="es-PE" sz="2400" b="0" strike="noStrike" spc="-1" dirty="0">
                        <a:solidFill>
                          <a:schemeClr val="bg2">
                            <a:lumMod val="25000"/>
                          </a:schemeClr>
                        </a:solidFill>
                        <a:latin typeface="Arial"/>
                      </a:endParaRPr>
                    </a:p>
                    <a:p>
                      <a:pPr algn="ctr">
                        <a:lnSpc>
                          <a:spcPct val="95000"/>
                        </a:lnSpc>
                      </a:pPr>
                      <a:r>
                        <a:rPr lang="es-PE" sz="2400" b="1" strike="noStrike" spc="-1" dirty="0">
                          <a:solidFill>
                            <a:schemeClr val="bg2">
                              <a:lumMod val="25000"/>
                            </a:schemeClr>
                          </a:solidFill>
                          <a:latin typeface="Arial Narrow"/>
                        </a:rPr>
                        <a:t>*</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400" b="1" strike="noStrike" spc="-1" dirty="0">
                          <a:solidFill>
                            <a:schemeClr val="bg2">
                              <a:lumMod val="25000"/>
                            </a:schemeClr>
                          </a:solidFill>
                          <a:latin typeface="Arial Narrow"/>
                        </a:rPr>
                        <a:t>400</a:t>
                      </a:r>
                      <a:endParaRPr lang="es-PE" sz="2400" b="0" strike="noStrike" spc="-1" dirty="0">
                        <a:solidFill>
                          <a:schemeClr val="bg2">
                            <a:lumMod val="25000"/>
                          </a:schemeClr>
                        </a:solidFill>
                        <a:latin typeface="Arial"/>
                      </a:endParaRPr>
                    </a:p>
                    <a:p>
                      <a:pPr algn="ctr">
                        <a:lnSpc>
                          <a:spcPct val="95000"/>
                        </a:lnSpc>
                      </a:pPr>
                      <a:r>
                        <a:rPr lang="es-PE" sz="2400" b="1" strike="noStrike" spc="-1" dirty="0">
                          <a:solidFill>
                            <a:schemeClr val="bg2">
                              <a:lumMod val="25000"/>
                            </a:schemeClr>
                          </a:solidFill>
                          <a:latin typeface="Arial Narrow"/>
                        </a:rPr>
                        <a:t>*</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400" b="1" strike="noStrike" spc="-1">
                          <a:solidFill>
                            <a:schemeClr val="bg2">
                              <a:lumMod val="25000"/>
                            </a:schemeClr>
                          </a:solidFill>
                          <a:latin typeface="Arial Narrow"/>
                        </a:rPr>
                        <a:t>2700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400" b="1" strike="noStrike" spc="-1">
                          <a:solidFill>
                            <a:schemeClr val="bg2">
                              <a:lumMod val="25000"/>
                            </a:schemeClr>
                          </a:solidFill>
                          <a:latin typeface="Arial Narrow"/>
                        </a:rPr>
                        <a:t>3/1/0</a:t>
                      </a:r>
                      <a:endParaRPr lang="es-PE" sz="24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PE" sz="2400" b="1" strike="noStrike" spc="-1" dirty="0">
                          <a:solidFill>
                            <a:schemeClr val="tx1"/>
                          </a:solidFill>
                          <a:latin typeface="Arial Narrow"/>
                        </a:rPr>
                        <a:t>600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PE" sz="2400" b="1" strike="noStrike" spc="-1" dirty="0">
                          <a:solidFill>
                            <a:srgbClr val="00B0F0"/>
                          </a:solidFill>
                          <a:latin typeface="Arial Narrow"/>
                        </a:rPr>
                        <a:t>60/0</a:t>
                      </a:r>
                      <a:endParaRPr lang="es-PE" sz="2400" b="0" strike="noStrike" spc="-1" dirty="0">
                        <a:solidFill>
                          <a:srgbClr val="00B0F0"/>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PE" sz="2400" b="1" strike="noStrike" spc="-1" dirty="0">
                          <a:solidFill>
                            <a:srgbClr val="92D050"/>
                          </a:solidFill>
                          <a:latin typeface="Arial Narrow"/>
                        </a:rPr>
                        <a:t>400</a:t>
                      </a:r>
                      <a:endParaRPr lang="es-PE" sz="2400" b="0" strike="noStrike" spc="-1" dirty="0">
                        <a:solidFill>
                          <a:srgbClr val="92D050"/>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endParaRPr lang="en-US"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23686">
                <a:tc>
                  <a:txBody>
                    <a:bodyPr/>
                    <a:lstStyle/>
                    <a:p>
                      <a:pPr algn="ctr">
                        <a:lnSpc>
                          <a:spcPct val="95000"/>
                        </a:lnSpc>
                      </a:pPr>
                      <a:r>
                        <a:rPr lang="es-PE" sz="2000" b="1" strike="noStrike" spc="-1" dirty="0">
                          <a:solidFill>
                            <a:schemeClr val="bg2">
                              <a:lumMod val="25000"/>
                            </a:schemeClr>
                          </a:solidFill>
                          <a:latin typeface="Arial Narrow"/>
                        </a:rPr>
                        <a:t>Figurado</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400" b="1" strike="noStrike" spc="-1" dirty="0">
                          <a:solidFill>
                            <a:schemeClr val="bg2">
                              <a:lumMod val="25000"/>
                            </a:schemeClr>
                          </a:solidFill>
                          <a:latin typeface="Arial Narrow"/>
                        </a:rPr>
                        <a:t>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400" b="1" strike="noStrike" spc="-1" dirty="0">
                          <a:solidFill>
                            <a:schemeClr val="bg2">
                              <a:lumMod val="25000"/>
                            </a:schemeClr>
                          </a:solidFill>
                          <a:latin typeface="Arial Narrow"/>
                        </a:rPr>
                        <a:t>0</a:t>
                      </a:r>
                      <a:endParaRPr lang="es-PE" sz="2400" b="0" strike="noStrike" spc="-1" dirty="0">
                        <a:solidFill>
                          <a:schemeClr val="bg2">
                            <a:lumMod val="25000"/>
                          </a:schemeClr>
                        </a:solidFill>
                        <a:latin typeface="Arial"/>
                      </a:endParaRPr>
                    </a:p>
                  </a:txBody>
                  <a:tcPr>
                    <a:lnL w="12240">
                      <a:solidFill>
                        <a:srgbClr val="000000"/>
                      </a:solidFill>
                    </a:lnL>
                    <a:lnR w="12240">
                      <a:solidFill>
                        <a:srgbClr val="1D528D"/>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400" b="1" strike="noStrike" spc="-1">
                          <a:solidFill>
                            <a:schemeClr val="bg2">
                              <a:lumMod val="25000"/>
                            </a:schemeClr>
                          </a:solidFill>
                          <a:latin typeface="Arial Narrow"/>
                        </a:rPr>
                        <a:t>0*</a:t>
                      </a:r>
                      <a:endParaRPr lang="es-PE" sz="2400" b="0" strike="noStrike" spc="-1">
                        <a:solidFill>
                          <a:schemeClr val="bg2">
                            <a:lumMod val="25000"/>
                          </a:schemeClr>
                        </a:solidFill>
                        <a:latin typeface="Arial"/>
                      </a:endParaRPr>
                    </a:p>
                  </a:txBody>
                  <a:tcPr>
                    <a:lnL w="12240">
                      <a:solidFill>
                        <a:srgbClr val="1D528D"/>
                      </a:solidFill>
                    </a:lnL>
                    <a:lnR w="12700" cap="flat" cmpd="sng" algn="ctr">
                      <a:solidFill>
                        <a:schemeClr val="tx1"/>
                      </a:solidFill>
                      <a:prstDash val="solid"/>
                      <a:round/>
                      <a:headEnd type="none" w="med" len="med"/>
                      <a:tailEnd type="none" w="med" len="med"/>
                    </a:lnR>
                    <a:lnT w="12240">
                      <a:solidFill>
                        <a:srgbClr val="000000"/>
                      </a:solidFill>
                    </a:lnT>
                    <a:lnB w="12240">
                      <a:solidFill>
                        <a:srgbClr val="000000"/>
                      </a:solidFill>
                    </a:lnB>
                    <a:solidFill>
                      <a:srgbClr val="000000"/>
                    </a:solidFill>
                  </a:tcPr>
                </a:tc>
                <a:tc>
                  <a:txBody>
                    <a:bodyPr/>
                    <a:lstStyle/>
                    <a:p>
                      <a:pPr algn="ctr">
                        <a:lnSpc>
                          <a:spcPct val="95000"/>
                        </a:lnSpc>
                        <a:spcBef>
                          <a:spcPts val="1199"/>
                        </a:spcBef>
                      </a:pPr>
                      <a:r>
                        <a:rPr lang="es-PE" sz="2400" b="1" strike="noStrike" spc="-1" dirty="0">
                          <a:solidFill>
                            <a:schemeClr val="bg2">
                              <a:lumMod val="25000"/>
                            </a:schemeClr>
                          </a:solidFill>
                          <a:latin typeface="Arial Narrow"/>
                        </a:rPr>
                        <a:t>2/0</a:t>
                      </a:r>
                      <a:endParaRPr lang="es-PE" sz="2400" b="0" strike="noStrike" spc="-1" dirty="0">
                        <a:solidFill>
                          <a:schemeClr val="bg2">
                            <a:lumMod val="25000"/>
                          </a:schemeClr>
                        </a:solidFill>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PE" sz="2400" b="1" strike="noStrike" spc="-1" dirty="0">
                          <a:solidFill>
                            <a:schemeClr val="tx1"/>
                          </a:solidFill>
                          <a:latin typeface="Arial Narrow"/>
                        </a:rPr>
                        <a:t>0</a:t>
                      </a:r>
                      <a:endParaRPr lang="es-PE" sz="2400" b="0" strike="noStrike" spc="-1" dirty="0">
                        <a:solidFill>
                          <a:schemeClr val="tx1"/>
                        </a:solidFill>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solidFill>
                          <a:schemeClr val="bg2">
                            <a:lumMod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solidFill>
                          <a:schemeClr val="bg2">
                            <a:lumMod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504091">
                <a:tc>
                  <a:txBody>
                    <a:bodyPr/>
                    <a:lstStyle/>
                    <a:p>
                      <a:pPr algn="ctr">
                        <a:lnSpc>
                          <a:spcPct val="95000"/>
                        </a:lnSpc>
                      </a:pPr>
                      <a:r>
                        <a:rPr lang="es-PE" sz="2000" b="1" strike="noStrike" spc="-1" dirty="0">
                          <a:solidFill>
                            <a:schemeClr val="bg2">
                              <a:lumMod val="25000"/>
                            </a:schemeClr>
                          </a:solidFill>
                          <a:latin typeface="Arial Narrow"/>
                        </a:rPr>
                        <a:t>Demanda </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4</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2/1/0</a:t>
                      </a:r>
                      <a:endParaRPr lang="es-PE" sz="24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2/0</a:t>
                      </a:r>
                      <a:endParaRPr lang="es-PE" sz="2400" b="0" strike="noStrike" spc="-1" dirty="0">
                        <a:solidFill>
                          <a:schemeClr val="bg2">
                            <a:lumMod val="25000"/>
                          </a:schemeClr>
                        </a:solidFill>
                        <a:latin typeface="Arial"/>
                      </a:endParaRPr>
                    </a:p>
                  </a:txBody>
                  <a:tcPr>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bg2">
                              <a:lumMod val="25000"/>
                            </a:schemeClr>
                          </a:solidFill>
                          <a:latin typeface="Arial Narrow"/>
                        </a:rPr>
                        <a:t>2/0</a:t>
                      </a:r>
                      <a:endParaRPr lang="es-PE" sz="2400" b="0" strike="noStrike" spc="-1" dirty="0">
                        <a:solidFill>
                          <a:schemeClr val="bg2">
                            <a:lumMod val="25000"/>
                          </a:schemeClr>
                        </a:solidFill>
                        <a:latin typeface="Arial"/>
                      </a:endParaRPr>
                    </a:p>
                  </a:txBody>
                  <a:tcPr>
                    <a:lnL w="12240">
                      <a:solidFill>
                        <a:srgbClr val="1D528D"/>
                      </a:solidFill>
                    </a:lnL>
                    <a:lnR w="12240">
                      <a:solidFill>
                        <a:srgbClr val="1D528D"/>
                      </a:solidFill>
                    </a:lnR>
                    <a:lnT w="12240">
                      <a:solidFill>
                        <a:srgbClr val="000000"/>
                      </a:solidFill>
                    </a:lnT>
                    <a:lnB w="12240">
                      <a:solidFill>
                        <a:srgbClr val="000000"/>
                      </a:solidFill>
                    </a:lnB>
                    <a:noFill/>
                  </a:tcPr>
                </a:tc>
                <a:tc>
                  <a:txBody>
                    <a:bodyPr/>
                    <a:lstStyle/>
                    <a:p>
                      <a:endParaRPr lang="en-US" dirty="0">
                        <a:solidFill>
                          <a:schemeClr val="bg2">
                            <a:lumMod val="25000"/>
                          </a:schemeClr>
                        </a:solidFill>
                      </a:endParaRPr>
                    </a:p>
                  </a:txBody>
                  <a:tcPr>
                    <a:lnL w="12240">
                      <a:solidFill>
                        <a:srgbClr val="1D528D"/>
                      </a:solid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dirty="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dirty="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extLst>
                  <a:ext uri="{0D108BD9-81ED-4DB2-BD59-A6C34878D82A}">
                    <a16:rowId xmlns:a16="http://schemas.microsoft.com/office/drawing/2014/main" val="10005"/>
                  </a:ext>
                </a:extLst>
              </a:tr>
            </a:tbl>
          </a:graphicData>
        </a:graphic>
      </p:graphicFrame>
      <p:graphicFrame>
        <p:nvGraphicFramePr>
          <p:cNvPr id="1008" name="Table 4"/>
          <p:cNvGraphicFramePr/>
          <p:nvPr>
            <p:extLst>
              <p:ext uri="{D42A27DB-BD31-4B8C-83A1-F6EECF244321}">
                <p14:modId xmlns:p14="http://schemas.microsoft.com/office/powerpoint/2010/main" val="552882464"/>
              </p:ext>
            </p:extLst>
          </p:nvPr>
        </p:nvGraphicFramePr>
        <p:xfrm>
          <a:off x="1940940" y="4991167"/>
          <a:ext cx="5024785" cy="1781144"/>
        </p:xfrm>
        <a:graphic>
          <a:graphicData uri="http://schemas.openxmlformats.org/drawingml/2006/table">
            <a:tbl>
              <a:tblPr/>
              <a:tblGrid>
                <a:gridCol w="1254044">
                  <a:extLst>
                    <a:ext uri="{9D8B030D-6E8A-4147-A177-3AD203B41FA5}">
                      <a16:colId xmlns:a16="http://schemas.microsoft.com/office/drawing/2014/main" val="20000"/>
                    </a:ext>
                  </a:extLst>
                </a:gridCol>
                <a:gridCol w="876680">
                  <a:extLst>
                    <a:ext uri="{9D8B030D-6E8A-4147-A177-3AD203B41FA5}">
                      <a16:colId xmlns:a16="http://schemas.microsoft.com/office/drawing/2014/main" val="20001"/>
                    </a:ext>
                  </a:extLst>
                </a:gridCol>
                <a:gridCol w="983412">
                  <a:extLst>
                    <a:ext uri="{9D8B030D-6E8A-4147-A177-3AD203B41FA5}">
                      <a16:colId xmlns:a16="http://schemas.microsoft.com/office/drawing/2014/main" val="20002"/>
                    </a:ext>
                  </a:extLst>
                </a:gridCol>
                <a:gridCol w="1086928">
                  <a:extLst>
                    <a:ext uri="{9D8B030D-6E8A-4147-A177-3AD203B41FA5}">
                      <a16:colId xmlns:a16="http://schemas.microsoft.com/office/drawing/2014/main" val="20003"/>
                    </a:ext>
                  </a:extLst>
                </a:gridCol>
                <a:gridCol w="823721">
                  <a:extLst>
                    <a:ext uri="{9D8B030D-6E8A-4147-A177-3AD203B41FA5}">
                      <a16:colId xmlns:a16="http://schemas.microsoft.com/office/drawing/2014/main" val="20004"/>
                    </a:ext>
                  </a:extLst>
                </a:gridCol>
              </a:tblGrid>
              <a:tr h="425160">
                <a:tc>
                  <a:txBody>
                    <a:bodyPr/>
                    <a:lstStyle/>
                    <a:p>
                      <a:pPr algn="ctr">
                        <a:lnSpc>
                          <a:spcPct val="95000"/>
                        </a:lnSpc>
                      </a:pPr>
                      <a:r>
                        <a:rPr lang="es-PE" sz="2400" b="1" strike="noStrike" spc="-1" dirty="0" err="1">
                          <a:solidFill>
                            <a:srgbClr val="1D528D"/>
                          </a:solidFill>
                          <a:latin typeface="Arial Narrow"/>
                        </a:rPr>
                        <a:t>P</a:t>
                      </a:r>
                      <a:r>
                        <a:rPr lang="es-PE" sz="2400" b="1" strike="noStrike" spc="-1" baseline="-30000" dirty="0" err="1">
                          <a:solidFill>
                            <a:srgbClr val="1D528D"/>
                          </a:solidFill>
                          <a:latin typeface="Arial Narrow"/>
                        </a:rPr>
                        <a:t>1</a:t>
                      </a:r>
                      <a:endParaRPr lang="es-PE" sz="2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Narrow"/>
                        </a:rPr>
                        <a:t>900</a:t>
                      </a:r>
                      <a:endParaRPr lang="es-PE" sz="2400" b="0" strike="noStrike" spc="-1" dirty="0">
                        <a:solidFill>
                          <a:schemeClr val="tx1"/>
                        </a:solidFill>
                        <a:latin typeface="Arial"/>
                      </a:endParaRPr>
                    </a:p>
                  </a:txBody>
                  <a:tcPr>
                    <a:lnL w="12240" cap="flat" cmpd="sng" algn="ctr">
                      <a:solidFill>
                        <a:srgbClr val="000000"/>
                      </a:solidFill>
                      <a:prstDash val="solid"/>
                      <a:round/>
                      <a:headEnd type="none" w="med" len="med"/>
                      <a:tailEnd type="none" w="med" len="med"/>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Narrow"/>
                        </a:rPr>
                        <a:t>1000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Narrow"/>
                        </a:rPr>
                        <a:t>400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chemeClr val="tx1"/>
                          </a:solidFill>
                          <a:latin typeface="Arial Narrow"/>
                        </a:rPr>
                        <a:t>1300</a:t>
                      </a:r>
                      <a:endParaRPr lang="es-PE" sz="2400" b="0" strike="noStrike" spc="-1" dirty="0">
                        <a:solidFill>
                          <a:schemeClr val="tx1"/>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425160">
                <a:tc>
                  <a:txBody>
                    <a:bodyPr/>
                    <a:lstStyle/>
                    <a:p>
                      <a:pPr algn="ctr">
                        <a:lnSpc>
                          <a:spcPct val="95000"/>
                        </a:lnSpc>
                      </a:pPr>
                      <a:r>
                        <a:rPr lang="es-PE" sz="2400" b="1" strike="noStrike" spc="-1" dirty="0" err="1">
                          <a:solidFill>
                            <a:srgbClr val="1D528D"/>
                          </a:solidFill>
                          <a:latin typeface="Arial Narrow"/>
                        </a:rPr>
                        <a:t>P</a:t>
                      </a:r>
                      <a:r>
                        <a:rPr lang="es-PE" sz="2400" b="1" strike="noStrike" spc="-1" baseline="-30000" dirty="0" err="1">
                          <a:solidFill>
                            <a:srgbClr val="1D528D"/>
                          </a:solidFill>
                          <a:latin typeface="Arial Narrow"/>
                        </a:rPr>
                        <a:t>2</a:t>
                      </a:r>
                      <a:endParaRPr lang="es-PE" sz="2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rgbClr val="2F85F7"/>
                          </a:solidFill>
                          <a:latin typeface="Arial Narrow"/>
                        </a:rPr>
                        <a:t>500</a:t>
                      </a:r>
                      <a:endParaRPr lang="es-PE" sz="2400" b="0" strike="noStrike" spc="-1">
                        <a:latin typeface="Arial"/>
                      </a:endParaRPr>
                    </a:p>
                  </a:txBody>
                  <a:tcPr>
                    <a:lnL w="12240" cap="flat" cmpd="sng" algn="ctr">
                      <a:solidFill>
                        <a:srgbClr val="000000"/>
                      </a:solidFill>
                      <a:prstDash val="solid"/>
                      <a:round/>
                      <a:headEnd type="none" w="med" len="med"/>
                      <a:tailEnd type="none" w="med" len="med"/>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rgbClr val="2F85F7"/>
                          </a:solidFill>
                          <a:latin typeface="Arial Narrow"/>
                        </a:rPr>
                        <a:t>800</a:t>
                      </a:r>
                      <a:endParaRPr lang="es-PE"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2F85F7"/>
                          </a:solidFill>
                          <a:latin typeface="Arial Narrow"/>
                        </a:rPr>
                        <a:t>1400</a:t>
                      </a:r>
                      <a:endParaRPr lang="es-PE" sz="2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425160">
                <a:tc>
                  <a:txBody>
                    <a:bodyPr/>
                    <a:lstStyle/>
                    <a:p>
                      <a:pPr algn="ctr">
                        <a:lnSpc>
                          <a:spcPct val="95000"/>
                        </a:lnSpc>
                      </a:pPr>
                      <a:r>
                        <a:rPr lang="es-PE" sz="2400" b="1" strike="noStrike" spc="-1" dirty="0" err="1">
                          <a:solidFill>
                            <a:srgbClr val="1D528D"/>
                          </a:solidFill>
                          <a:latin typeface="Arial Narrow"/>
                        </a:rPr>
                        <a:t>P</a:t>
                      </a:r>
                      <a:r>
                        <a:rPr lang="es-PE" sz="2400" b="1" strike="noStrike" spc="-1" baseline="-30000" dirty="0" err="1">
                          <a:solidFill>
                            <a:srgbClr val="1D528D"/>
                          </a:solidFill>
                          <a:latin typeface="Arial Narrow"/>
                        </a:rPr>
                        <a:t>3</a:t>
                      </a:r>
                      <a:endParaRPr lang="es-PE" sz="2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spcBef>
                          <a:spcPts val="1199"/>
                        </a:spcBef>
                      </a:pPr>
                      <a:r>
                        <a:rPr lang="es-PE" sz="2400" b="1" strike="noStrike" spc="-1">
                          <a:solidFill>
                            <a:srgbClr val="92D050"/>
                          </a:solidFill>
                          <a:latin typeface="Arial Narrow"/>
                        </a:rPr>
                        <a:t>500</a:t>
                      </a:r>
                      <a:endParaRPr lang="es-PE" sz="2400" b="0" strike="noStrike" spc="-1">
                        <a:latin typeface="Arial"/>
                      </a:endParaRPr>
                    </a:p>
                  </a:txBody>
                  <a:tcPr>
                    <a:lnL w="12240" cap="flat" cmpd="sng" algn="ctr">
                      <a:solidFill>
                        <a:srgbClr val="000000"/>
                      </a:solidFill>
                      <a:prstDash val="solid"/>
                      <a:round/>
                      <a:headEnd type="none" w="med" len="med"/>
                      <a:tailEnd type="none" w="med" len="med"/>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a:solidFill>
                            <a:srgbClr val="92D050"/>
                          </a:solidFill>
                          <a:latin typeface="Arial Narrow"/>
                        </a:rPr>
                        <a:t>800</a:t>
                      </a:r>
                      <a:endParaRPr lang="es-PE"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464408">
                <a:tc>
                  <a:txBody>
                    <a:bodyPr/>
                    <a:lstStyle/>
                    <a:p>
                      <a:pPr algn="ctr">
                        <a:lnSpc>
                          <a:spcPct val="95000"/>
                        </a:lnSpc>
                      </a:pPr>
                      <a:r>
                        <a:rPr lang="es-PE" sz="2400" b="1" strike="noStrike" spc="-1" dirty="0">
                          <a:solidFill>
                            <a:srgbClr val="1D528D"/>
                          </a:solidFill>
                          <a:latin typeface="Arial Narrow"/>
                        </a:rPr>
                        <a:t>P</a:t>
                      </a:r>
                      <a:r>
                        <a:rPr lang="es-PE" sz="2400" b="1" strike="noStrike" spc="-1" baseline="-30000" dirty="0">
                          <a:solidFill>
                            <a:srgbClr val="1D528D"/>
                          </a:solidFill>
                          <a:latin typeface="Arial Narrow"/>
                        </a:rPr>
                        <a:t>4</a:t>
                      </a:r>
                      <a:endParaRPr lang="es-PE" sz="2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spcBef>
                          <a:spcPts val="1199"/>
                        </a:spcBef>
                      </a:pPr>
                      <a:r>
                        <a:rPr lang="es-PE" sz="2400" b="1" strike="noStrike" spc="-1" dirty="0">
                          <a:solidFill>
                            <a:srgbClr val="FF0000"/>
                          </a:solidFill>
                          <a:latin typeface="Arial Narrow"/>
                        </a:rPr>
                        <a:t>700</a:t>
                      </a:r>
                      <a:endParaRPr lang="es-PE" sz="2400" b="0" strike="noStrike" spc="-1" dirty="0">
                        <a:solidFill>
                          <a:srgbClr val="FF0000"/>
                        </a:solidFill>
                        <a:latin typeface="Arial"/>
                      </a:endParaRPr>
                    </a:p>
                  </a:txBody>
                  <a:tcPr>
                    <a:lnL w="12240" cap="flat" cmpd="sng" algn="ctr">
                      <a:solidFill>
                        <a:srgbClr val="000000"/>
                      </a:solidFill>
                      <a:prstDash val="solid"/>
                      <a:round/>
                      <a:headEnd type="none" w="med" len="med"/>
                      <a:tailEnd type="none" w="med" len="med"/>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400" b="1" strike="noStrike" spc="-1" dirty="0">
                          <a:solidFill>
                            <a:srgbClr val="FF0000"/>
                          </a:solidFill>
                          <a:latin typeface="Arial Narrow"/>
                        </a:rPr>
                        <a:t>800</a:t>
                      </a:r>
                      <a:endParaRPr lang="es-PE" sz="24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3"/>
                  </a:ext>
                </a:extLst>
              </a:tr>
            </a:tbl>
          </a:graphicData>
        </a:graphic>
      </p:graphicFrame>
      <p:graphicFrame>
        <p:nvGraphicFramePr>
          <p:cNvPr id="2" name="1 Diagrama"/>
          <p:cNvGraphicFramePr/>
          <p:nvPr>
            <p:extLst>
              <p:ext uri="{D42A27DB-BD31-4B8C-83A1-F6EECF244321}">
                <p14:modId xmlns:p14="http://schemas.microsoft.com/office/powerpoint/2010/main" val="3353109076"/>
              </p:ext>
            </p:extLst>
          </p:nvPr>
        </p:nvGraphicFramePr>
        <p:xfrm>
          <a:off x="7392144" y="4498075"/>
          <a:ext cx="2880320" cy="20162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CustomShape 5">
            <a:extLst>
              <a:ext uri="{FF2B5EF4-FFF2-40B4-BE49-F238E27FC236}">
                <a16:creationId xmlns:a16="http://schemas.microsoft.com/office/drawing/2014/main" id="{14FF54E6-068A-43BC-A965-5DDD62FF13DC}"/>
              </a:ext>
            </a:extLst>
          </p:cNvPr>
          <p:cNvSpPr/>
          <p:nvPr/>
        </p:nvSpPr>
        <p:spPr>
          <a:xfrm>
            <a:off x="6096000" y="163488"/>
            <a:ext cx="6096000" cy="56304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lnSpc>
                <a:spcPts val="5800"/>
              </a:lnSpc>
              <a:spcBef>
                <a:spcPct val="0"/>
              </a:spcBef>
            </a:pPr>
            <a:r>
              <a:rPr lang="es-PE" sz="3200" dirty="0">
                <a:solidFill>
                  <a:schemeClr val="bg1"/>
                </a:solidFill>
                <a:effectLst>
                  <a:outerShdw blurRad="63500" dist="38100" dir="5400000" algn="t" rotWithShape="0">
                    <a:prstClr val="black">
                      <a:alpha val="25000"/>
                    </a:prstClr>
                  </a:outerShdw>
                </a:effectLst>
                <a:latin typeface="Bauhaus 93" pitchFamily="82" charset="0"/>
              </a:rPr>
              <a:t>Método Vogel</a:t>
            </a:r>
          </a:p>
        </p:txBody>
      </p:sp>
      <p:sp>
        <p:nvSpPr>
          <p:cNvPr id="9" name="CuadroTexto 8">
            <a:extLst>
              <a:ext uri="{FF2B5EF4-FFF2-40B4-BE49-F238E27FC236}">
                <a16:creationId xmlns:a16="http://schemas.microsoft.com/office/drawing/2014/main" id="{AA79A269-43F7-434C-A3C4-3603D87497E4}"/>
              </a:ext>
            </a:extLst>
          </p:cNvPr>
          <p:cNvSpPr txBox="1"/>
          <p:nvPr/>
        </p:nvSpPr>
        <p:spPr>
          <a:xfrm>
            <a:off x="258793" y="2191109"/>
            <a:ext cx="1380226" cy="646331"/>
          </a:xfrm>
          <a:prstGeom prst="rect">
            <a:avLst/>
          </a:prstGeom>
          <a:solidFill>
            <a:srgbClr val="FFFF00"/>
          </a:solidFill>
        </p:spPr>
        <p:txBody>
          <a:bodyPr wrap="square" rtlCol="0">
            <a:spAutoFit/>
          </a:bodyPr>
          <a:lstStyle/>
          <a:p>
            <a:r>
              <a:rPr lang="es-ES" b="1" dirty="0"/>
              <a:t>Hallamos las penalidades</a:t>
            </a:r>
          </a:p>
        </p:txBody>
      </p:sp>
      <p:sp>
        <p:nvSpPr>
          <p:cNvPr id="10" name="Rectángulo 9">
            <a:extLst>
              <a:ext uri="{FF2B5EF4-FFF2-40B4-BE49-F238E27FC236}">
                <a16:creationId xmlns:a16="http://schemas.microsoft.com/office/drawing/2014/main" id="{41FDB180-983B-448A-8FF3-A4D5350EF4D3}"/>
              </a:ext>
            </a:extLst>
          </p:cNvPr>
          <p:cNvSpPr/>
          <p:nvPr/>
        </p:nvSpPr>
        <p:spPr>
          <a:xfrm>
            <a:off x="258136" y="3054556"/>
            <a:ext cx="1372258" cy="923330"/>
          </a:xfrm>
          <a:prstGeom prst="rect">
            <a:avLst/>
          </a:prstGeom>
          <a:solidFill>
            <a:srgbClr val="FFFF00"/>
          </a:solidFill>
        </p:spPr>
        <p:txBody>
          <a:bodyPr wrap="square">
            <a:spAutoFit/>
          </a:bodyPr>
          <a:lstStyle/>
          <a:p>
            <a:r>
              <a:rPr lang="es-ES" b="1" dirty="0"/>
              <a:t>Hallamos la mayor penalidad</a:t>
            </a:r>
            <a:endParaRPr lang="es-PE" b="1" dirty="0"/>
          </a:p>
        </p:txBody>
      </p:sp>
      <p:sp>
        <p:nvSpPr>
          <p:cNvPr id="11" name="CuadroTexto 10">
            <a:extLst>
              <a:ext uri="{FF2B5EF4-FFF2-40B4-BE49-F238E27FC236}">
                <a16:creationId xmlns:a16="http://schemas.microsoft.com/office/drawing/2014/main" id="{AE32664B-2201-48CB-AE17-C847F82E7D95}"/>
              </a:ext>
            </a:extLst>
          </p:cNvPr>
          <p:cNvSpPr txBox="1"/>
          <p:nvPr/>
        </p:nvSpPr>
        <p:spPr>
          <a:xfrm>
            <a:off x="264551" y="4198193"/>
            <a:ext cx="1380226" cy="646331"/>
          </a:xfrm>
          <a:prstGeom prst="rect">
            <a:avLst/>
          </a:prstGeom>
          <a:solidFill>
            <a:srgbClr val="FFFF00"/>
          </a:solidFill>
        </p:spPr>
        <p:txBody>
          <a:bodyPr wrap="square" rtlCol="0">
            <a:spAutoFit/>
          </a:bodyPr>
          <a:lstStyle/>
          <a:p>
            <a:r>
              <a:rPr lang="es-ES" b="1" dirty="0"/>
              <a:t>Hallamos el menor costo</a:t>
            </a:r>
          </a:p>
        </p:txBody>
      </p:sp>
      <p:sp>
        <p:nvSpPr>
          <p:cNvPr id="12" name="CuadroTexto 11">
            <a:extLst>
              <a:ext uri="{FF2B5EF4-FFF2-40B4-BE49-F238E27FC236}">
                <a16:creationId xmlns:a16="http://schemas.microsoft.com/office/drawing/2014/main" id="{E0ADE486-1B56-46B1-A4AF-449B28F5D8B9}"/>
              </a:ext>
            </a:extLst>
          </p:cNvPr>
          <p:cNvSpPr txBox="1"/>
          <p:nvPr/>
        </p:nvSpPr>
        <p:spPr>
          <a:xfrm>
            <a:off x="264551" y="5086705"/>
            <a:ext cx="1380226" cy="646331"/>
          </a:xfrm>
          <a:prstGeom prst="rect">
            <a:avLst/>
          </a:prstGeom>
          <a:solidFill>
            <a:srgbClr val="FFFF00"/>
          </a:solidFill>
        </p:spPr>
        <p:txBody>
          <a:bodyPr wrap="square" rtlCol="0">
            <a:spAutoFit/>
          </a:bodyPr>
          <a:lstStyle/>
          <a:p>
            <a:r>
              <a:rPr lang="es-ES" b="1" dirty="0"/>
              <a:t>Anotamos la operación</a:t>
            </a:r>
          </a:p>
        </p:txBody>
      </p:sp>
      <p:sp>
        <p:nvSpPr>
          <p:cNvPr id="3" name="Globo: flecha hacia abajo 2">
            <a:extLst>
              <a:ext uri="{FF2B5EF4-FFF2-40B4-BE49-F238E27FC236}">
                <a16:creationId xmlns:a16="http://schemas.microsoft.com/office/drawing/2014/main" id="{6958898B-207F-B333-D2CE-50C66D7B12F9}"/>
              </a:ext>
            </a:extLst>
          </p:cNvPr>
          <p:cNvSpPr/>
          <p:nvPr/>
        </p:nvSpPr>
        <p:spPr>
          <a:xfrm>
            <a:off x="276044" y="1276709"/>
            <a:ext cx="1345721" cy="897148"/>
          </a:xfrm>
          <a:prstGeom prst="downArrowCallou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rgbClr val="FF0000"/>
                </a:solidFill>
              </a:rPr>
              <a:t>Pasos:</a:t>
            </a:r>
            <a:endParaRPr lang="es-PE" sz="2400" dirty="0">
              <a:solidFill>
                <a:srgbClr val="FF0000"/>
              </a:solidFill>
            </a:endParaRPr>
          </a:p>
        </p:txBody>
      </p:sp>
    </p:spTree>
    <p:extLst>
      <p:ext uri="{BB962C8B-B14F-4D97-AF65-F5344CB8AC3E}">
        <p14:creationId xmlns:p14="http://schemas.microsoft.com/office/powerpoint/2010/main" val="4541153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1" name="CustomShape 1"/>
          <p:cNvSpPr/>
          <p:nvPr/>
        </p:nvSpPr>
        <p:spPr>
          <a:xfrm>
            <a:off x="1524000" y="239400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1012" name="Table 2"/>
          <p:cNvGraphicFramePr/>
          <p:nvPr>
            <p:extLst>
              <p:ext uri="{D42A27DB-BD31-4B8C-83A1-F6EECF244321}">
                <p14:modId xmlns:p14="http://schemas.microsoft.com/office/powerpoint/2010/main" val="3512192304"/>
              </p:ext>
            </p:extLst>
          </p:nvPr>
        </p:nvGraphicFramePr>
        <p:xfrm>
          <a:off x="1952760" y="1275081"/>
          <a:ext cx="8500680" cy="3503209"/>
        </p:xfrm>
        <a:graphic>
          <a:graphicData uri="http://schemas.openxmlformats.org/drawingml/2006/table">
            <a:tbl>
              <a:tblPr/>
              <a:tblGrid>
                <a:gridCol w="1228320">
                  <a:extLst>
                    <a:ext uri="{9D8B030D-6E8A-4147-A177-3AD203B41FA5}">
                      <a16:colId xmlns:a16="http://schemas.microsoft.com/office/drawing/2014/main" val="20000"/>
                    </a:ext>
                  </a:extLst>
                </a:gridCol>
                <a:gridCol w="883440">
                  <a:extLst>
                    <a:ext uri="{9D8B030D-6E8A-4147-A177-3AD203B41FA5}">
                      <a16:colId xmlns:a16="http://schemas.microsoft.com/office/drawing/2014/main" val="20001"/>
                    </a:ext>
                  </a:extLst>
                </a:gridCol>
                <a:gridCol w="981000">
                  <a:extLst>
                    <a:ext uri="{9D8B030D-6E8A-4147-A177-3AD203B41FA5}">
                      <a16:colId xmlns:a16="http://schemas.microsoft.com/office/drawing/2014/main" val="20002"/>
                    </a:ext>
                  </a:extLst>
                </a:gridCol>
                <a:gridCol w="1091160">
                  <a:extLst>
                    <a:ext uri="{9D8B030D-6E8A-4147-A177-3AD203B41FA5}">
                      <a16:colId xmlns:a16="http://schemas.microsoft.com/office/drawing/2014/main" val="20003"/>
                    </a:ext>
                  </a:extLst>
                </a:gridCol>
                <a:gridCol w="891720">
                  <a:extLst>
                    <a:ext uri="{9D8B030D-6E8A-4147-A177-3AD203B41FA5}">
                      <a16:colId xmlns:a16="http://schemas.microsoft.com/office/drawing/2014/main" val="20004"/>
                    </a:ext>
                  </a:extLst>
                </a:gridCol>
                <a:gridCol w="868320">
                  <a:extLst>
                    <a:ext uri="{9D8B030D-6E8A-4147-A177-3AD203B41FA5}">
                      <a16:colId xmlns:a16="http://schemas.microsoft.com/office/drawing/2014/main" val="20005"/>
                    </a:ext>
                  </a:extLst>
                </a:gridCol>
                <a:gridCol w="667800">
                  <a:extLst>
                    <a:ext uri="{9D8B030D-6E8A-4147-A177-3AD203B41FA5}">
                      <a16:colId xmlns:a16="http://schemas.microsoft.com/office/drawing/2014/main" val="20006"/>
                    </a:ext>
                  </a:extLst>
                </a:gridCol>
                <a:gridCol w="569880">
                  <a:extLst>
                    <a:ext uri="{9D8B030D-6E8A-4147-A177-3AD203B41FA5}">
                      <a16:colId xmlns:a16="http://schemas.microsoft.com/office/drawing/2014/main" val="20007"/>
                    </a:ext>
                  </a:extLst>
                </a:gridCol>
                <a:gridCol w="658800">
                  <a:extLst>
                    <a:ext uri="{9D8B030D-6E8A-4147-A177-3AD203B41FA5}">
                      <a16:colId xmlns:a16="http://schemas.microsoft.com/office/drawing/2014/main" val="20008"/>
                    </a:ext>
                  </a:extLst>
                </a:gridCol>
                <a:gridCol w="660240">
                  <a:extLst>
                    <a:ext uri="{9D8B030D-6E8A-4147-A177-3AD203B41FA5}">
                      <a16:colId xmlns:a16="http://schemas.microsoft.com/office/drawing/2014/main" val="20009"/>
                    </a:ext>
                  </a:extLst>
                </a:gridCol>
              </a:tblGrid>
              <a:tr h="424729">
                <a:tc>
                  <a:txBody>
                    <a:bodyPr/>
                    <a:lstStyle/>
                    <a:p>
                      <a:endParaRPr lang="en-US" sz="2000"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dirty="0">
                          <a:solidFill>
                            <a:schemeClr val="bg2">
                              <a:lumMod val="25000"/>
                            </a:schemeClr>
                          </a:solidFill>
                          <a:latin typeface="Arial Narrow"/>
                        </a:rPr>
                        <a:t>Dallas</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a:solidFill>
                            <a:schemeClr val="bg2">
                              <a:lumMod val="25000"/>
                            </a:schemeClr>
                          </a:solidFill>
                          <a:latin typeface="Arial Narrow"/>
                        </a:rPr>
                        <a:t>Denver</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a:solidFill>
                            <a:schemeClr val="bg2">
                              <a:lumMod val="25000"/>
                            </a:schemeClr>
                          </a:solidFill>
                          <a:latin typeface="Arial Narrow"/>
                        </a:rPr>
                        <a:t>Phoenix</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a:solidFill>
                            <a:schemeClr val="bg2">
                              <a:lumMod val="25000"/>
                            </a:schemeClr>
                          </a:solidFill>
                          <a:latin typeface="Arial Narrow"/>
                        </a:rPr>
                        <a:t>Miami</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dirty="0">
                          <a:solidFill>
                            <a:schemeClr val="bg2">
                              <a:lumMod val="25000"/>
                            </a:schemeClr>
                          </a:solidFill>
                          <a:latin typeface="Arial Narrow"/>
                        </a:rPr>
                        <a:t>Oferta</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000" b="1" strike="noStrike" spc="-1">
                          <a:solidFill>
                            <a:schemeClr val="bg2">
                              <a:lumMod val="25000"/>
                            </a:schemeClr>
                          </a:solidFill>
                          <a:latin typeface="Arial Narrow"/>
                        </a:rPr>
                        <a:t>P</a:t>
                      </a:r>
                      <a:r>
                        <a:rPr lang="es-PE" sz="2000" b="1" strike="noStrike" spc="-1" baseline="-30000">
                          <a:solidFill>
                            <a:schemeClr val="bg2">
                              <a:lumMod val="25000"/>
                            </a:schemeClr>
                          </a:solidFill>
                          <a:latin typeface="Arial Narrow"/>
                        </a:rPr>
                        <a:t>1</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000" b="1" strike="noStrike" spc="-1">
                          <a:solidFill>
                            <a:schemeClr val="bg2">
                              <a:lumMod val="25000"/>
                            </a:schemeClr>
                          </a:solidFill>
                          <a:latin typeface="Arial Narrow"/>
                        </a:rPr>
                        <a:t>P</a:t>
                      </a:r>
                      <a:r>
                        <a:rPr lang="es-PE" sz="2000" b="1" strike="noStrike" spc="-1" baseline="-30000">
                          <a:solidFill>
                            <a:schemeClr val="bg2">
                              <a:lumMod val="25000"/>
                            </a:schemeClr>
                          </a:solidFill>
                          <a:latin typeface="Arial Narrow"/>
                        </a:rPr>
                        <a:t>2</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000" b="1" strike="noStrike" spc="-1">
                          <a:solidFill>
                            <a:schemeClr val="bg2">
                              <a:lumMod val="25000"/>
                            </a:schemeClr>
                          </a:solidFill>
                          <a:latin typeface="Arial Narrow"/>
                        </a:rPr>
                        <a:t>P</a:t>
                      </a:r>
                      <a:r>
                        <a:rPr lang="es-PE" sz="2000" b="1" strike="noStrike" spc="-1" baseline="-30000">
                          <a:solidFill>
                            <a:schemeClr val="bg2">
                              <a:lumMod val="25000"/>
                            </a:schemeClr>
                          </a:solidFill>
                          <a:latin typeface="Arial Narrow"/>
                        </a:rPr>
                        <a:t>3</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r">
                        <a:lnSpc>
                          <a:spcPct val="95000"/>
                        </a:lnSpc>
                      </a:pPr>
                      <a:r>
                        <a:rPr lang="es-PE" sz="2000" b="1" strike="noStrike" spc="-1">
                          <a:solidFill>
                            <a:schemeClr val="bg2">
                              <a:lumMod val="25000"/>
                            </a:schemeClr>
                          </a:solidFill>
                          <a:latin typeface="Arial Narrow"/>
                        </a:rPr>
                        <a:t>P</a:t>
                      </a:r>
                      <a:r>
                        <a:rPr lang="es-PE" sz="2000" b="1" strike="noStrike" spc="-1" baseline="-30000">
                          <a:solidFill>
                            <a:schemeClr val="bg2">
                              <a:lumMod val="25000"/>
                            </a:schemeClr>
                          </a:solidFill>
                          <a:latin typeface="Arial Narrow"/>
                        </a:rPr>
                        <a:t>4</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628733">
                <a:tc>
                  <a:txBody>
                    <a:bodyPr/>
                    <a:lstStyle/>
                    <a:p>
                      <a:pPr algn="ctr">
                        <a:lnSpc>
                          <a:spcPct val="95000"/>
                        </a:lnSpc>
                      </a:pPr>
                      <a:r>
                        <a:rPr lang="es-PE" sz="2000" b="1" strike="noStrike" spc="-1" dirty="0">
                          <a:solidFill>
                            <a:schemeClr val="bg2">
                              <a:lumMod val="25000"/>
                            </a:schemeClr>
                          </a:solidFill>
                          <a:latin typeface="Arial Narrow"/>
                        </a:rPr>
                        <a:t>Nueva York</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dirty="0">
                          <a:solidFill>
                            <a:schemeClr val="bg2">
                              <a:lumMod val="25000"/>
                            </a:schemeClr>
                          </a:solidFill>
                          <a:latin typeface="Arial Narrow"/>
                        </a:rPr>
                        <a:t>1600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95000"/>
                        </a:lnSpc>
                      </a:pPr>
                      <a:r>
                        <a:rPr lang="es-PE" sz="2000" b="1" strike="noStrike" spc="-1" dirty="0">
                          <a:solidFill>
                            <a:schemeClr val="bg2">
                              <a:lumMod val="25000"/>
                            </a:schemeClr>
                          </a:solidFill>
                          <a:latin typeface="Arial Narrow"/>
                        </a:rPr>
                        <a:t>1800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000" b="1" strike="noStrike" spc="-1">
                          <a:solidFill>
                            <a:schemeClr val="bg2">
                              <a:lumMod val="25000"/>
                            </a:schemeClr>
                          </a:solidFill>
                          <a:latin typeface="Arial Narrow"/>
                        </a:rPr>
                        <a:t>2500</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000" b="1" strike="noStrike" spc="-1">
                          <a:solidFill>
                            <a:schemeClr val="bg2">
                              <a:lumMod val="25000"/>
                            </a:schemeClr>
                          </a:solidFill>
                          <a:latin typeface="Arial Narrow"/>
                        </a:rPr>
                        <a:t>1300</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000" b="1" strike="noStrike" spc="-1" dirty="0">
                          <a:solidFill>
                            <a:schemeClr val="bg2">
                              <a:lumMod val="25000"/>
                            </a:schemeClr>
                          </a:solidFill>
                          <a:latin typeface="Arial Narrow"/>
                        </a:rPr>
                        <a:t>3</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a:solidFill>
                            <a:schemeClr val="bg2">
                              <a:lumMod val="25000"/>
                            </a:schemeClr>
                          </a:solidFill>
                          <a:latin typeface="Arial Narrow"/>
                        </a:rPr>
                        <a:t>300</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a:solidFill>
                            <a:schemeClr val="bg2">
                              <a:lumMod val="25000"/>
                            </a:schemeClr>
                          </a:solidFill>
                          <a:latin typeface="Arial Narrow"/>
                        </a:rPr>
                        <a:t>200</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a:solidFill>
                            <a:schemeClr val="bg2">
                              <a:lumMod val="25000"/>
                            </a:schemeClr>
                          </a:solidFill>
                          <a:latin typeface="Arial Narrow"/>
                        </a:rPr>
                        <a:t>200</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dirty="0">
                          <a:solidFill>
                            <a:srgbClr val="FF0000"/>
                          </a:solidFill>
                          <a:latin typeface="Arial Narrow"/>
                        </a:rPr>
                        <a:t>200</a:t>
                      </a:r>
                      <a:endParaRPr lang="es-PE" sz="20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628733">
                <a:tc>
                  <a:txBody>
                    <a:bodyPr/>
                    <a:lstStyle/>
                    <a:p>
                      <a:pPr algn="ctr">
                        <a:lnSpc>
                          <a:spcPct val="95000"/>
                        </a:lnSpc>
                      </a:pPr>
                      <a:r>
                        <a:rPr lang="es-PE" sz="2000" b="1" strike="noStrike" spc="-1">
                          <a:solidFill>
                            <a:schemeClr val="bg2">
                              <a:lumMod val="25000"/>
                            </a:schemeClr>
                          </a:solidFill>
                          <a:latin typeface="Arial Narrow"/>
                        </a:rPr>
                        <a:t>Chicago</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a:solidFill>
                            <a:schemeClr val="bg2">
                              <a:lumMod val="25000"/>
                            </a:schemeClr>
                          </a:solidFill>
                          <a:latin typeface="Arial Narrow"/>
                        </a:rPr>
                        <a:t>900</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95000"/>
                        </a:lnSpc>
                      </a:pPr>
                      <a:r>
                        <a:rPr lang="es-PE" sz="2000" b="1" strike="noStrike" spc="-1" dirty="0">
                          <a:solidFill>
                            <a:schemeClr val="bg2">
                              <a:lumMod val="25000"/>
                            </a:schemeClr>
                          </a:solidFill>
                          <a:latin typeface="Arial Narrow"/>
                        </a:rPr>
                        <a:t>1000</a:t>
                      </a:r>
                      <a:endParaRPr lang="es-PE" sz="2000" b="0" strike="noStrike" spc="-1" dirty="0">
                        <a:solidFill>
                          <a:schemeClr val="bg2">
                            <a:lumMod val="25000"/>
                          </a:schemeClr>
                        </a:solidFill>
                        <a:latin typeface="Arial"/>
                      </a:endParaRPr>
                    </a:p>
                    <a:p>
                      <a:pPr algn="ctr">
                        <a:lnSpc>
                          <a:spcPct val="95000"/>
                        </a:lnSpc>
                      </a:pPr>
                      <a:r>
                        <a:rPr lang="es-PE" sz="2000" b="1" strike="noStrike" spc="-1" dirty="0">
                          <a:solidFill>
                            <a:schemeClr val="bg2">
                              <a:lumMod val="25000"/>
                            </a:schemeClr>
                          </a:solidFill>
                          <a:latin typeface="Arial Narrow"/>
                        </a:rPr>
                        <a:t>*</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000" b="1" strike="noStrike" spc="-1">
                          <a:solidFill>
                            <a:schemeClr val="bg2">
                              <a:lumMod val="25000"/>
                            </a:schemeClr>
                          </a:solidFill>
                          <a:latin typeface="Arial Narrow"/>
                        </a:rPr>
                        <a:t>1800</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000" b="1" strike="noStrike" spc="-1" dirty="0">
                          <a:solidFill>
                            <a:schemeClr val="bg2">
                              <a:lumMod val="25000"/>
                            </a:schemeClr>
                          </a:solidFill>
                          <a:latin typeface="Arial Narrow"/>
                        </a:rPr>
                        <a:t>1400</a:t>
                      </a:r>
                      <a:endParaRPr lang="es-PE" sz="2000" b="0" strike="noStrike" spc="-1" dirty="0">
                        <a:solidFill>
                          <a:schemeClr val="bg2">
                            <a:lumMod val="25000"/>
                          </a:schemeClr>
                        </a:solidFill>
                        <a:latin typeface="Arial"/>
                      </a:endParaRPr>
                    </a:p>
                    <a:p>
                      <a:pPr algn="ctr">
                        <a:lnSpc>
                          <a:spcPct val="95000"/>
                        </a:lnSpc>
                      </a:pP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000" b="1" strike="noStrike" spc="-1" dirty="0">
                          <a:solidFill>
                            <a:schemeClr val="bg2">
                              <a:lumMod val="25000"/>
                            </a:schemeClr>
                          </a:solidFill>
                          <a:latin typeface="Arial Narrow"/>
                        </a:rPr>
                        <a:t>2</a:t>
                      </a:r>
                      <a:endParaRPr lang="es-PE" sz="2000" b="0" strike="noStrike" spc="-1" dirty="0">
                        <a:solidFill>
                          <a:schemeClr val="bg2">
                            <a:lumMod val="25000"/>
                          </a:schemeClr>
                        </a:solidFill>
                        <a:latin typeface="Arial"/>
                      </a:endParaRPr>
                    </a:p>
                    <a:p>
                      <a:pPr algn="ctr">
                        <a:lnSpc>
                          <a:spcPct val="95000"/>
                        </a:lnSpc>
                      </a:pPr>
                      <a:r>
                        <a:rPr lang="es-PE" sz="2000" b="1" strike="noStrike" spc="-1" dirty="0">
                          <a:solidFill>
                            <a:schemeClr val="bg2">
                              <a:lumMod val="25000"/>
                            </a:schemeClr>
                          </a:solidFill>
                          <a:latin typeface="Arial Narrow"/>
                        </a:rPr>
                        <a:t>1</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dirty="0">
                          <a:solidFill>
                            <a:schemeClr val="bg2">
                              <a:lumMod val="25000"/>
                            </a:schemeClr>
                          </a:solidFill>
                          <a:latin typeface="Arial Narrow"/>
                        </a:rPr>
                        <a:t>100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a:solidFill>
                            <a:schemeClr val="bg2">
                              <a:lumMod val="25000"/>
                            </a:schemeClr>
                          </a:solidFill>
                          <a:latin typeface="Arial Narrow"/>
                        </a:rPr>
                        <a:t>100</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dirty="0">
                          <a:solidFill>
                            <a:schemeClr val="bg2">
                              <a:lumMod val="25000"/>
                            </a:schemeClr>
                          </a:solidFill>
                          <a:latin typeface="Arial Narrow"/>
                        </a:rPr>
                        <a:t>100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dirty="0">
                          <a:solidFill>
                            <a:srgbClr val="FF0000"/>
                          </a:solidFill>
                          <a:latin typeface="Arial Narrow"/>
                        </a:rPr>
                        <a:t>100</a:t>
                      </a:r>
                      <a:endParaRPr lang="es-PE" sz="20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628733">
                <a:tc>
                  <a:txBody>
                    <a:bodyPr/>
                    <a:lstStyle/>
                    <a:p>
                      <a:pPr algn="ctr">
                        <a:lnSpc>
                          <a:spcPct val="95000"/>
                        </a:lnSpc>
                      </a:pPr>
                      <a:r>
                        <a:rPr lang="es-PE" sz="2000" b="1" strike="noStrike" spc="-1">
                          <a:solidFill>
                            <a:schemeClr val="bg2">
                              <a:lumMod val="25000"/>
                            </a:schemeClr>
                          </a:solidFill>
                          <a:latin typeface="Arial Narrow"/>
                        </a:rPr>
                        <a:t>Los Angeles</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dirty="0">
                          <a:solidFill>
                            <a:schemeClr val="bg2">
                              <a:lumMod val="25000"/>
                            </a:schemeClr>
                          </a:solidFill>
                          <a:latin typeface="Arial Narrow"/>
                        </a:rPr>
                        <a:t>1400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000" b="1" strike="noStrike" spc="-1" dirty="0">
                          <a:solidFill>
                            <a:schemeClr val="bg2">
                              <a:lumMod val="25000"/>
                            </a:schemeClr>
                          </a:solidFill>
                          <a:latin typeface="Arial Narrow"/>
                        </a:rPr>
                        <a:t>1000</a:t>
                      </a:r>
                      <a:endParaRPr lang="es-PE" sz="2000" b="0" strike="noStrike" spc="-1" dirty="0">
                        <a:solidFill>
                          <a:schemeClr val="bg2">
                            <a:lumMod val="25000"/>
                          </a:schemeClr>
                        </a:solidFill>
                        <a:latin typeface="Arial"/>
                      </a:endParaRPr>
                    </a:p>
                    <a:p>
                      <a:pPr algn="ctr">
                        <a:lnSpc>
                          <a:spcPct val="95000"/>
                        </a:lnSpc>
                      </a:pPr>
                      <a:r>
                        <a:rPr lang="es-PE" sz="2000" b="1" strike="noStrike" spc="-1" dirty="0">
                          <a:solidFill>
                            <a:schemeClr val="bg2">
                              <a:lumMod val="25000"/>
                            </a:schemeClr>
                          </a:solidFill>
                          <a:latin typeface="Arial Narrow"/>
                        </a:rPr>
                        <a:t>*</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000" b="1" strike="noStrike" spc="-1" dirty="0">
                          <a:solidFill>
                            <a:schemeClr val="bg2">
                              <a:lumMod val="25000"/>
                            </a:schemeClr>
                          </a:solidFill>
                          <a:latin typeface="Arial Narrow"/>
                        </a:rPr>
                        <a:t>400</a:t>
                      </a:r>
                      <a:endParaRPr lang="es-PE" sz="2000" b="0" strike="noStrike" spc="-1" dirty="0">
                        <a:solidFill>
                          <a:schemeClr val="bg2">
                            <a:lumMod val="25000"/>
                          </a:schemeClr>
                        </a:solidFill>
                        <a:latin typeface="Arial"/>
                      </a:endParaRPr>
                    </a:p>
                    <a:p>
                      <a:pPr algn="ctr">
                        <a:lnSpc>
                          <a:spcPct val="95000"/>
                        </a:lnSpc>
                      </a:pPr>
                      <a:r>
                        <a:rPr lang="es-PE" sz="2000" b="1" strike="noStrike" spc="-1" dirty="0">
                          <a:solidFill>
                            <a:schemeClr val="bg2">
                              <a:lumMod val="25000"/>
                            </a:schemeClr>
                          </a:solidFill>
                          <a:latin typeface="Arial Narrow"/>
                        </a:rPr>
                        <a:t>*</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000" b="1" strike="noStrike" spc="-1">
                          <a:solidFill>
                            <a:schemeClr val="bg2">
                              <a:lumMod val="25000"/>
                            </a:schemeClr>
                          </a:solidFill>
                          <a:latin typeface="Arial Narrow"/>
                        </a:rPr>
                        <a:t>2700</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95000"/>
                        </a:lnSpc>
                      </a:pPr>
                      <a:r>
                        <a:rPr lang="es-PE" sz="2000" b="1" strike="noStrike" spc="-1">
                          <a:solidFill>
                            <a:schemeClr val="bg2">
                              <a:lumMod val="25000"/>
                            </a:schemeClr>
                          </a:solidFill>
                          <a:latin typeface="Arial Narrow"/>
                        </a:rPr>
                        <a:t>3/1/0</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PE" sz="2000" b="1" strike="noStrike" spc="-1" dirty="0">
                          <a:solidFill>
                            <a:schemeClr val="bg2">
                              <a:lumMod val="25000"/>
                            </a:schemeClr>
                          </a:solidFill>
                          <a:latin typeface="Arial Narrow"/>
                        </a:rPr>
                        <a:t>600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PE" sz="2000" b="1" strike="noStrike" spc="-1" dirty="0">
                          <a:solidFill>
                            <a:schemeClr val="bg2">
                              <a:lumMod val="25000"/>
                            </a:schemeClr>
                          </a:solidFill>
                          <a:latin typeface="Arial Narrow"/>
                        </a:rPr>
                        <a:t>600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PE" sz="2000" b="1" strike="noStrike" spc="-1" dirty="0">
                          <a:solidFill>
                            <a:schemeClr val="bg2">
                              <a:lumMod val="25000"/>
                            </a:schemeClr>
                          </a:solidFill>
                          <a:latin typeface="Arial Narrow"/>
                        </a:rPr>
                        <a:t>400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tc>
                  <a:txBody>
                    <a:bodyPr/>
                    <a:lstStyle/>
                    <a:p>
                      <a:endParaRPr lang="en-US" sz="2000"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628733">
                <a:tc>
                  <a:txBody>
                    <a:bodyPr/>
                    <a:lstStyle/>
                    <a:p>
                      <a:pPr algn="ctr">
                        <a:lnSpc>
                          <a:spcPct val="95000"/>
                        </a:lnSpc>
                      </a:pPr>
                      <a:r>
                        <a:rPr lang="es-PE" sz="2000" b="1" strike="noStrike" spc="-1">
                          <a:solidFill>
                            <a:schemeClr val="bg2">
                              <a:lumMod val="25000"/>
                            </a:schemeClr>
                          </a:solidFill>
                          <a:latin typeface="Arial Narrow"/>
                        </a:rPr>
                        <a:t>Figurado</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dirty="0">
                          <a:solidFill>
                            <a:schemeClr val="bg2">
                              <a:lumMod val="25000"/>
                            </a:schemeClr>
                          </a:solidFill>
                          <a:latin typeface="Arial Narrow"/>
                        </a:rPr>
                        <a:t>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000" b="1" strike="noStrike" spc="-1">
                          <a:solidFill>
                            <a:schemeClr val="bg2">
                              <a:lumMod val="25000"/>
                            </a:schemeClr>
                          </a:solidFill>
                          <a:latin typeface="Arial Narrow"/>
                        </a:rPr>
                        <a:t>0</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000" b="1" strike="noStrike" spc="-1" dirty="0">
                          <a:solidFill>
                            <a:schemeClr val="bg2">
                              <a:lumMod val="25000"/>
                            </a:schemeClr>
                          </a:solidFill>
                          <a:latin typeface="Arial Narrow"/>
                        </a:rPr>
                        <a:t>0</a:t>
                      </a:r>
                      <a:endParaRPr lang="es-PE" sz="2000" b="0" strike="noStrike" spc="-1" dirty="0">
                        <a:solidFill>
                          <a:schemeClr val="bg2">
                            <a:lumMod val="25000"/>
                          </a:schemeClr>
                        </a:solidFill>
                        <a:latin typeface="Arial"/>
                      </a:endParaRPr>
                    </a:p>
                  </a:txBody>
                  <a:tcPr>
                    <a:lnL w="12240">
                      <a:solidFill>
                        <a:srgbClr val="000000"/>
                      </a:solidFill>
                    </a:lnL>
                    <a:lnR w="12240">
                      <a:solidFill>
                        <a:srgbClr val="1D528D"/>
                      </a:solidFill>
                    </a:lnR>
                    <a:lnT w="12240">
                      <a:solidFill>
                        <a:srgbClr val="000000"/>
                      </a:solidFill>
                    </a:lnT>
                    <a:lnB w="12240">
                      <a:solidFill>
                        <a:srgbClr val="000000"/>
                      </a:solidFill>
                    </a:lnB>
                    <a:solidFill>
                      <a:schemeClr val="tx1"/>
                    </a:solidFill>
                  </a:tcPr>
                </a:tc>
                <a:tc>
                  <a:txBody>
                    <a:bodyPr/>
                    <a:lstStyle/>
                    <a:p>
                      <a:pPr algn="ctr">
                        <a:lnSpc>
                          <a:spcPct val="95000"/>
                        </a:lnSpc>
                      </a:pPr>
                      <a:r>
                        <a:rPr lang="es-PE" sz="2000" b="1" strike="noStrike" spc="-1">
                          <a:solidFill>
                            <a:schemeClr val="bg2">
                              <a:lumMod val="25000"/>
                            </a:schemeClr>
                          </a:solidFill>
                          <a:latin typeface="Arial Narrow"/>
                        </a:rPr>
                        <a:t>0</a:t>
                      </a:r>
                      <a:endParaRPr lang="es-PE" sz="2000" b="0" strike="noStrike" spc="-1">
                        <a:solidFill>
                          <a:schemeClr val="bg2">
                            <a:lumMod val="25000"/>
                          </a:schemeClr>
                        </a:solidFill>
                        <a:latin typeface="Arial"/>
                      </a:endParaRPr>
                    </a:p>
                    <a:p>
                      <a:pPr algn="ctr">
                        <a:lnSpc>
                          <a:spcPct val="95000"/>
                        </a:lnSpc>
                      </a:pPr>
                      <a:r>
                        <a:rPr lang="es-PE" sz="2000" b="1" strike="noStrike" spc="-1">
                          <a:solidFill>
                            <a:schemeClr val="bg2">
                              <a:lumMod val="25000"/>
                            </a:schemeClr>
                          </a:solidFill>
                          <a:latin typeface="Arial Narrow"/>
                        </a:rPr>
                        <a:t>*</a:t>
                      </a:r>
                      <a:endParaRPr lang="es-PE" sz="2000" b="0" strike="noStrike" spc="-1">
                        <a:solidFill>
                          <a:schemeClr val="bg2">
                            <a:lumMod val="25000"/>
                          </a:schemeClr>
                        </a:solidFill>
                        <a:latin typeface="Arial"/>
                      </a:endParaRPr>
                    </a:p>
                  </a:txBody>
                  <a:tcPr>
                    <a:lnL w="12240">
                      <a:solidFill>
                        <a:srgbClr val="1D528D"/>
                      </a:solidFill>
                    </a:lnL>
                    <a:lnR w="12700" cap="flat" cmpd="sng" algn="ctr">
                      <a:solidFill>
                        <a:schemeClr val="tx1"/>
                      </a:solidFill>
                      <a:prstDash val="solid"/>
                      <a:round/>
                      <a:headEnd type="none" w="med" len="med"/>
                      <a:tailEnd type="none" w="med" len="med"/>
                    </a:lnR>
                    <a:lnT w="12240">
                      <a:solidFill>
                        <a:srgbClr val="000000"/>
                      </a:solidFill>
                    </a:lnT>
                    <a:lnB w="12240">
                      <a:solidFill>
                        <a:srgbClr val="000000"/>
                      </a:solidFill>
                    </a:lnB>
                    <a:solidFill>
                      <a:srgbClr val="000000"/>
                    </a:solidFill>
                  </a:tcPr>
                </a:tc>
                <a:tc>
                  <a:txBody>
                    <a:bodyPr/>
                    <a:lstStyle/>
                    <a:p>
                      <a:pPr algn="ctr">
                        <a:lnSpc>
                          <a:spcPct val="95000"/>
                        </a:lnSpc>
                        <a:spcBef>
                          <a:spcPts val="1199"/>
                        </a:spcBef>
                      </a:pPr>
                      <a:r>
                        <a:rPr lang="es-PE" sz="2000" b="1" strike="noStrike" spc="-1" dirty="0">
                          <a:solidFill>
                            <a:schemeClr val="bg2">
                              <a:lumMod val="25000"/>
                            </a:schemeClr>
                          </a:solidFill>
                          <a:latin typeface="Arial Narrow"/>
                        </a:rPr>
                        <a:t>2/0</a:t>
                      </a:r>
                      <a:endParaRPr lang="es-PE" sz="2000" b="0" strike="noStrike" spc="-1" dirty="0">
                        <a:solidFill>
                          <a:schemeClr val="bg2">
                            <a:lumMod val="25000"/>
                          </a:schemeClr>
                        </a:solidFill>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95000"/>
                        </a:lnSpc>
                        <a:spcBef>
                          <a:spcPts val="1199"/>
                        </a:spcBef>
                      </a:pPr>
                      <a:r>
                        <a:rPr lang="es-PE" sz="2000" b="1" strike="noStrike" spc="-1" dirty="0">
                          <a:solidFill>
                            <a:schemeClr val="bg2">
                              <a:lumMod val="25000"/>
                            </a:schemeClr>
                          </a:solidFill>
                          <a:latin typeface="Arial Narrow"/>
                        </a:rPr>
                        <a:t>0</a:t>
                      </a:r>
                      <a:endParaRPr lang="es-PE" sz="2000" b="0" strike="noStrike" spc="-1" dirty="0">
                        <a:solidFill>
                          <a:schemeClr val="bg2">
                            <a:lumMod val="25000"/>
                          </a:schemeClr>
                        </a:solidFill>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dirty="0">
                        <a:solidFill>
                          <a:schemeClr val="bg2">
                            <a:lumMod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dirty="0">
                        <a:solidFill>
                          <a:schemeClr val="bg2">
                            <a:lumMod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dirty="0">
                        <a:solidFill>
                          <a:schemeClr val="bg2">
                            <a:lumMod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62893">
                <a:tc>
                  <a:txBody>
                    <a:bodyPr/>
                    <a:lstStyle/>
                    <a:p>
                      <a:pPr algn="ctr">
                        <a:lnSpc>
                          <a:spcPct val="95000"/>
                        </a:lnSpc>
                      </a:pPr>
                      <a:r>
                        <a:rPr lang="es-PE" sz="2000" b="1" strike="noStrike" spc="-1" dirty="0">
                          <a:solidFill>
                            <a:schemeClr val="bg2">
                              <a:lumMod val="25000"/>
                            </a:schemeClr>
                          </a:solidFill>
                          <a:latin typeface="Arial Narrow"/>
                        </a:rPr>
                        <a:t>Demanda</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dirty="0">
                          <a:solidFill>
                            <a:schemeClr val="bg2">
                              <a:lumMod val="25000"/>
                            </a:schemeClr>
                          </a:solidFill>
                          <a:latin typeface="Arial Narrow"/>
                        </a:rPr>
                        <a:t>4</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dirty="0">
                          <a:solidFill>
                            <a:schemeClr val="bg2">
                              <a:lumMod val="25000"/>
                            </a:schemeClr>
                          </a:solidFill>
                          <a:latin typeface="Arial Narrow"/>
                        </a:rPr>
                        <a:t>2/1/0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dirty="0">
                          <a:solidFill>
                            <a:schemeClr val="bg2">
                              <a:lumMod val="25000"/>
                            </a:schemeClr>
                          </a:solidFill>
                          <a:latin typeface="Arial Narrow"/>
                        </a:rPr>
                        <a:t>2/0</a:t>
                      </a:r>
                      <a:endParaRPr lang="es-PE" sz="2000" b="0" strike="noStrike" spc="-1" dirty="0">
                        <a:solidFill>
                          <a:schemeClr val="bg2">
                            <a:lumMod val="25000"/>
                          </a:schemeClr>
                        </a:solidFill>
                        <a:latin typeface="Arial"/>
                      </a:endParaRPr>
                    </a:p>
                  </a:txBody>
                  <a:tcPr>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dirty="0">
                          <a:solidFill>
                            <a:schemeClr val="bg2">
                              <a:lumMod val="25000"/>
                            </a:schemeClr>
                          </a:solidFill>
                          <a:latin typeface="Arial Narrow"/>
                        </a:rPr>
                        <a:t>2/0</a:t>
                      </a:r>
                      <a:endParaRPr lang="es-PE" sz="2000" b="0" strike="noStrike" spc="-1" dirty="0">
                        <a:solidFill>
                          <a:schemeClr val="bg2">
                            <a:lumMod val="25000"/>
                          </a:schemeClr>
                        </a:solidFill>
                        <a:latin typeface="Arial"/>
                      </a:endParaRPr>
                    </a:p>
                  </a:txBody>
                  <a:tcPr>
                    <a:lnL w="12240">
                      <a:solidFill>
                        <a:srgbClr val="1D528D"/>
                      </a:solidFill>
                    </a:lnL>
                    <a:lnR w="12240">
                      <a:solidFill>
                        <a:srgbClr val="1D528D"/>
                      </a:solidFill>
                    </a:lnR>
                    <a:lnT w="12240">
                      <a:solidFill>
                        <a:srgbClr val="000000"/>
                      </a:solidFill>
                    </a:lnT>
                    <a:lnB w="12240">
                      <a:solidFill>
                        <a:srgbClr val="000000"/>
                      </a:solidFill>
                    </a:lnB>
                    <a:noFill/>
                  </a:tcPr>
                </a:tc>
                <a:tc>
                  <a:txBody>
                    <a:bodyPr/>
                    <a:lstStyle/>
                    <a:p>
                      <a:endParaRPr lang="en-US" sz="2000" dirty="0">
                        <a:solidFill>
                          <a:schemeClr val="bg2">
                            <a:lumMod val="25000"/>
                          </a:schemeClr>
                        </a:solidFill>
                      </a:endParaRPr>
                    </a:p>
                  </a:txBody>
                  <a:tcPr>
                    <a:lnL w="12240">
                      <a:solidFill>
                        <a:srgbClr val="1D528D"/>
                      </a:solid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sz="200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sz="200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sz="200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tc>
                  <a:txBody>
                    <a:bodyPr/>
                    <a:lstStyle/>
                    <a:p>
                      <a:endParaRPr lang="en-US" sz="2000" dirty="0">
                        <a:solidFill>
                          <a:schemeClr val="bg2">
                            <a:lumMod val="25000"/>
                          </a:schemeClr>
                        </a:solidFill>
                      </a:endParaRPr>
                    </a:p>
                  </a:txBody>
                  <a:tcPr>
                    <a:lnL w="12240">
                      <a:noFill/>
                    </a:lnL>
                    <a:lnR w="12240">
                      <a:noFill/>
                    </a:lnR>
                    <a:lnT w="12700" cap="flat" cmpd="sng" algn="ctr">
                      <a:solidFill>
                        <a:schemeClr val="tx1"/>
                      </a:solidFill>
                      <a:prstDash val="solid"/>
                      <a:round/>
                      <a:headEnd type="none" w="med" len="med"/>
                      <a:tailEnd type="none" w="med" len="med"/>
                    </a:lnT>
                    <a:lnB w="12240">
                      <a:noFill/>
                    </a:lnB>
                    <a:noFill/>
                  </a:tcPr>
                </a:tc>
                <a:extLst>
                  <a:ext uri="{0D108BD9-81ED-4DB2-BD59-A6C34878D82A}">
                    <a16:rowId xmlns:a16="http://schemas.microsoft.com/office/drawing/2014/main" val="10005"/>
                  </a:ext>
                </a:extLst>
              </a:tr>
            </a:tbl>
          </a:graphicData>
        </a:graphic>
      </p:graphicFrame>
      <p:sp>
        <p:nvSpPr>
          <p:cNvPr id="1013" name="CustomShape 3"/>
          <p:cNvSpPr/>
          <p:nvPr/>
        </p:nvSpPr>
        <p:spPr>
          <a:xfrm>
            <a:off x="1524000" y="2774880"/>
            <a:ext cx="9143640" cy="36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1014" name="Table 4"/>
          <p:cNvGraphicFramePr/>
          <p:nvPr>
            <p:extLst>
              <p:ext uri="{D42A27DB-BD31-4B8C-83A1-F6EECF244321}">
                <p14:modId xmlns:p14="http://schemas.microsoft.com/office/powerpoint/2010/main" val="4014020831"/>
              </p:ext>
            </p:extLst>
          </p:nvPr>
        </p:nvGraphicFramePr>
        <p:xfrm>
          <a:off x="1958196" y="4788075"/>
          <a:ext cx="5073908" cy="1979101"/>
        </p:xfrm>
        <a:graphic>
          <a:graphicData uri="http://schemas.openxmlformats.org/drawingml/2006/table">
            <a:tbl>
              <a:tblPr/>
              <a:tblGrid>
                <a:gridCol w="1233578">
                  <a:extLst>
                    <a:ext uri="{9D8B030D-6E8A-4147-A177-3AD203B41FA5}">
                      <a16:colId xmlns:a16="http://schemas.microsoft.com/office/drawing/2014/main" val="20000"/>
                    </a:ext>
                  </a:extLst>
                </a:gridCol>
                <a:gridCol w="879894">
                  <a:extLst>
                    <a:ext uri="{9D8B030D-6E8A-4147-A177-3AD203B41FA5}">
                      <a16:colId xmlns:a16="http://schemas.microsoft.com/office/drawing/2014/main" val="20001"/>
                    </a:ext>
                  </a:extLst>
                </a:gridCol>
                <a:gridCol w="974785">
                  <a:extLst>
                    <a:ext uri="{9D8B030D-6E8A-4147-A177-3AD203B41FA5}">
                      <a16:colId xmlns:a16="http://schemas.microsoft.com/office/drawing/2014/main" val="20002"/>
                    </a:ext>
                  </a:extLst>
                </a:gridCol>
                <a:gridCol w="1095555">
                  <a:extLst>
                    <a:ext uri="{9D8B030D-6E8A-4147-A177-3AD203B41FA5}">
                      <a16:colId xmlns:a16="http://schemas.microsoft.com/office/drawing/2014/main" val="20003"/>
                    </a:ext>
                  </a:extLst>
                </a:gridCol>
                <a:gridCol w="890096">
                  <a:extLst>
                    <a:ext uri="{9D8B030D-6E8A-4147-A177-3AD203B41FA5}">
                      <a16:colId xmlns:a16="http://schemas.microsoft.com/office/drawing/2014/main" val="20004"/>
                    </a:ext>
                  </a:extLst>
                </a:gridCol>
              </a:tblGrid>
              <a:tr h="545662">
                <a:tc>
                  <a:txBody>
                    <a:bodyPr/>
                    <a:lstStyle/>
                    <a:p>
                      <a:pPr algn="ctr">
                        <a:lnSpc>
                          <a:spcPct val="95000"/>
                        </a:lnSpc>
                      </a:pPr>
                      <a:r>
                        <a:rPr lang="es-PE" sz="2000" b="1" strike="noStrike" spc="-1" dirty="0" err="1">
                          <a:solidFill>
                            <a:schemeClr val="bg2">
                              <a:lumMod val="25000"/>
                            </a:schemeClr>
                          </a:solidFill>
                          <a:latin typeface="Arial Narrow"/>
                        </a:rPr>
                        <a:t>P</a:t>
                      </a:r>
                      <a:r>
                        <a:rPr lang="es-PE" sz="2000" b="1" strike="noStrike" spc="-1" baseline="-30000" dirty="0" err="1">
                          <a:solidFill>
                            <a:schemeClr val="bg2">
                              <a:lumMod val="25000"/>
                            </a:schemeClr>
                          </a:solidFill>
                          <a:latin typeface="Arial Narrow"/>
                        </a:rPr>
                        <a:t>1</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dirty="0">
                          <a:solidFill>
                            <a:schemeClr val="bg2">
                              <a:lumMod val="25000"/>
                            </a:schemeClr>
                          </a:solidFill>
                          <a:latin typeface="Arial Narrow"/>
                        </a:rPr>
                        <a:t>900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a:solidFill>
                            <a:schemeClr val="bg2">
                              <a:lumMod val="25000"/>
                            </a:schemeClr>
                          </a:solidFill>
                          <a:latin typeface="Arial Narrow"/>
                        </a:rPr>
                        <a:t>1000</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dirty="0">
                          <a:solidFill>
                            <a:schemeClr val="bg2">
                              <a:lumMod val="25000"/>
                            </a:schemeClr>
                          </a:solidFill>
                          <a:latin typeface="Arial Narrow"/>
                        </a:rPr>
                        <a:t>400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dirty="0">
                          <a:solidFill>
                            <a:schemeClr val="bg2">
                              <a:lumMod val="25000"/>
                            </a:schemeClr>
                          </a:solidFill>
                          <a:latin typeface="Arial Narrow"/>
                        </a:rPr>
                        <a:t>1300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442607">
                <a:tc>
                  <a:txBody>
                    <a:bodyPr/>
                    <a:lstStyle/>
                    <a:p>
                      <a:pPr algn="ctr">
                        <a:lnSpc>
                          <a:spcPct val="95000"/>
                        </a:lnSpc>
                      </a:pPr>
                      <a:r>
                        <a:rPr lang="es-PE" sz="2000" b="1" strike="noStrike" spc="-1" dirty="0" err="1">
                          <a:solidFill>
                            <a:schemeClr val="bg2">
                              <a:lumMod val="25000"/>
                            </a:schemeClr>
                          </a:solidFill>
                          <a:latin typeface="Arial Narrow"/>
                        </a:rPr>
                        <a:t>P</a:t>
                      </a:r>
                      <a:r>
                        <a:rPr lang="es-PE" sz="2000" b="1" strike="noStrike" spc="-1" baseline="-30000" dirty="0" err="1">
                          <a:solidFill>
                            <a:schemeClr val="bg2">
                              <a:lumMod val="25000"/>
                            </a:schemeClr>
                          </a:solidFill>
                          <a:latin typeface="Arial Narrow"/>
                        </a:rPr>
                        <a:t>2</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a:solidFill>
                            <a:schemeClr val="bg2">
                              <a:lumMod val="25000"/>
                            </a:schemeClr>
                          </a:solidFill>
                          <a:latin typeface="Arial Narrow"/>
                        </a:rPr>
                        <a:t>500</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a:solidFill>
                            <a:schemeClr val="bg2">
                              <a:lumMod val="25000"/>
                            </a:schemeClr>
                          </a:solidFill>
                          <a:latin typeface="Arial Narrow"/>
                        </a:rPr>
                        <a:t>800</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dirty="0">
                          <a:solidFill>
                            <a:schemeClr val="bg2">
                              <a:lumMod val="25000"/>
                            </a:schemeClr>
                          </a:solidFill>
                          <a:latin typeface="Arial Narrow"/>
                        </a:rPr>
                        <a:t>1400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000"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442607">
                <a:tc>
                  <a:txBody>
                    <a:bodyPr/>
                    <a:lstStyle/>
                    <a:p>
                      <a:pPr algn="ctr">
                        <a:lnSpc>
                          <a:spcPct val="95000"/>
                        </a:lnSpc>
                      </a:pPr>
                      <a:r>
                        <a:rPr lang="es-PE" sz="2000" b="1" strike="noStrike" spc="-1" dirty="0" err="1">
                          <a:solidFill>
                            <a:schemeClr val="bg2">
                              <a:lumMod val="25000"/>
                            </a:schemeClr>
                          </a:solidFill>
                          <a:latin typeface="Arial Narrow"/>
                        </a:rPr>
                        <a:t>P</a:t>
                      </a:r>
                      <a:r>
                        <a:rPr lang="es-PE" sz="2000" b="1" strike="noStrike" spc="-1" baseline="-30000" dirty="0" err="1">
                          <a:solidFill>
                            <a:schemeClr val="bg2">
                              <a:lumMod val="25000"/>
                            </a:schemeClr>
                          </a:solidFill>
                          <a:latin typeface="Arial Narrow"/>
                        </a:rPr>
                        <a:t>3</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spcBef>
                          <a:spcPts val="1199"/>
                        </a:spcBef>
                      </a:pPr>
                      <a:r>
                        <a:rPr lang="es-PE" sz="2000" b="1" strike="noStrike" spc="-1" dirty="0">
                          <a:solidFill>
                            <a:schemeClr val="bg2">
                              <a:lumMod val="25000"/>
                            </a:schemeClr>
                          </a:solidFill>
                          <a:latin typeface="Arial Narrow"/>
                        </a:rPr>
                        <a:t>500</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a:solidFill>
                            <a:schemeClr val="bg2">
                              <a:lumMod val="25000"/>
                            </a:schemeClr>
                          </a:solidFill>
                          <a:latin typeface="Arial Narrow"/>
                        </a:rPr>
                        <a:t>800</a:t>
                      </a:r>
                      <a:endParaRPr lang="es-PE" sz="2000" b="0" strike="noStrike" spc="-1">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000"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00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548225">
                <a:tc>
                  <a:txBody>
                    <a:bodyPr/>
                    <a:lstStyle/>
                    <a:p>
                      <a:pPr algn="ctr">
                        <a:lnSpc>
                          <a:spcPct val="95000"/>
                        </a:lnSpc>
                      </a:pPr>
                      <a:r>
                        <a:rPr lang="es-PE" sz="2000" b="1" strike="noStrike" spc="-1" dirty="0" err="1">
                          <a:solidFill>
                            <a:schemeClr val="bg2">
                              <a:lumMod val="25000"/>
                            </a:schemeClr>
                          </a:solidFill>
                          <a:latin typeface="Arial Narrow"/>
                        </a:rPr>
                        <a:t>P</a:t>
                      </a:r>
                      <a:r>
                        <a:rPr lang="es-PE" sz="2000" b="1" strike="noStrike" spc="-1" baseline="-30000" dirty="0" err="1">
                          <a:solidFill>
                            <a:schemeClr val="bg2">
                              <a:lumMod val="25000"/>
                            </a:schemeClr>
                          </a:solidFill>
                          <a:latin typeface="Arial Narrow"/>
                        </a:rPr>
                        <a:t>4</a:t>
                      </a:r>
                      <a:endParaRPr lang="es-PE" sz="2000" b="0" strike="noStrike" spc="-1" dirty="0">
                        <a:solidFill>
                          <a:schemeClr val="bg2">
                            <a:lumMod val="25000"/>
                          </a:schemeClr>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spcBef>
                          <a:spcPts val="1199"/>
                        </a:spcBef>
                      </a:pPr>
                      <a:r>
                        <a:rPr lang="es-PE" sz="2000" b="1" strike="noStrike" spc="-1" dirty="0">
                          <a:solidFill>
                            <a:srgbClr val="FF0000"/>
                          </a:solidFill>
                          <a:latin typeface="Arial Narrow"/>
                        </a:rPr>
                        <a:t>700</a:t>
                      </a:r>
                      <a:endParaRPr lang="es-PE" sz="20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95000"/>
                        </a:lnSpc>
                      </a:pPr>
                      <a:r>
                        <a:rPr lang="es-PE" sz="2000" b="1" strike="noStrike" spc="-1" dirty="0">
                          <a:solidFill>
                            <a:srgbClr val="FF0000"/>
                          </a:solidFill>
                          <a:latin typeface="Arial Narrow"/>
                        </a:rPr>
                        <a:t>800</a:t>
                      </a:r>
                      <a:endParaRPr lang="es-PE" sz="2000" b="0" strike="noStrike" spc="-1" dirty="0">
                        <a:solidFill>
                          <a:srgbClr val="FF0000"/>
                        </a:solid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000"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000" dirty="0">
                        <a:solidFill>
                          <a:schemeClr val="bg2">
                            <a:lumMod val="25000"/>
                          </a:schemeClr>
                        </a:solidFil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3"/>
                  </a:ext>
                </a:extLst>
              </a:tr>
            </a:tbl>
          </a:graphicData>
        </a:graphic>
      </p:graphicFrame>
      <p:graphicFrame>
        <p:nvGraphicFramePr>
          <p:cNvPr id="2" name="1 Diagrama"/>
          <p:cNvGraphicFramePr/>
          <p:nvPr>
            <p:extLst>
              <p:ext uri="{D42A27DB-BD31-4B8C-83A1-F6EECF244321}">
                <p14:modId xmlns:p14="http://schemas.microsoft.com/office/powerpoint/2010/main" val="559394470"/>
              </p:ext>
            </p:extLst>
          </p:nvPr>
        </p:nvGraphicFramePr>
        <p:xfrm>
          <a:off x="7810680" y="4477521"/>
          <a:ext cx="2356920" cy="2285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CustomShape 5">
            <a:extLst>
              <a:ext uri="{FF2B5EF4-FFF2-40B4-BE49-F238E27FC236}">
                <a16:creationId xmlns:a16="http://schemas.microsoft.com/office/drawing/2014/main" id="{54E3C167-328B-4F8C-8D92-3147DE697B13}"/>
              </a:ext>
            </a:extLst>
          </p:cNvPr>
          <p:cNvSpPr/>
          <p:nvPr/>
        </p:nvSpPr>
        <p:spPr>
          <a:xfrm>
            <a:off x="6096000" y="163488"/>
            <a:ext cx="6096000" cy="56304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lnSpc>
                <a:spcPts val="5800"/>
              </a:lnSpc>
              <a:spcBef>
                <a:spcPct val="0"/>
              </a:spcBef>
            </a:pPr>
            <a:r>
              <a:rPr lang="es-PE" sz="3200" dirty="0">
                <a:solidFill>
                  <a:schemeClr val="bg1"/>
                </a:solidFill>
                <a:effectLst>
                  <a:outerShdw blurRad="63500" dist="38100" dir="5400000" algn="t" rotWithShape="0">
                    <a:prstClr val="black">
                      <a:alpha val="25000"/>
                    </a:prstClr>
                  </a:outerShdw>
                </a:effectLst>
                <a:latin typeface="Bauhaus 93" pitchFamily="82" charset="0"/>
              </a:rPr>
              <a:t>Método Vogel</a:t>
            </a:r>
          </a:p>
        </p:txBody>
      </p:sp>
      <p:sp>
        <p:nvSpPr>
          <p:cNvPr id="3" name="Globo: flecha hacia abajo 2">
            <a:extLst>
              <a:ext uri="{FF2B5EF4-FFF2-40B4-BE49-F238E27FC236}">
                <a16:creationId xmlns:a16="http://schemas.microsoft.com/office/drawing/2014/main" id="{F7B533F9-0440-F67D-C9C6-2A0056E7C214}"/>
              </a:ext>
            </a:extLst>
          </p:cNvPr>
          <p:cNvSpPr/>
          <p:nvPr/>
        </p:nvSpPr>
        <p:spPr>
          <a:xfrm>
            <a:off x="276044" y="1276709"/>
            <a:ext cx="1345721" cy="897148"/>
          </a:xfrm>
          <a:prstGeom prst="downArrowCallou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rgbClr val="FF0000"/>
                </a:solidFill>
              </a:rPr>
              <a:t>Pasos:</a:t>
            </a:r>
            <a:endParaRPr lang="es-PE" sz="2400" dirty="0">
              <a:solidFill>
                <a:srgbClr val="FF0000"/>
              </a:solidFill>
            </a:endParaRPr>
          </a:p>
        </p:txBody>
      </p:sp>
      <p:sp>
        <p:nvSpPr>
          <p:cNvPr id="4" name="CuadroTexto 3">
            <a:extLst>
              <a:ext uri="{FF2B5EF4-FFF2-40B4-BE49-F238E27FC236}">
                <a16:creationId xmlns:a16="http://schemas.microsoft.com/office/drawing/2014/main" id="{77F6A1EE-40F7-A2DD-879C-87B2D12C74AD}"/>
              </a:ext>
            </a:extLst>
          </p:cNvPr>
          <p:cNvSpPr txBox="1"/>
          <p:nvPr/>
        </p:nvSpPr>
        <p:spPr>
          <a:xfrm>
            <a:off x="258793" y="2191109"/>
            <a:ext cx="1380226" cy="646331"/>
          </a:xfrm>
          <a:prstGeom prst="rect">
            <a:avLst/>
          </a:prstGeom>
          <a:solidFill>
            <a:srgbClr val="FFFF00"/>
          </a:solidFill>
        </p:spPr>
        <p:txBody>
          <a:bodyPr wrap="square" rtlCol="0">
            <a:spAutoFit/>
          </a:bodyPr>
          <a:lstStyle/>
          <a:p>
            <a:r>
              <a:rPr lang="es-ES" b="1" dirty="0"/>
              <a:t>Hallamos las penalidades</a:t>
            </a:r>
          </a:p>
        </p:txBody>
      </p:sp>
      <p:sp>
        <p:nvSpPr>
          <p:cNvPr id="5" name="Rectángulo 4">
            <a:extLst>
              <a:ext uri="{FF2B5EF4-FFF2-40B4-BE49-F238E27FC236}">
                <a16:creationId xmlns:a16="http://schemas.microsoft.com/office/drawing/2014/main" id="{7825E5B1-D089-F0FD-0C78-7B341D2B55C0}"/>
              </a:ext>
            </a:extLst>
          </p:cNvPr>
          <p:cNvSpPr/>
          <p:nvPr/>
        </p:nvSpPr>
        <p:spPr>
          <a:xfrm>
            <a:off x="258136" y="3054556"/>
            <a:ext cx="1372258" cy="923330"/>
          </a:xfrm>
          <a:prstGeom prst="rect">
            <a:avLst/>
          </a:prstGeom>
          <a:solidFill>
            <a:srgbClr val="FFFF00"/>
          </a:solidFill>
        </p:spPr>
        <p:txBody>
          <a:bodyPr wrap="square">
            <a:spAutoFit/>
          </a:bodyPr>
          <a:lstStyle/>
          <a:p>
            <a:r>
              <a:rPr lang="es-ES" b="1" dirty="0"/>
              <a:t>Hallamos la mayor penalidad</a:t>
            </a:r>
            <a:endParaRPr lang="es-PE" b="1" dirty="0"/>
          </a:p>
        </p:txBody>
      </p:sp>
      <p:sp>
        <p:nvSpPr>
          <p:cNvPr id="6" name="CuadroTexto 5">
            <a:extLst>
              <a:ext uri="{FF2B5EF4-FFF2-40B4-BE49-F238E27FC236}">
                <a16:creationId xmlns:a16="http://schemas.microsoft.com/office/drawing/2014/main" id="{0DD8BBFF-019D-CE98-D422-5F80BF145D48}"/>
              </a:ext>
            </a:extLst>
          </p:cNvPr>
          <p:cNvSpPr txBox="1"/>
          <p:nvPr/>
        </p:nvSpPr>
        <p:spPr>
          <a:xfrm>
            <a:off x="264551" y="4198193"/>
            <a:ext cx="1380226" cy="646331"/>
          </a:xfrm>
          <a:prstGeom prst="rect">
            <a:avLst/>
          </a:prstGeom>
          <a:solidFill>
            <a:srgbClr val="FFFF00"/>
          </a:solidFill>
        </p:spPr>
        <p:txBody>
          <a:bodyPr wrap="square" rtlCol="0">
            <a:spAutoFit/>
          </a:bodyPr>
          <a:lstStyle/>
          <a:p>
            <a:r>
              <a:rPr lang="es-ES" b="1" dirty="0"/>
              <a:t>Hallamos el menor costo</a:t>
            </a:r>
          </a:p>
        </p:txBody>
      </p:sp>
      <p:sp>
        <p:nvSpPr>
          <p:cNvPr id="7" name="CuadroTexto 6">
            <a:extLst>
              <a:ext uri="{FF2B5EF4-FFF2-40B4-BE49-F238E27FC236}">
                <a16:creationId xmlns:a16="http://schemas.microsoft.com/office/drawing/2014/main" id="{45D7FE21-455D-8856-93C2-227E6DFC8AA6}"/>
              </a:ext>
            </a:extLst>
          </p:cNvPr>
          <p:cNvSpPr txBox="1"/>
          <p:nvPr/>
        </p:nvSpPr>
        <p:spPr>
          <a:xfrm>
            <a:off x="264551" y="5086705"/>
            <a:ext cx="1380226" cy="646331"/>
          </a:xfrm>
          <a:prstGeom prst="rect">
            <a:avLst/>
          </a:prstGeom>
          <a:solidFill>
            <a:srgbClr val="FFFF00"/>
          </a:solidFill>
        </p:spPr>
        <p:txBody>
          <a:bodyPr wrap="square" rtlCol="0">
            <a:spAutoFit/>
          </a:bodyPr>
          <a:lstStyle/>
          <a:p>
            <a:r>
              <a:rPr lang="es-ES" b="1" dirty="0"/>
              <a:t>Anotamos la operación</a:t>
            </a:r>
          </a:p>
        </p:txBody>
      </p:sp>
    </p:spTree>
    <p:extLst>
      <p:ext uri="{BB962C8B-B14F-4D97-AF65-F5344CB8AC3E}">
        <p14:creationId xmlns:p14="http://schemas.microsoft.com/office/powerpoint/2010/main" val="37285020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7" name="TextShape 1"/>
          <p:cNvSpPr txBox="1"/>
          <p:nvPr/>
        </p:nvSpPr>
        <p:spPr>
          <a:xfrm>
            <a:off x="6096000" y="287254"/>
            <a:ext cx="6096000" cy="597441"/>
          </a:xfrm>
          <a:prstGeom prst="rect">
            <a:avLst/>
          </a:prstGeom>
          <a:noFill/>
          <a:ln w="9360">
            <a:noFill/>
          </a:ln>
        </p:spPr>
        <p:txBody>
          <a:bodyPr>
            <a:noAutofit/>
          </a:bodyPr>
          <a:lstStyle/>
          <a:p>
            <a:pPr algn="ctr">
              <a:lnSpc>
                <a:spcPct val="100000"/>
              </a:lnSpc>
            </a:pPr>
            <a:r>
              <a:rPr lang="en-US" sz="2800" b="1" spc="-1" dirty="0" err="1">
                <a:solidFill>
                  <a:schemeClr val="bg1"/>
                </a:solidFill>
                <a:latin typeface="Verdana"/>
              </a:rPr>
              <a:t>Respuesta</a:t>
            </a:r>
            <a:endParaRPr lang="en-US" sz="2800" spc="-1" dirty="0">
              <a:solidFill>
                <a:schemeClr val="bg1"/>
              </a:solidFill>
              <a:latin typeface="Arial"/>
            </a:endParaRPr>
          </a:p>
        </p:txBody>
      </p:sp>
      <p:graphicFrame>
        <p:nvGraphicFramePr>
          <p:cNvPr id="2" name="1 Diagrama"/>
          <p:cNvGraphicFramePr/>
          <p:nvPr>
            <p:extLst>
              <p:ext uri="{D42A27DB-BD31-4B8C-83A1-F6EECF244321}">
                <p14:modId xmlns:p14="http://schemas.microsoft.com/office/powerpoint/2010/main" val="310352706"/>
              </p:ext>
            </p:extLst>
          </p:nvPr>
        </p:nvGraphicFramePr>
        <p:xfrm>
          <a:off x="2024040" y="1413160"/>
          <a:ext cx="6395341" cy="50747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19" name="CustomShape 3"/>
          <p:cNvSpPr/>
          <p:nvPr/>
        </p:nvSpPr>
        <p:spPr>
          <a:xfrm>
            <a:off x="3791744" y="1965060"/>
            <a:ext cx="1150560" cy="215640"/>
          </a:xfrm>
          <a:prstGeom prst="rightArrow">
            <a:avLst>
              <a:gd name="adj1" fmla="val 50000"/>
              <a:gd name="adj2" fmla="val 133272"/>
            </a:avLst>
          </a:prstGeom>
          <a:solidFill>
            <a:schemeClr val="bg1"/>
          </a:solidFill>
          <a:ln w="12600">
            <a:solidFill>
              <a:schemeClr val="tx1"/>
            </a:solidFill>
            <a:miter/>
          </a:ln>
        </p:spPr>
        <p:style>
          <a:lnRef idx="0">
            <a:scrgbClr r="0" g="0" b="0"/>
          </a:lnRef>
          <a:fillRef idx="0">
            <a:scrgbClr r="0" g="0" b="0"/>
          </a:fillRef>
          <a:effectRef idx="0">
            <a:scrgbClr r="0" g="0" b="0"/>
          </a:effectRef>
          <a:fontRef idx="minor"/>
        </p:style>
        <p:txBody>
          <a:bodyPr/>
          <a:lstStyle/>
          <a:p>
            <a:endParaRPr lang="es-PE" sz="3200"/>
          </a:p>
        </p:txBody>
      </p:sp>
      <p:sp>
        <p:nvSpPr>
          <p:cNvPr id="1020" name="CustomShape 4"/>
          <p:cNvSpPr/>
          <p:nvPr/>
        </p:nvSpPr>
        <p:spPr>
          <a:xfrm>
            <a:off x="3791744" y="2608020"/>
            <a:ext cx="1150560" cy="215640"/>
          </a:xfrm>
          <a:prstGeom prst="rightArrow">
            <a:avLst>
              <a:gd name="adj1" fmla="val 50000"/>
              <a:gd name="adj2" fmla="val 133272"/>
            </a:avLst>
          </a:prstGeom>
          <a:solidFill>
            <a:schemeClr val="bg1"/>
          </a:solidFill>
          <a:ln w="12600">
            <a:solidFill>
              <a:schemeClr val="tx1"/>
            </a:solidFill>
            <a:miter/>
          </a:ln>
        </p:spPr>
        <p:style>
          <a:lnRef idx="0">
            <a:scrgbClr r="0" g="0" b="0"/>
          </a:lnRef>
          <a:fillRef idx="0">
            <a:scrgbClr r="0" g="0" b="0"/>
          </a:fillRef>
          <a:effectRef idx="0">
            <a:scrgbClr r="0" g="0" b="0"/>
          </a:effectRef>
          <a:fontRef idx="minor"/>
        </p:style>
        <p:txBody>
          <a:bodyPr/>
          <a:lstStyle/>
          <a:p>
            <a:endParaRPr lang="es-PE" sz="3200"/>
          </a:p>
        </p:txBody>
      </p:sp>
      <p:sp>
        <p:nvSpPr>
          <p:cNvPr id="1021" name="CustomShape 5"/>
          <p:cNvSpPr/>
          <p:nvPr/>
        </p:nvSpPr>
        <p:spPr>
          <a:xfrm>
            <a:off x="3791744" y="3358800"/>
            <a:ext cx="1150560" cy="215640"/>
          </a:xfrm>
          <a:prstGeom prst="rightArrow">
            <a:avLst>
              <a:gd name="adj1" fmla="val 50000"/>
              <a:gd name="adj2" fmla="val 133272"/>
            </a:avLst>
          </a:prstGeom>
          <a:solidFill>
            <a:schemeClr val="bg1"/>
          </a:solidFill>
          <a:ln w="12600">
            <a:solidFill>
              <a:schemeClr val="tx1"/>
            </a:solidFill>
            <a:miter/>
          </a:ln>
        </p:spPr>
        <p:style>
          <a:lnRef idx="0">
            <a:scrgbClr r="0" g="0" b="0"/>
          </a:lnRef>
          <a:fillRef idx="0">
            <a:scrgbClr r="0" g="0" b="0"/>
          </a:fillRef>
          <a:effectRef idx="0">
            <a:scrgbClr r="0" g="0" b="0"/>
          </a:effectRef>
          <a:fontRef idx="minor"/>
        </p:style>
        <p:txBody>
          <a:bodyPr/>
          <a:lstStyle/>
          <a:p>
            <a:endParaRPr lang="es-PE" sz="3200"/>
          </a:p>
        </p:txBody>
      </p:sp>
      <p:sp>
        <p:nvSpPr>
          <p:cNvPr id="1022" name="CustomShape 6"/>
          <p:cNvSpPr/>
          <p:nvPr/>
        </p:nvSpPr>
        <p:spPr>
          <a:xfrm>
            <a:off x="3791744" y="3889063"/>
            <a:ext cx="1150560" cy="215640"/>
          </a:xfrm>
          <a:prstGeom prst="rightArrow">
            <a:avLst>
              <a:gd name="adj1" fmla="val 50000"/>
              <a:gd name="adj2" fmla="val 133272"/>
            </a:avLst>
          </a:prstGeom>
          <a:solidFill>
            <a:schemeClr val="bg1"/>
          </a:solidFill>
          <a:ln w="12600">
            <a:solidFill>
              <a:schemeClr val="tx1"/>
            </a:solidFill>
            <a:miter/>
          </a:ln>
        </p:spPr>
        <p:style>
          <a:lnRef idx="0">
            <a:scrgbClr r="0" g="0" b="0"/>
          </a:lnRef>
          <a:fillRef idx="0">
            <a:scrgbClr r="0" g="0" b="0"/>
          </a:fillRef>
          <a:effectRef idx="0">
            <a:scrgbClr r="0" g="0" b="0"/>
          </a:effectRef>
          <a:fontRef idx="minor"/>
        </p:style>
        <p:txBody>
          <a:bodyPr/>
          <a:lstStyle/>
          <a:p>
            <a:endParaRPr lang="es-PE" sz="3200"/>
          </a:p>
        </p:txBody>
      </p:sp>
      <p:sp>
        <p:nvSpPr>
          <p:cNvPr id="1023" name="CustomShape 7"/>
          <p:cNvSpPr/>
          <p:nvPr/>
        </p:nvSpPr>
        <p:spPr>
          <a:xfrm>
            <a:off x="3791744" y="4501800"/>
            <a:ext cx="1150560" cy="215640"/>
          </a:xfrm>
          <a:prstGeom prst="rightArrow">
            <a:avLst>
              <a:gd name="adj1" fmla="val 50000"/>
              <a:gd name="adj2" fmla="val 133272"/>
            </a:avLst>
          </a:prstGeom>
          <a:solidFill>
            <a:schemeClr val="bg1"/>
          </a:solidFill>
          <a:ln w="12600">
            <a:solidFill>
              <a:schemeClr val="tx1"/>
            </a:solidFill>
            <a:miter/>
          </a:ln>
        </p:spPr>
        <p:style>
          <a:lnRef idx="0">
            <a:scrgbClr r="0" g="0" b="0"/>
          </a:lnRef>
          <a:fillRef idx="0">
            <a:scrgbClr r="0" g="0" b="0"/>
          </a:fillRef>
          <a:effectRef idx="0">
            <a:scrgbClr r="0" g="0" b="0"/>
          </a:effectRef>
          <a:fontRef idx="minor"/>
        </p:style>
        <p:txBody>
          <a:bodyPr/>
          <a:lstStyle/>
          <a:p>
            <a:endParaRPr lang="es-PE" sz="3200"/>
          </a:p>
        </p:txBody>
      </p:sp>
      <p:sp>
        <p:nvSpPr>
          <p:cNvPr id="1024" name="CustomShape 8"/>
          <p:cNvSpPr/>
          <p:nvPr/>
        </p:nvSpPr>
        <p:spPr>
          <a:xfrm>
            <a:off x="3791744" y="5229200"/>
            <a:ext cx="1150560" cy="215640"/>
          </a:xfrm>
          <a:prstGeom prst="rightArrow">
            <a:avLst>
              <a:gd name="adj1" fmla="val 50000"/>
              <a:gd name="adj2" fmla="val 133272"/>
            </a:avLst>
          </a:prstGeom>
          <a:solidFill>
            <a:schemeClr val="bg1"/>
          </a:solidFill>
          <a:ln w="12600">
            <a:solidFill>
              <a:schemeClr val="tx1"/>
            </a:solidFill>
            <a:miter/>
          </a:ln>
        </p:spPr>
        <p:style>
          <a:lnRef idx="0">
            <a:scrgbClr r="0" g="0" b="0"/>
          </a:lnRef>
          <a:fillRef idx="0">
            <a:scrgbClr r="0" g="0" b="0"/>
          </a:fillRef>
          <a:effectRef idx="0">
            <a:scrgbClr r="0" g="0" b="0"/>
          </a:effectRef>
          <a:fontRef idx="minor"/>
        </p:style>
        <p:txBody>
          <a:bodyPr/>
          <a:lstStyle/>
          <a:p>
            <a:endParaRPr lang="es-PE" sz="3200"/>
          </a:p>
        </p:txBody>
      </p:sp>
    </p:spTree>
    <p:extLst>
      <p:ext uri="{BB962C8B-B14F-4D97-AF65-F5344CB8AC3E}">
        <p14:creationId xmlns:p14="http://schemas.microsoft.com/office/powerpoint/2010/main" val="37041298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1 Grupo"/>
          <p:cNvGrpSpPr/>
          <p:nvPr/>
        </p:nvGrpSpPr>
        <p:grpSpPr>
          <a:xfrm>
            <a:off x="6108819" y="1219360"/>
            <a:ext cx="5997463" cy="5112198"/>
            <a:chOff x="384120" y="1219360"/>
            <a:chExt cx="8084700" cy="5112198"/>
          </a:xfrm>
        </p:grpSpPr>
        <p:grpSp>
          <p:nvGrpSpPr>
            <p:cNvPr id="1028" name="Group 1"/>
            <p:cNvGrpSpPr/>
            <p:nvPr/>
          </p:nvGrpSpPr>
          <p:grpSpPr>
            <a:xfrm>
              <a:off x="495980" y="1219360"/>
              <a:ext cx="7972840" cy="5032760"/>
              <a:chOff x="495980" y="1219360"/>
              <a:chExt cx="7972840" cy="5032760"/>
            </a:xfrm>
          </p:grpSpPr>
          <p:sp>
            <p:nvSpPr>
              <p:cNvPr id="1029" name="CustomShape 2"/>
              <p:cNvSpPr/>
              <p:nvPr/>
            </p:nvSpPr>
            <p:spPr>
              <a:xfrm>
                <a:off x="500041" y="2071921"/>
                <a:ext cx="1910880" cy="644877"/>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a:lnSpc>
                    <a:spcPct val="100000"/>
                  </a:lnSpc>
                </a:pPr>
                <a:r>
                  <a:rPr lang="es-PE" b="1" i="1" spc="-1" dirty="0">
                    <a:solidFill>
                      <a:schemeClr val="bg2">
                        <a:lumMod val="25000"/>
                      </a:schemeClr>
                    </a:solidFill>
                    <a:latin typeface="Arial"/>
                    <a:ea typeface="ＭＳ 明朝"/>
                  </a:rPr>
                  <a:t>Camión</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(300)</a:t>
                </a:r>
                <a:endParaRPr lang="es-PE" spc="-1" dirty="0">
                  <a:solidFill>
                    <a:schemeClr val="bg2">
                      <a:lumMod val="25000"/>
                    </a:schemeClr>
                  </a:solidFill>
                  <a:latin typeface="Arial"/>
                </a:endParaRPr>
              </a:p>
            </p:txBody>
          </p:sp>
          <p:sp>
            <p:nvSpPr>
              <p:cNvPr id="1030" name="CustomShape 3"/>
              <p:cNvSpPr/>
              <p:nvPr/>
            </p:nvSpPr>
            <p:spPr>
              <a:xfrm>
                <a:off x="495980" y="3680761"/>
                <a:ext cx="2142718" cy="644877"/>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a:lnSpc>
                    <a:spcPct val="100000"/>
                  </a:lnSpc>
                </a:pPr>
                <a:r>
                  <a:rPr lang="es-PE" b="1" i="1" spc="-1" dirty="0">
                    <a:solidFill>
                      <a:schemeClr val="bg2">
                        <a:lumMod val="25000"/>
                      </a:schemeClr>
                    </a:solidFill>
                    <a:latin typeface="Arial"/>
                    <a:ea typeface="ＭＳ 明朝"/>
                  </a:rPr>
                  <a:t>Ferrocarril</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(400)</a:t>
                </a:r>
                <a:endParaRPr lang="es-PE" spc="-1" dirty="0">
                  <a:solidFill>
                    <a:schemeClr val="bg2">
                      <a:lumMod val="25000"/>
                    </a:schemeClr>
                  </a:solidFill>
                  <a:latin typeface="Arial"/>
                </a:endParaRPr>
              </a:p>
            </p:txBody>
          </p:sp>
          <p:grpSp>
            <p:nvGrpSpPr>
              <p:cNvPr id="1031" name="Group 4"/>
              <p:cNvGrpSpPr/>
              <p:nvPr/>
            </p:nvGrpSpPr>
            <p:grpSpPr>
              <a:xfrm>
                <a:off x="790380" y="1219360"/>
                <a:ext cx="7678440" cy="5032760"/>
                <a:chOff x="790380" y="1219360"/>
                <a:chExt cx="7678440" cy="5032760"/>
              </a:xfrm>
            </p:grpSpPr>
            <p:sp>
              <p:nvSpPr>
                <p:cNvPr id="1032" name="CustomShape 5"/>
                <p:cNvSpPr/>
                <p:nvPr/>
              </p:nvSpPr>
              <p:spPr>
                <a:xfrm>
                  <a:off x="2286000" y="392652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033" name="CustomShape 6"/>
                <p:cNvSpPr/>
                <p:nvPr/>
              </p:nvSpPr>
              <p:spPr>
                <a:xfrm>
                  <a:off x="5597640" y="205812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034" name="CustomShape 7"/>
                <p:cNvSpPr/>
                <p:nvPr/>
              </p:nvSpPr>
              <p:spPr>
                <a:xfrm>
                  <a:off x="2286000" y="210528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035" name="CustomShape 8"/>
                <p:cNvSpPr/>
                <p:nvPr/>
              </p:nvSpPr>
              <p:spPr>
                <a:xfrm>
                  <a:off x="5597640" y="319320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036" name="CustomShape 9"/>
                <p:cNvSpPr/>
                <p:nvPr/>
              </p:nvSpPr>
              <p:spPr>
                <a:xfrm>
                  <a:off x="5715000" y="576684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037" name="Line 10"/>
                <p:cNvSpPr/>
                <p:nvPr/>
              </p:nvSpPr>
              <p:spPr>
                <a:xfrm flipV="1">
                  <a:off x="2719690" y="2285640"/>
                  <a:ext cx="2877591" cy="17613"/>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038" name="Line 11"/>
                <p:cNvSpPr/>
                <p:nvPr/>
              </p:nvSpPr>
              <p:spPr>
                <a:xfrm>
                  <a:off x="2684805" y="2467155"/>
                  <a:ext cx="3000172" cy="1733909"/>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039" name="Line 12"/>
                <p:cNvSpPr/>
                <p:nvPr/>
              </p:nvSpPr>
              <p:spPr>
                <a:xfrm>
                  <a:off x="2615033" y="2570672"/>
                  <a:ext cx="3171248" cy="3332968"/>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040" name="Line 13"/>
                <p:cNvSpPr/>
                <p:nvPr/>
              </p:nvSpPr>
              <p:spPr>
                <a:xfrm flipV="1">
                  <a:off x="2714400" y="2357280"/>
                  <a:ext cx="2857680" cy="1720800"/>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041" name="Line 14"/>
                <p:cNvSpPr/>
                <p:nvPr/>
              </p:nvSpPr>
              <p:spPr>
                <a:xfrm>
                  <a:off x="2714400" y="4229640"/>
                  <a:ext cx="2928960" cy="48600"/>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042" name="Line 15"/>
                <p:cNvSpPr/>
                <p:nvPr/>
              </p:nvSpPr>
              <p:spPr>
                <a:xfrm>
                  <a:off x="2643120" y="4381560"/>
                  <a:ext cx="3071880" cy="1527840"/>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043" name="CustomShape 16"/>
                <p:cNvSpPr/>
                <p:nvPr/>
              </p:nvSpPr>
              <p:spPr>
                <a:xfrm>
                  <a:off x="1400040" y="1290362"/>
                  <a:ext cx="1489681" cy="644877"/>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a:lnSpc>
                      <a:spcPct val="100000"/>
                    </a:lnSpc>
                  </a:pPr>
                  <a:r>
                    <a:rPr lang="es-PE" b="1" i="1" spc="-1">
                      <a:solidFill>
                        <a:schemeClr val="bg2">
                          <a:lumMod val="25000"/>
                        </a:schemeClr>
                      </a:solidFill>
                      <a:latin typeface="Arial"/>
                      <a:ea typeface="ＭＳ 明朝"/>
                    </a:rPr>
                    <a:t>	</a:t>
                  </a:r>
                  <a:endParaRPr lang="es-PE" spc="-1">
                    <a:solidFill>
                      <a:schemeClr val="bg2">
                        <a:lumMod val="25000"/>
                      </a:schemeClr>
                    </a:solidFill>
                    <a:latin typeface="Arial"/>
                  </a:endParaRPr>
                </a:p>
                <a:p>
                  <a:pPr>
                    <a:lnSpc>
                      <a:spcPct val="100000"/>
                    </a:lnSpc>
                  </a:pPr>
                  <a:endParaRPr lang="es-PE" spc="-1">
                    <a:solidFill>
                      <a:schemeClr val="bg2">
                        <a:lumMod val="25000"/>
                      </a:schemeClr>
                    </a:solidFill>
                    <a:latin typeface="Arial"/>
                  </a:endParaRPr>
                </a:p>
              </p:txBody>
            </p:sp>
            <p:sp>
              <p:nvSpPr>
                <p:cNvPr id="1044" name="CustomShape 17"/>
                <p:cNvSpPr/>
                <p:nvPr/>
              </p:nvSpPr>
              <p:spPr>
                <a:xfrm>
                  <a:off x="3586915" y="2001223"/>
                  <a:ext cx="914760" cy="367878"/>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pc="-1" dirty="0" err="1">
                      <a:solidFill>
                        <a:schemeClr val="bg2">
                          <a:lumMod val="25000"/>
                        </a:schemeClr>
                      </a:solidFill>
                      <a:latin typeface="Arial"/>
                      <a:ea typeface="ＭＳ 明朝"/>
                    </a:rPr>
                    <a:t>X11</a:t>
                  </a:r>
                  <a:endParaRPr lang="es-PE" spc="-1" dirty="0">
                    <a:solidFill>
                      <a:schemeClr val="bg2">
                        <a:lumMod val="25000"/>
                      </a:schemeClr>
                    </a:solidFill>
                    <a:latin typeface="Arial"/>
                  </a:endParaRPr>
                </a:p>
              </p:txBody>
            </p:sp>
            <p:sp>
              <p:nvSpPr>
                <p:cNvPr id="1045" name="CustomShape 18"/>
                <p:cNvSpPr/>
                <p:nvPr/>
              </p:nvSpPr>
              <p:spPr>
                <a:xfrm>
                  <a:off x="6126865" y="2950062"/>
                  <a:ext cx="1779171" cy="921876"/>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b="1" i="1" spc="-1" dirty="0">
                      <a:solidFill>
                        <a:schemeClr val="bg2">
                          <a:lumMod val="25000"/>
                        </a:schemeClr>
                      </a:solidFill>
                      <a:latin typeface="Arial"/>
                      <a:ea typeface="ＭＳ 明朝"/>
                    </a:rPr>
                    <a:t> Cleveland</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(100)</a:t>
                  </a:r>
                  <a:endParaRPr lang="es-PE" spc="-1" dirty="0">
                    <a:solidFill>
                      <a:schemeClr val="bg2">
                        <a:lumMod val="25000"/>
                      </a:schemeClr>
                    </a:solidFill>
                    <a:latin typeface="Arial"/>
                  </a:endParaRPr>
                </a:p>
              </p:txBody>
            </p:sp>
            <p:sp>
              <p:nvSpPr>
                <p:cNvPr id="1046" name="CustomShape 19"/>
                <p:cNvSpPr/>
                <p:nvPr/>
              </p:nvSpPr>
              <p:spPr>
                <a:xfrm>
                  <a:off x="6091200" y="4058761"/>
                  <a:ext cx="2194920" cy="644877"/>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a:lnSpc>
                      <a:spcPct val="100000"/>
                    </a:lnSpc>
                  </a:pPr>
                  <a:r>
                    <a:rPr lang="es-PE" b="1" i="1" spc="-1">
                      <a:solidFill>
                        <a:schemeClr val="bg2">
                          <a:lumMod val="25000"/>
                        </a:schemeClr>
                      </a:solidFill>
                      <a:latin typeface="Arial"/>
                      <a:ea typeface="ＭＳ 明朝"/>
                    </a:rPr>
                    <a:t>Washington</a:t>
                  </a:r>
                  <a:endParaRPr lang="es-PE" spc="-1">
                    <a:solidFill>
                      <a:schemeClr val="bg2">
                        <a:lumMod val="25000"/>
                      </a:schemeClr>
                    </a:solidFill>
                    <a:latin typeface="Arial"/>
                  </a:endParaRPr>
                </a:p>
                <a:p>
                  <a:pPr algn="ctr">
                    <a:lnSpc>
                      <a:spcPct val="100000"/>
                    </a:lnSpc>
                  </a:pPr>
                  <a:r>
                    <a:rPr lang="es-PE" b="1" i="1" spc="-1">
                      <a:solidFill>
                        <a:schemeClr val="bg2">
                          <a:lumMod val="25000"/>
                        </a:schemeClr>
                      </a:solidFill>
                      <a:latin typeface="Arial"/>
                      <a:ea typeface="ＭＳ 明朝"/>
                    </a:rPr>
                    <a:t>(200)</a:t>
                  </a:r>
                  <a:endParaRPr lang="es-PE" spc="-1">
                    <a:solidFill>
                      <a:schemeClr val="bg2">
                        <a:lumMod val="25000"/>
                      </a:schemeClr>
                    </a:solidFill>
                    <a:latin typeface="Arial"/>
                  </a:endParaRPr>
                </a:p>
              </p:txBody>
            </p:sp>
            <p:sp>
              <p:nvSpPr>
                <p:cNvPr id="1047" name="CustomShape 20"/>
                <p:cNvSpPr/>
                <p:nvPr/>
              </p:nvSpPr>
              <p:spPr>
                <a:xfrm>
                  <a:off x="6073486" y="1948156"/>
                  <a:ext cx="1738080" cy="644877"/>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a:lnSpc>
                      <a:spcPct val="100000"/>
                    </a:lnSpc>
                  </a:pPr>
                  <a:r>
                    <a:rPr lang="es-PE" b="1" i="1" spc="-1" dirty="0">
                      <a:solidFill>
                        <a:schemeClr val="bg2">
                          <a:lumMod val="25000"/>
                        </a:schemeClr>
                      </a:solidFill>
                      <a:latin typeface="Arial"/>
                      <a:ea typeface="ＭＳ 明朝"/>
                    </a:rPr>
                    <a:t>Chicago</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(150)</a:t>
                  </a:r>
                  <a:endParaRPr lang="es-PE" spc="-1" dirty="0">
                    <a:solidFill>
                      <a:schemeClr val="bg2">
                        <a:lumMod val="25000"/>
                      </a:schemeClr>
                    </a:solidFill>
                    <a:latin typeface="Arial"/>
                  </a:endParaRPr>
                </a:p>
              </p:txBody>
            </p:sp>
            <p:sp>
              <p:nvSpPr>
                <p:cNvPr id="1048" name="CustomShape 21"/>
                <p:cNvSpPr/>
                <p:nvPr/>
              </p:nvSpPr>
              <p:spPr>
                <a:xfrm>
                  <a:off x="790380" y="1219360"/>
                  <a:ext cx="7678440" cy="67068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80000"/>
                    </a:lnSpc>
                  </a:pPr>
                  <a:r>
                    <a:rPr lang="es-PE" b="1" spc="-1" dirty="0">
                      <a:solidFill>
                        <a:schemeClr val="bg2">
                          <a:lumMod val="25000"/>
                        </a:schemeClr>
                      </a:solidFill>
                      <a:latin typeface="Arial Black"/>
                    </a:rPr>
                    <a:t>Medio de transporte		Distribuidor</a:t>
                  </a:r>
                  <a:endParaRPr lang="es-PE" spc="-1" dirty="0">
                    <a:solidFill>
                      <a:schemeClr val="bg2">
                        <a:lumMod val="25000"/>
                      </a:schemeClr>
                    </a:solidFill>
                    <a:latin typeface="Arial"/>
                  </a:endParaRPr>
                </a:p>
              </p:txBody>
            </p:sp>
            <p:sp>
              <p:nvSpPr>
                <p:cNvPr id="1049" name="CustomShape 22"/>
                <p:cNvSpPr/>
                <p:nvPr/>
              </p:nvSpPr>
              <p:spPr>
                <a:xfrm>
                  <a:off x="3598555" y="2451774"/>
                  <a:ext cx="914760" cy="367878"/>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pc="-1" dirty="0" err="1">
                      <a:solidFill>
                        <a:schemeClr val="bg2">
                          <a:lumMod val="25000"/>
                        </a:schemeClr>
                      </a:solidFill>
                      <a:latin typeface="Arial"/>
                      <a:ea typeface="ＭＳ 明朝"/>
                    </a:rPr>
                    <a:t>X12</a:t>
                  </a:r>
                  <a:endParaRPr lang="es-PE" spc="-1" dirty="0">
                    <a:solidFill>
                      <a:schemeClr val="bg2">
                        <a:lumMod val="25000"/>
                      </a:schemeClr>
                    </a:solidFill>
                    <a:latin typeface="Arial"/>
                  </a:endParaRPr>
                </a:p>
              </p:txBody>
            </p:sp>
            <p:sp>
              <p:nvSpPr>
                <p:cNvPr id="1050" name="CustomShape 23"/>
                <p:cNvSpPr/>
                <p:nvPr/>
              </p:nvSpPr>
              <p:spPr>
                <a:xfrm>
                  <a:off x="2346120" y="2105280"/>
                  <a:ext cx="368011" cy="367878"/>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b="1" spc="-1">
                      <a:solidFill>
                        <a:schemeClr val="bg2">
                          <a:lumMod val="25000"/>
                        </a:schemeClr>
                      </a:solidFill>
                      <a:latin typeface="Garamond"/>
                    </a:rPr>
                    <a:t>1</a:t>
                  </a:r>
                  <a:endParaRPr lang="es-PE" spc="-1">
                    <a:solidFill>
                      <a:schemeClr val="bg2">
                        <a:lumMod val="25000"/>
                      </a:schemeClr>
                    </a:solidFill>
                    <a:latin typeface="Arial"/>
                  </a:endParaRPr>
                </a:p>
              </p:txBody>
            </p:sp>
            <p:sp>
              <p:nvSpPr>
                <p:cNvPr id="1051" name="CustomShape 24"/>
                <p:cNvSpPr/>
                <p:nvPr/>
              </p:nvSpPr>
              <p:spPr>
                <a:xfrm>
                  <a:off x="5653800" y="3211200"/>
                  <a:ext cx="391780" cy="367878"/>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b="1" spc="-1">
                      <a:solidFill>
                        <a:schemeClr val="bg2">
                          <a:lumMod val="25000"/>
                        </a:schemeClr>
                      </a:solidFill>
                      <a:latin typeface="Garamond"/>
                    </a:rPr>
                    <a:t>2</a:t>
                  </a:r>
                  <a:endParaRPr lang="es-PE" spc="-1">
                    <a:solidFill>
                      <a:schemeClr val="bg2">
                        <a:lumMod val="25000"/>
                      </a:schemeClr>
                    </a:solidFill>
                    <a:latin typeface="Arial"/>
                  </a:endParaRPr>
                </a:p>
              </p:txBody>
            </p:sp>
            <p:sp>
              <p:nvSpPr>
                <p:cNvPr id="1052" name="CustomShape 25"/>
                <p:cNvSpPr/>
                <p:nvPr/>
              </p:nvSpPr>
              <p:spPr>
                <a:xfrm>
                  <a:off x="2355840" y="4002120"/>
                  <a:ext cx="391780" cy="367878"/>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b="1" spc="-1">
                      <a:solidFill>
                        <a:schemeClr val="bg2">
                          <a:lumMod val="25000"/>
                        </a:schemeClr>
                      </a:solidFill>
                      <a:latin typeface="Garamond"/>
                    </a:rPr>
                    <a:t>2</a:t>
                  </a:r>
                  <a:endParaRPr lang="es-PE" spc="-1">
                    <a:solidFill>
                      <a:schemeClr val="bg2">
                        <a:lumMod val="25000"/>
                      </a:schemeClr>
                    </a:solidFill>
                    <a:latin typeface="Arial"/>
                  </a:endParaRPr>
                </a:p>
              </p:txBody>
            </p:sp>
            <p:sp>
              <p:nvSpPr>
                <p:cNvPr id="1053" name="CustomShape 26"/>
                <p:cNvSpPr/>
                <p:nvPr/>
              </p:nvSpPr>
              <p:spPr>
                <a:xfrm>
                  <a:off x="5644079" y="2071440"/>
                  <a:ext cx="368011" cy="367878"/>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b="1" spc="-1">
                      <a:solidFill>
                        <a:schemeClr val="bg2">
                          <a:lumMod val="25000"/>
                        </a:schemeClr>
                      </a:solidFill>
                      <a:latin typeface="Garamond"/>
                    </a:rPr>
                    <a:t>1</a:t>
                  </a:r>
                  <a:endParaRPr lang="es-PE" spc="-1">
                    <a:solidFill>
                      <a:schemeClr val="bg2">
                        <a:lumMod val="25000"/>
                      </a:schemeClr>
                    </a:solidFill>
                    <a:latin typeface="Arial"/>
                  </a:endParaRPr>
                </a:p>
              </p:txBody>
            </p:sp>
            <p:sp>
              <p:nvSpPr>
                <p:cNvPr id="1054" name="CustomShape 27"/>
                <p:cNvSpPr/>
                <p:nvPr/>
              </p:nvSpPr>
              <p:spPr>
                <a:xfrm>
                  <a:off x="5784840" y="5838120"/>
                  <a:ext cx="391780" cy="367878"/>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b="1" spc="-1">
                      <a:solidFill>
                        <a:schemeClr val="bg2">
                          <a:lumMod val="25000"/>
                        </a:schemeClr>
                      </a:solidFill>
                      <a:latin typeface="Garamond"/>
                    </a:rPr>
                    <a:t>5</a:t>
                  </a:r>
                  <a:endParaRPr lang="es-PE" spc="-1">
                    <a:solidFill>
                      <a:schemeClr val="bg2">
                        <a:lumMod val="25000"/>
                      </a:schemeClr>
                    </a:solidFill>
                    <a:latin typeface="Arial"/>
                  </a:endParaRPr>
                </a:p>
              </p:txBody>
            </p:sp>
          </p:grpSp>
        </p:grpSp>
        <p:sp>
          <p:nvSpPr>
            <p:cNvPr id="1055" name="CustomShape 28"/>
            <p:cNvSpPr/>
            <p:nvPr/>
          </p:nvSpPr>
          <p:spPr>
            <a:xfrm>
              <a:off x="2293200" y="5735880"/>
              <a:ext cx="414000" cy="45684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056" name="CustomShape 29"/>
            <p:cNvSpPr/>
            <p:nvPr/>
          </p:nvSpPr>
          <p:spPr>
            <a:xfrm>
              <a:off x="2286000" y="5786280"/>
              <a:ext cx="356760" cy="367878"/>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s-PE" b="1" spc="-1">
                  <a:solidFill>
                    <a:srgbClr val="FF0000"/>
                  </a:solidFill>
                  <a:latin typeface="Garamond"/>
                </a:rPr>
                <a:t>3</a:t>
              </a:r>
              <a:endParaRPr lang="es-PE" spc="-1">
                <a:latin typeface="Arial"/>
              </a:endParaRPr>
            </a:p>
          </p:txBody>
        </p:sp>
        <p:sp>
          <p:nvSpPr>
            <p:cNvPr id="1057" name="CustomShape 30"/>
            <p:cNvSpPr/>
            <p:nvPr/>
          </p:nvSpPr>
          <p:spPr>
            <a:xfrm>
              <a:off x="384120" y="5471401"/>
              <a:ext cx="1901520" cy="644877"/>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a:lnSpc>
                  <a:spcPct val="100000"/>
                </a:lnSpc>
              </a:pPr>
              <a:r>
                <a:rPr lang="es-PE" b="1" i="1" spc="-1" dirty="0">
                  <a:solidFill>
                    <a:schemeClr val="bg2">
                      <a:lumMod val="25000"/>
                    </a:schemeClr>
                  </a:solidFill>
                  <a:latin typeface="Arial"/>
                  <a:ea typeface="ＭＳ 明朝"/>
                </a:rPr>
                <a:t>  Figurado</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(50)</a:t>
              </a:r>
              <a:endParaRPr lang="es-PE" spc="-1" dirty="0">
                <a:solidFill>
                  <a:schemeClr val="bg2">
                    <a:lumMod val="25000"/>
                  </a:schemeClr>
                </a:solidFill>
                <a:latin typeface="Arial"/>
              </a:endParaRPr>
            </a:p>
          </p:txBody>
        </p:sp>
        <p:sp>
          <p:nvSpPr>
            <p:cNvPr id="1058" name="Line 31"/>
            <p:cNvSpPr/>
            <p:nvPr/>
          </p:nvSpPr>
          <p:spPr>
            <a:xfrm flipV="1">
              <a:off x="2643120" y="2286000"/>
              <a:ext cx="3071880" cy="3429000"/>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059" name="Line 32"/>
            <p:cNvSpPr/>
            <p:nvPr/>
          </p:nvSpPr>
          <p:spPr>
            <a:xfrm flipV="1">
              <a:off x="2714400" y="4357440"/>
              <a:ext cx="3000600" cy="1500120"/>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060" name="Line 33"/>
            <p:cNvSpPr/>
            <p:nvPr/>
          </p:nvSpPr>
          <p:spPr>
            <a:xfrm flipV="1">
              <a:off x="2714400" y="6000480"/>
              <a:ext cx="2928960" cy="44640"/>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061" name="CustomShape 34"/>
            <p:cNvSpPr/>
            <p:nvPr/>
          </p:nvSpPr>
          <p:spPr>
            <a:xfrm>
              <a:off x="5682600" y="490284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062" name="CustomShape 35"/>
            <p:cNvSpPr/>
            <p:nvPr/>
          </p:nvSpPr>
          <p:spPr>
            <a:xfrm>
              <a:off x="5660280" y="407808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063" name="CustomShape 36"/>
            <p:cNvSpPr/>
            <p:nvPr/>
          </p:nvSpPr>
          <p:spPr>
            <a:xfrm>
              <a:off x="5720400" y="4130280"/>
              <a:ext cx="391780" cy="367878"/>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b="1" spc="-1">
                  <a:solidFill>
                    <a:srgbClr val="FF0000"/>
                  </a:solidFill>
                  <a:latin typeface="Garamond"/>
                </a:rPr>
                <a:t>3</a:t>
              </a:r>
              <a:endParaRPr lang="es-PE" spc="-1">
                <a:latin typeface="Arial"/>
              </a:endParaRPr>
            </a:p>
          </p:txBody>
        </p:sp>
        <p:sp>
          <p:nvSpPr>
            <p:cNvPr id="1064" name="CustomShape 37"/>
            <p:cNvSpPr/>
            <p:nvPr/>
          </p:nvSpPr>
          <p:spPr>
            <a:xfrm>
              <a:off x="5775120" y="4961160"/>
              <a:ext cx="391780" cy="367878"/>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b="1" spc="-1">
                  <a:solidFill>
                    <a:srgbClr val="FF0000"/>
                  </a:solidFill>
                  <a:latin typeface="Garamond"/>
                </a:rPr>
                <a:t>4</a:t>
              </a:r>
              <a:endParaRPr lang="es-PE" spc="-1">
                <a:latin typeface="Arial"/>
              </a:endParaRPr>
            </a:p>
          </p:txBody>
        </p:sp>
        <p:sp>
          <p:nvSpPr>
            <p:cNvPr id="1065" name="Line 38"/>
            <p:cNvSpPr/>
            <p:nvPr/>
          </p:nvSpPr>
          <p:spPr>
            <a:xfrm>
              <a:off x="2696431" y="2380891"/>
              <a:ext cx="2946929" cy="988709"/>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066" name="Line 39"/>
            <p:cNvSpPr/>
            <p:nvPr/>
          </p:nvSpPr>
          <p:spPr>
            <a:xfrm>
              <a:off x="2654749" y="2500200"/>
              <a:ext cx="3039480" cy="2460600"/>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067" name="CustomShape 40"/>
            <p:cNvSpPr/>
            <p:nvPr/>
          </p:nvSpPr>
          <p:spPr>
            <a:xfrm>
              <a:off x="6181920" y="4822681"/>
              <a:ext cx="1747080" cy="644877"/>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a:lnSpc>
                  <a:spcPct val="100000"/>
                </a:lnSpc>
              </a:pPr>
              <a:r>
                <a:rPr lang="es-PE" b="1" i="1" spc="-1" dirty="0">
                  <a:solidFill>
                    <a:schemeClr val="bg2">
                      <a:lumMod val="25000"/>
                    </a:schemeClr>
                  </a:solidFill>
                  <a:latin typeface="Arial"/>
                  <a:ea typeface="ＭＳ 明朝"/>
                </a:rPr>
                <a:t>Filadelfia</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(50)</a:t>
              </a:r>
              <a:endParaRPr lang="es-PE" spc="-1" dirty="0">
                <a:solidFill>
                  <a:schemeClr val="bg2">
                    <a:lumMod val="25000"/>
                  </a:schemeClr>
                </a:solidFill>
                <a:latin typeface="Arial"/>
              </a:endParaRPr>
            </a:p>
          </p:txBody>
        </p:sp>
        <p:sp>
          <p:nvSpPr>
            <p:cNvPr id="1068" name="CustomShape 41"/>
            <p:cNvSpPr/>
            <p:nvPr/>
          </p:nvSpPr>
          <p:spPr>
            <a:xfrm>
              <a:off x="6334199" y="5686681"/>
              <a:ext cx="1827666" cy="644877"/>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b="1" i="1" spc="-1" dirty="0">
                  <a:solidFill>
                    <a:schemeClr val="bg2">
                      <a:lumMod val="25000"/>
                    </a:schemeClr>
                  </a:solidFill>
                  <a:latin typeface="Arial"/>
                  <a:ea typeface="ＭＳ 明朝"/>
                </a:rPr>
                <a:t>Cincinnati</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(250)</a:t>
              </a:r>
              <a:endParaRPr lang="es-PE" spc="-1" dirty="0">
                <a:solidFill>
                  <a:schemeClr val="bg2">
                    <a:lumMod val="25000"/>
                  </a:schemeClr>
                </a:solidFill>
                <a:latin typeface="Arial"/>
              </a:endParaRPr>
            </a:p>
          </p:txBody>
        </p:sp>
        <p:sp>
          <p:nvSpPr>
            <p:cNvPr id="1069" name="Line 42"/>
            <p:cNvSpPr/>
            <p:nvPr/>
          </p:nvSpPr>
          <p:spPr>
            <a:xfrm>
              <a:off x="2643120" y="4286160"/>
              <a:ext cx="3000240" cy="857160"/>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070" name="Line 43"/>
            <p:cNvSpPr/>
            <p:nvPr/>
          </p:nvSpPr>
          <p:spPr>
            <a:xfrm flipV="1">
              <a:off x="2714400" y="3500280"/>
              <a:ext cx="2857680" cy="642960"/>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071" name="Line 44"/>
            <p:cNvSpPr/>
            <p:nvPr/>
          </p:nvSpPr>
          <p:spPr>
            <a:xfrm flipV="1">
              <a:off x="2714400" y="3643200"/>
              <a:ext cx="2928960" cy="2143080"/>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072" name="Line 45"/>
            <p:cNvSpPr/>
            <p:nvPr/>
          </p:nvSpPr>
          <p:spPr>
            <a:xfrm flipV="1">
              <a:off x="2786040" y="5214600"/>
              <a:ext cx="2857320" cy="722520"/>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grpSp>
      <p:sp>
        <p:nvSpPr>
          <p:cNvPr id="48" name="TextShape 29">
            <a:extLst>
              <a:ext uri="{FF2B5EF4-FFF2-40B4-BE49-F238E27FC236}">
                <a16:creationId xmlns:a16="http://schemas.microsoft.com/office/drawing/2014/main" id="{1A5E5828-120A-44F9-A264-0074D370F84B}"/>
              </a:ext>
            </a:extLst>
          </p:cNvPr>
          <p:cNvSpPr txBox="1"/>
          <p:nvPr/>
        </p:nvSpPr>
        <p:spPr>
          <a:xfrm>
            <a:off x="6096000" y="290213"/>
            <a:ext cx="6096000" cy="496172"/>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defPPr>
              <a:defRPr lang="es-ES"/>
            </a:defPPr>
            <a:lvl1pPr algn="ctr">
              <a:lnSpc>
                <a:spcPts val="5800"/>
              </a:lnSpc>
              <a:spcBef>
                <a:spcPct val="0"/>
              </a:spcBef>
              <a:defRPr sz="3200">
                <a:solidFill>
                  <a:schemeClr val="bg1"/>
                </a:solidFill>
                <a:effectLst>
                  <a:outerShdw blurRad="63500" dist="38100" dir="5400000" algn="t" rotWithShape="0">
                    <a:prstClr val="black">
                      <a:alpha val="25000"/>
                    </a:prstClr>
                  </a:outerShdw>
                </a:effectLst>
                <a:latin typeface="Bauhaus 93" pitchFamily="82" charset="0"/>
              </a:defRPr>
            </a:lvl1pPr>
          </a:lstStyle>
          <a:p>
            <a:r>
              <a:rPr lang="en-US" dirty="0" err="1"/>
              <a:t>Problema</a:t>
            </a:r>
            <a:r>
              <a:rPr lang="en-US" dirty="0"/>
              <a:t> 7</a:t>
            </a:r>
          </a:p>
        </p:txBody>
      </p:sp>
      <p:graphicFrame>
        <p:nvGraphicFramePr>
          <p:cNvPr id="50" name="Table 3">
            <a:extLst>
              <a:ext uri="{FF2B5EF4-FFF2-40B4-BE49-F238E27FC236}">
                <a16:creationId xmlns:a16="http://schemas.microsoft.com/office/drawing/2014/main" id="{7CC0A242-7059-4995-8F0E-6DB5D16BE4E0}"/>
              </a:ext>
            </a:extLst>
          </p:cNvPr>
          <p:cNvGraphicFramePr/>
          <p:nvPr/>
        </p:nvGraphicFramePr>
        <p:xfrm>
          <a:off x="118782" y="4643280"/>
          <a:ext cx="5977218" cy="2038934"/>
        </p:xfrm>
        <a:graphic>
          <a:graphicData uri="http://schemas.openxmlformats.org/drawingml/2006/table">
            <a:tbl>
              <a:tblPr/>
              <a:tblGrid>
                <a:gridCol w="1304576">
                  <a:extLst>
                    <a:ext uri="{9D8B030D-6E8A-4147-A177-3AD203B41FA5}">
                      <a16:colId xmlns:a16="http://schemas.microsoft.com/office/drawing/2014/main" val="20000"/>
                    </a:ext>
                  </a:extLst>
                </a:gridCol>
                <a:gridCol w="793631">
                  <a:extLst>
                    <a:ext uri="{9D8B030D-6E8A-4147-A177-3AD203B41FA5}">
                      <a16:colId xmlns:a16="http://schemas.microsoft.com/office/drawing/2014/main" val="20001"/>
                    </a:ext>
                  </a:extLst>
                </a:gridCol>
                <a:gridCol w="944429">
                  <a:extLst>
                    <a:ext uri="{9D8B030D-6E8A-4147-A177-3AD203B41FA5}">
                      <a16:colId xmlns:a16="http://schemas.microsoft.com/office/drawing/2014/main" val="20002"/>
                    </a:ext>
                  </a:extLst>
                </a:gridCol>
                <a:gridCol w="1086616">
                  <a:extLst>
                    <a:ext uri="{9D8B030D-6E8A-4147-A177-3AD203B41FA5}">
                      <a16:colId xmlns:a16="http://schemas.microsoft.com/office/drawing/2014/main" val="20003"/>
                    </a:ext>
                  </a:extLst>
                </a:gridCol>
                <a:gridCol w="869403">
                  <a:extLst>
                    <a:ext uri="{9D8B030D-6E8A-4147-A177-3AD203B41FA5}">
                      <a16:colId xmlns:a16="http://schemas.microsoft.com/office/drawing/2014/main" val="20004"/>
                    </a:ext>
                  </a:extLst>
                </a:gridCol>
                <a:gridCol w="978563">
                  <a:extLst>
                    <a:ext uri="{9D8B030D-6E8A-4147-A177-3AD203B41FA5}">
                      <a16:colId xmlns:a16="http://schemas.microsoft.com/office/drawing/2014/main" val="20005"/>
                    </a:ext>
                  </a:extLst>
                </a:gridCol>
              </a:tblGrid>
              <a:tr h="368498">
                <a:tc>
                  <a:txBody>
                    <a:bodyPr/>
                    <a:lstStyle/>
                    <a:p>
                      <a:pPr algn="ctr">
                        <a:lnSpc>
                          <a:spcPct val="100000"/>
                        </a:lnSpc>
                      </a:pPr>
                      <a:r>
                        <a:rPr lang="es-PE" sz="1800" b="0" strike="noStrike" spc="-12" dirty="0">
                          <a:solidFill>
                            <a:schemeClr val="bg1"/>
                          </a:solidFill>
                          <a:latin typeface="Arial Narrow" panose="020B0606020202030204" pitchFamily="34" charset="0"/>
                          <a:ea typeface="MS Mincho"/>
                        </a:rPr>
                        <a:t>POR</a:t>
                      </a:r>
                      <a:endParaRPr lang="es-PE" sz="1800" b="0" strike="noStrike" spc="-1" dirty="0">
                        <a:solidFill>
                          <a:schemeClr val="bg1"/>
                        </a:solidFill>
                        <a:latin typeface="Arial Narrow" panose="020B0606020202030204" pitchFamily="34" charset="0"/>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100000"/>
                        </a:lnSpc>
                      </a:pPr>
                      <a:r>
                        <a:rPr lang="es-PE" sz="1800" b="0" strike="noStrike" spc="-12" dirty="0">
                          <a:solidFill>
                            <a:schemeClr val="bg1"/>
                          </a:solidFill>
                          <a:latin typeface="Arial Narrow" panose="020B0606020202030204" pitchFamily="34" charset="0"/>
                          <a:ea typeface="MS Mincho"/>
                        </a:rPr>
                        <a:t>Chicago</a:t>
                      </a:r>
                      <a:endParaRPr lang="es-PE" sz="1800" b="0" strike="noStrike" spc="-1" dirty="0">
                        <a:solidFill>
                          <a:schemeClr val="bg1"/>
                        </a:solidFill>
                        <a:latin typeface="Arial Narrow" panose="020B0606020202030204" pitchFamily="34" charset="0"/>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100000"/>
                        </a:lnSpc>
                      </a:pPr>
                      <a:r>
                        <a:rPr lang="es-PE" sz="1800" b="0" strike="noStrike" spc="-12" dirty="0">
                          <a:solidFill>
                            <a:schemeClr val="bg1"/>
                          </a:solidFill>
                          <a:latin typeface="Arial Narrow" panose="020B0606020202030204" pitchFamily="34" charset="0"/>
                          <a:ea typeface="MS Mincho"/>
                        </a:rPr>
                        <a:t>Cleveland</a:t>
                      </a:r>
                      <a:endParaRPr lang="es-PE" sz="1800" b="0" strike="noStrike" spc="-1" dirty="0">
                        <a:solidFill>
                          <a:schemeClr val="bg1"/>
                        </a:solidFill>
                        <a:latin typeface="Arial Narrow" panose="020B0606020202030204" pitchFamily="34" charset="0"/>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100000"/>
                        </a:lnSpc>
                      </a:pPr>
                      <a:r>
                        <a:rPr lang="es-PE" sz="1800" b="0" strike="noStrike" spc="-12" dirty="0">
                          <a:solidFill>
                            <a:schemeClr val="bg1"/>
                          </a:solidFill>
                          <a:latin typeface="Arial Narrow" panose="020B0606020202030204" pitchFamily="34" charset="0"/>
                          <a:ea typeface="MS Mincho"/>
                        </a:rPr>
                        <a:t>Washington</a:t>
                      </a:r>
                      <a:endParaRPr lang="es-PE" sz="1800" b="0" strike="noStrike" spc="-1" dirty="0">
                        <a:solidFill>
                          <a:schemeClr val="bg1"/>
                        </a:solidFill>
                        <a:latin typeface="Arial Narrow" panose="020B0606020202030204" pitchFamily="34" charset="0"/>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100000"/>
                        </a:lnSpc>
                      </a:pPr>
                      <a:r>
                        <a:rPr lang="es-PE" sz="1800" b="0" strike="noStrike" spc="-12" dirty="0">
                          <a:solidFill>
                            <a:schemeClr val="bg1"/>
                          </a:solidFill>
                          <a:latin typeface="Arial Narrow" panose="020B0606020202030204" pitchFamily="34" charset="0"/>
                          <a:ea typeface="MS Mincho"/>
                        </a:rPr>
                        <a:t>Filadelfia</a:t>
                      </a:r>
                      <a:endParaRPr lang="es-PE" sz="1800" b="0" strike="noStrike" spc="-1" dirty="0">
                        <a:solidFill>
                          <a:schemeClr val="bg1"/>
                        </a:solidFill>
                        <a:latin typeface="Arial Narrow" panose="020B0606020202030204" pitchFamily="34" charset="0"/>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100000"/>
                        </a:lnSpc>
                      </a:pPr>
                      <a:r>
                        <a:rPr lang="es-PE" sz="1800" b="0" strike="noStrike" spc="-12" dirty="0">
                          <a:solidFill>
                            <a:schemeClr val="bg1"/>
                          </a:solidFill>
                          <a:latin typeface="Arial Narrow" panose="020B0606020202030204" pitchFamily="34" charset="0"/>
                          <a:ea typeface="MS Mincho"/>
                        </a:rPr>
                        <a:t>Cincinnati</a:t>
                      </a:r>
                      <a:endParaRPr lang="es-PE" sz="1800" b="0" strike="noStrike" spc="-1" dirty="0">
                        <a:solidFill>
                          <a:schemeClr val="bg1"/>
                        </a:solidFill>
                        <a:latin typeface="Arial Narrow" panose="020B0606020202030204" pitchFamily="34" charset="0"/>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extLst>
                  <a:ext uri="{0D108BD9-81ED-4DB2-BD59-A6C34878D82A}">
                    <a16:rowId xmlns:a16="http://schemas.microsoft.com/office/drawing/2014/main" val="10000"/>
                  </a:ext>
                </a:extLst>
              </a:tr>
              <a:tr h="482312">
                <a:tc>
                  <a:txBody>
                    <a:bodyPr/>
                    <a:lstStyle/>
                    <a:p>
                      <a:pPr algn="ctr">
                        <a:lnSpc>
                          <a:spcPct val="100000"/>
                        </a:lnSpc>
                      </a:pPr>
                      <a:r>
                        <a:rPr lang="es-PE" sz="2600" b="0" strike="noStrike" spc="-12" dirty="0">
                          <a:solidFill>
                            <a:srgbClr val="002060"/>
                          </a:solidFill>
                          <a:latin typeface="Arial Narrow" panose="020B0606020202030204" pitchFamily="34" charset="0"/>
                          <a:ea typeface="MS Mincho"/>
                        </a:rPr>
                        <a:t>Camión</a:t>
                      </a:r>
                      <a:endParaRPr lang="es-PE" sz="2600" b="0" strike="noStrike" spc="-1" dirty="0">
                        <a:solidFill>
                          <a:srgbClr val="002060"/>
                        </a:solidFill>
                        <a:latin typeface="Arial Narrow" panose="020B0606020202030204" pitchFamily="34" charset="0"/>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600" b="0" strike="noStrike" spc="-12">
                          <a:solidFill>
                            <a:srgbClr val="002060"/>
                          </a:solidFill>
                          <a:latin typeface="Arial Narrow" panose="020B0606020202030204" pitchFamily="34" charset="0"/>
                          <a:ea typeface="MS Mincho"/>
                        </a:rPr>
                        <a:t>6</a:t>
                      </a:r>
                      <a:endParaRPr lang="es-PE" sz="2600" b="0" strike="noStrike" spc="-1">
                        <a:solidFill>
                          <a:srgbClr val="002060"/>
                        </a:solidFill>
                        <a:latin typeface="Arial Narrow" panose="020B0606020202030204" pitchFamily="34" charset="0"/>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600" b="0" strike="noStrike" spc="-12">
                          <a:solidFill>
                            <a:srgbClr val="002060"/>
                          </a:solidFill>
                          <a:latin typeface="Arial Narrow" panose="020B0606020202030204" pitchFamily="34" charset="0"/>
                          <a:ea typeface="MS Mincho"/>
                        </a:rPr>
                        <a:t>4</a:t>
                      </a:r>
                      <a:endParaRPr lang="es-PE" sz="2600" b="0" strike="noStrike" spc="-1">
                        <a:solidFill>
                          <a:srgbClr val="002060"/>
                        </a:solidFill>
                        <a:latin typeface="Arial Narrow" panose="020B0606020202030204" pitchFamily="34" charset="0"/>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600" b="0" strike="noStrike" spc="-12">
                          <a:solidFill>
                            <a:srgbClr val="002060"/>
                          </a:solidFill>
                          <a:latin typeface="Arial Narrow" panose="020B0606020202030204" pitchFamily="34" charset="0"/>
                          <a:ea typeface="MS Mincho"/>
                        </a:rPr>
                        <a:t>3</a:t>
                      </a:r>
                      <a:endParaRPr lang="es-PE" sz="2600" b="0" strike="noStrike" spc="-1">
                        <a:solidFill>
                          <a:srgbClr val="002060"/>
                        </a:solidFill>
                        <a:latin typeface="Arial Narrow" panose="020B0606020202030204" pitchFamily="34" charset="0"/>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600" b="0" strike="noStrike" spc="-12">
                          <a:solidFill>
                            <a:srgbClr val="002060"/>
                          </a:solidFill>
                          <a:latin typeface="Arial Narrow" panose="020B0606020202030204" pitchFamily="34" charset="0"/>
                          <a:ea typeface="MS Mincho"/>
                        </a:rPr>
                        <a:t>7</a:t>
                      </a:r>
                      <a:endParaRPr lang="es-PE" sz="2600" b="0" strike="noStrike" spc="-1">
                        <a:solidFill>
                          <a:srgbClr val="002060"/>
                        </a:solidFill>
                        <a:latin typeface="Arial Narrow" panose="020B0606020202030204" pitchFamily="34" charset="0"/>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600" b="0" strike="noStrike" spc="-12">
                          <a:solidFill>
                            <a:srgbClr val="002060"/>
                          </a:solidFill>
                          <a:latin typeface="Arial Narrow" panose="020B0606020202030204" pitchFamily="34" charset="0"/>
                          <a:ea typeface="MS Mincho"/>
                        </a:rPr>
                        <a:t>10</a:t>
                      </a:r>
                      <a:endParaRPr lang="es-PE" sz="2600" b="0" strike="noStrike" spc="-1">
                        <a:solidFill>
                          <a:srgbClr val="002060"/>
                        </a:solidFill>
                        <a:latin typeface="Arial Narrow" panose="020B0606020202030204" pitchFamily="34" charset="0"/>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591022">
                <a:tc>
                  <a:txBody>
                    <a:bodyPr/>
                    <a:lstStyle/>
                    <a:p>
                      <a:pPr algn="ctr">
                        <a:lnSpc>
                          <a:spcPct val="100000"/>
                        </a:lnSpc>
                      </a:pPr>
                      <a:r>
                        <a:rPr lang="es-PE" sz="2600" b="0" strike="noStrike" spc="-12" dirty="0">
                          <a:solidFill>
                            <a:srgbClr val="002060"/>
                          </a:solidFill>
                          <a:latin typeface="Arial Narrow" panose="020B0606020202030204" pitchFamily="34" charset="0"/>
                          <a:ea typeface="MS Mincho"/>
                        </a:rPr>
                        <a:t>Tren</a:t>
                      </a:r>
                      <a:endParaRPr lang="es-PE" sz="2600" b="0" strike="noStrike" spc="-1" dirty="0">
                        <a:solidFill>
                          <a:srgbClr val="002060"/>
                        </a:solidFill>
                        <a:latin typeface="Arial Narrow" panose="020B0606020202030204" pitchFamily="34" charset="0"/>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600" b="0" strike="noStrike" spc="-12" dirty="0">
                          <a:solidFill>
                            <a:srgbClr val="002060"/>
                          </a:solidFill>
                          <a:latin typeface="Arial Narrow" panose="020B0606020202030204" pitchFamily="34" charset="0"/>
                          <a:ea typeface="MS Mincho"/>
                        </a:rPr>
                        <a:t>5</a:t>
                      </a:r>
                      <a:endParaRPr lang="es-PE" sz="2600" b="0" strike="noStrike" spc="-1" dirty="0">
                        <a:solidFill>
                          <a:srgbClr val="002060"/>
                        </a:solidFill>
                        <a:latin typeface="Arial Narrow" panose="020B0606020202030204" pitchFamily="34" charset="0"/>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600" b="0" strike="noStrike" spc="-12" dirty="0">
                          <a:solidFill>
                            <a:srgbClr val="002060"/>
                          </a:solidFill>
                          <a:latin typeface="Arial Narrow" panose="020B0606020202030204" pitchFamily="34" charset="0"/>
                          <a:ea typeface="MS Mincho"/>
                        </a:rPr>
                        <a:t>8</a:t>
                      </a:r>
                      <a:endParaRPr lang="es-PE" sz="2600" b="0" strike="noStrike" spc="-1" dirty="0">
                        <a:solidFill>
                          <a:srgbClr val="002060"/>
                        </a:solidFill>
                        <a:latin typeface="Arial Narrow" panose="020B0606020202030204" pitchFamily="34" charset="0"/>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600" b="0" strike="noStrike" spc="-12" dirty="0">
                          <a:solidFill>
                            <a:srgbClr val="002060"/>
                          </a:solidFill>
                          <a:latin typeface="Arial Narrow" panose="020B0606020202030204" pitchFamily="34" charset="0"/>
                          <a:ea typeface="MS Mincho"/>
                        </a:rPr>
                        <a:t>9</a:t>
                      </a:r>
                      <a:endParaRPr lang="es-PE" sz="2600" b="0" strike="noStrike" spc="-1" dirty="0">
                        <a:solidFill>
                          <a:srgbClr val="002060"/>
                        </a:solidFill>
                        <a:latin typeface="Arial Narrow" panose="020B0606020202030204" pitchFamily="34" charset="0"/>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600" b="0" strike="noStrike" spc="-12" dirty="0">
                          <a:solidFill>
                            <a:srgbClr val="002060"/>
                          </a:solidFill>
                          <a:latin typeface="Arial Narrow" panose="020B0606020202030204" pitchFamily="34" charset="0"/>
                          <a:ea typeface="MS Mincho"/>
                        </a:rPr>
                        <a:t>11</a:t>
                      </a:r>
                      <a:endParaRPr lang="es-PE" sz="2600" b="0" strike="noStrike" spc="-1" dirty="0">
                        <a:solidFill>
                          <a:srgbClr val="002060"/>
                        </a:solidFill>
                        <a:latin typeface="Arial Narrow" panose="020B0606020202030204" pitchFamily="34" charset="0"/>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600" b="0" strike="noStrike" spc="-12" dirty="0">
                          <a:solidFill>
                            <a:srgbClr val="002060"/>
                          </a:solidFill>
                          <a:latin typeface="Arial Narrow" panose="020B0606020202030204" pitchFamily="34" charset="0"/>
                          <a:ea typeface="MS Mincho"/>
                        </a:rPr>
                        <a:t>13</a:t>
                      </a:r>
                      <a:endParaRPr lang="es-PE" sz="2600" b="0" strike="noStrike" spc="-1" dirty="0">
                        <a:solidFill>
                          <a:srgbClr val="002060"/>
                        </a:solidFill>
                        <a:latin typeface="Arial Narrow" panose="020B0606020202030204" pitchFamily="34" charset="0"/>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591734">
                <a:tc>
                  <a:txBody>
                    <a:bodyPr/>
                    <a:lstStyle/>
                    <a:p>
                      <a:pPr algn="ctr">
                        <a:lnSpc>
                          <a:spcPct val="100000"/>
                        </a:lnSpc>
                      </a:pPr>
                      <a:r>
                        <a:rPr lang="es-PE" sz="2600" b="0" strike="noStrike" spc="-1">
                          <a:solidFill>
                            <a:srgbClr val="002060"/>
                          </a:solidFill>
                          <a:latin typeface="Arial Narrow" panose="020B0606020202030204" pitchFamily="34" charset="0"/>
                          <a:ea typeface="MS Mincho"/>
                        </a:rPr>
                        <a:t>Demanda</a:t>
                      </a:r>
                      <a:endParaRPr lang="es-PE" sz="2600" b="0" strike="noStrike" spc="-1">
                        <a:solidFill>
                          <a:srgbClr val="002060"/>
                        </a:solidFill>
                        <a:latin typeface="Arial Narrow" panose="020B0606020202030204" pitchFamily="34" charset="0"/>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600" b="0" strike="noStrike" spc="-1">
                          <a:solidFill>
                            <a:srgbClr val="002060"/>
                          </a:solidFill>
                          <a:latin typeface="Arial Narrow" panose="020B0606020202030204" pitchFamily="34" charset="0"/>
                          <a:ea typeface="MS Mincho"/>
                        </a:rPr>
                        <a:t>150</a:t>
                      </a:r>
                      <a:endParaRPr lang="es-PE" sz="2600" b="0" strike="noStrike" spc="-1">
                        <a:solidFill>
                          <a:srgbClr val="002060"/>
                        </a:solidFill>
                        <a:latin typeface="Arial Narrow" panose="020B0606020202030204" pitchFamily="34" charset="0"/>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600" b="0" strike="noStrike" spc="-1">
                          <a:solidFill>
                            <a:srgbClr val="002060"/>
                          </a:solidFill>
                          <a:latin typeface="Arial Narrow" panose="020B0606020202030204" pitchFamily="34" charset="0"/>
                          <a:ea typeface="MS Mincho"/>
                        </a:rPr>
                        <a:t>100</a:t>
                      </a:r>
                      <a:endParaRPr lang="es-PE" sz="2600" b="0" strike="noStrike" spc="-1">
                        <a:solidFill>
                          <a:srgbClr val="002060"/>
                        </a:solidFill>
                        <a:latin typeface="Arial Narrow" panose="020B0606020202030204" pitchFamily="34" charset="0"/>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600" b="0" strike="noStrike" spc="-1">
                          <a:solidFill>
                            <a:srgbClr val="002060"/>
                          </a:solidFill>
                          <a:latin typeface="Arial Narrow" panose="020B0606020202030204" pitchFamily="34" charset="0"/>
                          <a:ea typeface="MS Mincho"/>
                        </a:rPr>
                        <a:t>200</a:t>
                      </a:r>
                      <a:endParaRPr lang="es-PE" sz="2600" b="0" strike="noStrike" spc="-1">
                        <a:solidFill>
                          <a:srgbClr val="002060"/>
                        </a:solidFill>
                        <a:latin typeface="Arial Narrow" panose="020B0606020202030204" pitchFamily="34" charset="0"/>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600" b="0" strike="noStrike" spc="-1">
                          <a:solidFill>
                            <a:srgbClr val="002060"/>
                          </a:solidFill>
                          <a:latin typeface="Arial Narrow" panose="020B0606020202030204" pitchFamily="34" charset="0"/>
                          <a:ea typeface="MS Mincho"/>
                        </a:rPr>
                        <a:t>50</a:t>
                      </a:r>
                      <a:endParaRPr lang="es-PE" sz="2600" b="0" strike="noStrike" spc="-1">
                        <a:solidFill>
                          <a:srgbClr val="002060"/>
                        </a:solidFill>
                        <a:latin typeface="Arial Narrow" panose="020B0606020202030204" pitchFamily="34" charset="0"/>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600" b="0" strike="noStrike" spc="-1" dirty="0">
                          <a:solidFill>
                            <a:srgbClr val="002060"/>
                          </a:solidFill>
                          <a:latin typeface="Arial Narrow" panose="020B0606020202030204" pitchFamily="34" charset="0"/>
                          <a:ea typeface="MS Mincho"/>
                        </a:rPr>
                        <a:t>250</a:t>
                      </a:r>
                      <a:endParaRPr lang="es-PE" sz="2600" b="0" strike="noStrike" spc="-1" dirty="0">
                        <a:solidFill>
                          <a:srgbClr val="002060"/>
                        </a:solidFill>
                        <a:latin typeface="Arial Narrow" panose="020B0606020202030204" pitchFamily="34" charset="0"/>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3"/>
                  </a:ext>
                </a:extLst>
              </a:tr>
            </a:tbl>
          </a:graphicData>
        </a:graphic>
      </p:graphicFrame>
      <p:sp>
        <p:nvSpPr>
          <p:cNvPr id="4" name="CuadroTexto 3">
            <a:extLst>
              <a:ext uri="{FF2B5EF4-FFF2-40B4-BE49-F238E27FC236}">
                <a16:creationId xmlns:a16="http://schemas.microsoft.com/office/drawing/2014/main" id="{2C439AFA-B740-EB0E-6CC9-F053A8BFBED1}"/>
              </a:ext>
            </a:extLst>
          </p:cNvPr>
          <p:cNvSpPr txBox="1"/>
          <p:nvPr/>
        </p:nvSpPr>
        <p:spPr>
          <a:xfrm>
            <a:off x="0" y="1194059"/>
            <a:ext cx="6324718" cy="3046988"/>
          </a:xfrm>
          <a:prstGeom prst="rect">
            <a:avLst/>
          </a:prstGeom>
          <a:solidFill>
            <a:schemeClr val="accent4">
              <a:lumMod val="20000"/>
              <a:lumOff val="80000"/>
            </a:schemeClr>
          </a:solidFill>
        </p:spPr>
        <p:txBody>
          <a:bodyPr wrap="square">
            <a:spAutoFit/>
          </a:bodyPr>
          <a:lstStyle/>
          <a:p>
            <a:pPr lvl="0" algn="just" rtl="0"/>
            <a:r>
              <a:rPr lang="es-PE" sz="2400" b="0" dirty="0">
                <a:latin typeface="Arial Narrow" panose="020B0606020202030204" pitchFamily="34" charset="0"/>
              </a:rPr>
              <a:t>GENERAL MOTORS, puede enviar un total hasta 300 automóviles en camión y 400 en ferrocarril de su fábrica de Detroit a sus distribuidores de Chicago, Cleveland, Washington, Filadelfia y Cincinnati. El costo en dólares de enviar un carro a cada uno de los distribuidores por camión y por tren y las demandas de carros de los distribuidores se muestra en la siguiente tabla. </a:t>
            </a:r>
            <a:r>
              <a:rPr lang="es-PE" sz="2400" b="0" i="1" dirty="0">
                <a:latin typeface="Arial Narrow" panose="020B0606020202030204" pitchFamily="34" charset="0"/>
              </a:rPr>
              <a:t>Formule</a:t>
            </a:r>
            <a:r>
              <a:rPr lang="es-PE" sz="2400" b="0" dirty="0">
                <a:latin typeface="Arial Narrow" panose="020B0606020202030204" pitchFamily="34" charset="0"/>
              </a:rPr>
              <a:t> y resuelva usando el Método de Vogel.</a:t>
            </a:r>
            <a:endParaRPr lang="es-PE" sz="2400" dirty="0">
              <a:latin typeface="Arial Narrow" panose="020B0606020202030204" pitchFamily="34" charset="0"/>
            </a:endParaRPr>
          </a:p>
        </p:txBody>
      </p:sp>
    </p:spTree>
    <p:extLst>
      <p:ext uri="{BB962C8B-B14F-4D97-AF65-F5344CB8AC3E}">
        <p14:creationId xmlns:p14="http://schemas.microsoft.com/office/powerpoint/2010/main" val="971253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2">
            <a:extLst>
              <a:ext uri="{FF2B5EF4-FFF2-40B4-BE49-F238E27FC236}">
                <a16:creationId xmlns:a16="http://schemas.microsoft.com/office/drawing/2014/main" id="{EF938C7A-E559-48EA-8D2F-D08A8ACFEA1B}"/>
              </a:ext>
            </a:extLst>
          </p:cNvPr>
          <p:cNvSpPr txBox="1"/>
          <p:nvPr/>
        </p:nvSpPr>
        <p:spPr>
          <a:xfrm>
            <a:off x="7523" y="1279096"/>
            <a:ext cx="6088478" cy="5517360"/>
          </a:xfrm>
          <a:prstGeom prst="rect">
            <a:avLst/>
          </a:prstGeom>
          <a:noFill/>
          <a:ln w="9360">
            <a:noFill/>
          </a:ln>
        </p:spPr>
        <p:txBody>
          <a:bodyPr>
            <a:noAutofit/>
          </a:bodyPr>
          <a:lstStyle/>
          <a:p>
            <a:pPr marL="343080" indent="-342720"/>
            <a:r>
              <a:rPr lang="es-ES" sz="2000" spc="-1" dirty="0">
                <a:solidFill>
                  <a:srgbClr val="FF0000"/>
                </a:solidFill>
                <a:latin typeface="Arial"/>
              </a:rPr>
              <a:t>I.	Identificación de variables. </a:t>
            </a:r>
          </a:p>
          <a:p>
            <a:r>
              <a:rPr lang="es-PE" sz="2000" dirty="0"/>
              <a:t>	</a:t>
            </a:r>
            <a:r>
              <a:rPr lang="es-PE" sz="2000" dirty="0" err="1"/>
              <a:t>Xij</a:t>
            </a:r>
            <a:r>
              <a:rPr lang="es-PE" sz="2000" dirty="0"/>
              <a:t> =# de automóviles a enviar por el medio i al</a:t>
            </a:r>
          </a:p>
          <a:p>
            <a:r>
              <a:rPr lang="es-PE" sz="2000" dirty="0"/>
              <a:t>	destino j</a:t>
            </a:r>
          </a:p>
          <a:p>
            <a:pPr marL="343080" indent="-342720"/>
            <a:r>
              <a:rPr lang="es-ES" sz="2000" spc="-1" dirty="0">
                <a:solidFill>
                  <a:srgbClr val="FF0000"/>
                </a:solidFill>
                <a:latin typeface="Arial"/>
              </a:rPr>
              <a:t>II.	Identificación de la función objetivo.</a:t>
            </a:r>
          </a:p>
          <a:p>
            <a:r>
              <a:rPr lang="es-PE" sz="2000" dirty="0"/>
              <a:t>      MIN   </a:t>
            </a:r>
            <a:r>
              <a:rPr lang="es-PE" sz="2000" dirty="0" err="1"/>
              <a:t>6X11</a:t>
            </a:r>
            <a:r>
              <a:rPr lang="es-PE" sz="2000" dirty="0"/>
              <a:t> + </a:t>
            </a:r>
            <a:r>
              <a:rPr lang="es-PE" sz="2000" dirty="0" err="1"/>
              <a:t>4X12</a:t>
            </a:r>
            <a:r>
              <a:rPr lang="es-PE" sz="2000" dirty="0"/>
              <a:t> + </a:t>
            </a:r>
            <a:r>
              <a:rPr lang="es-PE" sz="2000" dirty="0" err="1"/>
              <a:t>3X13</a:t>
            </a:r>
            <a:r>
              <a:rPr lang="es-PE" sz="2000" dirty="0"/>
              <a:t> +  </a:t>
            </a:r>
            <a:r>
              <a:rPr lang="es-PE" sz="2000" dirty="0" err="1"/>
              <a:t>7X14+10X15</a:t>
            </a:r>
            <a:r>
              <a:rPr lang="es-PE" sz="2000" dirty="0"/>
              <a:t>+ </a:t>
            </a:r>
            <a:r>
              <a:rPr lang="es-PE" sz="2000" dirty="0" err="1"/>
              <a:t>5X21</a:t>
            </a:r>
            <a:r>
              <a:rPr lang="es-PE" sz="2000" dirty="0"/>
              <a:t> +</a:t>
            </a:r>
          </a:p>
          <a:p>
            <a:r>
              <a:rPr lang="es-PE" sz="2000" dirty="0"/>
              <a:t>	 </a:t>
            </a:r>
            <a:r>
              <a:rPr lang="es-PE" sz="2000" dirty="0" err="1"/>
              <a:t>8X22</a:t>
            </a:r>
            <a:r>
              <a:rPr lang="es-PE" sz="2000" dirty="0"/>
              <a:t> +</a:t>
            </a:r>
            <a:r>
              <a:rPr lang="es-PE" sz="2000" dirty="0" err="1"/>
              <a:t>9X23</a:t>
            </a:r>
            <a:r>
              <a:rPr lang="es-PE" sz="2000" dirty="0"/>
              <a:t> +</a:t>
            </a:r>
            <a:r>
              <a:rPr lang="es-PE" sz="2000" dirty="0" err="1"/>
              <a:t>11X24+13X25</a:t>
            </a:r>
            <a:r>
              <a:rPr lang="es-PE" sz="2000" dirty="0"/>
              <a:t>+  </a:t>
            </a:r>
            <a:r>
              <a:rPr lang="es-PE" sz="2000" dirty="0" err="1"/>
              <a:t>0X31</a:t>
            </a:r>
            <a:r>
              <a:rPr lang="es-PE" sz="2000" dirty="0"/>
              <a:t> + </a:t>
            </a:r>
            <a:r>
              <a:rPr lang="es-PE" sz="2000" dirty="0" err="1"/>
              <a:t>0X32</a:t>
            </a:r>
            <a:r>
              <a:rPr lang="es-PE" sz="2000" dirty="0"/>
              <a:t> +</a:t>
            </a:r>
          </a:p>
          <a:p>
            <a:r>
              <a:rPr lang="es-PE" sz="2000" dirty="0"/>
              <a:t>	 </a:t>
            </a:r>
            <a:r>
              <a:rPr lang="es-PE" sz="2000" dirty="0" err="1"/>
              <a:t>0X32</a:t>
            </a:r>
            <a:r>
              <a:rPr lang="es-PE" sz="2000" dirty="0"/>
              <a:t>  +</a:t>
            </a:r>
            <a:r>
              <a:rPr lang="es-PE" sz="2000" dirty="0" err="1"/>
              <a:t>0X33</a:t>
            </a:r>
            <a:r>
              <a:rPr lang="es-PE" sz="2000" dirty="0"/>
              <a:t> + </a:t>
            </a:r>
            <a:r>
              <a:rPr lang="es-PE" sz="2000" dirty="0" err="1"/>
              <a:t>0X34</a:t>
            </a:r>
            <a:r>
              <a:rPr lang="es-PE" sz="2000" dirty="0"/>
              <a:t>  + </a:t>
            </a:r>
            <a:r>
              <a:rPr lang="es-PE" sz="2000" dirty="0" err="1"/>
              <a:t>0X35</a:t>
            </a:r>
            <a:endParaRPr lang="es-PE" sz="2000" dirty="0"/>
          </a:p>
          <a:p>
            <a:pPr marL="343080" indent="-342720"/>
            <a:r>
              <a:rPr lang="es-ES" sz="2000" spc="-1" dirty="0">
                <a:solidFill>
                  <a:srgbClr val="FF0000"/>
                </a:solidFill>
                <a:latin typeface="Arial"/>
              </a:rPr>
              <a:t>III	Identificación de Restricciones.</a:t>
            </a:r>
          </a:p>
          <a:p>
            <a:pPr lvl="0"/>
            <a:r>
              <a:rPr lang="es-ES" sz="2000" spc="-1" dirty="0">
                <a:solidFill>
                  <a:schemeClr val="accent1">
                    <a:lumMod val="75000"/>
                  </a:schemeClr>
                </a:solidFill>
                <a:latin typeface="Arial"/>
              </a:rPr>
              <a:t>	</a:t>
            </a:r>
            <a:r>
              <a:rPr lang="es-PE" sz="2000" dirty="0" err="1"/>
              <a:t>X11</a:t>
            </a:r>
            <a:r>
              <a:rPr lang="es-PE" sz="2000" dirty="0"/>
              <a:t> + </a:t>
            </a:r>
            <a:r>
              <a:rPr lang="es-PE" sz="2000" dirty="0" err="1"/>
              <a:t>X12</a:t>
            </a:r>
            <a:r>
              <a:rPr lang="es-PE" sz="2000" dirty="0"/>
              <a:t> + </a:t>
            </a:r>
            <a:r>
              <a:rPr lang="es-PE" sz="2000" dirty="0" err="1"/>
              <a:t>X13</a:t>
            </a:r>
            <a:r>
              <a:rPr lang="es-PE" sz="2000" dirty="0"/>
              <a:t> +</a:t>
            </a:r>
            <a:r>
              <a:rPr lang="es-PE" sz="2000" dirty="0" err="1"/>
              <a:t>X14</a:t>
            </a:r>
            <a:r>
              <a:rPr lang="es-PE" sz="2000" dirty="0"/>
              <a:t> +</a:t>
            </a:r>
            <a:r>
              <a:rPr lang="es-PE" sz="2000" dirty="0" err="1"/>
              <a:t>X15</a:t>
            </a:r>
            <a:r>
              <a:rPr lang="es-PE" sz="2000" dirty="0"/>
              <a:t> ≤ 300</a:t>
            </a:r>
          </a:p>
          <a:p>
            <a:r>
              <a:rPr lang="es-PE" sz="2000" dirty="0"/>
              <a:t>	</a:t>
            </a:r>
            <a:r>
              <a:rPr lang="es-PE" sz="2000" dirty="0" err="1"/>
              <a:t>X21</a:t>
            </a:r>
            <a:r>
              <a:rPr lang="es-PE" sz="2000" dirty="0"/>
              <a:t> + </a:t>
            </a:r>
            <a:r>
              <a:rPr lang="es-PE" sz="2000" dirty="0" err="1"/>
              <a:t>X22</a:t>
            </a:r>
            <a:r>
              <a:rPr lang="es-PE" sz="2000" dirty="0"/>
              <a:t> + </a:t>
            </a:r>
            <a:r>
              <a:rPr lang="es-PE" sz="2000" dirty="0" err="1"/>
              <a:t>X23</a:t>
            </a:r>
            <a:r>
              <a:rPr lang="es-PE" sz="2000" dirty="0"/>
              <a:t> + </a:t>
            </a:r>
            <a:r>
              <a:rPr lang="es-PE" sz="2000" dirty="0" err="1"/>
              <a:t>X24+X25</a:t>
            </a:r>
            <a:r>
              <a:rPr lang="es-PE" sz="2000" dirty="0"/>
              <a:t> ≤ 400</a:t>
            </a:r>
          </a:p>
          <a:p>
            <a:r>
              <a:rPr lang="es-PE" sz="2000" dirty="0"/>
              <a:t>	</a:t>
            </a:r>
            <a:r>
              <a:rPr lang="es-PE" sz="2000" dirty="0" err="1"/>
              <a:t>X31</a:t>
            </a:r>
            <a:r>
              <a:rPr lang="es-PE" sz="2000" dirty="0"/>
              <a:t> + </a:t>
            </a:r>
            <a:r>
              <a:rPr lang="es-PE" sz="2000" dirty="0" err="1"/>
              <a:t>X32</a:t>
            </a:r>
            <a:r>
              <a:rPr lang="es-PE" sz="2000" dirty="0"/>
              <a:t> + </a:t>
            </a:r>
            <a:r>
              <a:rPr lang="es-PE" sz="2000" dirty="0" err="1"/>
              <a:t>X33</a:t>
            </a:r>
            <a:r>
              <a:rPr lang="es-PE" sz="2000" dirty="0"/>
              <a:t>  +</a:t>
            </a:r>
            <a:r>
              <a:rPr lang="es-PE" sz="2000" dirty="0" err="1"/>
              <a:t>X34+X35</a:t>
            </a:r>
            <a:r>
              <a:rPr lang="es-PE" sz="2000" dirty="0"/>
              <a:t> ≤ 50</a:t>
            </a:r>
          </a:p>
          <a:p>
            <a:r>
              <a:rPr lang="es-PE" sz="2000" dirty="0"/>
              <a:t>	</a:t>
            </a:r>
            <a:r>
              <a:rPr lang="es-PE" sz="2000" dirty="0" err="1"/>
              <a:t>X11</a:t>
            </a:r>
            <a:r>
              <a:rPr lang="es-PE" sz="2000" dirty="0"/>
              <a:t> + </a:t>
            </a:r>
            <a:r>
              <a:rPr lang="es-PE" sz="2000" dirty="0" err="1"/>
              <a:t>X21</a:t>
            </a:r>
            <a:r>
              <a:rPr lang="es-PE" sz="2000" dirty="0"/>
              <a:t> + </a:t>
            </a:r>
            <a:r>
              <a:rPr lang="es-PE" sz="2000" dirty="0" err="1"/>
              <a:t>X31</a:t>
            </a:r>
            <a:r>
              <a:rPr lang="es-PE" sz="2000" dirty="0"/>
              <a:t> =  150       </a:t>
            </a:r>
          </a:p>
          <a:p>
            <a:r>
              <a:rPr lang="es-PE" sz="2000" dirty="0"/>
              <a:t>	</a:t>
            </a:r>
            <a:r>
              <a:rPr lang="es-PE" sz="2000" dirty="0" err="1"/>
              <a:t>X14</a:t>
            </a:r>
            <a:r>
              <a:rPr lang="es-PE" sz="2000" dirty="0"/>
              <a:t> + </a:t>
            </a:r>
            <a:r>
              <a:rPr lang="es-PE" sz="2000" dirty="0" err="1"/>
              <a:t>X24</a:t>
            </a:r>
            <a:r>
              <a:rPr lang="es-PE" sz="2000" dirty="0"/>
              <a:t> + </a:t>
            </a:r>
            <a:r>
              <a:rPr lang="es-PE" sz="2000" dirty="0" err="1"/>
              <a:t>X34</a:t>
            </a:r>
            <a:r>
              <a:rPr lang="es-PE" sz="2000" dirty="0"/>
              <a:t> = 50 </a:t>
            </a:r>
          </a:p>
          <a:p>
            <a:r>
              <a:rPr lang="es-PE" sz="2000" dirty="0"/>
              <a:t>	</a:t>
            </a:r>
            <a:r>
              <a:rPr lang="es-PE" sz="2000" dirty="0" err="1"/>
              <a:t>X12</a:t>
            </a:r>
            <a:r>
              <a:rPr lang="es-PE" sz="2000" dirty="0"/>
              <a:t> + </a:t>
            </a:r>
            <a:r>
              <a:rPr lang="es-PE" sz="2000" dirty="0" err="1"/>
              <a:t>X22</a:t>
            </a:r>
            <a:r>
              <a:rPr lang="es-PE" sz="2000" dirty="0"/>
              <a:t> + </a:t>
            </a:r>
            <a:r>
              <a:rPr lang="es-PE" sz="2000" dirty="0" err="1"/>
              <a:t>X32</a:t>
            </a:r>
            <a:r>
              <a:rPr lang="es-PE" sz="2000" dirty="0"/>
              <a:t> = 100	     </a:t>
            </a:r>
          </a:p>
          <a:p>
            <a:r>
              <a:rPr lang="es-PE" sz="2000" dirty="0"/>
              <a:t>	</a:t>
            </a:r>
            <a:r>
              <a:rPr lang="es-PE" sz="2000" dirty="0" err="1"/>
              <a:t>X15</a:t>
            </a:r>
            <a:r>
              <a:rPr lang="es-PE" sz="2000" dirty="0"/>
              <a:t> + </a:t>
            </a:r>
            <a:r>
              <a:rPr lang="es-PE" sz="2000" dirty="0" err="1"/>
              <a:t>X25</a:t>
            </a:r>
            <a:r>
              <a:rPr lang="es-PE" sz="2000" dirty="0"/>
              <a:t> + </a:t>
            </a:r>
            <a:r>
              <a:rPr lang="es-PE" sz="2000" dirty="0" err="1"/>
              <a:t>X35</a:t>
            </a:r>
            <a:r>
              <a:rPr lang="es-PE" sz="2000" dirty="0"/>
              <a:t> = 250 </a:t>
            </a:r>
          </a:p>
          <a:p>
            <a:r>
              <a:rPr lang="es-PE" sz="2000" dirty="0"/>
              <a:t>	</a:t>
            </a:r>
            <a:r>
              <a:rPr lang="es-PE" sz="2000" dirty="0" err="1"/>
              <a:t>X13</a:t>
            </a:r>
            <a:r>
              <a:rPr lang="es-PE" sz="2000" dirty="0"/>
              <a:t> + </a:t>
            </a:r>
            <a:r>
              <a:rPr lang="es-PE" sz="2000" dirty="0" err="1"/>
              <a:t>X23</a:t>
            </a:r>
            <a:r>
              <a:rPr lang="es-PE" sz="2000" dirty="0"/>
              <a:t> + </a:t>
            </a:r>
            <a:r>
              <a:rPr lang="es-PE" sz="2000" dirty="0" err="1"/>
              <a:t>X33</a:t>
            </a:r>
            <a:r>
              <a:rPr lang="es-PE" sz="2000" dirty="0"/>
              <a:t> = 200	                          </a:t>
            </a:r>
          </a:p>
          <a:p>
            <a:r>
              <a:rPr lang="es-PE" sz="2000" dirty="0"/>
              <a:t>		          </a:t>
            </a:r>
            <a:r>
              <a:rPr lang="es-PE" sz="2000" dirty="0" err="1"/>
              <a:t>Xij</a:t>
            </a:r>
            <a:r>
              <a:rPr lang="es-PE" sz="2000" dirty="0"/>
              <a:t>&gt;=    0, Entero </a:t>
            </a:r>
          </a:p>
          <a:p>
            <a:endParaRPr lang="es-PE" sz="2000" dirty="0"/>
          </a:p>
          <a:p>
            <a:endParaRPr lang="es-PE" sz="2000" dirty="0"/>
          </a:p>
          <a:p>
            <a:r>
              <a:rPr lang="es-PE" sz="2000" dirty="0"/>
              <a:t>	</a:t>
            </a:r>
          </a:p>
          <a:p>
            <a:endParaRPr lang="es-PE" sz="2000" dirty="0"/>
          </a:p>
          <a:p>
            <a:pPr lvl="0"/>
            <a:endParaRPr lang="es-PE" sz="2000" dirty="0"/>
          </a:p>
          <a:p>
            <a:pPr marL="343080" indent="-342720"/>
            <a:endParaRPr lang="es-ES" sz="2000" spc="-1" dirty="0">
              <a:solidFill>
                <a:schemeClr val="accent1">
                  <a:lumMod val="75000"/>
                </a:schemeClr>
              </a:solidFill>
              <a:latin typeface="Arial"/>
            </a:endParaRPr>
          </a:p>
        </p:txBody>
      </p:sp>
      <p:sp>
        <p:nvSpPr>
          <p:cNvPr id="5" name="TextShape 1">
            <a:extLst>
              <a:ext uri="{FF2B5EF4-FFF2-40B4-BE49-F238E27FC236}">
                <a16:creationId xmlns:a16="http://schemas.microsoft.com/office/drawing/2014/main" id="{4E32BD25-60F7-46B8-A1B7-39DC776A1022}"/>
              </a:ext>
            </a:extLst>
          </p:cNvPr>
          <p:cNvSpPr txBox="1"/>
          <p:nvPr/>
        </p:nvSpPr>
        <p:spPr>
          <a:xfrm>
            <a:off x="6096000" y="214669"/>
            <a:ext cx="6096000" cy="62658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defPPr>
              <a:defRPr lang="es-ES"/>
            </a:defPPr>
            <a:lvl1pPr algn="ctr">
              <a:lnSpc>
                <a:spcPts val="5800"/>
              </a:lnSpc>
              <a:spcBef>
                <a:spcPct val="0"/>
              </a:spcBef>
              <a:defRPr sz="3200">
                <a:solidFill>
                  <a:schemeClr val="bg1"/>
                </a:solidFill>
                <a:effectLst>
                  <a:outerShdw blurRad="63500" dist="38100" dir="5400000" algn="t" rotWithShape="0">
                    <a:prstClr val="black">
                      <a:alpha val="25000"/>
                    </a:prstClr>
                  </a:outerShdw>
                </a:effectLst>
                <a:latin typeface="Bauhaus 93" pitchFamily="82" charset="0"/>
              </a:defRPr>
            </a:lvl1pPr>
          </a:lstStyle>
          <a:p>
            <a:r>
              <a:rPr lang="es-ES" dirty="0"/>
              <a:t>Modelo matemático</a:t>
            </a:r>
          </a:p>
        </p:txBody>
      </p:sp>
      <p:sp>
        <p:nvSpPr>
          <p:cNvPr id="6" name="Rectángulo 5">
            <a:extLst>
              <a:ext uri="{FF2B5EF4-FFF2-40B4-BE49-F238E27FC236}">
                <a16:creationId xmlns:a16="http://schemas.microsoft.com/office/drawing/2014/main" id="{D1450535-D636-488E-AD54-E806731AEF6E}"/>
              </a:ext>
            </a:extLst>
          </p:cNvPr>
          <p:cNvSpPr/>
          <p:nvPr/>
        </p:nvSpPr>
        <p:spPr>
          <a:xfrm>
            <a:off x="6197910" y="1349386"/>
            <a:ext cx="4312974" cy="3416320"/>
          </a:xfrm>
          <a:prstGeom prst="rect">
            <a:avLst/>
          </a:prstGeom>
          <a:solidFill>
            <a:srgbClr val="FFFF00"/>
          </a:solidFill>
        </p:spPr>
        <p:txBody>
          <a:bodyPr wrap="square">
            <a:spAutoFit/>
          </a:bodyPr>
          <a:lstStyle/>
          <a:p>
            <a:r>
              <a:rPr lang="es-PE" dirty="0"/>
              <a:t>MIN  </a:t>
            </a:r>
            <a:r>
              <a:rPr lang="es-PE" dirty="0" err="1"/>
              <a:t>6X11</a:t>
            </a:r>
            <a:r>
              <a:rPr lang="es-PE" dirty="0"/>
              <a:t> +  </a:t>
            </a:r>
            <a:r>
              <a:rPr lang="es-PE" dirty="0" err="1"/>
              <a:t>4X12</a:t>
            </a:r>
            <a:r>
              <a:rPr lang="es-PE" dirty="0"/>
              <a:t> + </a:t>
            </a:r>
            <a:r>
              <a:rPr lang="es-PE" dirty="0" err="1"/>
              <a:t>3X13</a:t>
            </a:r>
            <a:r>
              <a:rPr lang="es-PE" dirty="0"/>
              <a:t> +</a:t>
            </a:r>
            <a:r>
              <a:rPr lang="es-PE" dirty="0" err="1"/>
              <a:t>7X14+10X15</a:t>
            </a:r>
            <a:r>
              <a:rPr lang="es-PE" dirty="0"/>
              <a:t>+ </a:t>
            </a:r>
          </a:p>
          <a:p>
            <a:r>
              <a:rPr lang="es-PE" dirty="0"/>
              <a:t>          </a:t>
            </a:r>
            <a:r>
              <a:rPr lang="es-PE" dirty="0" err="1"/>
              <a:t>5X21</a:t>
            </a:r>
            <a:r>
              <a:rPr lang="es-PE" dirty="0"/>
              <a:t> + </a:t>
            </a:r>
            <a:r>
              <a:rPr lang="es-PE" dirty="0" err="1"/>
              <a:t>8X22</a:t>
            </a:r>
            <a:r>
              <a:rPr lang="es-PE" dirty="0"/>
              <a:t> + </a:t>
            </a:r>
            <a:r>
              <a:rPr lang="es-PE" dirty="0" err="1"/>
              <a:t>9X23</a:t>
            </a:r>
            <a:r>
              <a:rPr lang="es-PE" dirty="0"/>
              <a:t> +</a:t>
            </a:r>
            <a:r>
              <a:rPr lang="es-PE" dirty="0" err="1"/>
              <a:t>11X24+13X25</a:t>
            </a:r>
            <a:r>
              <a:rPr lang="es-PE" dirty="0"/>
              <a:t>+</a:t>
            </a:r>
          </a:p>
          <a:p>
            <a:r>
              <a:rPr lang="es-PE" dirty="0"/>
              <a:t>          </a:t>
            </a:r>
            <a:r>
              <a:rPr lang="es-PE" dirty="0" err="1"/>
              <a:t>0X31</a:t>
            </a:r>
            <a:r>
              <a:rPr lang="es-PE" dirty="0"/>
              <a:t> + </a:t>
            </a:r>
            <a:r>
              <a:rPr lang="es-PE" dirty="0" err="1"/>
              <a:t>0X32</a:t>
            </a:r>
            <a:r>
              <a:rPr lang="es-PE" dirty="0"/>
              <a:t>  +</a:t>
            </a:r>
            <a:r>
              <a:rPr lang="es-PE" dirty="0" err="1"/>
              <a:t>0X33</a:t>
            </a:r>
            <a:r>
              <a:rPr lang="es-PE" dirty="0"/>
              <a:t> + </a:t>
            </a:r>
            <a:r>
              <a:rPr lang="es-PE" dirty="0" err="1"/>
              <a:t>0X34</a:t>
            </a:r>
            <a:r>
              <a:rPr lang="es-PE" dirty="0"/>
              <a:t>  + </a:t>
            </a:r>
            <a:r>
              <a:rPr lang="es-PE" dirty="0" err="1"/>
              <a:t>0X35</a:t>
            </a:r>
            <a:endParaRPr lang="es-PE" dirty="0"/>
          </a:p>
          <a:p>
            <a:r>
              <a:rPr lang="es-PE" dirty="0" err="1"/>
              <a:t>st</a:t>
            </a:r>
            <a:endParaRPr lang="es-PE" dirty="0"/>
          </a:p>
          <a:p>
            <a:r>
              <a:rPr lang="es-PE" dirty="0"/>
              <a:t>	</a:t>
            </a:r>
            <a:r>
              <a:rPr lang="es-PE" dirty="0" err="1"/>
              <a:t>X11</a:t>
            </a:r>
            <a:r>
              <a:rPr lang="es-PE" dirty="0"/>
              <a:t> + </a:t>
            </a:r>
            <a:r>
              <a:rPr lang="es-PE" dirty="0" err="1"/>
              <a:t>X12</a:t>
            </a:r>
            <a:r>
              <a:rPr lang="es-PE" dirty="0"/>
              <a:t> + </a:t>
            </a:r>
            <a:r>
              <a:rPr lang="es-PE" dirty="0" err="1"/>
              <a:t>X13</a:t>
            </a:r>
            <a:r>
              <a:rPr lang="es-PE" dirty="0"/>
              <a:t> +</a:t>
            </a:r>
            <a:r>
              <a:rPr lang="es-PE" dirty="0" err="1"/>
              <a:t>X14</a:t>
            </a:r>
            <a:r>
              <a:rPr lang="es-PE" dirty="0"/>
              <a:t> +</a:t>
            </a:r>
            <a:r>
              <a:rPr lang="es-PE" dirty="0" err="1"/>
              <a:t>X15</a:t>
            </a:r>
            <a:r>
              <a:rPr lang="es-PE" dirty="0"/>
              <a:t> = 300</a:t>
            </a:r>
          </a:p>
          <a:p>
            <a:r>
              <a:rPr lang="es-PE" dirty="0"/>
              <a:t>	</a:t>
            </a:r>
            <a:r>
              <a:rPr lang="es-PE" dirty="0" err="1"/>
              <a:t>X21</a:t>
            </a:r>
            <a:r>
              <a:rPr lang="es-PE" dirty="0"/>
              <a:t> + </a:t>
            </a:r>
            <a:r>
              <a:rPr lang="es-PE" dirty="0" err="1"/>
              <a:t>X22</a:t>
            </a:r>
            <a:r>
              <a:rPr lang="es-PE" dirty="0"/>
              <a:t> + </a:t>
            </a:r>
            <a:r>
              <a:rPr lang="es-PE" dirty="0" err="1"/>
              <a:t>X23</a:t>
            </a:r>
            <a:r>
              <a:rPr lang="es-PE" dirty="0"/>
              <a:t> + </a:t>
            </a:r>
            <a:r>
              <a:rPr lang="es-PE" dirty="0" err="1"/>
              <a:t>X24+X25</a:t>
            </a:r>
            <a:r>
              <a:rPr lang="es-PE" dirty="0"/>
              <a:t> = 400</a:t>
            </a:r>
          </a:p>
          <a:p>
            <a:r>
              <a:rPr lang="es-PE" dirty="0"/>
              <a:t>	</a:t>
            </a:r>
            <a:r>
              <a:rPr lang="es-PE" dirty="0" err="1"/>
              <a:t>X31</a:t>
            </a:r>
            <a:r>
              <a:rPr lang="es-PE" dirty="0"/>
              <a:t> + </a:t>
            </a:r>
            <a:r>
              <a:rPr lang="es-PE" dirty="0" err="1"/>
              <a:t>X32</a:t>
            </a:r>
            <a:r>
              <a:rPr lang="es-PE" dirty="0"/>
              <a:t> + </a:t>
            </a:r>
            <a:r>
              <a:rPr lang="es-PE" dirty="0" err="1"/>
              <a:t>X33</a:t>
            </a:r>
            <a:r>
              <a:rPr lang="es-PE" dirty="0"/>
              <a:t>  +</a:t>
            </a:r>
            <a:r>
              <a:rPr lang="es-PE" dirty="0" err="1"/>
              <a:t>X34+X35</a:t>
            </a:r>
            <a:r>
              <a:rPr lang="es-PE" dirty="0"/>
              <a:t> = 50</a:t>
            </a:r>
          </a:p>
          <a:p>
            <a:r>
              <a:rPr lang="es-PE" dirty="0"/>
              <a:t>	</a:t>
            </a:r>
            <a:r>
              <a:rPr lang="es-PE" dirty="0" err="1"/>
              <a:t>X11</a:t>
            </a:r>
            <a:r>
              <a:rPr lang="es-PE" dirty="0"/>
              <a:t> + </a:t>
            </a:r>
            <a:r>
              <a:rPr lang="es-PE" dirty="0" err="1"/>
              <a:t>X21</a:t>
            </a:r>
            <a:r>
              <a:rPr lang="es-PE" dirty="0"/>
              <a:t> + </a:t>
            </a:r>
            <a:r>
              <a:rPr lang="es-PE" dirty="0" err="1"/>
              <a:t>X31</a:t>
            </a:r>
            <a:r>
              <a:rPr lang="es-PE" dirty="0"/>
              <a:t> =  150       </a:t>
            </a:r>
          </a:p>
          <a:p>
            <a:r>
              <a:rPr lang="es-PE" dirty="0"/>
              <a:t>	</a:t>
            </a:r>
            <a:r>
              <a:rPr lang="es-PE" dirty="0" err="1"/>
              <a:t>X14</a:t>
            </a:r>
            <a:r>
              <a:rPr lang="es-PE" dirty="0"/>
              <a:t> + </a:t>
            </a:r>
            <a:r>
              <a:rPr lang="es-PE" dirty="0" err="1"/>
              <a:t>X24</a:t>
            </a:r>
            <a:r>
              <a:rPr lang="es-PE" dirty="0"/>
              <a:t> + </a:t>
            </a:r>
            <a:r>
              <a:rPr lang="es-PE" dirty="0" err="1"/>
              <a:t>X34</a:t>
            </a:r>
            <a:r>
              <a:rPr lang="es-PE" dirty="0"/>
              <a:t> = 50 </a:t>
            </a:r>
          </a:p>
          <a:p>
            <a:r>
              <a:rPr lang="es-PE" dirty="0"/>
              <a:t>	</a:t>
            </a:r>
            <a:r>
              <a:rPr lang="es-PE" dirty="0" err="1"/>
              <a:t>X12</a:t>
            </a:r>
            <a:r>
              <a:rPr lang="es-PE" dirty="0"/>
              <a:t> + </a:t>
            </a:r>
            <a:r>
              <a:rPr lang="es-PE" dirty="0" err="1"/>
              <a:t>X22</a:t>
            </a:r>
            <a:r>
              <a:rPr lang="es-PE" dirty="0"/>
              <a:t> + </a:t>
            </a:r>
            <a:r>
              <a:rPr lang="es-PE" dirty="0" err="1"/>
              <a:t>X32</a:t>
            </a:r>
            <a:r>
              <a:rPr lang="es-PE" dirty="0"/>
              <a:t> = 100	     </a:t>
            </a:r>
          </a:p>
          <a:p>
            <a:r>
              <a:rPr lang="es-PE" dirty="0"/>
              <a:t>	</a:t>
            </a:r>
            <a:r>
              <a:rPr lang="es-PE" dirty="0" err="1"/>
              <a:t>X15</a:t>
            </a:r>
            <a:r>
              <a:rPr lang="es-PE" dirty="0"/>
              <a:t> + </a:t>
            </a:r>
            <a:r>
              <a:rPr lang="es-PE" dirty="0" err="1"/>
              <a:t>X25</a:t>
            </a:r>
            <a:r>
              <a:rPr lang="es-PE" dirty="0"/>
              <a:t> + </a:t>
            </a:r>
            <a:r>
              <a:rPr lang="es-PE" dirty="0" err="1"/>
              <a:t>X35</a:t>
            </a:r>
            <a:r>
              <a:rPr lang="es-PE" dirty="0"/>
              <a:t> = 250 </a:t>
            </a:r>
          </a:p>
          <a:p>
            <a:r>
              <a:rPr lang="es-PE" dirty="0"/>
              <a:t>	</a:t>
            </a:r>
            <a:r>
              <a:rPr lang="es-PE" dirty="0" err="1"/>
              <a:t>X13</a:t>
            </a:r>
            <a:r>
              <a:rPr lang="es-PE" dirty="0"/>
              <a:t> + </a:t>
            </a:r>
            <a:r>
              <a:rPr lang="es-PE" dirty="0" err="1"/>
              <a:t>X23</a:t>
            </a:r>
            <a:r>
              <a:rPr lang="es-PE" dirty="0"/>
              <a:t> + </a:t>
            </a:r>
            <a:r>
              <a:rPr lang="es-PE" dirty="0" err="1"/>
              <a:t>X33</a:t>
            </a:r>
            <a:r>
              <a:rPr lang="es-PE" dirty="0"/>
              <a:t> = 200</a:t>
            </a:r>
          </a:p>
        </p:txBody>
      </p:sp>
      <p:sp>
        <p:nvSpPr>
          <p:cNvPr id="7" name="Rectángulo 6">
            <a:extLst>
              <a:ext uri="{FF2B5EF4-FFF2-40B4-BE49-F238E27FC236}">
                <a16:creationId xmlns:a16="http://schemas.microsoft.com/office/drawing/2014/main" id="{9381959B-3678-471F-AAD6-AE1DFE5DBF35}"/>
              </a:ext>
            </a:extLst>
          </p:cNvPr>
          <p:cNvSpPr/>
          <p:nvPr/>
        </p:nvSpPr>
        <p:spPr>
          <a:xfrm>
            <a:off x="9681329" y="3437373"/>
            <a:ext cx="2384981" cy="3308598"/>
          </a:xfrm>
          <a:prstGeom prst="rect">
            <a:avLst/>
          </a:prstGeom>
          <a:solidFill>
            <a:schemeClr val="accent3">
              <a:lumMod val="40000"/>
              <a:lumOff val="60000"/>
            </a:schemeClr>
          </a:solidFill>
        </p:spPr>
        <p:txBody>
          <a:bodyPr wrap="square">
            <a:spAutoFit/>
          </a:bodyPr>
          <a:lstStyle/>
          <a:p>
            <a:r>
              <a:rPr lang="es-PE" sz="1100" b="1" dirty="0">
                <a:latin typeface="Arial Narrow" panose="020B0606020202030204" pitchFamily="34" charset="0"/>
              </a:rPr>
              <a:t> </a:t>
            </a:r>
            <a:r>
              <a:rPr lang="es-PE" sz="1100" b="1" dirty="0" err="1">
                <a:latin typeface="Arial Narrow" panose="020B0606020202030204" pitchFamily="34" charset="0"/>
              </a:rPr>
              <a:t>OBJECTIVE</a:t>
            </a:r>
            <a:r>
              <a:rPr lang="es-PE" sz="1100" b="1" dirty="0">
                <a:latin typeface="Arial Narrow" panose="020B0606020202030204" pitchFamily="34" charset="0"/>
              </a:rPr>
              <a:t> </a:t>
            </a:r>
            <a:r>
              <a:rPr lang="es-PE" sz="1100" b="1" dirty="0" err="1">
                <a:latin typeface="Arial Narrow" panose="020B0606020202030204" pitchFamily="34" charset="0"/>
              </a:rPr>
              <a:t>FUNCTION</a:t>
            </a:r>
            <a:r>
              <a:rPr lang="es-PE" sz="1100" b="1" dirty="0">
                <a:latin typeface="Arial Narrow" panose="020B0606020202030204" pitchFamily="34" charset="0"/>
              </a:rPr>
              <a:t> </a:t>
            </a:r>
            <a:r>
              <a:rPr lang="es-PE" sz="1100" b="1" dirty="0" err="1">
                <a:latin typeface="Arial Narrow" panose="020B0606020202030204" pitchFamily="34" charset="0"/>
              </a:rPr>
              <a:t>VALUE</a:t>
            </a:r>
            <a:endParaRPr lang="es-PE" sz="1100" b="1" dirty="0">
              <a:latin typeface="Arial Narrow" panose="020B0606020202030204" pitchFamily="34" charset="0"/>
            </a:endParaRPr>
          </a:p>
          <a:p>
            <a:r>
              <a:rPr lang="es-PE" sz="1100" b="1" dirty="0">
                <a:latin typeface="Arial Narrow" panose="020B0606020202030204" pitchFamily="34" charset="0"/>
              </a:rPr>
              <a:t>        1)      4900.000</a:t>
            </a:r>
          </a:p>
          <a:p>
            <a:r>
              <a:rPr lang="es-PE" sz="1100" b="1" dirty="0">
                <a:latin typeface="Arial Narrow" panose="020B0606020202030204" pitchFamily="34" charset="0"/>
              </a:rPr>
              <a:t>  VARIABLE        </a:t>
            </a:r>
            <a:r>
              <a:rPr lang="es-PE" sz="1100" b="1" dirty="0" err="1">
                <a:latin typeface="Arial Narrow" panose="020B0606020202030204" pitchFamily="34" charset="0"/>
              </a:rPr>
              <a:t>VALUE</a:t>
            </a:r>
            <a:r>
              <a:rPr lang="es-PE" sz="1100" b="1" dirty="0">
                <a:latin typeface="Arial Narrow" panose="020B0606020202030204" pitchFamily="34" charset="0"/>
              </a:rPr>
              <a:t>          </a:t>
            </a:r>
            <a:r>
              <a:rPr lang="es-PE" sz="1100" b="1" dirty="0" err="1">
                <a:latin typeface="Arial Narrow" panose="020B0606020202030204" pitchFamily="34" charset="0"/>
              </a:rPr>
              <a:t>REDUCED</a:t>
            </a:r>
            <a:r>
              <a:rPr lang="es-PE" sz="1100" b="1" dirty="0">
                <a:latin typeface="Arial Narrow" panose="020B0606020202030204" pitchFamily="34" charset="0"/>
              </a:rPr>
              <a:t> </a:t>
            </a:r>
            <a:r>
              <a:rPr lang="es-PE" sz="1100" b="1" dirty="0" err="1">
                <a:latin typeface="Arial Narrow" panose="020B0606020202030204" pitchFamily="34" charset="0"/>
              </a:rPr>
              <a:t>COST</a:t>
            </a:r>
            <a:endParaRPr lang="es-PE" sz="1100" b="1" dirty="0">
              <a:latin typeface="Arial Narrow" panose="020B0606020202030204" pitchFamily="34" charset="0"/>
            </a:endParaRPr>
          </a:p>
          <a:p>
            <a:r>
              <a:rPr lang="es-PE" sz="1100" b="1" dirty="0">
                <a:latin typeface="Arial Narrow" panose="020B0606020202030204" pitchFamily="34" charset="0"/>
              </a:rPr>
              <a:t>       </a:t>
            </a:r>
            <a:r>
              <a:rPr lang="es-PE" sz="1100" b="1" dirty="0" err="1">
                <a:latin typeface="Arial Narrow" panose="020B0606020202030204" pitchFamily="34" charset="0"/>
              </a:rPr>
              <a:t>X11</a:t>
            </a:r>
            <a:r>
              <a:rPr lang="es-PE" sz="1100" b="1" dirty="0">
                <a:latin typeface="Arial Narrow" panose="020B0606020202030204" pitchFamily="34" charset="0"/>
              </a:rPr>
              <a:t>           0.000000          5.000000</a:t>
            </a:r>
          </a:p>
          <a:p>
            <a:r>
              <a:rPr lang="es-PE" sz="1100" b="1" dirty="0">
                <a:latin typeface="Arial Narrow" panose="020B0606020202030204" pitchFamily="34" charset="0"/>
              </a:rPr>
              <a:t>       </a:t>
            </a:r>
            <a:r>
              <a:rPr lang="es-PE" sz="1100" b="1" dirty="0" err="1">
                <a:latin typeface="Arial Narrow" panose="020B0606020202030204" pitchFamily="34" charset="0"/>
              </a:rPr>
              <a:t>X12</a:t>
            </a:r>
            <a:r>
              <a:rPr lang="es-PE" sz="1100" b="1" dirty="0">
                <a:latin typeface="Arial Narrow" panose="020B0606020202030204" pitchFamily="34" charset="0"/>
              </a:rPr>
              <a:t>       100.000000          0.000000</a:t>
            </a:r>
          </a:p>
          <a:p>
            <a:r>
              <a:rPr lang="es-PE" sz="1100" b="1" dirty="0">
                <a:latin typeface="Arial Narrow" panose="020B0606020202030204" pitchFamily="34" charset="0"/>
              </a:rPr>
              <a:t>       </a:t>
            </a:r>
            <a:r>
              <a:rPr lang="es-PE" sz="1100" b="1" dirty="0" err="1">
                <a:latin typeface="Arial Narrow" panose="020B0606020202030204" pitchFamily="34" charset="0"/>
              </a:rPr>
              <a:t>X13</a:t>
            </a:r>
            <a:r>
              <a:rPr lang="es-PE" sz="1100" b="1" dirty="0">
                <a:latin typeface="Arial Narrow" panose="020B0606020202030204" pitchFamily="34" charset="0"/>
              </a:rPr>
              <a:t>       200.000000          0.000000</a:t>
            </a:r>
          </a:p>
          <a:p>
            <a:r>
              <a:rPr lang="es-PE" sz="1100" b="1" dirty="0">
                <a:latin typeface="Arial Narrow" panose="020B0606020202030204" pitchFamily="34" charset="0"/>
              </a:rPr>
              <a:t>       </a:t>
            </a:r>
            <a:r>
              <a:rPr lang="es-PE" sz="1100" b="1" dirty="0" err="1">
                <a:latin typeface="Arial Narrow" panose="020B0606020202030204" pitchFamily="34" charset="0"/>
              </a:rPr>
              <a:t>X14</a:t>
            </a:r>
            <a:r>
              <a:rPr lang="es-PE" sz="1100" b="1" dirty="0">
                <a:latin typeface="Arial Narrow" panose="020B0606020202030204" pitchFamily="34" charset="0"/>
              </a:rPr>
              <a:t>           0.000000          0.000000</a:t>
            </a:r>
          </a:p>
          <a:p>
            <a:r>
              <a:rPr lang="es-PE" sz="1100" b="1" dirty="0">
                <a:latin typeface="Arial Narrow" panose="020B0606020202030204" pitchFamily="34" charset="0"/>
              </a:rPr>
              <a:t>       </a:t>
            </a:r>
            <a:r>
              <a:rPr lang="es-PE" sz="1100" b="1" dirty="0" err="1">
                <a:latin typeface="Arial Narrow" panose="020B0606020202030204" pitchFamily="34" charset="0"/>
              </a:rPr>
              <a:t>X15</a:t>
            </a:r>
            <a:r>
              <a:rPr lang="es-PE" sz="1100" b="1" dirty="0">
                <a:latin typeface="Arial Narrow" panose="020B0606020202030204" pitchFamily="34" charset="0"/>
              </a:rPr>
              <a:t>           0.000000          1.000000</a:t>
            </a:r>
          </a:p>
          <a:p>
            <a:r>
              <a:rPr lang="es-PE" sz="1100" b="1" dirty="0">
                <a:latin typeface="Arial Narrow" panose="020B0606020202030204" pitchFamily="34" charset="0"/>
              </a:rPr>
              <a:t>       </a:t>
            </a:r>
            <a:r>
              <a:rPr lang="es-PE" sz="1100" b="1" dirty="0" err="1">
                <a:latin typeface="Arial Narrow" panose="020B0606020202030204" pitchFamily="34" charset="0"/>
              </a:rPr>
              <a:t>X21</a:t>
            </a:r>
            <a:r>
              <a:rPr lang="es-PE" sz="1100" b="1" dirty="0">
                <a:latin typeface="Arial Narrow" panose="020B0606020202030204" pitchFamily="34" charset="0"/>
              </a:rPr>
              <a:t>       150.000000          0.000000</a:t>
            </a:r>
          </a:p>
          <a:p>
            <a:r>
              <a:rPr lang="es-PE" sz="1100" b="1" dirty="0">
                <a:latin typeface="Arial Narrow" panose="020B0606020202030204" pitchFamily="34" charset="0"/>
              </a:rPr>
              <a:t>       </a:t>
            </a:r>
            <a:r>
              <a:rPr lang="es-PE" sz="1100" b="1" dirty="0" err="1">
                <a:latin typeface="Arial Narrow" panose="020B0606020202030204" pitchFamily="34" charset="0"/>
              </a:rPr>
              <a:t>X22</a:t>
            </a:r>
            <a:r>
              <a:rPr lang="es-PE" sz="1100" b="1" dirty="0">
                <a:latin typeface="Arial Narrow" panose="020B0606020202030204" pitchFamily="34" charset="0"/>
              </a:rPr>
              <a:t>           0.000000          0.000000</a:t>
            </a:r>
          </a:p>
          <a:p>
            <a:r>
              <a:rPr lang="es-PE" sz="1100" b="1" dirty="0">
                <a:latin typeface="Arial Narrow" panose="020B0606020202030204" pitchFamily="34" charset="0"/>
              </a:rPr>
              <a:t>       </a:t>
            </a:r>
            <a:r>
              <a:rPr lang="es-PE" sz="1100" b="1" dirty="0" err="1">
                <a:latin typeface="Arial Narrow" panose="020B0606020202030204" pitchFamily="34" charset="0"/>
              </a:rPr>
              <a:t>X23</a:t>
            </a:r>
            <a:r>
              <a:rPr lang="es-PE" sz="1100" b="1" dirty="0">
                <a:latin typeface="Arial Narrow" panose="020B0606020202030204" pitchFamily="34" charset="0"/>
              </a:rPr>
              <a:t>           0.000000          2.000000</a:t>
            </a:r>
          </a:p>
          <a:p>
            <a:r>
              <a:rPr lang="es-PE" sz="1100" b="1" dirty="0">
                <a:latin typeface="Arial Narrow" panose="020B0606020202030204" pitchFamily="34" charset="0"/>
              </a:rPr>
              <a:t>       </a:t>
            </a:r>
            <a:r>
              <a:rPr lang="es-PE" sz="1100" b="1" dirty="0" err="1">
                <a:latin typeface="Arial Narrow" panose="020B0606020202030204" pitchFamily="34" charset="0"/>
              </a:rPr>
              <a:t>X24</a:t>
            </a:r>
            <a:r>
              <a:rPr lang="es-PE" sz="1100" b="1" dirty="0">
                <a:latin typeface="Arial Narrow" panose="020B0606020202030204" pitchFamily="34" charset="0"/>
              </a:rPr>
              <a:t>         50.000000          0.000000</a:t>
            </a:r>
          </a:p>
          <a:p>
            <a:r>
              <a:rPr lang="es-PE" sz="1100" b="1" dirty="0">
                <a:latin typeface="Arial Narrow" panose="020B0606020202030204" pitchFamily="34" charset="0"/>
              </a:rPr>
              <a:t>       </a:t>
            </a:r>
            <a:r>
              <a:rPr lang="es-PE" sz="1100" b="1" dirty="0" err="1">
                <a:latin typeface="Arial Narrow" panose="020B0606020202030204" pitchFamily="34" charset="0"/>
              </a:rPr>
              <a:t>X25</a:t>
            </a:r>
            <a:r>
              <a:rPr lang="es-PE" sz="1100" b="1" dirty="0">
                <a:latin typeface="Arial Narrow" panose="020B0606020202030204" pitchFamily="34" charset="0"/>
              </a:rPr>
              <a:t>       200.000000          0.000000</a:t>
            </a:r>
          </a:p>
          <a:p>
            <a:r>
              <a:rPr lang="es-PE" sz="1100" b="1" dirty="0">
                <a:latin typeface="Arial Narrow" panose="020B0606020202030204" pitchFamily="34" charset="0"/>
              </a:rPr>
              <a:t>       </a:t>
            </a:r>
            <a:r>
              <a:rPr lang="es-PE" sz="1100" b="1" dirty="0" err="1">
                <a:latin typeface="Arial Narrow" panose="020B0606020202030204" pitchFamily="34" charset="0"/>
              </a:rPr>
              <a:t>X31</a:t>
            </a:r>
            <a:r>
              <a:rPr lang="es-PE" sz="1100" b="1" dirty="0">
                <a:latin typeface="Arial Narrow" panose="020B0606020202030204" pitchFamily="34" charset="0"/>
              </a:rPr>
              <a:t>           0.000000          8.000000</a:t>
            </a:r>
          </a:p>
          <a:p>
            <a:r>
              <a:rPr lang="es-PE" sz="1100" b="1" dirty="0">
                <a:latin typeface="Arial Narrow" panose="020B0606020202030204" pitchFamily="34" charset="0"/>
              </a:rPr>
              <a:t>       </a:t>
            </a:r>
            <a:r>
              <a:rPr lang="es-PE" sz="1100" b="1" dirty="0" err="1">
                <a:latin typeface="Arial Narrow" panose="020B0606020202030204" pitchFamily="34" charset="0"/>
              </a:rPr>
              <a:t>X32</a:t>
            </a:r>
            <a:r>
              <a:rPr lang="es-PE" sz="1100" b="1" dirty="0">
                <a:latin typeface="Arial Narrow" panose="020B0606020202030204" pitchFamily="34" charset="0"/>
              </a:rPr>
              <a:t>           0.000000          5.000000</a:t>
            </a:r>
          </a:p>
          <a:p>
            <a:r>
              <a:rPr lang="es-PE" sz="1100" b="1" dirty="0">
                <a:latin typeface="Arial Narrow" panose="020B0606020202030204" pitchFamily="34" charset="0"/>
              </a:rPr>
              <a:t>       </a:t>
            </a:r>
            <a:r>
              <a:rPr lang="es-PE" sz="1100" b="1" dirty="0" err="1">
                <a:latin typeface="Arial Narrow" panose="020B0606020202030204" pitchFamily="34" charset="0"/>
              </a:rPr>
              <a:t>X33</a:t>
            </a:r>
            <a:r>
              <a:rPr lang="es-PE" sz="1100" b="1" dirty="0">
                <a:latin typeface="Arial Narrow" panose="020B0606020202030204" pitchFamily="34" charset="0"/>
              </a:rPr>
              <a:t>           0.000000          6.000000</a:t>
            </a:r>
          </a:p>
          <a:p>
            <a:r>
              <a:rPr lang="es-PE" sz="1100" b="1" dirty="0">
                <a:latin typeface="Arial Narrow" panose="020B0606020202030204" pitchFamily="34" charset="0"/>
              </a:rPr>
              <a:t>       </a:t>
            </a:r>
            <a:r>
              <a:rPr lang="es-PE" sz="1100" b="1" dirty="0" err="1">
                <a:latin typeface="Arial Narrow" panose="020B0606020202030204" pitchFamily="34" charset="0"/>
              </a:rPr>
              <a:t>X34</a:t>
            </a:r>
            <a:r>
              <a:rPr lang="es-PE" sz="1100" b="1" dirty="0">
                <a:latin typeface="Arial Narrow" panose="020B0606020202030204" pitchFamily="34" charset="0"/>
              </a:rPr>
              <a:t>           0.000000          2.000000</a:t>
            </a:r>
          </a:p>
          <a:p>
            <a:r>
              <a:rPr lang="es-PE" sz="1100" b="1" dirty="0">
                <a:latin typeface="Arial Narrow" panose="020B0606020202030204" pitchFamily="34" charset="0"/>
              </a:rPr>
              <a:t>       </a:t>
            </a:r>
            <a:r>
              <a:rPr lang="es-PE" sz="1100" b="1" dirty="0" err="1">
                <a:latin typeface="Arial Narrow" panose="020B0606020202030204" pitchFamily="34" charset="0"/>
              </a:rPr>
              <a:t>X35</a:t>
            </a:r>
            <a:r>
              <a:rPr lang="es-PE" sz="1100" b="1" dirty="0">
                <a:latin typeface="Arial Narrow" panose="020B0606020202030204" pitchFamily="34" charset="0"/>
              </a:rPr>
              <a:t>         50.000000          0.000000</a:t>
            </a:r>
          </a:p>
        </p:txBody>
      </p:sp>
    </p:spTree>
    <p:extLst>
      <p:ext uri="{BB962C8B-B14F-4D97-AF65-F5344CB8AC3E}">
        <p14:creationId xmlns:p14="http://schemas.microsoft.com/office/powerpoint/2010/main" val="2095147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79" name="Table 1"/>
          <p:cNvGraphicFramePr/>
          <p:nvPr/>
        </p:nvGraphicFramePr>
        <p:xfrm>
          <a:off x="1881120" y="1268758"/>
          <a:ext cx="8429400" cy="5283750"/>
        </p:xfrm>
        <a:graphic>
          <a:graphicData uri="http://schemas.openxmlformats.org/drawingml/2006/table">
            <a:tbl>
              <a:tblPr/>
              <a:tblGrid>
                <a:gridCol w="1669320">
                  <a:extLst>
                    <a:ext uri="{9D8B030D-6E8A-4147-A177-3AD203B41FA5}">
                      <a16:colId xmlns:a16="http://schemas.microsoft.com/office/drawing/2014/main" val="20000"/>
                    </a:ext>
                  </a:extLst>
                </a:gridCol>
                <a:gridCol w="667440">
                  <a:extLst>
                    <a:ext uri="{9D8B030D-6E8A-4147-A177-3AD203B41FA5}">
                      <a16:colId xmlns:a16="http://schemas.microsoft.com/office/drawing/2014/main" val="20001"/>
                    </a:ext>
                  </a:extLst>
                </a:gridCol>
                <a:gridCol w="667440">
                  <a:extLst>
                    <a:ext uri="{9D8B030D-6E8A-4147-A177-3AD203B41FA5}">
                      <a16:colId xmlns:a16="http://schemas.microsoft.com/office/drawing/2014/main" val="20002"/>
                    </a:ext>
                  </a:extLst>
                </a:gridCol>
                <a:gridCol w="750960">
                  <a:extLst>
                    <a:ext uri="{9D8B030D-6E8A-4147-A177-3AD203B41FA5}">
                      <a16:colId xmlns:a16="http://schemas.microsoft.com/office/drawing/2014/main" val="20003"/>
                    </a:ext>
                  </a:extLst>
                </a:gridCol>
                <a:gridCol w="750960">
                  <a:extLst>
                    <a:ext uri="{9D8B030D-6E8A-4147-A177-3AD203B41FA5}">
                      <a16:colId xmlns:a16="http://schemas.microsoft.com/office/drawing/2014/main" val="20004"/>
                    </a:ext>
                  </a:extLst>
                </a:gridCol>
                <a:gridCol w="694080">
                  <a:extLst>
                    <a:ext uri="{9D8B030D-6E8A-4147-A177-3AD203B41FA5}">
                      <a16:colId xmlns:a16="http://schemas.microsoft.com/office/drawing/2014/main" val="20005"/>
                    </a:ext>
                  </a:extLst>
                </a:gridCol>
                <a:gridCol w="1225080">
                  <a:extLst>
                    <a:ext uri="{9D8B030D-6E8A-4147-A177-3AD203B41FA5}">
                      <a16:colId xmlns:a16="http://schemas.microsoft.com/office/drawing/2014/main" val="20006"/>
                    </a:ext>
                  </a:extLst>
                </a:gridCol>
                <a:gridCol w="667440">
                  <a:extLst>
                    <a:ext uri="{9D8B030D-6E8A-4147-A177-3AD203B41FA5}">
                      <a16:colId xmlns:a16="http://schemas.microsoft.com/office/drawing/2014/main" val="20007"/>
                    </a:ext>
                  </a:extLst>
                </a:gridCol>
                <a:gridCol w="667440">
                  <a:extLst>
                    <a:ext uri="{9D8B030D-6E8A-4147-A177-3AD203B41FA5}">
                      <a16:colId xmlns:a16="http://schemas.microsoft.com/office/drawing/2014/main" val="20008"/>
                    </a:ext>
                  </a:extLst>
                </a:gridCol>
                <a:gridCol w="669240">
                  <a:extLst>
                    <a:ext uri="{9D8B030D-6E8A-4147-A177-3AD203B41FA5}">
                      <a16:colId xmlns:a16="http://schemas.microsoft.com/office/drawing/2014/main" val="20009"/>
                    </a:ext>
                  </a:extLst>
                </a:gridCol>
              </a:tblGrid>
              <a:tr h="824173">
                <a:tc>
                  <a:txBody>
                    <a:bodyPr/>
                    <a:lstStyle/>
                    <a:p>
                      <a:pPr algn="ctr">
                        <a:lnSpc>
                          <a:spcPct val="100000"/>
                        </a:lnSpc>
                      </a:pPr>
                      <a:r>
                        <a:rPr lang="es-PE" sz="2400" b="1" strike="noStrike" spc="-12" dirty="0">
                          <a:solidFill>
                            <a:schemeClr val="bg2">
                              <a:lumMod val="25000"/>
                            </a:schemeClr>
                          </a:solidFill>
                          <a:latin typeface="Arial Narrow"/>
                          <a:ea typeface="MS Mincho"/>
                        </a:rPr>
                        <a:t>Destino</a:t>
                      </a:r>
                      <a:endParaRPr lang="es-PE" sz="2400" b="0" strike="noStrike" spc="-1" dirty="0">
                        <a:solidFill>
                          <a:schemeClr val="bg2">
                            <a:lumMod val="25000"/>
                          </a:schemeClr>
                        </a:solidFill>
                        <a:latin typeface="Arial"/>
                      </a:endParaRPr>
                    </a:p>
                    <a:p>
                      <a:pPr algn="ctr">
                        <a:lnSpc>
                          <a:spcPct val="100000"/>
                        </a:lnSpc>
                      </a:pPr>
                      <a:r>
                        <a:rPr lang="es-PE" sz="2400" b="1" strike="noStrike" spc="-12" dirty="0">
                          <a:solidFill>
                            <a:schemeClr val="bg2">
                              <a:lumMod val="25000"/>
                            </a:schemeClr>
                          </a:solidFill>
                          <a:latin typeface="Arial Narrow"/>
                          <a:ea typeface="MS Mincho"/>
                        </a:rPr>
                        <a:t>Medio</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2</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4</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5</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dirty="0">
                          <a:solidFill>
                            <a:schemeClr val="bg2">
                              <a:lumMod val="25000"/>
                            </a:schemeClr>
                          </a:solidFill>
                          <a:latin typeface="Arial Narrow"/>
                          <a:ea typeface="MS Mincho"/>
                        </a:rPr>
                        <a:t>Oferta</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dirty="0" err="1">
                          <a:solidFill>
                            <a:schemeClr val="bg2">
                              <a:lumMod val="25000"/>
                            </a:schemeClr>
                          </a:solidFill>
                          <a:latin typeface="Arial Narrow"/>
                          <a:ea typeface="MS Mincho"/>
                        </a:rPr>
                        <a:t>P1</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554228">
                <a:tc>
                  <a:txBody>
                    <a:bodyPr/>
                    <a:lstStyle/>
                    <a:p>
                      <a:pPr algn="ctr">
                        <a:lnSpc>
                          <a:spcPct val="100000"/>
                        </a:lnSpc>
                      </a:pPr>
                      <a:r>
                        <a:rPr lang="es-PE" sz="2400" b="1" strike="noStrike" spc="-1">
                          <a:solidFill>
                            <a:schemeClr val="bg2">
                              <a:lumMod val="25000"/>
                            </a:schemeClr>
                          </a:solidFill>
                          <a:latin typeface="Arial Narrow"/>
                          <a:ea typeface="MS Mincho"/>
                        </a:rPr>
                        <a:t>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6</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4</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pPr>
                      <a:r>
                        <a:rPr lang="es-PE" sz="2400" b="1" strike="noStrike" spc="-12">
                          <a:solidFill>
                            <a:schemeClr val="bg2">
                              <a:lumMod val="25000"/>
                            </a:schemeClr>
                          </a:solidFill>
                          <a:latin typeface="Arial Narrow"/>
                          <a:ea typeface="MS Mincho"/>
                        </a:rPr>
                        <a:t>7</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10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pPr algn="ctr">
                        <a:lnSpc>
                          <a:spcPct val="100000"/>
                        </a:lnSpc>
                      </a:pPr>
                      <a:r>
                        <a:rPr lang="es-PE" sz="2400" b="1" strike="noStrike" spc="-1">
                          <a:solidFill>
                            <a:schemeClr val="bg2">
                              <a:lumMod val="25000"/>
                            </a:schemeClr>
                          </a:solidFill>
                          <a:latin typeface="Arial Narrow"/>
                        </a:rPr>
                        <a:t>300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rgbClr val="FF0000"/>
                          </a:solidFill>
                          <a:latin typeface="Arial Narrow"/>
                          <a:ea typeface="MS Mincho"/>
                        </a:rPr>
                        <a:t>1</a:t>
                      </a:r>
                      <a:endParaRPr lang="es-PE" sz="24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824173">
                <a:tc>
                  <a:txBody>
                    <a:bodyPr/>
                    <a:lstStyle/>
                    <a:p>
                      <a:pPr algn="ctr">
                        <a:lnSpc>
                          <a:spcPct val="100000"/>
                        </a:lnSpc>
                      </a:pPr>
                      <a:r>
                        <a:rPr lang="es-PE" sz="2400" b="1" strike="noStrike" spc="-12">
                          <a:solidFill>
                            <a:schemeClr val="bg2">
                              <a:lumMod val="25000"/>
                            </a:schemeClr>
                          </a:solidFill>
                          <a:latin typeface="Arial Narrow"/>
                          <a:ea typeface="MS Mincho"/>
                        </a:rPr>
                        <a:t>2</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5</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8</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9</a:t>
                      </a:r>
                      <a:endParaRPr lang="es-PE" sz="2400" b="0" strike="noStrike" spc="-1">
                        <a:solidFill>
                          <a:schemeClr val="bg2">
                            <a:lumMod val="25000"/>
                          </a:schemeClr>
                        </a:solidFill>
                        <a:latin typeface="Arial"/>
                      </a:endParaRPr>
                    </a:p>
                    <a:p>
                      <a:pPr algn="ctr">
                        <a:lnSpc>
                          <a:spcPct val="100000"/>
                        </a:lnSpc>
                      </a:pP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pPr>
                      <a:r>
                        <a:rPr lang="es-PE" sz="2400" b="1" strike="noStrike" spc="-12">
                          <a:solidFill>
                            <a:schemeClr val="bg2">
                              <a:lumMod val="25000"/>
                            </a:schemeClr>
                          </a:solidFill>
                          <a:latin typeface="Arial Narrow"/>
                          <a:ea typeface="MS Mincho"/>
                        </a:rPr>
                        <a:t>11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13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pPr algn="ctr">
                        <a:lnSpc>
                          <a:spcPct val="100000"/>
                        </a:lnSpc>
                      </a:pPr>
                      <a:r>
                        <a:rPr lang="es-PE" sz="2400" b="1" strike="noStrike" spc="-1">
                          <a:solidFill>
                            <a:schemeClr val="bg2">
                              <a:lumMod val="25000"/>
                            </a:schemeClr>
                          </a:solidFill>
                          <a:latin typeface="Arial Narrow"/>
                        </a:rPr>
                        <a:t>400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gn="ctr">
                        <a:lnSpc>
                          <a:spcPct val="100000"/>
                        </a:lnSpc>
                      </a:pPr>
                      <a:r>
                        <a:rPr lang="es-PE" sz="2400" b="1" strike="noStrike" spc="-1" dirty="0">
                          <a:solidFill>
                            <a:srgbClr val="FF0000"/>
                          </a:solidFill>
                          <a:latin typeface="Arial Narrow"/>
                          <a:ea typeface="MS Mincho"/>
                        </a:rPr>
                        <a:t>3</a:t>
                      </a:r>
                      <a:endParaRPr lang="es-PE" sz="24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endParaRPr lang="en-US" sz="2400" dirty="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extLst>
                  <a:ext uri="{0D108BD9-81ED-4DB2-BD59-A6C34878D82A}">
                    <a16:rowId xmlns:a16="http://schemas.microsoft.com/office/drawing/2014/main" val="10002"/>
                  </a:ext>
                </a:extLst>
              </a:tr>
              <a:tr h="824173">
                <a:tc>
                  <a:txBody>
                    <a:bodyPr/>
                    <a:lstStyle/>
                    <a:p>
                      <a:pPr algn="ctr">
                        <a:lnSpc>
                          <a:spcPct val="100000"/>
                        </a:lnSpc>
                      </a:pPr>
                      <a:r>
                        <a:rPr lang="es-PE" sz="2400" b="1" strike="noStrike" spc="-1">
                          <a:solidFill>
                            <a:schemeClr val="bg2">
                              <a:lumMod val="25000"/>
                            </a:schemeClr>
                          </a:solidFill>
                          <a:latin typeface="Arial Narrow"/>
                          <a:ea typeface="MS Mincho"/>
                        </a:rPr>
                        <a:t>Figurado</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pPr>
                      <a:r>
                        <a:rPr lang="es-PE" sz="2400" b="1" strike="noStrike" spc="-1">
                          <a:solidFill>
                            <a:schemeClr val="bg2">
                              <a:lumMod val="25000"/>
                            </a:schemeClr>
                          </a:solidFill>
                          <a:latin typeface="Arial Narrow"/>
                          <a:ea typeface="MS Mincho"/>
                        </a:rPr>
                        <a:t>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0</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ea typeface="MS Mincho"/>
                        </a:rPr>
                        <a:t>*</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pPr algn="ctr">
                        <a:lnSpc>
                          <a:spcPct val="100000"/>
                        </a:lnSpc>
                      </a:pPr>
                      <a:r>
                        <a:rPr lang="es-PE" sz="2400" b="1" strike="noStrike" spc="-1">
                          <a:solidFill>
                            <a:schemeClr val="bg2">
                              <a:lumMod val="25000"/>
                            </a:schemeClr>
                          </a:solidFill>
                          <a:latin typeface="Arial Narrow"/>
                        </a:rPr>
                        <a:t>50</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rPr>
                        <a:t>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tc>
                  <a:txBody>
                    <a:bodyPr/>
                    <a:lstStyle/>
                    <a:p>
                      <a:pPr algn="ctr">
                        <a:lnSpc>
                          <a:spcPct val="100000"/>
                        </a:lnSpc>
                      </a:pPr>
                      <a:r>
                        <a:rPr lang="es-PE" sz="2400" b="1" strike="noStrike" spc="-1" dirty="0">
                          <a:solidFill>
                            <a:srgbClr val="FF0000"/>
                          </a:solidFill>
                          <a:latin typeface="Arial Narrow"/>
                          <a:ea typeface="MS Mincho"/>
                        </a:rPr>
                        <a:t>0</a:t>
                      </a:r>
                      <a:endParaRPr lang="es-PE" sz="24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extLst>
                  <a:ext uri="{0D108BD9-81ED-4DB2-BD59-A6C34878D82A}">
                    <a16:rowId xmlns:a16="http://schemas.microsoft.com/office/drawing/2014/main" val="10003"/>
                  </a:ext>
                </a:extLst>
              </a:tr>
              <a:tr h="824173">
                <a:tc>
                  <a:txBody>
                    <a:bodyPr/>
                    <a:lstStyle/>
                    <a:p>
                      <a:pPr algn="ctr">
                        <a:lnSpc>
                          <a:spcPct val="100000"/>
                        </a:lnSpc>
                      </a:pPr>
                      <a:r>
                        <a:rPr lang="es-PE" sz="2400" b="1" strike="noStrike" spc="-12">
                          <a:solidFill>
                            <a:schemeClr val="bg2">
                              <a:lumMod val="25000"/>
                            </a:schemeClr>
                          </a:solidFill>
                          <a:latin typeface="Arial Narrow"/>
                          <a:ea typeface="MS Mincho"/>
                        </a:rPr>
                        <a:t>Demanda</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rPr>
                        <a:t>150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rPr>
                        <a:t>100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rPr>
                        <a:t>200</a:t>
                      </a:r>
                      <a:endParaRPr lang="es-PE" sz="2400" b="0" strike="noStrike" spc="-1">
                        <a:solidFill>
                          <a:schemeClr val="bg2">
                            <a:lumMod val="25000"/>
                          </a:schemeClr>
                        </a:solidFill>
                        <a:latin typeface="Arial"/>
                      </a:endParaRPr>
                    </a:p>
                    <a:p>
                      <a:pPr algn="ctr">
                        <a:lnSpc>
                          <a:spcPct val="100000"/>
                        </a:lnSpc>
                      </a:pP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rPr>
                        <a:t>50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rPr>
                        <a:t>250</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rPr>
                        <a:t>200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1D528D"/>
                      </a:solidFill>
                    </a:lnL>
                    <a:lnR w="12240">
                      <a:noFill/>
                    </a:lnR>
                    <a:lnT w="12240">
                      <a:solidFill>
                        <a:srgbClr val="1D528D"/>
                      </a:solid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solidFill>
                        <a:srgbClr val="1D528D"/>
                      </a:solid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solidFill>
                        <a:srgbClr val="1D528D"/>
                      </a:solid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solidFill>
                        <a:srgbClr val="1D528D"/>
                      </a:solidFill>
                    </a:lnT>
                    <a:lnB w="12240">
                      <a:noFill/>
                    </a:lnB>
                    <a:noFill/>
                  </a:tcPr>
                </a:tc>
                <a:extLst>
                  <a:ext uri="{0D108BD9-81ED-4DB2-BD59-A6C34878D82A}">
                    <a16:rowId xmlns:a16="http://schemas.microsoft.com/office/drawing/2014/main" val="10004"/>
                  </a:ext>
                </a:extLst>
              </a:tr>
              <a:tr h="477296">
                <a:tc>
                  <a:txBody>
                    <a:bodyPr/>
                    <a:lstStyle/>
                    <a:p>
                      <a:pPr algn="ctr">
                        <a:lnSpc>
                          <a:spcPct val="100000"/>
                        </a:lnSpc>
                      </a:pPr>
                      <a:r>
                        <a:rPr lang="es-PE" sz="2400" b="1" strike="noStrike" spc="-1" dirty="0" err="1">
                          <a:solidFill>
                            <a:schemeClr val="bg2">
                              <a:lumMod val="25000"/>
                            </a:schemeClr>
                          </a:solidFill>
                          <a:latin typeface="Arial Narrow"/>
                          <a:ea typeface="MS Mincho"/>
                        </a:rPr>
                        <a:t>P1</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rgbClr val="FF0000"/>
                          </a:solidFill>
                          <a:latin typeface="Arial Narrow"/>
                          <a:ea typeface="MS Mincho"/>
                        </a:rPr>
                        <a:t>5</a:t>
                      </a:r>
                      <a:endParaRPr lang="es-PE" sz="24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rgbClr val="FF0000"/>
                          </a:solidFill>
                          <a:latin typeface="Arial Narrow"/>
                          <a:ea typeface="MS Mincho"/>
                        </a:rPr>
                        <a:t>4</a:t>
                      </a:r>
                      <a:endParaRPr lang="es-PE" sz="24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rgbClr val="FF0000"/>
                          </a:solidFill>
                          <a:latin typeface="Arial Narrow"/>
                          <a:ea typeface="MS Mincho"/>
                        </a:rPr>
                        <a:t>3</a:t>
                      </a:r>
                      <a:endParaRPr lang="es-PE" sz="24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rgbClr val="FF0000"/>
                          </a:solidFill>
                          <a:latin typeface="Arial Narrow"/>
                          <a:ea typeface="MS Mincho"/>
                        </a:rPr>
                        <a:t>7</a:t>
                      </a:r>
                      <a:endParaRPr lang="es-PE" sz="24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rgbClr val="FF0000"/>
                          </a:solidFill>
                          <a:latin typeface="Arial Narrow"/>
                          <a:ea typeface="MS Mincho"/>
                        </a:rPr>
                        <a:t>10</a:t>
                      </a:r>
                      <a:endParaRPr lang="es-PE" sz="2400" b="0" strike="noStrike" spc="-1" dirty="0">
                        <a:solidFill>
                          <a:srgbClr val="FF0000"/>
                        </a:solidFill>
                        <a:latin typeface="Arial"/>
                      </a:endParaRPr>
                    </a:p>
                  </a:txBody>
                  <a:tcPr marL="44280" marR="44280">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1D528D"/>
                      </a:solid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extLst>
                  <a:ext uri="{0D108BD9-81ED-4DB2-BD59-A6C34878D82A}">
                    <a16:rowId xmlns:a16="http://schemas.microsoft.com/office/drawing/2014/main" val="10005"/>
                  </a:ext>
                </a:extLst>
              </a:tr>
              <a:tr h="477296">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dirty="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endParaRPr lang="en-US" sz="2400" dirty="0">
                        <a:solidFill>
                          <a:schemeClr val="bg2">
                            <a:lumMod val="25000"/>
                          </a:schemeClr>
                        </a:solidFill>
                      </a:endParaRPr>
                    </a:p>
                  </a:txBody>
                  <a:tcPr marL="44280" marR="44280">
                    <a:lnL w="12240">
                      <a:solidFill>
                        <a:srgbClr val="1D528D"/>
                      </a:solid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dirty="0">
                        <a:solidFill>
                          <a:schemeClr val="bg2">
                            <a:lumMod val="25000"/>
                          </a:schemeClr>
                        </a:solidFill>
                      </a:endParaRPr>
                    </a:p>
                  </a:txBody>
                  <a:tcPr marL="44280" marR="44280">
                    <a:lnL w="12240">
                      <a:noFill/>
                    </a:lnL>
                    <a:lnR w="12240">
                      <a:noFill/>
                    </a:lnR>
                    <a:lnT w="12240">
                      <a:noFill/>
                    </a:lnT>
                    <a:lnB w="12240">
                      <a:noFill/>
                    </a:lnB>
                    <a:noFill/>
                  </a:tcPr>
                </a:tc>
                <a:extLst>
                  <a:ext uri="{0D108BD9-81ED-4DB2-BD59-A6C34878D82A}">
                    <a16:rowId xmlns:a16="http://schemas.microsoft.com/office/drawing/2014/main" val="10006"/>
                  </a:ext>
                </a:extLst>
              </a:tr>
              <a:tr h="478238">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1D528D"/>
                      </a:solid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dirty="0">
                        <a:solidFill>
                          <a:schemeClr val="bg2">
                            <a:lumMod val="25000"/>
                          </a:schemeClr>
                        </a:solidFill>
                      </a:endParaRPr>
                    </a:p>
                  </a:txBody>
                  <a:tcPr marL="44280" marR="44280">
                    <a:lnL w="12240">
                      <a:noFill/>
                    </a:lnL>
                    <a:lnR w="12240">
                      <a:noFill/>
                    </a:lnR>
                    <a:lnT w="12240">
                      <a:noFill/>
                    </a:lnT>
                    <a:lnB w="12240">
                      <a:noFill/>
                    </a:lnB>
                    <a:noFill/>
                  </a:tcPr>
                </a:tc>
                <a:extLst>
                  <a:ext uri="{0D108BD9-81ED-4DB2-BD59-A6C34878D82A}">
                    <a16:rowId xmlns:a16="http://schemas.microsoft.com/office/drawing/2014/main" val="10007"/>
                  </a:ext>
                </a:extLst>
              </a:tr>
            </a:tbl>
          </a:graphicData>
        </a:graphic>
      </p:graphicFrame>
      <p:sp>
        <p:nvSpPr>
          <p:cNvPr id="1080" name="CustomShape 2"/>
          <p:cNvSpPr/>
          <p:nvPr/>
        </p:nvSpPr>
        <p:spPr>
          <a:xfrm>
            <a:off x="1524000" y="0"/>
            <a:ext cx="9143640" cy="45684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sp>
        <p:nvSpPr>
          <p:cNvPr id="5" name="CuadroTexto 4">
            <a:extLst>
              <a:ext uri="{FF2B5EF4-FFF2-40B4-BE49-F238E27FC236}">
                <a16:creationId xmlns:a16="http://schemas.microsoft.com/office/drawing/2014/main" id="{81067AAF-548B-4F84-BCCD-F531F3489CCE}"/>
              </a:ext>
            </a:extLst>
          </p:cNvPr>
          <p:cNvSpPr txBox="1"/>
          <p:nvPr/>
        </p:nvSpPr>
        <p:spPr>
          <a:xfrm>
            <a:off x="258793" y="2191109"/>
            <a:ext cx="1380226" cy="646331"/>
          </a:xfrm>
          <a:prstGeom prst="rect">
            <a:avLst/>
          </a:prstGeom>
          <a:solidFill>
            <a:srgbClr val="FFFF00"/>
          </a:solidFill>
        </p:spPr>
        <p:txBody>
          <a:bodyPr wrap="square" rtlCol="0">
            <a:spAutoFit/>
          </a:bodyPr>
          <a:lstStyle/>
          <a:p>
            <a:r>
              <a:rPr lang="es-ES" b="1" dirty="0"/>
              <a:t>Hallamos las penalidades</a:t>
            </a:r>
          </a:p>
        </p:txBody>
      </p:sp>
      <p:sp>
        <p:nvSpPr>
          <p:cNvPr id="6" name="Rectángulo 5">
            <a:extLst>
              <a:ext uri="{FF2B5EF4-FFF2-40B4-BE49-F238E27FC236}">
                <a16:creationId xmlns:a16="http://schemas.microsoft.com/office/drawing/2014/main" id="{85DCD2BC-B521-42E7-9735-EE38F4F6DCA2}"/>
              </a:ext>
            </a:extLst>
          </p:cNvPr>
          <p:cNvSpPr/>
          <p:nvPr/>
        </p:nvSpPr>
        <p:spPr>
          <a:xfrm>
            <a:off x="258136" y="3054556"/>
            <a:ext cx="1372258" cy="923330"/>
          </a:xfrm>
          <a:prstGeom prst="rect">
            <a:avLst/>
          </a:prstGeom>
          <a:solidFill>
            <a:srgbClr val="FFFF00"/>
          </a:solidFill>
        </p:spPr>
        <p:txBody>
          <a:bodyPr wrap="square">
            <a:spAutoFit/>
          </a:bodyPr>
          <a:lstStyle/>
          <a:p>
            <a:r>
              <a:rPr lang="es-ES" b="1" dirty="0"/>
              <a:t>Hallamos la mayor penalidad</a:t>
            </a:r>
            <a:endParaRPr lang="es-PE" b="1" dirty="0"/>
          </a:p>
        </p:txBody>
      </p:sp>
      <p:sp>
        <p:nvSpPr>
          <p:cNvPr id="7" name="CuadroTexto 6">
            <a:extLst>
              <a:ext uri="{FF2B5EF4-FFF2-40B4-BE49-F238E27FC236}">
                <a16:creationId xmlns:a16="http://schemas.microsoft.com/office/drawing/2014/main" id="{F1F3323B-61A5-4A6E-9351-DBD345ABAE30}"/>
              </a:ext>
            </a:extLst>
          </p:cNvPr>
          <p:cNvSpPr txBox="1"/>
          <p:nvPr/>
        </p:nvSpPr>
        <p:spPr>
          <a:xfrm>
            <a:off x="264551" y="4198193"/>
            <a:ext cx="1380226" cy="646331"/>
          </a:xfrm>
          <a:prstGeom prst="rect">
            <a:avLst/>
          </a:prstGeom>
          <a:solidFill>
            <a:srgbClr val="FFFF00"/>
          </a:solidFill>
        </p:spPr>
        <p:txBody>
          <a:bodyPr wrap="square" rtlCol="0">
            <a:spAutoFit/>
          </a:bodyPr>
          <a:lstStyle/>
          <a:p>
            <a:r>
              <a:rPr lang="es-ES" b="1" dirty="0"/>
              <a:t>Hallamos el menor costo</a:t>
            </a:r>
          </a:p>
        </p:txBody>
      </p:sp>
      <p:sp>
        <p:nvSpPr>
          <p:cNvPr id="8" name="CuadroTexto 7">
            <a:extLst>
              <a:ext uri="{FF2B5EF4-FFF2-40B4-BE49-F238E27FC236}">
                <a16:creationId xmlns:a16="http://schemas.microsoft.com/office/drawing/2014/main" id="{0D5808ED-D322-4047-9914-93E606A6D69B}"/>
              </a:ext>
            </a:extLst>
          </p:cNvPr>
          <p:cNvSpPr txBox="1"/>
          <p:nvPr/>
        </p:nvSpPr>
        <p:spPr>
          <a:xfrm>
            <a:off x="264551" y="5086705"/>
            <a:ext cx="1380226" cy="646331"/>
          </a:xfrm>
          <a:prstGeom prst="rect">
            <a:avLst/>
          </a:prstGeom>
          <a:solidFill>
            <a:srgbClr val="FFFF00"/>
          </a:solidFill>
        </p:spPr>
        <p:txBody>
          <a:bodyPr wrap="square" rtlCol="0">
            <a:spAutoFit/>
          </a:bodyPr>
          <a:lstStyle/>
          <a:p>
            <a:r>
              <a:rPr lang="es-ES" b="1" dirty="0"/>
              <a:t>Anotamos la operación</a:t>
            </a:r>
          </a:p>
        </p:txBody>
      </p:sp>
      <p:sp>
        <p:nvSpPr>
          <p:cNvPr id="9" name="Globo: flecha hacia abajo 8">
            <a:extLst>
              <a:ext uri="{FF2B5EF4-FFF2-40B4-BE49-F238E27FC236}">
                <a16:creationId xmlns:a16="http://schemas.microsoft.com/office/drawing/2014/main" id="{212AC488-17E2-4A14-ABE2-2D836BD538C5}"/>
              </a:ext>
            </a:extLst>
          </p:cNvPr>
          <p:cNvSpPr/>
          <p:nvPr/>
        </p:nvSpPr>
        <p:spPr>
          <a:xfrm>
            <a:off x="276044" y="1276709"/>
            <a:ext cx="1345721" cy="897148"/>
          </a:xfrm>
          <a:prstGeom prst="downArrowCallou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rgbClr val="FF0000"/>
                </a:solidFill>
              </a:rPr>
              <a:t>Pasos:</a:t>
            </a:r>
            <a:endParaRPr lang="es-PE" sz="2400" dirty="0">
              <a:solidFill>
                <a:srgbClr val="FF0000"/>
              </a:solidFill>
            </a:endParaRPr>
          </a:p>
        </p:txBody>
      </p:sp>
      <p:grpSp>
        <p:nvGrpSpPr>
          <p:cNvPr id="3" name="Grupo 2">
            <a:extLst>
              <a:ext uri="{FF2B5EF4-FFF2-40B4-BE49-F238E27FC236}">
                <a16:creationId xmlns:a16="http://schemas.microsoft.com/office/drawing/2014/main" id="{291EF7E0-BC15-D714-5BAA-1F8687CC0187}"/>
              </a:ext>
            </a:extLst>
          </p:cNvPr>
          <p:cNvGrpSpPr/>
          <p:nvPr/>
        </p:nvGrpSpPr>
        <p:grpSpPr>
          <a:xfrm>
            <a:off x="7531658" y="4521358"/>
            <a:ext cx="2928599" cy="393972"/>
            <a:chOff x="0" y="358"/>
            <a:chExt cx="2928599" cy="393972"/>
          </a:xfrm>
        </p:grpSpPr>
        <p:sp>
          <p:nvSpPr>
            <p:cNvPr id="4" name="Rectángulo: esquinas redondeadas 3">
              <a:extLst>
                <a:ext uri="{FF2B5EF4-FFF2-40B4-BE49-F238E27FC236}">
                  <a16:creationId xmlns:a16="http://schemas.microsoft.com/office/drawing/2014/main" id="{B4A7B324-87CD-4EB4-1DB4-96875B5F919B}"/>
                </a:ext>
              </a:extLst>
            </p:cNvPr>
            <p:cNvSpPr/>
            <p:nvPr/>
          </p:nvSpPr>
          <p:spPr>
            <a:xfrm>
              <a:off x="0" y="358"/>
              <a:ext cx="2928599" cy="393972"/>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Rectángulo: esquinas redondeadas 4">
              <a:extLst>
                <a:ext uri="{FF2B5EF4-FFF2-40B4-BE49-F238E27FC236}">
                  <a16:creationId xmlns:a16="http://schemas.microsoft.com/office/drawing/2014/main" id="{6D29F352-0E11-4C24-38EF-EFB5BD445FD4}"/>
                </a:ext>
              </a:extLst>
            </p:cNvPr>
            <p:cNvSpPr txBox="1"/>
            <p:nvPr/>
          </p:nvSpPr>
          <p:spPr>
            <a:xfrm>
              <a:off x="19232" y="19590"/>
              <a:ext cx="2890135" cy="35550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PE" sz="2000" b="1" kern="1200" dirty="0" err="1"/>
                <a:t>X35</a:t>
              </a:r>
              <a:r>
                <a:rPr lang="es-PE" sz="2000" b="1" kern="1200" dirty="0"/>
                <a:t>=50        C=50*0</a:t>
              </a:r>
            </a:p>
          </p:txBody>
        </p:sp>
      </p:grpSp>
    </p:spTree>
    <p:extLst>
      <p:ext uri="{BB962C8B-B14F-4D97-AF65-F5344CB8AC3E}">
        <p14:creationId xmlns:p14="http://schemas.microsoft.com/office/powerpoint/2010/main" val="1941612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82" name="Table 1"/>
          <p:cNvGraphicFramePr/>
          <p:nvPr/>
        </p:nvGraphicFramePr>
        <p:xfrm>
          <a:off x="1909630" y="1266036"/>
          <a:ext cx="8357760" cy="5463000"/>
        </p:xfrm>
        <a:graphic>
          <a:graphicData uri="http://schemas.openxmlformats.org/drawingml/2006/table">
            <a:tbl>
              <a:tblPr/>
              <a:tblGrid>
                <a:gridCol w="1655280">
                  <a:extLst>
                    <a:ext uri="{9D8B030D-6E8A-4147-A177-3AD203B41FA5}">
                      <a16:colId xmlns:a16="http://schemas.microsoft.com/office/drawing/2014/main" val="20000"/>
                    </a:ext>
                  </a:extLst>
                </a:gridCol>
                <a:gridCol w="661680">
                  <a:extLst>
                    <a:ext uri="{9D8B030D-6E8A-4147-A177-3AD203B41FA5}">
                      <a16:colId xmlns:a16="http://schemas.microsoft.com/office/drawing/2014/main" val="20001"/>
                    </a:ext>
                  </a:extLst>
                </a:gridCol>
                <a:gridCol w="661680">
                  <a:extLst>
                    <a:ext uri="{9D8B030D-6E8A-4147-A177-3AD203B41FA5}">
                      <a16:colId xmlns:a16="http://schemas.microsoft.com/office/drawing/2014/main" val="20002"/>
                    </a:ext>
                  </a:extLst>
                </a:gridCol>
                <a:gridCol w="744480">
                  <a:extLst>
                    <a:ext uri="{9D8B030D-6E8A-4147-A177-3AD203B41FA5}">
                      <a16:colId xmlns:a16="http://schemas.microsoft.com/office/drawing/2014/main" val="20003"/>
                    </a:ext>
                  </a:extLst>
                </a:gridCol>
                <a:gridCol w="744480">
                  <a:extLst>
                    <a:ext uri="{9D8B030D-6E8A-4147-A177-3AD203B41FA5}">
                      <a16:colId xmlns:a16="http://schemas.microsoft.com/office/drawing/2014/main" val="20004"/>
                    </a:ext>
                  </a:extLst>
                </a:gridCol>
                <a:gridCol w="688320">
                  <a:extLst>
                    <a:ext uri="{9D8B030D-6E8A-4147-A177-3AD203B41FA5}">
                      <a16:colId xmlns:a16="http://schemas.microsoft.com/office/drawing/2014/main" val="20005"/>
                    </a:ext>
                  </a:extLst>
                </a:gridCol>
                <a:gridCol w="1215000">
                  <a:extLst>
                    <a:ext uri="{9D8B030D-6E8A-4147-A177-3AD203B41FA5}">
                      <a16:colId xmlns:a16="http://schemas.microsoft.com/office/drawing/2014/main" val="20006"/>
                    </a:ext>
                  </a:extLst>
                </a:gridCol>
                <a:gridCol w="661680">
                  <a:extLst>
                    <a:ext uri="{9D8B030D-6E8A-4147-A177-3AD203B41FA5}">
                      <a16:colId xmlns:a16="http://schemas.microsoft.com/office/drawing/2014/main" val="20007"/>
                    </a:ext>
                  </a:extLst>
                </a:gridCol>
                <a:gridCol w="661680">
                  <a:extLst>
                    <a:ext uri="{9D8B030D-6E8A-4147-A177-3AD203B41FA5}">
                      <a16:colId xmlns:a16="http://schemas.microsoft.com/office/drawing/2014/main" val="20008"/>
                    </a:ext>
                  </a:extLst>
                </a:gridCol>
                <a:gridCol w="663480">
                  <a:extLst>
                    <a:ext uri="{9D8B030D-6E8A-4147-A177-3AD203B41FA5}">
                      <a16:colId xmlns:a16="http://schemas.microsoft.com/office/drawing/2014/main" val="20009"/>
                    </a:ext>
                  </a:extLst>
                </a:gridCol>
              </a:tblGrid>
              <a:tr h="795960">
                <a:tc>
                  <a:txBody>
                    <a:bodyPr/>
                    <a:lstStyle/>
                    <a:p>
                      <a:pPr algn="ctr">
                        <a:lnSpc>
                          <a:spcPct val="100000"/>
                        </a:lnSpc>
                      </a:pPr>
                      <a:r>
                        <a:rPr lang="es-PE" sz="2400" b="1" strike="noStrike" spc="-12" dirty="0">
                          <a:solidFill>
                            <a:schemeClr val="bg2">
                              <a:lumMod val="25000"/>
                            </a:schemeClr>
                          </a:solidFill>
                          <a:latin typeface="Arial Narrow"/>
                          <a:ea typeface="MS Mincho"/>
                        </a:rPr>
                        <a:t>Destino</a:t>
                      </a:r>
                      <a:endParaRPr lang="es-PE" sz="2400" b="0" strike="noStrike" spc="-1" dirty="0">
                        <a:solidFill>
                          <a:schemeClr val="bg2">
                            <a:lumMod val="25000"/>
                          </a:schemeClr>
                        </a:solidFill>
                        <a:latin typeface="Arial"/>
                      </a:endParaRPr>
                    </a:p>
                    <a:p>
                      <a:pPr algn="ctr">
                        <a:lnSpc>
                          <a:spcPct val="100000"/>
                        </a:lnSpc>
                      </a:pPr>
                      <a:r>
                        <a:rPr lang="es-PE" sz="2400" b="1" strike="noStrike" spc="-12" dirty="0">
                          <a:solidFill>
                            <a:schemeClr val="bg2">
                              <a:lumMod val="25000"/>
                            </a:schemeClr>
                          </a:solidFill>
                          <a:latin typeface="Arial Narrow"/>
                          <a:ea typeface="MS Mincho"/>
                        </a:rPr>
                        <a:t>Medio</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2</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4</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5</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oferta</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P1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dirty="0" err="1">
                          <a:solidFill>
                            <a:schemeClr val="bg2">
                              <a:lumMod val="25000"/>
                            </a:schemeClr>
                          </a:solidFill>
                          <a:latin typeface="Arial Narrow"/>
                          <a:ea typeface="MS Mincho"/>
                        </a:rPr>
                        <a:t>P2</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dirty="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795960">
                <a:tc>
                  <a:txBody>
                    <a:bodyPr/>
                    <a:lstStyle/>
                    <a:p>
                      <a:pPr algn="ctr">
                        <a:lnSpc>
                          <a:spcPct val="100000"/>
                        </a:lnSpc>
                      </a:pPr>
                      <a:r>
                        <a:rPr lang="es-PE" sz="2400" b="1" strike="noStrike" spc="-1" dirty="0">
                          <a:solidFill>
                            <a:schemeClr val="bg2">
                              <a:lumMod val="25000"/>
                            </a:schemeClr>
                          </a:solidFill>
                          <a:latin typeface="Arial Narrow"/>
                          <a:ea typeface="MS Mincho"/>
                        </a:rPr>
                        <a:t>1</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6</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4</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3</a:t>
                      </a:r>
                      <a:endParaRPr lang="es-PE" sz="2400" b="0" strike="noStrike" spc="-1">
                        <a:solidFill>
                          <a:schemeClr val="bg2">
                            <a:lumMod val="25000"/>
                          </a:schemeClr>
                        </a:solidFill>
                        <a:latin typeface="Arial"/>
                      </a:endParaRPr>
                    </a:p>
                    <a:p>
                      <a:pPr algn="ctr">
                        <a:lnSpc>
                          <a:spcPct val="100000"/>
                        </a:lnSpc>
                      </a:pPr>
                      <a:r>
                        <a:rPr lang="es-PE" sz="2400" b="1" strike="noStrike" spc="-12">
                          <a:solidFill>
                            <a:schemeClr val="bg2">
                              <a:lumMod val="25000"/>
                            </a:schemeClr>
                          </a:solidFill>
                          <a:latin typeface="Arial Narrow"/>
                          <a:ea typeface="MS Mincho"/>
                        </a:rPr>
                        <a:t>*</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pPr algn="ctr">
                        <a:lnSpc>
                          <a:spcPct val="100000"/>
                        </a:lnSpc>
                      </a:pPr>
                      <a:r>
                        <a:rPr lang="es-PE" sz="2400" b="1" strike="noStrike" spc="-12">
                          <a:solidFill>
                            <a:schemeClr val="bg2">
                              <a:lumMod val="25000"/>
                            </a:schemeClr>
                          </a:solidFill>
                          <a:latin typeface="Arial Narrow"/>
                          <a:ea typeface="MS Mincho"/>
                        </a:rPr>
                        <a:t>7</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10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pPr>
                      <a:r>
                        <a:rPr lang="es-PE" sz="2400" b="1" strike="noStrike" spc="-1" dirty="0">
                          <a:solidFill>
                            <a:schemeClr val="bg2">
                              <a:lumMod val="25000"/>
                            </a:schemeClr>
                          </a:solidFill>
                          <a:latin typeface="Arial Narrow"/>
                        </a:rPr>
                        <a:t>300/</a:t>
                      </a:r>
                      <a:endParaRPr lang="es-PE" sz="2400" b="0" strike="noStrike" spc="-1" dirty="0">
                        <a:solidFill>
                          <a:schemeClr val="bg2">
                            <a:lumMod val="25000"/>
                          </a:schemeClr>
                        </a:solidFill>
                        <a:latin typeface="Arial"/>
                      </a:endParaRPr>
                    </a:p>
                    <a:p>
                      <a:pPr algn="ctr">
                        <a:lnSpc>
                          <a:spcPct val="100000"/>
                        </a:lnSpc>
                      </a:pPr>
                      <a:r>
                        <a:rPr lang="es-PE" sz="2400" b="1" strike="noStrike" spc="-1" dirty="0">
                          <a:solidFill>
                            <a:schemeClr val="bg2">
                              <a:lumMod val="25000"/>
                            </a:schemeClr>
                          </a:solidFill>
                          <a:latin typeface="Arial Narrow"/>
                        </a:rPr>
                        <a:t>100</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rgbClr val="FF0000"/>
                          </a:solidFill>
                          <a:latin typeface="Arial Narrow"/>
                          <a:ea typeface="MS Mincho"/>
                        </a:rPr>
                        <a:t>1</a:t>
                      </a:r>
                      <a:endParaRPr lang="es-PE" sz="24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507600">
                <a:tc>
                  <a:txBody>
                    <a:bodyPr/>
                    <a:lstStyle/>
                    <a:p>
                      <a:pPr algn="ctr">
                        <a:lnSpc>
                          <a:spcPct val="100000"/>
                        </a:lnSpc>
                      </a:pPr>
                      <a:r>
                        <a:rPr lang="es-PE" sz="2400" b="1" strike="noStrike" spc="-12">
                          <a:solidFill>
                            <a:schemeClr val="bg2">
                              <a:lumMod val="25000"/>
                            </a:schemeClr>
                          </a:solidFill>
                          <a:latin typeface="Arial Narrow"/>
                          <a:ea typeface="MS Mincho"/>
                        </a:rPr>
                        <a:t>2</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5</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8</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9</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pPr algn="ctr">
                        <a:lnSpc>
                          <a:spcPct val="100000"/>
                        </a:lnSpc>
                      </a:pPr>
                      <a:r>
                        <a:rPr lang="es-PE" sz="2400" b="1" strike="noStrike" spc="-12">
                          <a:solidFill>
                            <a:schemeClr val="bg2">
                              <a:lumMod val="25000"/>
                            </a:schemeClr>
                          </a:solidFill>
                          <a:latin typeface="Arial Narrow"/>
                          <a:ea typeface="MS Mincho"/>
                        </a:rPr>
                        <a:t>11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13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pPr>
                      <a:r>
                        <a:rPr lang="es-PE" sz="2400" b="1" strike="noStrike" spc="-1">
                          <a:solidFill>
                            <a:schemeClr val="bg2">
                              <a:lumMod val="25000"/>
                            </a:schemeClr>
                          </a:solidFill>
                          <a:latin typeface="Arial Narrow"/>
                        </a:rPr>
                        <a:t>400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gn="ctr">
                        <a:lnSpc>
                          <a:spcPct val="100000"/>
                        </a:lnSpc>
                      </a:pPr>
                      <a:r>
                        <a:rPr lang="es-PE" sz="2400" b="1" strike="noStrike" spc="-1" dirty="0">
                          <a:solidFill>
                            <a:srgbClr val="FF0000"/>
                          </a:solidFill>
                          <a:latin typeface="Arial Narrow"/>
                          <a:ea typeface="MS Mincho"/>
                        </a:rPr>
                        <a:t>3</a:t>
                      </a:r>
                      <a:endParaRPr lang="es-PE" sz="24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extLst>
                  <a:ext uri="{0D108BD9-81ED-4DB2-BD59-A6C34878D82A}">
                    <a16:rowId xmlns:a16="http://schemas.microsoft.com/office/drawing/2014/main" val="10002"/>
                  </a:ext>
                </a:extLst>
              </a:tr>
              <a:tr h="795960">
                <a:tc>
                  <a:txBody>
                    <a:bodyPr/>
                    <a:lstStyle/>
                    <a:p>
                      <a:pPr algn="ctr">
                        <a:lnSpc>
                          <a:spcPct val="100000"/>
                        </a:lnSpc>
                      </a:pPr>
                      <a:r>
                        <a:rPr lang="es-PE" sz="2400" b="1" strike="noStrike" spc="-1" dirty="0">
                          <a:solidFill>
                            <a:schemeClr val="bg2">
                              <a:lumMod val="25000"/>
                            </a:schemeClr>
                          </a:solidFill>
                          <a:latin typeface="Arial Narrow"/>
                          <a:ea typeface="MS Mincho"/>
                        </a:rPr>
                        <a:t>Figurado</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1D528D"/>
                    </a:solidFill>
                  </a:tcPr>
                </a:tc>
                <a:tc>
                  <a:txBody>
                    <a:bodyPr/>
                    <a:lstStyle/>
                    <a:p>
                      <a:pPr algn="ctr">
                        <a:lnSpc>
                          <a:spcPct val="100000"/>
                        </a:lnSpc>
                      </a:pPr>
                      <a:r>
                        <a:rPr lang="es-PE" sz="2400" b="1" strike="noStrike" spc="-1">
                          <a:solidFill>
                            <a:schemeClr val="bg2">
                              <a:lumMod val="25000"/>
                            </a:schemeClr>
                          </a:solidFill>
                          <a:latin typeface="Arial Narrow"/>
                          <a:ea typeface="MS Mincho"/>
                        </a:rPr>
                        <a:t>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1D528D"/>
                    </a:solidFill>
                  </a:tcPr>
                </a:tc>
                <a:tc>
                  <a:txBody>
                    <a:bodyPr/>
                    <a:lstStyle/>
                    <a:p>
                      <a:pPr algn="ctr">
                        <a:lnSpc>
                          <a:spcPct val="100000"/>
                        </a:lnSpc>
                      </a:pPr>
                      <a:r>
                        <a:rPr lang="es-PE" sz="2400" b="1" strike="noStrike" spc="-12">
                          <a:solidFill>
                            <a:schemeClr val="bg2">
                              <a:lumMod val="25000"/>
                            </a:schemeClr>
                          </a:solidFill>
                          <a:latin typeface="Arial Narrow"/>
                          <a:ea typeface="MS Mincho"/>
                        </a:rPr>
                        <a:t>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1D528D"/>
                    </a:solidFill>
                  </a:tcPr>
                </a:tc>
                <a:tc>
                  <a:txBody>
                    <a:bodyPr/>
                    <a:lstStyle/>
                    <a:p>
                      <a:pPr algn="ctr">
                        <a:lnSpc>
                          <a:spcPct val="100000"/>
                        </a:lnSpc>
                      </a:pPr>
                      <a:r>
                        <a:rPr lang="es-PE" sz="2400" b="1" strike="noStrike" spc="-1">
                          <a:solidFill>
                            <a:schemeClr val="bg2">
                              <a:lumMod val="25000"/>
                            </a:schemeClr>
                          </a:solidFill>
                          <a:latin typeface="Arial Narrow"/>
                          <a:ea typeface="MS Mincho"/>
                        </a:rPr>
                        <a:t>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1D528D"/>
                    </a:solidFill>
                  </a:tcPr>
                </a:tc>
                <a:tc>
                  <a:txBody>
                    <a:bodyPr/>
                    <a:lstStyle/>
                    <a:p>
                      <a:pPr algn="ctr">
                        <a:lnSpc>
                          <a:spcPct val="100000"/>
                        </a:lnSpc>
                      </a:pPr>
                      <a:r>
                        <a:rPr lang="es-PE" sz="2400" b="1" strike="noStrike" spc="-1">
                          <a:solidFill>
                            <a:schemeClr val="bg2">
                              <a:lumMod val="25000"/>
                            </a:schemeClr>
                          </a:solidFill>
                          <a:latin typeface="Arial Narrow"/>
                          <a:ea typeface="MS Mincho"/>
                        </a:rPr>
                        <a:t>0</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ea typeface="MS Mincho"/>
                        </a:rPr>
                        <a:t>*</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1D528D"/>
                    </a:solidFill>
                  </a:tcPr>
                </a:tc>
                <a:tc>
                  <a:txBody>
                    <a:bodyPr/>
                    <a:lstStyle/>
                    <a:p>
                      <a:pPr algn="ctr">
                        <a:lnSpc>
                          <a:spcPct val="100000"/>
                        </a:lnSpc>
                      </a:pPr>
                      <a:r>
                        <a:rPr lang="es-PE" sz="2400" b="1" strike="noStrike" spc="-1" dirty="0">
                          <a:solidFill>
                            <a:schemeClr val="bg2">
                              <a:lumMod val="25000"/>
                            </a:schemeClr>
                          </a:solidFill>
                          <a:latin typeface="Arial Narrow"/>
                        </a:rPr>
                        <a:t>50/</a:t>
                      </a:r>
                      <a:endParaRPr lang="es-PE" sz="2400" b="0" strike="noStrike" spc="-1" dirty="0">
                        <a:solidFill>
                          <a:schemeClr val="bg2">
                            <a:lumMod val="25000"/>
                          </a:schemeClr>
                        </a:solidFill>
                        <a:latin typeface="Arial"/>
                      </a:endParaRPr>
                    </a:p>
                    <a:p>
                      <a:pPr algn="ctr">
                        <a:lnSpc>
                          <a:spcPct val="100000"/>
                        </a:lnSpc>
                      </a:pPr>
                      <a:r>
                        <a:rPr lang="es-PE" sz="2400" b="1" strike="noStrike" spc="-1" dirty="0">
                          <a:solidFill>
                            <a:schemeClr val="bg2">
                              <a:lumMod val="25000"/>
                            </a:schemeClr>
                          </a:solidFill>
                          <a:latin typeface="Arial Narrow"/>
                        </a:rPr>
                        <a:t>0</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extLst>
                  <a:ext uri="{0D108BD9-81ED-4DB2-BD59-A6C34878D82A}">
                    <a16:rowId xmlns:a16="http://schemas.microsoft.com/office/drawing/2014/main" val="10003"/>
                  </a:ext>
                </a:extLst>
              </a:tr>
              <a:tr h="795960">
                <a:tc>
                  <a:txBody>
                    <a:bodyPr/>
                    <a:lstStyle/>
                    <a:p>
                      <a:pPr algn="ctr">
                        <a:lnSpc>
                          <a:spcPct val="100000"/>
                        </a:lnSpc>
                      </a:pPr>
                      <a:r>
                        <a:rPr lang="es-PE" sz="2400" b="1" strike="noStrike" spc="-12">
                          <a:solidFill>
                            <a:schemeClr val="bg2">
                              <a:lumMod val="25000"/>
                            </a:schemeClr>
                          </a:solidFill>
                          <a:latin typeface="Arial Narrow"/>
                          <a:ea typeface="MS Mincho"/>
                        </a:rPr>
                        <a:t>Demanda</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rPr>
                        <a:t>150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rPr>
                        <a:t>100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chemeClr val="bg2">
                              <a:lumMod val="25000"/>
                            </a:schemeClr>
                          </a:solidFill>
                          <a:latin typeface="Arial Narrow"/>
                        </a:rPr>
                        <a:t>200/</a:t>
                      </a:r>
                      <a:endParaRPr lang="es-PE" sz="2400" b="0" strike="noStrike" spc="-1" dirty="0">
                        <a:solidFill>
                          <a:schemeClr val="bg2">
                            <a:lumMod val="25000"/>
                          </a:schemeClr>
                        </a:solidFill>
                        <a:latin typeface="Arial"/>
                      </a:endParaRPr>
                    </a:p>
                    <a:p>
                      <a:pPr algn="ctr">
                        <a:lnSpc>
                          <a:spcPct val="100000"/>
                        </a:lnSpc>
                      </a:pPr>
                      <a:r>
                        <a:rPr lang="es-PE" sz="2400" b="1" strike="noStrike" spc="-1" dirty="0">
                          <a:solidFill>
                            <a:schemeClr val="bg2">
                              <a:lumMod val="25000"/>
                            </a:schemeClr>
                          </a:solidFill>
                          <a:latin typeface="Arial Narrow"/>
                        </a:rPr>
                        <a:t>0</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rPr>
                        <a:t>50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chemeClr val="bg2">
                              <a:lumMod val="25000"/>
                            </a:schemeClr>
                          </a:solidFill>
                          <a:latin typeface="Arial Narrow"/>
                        </a:rPr>
                        <a:t>250/</a:t>
                      </a:r>
                      <a:endParaRPr lang="es-PE" sz="2400" b="0" strike="noStrike" spc="-1" dirty="0">
                        <a:solidFill>
                          <a:schemeClr val="bg2">
                            <a:lumMod val="25000"/>
                          </a:schemeClr>
                        </a:solidFill>
                        <a:latin typeface="Arial"/>
                      </a:endParaRPr>
                    </a:p>
                    <a:p>
                      <a:pPr algn="ctr">
                        <a:lnSpc>
                          <a:spcPct val="100000"/>
                        </a:lnSpc>
                      </a:pPr>
                      <a:r>
                        <a:rPr lang="es-PE" sz="2400" b="1" strike="noStrike" spc="-1" dirty="0">
                          <a:solidFill>
                            <a:schemeClr val="bg2">
                              <a:lumMod val="25000"/>
                            </a:schemeClr>
                          </a:solidFill>
                          <a:latin typeface="Arial Narrow"/>
                        </a:rPr>
                        <a:t>200</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1D528D"/>
                      </a:solidFill>
                    </a:lnL>
                    <a:lnR w="12240">
                      <a:noFill/>
                    </a:lnR>
                    <a:lnT w="12240">
                      <a:solidFill>
                        <a:srgbClr val="1D528D"/>
                      </a:solid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solidFill>
                        <a:srgbClr val="1D528D"/>
                      </a:solid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solidFill>
                        <a:srgbClr val="1D528D"/>
                      </a:solid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solidFill>
                        <a:srgbClr val="1D528D"/>
                      </a:solidFill>
                    </a:lnT>
                    <a:lnB w="12240">
                      <a:noFill/>
                    </a:lnB>
                    <a:noFill/>
                  </a:tcPr>
                </a:tc>
                <a:extLst>
                  <a:ext uri="{0D108BD9-81ED-4DB2-BD59-A6C34878D82A}">
                    <a16:rowId xmlns:a16="http://schemas.microsoft.com/office/drawing/2014/main" val="10004"/>
                  </a:ext>
                </a:extLst>
              </a:tr>
              <a:tr h="554400">
                <a:tc>
                  <a:txBody>
                    <a:bodyPr/>
                    <a:lstStyle/>
                    <a:p>
                      <a:pPr algn="ctr">
                        <a:lnSpc>
                          <a:spcPct val="100000"/>
                        </a:lnSpc>
                      </a:pPr>
                      <a:r>
                        <a:rPr lang="es-PE" sz="2400" b="1" strike="noStrike" spc="-1">
                          <a:solidFill>
                            <a:schemeClr val="bg2">
                              <a:lumMod val="25000"/>
                            </a:schemeClr>
                          </a:solidFill>
                          <a:latin typeface="Arial Narrow"/>
                          <a:ea typeface="MS Mincho"/>
                        </a:rPr>
                        <a:t>P1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5</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4</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7</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10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1D528D"/>
                      </a:solid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extLst>
                  <a:ext uri="{0D108BD9-81ED-4DB2-BD59-A6C34878D82A}">
                    <a16:rowId xmlns:a16="http://schemas.microsoft.com/office/drawing/2014/main" val="10005"/>
                  </a:ext>
                </a:extLst>
              </a:tr>
              <a:tr h="554400">
                <a:tc>
                  <a:txBody>
                    <a:bodyPr/>
                    <a:lstStyle/>
                    <a:p>
                      <a:pPr algn="ctr">
                        <a:lnSpc>
                          <a:spcPct val="100000"/>
                        </a:lnSpc>
                      </a:pPr>
                      <a:r>
                        <a:rPr lang="es-PE" sz="2400" b="1" strike="noStrike" spc="-1">
                          <a:solidFill>
                            <a:schemeClr val="bg2">
                              <a:lumMod val="25000"/>
                            </a:schemeClr>
                          </a:solidFill>
                          <a:latin typeface="Arial Narrow"/>
                          <a:ea typeface="MS Mincho"/>
                        </a:rPr>
                        <a:t>P2</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rgbClr val="FF0000"/>
                          </a:solidFill>
                          <a:latin typeface="Arial Narrow"/>
                          <a:ea typeface="MS Mincho"/>
                        </a:rPr>
                        <a:t>1</a:t>
                      </a:r>
                      <a:endParaRPr lang="es-PE" sz="24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rgbClr val="FF0000"/>
                          </a:solidFill>
                          <a:latin typeface="Arial Narrow"/>
                          <a:ea typeface="MS Mincho"/>
                        </a:rPr>
                        <a:t>4</a:t>
                      </a:r>
                      <a:endParaRPr lang="es-PE" sz="24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rgbClr val="FF0000"/>
                          </a:solidFill>
                          <a:latin typeface="Arial Narrow"/>
                          <a:ea typeface="MS Mincho"/>
                        </a:rPr>
                        <a:t>6</a:t>
                      </a:r>
                      <a:endParaRPr lang="es-PE" sz="24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rgbClr val="FF0000"/>
                          </a:solidFill>
                          <a:latin typeface="Arial Narrow"/>
                          <a:ea typeface="MS Mincho"/>
                        </a:rPr>
                        <a:t>4</a:t>
                      </a:r>
                      <a:endParaRPr lang="es-PE" sz="24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rgbClr val="FF0000"/>
                          </a:solidFill>
                          <a:latin typeface="Arial Narrow"/>
                          <a:ea typeface="MS Mincho"/>
                        </a:rPr>
                        <a:t>3</a:t>
                      </a:r>
                      <a:endParaRPr lang="es-PE" sz="2400" b="0" strike="noStrike" spc="-1" dirty="0">
                        <a:solidFill>
                          <a:srgbClr val="FF0000"/>
                        </a:solidFill>
                        <a:latin typeface="Arial"/>
                      </a:endParaRPr>
                    </a:p>
                  </a:txBody>
                  <a:tcPr marL="44280" marR="44280">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1D528D"/>
                      </a:solidFill>
                    </a:lnL>
                    <a:lnR w="12240">
                      <a:noFill/>
                    </a:lnR>
                    <a:lnT w="12240">
                      <a:noFill/>
                    </a:lnT>
                    <a:lnB w="12240">
                      <a:noFill/>
                    </a:lnB>
                    <a:noFill/>
                  </a:tcPr>
                </a:tc>
                <a:tc>
                  <a:txBody>
                    <a:bodyPr/>
                    <a:lstStyle/>
                    <a:p>
                      <a:endParaRPr lang="en-US" sz="2400" dirty="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dirty="0">
                        <a:solidFill>
                          <a:schemeClr val="bg2">
                            <a:lumMod val="25000"/>
                          </a:schemeClr>
                        </a:solidFill>
                      </a:endParaRPr>
                    </a:p>
                  </a:txBody>
                  <a:tcPr marL="44280" marR="44280">
                    <a:lnL w="12240">
                      <a:noFill/>
                    </a:lnL>
                    <a:lnR w="12240">
                      <a:noFill/>
                    </a:lnR>
                    <a:lnT w="12240">
                      <a:noFill/>
                    </a:lnT>
                    <a:lnB w="12240">
                      <a:noFill/>
                    </a:lnB>
                    <a:noFill/>
                  </a:tcPr>
                </a:tc>
                <a:extLst>
                  <a:ext uri="{0D108BD9-81ED-4DB2-BD59-A6C34878D82A}">
                    <a16:rowId xmlns:a16="http://schemas.microsoft.com/office/drawing/2014/main" val="10006"/>
                  </a:ext>
                </a:extLst>
              </a:tr>
              <a:tr h="554760">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1D528D"/>
                      </a:solid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dirty="0">
                        <a:solidFill>
                          <a:schemeClr val="bg2">
                            <a:lumMod val="25000"/>
                          </a:schemeClr>
                        </a:solidFill>
                      </a:endParaRPr>
                    </a:p>
                  </a:txBody>
                  <a:tcPr marL="44280" marR="44280">
                    <a:lnL w="12240">
                      <a:noFill/>
                    </a:lnL>
                    <a:lnR w="12240">
                      <a:noFill/>
                    </a:lnR>
                    <a:lnT w="12240">
                      <a:noFill/>
                    </a:lnT>
                    <a:lnB w="12240">
                      <a:noFill/>
                    </a:lnB>
                    <a:noFill/>
                  </a:tcPr>
                </a:tc>
                <a:extLst>
                  <a:ext uri="{0D108BD9-81ED-4DB2-BD59-A6C34878D82A}">
                    <a16:rowId xmlns:a16="http://schemas.microsoft.com/office/drawing/2014/main" val="10007"/>
                  </a:ext>
                </a:extLst>
              </a:tr>
            </a:tbl>
          </a:graphicData>
        </a:graphic>
      </p:graphicFrame>
      <p:sp>
        <p:nvSpPr>
          <p:cNvPr id="1083" name="CustomShape 2"/>
          <p:cNvSpPr/>
          <p:nvPr/>
        </p:nvSpPr>
        <p:spPr>
          <a:xfrm>
            <a:off x="1524000" y="0"/>
            <a:ext cx="9143640" cy="45684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2" name="1 Diagrama"/>
          <p:cNvGraphicFramePr/>
          <p:nvPr/>
        </p:nvGraphicFramePr>
        <p:xfrm>
          <a:off x="7524840" y="4500720"/>
          <a:ext cx="2928600" cy="800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uadroTexto 4">
            <a:extLst>
              <a:ext uri="{FF2B5EF4-FFF2-40B4-BE49-F238E27FC236}">
                <a16:creationId xmlns:a16="http://schemas.microsoft.com/office/drawing/2014/main" id="{D18509C5-D26A-4027-9F19-9E3319947A3F}"/>
              </a:ext>
            </a:extLst>
          </p:cNvPr>
          <p:cNvSpPr txBox="1"/>
          <p:nvPr/>
        </p:nvSpPr>
        <p:spPr>
          <a:xfrm>
            <a:off x="258793" y="2191109"/>
            <a:ext cx="1380226" cy="646331"/>
          </a:xfrm>
          <a:prstGeom prst="rect">
            <a:avLst/>
          </a:prstGeom>
          <a:solidFill>
            <a:srgbClr val="FFFF00"/>
          </a:solidFill>
        </p:spPr>
        <p:txBody>
          <a:bodyPr wrap="square" rtlCol="0">
            <a:spAutoFit/>
          </a:bodyPr>
          <a:lstStyle/>
          <a:p>
            <a:r>
              <a:rPr lang="es-ES" b="1" dirty="0"/>
              <a:t>Hallamos las penalidades</a:t>
            </a:r>
          </a:p>
        </p:txBody>
      </p:sp>
      <p:sp>
        <p:nvSpPr>
          <p:cNvPr id="6" name="Rectángulo 5">
            <a:extLst>
              <a:ext uri="{FF2B5EF4-FFF2-40B4-BE49-F238E27FC236}">
                <a16:creationId xmlns:a16="http://schemas.microsoft.com/office/drawing/2014/main" id="{3B06903C-62CB-4781-B07A-FFC053636D36}"/>
              </a:ext>
            </a:extLst>
          </p:cNvPr>
          <p:cNvSpPr/>
          <p:nvPr/>
        </p:nvSpPr>
        <p:spPr>
          <a:xfrm>
            <a:off x="258136" y="3054556"/>
            <a:ext cx="1372258" cy="923330"/>
          </a:xfrm>
          <a:prstGeom prst="rect">
            <a:avLst/>
          </a:prstGeom>
          <a:solidFill>
            <a:srgbClr val="FFFF00"/>
          </a:solidFill>
        </p:spPr>
        <p:txBody>
          <a:bodyPr wrap="square">
            <a:spAutoFit/>
          </a:bodyPr>
          <a:lstStyle/>
          <a:p>
            <a:r>
              <a:rPr lang="es-ES" b="1" dirty="0"/>
              <a:t>Hallamos la mayor penalidad</a:t>
            </a:r>
            <a:endParaRPr lang="es-PE" b="1" dirty="0"/>
          </a:p>
        </p:txBody>
      </p:sp>
      <p:sp>
        <p:nvSpPr>
          <p:cNvPr id="7" name="CuadroTexto 6">
            <a:extLst>
              <a:ext uri="{FF2B5EF4-FFF2-40B4-BE49-F238E27FC236}">
                <a16:creationId xmlns:a16="http://schemas.microsoft.com/office/drawing/2014/main" id="{FF44F8DB-0FC7-4465-9846-C86B3ED75F86}"/>
              </a:ext>
            </a:extLst>
          </p:cNvPr>
          <p:cNvSpPr txBox="1"/>
          <p:nvPr/>
        </p:nvSpPr>
        <p:spPr>
          <a:xfrm>
            <a:off x="264551" y="4198193"/>
            <a:ext cx="1380226" cy="646331"/>
          </a:xfrm>
          <a:prstGeom prst="rect">
            <a:avLst/>
          </a:prstGeom>
          <a:solidFill>
            <a:srgbClr val="FFFF00"/>
          </a:solidFill>
        </p:spPr>
        <p:txBody>
          <a:bodyPr wrap="square" rtlCol="0">
            <a:spAutoFit/>
          </a:bodyPr>
          <a:lstStyle/>
          <a:p>
            <a:r>
              <a:rPr lang="es-ES" b="1" dirty="0"/>
              <a:t>Hallamos el menor costo</a:t>
            </a:r>
          </a:p>
        </p:txBody>
      </p:sp>
      <p:sp>
        <p:nvSpPr>
          <p:cNvPr id="8" name="CuadroTexto 7">
            <a:extLst>
              <a:ext uri="{FF2B5EF4-FFF2-40B4-BE49-F238E27FC236}">
                <a16:creationId xmlns:a16="http://schemas.microsoft.com/office/drawing/2014/main" id="{01C24445-C2D4-428F-A30E-5352225B736E}"/>
              </a:ext>
            </a:extLst>
          </p:cNvPr>
          <p:cNvSpPr txBox="1"/>
          <p:nvPr/>
        </p:nvSpPr>
        <p:spPr>
          <a:xfrm>
            <a:off x="264551" y="5086705"/>
            <a:ext cx="1380226" cy="646331"/>
          </a:xfrm>
          <a:prstGeom prst="rect">
            <a:avLst/>
          </a:prstGeom>
          <a:solidFill>
            <a:srgbClr val="FFFF00"/>
          </a:solidFill>
        </p:spPr>
        <p:txBody>
          <a:bodyPr wrap="square" rtlCol="0">
            <a:spAutoFit/>
          </a:bodyPr>
          <a:lstStyle/>
          <a:p>
            <a:r>
              <a:rPr lang="es-ES" b="1" dirty="0"/>
              <a:t>Anotamos la operación</a:t>
            </a:r>
          </a:p>
        </p:txBody>
      </p:sp>
      <p:sp>
        <p:nvSpPr>
          <p:cNvPr id="3" name="Globo: flecha hacia abajo 2">
            <a:extLst>
              <a:ext uri="{FF2B5EF4-FFF2-40B4-BE49-F238E27FC236}">
                <a16:creationId xmlns:a16="http://schemas.microsoft.com/office/drawing/2014/main" id="{B8356823-920B-1D32-C333-082FDA9E5395}"/>
              </a:ext>
            </a:extLst>
          </p:cNvPr>
          <p:cNvSpPr/>
          <p:nvPr/>
        </p:nvSpPr>
        <p:spPr>
          <a:xfrm>
            <a:off x="276044" y="1276709"/>
            <a:ext cx="1345721" cy="897148"/>
          </a:xfrm>
          <a:prstGeom prst="downArrowCallou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rgbClr val="FF0000"/>
                </a:solidFill>
              </a:rPr>
              <a:t>Pasos:</a:t>
            </a:r>
            <a:endParaRPr lang="es-PE" sz="2400" dirty="0">
              <a:solidFill>
                <a:srgbClr val="FF0000"/>
              </a:solidFill>
            </a:endParaRPr>
          </a:p>
        </p:txBody>
      </p:sp>
    </p:spTree>
    <p:extLst>
      <p:ext uri="{BB962C8B-B14F-4D97-AF65-F5344CB8AC3E}">
        <p14:creationId xmlns:p14="http://schemas.microsoft.com/office/powerpoint/2010/main" val="614904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85" name="Table 1"/>
          <p:cNvGraphicFramePr/>
          <p:nvPr/>
        </p:nvGraphicFramePr>
        <p:xfrm>
          <a:off x="1881120" y="1268763"/>
          <a:ext cx="8286480" cy="5589237"/>
        </p:xfrm>
        <a:graphic>
          <a:graphicData uri="http://schemas.openxmlformats.org/drawingml/2006/table">
            <a:tbl>
              <a:tblPr/>
              <a:tblGrid>
                <a:gridCol w="1640880">
                  <a:extLst>
                    <a:ext uri="{9D8B030D-6E8A-4147-A177-3AD203B41FA5}">
                      <a16:colId xmlns:a16="http://schemas.microsoft.com/office/drawing/2014/main" val="20000"/>
                    </a:ext>
                  </a:extLst>
                </a:gridCol>
                <a:gridCol w="656280">
                  <a:extLst>
                    <a:ext uri="{9D8B030D-6E8A-4147-A177-3AD203B41FA5}">
                      <a16:colId xmlns:a16="http://schemas.microsoft.com/office/drawing/2014/main" val="20001"/>
                    </a:ext>
                  </a:extLst>
                </a:gridCol>
                <a:gridCol w="656280">
                  <a:extLst>
                    <a:ext uri="{9D8B030D-6E8A-4147-A177-3AD203B41FA5}">
                      <a16:colId xmlns:a16="http://schemas.microsoft.com/office/drawing/2014/main" val="20002"/>
                    </a:ext>
                  </a:extLst>
                </a:gridCol>
                <a:gridCol w="738360">
                  <a:extLst>
                    <a:ext uri="{9D8B030D-6E8A-4147-A177-3AD203B41FA5}">
                      <a16:colId xmlns:a16="http://schemas.microsoft.com/office/drawing/2014/main" val="20003"/>
                    </a:ext>
                  </a:extLst>
                </a:gridCol>
                <a:gridCol w="738360">
                  <a:extLst>
                    <a:ext uri="{9D8B030D-6E8A-4147-A177-3AD203B41FA5}">
                      <a16:colId xmlns:a16="http://schemas.microsoft.com/office/drawing/2014/main" val="20004"/>
                    </a:ext>
                  </a:extLst>
                </a:gridCol>
                <a:gridCol w="682560">
                  <a:extLst>
                    <a:ext uri="{9D8B030D-6E8A-4147-A177-3AD203B41FA5}">
                      <a16:colId xmlns:a16="http://schemas.microsoft.com/office/drawing/2014/main" val="20005"/>
                    </a:ext>
                  </a:extLst>
                </a:gridCol>
                <a:gridCol w="1204200">
                  <a:extLst>
                    <a:ext uri="{9D8B030D-6E8A-4147-A177-3AD203B41FA5}">
                      <a16:colId xmlns:a16="http://schemas.microsoft.com/office/drawing/2014/main" val="20006"/>
                    </a:ext>
                  </a:extLst>
                </a:gridCol>
                <a:gridCol w="656280">
                  <a:extLst>
                    <a:ext uri="{9D8B030D-6E8A-4147-A177-3AD203B41FA5}">
                      <a16:colId xmlns:a16="http://schemas.microsoft.com/office/drawing/2014/main" val="20007"/>
                    </a:ext>
                  </a:extLst>
                </a:gridCol>
                <a:gridCol w="656280">
                  <a:extLst>
                    <a:ext uri="{9D8B030D-6E8A-4147-A177-3AD203B41FA5}">
                      <a16:colId xmlns:a16="http://schemas.microsoft.com/office/drawing/2014/main" val="20008"/>
                    </a:ext>
                  </a:extLst>
                </a:gridCol>
                <a:gridCol w="657000">
                  <a:extLst>
                    <a:ext uri="{9D8B030D-6E8A-4147-A177-3AD203B41FA5}">
                      <a16:colId xmlns:a16="http://schemas.microsoft.com/office/drawing/2014/main" val="20009"/>
                    </a:ext>
                  </a:extLst>
                </a:gridCol>
              </a:tblGrid>
              <a:tr h="499722">
                <a:tc>
                  <a:txBody>
                    <a:bodyPr/>
                    <a:lstStyle/>
                    <a:p>
                      <a:pPr algn="ctr">
                        <a:lnSpc>
                          <a:spcPct val="100000"/>
                        </a:lnSpc>
                      </a:pPr>
                      <a:r>
                        <a:rPr lang="es-PE" sz="2400" b="1" strike="noStrike" spc="-12" dirty="0">
                          <a:solidFill>
                            <a:schemeClr val="bg2">
                              <a:lumMod val="25000"/>
                            </a:schemeClr>
                          </a:solidFill>
                          <a:latin typeface="Arial Narrow"/>
                          <a:ea typeface="MS Mincho"/>
                        </a:rPr>
                        <a:t>Medio</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2</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4</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5</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oferta</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P1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P2</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P3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1288869">
                <a:tc>
                  <a:txBody>
                    <a:bodyPr/>
                    <a:lstStyle/>
                    <a:p>
                      <a:pPr algn="ctr">
                        <a:lnSpc>
                          <a:spcPct val="100000"/>
                        </a:lnSpc>
                      </a:pPr>
                      <a:r>
                        <a:rPr lang="es-PE" sz="2400" b="1" strike="noStrike" spc="-1">
                          <a:solidFill>
                            <a:schemeClr val="bg2">
                              <a:lumMod val="25000"/>
                            </a:schemeClr>
                          </a:solidFill>
                          <a:latin typeface="Arial Narrow"/>
                          <a:ea typeface="MS Mincho"/>
                        </a:rPr>
                        <a:t>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6</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4</a:t>
                      </a:r>
                      <a:endParaRPr lang="es-PE" sz="2400" b="0" strike="noStrike" spc="-1">
                        <a:solidFill>
                          <a:schemeClr val="bg2">
                            <a:lumMod val="25000"/>
                          </a:schemeClr>
                        </a:solidFill>
                        <a:latin typeface="Arial"/>
                      </a:endParaRPr>
                    </a:p>
                    <a:p>
                      <a:pPr algn="ctr">
                        <a:lnSpc>
                          <a:spcPct val="100000"/>
                        </a:lnSpc>
                      </a:pPr>
                      <a:r>
                        <a:rPr lang="es-PE" sz="2400" b="1" strike="noStrike" spc="-12">
                          <a:solidFill>
                            <a:schemeClr val="bg2">
                              <a:lumMod val="25000"/>
                            </a:schemeClr>
                          </a:solidFill>
                          <a:latin typeface="Arial Narrow"/>
                          <a:ea typeface="MS Mincho"/>
                        </a:rPr>
                        <a:t>*</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pPr algn="ctr">
                        <a:lnSpc>
                          <a:spcPct val="100000"/>
                        </a:lnSpc>
                      </a:pPr>
                      <a:r>
                        <a:rPr lang="es-PE" sz="2400" b="1" strike="noStrike" spc="-12">
                          <a:solidFill>
                            <a:schemeClr val="bg2">
                              <a:lumMod val="25000"/>
                            </a:schemeClr>
                          </a:solidFill>
                          <a:latin typeface="Arial Narrow"/>
                          <a:ea typeface="MS Mincho"/>
                        </a:rPr>
                        <a:t>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1D528D"/>
                    </a:solidFill>
                  </a:tcPr>
                </a:tc>
                <a:tc>
                  <a:txBody>
                    <a:bodyPr/>
                    <a:lstStyle/>
                    <a:p>
                      <a:pPr algn="ctr">
                        <a:lnSpc>
                          <a:spcPct val="100000"/>
                        </a:lnSpc>
                      </a:pPr>
                      <a:r>
                        <a:rPr lang="es-PE" sz="2400" b="1" strike="noStrike" spc="-12">
                          <a:solidFill>
                            <a:schemeClr val="bg2">
                              <a:lumMod val="25000"/>
                            </a:schemeClr>
                          </a:solidFill>
                          <a:latin typeface="Arial Narrow"/>
                          <a:ea typeface="MS Mincho"/>
                        </a:rPr>
                        <a:t>7</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10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pPr>
                      <a:r>
                        <a:rPr lang="es-PE" sz="2400" b="1" strike="noStrike" spc="-1">
                          <a:solidFill>
                            <a:schemeClr val="bg2">
                              <a:lumMod val="25000"/>
                            </a:schemeClr>
                          </a:solidFill>
                          <a:latin typeface="Arial Narrow"/>
                        </a:rPr>
                        <a:t>300</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rPr>
                        <a:t>100</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rPr>
                        <a:t>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rgbClr val="FF0000"/>
                          </a:solidFill>
                          <a:latin typeface="Arial Narrow"/>
                          <a:ea typeface="MS Mincho"/>
                        </a:rPr>
                        <a:t>2</a:t>
                      </a:r>
                      <a:endParaRPr lang="es-PE" sz="24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486906">
                <a:tc>
                  <a:txBody>
                    <a:bodyPr/>
                    <a:lstStyle/>
                    <a:p>
                      <a:pPr algn="ctr">
                        <a:lnSpc>
                          <a:spcPct val="100000"/>
                        </a:lnSpc>
                      </a:pPr>
                      <a:r>
                        <a:rPr lang="es-PE" sz="2400" b="1" strike="noStrike" spc="-12">
                          <a:solidFill>
                            <a:schemeClr val="bg2">
                              <a:lumMod val="25000"/>
                            </a:schemeClr>
                          </a:solidFill>
                          <a:latin typeface="Arial Narrow"/>
                          <a:ea typeface="MS Mincho"/>
                        </a:rPr>
                        <a:t>2</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5</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8</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pPr algn="ctr">
                        <a:lnSpc>
                          <a:spcPct val="100000"/>
                        </a:lnSpc>
                      </a:pPr>
                      <a:r>
                        <a:rPr lang="es-PE" sz="2400" b="1" strike="noStrike" spc="-12">
                          <a:solidFill>
                            <a:schemeClr val="bg2">
                              <a:lumMod val="25000"/>
                            </a:schemeClr>
                          </a:solidFill>
                          <a:latin typeface="Arial Narrow"/>
                          <a:ea typeface="MS Mincho"/>
                        </a:rPr>
                        <a:t>9</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1D528D"/>
                    </a:solidFill>
                  </a:tcPr>
                </a:tc>
                <a:tc>
                  <a:txBody>
                    <a:bodyPr/>
                    <a:lstStyle/>
                    <a:p>
                      <a:pPr algn="ctr">
                        <a:lnSpc>
                          <a:spcPct val="100000"/>
                        </a:lnSpc>
                      </a:pPr>
                      <a:r>
                        <a:rPr lang="es-PE" sz="2400" b="1" strike="noStrike" spc="-12">
                          <a:solidFill>
                            <a:schemeClr val="bg2">
                              <a:lumMod val="25000"/>
                            </a:schemeClr>
                          </a:solidFill>
                          <a:latin typeface="Arial Narrow"/>
                          <a:ea typeface="MS Mincho"/>
                        </a:rPr>
                        <a:t>11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13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pPr>
                      <a:r>
                        <a:rPr lang="es-PE" sz="2400" b="1" strike="noStrike" spc="-1">
                          <a:solidFill>
                            <a:schemeClr val="bg2">
                              <a:lumMod val="25000"/>
                            </a:schemeClr>
                          </a:solidFill>
                          <a:latin typeface="Arial Narrow"/>
                        </a:rPr>
                        <a:t>400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gn="ctr">
                        <a:lnSpc>
                          <a:spcPct val="100000"/>
                        </a:lnSpc>
                      </a:pPr>
                      <a:r>
                        <a:rPr lang="es-PE" sz="2400" b="1" strike="noStrike" spc="-1" dirty="0">
                          <a:solidFill>
                            <a:srgbClr val="FF0000"/>
                          </a:solidFill>
                          <a:latin typeface="Arial Narrow"/>
                          <a:ea typeface="MS Mincho"/>
                        </a:rPr>
                        <a:t>3</a:t>
                      </a:r>
                      <a:endParaRPr lang="es-PE" sz="24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extLst>
                  <a:ext uri="{0D108BD9-81ED-4DB2-BD59-A6C34878D82A}">
                    <a16:rowId xmlns:a16="http://schemas.microsoft.com/office/drawing/2014/main" val="10002"/>
                  </a:ext>
                </a:extLst>
              </a:tr>
              <a:tr h="887887">
                <a:tc>
                  <a:txBody>
                    <a:bodyPr/>
                    <a:lstStyle/>
                    <a:p>
                      <a:pPr algn="ctr">
                        <a:lnSpc>
                          <a:spcPct val="100000"/>
                        </a:lnSpc>
                      </a:pPr>
                      <a:r>
                        <a:rPr lang="es-PE" sz="2400" b="1" strike="noStrike" spc="-1">
                          <a:solidFill>
                            <a:schemeClr val="bg2">
                              <a:lumMod val="25000"/>
                            </a:schemeClr>
                          </a:solidFill>
                          <a:latin typeface="Arial Narrow"/>
                          <a:ea typeface="MS Mincho"/>
                        </a:rPr>
                        <a:t>Figurado</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1D528D"/>
                    </a:solidFill>
                  </a:tcPr>
                </a:tc>
                <a:tc>
                  <a:txBody>
                    <a:bodyPr/>
                    <a:lstStyle/>
                    <a:p>
                      <a:pPr algn="ctr">
                        <a:lnSpc>
                          <a:spcPct val="100000"/>
                        </a:lnSpc>
                      </a:pPr>
                      <a:r>
                        <a:rPr lang="es-PE" sz="2400" b="1" strike="noStrike" spc="-1">
                          <a:solidFill>
                            <a:schemeClr val="bg2">
                              <a:lumMod val="25000"/>
                            </a:schemeClr>
                          </a:solidFill>
                          <a:latin typeface="Arial Narrow"/>
                          <a:ea typeface="MS Mincho"/>
                        </a:rPr>
                        <a:t>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1D528D"/>
                    </a:solid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1D528D"/>
                    </a:solidFill>
                  </a:tcPr>
                </a:tc>
                <a:tc>
                  <a:txBody>
                    <a:bodyPr/>
                    <a:lstStyle/>
                    <a:p>
                      <a:pPr algn="ctr">
                        <a:lnSpc>
                          <a:spcPct val="100000"/>
                        </a:lnSpc>
                      </a:pPr>
                      <a:r>
                        <a:rPr lang="es-PE" sz="2400" b="1" strike="noStrike" spc="-1">
                          <a:solidFill>
                            <a:schemeClr val="bg2">
                              <a:lumMod val="25000"/>
                            </a:schemeClr>
                          </a:solidFill>
                          <a:latin typeface="Arial Narrow"/>
                          <a:ea typeface="MS Mincho"/>
                        </a:rPr>
                        <a:t>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1D528D"/>
                    </a:solidFill>
                  </a:tcPr>
                </a:tc>
                <a:tc>
                  <a:txBody>
                    <a:bodyPr/>
                    <a:lstStyle/>
                    <a:p>
                      <a:pPr algn="ctr">
                        <a:lnSpc>
                          <a:spcPct val="100000"/>
                        </a:lnSpc>
                      </a:pPr>
                      <a:r>
                        <a:rPr lang="es-PE" sz="2400" b="1" strike="noStrike" spc="-1">
                          <a:solidFill>
                            <a:schemeClr val="bg2">
                              <a:lumMod val="25000"/>
                            </a:schemeClr>
                          </a:solidFill>
                          <a:latin typeface="Arial Narrow"/>
                          <a:ea typeface="MS Mincho"/>
                        </a:rPr>
                        <a:t>0</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ea typeface="MS Mincho"/>
                        </a:rPr>
                        <a:t>*</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1D528D"/>
                    </a:solidFill>
                  </a:tcPr>
                </a:tc>
                <a:tc>
                  <a:txBody>
                    <a:bodyPr/>
                    <a:lstStyle/>
                    <a:p>
                      <a:pPr algn="ctr">
                        <a:lnSpc>
                          <a:spcPct val="100000"/>
                        </a:lnSpc>
                      </a:pPr>
                      <a:r>
                        <a:rPr lang="es-PE" sz="2400" b="1" strike="noStrike" spc="-1">
                          <a:solidFill>
                            <a:schemeClr val="bg2">
                              <a:lumMod val="25000"/>
                            </a:schemeClr>
                          </a:solidFill>
                          <a:latin typeface="Arial Narrow"/>
                        </a:rPr>
                        <a:t>50</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rPr>
                        <a:t>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extLst>
                  <a:ext uri="{0D108BD9-81ED-4DB2-BD59-A6C34878D82A}">
                    <a16:rowId xmlns:a16="http://schemas.microsoft.com/office/drawing/2014/main" val="10003"/>
                  </a:ext>
                </a:extLst>
              </a:tr>
              <a:tr h="887887">
                <a:tc>
                  <a:txBody>
                    <a:bodyPr/>
                    <a:lstStyle/>
                    <a:p>
                      <a:pPr algn="ctr">
                        <a:lnSpc>
                          <a:spcPct val="100000"/>
                        </a:lnSpc>
                      </a:pPr>
                      <a:r>
                        <a:rPr lang="es-PE" sz="2400" b="1" strike="noStrike" spc="-12">
                          <a:solidFill>
                            <a:schemeClr val="bg2">
                              <a:lumMod val="25000"/>
                            </a:schemeClr>
                          </a:solidFill>
                          <a:latin typeface="Arial Narrow"/>
                          <a:ea typeface="MS Mincho"/>
                        </a:rPr>
                        <a:t>Demanda</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chemeClr val="bg2">
                              <a:lumMod val="25000"/>
                            </a:schemeClr>
                          </a:solidFill>
                          <a:latin typeface="Arial Narrow"/>
                        </a:rPr>
                        <a:t>150</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rPr>
                        <a:t>100 0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rPr>
                        <a:t>200</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rPr>
                        <a:t>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rPr>
                        <a:t>50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rPr>
                        <a:t>250</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rPr>
                        <a:t>200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1D528D"/>
                      </a:solidFill>
                    </a:lnL>
                    <a:lnR w="12240">
                      <a:noFill/>
                    </a:lnR>
                    <a:lnT w="12240">
                      <a:solidFill>
                        <a:srgbClr val="1D528D"/>
                      </a:solid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solidFill>
                        <a:srgbClr val="1D528D"/>
                      </a:solid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solidFill>
                        <a:srgbClr val="1D528D"/>
                      </a:solid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solidFill>
                        <a:srgbClr val="1D528D"/>
                      </a:solidFill>
                    </a:lnT>
                    <a:lnB w="12240">
                      <a:noFill/>
                    </a:lnB>
                    <a:noFill/>
                  </a:tcPr>
                </a:tc>
                <a:extLst>
                  <a:ext uri="{0D108BD9-81ED-4DB2-BD59-A6C34878D82A}">
                    <a16:rowId xmlns:a16="http://schemas.microsoft.com/office/drawing/2014/main" val="10004"/>
                  </a:ext>
                </a:extLst>
              </a:tr>
              <a:tr h="486906">
                <a:tc>
                  <a:txBody>
                    <a:bodyPr/>
                    <a:lstStyle/>
                    <a:p>
                      <a:pPr algn="ctr">
                        <a:lnSpc>
                          <a:spcPct val="100000"/>
                        </a:lnSpc>
                      </a:pPr>
                      <a:r>
                        <a:rPr lang="es-PE" sz="2400" b="1" strike="noStrike" spc="-1">
                          <a:solidFill>
                            <a:schemeClr val="bg2">
                              <a:lumMod val="25000"/>
                            </a:schemeClr>
                          </a:solidFill>
                          <a:latin typeface="Arial Narrow"/>
                          <a:ea typeface="MS Mincho"/>
                        </a:rPr>
                        <a:t>P1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5</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4</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7</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10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1D528D"/>
                      </a:solid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extLst>
                  <a:ext uri="{0D108BD9-81ED-4DB2-BD59-A6C34878D82A}">
                    <a16:rowId xmlns:a16="http://schemas.microsoft.com/office/drawing/2014/main" val="10005"/>
                  </a:ext>
                </a:extLst>
              </a:tr>
              <a:tr h="486906">
                <a:tc>
                  <a:txBody>
                    <a:bodyPr/>
                    <a:lstStyle/>
                    <a:p>
                      <a:pPr algn="ctr">
                        <a:lnSpc>
                          <a:spcPct val="100000"/>
                        </a:lnSpc>
                      </a:pPr>
                      <a:r>
                        <a:rPr lang="es-PE" sz="2400" b="1" strike="noStrike" spc="-1">
                          <a:solidFill>
                            <a:schemeClr val="bg2">
                              <a:lumMod val="25000"/>
                            </a:schemeClr>
                          </a:solidFill>
                          <a:latin typeface="Arial Narrow"/>
                          <a:ea typeface="MS Mincho"/>
                        </a:rPr>
                        <a:t>P2</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4</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6</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4</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endParaRPr lang="en-US" sz="2400" dirty="0">
                        <a:solidFill>
                          <a:schemeClr val="bg2">
                            <a:lumMod val="25000"/>
                          </a:schemeClr>
                        </a:solidFill>
                      </a:endParaRPr>
                    </a:p>
                  </a:txBody>
                  <a:tcPr marL="44280" marR="44280">
                    <a:lnL w="12240">
                      <a:solidFill>
                        <a:srgbClr val="1D528D"/>
                      </a:solid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extLst>
                  <a:ext uri="{0D108BD9-81ED-4DB2-BD59-A6C34878D82A}">
                    <a16:rowId xmlns:a16="http://schemas.microsoft.com/office/drawing/2014/main" val="10006"/>
                  </a:ext>
                </a:extLst>
              </a:tr>
              <a:tr h="564154">
                <a:tc>
                  <a:txBody>
                    <a:bodyPr/>
                    <a:lstStyle/>
                    <a:p>
                      <a:pPr algn="ctr">
                        <a:lnSpc>
                          <a:spcPct val="100000"/>
                        </a:lnSpc>
                      </a:pPr>
                      <a:r>
                        <a:rPr lang="es-PE" sz="2400" b="1" strike="noStrike" spc="-1">
                          <a:solidFill>
                            <a:schemeClr val="bg2">
                              <a:lumMod val="25000"/>
                            </a:schemeClr>
                          </a:solidFill>
                          <a:latin typeface="Arial Narrow"/>
                          <a:ea typeface="MS Mincho"/>
                        </a:rPr>
                        <a:t>P3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rgbClr val="FF0000"/>
                          </a:solidFill>
                          <a:latin typeface="Arial Narrow"/>
                          <a:ea typeface="MS Mincho"/>
                        </a:rPr>
                        <a:t>1</a:t>
                      </a:r>
                      <a:endParaRPr lang="es-PE" sz="24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rgbClr val="FF0000"/>
                          </a:solidFill>
                          <a:latin typeface="Arial Narrow"/>
                          <a:ea typeface="MS Mincho"/>
                        </a:rPr>
                        <a:t>4</a:t>
                      </a:r>
                      <a:endParaRPr lang="es-PE" sz="24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dirty="0">
                        <a:solidFill>
                          <a:srgbClr val="FF0000"/>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rgbClr val="FF0000"/>
                          </a:solidFill>
                          <a:latin typeface="Arial Narrow"/>
                          <a:ea typeface="MS Mincho"/>
                        </a:rPr>
                        <a:t>4</a:t>
                      </a:r>
                      <a:endParaRPr lang="es-PE" sz="24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rgbClr val="FF0000"/>
                          </a:solidFill>
                          <a:latin typeface="Arial Narrow"/>
                          <a:ea typeface="MS Mincho"/>
                        </a:rPr>
                        <a:t>3</a:t>
                      </a:r>
                      <a:endParaRPr lang="es-PE" sz="2400" b="0" strike="noStrike" spc="-1" dirty="0">
                        <a:solidFill>
                          <a:srgbClr val="FF0000"/>
                        </a:solidFill>
                        <a:latin typeface="Arial"/>
                      </a:endParaRPr>
                    </a:p>
                  </a:txBody>
                  <a:tcPr marL="44280" marR="44280">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endParaRPr lang="en-US" sz="2400" dirty="0">
                        <a:solidFill>
                          <a:schemeClr val="bg2">
                            <a:lumMod val="25000"/>
                          </a:schemeClr>
                        </a:solidFill>
                      </a:endParaRPr>
                    </a:p>
                  </a:txBody>
                  <a:tcPr marL="44280" marR="44280">
                    <a:lnL w="12240">
                      <a:solidFill>
                        <a:srgbClr val="1D528D"/>
                      </a:solid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dirty="0">
                        <a:solidFill>
                          <a:schemeClr val="bg2">
                            <a:lumMod val="25000"/>
                          </a:schemeClr>
                        </a:solidFill>
                      </a:endParaRPr>
                    </a:p>
                  </a:txBody>
                  <a:tcPr marL="44280" marR="44280">
                    <a:lnL w="12240">
                      <a:noFill/>
                    </a:lnL>
                    <a:lnR w="12240">
                      <a:noFill/>
                    </a:lnR>
                    <a:lnT w="12240">
                      <a:noFill/>
                    </a:lnT>
                    <a:lnB w="12240">
                      <a:noFill/>
                    </a:lnB>
                    <a:noFill/>
                  </a:tcPr>
                </a:tc>
                <a:extLst>
                  <a:ext uri="{0D108BD9-81ED-4DB2-BD59-A6C34878D82A}">
                    <a16:rowId xmlns:a16="http://schemas.microsoft.com/office/drawing/2014/main" val="10007"/>
                  </a:ext>
                </a:extLst>
              </a:tr>
            </a:tbl>
          </a:graphicData>
        </a:graphic>
      </p:graphicFrame>
      <p:sp>
        <p:nvSpPr>
          <p:cNvPr id="1086" name="CustomShape 2"/>
          <p:cNvSpPr/>
          <p:nvPr/>
        </p:nvSpPr>
        <p:spPr>
          <a:xfrm>
            <a:off x="1524000" y="0"/>
            <a:ext cx="9143640" cy="45684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sp>
        <p:nvSpPr>
          <p:cNvPr id="5" name="CuadroTexto 4">
            <a:extLst>
              <a:ext uri="{FF2B5EF4-FFF2-40B4-BE49-F238E27FC236}">
                <a16:creationId xmlns:a16="http://schemas.microsoft.com/office/drawing/2014/main" id="{0B7BF8FA-9E51-4F1E-B1BB-5A239F70D7C9}"/>
              </a:ext>
            </a:extLst>
          </p:cNvPr>
          <p:cNvSpPr txBox="1"/>
          <p:nvPr/>
        </p:nvSpPr>
        <p:spPr>
          <a:xfrm>
            <a:off x="258793" y="2191109"/>
            <a:ext cx="1380226" cy="646331"/>
          </a:xfrm>
          <a:prstGeom prst="rect">
            <a:avLst/>
          </a:prstGeom>
          <a:solidFill>
            <a:srgbClr val="FFFF00"/>
          </a:solidFill>
        </p:spPr>
        <p:txBody>
          <a:bodyPr wrap="square" rtlCol="0">
            <a:spAutoFit/>
          </a:bodyPr>
          <a:lstStyle/>
          <a:p>
            <a:r>
              <a:rPr lang="es-ES" b="1" dirty="0"/>
              <a:t>Hallamos las penalidades</a:t>
            </a:r>
          </a:p>
        </p:txBody>
      </p:sp>
      <p:sp>
        <p:nvSpPr>
          <p:cNvPr id="6" name="Rectángulo 5">
            <a:extLst>
              <a:ext uri="{FF2B5EF4-FFF2-40B4-BE49-F238E27FC236}">
                <a16:creationId xmlns:a16="http://schemas.microsoft.com/office/drawing/2014/main" id="{0546BA6E-F1F9-4B25-BF76-41C9A5F13EA6}"/>
              </a:ext>
            </a:extLst>
          </p:cNvPr>
          <p:cNvSpPr/>
          <p:nvPr/>
        </p:nvSpPr>
        <p:spPr>
          <a:xfrm>
            <a:off x="258136" y="3054556"/>
            <a:ext cx="1372258" cy="923330"/>
          </a:xfrm>
          <a:prstGeom prst="rect">
            <a:avLst/>
          </a:prstGeom>
          <a:solidFill>
            <a:srgbClr val="FFFF00"/>
          </a:solidFill>
        </p:spPr>
        <p:txBody>
          <a:bodyPr wrap="square">
            <a:spAutoFit/>
          </a:bodyPr>
          <a:lstStyle/>
          <a:p>
            <a:r>
              <a:rPr lang="es-ES" b="1" dirty="0"/>
              <a:t>Hallamos la mayor penalidad</a:t>
            </a:r>
            <a:endParaRPr lang="es-PE" b="1" dirty="0"/>
          </a:p>
        </p:txBody>
      </p:sp>
      <p:sp>
        <p:nvSpPr>
          <p:cNvPr id="7" name="CuadroTexto 6">
            <a:extLst>
              <a:ext uri="{FF2B5EF4-FFF2-40B4-BE49-F238E27FC236}">
                <a16:creationId xmlns:a16="http://schemas.microsoft.com/office/drawing/2014/main" id="{11669306-4EFE-490A-B16D-A2F4DCA4C291}"/>
              </a:ext>
            </a:extLst>
          </p:cNvPr>
          <p:cNvSpPr txBox="1"/>
          <p:nvPr/>
        </p:nvSpPr>
        <p:spPr>
          <a:xfrm>
            <a:off x="264551" y="4198193"/>
            <a:ext cx="1380226" cy="646331"/>
          </a:xfrm>
          <a:prstGeom prst="rect">
            <a:avLst/>
          </a:prstGeom>
          <a:solidFill>
            <a:srgbClr val="FFFF00"/>
          </a:solidFill>
        </p:spPr>
        <p:txBody>
          <a:bodyPr wrap="square" rtlCol="0">
            <a:spAutoFit/>
          </a:bodyPr>
          <a:lstStyle/>
          <a:p>
            <a:r>
              <a:rPr lang="es-ES" b="1" dirty="0"/>
              <a:t>Hallamos el menor costo</a:t>
            </a:r>
          </a:p>
        </p:txBody>
      </p:sp>
      <p:sp>
        <p:nvSpPr>
          <p:cNvPr id="8" name="CuadroTexto 7">
            <a:extLst>
              <a:ext uri="{FF2B5EF4-FFF2-40B4-BE49-F238E27FC236}">
                <a16:creationId xmlns:a16="http://schemas.microsoft.com/office/drawing/2014/main" id="{3CAA2B78-7013-4ABC-82FE-793A1F7E5BB1}"/>
              </a:ext>
            </a:extLst>
          </p:cNvPr>
          <p:cNvSpPr txBox="1"/>
          <p:nvPr/>
        </p:nvSpPr>
        <p:spPr>
          <a:xfrm>
            <a:off x="264551" y="5086705"/>
            <a:ext cx="1380226" cy="646331"/>
          </a:xfrm>
          <a:prstGeom prst="rect">
            <a:avLst/>
          </a:prstGeom>
          <a:solidFill>
            <a:srgbClr val="FFFF00"/>
          </a:solidFill>
        </p:spPr>
        <p:txBody>
          <a:bodyPr wrap="square" rtlCol="0">
            <a:spAutoFit/>
          </a:bodyPr>
          <a:lstStyle/>
          <a:p>
            <a:r>
              <a:rPr lang="es-ES" b="1" dirty="0"/>
              <a:t>Anotamos la operación</a:t>
            </a:r>
          </a:p>
        </p:txBody>
      </p:sp>
      <p:sp>
        <p:nvSpPr>
          <p:cNvPr id="3" name="Globo: flecha hacia abajo 2">
            <a:extLst>
              <a:ext uri="{FF2B5EF4-FFF2-40B4-BE49-F238E27FC236}">
                <a16:creationId xmlns:a16="http://schemas.microsoft.com/office/drawing/2014/main" id="{FEC50C91-CF05-270C-3ECE-A7795CB10B35}"/>
              </a:ext>
            </a:extLst>
          </p:cNvPr>
          <p:cNvSpPr/>
          <p:nvPr/>
        </p:nvSpPr>
        <p:spPr>
          <a:xfrm>
            <a:off x="276044" y="1276709"/>
            <a:ext cx="1345721" cy="897148"/>
          </a:xfrm>
          <a:prstGeom prst="downArrowCallou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rgbClr val="FF0000"/>
                </a:solidFill>
              </a:rPr>
              <a:t>Pasos:</a:t>
            </a:r>
            <a:endParaRPr lang="es-PE" sz="2400" dirty="0">
              <a:solidFill>
                <a:srgbClr val="FF0000"/>
              </a:solidFill>
            </a:endParaRPr>
          </a:p>
        </p:txBody>
      </p:sp>
      <p:grpSp>
        <p:nvGrpSpPr>
          <p:cNvPr id="4" name="Grupo 3">
            <a:extLst>
              <a:ext uri="{FF2B5EF4-FFF2-40B4-BE49-F238E27FC236}">
                <a16:creationId xmlns:a16="http://schemas.microsoft.com/office/drawing/2014/main" id="{E5CBFB3D-EBAA-93BA-4CEE-2219A4AB44EB}"/>
              </a:ext>
            </a:extLst>
          </p:cNvPr>
          <p:cNvGrpSpPr/>
          <p:nvPr/>
        </p:nvGrpSpPr>
        <p:grpSpPr>
          <a:xfrm>
            <a:off x="7302961" y="4660523"/>
            <a:ext cx="2515130" cy="368001"/>
            <a:chOff x="0" y="182"/>
            <a:chExt cx="2515130" cy="368001"/>
          </a:xfrm>
        </p:grpSpPr>
        <p:sp>
          <p:nvSpPr>
            <p:cNvPr id="15" name="Rectángulo: esquinas redondeadas 14">
              <a:extLst>
                <a:ext uri="{FF2B5EF4-FFF2-40B4-BE49-F238E27FC236}">
                  <a16:creationId xmlns:a16="http://schemas.microsoft.com/office/drawing/2014/main" id="{5A2AFA3C-82BC-6D7C-D3B1-EADF12947B8D}"/>
                </a:ext>
              </a:extLst>
            </p:cNvPr>
            <p:cNvSpPr/>
            <p:nvPr/>
          </p:nvSpPr>
          <p:spPr>
            <a:xfrm>
              <a:off x="0" y="182"/>
              <a:ext cx="2515130" cy="368001"/>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6" name="Rectángulo: esquinas redondeadas 4">
              <a:extLst>
                <a:ext uri="{FF2B5EF4-FFF2-40B4-BE49-F238E27FC236}">
                  <a16:creationId xmlns:a16="http://schemas.microsoft.com/office/drawing/2014/main" id="{C3CF48F8-BC02-0E68-7476-C5F7397E1764}"/>
                </a:ext>
              </a:extLst>
            </p:cNvPr>
            <p:cNvSpPr txBox="1"/>
            <p:nvPr/>
          </p:nvSpPr>
          <p:spPr>
            <a:xfrm>
              <a:off x="17964" y="18146"/>
              <a:ext cx="2479202" cy="33207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s-PE" sz="1600" b="1" kern="1200" dirty="0" err="1"/>
                <a:t>X35</a:t>
              </a:r>
              <a:r>
                <a:rPr lang="es-PE" sz="1600" b="1" kern="1200" dirty="0"/>
                <a:t>=50   C=50*0   =0</a:t>
              </a:r>
            </a:p>
          </p:txBody>
        </p:sp>
      </p:grpSp>
      <p:grpSp>
        <p:nvGrpSpPr>
          <p:cNvPr id="9" name="Grupo 8">
            <a:extLst>
              <a:ext uri="{FF2B5EF4-FFF2-40B4-BE49-F238E27FC236}">
                <a16:creationId xmlns:a16="http://schemas.microsoft.com/office/drawing/2014/main" id="{18628E2B-CED0-D9EC-FD5A-0483BFD9A67A}"/>
              </a:ext>
            </a:extLst>
          </p:cNvPr>
          <p:cNvGrpSpPr/>
          <p:nvPr/>
        </p:nvGrpSpPr>
        <p:grpSpPr>
          <a:xfrm>
            <a:off x="7302961" y="5042250"/>
            <a:ext cx="2515130" cy="368001"/>
            <a:chOff x="0" y="381909"/>
            <a:chExt cx="2515130" cy="368001"/>
          </a:xfrm>
        </p:grpSpPr>
        <p:sp>
          <p:nvSpPr>
            <p:cNvPr id="13" name="Rectángulo: esquinas redondeadas 12">
              <a:extLst>
                <a:ext uri="{FF2B5EF4-FFF2-40B4-BE49-F238E27FC236}">
                  <a16:creationId xmlns:a16="http://schemas.microsoft.com/office/drawing/2014/main" id="{57DF2D77-87D9-56AC-A45B-36AC6951E398}"/>
                </a:ext>
              </a:extLst>
            </p:cNvPr>
            <p:cNvSpPr/>
            <p:nvPr/>
          </p:nvSpPr>
          <p:spPr>
            <a:xfrm>
              <a:off x="0" y="381909"/>
              <a:ext cx="2515130" cy="368001"/>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4" name="Rectángulo: esquinas redondeadas 6">
              <a:extLst>
                <a:ext uri="{FF2B5EF4-FFF2-40B4-BE49-F238E27FC236}">
                  <a16:creationId xmlns:a16="http://schemas.microsoft.com/office/drawing/2014/main" id="{8EFCEF8D-2715-7D16-29A5-D6ED2204275D}"/>
                </a:ext>
              </a:extLst>
            </p:cNvPr>
            <p:cNvSpPr txBox="1"/>
            <p:nvPr/>
          </p:nvSpPr>
          <p:spPr>
            <a:xfrm>
              <a:off x="17964" y="399873"/>
              <a:ext cx="2479202" cy="33207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s-PE" sz="1600" b="1" kern="1200" dirty="0" err="1"/>
                <a:t>X13</a:t>
              </a:r>
              <a:r>
                <a:rPr lang="es-PE" sz="1600" b="1" kern="1200" dirty="0"/>
                <a:t>=200 C=200*3 =600</a:t>
              </a:r>
            </a:p>
          </p:txBody>
        </p:sp>
      </p:grpSp>
      <p:grpSp>
        <p:nvGrpSpPr>
          <p:cNvPr id="10" name="Grupo 9">
            <a:extLst>
              <a:ext uri="{FF2B5EF4-FFF2-40B4-BE49-F238E27FC236}">
                <a16:creationId xmlns:a16="http://schemas.microsoft.com/office/drawing/2014/main" id="{C62A2625-0CE5-8FBE-CD4F-66353E4DABEF}"/>
              </a:ext>
            </a:extLst>
          </p:cNvPr>
          <p:cNvGrpSpPr/>
          <p:nvPr/>
        </p:nvGrpSpPr>
        <p:grpSpPr>
          <a:xfrm>
            <a:off x="7302961" y="5423976"/>
            <a:ext cx="2515130" cy="368001"/>
            <a:chOff x="0" y="763635"/>
            <a:chExt cx="2515130" cy="368001"/>
          </a:xfrm>
        </p:grpSpPr>
        <p:sp>
          <p:nvSpPr>
            <p:cNvPr id="11" name="Rectángulo: esquinas redondeadas 10">
              <a:extLst>
                <a:ext uri="{FF2B5EF4-FFF2-40B4-BE49-F238E27FC236}">
                  <a16:creationId xmlns:a16="http://schemas.microsoft.com/office/drawing/2014/main" id="{3C8DB32F-A244-4273-CDAC-1426A8B5EF79}"/>
                </a:ext>
              </a:extLst>
            </p:cNvPr>
            <p:cNvSpPr/>
            <p:nvPr/>
          </p:nvSpPr>
          <p:spPr>
            <a:xfrm>
              <a:off x="0" y="763635"/>
              <a:ext cx="2515130" cy="368001"/>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 name="Rectángulo: esquinas redondeadas 8">
              <a:extLst>
                <a:ext uri="{FF2B5EF4-FFF2-40B4-BE49-F238E27FC236}">
                  <a16:creationId xmlns:a16="http://schemas.microsoft.com/office/drawing/2014/main" id="{E0084CD0-38D3-442E-53D0-07B607C6C3CE}"/>
                </a:ext>
              </a:extLst>
            </p:cNvPr>
            <p:cNvSpPr txBox="1"/>
            <p:nvPr/>
          </p:nvSpPr>
          <p:spPr>
            <a:xfrm>
              <a:off x="17964" y="781599"/>
              <a:ext cx="2479202" cy="33207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s-PE" sz="1600" b="1" kern="1200" dirty="0" err="1"/>
                <a:t>X12</a:t>
              </a:r>
              <a:r>
                <a:rPr lang="es-PE" sz="1600" b="1" kern="1200" dirty="0"/>
                <a:t>=100 C=100*4=400</a:t>
              </a:r>
            </a:p>
          </p:txBody>
        </p:sp>
      </p:grpSp>
    </p:spTree>
    <p:extLst>
      <p:ext uri="{BB962C8B-B14F-4D97-AF65-F5344CB8AC3E}">
        <p14:creationId xmlns:p14="http://schemas.microsoft.com/office/powerpoint/2010/main" val="17071699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88" name="Table 1"/>
          <p:cNvGraphicFramePr/>
          <p:nvPr/>
        </p:nvGraphicFramePr>
        <p:xfrm>
          <a:off x="1881120" y="1266036"/>
          <a:ext cx="7429320" cy="5505699"/>
        </p:xfrm>
        <a:graphic>
          <a:graphicData uri="http://schemas.openxmlformats.org/drawingml/2006/table">
            <a:tbl>
              <a:tblPr/>
              <a:tblGrid>
                <a:gridCol w="1471320">
                  <a:extLst>
                    <a:ext uri="{9D8B030D-6E8A-4147-A177-3AD203B41FA5}">
                      <a16:colId xmlns:a16="http://schemas.microsoft.com/office/drawing/2014/main" val="20000"/>
                    </a:ext>
                  </a:extLst>
                </a:gridCol>
                <a:gridCol w="588240">
                  <a:extLst>
                    <a:ext uri="{9D8B030D-6E8A-4147-A177-3AD203B41FA5}">
                      <a16:colId xmlns:a16="http://schemas.microsoft.com/office/drawing/2014/main" val="20001"/>
                    </a:ext>
                  </a:extLst>
                </a:gridCol>
                <a:gridCol w="588240">
                  <a:extLst>
                    <a:ext uri="{9D8B030D-6E8A-4147-A177-3AD203B41FA5}">
                      <a16:colId xmlns:a16="http://schemas.microsoft.com/office/drawing/2014/main" val="20002"/>
                    </a:ext>
                  </a:extLst>
                </a:gridCol>
                <a:gridCol w="661680">
                  <a:extLst>
                    <a:ext uri="{9D8B030D-6E8A-4147-A177-3AD203B41FA5}">
                      <a16:colId xmlns:a16="http://schemas.microsoft.com/office/drawing/2014/main" val="20003"/>
                    </a:ext>
                  </a:extLst>
                </a:gridCol>
                <a:gridCol w="661680">
                  <a:extLst>
                    <a:ext uri="{9D8B030D-6E8A-4147-A177-3AD203B41FA5}">
                      <a16:colId xmlns:a16="http://schemas.microsoft.com/office/drawing/2014/main" val="20004"/>
                    </a:ext>
                  </a:extLst>
                </a:gridCol>
                <a:gridCol w="611640">
                  <a:extLst>
                    <a:ext uri="{9D8B030D-6E8A-4147-A177-3AD203B41FA5}">
                      <a16:colId xmlns:a16="http://schemas.microsoft.com/office/drawing/2014/main" val="20005"/>
                    </a:ext>
                  </a:extLst>
                </a:gridCol>
                <a:gridCol w="1080000">
                  <a:extLst>
                    <a:ext uri="{9D8B030D-6E8A-4147-A177-3AD203B41FA5}">
                      <a16:colId xmlns:a16="http://schemas.microsoft.com/office/drawing/2014/main" val="20006"/>
                    </a:ext>
                  </a:extLst>
                </a:gridCol>
                <a:gridCol w="588240">
                  <a:extLst>
                    <a:ext uri="{9D8B030D-6E8A-4147-A177-3AD203B41FA5}">
                      <a16:colId xmlns:a16="http://schemas.microsoft.com/office/drawing/2014/main" val="20007"/>
                    </a:ext>
                  </a:extLst>
                </a:gridCol>
                <a:gridCol w="588240">
                  <a:extLst>
                    <a:ext uri="{9D8B030D-6E8A-4147-A177-3AD203B41FA5}">
                      <a16:colId xmlns:a16="http://schemas.microsoft.com/office/drawing/2014/main" val="20008"/>
                    </a:ext>
                  </a:extLst>
                </a:gridCol>
                <a:gridCol w="590040">
                  <a:extLst>
                    <a:ext uri="{9D8B030D-6E8A-4147-A177-3AD203B41FA5}">
                      <a16:colId xmlns:a16="http://schemas.microsoft.com/office/drawing/2014/main" val="20009"/>
                    </a:ext>
                  </a:extLst>
                </a:gridCol>
              </a:tblGrid>
              <a:tr h="477833">
                <a:tc>
                  <a:txBody>
                    <a:bodyPr/>
                    <a:lstStyle/>
                    <a:p>
                      <a:pPr algn="ctr">
                        <a:lnSpc>
                          <a:spcPct val="100000"/>
                        </a:lnSpc>
                      </a:pPr>
                      <a:r>
                        <a:rPr lang="es-PE" sz="2400" b="1" strike="noStrike" spc="-12" dirty="0">
                          <a:solidFill>
                            <a:schemeClr val="bg2">
                              <a:lumMod val="25000"/>
                            </a:schemeClr>
                          </a:solidFill>
                          <a:latin typeface="Arial Narrow"/>
                          <a:ea typeface="MS Mincho"/>
                        </a:rPr>
                        <a:t>Medio</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2</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4</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5</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oferta</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P1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P2</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P3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1264854">
                <a:tc>
                  <a:txBody>
                    <a:bodyPr/>
                    <a:lstStyle/>
                    <a:p>
                      <a:pPr algn="ctr">
                        <a:lnSpc>
                          <a:spcPct val="100000"/>
                        </a:lnSpc>
                      </a:pPr>
                      <a:r>
                        <a:rPr lang="es-PE" sz="2400" b="1" strike="noStrike" spc="-1" dirty="0">
                          <a:solidFill>
                            <a:schemeClr val="bg2">
                              <a:lumMod val="25000"/>
                            </a:schemeClr>
                          </a:solidFill>
                          <a:latin typeface="Arial Narrow"/>
                          <a:ea typeface="MS Mincho"/>
                        </a:rPr>
                        <a:t>1</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6</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1D528D"/>
                    </a:solidFill>
                  </a:tcPr>
                </a:tc>
                <a:tc>
                  <a:txBody>
                    <a:bodyPr/>
                    <a:lstStyle/>
                    <a:p>
                      <a:pPr algn="ctr">
                        <a:lnSpc>
                          <a:spcPct val="100000"/>
                        </a:lnSpc>
                      </a:pPr>
                      <a:r>
                        <a:rPr lang="es-PE" sz="2400" b="1" strike="noStrike" spc="-12">
                          <a:solidFill>
                            <a:schemeClr val="bg2">
                              <a:lumMod val="25000"/>
                            </a:schemeClr>
                          </a:solidFill>
                          <a:latin typeface="Arial Narrow"/>
                          <a:ea typeface="MS Mincho"/>
                        </a:rPr>
                        <a:t>4</a:t>
                      </a:r>
                      <a:endParaRPr lang="es-PE" sz="2400" b="0" strike="noStrike" spc="-1">
                        <a:solidFill>
                          <a:schemeClr val="bg2">
                            <a:lumMod val="25000"/>
                          </a:schemeClr>
                        </a:solidFill>
                        <a:latin typeface="Arial"/>
                      </a:endParaRPr>
                    </a:p>
                    <a:p>
                      <a:pPr algn="ctr">
                        <a:lnSpc>
                          <a:spcPct val="100000"/>
                        </a:lnSpc>
                      </a:pPr>
                      <a:r>
                        <a:rPr lang="es-PE" sz="2400" b="1" strike="noStrike" spc="-12">
                          <a:solidFill>
                            <a:schemeClr val="bg2">
                              <a:lumMod val="25000"/>
                            </a:schemeClr>
                          </a:solidFill>
                          <a:latin typeface="Arial Narrow"/>
                          <a:ea typeface="MS Mincho"/>
                        </a:rPr>
                        <a:t>*</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1D528D"/>
                    </a:solidFill>
                  </a:tcPr>
                </a:tc>
                <a:tc>
                  <a:txBody>
                    <a:bodyPr/>
                    <a:lstStyle/>
                    <a:p>
                      <a:pPr algn="ctr">
                        <a:lnSpc>
                          <a:spcPct val="100000"/>
                        </a:lnSpc>
                      </a:pPr>
                      <a:r>
                        <a:rPr lang="es-PE" sz="2400" b="1" strike="noStrike" spc="-12">
                          <a:solidFill>
                            <a:schemeClr val="bg2">
                              <a:lumMod val="25000"/>
                            </a:schemeClr>
                          </a:solidFill>
                          <a:latin typeface="Arial Narrow"/>
                          <a:ea typeface="MS Mincho"/>
                        </a:rPr>
                        <a:t>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1D528D"/>
                    </a:solidFill>
                  </a:tcPr>
                </a:tc>
                <a:tc>
                  <a:txBody>
                    <a:bodyPr/>
                    <a:lstStyle/>
                    <a:p>
                      <a:pPr algn="ctr">
                        <a:lnSpc>
                          <a:spcPct val="100000"/>
                        </a:lnSpc>
                      </a:pPr>
                      <a:r>
                        <a:rPr lang="es-PE" sz="2400" b="1" strike="noStrike" spc="-12">
                          <a:solidFill>
                            <a:schemeClr val="bg2">
                              <a:lumMod val="25000"/>
                            </a:schemeClr>
                          </a:solidFill>
                          <a:latin typeface="Arial Narrow"/>
                          <a:ea typeface="MS Mincho"/>
                        </a:rPr>
                        <a:t>7</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1D528D"/>
                    </a:solidFill>
                  </a:tcPr>
                </a:tc>
                <a:tc>
                  <a:txBody>
                    <a:bodyPr/>
                    <a:lstStyle/>
                    <a:p>
                      <a:pPr algn="ctr">
                        <a:lnSpc>
                          <a:spcPct val="100000"/>
                        </a:lnSpc>
                      </a:pPr>
                      <a:r>
                        <a:rPr lang="es-PE" sz="2400" b="1" strike="noStrike" spc="-12">
                          <a:solidFill>
                            <a:schemeClr val="bg2">
                              <a:lumMod val="25000"/>
                            </a:schemeClr>
                          </a:solidFill>
                          <a:latin typeface="Arial Narrow"/>
                          <a:ea typeface="MS Mincho"/>
                        </a:rPr>
                        <a:t>10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1D528D"/>
                    </a:solidFill>
                  </a:tcPr>
                </a:tc>
                <a:tc>
                  <a:txBody>
                    <a:bodyPr/>
                    <a:lstStyle/>
                    <a:p>
                      <a:pPr algn="ctr">
                        <a:lnSpc>
                          <a:spcPct val="100000"/>
                        </a:lnSpc>
                      </a:pPr>
                      <a:r>
                        <a:rPr lang="es-PE" sz="2400" b="1" strike="noStrike" spc="-1">
                          <a:solidFill>
                            <a:schemeClr val="bg2">
                              <a:lumMod val="25000"/>
                            </a:schemeClr>
                          </a:solidFill>
                          <a:latin typeface="Arial Narrow"/>
                        </a:rPr>
                        <a:t>300</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rPr>
                        <a:t>100</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rPr>
                        <a:t>  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2</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477833">
                <a:tc>
                  <a:txBody>
                    <a:bodyPr/>
                    <a:lstStyle/>
                    <a:p>
                      <a:pPr algn="ctr">
                        <a:lnSpc>
                          <a:spcPct val="100000"/>
                        </a:lnSpc>
                      </a:pPr>
                      <a:r>
                        <a:rPr lang="es-PE" sz="2400" b="1" strike="noStrike" spc="-12">
                          <a:solidFill>
                            <a:schemeClr val="bg2">
                              <a:lumMod val="25000"/>
                            </a:schemeClr>
                          </a:solidFill>
                          <a:latin typeface="Arial Narrow"/>
                          <a:ea typeface="MS Mincho"/>
                        </a:rPr>
                        <a:t>2</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5</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8</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1D528D"/>
                    </a:solid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1D528D"/>
                    </a:solidFill>
                  </a:tcPr>
                </a:tc>
                <a:tc>
                  <a:txBody>
                    <a:bodyPr/>
                    <a:lstStyle/>
                    <a:p>
                      <a:pPr algn="ctr">
                        <a:lnSpc>
                          <a:spcPct val="100000"/>
                        </a:lnSpc>
                      </a:pPr>
                      <a:r>
                        <a:rPr lang="es-PE" sz="2400" b="1" strike="noStrike" spc="-12">
                          <a:solidFill>
                            <a:schemeClr val="bg2">
                              <a:lumMod val="25000"/>
                            </a:schemeClr>
                          </a:solidFill>
                          <a:latin typeface="Arial Narrow"/>
                          <a:ea typeface="MS Mincho"/>
                        </a:rPr>
                        <a:t>11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13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pPr>
                      <a:r>
                        <a:rPr lang="es-PE" sz="2400" b="1" strike="noStrike" spc="-1">
                          <a:solidFill>
                            <a:schemeClr val="bg2">
                              <a:lumMod val="25000"/>
                            </a:schemeClr>
                          </a:solidFill>
                          <a:latin typeface="Arial Narrow"/>
                        </a:rPr>
                        <a:t>400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extLst>
                  <a:ext uri="{0D108BD9-81ED-4DB2-BD59-A6C34878D82A}">
                    <a16:rowId xmlns:a16="http://schemas.microsoft.com/office/drawing/2014/main" val="10002"/>
                  </a:ext>
                </a:extLst>
              </a:tr>
              <a:tr h="871344">
                <a:tc>
                  <a:txBody>
                    <a:bodyPr/>
                    <a:lstStyle/>
                    <a:p>
                      <a:pPr algn="ctr">
                        <a:lnSpc>
                          <a:spcPct val="100000"/>
                        </a:lnSpc>
                      </a:pPr>
                      <a:r>
                        <a:rPr lang="es-PE" sz="2400" b="1" strike="noStrike" spc="-1" dirty="0">
                          <a:solidFill>
                            <a:schemeClr val="bg2">
                              <a:lumMod val="25000"/>
                            </a:schemeClr>
                          </a:solidFill>
                          <a:latin typeface="Arial Narrow"/>
                          <a:ea typeface="MS Mincho"/>
                        </a:rPr>
                        <a:t>Figurado</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1D528D"/>
                    </a:solidFill>
                  </a:tcPr>
                </a:tc>
                <a:tc>
                  <a:txBody>
                    <a:bodyPr/>
                    <a:lstStyle/>
                    <a:p>
                      <a:pPr algn="ctr">
                        <a:lnSpc>
                          <a:spcPct val="100000"/>
                        </a:lnSpc>
                      </a:pPr>
                      <a:r>
                        <a:rPr lang="es-PE" sz="2400" b="1" strike="noStrike" spc="-1">
                          <a:solidFill>
                            <a:schemeClr val="bg2">
                              <a:lumMod val="25000"/>
                            </a:schemeClr>
                          </a:solidFill>
                          <a:latin typeface="Arial Narrow"/>
                          <a:ea typeface="MS Mincho"/>
                        </a:rPr>
                        <a:t>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1D528D"/>
                    </a:solidFill>
                  </a:tcPr>
                </a:tc>
                <a:tc>
                  <a:txBody>
                    <a:bodyPr/>
                    <a:lstStyle/>
                    <a:p>
                      <a:pPr algn="ctr">
                        <a:lnSpc>
                          <a:spcPct val="100000"/>
                        </a:lnSpc>
                      </a:pPr>
                      <a:r>
                        <a:rPr lang="es-PE" sz="2400" b="1" strike="noStrike" spc="-12">
                          <a:solidFill>
                            <a:schemeClr val="bg2">
                              <a:lumMod val="25000"/>
                            </a:schemeClr>
                          </a:solidFill>
                          <a:latin typeface="Arial Narrow"/>
                          <a:ea typeface="MS Mincho"/>
                        </a:rPr>
                        <a:t>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1D528D"/>
                    </a:solidFill>
                  </a:tcPr>
                </a:tc>
                <a:tc>
                  <a:txBody>
                    <a:bodyPr/>
                    <a:lstStyle/>
                    <a:p>
                      <a:pPr algn="ctr">
                        <a:lnSpc>
                          <a:spcPct val="100000"/>
                        </a:lnSpc>
                      </a:pPr>
                      <a:r>
                        <a:rPr lang="es-PE" sz="2400" b="1" strike="noStrike" spc="-1">
                          <a:solidFill>
                            <a:schemeClr val="bg2">
                              <a:lumMod val="25000"/>
                            </a:schemeClr>
                          </a:solidFill>
                          <a:latin typeface="Arial Narrow"/>
                          <a:ea typeface="MS Mincho"/>
                        </a:rPr>
                        <a:t>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1D528D"/>
                    </a:solidFill>
                  </a:tcPr>
                </a:tc>
                <a:tc>
                  <a:txBody>
                    <a:bodyPr/>
                    <a:lstStyle/>
                    <a:p>
                      <a:pPr algn="ctr">
                        <a:lnSpc>
                          <a:spcPct val="100000"/>
                        </a:lnSpc>
                      </a:pPr>
                      <a:r>
                        <a:rPr lang="es-PE" sz="2400" b="1" strike="noStrike" spc="-1">
                          <a:solidFill>
                            <a:schemeClr val="bg2">
                              <a:lumMod val="25000"/>
                            </a:schemeClr>
                          </a:solidFill>
                          <a:latin typeface="Arial Narrow"/>
                          <a:ea typeface="MS Mincho"/>
                        </a:rPr>
                        <a:t>0</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ea typeface="MS Mincho"/>
                        </a:rPr>
                        <a:t>*</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solidFill>
                      <a:srgbClr val="1D528D"/>
                    </a:solidFill>
                  </a:tcPr>
                </a:tc>
                <a:tc>
                  <a:txBody>
                    <a:bodyPr/>
                    <a:lstStyle/>
                    <a:p>
                      <a:pPr algn="ctr">
                        <a:lnSpc>
                          <a:spcPct val="100000"/>
                        </a:lnSpc>
                      </a:pPr>
                      <a:r>
                        <a:rPr lang="es-PE" sz="2400" b="1" strike="noStrike" spc="-1">
                          <a:solidFill>
                            <a:schemeClr val="bg2">
                              <a:lumMod val="25000"/>
                            </a:schemeClr>
                          </a:solidFill>
                          <a:latin typeface="Arial Narrow"/>
                        </a:rPr>
                        <a:t>50</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rPr>
                        <a:t>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extLst>
                  <a:ext uri="{0D108BD9-81ED-4DB2-BD59-A6C34878D82A}">
                    <a16:rowId xmlns:a16="http://schemas.microsoft.com/office/drawing/2014/main" val="10003"/>
                  </a:ext>
                </a:extLst>
              </a:tr>
              <a:tr h="871344">
                <a:tc>
                  <a:txBody>
                    <a:bodyPr/>
                    <a:lstStyle/>
                    <a:p>
                      <a:pPr algn="ctr">
                        <a:lnSpc>
                          <a:spcPct val="100000"/>
                        </a:lnSpc>
                      </a:pPr>
                      <a:r>
                        <a:rPr lang="es-PE" sz="2400" b="1" strike="noStrike" spc="-12">
                          <a:solidFill>
                            <a:schemeClr val="bg2">
                              <a:lumMod val="25000"/>
                            </a:schemeClr>
                          </a:solidFill>
                          <a:latin typeface="Arial Narrow"/>
                          <a:ea typeface="MS Mincho"/>
                        </a:rPr>
                        <a:t>Demanda</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rPr>
                        <a:t>150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rPr>
                        <a:t>100 0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rPr>
                        <a:t>200</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rPr>
                        <a:t>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chemeClr val="bg2">
                              <a:lumMod val="25000"/>
                            </a:schemeClr>
                          </a:solidFill>
                          <a:latin typeface="Arial Narrow"/>
                        </a:rPr>
                        <a:t>50</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rPr>
                        <a:t>250</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rPr>
                        <a:t>200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endParaRPr lang="en-US" sz="2400" dirty="0">
                        <a:solidFill>
                          <a:schemeClr val="bg2">
                            <a:lumMod val="25000"/>
                          </a:schemeClr>
                        </a:solidFill>
                      </a:endParaRPr>
                    </a:p>
                  </a:txBody>
                  <a:tcPr marL="44280" marR="44280">
                    <a:lnL w="12240">
                      <a:solidFill>
                        <a:srgbClr val="1D528D"/>
                      </a:solidFill>
                    </a:lnL>
                    <a:lnR w="12240">
                      <a:noFill/>
                    </a:lnR>
                    <a:lnT w="12240">
                      <a:solidFill>
                        <a:srgbClr val="1D528D"/>
                      </a:solid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solidFill>
                        <a:srgbClr val="1D528D"/>
                      </a:solid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solidFill>
                        <a:srgbClr val="1D528D"/>
                      </a:solid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solidFill>
                        <a:srgbClr val="1D528D"/>
                      </a:solidFill>
                    </a:lnT>
                    <a:lnB w="12240">
                      <a:noFill/>
                    </a:lnB>
                    <a:noFill/>
                  </a:tcPr>
                </a:tc>
                <a:extLst>
                  <a:ext uri="{0D108BD9-81ED-4DB2-BD59-A6C34878D82A}">
                    <a16:rowId xmlns:a16="http://schemas.microsoft.com/office/drawing/2014/main" val="10004"/>
                  </a:ext>
                </a:extLst>
              </a:tr>
              <a:tr h="477833">
                <a:tc>
                  <a:txBody>
                    <a:bodyPr/>
                    <a:lstStyle/>
                    <a:p>
                      <a:pPr algn="ctr">
                        <a:lnSpc>
                          <a:spcPct val="100000"/>
                        </a:lnSpc>
                      </a:pPr>
                      <a:r>
                        <a:rPr lang="es-PE" sz="2400" b="1" strike="noStrike" spc="-1">
                          <a:solidFill>
                            <a:schemeClr val="bg2">
                              <a:lumMod val="25000"/>
                            </a:schemeClr>
                          </a:solidFill>
                          <a:latin typeface="Arial Narrow"/>
                          <a:ea typeface="MS Mincho"/>
                        </a:rPr>
                        <a:t>P1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5</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chemeClr val="bg2">
                              <a:lumMod val="25000"/>
                            </a:schemeClr>
                          </a:solidFill>
                          <a:latin typeface="Arial Narrow"/>
                          <a:ea typeface="MS Mincho"/>
                        </a:rPr>
                        <a:t>4</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7</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10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1D528D"/>
                      </a:solid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extLst>
                  <a:ext uri="{0D108BD9-81ED-4DB2-BD59-A6C34878D82A}">
                    <a16:rowId xmlns:a16="http://schemas.microsoft.com/office/drawing/2014/main" val="10005"/>
                  </a:ext>
                </a:extLst>
              </a:tr>
              <a:tr h="477833">
                <a:tc>
                  <a:txBody>
                    <a:bodyPr/>
                    <a:lstStyle/>
                    <a:p>
                      <a:pPr algn="ctr">
                        <a:lnSpc>
                          <a:spcPct val="100000"/>
                        </a:lnSpc>
                      </a:pPr>
                      <a:r>
                        <a:rPr lang="es-PE" sz="2400" b="1" strike="noStrike" spc="-1">
                          <a:solidFill>
                            <a:schemeClr val="bg2">
                              <a:lumMod val="25000"/>
                            </a:schemeClr>
                          </a:solidFill>
                          <a:latin typeface="Arial Narrow"/>
                          <a:ea typeface="MS Mincho"/>
                        </a:rPr>
                        <a:t>P2</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4</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6</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4</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endParaRPr lang="en-US" sz="2400" dirty="0">
                        <a:solidFill>
                          <a:schemeClr val="bg2">
                            <a:lumMod val="25000"/>
                          </a:schemeClr>
                        </a:solidFill>
                      </a:endParaRPr>
                    </a:p>
                  </a:txBody>
                  <a:tcPr marL="44280" marR="44280">
                    <a:lnL w="12240">
                      <a:solidFill>
                        <a:srgbClr val="1D528D"/>
                      </a:solid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extLst>
                  <a:ext uri="{0D108BD9-81ED-4DB2-BD59-A6C34878D82A}">
                    <a16:rowId xmlns:a16="http://schemas.microsoft.com/office/drawing/2014/main" val="10006"/>
                  </a:ext>
                </a:extLst>
              </a:tr>
              <a:tr h="586825">
                <a:tc>
                  <a:txBody>
                    <a:bodyPr/>
                    <a:lstStyle/>
                    <a:p>
                      <a:pPr algn="ctr">
                        <a:lnSpc>
                          <a:spcPct val="100000"/>
                        </a:lnSpc>
                      </a:pPr>
                      <a:r>
                        <a:rPr lang="es-PE" sz="2400" b="1" strike="noStrike" spc="-1">
                          <a:solidFill>
                            <a:schemeClr val="bg2">
                              <a:lumMod val="25000"/>
                            </a:schemeClr>
                          </a:solidFill>
                          <a:latin typeface="Arial Narrow"/>
                          <a:ea typeface="MS Mincho"/>
                        </a:rPr>
                        <a:t>P3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4</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chemeClr val="bg2">
                              <a:lumMod val="25000"/>
                            </a:schemeClr>
                          </a:solidFill>
                          <a:latin typeface="Arial Narrow"/>
                          <a:ea typeface="MS Mincho"/>
                        </a:rPr>
                        <a:t>4</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chemeClr val="bg2">
                              <a:lumMod val="25000"/>
                            </a:schemeClr>
                          </a:solidFill>
                          <a:latin typeface="Arial Narrow"/>
                          <a:ea typeface="MS Mincho"/>
                        </a:rPr>
                        <a:t>3</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1D528D"/>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1D528D"/>
                      </a:solid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dirty="0">
                        <a:solidFill>
                          <a:schemeClr val="bg2">
                            <a:lumMod val="25000"/>
                          </a:schemeClr>
                        </a:solidFill>
                      </a:endParaRPr>
                    </a:p>
                  </a:txBody>
                  <a:tcPr marL="44280" marR="44280">
                    <a:lnL w="12240">
                      <a:noFill/>
                    </a:lnL>
                    <a:lnR w="12240">
                      <a:noFill/>
                    </a:lnR>
                    <a:lnT w="12240">
                      <a:noFill/>
                    </a:lnT>
                    <a:lnB w="12240">
                      <a:noFill/>
                    </a:lnB>
                    <a:noFill/>
                  </a:tcPr>
                </a:tc>
                <a:extLst>
                  <a:ext uri="{0D108BD9-81ED-4DB2-BD59-A6C34878D82A}">
                    <a16:rowId xmlns:a16="http://schemas.microsoft.com/office/drawing/2014/main" val="10007"/>
                  </a:ext>
                </a:extLst>
              </a:tr>
            </a:tbl>
          </a:graphicData>
        </a:graphic>
      </p:graphicFrame>
      <p:sp>
        <p:nvSpPr>
          <p:cNvPr id="1089" name="CustomShape 2"/>
          <p:cNvSpPr/>
          <p:nvPr/>
        </p:nvSpPr>
        <p:spPr>
          <a:xfrm>
            <a:off x="1524000" y="0"/>
            <a:ext cx="9143640" cy="45684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2" name="1 Diagrama"/>
          <p:cNvGraphicFramePr/>
          <p:nvPr>
            <p:extLst>
              <p:ext uri="{D42A27DB-BD31-4B8C-83A1-F6EECF244321}">
                <p14:modId xmlns:p14="http://schemas.microsoft.com/office/powerpoint/2010/main" val="2672505556"/>
              </p:ext>
            </p:extLst>
          </p:nvPr>
        </p:nvGraphicFramePr>
        <p:xfrm>
          <a:off x="7137828" y="4581000"/>
          <a:ext cx="2515130" cy="2277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Elipse 4">
            <a:extLst>
              <a:ext uri="{FF2B5EF4-FFF2-40B4-BE49-F238E27FC236}">
                <a16:creationId xmlns:a16="http://schemas.microsoft.com/office/drawing/2014/main" id="{37666471-6AE1-4B46-8A56-20FDF84B7C4B}"/>
              </a:ext>
            </a:extLst>
          </p:cNvPr>
          <p:cNvSpPr/>
          <p:nvPr/>
        </p:nvSpPr>
        <p:spPr>
          <a:xfrm>
            <a:off x="10222302" y="4744529"/>
            <a:ext cx="1640899" cy="16919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Z=4900</a:t>
            </a:r>
            <a:endParaRPr lang="es-PE" sz="2400" dirty="0"/>
          </a:p>
        </p:txBody>
      </p:sp>
    </p:spTree>
    <p:extLst>
      <p:ext uri="{BB962C8B-B14F-4D97-AF65-F5344CB8AC3E}">
        <p14:creationId xmlns:p14="http://schemas.microsoft.com/office/powerpoint/2010/main" val="3247204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03" name="Group 1"/>
          <p:cNvGrpSpPr/>
          <p:nvPr/>
        </p:nvGrpSpPr>
        <p:grpSpPr>
          <a:xfrm>
            <a:off x="6228260" y="1346244"/>
            <a:ext cx="5714316" cy="4861596"/>
            <a:chOff x="500040" y="1346244"/>
            <a:chExt cx="6841800" cy="4861596"/>
          </a:xfrm>
        </p:grpSpPr>
        <p:sp>
          <p:nvSpPr>
            <p:cNvPr id="1104" name="CustomShape 2"/>
            <p:cNvSpPr/>
            <p:nvPr/>
          </p:nvSpPr>
          <p:spPr>
            <a:xfrm>
              <a:off x="500040" y="2023200"/>
              <a:ext cx="1910880" cy="63936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z="1100" b="1" i="1" spc="-1" dirty="0">
                  <a:solidFill>
                    <a:schemeClr val="bg2">
                      <a:lumMod val="25000"/>
                    </a:schemeClr>
                  </a:solidFill>
                  <a:latin typeface="Arial"/>
                  <a:ea typeface="ＭＳ 明朝"/>
                </a:rPr>
                <a:t>      </a:t>
              </a:r>
              <a:r>
                <a:rPr lang="es-PE" b="1" i="1" spc="-1" dirty="0">
                  <a:solidFill>
                    <a:schemeClr val="bg2">
                      <a:lumMod val="25000"/>
                    </a:schemeClr>
                  </a:solidFill>
                  <a:latin typeface="Arial"/>
                  <a:ea typeface="ＭＳ 明朝"/>
                </a:rPr>
                <a:t>Refinería 1</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(6)</a:t>
              </a:r>
              <a:endParaRPr lang="es-PE" spc="-1" dirty="0">
                <a:solidFill>
                  <a:schemeClr val="bg2">
                    <a:lumMod val="25000"/>
                  </a:schemeClr>
                </a:solidFill>
                <a:latin typeface="Arial"/>
              </a:endParaRPr>
            </a:p>
          </p:txBody>
        </p:sp>
        <p:sp>
          <p:nvSpPr>
            <p:cNvPr id="1105" name="CustomShape 3"/>
            <p:cNvSpPr/>
            <p:nvPr/>
          </p:nvSpPr>
          <p:spPr>
            <a:xfrm>
              <a:off x="641281" y="3844080"/>
              <a:ext cx="1731960" cy="63936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z="1100" b="1" i="1" spc="-1" dirty="0">
                  <a:solidFill>
                    <a:schemeClr val="bg2">
                      <a:lumMod val="25000"/>
                    </a:schemeClr>
                  </a:solidFill>
                  <a:latin typeface="Arial"/>
                  <a:ea typeface="ＭＳ 明朝"/>
                </a:rPr>
                <a:t>  </a:t>
              </a:r>
              <a:r>
                <a:rPr lang="es-PE" b="1" i="1" spc="-1" dirty="0">
                  <a:solidFill>
                    <a:schemeClr val="bg2">
                      <a:lumMod val="25000"/>
                    </a:schemeClr>
                  </a:solidFill>
                  <a:latin typeface="Arial"/>
                  <a:ea typeface="ＭＳ 明朝"/>
                </a:rPr>
                <a:t>Refinería 2</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(5)</a:t>
              </a:r>
              <a:endParaRPr lang="es-PE" spc="-1" dirty="0">
                <a:solidFill>
                  <a:schemeClr val="bg2">
                    <a:lumMod val="25000"/>
                  </a:schemeClr>
                </a:solidFill>
                <a:latin typeface="Arial"/>
              </a:endParaRPr>
            </a:p>
          </p:txBody>
        </p:sp>
        <p:grpSp>
          <p:nvGrpSpPr>
            <p:cNvPr id="1106" name="Group 4"/>
            <p:cNvGrpSpPr/>
            <p:nvPr/>
          </p:nvGrpSpPr>
          <p:grpSpPr>
            <a:xfrm>
              <a:off x="1000080" y="1346244"/>
              <a:ext cx="6341760" cy="4861596"/>
              <a:chOff x="1000080" y="1346244"/>
              <a:chExt cx="6341760" cy="4861596"/>
            </a:xfrm>
          </p:grpSpPr>
          <p:sp>
            <p:nvSpPr>
              <p:cNvPr id="1107" name="CustomShape 5"/>
              <p:cNvSpPr/>
              <p:nvPr/>
            </p:nvSpPr>
            <p:spPr>
              <a:xfrm>
                <a:off x="2286000" y="387468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108" name="CustomShape 6"/>
              <p:cNvSpPr/>
              <p:nvPr/>
            </p:nvSpPr>
            <p:spPr>
              <a:xfrm>
                <a:off x="5597640" y="200628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109" name="CustomShape 7"/>
              <p:cNvSpPr/>
              <p:nvPr/>
            </p:nvSpPr>
            <p:spPr>
              <a:xfrm>
                <a:off x="2286000" y="205344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110" name="CustomShape 8"/>
              <p:cNvSpPr/>
              <p:nvPr/>
            </p:nvSpPr>
            <p:spPr>
              <a:xfrm>
                <a:off x="5643720" y="3922728"/>
                <a:ext cx="413999"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111" name="CustomShape 9"/>
              <p:cNvSpPr/>
              <p:nvPr/>
            </p:nvSpPr>
            <p:spPr>
              <a:xfrm>
                <a:off x="5622048" y="5715000"/>
                <a:ext cx="413999"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112" name="Line 10"/>
              <p:cNvSpPr/>
              <p:nvPr/>
            </p:nvSpPr>
            <p:spPr>
              <a:xfrm flipV="1">
                <a:off x="2708401" y="2277374"/>
                <a:ext cx="2901643" cy="13415"/>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113" name="Line 11"/>
              <p:cNvSpPr/>
              <p:nvPr/>
            </p:nvSpPr>
            <p:spPr>
              <a:xfrm>
                <a:off x="2643119" y="2432880"/>
                <a:ext cx="3052160" cy="1561150"/>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114" name="Line 12"/>
              <p:cNvSpPr/>
              <p:nvPr/>
            </p:nvSpPr>
            <p:spPr>
              <a:xfrm flipV="1">
                <a:off x="2714400" y="2388600"/>
                <a:ext cx="2882880" cy="1637640"/>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115" name="Line 13"/>
              <p:cNvSpPr/>
              <p:nvPr/>
            </p:nvSpPr>
            <p:spPr>
              <a:xfrm flipV="1">
                <a:off x="2714400" y="4166558"/>
                <a:ext cx="2908581" cy="11242"/>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116" name="Line 14"/>
              <p:cNvSpPr/>
              <p:nvPr/>
            </p:nvSpPr>
            <p:spPr>
              <a:xfrm>
                <a:off x="2643120" y="4329720"/>
                <a:ext cx="3000505" cy="1484484"/>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117" name="CustomShape 15"/>
              <p:cNvSpPr/>
              <p:nvPr/>
            </p:nvSpPr>
            <p:spPr>
              <a:xfrm>
                <a:off x="1400040" y="1346244"/>
                <a:ext cx="1105088" cy="429433"/>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a:lnSpc>
                    <a:spcPct val="100000"/>
                  </a:lnSpc>
                </a:pPr>
                <a:r>
                  <a:rPr lang="es-PE" sz="1100" b="1" i="1" spc="-1">
                    <a:solidFill>
                      <a:schemeClr val="bg2">
                        <a:lumMod val="25000"/>
                      </a:schemeClr>
                    </a:solidFill>
                    <a:latin typeface="Arial"/>
                    <a:ea typeface="ＭＳ 明朝"/>
                  </a:rPr>
                  <a:t>	</a:t>
                </a:r>
                <a:endParaRPr lang="es-PE" sz="1100" spc="-1">
                  <a:solidFill>
                    <a:schemeClr val="bg2">
                      <a:lumMod val="25000"/>
                    </a:schemeClr>
                  </a:solidFill>
                  <a:latin typeface="Arial"/>
                </a:endParaRPr>
              </a:p>
              <a:p>
                <a:pPr>
                  <a:lnSpc>
                    <a:spcPct val="100000"/>
                  </a:lnSpc>
                </a:pPr>
                <a:endParaRPr lang="es-PE" sz="1100" spc="-1">
                  <a:solidFill>
                    <a:schemeClr val="bg2">
                      <a:lumMod val="25000"/>
                    </a:schemeClr>
                  </a:solidFill>
                  <a:latin typeface="Arial"/>
                </a:endParaRPr>
              </a:p>
            </p:txBody>
          </p:sp>
          <p:sp>
            <p:nvSpPr>
              <p:cNvPr id="1118" name="CustomShape 16"/>
              <p:cNvSpPr/>
              <p:nvPr/>
            </p:nvSpPr>
            <p:spPr>
              <a:xfrm>
                <a:off x="3214800" y="1875240"/>
                <a:ext cx="914760" cy="45648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z="2400" b="1" spc="-1">
                    <a:solidFill>
                      <a:schemeClr val="bg2">
                        <a:lumMod val="25000"/>
                      </a:schemeClr>
                    </a:solidFill>
                    <a:latin typeface="Arial"/>
                    <a:ea typeface="ＭＳ 明朝"/>
                  </a:rPr>
                  <a:t>X11</a:t>
                </a:r>
                <a:endParaRPr lang="es-PE" sz="2400" spc="-1">
                  <a:solidFill>
                    <a:schemeClr val="bg2">
                      <a:lumMod val="25000"/>
                    </a:schemeClr>
                  </a:solidFill>
                  <a:latin typeface="Arial"/>
                </a:endParaRPr>
              </a:p>
            </p:txBody>
          </p:sp>
          <p:sp>
            <p:nvSpPr>
              <p:cNvPr id="1119" name="CustomShape 17"/>
              <p:cNvSpPr/>
              <p:nvPr/>
            </p:nvSpPr>
            <p:spPr>
              <a:xfrm>
                <a:off x="6019738" y="3920040"/>
                <a:ext cx="1178045" cy="639360"/>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sz="1100" b="1" i="1" spc="-1" dirty="0">
                    <a:solidFill>
                      <a:schemeClr val="bg2">
                        <a:lumMod val="25000"/>
                      </a:schemeClr>
                    </a:solidFill>
                    <a:latin typeface="Arial"/>
                    <a:ea typeface="ＭＳ 明朝"/>
                  </a:rPr>
                  <a:t> </a:t>
                </a:r>
                <a:r>
                  <a:rPr lang="es-PE" b="1" i="1" spc="-1" dirty="0">
                    <a:solidFill>
                      <a:schemeClr val="bg2">
                        <a:lumMod val="25000"/>
                      </a:schemeClr>
                    </a:solidFill>
                    <a:latin typeface="Arial"/>
                    <a:ea typeface="ＭＳ 明朝"/>
                  </a:rPr>
                  <a:t>Área 2</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(8)</a:t>
                </a:r>
                <a:endParaRPr lang="es-PE" spc="-1" dirty="0">
                  <a:solidFill>
                    <a:schemeClr val="bg2">
                      <a:lumMod val="25000"/>
                    </a:schemeClr>
                  </a:solidFill>
                  <a:latin typeface="Arial"/>
                </a:endParaRPr>
              </a:p>
            </p:txBody>
          </p:sp>
          <p:sp>
            <p:nvSpPr>
              <p:cNvPr id="1120" name="CustomShape 18"/>
              <p:cNvSpPr/>
              <p:nvPr/>
            </p:nvSpPr>
            <p:spPr>
              <a:xfrm>
                <a:off x="5965079" y="5568480"/>
                <a:ext cx="1227825" cy="639360"/>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b="1" i="1" spc="-1" dirty="0">
                    <a:solidFill>
                      <a:schemeClr val="bg2">
                        <a:lumMod val="25000"/>
                      </a:schemeClr>
                    </a:solidFill>
                    <a:latin typeface="Arial"/>
                    <a:ea typeface="ＭＳ 明朝"/>
                  </a:rPr>
                  <a:t>Área 3</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(7)</a:t>
                </a:r>
                <a:endParaRPr lang="es-PE" spc="-1" dirty="0">
                  <a:solidFill>
                    <a:schemeClr val="bg2">
                      <a:lumMod val="25000"/>
                    </a:schemeClr>
                  </a:solidFill>
                  <a:latin typeface="Arial"/>
                </a:endParaRPr>
              </a:p>
            </p:txBody>
          </p:sp>
          <p:sp>
            <p:nvSpPr>
              <p:cNvPr id="1121" name="CustomShape 19"/>
              <p:cNvSpPr/>
              <p:nvPr/>
            </p:nvSpPr>
            <p:spPr>
              <a:xfrm>
                <a:off x="5892774" y="2003454"/>
                <a:ext cx="1344725" cy="913680"/>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b="1" i="1" spc="-1" dirty="0">
                    <a:solidFill>
                      <a:schemeClr val="bg2">
                        <a:lumMod val="25000"/>
                      </a:schemeClr>
                    </a:solidFill>
                    <a:latin typeface="Arial"/>
                    <a:ea typeface="ＭＳ 明朝"/>
                  </a:rPr>
                  <a:t>Área 1</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(4)</a:t>
                </a:r>
                <a:endParaRPr lang="es-PE" spc="-1" dirty="0">
                  <a:solidFill>
                    <a:schemeClr val="bg2">
                      <a:lumMod val="25000"/>
                    </a:schemeClr>
                  </a:solidFill>
                  <a:latin typeface="Arial"/>
                </a:endParaRPr>
              </a:p>
              <a:p>
                <a:pPr algn="ctr">
                  <a:lnSpc>
                    <a:spcPct val="100000"/>
                  </a:lnSpc>
                </a:pPr>
                <a:endParaRPr lang="es-PE" spc="-1" dirty="0">
                  <a:solidFill>
                    <a:schemeClr val="bg2">
                      <a:lumMod val="25000"/>
                    </a:schemeClr>
                  </a:solidFill>
                  <a:latin typeface="Arial"/>
                </a:endParaRPr>
              </a:p>
            </p:txBody>
          </p:sp>
          <p:sp>
            <p:nvSpPr>
              <p:cNvPr id="1122" name="CustomShape 20"/>
              <p:cNvSpPr/>
              <p:nvPr/>
            </p:nvSpPr>
            <p:spPr>
              <a:xfrm>
                <a:off x="1000080" y="1426320"/>
                <a:ext cx="6341760" cy="38736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80000"/>
                  </a:lnSpc>
                </a:pPr>
                <a:r>
                  <a:rPr lang="es-PE" sz="2800" b="1" spc="-1" dirty="0">
                    <a:solidFill>
                      <a:schemeClr val="bg2">
                        <a:lumMod val="25000"/>
                      </a:schemeClr>
                    </a:solidFill>
                    <a:latin typeface="Arial Black"/>
                  </a:rPr>
                  <a:t>Origen 		    Destino</a:t>
                </a:r>
                <a:endParaRPr lang="es-PE" sz="2800" spc="-1" dirty="0">
                  <a:solidFill>
                    <a:schemeClr val="bg2">
                      <a:lumMod val="25000"/>
                    </a:schemeClr>
                  </a:solidFill>
                  <a:latin typeface="Arial"/>
                </a:endParaRPr>
              </a:p>
            </p:txBody>
          </p:sp>
          <p:sp>
            <p:nvSpPr>
              <p:cNvPr id="1123" name="CustomShape 21"/>
              <p:cNvSpPr/>
              <p:nvPr/>
            </p:nvSpPr>
            <p:spPr>
              <a:xfrm>
                <a:off x="3256200" y="2503080"/>
                <a:ext cx="914760" cy="45648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z="2400" b="1" spc="-1">
                    <a:solidFill>
                      <a:schemeClr val="bg2">
                        <a:lumMod val="25000"/>
                      </a:schemeClr>
                    </a:solidFill>
                    <a:latin typeface="Arial"/>
                    <a:ea typeface="ＭＳ 明朝"/>
                  </a:rPr>
                  <a:t>X12</a:t>
                </a:r>
                <a:endParaRPr lang="es-PE" sz="2400" spc="-1">
                  <a:solidFill>
                    <a:schemeClr val="bg2">
                      <a:lumMod val="25000"/>
                    </a:schemeClr>
                  </a:solidFill>
                  <a:latin typeface="Arial"/>
                </a:endParaRPr>
              </a:p>
            </p:txBody>
          </p:sp>
          <p:sp>
            <p:nvSpPr>
              <p:cNvPr id="1124" name="CustomShape 22"/>
              <p:cNvSpPr/>
              <p:nvPr/>
            </p:nvSpPr>
            <p:spPr>
              <a:xfrm>
                <a:off x="2346120" y="2053440"/>
                <a:ext cx="282619"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1</a:t>
                </a:r>
                <a:endParaRPr lang="es-PE" sz="2000" spc="-1">
                  <a:solidFill>
                    <a:schemeClr val="bg2">
                      <a:lumMod val="25000"/>
                    </a:schemeClr>
                  </a:solidFill>
                  <a:latin typeface="Arial"/>
                </a:endParaRPr>
              </a:p>
            </p:txBody>
          </p:sp>
          <p:sp>
            <p:nvSpPr>
              <p:cNvPr id="1125" name="CustomShape 23"/>
              <p:cNvSpPr/>
              <p:nvPr/>
            </p:nvSpPr>
            <p:spPr>
              <a:xfrm>
                <a:off x="5713560" y="3948606"/>
                <a:ext cx="307801" cy="39528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dirty="0">
                    <a:solidFill>
                      <a:schemeClr val="bg2">
                        <a:lumMod val="25000"/>
                      </a:schemeClr>
                    </a:solidFill>
                    <a:latin typeface="Garamond"/>
                  </a:rPr>
                  <a:t>2</a:t>
                </a:r>
                <a:endParaRPr lang="es-PE" sz="2000" spc="-1" dirty="0">
                  <a:solidFill>
                    <a:schemeClr val="bg2">
                      <a:lumMod val="25000"/>
                    </a:schemeClr>
                  </a:solidFill>
                  <a:latin typeface="Arial"/>
                </a:endParaRPr>
              </a:p>
            </p:txBody>
          </p:sp>
          <p:sp>
            <p:nvSpPr>
              <p:cNvPr id="1126" name="CustomShape 24"/>
              <p:cNvSpPr/>
              <p:nvPr/>
            </p:nvSpPr>
            <p:spPr>
              <a:xfrm>
                <a:off x="2355840" y="3950280"/>
                <a:ext cx="307800" cy="39528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2</a:t>
                </a:r>
                <a:endParaRPr lang="es-PE" sz="2000" spc="-1">
                  <a:solidFill>
                    <a:schemeClr val="bg2">
                      <a:lumMod val="25000"/>
                    </a:schemeClr>
                  </a:solidFill>
                  <a:latin typeface="Arial"/>
                </a:endParaRPr>
              </a:p>
            </p:txBody>
          </p:sp>
          <p:sp>
            <p:nvSpPr>
              <p:cNvPr id="1127" name="CustomShape 25"/>
              <p:cNvSpPr/>
              <p:nvPr/>
            </p:nvSpPr>
            <p:spPr>
              <a:xfrm>
                <a:off x="5644080" y="2019600"/>
                <a:ext cx="282619"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1</a:t>
                </a:r>
                <a:endParaRPr lang="es-PE" sz="2000" spc="-1">
                  <a:solidFill>
                    <a:schemeClr val="bg2">
                      <a:lumMod val="25000"/>
                    </a:schemeClr>
                  </a:solidFill>
                  <a:latin typeface="Arial"/>
                </a:endParaRPr>
              </a:p>
            </p:txBody>
          </p:sp>
          <p:sp>
            <p:nvSpPr>
              <p:cNvPr id="1128" name="CustomShape 26"/>
              <p:cNvSpPr/>
              <p:nvPr/>
            </p:nvSpPr>
            <p:spPr>
              <a:xfrm>
                <a:off x="5784840" y="5786280"/>
                <a:ext cx="307800" cy="395280"/>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3</a:t>
                </a:r>
                <a:endParaRPr lang="es-PE" sz="2000" spc="-1">
                  <a:solidFill>
                    <a:schemeClr val="bg2">
                      <a:lumMod val="25000"/>
                    </a:schemeClr>
                  </a:solidFill>
                  <a:latin typeface="Arial"/>
                </a:endParaRPr>
              </a:p>
            </p:txBody>
          </p:sp>
        </p:grpSp>
      </p:grpSp>
      <p:sp>
        <p:nvSpPr>
          <p:cNvPr id="1129" name="CustomShape 27"/>
          <p:cNvSpPr/>
          <p:nvPr/>
        </p:nvSpPr>
        <p:spPr>
          <a:xfrm>
            <a:off x="7736491" y="5732253"/>
            <a:ext cx="345776" cy="45684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130" name="CustomShape 28"/>
          <p:cNvSpPr/>
          <p:nvPr/>
        </p:nvSpPr>
        <p:spPr>
          <a:xfrm>
            <a:off x="7754681" y="5751775"/>
            <a:ext cx="257077" cy="395280"/>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s-PE" sz="2000" b="1" spc="-1" dirty="0">
                <a:latin typeface="Garamond"/>
              </a:rPr>
              <a:t>3</a:t>
            </a:r>
            <a:endParaRPr lang="es-PE" sz="2000" spc="-1" dirty="0">
              <a:latin typeface="Arial"/>
            </a:endParaRPr>
          </a:p>
        </p:txBody>
      </p:sp>
      <p:sp>
        <p:nvSpPr>
          <p:cNvPr id="1131" name="CustomShape 29"/>
          <p:cNvSpPr/>
          <p:nvPr/>
        </p:nvSpPr>
        <p:spPr>
          <a:xfrm>
            <a:off x="6306867" y="5579557"/>
            <a:ext cx="1491402" cy="644877"/>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sz="1100" b="1" i="1" spc="-1" dirty="0">
                <a:solidFill>
                  <a:schemeClr val="bg2">
                    <a:lumMod val="25000"/>
                  </a:schemeClr>
                </a:solidFill>
                <a:latin typeface="Arial"/>
                <a:ea typeface="ＭＳ 明朝"/>
              </a:rPr>
              <a:t>  </a:t>
            </a:r>
            <a:r>
              <a:rPr lang="es-PE" b="1" i="1" spc="-1" dirty="0">
                <a:solidFill>
                  <a:schemeClr val="bg2">
                    <a:lumMod val="25000"/>
                  </a:schemeClr>
                </a:solidFill>
                <a:latin typeface="Arial"/>
                <a:ea typeface="ＭＳ 明朝"/>
              </a:rPr>
              <a:t>Refinería 3</a:t>
            </a:r>
          </a:p>
          <a:p>
            <a:pPr algn="ctr">
              <a:lnSpc>
                <a:spcPct val="100000"/>
              </a:lnSpc>
            </a:pPr>
            <a:r>
              <a:rPr lang="es-PE" b="1" i="1" spc="-1" dirty="0">
                <a:solidFill>
                  <a:schemeClr val="bg2">
                    <a:lumMod val="25000"/>
                  </a:schemeClr>
                </a:solidFill>
                <a:latin typeface="Arial"/>
                <a:ea typeface="ＭＳ 明朝"/>
              </a:rPr>
              <a:t>(8)</a:t>
            </a:r>
            <a:endParaRPr lang="es-PE" spc="-1" dirty="0">
              <a:solidFill>
                <a:schemeClr val="bg2">
                  <a:lumMod val="25000"/>
                </a:schemeClr>
              </a:solidFill>
              <a:latin typeface="Arial"/>
            </a:endParaRPr>
          </a:p>
        </p:txBody>
      </p:sp>
      <p:sp>
        <p:nvSpPr>
          <p:cNvPr id="1132" name="Line 30"/>
          <p:cNvSpPr/>
          <p:nvPr/>
        </p:nvSpPr>
        <p:spPr>
          <a:xfrm flipV="1">
            <a:off x="8005303" y="2493034"/>
            <a:ext cx="2605177" cy="3243532"/>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133" name="Line 31"/>
          <p:cNvSpPr/>
          <p:nvPr/>
        </p:nvSpPr>
        <p:spPr>
          <a:xfrm flipV="1">
            <a:off x="8047410" y="4304581"/>
            <a:ext cx="2476816" cy="1544128"/>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134" name="Line 32"/>
          <p:cNvSpPr/>
          <p:nvPr/>
        </p:nvSpPr>
        <p:spPr>
          <a:xfrm flipV="1">
            <a:off x="8091577" y="5969478"/>
            <a:ext cx="2424012" cy="1"/>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graphicFrame>
        <p:nvGraphicFramePr>
          <p:cNvPr id="35" name="Table 2">
            <a:extLst>
              <a:ext uri="{FF2B5EF4-FFF2-40B4-BE49-F238E27FC236}">
                <a16:creationId xmlns:a16="http://schemas.microsoft.com/office/drawing/2014/main" id="{1D3BCE90-00DD-4FAD-B8AB-3A2BB1A6CA9F}"/>
              </a:ext>
            </a:extLst>
          </p:cNvPr>
          <p:cNvGraphicFramePr/>
          <p:nvPr/>
        </p:nvGraphicFramePr>
        <p:xfrm>
          <a:off x="559187" y="5006189"/>
          <a:ext cx="4488428" cy="1828800"/>
        </p:xfrm>
        <a:graphic>
          <a:graphicData uri="http://schemas.openxmlformats.org/drawingml/2006/table">
            <a:tbl>
              <a:tblPr/>
              <a:tblGrid>
                <a:gridCol w="1315619">
                  <a:extLst>
                    <a:ext uri="{9D8B030D-6E8A-4147-A177-3AD203B41FA5}">
                      <a16:colId xmlns:a16="http://schemas.microsoft.com/office/drawing/2014/main" val="20000"/>
                    </a:ext>
                  </a:extLst>
                </a:gridCol>
                <a:gridCol w="1057515">
                  <a:extLst>
                    <a:ext uri="{9D8B030D-6E8A-4147-A177-3AD203B41FA5}">
                      <a16:colId xmlns:a16="http://schemas.microsoft.com/office/drawing/2014/main" val="20001"/>
                    </a:ext>
                  </a:extLst>
                </a:gridCol>
                <a:gridCol w="1057515">
                  <a:extLst>
                    <a:ext uri="{9D8B030D-6E8A-4147-A177-3AD203B41FA5}">
                      <a16:colId xmlns:a16="http://schemas.microsoft.com/office/drawing/2014/main" val="20002"/>
                    </a:ext>
                  </a:extLst>
                </a:gridCol>
                <a:gridCol w="1057779">
                  <a:extLst>
                    <a:ext uri="{9D8B030D-6E8A-4147-A177-3AD203B41FA5}">
                      <a16:colId xmlns:a16="http://schemas.microsoft.com/office/drawing/2014/main" val="20003"/>
                    </a:ext>
                  </a:extLst>
                </a:gridCol>
              </a:tblGrid>
              <a:tr h="365185">
                <a:tc rowSpan="2">
                  <a:txBody>
                    <a:bodyPr/>
                    <a:lstStyle/>
                    <a:p>
                      <a:pPr algn="ctr">
                        <a:lnSpc>
                          <a:spcPct val="100000"/>
                        </a:lnSpc>
                      </a:pPr>
                      <a:r>
                        <a:rPr lang="es-PE" sz="1800" b="1" strike="noStrike" spc="-1" dirty="0">
                          <a:solidFill>
                            <a:schemeClr val="tx1"/>
                          </a:solidFill>
                          <a:latin typeface="Arial Narrow" panose="020B0606020202030204" pitchFamily="34" charset="0"/>
                        </a:rPr>
                        <a:t> Refinería</a:t>
                      </a:r>
                    </a:p>
                  </a:txBody>
                  <a:tcPr marL="68400" marR="68400">
                    <a:lnL w="12240">
                      <a:solidFill>
                        <a:srgbClr val="FFFFFF"/>
                      </a:solidFill>
                    </a:lnL>
                    <a:lnR w="12240">
                      <a:solidFill>
                        <a:srgbClr val="FFFFFF"/>
                      </a:solidFill>
                    </a:lnR>
                    <a:lnT w="12240">
                      <a:solidFill>
                        <a:srgbClr val="FFFFFF"/>
                      </a:solidFill>
                    </a:lnT>
                    <a:lnB w="38160">
                      <a:solidFill>
                        <a:srgbClr val="FFFFFF"/>
                      </a:solidFill>
                    </a:lnB>
                    <a:solidFill>
                      <a:schemeClr val="accent1">
                        <a:lumMod val="40000"/>
                        <a:lumOff val="60000"/>
                      </a:schemeClr>
                    </a:solidFill>
                  </a:tcPr>
                </a:tc>
                <a:tc gridSpan="3">
                  <a:txBody>
                    <a:bodyPr/>
                    <a:lstStyle/>
                    <a:p>
                      <a:pPr algn="ctr">
                        <a:lnSpc>
                          <a:spcPct val="100000"/>
                        </a:lnSpc>
                      </a:pPr>
                      <a:r>
                        <a:rPr lang="es-PE" sz="1800" b="1" strike="noStrike" spc="-1" dirty="0">
                          <a:solidFill>
                            <a:schemeClr val="tx1"/>
                          </a:solidFill>
                          <a:latin typeface="Arial Narrow" panose="020B0606020202030204" pitchFamily="34" charset="0"/>
                        </a:rPr>
                        <a:t>Área de distribución</a:t>
                      </a:r>
                    </a:p>
                  </a:txBody>
                  <a:tcPr marL="68400" marR="68400">
                    <a:lnL w="12240">
                      <a:solidFill>
                        <a:srgbClr val="FFFFFF"/>
                      </a:solidFill>
                    </a:lnL>
                    <a:lnR w="12240">
                      <a:solidFill>
                        <a:srgbClr val="FFFFFF"/>
                      </a:solidFill>
                    </a:lnR>
                    <a:lnT w="12240">
                      <a:solidFill>
                        <a:srgbClr val="FFFFFF"/>
                      </a:solidFill>
                    </a:lnT>
                    <a:lnB w="38160">
                      <a:solidFill>
                        <a:srgbClr val="FFFFFF"/>
                      </a:solidFill>
                    </a:lnB>
                    <a:solidFill>
                      <a:schemeClr val="accent1">
                        <a:lumMod val="40000"/>
                        <a:lumOff val="60000"/>
                      </a:schemeClr>
                    </a:solidFill>
                  </a:tcPr>
                </a:tc>
                <a:tc hMerge="1">
                  <a:txBody>
                    <a:bodyPr/>
                    <a:lstStyle/>
                    <a:p>
                      <a:endParaRPr lang="en-US"/>
                    </a:p>
                  </a:txBody>
                  <a:tcPr marL="90000" marR="90000">
                    <a:solidFill>
                      <a:srgbClr val="729FCF"/>
                    </a:solidFill>
                  </a:tcPr>
                </a:tc>
                <a:tc hMerge="1">
                  <a:txBody>
                    <a:bodyPr/>
                    <a:lstStyle/>
                    <a:p>
                      <a:endParaRPr lang="en-US"/>
                    </a:p>
                  </a:txBody>
                  <a:tcPr marL="90000" marR="90000">
                    <a:solidFill>
                      <a:srgbClr val="729FCF"/>
                    </a:solidFill>
                  </a:tcPr>
                </a:tc>
                <a:extLst>
                  <a:ext uri="{0D108BD9-81ED-4DB2-BD59-A6C34878D82A}">
                    <a16:rowId xmlns:a16="http://schemas.microsoft.com/office/drawing/2014/main" val="10000"/>
                  </a:ext>
                </a:extLst>
              </a:tr>
              <a:tr h="365185">
                <a:tc vMerge="1">
                  <a:txBody>
                    <a:bodyPr/>
                    <a:lstStyle/>
                    <a:p>
                      <a:endParaRPr lang="en-US"/>
                    </a:p>
                  </a:txBody>
                  <a:tcPr marL="90000" marR="90000">
                    <a:solidFill>
                      <a:srgbClr val="729FCF"/>
                    </a:solidFill>
                  </a:tcPr>
                </a:tc>
                <a:tc>
                  <a:txBody>
                    <a:bodyPr/>
                    <a:lstStyle/>
                    <a:p>
                      <a:pPr algn="ctr">
                        <a:lnSpc>
                          <a:spcPct val="100000"/>
                        </a:lnSpc>
                      </a:pPr>
                      <a:r>
                        <a:rPr lang="es-PE" sz="1800" b="1" strike="noStrike" spc="-1" dirty="0">
                          <a:solidFill>
                            <a:schemeClr val="tx1"/>
                          </a:solidFill>
                          <a:latin typeface="Arial Narrow" panose="020B0606020202030204" pitchFamily="34" charset="0"/>
                        </a:rPr>
                        <a:t>1</a:t>
                      </a:r>
                    </a:p>
                  </a:txBody>
                  <a:tcPr marL="68400" marR="68400">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chemeClr val="accent1">
                        <a:lumMod val="40000"/>
                        <a:lumOff val="60000"/>
                      </a:schemeClr>
                    </a:solidFill>
                  </a:tcPr>
                </a:tc>
                <a:tc>
                  <a:txBody>
                    <a:bodyPr/>
                    <a:lstStyle/>
                    <a:p>
                      <a:pPr algn="ctr">
                        <a:lnSpc>
                          <a:spcPct val="100000"/>
                        </a:lnSpc>
                      </a:pPr>
                      <a:r>
                        <a:rPr lang="es-PE" sz="1800" b="1" strike="noStrike" spc="-1" dirty="0">
                          <a:solidFill>
                            <a:schemeClr val="tx1"/>
                          </a:solidFill>
                          <a:latin typeface="Arial Narrow" panose="020B0606020202030204" pitchFamily="34" charset="0"/>
                        </a:rPr>
                        <a:t>2</a:t>
                      </a:r>
                    </a:p>
                  </a:txBody>
                  <a:tcPr marL="68400" marR="68400">
                    <a:lnL w="12240">
                      <a:solidFill>
                        <a:srgbClr val="FFFFFF"/>
                      </a:solidFill>
                    </a:lnL>
                    <a:lnR w="12240">
                      <a:solidFill>
                        <a:srgbClr val="FFFFFF"/>
                      </a:solidFill>
                    </a:lnR>
                    <a:lnT w="12240">
                      <a:solidFill>
                        <a:srgbClr val="FFFFFF"/>
                      </a:solidFill>
                    </a:lnT>
                    <a:lnB w="12240">
                      <a:solidFill>
                        <a:srgbClr val="FFFFFF"/>
                      </a:solidFill>
                    </a:lnB>
                    <a:solidFill>
                      <a:schemeClr val="accent1">
                        <a:lumMod val="40000"/>
                        <a:lumOff val="60000"/>
                      </a:schemeClr>
                    </a:solidFill>
                  </a:tcPr>
                </a:tc>
                <a:tc>
                  <a:txBody>
                    <a:bodyPr/>
                    <a:lstStyle/>
                    <a:p>
                      <a:pPr algn="ctr">
                        <a:lnSpc>
                          <a:spcPct val="100000"/>
                        </a:lnSpc>
                      </a:pPr>
                      <a:r>
                        <a:rPr lang="es-PE" sz="1800" b="1" strike="noStrike" spc="-1" dirty="0">
                          <a:solidFill>
                            <a:schemeClr val="tx1"/>
                          </a:solidFill>
                          <a:latin typeface="Arial Narrow" panose="020B0606020202030204" pitchFamily="34" charset="0"/>
                        </a:rPr>
                        <a:t>3</a:t>
                      </a:r>
                    </a:p>
                  </a:txBody>
                  <a:tcPr marL="68400" marR="68400">
                    <a:lnL w="12240">
                      <a:solidFill>
                        <a:srgbClr val="FFFFFF"/>
                      </a:solidFill>
                    </a:lnL>
                    <a:lnR w="12240">
                      <a:solidFill>
                        <a:srgbClr val="FFFFFF"/>
                      </a:solidFill>
                    </a:lnR>
                    <a:lnT w="12240">
                      <a:solidFill>
                        <a:srgbClr val="FFFFFF"/>
                      </a:solidFill>
                    </a:lnT>
                    <a:lnB w="12240">
                      <a:solidFill>
                        <a:srgbClr val="FFFFFF"/>
                      </a:solidFill>
                    </a:lnB>
                    <a:solidFill>
                      <a:schemeClr val="accent1">
                        <a:lumMod val="40000"/>
                        <a:lumOff val="60000"/>
                      </a:schemeClr>
                    </a:solidFill>
                  </a:tcPr>
                </a:tc>
                <a:extLst>
                  <a:ext uri="{0D108BD9-81ED-4DB2-BD59-A6C34878D82A}">
                    <a16:rowId xmlns:a16="http://schemas.microsoft.com/office/drawing/2014/main" val="10001"/>
                  </a:ext>
                </a:extLst>
              </a:tr>
              <a:tr h="365185">
                <a:tc>
                  <a:txBody>
                    <a:bodyPr/>
                    <a:lstStyle/>
                    <a:p>
                      <a:pPr algn="ctr">
                        <a:lnSpc>
                          <a:spcPct val="100000"/>
                        </a:lnSpc>
                      </a:pPr>
                      <a:r>
                        <a:rPr lang="es-PE" sz="1800" b="1" strike="noStrike" spc="-1">
                          <a:solidFill>
                            <a:schemeClr val="tx1"/>
                          </a:solidFill>
                          <a:latin typeface="Arial Narrow" panose="020B0606020202030204" pitchFamily="34" charset="0"/>
                        </a:rPr>
                        <a:t>1</a:t>
                      </a:r>
                    </a:p>
                  </a:txBody>
                  <a:tcPr marL="68400" marR="68400">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chemeClr val="accent1">
                        <a:lumMod val="40000"/>
                        <a:lumOff val="60000"/>
                      </a:schemeClr>
                    </a:solidFill>
                  </a:tcPr>
                </a:tc>
                <a:tc>
                  <a:txBody>
                    <a:bodyPr/>
                    <a:lstStyle/>
                    <a:p>
                      <a:pPr algn="ctr">
                        <a:lnSpc>
                          <a:spcPct val="100000"/>
                        </a:lnSpc>
                      </a:pPr>
                      <a:r>
                        <a:rPr lang="es-PE" sz="1800" b="1" strike="noStrike" spc="-1" dirty="0">
                          <a:solidFill>
                            <a:schemeClr val="tx1"/>
                          </a:solidFill>
                          <a:latin typeface="Arial Narrow" panose="020B0606020202030204" pitchFamily="34" charset="0"/>
                        </a:rPr>
                        <a:t>120</a:t>
                      </a:r>
                    </a:p>
                  </a:txBody>
                  <a:tcPr marL="68400" marR="68400">
                    <a:lnL w="12240">
                      <a:solidFill>
                        <a:srgbClr val="FFFFFF"/>
                      </a:solidFill>
                    </a:lnL>
                    <a:lnR w="12240">
                      <a:solidFill>
                        <a:srgbClr val="FFFFFF"/>
                      </a:solidFill>
                    </a:lnR>
                    <a:lnT w="12240">
                      <a:solidFill>
                        <a:srgbClr val="FFFFFF"/>
                      </a:solidFill>
                    </a:lnT>
                    <a:lnB w="12240">
                      <a:solidFill>
                        <a:srgbClr val="FFFFFF"/>
                      </a:solidFill>
                    </a:lnB>
                    <a:solidFill>
                      <a:schemeClr val="accent1">
                        <a:lumMod val="40000"/>
                        <a:lumOff val="60000"/>
                      </a:schemeClr>
                    </a:solidFill>
                  </a:tcPr>
                </a:tc>
                <a:tc>
                  <a:txBody>
                    <a:bodyPr/>
                    <a:lstStyle/>
                    <a:p>
                      <a:pPr algn="ctr">
                        <a:lnSpc>
                          <a:spcPct val="100000"/>
                        </a:lnSpc>
                      </a:pPr>
                      <a:r>
                        <a:rPr lang="es-PE" sz="1800" b="1" strike="noStrike" spc="-1">
                          <a:solidFill>
                            <a:schemeClr val="tx1"/>
                          </a:solidFill>
                          <a:latin typeface="Arial Narrow" panose="020B0606020202030204" pitchFamily="34" charset="0"/>
                        </a:rPr>
                        <a:t>180</a:t>
                      </a:r>
                    </a:p>
                  </a:txBody>
                  <a:tcPr marL="68400" marR="68400">
                    <a:lnL w="12240">
                      <a:solidFill>
                        <a:srgbClr val="FFFFFF"/>
                      </a:solidFill>
                    </a:lnL>
                    <a:lnR w="12240">
                      <a:solidFill>
                        <a:srgbClr val="FFFFFF"/>
                      </a:solidFill>
                    </a:lnR>
                    <a:lnT w="12240">
                      <a:solidFill>
                        <a:srgbClr val="FFFFFF"/>
                      </a:solidFill>
                    </a:lnT>
                    <a:lnB w="12240">
                      <a:solidFill>
                        <a:srgbClr val="FFFFFF"/>
                      </a:solidFill>
                    </a:lnB>
                    <a:solidFill>
                      <a:schemeClr val="accent1">
                        <a:lumMod val="40000"/>
                        <a:lumOff val="60000"/>
                      </a:schemeClr>
                    </a:solidFill>
                  </a:tcPr>
                </a:tc>
                <a:tc>
                  <a:txBody>
                    <a:bodyPr/>
                    <a:lstStyle/>
                    <a:p>
                      <a:pPr algn="ctr">
                        <a:lnSpc>
                          <a:spcPct val="100000"/>
                        </a:lnSpc>
                      </a:pPr>
                      <a:r>
                        <a:rPr lang="es-PE" sz="1800" b="1" strike="noStrike" spc="-1">
                          <a:solidFill>
                            <a:schemeClr val="tx1"/>
                          </a:solidFill>
                          <a:latin typeface="Arial Narrow" panose="020B0606020202030204" pitchFamily="34" charset="0"/>
                        </a:rPr>
                        <a:t>--</a:t>
                      </a:r>
                    </a:p>
                  </a:txBody>
                  <a:tcPr marL="68400" marR="68400">
                    <a:lnL w="12240">
                      <a:solidFill>
                        <a:srgbClr val="FFFFFF"/>
                      </a:solidFill>
                    </a:lnL>
                    <a:lnR w="12240">
                      <a:solidFill>
                        <a:srgbClr val="FFFFFF"/>
                      </a:solidFill>
                    </a:lnR>
                    <a:lnT w="12240">
                      <a:solidFill>
                        <a:srgbClr val="FFFFFF"/>
                      </a:solidFill>
                    </a:lnT>
                    <a:lnB w="12240">
                      <a:solidFill>
                        <a:srgbClr val="FFFFFF"/>
                      </a:solidFill>
                    </a:lnB>
                    <a:solidFill>
                      <a:schemeClr val="accent1">
                        <a:lumMod val="40000"/>
                        <a:lumOff val="60000"/>
                      </a:schemeClr>
                    </a:solidFill>
                  </a:tcPr>
                </a:tc>
                <a:extLst>
                  <a:ext uri="{0D108BD9-81ED-4DB2-BD59-A6C34878D82A}">
                    <a16:rowId xmlns:a16="http://schemas.microsoft.com/office/drawing/2014/main" val="10002"/>
                  </a:ext>
                </a:extLst>
              </a:tr>
              <a:tr h="365185">
                <a:tc>
                  <a:txBody>
                    <a:bodyPr/>
                    <a:lstStyle/>
                    <a:p>
                      <a:pPr algn="ctr">
                        <a:lnSpc>
                          <a:spcPct val="100000"/>
                        </a:lnSpc>
                      </a:pPr>
                      <a:r>
                        <a:rPr lang="es-PE" sz="1800" b="1" strike="noStrike" spc="-1">
                          <a:solidFill>
                            <a:schemeClr val="tx1"/>
                          </a:solidFill>
                          <a:latin typeface="Arial Narrow" panose="020B0606020202030204" pitchFamily="34" charset="0"/>
                        </a:rPr>
                        <a:t>2</a:t>
                      </a:r>
                    </a:p>
                  </a:txBody>
                  <a:tcPr marL="68400" marR="68400">
                    <a:lnL w="12240">
                      <a:solidFill>
                        <a:srgbClr val="FFFFFF"/>
                      </a:solidFill>
                    </a:lnL>
                    <a:lnR w="12240">
                      <a:solidFill>
                        <a:srgbClr val="FFFFFF"/>
                      </a:solidFill>
                    </a:lnR>
                    <a:lnT w="12240">
                      <a:solidFill>
                        <a:srgbClr val="FFFFFF"/>
                      </a:solidFill>
                    </a:lnT>
                    <a:lnB w="12240">
                      <a:solidFill>
                        <a:srgbClr val="FFFFFF"/>
                      </a:solidFill>
                    </a:lnB>
                    <a:solidFill>
                      <a:schemeClr val="accent1">
                        <a:lumMod val="40000"/>
                        <a:lumOff val="60000"/>
                      </a:schemeClr>
                    </a:solidFill>
                  </a:tcPr>
                </a:tc>
                <a:tc>
                  <a:txBody>
                    <a:bodyPr/>
                    <a:lstStyle/>
                    <a:p>
                      <a:pPr algn="ctr">
                        <a:lnSpc>
                          <a:spcPct val="100000"/>
                        </a:lnSpc>
                      </a:pPr>
                      <a:r>
                        <a:rPr lang="es-PE" sz="1800" b="1" strike="noStrike" spc="-1" dirty="0">
                          <a:solidFill>
                            <a:schemeClr val="tx1"/>
                          </a:solidFill>
                          <a:latin typeface="Arial Narrow" panose="020B0606020202030204" pitchFamily="34" charset="0"/>
                        </a:rPr>
                        <a:t>300</a:t>
                      </a:r>
                    </a:p>
                  </a:txBody>
                  <a:tcPr marL="68400" marR="68400">
                    <a:lnL w="12240">
                      <a:solidFill>
                        <a:srgbClr val="FFFFFF"/>
                      </a:solidFill>
                    </a:lnL>
                    <a:lnR w="12240">
                      <a:solidFill>
                        <a:srgbClr val="FFFFFF"/>
                      </a:solidFill>
                    </a:lnR>
                    <a:lnT w="12240">
                      <a:solidFill>
                        <a:srgbClr val="FFFFFF"/>
                      </a:solidFill>
                    </a:lnT>
                    <a:lnB w="12240">
                      <a:solidFill>
                        <a:srgbClr val="FFFFFF"/>
                      </a:solidFill>
                    </a:lnB>
                    <a:solidFill>
                      <a:schemeClr val="accent1">
                        <a:lumMod val="40000"/>
                        <a:lumOff val="60000"/>
                      </a:schemeClr>
                    </a:solidFill>
                  </a:tcPr>
                </a:tc>
                <a:tc>
                  <a:txBody>
                    <a:bodyPr/>
                    <a:lstStyle/>
                    <a:p>
                      <a:pPr algn="ctr">
                        <a:lnSpc>
                          <a:spcPct val="100000"/>
                        </a:lnSpc>
                      </a:pPr>
                      <a:r>
                        <a:rPr lang="es-PE" sz="1800" b="1" strike="noStrike" spc="-1" dirty="0">
                          <a:solidFill>
                            <a:schemeClr val="tx1"/>
                          </a:solidFill>
                          <a:latin typeface="Arial Narrow" panose="020B0606020202030204" pitchFamily="34" charset="0"/>
                        </a:rPr>
                        <a:t>100</a:t>
                      </a:r>
                    </a:p>
                  </a:txBody>
                  <a:tcPr marL="68400" marR="68400">
                    <a:lnL w="12240">
                      <a:solidFill>
                        <a:srgbClr val="FFFFFF"/>
                      </a:solidFill>
                    </a:lnL>
                    <a:lnR w="12240">
                      <a:solidFill>
                        <a:srgbClr val="FFFFFF"/>
                      </a:solidFill>
                    </a:lnR>
                    <a:lnT w="12240">
                      <a:solidFill>
                        <a:srgbClr val="FFFFFF"/>
                      </a:solidFill>
                    </a:lnT>
                    <a:lnB w="12240">
                      <a:solidFill>
                        <a:srgbClr val="FFFFFF"/>
                      </a:solidFill>
                    </a:lnB>
                    <a:solidFill>
                      <a:schemeClr val="accent1">
                        <a:lumMod val="40000"/>
                        <a:lumOff val="60000"/>
                      </a:schemeClr>
                    </a:solidFill>
                  </a:tcPr>
                </a:tc>
                <a:tc>
                  <a:txBody>
                    <a:bodyPr/>
                    <a:lstStyle/>
                    <a:p>
                      <a:pPr algn="ctr">
                        <a:lnSpc>
                          <a:spcPct val="100000"/>
                        </a:lnSpc>
                      </a:pPr>
                      <a:r>
                        <a:rPr lang="es-PE" sz="1800" b="1" strike="noStrike" spc="-1">
                          <a:solidFill>
                            <a:schemeClr val="tx1"/>
                          </a:solidFill>
                          <a:latin typeface="Arial Narrow" panose="020B0606020202030204" pitchFamily="34" charset="0"/>
                        </a:rPr>
                        <a:t>80</a:t>
                      </a:r>
                    </a:p>
                  </a:txBody>
                  <a:tcPr marL="68400" marR="68400">
                    <a:lnL w="12240">
                      <a:solidFill>
                        <a:srgbClr val="FFFFFF"/>
                      </a:solidFill>
                    </a:lnL>
                    <a:lnR w="12240">
                      <a:solidFill>
                        <a:srgbClr val="FFFFFF"/>
                      </a:solidFill>
                    </a:lnR>
                    <a:lnT w="12240">
                      <a:solidFill>
                        <a:srgbClr val="FFFFFF"/>
                      </a:solidFill>
                    </a:lnT>
                    <a:lnB w="12240">
                      <a:solidFill>
                        <a:srgbClr val="FFFFFF"/>
                      </a:solidFill>
                    </a:lnB>
                    <a:solidFill>
                      <a:schemeClr val="accent1">
                        <a:lumMod val="40000"/>
                        <a:lumOff val="60000"/>
                      </a:schemeClr>
                    </a:solidFill>
                  </a:tcPr>
                </a:tc>
                <a:extLst>
                  <a:ext uri="{0D108BD9-81ED-4DB2-BD59-A6C34878D82A}">
                    <a16:rowId xmlns:a16="http://schemas.microsoft.com/office/drawing/2014/main" val="10003"/>
                  </a:ext>
                </a:extLst>
              </a:tr>
              <a:tr h="365185">
                <a:tc>
                  <a:txBody>
                    <a:bodyPr/>
                    <a:lstStyle/>
                    <a:p>
                      <a:pPr algn="ctr">
                        <a:lnSpc>
                          <a:spcPct val="100000"/>
                        </a:lnSpc>
                      </a:pPr>
                      <a:r>
                        <a:rPr lang="es-PE" sz="1800" b="1" strike="noStrike" spc="-1">
                          <a:solidFill>
                            <a:schemeClr val="tx1"/>
                          </a:solidFill>
                          <a:latin typeface="Arial Narrow" panose="020B0606020202030204" pitchFamily="34" charset="0"/>
                        </a:rPr>
                        <a:t>3</a:t>
                      </a:r>
                    </a:p>
                  </a:txBody>
                  <a:tcPr marL="68400" marR="68400">
                    <a:lnL w="12240">
                      <a:solidFill>
                        <a:srgbClr val="FFFFFF"/>
                      </a:solidFill>
                    </a:lnL>
                    <a:lnR w="12240">
                      <a:solidFill>
                        <a:srgbClr val="FFFFFF"/>
                      </a:solidFill>
                    </a:lnR>
                    <a:lnT w="12240" cap="flat" cmpd="sng" algn="ctr">
                      <a:solidFill>
                        <a:srgbClr val="FFFFFF"/>
                      </a:solidFill>
                      <a:prstDash val="solid"/>
                      <a:round/>
                      <a:headEnd type="none" w="med" len="med"/>
                      <a:tailEnd type="none" w="med" len="med"/>
                    </a:lnT>
                    <a:lnB w="12240">
                      <a:solidFill>
                        <a:srgbClr val="FFFFFF"/>
                      </a:solidFill>
                    </a:lnB>
                    <a:solidFill>
                      <a:schemeClr val="accent1">
                        <a:lumMod val="40000"/>
                        <a:lumOff val="60000"/>
                      </a:schemeClr>
                    </a:solidFill>
                  </a:tcPr>
                </a:tc>
                <a:tc>
                  <a:txBody>
                    <a:bodyPr/>
                    <a:lstStyle/>
                    <a:p>
                      <a:pPr algn="ctr">
                        <a:lnSpc>
                          <a:spcPct val="100000"/>
                        </a:lnSpc>
                      </a:pPr>
                      <a:r>
                        <a:rPr lang="es-PE" sz="1800" b="1" strike="noStrike" spc="-1">
                          <a:solidFill>
                            <a:schemeClr val="tx1"/>
                          </a:solidFill>
                          <a:latin typeface="Arial Narrow" panose="020B0606020202030204" pitchFamily="34" charset="0"/>
                        </a:rPr>
                        <a:t>200</a:t>
                      </a:r>
                    </a:p>
                  </a:txBody>
                  <a:tcPr marL="68400" marR="68400">
                    <a:lnL w="12240">
                      <a:solidFill>
                        <a:srgbClr val="FFFFFF"/>
                      </a:solidFill>
                    </a:lnL>
                    <a:lnR w="12240">
                      <a:solidFill>
                        <a:srgbClr val="FFFFFF"/>
                      </a:solidFill>
                    </a:lnR>
                    <a:lnT w="12240" cap="flat" cmpd="sng" algn="ctr">
                      <a:solidFill>
                        <a:srgbClr val="FFFFFF"/>
                      </a:solidFill>
                      <a:prstDash val="solid"/>
                      <a:round/>
                      <a:headEnd type="none" w="med" len="med"/>
                      <a:tailEnd type="none" w="med" len="med"/>
                    </a:lnT>
                    <a:lnB w="12240">
                      <a:solidFill>
                        <a:srgbClr val="FFFFFF"/>
                      </a:solidFill>
                    </a:lnB>
                    <a:solidFill>
                      <a:schemeClr val="accent1">
                        <a:lumMod val="40000"/>
                        <a:lumOff val="60000"/>
                      </a:schemeClr>
                    </a:solidFill>
                  </a:tcPr>
                </a:tc>
                <a:tc>
                  <a:txBody>
                    <a:bodyPr/>
                    <a:lstStyle/>
                    <a:p>
                      <a:pPr algn="ctr">
                        <a:lnSpc>
                          <a:spcPct val="100000"/>
                        </a:lnSpc>
                      </a:pPr>
                      <a:r>
                        <a:rPr lang="es-PE" sz="1800" b="1" strike="noStrike" spc="-1" dirty="0">
                          <a:solidFill>
                            <a:schemeClr val="tx1"/>
                          </a:solidFill>
                          <a:latin typeface="Arial Narrow" panose="020B0606020202030204" pitchFamily="34" charset="0"/>
                        </a:rPr>
                        <a:t>250</a:t>
                      </a:r>
                    </a:p>
                  </a:txBody>
                  <a:tcPr marL="68400" marR="68400">
                    <a:lnL w="12240">
                      <a:solidFill>
                        <a:srgbClr val="FFFFFF"/>
                      </a:solidFill>
                    </a:lnL>
                    <a:lnR w="12240">
                      <a:solidFill>
                        <a:srgbClr val="FFFFFF"/>
                      </a:solidFill>
                    </a:lnR>
                    <a:lnT w="12240" cap="flat" cmpd="sng" algn="ctr">
                      <a:solidFill>
                        <a:srgbClr val="FFFFFF"/>
                      </a:solidFill>
                      <a:prstDash val="solid"/>
                      <a:round/>
                      <a:headEnd type="none" w="med" len="med"/>
                      <a:tailEnd type="none" w="med" len="med"/>
                    </a:lnT>
                    <a:lnB w="12240">
                      <a:solidFill>
                        <a:srgbClr val="FFFFFF"/>
                      </a:solidFill>
                    </a:lnB>
                    <a:solidFill>
                      <a:schemeClr val="accent1">
                        <a:lumMod val="40000"/>
                        <a:lumOff val="60000"/>
                      </a:schemeClr>
                    </a:solidFill>
                  </a:tcPr>
                </a:tc>
                <a:tc>
                  <a:txBody>
                    <a:bodyPr/>
                    <a:lstStyle/>
                    <a:p>
                      <a:pPr algn="ctr">
                        <a:lnSpc>
                          <a:spcPct val="100000"/>
                        </a:lnSpc>
                      </a:pPr>
                      <a:r>
                        <a:rPr lang="es-PE" sz="1800" b="1" strike="noStrike" spc="-1" dirty="0">
                          <a:solidFill>
                            <a:schemeClr val="tx1"/>
                          </a:solidFill>
                          <a:latin typeface="Arial Narrow" panose="020B0606020202030204" pitchFamily="34" charset="0"/>
                        </a:rPr>
                        <a:t>120</a:t>
                      </a:r>
                    </a:p>
                  </a:txBody>
                  <a:tcPr marL="68400" marR="68400">
                    <a:lnL w="12240">
                      <a:solidFill>
                        <a:srgbClr val="FFFFFF"/>
                      </a:solidFill>
                    </a:lnL>
                    <a:lnR w="12240">
                      <a:solidFill>
                        <a:srgbClr val="FFFFFF"/>
                      </a:solidFill>
                    </a:lnR>
                    <a:lnT w="12240" cap="flat" cmpd="sng" algn="ctr">
                      <a:solidFill>
                        <a:srgbClr val="FFFFFF"/>
                      </a:solidFill>
                      <a:prstDash val="solid"/>
                      <a:round/>
                      <a:headEnd type="none" w="med" len="med"/>
                      <a:tailEnd type="none" w="med" len="med"/>
                    </a:lnT>
                    <a:lnB w="12240">
                      <a:solidFill>
                        <a:srgbClr val="FFFFFF"/>
                      </a:solidFill>
                    </a:lnB>
                    <a:solidFill>
                      <a:schemeClr val="accent1">
                        <a:lumMod val="40000"/>
                        <a:lumOff val="60000"/>
                      </a:schemeClr>
                    </a:solidFill>
                  </a:tcPr>
                </a:tc>
                <a:extLst>
                  <a:ext uri="{0D108BD9-81ED-4DB2-BD59-A6C34878D82A}">
                    <a16:rowId xmlns:a16="http://schemas.microsoft.com/office/drawing/2014/main" val="10004"/>
                  </a:ext>
                </a:extLst>
              </a:tr>
            </a:tbl>
          </a:graphicData>
        </a:graphic>
      </p:graphicFrame>
      <p:graphicFrame>
        <p:nvGraphicFramePr>
          <p:cNvPr id="36" name="1 Diagrama">
            <a:extLst>
              <a:ext uri="{FF2B5EF4-FFF2-40B4-BE49-F238E27FC236}">
                <a16:creationId xmlns:a16="http://schemas.microsoft.com/office/drawing/2014/main" id="{799566F2-B6B5-4B53-8E46-31945618DC00}"/>
              </a:ext>
            </a:extLst>
          </p:cNvPr>
          <p:cNvGraphicFramePr/>
          <p:nvPr/>
        </p:nvGraphicFramePr>
        <p:xfrm>
          <a:off x="163902" y="1242204"/>
          <a:ext cx="5932098" cy="37266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7" name="TextShape 1">
            <a:extLst>
              <a:ext uri="{FF2B5EF4-FFF2-40B4-BE49-F238E27FC236}">
                <a16:creationId xmlns:a16="http://schemas.microsoft.com/office/drawing/2014/main" id="{B56F519E-4A53-4499-8243-0DF5EED7D87F}"/>
              </a:ext>
            </a:extLst>
          </p:cNvPr>
          <p:cNvSpPr txBox="1"/>
          <p:nvPr/>
        </p:nvSpPr>
        <p:spPr>
          <a:xfrm>
            <a:off x="6096000" y="235496"/>
            <a:ext cx="6096000" cy="563040"/>
          </a:xfrm>
          <a:prstGeom prst="rect">
            <a:avLst/>
          </a:prstGeom>
          <a:noFill/>
          <a:ln w="9360">
            <a:noFill/>
          </a:ln>
        </p:spPr>
        <p:txBody>
          <a:bodyPr>
            <a:noAutofit/>
          </a:bodyPr>
          <a:lstStyle>
            <a:defPPr>
              <a:defRPr lang="es-ES"/>
            </a:defPPr>
            <a:lvl1pPr algn="ctr">
              <a:lnSpc>
                <a:spcPct val="100000"/>
              </a:lnSpc>
              <a:defRPr sz="2800" b="1" strike="noStrike" spc="-1">
                <a:solidFill>
                  <a:schemeClr val="bg1"/>
                </a:solidFill>
                <a:latin typeface="Verdana"/>
              </a:defRPr>
            </a:lvl1pPr>
          </a:lstStyle>
          <a:p>
            <a:r>
              <a:rPr lang="en-US" dirty="0" err="1"/>
              <a:t>Problema</a:t>
            </a:r>
            <a:r>
              <a:rPr lang="en-US" dirty="0"/>
              <a:t> 8</a:t>
            </a:r>
          </a:p>
        </p:txBody>
      </p:sp>
    </p:spTree>
    <p:extLst>
      <p:ext uri="{BB962C8B-B14F-4D97-AF65-F5344CB8AC3E}">
        <p14:creationId xmlns:p14="http://schemas.microsoft.com/office/powerpoint/2010/main" val="3419879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3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3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3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0" grpId="0"/>
      <p:bldP spid="113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 name="TextShape 2"/>
          <p:cNvSpPr txBox="1"/>
          <p:nvPr/>
        </p:nvSpPr>
        <p:spPr>
          <a:xfrm>
            <a:off x="528138" y="1347120"/>
            <a:ext cx="5567862" cy="3837355"/>
          </a:xfrm>
          <a:prstGeom prst="rect">
            <a:avLst/>
          </a:prstGeom>
          <a:solidFill>
            <a:srgbClr val="FFFF00"/>
          </a:solidFill>
          <a:ln w="9360">
            <a:noFill/>
          </a:ln>
        </p:spPr>
        <p:txBody>
          <a:bodyPr>
            <a:noAutofit/>
          </a:bodyPr>
          <a:lstStyle/>
          <a:p>
            <a:pPr marL="343080" indent="-342720"/>
            <a:r>
              <a:rPr lang="en-US" sz="2400" spc="-1" dirty="0">
                <a:solidFill>
                  <a:schemeClr val="bg2">
                    <a:lumMod val="25000"/>
                  </a:schemeClr>
                </a:solidFill>
                <a:latin typeface="Arial Narrow" panose="020B0606020202030204" pitchFamily="34" charset="0"/>
              </a:rPr>
              <a:t>MIN   </a:t>
            </a:r>
            <a:r>
              <a:rPr lang="en-US" sz="2400" spc="-1" dirty="0" err="1">
                <a:solidFill>
                  <a:schemeClr val="bg2">
                    <a:lumMod val="25000"/>
                  </a:schemeClr>
                </a:solidFill>
                <a:latin typeface="Arial Narrow" panose="020B0606020202030204" pitchFamily="34" charset="0"/>
              </a:rPr>
              <a:t>120X11</a:t>
            </a:r>
            <a:r>
              <a:rPr lang="en-US" sz="2400" spc="-1" dirty="0">
                <a:solidFill>
                  <a:schemeClr val="bg2">
                    <a:lumMod val="25000"/>
                  </a:schemeClr>
                </a:solidFill>
                <a:latin typeface="Arial Narrow" panose="020B0606020202030204" pitchFamily="34" charset="0"/>
              </a:rPr>
              <a:t> + </a:t>
            </a:r>
            <a:r>
              <a:rPr lang="en-US" sz="2400" spc="-1" dirty="0" err="1">
                <a:solidFill>
                  <a:schemeClr val="bg2">
                    <a:lumMod val="25000"/>
                  </a:schemeClr>
                </a:solidFill>
                <a:latin typeface="Arial Narrow" panose="020B0606020202030204" pitchFamily="34" charset="0"/>
              </a:rPr>
              <a:t>180X12</a:t>
            </a:r>
            <a:r>
              <a:rPr lang="en-US" sz="2400" spc="-1" dirty="0">
                <a:solidFill>
                  <a:schemeClr val="bg2">
                    <a:lumMod val="25000"/>
                  </a:schemeClr>
                </a:solidFill>
                <a:latin typeface="Arial Narrow" panose="020B0606020202030204" pitchFamily="34" charset="0"/>
              </a:rPr>
              <a:t> + </a:t>
            </a:r>
            <a:r>
              <a:rPr lang="en-US" sz="2400" spc="-1" dirty="0" err="1">
                <a:solidFill>
                  <a:schemeClr val="bg2">
                    <a:lumMod val="25000"/>
                  </a:schemeClr>
                </a:solidFill>
                <a:latin typeface="Arial Narrow" panose="020B0606020202030204" pitchFamily="34" charset="0"/>
              </a:rPr>
              <a:t>300X21</a:t>
            </a:r>
            <a:r>
              <a:rPr lang="en-US" sz="2400" spc="-1" dirty="0">
                <a:solidFill>
                  <a:schemeClr val="bg2">
                    <a:lumMod val="25000"/>
                  </a:schemeClr>
                </a:solidFill>
                <a:latin typeface="Arial Narrow" panose="020B0606020202030204" pitchFamily="34" charset="0"/>
              </a:rPr>
              <a:t> + </a:t>
            </a:r>
            <a:r>
              <a:rPr lang="en-US" sz="2400" spc="-1" dirty="0" err="1">
                <a:solidFill>
                  <a:schemeClr val="bg2">
                    <a:lumMod val="25000"/>
                  </a:schemeClr>
                </a:solidFill>
                <a:latin typeface="Arial Narrow" panose="020B0606020202030204" pitchFamily="34" charset="0"/>
              </a:rPr>
              <a:t>100X22</a:t>
            </a:r>
            <a:r>
              <a:rPr lang="en-US" sz="2400" spc="-1" dirty="0">
                <a:solidFill>
                  <a:schemeClr val="bg2">
                    <a:lumMod val="25000"/>
                  </a:schemeClr>
                </a:solidFill>
                <a:latin typeface="Arial Narrow" panose="020B0606020202030204" pitchFamily="34" charset="0"/>
              </a:rPr>
              <a:t> + </a:t>
            </a:r>
          </a:p>
          <a:p>
            <a:pPr marL="343080" indent="-342720"/>
            <a:r>
              <a:rPr lang="en-US" sz="2400" spc="-1" dirty="0">
                <a:solidFill>
                  <a:schemeClr val="bg2">
                    <a:lumMod val="25000"/>
                  </a:schemeClr>
                </a:solidFill>
                <a:latin typeface="Arial Narrow" panose="020B0606020202030204" pitchFamily="34" charset="0"/>
              </a:rPr>
              <a:t>		</a:t>
            </a:r>
            <a:r>
              <a:rPr lang="en-US" sz="2400" spc="-1" dirty="0" err="1">
                <a:solidFill>
                  <a:schemeClr val="bg2">
                    <a:lumMod val="25000"/>
                  </a:schemeClr>
                </a:solidFill>
                <a:latin typeface="Arial Narrow" panose="020B0606020202030204" pitchFamily="34" charset="0"/>
              </a:rPr>
              <a:t>80X23</a:t>
            </a:r>
            <a:r>
              <a:rPr lang="en-US" sz="2400" spc="-1" dirty="0">
                <a:solidFill>
                  <a:schemeClr val="bg2">
                    <a:lumMod val="25000"/>
                  </a:schemeClr>
                </a:solidFill>
                <a:latin typeface="Arial Narrow" panose="020B0606020202030204" pitchFamily="34" charset="0"/>
              </a:rPr>
              <a:t> + </a:t>
            </a:r>
            <a:r>
              <a:rPr lang="en-US" sz="2400" spc="-1" dirty="0" err="1">
                <a:solidFill>
                  <a:schemeClr val="bg2">
                    <a:lumMod val="25000"/>
                  </a:schemeClr>
                </a:solidFill>
                <a:latin typeface="Arial Narrow" panose="020B0606020202030204" pitchFamily="34" charset="0"/>
              </a:rPr>
              <a:t>200X31</a:t>
            </a:r>
            <a:r>
              <a:rPr lang="en-US" sz="2400" spc="-1" dirty="0">
                <a:solidFill>
                  <a:schemeClr val="bg2">
                    <a:lumMod val="25000"/>
                  </a:schemeClr>
                </a:solidFill>
                <a:latin typeface="Arial Narrow" panose="020B0606020202030204" pitchFamily="34" charset="0"/>
              </a:rPr>
              <a:t> + </a:t>
            </a:r>
            <a:r>
              <a:rPr lang="en-US" sz="2400" spc="-1" dirty="0" err="1">
                <a:solidFill>
                  <a:schemeClr val="bg2">
                    <a:lumMod val="25000"/>
                  </a:schemeClr>
                </a:solidFill>
                <a:latin typeface="Arial Narrow" panose="020B0606020202030204" pitchFamily="34" charset="0"/>
              </a:rPr>
              <a:t>250X32</a:t>
            </a:r>
            <a:r>
              <a:rPr lang="en-US" sz="2400" spc="-1" dirty="0">
                <a:solidFill>
                  <a:schemeClr val="bg2">
                    <a:lumMod val="25000"/>
                  </a:schemeClr>
                </a:solidFill>
                <a:latin typeface="Arial Narrow" panose="020B0606020202030204" pitchFamily="34" charset="0"/>
              </a:rPr>
              <a:t> + </a:t>
            </a:r>
            <a:r>
              <a:rPr lang="en-US" sz="2400" spc="-1" dirty="0" err="1">
                <a:solidFill>
                  <a:schemeClr val="bg2">
                    <a:lumMod val="25000"/>
                  </a:schemeClr>
                </a:solidFill>
                <a:latin typeface="Arial Narrow" panose="020B0606020202030204" pitchFamily="34" charset="0"/>
              </a:rPr>
              <a:t>120X33</a:t>
            </a:r>
            <a:endParaRPr lang="en-US" sz="2400" spc="-1" dirty="0">
              <a:solidFill>
                <a:schemeClr val="bg2">
                  <a:lumMod val="25000"/>
                </a:schemeClr>
              </a:solidFill>
              <a:latin typeface="Arial Narrow" panose="020B0606020202030204" pitchFamily="34" charset="0"/>
            </a:endParaRPr>
          </a:p>
          <a:p>
            <a:pPr marL="343080" indent="-342720"/>
            <a:r>
              <a:rPr lang="en-US" sz="2400" spc="-1" dirty="0">
                <a:solidFill>
                  <a:schemeClr val="bg2">
                    <a:lumMod val="25000"/>
                  </a:schemeClr>
                </a:solidFill>
                <a:latin typeface="Arial Narrow" panose="020B0606020202030204" pitchFamily="34" charset="0"/>
              </a:rPr>
              <a:t>SUBJECT TO</a:t>
            </a:r>
          </a:p>
          <a:p>
            <a:pPr marL="343080" indent="-342720"/>
            <a:r>
              <a:rPr lang="en-US" sz="2400" spc="-1" dirty="0">
                <a:solidFill>
                  <a:schemeClr val="bg2">
                    <a:lumMod val="25000"/>
                  </a:schemeClr>
                </a:solidFill>
                <a:latin typeface="Arial Narrow" panose="020B0606020202030204" pitchFamily="34" charset="0"/>
              </a:rPr>
              <a:t>		</a:t>
            </a:r>
            <a:r>
              <a:rPr lang="en-US" sz="2400" spc="-1" dirty="0" err="1">
                <a:solidFill>
                  <a:schemeClr val="bg2">
                    <a:lumMod val="25000"/>
                  </a:schemeClr>
                </a:solidFill>
                <a:latin typeface="Arial Narrow" panose="020B0606020202030204" pitchFamily="34" charset="0"/>
              </a:rPr>
              <a:t>X11</a:t>
            </a:r>
            <a:r>
              <a:rPr lang="en-US" sz="2400" spc="-1" dirty="0">
                <a:solidFill>
                  <a:schemeClr val="bg2">
                    <a:lumMod val="25000"/>
                  </a:schemeClr>
                </a:solidFill>
                <a:latin typeface="Arial Narrow" panose="020B0606020202030204" pitchFamily="34" charset="0"/>
              </a:rPr>
              <a:t>  + </a:t>
            </a:r>
            <a:r>
              <a:rPr lang="en-US" sz="2400" spc="-1" dirty="0" err="1">
                <a:solidFill>
                  <a:schemeClr val="bg2">
                    <a:lumMod val="25000"/>
                  </a:schemeClr>
                </a:solidFill>
                <a:latin typeface="Arial Narrow" panose="020B0606020202030204" pitchFamily="34" charset="0"/>
              </a:rPr>
              <a:t>X12</a:t>
            </a:r>
            <a:r>
              <a:rPr lang="en-US" sz="2400" spc="-1" dirty="0">
                <a:solidFill>
                  <a:schemeClr val="bg2">
                    <a:lumMod val="25000"/>
                  </a:schemeClr>
                </a:solidFill>
                <a:latin typeface="Arial Narrow" panose="020B0606020202030204" pitchFamily="34" charset="0"/>
              </a:rPr>
              <a:t>  	   &lt;= 6		</a:t>
            </a:r>
          </a:p>
          <a:p>
            <a:pPr marL="343080" indent="-342720"/>
            <a:r>
              <a:rPr lang="en-US" sz="2400" spc="-1" dirty="0">
                <a:solidFill>
                  <a:schemeClr val="bg2">
                    <a:lumMod val="25000"/>
                  </a:schemeClr>
                </a:solidFill>
                <a:latin typeface="Arial Narrow" panose="020B0606020202030204" pitchFamily="34" charset="0"/>
              </a:rPr>
              <a:t>		</a:t>
            </a:r>
            <a:r>
              <a:rPr lang="en-US" sz="2400" spc="-1" dirty="0" err="1">
                <a:solidFill>
                  <a:schemeClr val="bg2">
                    <a:lumMod val="25000"/>
                  </a:schemeClr>
                </a:solidFill>
                <a:latin typeface="Arial Narrow" panose="020B0606020202030204" pitchFamily="34" charset="0"/>
              </a:rPr>
              <a:t>X21</a:t>
            </a:r>
            <a:r>
              <a:rPr lang="en-US" sz="2400" spc="-1" dirty="0">
                <a:solidFill>
                  <a:schemeClr val="bg2">
                    <a:lumMod val="25000"/>
                  </a:schemeClr>
                </a:solidFill>
                <a:latin typeface="Arial Narrow" panose="020B0606020202030204" pitchFamily="34" charset="0"/>
              </a:rPr>
              <a:t>  + </a:t>
            </a:r>
            <a:r>
              <a:rPr lang="en-US" sz="2400" spc="-1" dirty="0" err="1">
                <a:solidFill>
                  <a:schemeClr val="bg2">
                    <a:lumMod val="25000"/>
                  </a:schemeClr>
                </a:solidFill>
                <a:latin typeface="Arial Narrow" panose="020B0606020202030204" pitchFamily="34" charset="0"/>
              </a:rPr>
              <a:t>X22</a:t>
            </a:r>
            <a:r>
              <a:rPr lang="en-US" sz="2400" spc="-1" dirty="0">
                <a:solidFill>
                  <a:schemeClr val="bg2">
                    <a:lumMod val="25000"/>
                  </a:schemeClr>
                </a:solidFill>
                <a:latin typeface="Arial Narrow" panose="020B0606020202030204" pitchFamily="34" charset="0"/>
              </a:rPr>
              <a:t> + </a:t>
            </a:r>
            <a:r>
              <a:rPr lang="en-US" sz="2400" spc="-1" dirty="0" err="1">
                <a:solidFill>
                  <a:schemeClr val="bg2">
                    <a:lumMod val="25000"/>
                  </a:schemeClr>
                </a:solidFill>
                <a:latin typeface="Arial Narrow" panose="020B0606020202030204" pitchFamily="34" charset="0"/>
              </a:rPr>
              <a:t>X23</a:t>
            </a:r>
            <a:r>
              <a:rPr lang="en-US" sz="2400" spc="-1" dirty="0">
                <a:solidFill>
                  <a:schemeClr val="bg2">
                    <a:lumMod val="25000"/>
                  </a:schemeClr>
                </a:solidFill>
                <a:latin typeface="Arial Narrow" panose="020B0606020202030204" pitchFamily="34" charset="0"/>
              </a:rPr>
              <a:t> &lt;= 5	 	</a:t>
            </a:r>
          </a:p>
          <a:p>
            <a:pPr marL="343080" indent="-342720"/>
            <a:r>
              <a:rPr lang="en-US" sz="2400" spc="-1" dirty="0">
                <a:solidFill>
                  <a:schemeClr val="bg2">
                    <a:lumMod val="25000"/>
                  </a:schemeClr>
                </a:solidFill>
                <a:latin typeface="Arial Narrow" panose="020B0606020202030204" pitchFamily="34" charset="0"/>
              </a:rPr>
              <a:t>		</a:t>
            </a:r>
            <a:r>
              <a:rPr lang="en-US" sz="2400" spc="-1" dirty="0" err="1">
                <a:solidFill>
                  <a:schemeClr val="bg2">
                    <a:lumMod val="25000"/>
                  </a:schemeClr>
                </a:solidFill>
                <a:latin typeface="Arial Narrow" panose="020B0606020202030204" pitchFamily="34" charset="0"/>
              </a:rPr>
              <a:t>X31</a:t>
            </a:r>
            <a:r>
              <a:rPr lang="en-US" sz="2400" spc="-1" dirty="0">
                <a:solidFill>
                  <a:schemeClr val="bg2">
                    <a:lumMod val="25000"/>
                  </a:schemeClr>
                </a:solidFill>
                <a:latin typeface="Arial Narrow" panose="020B0606020202030204" pitchFamily="34" charset="0"/>
              </a:rPr>
              <a:t>  + </a:t>
            </a:r>
            <a:r>
              <a:rPr lang="en-US" sz="2400" spc="-1" dirty="0" err="1">
                <a:solidFill>
                  <a:schemeClr val="bg2">
                    <a:lumMod val="25000"/>
                  </a:schemeClr>
                </a:solidFill>
                <a:latin typeface="Arial Narrow" panose="020B0606020202030204" pitchFamily="34" charset="0"/>
              </a:rPr>
              <a:t>X32</a:t>
            </a:r>
            <a:r>
              <a:rPr lang="en-US" sz="2400" spc="-1" dirty="0">
                <a:solidFill>
                  <a:schemeClr val="bg2">
                    <a:lumMod val="25000"/>
                  </a:schemeClr>
                </a:solidFill>
                <a:latin typeface="Arial Narrow" panose="020B0606020202030204" pitchFamily="34" charset="0"/>
              </a:rPr>
              <a:t> + </a:t>
            </a:r>
            <a:r>
              <a:rPr lang="en-US" sz="2400" spc="-1" dirty="0" err="1">
                <a:solidFill>
                  <a:schemeClr val="bg2">
                    <a:lumMod val="25000"/>
                  </a:schemeClr>
                </a:solidFill>
                <a:latin typeface="Arial Narrow" panose="020B0606020202030204" pitchFamily="34" charset="0"/>
              </a:rPr>
              <a:t>X33</a:t>
            </a:r>
            <a:r>
              <a:rPr lang="en-US" sz="2400" spc="-1" dirty="0">
                <a:solidFill>
                  <a:schemeClr val="bg2">
                    <a:lumMod val="25000"/>
                  </a:schemeClr>
                </a:solidFill>
                <a:latin typeface="Arial Narrow" panose="020B0606020202030204" pitchFamily="34" charset="0"/>
              </a:rPr>
              <a:t> &lt;= 8	 	</a:t>
            </a:r>
          </a:p>
          <a:p>
            <a:pPr marL="343080" indent="-342720"/>
            <a:r>
              <a:rPr lang="en-US" sz="2400" spc="-1" dirty="0">
                <a:solidFill>
                  <a:schemeClr val="bg2">
                    <a:lumMod val="25000"/>
                  </a:schemeClr>
                </a:solidFill>
                <a:latin typeface="Arial Narrow" panose="020B0606020202030204" pitchFamily="34" charset="0"/>
              </a:rPr>
              <a:t>		</a:t>
            </a:r>
            <a:r>
              <a:rPr lang="en-US" sz="2400" spc="-1" dirty="0" err="1">
                <a:solidFill>
                  <a:schemeClr val="bg2">
                    <a:lumMod val="25000"/>
                  </a:schemeClr>
                </a:solidFill>
                <a:latin typeface="Arial Narrow" panose="020B0606020202030204" pitchFamily="34" charset="0"/>
              </a:rPr>
              <a:t>X11</a:t>
            </a:r>
            <a:r>
              <a:rPr lang="en-US" sz="2400" spc="-1" dirty="0">
                <a:solidFill>
                  <a:schemeClr val="bg2">
                    <a:lumMod val="25000"/>
                  </a:schemeClr>
                </a:solidFill>
                <a:latin typeface="Arial Narrow" panose="020B0606020202030204" pitchFamily="34" charset="0"/>
              </a:rPr>
              <a:t>  + </a:t>
            </a:r>
            <a:r>
              <a:rPr lang="en-US" sz="2400" spc="-1" dirty="0" err="1">
                <a:solidFill>
                  <a:schemeClr val="bg2">
                    <a:lumMod val="25000"/>
                  </a:schemeClr>
                </a:solidFill>
                <a:latin typeface="Arial Narrow" panose="020B0606020202030204" pitchFamily="34" charset="0"/>
              </a:rPr>
              <a:t>X21</a:t>
            </a:r>
            <a:r>
              <a:rPr lang="en-US" sz="2400" spc="-1" dirty="0">
                <a:solidFill>
                  <a:schemeClr val="bg2">
                    <a:lumMod val="25000"/>
                  </a:schemeClr>
                </a:solidFill>
                <a:latin typeface="Arial Narrow" panose="020B0606020202030204" pitchFamily="34" charset="0"/>
              </a:rPr>
              <a:t>  + </a:t>
            </a:r>
            <a:r>
              <a:rPr lang="en-US" sz="2400" spc="-1" dirty="0" err="1">
                <a:solidFill>
                  <a:schemeClr val="bg2">
                    <a:lumMod val="25000"/>
                  </a:schemeClr>
                </a:solidFill>
                <a:latin typeface="Arial Narrow" panose="020B0606020202030204" pitchFamily="34" charset="0"/>
              </a:rPr>
              <a:t>X31</a:t>
            </a:r>
            <a:r>
              <a:rPr lang="en-US" sz="2400" spc="-1" dirty="0">
                <a:solidFill>
                  <a:schemeClr val="bg2">
                    <a:lumMod val="25000"/>
                  </a:schemeClr>
                </a:solidFill>
                <a:latin typeface="Arial Narrow" panose="020B0606020202030204" pitchFamily="34" charset="0"/>
              </a:rPr>
              <a:t> = 4</a:t>
            </a:r>
          </a:p>
          <a:p>
            <a:pPr marL="343080" indent="-342720"/>
            <a:r>
              <a:rPr lang="en-US" sz="2400" spc="-1" dirty="0">
                <a:solidFill>
                  <a:schemeClr val="bg2">
                    <a:lumMod val="25000"/>
                  </a:schemeClr>
                </a:solidFill>
                <a:latin typeface="Arial Narrow" panose="020B0606020202030204" pitchFamily="34" charset="0"/>
              </a:rPr>
              <a:t>		</a:t>
            </a:r>
            <a:r>
              <a:rPr lang="en-US" sz="2400" spc="-1" dirty="0" err="1">
                <a:solidFill>
                  <a:schemeClr val="bg2">
                    <a:lumMod val="25000"/>
                  </a:schemeClr>
                </a:solidFill>
                <a:latin typeface="Arial Narrow" panose="020B0606020202030204" pitchFamily="34" charset="0"/>
              </a:rPr>
              <a:t>X12</a:t>
            </a:r>
            <a:r>
              <a:rPr lang="en-US" sz="2400" spc="-1" dirty="0">
                <a:solidFill>
                  <a:schemeClr val="bg2">
                    <a:lumMod val="25000"/>
                  </a:schemeClr>
                </a:solidFill>
                <a:latin typeface="Arial Narrow" panose="020B0606020202030204" pitchFamily="34" charset="0"/>
              </a:rPr>
              <a:t>  + </a:t>
            </a:r>
            <a:r>
              <a:rPr lang="en-US" sz="2400" spc="-1" dirty="0" err="1">
                <a:solidFill>
                  <a:schemeClr val="bg2">
                    <a:lumMod val="25000"/>
                  </a:schemeClr>
                </a:solidFill>
                <a:latin typeface="Arial Narrow" panose="020B0606020202030204" pitchFamily="34" charset="0"/>
              </a:rPr>
              <a:t>X22</a:t>
            </a:r>
            <a:r>
              <a:rPr lang="en-US" sz="2400" spc="-1" dirty="0">
                <a:solidFill>
                  <a:schemeClr val="bg2">
                    <a:lumMod val="25000"/>
                  </a:schemeClr>
                </a:solidFill>
                <a:latin typeface="Arial Narrow" panose="020B0606020202030204" pitchFamily="34" charset="0"/>
              </a:rPr>
              <a:t>  + </a:t>
            </a:r>
            <a:r>
              <a:rPr lang="en-US" sz="2400" spc="-1" dirty="0" err="1">
                <a:solidFill>
                  <a:schemeClr val="bg2">
                    <a:lumMod val="25000"/>
                  </a:schemeClr>
                </a:solidFill>
                <a:latin typeface="Arial Narrow" panose="020B0606020202030204" pitchFamily="34" charset="0"/>
              </a:rPr>
              <a:t>X32</a:t>
            </a:r>
            <a:r>
              <a:rPr lang="en-US" sz="2400" spc="-1" dirty="0">
                <a:solidFill>
                  <a:schemeClr val="bg2">
                    <a:lumMod val="25000"/>
                  </a:schemeClr>
                </a:solidFill>
                <a:latin typeface="Arial Narrow" panose="020B0606020202030204" pitchFamily="34" charset="0"/>
              </a:rPr>
              <a:t> = 8</a:t>
            </a:r>
          </a:p>
          <a:p>
            <a:pPr marL="343080" indent="-342720"/>
            <a:r>
              <a:rPr lang="en-US" sz="2400" spc="-1" dirty="0">
                <a:solidFill>
                  <a:schemeClr val="bg2">
                    <a:lumMod val="25000"/>
                  </a:schemeClr>
                </a:solidFill>
                <a:latin typeface="Arial Narrow" panose="020B0606020202030204" pitchFamily="34" charset="0"/>
              </a:rPr>
              <a:t>		           </a:t>
            </a:r>
            <a:r>
              <a:rPr lang="en-US" sz="2400" spc="-1" dirty="0" err="1">
                <a:solidFill>
                  <a:schemeClr val="bg2">
                    <a:lumMod val="25000"/>
                  </a:schemeClr>
                </a:solidFill>
                <a:latin typeface="Arial Narrow" panose="020B0606020202030204" pitchFamily="34" charset="0"/>
              </a:rPr>
              <a:t>X23</a:t>
            </a:r>
            <a:r>
              <a:rPr lang="en-US" sz="2400" spc="-1" dirty="0">
                <a:solidFill>
                  <a:schemeClr val="bg2">
                    <a:lumMod val="25000"/>
                  </a:schemeClr>
                </a:solidFill>
                <a:latin typeface="Arial Narrow" panose="020B0606020202030204" pitchFamily="34" charset="0"/>
              </a:rPr>
              <a:t>  + </a:t>
            </a:r>
            <a:r>
              <a:rPr lang="en-US" sz="2400" spc="-1" dirty="0" err="1">
                <a:solidFill>
                  <a:schemeClr val="bg2">
                    <a:lumMod val="25000"/>
                  </a:schemeClr>
                </a:solidFill>
                <a:latin typeface="Arial Narrow" panose="020B0606020202030204" pitchFamily="34" charset="0"/>
              </a:rPr>
              <a:t>X33</a:t>
            </a:r>
            <a:r>
              <a:rPr lang="en-US" sz="2400" spc="-1" dirty="0">
                <a:solidFill>
                  <a:schemeClr val="bg2">
                    <a:lumMod val="25000"/>
                  </a:schemeClr>
                </a:solidFill>
                <a:latin typeface="Arial Narrow" panose="020B0606020202030204" pitchFamily="34" charset="0"/>
              </a:rPr>
              <a:t>  = 7</a:t>
            </a:r>
          </a:p>
          <a:p>
            <a:pPr marL="343080" indent="-342720"/>
            <a:r>
              <a:rPr lang="en-US" sz="2400" spc="-1" dirty="0">
                <a:solidFill>
                  <a:schemeClr val="bg2">
                    <a:lumMod val="25000"/>
                  </a:schemeClr>
                </a:solidFill>
                <a:latin typeface="Arial Narrow" panose="020B0606020202030204" pitchFamily="34" charset="0"/>
              </a:rPr>
              <a:t>END</a:t>
            </a:r>
          </a:p>
        </p:txBody>
      </p:sp>
      <p:sp>
        <p:nvSpPr>
          <p:cNvPr id="4" name="TextShape 2">
            <a:extLst>
              <a:ext uri="{FF2B5EF4-FFF2-40B4-BE49-F238E27FC236}">
                <a16:creationId xmlns:a16="http://schemas.microsoft.com/office/drawing/2014/main" id="{041755C3-C0FA-4859-93AE-EC05445A117F}"/>
              </a:ext>
            </a:extLst>
          </p:cNvPr>
          <p:cNvSpPr txBox="1"/>
          <p:nvPr/>
        </p:nvSpPr>
        <p:spPr>
          <a:xfrm>
            <a:off x="6469810" y="1484640"/>
            <a:ext cx="5677715" cy="5184360"/>
          </a:xfrm>
          <a:prstGeom prst="rect">
            <a:avLst/>
          </a:prstGeom>
          <a:noFill/>
          <a:ln w="9360">
            <a:noFill/>
          </a:ln>
        </p:spPr>
        <p:txBody>
          <a:bodyPr>
            <a:noAutofit/>
          </a:bodyPr>
          <a:lstStyle/>
          <a:p>
            <a:pPr>
              <a:spcBef>
                <a:spcPts val="561"/>
              </a:spcBef>
            </a:pPr>
            <a:r>
              <a:rPr lang="en-US" sz="2400" spc="-1" dirty="0">
                <a:solidFill>
                  <a:schemeClr val="bg2">
                    <a:lumMod val="25000"/>
                  </a:schemeClr>
                </a:solidFill>
                <a:latin typeface="Arial"/>
              </a:rPr>
              <a:t>1)2430</a:t>
            </a:r>
          </a:p>
          <a:p>
            <a:pPr>
              <a:spcBef>
                <a:spcPts val="561"/>
              </a:spcBef>
            </a:pPr>
            <a:r>
              <a:rPr lang="en-US" sz="2400" spc="-1" dirty="0">
                <a:solidFill>
                  <a:schemeClr val="bg2">
                    <a:lumMod val="25000"/>
                  </a:schemeClr>
                </a:solidFill>
                <a:latin typeface="Arial"/>
              </a:rPr>
              <a:t>Variable      Value        Reduced Cost</a:t>
            </a:r>
          </a:p>
          <a:p>
            <a:pPr>
              <a:spcBef>
                <a:spcPts val="561"/>
              </a:spcBef>
            </a:pPr>
            <a:r>
              <a:rPr lang="en-US" sz="2400" spc="-1" dirty="0">
                <a:solidFill>
                  <a:schemeClr val="bg2">
                    <a:lumMod val="25000"/>
                  </a:schemeClr>
                </a:solidFill>
                <a:latin typeface="Arial"/>
              </a:rPr>
              <a:t>   </a:t>
            </a:r>
            <a:r>
              <a:rPr lang="en-US" sz="2400" spc="-1" dirty="0" err="1">
                <a:solidFill>
                  <a:schemeClr val="bg2">
                    <a:lumMod val="25000"/>
                  </a:schemeClr>
                </a:solidFill>
                <a:latin typeface="Arial"/>
              </a:rPr>
              <a:t>X11</a:t>
            </a:r>
            <a:r>
              <a:rPr lang="en-US" sz="2400" spc="-1" dirty="0">
                <a:solidFill>
                  <a:schemeClr val="bg2">
                    <a:lumMod val="25000"/>
                  </a:schemeClr>
                </a:solidFill>
                <a:latin typeface="Arial"/>
              </a:rPr>
              <a:t>        4.000000            0.000000</a:t>
            </a:r>
          </a:p>
          <a:p>
            <a:pPr>
              <a:spcBef>
                <a:spcPts val="561"/>
              </a:spcBef>
            </a:pPr>
            <a:r>
              <a:rPr lang="en-US" sz="2400" spc="-1" dirty="0">
                <a:solidFill>
                  <a:schemeClr val="bg2">
                    <a:lumMod val="25000"/>
                  </a:schemeClr>
                </a:solidFill>
                <a:latin typeface="Arial"/>
              </a:rPr>
              <a:t>   </a:t>
            </a:r>
            <a:r>
              <a:rPr lang="en-US" sz="2400" spc="-1" dirty="0" err="1">
                <a:solidFill>
                  <a:schemeClr val="bg2">
                    <a:lumMod val="25000"/>
                  </a:schemeClr>
                </a:solidFill>
                <a:latin typeface="Arial"/>
              </a:rPr>
              <a:t>X12</a:t>
            </a:r>
            <a:r>
              <a:rPr lang="en-US" sz="2400" spc="-1" dirty="0">
                <a:solidFill>
                  <a:schemeClr val="bg2">
                    <a:lumMod val="25000"/>
                  </a:schemeClr>
                </a:solidFill>
                <a:latin typeface="Arial"/>
              </a:rPr>
              <a:t>        2.000000            0.000000</a:t>
            </a:r>
          </a:p>
          <a:p>
            <a:pPr>
              <a:spcBef>
                <a:spcPts val="561"/>
              </a:spcBef>
            </a:pPr>
            <a:r>
              <a:rPr lang="en-US" sz="2400" spc="-1" dirty="0">
                <a:solidFill>
                  <a:schemeClr val="bg2">
                    <a:lumMod val="25000"/>
                  </a:schemeClr>
                </a:solidFill>
                <a:latin typeface="Arial"/>
              </a:rPr>
              <a:t>   </a:t>
            </a:r>
            <a:r>
              <a:rPr lang="en-US" sz="2400" spc="-1" dirty="0" err="1">
                <a:solidFill>
                  <a:schemeClr val="bg2">
                    <a:lumMod val="25000"/>
                  </a:schemeClr>
                </a:solidFill>
                <a:latin typeface="Arial"/>
              </a:rPr>
              <a:t>X21</a:t>
            </a:r>
            <a:r>
              <a:rPr lang="en-US" sz="2400" spc="-1" dirty="0">
                <a:solidFill>
                  <a:schemeClr val="bg2">
                    <a:lumMod val="25000"/>
                  </a:schemeClr>
                </a:solidFill>
                <a:latin typeface="Arial"/>
              </a:rPr>
              <a:t>        0.000000            260.0000</a:t>
            </a:r>
          </a:p>
          <a:p>
            <a:pPr>
              <a:spcBef>
                <a:spcPts val="561"/>
              </a:spcBef>
            </a:pPr>
            <a:r>
              <a:rPr lang="en-US" sz="2400" spc="-1" dirty="0">
                <a:solidFill>
                  <a:schemeClr val="bg2">
                    <a:lumMod val="25000"/>
                  </a:schemeClr>
                </a:solidFill>
                <a:latin typeface="Arial"/>
              </a:rPr>
              <a:t>   </a:t>
            </a:r>
            <a:r>
              <a:rPr lang="en-US" sz="2400" spc="-1" dirty="0" err="1">
                <a:solidFill>
                  <a:schemeClr val="bg2">
                    <a:lumMod val="25000"/>
                  </a:schemeClr>
                </a:solidFill>
                <a:latin typeface="Arial"/>
              </a:rPr>
              <a:t>X22</a:t>
            </a:r>
            <a:r>
              <a:rPr lang="en-US" sz="2400" spc="-1" dirty="0">
                <a:solidFill>
                  <a:schemeClr val="bg2">
                    <a:lumMod val="25000"/>
                  </a:schemeClr>
                </a:solidFill>
                <a:latin typeface="Arial"/>
              </a:rPr>
              <a:t>        5.000000            0.000000</a:t>
            </a:r>
          </a:p>
          <a:p>
            <a:pPr>
              <a:spcBef>
                <a:spcPts val="561"/>
              </a:spcBef>
            </a:pPr>
            <a:r>
              <a:rPr lang="en-US" sz="2400" spc="-1" dirty="0">
                <a:solidFill>
                  <a:schemeClr val="bg2">
                    <a:lumMod val="25000"/>
                  </a:schemeClr>
                </a:solidFill>
                <a:latin typeface="Arial"/>
              </a:rPr>
              <a:t>   </a:t>
            </a:r>
            <a:r>
              <a:rPr lang="en-US" sz="2400" spc="-1" dirty="0" err="1">
                <a:solidFill>
                  <a:schemeClr val="bg2">
                    <a:lumMod val="25000"/>
                  </a:schemeClr>
                </a:solidFill>
                <a:latin typeface="Arial"/>
              </a:rPr>
              <a:t>X23</a:t>
            </a:r>
            <a:r>
              <a:rPr lang="en-US" sz="2400" spc="-1" dirty="0">
                <a:solidFill>
                  <a:schemeClr val="bg2">
                    <a:lumMod val="25000"/>
                  </a:schemeClr>
                </a:solidFill>
                <a:latin typeface="Arial"/>
              </a:rPr>
              <a:t>        0.000000            110.0000</a:t>
            </a:r>
          </a:p>
          <a:p>
            <a:pPr>
              <a:spcBef>
                <a:spcPts val="561"/>
              </a:spcBef>
            </a:pPr>
            <a:r>
              <a:rPr lang="en-US" sz="2400" spc="-1" dirty="0">
                <a:solidFill>
                  <a:schemeClr val="bg2">
                    <a:lumMod val="25000"/>
                  </a:schemeClr>
                </a:solidFill>
                <a:latin typeface="Arial"/>
              </a:rPr>
              <a:t>   </a:t>
            </a:r>
            <a:r>
              <a:rPr lang="en-US" sz="2400" spc="-1" dirty="0" err="1">
                <a:solidFill>
                  <a:schemeClr val="bg2">
                    <a:lumMod val="25000"/>
                  </a:schemeClr>
                </a:solidFill>
                <a:latin typeface="Arial"/>
              </a:rPr>
              <a:t>X31</a:t>
            </a:r>
            <a:r>
              <a:rPr lang="en-US" sz="2400" spc="-1" dirty="0">
                <a:solidFill>
                  <a:schemeClr val="bg2">
                    <a:lumMod val="25000"/>
                  </a:schemeClr>
                </a:solidFill>
                <a:latin typeface="Arial"/>
              </a:rPr>
              <a:t>        0.000000            10.00000</a:t>
            </a:r>
          </a:p>
          <a:p>
            <a:pPr>
              <a:spcBef>
                <a:spcPts val="561"/>
              </a:spcBef>
            </a:pPr>
            <a:r>
              <a:rPr lang="en-US" sz="2400" spc="-1" dirty="0">
                <a:solidFill>
                  <a:schemeClr val="bg2">
                    <a:lumMod val="25000"/>
                  </a:schemeClr>
                </a:solidFill>
                <a:latin typeface="Arial"/>
              </a:rPr>
              <a:t>   </a:t>
            </a:r>
            <a:r>
              <a:rPr lang="en-US" sz="2400" spc="-1" dirty="0" err="1">
                <a:solidFill>
                  <a:schemeClr val="bg2">
                    <a:lumMod val="25000"/>
                  </a:schemeClr>
                </a:solidFill>
                <a:latin typeface="Arial"/>
              </a:rPr>
              <a:t>X32</a:t>
            </a:r>
            <a:r>
              <a:rPr lang="en-US" sz="2400" spc="-1" dirty="0">
                <a:solidFill>
                  <a:schemeClr val="bg2">
                    <a:lumMod val="25000"/>
                  </a:schemeClr>
                </a:solidFill>
                <a:latin typeface="Arial"/>
              </a:rPr>
              <a:t>        1.000000            0.000000</a:t>
            </a:r>
          </a:p>
          <a:p>
            <a:pPr>
              <a:spcBef>
                <a:spcPts val="561"/>
              </a:spcBef>
            </a:pPr>
            <a:r>
              <a:rPr lang="en-US" sz="2400" spc="-1" dirty="0">
                <a:solidFill>
                  <a:schemeClr val="bg2">
                    <a:lumMod val="25000"/>
                  </a:schemeClr>
                </a:solidFill>
                <a:latin typeface="Arial"/>
              </a:rPr>
              <a:t>   </a:t>
            </a:r>
            <a:r>
              <a:rPr lang="en-US" sz="2400" spc="-1" dirty="0" err="1">
                <a:solidFill>
                  <a:schemeClr val="bg2">
                    <a:lumMod val="25000"/>
                  </a:schemeClr>
                </a:solidFill>
                <a:latin typeface="Arial"/>
              </a:rPr>
              <a:t>X33</a:t>
            </a:r>
            <a:r>
              <a:rPr lang="en-US" sz="2400" spc="-1" dirty="0">
                <a:solidFill>
                  <a:schemeClr val="bg2">
                    <a:lumMod val="25000"/>
                  </a:schemeClr>
                </a:solidFill>
                <a:latin typeface="Arial"/>
              </a:rPr>
              <a:t>        7.000000            0.000000</a:t>
            </a:r>
          </a:p>
          <a:p>
            <a:pPr>
              <a:spcBef>
                <a:spcPts val="561"/>
              </a:spcBef>
            </a:pPr>
            <a:endParaRPr lang="en-US" sz="2400" spc="-1" dirty="0">
              <a:solidFill>
                <a:schemeClr val="bg2">
                  <a:lumMod val="25000"/>
                </a:schemeClr>
              </a:solidFill>
              <a:latin typeface="Arial"/>
            </a:endParaRPr>
          </a:p>
          <a:p>
            <a:pPr>
              <a:spcBef>
                <a:spcPts val="561"/>
              </a:spcBef>
            </a:pPr>
            <a:endParaRPr lang="en-US" sz="2400" spc="-1" dirty="0">
              <a:solidFill>
                <a:schemeClr val="bg2">
                  <a:lumMod val="25000"/>
                </a:schemeClr>
              </a:solidFill>
              <a:latin typeface="Arial"/>
            </a:endParaRPr>
          </a:p>
        </p:txBody>
      </p:sp>
      <p:sp>
        <p:nvSpPr>
          <p:cNvPr id="5" name="TextShape 1">
            <a:extLst>
              <a:ext uri="{FF2B5EF4-FFF2-40B4-BE49-F238E27FC236}">
                <a16:creationId xmlns:a16="http://schemas.microsoft.com/office/drawing/2014/main" id="{CCF6033B-9C76-49D2-893F-4A6432B5B37F}"/>
              </a:ext>
            </a:extLst>
          </p:cNvPr>
          <p:cNvSpPr txBox="1"/>
          <p:nvPr/>
        </p:nvSpPr>
        <p:spPr>
          <a:xfrm>
            <a:off x="6096000" y="260389"/>
            <a:ext cx="6096000" cy="608292"/>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defPPr>
              <a:defRPr lang="es-ES"/>
            </a:defPPr>
            <a:lvl1pPr algn="ctr">
              <a:lnSpc>
                <a:spcPts val="5800"/>
              </a:lnSpc>
              <a:spcBef>
                <a:spcPct val="0"/>
              </a:spcBef>
              <a:defRPr sz="3200">
                <a:solidFill>
                  <a:schemeClr val="bg1"/>
                </a:solidFill>
                <a:effectLst>
                  <a:outerShdw blurRad="63500" dist="38100" dir="5400000" algn="t" rotWithShape="0">
                    <a:prstClr val="black">
                      <a:alpha val="25000"/>
                    </a:prstClr>
                  </a:outerShdw>
                </a:effectLst>
                <a:latin typeface="Bauhaus 93" pitchFamily="82" charset="0"/>
              </a:defRPr>
            </a:lvl1pPr>
          </a:lstStyle>
          <a:p>
            <a:r>
              <a:rPr lang="en-US" dirty="0"/>
              <a:t>Lindo</a:t>
            </a:r>
          </a:p>
        </p:txBody>
      </p:sp>
    </p:spTree>
    <p:extLst>
      <p:ext uri="{BB962C8B-B14F-4D97-AF65-F5344CB8AC3E}">
        <p14:creationId xmlns:p14="http://schemas.microsoft.com/office/powerpoint/2010/main" val="993792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39" name="Table 1"/>
          <p:cNvGraphicFramePr/>
          <p:nvPr/>
        </p:nvGraphicFramePr>
        <p:xfrm>
          <a:off x="1952761" y="1231532"/>
          <a:ext cx="7455607" cy="5640034"/>
        </p:xfrm>
        <a:graphic>
          <a:graphicData uri="http://schemas.openxmlformats.org/drawingml/2006/table">
            <a:tbl>
              <a:tblPr/>
              <a:tblGrid>
                <a:gridCol w="1782044">
                  <a:extLst>
                    <a:ext uri="{9D8B030D-6E8A-4147-A177-3AD203B41FA5}">
                      <a16:colId xmlns:a16="http://schemas.microsoft.com/office/drawing/2014/main" val="20000"/>
                    </a:ext>
                  </a:extLst>
                </a:gridCol>
                <a:gridCol w="712510">
                  <a:extLst>
                    <a:ext uri="{9D8B030D-6E8A-4147-A177-3AD203B41FA5}">
                      <a16:colId xmlns:a16="http://schemas.microsoft.com/office/drawing/2014/main" val="20001"/>
                    </a:ext>
                  </a:extLst>
                </a:gridCol>
                <a:gridCol w="712510">
                  <a:extLst>
                    <a:ext uri="{9D8B030D-6E8A-4147-A177-3AD203B41FA5}">
                      <a16:colId xmlns:a16="http://schemas.microsoft.com/office/drawing/2014/main" val="20002"/>
                    </a:ext>
                  </a:extLst>
                </a:gridCol>
                <a:gridCol w="801670">
                  <a:extLst>
                    <a:ext uri="{9D8B030D-6E8A-4147-A177-3AD203B41FA5}">
                      <a16:colId xmlns:a16="http://schemas.microsoft.com/office/drawing/2014/main" val="20003"/>
                    </a:ext>
                  </a:extLst>
                </a:gridCol>
                <a:gridCol w="1307806">
                  <a:extLst>
                    <a:ext uri="{9D8B030D-6E8A-4147-A177-3AD203B41FA5}">
                      <a16:colId xmlns:a16="http://schemas.microsoft.com/office/drawing/2014/main" val="20004"/>
                    </a:ext>
                  </a:extLst>
                </a:gridCol>
                <a:gridCol w="712510">
                  <a:extLst>
                    <a:ext uri="{9D8B030D-6E8A-4147-A177-3AD203B41FA5}">
                      <a16:colId xmlns:a16="http://schemas.microsoft.com/office/drawing/2014/main" val="20005"/>
                    </a:ext>
                  </a:extLst>
                </a:gridCol>
                <a:gridCol w="712510">
                  <a:extLst>
                    <a:ext uri="{9D8B030D-6E8A-4147-A177-3AD203B41FA5}">
                      <a16:colId xmlns:a16="http://schemas.microsoft.com/office/drawing/2014/main" val="20006"/>
                    </a:ext>
                  </a:extLst>
                </a:gridCol>
                <a:gridCol w="714047">
                  <a:extLst>
                    <a:ext uri="{9D8B030D-6E8A-4147-A177-3AD203B41FA5}">
                      <a16:colId xmlns:a16="http://schemas.microsoft.com/office/drawing/2014/main" val="20007"/>
                    </a:ext>
                  </a:extLst>
                </a:gridCol>
              </a:tblGrid>
              <a:tr h="941057">
                <a:tc>
                  <a:txBody>
                    <a:bodyPr/>
                    <a:lstStyle/>
                    <a:p>
                      <a:pPr algn="ctr">
                        <a:lnSpc>
                          <a:spcPct val="100000"/>
                        </a:lnSpc>
                      </a:pPr>
                      <a:r>
                        <a:rPr lang="es-PE" sz="2800" b="1" strike="noStrike" spc="-12" dirty="0">
                          <a:solidFill>
                            <a:schemeClr val="bg2">
                              <a:lumMod val="25000"/>
                            </a:schemeClr>
                          </a:solidFill>
                          <a:latin typeface="Arial Narrow"/>
                          <a:ea typeface="MS Mincho"/>
                        </a:rPr>
                        <a:t>Áreas</a:t>
                      </a:r>
                      <a:r>
                        <a:rPr lang="es-PE" sz="2800" b="1" strike="noStrike" spc="-12" dirty="0">
                          <a:solidFill>
                            <a:schemeClr val="bg2">
                              <a:lumMod val="25000"/>
                            </a:schemeClr>
                          </a:solidFill>
                          <a:latin typeface="Wingdings"/>
                          <a:ea typeface="MS Mincho"/>
                        </a:rPr>
                        <a:t></a:t>
                      </a:r>
                      <a:endParaRPr lang="es-PE" sz="2800" b="0" strike="noStrike" spc="-1" dirty="0">
                        <a:solidFill>
                          <a:schemeClr val="bg2">
                            <a:lumMod val="25000"/>
                          </a:schemeClr>
                        </a:solidFill>
                        <a:latin typeface="Arial"/>
                      </a:endParaRPr>
                    </a:p>
                    <a:p>
                      <a:pPr algn="ctr">
                        <a:lnSpc>
                          <a:spcPct val="100000"/>
                        </a:lnSpc>
                      </a:pPr>
                      <a:r>
                        <a:rPr lang="es-PE" sz="2800" b="1" strike="noStrike" spc="-12" dirty="0">
                          <a:solidFill>
                            <a:schemeClr val="bg2">
                              <a:lumMod val="25000"/>
                            </a:schemeClr>
                          </a:solidFill>
                          <a:latin typeface="Arial Narrow"/>
                          <a:ea typeface="MS Mincho"/>
                        </a:rPr>
                        <a:t>Refinería</a:t>
                      </a:r>
                      <a:endParaRPr lang="es-PE" sz="28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2">
                          <a:solidFill>
                            <a:schemeClr val="bg2">
                              <a:lumMod val="25000"/>
                            </a:schemeClr>
                          </a:solidFill>
                          <a:latin typeface="Arial Narrow"/>
                          <a:ea typeface="MS Mincho"/>
                        </a:rPr>
                        <a:t>1</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2">
                          <a:solidFill>
                            <a:schemeClr val="bg2">
                              <a:lumMod val="25000"/>
                            </a:schemeClr>
                          </a:solidFill>
                          <a:latin typeface="Arial Narrow"/>
                          <a:ea typeface="MS Mincho"/>
                        </a:rPr>
                        <a:t>2</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2">
                          <a:solidFill>
                            <a:schemeClr val="bg2">
                              <a:lumMod val="25000"/>
                            </a:schemeClr>
                          </a:solidFill>
                          <a:latin typeface="Arial Narrow"/>
                          <a:ea typeface="MS Mincho"/>
                        </a:rPr>
                        <a:t>3</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2">
                          <a:solidFill>
                            <a:schemeClr val="bg2">
                              <a:lumMod val="25000"/>
                            </a:schemeClr>
                          </a:solidFill>
                          <a:latin typeface="Arial Narrow"/>
                          <a:ea typeface="MS Mincho"/>
                        </a:rPr>
                        <a:t>oferta</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2">
                          <a:solidFill>
                            <a:schemeClr val="bg2">
                              <a:lumMod val="25000"/>
                            </a:schemeClr>
                          </a:solidFill>
                          <a:latin typeface="Arial Narrow"/>
                          <a:ea typeface="MS Mincho"/>
                        </a:rPr>
                        <a:t>P1</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565006">
                <a:tc>
                  <a:txBody>
                    <a:bodyPr/>
                    <a:lstStyle/>
                    <a:p>
                      <a:pPr algn="ctr">
                        <a:lnSpc>
                          <a:spcPct val="100000"/>
                        </a:lnSpc>
                      </a:pPr>
                      <a:r>
                        <a:rPr lang="es-PE" sz="2800" b="1" strike="noStrike" spc="-1" dirty="0">
                          <a:solidFill>
                            <a:schemeClr val="bg2">
                              <a:lumMod val="25000"/>
                            </a:schemeClr>
                          </a:solidFill>
                          <a:latin typeface="Arial Narrow"/>
                          <a:ea typeface="MS Mincho"/>
                        </a:rPr>
                        <a:t>1</a:t>
                      </a:r>
                      <a:endParaRPr lang="es-PE" sz="28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0" strike="noStrike" spc="-1" dirty="0">
                          <a:solidFill>
                            <a:schemeClr val="bg2">
                              <a:lumMod val="25000"/>
                            </a:schemeClr>
                          </a:solidFill>
                          <a:latin typeface="Arial Narrow"/>
                          <a:ea typeface="Times New Roman"/>
                        </a:rPr>
                        <a:t>120</a:t>
                      </a:r>
                      <a:endParaRPr lang="es-PE" sz="2800" b="0" strike="noStrike" spc="-1" dirty="0">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100000"/>
                        </a:lnSpc>
                      </a:pPr>
                      <a:r>
                        <a:rPr lang="es-PE" sz="2800" b="0" strike="noStrike" spc="-1" dirty="0">
                          <a:solidFill>
                            <a:schemeClr val="bg2">
                              <a:lumMod val="25000"/>
                            </a:schemeClr>
                          </a:solidFill>
                          <a:latin typeface="Arial Narrow"/>
                          <a:ea typeface="Times New Roman"/>
                        </a:rPr>
                        <a:t>180</a:t>
                      </a:r>
                      <a:endParaRPr lang="es-PE" sz="2800" b="0" strike="noStrike" spc="-1" dirty="0">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chemeClr val="accent2">
                        <a:lumMod val="20000"/>
                        <a:lumOff val="80000"/>
                      </a:schemeClr>
                    </a:solidFill>
                  </a:tcPr>
                </a:tc>
                <a:tc>
                  <a:txBody>
                    <a:bodyPr/>
                    <a:lstStyle/>
                    <a:p>
                      <a:pPr algn="ctr">
                        <a:lnSpc>
                          <a:spcPct val="100000"/>
                        </a:lnSpc>
                      </a:pPr>
                      <a:r>
                        <a:rPr lang="es-PE" sz="2800" b="0" strike="noStrike" spc="-1" dirty="0">
                          <a:solidFill>
                            <a:schemeClr val="bg2">
                              <a:lumMod val="25000"/>
                            </a:schemeClr>
                          </a:solidFill>
                          <a:latin typeface="Arial Narrow"/>
                          <a:ea typeface="Times New Roman"/>
                        </a:rPr>
                        <a:t>--</a:t>
                      </a:r>
                      <a:endParaRPr lang="es-PE" sz="2800" b="0" strike="noStrike" spc="-1" dirty="0">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100000"/>
                        </a:lnSpc>
                      </a:pPr>
                      <a:r>
                        <a:rPr lang="es-PE" sz="2800" b="1" strike="noStrike" spc="-1">
                          <a:solidFill>
                            <a:schemeClr val="bg2">
                              <a:lumMod val="25000"/>
                            </a:schemeClr>
                          </a:solidFill>
                          <a:latin typeface="Arial Narrow"/>
                        </a:rPr>
                        <a:t>6</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 dirty="0">
                          <a:solidFill>
                            <a:srgbClr val="FF0000"/>
                          </a:solidFill>
                          <a:latin typeface="Arial Narrow"/>
                          <a:ea typeface="MS Mincho"/>
                        </a:rPr>
                        <a:t>60</a:t>
                      </a:r>
                      <a:endParaRPr lang="es-PE" sz="28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941057">
                <a:tc>
                  <a:txBody>
                    <a:bodyPr/>
                    <a:lstStyle/>
                    <a:p>
                      <a:pPr algn="ctr">
                        <a:lnSpc>
                          <a:spcPct val="100000"/>
                        </a:lnSpc>
                      </a:pPr>
                      <a:r>
                        <a:rPr lang="es-PE" sz="2800" b="1" strike="noStrike" spc="-12" dirty="0">
                          <a:solidFill>
                            <a:schemeClr val="bg2">
                              <a:lumMod val="25000"/>
                            </a:schemeClr>
                          </a:solidFill>
                          <a:latin typeface="Arial Narrow"/>
                          <a:ea typeface="MS Mincho"/>
                        </a:rPr>
                        <a:t>2</a:t>
                      </a:r>
                      <a:endParaRPr lang="es-PE" sz="28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0" strike="noStrike" spc="-1">
                          <a:solidFill>
                            <a:schemeClr val="bg2">
                              <a:lumMod val="25000"/>
                            </a:schemeClr>
                          </a:solidFill>
                          <a:latin typeface="Arial Narrow"/>
                          <a:ea typeface="Times New Roman"/>
                        </a:rPr>
                        <a:t>300</a:t>
                      </a:r>
                      <a:endParaRPr lang="es-PE" sz="2800" b="0" strike="noStrike" spc="-1">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100000"/>
                        </a:lnSpc>
                      </a:pPr>
                      <a:r>
                        <a:rPr lang="es-PE" sz="2800" b="0" strike="noStrike" spc="-1">
                          <a:solidFill>
                            <a:schemeClr val="bg2">
                              <a:lumMod val="25000"/>
                            </a:schemeClr>
                          </a:solidFill>
                          <a:latin typeface="Arial Narrow"/>
                          <a:ea typeface="Times New Roman"/>
                        </a:rPr>
                        <a:t>100</a:t>
                      </a:r>
                      <a:endParaRPr lang="es-PE" sz="2800" b="0" strike="noStrike" spc="-1">
                        <a:solidFill>
                          <a:schemeClr val="bg2">
                            <a:lumMod val="25000"/>
                          </a:schemeClr>
                        </a:solidFill>
                        <a:latin typeface="Arial"/>
                      </a:endParaRPr>
                    </a:p>
                    <a:p>
                      <a:pPr algn="ctr">
                        <a:lnSpc>
                          <a:spcPct val="100000"/>
                        </a:lnSpc>
                      </a:pPr>
                      <a:r>
                        <a:rPr lang="es-PE" sz="2800" b="0" strike="noStrike" spc="-1">
                          <a:solidFill>
                            <a:schemeClr val="bg2">
                              <a:lumMod val="25000"/>
                            </a:schemeClr>
                          </a:solidFill>
                          <a:latin typeface="Arial Narrow"/>
                          <a:ea typeface="Times New Roman"/>
                        </a:rPr>
                        <a:t>*</a:t>
                      </a:r>
                      <a:endParaRPr lang="es-PE" sz="2800" b="0" strike="noStrike" spc="-1">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chemeClr val="accent2">
                        <a:lumMod val="20000"/>
                        <a:lumOff val="80000"/>
                      </a:schemeClr>
                    </a:solidFill>
                  </a:tcPr>
                </a:tc>
                <a:tc>
                  <a:txBody>
                    <a:bodyPr/>
                    <a:lstStyle/>
                    <a:p>
                      <a:pPr algn="ctr">
                        <a:lnSpc>
                          <a:spcPct val="100000"/>
                        </a:lnSpc>
                      </a:pPr>
                      <a:r>
                        <a:rPr lang="es-PE" sz="2800" b="0" strike="noStrike" spc="-1" dirty="0">
                          <a:solidFill>
                            <a:schemeClr val="bg2">
                              <a:lumMod val="25000"/>
                            </a:schemeClr>
                          </a:solidFill>
                          <a:latin typeface="Arial Narrow"/>
                          <a:ea typeface="Times New Roman"/>
                        </a:rPr>
                        <a:t>80</a:t>
                      </a:r>
                      <a:endParaRPr lang="es-PE" sz="2800" b="0" strike="noStrike" spc="-1" dirty="0">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100000"/>
                        </a:lnSpc>
                      </a:pPr>
                      <a:r>
                        <a:rPr lang="es-PE" sz="2800" b="1" strike="noStrike" spc="-1" dirty="0">
                          <a:solidFill>
                            <a:schemeClr val="bg2">
                              <a:lumMod val="25000"/>
                            </a:schemeClr>
                          </a:solidFill>
                          <a:latin typeface="Arial Narrow"/>
                        </a:rPr>
                        <a:t>5/0</a:t>
                      </a:r>
                      <a:endParaRPr lang="es-PE" sz="28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gn="ctr">
                        <a:lnSpc>
                          <a:spcPct val="100000"/>
                        </a:lnSpc>
                      </a:pPr>
                      <a:r>
                        <a:rPr lang="es-PE" sz="2800" b="1" strike="noStrike" spc="-1" dirty="0">
                          <a:solidFill>
                            <a:srgbClr val="FF0000"/>
                          </a:solidFill>
                          <a:latin typeface="Arial Narrow"/>
                          <a:ea typeface="MS Mincho"/>
                        </a:rPr>
                        <a:t>20</a:t>
                      </a:r>
                      <a:endParaRPr lang="es-PE" sz="28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endParaRPr lang="en-US">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endParaRPr lang="en-US">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extLst>
                  <a:ext uri="{0D108BD9-81ED-4DB2-BD59-A6C34878D82A}">
                    <a16:rowId xmlns:a16="http://schemas.microsoft.com/office/drawing/2014/main" val="10002"/>
                  </a:ext>
                </a:extLst>
              </a:tr>
              <a:tr h="748113">
                <a:tc>
                  <a:txBody>
                    <a:bodyPr/>
                    <a:lstStyle/>
                    <a:p>
                      <a:pPr algn="ctr">
                        <a:lnSpc>
                          <a:spcPct val="100000"/>
                        </a:lnSpc>
                      </a:pPr>
                      <a:r>
                        <a:rPr lang="es-PE" sz="2800" b="1" strike="noStrike" spc="-1">
                          <a:solidFill>
                            <a:schemeClr val="bg2">
                              <a:lumMod val="25000"/>
                            </a:schemeClr>
                          </a:solidFill>
                          <a:latin typeface="Arial Narrow"/>
                          <a:ea typeface="MS Mincho"/>
                        </a:rPr>
                        <a:t>3</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0" strike="noStrike" spc="-1">
                          <a:solidFill>
                            <a:schemeClr val="bg2">
                              <a:lumMod val="25000"/>
                            </a:schemeClr>
                          </a:solidFill>
                          <a:latin typeface="Arial Narrow"/>
                          <a:ea typeface="Times New Roman"/>
                        </a:rPr>
                        <a:t>200</a:t>
                      </a:r>
                      <a:endParaRPr lang="es-PE" sz="2800" b="0" strike="noStrike" spc="-1">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100000"/>
                        </a:lnSpc>
                      </a:pPr>
                      <a:r>
                        <a:rPr lang="es-PE" sz="2800" b="0" strike="noStrike" spc="-1" dirty="0">
                          <a:solidFill>
                            <a:schemeClr val="bg2">
                              <a:lumMod val="25000"/>
                            </a:schemeClr>
                          </a:solidFill>
                          <a:latin typeface="Arial Narrow"/>
                          <a:ea typeface="Times New Roman"/>
                        </a:rPr>
                        <a:t>250</a:t>
                      </a:r>
                      <a:endParaRPr lang="es-PE" sz="2800" b="0" strike="noStrike" spc="-1" dirty="0">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chemeClr val="accent2">
                        <a:lumMod val="20000"/>
                        <a:lumOff val="80000"/>
                      </a:schemeClr>
                    </a:solidFill>
                  </a:tcPr>
                </a:tc>
                <a:tc>
                  <a:txBody>
                    <a:bodyPr/>
                    <a:lstStyle/>
                    <a:p>
                      <a:pPr algn="ctr">
                        <a:lnSpc>
                          <a:spcPct val="100000"/>
                        </a:lnSpc>
                      </a:pPr>
                      <a:r>
                        <a:rPr lang="es-PE" sz="2800" b="0" strike="noStrike" spc="-1" dirty="0">
                          <a:solidFill>
                            <a:schemeClr val="bg2">
                              <a:lumMod val="25000"/>
                            </a:schemeClr>
                          </a:solidFill>
                          <a:latin typeface="Arial Narrow"/>
                          <a:ea typeface="Times New Roman"/>
                        </a:rPr>
                        <a:t>120</a:t>
                      </a:r>
                      <a:endParaRPr lang="es-PE" sz="2800" b="0" strike="noStrike" spc="-1" dirty="0">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100000"/>
                        </a:lnSpc>
                      </a:pPr>
                      <a:r>
                        <a:rPr lang="es-PE" sz="2800" b="1" strike="noStrike" spc="-1">
                          <a:solidFill>
                            <a:schemeClr val="bg2">
                              <a:lumMod val="25000"/>
                            </a:schemeClr>
                          </a:solidFill>
                          <a:latin typeface="Arial Narrow"/>
                        </a:rPr>
                        <a:t>8</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tc>
                  <a:txBody>
                    <a:bodyPr/>
                    <a:lstStyle/>
                    <a:p>
                      <a:pPr algn="ctr">
                        <a:lnSpc>
                          <a:spcPct val="100000"/>
                        </a:lnSpc>
                      </a:pPr>
                      <a:r>
                        <a:rPr lang="es-PE" sz="2800" b="1" strike="noStrike" spc="-1" dirty="0">
                          <a:solidFill>
                            <a:srgbClr val="FF0000"/>
                          </a:solidFill>
                          <a:latin typeface="Arial Narrow"/>
                          <a:ea typeface="MS Mincho"/>
                        </a:rPr>
                        <a:t>80</a:t>
                      </a:r>
                      <a:endParaRPr lang="es-PE" sz="28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tc>
                  <a:txBody>
                    <a:bodyPr/>
                    <a:lstStyle/>
                    <a:p>
                      <a:endParaRPr lang="en-US">
                        <a:solidFill>
                          <a:schemeClr val="bg2">
                            <a:lumMod val="25000"/>
                          </a:schemeClr>
                        </a:solidFil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tc>
                  <a:txBody>
                    <a:bodyPr/>
                    <a:lstStyle/>
                    <a:p>
                      <a:endParaRPr lang="en-US">
                        <a:solidFill>
                          <a:schemeClr val="bg2">
                            <a:lumMod val="25000"/>
                          </a:schemeClr>
                        </a:solidFil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extLst>
                  <a:ext uri="{0D108BD9-81ED-4DB2-BD59-A6C34878D82A}">
                    <a16:rowId xmlns:a16="http://schemas.microsoft.com/office/drawing/2014/main" val="10003"/>
                  </a:ext>
                </a:extLst>
              </a:tr>
              <a:tr h="941057">
                <a:tc>
                  <a:txBody>
                    <a:bodyPr/>
                    <a:lstStyle/>
                    <a:p>
                      <a:pPr algn="ctr">
                        <a:lnSpc>
                          <a:spcPct val="100000"/>
                        </a:lnSpc>
                      </a:pPr>
                      <a:r>
                        <a:rPr lang="es-PE" sz="2800" b="1" strike="noStrike" spc="-12" dirty="0">
                          <a:solidFill>
                            <a:schemeClr val="bg2">
                              <a:lumMod val="25000"/>
                            </a:schemeClr>
                          </a:solidFill>
                          <a:latin typeface="Arial Narrow"/>
                          <a:ea typeface="MS Mincho"/>
                        </a:rPr>
                        <a:t>Demanda</a:t>
                      </a:r>
                      <a:endParaRPr lang="es-PE" sz="28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 dirty="0">
                          <a:solidFill>
                            <a:schemeClr val="bg2">
                              <a:lumMod val="25000"/>
                            </a:schemeClr>
                          </a:solidFill>
                          <a:latin typeface="Arial Narrow"/>
                        </a:rPr>
                        <a:t>4</a:t>
                      </a:r>
                      <a:endParaRPr lang="es-PE" sz="28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 dirty="0">
                          <a:solidFill>
                            <a:schemeClr val="bg2">
                              <a:lumMod val="25000"/>
                            </a:schemeClr>
                          </a:solidFill>
                          <a:latin typeface="Arial Narrow"/>
                        </a:rPr>
                        <a:t>8/3</a:t>
                      </a:r>
                      <a:endParaRPr lang="es-PE" sz="28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 dirty="0">
                          <a:solidFill>
                            <a:schemeClr val="bg2">
                              <a:lumMod val="25000"/>
                            </a:schemeClr>
                          </a:solidFill>
                          <a:latin typeface="Arial Narrow"/>
                        </a:rPr>
                        <a:t>7</a:t>
                      </a:r>
                      <a:endParaRPr lang="es-PE" sz="2800" b="0" strike="noStrike" spc="-1" dirty="0">
                        <a:solidFill>
                          <a:schemeClr val="bg2">
                            <a:lumMod val="25000"/>
                          </a:schemeClr>
                        </a:solidFill>
                        <a:latin typeface="Arial"/>
                      </a:endParaRPr>
                    </a:p>
                    <a:p>
                      <a:pPr algn="ctr">
                        <a:lnSpc>
                          <a:spcPct val="100000"/>
                        </a:lnSpc>
                      </a:pPr>
                      <a:endParaRPr lang="es-PE" sz="28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marL="44280" marR="44280">
                    <a:lnL w="12240">
                      <a:solidFill>
                        <a:srgbClr val="000000"/>
                      </a:solidFill>
                    </a:lnL>
                    <a:lnR w="12240">
                      <a:noFill/>
                    </a:lnR>
                    <a:lnT w="12240">
                      <a:solidFill>
                        <a:srgbClr val="1D528D"/>
                      </a:solidFill>
                    </a:lnT>
                    <a:lnB w="12240">
                      <a:noFill/>
                    </a:lnB>
                    <a:noFill/>
                  </a:tcPr>
                </a:tc>
                <a:tc>
                  <a:txBody>
                    <a:bodyPr/>
                    <a:lstStyle/>
                    <a:p>
                      <a:endParaRPr lang="en-US">
                        <a:solidFill>
                          <a:schemeClr val="bg2">
                            <a:lumMod val="25000"/>
                          </a:schemeClr>
                        </a:solidFill>
                      </a:endParaRPr>
                    </a:p>
                  </a:txBody>
                  <a:tcPr marL="44280" marR="44280">
                    <a:lnL w="12240">
                      <a:noFill/>
                    </a:lnL>
                    <a:lnR w="12240">
                      <a:noFill/>
                    </a:lnR>
                    <a:lnT w="12240">
                      <a:solidFill>
                        <a:srgbClr val="1D528D"/>
                      </a:solidFill>
                    </a:lnT>
                    <a:lnB w="12240">
                      <a:noFill/>
                    </a:lnB>
                    <a:noFill/>
                  </a:tcPr>
                </a:tc>
                <a:tc>
                  <a:txBody>
                    <a:bodyPr/>
                    <a:lstStyle/>
                    <a:p>
                      <a:endParaRPr lang="en-US">
                        <a:solidFill>
                          <a:schemeClr val="bg2">
                            <a:lumMod val="25000"/>
                          </a:schemeClr>
                        </a:solidFill>
                      </a:endParaRPr>
                    </a:p>
                  </a:txBody>
                  <a:tcPr marL="44280" marR="44280">
                    <a:lnL w="12240">
                      <a:noFill/>
                    </a:lnL>
                    <a:lnR w="12240">
                      <a:noFill/>
                    </a:lnR>
                    <a:lnT w="12240">
                      <a:solidFill>
                        <a:srgbClr val="1D528D"/>
                      </a:solidFill>
                    </a:lnT>
                    <a:lnB w="12240">
                      <a:noFill/>
                    </a:lnB>
                    <a:noFill/>
                  </a:tcPr>
                </a:tc>
                <a:tc>
                  <a:txBody>
                    <a:bodyPr/>
                    <a:lstStyle/>
                    <a:p>
                      <a:endParaRPr lang="en-US">
                        <a:solidFill>
                          <a:schemeClr val="bg2">
                            <a:lumMod val="25000"/>
                          </a:schemeClr>
                        </a:solidFill>
                      </a:endParaRPr>
                    </a:p>
                  </a:txBody>
                  <a:tcPr marL="44280" marR="44280">
                    <a:lnL w="12240">
                      <a:noFill/>
                    </a:lnL>
                    <a:lnR w="12240">
                      <a:noFill/>
                    </a:lnR>
                    <a:lnT w="12240">
                      <a:solidFill>
                        <a:srgbClr val="1D528D"/>
                      </a:solidFill>
                    </a:lnT>
                    <a:lnB w="12240">
                      <a:noFill/>
                    </a:lnB>
                    <a:noFill/>
                  </a:tcPr>
                </a:tc>
                <a:extLst>
                  <a:ext uri="{0D108BD9-81ED-4DB2-BD59-A6C34878D82A}">
                    <a16:rowId xmlns:a16="http://schemas.microsoft.com/office/drawing/2014/main" val="10004"/>
                  </a:ext>
                </a:extLst>
              </a:tr>
              <a:tr h="516063">
                <a:tc>
                  <a:txBody>
                    <a:bodyPr/>
                    <a:lstStyle/>
                    <a:p>
                      <a:pPr algn="ctr">
                        <a:lnSpc>
                          <a:spcPct val="100000"/>
                        </a:lnSpc>
                      </a:pPr>
                      <a:r>
                        <a:rPr lang="es-PE" sz="2800" b="1" strike="noStrike" spc="-1">
                          <a:solidFill>
                            <a:schemeClr val="bg2">
                              <a:lumMod val="25000"/>
                            </a:schemeClr>
                          </a:solidFill>
                          <a:latin typeface="Arial Narrow"/>
                          <a:ea typeface="MS Mincho"/>
                        </a:rPr>
                        <a:t>P1</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 dirty="0">
                          <a:solidFill>
                            <a:srgbClr val="FF0000"/>
                          </a:solidFill>
                          <a:latin typeface="Arial Narrow"/>
                          <a:ea typeface="MS Mincho"/>
                        </a:rPr>
                        <a:t>80</a:t>
                      </a:r>
                      <a:endParaRPr lang="es-PE" sz="28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 dirty="0">
                          <a:solidFill>
                            <a:srgbClr val="FF0000"/>
                          </a:solidFill>
                          <a:latin typeface="Arial Narrow"/>
                          <a:ea typeface="MS Mincho"/>
                        </a:rPr>
                        <a:t>80</a:t>
                      </a:r>
                      <a:endParaRPr lang="es-PE" sz="28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 dirty="0">
                          <a:solidFill>
                            <a:srgbClr val="FF0000"/>
                          </a:solidFill>
                          <a:latin typeface="Arial Narrow"/>
                          <a:ea typeface="MS Mincho"/>
                        </a:rPr>
                        <a:t>40</a:t>
                      </a:r>
                      <a:endParaRPr lang="es-PE" sz="28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marL="44280" marR="44280">
                    <a:lnL w="12240">
                      <a:solidFill>
                        <a:srgbClr val="000000"/>
                      </a:solidFill>
                    </a:lnL>
                    <a:lnR w="12240">
                      <a:noFill/>
                    </a:lnR>
                    <a:lnT w="12240">
                      <a:noFill/>
                    </a:lnT>
                    <a:lnB w="12240">
                      <a:noFill/>
                    </a:lnB>
                    <a:noFill/>
                  </a:tcPr>
                </a:tc>
                <a:tc>
                  <a:txBody>
                    <a:bodyPr/>
                    <a:lstStyle/>
                    <a:p>
                      <a:endParaRPr lang="en-US">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a:solidFill>
                          <a:schemeClr val="bg2">
                            <a:lumMod val="25000"/>
                          </a:schemeClr>
                        </a:solidFill>
                      </a:endParaRPr>
                    </a:p>
                  </a:txBody>
                  <a:tcPr marL="44280" marR="44280">
                    <a:lnL w="12240">
                      <a:noFill/>
                    </a:lnL>
                    <a:lnR w="12240">
                      <a:noFill/>
                    </a:lnR>
                    <a:lnT w="12240">
                      <a:noFill/>
                    </a:lnT>
                    <a:lnB w="12240">
                      <a:noFill/>
                    </a:lnB>
                    <a:noFill/>
                  </a:tcPr>
                </a:tc>
                <a:extLst>
                  <a:ext uri="{0D108BD9-81ED-4DB2-BD59-A6C34878D82A}">
                    <a16:rowId xmlns:a16="http://schemas.microsoft.com/office/drawing/2014/main" val="10005"/>
                  </a:ext>
                </a:extLst>
              </a:tr>
              <a:tr h="486577">
                <a:tc>
                  <a:txBody>
                    <a:bodyPr/>
                    <a:lstStyle/>
                    <a:p>
                      <a:endParaRPr lang="en-US">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marL="44280" marR="44280">
                    <a:lnL w="12240">
                      <a:solidFill>
                        <a:srgbClr val="000000"/>
                      </a:solidFill>
                    </a:lnL>
                    <a:lnR w="12240">
                      <a:noFill/>
                    </a:lnR>
                    <a:lnT w="12240">
                      <a:noFill/>
                    </a:lnT>
                    <a:lnB w="12240">
                      <a:noFill/>
                    </a:lnB>
                    <a:noFill/>
                  </a:tcPr>
                </a:tc>
                <a:tc>
                  <a:txBody>
                    <a:bodyPr/>
                    <a:lstStyle/>
                    <a:p>
                      <a:endParaRPr lang="en-US">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dirty="0">
                        <a:solidFill>
                          <a:schemeClr val="bg2">
                            <a:lumMod val="25000"/>
                          </a:schemeClr>
                        </a:solidFill>
                      </a:endParaRPr>
                    </a:p>
                  </a:txBody>
                  <a:tcPr marL="44280" marR="44280">
                    <a:lnL w="12240">
                      <a:noFill/>
                    </a:lnL>
                    <a:lnR w="12240">
                      <a:noFill/>
                    </a:lnR>
                    <a:lnT w="12240">
                      <a:noFill/>
                    </a:lnT>
                    <a:lnB w="12240">
                      <a:noFill/>
                    </a:lnB>
                    <a:noFill/>
                  </a:tcPr>
                </a:tc>
                <a:extLst>
                  <a:ext uri="{0D108BD9-81ED-4DB2-BD59-A6C34878D82A}">
                    <a16:rowId xmlns:a16="http://schemas.microsoft.com/office/drawing/2014/main" val="10006"/>
                  </a:ext>
                </a:extLst>
              </a:tr>
              <a:tr h="487538">
                <a:tc>
                  <a:txBody>
                    <a:bodyPr/>
                    <a:lstStyle/>
                    <a:p>
                      <a:endParaRPr lang="en-US">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dirty="0">
                        <a:solidFill>
                          <a:schemeClr val="bg2">
                            <a:lumMod val="25000"/>
                          </a:schemeClr>
                        </a:solidFill>
                      </a:endParaRPr>
                    </a:p>
                  </a:txBody>
                  <a:tcPr marL="44280" marR="44280">
                    <a:lnL w="12240">
                      <a:solidFill>
                        <a:srgbClr val="000000"/>
                      </a:solidFill>
                    </a:lnL>
                    <a:lnR w="12240">
                      <a:noFill/>
                    </a:lnR>
                    <a:lnT w="12240">
                      <a:noFill/>
                    </a:lnT>
                    <a:lnB w="12240">
                      <a:noFill/>
                    </a:lnB>
                    <a:noFill/>
                  </a:tcPr>
                </a:tc>
                <a:tc>
                  <a:txBody>
                    <a:bodyPr/>
                    <a:lstStyle/>
                    <a:p>
                      <a:endParaRPr lang="en-US">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dirty="0">
                        <a:solidFill>
                          <a:schemeClr val="bg2">
                            <a:lumMod val="25000"/>
                          </a:schemeClr>
                        </a:solidFill>
                      </a:endParaRPr>
                    </a:p>
                  </a:txBody>
                  <a:tcPr marL="44280" marR="44280">
                    <a:lnL w="12240">
                      <a:noFill/>
                    </a:lnL>
                    <a:lnR w="12240">
                      <a:noFill/>
                    </a:lnR>
                    <a:lnT w="12240">
                      <a:noFill/>
                    </a:lnT>
                    <a:lnB w="12240">
                      <a:noFill/>
                    </a:lnB>
                    <a:noFill/>
                  </a:tcPr>
                </a:tc>
                <a:extLst>
                  <a:ext uri="{0D108BD9-81ED-4DB2-BD59-A6C34878D82A}">
                    <a16:rowId xmlns:a16="http://schemas.microsoft.com/office/drawing/2014/main" val="10007"/>
                  </a:ext>
                </a:extLst>
              </a:tr>
            </a:tbl>
          </a:graphicData>
        </a:graphic>
      </p:graphicFrame>
      <p:sp>
        <p:nvSpPr>
          <p:cNvPr id="1140" name="CustomShape 2"/>
          <p:cNvSpPr/>
          <p:nvPr/>
        </p:nvSpPr>
        <p:spPr>
          <a:xfrm>
            <a:off x="1524000" y="0"/>
            <a:ext cx="9143640" cy="45684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2" name="1 Diagrama"/>
          <p:cNvGraphicFramePr/>
          <p:nvPr/>
        </p:nvGraphicFramePr>
        <p:xfrm>
          <a:off x="6167280" y="4929120"/>
          <a:ext cx="3857400" cy="571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uadroTexto 4">
            <a:extLst>
              <a:ext uri="{FF2B5EF4-FFF2-40B4-BE49-F238E27FC236}">
                <a16:creationId xmlns:a16="http://schemas.microsoft.com/office/drawing/2014/main" id="{D29B6429-38F7-48B3-A087-E083DE3CD558}"/>
              </a:ext>
            </a:extLst>
          </p:cNvPr>
          <p:cNvSpPr txBox="1"/>
          <p:nvPr/>
        </p:nvSpPr>
        <p:spPr>
          <a:xfrm>
            <a:off x="258793" y="2191109"/>
            <a:ext cx="1380226" cy="646331"/>
          </a:xfrm>
          <a:prstGeom prst="rect">
            <a:avLst/>
          </a:prstGeom>
          <a:solidFill>
            <a:srgbClr val="FFFF00"/>
          </a:solidFill>
        </p:spPr>
        <p:txBody>
          <a:bodyPr wrap="square" rtlCol="0">
            <a:spAutoFit/>
          </a:bodyPr>
          <a:lstStyle/>
          <a:p>
            <a:r>
              <a:rPr lang="es-ES" b="1" dirty="0"/>
              <a:t>Hallamos las penalidades</a:t>
            </a:r>
          </a:p>
        </p:txBody>
      </p:sp>
      <p:sp>
        <p:nvSpPr>
          <p:cNvPr id="6" name="Rectángulo 5">
            <a:extLst>
              <a:ext uri="{FF2B5EF4-FFF2-40B4-BE49-F238E27FC236}">
                <a16:creationId xmlns:a16="http://schemas.microsoft.com/office/drawing/2014/main" id="{7164BF36-8C33-4EE3-A11A-19F3371C61A6}"/>
              </a:ext>
            </a:extLst>
          </p:cNvPr>
          <p:cNvSpPr/>
          <p:nvPr/>
        </p:nvSpPr>
        <p:spPr>
          <a:xfrm>
            <a:off x="258136" y="3054556"/>
            <a:ext cx="1372258" cy="923330"/>
          </a:xfrm>
          <a:prstGeom prst="rect">
            <a:avLst/>
          </a:prstGeom>
          <a:solidFill>
            <a:srgbClr val="FFFF00"/>
          </a:solidFill>
        </p:spPr>
        <p:txBody>
          <a:bodyPr wrap="square">
            <a:spAutoFit/>
          </a:bodyPr>
          <a:lstStyle/>
          <a:p>
            <a:r>
              <a:rPr lang="es-ES" b="1" dirty="0"/>
              <a:t>Hallamos la mayor penalidad</a:t>
            </a:r>
            <a:endParaRPr lang="es-PE" b="1" dirty="0"/>
          </a:p>
        </p:txBody>
      </p:sp>
      <p:sp>
        <p:nvSpPr>
          <p:cNvPr id="7" name="CuadroTexto 6">
            <a:extLst>
              <a:ext uri="{FF2B5EF4-FFF2-40B4-BE49-F238E27FC236}">
                <a16:creationId xmlns:a16="http://schemas.microsoft.com/office/drawing/2014/main" id="{0BFFAD55-5C8D-4374-960C-3D6BD29AA796}"/>
              </a:ext>
            </a:extLst>
          </p:cNvPr>
          <p:cNvSpPr txBox="1"/>
          <p:nvPr/>
        </p:nvSpPr>
        <p:spPr>
          <a:xfrm>
            <a:off x="264551" y="4198193"/>
            <a:ext cx="1380226" cy="646331"/>
          </a:xfrm>
          <a:prstGeom prst="rect">
            <a:avLst/>
          </a:prstGeom>
          <a:solidFill>
            <a:srgbClr val="FFFF00"/>
          </a:solidFill>
        </p:spPr>
        <p:txBody>
          <a:bodyPr wrap="square" rtlCol="0">
            <a:spAutoFit/>
          </a:bodyPr>
          <a:lstStyle/>
          <a:p>
            <a:r>
              <a:rPr lang="es-ES" b="1" dirty="0"/>
              <a:t>Hallamos el menor costo</a:t>
            </a:r>
          </a:p>
        </p:txBody>
      </p:sp>
      <p:sp>
        <p:nvSpPr>
          <p:cNvPr id="8" name="CuadroTexto 7">
            <a:extLst>
              <a:ext uri="{FF2B5EF4-FFF2-40B4-BE49-F238E27FC236}">
                <a16:creationId xmlns:a16="http://schemas.microsoft.com/office/drawing/2014/main" id="{963B36E5-0080-46C1-BC59-6FEBC6E62384}"/>
              </a:ext>
            </a:extLst>
          </p:cNvPr>
          <p:cNvSpPr txBox="1"/>
          <p:nvPr/>
        </p:nvSpPr>
        <p:spPr>
          <a:xfrm>
            <a:off x="264551" y="5086705"/>
            <a:ext cx="1380226" cy="646331"/>
          </a:xfrm>
          <a:prstGeom prst="rect">
            <a:avLst/>
          </a:prstGeom>
          <a:solidFill>
            <a:srgbClr val="FFFF00"/>
          </a:solidFill>
        </p:spPr>
        <p:txBody>
          <a:bodyPr wrap="square" rtlCol="0">
            <a:spAutoFit/>
          </a:bodyPr>
          <a:lstStyle/>
          <a:p>
            <a:r>
              <a:rPr lang="es-ES" b="1" dirty="0"/>
              <a:t>Anotamos la operación</a:t>
            </a:r>
          </a:p>
        </p:txBody>
      </p:sp>
      <p:sp>
        <p:nvSpPr>
          <p:cNvPr id="9" name="Globo: flecha hacia abajo 8">
            <a:extLst>
              <a:ext uri="{FF2B5EF4-FFF2-40B4-BE49-F238E27FC236}">
                <a16:creationId xmlns:a16="http://schemas.microsoft.com/office/drawing/2014/main" id="{56490D59-D014-4F5C-A616-0016CF880FBD}"/>
              </a:ext>
            </a:extLst>
          </p:cNvPr>
          <p:cNvSpPr/>
          <p:nvPr/>
        </p:nvSpPr>
        <p:spPr>
          <a:xfrm>
            <a:off x="276044" y="1276709"/>
            <a:ext cx="1345721" cy="897148"/>
          </a:xfrm>
          <a:prstGeom prst="downArrowCallou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rgbClr val="FF0000"/>
                </a:solidFill>
              </a:rPr>
              <a:t>Pasos:</a:t>
            </a:r>
            <a:endParaRPr lang="es-PE" sz="2400" dirty="0">
              <a:solidFill>
                <a:srgbClr val="FF0000"/>
              </a:solidFill>
            </a:endParaRPr>
          </a:p>
        </p:txBody>
      </p:sp>
    </p:spTree>
    <p:extLst>
      <p:ext uri="{BB962C8B-B14F-4D97-AF65-F5344CB8AC3E}">
        <p14:creationId xmlns:p14="http://schemas.microsoft.com/office/powerpoint/2010/main" val="1492017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42" name="Table 1"/>
          <p:cNvGraphicFramePr/>
          <p:nvPr/>
        </p:nvGraphicFramePr>
        <p:xfrm>
          <a:off x="1952760" y="1231532"/>
          <a:ext cx="7599600" cy="5478146"/>
        </p:xfrm>
        <a:graphic>
          <a:graphicData uri="http://schemas.openxmlformats.org/drawingml/2006/table">
            <a:tbl>
              <a:tblPr/>
              <a:tblGrid>
                <a:gridCol w="1816200">
                  <a:extLst>
                    <a:ext uri="{9D8B030D-6E8A-4147-A177-3AD203B41FA5}">
                      <a16:colId xmlns:a16="http://schemas.microsoft.com/office/drawing/2014/main" val="20000"/>
                    </a:ext>
                  </a:extLst>
                </a:gridCol>
                <a:gridCol w="726480">
                  <a:extLst>
                    <a:ext uri="{9D8B030D-6E8A-4147-A177-3AD203B41FA5}">
                      <a16:colId xmlns:a16="http://schemas.microsoft.com/office/drawing/2014/main" val="20001"/>
                    </a:ext>
                  </a:extLst>
                </a:gridCol>
                <a:gridCol w="726480">
                  <a:extLst>
                    <a:ext uri="{9D8B030D-6E8A-4147-A177-3AD203B41FA5}">
                      <a16:colId xmlns:a16="http://schemas.microsoft.com/office/drawing/2014/main" val="20002"/>
                    </a:ext>
                  </a:extLst>
                </a:gridCol>
                <a:gridCol w="817200">
                  <a:extLst>
                    <a:ext uri="{9D8B030D-6E8A-4147-A177-3AD203B41FA5}">
                      <a16:colId xmlns:a16="http://schemas.microsoft.com/office/drawing/2014/main" val="20003"/>
                    </a:ext>
                  </a:extLst>
                </a:gridCol>
                <a:gridCol w="1333080">
                  <a:extLst>
                    <a:ext uri="{9D8B030D-6E8A-4147-A177-3AD203B41FA5}">
                      <a16:colId xmlns:a16="http://schemas.microsoft.com/office/drawing/2014/main" val="20004"/>
                    </a:ext>
                  </a:extLst>
                </a:gridCol>
                <a:gridCol w="726480">
                  <a:extLst>
                    <a:ext uri="{9D8B030D-6E8A-4147-A177-3AD203B41FA5}">
                      <a16:colId xmlns:a16="http://schemas.microsoft.com/office/drawing/2014/main" val="20005"/>
                    </a:ext>
                  </a:extLst>
                </a:gridCol>
                <a:gridCol w="726480">
                  <a:extLst>
                    <a:ext uri="{9D8B030D-6E8A-4147-A177-3AD203B41FA5}">
                      <a16:colId xmlns:a16="http://schemas.microsoft.com/office/drawing/2014/main" val="20006"/>
                    </a:ext>
                  </a:extLst>
                </a:gridCol>
                <a:gridCol w="727200">
                  <a:extLst>
                    <a:ext uri="{9D8B030D-6E8A-4147-A177-3AD203B41FA5}">
                      <a16:colId xmlns:a16="http://schemas.microsoft.com/office/drawing/2014/main" val="20007"/>
                    </a:ext>
                  </a:extLst>
                </a:gridCol>
              </a:tblGrid>
              <a:tr h="890804">
                <a:tc>
                  <a:txBody>
                    <a:bodyPr/>
                    <a:lstStyle/>
                    <a:p>
                      <a:pPr algn="ctr">
                        <a:lnSpc>
                          <a:spcPct val="100000"/>
                        </a:lnSpc>
                      </a:pPr>
                      <a:r>
                        <a:rPr lang="es-PE" sz="2800" b="1" strike="noStrike" spc="-12" dirty="0">
                          <a:solidFill>
                            <a:schemeClr val="bg2">
                              <a:lumMod val="25000"/>
                            </a:schemeClr>
                          </a:solidFill>
                          <a:latin typeface="Arial Narrow"/>
                          <a:ea typeface="MS Mincho"/>
                        </a:rPr>
                        <a:t>Áreas</a:t>
                      </a:r>
                      <a:r>
                        <a:rPr lang="es-PE" sz="2800" b="1" strike="noStrike" spc="-12" dirty="0">
                          <a:solidFill>
                            <a:schemeClr val="bg2">
                              <a:lumMod val="25000"/>
                            </a:schemeClr>
                          </a:solidFill>
                          <a:latin typeface="Wingdings"/>
                          <a:ea typeface="MS Mincho"/>
                        </a:rPr>
                        <a:t></a:t>
                      </a:r>
                      <a:endParaRPr lang="es-PE" sz="2800" b="0" strike="noStrike" spc="-1" dirty="0">
                        <a:solidFill>
                          <a:schemeClr val="bg2">
                            <a:lumMod val="25000"/>
                          </a:schemeClr>
                        </a:solidFill>
                        <a:latin typeface="Arial"/>
                      </a:endParaRPr>
                    </a:p>
                    <a:p>
                      <a:pPr algn="ctr">
                        <a:lnSpc>
                          <a:spcPct val="100000"/>
                        </a:lnSpc>
                      </a:pPr>
                      <a:r>
                        <a:rPr lang="es-PE" sz="2800" b="1" strike="noStrike" spc="-12" dirty="0">
                          <a:solidFill>
                            <a:schemeClr val="bg2">
                              <a:lumMod val="25000"/>
                            </a:schemeClr>
                          </a:solidFill>
                          <a:latin typeface="Arial Narrow"/>
                          <a:ea typeface="MS Mincho"/>
                        </a:rPr>
                        <a:t>Refinería</a:t>
                      </a:r>
                      <a:endParaRPr lang="es-PE" sz="28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2">
                          <a:solidFill>
                            <a:schemeClr val="bg2">
                              <a:lumMod val="25000"/>
                            </a:schemeClr>
                          </a:solidFill>
                          <a:latin typeface="Arial Narrow"/>
                          <a:ea typeface="MS Mincho"/>
                        </a:rPr>
                        <a:t>1</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2">
                          <a:solidFill>
                            <a:schemeClr val="bg2">
                              <a:lumMod val="25000"/>
                            </a:schemeClr>
                          </a:solidFill>
                          <a:latin typeface="Arial Narrow"/>
                          <a:ea typeface="MS Mincho"/>
                        </a:rPr>
                        <a:t>2</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2" dirty="0">
                          <a:solidFill>
                            <a:schemeClr val="bg2">
                              <a:lumMod val="25000"/>
                            </a:schemeClr>
                          </a:solidFill>
                          <a:latin typeface="Arial Narrow"/>
                          <a:ea typeface="MS Mincho"/>
                        </a:rPr>
                        <a:t>3</a:t>
                      </a:r>
                      <a:endParaRPr lang="es-PE" sz="28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2">
                          <a:solidFill>
                            <a:schemeClr val="bg2">
                              <a:lumMod val="25000"/>
                            </a:schemeClr>
                          </a:solidFill>
                          <a:latin typeface="Arial Narrow"/>
                          <a:ea typeface="MS Mincho"/>
                        </a:rPr>
                        <a:t>oferta</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2">
                          <a:solidFill>
                            <a:schemeClr val="bg2">
                              <a:lumMod val="25000"/>
                            </a:schemeClr>
                          </a:solidFill>
                          <a:latin typeface="Arial Narrow"/>
                          <a:ea typeface="MS Mincho"/>
                        </a:rPr>
                        <a:t>P1</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2">
                          <a:solidFill>
                            <a:schemeClr val="bg2">
                              <a:lumMod val="25000"/>
                            </a:schemeClr>
                          </a:solidFill>
                          <a:latin typeface="Arial Narrow"/>
                          <a:ea typeface="MS Mincho"/>
                        </a:rPr>
                        <a:t>P2</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581048">
                <a:tc>
                  <a:txBody>
                    <a:bodyPr/>
                    <a:lstStyle/>
                    <a:p>
                      <a:pPr algn="ctr">
                        <a:lnSpc>
                          <a:spcPct val="100000"/>
                        </a:lnSpc>
                      </a:pPr>
                      <a:r>
                        <a:rPr lang="es-PE" sz="2800" b="1" strike="noStrike" spc="-1">
                          <a:solidFill>
                            <a:schemeClr val="bg2">
                              <a:lumMod val="25000"/>
                            </a:schemeClr>
                          </a:solidFill>
                          <a:latin typeface="Arial Narrow"/>
                          <a:ea typeface="MS Mincho"/>
                        </a:rPr>
                        <a:t>1</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0" strike="noStrike" spc="-1" dirty="0">
                          <a:solidFill>
                            <a:schemeClr val="bg2">
                              <a:lumMod val="25000"/>
                            </a:schemeClr>
                          </a:solidFill>
                          <a:latin typeface="Arial Narrow"/>
                          <a:ea typeface="Times New Roman"/>
                        </a:rPr>
                        <a:t>120</a:t>
                      </a:r>
                      <a:endParaRPr lang="es-PE" sz="2800" b="0" strike="noStrike" spc="-1" dirty="0">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100000"/>
                        </a:lnSpc>
                      </a:pPr>
                      <a:r>
                        <a:rPr lang="es-PE" sz="2800" b="0" strike="noStrike" spc="-1" dirty="0">
                          <a:solidFill>
                            <a:schemeClr val="bg2">
                              <a:lumMod val="25000"/>
                            </a:schemeClr>
                          </a:solidFill>
                          <a:latin typeface="Arial Narrow"/>
                          <a:ea typeface="Times New Roman"/>
                        </a:rPr>
                        <a:t>180</a:t>
                      </a:r>
                      <a:endParaRPr lang="es-PE" sz="2800" b="0" strike="noStrike" spc="-1" dirty="0">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100000"/>
                        </a:lnSpc>
                      </a:pPr>
                      <a:r>
                        <a:rPr lang="es-PE" sz="2800" b="0" strike="noStrike" spc="-1" dirty="0">
                          <a:solidFill>
                            <a:schemeClr val="bg2">
                              <a:lumMod val="25000"/>
                            </a:schemeClr>
                          </a:solidFill>
                          <a:latin typeface="Arial Narrow"/>
                          <a:ea typeface="Times New Roman"/>
                        </a:rPr>
                        <a:t>--</a:t>
                      </a:r>
                      <a:endParaRPr lang="es-PE" sz="2800" b="0" strike="noStrike" spc="-1" dirty="0">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pPr algn="ctr">
                        <a:lnSpc>
                          <a:spcPct val="100000"/>
                        </a:lnSpc>
                      </a:pPr>
                      <a:r>
                        <a:rPr lang="es-PE" sz="2800" b="1" strike="noStrike" spc="-1">
                          <a:solidFill>
                            <a:schemeClr val="bg2">
                              <a:lumMod val="25000"/>
                            </a:schemeClr>
                          </a:solidFill>
                          <a:latin typeface="Arial Narrow"/>
                        </a:rPr>
                        <a:t>6</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
                          <a:solidFill>
                            <a:schemeClr val="bg2">
                              <a:lumMod val="25000"/>
                            </a:schemeClr>
                          </a:solidFill>
                          <a:latin typeface="Arial Narrow"/>
                          <a:ea typeface="MS Mincho"/>
                        </a:rPr>
                        <a:t>60</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 dirty="0">
                          <a:solidFill>
                            <a:srgbClr val="FF0000"/>
                          </a:solidFill>
                          <a:latin typeface="Arial Narrow"/>
                          <a:ea typeface="MS Mincho"/>
                        </a:rPr>
                        <a:t>60</a:t>
                      </a:r>
                      <a:endParaRPr lang="es-PE" sz="28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890804">
                <a:tc>
                  <a:txBody>
                    <a:bodyPr/>
                    <a:lstStyle/>
                    <a:p>
                      <a:pPr algn="ctr">
                        <a:lnSpc>
                          <a:spcPct val="100000"/>
                        </a:lnSpc>
                      </a:pPr>
                      <a:r>
                        <a:rPr lang="es-PE" sz="2800" b="1" strike="noStrike" spc="-12" dirty="0">
                          <a:solidFill>
                            <a:schemeClr val="bg2">
                              <a:lumMod val="25000"/>
                            </a:schemeClr>
                          </a:solidFill>
                          <a:latin typeface="Arial Narrow"/>
                          <a:ea typeface="MS Mincho"/>
                        </a:rPr>
                        <a:t>2</a:t>
                      </a:r>
                      <a:endParaRPr lang="es-PE" sz="28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0" strike="noStrike" spc="-1" dirty="0">
                          <a:solidFill>
                            <a:schemeClr val="bg2">
                              <a:lumMod val="25000"/>
                            </a:schemeClr>
                          </a:solidFill>
                          <a:latin typeface="Arial Narrow"/>
                          <a:ea typeface="Times New Roman"/>
                        </a:rPr>
                        <a:t>300</a:t>
                      </a:r>
                      <a:endParaRPr lang="es-PE" sz="2800" b="0" strike="noStrike" spc="-1" dirty="0">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100000"/>
                        </a:lnSpc>
                      </a:pPr>
                      <a:r>
                        <a:rPr lang="es-PE" sz="2800" b="0" strike="noStrike" spc="-1" dirty="0">
                          <a:solidFill>
                            <a:schemeClr val="bg2">
                              <a:lumMod val="25000"/>
                            </a:schemeClr>
                          </a:solidFill>
                          <a:latin typeface="Arial Narrow"/>
                          <a:ea typeface="Times New Roman"/>
                        </a:rPr>
                        <a:t>100</a:t>
                      </a:r>
                      <a:endParaRPr lang="es-PE" sz="2800" b="0" strike="noStrike" spc="-1" dirty="0">
                        <a:solidFill>
                          <a:schemeClr val="bg2">
                            <a:lumMod val="25000"/>
                          </a:schemeClr>
                        </a:solidFill>
                        <a:latin typeface="Arial"/>
                      </a:endParaRPr>
                    </a:p>
                    <a:p>
                      <a:pPr algn="ctr">
                        <a:lnSpc>
                          <a:spcPct val="100000"/>
                        </a:lnSpc>
                      </a:pPr>
                      <a:r>
                        <a:rPr lang="es-PE" sz="2800" b="0" strike="noStrike" spc="-1" dirty="0">
                          <a:solidFill>
                            <a:schemeClr val="bg2">
                              <a:lumMod val="25000"/>
                            </a:schemeClr>
                          </a:solidFill>
                          <a:latin typeface="Arial Narrow"/>
                          <a:ea typeface="Times New Roman"/>
                        </a:rPr>
                        <a:t>*</a:t>
                      </a:r>
                      <a:endParaRPr lang="es-PE" sz="2800" b="0" strike="noStrike" spc="-1" dirty="0">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100000"/>
                        </a:lnSpc>
                      </a:pPr>
                      <a:r>
                        <a:rPr lang="es-PE" sz="2800" b="0" strike="noStrike" spc="-1" dirty="0">
                          <a:solidFill>
                            <a:schemeClr val="bg2">
                              <a:lumMod val="25000"/>
                            </a:schemeClr>
                          </a:solidFill>
                          <a:latin typeface="Arial Narrow"/>
                          <a:ea typeface="Times New Roman"/>
                        </a:rPr>
                        <a:t>80</a:t>
                      </a:r>
                      <a:endParaRPr lang="es-PE" sz="2800" b="0" strike="noStrike" spc="-1" dirty="0">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100000"/>
                        </a:lnSpc>
                      </a:pPr>
                      <a:r>
                        <a:rPr lang="es-PE" sz="2800" b="1" strike="noStrike" spc="-1" dirty="0">
                          <a:solidFill>
                            <a:schemeClr val="bg2">
                              <a:lumMod val="25000"/>
                            </a:schemeClr>
                          </a:solidFill>
                          <a:latin typeface="Arial Narrow"/>
                        </a:rPr>
                        <a:t>5/0</a:t>
                      </a:r>
                      <a:endParaRPr lang="es-PE" sz="28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gn="ctr">
                        <a:lnSpc>
                          <a:spcPct val="100000"/>
                        </a:lnSpc>
                      </a:pPr>
                      <a:r>
                        <a:rPr lang="es-PE" sz="2800" b="1" strike="noStrike" spc="-1">
                          <a:solidFill>
                            <a:schemeClr val="bg2">
                              <a:lumMod val="25000"/>
                            </a:schemeClr>
                          </a:solidFill>
                          <a:latin typeface="Arial Narrow"/>
                          <a:ea typeface="MS Mincho"/>
                        </a:rPr>
                        <a:t>20</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gn="ctr">
                        <a:lnSpc>
                          <a:spcPct val="100000"/>
                        </a:lnSpc>
                      </a:pPr>
                      <a:r>
                        <a:rPr lang="es-PE" sz="2800" b="1" strike="noStrike" spc="-1" dirty="0">
                          <a:solidFill>
                            <a:srgbClr val="FF0000"/>
                          </a:solidFill>
                          <a:latin typeface="Arial Narrow"/>
                          <a:ea typeface="MS Mincho"/>
                        </a:rPr>
                        <a:t>-</a:t>
                      </a:r>
                      <a:endParaRPr lang="es-PE" sz="28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endParaRPr lang="en-US">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extLst>
                  <a:ext uri="{0D108BD9-81ED-4DB2-BD59-A6C34878D82A}">
                    <a16:rowId xmlns:a16="http://schemas.microsoft.com/office/drawing/2014/main" val="10002"/>
                  </a:ext>
                </a:extLst>
              </a:tr>
              <a:tr h="890804">
                <a:tc>
                  <a:txBody>
                    <a:bodyPr/>
                    <a:lstStyle/>
                    <a:p>
                      <a:pPr algn="ctr">
                        <a:lnSpc>
                          <a:spcPct val="100000"/>
                        </a:lnSpc>
                      </a:pPr>
                      <a:r>
                        <a:rPr lang="es-PE" sz="2800" b="1" strike="noStrike" spc="-1">
                          <a:solidFill>
                            <a:schemeClr val="bg2">
                              <a:lumMod val="25000"/>
                            </a:schemeClr>
                          </a:solidFill>
                          <a:latin typeface="Arial Narrow"/>
                          <a:ea typeface="MS Mincho"/>
                        </a:rPr>
                        <a:t>3</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0" strike="noStrike" spc="-1">
                          <a:solidFill>
                            <a:schemeClr val="bg2">
                              <a:lumMod val="25000"/>
                            </a:schemeClr>
                          </a:solidFill>
                          <a:latin typeface="Arial Narrow"/>
                          <a:ea typeface="Times New Roman"/>
                        </a:rPr>
                        <a:t>200</a:t>
                      </a:r>
                      <a:endParaRPr lang="es-PE" sz="2800" b="0" strike="noStrike" spc="-1">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100000"/>
                        </a:lnSpc>
                      </a:pPr>
                      <a:r>
                        <a:rPr lang="es-PE" sz="2800" b="0" strike="noStrike" spc="-1">
                          <a:solidFill>
                            <a:schemeClr val="bg2">
                              <a:lumMod val="25000"/>
                            </a:schemeClr>
                          </a:solidFill>
                          <a:latin typeface="Arial Narrow"/>
                          <a:ea typeface="Times New Roman"/>
                        </a:rPr>
                        <a:t>250</a:t>
                      </a:r>
                      <a:endParaRPr lang="es-PE" sz="2800" b="0" strike="noStrike" spc="-1">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100000"/>
                        </a:lnSpc>
                      </a:pPr>
                      <a:r>
                        <a:rPr lang="es-PE" sz="2800" b="0" strike="noStrike" spc="-1" dirty="0">
                          <a:solidFill>
                            <a:schemeClr val="bg2">
                              <a:lumMod val="25000"/>
                            </a:schemeClr>
                          </a:solidFill>
                          <a:latin typeface="Arial Narrow"/>
                          <a:ea typeface="Times New Roman"/>
                        </a:rPr>
                        <a:t>120</a:t>
                      </a:r>
                      <a:endParaRPr lang="es-PE" sz="2800" b="0" strike="noStrike" spc="-1" dirty="0">
                        <a:solidFill>
                          <a:schemeClr val="bg2">
                            <a:lumMod val="25000"/>
                          </a:schemeClr>
                        </a:solidFill>
                        <a:latin typeface="Arial"/>
                      </a:endParaRPr>
                    </a:p>
                    <a:p>
                      <a:pPr algn="ctr">
                        <a:lnSpc>
                          <a:spcPct val="100000"/>
                        </a:lnSpc>
                      </a:pPr>
                      <a:r>
                        <a:rPr lang="es-PE" sz="2800" b="0" strike="noStrike" spc="-1" dirty="0">
                          <a:solidFill>
                            <a:schemeClr val="bg2">
                              <a:lumMod val="25000"/>
                            </a:schemeClr>
                          </a:solidFill>
                          <a:latin typeface="Arial Narrow"/>
                          <a:ea typeface="Times New Roman"/>
                        </a:rPr>
                        <a:t>*</a:t>
                      </a:r>
                      <a:endParaRPr lang="es-PE" sz="2800" b="0" strike="noStrike" spc="-1" dirty="0">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pPr algn="ctr">
                        <a:lnSpc>
                          <a:spcPct val="100000"/>
                        </a:lnSpc>
                      </a:pPr>
                      <a:r>
                        <a:rPr lang="es-PE" sz="2800" b="1" strike="noStrike" spc="-1" dirty="0">
                          <a:solidFill>
                            <a:schemeClr val="bg2">
                              <a:lumMod val="25000"/>
                            </a:schemeClr>
                          </a:solidFill>
                          <a:latin typeface="Arial Narrow"/>
                        </a:rPr>
                        <a:t>8/1</a:t>
                      </a:r>
                      <a:endParaRPr lang="es-PE" sz="28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tc>
                  <a:txBody>
                    <a:bodyPr/>
                    <a:lstStyle/>
                    <a:p>
                      <a:pPr algn="ctr">
                        <a:lnSpc>
                          <a:spcPct val="100000"/>
                        </a:lnSpc>
                      </a:pPr>
                      <a:r>
                        <a:rPr lang="es-PE" sz="2800" b="1" strike="noStrike" spc="-1">
                          <a:solidFill>
                            <a:schemeClr val="bg2">
                              <a:lumMod val="25000"/>
                            </a:schemeClr>
                          </a:solidFill>
                          <a:latin typeface="Arial Narrow"/>
                          <a:ea typeface="MS Mincho"/>
                        </a:rPr>
                        <a:t>80</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tc>
                  <a:txBody>
                    <a:bodyPr/>
                    <a:lstStyle/>
                    <a:p>
                      <a:pPr algn="ctr">
                        <a:lnSpc>
                          <a:spcPct val="100000"/>
                        </a:lnSpc>
                      </a:pPr>
                      <a:r>
                        <a:rPr lang="es-PE" sz="2800" b="1" strike="noStrike" spc="-1" dirty="0">
                          <a:solidFill>
                            <a:srgbClr val="FF0000"/>
                          </a:solidFill>
                          <a:latin typeface="Arial Narrow"/>
                          <a:ea typeface="MS Mincho"/>
                        </a:rPr>
                        <a:t>80</a:t>
                      </a:r>
                      <a:endParaRPr lang="es-PE" sz="28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tc>
                  <a:txBody>
                    <a:bodyPr/>
                    <a:lstStyle/>
                    <a:p>
                      <a:endParaRPr lang="en-US">
                        <a:solidFill>
                          <a:schemeClr val="bg2">
                            <a:lumMod val="25000"/>
                          </a:schemeClr>
                        </a:solidFil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extLst>
                  <a:ext uri="{0D108BD9-81ED-4DB2-BD59-A6C34878D82A}">
                    <a16:rowId xmlns:a16="http://schemas.microsoft.com/office/drawing/2014/main" val="10003"/>
                  </a:ext>
                </a:extLst>
              </a:tr>
              <a:tr h="527224">
                <a:tc>
                  <a:txBody>
                    <a:bodyPr/>
                    <a:lstStyle/>
                    <a:p>
                      <a:pPr algn="ctr">
                        <a:lnSpc>
                          <a:spcPct val="100000"/>
                        </a:lnSpc>
                      </a:pPr>
                      <a:r>
                        <a:rPr lang="es-PE" sz="2800" b="1" strike="noStrike" spc="-12">
                          <a:solidFill>
                            <a:schemeClr val="bg2">
                              <a:lumMod val="25000"/>
                            </a:schemeClr>
                          </a:solidFill>
                          <a:latin typeface="Arial Narrow"/>
                          <a:ea typeface="MS Mincho"/>
                        </a:rPr>
                        <a:t>Demanda</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
                          <a:solidFill>
                            <a:schemeClr val="bg2">
                              <a:lumMod val="25000"/>
                            </a:schemeClr>
                          </a:solidFill>
                          <a:latin typeface="Arial Narrow"/>
                        </a:rPr>
                        <a:t>4</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 dirty="0">
                          <a:solidFill>
                            <a:schemeClr val="bg2">
                              <a:lumMod val="25000"/>
                            </a:schemeClr>
                          </a:solidFill>
                          <a:latin typeface="Arial Narrow"/>
                        </a:rPr>
                        <a:t>8/3</a:t>
                      </a:r>
                      <a:endParaRPr lang="es-PE" sz="28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 dirty="0">
                          <a:solidFill>
                            <a:schemeClr val="bg2">
                              <a:lumMod val="25000"/>
                            </a:schemeClr>
                          </a:solidFill>
                          <a:latin typeface="Arial Narrow"/>
                        </a:rPr>
                        <a:t>7/0</a:t>
                      </a:r>
                      <a:endParaRPr lang="es-PE" sz="28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marL="44280" marR="44280">
                    <a:lnL w="12240">
                      <a:solidFill>
                        <a:srgbClr val="000000"/>
                      </a:solidFill>
                    </a:lnL>
                    <a:lnR w="12240">
                      <a:noFill/>
                    </a:lnR>
                    <a:lnT w="12240">
                      <a:solidFill>
                        <a:srgbClr val="1D528D"/>
                      </a:solidFill>
                    </a:lnT>
                    <a:lnB w="12240">
                      <a:noFill/>
                    </a:lnB>
                    <a:noFill/>
                  </a:tcPr>
                </a:tc>
                <a:tc>
                  <a:txBody>
                    <a:bodyPr/>
                    <a:lstStyle/>
                    <a:p>
                      <a:endParaRPr lang="en-US">
                        <a:solidFill>
                          <a:schemeClr val="bg2">
                            <a:lumMod val="25000"/>
                          </a:schemeClr>
                        </a:solidFill>
                      </a:endParaRPr>
                    </a:p>
                  </a:txBody>
                  <a:tcPr marL="44280" marR="44280">
                    <a:lnL w="12240">
                      <a:noFill/>
                    </a:lnL>
                    <a:lnR w="12240">
                      <a:noFill/>
                    </a:lnR>
                    <a:lnT w="12240">
                      <a:solidFill>
                        <a:srgbClr val="1D528D"/>
                      </a:solidFill>
                    </a:lnT>
                    <a:lnB w="12240">
                      <a:noFill/>
                    </a:lnB>
                    <a:noFill/>
                  </a:tcPr>
                </a:tc>
                <a:tc>
                  <a:txBody>
                    <a:bodyPr/>
                    <a:lstStyle/>
                    <a:p>
                      <a:endParaRPr lang="en-US">
                        <a:solidFill>
                          <a:schemeClr val="bg2">
                            <a:lumMod val="25000"/>
                          </a:schemeClr>
                        </a:solidFill>
                      </a:endParaRPr>
                    </a:p>
                  </a:txBody>
                  <a:tcPr marL="44280" marR="44280">
                    <a:lnL w="12240">
                      <a:noFill/>
                    </a:lnL>
                    <a:lnR w="12240">
                      <a:noFill/>
                    </a:lnR>
                    <a:lnT w="12240">
                      <a:solidFill>
                        <a:srgbClr val="1D528D"/>
                      </a:solidFill>
                    </a:lnT>
                    <a:lnB w="12240">
                      <a:noFill/>
                    </a:lnB>
                    <a:noFill/>
                  </a:tcPr>
                </a:tc>
                <a:tc>
                  <a:txBody>
                    <a:bodyPr/>
                    <a:lstStyle/>
                    <a:p>
                      <a:endParaRPr lang="en-US">
                        <a:solidFill>
                          <a:schemeClr val="bg2">
                            <a:lumMod val="25000"/>
                          </a:schemeClr>
                        </a:solidFill>
                      </a:endParaRPr>
                    </a:p>
                  </a:txBody>
                  <a:tcPr marL="44280" marR="44280">
                    <a:lnL w="12240">
                      <a:noFill/>
                    </a:lnL>
                    <a:lnR w="12240">
                      <a:noFill/>
                    </a:lnR>
                    <a:lnT w="12240">
                      <a:solidFill>
                        <a:srgbClr val="1D528D"/>
                      </a:solidFill>
                    </a:lnT>
                    <a:lnB w="12240">
                      <a:noFill/>
                    </a:lnB>
                    <a:noFill/>
                  </a:tcPr>
                </a:tc>
                <a:extLst>
                  <a:ext uri="{0D108BD9-81ED-4DB2-BD59-A6C34878D82A}">
                    <a16:rowId xmlns:a16="http://schemas.microsoft.com/office/drawing/2014/main" val="10004"/>
                  </a:ext>
                </a:extLst>
              </a:tr>
              <a:tr h="500271">
                <a:tc>
                  <a:txBody>
                    <a:bodyPr/>
                    <a:lstStyle/>
                    <a:p>
                      <a:pPr algn="ctr">
                        <a:lnSpc>
                          <a:spcPct val="100000"/>
                        </a:lnSpc>
                      </a:pPr>
                      <a:r>
                        <a:rPr lang="es-PE" sz="2800" b="1" strike="noStrike" spc="-1">
                          <a:solidFill>
                            <a:schemeClr val="bg2">
                              <a:lumMod val="25000"/>
                            </a:schemeClr>
                          </a:solidFill>
                          <a:latin typeface="Arial Narrow"/>
                          <a:ea typeface="MS Mincho"/>
                        </a:rPr>
                        <a:t>P1</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
                          <a:solidFill>
                            <a:schemeClr val="bg2">
                              <a:lumMod val="25000"/>
                            </a:schemeClr>
                          </a:solidFill>
                          <a:latin typeface="Arial Narrow"/>
                          <a:ea typeface="MS Mincho"/>
                        </a:rPr>
                        <a:t>80</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
                          <a:solidFill>
                            <a:schemeClr val="bg2">
                              <a:lumMod val="25000"/>
                            </a:schemeClr>
                          </a:solidFill>
                          <a:latin typeface="Arial Narrow"/>
                          <a:ea typeface="MS Mincho"/>
                        </a:rPr>
                        <a:t>80</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
                          <a:solidFill>
                            <a:schemeClr val="bg2">
                              <a:lumMod val="25000"/>
                            </a:schemeClr>
                          </a:solidFill>
                          <a:latin typeface="Arial Narrow"/>
                          <a:ea typeface="MS Mincho"/>
                        </a:rPr>
                        <a:t>40</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marL="44280" marR="44280">
                    <a:lnL w="12240">
                      <a:solidFill>
                        <a:srgbClr val="000000"/>
                      </a:solidFill>
                    </a:lnL>
                    <a:lnR w="12240">
                      <a:noFill/>
                    </a:lnR>
                    <a:lnT w="12240">
                      <a:noFill/>
                    </a:lnT>
                    <a:lnB w="12240">
                      <a:noFill/>
                    </a:lnB>
                    <a:noFill/>
                  </a:tcPr>
                </a:tc>
                <a:tc>
                  <a:txBody>
                    <a:bodyPr/>
                    <a:lstStyle/>
                    <a:p>
                      <a:endParaRPr lang="en-US">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a:solidFill>
                          <a:schemeClr val="bg2">
                            <a:lumMod val="25000"/>
                          </a:schemeClr>
                        </a:solidFill>
                      </a:endParaRPr>
                    </a:p>
                  </a:txBody>
                  <a:tcPr marL="44280" marR="44280">
                    <a:lnL w="12240">
                      <a:noFill/>
                    </a:lnL>
                    <a:lnR w="12240">
                      <a:noFill/>
                    </a:lnR>
                    <a:lnT w="12240">
                      <a:noFill/>
                    </a:lnT>
                    <a:lnB w="12240">
                      <a:noFill/>
                    </a:lnB>
                    <a:noFill/>
                  </a:tcPr>
                </a:tc>
                <a:extLst>
                  <a:ext uri="{0D108BD9-81ED-4DB2-BD59-A6C34878D82A}">
                    <a16:rowId xmlns:a16="http://schemas.microsoft.com/office/drawing/2014/main" val="10005"/>
                  </a:ext>
                </a:extLst>
              </a:tr>
              <a:tr h="500271">
                <a:tc>
                  <a:txBody>
                    <a:bodyPr/>
                    <a:lstStyle/>
                    <a:p>
                      <a:pPr algn="ctr">
                        <a:lnSpc>
                          <a:spcPct val="100000"/>
                        </a:lnSpc>
                      </a:pPr>
                      <a:r>
                        <a:rPr lang="es-PE" sz="2800" b="1" strike="noStrike" spc="-1">
                          <a:solidFill>
                            <a:schemeClr val="bg2">
                              <a:lumMod val="25000"/>
                            </a:schemeClr>
                          </a:solidFill>
                          <a:latin typeface="Arial Narrow"/>
                          <a:ea typeface="MS Mincho"/>
                        </a:rPr>
                        <a:t>P2</a:t>
                      </a:r>
                      <a:endParaRPr lang="es-PE" sz="28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 dirty="0">
                          <a:solidFill>
                            <a:srgbClr val="FF0000"/>
                          </a:solidFill>
                          <a:latin typeface="Arial Narrow"/>
                          <a:ea typeface="MS Mincho"/>
                        </a:rPr>
                        <a:t>80</a:t>
                      </a:r>
                      <a:endParaRPr lang="es-PE" sz="28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 dirty="0">
                          <a:solidFill>
                            <a:srgbClr val="FF0000"/>
                          </a:solidFill>
                          <a:latin typeface="Arial Narrow"/>
                          <a:ea typeface="MS Mincho"/>
                        </a:rPr>
                        <a:t>70</a:t>
                      </a:r>
                      <a:endParaRPr lang="es-PE" sz="28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800" b="1" strike="noStrike" spc="-1" dirty="0">
                          <a:solidFill>
                            <a:srgbClr val="FF0000"/>
                          </a:solidFill>
                          <a:latin typeface="Arial Narrow"/>
                          <a:ea typeface="MS Mincho"/>
                        </a:rPr>
                        <a:t>120</a:t>
                      </a:r>
                      <a:endParaRPr lang="es-PE" sz="2800" b="0"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marL="44280" marR="44280">
                    <a:lnL w="12240">
                      <a:solidFill>
                        <a:srgbClr val="000000"/>
                      </a:solidFill>
                    </a:lnL>
                    <a:lnR w="12240">
                      <a:noFill/>
                    </a:lnR>
                    <a:lnT w="12240">
                      <a:noFill/>
                    </a:lnT>
                    <a:lnB w="12240">
                      <a:noFill/>
                    </a:lnB>
                    <a:noFill/>
                  </a:tcPr>
                </a:tc>
                <a:tc>
                  <a:txBody>
                    <a:bodyPr/>
                    <a:lstStyle/>
                    <a:p>
                      <a:endParaRPr lang="en-US">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a:solidFill>
                          <a:schemeClr val="bg2">
                            <a:lumMod val="25000"/>
                          </a:schemeClr>
                        </a:solidFill>
                      </a:endParaRPr>
                    </a:p>
                  </a:txBody>
                  <a:tcPr marL="44280" marR="44280">
                    <a:lnL w="12240">
                      <a:noFill/>
                    </a:lnL>
                    <a:lnR w="12240">
                      <a:noFill/>
                    </a:lnR>
                    <a:lnT w="12240">
                      <a:noFill/>
                    </a:lnT>
                    <a:lnB w="12240">
                      <a:noFill/>
                    </a:lnB>
                    <a:noFill/>
                  </a:tcPr>
                </a:tc>
                <a:extLst>
                  <a:ext uri="{0D108BD9-81ED-4DB2-BD59-A6C34878D82A}">
                    <a16:rowId xmlns:a16="http://schemas.microsoft.com/office/drawing/2014/main" val="10006"/>
                  </a:ext>
                </a:extLst>
              </a:tr>
              <a:tr h="498914">
                <a:tc>
                  <a:txBody>
                    <a:bodyPr/>
                    <a:lstStyle/>
                    <a:p>
                      <a:endParaRPr lang="en-US">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a:solidFill>
                          <a:schemeClr val="bg2">
                            <a:lumMod val="25000"/>
                          </a:schemeClr>
                        </a:solidFill>
                      </a:endParaRPr>
                    </a:p>
                  </a:txBody>
                  <a:tcPr marL="44280" marR="44280">
                    <a:lnL w="12240">
                      <a:solidFill>
                        <a:srgbClr val="000000"/>
                      </a:solidFill>
                    </a:lnL>
                    <a:lnR w="12240">
                      <a:noFill/>
                    </a:lnR>
                    <a:lnT w="12240">
                      <a:noFill/>
                    </a:lnT>
                    <a:lnB w="12240">
                      <a:noFill/>
                    </a:lnB>
                    <a:noFill/>
                  </a:tcPr>
                </a:tc>
                <a:tc>
                  <a:txBody>
                    <a:bodyPr/>
                    <a:lstStyle/>
                    <a:p>
                      <a:endParaRPr lang="en-US">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dirty="0">
                        <a:solidFill>
                          <a:schemeClr val="bg2">
                            <a:lumMod val="25000"/>
                          </a:schemeClr>
                        </a:solidFill>
                      </a:endParaRPr>
                    </a:p>
                  </a:txBody>
                  <a:tcPr marL="44280" marR="44280">
                    <a:lnL w="12240">
                      <a:noFill/>
                    </a:lnL>
                    <a:lnR w="12240">
                      <a:noFill/>
                    </a:lnR>
                    <a:lnT w="12240">
                      <a:noFill/>
                    </a:lnT>
                    <a:lnB w="12240">
                      <a:noFill/>
                    </a:lnB>
                    <a:noFill/>
                  </a:tcPr>
                </a:tc>
                <a:extLst>
                  <a:ext uri="{0D108BD9-81ED-4DB2-BD59-A6C34878D82A}">
                    <a16:rowId xmlns:a16="http://schemas.microsoft.com/office/drawing/2014/main" val="10007"/>
                  </a:ext>
                </a:extLst>
              </a:tr>
            </a:tbl>
          </a:graphicData>
        </a:graphic>
      </p:graphicFrame>
      <p:sp>
        <p:nvSpPr>
          <p:cNvPr id="1143" name="CustomShape 2"/>
          <p:cNvSpPr/>
          <p:nvPr/>
        </p:nvSpPr>
        <p:spPr>
          <a:xfrm>
            <a:off x="1524000" y="0"/>
            <a:ext cx="9143640" cy="45684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graphicFrame>
        <p:nvGraphicFramePr>
          <p:cNvPr id="2" name="1 Diagrama"/>
          <p:cNvGraphicFramePr/>
          <p:nvPr/>
        </p:nvGraphicFramePr>
        <p:xfrm>
          <a:off x="6167280" y="4929120"/>
          <a:ext cx="4214520" cy="14518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uadroTexto 4">
            <a:extLst>
              <a:ext uri="{FF2B5EF4-FFF2-40B4-BE49-F238E27FC236}">
                <a16:creationId xmlns:a16="http://schemas.microsoft.com/office/drawing/2014/main" id="{3D70D854-F300-42AB-90B0-F12DAF2CC920}"/>
              </a:ext>
            </a:extLst>
          </p:cNvPr>
          <p:cNvSpPr txBox="1"/>
          <p:nvPr/>
        </p:nvSpPr>
        <p:spPr>
          <a:xfrm>
            <a:off x="258793" y="2191109"/>
            <a:ext cx="1380226" cy="646331"/>
          </a:xfrm>
          <a:prstGeom prst="rect">
            <a:avLst/>
          </a:prstGeom>
          <a:solidFill>
            <a:srgbClr val="FFFF00"/>
          </a:solidFill>
        </p:spPr>
        <p:txBody>
          <a:bodyPr wrap="square" rtlCol="0">
            <a:spAutoFit/>
          </a:bodyPr>
          <a:lstStyle/>
          <a:p>
            <a:r>
              <a:rPr lang="es-ES" b="1" dirty="0"/>
              <a:t>Hallamos las penalidades</a:t>
            </a:r>
          </a:p>
        </p:txBody>
      </p:sp>
      <p:sp>
        <p:nvSpPr>
          <p:cNvPr id="6" name="Rectángulo 5">
            <a:extLst>
              <a:ext uri="{FF2B5EF4-FFF2-40B4-BE49-F238E27FC236}">
                <a16:creationId xmlns:a16="http://schemas.microsoft.com/office/drawing/2014/main" id="{E7B02BD8-055D-4ACC-93AD-9E966013888B}"/>
              </a:ext>
            </a:extLst>
          </p:cNvPr>
          <p:cNvSpPr/>
          <p:nvPr/>
        </p:nvSpPr>
        <p:spPr>
          <a:xfrm>
            <a:off x="258136" y="3054556"/>
            <a:ext cx="1372258" cy="923330"/>
          </a:xfrm>
          <a:prstGeom prst="rect">
            <a:avLst/>
          </a:prstGeom>
          <a:solidFill>
            <a:srgbClr val="FFFF00"/>
          </a:solidFill>
        </p:spPr>
        <p:txBody>
          <a:bodyPr wrap="square">
            <a:spAutoFit/>
          </a:bodyPr>
          <a:lstStyle/>
          <a:p>
            <a:r>
              <a:rPr lang="es-ES" b="1" dirty="0"/>
              <a:t>Hallamos la mayor penalidad</a:t>
            </a:r>
            <a:endParaRPr lang="es-PE" b="1" dirty="0"/>
          </a:p>
        </p:txBody>
      </p:sp>
      <p:sp>
        <p:nvSpPr>
          <p:cNvPr id="7" name="CuadroTexto 6">
            <a:extLst>
              <a:ext uri="{FF2B5EF4-FFF2-40B4-BE49-F238E27FC236}">
                <a16:creationId xmlns:a16="http://schemas.microsoft.com/office/drawing/2014/main" id="{B0DC2777-0192-4BAA-8071-8EEE093D646B}"/>
              </a:ext>
            </a:extLst>
          </p:cNvPr>
          <p:cNvSpPr txBox="1"/>
          <p:nvPr/>
        </p:nvSpPr>
        <p:spPr>
          <a:xfrm>
            <a:off x="264551" y="4198193"/>
            <a:ext cx="1380226" cy="646331"/>
          </a:xfrm>
          <a:prstGeom prst="rect">
            <a:avLst/>
          </a:prstGeom>
          <a:solidFill>
            <a:srgbClr val="FFFF00"/>
          </a:solidFill>
        </p:spPr>
        <p:txBody>
          <a:bodyPr wrap="square" rtlCol="0">
            <a:spAutoFit/>
          </a:bodyPr>
          <a:lstStyle/>
          <a:p>
            <a:r>
              <a:rPr lang="es-ES" b="1" dirty="0"/>
              <a:t>Hallamos el menor costo</a:t>
            </a:r>
          </a:p>
        </p:txBody>
      </p:sp>
      <p:sp>
        <p:nvSpPr>
          <p:cNvPr id="8" name="CuadroTexto 7">
            <a:extLst>
              <a:ext uri="{FF2B5EF4-FFF2-40B4-BE49-F238E27FC236}">
                <a16:creationId xmlns:a16="http://schemas.microsoft.com/office/drawing/2014/main" id="{917A433F-9DA4-4CF9-81EA-52423C4946F7}"/>
              </a:ext>
            </a:extLst>
          </p:cNvPr>
          <p:cNvSpPr txBox="1"/>
          <p:nvPr/>
        </p:nvSpPr>
        <p:spPr>
          <a:xfrm>
            <a:off x="264551" y="5086705"/>
            <a:ext cx="1380226" cy="646331"/>
          </a:xfrm>
          <a:prstGeom prst="rect">
            <a:avLst/>
          </a:prstGeom>
          <a:solidFill>
            <a:srgbClr val="FFFF00"/>
          </a:solidFill>
        </p:spPr>
        <p:txBody>
          <a:bodyPr wrap="square" rtlCol="0">
            <a:spAutoFit/>
          </a:bodyPr>
          <a:lstStyle/>
          <a:p>
            <a:r>
              <a:rPr lang="es-ES" b="1" dirty="0"/>
              <a:t>Anotamos la operación</a:t>
            </a:r>
          </a:p>
        </p:txBody>
      </p:sp>
      <p:sp>
        <p:nvSpPr>
          <p:cNvPr id="3" name="Globo: flecha hacia abajo 2">
            <a:extLst>
              <a:ext uri="{FF2B5EF4-FFF2-40B4-BE49-F238E27FC236}">
                <a16:creationId xmlns:a16="http://schemas.microsoft.com/office/drawing/2014/main" id="{B099966D-1203-A28F-C014-F9C561E24818}"/>
              </a:ext>
            </a:extLst>
          </p:cNvPr>
          <p:cNvSpPr/>
          <p:nvPr/>
        </p:nvSpPr>
        <p:spPr>
          <a:xfrm>
            <a:off x="276044" y="1276709"/>
            <a:ext cx="1345721" cy="897148"/>
          </a:xfrm>
          <a:prstGeom prst="downArrowCallou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rgbClr val="FF0000"/>
                </a:solidFill>
              </a:rPr>
              <a:t>Pasos:</a:t>
            </a:r>
            <a:endParaRPr lang="es-PE" sz="2400" dirty="0">
              <a:solidFill>
                <a:srgbClr val="FF0000"/>
              </a:solidFill>
            </a:endParaRPr>
          </a:p>
        </p:txBody>
      </p:sp>
    </p:spTree>
    <p:extLst>
      <p:ext uri="{BB962C8B-B14F-4D97-AF65-F5344CB8AC3E}">
        <p14:creationId xmlns:p14="http://schemas.microsoft.com/office/powerpoint/2010/main" val="1633632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45" name="Table 1"/>
          <p:cNvGraphicFramePr/>
          <p:nvPr/>
        </p:nvGraphicFramePr>
        <p:xfrm>
          <a:off x="1952760" y="1231532"/>
          <a:ext cx="6984000" cy="5541040"/>
        </p:xfrm>
        <a:graphic>
          <a:graphicData uri="http://schemas.openxmlformats.org/drawingml/2006/table">
            <a:tbl>
              <a:tblPr/>
              <a:tblGrid>
                <a:gridCol w="1669320">
                  <a:extLst>
                    <a:ext uri="{9D8B030D-6E8A-4147-A177-3AD203B41FA5}">
                      <a16:colId xmlns:a16="http://schemas.microsoft.com/office/drawing/2014/main" val="20000"/>
                    </a:ext>
                  </a:extLst>
                </a:gridCol>
                <a:gridCol w="667440">
                  <a:extLst>
                    <a:ext uri="{9D8B030D-6E8A-4147-A177-3AD203B41FA5}">
                      <a16:colId xmlns:a16="http://schemas.microsoft.com/office/drawing/2014/main" val="20001"/>
                    </a:ext>
                  </a:extLst>
                </a:gridCol>
                <a:gridCol w="667440">
                  <a:extLst>
                    <a:ext uri="{9D8B030D-6E8A-4147-A177-3AD203B41FA5}">
                      <a16:colId xmlns:a16="http://schemas.microsoft.com/office/drawing/2014/main" val="20002"/>
                    </a:ext>
                  </a:extLst>
                </a:gridCol>
                <a:gridCol w="750960">
                  <a:extLst>
                    <a:ext uri="{9D8B030D-6E8A-4147-A177-3AD203B41FA5}">
                      <a16:colId xmlns:a16="http://schemas.microsoft.com/office/drawing/2014/main" val="20003"/>
                    </a:ext>
                  </a:extLst>
                </a:gridCol>
                <a:gridCol w="1225080">
                  <a:extLst>
                    <a:ext uri="{9D8B030D-6E8A-4147-A177-3AD203B41FA5}">
                      <a16:colId xmlns:a16="http://schemas.microsoft.com/office/drawing/2014/main" val="20004"/>
                    </a:ext>
                  </a:extLst>
                </a:gridCol>
                <a:gridCol w="667440">
                  <a:extLst>
                    <a:ext uri="{9D8B030D-6E8A-4147-A177-3AD203B41FA5}">
                      <a16:colId xmlns:a16="http://schemas.microsoft.com/office/drawing/2014/main" val="20005"/>
                    </a:ext>
                  </a:extLst>
                </a:gridCol>
                <a:gridCol w="667440">
                  <a:extLst>
                    <a:ext uri="{9D8B030D-6E8A-4147-A177-3AD203B41FA5}">
                      <a16:colId xmlns:a16="http://schemas.microsoft.com/office/drawing/2014/main" val="20006"/>
                    </a:ext>
                  </a:extLst>
                </a:gridCol>
                <a:gridCol w="668880">
                  <a:extLst>
                    <a:ext uri="{9D8B030D-6E8A-4147-A177-3AD203B41FA5}">
                      <a16:colId xmlns:a16="http://schemas.microsoft.com/office/drawing/2014/main" val="20007"/>
                    </a:ext>
                  </a:extLst>
                </a:gridCol>
              </a:tblGrid>
              <a:tr h="841320">
                <a:tc>
                  <a:txBody>
                    <a:bodyPr/>
                    <a:lstStyle/>
                    <a:p>
                      <a:pPr algn="ctr">
                        <a:lnSpc>
                          <a:spcPct val="100000"/>
                        </a:lnSpc>
                      </a:pPr>
                      <a:r>
                        <a:rPr lang="es-PE" sz="2400" b="1" strike="noStrike" spc="-12" dirty="0">
                          <a:solidFill>
                            <a:schemeClr val="bg2">
                              <a:lumMod val="25000"/>
                            </a:schemeClr>
                          </a:solidFill>
                          <a:latin typeface="Arial Narrow"/>
                          <a:ea typeface="MS Mincho"/>
                        </a:rPr>
                        <a:t>Áreas</a:t>
                      </a:r>
                      <a:r>
                        <a:rPr lang="es-PE" sz="2400" b="1" strike="noStrike" spc="-12" dirty="0">
                          <a:solidFill>
                            <a:schemeClr val="bg2">
                              <a:lumMod val="25000"/>
                            </a:schemeClr>
                          </a:solidFill>
                          <a:latin typeface="Wingdings"/>
                          <a:ea typeface="MS Mincho"/>
                        </a:rPr>
                        <a:t></a:t>
                      </a:r>
                      <a:endParaRPr lang="es-PE" sz="2400" b="1" strike="noStrike" spc="-1" dirty="0">
                        <a:solidFill>
                          <a:schemeClr val="bg2">
                            <a:lumMod val="25000"/>
                          </a:schemeClr>
                        </a:solidFill>
                        <a:latin typeface="Arial"/>
                      </a:endParaRPr>
                    </a:p>
                    <a:p>
                      <a:pPr algn="ctr">
                        <a:lnSpc>
                          <a:spcPct val="100000"/>
                        </a:lnSpc>
                      </a:pPr>
                      <a:r>
                        <a:rPr lang="es-PE" sz="2400" b="1" strike="noStrike" spc="-12" dirty="0">
                          <a:solidFill>
                            <a:schemeClr val="bg2">
                              <a:lumMod val="25000"/>
                            </a:schemeClr>
                          </a:solidFill>
                          <a:latin typeface="Arial Narrow"/>
                          <a:ea typeface="MS Mincho"/>
                        </a:rPr>
                        <a:t>Refinería</a:t>
                      </a:r>
                      <a:endParaRPr lang="es-PE" sz="2400" b="1"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1</a:t>
                      </a:r>
                      <a:endParaRPr lang="es-PE" sz="2400" b="1"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2</a:t>
                      </a:r>
                      <a:endParaRPr lang="es-PE" sz="2400" b="1"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dirty="0">
                          <a:solidFill>
                            <a:schemeClr val="bg2">
                              <a:lumMod val="25000"/>
                            </a:schemeClr>
                          </a:solidFill>
                          <a:latin typeface="Arial Narrow"/>
                          <a:ea typeface="MS Mincho"/>
                        </a:rPr>
                        <a:t>3</a:t>
                      </a:r>
                      <a:endParaRPr lang="es-PE" sz="2400" b="1"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Oferta</a:t>
                      </a:r>
                      <a:endParaRPr lang="es-PE" sz="2400" b="1"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P1</a:t>
                      </a:r>
                      <a:endParaRPr lang="es-PE" sz="2400" b="1"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P2</a:t>
                      </a:r>
                      <a:endParaRPr lang="es-PE" sz="2400" b="1"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P3</a:t>
                      </a:r>
                      <a:endParaRPr lang="es-PE" sz="2400" b="1"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635400">
                <a:tc>
                  <a:txBody>
                    <a:bodyPr/>
                    <a:lstStyle/>
                    <a:p>
                      <a:pPr algn="ctr">
                        <a:lnSpc>
                          <a:spcPct val="100000"/>
                        </a:lnSpc>
                      </a:pPr>
                      <a:r>
                        <a:rPr lang="es-PE" sz="2400" b="1" strike="noStrike" spc="-1">
                          <a:solidFill>
                            <a:schemeClr val="bg2">
                              <a:lumMod val="25000"/>
                            </a:schemeClr>
                          </a:solidFill>
                          <a:latin typeface="Arial Narrow"/>
                          <a:ea typeface="MS Mincho"/>
                        </a:rPr>
                        <a:t>1</a:t>
                      </a:r>
                      <a:endParaRPr lang="es-PE" sz="2400" b="1"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Times New Roman"/>
                        </a:rPr>
                        <a:t>120</a:t>
                      </a:r>
                      <a:endParaRPr lang="es-PE" sz="2400" b="1"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ea typeface="Times New Roman"/>
                        </a:rPr>
                        <a:t>*</a:t>
                      </a:r>
                      <a:endParaRPr lang="es-PE" sz="2400" b="1" strike="noStrike" spc="-1">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pPr algn="ctr">
                        <a:lnSpc>
                          <a:spcPct val="100000"/>
                        </a:lnSpc>
                      </a:pPr>
                      <a:r>
                        <a:rPr lang="es-PE" sz="2400" b="1" strike="noStrike" spc="-1" dirty="0">
                          <a:solidFill>
                            <a:schemeClr val="bg2">
                              <a:lumMod val="25000"/>
                            </a:schemeClr>
                          </a:solidFill>
                          <a:latin typeface="Arial Narrow"/>
                          <a:ea typeface="Times New Roman"/>
                        </a:rPr>
                        <a:t>180</a:t>
                      </a:r>
                      <a:endParaRPr lang="es-PE" sz="2400" b="1" strike="noStrike" spc="-1" dirty="0">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100000"/>
                        </a:lnSpc>
                      </a:pPr>
                      <a:r>
                        <a:rPr lang="es-PE" sz="2400" b="1" strike="noStrike" spc="-1" dirty="0">
                          <a:solidFill>
                            <a:schemeClr val="bg2">
                              <a:lumMod val="25000"/>
                            </a:schemeClr>
                          </a:solidFill>
                          <a:latin typeface="Arial Narrow"/>
                          <a:ea typeface="Times New Roman"/>
                        </a:rPr>
                        <a:t>--</a:t>
                      </a:r>
                      <a:endParaRPr lang="es-PE" sz="2400" b="1" strike="noStrike" spc="-1" dirty="0">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100000"/>
                        </a:lnSpc>
                      </a:pPr>
                      <a:r>
                        <a:rPr lang="es-PE" sz="2400" b="1" strike="noStrike" spc="-1" dirty="0">
                          <a:solidFill>
                            <a:schemeClr val="bg2">
                              <a:lumMod val="25000"/>
                            </a:schemeClr>
                          </a:solidFill>
                          <a:latin typeface="Arial Narrow"/>
                        </a:rPr>
                        <a:t>6/2</a:t>
                      </a:r>
                      <a:endParaRPr lang="es-PE" sz="2400" b="1"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60</a:t>
                      </a:r>
                      <a:endParaRPr lang="es-PE" sz="2400" b="1"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60</a:t>
                      </a:r>
                      <a:endParaRPr lang="es-PE" sz="2400" b="1"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rgbClr val="FF0000"/>
                          </a:solidFill>
                          <a:latin typeface="Arial Narrow"/>
                          <a:ea typeface="MS Mincho"/>
                        </a:rPr>
                        <a:t>60</a:t>
                      </a:r>
                      <a:endParaRPr lang="es-PE" sz="2400" b="1"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841320">
                <a:tc>
                  <a:txBody>
                    <a:bodyPr/>
                    <a:lstStyle/>
                    <a:p>
                      <a:pPr algn="ctr">
                        <a:lnSpc>
                          <a:spcPct val="100000"/>
                        </a:lnSpc>
                      </a:pPr>
                      <a:r>
                        <a:rPr lang="es-PE" sz="2400" b="1" strike="noStrike" spc="-12">
                          <a:solidFill>
                            <a:schemeClr val="bg2">
                              <a:lumMod val="25000"/>
                            </a:schemeClr>
                          </a:solidFill>
                          <a:latin typeface="Arial Narrow"/>
                          <a:ea typeface="MS Mincho"/>
                        </a:rPr>
                        <a:t>2</a:t>
                      </a:r>
                      <a:endParaRPr lang="es-PE" sz="2400" b="1"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Times New Roman"/>
                        </a:rPr>
                        <a:t>300</a:t>
                      </a:r>
                      <a:endParaRPr lang="es-PE" sz="2400" b="1" strike="noStrike" spc="-1">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100000"/>
                        </a:lnSpc>
                      </a:pPr>
                      <a:r>
                        <a:rPr lang="es-PE" sz="2400" b="1" strike="noStrike" spc="-1" dirty="0">
                          <a:solidFill>
                            <a:schemeClr val="bg2">
                              <a:lumMod val="25000"/>
                            </a:schemeClr>
                          </a:solidFill>
                          <a:latin typeface="Arial Narrow"/>
                          <a:ea typeface="Times New Roman"/>
                        </a:rPr>
                        <a:t>100</a:t>
                      </a:r>
                      <a:endParaRPr lang="es-PE" sz="2400" b="1" strike="noStrike" spc="-1" dirty="0">
                        <a:solidFill>
                          <a:schemeClr val="bg2">
                            <a:lumMod val="25000"/>
                          </a:schemeClr>
                        </a:solidFill>
                        <a:latin typeface="Arial"/>
                      </a:endParaRPr>
                    </a:p>
                    <a:p>
                      <a:pPr algn="ctr">
                        <a:lnSpc>
                          <a:spcPct val="100000"/>
                        </a:lnSpc>
                      </a:pPr>
                      <a:r>
                        <a:rPr lang="es-PE" sz="2400" b="1" strike="noStrike" spc="-1" dirty="0">
                          <a:solidFill>
                            <a:schemeClr val="bg2">
                              <a:lumMod val="25000"/>
                            </a:schemeClr>
                          </a:solidFill>
                          <a:latin typeface="Arial Narrow"/>
                          <a:ea typeface="Times New Roman"/>
                        </a:rPr>
                        <a:t>*</a:t>
                      </a:r>
                      <a:endParaRPr lang="es-PE" sz="2400" b="1" strike="noStrike" spc="-1" dirty="0">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100000"/>
                        </a:lnSpc>
                      </a:pPr>
                      <a:r>
                        <a:rPr lang="es-PE" sz="2400" b="1" strike="noStrike" spc="-1" dirty="0">
                          <a:solidFill>
                            <a:schemeClr val="bg2">
                              <a:lumMod val="25000"/>
                            </a:schemeClr>
                          </a:solidFill>
                          <a:latin typeface="Arial Narrow"/>
                          <a:ea typeface="Times New Roman"/>
                        </a:rPr>
                        <a:t>80</a:t>
                      </a:r>
                      <a:endParaRPr lang="es-PE" sz="2400" b="1" strike="noStrike" spc="-1" dirty="0">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chemeClr val="tx1"/>
                    </a:solidFill>
                  </a:tcPr>
                </a:tc>
                <a:tc>
                  <a:txBody>
                    <a:bodyPr/>
                    <a:lstStyle/>
                    <a:p>
                      <a:pPr algn="ctr">
                        <a:lnSpc>
                          <a:spcPct val="100000"/>
                        </a:lnSpc>
                      </a:pPr>
                      <a:r>
                        <a:rPr lang="es-PE" sz="2400" b="1" strike="noStrike" spc="-1" dirty="0">
                          <a:solidFill>
                            <a:schemeClr val="bg2">
                              <a:lumMod val="25000"/>
                            </a:schemeClr>
                          </a:solidFill>
                          <a:latin typeface="Arial Narrow"/>
                        </a:rPr>
                        <a:t>5/0</a:t>
                      </a:r>
                      <a:endParaRPr lang="es-PE" sz="2400" b="1"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20</a:t>
                      </a:r>
                      <a:endParaRPr lang="es-PE" sz="2400" b="1"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a:t>
                      </a:r>
                      <a:endParaRPr lang="es-PE" sz="2400" b="1"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gn="ctr">
                        <a:lnSpc>
                          <a:spcPct val="100000"/>
                        </a:lnSpc>
                      </a:pPr>
                      <a:r>
                        <a:rPr lang="es-PE" sz="2400" b="1" strike="noStrike" spc="-1" dirty="0">
                          <a:solidFill>
                            <a:srgbClr val="FF0000"/>
                          </a:solidFill>
                          <a:latin typeface="Arial Narrow"/>
                          <a:ea typeface="MS Mincho"/>
                        </a:rPr>
                        <a:t>-</a:t>
                      </a:r>
                      <a:endParaRPr lang="es-PE" sz="2400" b="1"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extLst>
                  <a:ext uri="{0D108BD9-81ED-4DB2-BD59-A6C34878D82A}">
                    <a16:rowId xmlns:a16="http://schemas.microsoft.com/office/drawing/2014/main" val="10002"/>
                  </a:ext>
                </a:extLst>
              </a:tr>
              <a:tr h="615960">
                <a:tc>
                  <a:txBody>
                    <a:bodyPr/>
                    <a:lstStyle/>
                    <a:p>
                      <a:pPr algn="ctr">
                        <a:lnSpc>
                          <a:spcPct val="100000"/>
                        </a:lnSpc>
                      </a:pPr>
                      <a:r>
                        <a:rPr lang="es-PE" sz="2400" b="1" strike="noStrike" spc="-1">
                          <a:solidFill>
                            <a:schemeClr val="bg2">
                              <a:lumMod val="25000"/>
                            </a:schemeClr>
                          </a:solidFill>
                          <a:latin typeface="Arial Narrow"/>
                          <a:ea typeface="MS Mincho"/>
                        </a:rPr>
                        <a:t>3</a:t>
                      </a:r>
                      <a:endParaRPr lang="es-PE" sz="2400" b="1"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Times New Roman"/>
                        </a:rPr>
                        <a:t>200</a:t>
                      </a:r>
                      <a:endParaRPr lang="es-PE" sz="2400" b="1" strike="noStrike" spc="-1">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pPr marL="0" algn="ctr" defTabSz="914400" rtl="0" eaLnBrk="1" latinLnBrk="0" hangingPunct="1">
                        <a:lnSpc>
                          <a:spcPct val="100000"/>
                        </a:lnSpc>
                      </a:pPr>
                      <a:r>
                        <a:rPr lang="es-PE" sz="2400" b="1" strike="noStrike" kern="1200" spc="-1" dirty="0">
                          <a:solidFill>
                            <a:schemeClr val="bg2">
                              <a:lumMod val="25000"/>
                            </a:schemeClr>
                          </a:solidFill>
                          <a:latin typeface="Arial Narrow"/>
                          <a:ea typeface="+mn-ea"/>
                          <a:cs typeface="+mn-cs"/>
                        </a:rPr>
                        <a:t>250</a:t>
                      </a: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chemeClr val="bg1"/>
                    </a:solidFill>
                  </a:tcPr>
                </a:tc>
                <a:tc>
                  <a:txBody>
                    <a:bodyPr/>
                    <a:lstStyle/>
                    <a:p>
                      <a:pPr algn="ctr">
                        <a:lnSpc>
                          <a:spcPct val="100000"/>
                        </a:lnSpc>
                      </a:pPr>
                      <a:r>
                        <a:rPr lang="es-PE" sz="2400" b="1" strike="noStrike" spc="-1">
                          <a:solidFill>
                            <a:schemeClr val="bg2">
                              <a:lumMod val="25000"/>
                            </a:schemeClr>
                          </a:solidFill>
                          <a:latin typeface="Arial Narrow"/>
                          <a:ea typeface="Times New Roman"/>
                        </a:rPr>
                        <a:t>120</a:t>
                      </a:r>
                      <a:endParaRPr lang="es-PE" sz="2400" b="1"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ea typeface="Times New Roman"/>
                        </a:rPr>
                        <a:t>*</a:t>
                      </a:r>
                      <a:endParaRPr lang="es-PE" sz="2400" b="1" strike="noStrike" spc="-1">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100000"/>
                        </a:lnSpc>
                      </a:pPr>
                      <a:r>
                        <a:rPr lang="es-PE" sz="2400" b="1" strike="noStrike" spc="-1">
                          <a:solidFill>
                            <a:schemeClr val="bg2">
                              <a:lumMod val="25000"/>
                            </a:schemeClr>
                          </a:solidFill>
                          <a:latin typeface="Arial Narrow"/>
                        </a:rPr>
                        <a:t>8</a:t>
                      </a:r>
                      <a:endParaRPr lang="es-PE" sz="2400" b="1"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rPr>
                        <a:t>1</a:t>
                      </a:r>
                      <a:endParaRPr lang="es-PE" sz="2400" b="1"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80</a:t>
                      </a:r>
                      <a:endParaRPr lang="es-PE" sz="2400" b="1"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80</a:t>
                      </a:r>
                      <a:endParaRPr lang="es-PE" sz="2400" b="1"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tc>
                  <a:txBody>
                    <a:bodyPr/>
                    <a:lstStyle/>
                    <a:p>
                      <a:pPr algn="ctr">
                        <a:lnSpc>
                          <a:spcPct val="100000"/>
                        </a:lnSpc>
                      </a:pPr>
                      <a:r>
                        <a:rPr lang="es-PE" sz="2400" b="1" strike="noStrike" spc="-1" dirty="0">
                          <a:solidFill>
                            <a:srgbClr val="FF0000"/>
                          </a:solidFill>
                          <a:latin typeface="Arial Narrow"/>
                          <a:ea typeface="MS Mincho"/>
                        </a:rPr>
                        <a:t>50</a:t>
                      </a:r>
                      <a:endParaRPr lang="es-PE" sz="2400" b="1"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extLst>
                  <a:ext uri="{0D108BD9-81ED-4DB2-BD59-A6C34878D82A}">
                    <a16:rowId xmlns:a16="http://schemas.microsoft.com/office/drawing/2014/main" val="10003"/>
                  </a:ext>
                </a:extLst>
              </a:tr>
              <a:tr h="570160">
                <a:tc>
                  <a:txBody>
                    <a:bodyPr/>
                    <a:lstStyle/>
                    <a:p>
                      <a:pPr algn="ctr">
                        <a:lnSpc>
                          <a:spcPct val="100000"/>
                        </a:lnSpc>
                      </a:pPr>
                      <a:r>
                        <a:rPr lang="es-PE" sz="2400" b="1" strike="noStrike" spc="-12">
                          <a:solidFill>
                            <a:schemeClr val="bg2">
                              <a:lumMod val="25000"/>
                            </a:schemeClr>
                          </a:solidFill>
                          <a:latin typeface="Arial Narrow"/>
                          <a:ea typeface="MS Mincho"/>
                        </a:rPr>
                        <a:t>Demanda</a:t>
                      </a:r>
                      <a:endParaRPr lang="es-PE" sz="2400" b="1"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chemeClr val="bg2">
                              <a:lumMod val="25000"/>
                            </a:schemeClr>
                          </a:solidFill>
                          <a:latin typeface="Arial Narrow"/>
                        </a:rPr>
                        <a:t>4/0</a:t>
                      </a:r>
                      <a:endParaRPr lang="es-PE" sz="2400" b="1"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chemeClr val="bg2">
                              <a:lumMod val="25000"/>
                            </a:schemeClr>
                          </a:solidFill>
                          <a:latin typeface="Arial Narrow"/>
                        </a:rPr>
                        <a:t>8/3</a:t>
                      </a:r>
                      <a:endParaRPr lang="es-PE" sz="2400" b="1"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chemeClr val="bg2">
                              <a:lumMod val="25000"/>
                            </a:schemeClr>
                          </a:solidFill>
                          <a:latin typeface="Arial Narrow"/>
                        </a:rPr>
                        <a:t>7/0</a:t>
                      </a:r>
                      <a:endParaRPr lang="es-PE" sz="2400" b="1"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b="1">
                        <a:solidFill>
                          <a:schemeClr val="bg2">
                            <a:lumMod val="25000"/>
                          </a:schemeClr>
                        </a:solidFill>
                      </a:endParaRPr>
                    </a:p>
                  </a:txBody>
                  <a:tcPr marL="44280" marR="44280">
                    <a:lnL w="12240">
                      <a:solidFill>
                        <a:srgbClr val="000000"/>
                      </a:solidFill>
                    </a:lnL>
                    <a:lnR w="12240">
                      <a:noFill/>
                    </a:lnR>
                    <a:lnT w="12240">
                      <a:solidFill>
                        <a:srgbClr val="1D528D"/>
                      </a:solidFill>
                    </a:lnT>
                    <a:lnB w="12240">
                      <a:noFill/>
                    </a:lnB>
                    <a:noFill/>
                  </a:tcPr>
                </a:tc>
                <a:tc>
                  <a:txBody>
                    <a:bodyPr/>
                    <a:lstStyle/>
                    <a:p>
                      <a:endParaRPr lang="en-US" sz="2400" b="1">
                        <a:solidFill>
                          <a:schemeClr val="bg2">
                            <a:lumMod val="25000"/>
                          </a:schemeClr>
                        </a:solidFill>
                      </a:endParaRPr>
                    </a:p>
                  </a:txBody>
                  <a:tcPr marL="44280" marR="44280">
                    <a:lnL w="12240">
                      <a:noFill/>
                    </a:lnL>
                    <a:lnR w="12240">
                      <a:noFill/>
                    </a:lnR>
                    <a:lnT w="12240">
                      <a:solidFill>
                        <a:srgbClr val="1D528D"/>
                      </a:solidFill>
                    </a:lnT>
                    <a:lnB w="12240">
                      <a:noFill/>
                    </a:lnB>
                    <a:noFill/>
                  </a:tcPr>
                </a:tc>
                <a:tc>
                  <a:txBody>
                    <a:bodyPr/>
                    <a:lstStyle/>
                    <a:p>
                      <a:endParaRPr lang="en-US" sz="2400" b="1">
                        <a:solidFill>
                          <a:schemeClr val="bg2">
                            <a:lumMod val="25000"/>
                          </a:schemeClr>
                        </a:solidFill>
                      </a:endParaRPr>
                    </a:p>
                  </a:txBody>
                  <a:tcPr marL="44280" marR="44280">
                    <a:lnL w="12240">
                      <a:noFill/>
                    </a:lnL>
                    <a:lnR w="12240">
                      <a:noFill/>
                    </a:lnR>
                    <a:lnT w="12240">
                      <a:solidFill>
                        <a:srgbClr val="1D528D"/>
                      </a:solidFill>
                    </a:lnT>
                    <a:lnB w="12240">
                      <a:noFill/>
                    </a:lnB>
                    <a:noFill/>
                  </a:tcPr>
                </a:tc>
                <a:tc>
                  <a:txBody>
                    <a:bodyPr/>
                    <a:lstStyle/>
                    <a:p>
                      <a:endParaRPr lang="en-US" sz="2400" b="1">
                        <a:solidFill>
                          <a:schemeClr val="bg2">
                            <a:lumMod val="25000"/>
                          </a:schemeClr>
                        </a:solidFill>
                      </a:endParaRPr>
                    </a:p>
                  </a:txBody>
                  <a:tcPr marL="44280" marR="44280">
                    <a:lnL w="12240">
                      <a:noFill/>
                    </a:lnL>
                    <a:lnR w="12240">
                      <a:noFill/>
                    </a:lnR>
                    <a:lnT w="12240">
                      <a:solidFill>
                        <a:srgbClr val="1D528D"/>
                      </a:solidFill>
                    </a:lnT>
                    <a:lnB w="12240">
                      <a:noFill/>
                    </a:lnB>
                    <a:noFill/>
                  </a:tcPr>
                </a:tc>
                <a:extLst>
                  <a:ext uri="{0D108BD9-81ED-4DB2-BD59-A6C34878D82A}">
                    <a16:rowId xmlns:a16="http://schemas.microsoft.com/office/drawing/2014/main" val="10004"/>
                  </a:ext>
                </a:extLst>
              </a:tr>
              <a:tr h="547200">
                <a:tc>
                  <a:txBody>
                    <a:bodyPr/>
                    <a:lstStyle/>
                    <a:p>
                      <a:pPr algn="ctr">
                        <a:lnSpc>
                          <a:spcPct val="100000"/>
                        </a:lnSpc>
                      </a:pPr>
                      <a:r>
                        <a:rPr lang="es-PE" sz="2400" b="1" strike="noStrike" spc="-1">
                          <a:solidFill>
                            <a:schemeClr val="bg2">
                              <a:lumMod val="25000"/>
                            </a:schemeClr>
                          </a:solidFill>
                          <a:latin typeface="Arial Narrow"/>
                          <a:ea typeface="MS Mincho"/>
                        </a:rPr>
                        <a:t>P1</a:t>
                      </a:r>
                      <a:endParaRPr lang="es-PE" sz="2400" b="1"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chemeClr val="bg2">
                              <a:lumMod val="25000"/>
                            </a:schemeClr>
                          </a:solidFill>
                          <a:latin typeface="Arial Narrow"/>
                          <a:ea typeface="MS Mincho"/>
                        </a:rPr>
                        <a:t>80</a:t>
                      </a:r>
                      <a:endParaRPr lang="es-PE" sz="2400" b="1"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chemeClr val="bg2">
                              <a:lumMod val="25000"/>
                            </a:schemeClr>
                          </a:solidFill>
                          <a:latin typeface="Arial Narrow"/>
                          <a:ea typeface="MS Mincho"/>
                        </a:rPr>
                        <a:t>80</a:t>
                      </a:r>
                      <a:endParaRPr lang="es-PE" sz="2400" b="1"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40</a:t>
                      </a:r>
                      <a:endParaRPr lang="es-PE" sz="2400" b="1"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b="1">
                        <a:solidFill>
                          <a:schemeClr val="bg2">
                            <a:lumMod val="25000"/>
                          </a:schemeClr>
                        </a:solidFill>
                      </a:endParaRPr>
                    </a:p>
                  </a:txBody>
                  <a:tcPr marL="44280" marR="44280">
                    <a:lnL w="12240">
                      <a:solidFill>
                        <a:srgbClr val="000000"/>
                      </a:solidFill>
                    </a:lnL>
                    <a:lnR w="12240">
                      <a:noFill/>
                    </a:lnR>
                    <a:lnT w="12240">
                      <a:noFill/>
                    </a:lnT>
                    <a:lnB w="12240">
                      <a:noFill/>
                    </a:lnB>
                    <a:noFill/>
                  </a:tcPr>
                </a:tc>
                <a:tc>
                  <a:txBody>
                    <a:bodyPr/>
                    <a:lstStyle/>
                    <a:p>
                      <a:endParaRPr lang="en-US" sz="2400" b="1">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b="1">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b="1">
                        <a:solidFill>
                          <a:schemeClr val="bg2">
                            <a:lumMod val="25000"/>
                          </a:schemeClr>
                        </a:solidFill>
                      </a:endParaRPr>
                    </a:p>
                  </a:txBody>
                  <a:tcPr marL="44280" marR="44280">
                    <a:lnL w="12240">
                      <a:noFill/>
                    </a:lnL>
                    <a:lnR w="12240">
                      <a:noFill/>
                    </a:lnR>
                    <a:lnT w="12240">
                      <a:noFill/>
                    </a:lnT>
                    <a:lnB w="12240">
                      <a:noFill/>
                    </a:lnB>
                    <a:noFill/>
                  </a:tcPr>
                </a:tc>
                <a:extLst>
                  <a:ext uri="{0D108BD9-81ED-4DB2-BD59-A6C34878D82A}">
                    <a16:rowId xmlns:a16="http://schemas.microsoft.com/office/drawing/2014/main" val="10005"/>
                  </a:ext>
                </a:extLst>
              </a:tr>
              <a:tr h="547200">
                <a:tc>
                  <a:txBody>
                    <a:bodyPr/>
                    <a:lstStyle/>
                    <a:p>
                      <a:pPr algn="ctr">
                        <a:lnSpc>
                          <a:spcPct val="100000"/>
                        </a:lnSpc>
                      </a:pPr>
                      <a:r>
                        <a:rPr lang="es-PE" sz="2400" b="1" strike="noStrike" spc="-1">
                          <a:solidFill>
                            <a:schemeClr val="bg2">
                              <a:lumMod val="25000"/>
                            </a:schemeClr>
                          </a:solidFill>
                          <a:latin typeface="Arial Narrow"/>
                          <a:ea typeface="MS Mincho"/>
                        </a:rPr>
                        <a:t>P2</a:t>
                      </a:r>
                      <a:endParaRPr lang="es-PE" sz="2400" b="1"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80</a:t>
                      </a:r>
                      <a:endParaRPr lang="es-PE" sz="2400" b="1"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70</a:t>
                      </a:r>
                      <a:endParaRPr lang="es-PE" sz="2400" b="1"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120</a:t>
                      </a:r>
                      <a:endParaRPr lang="es-PE" sz="2400" b="1"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b="1">
                        <a:solidFill>
                          <a:schemeClr val="bg2">
                            <a:lumMod val="25000"/>
                          </a:schemeClr>
                        </a:solidFill>
                      </a:endParaRPr>
                    </a:p>
                  </a:txBody>
                  <a:tcPr marL="44280" marR="44280">
                    <a:lnL w="12240">
                      <a:solidFill>
                        <a:srgbClr val="000000"/>
                      </a:solidFill>
                    </a:lnL>
                    <a:lnR w="12240">
                      <a:noFill/>
                    </a:lnR>
                    <a:lnT w="12240">
                      <a:noFill/>
                    </a:lnT>
                    <a:lnB w="12240">
                      <a:noFill/>
                    </a:lnB>
                    <a:noFill/>
                  </a:tcPr>
                </a:tc>
                <a:tc>
                  <a:txBody>
                    <a:bodyPr/>
                    <a:lstStyle/>
                    <a:p>
                      <a:endParaRPr lang="en-US" sz="2400" b="1">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b="1">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b="1">
                        <a:solidFill>
                          <a:schemeClr val="bg2">
                            <a:lumMod val="25000"/>
                          </a:schemeClr>
                        </a:solidFill>
                      </a:endParaRPr>
                    </a:p>
                  </a:txBody>
                  <a:tcPr marL="44280" marR="44280">
                    <a:lnL w="12240">
                      <a:noFill/>
                    </a:lnL>
                    <a:lnR w="12240">
                      <a:noFill/>
                    </a:lnR>
                    <a:lnT w="12240">
                      <a:noFill/>
                    </a:lnT>
                    <a:lnB w="12240">
                      <a:noFill/>
                    </a:lnB>
                    <a:noFill/>
                  </a:tcPr>
                </a:tc>
                <a:extLst>
                  <a:ext uri="{0D108BD9-81ED-4DB2-BD59-A6C34878D82A}">
                    <a16:rowId xmlns:a16="http://schemas.microsoft.com/office/drawing/2014/main" val="10006"/>
                  </a:ext>
                </a:extLst>
              </a:tr>
              <a:tr h="547920">
                <a:tc>
                  <a:txBody>
                    <a:bodyPr/>
                    <a:lstStyle/>
                    <a:p>
                      <a:pPr algn="ctr">
                        <a:lnSpc>
                          <a:spcPct val="100000"/>
                        </a:lnSpc>
                      </a:pPr>
                      <a:r>
                        <a:rPr lang="es-PE" sz="2400" b="1" strike="noStrike" spc="-1">
                          <a:solidFill>
                            <a:schemeClr val="bg2">
                              <a:lumMod val="25000"/>
                            </a:schemeClr>
                          </a:solidFill>
                          <a:latin typeface="Arial Narrow"/>
                          <a:ea typeface="MS Mincho"/>
                        </a:rPr>
                        <a:t>P3</a:t>
                      </a:r>
                      <a:endParaRPr lang="es-PE" sz="2400" b="1"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rgbClr val="FF0000"/>
                          </a:solidFill>
                          <a:latin typeface="Arial Narrow"/>
                          <a:ea typeface="MS Mincho"/>
                        </a:rPr>
                        <a:t>80</a:t>
                      </a:r>
                      <a:endParaRPr lang="es-PE" sz="2400" b="1"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rgbClr val="FF0000"/>
                          </a:solidFill>
                          <a:latin typeface="Arial Narrow"/>
                          <a:ea typeface="MS Mincho"/>
                        </a:rPr>
                        <a:t>70</a:t>
                      </a:r>
                      <a:endParaRPr lang="es-PE" sz="2400" b="1"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dirty="0">
                          <a:solidFill>
                            <a:srgbClr val="FF0000"/>
                          </a:solidFill>
                          <a:latin typeface="Arial Narrow"/>
                          <a:ea typeface="MS Mincho"/>
                        </a:rPr>
                        <a:t>-</a:t>
                      </a:r>
                      <a:endParaRPr lang="es-PE" sz="2400" b="1" strike="noStrike" spc="-1" dirty="0">
                        <a:solidFill>
                          <a:srgbClr val="FF0000"/>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b="1">
                        <a:solidFill>
                          <a:schemeClr val="bg2">
                            <a:lumMod val="25000"/>
                          </a:schemeClr>
                        </a:solidFill>
                      </a:endParaRPr>
                    </a:p>
                  </a:txBody>
                  <a:tcPr marL="44280" marR="44280">
                    <a:lnL w="12240">
                      <a:solidFill>
                        <a:srgbClr val="000000"/>
                      </a:solidFill>
                    </a:lnL>
                    <a:lnR w="12240">
                      <a:noFill/>
                    </a:lnR>
                    <a:lnT w="12240">
                      <a:noFill/>
                    </a:lnT>
                    <a:lnB w="12240">
                      <a:noFill/>
                    </a:lnB>
                    <a:noFill/>
                  </a:tcPr>
                </a:tc>
                <a:tc>
                  <a:txBody>
                    <a:bodyPr/>
                    <a:lstStyle/>
                    <a:p>
                      <a:endParaRPr lang="en-US" sz="2400" b="1">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b="1">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b="1" dirty="0">
                        <a:solidFill>
                          <a:schemeClr val="bg2">
                            <a:lumMod val="25000"/>
                          </a:schemeClr>
                        </a:solidFill>
                      </a:endParaRPr>
                    </a:p>
                  </a:txBody>
                  <a:tcPr marL="44280" marR="44280">
                    <a:lnL w="12240">
                      <a:noFill/>
                    </a:lnL>
                    <a:lnR w="12240">
                      <a:noFill/>
                    </a:lnR>
                    <a:lnT w="12240">
                      <a:noFill/>
                    </a:lnT>
                    <a:lnB w="12240">
                      <a:noFill/>
                    </a:lnB>
                    <a:noFill/>
                  </a:tcPr>
                </a:tc>
                <a:extLst>
                  <a:ext uri="{0D108BD9-81ED-4DB2-BD59-A6C34878D82A}">
                    <a16:rowId xmlns:a16="http://schemas.microsoft.com/office/drawing/2014/main" val="10007"/>
                  </a:ext>
                </a:extLst>
              </a:tr>
            </a:tbl>
          </a:graphicData>
        </a:graphic>
      </p:graphicFrame>
      <p:sp>
        <p:nvSpPr>
          <p:cNvPr id="1146" name="CustomShape 2"/>
          <p:cNvSpPr/>
          <p:nvPr/>
        </p:nvSpPr>
        <p:spPr>
          <a:xfrm>
            <a:off x="1524000" y="0"/>
            <a:ext cx="9143640" cy="45684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sp>
        <p:nvSpPr>
          <p:cNvPr id="1147" name="CustomShape 3"/>
          <p:cNvSpPr/>
          <p:nvPr/>
        </p:nvSpPr>
        <p:spPr>
          <a:xfrm>
            <a:off x="5977508" y="4860111"/>
            <a:ext cx="2855950" cy="1488933"/>
          </a:xfrm>
          <a:prstGeom prst="rect">
            <a:avLst/>
          </a:prstGeom>
          <a:noFill/>
          <a:ln w="12600">
            <a:noFill/>
          </a:ln>
        </p:spPr>
        <p:style>
          <a:lnRef idx="0">
            <a:scrgbClr r="0" g="0" b="0"/>
          </a:lnRef>
          <a:fillRef idx="0">
            <a:scrgbClr r="0" g="0" b="0"/>
          </a:fillRef>
          <a:effectRef idx="0">
            <a:scrgbClr r="0" g="0" b="0"/>
          </a:effectRef>
          <a:fontRef idx="minor"/>
        </p:style>
        <p:txBody>
          <a:bodyPr lIns="0" tIns="0" rIns="0" bIns="0">
            <a:noAutofit/>
          </a:bodyPr>
          <a:lstStyle/>
          <a:p>
            <a:pPr marL="343080" indent="-342720">
              <a:lnSpc>
                <a:spcPct val="95000"/>
              </a:lnSpc>
              <a:spcBef>
                <a:spcPts val="1001"/>
              </a:spcBef>
              <a:buClr>
                <a:srgbClr val="093A80"/>
              </a:buClr>
              <a:buSzPct val="75000"/>
              <a:buFont typeface="Wingdings" charset="2"/>
              <a:buChar char=""/>
            </a:pPr>
            <a:r>
              <a:rPr lang="es-PE" sz="2000" b="1" spc="-1" dirty="0" err="1">
                <a:solidFill>
                  <a:srgbClr val="1D528D"/>
                </a:solidFill>
                <a:latin typeface="Arial"/>
              </a:rPr>
              <a:t>X22</a:t>
            </a:r>
            <a:r>
              <a:rPr lang="es-PE" sz="2000" b="1" spc="-1" dirty="0">
                <a:solidFill>
                  <a:srgbClr val="1D528D"/>
                </a:solidFill>
                <a:latin typeface="Arial"/>
              </a:rPr>
              <a:t>=5 C=5*100=500</a:t>
            </a:r>
            <a:endParaRPr lang="es-PE" sz="2000" spc="-1" dirty="0">
              <a:latin typeface="Arial"/>
            </a:endParaRPr>
          </a:p>
          <a:p>
            <a:pPr marL="343080" indent="-342720">
              <a:lnSpc>
                <a:spcPct val="95000"/>
              </a:lnSpc>
              <a:spcBef>
                <a:spcPts val="1001"/>
              </a:spcBef>
              <a:buClr>
                <a:srgbClr val="093A80"/>
              </a:buClr>
              <a:buSzPct val="75000"/>
              <a:buFont typeface="Wingdings" charset="2"/>
              <a:buChar char=""/>
            </a:pPr>
            <a:r>
              <a:rPr lang="es-PE" sz="2000" b="1" spc="-1" dirty="0" err="1">
                <a:solidFill>
                  <a:srgbClr val="1D528D"/>
                </a:solidFill>
                <a:latin typeface="Arial"/>
              </a:rPr>
              <a:t>X33</a:t>
            </a:r>
            <a:r>
              <a:rPr lang="es-PE" sz="2000" b="1" spc="-1" dirty="0">
                <a:solidFill>
                  <a:srgbClr val="1D528D"/>
                </a:solidFill>
                <a:latin typeface="Arial"/>
              </a:rPr>
              <a:t>=7 C=7*120=840</a:t>
            </a:r>
            <a:endParaRPr lang="es-PE" sz="2000" spc="-1" dirty="0">
              <a:latin typeface="Arial"/>
            </a:endParaRPr>
          </a:p>
          <a:p>
            <a:pPr marL="343080" indent="-342720">
              <a:lnSpc>
                <a:spcPct val="95000"/>
              </a:lnSpc>
              <a:spcBef>
                <a:spcPts val="1001"/>
              </a:spcBef>
              <a:buClr>
                <a:srgbClr val="093A80"/>
              </a:buClr>
              <a:buSzPct val="75000"/>
              <a:buFont typeface="Wingdings" charset="2"/>
              <a:buChar char=""/>
            </a:pPr>
            <a:r>
              <a:rPr lang="es-PE" sz="2000" b="1" spc="-1" dirty="0" err="1">
                <a:solidFill>
                  <a:srgbClr val="1D528D"/>
                </a:solidFill>
                <a:latin typeface="Arial"/>
              </a:rPr>
              <a:t>X11</a:t>
            </a:r>
            <a:r>
              <a:rPr lang="es-PE" sz="2000" b="1" spc="-1" dirty="0">
                <a:solidFill>
                  <a:srgbClr val="1D528D"/>
                </a:solidFill>
                <a:latin typeface="Arial"/>
              </a:rPr>
              <a:t>=4 C=4*120=480		</a:t>
            </a:r>
            <a:endParaRPr lang="es-PE" sz="2000" spc="-1" dirty="0">
              <a:latin typeface="Arial"/>
            </a:endParaRPr>
          </a:p>
          <a:p>
            <a:pPr>
              <a:lnSpc>
                <a:spcPct val="95000"/>
              </a:lnSpc>
              <a:spcBef>
                <a:spcPts val="1001"/>
              </a:spcBef>
            </a:pPr>
            <a:endParaRPr lang="es-PE" sz="2000" spc="-1" dirty="0">
              <a:latin typeface="Arial"/>
            </a:endParaRPr>
          </a:p>
        </p:txBody>
      </p:sp>
      <p:sp>
        <p:nvSpPr>
          <p:cNvPr id="5" name="CuadroTexto 4">
            <a:extLst>
              <a:ext uri="{FF2B5EF4-FFF2-40B4-BE49-F238E27FC236}">
                <a16:creationId xmlns:a16="http://schemas.microsoft.com/office/drawing/2014/main" id="{7508A7FD-10F4-41FC-8FE3-F691A7C28DA5}"/>
              </a:ext>
            </a:extLst>
          </p:cNvPr>
          <p:cNvSpPr txBox="1"/>
          <p:nvPr/>
        </p:nvSpPr>
        <p:spPr>
          <a:xfrm>
            <a:off x="258793" y="2191109"/>
            <a:ext cx="1380226" cy="646331"/>
          </a:xfrm>
          <a:prstGeom prst="rect">
            <a:avLst/>
          </a:prstGeom>
          <a:solidFill>
            <a:srgbClr val="FFFF00"/>
          </a:solidFill>
        </p:spPr>
        <p:txBody>
          <a:bodyPr wrap="square" rtlCol="0">
            <a:spAutoFit/>
          </a:bodyPr>
          <a:lstStyle/>
          <a:p>
            <a:r>
              <a:rPr lang="es-ES" b="1" dirty="0"/>
              <a:t>Hallamos las penalidades</a:t>
            </a:r>
          </a:p>
        </p:txBody>
      </p:sp>
      <p:sp>
        <p:nvSpPr>
          <p:cNvPr id="6" name="Rectángulo 5">
            <a:extLst>
              <a:ext uri="{FF2B5EF4-FFF2-40B4-BE49-F238E27FC236}">
                <a16:creationId xmlns:a16="http://schemas.microsoft.com/office/drawing/2014/main" id="{249071C6-7D9F-4145-BB64-962527E57694}"/>
              </a:ext>
            </a:extLst>
          </p:cNvPr>
          <p:cNvSpPr/>
          <p:nvPr/>
        </p:nvSpPr>
        <p:spPr>
          <a:xfrm>
            <a:off x="258136" y="3054556"/>
            <a:ext cx="1372258" cy="923330"/>
          </a:xfrm>
          <a:prstGeom prst="rect">
            <a:avLst/>
          </a:prstGeom>
          <a:solidFill>
            <a:srgbClr val="FFFF00"/>
          </a:solidFill>
        </p:spPr>
        <p:txBody>
          <a:bodyPr wrap="square">
            <a:spAutoFit/>
          </a:bodyPr>
          <a:lstStyle/>
          <a:p>
            <a:r>
              <a:rPr lang="es-ES" b="1" dirty="0"/>
              <a:t>Hallamos la mayor penalidad</a:t>
            </a:r>
            <a:endParaRPr lang="es-PE" b="1" dirty="0"/>
          </a:p>
        </p:txBody>
      </p:sp>
      <p:sp>
        <p:nvSpPr>
          <p:cNvPr id="7" name="CuadroTexto 6">
            <a:extLst>
              <a:ext uri="{FF2B5EF4-FFF2-40B4-BE49-F238E27FC236}">
                <a16:creationId xmlns:a16="http://schemas.microsoft.com/office/drawing/2014/main" id="{9631050A-F6F1-42FF-BBDD-BCC3F319B655}"/>
              </a:ext>
            </a:extLst>
          </p:cNvPr>
          <p:cNvSpPr txBox="1"/>
          <p:nvPr/>
        </p:nvSpPr>
        <p:spPr>
          <a:xfrm>
            <a:off x="264551" y="4198193"/>
            <a:ext cx="1380226" cy="646331"/>
          </a:xfrm>
          <a:prstGeom prst="rect">
            <a:avLst/>
          </a:prstGeom>
          <a:solidFill>
            <a:srgbClr val="FFFF00"/>
          </a:solidFill>
        </p:spPr>
        <p:txBody>
          <a:bodyPr wrap="square" rtlCol="0">
            <a:spAutoFit/>
          </a:bodyPr>
          <a:lstStyle/>
          <a:p>
            <a:r>
              <a:rPr lang="es-ES" b="1" dirty="0"/>
              <a:t>Hallamos el menor costo</a:t>
            </a:r>
          </a:p>
        </p:txBody>
      </p:sp>
      <p:sp>
        <p:nvSpPr>
          <p:cNvPr id="8" name="CuadroTexto 7">
            <a:extLst>
              <a:ext uri="{FF2B5EF4-FFF2-40B4-BE49-F238E27FC236}">
                <a16:creationId xmlns:a16="http://schemas.microsoft.com/office/drawing/2014/main" id="{F0774341-FD80-4531-A2AA-446F31AE9238}"/>
              </a:ext>
            </a:extLst>
          </p:cNvPr>
          <p:cNvSpPr txBox="1"/>
          <p:nvPr/>
        </p:nvSpPr>
        <p:spPr>
          <a:xfrm>
            <a:off x="264551" y="5086705"/>
            <a:ext cx="1380226" cy="646331"/>
          </a:xfrm>
          <a:prstGeom prst="rect">
            <a:avLst/>
          </a:prstGeom>
          <a:solidFill>
            <a:srgbClr val="FFFF00"/>
          </a:solidFill>
        </p:spPr>
        <p:txBody>
          <a:bodyPr wrap="square" rtlCol="0">
            <a:spAutoFit/>
          </a:bodyPr>
          <a:lstStyle/>
          <a:p>
            <a:r>
              <a:rPr lang="es-ES" b="1" dirty="0"/>
              <a:t>Anotamos la operación</a:t>
            </a:r>
          </a:p>
        </p:txBody>
      </p:sp>
      <p:sp>
        <p:nvSpPr>
          <p:cNvPr id="2" name="Globo: flecha hacia abajo 1">
            <a:extLst>
              <a:ext uri="{FF2B5EF4-FFF2-40B4-BE49-F238E27FC236}">
                <a16:creationId xmlns:a16="http://schemas.microsoft.com/office/drawing/2014/main" id="{2C8C6127-D209-9B78-687A-369BA71D019C}"/>
              </a:ext>
            </a:extLst>
          </p:cNvPr>
          <p:cNvSpPr/>
          <p:nvPr/>
        </p:nvSpPr>
        <p:spPr>
          <a:xfrm>
            <a:off x="276044" y="1276709"/>
            <a:ext cx="1345721" cy="897148"/>
          </a:xfrm>
          <a:prstGeom prst="downArrowCallou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rgbClr val="FF0000"/>
                </a:solidFill>
              </a:rPr>
              <a:t>Pasos:</a:t>
            </a:r>
            <a:endParaRPr lang="es-PE" sz="2400" dirty="0">
              <a:solidFill>
                <a:srgbClr val="FF0000"/>
              </a:solidFill>
            </a:endParaRPr>
          </a:p>
        </p:txBody>
      </p:sp>
    </p:spTree>
    <p:extLst>
      <p:ext uri="{BB962C8B-B14F-4D97-AF65-F5344CB8AC3E}">
        <p14:creationId xmlns:p14="http://schemas.microsoft.com/office/powerpoint/2010/main" val="2959246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48" name="Table 1"/>
          <p:cNvGraphicFramePr/>
          <p:nvPr/>
        </p:nvGraphicFramePr>
        <p:xfrm>
          <a:off x="1919536" y="1233579"/>
          <a:ext cx="6984000" cy="5647320"/>
        </p:xfrm>
        <a:graphic>
          <a:graphicData uri="http://schemas.openxmlformats.org/drawingml/2006/table">
            <a:tbl>
              <a:tblPr/>
              <a:tblGrid>
                <a:gridCol w="1669320">
                  <a:extLst>
                    <a:ext uri="{9D8B030D-6E8A-4147-A177-3AD203B41FA5}">
                      <a16:colId xmlns:a16="http://schemas.microsoft.com/office/drawing/2014/main" val="20000"/>
                    </a:ext>
                  </a:extLst>
                </a:gridCol>
                <a:gridCol w="667440">
                  <a:extLst>
                    <a:ext uri="{9D8B030D-6E8A-4147-A177-3AD203B41FA5}">
                      <a16:colId xmlns:a16="http://schemas.microsoft.com/office/drawing/2014/main" val="20001"/>
                    </a:ext>
                  </a:extLst>
                </a:gridCol>
                <a:gridCol w="667440">
                  <a:extLst>
                    <a:ext uri="{9D8B030D-6E8A-4147-A177-3AD203B41FA5}">
                      <a16:colId xmlns:a16="http://schemas.microsoft.com/office/drawing/2014/main" val="20002"/>
                    </a:ext>
                  </a:extLst>
                </a:gridCol>
                <a:gridCol w="750960">
                  <a:extLst>
                    <a:ext uri="{9D8B030D-6E8A-4147-A177-3AD203B41FA5}">
                      <a16:colId xmlns:a16="http://schemas.microsoft.com/office/drawing/2014/main" val="20003"/>
                    </a:ext>
                  </a:extLst>
                </a:gridCol>
                <a:gridCol w="1225080">
                  <a:extLst>
                    <a:ext uri="{9D8B030D-6E8A-4147-A177-3AD203B41FA5}">
                      <a16:colId xmlns:a16="http://schemas.microsoft.com/office/drawing/2014/main" val="20004"/>
                    </a:ext>
                  </a:extLst>
                </a:gridCol>
                <a:gridCol w="667440">
                  <a:extLst>
                    <a:ext uri="{9D8B030D-6E8A-4147-A177-3AD203B41FA5}">
                      <a16:colId xmlns:a16="http://schemas.microsoft.com/office/drawing/2014/main" val="20005"/>
                    </a:ext>
                  </a:extLst>
                </a:gridCol>
                <a:gridCol w="667440">
                  <a:extLst>
                    <a:ext uri="{9D8B030D-6E8A-4147-A177-3AD203B41FA5}">
                      <a16:colId xmlns:a16="http://schemas.microsoft.com/office/drawing/2014/main" val="20006"/>
                    </a:ext>
                  </a:extLst>
                </a:gridCol>
                <a:gridCol w="668880">
                  <a:extLst>
                    <a:ext uri="{9D8B030D-6E8A-4147-A177-3AD203B41FA5}">
                      <a16:colId xmlns:a16="http://schemas.microsoft.com/office/drawing/2014/main" val="20007"/>
                    </a:ext>
                  </a:extLst>
                </a:gridCol>
              </a:tblGrid>
              <a:tr h="793095">
                <a:tc>
                  <a:txBody>
                    <a:bodyPr/>
                    <a:lstStyle/>
                    <a:p>
                      <a:pPr algn="ctr">
                        <a:lnSpc>
                          <a:spcPct val="100000"/>
                        </a:lnSpc>
                      </a:pPr>
                      <a:r>
                        <a:rPr lang="es-PE" sz="2400" b="1" strike="noStrike" spc="-12" dirty="0">
                          <a:solidFill>
                            <a:schemeClr val="bg2">
                              <a:lumMod val="25000"/>
                            </a:schemeClr>
                          </a:solidFill>
                          <a:latin typeface="Arial Narrow"/>
                          <a:ea typeface="MS Mincho"/>
                        </a:rPr>
                        <a:t>Áreas</a:t>
                      </a:r>
                      <a:r>
                        <a:rPr lang="es-PE" sz="2400" b="1" strike="noStrike" spc="-12" dirty="0">
                          <a:solidFill>
                            <a:schemeClr val="bg2">
                              <a:lumMod val="25000"/>
                            </a:schemeClr>
                          </a:solidFill>
                          <a:latin typeface="Wingdings"/>
                          <a:ea typeface="MS Mincho"/>
                        </a:rPr>
                        <a:t></a:t>
                      </a:r>
                      <a:endParaRPr lang="es-PE" sz="2400" b="0" strike="noStrike" spc="-1" dirty="0">
                        <a:solidFill>
                          <a:schemeClr val="bg2">
                            <a:lumMod val="25000"/>
                          </a:schemeClr>
                        </a:solidFill>
                        <a:latin typeface="Arial"/>
                      </a:endParaRPr>
                    </a:p>
                    <a:p>
                      <a:pPr algn="ctr">
                        <a:lnSpc>
                          <a:spcPct val="100000"/>
                        </a:lnSpc>
                      </a:pPr>
                      <a:r>
                        <a:rPr lang="es-PE" sz="2400" b="1" strike="noStrike" spc="-12" dirty="0">
                          <a:solidFill>
                            <a:schemeClr val="bg2">
                              <a:lumMod val="25000"/>
                            </a:schemeClr>
                          </a:solidFill>
                          <a:latin typeface="Arial Narrow"/>
                          <a:ea typeface="MS Mincho"/>
                        </a:rPr>
                        <a:t>Refinería</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2</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dirty="0">
                          <a:solidFill>
                            <a:schemeClr val="bg2">
                              <a:lumMod val="25000"/>
                            </a:schemeClr>
                          </a:solidFill>
                          <a:latin typeface="Arial Narrow"/>
                          <a:ea typeface="MS Mincho"/>
                        </a:rPr>
                        <a:t>3</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dirty="0">
                          <a:solidFill>
                            <a:schemeClr val="bg2">
                              <a:lumMod val="25000"/>
                            </a:schemeClr>
                          </a:solidFill>
                          <a:latin typeface="Arial Narrow"/>
                          <a:ea typeface="MS Mincho"/>
                        </a:rPr>
                        <a:t>Oferta</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P1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P2</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2">
                          <a:solidFill>
                            <a:schemeClr val="bg2">
                              <a:lumMod val="25000"/>
                            </a:schemeClr>
                          </a:solidFill>
                          <a:latin typeface="Arial Narrow"/>
                          <a:ea typeface="MS Mincho"/>
                        </a:rPr>
                        <a:t>P3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793095">
                <a:tc>
                  <a:txBody>
                    <a:bodyPr/>
                    <a:lstStyle/>
                    <a:p>
                      <a:pPr algn="ctr">
                        <a:lnSpc>
                          <a:spcPct val="100000"/>
                        </a:lnSpc>
                      </a:pPr>
                      <a:r>
                        <a:rPr lang="es-PE" sz="2400" b="1" strike="noStrike" spc="-1">
                          <a:solidFill>
                            <a:schemeClr val="bg2">
                              <a:lumMod val="25000"/>
                            </a:schemeClr>
                          </a:solidFill>
                          <a:latin typeface="Arial Narrow"/>
                          <a:ea typeface="MS Mincho"/>
                        </a:rPr>
                        <a:t>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Times New Roman"/>
                        </a:rPr>
                        <a:t>120</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ea typeface="Times New Roman"/>
                        </a:rPr>
                        <a:t>*</a:t>
                      </a:r>
                      <a:endParaRPr lang="es-PE" sz="2400" b="0" strike="noStrike" spc="-1">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rgbClr val="373737"/>
                    </a:solidFill>
                  </a:tcPr>
                </a:tc>
                <a:tc>
                  <a:txBody>
                    <a:bodyPr/>
                    <a:lstStyle/>
                    <a:p>
                      <a:pPr algn="ctr">
                        <a:lnSpc>
                          <a:spcPct val="100000"/>
                        </a:lnSpc>
                      </a:pPr>
                      <a:r>
                        <a:rPr lang="es-PE" sz="2400" b="1" strike="noStrike" spc="-1">
                          <a:solidFill>
                            <a:schemeClr val="bg2">
                              <a:lumMod val="25000"/>
                            </a:schemeClr>
                          </a:solidFill>
                          <a:latin typeface="Arial Narrow"/>
                          <a:ea typeface="Times New Roman"/>
                        </a:rPr>
                        <a:t>180</a:t>
                      </a:r>
                      <a:endParaRPr lang="es-PE" sz="2400" b="0" strike="noStrike" spc="-1">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pPr algn="ctr">
                        <a:lnSpc>
                          <a:spcPct val="100000"/>
                        </a:lnSpc>
                      </a:pPr>
                      <a:r>
                        <a:rPr lang="es-PE" sz="2400" b="1" strike="noStrike" spc="-1">
                          <a:solidFill>
                            <a:schemeClr val="bg2">
                              <a:lumMod val="25000"/>
                            </a:schemeClr>
                          </a:solidFill>
                          <a:latin typeface="Arial Narrow"/>
                          <a:ea typeface="Times New Roman"/>
                        </a:rPr>
                        <a:t>--</a:t>
                      </a:r>
                      <a:endParaRPr lang="es-PE" sz="2400" b="0" strike="noStrike" spc="-1">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rgbClr val="373737"/>
                    </a:solidFill>
                  </a:tcPr>
                </a:tc>
                <a:tc>
                  <a:txBody>
                    <a:bodyPr/>
                    <a:lstStyle/>
                    <a:p>
                      <a:pPr algn="ctr">
                        <a:lnSpc>
                          <a:spcPct val="100000"/>
                        </a:lnSpc>
                      </a:pPr>
                      <a:r>
                        <a:rPr lang="es-PE" sz="2400" b="1" strike="noStrike" spc="-1">
                          <a:solidFill>
                            <a:schemeClr val="bg2">
                              <a:lumMod val="25000"/>
                            </a:schemeClr>
                          </a:solidFill>
                          <a:latin typeface="Arial Narrow"/>
                        </a:rPr>
                        <a:t>6</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rPr>
                        <a:t>2</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60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60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60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793095">
                <a:tc>
                  <a:txBody>
                    <a:bodyPr/>
                    <a:lstStyle/>
                    <a:p>
                      <a:pPr algn="ctr">
                        <a:lnSpc>
                          <a:spcPct val="100000"/>
                        </a:lnSpc>
                      </a:pPr>
                      <a:r>
                        <a:rPr lang="es-PE" sz="2400" b="1" strike="noStrike" spc="-12">
                          <a:solidFill>
                            <a:schemeClr val="bg2">
                              <a:lumMod val="25000"/>
                            </a:schemeClr>
                          </a:solidFill>
                          <a:latin typeface="Arial Narrow"/>
                          <a:ea typeface="MS Mincho"/>
                        </a:rPr>
                        <a:t>2</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Times New Roman"/>
                        </a:rPr>
                        <a:t>300</a:t>
                      </a:r>
                      <a:endParaRPr lang="es-PE" sz="2400" b="0" strike="noStrike" spc="-1">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rgbClr val="373737"/>
                    </a:solidFill>
                  </a:tcPr>
                </a:tc>
                <a:tc>
                  <a:txBody>
                    <a:bodyPr/>
                    <a:lstStyle/>
                    <a:p>
                      <a:pPr algn="ctr">
                        <a:lnSpc>
                          <a:spcPct val="100000"/>
                        </a:lnSpc>
                      </a:pPr>
                      <a:r>
                        <a:rPr lang="es-PE" sz="2400" b="1" strike="noStrike" spc="-1">
                          <a:solidFill>
                            <a:schemeClr val="bg2">
                              <a:lumMod val="25000"/>
                            </a:schemeClr>
                          </a:solidFill>
                          <a:latin typeface="Arial Narrow"/>
                          <a:ea typeface="Times New Roman"/>
                        </a:rPr>
                        <a:t>100</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ea typeface="Times New Roman"/>
                        </a:rPr>
                        <a:t>*</a:t>
                      </a:r>
                      <a:endParaRPr lang="es-PE" sz="2400" b="0" strike="noStrike" spc="-1">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rgbClr val="373737"/>
                    </a:solidFill>
                  </a:tcPr>
                </a:tc>
                <a:tc>
                  <a:txBody>
                    <a:bodyPr/>
                    <a:lstStyle/>
                    <a:p>
                      <a:pPr algn="ctr">
                        <a:lnSpc>
                          <a:spcPct val="100000"/>
                        </a:lnSpc>
                      </a:pPr>
                      <a:r>
                        <a:rPr lang="es-PE" sz="2400" b="1" strike="noStrike" spc="-1">
                          <a:solidFill>
                            <a:schemeClr val="bg2">
                              <a:lumMod val="25000"/>
                            </a:schemeClr>
                          </a:solidFill>
                          <a:latin typeface="Arial Narrow"/>
                          <a:ea typeface="Times New Roman"/>
                        </a:rPr>
                        <a:t>80</a:t>
                      </a:r>
                      <a:endParaRPr lang="es-PE" sz="2400" b="0" strike="noStrike" spc="-1">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rgbClr val="373737"/>
                    </a:solidFill>
                  </a:tcPr>
                </a:tc>
                <a:tc>
                  <a:txBody>
                    <a:bodyPr/>
                    <a:lstStyle/>
                    <a:p>
                      <a:pPr algn="ctr">
                        <a:lnSpc>
                          <a:spcPct val="100000"/>
                        </a:lnSpc>
                      </a:pPr>
                      <a:r>
                        <a:rPr lang="es-PE" sz="2400" b="1" strike="noStrike" spc="-1">
                          <a:solidFill>
                            <a:schemeClr val="bg2">
                              <a:lumMod val="25000"/>
                            </a:schemeClr>
                          </a:solidFill>
                          <a:latin typeface="Arial Narrow"/>
                        </a:rPr>
                        <a:t>5</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rPr>
                        <a:t>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20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1D528D"/>
                      </a:solidFill>
                    </a:lnB>
                    <a:noFill/>
                  </a:tcPr>
                </a:tc>
                <a:extLst>
                  <a:ext uri="{0D108BD9-81ED-4DB2-BD59-A6C34878D82A}">
                    <a16:rowId xmlns:a16="http://schemas.microsoft.com/office/drawing/2014/main" val="10002"/>
                  </a:ext>
                </a:extLst>
              </a:tr>
              <a:tr h="793095">
                <a:tc>
                  <a:txBody>
                    <a:bodyPr/>
                    <a:lstStyle/>
                    <a:p>
                      <a:pPr algn="ctr">
                        <a:lnSpc>
                          <a:spcPct val="100000"/>
                        </a:lnSpc>
                      </a:pPr>
                      <a:r>
                        <a:rPr lang="es-PE" sz="2400" b="1" strike="noStrike" spc="-1" dirty="0">
                          <a:solidFill>
                            <a:schemeClr val="bg2">
                              <a:lumMod val="25000"/>
                            </a:schemeClr>
                          </a:solidFill>
                          <a:latin typeface="Arial Narrow"/>
                          <a:ea typeface="MS Mincho"/>
                        </a:rPr>
                        <a:t>3</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Times New Roman"/>
                        </a:rPr>
                        <a:t>200</a:t>
                      </a:r>
                      <a:endParaRPr lang="es-PE" sz="2400" b="0" strike="noStrike" spc="-1">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rgbClr val="373737"/>
                    </a:solidFill>
                  </a:tcPr>
                </a:tc>
                <a:tc>
                  <a:txBody>
                    <a:bodyPr/>
                    <a:lstStyle/>
                    <a:p>
                      <a:pPr algn="ctr">
                        <a:lnSpc>
                          <a:spcPct val="100000"/>
                        </a:lnSpc>
                      </a:pPr>
                      <a:r>
                        <a:rPr lang="es-PE" sz="2400" b="1" strike="noStrike" spc="-1">
                          <a:solidFill>
                            <a:schemeClr val="bg2">
                              <a:lumMod val="25000"/>
                            </a:schemeClr>
                          </a:solidFill>
                          <a:latin typeface="Arial Narrow"/>
                          <a:ea typeface="Times New Roman"/>
                        </a:rPr>
                        <a:t>250</a:t>
                      </a:r>
                      <a:endParaRPr lang="es-PE" sz="2400" b="0" strike="noStrike" spc="-1">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rgbClr val="FFFF00"/>
                    </a:solidFill>
                  </a:tcPr>
                </a:tc>
                <a:tc>
                  <a:txBody>
                    <a:bodyPr/>
                    <a:lstStyle/>
                    <a:p>
                      <a:pPr algn="ctr">
                        <a:lnSpc>
                          <a:spcPct val="100000"/>
                        </a:lnSpc>
                      </a:pPr>
                      <a:r>
                        <a:rPr lang="es-PE" sz="2400" b="1" strike="noStrike" spc="-1">
                          <a:solidFill>
                            <a:schemeClr val="bg2">
                              <a:lumMod val="25000"/>
                            </a:schemeClr>
                          </a:solidFill>
                          <a:latin typeface="Arial Narrow"/>
                          <a:ea typeface="Times New Roman"/>
                        </a:rPr>
                        <a:t>120</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ea typeface="Times New Roman"/>
                        </a:rPr>
                        <a:t>*</a:t>
                      </a:r>
                      <a:endParaRPr lang="es-PE" sz="2400" b="0" strike="noStrike" spc="-1">
                        <a:solidFill>
                          <a:schemeClr val="bg2">
                            <a:lumMod val="25000"/>
                          </a:schemeClr>
                        </a:solidFill>
                        <a:latin typeface="Arial"/>
                      </a:endParaRPr>
                    </a:p>
                  </a:txBody>
                  <a:tcPr marL="68400" marR="68400">
                    <a:lnL w="12240">
                      <a:solidFill>
                        <a:srgbClr val="000000"/>
                      </a:solidFill>
                    </a:lnL>
                    <a:lnR w="12240">
                      <a:solidFill>
                        <a:srgbClr val="000000"/>
                      </a:solidFill>
                    </a:lnR>
                    <a:lnT w="12240">
                      <a:solidFill>
                        <a:srgbClr val="000000"/>
                      </a:solidFill>
                    </a:lnT>
                    <a:lnB w="12240">
                      <a:solidFill>
                        <a:srgbClr val="000000"/>
                      </a:solidFill>
                    </a:lnB>
                    <a:solidFill>
                      <a:srgbClr val="373737"/>
                    </a:solidFill>
                  </a:tcPr>
                </a:tc>
                <a:tc>
                  <a:txBody>
                    <a:bodyPr/>
                    <a:lstStyle/>
                    <a:p>
                      <a:pPr algn="ctr">
                        <a:lnSpc>
                          <a:spcPct val="100000"/>
                        </a:lnSpc>
                      </a:pPr>
                      <a:r>
                        <a:rPr lang="es-PE" sz="2400" b="1" strike="noStrike" spc="-1">
                          <a:solidFill>
                            <a:schemeClr val="bg2">
                              <a:lumMod val="25000"/>
                            </a:schemeClr>
                          </a:solidFill>
                          <a:latin typeface="Arial Narrow"/>
                        </a:rPr>
                        <a:t>8</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rPr>
                        <a:t>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80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80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50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1D528D"/>
                      </a:solidFill>
                    </a:lnT>
                    <a:lnB w="12240">
                      <a:solidFill>
                        <a:srgbClr val="1D528D"/>
                      </a:solidFill>
                    </a:lnB>
                    <a:noFill/>
                  </a:tcPr>
                </a:tc>
                <a:extLst>
                  <a:ext uri="{0D108BD9-81ED-4DB2-BD59-A6C34878D82A}">
                    <a16:rowId xmlns:a16="http://schemas.microsoft.com/office/drawing/2014/main" val="10003"/>
                  </a:ext>
                </a:extLst>
              </a:tr>
              <a:tr h="793095">
                <a:tc>
                  <a:txBody>
                    <a:bodyPr/>
                    <a:lstStyle/>
                    <a:p>
                      <a:pPr algn="ctr">
                        <a:lnSpc>
                          <a:spcPct val="100000"/>
                        </a:lnSpc>
                      </a:pPr>
                      <a:r>
                        <a:rPr lang="es-PE" sz="2400" b="1" strike="noStrike" spc="-12" dirty="0">
                          <a:solidFill>
                            <a:schemeClr val="bg2">
                              <a:lumMod val="25000"/>
                            </a:schemeClr>
                          </a:solidFill>
                          <a:latin typeface="Arial Narrow"/>
                          <a:ea typeface="MS Mincho"/>
                        </a:rPr>
                        <a:t>Demanda</a:t>
                      </a:r>
                      <a:endParaRPr lang="es-PE" sz="2400" b="0" strike="noStrike" spc="-1" dirty="0">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rPr>
                        <a:t>4</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rPr>
                        <a:t>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rPr>
                        <a:t>8</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rPr>
                        <a:t>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rPr>
                        <a:t>7</a:t>
                      </a:r>
                      <a:endParaRPr lang="es-PE" sz="2400" b="0" strike="noStrike" spc="-1">
                        <a:solidFill>
                          <a:schemeClr val="bg2">
                            <a:lumMod val="25000"/>
                          </a:schemeClr>
                        </a:solidFill>
                        <a:latin typeface="Arial"/>
                      </a:endParaRPr>
                    </a:p>
                    <a:p>
                      <a:pPr algn="ctr">
                        <a:lnSpc>
                          <a:spcPct val="100000"/>
                        </a:lnSpc>
                      </a:pPr>
                      <a:r>
                        <a:rPr lang="es-PE" sz="2400" b="1" strike="noStrike" spc="-1">
                          <a:solidFill>
                            <a:schemeClr val="bg2">
                              <a:lumMod val="25000"/>
                            </a:schemeClr>
                          </a:solidFill>
                          <a:latin typeface="Arial Narrow"/>
                        </a:rPr>
                        <a:t>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noFill/>
                    </a:lnR>
                    <a:lnT w="12240">
                      <a:solidFill>
                        <a:srgbClr val="1D528D"/>
                      </a:solid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solidFill>
                        <a:srgbClr val="1D528D"/>
                      </a:solid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solidFill>
                        <a:srgbClr val="1D528D"/>
                      </a:solid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solidFill>
                        <a:srgbClr val="1D528D"/>
                      </a:solidFill>
                    </a:lnT>
                    <a:lnB w="12240">
                      <a:noFill/>
                    </a:lnB>
                    <a:noFill/>
                  </a:tcPr>
                </a:tc>
                <a:extLst>
                  <a:ext uri="{0D108BD9-81ED-4DB2-BD59-A6C34878D82A}">
                    <a16:rowId xmlns:a16="http://schemas.microsoft.com/office/drawing/2014/main" val="10004"/>
                  </a:ext>
                </a:extLst>
              </a:tr>
              <a:tr h="510400">
                <a:tc>
                  <a:txBody>
                    <a:bodyPr/>
                    <a:lstStyle/>
                    <a:p>
                      <a:pPr algn="ctr">
                        <a:lnSpc>
                          <a:spcPct val="100000"/>
                        </a:lnSpc>
                      </a:pPr>
                      <a:r>
                        <a:rPr lang="es-PE" sz="2400" b="1" strike="noStrike" spc="-1">
                          <a:solidFill>
                            <a:schemeClr val="bg2">
                              <a:lumMod val="25000"/>
                            </a:schemeClr>
                          </a:solidFill>
                          <a:latin typeface="Arial Narrow"/>
                          <a:ea typeface="MS Mincho"/>
                        </a:rPr>
                        <a:t>P1</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80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80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40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extLst>
                  <a:ext uri="{0D108BD9-81ED-4DB2-BD59-A6C34878D82A}">
                    <a16:rowId xmlns:a16="http://schemas.microsoft.com/office/drawing/2014/main" val="10005"/>
                  </a:ext>
                </a:extLst>
              </a:tr>
              <a:tr h="510400">
                <a:tc>
                  <a:txBody>
                    <a:bodyPr/>
                    <a:lstStyle/>
                    <a:p>
                      <a:pPr algn="ctr">
                        <a:lnSpc>
                          <a:spcPct val="100000"/>
                        </a:lnSpc>
                      </a:pPr>
                      <a:r>
                        <a:rPr lang="es-PE" sz="2400" b="1" strike="noStrike" spc="-1">
                          <a:solidFill>
                            <a:schemeClr val="bg2">
                              <a:lumMod val="25000"/>
                            </a:schemeClr>
                          </a:solidFill>
                          <a:latin typeface="Arial Narrow"/>
                          <a:ea typeface="MS Mincho"/>
                        </a:rPr>
                        <a:t>P2</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80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70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120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extLst>
                  <a:ext uri="{0D108BD9-81ED-4DB2-BD59-A6C34878D82A}">
                    <a16:rowId xmlns:a16="http://schemas.microsoft.com/office/drawing/2014/main" val="10006"/>
                  </a:ext>
                </a:extLst>
              </a:tr>
              <a:tr h="511720">
                <a:tc>
                  <a:txBody>
                    <a:bodyPr/>
                    <a:lstStyle/>
                    <a:p>
                      <a:pPr algn="ctr">
                        <a:lnSpc>
                          <a:spcPct val="100000"/>
                        </a:lnSpc>
                      </a:pPr>
                      <a:r>
                        <a:rPr lang="es-PE" sz="2400" b="1" strike="noStrike" spc="-1">
                          <a:solidFill>
                            <a:schemeClr val="bg2">
                              <a:lumMod val="25000"/>
                            </a:schemeClr>
                          </a:solidFill>
                          <a:latin typeface="Arial Narrow"/>
                          <a:ea typeface="MS Mincho"/>
                        </a:rPr>
                        <a:t>P3</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80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70</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pPr>
                      <a:r>
                        <a:rPr lang="es-PE" sz="2400" b="1" strike="noStrike" spc="-1">
                          <a:solidFill>
                            <a:schemeClr val="bg2">
                              <a:lumMod val="25000"/>
                            </a:schemeClr>
                          </a:solidFill>
                          <a:latin typeface="Arial Narrow"/>
                          <a:ea typeface="MS Mincho"/>
                        </a:rPr>
                        <a:t>-</a:t>
                      </a:r>
                      <a:endParaRPr lang="es-PE" sz="2400" b="0" strike="noStrike" spc="-1">
                        <a:solidFill>
                          <a:schemeClr val="bg2">
                            <a:lumMod val="25000"/>
                          </a:schemeClr>
                        </a:solidFill>
                        <a:latin typeface="Arial"/>
                      </a:endParaRPr>
                    </a:p>
                  </a:txBody>
                  <a:tcPr marL="44280" marR="44280">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endParaRPr lang="en-US" sz="2400">
                        <a:solidFill>
                          <a:schemeClr val="bg2">
                            <a:lumMod val="25000"/>
                          </a:schemeClr>
                        </a:solidFill>
                      </a:endParaRPr>
                    </a:p>
                  </a:txBody>
                  <a:tcPr marL="44280" marR="44280">
                    <a:lnL w="12240">
                      <a:solidFill>
                        <a:srgbClr val="000000"/>
                      </a:solid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a:solidFill>
                          <a:schemeClr val="bg2">
                            <a:lumMod val="25000"/>
                          </a:schemeClr>
                        </a:solidFill>
                      </a:endParaRPr>
                    </a:p>
                  </a:txBody>
                  <a:tcPr marL="44280" marR="44280">
                    <a:lnL w="12240">
                      <a:noFill/>
                    </a:lnL>
                    <a:lnR w="12240">
                      <a:noFill/>
                    </a:lnR>
                    <a:lnT w="12240">
                      <a:noFill/>
                    </a:lnT>
                    <a:lnB w="12240">
                      <a:noFill/>
                    </a:lnB>
                    <a:noFill/>
                  </a:tcPr>
                </a:tc>
                <a:tc>
                  <a:txBody>
                    <a:bodyPr/>
                    <a:lstStyle/>
                    <a:p>
                      <a:endParaRPr lang="en-US" sz="2400" dirty="0">
                        <a:solidFill>
                          <a:schemeClr val="bg2">
                            <a:lumMod val="25000"/>
                          </a:schemeClr>
                        </a:solidFill>
                      </a:endParaRPr>
                    </a:p>
                  </a:txBody>
                  <a:tcPr marL="44280" marR="44280">
                    <a:lnL w="12240">
                      <a:noFill/>
                    </a:lnL>
                    <a:lnR w="12240">
                      <a:noFill/>
                    </a:lnR>
                    <a:lnT w="12240">
                      <a:noFill/>
                    </a:lnT>
                    <a:lnB w="12240">
                      <a:noFill/>
                    </a:lnB>
                    <a:noFill/>
                  </a:tcPr>
                </a:tc>
                <a:extLst>
                  <a:ext uri="{0D108BD9-81ED-4DB2-BD59-A6C34878D82A}">
                    <a16:rowId xmlns:a16="http://schemas.microsoft.com/office/drawing/2014/main" val="10007"/>
                  </a:ext>
                </a:extLst>
              </a:tr>
            </a:tbl>
          </a:graphicData>
        </a:graphic>
      </p:graphicFrame>
      <p:sp>
        <p:nvSpPr>
          <p:cNvPr id="1149" name="CustomShape 2"/>
          <p:cNvSpPr/>
          <p:nvPr/>
        </p:nvSpPr>
        <p:spPr>
          <a:xfrm>
            <a:off x="1524000" y="0"/>
            <a:ext cx="9143640" cy="456840"/>
          </a:xfrm>
          <a:prstGeom prst="rect">
            <a:avLst/>
          </a:prstGeom>
          <a:noFill/>
          <a:ln w="12600">
            <a:noFill/>
          </a:ln>
        </p:spPr>
        <p:style>
          <a:lnRef idx="0">
            <a:scrgbClr r="0" g="0" b="0"/>
          </a:lnRef>
          <a:fillRef idx="0">
            <a:scrgbClr r="0" g="0" b="0"/>
          </a:fillRef>
          <a:effectRef idx="0">
            <a:scrgbClr r="0" g="0" b="0"/>
          </a:effectRef>
          <a:fontRef idx="minor"/>
        </p:style>
        <p:txBody>
          <a:bodyPr/>
          <a:lstStyle/>
          <a:p>
            <a:endParaRPr lang="es-PE"/>
          </a:p>
        </p:txBody>
      </p:sp>
      <p:sp>
        <p:nvSpPr>
          <p:cNvPr id="1150" name="CustomShape 3"/>
          <p:cNvSpPr/>
          <p:nvPr/>
        </p:nvSpPr>
        <p:spPr>
          <a:xfrm>
            <a:off x="5970688" y="4532246"/>
            <a:ext cx="2880002" cy="2075583"/>
          </a:xfrm>
          <a:prstGeom prst="rect">
            <a:avLst/>
          </a:prstGeom>
          <a:noFill/>
          <a:ln w="12600">
            <a:noFill/>
          </a:ln>
        </p:spPr>
        <p:style>
          <a:lnRef idx="0">
            <a:scrgbClr r="0" g="0" b="0"/>
          </a:lnRef>
          <a:fillRef idx="0">
            <a:scrgbClr r="0" g="0" b="0"/>
          </a:fillRef>
          <a:effectRef idx="0">
            <a:scrgbClr r="0" g="0" b="0"/>
          </a:effectRef>
          <a:fontRef idx="minor"/>
        </p:style>
        <p:txBody>
          <a:bodyPr lIns="0" tIns="0" rIns="0" bIns="0">
            <a:noAutofit/>
          </a:bodyPr>
          <a:lstStyle/>
          <a:p>
            <a:pPr marL="343080" indent="-342720">
              <a:lnSpc>
                <a:spcPct val="95000"/>
              </a:lnSpc>
              <a:spcBef>
                <a:spcPts val="1001"/>
              </a:spcBef>
              <a:buClr>
                <a:srgbClr val="093A80"/>
              </a:buClr>
              <a:buSzPct val="75000"/>
              <a:buFont typeface="Wingdings" charset="2"/>
              <a:buChar char=""/>
            </a:pPr>
            <a:r>
              <a:rPr lang="es-PE" sz="2000" b="1" spc="-1" dirty="0" err="1">
                <a:solidFill>
                  <a:srgbClr val="1D528D"/>
                </a:solidFill>
                <a:latin typeface="Arial"/>
              </a:rPr>
              <a:t>X22</a:t>
            </a:r>
            <a:r>
              <a:rPr lang="es-PE" sz="2000" b="1" spc="-1" dirty="0">
                <a:solidFill>
                  <a:srgbClr val="1D528D"/>
                </a:solidFill>
                <a:latin typeface="Arial"/>
              </a:rPr>
              <a:t>=5 C=5*100=500</a:t>
            </a:r>
          </a:p>
          <a:p>
            <a:pPr marL="343080" indent="-342720">
              <a:lnSpc>
                <a:spcPct val="95000"/>
              </a:lnSpc>
              <a:spcBef>
                <a:spcPts val="1001"/>
              </a:spcBef>
              <a:buClr>
                <a:srgbClr val="093A80"/>
              </a:buClr>
              <a:buSzPct val="75000"/>
              <a:buFont typeface="Wingdings" charset="2"/>
              <a:buChar char=""/>
            </a:pPr>
            <a:r>
              <a:rPr lang="es-PE" sz="2000" b="1" spc="-1" dirty="0" err="1">
                <a:solidFill>
                  <a:srgbClr val="1D528D"/>
                </a:solidFill>
                <a:latin typeface="Arial"/>
              </a:rPr>
              <a:t>X33</a:t>
            </a:r>
            <a:r>
              <a:rPr lang="es-PE" sz="2000" b="1" spc="-1" dirty="0">
                <a:solidFill>
                  <a:srgbClr val="1D528D"/>
                </a:solidFill>
                <a:latin typeface="Arial"/>
              </a:rPr>
              <a:t>=7 C=7*120=840</a:t>
            </a:r>
          </a:p>
          <a:p>
            <a:pPr marL="343080" indent="-342720">
              <a:lnSpc>
                <a:spcPct val="95000"/>
              </a:lnSpc>
              <a:spcBef>
                <a:spcPts val="1001"/>
              </a:spcBef>
              <a:buClr>
                <a:srgbClr val="093A80"/>
              </a:buClr>
              <a:buSzPct val="75000"/>
              <a:buFont typeface="Wingdings" charset="2"/>
              <a:buChar char=""/>
            </a:pPr>
            <a:r>
              <a:rPr lang="es-PE" sz="2000" b="1" spc="-1" dirty="0" err="1">
                <a:solidFill>
                  <a:srgbClr val="1D528D"/>
                </a:solidFill>
                <a:latin typeface="Arial"/>
              </a:rPr>
              <a:t>X11</a:t>
            </a:r>
            <a:r>
              <a:rPr lang="es-PE" sz="2000" b="1" spc="-1" dirty="0">
                <a:solidFill>
                  <a:srgbClr val="1D528D"/>
                </a:solidFill>
                <a:latin typeface="Arial"/>
              </a:rPr>
              <a:t>=4 C=4*120=480</a:t>
            </a:r>
          </a:p>
          <a:p>
            <a:pPr marL="343080" indent="-342720">
              <a:lnSpc>
                <a:spcPct val="95000"/>
              </a:lnSpc>
              <a:spcBef>
                <a:spcPts val="1001"/>
              </a:spcBef>
              <a:buClr>
                <a:srgbClr val="093A80"/>
              </a:buClr>
              <a:buSzPct val="75000"/>
              <a:buFont typeface="Wingdings" charset="2"/>
              <a:buChar char=""/>
            </a:pPr>
            <a:r>
              <a:rPr lang="es-PE" sz="2000" b="1" spc="-1" dirty="0" err="1">
                <a:solidFill>
                  <a:srgbClr val="1D528D"/>
                </a:solidFill>
                <a:latin typeface="Arial"/>
              </a:rPr>
              <a:t>X12</a:t>
            </a:r>
            <a:r>
              <a:rPr lang="es-PE" sz="2000" b="1" spc="-1" dirty="0">
                <a:solidFill>
                  <a:srgbClr val="1D528D"/>
                </a:solidFill>
                <a:latin typeface="Arial"/>
              </a:rPr>
              <a:t>=2 C=2*180=360</a:t>
            </a:r>
          </a:p>
          <a:p>
            <a:pPr marL="343080" indent="-342720">
              <a:lnSpc>
                <a:spcPct val="95000"/>
              </a:lnSpc>
              <a:spcBef>
                <a:spcPts val="1001"/>
              </a:spcBef>
              <a:buClr>
                <a:srgbClr val="093A80"/>
              </a:buClr>
              <a:buSzPct val="75000"/>
              <a:buFont typeface="Wingdings" charset="2"/>
              <a:buChar char=""/>
            </a:pPr>
            <a:r>
              <a:rPr lang="es-PE" sz="2000" b="1" spc="-1" dirty="0" err="1">
                <a:solidFill>
                  <a:srgbClr val="1D528D"/>
                </a:solidFill>
                <a:latin typeface="Arial"/>
              </a:rPr>
              <a:t>X32</a:t>
            </a:r>
            <a:r>
              <a:rPr lang="es-PE" sz="2000" b="1" spc="-1" dirty="0">
                <a:solidFill>
                  <a:srgbClr val="1D528D"/>
                </a:solidFill>
                <a:latin typeface="Arial"/>
              </a:rPr>
              <a:t>=1 C=1*250=250</a:t>
            </a:r>
          </a:p>
        </p:txBody>
      </p:sp>
      <p:sp>
        <p:nvSpPr>
          <p:cNvPr id="5" name="TextShape 2">
            <a:extLst>
              <a:ext uri="{FF2B5EF4-FFF2-40B4-BE49-F238E27FC236}">
                <a16:creationId xmlns:a16="http://schemas.microsoft.com/office/drawing/2014/main" id="{C0473382-E753-4AA8-B3E7-08CB7DDCF258}"/>
              </a:ext>
            </a:extLst>
          </p:cNvPr>
          <p:cNvSpPr txBox="1"/>
          <p:nvPr/>
        </p:nvSpPr>
        <p:spPr>
          <a:xfrm>
            <a:off x="9109494" y="5710686"/>
            <a:ext cx="2670952" cy="803213"/>
          </a:xfrm>
          <a:prstGeom prst="rect">
            <a:avLst/>
          </a:prstGeom>
          <a:noFill/>
          <a:ln w="12600">
            <a:noFill/>
          </a:ln>
        </p:spPr>
        <p:style>
          <a:lnRef idx="0">
            <a:scrgbClr r="0" g="0" b="0"/>
          </a:lnRef>
          <a:fillRef idx="0">
            <a:scrgbClr r="0" g="0" b="0"/>
          </a:fillRef>
          <a:effectRef idx="0">
            <a:scrgbClr r="0" g="0" b="0"/>
          </a:effectRef>
          <a:fontRef idx="minor"/>
        </p:style>
        <p:txBody>
          <a:bodyPr lIns="0" tIns="0" rIns="0" bIns="0">
            <a:noAutofit/>
          </a:bodyPr>
          <a:lstStyle>
            <a:defPPr>
              <a:defRPr lang="es-PE"/>
            </a:defPPr>
            <a:lvl1pPr marL="343080" indent="-342720">
              <a:lnSpc>
                <a:spcPct val="95000"/>
              </a:lnSpc>
              <a:spcBef>
                <a:spcPts val="1001"/>
              </a:spcBef>
              <a:buClr>
                <a:srgbClr val="093A80"/>
              </a:buClr>
              <a:buSzPct val="75000"/>
              <a:buFont typeface="Wingdings" charset="2"/>
              <a:buChar char=""/>
              <a:defRPr sz="2000" b="1" spc="-1">
                <a:solidFill>
                  <a:srgbClr val="1D528D"/>
                </a:solidFill>
                <a:latin typeface="Arial"/>
              </a:defRPr>
            </a:lvl1pPr>
          </a:lstStyle>
          <a:p>
            <a:r>
              <a:rPr lang="en-US" dirty="0" err="1">
                <a:solidFill>
                  <a:srgbClr val="FF0000"/>
                </a:solidFill>
              </a:rPr>
              <a:t>Costo</a:t>
            </a:r>
            <a:r>
              <a:rPr lang="en-US" dirty="0">
                <a:solidFill>
                  <a:srgbClr val="FF0000"/>
                </a:solidFill>
              </a:rPr>
              <a:t> total	=2430</a:t>
            </a:r>
          </a:p>
          <a:p>
            <a:r>
              <a:rPr lang="en-US" dirty="0">
                <a:solidFill>
                  <a:srgbClr val="FF0000"/>
                </a:solidFill>
              </a:rPr>
              <a:t>Con Lindo 	=2430</a:t>
            </a:r>
          </a:p>
          <a:p>
            <a:endParaRPr lang="en-US" dirty="0">
              <a:solidFill>
                <a:srgbClr val="FF0000"/>
              </a:solidFill>
            </a:endParaRPr>
          </a:p>
        </p:txBody>
      </p:sp>
    </p:spTree>
    <p:extLst>
      <p:ext uri="{BB962C8B-B14F-4D97-AF65-F5344CB8AC3E}">
        <p14:creationId xmlns:p14="http://schemas.microsoft.com/office/powerpoint/2010/main" val="1983790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0" grpId="0"/>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1 Grupo"/>
          <p:cNvGrpSpPr/>
          <p:nvPr/>
        </p:nvGrpSpPr>
        <p:grpSpPr>
          <a:xfrm>
            <a:off x="6249980" y="1334863"/>
            <a:ext cx="5783852" cy="4367198"/>
            <a:chOff x="395536" y="1334861"/>
            <a:chExt cx="8105144" cy="4872979"/>
          </a:xfrm>
        </p:grpSpPr>
        <p:grpSp>
          <p:nvGrpSpPr>
            <p:cNvPr id="3" name="Group 1"/>
            <p:cNvGrpSpPr/>
            <p:nvPr/>
          </p:nvGrpSpPr>
          <p:grpSpPr>
            <a:xfrm>
              <a:off x="395536" y="1334861"/>
              <a:ext cx="8105144" cy="4872979"/>
              <a:chOff x="395536" y="1334861"/>
              <a:chExt cx="8105144" cy="4872979"/>
            </a:xfrm>
          </p:grpSpPr>
          <p:sp>
            <p:nvSpPr>
              <p:cNvPr id="10" name="CustomShape 2"/>
              <p:cNvSpPr/>
              <p:nvPr/>
            </p:nvSpPr>
            <p:spPr>
              <a:xfrm>
                <a:off x="500040" y="1983099"/>
                <a:ext cx="1910880" cy="719563"/>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z="1100" b="1" i="1" spc="-1" dirty="0">
                    <a:solidFill>
                      <a:schemeClr val="bg2">
                        <a:lumMod val="25000"/>
                      </a:schemeClr>
                    </a:solidFill>
                    <a:latin typeface="Arial"/>
                    <a:ea typeface="ＭＳ 明朝"/>
                  </a:rPr>
                  <a:t>      </a:t>
                </a:r>
                <a:r>
                  <a:rPr lang="es-PE" b="1" i="1" spc="-1" dirty="0">
                    <a:solidFill>
                      <a:schemeClr val="bg2">
                        <a:lumMod val="25000"/>
                      </a:schemeClr>
                    </a:solidFill>
                    <a:latin typeface="Arial"/>
                    <a:ea typeface="ＭＳ 明朝"/>
                  </a:rPr>
                  <a:t>Trujillo</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(1)</a:t>
                </a:r>
                <a:endParaRPr lang="es-PE" spc="-1" dirty="0">
                  <a:solidFill>
                    <a:schemeClr val="bg2">
                      <a:lumMod val="25000"/>
                    </a:schemeClr>
                  </a:solidFill>
                  <a:latin typeface="Arial"/>
                </a:endParaRPr>
              </a:p>
            </p:txBody>
          </p:sp>
          <p:sp>
            <p:nvSpPr>
              <p:cNvPr id="11" name="CustomShape 3"/>
              <p:cNvSpPr/>
              <p:nvPr/>
            </p:nvSpPr>
            <p:spPr>
              <a:xfrm>
                <a:off x="495600" y="3709539"/>
                <a:ext cx="1731960" cy="908444"/>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s-PE" sz="1100" b="1" i="1" spc="-1" dirty="0">
                    <a:solidFill>
                      <a:schemeClr val="bg2">
                        <a:lumMod val="25000"/>
                      </a:schemeClr>
                    </a:solidFill>
                    <a:latin typeface="Arial"/>
                    <a:ea typeface="ＭＳ 明朝"/>
                  </a:rPr>
                  <a:t>  </a:t>
                </a:r>
                <a:r>
                  <a:rPr lang="es-PE" b="1" i="1" spc="-1" dirty="0">
                    <a:solidFill>
                      <a:schemeClr val="bg2">
                        <a:lumMod val="25000"/>
                      </a:schemeClr>
                    </a:solidFill>
                    <a:latin typeface="Arial"/>
                    <a:ea typeface="ＭＳ 明朝"/>
                  </a:rPr>
                  <a:t>Arequipa</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(2)</a:t>
                </a:r>
                <a:endParaRPr lang="es-PE" spc="-1" dirty="0">
                  <a:solidFill>
                    <a:schemeClr val="bg2">
                      <a:lumMod val="25000"/>
                    </a:schemeClr>
                  </a:solidFill>
                  <a:latin typeface="Arial"/>
                </a:endParaRPr>
              </a:p>
            </p:txBody>
          </p:sp>
          <p:grpSp>
            <p:nvGrpSpPr>
              <p:cNvPr id="12" name="Group 4"/>
              <p:cNvGrpSpPr/>
              <p:nvPr/>
            </p:nvGrpSpPr>
            <p:grpSpPr>
              <a:xfrm>
                <a:off x="395536" y="1334861"/>
                <a:ext cx="8105144" cy="4872979"/>
                <a:chOff x="395536" y="1334861"/>
                <a:chExt cx="8105144" cy="4872979"/>
              </a:xfrm>
            </p:grpSpPr>
            <p:sp>
              <p:nvSpPr>
                <p:cNvPr id="13" name="CustomShape 5"/>
                <p:cNvSpPr/>
                <p:nvPr/>
              </p:nvSpPr>
              <p:spPr>
                <a:xfrm>
                  <a:off x="2286000" y="387468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4" name="CustomShape 6"/>
                <p:cNvSpPr/>
                <p:nvPr/>
              </p:nvSpPr>
              <p:spPr>
                <a:xfrm>
                  <a:off x="5597640" y="200628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5" name="CustomShape 7"/>
                <p:cNvSpPr/>
                <p:nvPr/>
              </p:nvSpPr>
              <p:spPr>
                <a:xfrm>
                  <a:off x="2286000" y="205344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6" name="CustomShape 8"/>
                <p:cNvSpPr/>
                <p:nvPr/>
              </p:nvSpPr>
              <p:spPr>
                <a:xfrm>
                  <a:off x="5643720" y="402624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7" name="CustomShape 9"/>
                <p:cNvSpPr/>
                <p:nvPr/>
              </p:nvSpPr>
              <p:spPr>
                <a:xfrm>
                  <a:off x="5715000" y="571500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8" name="Line 10"/>
                <p:cNvSpPr/>
                <p:nvPr/>
              </p:nvSpPr>
              <p:spPr>
                <a:xfrm flipV="1">
                  <a:off x="2786040" y="2233566"/>
                  <a:ext cx="2811240" cy="48600"/>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9" name="Line 11"/>
                <p:cNvSpPr/>
                <p:nvPr/>
              </p:nvSpPr>
              <p:spPr>
                <a:xfrm>
                  <a:off x="2643120" y="2432880"/>
                  <a:ext cx="3000959" cy="1684440"/>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20" name="Line 12"/>
                <p:cNvSpPr/>
                <p:nvPr/>
              </p:nvSpPr>
              <p:spPr>
                <a:xfrm>
                  <a:off x="2643120" y="2500200"/>
                  <a:ext cx="3143160" cy="3351600"/>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21" name="Line 13"/>
                <p:cNvSpPr/>
                <p:nvPr/>
              </p:nvSpPr>
              <p:spPr>
                <a:xfrm flipV="1">
                  <a:off x="2714400" y="2388600"/>
                  <a:ext cx="2882880" cy="1637640"/>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22" name="Line 14"/>
                <p:cNvSpPr/>
                <p:nvPr/>
              </p:nvSpPr>
              <p:spPr>
                <a:xfrm>
                  <a:off x="2714400" y="4177800"/>
                  <a:ext cx="2928960" cy="48600"/>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23" name="Line 15"/>
                <p:cNvSpPr/>
                <p:nvPr/>
              </p:nvSpPr>
              <p:spPr>
                <a:xfrm>
                  <a:off x="2643120" y="4329720"/>
                  <a:ext cx="3071880" cy="1527840"/>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24" name="CustomShape 16"/>
                <p:cNvSpPr/>
                <p:nvPr/>
              </p:nvSpPr>
              <p:spPr>
                <a:xfrm>
                  <a:off x="1400040" y="1346244"/>
                  <a:ext cx="1535649" cy="429433"/>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a:lnSpc>
                      <a:spcPct val="100000"/>
                    </a:lnSpc>
                  </a:pPr>
                  <a:r>
                    <a:rPr lang="es-PE" sz="1100" b="1" i="1" spc="-1">
                      <a:solidFill>
                        <a:schemeClr val="bg2">
                          <a:lumMod val="25000"/>
                        </a:schemeClr>
                      </a:solidFill>
                      <a:latin typeface="Arial"/>
                      <a:ea typeface="ＭＳ 明朝"/>
                    </a:rPr>
                    <a:t>	</a:t>
                  </a:r>
                  <a:endParaRPr lang="es-PE" sz="1100" spc="-1">
                    <a:solidFill>
                      <a:schemeClr val="bg2">
                        <a:lumMod val="25000"/>
                      </a:schemeClr>
                    </a:solidFill>
                    <a:latin typeface="Arial"/>
                  </a:endParaRPr>
                </a:p>
                <a:p>
                  <a:pPr>
                    <a:lnSpc>
                      <a:spcPct val="100000"/>
                    </a:lnSpc>
                  </a:pPr>
                  <a:endParaRPr lang="es-PE" sz="1100" spc="-1">
                    <a:solidFill>
                      <a:schemeClr val="bg2">
                        <a:lumMod val="25000"/>
                      </a:schemeClr>
                    </a:solidFill>
                    <a:latin typeface="Arial"/>
                  </a:endParaRPr>
                </a:p>
              </p:txBody>
            </p:sp>
            <p:sp>
              <p:nvSpPr>
                <p:cNvPr id="25" name="CustomShape 17"/>
                <p:cNvSpPr/>
                <p:nvPr/>
              </p:nvSpPr>
              <p:spPr>
                <a:xfrm>
                  <a:off x="3214799" y="1904152"/>
                  <a:ext cx="1035719" cy="398655"/>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nSpc>
                      <a:spcPct val="100000"/>
                    </a:lnSpc>
                  </a:pPr>
                  <a:r>
                    <a:rPr lang="es-PE" sz="2000" b="1" spc="-1" dirty="0" err="1">
                      <a:solidFill>
                        <a:schemeClr val="bg2">
                          <a:lumMod val="25000"/>
                        </a:schemeClr>
                      </a:solidFill>
                      <a:latin typeface="Arial"/>
                      <a:ea typeface="ＭＳ 明朝"/>
                    </a:rPr>
                    <a:t>X11</a:t>
                  </a:r>
                  <a:endParaRPr lang="es-PE" sz="2000" spc="-1" dirty="0">
                    <a:solidFill>
                      <a:schemeClr val="bg2">
                        <a:lumMod val="25000"/>
                      </a:schemeClr>
                    </a:solidFill>
                    <a:latin typeface="Arial"/>
                  </a:endParaRPr>
                </a:p>
              </p:txBody>
            </p:sp>
            <p:sp>
              <p:nvSpPr>
                <p:cNvPr id="26" name="CustomShape 18"/>
                <p:cNvSpPr/>
                <p:nvPr/>
              </p:nvSpPr>
              <p:spPr>
                <a:xfrm>
                  <a:off x="6057720" y="3917281"/>
                  <a:ext cx="2442960" cy="644877"/>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sz="1100" b="1" i="1" spc="-1" dirty="0">
                      <a:solidFill>
                        <a:schemeClr val="bg2">
                          <a:lumMod val="25000"/>
                        </a:schemeClr>
                      </a:solidFill>
                      <a:latin typeface="Arial"/>
                      <a:ea typeface="ＭＳ 明朝"/>
                    </a:rPr>
                    <a:t> </a:t>
                  </a:r>
                  <a:r>
                    <a:rPr lang="es-PE" b="1" i="1" spc="-1" dirty="0">
                      <a:solidFill>
                        <a:schemeClr val="bg2">
                          <a:lumMod val="25000"/>
                        </a:schemeClr>
                      </a:solidFill>
                      <a:latin typeface="Arial"/>
                      <a:ea typeface="ＭＳ 明朝"/>
                    </a:rPr>
                    <a:t>Madre de D.</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(2)</a:t>
                  </a:r>
                  <a:endParaRPr lang="es-PE" spc="-1" dirty="0">
                    <a:solidFill>
                      <a:schemeClr val="bg2">
                        <a:lumMod val="25000"/>
                      </a:schemeClr>
                    </a:solidFill>
                    <a:latin typeface="Arial"/>
                  </a:endParaRPr>
                </a:p>
              </p:txBody>
            </p:sp>
            <p:sp>
              <p:nvSpPr>
                <p:cNvPr id="27" name="CustomShape 19"/>
                <p:cNvSpPr/>
                <p:nvPr/>
              </p:nvSpPr>
              <p:spPr>
                <a:xfrm>
                  <a:off x="6120000" y="5568480"/>
                  <a:ext cx="2268424" cy="639360"/>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b="1" i="1" spc="-1" dirty="0">
                      <a:solidFill>
                        <a:schemeClr val="bg2">
                          <a:lumMod val="25000"/>
                        </a:schemeClr>
                      </a:solidFill>
                      <a:latin typeface="Arial"/>
                      <a:ea typeface="ＭＳ 明朝"/>
                    </a:rPr>
                    <a:t>Piura</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(1)</a:t>
                  </a:r>
                  <a:endParaRPr lang="es-PE" spc="-1" dirty="0">
                    <a:solidFill>
                      <a:schemeClr val="bg2">
                        <a:lumMod val="25000"/>
                      </a:schemeClr>
                    </a:solidFill>
                    <a:latin typeface="Arial"/>
                  </a:endParaRPr>
                </a:p>
              </p:txBody>
            </p:sp>
            <p:sp>
              <p:nvSpPr>
                <p:cNvPr id="28" name="CustomShape 20"/>
                <p:cNvSpPr/>
                <p:nvPr/>
              </p:nvSpPr>
              <p:spPr>
                <a:xfrm>
                  <a:off x="6119998" y="2037960"/>
                  <a:ext cx="2268426" cy="913680"/>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PE" b="1" i="1" spc="-1" dirty="0">
                      <a:solidFill>
                        <a:schemeClr val="bg2">
                          <a:lumMod val="25000"/>
                        </a:schemeClr>
                      </a:solidFill>
                      <a:latin typeface="Arial"/>
                      <a:ea typeface="ＭＳ 明朝"/>
                    </a:rPr>
                    <a:t>Iquitos</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(3)</a:t>
                  </a:r>
                  <a:endParaRPr lang="es-PE" spc="-1" dirty="0">
                    <a:solidFill>
                      <a:schemeClr val="bg2">
                        <a:lumMod val="25000"/>
                      </a:schemeClr>
                    </a:solidFill>
                    <a:latin typeface="Arial"/>
                  </a:endParaRPr>
                </a:p>
                <a:p>
                  <a:pPr algn="ctr">
                    <a:lnSpc>
                      <a:spcPct val="100000"/>
                    </a:lnSpc>
                  </a:pPr>
                  <a:endParaRPr lang="es-PE" spc="-1" dirty="0">
                    <a:solidFill>
                      <a:schemeClr val="bg2">
                        <a:lumMod val="25000"/>
                      </a:schemeClr>
                    </a:solidFill>
                    <a:latin typeface="Arial"/>
                  </a:endParaRPr>
                </a:p>
              </p:txBody>
            </p:sp>
            <p:sp>
              <p:nvSpPr>
                <p:cNvPr id="29" name="CustomShape 21"/>
                <p:cNvSpPr/>
                <p:nvPr/>
              </p:nvSpPr>
              <p:spPr>
                <a:xfrm>
                  <a:off x="395536" y="1334861"/>
                  <a:ext cx="7992888" cy="67068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80000"/>
                    </a:lnSpc>
                  </a:pPr>
                  <a:r>
                    <a:rPr lang="es-PE" sz="2400" b="1" spc="-1" dirty="0">
                      <a:solidFill>
                        <a:schemeClr val="bg2">
                          <a:lumMod val="25000"/>
                        </a:schemeClr>
                      </a:solidFill>
                      <a:latin typeface="Arial Narrow" pitchFamily="34" charset="0"/>
                    </a:rPr>
                    <a:t>Origen     	     Destino </a:t>
                  </a:r>
                  <a:endParaRPr lang="es-PE" sz="2400" spc="-1" dirty="0">
                    <a:solidFill>
                      <a:schemeClr val="bg2">
                        <a:lumMod val="25000"/>
                      </a:schemeClr>
                    </a:solidFill>
                    <a:latin typeface="Arial Narrow" pitchFamily="34" charset="0"/>
                  </a:endParaRPr>
                </a:p>
              </p:txBody>
            </p:sp>
            <p:sp>
              <p:nvSpPr>
                <p:cNvPr id="30" name="CustomShape 22"/>
                <p:cNvSpPr/>
                <p:nvPr/>
              </p:nvSpPr>
              <p:spPr>
                <a:xfrm>
                  <a:off x="3244110" y="2514740"/>
                  <a:ext cx="1135781" cy="398655"/>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r>
                    <a:rPr lang="es-PE" sz="2000" b="1" spc="-1" dirty="0" err="1">
                      <a:solidFill>
                        <a:schemeClr val="bg2">
                          <a:lumMod val="25000"/>
                        </a:schemeClr>
                      </a:solidFill>
                      <a:latin typeface="Arial"/>
                      <a:ea typeface="ＭＳ 明朝"/>
                    </a:rPr>
                    <a:t>X12</a:t>
                  </a:r>
                  <a:endParaRPr lang="es-PE" sz="2000" b="1" spc="-1" dirty="0">
                    <a:solidFill>
                      <a:schemeClr val="bg2">
                        <a:lumMod val="25000"/>
                      </a:schemeClr>
                    </a:solidFill>
                    <a:latin typeface="Arial"/>
                    <a:ea typeface="ＭＳ 明朝"/>
                  </a:endParaRPr>
                </a:p>
              </p:txBody>
            </p:sp>
            <p:sp>
              <p:nvSpPr>
                <p:cNvPr id="31" name="CustomShape 23"/>
                <p:cNvSpPr/>
                <p:nvPr/>
              </p:nvSpPr>
              <p:spPr>
                <a:xfrm>
                  <a:off x="3267720" y="3007912"/>
                  <a:ext cx="1330484" cy="398655"/>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r>
                    <a:rPr lang="es-PE" sz="2000" b="1" spc="-1" dirty="0" err="1">
                      <a:solidFill>
                        <a:schemeClr val="bg2">
                          <a:lumMod val="25000"/>
                        </a:schemeClr>
                      </a:solidFill>
                      <a:latin typeface="Arial"/>
                      <a:ea typeface="ＭＳ 明朝"/>
                    </a:rPr>
                    <a:t>X13</a:t>
                  </a:r>
                  <a:endParaRPr lang="es-PE" sz="2000" b="1" spc="-1" dirty="0">
                    <a:solidFill>
                      <a:schemeClr val="bg2">
                        <a:lumMod val="25000"/>
                      </a:schemeClr>
                    </a:solidFill>
                    <a:latin typeface="Arial"/>
                    <a:ea typeface="ＭＳ 明朝"/>
                  </a:endParaRPr>
                </a:p>
              </p:txBody>
            </p:sp>
            <p:sp>
              <p:nvSpPr>
                <p:cNvPr id="32" name="CustomShape 24"/>
                <p:cNvSpPr/>
                <p:nvPr/>
              </p:nvSpPr>
              <p:spPr>
                <a:xfrm>
                  <a:off x="2346120" y="2053440"/>
                  <a:ext cx="392732"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1</a:t>
                  </a:r>
                  <a:endParaRPr lang="es-PE" sz="2000" spc="-1">
                    <a:solidFill>
                      <a:schemeClr val="bg2">
                        <a:lumMod val="25000"/>
                      </a:schemeClr>
                    </a:solidFill>
                    <a:latin typeface="Arial"/>
                  </a:endParaRPr>
                </a:p>
              </p:txBody>
            </p:sp>
            <p:sp>
              <p:nvSpPr>
                <p:cNvPr id="33" name="CustomShape 25"/>
                <p:cNvSpPr/>
                <p:nvPr/>
              </p:nvSpPr>
              <p:spPr>
                <a:xfrm>
                  <a:off x="5713560" y="4026240"/>
                  <a:ext cx="419463"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2</a:t>
                  </a:r>
                  <a:endParaRPr lang="es-PE" sz="2000" spc="-1">
                    <a:solidFill>
                      <a:schemeClr val="bg2">
                        <a:lumMod val="25000"/>
                      </a:schemeClr>
                    </a:solidFill>
                    <a:latin typeface="Arial"/>
                  </a:endParaRPr>
                </a:p>
              </p:txBody>
            </p:sp>
            <p:sp>
              <p:nvSpPr>
                <p:cNvPr id="34" name="CustomShape 26"/>
                <p:cNvSpPr/>
                <p:nvPr/>
              </p:nvSpPr>
              <p:spPr>
                <a:xfrm>
                  <a:off x="2355841" y="3950280"/>
                  <a:ext cx="419463"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2</a:t>
                  </a:r>
                  <a:endParaRPr lang="es-PE" sz="2000" spc="-1">
                    <a:solidFill>
                      <a:schemeClr val="bg2">
                        <a:lumMod val="25000"/>
                      </a:schemeClr>
                    </a:solidFill>
                    <a:latin typeface="Arial"/>
                  </a:endParaRPr>
                </a:p>
              </p:txBody>
            </p:sp>
            <p:sp>
              <p:nvSpPr>
                <p:cNvPr id="35" name="CustomShape 27"/>
                <p:cNvSpPr/>
                <p:nvPr/>
              </p:nvSpPr>
              <p:spPr>
                <a:xfrm>
                  <a:off x="5644080" y="2019600"/>
                  <a:ext cx="392732"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1</a:t>
                  </a:r>
                  <a:endParaRPr lang="es-PE" sz="2000" spc="-1">
                    <a:solidFill>
                      <a:schemeClr val="bg2">
                        <a:lumMod val="25000"/>
                      </a:schemeClr>
                    </a:solidFill>
                    <a:latin typeface="Arial"/>
                  </a:endParaRPr>
                </a:p>
              </p:txBody>
            </p:sp>
            <p:sp>
              <p:nvSpPr>
                <p:cNvPr id="36" name="CustomShape 28"/>
                <p:cNvSpPr/>
                <p:nvPr/>
              </p:nvSpPr>
              <p:spPr>
                <a:xfrm>
                  <a:off x="5784839" y="5786280"/>
                  <a:ext cx="419463"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3</a:t>
                  </a:r>
                  <a:endParaRPr lang="es-PE" sz="2000" spc="-1">
                    <a:solidFill>
                      <a:schemeClr val="bg2">
                        <a:lumMod val="25000"/>
                      </a:schemeClr>
                    </a:solidFill>
                    <a:latin typeface="Arial"/>
                  </a:endParaRPr>
                </a:p>
              </p:txBody>
            </p:sp>
          </p:grpSp>
        </p:grpSp>
        <p:sp>
          <p:nvSpPr>
            <p:cNvPr id="4" name="CustomShape 29"/>
            <p:cNvSpPr/>
            <p:nvPr/>
          </p:nvSpPr>
          <p:spPr>
            <a:xfrm>
              <a:off x="2357280" y="5715000"/>
              <a:ext cx="414000" cy="45684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5" name="CustomShape 30"/>
            <p:cNvSpPr/>
            <p:nvPr/>
          </p:nvSpPr>
          <p:spPr>
            <a:xfrm>
              <a:off x="2427479" y="5786280"/>
              <a:ext cx="419463"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rgbClr val="FF0000"/>
                  </a:solidFill>
                  <a:latin typeface="Garamond"/>
                </a:rPr>
                <a:t>3</a:t>
              </a:r>
              <a:endParaRPr lang="es-PE" sz="2000" spc="-1">
                <a:latin typeface="Arial"/>
              </a:endParaRPr>
            </a:p>
          </p:txBody>
        </p:sp>
        <p:sp>
          <p:nvSpPr>
            <p:cNvPr id="6" name="CustomShape 31"/>
            <p:cNvSpPr/>
            <p:nvPr/>
          </p:nvSpPr>
          <p:spPr>
            <a:xfrm>
              <a:off x="500040" y="5450161"/>
              <a:ext cx="2142720" cy="644877"/>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a:r>
                <a:rPr lang="es-PE" b="1" i="1" spc="-1" dirty="0">
                  <a:solidFill>
                    <a:schemeClr val="bg2">
                      <a:lumMod val="25000"/>
                    </a:schemeClr>
                  </a:solidFill>
                  <a:latin typeface="Arial"/>
                  <a:ea typeface="ＭＳ 明朝"/>
                </a:rPr>
                <a:t>Lima</a:t>
              </a:r>
            </a:p>
            <a:p>
              <a:pPr algn="ctr"/>
              <a:r>
                <a:rPr lang="es-PE" b="1" i="1" spc="-1" dirty="0">
                  <a:solidFill>
                    <a:schemeClr val="bg2">
                      <a:lumMod val="25000"/>
                    </a:schemeClr>
                  </a:solidFill>
                  <a:latin typeface="Arial"/>
                  <a:ea typeface="ＭＳ 明朝"/>
                </a:rPr>
                <a:t>(4)</a:t>
              </a:r>
            </a:p>
          </p:txBody>
        </p:sp>
        <p:sp>
          <p:nvSpPr>
            <p:cNvPr id="7" name="Line 32"/>
            <p:cNvSpPr/>
            <p:nvPr/>
          </p:nvSpPr>
          <p:spPr>
            <a:xfrm flipV="1">
              <a:off x="2643120" y="2491560"/>
              <a:ext cx="3071880" cy="3223440"/>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8" name="Line 33"/>
            <p:cNvSpPr/>
            <p:nvPr/>
          </p:nvSpPr>
          <p:spPr>
            <a:xfrm flipV="1">
              <a:off x="2786040" y="4357440"/>
              <a:ext cx="2928960" cy="1436760"/>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9" name="Line 34"/>
            <p:cNvSpPr/>
            <p:nvPr/>
          </p:nvSpPr>
          <p:spPr>
            <a:xfrm>
              <a:off x="2786040" y="5983920"/>
              <a:ext cx="2928961" cy="0"/>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grpSp>
      <p:sp>
        <p:nvSpPr>
          <p:cNvPr id="37" name="36 CuadroTexto"/>
          <p:cNvSpPr txBox="1"/>
          <p:nvPr/>
        </p:nvSpPr>
        <p:spPr>
          <a:xfrm>
            <a:off x="6478438" y="5882007"/>
            <a:ext cx="5020573" cy="707886"/>
          </a:xfrm>
          <a:prstGeom prst="rect">
            <a:avLst/>
          </a:prstGeom>
          <a:solidFill>
            <a:srgbClr val="FFFF00"/>
          </a:solidFill>
        </p:spPr>
        <p:txBody>
          <a:bodyPr wrap="square" rtlCol="0">
            <a:spAutoFit/>
          </a:bodyPr>
          <a:lstStyle/>
          <a:p>
            <a:r>
              <a:rPr lang="es-ES" sz="2000" dirty="0"/>
              <a:t>El problema de transporte </a:t>
            </a:r>
            <a:r>
              <a:rPr lang="es-ES" sz="2000" b="1" dirty="0"/>
              <a:t>no está </a:t>
            </a:r>
            <a:r>
              <a:rPr lang="es-ES" sz="2000" dirty="0"/>
              <a:t>equilibrado, porque la oferta es diferente a la demanda.</a:t>
            </a:r>
            <a:endParaRPr lang="es-PE" sz="2000" dirty="0"/>
          </a:p>
        </p:txBody>
      </p:sp>
      <p:sp>
        <p:nvSpPr>
          <p:cNvPr id="39" name="TextShape 29">
            <a:extLst>
              <a:ext uri="{FF2B5EF4-FFF2-40B4-BE49-F238E27FC236}">
                <a16:creationId xmlns:a16="http://schemas.microsoft.com/office/drawing/2014/main" id="{1308CE41-0A24-4D3B-83E8-3710DCE75465}"/>
              </a:ext>
            </a:extLst>
          </p:cNvPr>
          <p:cNvSpPr txBox="1"/>
          <p:nvPr/>
        </p:nvSpPr>
        <p:spPr>
          <a:xfrm>
            <a:off x="6096000" y="290213"/>
            <a:ext cx="6096000" cy="496172"/>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defPPr>
              <a:defRPr lang="es-ES"/>
            </a:defPPr>
            <a:lvl1pPr algn="ctr">
              <a:lnSpc>
                <a:spcPts val="5800"/>
              </a:lnSpc>
              <a:spcBef>
                <a:spcPct val="0"/>
              </a:spcBef>
              <a:defRPr sz="3200">
                <a:solidFill>
                  <a:schemeClr val="bg1"/>
                </a:solidFill>
                <a:effectLst>
                  <a:outerShdw blurRad="63500" dist="38100" dir="5400000" algn="t" rotWithShape="0">
                    <a:prstClr val="black">
                      <a:alpha val="25000"/>
                    </a:prstClr>
                  </a:outerShdw>
                </a:effectLst>
                <a:latin typeface="Bauhaus 93" pitchFamily="82" charset="0"/>
              </a:defRPr>
            </a:lvl1pPr>
          </a:lstStyle>
          <a:p>
            <a:r>
              <a:rPr lang="en-US" dirty="0"/>
              <a:t>Red</a:t>
            </a:r>
          </a:p>
        </p:txBody>
      </p:sp>
      <p:graphicFrame>
        <p:nvGraphicFramePr>
          <p:cNvPr id="40" name="1 Tabla">
            <a:extLst>
              <a:ext uri="{FF2B5EF4-FFF2-40B4-BE49-F238E27FC236}">
                <a16:creationId xmlns:a16="http://schemas.microsoft.com/office/drawing/2014/main" id="{37A134DE-77DA-4A7B-979A-8B88A01FA080}"/>
              </a:ext>
            </a:extLst>
          </p:cNvPr>
          <p:cNvGraphicFramePr>
            <a:graphicFrameLocks noGrp="1"/>
          </p:cNvGraphicFramePr>
          <p:nvPr/>
        </p:nvGraphicFramePr>
        <p:xfrm>
          <a:off x="135155" y="4994698"/>
          <a:ext cx="5960844" cy="1773715"/>
        </p:xfrm>
        <a:graphic>
          <a:graphicData uri="http://schemas.openxmlformats.org/drawingml/2006/table">
            <a:tbl>
              <a:tblPr>
                <a:tableStyleId>{5C22544A-7EE6-4342-B048-85BDC9FD1C3A}</a:tableStyleId>
              </a:tblPr>
              <a:tblGrid>
                <a:gridCol w="2033742">
                  <a:extLst>
                    <a:ext uri="{9D8B030D-6E8A-4147-A177-3AD203B41FA5}">
                      <a16:colId xmlns:a16="http://schemas.microsoft.com/office/drawing/2014/main" val="20000"/>
                    </a:ext>
                  </a:extLst>
                </a:gridCol>
                <a:gridCol w="1191448">
                  <a:extLst>
                    <a:ext uri="{9D8B030D-6E8A-4147-A177-3AD203B41FA5}">
                      <a16:colId xmlns:a16="http://schemas.microsoft.com/office/drawing/2014/main" val="20001"/>
                    </a:ext>
                  </a:extLst>
                </a:gridCol>
                <a:gridCol w="1367827">
                  <a:extLst>
                    <a:ext uri="{9D8B030D-6E8A-4147-A177-3AD203B41FA5}">
                      <a16:colId xmlns:a16="http://schemas.microsoft.com/office/drawing/2014/main" val="20002"/>
                    </a:ext>
                  </a:extLst>
                </a:gridCol>
                <a:gridCol w="1367827">
                  <a:extLst>
                    <a:ext uri="{9D8B030D-6E8A-4147-A177-3AD203B41FA5}">
                      <a16:colId xmlns:a16="http://schemas.microsoft.com/office/drawing/2014/main" val="20003"/>
                    </a:ext>
                  </a:extLst>
                </a:gridCol>
              </a:tblGrid>
              <a:tr h="548800">
                <a:tc>
                  <a:txBody>
                    <a:bodyPr/>
                    <a:lstStyle/>
                    <a:p>
                      <a:pPr algn="just">
                        <a:lnSpc>
                          <a:spcPct val="150000"/>
                        </a:lnSpc>
                        <a:spcAft>
                          <a:spcPts val="0"/>
                        </a:spcAft>
                      </a:pPr>
                      <a:r>
                        <a:rPr lang="es-PE" sz="2000" dirty="0">
                          <a:effectLst/>
                        </a:rPr>
                        <a:t>Desde \ Hacia</a:t>
                      </a:r>
                      <a:endParaRPr lang="es-PE" sz="2000" dirty="0">
                        <a:effectLst/>
                        <a:latin typeface="Times New Roman"/>
                        <a:ea typeface="Calibri"/>
                      </a:endParaRPr>
                    </a:p>
                  </a:txBody>
                  <a:tcPr marL="44450" marR="44450" marT="0" marB="0"/>
                </a:tc>
                <a:tc>
                  <a:txBody>
                    <a:bodyPr/>
                    <a:lstStyle/>
                    <a:p>
                      <a:pPr algn="ctr">
                        <a:lnSpc>
                          <a:spcPct val="150000"/>
                        </a:lnSpc>
                        <a:spcAft>
                          <a:spcPts val="0"/>
                        </a:spcAft>
                      </a:pPr>
                      <a:r>
                        <a:rPr lang="es-PE" sz="2000" dirty="0">
                          <a:effectLst/>
                        </a:rPr>
                        <a:t>Iquitos</a:t>
                      </a:r>
                      <a:endParaRPr lang="es-PE" sz="2000" dirty="0">
                        <a:effectLst/>
                        <a:latin typeface="Times New Roman"/>
                        <a:ea typeface="Calibri"/>
                      </a:endParaRPr>
                    </a:p>
                  </a:txBody>
                  <a:tcPr marL="44450" marR="44450" marT="0" marB="0"/>
                </a:tc>
                <a:tc>
                  <a:txBody>
                    <a:bodyPr/>
                    <a:lstStyle/>
                    <a:p>
                      <a:pPr algn="ctr">
                        <a:lnSpc>
                          <a:spcPct val="150000"/>
                        </a:lnSpc>
                        <a:spcAft>
                          <a:spcPts val="0"/>
                        </a:spcAft>
                      </a:pPr>
                      <a:r>
                        <a:rPr lang="es-PE" sz="2000" dirty="0">
                          <a:effectLst/>
                        </a:rPr>
                        <a:t>Madre de D.</a:t>
                      </a:r>
                      <a:endParaRPr lang="es-PE" sz="2000" dirty="0">
                        <a:effectLst/>
                        <a:latin typeface="Times New Roman"/>
                        <a:ea typeface="Calibri"/>
                      </a:endParaRPr>
                    </a:p>
                  </a:txBody>
                  <a:tcPr marL="44450" marR="44450" marT="0" marB="0"/>
                </a:tc>
                <a:tc>
                  <a:txBody>
                    <a:bodyPr/>
                    <a:lstStyle/>
                    <a:p>
                      <a:pPr marL="0" algn="ctr" defTabSz="914400" rtl="0" eaLnBrk="1" latinLnBrk="0" hangingPunct="1">
                        <a:lnSpc>
                          <a:spcPct val="150000"/>
                        </a:lnSpc>
                        <a:spcAft>
                          <a:spcPts val="0"/>
                        </a:spcAft>
                      </a:pPr>
                      <a:r>
                        <a:rPr lang="es-PE" sz="2000" kern="1200" dirty="0">
                          <a:solidFill>
                            <a:schemeClr val="dk1"/>
                          </a:solidFill>
                          <a:effectLst/>
                          <a:latin typeface="+mn-lt"/>
                          <a:ea typeface="+mn-ea"/>
                          <a:cs typeface="+mn-cs"/>
                        </a:rPr>
                        <a:t>Piura </a:t>
                      </a:r>
                    </a:p>
                  </a:txBody>
                  <a:tcPr marL="44450" marR="44450" marT="0" marB="0"/>
                </a:tc>
                <a:extLst>
                  <a:ext uri="{0D108BD9-81ED-4DB2-BD59-A6C34878D82A}">
                    <a16:rowId xmlns:a16="http://schemas.microsoft.com/office/drawing/2014/main" val="10000"/>
                  </a:ext>
                </a:extLst>
              </a:tr>
              <a:tr h="384239">
                <a:tc>
                  <a:txBody>
                    <a:bodyPr/>
                    <a:lstStyle/>
                    <a:p>
                      <a:pPr algn="just">
                        <a:lnSpc>
                          <a:spcPct val="150000"/>
                        </a:lnSpc>
                        <a:spcAft>
                          <a:spcPts val="0"/>
                        </a:spcAft>
                      </a:pPr>
                      <a:r>
                        <a:rPr lang="es-PE" sz="2000">
                          <a:effectLst/>
                        </a:rPr>
                        <a:t>Trujillo</a:t>
                      </a:r>
                      <a:endParaRPr lang="es-PE" sz="2000">
                        <a:effectLst/>
                        <a:latin typeface="Times New Roman"/>
                        <a:ea typeface="Calibri"/>
                      </a:endParaRPr>
                    </a:p>
                  </a:txBody>
                  <a:tcPr marL="44450" marR="44450" marT="0" marB="0"/>
                </a:tc>
                <a:tc>
                  <a:txBody>
                    <a:bodyPr/>
                    <a:lstStyle/>
                    <a:p>
                      <a:pPr algn="ctr">
                        <a:lnSpc>
                          <a:spcPct val="150000"/>
                        </a:lnSpc>
                        <a:spcAft>
                          <a:spcPts val="0"/>
                        </a:spcAft>
                      </a:pPr>
                      <a:r>
                        <a:rPr lang="es-PE" sz="2000">
                          <a:effectLst/>
                        </a:rPr>
                        <a:t>100</a:t>
                      </a:r>
                      <a:endParaRPr lang="es-PE" sz="2000">
                        <a:effectLst/>
                        <a:latin typeface="Times New Roman"/>
                        <a:ea typeface="Calibri"/>
                      </a:endParaRPr>
                    </a:p>
                  </a:txBody>
                  <a:tcPr marL="44450" marR="44450" marT="0" marB="0"/>
                </a:tc>
                <a:tc>
                  <a:txBody>
                    <a:bodyPr/>
                    <a:lstStyle/>
                    <a:p>
                      <a:pPr algn="ctr">
                        <a:lnSpc>
                          <a:spcPct val="150000"/>
                        </a:lnSpc>
                        <a:spcAft>
                          <a:spcPts val="0"/>
                        </a:spcAft>
                      </a:pPr>
                      <a:r>
                        <a:rPr lang="es-PE" sz="2000">
                          <a:effectLst/>
                        </a:rPr>
                        <a:t>120</a:t>
                      </a:r>
                      <a:endParaRPr lang="es-PE" sz="2000">
                        <a:effectLst/>
                        <a:latin typeface="Times New Roman"/>
                        <a:ea typeface="Calibri"/>
                      </a:endParaRPr>
                    </a:p>
                  </a:txBody>
                  <a:tcPr marL="44450" marR="44450" marT="0" marB="0"/>
                </a:tc>
                <a:tc>
                  <a:txBody>
                    <a:bodyPr/>
                    <a:lstStyle/>
                    <a:p>
                      <a:pPr algn="ctr">
                        <a:lnSpc>
                          <a:spcPct val="150000"/>
                        </a:lnSpc>
                        <a:spcAft>
                          <a:spcPts val="0"/>
                        </a:spcAft>
                      </a:pPr>
                      <a:r>
                        <a:rPr lang="es-PE" sz="2000">
                          <a:effectLst/>
                        </a:rPr>
                        <a:t>60</a:t>
                      </a:r>
                      <a:endParaRPr lang="es-PE" sz="2000">
                        <a:effectLst/>
                        <a:latin typeface="Times New Roman"/>
                        <a:ea typeface="Calibri"/>
                      </a:endParaRPr>
                    </a:p>
                  </a:txBody>
                  <a:tcPr marL="44450" marR="44450" marT="0" marB="0"/>
                </a:tc>
                <a:extLst>
                  <a:ext uri="{0D108BD9-81ED-4DB2-BD59-A6C34878D82A}">
                    <a16:rowId xmlns:a16="http://schemas.microsoft.com/office/drawing/2014/main" val="10001"/>
                  </a:ext>
                </a:extLst>
              </a:tr>
              <a:tr h="384239">
                <a:tc>
                  <a:txBody>
                    <a:bodyPr/>
                    <a:lstStyle/>
                    <a:p>
                      <a:pPr algn="just">
                        <a:lnSpc>
                          <a:spcPct val="150000"/>
                        </a:lnSpc>
                        <a:spcAft>
                          <a:spcPts val="0"/>
                        </a:spcAft>
                      </a:pPr>
                      <a:r>
                        <a:rPr lang="es-PE" sz="2000">
                          <a:effectLst/>
                        </a:rPr>
                        <a:t>Arequipa</a:t>
                      </a:r>
                      <a:endParaRPr lang="es-PE" sz="2000">
                        <a:effectLst/>
                        <a:latin typeface="Times New Roman"/>
                        <a:ea typeface="Calibri"/>
                      </a:endParaRPr>
                    </a:p>
                  </a:txBody>
                  <a:tcPr marL="44450" marR="44450" marT="0" marB="0"/>
                </a:tc>
                <a:tc>
                  <a:txBody>
                    <a:bodyPr/>
                    <a:lstStyle/>
                    <a:p>
                      <a:pPr algn="ctr">
                        <a:lnSpc>
                          <a:spcPct val="150000"/>
                        </a:lnSpc>
                        <a:spcAft>
                          <a:spcPts val="0"/>
                        </a:spcAft>
                      </a:pPr>
                      <a:r>
                        <a:rPr lang="es-PE" sz="2000">
                          <a:effectLst/>
                        </a:rPr>
                        <a:t>140</a:t>
                      </a:r>
                      <a:endParaRPr lang="es-PE" sz="2000">
                        <a:effectLst/>
                        <a:latin typeface="Times New Roman"/>
                        <a:ea typeface="Calibri"/>
                      </a:endParaRPr>
                    </a:p>
                  </a:txBody>
                  <a:tcPr marL="44450" marR="44450" marT="0" marB="0"/>
                </a:tc>
                <a:tc>
                  <a:txBody>
                    <a:bodyPr/>
                    <a:lstStyle/>
                    <a:p>
                      <a:pPr algn="ctr">
                        <a:lnSpc>
                          <a:spcPct val="150000"/>
                        </a:lnSpc>
                        <a:spcAft>
                          <a:spcPts val="0"/>
                        </a:spcAft>
                      </a:pPr>
                      <a:r>
                        <a:rPr lang="es-PE" sz="2000">
                          <a:effectLst/>
                        </a:rPr>
                        <a:t>90</a:t>
                      </a:r>
                      <a:endParaRPr lang="es-PE" sz="2000">
                        <a:effectLst/>
                        <a:latin typeface="Times New Roman"/>
                        <a:ea typeface="Calibri"/>
                      </a:endParaRPr>
                    </a:p>
                  </a:txBody>
                  <a:tcPr marL="44450" marR="44450" marT="0" marB="0"/>
                </a:tc>
                <a:tc>
                  <a:txBody>
                    <a:bodyPr/>
                    <a:lstStyle/>
                    <a:p>
                      <a:pPr algn="ctr">
                        <a:lnSpc>
                          <a:spcPct val="150000"/>
                        </a:lnSpc>
                        <a:spcAft>
                          <a:spcPts val="0"/>
                        </a:spcAft>
                      </a:pPr>
                      <a:r>
                        <a:rPr lang="es-PE" sz="2000">
                          <a:effectLst/>
                        </a:rPr>
                        <a:t>150</a:t>
                      </a:r>
                      <a:endParaRPr lang="es-PE" sz="2000">
                        <a:effectLst/>
                        <a:latin typeface="Times New Roman"/>
                        <a:ea typeface="Calibri"/>
                      </a:endParaRPr>
                    </a:p>
                  </a:txBody>
                  <a:tcPr marL="44450" marR="44450" marT="0" marB="0"/>
                </a:tc>
                <a:extLst>
                  <a:ext uri="{0D108BD9-81ED-4DB2-BD59-A6C34878D82A}">
                    <a16:rowId xmlns:a16="http://schemas.microsoft.com/office/drawing/2014/main" val="10002"/>
                  </a:ext>
                </a:extLst>
              </a:tr>
              <a:tr h="384239">
                <a:tc>
                  <a:txBody>
                    <a:bodyPr/>
                    <a:lstStyle/>
                    <a:p>
                      <a:pPr algn="just">
                        <a:lnSpc>
                          <a:spcPct val="150000"/>
                        </a:lnSpc>
                        <a:spcAft>
                          <a:spcPts val="0"/>
                        </a:spcAft>
                      </a:pPr>
                      <a:r>
                        <a:rPr lang="es-PE" sz="2000">
                          <a:effectLst/>
                        </a:rPr>
                        <a:t>Lima</a:t>
                      </a:r>
                      <a:endParaRPr lang="es-PE" sz="2000">
                        <a:effectLst/>
                        <a:latin typeface="Times New Roman"/>
                        <a:ea typeface="Calibri"/>
                      </a:endParaRPr>
                    </a:p>
                  </a:txBody>
                  <a:tcPr marL="44450" marR="44450" marT="0" marB="0"/>
                </a:tc>
                <a:tc>
                  <a:txBody>
                    <a:bodyPr/>
                    <a:lstStyle/>
                    <a:p>
                      <a:pPr algn="ctr">
                        <a:lnSpc>
                          <a:spcPct val="150000"/>
                        </a:lnSpc>
                        <a:spcAft>
                          <a:spcPts val="0"/>
                        </a:spcAft>
                      </a:pPr>
                      <a:r>
                        <a:rPr lang="es-PE" sz="2000">
                          <a:effectLst/>
                        </a:rPr>
                        <a:t>120</a:t>
                      </a:r>
                      <a:endParaRPr lang="es-PE" sz="2000">
                        <a:effectLst/>
                        <a:latin typeface="Times New Roman"/>
                        <a:ea typeface="Calibri"/>
                      </a:endParaRPr>
                    </a:p>
                  </a:txBody>
                  <a:tcPr marL="44450" marR="44450" marT="0" marB="0"/>
                </a:tc>
                <a:tc>
                  <a:txBody>
                    <a:bodyPr/>
                    <a:lstStyle/>
                    <a:p>
                      <a:pPr algn="ctr">
                        <a:lnSpc>
                          <a:spcPct val="150000"/>
                        </a:lnSpc>
                        <a:spcAft>
                          <a:spcPts val="0"/>
                        </a:spcAft>
                      </a:pPr>
                      <a:r>
                        <a:rPr lang="es-PE" sz="2000">
                          <a:effectLst/>
                        </a:rPr>
                        <a:t>110</a:t>
                      </a:r>
                      <a:endParaRPr lang="es-PE" sz="2000">
                        <a:effectLst/>
                        <a:latin typeface="Times New Roman"/>
                        <a:ea typeface="Calibri"/>
                      </a:endParaRPr>
                    </a:p>
                  </a:txBody>
                  <a:tcPr marL="44450" marR="44450" marT="0" marB="0"/>
                </a:tc>
                <a:tc>
                  <a:txBody>
                    <a:bodyPr/>
                    <a:lstStyle/>
                    <a:p>
                      <a:pPr algn="ctr">
                        <a:lnSpc>
                          <a:spcPct val="150000"/>
                        </a:lnSpc>
                        <a:spcAft>
                          <a:spcPts val="0"/>
                        </a:spcAft>
                      </a:pPr>
                      <a:r>
                        <a:rPr lang="es-PE" sz="2000" dirty="0">
                          <a:effectLst/>
                        </a:rPr>
                        <a:t>130</a:t>
                      </a:r>
                      <a:endParaRPr lang="es-PE" sz="2000" dirty="0">
                        <a:effectLst/>
                        <a:latin typeface="Times New Roman"/>
                        <a:ea typeface="Calibri"/>
                      </a:endParaRPr>
                    </a:p>
                  </a:txBody>
                  <a:tcPr marL="44450" marR="44450" marT="0" marB="0"/>
                </a:tc>
                <a:extLst>
                  <a:ext uri="{0D108BD9-81ED-4DB2-BD59-A6C34878D82A}">
                    <a16:rowId xmlns:a16="http://schemas.microsoft.com/office/drawing/2014/main" val="10003"/>
                  </a:ext>
                </a:extLst>
              </a:tr>
            </a:tbl>
          </a:graphicData>
        </a:graphic>
      </p:graphicFrame>
      <p:graphicFrame>
        <p:nvGraphicFramePr>
          <p:cNvPr id="41" name="Diagrama 40">
            <a:extLst>
              <a:ext uri="{FF2B5EF4-FFF2-40B4-BE49-F238E27FC236}">
                <a16:creationId xmlns:a16="http://schemas.microsoft.com/office/drawing/2014/main" id="{CFEE59C1-9254-4A91-BE03-3341E07A808D}"/>
              </a:ext>
            </a:extLst>
          </p:cNvPr>
          <p:cNvGraphicFramePr/>
          <p:nvPr/>
        </p:nvGraphicFramePr>
        <p:xfrm>
          <a:off x="122244" y="1270836"/>
          <a:ext cx="5973756" cy="36548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5753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Tabla"/>
          <p:cNvGraphicFramePr>
            <a:graphicFrameLocks noGrp="1"/>
          </p:cNvGraphicFramePr>
          <p:nvPr/>
        </p:nvGraphicFramePr>
        <p:xfrm>
          <a:off x="729463" y="1943100"/>
          <a:ext cx="4963977" cy="3771900"/>
        </p:xfrm>
        <a:graphic>
          <a:graphicData uri="http://schemas.openxmlformats.org/drawingml/2006/table">
            <a:tbl>
              <a:tblPr>
                <a:tableStyleId>{5C22544A-7EE6-4342-B048-85BDC9FD1C3A}</a:tableStyleId>
              </a:tblPr>
              <a:tblGrid>
                <a:gridCol w="1671288">
                  <a:extLst>
                    <a:ext uri="{9D8B030D-6E8A-4147-A177-3AD203B41FA5}">
                      <a16:colId xmlns:a16="http://schemas.microsoft.com/office/drawing/2014/main" val="20000"/>
                    </a:ext>
                  </a:extLst>
                </a:gridCol>
                <a:gridCol w="997786">
                  <a:extLst>
                    <a:ext uri="{9D8B030D-6E8A-4147-A177-3AD203B41FA5}">
                      <a16:colId xmlns:a16="http://schemas.microsoft.com/office/drawing/2014/main" val="20001"/>
                    </a:ext>
                  </a:extLst>
                </a:gridCol>
                <a:gridCol w="1097563">
                  <a:extLst>
                    <a:ext uri="{9D8B030D-6E8A-4147-A177-3AD203B41FA5}">
                      <a16:colId xmlns:a16="http://schemas.microsoft.com/office/drawing/2014/main" val="20002"/>
                    </a:ext>
                  </a:extLst>
                </a:gridCol>
                <a:gridCol w="1197340">
                  <a:extLst>
                    <a:ext uri="{9D8B030D-6E8A-4147-A177-3AD203B41FA5}">
                      <a16:colId xmlns:a16="http://schemas.microsoft.com/office/drawing/2014/main" val="20003"/>
                    </a:ext>
                  </a:extLst>
                </a:gridCol>
              </a:tblGrid>
              <a:tr h="311809">
                <a:tc gridSpan="4">
                  <a:txBody>
                    <a:bodyPr/>
                    <a:lstStyle/>
                    <a:p>
                      <a:pPr algn="ctr" fontAlgn="b"/>
                      <a:r>
                        <a:rPr lang="es-PE" sz="2000" u="none" strike="noStrike" dirty="0">
                          <a:solidFill>
                            <a:schemeClr val="bg1"/>
                          </a:solidFill>
                          <a:effectLst/>
                        </a:rPr>
                        <a:t>TABLA DE COSTOS</a:t>
                      </a:r>
                      <a:endParaRPr lang="es-PE" sz="2000" b="1" i="0" u="none" strike="noStrike" dirty="0">
                        <a:solidFill>
                          <a:schemeClr val="bg1"/>
                        </a:solidFill>
                        <a:effectLst/>
                        <a:latin typeface="Arial Black"/>
                      </a:endParaRPr>
                    </a:p>
                  </a:txBody>
                  <a:tcPr marL="9525" marR="9525" marT="9525" marB="0" anchor="b">
                    <a:solidFill>
                      <a:srgbClr val="700000"/>
                    </a:solidFill>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0000"/>
                  </a:ext>
                </a:extLst>
              </a:tr>
              <a:tr h="311809">
                <a:tc>
                  <a:txBody>
                    <a:bodyPr/>
                    <a:lstStyle/>
                    <a:p>
                      <a:pPr algn="ctr" fontAlgn="b"/>
                      <a:r>
                        <a:rPr lang="es-PE" sz="2000" u="none" strike="noStrike" dirty="0">
                          <a:effectLst/>
                        </a:rPr>
                        <a:t> </a:t>
                      </a:r>
                      <a:endParaRPr lang="es-PE" sz="2000" b="1" i="0" u="none" strike="noStrike" dirty="0">
                        <a:solidFill>
                          <a:srgbClr val="FFFFFF"/>
                        </a:solidFill>
                        <a:effectLst/>
                        <a:latin typeface="Arial Black"/>
                      </a:endParaRPr>
                    </a:p>
                  </a:txBody>
                  <a:tcPr marL="9525" marR="9525" marT="9525" marB="0" anchor="b">
                    <a:solidFill>
                      <a:schemeClr val="accent2">
                        <a:lumMod val="40000"/>
                        <a:lumOff val="60000"/>
                      </a:schemeClr>
                    </a:solidFill>
                  </a:tcPr>
                </a:tc>
                <a:tc>
                  <a:txBody>
                    <a:bodyPr/>
                    <a:lstStyle/>
                    <a:p>
                      <a:pPr algn="ctr" fontAlgn="b"/>
                      <a:r>
                        <a:rPr lang="es-PE" sz="2000" u="none" strike="noStrike">
                          <a:effectLst/>
                        </a:rPr>
                        <a:t>I(3)</a:t>
                      </a:r>
                      <a:endParaRPr lang="es-PE" sz="2000" b="1" i="0" u="none" strike="noStrike">
                        <a:solidFill>
                          <a:srgbClr val="FFFFFF"/>
                        </a:solidFill>
                        <a:effectLst/>
                        <a:latin typeface="Arial Black"/>
                      </a:endParaRPr>
                    </a:p>
                  </a:txBody>
                  <a:tcPr marL="9525" marR="9525" marT="9525" marB="0" anchor="b">
                    <a:solidFill>
                      <a:schemeClr val="accent2">
                        <a:lumMod val="40000"/>
                        <a:lumOff val="60000"/>
                      </a:schemeClr>
                    </a:solidFill>
                  </a:tcPr>
                </a:tc>
                <a:tc>
                  <a:txBody>
                    <a:bodyPr/>
                    <a:lstStyle/>
                    <a:p>
                      <a:pPr algn="ctr" fontAlgn="b"/>
                      <a:r>
                        <a:rPr lang="es-PE" sz="2000" u="none" strike="noStrike">
                          <a:effectLst/>
                        </a:rPr>
                        <a:t>M(2)</a:t>
                      </a:r>
                      <a:endParaRPr lang="es-PE" sz="2000" b="1" i="0" u="none" strike="noStrike">
                        <a:solidFill>
                          <a:srgbClr val="FFFFFF"/>
                        </a:solidFill>
                        <a:effectLst/>
                        <a:latin typeface="Arial Black"/>
                      </a:endParaRPr>
                    </a:p>
                  </a:txBody>
                  <a:tcPr marL="9525" marR="9525" marT="9525" marB="0" anchor="b">
                    <a:solidFill>
                      <a:schemeClr val="accent2">
                        <a:lumMod val="40000"/>
                        <a:lumOff val="60000"/>
                      </a:schemeClr>
                    </a:solidFill>
                  </a:tcPr>
                </a:tc>
                <a:tc>
                  <a:txBody>
                    <a:bodyPr/>
                    <a:lstStyle/>
                    <a:p>
                      <a:pPr algn="ctr" fontAlgn="b"/>
                      <a:r>
                        <a:rPr lang="es-PE" sz="2000" u="none" strike="noStrike">
                          <a:effectLst/>
                        </a:rPr>
                        <a:t>P(1)</a:t>
                      </a:r>
                      <a:endParaRPr lang="es-PE" sz="2000" b="1" i="0" u="none" strike="noStrike">
                        <a:solidFill>
                          <a:srgbClr val="FFFFFF"/>
                        </a:solidFill>
                        <a:effectLst/>
                        <a:latin typeface="Arial Black"/>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0001"/>
                  </a:ext>
                </a:extLst>
              </a:tr>
              <a:tr h="311809">
                <a:tc>
                  <a:txBody>
                    <a:bodyPr/>
                    <a:lstStyle/>
                    <a:p>
                      <a:pPr algn="ctr" fontAlgn="b"/>
                      <a:r>
                        <a:rPr lang="es-PE" sz="2000" u="none" strike="noStrike" dirty="0">
                          <a:effectLst/>
                        </a:rPr>
                        <a:t>T(1)</a:t>
                      </a:r>
                      <a:endParaRPr lang="es-PE" sz="2000" b="1" i="0" u="none" strike="noStrike" dirty="0">
                        <a:solidFill>
                          <a:srgbClr val="FFFFFF"/>
                        </a:solidFill>
                        <a:effectLst/>
                        <a:latin typeface="Arial Black"/>
                      </a:endParaRPr>
                    </a:p>
                  </a:txBody>
                  <a:tcPr marL="9525" marR="9525" marT="9525" marB="0" anchor="b">
                    <a:solidFill>
                      <a:schemeClr val="accent2">
                        <a:lumMod val="40000"/>
                        <a:lumOff val="60000"/>
                      </a:schemeClr>
                    </a:solidFill>
                  </a:tcPr>
                </a:tc>
                <a:tc>
                  <a:txBody>
                    <a:bodyPr/>
                    <a:lstStyle/>
                    <a:p>
                      <a:pPr algn="ctr" fontAlgn="b"/>
                      <a:r>
                        <a:rPr lang="es-PE" sz="2000" u="none" strike="noStrike" dirty="0">
                          <a:effectLst/>
                        </a:rPr>
                        <a:t>100</a:t>
                      </a:r>
                      <a:endParaRPr lang="es-PE" sz="2000" b="0" i="0" u="none" strike="noStrike" dirty="0">
                        <a:solidFill>
                          <a:srgbClr val="000000"/>
                        </a:solidFill>
                        <a:effectLst/>
                        <a:latin typeface="Arial Black"/>
                      </a:endParaRPr>
                    </a:p>
                  </a:txBody>
                  <a:tcPr marL="9525" marR="9525" marT="9525" marB="0" anchor="b">
                    <a:solidFill>
                      <a:schemeClr val="accent2">
                        <a:lumMod val="40000"/>
                        <a:lumOff val="60000"/>
                      </a:schemeClr>
                    </a:solidFill>
                  </a:tcPr>
                </a:tc>
                <a:tc>
                  <a:txBody>
                    <a:bodyPr/>
                    <a:lstStyle/>
                    <a:p>
                      <a:pPr algn="ctr" fontAlgn="b"/>
                      <a:r>
                        <a:rPr lang="es-PE" sz="2000" u="none" strike="noStrike" dirty="0">
                          <a:effectLst/>
                        </a:rPr>
                        <a:t>120</a:t>
                      </a:r>
                      <a:endParaRPr lang="es-PE" sz="2000" b="0" i="0" u="none" strike="noStrike" dirty="0">
                        <a:solidFill>
                          <a:srgbClr val="000000"/>
                        </a:solidFill>
                        <a:effectLst/>
                        <a:latin typeface="Arial Black"/>
                      </a:endParaRPr>
                    </a:p>
                  </a:txBody>
                  <a:tcPr marL="9525" marR="9525" marT="9525" marB="0" anchor="b">
                    <a:solidFill>
                      <a:schemeClr val="accent2">
                        <a:lumMod val="40000"/>
                        <a:lumOff val="60000"/>
                      </a:schemeClr>
                    </a:solidFill>
                  </a:tcPr>
                </a:tc>
                <a:tc>
                  <a:txBody>
                    <a:bodyPr/>
                    <a:lstStyle/>
                    <a:p>
                      <a:pPr algn="ctr" fontAlgn="b"/>
                      <a:r>
                        <a:rPr lang="es-PE" sz="2000" u="none" strike="noStrike">
                          <a:effectLst/>
                        </a:rPr>
                        <a:t>60</a:t>
                      </a:r>
                      <a:endParaRPr lang="es-PE" sz="2000" b="0" i="0" u="none" strike="noStrike">
                        <a:solidFill>
                          <a:srgbClr val="000000"/>
                        </a:solidFill>
                        <a:effectLst/>
                        <a:latin typeface="Arial Black"/>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0002"/>
                  </a:ext>
                </a:extLst>
              </a:tr>
              <a:tr h="311809">
                <a:tc>
                  <a:txBody>
                    <a:bodyPr/>
                    <a:lstStyle/>
                    <a:p>
                      <a:pPr algn="ctr" fontAlgn="b"/>
                      <a:r>
                        <a:rPr lang="es-PE" sz="2000" u="none" strike="noStrike" dirty="0">
                          <a:effectLst/>
                        </a:rPr>
                        <a:t>A(2)</a:t>
                      </a:r>
                      <a:endParaRPr lang="es-PE" sz="2000" b="1" i="0" u="none" strike="noStrike" dirty="0">
                        <a:solidFill>
                          <a:srgbClr val="FFFFFF"/>
                        </a:solidFill>
                        <a:effectLst/>
                        <a:latin typeface="Arial Black"/>
                      </a:endParaRPr>
                    </a:p>
                  </a:txBody>
                  <a:tcPr marL="9525" marR="9525" marT="9525" marB="0" anchor="b">
                    <a:solidFill>
                      <a:schemeClr val="accent2">
                        <a:lumMod val="40000"/>
                        <a:lumOff val="60000"/>
                      </a:schemeClr>
                    </a:solidFill>
                  </a:tcPr>
                </a:tc>
                <a:tc>
                  <a:txBody>
                    <a:bodyPr/>
                    <a:lstStyle/>
                    <a:p>
                      <a:pPr algn="ctr" fontAlgn="b"/>
                      <a:r>
                        <a:rPr lang="es-PE" sz="2000" u="none" strike="noStrike" dirty="0">
                          <a:effectLst/>
                        </a:rPr>
                        <a:t>140</a:t>
                      </a:r>
                      <a:endParaRPr lang="es-PE" sz="2000" b="0" i="0" u="none" strike="noStrike" dirty="0">
                        <a:solidFill>
                          <a:srgbClr val="000000"/>
                        </a:solidFill>
                        <a:effectLst/>
                        <a:latin typeface="Arial Black"/>
                      </a:endParaRPr>
                    </a:p>
                  </a:txBody>
                  <a:tcPr marL="9525" marR="9525" marT="9525" marB="0" anchor="b">
                    <a:solidFill>
                      <a:schemeClr val="accent2">
                        <a:lumMod val="40000"/>
                        <a:lumOff val="60000"/>
                      </a:schemeClr>
                    </a:solidFill>
                  </a:tcPr>
                </a:tc>
                <a:tc>
                  <a:txBody>
                    <a:bodyPr/>
                    <a:lstStyle/>
                    <a:p>
                      <a:pPr algn="ctr" fontAlgn="b"/>
                      <a:r>
                        <a:rPr lang="es-PE" sz="2000" u="none" strike="noStrike" dirty="0">
                          <a:effectLst/>
                        </a:rPr>
                        <a:t>90</a:t>
                      </a:r>
                      <a:endParaRPr lang="es-PE" sz="2000" b="0" i="0" u="none" strike="noStrike" dirty="0">
                        <a:solidFill>
                          <a:srgbClr val="000000"/>
                        </a:solidFill>
                        <a:effectLst/>
                        <a:latin typeface="Arial Black"/>
                      </a:endParaRPr>
                    </a:p>
                  </a:txBody>
                  <a:tcPr marL="9525" marR="9525" marT="9525" marB="0" anchor="b">
                    <a:solidFill>
                      <a:schemeClr val="accent2">
                        <a:lumMod val="40000"/>
                        <a:lumOff val="60000"/>
                      </a:schemeClr>
                    </a:solidFill>
                  </a:tcPr>
                </a:tc>
                <a:tc>
                  <a:txBody>
                    <a:bodyPr/>
                    <a:lstStyle/>
                    <a:p>
                      <a:pPr algn="ctr" fontAlgn="b"/>
                      <a:r>
                        <a:rPr lang="es-PE" sz="2000" u="none" strike="noStrike" dirty="0">
                          <a:effectLst/>
                        </a:rPr>
                        <a:t>150</a:t>
                      </a:r>
                      <a:endParaRPr lang="es-PE" sz="2000" b="0" i="0" u="none" strike="noStrike" dirty="0">
                        <a:solidFill>
                          <a:srgbClr val="000000"/>
                        </a:solidFill>
                        <a:effectLst/>
                        <a:latin typeface="Arial Black"/>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0003"/>
                  </a:ext>
                </a:extLst>
              </a:tr>
              <a:tr h="311809">
                <a:tc>
                  <a:txBody>
                    <a:bodyPr/>
                    <a:lstStyle/>
                    <a:p>
                      <a:pPr algn="ctr" fontAlgn="b"/>
                      <a:r>
                        <a:rPr lang="es-PE" sz="2000" u="none" strike="noStrike" dirty="0">
                          <a:effectLst/>
                        </a:rPr>
                        <a:t>L(4)</a:t>
                      </a:r>
                      <a:endParaRPr lang="es-PE" sz="2000" b="1" i="0" u="none" strike="noStrike" dirty="0">
                        <a:solidFill>
                          <a:srgbClr val="FFFFFF"/>
                        </a:solidFill>
                        <a:effectLst/>
                        <a:latin typeface="Arial Black"/>
                      </a:endParaRPr>
                    </a:p>
                  </a:txBody>
                  <a:tcPr marL="9525" marR="9525" marT="9525" marB="0" anchor="b">
                    <a:solidFill>
                      <a:schemeClr val="accent2">
                        <a:lumMod val="40000"/>
                        <a:lumOff val="60000"/>
                      </a:schemeClr>
                    </a:solidFill>
                  </a:tcPr>
                </a:tc>
                <a:tc>
                  <a:txBody>
                    <a:bodyPr/>
                    <a:lstStyle/>
                    <a:p>
                      <a:pPr algn="ctr" fontAlgn="b"/>
                      <a:r>
                        <a:rPr lang="es-PE" sz="2000" u="none" strike="noStrike" dirty="0">
                          <a:effectLst/>
                        </a:rPr>
                        <a:t>120</a:t>
                      </a:r>
                      <a:endParaRPr lang="es-PE" sz="2000" b="0" i="0" u="none" strike="noStrike" dirty="0">
                        <a:solidFill>
                          <a:srgbClr val="000000"/>
                        </a:solidFill>
                        <a:effectLst/>
                        <a:latin typeface="Arial Black"/>
                      </a:endParaRPr>
                    </a:p>
                  </a:txBody>
                  <a:tcPr marL="9525" marR="9525" marT="9525" marB="0" anchor="b">
                    <a:solidFill>
                      <a:schemeClr val="accent2">
                        <a:lumMod val="40000"/>
                        <a:lumOff val="60000"/>
                      </a:schemeClr>
                    </a:solidFill>
                  </a:tcPr>
                </a:tc>
                <a:tc>
                  <a:txBody>
                    <a:bodyPr/>
                    <a:lstStyle/>
                    <a:p>
                      <a:pPr algn="ctr" fontAlgn="b"/>
                      <a:r>
                        <a:rPr lang="es-PE" sz="2000" u="none" strike="noStrike" dirty="0">
                          <a:effectLst/>
                        </a:rPr>
                        <a:t>110</a:t>
                      </a:r>
                      <a:endParaRPr lang="es-PE" sz="2000" b="0" i="0" u="none" strike="noStrike" dirty="0">
                        <a:solidFill>
                          <a:srgbClr val="000000"/>
                        </a:solidFill>
                        <a:effectLst/>
                        <a:latin typeface="Arial Black"/>
                      </a:endParaRPr>
                    </a:p>
                  </a:txBody>
                  <a:tcPr marL="9525" marR="9525" marT="9525" marB="0" anchor="b">
                    <a:solidFill>
                      <a:schemeClr val="accent2">
                        <a:lumMod val="40000"/>
                        <a:lumOff val="60000"/>
                      </a:schemeClr>
                    </a:solidFill>
                  </a:tcPr>
                </a:tc>
                <a:tc>
                  <a:txBody>
                    <a:bodyPr/>
                    <a:lstStyle/>
                    <a:p>
                      <a:pPr algn="ctr" fontAlgn="b"/>
                      <a:r>
                        <a:rPr lang="es-PE" sz="2000" u="none" strike="noStrike" dirty="0">
                          <a:effectLst/>
                        </a:rPr>
                        <a:t>130</a:t>
                      </a:r>
                      <a:endParaRPr lang="es-PE" sz="2000" b="0" i="0" u="none" strike="noStrike" dirty="0">
                        <a:solidFill>
                          <a:srgbClr val="000000"/>
                        </a:solidFill>
                        <a:effectLst/>
                        <a:latin typeface="Arial Black"/>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0004"/>
                  </a:ext>
                </a:extLst>
              </a:tr>
              <a:tr h="311809">
                <a:tc>
                  <a:txBody>
                    <a:bodyPr/>
                    <a:lstStyle/>
                    <a:p>
                      <a:pPr algn="ctr" fontAlgn="b"/>
                      <a:r>
                        <a:rPr lang="es-PE" sz="2000" u="none" strike="noStrike" dirty="0">
                          <a:effectLst/>
                        </a:rPr>
                        <a:t>INGRESOS</a:t>
                      </a:r>
                      <a:endParaRPr lang="es-PE" sz="2000" b="0" i="0" u="none" strike="noStrike" dirty="0">
                        <a:solidFill>
                          <a:srgbClr val="000000"/>
                        </a:solidFill>
                        <a:effectLst/>
                        <a:latin typeface="Arial Black"/>
                      </a:endParaRPr>
                    </a:p>
                  </a:txBody>
                  <a:tcPr marL="9525" marR="9525" marT="9525" marB="0" anchor="b"/>
                </a:tc>
                <a:tc>
                  <a:txBody>
                    <a:bodyPr/>
                    <a:lstStyle/>
                    <a:p>
                      <a:pPr algn="ctr" fontAlgn="b"/>
                      <a:r>
                        <a:rPr lang="es-PE" sz="2000" u="none" strike="noStrike">
                          <a:effectLst/>
                        </a:rPr>
                        <a:t>800</a:t>
                      </a:r>
                      <a:endParaRPr lang="es-PE" sz="2000" b="0" i="0" u="none" strike="noStrike">
                        <a:solidFill>
                          <a:srgbClr val="000000"/>
                        </a:solidFill>
                        <a:effectLst/>
                        <a:latin typeface="Arial Black"/>
                      </a:endParaRPr>
                    </a:p>
                  </a:txBody>
                  <a:tcPr marL="9525" marR="9525" marT="9525" marB="0" anchor="b"/>
                </a:tc>
                <a:tc>
                  <a:txBody>
                    <a:bodyPr/>
                    <a:lstStyle/>
                    <a:p>
                      <a:pPr algn="ctr" fontAlgn="b"/>
                      <a:r>
                        <a:rPr lang="es-PE" sz="2000" u="none" strike="noStrike">
                          <a:effectLst/>
                        </a:rPr>
                        <a:t>600</a:t>
                      </a:r>
                      <a:endParaRPr lang="es-PE" sz="2000" b="0" i="0" u="none" strike="noStrike">
                        <a:solidFill>
                          <a:srgbClr val="000000"/>
                        </a:solidFill>
                        <a:effectLst/>
                        <a:latin typeface="Arial Black"/>
                      </a:endParaRPr>
                    </a:p>
                  </a:txBody>
                  <a:tcPr marL="9525" marR="9525" marT="9525" marB="0" anchor="b"/>
                </a:tc>
                <a:tc>
                  <a:txBody>
                    <a:bodyPr/>
                    <a:lstStyle/>
                    <a:p>
                      <a:pPr algn="ctr" fontAlgn="b"/>
                      <a:r>
                        <a:rPr lang="es-PE" sz="2000" u="none" strike="noStrike">
                          <a:effectLst/>
                        </a:rPr>
                        <a:t>700</a:t>
                      </a:r>
                      <a:endParaRPr lang="es-PE" sz="2000" b="0" i="0" u="none" strike="noStrike">
                        <a:solidFill>
                          <a:srgbClr val="000000"/>
                        </a:solidFill>
                        <a:effectLst/>
                        <a:latin typeface="Arial Black"/>
                      </a:endParaRPr>
                    </a:p>
                  </a:txBody>
                  <a:tcPr marL="9525" marR="9525" marT="9525" marB="0" anchor="b"/>
                </a:tc>
                <a:extLst>
                  <a:ext uri="{0D108BD9-81ED-4DB2-BD59-A6C34878D82A}">
                    <a16:rowId xmlns:a16="http://schemas.microsoft.com/office/drawing/2014/main" val="10005"/>
                  </a:ext>
                </a:extLst>
              </a:tr>
              <a:tr h="311809">
                <a:tc>
                  <a:txBody>
                    <a:bodyPr/>
                    <a:lstStyle/>
                    <a:p>
                      <a:pPr algn="ctr" fontAlgn="b"/>
                      <a:r>
                        <a:rPr lang="es-PE" sz="2000" u="none" strike="noStrike" dirty="0">
                          <a:effectLst/>
                        </a:rPr>
                        <a:t>GASTOS</a:t>
                      </a:r>
                      <a:endParaRPr lang="es-PE" sz="2000" b="0" i="0" u="none" strike="noStrike" dirty="0">
                        <a:solidFill>
                          <a:srgbClr val="000000"/>
                        </a:solidFill>
                        <a:effectLst/>
                        <a:latin typeface="Arial Black"/>
                      </a:endParaRPr>
                    </a:p>
                  </a:txBody>
                  <a:tcPr marL="9525" marR="9525" marT="9525" marB="0" anchor="b"/>
                </a:tc>
                <a:tc>
                  <a:txBody>
                    <a:bodyPr/>
                    <a:lstStyle/>
                    <a:p>
                      <a:pPr algn="ctr" fontAlgn="b"/>
                      <a:r>
                        <a:rPr lang="es-PE" sz="2000" u="none" strike="noStrike">
                          <a:effectLst/>
                        </a:rPr>
                        <a:t>160</a:t>
                      </a:r>
                      <a:endParaRPr lang="es-PE" sz="2000" b="0" i="0" u="none" strike="noStrike">
                        <a:solidFill>
                          <a:srgbClr val="000000"/>
                        </a:solidFill>
                        <a:effectLst/>
                        <a:latin typeface="Arial Black"/>
                      </a:endParaRPr>
                    </a:p>
                  </a:txBody>
                  <a:tcPr marL="9525" marR="9525" marT="9525" marB="0" anchor="b"/>
                </a:tc>
                <a:tc>
                  <a:txBody>
                    <a:bodyPr/>
                    <a:lstStyle/>
                    <a:p>
                      <a:pPr algn="ctr" fontAlgn="b"/>
                      <a:r>
                        <a:rPr lang="es-PE" sz="2000" u="none" strike="noStrike">
                          <a:effectLst/>
                        </a:rPr>
                        <a:t>180</a:t>
                      </a:r>
                      <a:endParaRPr lang="es-PE" sz="2000" b="0" i="0" u="none" strike="noStrike">
                        <a:solidFill>
                          <a:srgbClr val="000000"/>
                        </a:solidFill>
                        <a:effectLst/>
                        <a:latin typeface="Arial Black"/>
                      </a:endParaRPr>
                    </a:p>
                  </a:txBody>
                  <a:tcPr marL="9525" marR="9525" marT="9525" marB="0" anchor="b"/>
                </a:tc>
                <a:tc>
                  <a:txBody>
                    <a:bodyPr/>
                    <a:lstStyle/>
                    <a:p>
                      <a:pPr algn="ctr" fontAlgn="b"/>
                      <a:r>
                        <a:rPr lang="es-PE" sz="2000" u="none" strike="noStrike">
                          <a:effectLst/>
                        </a:rPr>
                        <a:t>220</a:t>
                      </a:r>
                      <a:endParaRPr lang="es-PE" sz="2000" b="0" i="0" u="none" strike="noStrike">
                        <a:solidFill>
                          <a:srgbClr val="000000"/>
                        </a:solidFill>
                        <a:effectLst/>
                        <a:latin typeface="Arial Black"/>
                      </a:endParaRPr>
                    </a:p>
                  </a:txBody>
                  <a:tcPr marL="9525" marR="9525" marT="9525" marB="0" anchor="b"/>
                </a:tc>
                <a:extLst>
                  <a:ext uri="{0D108BD9-81ED-4DB2-BD59-A6C34878D82A}">
                    <a16:rowId xmlns:a16="http://schemas.microsoft.com/office/drawing/2014/main" val="10006"/>
                  </a:ext>
                </a:extLst>
              </a:tr>
              <a:tr h="311809">
                <a:tc gridSpan="4">
                  <a:txBody>
                    <a:bodyPr/>
                    <a:lstStyle/>
                    <a:p>
                      <a:pPr algn="ctr" fontAlgn="b"/>
                      <a:r>
                        <a:rPr lang="es-PE" sz="2000" u="none" strike="noStrike" dirty="0">
                          <a:solidFill>
                            <a:schemeClr val="bg1"/>
                          </a:solidFill>
                          <a:effectLst/>
                        </a:rPr>
                        <a:t>TABLA DE UTILIDADES</a:t>
                      </a:r>
                      <a:endParaRPr lang="es-PE" sz="2000" b="0" i="0" u="none" strike="noStrike" dirty="0">
                        <a:solidFill>
                          <a:schemeClr val="bg1"/>
                        </a:solidFill>
                        <a:effectLst/>
                        <a:latin typeface="Arial Black"/>
                      </a:endParaRPr>
                    </a:p>
                  </a:txBody>
                  <a:tcPr marL="9525" marR="9525" marT="9525" marB="0" anchor="b">
                    <a:solidFill>
                      <a:srgbClr val="700000"/>
                    </a:solidFill>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0007"/>
                  </a:ext>
                </a:extLst>
              </a:tr>
              <a:tr h="311809">
                <a:tc>
                  <a:txBody>
                    <a:bodyPr/>
                    <a:lstStyle/>
                    <a:p>
                      <a:pPr algn="ctr" fontAlgn="b"/>
                      <a:r>
                        <a:rPr lang="es-PE" sz="2000" u="none" strike="noStrike" dirty="0">
                          <a:effectLst/>
                        </a:rPr>
                        <a:t> </a:t>
                      </a:r>
                      <a:endParaRPr lang="es-PE" sz="2000" b="1" i="0" u="none" strike="noStrike" dirty="0">
                        <a:solidFill>
                          <a:srgbClr val="FFFFFF"/>
                        </a:solidFill>
                        <a:effectLst/>
                        <a:latin typeface="Arial Black"/>
                      </a:endParaRPr>
                    </a:p>
                  </a:txBody>
                  <a:tcPr marL="9525" marR="9525" marT="9525" marB="0" anchor="b">
                    <a:solidFill>
                      <a:schemeClr val="accent2">
                        <a:lumMod val="40000"/>
                        <a:lumOff val="60000"/>
                      </a:schemeClr>
                    </a:solidFill>
                  </a:tcPr>
                </a:tc>
                <a:tc>
                  <a:txBody>
                    <a:bodyPr/>
                    <a:lstStyle/>
                    <a:p>
                      <a:pPr algn="ctr" fontAlgn="b"/>
                      <a:r>
                        <a:rPr lang="es-PE" sz="2000" u="none" strike="noStrike">
                          <a:effectLst/>
                        </a:rPr>
                        <a:t>I(3)</a:t>
                      </a:r>
                      <a:endParaRPr lang="es-PE" sz="2000" b="1" i="0" u="none" strike="noStrike">
                        <a:solidFill>
                          <a:srgbClr val="FFFFFF"/>
                        </a:solidFill>
                        <a:effectLst/>
                        <a:latin typeface="Arial Black"/>
                      </a:endParaRPr>
                    </a:p>
                  </a:txBody>
                  <a:tcPr marL="9525" marR="9525" marT="9525" marB="0" anchor="b">
                    <a:solidFill>
                      <a:schemeClr val="accent2">
                        <a:lumMod val="40000"/>
                        <a:lumOff val="60000"/>
                      </a:schemeClr>
                    </a:solidFill>
                  </a:tcPr>
                </a:tc>
                <a:tc>
                  <a:txBody>
                    <a:bodyPr/>
                    <a:lstStyle/>
                    <a:p>
                      <a:pPr algn="ctr" fontAlgn="b"/>
                      <a:r>
                        <a:rPr lang="es-PE" sz="2000" u="none" strike="noStrike">
                          <a:effectLst/>
                        </a:rPr>
                        <a:t>M(2)</a:t>
                      </a:r>
                      <a:endParaRPr lang="es-PE" sz="2000" b="1" i="0" u="none" strike="noStrike">
                        <a:solidFill>
                          <a:srgbClr val="FFFFFF"/>
                        </a:solidFill>
                        <a:effectLst/>
                        <a:latin typeface="Arial Black"/>
                      </a:endParaRPr>
                    </a:p>
                  </a:txBody>
                  <a:tcPr marL="9525" marR="9525" marT="9525" marB="0" anchor="b">
                    <a:solidFill>
                      <a:schemeClr val="accent2">
                        <a:lumMod val="40000"/>
                        <a:lumOff val="60000"/>
                      </a:schemeClr>
                    </a:solidFill>
                  </a:tcPr>
                </a:tc>
                <a:tc>
                  <a:txBody>
                    <a:bodyPr/>
                    <a:lstStyle/>
                    <a:p>
                      <a:pPr algn="ctr" fontAlgn="b"/>
                      <a:r>
                        <a:rPr lang="es-PE" sz="2000" u="none" strike="noStrike">
                          <a:effectLst/>
                        </a:rPr>
                        <a:t>P(1)</a:t>
                      </a:r>
                      <a:endParaRPr lang="es-PE" sz="2000" b="1" i="0" u="none" strike="noStrike">
                        <a:solidFill>
                          <a:srgbClr val="FFFFFF"/>
                        </a:solidFill>
                        <a:effectLst/>
                        <a:latin typeface="Arial Black"/>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0008"/>
                  </a:ext>
                </a:extLst>
              </a:tr>
              <a:tr h="311809">
                <a:tc>
                  <a:txBody>
                    <a:bodyPr/>
                    <a:lstStyle/>
                    <a:p>
                      <a:pPr algn="ctr" fontAlgn="b"/>
                      <a:r>
                        <a:rPr lang="es-PE" sz="2000" u="none" strike="noStrike" dirty="0">
                          <a:effectLst/>
                        </a:rPr>
                        <a:t>T(1)</a:t>
                      </a:r>
                      <a:endParaRPr lang="es-PE" sz="2000" b="1" i="0" u="none" strike="noStrike" dirty="0">
                        <a:solidFill>
                          <a:srgbClr val="FFFFFF"/>
                        </a:solidFill>
                        <a:effectLst/>
                        <a:latin typeface="Arial Black"/>
                      </a:endParaRPr>
                    </a:p>
                  </a:txBody>
                  <a:tcPr marL="9525" marR="9525" marT="9525" marB="0" anchor="b">
                    <a:solidFill>
                      <a:schemeClr val="accent2">
                        <a:lumMod val="40000"/>
                        <a:lumOff val="60000"/>
                      </a:schemeClr>
                    </a:solidFill>
                  </a:tcPr>
                </a:tc>
                <a:tc>
                  <a:txBody>
                    <a:bodyPr/>
                    <a:lstStyle/>
                    <a:p>
                      <a:pPr algn="ctr" fontAlgn="b"/>
                      <a:r>
                        <a:rPr lang="es-PE" sz="2000" u="none" strike="noStrike">
                          <a:effectLst/>
                        </a:rPr>
                        <a:t>540</a:t>
                      </a:r>
                      <a:endParaRPr lang="es-PE" sz="2000" b="0" i="0" u="none" strike="noStrike">
                        <a:solidFill>
                          <a:srgbClr val="000000"/>
                        </a:solidFill>
                        <a:effectLst/>
                        <a:latin typeface="Arial Black"/>
                      </a:endParaRPr>
                    </a:p>
                  </a:txBody>
                  <a:tcPr marL="9525" marR="9525" marT="9525" marB="0" anchor="b">
                    <a:solidFill>
                      <a:schemeClr val="accent2">
                        <a:lumMod val="40000"/>
                        <a:lumOff val="60000"/>
                      </a:schemeClr>
                    </a:solidFill>
                  </a:tcPr>
                </a:tc>
                <a:tc>
                  <a:txBody>
                    <a:bodyPr/>
                    <a:lstStyle/>
                    <a:p>
                      <a:pPr algn="ctr" fontAlgn="b"/>
                      <a:r>
                        <a:rPr lang="es-PE" sz="2000" u="none" strike="noStrike">
                          <a:effectLst/>
                        </a:rPr>
                        <a:t>300</a:t>
                      </a:r>
                      <a:endParaRPr lang="es-PE" sz="2000" b="0" i="0" u="none" strike="noStrike">
                        <a:solidFill>
                          <a:srgbClr val="000000"/>
                        </a:solidFill>
                        <a:effectLst/>
                        <a:latin typeface="Arial Black"/>
                      </a:endParaRPr>
                    </a:p>
                  </a:txBody>
                  <a:tcPr marL="9525" marR="9525" marT="9525" marB="0" anchor="b">
                    <a:solidFill>
                      <a:schemeClr val="accent2">
                        <a:lumMod val="40000"/>
                        <a:lumOff val="60000"/>
                      </a:schemeClr>
                    </a:solidFill>
                  </a:tcPr>
                </a:tc>
                <a:tc>
                  <a:txBody>
                    <a:bodyPr/>
                    <a:lstStyle/>
                    <a:p>
                      <a:pPr algn="ctr" fontAlgn="b"/>
                      <a:r>
                        <a:rPr lang="es-PE" sz="2000" u="none" strike="noStrike">
                          <a:effectLst/>
                        </a:rPr>
                        <a:t>420</a:t>
                      </a:r>
                      <a:endParaRPr lang="es-PE" sz="2000" b="0" i="0" u="none" strike="noStrike">
                        <a:solidFill>
                          <a:srgbClr val="000000"/>
                        </a:solidFill>
                        <a:effectLst/>
                        <a:latin typeface="Arial Black"/>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0009"/>
                  </a:ext>
                </a:extLst>
              </a:tr>
              <a:tr h="311809">
                <a:tc>
                  <a:txBody>
                    <a:bodyPr/>
                    <a:lstStyle/>
                    <a:p>
                      <a:pPr algn="ctr" fontAlgn="b"/>
                      <a:r>
                        <a:rPr lang="es-PE" sz="2000" u="none" strike="noStrike" dirty="0">
                          <a:effectLst/>
                        </a:rPr>
                        <a:t>A(2)</a:t>
                      </a:r>
                      <a:endParaRPr lang="es-PE" sz="2000" b="1" i="0" u="none" strike="noStrike" dirty="0">
                        <a:solidFill>
                          <a:srgbClr val="FFFFFF"/>
                        </a:solidFill>
                        <a:effectLst/>
                        <a:latin typeface="Arial Black"/>
                      </a:endParaRPr>
                    </a:p>
                  </a:txBody>
                  <a:tcPr marL="9525" marR="9525" marT="9525" marB="0" anchor="b">
                    <a:solidFill>
                      <a:schemeClr val="accent2">
                        <a:lumMod val="40000"/>
                        <a:lumOff val="60000"/>
                      </a:schemeClr>
                    </a:solidFill>
                  </a:tcPr>
                </a:tc>
                <a:tc>
                  <a:txBody>
                    <a:bodyPr/>
                    <a:lstStyle/>
                    <a:p>
                      <a:pPr algn="ctr" fontAlgn="b"/>
                      <a:r>
                        <a:rPr lang="es-PE" sz="2000" u="none" strike="noStrike" dirty="0">
                          <a:effectLst/>
                        </a:rPr>
                        <a:t>500</a:t>
                      </a:r>
                      <a:endParaRPr lang="es-PE" sz="2000" b="0" i="0" u="none" strike="noStrike" dirty="0">
                        <a:solidFill>
                          <a:srgbClr val="000000"/>
                        </a:solidFill>
                        <a:effectLst/>
                        <a:latin typeface="Arial Black"/>
                      </a:endParaRPr>
                    </a:p>
                  </a:txBody>
                  <a:tcPr marL="9525" marR="9525" marT="9525" marB="0" anchor="b">
                    <a:solidFill>
                      <a:schemeClr val="accent2">
                        <a:lumMod val="40000"/>
                        <a:lumOff val="60000"/>
                      </a:schemeClr>
                    </a:solidFill>
                  </a:tcPr>
                </a:tc>
                <a:tc>
                  <a:txBody>
                    <a:bodyPr/>
                    <a:lstStyle/>
                    <a:p>
                      <a:pPr algn="ctr" fontAlgn="b"/>
                      <a:r>
                        <a:rPr lang="es-PE" sz="2000" u="none" strike="noStrike" dirty="0">
                          <a:effectLst/>
                        </a:rPr>
                        <a:t>330</a:t>
                      </a:r>
                      <a:endParaRPr lang="es-PE" sz="2000" b="0" i="0" u="none" strike="noStrike" dirty="0">
                        <a:solidFill>
                          <a:srgbClr val="000000"/>
                        </a:solidFill>
                        <a:effectLst/>
                        <a:latin typeface="Arial Black"/>
                      </a:endParaRPr>
                    </a:p>
                  </a:txBody>
                  <a:tcPr marL="9525" marR="9525" marT="9525" marB="0" anchor="b">
                    <a:solidFill>
                      <a:schemeClr val="accent2">
                        <a:lumMod val="40000"/>
                        <a:lumOff val="60000"/>
                      </a:schemeClr>
                    </a:solidFill>
                  </a:tcPr>
                </a:tc>
                <a:tc>
                  <a:txBody>
                    <a:bodyPr/>
                    <a:lstStyle/>
                    <a:p>
                      <a:pPr algn="ctr" fontAlgn="b"/>
                      <a:r>
                        <a:rPr lang="es-PE" sz="2000" u="none" strike="noStrike">
                          <a:effectLst/>
                        </a:rPr>
                        <a:t>330</a:t>
                      </a:r>
                      <a:endParaRPr lang="es-PE" sz="2000" b="0" i="0" u="none" strike="noStrike">
                        <a:solidFill>
                          <a:srgbClr val="000000"/>
                        </a:solidFill>
                        <a:effectLst/>
                        <a:latin typeface="Arial Black"/>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0010"/>
                  </a:ext>
                </a:extLst>
              </a:tr>
              <a:tr h="311809">
                <a:tc>
                  <a:txBody>
                    <a:bodyPr/>
                    <a:lstStyle/>
                    <a:p>
                      <a:pPr algn="ctr" fontAlgn="b"/>
                      <a:r>
                        <a:rPr lang="es-PE" sz="2000" u="none" strike="noStrike" dirty="0">
                          <a:effectLst/>
                        </a:rPr>
                        <a:t>L(4)</a:t>
                      </a:r>
                      <a:endParaRPr lang="es-PE" sz="2000" b="1" i="0" u="none" strike="noStrike" dirty="0">
                        <a:solidFill>
                          <a:srgbClr val="FFFFFF"/>
                        </a:solidFill>
                        <a:effectLst/>
                        <a:latin typeface="Arial Black"/>
                      </a:endParaRPr>
                    </a:p>
                  </a:txBody>
                  <a:tcPr marL="9525" marR="9525" marT="9525" marB="0" anchor="b">
                    <a:solidFill>
                      <a:schemeClr val="accent2">
                        <a:lumMod val="40000"/>
                        <a:lumOff val="60000"/>
                      </a:schemeClr>
                    </a:solidFill>
                  </a:tcPr>
                </a:tc>
                <a:tc>
                  <a:txBody>
                    <a:bodyPr/>
                    <a:lstStyle/>
                    <a:p>
                      <a:pPr algn="ctr" fontAlgn="b"/>
                      <a:r>
                        <a:rPr lang="es-PE" sz="2000" u="none" strike="noStrike" dirty="0">
                          <a:effectLst/>
                        </a:rPr>
                        <a:t>520</a:t>
                      </a:r>
                      <a:endParaRPr lang="es-PE" sz="2000" b="0" i="0" u="none" strike="noStrike" dirty="0">
                        <a:solidFill>
                          <a:srgbClr val="000000"/>
                        </a:solidFill>
                        <a:effectLst/>
                        <a:latin typeface="Arial Black"/>
                      </a:endParaRPr>
                    </a:p>
                  </a:txBody>
                  <a:tcPr marL="9525" marR="9525" marT="9525" marB="0" anchor="b">
                    <a:solidFill>
                      <a:schemeClr val="accent2">
                        <a:lumMod val="40000"/>
                        <a:lumOff val="60000"/>
                      </a:schemeClr>
                    </a:solidFill>
                  </a:tcPr>
                </a:tc>
                <a:tc>
                  <a:txBody>
                    <a:bodyPr/>
                    <a:lstStyle/>
                    <a:p>
                      <a:pPr algn="ctr" fontAlgn="b"/>
                      <a:r>
                        <a:rPr lang="es-PE" sz="2000" u="none" strike="noStrike" dirty="0">
                          <a:effectLst/>
                        </a:rPr>
                        <a:t>310</a:t>
                      </a:r>
                      <a:endParaRPr lang="es-PE" sz="2000" b="0" i="0" u="none" strike="noStrike" dirty="0">
                        <a:solidFill>
                          <a:srgbClr val="000000"/>
                        </a:solidFill>
                        <a:effectLst/>
                        <a:latin typeface="Arial Black"/>
                      </a:endParaRPr>
                    </a:p>
                  </a:txBody>
                  <a:tcPr marL="9525" marR="9525" marT="9525" marB="0" anchor="b">
                    <a:solidFill>
                      <a:schemeClr val="accent2">
                        <a:lumMod val="40000"/>
                        <a:lumOff val="60000"/>
                      </a:schemeClr>
                    </a:solidFill>
                  </a:tcPr>
                </a:tc>
                <a:tc>
                  <a:txBody>
                    <a:bodyPr/>
                    <a:lstStyle/>
                    <a:p>
                      <a:pPr algn="ctr" fontAlgn="b"/>
                      <a:r>
                        <a:rPr lang="es-PE" sz="2000" u="none" strike="noStrike" dirty="0">
                          <a:effectLst/>
                        </a:rPr>
                        <a:t>350</a:t>
                      </a:r>
                      <a:endParaRPr lang="es-PE" sz="2000" b="0" i="0" u="none" strike="noStrike" dirty="0">
                        <a:solidFill>
                          <a:srgbClr val="000000"/>
                        </a:solidFill>
                        <a:effectLst/>
                        <a:latin typeface="Arial Black"/>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0011"/>
                  </a:ext>
                </a:extLst>
              </a:tr>
            </a:tbl>
          </a:graphicData>
        </a:graphic>
      </p:graphicFrame>
      <p:sp>
        <p:nvSpPr>
          <p:cNvPr id="3" name="2 CuadroTexto"/>
          <p:cNvSpPr txBox="1"/>
          <p:nvPr/>
        </p:nvSpPr>
        <p:spPr>
          <a:xfrm>
            <a:off x="1312966" y="1326149"/>
            <a:ext cx="3975026" cy="461665"/>
          </a:xfrm>
          <a:prstGeom prst="rect">
            <a:avLst/>
          </a:prstGeom>
          <a:noFill/>
        </p:spPr>
        <p:txBody>
          <a:bodyPr wrap="square" rtlCol="0">
            <a:spAutoFit/>
          </a:bodyPr>
          <a:lstStyle/>
          <a:p>
            <a:r>
              <a:rPr lang="es-ES" sz="2400" b="1" dirty="0"/>
              <a:t>UTILIDAD=INGRESOS-GASTOS</a:t>
            </a:r>
            <a:endParaRPr lang="es-PE" sz="2400" b="1" dirty="0"/>
          </a:p>
        </p:txBody>
      </p:sp>
      <p:graphicFrame>
        <p:nvGraphicFramePr>
          <p:cNvPr id="4" name="1 Tabla">
            <a:extLst>
              <a:ext uri="{FF2B5EF4-FFF2-40B4-BE49-F238E27FC236}">
                <a16:creationId xmlns:a16="http://schemas.microsoft.com/office/drawing/2014/main" id="{BD0979EE-DE68-4C24-AAFC-549B2573DFED}"/>
              </a:ext>
            </a:extLst>
          </p:cNvPr>
          <p:cNvGraphicFramePr>
            <a:graphicFrameLocks noGrp="1"/>
          </p:cNvGraphicFramePr>
          <p:nvPr/>
        </p:nvGraphicFramePr>
        <p:xfrm>
          <a:off x="6366280" y="1412778"/>
          <a:ext cx="5486404" cy="4933959"/>
        </p:xfrm>
        <a:graphic>
          <a:graphicData uri="http://schemas.openxmlformats.org/drawingml/2006/table">
            <a:tbl>
              <a:tblPr>
                <a:tableStyleId>{5C22544A-7EE6-4342-B048-85BDC9FD1C3A}</a:tableStyleId>
              </a:tblPr>
              <a:tblGrid>
                <a:gridCol w="1854558">
                  <a:extLst>
                    <a:ext uri="{9D8B030D-6E8A-4147-A177-3AD203B41FA5}">
                      <a16:colId xmlns:a16="http://schemas.microsoft.com/office/drawing/2014/main" val="20000"/>
                    </a:ext>
                  </a:extLst>
                </a:gridCol>
                <a:gridCol w="618186">
                  <a:extLst>
                    <a:ext uri="{9D8B030D-6E8A-4147-A177-3AD203B41FA5}">
                      <a16:colId xmlns:a16="http://schemas.microsoft.com/office/drawing/2014/main" val="20001"/>
                    </a:ext>
                  </a:extLst>
                </a:gridCol>
                <a:gridCol w="680005">
                  <a:extLst>
                    <a:ext uri="{9D8B030D-6E8A-4147-A177-3AD203B41FA5}">
                      <a16:colId xmlns:a16="http://schemas.microsoft.com/office/drawing/2014/main" val="20002"/>
                    </a:ext>
                  </a:extLst>
                </a:gridCol>
                <a:gridCol w="850008">
                  <a:extLst>
                    <a:ext uri="{9D8B030D-6E8A-4147-A177-3AD203B41FA5}">
                      <a16:colId xmlns:a16="http://schemas.microsoft.com/office/drawing/2014/main" val="20003"/>
                    </a:ext>
                  </a:extLst>
                </a:gridCol>
                <a:gridCol w="638792">
                  <a:extLst>
                    <a:ext uri="{9D8B030D-6E8A-4147-A177-3AD203B41FA5}">
                      <a16:colId xmlns:a16="http://schemas.microsoft.com/office/drawing/2014/main" val="20004"/>
                    </a:ext>
                  </a:extLst>
                </a:gridCol>
                <a:gridCol w="844855">
                  <a:extLst>
                    <a:ext uri="{9D8B030D-6E8A-4147-A177-3AD203B41FA5}">
                      <a16:colId xmlns:a16="http://schemas.microsoft.com/office/drawing/2014/main" val="20005"/>
                    </a:ext>
                  </a:extLst>
                </a:gridCol>
              </a:tblGrid>
              <a:tr h="142290">
                <a:tc gridSpan="4">
                  <a:txBody>
                    <a:bodyPr/>
                    <a:lstStyle/>
                    <a:p>
                      <a:pPr algn="l" fontAlgn="b"/>
                      <a:r>
                        <a:rPr lang="es-PE" sz="2400" u="none" strike="noStrike" dirty="0">
                          <a:solidFill>
                            <a:srgbClr val="FF0000"/>
                          </a:solidFill>
                          <a:effectLst/>
                          <a:latin typeface="Arial Narrow" pitchFamily="34" charset="0"/>
                        </a:rPr>
                        <a:t>Identificación de las Variables</a:t>
                      </a:r>
                      <a:endParaRPr lang="es-PE" sz="2400" b="0" i="0" u="none" strike="noStrike" dirty="0">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pPr algn="l" fontAlgn="b"/>
                      <a:endParaRPr lang="es-PE" sz="2400" b="0" i="0" u="none" strike="noStrike" dirty="0">
                        <a:solidFill>
                          <a:srgbClr val="000000"/>
                        </a:solidFill>
                        <a:effectLst/>
                        <a:latin typeface="Arial Narrow" pitchFamily="34" charset="0"/>
                      </a:endParaRPr>
                    </a:p>
                  </a:txBody>
                  <a:tcPr marL="9525" marR="9525" marT="9525" marB="0" anchor="b"/>
                </a:tc>
                <a:tc>
                  <a:txBody>
                    <a:bodyPr/>
                    <a:lstStyle/>
                    <a:p>
                      <a:pPr algn="l" fontAlgn="b"/>
                      <a:r>
                        <a:rPr lang="es-PE" sz="2400" u="none" strike="noStrike">
                          <a:effectLst/>
                          <a:latin typeface="Arial Narrow" pitchFamily="34" charset="0"/>
                        </a:rPr>
                        <a:t> </a:t>
                      </a:r>
                      <a:endParaRPr lang="es-PE" sz="2400" b="0" i="0" u="none" strike="noStrike">
                        <a:solidFill>
                          <a:srgbClr val="000000"/>
                        </a:solidFill>
                        <a:effectLst/>
                        <a:latin typeface="Arial Narrow" pitchFamily="34" charset="0"/>
                      </a:endParaRPr>
                    </a:p>
                  </a:txBody>
                  <a:tcPr marL="9525" marR="9525" marT="9525" marB="0" anchor="b"/>
                </a:tc>
                <a:tc>
                  <a:txBody>
                    <a:bodyPr/>
                    <a:lstStyle/>
                    <a:p>
                      <a:pPr algn="l" fontAlgn="b"/>
                      <a:r>
                        <a:rPr lang="es-PE" sz="2400" u="none" strike="noStrike">
                          <a:effectLst/>
                          <a:latin typeface="Arial Narrow" pitchFamily="34" charset="0"/>
                        </a:rPr>
                        <a:t> </a:t>
                      </a:r>
                      <a:endParaRPr lang="es-PE" sz="2400" b="0" i="0" u="none" strike="noStrike">
                        <a:solidFill>
                          <a:srgbClr val="000000"/>
                        </a:solidFill>
                        <a:effectLst/>
                        <a:latin typeface="Arial Narrow" pitchFamily="34" charset="0"/>
                      </a:endParaRPr>
                    </a:p>
                  </a:txBody>
                  <a:tcPr marL="9525" marR="9525" marT="9525" marB="0" anchor="b"/>
                </a:tc>
                <a:extLst>
                  <a:ext uri="{0D108BD9-81ED-4DB2-BD59-A6C34878D82A}">
                    <a16:rowId xmlns:a16="http://schemas.microsoft.com/office/drawing/2014/main" val="10000"/>
                  </a:ext>
                </a:extLst>
              </a:tr>
              <a:tr h="590591">
                <a:tc gridSpan="6">
                  <a:txBody>
                    <a:bodyPr/>
                    <a:lstStyle/>
                    <a:p>
                      <a:pPr algn="l" fontAlgn="b"/>
                      <a:r>
                        <a:rPr lang="es-PE" sz="2400" u="none" strike="noStrike">
                          <a:effectLst/>
                          <a:latin typeface="Arial Narrow" pitchFamily="34" charset="0"/>
                        </a:rPr>
                        <a:t>Xij=N° de consultores que viajan del origen i al destino j</a:t>
                      </a:r>
                      <a:endParaRPr lang="es-PE" sz="2400" b="1" i="0" u="none" strike="noStrike">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0001"/>
                  </a:ext>
                </a:extLst>
              </a:tr>
              <a:tr h="424181">
                <a:tc gridSpan="4">
                  <a:txBody>
                    <a:bodyPr/>
                    <a:lstStyle/>
                    <a:p>
                      <a:pPr algn="l" fontAlgn="b"/>
                      <a:r>
                        <a:rPr lang="es-PE" sz="2400" u="none" strike="noStrike" dirty="0">
                          <a:solidFill>
                            <a:srgbClr val="FF0000"/>
                          </a:solidFill>
                          <a:effectLst/>
                          <a:latin typeface="Arial Narrow" pitchFamily="34" charset="0"/>
                        </a:rPr>
                        <a:t>Identificación</a:t>
                      </a:r>
                      <a:r>
                        <a:rPr lang="es-ES" sz="2400" u="none" strike="noStrike" dirty="0">
                          <a:solidFill>
                            <a:srgbClr val="FF0000"/>
                          </a:solidFill>
                          <a:effectLst/>
                          <a:latin typeface="Arial Narrow" pitchFamily="34" charset="0"/>
                        </a:rPr>
                        <a:t> de la Función objetivo</a:t>
                      </a:r>
                      <a:endParaRPr lang="es-ES" sz="2400" b="1" i="0" u="none" strike="noStrike" dirty="0">
                        <a:solidFill>
                          <a:srgbClr val="FF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l" fontAlgn="b"/>
                      <a:r>
                        <a:rPr lang="es-PE" sz="2400" u="none" strike="noStrike">
                          <a:effectLst/>
                          <a:latin typeface="Arial Narrow" pitchFamily="34" charset="0"/>
                        </a:rPr>
                        <a:t> </a:t>
                      </a:r>
                      <a:endParaRPr lang="es-PE" sz="2400" b="0" i="0" u="none" strike="noStrike">
                        <a:solidFill>
                          <a:srgbClr val="000000"/>
                        </a:solidFill>
                        <a:effectLst/>
                        <a:latin typeface="Arial Narrow" pitchFamily="34" charset="0"/>
                      </a:endParaRPr>
                    </a:p>
                  </a:txBody>
                  <a:tcPr marL="9525" marR="9525" marT="9525" marB="0" anchor="b"/>
                </a:tc>
                <a:tc>
                  <a:txBody>
                    <a:bodyPr/>
                    <a:lstStyle/>
                    <a:p>
                      <a:pPr algn="l" fontAlgn="b"/>
                      <a:r>
                        <a:rPr lang="es-PE" sz="2400" u="none" strike="noStrike">
                          <a:effectLst/>
                          <a:latin typeface="Arial Narrow" pitchFamily="34" charset="0"/>
                        </a:rPr>
                        <a:t> </a:t>
                      </a:r>
                      <a:endParaRPr lang="es-PE" sz="2400" b="0" i="0" u="none" strike="noStrike">
                        <a:solidFill>
                          <a:srgbClr val="000000"/>
                        </a:solidFill>
                        <a:effectLst/>
                        <a:latin typeface="Arial Narrow" pitchFamily="34" charset="0"/>
                      </a:endParaRPr>
                    </a:p>
                  </a:txBody>
                  <a:tcPr marL="9525" marR="9525" marT="9525" marB="0" anchor="b"/>
                </a:tc>
                <a:extLst>
                  <a:ext uri="{0D108BD9-81ED-4DB2-BD59-A6C34878D82A}">
                    <a16:rowId xmlns:a16="http://schemas.microsoft.com/office/drawing/2014/main" val="10002"/>
                  </a:ext>
                </a:extLst>
              </a:tr>
              <a:tr h="424181">
                <a:tc gridSpan="5">
                  <a:txBody>
                    <a:bodyPr/>
                    <a:lstStyle/>
                    <a:p>
                      <a:pPr algn="l" fontAlgn="b"/>
                      <a:r>
                        <a:rPr lang="es-PE" sz="2400" u="none" strike="noStrike">
                          <a:effectLst/>
                          <a:latin typeface="Arial Narrow" pitchFamily="34" charset="0"/>
                        </a:rPr>
                        <a:t>Max  540X11 +300X12+420X13+</a:t>
                      </a:r>
                      <a:endParaRPr lang="es-PE" sz="2400" b="1" i="0" u="none" strike="noStrike">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l" fontAlgn="b"/>
                      <a:r>
                        <a:rPr lang="es-PE" sz="2400" u="none" strike="noStrike">
                          <a:effectLst/>
                          <a:latin typeface="Arial Narrow" pitchFamily="34" charset="0"/>
                        </a:rPr>
                        <a:t> </a:t>
                      </a:r>
                      <a:endParaRPr lang="es-PE" sz="2400" b="0" i="0" u="none" strike="noStrike">
                        <a:solidFill>
                          <a:srgbClr val="000000"/>
                        </a:solidFill>
                        <a:effectLst/>
                        <a:latin typeface="Arial Narrow" pitchFamily="34" charset="0"/>
                      </a:endParaRPr>
                    </a:p>
                  </a:txBody>
                  <a:tcPr marL="9525" marR="9525" marT="9525" marB="0" anchor="b"/>
                </a:tc>
                <a:extLst>
                  <a:ext uri="{0D108BD9-81ED-4DB2-BD59-A6C34878D82A}">
                    <a16:rowId xmlns:a16="http://schemas.microsoft.com/office/drawing/2014/main" val="10003"/>
                  </a:ext>
                </a:extLst>
              </a:tr>
              <a:tr h="424181">
                <a:tc gridSpan="5">
                  <a:txBody>
                    <a:bodyPr/>
                    <a:lstStyle/>
                    <a:p>
                      <a:pPr algn="l" fontAlgn="b"/>
                      <a:r>
                        <a:rPr lang="es-PE" sz="2400" u="none" strike="noStrike" dirty="0">
                          <a:effectLst/>
                          <a:latin typeface="Arial Narrow" pitchFamily="34" charset="0"/>
                        </a:rPr>
                        <a:t>          </a:t>
                      </a:r>
                      <a:r>
                        <a:rPr lang="es-PE" sz="2400" u="none" strike="noStrike" dirty="0" err="1">
                          <a:effectLst/>
                          <a:latin typeface="Arial Narrow" pitchFamily="34" charset="0"/>
                        </a:rPr>
                        <a:t>500X21+330X22+330X23</a:t>
                      </a:r>
                      <a:r>
                        <a:rPr lang="es-PE" sz="2400" u="none" strike="noStrike" dirty="0">
                          <a:effectLst/>
                          <a:latin typeface="Arial Narrow" pitchFamily="34" charset="0"/>
                        </a:rPr>
                        <a:t>+</a:t>
                      </a:r>
                      <a:endParaRPr lang="es-PE" sz="2400" b="1" i="0" u="none" strike="noStrike" dirty="0">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l" fontAlgn="b"/>
                      <a:r>
                        <a:rPr lang="es-PE" sz="2400" u="none" strike="noStrike">
                          <a:effectLst/>
                          <a:latin typeface="Arial Narrow" pitchFamily="34" charset="0"/>
                        </a:rPr>
                        <a:t> </a:t>
                      </a:r>
                      <a:endParaRPr lang="es-PE" sz="2400" b="0" i="0" u="none" strike="noStrike">
                        <a:solidFill>
                          <a:srgbClr val="000000"/>
                        </a:solidFill>
                        <a:effectLst/>
                        <a:latin typeface="Arial Narrow" pitchFamily="34" charset="0"/>
                      </a:endParaRPr>
                    </a:p>
                  </a:txBody>
                  <a:tcPr marL="9525" marR="9525" marT="9525" marB="0" anchor="b"/>
                </a:tc>
                <a:extLst>
                  <a:ext uri="{0D108BD9-81ED-4DB2-BD59-A6C34878D82A}">
                    <a16:rowId xmlns:a16="http://schemas.microsoft.com/office/drawing/2014/main" val="10004"/>
                  </a:ext>
                </a:extLst>
              </a:tr>
              <a:tr h="424181">
                <a:tc gridSpan="5">
                  <a:txBody>
                    <a:bodyPr/>
                    <a:lstStyle/>
                    <a:p>
                      <a:pPr algn="l" fontAlgn="b"/>
                      <a:r>
                        <a:rPr lang="es-PE" sz="2400" u="none" strike="noStrike">
                          <a:effectLst/>
                          <a:latin typeface="Arial Narrow" pitchFamily="34" charset="0"/>
                        </a:rPr>
                        <a:t>          520X31+310X32+350X33</a:t>
                      </a:r>
                      <a:endParaRPr lang="es-PE" sz="2400" b="1" i="0" u="none" strike="noStrike">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l" fontAlgn="b"/>
                      <a:r>
                        <a:rPr lang="es-PE" sz="2400" u="none" strike="noStrike">
                          <a:effectLst/>
                          <a:latin typeface="Arial Narrow" pitchFamily="34" charset="0"/>
                        </a:rPr>
                        <a:t> </a:t>
                      </a:r>
                      <a:endParaRPr lang="es-PE" sz="2400" b="0" i="0" u="none" strike="noStrike">
                        <a:solidFill>
                          <a:srgbClr val="000000"/>
                        </a:solidFill>
                        <a:effectLst/>
                        <a:latin typeface="Arial Narrow" pitchFamily="34" charset="0"/>
                      </a:endParaRPr>
                    </a:p>
                  </a:txBody>
                  <a:tcPr marL="9525" marR="9525" marT="9525" marB="0" anchor="b"/>
                </a:tc>
                <a:extLst>
                  <a:ext uri="{0D108BD9-81ED-4DB2-BD59-A6C34878D82A}">
                    <a16:rowId xmlns:a16="http://schemas.microsoft.com/office/drawing/2014/main" val="10005"/>
                  </a:ext>
                </a:extLst>
              </a:tr>
              <a:tr h="424181">
                <a:tc gridSpan="4">
                  <a:txBody>
                    <a:bodyPr/>
                    <a:lstStyle/>
                    <a:p>
                      <a:pPr algn="l" fontAlgn="b"/>
                      <a:r>
                        <a:rPr lang="es-PE" sz="2400" u="none" strike="noStrike" dirty="0">
                          <a:solidFill>
                            <a:srgbClr val="FF0000"/>
                          </a:solidFill>
                          <a:effectLst/>
                          <a:latin typeface="Arial Narrow" pitchFamily="34" charset="0"/>
                        </a:rPr>
                        <a:t>Identificación de las restricciones</a:t>
                      </a:r>
                      <a:endParaRPr lang="es-PE" sz="2400" b="1" i="0" u="none" strike="noStrike" dirty="0">
                        <a:solidFill>
                          <a:srgbClr val="FF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l" fontAlgn="b"/>
                      <a:r>
                        <a:rPr lang="es-PE" sz="2400" u="none" strike="noStrike">
                          <a:effectLst/>
                          <a:latin typeface="Arial Narrow" pitchFamily="34" charset="0"/>
                        </a:rPr>
                        <a:t> </a:t>
                      </a:r>
                      <a:endParaRPr lang="es-PE" sz="2400" b="0" i="0" u="none" strike="noStrike">
                        <a:solidFill>
                          <a:srgbClr val="000000"/>
                        </a:solidFill>
                        <a:effectLst/>
                        <a:latin typeface="Arial Narrow" pitchFamily="34" charset="0"/>
                      </a:endParaRPr>
                    </a:p>
                  </a:txBody>
                  <a:tcPr marL="9525" marR="9525" marT="9525" marB="0" anchor="b"/>
                </a:tc>
                <a:tc>
                  <a:txBody>
                    <a:bodyPr/>
                    <a:lstStyle/>
                    <a:p>
                      <a:pPr algn="l" fontAlgn="b"/>
                      <a:r>
                        <a:rPr lang="es-PE" sz="2400" u="none" strike="noStrike">
                          <a:effectLst/>
                          <a:latin typeface="Arial Narrow" pitchFamily="34" charset="0"/>
                        </a:rPr>
                        <a:t> </a:t>
                      </a:r>
                      <a:endParaRPr lang="es-PE" sz="2400" b="0" i="0" u="none" strike="noStrike">
                        <a:solidFill>
                          <a:srgbClr val="000000"/>
                        </a:solidFill>
                        <a:effectLst/>
                        <a:latin typeface="Arial Narrow" pitchFamily="34" charset="0"/>
                      </a:endParaRPr>
                    </a:p>
                  </a:txBody>
                  <a:tcPr marL="9525" marR="9525" marT="9525" marB="0" anchor="b"/>
                </a:tc>
                <a:extLst>
                  <a:ext uri="{0D108BD9-81ED-4DB2-BD59-A6C34878D82A}">
                    <a16:rowId xmlns:a16="http://schemas.microsoft.com/office/drawing/2014/main" val="10006"/>
                  </a:ext>
                </a:extLst>
              </a:tr>
              <a:tr h="424181">
                <a:tc gridSpan="3">
                  <a:txBody>
                    <a:bodyPr/>
                    <a:lstStyle/>
                    <a:p>
                      <a:pPr algn="l" fontAlgn="b"/>
                      <a:r>
                        <a:rPr lang="es-PE" sz="2400" u="none" strike="noStrike" dirty="0" err="1">
                          <a:effectLst/>
                          <a:latin typeface="Arial Narrow" pitchFamily="34" charset="0"/>
                        </a:rPr>
                        <a:t>X11+X12+X13</a:t>
                      </a:r>
                      <a:r>
                        <a:rPr lang="es-PE" sz="2400" u="none" strike="noStrike" dirty="0">
                          <a:effectLst/>
                          <a:latin typeface="Arial Narrow" pitchFamily="34" charset="0"/>
                        </a:rPr>
                        <a:t>&lt;=1</a:t>
                      </a:r>
                      <a:endParaRPr lang="es-PE" sz="2400" b="1" i="0" u="none" strike="noStrike" dirty="0">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gridSpan="3">
                  <a:txBody>
                    <a:bodyPr/>
                    <a:lstStyle/>
                    <a:p>
                      <a:pPr algn="l" fontAlgn="b"/>
                      <a:r>
                        <a:rPr lang="es-PE" sz="2400" u="none" strike="noStrike">
                          <a:effectLst/>
                          <a:latin typeface="Arial Narrow" pitchFamily="34" charset="0"/>
                        </a:rPr>
                        <a:t>X11+X21+X31=3</a:t>
                      </a:r>
                      <a:endParaRPr lang="es-PE" sz="2400" b="1" i="0" u="none" strike="noStrike">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0007"/>
                  </a:ext>
                </a:extLst>
              </a:tr>
              <a:tr h="424181">
                <a:tc gridSpan="3">
                  <a:txBody>
                    <a:bodyPr/>
                    <a:lstStyle/>
                    <a:p>
                      <a:pPr algn="l" fontAlgn="b"/>
                      <a:r>
                        <a:rPr lang="es-PE" sz="2400" u="none" strike="noStrike" dirty="0" err="1">
                          <a:effectLst/>
                          <a:latin typeface="Arial Narrow" pitchFamily="34" charset="0"/>
                        </a:rPr>
                        <a:t>X21+X22+X23</a:t>
                      </a:r>
                      <a:r>
                        <a:rPr lang="es-PE" sz="2400" u="none" strike="noStrike" dirty="0">
                          <a:effectLst/>
                          <a:latin typeface="Arial Narrow" pitchFamily="34" charset="0"/>
                        </a:rPr>
                        <a:t>&lt;=2</a:t>
                      </a:r>
                      <a:endParaRPr lang="es-PE" sz="2400" b="1" i="0" u="none" strike="noStrike" dirty="0">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gridSpan="3">
                  <a:txBody>
                    <a:bodyPr/>
                    <a:lstStyle/>
                    <a:p>
                      <a:pPr algn="l" fontAlgn="b"/>
                      <a:r>
                        <a:rPr lang="es-PE" sz="2400" u="none" strike="noStrike">
                          <a:effectLst/>
                          <a:latin typeface="Arial Narrow" pitchFamily="34" charset="0"/>
                        </a:rPr>
                        <a:t>X12+X22+X32=2</a:t>
                      </a:r>
                      <a:endParaRPr lang="es-PE" sz="2400" b="1" i="0" u="none" strike="noStrike">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0008"/>
                  </a:ext>
                </a:extLst>
              </a:tr>
              <a:tr h="424181">
                <a:tc gridSpan="3">
                  <a:txBody>
                    <a:bodyPr/>
                    <a:lstStyle/>
                    <a:p>
                      <a:pPr algn="l" fontAlgn="b"/>
                      <a:r>
                        <a:rPr lang="es-PE" sz="2400" u="none" strike="noStrike" dirty="0" err="1">
                          <a:effectLst/>
                          <a:latin typeface="Arial Narrow" pitchFamily="34" charset="0"/>
                        </a:rPr>
                        <a:t>X31+X32+X33</a:t>
                      </a:r>
                      <a:r>
                        <a:rPr lang="es-PE" sz="2400" u="none" strike="noStrike" dirty="0">
                          <a:effectLst/>
                          <a:latin typeface="Arial Narrow" pitchFamily="34" charset="0"/>
                        </a:rPr>
                        <a:t>&lt;=4</a:t>
                      </a:r>
                      <a:endParaRPr lang="es-PE" sz="2400" b="1" i="0" u="none" strike="noStrike" dirty="0">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gridSpan="3">
                  <a:txBody>
                    <a:bodyPr/>
                    <a:lstStyle/>
                    <a:p>
                      <a:pPr algn="l" fontAlgn="b"/>
                      <a:r>
                        <a:rPr lang="es-PE" sz="2400" u="none" strike="noStrike">
                          <a:effectLst/>
                          <a:latin typeface="Arial Narrow" pitchFamily="34" charset="0"/>
                        </a:rPr>
                        <a:t>X13+X23+X33=1</a:t>
                      </a:r>
                      <a:endParaRPr lang="es-PE" sz="2400" b="1" i="0" u="none" strike="noStrike">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0009"/>
                  </a:ext>
                </a:extLst>
              </a:tr>
              <a:tr h="424181">
                <a:tc>
                  <a:txBody>
                    <a:bodyPr/>
                    <a:lstStyle/>
                    <a:p>
                      <a:pPr algn="l" fontAlgn="b"/>
                      <a:r>
                        <a:rPr lang="es-PE" sz="2400" u="none" strike="noStrike" dirty="0" err="1">
                          <a:effectLst/>
                          <a:latin typeface="Arial Narrow" pitchFamily="34" charset="0"/>
                        </a:rPr>
                        <a:t>Xij</a:t>
                      </a:r>
                      <a:r>
                        <a:rPr lang="es-PE" sz="2400" u="none" strike="noStrike" dirty="0">
                          <a:effectLst/>
                          <a:latin typeface="Arial Narrow" pitchFamily="34" charset="0"/>
                        </a:rPr>
                        <a:t>&gt;=0, </a:t>
                      </a:r>
                      <a:r>
                        <a:rPr lang="es-PE" sz="2400" u="none" strike="noStrike" dirty="0">
                          <a:solidFill>
                            <a:srgbClr val="FF0000"/>
                          </a:solidFill>
                          <a:effectLst/>
                          <a:latin typeface="Arial Narrow" pitchFamily="34" charset="0"/>
                        </a:rPr>
                        <a:t>Entera</a:t>
                      </a:r>
                      <a:endParaRPr lang="es-PE" sz="2400" b="1" i="0" u="none" strike="noStrike" dirty="0">
                        <a:solidFill>
                          <a:srgbClr val="FF0000"/>
                        </a:solidFill>
                        <a:effectLst/>
                        <a:latin typeface="Arial Narrow" pitchFamily="34" charset="0"/>
                      </a:endParaRPr>
                    </a:p>
                  </a:txBody>
                  <a:tcPr marL="9525" marR="9525" marT="9525" marB="0" anchor="b"/>
                </a:tc>
                <a:tc>
                  <a:txBody>
                    <a:bodyPr/>
                    <a:lstStyle/>
                    <a:p>
                      <a:pPr algn="l" fontAlgn="b"/>
                      <a:endParaRPr lang="es-PE" sz="2400" b="0" i="0" u="none" strike="noStrike">
                        <a:solidFill>
                          <a:srgbClr val="000000"/>
                        </a:solidFill>
                        <a:effectLst/>
                        <a:latin typeface="Arial Narrow" pitchFamily="34" charset="0"/>
                      </a:endParaRPr>
                    </a:p>
                  </a:txBody>
                  <a:tcPr marL="9525" marR="9525" marT="9525" marB="0" anchor="b"/>
                </a:tc>
                <a:tc>
                  <a:txBody>
                    <a:bodyPr/>
                    <a:lstStyle/>
                    <a:p>
                      <a:pPr algn="l" fontAlgn="b"/>
                      <a:r>
                        <a:rPr lang="es-PE" sz="2400" u="none" strike="noStrike">
                          <a:effectLst/>
                          <a:latin typeface="Arial Narrow" pitchFamily="34" charset="0"/>
                        </a:rPr>
                        <a:t> </a:t>
                      </a:r>
                      <a:endParaRPr lang="es-PE" sz="2400" b="0" i="0" u="none" strike="noStrike">
                        <a:solidFill>
                          <a:srgbClr val="000000"/>
                        </a:solidFill>
                        <a:effectLst/>
                        <a:latin typeface="Arial Narrow" pitchFamily="34" charset="0"/>
                      </a:endParaRPr>
                    </a:p>
                  </a:txBody>
                  <a:tcPr marL="9525" marR="9525" marT="9525" marB="0" anchor="b"/>
                </a:tc>
                <a:tc>
                  <a:txBody>
                    <a:bodyPr/>
                    <a:lstStyle/>
                    <a:p>
                      <a:pPr algn="l" fontAlgn="b"/>
                      <a:r>
                        <a:rPr lang="es-PE" sz="2400" u="none" strike="noStrike">
                          <a:effectLst/>
                          <a:latin typeface="Arial Narrow" pitchFamily="34" charset="0"/>
                        </a:rPr>
                        <a:t> </a:t>
                      </a:r>
                      <a:endParaRPr lang="es-PE" sz="2400" b="0" i="0" u="none" strike="noStrike">
                        <a:solidFill>
                          <a:srgbClr val="000000"/>
                        </a:solidFill>
                        <a:effectLst/>
                        <a:latin typeface="Arial Narrow" pitchFamily="34" charset="0"/>
                      </a:endParaRPr>
                    </a:p>
                  </a:txBody>
                  <a:tcPr marL="9525" marR="9525" marT="9525" marB="0" anchor="b"/>
                </a:tc>
                <a:tc>
                  <a:txBody>
                    <a:bodyPr/>
                    <a:lstStyle/>
                    <a:p>
                      <a:pPr algn="l" fontAlgn="b"/>
                      <a:r>
                        <a:rPr lang="es-PE" sz="2400" u="none" strike="noStrike">
                          <a:effectLst/>
                          <a:latin typeface="Arial Narrow" pitchFamily="34" charset="0"/>
                        </a:rPr>
                        <a:t> </a:t>
                      </a:r>
                      <a:endParaRPr lang="es-PE" sz="2400" b="0" i="0" u="none" strike="noStrike">
                        <a:solidFill>
                          <a:srgbClr val="000000"/>
                        </a:solidFill>
                        <a:effectLst/>
                        <a:latin typeface="Arial Narrow" pitchFamily="34" charset="0"/>
                      </a:endParaRPr>
                    </a:p>
                  </a:txBody>
                  <a:tcPr marL="9525" marR="9525" marT="9525" marB="0" anchor="b"/>
                </a:tc>
                <a:tc>
                  <a:txBody>
                    <a:bodyPr/>
                    <a:lstStyle/>
                    <a:p>
                      <a:pPr algn="l" fontAlgn="b"/>
                      <a:r>
                        <a:rPr lang="es-PE" sz="2400" u="none" strike="noStrike" dirty="0">
                          <a:effectLst/>
                          <a:latin typeface="Arial Narrow" pitchFamily="34" charset="0"/>
                        </a:rPr>
                        <a:t> </a:t>
                      </a:r>
                      <a:endParaRPr lang="es-PE" sz="2400" b="0" i="0" u="none" strike="noStrike" dirty="0">
                        <a:solidFill>
                          <a:srgbClr val="000000"/>
                        </a:solidFill>
                        <a:effectLst/>
                        <a:latin typeface="Arial Narrow" pitchFamily="34" charset="0"/>
                      </a:endParaRPr>
                    </a:p>
                  </a:txBody>
                  <a:tcPr marL="9525" marR="9525" marT="9525" marB="0" anchor="b"/>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2477705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313738" y="1331370"/>
            <a:ext cx="5564318" cy="5262979"/>
          </a:xfrm>
          <a:prstGeom prst="rect">
            <a:avLst/>
          </a:prstGeom>
          <a:solidFill>
            <a:srgbClr val="FFFF00"/>
          </a:solidFill>
        </p:spPr>
        <p:txBody>
          <a:bodyPr wrap="square">
            <a:spAutoFit/>
          </a:bodyPr>
          <a:lstStyle/>
          <a:p>
            <a:pPr fontAlgn="b"/>
            <a:r>
              <a:rPr lang="es-PE" sz="2400" dirty="0">
                <a:latin typeface="Arial Narrow" pitchFamily="34" charset="0"/>
              </a:rPr>
              <a:t>Max  </a:t>
            </a:r>
            <a:r>
              <a:rPr lang="es-PE" sz="2400" dirty="0" err="1">
                <a:latin typeface="Arial Narrow" pitchFamily="34" charset="0"/>
              </a:rPr>
              <a:t>540X11</a:t>
            </a:r>
            <a:r>
              <a:rPr lang="es-PE" sz="2400" dirty="0">
                <a:latin typeface="Arial Narrow" pitchFamily="34" charset="0"/>
              </a:rPr>
              <a:t>+ </a:t>
            </a:r>
            <a:r>
              <a:rPr lang="es-PE" sz="2400" dirty="0" err="1">
                <a:latin typeface="Arial Narrow" pitchFamily="34" charset="0"/>
              </a:rPr>
              <a:t>300X12</a:t>
            </a:r>
            <a:r>
              <a:rPr lang="es-PE" sz="2400" dirty="0">
                <a:latin typeface="Arial Narrow" pitchFamily="34" charset="0"/>
              </a:rPr>
              <a:t> +</a:t>
            </a:r>
            <a:r>
              <a:rPr lang="es-PE" sz="2400" dirty="0" err="1">
                <a:latin typeface="Arial Narrow" pitchFamily="34" charset="0"/>
              </a:rPr>
              <a:t>420X13</a:t>
            </a:r>
            <a:r>
              <a:rPr lang="es-PE" sz="2400" dirty="0">
                <a:latin typeface="Arial Narrow" pitchFamily="34" charset="0"/>
              </a:rPr>
              <a:t> +  </a:t>
            </a:r>
            <a:r>
              <a:rPr lang="es-PE" sz="2400" dirty="0" err="1">
                <a:latin typeface="Arial Narrow" pitchFamily="34" charset="0"/>
              </a:rPr>
              <a:t>500X21</a:t>
            </a:r>
            <a:r>
              <a:rPr lang="es-PE" sz="2400" dirty="0">
                <a:latin typeface="Arial Narrow" pitchFamily="34" charset="0"/>
              </a:rPr>
              <a:t>+ </a:t>
            </a:r>
            <a:r>
              <a:rPr lang="es-PE" sz="2400" dirty="0" err="1">
                <a:latin typeface="Arial Narrow" pitchFamily="34" charset="0"/>
              </a:rPr>
              <a:t>330X22</a:t>
            </a:r>
            <a:r>
              <a:rPr lang="es-PE" sz="2400" dirty="0">
                <a:latin typeface="Arial Narrow" pitchFamily="34" charset="0"/>
              </a:rPr>
              <a:t> + </a:t>
            </a:r>
            <a:r>
              <a:rPr lang="es-PE" sz="2400" dirty="0" err="1">
                <a:latin typeface="Arial Narrow" pitchFamily="34" charset="0"/>
              </a:rPr>
              <a:t>330X23</a:t>
            </a:r>
            <a:r>
              <a:rPr lang="es-PE" sz="2400" dirty="0">
                <a:latin typeface="Arial Narrow" pitchFamily="34" charset="0"/>
              </a:rPr>
              <a:t>+ </a:t>
            </a:r>
            <a:r>
              <a:rPr lang="es-PE" sz="2400" dirty="0" err="1">
                <a:latin typeface="Arial Narrow" pitchFamily="34" charset="0"/>
              </a:rPr>
              <a:t>520X31</a:t>
            </a:r>
            <a:r>
              <a:rPr lang="es-PE" sz="2400" dirty="0">
                <a:latin typeface="Arial Narrow" pitchFamily="34" charset="0"/>
              </a:rPr>
              <a:t>+ </a:t>
            </a:r>
            <a:r>
              <a:rPr lang="es-PE" sz="2400" dirty="0" err="1">
                <a:latin typeface="Arial Narrow" pitchFamily="34" charset="0"/>
              </a:rPr>
              <a:t>310X32</a:t>
            </a:r>
            <a:r>
              <a:rPr lang="es-PE" sz="2400" dirty="0">
                <a:latin typeface="Arial Narrow" pitchFamily="34" charset="0"/>
              </a:rPr>
              <a:t> + </a:t>
            </a:r>
            <a:r>
              <a:rPr lang="es-PE" sz="2400" dirty="0" err="1">
                <a:latin typeface="Arial Narrow" pitchFamily="34" charset="0"/>
              </a:rPr>
              <a:t>350X33</a:t>
            </a:r>
            <a:endParaRPr lang="es-PE" sz="2400" dirty="0">
              <a:latin typeface="Arial Narrow" pitchFamily="34" charset="0"/>
            </a:endParaRPr>
          </a:p>
          <a:p>
            <a:pPr fontAlgn="b"/>
            <a:r>
              <a:rPr lang="es-ES" sz="2400" b="1" dirty="0" err="1">
                <a:solidFill>
                  <a:srgbClr val="000000"/>
                </a:solidFill>
                <a:latin typeface="Arial Narrow" pitchFamily="34" charset="0"/>
              </a:rPr>
              <a:t>ST</a:t>
            </a:r>
            <a:endParaRPr lang="es-ES" sz="2400" b="1" dirty="0">
              <a:solidFill>
                <a:srgbClr val="000000"/>
              </a:solidFill>
              <a:latin typeface="Arial Narrow" pitchFamily="34" charset="0"/>
            </a:endParaRPr>
          </a:p>
          <a:p>
            <a:pPr fontAlgn="b"/>
            <a:r>
              <a:rPr lang="es-PE" sz="2400" dirty="0" err="1">
                <a:latin typeface="Arial Narrow" pitchFamily="34" charset="0"/>
              </a:rPr>
              <a:t>X11+X12+X13</a:t>
            </a:r>
            <a:r>
              <a:rPr lang="es-PE" sz="2400" dirty="0">
                <a:latin typeface="Arial Narrow" pitchFamily="34" charset="0"/>
              </a:rPr>
              <a:t>&lt;=1</a:t>
            </a:r>
          </a:p>
          <a:p>
            <a:pPr fontAlgn="b"/>
            <a:r>
              <a:rPr lang="es-PE" sz="2400" dirty="0" err="1">
                <a:latin typeface="Arial Narrow" pitchFamily="34" charset="0"/>
              </a:rPr>
              <a:t>X21+X22+X23</a:t>
            </a:r>
            <a:r>
              <a:rPr lang="es-PE" sz="2400" dirty="0">
                <a:latin typeface="Arial Narrow" pitchFamily="34" charset="0"/>
              </a:rPr>
              <a:t>&lt;=2</a:t>
            </a:r>
          </a:p>
          <a:p>
            <a:pPr fontAlgn="b"/>
            <a:r>
              <a:rPr lang="es-PE" sz="2400" dirty="0" err="1">
                <a:latin typeface="Arial Narrow" pitchFamily="34" charset="0"/>
              </a:rPr>
              <a:t>X31+X32+X33</a:t>
            </a:r>
            <a:r>
              <a:rPr lang="es-PE" sz="2400" dirty="0">
                <a:latin typeface="Arial Narrow" pitchFamily="34" charset="0"/>
              </a:rPr>
              <a:t>&lt;=4</a:t>
            </a:r>
          </a:p>
          <a:p>
            <a:pPr fontAlgn="b"/>
            <a:r>
              <a:rPr lang="es-PE" sz="2400" dirty="0" err="1">
                <a:latin typeface="Arial Narrow" pitchFamily="34" charset="0"/>
              </a:rPr>
              <a:t>X11+X21+X31</a:t>
            </a:r>
            <a:r>
              <a:rPr lang="es-PE" sz="2400" dirty="0">
                <a:latin typeface="Arial Narrow" pitchFamily="34" charset="0"/>
              </a:rPr>
              <a:t>=3</a:t>
            </a:r>
          </a:p>
          <a:p>
            <a:pPr fontAlgn="b"/>
            <a:r>
              <a:rPr lang="es-PE" sz="2400" dirty="0" err="1">
                <a:latin typeface="Arial Narrow" pitchFamily="34" charset="0"/>
              </a:rPr>
              <a:t>X12+X22+X32</a:t>
            </a:r>
            <a:r>
              <a:rPr lang="es-PE" sz="2400" dirty="0">
                <a:latin typeface="Arial Narrow" pitchFamily="34" charset="0"/>
              </a:rPr>
              <a:t>=2</a:t>
            </a:r>
          </a:p>
          <a:p>
            <a:pPr fontAlgn="b"/>
            <a:r>
              <a:rPr lang="es-PE" sz="2400" dirty="0" err="1">
                <a:latin typeface="Arial Narrow" pitchFamily="34" charset="0"/>
              </a:rPr>
              <a:t>X13+X23+X33</a:t>
            </a:r>
            <a:r>
              <a:rPr lang="es-PE" sz="2400" dirty="0">
                <a:latin typeface="Arial Narrow" pitchFamily="34" charset="0"/>
              </a:rPr>
              <a:t>=1</a:t>
            </a:r>
          </a:p>
          <a:p>
            <a:pPr fontAlgn="b"/>
            <a:r>
              <a:rPr lang="es-ES" sz="2400" b="1" dirty="0" err="1">
                <a:solidFill>
                  <a:srgbClr val="000000"/>
                </a:solidFill>
                <a:latin typeface="Arial Narrow" pitchFamily="34" charset="0"/>
              </a:rPr>
              <a:t>END</a:t>
            </a:r>
            <a:endParaRPr lang="es-ES" sz="2400" b="1" dirty="0">
              <a:solidFill>
                <a:srgbClr val="000000"/>
              </a:solidFill>
              <a:latin typeface="Arial Narrow" pitchFamily="34" charset="0"/>
            </a:endParaRPr>
          </a:p>
          <a:p>
            <a:pPr fontAlgn="b"/>
            <a:r>
              <a:rPr lang="es-ES" sz="2400" dirty="0">
                <a:solidFill>
                  <a:srgbClr val="000000"/>
                </a:solidFill>
                <a:latin typeface="Arial Narrow" pitchFamily="34" charset="0"/>
              </a:rPr>
              <a:t>GIN </a:t>
            </a:r>
            <a:r>
              <a:rPr lang="es-ES" sz="2400" dirty="0" err="1">
                <a:solidFill>
                  <a:srgbClr val="000000"/>
                </a:solidFill>
                <a:latin typeface="Arial Narrow" pitchFamily="34" charset="0"/>
              </a:rPr>
              <a:t>X11</a:t>
            </a:r>
            <a:endParaRPr lang="es-ES" sz="2400" dirty="0">
              <a:solidFill>
                <a:srgbClr val="000000"/>
              </a:solidFill>
              <a:latin typeface="Arial Narrow" pitchFamily="34" charset="0"/>
            </a:endParaRPr>
          </a:p>
          <a:p>
            <a:pPr fontAlgn="b"/>
            <a:r>
              <a:rPr lang="es-ES" sz="2400" dirty="0">
                <a:solidFill>
                  <a:srgbClr val="000000"/>
                </a:solidFill>
                <a:latin typeface="Arial Narrow" pitchFamily="34" charset="0"/>
              </a:rPr>
              <a:t>GIN </a:t>
            </a:r>
            <a:r>
              <a:rPr lang="es-ES" sz="2400" dirty="0" err="1">
                <a:solidFill>
                  <a:srgbClr val="000000"/>
                </a:solidFill>
                <a:latin typeface="Arial Narrow" pitchFamily="34" charset="0"/>
              </a:rPr>
              <a:t>X12</a:t>
            </a:r>
            <a:endParaRPr lang="es-ES" sz="2400" dirty="0">
              <a:solidFill>
                <a:srgbClr val="000000"/>
              </a:solidFill>
              <a:latin typeface="Arial Narrow" pitchFamily="34" charset="0"/>
            </a:endParaRPr>
          </a:p>
          <a:p>
            <a:pPr fontAlgn="b"/>
            <a:r>
              <a:rPr lang="es-ES" sz="2400" dirty="0">
                <a:solidFill>
                  <a:srgbClr val="000000"/>
                </a:solidFill>
                <a:latin typeface="Arial Narrow" pitchFamily="34" charset="0"/>
              </a:rPr>
              <a:t>GIN </a:t>
            </a:r>
            <a:r>
              <a:rPr lang="es-ES" sz="2400" dirty="0" err="1">
                <a:solidFill>
                  <a:srgbClr val="000000"/>
                </a:solidFill>
                <a:latin typeface="Arial Narrow" pitchFamily="34" charset="0"/>
              </a:rPr>
              <a:t>X13</a:t>
            </a:r>
            <a:endParaRPr lang="es-ES" sz="2400" dirty="0">
              <a:solidFill>
                <a:srgbClr val="000000"/>
              </a:solidFill>
              <a:latin typeface="Arial Narrow" pitchFamily="34" charset="0"/>
            </a:endParaRPr>
          </a:p>
          <a:p>
            <a:pPr fontAlgn="b"/>
            <a:r>
              <a:rPr lang="es-ES" sz="2400" b="1" dirty="0">
                <a:solidFill>
                  <a:srgbClr val="000000"/>
                </a:solidFill>
                <a:latin typeface="Arial Narrow" pitchFamily="34" charset="0"/>
              </a:rPr>
              <a:t>…..</a:t>
            </a:r>
            <a:endParaRPr lang="es-PE" sz="2400" b="1" dirty="0">
              <a:solidFill>
                <a:srgbClr val="000000"/>
              </a:solidFill>
              <a:latin typeface="Arial Narrow" pitchFamily="34" charset="0"/>
            </a:endParaRPr>
          </a:p>
        </p:txBody>
      </p:sp>
      <p:sp>
        <p:nvSpPr>
          <p:cNvPr id="6" name="TextShape 1">
            <a:extLst>
              <a:ext uri="{FF2B5EF4-FFF2-40B4-BE49-F238E27FC236}">
                <a16:creationId xmlns:a16="http://schemas.microsoft.com/office/drawing/2014/main" id="{76D2EFE8-2703-4E46-8734-41CB4714AEA7}"/>
              </a:ext>
            </a:extLst>
          </p:cNvPr>
          <p:cNvSpPr txBox="1"/>
          <p:nvPr/>
        </p:nvSpPr>
        <p:spPr>
          <a:xfrm>
            <a:off x="6096000" y="260389"/>
            <a:ext cx="6096000" cy="608292"/>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defPPr>
              <a:defRPr lang="es-ES"/>
            </a:defPPr>
            <a:lvl1pPr algn="ctr">
              <a:lnSpc>
                <a:spcPts val="5800"/>
              </a:lnSpc>
              <a:spcBef>
                <a:spcPct val="0"/>
              </a:spcBef>
              <a:defRPr sz="3200">
                <a:solidFill>
                  <a:schemeClr val="bg1"/>
                </a:solidFill>
                <a:effectLst>
                  <a:outerShdw blurRad="63500" dist="38100" dir="5400000" algn="t" rotWithShape="0">
                    <a:prstClr val="black">
                      <a:alpha val="25000"/>
                    </a:prstClr>
                  </a:outerShdw>
                </a:effectLst>
                <a:latin typeface="Bauhaus 93" pitchFamily="82" charset="0"/>
              </a:defRPr>
            </a:lvl1pPr>
          </a:lstStyle>
          <a:p>
            <a:r>
              <a:rPr lang="en-US" dirty="0"/>
              <a:t>Lindo</a:t>
            </a:r>
          </a:p>
        </p:txBody>
      </p:sp>
      <p:sp>
        <p:nvSpPr>
          <p:cNvPr id="2" name="Rectángulo 1">
            <a:extLst>
              <a:ext uri="{FF2B5EF4-FFF2-40B4-BE49-F238E27FC236}">
                <a16:creationId xmlns:a16="http://schemas.microsoft.com/office/drawing/2014/main" id="{6028CF1E-8FF8-479F-A9DD-CFF9CB36BC92}"/>
              </a:ext>
            </a:extLst>
          </p:cNvPr>
          <p:cNvSpPr/>
          <p:nvPr/>
        </p:nvSpPr>
        <p:spPr>
          <a:xfrm>
            <a:off x="6313945" y="1331371"/>
            <a:ext cx="5660110" cy="5262979"/>
          </a:xfrm>
          <a:prstGeom prst="rect">
            <a:avLst/>
          </a:prstGeom>
          <a:solidFill>
            <a:schemeClr val="accent4">
              <a:lumMod val="20000"/>
              <a:lumOff val="80000"/>
            </a:schemeClr>
          </a:solidFill>
        </p:spPr>
        <p:txBody>
          <a:bodyPr wrap="square">
            <a:spAutoFit/>
          </a:bodyPr>
          <a:lstStyle/>
          <a:p>
            <a:r>
              <a:rPr lang="es-PE" sz="2400" dirty="0"/>
              <a:t> </a:t>
            </a:r>
            <a:r>
              <a:rPr lang="es-PE" sz="2400" dirty="0" err="1"/>
              <a:t>OBJECTIVE</a:t>
            </a:r>
            <a:r>
              <a:rPr lang="es-PE" sz="2400" dirty="0"/>
              <a:t> </a:t>
            </a:r>
            <a:r>
              <a:rPr lang="es-PE" sz="2400" dirty="0" err="1"/>
              <a:t>FUNCTION</a:t>
            </a:r>
            <a:r>
              <a:rPr lang="es-PE" sz="2400" dirty="0"/>
              <a:t> </a:t>
            </a:r>
            <a:r>
              <a:rPr lang="es-PE" sz="2400" dirty="0" err="1"/>
              <a:t>VALUE</a:t>
            </a:r>
            <a:endParaRPr lang="es-PE" sz="2400" dirty="0"/>
          </a:p>
          <a:p>
            <a:endParaRPr lang="es-PE" sz="2400" dirty="0"/>
          </a:p>
          <a:p>
            <a:r>
              <a:rPr lang="es-PE" sz="2400" dirty="0"/>
              <a:t>        1)      2640.000</a:t>
            </a:r>
          </a:p>
          <a:p>
            <a:endParaRPr lang="es-PE" sz="2400" dirty="0"/>
          </a:p>
          <a:p>
            <a:r>
              <a:rPr lang="es-PE" sz="2400" dirty="0"/>
              <a:t>  VARIABLE        </a:t>
            </a:r>
            <a:r>
              <a:rPr lang="es-PE" sz="2400" dirty="0" err="1"/>
              <a:t>VALUE</a:t>
            </a:r>
            <a:r>
              <a:rPr lang="es-PE" sz="2400" dirty="0"/>
              <a:t>          </a:t>
            </a:r>
            <a:r>
              <a:rPr lang="es-PE" sz="2400" dirty="0" err="1"/>
              <a:t>REDUCED</a:t>
            </a:r>
            <a:r>
              <a:rPr lang="es-PE" sz="2400" dirty="0"/>
              <a:t> </a:t>
            </a:r>
            <a:r>
              <a:rPr lang="es-PE" sz="2400" dirty="0" err="1"/>
              <a:t>COST</a:t>
            </a:r>
            <a:endParaRPr lang="es-PE" sz="2400" dirty="0"/>
          </a:p>
          <a:p>
            <a:r>
              <a:rPr lang="es-PE" sz="2400" dirty="0"/>
              <a:t>       </a:t>
            </a:r>
            <a:r>
              <a:rPr lang="es-PE" sz="2400" dirty="0" err="1"/>
              <a:t>X11</a:t>
            </a:r>
            <a:r>
              <a:rPr lang="es-PE" sz="2400" dirty="0"/>
              <a:t>         0.000000       -540.000000</a:t>
            </a:r>
          </a:p>
          <a:p>
            <a:r>
              <a:rPr lang="es-PE" sz="2400" dirty="0"/>
              <a:t>       </a:t>
            </a:r>
            <a:r>
              <a:rPr lang="es-PE" sz="2400" dirty="0" err="1"/>
              <a:t>X12</a:t>
            </a:r>
            <a:r>
              <a:rPr lang="es-PE" sz="2400" dirty="0"/>
              <a:t>         0.000000       -300.000000</a:t>
            </a:r>
          </a:p>
          <a:p>
            <a:r>
              <a:rPr lang="es-PE" sz="2400" dirty="0"/>
              <a:t>       </a:t>
            </a:r>
            <a:r>
              <a:rPr lang="es-PE" sz="2400" dirty="0" err="1"/>
              <a:t>X13</a:t>
            </a:r>
            <a:r>
              <a:rPr lang="es-PE" sz="2400" dirty="0"/>
              <a:t>         1.000000       -420.000000</a:t>
            </a:r>
          </a:p>
          <a:p>
            <a:r>
              <a:rPr lang="es-PE" sz="2400" dirty="0"/>
              <a:t>       </a:t>
            </a:r>
            <a:r>
              <a:rPr lang="es-PE" sz="2400" dirty="0" err="1"/>
              <a:t>X21</a:t>
            </a:r>
            <a:r>
              <a:rPr lang="es-PE" sz="2400" dirty="0"/>
              <a:t>         0.000000       -500.000000</a:t>
            </a:r>
          </a:p>
          <a:p>
            <a:r>
              <a:rPr lang="es-PE" sz="2400" dirty="0"/>
              <a:t>       </a:t>
            </a:r>
            <a:r>
              <a:rPr lang="es-PE" sz="2400" dirty="0" err="1"/>
              <a:t>X22</a:t>
            </a:r>
            <a:r>
              <a:rPr lang="es-PE" sz="2400" dirty="0"/>
              <a:t>         2.000000       -330.000000</a:t>
            </a:r>
          </a:p>
          <a:p>
            <a:r>
              <a:rPr lang="es-PE" sz="2400" dirty="0"/>
              <a:t>       </a:t>
            </a:r>
            <a:r>
              <a:rPr lang="es-PE" sz="2400" dirty="0" err="1"/>
              <a:t>X23</a:t>
            </a:r>
            <a:r>
              <a:rPr lang="es-PE" sz="2400" dirty="0"/>
              <a:t>         0.000000       -330.000000</a:t>
            </a:r>
          </a:p>
          <a:p>
            <a:r>
              <a:rPr lang="es-PE" sz="2400" dirty="0"/>
              <a:t>       </a:t>
            </a:r>
            <a:r>
              <a:rPr lang="es-PE" sz="2400" dirty="0" err="1"/>
              <a:t>X31</a:t>
            </a:r>
            <a:r>
              <a:rPr lang="es-PE" sz="2400" dirty="0"/>
              <a:t>         3.000000       -520.000000</a:t>
            </a:r>
          </a:p>
          <a:p>
            <a:r>
              <a:rPr lang="es-PE" sz="2400" dirty="0"/>
              <a:t>       </a:t>
            </a:r>
            <a:r>
              <a:rPr lang="es-PE" sz="2400" dirty="0" err="1"/>
              <a:t>X32</a:t>
            </a:r>
            <a:r>
              <a:rPr lang="es-PE" sz="2400" dirty="0"/>
              <a:t>         0.000000       -310.000000</a:t>
            </a:r>
          </a:p>
          <a:p>
            <a:r>
              <a:rPr lang="es-PE" sz="2400" dirty="0"/>
              <a:t>       </a:t>
            </a:r>
            <a:r>
              <a:rPr lang="es-PE" sz="2400" dirty="0" err="1"/>
              <a:t>X33</a:t>
            </a:r>
            <a:r>
              <a:rPr lang="es-PE" sz="2400" dirty="0"/>
              <a:t>         0.000000       -350.000000</a:t>
            </a:r>
          </a:p>
        </p:txBody>
      </p:sp>
    </p:spTree>
    <p:extLst>
      <p:ext uri="{BB962C8B-B14F-4D97-AF65-F5344CB8AC3E}">
        <p14:creationId xmlns:p14="http://schemas.microsoft.com/office/powerpoint/2010/main" val="31898073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a 6">
            <a:extLst>
              <a:ext uri="{FF2B5EF4-FFF2-40B4-BE49-F238E27FC236}">
                <a16:creationId xmlns:a16="http://schemas.microsoft.com/office/drawing/2014/main" id="{4AB52288-2058-4184-9150-387517B5167F}"/>
              </a:ext>
            </a:extLst>
          </p:cNvPr>
          <p:cNvGraphicFramePr>
            <a:graphicFrameLocks noGrp="1"/>
          </p:cNvGraphicFramePr>
          <p:nvPr/>
        </p:nvGraphicFramePr>
        <p:xfrm>
          <a:off x="646472" y="1716657"/>
          <a:ext cx="10899056" cy="4330184"/>
        </p:xfrm>
        <a:graphic>
          <a:graphicData uri="http://schemas.openxmlformats.org/drawingml/2006/table">
            <a:tbl>
              <a:tblPr>
                <a:tableStyleId>{5C22544A-7EE6-4342-B048-85BDC9FD1C3A}</a:tableStyleId>
              </a:tblPr>
              <a:tblGrid>
                <a:gridCol w="1466339">
                  <a:extLst>
                    <a:ext uri="{9D8B030D-6E8A-4147-A177-3AD203B41FA5}">
                      <a16:colId xmlns:a16="http://schemas.microsoft.com/office/drawing/2014/main" val="4112986842"/>
                    </a:ext>
                  </a:extLst>
                </a:gridCol>
                <a:gridCol w="875426">
                  <a:extLst>
                    <a:ext uri="{9D8B030D-6E8A-4147-A177-3AD203B41FA5}">
                      <a16:colId xmlns:a16="http://schemas.microsoft.com/office/drawing/2014/main" val="1688885070"/>
                    </a:ext>
                  </a:extLst>
                </a:gridCol>
                <a:gridCol w="962969">
                  <a:extLst>
                    <a:ext uri="{9D8B030D-6E8A-4147-A177-3AD203B41FA5}">
                      <a16:colId xmlns:a16="http://schemas.microsoft.com/office/drawing/2014/main" val="1611767578"/>
                    </a:ext>
                  </a:extLst>
                </a:gridCol>
                <a:gridCol w="1050512">
                  <a:extLst>
                    <a:ext uri="{9D8B030D-6E8A-4147-A177-3AD203B41FA5}">
                      <a16:colId xmlns:a16="http://schemas.microsoft.com/office/drawing/2014/main" val="1840604877"/>
                    </a:ext>
                  </a:extLst>
                </a:gridCol>
                <a:gridCol w="875426">
                  <a:extLst>
                    <a:ext uri="{9D8B030D-6E8A-4147-A177-3AD203B41FA5}">
                      <a16:colId xmlns:a16="http://schemas.microsoft.com/office/drawing/2014/main" val="2970385121"/>
                    </a:ext>
                  </a:extLst>
                </a:gridCol>
                <a:gridCol w="875426">
                  <a:extLst>
                    <a:ext uri="{9D8B030D-6E8A-4147-A177-3AD203B41FA5}">
                      <a16:colId xmlns:a16="http://schemas.microsoft.com/office/drawing/2014/main" val="3141930376"/>
                    </a:ext>
                  </a:extLst>
                </a:gridCol>
                <a:gridCol w="875426">
                  <a:extLst>
                    <a:ext uri="{9D8B030D-6E8A-4147-A177-3AD203B41FA5}">
                      <a16:colId xmlns:a16="http://schemas.microsoft.com/office/drawing/2014/main" val="1873911405"/>
                    </a:ext>
                  </a:extLst>
                </a:gridCol>
                <a:gridCol w="875426">
                  <a:extLst>
                    <a:ext uri="{9D8B030D-6E8A-4147-A177-3AD203B41FA5}">
                      <a16:colId xmlns:a16="http://schemas.microsoft.com/office/drawing/2014/main" val="464446815"/>
                    </a:ext>
                  </a:extLst>
                </a:gridCol>
                <a:gridCol w="875426">
                  <a:extLst>
                    <a:ext uri="{9D8B030D-6E8A-4147-A177-3AD203B41FA5}">
                      <a16:colId xmlns:a16="http://schemas.microsoft.com/office/drawing/2014/main" val="573395752"/>
                    </a:ext>
                  </a:extLst>
                </a:gridCol>
                <a:gridCol w="962969">
                  <a:extLst>
                    <a:ext uri="{9D8B030D-6E8A-4147-A177-3AD203B41FA5}">
                      <a16:colId xmlns:a16="http://schemas.microsoft.com/office/drawing/2014/main" val="2662142926"/>
                    </a:ext>
                  </a:extLst>
                </a:gridCol>
                <a:gridCol w="1203711">
                  <a:extLst>
                    <a:ext uri="{9D8B030D-6E8A-4147-A177-3AD203B41FA5}">
                      <a16:colId xmlns:a16="http://schemas.microsoft.com/office/drawing/2014/main" val="3802790711"/>
                    </a:ext>
                  </a:extLst>
                </a:gridCol>
              </a:tblGrid>
              <a:tr h="940869">
                <a:tc>
                  <a:txBody>
                    <a:bodyPr/>
                    <a:lstStyle/>
                    <a:p>
                      <a:pPr algn="ctr" fontAlgn="b"/>
                      <a:r>
                        <a:rPr lang="es-PE" sz="2400" u="none" strike="noStrike" dirty="0">
                          <a:solidFill>
                            <a:schemeClr val="bg1"/>
                          </a:solidFill>
                          <a:effectLst/>
                        </a:rPr>
                        <a:t> </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I(3)</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M(2)</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P(1)</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Fig.</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Oferta</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err="1">
                          <a:solidFill>
                            <a:schemeClr val="bg1"/>
                          </a:solidFill>
                          <a:effectLst/>
                        </a:rPr>
                        <a:t>P1</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23646409"/>
                  </a:ext>
                </a:extLst>
              </a:tr>
              <a:tr h="677863">
                <a:tc>
                  <a:txBody>
                    <a:bodyPr/>
                    <a:lstStyle/>
                    <a:p>
                      <a:pPr algn="ctr" fontAlgn="b"/>
                      <a:r>
                        <a:rPr lang="es-PE" sz="2400" u="none" strike="noStrike" dirty="0">
                          <a:solidFill>
                            <a:schemeClr val="bg1"/>
                          </a:solidFill>
                          <a:effectLst/>
                        </a:rPr>
                        <a:t>T(1)</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a:effectLst/>
                        </a:rPr>
                        <a:t>-540</a:t>
                      </a:r>
                      <a:endParaRPr lang="es-PE" sz="24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a:effectLst/>
                        </a:rPr>
                        <a:t>-300</a:t>
                      </a:r>
                      <a:endParaRPr lang="es-PE" sz="24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dirty="0">
                          <a:effectLst/>
                        </a:rPr>
                        <a:t>-420</a:t>
                      </a:r>
                      <a:endParaRPr lang="es-PE" sz="2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dirty="0">
                          <a:effectLst/>
                        </a:rPr>
                        <a:t>0</a:t>
                      </a:r>
                      <a:endParaRPr lang="es-PE" sz="2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dirty="0">
                          <a:solidFill>
                            <a:schemeClr val="bg1"/>
                          </a:solidFill>
                          <a:effectLst/>
                        </a:rPr>
                        <a:t>1</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120</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PE" sz="2400" u="none" strike="noStrike" dirty="0" err="1">
                          <a:effectLst/>
                        </a:rPr>
                        <a:t>X31</a:t>
                      </a:r>
                      <a:r>
                        <a:rPr lang="es-PE" sz="2400" u="none" strike="noStrike" dirty="0">
                          <a:effectLst/>
                        </a:rPr>
                        <a:t>=3</a:t>
                      </a:r>
                      <a:endParaRPr lang="es-PE" sz="2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PE" sz="2400" u="none" strike="noStrike">
                          <a:effectLst/>
                        </a:rPr>
                        <a:t>C=3*520</a:t>
                      </a:r>
                      <a:endParaRPr lang="es-PE" sz="24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35224554"/>
                  </a:ext>
                </a:extLst>
              </a:tr>
              <a:tr h="677863">
                <a:tc>
                  <a:txBody>
                    <a:bodyPr/>
                    <a:lstStyle/>
                    <a:p>
                      <a:pPr algn="ctr" fontAlgn="b"/>
                      <a:r>
                        <a:rPr lang="es-PE" sz="2400" u="none" strike="noStrike" dirty="0">
                          <a:solidFill>
                            <a:schemeClr val="bg1"/>
                          </a:solidFill>
                          <a:effectLst/>
                        </a:rPr>
                        <a:t>A(2)</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a:effectLst/>
                        </a:rPr>
                        <a:t>-500</a:t>
                      </a:r>
                      <a:endParaRPr lang="es-PE" sz="24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a:effectLst/>
                        </a:rPr>
                        <a:t>-330</a:t>
                      </a:r>
                      <a:endParaRPr lang="es-PE" sz="24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a:effectLst/>
                        </a:rPr>
                        <a:t>-330</a:t>
                      </a:r>
                      <a:endParaRPr lang="es-PE" sz="24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a:effectLst/>
                        </a:rPr>
                        <a:t>0</a:t>
                      </a:r>
                      <a:endParaRPr lang="es-PE" sz="24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dirty="0">
                          <a:solidFill>
                            <a:schemeClr val="bg1"/>
                          </a:solidFill>
                          <a:effectLst/>
                        </a:rPr>
                        <a:t>2</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170</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68842871"/>
                  </a:ext>
                </a:extLst>
              </a:tr>
              <a:tr h="677863">
                <a:tc>
                  <a:txBody>
                    <a:bodyPr/>
                    <a:lstStyle/>
                    <a:p>
                      <a:pPr algn="ctr" fontAlgn="b"/>
                      <a:r>
                        <a:rPr lang="es-PE" sz="2400" u="none" strike="noStrike" dirty="0">
                          <a:solidFill>
                            <a:schemeClr val="bg1"/>
                          </a:solidFill>
                          <a:effectLst/>
                        </a:rPr>
                        <a:t>L(4)</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-520</a:t>
                      </a:r>
                      <a:endParaRPr lang="es-PE" sz="24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400" u="none" strike="noStrike">
                          <a:effectLst/>
                        </a:rPr>
                        <a:t>-310</a:t>
                      </a:r>
                      <a:endParaRPr lang="es-PE" sz="24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a:effectLst/>
                        </a:rPr>
                        <a:t>-350</a:t>
                      </a:r>
                      <a:endParaRPr lang="es-PE" sz="24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a:effectLst/>
                        </a:rPr>
                        <a:t>0</a:t>
                      </a:r>
                      <a:endParaRPr lang="es-PE" sz="24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dirty="0">
                          <a:solidFill>
                            <a:schemeClr val="bg1"/>
                          </a:solidFill>
                          <a:effectLst/>
                        </a:rPr>
                        <a:t>4/1.</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170</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48537535"/>
                  </a:ext>
                </a:extLst>
              </a:tr>
              <a:tr h="677863">
                <a:tc>
                  <a:txBody>
                    <a:bodyPr/>
                    <a:lstStyle/>
                    <a:p>
                      <a:pPr algn="ctr" fontAlgn="b"/>
                      <a:r>
                        <a:rPr lang="es-PE" sz="2400" u="none" strike="noStrike" dirty="0">
                          <a:solidFill>
                            <a:schemeClr val="bg1"/>
                          </a:solidFill>
                          <a:effectLst/>
                        </a:rPr>
                        <a:t>Demanda</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 3/ 0</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2</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1</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1</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 </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 </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30955496"/>
                  </a:ext>
                </a:extLst>
              </a:tr>
              <a:tr h="677863">
                <a:tc>
                  <a:txBody>
                    <a:bodyPr/>
                    <a:lstStyle/>
                    <a:p>
                      <a:pPr algn="ctr" fontAlgn="b"/>
                      <a:r>
                        <a:rPr lang="es-PE" sz="2400" u="none" strike="noStrike" dirty="0" err="1">
                          <a:solidFill>
                            <a:schemeClr val="bg1"/>
                          </a:solidFill>
                          <a:effectLst/>
                        </a:rPr>
                        <a:t>P1</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20</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ctr" fontAlgn="b"/>
                      <a:r>
                        <a:rPr lang="es-PE" sz="2400" u="none" strike="noStrike" dirty="0">
                          <a:effectLst/>
                        </a:rPr>
                        <a:t>20</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ctr" fontAlgn="b"/>
                      <a:r>
                        <a:rPr lang="es-PE" sz="2400" u="none" strike="noStrike" dirty="0">
                          <a:effectLst/>
                        </a:rPr>
                        <a:t>70</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ctr" fontAlgn="b"/>
                      <a:r>
                        <a:rPr lang="es-PE" sz="2400" u="none" strike="noStrike" dirty="0">
                          <a:effectLst/>
                        </a:rPr>
                        <a:t>0</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ctr" fontAlgn="b"/>
                      <a:r>
                        <a:rPr lang="es-PE" sz="2400" u="none" strike="noStrike" dirty="0">
                          <a:effectLst/>
                        </a:rPr>
                        <a:t> </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ctr" fontAlgn="b"/>
                      <a:r>
                        <a:rPr lang="es-PE" sz="2400" u="none" strike="noStrike" dirty="0">
                          <a:effectLst/>
                        </a:rPr>
                        <a:t> </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973380028"/>
                  </a:ext>
                </a:extLst>
              </a:tr>
            </a:tbl>
          </a:graphicData>
        </a:graphic>
      </p:graphicFrame>
      <p:graphicFrame>
        <p:nvGraphicFramePr>
          <p:cNvPr id="3" name="2 Tabla">
            <a:extLst>
              <a:ext uri="{FF2B5EF4-FFF2-40B4-BE49-F238E27FC236}">
                <a16:creationId xmlns:a16="http://schemas.microsoft.com/office/drawing/2014/main" id="{403D269A-620E-4823-813B-DD8D4C1123C4}"/>
              </a:ext>
            </a:extLst>
          </p:cNvPr>
          <p:cNvGraphicFramePr>
            <a:graphicFrameLocks noGrp="1"/>
          </p:cNvGraphicFramePr>
          <p:nvPr>
            <p:extLst>
              <p:ext uri="{D42A27DB-BD31-4B8C-83A1-F6EECF244321}">
                <p14:modId xmlns:p14="http://schemas.microsoft.com/office/powerpoint/2010/main" val="3893857259"/>
              </p:ext>
            </p:extLst>
          </p:nvPr>
        </p:nvGraphicFramePr>
        <p:xfrm>
          <a:off x="7776754" y="1352793"/>
          <a:ext cx="4200380" cy="375285"/>
        </p:xfrm>
        <a:graphic>
          <a:graphicData uri="http://schemas.openxmlformats.org/drawingml/2006/table">
            <a:tbl>
              <a:tblPr>
                <a:tableStyleId>{5C22544A-7EE6-4342-B048-85BDC9FD1C3A}</a:tableStyleId>
              </a:tblPr>
              <a:tblGrid>
                <a:gridCol w="4200380">
                  <a:extLst>
                    <a:ext uri="{9D8B030D-6E8A-4147-A177-3AD203B41FA5}">
                      <a16:colId xmlns:a16="http://schemas.microsoft.com/office/drawing/2014/main" val="20000"/>
                    </a:ext>
                  </a:extLst>
                </a:gridCol>
              </a:tblGrid>
              <a:tr h="190500">
                <a:tc>
                  <a:txBody>
                    <a:bodyPr/>
                    <a:lstStyle/>
                    <a:p>
                      <a:pPr algn="l" fontAlgn="b"/>
                      <a:r>
                        <a:rPr lang="es-PE" sz="2400" b="1" u="none" strike="noStrike" dirty="0">
                          <a:solidFill>
                            <a:srgbClr val="FF0000"/>
                          </a:solidFill>
                          <a:effectLst/>
                        </a:rPr>
                        <a:t>Mayor Penalidad Menor costo</a:t>
                      </a:r>
                      <a:endParaRPr lang="es-PE" sz="2400" b="1" i="0" u="none" strike="noStrike" dirty="0">
                        <a:solidFill>
                          <a:srgbClr val="FF0000"/>
                        </a:solidFill>
                        <a:effectLst/>
                        <a:latin typeface="Calibri"/>
                      </a:endParaRPr>
                    </a:p>
                  </a:txBody>
                  <a:tcPr marL="9525" marR="9525" marT="9525" marB="0" anchor="b"/>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4680731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2 Tabla"/>
          <p:cNvGraphicFramePr>
            <a:graphicFrameLocks noGrp="1"/>
          </p:cNvGraphicFramePr>
          <p:nvPr/>
        </p:nvGraphicFramePr>
        <p:xfrm>
          <a:off x="8232718" y="1352793"/>
          <a:ext cx="3744416" cy="314325"/>
        </p:xfrm>
        <a:graphic>
          <a:graphicData uri="http://schemas.openxmlformats.org/drawingml/2006/table">
            <a:tbl>
              <a:tblPr>
                <a:tableStyleId>{5C22544A-7EE6-4342-B048-85BDC9FD1C3A}</a:tableStyleId>
              </a:tblPr>
              <a:tblGrid>
                <a:gridCol w="3744416">
                  <a:extLst>
                    <a:ext uri="{9D8B030D-6E8A-4147-A177-3AD203B41FA5}">
                      <a16:colId xmlns:a16="http://schemas.microsoft.com/office/drawing/2014/main" val="20000"/>
                    </a:ext>
                  </a:extLst>
                </a:gridCol>
              </a:tblGrid>
              <a:tr h="190500">
                <a:tc>
                  <a:txBody>
                    <a:bodyPr/>
                    <a:lstStyle/>
                    <a:p>
                      <a:pPr algn="l" fontAlgn="b"/>
                      <a:r>
                        <a:rPr lang="es-PE" sz="2000" u="none" strike="noStrike" dirty="0">
                          <a:solidFill>
                            <a:srgbClr val="FF0000"/>
                          </a:solidFill>
                          <a:effectLst/>
                        </a:rPr>
                        <a:t>Mayor Penalidad Menor costo</a:t>
                      </a:r>
                      <a:endParaRPr lang="es-PE" sz="2000" b="1" i="0" u="none" strike="noStrike" dirty="0">
                        <a:solidFill>
                          <a:srgbClr val="FF0000"/>
                        </a:solidFill>
                        <a:effectLst/>
                        <a:latin typeface="Calibri"/>
                      </a:endParaRPr>
                    </a:p>
                  </a:txBody>
                  <a:tcPr marL="9525" marR="9525" marT="9525" marB="0" anchor="b"/>
                </a:tc>
                <a:extLst>
                  <a:ext uri="{0D108BD9-81ED-4DB2-BD59-A6C34878D82A}">
                    <a16:rowId xmlns:a16="http://schemas.microsoft.com/office/drawing/2014/main" val="10000"/>
                  </a:ext>
                </a:extLst>
              </a:tr>
            </a:tbl>
          </a:graphicData>
        </a:graphic>
      </p:graphicFrame>
      <p:graphicFrame>
        <p:nvGraphicFramePr>
          <p:cNvPr id="2" name="Tabla 1">
            <a:extLst>
              <a:ext uri="{FF2B5EF4-FFF2-40B4-BE49-F238E27FC236}">
                <a16:creationId xmlns:a16="http://schemas.microsoft.com/office/drawing/2014/main" id="{B1005C29-7647-4B1A-8FA8-E05E16550B5C}"/>
              </a:ext>
            </a:extLst>
          </p:cNvPr>
          <p:cNvGraphicFramePr>
            <a:graphicFrameLocks noGrp="1"/>
          </p:cNvGraphicFramePr>
          <p:nvPr/>
        </p:nvGraphicFramePr>
        <p:xfrm>
          <a:off x="619432" y="1681315"/>
          <a:ext cx="11179278" cy="4675238"/>
        </p:xfrm>
        <a:graphic>
          <a:graphicData uri="http://schemas.openxmlformats.org/drawingml/2006/table">
            <a:tbl>
              <a:tblPr>
                <a:tableStyleId>{5C22544A-7EE6-4342-B048-85BDC9FD1C3A}</a:tableStyleId>
              </a:tblPr>
              <a:tblGrid>
                <a:gridCol w="1504040">
                  <a:extLst>
                    <a:ext uri="{9D8B030D-6E8A-4147-A177-3AD203B41FA5}">
                      <a16:colId xmlns:a16="http://schemas.microsoft.com/office/drawing/2014/main" val="3664733808"/>
                    </a:ext>
                  </a:extLst>
                </a:gridCol>
                <a:gridCol w="897934">
                  <a:extLst>
                    <a:ext uri="{9D8B030D-6E8A-4147-A177-3AD203B41FA5}">
                      <a16:colId xmlns:a16="http://schemas.microsoft.com/office/drawing/2014/main" val="2601501948"/>
                    </a:ext>
                  </a:extLst>
                </a:gridCol>
                <a:gridCol w="987727">
                  <a:extLst>
                    <a:ext uri="{9D8B030D-6E8A-4147-A177-3AD203B41FA5}">
                      <a16:colId xmlns:a16="http://schemas.microsoft.com/office/drawing/2014/main" val="2995762837"/>
                    </a:ext>
                  </a:extLst>
                </a:gridCol>
                <a:gridCol w="1077521">
                  <a:extLst>
                    <a:ext uri="{9D8B030D-6E8A-4147-A177-3AD203B41FA5}">
                      <a16:colId xmlns:a16="http://schemas.microsoft.com/office/drawing/2014/main" val="3439379917"/>
                    </a:ext>
                  </a:extLst>
                </a:gridCol>
                <a:gridCol w="897934">
                  <a:extLst>
                    <a:ext uri="{9D8B030D-6E8A-4147-A177-3AD203B41FA5}">
                      <a16:colId xmlns:a16="http://schemas.microsoft.com/office/drawing/2014/main" val="2197780353"/>
                    </a:ext>
                  </a:extLst>
                </a:gridCol>
                <a:gridCol w="897934">
                  <a:extLst>
                    <a:ext uri="{9D8B030D-6E8A-4147-A177-3AD203B41FA5}">
                      <a16:colId xmlns:a16="http://schemas.microsoft.com/office/drawing/2014/main" val="1102593802"/>
                    </a:ext>
                  </a:extLst>
                </a:gridCol>
                <a:gridCol w="897934">
                  <a:extLst>
                    <a:ext uri="{9D8B030D-6E8A-4147-A177-3AD203B41FA5}">
                      <a16:colId xmlns:a16="http://schemas.microsoft.com/office/drawing/2014/main" val="1277305235"/>
                    </a:ext>
                  </a:extLst>
                </a:gridCol>
                <a:gridCol w="897934">
                  <a:extLst>
                    <a:ext uri="{9D8B030D-6E8A-4147-A177-3AD203B41FA5}">
                      <a16:colId xmlns:a16="http://schemas.microsoft.com/office/drawing/2014/main" val="2028052997"/>
                    </a:ext>
                  </a:extLst>
                </a:gridCol>
                <a:gridCol w="897934">
                  <a:extLst>
                    <a:ext uri="{9D8B030D-6E8A-4147-A177-3AD203B41FA5}">
                      <a16:colId xmlns:a16="http://schemas.microsoft.com/office/drawing/2014/main" val="3618934381"/>
                    </a:ext>
                  </a:extLst>
                </a:gridCol>
                <a:gridCol w="987727">
                  <a:extLst>
                    <a:ext uri="{9D8B030D-6E8A-4147-A177-3AD203B41FA5}">
                      <a16:colId xmlns:a16="http://schemas.microsoft.com/office/drawing/2014/main" val="789131981"/>
                    </a:ext>
                  </a:extLst>
                </a:gridCol>
                <a:gridCol w="1234659">
                  <a:extLst>
                    <a:ext uri="{9D8B030D-6E8A-4147-A177-3AD203B41FA5}">
                      <a16:colId xmlns:a16="http://schemas.microsoft.com/office/drawing/2014/main" val="81591017"/>
                    </a:ext>
                  </a:extLst>
                </a:gridCol>
              </a:tblGrid>
              <a:tr h="1076613">
                <a:tc>
                  <a:txBody>
                    <a:bodyPr/>
                    <a:lstStyle/>
                    <a:p>
                      <a:pPr algn="ctr" fontAlgn="b"/>
                      <a:r>
                        <a:rPr lang="es-PE" sz="2400" u="none" strike="noStrike" dirty="0">
                          <a:effectLst/>
                        </a:rPr>
                        <a:t> </a:t>
                      </a:r>
                      <a:endParaRPr lang="es-PE" sz="2400" b="1" i="0" u="none" strike="noStrike" dirty="0">
                        <a:solidFill>
                          <a:srgbClr val="FFFFFF"/>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I(3)</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M(2)</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P(1)</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Fig.</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Oferta</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err="1">
                          <a:solidFill>
                            <a:schemeClr val="bg1"/>
                          </a:solidFill>
                          <a:effectLst/>
                        </a:rPr>
                        <a:t>P1</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err="1">
                          <a:solidFill>
                            <a:schemeClr val="bg1"/>
                          </a:solidFill>
                          <a:effectLst/>
                        </a:rPr>
                        <a:t>P2</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40609272"/>
                  </a:ext>
                </a:extLst>
              </a:tr>
              <a:tr h="594814">
                <a:tc>
                  <a:txBody>
                    <a:bodyPr/>
                    <a:lstStyle/>
                    <a:p>
                      <a:pPr algn="ctr" fontAlgn="b"/>
                      <a:r>
                        <a:rPr lang="es-PE" sz="2400" u="none" strike="noStrike" dirty="0">
                          <a:solidFill>
                            <a:schemeClr val="bg1"/>
                          </a:solidFill>
                          <a:effectLst/>
                        </a:rPr>
                        <a:t>T(1)</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500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tx1"/>
                    </a:solidFill>
                  </a:tcPr>
                </a:tc>
                <a:tc>
                  <a:txBody>
                    <a:bodyPr/>
                    <a:lstStyle/>
                    <a:p>
                      <a:pPr algn="ctr" fontAlgn="b"/>
                      <a:r>
                        <a:rPr lang="es-PE" sz="2400" u="none" strike="noStrike">
                          <a:effectLst/>
                        </a:rPr>
                        <a:t>-300</a:t>
                      </a:r>
                      <a:endParaRPr lang="es-PE" sz="24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a:effectLst/>
                        </a:rPr>
                        <a:t>-420</a:t>
                      </a:r>
                      <a:endParaRPr lang="es-PE" sz="24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dirty="0">
                          <a:effectLst/>
                        </a:rPr>
                        <a:t>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3">
                        <a:lumMod val="20000"/>
                        <a:lumOff val="80000"/>
                      </a:schemeClr>
                    </a:solidFill>
                  </a:tcPr>
                </a:tc>
                <a:tc>
                  <a:txBody>
                    <a:bodyPr/>
                    <a:lstStyle/>
                    <a:p>
                      <a:pPr algn="ctr" fontAlgn="b"/>
                      <a:r>
                        <a:rPr lang="es-PE" sz="2400" u="none" strike="noStrike" dirty="0">
                          <a:solidFill>
                            <a:schemeClr val="bg1"/>
                          </a:solidFill>
                          <a:effectLst/>
                        </a:rPr>
                        <a:t>1</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120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ctr" fontAlgn="b"/>
                      <a:r>
                        <a:rPr lang="es-PE" sz="2400" u="none" strike="noStrike" dirty="0">
                          <a:effectLst/>
                        </a:rPr>
                        <a:t>120</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tx2">
                        <a:lumMod val="40000"/>
                        <a:lumOff val="60000"/>
                      </a:schemeClr>
                    </a:solidFill>
                  </a:tcPr>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PE" sz="2400" u="none" strike="noStrike">
                          <a:effectLst/>
                        </a:rPr>
                        <a:t>X31=3</a:t>
                      </a:r>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PE" sz="2400" u="none" strike="noStrike">
                          <a:effectLst/>
                        </a:rPr>
                        <a:t>C=3*520</a:t>
                      </a:r>
                      <a:endParaRPr lang="es-PE" sz="24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42436532"/>
                  </a:ext>
                </a:extLst>
              </a:tr>
              <a:tr h="594814">
                <a:tc>
                  <a:txBody>
                    <a:bodyPr/>
                    <a:lstStyle/>
                    <a:p>
                      <a:pPr algn="ctr" fontAlgn="b"/>
                      <a:r>
                        <a:rPr lang="es-PE" sz="2400" u="none" strike="noStrike" dirty="0">
                          <a:solidFill>
                            <a:schemeClr val="bg1"/>
                          </a:solidFill>
                          <a:effectLst/>
                        </a:rPr>
                        <a:t>A(2)</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520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tx1"/>
                    </a:solidFill>
                  </a:tcPr>
                </a:tc>
                <a:tc>
                  <a:txBody>
                    <a:bodyPr/>
                    <a:lstStyle/>
                    <a:p>
                      <a:pPr algn="ctr" fontAlgn="b"/>
                      <a:r>
                        <a:rPr lang="es-PE" sz="2400" u="none" strike="noStrike" dirty="0">
                          <a:effectLst/>
                        </a:rPr>
                        <a:t>-330</a:t>
                      </a:r>
                      <a:endParaRPr lang="es-PE" sz="24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400" u="none" strike="noStrike">
                          <a:effectLst/>
                        </a:rPr>
                        <a:t>-330</a:t>
                      </a:r>
                      <a:endParaRPr lang="es-PE" sz="24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dirty="0">
                          <a:effectLst/>
                        </a:rPr>
                        <a:t>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3">
                        <a:lumMod val="20000"/>
                        <a:lumOff val="80000"/>
                      </a:schemeClr>
                    </a:solidFill>
                  </a:tcPr>
                </a:tc>
                <a:tc>
                  <a:txBody>
                    <a:bodyPr/>
                    <a:lstStyle/>
                    <a:p>
                      <a:pPr algn="ctr" fontAlgn="b"/>
                      <a:r>
                        <a:rPr lang="es-PE" sz="2400" u="none" strike="noStrike" dirty="0">
                          <a:solidFill>
                            <a:schemeClr val="bg1"/>
                          </a:solidFill>
                          <a:effectLst/>
                        </a:rPr>
                        <a:t>2/0</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170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ctr" fontAlgn="b"/>
                      <a:r>
                        <a:rPr lang="es-PE" sz="2400" u="none" strike="noStrike" dirty="0">
                          <a:effectLst/>
                        </a:rPr>
                        <a:t>330</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tx2">
                        <a:lumMod val="40000"/>
                        <a:lumOff val="60000"/>
                      </a:schemeClr>
                    </a:solidFill>
                  </a:tcPr>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PE" sz="2400" u="none" strike="noStrike" dirty="0" err="1">
                          <a:effectLst/>
                        </a:rPr>
                        <a:t>X22</a:t>
                      </a:r>
                      <a:r>
                        <a:rPr lang="es-PE" sz="2400" u="none" strike="noStrike" dirty="0">
                          <a:effectLst/>
                        </a:rPr>
                        <a:t>=2</a:t>
                      </a:r>
                      <a:endParaRPr lang="es-PE" sz="2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PE" sz="2400" u="none" strike="noStrike">
                          <a:effectLst/>
                        </a:rPr>
                        <a:t>C=2*330</a:t>
                      </a:r>
                      <a:endParaRPr lang="es-PE" sz="2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2987486"/>
                  </a:ext>
                </a:extLst>
              </a:tr>
              <a:tr h="594814">
                <a:tc>
                  <a:txBody>
                    <a:bodyPr/>
                    <a:lstStyle/>
                    <a:p>
                      <a:pPr algn="ctr" fontAlgn="b"/>
                      <a:r>
                        <a:rPr lang="es-PE" sz="2400" u="none" strike="noStrike" dirty="0">
                          <a:solidFill>
                            <a:schemeClr val="bg1"/>
                          </a:solidFill>
                          <a:effectLst/>
                        </a:rPr>
                        <a:t>L(4)</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-520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tx1"/>
                    </a:solidFill>
                  </a:tcPr>
                </a:tc>
                <a:tc>
                  <a:txBody>
                    <a:bodyPr/>
                    <a:lstStyle/>
                    <a:p>
                      <a:pPr algn="ctr" fontAlgn="b"/>
                      <a:r>
                        <a:rPr lang="es-PE" sz="2400" u="none" strike="noStrike">
                          <a:effectLst/>
                        </a:rPr>
                        <a:t>-310</a:t>
                      </a:r>
                      <a:endParaRPr lang="es-PE" sz="24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a:effectLst/>
                        </a:rPr>
                        <a:t>-350</a:t>
                      </a:r>
                      <a:endParaRPr lang="es-PE" sz="24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dirty="0">
                          <a:effectLst/>
                        </a:rPr>
                        <a:t>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3">
                        <a:lumMod val="20000"/>
                        <a:lumOff val="80000"/>
                      </a:schemeClr>
                    </a:solidFill>
                  </a:tcPr>
                </a:tc>
                <a:tc>
                  <a:txBody>
                    <a:bodyPr/>
                    <a:lstStyle/>
                    <a:p>
                      <a:pPr algn="ctr" fontAlgn="b"/>
                      <a:r>
                        <a:rPr lang="es-PE" sz="2400" u="none" strike="noStrike" dirty="0">
                          <a:solidFill>
                            <a:schemeClr val="bg1"/>
                          </a:solidFill>
                          <a:effectLst/>
                        </a:rPr>
                        <a:t> 4/3</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170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ctr" fontAlgn="b"/>
                      <a:r>
                        <a:rPr lang="es-PE" sz="2400" u="none" strike="noStrike" dirty="0">
                          <a:effectLst/>
                        </a:rPr>
                        <a:t>40</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tx2">
                        <a:lumMod val="40000"/>
                        <a:lumOff val="60000"/>
                      </a:schemeClr>
                    </a:solidFill>
                  </a:tcPr>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74223648"/>
                  </a:ext>
                </a:extLst>
              </a:tr>
              <a:tr h="594814">
                <a:tc>
                  <a:txBody>
                    <a:bodyPr/>
                    <a:lstStyle/>
                    <a:p>
                      <a:pPr algn="ctr" fontAlgn="b"/>
                      <a:r>
                        <a:rPr lang="es-PE" sz="2400" u="none" strike="noStrike" dirty="0">
                          <a:solidFill>
                            <a:schemeClr val="bg1"/>
                          </a:solidFill>
                          <a:effectLst/>
                        </a:rPr>
                        <a:t>Demanda</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 3/ 0</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2/0</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1</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1</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 </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 </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l" fontAlgn="b"/>
                      <a:r>
                        <a:rPr lang="es-PE" sz="2400" u="none" strike="noStrike" dirty="0">
                          <a:effectLst/>
                        </a:rPr>
                        <a:t> </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tx2">
                        <a:lumMod val="40000"/>
                        <a:lumOff val="60000"/>
                      </a:schemeClr>
                    </a:solidFill>
                  </a:tcPr>
                </a:tc>
                <a:tc>
                  <a:txBody>
                    <a:bodyPr/>
                    <a:lstStyle/>
                    <a:p>
                      <a:pPr algn="l" fontAlgn="b"/>
                      <a:endParaRPr lang="es-PE" sz="2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68278103"/>
                  </a:ext>
                </a:extLst>
              </a:tr>
              <a:tr h="594814">
                <a:tc>
                  <a:txBody>
                    <a:bodyPr/>
                    <a:lstStyle/>
                    <a:p>
                      <a:pPr algn="ctr" fontAlgn="b"/>
                      <a:r>
                        <a:rPr lang="es-PE" sz="2400" u="none" strike="noStrike" dirty="0" err="1">
                          <a:solidFill>
                            <a:schemeClr val="bg1"/>
                          </a:solidFill>
                          <a:effectLst/>
                        </a:rPr>
                        <a:t>P1</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20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ctr" fontAlgn="b"/>
                      <a:r>
                        <a:rPr lang="es-PE" sz="2400" u="none" strike="noStrike" dirty="0">
                          <a:effectLst/>
                        </a:rPr>
                        <a:t>20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ctr" fontAlgn="b"/>
                      <a:r>
                        <a:rPr lang="es-PE" sz="2400" u="none" strike="noStrike" dirty="0">
                          <a:effectLst/>
                        </a:rPr>
                        <a:t>70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ctr" fontAlgn="b"/>
                      <a:r>
                        <a:rPr lang="es-PE" sz="2400" u="none" strike="noStrike" dirty="0">
                          <a:effectLst/>
                        </a:rPr>
                        <a:t>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ctr" fontAlgn="b"/>
                      <a:r>
                        <a:rPr lang="es-PE" sz="2400" u="none" strike="noStrike" dirty="0">
                          <a:effectLst/>
                        </a:rPr>
                        <a:t> </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ctr" fontAlgn="b"/>
                      <a:r>
                        <a:rPr lang="es-PE" sz="2400" u="none" strike="noStrike" dirty="0">
                          <a:effectLst/>
                        </a:rPr>
                        <a:t> </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l" fontAlgn="b"/>
                      <a:r>
                        <a:rPr lang="es-PE" sz="2400" u="none" strike="noStrike" dirty="0">
                          <a:effectLst/>
                        </a:rPr>
                        <a:t> </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tx2">
                        <a:lumMod val="40000"/>
                        <a:lumOff val="60000"/>
                      </a:schemeClr>
                    </a:solidFill>
                  </a:tcPr>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52379881"/>
                  </a:ext>
                </a:extLst>
              </a:tr>
              <a:tr h="624555">
                <a:tc>
                  <a:txBody>
                    <a:bodyPr/>
                    <a:lstStyle/>
                    <a:p>
                      <a:pPr algn="ctr" fontAlgn="b"/>
                      <a:r>
                        <a:rPr lang="es-PE" sz="2400" u="none" strike="noStrike" dirty="0" err="1">
                          <a:solidFill>
                            <a:schemeClr val="bg1"/>
                          </a:solidFill>
                          <a:effectLst/>
                        </a:rPr>
                        <a:t>P2</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 </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tx2">
                        <a:lumMod val="40000"/>
                        <a:lumOff val="60000"/>
                      </a:schemeClr>
                    </a:solidFill>
                  </a:tcPr>
                </a:tc>
                <a:tc>
                  <a:txBody>
                    <a:bodyPr/>
                    <a:lstStyle/>
                    <a:p>
                      <a:pPr algn="ctr" fontAlgn="b"/>
                      <a:r>
                        <a:rPr lang="es-PE" sz="2400" u="none" strike="noStrike" dirty="0">
                          <a:effectLst/>
                        </a:rPr>
                        <a:t>20</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tx2">
                        <a:lumMod val="40000"/>
                        <a:lumOff val="60000"/>
                      </a:schemeClr>
                    </a:solidFill>
                  </a:tcPr>
                </a:tc>
                <a:tc>
                  <a:txBody>
                    <a:bodyPr/>
                    <a:lstStyle/>
                    <a:p>
                      <a:pPr algn="ctr" fontAlgn="b"/>
                      <a:r>
                        <a:rPr lang="es-PE" sz="2400" u="none" strike="noStrike" dirty="0">
                          <a:effectLst/>
                        </a:rPr>
                        <a:t>70</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tx2">
                        <a:lumMod val="40000"/>
                        <a:lumOff val="60000"/>
                      </a:schemeClr>
                    </a:solidFill>
                  </a:tcPr>
                </a:tc>
                <a:tc>
                  <a:txBody>
                    <a:bodyPr/>
                    <a:lstStyle/>
                    <a:p>
                      <a:pPr algn="ctr" fontAlgn="b"/>
                      <a:r>
                        <a:rPr lang="es-PE" sz="2400" u="none" strike="noStrike" dirty="0">
                          <a:effectLst/>
                        </a:rPr>
                        <a:t>0</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tx2">
                        <a:lumMod val="40000"/>
                        <a:lumOff val="60000"/>
                      </a:schemeClr>
                    </a:solidFill>
                  </a:tcPr>
                </a:tc>
                <a:tc>
                  <a:txBody>
                    <a:bodyPr/>
                    <a:lstStyle/>
                    <a:p>
                      <a:pPr algn="l" fontAlgn="b"/>
                      <a:r>
                        <a:rPr lang="es-PE" sz="2400" u="none" strike="noStrike" dirty="0">
                          <a:effectLst/>
                        </a:rPr>
                        <a:t> </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tx2">
                        <a:lumMod val="40000"/>
                        <a:lumOff val="60000"/>
                      </a:schemeClr>
                    </a:solidFill>
                  </a:tcPr>
                </a:tc>
                <a:tc>
                  <a:txBody>
                    <a:bodyPr/>
                    <a:lstStyle/>
                    <a:p>
                      <a:pPr algn="l" fontAlgn="b"/>
                      <a:r>
                        <a:rPr lang="es-PE" sz="2400" u="none" strike="noStrike" dirty="0">
                          <a:effectLst/>
                        </a:rPr>
                        <a:t> </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tx2">
                        <a:lumMod val="40000"/>
                        <a:lumOff val="60000"/>
                      </a:schemeClr>
                    </a:solidFill>
                  </a:tcPr>
                </a:tc>
                <a:tc>
                  <a:txBody>
                    <a:bodyPr/>
                    <a:lstStyle/>
                    <a:p>
                      <a:pPr algn="l" fontAlgn="b"/>
                      <a:r>
                        <a:rPr lang="es-PE" sz="2400" u="none" strike="noStrike" dirty="0">
                          <a:effectLst/>
                        </a:rPr>
                        <a:t> </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tx2">
                        <a:lumMod val="40000"/>
                        <a:lumOff val="60000"/>
                      </a:schemeClr>
                    </a:solidFill>
                  </a:tcPr>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47290297"/>
                  </a:ext>
                </a:extLst>
              </a:tr>
            </a:tbl>
          </a:graphicData>
        </a:graphic>
      </p:graphicFrame>
    </p:spTree>
    <p:extLst>
      <p:ext uri="{BB962C8B-B14F-4D97-AF65-F5344CB8AC3E}">
        <p14:creationId xmlns:p14="http://schemas.microsoft.com/office/powerpoint/2010/main" val="40601666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61EF1759-CF71-4419-A0A8-0262ABB7385B}"/>
              </a:ext>
            </a:extLst>
          </p:cNvPr>
          <p:cNvGraphicFramePr>
            <a:graphicFrameLocks noGrp="1"/>
          </p:cNvGraphicFramePr>
          <p:nvPr/>
        </p:nvGraphicFramePr>
        <p:xfrm>
          <a:off x="471948" y="1690530"/>
          <a:ext cx="11488996" cy="4734231"/>
        </p:xfrm>
        <a:graphic>
          <a:graphicData uri="http://schemas.openxmlformats.org/drawingml/2006/table">
            <a:tbl>
              <a:tblPr>
                <a:tableStyleId>{5C22544A-7EE6-4342-B048-85BDC9FD1C3A}</a:tableStyleId>
              </a:tblPr>
              <a:tblGrid>
                <a:gridCol w="1427248">
                  <a:extLst>
                    <a:ext uri="{9D8B030D-6E8A-4147-A177-3AD203B41FA5}">
                      <a16:colId xmlns:a16="http://schemas.microsoft.com/office/drawing/2014/main" val="536824391"/>
                    </a:ext>
                  </a:extLst>
                </a:gridCol>
                <a:gridCol w="852089">
                  <a:extLst>
                    <a:ext uri="{9D8B030D-6E8A-4147-A177-3AD203B41FA5}">
                      <a16:colId xmlns:a16="http://schemas.microsoft.com/office/drawing/2014/main" val="3755615339"/>
                    </a:ext>
                  </a:extLst>
                </a:gridCol>
                <a:gridCol w="937298">
                  <a:extLst>
                    <a:ext uri="{9D8B030D-6E8A-4147-A177-3AD203B41FA5}">
                      <a16:colId xmlns:a16="http://schemas.microsoft.com/office/drawing/2014/main" val="2324896089"/>
                    </a:ext>
                  </a:extLst>
                </a:gridCol>
                <a:gridCol w="1022506">
                  <a:extLst>
                    <a:ext uri="{9D8B030D-6E8A-4147-A177-3AD203B41FA5}">
                      <a16:colId xmlns:a16="http://schemas.microsoft.com/office/drawing/2014/main" val="3550216205"/>
                    </a:ext>
                  </a:extLst>
                </a:gridCol>
                <a:gridCol w="852089">
                  <a:extLst>
                    <a:ext uri="{9D8B030D-6E8A-4147-A177-3AD203B41FA5}">
                      <a16:colId xmlns:a16="http://schemas.microsoft.com/office/drawing/2014/main" val="1253194"/>
                    </a:ext>
                  </a:extLst>
                </a:gridCol>
                <a:gridCol w="852089">
                  <a:extLst>
                    <a:ext uri="{9D8B030D-6E8A-4147-A177-3AD203B41FA5}">
                      <a16:colId xmlns:a16="http://schemas.microsoft.com/office/drawing/2014/main" val="739879293"/>
                    </a:ext>
                  </a:extLst>
                </a:gridCol>
                <a:gridCol w="852089">
                  <a:extLst>
                    <a:ext uri="{9D8B030D-6E8A-4147-A177-3AD203B41FA5}">
                      <a16:colId xmlns:a16="http://schemas.microsoft.com/office/drawing/2014/main" val="256290988"/>
                    </a:ext>
                  </a:extLst>
                </a:gridCol>
                <a:gridCol w="852089">
                  <a:extLst>
                    <a:ext uri="{9D8B030D-6E8A-4147-A177-3AD203B41FA5}">
                      <a16:colId xmlns:a16="http://schemas.microsoft.com/office/drawing/2014/main" val="3021185672"/>
                    </a:ext>
                  </a:extLst>
                </a:gridCol>
                <a:gridCol w="852089">
                  <a:extLst>
                    <a:ext uri="{9D8B030D-6E8A-4147-A177-3AD203B41FA5}">
                      <a16:colId xmlns:a16="http://schemas.microsoft.com/office/drawing/2014/main" val="4267224888"/>
                    </a:ext>
                  </a:extLst>
                </a:gridCol>
                <a:gridCol w="937298">
                  <a:extLst>
                    <a:ext uri="{9D8B030D-6E8A-4147-A177-3AD203B41FA5}">
                      <a16:colId xmlns:a16="http://schemas.microsoft.com/office/drawing/2014/main" val="2635473463"/>
                    </a:ext>
                  </a:extLst>
                </a:gridCol>
                <a:gridCol w="1171621">
                  <a:extLst>
                    <a:ext uri="{9D8B030D-6E8A-4147-A177-3AD203B41FA5}">
                      <a16:colId xmlns:a16="http://schemas.microsoft.com/office/drawing/2014/main" val="2846111330"/>
                    </a:ext>
                  </a:extLst>
                </a:gridCol>
                <a:gridCol w="880491">
                  <a:extLst>
                    <a:ext uri="{9D8B030D-6E8A-4147-A177-3AD203B41FA5}">
                      <a16:colId xmlns:a16="http://schemas.microsoft.com/office/drawing/2014/main" val="2772992408"/>
                    </a:ext>
                  </a:extLst>
                </a:gridCol>
              </a:tblGrid>
              <a:tr h="972641">
                <a:tc>
                  <a:txBody>
                    <a:bodyPr/>
                    <a:lstStyle/>
                    <a:p>
                      <a:pPr algn="ctr" fontAlgn="b"/>
                      <a:r>
                        <a:rPr lang="es-PE" sz="2400" u="none" strike="noStrike" dirty="0">
                          <a:solidFill>
                            <a:schemeClr val="bg1"/>
                          </a:solidFill>
                          <a:effectLst/>
                        </a:rPr>
                        <a:t> </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I(3)</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M(2)</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P(1)</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Fig.</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Oferta</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err="1">
                          <a:solidFill>
                            <a:schemeClr val="bg1"/>
                          </a:solidFill>
                          <a:effectLst/>
                        </a:rPr>
                        <a:t>P1</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err="1">
                          <a:solidFill>
                            <a:schemeClr val="bg1"/>
                          </a:solidFill>
                          <a:effectLst/>
                        </a:rPr>
                        <a:t>P2</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err="1">
                          <a:solidFill>
                            <a:schemeClr val="bg1"/>
                          </a:solidFill>
                          <a:effectLst/>
                        </a:rPr>
                        <a:t>P3</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25072692"/>
                  </a:ext>
                </a:extLst>
              </a:tr>
              <a:tr h="537370">
                <a:tc>
                  <a:txBody>
                    <a:bodyPr/>
                    <a:lstStyle/>
                    <a:p>
                      <a:pPr algn="ctr" fontAlgn="b"/>
                      <a:r>
                        <a:rPr lang="es-PE" sz="2400" u="none" strike="noStrike" dirty="0">
                          <a:solidFill>
                            <a:schemeClr val="bg1"/>
                          </a:solidFill>
                          <a:effectLst/>
                        </a:rPr>
                        <a:t>T(1)</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500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tx1"/>
                    </a:solidFill>
                  </a:tcPr>
                </a:tc>
                <a:tc>
                  <a:txBody>
                    <a:bodyPr/>
                    <a:lstStyle/>
                    <a:p>
                      <a:pPr algn="ctr" fontAlgn="b"/>
                      <a:r>
                        <a:rPr lang="es-PE" sz="2400" u="none" strike="noStrike" dirty="0">
                          <a:effectLst/>
                        </a:rPr>
                        <a:t>-300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tx1"/>
                    </a:solidFill>
                  </a:tcPr>
                </a:tc>
                <a:tc>
                  <a:txBody>
                    <a:bodyPr/>
                    <a:lstStyle/>
                    <a:p>
                      <a:pPr algn="ctr" fontAlgn="b"/>
                      <a:r>
                        <a:rPr lang="es-PE" sz="2400" u="none" strike="noStrike" dirty="0">
                          <a:effectLst/>
                        </a:rPr>
                        <a:t>-420</a:t>
                      </a:r>
                      <a:endParaRPr lang="es-PE" sz="24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400" u="none" strike="noStrike" dirty="0">
                          <a:effectLst/>
                        </a:rPr>
                        <a:t>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3">
                        <a:lumMod val="20000"/>
                        <a:lumOff val="80000"/>
                      </a:schemeClr>
                    </a:solidFill>
                  </a:tcPr>
                </a:tc>
                <a:tc>
                  <a:txBody>
                    <a:bodyPr/>
                    <a:lstStyle/>
                    <a:p>
                      <a:pPr algn="ctr" fontAlgn="b"/>
                      <a:r>
                        <a:rPr lang="es-PE" sz="2400" u="none" strike="noStrike" dirty="0">
                          <a:solidFill>
                            <a:schemeClr val="bg1"/>
                          </a:solidFill>
                          <a:effectLst/>
                        </a:rPr>
                        <a:t>1/0</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120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ctr" fontAlgn="b"/>
                      <a:r>
                        <a:rPr lang="es-PE" sz="2400" u="none" strike="noStrike" dirty="0">
                          <a:effectLst/>
                        </a:rPr>
                        <a:t>120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bg2">
                        <a:lumMod val="90000"/>
                      </a:schemeClr>
                    </a:solidFill>
                  </a:tcPr>
                </a:tc>
                <a:tc>
                  <a:txBody>
                    <a:bodyPr/>
                    <a:lstStyle/>
                    <a:p>
                      <a:pPr algn="ctr" fontAlgn="b"/>
                      <a:r>
                        <a:rPr lang="es-PE" sz="2400" u="none" strike="noStrike" dirty="0">
                          <a:effectLst/>
                        </a:rPr>
                        <a:t>420</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accent4">
                        <a:lumMod val="20000"/>
                        <a:lumOff val="80000"/>
                      </a:schemeClr>
                    </a:solidFill>
                  </a:tcPr>
                </a:tc>
                <a:tc>
                  <a:txBody>
                    <a:bodyPr/>
                    <a:lstStyle/>
                    <a:p>
                      <a:pPr algn="r" fontAlgn="b"/>
                      <a:r>
                        <a:rPr lang="es-PE" sz="2400" u="none" strike="noStrike">
                          <a:effectLst/>
                        </a:rPr>
                        <a:t>X31=3</a:t>
                      </a:r>
                      <a:endParaRPr lang="es-PE" sz="24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PE" sz="2400" u="none" strike="noStrike">
                          <a:effectLst/>
                        </a:rPr>
                        <a:t>C=3*520</a:t>
                      </a:r>
                      <a:endParaRPr lang="es-PE" sz="24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PE" sz="2400" u="none" strike="noStrike">
                          <a:effectLst/>
                        </a:rPr>
                        <a:t>1560</a:t>
                      </a:r>
                      <a:endParaRPr lang="es-PE" sz="24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77901773"/>
                  </a:ext>
                </a:extLst>
              </a:tr>
              <a:tr h="537370">
                <a:tc>
                  <a:txBody>
                    <a:bodyPr/>
                    <a:lstStyle/>
                    <a:p>
                      <a:pPr algn="ctr" fontAlgn="b"/>
                      <a:r>
                        <a:rPr lang="es-PE" sz="2400" u="none" strike="noStrike" dirty="0">
                          <a:solidFill>
                            <a:schemeClr val="bg1"/>
                          </a:solidFill>
                          <a:effectLst/>
                        </a:rPr>
                        <a:t>A(2)</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520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tx1"/>
                    </a:solidFill>
                  </a:tcPr>
                </a:tc>
                <a:tc>
                  <a:txBody>
                    <a:bodyPr/>
                    <a:lstStyle/>
                    <a:p>
                      <a:pPr algn="ctr" fontAlgn="b"/>
                      <a:r>
                        <a:rPr lang="es-PE" sz="2400" u="none" strike="noStrike" dirty="0">
                          <a:effectLst/>
                        </a:rPr>
                        <a:t>-330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tx1"/>
                    </a:solidFill>
                  </a:tcPr>
                </a:tc>
                <a:tc>
                  <a:txBody>
                    <a:bodyPr/>
                    <a:lstStyle/>
                    <a:p>
                      <a:pPr algn="ctr" fontAlgn="b"/>
                      <a:r>
                        <a:rPr lang="es-PE" sz="2400" u="none" strike="noStrike" dirty="0">
                          <a:effectLst/>
                        </a:rPr>
                        <a:t>-330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tx1"/>
                    </a:solidFill>
                  </a:tcPr>
                </a:tc>
                <a:tc>
                  <a:txBody>
                    <a:bodyPr/>
                    <a:lstStyle/>
                    <a:p>
                      <a:pPr algn="ctr" fontAlgn="b"/>
                      <a:r>
                        <a:rPr lang="es-PE" sz="2400" u="none" strike="noStrike" dirty="0">
                          <a:effectLst/>
                        </a:rPr>
                        <a:t>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tx1"/>
                    </a:solidFill>
                  </a:tcPr>
                </a:tc>
                <a:tc>
                  <a:txBody>
                    <a:bodyPr/>
                    <a:lstStyle/>
                    <a:p>
                      <a:pPr algn="ctr" fontAlgn="b"/>
                      <a:r>
                        <a:rPr lang="es-PE" sz="2400" u="none" strike="noStrike" dirty="0">
                          <a:solidFill>
                            <a:schemeClr val="bg1"/>
                          </a:solidFill>
                          <a:effectLst/>
                        </a:rPr>
                        <a:t>2/0</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170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ctr" fontAlgn="b"/>
                      <a:r>
                        <a:rPr lang="es-PE" sz="2400" u="none" strike="noStrike" dirty="0">
                          <a:effectLst/>
                        </a:rPr>
                        <a:t>330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bg2">
                        <a:lumMod val="90000"/>
                      </a:schemeClr>
                    </a:solidFill>
                  </a:tcPr>
                </a:tc>
                <a:tc>
                  <a:txBody>
                    <a:bodyPr/>
                    <a:lstStyle/>
                    <a:p>
                      <a:pPr algn="ctr" fontAlgn="b"/>
                      <a:r>
                        <a:rPr lang="es-PE" sz="2400" u="none" strike="noStrike" dirty="0">
                          <a:effectLst/>
                        </a:rPr>
                        <a:t>-</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accent4">
                        <a:lumMod val="20000"/>
                        <a:lumOff val="80000"/>
                      </a:schemeClr>
                    </a:solidFill>
                  </a:tcPr>
                </a:tc>
                <a:tc>
                  <a:txBody>
                    <a:bodyPr/>
                    <a:lstStyle/>
                    <a:p>
                      <a:pPr algn="r" fontAlgn="b"/>
                      <a:r>
                        <a:rPr lang="es-PE" sz="2400" u="none" strike="noStrike">
                          <a:effectLst/>
                        </a:rPr>
                        <a:t>X22=2</a:t>
                      </a:r>
                      <a:endParaRPr lang="es-PE" sz="24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PE" sz="2400" u="none" strike="noStrike">
                          <a:effectLst/>
                        </a:rPr>
                        <a:t>C=2*330</a:t>
                      </a:r>
                      <a:endParaRPr lang="es-PE" sz="24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PE" sz="2400" u="none" strike="noStrike">
                          <a:effectLst/>
                        </a:rPr>
                        <a:t>660</a:t>
                      </a:r>
                      <a:endParaRPr lang="es-PE" sz="24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08312800"/>
                  </a:ext>
                </a:extLst>
              </a:tr>
              <a:tr h="537370">
                <a:tc>
                  <a:txBody>
                    <a:bodyPr/>
                    <a:lstStyle/>
                    <a:p>
                      <a:pPr algn="ctr" fontAlgn="b"/>
                      <a:r>
                        <a:rPr lang="es-PE" sz="2400" u="none" strike="noStrike" dirty="0">
                          <a:solidFill>
                            <a:schemeClr val="bg1"/>
                          </a:solidFill>
                          <a:effectLst/>
                        </a:rPr>
                        <a:t>L(4)</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-520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tx1"/>
                    </a:solidFill>
                  </a:tcPr>
                </a:tc>
                <a:tc>
                  <a:txBody>
                    <a:bodyPr/>
                    <a:lstStyle/>
                    <a:p>
                      <a:pPr algn="ctr" fontAlgn="b"/>
                      <a:r>
                        <a:rPr lang="es-PE" sz="2400" u="none" strike="noStrike" dirty="0">
                          <a:effectLst/>
                        </a:rPr>
                        <a:t>-310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tx1"/>
                    </a:solidFill>
                  </a:tcPr>
                </a:tc>
                <a:tc>
                  <a:txBody>
                    <a:bodyPr/>
                    <a:lstStyle/>
                    <a:p>
                      <a:pPr algn="ctr" fontAlgn="b"/>
                      <a:r>
                        <a:rPr lang="es-PE" sz="2400" u="none" strike="noStrike">
                          <a:effectLst/>
                        </a:rPr>
                        <a:t>-350</a:t>
                      </a:r>
                      <a:endParaRPr lang="es-PE" sz="24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400" u="none" strike="noStrike" dirty="0">
                          <a:effectLst/>
                        </a:rPr>
                        <a:t>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3">
                        <a:lumMod val="20000"/>
                        <a:lumOff val="80000"/>
                      </a:schemeClr>
                    </a:solidFill>
                  </a:tcPr>
                </a:tc>
                <a:tc>
                  <a:txBody>
                    <a:bodyPr/>
                    <a:lstStyle/>
                    <a:p>
                      <a:pPr algn="ctr" fontAlgn="b"/>
                      <a:r>
                        <a:rPr lang="es-PE" sz="2400" u="none" strike="noStrike" dirty="0">
                          <a:solidFill>
                            <a:schemeClr val="bg1"/>
                          </a:solidFill>
                          <a:effectLst/>
                        </a:rPr>
                        <a:t> 4/3/1</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170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ctr" fontAlgn="b"/>
                      <a:r>
                        <a:rPr lang="es-PE" sz="2400" u="none" strike="noStrike" dirty="0">
                          <a:effectLst/>
                        </a:rPr>
                        <a:t>40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bg2">
                        <a:lumMod val="90000"/>
                      </a:schemeClr>
                    </a:solidFill>
                  </a:tcPr>
                </a:tc>
                <a:tc>
                  <a:txBody>
                    <a:bodyPr/>
                    <a:lstStyle/>
                    <a:p>
                      <a:pPr algn="ctr" fontAlgn="b"/>
                      <a:r>
                        <a:rPr lang="es-PE" sz="2400" u="none" strike="noStrike" dirty="0">
                          <a:effectLst/>
                        </a:rPr>
                        <a:t>350</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accent4">
                        <a:lumMod val="20000"/>
                        <a:lumOff val="80000"/>
                      </a:schemeClr>
                    </a:solidFill>
                  </a:tcPr>
                </a:tc>
                <a:tc>
                  <a:txBody>
                    <a:bodyPr/>
                    <a:lstStyle/>
                    <a:p>
                      <a:pPr algn="r" fontAlgn="b"/>
                      <a:r>
                        <a:rPr lang="es-PE" sz="2400" u="none" strike="noStrike">
                          <a:effectLst/>
                        </a:rPr>
                        <a:t>X13=1</a:t>
                      </a:r>
                      <a:endParaRPr lang="es-PE" sz="24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PE" sz="2400" u="none" strike="noStrike">
                          <a:effectLst/>
                        </a:rPr>
                        <a:t>C=1*420</a:t>
                      </a:r>
                      <a:endParaRPr lang="es-PE" sz="24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PE" sz="2400" u="none" strike="noStrike">
                          <a:effectLst/>
                        </a:rPr>
                        <a:t>420</a:t>
                      </a:r>
                      <a:endParaRPr lang="es-PE" sz="24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76705017"/>
                  </a:ext>
                </a:extLst>
              </a:tr>
              <a:tr h="537370">
                <a:tc>
                  <a:txBody>
                    <a:bodyPr/>
                    <a:lstStyle/>
                    <a:p>
                      <a:pPr algn="ctr" fontAlgn="b"/>
                      <a:r>
                        <a:rPr lang="es-PE" sz="2400" u="none" strike="noStrike" dirty="0">
                          <a:solidFill>
                            <a:schemeClr val="bg1"/>
                          </a:solidFill>
                          <a:effectLst/>
                        </a:rPr>
                        <a:t>Demanda</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 3/ 0</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 2/0</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1/0</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solidFill>
                            <a:schemeClr val="bg1"/>
                          </a:solidFill>
                          <a:effectLst/>
                        </a:rPr>
                        <a:t>1</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 </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 </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l" fontAlgn="b"/>
                      <a:r>
                        <a:rPr lang="es-PE" sz="2400" u="none" strike="noStrike" dirty="0">
                          <a:effectLst/>
                        </a:rPr>
                        <a:t> </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bg2">
                        <a:lumMod val="90000"/>
                      </a:schemeClr>
                    </a:solidFill>
                  </a:tcPr>
                </a:tc>
                <a:tc>
                  <a:txBody>
                    <a:bodyPr/>
                    <a:lstStyle/>
                    <a:p>
                      <a:pPr algn="ctr" fontAlgn="b"/>
                      <a:r>
                        <a:rPr lang="es-PE" sz="2400" u="none" strike="noStrike" dirty="0">
                          <a:effectLst/>
                        </a:rPr>
                        <a:t> </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4">
                        <a:lumMod val="20000"/>
                        <a:lumOff val="80000"/>
                      </a:schemeClr>
                    </a:solidFill>
                  </a:tcPr>
                </a:tc>
                <a:tc>
                  <a:txBody>
                    <a:bodyPr/>
                    <a:lstStyle/>
                    <a:p>
                      <a:pPr algn="r" fontAlgn="b"/>
                      <a:r>
                        <a:rPr lang="es-PE" sz="2400" u="none" strike="noStrike" dirty="0" err="1">
                          <a:effectLst/>
                        </a:rPr>
                        <a:t>X34</a:t>
                      </a:r>
                      <a:r>
                        <a:rPr lang="es-PE" sz="2400" u="none" strike="noStrike" dirty="0">
                          <a:effectLst/>
                        </a:rPr>
                        <a:t> =1</a:t>
                      </a:r>
                      <a:endParaRPr lang="es-PE" sz="24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s-PE" sz="2400" u="none" strike="noStrike" dirty="0">
                          <a:effectLst/>
                        </a:rPr>
                        <a:t>C=1*0</a:t>
                      </a:r>
                      <a:endParaRPr lang="es-PE" sz="2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PE" sz="2400" u="none" strike="noStrike" dirty="0">
                          <a:effectLst/>
                        </a:rPr>
                        <a:t>0</a:t>
                      </a:r>
                      <a:endParaRPr lang="es-PE" sz="24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67103495"/>
                  </a:ext>
                </a:extLst>
              </a:tr>
              <a:tr h="537370">
                <a:tc>
                  <a:txBody>
                    <a:bodyPr/>
                    <a:lstStyle/>
                    <a:p>
                      <a:pPr algn="ctr" fontAlgn="b"/>
                      <a:r>
                        <a:rPr lang="es-PE" sz="2400" u="none" strike="noStrike" dirty="0" err="1">
                          <a:solidFill>
                            <a:schemeClr val="bg1"/>
                          </a:solidFill>
                          <a:effectLst/>
                        </a:rPr>
                        <a:t>P1</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10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ctr" fontAlgn="b"/>
                      <a:r>
                        <a:rPr lang="es-PE" sz="2400" u="none" strike="noStrike" dirty="0">
                          <a:effectLst/>
                        </a:rPr>
                        <a:t>30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ctr" fontAlgn="b"/>
                      <a:r>
                        <a:rPr lang="es-PE" sz="2400" u="none" strike="noStrike" dirty="0">
                          <a:effectLst/>
                        </a:rPr>
                        <a:t>20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ctr" fontAlgn="b"/>
                      <a:r>
                        <a:rPr lang="es-PE" sz="2400" u="none" strike="noStrike" dirty="0">
                          <a:effectLst/>
                        </a:rPr>
                        <a:t>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ctr" fontAlgn="b"/>
                      <a:r>
                        <a:rPr lang="es-PE" sz="2400" u="none" strike="noStrike" dirty="0">
                          <a:effectLst/>
                        </a:rPr>
                        <a:t> </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ctr" fontAlgn="b"/>
                      <a:r>
                        <a:rPr lang="es-PE" sz="2400" u="none" strike="noStrike" dirty="0">
                          <a:effectLst/>
                        </a:rPr>
                        <a:t> </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accent1">
                        <a:lumMod val="60000"/>
                        <a:lumOff val="40000"/>
                      </a:schemeClr>
                    </a:solidFill>
                  </a:tcPr>
                </a:tc>
                <a:tc>
                  <a:txBody>
                    <a:bodyPr/>
                    <a:lstStyle/>
                    <a:p>
                      <a:pPr algn="l" fontAlgn="b"/>
                      <a:r>
                        <a:rPr lang="es-PE" sz="2400" u="none" strike="noStrike" dirty="0">
                          <a:effectLst/>
                        </a:rPr>
                        <a:t> </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bg2">
                        <a:lumMod val="90000"/>
                      </a:schemeClr>
                    </a:solidFill>
                  </a:tcPr>
                </a:tc>
                <a:tc>
                  <a:txBody>
                    <a:bodyPr/>
                    <a:lstStyle/>
                    <a:p>
                      <a:pPr algn="l" fontAlgn="b"/>
                      <a:r>
                        <a:rPr lang="es-PE" sz="2400" u="none" strike="noStrike" dirty="0">
                          <a:effectLst/>
                        </a:rPr>
                        <a:t> </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4">
                        <a:lumMod val="20000"/>
                        <a:lumOff val="80000"/>
                      </a:schemeClr>
                    </a:solidFill>
                  </a:tcPr>
                </a:tc>
                <a:tc>
                  <a:txBody>
                    <a:bodyPr/>
                    <a:lstStyle/>
                    <a:p>
                      <a:pPr algn="l" fontAlgn="b"/>
                      <a:endParaRPr lang="es-PE" sz="24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PE" sz="2400" b="1" u="none" strike="noStrike" dirty="0">
                          <a:solidFill>
                            <a:srgbClr val="FF0000"/>
                          </a:solidFill>
                          <a:effectLst/>
                        </a:rPr>
                        <a:t>2640</a:t>
                      </a:r>
                      <a:endParaRPr lang="es-PE" sz="2400" b="1" i="0" u="none" strike="noStrike" dirty="0">
                        <a:solidFill>
                          <a:srgbClr val="FF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59786258"/>
                  </a:ext>
                </a:extLst>
              </a:tr>
              <a:tr h="537370">
                <a:tc>
                  <a:txBody>
                    <a:bodyPr/>
                    <a:lstStyle/>
                    <a:p>
                      <a:pPr algn="ctr" fontAlgn="b"/>
                      <a:r>
                        <a:rPr lang="es-PE" sz="2400" u="none" strike="noStrike" dirty="0" err="1">
                          <a:solidFill>
                            <a:schemeClr val="bg1"/>
                          </a:solidFill>
                          <a:effectLst/>
                        </a:rPr>
                        <a:t>P2</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40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bg2">
                        <a:lumMod val="90000"/>
                      </a:schemeClr>
                    </a:solidFill>
                  </a:tcPr>
                </a:tc>
                <a:tc>
                  <a:txBody>
                    <a:bodyPr/>
                    <a:lstStyle/>
                    <a:p>
                      <a:pPr algn="ctr" fontAlgn="b"/>
                      <a:r>
                        <a:rPr lang="es-PE" sz="2400" u="none" strike="noStrike" dirty="0">
                          <a:effectLst/>
                        </a:rPr>
                        <a:t>30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bg2">
                        <a:lumMod val="90000"/>
                      </a:schemeClr>
                    </a:solidFill>
                  </a:tcPr>
                </a:tc>
                <a:tc>
                  <a:txBody>
                    <a:bodyPr/>
                    <a:lstStyle/>
                    <a:p>
                      <a:pPr algn="ctr" fontAlgn="b"/>
                      <a:r>
                        <a:rPr lang="es-PE" sz="2400" u="none" strike="noStrike" dirty="0">
                          <a:effectLst/>
                        </a:rPr>
                        <a:t>20</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bg2">
                        <a:lumMod val="90000"/>
                      </a:schemeClr>
                    </a:solidFill>
                  </a:tcPr>
                </a:tc>
                <a:tc>
                  <a:txBody>
                    <a:bodyPr/>
                    <a:lstStyle/>
                    <a:p>
                      <a:pPr algn="l" fontAlgn="b"/>
                      <a:r>
                        <a:rPr lang="es-PE" sz="2400" u="none" strike="noStrike" dirty="0">
                          <a:effectLst/>
                        </a:rPr>
                        <a:t> </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bg2">
                        <a:lumMod val="90000"/>
                      </a:schemeClr>
                    </a:solidFill>
                  </a:tcPr>
                </a:tc>
                <a:tc>
                  <a:txBody>
                    <a:bodyPr/>
                    <a:lstStyle/>
                    <a:p>
                      <a:pPr algn="l" fontAlgn="b"/>
                      <a:r>
                        <a:rPr lang="es-PE" sz="2400" u="none" strike="noStrike" dirty="0">
                          <a:effectLst/>
                        </a:rPr>
                        <a:t> </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bg2">
                        <a:lumMod val="90000"/>
                      </a:schemeClr>
                    </a:solidFill>
                  </a:tcPr>
                </a:tc>
                <a:tc>
                  <a:txBody>
                    <a:bodyPr/>
                    <a:lstStyle/>
                    <a:p>
                      <a:pPr algn="l" fontAlgn="b"/>
                      <a:r>
                        <a:rPr lang="es-PE" sz="2400" u="none" strike="noStrike" dirty="0">
                          <a:effectLst/>
                        </a:rPr>
                        <a:t> </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bg2">
                        <a:lumMod val="90000"/>
                      </a:schemeClr>
                    </a:solidFill>
                  </a:tcPr>
                </a:tc>
                <a:tc>
                  <a:txBody>
                    <a:bodyPr/>
                    <a:lstStyle/>
                    <a:p>
                      <a:pPr algn="l" fontAlgn="b"/>
                      <a:r>
                        <a:rPr lang="es-PE" sz="2400" u="none" strike="noStrike" dirty="0">
                          <a:effectLst/>
                        </a:rPr>
                        <a:t> </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bg2">
                        <a:lumMod val="90000"/>
                      </a:schemeClr>
                    </a:solidFill>
                  </a:tcPr>
                </a:tc>
                <a:tc>
                  <a:txBody>
                    <a:bodyPr/>
                    <a:lstStyle/>
                    <a:p>
                      <a:pPr algn="l" fontAlgn="b"/>
                      <a:r>
                        <a:rPr lang="es-PE" sz="2400" u="none" strike="noStrike" dirty="0">
                          <a:effectLst/>
                        </a:rPr>
                        <a:t> </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4">
                        <a:lumMod val="20000"/>
                        <a:lumOff val="80000"/>
                      </a:schemeClr>
                    </a:solidFill>
                  </a:tcPr>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50095570"/>
                  </a:ext>
                </a:extLst>
              </a:tr>
              <a:tr h="537370">
                <a:tc>
                  <a:txBody>
                    <a:bodyPr/>
                    <a:lstStyle/>
                    <a:p>
                      <a:pPr algn="ctr" fontAlgn="b"/>
                      <a:r>
                        <a:rPr lang="es-PE" sz="2400" u="none" strike="noStrike" dirty="0" err="1">
                          <a:solidFill>
                            <a:schemeClr val="bg1"/>
                          </a:solidFill>
                          <a:effectLst/>
                        </a:rPr>
                        <a:t>P3</a:t>
                      </a:r>
                      <a:endParaRPr lang="es-PE" sz="2400" b="1" i="0" u="none" strike="noStrike" dirty="0">
                        <a:solidFill>
                          <a:schemeClr val="bg1"/>
                        </a:solidFill>
                        <a:effectLst/>
                        <a:latin typeface="Calibri" panose="020F0502020204030204" pitchFamily="34" charset="0"/>
                      </a:endParaRPr>
                    </a:p>
                  </a:txBody>
                  <a:tcPr marL="9525" marR="9525" marT="9525" marB="0" anchor="b">
                    <a:solidFill>
                      <a:schemeClr val="accent1">
                        <a:lumMod val="50000"/>
                      </a:schemeClr>
                    </a:solidFill>
                  </a:tcPr>
                </a:tc>
                <a:tc>
                  <a:txBody>
                    <a:bodyPr/>
                    <a:lstStyle/>
                    <a:p>
                      <a:pPr algn="ctr" fontAlgn="b"/>
                      <a:r>
                        <a:rPr lang="es-PE" sz="2400" u="none" strike="noStrike" dirty="0">
                          <a:effectLst/>
                        </a:rPr>
                        <a:t>-</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4">
                        <a:lumMod val="20000"/>
                        <a:lumOff val="80000"/>
                      </a:schemeClr>
                    </a:solidFill>
                  </a:tcPr>
                </a:tc>
                <a:tc>
                  <a:txBody>
                    <a:bodyPr/>
                    <a:lstStyle/>
                    <a:p>
                      <a:pPr algn="ctr" fontAlgn="b"/>
                      <a:r>
                        <a:rPr lang="es-PE" sz="2400" u="none" strike="noStrike" dirty="0">
                          <a:effectLst/>
                        </a:rPr>
                        <a:t> </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4">
                        <a:lumMod val="20000"/>
                        <a:lumOff val="80000"/>
                      </a:schemeClr>
                    </a:solidFill>
                  </a:tcPr>
                </a:tc>
                <a:tc>
                  <a:txBody>
                    <a:bodyPr/>
                    <a:lstStyle/>
                    <a:p>
                      <a:pPr algn="ctr" fontAlgn="b"/>
                      <a:r>
                        <a:rPr lang="es-PE" sz="2400" u="none" strike="noStrike" dirty="0">
                          <a:effectLst/>
                        </a:rPr>
                        <a:t>70</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accent4">
                        <a:lumMod val="20000"/>
                        <a:lumOff val="80000"/>
                      </a:schemeClr>
                    </a:solidFill>
                  </a:tcPr>
                </a:tc>
                <a:tc>
                  <a:txBody>
                    <a:bodyPr/>
                    <a:lstStyle/>
                    <a:p>
                      <a:pPr algn="ctr" fontAlgn="b"/>
                      <a:r>
                        <a:rPr lang="es-PE" sz="2400" u="none" strike="noStrike" dirty="0">
                          <a:effectLst/>
                        </a:rPr>
                        <a:t>0</a:t>
                      </a:r>
                      <a:endParaRPr lang="es-PE" sz="2400" b="1" i="0" u="none" strike="noStrike" dirty="0">
                        <a:solidFill>
                          <a:srgbClr val="FF0000"/>
                        </a:solidFill>
                        <a:effectLst/>
                        <a:latin typeface="Calibri" panose="020F0502020204030204" pitchFamily="34" charset="0"/>
                      </a:endParaRPr>
                    </a:p>
                  </a:txBody>
                  <a:tcPr marL="9525" marR="9525" marT="9525" marB="0" anchor="b">
                    <a:solidFill>
                      <a:schemeClr val="accent4">
                        <a:lumMod val="20000"/>
                        <a:lumOff val="80000"/>
                      </a:schemeClr>
                    </a:solidFill>
                  </a:tcPr>
                </a:tc>
                <a:tc>
                  <a:txBody>
                    <a:bodyPr/>
                    <a:lstStyle/>
                    <a:p>
                      <a:pPr algn="ctr" fontAlgn="b"/>
                      <a:r>
                        <a:rPr lang="es-PE" sz="2400" u="none" strike="noStrike" dirty="0">
                          <a:effectLst/>
                        </a:rPr>
                        <a:t> </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4">
                        <a:lumMod val="20000"/>
                        <a:lumOff val="80000"/>
                      </a:schemeClr>
                    </a:solidFill>
                  </a:tcPr>
                </a:tc>
                <a:tc>
                  <a:txBody>
                    <a:bodyPr/>
                    <a:lstStyle/>
                    <a:p>
                      <a:pPr algn="l" fontAlgn="b"/>
                      <a:r>
                        <a:rPr lang="es-PE" sz="2400" u="none" strike="noStrike" dirty="0">
                          <a:effectLst/>
                        </a:rPr>
                        <a:t> </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4">
                        <a:lumMod val="20000"/>
                        <a:lumOff val="80000"/>
                      </a:schemeClr>
                    </a:solidFill>
                  </a:tcPr>
                </a:tc>
                <a:tc>
                  <a:txBody>
                    <a:bodyPr/>
                    <a:lstStyle/>
                    <a:p>
                      <a:pPr algn="l" fontAlgn="b"/>
                      <a:r>
                        <a:rPr lang="es-PE" sz="2400" u="none" strike="noStrike" dirty="0">
                          <a:effectLst/>
                        </a:rPr>
                        <a:t> </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4">
                        <a:lumMod val="20000"/>
                        <a:lumOff val="80000"/>
                      </a:schemeClr>
                    </a:solidFill>
                  </a:tcPr>
                </a:tc>
                <a:tc>
                  <a:txBody>
                    <a:bodyPr/>
                    <a:lstStyle/>
                    <a:p>
                      <a:pPr algn="l" fontAlgn="b"/>
                      <a:r>
                        <a:rPr lang="es-PE" sz="2400" u="none" strike="noStrike" dirty="0">
                          <a:effectLst/>
                        </a:rPr>
                        <a:t> </a:t>
                      </a:r>
                      <a:endParaRPr lang="es-PE" sz="2400" b="1" i="0" u="none" strike="noStrike" dirty="0">
                        <a:solidFill>
                          <a:srgbClr val="000000"/>
                        </a:solidFill>
                        <a:effectLst/>
                        <a:latin typeface="Calibri" panose="020F0502020204030204" pitchFamily="34" charset="0"/>
                      </a:endParaRPr>
                    </a:p>
                  </a:txBody>
                  <a:tcPr marL="9525" marR="9525" marT="9525" marB="0" anchor="b">
                    <a:solidFill>
                      <a:schemeClr val="accent4">
                        <a:lumMod val="20000"/>
                        <a:lumOff val="80000"/>
                      </a:schemeClr>
                    </a:solidFill>
                  </a:tcPr>
                </a:tc>
                <a:tc>
                  <a:txBody>
                    <a:bodyPr/>
                    <a:lstStyle/>
                    <a:p>
                      <a:pPr algn="l" fontAlgn="b"/>
                      <a:endParaRPr lang="es-PE" sz="2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PE" sz="2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52053216"/>
                  </a:ext>
                </a:extLst>
              </a:tr>
            </a:tbl>
          </a:graphicData>
        </a:graphic>
      </p:graphicFrame>
      <p:graphicFrame>
        <p:nvGraphicFramePr>
          <p:cNvPr id="3" name="2 Tabla">
            <a:extLst>
              <a:ext uri="{FF2B5EF4-FFF2-40B4-BE49-F238E27FC236}">
                <a16:creationId xmlns:a16="http://schemas.microsoft.com/office/drawing/2014/main" id="{461F7F7E-F813-4E61-AE7B-D930DEDA9C82}"/>
              </a:ext>
            </a:extLst>
          </p:cNvPr>
          <p:cNvGraphicFramePr>
            <a:graphicFrameLocks noGrp="1"/>
          </p:cNvGraphicFramePr>
          <p:nvPr/>
        </p:nvGraphicFramePr>
        <p:xfrm>
          <a:off x="8232718" y="1352793"/>
          <a:ext cx="3744416" cy="314325"/>
        </p:xfrm>
        <a:graphic>
          <a:graphicData uri="http://schemas.openxmlformats.org/drawingml/2006/table">
            <a:tbl>
              <a:tblPr>
                <a:tableStyleId>{5C22544A-7EE6-4342-B048-85BDC9FD1C3A}</a:tableStyleId>
              </a:tblPr>
              <a:tblGrid>
                <a:gridCol w="3744416">
                  <a:extLst>
                    <a:ext uri="{9D8B030D-6E8A-4147-A177-3AD203B41FA5}">
                      <a16:colId xmlns:a16="http://schemas.microsoft.com/office/drawing/2014/main" val="20000"/>
                    </a:ext>
                  </a:extLst>
                </a:gridCol>
              </a:tblGrid>
              <a:tr h="190500">
                <a:tc>
                  <a:txBody>
                    <a:bodyPr/>
                    <a:lstStyle/>
                    <a:p>
                      <a:pPr algn="l" fontAlgn="b"/>
                      <a:r>
                        <a:rPr lang="es-PE" sz="2000" u="none" strike="noStrike" dirty="0">
                          <a:solidFill>
                            <a:srgbClr val="FF0000"/>
                          </a:solidFill>
                          <a:effectLst/>
                        </a:rPr>
                        <a:t>Mayor Penalidad Menor costo</a:t>
                      </a:r>
                      <a:endParaRPr lang="es-PE" sz="2000" b="1" i="0" u="none" strike="noStrike" dirty="0">
                        <a:solidFill>
                          <a:srgbClr val="FF0000"/>
                        </a:solidFill>
                        <a:effectLst/>
                        <a:latin typeface="Calibri"/>
                      </a:endParaRPr>
                    </a:p>
                  </a:txBody>
                  <a:tcPr marL="9525" marR="9525" marT="9525" marB="0" anchor="b"/>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3663539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ustomShape 8"/>
          <p:cNvSpPr/>
          <p:nvPr/>
        </p:nvSpPr>
        <p:spPr>
          <a:xfrm>
            <a:off x="9878350" y="2933570"/>
            <a:ext cx="297924"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grpSp>
        <p:nvGrpSpPr>
          <p:cNvPr id="2" name="1 Grupo"/>
          <p:cNvGrpSpPr/>
          <p:nvPr/>
        </p:nvGrpSpPr>
        <p:grpSpPr>
          <a:xfrm>
            <a:off x="6071819" y="1221522"/>
            <a:ext cx="5811649" cy="4854036"/>
            <a:chOff x="395536" y="1346244"/>
            <a:chExt cx="8075966" cy="4854036"/>
          </a:xfrm>
        </p:grpSpPr>
        <p:grpSp>
          <p:nvGrpSpPr>
            <p:cNvPr id="3" name="Group 1"/>
            <p:cNvGrpSpPr/>
            <p:nvPr/>
          </p:nvGrpSpPr>
          <p:grpSpPr>
            <a:xfrm>
              <a:off x="395536" y="1346244"/>
              <a:ext cx="8075966" cy="4854036"/>
              <a:chOff x="395536" y="1346244"/>
              <a:chExt cx="8075966" cy="4854036"/>
            </a:xfrm>
          </p:grpSpPr>
          <p:sp>
            <p:nvSpPr>
              <p:cNvPr id="10" name="CustomShape 2"/>
              <p:cNvSpPr/>
              <p:nvPr/>
            </p:nvSpPr>
            <p:spPr>
              <a:xfrm>
                <a:off x="500040" y="2023200"/>
                <a:ext cx="1910880" cy="63936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a:lnSpc>
                    <a:spcPct val="100000"/>
                  </a:lnSpc>
                </a:pPr>
                <a:r>
                  <a:rPr lang="es-PE" b="1" i="1" spc="-1" dirty="0">
                    <a:solidFill>
                      <a:schemeClr val="bg2">
                        <a:lumMod val="25000"/>
                      </a:schemeClr>
                    </a:solidFill>
                    <a:latin typeface="Arial"/>
                    <a:ea typeface="ＭＳ 明朝"/>
                  </a:rPr>
                  <a:t>A</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(750)</a:t>
                </a:r>
                <a:endParaRPr lang="es-PE" spc="-1" dirty="0">
                  <a:solidFill>
                    <a:schemeClr val="bg2">
                      <a:lumMod val="25000"/>
                    </a:schemeClr>
                  </a:solidFill>
                  <a:latin typeface="Arial"/>
                </a:endParaRPr>
              </a:p>
            </p:txBody>
          </p:sp>
          <p:sp>
            <p:nvSpPr>
              <p:cNvPr id="11" name="CustomShape 3"/>
              <p:cNvSpPr/>
              <p:nvPr/>
            </p:nvSpPr>
            <p:spPr>
              <a:xfrm>
                <a:off x="495600" y="3844080"/>
                <a:ext cx="1731960" cy="63936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a:lnSpc>
                    <a:spcPct val="100000"/>
                  </a:lnSpc>
                </a:pPr>
                <a:r>
                  <a:rPr lang="es-PE" sz="1100" b="1" i="1" spc="-1" dirty="0">
                    <a:solidFill>
                      <a:schemeClr val="bg2">
                        <a:lumMod val="25000"/>
                      </a:schemeClr>
                    </a:solidFill>
                    <a:latin typeface="Arial"/>
                    <a:ea typeface="ＭＳ 明朝"/>
                  </a:rPr>
                  <a:t>  </a:t>
                </a:r>
                <a:r>
                  <a:rPr lang="es-PE" b="1" i="1" spc="-1" dirty="0">
                    <a:solidFill>
                      <a:schemeClr val="bg2">
                        <a:lumMod val="25000"/>
                      </a:schemeClr>
                    </a:solidFill>
                    <a:latin typeface="Arial"/>
                    <a:ea typeface="ＭＳ 明朝"/>
                  </a:rPr>
                  <a:t>B</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(350)</a:t>
                </a:r>
                <a:endParaRPr lang="es-PE" spc="-1" dirty="0">
                  <a:solidFill>
                    <a:schemeClr val="bg2">
                      <a:lumMod val="25000"/>
                    </a:schemeClr>
                  </a:solidFill>
                  <a:latin typeface="Arial"/>
                </a:endParaRPr>
              </a:p>
            </p:txBody>
          </p:sp>
          <p:grpSp>
            <p:nvGrpSpPr>
              <p:cNvPr id="12" name="Group 4"/>
              <p:cNvGrpSpPr/>
              <p:nvPr/>
            </p:nvGrpSpPr>
            <p:grpSpPr>
              <a:xfrm>
                <a:off x="395536" y="1346244"/>
                <a:ext cx="8075966" cy="4854036"/>
                <a:chOff x="395536" y="1346244"/>
                <a:chExt cx="8075966" cy="4854036"/>
              </a:xfrm>
            </p:grpSpPr>
            <p:sp>
              <p:nvSpPr>
                <p:cNvPr id="13" name="CustomShape 5"/>
                <p:cNvSpPr/>
                <p:nvPr/>
              </p:nvSpPr>
              <p:spPr>
                <a:xfrm>
                  <a:off x="2286000" y="387468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4" name="CustomShape 6"/>
                <p:cNvSpPr/>
                <p:nvPr/>
              </p:nvSpPr>
              <p:spPr>
                <a:xfrm>
                  <a:off x="5705522" y="200628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5" name="CustomShape 7"/>
                <p:cNvSpPr/>
                <p:nvPr/>
              </p:nvSpPr>
              <p:spPr>
                <a:xfrm>
                  <a:off x="2286000" y="205344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6" name="CustomShape 8"/>
                <p:cNvSpPr/>
                <p:nvPr/>
              </p:nvSpPr>
              <p:spPr>
                <a:xfrm>
                  <a:off x="5643720" y="402624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7" name="CustomShape 9"/>
                <p:cNvSpPr/>
                <p:nvPr/>
              </p:nvSpPr>
              <p:spPr>
                <a:xfrm>
                  <a:off x="5715000" y="5715000"/>
                  <a:ext cx="414000"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8" name="Line 10"/>
                <p:cNvSpPr/>
                <p:nvPr/>
              </p:nvSpPr>
              <p:spPr>
                <a:xfrm flipV="1">
                  <a:off x="2666171" y="2143302"/>
                  <a:ext cx="3053418" cy="18859"/>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19" name="Line 11"/>
                <p:cNvSpPr/>
                <p:nvPr/>
              </p:nvSpPr>
              <p:spPr>
                <a:xfrm>
                  <a:off x="2710740" y="2376216"/>
                  <a:ext cx="2969300" cy="1758356"/>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20" name="Line 12"/>
                <p:cNvSpPr/>
                <p:nvPr/>
              </p:nvSpPr>
              <p:spPr>
                <a:xfrm>
                  <a:off x="2643119" y="2500200"/>
                  <a:ext cx="3160373" cy="3240318"/>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21" name="Line 13"/>
                <p:cNvSpPr/>
                <p:nvPr/>
              </p:nvSpPr>
              <p:spPr>
                <a:xfrm flipV="1">
                  <a:off x="2714398" y="2333084"/>
                  <a:ext cx="3017171" cy="1693156"/>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22" name="Line 14"/>
                <p:cNvSpPr/>
                <p:nvPr/>
              </p:nvSpPr>
              <p:spPr>
                <a:xfrm>
                  <a:off x="2714400" y="4177800"/>
                  <a:ext cx="2928960" cy="48600"/>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23" name="Line 15"/>
                <p:cNvSpPr/>
                <p:nvPr/>
              </p:nvSpPr>
              <p:spPr>
                <a:xfrm>
                  <a:off x="2643120" y="4329720"/>
                  <a:ext cx="3071880" cy="1527840"/>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24" name="CustomShape 16"/>
                <p:cNvSpPr/>
                <p:nvPr/>
              </p:nvSpPr>
              <p:spPr>
                <a:xfrm>
                  <a:off x="1400040" y="1346244"/>
                  <a:ext cx="1535649" cy="429433"/>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a:lnSpc>
                      <a:spcPct val="100000"/>
                    </a:lnSpc>
                  </a:pPr>
                  <a:r>
                    <a:rPr lang="es-PE" sz="1100" b="1" i="1" spc="-1">
                      <a:solidFill>
                        <a:schemeClr val="bg2">
                          <a:lumMod val="25000"/>
                        </a:schemeClr>
                      </a:solidFill>
                      <a:latin typeface="Arial"/>
                      <a:ea typeface="ＭＳ 明朝"/>
                    </a:rPr>
                    <a:t>	</a:t>
                  </a:r>
                  <a:endParaRPr lang="es-PE" sz="1100" spc="-1">
                    <a:solidFill>
                      <a:schemeClr val="bg2">
                        <a:lumMod val="25000"/>
                      </a:schemeClr>
                    </a:solidFill>
                    <a:latin typeface="Arial"/>
                  </a:endParaRPr>
                </a:p>
                <a:p>
                  <a:pPr>
                    <a:lnSpc>
                      <a:spcPct val="100000"/>
                    </a:lnSpc>
                  </a:pPr>
                  <a:endParaRPr lang="es-PE" sz="1100" spc="-1">
                    <a:solidFill>
                      <a:schemeClr val="bg2">
                        <a:lumMod val="25000"/>
                      </a:schemeClr>
                    </a:solidFill>
                    <a:latin typeface="Arial"/>
                  </a:endParaRPr>
                </a:p>
              </p:txBody>
            </p:sp>
            <p:sp>
              <p:nvSpPr>
                <p:cNvPr id="25" name="CustomShape 17"/>
                <p:cNvSpPr/>
                <p:nvPr/>
              </p:nvSpPr>
              <p:spPr>
                <a:xfrm>
                  <a:off x="3214799" y="1819088"/>
                  <a:ext cx="1035719" cy="398655"/>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nSpc>
                      <a:spcPct val="100000"/>
                    </a:lnSpc>
                  </a:pPr>
                  <a:r>
                    <a:rPr lang="es-PE" sz="2000" b="1" spc="-1" dirty="0" err="1">
                      <a:solidFill>
                        <a:schemeClr val="bg2">
                          <a:lumMod val="25000"/>
                        </a:schemeClr>
                      </a:solidFill>
                      <a:latin typeface="Arial"/>
                      <a:ea typeface="ＭＳ 明朝"/>
                    </a:rPr>
                    <a:t>X11</a:t>
                  </a:r>
                  <a:endParaRPr lang="es-PE" sz="2000" spc="-1" dirty="0">
                    <a:solidFill>
                      <a:schemeClr val="bg2">
                        <a:lumMod val="25000"/>
                      </a:schemeClr>
                    </a:solidFill>
                    <a:latin typeface="Arial"/>
                  </a:endParaRPr>
                </a:p>
              </p:txBody>
            </p:sp>
            <p:sp>
              <p:nvSpPr>
                <p:cNvPr id="28" name="CustomShape 20"/>
                <p:cNvSpPr/>
                <p:nvPr/>
              </p:nvSpPr>
              <p:spPr>
                <a:xfrm>
                  <a:off x="6203076" y="1948085"/>
                  <a:ext cx="2268426" cy="644877"/>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ES" b="1" i="1" spc="-1" dirty="0">
                      <a:solidFill>
                        <a:schemeClr val="bg2">
                          <a:lumMod val="25000"/>
                        </a:schemeClr>
                      </a:solidFill>
                      <a:latin typeface="Arial"/>
                    </a:rPr>
                    <a:t>Almacén 1</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(400)</a:t>
                  </a:r>
                  <a:endParaRPr lang="es-PE" spc="-1" dirty="0">
                    <a:solidFill>
                      <a:schemeClr val="bg2">
                        <a:lumMod val="25000"/>
                      </a:schemeClr>
                    </a:solidFill>
                    <a:latin typeface="Arial"/>
                  </a:endParaRPr>
                </a:p>
              </p:txBody>
            </p:sp>
            <p:sp>
              <p:nvSpPr>
                <p:cNvPr id="29" name="CustomShape 21"/>
                <p:cNvSpPr/>
                <p:nvPr/>
              </p:nvSpPr>
              <p:spPr>
                <a:xfrm>
                  <a:off x="395536" y="1442882"/>
                  <a:ext cx="7992888" cy="67068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80000"/>
                    </a:lnSpc>
                  </a:pPr>
                  <a:r>
                    <a:rPr lang="es-PE" sz="2800" b="1" spc="-1" dirty="0">
                      <a:solidFill>
                        <a:schemeClr val="bg2">
                          <a:lumMod val="25000"/>
                        </a:schemeClr>
                      </a:solidFill>
                      <a:latin typeface="Arial Narrow" pitchFamily="34" charset="0"/>
                    </a:rPr>
                    <a:t>Origen 	        Destino </a:t>
                  </a:r>
                  <a:br>
                    <a:rPr lang="es-PE" dirty="0">
                      <a:solidFill>
                        <a:schemeClr val="bg2">
                          <a:lumMod val="25000"/>
                        </a:schemeClr>
                      </a:solidFill>
                      <a:latin typeface="Arial Narrow" pitchFamily="34" charset="0"/>
                    </a:rPr>
                  </a:br>
                  <a:r>
                    <a:rPr lang="es-PE" sz="2800" b="1" spc="-1" dirty="0">
                      <a:solidFill>
                        <a:schemeClr val="bg2">
                          <a:lumMod val="25000"/>
                        </a:schemeClr>
                      </a:solidFill>
                      <a:latin typeface="Arial Narrow" pitchFamily="34" charset="0"/>
                    </a:rPr>
                    <a:t>	</a:t>
                  </a:r>
                  <a:endParaRPr lang="es-PE" sz="2800" spc="-1" dirty="0">
                    <a:solidFill>
                      <a:schemeClr val="bg2">
                        <a:lumMod val="25000"/>
                      </a:schemeClr>
                    </a:solidFill>
                    <a:latin typeface="Arial Narrow" pitchFamily="34" charset="0"/>
                  </a:endParaRPr>
                </a:p>
              </p:txBody>
            </p:sp>
            <p:sp>
              <p:nvSpPr>
                <p:cNvPr id="30" name="CustomShape 22"/>
                <p:cNvSpPr/>
                <p:nvPr/>
              </p:nvSpPr>
              <p:spPr>
                <a:xfrm>
                  <a:off x="3197315" y="2183147"/>
                  <a:ext cx="1135781" cy="398655"/>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r>
                    <a:rPr lang="es-PE" sz="2000" b="1" spc="-1" dirty="0" err="1">
                      <a:solidFill>
                        <a:schemeClr val="bg2">
                          <a:lumMod val="25000"/>
                        </a:schemeClr>
                      </a:solidFill>
                      <a:latin typeface="Arial"/>
                      <a:ea typeface="ＭＳ 明朝"/>
                    </a:rPr>
                    <a:t>X12</a:t>
                  </a:r>
                  <a:endParaRPr lang="es-PE" sz="2000" b="1" spc="-1" dirty="0">
                    <a:solidFill>
                      <a:schemeClr val="bg2">
                        <a:lumMod val="25000"/>
                      </a:schemeClr>
                    </a:solidFill>
                    <a:latin typeface="Arial"/>
                    <a:ea typeface="ＭＳ 明朝"/>
                  </a:endParaRPr>
                </a:p>
              </p:txBody>
            </p:sp>
            <p:sp>
              <p:nvSpPr>
                <p:cNvPr id="32" name="CustomShape 24"/>
                <p:cNvSpPr/>
                <p:nvPr/>
              </p:nvSpPr>
              <p:spPr>
                <a:xfrm>
                  <a:off x="2346120" y="2053440"/>
                  <a:ext cx="392732"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1</a:t>
                  </a:r>
                  <a:endParaRPr lang="es-PE" sz="2000" spc="-1">
                    <a:solidFill>
                      <a:schemeClr val="bg2">
                        <a:lumMod val="25000"/>
                      </a:schemeClr>
                    </a:solidFill>
                    <a:latin typeface="Arial"/>
                  </a:endParaRPr>
                </a:p>
              </p:txBody>
            </p:sp>
            <p:sp>
              <p:nvSpPr>
                <p:cNvPr id="33" name="CustomShape 25"/>
                <p:cNvSpPr/>
                <p:nvPr/>
              </p:nvSpPr>
              <p:spPr>
                <a:xfrm>
                  <a:off x="5696820" y="3121674"/>
                  <a:ext cx="419463"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dirty="0">
                      <a:solidFill>
                        <a:schemeClr val="bg2">
                          <a:lumMod val="25000"/>
                        </a:schemeClr>
                      </a:solidFill>
                      <a:latin typeface="Garamond"/>
                    </a:rPr>
                    <a:t>2</a:t>
                  </a:r>
                  <a:endParaRPr lang="es-PE" sz="2000" spc="-1" dirty="0">
                    <a:solidFill>
                      <a:schemeClr val="bg2">
                        <a:lumMod val="25000"/>
                      </a:schemeClr>
                    </a:solidFill>
                    <a:latin typeface="Arial"/>
                  </a:endParaRPr>
                </a:p>
              </p:txBody>
            </p:sp>
            <p:sp>
              <p:nvSpPr>
                <p:cNvPr id="34" name="CustomShape 26"/>
                <p:cNvSpPr/>
                <p:nvPr/>
              </p:nvSpPr>
              <p:spPr>
                <a:xfrm>
                  <a:off x="2355841" y="3950280"/>
                  <a:ext cx="419463"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chemeClr val="bg2">
                          <a:lumMod val="25000"/>
                        </a:schemeClr>
                      </a:solidFill>
                      <a:latin typeface="Garamond"/>
                    </a:rPr>
                    <a:t>2</a:t>
                  </a:r>
                  <a:endParaRPr lang="es-PE" sz="2000" spc="-1">
                    <a:solidFill>
                      <a:schemeClr val="bg2">
                        <a:lumMod val="25000"/>
                      </a:schemeClr>
                    </a:solidFill>
                    <a:latin typeface="Arial"/>
                  </a:endParaRPr>
                </a:p>
              </p:txBody>
            </p:sp>
            <p:sp>
              <p:nvSpPr>
                <p:cNvPr id="35" name="CustomShape 27"/>
                <p:cNvSpPr/>
                <p:nvPr/>
              </p:nvSpPr>
              <p:spPr>
                <a:xfrm>
                  <a:off x="5727988" y="2019600"/>
                  <a:ext cx="392732"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dirty="0">
                      <a:solidFill>
                        <a:schemeClr val="bg2">
                          <a:lumMod val="25000"/>
                        </a:schemeClr>
                      </a:solidFill>
                      <a:latin typeface="Garamond"/>
                    </a:rPr>
                    <a:t>1</a:t>
                  </a:r>
                  <a:endParaRPr lang="es-PE" sz="2000" spc="-1" dirty="0">
                    <a:solidFill>
                      <a:schemeClr val="bg2">
                        <a:lumMod val="25000"/>
                      </a:schemeClr>
                    </a:solidFill>
                    <a:latin typeface="Arial"/>
                  </a:endParaRPr>
                </a:p>
              </p:txBody>
            </p:sp>
            <p:sp>
              <p:nvSpPr>
                <p:cNvPr id="36" name="CustomShape 28"/>
                <p:cNvSpPr/>
                <p:nvPr/>
              </p:nvSpPr>
              <p:spPr>
                <a:xfrm>
                  <a:off x="5784839" y="5786280"/>
                  <a:ext cx="419463"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dirty="0">
                      <a:solidFill>
                        <a:schemeClr val="bg2">
                          <a:lumMod val="25000"/>
                        </a:schemeClr>
                      </a:solidFill>
                      <a:latin typeface="Garamond"/>
                    </a:rPr>
                    <a:t>5</a:t>
                  </a:r>
                  <a:endParaRPr lang="es-PE" sz="2000" spc="-1" dirty="0">
                    <a:solidFill>
                      <a:schemeClr val="bg2">
                        <a:lumMod val="25000"/>
                      </a:schemeClr>
                    </a:solidFill>
                    <a:latin typeface="Arial"/>
                  </a:endParaRPr>
                </a:p>
              </p:txBody>
            </p:sp>
          </p:grpSp>
        </p:grpSp>
        <p:sp>
          <p:nvSpPr>
            <p:cNvPr id="4" name="CustomShape 29"/>
            <p:cNvSpPr/>
            <p:nvPr/>
          </p:nvSpPr>
          <p:spPr>
            <a:xfrm>
              <a:off x="2357280" y="5715000"/>
              <a:ext cx="414000" cy="45684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5" name="CustomShape 30"/>
            <p:cNvSpPr/>
            <p:nvPr/>
          </p:nvSpPr>
          <p:spPr>
            <a:xfrm>
              <a:off x="2427479" y="5786280"/>
              <a:ext cx="419463"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a:solidFill>
                    <a:srgbClr val="FF0000"/>
                  </a:solidFill>
                  <a:latin typeface="Garamond"/>
                </a:rPr>
                <a:t>3</a:t>
              </a:r>
              <a:endParaRPr lang="es-PE" sz="2000" spc="-1">
                <a:latin typeface="Arial"/>
              </a:endParaRPr>
            </a:p>
          </p:txBody>
        </p:sp>
        <p:sp>
          <p:nvSpPr>
            <p:cNvPr id="6" name="CustomShape 31"/>
            <p:cNvSpPr/>
            <p:nvPr/>
          </p:nvSpPr>
          <p:spPr>
            <a:xfrm>
              <a:off x="500039" y="5450161"/>
              <a:ext cx="1904049" cy="644877"/>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r>
                <a:rPr lang="es-PE" b="1" i="1" spc="-1" dirty="0">
                  <a:solidFill>
                    <a:schemeClr val="bg2">
                      <a:lumMod val="25000"/>
                    </a:schemeClr>
                  </a:solidFill>
                  <a:latin typeface="Arial"/>
                  <a:ea typeface="ＭＳ 明朝"/>
                </a:rPr>
                <a:t>C</a:t>
              </a:r>
            </a:p>
            <a:p>
              <a:pPr algn="ctr"/>
              <a:r>
                <a:rPr lang="es-PE" b="1" i="1" spc="-1" dirty="0">
                  <a:solidFill>
                    <a:schemeClr val="bg2">
                      <a:lumMod val="25000"/>
                    </a:schemeClr>
                  </a:solidFill>
                  <a:latin typeface="Arial"/>
                  <a:ea typeface="ＭＳ 明朝"/>
                </a:rPr>
                <a:t>(400)</a:t>
              </a:r>
            </a:p>
          </p:txBody>
        </p:sp>
        <p:sp>
          <p:nvSpPr>
            <p:cNvPr id="7" name="Line 32"/>
            <p:cNvSpPr/>
            <p:nvPr/>
          </p:nvSpPr>
          <p:spPr>
            <a:xfrm flipV="1">
              <a:off x="2643120" y="2462480"/>
              <a:ext cx="3160374" cy="3252520"/>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8" name="Line 33"/>
            <p:cNvSpPr/>
            <p:nvPr/>
          </p:nvSpPr>
          <p:spPr>
            <a:xfrm flipV="1">
              <a:off x="2770679" y="4357440"/>
              <a:ext cx="2944322" cy="1503848"/>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9" name="Line 34"/>
            <p:cNvSpPr/>
            <p:nvPr/>
          </p:nvSpPr>
          <p:spPr>
            <a:xfrm>
              <a:off x="2786040" y="5983920"/>
              <a:ext cx="2928961" cy="0"/>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grpSp>
      <p:sp>
        <p:nvSpPr>
          <p:cNvPr id="37" name="36 CuadroTexto"/>
          <p:cNvSpPr txBox="1"/>
          <p:nvPr/>
        </p:nvSpPr>
        <p:spPr>
          <a:xfrm>
            <a:off x="6951765" y="6488668"/>
            <a:ext cx="4322960" cy="369332"/>
          </a:xfrm>
          <a:prstGeom prst="rect">
            <a:avLst/>
          </a:prstGeom>
          <a:noFill/>
        </p:spPr>
        <p:txBody>
          <a:bodyPr wrap="square" rtlCol="0">
            <a:spAutoFit/>
          </a:bodyPr>
          <a:lstStyle/>
          <a:p>
            <a:r>
              <a:rPr lang="es-ES" dirty="0"/>
              <a:t>El problema de transporte </a:t>
            </a:r>
            <a:r>
              <a:rPr lang="es-ES" b="1" dirty="0"/>
              <a:t>está </a:t>
            </a:r>
            <a:r>
              <a:rPr lang="es-ES" dirty="0"/>
              <a:t>equilibrado</a:t>
            </a:r>
            <a:endParaRPr lang="es-PE" dirty="0"/>
          </a:p>
        </p:txBody>
      </p:sp>
      <p:sp>
        <p:nvSpPr>
          <p:cNvPr id="40" name="CustomShape 8"/>
          <p:cNvSpPr/>
          <p:nvPr/>
        </p:nvSpPr>
        <p:spPr>
          <a:xfrm>
            <a:off x="9878488" y="4819480"/>
            <a:ext cx="297924" cy="48528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41" name="CustomShape 25"/>
          <p:cNvSpPr/>
          <p:nvPr/>
        </p:nvSpPr>
        <p:spPr>
          <a:xfrm>
            <a:off x="9885243" y="4868798"/>
            <a:ext cx="207307" cy="395280"/>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s-PE" sz="2000" b="1" spc="-1" dirty="0">
                <a:solidFill>
                  <a:schemeClr val="bg2">
                    <a:lumMod val="25000"/>
                  </a:schemeClr>
                </a:solidFill>
                <a:latin typeface="Garamond"/>
              </a:rPr>
              <a:t>4</a:t>
            </a:r>
            <a:endParaRPr lang="es-PE" sz="2000" spc="-1" dirty="0">
              <a:solidFill>
                <a:schemeClr val="bg2">
                  <a:lumMod val="25000"/>
                </a:schemeClr>
              </a:solidFill>
              <a:latin typeface="Arial"/>
            </a:endParaRPr>
          </a:p>
        </p:txBody>
      </p:sp>
      <p:sp>
        <p:nvSpPr>
          <p:cNvPr id="42" name="CustomShape 25"/>
          <p:cNvSpPr/>
          <p:nvPr/>
        </p:nvSpPr>
        <p:spPr>
          <a:xfrm>
            <a:off x="9870949" y="3917358"/>
            <a:ext cx="301855" cy="398655"/>
          </a:xfrm>
          <a:prstGeom prst="rect">
            <a:avLst/>
          </a:prstGeom>
          <a:noFill/>
          <a:ln w="1260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PE" sz="2000" b="1" spc="-1" dirty="0">
                <a:solidFill>
                  <a:schemeClr val="bg2">
                    <a:lumMod val="25000"/>
                  </a:schemeClr>
                </a:solidFill>
                <a:latin typeface="Garamond"/>
              </a:rPr>
              <a:t>3</a:t>
            </a:r>
            <a:endParaRPr lang="es-PE" sz="2000" spc="-1" dirty="0">
              <a:solidFill>
                <a:schemeClr val="bg2">
                  <a:lumMod val="25000"/>
                </a:schemeClr>
              </a:solidFill>
              <a:latin typeface="Arial"/>
            </a:endParaRPr>
          </a:p>
        </p:txBody>
      </p:sp>
      <p:sp>
        <p:nvSpPr>
          <p:cNvPr id="44" name="CustomShape 20"/>
          <p:cNvSpPr/>
          <p:nvPr/>
        </p:nvSpPr>
        <p:spPr>
          <a:xfrm>
            <a:off x="10243178" y="2912611"/>
            <a:ext cx="1632411" cy="644877"/>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ES" b="1" i="1" spc="-1" dirty="0">
                <a:solidFill>
                  <a:schemeClr val="bg2">
                    <a:lumMod val="25000"/>
                  </a:schemeClr>
                </a:solidFill>
                <a:latin typeface="Arial"/>
              </a:rPr>
              <a:t>Almacén 2</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(260)</a:t>
            </a:r>
            <a:endParaRPr lang="es-PE" spc="-1" dirty="0">
              <a:solidFill>
                <a:schemeClr val="bg2">
                  <a:lumMod val="25000"/>
                </a:schemeClr>
              </a:solidFill>
              <a:latin typeface="Arial"/>
            </a:endParaRPr>
          </a:p>
        </p:txBody>
      </p:sp>
      <p:sp>
        <p:nvSpPr>
          <p:cNvPr id="45" name="CustomShape 20"/>
          <p:cNvSpPr/>
          <p:nvPr/>
        </p:nvSpPr>
        <p:spPr>
          <a:xfrm>
            <a:off x="10243178" y="3900109"/>
            <a:ext cx="1632411" cy="644877"/>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ES" b="1" i="1" spc="-1" dirty="0">
                <a:solidFill>
                  <a:schemeClr val="bg2">
                    <a:lumMod val="25000"/>
                  </a:schemeClr>
                </a:solidFill>
                <a:latin typeface="Arial"/>
              </a:rPr>
              <a:t>Almacén 3</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(180)</a:t>
            </a:r>
            <a:endParaRPr lang="es-PE" spc="-1" dirty="0">
              <a:solidFill>
                <a:schemeClr val="bg2">
                  <a:lumMod val="25000"/>
                </a:schemeClr>
              </a:solidFill>
              <a:latin typeface="Arial"/>
            </a:endParaRPr>
          </a:p>
        </p:txBody>
      </p:sp>
      <p:sp>
        <p:nvSpPr>
          <p:cNvPr id="46" name="CustomShape 20"/>
          <p:cNvSpPr/>
          <p:nvPr/>
        </p:nvSpPr>
        <p:spPr>
          <a:xfrm>
            <a:off x="10248881" y="4850070"/>
            <a:ext cx="1632411" cy="644877"/>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ES" b="1" i="1" spc="-1" dirty="0">
                <a:solidFill>
                  <a:schemeClr val="bg2">
                    <a:lumMod val="25000"/>
                  </a:schemeClr>
                </a:solidFill>
                <a:latin typeface="Arial"/>
              </a:rPr>
              <a:t>Almacén 4</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(450)</a:t>
            </a:r>
            <a:endParaRPr lang="es-PE" spc="-1" dirty="0">
              <a:solidFill>
                <a:schemeClr val="bg2">
                  <a:lumMod val="25000"/>
                </a:schemeClr>
              </a:solidFill>
              <a:latin typeface="Arial"/>
            </a:endParaRPr>
          </a:p>
        </p:txBody>
      </p:sp>
      <p:sp>
        <p:nvSpPr>
          <p:cNvPr id="47" name="CustomShape 20"/>
          <p:cNvSpPr/>
          <p:nvPr/>
        </p:nvSpPr>
        <p:spPr>
          <a:xfrm>
            <a:off x="10259514" y="5649210"/>
            <a:ext cx="1632411" cy="644877"/>
          </a:xfrm>
          <a:prstGeom prst="rect">
            <a:avLst/>
          </a:prstGeom>
          <a:noFill/>
          <a:ln w="12600">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gn="ctr">
              <a:lnSpc>
                <a:spcPct val="100000"/>
              </a:lnSpc>
            </a:pPr>
            <a:r>
              <a:rPr lang="es-ES" b="1" i="1" spc="-1" dirty="0">
                <a:solidFill>
                  <a:schemeClr val="bg2">
                    <a:lumMod val="25000"/>
                  </a:schemeClr>
                </a:solidFill>
                <a:latin typeface="Arial"/>
              </a:rPr>
              <a:t>Almacén 5</a:t>
            </a:r>
            <a:endParaRPr lang="es-PE" spc="-1" dirty="0">
              <a:solidFill>
                <a:schemeClr val="bg2">
                  <a:lumMod val="25000"/>
                </a:schemeClr>
              </a:solidFill>
              <a:latin typeface="Arial"/>
            </a:endParaRPr>
          </a:p>
          <a:p>
            <a:pPr algn="ctr">
              <a:lnSpc>
                <a:spcPct val="100000"/>
              </a:lnSpc>
            </a:pPr>
            <a:r>
              <a:rPr lang="es-PE" b="1" i="1" spc="-1" dirty="0">
                <a:solidFill>
                  <a:schemeClr val="bg2">
                    <a:lumMod val="25000"/>
                  </a:schemeClr>
                </a:solidFill>
                <a:latin typeface="Arial"/>
                <a:ea typeface="ＭＳ 明朝"/>
              </a:rPr>
              <a:t>(210)</a:t>
            </a:r>
            <a:endParaRPr lang="es-PE" spc="-1" dirty="0">
              <a:solidFill>
                <a:schemeClr val="bg2">
                  <a:lumMod val="25000"/>
                </a:schemeClr>
              </a:solidFill>
              <a:latin typeface="Arial"/>
            </a:endParaRPr>
          </a:p>
        </p:txBody>
      </p:sp>
      <p:sp>
        <p:nvSpPr>
          <p:cNvPr id="48" name="Line 11"/>
          <p:cNvSpPr/>
          <p:nvPr/>
        </p:nvSpPr>
        <p:spPr>
          <a:xfrm>
            <a:off x="7730164" y="2145480"/>
            <a:ext cx="2148187" cy="979020"/>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49" name="Line 11"/>
          <p:cNvSpPr/>
          <p:nvPr/>
        </p:nvSpPr>
        <p:spPr>
          <a:xfrm>
            <a:off x="7721249" y="2323706"/>
            <a:ext cx="2199127" cy="2550219"/>
          </a:xfrm>
          <a:prstGeom prst="line">
            <a:avLst/>
          </a:prstGeom>
          <a:ln w="38160">
            <a:solidFill>
              <a:srgbClr val="FF0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50" name="Line 13"/>
          <p:cNvSpPr/>
          <p:nvPr/>
        </p:nvSpPr>
        <p:spPr>
          <a:xfrm>
            <a:off x="7720642" y="4114800"/>
            <a:ext cx="2165230" cy="905774"/>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51" name="Line 13"/>
          <p:cNvSpPr/>
          <p:nvPr/>
        </p:nvSpPr>
        <p:spPr>
          <a:xfrm flipV="1">
            <a:off x="7737894" y="3235400"/>
            <a:ext cx="2154026" cy="750004"/>
          </a:xfrm>
          <a:prstGeom prst="line">
            <a:avLst/>
          </a:prstGeom>
          <a:ln w="38160">
            <a:solidFill>
              <a:srgbClr val="008000"/>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55" name="Line 33"/>
          <p:cNvSpPr/>
          <p:nvPr/>
        </p:nvSpPr>
        <p:spPr>
          <a:xfrm flipV="1">
            <a:off x="7789653" y="5149970"/>
            <a:ext cx="2096219" cy="646981"/>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56" name="Line 33"/>
          <p:cNvSpPr/>
          <p:nvPr/>
        </p:nvSpPr>
        <p:spPr>
          <a:xfrm flipV="1">
            <a:off x="7746522" y="3392232"/>
            <a:ext cx="2184172" cy="2258069"/>
          </a:xfrm>
          <a:prstGeom prst="line">
            <a:avLst/>
          </a:prstGeom>
          <a:ln w="38160">
            <a:solidFill>
              <a:schemeClr val="tx2">
                <a:lumMod val="60000"/>
                <a:lumOff val="40000"/>
              </a:schemeClr>
            </a:solidFill>
            <a:round/>
            <a:tailEnd type="triangle" w="med" len="med"/>
          </a:ln>
        </p:spPr>
        <p:style>
          <a:lnRef idx="0">
            <a:scrgbClr r="0" g="0" b="0"/>
          </a:lnRef>
          <a:fillRef idx="0">
            <a:scrgbClr r="0" g="0" b="0"/>
          </a:fillRef>
          <a:effectRef idx="0">
            <a:scrgbClr r="0" g="0" b="0"/>
          </a:effectRef>
          <a:fontRef idx="minor"/>
        </p:style>
        <p:txBody>
          <a:bodyPr/>
          <a:lstStyle/>
          <a:p>
            <a:endParaRPr lang="es-PE"/>
          </a:p>
        </p:txBody>
      </p:sp>
      <p:sp>
        <p:nvSpPr>
          <p:cNvPr id="52" name="TextShape 29">
            <a:extLst>
              <a:ext uri="{FF2B5EF4-FFF2-40B4-BE49-F238E27FC236}">
                <a16:creationId xmlns:a16="http://schemas.microsoft.com/office/drawing/2014/main" id="{5CAD62E4-1B56-4AC4-9907-9E20EE2AC2A4}"/>
              </a:ext>
            </a:extLst>
          </p:cNvPr>
          <p:cNvSpPr txBox="1"/>
          <p:nvPr/>
        </p:nvSpPr>
        <p:spPr>
          <a:xfrm>
            <a:off x="6096000" y="290213"/>
            <a:ext cx="6096000" cy="496172"/>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defPPr>
              <a:defRPr lang="es-ES"/>
            </a:defPPr>
            <a:lvl1pPr algn="ctr">
              <a:lnSpc>
                <a:spcPts val="5800"/>
              </a:lnSpc>
              <a:spcBef>
                <a:spcPct val="0"/>
              </a:spcBef>
              <a:defRPr sz="3200">
                <a:solidFill>
                  <a:schemeClr val="bg1"/>
                </a:solidFill>
                <a:effectLst>
                  <a:outerShdw blurRad="63500" dist="38100" dir="5400000" algn="t" rotWithShape="0">
                    <a:prstClr val="black">
                      <a:alpha val="25000"/>
                    </a:prstClr>
                  </a:outerShdw>
                </a:effectLst>
                <a:latin typeface="Bauhaus 93" pitchFamily="82" charset="0"/>
              </a:defRPr>
            </a:lvl1pPr>
          </a:lstStyle>
          <a:p>
            <a:r>
              <a:rPr lang="en-US" dirty="0" err="1"/>
              <a:t>Problema</a:t>
            </a:r>
            <a:r>
              <a:rPr lang="en-US" dirty="0"/>
              <a:t> 9</a:t>
            </a:r>
          </a:p>
        </p:txBody>
      </p:sp>
      <p:sp>
        <p:nvSpPr>
          <p:cNvPr id="53" name="1 Rectángulo">
            <a:extLst>
              <a:ext uri="{FF2B5EF4-FFF2-40B4-BE49-F238E27FC236}">
                <a16:creationId xmlns:a16="http://schemas.microsoft.com/office/drawing/2014/main" id="{20D0E010-9551-47D8-8EEC-0F890BE841EF}"/>
              </a:ext>
            </a:extLst>
          </p:cNvPr>
          <p:cNvSpPr/>
          <p:nvPr/>
        </p:nvSpPr>
        <p:spPr>
          <a:xfrm>
            <a:off x="306397" y="1271757"/>
            <a:ext cx="5789603" cy="2554545"/>
          </a:xfrm>
          <a:prstGeom prst="rect">
            <a:avLst/>
          </a:prstGeom>
        </p:spPr>
        <p:txBody>
          <a:bodyPr wrap="square">
            <a:spAutoFit/>
          </a:bodyPr>
          <a:lstStyle/>
          <a:p>
            <a:pPr algn="just"/>
            <a:r>
              <a:rPr lang="es-ES_tradnl" sz="2000" b="1" dirty="0"/>
              <a:t>Tres depósitos surten a 5 almacenes.  La tabla indica el costo de transporte por unidad entre depósitos y almacenes.  Sin embargo, el daño de un puente principal ha impedido las entregas desde el depósito A hasta el almacén 5, desde el depósito B hasta el almacén 2 y desde el depósito C hasta el almacén 4. Determine la mejor distribución. Use el método de </a:t>
            </a:r>
            <a:r>
              <a:rPr lang="es-ES_tradnl" sz="2000" b="1" dirty="0" err="1"/>
              <a:t>Vogel</a:t>
            </a:r>
            <a:r>
              <a:rPr lang="es-ES_tradnl" sz="2000" b="1" dirty="0"/>
              <a:t>.</a:t>
            </a:r>
            <a:endParaRPr lang="es-PE" sz="2000" dirty="0"/>
          </a:p>
        </p:txBody>
      </p:sp>
      <p:graphicFrame>
        <p:nvGraphicFramePr>
          <p:cNvPr id="54" name="4 Tabla">
            <a:extLst>
              <a:ext uri="{FF2B5EF4-FFF2-40B4-BE49-F238E27FC236}">
                <a16:creationId xmlns:a16="http://schemas.microsoft.com/office/drawing/2014/main" id="{6D697540-6B92-40E0-97CB-AE9A09E3FB76}"/>
              </a:ext>
            </a:extLst>
          </p:cNvPr>
          <p:cNvGraphicFramePr>
            <a:graphicFrameLocks noGrp="1"/>
          </p:cNvGraphicFramePr>
          <p:nvPr/>
        </p:nvGraphicFramePr>
        <p:xfrm>
          <a:off x="585805" y="3925019"/>
          <a:ext cx="5074293" cy="2553419"/>
        </p:xfrm>
        <a:graphic>
          <a:graphicData uri="http://schemas.openxmlformats.org/drawingml/2006/table">
            <a:tbl>
              <a:tblPr>
                <a:tableStyleId>{5C22544A-7EE6-4342-B048-85BDC9FD1C3A}</a:tableStyleId>
              </a:tblPr>
              <a:tblGrid>
                <a:gridCol w="1156151">
                  <a:extLst>
                    <a:ext uri="{9D8B030D-6E8A-4147-A177-3AD203B41FA5}">
                      <a16:colId xmlns:a16="http://schemas.microsoft.com/office/drawing/2014/main" val="20000"/>
                    </a:ext>
                  </a:extLst>
                </a:gridCol>
                <a:gridCol w="774390">
                  <a:extLst>
                    <a:ext uri="{9D8B030D-6E8A-4147-A177-3AD203B41FA5}">
                      <a16:colId xmlns:a16="http://schemas.microsoft.com/office/drawing/2014/main" val="20001"/>
                    </a:ext>
                  </a:extLst>
                </a:gridCol>
                <a:gridCol w="774390">
                  <a:extLst>
                    <a:ext uri="{9D8B030D-6E8A-4147-A177-3AD203B41FA5}">
                      <a16:colId xmlns:a16="http://schemas.microsoft.com/office/drawing/2014/main" val="20002"/>
                    </a:ext>
                  </a:extLst>
                </a:gridCol>
                <a:gridCol w="774390">
                  <a:extLst>
                    <a:ext uri="{9D8B030D-6E8A-4147-A177-3AD203B41FA5}">
                      <a16:colId xmlns:a16="http://schemas.microsoft.com/office/drawing/2014/main" val="20003"/>
                    </a:ext>
                  </a:extLst>
                </a:gridCol>
                <a:gridCol w="1594972">
                  <a:extLst>
                    <a:ext uri="{9D8B030D-6E8A-4147-A177-3AD203B41FA5}">
                      <a16:colId xmlns:a16="http://schemas.microsoft.com/office/drawing/2014/main" val="20004"/>
                    </a:ext>
                  </a:extLst>
                </a:gridCol>
              </a:tblGrid>
              <a:tr h="387682">
                <a:tc>
                  <a:txBody>
                    <a:bodyPr/>
                    <a:lstStyle/>
                    <a:p>
                      <a:pPr algn="ctr">
                        <a:lnSpc>
                          <a:spcPct val="115000"/>
                        </a:lnSpc>
                        <a:spcAft>
                          <a:spcPts val="0"/>
                        </a:spcAft>
                      </a:pPr>
                      <a:r>
                        <a:rPr lang="es-ES_tradnl" sz="2000" dirty="0">
                          <a:effectLst/>
                        </a:rPr>
                        <a:t> </a:t>
                      </a:r>
                      <a:endParaRPr lang="es-PE" sz="2000" dirty="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a:effectLst/>
                        </a:rPr>
                        <a:t>A</a:t>
                      </a:r>
                      <a:endParaRPr lang="es-PE" sz="200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a:effectLst/>
                        </a:rPr>
                        <a:t>B</a:t>
                      </a:r>
                      <a:endParaRPr lang="es-PE" sz="200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dirty="0">
                          <a:effectLst/>
                        </a:rPr>
                        <a:t>C</a:t>
                      </a:r>
                      <a:endParaRPr lang="es-PE" sz="2000" dirty="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dirty="0">
                          <a:effectLst/>
                        </a:rPr>
                        <a:t>Demanda</a:t>
                      </a:r>
                      <a:endParaRPr lang="es-PE" sz="2000" dirty="0">
                        <a:effectLst/>
                        <a:latin typeface="Times New Roman"/>
                        <a:ea typeface="Times New Roman"/>
                        <a:cs typeface="Times New Roman"/>
                      </a:endParaRPr>
                    </a:p>
                  </a:txBody>
                  <a:tcPr marL="44450" marR="44450" marT="0" marB="0"/>
                </a:tc>
                <a:extLst>
                  <a:ext uri="{0D108BD9-81ED-4DB2-BD59-A6C34878D82A}">
                    <a16:rowId xmlns:a16="http://schemas.microsoft.com/office/drawing/2014/main" val="10000"/>
                  </a:ext>
                </a:extLst>
              </a:tr>
              <a:tr h="338232">
                <a:tc>
                  <a:txBody>
                    <a:bodyPr/>
                    <a:lstStyle/>
                    <a:p>
                      <a:pPr algn="ctr">
                        <a:lnSpc>
                          <a:spcPct val="115000"/>
                        </a:lnSpc>
                        <a:spcAft>
                          <a:spcPts val="0"/>
                        </a:spcAft>
                      </a:pPr>
                      <a:r>
                        <a:rPr lang="es-ES_tradnl" sz="2000">
                          <a:effectLst/>
                        </a:rPr>
                        <a:t>1</a:t>
                      </a:r>
                      <a:endParaRPr lang="es-PE" sz="200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a:effectLst/>
                        </a:rPr>
                        <a:t>5</a:t>
                      </a:r>
                      <a:endParaRPr lang="es-PE" sz="200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a:effectLst/>
                        </a:rPr>
                        <a:t>4</a:t>
                      </a:r>
                      <a:endParaRPr lang="es-PE" sz="200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a:effectLst/>
                        </a:rPr>
                        <a:t>6</a:t>
                      </a:r>
                      <a:endParaRPr lang="es-PE" sz="200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a:effectLst/>
                        </a:rPr>
                        <a:t>400</a:t>
                      </a:r>
                      <a:endParaRPr lang="es-PE" sz="2000">
                        <a:effectLst/>
                        <a:latin typeface="Times New Roman"/>
                        <a:ea typeface="Times New Roman"/>
                        <a:cs typeface="Times New Roman"/>
                      </a:endParaRPr>
                    </a:p>
                  </a:txBody>
                  <a:tcPr marL="44450" marR="44450" marT="0" marB="0" anchor="ctr"/>
                </a:tc>
                <a:extLst>
                  <a:ext uri="{0D108BD9-81ED-4DB2-BD59-A6C34878D82A}">
                    <a16:rowId xmlns:a16="http://schemas.microsoft.com/office/drawing/2014/main" val="10001"/>
                  </a:ext>
                </a:extLst>
              </a:tr>
              <a:tr h="338232">
                <a:tc>
                  <a:txBody>
                    <a:bodyPr/>
                    <a:lstStyle/>
                    <a:p>
                      <a:pPr algn="ctr">
                        <a:lnSpc>
                          <a:spcPct val="115000"/>
                        </a:lnSpc>
                        <a:spcAft>
                          <a:spcPts val="0"/>
                        </a:spcAft>
                      </a:pPr>
                      <a:r>
                        <a:rPr lang="es-ES_tradnl" sz="2000">
                          <a:effectLst/>
                        </a:rPr>
                        <a:t>2</a:t>
                      </a:r>
                      <a:endParaRPr lang="es-PE" sz="200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a:effectLst/>
                        </a:rPr>
                        <a:t>7</a:t>
                      </a:r>
                      <a:endParaRPr lang="es-PE" sz="200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dirty="0">
                          <a:solidFill>
                            <a:srgbClr val="FF0000"/>
                          </a:solidFill>
                          <a:effectLst/>
                        </a:rPr>
                        <a:t>8</a:t>
                      </a:r>
                      <a:endParaRPr lang="es-PE" sz="2000" dirty="0">
                        <a:solidFill>
                          <a:srgbClr val="FF0000"/>
                        </a:solidFill>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a:effectLst/>
                        </a:rPr>
                        <a:t>7</a:t>
                      </a:r>
                      <a:endParaRPr lang="es-PE" sz="200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a:effectLst/>
                        </a:rPr>
                        <a:t>260</a:t>
                      </a:r>
                      <a:endParaRPr lang="es-PE" sz="2000">
                        <a:effectLst/>
                        <a:latin typeface="Times New Roman"/>
                        <a:ea typeface="Times New Roman"/>
                        <a:cs typeface="Times New Roman"/>
                      </a:endParaRPr>
                    </a:p>
                  </a:txBody>
                  <a:tcPr marL="44450" marR="44450" marT="0" marB="0" anchor="ctr"/>
                </a:tc>
                <a:extLst>
                  <a:ext uri="{0D108BD9-81ED-4DB2-BD59-A6C34878D82A}">
                    <a16:rowId xmlns:a16="http://schemas.microsoft.com/office/drawing/2014/main" val="10002"/>
                  </a:ext>
                </a:extLst>
              </a:tr>
              <a:tr h="338232">
                <a:tc>
                  <a:txBody>
                    <a:bodyPr/>
                    <a:lstStyle/>
                    <a:p>
                      <a:pPr algn="ctr">
                        <a:lnSpc>
                          <a:spcPct val="115000"/>
                        </a:lnSpc>
                        <a:spcAft>
                          <a:spcPts val="0"/>
                        </a:spcAft>
                      </a:pPr>
                      <a:r>
                        <a:rPr lang="es-ES_tradnl" sz="2000">
                          <a:effectLst/>
                        </a:rPr>
                        <a:t>3</a:t>
                      </a:r>
                      <a:endParaRPr lang="es-PE" sz="200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a:effectLst/>
                        </a:rPr>
                        <a:t>4</a:t>
                      </a:r>
                      <a:endParaRPr lang="es-PE" sz="200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a:effectLst/>
                        </a:rPr>
                        <a:t>7</a:t>
                      </a:r>
                      <a:endParaRPr lang="es-PE" sz="200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dirty="0">
                          <a:effectLst/>
                        </a:rPr>
                        <a:t>8</a:t>
                      </a:r>
                      <a:endParaRPr lang="es-PE" sz="2000" dirty="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a:effectLst/>
                        </a:rPr>
                        <a:t>180</a:t>
                      </a:r>
                      <a:endParaRPr lang="es-PE" sz="2000">
                        <a:effectLst/>
                        <a:latin typeface="Times New Roman"/>
                        <a:ea typeface="Times New Roman"/>
                        <a:cs typeface="Times New Roman"/>
                      </a:endParaRPr>
                    </a:p>
                  </a:txBody>
                  <a:tcPr marL="44450" marR="44450" marT="0" marB="0" anchor="ctr"/>
                </a:tc>
                <a:extLst>
                  <a:ext uri="{0D108BD9-81ED-4DB2-BD59-A6C34878D82A}">
                    <a16:rowId xmlns:a16="http://schemas.microsoft.com/office/drawing/2014/main" val="10003"/>
                  </a:ext>
                </a:extLst>
              </a:tr>
              <a:tr h="338232">
                <a:tc>
                  <a:txBody>
                    <a:bodyPr/>
                    <a:lstStyle/>
                    <a:p>
                      <a:pPr algn="ctr">
                        <a:lnSpc>
                          <a:spcPct val="115000"/>
                        </a:lnSpc>
                        <a:spcAft>
                          <a:spcPts val="0"/>
                        </a:spcAft>
                      </a:pPr>
                      <a:r>
                        <a:rPr lang="es-ES_tradnl" sz="2000">
                          <a:effectLst/>
                        </a:rPr>
                        <a:t>4</a:t>
                      </a:r>
                      <a:endParaRPr lang="es-PE" sz="200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a:effectLst/>
                        </a:rPr>
                        <a:t>4</a:t>
                      </a:r>
                      <a:endParaRPr lang="es-PE" sz="200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a:effectLst/>
                        </a:rPr>
                        <a:t>8</a:t>
                      </a:r>
                      <a:endParaRPr lang="es-PE" sz="200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dirty="0">
                          <a:solidFill>
                            <a:srgbClr val="FF0000"/>
                          </a:solidFill>
                          <a:effectLst/>
                        </a:rPr>
                        <a:t>10</a:t>
                      </a:r>
                      <a:endParaRPr lang="es-PE" sz="2000" dirty="0">
                        <a:solidFill>
                          <a:srgbClr val="FF0000"/>
                        </a:solidFill>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a:effectLst/>
                        </a:rPr>
                        <a:t>450</a:t>
                      </a:r>
                      <a:endParaRPr lang="es-PE" sz="2000">
                        <a:effectLst/>
                        <a:latin typeface="Times New Roman"/>
                        <a:ea typeface="Times New Roman"/>
                        <a:cs typeface="Times New Roman"/>
                      </a:endParaRPr>
                    </a:p>
                  </a:txBody>
                  <a:tcPr marL="44450" marR="44450" marT="0" marB="0" anchor="ctr"/>
                </a:tc>
                <a:extLst>
                  <a:ext uri="{0D108BD9-81ED-4DB2-BD59-A6C34878D82A}">
                    <a16:rowId xmlns:a16="http://schemas.microsoft.com/office/drawing/2014/main" val="10004"/>
                  </a:ext>
                </a:extLst>
              </a:tr>
              <a:tr h="338232">
                <a:tc>
                  <a:txBody>
                    <a:bodyPr/>
                    <a:lstStyle/>
                    <a:p>
                      <a:pPr algn="ctr">
                        <a:lnSpc>
                          <a:spcPct val="115000"/>
                        </a:lnSpc>
                        <a:spcAft>
                          <a:spcPts val="0"/>
                        </a:spcAft>
                      </a:pPr>
                      <a:r>
                        <a:rPr lang="es-ES_tradnl" sz="2000">
                          <a:effectLst/>
                        </a:rPr>
                        <a:t>5</a:t>
                      </a:r>
                      <a:endParaRPr lang="es-PE" sz="200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dirty="0">
                          <a:solidFill>
                            <a:srgbClr val="FF0000"/>
                          </a:solidFill>
                          <a:effectLst/>
                        </a:rPr>
                        <a:t>9</a:t>
                      </a:r>
                      <a:endParaRPr lang="es-PE" sz="2000" dirty="0">
                        <a:solidFill>
                          <a:srgbClr val="FF0000"/>
                        </a:solidFill>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a:effectLst/>
                        </a:rPr>
                        <a:t>6</a:t>
                      </a:r>
                      <a:endParaRPr lang="es-PE" sz="200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a:effectLst/>
                        </a:rPr>
                        <a:t>9</a:t>
                      </a:r>
                      <a:endParaRPr lang="es-PE" sz="200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a:effectLst/>
                        </a:rPr>
                        <a:t>210</a:t>
                      </a:r>
                      <a:endParaRPr lang="es-PE" sz="2000">
                        <a:effectLst/>
                        <a:latin typeface="Times New Roman"/>
                        <a:ea typeface="Times New Roman"/>
                        <a:cs typeface="Times New Roman"/>
                      </a:endParaRPr>
                    </a:p>
                  </a:txBody>
                  <a:tcPr marL="44450" marR="44450" marT="0" marB="0" anchor="ctr"/>
                </a:tc>
                <a:extLst>
                  <a:ext uri="{0D108BD9-81ED-4DB2-BD59-A6C34878D82A}">
                    <a16:rowId xmlns:a16="http://schemas.microsoft.com/office/drawing/2014/main" val="10005"/>
                  </a:ext>
                </a:extLst>
              </a:tr>
              <a:tr h="474577">
                <a:tc>
                  <a:txBody>
                    <a:bodyPr/>
                    <a:lstStyle/>
                    <a:p>
                      <a:pPr algn="ctr">
                        <a:lnSpc>
                          <a:spcPct val="115000"/>
                        </a:lnSpc>
                        <a:spcAft>
                          <a:spcPts val="0"/>
                        </a:spcAft>
                      </a:pPr>
                      <a:r>
                        <a:rPr lang="es-ES_tradnl" sz="2000">
                          <a:effectLst/>
                        </a:rPr>
                        <a:t>Oferta</a:t>
                      </a:r>
                      <a:endParaRPr lang="es-PE" sz="200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a:effectLst/>
                        </a:rPr>
                        <a:t>750</a:t>
                      </a:r>
                      <a:endParaRPr lang="es-PE" sz="200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a:effectLst/>
                        </a:rPr>
                        <a:t>350</a:t>
                      </a:r>
                      <a:endParaRPr lang="es-PE" sz="200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a:effectLst/>
                        </a:rPr>
                        <a:t>400</a:t>
                      </a:r>
                      <a:endParaRPr lang="es-PE" sz="2000">
                        <a:effectLst/>
                        <a:latin typeface="Times New Roman"/>
                        <a:ea typeface="Times New Roman"/>
                        <a:cs typeface="Times New Roman"/>
                      </a:endParaRPr>
                    </a:p>
                  </a:txBody>
                  <a:tcPr marL="44450" marR="44450" marT="0" marB="0"/>
                </a:tc>
                <a:tc>
                  <a:txBody>
                    <a:bodyPr/>
                    <a:lstStyle/>
                    <a:p>
                      <a:pPr algn="ctr">
                        <a:lnSpc>
                          <a:spcPct val="115000"/>
                        </a:lnSpc>
                        <a:spcAft>
                          <a:spcPts val="0"/>
                        </a:spcAft>
                      </a:pPr>
                      <a:r>
                        <a:rPr lang="es-ES_tradnl" sz="2000" dirty="0">
                          <a:effectLst/>
                        </a:rPr>
                        <a:t> </a:t>
                      </a:r>
                      <a:endParaRPr lang="es-PE" sz="2000" dirty="0">
                        <a:effectLst/>
                        <a:latin typeface="Times New Roman"/>
                        <a:ea typeface="Times New Roman"/>
                        <a:cs typeface="Times New Roman"/>
                      </a:endParaRPr>
                    </a:p>
                  </a:txBody>
                  <a:tcPr marL="44450" marR="44450"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13145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41" grpId="0"/>
      <p:bldP spid="42" grpId="0"/>
      <p:bldP spid="44" grpId="0"/>
      <p:bldP spid="45" grpId="0"/>
      <p:bldP spid="46" grpId="0"/>
      <p:bldP spid="4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Tabla"/>
          <p:cNvGraphicFramePr>
            <a:graphicFrameLocks noGrp="1"/>
          </p:cNvGraphicFramePr>
          <p:nvPr/>
        </p:nvGraphicFramePr>
        <p:xfrm>
          <a:off x="455582" y="1383513"/>
          <a:ext cx="5316487" cy="5248716"/>
        </p:xfrm>
        <a:graphic>
          <a:graphicData uri="http://schemas.openxmlformats.org/drawingml/2006/table">
            <a:tbl>
              <a:tblPr>
                <a:tableStyleId>{5C22544A-7EE6-4342-B048-85BDC9FD1C3A}</a:tableStyleId>
              </a:tblPr>
              <a:tblGrid>
                <a:gridCol w="2106474">
                  <a:extLst>
                    <a:ext uri="{9D8B030D-6E8A-4147-A177-3AD203B41FA5}">
                      <a16:colId xmlns:a16="http://schemas.microsoft.com/office/drawing/2014/main" val="20000"/>
                    </a:ext>
                  </a:extLst>
                </a:gridCol>
                <a:gridCol w="702157">
                  <a:extLst>
                    <a:ext uri="{9D8B030D-6E8A-4147-A177-3AD203B41FA5}">
                      <a16:colId xmlns:a16="http://schemas.microsoft.com/office/drawing/2014/main" val="20001"/>
                    </a:ext>
                  </a:extLst>
                </a:gridCol>
                <a:gridCol w="171906">
                  <a:extLst>
                    <a:ext uri="{9D8B030D-6E8A-4147-A177-3AD203B41FA5}">
                      <a16:colId xmlns:a16="http://schemas.microsoft.com/office/drawing/2014/main" val="20002"/>
                    </a:ext>
                  </a:extLst>
                </a:gridCol>
                <a:gridCol w="600469">
                  <a:extLst>
                    <a:ext uri="{9D8B030D-6E8A-4147-A177-3AD203B41FA5}">
                      <a16:colId xmlns:a16="http://schemas.microsoft.com/office/drawing/2014/main" val="3690996754"/>
                    </a:ext>
                  </a:extLst>
                </a:gridCol>
                <a:gridCol w="965468">
                  <a:extLst>
                    <a:ext uri="{9D8B030D-6E8A-4147-A177-3AD203B41FA5}">
                      <a16:colId xmlns:a16="http://schemas.microsoft.com/office/drawing/2014/main" val="20003"/>
                    </a:ext>
                  </a:extLst>
                </a:gridCol>
                <a:gridCol w="472441">
                  <a:extLst>
                    <a:ext uri="{9D8B030D-6E8A-4147-A177-3AD203B41FA5}">
                      <a16:colId xmlns:a16="http://schemas.microsoft.com/office/drawing/2014/main" val="20004"/>
                    </a:ext>
                  </a:extLst>
                </a:gridCol>
                <a:gridCol w="253122">
                  <a:extLst>
                    <a:ext uri="{9D8B030D-6E8A-4147-A177-3AD203B41FA5}">
                      <a16:colId xmlns:a16="http://schemas.microsoft.com/office/drawing/2014/main" val="3074806164"/>
                    </a:ext>
                  </a:extLst>
                </a:gridCol>
                <a:gridCol w="44450">
                  <a:extLst>
                    <a:ext uri="{9D8B030D-6E8A-4147-A177-3AD203B41FA5}">
                      <a16:colId xmlns:a16="http://schemas.microsoft.com/office/drawing/2014/main" val="20005"/>
                    </a:ext>
                  </a:extLst>
                </a:gridCol>
              </a:tblGrid>
              <a:tr h="424181">
                <a:tc gridSpan="4">
                  <a:txBody>
                    <a:bodyPr/>
                    <a:lstStyle/>
                    <a:p>
                      <a:pPr algn="l" fontAlgn="b"/>
                      <a:r>
                        <a:rPr lang="es-PE" sz="2000" u="none" strike="noStrike" dirty="0">
                          <a:solidFill>
                            <a:srgbClr val="FF0000"/>
                          </a:solidFill>
                          <a:effectLst/>
                          <a:latin typeface="Arial Narrow" pitchFamily="34" charset="0"/>
                        </a:rPr>
                        <a:t>Identificación de las Variables</a:t>
                      </a:r>
                      <a:endParaRPr lang="es-PE" sz="2000" b="1" i="0" u="none" strike="noStrike" dirty="0">
                        <a:solidFill>
                          <a:srgbClr val="FF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pPr algn="l" fontAlgn="b"/>
                      <a:endParaRPr lang="es-PE" sz="2000" b="1" i="0" u="none" strike="noStrike" dirty="0">
                        <a:solidFill>
                          <a:srgbClr val="FF0000"/>
                        </a:solidFill>
                        <a:effectLst/>
                        <a:latin typeface="Arial Narrow" pitchFamily="34" charset="0"/>
                      </a:endParaRPr>
                    </a:p>
                  </a:txBody>
                  <a:tcPr marL="9525" marR="9525" marT="9525" marB="0" anchor="b"/>
                </a:tc>
                <a:tc>
                  <a:txBody>
                    <a:bodyPr/>
                    <a:lstStyle/>
                    <a:p>
                      <a:pPr algn="l" fontAlgn="b"/>
                      <a:r>
                        <a:rPr lang="es-PE" sz="2000" u="none" strike="noStrike">
                          <a:effectLst/>
                          <a:latin typeface="Arial Narrow" pitchFamily="34" charset="0"/>
                        </a:rPr>
                        <a:t> </a:t>
                      </a:r>
                      <a:endParaRPr lang="es-PE" sz="2000" b="0" i="0" u="none" strike="noStrike">
                        <a:solidFill>
                          <a:srgbClr val="000000"/>
                        </a:solidFill>
                        <a:effectLst/>
                        <a:latin typeface="Arial Narrow" pitchFamily="34" charset="0"/>
                      </a:endParaRPr>
                    </a:p>
                  </a:txBody>
                  <a:tcPr marL="9525" marR="9525" marT="9525" marB="0" anchor="b"/>
                </a:tc>
                <a:tc gridSpan="2">
                  <a:txBody>
                    <a:bodyPr/>
                    <a:lstStyle/>
                    <a:p>
                      <a:pPr algn="l" fontAlgn="b"/>
                      <a:r>
                        <a:rPr lang="es-PE" sz="2000" u="none" strike="noStrike" dirty="0">
                          <a:effectLst/>
                          <a:latin typeface="Arial Narrow" pitchFamily="34" charset="0"/>
                        </a:rPr>
                        <a:t> </a:t>
                      </a:r>
                      <a:endParaRPr lang="es-PE" sz="2000" b="0" i="0" u="none" strike="noStrike" dirty="0">
                        <a:solidFill>
                          <a:srgbClr val="000000"/>
                        </a:solidFill>
                        <a:effectLst/>
                        <a:latin typeface="Arial Narrow" pitchFamily="34" charset="0"/>
                      </a:endParaRPr>
                    </a:p>
                  </a:txBody>
                  <a:tcPr marL="9525" marR="9525" marT="9525" marB="0" anchor="b"/>
                </a:tc>
                <a:tc hMerge="1">
                  <a:txBody>
                    <a:bodyPr/>
                    <a:lstStyle/>
                    <a:p>
                      <a:pPr algn="l" fontAlgn="b"/>
                      <a:endParaRPr lang="es-PE" sz="2000" b="0" i="0" u="none" strike="noStrike">
                        <a:solidFill>
                          <a:srgbClr val="000000"/>
                        </a:solidFill>
                        <a:effectLst/>
                        <a:latin typeface="Arial Narrow" pitchFamily="34" charset="0"/>
                      </a:endParaRPr>
                    </a:p>
                  </a:txBody>
                  <a:tcPr marL="9525" marR="9525" marT="9525" marB="0" anchor="b"/>
                </a:tc>
                <a:tc>
                  <a:txBody>
                    <a:bodyPr/>
                    <a:lstStyle/>
                    <a:p>
                      <a:pPr algn="l" fontAlgn="b"/>
                      <a:r>
                        <a:rPr lang="es-PE" sz="2000" u="none" strike="noStrike">
                          <a:effectLst/>
                          <a:latin typeface="Arial Narrow" pitchFamily="34" charset="0"/>
                        </a:rPr>
                        <a:t> </a:t>
                      </a:r>
                      <a:endParaRPr lang="es-PE" sz="2000" b="0" i="0" u="none" strike="noStrike">
                        <a:solidFill>
                          <a:srgbClr val="000000"/>
                        </a:solidFill>
                        <a:effectLst/>
                        <a:latin typeface="Arial Narrow" pitchFamily="34" charset="0"/>
                      </a:endParaRPr>
                    </a:p>
                  </a:txBody>
                  <a:tcPr marL="9525" marR="9525" marT="9525" marB="0" anchor="b"/>
                </a:tc>
                <a:extLst>
                  <a:ext uri="{0D108BD9-81ED-4DB2-BD59-A6C34878D82A}">
                    <a16:rowId xmlns:a16="http://schemas.microsoft.com/office/drawing/2014/main" val="10000"/>
                  </a:ext>
                </a:extLst>
              </a:tr>
              <a:tr h="590591">
                <a:tc gridSpan="8">
                  <a:txBody>
                    <a:bodyPr/>
                    <a:lstStyle/>
                    <a:p>
                      <a:pPr algn="l" fontAlgn="b"/>
                      <a:r>
                        <a:rPr lang="es-PE" sz="2000" u="none" strike="noStrike" dirty="0" err="1">
                          <a:effectLst/>
                          <a:latin typeface="Arial Narrow" pitchFamily="34" charset="0"/>
                        </a:rPr>
                        <a:t>Xij</a:t>
                      </a:r>
                      <a:r>
                        <a:rPr lang="es-PE" sz="2000" u="none" strike="noStrike" dirty="0">
                          <a:effectLst/>
                          <a:latin typeface="Arial Narrow" pitchFamily="34" charset="0"/>
                        </a:rPr>
                        <a:t>=N° de unidades que se envía del origen i al destino j</a:t>
                      </a:r>
                      <a:endParaRPr lang="es-PE" sz="2000" b="1" i="0" u="none" strike="noStrike" dirty="0">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0001"/>
                  </a:ext>
                </a:extLst>
              </a:tr>
              <a:tr h="424181">
                <a:tc gridSpan="5">
                  <a:txBody>
                    <a:bodyPr/>
                    <a:lstStyle/>
                    <a:p>
                      <a:pPr algn="l" fontAlgn="b"/>
                      <a:r>
                        <a:rPr lang="es-PE" sz="2000" u="none" strike="noStrike" dirty="0">
                          <a:solidFill>
                            <a:srgbClr val="FF0000"/>
                          </a:solidFill>
                          <a:effectLst/>
                          <a:latin typeface="Arial Narrow" pitchFamily="34" charset="0"/>
                        </a:rPr>
                        <a:t>Identificación</a:t>
                      </a:r>
                      <a:r>
                        <a:rPr lang="es-ES" sz="2000" u="none" strike="noStrike" dirty="0">
                          <a:solidFill>
                            <a:srgbClr val="FF0000"/>
                          </a:solidFill>
                          <a:effectLst/>
                          <a:latin typeface="Arial Narrow" pitchFamily="34" charset="0"/>
                        </a:rPr>
                        <a:t> de la </a:t>
                      </a:r>
                      <a:r>
                        <a:rPr lang="es-ES" sz="2000" u="none" strike="noStrike" dirty="0" err="1">
                          <a:solidFill>
                            <a:srgbClr val="FF0000"/>
                          </a:solidFill>
                          <a:effectLst/>
                          <a:latin typeface="Arial Narrow" pitchFamily="34" charset="0"/>
                        </a:rPr>
                        <a:t>Funcion</a:t>
                      </a:r>
                      <a:r>
                        <a:rPr lang="es-ES" sz="2000" u="none" strike="noStrike" dirty="0">
                          <a:solidFill>
                            <a:srgbClr val="FF0000"/>
                          </a:solidFill>
                          <a:effectLst/>
                          <a:latin typeface="Arial Narrow" pitchFamily="34" charset="0"/>
                        </a:rPr>
                        <a:t> objetivo</a:t>
                      </a:r>
                      <a:endParaRPr lang="es-ES" sz="2000" b="1" i="0" u="none" strike="noStrike" dirty="0">
                        <a:solidFill>
                          <a:srgbClr val="FF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l" fontAlgn="b"/>
                      <a:r>
                        <a:rPr lang="es-PE" sz="2000" u="none" strike="noStrike">
                          <a:effectLst/>
                          <a:latin typeface="Arial Narrow" pitchFamily="34" charset="0"/>
                        </a:rPr>
                        <a:t> </a:t>
                      </a:r>
                      <a:endParaRPr lang="es-PE" sz="2000" b="0" i="0" u="none" strike="noStrike">
                        <a:solidFill>
                          <a:srgbClr val="000000"/>
                        </a:solidFill>
                        <a:effectLst/>
                        <a:latin typeface="Arial Narrow" pitchFamily="34" charset="0"/>
                      </a:endParaRPr>
                    </a:p>
                  </a:txBody>
                  <a:tcPr marL="9525" marR="9525" marT="9525" marB="0" anchor="b"/>
                </a:tc>
                <a:tc gridSpan="2">
                  <a:txBody>
                    <a:bodyPr/>
                    <a:lstStyle/>
                    <a:p>
                      <a:pPr algn="l" fontAlgn="b"/>
                      <a:r>
                        <a:rPr lang="es-PE" sz="2000" u="none" strike="noStrike" dirty="0">
                          <a:effectLst/>
                          <a:latin typeface="Arial Narrow" pitchFamily="34" charset="0"/>
                        </a:rPr>
                        <a:t> </a:t>
                      </a:r>
                      <a:endParaRPr lang="es-PE" sz="2000" b="0" i="0" u="none" strike="noStrike" dirty="0">
                        <a:solidFill>
                          <a:srgbClr val="000000"/>
                        </a:solidFill>
                        <a:effectLst/>
                        <a:latin typeface="Arial Narrow" pitchFamily="34" charset="0"/>
                      </a:endParaRPr>
                    </a:p>
                  </a:txBody>
                  <a:tcPr marL="9525" marR="9525" marT="9525" marB="0" anchor="b"/>
                </a:tc>
                <a:tc hMerge="1">
                  <a:txBody>
                    <a:bodyPr/>
                    <a:lstStyle/>
                    <a:p>
                      <a:pPr algn="l" fontAlgn="b"/>
                      <a:r>
                        <a:rPr lang="es-PE" sz="2000" u="none" strike="noStrike">
                          <a:effectLst/>
                          <a:latin typeface="Arial Narrow" pitchFamily="34" charset="0"/>
                        </a:rPr>
                        <a:t> </a:t>
                      </a:r>
                      <a:endParaRPr lang="es-PE" sz="2000" b="0" i="0" u="none" strike="noStrike">
                        <a:solidFill>
                          <a:srgbClr val="000000"/>
                        </a:solidFill>
                        <a:effectLst/>
                        <a:latin typeface="Arial Narrow" pitchFamily="34" charset="0"/>
                      </a:endParaRPr>
                    </a:p>
                  </a:txBody>
                  <a:tcPr marL="9525" marR="9525" marT="9525" marB="0" anchor="b"/>
                </a:tc>
                <a:extLst>
                  <a:ext uri="{0D108BD9-81ED-4DB2-BD59-A6C34878D82A}">
                    <a16:rowId xmlns:a16="http://schemas.microsoft.com/office/drawing/2014/main" val="10002"/>
                  </a:ext>
                </a:extLst>
              </a:tr>
              <a:tr h="424181">
                <a:tc gridSpan="6">
                  <a:txBody>
                    <a:bodyPr/>
                    <a:lstStyle/>
                    <a:p>
                      <a:pPr algn="l" fontAlgn="b"/>
                      <a:r>
                        <a:rPr lang="es-PE" sz="2000" u="none" strike="noStrike" dirty="0">
                          <a:effectLst/>
                          <a:latin typeface="Arial Narrow" pitchFamily="34" charset="0"/>
                        </a:rPr>
                        <a:t>Max  </a:t>
                      </a:r>
                      <a:r>
                        <a:rPr lang="es-PE" sz="2000" u="none" strike="noStrike" dirty="0" err="1">
                          <a:effectLst/>
                          <a:latin typeface="Arial Narrow" pitchFamily="34" charset="0"/>
                        </a:rPr>
                        <a:t>5X11</a:t>
                      </a:r>
                      <a:r>
                        <a:rPr lang="es-PE" sz="2000" u="none" strike="noStrike" dirty="0">
                          <a:effectLst/>
                          <a:latin typeface="Arial Narrow" pitchFamily="34" charset="0"/>
                        </a:rPr>
                        <a:t> +</a:t>
                      </a:r>
                      <a:r>
                        <a:rPr lang="es-PE" sz="2000" u="none" strike="noStrike" dirty="0" err="1">
                          <a:effectLst/>
                          <a:latin typeface="Arial Narrow" pitchFamily="34" charset="0"/>
                        </a:rPr>
                        <a:t>7X12+4X13+4X14</a:t>
                      </a:r>
                      <a:r>
                        <a:rPr lang="es-PE" sz="2000" u="none" strike="noStrike" dirty="0">
                          <a:effectLst/>
                          <a:latin typeface="Arial Narrow" pitchFamily="34" charset="0"/>
                        </a:rPr>
                        <a:t>+</a:t>
                      </a:r>
                      <a:endParaRPr lang="es-PE" sz="2000" b="1" i="0" u="none" strike="noStrike" dirty="0">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gridSpan="2">
                  <a:txBody>
                    <a:bodyPr/>
                    <a:lstStyle/>
                    <a:p>
                      <a:pPr algn="l" fontAlgn="b"/>
                      <a:endParaRPr lang="es-PE" sz="2000" b="1" i="0" u="none" strike="noStrike" dirty="0">
                        <a:solidFill>
                          <a:srgbClr val="000000"/>
                        </a:solidFill>
                        <a:effectLst/>
                        <a:latin typeface="Arial Narrow" pitchFamily="34" charset="0"/>
                      </a:endParaRPr>
                    </a:p>
                  </a:txBody>
                  <a:tcPr marL="9525" marR="9525" marT="9525" marB="0" anchor="b"/>
                </a:tc>
                <a:tc hMerge="1">
                  <a:txBody>
                    <a:bodyPr/>
                    <a:lstStyle/>
                    <a:p>
                      <a:pPr algn="l" fontAlgn="b"/>
                      <a:endParaRPr lang="es-PE" sz="2000" b="0" i="0" u="none" strike="noStrike" dirty="0">
                        <a:solidFill>
                          <a:srgbClr val="FF0000"/>
                        </a:solidFill>
                        <a:effectLst/>
                        <a:latin typeface="Arial Narrow" pitchFamily="34" charset="0"/>
                      </a:endParaRPr>
                    </a:p>
                  </a:txBody>
                  <a:tcPr marL="9525" marR="9525" marT="9525" marB="0" anchor="b"/>
                </a:tc>
                <a:extLst>
                  <a:ext uri="{0D108BD9-81ED-4DB2-BD59-A6C34878D82A}">
                    <a16:rowId xmlns:a16="http://schemas.microsoft.com/office/drawing/2014/main" val="10003"/>
                  </a:ext>
                </a:extLst>
              </a:tr>
              <a:tr h="424181">
                <a:tc gridSpan="6">
                  <a:txBody>
                    <a:bodyPr/>
                    <a:lstStyle/>
                    <a:p>
                      <a:pPr algn="l" fontAlgn="b"/>
                      <a:r>
                        <a:rPr lang="es-PE" sz="2000" u="none" strike="noStrike" dirty="0">
                          <a:effectLst/>
                          <a:latin typeface="Arial Narrow" pitchFamily="34" charset="0"/>
                        </a:rPr>
                        <a:t>          </a:t>
                      </a:r>
                      <a:r>
                        <a:rPr lang="es-PE" sz="2000" u="none" strike="noStrike" dirty="0" err="1">
                          <a:effectLst/>
                          <a:latin typeface="Arial Narrow" pitchFamily="34" charset="0"/>
                        </a:rPr>
                        <a:t>4X21+7X23+8X24+6X25</a:t>
                      </a:r>
                      <a:r>
                        <a:rPr lang="es-PE" sz="2000" u="none" strike="noStrike" dirty="0">
                          <a:effectLst/>
                          <a:latin typeface="Arial Narrow" pitchFamily="34" charset="0"/>
                        </a:rPr>
                        <a:t>+</a:t>
                      </a:r>
                      <a:endParaRPr lang="es-PE" sz="2000" b="1" i="0" u="none" strike="noStrike" dirty="0">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gridSpan="2">
                  <a:txBody>
                    <a:bodyPr/>
                    <a:lstStyle/>
                    <a:p>
                      <a:pPr algn="l" fontAlgn="b"/>
                      <a:endParaRPr lang="es-PE" sz="2000" b="1" i="0" u="none" strike="noStrike" dirty="0">
                        <a:solidFill>
                          <a:srgbClr val="000000"/>
                        </a:solidFill>
                        <a:effectLst/>
                        <a:latin typeface="Arial Narrow" pitchFamily="34" charset="0"/>
                      </a:endParaRPr>
                    </a:p>
                  </a:txBody>
                  <a:tcPr marL="9525" marR="9525" marT="9525" marB="0" anchor="b"/>
                </a:tc>
                <a:tc hMerge="1">
                  <a:txBody>
                    <a:bodyPr/>
                    <a:lstStyle/>
                    <a:p>
                      <a:pPr algn="l" fontAlgn="b"/>
                      <a:endParaRPr lang="es-PE" sz="2000" b="0" i="0" u="none" strike="noStrike" dirty="0">
                        <a:solidFill>
                          <a:srgbClr val="FF0000"/>
                        </a:solidFill>
                        <a:effectLst/>
                        <a:latin typeface="Arial Narrow" pitchFamily="34" charset="0"/>
                      </a:endParaRPr>
                    </a:p>
                  </a:txBody>
                  <a:tcPr marL="9525" marR="9525" marT="9525" marB="0" anchor="b"/>
                </a:tc>
                <a:extLst>
                  <a:ext uri="{0D108BD9-81ED-4DB2-BD59-A6C34878D82A}">
                    <a16:rowId xmlns:a16="http://schemas.microsoft.com/office/drawing/2014/main" val="10004"/>
                  </a:ext>
                </a:extLst>
              </a:tr>
              <a:tr h="424181">
                <a:tc gridSpan="6">
                  <a:txBody>
                    <a:bodyPr/>
                    <a:lstStyle/>
                    <a:p>
                      <a:pPr algn="l" fontAlgn="b"/>
                      <a:r>
                        <a:rPr lang="es-PE" sz="2000" u="none" strike="noStrike" dirty="0">
                          <a:effectLst/>
                          <a:latin typeface="Arial Narrow" pitchFamily="34" charset="0"/>
                        </a:rPr>
                        <a:t>          </a:t>
                      </a:r>
                      <a:r>
                        <a:rPr lang="es-PE" sz="2000" u="none" strike="noStrike" dirty="0" err="1">
                          <a:effectLst/>
                          <a:latin typeface="Arial Narrow" pitchFamily="34" charset="0"/>
                        </a:rPr>
                        <a:t>6X31+7X32+8X33+9X35</a:t>
                      </a:r>
                      <a:endParaRPr lang="es-PE" sz="2000" b="1" i="0" u="none" strike="noStrike" dirty="0">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gridSpan="2">
                  <a:txBody>
                    <a:bodyPr/>
                    <a:lstStyle/>
                    <a:p>
                      <a:pPr algn="l" fontAlgn="b"/>
                      <a:endParaRPr lang="es-PE" sz="2000" b="1" i="0" u="none" strike="noStrike" dirty="0">
                        <a:solidFill>
                          <a:srgbClr val="000000"/>
                        </a:solidFill>
                        <a:effectLst/>
                        <a:latin typeface="Arial Narrow" pitchFamily="34" charset="0"/>
                      </a:endParaRPr>
                    </a:p>
                  </a:txBody>
                  <a:tcPr marL="9525" marR="9525" marT="9525" marB="0" anchor="b"/>
                </a:tc>
                <a:tc hMerge="1">
                  <a:txBody>
                    <a:bodyPr/>
                    <a:lstStyle/>
                    <a:p>
                      <a:pPr algn="l" fontAlgn="b"/>
                      <a:endParaRPr lang="es-PE" sz="2000" b="0" i="0" u="none" strike="noStrike" dirty="0">
                        <a:solidFill>
                          <a:srgbClr val="FF0000"/>
                        </a:solidFill>
                        <a:effectLst/>
                        <a:latin typeface="Arial Narrow" pitchFamily="34" charset="0"/>
                      </a:endParaRPr>
                    </a:p>
                  </a:txBody>
                  <a:tcPr marL="9525" marR="9525" marT="9525" marB="0" anchor="b"/>
                </a:tc>
                <a:extLst>
                  <a:ext uri="{0D108BD9-81ED-4DB2-BD59-A6C34878D82A}">
                    <a16:rowId xmlns:a16="http://schemas.microsoft.com/office/drawing/2014/main" val="10005"/>
                  </a:ext>
                </a:extLst>
              </a:tr>
              <a:tr h="424181">
                <a:tc gridSpan="5">
                  <a:txBody>
                    <a:bodyPr/>
                    <a:lstStyle/>
                    <a:p>
                      <a:pPr algn="l" fontAlgn="b"/>
                      <a:r>
                        <a:rPr lang="es-PE" sz="2000" u="none" strike="noStrike" dirty="0">
                          <a:solidFill>
                            <a:srgbClr val="FF0000"/>
                          </a:solidFill>
                          <a:effectLst/>
                          <a:latin typeface="Arial Narrow" pitchFamily="34" charset="0"/>
                        </a:rPr>
                        <a:t>Identificación de las restricciones</a:t>
                      </a:r>
                      <a:endParaRPr lang="es-PE" sz="2000" b="1" i="0" u="none" strike="noStrike" dirty="0">
                        <a:solidFill>
                          <a:srgbClr val="FF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l" fontAlgn="b"/>
                      <a:r>
                        <a:rPr lang="es-PE" sz="2000" u="none" strike="noStrike">
                          <a:effectLst/>
                          <a:latin typeface="Arial Narrow" pitchFamily="34" charset="0"/>
                        </a:rPr>
                        <a:t> </a:t>
                      </a:r>
                      <a:endParaRPr lang="es-PE" sz="2000" b="0" i="0" u="none" strike="noStrike">
                        <a:solidFill>
                          <a:srgbClr val="000000"/>
                        </a:solidFill>
                        <a:effectLst/>
                        <a:latin typeface="Arial Narrow" pitchFamily="34" charset="0"/>
                      </a:endParaRPr>
                    </a:p>
                  </a:txBody>
                  <a:tcPr marL="9525" marR="9525" marT="9525" marB="0" anchor="b"/>
                </a:tc>
                <a:tc gridSpan="2">
                  <a:txBody>
                    <a:bodyPr/>
                    <a:lstStyle/>
                    <a:p>
                      <a:pPr algn="l" fontAlgn="b"/>
                      <a:r>
                        <a:rPr lang="es-PE" sz="2000" u="none" strike="noStrike" dirty="0">
                          <a:effectLst/>
                          <a:latin typeface="Arial Narrow" pitchFamily="34" charset="0"/>
                        </a:rPr>
                        <a:t> </a:t>
                      </a:r>
                      <a:endParaRPr lang="es-PE" sz="2000" b="0" i="0" u="none" strike="noStrike" dirty="0">
                        <a:solidFill>
                          <a:srgbClr val="000000"/>
                        </a:solidFill>
                        <a:effectLst/>
                        <a:latin typeface="Arial Narrow" pitchFamily="34" charset="0"/>
                      </a:endParaRPr>
                    </a:p>
                  </a:txBody>
                  <a:tcPr marL="9525" marR="9525" marT="9525" marB="0" anchor="b"/>
                </a:tc>
                <a:tc hMerge="1">
                  <a:txBody>
                    <a:bodyPr/>
                    <a:lstStyle/>
                    <a:p>
                      <a:pPr algn="l" fontAlgn="b"/>
                      <a:r>
                        <a:rPr lang="es-PE" sz="2000" u="none" strike="noStrike" dirty="0">
                          <a:effectLst/>
                          <a:latin typeface="Arial Narrow" pitchFamily="34" charset="0"/>
                        </a:rPr>
                        <a:t> </a:t>
                      </a:r>
                      <a:endParaRPr lang="es-PE" sz="2000" b="0" i="0" u="none" strike="noStrike" dirty="0">
                        <a:solidFill>
                          <a:srgbClr val="000000"/>
                        </a:solidFill>
                        <a:effectLst/>
                        <a:latin typeface="Arial Narrow" pitchFamily="34" charset="0"/>
                      </a:endParaRPr>
                    </a:p>
                  </a:txBody>
                  <a:tcPr marL="9525" marR="9525" marT="9525" marB="0" anchor="b"/>
                </a:tc>
                <a:extLst>
                  <a:ext uri="{0D108BD9-81ED-4DB2-BD59-A6C34878D82A}">
                    <a16:rowId xmlns:a16="http://schemas.microsoft.com/office/drawing/2014/main" val="10006"/>
                  </a:ext>
                </a:extLst>
              </a:tr>
              <a:tr h="424181">
                <a:tc gridSpan="3">
                  <a:txBody>
                    <a:bodyPr/>
                    <a:lstStyle/>
                    <a:p>
                      <a:pPr algn="l" fontAlgn="b"/>
                      <a:r>
                        <a:rPr lang="es-PE" sz="2000" u="none" strike="noStrike" dirty="0" err="1">
                          <a:effectLst/>
                          <a:latin typeface="Arial Narrow" pitchFamily="34" charset="0"/>
                        </a:rPr>
                        <a:t>X11+X12+X13+X14</a:t>
                      </a:r>
                      <a:r>
                        <a:rPr lang="es-PE" sz="2000" u="none" strike="noStrike" dirty="0">
                          <a:effectLst/>
                          <a:latin typeface="Arial Narrow" pitchFamily="34" charset="0"/>
                        </a:rPr>
                        <a:t>&lt;=750</a:t>
                      </a:r>
                      <a:endParaRPr lang="es-PE" sz="2000" b="1" i="0" u="none" strike="noStrike" dirty="0">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gridSpan="5">
                  <a:txBody>
                    <a:bodyPr/>
                    <a:lstStyle/>
                    <a:p>
                      <a:pPr algn="l" fontAlgn="b"/>
                      <a:r>
                        <a:rPr lang="es-PE" sz="2000" u="none" strike="noStrike" dirty="0" err="1">
                          <a:effectLst/>
                          <a:latin typeface="Arial Narrow" pitchFamily="34" charset="0"/>
                        </a:rPr>
                        <a:t>X11+X21+X31</a:t>
                      </a:r>
                      <a:r>
                        <a:rPr lang="es-PE" sz="2000" u="none" strike="noStrike" dirty="0">
                          <a:effectLst/>
                          <a:latin typeface="Arial Narrow" pitchFamily="34" charset="0"/>
                        </a:rPr>
                        <a:t>=400</a:t>
                      </a:r>
                      <a:endParaRPr lang="es-PE" sz="2000" b="1" i="0" u="none" strike="noStrike" dirty="0">
                        <a:solidFill>
                          <a:srgbClr val="000000"/>
                        </a:solidFill>
                        <a:effectLst/>
                        <a:latin typeface="Arial Narrow" pitchFamily="34" charset="0"/>
                      </a:endParaRPr>
                    </a:p>
                  </a:txBody>
                  <a:tcPr marL="9525" marR="9525" marT="9525" marB="0" anchor="b"/>
                </a:tc>
                <a:tc hMerge="1">
                  <a:txBody>
                    <a:bodyPr/>
                    <a:lstStyle/>
                    <a:p>
                      <a:pPr algn="l" fontAlgn="b"/>
                      <a:r>
                        <a:rPr lang="es-PE" sz="2000" u="none" strike="noStrike" dirty="0" err="1">
                          <a:effectLst/>
                          <a:latin typeface="Arial Narrow" pitchFamily="34" charset="0"/>
                        </a:rPr>
                        <a:t>X11+X21+X31</a:t>
                      </a:r>
                      <a:r>
                        <a:rPr lang="es-PE" sz="2000" u="none" strike="noStrike" dirty="0">
                          <a:effectLst/>
                          <a:latin typeface="Arial Narrow" pitchFamily="34" charset="0"/>
                        </a:rPr>
                        <a:t>=400</a:t>
                      </a:r>
                      <a:endParaRPr lang="es-PE" sz="2000" b="1" i="0" u="none" strike="noStrike" dirty="0">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0007"/>
                  </a:ext>
                </a:extLst>
              </a:tr>
              <a:tr h="424181">
                <a:tc gridSpan="3">
                  <a:txBody>
                    <a:bodyPr/>
                    <a:lstStyle/>
                    <a:p>
                      <a:pPr algn="l" fontAlgn="b"/>
                      <a:r>
                        <a:rPr lang="es-PE" sz="2000" u="none" strike="noStrike" dirty="0" err="1">
                          <a:effectLst/>
                          <a:latin typeface="Arial Narrow" pitchFamily="34" charset="0"/>
                        </a:rPr>
                        <a:t>X21+X23+X24+X25</a:t>
                      </a:r>
                      <a:r>
                        <a:rPr lang="es-PE" sz="2000" u="none" strike="noStrike" dirty="0">
                          <a:effectLst/>
                          <a:latin typeface="Arial Narrow" pitchFamily="34" charset="0"/>
                        </a:rPr>
                        <a:t>&lt;=350</a:t>
                      </a:r>
                      <a:endParaRPr lang="es-PE" sz="2000" b="1" i="0" u="none" strike="noStrike" dirty="0">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gridSpan="5">
                  <a:txBody>
                    <a:bodyPr/>
                    <a:lstStyle/>
                    <a:p>
                      <a:pPr algn="l" fontAlgn="b"/>
                      <a:r>
                        <a:rPr lang="es-PE" sz="2000" u="none" strike="noStrike" dirty="0" err="1">
                          <a:effectLst/>
                          <a:latin typeface="Arial Narrow" pitchFamily="34" charset="0"/>
                        </a:rPr>
                        <a:t>X12+X32</a:t>
                      </a:r>
                      <a:r>
                        <a:rPr lang="es-PE" sz="2000" u="none" strike="noStrike" dirty="0">
                          <a:effectLst/>
                          <a:latin typeface="Arial Narrow" pitchFamily="34" charset="0"/>
                        </a:rPr>
                        <a:t>+=260</a:t>
                      </a:r>
                      <a:endParaRPr lang="es-PE" sz="2000" b="1" i="0" u="none" strike="noStrike" dirty="0">
                        <a:solidFill>
                          <a:srgbClr val="000000"/>
                        </a:solidFill>
                        <a:effectLst/>
                        <a:latin typeface="Arial Narrow" pitchFamily="34" charset="0"/>
                      </a:endParaRPr>
                    </a:p>
                  </a:txBody>
                  <a:tcPr marL="9525" marR="9525" marT="9525" marB="0" anchor="b"/>
                </a:tc>
                <a:tc hMerge="1">
                  <a:txBody>
                    <a:bodyPr/>
                    <a:lstStyle/>
                    <a:p>
                      <a:pPr algn="l" fontAlgn="b"/>
                      <a:r>
                        <a:rPr lang="es-PE" sz="2000" u="none" strike="noStrike" dirty="0" err="1">
                          <a:effectLst/>
                          <a:latin typeface="Arial Narrow" pitchFamily="34" charset="0"/>
                        </a:rPr>
                        <a:t>X12+X32</a:t>
                      </a:r>
                      <a:r>
                        <a:rPr lang="es-PE" sz="2000" u="none" strike="noStrike" dirty="0">
                          <a:effectLst/>
                          <a:latin typeface="Arial Narrow" pitchFamily="34" charset="0"/>
                        </a:rPr>
                        <a:t>+=260</a:t>
                      </a:r>
                      <a:endParaRPr lang="es-PE" sz="2000" b="1" i="0" u="none" strike="noStrike" dirty="0">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0008"/>
                  </a:ext>
                </a:extLst>
              </a:tr>
              <a:tr h="424181">
                <a:tc gridSpan="3">
                  <a:txBody>
                    <a:bodyPr/>
                    <a:lstStyle/>
                    <a:p>
                      <a:pPr algn="l" fontAlgn="b"/>
                      <a:r>
                        <a:rPr lang="es-PE" sz="2000" u="none" strike="noStrike" dirty="0" err="1">
                          <a:effectLst/>
                          <a:latin typeface="Arial Narrow" pitchFamily="34" charset="0"/>
                        </a:rPr>
                        <a:t>X31+X32+X33+X35</a:t>
                      </a:r>
                      <a:r>
                        <a:rPr lang="es-PE" sz="2000" u="none" strike="noStrike" dirty="0">
                          <a:effectLst/>
                          <a:latin typeface="Arial Narrow" pitchFamily="34" charset="0"/>
                        </a:rPr>
                        <a:t>&lt;=400</a:t>
                      </a:r>
                      <a:endParaRPr lang="es-PE" sz="2000" b="1" i="0" u="none" strike="noStrike" dirty="0">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gridSpan="5">
                  <a:txBody>
                    <a:bodyPr/>
                    <a:lstStyle/>
                    <a:p>
                      <a:pPr algn="l" fontAlgn="b"/>
                      <a:r>
                        <a:rPr lang="es-PE" sz="2000" u="none" strike="noStrike" dirty="0" err="1">
                          <a:effectLst/>
                          <a:latin typeface="Arial Narrow" pitchFamily="34" charset="0"/>
                        </a:rPr>
                        <a:t>X13+X23+X33</a:t>
                      </a:r>
                      <a:r>
                        <a:rPr lang="es-PE" sz="2000" u="none" strike="noStrike" dirty="0">
                          <a:effectLst/>
                          <a:latin typeface="Arial Narrow" pitchFamily="34" charset="0"/>
                        </a:rPr>
                        <a:t>=180</a:t>
                      </a:r>
                      <a:endParaRPr lang="es-PE" sz="2000" b="1" i="0" u="none" strike="noStrike" dirty="0">
                        <a:solidFill>
                          <a:srgbClr val="000000"/>
                        </a:solidFill>
                        <a:effectLst/>
                        <a:latin typeface="Arial Narrow" pitchFamily="34" charset="0"/>
                      </a:endParaRPr>
                    </a:p>
                  </a:txBody>
                  <a:tcPr marL="9525" marR="9525" marT="9525" marB="0" anchor="b"/>
                </a:tc>
                <a:tc hMerge="1">
                  <a:txBody>
                    <a:bodyPr/>
                    <a:lstStyle/>
                    <a:p>
                      <a:pPr algn="l" fontAlgn="b"/>
                      <a:r>
                        <a:rPr lang="es-PE" sz="2000" u="none" strike="noStrike" dirty="0" err="1">
                          <a:effectLst/>
                          <a:latin typeface="Arial Narrow" pitchFamily="34" charset="0"/>
                        </a:rPr>
                        <a:t>X13+X23+X33</a:t>
                      </a:r>
                      <a:r>
                        <a:rPr lang="es-PE" sz="2000" u="none" strike="noStrike" dirty="0">
                          <a:effectLst/>
                          <a:latin typeface="Arial Narrow" pitchFamily="34" charset="0"/>
                        </a:rPr>
                        <a:t>=180</a:t>
                      </a:r>
                      <a:endParaRPr lang="es-PE" sz="2000" b="1" i="0" u="none" strike="noStrike" dirty="0">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0009"/>
                  </a:ext>
                </a:extLst>
              </a:tr>
              <a:tr h="416315">
                <a:tc>
                  <a:txBody>
                    <a:bodyPr/>
                    <a:lstStyle/>
                    <a:p>
                      <a:pPr algn="l" fontAlgn="b"/>
                      <a:r>
                        <a:rPr lang="es-PE" sz="2000" u="none" strike="noStrike" dirty="0" err="1">
                          <a:effectLst/>
                          <a:latin typeface="Arial Narrow" pitchFamily="34" charset="0"/>
                        </a:rPr>
                        <a:t>Xij</a:t>
                      </a:r>
                      <a:r>
                        <a:rPr lang="es-PE" sz="2000" u="none" strike="noStrike" dirty="0">
                          <a:effectLst/>
                          <a:latin typeface="Arial Narrow" pitchFamily="34" charset="0"/>
                        </a:rPr>
                        <a:t>&gt;=0, ENTERO</a:t>
                      </a:r>
                      <a:endParaRPr lang="es-PE" sz="2000" b="1" i="0" u="none" strike="noStrike" dirty="0">
                        <a:solidFill>
                          <a:srgbClr val="000000"/>
                        </a:solidFill>
                        <a:effectLst/>
                        <a:latin typeface="Arial Narrow" pitchFamily="34" charset="0"/>
                      </a:endParaRPr>
                    </a:p>
                  </a:txBody>
                  <a:tcPr marL="9525" marR="9525" marT="9525" marB="0" anchor="b"/>
                </a:tc>
                <a:tc>
                  <a:txBody>
                    <a:bodyPr/>
                    <a:lstStyle/>
                    <a:p>
                      <a:pPr algn="l" fontAlgn="b"/>
                      <a:endParaRPr lang="es-PE" sz="2000" b="0" i="0" u="none" strike="noStrike" dirty="0">
                        <a:solidFill>
                          <a:srgbClr val="000000"/>
                        </a:solidFill>
                        <a:effectLst/>
                        <a:latin typeface="Arial Narrow" pitchFamily="34" charset="0"/>
                      </a:endParaRPr>
                    </a:p>
                  </a:txBody>
                  <a:tcPr marL="9525" marR="9525" marT="9525" marB="0" anchor="b"/>
                </a:tc>
                <a:tc>
                  <a:txBody>
                    <a:bodyPr/>
                    <a:lstStyle/>
                    <a:p>
                      <a:pPr algn="l" fontAlgn="b"/>
                      <a:r>
                        <a:rPr lang="es-PE" sz="2000" u="none" strike="noStrike" dirty="0">
                          <a:effectLst/>
                          <a:latin typeface="Arial Narrow" pitchFamily="34" charset="0"/>
                        </a:rPr>
                        <a:t> </a:t>
                      </a:r>
                      <a:endParaRPr lang="es-PE" sz="2000" b="0" i="0" u="none" strike="noStrike" dirty="0">
                        <a:solidFill>
                          <a:srgbClr val="000000"/>
                        </a:solidFill>
                        <a:effectLst/>
                        <a:latin typeface="Arial Narrow" pitchFamily="34" charset="0"/>
                      </a:endParaRPr>
                    </a:p>
                  </a:txBody>
                  <a:tcPr marL="9525" marR="9525" marT="9525" marB="0" anchor="b"/>
                </a:tc>
                <a:tc gridSpan="4">
                  <a:txBody>
                    <a:bodyPr/>
                    <a:lstStyle/>
                    <a:p>
                      <a:pPr algn="l" fontAlgn="b"/>
                      <a:r>
                        <a:rPr lang="es-PE" sz="2000" u="none" strike="noStrike" dirty="0" err="1">
                          <a:effectLst/>
                          <a:latin typeface="Arial Narrow" pitchFamily="34" charset="0"/>
                        </a:rPr>
                        <a:t>X14+X24</a:t>
                      </a:r>
                      <a:r>
                        <a:rPr lang="es-PE" sz="2000" u="none" strike="noStrike" dirty="0">
                          <a:effectLst/>
                          <a:latin typeface="Arial Narrow" pitchFamily="34" charset="0"/>
                        </a:rPr>
                        <a:t>=450 </a:t>
                      </a:r>
                      <a:endParaRPr lang="es-PE" sz="2000" b="0" i="0" u="none" strike="noStrike" dirty="0">
                        <a:solidFill>
                          <a:srgbClr val="000000"/>
                        </a:solidFill>
                        <a:effectLst/>
                        <a:latin typeface="Arial Narrow" pitchFamily="34" charset="0"/>
                      </a:endParaRPr>
                    </a:p>
                  </a:txBody>
                  <a:tcPr marL="9525" marR="9525" marT="9525" marB="0" anchor="b"/>
                </a:tc>
                <a:tc hMerge="1">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s-PE" sz="2000" u="none" strike="noStrike" dirty="0" err="1">
                          <a:effectLst/>
                          <a:latin typeface="Arial Narrow" pitchFamily="34" charset="0"/>
                        </a:rPr>
                        <a:t>X14+X24</a:t>
                      </a:r>
                      <a:r>
                        <a:rPr lang="es-PE" sz="2000" u="none" strike="noStrike" dirty="0">
                          <a:effectLst/>
                          <a:latin typeface="Arial Narrow" pitchFamily="34" charset="0"/>
                        </a:rPr>
                        <a:t>=450 </a:t>
                      </a:r>
                      <a:endParaRPr lang="es-PE" sz="2000" b="0" i="0" u="none" strike="noStrike" dirty="0">
                        <a:solidFill>
                          <a:srgbClr val="000000"/>
                        </a:solidFill>
                        <a:effectLst/>
                        <a:latin typeface="Arial Narrow" pitchFamily="34" charset="0"/>
                      </a:endParaRPr>
                    </a:p>
                  </a:txBody>
                  <a:tcPr marL="9525" marR="9525" marT="9525" marB="0" anchor="b"/>
                </a:tc>
                <a:tc hMerge="1">
                  <a:txBody>
                    <a:bodyPr/>
                    <a:lstStyle/>
                    <a:p>
                      <a:pPr algn="l" fontAlgn="b"/>
                      <a:endParaRPr lang="es-PE" sz="2000" b="0" i="0" u="none" strike="noStrike" dirty="0">
                        <a:solidFill>
                          <a:srgbClr val="000000"/>
                        </a:solidFill>
                        <a:effectLst/>
                        <a:latin typeface="Arial Narrow" pitchFamily="34" charset="0"/>
                      </a:endParaRPr>
                    </a:p>
                  </a:txBody>
                  <a:tcPr marL="9525" marR="9525" marT="9525" marB="0" anchor="b"/>
                </a:tc>
                <a:tc hMerge="1">
                  <a:txBody>
                    <a:bodyPr/>
                    <a:lstStyle/>
                    <a:p>
                      <a:pPr marL="0" marR="0" indent="0" algn="l" defTabSz="914400" rtl="0" eaLnBrk="1" fontAlgn="b" latinLnBrk="0" hangingPunct="1">
                        <a:lnSpc>
                          <a:spcPct val="100000"/>
                        </a:lnSpc>
                        <a:spcBef>
                          <a:spcPts val="0"/>
                        </a:spcBef>
                        <a:spcAft>
                          <a:spcPts val="0"/>
                        </a:spcAft>
                        <a:buClrTx/>
                        <a:buSzTx/>
                        <a:buFontTx/>
                        <a:buNone/>
                        <a:tabLst/>
                        <a:defRPr/>
                      </a:pPr>
                      <a:endParaRPr lang="es-PE" sz="2000" b="0" i="0" u="none" strike="noStrike" dirty="0">
                        <a:solidFill>
                          <a:srgbClr val="000000"/>
                        </a:solidFill>
                        <a:effectLst/>
                        <a:latin typeface="Arial Narrow" pitchFamily="34" charset="0"/>
                      </a:endParaRPr>
                    </a:p>
                  </a:txBody>
                  <a:tcPr marL="9525" marR="9525" marT="9525" marB="0" anchor="b"/>
                </a:tc>
                <a:tc>
                  <a:txBody>
                    <a:bodyPr/>
                    <a:lstStyle/>
                    <a:p>
                      <a:pPr algn="l" fontAlgn="b"/>
                      <a:r>
                        <a:rPr lang="es-PE" sz="2000" u="none" strike="noStrike" dirty="0">
                          <a:effectLst/>
                          <a:latin typeface="Arial Narrow" pitchFamily="34" charset="0"/>
                        </a:rPr>
                        <a:t> </a:t>
                      </a:r>
                      <a:endParaRPr lang="es-PE" sz="2000" b="0" i="0" u="none" strike="noStrike" dirty="0">
                        <a:solidFill>
                          <a:srgbClr val="000000"/>
                        </a:solidFill>
                        <a:effectLst/>
                        <a:latin typeface="Arial Narrow" pitchFamily="34" charset="0"/>
                      </a:endParaRPr>
                    </a:p>
                  </a:txBody>
                  <a:tcPr marL="9525" marR="9525" marT="9525" marB="0" anchor="b"/>
                </a:tc>
                <a:extLst>
                  <a:ext uri="{0D108BD9-81ED-4DB2-BD59-A6C34878D82A}">
                    <a16:rowId xmlns:a16="http://schemas.microsoft.com/office/drawing/2014/main" val="10010"/>
                  </a:ext>
                </a:extLst>
              </a:tr>
              <a:tr h="424181">
                <a:tc>
                  <a:txBody>
                    <a:bodyPr/>
                    <a:lstStyle/>
                    <a:p>
                      <a:pPr algn="l" fontAlgn="b"/>
                      <a:endParaRPr lang="es-PE" sz="2000" b="1" i="0" u="none" strike="noStrike" dirty="0">
                        <a:solidFill>
                          <a:srgbClr val="000000"/>
                        </a:solidFill>
                        <a:effectLst/>
                        <a:latin typeface="Arial Narrow" pitchFamily="34" charset="0"/>
                      </a:endParaRPr>
                    </a:p>
                  </a:txBody>
                  <a:tcPr marL="9525" marR="9525" marT="9525" marB="0" anchor="b"/>
                </a:tc>
                <a:tc>
                  <a:txBody>
                    <a:bodyPr/>
                    <a:lstStyle/>
                    <a:p>
                      <a:pPr algn="l" fontAlgn="b"/>
                      <a:endParaRPr lang="es-PE" sz="2000" b="0" i="0" u="none" strike="noStrike" dirty="0">
                        <a:solidFill>
                          <a:srgbClr val="000000"/>
                        </a:solidFill>
                        <a:effectLst/>
                        <a:latin typeface="Arial Narrow" pitchFamily="34" charset="0"/>
                      </a:endParaRPr>
                    </a:p>
                  </a:txBody>
                  <a:tcPr marL="9525" marR="9525" marT="9525" marB="0" anchor="b"/>
                </a:tc>
                <a:tc>
                  <a:txBody>
                    <a:bodyPr/>
                    <a:lstStyle/>
                    <a:p>
                      <a:pPr algn="l" fontAlgn="b"/>
                      <a:endParaRPr lang="es-PE" sz="2000" b="0" i="0" u="none" strike="noStrike" dirty="0">
                        <a:solidFill>
                          <a:srgbClr val="000000"/>
                        </a:solidFill>
                        <a:effectLst/>
                        <a:latin typeface="Arial Narrow" pitchFamily="34" charset="0"/>
                      </a:endParaRPr>
                    </a:p>
                  </a:txBody>
                  <a:tcPr marL="9525" marR="9525" marT="9525" marB="0" anchor="b"/>
                </a:tc>
                <a:tc gridSpan="4">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s-PE" sz="2000" u="none" strike="noStrike" dirty="0" err="1">
                          <a:effectLst/>
                          <a:latin typeface="Arial Narrow" pitchFamily="34" charset="0"/>
                        </a:rPr>
                        <a:t>X25+X35</a:t>
                      </a:r>
                      <a:r>
                        <a:rPr lang="es-PE" sz="2000" u="none" strike="noStrike" dirty="0">
                          <a:effectLst/>
                          <a:latin typeface="Arial Narrow" pitchFamily="34" charset="0"/>
                        </a:rPr>
                        <a:t>=210 </a:t>
                      </a:r>
                      <a:endParaRPr lang="es-PE" sz="2000" b="0" i="0" u="none" strike="noStrike" dirty="0">
                        <a:solidFill>
                          <a:srgbClr val="000000"/>
                        </a:solidFill>
                        <a:effectLst/>
                        <a:latin typeface="Arial Narrow" pitchFamily="34" charset="0"/>
                      </a:endParaRPr>
                    </a:p>
                  </a:txBody>
                  <a:tcPr marL="9525" marR="9525" marT="9525" marB="0" anchor="b"/>
                </a:tc>
                <a:tc hMerge="1">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s-PE" sz="2000" u="none" strike="noStrike" dirty="0" err="1">
                          <a:effectLst/>
                          <a:latin typeface="Arial Narrow" pitchFamily="34" charset="0"/>
                        </a:rPr>
                        <a:t>X25+X35</a:t>
                      </a:r>
                      <a:r>
                        <a:rPr lang="es-PE" sz="2000" u="none" strike="noStrike" dirty="0">
                          <a:effectLst/>
                          <a:latin typeface="Arial Narrow" pitchFamily="34" charset="0"/>
                        </a:rPr>
                        <a:t>=210 </a:t>
                      </a:r>
                      <a:endParaRPr lang="es-PE" sz="2000" b="0" i="0" u="none" strike="noStrike" dirty="0">
                        <a:solidFill>
                          <a:srgbClr val="000000"/>
                        </a:solidFill>
                        <a:effectLst/>
                        <a:latin typeface="Arial Narrow" pitchFamily="34" charset="0"/>
                      </a:endParaRPr>
                    </a:p>
                    <a:p>
                      <a:pPr algn="l" fontAlgn="b"/>
                      <a:endParaRPr lang="es-PE" sz="2000" b="0" i="0" u="none" strike="noStrike" dirty="0">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pPr algn="l" fontAlgn="b"/>
                      <a:endParaRPr lang="es-PE" sz="2000" b="0" i="0" u="none" strike="noStrike" dirty="0">
                        <a:solidFill>
                          <a:srgbClr val="000000"/>
                        </a:solidFill>
                        <a:effectLst/>
                        <a:latin typeface="Arial Narrow" pitchFamily="34" charset="0"/>
                      </a:endParaRPr>
                    </a:p>
                  </a:txBody>
                  <a:tcPr marL="9525" marR="9525" marT="9525" marB="0" anchor="b"/>
                </a:tc>
                <a:tc>
                  <a:txBody>
                    <a:bodyPr/>
                    <a:lstStyle/>
                    <a:p>
                      <a:pPr algn="l" fontAlgn="b"/>
                      <a:endParaRPr lang="es-PE" sz="2000" b="0" i="0" u="none" strike="noStrike" dirty="0">
                        <a:solidFill>
                          <a:srgbClr val="000000"/>
                        </a:solidFill>
                        <a:effectLst/>
                        <a:latin typeface="Arial Narrow" pitchFamily="34" charset="0"/>
                      </a:endParaRPr>
                    </a:p>
                  </a:txBody>
                  <a:tcPr marL="9525" marR="9525" marT="9525" marB="0" anchor="b"/>
                </a:tc>
                <a:extLst>
                  <a:ext uri="{0D108BD9-81ED-4DB2-BD59-A6C34878D82A}">
                    <a16:rowId xmlns:a16="http://schemas.microsoft.com/office/drawing/2014/main" val="10011"/>
                  </a:ext>
                </a:extLst>
              </a:tr>
            </a:tbl>
          </a:graphicData>
        </a:graphic>
      </p:graphicFrame>
      <p:sp>
        <p:nvSpPr>
          <p:cNvPr id="4" name="TextShape 1">
            <a:extLst>
              <a:ext uri="{FF2B5EF4-FFF2-40B4-BE49-F238E27FC236}">
                <a16:creationId xmlns:a16="http://schemas.microsoft.com/office/drawing/2014/main" id="{3FB88F46-2330-4FA5-989F-53FFB60C9947}"/>
              </a:ext>
            </a:extLst>
          </p:cNvPr>
          <p:cNvSpPr txBox="1"/>
          <p:nvPr/>
        </p:nvSpPr>
        <p:spPr>
          <a:xfrm>
            <a:off x="6096000" y="214669"/>
            <a:ext cx="6096000" cy="62658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defPPr>
              <a:defRPr lang="es-ES"/>
            </a:defPPr>
            <a:lvl1pPr algn="ctr">
              <a:lnSpc>
                <a:spcPts val="5800"/>
              </a:lnSpc>
              <a:spcBef>
                <a:spcPct val="0"/>
              </a:spcBef>
              <a:defRPr sz="3200">
                <a:solidFill>
                  <a:schemeClr val="bg1"/>
                </a:solidFill>
                <a:effectLst>
                  <a:outerShdw blurRad="63500" dist="38100" dir="5400000" algn="t" rotWithShape="0">
                    <a:prstClr val="black">
                      <a:alpha val="25000"/>
                    </a:prstClr>
                  </a:outerShdw>
                </a:effectLst>
                <a:latin typeface="Bauhaus 93" pitchFamily="82" charset="0"/>
              </a:defRPr>
            </a:lvl1pPr>
          </a:lstStyle>
          <a:p>
            <a:r>
              <a:rPr lang="es-ES" dirty="0"/>
              <a:t>Modelo matemático</a:t>
            </a:r>
          </a:p>
        </p:txBody>
      </p:sp>
      <p:sp>
        <p:nvSpPr>
          <p:cNvPr id="5" name="3 Rectángulo">
            <a:extLst>
              <a:ext uri="{FF2B5EF4-FFF2-40B4-BE49-F238E27FC236}">
                <a16:creationId xmlns:a16="http://schemas.microsoft.com/office/drawing/2014/main" id="{7DE5598E-59C6-463A-9AD3-E8701F68AB34}"/>
              </a:ext>
            </a:extLst>
          </p:cNvPr>
          <p:cNvSpPr/>
          <p:nvPr/>
        </p:nvSpPr>
        <p:spPr>
          <a:xfrm>
            <a:off x="6173244" y="1364845"/>
            <a:ext cx="4356992" cy="4584845"/>
          </a:xfrm>
          <a:prstGeom prst="rect">
            <a:avLst/>
          </a:prstGeom>
          <a:solidFill>
            <a:srgbClr val="FFFF00"/>
          </a:solidFill>
        </p:spPr>
        <p:txBody>
          <a:bodyPr wrap="square">
            <a:spAutoFit/>
          </a:bodyPr>
          <a:lstStyle/>
          <a:p>
            <a:pPr fontAlgn="b">
              <a:lnSpc>
                <a:spcPct val="150000"/>
              </a:lnSpc>
            </a:pPr>
            <a:r>
              <a:rPr lang="es-PE" dirty="0">
                <a:latin typeface="Arial Narrow" pitchFamily="34" charset="0"/>
              </a:rPr>
              <a:t>Min  </a:t>
            </a:r>
            <a:r>
              <a:rPr lang="es-PE" dirty="0" err="1">
                <a:latin typeface="Arial Narrow" pitchFamily="34" charset="0"/>
              </a:rPr>
              <a:t>5X11</a:t>
            </a:r>
            <a:r>
              <a:rPr lang="es-PE" dirty="0">
                <a:latin typeface="Arial Narrow" pitchFamily="34" charset="0"/>
              </a:rPr>
              <a:t> + </a:t>
            </a:r>
            <a:r>
              <a:rPr lang="es-PE" dirty="0" err="1">
                <a:latin typeface="Arial Narrow" pitchFamily="34" charset="0"/>
              </a:rPr>
              <a:t>7X12</a:t>
            </a:r>
            <a:r>
              <a:rPr lang="es-PE" dirty="0">
                <a:latin typeface="Arial Narrow" pitchFamily="34" charset="0"/>
              </a:rPr>
              <a:t> + </a:t>
            </a:r>
            <a:r>
              <a:rPr lang="es-PE" dirty="0" err="1">
                <a:latin typeface="Arial Narrow" pitchFamily="34" charset="0"/>
              </a:rPr>
              <a:t>4X13</a:t>
            </a:r>
            <a:r>
              <a:rPr lang="es-PE" dirty="0">
                <a:latin typeface="Arial Narrow" pitchFamily="34" charset="0"/>
              </a:rPr>
              <a:t> + </a:t>
            </a:r>
            <a:r>
              <a:rPr lang="es-PE" dirty="0" err="1">
                <a:latin typeface="Arial Narrow" pitchFamily="34" charset="0"/>
              </a:rPr>
              <a:t>4X14</a:t>
            </a:r>
            <a:r>
              <a:rPr lang="es-PE" dirty="0">
                <a:latin typeface="Arial Narrow" pitchFamily="34" charset="0"/>
              </a:rPr>
              <a:t> + </a:t>
            </a:r>
            <a:r>
              <a:rPr lang="es-PE" dirty="0" err="1">
                <a:latin typeface="Arial Narrow" pitchFamily="34" charset="0"/>
              </a:rPr>
              <a:t>4X21</a:t>
            </a:r>
            <a:r>
              <a:rPr lang="es-PE" dirty="0">
                <a:latin typeface="Arial Narrow" pitchFamily="34" charset="0"/>
              </a:rPr>
              <a:t> + </a:t>
            </a:r>
            <a:r>
              <a:rPr lang="es-PE" dirty="0" err="1">
                <a:latin typeface="Arial Narrow" pitchFamily="34" charset="0"/>
              </a:rPr>
              <a:t>7X23</a:t>
            </a:r>
            <a:r>
              <a:rPr lang="es-PE" dirty="0">
                <a:latin typeface="Arial Narrow" pitchFamily="34" charset="0"/>
              </a:rPr>
              <a:t> + </a:t>
            </a:r>
            <a:r>
              <a:rPr lang="es-PE" dirty="0" err="1">
                <a:latin typeface="Arial Narrow" pitchFamily="34" charset="0"/>
              </a:rPr>
              <a:t>8X24</a:t>
            </a:r>
            <a:r>
              <a:rPr lang="es-PE" dirty="0">
                <a:latin typeface="Arial Narrow" pitchFamily="34" charset="0"/>
              </a:rPr>
              <a:t> + </a:t>
            </a:r>
            <a:r>
              <a:rPr lang="es-PE" dirty="0" err="1">
                <a:latin typeface="Arial Narrow" pitchFamily="34" charset="0"/>
              </a:rPr>
              <a:t>6X25</a:t>
            </a:r>
            <a:r>
              <a:rPr lang="es-PE" dirty="0">
                <a:latin typeface="Arial Narrow" pitchFamily="34" charset="0"/>
              </a:rPr>
              <a:t> + </a:t>
            </a:r>
            <a:r>
              <a:rPr lang="es-PE" dirty="0" err="1">
                <a:latin typeface="Arial Narrow" pitchFamily="34" charset="0"/>
              </a:rPr>
              <a:t>6X31</a:t>
            </a:r>
            <a:r>
              <a:rPr lang="es-PE" dirty="0">
                <a:latin typeface="Arial Narrow" pitchFamily="34" charset="0"/>
              </a:rPr>
              <a:t> + </a:t>
            </a:r>
            <a:r>
              <a:rPr lang="es-PE" dirty="0" err="1">
                <a:latin typeface="Arial Narrow" pitchFamily="34" charset="0"/>
              </a:rPr>
              <a:t>7X32</a:t>
            </a:r>
            <a:r>
              <a:rPr lang="es-PE" dirty="0">
                <a:latin typeface="Arial Narrow" pitchFamily="34" charset="0"/>
              </a:rPr>
              <a:t> + </a:t>
            </a:r>
            <a:r>
              <a:rPr lang="es-PE" dirty="0" err="1">
                <a:latin typeface="Arial Narrow" pitchFamily="34" charset="0"/>
              </a:rPr>
              <a:t>8X33</a:t>
            </a:r>
            <a:r>
              <a:rPr lang="es-PE" dirty="0">
                <a:latin typeface="Arial Narrow" pitchFamily="34" charset="0"/>
              </a:rPr>
              <a:t> + </a:t>
            </a:r>
            <a:r>
              <a:rPr lang="es-PE" dirty="0" err="1">
                <a:latin typeface="Arial Narrow" pitchFamily="34" charset="0"/>
              </a:rPr>
              <a:t>9X35</a:t>
            </a:r>
            <a:endParaRPr lang="es-PE" b="1" dirty="0">
              <a:solidFill>
                <a:srgbClr val="000000"/>
              </a:solidFill>
              <a:latin typeface="Arial Narrow" pitchFamily="34" charset="0"/>
            </a:endParaRPr>
          </a:p>
          <a:p>
            <a:pPr fontAlgn="b">
              <a:lnSpc>
                <a:spcPct val="150000"/>
              </a:lnSpc>
            </a:pPr>
            <a:r>
              <a:rPr lang="es-ES" b="1" dirty="0" err="1">
                <a:solidFill>
                  <a:srgbClr val="000000"/>
                </a:solidFill>
                <a:latin typeface="Arial Narrow" pitchFamily="34" charset="0"/>
              </a:rPr>
              <a:t>ST</a:t>
            </a:r>
            <a:endParaRPr lang="es-ES" b="1" dirty="0">
              <a:solidFill>
                <a:srgbClr val="000000"/>
              </a:solidFill>
              <a:latin typeface="Arial Narrow" pitchFamily="34" charset="0"/>
            </a:endParaRPr>
          </a:p>
          <a:p>
            <a:pPr fontAlgn="b">
              <a:lnSpc>
                <a:spcPct val="150000"/>
              </a:lnSpc>
            </a:pPr>
            <a:r>
              <a:rPr lang="es-PE" dirty="0" err="1">
                <a:latin typeface="Arial Narrow" pitchFamily="34" charset="0"/>
              </a:rPr>
              <a:t>X11+X12+X13+X14</a:t>
            </a:r>
            <a:r>
              <a:rPr lang="es-PE" dirty="0">
                <a:latin typeface="Arial Narrow" pitchFamily="34" charset="0"/>
              </a:rPr>
              <a:t>&lt;=750</a:t>
            </a:r>
          </a:p>
          <a:p>
            <a:pPr fontAlgn="b">
              <a:lnSpc>
                <a:spcPct val="150000"/>
              </a:lnSpc>
            </a:pPr>
            <a:r>
              <a:rPr lang="es-PE" dirty="0" err="1">
                <a:latin typeface="Arial Narrow" pitchFamily="34" charset="0"/>
              </a:rPr>
              <a:t>X21+X23+X24+X25</a:t>
            </a:r>
            <a:r>
              <a:rPr lang="es-PE" dirty="0">
                <a:latin typeface="Arial Narrow" pitchFamily="34" charset="0"/>
              </a:rPr>
              <a:t>&lt;=350</a:t>
            </a:r>
          </a:p>
          <a:p>
            <a:pPr fontAlgn="b">
              <a:lnSpc>
                <a:spcPct val="150000"/>
              </a:lnSpc>
            </a:pPr>
            <a:r>
              <a:rPr lang="es-PE" dirty="0" err="1">
                <a:latin typeface="Arial Narrow" pitchFamily="34" charset="0"/>
              </a:rPr>
              <a:t>X31+X32+X33+X35</a:t>
            </a:r>
            <a:r>
              <a:rPr lang="es-PE" dirty="0">
                <a:latin typeface="Arial Narrow" pitchFamily="34" charset="0"/>
              </a:rPr>
              <a:t>&lt;=400</a:t>
            </a:r>
          </a:p>
          <a:p>
            <a:pPr fontAlgn="b">
              <a:lnSpc>
                <a:spcPct val="150000"/>
              </a:lnSpc>
            </a:pPr>
            <a:r>
              <a:rPr lang="es-PE" dirty="0" err="1">
                <a:latin typeface="Arial Narrow" pitchFamily="34" charset="0"/>
              </a:rPr>
              <a:t>X11+X21+X31</a:t>
            </a:r>
            <a:r>
              <a:rPr lang="es-PE" dirty="0">
                <a:latin typeface="Arial Narrow" pitchFamily="34" charset="0"/>
              </a:rPr>
              <a:t>=400</a:t>
            </a:r>
          </a:p>
          <a:p>
            <a:pPr fontAlgn="b">
              <a:lnSpc>
                <a:spcPct val="150000"/>
              </a:lnSpc>
            </a:pPr>
            <a:r>
              <a:rPr lang="es-PE" dirty="0" err="1">
                <a:latin typeface="Arial Narrow" pitchFamily="34" charset="0"/>
              </a:rPr>
              <a:t>X12+X32</a:t>
            </a:r>
            <a:r>
              <a:rPr lang="es-PE" dirty="0">
                <a:latin typeface="Arial Narrow" pitchFamily="34" charset="0"/>
              </a:rPr>
              <a:t>+=260</a:t>
            </a:r>
          </a:p>
          <a:p>
            <a:pPr fontAlgn="b">
              <a:lnSpc>
                <a:spcPct val="150000"/>
              </a:lnSpc>
            </a:pPr>
            <a:r>
              <a:rPr lang="es-PE" dirty="0" err="1">
                <a:latin typeface="Arial Narrow" pitchFamily="34" charset="0"/>
              </a:rPr>
              <a:t>X13+X23+X33</a:t>
            </a:r>
            <a:r>
              <a:rPr lang="es-PE" dirty="0">
                <a:latin typeface="Arial Narrow" pitchFamily="34" charset="0"/>
              </a:rPr>
              <a:t>=180</a:t>
            </a:r>
          </a:p>
          <a:p>
            <a:pPr fontAlgn="b">
              <a:lnSpc>
                <a:spcPct val="150000"/>
              </a:lnSpc>
            </a:pPr>
            <a:r>
              <a:rPr lang="es-PE" dirty="0" err="1">
                <a:latin typeface="Arial Narrow" pitchFamily="34" charset="0"/>
              </a:rPr>
              <a:t>X14+X24</a:t>
            </a:r>
            <a:r>
              <a:rPr lang="es-PE" dirty="0">
                <a:latin typeface="Arial Narrow" pitchFamily="34" charset="0"/>
              </a:rPr>
              <a:t>=450</a:t>
            </a:r>
          </a:p>
          <a:p>
            <a:pPr fontAlgn="b">
              <a:lnSpc>
                <a:spcPct val="150000"/>
              </a:lnSpc>
            </a:pPr>
            <a:r>
              <a:rPr lang="es-PE" dirty="0" err="1">
                <a:latin typeface="Arial Narrow" pitchFamily="34" charset="0"/>
              </a:rPr>
              <a:t>X25+X35</a:t>
            </a:r>
            <a:r>
              <a:rPr lang="es-PE" dirty="0">
                <a:latin typeface="Arial Narrow" pitchFamily="34" charset="0"/>
              </a:rPr>
              <a:t>=210</a:t>
            </a:r>
            <a:endParaRPr lang="es-PE" b="1" dirty="0">
              <a:solidFill>
                <a:srgbClr val="000000"/>
              </a:solidFill>
              <a:latin typeface="Arial Narrow" pitchFamily="34" charset="0"/>
            </a:endParaRPr>
          </a:p>
        </p:txBody>
      </p:sp>
      <p:sp>
        <p:nvSpPr>
          <p:cNvPr id="6" name="5 Rectángulo">
            <a:extLst>
              <a:ext uri="{FF2B5EF4-FFF2-40B4-BE49-F238E27FC236}">
                <a16:creationId xmlns:a16="http://schemas.microsoft.com/office/drawing/2014/main" id="{C21905C7-9C80-49CA-A143-14A805BBAF05}"/>
              </a:ext>
            </a:extLst>
          </p:cNvPr>
          <p:cNvSpPr/>
          <p:nvPr/>
        </p:nvSpPr>
        <p:spPr>
          <a:xfrm>
            <a:off x="8668587" y="3072348"/>
            <a:ext cx="3523413" cy="3785652"/>
          </a:xfrm>
          <a:prstGeom prst="rect">
            <a:avLst/>
          </a:prstGeom>
          <a:solidFill>
            <a:schemeClr val="accent3">
              <a:lumMod val="40000"/>
              <a:lumOff val="60000"/>
            </a:schemeClr>
          </a:solidFill>
        </p:spPr>
        <p:txBody>
          <a:bodyPr wrap="square">
            <a:spAutoFit/>
          </a:bodyPr>
          <a:lstStyle/>
          <a:p>
            <a:r>
              <a:rPr lang="en-US" sz="1600" dirty="0"/>
              <a:t>OBJECTIVE FUNCTION VALUE</a:t>
            </a:r>
          </a:p>
          <a:p>
            <a:r>
              <a:rPr lang="en-US" sz="1600" dirty="0"/>
              <a:t>        1)      7600.000</a:t>
            </a:r>
          </a:p>
          <a:p>
            <a:r>
              <a:rPr lang="en-US" sz="1600" dirty="0"/>
              <a:t>  VARIABLE        VALUE     REDUCED COST</a:t>
            </a:r>
          </a:p>
          <a:p>
            <a:r>
              <a:rPr lang="en-US" sz="1600" dirty="0"/>
              <a:t>       </a:t>
            </a:r>
            <a:r>
              <a:rPr lang="en-US" sz="1600" dirty="0" err="1"/>
              <a:t>X11</a:t>
            </a:r>
            <a:r>
              <a:rPr lang="en-US" sz="1600" dirty="0"/>
              <a:t>       120.000000       0.000000</a:t>
            </a:r>
          </a:p>
          <a:p>
            <a:r>
              <a:rPr lang="en-US" sz="1600" dirty="0"/>
              <a:t>       </a:t>
            </a:r>
            <a:r>
              <a:rPr lang="en-US" sz="1600" dirty="0" err="1"/>
              <a:t>X12</a:t>
            </a:r>
            <a:r>
              <a:rPr lang="en-US" sz="1600" dirty="0"/>
              <a:t>         0.000000          1.000000</a:t>
            </a:r>
          </a:p>
          <a:p>
            <a:r>
              <a:rPr lang="en-US" sz="1600" dirty="0"/>
              <a:t>       </a:t>
            </a:r>
            <a:r>
              <a:rPr lang="en-US" sz="1600" dirty="0" err="1"/>
              <a:t>X13</a:t>
            </a:r>
            <a:r>
              <a:rPr lang="en-US" sz="1600" dirty="0"/>
              <a:t>       180.000000        0.000000</a:t>
            </a:r>
          </a:p>
          <a:p>
            <a:r>
              <a:rPr lang="en-US" sz="1600" dirty="0"/>
              <a:t>       </a:t>
            </a:r>
            <a:r>
              <a:rPr lang="en-US" sz="1600" dirty="0" err="1"/>
              <a:t>X14</a:t>
            </a:r>
            <a:r>
              <a:rPr lang="en-US" sz="1600" dirty="0"/>
              <a:t>       450.000000        0.000000</a:t>
            </a:r>
          </a:p>
          <a:p>
            <a:r>
              <a:rPr lang="en-US" sz="1600" dirty="0"/>
              <a:t>       </a:t>
            </a:r>
            <a:r>
              <a:rPr lang="en-US" sz="1600" dirty="0" err="1"/>
              <a:t>X21</a:t>
            </a:r>
            <a:r>
              <a:rPr lang="en-US" sz="1600" dirty="0"/>
              <a:t>       140.000000        0.000000</a:t>
            </a:r>
          </a:p>
          <a:p>
            <a:r>
              <a:rPr lang="en-US" sz="1600" dirty="0"/>
              <a:t>       </a:t>
            </a:r>
            <a:r>
              <a:rPr lang="en-US" sz="1600" dirty="0" err="1"/>
              <a:t>X23</a:t>
            </a:r>
            <a:r>
              <a:rPr lang="en-US" sz="1600" dirty="0"/>
              <a:t>         0.000000          4.000000</a:t>
            </a:r>
          </a:p>
          <a:p>
            <a:r>
              <a:rPr lang="en-US" sz="1600" dirty="0"/>
              <a:t>       </a:t>
            </a:r>
            <a:r>
              <a:rPr lang="en-US" sz="1600" dirty="0" err="1"/>
              <a:t>X24</a:t>
            </a:r>
            <a:r>
              <a:rPr lang="en-US" sz="1600" dirty="0"/>
              <a:t>         0.000000          5.000000</a:t>
            </a:r>
          </a:p>
          <a:p>
            <a:r>
              <a:rPr lang="en-US" sz="1600" dirty="0"/>
              <a:t>       </a:t>
            </a:r>
            <a:r>
              <a:rPr lang="en-US" sz="1600" dirty="0" err="1"/>
              <a:t>X25</a:t>
            </a:r>
            <a:r>
              <a:rPr lang="en-US" sz="1600" dirty="0"/>
              <a:t>       210.000000        0.000000</a:t>
            </a:r>
          </a:p>
          <a:p>
            <a:r>
              <a:rPr lang="en-US" sz="1600" dirty="0"/>
              <a:t>       </a:t>
            </a:r>
            <a:r>
              <a:rPr lang="en-US" sz="1600" dirty="0" err="1"/>
              <a:t>X31</a:t>
            </a:r>
            <a:r>
              <a:rPr lang="en-US" sz="1600" dirty="0"/>
              <a:t>       140.000000        0.000000</a:t>
            </a:r>
          </a:p>
          <a:p>
            <a:r>
              <a:rPr lang="en-US" sz="1600" dirty="0"/>
              <a:t>       </a:t>
            </a:r>
            <a:r>
              <a:rPr lang="en-US" sz="1600" dirty="0" err="1"/>
              <a:t>X32</a:t>
            </a:r>
            <a:r>
              <a:rPr lang="en-US" sz="1600" dirty="0"/>
              <a:t>       260.000000        0.000000</a:t>
            </a:r>
          </a:p>
          <a:p>
            <a:r>
              <a:rPr lang="en-US" sz="1600" dirty="0"/>
              <a:t>       </a:t>
            </a:r>
            <a:r>
              <a:rPr lang="en-US" sz="1600" dirty="0" err="1"/>
              <a:t>X33</a:t>
            </a:r>
            <a:r>
              <a:rPr lang="en-US" sz="1600" dirty="0"/>
              <a:t>         0.000000          3.000000</a:t>
            </a:r>
          </a:p>
          <a:p>
            <a:r>
              <a:rPr lang="en-US" sz="1600" dirty="0"/>
              <a:t>       </a:t>
            </a:r>
            <a:r>
              <a:rPr lang="en-US" sz="1600" dirty="0" err="1"/>
              <a:t>X35</a:t>
            </a:r>
            <a:r>
              <a:rPr lang="en-US" sz="1600" dirty="0"/>
              <a:t>         0.000000          1.000000</a:t>
            </a:r>
          </a:p>
        </p:txBody>
      </p:sp>
    </p:spTree>
    <p:extLst>
      <p:ext uri="{BB962C8B-B14F-4D97-AF65-F5344CB8AC3E}">
        <p14:creationId xmlns:p14="http://schemas.microsoft.com/office/powerpoint/2010/main" val="1388922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Tabla"/>
          <p:cNvGraphicFramePr>
            <a:graphicFrameLocks noGrp="1"/>
          </p:cNvGraphicFramePr>
          <p:nvPr/>
        </p:nvGraphicFramePr>
        <p:xfrm>
          <a:off x="702868" y="1457128"/>
          <a:ext cx="8568950" cy="3434656"/>
        </p:xfrm>
        <a:graphic>
          <a:graphicData uri="http://schemas.openxmlformats.org/drawingml/2006/table">
            <a:tbl>
              <a:tblPr firstRow="1" firstCol="1" lastRow="1" lastCol="1" bandRow="1" bandCol="1">
                <a:tableStyleId>{5C22544A-7EE6-4342-B048-85BDC9FD1C3A}</a:tableStyleId>
              </a:tblPr>
              <a:tblGrid>
                <a:gridCol w="1332073">
                  <a:extLst>
                    <a:ext uri="{9D8B030D-6E8A-4147-A177-3AD203B41FA5}">
                      <a16:colId xmlns:a16="http://schemas.microsoft.com/office/drawing/2014/main" val="20000"/>
                    </a:ext>
                  </a:extLst>
                </a:gridCol>
                <a:gridCol w="808874">
                  <a:extLst>
                    <a:ext uri="{9D8B030D-6E8A-4147-A177-3AD203B41FA5}">
                      <a16:colId xmlns:a16="http://schemas.microsoft.com/office/drawing/2014/main" val="20001"/>
                    </a:ext>
                  </a:extLst>
                </a:gridCol>
                <a:gridCol w="810592">
                  <a:extLst>
                    <a:ext uri="{9D8B030D-6E8A-4147-A177-3AD203B41FA5}">
                      <a16:colId xmlns:a16="http://schemas.microsoft.com/office/drawing/2014/main" val="20002"/>
                    </a:ext>
                  </a:extLst>
                </a:gridCol>
                <a:gridCol w="810592">
                  <a:extLst>
                    <a:ext uri="{9D8B030D-6E8A-4147-A177-3AD203B41FA5}">
                      <a16:colId xmlns:a16="http://schemas.microsoft.com/office/drawing/2014/main" val="20003"/>
                    </a:ext>
                  </a:extLst>
                </a:gridCol>
                <a:gridCol w="800276">
                  <a:extLst>
                    <a:ext uri="{9D8B030D-6E8A-4147-A177-3AD203B41FA5}">
                      <a16:colId xmlns:a16="http://schemas.microsoft.com/office/drawing/2014/main" val="20004"/>
                    </a:ext>
                  </a:extLst>
                </a:gridCol>
                <a:gridCol w="840679">
                  <a:extLst>
                    <a:ext uri="{9D8B030D-6E8A-4147-A177-3AD203B41FA5}">
                      <a16:colId xmlns:a16="http://schemas.microsoft.com/office/drawing/2014/main" val="20005"/>
                    </a:ext>
                  </a:extLst>
                </a:gridCol>
                <a:gridCol w="1048698">
                  <a:extLst>
                    <a:ext uri="{9D8B030D-6E8A-4147-A177-3AD203B41FA5}">
                      <a16:colId xmlns:a16="http://schemas.microsoft.com/office/drawing/2014/main" val="20006"/>
                    </a:ext>
                  </a:extLst>
                </a:gridCol>
                <a:gridCol w="705722">
                  <a:extLst>
                    <a:ext uri="{9D8B030D-6E8A-4147-A177-3AD203B41FA5}">
                      <a16:colId xmlns:a16="http://schemas.microsoft.com/office/drawing/2014/main" val="20007"/>
                    </a:ext>
                  </a:extLst>
                </a:gridCol>
                <a:gridCol w="611168">
                  <a:extLst>
                    <a:ext uri="{9D8B030D-6E8A-4147-A177-3AD203B41FA5}">
                      <a16:colId xmlns:a16="http://schemas.microsoft.com/office/drawing/2014/main" val="20008"/>
                    </a:ext>
                  </a:extLst>
                </a:gridCol>
                <a:gridCol w="800276">
                  <a:extLst>
                    <a:ext uri="{9D8B030D-6E8A-4147-A177-3AD203B41FA5}">
                      <a16:colId xmlns:a16="http://schemas.microsoft.com/office/drawing/2014/main" val="20009"/>
                    </a:ext>
                  </a:extLst>
                </a:gridCol>
              </a:tblGrid>
              <a:tr h="345639">
                <a:tc rowSpan="2">
                  <a:txBody>
                    <a:bodyPr/>
                    <a:lstStyle/>
                    <a:p>
                      <a:pPr algn="ctr">
                        <a:lnSpc>
                          <a:spcPct val="115000"/>
                        </a:lnSpc>
                        <a:spcAft>
                          <a:spcPts val="0"/>
                        </a:spcAft>
                      </a:pPr>
                      <a:r>
                        <a:rPr lang="es-ES_tradnl" sz="2000" dirty="0">
                          <a:effectLst/>
                          <a:latin typeface="Arial Narrow" pitchFamily="34" charset="0"/>
                        </a:rPr>
                        <a:t>DEPOSITO</a:t>
                      </a:r>
                      <a:endParaRPr lang="es-PE" sz="2000" dirty="0">
                        <a:effectLst/>
                        <a:latin typeface="Arial Narrow" pitchFamily="34" charset="0"/>
                        <a:ea typeface="Times New Roman"/>
                        <a:cs typeface="Times New Roman"/>
                      </a:endParaRPr>
                    </a:p>
                  </a:txBody>
                  <a:tcPr marL="68580" marR="68580" marT="0" marB="0"/>
                </a:tc>
                <a:tc gridSpan="5">
                  <a:txBody>
                    <a:bodyPr/>
                    <a:lstStyle/>
                    <a:p>
                      <a:pPr algn="ctr">
                        <a:lnSpc>
                          <a:spcPct val="115000"/>
                        </a:lnSpc>
                        <a:spcAft>
                          <a:spcPts val="0"/>
                        </a:spcAft>
                      </a:pPr>
                      <a:r>
                        <a:rPr lang="es-ES_tradnl" sz="2000" dirty="0">
                          <a:effectLst/>
                          <a:latin typeface="Arial Narrow" pitchFamily="34" charset="0"/>
                        </a:rPr>
                        <a:t>ALMACÉN</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rowSpan="2">
                  <a:txBody>
                    <a:bodyPr/>
                    <a:lstStyle/>
                    <a:p>
                      <a:pPr algn="ctr">
                        <a:lnSpc>
                          <a:spcPct val="115000"/>
                        </a:lnSpc>
                        <a:spcAft>
                          <a:spcPts val="0"/>
                        </a:spcAft>
                      </a:pPr>
                      <a:r>
                        <a:rPr lang="es-ES_tradnl" sz="2000" dirty="0">
                          <a:effectLst/>
                          <a:latin typeface="Arial Narrow" pitchFamily="34" charset="0"/>
                        </a:rPr>
                        <a:t>OFERTA</a:t>
                      </a:r>
                      <a:endParaRPr lang="es-PE" sz="2000" dirty="0">
                        <a:effectLst/>
                        <a:latin typeface="Arial Narrow" pitchFamily="34" charset="0"/>
                        <a:ea typeface="Times New Roman"/>
                        <a:cs typeface="Times New Roman"/>
                      </a:endParaRPr>
                    </a:p>
                  </a:txBody>
                  <a:tcPr marL="68580" marR="68580" marT="0" marB="0"/>
                </a:tc>
                <a:tc rowSpan="2">
                  <a:txBody>
                    <a:bodyPr/>
                    <a:lstStyle/>
                    <a:p>
                      <a:pPr algn="ctr">
                        <a:lnSpc>
                          <a:spcPct val="115000"/>
                        </a:lnSpc>
                        <a:spcAft>
                          <a:spcPts val="0"/>
                        </a:spcAft>
                      </a:pPr>
                      <a:r>
                        <a:rPr lang="es-ES_tradnl" sz="2000">
                          <a:effectLst/>
                          <a:latin typeface="Arial Narrow" pitchFamily="34" charset="0"/>
                        </a:rPr>
                        <a:t>P1</a:t>
                      </a:r>
                      <a:endParaRPr lang="es-PE" sz="2000">
                        <a:effectLst/>
                        <a:latin typeface="Arial Narrow" pitchFamily="34" charset="0"/>
                        <a:ea typeface="Times New Roman"/>
                        <a:cs typeface="Times New Roman"/>
                      </a:endParaRPr>
                    </a:p>
                  </a:txBody>
                  <a:tcPr marL="68580" marR="68580" marT="0" marB="0"/>
                </a:tc>
                <a:tc rowSpan="2">
                  <a:txBody>
                    <a:bodyPr/>
                    <a:lstStyle/>
                    <a:p>
                      <a:pPr algn="ctr">
                        <a:lnSpc>
                          <a:spcPct val="115000"/>
                        </a:lnSpc>
                        <a:spcAft>
                          <a:spcPts val="0"/>
                        </a:spcAft>
                      </a:pPr>
                      <a:r>
                        <a:rPr lang="es-ES_tradnl" sz="2000">
                          <a:effectLst/>
                          <a:latin typeface="Arial Narrow" pitchFamily="34" charset="0"/>
                        </a:rPr>
                        <a:t>P2</a:t>
                      </a:r>
                      <a:endParaRPr lang="es-PE" sz="2000">
                        <a:effectLst/>
                        <a:latin typeface="Arial Narrow" pitchFamily="34" charset="0"/>
                        <a:ea typeface="Times New Roman"/>
                        <a:cs typeface="Times New Roman"/>
                      </a:endParaRPr>
                    </a:p>
                  </a:txBody>
                  <a:tcPr marL="68580" marR="68580" marT="0" marB="0"/>
                </a:tc>
                <a:tc rowSpan="2">
                  <a:txBody>
                    <a:bodyPr/>
                    <a:lstStyle/>
                    <a:p>
                      <a:pPr algn="ctr">
                        <a:lnSpc>
                          <a:spcPct val="115000"/>
                        </a:lnSpc>
                        <a:spcAft>
                          <a:spcPts val="0"/>
                        </a:spcAft>
                      </a:pPr>
                      <a:r>
                        <a:rPr lang="es-ES_tradnl" sz="2000">
                          <a:effectLst/>
                          <a:latin typeface="Arial Narrow" pitchFamily="34" charset="0"/>
                        </a:rPr>
                        <a:t>P3</a:t>
                      </a:r>
                      <a:endParaRPr lang="es-PE" sz="200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0"/>
                  </a:ext>
                </a:extLst>
              </a:tr>
              <a:tr h="345639">
                <a:tc vMerge="1">
                  <a:txBody>
                    <a:bodyPr/>
                    <a:lstStyle/>
                    <a:p>
                      <a:endParaRPr lang="es-PE"/>
                    </a:p>
                  </a:txBody>
                  <a:tcPr/>
                </a:tc>
                <a:tc>
                  <a:txBody>
                    <a:bodyPr/>
                    <a:lstStyle/>
                    <a:p>
                      <a:pPr algn="ctr">
                        <a:lnSpc>
                          <a:spcPct val="115000"/>
                        </a:lnSpc>
                        <a:spcAft>
                          <a:spcPts val="0"/>
                        </a:spcAft>
                      </a:pPr>
                      <a:r>
                        <a:rPr lang="es-ES_tradnl" sz="2000" dirty="0">
                          <a:effectLst/>
                          <a:latin typeface="Arial Narrow" pitchFamily="34" charset="0"/>
                        </a:rPr>
                        <a:t>1</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a:txBody>
                    <a:bodyPr/>
                    <a:lstStyle/>
                    <a:p>
                      <a:pPr algn="ctr">
                        <a:lnSpc>
                          <a:spcPct val="115000"/>
                        </a:lnSpc>
                        <a:spcAft>
                          <a:spcPts val="0"/>
                        </a:spcAft>
                      </a:pPr>
                      <a:r>
                        <a:rPr lang="es-ES_tradnl" sz="2000" dirty="0">
                          <a:effectLst/>
                          <a:latin typeface="Arial Narrow" pitchFamily="34" charset="0"/>
                        </a:rPr>
                        <a:t>2</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a:txBody>
                    <a:bodyPr/>
                    <a:lstStyle/>
                    <a:p>
                      <a:pPr algn="ctr">
                        <a:lnSpc>
                          <a:spcPct val="115000"/>
                        </a:lnSpc>
                        <a:spcAft>
                          <a:spcPts val="0"/>
                        </a:spcAft>
                      </a:pPr>
                      <a:r>
                        <a:rPr lang="es-ES_tradnl" sz="2000" dirty="0">
                          <a:effectLst/>
                          <a:latin typeface="Arial Narrow" pitchFamily="34" charset="0"/>
                        </a:rPr>
                        <a:t>3</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a:txBody>
                    <a:bodyPr/>
                    <a:lstStyle/>
                    <a:p>
                      <a:pPr algn="ctr">
                        <a:lnSpc>
                          <a:spcPct val="115000"/>
                        </a:lnSpc>
                        <a:spcAft>
                          <a:spcPts val="0"/>
                        </a:spcAft>
                      </a:pPr>
                      <a:r>
                        <a:rPr lang="es-ES_tradnl" sz="2000" dirty="0">
                          <a:effectLst/>
                          <a:latin typeface="Arial Narrow" pitchFamily="34" charset="0"/>
                        </a:rPr>
                        <a:t>4</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a:txBody>
                    <a:bodyPr/>
                    <a:lstStyle/>
                    <a:p>
                      <a:pPr algn="ctr">
                        <a:lnSpc>
                          <a:spcPct val="115000"/>
                        </a:lnSpc>
                        <a:spcAft>
                          <a:spcPts val="0"/>
                        </a:spcAft>
                      </a:pPr>
                      <a:r>
                        <a:rPr lang="es-ES_tradnl" sz="2000" dirty="0">
                          <a:effectLst/>
                          <a:latin typeface="Arial Narrow" pitchFamily="34" charset="0"/>
                        </a:rPr>
                        <a:t>5</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vMerge="1">
                  <a:txBody>
                    <a:bodyPr/>
                    <a:lstStyle/>
                    <a:p>
                      <a:endParaRPr lang="es-PE"/>
                    </a:p>
                  </a:txBody>
                  <a:tcPr/>
                </a:tc>
                <a:tc vMerge="1">
                  <a:txBody>
                    <a:bodyPr/>
                    <a:lstStyle/>
                    <a:p>
                      <a:endParaRPr lang="es-PE"/>
                    </a:p>
                  </a:txBody>
                  <a:tcPr/>
                </a:tc>
                <a:tc vMerge="1">
                  <a:txBody>
                    <a:bodyPr/>
                    <a:lstStyle/>
                    <a:p>
                      <a:endParaRPr lang="es-PE"/>
                    </a:p>
                  </a:txBody>
                  <a:tcPr/>
                </a:tc>
                <a:tc vMerge="1">
                  <a:txBody>
                    <a:bodyPr/>
                    <a:lstStyle/>
                    <a:p>
                      <a:endParaRPr lang="es-PE"/>
                    </a:p>
                  </a:txBody>
                  <a:tcPr/>
                </a:tc>
                <a:extLst>
                  <a:ext uri="{0D108BD9-81ED-4DB2-BD59-A6C34878D82A}">
                    <a16:rowId xmlns:a16="http://schemas.microsoft.com/office/drawing/2014/main" val="10001"/>
                  </a:ext>
                </a:extLst>
              </a:tr>
              <a:tr h="345639">
                <a:tc>
                  <a:txBody>
                    <a:bodyPr/>
                    <a:lstStyle/>
                    <a:p>
                      <a:pPr algn="ctr">
                        <a:lnSpc>
                          <a:spcPct val="115000"/>
                        </a:lnSpc>
                        <a:spcAft>
                          <a:spcPts val="0"/>
                        </a:spcAft>
                      </a:pPr>
                      <a:r>
                        <a:rPr lang="es-ES_tradnl" sz="2000">
                          <a:effectLst/>
                          <a:latin typeface="Arial Narrow" pitchFamily="34" charset="0"/>
                        </a:rPr>
                        <a:t>A</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5</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7</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4</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4</a:t>
                      </a:r>
                      <a:endParaRPr lang="es-PE" sz="2000" dirty="0">
                        <a:effectLst/>
                        <a:latin typeface="Arial Narrow" pitchFamily="34" charset="0"/>
                        <a:ea typeface="Times New Roman"/>
                        <a:cs typeface="Times New Roman"/>
                      </a:endParaRPr>
                    </a:p>
                  </a:txBody>
                  <a:tcPr marL="68580" marR="68580" marT="0" marB="0">
                    <a:solidFill>
                      <a:srgbClr val="FFFF00"/>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750/300</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accent3">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2"/>
                  </a:ext>
                </a:extLst>
              </a:tr>
              <a:tr h="345639">
                <a:tc>
                  <a:txBody>
                    <a:bodyPr/>
                    <a:lstStyle/>
                    <a:p>
                      <a:pPr algn="ctr">
                        <a:lnSpc>
                          <a:spcPct val="115000"/>
                        </a:lnSpc>
                        <a:spcAft>
                          <a:spcPts val="0"/>
                        </a:spcAft>
                      </a:pPr>
                      <a:r>
                        <a:rPr lang="es-ES_tradnl" sz="2000">
                          <a:effectLst/>
                          <a:latin typeface="Arial Narrow" pitchFamily="34" charset="0"/>
                        </a:rPr>
                        <a:t>B</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4</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7 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8 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6 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350</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2</a:t>
                      </a:r>
                      <a:endParaRPr lang="es-PE" sz="2000" dirty="0">
                        <a:effectLst/>
                        <a:latin typeface="Arial Narrow" pitchFamily="34" charset="0"/>
                        <a:ea typeface="Times New Roman"/>
                        <a:cs typeface="Times New Roman"/>
                      </a:endParaRPr>
                    </a:p>
                  </a:txBody>
                  <a:tcPr marL="68580" marR="68580" marT="0" marB="0">
                    <a:solidFill>
                      <a:schemeClr val="accent3">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3"/>
                  </a:ext>
                </a:extLst>
              </a:tr>
              <a:tr h="345639">
                <a:tc>
                  <a:txBody>
                    <a:bodyPr/>
                    <a:lstStyle/>
                    <a:p>
                      <a:pPr algn="ctr">
                        <a:lnSpc>
                          <a:spcPct val="115000"/>
                        </a:lnSpc>
                        <a:spcAft>
                          <a:spcPts val="0"/>
                        </a:spcAft>
                      </a:pPr>
                      <a:r>
                        <a:rPr lang="es-ES_tradnl" sz="2000">
                          <a:effectLst/>
                          <a:latin typeface="Arial Narrow" pitchFamily="34" charset="0"/>
                        </a:rPr>
                        <a:t>C</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6</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7 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8 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9 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400</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accent3">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4"/>
                  </a:ext>
                </a:extLst>
              </a:tr>
              <a:tr h="407643">
                <a:tc>
                  <a:txBody>
                    <a:bodyPr/>
                    <a:lstStyle/>
                    <a:p>
                      <a:pPr algn="ctr">
                        <a:lnSpc>
                          <a:spcPct val="115000"/>
                        </a:lnSpc>
                        <a:spcAft>
                          <a:spcPts val="0"/>
                        </a:spcAft>
                      </a:pPr>
                      <a:r>
                        <a:rPr lang="es-ES_tradnl" sz="2000">
                          <a:effectLst/>
                          <a:latin typeface="Arial Narrow" pitchFamily="34" charset="0"/>
                        </a:rPr>
                        <a:t>DEMANDA</a:t>
                      </a:r>
                      <a:endParaRPr lang="es-PE" sz="2000">
                        <a:effectLst/>
                        <a:latin typeface="Arial Narrow" pitchFamily="34" charset="0"/>
                      </a:endParaRPr>
                    </a:p>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400 </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260 </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180 </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450/0 </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210 </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1500</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3">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5"/>
                  </a:ext>
                </a:extLst>
              </a:tr>
              <a:tr h="345639">
                <a:tc>
                  <a:txBody>
                    <a:bodyPr/>
                    <a:lstStyle/>
                    <a:p>
                      <a:pPr algn="ctr">
                        <a:lnSpc>
                          <a:spcPct val="115000"/>
                        </a:lnSpc>
                        <a:spcAft>
                          <a:spcPts val="0"/>
                        </a:spcAft>
                      </a:pPr>
                      <a:r>
                        <a:rPr lang="es-ES_tradnl" sz="2000" dirty="0" err="1">
                          <a:effectLst/>
                          <a:latin typeface="Arial Narrow" pitchFamily="34" charset="0"/>
                        </a:rPr>
                        <a:t>P1</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accent3">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0</a:t>
                      </a:r>
                      <a:endParaRPr lang="es-PE" sz="2000" dirty="0">
                        <a:effectLst/>
                        <a:latin typeface="Arial Narrow" pitchFamily="34" charset="0"/>
                        <a:ea typeface="Times New Roman"/>
                        <a:cs typeface="Times New Roman"/>
                      </a:endParaRPr>
                    </a:p>
                  </a:txBody>
                  <a:tcPr marL="68580" marR="68580" marT="0" marB="0">
                    <a:solidFill>
                      <a:schemeClr val="accent3">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3</a:t>
                      </a:r>
                      <a:endParaRPr lang="es-PE" sz="2000" dirty="0">
                        <a:effectLst/>
                        <a:latin typeface="Arial Narrow" pitchFamily="34" charset="0"/>
                        <a:ea typeface="Times New Roman"/>
                        <a:cs typeface="Times New Roman"/>
                      </a:endParaRPr>
                    </a:p>
                  </a:txBody>
                  <a:tcPr marL="68580" marR="68580" marT="0" marB="0">
                    <a:solidFill>
                      <a:schemeClr val="accent3">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4 </a:t>
                      </a:r>
                      <a:endParaRPr lang="es-PE" sz="2000" dirty="0">
                        <a:effectLst/>
                        <a:latin typeface="Arial Narrow" pitchFamily="34" charset="0"/>
                        <a:ea typeface="Times New Roman"/>
                        <a:cs typeface="Times New Roman"/>
                      </a:endParaRPr>
                    </a:p>
                  </a:txBody>
                  <a:tcPr marL="68580" marR="68580" marT="0" marB="0">
                    <a:solidFill>
                      <a:schemeClr val="accent3">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3</a:t>
                      </a:r>
                      <a:endParaRPr lang="es-PE" sz="2000" dirty="0">
                        <a:effectLst/>
                        <a:latin typeface="Arial Narrow" pitchFamily="34" charset="0"/>
                        <a:ea typeface="Times New Roman"/>
                        <a:cs typeface="Times New Roman"/>
                      </a:endParaRPr>
                    </a:p>
                  </a:txBody>
                  <a:tcPr marL="68580" marR="68580" marT="0" marB="0">
                    <a:solidFill>
                      <a:schemeClr val="accent3">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3">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3">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6"/>
                  </a:ext>
                </a:extLst>
              </a:tr>
              <a:tr h="345639">
                <a:tc>
                  <a:txBody>
                    <a:bodyPr/>
                    <a:lstStyle/>
                    <a:p>
                      <a:pPr algn="ctr">
                        <a:lnSpc>
                          <a:spcPct val="115000"/>
                        </a:lnSpc>
                        <a:spcAft>
                          <a:spcPts val="0"/>
                        </a:spcAft>
                      </a:pPr>
                      <a:r>
                        <a:rPr lang="es-ES_tradnl" sz="2000" dirty="0" err="1">
                          <a:effectLst/>
                          <a:latin typeface="Arial Narrow" pitchFamily="34" charset="0"/>
                        </a:rPr>
                        <a:t>P2</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7"/>
                  </a:ext>
                </a:extLst>
              </a:tr>
              <a:tr h="345639">
                <a:tc>
                  <a:txBody>
                    <a:bodyPr/>
                    <a:lstStyle/>
                    <a:p>
                      <a:pPr algn="ctr">
                        <a:lnSpc>
                          <a:spcPct val="115000"/>
                        </a:lnSpc>
                        <a:spcAft>
                          <a:spcPts val="0"/>
                        </a:spcAft>
                      </a:pPr>
                      <a:r>
                        <a:rPr lang="es-ES_tradnl" sz="2000">
                          <a:effectLst/>
                          <a:latin typeface="Arial Narrow" pitchFamily="34" charset="0"/>
                        </a:rPr>
                        <a:t>P3</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8"/>
                  </a:ext>
                </a:extLst>
              </a:tr>
            </a:tbl>
          </a:graphicData>
        </a:graphic>
      </p:graphicFrame>
      <p:sp>
        <p:nvSpPr>
          <p:cNvPr id="4" name="2 CuadroTexto">
            <a:extLst>
              <a:ext uri="{FF2B5EF4-FFF2-40B4-BE49-F238E27FC236}">
                <a16:creationId xmlns:a16="http://schemas.microsoft.com/office/drawing/2014/main" id="{6A327829-8C01-4582-B34D-63B3C67C474B}"/>
              </a:ext>
            </a:extLst>
          </p:cNvPr>
          <p:cNvSpPr txBox="1"/>
          <p:nvPr/>
        </p:nvSpPr>
        <p:spPr>
          <a:xfrm>
            <a:off x="9635705" y="2686829"/>
            <a:ext cx="2441276" cy="369332"/>
          </a:xfrm>
          <a:prstGeom prst="rect">
            <a:avLst/>
          </a:prstGeom>
          <a:noFill/>
        </p:spPr>
        <p:txBody>
          <a:bodyPr wrap="square" rtlCol="0">
            <a:spAutoFit/>
          </a:bodyPr>
          <a:lstStyle/>
          <a:p>
            <a:r>
              <a:rPr lang="es-ES" dirty="0" err="1">
                <a:latin typeface="Arial Narrow" panose="020B0606020202030204" pitchFamily="34" charset="0"/>
              </a:rPr>
              <a:t>X14</a:t>
            </a:r>
            <a:r>
              <a:rPr lang="es-ES" dirty="0">
                <a:latin typeface="Arial Narrow" panose="020B0606020202030204" pitchFamily="34" charset="0"/>
              </a:rPr>
              <a:t>=</a:t>
            </a:r>
            <a:r>
              <a:rPr lang="es-ES" dirty="0" err="1">
                <a:latin typeface="Arial Narrow" panose="020B0606020202030204" pitchFamily="34" charset="0"/>
              </a:rPr>
              <a:t>450</a:t>
            </a:r>
            <a:r>
              <a:rPr lang="es-ES" dirty="0" err="1">
                <a:latin typeface="Arial Narrow" panose="020B0606020202030204" pitchFamily="34" charset="0"/>
                <a:sym typeface="Wingdings" pitchFamily="2" charset="2"/>
              </a:rPr>
              <a:t>C</a:t>
            </a:r>
            <a:r>
              <a:rPr lang="es-ES" dirty="0">
                <a:latin typeface="Arial Narrow" panose="020B0606020202030204" pitchFamily="34" charset="0"/>
                <a:sym typeface="Wingdings" pitchFamily="2" charset="2"/>
              </a:rPr>
              <a:t>=450*4=1800</a:t>
            </a:r>
          </a:p>
        </p:txBody>
      </p:sp>
    </p:spTree>
    <p:extLst>
      <p:ext uri="{BB962C8B-B14F-4D97-AF65-F5344CB8AC3E}">
        <p14:creationId xmlns:p14="http://schemas.microsoft.com/office/powerpoint/2010/main" val="3071463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Tabla"/>
          <p:cNvGraphicFramePr>
            <a:graphicFrameLocks noGrp="1"/>
          </p:cNvGraphicFramePr>
          <p:nvPr/>
        </p:nvGraphicFramePr>
        <p:xfrm>
          <a:off x="694225" y="1418773"/>
          <a:ext cx="8568950" cy="3759069"/>
        </p:xfrm>
        <a:graphic>
          <a:graphicData uri="http://schemas.openxmlformats.org/drawingml/2006/table">
            <a:tbl>
              <a:tblPr firstRow="1" firstCol="1" lastRow="1" lastCol="1" bandRow="1" bandCol="1">
                <a:tableStyleId>{5C22544A-7EE6-4342-B048-85BDC9FD1C3A}</a:tableStyleId>
              </a:tblPr>
              <a:tblGrid>
                <a:gridCol w="1332073">
                  <a:extLst>
                    <a:ext uri="{9D8B030D-6E8A-4147-A177-3AD203B41FA5}">
                      <a16:colId xmlns:a16="http://schemas.microsoft.com/office/drawing/2014/main" val="20000"/>
                    </a:ext>
                  </a:extLst>
                </a:gridCol>
                <a:gridCol w="808874">
                  <a:extLst>
                    <a:ext uri="{9D8B030D-6E8A-4147-A177-3AD203B41FA5}">
                      <a16:colId xmlns:a16="http://schemas.microsoft.com/office/drawing/2014/main" val="20001"/>
                    </a:ext>
                  </a:extLst>
                </a:gridCol>
                <a:gridCol w="810592">
                  <a:extLst>
                    <a:ext uri="{9D8B030D-6E8A-4147-A177-3AD203B41FA5}">
                      <a16:colId xmlns:a16="http://schemas.microsoft.com/office/drawing/2014/main" val="20002"/>
                    </a:ext>
                  </a:extLst>
                </a:gridCol>
                <a:gridCol w="810592">
                  <a:extLst>
                    <a:ext uri="{9D8B030D-6E8A-4147-A177-3AD203B41FA5}">
                      <a16:colId xmlns:a16="http://schemas.microsoft.com/office/drawing/2014/main" val="20003"/>
                    </a:ext>
                  </a:extLst>
                </a:gridCol>
                <a:gridCol w="800276">
                  <a:extLst>
                    <a:ext uri="{9D8B030D-6E8A-4147-A177-3AD203B41FA5}">
                      <a16:colId xmlns:a16="http://schemas.microsoft.com/office/drawing/2014/main" val="20004"/>
                    </a:ext>
                  </a:extLst>
                </a:gridCol>
                <a:gridCol w="840679">
                  <a:extLst>
                    <a:ext uri="{9D8B030D-6E8A-4147-A177-3AD203B41FA5}">
                      <a16:colId xmlns:a16="http://schemas.microsoft.com/office/drawing/2014/main" val="20005"/>
                    </a:ext>
                  </a:extLst>
                </a:gridCol>
                <a:gridCol w="1048698">
                  <a:extLst>
                    <a:ext uri="{9D8B030D-6E8A-4147-A177-3AD203B41FA5}">
                      <a16:colId xmlns:a16="http://schemas.microsoft.com/office/drawing/2014/main" val="20006"/>
                    </a:ext>
                  </a:extLst>
                </a:gridCol>
                <a:gridCol w="705722">
                  <a:extLst>
                    <a:ext uri="{9D8B030D-6E8A-4147-A177-3AD203B41FA5}">
                      <a16:colId xmlns:a16="http://schemas.microsoft.com/office/drawing/2014/main" val="20007"/>
                    </a:ext>
                  </a:extLst>
                </a:gridCol>
                <a:gridCol w="611168">
                  <a:extLst>
                    <a:ext uri="{9D8B030D-6E8A-4147-A177-3AD203B41FA5}">
                      <a16:colId xmlns:a16="http://schemas.microsoft.com/office/drawing/2014/main" val="20008"/>
                    </a:ext>
                  </a:extLst>
                </a:gridCol>
                <a:gridCol w="800276">
                  <a:extLst>
                    <a:ext uri="{9D8B030D-6E8A-4147-A177-3AD203B41FA5}">
                      <a16:colId xmlns:a16="http://schemas.microsoft.com/office/drawing/2014/main" val="20009"/>
                    </a:ext>
                  </a:extLst>
                </a:gridCol>
              </a:tblGrid>
              <a:tr h="345639">
                <a:tc rowSpan="2">
                  <a:txBody>
                    <a:bodyPr/>
                    <a:lstStyle/>
                    <a:p>
                      <a:pPr algn="ctr">
                        <a:lnSpc>
                          <a:spcPct val="115000"/>
                        </a:lnSpc>
                        <a:spcAft>
                          <a:spcPts val="0"/>
                        </a:spcAft>
                      </a:pPr>
                      <a:r>
                        <a:rPr lang="es-ES_tradnl" sz="2000" dirty="0">
                          <a:effectLst/>
                          <a:latin typeface="Arial Narrow" pitchFamily="34" charset="0"/>
                        </a:rPr>
                        <a:t>DEPOSITO</a:t>
                      </a:r>
                      <a:endParaRPr lang="es-PE" sz="2000" dirty="0">
                        <a:effectLst/>
                        <a:latin typeface="Arial Narrow" pitchFamily="34" charset="0"/>
                        <a:ea typeface="Times New Roman"/>
                        <a:cs typeface="Times New Roman"/>
                      </a:endParaRPr>
                    </a:p>
                  </a:txBody>
                  <a:tcPr marL="68580" marR="68580" marT="0" marB="0"/>
                </a:tc>
                <a:tc gridSpan="5">
                  <a:txBody>
                    <a:bodyPr/>
                    <a:lstStyle/>
                    <a:p>
                      <a:pPr algn="ctr">
                        <a:lnSpc>
                          <a:spcPct val="115000"/>
                        </a:lnSpc>
                        <a:spcAft>
                          <a:spcPts val="0"/>
                        </a:spcAft>
                      </a:pPr>
                      <a:r>
                        <a:rPr lang="es-ES_tradnl" sz="2000" dirty="0">
                          <a:effectLst/>
                          <a:latin typeface="Arial Narrow" pitchFamily="34" charset="0"/>
                        </a:rPr>
                        <a:t>ALMACÉN</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rowSpan="2">
                  <a:txBody>
                    <a:bodyPr/>
                    <a:lstStyle/>
                    <a:p>
                      <a:pPr algn="ctr">
                        <a:lnSpc>
                          <a:spcPct val="115000"/>
                        </a:lnSpc>
                        <a:spcAft>
                          <a:spcPts val="0"/>
                        </a:spcAft>
                      </a:pPr>
                      <a:r>
                        <a:rPr lang="es-ES_tradnl" sz="2000" dirty="0">
                          <a:effectLst/>
                          <a:latin typeface="Arial Narrow" pitchFamily="34" charset="0"/>
                        </a:rPr>
                        <a:t>OFERTA</a:t>
                      </a:r>
                      <a:endParaRPr lang="es-PE" sz="2000" dirty="0">
                        <a:effectLst/>
                        <a:latin typeface="Arial Narrow" pitchFamily="34" charset="0"/>
                        <a:ea typeface="Times New Roman"/>
                        <a:cs typeface="Times New Roman"/>
                      </a:endParaRPr>
                    </a:p>
                  </a:txBody>
                  <a:tcPr marL="68580" marR="68580" marT="0" marB="0"/>
                </a:tc>
                <a:tc rowSpan="2">
                  <a:txBody>
                    <a:bodyPr/>
                    <a:lstStyle/>
                    <a:p>
                      <a:pPr algn="ctr">
                        <a:lnSpc>
                          <a:spcPct val="115000"/>
                        </a:lnSpc>
                        <a:spcAft>
                          <a:spcPts val="0"/>
                        </a:spcAft>
                      </a:pPr>
                      <a:r>
                        <a:rPr lang="es-ES_tradnl" sz="2000">
                          <a:effectLst/>
                          <a:latin typeface="Arial Narrow" pitchFamily="34" charset="0"/>
                        </a:rPr>
                        <a:t>P1</a:t>
                      </a:r>
                      <a:endParaRPr lang="es-PE" sz="2000">
                        <a:effectLst/>
                        <a:latin typeface="Arial Narrow" pitchFamily="34" charset="0"/>
                        <a:ea typeface="Times New Roman"/>
                        <a:cs typeface="Times New Roman"/>
                      </a:endParaRPr>
                    </a:p>
                  </a:txBody>
                  <a:tcPr marL="68580" marR="68580" marT="0" marB="0"/>
                </a:tc>
                <a:tc rowSpan="2">
                  <a:txBody>
                    <a:bodyPr/>
                    <a:lstStyle/>
                    <a:p>
                      <a:pPr algn="ctr">
                        <a:lnSpc>
                          <a:spcPct val="115000"/>
                        </a:lnSpc>
                        <a:spcAft>
                          <a:spcPts val="0"/>
                        </a:spcAft>
                      </a:pPr>
                      <a:r>
                        <a:rPr lang="es-ES_tradnl" sz="2000">
                          <a:effectLst/>
                          <a:latin typeface="Arial Narrow" pitchFamily="34" charset="0"/>
                        </a:rPr>
                        <a:t>P2</a:t>
                      </a:r>
                      <a:endParaRPr lang="es-PE" sz="2000">
                        <a:effectLst/>
                        <a:latin typeface="Arial Narrow" pitchFamily="34" charset="0"/>
                        <a:ea typeface="Times New Roman"/>
                        <a:cs typeface="Times New Roman"/>
                      </a:endParaRPr>
                    </a:p>
                  </a:txBody>
                  <a:tcPr marL="68580" marR="68580" marT="0" marB="0"/>
                </a:tc>
                <a:tc rowSpan="2">
                  <a:txBody>
                    <a:bodyPr/>
                    <a:lstStyle/>
                    <a:p>
                      <a:pPr algn="ctr">
                        <a:lnSpc>
                          <a:spcPct val="115000"/>
                        </a:lnSpc>
                        <a:spcAft>
                          <a:spcPts val="0"/>
                        </a:spcAft>
                      </a:pPr>
                      <a:r>
                        <a:rPr lang="es-ES_tradnl" sz="2000">
                          <a:effectLst/>
                          <a:latin typeface="Arial Narrow" pitchFamily="34" charset="0"/>
                        </a:rPr>
                        <a:t>P3</a:t>
                      </a:r>
                      <a:endParaRPr lang="es-PE" sz="200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0"/>
                  </a:ext>
                </a:extLst>
              </a:tr>
              <a:tr h="345639">
                <a:tc vMerge="1">
                  <a:txBody>
                    <a:bodyPr/>
                    <a:lstStyle/>
                    <a:p>
                      <a:endParaRPr lang="es-PE"/>
                    </a:p>
                  </a:txBody>
                  <a:tcPr/>
                </a:tc>
                <a:tc>
                  <a:txBody>
                    <a:bodyPr/>
                    <a:lstStyle/>
                    <a:p>
                      <a:pPr algn="ctr">
                        <a:lnSpc>
                          <a:spcPct val="115000"/>
                        </a:lnSpc>
                        <a:spcAft>
                          <a:spcPts val="0"/>
                        </a:spcAft>
                      </a:pPr>
                      <a:r>
                        <a:rPr lang="es-ES_tradnl" sz="2000" dirty="0">
                          <a:effectLst/>
                          <a:latin typeface="Arial Narrow" pitchFamily="34" charset="0"/>
                        </a:rPr>
                        <a:t>1</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a:txBody>
                    <a:bodyPr/>
                    <a:lstStyle/>
                    <a:p>
                      <a:pPr algn="ctr">
                        <a:lnSpc>
                          <a:spcPct val="115000"/>
                        </a:lnSpc>
                        <a:spcAft>
                          <a:spcPts val="0"/>
                        </a:spcAft>
                      </a:pPr>
                      <a:r>
                        <a:rPr lang="es-ES_tradnl" sz="2000" dirty="0">
                          <a:effectLst/>
                          <a:latin typeface="Arial Narrow" pitchFamily="34" charset="0"/>
                        </a:rPr>
                        <a:t>2</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a:txBody>
                    <a:bodyPr/>
                    <a:lstStyle/>
                    <a:p>
                      <a:pPr algn="ctr">
                        <a:lnSpc>
                          <a:spcPct val="115000"/>
                        </a:lnSpc>
                        <a:spcAft>
                          <a:spcPts val="0"/>
                        </a:spcAft>
                      </a:pPr>
                      <a:r>
                        <a:rPr lang="es-ES_tradnl" sz="2000" dirty="0">
                          <a:effectLst/>
                          <a:latin typeface="Arial Narrow" pitchFamily="34" charset="0"/>
                        </a:rPr>
                        <a:t>3</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a:txBody>
                    <a:bodyPr/>
                    <a:lstStyle/>
                    <a:p>
                      <a:pPr algn="ctr">
                        <a:lnSpc>
                          <a:spcPct val="115000"/>
                        </a:lnSpc>
                        <a:spcAft>
                          <a:spcPts val="0"/>
                        </a:spcAft>
                      </a:pPr>
                      <a:r>
                        <a:rPr lang="es-ES_tradnl" sz="2000" dirty="0">
                          <a:effectLst/>
                          <a:latin typeface="Arial Narrow" pitchFamily="34" charset="0"/>
                        </a:rPr>
                        <a:t>4</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a:txBody>
                    <a:bodyPr/>
                    <a:lstStyle/>
                    <a:p>
                      <a:pPr algn="ctr">
                        <a:lnSpc>
                          <a:spcPct val="115000"/>
                        </a:lnSpc>
                        <a:spcAft>
                          <a:spcPts val="0"/>
                        </a:spcAft>
                      </a:pPr>
                      <a:r>
                        <a:rPr lang="es-ES_tradnl" sz="2000" dirty="0">
                          <a:effectLst/>
                          <a:latin typeface="Arial Narrow" pitchFamily="34" charset="0"/>
                        </a:rPr>
                        <a:t>5</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vMerge="1">
                  <a:txBody>
                    <a:bodyPr/>
                    <a:lstStyle/>
                    <a:p>
                      <a:endParaRPr lang="es-PE"/>
                    </a:p>
                  </a:txBody>
                  <a:tcPr/>
                </a:tc>
                <a:tc vMerge="1">
                  <a:txBody>
                    <a:bodyPr/>
                    <a:lstStyle/>
                    <a:p>
                      <a:endParaRPr lang="es-PE"/>
                    </a:p>
                  </a:txBody>
                  <a:tcPr/>
                </a:tc>
                <a:tc vMerge="1">
                  <a:txBody>
                    <a:bodyPr/>
                    <a:lstStyle/>
                    <a:p>
                      <a:endParaRPr lang="es-PE"/>
                    </a:p>
                  </a:txBody>
                  <a:tcPr/>
                </a:tc>
                <a:tc vMerge="1">
                  <a:txBody>
                    <a:bodyPr/>
                    <a:lstStyle/>
                    <a:p>
                      <a:endParaRPr lang="es-PE"/>
                    </a:p>
                  </a:txBody>
                  <a:tcPr/>
                </a:tc>
                <a:extLst>
                  <a:ext uri="{0D108BD9-81ED-4DB2-BD59-A6C34878D82A}">
                    <a16:rowId xmlns:a16="http://schemas.microsoft.com/office/drawing/2014/main" val="10001"/>
                  </a:ext>
                </a:extLst>
              </a:tr>
              <a:tr h="345639">
                <a:tc>
                  <a:txBody>
                    <a:bodyPr/>
                    <a:lstStyle/>
                    <a:p>
                      <a:pPr algn="ctr">
                        <a:lnSpc>
                          <a:spcPct val="115000"/>
                        </a:lnSpc>
                        <a:spcAft>
                          <a:spcPts val="0"/>
                        </a:spcAft>
                      </a:pPr>
                      <a:r>
                        <a:rPr lang="es-ES_tradnl" sz="2000">
                          <a:effectLst/>
                          <a:latin typeface="Arial Narrow" pitchFamily="34" charset="0"/>
                        </a:rPr>
                        <a:t>A</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5</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7</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4</a:t>
                      </a:r>
                      <a:endParaRPr lang="es-PE" sz="2000" dirty="0">
                        <a:effectLst/>
                        <a:latin typeface="Arial Narrow" pitchFamily="34" charset="0"/>
                        <a:ea typeface="Times New Roman"/>
                        <a:cs typeface="Times New Roman"/>
                      </a:endParaRPr>
                    </a:p>
                  </a:txBody>
                  <a:tcPr marL="68580" marR="68580" marT="0" marB="0">
                    <a:solidFill>
                      <a:srgbClr val="FFFF00"/>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4</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750/300/120</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1 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2"/>
                  </a:ext>
                </a:extLst>
              </a:tr>
              <a:tr h="345639">
                <a:tc>
                  <a:txBody>
                    <a:bodyPr/>
                    <a:lstStyle/>
                    <a:p>
                      <a:pPr algn="ctr">
                        <a:lnSpc>
                          <a:spcPct val="115000"/>
                        </a:lnSpc>
                        <a:spcAft>
                          <a:spcPts val="0"/>
                        </a:spcAft>
                      </a:pPr>
                      <a:r>
                        <a:rPr lang="es-ES_tradnl" sz="2000">
                          <a:effectLst/>
                          <a:latin typeface="Arial Narrow" pitchFamily="34" charset="0"/>
                        </a:rPr>
                        <a:t>B</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4</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7 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8 </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6 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350</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2</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2</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3"/>
                  </a:ext>
                </a:extLst>
              </a:tr>
              <a:tr h="345639">
                <a:tc>
                  <a:txBody>
                    <a:bodyPr/>
                    <a:lstStyle/>
                    <a:p>
                      <a:pPr algn="ctr">
                        <a:lnSpc>
                          <a:spcPct val="115000"/>
                        </a:lnSpc>
                        <a:spcAft>
                          <a:spcPts val="0"/>
                        </a:spcAft>
                      </a:pPr>
                      <a:r>
                        <a:rPr lang="es-ES_tradnl" sz="2000">
                          <a:effectLst/>
                          <a:latin typeface="Arial Narrow" pitchFamily="34" charset="0"/>
                        </a:rPr>
                        <a:t>C</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6</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7 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8 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9 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400</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4"/>
                  </a:ext>
                </a:extLst>
              </a:tr>
              <a:tr h="407643">
                <a:tc>
                  <a:txBody>
                    <a:bodyPr/>
                    <a:lstStyle/>
                    <a:p>
                      <a:pPr algn="ctr">
                        <a:lnSpc>
                          <a:spcPct val="115000"/>
                        </a:lnSpc>
                        <a:spcAft>
                          <a:spcPts val="0"/>
                        </a:spcAft>
                      </a:pPr>
                      <a:r>
                        <a:rPr lang="es-ES_tradnl" sz="2000">
                          <a:effectLst/>
                          <a:latin typeface="Arial Narrow" pitchFamily="34" charset="0"/>
                        </a:rPr>
                        <a:t>DEMANDA</a:t>
                      </a:r>
                      <a:endParaRPr lang="es-PE" sz="2000">
                        <a:effectLst/>
                        <a:latin typeface="Arial Narrow" pitchFamily="34" charset="0"/>
                      </a:endParaRPr>
                    </a:p>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400 </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260 </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180/0 </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450/0 </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210 </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1500</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5"/>
                  </a:ext>
                </a:extLst>
              </a:tr>
              <a:tr h="345639">
                <a:tc>
                  <a:txBody>
                    <a:bodyPr/>
                    <a:lstStyle/>
                    <a:p>
                      <a:pPr algn="ctr">
                        <a:lnSpc>
                          <a:spcPct val="115000"/>
                        </a:lnSpc>
                        <a:spcAft>
                          <a:spcPts val="0"/>
                        </a:spcAft>
                      </a:pPr>
                      <a:r>
                        <a:rPr lang="es-ES_tradnl" sz="2000">
                          <a:effectLst/>
                          <a:latin typeface="Arial Narrow" pitchFamily="34" charset="0"/>
                        </a:rPr>
                        <a:t>P1</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0</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3</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4 </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3</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6"/>
                  </a:ext>
                </a:extLst>
              </a:tr>
              <a:tr h="345639">
                <a:tc>
                  <a:txBody>
                    <a:bodyPr/>
                    <a:lstStyle/>
                    <a:p>
                      <a:pPr algn="ctr">
                        <a:lnSpc>
                          <a:spcPct val="115000"/>
                        </a:lnSpc>
                        <a:spcAft>
                          <a:spcPts val="0"/>
                        </a:spcAft>
                      </a:pPr>
                      <a:r>
                        <a:rPr lang="es-ES_tradnl" sz="2000">
                          <a:effectLst/>
                          <a:latin typeface="Arial Narrow" pitchFamily="34" charset="0"/>
                        </a:rPr>
                        <a:t>P2</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dirty="0">
                          <a:effectLst/>
                          <a:latin typeface="Arial Narrow" pitchFamily="34" charset="0"/>
                        </a:rPr>
                        <a:t>0 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dirty="0">
                          <a:effectLst/>
                          <a:latin typeface="Arial Narrow" pitchFamily="34" charset="0"/>
                        </a:rPr>
                        <a:t>3 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dirty="0">
                          <a:effectLst/>
                          <a:latin typeface="Arial Narrow" pitchFamily="34" charset="0"/>
                        </a:rPr>
                        <a:t>3 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7"/>
                  </a:ext>
                </a:extLst>
              </a:tr>
              <a:tr h="345639">
                <a:tc>
                  <a:txBody>
                    <a:bodyPr/>
                    <a:lstStyle/>
                    <a:p>
                      <a:pPr algn="ctr">
                        <a:lnSpc>
                          <a:spcPct val="115000"/>
                        </a:lnSpc>
                        <a:spcAft>
                          <a:spcPts val="0"/>
                        </a:spcAft>
                      </a:pPr>
                      <a:r>
                        <a:rPr lang="es-ES_tradnl" sz="2000">
                          <a:effectLst/>
                          <a:latin typeface="Arial Narrow" pitchFamily="34" charset="0"/>
                        </a:rPr>
                        <a:t>P3</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8"/>
                  </a:ext>
                </a:extLst>
              </a:tr>
            </a:tbl>
          </a:graphicData>
        </a:graphic>
      </p:graphicFrame>
      <p:sp>
        <p:nvSpPr>
          <p:cNvPr id="4" name="2 CuadroTexto">
            <a:extLst>
              <a:ext uri="{FF2B5EF4-FFF2-40B4-BE49-F238E27FC236}">
                <a16:creationId xmlns:a16="http://schemas.microsoft.com/office/drawing/2014/main" id="{C3D1458E-2F82-4512-B160-F10C25ED235F}"/>
              </a:ext>
            </a:extLst>
          </p:cNvPr>
          <p:cNvSpPr txBox="1"/>
          <p:nvPr/>
        </p:nvSpPr>
        <p:spPr>
          <a:xfrm>
            <a:off x="9437298" y="2704082"/>
            <a:ext cx="2648310" cy="646331"/>
          </a:xfrm>
          <a:prstGeom prst="rect">
            <a:avLst/>
          </a:prstGeom>
          <a:noFill/>
        </p:spPr>
        <p:txBody>
          <a:bodyPr wrap="square" rtlCol="0">
            <a:spAutoFit/>
          </a:bodyPr>
          <a:lstStyle/>
          <a:p>
            <a:r>
              <a:rPr lang="es-ES" dirty="0" err="1">
                <a:latin typeface="Arial Narrow" panose="020B0606020202030204" pitchFamily="34" charset="0"/>
              </a:rPr>
              <a:t>X14</a:t>
            </a:r>
            <a:r>
              <a:rPr lang="es-ES" dirty="0">
                <a:latin typeface="Arial Narrow" panose="020B0606020202030204" pitchFamily="34" charset="0"/>
              </a:rPr>
              <a:t>=</a:t>
            </a:r>
            <a:r>
              <a:rPr lang="es-ES" dirty="0" err="1">
                <a:latin typeface="Arial Narrow" panose="020B0606020202030204" pitchFamily="34" charset="0"/>
              </a:rPr>
              <a:t>450</a:t>
            </a:r>
            <a:r>
              <a:rPr lang="es-ES" dirty="0" err="1">
                <a:latin typeface="Arial Narrow" panose="020B0606020202030204" pitchFamily="34" charset="0"/>
                <a:sym typeface="Wingdings" pitchFamily="2" charset="2"/>
              </a:rPr>
              <a:t>C</a:t>
            </a:r>
            <a:r>
              <a:rPr lang="es-ES" dirty="0">
                <a:latin typeface="Arial Narrow" panose="020B0606020202030204" pitchFamily="34" charset="0"/>
                <a:sym typeface="Wingdings" pitchFamily="2" charset="2"/>
              </a:rPr>
              <a:t>=450*4=1800</a:t>
            </a:r>
          </a:p>
          <a:p>
            <a:r>
              <a:rPr lang="es-ES" dirty="0" err="1">
                <a:latin typeface="Arial Narrow" panose="020B0606020202030204" pitchFamily="34" charset="0"/>
                <a:sym typeface="Wingdings" pitchFamily="2" charset="2"/>
              </a:rPr>
              <a:t>X13</a:t>
            </a:r>
            <a:r>
              <a:rPr lang="es-ES" dirty="0">
                <a:latin typeface="Arial Narrow" panose="020B0606020202030204" pitchFamily="34" charset="0"/>
                <a:sym typeface="Wingdings" pitchFamily="2" charset="2"/>
              </a:rPr>
              <a:t>=</a:t>
            </a:r>
            <a:r>
              <a:rPr lang="es-ES" dirty="0" err="1">
                <a:latin typeface="Arial Narrow" panose="020B0606020202030204" pitchFamily="34" charset="0"/>
                <a:sym typeface="Wingdings" pitchFamily="2" charset="2"/>
              </a:rPr>
              <a:t>180C</a:t>
            </a:r>
            <a:r>
              <a:rPr lang="es-ES" dirty="0">
                <a:latin typeface="Arial Narrow" panose="020B0606020202030204" pitchFamily="34" charset="0"/>
                <a:sym typeface="Wingdings" pitchFamily="2" charset="2"/>
              </a:rPr>
              <a:t>=180*4=720</a:t>
            </a:r>
          </a:p>
        </p:txBody>
      </p:sp>
    </p:spTree>
    <p:extLst>
      <p:ext uri="{BB962C8B-B14F-4D97-AF65-F5344CB8AC3E}">
        <p14:creationId xmlns:p14="http://schemas.microsoft.com/office/powerpoint/2010/main" val="1505401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Tabla"/>
          <p:cNvGraphicFramePr>
            <a:graphicFrameLocks noGrp="1"/>
          </p:cNvGraphicFramePr>
          <p:nvPr/>
        </p:nvGraphicFramePr>
        <p:xfrm>
          <a:off x="702857" y="1427399"/>
          <a:ext cx="8568950" cy="3759069"/>
        </p:xfrm>
        <a:graphic>
          <a:graphicData uri="http://schemas.openxmlformats.org/drawingml/2006/table">
            <a:tbl>
              <a:tblPr firstRow="1" firstCol="1" lastRow="1" lastCol="1" bandRow="1" bandCol="1">
                <a:tableStyleId>{5C22544A-7EE6-4342-B048-85BDC9FD1C3A}</a:tableStyleId>
              </a:tblPr>
              <a:tblGrid>
                <a:gridCol w="1332073">
                  <a:extLst>
                    <a:ext uri="{9D8B030D-6E8A-4147-A177-3AD203B41FA5}">
                      <a16:colId xmlns:a16="http://schemas.microsoft.com/office/drawing/2014/main" val="20000"/>
                    </a:ext>
                  </a:extLst>
                </a:gridCol>
                <a:gridCol w="808874">
                  <a:extLst>
                    <a:ext uri="{9D8B030D-6E8A-4147-A177-3AD203B41FA5}">
                      <a16:colId xmlns:a16="http://schemas.microsoft.com/office/drawing/2014/main" val="20001"/>
                    </a:ext>
                  </a:extLst>
                </a:gridCol>
                <a:gridCol w="810592">
                  <a:extLst>
                    <a:ext uri="{9D8B030D-6E8A-4147-A177-3AD203B41FA5}">
                      <a16:colId xmlns:a16="http://schemas.microsoft.com/office/drawing/2014/main" val="20002"/>
                    </a:ext>
                  </a:extLst>
                </a:gridCol>
                <a:gridCol w="810592">
                  <a:extLst>
                    <a:ext uri="{9D8B030D-6E8A-4147-A177-3AD203B41FA5}">
                      <a16:colId xmlns:a16="http://schemas.microsoft.com/office/drawing/2014/main" val="20003"/>
                    </a:ext>
                  </a:extLst>
                </a:gridCol>
                <a:gridCol w="800276">
                  <a:extLst>
                    <a:ext uri="{9D8B030D-6E8A-4147-A177-3AD203B41FA5}">
                      <a16:colId xmlns:a16="http://schemas.microsoft.com/office/drawing/2014/main" val="20004"/>
                    </a:ext>
                  </a:extLst>
                </a:gridCol>
                <a:gridCol w="840679">
                  <a:extLst>
                    <a:ext uri="{9D8B030D-6E8A-4147-A177-3AD203B41FA5}">
                      <a16:colId xmlns:a16="http://schemas.microsoft.com/office/drawing/2014/main" val="20005"/>
                    </a:ext>
                  </a:extLst>
                </a:gridCol>
                <a:gridCol w="1048698">
                  <a:extLst>
                    <a:ext uri="{9D8B030D-6E8A-4147-A177-3AD203B41FA5}">
                      <a16:colId xmlns:a16="http://schemas.microsoft.com/office/drawing/2014/main" val="20006"/>
                    </a:ext>
                  </a:extLst>
                </a:gridCol>
                <a:gridCol w="705722">
                  <a:extLst>
                    <a:ext uri="{9D8B030D-6E8A-4147-A177-3AD203B41FA5}">
                      <a16:colId xmlns:a16="http://schemas.microsoft.com/office/drawing/2014/main" val="20007"/>
                    </a:ext>
                  </a:extLst>
                </a:gridCol>
                <a:gridCol w="611168">
                  <a:extLst>
                    <a:ext uri="{9D8B030D-6E8A-4147-A177-3AD203B41FA5}">
                      <a16:colId xmlns:a16="http://schemas.microsoft.com/office/drawing/2014/main" val="20008"/>
                    </a:ext>
                  </a:extLst>
                </a:gridCol>
                <a:gridCol w="800276">
                  <a:extLst>
                    <a:ext uri="{9D8B030D-6E8A-4147-A177-3AD203B41FA5}">
                      <a16:colId xmlns:a16="http://schemas.microsoft.com/office/drawing/2014/main" val="20009"/>
                    </a:ext>
                  </a:extLst>
                </a:gridCol>
              </a:tblGrid>
              <a:tr h="345639">
                <a:tc rowSpan="2">
                  <a:txBody>
                    <a:bodyPr/>
                    <a:lstStyle/>
                    <a:p>
                      <a:pPr algn="ctr">
                        <a:lnSpc>
                          <a:spcPct val="115000"/>
                        </a:lnSpc>
                        <a:spcAft>
                          <a:spcPts val="0"/>
                        </a:spcAft>
                      </a:pPr>
                      <a:r>
                        <a:rPr lang="es-ES_tradnl" sz="2000" dirty="0">
                          <a:effectLst/>
                          <a:latin typeface="Arial Narrow" pitchFamily="34" charset="0"/>
                        </a:rPr>
                        <a:t>DEPOSITO</a:t>
                      </a:r>
                      <a:endParaRPr lang="es-PE" sz="2000" dirty="0">
                        <a:effectLst/>
                        <a:latin typeface="Arial Narrow" pitchFamily="34" charset="0"/>
                        <a:ea typeface="Times New Roman"/>
                        <a:cs typeface="Times New Roman"/>
                      </a:endParaRPr>
                    </a:p>
                  </a:txBody>
                  <a:tcPr marL="68580" marR="68580" marT="0" marB="0"/>
                </a:tc>
                <a:tc gridSpan="5">
                  <a:txBody>
                    <a:bodyPr/>
                    <a:lstStyle/>
                    <a:p>
                      <a:pPr algn="ctr">
                        <a:lnSpc>
                          <a:spcPct val="115000"/>
                        </a:lnSpc>
                        <a:spcAft>
                          <a:spcPts val="0"/>
                        </a:spcAft>
                      </a:pPr>
                      <a:r>
                        <a:rPr lang="es-ES_tradnl" sz="2000" dirty="0">
                          <a:effectLst/>
                          <a:latin typeface="Arial Narrow" pitchFamily="34" charset="0"/>
                        </a:rPr>
                        <a:t>ALMACÉN</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rowSpan="2">
                  <a:txBody>
                    <a:bodyPr/>
                    <a:lstStyle/>
                    <a:p>
                      <a:pPr algn="ctr">
                        <a:lnSpc>
                          <a:spcPct val="115000"/>
                        </a:lnSpc>
                        <a:spcAft>
                          <a:spcPts val="0"/>
                        </a:spcAft>
                      </a:pPr>
                      <a:r>
                        <a:rPr lang="es-ES_tradnl" sz="2000" dirty="0">
                          <a:effectLst/>
                          <a:latin typeface="Arial Narrow" pitchFamily="34" charset="0"/>
                        </a:rPr>
                        <a:t>OFERTA</a:t>
                      </a:r>
                      <a:endParaRPr lang="es-PE" sz="2000" dirty="0">
                        <a:effectLst/>
                        <a:latin typeface="Arial Narrow" pitchFamily="34" charset="0"/>
                        <a:ea typeface="Times New Roman"/>
                        <a:cs typeface="Times New Roman"/>
                      </a:endParaRPr>
                    </a:p>
                  </a:txBody>
                  <a:tcPr marL="68580" marR="68580" marT="0" marB="0"/>
                </a:tc>
                <a:tc rowSpan="2">
                  <a:txBody>
                    <a:bodyPr/>
                    <a:lstStyle/>
                    <a:p>
                      <a:pPr algn="ctr">
                        <a:lnSpc>
                          <a:spcPct val="115000"/>
                        </a:lnSpc>
                        <a:spcAft>
                          <a:spcPts val="0"/>
                        </a:spcAft>
                      </a:pPr>
                      <a:r>
                        <a:rPr lang="es-ES_tradnl" sz="2000">
                          <a:effectLst/>
                          <a:latin typeface="Arial Narrow" pitchFamily="34" charset="0"/>
                        </a:rPr>
                        <a:t>P1</a:t>
                      </a:r>
                      <a:endParaRPr lang="es-PE" sz="2000">
                        <a:effectLst/>
                        <a:latin typeface="Arial Narrow" pitchFamily="34" charset="0"/>
                        <a:ea typeface="Times New Roman"/>
                        <a:cs typeface="Times New Roman"/>
                      </a:endParaRPr>
                    </a:p>
                  </a:txBody>
                  <a:tcPr marL="68580" marR="68580" marT="0" marB="0"/>
                </a:tc>
                <a:tc rowSpan="2">
                  <a:txBody>
                    <a:bodyPr/>
                    <a:lstStyle/>
                    <a:p>
                      <a:pPr algn="ctr">
                        <a:lnSpc>
                          <a:spcPct val="115000"/>
                        </a:lnSpc>
                        <a:spcAft>
                          <a:spcPts val="0"/>
                        </a:spcAft>
                      </a:pPr>
                      <a:r>
                        <a:rPr lang="es-ES_tradnl" sz="2000">
                          <a:effectLst/>
                          <a:latin typeface="Arial Narrow" pitchFamily="34" charset="0"/>
                        </a:rPr>
                        <a:t>P2</a:t>
                      </a:r>
                      <a:endParaRPr lang="es-PE" sz="2000">
                        <a:effectLst/>
                        <a:latin typeface="Arial Narrow" pitchFamily="34" charset="0"/>
                        <a:ea typeface="Times New Roman"/>
                        <a:cs typeface="Times New Roman"/>
                      </a:endParaRPr>
                    </a:p>
                  </a:txBody>
                  <a:tcPr marL="68580" marR="68580" marT="0" marB="0"/>
                </a:tc>
                <a:tc rowSpan="2">
                  <a:txBody>
                    <a:bodyPr/>
                    <a:lstStyle/>
                    <a:p>
                      <a:pPr algn="ctr">
                        <a:lnSpc>
                          <a:spcPct val="115000"/>
                        </a:lnSpc>
                        <a:spcAft>
                          <a:spcPts val="0"/>
                        </a:spcAft>
                      </a:pPr>
                      <a:r>
                        <a:rPr lang="es-ES_tradnl" sz="2000" dirty="0" err="1">
                          <a:effectLst/>
                          <a:latin typeface="Arial Narrow" pitchFamily="34" charset="0"/>
                        </a:rPr>
                        <a:t>P3</a:t>
                      </a: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0"/>
                  </a:ext>
                </a:extLst>
              </a:tr>
              <a:tr h="345639">
                <a:tc vMerge="1">
                  <a:txBody>
                    <a:bodyPr/>
                    <a:lstStyle/>
                    <a:p>
                      <a:endParaRPr lang="es-PE"/>
                    </a:p>
                  </a:txBody>
                  <a:tcPr/>
                </a:tc>
                <a:tc>
                  <a:txBody>
                    <a:bodyPr/>
                    <a:lstStyle/>
                    <a:p>
                      <a:pPr algn="ctr">
                        <a:lnSpc>
                          <a:spcPct val="115000"/>
                        </a:lnSpc>
                        <a:spcAft>
                          <a:spcPts val="0"/>
                        </a:spcAft>
                      </a:pPr>
                      <a:r>
                        <a:rPr lang="es-ES_tradnl" sz="2000" dirty="0">
                          <a:effectLst/>
                          <a:latin typeface="Arial Narrow" pitchFamily="34" charset="0"/>
                        </a:rPr>
                        <a:t>1</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a:txBody>
                    <a:bodyPr/>
                    <a:lstStyle/>
                    <a:p>
                      <a:pPr algn="ctr">
                        <a:lnSpc>
                          <a:spcPct val="115000"/>
                        </a:lnSpc>
                        <a:spcAft>
                          <a:spcPts val="0"/>
                        </a:spcAft>
                      </a:pPr>
                      <a:r>
                        <a:rPr lang="es-ES_tradnl" sz="2000" dirty="0">
                          <a:effectLst/>
                          <a:latin typeface="Arial Narrow" pitchFamily="34" charset="0"/>
                        </a:rPr>
                        <a:t>2</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a:txBody>
                    <a:bodyPr/>
                    <a:lstStyle/>
                    <a:p>
                      <a:pPr algn="ctr">
                        <a:lnSpc>
                          <a:spcPct val="115000"/>
                        </a:lnSpc>
                        <a:spcAft>
                          <a:spcPts val="0"/>
                        </a:spcAft>
                      </a:pPr>
                      <a:r>
                        <a:rPr lang="es-ES_tradnl" sz="2000" dirty="0">
                          <a:effectLst/>
                          <a:latin typeface="Arial Narrow" pitchFamily="34" charset="0"/>
                        </a:rPr>
                        <a:t>3</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a:txBody>
                    <a:bodyPr/>
                    <a:lstStyle/>
                    <a:p>
                      <a:pPr algn="ctr">
                        <a:lnSpc>
                          <a:spcPct val="115000"/>
                        </a:lnSpc>
                        <a:spcAft>
                          <a:spcPts val="0"/>
                        </a:spcAft>
                      </a:pPr>
                      <a:r>
                        <a:rPr lang="es-ES_tradnl" sz="2000" dirty="0">
                          <a:effectLst/>
                          <a:latin typeface="Arial Narrow" pitchFamily="34" charset="0"/>
                        </a:rPr>
                        <a:t>4</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a:txBody>
                    <a:bodyPr/>
                    <a:lstStyle/>
                    <a:p>
                      <a:pPr algn="ctr">
                        <a:lnSpc>
                          <a:spcPct val="115000"/>
                        </a:lnSpc>
                        <a:spcAft>
                          <a:spcPts val="0"/>
                        </a:spcAft>
                      </a:pPr>
                      <a:r>
                        <a:rPr lang="es-ES_tradnl" sz="2000" dirty="0">
                          <a:effectLst/>
                          <a:latin typeface="Arial Narrow" pitchFamily="34" charset="0"/>
                        </a:rPr>
                        <a:t>5</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vMerge="1">
                  <a:txBody>
                    <a:bodyPr/>
                    <a:lstStyle/>
                    <a:p>
                      <a:endParaRPr lang="es-PE"/>
                    </a:p>
                  </a:txBody>
                  <a:tcPr/>
                </a:tc>
                <a:tc vMerge="1">
                  <a:txBody>
                    <a:bodyPr/>
                    <a:lstStyle/>
                    <a:p>
                      <a:endParaRPr lang="es-PE"/>
                    </a:p>
                  </a:txBody>
                  <a:tcPr/>
                </a:tc>
                <a:tc vMerge="1">
                  <a:txBody>
                    <a:bodyPr/>
                    <a:lstStyle/>
                    <a:p>
                      <a:endParaRPr lang="es-PE"/>
                    </a:p>
                  </a:txBody>
                  <a:tcPr/>
                </a:tc>
                <a:tc vMerge="1">
                  <a:txBody>
                    <a:bodyPr/>
                    <a:lstStyle/>
                    <a:p>
                      <a:endParaRPr lang="es-PE"/>
                    </a:p>
                  </a:txBody>
                  <a:tcPr/>
                </a:tc>
                <a:extLst>
                  <a:ext uri="{0D108BD9-81ED-4DB2-BD59-A6C34878D82A}">
                    <a16:rowId xmlns:a16="http://schemas.microsoft.com/office/drawing/2014/main" val="10001"/>
                  </a:ext>
                </a:extLst>
              </a:tr>
              <a:tr h="345639">
                <a:tc>
                  <a:txBody>
                    <a:bodyPr/>
                    <a:lstStyle/>
                    <a:p>
                      <a:pPr algn="ctr">
                        <a:lnSpc>
                          <a:spcPct val="115000"/>
                        </a:lnSpc>
                        <a:spcAft>
                          <a:spcPts val="0"/>
                        </a:spcAft>
                      </a:pPr>
                      <a:r>
                        <a:rPr lang="es-ES_tradnl" sz="2000" dirty="0">
                          <a:effectLst/>
                          <a:latin typeface="Arial Narrow" pitchFamily="34" charset="0"/>
                        </a:rPr>
                        <a:t>A</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5</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7</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4</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4</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750/300/120</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1 </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2 </a:t>
                      </a: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2"/>
                  </a:ext>
                </a:extLst>
              </a:tr>
              <a:tr h="345639">
                <a:tc>
                  <a:txBody>
                    <a:bodyPr/>
                    <a:lstStyle/>
                    <a:p>
                      <a:pPr algn="ctr">
                        <a:lnSpc>
                          <a:spcPct val="115000"/>
                        </a:lnSpc>
                        <a:spcAft>
                          <a:spcPts val="0"/>
                        </a:spcAft>
                      </a:pPr>
                      <a:r>
                        <a:rPr lang="es-ES_tradnl" sz="2000">
                          <a:effectLst/>
                          <a:latin typeface="Arial Narrow" pitchFamily="34" charset="0"/>
                        </a:rPr>
                        <a:t>B</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4</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7 </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8 </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6 </a:t>
                      </a:r>
                      <a:endParaRPr lang="es-PE" sz="2000" dirty="0">
                        <a:effectLst/>
                        <a:latin typeface="Arial Narrow" pitchFamily="34" charset="0"/>
                        <a:ea typeface="Times New Roman"/>
                        <a:cs typeface="Times New Roman"/>
                      </a:endParaRPr>
                    </a:p>
                  </a:txBody>
                  <a:tcPr marL="68580" marR="68580" marT="0" marB="0">
                    <a:solidFill>
                      <a:srgbClr val="FFFF00"/>
                    </a:solidFill>
                  </a:tcPr>
                </a:tc>
                <a:tc>
                  <a:txBody>
                    <a:bodyPr/>
                    <a:lstStyle/>
                    <a:p>
                      <a:pPr algn="ctr">
                        <a:lnSpc>
                          <a:spcPct val="115000"/>
                        </a:lnSpc>
                        <a:spcAft>
                          <a:spcPts val="0"/>
                        </a:spcAft>
                      </a:pPr>
                      <a:r>
                        <a:rPr lang="es-ES_tradnl" sz="2000" dirty="0">
                          <a:effectLst/>
                          <a:latin typeface="Arial Narrow" pitchFamily="34" charset="0"/>
                        </a:rPr>
                        <a:t> 350/140</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2</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2</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 2</a:t>
                      </a: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3"/>
                  </a:ext>
                </a:extLst>
              </a:tr>
              <a:tr h="345639">
                <a:tc>
                  <a:txBody>
                    <a:bodyPr/>
                    <a:lstStyle/>
                    <a:p>
                      <a:pPr algn="ctr">
                        <a:lnSpc>
                          <a:spcPct val="115000"/>
                        </a:lnSpc>
                        <a:spcAft>
                          <a:spcPts val="0"/>
                        </a:spcAft>
                      </a:pPr>
                      <a:r>
                        <a:rPr lang="es-ES_tradnl" sz="2000">
                          <a:effectLst/>
                          <a:latin typeface="Arial Narrow" pitchFamily="34" charset="0"/>
                        </a:rPr>
                        <a:t>C</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6</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7 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8 </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9 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400</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4"/>
                  </a:ext>
                </a:extLst>
              </a:tr>
              <a:tr h="407643">
                <a:tc>
                  <a:txBody>
                    <a:bodyPr/>
                    <a:lstStyle/>
                    <a:p>
                      <a:pPr algn="ctr">
                        <a:lnSpc>
                          <a:spcPct val="115000"/>
                        </a:lnSpc>
                        <a:spcAft>
                          <a:spcPts val="0"/>
                        </a:spcAft>
                      </a:pPr>
                      <a:r>
                        <a:rPr lang="es-ES_tradnl" sz="2000">
                          <a:effectLst/>
                          <a:latin typeface="Arial Narrow" pitchFamily="34" charset="0"/>
                        </a:rPr>
                        <a:t>DEMANDA</a:t>
                      </a:r>
                      <a:endParaRPr lang="es-PE" sz="2000">
                        <a:effectLst/>
                        <a:latin typeface="Arial Narrow" pitchFamily="34" charset="0"/>
                      </a:endParaRPr>
                    </a:p>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400 </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260 </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180/0 </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450/0 </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210/0 </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1500</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5"/>
                  </a:ext>
                </a:extLst>
              </a:tr>
              <a:tr h="345639">
                <a:tc>
                  <a:txBody>
                    <a:bodyPr/>
                    <a:lstStyle/>
                    <a:p>
                      <a:pPr algn="ctr">
                        <a:lnSpc>
                          <a:spcPct val="115000"/>
                        </a:lnSpc>
                        <a:spcAft>
                          <a:spcPts val="0"/>
                        </a:spcAft>
                      </a:pPr>
                      <a:r>
                        <a:rPr lang="es-ES_tradnl" sz="2000">
                          <a:effectLst/>
                          <a:latin typeface="Arial Narrow" pitchFamily="34" charset="0"/>
                        </a:rPr>
                        <a:t>P1</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0</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3</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4 </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3</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6"/>
                  </a:ext>
                </a:extLst>
              </a:tr>
              <a:tr h="345639">
                <a:tc>
                  <a:txBody>
                    <a:bodyPr/>
                    <a:lstStyle/>
                    <a:p>
                      <a:pPr algn="ctr">
                        <a:lnSpc>
                          <a:spcPct val="115000"/>
                        </a:lnSpc>
                        <a:spcAft>
                          <a:spcPts val="0"/>
                        </a:spcAft>
                      </a:pPr>
                      <a:r>
                        <a:rPr lang="es-ES_tradnl" sz="2000">
                          <a:effectLst/>
                          <a:latin typeface="Arial Narrow" pitchFamily="34" charset="0"/>
                        </a:rPr>
                        <a:t>P2</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0 </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3 </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3 </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7"/>
                  </a:ext>
                </a:extLst>
              </a:tr>
              <a:tr h="345639">
                <a:tc>
                  <a:txBody>
                    <a:bodyPr/>
                    <a:lstStyle/>
                    <a:p>
                      <a:pPr algn="ctr">
                        <a:lnSpc>
                          <a:spcPct val="115000"/>
                        </a:lnSpc>
                        <a:spcAft>
                          <a:spcPts val="0"/>
                        </a:spcAft>
                      </a:pPr>
                      <a:r>
                        <a:rPr lang="es-ES_tradnl" sz="2000">
                          <a:effectLst/>
                          <a:latin typeface="Arial Narrow" pitchFamily="34" charset="0"/>
                        </a:rPr>
                        <a:t>P3</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1</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0</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3 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8"/>
                  </a:ext>
                </a:extLst>
              </a:tr>
            </a:tbl>
          </a:graphicData>
        </a:graphic>
      </p:graphicFrame>
      <p:sp>
        <p:nvSpPr>
          <p:cNvPr id="4" name="2 CuadroTexto">
            <a:extLst>
              <a:ext uri="{FF2B5EF4-FFF2-40B4-BE49-F238E27FC236}">
                <a16:creationId xmlns:a16="http://schemas.microsoft.com/office/drawing/2014/main" id="{CA930FB4-5AFE-464A-9A0B-F3EA3D81D373}"/>
              </a:ext>
            </a:extLst>
          </p:cNvPr>
          <p:cNvSpPr txBox="1"/>
          <p:nvPr/>
        </p:nvSpPr>
        <p:spPr>
          <a:xfrm>
            <a:off x="9299275" y="2623275"/>
            <a:ext cx="2743199" cy="923330"/>
          </a:xfrm>
          <a:prstGeom prst="rect">
            <a:avLst/>
          </a:prstGeom>
          <a:noFill/>
        </p:spPr>
        <p:txBody>
          <a:bodyPr wrap="square" rtlCol="0">
            <a:spAutoFit/>
          </a:bodyPr>
          <a:lstStyle/>
          <a:p>
            <a:r>
              <a:rPr lang="es-ES" dirty="0" err="1">
                <a:latin typeface="Arial Narrow" panose="020B0606020202030204" pitchFamily="34" charset="0"/>
              </a:rPr>
              <a:t>X14</a:t>
            </a:r>
            <a:r>
              <a:rPr lang="es-ES" dirty="0">
                <a:latin typeface="Arial Narrow" panose="020B0606020202030204" pitchFamily="34" charset="0"/>
              </a:rPr>
              <a:t>=</a:t>
            </a:r>
            <a:r>
              <a:rPr lang="es-ES" dirty="0" err="1">
                <a:latin typeface="Arial Narrow" panose="020B0606020202030204" pitchFamily="34" charset="0"/>
              </a:rPr>
              <a:t>450</a:t>
            </a:r>
            <a:r>
              <a:rPr lang="es-ES" dirty="0" err="1">
                <a:latin typeface="Arial Narrow" panose="020B0606020202030204" pitchFamily="34" charset="0"/>
                <a:sym typeface="Wingdings" pitchFamily="2" charset="2"/>
              </a:rPr>
              <a:t>C</a:t>
            </a:r>
            <a:r>
              <a:rPr lang="es-ES" dirty="0">
                <a:latin typeface="Arial Narrow" panose="020B0606020202030204" pitchFamily="34" charset="0"/>
                <a:sym typeface="Wingdings" pitchFamily="2" charset="2"/>
              </a:rPr>
              <a:t>=450*4=1800</a:t>
            </a:r>
          </a:p>
          <a:p>
            <a:r>
              <a:rPr lang="es-ES" dirty="0" err="1">
                <a:latin typeface="Arial Narrow" panose="020B0606020202030204" pitchFamily="34" charset="0"/>
                <a:sym typeface="Wingdings" pitchFamily="2" charset="2"/>
              </a:rPr>
              <a:t>X13</a:t>
            </a:r>
            <a:r>
              <a:rPr lang="es-ES" dirty="0">
                <a:latin typeface="Arial Narrow" panose="020B0606020202030204" pitchFamily="34" charset="0"/>
                <a:sym typeface="Wingdings" pitchFamily="2" charset="2"/>
              </a:rPr>
              <a:t>=</a:t>
            </a:r>
            <a:r>
              <a:rPr lang="es-ES" dirty="0" err="1">
                <a:latin typeface="Arial Narrow" panose="020B0606020202030204" pitchFamily="34" charset="0"/>
                <a:sym typeface="Wingdings" pitchFamily="2" charset="2"/>
              </a:rPr>
              <a:t>180C</a:t>
            </a:r>
            <a:r>
              <a:rPr lang="es-ES" dirty="0">
                <a:latin typeface="Arial Narrow" panose="020B0606020202030204" pitchFamily="34" charset="0"/>
                <a:sym typeface="Wingdings" pitchFamily="2" charset="2"/>
              </a:rPr>
              <a:t>=180*4=720</a:t>
            </a:r>
          </a:p>
          <a:p>
            <a:r>
              <a:rPr lang="es-ES" dirty="0" err="1">
                <a:latin typeface="Arial Narrow" panose="020B0606020202030204" pitchFamily="34" charset="0"/>
                <a:sym typeface="Wingdings" pitchFamily="2" charset="2"/>
              </a:rPr>
              <a:t>X25</a:t>
            </a:r>
            <a:r>
              <a:rPr lang="es-ES" dirty="0">
                <a:latin typeface="Arial Narrow" panose="020B0606020202030204" pitchFamily="34" charset="0"/>
                <a:sym typeface="Wingdings" pitchFamily="2" charset="2"/>
              </a:rPr>
              <a:t>=</a:t>
            </a:r>
            <a:r>
              <a:rPr lang="es-ES" dirty="0" err="1">
                <a:latin typeface="Arial Narrow" panose="020B0606020202030204" pitchFamily="34" charset="0"/>
                <a:sym typeface="Wingdings" pitchFamily="2" charset="2"/>
              </a:rPr>
              <a:t>210C210</a:t>
            </a:r>
            <a:r>
              <a:rPr lang="es-ES" dirty="0">
                <a:latin typeface="Arial Narrow" panose="020B0606020202030204" pitchFamily="34" charset="0"/>
                <a:sym typeface="Wingdings" pitchFamily="2" charset="2"/>
              </a:rPr>
              <a:t>*6= 1260</a:t>
            </a:r>
            <a:endParaRPr lang="es-PE" dirty="0">
              <a:latin typeface="Arial Narrow" panose="020B0606020202030204" pitchFamily="34" charset="0"/>
            </a:endParaRPr>
          </a:p>
        </p:txBody>
      </p:sp>
    </p:spTree>
    <p:extLst>
      <p:ext uri="{BB962C8B-B14F-4D97-AF65-F5344CB8AC3E}">
        <p14:creationId xmlns:p14="http://schemas.microsoft.com/office/powerpoint/2010/main" val="3651405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Tabla"/>
          <p:cNvGraphicFramePr>
            <a:graphicFrameLocks noGrp="1"/>
          </p:cNvGraphicFramePr>
          <p:nvPr/>
        </p:nvGraphicFramePr>
        <p:xfrm>
          <a:off x="733648" y="1436025"/>
          <a:ext cx="8867555" cy="4105216"/>
        </p:xfrm>
        <a:graphic>
          <a:graphicData uri="http://schemas.openxmlformats.org/drawingml/2006/table">
            <a:tbl>
              <a:tblPr firstRow="1" firstCol="1" lastRow="1" lastCol="1" bandRow="1" bandCol="1">
                <a:tableStyleId>{5C22544A-7EE6-4342-B048-85BDC9FD1C3A}</a:tableStyleId>
              </a:tblPr>
              <a:tblGrid>
                <a:gridCol w="1281147">
                  <a:extLst>
                    <a:ext uri="{9D8B030D-6E8A-4147-A177-3AD203B41FA5}">
                      <a16:colId xmlns:a16="http://schemas.microsoft.com/office/drawing/2014/main" val="20000"/>
                    </a:ext>
                  </a:extLst>
                </a:gridCol>
                <a:gridCol w="914820">
                  <a:extLst>
                    <a:ext uri="{9D8B030D-6E8A-4147-A177-3AD203B41FA5}">
                      <a16:colId xmlns:a16="http://schemas.microsoft.com/office/drawing/2014/main" val="20001"/>
                    </a:ext>
                  </a:extLst>
                </a:gridCol>
                <a:gridCol w="642734">
                  <a:extLst>
                    <a:ext uri="{9D8B030D-6E8A-4147-A177-3AD203B41FA5}">
                      <a16:colId xmlns:a16="http://schemas.microsoft.com/office/drawing/2014/main" val="20002"/>
                    </a:ext>
                  </a:extLst>
                </a:gridCol>
                <a:gridCol w="779604">
                  <a:extLst>
                    <a:ext uri="{9D8B030D-6E8A-4147-A177-3AD203B41FA5}">
                      <a16:colId xmlns:a16="http://schemas.microsoft.com/office/drawing/2014/main" val="20003"/>
                    </a:ext>
                  </a:extLst>
                </a:gridCol>
                <a:gridCol w="769682">
                  <a:extLst>
                    <a:ext uri="{9D8B030D-6E8A-4147-A177-3AD203B41FA5}">
                      <a16:colId xmlns:a16="http://schemas.microsoft.com/office/drawing/2014/main" val="20004"/>
                    </a:ext>
                  </a:extLst>
                </a:gridCol>
                <a:gridCol w="808540">
                  <a:extLst>
                    <a:ext uri="{9D8B030D-6E8A-4147-A177-3AD203B41FA5}">
                      <a16:colId xmlns:a16="http://schemas.microsoft.com/office/drawing/2014/main" val="20005"/>
                    </a:ext>
                  </a:extLst>
                </a:gridCol>
                <a:gridCol w="1121943">
                  <a:extLst>
                    <a:ext uri="{9D8B030D-6E8A-4147-A177-3AD203B41FA5}">
                      <a16:colId xmlns:a16="http://schemas.microsoft.com/office/drawing/2014/main" val="20006"/>
                    </a:ext>
                  </a:extLst>
                </a:gridCol>
                <a:gridCol w="716647">
                  <a:extLst>
                    <a:ext uri="{9D8B030D-6E8A-4147-A177-3AD203B41FA5}">
                      <a16:colId xmlns:a16="http://schemas.microsoft.com/office/drawing/2014/main" val="20007"/>
                    </a:ext>
                  </a:extLst>
                </a:gridCol>
                <a:gridCol w="589646">
                  <a:extLst>
                    <a:ext uri="{9D8B030D-6E8A-4147-A177-3AD203B41FA5}">
                      <a16:colId xmlns:a16="http://schemas.microsoft.com/office/drawing/2014/main" val="20008"/>
                    </a:ext>
                  </a:extLst>
                </a:gridCol>
                <a:gridCol w="616597">
                  <a:extLst>
                    <a:ext uri="{9D8B030D-6E8A-4147-A177-3AD203B41FA5}">
                      <a16:colId xmlns:a16="http://schemas.microsoft.com/office/drawing/2014/main" val="20009"/>
                    </a:ext>
                  </a:extLst>
                </a:gridCol>
                <a:gridCol w="626195">
                  <a:extLst>
                    <a:ext uri="{9D8B030D-6E8A-4147-A177-3AD203B41FA5}">
                      <a16:colId xmlns:a16="http://schemas.microsoft.com/office/drawing/2014/main" val="20010"/>
                    </a:ext>
                  </a:extLst>
                </a:gridCol>
              </a:tblGrid>
              <a:tr h="345639">
                <a:tc rowSpan="2">
                  <a:txBody>
                    <a:bodyPr/>
                    <a:lstStyle/>
                    <a:p>
                      <a:pPr algn="ctr">
                        <a:lnSpc>
                          <a:spcPct val="115000"/>
                        </a:lnSpc>
                        <a:spcAft>
                          <a:spcPts val="0"/>
                        </a:spcAft>
                      </a:pPr>
                      <a:r>
                        <a:rPr lang="es-ES_tradnl" sz="2000" dirty="0">
                          <a:effectLst/>
                          <a:latin typeface="Arial Narrow" pitchFamily="34" charset="0"/>
                        </a:rPr>
                        <a:t>DEPOSITO</a:t>
                      </a:r>
                      <a:endParaRPr lang="es-PE" sz="2000" dirty="0">
                        <a:effectLst/>
                        <a:latin typeface="Arial Narrow" pitchFamily="34" charset="0"/>
                        <a:ea typeface="Times New Roman"/>
                        <a:cs typeface="Times New Roman"/>
                      </a:endParaRPr>
                    </a:p>
                  </a:txBody>
                  <a:tcPr marL="68580" marR="68580" marT="0" marB="0"/>
                </a:tc>
                <a:tc gridSpan="5">
                  <a:txBody>
                    <a:bodyPr/>
                    <a:lstStyle/>
                    <a:p>
                      <a:pPr algn="ctr">
                        <a:lnSpc>
                          <a:spcPct val="115000"/>
                        </a:lnSpc>
                        <a:spcAft>
                          <a:spcPts val="0"/>
                        </a:spcAft>
                      </a:pPr>
                      <a:r>
                        <a:rPr lang="es-ES_tradnl" sz="2000" dirty="0">
                          <a:effectLst/>
                          <a:latin typeface="Arial Narrow" pitchFamily="34" charset="0"/>
                        </a:rPr>
                        <a:t>ALMACÉN</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rowSpan="2">
                  <a:txBody>
                    <a:bodyPr/>
                    <a:lstStyle/>
                    <a:p>
                      <a:pPr algn="ctr">
                        <a:lnSpc>
                          <a:spcPct val="115000"/>
                        </a:lnSpc>
                        <a:spcAft>
                          <a:spcPts val="0"/>
                        </a:spcAft>
                      </a:pPr>
                      <a:r>
                        <a:rPr lang="es-ES_tradnl" sz="2000" dirty="0">
                          <a:effectLst/>
                          <a:latin typeface="Arial Narrow" pitchFamily="34" charset="0"/>
                        </a:rPr>
                        <a:t>OFERTA</a:t>
                      </a:r>
                      <a:endParaRPr lang="es-PE" sz="2000" dirty="0">
                        <a:effectLst/>
                        <a:latin typeface="Arial Narrow" pitchFamily="34" charset="0"/>
                        <a:ea typeface="Times New Roman"/>
                        <a:cs typeface="Times New Roman"/>
                      </a:endParaRPr>
                    </a:p>
                  </a:txBody>
                  <a:tcPr marL="68580" marR="68580" marT="0" marB="0"/>
                </a:tc>
                <a:tc rowSpan="2">
                  <a:txBody>
                    <a:bodyPr/>
                    <a:lstStyle/>
                    <a:p>
                      <a:pPr algn="ctr">
                        <a:lnSpc>
                          <a:spcPct val="115000"/>
                        </a:lnSpc>
                        <a:spcAft>
                          <a:spcPts val="0"/>
                        </a:spcAft>
                      </a:pPr>
                      <a:r>
                        <a:rPr lang="es-ES_tradnl" sz="2000">
                          <a:effectLst/>
                          <a:latin typeface="Arial Narrow" pitchFamily="34" charset="0"/>
                        </a:rPr>
                        <a:t>P1</a:t>
                      </a:r>
                      <a:endParaRPr lang="es-PE" sz="2000">
                        <a:effectLst/>
                        <a:latin typeface="Arial Narrow" pitchFamily="34" charset="0"/>
                        <a:ea typeface="Times New Roman"/>
                        <a:cs typeface="Times New Roman"/>
                      </a:endParaRPr>
                    </a:p>
                  </a:txBody>
                  <a:tcPr marL="68580" marR="68580" marT="0" marB="0"/>
                </a:tc>
                <a:tc rowSpan="2">
                  <a:txBody>
                    <a:bodyPr/>
                    <a:lstStyle/>
                    <a:p>
                      <a:pPr algn="ctr">
                        <a:lnSpc>
                          <a:spcPct val="115000"/>
                        </a:lnSpc>
                        <a:spcAft>
                          <a:spcPts val="0"/>
                        </a:spcAft>
                      </a:pPr>
                      <a:r>
                        <a:rPr lang="es-ES_tradnl" sz="2000">
                          <a:effectLst/>
                          <a:latin typeface="Arial Narrow" pitchFamily="34" charset="0"/>
                        </a:rPr>
                        <a:t>P2</a:t>
                      </a:r>
                      <a:endParaRPr lang="es-PE" sz="2000">
                        <a:effectLst/>
                        <a:latin typeface="Arial Narrow" pitchFamily="34" charset="0"/>
                        <a:ea typeface="Times New Roman"/>
                        <a:cs typeface="Times New Roman"/>
                      </a:endParaRPr>
                    </a:p>
                  </a:txBody>
                  <a:tcPr marL="68580" marR="68580" marT="0" marB="0"/>
                </a:tc>
                <a:tc rowSpan="2">
                  <a:txBody>
                    <a:bodyPr/>
                    <a:lstStyle/>
                    <a:p>
                      <a:pPr algn="ctr">
                        <a:lnSpc>
                          <a:spcPct val="115000"/>
                        </a:lnSpc>
                        <a:spcAft>
                          <a:spcPts val="0"/>
                        </a:spcAft>
                      </a:pPr>
                      <a:r>
                        <a:rPr lang="es-ES_tradnl" sz="2000" dirty="0" err="1">
                          <a:effectLst/>
                          <a:latin typeface="Arial Narrow" pitchFamily="34" charset="0"/>
                        </a:rPr>
                        <a:t>P3</a:t>
                      </a:r>
                      <a:endParaRPr lang="es-PE" sz="2000" dirty="0">
                        <a:effectLst/>
                        <a:latin typeface="Arial Narrow" pitchFamily="34" charset="0"/>
                        <a:ea typeface="Times New Roman"/>
                        <a:cs typeface="Times New Roman"/>
                      </a:endParaRPr>
                    </a:p>
                  </a:txBody>
                  <a:tcPr marL="68580" marR="68580" marT="0" marB="0"/>
                </a:tc>
                <a:tc rowSpan="2">
                  <a:txBody>
                    <a:bodyPr/>
                    <a:lstStyle/>
                    <a:p>
                      <a:pPr algn="ctr">
                        <a:lnSpc>
                          <a:spcPct val="115000"/>
                        </a:lnSpc>
                        <a:spcAft>
                          <a:spcPts val="0"/>
                        </a:spcAft>
                      </a:pPr>
                      <a:r>
                        <a:rPr lang="es-ES" sz="2000" dirty="0" err="1">
                          <a:effectLst/>
                          <a:latin typeface="Arial Narrow" pitchFamily="34" charset="0"/>
                          <a:ea typeface="Times New Roman"/>
                          <a:cs typeface="Times New Roman"/>
                        </a:rPr>
                        <a:t>P4</a:t>
                      </a: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0"/>
                  </a:ext>
                </a:extLst>
              </a:tr>
              <a:tr h="345639">
                <a:tc vMerge="1">
                  <a:txBody>
                    <a:bodyPr/>
                    <a:lstStyle/>
                    <a:p>
                      <a:endParaRPr lang="es-PE"/>
                    </a:p>
                  </a:txBody>
                  <a:tcPr/>
                </a:tc>
                <a:tc>
                  <a:txBody>
                    <a:bodyPr/>
                    <a:lstStyle/>
                    <a:p>
                      <a:pPr algn="ctr">
                        <a:lnSpc>
                          <a:spcPct val="115000"/>
                        </a:lnSpc>
                        <a:spcAft>
                          <a:spcPts val="0"/>
                        </a:spcAft>
                      </a:pPr>
                      <a:r>
                        <a:rPr lang="es-ES_tradnl" sz="2000" dirty="0">
                          <a:effectLst/>
                          <a:latin typeface="Arial Narrow" pitchFamily="34" charset="0"/>
                        </a:rPr>
                        <a:t>1</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a:txBody>
                    <a:bodyPr/>
                    <a:lstStyle/>
                    <a:p>
                      <a:pPr algn="ctr">
                        <a:lnSpc>
                          <a:spcPct val="115000"/>
                        </a:lnSpc>
                        <a:spcAft>
                          <a:spcPts val="0"/>
                        </a:spcAft>
                      </a:pPr>
                      <a:r>
                        <a:rPr lang="es-ES_tradnl" sz="2000" dirty="0">
                          <a:effectLst/>
                          <a:latin typeface="Arial Narrow" pitchFamily="34" charset="0"/>
                        </a:rPr>
                        <a:t>2</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a:txBody>
                    <a:bodyPr/>
                    <a:lstStyle/>
                    <a:p>
                      <a:pPr algn="ctr">
                        <a:lnSpc>
                          <a:spcPct val="115000"/>
                        </a:lnSpc>
                        <a:spcAft>
                          <a:spcPts val="0"/>
                        </a:spcAft>
                      </a:pPr>
                      <a:r>
                        <a:rPr lang="es-ES_tradnl" sz="2000" dirty="0">
                          <a:effectLst/>
                          <a:latin typeface="Arial Narrow" pitchFamily="34" charset="0"/>
                        </a:rPr>
                        <a:t>3</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a:txBody>
                    <a:bodyPr/>
                    <a:lstStyle/>
                    <a:p>
                      <a:pPr algn="ctr">
                        <a:lnSpc>
                          <a:spcPct val="115000"/>
                        </a:lnSpc>
                        <a:spcAft>
                          <a:spcPts val="0"/>
                        </a:spcAft>
                      </a:pPr>
                      <a:r>
                        <a:rPr lang="es-ES_tradnl" sz="2000" dirty="0">
                          <a:effectLst/>
                          <a:latin typeface="Arial Narrow" pitchFamily="34" charset="0"/>
                        </a:rPr>
                        <a:t>4</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a:txBody>
                    <a:bodyPr/>
                    <a:lstStyle/>
                    <a:p>
                      <a:pPr algn="ctr">
                        <a:lnSpc>
                          <a:spcPct val="115000"/>
                        </a:lnSpc>
                        <a:spcAft>
                          <a:spcPts val="0"/>
                        </a:spcAft>
                      </a:pPr>
                      <a:r>
                        <a:rPr lang="es-ES_tradnl" sz="2000" dirty="0">
                          <a:effectLst/>
                          <a:latin typeface="Arial Narrow" pitchFamily="34" charset="0"/>
                        </a:rPr>
                        <a:t>5</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vMerge="1">
                  <a:txBody>
                    <a:bodyPr/>
                    <a:lstStyle/>
                    <a:p>
                      <a:endParaRPr lang="es-PE"/>
                    </a:p>
                  </a:txBody>
                  <a:tcPr/>
                </a:tc>
                <a:tc vMerge="1">
                  <a:txBody>
                    <a:bodyPr/>
                    <a:lstStyle/>
                    <a:p>
                      <a:endParaRPr lang="es-PE"/>
                    </a:p>
                  </a:txBody>
                  <a:tcPr/>
                </a:tc>
                <a:tc vMerge="1">
                  <a:txBody>
                    <a:bodyPr/>
                    <a:lstStyle/>
                    <a:p>
                      <a:endParaRPr lang="es-PE"/>
                    </a:p>
                  </a:txBody>
                  <a:tcPr/>
                </a:tc>
                <a:tc vMerge="1">
                  <a:txBody>
                    <a:bodyPr/>
                    <a:lstStyle/>
                    <a:p>
                      <a:endParaRPr lang="es-PE"/>
                    </a:p>
                  </a:txBody>
                  <a:tcPr/>
                </a:tc>
                <a:tc vMerge="1">
                  <a:txBody>
                    <a:bodyPr/>
                    <a:lstStyle/>
                    <a:p>
                      <a:endParaRPr lang="es-PE"/>
                    </a:p>
                  </a:txBody>
                  <a:tcPr/>
                </a:tc>
                <a:extLst>
                  <a:ext uri="{0D108BD9-81ED-4DB2-BD59-A6C34878D82A}">
                    <a16:rowId xmlns:a16="http://schemas.microsoft.com/office/drawing/2014/main" val="10001"/>
                  </a:ext>
                </a:extLst>
              </a:tr>
              <a:tr h="345639">
                <a:tc>
                  <a:txBody>
                    <a:bodyPr/>
                    <a:lstStyle/>
                    <a:p>
                      <a:pPr algn="ctr">
                        <a:lnSpc>
                          <a:spcPct val="115000"/>
                        </a:lnSpc>
                        <a:spcAft>
                          <a:spcPts val="0"/>
                        </a:spcAft>
                      </a:pPr>
                      <a:r>
                        <a:rPr lang="es-ES_tradnl" sz="2000">
                          <a:effectLst/>
                          <a:latin typeface="Arial Narrow" pitchFamily="34" charset="0"/>
                        </a:rPr>
                        <a:t>A</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5</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7</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4</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4</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 750/300/120</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1 </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2 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2</a:t>
                      </a: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2"/>
                  </a:ext>
                </a:extLst>
              </a:tr>
              <a:tr h="345639">
                <a:tc>
                  <a:txBody>
                    <a:bodyPr/>
                    <a:lstStyle/>
                    <a:p>
                      <a:pPr algn="ctr">
                        <a:lnSpc>
                          <a:spcPct val="115000"/>
                        </a:lnSpc>
                        <a:spcAft>
                          <a:spcPts val="0"/>
                        </a:spcAft>
                      </a:pPr>
                      <a:r>
                        <a:rPr lang="es-ES_tradnl" sz="2000" dirty="0">
                          <a:effectLst/>
                          <a:latin typeface="Arial Narrow" pitchFamily="34" charset="0"/>
                        </a:rPr>
                        <a:t>B</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4</a:t>
                      </a:r>
                      <a:endParaRPr lang="es-PE" sz="2000" dirty="0">
                        <a:effectLst/>
                        <a:latin typeface="Arial Narrow" pitchFamily="34" charset="0"/>
                        <a:ea typeface="Times New Roman"/>
                        <a:cs typeface="Times New Roman"/>
                      </a:endParaRPr>
                    </a:p>
                  </a:txBody>
                  <a:tcPr marL="68580" marR="68580" marT="0" marB="0">
                    <a:solidFill>
                      <a:srgbClr val="FFFF00"/>
                    </a:solidFill>
                  </a:tcPr>
                </a:tc>
                <a:tc>
                  <a:txBody>
                    <a:bodyPr/>
                    <a:lstStyle/>
                    <a:p>
                      <a:pPr algn="ctr">
                        <a:lnSpc>
                          <a:spcPct val="115000"/>
                        </a:lnSpc>
                        <a:spcAft>
                          <a:spcPts val="0"/>
                        </a:spcAft>
                      </a:pPr>
                      <a:r>
                        <a:rPr lang="es-ES_tradnl" sz="2000" dirty="0">
                          <a:effectLst/>
                          <a:latin typeface="Arial Narrow" pitchFamily="34" charset="0"/>
                        </a:rPr>
                        <a:t>-</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7 </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8 </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6 </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 350/140/0</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2</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2</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 2</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4</a:t>
                      </a: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3"/>
                  </a:ext>
                </a:extLst>
              </a:tr>
              <a:tr h="345639">
                <a:tc>
                  <a:txBody>
                    <a:bodyPr/>
                    <a:lstStyle/>
                    <a:p>
                      <a:pPr algn="ctr">
                        <a:lnSpc>
                          <a:spcPct val="115000"/>
                        </a:lnSpc>
                        <a:spcAft>
                          <a:spcPts val="0"/>
                        </a:spcAft>
                      </a:pPr>
                      <a:r>
                        <a:rPr lang="es-ES_tradnl" sz="2000">
                          <a:effectLst/>
                          <a:latin typeface="Arial Narrow" pitchFamily="34" charset="0"/>
                        </a:rPr>
                        <a:t>C</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6</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7 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8 </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9 </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 400</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1</a:t>
                      </a: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4"/>
                  </a:ext>
                </a:extLst>
              </a:tr>
              <a:tr h="407643">
                <a:tc>
                  <a:txBody>
                    <a:bodyPr/>
                    <a:lstStyle/>
                    <a:p>
                      <a:pPr algn="ctr">
                        <a:lnSpc>
                          <a:spcPct val="115000"/>
                        </a:lnSpc>
                        <a:spcAft>
                          <a:spcPts val="0"/>
                        </a:spcAft>
                      </a:pPr>
                      <a:r>
                        <a:rPr lang="es-ES_tradnl" sz="2000" dirty="0">
                          <a:effectLst/>
                          <a:latin typeface="Arial Narrow" pitchFamily="34" charset="0"/>
                        </a:rPr>
                        <a:t>DEMANDA</a:t>
                      </a:r>
                      <a:endParaRPr lang="es-PE" sz="2000" dirty="0">
                        <a:effectLst/>
                        <a:latin typeface="Arial Narrow" pitchFamily="34" charset="0"/>
                      </a:endParaRPr>
                    </a:p>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400/260 </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260 </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180/0 </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450/0 </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210/0 </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1500</a:t>
                      </a:r>
                      <a:endParaRPr lang="es-PE" sz="20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5"/>
                  </a:ext>
                </a:extLst>
              </a:tr>
              <a:tr h="345639">
                <a:tc>
                  <a:txBody>
                    <a:bodyPr/>
                    <a:lstStyle/>
                    <a:p>
                      <a:pPr algn="ctr">
                        <a:lnSpc>
                          <a:spcPct val="115000"/>
                        </a:lnSpc>
                        <a:spcAft>
                          <a:spcPts val="0"/>
                        </a:spcAft>
                      </a:pPr>
                      <a:r>
                        <a:rPr lang="es-ES_tradnl" sz="2000" dirty="0" err="1">
                          <a:effectLst/>
                          <a:latin typeface="Arial Narrow" pitchFamily="34" charset="0"/>
                        </a:rPr>
                        <a:t>P1</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0</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3</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4 </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3</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6"/>
                  </a:ext>
                </a:extLst>
              </a:tr>
              <a:tr h="345639">
                <a:tc>
                  <a:txBody>
                    <a:bodyPr/>
                    <a:lstStyle/>
                    <a:p>
                      <a:pPr algn="ctr">
                        <a:lnSpc>
                          <a:spcPct val="115000"/>
                        </a:lnSpc>
                        <a:spcAft>
                          <a:spcPts val="0"/>
                        </a:spcAft>
                      </a:pPr>
                      <a:r>
                        <a:rPr lang="es-ES_tradnl" sz="2000" dirty="0" err="1">
                          <a:effectLst/>
                          <a:latin typeface="Arial Narrow" pitchFamily="34" charset="0"/>
                        </a:rPr>
                        <a:t>P2</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0 </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3 </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3 </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7"/>
                  </a:ext>
                </a:extLst>
              </a:tr>
              <a:tr h="345639">
                <a:tc>
                  <a:txBody>
                    <a:bodyPr/>
                    <a:lstStyle/>
                    <a:p>
                      <a:pPr algn="ctr">
                        <a:lnSpc>
                          <a:spcPct val="115000"/>
                        </a:lnSpc>
                        <a:spcAft>
                          <a:spcPts val="0"/>
                        </a:spcAft>
                      </a:pPr>
                      <a:r>
                        <a:rPr lang="es-ES_tradnl" sz="2000" dirty="0" err="1">
                          <a:effectLst/>
                          <a:latin typeface="Arial Narrow" pitchFamily="34" charset="0"/>
                        </a:rPr>
                        <a:t>P3</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1</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0</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dirty="0">
                          <a:effectLst/>
                          <a:latin typeface="Arial Narrow" pitchFamily="34" charset="0"/>
                        </a:rPr>
                        <a:t>3 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8"/>
                  </a:ext>
                </a:extLst>
              </a:tr>
              <a:tr h="345639">
                <a:tc>
                  <a:txBody>
                    <a:bodyPr/>
                    <a:lstStyle/>
                    <a:p>
                      <a:pPr algn="ctr">
                        <a:lnSpc>
                          <a:spcPct val="115000"/>
                        </a:lnSpc>
                        <a:spcAft>
                          <a:spcPts val="0"/>
                        </a:spcAft>
                      </a:pPr>
                      <a:r>
                        <a:rPr lang="es-ES" sz="2000" dirty="0" err="1">
                          <a:effectLst/>
                          <a:latin typeface="Arial Narrow" pitchFamily="34" charset="0"/>
                          <a:ea typeface="Times New Roman"/>
                          <a:cs typeface="Times New Roman"/>
                        </a:rPr>
                        <a:t>P4</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1</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0</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9"/>
                  </a:ext>
                </a:extLst>
              </a:tr>
            </a:tbl>
          </a:graphicData>
        </a:graphic>
      </p:graphicFrame>
      <p:sp>
        <p:nvSpPr>
          <p:cNvPr id="3" name="2 CuadroTexto"/>
          <p:cNvSpPr txBox="1"/>
          <p:nvPr/>
        </p:nvSpPr>
        <p:spPr>
          <a:xfrm>
            <a:off x="10049773" y="2807600"/>
            <a:ext cx="2018615" cy="2585323"/>
          </a:xfrm>
          <a:prstGeom prst="rect">
            <a:avLst/>
          </a:prstGeom>
          <a:noFill/>
        </p:spPr>
        <p:txBody>
          <a:bodyPr wrap="square" rtlCol="0">
            <a:spAutoFit/>
          </a:bodyPr>
          <a:lstStyle/>
          <a:p>
            <a:r>
              <a:rPr lang="es-ES" dirty="0" err="1">
                <a:latin typeface="Arial Narrow" panose="020B0606020202030204" pitchFamily="34" charset="0"/>
              </a:rPr>
              <a:t>X14</a:t>
            </a:r>
            <a:r>
              <a:rPr lang="es-ES" dirty="0">
                <a:latin typeface="Arial Narrow" panose="020B0606020202030204" pitchFamily="34" charset="0"/>
              </a:rPr>
              <a:t>=450</a:t>
            </a:r>
          </a:p>
          <a:p>
            <a:r>
              <a:rPr lang="es-ES" dirty="0">
                <a:latin typeface="Arial Narrow" panose="020B0606020202030204" pitchFamily="34" charset="0"/>
                <a:sym typeface="Wingdings" pitchFamily="2" charset="2"/>
              </a:rPr>
              <a:t>C=450*4=1800</a:t>
            </a:r>
          </a:p>
          <a:p>
            <a:r>
              <a:rPr lang="es-ES" dirty="0" err="1">
                <a:latin typeface="Arial Narrow" panose="020B0606020202030204" pitchFamily="34" charset="0"/>
                <a:sym typeface="Wingdings" pitchFamily="2" charset="2"/>
              </a:rPr>
              <a:t>X13</a:t>
            </a:r>
            <a:r>
              <a:rPr lang="es-ES" dirty="0">
                <a:latin typeface="Arial Narrow" panose="020B0606020202030204" pitchFamily="34" charset="0"/>
                <a:sym typeface="Wingdings" pitchFamily="2" charset="2"/>
              </a:rPr>
              <a:t>=180</a:t>
            </a:r>
          </a:p>
          <a:p>
            <a:r>
              <a:rPr lang="es-ES" dirty="0">
                <a:latin typeface="Arial Narrow" panose="020B0606020202030204" pitchFamily="34" charset="0"/>
                <a:sym typeface="Wingdings" pitchFamily="2" charset="2"/>
              </a:rPr>
              <a:t>C=180*4=720</a:t>
            </a:r>
          </a:p>
          <a:p>
            <a:r>
              <a:rPr lang="es-ES" dirty="0" err="1">
                <a:latin typeface="Arial Narrow" panose="020B0606020202030204" pitchFamily="34" charset="0"/>
                <a:sym typeface="Wingdings" pitchFamily="2" charset="2"/>
              </a:rPr>
              <a:t>X25</a:t>
            </a:r>
            <a:r>
              <a:rPr lang="es-ES" dirty="0">
                <a:latin typeface="Arial Narrow" panose="020B0606020202030204" pitchFamily="34" charset="0"/>
                <a:sym typeface="Wingdings" pitchFamily="2" charset="2"/>
              </a:rPr>
              <a:t>=210</a:t>
            </a:r>
          </a:p>
          <a:p>
            <a:r>
              <a:rPr lang="es-ES" dirty="0">
                <a:latin typeface="Arial Narrow" panose="020B0606020202030204" pitchFamily="34" charset="0"/>
                <a:sym typeface="Wingdings" pitchFamily="2" charset="2"/>
              </a:rPr>
              <a:t></a:t>
            </a:r>
            <a:r>
              <a:rPr lang="es-ES" dirty="0" err="1">
                <a:latin typeface="Arial Narrow" panose="020B0606020202030204" pitchFamily="34" charset="0"/>
                <a:sym typeface="Wingdings" pitchFamily="2" charset="2"/>
              </a:rPr>
              <a:t>C210</a:t>
            </a:r>
            <a:r>
              <a:rPr lang="es-ES" dirty="0">
                <a:latin typeface="Arial Narrow" panose="020B0606020202030204" pitchFamily="34" charset="0"/>
                <a:sym typeface="Wingdings" pitchFamily="2" charset="2"/>
              </a:rPr>
              <a:t>*6= 1260</a:t>
            </a:r>
          </a:p>
          <a:p>
            <a:r>
              <a:rPr lang="es-ES" dirty="0" err="1">
                <a:latin typeface="Arial Narrow" panose="020B0606020202030204" pitchFamily="34" charset="0"/>
                <a:sym typeface="Wingdings" pitchFamily="2" charset="2"/>
              </a:rPr>
              <a:t>X21</a:t>
            </a:r>
            <a:r>
              <a:rPr lang="es-ES" dirty="0">
                <a:latin typeface="Arial Narrow" panose="020B0606020202030204" pitchFamily="34" charset="0"/>
                <a:sym typeface="Wingdings" pitchFamily="2" charset="2"/>
              </a:rPr>
              <a:t>=140</a:t>
            </a:r>
          </a:p>
          <a:p>
            <a:r>
              <a:rPr lang="es-ES" dirty="0">
                <a:latin typeface="Arial Narrow" panose="020B0606020202030204" pitchFamily="34" charset="0"/>
                <a:sym typeface="Wingdings" pitchFamily="2" charset="2"/>
              </a:rPr>
              <a:t>C=140*4=560</a:t>
            </a:r>
          </a:p>
          <a:p>
            <a:endParaRPr lang="es-PE" dirty="0">
              <a:latin typeface="Arial Narrow" panose="020B0606020202030204" pitchFamily="34" charset="0"/>
            </a:endParaRPr>
          </a:p>
        </p:txBody>
      </p:sp>
    </p:spTree>
    <p:extLst>
      <p:ext uri="{BB962C8B-B14F-4D97-AF65-F5344CB8AC3E}">
        <p14:creationId xmlns:p14="http://schemas.microsoft.com/office/powerpoint/2010/main" val="1912034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Tabla"/>
          <p:cNvGraphicFramePr>
            <a:graphicFrameLocks noGrp="1"/>
          </p:cNvGraphicFramePr>
          <p:nvPr/>
        </p:nvGraphicFramePr>
        <p:xfrm>
          <a:off x="754912" y="1416212"/>
          <a:ext cx="9208597" cy="4383355"/>
        </p:xfrm>
        <a:graphic>
          <a:graphicData uri="http://schemas.openxmlformats.org/drawingml/2006/table">
            <a:tbl>
              <a:tblPr firstRow="1" firstCol="1" lastRow="1" lastCol="1" bandRow="1" bandCol="1">
                <a:tableStyleId>{5C22544A-7EE6-4342-B048-85BDC9FD1C3A}</a:tableStyleId>
              </a:tblPr>
              <a:tblGrid>
                <a:gridCol w="1364991">
                  <a:extLst>
                    <a:ext uri="{9D8B030D-6E8A-4147-A177-3AD203B41FA5}">
                      <a16:colId xmlns:a16="http://schemas.microsoft.com/office/drawing/2014/main" val="20000"/>
                    </a:ext>
                  </a:extLst>
                </a:gridCol>
                <a:gridCol w="863340">
                  <a:extLst>
                    <a:ext uri="{9D8B030D-6E8A-4147-A177-3AD203B41FA5}">
                      <a16:colId xmlns:a16="http://schemas.microsoft.com/office/drawing/2014/main" val="20001"/>
                    </a:ext>
                  </a:extLst>
                </a:gridCol>
                <a:gridCol w="606565">
                  <a:extLst>
                    <a:ext uri="{9D8B030D-6E8A-4147-A177-3AD203B41FA5}">
                      <a16:colId xmlns:a16="http://schemas.microsoft.com/office/drawing/2014/main" val="20002"/>
                    </a:ext>
                  </a:extLst>
                </a:gridCol>
                <a:gridCol w="735732">
                  <a:extLst>
                    <a:ext uri="{9D8B030D-6E8A-4147-A177-3AD203B41FA5}">
                      <a16:colId xmlns:a16="http://schemas.microsoft.com/office/drawing/2014/main" val="20003"/>
                    </a:ext>
                  </a:extLst>
                </a:gridCol>
                <a:gridCol w="726368">
                  <a:extLst>
                    <a:ext uri="{9D8B030D-6E8A-4147-A177-3AD203B41FA5}">
                      <a16:colId xmlns:a16="http://schemas.microsoft.com/office/drawing/2014/main" val="20004"/>
                    </a:ext>
                  </a:extLst>
                </a:gridCol>
                <a:gridCol w="763041">
                  <a:extLst>
                    <a:ext uri="{9D8B030D-6E8A-4147-A177-3AD203B41FA5}">
                      <a16:colId xmlns:a16="http://schemas.microsoft.com/office/drawing/2014/main" val="20005"/>
                    </a:ext>
                  </a:extLst>
                </a:gridCol>
                <a:gridCol w="1082125">
                  <a:extLst>
                    <a:ext uri="{9D8B030D-6E8A-4147-A177-3AD203B41FA5}">
                      <a16:colId xmlns:a16="http://schemas.microsoft.com/office/drawing/2014/main" val="20006"/>
                    </a:ext>
                  </a:extLst>
                </a:gridCol>
                <a:gridCol w="594703">
                  <a:extLst>
                    <a:ext uri="{9D8B030D-6E8A-4147-A177-3AD203B41FA5}">
                      <a16:colId xmlns:a16="http://schemas.microsoft.com/office/drawing/2014/main" val="20007"/>
                    </a:ext>
                  </a:extLst>
                </a:gridCol>
                <a:gridCol w="613287">
                  <a:extLst>
                    <a:ext uri="{9D8B030D-6E8A-4147-A177-3AD203B41FA5}">
                      <a16:colId xmlns:a16="http://schemas.microsoft.com/office/drawing/2014/main" val="20008"/>
                    </a:ext>
                  </a:extLst>
                </a:gridCol>
                <a:gridCol w="641164">
                  <a:extLst>
                    <a:ext uri="{9D8B030D-6E8A-4147-A177-3AD203B41FA5}">
                      <a16:colId xmlns:a16="http://schemas.microsoft.com/office/drawing/2014/main" val="20009"/>
                    </a:ext>
                  </a:extLst>
                </a:gridCol>
                <a:gridCol w="668578">
                  <a:extLst>
                    <a:ext uri="{9D8B030D-6E8A-4147-A177-3AD203B41FA5}">
                      <a16:colId xmlns:a16="http://schemas.microsoft.com/office/drawing/2014/main" val="20010"/>
                    </a:ext>
                  </a:extLst>
                </a:gridCol>
                <a:gridCol w="548703">
                  <a:extLst>
                    <a:ext uri="{9D8B030D-6E8A-4147-A177-3AD203B41FA5}">
                      <a16:colId xmlns:a16="http://schemas.microsoft.com/office/drawing/2014/main" val="20011"/>
                    </a:ext>
                  </a:extLst>
                </a:gridCol>
              </a:tblGrid>
              <a:tr h="345639">
                <a:tc rowSpan="2">
                  <a:txBody>
                    <a:bodyPr/>
                    <a:lstStyle/>
                    <a:p>
                      <a:pPr algn="ctr">
                        <a:lnSpc>
                          <a:spcPct val="115000"/>
                        </a:lnSpc>
                        <a:spcAft>
                          <a:spcPts val="0"/>
                        </a:spcAft>
                      </a:pPr>
                      <a:r>
                        <a:rPr lang="es-ES_tradnl" sz="2000" dirty="0">
                          <a:effectLst/>
                          <a:latin typeface="Arial Narrow" pitchFamily="34" charset="0"/>
                        </a:rPr>
                        <a:t>DEPOSITO</a:t>
                      </a:r>
                      <a:endParaRPr lang="es-PE" sz="2000" dirty="0">
                        <a:effectLst/>
                        <a:latin typeface="Arial Narrow" pitchFamily="34" charset="0"/>
                        <a:ea typeface="Times New Roman"/>
                        <a:cs typeface="Times New Roman"/>
                      </a:endParaRPr>
                    </a:p>
                  </a:txBody>
                  <a:tcPr marL="68580" marR="68580" marT="0" marB="0"/>
                </a:tc>
                <a:tc gridSpan="5">
                  <a:txBody>
                    <a:bodyPr/>
                    <a:lstStyle/>
                    <a:p>
                      <a:pPr algn="ctr">
                        <a:lnSpc>
                          <a:spcPct val="115000"/>
                        </a:lnSpc>
                        <a:spcAft>
                          <a:spcPts val="0"/>
                        </a:spcAft>
                      </a:pPr>
                      <a:r>
                        <a:rPr lang="es-ES_tradnl" sz="2000" dirty="0">
                          <a:effectLst/>
                          <a:latin typeface="Arial Narrow" pitchFamily="34" charset="0"/>
                        </a:rPr>
                        <a:t>ALMACÉN</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rowSpan="2">
                  <a:txBody>
                    <a:bodyPr/>
                    <a:lstStyle/>
                    <a:p>
                      <a:pPr algn="ctr">
                        <a:lnSpc>
                          <a:spcPct val="115000"/>
                        </a:lnSpc>
                        <a:spcAft>
                          <a:spcPts val="0"/>
                        </a:spcAft>
                      </a:pPr>
                      <a:r>
                        <a:rPr lang="es-ES_tradnl" sz="2000" dirty="0">
                          <a:effectLst/>
                          <a:latin typeface="Arial Narrow" pitchFamily="34" charset="0"/>
                        </a:rPr>
                        <a:t>OFERTA</a:t>
                      </a:r>
                      <a:endParaRPr lang="es-PE" sz="2000" dirty="0">
                        <a:effectLst/>
                        <a:latin typeface="Arial Narrow" pitchFamily="34" charset="0"/>
                        <a:ea typeface="Times New Roman"/>
                        <a:cs typeface="Times New Roman"/>
                      </a:endParaRPr>
                    </a:p>
                  </a:txBody>
                  <a:tcPr marL="68580" marR="68580" marT="0" marB="0"/>
                </a:tc>
                <a:tc rowSpan="2">
                  <a:txBody>
                    <a:bodyPr/>
                    <a:lstStyle/>
                    <a:p>
                      <a:pPr algn="ctr">
                        <a:lnSpc>
                          <a:spcPct val="115000"/>
                        </a:lnSpc>
                        <a:spcAft>
                          <a:spcPts val="0"/>
                        </a:spcAft>
                      </a:pPr>
                      <a:r>
                        <a:rPr lang="es-ES_tradnl" sz="2000">
                          <a:effectLst/>
                          <a:latin typeface="Arial Narrow" pitchFamily="34" charset="0"/>
                        </a:rPr>
                        <a:t>P1</a:t>
                      </a:r>
                      <a:endParaRPr lang="es-PE" sz="2000">
                        <a:effectLst/>
                        <a:latin typeface="Arial Narrow" pitchFamily="34" charset="0"/>
                        <a:ea typeface="Times New Roman"/>
                        <a:cs typeface="Times New Roman"/>
                      </a:endParaRPr>
                    </a:p>
                  </a:txBody>
                  <a:tcPr marL="68580" marR="68580" marT="0" marB="0"/>
                </a:tc>
                <a:tc rowSpan="2">
                  <a:txBody>
                    <a:bodyPr/>
                    <a:lstStyle/>
                    <a:p>
                      <a:pPr algn="ctr">
                        <a:lnSpc>
                          <a:spcPct val="115000"/>
                        </a:lnSpc>
                        <a:spcAft>
                          <a:spcPts val="0"/>
                        </a:spcAft>
                      </a:pPr>
                      <a:r>
                        <a:rPr lang="es-ES_tradnl" sz="2000">
                          <a:effectLst/>
                          <a:latin typeface="Arial Narrow" pitchFamily="34" charset="0"/>
                        </a:rPr>
                        <a:t>P2</a:t>
                      </a:r>
                      <a:endParaRPr lang="es-PE" sz="2000">
                        <a:effectLst/>
                        <a:latin typeface="Arial Narrow" pitchFamily="34" charset="0"/>
                        <a:ea typeface="Times New Roman"/>
                        <a:cs typeface="Times New Roman"/>
                      </a:endParaRPr>
                    </a:p>
                  </a:txBody>
                  <a:tcPr marL="68580" marR="68580" marT="0" marB="0"/>
                </a:tc>
                <a:tc rowSpan="2">
                  <a:txBody>
                    <a:bodyPr/>
                    <a:lstStyle/>
                    <a:p>
                      <a:pPr algn="ctr">
                        <a:lnSpc>
                          <a:spcPct val="115000"/>
                        </a:lnSpc>
                        <a:spcAft>
                          <a:spcPts val="0"/>
                        </a:spcAft>
                      </a:pPr>
                      <a:r>
                        <a:rPr lang="es-ES_tradnl" sz="2000" dirty="0" err="1">
                          <a:effectLst/>
                          <a:latin typeface="Arial Narrow" pitchFamily="34" charset="0"/>
                        </a:rPr>
                        <a:t>P3</a:t>
                      </a:r>
                      <a:endParaRPr lang="es-PE" sz="2000" dirty="0">
                        <a:effectLst/>
                        <a:latin typeface="Arial Narrow" pitchFamily="34" charset="0"/>
                        <a:ea typeface="Times New Roman"/>
                        <a:cs typeface="Times New Roman"/>
                      </a:endParaRPr>
                    </a:p>
                  </a:txBody>
                  <a:tcPr marL="68580" marR="68580" marT="0" marB="0"/>
                </a:tc>
                <a:tc rowSpan="2">
                  <a:txBody>
                    <a:bodyPr/>
                    <a:lstStyle/>
                    <a:p>
                      <a:pPr algn="ctr">
                        <a:lnSpc>
                          <a:spcPct val="115000"/>
                        </a:lnSpc>
                        <a:spcAft>
                          <a:spcPts val="0"/>
                        </a:spcAft>
                      </a:pPr>
                      <a:r>
                        <a:rPr lang="es-ES" sz="2000" dirty="0" err="1">
                          <a:effectLst/>
                          <a:latin typeface="Arial Narrow" pitchFamily="34" charset="0"/>
                          <a:ea typeface="Times New Roman"/>
                          <a:cs typeface="Times New Roman"/>
                        </a:rPr>
                        <a:t>P4</a:t>
                      </a:r>
                      <a:endParaRPr lang="es-PE" sz="2000" dirty="0">
                        <a:effectLst/>
                        <a:latin typeface="Arial Narrow" pitchFamily="34" charset="0"/>
                        <a:ea typeface="Times New Roman"/>
                        <a:cs typeface="Times New Roman"/>
                      </a:endParaRPr>
                    </a:p>
                  </a:txBody>
                  <a:tcPr marL="68580" marR="68580" marT="0" marB="0"/>
                </a:tc>
                <a:tc rowSpan="2">
                  <a:txBody>
                    <a:bodyPr/>
                    <a:lstStyle/>
                    <a:p>
                      <a:pPr algn="ctr">
                        <a:lnSpc>
                          <a:spcPct val="115000"/>
                        </a:lnSpc>
                        <a:spcAft>
                          <a:spcPts val="0"/>
                        </a:spcAft>
                      </a:pPr>
                      <a:r>
                        <a:rPr lang="es-ES" sz="2000" dirty="0" err="1">
                          <a:effectLst/>
                          <a:latin typeface="Arial Narrow" pitchFamily="34" charset="0"/>
                          <a:ea typeface="Times New Roman"/>
                          <a:cs typeface="Times New Roman"/>
                        </a:rPr>
                        <a:t>P5</a:t>
                      </a: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0"/>
                  </a:ext>
                </a:extLst>
              </a:tr>
              <a:tr h="345639">
                <a:tc vMerge="1">
                  <a:txBody>
                    <a:bodyPr/>
                    <a:lstStyle/>
                    <a:p>
                      <a:endParaRPr lang="es-PE"/>
                    </a:p>
                  </a:txBody>
                  <a:tcPr/>
                </a:tc>
                <a:tc>
                  <a:txBody>
                    <a:bodyPr/>
                    <a:lstStyle/>
                    <a:p>
                      <a:pPr algn="ctr">
                        <a:lnSpc>
                          <a:spcPct val="115000"/>
                        </a:lnSpc>
                        <a:spcAft>
                          <a:spcPts val="0"/>
                        </a:spcAft>
                      </a:pPr>
                      <a:r>
                        <a:rPr lang="es-ES_tradnl" sz="2000" dirty="0">
                          <a:effectLst/>
                          <a:latin typeface="Arial Narrow" pitchFamily="34" charset="0"/>
                        </a:rPr>
                        <a:t>1</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a:txBody>
                    <a:bodyPr/>
                    <a:lstStyle/>
                    <a:p>
                      <a:pPr algn="ctr">
                        <a:lnSpc>
                          <a:spcPct val="115000"/>
                        </a:lnSpc>
                        <a:spcAft>
                          <a:spcPts val="0"/>
                        </a:spcAft>
                      </a:pPr>
                      <a:r>
                        <a:rPr lang="es-ES_tradnl" sz="2000" dirty="0">
                          <a:effectLst/>
                          <a:latin typeface="Arial Narrow" pitchFamily="34" charset="0"/>
                        </a:rPr>
                        <a:t>2</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a:txBody>
                    <a:bodyPr/>
                    <a:lstStyle/>
                    <a:p>
                      <a:pPr algn="ctr">
                        <a:lnSpc>
                          <a:spcPct val="115000"/>
                        </a:lnSpc>
                        <a:spcAft>
                          <a:spcPts val="0"/>
                        </a:spcAft>
                      </a:pPr>
                      <a:r>
                        <a:rPr lang="es-ES_tradnl" sz="2000" dirty="0">
                          <a:effectLst/>
                          <a:latin typeface="Arial Narrow" pitchFamily="34" charset="0"/>
                        </a:rPr>
                        <a:t>3</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a:txBody>
                    <a:bodyPr/>
                    <a:lstStyle/>
                    <a:p>
                      <a:pPr algn="ctr">
                        <a:lnSpc>
                          <a:spcPct val="115000"/>
                        </a:lnSpc>
                        <a:spcAft>
                          <a:spcPts val="0"/>
                        </a:spcAft>
                      </a:pPr>
                      <a:r>
                        <a:rPr lang="es-ES_tradnl" sz="2000" dirty="0">
                          <a:effectLst/>
                          <a:latin typeface="Arial Narrow" pitchFamily="34" charset="0"/>
                        </a:rPr>
                        <a:t>4</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a:txBody>
                    <a:bodyPr/>
                    <a:lstStyle/>
                    <a:p>
                      <a:pPr algn="ctr">
                        <a:lnSpc>
                          <a:spcPct val="115000"/>
                        </a:lnSpc>
                        <a:spcAft>
                          <a:spcPts val="0"/>
                        </a:spcAft>
                      </a:pPr>
                      <a:r>
                        <a:rPr lang="es-ES_tradnl" sz="2000" dirty="0">
                          <a:effectLst/>
                          <a:latin typeface="Arial Narrow" pitchFamily="34" charset="0"/>
                        </a:rPr>
                        <a:t>5</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vMerge="1">
                  <a:txBody>
                    <a:bodyPr/>
                    <a:lstStyle/>
                    <a:p>
                      <a:endParaRPr lang="es-PE"/>
                    </a:p>
                  </a:txBody>
                  <a:tcPr/>
                </a:tc>
                <a:tc vMerge="1">
                  <a:txBody>
                    <a:bodyPr/>
                    <a:lstStyle/>
                    <a:p>
                      <a:endParaRPr lang="es-PE"/>
                    </a:p>
                  </a:txBody>
                  <a:tcPr/>
                </a:tc>
                <a:tc vMerge="1">
                  <a:txBody>
                    <a:bodyPr/>
                    <a:lstStyle/>
                    <a:p>
                      <a:endParaRPr lang="es-PE"/>
                    </a:p>
                  </a:txBody>
                  <a:tcPr/>
                </a:tc>
                <a:tc vMerge="1">
                  <a:txBody>
                    <a:bodyPr/>
                    <a:lstStyle/>
                    <a:p>
                      <a:endParaRPr lang="es-PE"/>
                    </a:p>
                  </a:txBody>
                  <a:tcPr/>
                </a:tc>
                <a:tc vMerge="1">
                  <a:txBody>
                    <a:bodyPr/>
                    <a:lstStyle/>
                    <a:p>
                      <a:endParaRPr lang="es-PE"/>
                    </a:p>
                  </a:txBody>
                  <a:tcPr/>
                </a:tc>
                <a:tc vMerge="1">
                  <a:txBody>
                    <a:bodyPr/>
                    <a:lstStyle/>
                    <a:p>
                      <a:endParaRPr lang="es-PE"/>
                    </a:p>
                  </a:txBody>
                  <a:tcPr/>
                </a:tc>
                <a:extLst>
                  <a:ext uri="{0D108BD9-81ED-4DB2-BD59-A6C34878D82A}">
                    <a16:rowId xmlns:a16="http://schemas.microsoft.com/office/drawing/2014/main" val="10001"/>
                  </a:ext>
                </a:extLst>
              </a:tr>
              <a:tr h="345639">
                <a:tc>
                  <a:txBody>
                    <a:bodyPr/>
                    <a:lstStyle/>
                    <a:p>
                      <a:pPr algn="ctr">
                        <a:lnSpc>
                          <a:spcPct val="115000"/>
                        </a:lnSpc>
                        <a:spcAft>
                          <a:spcPts val="0"/>
                        </a:spcAft>
                      </a:pPr>
                      <a:r>
                        <a:rPr lang="es-ES_tradnl" sz="2000">
                          <a:effectLst/>
                          <a:latin typeface="Arial Narrow" pitchFamily="34" charset="0"/>
                        </a:rPr>
                        <a:t>A</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5</a:t>
                      </a:r>
                      <a:endParaRPr lang="es-PE" sz="2000" dirty="0">
                        <a:effectLst/>
                        <a:latin typeface="Arial Narrow" pitchFamily="34" charset="0"/>
                        <a:ea typeface="Times New Roman"/>
                        <a:cs typeface="Times New Roman"/>
                      </a:endParaRPr>
                    </a:p>
                  </a:txBody>
                  <a:tcPr marL="68580" marR="68580" marT="0" marB="0">
                    <a:solidFill>
                      <a:srgbClr val="FFFF00"/>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7</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4</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4</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1800" dirty="0">
                          <a:effectLst/>
                          <a:latin typeface="Arial Narrow" pitchFamily="34" charset="0"/>
                        </a:rPr>
                        <a:t> 750/300/120/0</a:t>
                      </a:r>
                      <a:endParaRPr lang="es-PE" sz="18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1 </a:t>
                      </a:r>
                      <a:endParaRPr lang="es-PE" sz="20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2000" dirty="0">
                          <a:effectLst/>
                          <a:latin typeface="Arial Narrow" pitchFamily="34" charset="0"/>
                        </a:rPr>
                        <a:t>2 </a:t>
                      </a:r>
                      <a:endParaRPr lang="es-PE" sz="2000" dirty="0">
                        <a:effectLst/>
                        <a:latin typeface="Arial Narrow" pitchFamily="34" charset="0"/>
                        <a:ea typeface="Times New Roman"/>
                        <a:cs typeface="Times New Roman"/>
                      </a:endParaRPr>
                    </a:p>
                  </a:txBody>
                  <a:tcPr marL="68580" marR="68580" marT="0" marB="0">
                    <a:solidFill>
                      <a:schemeClr val="tx2">
                        <a:lumMod val="40000"/>
                        <a:lumOff val="60000"/>
                      </a:schemeClr>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2</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2</a:t>
                      </a: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2"/>
                  </a:ext>
                </a:extLst>
              </a:tr>
              <a:tr h="345639">
                <a:tc>
                  <a:txBody>
                    <a:bodyPr/>
                    <a:lstStyle/>
                    <a:p>
                      <a:pPr algn="ctr">
                        <a:lnSpc>
                          <a:spcPct val="115000"/>
                        </a:lnSpc>
                        <a:spcAft>
                          <a:spcPts val="0"/>
                        </a:spcAft>
                      </a:pPr>
                      <a:r>
                        <a:rPr lang="es-ES_tradnl" sz="2000" dirty="0">
                          <a:effectLst/>
                          <a:latin typeface="Arial Narrow" pitchFamily="34" charset="0"/>
                        </a:rPr>
                        <a:t>B</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4</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7 </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8 </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6 </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1800" dirty="0">
                          <a:effectLst/>
                          <a:latin typeface="Arial Narrow" pitchFamily="34" charset="0"/>
                        </a:rPr>
                        <a:t> 350/140/0</a:t>
                      </a:r>
                      <a:endParaRPr lang="es-PE" sz="18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2</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2</a:t>
                      </a:r>
                      <a:endParaRPr lang="es-PE" sz="20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2000" dirty="0">
                          <a:effectLst/>
                          <a:latin typeface="Arial Narrow" pitchFamily="34" charset="0"/>
                        </a:rPr>
                        <a:t> 2</a:t>
                      </a:r>
                      <a:endParaRPr lang="es-PE" sz="2000" dirty="0">
                        <a:effectLst/>
                        <a:latin typeface="Arial Narrow" pitchFamily="34" charset="0"/>
                        <a:ea typeface="Times New Roman"/>
                        <a:cs typeface="Times New Roman"/>
                      </a:endParaRPr>
                    </a:p>
                  </a:txBody>
                  <a:tcPr marL="68580" marR="68580" marT="0" marB="0">
                    <a:solidFill>
                      <a:schemeClr val="tx2">
                        <a:lumMod val="40000"/>
                        <a:lumOff val="60000"/>
                      </a:schemeClr>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4</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a:t>
                      </a: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3"/>
                  </a:ext>
                </a:extLst>
              </a:tr>
              <a:tr h="345639">
                <a:tc>
                  <a:txBody>
                    <a:bodyPr/>
                    <a:lstStyle/>
                    <a:p>
                      <a:pPr algn="ctr">
                        <a:lnSpc>
                          <a:spcPct val="115000"/>
                        </a:lnSpc>
                        <a:spcAft>
                          <a:spcPts val="0"/>
                        </a:spcAft>
                      </a:pPr>
                      <a:r>
                        <a:rPr lang="es-ES_tradnl" sz="2000">
                          <a:effectLst/>
                          <a:latin typeface="Arial Narrow" pitchFamily="34" charset="0"/>
                        </a:rPr>
                        <a:t>C</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6</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7 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8 </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9 </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1800" dirty="0">
                          <a:effectLst/>
                          <a:latin typeface="Arial Narrow" pitchFamily="34" charset="0"/>
                        </a:rPr>
                        <a:t> 400</a:t>
                      </a:r>
                      <a:endParaRPr lang="es-PE" sz="18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tx2">
                        <a:lumMod val="40000"/>
                        <a:lumOff val="60000"/>
                      </a:schemeClr>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1</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1</a:t>
                      </a: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4"/>
                  </a:ext>
                </a:extLst>
              </a:tr>
              <a:tr h="406616">
                <a:tc>
                  <a:txBody>
                    <a:bodyPr/>
                    <a:lstStyle/>
                    <a:p>
                      <a:pPr algn="ctr">
                        <a:lnSpc>
                          <a:spcPct val="115000"/>
                        </a:lnSpc>
                        <a:spcAft>
                          <a:spcPts val="0"/>
                        </a:spcAft>
                      </a:pPr>
                      <a:r>
                        <a:rPr lang="es-ES_tradnl" sz="2000">
                          <a:effectLst/>
                          <a:latin typeface="Arial Narrow" pitchFamily="34" charset="0"/>
                        </a:rPr>
                        <a:t>DEMANDA</a:t>
                      </a:r>
                      <a:endParaRPr lang="es-PE" sz="2000">
                        <a:effectLst/>
                        <a:latin typeface="Arial Narrow" pitchFamily="34" charset="0"/>
                      </a:endParaRPr>
                    </a:p>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1800" dirty="0">
                          <a:effectLst/>
                          <a:latin typeface="Arial Narrow" pitchFamily="34" charset="0"/>
                        </a:rPr>
                        <a:t>400/260/140 </a:t>
                      </a:r>
                      <a:endParaRPr lang="es-PE" sz="18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1800" dirty="0">
                          <a:effectLst/>
                          <a:latin typeface="Arial Narrow" pitchFamily="34" charset="0"/>
                        </a:rPr>
                        <a:t>260 </a:t>
                      </a:r>
                      <a:endParaRPr lang="es-PE" sz="18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1800" dirty="0">
                          <a:effectLst/>
                          <a:latin typeface="Arial Narrow" pitchFamily="34" charset="0"/>
                        </a:rPr>
                        <a:t>180/0 </a:t>
                      </a:r>
                      <a:endParaRPr lang="es-PE" sz="18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1800" dirty="0">
                          <a:effectLst/>
                          <a:latin typeface="Arial Narrow" pitchFamily="34" charset="0"/>
                        </a:rPr>
                        <a:t>450/0 </a:t>
                      </a:r>
                      <a:endParaRPr lang="es-PE" sz="18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1800" dirty="0">
                          <a:effectLst/>
                          <a:latin typeface="Arial Narrow" pitchFamily="34" charset="0"/>
                        </a:rPr>
                        <a:t>210/0 </a:t>
                      </a:r>
                      <a:endParaRPr lang="es-PE" sz="18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1800" dirty="0">
                          <a:effectLst/>
                          <a:latin typeface="Arial Narrow" pitchFamily="34" charset="0"/>
                        </a:rPr>
                        <a:t> 1500</a:t>
                      </a:r>
                      <a:endParaRPr lang="es-PE" sz="18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1800" dirty="0">
                          <a:effectLst/>
                          <a:latin typeface="Arial Narrow" pitchFamily="34" charset="0"/>
                        </a:rPr>
                        <a:t> </a:t>
                      </a:r>
                      <a:endParaRPr lang="es-PE" sz="18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1800" dirty="0">
                          <a:effectLst/>
                          <a:latin typeface="Arial Narrow" pitchFamily="34" charset="0"/>
                        </a:rPr>
                        <a:t> </a:t>
                      </a:r>
                      <a:endParaRPr lang="es-PE" sz="18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1800" dirty="0">
                          <a:effectLst/>
                          <a:latin typeface="Arial Narrow" pitchFamily="34" charset="0"/>
                        </a:rPr>
                        <a:t> </a:t>
                      </a:r>
                      <a:endParaRPr lang="es-PE" sz="1800" dirty="0">
                        <a:effectLst/>
                        <a:latin typeface="Arial Narrow" pitchFamily="34" charset="0"/>
                        <a:ea typeface="Times New Roman"/>
                        <a:cs typeface="Times New Roman"/>
                      </a:endParaRPr>
                    </a:p>
                  </a:txBody>
                  <a:tcPr marL="68580" marR="68580" marT="0" marB="0">
                    <a:solidFill>
                      <a:schemeClr val="tx2">
                        <a:lumMod val="40000"/>
                        <a:lumOff val="60000"/>
                      </a:schemeClr>
                    </a:solidFill>
                  </a:tcPr>
                </a:tc>
                <a:tc>
                  <a:txBody>
                    <a:bodyPr/>
                    <a:lstStyle/>
                    <a:p>
                      <a:pPr algn="ctr">
                        <a:lnSpc>
                          <a:spcPct val="115000"/>
                        </a:lnSpc>
                        <a:spcAft>
                          <a:spcPts val="0"/>
                        </a:spcAft>
                      </a:pPr>
                      <a:endParaRPr lang="es-PE" sz="18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18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5"/>
                  </a:ext>
                </a:extLst>
              </a:tr>
              <a:tr h="345639">
                <a:tc>
                  <a:txBody>
                    <a:bodyPr/>
                    <a:lstStyle/>
                    <a:p>
                      <a:pPr algn="ctr">
                        <a:lnSpc>
                          <a:spcPct val="115000"/>
                        </a:lnSpc>
                        <a:spcAft>
                          <a:spcPts val="0"/>
                        </a:spcAft>
                      </a:pPr>
                      <a:r>
                        <a:rPr lang="es-ES_tradnl" sz="2000">
                          <a:effectLst/>
                          <a:latin typeface="Arial Narrow" pitchFamily="34" charset="0"/>
                        </a:rPr>
                        <a:t>P1</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0</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3</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4 </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3</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tx2">
                        <a:lumMod val="40000"/>
                        <a:lumOff val="6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6"/>
                  </a:ext>
                </a:extLst>
              </a:tr>
              <a:tr h="345639">
                <a:tc>
                  <a:txBody>
                    <a:bodyPr/>
                    <a:lstStyle/>
                    <a:p>
                      <a:pPr algn="ctr">
                        <a:lnSpc>
                          <a:spcPct val="115000"/>
                        </a:lnSpc>
                        <a:spcAft>
                          <a:spcPts val="0"/>
                        </a:spcAft>
                      </a:pPr>
                      <a:r>
                        <a:rPr lang="es-ES_tradnl" sz="2000">
                          <a:effectLst/>
                          <a:latin typeface="Arial Narrow" pitchFamily="34" charset="0"/>
                        </a:rPr>
                        <a:t>P2</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2000" dirty="0">
                          <a:effectLst/>
                          <a:latin typeface="Arial Narrow" pitchFamily="34" charset="0"/>
                        </a:rPr>
                        <a:t>0 </a:t>
                      </a:r>
                      <a:endParaRPr lang="es-PE" sz="20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2000" dirty="0">
                          <a:effectLst/>
                          <a:latin typeface="Arial Narrow" pitchFamily="34" charset="0"/>
                        </a:rPr>
                        <a:t>3 </a:t>
                      </a:r>
                      <a:endParaRPr lang="es-PE" sz="20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2000" dirty="0">
                          <a:effectLst/>
                          <a:latin typeface="Arial Narrow" pitchFamily="34" charset="0"/>
                        </a:rPr>
                        <a:t>3 </a:t>
                      </a:r>
                      <a:endParaRPr lang="es-PE" sz="20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tx2">
                        <a:lumMod val="40000"/>
                        <a:lumOff val="6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7"/>
                  </a:ext>
                </a:extLst>
              </a:tr>
              <a:tr h="345639">
                <a:tc>
                  <a:txBody>
                    <a:bodyPr/>
                    <a:lstStyle/>
                    <a:p>
                      <a:pPr algn="ctr">
                        <a:lnSpc>
                          <a:spcPct val="115000"/>
                        </a:lnSpc>
                        <a:spcAft>
                          <a:spcPts val="0"/>
                        </a:spcAft>
                      </a:pPr>
                      <a:r>
                        <a:rPr lang="es-ES_tradnl" sz="2000" dirty="0" err="1">
                          <a:effectLst/>
                          <a:latin typeface="Arial Narrow" pitchFamily="34" charset="0"/>
                        </a:rPr>
                        <a:t>P3</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1</a:t>
                      </a:r>
                      <a:endParaRPr lang="es-PE" sz="2000" dirty="0">
                        <a:effectLst/>
                        <a:latin typeface="Arial Narrow" pitchFamily="34" charset="0"/>
                        <a:ea typeface="Times New Roman"/>
                        <a:cs typeface="Times New Roman"/>
                      </a:endParaRPr>
                    </a:p>
                  </a:txBody>
                  <a:tcPr marL="68580" marR="68580" marT="0" marB="0">
                    <a:solidFill>
                      <a:schemeClr val="tx2">
                        <a:lumMod val="40000"/>
                        <a:lumOff val="60000"/>
                      </a:schemeClr>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0</a:t>
                      </a:r>
                      <a:endParaRPr lang="es-PE" sz="2000" dirty="0">
                        <a:effectLst/>
                        <a:latin typeface="Arial Narrow" pitchFamily="34" charset="0"/>
                        <a:ea typeface="Times New Roman"/>
                        <a:cs typeface="Times New Roman"/>
                      </a:endParaRPr>
                    </a:p>
                  </a:txBody>
                  <a:tcPr marL="68580" marR="68580" marT="0" marB="0">
                    <a:solidFill>
                      <a:schemeClr val="tx2">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tx2">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tx2">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3 </a:t>
                      </a:r>
                      <a:endParaRPr lang="es-PE" sz="2000" dirty="0">
                        <a:effectLst/>
                        <a:latin typeface="Arial Narrow" pitchFamily="34" charset="0"/>
                        <a:ea typeface="Times New Roman"/>
                        <a:cs typeface="Times New Roman"/>
                      </a:endParaRPr>
                    </a:p>
                  </a:txBody>
                  <a:tcPr marL="68580" marR="68580" marT="0" marB="0">
                    <a:solidFill>
                      <a:schemeClr val="tx2">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tx2">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tx2">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tx2">
                        <a:lumMod val="40000"/>
                        <a:lumOff val="60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tx2">
                        <a:lumMod val="40000"/>
                        <a:lumOff val="6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8"/>
                  </a:ext>
                </a:extLst>
              </a:tr>
              <a:tr h="345639">
                <a:tc>
                  <a:txBody>
                    <a:bodyPr/>
                    <a:lstStyle/>
                    <a:p>
                      <a:pPr algn="ctr">
                        <a:lnSpc>
                          <a:spcPct val="115000"/>
                        </a:lnSpc>
                        <a:spcAft>
                          <a:spcPts val="0"/>
                        </a:spcAft>
                      </a:pPr>
                      <a:r>
                        <a:rPr lang="es-ES" sz="2000" dirty="0" err="1">
                          <a:effectLst/>
                          <a:latin typeface="Arial Narrow" pitchFamily="34" charset="0"/>
                          <a:ea typeface="Times New Roman"/>
                          <a:cs typeface="Times New Roman"/>
                        </a:rPr>
                        <a:t>P4</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1</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0</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9"/>
                  </a:ext>
                </a:extLst>
              </a:tr>
              <a:tr h="345639">
                <a:tc>
                  <a:txBody>
                    <a:bodyPr/>
                    <a:lstStyle/>
                    <a:p>
                      <a:pPr algn="ctr">
                        <a:lnSpc>
                          <a:spcPct val="115000"/>
                        </a:lnSpc>
                        <a:spcAft>
                          <a:spcPts val="0"/>
                        </a:spcAft>
                      </a:pPr>
                      <a:r>
                        <a:rPr lang="es-ES" sz="2000" dirty="0" err="1">
                          <a:effectLst/>
                          <a:latin typeface="Arial Narrow" pitchFamily="34" charset="0"/>
                          <a:ea typeface="Times New Roman"/>
                          <a:cs typeface="Times New Roman"/>
                        </a:rPr>
                        <a:t>P5</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1</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0</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10"/>
                  </a:ext>
                </a:extLst>
              </a:tr>
            </a:tbl>
          </a:graphicData>
        </a:graphic>
      </p:graphicFrame>
      <p:sp>
        <p:nvSpPr>
          <p:cNvPr id="4" name="2 CuadroTexto">
            <a:extLst>
              <a:ext uri="{FF2B5EF4-FFF2-40B4-BE49-F238E27FC236}">
                <a16:creationId xmlns:a16="http://schemas.microsoft.com/office/drawing/2014/main" id="{470A8695-DF33-489E-8C51-5A8675038CCA}"/>
              </a:ext>
            </a:extLst>
          </p:cNvPr>
          <p:cNvSpPr txBox="1"/>
          <p:nvPr/>
        </p:nvSpPr>
        <p:spPr>
          <a:xfrm>
            <a:off x="10067032" y="1988100"/>
            <a:ext cx="2018615" cy="3416320"/>
          </a:xfrm>
          <a:prstGeom prst="rect">
            <a:avLst/>
          </a:prstGeom>
          <a:noFill/>
        </p:spPr>
        <p:txBody>
          <a:bodyPr wrap="square" rtlCol="0">
            <a:spAutoFit/>
          </a:bodyPr>
          <a:lstStyle/>
          <a:p>
            <a:r>
              <a:rPr lang="es-ES" dirty="0" err="1">
                <a:latin typeface="Arial Narrow" panose="020B0606020202030204" pitchFamily="34" charset="0"/>
              </a:rPr>
              <a:t>X14</a:t>
            </a:r>
            <a:r>
              <a:rPr lang="es-ES" dirty="0">
                <a:latin typeface="Arial Narrow" panose="020B0606020202030204" pitchFamily="34" charset="0"/>
              </a:rPr>
              <a:t>=450</a:t>
            </a:r>
          </a:p>
          <a:p>
            <a:r>
              <a:rPr lang="es-ES" dirty="0">
                <a:latin typeface="Arial Narrow" panose="020B0606020202030204" pitchFamily="34" charset="0"/>
                <a:sym typeface="Wingdings" pitchFamily="2" charset="2"/>
              </a:rPr>
              <a:t>C=450*4=1800</a:t>
            </a:r>
          </a:p>
          <a:p>
            <a:r>
              <a:rPr lang="es-ES" dirty="0" err="1">
                <a:latin typeface="Arial Narrow" panose="020B0606020202030204" pitchFamily="34" charset="0"/>
                <a:sym typeface="Wingdings" pitchFamily="2" charset="2"/>
              </a:rPr>
              <a:t>X13</a:t>
            </a:r>
            <a:r>
              <a:rPr lang="es-ES" dirty="0">
                <a:latin typeface="Arial Narrow" panose="020B0606020202030204" pitchFamily="34" charset="0"/>
                <a:sym typeface="Wingdings" pitchFamily="2" charset="2"/>
              </a:rPr>
              <a:t>=180</a:t>
            </a:r>
          </a:p>
          <a:p>
            <a:r>
              <a:rPr lang="es-ES" dirty="0">
                <a:latin typeface="Arial Narrow" panose="020B0606020202030204" pitchFamily="34" charset="0"/>
                <a:sym typeface="Wingdings" pitchFamily="2" charset="2"/>
              </a:rPr>
              <a:t>C=180*4=720</a:t>
            </a:r>
          </a:p>
          <a:p>
            <a:r>
              <a:rPr lang="es-ES" dirty="0" err="1">
                <a:latin typeface="Arial Narrow" panose="020B0606020202030204" pitchFamily="34" charset="0"/>
                <a:sym typeface="Wingdings" pitchFamily="2" charset="2"/>
              </a:rPr>
              <a:t>X25</a:t>
            </a:r>
            <a:r>
              <a:rPr lang="es-ES" dirty="0">
                <a:latin typeface="Arial Narrow" panose="020B0606020202030204" pitchFamily="34" charset="0"/>
                <a:sym typeface="Wingdings" pitchFamily="2" charset="2"/>
              </a:rPr>
              <a:t>=210</a:t>
            </a:r>
          </a:p>
          <a:p>
            <a:r>
              <a:rPr lang="es-ES" dirty="0">
                <a:latin typeface="Arial Narrow" panose="020B0606020202030204" pitchFamily="34" charset="0"/>
                <a:sym typeface="Wingdings" pitchFamily="2" charset="2"/>
              </a:rPr>
              <a:t></a:t>
            </a:r>
            <a:r>
              <a:rPr lang="es-ES" dirty="0" err="1">
                <a:latin typeface="Arial Narrow" panose="020B0606020202030204" pitchFamily="34" charset="0"/>
                <a:sym typeface="Wingdings" pitchFamily="2" charset="2"/>
              </a:rPr>
              <a:t>C210</a:t>
            </a:r>
            <a:r>
              <a:rPr lang="es-ES" dirty="0">
                <a:latin typeface="Arial Narrow" panose="020B0606020202030204" pitchFamily="34" charset="0"/>
                <a:sym typeface="Wingdings" pitchFamily="2" charset="2"/>
              </a:rPr>
              <a:t>*6= 1260</a:t>
            </a:r>
          </a:p>
          <a:p>
            <a:r>
              <a:rPr lang="es-ES" dirty="0" err="1">
                <a:latin typeface="Arial Narrow" panose="020B0606020202030204" pitchFamily="34" charset="0"/>
                <a:sym typeface="Wingdings" pitchFamily="2" charset="2"/>
              </a:rPr>
              <a:t>X21</a:t>
            </a:r>
            <a:r>
              <a:rPr lang="es-ES" dirty="0">
                <a:latin typeface="Arial Narrow" panose="020B0606020202030204" pitchFamily="34" charset="0"/>
                <a:sym typeface="Wingdings" pitchFamily="2" charset="2"/>
              </a:rPr>
              <a:t>=140</a:t>
            </a:r>
          </a:p>
          <a:p>
            <a:r>
              <a:rPr lang="es-ES" dirty="0">
                <a:latin typeface="Arial Narrow" panose="020B0606020202030204" pitchFamily="34" charset="0"/>
                <a:sym typeface="Wingdings" pitchFamily="2" charset="2"/>
              </a:rPr>
              <a:t>C=140*4=560</a:t>
            </a:r>
          </a:p>
          <a:p>
            <a:r>
              <a:rPr lang="es-ES" dirty="0" err="1">
                <a:sym typeface="Wingdings" pitchFamily="2" charset="2"/>
              </a:rPr>
              <a:t>X11</a:t>
            </a:r>
            <a:r>
              <a:rPr lang="es-ES" dirty="0">
                <a:sym typeface="Wingdings" pitchFamily="2" charset="2"/>
              </a:rPr>
              <a:t>=120</a:t>
            </a:r>
          </a:p>
          <a:p>
            <a:r>
              <a:rPr lang="es-ES" dirty="0">
                <a:sym typeface="Wingdings" pitchFamily="2" charset="2"/>
              </a:rPr>
              <a:t>C=120*5=600</a:t>
            </a:r>
          </a:p>
          <a:p>
            <a:endParaRPr lang="es-ES" dirty="0">
              <a:latin typeface="Arial Narrow" panose="020B0606020202030204" pitchFamily="34" charset="0"/>
              <a:sym typeface="Wingdings" pitchFamily="2" charset="2"/>
            </a:endParaRPr>
          </a:p>
          <a:p>
            <a:endParaRPr lang="es-PE" dirty="0">
              <a:latin typeface="Arial Narrow" panose="020B0606020202030204" pitchFamily="34" charset="0"/>
            </a:endParaRPr>
          </a:p>
        </p:txBody>
      </p:sp>
    </p:spTree>
    <p:extLst>
      <p:ext uri="{BB962C8B-B14F-4D97-AF65-F5344CB8AC3E}">
        <p14:creationId xmlns:p14="http://schemas.microsoft.com/office/powerpoint/2010/main" val="1501957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Tabla"/>
          <p:cNvGraphicFramePr>
            <a:graphicFrameLocks noGrp="1"/>
          </p:cNvGraphicFramePr>
          <p:nvPr/>
        </p:nvGraphicFramePr>
        <p:xfrm>
          <a:off x="733647" y="1407594"/>
          <a:ext cx="9290246" cy="4383355"/>
        </p:xfrm>
        <a:graphic>
          <a:graphicData uri="http://schemas.openxmlformats.org/drawingml/2006/table">
            <a:tbl>
              <a:tblPr firstRow="1" firstCol="1" lastRow="1" lastCol="1" bandRow="1" bandCol="1">
                <a:tableStyleId>{5C22544A-7EE6-4342-B048-85BDC9FD1C3A}</a:tableStyleId>
              </a:tblPr>
              <a:tblGrid>
                <a:gridCol w="1335552">
                  <a:extLst>
                    <a:ext uri="{9D8B030D-6E8A-4147-A177-3AD203B41FA5}">
                      <a16:colId xmlns:a16="http://schemas.microsoft.com/office/drawing/2014/main" val="20000"/>
                    </a:ext>
                  </a:extLst>
                </a:gridCol>
                <a:gridCol w="868366">
                  <a:extLst>
                    <a:ext uri="{9D8B030D-6E8A-4147-A177-3AD203B41FA5}">
                      <a16:colId xmlns:a16="http://schemas.microsoft.com/office/drawing/2014/main" val="20001"/>
                    </a:ext>
                  </a:extLst>
                </a:gridCol>
                <a:gridCol w="610096">
                  <a:extLst>
                    <a:ext uri="{9D8B030D-6E8A-4147-A177-3AD203B41FA5}">
                      <a16:colId xmlns:a16="http://schemas.microsoft.com/office/drawing/2014/main" val="20002"/>
                    </a:ext>
                  </a:extLst>
                </a:gridCol>
                <a:gridCol w="740015">
                  <a:extLst>
                    <a:ext uri="{9D8B030D-6E8A-4147-A177-3AD203B41FA5}">
                      <a16:colId xmlns:a16="http://schemas.microsoft.com/office/drawing/2014/main" val="20003"/>
                    </a:ext>
                  </a:extLst>
                </a:gridCol>
                <a:gridCol w="730597">
                  <a:extLst>
                    <a:ext uri="{9D8B030D-6E8A-4147-A177-3AD203B41FA5}">
                      <a16:colId xmlns:a16="http://schemas.microsoft.com/office/drawing/2014/main" val="20004"/>
                    </a:ext>
                  </a:extLst>
                </a:gridCol>
                <a:gridCol w="767483">
                  <a:extLst>
                    <a:ext uri="{9D8B030D-6E8A-4147-A177-3AD203B41FA5}">
                      <a16:colId xmlns:a16="http://schemas.microsoft.com/office/drawing/2014/main" val="20005"/>
                    </a:ext>
                  </a:extLst>
                </a:gridCol>
                <a:gridCol w="1107118">
                  <a:extLst>
                    <a:ext uri="{9D8B030D-6E8A-4147-A177-3AD203B41FA5}">
                      <a16:colId xmlns:a16="http://schemas.microsoft.com/office/drawing/2014/main" val="20006"/>
                    </a:ext>
                  </a:extLst>
                </a:gridCol>
                <a:gridCol w="616858">
                  <a:extLst>
                    <a:ext uri="{9D8B030D-6E8A-4147-A177-3AD203B41FA5}">
                      <a16:colId xmlns:a16="http://schemas.microsoft.com/office/drawing/2014/main" val="20007"/>
                    </a:ext>
                  </a:extLst>
                </a:gridCol>
                <a:gridCol w="654243">
                  <a:extLst>
                    <a:ext uri="{9D8B030D-6E8A-4147-A177-3AD203B41FA5}">
                      <a16:colId xmlns:a16="http://schemas.microsoft.com/office/drawing/2014/main" val="20008"/>
                    </a:ext>
                  </a:extLst>
                </a:gridCol>
                <a:gridCol w="607511">
                  <a:extLst>
                    <a:ext uri="{9D8B030D-6E8A-4147-A177-3AD203B41FA5}">
                      <a16:colId xmlns:a16="http://schemas.microsoft.com/office/drawing/2014/main" val="20009"/>
                    </a:ext>
                  </a:extLst>
                </a:gridCol>
                <a:gridCol w="635085">
                  <a:extLst>
                    <a:ext uri="{9D8B030D-6E8A-4147-A177-3AD203B41FA5}">
                      <a16:colId xmlns:a16="http://schemas.microsoft.com/office/drawing/2014/main" val="20010"/>
                    </a:ext>
                  </a:extLst>
                </a:gridCol>
                <a:gridCol w="617322">
                  <a:extLst>
                    <a:ext uri="{9D8B030D-6E8A-4147-A177-3AD203B41FA5}">
                      <a16:colId xmlns:a16="http://schemas.microsoft.com/office/drawing/2014/main" val="20011"/>
                    </a:ext>
                  </a:extLst>
                </a:gridCol>
              </a:tblGrid>
              <a:tr h="345639">
                <a:tc rowSpan="2">
                  <a:txBody>
                    <a:bodyPr/>
                    <a:lstStyle/>
                    <a:p>
                      <a:pPr algn="ctr">
                        <a:lnSpc>
                          <a:spcPct val="115000"/>
                        </a:lnSpc>
                        <a:spcAft>
                          <a:spcPts val="0"/>
                        </a:spcAft>
                      </a:pPr>
                      <a:r>
                        <a:rPr lang="es-ES_tradnl" sz="2000" dirty="0">
                          <a:effectLst/>
                          <a:latin typeface="Arial Narrow" pitchFamily="34" charset="0"/>
                        </a:rPr>
                        <a:t>DEPOSITO</a:t>
                      </a:r>
                      <a:endParaRPr lang="es-PE" sz="2000" dirty="0">
                        <a:effectLst/>
                        <a:latin typeface="Arial Narrow" pitchFamily="34" charset="0"/>
                        <a:ea typeface="Times New Roman"/>
                        <a:cs typeface="Times New Roman"/>
                      </a:endParaRPr>
                    </a:p>
                  </a:txBody>
                  <a:tcPr marL="68580" marR="68580" marT="0" marB="0"/>
                </a:tc>
                <a:tc gridSpan="5">
                  <a:txBody>
                    <a:bodyPr/>
                    <a:lstStyle/>
                    <a:p>
                      <a:pPr algn="ctr">
                        <a:lnSpc>
                          <a:spcPct val="115000"/>
                        </a:lnSpc>
                        <a:spcAft>
                          <a:spcPts val="0"/>
                        </a:spcAft>
                      </a:pPr>
                      <a:r>
                        <a:rPr lang="es-ES_tradnl" sz="2000" dirty="0">
                          <a:effectLst/>
                          <a:latin typeface="Arial Narrow" pitchFamily="34" charset="0"/>
                        </a:rPr>
                        <a:t>ALMACÉN</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rowSpan="2">
                  <a:txBody>
                    <a:bodyPr/>
                    <a:lstStyle/>
                    <a:p>
                      <a:pPr algn="ctr">
                        <a:lnSpc>
                          <a:spcPct val="115000"/>
                        </a:lnSpc>
                        <a:spcAft>
                          <a:spcPts val="0"/>
                        </a:spcAft>
                      </a:pPr>
                      <a:r>
                        <a:rPr lang="es-ES_tradnl" sz="2000" dirty="0">
                          <a:effectLst/>
                          <a:latin typeface="Arial Narrow" pitchFamily="34" charset="0"/>
                        </a:rPr>
                        <a:t>OFERTA</a:t>
                      </a:r>
                      <a:endParaRPr lang="es-PE" sz="2000" dirty="0">
                        <a:effectLst/>
                        <a:latin typeface="Arial Narrow" pitchFamily="34" charset="0"/>
                        <a:ea typeface="Times New Roman"/>
                        <a:cs typeface="Times New Roman"/>
                      </a:endParaRPr>
                    </a:p>
                  </a:txBody>
                  <a:tcPr marL="68580" marR="68580" marT="0" marB="0"/>
                </a:tc>
                <a:tc rowSpan="2">
                  <a:txBody>
                    <a:bodyPr/>
                    <a:lstStyle/>
                    <a:p>
                      <a:pPr algn="ctr">
                        <a:lnSpc>
                          <a:spcPct val="115000"/>
                        </a:lnSpc>
                        <a:spcAft>
                          <a:spcPts val="0"/>
                        </a:spcAft>
                      </a:pPr>
                      <a:r>
                        <a:rPr lang="es-ES_tradnl" sz="2000">
                          <a:effectLst/>
                          <a:latin typeface="Arial Narrow" pitchFamily="34" charset="0"/>
                        </a:rPr>
                        <a:t>P1</a:t>
                      </a:r>
                      <a:endParaRPr lang="es-PE" sz="2000">
                        <a:effectLst/>
                        <a:latin typeface="Arial Narrow" pitchFamily="34" charset="0"/>
                        <a:ea typeface="Times New Roman"/>
                        <a:cs typeface="Times New Roman"/>
                      </a:endParaRPr>
                    </a:p>
                  </a:txBody>
                  <a:tcPr marL="68580" marR="68580" marT="0" marB="0"/>
                </a:tc>
                <a:tc rowSpan="2">
                  <a:txBody>
                    <a:bodyPr/>
                    <a:lstStyle/>
                    <a:p>
                      <a:pPr algn="ctr">
                        <a:lnSpc>
                          <a:spcPct val="115000"/>
                        </a:lnSpc>
                        <a:spcAft>
                          <a:spcPts val="0"/>
                        </a:spcAft>
                      </a:pPr>
                      <a:r>
                        <a:rPr lang="es-ES_tradnl" sz="2000">
                          <a:effectLst/>
                          <a:latin typeface="Arial Narrow" pitchFamily="34" charset="0"/>
                        </a:rPr>
                        <a:t>P2</a:t>
                      </a:r>
                      <a:endParaRPr lang="es-PE" sz="2000">
                        <a:effectLst/>
                        <a:latin typeface="Arial Narrow" pitchFamily="34" charset="0"/>
                        <a:ea typeface="Times New Roman"/>
                        <a:cs typeface="Times New Roman"/>
                      </a:endParaRPr>
                    </a:p>
                  </a:txBody>
                  <a:tcPr marL="68580" marR="68580" marT="0" marB="0"/>
                </a:tc>
                <a:tc rowSpan="2">
                  <a:txBody>
                    <a:bodyPr/>
                    <a:lstStyle/>
                    <a:p>
                      <a:pPr algn="ctr">
                        <a:lnSpc>
                          <a:spcPct val="115000"/>
                        </a:lnSpc>
                        <a:spcAft>
                          <a:spcPts val="0"/>
                        </a:spcAft>
                      </a:pPr>
                      <a:r>
                        <a:rPr lang="es-ES_tradnl" sz="2000" dirty="0" err="1">
                          <a:effectLst/>
                          <a:latin typeface="Arial Narrow" pitchFamily="34" charset="0"/>
                        </a:rPr>
                        <a:t>P3</a:t>
                      </a:r>
                      <a:endParaRPr lang="es-PE" sz="2000" dirty="0">
                        <a:effectLst/>
                        <a:latin typeface="Arial Narrow" pitchFamily="34" charset="0"/>
                        <a:ea typeface="Times New Roman"/>
                        <a:cs typeface="Times New Roman"/>
                      </a:endParaRPr>
                    </a:p>
                  </a:txBody>
                  <a:tcPr marL="68580" marR="68580" marT="0" marB="0"/>
                </a:tc>
                <a:tc rowSpan="2">
                  <a:txBody>
                    <a:bodyPr/>
                    <a:lstStyle/>
                    <a:p>
                      <a:pPr algn="ctr">
                        <a:lnSpc>
                          <a:spcPct val="115000"/>
                        </a:lnSpc>
                        <a:spcAft>
                          <a:spcPts val="0"/>
                        </a:spcAft>
                      </a:pPr>
                      <a:r>
                        <a:rPr lang="es-ES" sz="2000" dirty="0" err="1">
                          <a:effectLst/>
                          <a:latin typeface="Arial Narrow" pitchFamily="34" charset="0"/>
                          <a:ea typeface="Times New Roman"/>
                          <a:cs typeface="Times New Roman"/>
                        </a:rPr>
                        <a:t>P4</a:t>
                      </a:r>
                      <a:endParaRPr lang="es-PE" sz="2000" dirty="0">
                        <a:effectLst/>
                        <a:latin typeface="Arial Narrow" pitchFamily="34" charset="0"/>
                        <a:ea typeface="Times New Roman"/>
                        <a:cs typeface="Times New Roman"/>
                      </a:endParaRPr>
                    </a:p>
                  </a:txBody>
                  <a:tcPr marL="68580" marR="68580" marT="0" marB="0"/>
                </a:tc>
                <a:tc rowSpan="2">
                  <a:txBody>
                    <a:bodyPr/>
                    <a:lstStyle/>
                    <a:p>
                      <a:pPr algn="ctr">
                        <a:lnSpc>
                          <a:spcPct val="115000"/>
                        </a:lnSpc>
                        <a:spcAft>
                          <a:spcPts val="0"/>
                        </a:spcAft>
                      </a:pPr>
                      <a:r>
                        <a:rPr lang="es-ES" sz="2000" dirty="0" err="1">
                          <a:effectLst/>
                          <a:latin typeface="Arial Narrow" pitchFamily="34" charset="0"/>
                          <a:ea typeface="Times New Roman"/>
                          <a:cs typeface="Times New Roman"/>
                        </a:rPr>
                        <a:t>P5</a:t>
                      </a: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0"/>
                  </a:ext>
                </a:extLst>
              </a:tr>
              <a:tr h="345639">
                <a:tc vMerge="1">
                  <a:txBody>
                    <a:bodyPr/>
                    <a:lstStyle/>
                    <a:p>
                      <a:endParaRPr lang="es-PE"/>
                    </a:p>
                  </a:txBody>
                  <a:tcPr/>
                </a:tc>
                <a:tc>
                  <a:txBody>
                    <a:bodyPr/>
                    <a:lstStyle/>
                    <a:p>
                      <a:pPr algn="ctr">
                        <a:lnSpc>
                          <a:spcPct val="115000"/>
                        </a:lnSpc>
                        <a:spcAft>
                          <a:spcPts val="0"/>
                        </a:spcAft>
                      </a:pPr>
                      <a:r>
                        <a:rPr lang="es-ES_tradnl" sz="2000" dirty="0">
                          <a:effectLst/>
                          <a:latin typeface="Arial Narrow" pitchFamily="34" charset="0"/>
                        </a:rPr>
                        <a:t>1</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a:txBody>
                    <a:bodyPr/>
                    <a:lstStyle/>
                    <a:p>
                      <a:pPr algn="ctr">
                        <a:lnSpc>
                          <a:spcPct val="115000"/>
                        </a:lnSpc>
                        <a:spcAft>
                          <a:spcPts val="0"/>
                        </a:spcAft>
                      </a:pPr>
                      <a:r>
                        <a:rPr lang="es-ES_tradnl" sz="2000" dirty="0">
                          <a:effectLst/>
                          <a:latin typeface="Arial Narrow" pitchFamily="34" charset="0"/>
                        </a:rPr>
                        <a:t>2</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a:txBody>
                    <a:bodyPr/>
                    <a:lstStyle/>
                    <a:p>
                      <a:pPr algn="ctr">
                        <a:lnSpc>
                          <a:spcPct val="115000"/>
                        </a:lnSpc>
                        <a:spcAft>
                          <a:spcPts val="0"/>
                        </a:spcAft>
                      </a:pPr>
                      <a:r>
                        <a:rPr lang="es-ES_tradnl" sz="2000" dirty="0">
                          <a:effectLst/>
                          <a:latin typeface="Arial Narrow" pitchFamily="34" charset="0"/>
                        </a:rPr>
                        <a:t>3</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a:txBody>
                    <a:bodyPr/>
                    <a:lstStyle/>
                    <a:p>
                      <a:pPr algn="ctr">
                        <a:lnSpc>
                          <a:spcPct val="115000"/>
                        </a:lnSpc>
                        <a:spcAft>
                          <a:spcPts val="0"/>
                        </a:spcAft>
                      </a:pPr>
                      <a:r>
                        <a:rPr lang="es-ES_tradnl" sz="2000" dirty="0">
                          <a:effectLst/>
                          <a:latin typeface="Arial Narrow" pitchFamily="34" charset="0"/>
                        </a:rPr>
                        <a:t>4</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a:txBody>
                    <a:bodyPr/>
                    <a:lstStyle/>
                    <a:p>
                      <a:pPr algn="ctr">
                        <a:lnSpc>
                          <a:spcPct val="115000"/>
                        </a:lnSpc>
                        <a:spcAft>
                          <a:spcPts val="0"/>
                        </a:spcAft>
                      </a:pPr>
                      <a:r>
                        <a:rPr lang="es-ES_tradnl" sz="2000" dirty="0">
                          <a:effectLst/>
                          <a:latin typeface="Arial Narrow" pitchFamily="34" charset="0"/>
                        </a:rPr>
                        <a:t>5</a:t>
                      </a:r>
                      <a:endParaRPr lang="es-PE" sz="2000" dirty="0">
                        <a:effectLst/>
                        <a:latin typeface="Arial Narrow" pitchFamily="34" charset="0"/>
                        <a:ea typeface="Times New Roman"/>
                        <a:cs typeface="Times New Roman"/>
                      </a:endParaRPr>
                    </a:p>
                  </a:txBody>
                  <a:tcPr marL="68580" marR="68580" marT="0" marB="0">
                    <a:solidFill>
                      <a:schemeClr val="bg2">
                        <a:lumMod val="50000"/>
                      </a:schemeClr>
                    </a:solidFill>
                  </a:tcPr>
                </a:tc>
                <a:tc vMerge="1">
                  <a:txBody>
                    <a:bodyPr/>
                    <a:lstStyle/>
                    <a:p>
                      <a:endParaRPr lang="es-PE"/>
                    </a:p>
                  </a:txBody>
                  <a:tcPr/>
                </a:tc>
                <a:tc vMerge="1">
                  <a:txBody>
                    <a:bodyPr/>
                    <a:lstStyle/>
                    <a:p>
                      <a:endParaRPr lang="es-PE"/>
                    </a:p>
                  </a:txBody>
                  <a:tcPr/>
                </a:tc>
                <a:tc vMerge="1">
                  <a:txBody>
                    <a:bodyPr/>
                    <a:lstStyle/>
                    <a:p>
                      <a:endParaRPr lang="es-PE"/>
                    </a:p>
                  </a:txBody>
                  <a:tcPr/>
                </a:tc>
                <a:tc vMerge="1">
                  <a:txBody>
                    <a:bodyPr/>
                    <a:lstStyle/>
                    <a:p>
                      <a:endParaRPr lang="es-PE"/>
                    </a:p>
                  </a:txBody>
                  <a:tcPr/>
                </a:tc>
                <a:tc vMerge="1">
                  <a:txBody>
                    <a:bodyPr/>
                    <a:lstStyle/>
                    <a:p>
                      <a:endParaRPr lang="es-PE"/>
                    </a:p>
                  </a:txBody>
                  <a:tcPr/>
                </a:tc>
                <a:tc vMerge="1">
                  <a:txBody>
                    <a:bodyPr/>
                    <a:lstStyle/>
                    <a:p>
                      <a:endParaRPr lang="es-PE"/>
                    </a:p>
                  </a:txBody>
                  <a:tcPr/>
                </a:tc>
                <a:extLst>
                  <a:ext uri="{0D108BD9-81ED-4DB2-BD59-A6C34878D82A}">
                    <a16:rowId xmlns:a16="http://schemas.microsoft.com/office/drawing/2014/main" val="10001"/>
                  </a:ext>
                </a:extLst>
              </a:tr>
              <a:tr h="345639">
                <a:tc>
                  <a:txBody>
                    <a:bodyPr/>
                    <a:lstStyle/>
                    <a:p>
                      <a:pPr algn="ctr">
                        <a:lnSpc>
                          <a:spcPct val="115000"/>
                        </a:lnSpc>
                        <a:spcAft>
                          <a:spcPts val="0"/>
                        </a:spcAft>
                      </a:pPr>
                      <a:r>
                        <a:rPr lang="es-ES_tradnl" sz="2000">
                          <a:effectLst/>
                          <a:latin typeface="Arial Narrow" pitchFamily="34" charset="0"/>
                        </a:rPr>
                        <a:t>A</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5</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7</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4</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4</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1800" dirty="0">
                          <a:effectLst/>
                          <a:latin typeface="Arial Narrow" pitchFamily="34" charset="0"/>
                        </a:rPr>
                        <a:t> 750/300/120/0</a:t>
                      </a:r>
                      <a:endParaRPr lang="es-PE" sz="18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1 </a:t>
                      </a:r>
                      <a:endParaRPr lang="es-PE" sz="20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2000" dirty="0">
                          <a:effectLst/>
                          <a:latin typeface="Arial Narrow" pitchFamily="34" charset="0"/>
                        </a:rPr>
                        <a:t>2 </a:t>
                      </a:r>
                      <a:endParaRPr lang="es-PE" sz="2000" dirty="0">
                        <a:effectLst/>
                        <a:latin typeface="Arial Narrow" pitchFamily="34" charset="0"/>
                        <a:ea typeface="Times New Roman"/>
                        <a:cs typeface="Times New Roman"/>
                      </a:endParaRPr>
                    </a:p>
                  </a:txBody>
                  <a:tcPr marL="68580" marR="68580" marT="0" marB="0">
                    <a:solidFill>
                      <a:schemeClr val="bg1">
                        <a:lumMod val="65000"/>
                      </a:schemeClr>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2</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2</a:t>
                      </a: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2"/>
                  </a:ext>
                </a:extLst>
              </a:tr>
              <a:tr h="345639">
                <a:tc>
                  <a:txBody>
                    <a:bodyPr/>
                    <a:lstStyle/>
                    <a:p>
                      <a:pPr algn="ctr">
                        <a:lnSpc>
                          <a:spcPct val="115000"/>
                        </a:lnSpc>
                        <a:spcAft>
                          <a:spcPts val="0"/>
                        </a:spcAft>
                      </a:pPr>
                      <a:r>
                        <a:rPr lang="es-ES_tradnl" sz="2000">
                          <a:effectLst/>
                          <a:latin typeface="Arial Narrow" pitchFamily="34" charset="0"/>
                        </a:rPr>
                        <a:t>B</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4</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7 </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8 </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6 </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1800" dirty="0">
                          <a:effectLst/>
                          <a:latin typeface="Arial Narrow" pitchFamily="34" charset="0"/>
                        </a:rPr>
                        <a:t> 350/140/0</a:t>
                      </a:r>
                      <a:endParaRPr lang="es-PE" sz="18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2</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2</a:t>
                      </a:r>
                      <a:endParaRPr lang="es-PE" sz="20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2000" dirty="0">
                          <a:effectLst/>
                          <a:latin typeface="Arial Narrow" pitchFamily="34" charset="0"/>
                        </a:rPr>
                        <a:t> 2</a:t>
                      </a:r>
                      <a:endParaRPr lang="es-PE" sz="2000" dirty="0">
                        <a:effectLst/>
                        <a:latin typeface="Arial Narrow" pitchFamily="34" charset="0"/>
                        <a:ea typeface="Times New Roman"/>
                        <a:cs typeface="Times New Roman"/>
                      </a:endParaRPr>
                    </a:p>
                  </a:txBody>
                  <a:tcPr marL="68580" marR="68580" marT="0" marB="0">
                    <a:solidFill>
                      <a:schemeClr val="bg1">
                        <a:lumMod val="65000"/>
                      </a:schemeClr>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4</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a:t>
                      </a: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3"/>
                  </a:ext>
                </a:extLst>
              </a:tr>
              <a:tr h="345639">
                <a:tc>
                  <a:txBody>
                    <a:bodyPr/>
                    <a:lstStyle/>
                    <a:p>
                      <a:pPr algn="ctr">
                        <a:lnSpc>
                          <a:spcPct val="115000"/>
                        </a:lnSpc>
                        <a:spcAft>
                          <a:spcPts val="0"/>
                        </a:spcAft>
                      </a:pPr>
                      <a:r>
                        <a:rPr lang="es-ES_tradnl" sz="2000" dirty="0">
                          <a:effectLst/>
                          <a:latin typeface="Arial Narrow" pitchFamily="34" charset="0"/>
                        </a:rPr>
                        <a:t>C</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6</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7 </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8 </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2000" dirty="0">
                          <a:effectLst/>
                          <a:latin typeface="Arial Narrow" pitchFamily="34" charset="0"/>
                        </a:rPr>
                        <a:t>9 </a:t>
                      </a:r>
                      <a:endParaRPr lang="es-PE" sz="2000" dirty="0">
                        <a:effectLst/>
                        <a:latin typeface="Arial Narrow" pitchFamily="34" charset="0"/>
                        <a:ea typeface="Times New Roman"/>
                        <a:cs typeface="Times New Roman"/>
                      </a:endParaRPr>
                    </a:p>
                  </a:txBody>
                  <a:tcPr marL="68580" marR="68580" marT="0" marB="0">
                    <a:solidFill>
                      <a:schemeClr val="tx1"/>
                    </a:solidFill>
                  </a:tcPr>
                </a:tc>
                <a:tc>
                  <a:txBody>
                    <a:bodyPr/>
                    <a:lstStyle/>
                    <a:p>
                      <a:pPr algn="ctr">
                        <a:lnSpc>
                          <a:spcPct val="115000"/>
                        </a:lnSpc>
                        <a:spcAft>
                          <a:spcPts val="0"/>
                        </a:spcAft>
                      </a:pPr>
                      <a:r>
                        <a:rPr lang="es-ES_tradnl" sz="1800" dirty="0">
                          <a:effectLst/>
                          <a:latin typeface="Arial Narrow" pitchFamily="34" charset="0"/>
                        </a:rPr>
                        <a:t> 400</a:t>
                      </a:r>
                      <a:endParaRPr lang="es-PE" sz="18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bg1">
                        <a:lumMod val="65000"/>
                      </a:schemeClr>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1</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1</a:t>
                      </a: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4"/>
                  </a:ext>
                </a:extLst>
              </a:tr>
              <a:tr h="406616">
                <a:tc>
                  <a:txBody>
                    <a:bodyPr/>
                    <a:lstStyle/>
                    <a:p>
                      <a:pPr algn="ctr">
                        <a:lnSpc>
                          <a:spcPct val="115000"/>
                        </a:lnSpc>
                        <a:spcAft>
                          <a:spcPts val="0"/>
                        </a:spcAft>
                      </a:pPr>
                      <a:r>
                        <a:rPr lang="es-ES_tradnl" sz="2000">
                          <a:effectLst/>
                          <a:latin typeface="Arial Narrow" pitchFamily="34" charset="0"/>
                        </a:rPr>
                        <a:t>DEMANDA</a:t>
                      </a:r>
                      <a:endParaRPr lang="es-PE" sz="2000">
                        <a:effectLst/>
                        <a:latin typeface="Arial Narrow" pitchFamily="34" charset="0"/>
                      </a:endParaRPr>
                    </a:p>
                    <a:p>
                      <a:pPr algn="ctr">
                        <a:lnSpc>
                          <a:spcPct val="115000"/>
                        </a:lnSpc>
                        <a:spcAft>
                          <a:spcPts val="0"/>
                        </a:spcAft>
                      </a:pPr>
                      <a:r>
                        <a:rPr lang="es-ES_tradnl" sz="2000">
                          <a:effectLst/>
                          <a:latin typeface="Arial Narrow" pitchFamily="34" charset="0"/>
                        </a:rPr>
                        <a:t> </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1800" dirty="0">
                          <a:effectLst/>
                          <a:latin typeface="Arial Narrow" pitchFamily="34" charset="0"/>
                        </a:rPr>
                        <a:t>400/260/140 </a:t>
                      </a:r>
                      <a:endParaRPr lang="es-PE" sz="18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1800" dirty="0">
                          <a:effectLst/>
                          <a:latin typeface="Arial Narrow" pitchFamily="34" charset="0"/>
                        </a:rPr>
                        <a:t>260 </a:t>
                      </a:r>
                      <a:endParaRPr lang="es-PE" sz="18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1800" dirty="0">
                          <a:effectLst/>
                          <a:latin typeface="Arial Narrow" pitchFamily="34" charset="0"/>
                        </a:rPr>
                        <a:t>180/0 </a:t>
                      </a:r>
                      <a:endParaRPr lang="es-PE" sz="18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1800" dirty="0">
                          <a:effectLst/>
                          <a:latin typeface="Arial Narrow" pitchFamily="34" charset="0"/>
                        </a:rPr>
                        <a:t>450/0 </a:t>
                      </a:r>
                      <a:endParaRPr lang="es-PE" sz="18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1800" dirty="0">
                          <a:effectLst/>
                          <a:latin typeface="Arial Narrow" pitchFamily="34" charset="0"/>
                        </a:rPr>
                        <a:t>210/0 </a:t>
                      </a:r>
                      <a:endParaRPr lang="es-PE" sz="18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1800" dirty="0">
                          <a:effectLst/>
                          <a:latin typeface="Arial Narrow" pitchFamily="34" charset="0"/>
                        </a:rPr>
                        <a:t> 1500</a:t>
                      </a:r>
                      <a:endParaRPr lang="es-PE" sz="1800" dirty="0">
                        <a:effectLst/>
                        <a:latin typeface="Arial Narrow" pitchFamily="34" charset="0"/>
                        <a:ea typeface="Times New Roman"/>
                        <a:cs typeface="Times New Roman"/>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es-ES_tradnl" sz="1800" dirty="0">
                          <a:effectLst/>
                          <a:latin typeface="Arial Narrow" pitchFamily="34" charset="0"/>
                        </a:rPr>
                        <a:t> </a:t>
                      </a:r>
                      <a:endParaRPr lang="es-PE" sz="18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1800" dirty="0">
                          <a:effectLst/>
                          <a:latin typeface="Arial Narrow" pitchFamily="34" charset="0"/>
                        </a:rPr>
                        <a:t> </a:t>
                      </a:r>
                      <a:endParaRPr lang="es-PE" sz="18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1800" dirty="0">
                          <a:effectLst/>
                          <a:latin typeface="Arial Narrow" pitchFamily="34" charset="0"/>
                        </a:rPr>
                        <a:t> </a:t>
                      </a:r>
                      <a:endParaRPr lang="es-PE" sz="1800" dirty="0">
                        <a:effectLst/>
                        <a:latin typeface="Arial Narrow" pitchFamily="34" charset="0"/>
                        <a:ea typeface="Times New Roman"/>
                        <a:cs typeface="Times New Roman"/>
                      </a:endParaRPr>
                    </a:p>
                  </a:txBody>
                  <a:tcPr marL="68580" marR="68580" marT="0" marB="0">
                    <a:solidFill>
                      <a:schemeClr val="bg1">
                        <a:lumMod val="65000"/>
                      </a:schemeClr>
                    </a:solidFill>
                  </a:tcPr>
                </a:tc>
                <a:tc>
                  <a:txBody>
                    <a:bodyPr/>
                    <a:lstStyle/>
                    <a:p>
                      <a:pPr algn="ctr">
                        <a:lnSpc>
                          <a:spcPct val="115000"/>
                        </a:lnSpc>
                        <a:spcAft>
                          <a:spcPts val="0"/>
                        </a:spcAft>
                      </a:pPr>
                      <a:endParaRPr lang="es-PE" sz="18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18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5"/>
                  </a:ext>
                </a:extLst>
              </a:tr>
              <a:tr h="345639">
                <a:tc>
                  <a:txBody>
                    <a:bodyPr/>
                    <a:lstStyle/>
                    <a:p>
                      <a:pPr algn="ctr">
                        <a:lnSpc>
                          <a:spcPct val="115000"/>
                        </a:lnSpc>
                        <a:spcAft>
                          <a:spcPts val="0"/>
                        </a:spcAft>
                      </a:pPr>
                      <a:r>
                        <a:rPr lang="es-ES_tradnl" sz="2000">
                          <a:effectLst/>
                          <a:latin typeface="Arial Narrow" pitchFamily="34" charset="0"/>
                        </a:rPr>
                        <a:t>P1</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0</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3</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4 </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3</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lumMod val="65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6"/>
                  </a:ext>
                </a:extLst>
              </a:tr>
              <a:tr h="345639">
                <a:tc>
                  <a:txBody>
                    <a:bodyPr/>
                    <a:lstStyle/>
                    <a:p>
                      <a:pPr algn="ctr">
                        <a:lnSpc>
                          <a:spcPct val="115000"/>
                        </a:lnSpc>
                        <a:spcAft>
                          <a:spcPts val="0"/>
                        </a:spcAft>
                      </a:pPr>
                      <a:r>
                        <a:rPr lang="es-ES_tradnl" sz="2000">
                          <a:effectLst/>
                          <a:latin typeface="Arial Narrow" pitchFamily="34" charset="0"/>
                        </a:rPr>
                        <a:t>P2</a:t>
                      </a:r>
                      <a:endParaRPr lang="es-PE" sz="200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_tradnl" sz="2000" dirty="0">
                          <a:effectLst/>
                          <a:latin typeface="Arial Narrow" pitchFamily="34" charset="0"/>
                        </a:rPr>
                        <a:t> 1</a:t>
                      </a:r>
                      <a:endParaRPr lang="es-PE" sz="20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2000" dirty="0">
                          <a:effectLst/>
                          <a:latin typeface="Arial Narrow" pitchFamily="34" charset="0"/>
                        </a:rPr>
                        <a:t>0 </a:t>
                      </a:r>
                      <a:endParaRPr lang="es-PE" sz="20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2000" dirty="0">
                          <a:effectLst/>
                          <a:latin typeface="Arial Narrow" pitchFamily="34" charset="0"/>
                        </a:rPr>
                        <a:t>3 </a:t>
                      </a:r>
                      <a:endParaRPr lang="es-PE" sz="20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2000" dirty="0">
                          <a:effectLst/>
                          <a:latin typeface="Arial Narrow" pitchFamily="34" charset="0"/>
                        </a:rPr>
                        <a:t>3 </a:t>
                      </a:r>
                      <a:endParaRPr lang="es-PE" sz="20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lumMod val="85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lumMod val="65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7"/>
                  </a:ext>
                </a:extLst>
              </a:tr>
              <a:tr h="345639">
                <a:tc>
                  <a:txBody>
                    <a:bodyPr/>
                    <a:lstStyle/>
                    <a:p>
                      <a:pPr algn="ctr">
                        <a:lnSpc>
                          <a:spcPct val="115000"/>
                        </a:lnSpc>
                        <a:spcAft>
                          <a:spcPts val="0"/>
                        </a:spcAft>
                      </a:pPr>
                      <a:r>
                        <a:rPr lang="es-ES_tradnl" sz="2000" dirty="0" err="1">
                          <a:effectLst/>
                          <a:latin typeface="Arial Narrow" pitchFamily="34" charset="0"/>
                        </a:rPr>
                        <a:t>P3</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1</a:t>
                      </a:r>
                      <a:endParaRPr lang="es-PE" sz="2000" dirty="0">
                        <a:effectLst/>
                        <a:latin typeface="Arial Narrow" pitchFamily="34" charset="0"/>
                        <a:ea typeface="Times New Roman"/>
                        <a:cs typeface="Times New Roman"/>
                      </a:endParaRPr>
                    </a:p>
                  </a:txBody>
                  <a:tcPr marL="68580" marR="68580" marT="0" marB="0">
                    <a:solidFill>
                      <a:schemeClr val="bg1">
                        <a:lumMod val="65000"/>
                      </a:schemeClr>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0</a:t>
                      </a:r>
                      <a:endParaRPr lang="es-PE" sz="2000" dirty="0">
                        <a:effectLst/>
                        <a:latin typeface="Arial Narrow" pitchFamily="34" charset="0"/>
                        <a:ea typeface="Times New Roman"/>
                        <a:cs typeface="Times New Roman"/>
                      </a:endParaRPr>
                    </a:p>
                  </a:txBody>
                  <a:tcPr marL="68580" marR="68580" marT="0" marB="0">
                    <a:solidFill>
                      <a:schemeClr val="bg1">
                        <a:lumMod val="65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lumMod val="65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lumMod val="65000"/>
                      </a:schemeClr>
                    </a:solidFill>
                  </a:tcPr>
                </a:tc>
                <a:tc>
                  <a:txBody>
                    <a:bodyPr/>
                    <a:lstStyle/>
                    <a:p>
                      <a:pPr algn="ctr">
                        <a:lnSpc>
                          <a:spcPct val="115000"/>
                        </a:lnSpc>
                        <a:spcAft>
                          <a:spcPts val="0"/>
                        </a:spcAft>
                      </a:pPr>
                      <a:r>
                        <a:rPr lang="es-ES_tradnl" sz="2000" dirty="0">
                          <a:effectLst/>
                          <a:latin typeface="Arial Narrow" pitchFamily="34" charset="0"/>
                        </a:rPr>
                        <a:t>3 </a:t>
                      </a:r>
                      <a:endParaRPr lang="es-PE" sz="2000" dirty="0">
                        <a:effectLst/>
                        <a:latin typeface="Arial Narrow" pitchFamily="34" charset="0"/>
                        <a:ea typeface="Times New Roman"/>
                        <a:cs typeface="Times New Roman"/>
                      </a:endParaRPr>
                    </a:p>
                  </a:txBody>
                  <a:tcPr marL="68580" marR="68580" marT="0" marB="0">
                    <a:solidFill>
                      <a:schemeClr val="bg1">
                        <a:lumMod val="65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lumMod val="65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lumMod val="65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lumMod val="65000"/>
                      </a:schemeClr>
                    </a:solidFill>
                  </a:tcPr>
                </a:tc>
                <a:tc>
                  <a:txBody>
                    <a:bodyPr/>
                    <a:lstStyle/>
                    <a:p>
                      <a:pPr algn="ctr">
                        <a:lnSpc>
                          <a:spcPct val="115000"/>
                        </a:lnSpc>
                        <a:spcAft>
                          <a:spcPts val="0"/>
                        </a:spcAft>
                      </a:pPr>
                      <a:r>
                        <a:rPr lang="es-ES_tradnl" sz="2000" dirty="0">
                          <a:effectLst/>
                          <a:latin typeface="Arial Narrow" pitchFamily="34" charset="0"/>
                        </a:rPr>
                        <a:t> </a:t>
                      </a:r>
                      <a:endParaRPr lang="es-PE" sz="2000" dirty="0">
                        <a:effectLst/>
                        <a:latin typeface="Arial Narrow" pitchFamily="34" charset="0"/>
                        <a:ea typeface="Times New Roman"/>
                        <a:cs typeface="Times New Roman"/>
                      </a:endParaRPr>
                    </a:p>
                  </a:txBody>
                  <a:tcPr marL="68580" marR="68580" marT="0" marB="0">
                    <a:solidFill>
                      <a:schemeClr val="bg1">
                        <a:lumMod val="65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8"/>
                  </a:ext>
                </a:extLst>
              </a:tr>
              <a:tr h="345639">
                <a:tc>
                  <a:txBody>
                    <a:bodyPr/>
                    <a:lstStyle/>
                    <a:p>
                      <a:pPr algn="ctr">
                        <a:lnSpc>
                          <a:spcPct val="115000"/>
                        </a:lnSpc>
                        <a:spcAft>
                          <a:spcPts val="0"/>
                        </a:spcAft>
                      </a:pPr>
                      <a:r>
                        <a:rPr lang="es-ES" sz="2000" dirty="0" err="1">
                          <a:effectLst/>
                          <a:latin typeface="Arial Narrow" pitchFamily="34" charset="0"/>
                          <a:ea typeface="Times New Roman"/>
                          <a:cs typeface="Times New Roman"/>
                        </a:rPr>
                        <a:t>P4</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1</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r>
                        <a:rPr lang="es-ES" sz="2000" dirty="0">
                          <a:effectLst/>
                          <a:latin typeface="Arial Narrow" pitchFamily="34" charset="0"/>
                          <a:ea typeface="Times New Roman"/>
                          <a:cs typeface="Times New Roman"/>
                        </a:rPr>
                        <a:t>0</a:t>
                      </a: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solidFill>
                      <a:schemeClr val="accent1">
                        <a:lumMod val="60000"/>
                        <a:lumOff val="40000"/>
                      </a:schemeClr>
                    </a:solidFill>
                  </a:tcPr>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09"/>
                  </a:ext>
                </a:extLst>
              </a:tr>
              <a:tr h="345639">
                <a:tc>
                  <a:txBody>
                    <a:bodyPr/>
                    <a:lstStyle/>
                    <a:p>
                      <a:pPr algn="ctr">
                        <a:lnSpc>
                          <a:spcPct val="115000"/>
                        </a:lnSpc>
                        <a:spcAft>
                          <a:spcPts val="0"/>
                        </a:spcAft>
                      </a:pPr>
                      <a:r>
                        <a:rPr lang="es-ES" sz="2000" dirty="0" err="1">
                          <a:effectLst/>
                          <a:latin typeface="Arial Narrow" pitchFamily="34" charset="0"/>
                          <a:ea typeface="Times New Roman"/>
                          <a:cs typeface="Times New Roman"/>
                        </a:rPr>
                        <a:t>P5</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1</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r>
                        <a:rPr lang="es-ES" sz="2000" dirty="0">
                          <a:effectLst/>
                          <a:latin typeface="Arial Narrow" pitchFamily="34" charset="0"/>
                          <a:ea typeface="Times New Roman"/>
                          <a:cs typeface="Times New Roman"/>
                        </a:rPr>
                        <a:t>0</a:t>
                      </a: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tc>
                  <a:txBody>
                    <a:bodyPr/>
                    <a:lstStyle/>
                    <a:p>
                      <a:pPr algn="ctr">
                        <a:lnSpc>
                          <a:spcPct val="115000"/>
                        </a:lnSpc>
                        <a:spcAft>
                          <a:spcPts val="0"/>
                        </a:spcAft>
                      </a:pPr>
                      <a:endParaRPr lang="es-PE" sz="2000" dirty="0">
                        <a:effectLst/>
                        <a:latin typeface="Arial Narrow" pitchFamily="34" charset="0"/>
                        <a:ea typeface="Times New Roman"/>
                        <a:cs typeface="Times New Roman"/>
                      </a:endParaRPr>
                    </a:p>
                  </a:txBody>
                  <a:tcPr marL="68580" marR="68580" marT="0" marB="0"/>
                </a:tc>
                <a:extLst>
                  <a:ext uri="{0D108BD9-81ED-4DB2-BD59-A6C34878D82A}">
                    <a16:rowId xmlns:a16="http://schemas.microsoft.com/office/drawing/2014/main" val="10010"/>
                  </a:ext>
                </a:extLst>
              </a:tr>
            </a:tbl>
          </a:graphicData>
        </a:graphic>
      </p:graphicFrame>
      <p:sp>
        <p:nvSpPr>
          <p:cNvPr id="4" name="2 CuadroTexto">
            <a:extLst>
              <a:ext uri="{FF2B5EF4-FFF2-40B4-BE49-F238E27FC236}">
                <a16:creationId xmlns:a16="http://schemas.microsoft.com/office/drawing/2014/main" id="{5D7FF913-2C1F-4F53-BAAD-BF9E99D5E76A}"/>
              </a:ext>
            </a:extLst>
          </p:cNvPr>
          <p:cNvSpPr txBox="1"/>
          <p:nvPr/>
        </p:nvSpPr>
        <p:spPr>
          <a:xfrm>
            <a:off x="10006642" y="2013556"/>
            <a:ext cx="2173897" cy="4278094"/>
          </a:xfrm>
          <a:prstGeom prst="rect">
            <a:avLst/>
          </a:prstGeom>
          <a:noFill/>
        </p:spPr>
        <p:txBody>
          <a:bodyPr wrap="square" rtlCol="0">
            <a:spAutoFit/>
          </a:bodyPr>
          <a:lstStyle/>
          <a:p>
            <a:r>
              <a:rPr lang="es-ES" sz="1600" dirty="0" err="1">
                <a:latin typeface="Arial Narrow" panose="020B0606020202030204" pitchFamily="34" charset="0"/>
              </a:rPr>
              <a:t>X14</a:t>
            </a:r>
            <a:r>
              <a:rPr lang="es-ES" sz="1600" dirty="0">
                <a:latin typeface="Arial Narrow" panose="020B0606020202030204" pitchFamily="34" charset="0"/>
              </a:rPr>
              <a:t>=450</a:t>
            </a:r>
          </a:p>
          <a:p>
            <a:r>
              <a:rPr lang="es-ES" sz="1600" dirty="0">
                <a:latin typeface="Arial Narrow" panose="020B0606020202030204" pitchFamily="34" charset="0"/>
                <a:sym typeface="Wingdings" pitchFamily="2" charset="2"/>
              </a:rPr>
              <a:t>C=450*4=1800</a:t>
            </a:r>
          </a:p>
          <a:p>
            <a:r>
              <a:rPr lang="es-ES" sz="1600" dirty="0" err="1">
                <a:latin typeface="Arial Narrow" panose="020B0606020202030204" pitchFamily="34" charset="0"/>
                <a:sym typeface="Wingdings" pitchFamily="2" charset="2"/>
              </a:rPr>
              <a:t>X13</a:t>
            </a:r>
            <a:r>
              <a:rPr lang="es-ES" sz="1600" dirty="0">
                <a:latin typeface="Arial Narrow" panose="020B0606020202030204" pitchFamily="34" charset="0"/>
                <a:sym typeface="Wingdings" pitchFamily="2" charset="2"/>
              </a:rPr>
              <a:t>=180</a:t>
            </a:r>
          </a:p>
          <a:p>
            <a:r>
              <a:rPr lang="es-ES" sz="1600" dirty="0">
                <a:latin typeface="Arial Narrow" panose="020B0606020202030204" pitchFamily="34" charset="0"/>
                <a:sym typeface="Wingdings" pitchFamily="2" charset="2"/>
              </a:rPr>
              <a:t>C=180*4=720</a:t>
            </a:r>
          </a:p>
          <a:p>
            <a:r>
              <a:rPr lang="es-ES" sz="1600" dirty="0" err="1">
                <a:latin typeface="Arial Narrow" panose="020B0606020202030204" pitchFamily="34" charset="0"/>
                <a:sym typeface="Wingdings" pitchFamily="2" charset="2"/>
              </a:rPr>
              <a:t>X25</a:t>
            </a:r>
            <a:r>
              <a:rPr lang="es-ES" sz="1600" dirty="0">
                <a:latin typeface="Arial Narrow" panose="020B0606020202030204" pitchFamily="34" charset="0"/>
                <a:sym typeface="Wingdings" pitchFamily="2" charset="2"/>
              </a:rPr>
              <a:t>=210</a:t>
            </a:r>
          </a:p>
          <a:p>
            <a:r>
              <a:rPr lang="es-ES" sz="1600" dirty="0">
                <a:latin typeface="Arial Narrow" panose="020B0606020202030204" pitchFamily="34" charset="0"/>
                <a:sym typeface="Wingdings" pitchFamily="2" charset="2"/>
              </a:rPr>
              <a:t></a:t>
            </a:r>
            <a:r>
              <a:rPr lang="es-ES" sz="1600" dirty="0" err="1">
                <a:latin typeface="Arial Narrow" panose="020B0606020202030204" pitchFamily="34" charset="0"/>
                <a:sym typeface="Wingdings" pitchFamily="2" charset="2"/>
              </a:rPr>
              <a:t>C210</a:t>
            </a:r>
            <a:r>
              <a:rPr lang="es-ES" sz="1600" dirty="0">
                <a:latin typeface="Arial Narrow" panose="020B0606020202030204" pitchFamily="34" charset="0"/>
                <a:sym typeface="Wingdings" pitchFamily="2" charset="2"/>
              </a:rPr>
              <a:t>*6= 1260</a:t>
            </a:r>
          </a:p>
          <a:p>
            <a:r>
              <a:rPr lang="es-ES" sz="1600" dirty="0" err="1">
                <a:latin typeface="Arial Narrow" panose="020B0606020202030204" pitchFamily="34" charset="0"/>
                <a:sym typeface="Wingdings" pitchFamily="2" charset="2"/>
              </a:rPr>
              <a:t>X21</a:t>
            </a:r>
            <a:r>
              <a:rPr lang="es-ES" sz="1600" dirty="0">
                <a:latin typeface="Arial Narrow" panose="020B0606020202030204" pitchFamily="34" charset="0"/>
                <a:sym typeface="Wingdings" pitchFamily="2" charset="2"/>
              </a:rPr>
              <a:t>=140</a:t>
            </a:r>
          </a:p>
          <a:p>
            <a:r>
              <a:rPr lang="es-ES" sz="1600" dirty="0">
                <a:latin typeface="Arial Narrow" panose="020B0606020202030204" pitchFamily="34" charset="0"/>
                <a:sym typeface="Wingdings" pitchFamily="2" charset="2"/>
              </a:rPr>
              <a:t>C=140*4=560</a:t>
            </a:r>
          </a:p>
          <a:p>
            <a:r>
              <a:rPr lang="es-ES" sz="1600" dirty="0" err="1">
                <a:latin typeface="Arial Narrow" panose="020B0606020202030204" pitchFamily="34" charset="0"/>
                <a:sym typeface="Wingdings" pitchFamily="2" charset="2"/>
              </a:rPr>
              <a:t>X11</a:t>
            </a:r>
            <a:r>
              <a:rPr lang="es-ES" sz="1600" dirty="0">
                <a:latin typeface="Arial Narrow" panose="020B0606020202030204" pitchFamily="34" charset="0"/>
                <a:sym typeface="Wingdings" pitchFamily="2" charset="2"/>
              </a:rPr>
              <a:t>=120</a:t>
            </a:r>
          </a:p>
          <a:p>
            <a:r>
              <a:rPr lang="es-ES" sz="1600" dirty="0">
                <a:latin typeface="Arial Narrow" panose="020B0606020202030204" pitchFamily="34" charset="0"/>
                <a:sym typeface="Wingdings" pitchFamily="2" charset="2"/>
              </a:rPr>
              <a:t>C=120*5=600</a:t>
            </a:r>
          </a:p>
          <a:p>
            <a:r>
              <a:rPr lang="es-ES" sz="1600" dirty="0" err="1">
                <a:latin typeface="Arial Narrow" panose="020B0606020202030204" pitchFamily="34" charset="0"/>
                <a:sym typeface="Wingdings" pitchFamily="2" charset="2"/>
              </a:rPr>
              <a:t>X31</a:t>
            </a:r>
            <a:r>
              <a:rPr lang="es-ES" sz="1600" dirty="0">
                <a:latin typeface="Arial Narrow" panose="020B0606020202030204" pitchFamily="34" charset="0"/>
                <a:sym typeface="Wingdings" pitchFamily="2" charset="2"/>
              </a:rPr>
              <a:t>=140</a:t>
            </a:r>
          </a:p>
          <a:p>
            <a:r>
              <a:rPr lang="es-ES" sz="1600" dirty="0">
                <a:latin typeface="Arial Narrow" panose="020B0606020202030204" pitchFamily="34" charset="0"/>
                <a:sym typeface="Wingdings" pitchFamily="2" charset="2"/>
              </a:rPr>
              <a:t>C=140*6=840</a:t>
            </a:r>
          </a:p>
          <a:p>
            <a:r>
              <a:rPr lang="es-ES" sz="1600" dirty="0" err="1">
                <a:latin typeface="Arial Narrow" panose="020B0606020202030204" pitchFamily="34" charset="0"/>
              </a:rPr>
              <a:t>X32</a:t>
            </a:r>
            <a:r>
              <a:rPr lang="es-ES" sz="1600" dirty="0">
                <a:latin typeface="Arial Narrow" panose="020B0606020202030204" pitchFamily="34" charset="0"/>
              </a:rPr>
              <a:t>=260</a:t>
            </a:r>
          </a:p>
          <a:p>
            <a:r>
              <a:rPr lang="es-ES" sz="1600" dirty="0">
                <a:latin typeface="Arial Narrow" panose="020B0606020202030204" pitchFamily="34" charset="0"/>
                <a:sym typeface="Wingdings" pitchFamily="2" charset="2"/>
              </a:rPr>
              <a:t>C=260*7=1820</a:t>
            </a:r>
          </a:p>
          <a:p>
            <a:endParaRPr lang="es-ES" sz="1600" dirty="0">
              <a:latin typeface="Arial Narrow" panose="020B0606020202030204" pitchFamily="34" charset="0"/>
              <a:sym typeface="Wingdings" pitchFamily="2" charset="2"/>
            </a:endParaRPr>
          </a:p>
          <a:p>
            <a:endParaRPr lang="es-ES" sz="1600" dirty="0">
              <a:latin typeface="Arial Narrow" panose="020B0606020202030204" pitchFamily="34" charset="0"/>
              <a:sym typeface="Wingdings" pitchFamily="2" charset="2"/>
            </a:endParaRPr>
          </a:p>
          <a:p>
            <a:endParaRPr lang="es-PE" sz="1600" dirty="0">
              <a:latin typeface="Arial Narrow" panose="020B0606020202030204" pitchFamily="34" charset="0"/>
            </a:endParaRPr>
          </a:p>
        </p:txBody>
      </p:sp>
    </p:spTree>
    <p:extLst>
      <p:ext uri="{BB962C8B-B14F-4D97-AF65-F5344CB8AC3E}">
        <p14:creationId xmlns:p14="http://schemas.microsoft.com/office/powerpoint/2010/main" val="943231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1919536" y="1772817"/>
            <a:ext cx="3888432" cy="4524315"/>
          </a:xfrm>
          <a:prstGeom prst="rect">
            <a:avLst/>
          </a:prstGeom>
          <a:solidFill>
            <a:schemeClr val="accent5">
              <a:lumMod val="60000"/>
              <a:lumOff val="40000"/>
            </a:schemeClr>
          </a:solidFill>
        </p:spPr>
        <p:txBody>
          <a:bodyPr wrap="square" rtlCol="0">
            <a:spAutoFit/>
          </a:bodyPr>
          <a:lstStyle/>
          <a:p>
            <a:pPr algn="ctr">
              <a:lnSpc>
                <a:spcPct val="200000"/>
              </a:lnSpc>
            </a:pPr>
            <a:r>
              <a:rPr lang="es-ES" dirty="0" err="1"/>
              <a:t>X14</a:t>
            </a:r>
            <a:r>
              <a:rPr lang="es-ES" dirty="0"/>
              <a:t>=</a:t>
            </a:r>
            <a:r>
              <a:rPr lang="es-ES" dirty="0" err="1"/>
              <a:t>450</a:t>
            </a:r>
            <a:r>
              <a:rPr lang="es-ES" dirty="0" err="1">
                <a:sym typeface="Wingdings" pitchFamily="2" charset="2"/>
              </a:rPr>
              <a:t>C</a:t>
            </a:r>
            <a:r>
              <a:rPr lang="es-ES" dirty="0">
                <a:sym typeface="Wingdings" pitchFamily="2" charset="2"/>
              </a:rPr>
              <a:t>=450*4=1800</a:t>
            </a:r>
          </a:p>
          <a:p>
            <a:pPr algn="ctr">
              <a:lnSpc>
                <a:spcPct val="200000"/>
              </a:lnSpc>
            </a:pPr>
            <a:r>
              <a:rPr lang="es-ES" dirty="0" err="1">
                <a:sym typeface="Wingdings" pitchFamily="2" charset="2"/>
              </a:rPr>
              <a:t>X13</a:t>
            </a:r>
            <a:r>
              <a:rPr lang="es-ES" dirty="0">
                <a:sym typeface="Wingdings" pitchFamily="2" charset="2"/>
              </a:rPr>
              <a:t>=</a:t>
            </a:r>
            <a:r>
              <a:rPr lang="es-ES" dirty="0" err="1">
                <a:sym typeface="Wingdings" pitchFamily="2" charset="2"/>
              </a:rPr>
              <a:t>180C</a:t>
            </a:r>
            <a:r>
              <a:rPr lang="es-ES" dirty="0">
                <a:sym typeface="Wingdings" pitchFamily="2" charset="2"/>
              </a:rPr>
              <a:t>=180*4=720</a:t>
            </a:r>
          </a:p>
          <a:p>
            <a:pPr algn="ctr">
              <a:lnSpc>
                <a:spcPct val="200000"/>
              </a:lnSpc>
            </a:pPr>
            <a:r>
              <a:rPr lang="es-ES" dirty="0" err="1">
                <a:sym typeface="Wingdings" pitchFamily="2" charset="2"/>
              </a:rPr>
              <a:t>X25</a:t>
            </a:r>
            <a:r>
              <a:rPr lang="es-ES" dirty="0">
                <a:sym typeface="Wingdings" pitchFamily="2" charset="2"/>
              </a:rPr>
              <a:t>=</a:t>
            </a:r>
            <a:r>
              <a:rPr lang="es-ES" dirty="0" err="1">
                <a:sym typeface="Wingdings" pitchFamily="2" charset="2"/>
              </a:rPr>
              <a:t>210C210</a:t>
            </a:r>
            <a:r>
              <a:rPr lang="es-ES" dirty="0">
                <a:sym typeface="Wingdings" pitchFamily="2" charset="2"/>
              </a:rPr>
              <a:t>*6= 1260</a:t>
            </a:r>
          </a:p>
          <a:p>
            <a:pPr algn="ctr">
              <a:lnSpc>
                <a:spcPct val="200000"/>
              </a:lnSpc>
            </a:pPr>
            <a:r>
              <a:rPr lang="es-ES" dirty="0" err="1">
                <a:sym typeface="Wingdings" pitchFamily="2" charset="2"/>
              </a:rPr>
              <a:t>X21</a:t>
            </a:r>
            <a:r>
              <a:rPr lang="es-ES" dirty="0">
                <a:sym typeface="Wingdings" pitchFamily="2" charset="2"/>
              </a:rPr>
              <a:t>=</a:t>
            </a:r>
            <a:r>
              <a:rPr lang="es-ES" dirty="0" err="1">
                <a:sym typeface="Wingdings" pitchFamily="2" charset="2"/>
              </a:rPr>
              <a:t>140C</a:t>
            </a:r>
            <a:r>
              <a:rPr lang="es-ES" dirty="0">
                <a:sym typeface="Wingdings" pitchFamily="2" charset="2"/>
              </a:rPr>
              <a:t>=140*4=560</a:t>
            </a:r>
          </a:p>
          <a:p>
            <a:pPr algn="ctr">
              <a:lnSpc>
                <a:spcPct val="200000"/>
              </a:lnSpc>
            </a:pPr>
            <a:r>
              <a:rPr lang="es-ES" dirty="0" err="1">
                <a:sym typeface="Wingdings" pitchFamily="2" charset="2"/>
              </a:rPr>
              <a:t>X11</a:t>
            </a:r>
            <a:r>
              <a:rPr lang="es-ES" dirty="0">
                <a:sym typeface="Wingdings" pitchFamily="2" charset="2"/>
              </a:rPr>
              <a:t>=</a:t>
            </a:r>
            <a:r>
              <a:rPr lang="es-ES" dirty="0" err="1">
                <a:sym typeface="Wingdings" pitchFamily="2" charset="2"/>
              </a:rPr>
              <a:t>120C</a:t>
            </a:r>
            <a:r>
              <a:rPr lang="es-ES" dirty="0">
                <a:sym typeface="Wingdings" pitchFamily="2" charset="2"/>
              </a:rPr>
              <a:t>=120*5=600</a:t>
            </a:r>
          </a:p>
          <a:p>
            <a:pPr algn="ctr">
              <a:lnSpc>
                <a:spcPct val="200000"/>
              </a:lnSpc>
            </a:pPr>
            <a:r>
              <a:rPr lang="es-ES" dirty="0" err="1">
                <a:sym typeface="Wingdings" pitchFamily="2" charset="2"/>
              </a:rPr>
              <a:t>X31</a:t>
            </a:r>
            <a:r>
              <a:rPr lang="es-ES" dirty="0">
                <a:sym typeface="Wingdings" pitchFamily="2" charset="2"/>
              </a:rPr>
              <a:t>=</a:t>
            </a:r>
            <a:r>
              <a:rPr lang="es-ES" dirty="0" err="1">
                <a:sym typeface="Wingdings" pitchFamily="2" charset="2"/>
              </a:rPr>
              <a:t>140C</a:t>
            </a:r>
            <a:r>
              <a:rPr lang="es-ES" dirty="0">
                <a:sym typeface="Wingdings" pitchFamily="2" charset="2"/>
              </a:rPr>
              <a:t>=140*6=840</a:t>
            </a:r>
          </a:p>
          <a:p>
            <a:pPr algn="ctr">
              <a:lnSpc>
                <a:spcPct val="200000"/>
              </a:lnSpc>
            </a:pPr>
            <a:r>
              <a:rPr lang="es-ES" dirty="0" err="1"/>
              <a:t>X32</a:t>
            </a:r>
            <a:r>
              <a:rPr lang="es-ES" dirty="0"/>
              <a:t>=</a:t>
            </a:r>
            <a:r>
              <a:rPr lang="es-ES" dirty="0" err="1"/>
              <a:t>260</a:t>
            </a:r>
            <a:r>
              <a:rPr lang="es-ES" dirty="0" err="1">
                <a:sym typeface="Wingdings" pitchFamily="2" charset="2"/>
              </a:rPr>
              <a:t>C</a:t>
            </a:r>
            <a:r>
              <a:rPr lang="es-ES" dirty="0">
                <a:sym typeface="Wingdings" pitchFamily="2" charset="2"/>
              </a:rPr>
              <a:t>=260*7=1820</a:t>
            </a:r>
          </a:p>
          <a:p>
            <a:pPr algn="ctr">
              <a:lnSpc>
                <a:spcPct val="200000"/>
              </a:lnSpc>
            </a:pPr>
            <a:r>
              <a:rPr lang="es-ES" dirty="0"/>
              <a:t>COSTO </a:t>
            </a:r>
            <a:r>
              <a:rPr lang="es-ES" dirty="0" err="1"/>
              <a:t>MINIMO</a:t>
            </a:r>
            <a:r>
              <a:rPr lang="es-ES" dirty="0"/>
              <a:t>   = 7600</a:t>
            </a:r>
            <a:endParaRPr lang="es-PE" dirty="0"/>
          </a:p>
        </p:txBody>
      </p:sp>
      <p:sp>
        <p:nvSpPr>
          <p:cNvPr id="4" name="TextShape 1">
            <a:extLst>
              <a:ext uri="{FF2B5EF4-FFF2-40B4-BE49-F238E27FC236}">
                <a16:creationId xmlns:a16="http://schemas.microsoft.com/office/drawing/2014/main" id="{5B572555-864E-44AD-8454-155AB2ADF49E}"/>
              </a:ext>
            </a:extLst>
          </p:cNvPr>
          <p:cNvSpPr txBox="1"/>
          <p:nvPr/>
        </p:nvSpPr>
        <p:spPr>
          <a:xfrm>
            <a:off x="6096000" y="260389"/>
            <a:ext cx="6096000" cy="608292"/>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defPPr>
              <a:defRPr lang="es-ES"/>
            </a:defPPr>
            <a:lvl1pPr algn="ctr">
              <a:lnSpc>
                <a:spcPts val="5800"/>
              </a:lnSpc>
              <a:spcBef>
                <a:spcPct val="0"/>
              </a:spcBef>
              <a:defRPr sz="3200">
                <a:solidFill>
                  <a:schemeClr val="bg1"/>
                </a:solidFill>
                <a:effectLst>
                  <a:outerShdw blurRad="63500" dist="38100" dir="5400000" algn="t" rotWithShape="0">
                    <a:prstClr val="black">
                      <a:alpha val="25000"/>
                    </a:prstClr>
                  </a:outerShdw>
                </a:effectLst>
                <a:latin typeface="Bauhaus 93" pitchFamily="82" charset="0"/>
              </a:defRPr>
            </a:lvl1pPr>
          </a:lstStyle>
          <a:p>
            <a:r>
              <a:rPr lang="en-US" dirty="0"/>
              <a:t>Lindo</a:t>
            </a:r>
          </a:p>
        </p:txBody>
      </p:sp>
      <p:sp>
        <p:nvSpPr>
          <p:cNvPr id="5" name="3 Rectángulo">
            <a:extLst>
              <a:ext uri="{FF2B5EF4-FFF2-40B4-BE49-F238E27FC236}">
                <a16:creationId xmlns:a16="http://schemas.microsoft.com/office/drawing/2014/main" id="{95E3B0AF-856D-4EB8-8FEE-B04A7F14414A}"/>
              </a:ext>
            </a:extLst>
          </p:cNvPr>
          <p:cNvSpPr/>
          <p:nvPr/>
        </p:nvSpPr>
        <p:spPr>
          <a:xfrm>
            <a:off x="6173244" y="1364845"/>
            <a:ext cx="4356992" cy="4584845"/>
          </a:xfrm>
          <a:prstGeom prst="rect">
            <a:avLst/>
          </a:prstGeom>
          <a:solidFill>
            <a:srgbClr val="FFFF00"/>
          </a:solidFill>
        </p:spPr>
        <p:txBody>
          <a:bodyPr wrap="square">
            <a:spAutoFit/>
          </a:bodyPr>
          <a:lstStyle/>
          <a:p>
            <a:pPr fontAlgn="b">
              <a:lnSpc>
                <a:spcPct val="150000"/>
              </a:lnSpc>
            </a:pPr>
            <a:r>
              <a:rPr lang="es-PE" dirty="0">
                <a:latin typeface="Arial Narrow" pitchFamily="34" charset="0"/>
              </a:rPr>
              <a:t>Min  </a:t>
            </a:r>
            <a:r>
              <a:rPr lang="es-PE" dirty="0" err="1">
                <a:latin typeface="Arial Narrow" pitchFamily="34" charset="0"/>
              </a:rPr>
              <a:t>5X11</a:t>
            </a:r>
            <a:r>
              <a:rPr lang="es-PE" dirty="0">
                <a:latin typeface="Arial Narrow" pitchFamily="34" charset="0"/>
              </a:rPr>
              <a:t> + </a:t>
            </a:r>
            <a:r>
              <a:rPr lang="es-PE" dirty="0" err="1">
                <a:latin typeface="Arial Narrow" pitchFamily="34" charset="0"/>
              </a:rPr>
              <a:t>7X12</a:t>
            </a:r>
            <a:r>
              <a:rPr lang="es-PE" dirty="0">
                <a:latin typeface="Arial Narrow" pitchFamily="34" charset="0"/>
              </a:rPr>
              <a:t> + </a:t>
            </a:r>
            <a:r>
              <a:rPr lang="es-PE" dirty="0" err="1">
                <a:latin typeface="Arial Narrow" pitchFamily="34" charset="0"/>
              </a:rPr>
              <a:t>4X13</a:t>
            </a:r>
            <a:r>
              <a:rPr lang="es-PE" dirty="0">
                <a:latin typeface="Arial Narrow" pitchFamily="34" charset="0"/>
              </a:rPr>
              <a:t> + </a:t>
            </a:r>
            <a:r>
              <a:rPr lang="es-PE" dirty="0" err="1">
                <a:latin typeface="Arial Narrow" pitchFamily="34" charset="0"/>
              </a:rPr>
              <a:t>4X14</a:t>
            </a:r>
            <a:r>
              <a:rPr lang="es-PE" dirty="0">
                <a:latin typeface="Arial Narrow" pitchFamily="34" charset="0"/>
              </a:rPr>
              <a:t> + </a:t>
            </a:r>
            <a:r>
              <a:rPr lang="es-PE" dirty="0" err="1">
                <a:latin typeface="Arial Narrow" pitchFamily="34" charset="0"/>
              </a:rPr>
              <a:t>4X21</a:t>
            </a:r>
            <a:r>
              <a:rPr lang="es-PE" dirty="0">
                <a:latin typeface="Arial Narrow" pitchFamily="34" charset="0"/>
              </a:rPr>
              <a:t> + </a:t>
            </a:r>
            <a:r>
              <a:rPr lang="es-PE" dirty="0" err="1">
                <a:latin typeface="Arial Narrow" pitchFamily="34" charset="0"/>
              </a:rPr>
              <a:t>7X23</a:t>
            </a:r>
            <a:r>
              <a:rPr lang="es-PE" dirty="0">
                <a:latin typeface="Arial Narrow" pitchFamily="34" charset="0"/>
              </a:rPr>
              <a:t> + </a:t>
            </a:r>
            <a:r>
              <a:rPr lang="es-PE" dirty="0" err="1">
                <a:latin typeface="Arial Narrow" pitchFamily="34" charset="0"/>
              </a:rPr>
              <a:t>8X24</a:t>
            </a:r>
            <a:r>
              <a:rPr lang="es-PE" dirty="0">
                <a:latin typeface="Arial Narrow" pitchFamily="34" charset="0"/>
              </a:rPr>
              <a:t> + </a:t>
            </a:r>
            <a:r>
              <a:rPr lang="es-PE" dirty="0" err="1">
                <a:latin typeface="Arial Narrow" pitchFamily="34" charset="0"/>
              </a:rPr>
              <a:t>6X25</a:t>
            </a:r>
            <a:r>
              <a:rPr lang="es-PE" dirty="0">
                <a:latin typeface="Arial Narrow" pitchFamily="34" charset="0"/>
              </a:rPr>
              <a:t> + </a:t>
            </a:r>
            <a:r>
              <a:rPr lang="es-PE" dirty="0" err="1">
                <a:latin typeface="Arial Narrow" pitchFamily="34" charset="0"/>
              </a:rPr>
              <a:t>6X31</a:t>
            </a:r>
            <a:r>
              <a:rPr lang="es-PE" dirty="0">
                <a:latin typeface="Arial Narrow" pitchFamily="34" charset="0"/>
              </a:rPr>
              <a:t> + </a:t>
            </a:r>
            <a:r>
              <a:rPr lang="es-PE" dirty="0" err="1">
                <a:latin typeface="Arial Narrow" pitchFamily="34" charset="0"/>
              </a:rPr>
              <a:t>7X32</a:t>
            </a:r>
            <a:r>
              <a:rPr lang="es-PE" dirty="0">
                <a:latin typeface="Arial Narrow" pitchFamily="34" charset="0"/>
              </a:rPr>
              <a:t> + </a:t>
            </a:r>
            <a:r>
              <a:rPr lang="es-PE" dirty="0" err="1">
                <a:latin typeface="Arial Narrow" pitchFamily="34" charset="0"/>
              </a:rPr>
              <a:t>8X33</a:t>
            </a:r>
            <a:r>
              <a:rPr lang="es-PE" dirty="0">
                <a:latin typeface="Arial Narrow" pitchFamily="34" charset="0"/>
              </a:rPr>
              <a:t> + </a:t>
            </a:r>
            <a:r>
              <a:rPr lang="es-PE" dirty="0" err="1">
                <a:latin typeface="Arial Narrow" pitchFamily="34" charset="0"/>
              </a:rPr>
              <a:t>9X35</a:t>
            </a:r>
            <a:endParaRPr lang="es-PE" b="1" dirty="0">
              <a:solidFill>
                <a:srgbClr val="000000"/>
              </a:solidFill>
              <a:latin typeface="Arial Narrow" pitchFamily="34" charset="0"/>
            </a:endParaRPr>
          </a:p>
          <a:p>
            <a:pPr fontAlgn="b">
              <a:lnSpc>
                <a:spcPct val="150000"/>
              </a:lnSpc>
            </a:pPr>
            <a:r>
              <a:rPr lang="es-ES" b="1" dirty="0" err="1">
                <a:solidFill>
                  <a:srgbClr val="000000"/>
                </a:solidFill>
                <a:latin typeface="Arial Narrow" pitchFamily="34" charset="0"/>
              </a:rPr>
              <a:t>ST</a:t>
            </a:r>
            <a:endParaRPr lang="es-ES" b="1" dirty="0">
              <a:solidFill>
                <a:srgbClr val="000000"/>
              </a:solidFill>
              <a:latin typeface="Arial Narrow" pitchFamily="34" charset="0"/>
            </a:endParaRPr>
          </a:p>
          <a:p>
            <a:pPr fontAlgn="b">
              <a:lnSpc>
                <a:spcPct val="150000"/>
              </a:lnSpc>
            </a:pPr>
            <a:r>
              <a:rPr lang="es-PE" dirty="0" err="1">
                <a:latin typeface="Arial Narrow" pitchFamily="34" charset="0"/>
              </a:rPr>
              <a:t>X11+X12+X13+X14</a:t>
            </a:r>
            <a:r>
              <a:rPr lang="es-PE" dirty="0">
                <a:latin typeface="Arial Narrow" pitchFamily="34" charset="0"/>
              </a:rPr>
              <a:t>&lt;=750</a:t>
            </a:r>
          </a:p>
          <a:p>
            <a:pPr fontAlgn="b">
              <a:lnSpc>
                <a:spcPct val="150000"/>
              </a:lnSpc>
            </a:pPr>
            <a:r>
              <a:rPr lang="es-PE" dirty="0" err="1">
                <a:latin typeface="Arial Narrow" pitchFamily="34" charset="0"/>
              </a:rPr>
              <a:t>X21+X23+X24+X25</a:t>
            </a:r>
            <a:r>
              <a:rPr lang="es-PE" dirty="0">
                <a:latin typeface="Arial Narrow" pitchFamily="34" charset="0"/>
              </a:rPr>
              <a:t>&lt;=350</a:t>
            </a:r>
          </a:p>
          <a:p>
            <a:pPr fontAlgn="b">
              <a:lnSpc>
                <a:spcPct val="150000"/>
              </a:lnSpc>
            </a:pPr>
            <a:r>
              <a:rPr lang="es-PE" dirty="0" err="1">
                <a:latin typeface="Arial Narrow" pitchFamily="34" charset="0"/>
              </a:rPr>
              <a:t>X31+X32+X33+X35</a:t>
            </a:r>
            <a:r>
              <a:rPr lang="es-PE" dirty="0">
                <a:latin typeface="Arial Narrow" pitchFamily="34" charset="0"/>
              </a:rPr>
              <a:t>&lt;=400</a:t>
            </a:r>
          </a:p>
          <a:p>
            <a:pPr fontAlgn="b">
              <a:lnSpc>
                <a:spcPct val="150000"/>
              </a:lnSpc>
            </a:pPr>
            <a:r>
              <a:rPr lang="es-PE" dirty="0" err="1">
                <a:latin typeface="Arial Narrow" pitchFamily="34" charset="0"/>
              </a:rPr>
              <a:t>X11+X21+X31</a:t>
            </a:r>
            <a:r>
              <a:rPr lang="es-PE" dirty="0">
                <a:latin typeface="Arial Narrow" pitchFamily="34" charset="0"/>
              </a:rPr>
              <a:t>=400</a:t>
            </a:r>
          </a:p>
          <a:p>
            <a:pPr fontAlgn="b">
              <a:lnSpc>
                <a:spcPct val="150000"/>
              </a:lnSpc>
            </a:pPr>
            <a:r>
              <a:rPr lang="es-PE" dirty="0" err="1">
                <a:latin typeface="Arial Narrow" pitchFamily="34" charset="0"/>
              </a:rPr>
              <a:t>X12+X32</a:t>
            </a:r>
            <a:r>
              <a:rPr lang="es-PE" dirty="0">
                <a:latin typeface="Arial Narrow" pitchFamily="34" charset="0"/>
              </a:rPr>
              <a:t>+=260</a:t>
            </a:r>
          </a:p>
          <a:p>
            <a:pPr fontAlgn="b">
              <a:lnSpc>
                <a:spcPct val="150000"/>
              </a:lnSpc>
            </a:pPr>
            <a:r>
              <a:rPr lang="es-PE" dirty="0" err="1">
                <a:latin typeface="Arial Narrow" pitchFamily="34" charset="0"/>
              </a:rPr>
              <a:t>X13+X23+X33</a:t>
            </a:r>
            <a:r>
              <a:rPr lang="es-PE" dirty="0">
                <a:latin typeface="Arial Narrow" pitchFamily="34" charset="0"/>
              </a:rPr>
              <a:t>=180</a:t>
            </a:r>
          </a:p>
          <a:p>
            <a:pPr fontAlgn="b">
              <a:lnSpc>
                <a:spcPct val="150000"/>
              </a:lnSpc>
            </a:pPr>
            <a:r>
              <a:rPr lang="es-PE" dirty="0" err="1">
                <a:latin typeface="Arial Narrow" pitchFamily="34" charset="0"/>
              </a:rPr>
              <a:t>X14+X24</a:t>
            </a:r>
            <a:r>
              <a:rPr lang="es-PE" dirty="0">
                <a:latin typeface="Arial Narrow" pitchFamily="34" charset="0"/>
              </a:rPr>
              <a:t>=450</a:t>
            </a:r>
          </a:p>
          <a:p>
            <a:pPr fontAlgn="b">
              <a:lnSpc>
                <a:spcPct val="150000"/>
              </a:lnSpc>
            </a:pPr>
            <a:r>
              <a:rPr lang="es-PE" dirty="0" err="1">
                <a:latin typeface="Arial Narrow" pitchFamily="34" charset="0"/>
              </a:rPr>
              <a:t>X25+X35</a:t>
            </a:r>
            <a:r>
              <a:rPr lang="es-PE" dirty="0">
                <a:latin typeface="Arial Narrow" pitchFamily="34" charset="0"/>
              </a:rPr>
              <a:t>=210</a:t>
            </a:r>
            <a:endParaRPr lang="es-PE" b="1" dirty="0">
              <a:solidFill>
                <a:srgbClr val="000000"/>
              </a:solidFill>
              <a:latin typeface="Arial Narrow" pitchFamily="34" charset="0"/>
            </a:endParaRPr>
          </a:p>
        </p:txBody>
      </p:sp>
      <p:sp>
        <p:nvSpPr>
          <p:cNvPr id="7" name="5 Rectángulo">
            <a:extLst>
              <a:ext uri="{FF2B5EF4-FFF2-40B4-BE49-F238E27FC236}">
                <a16:creationId xmlns:a16="http://schemas.microsoft.com/office/drawing/2014/main" id="{A6843E37-F1BA-431B-9B7E-09A5608B834C}"/>
              </a:ext>
            </a:extLst>
          </p:cNvPr>
          <p:cNvSpPr/>
          <p:nvPr/>
        </p:nvSpPr>
        <p:spPr>
          <a:xfrm>
            <a:off x="8668587" y="3072348"/>
            <a:ext cx="3523413" cy="3785652"/>
          </a:xfrm>
          <a:prstGeom prst="rect">
            <a:avLst/>
          </a:prstGeom>
          <a:solidFill>
            <a:schemeClr val="accent3">
              <a:lumMod val="40000"/>
              <a:lumOff val="60000"/>
            </a:schemeClr>
          </a:solidFill>
        </p:spPr>
        <p:txBody>
          <a:bodyPr wrap="square">
            <a:spAutoFit/>
          </a:bodyPr>
          <a:lstStyle/>
          <a:p>
            <a:r>
              <a:rPr lang="en-US" sz="1600" dirty="0"/>
              <a:t>OBJECTIVE FUNCTION VALUE</a:t>
            </a:r>
          </a:p>
          <a:p>
            <a:r>
              <a:rPr lang="en-US" sz="1600" dirty="0"/>
              <a:t>        1)      7600.000</a:t>
            </a:r>
          </a:p>
          <a:p>
            <a:r>
              <a:rPr lang="en-US" sz="1600" dirty="0"/>
              <a:t>  VARIABLE        VALUE     REDUCED COST</a:t>
            </a:r>
          </a:p>
          <a:p>
            <a:r>
              <a:rPr lang="en-US" sz="1600" dirty="0"/>
              <a:t>       </a:t>
            </a:r>
            <a:r>
              <a:rPr lang="en-US" sz="1600" dirty="0" err="1"/>
              <a:t>X11</a:t>
            </a:r>
            <a:r>
              <a:rPr lang="en-US" sz="1600" dirty="0"/>
              <a:t>       120.000000       0.000000</a:t>
            </a:r>
          </a:p>
          <a:p>
            <a:r>
              <a:rPr lang="en-US" sz="1600" dirty="0"/>
              <a:t>       </a:t>
            </a:r>
            <a:r>
              <a:rPr lang="en-US" sz="1600" dirty="0" err="1"/>
              <a:t>X12</a:t>
            </a:r>
            <a:r>
              <a:rPr lang="en-US" sz="1600" dirty="0"/>
              <a:t>         0.000000          1.000000</a:t>
            </a:r>
          </a:p>
          <a:p>
            <a:r>
              <a:rPr lang="en-US" sz="1600" dirty="0"/>
              <a:t>       </a:t>
            </a:r>
            <a:r>
              <a:rPr lang="en-US" sz="1600" dirty="0" err="1"/>
              <a:t>X13</a:t>
            </a:r>
            <a:r>
              <a:rPr lang="en-US" sz="1600" dirty="0"/>
              <a:t>       180.000000        0.000000</a:t>
            </a:r>
          </a:p>
          <a:p>
            <a:r>
              <a:rPr lang="en-US" sz="1600" dirty="0"/>
              <a:t>       </a:t>
            </a:r>
            <a:r>
              <a:rPr lang="en-US" sz="1600" dirty="0" err="1"/>
              <a:t>X14</a:t>
            </a:r>
            <a:r>
              <a:rPr lang="en-US" sz="1600" dirty="0"/>
              <a:t>       450.000000        0.000000</a:t>
            </a:r>
          </a:p>
          <a:p>
            <a:r>
              <a:rPr lang="en-US" sz="1600" dirty="0"/>
              <a:t>       </a:t>
            </a:r>
            <a:r>
              <a:rPr lang="en-US" sz="1600" dirty="0" err="1"/>
              <a:t>X21</a:t>
            </a:r>
            <a:r>
              <a:rPr lang="en-US" sz="1600" dirty="0"/>
              <a:t>       140.000000        0.000000</a:t>
            </a:r>
          </a:p>
          <a:p>
            <a:r>
              <a:rPr lang="en-US" sz="1600" dirty="0"/>
              <a:t>       </a:t>
            </a:r>
            <a:r>
              <a:rPr lang="en-US" sz="1600" dirty="0" err="1"/>
              <a:t>X23</a:t>
            </a:r>
            <a:r>
              <a:rPr lang="en-US" sz="1600" dirty="0"/>
              <a:t>         0.000000          4.000000</a:t>
            </a:r>
          </a:p>
          <a:p>
            <a:r>
              <a:rPr lang="en-US" sz="1600" dirty="0"/>
              <a:t>       </a:t>
            </a:r>
            <a:r>
              <a:rPr lang="en-US" sz="1600" dirty="0" err="1"/>
              <a:t>X24</a:t>
            </a:r>
            <a:r>
              <a:rPr lang="en-US" sz="1600" dirty="0"/>
              <a:t>         0.000000          5.000000</a:t>
            </a:r>
          </a:p>
          <a:p>
            <a:r>
              <a:rPr lang="en-US" sz="1600" dirty="0"/>
              <a:t>       </a:t>
            </a:r>
            <a:r>
              <a:rPr lang="en-US" sz="1600" dirty="0" err="1"/>
              <a:t>X25</a:t>
            </a:r>
            <a:r>
              <a:rPr lang="en-US" sz="1600" dirty="0"/>
              <a:t>       210.000000        0.000000</a:t>
            </a:r>
          </a:p>
          <a:p>
            <a:r>
              <a:rPr lang="en-US" sz="1600" dirty="0"/>
              <a:t>       </a:t>
            </a:r>
            <a:r>
              <a:rPr lang="en-US" sz="1600" dirty="0" err="1"/>
              <a:t>X31</a:t>
            </a:r>
            <a:r>
              <a:rPr lang="en-US" sz="1600" dirty="0"/>
              <a:t>       140.000000        0.000000</a:t>
            </a:r>
          </a:p>
          <a:p>
            <a:r>
              <a:rPr lang="en-US" sz="1600" dirty="0"/>
              <a:t>       </a:t>
            </a:r>
            <a:r>
              <a:rPr lang="en-US" sz="1600" dirty="0" err="1"/>
              <a:t>X32</a:t>
            </a:r>
            <a:r>
              <a:rPr lang="en-US" sz="1600" dirty="0"/>
              <a:t>       260.000000        0.000000</a:t>
            </a:r>
          </a:p>
          <a:p>
            <a:r>
              <a:rPr lang="en-US" sz="1600" dirty="0"/>
              <a:t>       </a:t>
            </a:r>
            <a:r>
              <a:rPr lang="en-US" sz="1600" dirty="0" err="1"/>
              <a:t>X33</a:t>
            </a:r>
            <a:r>
              <a:rPr lang="en-US" sz="1600" dirty="0"/>
              <a:t>         0.000000          3.000000</a:t>
            </a:r>
          </a:p>
          <a:p>
            <a:r>
              <a:rPr lang="en-US" sz="1600" dirty="0"/>
              <a:t>       </a:t>
            </a:r>
            <a:r>
              <a:rPr lang="en-US" sz="1600" dirty="0" err="1"/>
              <a:t>X35</a:t>
            </a:r>
            <a:r>
              <a:rPr lang="en-US" sz="1600" dirty="0"/>
              <a:t>         0.000000          1.000000</a:t>
            </a:r>
          </a:p>
        </p:txBody>
      </p:sp>
    </p:spTree>
    <p:extLst>
      <p:ext uri="{BB962C8B-B14F-4D97-AF65-F5344CB8AC3E}">
        <p14:creationId xmlns:p14="http://schemas.microsoft.com/office/powerpoint/2010/main" val="1727952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EF9911E1-FB44-4A77-8768-D404E554B2E3}"/>
              </a:ext>
            </a:extLst>
          </p:cNvPr>
          <p:cNvSpPr txBox="1"/>
          <p:nvPr/>
        </p:nvSpPr>
        <p:spPr>
          <a:xfrm>
            <a:off x="697463" y="239877"/>
            <a:ext cx="6097554" cy="369332"/>
          </a:xfrm>
          <a:prstGeom prst="rect">
            <a:avLst/>
          </a:prstGeom>
          <a:noFill/>
        </p:spPr>
        <p:txBody>
          <a:bodyPr wrap="square">
            <a:spAutoFit/>
          </a:bodyPr>
          <a:lstStyle/>
          <a:p>
            <a:r>
              <a:rPr lang="es-PE" sz="1800" b="1" u="sng" dirty="0">
                <a:effectLst/>
                <a:latin typeface="Tahoma" panose="020B0604030504040204" pitchFamily="34" charset="0"/>
                <a:ea typeface="Calibri" panose="020F0502020204030204" pitchFamily="34" charset="0"/>
              </a:rPr>
              <a:t>Problema 3</a:t>
            </a:r>
            <a:endParaRPr lang="es-PE" dirty="0"/>
          </a:p>
        </p:txBody>
      </p:sp>
      <p:sp>
        <p:nvSpPr>
          <p:cNvPr id="9" name="CuadroTexto 8">
            <a:extLst>
              <a:ext uri="{FF2B5EF4-FFF2-40B4-BE49-F238E27FC236}">
                <a16:creationId xmlns:a16="http://schemas.microsoft.com/office/drawing/2014/main" id="{81EB59A6-7822-4463-9AB6-DF0F78AAE76A}"/>
              </a:ext>
            </a:extLst>
          </p:cNvPr>
          <p:cNvSpPr txBox="1"/>
          <p:nvPr/>
        </p:nvSpPr>
        <p:spPr>
          <a:xfrm>
            <a:off x="116899" y="1154004"/>
            <a:ext cx="5979102" cy="2308324"/>
          </a:xfrm>
          <a:prstGeom prst="rect">
            <a:avLst/>
          </a:prstGeom>
          <a:noFill/>
        </p:spPr>
        <p:txBody>
          <a:bodyPr wrap="square" rtlCol="0">
            <a:spAutoFit/>
          </a:bodyPr>
          <a:lstStyle/>
          <a:p>
            <a:pPr algn="just"/>
            <a:r>
              <a:rPr lang="es-PE" sz="1800" dirty="0">
                <a:effectLst/>
                <a:latin typeface="Tahoma" panose="020B0604030504040204" pitchFamily="34" charset="0"/>
                <a:ea typeface="Calibri" panose="020F0502020204030204" pitchFamily="34" charset="0"/>
                <a:cs typeface="Times New Roman" panose="02020603050405020304" pitchFamily="18" charset="0"/>
              </a:rPr>
              <a:t>Tres plantas generadoras de energía eléctrica con capacidades de 25, 40 y 30 millones de kilowatts-hora (</a:t>
            </a:r>
            <a:r>
              <a:rPr lang="es-PE" sz="1800" dirty="0" err="1">
                <a:effectLst/>
                <a:latin typeface="Tahoma" panose="020B0604030504040204" pitchFamily="34" charset="0"/>
                <a:ea typeface="Calibri" panose="020F0502020204030204" pitchFamily="34" charset="0"/>
                <a:cs typeface="Times New Roman" panose="02020603050405020304" pitchFamily="18" charset="0"/>
              </a:rPr>
              <a:t>kwh</a:t>
            </a:r>
            <a:r>
              <a:rPr lang="es-PE" sz="1800" dirty="0">
                <a:effectLst/>
                <a:latin typeface="Tahoma" panose="020B0604030504040204" pitchFamily="34" charset="0"/>
                <a:ea typeface="Calibri" panose="020F0502020204030204" pitchFamily="34" charset="0"/>
                <a:cs typeface="Times New Roman" panose="02020603050405020304" pitchFamily="18" charset="0"/>
              </a:rPr>
              <a:t>) suministran electricidad a tres ciudades cuyas demandas máximas son de 30, 35 y 25 </a:t>
            </a:r>
            <a:r>
              <a:rPr lang="es-PE" dirty="0">
                <a:latin typeface="Tahoma" panose="020B0604030504040204" pitchFamily="34" charset="0"/>
                <a:cs typeface="Times New Roman" panose="02020603050405020304" pitchFamily="18" charset="0"/>
              </a:rPr>
              <a:t>millones</a:t>
            </a:r>
            <a:r>
              <a:rPr lang="es-PE" sz="1800" dirty="0">
                <a:effectLst/>
                <a:latin typeface="Tahoma" panose="020B0604030504040204" pitchFamily="34" charset="0"/>
                <a:ea typeface="Calibri" panose="020F0502020204030204" pitchFamily="34" charset="0"/>
                <a:cs typeface="Times New Roman" panose="02020603050405020304" pitchFamily="18" charset="0"/>
              </a:rPr>
              <a:t> de </a:t>
            </a:r>
            <a:r>
              <a:rPr lang="es-PE" sz="1800" dirty="0" err="1">
                <a:effectLst/>
                <a:latin typeface="Tahoma" panose="020B0604030504040204" pitchFamily="34" charset="0"/>
                <a:ea typeface="Calibri" panose="020F0502020204030204" pitchFamily="34" charset="0"/>
                <a:cs typeface="Times New Roman" panose="02020603050405020304" pitchFamily="18" charset="0"/>
              </a:rPr>
              <a:t>kwh</a:t>
            </a:r>
            <a:r>
              <a:rPr lang="es-PE" sz="1800" dirty="0">
                <a:effectLst/>
                <a:latin typeface="Tahoma" panose="020B0604030504040204" pitchFamily="34" charset="0"/>
                <a:ea typeface="Calibri" panose="020F0502020204030204" pitchFamily="34" charset="0"/>
                <a:cs typeface="Times New Roman" panose="02020603050405020304" pitchFamily="18" charset="0"/>
              </a:rPr>
              <a:t>.  El costo en unidades monetarias (</a:t>
            </a:r>
            <a:r>
              <a:rPr lang="es-PE" sz="1800" dirty="0" err="1">
                <a:effectLst/>
                <a:latin typeface="Tahoma" panose="020B0604030504040204" pitchFamily="34" charset="0"/>
                <a:ea typeface="Calibri" panose="020F0502020204030204" pitchFamily="34" charset="0"/>
                <a:cs typeface="Times New Roman" panose="02020603050405020304" pitchFamily="18" charset="0"/>
              </a:rPr>
              <a:t>u.m</a:t>
            </a:r>
            <a:r>
              <a:rPr lang="es-PE" sz="1800" dirty="0">
                <a:effectLst/>
                <a:latin typeface="Tahoma" panose="020B0604030504040204" pitchFamily="34" charset="0"/>
                <a:ea typeface="Calibri" panose="020F0502020204030204" pitchFamily="34" charset="0"/>
                <a:cs typeface="Times New Roman" panose="02020603050405020304" pitchFamily="18" charset="0"/>
              </a:rPr>
              <a:t>) de la venta de corriente eléctrica a las diferentes ciudades por millón de </a:t>
            </a:r>
            <a:r>
              <a:rPr lang="es-PE" sz="1800" dirty="0" err="1">
                <a:effectLst/>
                <a:latin typeface="Tahoma" panose="020B0604030504040204" pitchFamily="34" charset="0"/>
                <a:ea typeface="Calibri" panose="020F0502020204030204" pitchFamily="34" charset="0"/>
                <a:cs typeface="Times New Roman" panose="02020603050405020304" pitchFamily="18" charset="0"/>
              </a:rPr>
              <a:t>kwh</a:t>
            </a:r>
            <a:r>
              <a:rPr lang="es-PE" sz="1800" dirty="0">
                <a:effectLst/>
                <a:latin typeface="Tahoma" panose="020B0604030504040204" pitchFamily="34" charset="0"/>
                <a:ea typeface="Calibri" panose="020F0502020204030204" pitchFamily="34" charset="0"/>
                <a:cs typeface="Times New Roman" panose="02020603050405020304" pitchFamily="18" charset="0"/>
              </a:rPr>
              <a:t>, es como sigue:</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s-PE" dirty="0"/>
          </a:p>
        </p:txBody>
      </p:sp>
      <p:pic>
        <p:nvPicPr>
          <p:cNvPr id="11" name="Imagen 10" descr="Tabla&#10;&#10;Descripción generada automáticamente">
            <a:extLst>
              <a:ext uri="{FF2B5EF4-FFF2-40B4-BE49-F238E27FC236}">
                <a16:creationId xmlns:a16="http://schemas.microsoft.com/office/drawing/2014/main" id="{6B35ABC0-AD74-425E-86D3-F4DD299AFA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5012" y="2846717"/>
            <a:ext cx="3740988" cy="1535732"/>
          </a:xfrm>
          <a:prstGeom prst="rect">
            <a:avLst/>
          </a:prstGeom>
        </p:spPr>
      </p:pic>
      <p:sp>
        <p:nvSpPr>
          <p:cNvPr id="12" name="CuadroTexto 11">
            <a:extLst>
              <a:ext uri="{FF2B5EF4-FFF2-40B4-BE49-F238E27FC236}">
                <a16:creationId xmlns:a16="http://schemas.microsoft.com/office/drawing/2014/main" id="{EC7E3307-ECBE-49B5-BBAC-D9D69EBC991A}"/>
              </a:ext>
            </a:extLst>
          </p:cNvPr>
          <p:cNvSpPr txBox="1"/>
          <p:nvPr/>
        </p:nvSpPr>
        <p:spPr>
          <a:xfrm>
            <a:off x="69012" y="4285216"/>
            <a:ext cx="6096000" cy="2585323"/>
          </a:xfrm>
          <a:prstGeom prst="rect">
            <a:avLst/>
          </a:prstGeom>
          <a:noFill/>
        </p:spPr>
        <p:txBody>
          <a:bodyPr wrap="square" rtlCol="0">
            <a:spAutoFit/>
          </a:bodyPr>
          <a:lstStyle/>
          <a:p>
            <a:pPr algn="just"/>
            <a:r>
              <a:rPr lang="es-PE" sz="1800" dirty="0">
                <a:effectLst/>
                <a:latin typeface="Tahoma" panose="020B0604030504040204" pitchFamily="34" charset="0"/>
                <a:ea typeface="Calibri" panose="020F0502020204030204" pitchFamily="34" charset="0"/>
                <a:cs typeface="Times New Roman" panose="02020603050405020304" pitchFamily="18" charset="0"/>
              </a:rPr>
              <a:t>Durante el mes de agosto se incrementa un 20% la demanda en cada una de las tres ciudades.  Para satisfacer el exceso de demanda, la compañía eléctrica debe comprar electricidad adicional de otra red, a un precio de 1000 </a:t>
            </a:r>
            <a:r>
              <a:rPr lang="es-PE" sz="1800" dirty="0" err="1">
                <a:effectLst/>
                <a:latin typeface="Tahoma" panose="020B0604030504040204" pitchFamily="34" charset="0"/>
                <a:ea typeface="Calibri" panose="020F0502020204030204" pitchFamily="34" charset="0"/>
                <a:cs typeface="Times New Roman" panose="02020603050405020304" pitchFamily="18" charset="0"/>
              </a:rPr>
              <a:t>u.m</a:t>
            </a:r>
            <a:r>
              <a:rPr lang="es-PE" sz="1800" dirty="0">
                <a:effectLst/>
                <a:latin typeface="Tahoma" panose="020B0604030504040204" pitchFamily="34" charset="0"/>
                <a:ea typeface="Calibri" panose="020F0502020204030204" pitchFamily="34" charset="0"/>
                <a:cs typeface="Times New Roman" panose="02020603050405020304" pitchFamily="18" charset="0"/>
              </a:rPr>
              <a:t>. por millón de </a:t>
            </a:r>
            <a:r>
              <a:rPr lang="es-PE" sz="1800" dirty="0" err="1">
                <a:effectLst/>
                <a:latin typeface="Tahoma" panose="020B0604030504040204" pitchFamily="34" charset="0"/>
                <a:ea typeface="Calibri" panose="020F0502020204030204" pitchFamily="34" charset="0"/>
                <a:cs typeface="Times New Roman" panose="02020603050405020304" pitchFamily="18" charset="0"/>
              </a:rPr>
              <a:t>kwh</a:t>
            </a:r>
            <a:r>
              <a:rPr lang="es-PE" sz="1800" dirty="0">
                <a:effectLst/>
                <a:latin typeface="Tahoma" panose="020B0604030504040204" pitchFamily="34" charset="0"/>
                <a:ea typeface="Calibri" panose="020F0502020204030204" pitchFamily="34" charset="0"/>
                <a:cs typeface="Times New Roman" panose="02020603050405020304" pitchFamily="18" charset="0"/>
              </a:rPr>
              <a:t>.  Sin embargo, esta red no está conectada a la ciudad 3.  Formule el problema como uno de transporte, con el fin de restablecer el plan de distribución más económico, desde el punto de vista de la compañía eléctrica. Use Vogel.</a:t>
            </a:r>
            <a:endParaRPr lang="es-PE" dirty="0"/>
          </a:p>
        </p:txBody>
      </p:sp>
      <p:pic>
        <p:nvPicPr>
          <p:cNvPr id="6" name="Imagen 5" descr="Tabla&#10;&#10;Descripción generada automáticamente">
            <a:extLst>
              <a:ext uri="{FF2B5EF4-FFF2-40B4-BE49-F238E27FC236}">
                <a16:creationId xmlns:a16="http://schemas.microsoft.com/office/drawing/2014/main" id="{B09A5FCC-2722-4FCD-9B3C-F7CF652E66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81601" y="1900739"/>
            <a:ext cx="6096000" cy="3266467"/>
          </a:xfrm>
          <a:prstGeom prst="rect">
            <a:avLst/>
          </a:prstGeom>
        </p:spPr>
      </p:pic>
      <p:sp>
        <p:nvSpPr>
          <p:cNvPr id="7" name="CuadroTexto 6">
            <a:extLst>
              <a:ext uri="{FF2B5EF4-FFF2-40B4-BE49-F238E27FC236}">
                <a16:creationId xmlns:a16="http://schemas.microsoft.com/office/drawing/2014/main" id="{B2CCD2DB-215A-47E2-8B3E-340018C52234}"/>
              </a:ext>
            </a:extLst>
          </p:cNvPr>
          <p:cNvSpPr txBox="1"/>
          <p:nvPr/>
        </p:nvSpPr>
        <p:spPr>
          <a:xfrm>
            <a:off x="6883879" y="5412798"/>
            <a:ext cx="5112566" cy="923330"/>
          </a:xfrm>
          <a:prstGeom prst="rect">
            <a:avLst/>
          </a:prstGeom>
          <a:noFill/>
        </p:spPr>
        <p:txBody>
          <a:bodyPr wrap="square" rtlCol="0">
            <a:spAutoFit/>
          </a:bodyPr>
          <a:lstStyle>
            <a:defPPr>
              <a:defRPr lang="es-PE"/>
            </a:defPPr>
            <a:lvl1pPr algn="just">
              <a:defRPr>
                <a:effectLst/>
                <a:latin typeface="Tahoma" panose="020B0604030504040204" pitchFamily="34" charset="0"/>
                <a:ea typeface="Calibri" panose="020F0502020204030204" pitchFamily="34" charset="0"/>
                <a:cs typeface="Times New Roman" panose="02020603050405020304" pitchFamily="18" charset="0"/>
              </a:defRPr>
            </a:lvl1pPr>
          </a:lstStyle>
          <a:p>
            <a:r>
              <a:rPr lang="es-PE" dirty="0"/>
              <a:t>La demanda en cualquier mes es 30 + 35 + 25 = 90 millones de km/</a:t>
            </a:r>
            <a:r>
              <a:rPr lang="es-PE" dirty="0" err="1"/>
              <a:t>hr</a:t>
            </a:r>
            <a:r>
              <a:rPr lang="es-PE" dirty="0"/>
              <a:t>; y el incremento en agosto, el 20% de 90 es 18; el exceso a cubrir.</a:t>
            </a:r>
          </a:p>
        </p:txBody>
      </p:sp>
      <p:sp>
        <p:nvSpPr>
          <p:cNvPr id="2" name="CuadroTexto 1">
            <a:extLst>
              <a:ext uri="{FF2B5EF4-FFF2-40B4-BE49-F238E27FC236}">
                <a16:creationId xmlns:a16="http://schemas.microsoft.com/office/drawing/2014/main" id="{A3BBC4FD-AD58-4B4A-B724-338C12913BCA}"/>
              </a:ext>
            </a:extLst>
          </p:cNvPr>
          <p:cNvSpPr txBox="1"/>
          <p:nvPr/>
        </p:nvSpPr>
        <p:spPr>
          <a:xfrm>
            <a:off x="6219644" y="1276709"/>
            <a:ext cx="1846053" cy="461665"/>
          </a:xfrm>
          <a:prstGeom prst="rect">
            <a:avLst/>
          </a:prstGeom>
          <a:noFill/>
        </p:spPr>
        <p:txBody>
          <a:bodyPr wrap="square" rtlCol="0">
            <a:spAutoFit/>
          </a:bodyPr>
          <a:lstStyle/>
          <a:p>
            <a:r>
              <a:rPr lang="es-ES" sz="2400" b="1" dirty="0">
                <a:solidFill>
                  <a:srgbClr val="FF0000"/>
                </a:solidFill>
              </a:rPr>
              <a:t>SOLUCIÓN</a:t>
            </a:r>
            <a:endParaRPr lang="es-PE" sz="2400" b="1" dirty="0">
              <a:solidFill>
                <a:srgbClr val="FF0000"/>
              </a:solidFill>
            </a:endParaRPr>
          </a:p>
        </p:txBody>
      </p:sp>
    </p:spTree>
    <p:extLst>
      <p:ext uri="{BB962C8B-B14F-4D97-AF65-F5344CB8AC3E}">
        <p14:creationId xmlns:p14="http://schemas.microsoft.com/office/powerpoint/2010/main" val="3734198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908456B0-1682-41C0-82D5-6047802A8E14}"/>
              </a:ext>
            </a:extLst>
          </p:cNvPr>
          <p:cNvSpPr txBox="1"/>
          <p:nvPr/>
        </p:nvSpPr>
        <p:spPr>
          <a:xfrm>
            <a:off x="613488" y="267869"/>
            <a:ext cx="6097554" cy="369332"/>
          </a:xfrm>
          <a:prstGeom prst="rect">
            <a:avLst/>
          </a:prstGeom>
          <a:noFill/>
        </p:spPr>
        <p:txBody>
          <a:bodyPr wrap="square">
            <a:spAutoFit/>
          </a:bodyPr>
          <a:lstStyle/>
          <a:p>
            <a:r>
              <a:rPr lang="es-PE" sz="1800" b="1" u="sng" dirty="0">
                <a:effectLst/>
                <a:latin typeface="Tahoma" panose="020B0604030504040204" pitchFamily="34" charset="0"/>
                <a:ea typeface="Calibri" panose="020F0502020204030204" pitchFamily="34" charset="0"/>
              </a:rPr>
              <a:t>Solución Problema 3</a:t>
            </a:r>
            <a:endParaRPr lang="es-PE" dirty="0"/>
          </a:p>
        </p:txBody>
      </p:sp>
      <p:sp>
        <p:nvSpPr>
          <p:cNvPr id="7" name="Rectángulo 6">
            <a:extLst>
              <a:ext uri="{FF2B5EF4-FFF2-40B4-BE49-F238E27FC236}">
                <a16:creationId xmlns:a16="http://schemas.microsoft.com/office/drawing/2014/main" id="{01C46A30-4F2B-4AB7-A11F-7F7327E20DF0}"/>
              </a:ext>
            </a:extLst>
          </p:cNvPr>
          <p:cNvSpPr/>
          <p:nvPr/>
        </p:nvSpPr>
        <p:spPr>
          <a:xfrm>
            <a:off x="888521" y="1228087"/>
            <a:ext cx="5198853" cy="1123384"/>
          </a:xfrm>
          <a:prstGeom prst="rect">
            <a:avLst/>
          </a:prstGeom>
        </p:spPr>
        <p:txBody>
          <a:bodyPr wrap="square">
            <a:spAutoFit/>
          </a:bodyPr>
          <a:lstStyle/>
          <a:p>
            <a:pPr lvl="0" defTabSz="1066800">
              <a:spcBef>
                <a:spcPct val="0"/>
              </a:spcBef>
              <a:spcAft>
                <a:spcPct val="35000"/>
              </a:spcAft>
            </a:pPr>
            <a:r>
              <a:rPr lang="es-PE" sz="2000" dirty="0">
                <a:solidFill>
                  <a:srgbClr val="FF0000"/>
                </a:solidFill>
                <a:latin typeface="Arial Narrow" panose="020B0606020202030204" pitchFamily="34" charset="0"/>
              </a:rPr>
              <a:t>Identificación de las variables</a:t>
            </a:r>
          </a:p>
          <a:p>
            <a:pPr lvl="0"/>
            <a:r>
              <a:rPr lang="es-PE" sz="2000" dirty="0" err="1">
                <a:latin typeface="Arial Narrow" pitchFamily="34" charset="0"/>
              </a:rPr>
              <a:t>Xij</a:t>
            </a:r>
            <a:r>
              <a:rPr lang="es-PE" sz="2000" dirty="0">
                <a:latin typeface="Arial Narrow" pitchFamily="34" charset="0"/>
              </a:rPr>
              <a:t> = Millones de galones de la presa i que se envía a la ciudad j.</a:t>
            </a:r>
          </a:p>
        </p:txBody>
      </p:sp>
      <p:sp>
        <p:nvSpPr>
          <p:cNvPr id="8" name="Rectángulo 7">
            <a:extLst>
              <a:ext uri="{FF2B5EF4-FFF2-40B4-BE49-F238E27FC236}">
                <a16:creationId xmlns:a16="http://schemas.microsoft.com/office/drawing/2014/main" id="{A318E422-6DDA-4D90-BEAD-CD434B3CCE6C}"/>
              </a:ext>
            </a:extLst>
          </p:cNvPr>
          <p:cNvSpPr/>
          <p:nvPr/>
        </p:nvSpPr>
        <p:spPr>
          <a:xfrm>
            <a:off x="871268" y="2249967"/>
            <a:ext cx="5098210" cy="1631216"/>
          </a:xfrm>
          <a:prstGeom prst="rect">
            <a:avLst/>
          </a:prstGeom>
        </p:spPr>
        <p:txBody>
          <a:bodyPr wrap="square">
            <a:spAutoFit/>
          </a:bodyPr>
          <a:lstStyle/>
          <a:p>
            <a:pPr defTabSz="1066800">
              <a:spcBef>
                <a:spcPct val="0"/>
              </a:spcBef>
            </a:pPr>
            <a:r>
              <a:rPr lang="es-PE" sz="2000" dirty="0">
                <a:solidFill>
                  <a:srgbClr val="FF0000"/>
                </a:solidFill>
                <a:latin typeface="Arial Narrow" panose="020B0606020202030204" pitchFamily="34" charset="0"/>
              </a:rPr>
              <a:t>Identificación de la </a:t>
            </a:r>
            <a:r>
              <a:rPr lang="es-PE" sz="2000" dirty="0" err="1">
                <a:solidFill>
                  <a:srgbClr val="FF0000"/>
                </a:solidFill>
                <a:latin typeface="Arial Narrow" panose="020B0606020202030204" pitchFamily="34" charset="0"/>
              </a:rPr>
              <a:t>F.O</a:t>
            </a:r>
            <a:r>
              <a:rPr lang="es-PE" sz="2000" dirty="0">
                <a:solidFill>
                  <a:srgbClr val="FF0000"/>
                </a:solidFill>
                <a:latin typeface="Arial Narrow" panose="020B0606020202030204" pitchFamily="34" charset="0"/>
              </a:rPr>
              <a:t>.</a:t>
            </a:r>
          </a:p>
          <a:p>
            <a:pPr defTabSz="1066800">
              <a:spcBef>
                <a:spcPct val="0"/>
              </a:spcBef>
            </a:pPr>
            <a:r>
              <a:rPr lang="es-PE" sz="2000" dirty="0">
                <a:latin typeface="Arial Narrow" panose="020B0606020202030204" pitchFamily="34" charset="0"/>
              </a:rPr>
              <a:t>MAX    </a:t>
            </a:r>
            <a:r>
              <a:rPr lang="es-PE" sz="2000" dirty="0" err="1">
                <a:latin typeface="Arial Narrow" panose="020B0606020202030204" pitchFamily="34" charset="0"/>
              </a:rPr>
              <a:t>600X11</a:t>
            </a:r>
            <a:r>
              <a:rPr lang="es-PE" sz="2000" dirty="0">
                <a:latin typeface="Arial Narrow" panose="020B0606020202030204" pitchFamily="34" charset="0"/>
              </a:rPr>
              <a:t>   +  </a:t>
            </a:r>
            <a:r>
              <a:rPr lang="es-PE" sz="2000" dirty="0" err="1">
                <a:latin typeface="Arial Narrow" panose="020B0606020202030204" pitchFamily="34" charset="0"/>
              </a:rPr>
              <a:t>700X12</a:t>
            </a:r>
            <a:r>
              <a:rPr lang="es-PE" sz="2000" dirty="0">
                <a:latin typeface="Arial Narrow" panose="020B0606020202030204" pitchFamily="34" charset="0"/>
              </a:rPr>
              <a:t>  + </a:t>
            </a:r>
            <a:r>
              <a:rPr lang="es-PE" sz="2000" dirty="0" err="1">
                <a:latin typeface="Arial Narrow" panose="020B0606020202030204" pitchFamily="34" charset="0"/>
              </a:rPr>
              <a:t>400X13</a:t>
            </a:r>
            <a:r>
              <a:rPr lang="es-PE" sz="2000" dirty="0">
                <a:latin typeface="Arial Narrow" panose="020B0606020202030204" pitchFamily="34" charset="0"/>
              </a:rPr>
              <a:t> +</a:t>
            </a:r>
          </a:p>
          <a:p>
            <a:pPr defTabSz="1066800">
              <a:spcBef>
                <a:spcPct val="0"/>
              </a:spcBef>
            </a:pPr>
            <a:r>
              <a:rPr lang="es-PE" sz="2000" dirty="0">
                <a:latin typeface="Arial Narrow" panose="020B0606020202030204" pitchFamily="34" charset="0"/>
              </a:rPr>
              <a:t>           </a:t>
            </a:r>
            <a:r>
              <a:rPr lang="es-PE" sz="2000" dirty="0" err="1">
                <a:latin typeface="Arial Narrow" panose="020B0606020202030204" pitchFamily="34" charset="0"/>
              </a:rPr>
              <a:t>320X21</a:t>
            </a:r>
            <a:r>
              <a:rPr lang="es-PE" sz="2000" dirty="0">
                <a:latin typeface="Arial Narrow" panose="020B0606020202030204" pitchFamily="34" charset="0"/>
              </a:rPr>
              <a:t>   +  </a:t>
            </a:r>
            <a:r>
              <a:rPr lang="es-PE" sz="2000" dirty="0" err="1">
                <a:latin typeface="Arial Narrow" panose="020B0606020202030204" pitchFamily="34" charset="0"/>
              </a:rPr>
              <a:t>300X22</a:t>
            </a:r>
            <a:r>
              <a:rPr lang="es-PE" sz="2000" dirty="0">
                <a:latin typeface="Arial Narrow" panose="020B0606020202030204" pitchFamily="34" charset="0"/>
              </a:rPr>
              <a:t>  + </a:t>
            </a:r>
            <a:r>
              <a:rPr lang="es-PE" sz="2000" dirty="0" err="1">
                <a:latin typeface="Arial Narrow" panose="020B0606020202030204" pitchFamily="34" charset="0"/>
              </a:rPr>
              <a:t>350X23</a:t>
            </a:r>
            <a:r>
              <a:rPr lang="es-PE" sz="2000" dirty="0">
                <a:latin typeface="Arial Narrow" panose="020B0606020202030204" pitchFamily="34" charset="0"/>
              </a:rPr>
              <a:t> +</a:t>
            </a:r>
          </a:p>
          <a:p>
            <a:pPr defTabSz="1066800">
              <a:spcBef>
                <a:spcPct val="0"/>
              </a:spcBef>
            </a:pPr>
            <a:r>
              <a:rPr lang="es-PE" sz="2000" dirty="0">
                <a:latin typeface="Arial Narrow" panose="020B0606020202030204" pitchFamily="34" charset="0"/>
              </a:rPr>
              <a:t>           </a:t>
            </a:r>
            <a:r>
              <a:rPr lang="es-PE" sz="2000" dirty="0" err="1">
                <a:latin typeface="Arial Narrow" panose="020B0606020202030204" pitchFamily="34" charset="0"/>
              </a:rPr>
              <a:t>500X31</a:t>
            </a:r>
            <a:r>
              <a:rPr lang="es-PE" sz="2000" dirty="0">
                <a:latin typeface="Arial Narrow" panose="020B0606020202030204" pitchFamily="34" charset="0"/>
              </a:rPr>
              <a:t>   +  </a:t>
            </a:r>
            <a:r>
              <a:rPr lang="es-PE" sz="2000" dirty="0" err="1">
                <a:latin typeface="Arial Narrow" panose="020B0606020202030204" pitchFamily="34" charset="0"/>
              </a:rPr>
              <a:t>480X32</a:t>
            </a:r>
            <a:r>
              <a:rPr lang="es-PE" sz="2000" dirty="0">
                <a:latin typeface="Arial Narrow" panose="020B0606020202030204" pitchFamily="34" charset="0"/>
              </a:rPr>
              <a:t>  + </a:t>
            </a:r>
            <a:r>
              <a:rPr lang="es-PE" sz="2000" dirty="0" err="1">
                <a:latin typeface="Arial Narrow" panose="020B0606020202030204" pitchFamily="34" charset="0"/>
              </a:rPr>
              <a:t>450X33</a:t>
            </a:r>
            <a:r>
              <a:rPr lang="es-PE" sz="2000" dirty="0">
                <a:latin typeface="Arial Narrow" panose="020B0606020202030204" pitchFamily="34" charset="0"/>
              </a:rPr>
              <a:t> +</a:t>
            </a:r>
          </a:p>
          <a:p>
            <a:pPr defTabSz="1066800">
              <a:spcBef>
                <a:spcPct val="0"/>
              </a:spcBef>
            </a:pPr>
            <a:r>
              <a:rPr lang="es-PE" sz="2000" dirty="0">
                <a:latin typeface="Arial Narrow" panose="020B0606020202030204" pitchFamily="34" charset="0"/>
              </a:rPr>
              <a:t>          </a:t>
            </a:r>
            <a:r>
              <a:rPr lang="es-PE" sz="2000" dirty="0" err="1">
                <a:latin typeface="Arial Narrow" panose="020B0606020202030204" pitchFamily="34" charset="0"/>
              </a:rPr>
              <a:t>1000X41</a:t>
            </a:r>
            <a:r>
              <a:rPr lang="es-PE" sz="2000" dirty="0">
                <a:latin typeface="Arial Narrow" panose="020B0606020202030204" pitchFamily="34" charset="0"/>
              </a:rPr>
              <a:t>  +  </a:t>
            </a:r>
            <a:r>
              <a:rPr lang="es-PE" sz="2000" dirty="0" err="1">
                <a:latin typeface="Arial Narrow" panose="020B0606020202030204" pitchFamily="34" charset="0"/>
              </a:rPr>
              <a:t>1000X42</a:t>
            </a:r>
            <a:endParaRPr lang="es-PE" sz="2000" dirty="0">
              <a:latin typeface="Arial Narrow" panose="020B0606020202030204" pitchFamily="34" charset="0"/>
            </a:endParaRPr>
          </a:p>
        </p:txBody>
      </p:sp>
      <p:sp>
        <p:nvSpPr>
          <p:cNvPr id="9" name="Rectángulo 8">
            <a:extLst>
              <a:ext uri="{FF2B5EF4-FFF2-40B4-BE49-F238E27FC236}">
                <a16:creationId xmlns:a16="http://schemas.microsoft.com/office/drawing/2014/main" id="{81642E96-C77D-4935-9DCE-DF8161C1AF65}"/>
              </a:ext>
            </a:extLst>
          </p:cNvPr>
          <p:cNvSpPr/>
          <p:nvPr/>
        </p:nvSpPr>
        <p:spPr>
          <a:xfrm>
            <a:off x="879893" y="3748195"/>
            <a:ext cx="4203933" cy="3277820"/>
          </a:xfrm>
          <a:prstGeom prst="rect">
            <a:avLst/>
          </a:prstGeom>
        </p:spPr>
        <p:txBody>
          <a:bodyPr wrap="square">
            <a:spAutoFit/>
          </a:bodyPr>
          <a:lstStyle/>
          <a:p>
            <a:pPr lvl="0" defTabSz="1066800">
              <a:spcBef>
                <a:spcPct val="0"/>
              </a:spcBef>
            </a:pPr>
            <a:r>
              <a:rPr lang="es-PE" sz="2000" dirty="0">
                <a:solidFill>
                  <a:srgbClr val="FF0000"/>
                </a:solidFill>
                <a:latin typeface="Arial Narrow" panose="020B0606020202030204" pitchFamily="34" charset="0"/>
              </a:rPr>
              <a:t>Identificación de las restricciones</a:t>
            </a:r>
          </a:p>
          <a:p>
            <a:pPr lvl="0"/>
            <a:r>
              <a:rPr lang="es-PE" sz="2000" dirty="0" err="1">
                <a:latin typeface="Arial Narrow" pitchFamily="34" charset="0"/>
              </a:rPr>
              <a:t>X11+X12+X13+X14</a:t>
            </a:r>
            <a:r>
              <a:rPr lang="es-PE" sz="2000" dirty="0">
                <a:latin typeface="Arial Narrow" pitchFamily="34" charset="0"/>
              </a:rPr>
              <a:t>&lt;=25</a:t>
            </a:r>
          </a:p>
          <a:p>
            <a:pPr lvl="0"/>
            <a:r>
              <a:rPr lang="es-PE" sz="2000" dirty="0" err="1">
                <a:latin typeface="Arial Narrow" pitchFamily="34" charset="0"/>
              </a:rPr>
              <a:t>X21+X22+X23+X24</a:t>
            </a:r>
            <a:r>
              <a:rPr lang="es-PE" sz="2000" dirty="0">
                <a:latin typeface="Arial Narrow" pitchFamily="34" charset="0"/>
              </a:rPr>
              <a:t>&lt;=40</a:t>
            </a:r>
          </a:p>
          <a:p>
            <a:pPr lvl="0"/>
            <a:r>
              <a:rPr lang="es-PE" sz="2000" dirty="0" err="1">
                <a:latin typeface="Arial Narrow" pitchFamily="34" charset="0"/>
              </a:rPr>
              <a:t>X31+X32+X33+X34</a:t>
            </a:r>
            <a:r>
              <a:rPr lang="es-PE" sz="2000" dirty="0">
                <a:latin typeface="Arial Narrow" pitchFamily="34" charset="0"/>
              </a:rPr>
              <a:t>&lt;=30</a:t>
            </a:r>
          </a:p>
          <a:p>
            <a:r>
              <a:rPr lang="es-PE" sz="2000" dirty="0" err="1">
                <a:latin typeface="Arial Narrow" pitchFamily="34" charset="0"/>
              </a:rPr>
              <a:t>X41+X42+X43+X44</a:t>
            </a:r>
            <a:r>
              <a:rPr lang="es-PE" sz="2000" dirty="0">
                <a:latin typeface="Arial Narrow" pitchFamily="34" charset="0"/>
              </a:rPr>
              <a:t>&lt;=18</a:t>
            </a:r>
          </a:p>
          <a:p>
            <a:pPr lvl="0"/>
            <a:r>
              <a:rPr lang="es-PE" sz="2000" dirty="0" err="1">
                <a:solidFill>
                  <a:srgbClr val="7030A0"/>
                </a:solidFill>
                <a:latin typeface="Arial Narrow" pitchFamily="34" charset="0"/>
              </a:rPr>
              <a:t>X11+X21+X31+X41</a:t>
            </a:r>
            <a:r>
              <a:rPr lang="es-PE" sz="2000" dirty="0">
                <a:solidFill>
                  <a:srgbClr val="7030A0"/>
                </a:solidFill>
                <a:latin typeface="Arial Narrow" pitchFamily="34" charset="0"/>
              </a:rPr>
              <a:t> =36</a:t>
            </a:r>
          </a:p>
          <a:p>
            <a:r>
              <a:rPr lang="es-PE" sz="2000" dirty="0" err="1">
                <a:solidFill>
                  <a:srgbClr val="7030A0"/>
                </a:solidFill>
                <a:latin typeface="Arial Narrow" pitchFamily="34" charset="0"/>
              </a:rPr>
              <a:t>X12+X22+X32+X42</a:t>
            </a:r>
            <a:r>
              <a:rPr lang="es-PE" sz="2000" dirty="0">
                <a:solidFill>
                  <a:srgbClr val="7030A0"/>
                </a:solidFill>
                <a:latin typeface="Arial Narrow" pitchFamily="34" charset="0"/>
              </a:rPr>
              <a:t> =42</a:t>
            </a:r>
          </a:p>
          <a:p>
            <a:r>
              <a:rPr lang="es-PE" sz="2000" dirty="0" err="1">
                <a:solidFill>
                  <a:srgbClr val="7030A0"/>
                </a:solidFill>
                <a:latin typeface="Arial Narrow" pitchFamily="34" charset="0"/>
              </a:rPr>
              <a:t>X13+X23+X33</a:t>
            </a:r>
            <a:r>
              <a:rPr lang="es-PE" sz="2000" dirty="0">
                <a:solidFill>
                  <a:srgbClr val="7030A0"/>
                </a:solidFill>
                <a:latin typeface="Arial Narrow" pitchFamily="34" charset="0"/>
              </a:rPr>
              <a:t>          =30</a:t>
            </a:r>
          </a:p>
          <a:p>
            <a:r>
              <a:rPr lang="es-PE" sz="2000" dirty="0" err="1">
                <a:solidFill>
                  <a:srgbClr val="7030A0"/>
                </a:solidFill>
                <a:latin typeface="Arial Narrow" pitchFamily="34" charset="0"/>
              </a:rPr>
              <a:t>X14+X24+X34+X44</a:t>
            </a:r>
            <a:r>
              <a:rPr lang="es-PE" sz="2000" dirty="0">
                <a:solidFill>
                  <a:srgbClr val="7030A0"/>
                </a:solidFill>
                <a:latin typeface="Arial Narrow" pitchFamily="34" charset="0"/>
              </a:rPr>
              <a:t> =5</a:t>
            </a:r>
          </a:p>
          <a:p>
            <a:r>
              <a:rPr lang="es-PE" sz="2000" dirty="0">
                <a:solidFill>
                  <a:srgbClr val="7030A0"/>
                </a:solidFill>
                <a:latin typeface="Arial Narrow" pitchFamily="34" charset="0"/>
              </a:rPr>
              <a:t>                   </a:t>
            </a:r>
            <a:r>
              <a:rPr lang="es-PE" sz="2000" dirty="0" err="1">
                <a:solidFill>
                  <a:srgbClr val="7030A0"/>
                </a:solidFill>
                <a:latin typeface="Arial Narrow" pitchFamily="34" charset="0"/>
              </a:rPr>
              <a:t>Xij</a:t>
            </a:r>
            <a:r>
              <a:rPr lang="es-PE" sz="2000" dirty="0">
                <a:solidFill>
                  <a:srgbClr val="7030A0"/>
                </a:solidFill>
                <a:latin typeface="Arial Narrow" pitchFamily="34" charset="0"/>
              </a:rPr>
              <a:t>&gt;=0</a:t>
            </a:r>
          </a:p>
        </p:txBody>
      </p:sp>
      <p:sp>
        <p:nvSpPr>
          <p:cNvPr id="10" name="Rectángulo 9">
            <a:extLst>
              <a:ext uri="{FF2B5EF4-FFF2-40B4-BE49-F238E27FC236}">
                <a16:creationId xmlns:a16="http://schemas.microsoft.com/office/drawing/2014/main" id="{758C42A8-99FD-4879-A311-519EE5557BC0}"/>
              </a:ext>
            </a:extLst>
          </p:cNvPr>
          <p:cNvSpPr/>
          <p:nvPr/>
        </p:nvSpPr>
        <p:spPr>
          <a:xfrm>
            <a:off x="6096000" y="1216174"/>
            <a:ext cx="3749615" cy="3970318"/>
          </a:xfrm>
          <a:prstGeom prst="rect">
            <a:avLst/>
          </a:prstGeom>
          <a:solidFill>
            <a:srgbClr val="FFFF00"/>
          </a:solidFill>
        </p:spPr>
        <p:txBody>
          <a:bodyPr wrap="square">
            <a:spAutoFit/>
          </a:bodyPr>
          <a:lstStyle/>
          <a:p>
            <a:pPr defTabSz="1066800">
              <a:spcBef>
                <a:spcPct val="0"/>
              </a:spcBef>
            </a:pPr>
            <a:r>
              <a:rPr lang="es-PE" dirty="0">
                <a:latin typeface="Arial Narrow" panose="020B0606020202030204" pitchFamily="34" charset="0"/>
              </a:rPr>
              <a:t>MIN    </a:t>
            </a:r>
            <a:r>
              <a:rPr lang="es-PE" dirty="0" err="1">
                <a:latin typeface="Arial Narrow" panose="020B0606020202030204" pitchFamily="34" charset="0"/>
              </a:rPr>
              <a:t>600X11</a:t>
            </a:r>
            <a:r>
              <a:rPr lang="es-PE" dirty="0">
                <a:latin typeface="Arial Narrow" panose="020B0606020202030204" pitchFamily="34" charset="0"/>
              </a:rPr>
              <a:t>   +  </a:t>
            </a:r>
            <a:r>
              <a:rPr lang="es-PE" dirty="0" err="1">
                <a:latin typeface="Arial Narrow" panose="020B0606020202030204" pitchFamily="34" charset="0"/>
              </a:rPr>
              <a:t>700X12</a:t>
            </a:r>
            <a:r>
              <a:rPr lang="es-PE" dirty="0">
                <a:latin typeface="Arial Narrow" panose="020B0606020202030204" pitchFamily="34" charset="0"/>
              </a:rPr>
              <a:t>  + </a:t>
            </a:r>
            <a:r>
              <a:rPr lang="es-PE" dirty="0" err="1">
                <a:latin typeface="Arial Narrow" panose="020B0606020202030204" pitchFamily="34" charset="0"/>
              </a:rPr>
              <a:t>400X13</a:t>
            </a:r>
            <a:r>
              <a:rPr lang="es-PE" dirty="0">
                <a:latin typeface="Arial Narrow" panose="020B0606020202030204" pitchFamily="34" charset="0"/>
              </a:rPr>
              <a:t> +</a:t>
            </a:r>
          </a:p>
          <a:p>
            <a:pPr defTabSz="1066800">
              <a:spcBef>
                <a:spcPct val="0"/>
              </a:spcBef>
            </a:pPr>
            <a:r>
              <a:rPr lang="es-PE" dirty="0">
                <a:latin typeface="Arial Narrow" panose="020B0606020202030204" pitchFamily="34" charset="0"/>
              </a:rPr>
              <a:t>           </a:t>
            </a:r>
            <a:r>
              <a:rPr lang="es-PE" dirty="0" err="1">
                <a:latin typeface="Arial Narrow" panose="020B0606020202030204" pitchFamily="34" charset="0"/>
              </a:rPr>
              <a:t>320X21</a:t>
            </a:r>
            <a:r>
              <a:rPr lang="es-PE" dirty="0">
                <a:latin typeface="Arial Narrow" panose="020B0606020202030204" pitchFamily="34" charset="0"/>
              </a:rPr>
              <a:t>   +  </a:t>
            </a:r>
            <a:r>
              <a:rPr lang="es-PE" dirty="0" err="1">
                <a:latin typeface="Arial Narrow" panose="020B0606020202030204" pitchFamily="34" charset="0"/>
              </a:rPr>
              <a:t>300X22</a:t>
            </a:r>
            <a:r>
              <a:rPr lang="es-PE" dirty="0">
                <a:latin typeface="Arial Narrow" panose="020B0606020202030204" pitchFamily="34" charset="0"/>
              </a:rPr>
              <a:t>  + </a:t>
            </a:r>
            <a:r>
              <a:rPr lang="es-PE" dirty="0" err="1">
                <a:latin typeface="Arial Narrow" panose="020B0606020202030204" pitchFamily="34" charset="0"/>
              </a:rPr>
              <a:t>350X23</a:t>
            </a:r>
            <a:r>
              <a:rPr lang="es-PE" dirty="0">
                <a:latin typeface="Arial Narrow" panose="020B0606020202030204" pitchFamily="34" charset="0"/>
              </a:rPr>
              <a:t> +</a:t>
            </a:r>
          </a:p>
          <a:p>
            <a:pPr defTabSz="1066800">
              <a:spcBef>
                <a:spcPct val="0"/>
              </a:spcBef>
            </a:pPr>
            <a:r>
              <a:rPr lang="es-PE" dirty="0">
                <a:latin typeface="Arial Narrow" panose="020B0606020202030204" pitchFamily="34" charset="0"/>
              </a:rPr>
              <a:t>           </a:t>
            </a:r>
            <a:r>
              <a:rPr lang="es-PE" dirty="0" err="1">
                <a:latin typeface="Arial Narrow" panose="020B0606020202030204" pitchFamily="34" charset="0"/>
              </a:rPr>
              <a:t>500X31</a:t>
            </a:r>
            <a:r>
              <a:rPr lang="es-PE" dirty="0">
                <a:latin typeface="Arial Narrow" panose="020B0606020202030204" pitchFamily="34" charset="0"/>
              </a:rPr>
              <a:t>   +  </a:t>
            </a:r>
            <a:r>
              <a:rPr lang="es-PE" dirty="0" err="1">
                <a:latin typeface="Arial Narrow" panose="020B0606020202030204" pitchFamily="34" charset="0"/>
              </a:rPr>
              <a:t>480X32</a:t>
            </a:r>
            <a:r>
              <a:rPr lang="es-PE" dirty="0">
                <a:latin typeface="Arial Narrow" panose="020B0606020202030204" pitchFamily="34" charset="0"/>
              </a:rPr>
              <a:t>  + </a:t>
            </a:r>
            <a:r>
              <a:rPr lang="es-PE" dirty="0" err="1">
                <a:latin typeface="Arial Narrow" panose="020B0606020202030204" pitchFamily="34" charset="0"/>
              </a:rPr>
              <a:t>450X33</a:t>
            </a:r>
            <a:r>
              <a:rPr lang="es-PE" dirty="0">
                <a:latin typeface="Arial Narrow" panose="020B0606020202030204" pitchFamily="34" charset="0"/>
              </a:rPr>
              <a:t> +</a:t>
            </a:r>
          </a:p>
          <a:p>
            <a:pPr defTabSz="1066800">
              <a:spcBef>
                <a:spcPct val="0"/>
              </a:spcBef>
            </a:pPr>
            <a:r>
              <a:rPr lang="es-PE" dirty="0">
                <a:latin typeface="Arial Narrow" panose="020B0606020202030204" pitchFamily="34" charset="0"/>
              </a:rPr>
              <a:t>          </a:t>
            </a:r>
            <a:r>
              <a:rPr lang="es-PE" dirty="0" err="1">
                <a:latin typeface="Arial Narrow" panose="020B0606020202030204" pitchFamily="34" charset="0"/>
              </a:rPr>
              <a:t>1000X41</a:t>
            </a:r>
            <a:r>
              <a:rPr lang="es-PE" dirty="0">
                <a:latin typeface="Arial Narrow" panose="020B0606020202030204" pitchFamily="34" charset="0"/>
              </a:rPr>
              <a:t>  +  </a:t>
            </a:r>
            <a:r>
              <a:rPr lang="es-PE" dirty="0" err="1">
                <a:latin typeface="Arial Narrow" panose="020B0606020202030204" pitchFamily="34" charset="0"/>
              </a:rPr>
              <a:t>1000X42</a:t>
            </a:r>
            <a:endParaRPr lang="es-PE" dirty="0">
              <a:latin typeface="Arial Narrow" panose="020B0606020202030204" pitchFamily="34" charset="0"/>
            </a:endParaRPr>
          </a:p>
          <a:p>
            <a:pPr lvl="0"/>
            <a:r>
              <a:rPr lang="es-PE" dirty="0" err="1">
                <a:latin typeface="Arial Narrow" panose="020B0606020202030204" pitchFamily="34" charset="0"/>
              </a:rPr>
              <a:t>ST</a:t>
            </a:r>
            <a:endParaRPr lang="es-PE" dirty="0">
              <a:latin typeface="Arial Narrow" panose="020B0606020202030204" pitchFamily="34" charset="0"/>
            </a:endParaRPr>
          </a:p>
          <a:p>
            <a:pPr lvl="0"/>
            <a:r>
              <a:rPr lang="es-PE" dirty="0" err="1">
                <a:latin typeface="Arial Narrow" pitchFamily="34" charset="0"/>
              </a:rPr>
              <a:t>X11+X12+X13+X14</a:t>
            </a:r>
            <a:r>
              <a:rPr lang="es-PE" dirty="0">
                <a:latin typeface="Arial Narrow" pitchFamily="34" charset="0"/>
              </a:rPr>
              <a:t>&lt;=25</a:t>
            </a:r>
          </a:p>
          <a:p>
            <a:pPr lvl="0"/>
            <a:r>
              <a:rPr lang="es-PE" dirty="0" err="1">
                <a:latin typeface="Arial Narrow" pitchFamily="34" charset="0"/>
              </a:rPr>
              <a:t>X21+X22+X23+X24</a:t>
            </a:r>
            <a:r>
              <a:rPr lang="es-PE" dirty="0">
                <a:latin typeface="Arial Narrow" pitchFamily="34" charset="0"/>
              </a:rPr>
              <a:t>&lt;=40</a:t>
            </a:r>
          </a:p>
          <a:p>
            <a:pPr lvl="0"/>
            <a:r>
              <a:rPr lang="es-PE" dirty="0" err="1">
                <a:latin typeface="Arial Narrow" pitchFamily="34" charset="0"/>
              </a:rPr>
              <a:t>X31+X32+X33+X34</a:t>
            </a:r>
            <a:r>
              <a:rPr lang="es-PE" dirty="0">
                <a:latin typeface="Arial Narrow" pitchFamily="34" charset="0"/>
              </a:rPr>
              <a:t>&lt;=30</a:t>
            </a:r>
          </a:p>
          <a:p>
            <a:r>
              <a:rPr lang="es-PE" dirty="0" err="1">
                <a:latin typeface="Arial Narrow" pitchFamily="34" charset="0"/>
              </a:rPr>
              <a:t>X41+X42+X43+X44</a:t>
            </a:r>
            <a:r>
              <a:rPr lang="es-PE" dirty="0">
                <a:latin typeface="Arial Narrow" pitchFamily="34" charset="0"/>
              </a:rPr>
              <a:t>&lt;=18</a:t>
            </a:r>
          </a:p>
          <a:p>
            <a:pPr lvl="0"/>
            <a:r>
              <a:rPr lang="es-PE" dirty="0" err="1">
                <a:solidFill>
                  <a:srgbClr val="7030A0"/>
                </a:solidFill>
                <a:latin typeface="Arial Narrow" pitchFamily="34" charset="0"/>
              </a:rPr>
              <a:t>X11+X21+X31+X41</a:t>
            </a:r>
            <a:r>
              <a:rPr lang="es-PE" dirty="0">
                <a:solidFill>
                  <a:srgbClr val="7030A0"/>
                </a:solidFill>
                <a:latin typeface="Arial Narrow" pitchFamily="34" charset="0"/>
              </a:rPr>
              <a:t> =36</a:t>
            </a:r>
          </a:p>
          <a:p>
            <a:r>
              <a:rPr lang="es-PE" dirty="0" err="1">
                <a:solidFill>
                  <a:srgbClr val="7030A0"/>
                </a:solidFill>
                <a:latin typeface="Arial Narrow" pitchFamily="34" charset="0"/>
              </a:rPr>
              <a:t>X12+X22+X32+X42</a:t>
            </a:r>
            <a:r>
              <a:rPr lang="es-PE" dirty="0">
                <a:solidFill>
                  <a:srgbClr val="7030A0"/>
                </a:solidFill>
                <a:latin typeface="Arial Narrow" pitchFamily="34" charset="0"/>
              </a:rPr>
              <a:t> =42</a:t>
            </a:r>
          </a:p>
          <a:p>
            <a:r>
              <a:rPr lang="es-PE" dirty="0" err="1">
                <a:solidFill>
                  <a:srgbClr val="7030A0"/>
                </a:solidFill>
                <a:latin typeface="Arial Narrow" pitchFamily="34" charset="0"/>
              </a:rPr>
              <a:t>X13+X23+X33</a:t>
            </a:r>
            <a:r>
              <a:rPr lang="es-PE" dirty="0">
                <a:solidFill>
                  <a:srgbClr val="7030A0"/>
                </a:solidFill>
                <a:latin typeface="Arial Narrow" pitchFamily="34" charset="0"/>
              </a:rPr>
              <a:t> =30</a:t>
            </a:r>
          </a:p>
          <a:p>
            <a:r>
              <a:rPr lang="es-PE" dirty="0" err="1">
                <a:solidFill>
                  <a:srgbClr val="7030A0"/>
                </a:solidFill>
                <a:latin typeface="Arial Narrow" pitchFamily="34" charset="0"/>
              </a:rPr>
              <a:t>X14+X24+X34+X44</a:t>
            </a:r>
            <a:r>
              <a:rPr lang="es-PE" dirty="0">
                <a:solidFill>
                  <a:srgbClr val="7030A0"/>
                </a:solidFill>
                <a:latin typeface="Arial Narrow" pitchFamily="34" charset="0"/>
              </a:rPr>
              <a:t> =5</a:t>
            </a:r>
          </a:p>
          <a:p>
            <a:pPr defTabSz="1066800">
              <a:spcBef>
                <a:spcPct val="0"/>
              </a:spcBef>
            </a:pPr>
            <a:endParaRPr lang="es-PE" dirty="0">
              <a:latin typeface="Arial Narrow" panose="020B0606020202030204" pitchFamily="34" charset="0"/>
            </a:endParaRPr>
          </a:p>
        </p:txBody>
      </p:sp>
      <p:sp>
        <p:nvSpPr>
          <p:cNvPr id="11" name="Rectángulo 10">
            <a:extLst>
              <a:ext uri="{FF2B5EF4-FFF2-40B4-BE49-F238E27FC236}">
                <a16:creationId xmlns:a16="http://schemas.microsoft.com/office/drawing/2014/main" id="{A9017A06-8145-46D2-B61E-E65612DCF3AF}"/>
              </a:ext>
            </a:extLst>
          </p:cNvPr>
          <p:cNvSpPr/>
          <p:nvPr/>
        </p:nvSpPr>
        <p:spPr>
          <a:xfrm>
            <a:off x="8335992" y="2665561"/>
            <a:ext cx="3856008" cy="4185761"/>
          </a:xfrm>
          <a:prstGeom prst="rect">
            <a:avLst/>
          </a:prstGeom>
          <a:solidFill>
            <a:schemeClr val="accent2">
              <a:lumMod val="40000"/>
              <a:lumOff val="60000"/>
            </a:schemeClr>
          </a:solidFill>
        </p:spPr>
        <p:txBody>
          <a:bodyPr wrap="square">
            <a:spAutoFit/>
          </a:bodyPr>
          <a:lstStyle/>
          <a:p>
            <a:r>
              <a:rPr lang="es-PE" sz="1400" dirty="0">
                <a:latin typeface="Arial Narrow" panose="020B0606020202030204" pitchFamily="34" charset="0"/>
              </a:rPr>
              <a:t> </a:t>
            </a:r>
            <a:r>
              <a:rPr lang="es-PE" sz="1400" dirty="0" err="1">
                <a:latin typeface="Arial Narrow" panose="020B0606020202030204" pitchFamily="34" charset="0"/>
              </a:rPr>
              <a:t>OBJECTIVE</a:t>
            </a:r>
            <a:r>
              <a:rPr lang="es-PE" sz="1400" dirty="0">
                <a:latin typeface="Arial Narrow" panose="020B0606020202030204" pitchFamily="34" charset="0"/>
              </a:rPr>
              <a:t> </a:t>
            </a:r>
            <a:r>
              <a:rPr lang="es-PE" sz="1400" dirty="0" err="1">
                <a:latin typeface="Arial Narrow" panose="020B0606020202030204" pitchFamily="34" charset="0"/>
              </a:rPr>
              <a:t>FUNCTION</a:t>
            </a:r>
            <a:r>
              <a:rPr lang="es-PE" sz="1400" dirty="0">
                <a:latin typeface="Arial Narrow" panose="020B0606020202030204" pitchFamily="34" charset="0"/>
              </a:rPr>
              <a:t> </a:t>
            </a:r>
            <a:r>
              <a:rPr lang="es-PE" sz="1400" dirty="0" err="1">
                <a:latin typeface="Arial Narrow" panose="020B0606020202030204" pitchFamily="34" charset="0"/>
              </a:rPr>
              <a:t>VALUE</a:t>
            </a:r>
            <a:endParaRPr lang="es-PE" sz="1400" dirty="0">
              <a:latin typeface="Arial Narrow" panose="020B0606020202030204" pitchFamily="34" charset="0"/>
            </a:endParaRPr>
          </a:p>
          <a:p>
            <a:r>
              <a:rPr lang="es-PE" sz="1400" dirty="0">
                <a:latin typeface="Arial Narrow" panose="020B0606020202030204" pitchFamily="34" charset="0"/>
              </a:rPr>
              <a:t>        1)      49710.00</a:t>
            </a:r>
          </a:p>
          <a:p>
            <a:r>
              <a:rPr lang="es-PE" sz="1400" dirty="0">
                <a:latin typeface="Arial Narrow" panose="020B0606020202030204" pitchFamily="34" charset="0"/>
              </a:rPr>
              <a:t>  VARIABLE    </a:t>
            </a:r>
            <a:r>
              <a:rPr lang="es-PE" sz="1400" dirty="0" err="1">
                <a:latin typeface="Arial Narrow" panose="020B0606020202030204" pitchFamily="34" charset="0"/>
              </a:rPr>
              <a:t>VALUE</a:t>
            </a:r>
            <a:r>
              <a:rPr lang="es-PE" sz="1400" dirty="0">
                <a:latin typeface="Arial Narrow" panose="020B0606020202030204" pitchFamily="34" charset="0"/>
              </a:rPr>
              <a:t>      </a:t>
            </a:r>
            <a:r>
              <a:rPr lang="es-PE" sz="1400" dirty="0" err="1">
                <a:latin typeface="Arial Narrow" panose="020B0606020202030204" pitchFamily="34" charset="0"/>
              </a:rPr>
              <a:t>REDUCED</a:t>
            </a:r>
            <a:r>
              <a:rPr lang="es-PE" sz="1400" dirty="0">
                <a:latin typeface="Arial Narrow" panose="020B0606020202030204" pitchFamily="34" charset="0"/>
              </a:rPr>
              <a:t> </a:t>
            </a:r>
            <a:r>
              <a:rPr lang="es-PE" sz="1400" dirty="0" err="1">
                <a:latin typeface="Arial Narrow" panose="020B0606020202030204" pitchFamily="34" charset="0"/>
              </a:rPr>
              <a:t>COST</a:t>
            </a:r>
            <a:endParaRPr lang="es-PE" sz="1400" dirty="0">
              <a:latin typeface="Arial Narrow" panose="020B0606020202030204" pitchFamily="34" charset="0"/>
            </a:endParaRPr>
          </a:p>
          <a:p>
            <a:r>
              <a:rPr lang="es-PE" sz="1400" dirty="0">
                <a:latin typeface="Arial Narrow" panose="020B0606020202030204" pitchFamily="34" charset="0"/>
              </a:rPr>
              <a:t>       </a:t>
            </a:r>
            <a:r>
              <a:rPr lang="es-PE" sz="1400" dirty="0" err="1">
                <a:latin typeface="Arial Narrow" panose="020B0606020202030204" pitchFamily="34" charset="0"/>
              </a:rPr>
              <a:t>X11</a:t>
            </a:r>
            <a:r>
              <a:rPr lang="es-PE" sz="1400" dirty="0">
                <a:latin typeface="Arial Narrow" panose="020B0606020202030204" pitchFamily="34" charset="0"/>
              </a:rPr>
              <a:t>          0.000000        150.000000</a:t>
            </a:r>
          </a:p>
          <a:p>
            <a:r>
              <a:rPr lang="es-PE" sz="1400" dirty="0">
                <a:latin typeface="Arial Narrow" panose="020B0606020202030204" pitchFamily="34" charset="0"/>
              </a:rPr>
              <a:t>       </a:t>
            </a:r>
            <a:r>
              <a:rPr lang="es-PE" sz="1400" dirty="0" err="1">
                <a:latin typeface="Arial Narrow" panose="020B0606020202030204" pitchFamily="34" charset="0"/>
              </a:rPr>
              <a:t>X12</a:t>
            </a:r>
            <a:r>
              <a:rPr lang="es-PE" sz="1400" dirty="0">
                <a:latin typeface="Arial Narrow" panose="020B0606020202030204" pitchFamily="34" charset="0"/>
              </a:rPr>
              <a:t>          0.000000        270.000000</a:t>
            </a:r>
          </a:p>
          <a:p>
            <a:r>
              <a:rPr lang="es-PE" sz="1400" dirty="0">
                <a:latin typeface="Arial Narrow" panose="020B0606020202030204" pitchFamily="34" charset="0"/>
              </a:rPr>
              <a:t>       </a:t>
            </a:r>
            <a:r>
              <a:rPr lang="es-PE" sz="1400" dirty="0" err="1">
                <a:latin typeface="Arial Narrow" panose="020B0606020202030204" pitchFamily="34" charset="0"/>
              </a:rPr>
              <a:t>X13</a:t>
            </a:r>
            <a:r>
              <a:rPr lang="es-PE" sz="1400" dirty="0">
                <a:latin typeface="Arial Narrow" panose="020B0606020202030204" pitchFamily="34" charset="0"/>
              </a:rPr>
              <a:t>        25.000000          0.000000</a:t>
            </a:r>
          </a:p>
          <a:p>
            <a:r>
              <a:rPr lang="es-PE" sz="1400" dirty="0">
                <a:latin typeface="Arial Narrow" panose="020B0606020202030204" pitchFamily="34" charset="0"/>
              </a:rPr>
              <a:t>       </a:t>
            </a:r>
            <a:r>
              <a:rPr lang="es-PE" sz="1400" dirty="0" err="1">
                <a:latin typeface="Arial Narrow" panose="020B0606020202030204" pitchFamily="34" charset="0"/>
              </a:rPr>
              <a:t>X21</a:t>
            </a:r>
            <a:r>
              <a:rPr lang="es-PE" sz="1400" dirty="0">
                <a:latin typeface="Arial Narrow" panose="020B0606020202030204" pitchFamily="34" charset="0"/>
              </a:rPr>
              <a:t>          0.000000          0.000000</a:t>
            </a:r>
          </a:p>
          <a:p>
            <a:r>
              <a:rPr lang="es-PE" sz="1400" dirty="0">
                <a:latin typeface="Arial Narrow" panose="020B0606020202030204" pitchFamily="34" charset="0"/>
              </a:rPr>
              <a:t>       </a:t>
            </a:r>
            <a:r>
              <a:rPr lang="es-PE" sz="1400" dirty="0" err="1">
                <a:latin typeface="Arial Narrow" panose="020B0606020202030204" pitchFamily="34" charset="0"/>
              </a:rPr>
              <a:t>X22</a:t>
            </a:r>
            <a:r>
              <a:rPr lang="es-PE" sz="1400" dirty="0">
                <a:latin typeface="Arial Narrow" panose="020B0606020202030204" pitchFamily="34" charset="0"/>
              </a:rPr>
              <a:t>        40.000000          0.000000</a:t>
            </a:r>
          </a:p>
          <a:p>
            <a:r>
              <a:rPr lang="es-PE" sz="1400" dirty="0">
                <a:latin typeface="Arial Narrow" panose="020B0606020202030204" pitchFamily="34" charset="0"/>
              </a:rPr>
              <a:t>       </a:t>
            </a:r>
            <a:r>
              <a:rPr lang="es-PE" sz="1400" dirty="0" err="1">
                <a:latin typeface="Arial Narrow" panose="020B0606020202030204" pitchFamily="34" charset="0"/>
              </a:rPr>
              <a:t>X23</a:t>
            </a:r>
            <a:r>
              <a:rPr lang="es-PE" sz="1400" dirty="0">
                <a:latin typeface="Arial Narrow" panose="020B0606020202030204" pitchFamily="34" charset="0"/>
              </a:rPr>
              <a:t>          0.000000         80.000000</a:t>
            </a:r>
          </a:p>
          <a:p>
            <a:r>
              <a:rPr lang="es-PE" sz="1400" dirty="0">
                <a:latin typeface="Arial Narrow" panose="020B0606020202030204" pitchFamily="34" charset="0"/>
              </a:rPr>
              <a:t>       </a:t>
            </a:r>
            <a:r>
              <a:rPr lang="es-PE" sz="1400" dirty="0" err="1">
                <a:latin typeface="Arial Narrow" panose="020B0606020202030204" pitchFamily="34" charset="0"/>
              </a:rPr>
              <a:t>X31</a:t>
            </a:r>
            <a:r>
              <a:rPr lang="es-PE" sz="1400" dirty="0">
                <a:latin typeface="Arial Narrow" panose="020B0606020202030204" pitchFamily="34" charset="0"/>
              </a:rPr>
              <a:t>        23.000000          0.000000</a:t>
            </a:r>
          </a:p>
          <a:p>
            <a:r>
              <a:rPr lang="es-PE" sz="1400" dirty="0">
                <a:latin typeface="Arial Narrow" panose="020B0606020202030204" pitchFamily="34" charset="0"/>
              </a:rPr>
              <a:t>       </a:t>
            </a:r>
            <a:r>
              <a:rPr lang="es-PE" sz="1400" dirty="0" err="1">
                <a:latin typeface="Arial Narrow" panose="020B0606020202030204" pitchFamily="34" charset="0"/>
              </a:rPr>
              <a:t>X32</a:t>
            </a:r>
            <a:r>
              <a:rPr lang="es-PE" sz="1400" dirty="0">
                <a:latin typeface="Arial Narrow" panose="020B0606020202030204" pitchFamily="34" charset="0"/>
              </a:rPr>
              <a:t>          2.000000          0.000000</a:t>
            </a:r>
          </a:p>
          <a:p>
            <a:r>
              <a:rPr lang="es-PE" sz="1400" dirty="0">
                <a:latin typeface="Arial Narrow" panose="020B0606020202030204" pitchFamily="34" charset="0"/>
              </a:rPr>
              <a:t>       </a:t>
            </a:r>
            <a:r>
              <a:rPr lang="es-PE" sz="1400" dirty="0" err="1">
                <a:latin typeface="Arial Narrow" panose="020B0606020202030204" pitchFamily="34" charset="0"/>
              </a:rPr>
              <a:t>X33</a:t>
            </a:r>
            <a:r>
              <a:rPr lang="es-PE" sz="1400" dirty="0">
                <a:latin typeface="Arial Narrow" panose="020B0606020202030204" pitchFamily="34" charset="0"/>
              </a:rPr>
              <a:t>          5.000000          0.000000</a:t>
            </a:r>
          </a:p>
          <a:p>
            <a:r>
              <a:rPr lang="es-PE" sz="1400" dirty="0">
                <a:latin typeface="Arial Narrow" panose="020B0606020202030204" pitchFamily="34" charset="0"/>
              </a:rPr>
              <a:t>       </a:t>
            </a:r>
            <a:r>
              <a:rPr lang="es-PE" sz="1400" dirty="0" err="1">
                <a:latin typeface="Arial Narrow" panose="020B0606020202030204" pitchFamily="34" charset="0"/>
              </a:rPr>
              <a:t>X41</a:t>
            </a:r>
            <a:r>
              <a:rPr lang="es-PE" sz="1400" dirty="0">
                <a:latin typeface="Arial Narrow" panose="020B0606020202030204" pitchFamily="34" charset="0"/>
              </a:rPr>
              <a:t>        13.000000          0.000000</a:t>
            </a:r>
          </a:p>
          <a:p>
            <a:r>
              <a:rPr lang="es-PE" sz="1400" dirty="0">
                <a:latin typeface="Arial Narrow" panose="020B0606020202030204" pitchFamily="34" charset="0"/>
              </a:rPr>
              <a:t>       </a:t>
            </a:r>
            <a:r>
              <a:rPr lang="es-PE" sz="1400" dirty="0" err="1">
                <a:latin typeface="Arial Narrow" panose="020B0606020202030204" pitchFamily="34" charset="0"/>
              </a:rPr>
              <a:t>X42</a:t>
            </a:r>
            <a:r>
              <a:rPr lang="es-PE" sz="1400" dirty="0">
                <a:latin typeface="Arial Narrow" panose="020B0606020202030204" pitchFamily="34" charset="0"/>
              </a:rPr>
              <a:t>          0.000000         20.000000</a:t>
            </a:r>
          </a:p>
          <a:p>
            <a:r>
              <a:rPr lang="es-PE" sz="1400" dirty="0">
                <a:latin typeface="Arial Narrow" panose="020B0606020202030204" pitchFamily="34" charset="0"/>
              </a:rPr>
              <a:t>       </a:t>
            </a:r>
            <a:r>
              <a:rPr lang="es-PE" sz="1400" dirty="0" err="1">
                <a:latin typeface="Arial Narrow" panose="020B0606020202030204" pitchFamily="34" charset="0"/>
              </a:rPr>
              <a:t>X14</a:t>
            </a:r>
            <a:r>
              <a:rPr lang="es-PE" sz="1400" dirty="0">
                <a:latin typeface="Arial Narrow" panose="020B0606020202030204" pitchFamily="34" charset="0"/>
              </a:rPr>
              <a:t>          0.000000        550.000000</a:t>
            </a:r>
          </a:p>
          <a:p>
            <a:r>
              <a:rPr lang="es-PE" sz="1400" dirty="0">
                <a:latin typeface="Arial Narrow" panose="020B0606020202030204" pitchFamily="34" charset="0"/>
              </a:rPr>
              <a:t>       </a:t>
            </a:r>
            <a:r>
              <a:rPr lang="es-PE" sz="1400" dirty="0" err="1">
                <a:latin typeface="Arial Narrow" panose="020B0606020202030204" pitchFamily="34" charset="0"/>
              </a:rPr>
              <a:t>X24</a:t>
            </a:r>
            <a:r>
              <a:rPr lang="es-PE" sz="1400" dirty="0">
                <a:latin typeface="Arial Narrow" panose="020B0606020202030204" pitchFamily="34" charset="0"/>
              </a:rPr>
              <a:t>          0.000000        680.000000</a:t>
            </a:r>
          </a:p>
          <a:p>
            <a:r>
              <a:rPr lang="es-PE" sz="1400" dirty="0">
                <a:latin typeface="Arial Narrow" panose="020B0606020202030204" pitchFamily="34" charset="0"/>
              </a:rPr>
              <a:t>       </a:t>
            </a:r>
            <a:r>
              <a:rPr lang="es-PE" sz="1400" dirty="0" err="1">
                <a:latin typeface="Arial Narrow" panose="020B0606020202030204" pitchFamily="34" charset="0"/>
              </a:rPr>
              <a:t>X34</a:t>
            </a:r>
            <a:r>
              <a:rPr lang="es-PE" sz="1400" dirty="0">
                <a:latin typeface="Arial Narrow" panose="020B0606020202030204" pitchFamily="34" charset="0"/>
              </a:rPr>
              <a:t>          0.000000        500.000000</a:t>
            </a:r>
          </a:p>
          <a:p>
            <a:r>
              <a:rPr lang="es-PE" sz="1400" dirty="0">
                <a:latin typeface="Arial Narrow" panose="020B0606020202030204" pitchFamily="34" charset="0"/>
              </a:rPr>
              <a:t>       </a:t>
            </a:r>
            <a:r>
              <a:rPr lang="es-PE" sz="1400" dirty="0" err="1">
                <a:latin typeface="Arial Narrow" panose="020B0606020202030204" pitchFamily="34" charset="0"/>
              </a:rPr>
              <a:t>X43</a:t>
            </a:r>
            <a:r>
              <a:rPr lang="es-PE" sz="1400" dirty="0">
                <a:latin typeface="Arial Narrow" panose="020B0606020202030204" pitchFamily="34" charset="0"/>
              </a:rPr>
              <a:t>          0.000000          0.000000</a:t>
            </a:r>
          </a:p>
          <a:p>
            <a:r>
              <a:rPr lang="es-PE" sz="1400" dirty="0">
                <a:latin typeface="Arial Narrow" panose="020B0606020202030204" pitchFamily="34" charset="0"/>
              </a:rPr>
              <a:t>       </a:t>
            </a:r>
            <a:r>
              <a:rPr lang="es-PE" sz="1400" dirty="0" err="1">
                <a:latin typeface="Arial Narrow" panose="020B0606020202030204" pitchFamily="34" charset="0"/>
              </a:rPr>
              <a:t>X44</a:t>
            </a:r>
            <a:r>
              <a:rPr lang="es-PE" sz="1400" dirty="0">
                <a:latin typeface="Arial Narrow" panose="020B0606020202030204" pitchFamily="34" charset="0"/>
              </a:rPr>
              <a:t>          5.000000          0.000000</a:t>
            </a:r>
          </a:p>
        </p:txBody>
      </p:sp>
    </p:spTree>
    <p:extLst>
      <p:ext uri="{BB962C8B-B14F-4D97-AF65-F5344CB8AC3E}">
        <p14:creationId xmlns:p14="http://schemas.microsoft.com/office/powerpoint/2010/main" val="1818667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animBg="1"/>
      <p:bldP spid="11"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4396781E-3E03-4D3D-BAAB-51184EEAAFE6}"/>
              </a:ext>
            </a:extLst>
          </p:cNvPr>
          <p:cNvGraphicFramePr>
            <a:graphicFrameLocks noGrp="1"/>
          </p:cNvGraphicFramePr>
          <p:nvPr/>
        </p:nvGraphicFramePr>
        <p:xfrm>
          <a:off x="343065" y="1269728"/>
          <a:ext cx="11518259" cy="4149968"/>
        </p:xfrm>
        <a:graphic>
          <a:graphicData uri="http://schemas.openxmlformats.org/drawingml/2006/table">
            <a:tbl>
              <a:tblPr>
                <a:tableStyleId>{3B4B98B0-60AC-42C2-AFA5-B58CD77FA1E5}</a:tableStyleId>
              </a:tblPr>
              <a:tblGrid>
                <a:gridCol w="1023061">
                  <a:extLst>
                    <a:ext uri="{9D8B030D-6E8A-4147-A177-3AD203B41FA5}">
                      <a16:colId xmlns:a16="http://schemas.microsoft.com/office/drawing/2014/main" val="446867410"/>
                    </a:ext>
                  </a:extLst>
                </a:gridCol>
                <a:gridCol w="783724">
                  <a:extLst>
                    <a:ext uri="{9D8B030D-6E8A-4147-A177-3AD203B41FA5}">
                      <a16:colId xmlns:a16="http://schemas.microsoft.com/office/drawing/2014/main" val="1289393979"/>
                    </a:ext>
                  </a:extLst>
                </a:gridCol>
                <a:gridCol w="903393">
                  <a:extLst>
                    <a:ext uri="{9D8B030D-6E8A-4147-A177-3AD203B41FA5}">
                      <a16:colId xmlns:a16="http://schemas.microsoft.com/office/drawing/2014/main" val="2030779850"/>
                    </a:ext>
                  </a:extLst>
                </a:gridCol>
                <a:gridCol w="903393">
                  <a:extLst>
                    <a:ext uri="{9D8B030D-6E8A-4147-A177-3AD203B41FA5}">
                      <a16:colId xmlns:a16="http://schemas.microsoft.com/office/drawing/2014/main" val="3198126947"/>
                    </a:ext>
                  </a:extLst>
                </a:gridCol>
                <a:gridCol w="903393">
                  <a:extLst>
                    <a:ext uri="{9D8B030D-6E8A-4147-A177-3AD203B41FA5}">
                      <a16:colId xmlns:a16="http://schemas.microsoft.com/office/drawing/2014/main" val="4235895309"/>
                    </a:ext>
                  </a:extLst>
                </a:gridCol>
                <a:gridCol w="903393">
                  <a:extLst>
                    <a:ext uri="{9D8B030D-6E8A-4147-A177-3AD203B41FA5}">
                      <a16:colId xmlns:a16="http://schemas.microsoft.com/office/drawing/2014/main" val="3153405606"/>
                    </a:ext>
                  </a:extLst>
                </a:gridCol>
                <a:gridCol w="903393">
                  <a:extLst>
                    <a:ext uri="{9D8B030D-6E8A-4147-A177-3AD203B41FA5}">
                      <a16:colId xmlns:a16="http://schemas.microsoft.com/office/drawing/2014/main" val="861317714"/>
                    </a:ext>
                  </a:extLst>
                </a:gridCol>
                <a:gridCol w="903393">
                  <a:extLst>
                    <a:ext uri="{9D8B030D-6E8A-4147-A177-3AD203B41FA5}">
                      <a16:colId xmlns:a16="http://schemas.microsoft.com/office/drawing/2014/main" val="1348443034"/>
                    </a:ext>
                  </a:extLst>
                </a:gridCol>
                <a:gridCol w="903393">
                  <a:extLst>
                    <a:ext uri="{9D8B030D-6E8A-4147-A177-3AD203B41FA5}">
                      <a16:colId xmlns:a16="http://schemas.microsoft.com/office/drawing/2014/main" val="3043334361"/>
                    </a:ext>
                  </a:extLst>
                </a:gridCol>
                <a:gridCol w="903393">
                  <a:extLst>
                    <a:ext uri="{9D8B030D-6E8A-4147-A177-3AD203B41FA5}">
                      <a16:colId xmlns:a16="http://schemas.microsoft.com/office/drawing/2014/main" val="3491064991"/>
                    </a:ext>
                  </a:extLst>
                </a:gridCol>
                <a:gridCol w="553329">
                  <a:extLst>
                    <a:ext uri="{9D8B030D-6E8A-4147-A177-3AD203B41FA5}">
                      <a16:colId xmlns:a16="http://schemas.microsoft.com/office/drawing/2014/main" val="4271190040"/>
                    </a:ext>
                  </a:extLst>
                </a:gridCol>
                <a:gridCol w="462989">
                  <a:extLst>
                    <a:ext uri="{9D8B030D-6E8A-4147-A177-3AD203B41FA5}">
                      <a16:colId xmlns:a16="http://schemas.microsoft.com/office/drawing/2014/main" val="3543392825"/>
                    </a:ext>
                  </a:extLst>
                </a:gridCol>
                <a:gridCol w="756591">
                  <a:extLst>
                    <a:ext uri="{9D8B030D-6E8A-4147-A177-3AD203B41FA5}">
                      <a16:colId xmlns:a16="http://schemas.microsoft.com/office/drawing/2014/main" val="3487699103"/>
                    </a:ext>
                  </a:extLst>
                </a:gridCol>
                <a:gridCol w="711421">
                  <a:extLst>
                    <a:ext uri="{9D8B030D-6E8A-4147-A177-3AD203B41FA5}">
                      <a16:colId xmlns:a16="http://schemas.microsoft.com/office/drawing/2014/main" val="3340703333"/>
                    </a:ext>
                  </a:extLst>
                </a:gridCol>
              </a:tblGrid>
              <a:tr h="518746">
                <a:tc gridSpan="7">
                  <a:txBody>
                    <a:bodyPr/>
                    <a:lstStyle/>
                    <a:p>
                      <a:pPr algn="ctr" fontAlgn="b"/>
                      <a:r>
                        <a:rPr lang="es-PE" sz="2000" u="none" strike="noStrike" dirty="0" err="1">
                          <a:effectLst/>
                        </a:rPr>
                        <a:t>METODO</a:t>
                      </a:r>
                      <a:r>
                        <a:rPr lang="es-PE" sz="2000" u="none" strike="noStrike" dirty="0">
                          <a:effectLst/>
                        </a:rPr>
                        <a:t> VOGEL</a:t>
                      </a:r>
                      <a:endParaRPr lang="es-PE" sz="2000" b="1" i="0" u="none" strike="noStrike" dirty="0">
                        <a:solidFill>
                          <a:srgbClr val="FFFFFF"/>
                        </a:solidFill>
                        <a:effectLst/>
                        <a:latin typeface="Calibri" panose="020F0502020204030204" pitchFamily="34" charset="0"/>
                      </a:endParaRPr>
                    </a:p>
                  </a:txBody>
                  <a:tcPr marL="9441" marR="9441" marT="9441" marB="0" anchor="b"/>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gridSpan="6">
                  <a:txBody>
                    <a:bodyPr/>
                    <a:lstStyle/>
                    <a:p>
                      <a:pPr algn="l" fontAlgn="b"/>
                      <a:r>
                        <a:rPr lang="es-PE" sz="2000" u="none" strike="noStrike" dirty="0">
                          <a:effectLst/>
                        </a:rPr>
                        <a:t>Mayor Penalidad Menor costo</a:t>
                      </a:r>
                      <a:endParaRPr lang="es-PE" sz="2000" b="1" i="0" u="none" strike="noStrike" dirty="0">
                        <a:solidFill>
                          <a:srgbClr val="FF0000"/>
                        </a:solidFill>
                        <a:effectLst/>
                        <a:latin typeface="Calibri" panose="020F0502020204030204" pitchFamily="34" charset="0"/>
                      </a:endParaRPr>
                    </a:p>
                  </a:txBody>
                  <a:tcPr marL="9441" marR="9441" marT="9441" marB="0" anchor="b"/>
                </a:tc>
                <a:tc hMerge="1">
                  <a:txBody>
                    <a:bodyPr/>
                    <a:lstStyle/>
                    <a:p>
                      <a:pPr algn="l" fontAlgn="b"/>
                      <a:endParaRPr lang="es-PE" sz="2000" b="0" i="0" u="none" strike="noStrike" dirty="0">
                        <a:solidFill>
                          <a:srgbClr val="000000"/>
                        </a:solidFill>
                        <a:effectLst/>
                        <a:latin typeface="Calibri" panose="020F0502020204030204" pitchFamily="34" charset="0"/>
                      </a:endParaRPr>
                    </a:p>
                  </a:txBody>
                  <a:tcPr marL="9441" marR="9441" marT="9441" marB="0" anchor="b"/>
                </a:tc>
                <a:tc hMerge="1">
                  <a:txBody>
                    <a:bodyPr/>
                    <a:lstStyle/>
                    <a:p>
                      <a:pPr algn="l" fontAlgn="b"/>
                      <a:endParaRPr lang="es-PE" sz="2000" b="1" i="0" u="none" strike="noStrike" dirty="0">
                        <a:solidFill>
                          <a:srgbClr val="FF0000"/>
                        </a:solidFill>
                        <a:effectLst/>
                        <a:latin typeface="Calibri" panose="020F0502020204030204" pitchFamily="34" charset="0"/>
                      </a:endParaRPr>
                    </a:p>
                  </a:txBody>
                  <a:tcPr marL="9441" marR="9441" marT="9441" marB="0" anchor="b"/>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311284803"/>
                  </a:ext>
                </a:extLst>
              </a:tr>
              <a:tr h="518746">
                <a:tc>
                  <a:txBody>
                    <a:bodyPr/>
                    <a:lstStyle/>
                    <a:p>
                      <a:pPr algn="ctr" fontAlgn="b"/>
                      <a:r>
                        <a:rPr lang="es-PE" sz="2000" u="none" strike="noStrike" dirty="0">
                          <a:solidFill>
                            <a:schemeClr val="bg1"/>
                          </a:solidFill>
                          <a:effectLst/>
                        </a:rPr>
                        <a:t> </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C1</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C2</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C3</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Ficticia</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Oferta</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P1</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1421922455"/>
                  </a:ext>
                </a:extLst>
              </a:tr>
              <a:tr h="518746">
                <a:tc>
                  <a:txBody>
                    <a:bodyPr/>
                    <a:lstStyle/>
                    <a:p>
                      <a:pPr algn="ctr" fontAlgn="b"/>
                      <a:r>
                        <a:rPr lang="es-PE" sz="2000" u="none" strike="noStrike" dirty="0" err="1">
                          <a:solidFill>
                            <a:schemeClr val="bg1"/>
                          </a:solidFill>
                          <a:effectLst/>
                        </a:rPr>
                        <a:t>P1</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a:effectLst/>
                        </a:rPr>
                        <a:t>600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700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400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dirty="0">
                          <a:solidFill>
                            <a:schemeClr val="bg1"/>
                          </a:solidFill>
                          <a:effectLst/>
                        </a:rPr>
                        <a:t>25</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400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dirty="0">
                        <a:solidFill>
                          <a:srgbClr val="000000"/>
                        </a:solidFill>
                        <a:effectLst/>
                        <a:latin typeface="Calibri" panose="020F0502020204030204" pitchFamily="34" charset="0"/>
                      </a:endParaRPr>
                    </a:p>
                  </a:txBody>
                  <a:tcPr marL="9441" marR="9441" marT="9441" marB="0" anchor="b"/>
                </a:tc>
                <a:tc>
                  <a:txBody>
                    <a:bodyPr/>
                    <a:lstStyle/>
                    <a:p>
                      <a:pPr algn="r" fontAlgn="b"/>
                      <a:r>
                        <a:rPr lang="es-PE" sz="2000" u="none" strike="noStrike">
                          <a:effectLst/>
                        </a:rPr>
                        <a:t>X44=</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5</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r>
                        <a:rPr lang="es-PE" sz="2000" u="none" strike="noStrike">
                          <a:effectLst/>
                        </a:rPr>
                        <a:t>C=</a:t>
                      </a:r>
                      <a:endParaRPr lang="es-PE" sz="2000" b="1"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0</a:t>
                      </a:r>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1094992358"/>
                  </a:ext>
                </a:extLst>
              </a:tr>
              <a:tr h="518746">
                <a:tc>
                  <a:txBody>
                    <a:bodyPr/>
                    <a:lstStyle/>
                    <a:p>
                      <a:pPr algn="ctr" fontAlgn="b"/>
                      <a:r>
                        <a:rPr lang="es-PE" sz="2000" u="none" strike="noStrike" dirty="0" err="1">
                          <a:solidFill>
                            <a:schemeClr val="bg1"/>
                          </a:solidFill>
                          <a:effectLst/>
                        </a:rPr>
                        <a:t>P2</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a:effectLst/>
                        </a:rPr>
                        <a:t>320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300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350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dirty="0">
                          <a:solidFill>
                            <a:schemeClr val="bg1"/>
                          </a:solidFill>
                          <a:effectLst/>
                        </a:rPr>
                        <a:t>40</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300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1021244728"/>
                  </a:ext>
                </a:extLst>
              </a:tr>
              <a:tr h="518746">
                <a:tc>
                  <a:txBody>
                    <a:bodyPr/>
                    <a:lstStyle/>
                    <a:p>
                      <a:pPr algn="ctr" fontAlgn="b"/>
                      <a:r>
                        <a:rPr lang="es-PE" sz="2000" u="none" strike="noStrike" dirty="0" err="1">
                          <a:solidFill>
                            <a:schemeClr val="bg1"/>
                          </a:solidFill>
                          <a:effectLst/>
                        </a:rPr>
                        <a:t>P3</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a:effectLst/>
                        </a:rPr>
                        <a:t>500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480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450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dirty="0">
                          <a:solidFill>
                            <a:schemeClr val="bg1"/>
                          </a:solidFill>
                          <a:effectLst/>
                        </a:rPr>
                        <a:t>30</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450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dirty="0">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458428591"/>
                  </a:ext>
                </a:extLst>
              </a:tr>
              <a:tr h="518746">
                <a:tc>
                  <a:txBody>
                    <a:bodyPr/>
                    <a:lstStyle/>
                    <a:p>
                      <a:pPr algn="ctr" fontAlgn="b"/>
                      <a:r>
                        <a:rPr lang="es-PE" sz="2000" u="none" strike="noStrike" dirty="0" err="1">
                          <a:solidFill>
                            <a:schemeClr val="bg1"/>
                          </a:solidFill>
                          <a:effectLst/>
                        </a:rPr>
                        <a:t>P4</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a:effectLst/>
                        </a:rPr>
                        <a:t>1000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1000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441" marR="9441" marT="9441" marB="0" anchor="b">
                    <a:solidFill>
                      <a:srgbClr val="FFFF00"/>
                    </a:solidFill>
                  </a:tcPr>
                </a:tc>
                <a:tc>
                  <a:txBody>
                    <a:bodyPr/>
                    <a:lstStyle/>
                    <a:p>
                      <a:pPr algn="ctr" fontAlgn="b"/>
                      <a:r>
                        <a:rPr lang="es-PE" sz="2000" u="none" strike="noStrike" dirty="0">
                          <a:solidFill>
                            <a:schemeClr val="bg1"/>
                          </a:solidFill>
                          <a:effectLst/>
                        </a:rPr>
                        <a:t>18/13</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1000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366009961"/>
                  </a:ext>
                </a:extLst>
              </a:tr>
              <a:tr h="518746">
                <a:tc>
                  <a:txBody>
                    <a:bodyPr/>
                    <a:lstStyle/>
                    <a:p>
                      <a:pPr algn="ctr" fontAlgn="b"/>
                      <a:r>
                        <a:rPr lang="es-PE" sz="2000" u="none" strike="noStrike" dirty="0">
                          <a:solidFill>
                            <a:schemeClr val="bg1"/>
                          </a:solidFill>
                          <a:effectLst/>
                        </a:rPr>
                        <a:t>Demanda</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36</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42</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30</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5/0</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 </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4131075832"/>
                  </a:ext>
                </a:extLst>
              </a:tr>
              <a:tr h="518746">
                <a:tc>
                  <a:txBody>
                    <a:bodyPr/>
                    <a:lstStyle/>
                    <a:p>
                      <a:pPr algn="ctr" fontAlgn="b"/>
                      <a:r>
                        <a:rPr lang="es-PE" sz="2000" u="none" strike="noStrike" dirty="0" err="1">
                          <a:solidFill>
                            <a:schemeClr val="bg1"/>
                          </a:solidFill>
                          <a:effectLst/>
                        </a:rPr>
                        <a:t>P1</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50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dirty="0">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2101802280"/>
                  </a:ext>
                </a:extLst>
              </a:tr>
            </a:tbl>
          </a:graphicData>
        </a:graphic>
      </p:graphicFrame>
    </p:spTree>
    <p:extLst>
      <p:ext uri="{BB962C8B-B14F-4D97-AF65-F5344CB8AC3E}">
        <p14:creationId xmlns:p14="http://schemas.microsoft.com/office/powerpoint/2010/main" val="42290935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78714CE7-B2DD-40D8-90CC-0487672D1D18}"/>
              </a:ext>
            </a:extLst>
          </p:cNvPr>
          <p:cNvGraphicFramePr>
            <a:graphicFrameLocks noGrp="1"/>
          </p:cNvGraphicFramePr>
          <p:nvPr/>
        </p:nvGraphicFramePr>
        <p:xfrm>
          <a:off x="345055" y="1268072"/>
          <a:ext cx="11516262" cy="4675527"/>
        </p:xfrm>
        <a:graphic>
          <a:graphicData uri="http://schemas.openxmlformats.org/drawingml/2006/table">
            <a:tbl>
              <a:tblPr>
                <a:tableStyleId>{3B4B98B0-60AC-42C2-AFA5-B58CD77FA1E5}</a:tableStyleId>
              </a:tblPr>
              <a:tblGrid>
                <a:gridCol w="1151627">
                  <a:extLst>
                    <a:ext uri="{9D8B030D-6E8A-4147-A177-3AD203B41FA5}">
                      <a16:colId xmlns:a16="http://schemas.microsoft.com/office/drawing/2014/main" val="3457031121"/>
                    </a:ext>
                  </a:extLst>
                </a:gridCol>
                <a:gridCol w="653666">
                  <a:extLst>
                    <a:ext uri="{9D8B030D-6E8A-4147-A177-3AD203B41FA5}">
                      <a16:colId xmlns:a16="http://schemas.microsoft.com/office/drawing/2014/main" val="3463324515"/>
                    </a:ext>
                  </a:extLst>
                </a:gridCol>
                <a:gridCol w="902646">
                  <a:extLst>
                    <a:ext uri="{9D8B030D-6E8A-4147-A177-3AD203B41FA5}">
                      <a16:colId xmlns:a16="http://schemas.microsoft.com/office/drawing/2014/main" val="646884199"/>
                    </a:ext>
                  </a:extLst>
                </a:gridCol>
                <a:gridCol w="902646">
                  <a:extLst>
                    <a:ext uri="{9D8B030D-6E8A-4147-A177-3AD203B41FA5}">
                      <a16:colId xmlns:a16="http://schemas.microsoft.com/office/drawing/2014/main" val="2520698547"/>
                    </a:ext>
                  </a:extLst>
                </a:gridCol>
                <a:gridCol w="902646">
                  <a:extLst>
                    <a:ext uri="{9D8B030D-6E8A-4147-A177-3AD203B41FA5}">
                      <a16:colId xmlns:a16="http://schemas.microsoft.com/office/drawing/2014/main" val="3125480746"/>
                    </a:ext>
                  </a:extLst>
                </a:gridCol>
                <a:gridCol w="902646">
                  <a:extLst>
                    <a:ext uri="{9D8B030D-6E8A-4147-A177-3AD203B41FA5}">
                      <a16:colId xmlns:a16="http://schemas.microsoft.com/office/drawing/2014/main" val="2339566483"/>
                    </a:ext>
                  </a:extLst>
                </a:gridCol>
                <a:gridCol w="902646">
                  <a:extLst>
                    <a:ext uri="{9D8B030D-6E8A-4147-A177-3AD203B41FA5}">
                      <a16:colId xmlns:a16="http://schemas.microsoft.com/office/drawing/2014/main" val="1090235839"/>
                    </a:ext>
                  </a:extLst>
                </a:gridCol>
                <a:gridCol w="902646">
                  <a:extLst>
                    <a:ext uri="{9D8B030D-6E8A-4147-A177-3AD203B41FA5}">
                      <a16:colId xmlns:a16="http://schemas.microsoft.com/office/drawing/2014/main" val="3376366701"/>
                    </a:ext>
                  </a:extLst>
                </a:gridCol>
                <a:gridCol w="902646">
                  <a:extLst>
                    <a:ext uri="{9D8B030D-6E8A-4147-A177-3AD203B41FA5}">
                      <a16:colId xmlns:a16="http://schemas.microsoft.com/office/drawing/2014/main" val="1919853025"/>
                    </a:ext>
                  </a:extLst>
                </a:gridCol>
                <a:gridCol w="902646">
                  <a:extLst>
                    <a:ext uri="{9D8B030D-6E8A-4147-A177-3AD203B41FA5}">
                      <a16:colId xmlns:a16="http://schemas.microsoft.com/office/drawing/2014/main" val="693810088"/>
                    </a:ext>
                  </a:extLst>
                </a:gridCol>
                <a:gridCol w="556633">
                  <a:extLst>
                    <a:ext uri="{9D8B030D-6E8A-4147-A177-3AD203B41FA5}">
                      <a16:colId xmlns:a16="http://schemas.microsoft.com/office/drawing/2014/main" val="925131012"/>
                    </a:ext>
                  </a:extLst>
                </a:gridCol>
                <a:gridCol w="466367">
                  <a:extLst>
                    <a:ext uri="{9D8B030D-6E8A-4147-A177-3AD203B41FA5}">
                      <a16:colId xmlns:a16="http://schemas.microsoft.com/office/drawing/2014/main" val="1767062744"/>
                    </a:ext>
                  </a:extLst>
                </a:gridCol>
                <a:gridCol w="755967">
                  <a:extLst>
                    <a:ext uri="{9D8B030D-6E8A-4147-A177-3AD203B41FA5}">
                      <a16:colId xmlns:a16="http://schemas.microsoft.com/office/drawing/2014/main" val="1624658954"/>
                    </a:ext>
                  </a:extLst>
                </a:gridCol>
                <a:gridCol w="710834">
                  <a:extLst>
                    <a:ext uri="{9D8B030D-6E8A-4147-A177-3AD203B41FA5}">
                      <a16:colId xmlns:a16="http://schemas.microsoft.com/office/drawing/2014/main" val="4056930489"/>
                    </a:ext>
                  </a:extLst>
                </a:gridCol>
              </a:tblGrid>
              <a:tr h="519503">
                <a:tc gridSpan="7">
                  <a:txBody>
                    <a:bodyPr/>
                    <a:lstStyle/>
                    <a:p>
                      <a:pPr algn="ctr" fontAlgn="b"/>
                      <a:r>
                        <a:rPr lang="es-PE" sz="2000" u="none" strike="noStrike">
                          <a:effectLst/>
                        </a:rPr>
                        <a:t>METODO VOGEL</a:t>
                      </a:r>
                      <a:endParaRPr lang="es-PE" sz="2000" b="1" i="0" u="none" strike="noStrike">
                        <a:solidFill>
                          <a:srgbClr val="FFFFFF"/>
                        </a:solidFill>
                        <a:effectLst/>
                        <a:latin typeface="Calibri" panose="020F0502020204030204" pitchFamily="34" charset="0"/>
                      </a:endParaRPr>
                    </a:p>
                  </a:txBody>
                  <a:tcPr marL="9441" marR="9441" marT="9441" marB="0" anchor="b"/>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u="none" strike="noStrike">
                          <a:effectLst/>
                        </a:rPr>
                        <a:t> </a:t>
                      </a:r>
                      <a:endParaRPr lang="es-PE" sz="2000" b="1" i="0" u="none" strike="noStrike">
                        <a:solidFill>
                          <a:srgbClr val="FFFFFF"/>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346820675"/>
                  </a:ext>
                </a:extLst>
              </a:tr>
              <a:tr h="519503">
                <a:tc>
                  <a:txBody>
                    <a:bodyPr/>
                    <a:lstStyle/>
                    <a:p>
                      <a:pPr algn="ctr" fontAlgn="b"/>
                      <a:r>
                        <a:rPr lang="es-PE" sz="2000" u="none" strike="noStrike" dirty="0">
                          <a:solidFill>
                            <a:schemeClr val="bg1"/>
                          </a:solidFill>
                          <a:effectLst/>
                        </a:rPr>
                        <a:t> </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C1</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C2</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C3</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Ficticia</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Oferta</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P1</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P2</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1" i="0" u="none" strike="noStrike">
                        <a:solidFill>
                          <a:srgbClr val="000000"/>
                        </a:solidFill>
                        <a:effectLst/>
                        <a:latin typeface="Calibri" panose="020F0502020204030204" pitchFamily="34" charset="0"/>
                      </a:endParaRPr>
                    </a:p>
                  </a:txBody>
                  <a:tcPr marL="9441" marR="9441" marT="9441" marB="0" anchor="b"/>
                </a:tc>
                <a:tc>
                  <a:txBody>
                    <a:bodyPr/>
                    <a:lstStyle/>
                    <a:p>
                      <a:pPr algn="r" fontAlgn="b"/>
                      <a:endParaRPr lang="es-PE" sz="2000" b="1"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3471580223"/>
                  </a:ext>
                </a:extLst>
              </a:tr>
              <a:tr h="519503">
                <a:tc>
                  <a:txBody>
                    <a:bodyPr/>
                    <a:lstStyle/>
                    <a:p>
                      <a:pPr algn="ctr" fontAlgn="b"/>
                      <a:r>
                        <a:rPr lang="es-PE" sz="2000" u="none" strike="noStrike" dirty="0" err="1">
                          <a:solidFill>
                            <a:schemeClr val="bg1"/>
                          </a:solidFill>
                          <a:effectLst/>
                        </a:rPr>
                        <a:t>P1</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a:effectLst/>
                        </a:rPr>
                        <a:t>600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700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400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solidFill>
                            <a:schemeClr val="bg1"/>
                          </a:solidFill>
                          <a:effectLst/>
                        </a:rPr>
                        <a:t>25</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400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a:effectLst/>
                        </a:rPr>
                        <a:t>200</a:t>
                      </a:r>
                      <a:endParaRPr lang="es-PE" sz="2000" b="0" i="0" u="none" strike="noStrike">
                        <a:solidFill>
                          <a:srgbClr val="FF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r>
                        <a:rPr lang="es-PE" sz="2000" u="none" strike="noStrike">
                          <a:effectLst/>
                        </a:rPr>
                        <a:t>X44=</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5</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r>
                        <a:rPr lang="es-PE" sz="2000" u="none" strike="noStrike">
                          <a:effectLst/>
                        </a:rPr>
                        <a:t>C=</a:t>
                      </a:r>
                      <a:endParaRPr lang="es-PE" sz="2000" b="1"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0</a:t>
                      </a:r>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797847556"/>
                  </a:ext>
                </a:extLst>
              </a:tr>
              <a:tr h="519503">
                <a:tc>
                  <a:txBody>
                    <a:bodyPr/>
                    <a:lstStyle/>
                    <a:p>
                      <a:pPr algn="ctr" fontAlgn="b"/>
                      <a:r>
                        <a:rPr lang="es-PE" sz="2000" u="none" strike="noStrike" dirty="0" err="1">
                          <a:solidFill>
                            <a:schemeClr val="bg1"/>
                          </a:solidFill>
                          <a:effectLst/>
                        </a:rPr>
                        <a:t>P2</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a:effectLst/>
                        </a:rPr>
                        <a:t>320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300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350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solidFill>
                            <a:schemeClr val="bg1"/>
                          </a:solidFill>
                          <a:effectLst/>
                        </a:rPr>
                        <a:t>40</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300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a:effectLst/>
                        </a:rPr>
                        <a:t>20</a:t>
                      </a:r>
                      <a:endParaRPr lang="es-PE" sz="2000" b="0" i="0" u="none" strike="noStrike">
                        <a:solidFill>
                          <a:srgbClr val="FF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r>
                        <a:rPr lang="es-PE" sz="2000" u="none" strike="noStrike">
                          <a:effectLst/>
                        </a:rPr>
                        <a:t>X41=</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13</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r>
                        <a:rPr lang="es-PE" sz="2000" u="none" strike="noStrike">
                          <a:effectLst/>
                        </a:rPr>
                        <a:t>C=</a:t>
                      </a:r>
                      <a:endParaRPr lang="es-PE" sz="2000" b="1"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13000</a:t>
                      </a:r>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3420694096"/>
                  </a:ext>
                </a:extLst>
              </a:tr>
              <a:tr h="519503">
                <a:tc>
                  <a:txBody>
                    <a:bodyPr/>
                    <a:lstStyle/>
                    <a:p>
                      <a:pPr algn="ctr" fontAlgn="b"/>
                      <a:r>
                        <a:rPr lang="es-PE" sz="2000" u="none" strike="noStrike" dirty="0" err="1">
                          <a:solidFill>
                            <a:schemeClr val="bg1"/>
                          </a:solidFill>
                          <a:effectLst/>
                        </a:rPr>
                        <a:t>P3</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a:effectLst/>
                        </a:rPr>
                        <a:t>500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480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450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solidFill>
                            <a:schemeClr val="bg1"/>
                          </a:solidFill>
                          <a:effectLst/>
                        </a:rPr>
                        <a:t>30</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450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a:effectLst/>
                        </a:rPr>
                        <a:t>30</a:t>
                      </a:r>
                      <a:endParaRPr lang="es-PE" sz="2000" b="0" i="0" u="none" strike="noStrike">
                        <a:solidFill>
                          <a:srgbClr val="FF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3172245098"/>
                  </a:ext>
                </a:extLst>
              </a:tr>
              <a:tr h="519503">
                <a:tc>
                  <a:txBody>
                    <a:bodyPr/>
                    <a:lstStyle/>
                    <a:p>
                      <a:pPr algn="ctr" fontAlgn="b"/>
                      <a:r>
                        <a:rPr lang="es-PE" sz="2000" u="none" strike="noStrike" dirty="0" err="1">
                          <a:solidFill>
                            <a:schemeClr val="bg1"/>
                          </a:solidFill>
                          <a:effectLst/>
                        </a:rPr>
                        <a:t>P4</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1000</a:t>
                      </a:r>
                      <a:endParaRPr lang="es-PE" sz="2000" b="0" i="0" u="none" strike="noStrike" dirty="0">
                        <a:solidFill>
                          <a:srgbClr val="000000"/>
                        </a:solidFill>
                        <a:effectLst/>
                        <a:latin typeface="Calibri" panose="020F0502020204030204" pitchFamily="34" charset="0"/>
                      </a:endParaRPr>
                    </a:p>
                  </a:txBody>
                  <a:tcPr marL="9441" marR="9441" marT="9441" marB="0" anchor="b">
                    <a:solidFill>
                      <a:srgbClr val="FFFF00"/>
                    </a:solidFill>
                  </a:tcPr>
                </a:tc>
                <a:tc>
                  <a:txBody>
                    <a:bodyPr/>
                    <a:lstStyle/>
                    <a:p>
                      <a:pPr algn="ctr" fontAlgn="b"/>
                      <a:r>
                        <a:rPr lang="es-PE" sz="2000" u="none" strike="noStrike">
                          <a:effectLst/>
                        </a:rPr>
                        <a:t>1000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solidFill>
                            <a:schemeClr val="bg1"/>
                          </a:solidFill>
                          <a:effectLst/>
                        </a:rPr>
                        <a:t>18/13/0</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1000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a:effectLst/>
                        </a:rPr>
                        <a:t>1000</a:t>
                      </a:r>
                      <a:endParaRPr lang="es-PE" sz="2000" b="0" i="0" u="none" strike="noStrike">
                        <a:solidFill>
                          <a:srgbClr val="FF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dirty="0">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554228734"/>
                  </a:ext>
                </a:extLst>
              </a:tr>
              <a:tr h="519503">
                <a:tc>
                  <a:txBody>
                    <a:bodyPr/>
                    <a:lstStyle/>
                    <a:p>
                      <a:pPr algn="ctr" fontAlgn="b"/>
                      <a:r>
                        <a:rPr lang="es-PE" sz="2000" u="none" strike="noStrike" dirty="0">
                          <a:solidFill>
                            <a:schemeClr val="bg1"/>
                          </a:solidFill>
                          <a:effectLst/>
                        </a:rPr>
                        <a:t>Demanda</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36/23</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42</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30</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5/0</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 </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l" fontAlgn="b"/>
                      <a:r>
                        <a:rPr lang="es-PE" sz="2000" u="none" strike="noStrike">
                          <a:effectLst/>
                        </a:rPr>
                        <a:t> </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1183533552"/>
                  </a:ext>
                </a:extLst>
              </a:tr>
              <a:tr h="519503">
                <a:tc>
                  <a:txBody>
                    <a:bodyPr/>
                    <a:lstStyle/>
                    <a:p>
                      <a:pPr algn="ctr" fontAlgn="b"/>
                      <a:r>
                        <a:rPr lang="es-PE" sz="2000" u="none" strike="noStrike" dirty="0" err="1">
                          <a:solidFill>
                            <a:schemeClr val="bg1"/>
                          </a:solidFill>
                          <a:effectLst/>
                        </a:rPr>
                        <a:t>P1</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50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l" fontAlgn="b"/>
                      <a:r>
                        <a:rPr lang="es-PE" sz="2000" u="none" strike="noStrike">
                          <a:effectLst/>
                        </a:rPr>
                        <a:t> </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1097472299"/>
                  </a:ext>
                </a:extLst>
              </a:tr>
              <a:tr h="519503">
                <a:tc>
                  <a:txBody>
                    <a:bodyPr/>
                    <a:lstStyle/>
                    <a:p>
                      <a:pPr algn="ctr" fontAlgn="b"/>
                      <a:r>
                        <a:rPr lang="es-PE" sz="2000" u="none" strike="noStrike" dirty="0" err="1">
                          <a:solidFill>
                            <a:schemeClr val="bg1"/>
                          </a:solidFill>
                          <a:effectLst/>
                        </a:rPr>
                        <a:t>P2</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a:effectLst/>
                        </a:rPr>
                        <a:t>180</a:t>
                      </a:r>
                      <a:endParaRPr lang="es-PE" sz="2000" b="0" i="0" u="none" strike="noStrike">
                        <a:solidFill>
                          <a:srgbClr val="FF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180</a:t>
                      </a:r>
                      <a:endParaRPr lang="es-PE" sz="2000" b="0" i="0" u="none" strike="noStrike">
                        <a:solidFill>
                          <a:srgbClr val="FF0000"/>
                        </a:solidFill>
                        <a:effectLst/>
                        <a:latin typeface="Calibri" panose="020F0502020204030204" pitchFamily="34" charset="0"/>
                      </a:endParaRPr>
                    </a:p>
                  </a:txBody>
                  <a:tcPr marL="9441" marR="9441" marT="9441" marB="0" anchor="b"/>
                </a:tc>
                <a:tc>
                  <a:txBody>
                    <a:bodyPr/>
                    <a:lstStyle/>
                    <a:p>
                      <a:pPr algn="ctr" fontAlgn="b"/>
                      <a:r>
                        <a:rPr lang="es-PE" sz="2000" u="none" strike="noStrike" dirty="0">
                          <a:effectLst/>
                        </a:rPr>
                        <a:t>50</a:t>
                      </a:r>
                      <a:endParaRPr lang="es-PE" sz="2000" b="0" i="0" u="none" strike="noStrike" dirty="0">
                        <a:solidFill>
                          <a:srgbClr val="FF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0</a:t>
                      </a:r>
                      <a:endParaRPr lang="es-PE" sz="2000" b="0" i="0" u="none" strike="noStrike">
                        <a:solidFill>
                          <a:srgbClr val="FF0000"/>
                        </a:solidFill>
                        <a:effectLst/>
                        <a:latin typeface="Calibri" panose="020F0502020204030204" pitchFamily="34" charset="0"/>
                      </a:endParaRPr>
                    </a:p>
                  </a:txBody>
                  <a:tcPr marL="9441" marR="9441" marT="9441" marB="0" anchor="b"/>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 </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dirty="0">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647212769"/>
                  </a:ext>
                </a:extLst>
              </a:tr>
            </a:tbl>
          </a:graphicData>
        </a:graphic>
      </p:graphicFrame>
    </p:spTree>
    <p:extLst>
      <p:ext uri="{BB962C8B-B14F-4D97-AF65-F5344CB8AC3E}">
        <p14:creationId xmlns:p14="http://schemas.microsoft.com/office/powerpoint/2010/main" val="80129272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D486B83E-5389-4065-ABA7-5C8A34819C36}"/>
              </a:ext>
            </a:extLst>
          </p:cNvPr>
          <p:cNvGraphicFramePr>
            <a:graphicFrameLocks noGrp="1"/>
          </p:cNvGraphicFramePr>
          <p:nvPr/>
        </p:nvGraphicFramePr>
        <p:xfrm>
          <a:off x="336434" y="1268073"/>
          <a:ext cx="11516261" cy="5029210"/>
        </p:xfrm>
        <a:graphic>
          <a:graphicData uri="http://schemas.openxmlformats.org/drawingml/2006/table">
            <a:tbl>
              <a:tblPr>
                <a:tableStyleId>{3B4B98B0-60AC-42C2-AFA5-B58CD77FA1E5}</a:tableStyleId>
              </a:tblPr>
              <a:tblGrid>
                <a:gridCol w="1056379">
                  <a:extLst>
                    <a:ext uri="{9D8B030D-6E8A-4147-A177-3AD203B41FA5}">
                      <a16:colId xmlns:a16="http://schemas.microsoft.com/office/drawing/2014/main" val="1114013087"/>
                    </a:ext>
                  </a:extLst>
                </a:gridCol>
                <a:gridCol w="748913">
                  <a:extLst>
                    <a:ext uri="{9D8B030D-6E8A-4147-A177-3AD203B41FA5}">
                      <a16:colId xmlns:a16="http://schemas.microsoft.com/office/drawing/2014/main" val="1581734106"/>
                    </a:ext>
                  </a:extLst>
                </a:gridCol>
                <a:gridCol w="902646">
                  <a:extLst>
                    <a:ext uri="{9D8B030D-6E8A-4147-A177-3AD203B41FA5}">
                      <a16:colId xmlns:a16="http://schemas.microsoft.com/office/drawing/2014/main" val="1888701225"/>
                    </a:ext>
                  </a:extLst>
                </a:gridCol>
                <a:gridCol w="902646">
                  <a:extLst>
                    <a:ext uri="{9D8B030D-6E8A-4147-A177-3AD203B41FA5}">
                      <a16:colId xmlns:a16="http://schemas.microsoft.com/office/drawing/2014/main" val="2784128973"/>
                    </a:ext>
                  </a:extLst>
                </a:gridCol>
                <a:gridCol w="902646">
                  <a:extLst>
                    <a:ext uri="{9D8B030D-6E8A-4147-A177-3AD203B41FA5}">
                      <a16:colId xmlns:a16="http://schemas.microsoft.com/office/drawing/2014/main" val="2971813994"/>
                    </a:ext>
                  </a:extLst>
                </a:gridCol>
                <a:gridCol w="902646">
                  <a:extLst>
                    <a:ext uri="{9D8B030D-6E8A-4147-A177-3AD203B41FA5}">
                      <a16:colId xmlns:a16="http://schemas.microsoft.com/office/drawing/2014/main" val="1549425294"/>
                    </a:ext>
                  </a:extLst>
                </a:gridCol>
                <a:gridCol w="902646">
                  <a:extLst>
                    <a:ext uri="{9D8B030D-6E8A-4147-A177-3AD203B41FA5}">
                      <a16:colId xmlns:a16="http://schemas.microsoft.com/office/drawing/2014/main" val="1712834926"/>
                    </a:ext>
                  </a:extLst>
                </a:gridCol>
                <a:gridCol w="902646">
                  <a:extLst>
                    <a:ext uri="{9D8B030D-6E8A-4147-A177-3AD203B41FA5}">
                      <a16:colId xmlns:a16="http://schemas.microsoft.com/office/drawing/2014/main" val="519165858"/>
                    </a:ext>
                  </a:extLst>
                </a:gridCol>
                <a:gridCol w="902646">
                  <a:extLst>
                    <a:ext uri="{9D8B030D-6E8A-4147-A177-3AD203B41FA5}">
                      <a16:colId xmlns:a16="http://schemas.microsoft.com/office/drawing/2014/main" val="314965741"/>
                    </a:ext>
                  </a:extLst>
                </a:gridCol>
                <a:gridCol w="902646">
                  <a:extLst>
                    <a:ext uri="{9D8B030D-6E8A-4147-A177-3AD203B41FA5}">
                      <a16:colId xmlns:a16="http://schemas.microsoft.com/office/drawing/2014/main" val="2479046777"/>
                    </a:ext>
                  </a:extLst>
                </a:gridCol>
                <a:gridCol w="556633">
                  <a:extLst>
                    <a:ext uri="{9D8B030D-6E8A-4147-A177-3AD203B41FA5}">
                      <a16:colId xmlns:a16="http://schemas.microsoft.com/office/drawing/2014/main" val="763956775"/>
                    </a:ext>
                  </a:extLst>
                </a:gridCol>
                <a:gridCol w="466368">
                  <a:extLst>
                    <a:ext uri="{9D8B030D-6E8A-4147-A177-3AD203B41FA5}">
                      <a16:colId xmlns:a16="http://schemas.microsoft.com/office/drawing/2014/main" val="2675955242"/>
                    </a:ext>
                  </a:extLst>
                </a:gridCol>
                <a:gridCol w="755966">
                  <a:extLst>
                    <a:ext uri="{9D8B030D-6E8A-4147-A177-3AD203B41FA5}">
                      <a16:colId xmlns:a16="http://schemas.microsoft.com/office/drawing/2014/main" val="1986731454"/>
                    </a:ext>
                  </a:extLst>
                </a:gridCol>
                <a:gridCol w="710834">
                  <a:extLst>
                    <a:ext uri="{9D8B030D-6E8A-4147-A177-3AD203B41FA5}">
                      <a16:colId xmlns:a16="http://schemas.microsoft.com/office/drawing/2014/main" val="3955717682"/>
                    </a:ext>
                  </a:extLst>
                </a:gridCol>
              </a:tblGrid>
              <a:tr h="502921">
                <a:tc gridSpan="7">
                  <a:txBody>
                    <a:bodyPr/>
                    <a:lstStyle/>
                    <a:p>
                      <a:pPr algn="ctr" fontAlgn="b"/>
                      <a:r>
                        <a:rPr lang="es-PE" sz="2000" u="none" strike="noStrike">
                          <a:effectLst/>
                        </a:rPr>
                        <a:t>METODO VOGEL</a:t>
                      </a:r>
                      <a:endParaRPr lang="es-PE" sz="2000" b="1" i="0" u="none" strike="noStrike">
                        <a:solidFill>
                          <a:srgbClr val="FFFFFF"/>
                        </a:solidFill>
                        <a:effectLst/>
                        <a:latin typeface="Calibri" panose="020F0502020204030204" pitchFamily="34" charset="0"/>
                      </a:endParaRPr>
                    </a:p>
                  </a:txBody>
                  <a:tcPr marL="9441" marR="9441" marT="9441" marB="0" anchor="b"/>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u="none" strike="noStrike">
                          <a:effectLst/>
                        </a:rPr>
                        <a:t> </a:t>
                      </a:r>
                      <a:endParaRPr lang="es-PE" sz="2000" b="1" i="0" u="none" strike="noStrike">
                        <a:solidFill>
                          <a:srgbClr val="FFFFFF"/>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30062178"/>
                  </a:ext>
                </a:extLst>
              </a:tr>
              <a:tr h="502921">
                <a:tc>
                  <a:txBody>
                    <a:bodyPr/>
                    <a:lstStyle/>
                    <a:p>
                      <a:pPr algn="ctr" fontAlgn="b"/>
                      <a:r>
                        <a:rPr lang="es-PE" sz="2000" u="none" strike="noStrike" dirty="0">
                          <a:solidFill>
                            <a:schemeClr val="bg1"/>
                          </a:solidFill>
                          <a:effectLst/>
                        </a:rPr>
                        <a:t> </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C1</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C2</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C3</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Ficticia</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Oferta</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P1</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P2</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P3</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r>
                        <a:rPr lang="es-PE" sz="2000" u="none" strike="noStrike">
                          <a:effectLst/>
                        </a:rPr>
                        <a:t>X44=</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5</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r>
                        <a:rPr lang="es-PE" sz="2000" u="none" strike="noStrike">
                          <a:effectLst/>
                        </a:rPr>
                        <a:t>C=</a:t>
                      </a:r>
                      <a:endParaRPr lang="es-PE" sz="2000" b="1"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0</a:t>
                      </a:r>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749522424"/>
                  </a:ext>
                </a:extLst>
              </a:tr>
              <a:tr h="502921">
                <a:tc>
                  <a:txBody>
                    <a:bodyPr/>
                    <a:lstStyle/>
                    <a:p>
                      <a:pPr algn="ctr" fontAlgn="b"/>
                      <a:r>
                        <a:rPr lang="es-PE" sz="2000" u="none" strike="noStrike" dirty="0" err="1">
                          <a:solidFill>
                            <a:schemeClr val="bg1"/>
                          </a:solidFill>
                          <a:effectLst/>
                        </a:rPr>
                        <a:t>P1</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600</a:t>
                      </a:r>
                      <a:endParaRPr lang="es-PE" sz="2000" b="0" i="0" u="none" strike="noStrike" dirty="0">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dirty="0">
                          <a:effectLst/>
                        </a:rPr>
                        <a:t>700</a:t>
                      </a:r>
                      <a:endParaRPr lang="es-PE" sz="2000" b="0" i="0" u="none" strike="noStrike" dirty="0">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dirty="0">
                          <a:effectLst/>
                        </a:rPr>
                        <a:t>400</a:t>
                      </a:r>
                      <a:endParaRPr lang="es-PE" sz="2000" b="0" i="0" u="none" strike="noStrike" dirty="0">
                        <a:solidFill>
                          <a:srgbClr val="000000"/>
                        </a:solidFill>
                        <a:effectLst/>
                        <a:latin typeface="Calibri" panose="020F0502020204030204" pitchFamily="34" charset="0"/>
                      </a:endParaRPr>
                    </a:p>
                  </a:txBody>
                  <a:tcPr marL="9441" marR="9441" marT="9441"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solidFill>
                            <a:schemeClr val="bg1"/>
                          </a:solidFill>
                          <a:effectLst/>
                        </a:rPr>
                        <a:t>25/0</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400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200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200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r>
                        <a:rPr lang="es-PE" sz="2000" u="none" strike="noStrike">
                          <a:effectLst/>
                        </a:rPr>
                        <a:t>X41=</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13</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r>
                        <a:rPr lang="es-PE" sz="2000" u="none" strike="noStrike">
                          <a:effectLst/>
                        </a:rPr>
                        <a:t>C=</a:t>
                      </a:r>
                      <a:endParaRPr lang="es-PE" sz="2000" b="1"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13000</a:t>
                      </a:r>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1765335322"/>
                  </a:ext>
                </a:extLst>
              </a:tr>
              <a:tr h="502921">
                <a:tc>
                  <a:txBody>
                    <a:bodyPr/>
                    <a:lstStyle/>
                    <a:p>
                      <a:pPr algn="ctr" fontAlgn="b"/>
                      <a:r>
                        <a:rPr lang="es-PE" sz="2000" u="none" strike="noStrike" dirty="0" err="1">
                          <a:solidFill>
                            <a:schemeClr val="bg1"/>
                          </a:solidFill>
                          <a:effectLst/>
                        </a:rPr>
                        <a:t>P2</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a:effectLst/>
                        </a:rPr>
                        <a:t>320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300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dirty="0">
                          <a:effectLst/>
                        </a:rPr>
                        <a:t>350</a:t>
                      </a:r>
                      <a:endParaRPr lang="es-PE" sz="2000" b="0" i="0" u="none" strike="noStrike" dirty="0">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solidFill>
                            <a:schemeClr val="bg1"/>
                          </a:solidFill>
                          <a:effectLst/>
                        </a:rPr>
                        <a:t>40</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300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20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20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r>
                        <a:rPr lang="es-PE" sz="2000" u="none" strike="noStrike">
                          <a:effectLst/>
                        </a:rPr>
                        <a:t>X13=</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25</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r>
                        <a:rPr lang="es-PE" sz="2000" u="none" strike="noStrike">
                          <a:effectLst/>
                        </a:rPr>
                        <a:t>C=</a:t>
                      </a:r>
                      <a:endParaRPr lang="es-PE" sz="2000" b="1"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10000</a:t>
                      </a:r>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4256738491"/>
                  </a:ext>
                </a:extLst>
              </a:tr>
              <a:tr h="502921">
                <a:tc>
                  <a:txBody>
                    <a:bodyPr/>
                    <a:lstStyle/>
                    <a:p>
                      <a:pPr algn="ctr" fontAlgn="b"/>
                      <a:r>
                        <a:rPr lang="es-PE" sz="2000" u="none" strike="noStrike" dirty="0" err="1">
                          <a:solidFill>
                            <a:schemeClr val="bg1"/>
                          </a:solidFill>
                          <a:effectLst/>
                        </a:rPr>
                        <a:t>P3</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a:effectLst/>
                        </a:rPr>
                        <a:t>500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480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450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solidFill>
                            <a:schemeClr val="bg1"/>
                          </a:solidFill>
                          <a:effectLst/>
                        </a:rPr>
                        <a:t>30</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450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30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30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1038714133"/>
                  </a:ext>
                </a:extLst>
              </a:tr>
              <a:tr h="502921">
                <a:tc>
                  <a:txBody>
                    <a:bodyPr/>
                    <a:lstStyle/>
                    <a:p>
                      <a:pPr algn="ctr" fontAlgn="b"/>
                      <a:r>
                        <a:rPr lang="es-PE" sz="2000" u="none" strike="noStrike" dirty="0" err="1">
                          <a:solidFill>
                            <a:schemeClr val="bg1"/>
                          </a:solidFill>
                          <a:effectLst/>
                        </a:rPr>
                        <a:t>P4</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1000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effectLst/>
                        </a:rPr>
                        <a:t>1000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effectLst/>
                        </a:rPr>
                        <a:t>-</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solidFill>
                            <a:schemeClr val="bg1"/>
                          </a:solidFill>
                          <a:effectLst/>
                        </a:rPr>
                        <a:t>18/13/0</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1000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1000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50161888"/>
                  </a:ext>
                </a:extLst>
              </a:tr>
              <a:tr h="502921">
                <a:tc>
                  <a:txBody>
                    <a:bodyPr/>
                    <a:lstStyle/>
                    <a:p>
                      <a:pPr algn="ctr" fontAlgn="b"/>
                      <a:r>
                        <a:rPr lang="es-PE" sz="2000" u="none" strike="noStrike" dirty="0">
                          <a:solidFill>
                            <a:schemeClr val="bg1"/>
                          </a:solidFill>
                          <a:effectLst/>
                        </a:rPr>
                        <a:t>Demanda</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36/23</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42</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 30/5</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5/0</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 </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2507431097"/>
                  </a:ext>
                </a:extLst>
              </a:tr>
              <a:tr h="502921">
                <a:tc>
                  <a:txBody>
                    <a:bodyPr/>
                    <a:lstStyle/>
                    <a:p>
                      <a:pPr algn="ctr" fontAlgn="b"/>
                      <a:r>
                        <a:rPr lang="es-PE" sz="2000" u="none" strike="noStrike" dirty="0" err="1">
                          <a:solidFill>
                            <a:schemeClr val="bg1"/>
                          </a:solidFill>
                          <a:effectLst/>
                        </a:rPr>
                        <a:t>P1</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50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dirty="0">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2914030732"/>
                  </a:ext>
                </a:extLst>
              </a:tr>
              <a:tr h="502921">
                <a:tc>
                  <a:txBody>
                    <a:bodyPr/>
                    <a:lstStyle/>
                    <a:p>
                      <a:pPr algn="ctr" fontAlgn="b"/>
                      <a:r>
                        <a:rPr lang="es-PE" sz="2000" u="none" strike="noStrike" dirty="0" err="1">
                          <a:solidFill>
                            <a:schemeClr val="bg1"/>
                          </a:solidFill>
                          <a:effectLst/>
                        </a:rPr>
                        <a:t>P2</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50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3330763474"/>
                  </a:ext>
                </a:extLst>
              </a:tr>
              <a:tr h="502921">
                <a:tc>
                  <a:txBody>
                    <a:bodyPr/>
                    <a:lstStyle/>
                    <a:p>
                      <a:pPr algn="ctr" fontAlgn="b"/>
                      <a:r>
                        <a:rPr lang="es-PE" sz="2000" u="none" strike="noStrike" dirty="0" err="1">
                          <a:solidFill>
                            <a:schemeClr val="bg1"/>
                          </a:solidFill>
                          <a:effectLst/>
                        </a:rPr>
                        <a:t>P3</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ctr" fontAlgn="b"/>
                      <a:r>
                        <a:rPr lang="es-PE" sz="2000" u="none" strike="noStrike" dirty="0">
                          <a:effectLst/>
                        </a:rPr>
                        <a:t>50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ctr" fontAlgn="b"/>
                      <a:r>
                        <a:rPr lang="es-PE" sz="2000" u="none" strike="noStrike" dirty="0">
                          <a:effectLst/>
                        </a:rPr>
                        <a:t>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dirty="0">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4097416914"/>
                  </a:ext>
                </a:extLst>
              </a:tr>
            </a:tbl>
          </a:graphicData>
        </a:graphic>
      </p:graphicFrame>
    </p:spTree>
    <p:extLst>
      <p:ext uri="{BB962C8B-B14F-4D97-AF65-F5344CB8AC3E}">
        <p14:creationId xmlns:p14="http://schemas.microsoft.com/office/powerpoint/2010/main" val="16780258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38B11A0F-A851-4E95-A1B3-C51B711F1974}"/>
              </a:ext>
            </a:extLst>
          </p:cNvPr>
          <p:cNvGraphicFramePr>
            <a:graphicFrameLocks noGrp="1"/>
          </p:cNvGraphicFramePr>
          <p:nvPr/>
        </p:nvGraphicFramePr>
        <p:xfrm>
          <a:off x="345057" y="1268069"/>
          <a:ext cx="11516264" cy="5236253"/>
        </p:xfrm>
        <a:graphic>
          <a:graphicData uri="http://schemas.openxmlformats.org/drawingml/2006/table">
            <a:tbl>
              <a:tblPr>
                <a:tableStyleId>{3B4B98B0-60AC-42C2-AFA5-B58CD77FA1E5}</a:tableStyleId>
              </a:tblPr>
              <a:tblGrid>
                <a:gridCol w="1100501">
                  <a:extLst>
                    <a:ext uri="{9D8B030D-6E8A-4147-A177-3AD203B41FA5}">
                      <a16:colId xmlns:a16="http://schemas.microsoft.com/office/drawing/2014/main" val="2912286021"/>
                    </a:ext>
                  </a:extLst>
                </a:gridCol>
                <a:gridCol w="704791">
                  <a:extLst>
                    <a:ext uri="{9D8B030D-6E8A-4147-A177-3AD203B41FA5}">
                      <a16:colId xmlns:a16="http://schemas.microsoft.com/office/drawing/2014/main" val="639192093"/>
                    </a:ext>
                  </a:extLst>
                </a:gridCol>
                <a:gridCol w="902646">
                  <a:extLst>
                    <a:ext uri="{9D8B030D-6E8A-4147-A177-3AD203B41FA5}">
                      <a16:colId xmlns:a16="http://schemas.microsoft.com/office/drawing/2014/main" val="3821138515"/>
                    </a:ext>
                  </a:extLst>
                </a:gridCol>
                <a:gridCol w="902646">
                  <a:extLst>
                    <a:ext uri="{9D8B030D-6E8A-4147-A177-3AD203B41FA5}">
                      <a16:colId xmlns:a16="http://schemas.microsoft.com/office/drawing/2014/main" val="3289254083"/>
                    </a:ext>
                  </a:extLst>
                </a:gridCol>
                <a:gridCol w="902646">
                  <a:extLst>
                    <a:ext uri="{9D8B030D-6E8A-4147-A177-3AD203B41FA5}">
                      <a16:colId xmlns:a16="http://schemas.microsoft.com/office/drawing/2014/main" val="3819181333"/>
                    </a:ext>
                  </a:extLst>
                </a:gridCol>
                <a:gridCol w="902646">
                  <a:extLst>
                    <a:ext uri="{9D8B030D-6E8A-4147-A177-3AD203B41FA5}">
                      <a16:colId xmlns:a16="http://schemas.microsoft.com/office/drawing/2014/main" val="3663706051"/>
                    </a:ext>
                  </a:extLst>
                </a:gridCol>
                <a:gridCol w="902646">
                  <a:extLst>
                    <a:ext uri="{9D8B030D-6E8A-4147-A177-3AD203B41FA5}">
                      <a16:colId xmlns:a16="http://schemas.microsoft.com/office/drawing/2014/main" val="1084706436"/>
                    </a:ext>
                  </a:extLst>
                </a:gridCol>
                <a:gridCol w="902646">
                  <a:extLst>
                    <a:ext uri="{9D8B030D-6E8A-4147-A177-3AD203B41FA5}">
                      <a16:colId xmlns:a16="http://schemas.microsoft.com/office/drawing/2014/main" val="3512047950"/>
                    </a:ext>
                  </a:extLst>
                </a:gridCol>
                <a:gridCol w="902646">
                  <a:extLst>
                    <a:ext uri="{9D8B030D-6E8A-4147-A177-3AD203B41FA5}">
                      <a16:colId xmlns:a16="http://schemas.microsoft.com/office/drawing/2014/main" val="102244329"/>
                    </a:ext>
                  </a:extLst>
                </a:gridCol>
                <a:gridCol w="902646">
                  <a:extLst>
                    <a:ext uri="{9D8B030D-6E8A-4147-A177-3AD203B41FA5}">
                      <a16:colId xmlns:a16="http://schemas.microsoft.com/office/drawing/2014/main" val="458002697"/>
                    </a:ext>
                  </a:extLst>
                </a:gridCol>
                <a:gridCol w="556633">
                  <a:extLst>
                    <a:ext uri="{9D8B030D-6E8A-4147-A177-3AD203B41FA5}">
                      <a16:colId xmlns:a16="http://schemas.microsoft.com/office/drawing/2014/main" val="2211481108"/>
                    </a:ext>
                  </a:extLst>
                </a:gridCol>
                <a:gridCol w="466369">
                  <a:extLst>
                    <a:ext uri="{9D8B030D-6E8A-4147-A177-3AD203B41FA5}">
                      <a16:colId xmlns:a16="http://schemas.microsoft.com/office/drawing/2014/main" val="1536695733"/>
                    </a:ext>
                  </a:extLst>
                </a:gridCol>
                <a:gridCol w="755967">
                  <a:extLst>
                    <a:ext uri="{9D8B030D-6E8A-4147-A177-3AD203B41FA5}">
                      <a16:colId xmlns:a16="http://schemas.microsoft.com/office/drawing/2014/main" val="1753878813"/>
                    </a:ext>
                  </a:extLst>
                </a:gridCol>
                <a:gridCol w="710835">
                  <a:extLst>
                    <a:ext uri="{9D8B030D-6E8A-4147-A177-3AD203B41FA5}">
                      <a16:colId xmlns:a16="http://schemas.microsoft.com/office/drawing/2014/main" val="663474158"/>
                    </a:ext>
                  </a:extLst>
                </a:gridCol>
              </a:tblGrid>
              <a:tr h="476023">
                <a:tc gridSpan="7">
                  <a:txBody>
                    <a:bodyPr/>
                    <a:lstStyle/>
                    <a:p>
                      <a:pPr algn="ctr" fontAlgn="b"/>
                      <a:r>
                        <a:rPr lang="es-PE" sz="2000" u="none" strike="noStrike">
                          <a:effectLst/>
                        </a:rPr>
                        <a:t>METODO VOGEL</a:t>
                      </a:r>
                      <a:endParaRPr lang="es-PE" sz="2000" b="1" i="0" u="none" strike="noStrike">
                        <a:solidFill>
                          <a:srgbClr val="FFFFFF"/>
                        </a:solidFill>
                        <a:effectLst/>
                        <a:latin typeface="Calibri" panose="020F0502020204030204" pitchFamily="34" charset="0"/>
                      </a:endParaRPr>
                    </a:p>
                  </a:txBody>
                  <a:tcPr marL="9441" marR="9441" marT="9441" marB="0" anchor="b"/>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u="none" strike="noStrike">
                          <a:effectLst/>
                        </a:rPr>
                        <a:t> </a:t>
                      </a:r>
                      <a:endParaRPr lang="es-PE" sz="2000" b="1" i="0" u="none" strike="noStrike">
                        <a:solidFill>
                          <a:srgbClr val="FFFFFF"/>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1380281843"/>
                  </a:ext>
                </a:extLst>
              </a:tr>
              <a:tr h="476023">
                <a:tc>
                  <a:txBody>
                    <a:bodyPr/>
                    <a:lstStyle/>
                    <a:p>
                      <a:pPr algn="ctr" fontAlgn="b"/>
                      <a:r>
                        <a:rPr lang="es-PE" sz="2000" u="none" strike="noStrike" dirty="0">
                          <a:solidFill>
                            <a:schemeClr val="bg1"/>
                          </a:solidFill>
                          <a:effectLst/>
                        </a:rPr>
                        <a:t> </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C1</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C2</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C3</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Ficticia</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Oferta</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P1</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P2</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P3</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P4</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r" fontAlgn="b"/>
                      <a:r>
                        <a:rPr lang="es-PE" sz="2000" u="none" strike="noStrike">
                          <a:effectLst/>
                        </a:rPr>
                        <a:t>X44=</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5</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r>
                        <a:rPr lang="es-PE" sz="2000" u="none" strike="noStrike">
                          <a:effectLst/>
                        </a:rPr>
                        <a:t>C=</a:t>
                      </a:r>
                      <a:endParaRPr lang="es-PE" sz="2000" b="1"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0</a:t>
                      </a:r>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2214057766"/>
                  </a:ext>
                </a:extLst>
              </a:tr>
              <a:tr h="476023">
                <a:tc>
                  <a:txBody>
                    <a:bodyPr/>
                    <a:lstStyle/>
                    <a:p>
                      <a:pPr algn="ctr" fontAlgn="b"/>
                      <a:r>
                        <a:rPr lang="es-PE" sz="2000" u="none" strike="noStrike" dirty="0" err="1">
                          <a:solidFill>
                            <a:schemeClr val="bg1"/>
                          </a:solidFill>
                          <a:effectLst/>
                        </a:rPr>
                        <a:t>P1</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600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effectLst/>
                        </a:rPr>
                        <a:t>700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effectLst/>
                        </a:rPr>
                        <a:t>400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solidFill>
                            <a:schemeClr val="bg1"/>
                          </a:solidFill>
                          <a:effectLst/>
                        </a:rPr>
                        <a:t>25/0</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400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200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200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ctr" fontAlgn="b"/>
                      <a:r>
                        <a:rPr lang="es-PE" sz="2000" u="none" strike="noStrike" dirty="0">
                          <a:effectLst/>
                        </a:rPr>
                        <a:t>-</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r" fontAlgn="b"/>
                      <a:r>
                        <a:rPr lang="es-PE" sz="2000" u="none" strike="noStrike">
                          <a:effectLst/>
                        </a:rPr>
                        <a:t>X41=</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13</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r>
                        <a:rPr lang="es-PE" sz="2000" u="none" strike="noStrike">
                          <a:effectLst/>
                        </a:rPr>
                        <a:t>C=</a:t>
                      </a:r>
                      <a:endParaRPr lang="es-PE" sz="2000" b="1"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13000</a:t>
                      </a:r>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4208050337"/>
                  </a:ext>
                </a:extLst>
              </a:tr>
              <a:tr h="476023">
                <a:tc>
                  <a:txBody>
                    <a:bodyPr/>
                    <a:lstStyle/>
                    <a:p>
                      <a:pPr algn="ctr" fontAlgn="b"/>
                      <a:r>
                        <a:rPr lang="es-PE" sz="2000" u="none" strike="noStrike" dirty="0" err="1">
                          <a:solidFill>
                            <a:schemeClr val="bg1"/>
                          </a:solidFill>
                          <a:effectLst/>
                        </a:rPr>
                        <a:t>P2</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a:effectLst/>
                        </a:rPr>
                        <a:t>320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dirty="0">
                          <a:effectLst/>
                        </a:rPr>
                        <a:t>300</a:t>
                      </a:r>
                      <a:endParaRPr lang="es-PE" sz="2000" b="0" i="0" u="none" strike="noStrike" dirty="0">
                        <a:solidFill>
                          <a:srgbClr val="000000"/>
                        </a:solidFill>
                        <a:effectLst/>
                        <a:latin typeface="Calibri" panose="020F0502020204030204" pitchFamily="34" charset="0"/>
                      </a:endParaRPr>
                    </a:p>
                  </a:txBody>
                  <a:tcPr marL="9441" marR="9441" marT="9441" marB="0" anchor="b">
                    <a:solidFill>
                      <a:srgbClr val="FFFF00"/>
                    </a:solidFill>
                  </a:tcPr>
                </a:tc>
                <a:tc>
                  <a:txBody>
                    <a:bodyPr/>
                    <a:lstStyle/>
                    <a:p>
                      <a:pPr algn="ctr" fontAlgn="b"/>
                      <a:r>
                        <a:rPr lang="es-PE" sz="2000" u="none" strike="noStrike">
                          <a:effectLst/>
                        </a:rPr>
                        <a:t>350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solidFill>
                            <a:schemeClr val="bg1"/>
                          </a:solidFill>
                          <a:effectLst/>
                        </a:rPr>
                        <a:t>40/0</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300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20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20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ctr" fontAlgn="b"/>
                      <a:r>
                        <a:rPr lang="es-PE" sz="2000" u="none" strike="noStrike">
                          <a:effectLst/>
                        </a:rPr>
                        <a:t>20</a:t>
                      </a:r>
                      <a:endParaRPr lang="es-PE" sz="2000" b="0" i="0" u="none" strike="noStrike">
                        <a:solidFill>
                          <a:srgbClr val="FF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r" fontAlgn="b"/>
                      <a:r>
                        <a:rPr lang="es-PE" sz="2000" u="none" strike="noStrike">
                          <a:effectLst/>
                        </a:rPr>
                        <a:t>X13=</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25</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r>
                        <a:rPr lang="es-PE" sz="2000" u="none" strike="noStrike">
                          <a:effectLst/>
                        </a:rPr>
                        <a:t>C=</a:t>
                      </a:r>
                      <a:endParaRPr lang="es-PE" sz="2000" b="1"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10000</a:t>
                      </a:r>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3173110244"/>
                  </a:ext>
                </a:extLst>
              </a:tr>
              <a:tr h="476023">
                <a:tc>
                  <a:txBody>
                    <a:bodyPr/>
                    <a:lstStyle/>
                    <a:p>
                      <a:pPr algn="ctr" fontAlgn="b"/>
                      <a:r>
                        <a:rPr lang="es-PE" sz="2000" u="none" strike="noStrike" dirty="0" err="1">
                          <a:solidFill>
                            <a:schemeClr val="bg1"/>
                          </a:solidFill>
                          <a:effectLst/>
                        </a:rPr>
                        <a:t>P3</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a:effectLst/>
                        </a:rPr>
                        <a:t>500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480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450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solidFill>
                            <a:schemeClr val="bg1"/>
                          </a:solidFill>
                          <a:effectLst/>
                        </a:rPr>
                        <a:t>30</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450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30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30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ctr" fontAlgn="b"/>
                      <a:r>
                        <a:rPr lang="es-PE" sz="2000" u="none" strike="noStrike">
                          <a:effectLst/>
                        </a:rPr>
                        <a:t>30</a:t>
                      </a:r>
                      <a:endParaRPr lang="es-PE" sz="2000" b="0" i="0" u="none" strike="noStrike">
                        <a:solidFill>
                          <a:srgbClr val="FF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r" fontAlgn="b"/>
                      <a:r>
                        <a:rPr lang="es-PE" sz="2000" u="none" strike="noStrike">
                          <a:effectLst/>
                        </a:rPr>
                        <a:t>X22=</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40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r>
                        <a:rPr lang="es-PE" sz="2000" u="none" strike="noStrike">
                          <a:effectLst/>
                        </a:rPr>
                        <a:t>C=</a:t>
                      </a:r>
                      <a:endParaRPr lang="es-PE" sz="2000" b="1"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12000</a:t>
                      </a:r>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3851266680"/>
                  </a:ext>
                </a:extLst>
              </a:tr>
              <a:tr h="476023">
                <a:tc>
                  <a:txBody>
                    <a:bodyPr/>
                    <a:lstStyle/>
                    <a:p>
                      <a:pPr algn="ctr" fontAlgn="b"/>
                      <a:r>
                        <a:rPr lang="es-PE" sz="2000" u="none" strike="noStrike" dirty="0" err="1">
                          <a:solidFill>
                            <a:schemeClr val="bg1"/>
                          </a:solidFill>
                          <a:effectLst/>
                        </a:rPr>
                        <a:t>P4</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1000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effectLst/>
                        </a:rPr>
                        <a:t>1000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effectLst/>
                        </a:rPr>
                        <a:t>-</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solidFill>
                            <a:schemeClr val="bg1"/>
                          </a:solidFill>
                          <a:effectLst/>
                        </a:rPr>
                        <a:t>18/13/0</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1000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1000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ctr" fontAlgn="b"/>
                      <a:r>
                        <a:rPr lang="es-PE" sz="2000" u="none" strike="noStrike" dirty="0">
                          <a:effectLst/>
                        </a:rPr>
                        <a:t>-</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r"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4082390685"/>
                  </a:ext>
                </a:extLst>
              </a:tr>
              <a:tr h="476023">
                <a:tc>
                  <a:txBody>
                    <a:bodyPr/>
                    <a:lstStyle/>
                    <a:p>
                      <a:pPr algn="ctr" fontAlgn="b"/>
                      <a:r>
                        <a:rPr lang="es-PE" sz="2000" u="none" strike="noStrike" dirty="0">
                          <a:solidFill>
                            <a:schemeClr val="bg1"/>
                          </a:solidFill>
                          <a:effectLst/>
                        </a:rPr>
                        <a:t>Demanda</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36/23</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42/2</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 30/5</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5/0</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 </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r"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1320227772"/>
                  </a:ext>
                </a:extLst>
              </a:tr>
              <a:tr h="476023">
                <a:tc>
                  <a:txBody>
                    <a:bodyPr/>
                    <a:lstStyle/>
                    <a:p>
                      <a:pPr algn="ctr" fontAlgn="b"/>
                      <a:r>
                        <a:rPr lang="es-PE" sz="2000" u="none" strike="noStrike" dirty="0" err="1">
                          <a:solidFill>
                            <a:schemeClr val="bg1"/>
                          </a:solidFill>
                          <a:effectLst/>
                        </a:rPr>
                        <a:t>P1</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50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r"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3228651992"/>
                  </a:ext>
                </a:extLst>
              </a:tr>
              <a:tr h="476023">
                <a:tc>
                  <a:txBody>
                    <a:bodyPr/>
                    <a:lstStyle/>
                    <a:p>
                      <a:pPr algn="ctr" fontAlgn="b"/>
                      <a:r>
                        <a:rPr lang="es-PE" sz="2000" u="none" strike="noStrike" dirty="0" err="1">
                          <a:solidFill>
                            <a:schemeClr val="bg1"/>
                          </a:solidFill>
                          <a:effectLst/>
                        </a:rPr>
                        <a:t>P2</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50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r"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1952152646"/>
                  </a:ext>
                </a:extLst>
              </a:tr>
              <a:tr h="476023">
                <a:tc>
                  <a:txBody>
                    <a:bodyPr/>
                    <a:lstStyle/>
                    <a:p>
                      <a:pPr algn="ctr" fontAlgn="b"/>
                      <a:r>
                        <a:rPr lang="es-PE" sz="2000" u="none" strike="noStrike" dirty="0" err="1">
                          <a:solidFill>
                            <a:schemeClr val="bg1"/>
                          </a:solidFill>
                          <a:effectLst/>
                        </a:rPr>
                        <a:t>P3</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ctr" fontAlgn="b"/>
                      <a:r>
                        <a:rPr lang="es-PE" sz="2000" u="none" strike="noStrike" dirty="0">
                          <a:effectLst/>
                        </a:rPr>
                        <a:t>50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ctr" fontAlgn="b"/>
                      <a:r>
                        <a:rPr lang="es-PE" sz="2000" u="none" strike="noStrike" dirty="0">
                          <a:effectLst/>
                        </a:rPr>
                        <a:t>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r"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696432283"/>
                  </a:ext>
                </a:extLst>
              </a:tr>
              <a:tr h="476023">
                <a:tc>
                  <a:txBody>
                    <a:bodyPr/>
                    <a:lstStyle/>
                    <a:p>
                      <a:pPr algn="ctr" fontAlgn="b"/>
                      <a:r>
                        <a:rPr lang="es-PE" sz="2000" u="none" strike="noStrike" dirty="0" err="1">
                          <a:solidFill>
                            <a:schemeClr val="bg1"/>
                          </a:solidFill>
                          <a:effectLst/>
                        </a:rPr>
                        <a:t>P4</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ctr" fontAlgn="b"/>
                      <a:r>
                        <a:rPr lang="es-PE" sz="2000" u="none" strike="noStrike" dirty="0">
                          <a:effectLst/>
                        </a:rPr>
                        <a:t>100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ctr" fontAlgn="b"/>
                      <a:r>
                        <a:rPr lang="es-PE" sz="2000" u="none" strike="noStrike" dirty="0">
                          <a:effectLst/>
                        </a:rPr>
                        <a:t>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r"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dirty="0">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1038486666"/>
                  </a:ext>
                </a:extLst>
              </a:tr>
            </a:tbl>
          </a:graphicData>
        </a:graphic>
      </p:graphicFrame>
    </p:spTree>
    <p:extLst>
      <p:ext uri="{BB962C8B-B14F-4D97-AF65-F5344CB8AC3E}">
        <p14:creationId xmlns:p14="http://schemas.microsoft.com/office/powerpoint/2010/main" val="28019873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1EAC9687-399C-4679-BAE0-C7594FD1C50A}"/>
              </a:ext>
            </a:extLst>
          </p:cNvPr>
          <p:cNvGraphicFramePr>
            <a:graphicFrameLocks noGrp="1"/>
          </p:cNvGraphicFramePr>
          <p:nvPr/>
        </p:nvGraphicFramePr>
        <p:xfrm>
          <a:off x="345056" y="1268082"/>
          <a:ext cx="11507637" cy="5287997"/>
        </p:xfrm>
        <a:graphic>
          <a:graphicData uri="http://schemas.openxmlformats.org/drawingml/2006/table">
            <a:tbl>
              <a:tblPr>
                <a:tableStyleId>{3B4B98B0-60AC-42C2-AFA5-B58CD77FA1E5}</a:tableStyleId>
              </a:tblPr>
              <a:tblGrid>
                <a:gridCol w="1130061">
                  <a:extLst>
                    <a:ext uri="{9D8B030D-6E8A-4147-A177-3AD203B41FA5}">
                      <a16:colId xmlns:a16="http://schemas.microsoft.com/office/drawing/2014/main" val="3553168434"/>
                    </a:ext>
                  </a:extLst>
                </a:gridCol>
                <a:gridCol w="673879">
                  <a:extLst>
                    <a:ext uri="{9D8B030D-6E8A-4147-A177-3AD203B41FA5}">
                      <a16:colId xmlns:a16="http://schemas.microsoft.com/office/drawing/2014/main" val="1247056479"/>
                    </a:ext>
                  </a:extLst>
                </a:gridCol>
                <a:gridCol w="901970">
                  <a:extLst>
                    <a:ext uri="{9D8B030D-6E8A-4147-A177-3AD203B41FA5}">
                      <a16:colId xmlns:a16="http://schemas.microsoft.com/office/drawing/2014/main" val="3864064841"/>
                    </a:ext>
                  </a:extLst>
                </a:gridCol>
                <a:gridCol w="901970">
                  <a:extLst>
                    <a:ext uri="{9D8B030D-6E8A-4147-A177-3AD203B41FA5}">
                      <a16:colId xmlns:a16="http://schemas.microsoft.com/office/drawing/2014/main" val="3935147592"/>
                    </a:ext>
                  </a:extLst>
                </a:gridCol>
                <a:gridCol w="901970">
                  <a:extLst>
                    <a:ext uri="{9D8B030D-6E8A-4147-A177-3AD203B41FA5}">
                      <a16:colId xmlns:a16="http://schemas.microsoft.com/office/drawing/2014/main" val="3929692185"/>
                    </a:ext>
                  </a:extLst>
                </a:gridCol>
                <a:gridCol w="901970">
                  <a:extLst>
                    <a:ext uri="{9D8B030D-6E8A-4147-A177-3AD203B41FA5}">
                      <a16:colId xmlns:a16="http://schemas.microsoft.com/office/drawing/2014/main" val="364599240"/>
                    </a:ext>
                  </a:extLst>
                </a:gridCol>
                <a:gridCol w="901970">
                  <a:extLst>
                    <a:ext uri="{9D8B030D-6E8A-4147-A177-3AD203B41FA5}">
                      <a16:colId xmlns:a16="http://schemas.microsoft.com/office/drawing/2014/main" val="1648084406"/>
                    </a:ext>
                  </a:extLst>
                </a:gridCol>
                <a:gridCol w="901970">
                  <a:extLst>
                    <a:ext uri="{9D8B030D-6E8A-4147-A177-3AD203B41FA5}">
                      <a16:colId xmlns:a16="http://schemas.microsoft.com/office/drawing/2014/main" val="842936659"/>
                    </a:ext>
                  </a:extLst>
                </a:gridCol>
                <a:gridCol w="901970">
                  <a:extLst>
                    <a:ext uri="{9D8B030D-6E8A-4147-A177-3AD203B41FA5}">
                      <a16:colId xmlns:a16="http://schemas.microsoft.com/office/drawing/2014/main" val="3024198759"/>
                    </a:ext>
                  </a:extLst>
                </a:gridCol>
                <a:gridCol w="901970">
                  <a:extLst>
                    <a:ext uri="{9D8B030D-6E8A-4147-A177-3AD203B41FA5}">
                      <a16:colId xmlns:a16="http://schemas.microsoft.com/office/drawing/2014/main" val="3448730772"/>
                    </a:ext>
                  </a:extLst>
                </a:gridCol>
                <a:gridCol w="556216">
                  <a:extLst>
                    <a:ext uri="{9D8B030D-6E8A-4147-A177-3AD203B41FA5}">
                      <a16:colId xmlns:a16="http://schemas.microsoft.com/office/drawing/2014/main" val="214060693"/>
                    </a:ext>
                  </a:extLst>
                </a:gridCol>
                <a:gridCol w="466019">
                  <a:extLst>
                    <a:ext uri="{9D8B030D-6E8A-4147-A177-3AD203B41FA5}">
                      <a16:colId xmlns:a16="http://schemas.microsoft.com/office/drawing/2014/main" val="1290392962"/>
                    </a:ext>
                  </a:extLst>
                </a:gridCol>
                <a:gridCol w="755400">
                  <a:extLst>
                    <a:ext uri="{9D8B030D-6E8A-4147-A177-3AD203B41FA5}">
                      <a16:colId xmlns:a16="http://schemas.microsoft.com/office/drawing/2014/main" val="531436734"/>
                    </a:ext>
                  </a:extLst>
                </a:gridCol>
                <a:gridCol w="710302">
                  <a:extLst>
                    <a:ext uri="{9D8B030D-6E8A-4147-A177-3AD203B41FA5}">
                      <a16:colId xmlns:a16="http://schemas.microsoft.com/office/drawing/2014/main" val="385504600"/>
                    </a:ext>
                  </a:extLst>
                </a:gridCol>
              </a:tblGrid>
              <a:tr h="480727">
                <a:tc gridSpan="7">
                  <a:txBody>
                    <a:bodyPr/>
                    <a:lstStyle/>
                    <a:p>
                      <a:pPr algn="ctr" fontAlgn="b"/>
                      <a:r>
                        <a:rPr lang="es-PE" sz="2000" u="none" strike="noStrike">
                          <a:effectLst/>
                        </a:rPr>
                        <a:t>METODO VOGEL</a:t>
                      </a:r>
                      <a:endParaRPr lang="es-PE" sz="2000" b="1" i="0" u="none" strike="noStrike">
                        <a:solidFill>
                          <a:srgbClr val="FFFFFF"/>
                        </a:solidFill>
                        <a:effectLst/>
                        <a:latin typeface="Calibri" panose="020F0502020204030204" pitchFamily="34" charset="0"/>
                      </a:endParaRPr>
                    </a:p>
                  </a:txBody>
                  <a:tcPr marL="9441" marR="9441" marT="9441" marB="0" anchor="b"/>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u="none" strike="noStrike">
                          <a:effectLst/>
                        </a:rPr>
                        <a:t> </a:t>
                      </a:r>
                      <a:endParaRPr lang="es-PE" sz="2000" b="1" i="0" u="none" strike="noStrike">
                        <a:solidFill>
                          <a:srgbClr val="FFFFFF"/>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1386795046"/>
                  </a:ext>
                </a:extLst>
              </a:tr>
              <a:tr h="480727">
                <a:tc>
                  <a:txBody>
                    <a:bodyPr/>
                    <a:lstStyle/>
                    <a:p>
                      <a:pPr algn="ctr" fontAlgn="b"/>
                      <a:r>
                        <a:rPr lang="es-PE" sz="2000" u="none" strike="noStrike" dirty="0">
                          <a:solidFill>
                            <a:schemeClr val="bg1"/>
                          </a:solidFill>
                          <a:effectLst/>
                        </a:rPr>
                        <a:t> </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C1</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C2</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C3</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Ficticia</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Oferta</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P1</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P2</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P3</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err="1">
                          <a:solidFill>
                            <a:schemeClr val="bg1"/>
                          </a:solidFill>
                          <a:effectLst/>
                        </a:rPr>
                        <a:t>P4</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r" fontAlgn="b"/>
                      <a:r>
                        <a:rPr lang="es-PE" sz="2000" u="none" strike="noStrike">
                          <a:effectLst/>
                        </a:rPr>
                        <a:t>X44=</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5</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r>
                        <a:rPr lang="es-PE" sz="2000" u="none" strike="noStrike">
                          <a:effectLst/>
                        </a:rPr>
                        <a:t>C=</a:t>
                      </a:r>
                      <a:endParaRPr lang="es-PE" sz="2000" b="1"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0</a:t>
                      </a:r>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2147844308"/>
                  </a:ext>
                </a:extLst>
              </a:tr>
              <a:tr h="480727">
                <a:tc>
                  <a:txBody>
                    <a:bodyPr/>
                    <a:lstStyle/>
                    <a:p>
                      <a:pPr algn="ctr" fontAlgn="b"/>
                      <a:r>
                        <a:rPr lang="es-PE" sz="2000" u="none" strike="noStrike" dirty="0" err="1">
                          <a:solidFill>
                            <a:schemeClr val="bg1"/>
                          </a:solidFill>
                          <a:effectLst/>
                        </a:rPr>
                        <a:t>P1</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600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effectLst/>
                        </a:rPr>
                        <a:t>700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effectLst/>
                        </a:rPr>
                        <a:t>400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solidFill>
                            <a:schemeClr val="bg1"/>
                          </a:solidFill>
                          <a:effectLst/>
                        </a:rPr>
                        <a:t>25/0</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400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200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200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ctr" fontAlgn="b"/>
                      <a:r>
                        <a:rPr lang="es-PE" sz="2000" u="none" strike="noStrike" dirty="0">
                          <a:effectLst/>
                        </a:rPr>
                        <a:t>-</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r" fontAlgn="b"/>
                      <a:r>
                        <a:rPr lang="es-PE" sz="2000" u="none" strike="noStrike">
                          <a:effectLst/>
                        </a:rPr>
                        <a:t>X41=</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13</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r>
                        <a:rPr lang="es-PE" sz="2000" u="none" strike="noStrike">
                          <a:effectLst/>
                        </a:rPr>
                        <a:t>C=</a:t>
                      </a:r>
                      <a:endParaRPr lang="es-PE" sz="2000" b="1"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13000</a:t>
                      </a:r>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3325678367"/>
                  </a:ext>
                </a:extLst>
              </a:tr>
              <a:tr h="480727">
                <a:tc>
                  <a:txBody>
                    <a:bodyPr/>
                    <a:lstStyle/>
                    <a:p>
                      <a:pPr algn="ctr" fontAlgn="b"/>
                      <a:r>
                        <a:rPr lang="es-PE" sz="2000" u="none" strike="noStrike" dirty="0" err="1">
                          <a:solidFill>
                            <a:schemeClr val="bg1"/>
                          </a:solidFill>
                          <a:effectLst/>
                        </a:rPr>
                        <a:t>P2</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a:effectLst/>
                        </a:rPr>
                        <a:t>320</a:t>
                      </a:r>
                      <a:endParaRPr lang="es-PE" sz="2000" b="0" i="0" u="none" strike="noStrike">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effectLst/>
                        </a:rPr>
                        <a:t>300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effectLst/>
                        </a:rPr>
                        <a:t>350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solidFill>
                            <a:schemeClr val="bg1"/>
                          </a:solidFill>
                          <a:effectLst/>
                        </a:rPr>
                        <a:t>40/0</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300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20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20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ctr" fontAlgn="b"/>
                      <a:r>
                        <a:rPr lang="es-PE" sz="2000" u="none" strike="noStrike" dirty="0">
                          <a:effectLst/>
                        </a:rPr>
                        <a:t>20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r" fontAlgn="b"/>
                      <a:r>
                        <a:rPr lang="es-PE" sz="2000" u="none" strike="noStrike">
                          <a:effectLst/>
                        </a:rPr>
                        <a:t>X13=</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25</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r>
                        <a:rPr lang="es-PE" sz="2000" u="none" strike="noStrike">
                          <a:effectLst/>
                        </a:rPr>
                        <a:t>C=</a:t>
                      </a:r>
                      <a:endParaRPr lang="es-PE" sz="2000" b="1"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10000</a:t>
                      </a:r>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2030203452"/>
                  </a:ext>
                </a:extLst>
              </a:tr>
              <a:tr h="480727">
                <a:tc>
                  <a:txBody>
                    <a:bodyPr/>
                    <a:lstStyle/>
                    <a:p>
                      <a:pPr algn="ctr" fontAlgn="b"/>
                      <a:r>
                        <a:rPr lang="es-PE" sz="2000" u="none" strike="noStrike" dirty="0" err="1">
                          <a:solidFill>
                            <a:schemeClr val="bg1"/>
                          </a:solidFill>
                          <a:effectLst/>
                        </a:rPr>
                        <a:t>P3</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a:effectLst/>
                        </a:rPr>
                        <a:t>500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480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a:effectLst/>
                        </a:rPr>
                        <a:t>450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solidFill>
                            <a:schemeClr val="bg1"/>
                          </a:solidFill>
                          <a:effectLst/>
                        </a:rPr>
                        <a:t>30</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450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30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30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ctr" fontAlgn="b"/>
                      <a:r>
                        <a:rPr lang="es-PE" sz="2000" u="none" strike="noStrike" dirty="0">
                          <a:effectLst/>
                        </a:rPr>
                        <a:t>30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r" fontAlgn="b"/>
                      <a:r>
                        <a:rPr lang="es-PE" sz="2000" u="none" strike="noStrike">
                          <a:effectLst/>
                        </a:rPr>
                        <a:t>X22=</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40</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r>
                        <a:rPr lang="es-PE" sz="2000" u="none" strike="noStrike">
                          <a:effectLst/>
                        </a:rPr>
                        <a:t>C=</a:t>
                      </a:r>
                      <a:endParaRPr lang="es-PE" sz="2000" b="1"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12000</a:t>
                      </a:r>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2357293603"/>
                  </a:ext>
                </a:extLst>
              </a:tr>
              <a:tr h="480727">
                <a:tc>
                  <a:txBody>
                    <a:bodyPr/>
                    <a:lstStyle/>
                    <a:p>
                      <a:pPr algn="ctr" fontAlgn="b"/>
                      <a:r>
                        <a:rPr lang="es-PE" sz="2000" u="none" strike="noStrike" dirty="0" err="1">
                          <a:solidFill>
                            <a:schemeClr val="bg1"/>
                          </a:solidFill>
                          <a:effectLst/>
                        </a:rPr>
                        <a:t>P4</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1000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effectLst/>
                        </a:rPr>
                        <a:t>1000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effectLst/>
                        </a:rPr>
                        <a:t>-</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tx1"/>
                    </a:solidFill>
                  </a:tcPr>
                </a:tc>
                <a:tc>
                  <a:txBody>
                    <a:bodyPr/>
                    <a:lstStyle/>
                    <a:p>
                      <a:pPr algn="ctr" fontAlgn="b"/>
                      <a:r>
                        <a:rPr lang="es-PE" sz="2000" u="none" strike="noStrike" dirty="0">
                          <a:solidFill>
                            <a:schemeClr val="bg1"/>
                          </a:solidFill>
                          <a:effectLst/>
                        </a:rPr>
                        <a:t>18/13/0</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1000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1000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ctr" fontAlgn="b"/>
                      <a:r>
                        <a:rPr lang="es-PE" sz="2000" u="none" strike="noStrike" dirty="0">
                          <a:effectLst/>
                        </a:rPr>
                        <a:t>-</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r" fontAlgn="b"/>
                      <a:r>
                        <a:rPr lang="es-PE" sz="2000" u="none" strike="noStrike">
                          <a:effectLst/>
                        </a:rPr>
                        <a:t>X31=</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23</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r>
                        <a:rPr lang="es-PE" sz="2000" u="none" strike="noStrike">
                          <a:effectLst/>
                        </a:rPr>
                        <a:t>C=</a:t>
                      </a:r>
                      <a:endParaRPr lang="es-PE" sz="2000" b="1"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11500</a:t>
                      </a:r>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3366003359"/>
                  </a:ext>
                </a:extLst>
              </a:tr>
              <a:tr h="480727">
                <a:tc>
                  <a:txBody>
                    <a:bodyPr/>
                    <a:lstStyle/>
                    <a:p>
                      <a:pPr algn="ctr" fontAlgn="b"/>
                      <a:r>
                        <a:rPr lang="es-PE" sz="2000" u="none" strike="noStrike" dirty="0">
                          <a:solidFill>
                            <a:schemeClr val="bg1"/>
                          </a:solidFill>
                          <a:effectLst/>
                        </a:rPr>
                        <a:t>Demanda</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36/23</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42/2</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 30/5</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5/0</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solidFill>
                            <a:schemeClr val="bg1"/>
                          </a:solidFill>
                          <a:effectLst/>
                        </a:rPr>
                        <a:t> </a:t>
                      </a:r>
                      <a:endParaRPr lang="es-PE" sz="2000" b="0"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r" fontAlgn="b"/>
                      <a:r>
                        <a:rPr lang="es-PE" sz="2000" u="none" strike="noStrike">
                          <a:effectLst/>
                        </a:rPr>
                        <a:t>X32=</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2</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r>
                        <a:rPr lang="es-PE" sz="2000" u="none" strike="noStrike">
                          <a:effectLst/>
                        </a:rPr>
                        <a:t>C=</a:t>
                      </a:r>
                      <a:endParaRPr lang="es-PE" sz="2000" b="1"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960</a:t>
                      </a:r>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1002837069"/>
                  </a:ext>
                </a:extLst>
              </a:tr>
              <a:tr h="480727">
                <a:tc>
                  <a:txBody>
                    <a:bodyPr/>
                    <a:lstStyle/>
                    <a:p>
                      <a:pPr algn="ctr" fontAlgn="b"/>
                      <a:r>
                        <a:rPr lang="es-PE" sz="2000" u="none" strike="noStrike" dirty="0" err="1">
                          <a:solidFill>
                            <a:schemeClr val="bg1"/>
                          </a:solidFill>
                          <a:effectLst/>
                        </a:rPr>
                        <a:t>P1</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a:effectLst/>
                        </a:rPr>
                        <a:t>180</a:t>
                      </a:r>
                      <a:endParaRPr lang="es-PE" sz="2000" b="0" i="0" u="none" strike="noStrike">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50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60000"/>
                        <a:lumOff val="4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r" fontAlgn="b"/>
                      <a:r>
                        <a:rPr lang="es-PE" sz="2000" u="none" strike="noStrike">
                          <a:effectLst/>
                        </a:rPr>
                        <a:t>X33=</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5</a:t>
                      </a:r>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r>
                        <a:rPr lang="es-PE" sz="2000" u="none" strike="noStrike">
                          <a:effectLst/>
                        </a:rPr>
                        <a:t>C=</a:t>
                      </a:r>
                      <a:endParaRPr lang="es-PE" sz="2000" b="1"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2250</a:t>
                      </a:r>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404536176"/>
                  </a:ext>
                </a:extLst>
              </a:tr>
              <a:tr h="480727">
                <a:tc>
                  <a:txBody>
                    <a:bodyPr/>
                    <a:lstStyle/>
                    <a:p>
                      <a:pPr algn="ctr" fontAlgn="b"/>
                      <a:r>
                        <a:rPr lang="es-PE" sz="2000" u="none" strike="noStrike" dirty="0" err="1">
                          <a:solidFill>
                            <a:schemeClr val="bg1"/>
                          </a:solidFill>
                          <a:effectLst/>
                        </a:rPr>
                        <a:t>P2</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50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1">
                        <a:lumMod val="20000"/>
                        <a:lumOff val="8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r" fontAlgn="b"/>
                      <a:r>
                        <a:rPr lang="es-PE" sz="2000" u="none" strike="noStrike">
                          <a:effectLst/>
                        </a:rPr>
                        <a:t>TOTAL</a:t>
                      </a:r>
                      <a:endParaRPr lang="es-PE" sz="2000" b="1" i="0" u="none" strike="noStrike">
                        <a:solidFill>
                          <a:srgbClr val="000000"/>
                        </a:solidFill>
                        <a:effectLst/>
                        <a:latin typeface="Calibri" panose="020F0502020204030204" pitchFamily="34" charset="0"/>
                      </a:endParaRPr>
                    </a:p>
                  </a:txBody>
                  <a:tcPr marL="9441" marR="9441" marT="9441" marB="0" anchor="b"/>
                </a:tc>
                <a:tc>
                  <a:txBody>
                    <a:bodyPr/>
                    <a:lstStyle/>
                    <a:p>
                      <a:pPr algn="l" fontAlgn="b"/>
                      <a:r>
                        <a:rPr lang="es-PE" sz="2000" u="none" strike="noStrike">
                          <a:effectLst/>
                        </a:rPr>
                        <a:t>49710</a:t>
                      </a:r>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142356785"/>
                  </a:ext>
                </a:extLst>
              </a:tr>
              <a:tr h="480727">
                <a:tc>
                  <a:txBody>
                    <a:bodyPr/>
                    <a:lstStyle/>
                    <a:p>
                      <a:pPr algn="ctr" fontAlgn="b"/>
                      <a:r>
                        <a:rPr lang="es-PE" sz="2000" u="none" strike="noStrike" dirty="0" err="1">
                          <a:solidFill>
                            <a:schemeClr val="bg1"/>
                          </a:solidFill>
                          <a:effectLst/>
                        </a:rPr>
                        <a:t>P3</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ctr" fontAlgn="b"/>
                      <a:r>
                        <a:rPr lang="es-PE" sz="2000" u="none" strike="noStrike" dirty="0">
                          <a:effectLst/>
                        </a:rPr>
                        <a:t>50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ctr" fontAlgn="b"/>
                      <a:r>
                        <a:rPr lang="es-PE" sz="2000" u="none" strike="noStrike" dirty="0">
                          <a:effectLst/>
                        </a:rPr>
                        <a:t>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40000"/>
                        <a:lumOff val="6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1827156726"/>
                  </a:ext>
                </a:extLst>
              </a:tr>
              <a:tr h="480727">
                <a:tc>
                  <a:txBody>
                    <a:bodyPr/>
                    <a:lstStyle/>
                    <a:p>
                      <a:pPr algn="ctr" fontAlgn="b"/>
                      <a:r>
                        <a:rPr lang="es-PE" sz="2000" u="none" strike="noStrike" dirty="0" err="1">
                          <a:solidFill>
                            <a:schemeClr val="bg1"/>
                          </a:solidFill>
                          <a:effectLst/>
                        </a:rPr>
                        <a:t>P4</a:t>
                      </a:r>
                      <a:endParaRPr lang="es-PE" sz="2000" b="1" i="0" u="none" strike="noStrike" dirty="0">
                        <a:solidFill>
                          <a:schemeClr val="bg1"/>
                        </a:solidFill>
                        <a:effectLst/>
                        <a:latin typeface="Calibri" panose="020F0502020204030204" pitchFamily="34" charset="0"/>
                      </a:endParaRPr>
                    </a:p>
                  </a:txBody>
                  <a:tcPr marL="9441" marR="9441" marT="9441" marB="0" anchor="b">
                    <a:solidFill>
                      <a:schemeClr val="accent1">
                        <a:lumMod val="75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ctr" fontAlgn="b"/>
                      <a:r>
                        <a:rPr lang="es-PE" sz="2000" u="none" strike="noStrike" dirty="0">
                          <a:effectLst/>
                        </a:rPr>
                        <a:t>180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ctr" fontAlgn="b"/>
                      <a:r>
                        <a:rPr lang="es-PE" sz="2000" u="none" strike="noStrike" dirty="0">
                          <a:effectLst/>
                        </a:rPr>
                        <a:t>100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ctr" fontAlgn="b"/>
                      <a:r>
                        <a:rPr lang="es-PE" sz="2000" u="none" strike="noStrike" dirty="0">
                          <a:effectLst/>
                        </a:rPr>
                        <a:t>0</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ctr" fontAlgn="b"/>
                      <a:r>
                        <a:rPr lang="es-PE" sz="2000" u="none" strike="noStrike" dirty="0">
                          <a:effectLst/>
                        </a:rPr>
                        <a:t> </a:t>
                      </a:r>
                      <a:endParaRPr lang="es-PE" sz="2000" b="0" i="0" u="none" strike="noStrike" dirty="0">
                        <a:solidFill>
                          <a:srgbClr val="FF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l" fontAlgn="b"/>
                      <a:r>
                        <a:rPr lang="es-PE" sz="2000" u="none" strike="noStrike" dirty="0">
                          <a:effectLst/>
                        </a:rPr>
                        <a:t> </a:t>
                      </a:r>
                      <a:endParaRPr lang="es-PE" sz="2000" b="0" i="0" u="none" strike="noStrike" dirty="0">
                        <a:solidFill>
                          <a:srgbClr val="000000"/>
                        </a:solidFill>
                        <a:effectLst/>
                        <a:latin typeface="Calibri" panose="020F0502020204030204" pitchFamily="34" charset="0"/>
                      </a:endParaRPr>
                    </a:p>
                  </a:txBody>
                  <a:tcPr marL="9441" marR="9441" marT="9441" marB="0" anchor="b">
                    <a:solidFill>
                      <a:schemeClr val="accent3">
                        <a:lumMod val="20000"/>
                        <a:lumOff val="80000"/>
                      </a:schemeClr>
                    </a:solidFill>
                  </a:tcPr>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a:solidFill>
                          <a:srgbClr val="000000"/>
                        </a:solidFill>
                        <a:effectLst/>
                        <a:latin typeface="Calibri" panose="020F0502020204030204" pitchFamily="34" charset="0"/>
                      </a:endParaRPr>
                    </a:p>
                  </a:txBody>
                  <a:tcPr marL="9441" marR="9441" marT="9441" marB="0" anchor="b"/>
                </a:tc>
                <a:tc>
                  <a:txBody>
                    <a:bodyPr/>
                    <a:lstStyle/>
                    <a:p>
                      <a:pPr algn="l" fontAlgn="b"/>
                      <a:endParaRPr lang="es-PE" sz="2000" b="0" i="0" u="none" strike="noStrike" dirty="0">
                        <a:solidFill>
                          <a:srgbClr val="000000"/>
                        </a:solidFill>
                        <a:effectLst/>
                        <a:latin typeface="Calibri" panose="020F0502020204030204" pitchFamily="34" charset="0"/>
                      </a:endParaRPr>
                    </a:p>
                  </a:txBody>
                  <a:tcPr marL="9441" marR="9441" marT="9441" marB="0" anchor="b"/>
                </a:tc>
                <a:extLst>
                  <a:ext uri="{0D108BD9-81ED-4DB2-BD59-A6C34878D82A}">
                    <a16:rowId xmlns:a16="http://schemas.microsoft.com/office/drawing/2014/main" val="2207241492"/>
                  </a:ext>
                </a:extLst>
              </a:tr>
            </a:tbl>
          </a:graphicData>
        </a:graphic>
      </p:graphicFrame>
    </p:spTree>
    <p:extLst>
      <p:ext uri="{BB962C8B-B14F-4D97-AF65-F5344CB8AC3E}">
        <p14:creationId xmlns:p14="http://schemas.microsoft.com/office/powerpoint/2010/main" val="184455119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adroTexto 10">
            <a:extLst>
              <a:ext uri="{FF2B5EF4-FFF2-40B4-BE49-F238E27FC236}">
                <a16:creationId xmlns:a16="http://schemas.microsoft.com/office/drawing/2014/main" id="{B30FCB24-33C0-4164-B064-9FDA2BD9C537}"/>
              </a:ext>
            </a:extLst>
          </p:cNvPr>
          <p:cNvSpPr txBox="1"/>
          <p:nvPr/>
        </p:nvSpPr>
        <p:spPr>
          <a:xfrm>
            <a:off x="319277" y="1459134"/>
            <a:ext cx="5517931" cy="5078313"/>
          </a:xfrm>
          <a:prstGeom prst="rect">
            <a:avLst/>
          </a:prstGeom>
          <a:noFill/>
        </p:spPr>
        <p:txBody>
          <a:bodyPr wrap="square" rtlCol="0">
            <a:spAutoFit/>
          </a:bodyPr>
          <a:lstStyle/>
          <a:p>
            <a:pPr algn="just"/>
            <a:r>
              <a:rPr lang="es-PE" sz="2000" dirty="0">
                <a:effectLst/>
                <a:latin typeface="Tahoma" panose="020B0604030504040204" pitchFamily="34" charset="0"/>
                <a:ea typeface="Calibri" panose="020F0502020204030204" pitchFamily="34" charset="0"/>
                <a:cs typeface="Times New Roman" panose="02020603050405020304" pitchFamily="18" charset="0"/>
              </a:rPr>
              <a:t>Hay dos presas que suministran agua a tres ciudades.  Cada presa puede suministrar hasta 50 millones de galones de agua por día.  Cada ciudad quisiera recibir 40 millones de galones de agua al día.  Por cada millón de galones de demanda diaria no cumplida, hay una multa.  En la ciudad 1, la multa es de 20 dólares; en la ciudad 2, la multa es de 22 dólares y en la ciudad 3, la multa es de 23 dólares.  En la tabla 4 se muestran los costos para enviar 1 millón de galones de agua desde cada presa hacia la ciudad.  Formule un problema de transporte balanceado que se pueda usar para minimizar la suma de los costos de escases y de transporte.</a:t>
            </a:r>
            <a:endParaRPr lang="es-PE"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s-PE" sz="2400" dirty="0"/>
          </a:p>
        </p:txBody>
      </p:sp>
      <p:pic>
        <p:nvPicPr>
          <p:cNvPr id="13" name="Imagen 12" descr="Tabla&#10;&#10;Descripción generada automáticamente">
            <a:extLst>
              <a:ext uri="{FF2B5EF4-FFF2-40B4-BE49-F238E27FC236}">
                <a16:creationId xmlns:a16="http://schemas.microsoft.com/office/drawing/2014/main" id="{2B69114A-7DE9-416F-B8C1-E6B60DAB01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8656" y="1530693"/>
            <a:ext cx="5684807" cy="1753502"/>
          </a:xfrm>
          <a:prstGeom prst="rect">
            <a:avLst/>
          </a:prstGeom>
        </p:spPr>
      </p:pic>
      <p:pic>
        <p:nvPicPr>
          <p:cNvPr id="3" name="Imagen 2">
            <a:extLst>
              <a:ext uri="{FF2B5EF4-FFF2-40B4-BE49-F238E27FC236}">
                <a16:creationId xmlns:a16="http://schemas.microsoft.com/office/drawing/2014/main" id="{04F7660A-C797-437C-BE38-FDCF961519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08578" y="3979844"/>
            <a:ext cx="5690870" cy="2464088"/>
          </a:xfrm>
          <a:prstGeom prst="rect">
            <a:avLst/>
          </a:prstGeom>
        </p:spPr>
      </p:pic>
      <p:sp>
        <p:nvSpPr>
          <p:cNvPr id="4" name="CuadroTexto 3">
            <a:extLst>
              <a:ext uri="{FF2B5EF4-FFF2-40B4-BE49-F238E27FC236}">
                <a16:creationId xmlns:a16="http://schemas.microsoft.com/office/drawing/2014/main" id="{F0B89909-93CE-4968-BD94-12FEBEC6B98C}"/>
              </a:ext>
            </a:extLst>
          </p:cNvPr>
          <p:cNvSpPr txBox="1"/>
          <p:nvPr/>
        </p:nvSpPr>
        <p:spPr>
          <a:xfrm>
            <a:off x="6400801" y="3536950"/>
            <a:ext cx="1664898" cy="461665"/>
          </a:xfrm>
          <a:prstGeom prst="rect">
            <a:avLst/>
          </a:prstGeom>
          <a:noFill/>
        </p:spPr>
        <p:txBody>
          <a:bodyPr wrap="square" rtlCol="0">
            <a:spAutoFit/>
          </a:bodyPr>
          <a:lstStyle/>
          <a:p>
            <a:r>
              <a:rPr lang="es-ES" sz="2400" dirty="0">
                <a:solidFill>
                  <a:srgbClr val="FF0000"/>
                </a:solidFill>
              </a:rPr>
              <a:t>Solución</a:t>
            </a:r>
            <a:endParaRPr lang="es-PE" sz="2400" dirty="0">
              <a:solidFill>
                <a:srgbClr val="FF0000"/>
              </a:solidFill>
            </a:endParaRPr>
          </a:p>
        </p:txBody>
      </p:sp>
      <p:sp>
        <p:nvSpPr>
          <p:cNvPr id="8" name="Rectangle 2">
            <a:extLst>
              <a:ext uri="{FF2B5EF4-FFF2-40B4-BE49-F238E27FC236}">
                <a16:creationId xmlns:a16="http://schemas.microsoft.com/office/drawing/2014/main" id="{0A785E21-2163-4274-892E-D63D0C48F5A9}"/>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3</a:t>
            </a:r>
          </a:p>
        </p:txBody>
      </p:sp>
    </p:spTree>
    <p:extLst>
      <p:ext uri="{BB962C8B-B14F-4D97-AF65-F5344CB8AC3E}">
        <p14:creationId xmlns:p14="http://schemas.microsoft.com/office/powerpoint/2010/main" val="888304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9F3DC4AD-2E4D-4C2D-8719-18D0304F49D9}"/>
              </a:ext>
            </a:extLst>
          </p:cNvPr>
          <p:cNvSpPr/>
          <p:nvPr/>
        </p:nvSpPr>
        <p:spPr>
          <a:xfrm>
            <a:off x="6299862" y="1362969"/>
            <a:ext cx="5250907" cy="2862322"/>
          </a:xfrm>
          <a:prstGeom prst="rect">
            <a:avLst/>
          </a:prstGeom>
          <a:solidFill>
            <a:srgbClr val="FFFF00"/>
          </a:solidFill>
        </p:spPr>
        <p:txBody>
          <a:bodyPr wrap="square">
            <a:spAutoFit/>
          </a:bodyPr>
          <a:lstStyle/>
          <a:p>
            <a:r>
              <a:rPr lang="es-PE" sz="2000" dirty="0"/>
              <a:t>MIN </a:t>
            </a:r>
            <a:r>
              <a:rPr lang="es-PE" sz="2000" dirty="0" err="1"/>
              <a:t>7X11+8X12+10X13</a:t>
            </a:r>
            <a:r>
              <a:rPr lang="es-PE" sz="2000" dirty="0"/>
              <a:t>+ </a:t>
            </a:r>
            <a:r>
              <a:rPr lang="es-PE" sz="2000" dirty="0" err="1"/>
              <a:t>9X21+7X22</a:t>
            </a:r>
            <a:r>
              <a:rPr lang="es-PE" sz="2000" dirty="0"/>
              <a:t>+ </a:t>
            </a:r>
            <a:r>
              <a:rPr lang="es-PE" sz="2000" dirty="0" err="1"/>
              <a:t>8X23</a:t>
            </a:r>
            <a:r>
              <a:rPr lang="es-PE" sz="2000" dirty="0"/>
              <a:t>+</a:t>
            </a:r>
          </a:p>
          <a:p>
            <a:r>
              <a:rPr lang="es-PE" sz="2000" dirty="0"/>
              <a:t>      </a:t>
            </a:r>
            <a:r>
              <a:rPr lang="es-PE" sz="2000" dirty="0" err="1"/>
              <a:t>20X31+22X32+23X33</a:t>
            </a:r>
            <a:endParaRPr lang="es-PE" sz="2000" dirty="0"/>
          </a:p>
          <a:p>
            <a:r>
              <a:rPr lang="es-PE" sz="2000" dirty="0" err="1"/>
              <a:t>st</a:t>
            </a:r>
            <a:endParaRPr lang="es-PE" sz="2000" dirty="0"/>
          </a:p>
          <a:p>
            <a:r>
              <a:rPr lang="es-PE" sz="2000" dirty="0" err="1"/>
              <a:t>X11+X12+X13</a:t>
            </a:r>
            <a:r>
              <a:rPr lang="es-PE" sz="2000" dirty="0"/>
              <a:t>=50</a:t>
            </a:r>
          </a:p>
          <a:p>
            <a:r>
              <a:rPr lang="es-PE" sz="2000" dirty="0" err="1"/>
              <a:t>X21+X22+X23</a:t>
            </a:r>
            <a:r>
              <a:rPr lang="es-PE" sz="2000" dirty="0"/>
              <a:t>=50</a:t>
            </a:r>
          </a:p>
          <a:p>
            <a:r>
              <a:rPr lang="es-PE" sz="2000" dirty="0" err="1"/>
              <a:t>X31+X32+X33</a:t>
            </a:r>
            <a:r>
              <a:rPr lang="es-PE" sz="2000" dirty="0"/>
              <a:t>=20</a:t>
            </a:r>
          </a:p>
          <a:p>
            <a:r>
              <a:rPr lang="es-PE" sz="2000" dirty="0" err="1"/>
              <a:t>X11+X21+X31</a:t>
            </a:r>
            <a:r>
              <a:rPr lang="es-PE" sz="2000" dirty="0"/>
              <a:t>=40</a:t>
            </a:r>
          </a:p>
          <a:p>
            <a:r>
              <a:rPr lang="es-PE" sz="2000" dirty="0" err="1"/>
              <a:t>X12+X22+X32</a:t>
            </a:r>
            <a:r>
              <a:rPr lang="es-PE" sz="2000" dirty="0"/>
              <a:t>=40</a:t>
            </a:r>
          </a:p>
          <a:p>
            <a:r>
              <a:rPr lang="es-PE" sz="2000" dirty="0" err="1"/>
              <a:t>X13+X23+X33</a:t>
            </a:r>
            <a:r>
              <a:rPr lang="es-PE" sz="2000" dirty="0"/>
              <a:t>=40</a:t>
            </a:r>
          </a:p>
        </p:txBody>
      </p:sp>
      <p:sp>
        <p:nvSpPr>
          <p:cNvPr id="4" name="Rectángulo 3">
            <a:extLst>
              <a:ext uri="{FF2B5EF4-FFF2-40B4-BE49-F238E27FC236}">
                <a16:creationId xmlns:a16="http://schemas.microsoft.com/office/drawing/2014/main" id="{5B8A8FAE-6D4F-44A3-9811-BE2068784438}"/>
              </a:ext>
            </a:extLst>
          </p:cNvPr>
          <p:cNvSpPr/>
          <p:nvPr/>
        </p:nvSpPr>
        <p:spPr>
          <a:xfrm>
            <a:off x="8468248" y="3441680"/>
            <a:ext cx="3723752" cy="3416320"/>
          </a:xfrm>
          <a:prstGeom prst="rect">
            <a:avLst/>
          </a:prstGeom>
          <a:solidFill>
            <a:srgbClr val="FFC000"/>
          </a:solidFill>
        </p:spPr>
        <p:txBody>
          <a:bodyPr wrap="square">
            <a:spAutoFit/>
          </a:bodyPr>
          <a:lstStyle/>
          <a:p>
            <a:r>
              <a:rPr lang="es-PE" b="1" dirty="0">
                <a:latin typeface="Arial Narrow" panose="020B0606020202030204" pitchFamily="34" charset="0"/>
              </a:rPr>
              <a:t> 1)      1170.000</a:t>
            </a:r>
          </a:p>
          <a:p>
            <a:endParaRPr lang="es-PE" b="1" dirty="0">
              <a:latin typeface="Arial Narrow" panose="020B0606020202030204" pitchFamily="34" charset="0"/>
            </a:endParaRPr>
          </a:p>
          <a:p>
            <a:r>
              <a:rPr lang="es-PE" b="1" dirty="0">
                <a:latin typeface="Arial Narrow" panose="020B0606020202030204" pitchFamily="34" charset="0"/>
              </a:rPr>
              <a:t>  VARIABLE   </a:t>
            </a:r>
            <a:r>
              <a:rPr lang="es-PE" b="1" dirty="0" err="1">
                <a:latin typeface="Arial Narrow" panose="020B0606020202030204" pitchFamily="34" charset="0"/>
              </a:rPr>
              <a:t>VALUE</a:t>
            </a:r>
            <a:r>
              <a:rPr lang="es-PE" b="1" dirty="0">
                <a:latin typeface="Arial Narrow" panose="020B0606020202030204" pitchFamily="34" charset="0"/>
              </a:rPr>
              <a:t>    </a:t>
            </a:r>
            <a:r>
              <a:rPr lang="es-PE" b="1" dirty="0" err="1">
                <a:latin typeface="Arial Narrow" panose="020B0606020202030204" pitchFamily="34" charset="0"/>
              </a:rPr>
              <a:t>REDUCED</a:t>
            </a:r>
            <a:r>
              <a:rPr lang="es-PE" b="1" dirty="0">
                <a:latin typeface="Arial Narrow" panose="020B0606020202030204" pitchFamily="34" charset="0"/>
              </a:rPr>
              <a:t> </a:t>
            </a:r>
            <a:r>
              <a:rPr lang="es-PE" b="1" dirty="0" err="1">
                <a:latin typeface="Arial Narrow" panose="020B0606020202030204" pitchFamily="34" charset="0"/>
              </a:rPr>
              <a:t>COST</a:t>
            </a:r>
            <a:endParaRPr lang="es-PE" b="1" dirty="0">
              <a:latin typeface="Arial Narrow" panose="020B0606020202030204" pitchFamily="34" charset="0"/>
            </a:endParaRPr>
          </a:p>
          <a:p>
            <a:r>
              <a:rPr lang="es-PE" b="1" dirty="0">
                <a:latin typeface="Arial Narrow" panose="020B0606020202030204" pitchFamily="34" charset="0"/>
              </a:rPr>
              <a:t>       </a:t>
            </a:r>
            <a:r>
              <a:rPr lang="es-PE" b="1" dirty="0" err="1">
                <a:latin typeface="Arial Narrow" panose="020B0606020202030204" pitchFamily="34" charset="0"/>
              </a:rPr>
              <a:t>X11</a:t>
            </a:r>
            <a:r>
              <a:rPr lang="es-PE" b="1" dirty="0">
                <a:latin typeface="Arial Narrow" panose="020B0606020202030204" pitchFamily="34" charset="0"/>
              </a:rPr>
              <a:t>        20.000000          0.000000</a:t>
            </a:r>
          </a:p>
          <a:p>
            <a:r>
              <a:rPr lang="es-PE" b="1" dirty="0">
                <a:latin typeface="Arial Narrow" panose="020B0606020202030204" pitchFamily="34" charset="0"/>
              </a:rPr>
              <a:t>       </a:t>
            </a:r>
            <a:r>
              <a:rPr lang="es-PE" b="1" dirty="0" err="1">
                <a:latin typeface="Arial Narrow" panose="020B0606020202030204" pitchFamily="34" charset="0"/>
              </a:rPr>
              <a:t>X12</a:t>
            </a:r>
            <a:r>
              <a:rPr lang="es-PE" b="1" dirty="0">
                <a:latin typeface="Arial Narrow" panose="020B0606020202030204" pitchFamily="34" charset="0"/>
              </a:rPr>
              <a:t>        30.000000          0.000000</a:t>
            </a:r>
          </a:p>
          <a:p>
            <a:r>
              <a:rPr lang="es-PE" b="1" dirty="0">
                <a:latin typeface="Arial Narrow" panose="020B0606020202030204" pitchFamily="34" charset="0"/>
              </a:rPr>
              <a:t>       </a:t>
            </a:r>
            <a:r>
              <a:rPr lang="es-PE" b="1" dirty="0" err="1">
                <a:latin typeface="Arial Narrow" panose="020B0606020202030204" pitchFamily="34" charset="0"/>
              </a:rPr>
              <a:t>X13</a:t>
            </a:r>
            <a:r>
              <a:rPr lang="es-PE" b="1" dirty="0">
                <a:latin typeface="Arial Narrow" panose="020B0606020202030204" pitchFamily="34" charset="0"/>
              </a:rPr>
              <a:t>         0.000000          1.000000</a:t>
            </a:r>
          </a:p>
          <a:p>
            <a:r>
              <a:rPr lang="es-PE" b="1" dirty="0">
                <a:latin typeface="Arial Narrow" panose="020B0606020202030204" pitchFamily="34" charset="0"/>
              </a:rPr>
              <a:t>       </a:t>
            </a:r>
            <a:r>
              <a:rPr lang="es-PE" b="1" dirty="0" err="1">
                <a:latin typeface="Arial Narrow" panose="020B0606020202030204" pitchFamily="34" charset="0"/>
              </a:rPr>
              <a:t>X21</a:t>
            </a:r>
            <a:r>
              <a:rPr lang="es-PE" b="1" dirty="0">
                <a:latin typeface="Arial Narrow" panose="020B0606020202030204" pitchFamily="34" charset="0"/>
              </a:rPr>
              <a:t>         0.000000          3.000000</a:t>
            </a:r>
          </a:p>
          <a:p>
            <a:r>
              <a:rPr lang="es-PE" b="1" dirty="0">
                <a:latin typeface="Arial Narrow" panose="020B0606020202030204" pitchFamily="34" charset="0"/>
              </a:rPr>
              <a:t>       </a:t>
            </a:r>
            <a:r>
              <a:rPr lang="es-PE" b="1" dirty="0" err="1">
                <a:latin typeface="Arial Narrow" panose="020B0606020202030204" pitchFamily="34" charset="0"/>
              </a:rPr>
              <a:t>X22</a:t>
            </a:r>
            <a:r>
              <a:rPr lang="es-PE" b="1" dirty="0">
                <a:latin typeface="Arial Narrow" panose="020B0606020202030204" pitchFamily="34" charset="0"/>
              </a:rPr>
              <a:t>        10.000000          0.000000</a:t>
            </a:r>
          </a:p>
          <a:p>
            <a:r>
              <a:rPr lang="es-PE" b="1" dirty="0">
                <a:latin typeface="Arial Narrow" panose="020B0606020202030204" pitchFamily="34" charset="0"/>
              </a:rPr>
              <a:t>       </a:t>
            </a:r>
            <a:r>
              <a:rPr lang="es-PE" b="1" dirty="0" err="1">
                <a:latin typeface="Arial Narrow" panose="020B0606020202030204" pitchFamily="34" charset="0"/>
              </a:rPr>
              <a:t>X23</a:t>
            </a:r>
            <a:r>
              <a:rPr lang="es-PE" b="1" dirty="0">
                <a:latin typeface="Arial Narrow" panose="020B0606020202030204" pitchFamily="34" charset="0"/>
              </a:rPr>
              <a:t>        40.000000          0.000000</a:t>
            </a:r>
          </a:p>
          <a:p>
            <a:r>
              <a:rPr lang="es-PE" b="1" dirty="0">
                <a:latin typeface="Arial Narrow" panose="020B0606020202030204" pitchFamily="34" charset="0"/>
              </a:rPr>
              <a:t>       </a:t>
            </a:r>
            <a:r>
              <a:rPr lang="es-PE" b="1" dirty="0" err="1">
                <a:latin typeface="Arial Narrow" panose="020B0606020202030204" pitchFamily="34" charset="0"/>
              </a:rPr>
              <a:t>X31</a:t>
            </a:r>
            <a:r>
              <a:rPr lang="es-PE" b="1" dirty="0">
                <a:latin typeface="Arial Narrow" panose="020B0606020202030204" pitchFamily="34" charset="0"/>
              </a:rPr>
              <a:t>        20.000000          0.000000</a:t>
            </a:r>
          </a:p>
          <a:p>
            <a:r>
              <a:rPr lang="es-PE" b="1" dirty="0">
                <a:latin typeface="Arial Narrow" panose="020B0606020202030204" pitchFamily="34" charset="0"/>
              </a:rPr>
              <a:t>       </a:t>
            </a:r>
            <a:r>
              <a:rPr lang="es-PE" b="1" dirty="0" err="1">
                <a:latin typeface="Arial Narrow" panose="020B0606020202030204" pitchFamily="34" charset="0"/>
              </a:rPr>
              <a:t>X32</a:t>
            </a:r>
            <a:r>
              <a:rPr lang="es-PE" b="1" dirty="0">
                <a:latin typeface="Arial Narrow" panose="020B0606020202030204" pitchFamily="34" charset="0"/>
              </a:rPr>
              <a:t>         0.000000          1.000000</a:t>
            </a:r>
          </a:p>
          <a:p>
            <a:r>
              <a:rPr lang="es-PE" b="1" dirty="0">
                <a:latin typeface="Arial Narrow" panose="020B0606020202030204" pitchFamily="34" charset="0"/>
              </a:rPr>
              <a:t>       </a:t>
            </a:r>
            <a:r>
              <a:rPr lang="es-PE" b="1" dirty="0" err="1">
                <a:latin typeface="Arial Narrow" panose="020B0606020202030204" pitchFamily="34" charset="0"/>
              </a:rPr>
              <a:t>X33</a:t>
            </a:r>
            <a:r>
              <a:rPr lang="es-PE" b="1" dirty="0">
                <a:latin typeface="Arial Narrow" panose="020B0606020202030204" pitchFamily="34" charset="0"/>
              </a:rPr>
              <a:t>         0.000000          1.000000</a:t>
            </a:r>
          </a:p>
        </p:txBody>
      </p:sp>
      <p:sp>
        <p:nvSpPr>
          <p:cNvPr id="5" name="Rectángulo 4">
            <a:extLst>
              <a:ext uri="{FF2B5EF4-FFF2-40B4-BE49-F238E27FC236}">
                <a16:creationId xmlns:a16="http://schemas.microsoft.com/office/drawing/2014/main" id="{1A4739A5-462C-4C97-AB49-F80196CFE7B4}"/>
              </a:ext>
            </a:extLst>
          </p:cNvPr>
          <p:cNvSpPr/>
          <p:nvPr/>
        </p:nvSpPr>
        <p:spPr>
          <a:xfrm>
            <a:off x="327516" y="1515369"/>
            <a:ext cx="5357291" cy="4401205"/>
          </a:xfrm>
          <a:prstGeom prst="rect">
            <a:avLst/>
          </a:prstGeom>
          <a:solidFill>
            <a:schemeClr val="bg1"/>
          </a:solidFill>
        </p:spPr>
        <p:txBody>
          <a:bodyPr wrap="square">
            <a:spAutoFit/>
          </a:bodyPr>
          <a:lstStyle/>
          <a:p>
            <a:pPr marL="514350" indent="-514350">
              <a:buAutoNum type="romanUcPeriod"/>
            </a:pPr>
            <a:r>
              <a:rPr lang="es-PE" sz="2000" b="1" dirty="0">
                <a:solidFill>
                  <a:srgbClr val="FF0000"/>
                </a:solidFill>
              </a:rPr>
              <a:t>Identificación de la las variables</a:t>
            </a:r>
          </a:p>
          <a:p>
            <a:r>
              <a:rPr lang="es-PE" sz="2000" dirty="0" err="1"/>
              <a:t>Xij</a:t>
            </a:r>
            <a:r>
              <a:rPr lang="es-PE" sz="2000" dirty="0"/>
              <a:t>= millones de galones de agua que se envía de la presa i a la ciudad j</a:t>
            </a:r>
          </a:p>
          <a:p>
            <a:r>
              <a:rPr lang="es-PE" sz="2000" b="1" dirty="0">
                <a:solidFill>
                  <a:srgbClr val="FF0000"/>
                </a:solidFill>
              </a:rPr>
              <a:t>II.      Identificación de la función objetivo</a:t>
            </a:r>
          </a:p>
          <a:p>
            <a:r>
              <a:rPr lang="es-PE" sz="2000" dirty="0"/>
              <a:t>MIN </a:t>
            </a:r>
            <a:r>
              <a:rPr lang="es-PE" sz="2000" dirty="0" err="1"/>
              <a:t>7X11+8X12+10X13+9X21+7X22</a:t>
            </a:r>
            <a:r>
              <a:rPr lang="es-PE" sz="2000" dirty="0"/>
              <a:t>+ </a:t>
            </a:r>
            <a:r>
              <a:rPr lang="es-PE" sz="2000" dirty="0" err="1"/>
              <a:t>8X23</a:t>
            </a:r>
            <a:r>
              <a:rPr lang="es-PE" sz="2000" dirty="0"/>
              <a:t>+</a:t>
            </a:r>
          </a:p>
          <a:p>
            <a:r>
              <a:rPr lang="es-PE" sz="2000" dirty="0"/>
              <a:t>      </a:t>
            </a:r>
            <a:r>
              <a:rPr lang="es-PE" sz="2000" dirty="0" err="1"/>
              <a:t>20X31+22X32+23X33</a:t>
            </a:r>
            <a:endParaRPr lang="es-PE" sz="2000" dirty="0"/>
          </a:p>
          <a:p>
            <a:pPr marL="514350" indent="-514350">
              <a:buAutoNum type="romanUcPeriod" startAt="3"/>
            </a:pPr>
            <a:r>
              <a:rPr lang="es-PE" sz="2000" b="1" dirty="0">
                <a:solidFill>
                  <a:srgbClr val="FF0000"/>
                </a:solidFill>
              </a:rPr>
              <a:t>Identificación de las restricciones</a:t>
            </a:r>
          </a:p>
          <a:p>
            <a:r>
              <a:rPr lang="es-PE" sz="2000" dirty="0" err="1"/>
              <a:t>X11+X12+X13</a:t>
            </a:r>
            <a:r>
              <a:rPr lang="es-PE" sz="2000" dirty="0"/>
              <a:t>=50</a:t>
            </a:r>
          </a:p>
          <a:p>
            <a:r>
              <a:rPr lang="es-PE" sz="2000" dirty="0" err="1"/>
              <a:t>X21+X22+X23</a:t>
            </a:r>
            <a:r>
              <a:rPr lang="es-PE" sz="2000" dirty="0"/>
              <a:t>=50</a:t>
            </a:r>
          </a:p>
          <a:p>
            <a:r>
              <a:rPr lang="es-PE" sz="2000" dirty="0" err="1"/>
              <a:t>X31+X32+X33</a:t>
            </a:r>
            <a:r>
              <a:rPr lang="es-PE" sz="2000" dirty="0"/>
              <a:t>=20</a:t>
            </a:r>
          </a:p>
          <a:p>
            <a:r>
              <a:rPr lang="es-PE" sz="2000" dirty="0" err="1"/>
              <a:t>X11+X21+X31</a:t>
            </a:r>
            <a:r>
              <a:rPr lang="es-PE" sz="2000" dirty="0"/>
              <a:t>=40</a:t>
            </a:r>
          </a:p>
          <a:p>
            <a:r>
              <a:rPr lang="es-PE" sz="2000" dirty="0" err="1"/>
              <a:t>X12+X22+X32</a:t>
            </a:r>
            <a:r>
              <a:rPr lang="es-PE" sz="2000" dirty="0"/>
              <a:t>=40</a:t>
            </a:r>
          </a:p>
          <a:p>
            <a:r>
              <a:rPr lang="es-PE" sz="2000" dirty="0" err="1"/>
              <a:t>X13+X23+X33</a:t>
            </a:r>
            <a:r>
              <a:rPr lang="es-PE" sz="2000" dirty="0"/>
              <a:t>=40</a:t>
            </a:r>
          </a:p>
          <a:p>
            <a:r>
              <a:rPr lang="es-PE" sz="2000" dirty="0"/>
              <a:t>	</a:t>
            </a:r>
            <a:r>
              <a:rPr lang="es-PE" sz="2000" dirty="0" err="1"/>
              <a:t>Xij</a:t>
            </a:r>
            <a:r>
              <a:rPr lang="es-PE" sz="2000" dirty="0"/>
              <a:t>&gt;=0</a:t>
            </a:r>
          </a:p>
        </p:txBody>
      </p:sp>
      <p:sp>
        <p:nvSpPr>
          <p:cNvPr id="6" name="Rectangle 2">
            <a:extLst>
              <a:ext uri="{FF2B5EF4-FFF2-40B4-BE49-F238E27FC236}">
                <a16:creationId xmlns:a16="http://schemas.microsoft.com/office/drawing/2014/main" id="{5D823E94-223E-4283-B68C-F72D4B4325D5}"/>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3</a:t>
            </a:r>
          </a:p>
        </p:txBody>
      </p:sp>
    </p:spTree>
    <p:extLst>
      <p:ext uri="{BB962C8B-B14F-4D97-AF65-F5344CB8AC3E}">
        <p14:creationId xmlns:p14="http://schemas.microsoft.com/office/powerpoint/2010/main" val="301058950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DA08D2FA-6D44-4037-BD38-55D7D891D2E2}"/>
              </a:ext>
            </a:extLst>
          </p:cNvPr>
          <p:cNvSpPr txBox="1"/>
          <p:nvPr/>
        </p:nvSpPr>
        <p:spPr>
          <a:xfrm>
            <a:off x="287665" y="1256816"/>
            <a:ext cx="5808336" cy="1754326"/>
          </a:xfrm>
          <a:prstGeom prst="rect">
            <a:avLst/>
          </a:prstGeom>
          <a:noFill/>
        </p:spPr>
        <p:txBody>
          <a:bodyPr wrap="square" rtlCol="0">
            <a:spAutoFit/>
          </a:bodyPr>
          <a:lstStyle/>
          <a:p>
            <a:pPr algn="just"/>
            <a:r>
              <a:rPr lang="es-PE" sz="1800"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Una firma que posee tres fábricas de discos situados en P, R y Z, tiene que suministrar los tres puntos de venta-distribución situados en M, B y S.  Las cantidades de producción de las fábricas para los centros de distribución y los costos de fabricación por unidad son:</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PE" dirty="0"/>
          </a:p>
        </p:txBody>
      </p:sp>
      <p:pic>
        <p:nvPicPr>
          <p:cNvPr id="6" name="Imagen 5" descr="Tabla&#10;&#10;Descripción generada automáticamente">
            <a:extLst>
              <a:ext uri="{FF2B5EF4-FFF2-40B4-BE49-F238E27FC236}">
                <a16:creationId xmlns:a16="http://schemas.microsoft.com/office/drawing/2014/main" id="{EFA37434-637E-4530-A6A2-860F70070E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785" y="2708694"/>
            <a:ext cx="5782215" cy="3200432"/>
          </a:xfrm>
          <a:prstGeom prst="rect">
            <a:avLst/>
          </a:prstGeom>
        </p:spPr>
      </p:pic>
      <p:sp>
        <p:nvSpPr>
          <p:cNvPr id="7" name="CuadroTexto 6">
            <a:extLst>
              <a:ext uri="{FF2B5EF4-FFF2-40B4-BE49-F238E27FC236}">
                <a16:creationId xmlns:a16="http://schemas.microsoft.com/office/drawing/2014/main" id="{22FD2E53-E5C5-4A2D-8133-8006A9992972}"/>
              </a:ext>
            </a:extLst>
          </p:cNvPr>
          <p:cNvSpPr txBox="1"/>
          <p:nvPr/>
        </p:nvSpPr>
        <p:spPr>
          <a:xfrm>
            <a:off x="0" y="5871495"/>
            <a:ext cx="6096000" cy="1200329"/>
          </a:xfrm>
          <a:prstGeom prst="rect">
            <a:avLst/>
          </a:prstGeom>
          <a:noFill/>
        </p:spPr>
        <p:txBody>
          <a:bodyPr wrap="square" rtlCol="0">
            <a:spAutoFit/>
          </a:bodyPr>
          <a:lstStyle/>
          <a:p>
            <a:r>
              <a:rPr lang="es-PE" sz="1800"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Si las demandas estimadas y precios de venta (en soles) en los tres centros de distribución vienen dados en la tabla. </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PE" dirty="0"/>
          </a:p>
        </p:txBody>
      </p:sp>
      <p:pic>
        <p:nvPicPr>
          <p:cNvPr id="8" name="Imagen 7" descr="Tabla&#10;&#10;Descripción generada automáticamente">
            <a:extLst>
              <a:ext uri="{FF2B5EF4-FFF2-40B4-BE49-F238E27FC236}">
                <a16:creationId xmlns:a16="http://schemas.microsoft.com/office/drawing/2014/main" id="{64E01DEE-C9C7-47F0-B516-1B02EC414A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7046" y="1390261"/>
            <a:ext cx="6064954" cy="3785588"/>
          </a:xfrm>
          <a:prstGeom prst="rect">
            <a:avLst/>
          </a:prstGeom>
        </p:spPr>
      </p:pic>
      <p:sp>
        <p:nvSpPr>
          <p:cNvPr id="9" name="Rectangle 2">
            <a:extLst>
              <a:ext uri="{FF2B5EF4-FFF2-40B4-BE49-F238E27FC236}">
                <a16:creationId xmlns:a16="http://schemas.microsoft.com/office/drawing/2014/main" id="{234FE3C4-12B5-41DC-9C94-00E18533ED31}"/>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7</a:t>
            </a:r>
          </a:p>
        </p:txBody>
      </p:sp>
    </p:spTree>
    <p:extLst>
      <p:ext uri="{BB962C8B-B14F-4D97-AF65-F5344CB8AC3E}">
        <p14:creationId xmlns:p14="http://schemas.microsoft.com/office/powerpoint/2010/main" val="1313476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B21C1C2-C157-46F7-ACA9-E523B392DD04}"/>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7</a:t>
            </a:r>
          </a:p>
        </p:txBody>
      </p:sp>
      <p:sp>
        <p:nvSpPr>
          <p:cNvPr id="2" name="Rectángulo 1">
            <a:extLst>
              <a:ext uri="{FF2B5EF4-FFF2-40B4-BE49-F238E27FC236}">
                <a16:creationId xmlns:a16="http://schemas.microsoft.com/office/drawing/2014/main" id="{12E48B2C-75F6-47FA-A866-4041F57E09F2}"/>
              </a:ext>
            </a:extLst>
          </p:cNvPr>
          <p:cNvSpPr/>
          <p:nvPr/>
        </p:nvSpPr>
        <p:spPr>
          <a:xfrm>
            <a:off x="6096000" y="1294602"/>
            <a:ext cx="5083834" cy="1123384"/>
          </a:xfrm>
          <a:prstGeom prst="rect">
            <a:avLst/>
          </a:prstGeom>
        </p:spPr>
        <p:txBody>
          <a:bodyPr wrap="square">
            <a:spAutoFit/>
          </a:bodyPr>
          <a:lstStyle/>
          <a:p>
            <a:pPr lvl="0" defTabSz="1066800">
              <a:spcBef>
                <a:spcPct val="0"/>
              </a:spcBef>
              <a:spcAft>
                <a:spcPct val="35000"/>
              </a:spcAft>
            </a:pPr>
            <a:r>
              <a:rPr lang="es-PE" sz="2000" dirty="0">
                <a:solidFill>
                  <a:srgbClr val="FF0000"/>
                </a:solidFill>
                <a:latin typeface="Arial Narrow" panose="020B0606020202030204" pitchFamily="34" charset="0"/>
              </a:rPr>
              <a:t>Identificación de las variables</a:t>
            </a:r>
          </a:p>
          <a:p>
            <a:pPr lvl="0"/>
            <a:r>
              <a:rPr lang="es-PE" sz="2000" dirty="0" err="1">
                <a:latin typeface="Arial Narrow" pitchFamily="34" charset="0"/>
              </a:rPr>
              <a:t>Xij</a:t>
            </a:r>
            <a:r>
              <a:rPr lang="es-PE" sz="2000" dirty="0">
                <a:latin typeface="Arial Narrow" pitchFamily="34" charset="0"/>
              </a:rPr>
              <a:t> = Cantidad de discos a enviar de la fábrica i a los</a:t>
            </a:r>
          </a:p>
          <a:p>
            <a:pPr lvl="0"/>
            <a:r>
              <a:rPr lang="es-PE" sz="2000" dirty="0">
                <a:latin typeface="Arial Narrow" pitchFamily="34" charset="0"/>
              </a:rPr>
              <a:t>         puntos de distribución j.</a:t>
            </a:r>
            <a:endParaRPr lang="es-PE" sz="2000" dirty="0"/>
          </a:p>
        </p:txBody>
      </p:sp>
      <p:pic>
        <p:nvPicPr>
          <p:cNvPr id="8" name="Imagen 7">
            <a:extLst>
              <a:ext uri="{FF2B5EF4-FFF2-40B4-BE49-F238E27FC236}">
                <a16:creationId xmlns:a16="http://schemas.microsoft.com/office/drawing/2014/main" id="{18D6AF13-8E7C-499E-8976-45B77A908F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44" y="1287112"/>
            <a:ext cx="5963482" cy="4163006"/>
          </a:xfrm>
          <a:prstGeom prst="rect">
            <a:avLst/>
          </a:prstGeom>
        </p:spPr>
      </p:pic>
      <p:sp>
        <p:nvSpPr>
          <p:cNvPr id="9" name="Rectángulo 8">
            <a:extLst>
              <a:ext uri="{FF2B5EF4-FFF2-40B4-BE49-F238E27FC236}">
                <a16:creationId xmlns:a16="http://schemas.microsoft.com/office/drawing/2014/main" id="{3576D0B6-C989-40F5-B740-1D8C74B3BF93}"/>
              </a:ext>
            </a:extLst>
          </p:cNvPr>
          <p:cNvSpPr/>
          <p:nvPr/>
        </p:nvSpPr>
        <p:spPr>
          <a:xfrm>
            <a:off x="6096000" y="2336599"/>
            <a:ext cx="3927894" cy="1431161"/>
          </a:xfrm>
          <a:prstGeom prst="rect">
            <a:avLst/>
          </a:prstGeom>
        </p:spPr>
        <p:txBody>
          <a:bodyPr wrap="square">
            <a:spAutoFit/>
          </a:bodyPr>
          <a:lstStyle/>
          <a:p>
            <a:pPr lvl="0" defTabSz="1066800">
              <a:spcBef>
                <a:spcPct val="0"/>
              </a:spcBef>
              <a:spcAft>
                <a:spcPct val="35000"/>
              </a:spcAft>
            </a:pPr>
            <a:r>
              <a:rPr lang="es-PE" sz="2000" dirty="0">
                <a:solidFill>
                  <a:srgbClr val="FF0000"/>
                </a:solidFill>
                <a:latin typeface="Arial Narrow" panose="020B0606020202030204" pitchFamily="34" charset="0"/>
              </a:rPr>
              <a:t>Identificación de la </a:t>
            </a:r>
            <a:r>
              <a:rPr lang="es-PE" sz="2000" dirty="0" err="1">
                <a:solidFill>
                  <a:srgbClr val="FF0000"/>
                </a:solidFill>
                <a:latin typeface="Arial Narrow" panose="020B0606020202030204" pitchFamily="34" charset="0"/>
              </a:rPr>
              <a:t>F.O</a:t>
            </a:r>
            <a:r>
              <a:rPr lang="es-PE" sz="2000" dirty="0">
                <a:solidFill>
                  <a:srgbClr val="FF0000"/>
                </a:solidFill>
                <a:latin typeface="Arial Narrow" panose="020B0606020202030204" pitchFamily="34" charset="0"/>
              </a:rPr>
              <a:t>.</a:t>
            </a:r>
          </a:p>
          <a:p>
            <a:pPr lvl="0"/>
            <a:r>
              <a:rPr lang="es-PE" sz="2000" dirty="0">
                <a:latin typeface="Arial Narrow" pitchFamily="34" charset="0"/>
              </a:rPr>
              <a:t>MAX  </a:t>
            </a:r>
            <a:r>
              <a:rPr lang="es-PE" sz="2000" dirty="0" err="1">
                <a:latin typeface="Arial Narrow" pitchFamily="34" charset="0"/>
              </a:rPr>
              <a:t>60X11</a:t>
            </a:r>
            <a:r>
              <a:rPr lang="es-PE" sz="2000" dirty="0">
                <a:latin typeface="Arial Narrow" pitchFamily="34" charset="0"/>
              </a:rPr>
              <a:t>   +</a:t>
            </a:r>
            <a:r>
              <a:rPr lang="es-PE" sz="2000" dirty="0" err="1">
                <a:latin typeface="Arial Narrow" pitchFamily="34" charset="0"/>
              </a:rPr>
              <a:t>53X12</a:t>
            </a:r>
            <a:r>
              <a:rPr lang="es-PE" sz="2000" dirty="0">
                <a:latin typeface="Arial Narrow" pitchFamily="34" charset="0"/>
              </a:rPr>
              <a:t>      +</a:t>
            </a:r>
            <a:r>
              <a:rPr lang="es-PE" sz="2000" dirty="0" err="1">
                <a:latin typeface="Arial Narrow" pitchFamily="34" charset="0"/>
              </a:rPr>
              <a:t>50X13</a:t>
            </a:r>
            <a:r>
              <a:rPr lang="es-PE" sz="2000" dirty="0">
                <a:latin typeface="Arial Narrow" pitchFamily="34" charset="0"/>
              </a:rPr>
              <a:t>   </a:t>
            </a:r>
          </a:p>
          <a:p>
            <a:pPr lvl="0"/>
            <a:r>
              <a:rPr lang="es-PE" sz="2000" dirty="0">
                <a:latin typeface="Arial Narrow" pitchFamily="34" charset="0"/>
              </a:rPr>
              <a:t>        +</a:t>
            </a:r>
            <a:r>
              <a:rPr lang="es-PE" sz="2000" dirty="0" err="1">
                <a:latin typeface="Arial Narrow" pitchFamily="34" charset="0"/>
              </a:rPr>
              <a:t>54X21</a:t>
            </a:r>
            <a:r>
              <a:rPr lang="es-PE" sz="2000" dirty="0">
                <a:latin typeface="Arial Narrow" pitchFamily="34" charset="0"/>
              </a:rPr>
              <a:t>   +</a:t>
            </a:r>
            <a:r>
              <a:rPr lang="es-PE" sz="2000" dirty="0" err="1">
                <a:latin typeface="Arial Narrow" pitchFamily="34" charset="0"/>
              </a:rPr>
              <a:t>52X22</a:t>
            </a:r>
            <a:r>
              <a:rPr lang="es-PE" sz="2000" dirty="0">
                <a:latin typeface="Arial Narrow" pitchFamily="34" charset="0"/>
              </a:rPr>
              <a:t>      +</a:t>
            </a:r>
            <a:r>
              <a:rPr lang="es-PE" sz="2000" dirty="0" err="1">
                <a:latin typeface="Arial Narrow" pitchFamily="34" charset="0"/>
              </a:rPr>
              <a:t>58X23</a:t>
            </a:r>
            <a:r>
              <a:rPr lang="es-PE" sz="2000" dirty="0">
                <a:latin typeface="Arial Narrow" pitchFamily="34" charset="0"/>
              </a:rPr>
              <a:t>  </a:t>
            </a:r>
          </a:p>
          <a:p>
            <a:pPr lvl="0"/>
            <a:r>
              <a:rPr lang="es-PE" sz="2000" dirty="0">
                <a:latin typeface="Arial Narrow" pitchFamily="34" charset="0"/>
              </a:rPr>
              <a:t>        +</a:t>
            </a:r>
            <a:r>
              <a:rPr lang="es-PE" sz="2000" dirty="0" err="1">
                <a:latin typeface="Arial Narrow" pitchFamily="34" charset="0"/>
              </a:rPr>
              <a:t>53X31</a:t>
            </a:r>
            <a:r>
              <a:rPr lang="es-PE" sz="2000" dirty="0">
                <a:latin typeface="Arial Narrow" pitchFamily="34" charset="0"/>
              </a:rPr>
              <a:t>   +</a:t>
            </a:r>
            <a:r>
              <a:rPr lang="es-PE" sz="2000" dirty="0" err="1">
                <a:latin typeface="Arial Narrow" pitchFamily="34" charset="0"/>
              </a:rPr>
              <a:t>47X32</a:t>
            </a:r>
            <a:r>
              <a:rPr lang="es-PE" sz="2000" dirty="0">
                <a:latin typeface="Arial Narrow" pitchFamily="34" charset="0"/>
              </a:rPr>
              <a:t>      +</a:t>
            </a:r>
            <a:r>
              <a:rPr lang="es-PE" sz="2000" dirty="0" err="1">
                <a:latin typeface="Arial Narrow" pitchFamily="34" charset="0"/>
              </a:rPr>
              <a:t>44X33</a:t>
            </a:r>
            <a:r>
              <a:rPr lang="es-PE" sz="2000" dirty="0">
                <a:latin typeface="Arial Narrow" pitchFamily="34" charset="0"/>
              </a:rPr>
              <a:t>   </a:t>
            </a:r>
          </a:p>
        </p:txBody>
      </p:sp>
      <p:sp>
        <p:nvSpPr>
          <p:cNvPr id="10" name="Rectángulo 9">
            <a:extLst>
              <a:ext uri="{FF2B5EF4-FFF2-40B4-BE49-F238E27FC236}">
                <a16:creationId xmlns:a16="http://schemas.microsoft.com/office/drawing/2014/main" id="{E4893961-7BC4-44BD-A291-3014AF35EEBC}"/>
              </a:ext>
            </a:extLst>
          </p:cNvPr>
          <p:cNvSpPr/>
          <p:nvPr/>
        </p:nvSpPr>
        <p:spPr>
          <a:xfrm>
            <a:off x="6096000" y="3767207"/>
            <a:ext cx="3401683" cy="2862322"/>
          </a:xfrm>
          <a:prstGeom prst="rect">
            <a:avLst/>
          </a:prstGeom>
        </p:spPr>
        <p:txBody>
          <a:bodyPr wrap="square">
            <a:spAutoFit/>
          </a:bodyPr>
          <a:lstStyle/>
          <a:p>
            <a:pPr lvl="0"/>
            <a:r>
              <a:rPr lang="es-PE" sz="2000" dirty="0">
                <a:solidFill>
                  <a:srgbClr val="FF0000"/>
                </a:solidFill>
                <a:latin typeface="Arial Narrow" panose="020B0606020202030204" pitchFamily="34" charset="0"/>
              </a:rPr>
              <a:t>Identificación de las restricciones</a:t>
            </a:r>
          </a:p>
          <a:p>
            <a:pPr lvl="0"/>
            <a:r>
              <a:rPr lang="es-PE" sz="2000" dirty="0">
                <a:latin typeface="Arial Narrow" pitchFamily="34" charset="0"/>
              </a:rPr>
              <a:t>  </a:t>
            </a:r>
            <a:r>
              <a:rPr lang="es-PE" sz="2000" dirty="0" err="1">
                <a:latin typeface="Arial Narrow" pitchFamily="34" charset="0"/>
              </a:rPr>
              <a:t>X11+X12+X13</a:t>
            </a:r>
            <a:r>
              <a:rPr lang="es-PE" sz="2000" dirty="0">
                <a:latin typeface="Arial Narrow" pitchFamily="34" charset="0"/>
              </a:rPr>
              <a:t>&lt;=40</a:t>
            </a:r>
          </a:p>
          <a:p>
            <a:pPr lvl="0"/>
            <a:r>
              <a:rPr lang="es-PE" sz="2000" dirty="0">
                <a:latin typeface="Arial Narrow" pitchFamily="34" charset="0"/>
              </a:rPr>
              <a:t>  </a:t>
            </a:r>
            <a:r>
              <a:rPr lang="es-PE" sz="2000" dirty="0" err="1">
                <a:latin typeface="Arial Narrow" pitchFamily="34" charset="0"/>
              </a:rPr>
              <a:t>X21+X22+X23</a:t>
            </a:r>
            <a:r>
              <a:rPr lang="es-PE" sz="2000" dirty="0">
                <a:latin typeface="Arial Narrow" pitchFamily="34" charset="0"/>
              </a:rPr>
              <a:t>&lt;=40</a:t>
            </a:r>
          </a:p>
          <a:p>
            <a:pPr lvl="0"/>
            <a:r>
              <a:rPr lang="es-PE" sz="2000" dirty="0">
                <a:latin typeface="Arial Narrow" pitchFamily="34" charset="0"/>
              </a:rPr>
              <a:t>  </a:t>
            </a:r>
            <a:r>
              <a:rPr lang="es-PE" sz="2000" dirty="0" err="1">
                <a:latin typeface="Arial Narrow" pitchFamily="34" charset="0"/>
              </a:rPr>
              <a:t>X31+X32+X33</a:t>
            </a:r>
            <a:r>
              <a:rPr lang="es-PE" sz="2000" dirty="0">
                <a:latin typeface="Arial Narrow" pitchFamily="34" charset="0"/>
              </a:rPr>
              <a:t>&lt;=40</a:t>
            </a:r>
          </a:p>
          <a:p>
            <a:pPr lvl="0"/>
            <a:r>
              <a:rPr lang="es-PE" sz="2000" dirty="0">
                <a:solidFill>
                  <a:srgbClr val="7030A0"/>
                </a:solidFill>
                <a:latin typeface="Arial Narrow" pitchFamily="34" charset="0"/>
              </a:rPr>
              <a:t>  </a:t>
            </a:r>
          </a:p>
          <a:p>
            <a:pPr lvl="0"/>
            <a:r>
              <a:rPr lang="es-PE" sz="2000" dirty="0">
                <a:solidFill>
                  <a:srgbClr val="7030A0"/>
                </a:solidFill>
                <a:latin typeface="Arial Narrow" pitchFamily="34" charset="0"/>
              </a:rPr>
              <a:t>  </a:t>
            </a:r>
            <a:r>
              <a:rPr lang="es-PE" sz="2000" dirty="0" err="1">
                <a:solidFill>
                  <a:srgbClr val="7030A0"/>
                </a:solidFill>
                <a:latin typeface="Arial Narrow" pitchFamily="34" charset="0"/>
              </a:rPr>
              <a:t>X11+X21+X31</a:t>
            </a:r>
            <a:r>
              <a:rPr lang="es-PE" sz="2000" dirty="0">
                <a:solidFill>
                  <a:srgbClr val="7030A0"/>
                </a:solidFill>
                <a:latin typeface="Arial Narrow" pitchFamily="34" charset="0"/>
              </a:rPr>
              <a:t>&gt;=40</a:t>
            </a:r>
          </a:p>
          <a:p>
            <a:r>
              <a:rPr lang="es-PE" sz="2000" dirty="0">
                <a:solidFill>
                  <a:srgbClr val="7030A0"/>
                </a:solidFill>
                <a:latin typeface="Arial Narrow" pitchFamily="34" charset="0"/>
              </a:rPr>
              <a:t>  </a:t>
            </a:r>
            <a:r>
              <a:rPr lang="es-PE" sz="2000" dirty="0" err="1">
                <a:solidFill>
                  <a:srgbClr val="7030A0"/>
                </a:solidFill>
                <a:latin typeface="Arial Narrow" pitchFamily="34" charset="0"/>
              </a:rPr>
              <a:t>X12+X22+X32</a:t>
            </a:r>
            <a:r>
              <a:rPr lang="es-PE" sz="2000" dirty="0">
                <a:solidFill>
                  <a:srgbClr val="7030A0"/>
                </a:solidFill>
                <a:latin typeface="Arial Narrow" pitchFamily="34" charset="0"/>
              </a:rPr>
              <a:t>&gt;=40</a:t>
            </a:r>
          </a:p>
          <a:p>
            <a:r>
              <a:rPr lang="es-PE" sz="2000" dirty="0">
                <a:solidFill>
                  <a:srgbClr val="7030A0"/>
                </a:solidFill>
                <a:latin typeface="Arial Narrow" pitchFamily="34" charset="0"/>
              </a:rPr>
              <a:t>  </a:t>
            </a:r>
            <a:r>
              <a:rPr lang="es-PE" sz="2000" dirty="0" err="1">
                <a:solidFill>
                  <a:srgbClr val="7030A0"/>
                </a:solidFill>
                <a:latin typeface="Arial Narrow" pitchFamily="34" charset="0"/>
              </a:rPr>
              <a:t>X13+X23+X33</a:t>
            </a:r>
            <a:r>
              <a:rPr lang="es-PE" sz="2000" dirty="0">
                <a:solidFill>
                  <a:srgbClr val="7030A0"/>
                </a:solidFill>
                <a:latin typeface="Arial Narrow" pitchFamily="34" charset="0"/>
              </a:rPr>
              <a:t>&gt;=20</a:t>
            </a:r>
          </a:p>
          <a:p>
            <a:r>
              <a:rPr lang="es-PE" sz="2000" dirty="0">
                <a:solidFill>
                  <a:srgbClr val="7030A0"/>
                </a:solidFill>
                <a:latin typeface="Arial Narrow" pitchFamily="34" charset="0"/>
              </a:rPr>
              <a:t>                      </a:t>
            </a:r>
            <a:r>
              <a:rPr lang="es-PE" sz="2000" dirty="0" err="1">
                <a:solidFill>
                  <a:srgbClr val="7030A0"/>
                </a:solidFill>
                <a:latin typeface="Arial Narrow" pitchFamily="34" charset="0"/>
              </a:rPr>
              <a:t>Xij</a:t>
            </a:r>
            <a:r>
              <a:rPr lang="es-PE" sz="2000" dirty="0">
                <a:solidFill>
                  <a:srgbClr val="7030A0"/>
                </a:solidFill>
                <a:latin typeface="Arial Narrow" pitchFamily="34" charset="0"/>
              </a:rPr>
              <a:t>&gt;=0</a:t>
            </a:r>
            <a:endParaRPr lang="es-PE" sz="2000" dirty="0"/>
          </a:p>
        </p:txBody>
      </p:sp>
    </p:spTree>
    <p:extLst>
      <p:ext uri="{BB962C8B-B14F-4D97-AF65-F5344CB8AC3E}">
        <p14:creationId xmlns:p14="http://schemas.microsoft.com/office/powerpoint/2010/main" val="1897296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0"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C4C6A7D3-7274-48A4-899E-0F1C14018FFF}"/>
              </a:ext>
            </a:extLst>
          </p:cNvPr>
          <p:cNvSpPr/>
          <p:nvPr/>
        </p:nvSpPr>
        <p:spPr>
          <a:xfrm>
            <a:off x="6772886" y="1633465"/>
            <a:ext cx="4959038" cy="4401205"/>
          </a:xfrm>
          <a:prstGeom prst="rect">
            <a:avLst/>
          </a:prstGeom>
          <a:solidFill>
            <a:srgbClr val="FFFF00"/>
          </a:solidFill>
        </p:spPr>
        <p:txBody>
          <a:bodyPr wrap="square">
            <a:spAutoFit/>
          </a:bodyPr>
          <a:lstStyle/>
          <a:p>
            <a:r>
              <a:rPr lang="es-PE" sz="2000" dirty="0"/>
              <a:t> </a:t>
            </a:r>
            <a:r>
              <a:rPr lang="es-PE" sz="2000" dirty="0" err="1"/>
              <a:t>OBJECTIVE</a:t>
            </a:r>
            <a:r>
              <a:rPr lang="es-PE" sz="2000" dirty="0"/>
              <a:t> </a:t>
            </a:r>
            <a:r>
              <a:rPr lang="es-PE" sz="2000" dirty="0" err="1"/>
              <a:t>FUNCTION</a:t>
            </a:r>
            <a:r>
              <a:rPr lang="es-PE" sz="2000" dirty="0"/>
              <a:t> </a:t>
            </a:r>
            <a:r>
              <a:rPr lang="es-PE" sz="2000" dirty="0" err="1"/>
              <a:t>VALUE</a:t>
            </a:r>
            <a:endParaRPr lang="es-PE" sz="2000" dirty="0"/>
          </a:p>
          <a:p>
            <a:endParaRPr lang="es-PE" sz="2000" dirty="0"/>
          </a:p>
          <a:p>
            <a:r>
              <a:rPr lang="es-PE" sz="2000" dirty="0"/>
              <a:t>        1)      6600.000</a:t>
            </a:r>
          </a:p>
          <a:p>
            <a:endParaRPr lang="es-PE" sz="2000" dirty="0"/>
          </a:p>
          <a:p>
            <a:r>
              <a:rPr lang="es-PE" sz="2000" dirty="0"/>
              <a:t>  VARIABLE        </a:t>
            </a:r>
            <a:r>
              <a:rPr lang="es-PE" sz="2000" dirty="0" err="1"/>
              <a:t>VALUE</a:t>
            </a:r>
            <a:r>
              <a:rPr lang="es-PE" sz="2000" dirty="0"/>
              <a:t>          </a:t>
            </a:r>
            <a:r>
              <a:rPr lang="es-PE" sz="2000" dirty="0" err="1"/>
              <a:t>REDUCED</a:t>
            </a:r>
            <a:r>
              <a:rPr lang="es-PE" sz="2000" dirty="0"/>
              <a:t> </a:t>
            </a:r>
            <a:r>
              <a:rPr lang="es-PE" sz="2000" dirty="0" err="1"/>
              <a:t>COST</a:t>
            </a:r>
            <a:endParaRPr lang="es-PE" sz="2000" dirty="0"/>
          </a:p>
          <a:p>
            <a:r>
              <a:rPr lang="es-PE" sz="2000" dirty="0"/>
              <a:t>       </a:t>
            </a:r>
            <a:r>
              <a:rPr lang="es-PE" sz="2000" dirty="0" err="1"/>
              <a:t>X11</a:t>
            </a:r>
            <a:r>
              <a:rPr lang="es-PE" sz="2000" dirty="0"/>
              <a:t>        40.000000          0.000000</a:t>
            </a:r>
          </a:p>
          <a:p>
            <a:r>
              <a:rPr lang="es-PE" sz="2000" dirty="0"/>
              <a:t>       </a:t>
            </a:r>
            <a:r>
              <a:rPr lang="es-PE" sz="2000" dirty="0" err="1"/>
              <a:t>X12</a:t>
            </a:r>
            <a:r>
              <a:rPr lang="es-PE" sz="2000" dirty="0"/>
              <a:t>         0.000000          1.000000</a:t>
            </a:r>
          </a:p>
          <a:p>
            <a:r>
              <a:rPr lang="es-PE" sz="2000" dirty="0"/>
              <a:t>       </a:t>
            </a:r>
            <a:r>
              <a:rPr lang="es-PE" sz="2000" dirty="0" err="1"/>
              <a:t>X13</a:t>
            </a:r>
            <a:r>
              <a:rPr lang="es-PE" sz="2000" dirty="0"/>
              <a:t>         0.000000         10.000000</a:t>
            </a:r>
          </a:p>
          <a:p>
            <a:r>
              <a:rPr lang="es-PE" sz="2000" dirty="0"/>
              <a:t>       </a:t>
            </a:r>
            <a:r>
              <a:rPr lang="es-PE" sz="2000" dirty="0" err="1"/>
              <a:t>X21</a:t>
            </a:r>
            <a:r>
              <a:rPr lang="es-PE" sz="2000" dirty="0"/>
              <a:t>         0.000000          4.000000</a:t>
            </a:r>
          </a:p>
          <a:p>
            <a:r>
              <a:rPr lang="es-PE" sz="2000" dirty="0"/>
              <a:t>       </a:t>
            </a:r>
            <a:r>
              <a:rPr lang="es-PE" sz="2000" dirty="0" err="1"/>
              <a:t>X22</a:t>
            </a:r>
            <a:r>
              <a:rPr lang="es-PE" sz="2000" dirty="0"/>
              <a:t>         0.000000          0.000000</a:t>
            </a:r>
          </a:p>
          <a:p>
            <a:r>
              <a:rPr lang="es-PE" sz="2000" dirty="0"/>
              <a:t>       </a:t>
            </a:r>
            <a:r>
              <a:rPr lang="es-PE" sz="2000" dirty="0" err="1"/>
              <a:t>X23</a:t>
            </a:r>
            <a:r>
              <a:rPr lang="es-PE" sz="2000" dirty="0"/>
              <a:t>        40.000000          0.000000</a:t>
            </a:r>
          </a:p>
          <a:p>
            <a:r>
              <a:rPr lang="es-PE" sz="2000" dirty="0"/>
              <a:t>       </a:t>
            </a:r>
            <a:r>
              <a:rPr lang="es-PE" sz="2000" dirty="0" err="1"/>
              <a:t>X31</a:t>
            </a:r>
            <a:r>
              <a:rPr lang="es-PE" sz="2000" dirty="0"/>
              <a:t>         0.000000          0.000000</a:t>
            </a:r>
          </a:p>
          <a:p>
            <a:r>
              <a:rPr lang="es-PE" sz="2000" dirty="0"/>
              <a:t>       </a:t>
            </a:r>
            <a:r>
              <a:rPr lang="es-PE" sz="2000" dirty="0" err="1"/>
              <a:t>X32</a:t>
            </a:r>
            <a:r>
              <a:rPr lang="es-PE" sz="2000" dirty="0"/>
              <a:t>        40.000000          0.000000</a:t>
            </a:r>
          </a:p>
          <a:p>
            <a:r>
              <a:rPr lang="es-PE" sz="2000" dirty="0"/>
              <a:t>       </a:t>
            </a:r>
            <a:r>
              <a:rPr lang="es-PE" sz="2000" dirty="0" err="1"/>
              <a:t>X33</a:t>
            </a:r>
            <a:r>
              <a:rPr lang="es-PE" sz="2000" dirty="0"/>
              <a:t>         0.000000          9.000000</a:t>
            </a:r>
          </a:p>
        </p:txBody>
      </p:sp>
      <p:sp>
        <p:nvSpPr>
          <p:cNvPr id="6" name="Rectángulo 5">
            <a:extLst>
              <a:ext uri="{FF2B5EF4-FFF2-40B4-BE49-F238E27FC236}">
                <a16:creationId xmlns:a16="http://schemas.microsoft.com/office/drawing/2014/main" id="{34812FF5-3C82-49DA-987D-E54DC80C7B72}"/>
              </a:ext>
            </a:extLst>
          </p:cNvPr>
          <p:cNvSpPr/>
          <p:nvPr/>
        </p:nvSpPr>
        <p:spPr>
          <a:xfrm>
            <a:off x="1290877" y="1716460"/>
            <a:ext cx="3735186" cy="3170099"/>
          </a:xfrm>
          <a:prstGeom prst="rect">
            <a:avLst/>
          </a:prstGeom>
          <a:solidFill>
            <a:schemeClr val="accent2">
              <a:lumMod val="40000"/>
              <a:lumOff val="60000"/>
            </a:schemeClr>
          </a:solidFill>
        </p:spPr>
        <p:txBody>
          <a:bodyPr wrap="square">
            <a:spAutoFit/>
          </a:bodyPr>
          <a:lstStyle/>
          <a:p>
            <a:r>
              <a:rPr lang="es-PE" sz="2000" dirty="0"/>
              <a:t>MAX  </a:t>
            </a:r>
            <a:r>
              <a:rPr lang="es-PE" sz="2000" dirty="0" err="1"/>
              <a:t>60X11</a:t>
            </a:r>
            <a:r>
              <a:rPr lang="es-PE" sz="2000" dirty="0"/>
              <a:t>   +</a:t>
            </a:r>
            <a:r>
              <a:rPr lang="es-PE" sz="2000" dirty="0" err="1"/>
              <a:t>53X12</a:t>
            </a:r>
            <a:r>
              <a:rPr lang="es-PE" sz="2000" dirty="0"/>
              <a:t>      +</a:t>
            </a:r>
            <a:r>
              <a:rPr lang="es-PE" sz="2000" dirty="0" err="1"/>
              <a:t>50X13</a:t>
            </a:r>
            <a:r>
              <a:rPr lang="es-PE" sz="2000" dirty="0"/>
              <a:t>   </a:t>
            </a:r>
          </a:p>
          <a:p>
            <a:r>
              <a:rPr lang="es-PE" sz="2000" dirty="0"/>
              <a:t>        +</a:t>
            </a:r>
            <a:r>
              <a:rPr lang="es-PE" sz="2000" dirty="0" err="1"/>
              <a:t>54X21</a:t>
            </a:r>
            <a:r>
              <a:rPr lang="es-PE" sz="2000" dirty="0"/>
              <a:t>   +</a:t>
            </a:r>
            <a:r>
              <a:rPr lang="es-PE" sz="2000" dirty="0" err="1"/>
              <a:t>52X22</a:t>
            </a:r>
            <a:r>
              <a:rPr lang="es-PE" sz="2000" dirty="0"/>
              <a:t>      +</a:t>
            </a:r>
            <a:r>
              <a:rPr lang="es-PE" sz="2000" dirty="0" err="1"/>
              <a:t>58X23</a:t>
            </a:r>
            <a:r>
              <a:rPr lang="es-PE" sz="2000" dirty="0"/>
              <a:t>  </a:t>
            </a:r>
          </a:p>
          <a:p>
            <a:r>
              <a:rPr lang="es-PE" sz="2000" dirty="0"/>
              <a:t>        +</a:t>
            </a:r>
            <a:r>
              <a:rPr lang="es-PE" sz="2000" dirty="0" err="1"/>
              <a:t>53X31</a:t>
            </a:r>
            <a:r>
              <a:rPr lang="es-PE" sz="2000" dirty="0"/>
              <a:t>   +</a:t>
            </a:r>
            <a:r>
              <a:rPr lang="es-PE" sz="2000" dirty="0" err="1"/>
              <a:t>47X32</a:t>
            </a:r>
            <a:r>
              <a:rPr lang="es-PE" sz="2000" dirty="0"/>
              <a:t>      +</a:t>
            </a:r>
            <a:r>
              <a:rPr lang="es-PE" sz="2000" dirty="0" err="1"/>
              <a:t>44X33</a:t>
            </a:r>
            <a:r>
              <a:rPr lang="es-PE" sz="2000" dirty="0"/>
              <a:t>   </a:t>
            </a:r>
          </a:p>
          <a:p>
            <a:r>
              <a:rPr lang="es-PE" sz="2000" dirty="0" err="1"/>
              <a:t>ST</a:t>
            </a:r>
            <a:endParaRPr lang="es-PE" sz="2000" dirty="0"/>
          </a:p>
          <a:p>
            <a:r>
              <a:rPr lang="es-PE" sz="2000" dirty="0" err="1"/>
              <a:t>X11+X12+X13</a:t>
            </a:r>
            <a:r>
              <a:rPr lang="es-PE" sz="2000" dirty="0"/>
              <a:t>&lt;=40</a:t>
            </a:r>
          </a:p>
          <a:p>
            <a:r>
              <a:rPr lang="es-PE" sz="2000" dirty="0"/>
              <a:t>  </a:t>
            </a:r>
            <a:r>
              <a:rPr lang="es-PE" sz="2000" dirty="0" err="1"/>
              <a:t>X21+X22+X23</a:t>
            </a:r>
            <a:r>
              <a:rPr lang="es-PE" sz="2000" dirty="0"/>
              <a:t>&lt;=40</a:t>
            </a:r>
          </a:p>
          <a:p>
            <a:r>
              <a:rPr lang="es-PE" sz="2000" dirty="0"/>
              <a:t>  </a:t>
            </a:r>
            <a:r>
              <a:rPr lang="es-PE" sz="2000" dirty="0" err="1"/>
              <a:t>X31+X32+X33</a:t>
            </a:r>
            <a:r>
              <a:rPr lang="es-PE" sz="2000" dirty="0"/>
              <a:t>&lt;=40</a:t>
            </a:r>
          </a:p>
          <a:p>
            <a:r>
              <a:rPr lang="es-PE" sz="2000" dirty="0"/>
              <a:t>  </a:t>
            </a:r>
            <a:r>
              <a:rPr lang="es-PE" sz="2000" dirty="0" err="1"/>
              <a:t>X11+X21+X31</a:t>
            </a:r>
            <a:r>
              <a:rPr lang="es-PE" sz="2000" dirty="0"/>
              <a:t>&gt;=40</a:t>
            </a:r>
          </a:p>
          <a:p>
            <a:r>
              <a:rPr lang="es-PE" sz="2000" dirty="0"/>
              <a:t>  </a:t>
            </a:r>
            <a:r>
              <a:rPr lang="es-PE" sz="2000" dirty="0" err="1"/>
              <a:t>X12+X22+X32</a:t>
            </a:r>
            <a:r>
              <a:rPr lang="es-PE" sz="2000" dirty="0"/>
              <a:t>&gt;=40</a:t>
            </a:r>
          </a:p>
          <a:p>
            <a:r>
              <a:rPr lang="es-PE" sz="2000" dirty="0"/>
              <a:t>  </a:t>
            </a:r>
            <a:r>
              <a:rPr lang="es-PE" sz="2000" dirty="0" err="1"/>
              <a:t>X13+X23+X33</a:t>
            </a:r>
            <a:r>
              <a:rPr lang="es-PE" sz="2000" dirty="0"/>
              <a:t>&gt;=20</a:t>
            </a:r>
          </a:p>
        </p:txBody>
      </p:sp>
    </p:spTree>
    <p:extLst>
      <p:ext uri="{BB962C8B-B14F-4D97-AF65-F5344CB8AC3E}">
        <p14:creationId xmlns:p14="http://schemas.microsoft.com/office/powerpoint/2010/main" val="365629773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0FEA0272-2174-4DFC-A9D6-83F5675CF607}"/>
              </a:ext>
            </a:extLst>
          </p:cNvPr>
          <p:cNvSpPr txBox="1"/>
          <p:nvPr/>
        </p:nvSpPr>
        <p:spPr>
          <a:xfrm>
            <a:off x="155276" y="1221976"/>
            <a:ext cx="5802702" cy="923330"/>
          </a:xfrm>
          <a:prstGeom prst="rect">
            <a:avLst/>
          </a:prstGeom>
          <a:noFill/>
        </p:spPr>
        <p:txBody>
          <a:bodyPr wrap="square" rtlCol="0">
            <a:spAutoFit/>
          </a:bodyPr>
          <a:lstStyle/>
          <a:p>
            <a:pPr algn="just"/>
            <a:r>
              <a:rPr lang="es-PE" sz="1800" dirty="0">
                <a:effectLst/>
                <a:latin typeface="Tahoma" panose="020B0604030504040204" pitchFamily="34" charset="0"/>
                <a:ea typeface="Calibri" panose="020F0502020204030204" pitchFamily="34" charset="0"/>
                <a:cs typeface="Times New Roman" panose="02020603050405020304" pitchFamily="18" charset="0"/>
              </a:rPr>
              <a:t>Un fabricante elabora un producto en tres plantas y lo distribuye a través de cuatro almacenes de servicio al mercado. Formule y resuelva el modelo matemático.</a:t>
            </a:r>
            <a:endParaRPr lang="es-PE" dirty="0"/>
          </a:p>
        </p:txBody>
      </p:sp>
      <p:pic>
        <p:nvPicPr>
          <p:cNvPr id="9" name="Imagen 8" descr="Tabla&#10;&#10;Descripción generada automáticamente">
            <a:extLst>
              <a:ext uri="{FF2B5EF4-FFF2-40B4-BE49-F238E27FC236}">
                <a16:creationId xmlns:a16="http://schemas.microsoft.com/office/drawing/2014/main" id="{78813EAB-A7FC-4304-AF93-B258F15B3F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806" y="2122099"/>
            <a:ext cx="5560903" cy="2958860"/>
          </a:xfrm>
          <a:prstGeom prst="rect">
            <a:avLst/>
          </a:prstGeom>
        </p:spPr>
      </p:pic>
      <p:graphicFrame>
        <p:nvGraphicFramePr>
          <p:cNvPr id="6" name="Tabla 3">
            <a:extLst>
              <a:ext uri="{FF2B5EF4-FFF2-40B4-BE49-F238E27FC236}">
                <a16:creationId xmlns:a16="http://schemas.microsoft.com/office/drawing/2014/main" id="{44A82B6B-F985-4BBD-8AFA-533EA9EDBE79}"/>
              </a:ext>
            </a:extLst>
          </p:cNvPr>
          <p:cNvGraphicFramePr>
            <a:graphicFrameLocks noGrp="1"/>
          </p:cNvGraphicFramePr>
          <p:nvPr/>
        </p:nvGraphicFramePr>
        <p:xfrm>
          <a:off x="384357" y="5394959"/>
          <a:ext cx="4955395" cy="1341120"/>
        </p:xfrm>
        <a:graphic>
          <a:graphicData uri="http://schemas.openxmlformats.org/drawingml/2006/table">
            <a:tbl>
              <a:tblPr firstRow="1" bandRow="1">
                <a:tableStyleId>{3B4B98B0-60AC-42C2-AFA5-B58CD77FA1E5}</a:tableStyleId>
              </a:tblPr>
              <a:tblGrid>
                <a:gridCol w="991079">
                  <a:extLst>
                    <a:ext uri="{9D8B030D-6E8A-4147-A177-3AD203B41FA5}">
                      <a16:colId xmlns:a16="http://schemas.microsoft.com/office/drawing/2014/main" val="4119366311"/>
                    </a:ext>
                  </a:extLst>
                </a:gridCol>
                <a:gridCol w="991079">
                  <a:extLst>
                    <a:ext uri="{9D8B030D-6E8A-4147-A177-3AD203B41FA5}">
                      <a16:colId xmlns:a16="http://schemas.microsoft.com/office/drawing/2014/main" val="2699073636"/>
                    </a:ext>
                  </a:extLst>
                </a:gridCol>
                <a:gridCol w="991079">
                  <a:extLst>
                    <a:ext uri="{9D8B030D-6E8A-4147-A177-3AD203B41FA5}">
                      <a16:colId xmlns:a16="http://schemas.microsoft.com/office/drawing/2014/main" val="2130942706"/>
                    </a:ext>
                  </a:extLst>
                </a:gridCol>
                <a:gridCol w="991079">
                  <a:extLst>
                    <a:ext uri="{9D8B030D-6E8A-4147-A177-3AD203B41FA5}">
                      <a16:colId xmlns:a16="http://schemas.microsoft.com/office/drawing/2014/main" val="3934110372"/>
                    </a:ext>
                  </a:extLst>
                </a:gridCol>
                <a:gridCol w="991079">
                  <a:extLst>
                    <a:ext uri="{9D8B030D-6E8A-4147-A177-3AD203B41FA5}">
                      <a16:colId xmlns:a16="http://schemas.microsoft.com/office/drawing/2014/main" val="3205889006"/>
                    </a:ext>
                  </a:extLst>
                </a:gridCol>
              </a:tblGrid>
              <a:tr h="213216">
                <a:tc>
                  <a:txBody>
                    <a:bodyPr/>
                    <a:lstStyle/>
                    <a:p>
                      <a:pPr algn="ctr"/>
                      <a:endParaRPr lang="es-PE" sz="1600" dirty="0">
                        <a:latin typeface="Arial Narrow" panose="020B0606020202030204" pitchFamily="34" charset="0"/>
                      </a:endParaRPr>
                    </a:p>
                  </a:txBody>
                  <a:tcPr/>
                </a:tc>
                <a:tc>
                  <a:txBody>
                    <a:bodyPr/>
                    <a:lstStyle/>
                    <a:p>
                      <a:pPr algn="ctr"/>
                      <a:r>
                        <a:rPr lang="es-ES" sz="1600" dirty="0">
                          <a:latin typeface="Arial Narrow" panose="020B0606020202030204" pitchFamily="34" charset="0"/>
                        </a:rPr>
                        <a:t>1</a:t>
                      </a:r>
                      <a:endParaRPr lang="es-PE" sz="1600" dirty="0">
                        <a:latin typeface="Arial Narrow" panose="020B0606020202030204" pitchFamily="34" charset="0"/>
                      </a:endParaRPr>
                    </a:p>
                  </a:txBody>
                  <a:tcPr/>
                </a:tc>
                <a:tc>
                  <a:txBody>
                    <a:bodyPr/>
                    <a:lstStyle/>
                    <a:p>
                      <a:pPr algn="ctr"/>
                      <a:r>
                        <a:rPr lang="es-ES" sz="1600" dirty="0">
                          <a:latin typeface="Arial Narrow" panose="020B0606020202030204" pitchFamily="34" charset="0"/>
                        </a:rPr>
                        <a:t>2</a:t>
                      </a:r>
                      <a:endParaRPr lang="es-PE" sz="1600" dirty="0">
                        <a:latin typeface="Arial Narrow" panose="020B0606020202030204" pitchFamily="34" charset="0"/>
                      </a:endParaRPr>
                    </a:p>
                  </a:txBody>
                  <a:tcPr/>
                </a:tc>
                <a:tc>
                  <a:txBody>
                    <a:bodyPr/>
                    <a:lstStyle/>
                    <a:p>
                      <a:pPr algn="ctr"/>
                      <a:r>
                        <a:rPr lang="es-ES" sz="1600" dirty="0">
                          <a:latin typeface="Arial Narrow" panose="020B0606020202030204" pitchFamily="34" charset="0"/>
                        </a:rPr>
                        <a:t>3</a:t>
                      </a:r>
                      <a:endParaRPr lang="es-PE" sz="1600" dirty="0">
                        <a:latin typeface="Arial Narrow" panose="020B0606020202030204" pitchFamily="34" charset="0"/>
                      </a:endParaRPr>
                    </a:p>
                  </a:txBody>
                  <a:tcPr/>
                </a:tc>
                <a:tc>
                  <a:txBody>
                    <a:bodyPr/>
                    <a:lstStyle/>
                    <a:p>
                      <a:pPr algn="ctr"/>
                      <a:r>
                        <a:rPr lang="es-ES" sz="1600" dirty="0">
                          <a:latin typeface="Arial Narrow" panose="020B0606020202030204" pitchFamily="34" charset="0"/>
                        </a:rPr>
                        <a:t>4</a:t>
                      </a:r>
                      <a:endParaRPr lang="es-PE" sz="1600" dirty="0">
                        <a:latin typeface="Arial Narrow" panose="020B0606020202030204" pitchFamily="34" charset="0"/>
                      </a:endParaRPr>
                    </a:p>
                  </a:txBody>
                  <a:tcPr/>
                </a:tc>
                <a:extLst>
                  <a:ext uri="{0D108BD9-81ED-4DB2-BD59-A6C34878D82A}">
                    <a16:rowId xmlns:a16="http://schemas.microsoft.com/office/drawing/2014/main" val="632774919"/>
                  </a:ext>
                </a:extLst>
              </a:tr>
              <a:tr h="213216">
                <a:tc>
                  <a:txBody>
                    <a:bodyPr/>
                    <a:lstStyle/>
                    <a:p>
                      <a:pPr algn="ctr"/>
                      <a:r>
                        <a:rPr lang="es-ES" sz="1600" dirty="0">
                          <a:latin typeface="Arial Narrow" panose="020B0606020202030204" pitchFamily="34" charset="0"/>
                        </a:rPr>
                        <a:t>A</a:t>
                      </a:r>
                      <a:endParaRPr lang="es-PE" sz="1600" dirty="0">
                        <a:latin typeface="Arial Narrow" panose="020B0606020202030204" pitchFamily="34" charset="0"/>
                      </a:endParaRPr>
                    </a:p>
                  </a:txBody>
                  <a:tcPr/>
                </a:tc>
                <a:tc>
                  <a:txBody>
                    <a:bodyPr/>
                    <a:lstStyle/>
                    <a:p>
                      <a:pPr algn="ctr"/>
                      <a:r>
                        <a:rPr lang="es-ES" sz="1600" dirty="0" err="1">
                          <a:latin typeface="Arial Narrow" panose="020B0606020202030204" pitchFamily="34" charset="0"/>
                        </a:rPr>
                        <a:t>X11</a:t>
                      </a:r>
                      <a:endParaRPr lang="es-PE" sz="1600" dirty="0">
                        <a:latin typeface="Arial Narrow" panose="020B0606020202030204" pitchFamily="34" charset="0"/>
                      </a:endParaRPr>
                    </a:p>
                  </a:txBody>
                  <a:tcPr/>
                </a:tc>
                <a:tc>
                  <a:txBody>
                    <a:bodyPr/>
                    <a:lstStyle/>
                    <a:p>
                      <a:pPr algn="ctr"/>
                      <a:r>
                        <a:rPr lang="es-ES" sz="1600" dirty="0" err="1">
                          <a:latin typeface="Arial Narrow" panose="020B0606020202030204" pitchFamily="34" charset="0"/>
                        </a:rPr>
                        <a:t>X12</a:t>
                      </a:r>
                      <a:endParaRPr lang="es-PE" sz="1600" dirty="0">
                        <a:latin typeface="Arial Narrow" panose="020B0606020202030204" pitchFamily="34" charset="0"/>
                      </a:endParaRPr>
                    </a:p>
                  </a:txBody>
                  <a:tcPr/>
                </a:tc>
                <a:tc>
                  <a:txBody>
                    <a:bodyPr/>
                    <a:lstStyle/>
                    <a:p>
                      <a:pPr algn="ctr"/>
                      <a:r>
                        <a:rPr lang="es-ES" sz="1600" dirty="0" err="1">
                          <a:latin typeface="Arial Narrow" panose="020B0606020202030204" pitchFamily="34" charset="0"/>
                        </a:rPr>
                        <a:t>X13</a:t>
                      </a:r>
                      <a:endParaRPr lang="es-PE" sz="1600" dirty="0">
                        <a:latin typeface="Arial Narrow" panose="020B0606020202030204" pitchFamily="34" charset="0"/>
                      </a:endParaRPr>
                    </a:p>
                  </a:txBody>
                  <a:tcPr/>
                </a:tc>
                <a:tc>
                  <a:txBody>
                    <a:bodyPr/>
                    <a:lstStyle/>
                    <a:p>
                      <a:pPr algn="ctr"/>
                      <a:r>
                        <a:rPr lang="es-ES" sz="1600" dirty="0" err="1">
                          <a:latin typeface="Arial Narrow" panose="020B0606020202030204" pitchFamily="34" charset="0"/>
                        </a:rPr>
                        <a:t>X14</a:t>
                      </a:r>
                      <a:endParaRPr lang="es-PE" sz="1600" dirty="0">
                        <a:latin typeface="Arial Narrow" panose="020B0606020202030204" pitchFamily="34" charset="0"/>
                      </a:endParaRPr>
                    </a:p>
                  </a:txBody>
                  <a:tcPr/>
                </a:tc>
                <a:extLst>
                  <a:ext uri="{0D108BD9-81ED-4DB2-BD59-A6C34878D82A}">
                    <a16:rowId xmlns:a16="http://schemas.microsoft.com/office/drawing/2014/main" val="2461687191"/>
                  </a:ext>
                </a:extLst>
              </a:tr>
              <a:tr h="213216">
                <a:tc>
                  <a:txBody>
                    <a:bodyPr/>
                    <a:lstStyle/>
                    <a:p>
                      <a:pPr algn="ctr"/>
                      <a:r>
                        <a:rPr lang="es-ES" sz="1600" dirty="0">
                          <a:latin typeface="Arial Narrow" panose="020B0606020202030204" pitchFamily="34" charset="0"/>
                        </a:rPr>
                        <a:t>B</a:t>
                      </a:r>
                      <a:endParaRPr lang="es-PE" sz="1600" dirty="0">
                        <a:latin typeface="Arial Narrow" panose="020B0606020202030204" pitchFamily="34" charset="0"/>
                      </a:endParaRPr>
                    </a:p>
                  </a:txBody>
                  <a:tcPr/>
                </a:tc>
                <a:tc>
                  <a:txBody>
                    <a:bodyPr/>
                    <a:lstStyle/>
                    <a:p>
                      <a:pPr algn="ctr"/>
                      <a:r>
                        <a:rPr lang="es-ES" sz="1600" dirty="0" err="1">
                          <a:latin typeface="Arial Narrow" panose="020B0606020202030204" pitchFamily="34" charset="0"/>
                        </a:rPr>
                        <a:t>X21</a:t>
                      </a:r>
                      <a:endParaRPr lang="es-PE" sz="1600" dirty="0">
                        <a:latin typeface="Arial Narrow" panose="020B0606020202030204" pitchFamily="34" charset="0"/>
                      </a:endParaRPr>
                    </a:p>
                  </a:txBody>
                  <a:tcPr/>
                </a:tc>
                <a:tc>
                  <a:txBody>
                    <a:bodyPr/>
                    <a:lstStyle/>
                    <a:p>
                      <a:pPr algn="ctr"/>
                      <a:r>
                        <a:rPr lang="es-ES" sz="1600" dirty="0" err="1">
                          <a:latin typeface="Arial Narrow" panose="020B0606020202030204" pitchFamily="34" charset="0"/>
                        </a:rPr>
                        <a:t>X22</a:t>
                      </a:r>
                      <a:endParaRPr lang="es-PE" sz="1600" dirty="0">
                        <a:latin typeface="Arial Narrow" panose="020B0606020202030204" pitchFamily="34" charset="0"/>
                      </a:endParaRPr>
                    </a:p>
                  </a:txBody>
                  <a:tcPr/>
                </a:tc>
                <a:tc>
                  <a:txBody>
                    <a:bodyPr/>
                    <a:lstStyle/>
                    <a:p>
                      <a:pPr algn="ctr"/>
                      <a:r>
                        <a:rPr lang="es-ES" sz="1600" dirty="0" err="1">
                          <a:latin typeface="Arial Narrow" panose="020B0606020202030204" pitchFamily="34" charset="0"/>
                        </a:rPr>
                        <a:t>X23</a:t>
                      </a:r>
                      <a:endParaRPr lang="es-PE" sz="1600" dirty="0">
                        <a:latin typeface="Arial Narrow" panose="020B0606020202030204" pitchFamily="34" charset="0"/>
                      </a:endParaRPr>
                    </a:p>
                  </a:txBody>
                  <a:tcPr/>
                </a:tc>
                <a:tc>
                  <a:txBody>
                    <a:bodyPr/>
                    <a:lstStyle/>
                    <a:p>
                      <a:pPr algn="ctr"/>
                      <a:r>
                        <a:rPr lang="es-ES" sz="1600" dirty="0" err="1">
                          <a:latin typeface="Arial Narrow" panose="020B0606020202030204" pitchFamily="34" charset="0"/>
                        </a:rPr>
                        <a:t>X24</a:t>
                      </a:r>
                      <a:endParaRPr lang="es-PE" sz="1600" dirty="0">
                        <a:latin typeface="Arial Narrow" panose="020B0606020202030204" pitchFamily="34" charset="0"/>
                      </a:endParaRPr>
                    </a:p>
                  </a:txBody>
                  <a:tcPr/>
                </a:tc>
                <a:extLst>
                  <a:ext uri="{0D108BD9-81ED-4DB2-BD59-A6C34878D82A}">
                    <a16:rowId xmlns:a16="http://schemas.microsoft.com/office/drawing/2014/main" val="1359064132"/>
                  </a:ext>
                </a:extLst>
              </a:tr>
              <a:tr h="213216">
                <a:tc>
                  <a:txBody>
                    <a:bodyPr/>
                    <a:lstStyle/>
                    <a:p>
                      <a:pPr algn="ctr"/>
                      <a:r>
                        <a:rPr lang="es-ES" sz="1600" dirty="0">
                          <a:latin typeface="Arial Narrow" panose="020B0606020202030204" pitchFamily="34" charset="0"/>
                        </a:rPr>
                        <a:t>C</a:t>
                      </a:r>
                      <a:endParaRPr lang="es-PE" sz="1600" dirty="0">
                        <a:latin typeface="Arial Narrow" panose="020B0606020202030204" pitchFamily="34" charset="0"/>
                      </a:endParaRPr>
                    </a:p>
                  </a:txBody>
                  <a:tcPr/>
                </a:tc>
                <a:tc>
                  <a:txBody>
                    <a:bodyPr/>
                    <a:lstStyle/>
                    <a:p>
                      <a:pPr algn="ctr"/>
                      <a:r>
                        <a:rPr lang="es-ES" sz="1600" dirty="0" err="1">
                          <a:latin typeface="Arial Narrow" panose="020B0606020202030204" pitchFamily="34" charset="0"/>
                        </a:rPr>
                        <a:t>X31</a:t>
                      </a:r>
                      <a:endParaRPr lang="es-PE" sz="1600" dirty="0">
                        <a:latin typeface="Arial Narrow" panose="020B0606020202030204" pitchFamily="34" charset="0"/>
                      </a:endParaRPr>
                    </a:p>
                  </a:txBody>
                  <a:tcPr/>
                </a:tc>
                <a:tc>
                  <a:txBody>
                    <a:bodyPr/>
                    <a:lstStyle/>
                    <a:p>
                      <a:pPr algn="ctr"/>
                      <a:r>
                        <a:rPr lang="es-ES" sz="1600" dirty="0" err="1">
                          <a:latin typeface="Arial Narrow" panose="020B0606020202030204" pitchFamily="34" charset="0"/>
                        </a:rPr>
                        <a:t>X32</a:t>
                      </a:r>
                      <a:endParaRPr lang="es-PE" sz="1600" dirty="0">
                        <a:latin typeface="Arial Narrow" panose="020B0606020202030204" pitchFamily="34" charset="0"/>
                      </a:endParaRPr>
                    </a:p>
                  </a:txBody>
                  <a:tcPr/>
                </a:tc>
                <a:tc>
                  <a:txBody>
                    <a:bodyPr/>
                    <a:lstStyle/>
                    <a:p>
                      <a:pPr algn="ctr"/>
                      <a:r>
                        <a:rPr lang="es-ES" sz="1600" dirty="0" err="1">
                          <a:latin typeface="Arial Narrow" panose="020B0606020202030204" pitchFamily="34" charset="0"/>
                        </a:rPr>
                        <a:t>X33</a:t>
                      </a:r>
                      <a:endParaRPr lang="es-PE" sz="1600" dirty="0">
                        <a:latin typeface="Arial Narrow" panose="020B0606020202030204" pitchFamily="34" charset="0"/>
                      </a:endParaRPr>
                    </a:p>
                  </a:txBody>
                  <a:tcPr/>
                </a:tc>
                <a:tc>
                  <a:txBody>
                    <a:bodyPr/>
                    <a:lstStyle/>
                    <a:p>
                      <a:pPr algn="ctr"/>
                      <a:r>
                        <a:rPr lang="es-ES" sz="1600" dirty="0" err="1">
                          <a:latin typeface="Arial Narrow" panose="020B0606020202030204" pitchFamily="34" charset="0"/>
                        </a:rPr>
                        <a:t>X34</a:t>
                      </a:r>
                      <a:endParaRPr lang="es-PE" sz="1600" dirty="0">
                        <a:latin typeface="Arial Narrow" panose="020B0606020202030204" pitchFamily="34" charset="0"/>
                      </a:endParaRPr>
                    </a:p>
                  </a:txBody>
                  <a:tcPr/>
                </a:tc>
                <a:extLst>
                  <a:ext uri="{0D108BD9-81ED-4DB2-BD59-A6C34878D82A}">
                    <a16:rowId xmlns:a16="http://schemas.microsoft.com/office/drawing/2014/main" val="2106299155"/>
                  </a:ext>
                </a:extLst>
              </a:tr>
            </a:tbl>
          </a:graphicData>
        </a:graphic>
      </p:graphicFrame>
      <p:sp>
        <p:nvSpPr>
          <p:cNvPr id="2" name="CuadroTexto 1">
            <a:extLst>
              <a:ext uri="{FF2B5EF4-FFF2-40B4-BE49-F238E27FC236}">
                <a16:creationId xmlns:a16="http://schemas.microsoft.com/office/drawing/2014/main" id="{20EA1F8E-C4BA-4855-A87E-9AA11A08AF89}"/>
              </a:ext>
            </a:extLst>
          </p:cNvPr>
          <p:cNvSpPr txBox="1"/>
          <p:nvPr/>
        </p:nvSpPr>
        <p:spPr>
          <a:xfrm>
            <a:off x="508959" y="5055079"/>
            <a:ext cx="1475117" cy="369332"/>
          </a:xfrm>
          <a:prstGeom prst="rect">
            <a:avLst/>
          </a:prstGeom>
          <a:noFill/>
        </p:spPr>
        <p:txBody>
          <a:bodyPr wrap="square" rtlCol="0">
            <a:spAutoFit/>
          </a:bodyPr>
          <a:lstStyle/>
          <a:p>
            <a:r>
              <a:rPr lang="es-ES" dirty="0">
                <a:solidFill>
                  <a:srgbClr val="FF0000"/>
                </a:solidFill>
              </a:rPr>
              <a:t>SOLUCIÓN</a:t>
            </a:r>
            <a:endParaRPr lang="es-PE" dirty="0">
              <a:solidFill>
                <a:srgbClr val="FF0000"/>
              </a:solidFill>
            </a:endParaRPr>
          </a:p>
        </p:txBody>
      </p:sp>
      <p:sp>
        <p:nvSpPr>
          <p:cNvPr id="7" name="Rectángulo: esquinas redondeadas 4">
            <a:extLst>
              <a:ext uri="{FF2B5EF4-FFF2-40B4-BE49-F238E27FC236}">
                <a16:creationId xmlns:a16="http://schemas.microsoft.com/office/drawing/2014/main" id="{153E2C8B-2243-4097-932D-6DC7EAED6B5B}"/>
              </a:ext>
            </a:extLst>
          </p:cNvPr>
          <p:cNvSpPr txBox="1"/>
          <p:nvPr/>
        </p:nvSpPr>
        <p:spPr>
          <a:xfrm>
            <a:off x="6291532" y="1250830"/>
            <a:ext cx="4295955" cy="5546784"/>
          </a:xfrm>
          <a:prstGeom prst="rect">
            <a:avLst/>
          </a:prstGeom>
          <a:solidFill>
            <a:schemeClr val="accent1">
              <a:lumMod val="20000"/>
              <a:lumOff val="80000"/>
            </a:schemeClr>
          </a:solidFill>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marL="0" lvl="0" indent="0" algn="l" defTabSz="1066800" rtl="0">
              <a:spcBef>
                <a:spcPct val="0"/>
              </a:spcBef>
              <a:spcAft>
                <a:spcPct val="35000"/>
              </a:spcAft>
              <a:buNone/>
            </a:pPr>
            <a:r>
              <a:rPr lang="es-PE" sz="1600" kern="1200" dirty="0">
                <a:solidFill>
                  <a:srgbClr val="FF0000"/>
                </a:solidFill>
                <a:latin typeface="Arial Narrow" panose="020B0606020202030204" pitchFamily="34" charset="0"/>
              </a:rPr>
              <a:t>Identificación de las variables</a:t>
            </a:r>
          </a:p>
          <a:p>
            <a:pPr lvl="0"/>
            <a:r>
              <a:rPr lang="es-PE" sz="1600" dirty="0" err="1">
                <a:solidFill>
                  <a:schemeClr val="tx1"/>
                </a:solidFill>
                <a:latin typeface="Arial Narrow" pitchFamily="34" charset="0"/>
              </a:rPr>
              <a:t>Xij</a:t>
            </a:r>
            <a:r>
              <a:rPr lang="es-PE" sz="1600" dirty="0">
                <a:solidFill>
                  <a:schemeClr val="tx1"/>
                </a:solidFill>
                <a:latin typeface="Arial Narrow" pitchFamily="34" charset="0"/>
              </a:rPr>
              <a:t> = Cantidad de producto de la planta i, que se van a distribuir en el </a:t>
            </a:r>
            <a:r>
              <a:rPr lang="es-PE" sz="1600" dirty="0" err="1">
                <a:solidFill>
                  <a:schemeClr val="tx1"/>
                </a:solidFill>
                <a:latin typeface="Arial Narrow" pitchFamily="34" charset="0"/>
              </a:rPr>
              <a:t>almacenj</a:t>
            </a:r>
            <a:endParaRPr lang="es-PE" sz="1600" dirty="0">
              <a:solidFill>
                <a:schemeClr val="tx1"/>
              </a:solidFill>
              <a:latin typeface="Arial Narrow" pitchFamily="34" charset="0"/>
            </a:endParaRPr>
          </a:p>
          <a:p>
            <a:pPr marL="0" lvl="0" indent="0" algn="l" defTabSz="1066800" rtl="0">
              <a:spcBef>
                <a:spcPct val="0"/>
              </a:spcBef>
              <a:spcAft>
                <a:spcPct val="35000"/>
              </a:spcAft>
              <a:buNone/>
            </a:pPr>
            <a:r>
              <a:rPr lang="es-PE" sz="1600" kern="1200" dirty="0">
                <a:solidFill>
                  <a:srgbClr val="FF0000"/>
                </a:solidFill>
                <a:latin typeface="Arial Narrow" panose="020B0606020202030204" pitchFamily="34" charset="0"/>
              </a:rPr>
              <a:t>Identificación de la </a:t>
            </a:r>
            <a:r>
              <a:rPr lang="es-PE" sz="1600" kern="1200" dirty="0" err="1">
                <a:solidFill>
                  <a:srgbClr val="FF0000"/>
                </a:solidFill>
                <a:latin typeface="Arial Narrow" panose="020B0606020202030204" pitchFamily="34" charset="0"/>
              </a:rPr>
              <a:t>F.O</a:t>
            </a:r>
            <a:r>
              <a:rPr lang="es-PE" sz="1600" kern="1200" dirty="0">
                <a:solidFill>
                  <a:srgbClr val="FF0000"/>
                </a:solidFill>
                <a:latin typeface="Arial Narrow" panose="020B0606020202030204" pitchFamily="34" charset="0"/>
              </a:rPr>
              <a:t>.</a:t>
            </a:r>
          </a:p>
          <a:p>
            <a:pPr lvl="0"/>
            <a:r>
              <a:rPr lang="es-PE" sz="1600" dirty="0">
                <a:solidFill>
                  <a:schemeClr val="tx1"/>
                </a:solidFill>
                <a:latin typeface="Arial Narrow" pitchFamily="34" charset="0"/>
              </a:rPr>
              <a:t>MAX  </a:t>
            </a:r>
            <a:r>
              <a:rPr lang="es-PE" sz="1600" dirty="0" err="1">
                <a:solidFill>
                  <a:schemeClr val="tx1"/>
                </a:solidFill>
                <a:latin typeface="Arial Narrow" pitchFamily="34" charset="0"/>
              </a:rPr>
              <a:t>1X11</a:t>
            </a:r>
            <a:r>
              <a:rPr lang="es-PE" sz="1600" dirty="0">
                <a:solidFill>
                  <a:schemeClr val="tx1"/>
                </a:solidFill>
                <a:latin typeface="Arial Narrow" pitchFamily="34" charset="0"/>
              </a:rPr>
              <a:t>   +</a:t>
            </a:r>
            <a:r>
              <a:rPr lang="es-PE" sz="1600" dirty="0" err="1">
                <a:solidFill>
                  <a:schemeClr val="tx1"/>
                </a:solidFill>
                <a:latin typeface="Arial Narrow" pitchFamily="34" charset="0"/>
              </a:rPr>
              <a:t>1.1X12</a:t>
            </a:r>
            <a:r>
              <a:rPr lang="es-PE" sz="1600" dirty="0">
                <a:solidFill>
                  <a:schemeClr val="tx1"/>
                </a:solidFill>
                <a:latin typeface="Arial Narrow" pitchFamily="34" charset="0"/>
              </a:rPr>
              <a:t>      +</a:t>
            </a:r>
            <a:r>
              <a:rPr lang="es-PE" sz="1600" dirty="0" err="1">
                <a:solidFill>
                  <a:schemeClr val="tx1"/>
                </a:solidFill>
                <a:latin typeface="Arial Narrow" pitchFamily="34" charset="0"/>
              </a:rPr>
              <a:t>1X13</a:t>
            </a:r>
            <a:r>
              <a:rPr lang="es-PE" sz="1600" dirty="0">
                <a:solidFill>
                  <a:schemeClr val="tx1"/>
                </a:solidFill>
                <a:latin typeface="Arial Narrow" pitchFamily="34" charset="0"/>
              </a:rPr>
              <a:t>   +</a:t>
            </a:r>
            <a:r>
              <a:rPr lang="es-PE" sz="1600" dirty="0" err="1">
                <a:solidFill>
                  <a:schemeClr val="tx1"/>
                </a:solidFill>
                <a:latin typeface="Arial Narrow" pitchFamily="34" charset="0"/>
              </a:rPr>
              <a:t>0,6X14</a:t>
            </a:r>
            <a:endParaRPr lang="es-PE" sz="1600" dirty="0">
              <a:solidFill>
                <a:schemeClr val="tx1"/>
              </a:solidFill>
              <a:latin typeface="Arial Narrow" pitchFamily="34" charset="0"/>
            </a:endParaRPr>
          </a:p>
          <a:p>
            <a:pPr lvl="0"/>
            <a:r>
              <a:rPr lang="es-PE" sz="1600" dirty="0">
                <a:solidFill>
                  <a:schemeClr val="tx1"/>
                </a:solidFill>
                <a:latin typeface="Arial Narrow" pitchFamily="34" charset="0"/>
              </a:rPr>
              <a:t>        +</a:t>
            </a:r>
            <a:r>
              <a:rPr lang="es-PE" sz="1600" dirty="0" err="1">
                <a:solidFill>
                  <a:schemeClr val="tx1"/>
                </a:solidFill>
                <a:latin typeface="Arial Narrow" pitchFamily="34" charset="0"/>
              </a:rPr>
              <a:t>1X21</a:t>
            </a:r>
            <a:r>
              <a:rPr lang="es-PE" sz="1600" dirty="0">
                <a:solidFill>
                  <a:schemeClr val="tx1"/>
                </a:solidFill>
                <a:latin typeface="Arial Narrow" pitchFamily="34" charset="0"/>
              </a:rPr>
              <a:t>   +</a:t>
            </a:r>
            <a:r>
              <a:rPr lang="es-PE" sz="1600" dirty="0" err="1">
                <a:solidFill>
                  <a:schemeClr val="tx1"/>
                </a:solidFill>
                <a:latin typeface="Arial Narrow" pitchFamily="34" charset="0"/>
              </a:rPr>
              <a:t>1.1X22</a:t>
            </a:r>
            <a:r>
              <a:rPr lang="es-PE" sz="1600" dirty="0">
                <a:solidFill>
                  <a:schemeClr val="tx1"/>
                </a:solidFill>
                <a:latin typeface="Arial Narrow" pitchFamily="34" charset="0"/>
              </a:rPr>
              <a:t>      +</a:t>
            </a:r>
            <a:r>
              <a:rPr lang="es-PE" sz="1600" dirty="0" err="1">
                <a:solidFill>
                  <a:schemeClr val="tx1"/>
                </a:solidFill>
                <a:latin typeface="Arial Narrow" pitchFamily="34" charset="0"/>
              </a:rPr>
              <a:t>1X23</a:t>
            </a:r>
            <a:r>
              <a:rPr lang="es-PE" sz="1600" dirty="0">
                <a:solidFill>
                  <a:schemeClr val="tx1"/>
                </a:solidFill>
                <a:latin typeface="Arial Narrow" pitchFamily="34" charset="0"/>
              </a:rPr>
              <a:t>   +</a:t>
            </a:r>
            <a:r>
              <a:rPr lang="es-PE" sz="1600" dirty="0" err="1">
                <a:solidFill>
                  <a:schemeClr val="tx1"/>
                </a:solidFill>
                <a:latin typeface="Arial Narrow" pitchFamily="34" charset="0"/>
              </a:rPr>
              <a:t>0,6X24</a:t>
            </a:r>
            <a:endParaRPr lang="es-PE" sz="1600" dirty="0">
              <a:solidFill>
                <a:schemeClr val="tx1"/>
              </a:solidFill>
              <a:latin typeface="Arial Narrow" pitchFamily="34" charset="0"/>
            </a:endParaRPr>
          </a:p>
          <a:p>
            <a:pPr lvl="0"/>
            <a:r>
              <a:rPr lang="es-PE" sz="1600" dirty="0">
                <a:solidFill>
                  <a:schemeClr val="tx1"/>
                </a:solidFill>
                <a:latin typeface="Arial Narrow" pitchFamily="34" charset="0"/>
              </a:rPr>
              <a:t>        +</a:t>
            </a:r>
            <a:r>
              <a:rPr lang="es-PE" sz="1600" dirty="0" err="1">
                <a:solidFill>
                  <a:schemeClr val="tx1"/>
                </a:solidFill>
                <a:latin typeface="Arial Narrow" pitchFamily="34" charset="0"/>
              </a:rPr>
              <a:t>1X31</a:t>
            </a:r>
            <a:r>
              <a:rPr lang="es-PE" sz="1600" dirty="0">
                <a:solidFill>
                  <a:schemeClr val="tx1"/>
                </a:solidFill>
                <a:latin typeface="Arial Narrow" pitchFamily="34" charset="0"/>
              </a:rPr>
              <a:t>   +</a:t>
            </a:r>
            <a:r>
              <a:rPr lang="es-PE" sz="1600" dirty="0" err="1">
                <a:solidFill>
                  <a:schemeClr val="tx1"/>
                </a:solidFill>
                <a:latin typeface="Arial Narrow" pitchFamily="34" charset="0"/>
              </a:rPr>
              <a:t>1.1X32</a:t>
            </a:r>
            <a:r>
              <a:rPr lang="es-PE" sz="1600" dirty="0">
                <a:solidFill>
                  <a:schemeClr val="tx1"/>
                </a:solidFill>
                <a:latin typeface="Arial Narrow" pitchFamily="34" charset="0"/>
              </a:rPr>
              <a:t>      +</a:t>
            </a:r>
            <a:r>
              <a:rPr lang="es-PE" sz="1600" dirty="0" err="1">
                <a:solidFill>
                  <a:schemeClr val="tx1"/>
                </a:solidFill>
                <a:latin typeface="Arial Narrow" pitchFamily="34" charset="0"/>
              </a:rPr>
              <a:t>1X33</a:t>
            </a:r>
            <a:r>
              <a:rPr lang="es-PE" sz="1600" dirty="0">
                <a:solidFill>
                  <a:schemeClr val="tx1"/>
                </a:solidFill>
                <a:latin typeface="Arial Narrow" pitchFamily="34" charset="0"/>
              </a:rPr>
              <a:t>   +</a:t>
            </a:r>
            <a:r>
              <a:rPr lang="es-PE" sz="1600" dirty="0" err="1">
                <a:solidFill>
                  <a:schemeClr val="tx1"/>
                </a:solidFill>
                <a:latin typeface="Arial Narrow" pitchFamily="34" charset="0"/>
              </a:rPr>
              <a:t>0,6X34</a:t>
            </a:r>
            <a:endParaRPr lang="es-PE" sz="1600" dirty="0">
              <a:solidFill>
                <a:schemeClr val="tx1"/>
              </a:solidFill>
              <a:latin typeface="Arial Narrow" pitchFamily="34" charset="0"/>
            </a:endParaRPr>
          </a:p>
          <a:p>
            <a:pPr lvl="0"/>
            <a:r>
              <a:rPr lang="es-PE" sz="1600" dirty="0">
                <a:solidFill>
                  <a:schemeClr val="tx1"/>
                </a:solidFill>
                <a:latin typeface="Arial Narrow" pitchFamily="34" charset="0"/>
              </a:rPr>
              <a:t>        </a:t>
            </a:r>
            <a:r>
              <a:rPr lang="es-PE" sz="1600" dirty="0">
                <a:solidFill>
                  <a:srgbClr val="7030A0"/>
                </a:solidFill>
                <a:latin typeface="Arial Narrow" pitchFamily="34" charset="0"/>
              </a:rPr>
              <a:t>-</a:t>
            </a:r>
            <a:r>
              <a:rPr lang="es-PE" sz="1600" dirty="0" err="1">
                <a:solidFill>
                  <a:srgbClr val="7030A0"/>
                </a:solidFill>
                <a:latin typeface="Arial Narrow" pitchFamily="34" charset="0"/>
              </a:rPr>
              <a:t>0.40X11-0.40X12</a:t>
            </a:r>
            <a:r>
              <a:rPr lang="es-PE" sz="1600" dirty="0">
                <a:solidFill>
                  <a:srgbClr val="7030A0"/>
                </a:solidFill>
                <a:latin typeface="Arial Narrow" pitchFamily="34" charset="0"/>
              </a:rPr>
              <a:t> -</a:t>
            </a:r>
            <a:r>
              <a:rPr lang="es-PE" sz="1600" dirty="0" err="1">
                <a:solidFill>
                  <a:srgbClr val="7030A0"/>
                </a:solidFill>
                <a:latin typeface="Arial Narrow" pitchFamily="34" charset="0"/>
              </a:rPr>
              <a:t>0.40X13</a:t>
            </a:r>
            <a:r>
              <a:rPr lang="es-PE" sz="1600" dirty="0">
                <a:solidFill>
                  <a:srgbClr val="7030A0"/>
                </a:solidFill>
                <a:latin typeface="Arial Narrow" pitchFamily="34" charset="0"/>
              </a:rPr>
              <a:t> -</a:t>
            </a:r>
            <a:r>
              <a:rPr lang="es-PE" sz="1600" dirty="0" err="1">
                <a:solidFill>
                  <a:srgbClr val="7030A0"/>
                </a:solidFill>
                <a:latin typeface="Arial Narrow" pitchFamily="34" charset="0"/>
              </a:rPr>
              <a:t>0.40X14</a:t>
            </a:r>
            <a:endParaRPr lang="es-PE" sz="1600" dirty="0">
              <a:solidFill>
                <a:srgbClr val="7030A0"/>
              </a:solidFill>
              <a:latin typeface="Arial Narrow" pitchFamily="34" charset="0"/>
            </a:endParaRPr>
          </a:p>
          <a:p>
            <a:pPr lvl="0"/>
            <a:r>
              <a:rPr lang="es-PE" sz="1600" dirty="0">
                <a:solidFill>
                  <a:srgbClr val="7030A0"/>
                </a:solidFill>
                <a:latin typeface="Arial Narrow" pitchFamily="34" charset="0"/>
              </a:rPr>
              <a:t>        -</a:t>
            </a:r>
            <a:r>
              <a:rPr lang="es-PE" sz="1600" dirty="0" err="1">
                <a:solidFill>
                  <a:srgbClr val="7030A0"/>
                </a:solidFill>
                <a:latin typeface="Arial Narrow" pitchFamily="34" charset="0"/>
              </a:rPr>
              <a:t>0.35X11-0.35X12</a:t>
            </a:r>
            <a:r>
              <a:rPr lang="es-PE" sz="1600" dirty="0">
                <a:solidFill>
                  <a:srgbClr val="7030A0"/>
                </a:solidFill>
                <a:latin typeface="Arial Narrow" pitchFamily="34" charset="0"/>
              </a:rPr>
              <a:t> -</a:t>
            </a:r>
            <a:r>
              <a:rPr lang="es-PE" sz="1600" dirty="0" err="1">
                <a:solidFill>
                  <a:srgbClr val="7030A0"/>
                </a:solidFill>
                <a:latin typeface="Arial Narrow" pitchFamily="34" charset="0"/>
              </a:rPr>
              <a:t>0.35X13</a:t>
            </a:r>
            <a:r>
              <a:rPr lang="es-PE" sz="1600" dirty="0">
                <a:solidFill>
                  <a:srgbClr val="7030A0"/>
                </a:solidFill>
                <a:latin typeface="Arial Narrow" pitchFamily="34" charset="0"/>
              </a:rPr>
              <a:t> -</a:t>
            </a:r>
            <a:r>
              <a:rPr lang="es-PE" sz="1600" dirty="0" err="1">
                <a:solidFill>
                  <a:srgbClr val="7030A0"/>
                </a:solidFill>
                <a:latin typeface="Arial Narrow" pitchFamily="34" charset="0"/>
              </a:rPr>
              <a:t>0.35X14</a:t>
            </a:r>
            <a:endParaRPr lang="es-PE" sz="1600" dirty="0">
              <a:solidFill>
                <a:srgbClr val="7030A0"/>
              </a:solidFill>
              <a:latin typeface="Arial Narrow" pitchFamily="34" charset="0"/>
            </a:endParaRPr>
          </a:p>
          <a:p>
            <a:pPr lvl="0"/>
            <a:r>
              <a:rPr lang="es-PE" sz="1600" dirty="0">
                <a:solidFill>
                  <a:srgbClr val="7030A0"/>
                </a:solidFill>
                <a:latin typeface="Arial Narrow" pitchFamily="34" charset="0"/>
              </a:rPr>
              <a:t>        -</a:t>
            </a:r>
            <a:r>
              <a:rPr lang="es-PE" sz="1600" dirty="0" err="1">
                <a:solidFill>
                  <a:srgbClr val="7030A0"/>
                </a:solidFill>
                <a:latin typeface="Arial Narrow" pitchFamily="34" charset="0"/>
              </a:rPr>
              <a:t>0.45X11-0.45X12</a:t>
            </a:r>
            <a:r>
              <a:rPr lang="es-PE" sz="1600" dirty="0">
                <a:solidFill>
                  <a:srgbClr val="7030A0"/>
                </a:solidFill>
                <a:latin typeface="Arial Narrow" pitchFamily="34" charset="0"/>
              </a:rPr>
              <a:t> -</a:t>
            </a:r>
            <a:r>
              <a:rPr lang="es-PE" sz="1600" dirty="0" err="1">
                <a:solidFill>
                  <a:srgbClr val="7030A0"/>
                </a:solidFill>
                <a:latin typeface="Arial Narrow" pitchFamily="34" charset="0"/>
              </a:rPr>
              <a:t>0.45X13</a:t>
            </a:r>
            <a:r>
              <a:rPr lang="es-PE" sz="1600" dirty="0">
                <a:solidFill>
                  <a:srgbClr val="7030A0"/>
                </a:solidFill>
                <a:latin typeface="Arial Narrow" pitchFamily="34" charset="0"/>
              </a:rPr>
              <a:t> -</a:t>
            </a:r>
            <a:r>
              <a:rPr lang="es-PE" sz="1600" dirty="0" err="1">
                <a:solidFill>
                  <a:srgbClr val="7030A0"/>
                </a:solidFill>
                <a:latin typeface="Arial Narrow" pitchFamily="34" charset="0"/>
              </a:rPr>
              <a:t>0.45X14</a:t>
            </a:r>
            <a:endParaRPr lang="es-PE" sz="1600" dirty="0">
              <a:solidFill>
                <a:srgbClr val="7030A0"/>
              </a:solidFill>
              <a:latin typeface="Arial Narrow" pitchFamily="34" charset="0"/>
            </a:endParaRPr>
          </a:p>
          <a:p>
            <a:pPr lvl="0"/>
            <a:r>
              <a:rPr lang="es-PE" sz="1600" dirty="0">
                <a:solidFill>
                  <a:srgbClr val="00B050"/>
                </a:solidFill>
                <a:latin typeface="Arial Narrow" pitchFamily="34" charset="0"/>
              </a:rPr>
              <a:t>        -</a:t>
            </a:r>
            <a:r>
              <a:rPr lang="es-PE" sz="1600" dirty="0" err="1">
                <a:solidFill>
                  <a:srgbClr val="00B050"/>
                </a:solidFill>
                <a:latin typeface="Arial Narrow" pitchFamily="34" charset="0"/>
              </a:rPr>
              <a:t>0.20X11-0.20X12</a:t>
            </a:r>
            <a:r>
              <a:rPr lang="es-PE" sz="1600" dirty="0">
                <a:solidFill>
                  <a:srgbClr val="00B050"/>
                </a:solidFill>
                <a:latin typeface="Arial Narrow" pitchFamily="34" charset="0"/>
              </a:rPr>
              <a:t> -</a:t>
            </a:r>
            <a:r>
              <a:rPr lang="es-PE" sz="1600" dirty="0" err="1">
                <a:solidFill>
                  <a:srgbClr val="00B050"/>
                </a:solidFill>
                <a:latin typeface="Arial Narrow" pitchFamily="34" charset="0"/>
              </a:rPr>
              <a:t>0.30X13</a:t>
            </a:r>
            <a:r>
              <a:rPr lang="es-PE" sz="1600" dirty="0">
                <a:solidFill>
                  <a:srgbClr val="00B050"/>
                </a:solidFill>
                <a:latin typeface="Arial Narrow" pitchFamily="34" charset="0"/>
              </a:rPr>
              <a:t> -</a:t>
            </a:r>
            <a:r>
              <a:rPr lang="es-PE" sz="1600" dirty="0" err="1">
                <a:solidFill>
                  <a:srgbClr val="00B050"/>
                </a:solidFill>
                <a:latin typeface="Arial Narrow" pitchFamily="34" charset="0"/>
              </a:rPr>
              <a:t>0.30X14</a:t>
            </a:r>
            <a:endParaRPr lang="es-PE" sz="1600" dirty="0">
              <a:solidFill>
                <a:srgbClr val="00B050"/>
              </a:solidFill>
              <a:latin typeface="Arial Narrow" pitchFamily="34" charset="0"/>
            </a:endParaRPr>
          </a:p>
          <a:p>
            <a:r>
              <a:rPr lang="es-PE" sz="1600" dirty="0">
                <a:solidFill>
                  <a:srgbClr val="00B050"/>
                </a:solidFill>
                <a:latin typeface="Arial Narrow" pitchFamily="34" charset="0"/>
              </a:rPr>
              <a:t>        -</a:t>
            </a:r>
            <a:r>
              <a:rPr lang="es-PE" sz="1600" dirty="0" err="1">
                <a:solidFill>
                  <a:srgbClr val="00B050"/>
                </a:solidFill>
                <a:latin typeface="Arial Narrow" pitchFamily="34" charset="0"/>
              </a:rPr>
              <a:t>0.20X21-0.10X22</a:t>
            </a:r>
            <a:r>
              <a:rPr lang="es-PE" sz="1600" dirty="0">
                <a:solidFill>
                  <a:srgbClr val="00B050"/>
                </a:solidFill>
                <a:latin typeface="Arial Narrow" pitchFamily="34" charset="0"/>
              </a:rPr>
              <a:t> -</a:t>
            </a:r>
            <a:r>
              <a:rPr lang="es-PE" sz="1600" dirty="0" err="1">
                <a:solidFill>
                  <a:srgbClr val="00B050"/>
                </a:solidFill>
                <a:latin typeface="Arial Narrow" pitchFamily="34" charset="0"/>
              </a:rPr>
              <a:t>0.35X23</a:t>
            </a:r>
            <a:r>
              <a:rPr lang="es-PE" sz="1600" dirty="0">
                <a:solidFill>
                  <a:srgbClr val="00B050"/>
                </a:solidFill>
                <a:latin typeface="Arial Narrow" pitchFamily="34" charset="0"/>
              </a:rPr>
              <a:t> -</a:t>
            </a:r>
            <a:r>
              <a:rPr lang="es-PE" sz="1600" dirty="0" err="1">
                <a:solidFill>
                  <a:srgbClr val="00B050"/>
                </a:solidFill>
                <a:latin typeface="Arial Narrow" pitchFamily="34" charset="0"/>
              </a:rPr>
              <a:t>0.40X24</a:t>
            </a:r>
            <a:endParaRPr lang="es-PE" sz="1600" dirty="0">
              <a:solidFill>
                <a:srgbClr val="00B050"/>
              </a:solidFill>
              <a:latin typeface="Arial Narrow" pitchFamily="34" charset="0"/>
            </a:endParaRPr>
          </a:p>
          <a:p>
            <a:r>
              <a:rPr lang="es-PE" sz="1600" dirty="0">
                <a:solidFill>
                  <a:srgbClr val="00B050"/>
                </a:solidFill>
                <a:latin typeface="Arial Narrow" pitchFamily="34" charset="0"/>
              </a:rPr>
              <a:t>        -</a:t>
            </a:r>
            <a:r>
              <a:rPr lang="es-PE" sz="1600" dirty="0" err="1">
                <a:solidFill>
                  <a:srgbClr val="00B050"/>
                </a:solidFill>
                <a:latin typeface="Arial Narrow" pitchFamily="34" charset="0"/>
              </a:rPr>
              <a:t>0.40X11-0.30X12</a:t>
            </a:r>
            <a:r>
              <a:rPr lang="es-PE" sz="1600" dirty="0">
                <a:solidFill>
                  <a:srgbClr val="00B050"/>
                </a:solidFill>
                <a:latin typeface="Arial Narrow" pitchFamily="34" charset="0"/>
              </a:rPr>
              <a:t> -</a:t>
            </a:r>
            <a:r>
              <a:rPr lang="es-PE" sz="1600" dirty="0" err="1">
                <a:solidFill>
                  <a:srgbClr val="00B050"/>
                </a:solidFill>
                <a:latin typeface="Arial Narrow" pitchFamily="34" charset="0"/>
              </a:rPr>
              <a:t>0.20X13</a:t>
            </a:r>
            <a:r>
              <a:rPr lang="es-PE" sz="1600" dirty="0">
                <a:solidFill>
                  <a:srgbClr val="00B050"/>
                </a:solidFill>
                <a:latin typeface="Arial Narrow" pitchFamily="34" charset="0"/>
              </a:rPr>
              <a:t> -</a:t>
            </a:r>
            <a:r>
              <a:rPr lang="es-PE" sz="1600" dirty="0" err="1">
                <a:solidFill>
                  <a:srgbClr val="00B050"/>
                </a:solidFill>
                <a:latin typeface="Arial Narrow" pitchFamily="34" charset="0"/>
              </a:rPr>
              <a:t>0.20X14</a:t>
            </a:r>
            <a:endParaRPr lang="es-PE" sz="1600" dirty="0">
              <a:solidFill>
                <a:srgbClr val="00B050"/>
              </a:solidFill>
              <a:latin typeface="Arial Narrow" pitchFamily="34" charset="0"/>
            </a:endParaRPr>
          </a:p>
          <a:p>
            <a:pPr lvl="0" defTabSz="1066800">
              <a:spcBef>
                <a:spcPct val="0"/>
              </a:spcBef>
              <a:spcAft>
                <a:spcPct val="35000"/>
              </a:spcAft>
            </a:pPr>
            <a:r>
              <a:rPr lang="es-PE" sz="1600" dirty="0">
                <a:solidFill>
                  <a:srgbClr val="FF0000"/>
                </a:solidFill>
                <a:latin typeface="Arial Narrow" panose="020B0606020202030204" pitchFamily="34" charset="0"/>
              </a:rPr>
              <a:t>Identificación de las restricciones</a:t>
            </a:r>
          </a:p>
          <a:p>
            <a:pPr lvl="0"/>
            <a:r>
              <a:rPr lang="es-PE" sz="1600" dirty="0">
                <a:solidFill>
                  <a:schemeClr val="tx1"/>
                </a:solidFill>
                <a:latin typeface="Arial Narrow" pitchFamily="34" charset="0"/>
              </a:rPr>
              <a:t>  </a:t>
            </a:r>
            <a:r>
              <a:rPr lang="es-PE" sz="1600" dirty="0" err="1">
                <a:solidFill>
                  <a:schemeClr val="tx1"/>
                </a:solidFill>
                <a:latin typeface="Arial Narrow" pitchFamily="34" charset="0"/>
              </a:rPr>
              <a:t>X11+X12+X13+X14</a:t>
            </a:r>
            <a:r>
              <a:rPr lang="es-PE" sz="1600" dirty="0">
                <a:solidFill>
                  <a:schemeClr val="tx1"/>
                </a:solidFill>
                <a:latin typeface="Arial Narrow" pitchFamily="34" charset="0"/>
              </a:rPr>
              <a:t>&lt;=40000</a:t>
            </a:r>
          </a:p>
          <a:p>
            <a:pPr lvl="0"/>
            <a:r>
              <a:rPr lang="es-PE" sz="1600" dirty="0">
                <a:solidFill>
                  <a:schemeClr val="tx1"/>
                </a:solidFill>
                <a:latin typeface="Arial Narrow" pitchFamily="34" charset="0"/>
              </a:rPr>
              <a:t>  </a:t>
            </a:r>
            <a:r>
              <a:rPr lang="es-PE" sz="1600" dirty="0" err="1">
                <a:solidFill>
                  <a:schemeClr val="tx1"/>
                </a:solidFill>
                <a:latin typeface="Arial Narrow" pitchFamily="34" charset="0"/>
              </a:rPr>
              <a:t>X21+X22+X23+X24</a:t>
            </a:r>
            <a:r>
              <a:rPr lang="es-PE" sz="1600" dirty="0">
                <a:solidFill>
                  <a:schemeClr val="tx1"/>
                </a:solidFill>
                <a:latin typeface="Arial Narrow" pitchFamily="34" charset="0"/>
              </a:rPr>
              <a:t>&lt;=30000</a:t>
            </a:r>
          </a:p>
          <a:p>
            <a:pPr lvl="0"/>
            <a:r>
              <a:rPr lang="es-PE" sz="1600" dirty="0">
                <a:solidFill>
                  <a:schemeClr val="tx1"/>
                </a:solidFill>
                <a:latin typeface="Arial Narrow" pitchFamily="34" charset="0"/>
              </a:rPr>
              <a:t>  </a:t>
            </a:r>
            <a:r>
              <a:rPr lang="es-PE" sz="1600" dirty="0" err="1">
                <a:solidFill>
                  <a:schemeClr val="tx1"/>
                </a:solidFill>
                <a:latin typeface="Arial Narrow" pitchFamily="34" charset="0"/>
              </a:rPr>
              <a:t>X31+X32+X33+X34</a:t>
            </a:r>
            <a:r>
              <a:rPr lang="es-PE" sz="1600" dirty="0">
                <a:solidFill>
                  <a:schemeClr val="tx1"/>
                </a:solidFill>
                <a:latin typeface="Arial Narrow" pitchFamily="34" charset="0"/>
              </a:rPr>
              <a:t>&lt;=45000</a:t>
            </a:r>
          </a:p>
          <a:p>
            <a:pPr lvl="0"/>
            <a:r>
              <a:rPr lang="es-PE" sz="1600" dirty="0">
                <a:solidFill>
                  <a:srgbClr val="7030A0"/>
                </a:solidFill>
                <a:latin typeface="Arial Narrow" pitchFamily="34" charset="0"/>
              </a:rPr>
              <a:t>           </a:t>
            </a:r>
            <a:r>
              <a:rPr lang="es-PE" sz="1600" dirty="0" err="1">
                <a:solidFill>
                  <a:srgbClr val="7030A0"/>
                </a:solidFill>
                <a:latin typeface="Arial Narrow" pitchFamily="34" charset="0"/>
              </a:rPr>
              <a:t>X11+X21+X31</a:t>
            </a:r>
            <a:r>
              <a:rPr lang="es-PE" sz="1600" dirty="0">
                <a:solidFill>
                  <a:srgbClr val="7030A0"/>
                </a:solidFill>
                <a:latin typeface="Arial Narrow" pitchFamily="34" charset="0"/>
              </a:rPr>
              <a:t>&gt;=40000</a:t>
            </a:r>
          </a:p>
          <a:p>
            <a:r>
              <a:rPr lang="es-PE" sz="1600" dirty="0">
                <a:solidFill>
                  <a:srgbClr val="7030A0"/>
                </a:solidFill>
                <a:latin typeface="Arial Narrow" pitchFamily="34" charset="0"/>
              </a:rPr>
              <a:t>           </a:t>
            </a:r>
            <a:r>
              <a:rPr lang="es-PE" sz="1600" dirty="0" err="1">
                <a:solidFill>
                  <a:srgbClr val="7030A0"/>
                </a:solidFill>
                <a:latin typeface="Arial Narrow" pitchFamily="34" charset="0"/>
              </a:rPr>
              <a:t>X12+X22+X32</a:t>
            </a:r>
            <a:r>
              <a:rPr lang="es-PE" sz="1600" dirty="0">
                <a:solidFill>
                  <a:srgbClr val="7030A0"/>
                </a:solidFill>
                <a:latin typeface="Arial Narrow" pitchFamily="34" charset="0"/>
              </a:rPr>
              <a:t>&gt;=10000</a:t>
            </a:r>
          </a:p>
          <a:p>
            <a:r>
              <a:rPr lang="es-PE" sz="1600" dirty="0">
                <a:solidFill>
                  <a:srgbClr val="7030A0"/>
                </a:solidFill>
                <a:latin typeface="Arial Narrow" pitchFamily="34" charset="0"/>
              </a:rPr>
              <a:t>           </a:t>
            </a:r>
            <a:r>
              <a:rPr lang="es-PE" sz="1600" dirty="0" err="1">
                <a:solidFill>
                  <a:srgbClr val="7030A0"/>
                </a:solidFill>
                <a:latin typeface="Arial Narrow" pitchFamily="34" charset="0"/>
              </a:rPr>
              <a:t>X13+X23+X33</a:t>
            </a:r>
            <a:r>
              <a:rPr lang="es-PE" sz="1600" dirty="0">
                <a:solidFill>
                  <a:srgbClr val="7030A0"/>
                </a:solidFill>
                <a:latin typeface="Arial Narrow" pitchFamily="34" charset="0"/>
              </a:rPr>
              <a:t>&gt;=20000</a:t>
            </a:r>
          </a:p>
          <a:p>
            <a:r>
              <a:rPr lang="es-PE" sz="1600" dirty="0">
                <a:solidFill>
                  <a:srgbClr val="7030A0"/>
                </a:solidFill>
                <a:latin typeface="Arial Narrow" pitchFamily="34" charset="0"/>
              </a:rPr>
              <a:t>           </a:t>
            </a:r>
            <a:r>
              <a:rPr lang="es-PE" sz="1600" dirty="0" err="1">
                <a:solidFill>
                  <a:srgbClr val="7030A0"/>
                </a:solidFill>
                <a:latin typeface="Arial Narrow" pitchFamily="34" charset="0"/>
              </a:rPr>
              <a:t>X14+X24+X34</a:t>
            </a:r>
            <a:r>
              <a:rPr lang="es-PE" sz="1600" dirty="0">
                <a:solidFill>
                  <a:srgbClr val="7030A0"/>
                </a:solidFill>
                <a:latin typeface="Arial Narrow" pitchFamily="34" charset="0"/>
              </a:rPr>
              <a:t>&gt;=25000</a:t>
            </a:r>
          </a:p>
          <a:p>
            <a:r>
              <a:rPr lang="es-PE" sz="1600" dirty="0">
                <a:solidFill>
                  <a:srgbClr val="7030A0"/>
                </a:solidFill>
                <a:latin typeface="Arial Narrow" pitchFamily="34" charset="0"/>
              </a:rPr>
              <a:t>                               </a:t>
            </a:r>
            <a:r>
              <a:rPr lang="es-PE" sz="1600" dirty="0" err="1">
                <a:solidFill>
                  <a:srgbClr val="7030A0"/>
                </a:solidFill>
                <a:latin typeface="Arial Narrow" pitchFamily="34" charset="0"/>
              </a:rPr>
              <a:t>Xij</a:t>
            </a:r>
            <a:r>
              <a:rPr lang="es-PE" sz="1600" dirty="0">
                <a:solidFill>
                  <a:srgbClr val="7030A0"/>
                </a:solidFill>
                <a:latin typeface="Arial Narrow" pitchFamily="34" charset="0"/>
              </a:rPr>
              <a:t>&gt;=0</a:t>
            </a:r>
            <a:endParaRPr lang="es-PE" sz="1600" dirty="0">
              <a:solidFill>
                <a:srgbClr val="FF0000"/>
              </a:solidFill>
              <a:latin typeface="Arial Narrow" panose="020B0606020202030204" pitchFamily="34" charset="0"/>
            </a:endParaRPr>
          </a:p>
        </p:txBody>
      </p:sp>
      <p:sp>
        <p:nvSpPr>
          <p:cNvPr id="8" name="Rectangle 2">
            <a:extLst>
              <a:ext uri="{FF2B5EF4-FFF2-40B4-BE49-F238E27FC236}">
                <a16:creationId xmlns:a16="http://schemas.microsoft.com/office/drawing/2014/main" id="{366B4BA6-22F8-4061-99D4-3FEB35F8F9D0}"/>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6</a:t>
            </a:r>
          </a:p>
        </p:txBody>
      </p:sp>
    </p:spTree>
    <p:extLst>
      <p:ext uri="{BB962C8B-B14F-4D97-AF65-F5344CB8AC3E}">
        <p14:creationId xmlns:p14="http://schemas.microsoft.com/office/powerpoint/2010/main" val="1440355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982C5992-94E5-4998-989C-14CAB1FE35E7}"/>
              </a:ext>
            </a:extLst>
          </p:cNvPr>
          <p:cNvSpPr/>
          <p:nvPr/>
        </p:nvSpPr>
        <p:spPr>
          <a:xfrm>
            <a:off x="378373" y="1321618"/>
            <a:ext cx="8481848" cy="5032532"/>
          </a:xfrm>
          <a:prstGeom prst="rect">
            <a:avLst/>
          </a:prstGeom>
        </p:spPr>
        <p:txBody>
          <a:bodyPr wrap="square">
            <a:spAutoFit/>
          </a:bodyPr>
          <a:lstStyle/>
          <a:p>
            <a:pPr algn="just">
              <a:lnSpc>
                <a:spcPct val="150000"/>
              </a:lnSpc>
            </a:pPr>
            <a:r>
              <a:rPr lang="es-PE"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La demanda de un motor especial, pequeño, en los próximos 5 períodos es de 200, 150, 300, 250 y 400 unidades.  El fabricante que surte los motores tiene capacidades diferentes de producción que se estiman en 180, 230, 430, 300 y 300 unidades para los cinco períodos.  No se pueden surtir los pedidos con retraso, en caso necesario, el fabricante puede ocupar tiempo extra para cubrir la demanda.  La capacidad por tiempo extra, en cada período, se estima igual a la mitad de la capacidad de la producción regular.  Los costos de producción por unidad en los cinco períodos son 100, 96, 115, 102 y 105 </a:t>
            </a:r>
            <a:r>
              <a:rPr lang="es-PE" dirty="0" err="1">
                <a:solidFill>
                  <a:srgbClr val="000000"/>
                </a:solidFill>
                <a:latin typeface="Tahoma" panose="020B0604030504040204" pitchFamily="34" charset="0"/>
                <a:ea typeface="Times New Roman" panose="02020603050405020304" pitchFamily="18" charset="0"/>
                <a:cs typeface="Times New Roman" panose="02020603050405020304" pitchFamily="18" charset="0"/>
              </a:rPr>
              <a:t>u.m</a:t>
            </a:r>
            <a:r>
              <a:rPr lang="es-PE"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respectivamente.  El costo del tiempo extra por motor es 50% mayor que el costo de producción regular.  Si se produce un motor ahora, para usarse en períodos posteriores, se tendrá un costo adicional de almacenamiento de 4 </a:t>
            </a:r>
            <a:r>
              <a:rPr lang="es-PE" dirty="0" err="1">
                <a:solidFill>
                  <a:srgbClr val="000000"/>
                </a:solidFill>
                <a:latin typeface="Tahoma" panose="020B0604030504040204" pitchFamily="34" charset="0"/>
                <a:ea typeface="Times New Roman" panose="02020603050405020304" pitchFamily="18" charset="0"/>
                <a:cs typeface="Times New Roman" panose="02020603050405020304" pitchFamily="18" charset="0"/>
              </a:rPr>
              <a:t>u.m</a:t>
            </a:r>
            <a:r>
              <a:rPr lang="es-PE"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por motor y período.  Formule el problema como un modelo de transporte. </a:t>
            </a:r>
            <a:endParaRPr lang="es-PE"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3197297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9" name="Google Shape;159;p23"/>
          <p:cNvSpPr txBox="1">
            <a:spLocks noGrp="1"/>
          </p:cNvSpPr>
          <p:nvPr>
            <p:ph type="sldNum" idx="12"/>
          </p:nvPr>
        </p:nvSpPr>
        <p:spPr>
          <a:prstGeom prst="rect">
            <a:avLst/>
          </a:prstGeom>
        </p:spPr>
        <p:txBody>
          <a:bodyPr spcFirstLastPara="1" vert="horz" wrap="square" lIns="0" tIns="0" rIns="0" bIns="0" rtlCol="0" anchor="ctr" anchorCtr="0">
            <a:noAutofit/>
          </a:bodyPr>
          <a:lstStyle/>
          <a:p>
            <a:fld id="{00000000-1234-1234-1234-123412341234}" type="slidenum">
              <a:rPr lang="en"/>
              <a:pPr/>
              <a:t>81</a:t>
            </a:fld>
            <a:endParaRPr dirty="0"/>
          </a:p>
        </p:txBody>
      </p:sp>
      <p:sp>
        <p:nvSpPr>
          <p:cNvPr id="4" name="Rectangle 2"/>
          <p:cNvSpPr txBox="1">
            <a:spLocks noChangeArrowheads="1"/>
          </p:cNvSpPr>
          <p:nvPr/>
        </p:nvSpPr>
        <p:spPr bwMode="auto">
          <a:xfrm>
            <a:off x="2049501" y="2276872"/>
            <a:ext cx="7920880" cy="1220754"/>
          </a:xfrm>
          <a:prstGeom prst="rect">
            <a:avLst/>
          </a:prstGeom>
          <a:noFill/>
          <a:ln>
            <a:noFill/>
            <a:miter lim="800000"/>
            <a:headEnd/>
            <a:tailEnd/>
          </a:ln>
        </p:spPr>
        <p:txBody>
          <a:bodyPr spcFirstLastPara="1" vert="horz" wrap="square" lIns="91440" tIns="45720" rIns="91440" bIns="45720" numCol="1" anchor="t" anchorCtr="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pPr marL="87313" indent="-87313" algn="ctr"/>
            <a:r>
              <a:rPr lang="es-ES" sz="2800" b="0" dirty="0">
                <a:solidFill>
                  <a:srgbClr val="700000"/>
                </a:solidFill>
                <a:latin typeface="+mn-lt"/>
                <a:ea typeface="+mn-ea"/>
                <a:cs typeface="+mn-cs"/>
              </a:rPr>
              <a:t>Donde quiera que usted vea un negocio exitoso, alguien ha tomado una decisión valiente</a:t>
            </a:r>
            <a:r>
              <a:rPr lang="es-ES" sz="2400" b="0" dirty="0">
                <a:solidFill>
                  <a:srgbClr val="700000"/>
                </a:solidFill>
                <a:latin typeface="+mn-lt"/>
                <a:ea typeface="+mn-ea"/>
                <a:cs typeface="+mn-cs"/>
              </a:rPr>
              <a:t>.</a:t>
            </a:r>
            <a:br>
              <a:rPr lang="es-ES" sz="2400" b="0" dirty="0">
                <a:solidFill>
                  <a:srgbClr val="700000"/>
                </a:solidFill>
                <a:latin typeface="+mn-lt"/>
                <a:ea typeface="+mn-ea"/>
                <a:cs typeface="+mn-cs"/>
              </a:rPr>
            </a:br>
            <a:endParaRPr lang="es-PE" sz="2400" b="0" dirty="0">
              <a:solidFill>
                <a:srgbClr val="700000"/>
              </a:solidFill>
              <a:latin typeface="+mn-lt"/>
              <a:ea typeface="+mn-ea"/>
              <a:cs typeface="+mn-cs"/>
            </a:endParaRPr>
          </a:p>
        </p:txBody>
      </p:sp>
      <p:sp>
        <p:nvSpPr>
          <p:cNvPr id="5" name="Rectangle 2"/>
          <p:cNvSpPr txBox="1">
            <a:spLocks noChangeArrowheads="1"/>
          </p:cNvSpPr>
          <p:nvPr/>
        </p:nvSpPr>
        <p:spPr>
          <a:xfrm>
            <a:off x="6096000" y="92279"/>
            <a:ext cx="6096000" cy="87245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eaLnBrk="1" hangingPunct="1">
              <a:defRPr sz="3200" i="1">
                <a:solidFill>
                  <a:schemeClr val="accent5">
                    <a:lumMod val="20000"/>
                    <a:lumOff val="80000"/>
                  </a:schemeClr>
                </a:solidFill>
                <a:latin typeface="Bauhaus 93" pitchFamily="82" charset="0"/>
              </a:defRPr>
            </a:lvl1pPr>
            <a:lvl2pPr algn="r" eaLnBrk="1" hangingPunct="1">
              <a:defRPr sz="2800" i="1">
                <a:latin typeface="Verdana" pitchFamily="34" charset="0"/>
              </a:defRPr>
            </a:lvl2pPr>
            <a:lvl3pPr algn="r" eaLnBrk="1" hangingPunct="1">
              <a:defRPr sz="2800" i="1">
                <a:latin typeface="Verdana" pitchFamily="34" charset="0"/>
              </a:defRPr>
            </a:lvl3pPr>
            <a:lvl4pPr algn="r" eaLnBrk="1" hangingPunct="1">
              <a:defRPr sz="2800" i="1">
                <a:latin typeface="Verdana" pitchFamily="34" charset="0"/>
              </a:defRPr>
            </a:lvl4pPr>
            <a:lvl5pPr algn="r" eaLnBrk="1" hangingPunct="1">
              <a:defRPr sz="2800" i="1">
                <a:latin typeface="Verdana" pitchFamily="34" charset="0"/>
              </a:defRPr>
            </a:lvl5pPr>
            <a:lvl6pPr marL="457200" algn="r" fontAlgn="base">
              <a:spcBef>
                <a:spcPct val="0"/>
              </a:spcBef>
              <a:spcAft>
                <a:spcPct val="0"/>
              </a:spcAft>
              <a:defRPr sz="2800" i="1">
                <a:latin typeface="Verdana" pitchFamily="34" charset="0"/>
              </a:defRPr>
            </a:lvl6pPr>
            <a:lvl7pPr marL="914400" algn="r" fontAlgn="base">
              <a:spcBef>
                <a:spcPct val="0"/>
              </a:spcBef>
              <a:spcAft>
                <a:spcPct val="0"/>
              </a:spcAft>
              <a:defRPr sz="2800" i="1">
                <a:latin typeface="Verdana" pitchFamily="34" charset="0"/>
              </a:defRPr>
            </a:lvl7pPr>
            <a:lvl8pPr marL="1371600" algn="r" fontAlgn="base">
              <a:spcBef>
                <a:spcPct val="0"/>
              </a:spcBef>
              <a:spcAft>
                <a:spcPct val="0"/>
              </a:spcAft>
              <a:defRPr sz="2800" i="1">
                <a:latin typeface="Verdana" pitchFamily="34" charset="0"/>
              </a:defRPr>
            </a:lvl8pPr>
            <a:lvl9pPr marL="1828800" algn="r" fontAlgn="base">
              <a:spcBef>
                <a:spcPct val="0"/>
              </a:spcBef>
              <a:spcAft>
                <a:spcPct val="0"/>
              </a:spcAft>
              <a:defRPr sz="2800" i="1">
                <a:latin typeface="Verdana" pitchFamily="34" charset="0"/>
              </a:defRPr>
            </a:lvl9pPr>
          </a:lstStyle>
          <a:p>
            <a:r>
              <a:rPr lang="es-MX" dirty="0">
                <a:solidFill>
                  <a:srgbClr val="FFFF00"/>
                </a:solidFill>
              </a:rPr>
              <a:t>Seamos dueños de nuestro propio destino</a:t>
            </a:r>
            <a:endParaRPr lang="es-ES" i="0" dirty="0"/>
          </a:p>
        </p:txBody>
      </p:sp>
      <p:sp>
        <p:nvSpPr>
          <p:cNvPr id="2" name="Rectángulo 1">
            <a:extLst>
              <a:ext uri="{FF2B5EF4-FFF2-40B4-BE49-F238E27FC236}">
                <a16:creationId xmlns:a16="http://schemas.microsoft.com/office/drawing/2014/main" id="{A345A401-5395-4861-90CC-1389B0CFAC65}"/>
              </a:ext>
            </a:extLst>
          </p:cNvPr>
          <p:cNvSpPr/>
          <p:nvPr/>
        </p:nvSpPr>
        <p:spPr>
          <a:xfrm>
            <a:off x="4958093" y="4125017"/>
            <a:ext cx="2275816" cy="923330"/>
          </a:xfrm>
          <a:prstGeom prst="rect">
            <a:avLst/>
          </a:prstGeom>
          <a:noFill/>
        </p:spPr>
        <p:txBody>
          <a:bodyPr wrap="none" lIns="91440" tIns="45720" rIns="91440" bIns="45720">
            <a:spAutoFit/>
          </a:bodyPr>
          <a:lstStyle/>
          <a:p>
            <a:pPr algn="ctr"/>
            <a:r>
              <a:rPr lang="es-ES" sz="5400" b="1" cap="none" spc="0" dirty="0">
                <a:ln w="22225">
                  <a:solidFill>
                    <a:schemeClr val="accent2"/>
                  </a:solidFill>
                  <a:prstDash val="solid"/>
                </a:ln>
                <a:solidFill>
                  <a:schemeClr val="accent2">
                    <a:lumMod val="40000"/>
                    <a:lumOff val="60000"/>
                  </a:schemeClr>
                </a:solidFill>
                <a:effectLst/>
              </a:rPr>
              <a:t>Gracias</a:t>
            </a:r>
          </a:p>
        </p:txBody>
      </p:sp>
      <p:pic>
        <p:nvPicPr>
          <p:cNvPr id="6" name="Picture 5" descr="004">
            <a:extLst>
              <a:ext uri="{FF2B5EF4-FFF2-40B4-BE49-F238E27FC236}">
                <a16:creationId xmlns:a16="http://schemas.microsoft.com/office/drawing/2014/main" id="{10E9D79D-8D69-43FB-8635-4B0D7576B5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5506" y="3733101"/>
            <a:ext cx="2095281" cy="279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4822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68" decel="100000"/>
                                        <p:tgtEl>
                                          <p:spTgt spid="4"/>
                                        </p:tgtEl>
                                      </p:cBhvr>
                                    </p:animEffect>
                                    <p:animScale>
                                      <p:cBhvr>
                                        <p:cTn id="8" dur="768" decel="100000"/>
                                        <p:tgtEl>
                                          <p:spTgt spid="4"/>
                                        </p:tgtEl>
                                      </p:cBhvr>
                                      <p:from x="10000" y="10000"/>
                                      <p:to x="200000" y="450000"/>
                                    </p:animScale>
                                    <p:animScale>
                                      <p:cBhvr>
                                        <p:cTn id="9" dur="1230" accel="100000" fill="hold">
                                          <p:stCondLst>
                                            <p:cond delay="768"/>
                                          </p:stCondLst>
                                        </p:cTn>
                                        <p:tgtEl>
                                          <p:spTgt spid="4"/>
                                        </p:tgtEl>
                                      </p:cBhvr>
                                      <p:from x="200000" y="450000"/>
                                      <p:to x="100000" y="100000"/>
                                    </p:animScale>
                                    <p:set>
                                      <p:cBhvr>
                                        <p:cTn id="10" dur="768" fill="hold"/>
                                        <p:tgtEl>
                                          <p:spTgt spid="4"/>
                                        </p:tgtEl>
                                        <p:attrNameLst>
                                          <p:attrName>ppt_x</p:attrName>
                                        </p:attrNameLst>
                                      </p:cBhvr>
                                      <p:to>
                                        <p:strVal val="(0.5)"/>
                                      </p:to>
                                    </p:set>
                                    <p:anim from="(0.5)" to="(#ppt_x)" calcmode="lin" valueType="num">
                                      <p:cBhvr>
                                        <p:cTn id="11" dur="1230" accel="100000" fill="hold">
                                          <p:stCondLst>
                                            <p:cond delay="768"/>
                                          </p:stCondLst>
                                        </p:cTn>
                                        <p:tgtEl>
                                          <p:spTgt spid="4"/>
                                        </p:tgtEl>
                                        <p:attrNameLst>
                                          <p:attrName>ppt_x</p:attrName>
                                        </p:attrNameLst>
                                      </p:cBhvr>
                                    </p:anim>
                                    <p:set>
                                      <p:cBhvr>
                                        <p:cTn id="12" dur="768" fill="hold"/>
                                        <p:tgtEl>
                                          <p:spTgt spid="4"/>
                                        </p:tgtEl>
                                        <p:attrNameLst>
                                          <p:attrName>ppt_y</p:attrName>
                                        </p:attrNameLst>
                                      </p:cBhvr>
                                      <p:to>
                                        <p:strVal val="(#ppt_y+0.4)"/>
                                      </p:to>
                                    </p:set>
                                    <p:anim from="(#ppt_y+0.4)" to="(#ppt_y)" calcmode="lin" valueType="num">
                                      <p:cBhvr>
                                        <p:cTn id="13" dur="1230" accel="100000" fill="hold">
                                          <p:stCondLst>
                                            <p:cond delay="768"/>
                                          </p:stCondLst>
                                        </p:cTn>
                                        <p:tgtEl>
                                          <p:spTgt spid="4"/>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Tema de Office">
  <a:themeElements>
    <a:clrScheme name="Azul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4379</TotalTime>
  <Words>9664</Words>
  <Application>Microsoft Office PowerPoint</Application>
  <PresentationFormat>Panorámica</PresentationFormat>
  <Paragraphs>3876</Paragraphs>
  <Slides>81</Slides>
  <Notes>12</Notes>
  <HiddenSlides>0</HiddenSlides>
  <MMClips>0</MMClips>
  <ScaleCrop>false</ScaleCrop>
  <HeadingPairs>
    <vt:vector size="8" baseType="variant">
      <vt:variant>
        <vt:lpstr>Fuentes usadas</vt:lpstr>
      </vt:variant>
      <vt:variant>
        <vt:i4>14</vt:i4>
      </vt:variant>
      <vt:variant>
        <vt:lpstr>Tema</vt:lpstr>
      </vt:variant>
      <vt:variant>
        <vt:i4>1</vt:i4>
      </vt:variant>
      <vt:variant>
        <vt:lpstr>Servidores OLE incrustados</vt:lpstr>
      </vt:variant>
      <vt:variant>
        <vt:i4>0</vt:i4>
      </vt:variant>
      <vt:variant>
        <vt:lpstr>Títulos de diapositiva</vt:lpstr>
      </vt:variant>
      <vt:variant>
        <vt:i4>81</vt:i4>
      </vt:variant>
    </vt:vector>
  </HeadingPairs>
  <TitlesOfParts>
    <vt:vector size="96" baseType="lpstr">
      <vt:lpstr>Arial</vt:lpstr>
      <vt:lpstr>Arial Black</vt:lpstr>
      <vt:lpstr>Arial Narrow</vt:lpstr>
      <vt:lpstr>Bauhaus 93</vt:lpstr>
      <vt:lpstr>Bodoni MT Black</vt:lpstr>
      <vt:lpstr>Calibri</vt:lpstr>
      <vt:lpstr>Calibri Light</vt:lpstr>
      <vt:lpstr>Garamond</vt:lpstr>
      <vt:lpstr>Lexend Deca</vt:lpstr>
      <vt:lpstr>Signika</vt:lpstr>
      <vt:lpstr>Tahoma</vt:lpstr>
      <vt:lpstr>Times New Roman</vt:lpstr>
      <vt:lpstr>Verdana</vt:lpstr>
      <vt:lpstr>Wingdings</vt:lpstr>
      <vt:lpstr>Tema de Office</vt:lpstr>
      <vt:lpstr>Presentación de PowerPoint</vt:lpstr>
      <vt:lpstr>PROBLEMA  DE  TRANSPORTE</vt:lpstr>
      <vt:lpstr>Contenido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ANIVAL ALFREDO TORRE CAMONES</dc:creator>
  <cp:lastModifiedBy>ANIVAL ALFREDO TORRE CAMONES</cp:lastModifiedBy>
  <cp:revision>283</cp:revision>
  <dcterms:created xsi:type="dcterms:W3CDTF">2021-09-08T13:14:39Z</dcterms:created>
  <dcterms:modified xsi:type="dcterms:W3CDTF">2026-08-16T17:32:03Z</dcterms:modified>
</cp:coreProperties>
</file>
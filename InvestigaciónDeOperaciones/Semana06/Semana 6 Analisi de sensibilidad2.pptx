
<file path=[Content_Types].xml><?xml version="1.0" encoding="utf-8"?>
<Types xmlns="http://schemas.openxmlformats.org/package/2006/content-types">
  <Default Extension="bin" ContentType="application/vnd.openxmlformats-officedocument.oleObject"/>
  <Default Extension="jfif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1"/>
  </p:notesMasterIdLst>
  <p:handoutMasterIdLst>
    <p:handoutMasterId r:id="rId42"/>
  </p:handoutMasterIdLst>
  <p:sldIdLst>
    <p:sldId id="481" r:id="rId2"/>
    <p:sldId id="384" r:id="rId3"/>
    <p:sldId id="406" r:id="rId4"/>
    <p:sldId id="379" r:id="rId5"/>
    <p:sldId id="387" r:id="rId6"/>
    <p:sldId id="415" r:id="rId7"/>
    <p:sldId id="398" r:id="rId8"/>
    <p:sldId id="488" r:id="rId9"/>
    <p:sldId id="489" r:id="rId10"/>
    <p:sldId id="491" r:id="rId11"/>
    <p:sldId id="490" r:id="rId12"/>
    <p:sldId id="494" r:id="rId13"/>
    <p:sldId id="493" r:id="rId14"/>
    <p:sldId id="492" r:id="rId15"/>
    <p:sldId id="495" r:id="rId16"/>
    <p:sldId id="501" r:id="rId17"/>
    <p:sldId id="496" r:id="rId18"/>
    <p:sldId id="497" r:id="rId19"/>
    <p:sldId id="502" r:id="rId20"/>
    <p:sldId id="503" r:id="rId21"/>
    <p:sldId id="500" r:id="rId22"/>
    <p:sldId id="403" r:id="rId23"/>
    <p:sldId id="413" r:id="rId24"/>
    <p:sldId id="504" r:id="rId25"/>
    <p:sldId id="505" r:id="rId26"/>
    <p:sldId id="507" r:id="rId27"/>
    <p:sldId id="508" r:id="rId28"/>
    <p:sldId id="509" r:id="rId29"/>
    <p:sldId id="510" r:id="rId30"/>
    <p:sldId id="511" r:id="rId31"/>
    <p:sldId id="514" r:id="rId32"/>
    <p:sldId id="512" r:id="rId33"/>
    <p:sldId id="513" r:id="rId34"/>
    <p:sldId id="515" r:id="rId35"/>
    <p:sldId id="516" r:id="rId36"/>
    <p:sldId id="439" r:id="rId37"/>
    <p:sldId id="440" r:id="rId38"/>
    <p:sldId id="454" r:id="rId39"/>
    <p:sldId id="280" r:id="rId40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6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315" autoAdjust="0"/>
    <p:restoredTop sz="94660"/>
  </p:normalViewPr>
  <p:slideViewPr>
    <p:cSldViewPr snapToGrid="0">
      <p:cViewPr varScale="1">
        <p:scale>
          <a:sx n="159" d="100"/>
          <a:sy n="159" d="100"/>
        </p:scale>
        <p:origin x="888" y="132"/>
      </p:cViewPr>
      <p:guideLst>
        <p:guide orient="horz" pos="2160"/>
        <p:guide pos="3863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11772"/>
    </p:cViewPr>
  </p:sorterViewPr>
  <p:notesViewPr>
    <p:cSldViewPr snapToGrid="0">
      <p:cViewPr varScale="1">
        <p:scale>
          <a:sx n="87" d="100"/>
          <a:sy n="87" d="100"/>
        </p:scale>
        <p:origin x="3840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CB76F7C-271B-4E72-8E4F-0BB277D712D4}" type="doc">
      <dgm:prSet loTypeId="urn:microsoft.com/office/officeart/2005/8/layout/venn1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PE"/>
        </a:p>
      </dgm:t>
    </dgm:pt>
    <dgm:pt modelId="{7C470323-F852-4D1E-AAA9-C5FDF143C808}">
      <dgm:prSet custT="1"/>
      <dgm:spPr>
        <a:solidFill>
          <a:srgbClr val="00B0F0">
            <a:alpha val="50000"/>
          </a:srgbClr>
        </a:solidFill>
      </dgm:spPr>
      <dgm:t>
        <a:bodyPr/>
        <a:lstStyle/>
        <a:p>
          <a:pPr rtl="0"/>
          <a:r>
            <a:rPr lang="es-ES" sz="2000" b="1" dirty="0"/>
            <a:t>Contraste</a:t>
          </a:r>
          <a:endParaRPr lang="es-PE" sz="2000" dirty="0"/>
        </a:p>
      </dgm:t>
    </dgm:pt>
    <dgm:pt modelId="{00DE5FEB-8C56-4751-8689-C53C5235471C}" type="parTrans" cxnId="{A060436E-EBCF-426D-9AA5-67494AF57140}">
      <dgm:prSet/>
      <dgm:spPr/>
      <dgm:t>
        <a:bodyPr/>
        <a:lstStyle/>
        <a:p>
          <a:endParaRPr lang="es-PE" sz="2000"/>
        </a:p>
      </dgm:t>
    </dgm:pt>
    <dgm:pt modelId="{914348A8-902D-497F-9907-CD9B63F458F4}" type="sibTrans" cxnId="{A060436E-EBCF-426D-9AA5-67494AF57140}">
      <dgm:prSet/>
      <dgm:spPr/>
      <dgm:t>
        <a:bodyPr/>
        <a:lstStyle/>
        <a:p>
          <a:endParaRPr lang="es-PE" sz="2000"/>
        </a:p>
      </dgm:t>
    </dgm:pt>
    <dgm:pt modelId="{DCF4AC84-F862-40A7-943D-088527BDA373}">
      <dgm:prSet custT="1"/>
      <dgm:spPr>
        <a:solidFill>
          <a:srgbClr val="FF0000">
            <a:alpha val="50000"/>
          </a:srgbClr>
        </a:solidFill>
      </dgm:spPr>
      <dgm:t>
        <a:bodyPr/>
        <a:lstStyle/>
        <a:p>
          <a:pPr rtl="0"/>
          <a:r>
            <a:rPr lang="es-ES" sz="2000" b="1" dirty="0"/>
            <a:t>Revise</a:t>
          </a:r>
          <a:endParaRPr lang="es-PE" sz="2000" dirty="0"/>
        </a:p>
      </dgm:t>
    </dgm:pt>
    <dgm:pt modelId="{0808573E-CE32-40F3-A493-F9FFBD99B288}" type="parTrans" cxnId="{819FD404-52BA-40A4-B044-D12E881395A8}">
      <dgm:prSet/>
      <dgm:spPr/>
      <dgm:t>
        <a:bodyPr/>
        <a:lstStyle/>
        <a:p>
          <a:endParaRPr lang="es-PE" sz="2000"/>
        </a:p>
      </dgm:t>
    </dgm:pt>
    <dgm:pt modelId="{90C60FB2-25C0-45A5-A789-85825F8118E0}" type="sibTrans" cxnId="{819FD404-52BA-40A4-B044-D12E881395A8}">
      <dgm:prSet/>
      <dgm:spPr/>
      <dgm:t>
        <a:bodyPr/>
        <a:lstStyle/>
        <a:p>
          <a:endParaRPr lang="es-PE" sz="2000"/>
        </a:p>
      </dgm:t>
    </dgm:pt>
    <dgm:pt modelId="{AC65135C-2359-45B4-BCA9-E785EBAB6907}">
      <dgm:prSet custT="1"/>
      <dgm:spPr>
        <a:solidFill>
          <a:srgbClr val="FFFF00">
            <a:alpha val="50000"/>
          </a:srgbClr>
        </a:solidFill>
      </dgm:spPr>
      <dgm:t>
        <a:bodyPr/>
        <a:lstStyle/>
        <a:p>
          <a:pPr rtl="0"/>
          <a:r>
            <a:rPr lang="es-ES" sz="2000" b="1" dirty="0"/>
            <a:t>Practique</a:t>
          </a:r>
          <a:endParaRPr lang="es-PE" sz="2000" dirty="0"/>
        </a:p>
      </dgm:t>
    </dgm:pt>
    <dgm:pt modelId="{E027C827-95A0-4A82-A2F9-98B310B29207}" type="parTrans" cxnId="{0B4A0144-7F29-4923-9AE9-DF0CEFF0F609}">
      <dgm:prSet/>
      <dgm:spPr/>
      <dgm:t>
        <a:bodyPr/>
        <a:lstStyle/>
        <a:p>
          <a:endParaRPr lang="es-PE" sz="2000"/>
        </a:p>
      </dgm:t>
    </dgm:pt>
    <dgm:pt modelId="{B1A96F23-438B-4817-90C6-6CEF853CE3D7}" type="sibTrans" cxnId="{0B4A0144-7F29-4923-9AE9-DF0CEFF0F609}">
      <dgm:prSet/>
      <dgm:spPr/>
      <dgm:t>
        <a:bodyPr/>
        <a:lstStyle/>
        <a:p>
          <a:endParaRPr lang="es-PE" sz="2000"/>
        </a:p>
      </dgm:t>
    </dgm:pt>
    <dgm:pt modelId="{7416D1A2-30A4-4C03-B863-2983C670386D}" type="pres">
      <dgm:prSet presAssocID="{CCB76F7C-271B-4E72-8E4F-0BB277D712D4}" presName="compositeShape" presStyleCnt="0">
        <dgm:presLayoutVars>
          <dgm:chMax val="7"/>
          <dgm:dir/>
          <dgm:resizeHandles val="exact"/>
        </dgm:presLayoutVars>
      </dgm:prSet>
      <dgm:spPr/>
    </dgm:pt>
    <dgm:pt modelId="{2F04D462-7B9A-4F29-9073-E37133CFB47F}" type="pres">
      <dgm:prSet presAssocID="{7C470323-F852-4D1E-AAA9-C5FDF143C808}" presName="circ1" presStyleLbl="vennNode1" presStyleIdx="0" presStyleCnt="3"/>
      <dgm:spPr/>
    </dgm:pt>
    <dgm:pt modelId="{698A5370-77C7-46B0-A702-15BA0E7DFB3C}" type="pres">
      <dgm:prSet presAssocID="{7C470323-F852-4D1E-AAA9-C5FDF143C808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CAF6FE4A-C64F-4BFF-9C41-7AFEB812D949}" type="pres">
      <dgm:prSet presAssocID="{DCF4AC84-F862-40A7-943D-088527BDA373}" presName="circ2" presStyleLbl="vennNode1" presStyleIdx="1" presStyleCnt="3" custLinFactNeighborX="2296"/>
      <dgm:spPr/>
    </dgm:pt>
    <dgm:pt modelId="{142C0CC3-F53E-4A2E-97D9-1100684CB31F}" type="pres">
      <dgm:prSet presAssocID="{DCF4AC84-F862-40A7-943D-088527BDA373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6CD12DBA-5B7A-4A3D-86C4-1A33937EC5C0}" type="pres">
      <dgm:prSet presAssocID="{AC65135C-2359-45B4-BCA9-E785EBAB6907}" presName="circ3" presStyleLbl="vennNode1" presStyleIdx="2" presStyleCnt="3" custLinFactNeighborX="-1968"/>
      <dgm:spPr/>
    </dgm:pt>
    <dgm:pt modelId="{A3843677-C28A-4A30-8C25-B58D237E2D4F}" type="pres">
      <dgm:prSet presAssocID="{AC65135C-2359-45B4-BCA9-E785EBAB6907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819FD404-52BA-40A4-B044-D12E881395A8}" srcId="{CCB76F7C-271B-4E72-8E4F-0BB277D712D4}" destId="{DCF4AC84-F862-40A7-943D-088527BDA373}" srcOrd="1" destOrd="0" parTransId="{0808573E-CE32-40F3-A493-F9FFBD99B288}" sibTransId="{90C60FB2-25C0-45A5-A789-85825F8118E0}"/>
    <dgm:cxn modelId="{42EB3E0B-E30B-46F9-8872-D0789CE3874F}" type="presOf" srcId="{CCB76F7C-271B-4E72-8E4F-0BB277D712D4}" destId="{7416D1A2-30A4-4C03-B863-2983C670386D}" srcOrd="0" destOrd="0" presId="urn:microsoft.com/office/officeart/2005/8/layout/venn1"/>
    <dgm:cxn modelId="{B42EB018-18B5-4C63-BD69-D8D96C310433}" type="presOf" srcId="{DCF4AC84-F862-40A7-943D-088527BDA373}" destId="{CAF6FE4A-C64F-4BFF-9C41-7AFEB812D949}" srcOrd="0" destOrd="0" presId="urn:microsoft.com/office/officeart/2005/8/layout/venn1"/>
    <dgm:cxn modelId="{670C2D1F-5D6C-4619-A7DD-215F2C841083}" type="presOf" srcId="{7C470323-F852-4D1E-AAA9-C5FDF143C808}" destId="{698A5370-77C7-46B0-A702-15BA0E7DFB3C}" srcOrd="1" destOrd="0" presId="urn:microsoft.com/office/officeart/2005/8/layout/venn1"/>
    <dgm:cxn modelId="{0B4A0144-7F29-4923-9AE9-DF0CEFF0F609}" srcId="{CCB76F7C-271B-4E72-8E4F-0BB277D712D4}" destId="{AC65135C-2359-45B4-BCA9-E785EBAB6907}" srcOrd="2" destOrd="0" parTransId="{E027C827-95A0-4A82-A2F9-98B310B29207}" sibTransId="{B1A96F23-438B-4817-90C6-6CEF853CE3D7}"/>
    <dgm:cxn modelId="{A060436E-EBCF-426D-9AA5-67494AF57140}" srcId="{CCB76F7C-271B-4E72-8E4F-0BB277D712D4}" destId="{7C470323-F852-4D1E-AAA9-C5FDF143C808}" srcOrd="0" destOrd="0" parTransId="{00DE5FEB-8C56-4751-8689-C53C5235471C}" sibTransId="{914348A8-902D-497F-9907-CD9B63F458F4}"/>
    <dgm:cxn modelId="{6F47A259-790E-4EE9-A853-66405167F47B}" type="presOf" srcId="{7C470323-F852-4D1E-AAA9-C5FDF143C808}" destId="{2F04D462-7B9A-4F29-9073-E37133CFB47F}" srcOrd="0" destOrd="0" presId="urn:microsoft.com/office/officeart/2005/8/layout/venn1"/>
    <dgm:cxn modelId="{E0EBBEB2-3500-4D4A-8BDE-FDDAE2239905}" type="presOf" srcId="{AC65135C-2359-45B4-BCA9-E785EBAB6907}" destId="{6CD12DBA-5B7A-4A3D-86C4-1A33937EC5C0}" srcOrd="0" destOrd="0" presId="urn:microsoft.com/office/officeart/2005/8/layout/venn1"/>
    <dgm:cxn modelId="{74C5C0BD-F2D5-4DBC-B857-F8F144C019C8}" type="presOf" srcId="{AC65135C-2359-45B4-BCA9-E785EBAB6907}" destId="{A3843677-C28A-4A30-8C25-B58D237E2D4F}" srcOrd="1" destOrd="0" presId="urn:microsoft.com/office/officeart/2005/8/layout/venn1"/>
    <dgm:cxn modelId="{D6B87BF5-3AE2-4FE5-A4A8-C38C31B6AB0D}" type="presOf" srcId="{DCF4AC84-F862-40A7-943D-088527BDA373}" destId="{142C0CC3-F53E-4A2E-97D9-1100684CB31F}" srcOrd="1" destOrd="0" presId="urn:microsoft.com/office/officeart/2005/8/layout/venn1"/>
    <dgm:cxn modelId="{AEBE3C02-FDAA-4AE8-B15A-71A93F1B452C}" type="presParOf" srcId="{7416D1A2-30A4-4C03-B863-2983C670386D}" destId="{2F04D462-7B9A-4F29-9073-E37133CFB47F}" srcOrd="0" destOrd="0" presId="urn:microsoft.com/office/officeart/2005/8/layout/venn1"/>
    <dgm:cxn modelId="{7FE70CE4-82EC-49E2-BF54-466CEC50FCBE}" type="presParOf" srcId="{7416D1A2-30A4-4C03-B863-2983C670386D}" destId="{698A5370-77C7-46B0-A702-15BA0E7DFB3C}" srcOrd="1" destOrd="0" presId="urn:microsoft.com/office/officeart/2005/8/layout/venn1"/>
    <dgm:cxn modelId="{B15D2595-4C3F-4ABF-8B2A-AF50578D79C1}" type="presParOf" srcId="{7416D1A2-30A4-4C03-B863-2983C670386D}" destId="{CAF6FE4A-C64F-4BFF-9C41-7AFEB812D949}" srcOrd="2" destOrd="0" presId="urn:microsoft.com/office/officeart/2005/8/layout/venn1"/>
    <dgm:cxn modelId="{A2BAEDEF-A498-40EA-9ECD-F24D401B0533}" type="presParOf" srcId="{7416D1A2-30A4-4C03-B863-2983C670386D}" destId="{142C0CC3-F53E-4A2E-97D9-1100684CB31F}" srcOrd="3" destOrd="0" presId="urn:microsoft.com/office/officeart/2005/8/layout/venn1"/>
    <dgm:cxn modelId="{8AA32EEC-A6C3-4370-833A-0362EF17474C}" type="presParOf" srcId="{7416D1A2-30A4-4C03-B863-2983C670386D}" destId="{6CD12DBA-5B7A-4A3D-86C4-1A33937EC5C0}" srcOrd="4" destOrd="0" presId="urn:microsoft.com/office/officeart/2005/8/layout/venn1"/>
    <dgm:cxn modelId="{E8CB2A54-8A8D-4CFE-A134-75CDACC55664}" type="presParOf" srcId="{7416D1A2-30A4-4C03-B863-2983C670386D}" destId="{A3843677-C28A-4A30-8C25-B58D237E2D4F}" srcOrd="5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CD354CF-8BA2-477E-811E-8EB09D374B06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PE"/>
        </a:p>
      </dgm:t>
    </dgm:pt>
    <dgm:pt modelId="{9F590856-33FB-41F9-B722-7654CC7218D3}">
      <dgm:prSet custT="1"/>
      <dgm:spPr/>
      <dgm:t>
        <a:bodyPr/>
        <a:lstStyle/>
        <a:p>
          <a:pPr rtl="0"/>
          <a:r>
            <a:rPr lang="es-PE" sz="2400" b="0" dirty="0"/>
            <a:t>Para el análisis de sensibilidad de la validez de los coeficiente del lado derecho nos interesa responder las siguientes preguntas:</a:t>
          </a:r>
          <a:endParaRPr lang="es-PE" sz="2400" dirty="0"/>
        </a:p>
      </dgm:t>
    </dgm:pt>
    <dgm:pt modelId="{AD26B512-8719-4EDC-8338-24099E55DE6B}" type="parTrans" cxnId="{392B8FB6-4509-4105-9444-3DB9169A7D10}">
      <dgm:prSet/>
      <dgm:spPr/>
      <dgm:t>
        <a:bodyPr/>
        <a:lstStyle/>
        <a:p>
          <a:endParaRPr lang="es-PE" sz="2400"/>
        </a:p>
      </dgm:t>
    </dgm:pt>
    <dgm:pt modelId="{F74F7A62-7BD6-4E67-B29B-B0E220F291CA}" type="sibTrans" cxnId="{392B8FB6-4509-4105-9444-3DB9169A7D10}">
      <dgm:prSet/>
      <dgm:spPr/>
      <dgm:t>
        <a:bodyPr/>
        <a:lstStyle/>
        <a:p>
          <a:endParaRPr lang="es-PE" sz="2400"/>
        </a:p>
      </dgm:t>
    </dgm:pt>
    <dgm:pt modelId="{EA4513E6-6E99-4638-B13A-B112F0AE4F2C}">
      <dgm:prSet custT="1"/>
      <dgm:spPr/>
      <dgm:t>
        <a:bodyPr/>
        <a:lstStyle/>
        <a:p>
          <a:pPr rtl="0"/>
          <a:r>
            <a:rPr lang="es-PE" sz="2400" dirty="0">
              <a:solidFill>
                <a:srgbClr val="FF0000"/>
              </a:solidFill>
            </a:rPr>
            <a:t>¿</a:t>
          </a:r>
          <a:r>
            <a:rPr lang="es-PE" sz="2400" b="0" dirty="0">
              <a:solidFill>
                <a:srgbClr val="FF0000"/>
              </a:solidFill>
            </a:rPr>
            <a:t>Manteniendo todos los otros coeficientes , en cuánto cambiaría el valor óptimo de la función objetivo (por ejemplo, la ganancia) si el coeficiente del lado derecho de una restricción cambia en una unidad?</a:t>
          </a:r>
          <a:endParaRPr lang="es-PE" sz="2400" dirty="0">
            <a:solidFill>
              <a:srgbClr val="FF0000"/>
            </a:solidFill>
          </a:endParaRPr>
        </a:p>
      </dgm:t>
    </dgm:pt>
    <dgm:pt modelId="{61FF1924-A9B8-4AE2-A4BD-72A19FDA220A}" type="parTrans" cxnId="{7F94416D-0057-4429-9532-E7CF98E144CB}">
      <dgm:prSet/>
      <dgm:spPr/>
      <dgm:t>
        <a:bodyPr/>
        <a:lstStyle/>
        <a:p>
          <a:endParaRPr lang="es-PE" sz="2400"/>
        </a:p>
      </dgm:t>
    </dgm:pt>
    <dgm:pt modelId="{EC804FBF-2FCC-452B-8275-13AEFC655618}" type="sibTrans" cxnId="{7F94416D-0057-4429-9532-E7CF98E144CB}">
      <dgm:prSet/>
      <dgm:spPr/>
      <dgm:t>
        <a:bodyPr/>
        <a:lstStyle/>
        <a:p>
          <a:endParaRPr lang="es-PE" sz="2400"/>
        </a:p>
      </dgm:t>
    </dgm:pt>
    <dgm:pt modelId="{4205C5A6-266E-4938-A18B-114A21C17A5B}">
      <dgm:prSet custT="1"/>
      <dgm:spPr/>
      <dgm:t>
        <a:bodyPr/>
        <a:lstStyle/>
        <a:p>
          <a:pPr rtl="0"/>
          <a:r>
            <a:rPr lang="es-PE" sz="2400" b="0">
              <a:solidFill>
                <a:srgbClr val="FF0000"/>
              </a:solidFill>
            </a:rPr>
            <a:t>¿Hasta cuántas  unidades se puede agregar o disminuir para que  la solución siga siendo válida?</a:t>
          </a:r>
          <a:endParaRPr lang="es-PE" sz="2400">
            <a:solidFill>
              <a:srgbClr val="FF0000"/>
            </a:solidFill>
          </a:endParaRPr>
        </a:p>
      </dgm:t>
    </dgm:pt>
    <dgm:pt modelId="{B49E68C7-5873-455B-BD3C-767EDB8E2E97}" type="parTrans" cxnId="{F81AFE7E-7114-4B4D-A3FF-9E361390E954}">
      <dgm:prSet/>
      <dgm:spPr/>
      <dgm:t>
        <a:bodyPr/>
        <a:lstStyle/>
        <a:p>
          <a:endParaRPr lang="es-PE" sz="2400"/>
        </a:p>
      </dgm:t>
    </dgm:pt>
    <dgm:pt modelId="{6C5136BC-D2FE-45DA-B133-D86102A9BABA}" type="sibTrans" cxnId="{F81AFE7E-7114-4B4D-A3FF-9E361390E954}">
      <dgm:prSet/>
      <dgm:spPr/>
      <dgm:t>
        <a:bodyPr/>
        <a:lstStyle/>
        <a:p>
          <a:endParaRPr lang="es-PE" sz="2400"/>
        </a:p>
      </dgm:t>
    </dgm:pt>
    <dgm:pt modelId="{32AC28DD-CCDE-4C44-8168-093C5B0628E9}" type="pres">
      <dgm:prSet presAssocID="{3CD354CF-8BA2-477E-811E-8EB09D374B06}" presName="Name0" presStyleCnt="0">
        <dgm:presLayoutVars>
          <dgm:dir/>
          <dgm:animLvl val="lvl"/>
          <dgm:resizeHandles val="exact"/>
        </dgm:presLayoutVars>
      </dgm:prSet>
      <dgm:spPr/>
    </dgm:pt>
    <dgm:pt modelId="{F77A1204-0F36-4CC2-9D15-99339D80CD6E}" type="pres">
      <dgm:prSet presAssocID="{9F590856-33FB-41F9-B722-7654CC7218D3}" presName="linNode" presStyleCnt="0"/>
      <dgm:spPr/>
    </dgm:pt>
    <dgm:pt modelId="{636D3B46-06CC-4E49-8E65-21B41D0ABAE5}" type="pres">
      <dgm:prSet presAssocID="{9F590856-33FB-41F9-B722-7654CC7218D3}" presName="parentText" presStyleLbl="node1" presStyleIdx="0" presStyleCnt="1" custScaleY="62200">
        <dgm:presLayoutVars>
          <dgm:chMax val="1"/>
          <dgm:bulletEnabled val="1"/>
        </dgm:presLayoutVars>
      </dgm:prSet>
      <dgm:spPr/>
    </dgm:pt>
    <dgm:pt modelId="{4AECB967-D31B-4756-BDE2-836137F759FC}" type="pres">
      <dgm:prSet presAssocID="{9F590856-33FB-41F9-B722-7654CC7218D3}" presName="descendantText" presStyleLbl="alignAccFollowNode1" presStyleIdx="0" presStyleCnt="1" custScaleY="77826">
        <dgm:presLayoutVars>
          <dgm:bulletEnabled val="1"/>
        </dgm:presLayoutVars>
      </dgm:prSet>
      <dgm:spPr/>
    </dgm:pt>
  </dgm:ptLst>
  <dgm:cxnLst>
    <dgm:cxn modelId="{9BAB9824-35E6-4F5F-9E47-F9453388CC60}" type="presOf" srcId="{9F590856-33FB-41F9-B722-7654CC7218D3}" destId="{636D3B46-06CC-4E49-8E65-21B41D0ABAE5}" srcOrd="0" destOrd="0" presId="urn:microsoft.com/office/officeart/2005/8/layout/vList5"/>
    <dgm:cxn modelId="{DB20AD49-A7E0-4818-91AC-D7368796B63D}" type="presOf" srcId="{EA4513E6-6E99-4638-B13A-B112F0AE4F2C}" destId="{4AECB967-D31B-4756-BDE2-836137F759FC}" srcOrd="0" destOrd="0" presId="urn:microsoft.com/office/officeart/2005/8/layout/vList5"/>
    <dgm:cxn modelId="{7F94416D-0057-4429-9532-E7CF98E144CB}" srcId="{9F590856-33FB-41F9-B722-7654CC7218D3}" destId="{EA4513E6-6E99-4638-B13A-B112F0AE4F2C}" srcOrd="0" destOrd="0" parTransId="{61FF1924-A9B8-4AE2-A4BD-72A19FDA220A}" sibTransId="{EC804FBF-2FCC-452B-8275-13AEFC655618}"/>
    <dgm:cxn modelId="{F81AFE7E-7114-4B4D-A3FF-9E361390E954}" srcId="{9F590856-33FB-41F9-B722-7654CC7218D3}" destId="{4205C5A6-266E-4938-A18B-114A21C17A5B}" srcOrd="1" destOrd="0" parTransId="{B49E68C7-5873-455B-BD3C-767EDB8E2E97}" sibTransId="{6C5136BC-D2FE-45DA-B133-D86102A9BABA}"/>
    <dgm:cxn modelId="{7A1420B6-43AF-450B-A524-48B95D1FE1E0}" type="presOf" srcId="{3CD354CF-8BA2-477E-811E-8EB09D374B06}" destId="{32AC28DD-CCDE-4C44-8168-093C5B0628E9}" srcOrd="0" destOrd="0" presId="urn:microsoft.com/office/officeart/2005/8/layout/vList5"/>
    <dgm:cxn modelId="{392B8FB6-4509-4105-9444-3DB9169A7D10}" srcId="{3CD354CF-8BA2-477E-811E-8EB09D374B06}" destId="{9F590856-33FB-41F9-B722-7654CC7218D3}" srcOrd="0" destOrd="0" parTransId="{AD26B512-8719-4EDC-8338-24099E55DE6B}" sibTransId="{F74F7A62-7BD6-4E67-B29B-B0E220F291CA}"/>
    <dgm:cxn modelId="{598A26C2-12DE-40FC-946A-0727CC5F14CB}" type="presOf" srcId="{4205C5A6-266E-4938-A18B-114A21C17A5B}" destId="{4AECB967-D31B-4756-BDE2-836137F759FC}" srcOrd="0" destOrd="1" presId="urn:microsoft.com/office/officeart/2005/8/layout/vList5"/>
    <dgm:cxn modelId="{910DB7E9-F35D-4E8B-BF11-FB55BE6B802A}" type="presParOf" srcId="{32AC28DD-CCDE-4C44-8168-093C5B0628E9}" destId="{F77A1204-0F36-4CC2-9D15-99339D80CD6E}" srcOrd="0" destOrd="0" presId="urn:microsoft.com/office/officeart/2005/8/layout/vList5"/>
    <dgm:cxn modelId="{2D40DA1B-B7F5-469F-852E-1FDFE77A32B3}" type="presParOf" srcId="{F77A1204-0F36-4CC2-9D15-99339D80CD6E}" destId="{636D3B46-06CC-4E49-8E65-21B41D0ABAE5}" srcOrd="0" destOrd="0" presId="urn:microsoft.com/office/officeart/2005/8/layout/vList5"/>
    <dgm:cxn modelId="{791D903B-E4BD-4F45-8849-2966B1205612}" type="presParOf" srcId="{F77A1204-0F36-4CC2-9D15-99339D80CD6E}" destId="{4AECB967-D31B-4756-BDE2-836137F759FC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A2346DB-B142-4291-B068-5AD754B0AAF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s-PE"/>
        </a:p>
      </dgm:t>
    </dgm:pt>
    <dgm:pt modelId="{C1EA8F22-A941-4A0E-B3A2-90248606593C}">
      <dgm:prSet custT="1"/>
      <dgm:spPr/>
      <dgm:t>
        <a:bodyPr/>
        <a:lstStyle/>
        <a:p>
          <a:pPr rtl="0"/>
          <a:r>
            <a:rPr lang="es-PE" sz="1800" dirty="0">
              <a:latin typeface="Arial Narrow" panose="020B0606020202030204" pitchFamily="34" charset="0"/>
            </a:rPr>
            <a:t>El coeficiente de </a:t>
          </a:r>
          <a:r>
            <a:rPr lang="es-PE" sz="1800" dirty="0" err="1">
              <a:latin typeface="Arial Narrow" panose="020B0606020202030204" pitchFamily="34" charset="0"/>
            </a:rPr>
            <a:t>X1</a:t>
          </a:r>
          <a:r>
            <a:rPr lang="es-PE" sz="1800">
              <a:latin typeface="Arial Narrow" panose="020B0606020202030204" pitchFamily="34" charset="0"/>
            </a:rPr>
            <a:t> puede variar entre 0.50 a 2.50 sin que cambie la solución optima.</a:t>
          </a:r>
        </a:p>
      </dgm:t>
    </dgm:pt>
    <dgm:pt modelId="{2D08FB7E-FEC6-4CE2-A846-D453295CCF28}" type="parTrans" cxnId="{6150147D-D267-4965-A826-5BCC719B90C5}">
      <dgm:prSet/>
      <dgm:spPr/>
      <dgm:t>
        <a:bodyPr/>
        <a:lstStyle/>
        <a:p>
          <a:endParaRPr lang="es-PE" sz="1800">
            <a:latin typeface="Arial Narrow" panose="020B0606020202030204" pitchFamily="34" charset="0"/>
          </a:endParaRPr>
        </a:p>
      </dgm:t>
    </dgm:pt>
    <dgm:pt modelId="{87A83E8B-CAEB-43C9-BDD3-08F703879666}" type="sibTrans" cxnId="{6150147D-D267-4965-A826-5BCC719B90C5}">
      <dgm:prSet/>
      <dgm:spPr/>
      <dgm:t>
        <a:bodyPr/>
        <a:lstStyle/>
        <a:p>
          <a:endParaRPr lang="es-PE" sz="1800">
            <a:latin typeface="Arial Narrow" panose="020B0606020202030204" pitchFamily="34" charset="0"/>
          </a:endParaRPr>
        </a:p>
      </dgm:t>
    </dgm:pt>
    <dgm:pt modelId="{22EEC86B-505D-4A5B-9604-C583429B10E4}">
      <dgm:prSet custT="1"/>
      <dgm:spPr/>
      <dgm:t>
        <a:bodyPr/>
        <a:lstStyle/>
        <a:p>
          <a:pPr rtl="0"/>
          <a:r>
            <a:rPr lang="es-PE" sz="1800">
              <a:latin typeface="Arial Narrow" panose="020B0606020202030204" pitchFamily="34" charset="0"/>
            </a:rPr>
            <a:t>El coeficiente de X2 puede variar entre 0.12 a 0.60 sin que cambie la solución optima.</a:t>
          </a:r>
        </a:p>
      </dgm:t>
    </dgm:pt>
    <dgm:pt modelId="{83B73430-2931-4441-8E42-2E4DAD2D58E2}" type="parTrans" cxnId="{79CE110E-1922-4103-AEFB-807FF3FA3773}">
      <dgm:prSet/>
      <dgm:spPr/>
      <dgm:t>
        <a:bodyPr/>
        <a:lstStyle/>
        <a:p>
          <a:endParaRPr lang="es-PE" sz="1800">
            <a:latin typeface="Arial Narrow" panose="020B0606020202030204" pitchFamily="34" charset="0"/>
          </a:endParaRPr>
        </a:p>
      </dgm:t>
    </dgm:pt>
    <dgm:pt modelId="{82318CC0-5ADF-4FD7-97ED-0CFCC824A1C4}" type="sibTrans" cxnId="{79CE110E-1922-4103-AEFB-807FF3FA3773}">
      <dgm:prSet/>
      <dgm:spPr/>
      <dgm:t>
        <a:bodyPr/>
        <a:lstStyle/>
        <a:p>
          <a:endParaRPr lang="es-PE" sz="1800">
            <a:latin typeface="Arial Narrow" panose="020B0606020202030204" pitchFamily="34" charset="0"/>
          </a:endParaRPr>
        </a:p>
      </dgm:t>
    </dgm:pt>
    <dgm:pt modelId="{0932F020-6647-4470-AD94-350B15D183B2}" type="pres">
      <dgm:prSet presAssocID="{5A2346DB-B142-4291-B068-5AD754B0AAFD}" presName="linear" presStyleCnt="0">
        <dgm:presLayoutVars>
          <dgm:animLvl val="lvl"/>
          <dgm:resizeHandles val="exact"/>
        </dgm:presLayoutVars>
      </dgm:prSet>
      <dgm:spPr/>
    </dgm:pt>
    <dgm:pt modelId="{409D5632-BA82-45A5-9097-362C74E43CB2}" type="pres">
      <dgm:prSet presAssocID="{C1EA8F22-A941-4A0E-B3A2-90248606593C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0438BBF1-72C4-42F3-A667-A5EF4762547B}" type="pres">
      <dgm:prSet presAssocID="{87A83E8B-CAEB-43C9-BDD3-08F703879666}" presName="spacer" presStyleCnt="0"/>
      <dgm:spPr/>
    </dgm:pt>
    <dgm:pt modelId="{BFDC016E-9FF0-4E5F-8DBC-5714E300E8CA}" type="pres">
      <dgm:prSet presAssocID="{22EEC86B-505D-4A5B-9604-C583429B10E4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79CE110E-1922-4103-AEFB-807FF3FA3773}" srcId="{5A2346DB-B142-4291-B068-5AD754B0AAFD}" destId="{22EEC86B-505D-4A5B-9604-C583429B10E4}" srcOrd="1" destOrd="0" parTransId="{83B73430-2931-4441-8E42-2E4DAD2D58E2}" sibTransId="{82318CC0-5ADF-4FD7-97ED-0CFCC824A1C4}"/>
    <dgm:cxn modelId="{AADBFB4C-551C-4758-A604-4D87F4661F70}" type="presOf" srcId="{22EEC86B-505D-4A5B-9604-C583429B10E4}" destId="{BFDC016E-9FF0-4E5F-8DBC-5714E300E8CA}" srcOrd="0" destOrd="0" presId="urn:microsoft.com/office/officeart/2005/8/layout/vList2"/>
    <dgm:cxn modelId="{C761E477-4E29-48F7-881B-112A0F30A75C}" type="presOf" srcId="{C1EA8F22-A941-4A0E-B3A2-90248606593C}" destId="{409D5632-BA82-45A5-9097-362C74E43CB2}" srcOrd="0" destOrd="0" presId="urn:microsoft.com/office/officeart/2005/8/layout/vList2"/>
    <dgm:cxn modelId="{6150147D-D267-4965-A826-5BCC719B90C5}" srcId="{5A2346DB-B142-4291-B068-5AD754B0AAFD}" destId="{C1EA8F22-A941-4A0E-B3A2-90248606593C}" srcOrd="0" destOrd="0" parTransId="{2D08FB7E-FEC6-4CE2-A846-D453295CCF28}" sibTransId="{87A83E8B-CAEB-43C9-BDD3-08F703879666}"/>
    <dgm:cxn modelId="{1324119B-295D-4688-8EB7-C3C9CC051169}" type="presOf" srcId="{5A2346DB-B142-4291-B068-5AD754B0AAFD}" destId="{0932F020-6647-4470-AD94-350B15D183B2}" srcOrd="0" destOrd="0" presId="urn:microsoft.com/office/officeart/2005/8/layout/vList2"/>
    <dgm:cxn modelId="{3580D7B2-DF0C-40F7-B89A-F8D9A27C2433}" type="presParOf" srcId="{0932F020-6647-4470-AD94-350B15D183B2}" destId="{409D5632-BA82-45A5-9097-362C74E43CB2}" srcOrd="0" destOrd="0" presId="urn:microsoft.com/office/officeart/2005/8/layout/vList2"/>
    <dgm:cxn modelId="{26E01465-ABB4-437A-93BB-FF50148DBBA6}" type="presParOf" srcId="{0932F020-6647-4470-AD94-350B15D183B2}" destId="{0438BBF1-72C4-42F3-A667-A5EF4762547B}" srcOrd="1" destOrd="0" presId="urn:microsoft.com/office/officeart/2005/8/layout/vList2"/>
    <dgm:cxn modelId="{7480A659-DDE2-4CCC-9994-DE81BC4A3E3A}" type="presParOf" srcId="{0932F020-6647-4470-AD94-350B15D183B2}" destId="{BFDC016E-9FF0-4E5F-8DBC-5714E300E8CA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BAD7CC2-827C-4EC7-A2CF-6FF283728CA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s-PE"/>
        </a:p>
      </dgm:t>
    </dgm:pt>
    <dgm:pt modelId="{13920C7E-0B92-4380-A826-81360D0525C0}">
      <dgm:prSet custT="1"/>
      <dgm:spPr/>
      <dgm:t>
        <a:bodyPr/>
        <a:lstStyle/>
        <a:p>
          <a:pPr rtl="0"/>
          <a:r>
            <a:rPr lang="es-PE" sz="2400" b="0"/>
            <a:t>Producto Texfood = repartir 1.5 (= 3 onzas)</a:t>
          </a:r>
          <a:endParaRPr lang="es-PE" sz="2400"/>
        </a:p>
      </dgm:t>
    </dgm:pt>
    <dgm:pt modelId="{DDAF8AA4-3849-45C2-AC54-8FC6A8238603}" type="parTrans" cxnId="{52141280-9C81-46A3-BC10-C1B4B863A1BC}">
      <dgm:prSet/>
      <dgm:spPr/>
      <dgm:t>
        <a:bodyPr/>
        <a:lstStyle/>
        <a:p>
          <a:endParaRPr lang="es-PE" sz="2400"/>
        </a:p>
      </dgm:t>
    </dgm:pt>
    <dgm:pt modelId="{6C1A5779-31FE-4233-929F-56687772FA94}" type="sibTrans" cxnId="{52141280-9C81-46A3-BC10-C1B4B863A1BC}">
      <dgm:prSet/>
      <dgm:spPr/>
      <dgm:t>
        <a:bodyPr/>
        <a:lstStyle/>
        <a:p>
          <a:endParaRPr lang="es-PE" sz="2400"/>
        </a:p>
      </dgm:t>
    </dgm:pt>
    <dgm:pt modelId="{CE296CCE-36B0-4901-A230-EDCF52BE8162}">
      <dgm:prSet custT="1"/>
      <dgm:spPr/>
      <dgm:t>
        <a:bodyPr/>
        <a:lstStyle/>
        <a:p>
          <a:pPr rtl="0"/>
          <a:r>
            <a:rPr lang="es-PE" sz="2400" b="0"/>
            <a:t>Producto Calration = repartir 2.5 (= 5 onzas)</a:t>
          </a:r>
          <a:endParaRPr lang="es-PE" sz="2400"/>
        </a:p>
      </dgm:t>
    </dgm:pt>
    <dgm:pt modelId="{E0723FBA-52B5-408B-A149-E3A516E3BF63}" type="parTrans" cxnId="{AB64EA95-FBA9-4034-BA42-6BE86D5C0969}">
      <dgm:prSet/>
      <dgm:spPr/>
      <dgm:t>
        <a:bodyPr/>
        <a:lstStyle/>
        <a:p>
          <a:endParaRPr lang="es-PE" sz="2400"/>
        </a:p>
      </dgm:t>
    </dgm:pt>
    <dgm:pt modelId="{26A8807D-7876-4B7E-A05C-77FC1843F94C}" type="sibTrans" cxnId="{AB64EA95-FBA9-4034-BA42-6BE86D5C0969}">
      <dgm:prSet/>
      <dgm:spPr/>
      <dgm:t>
        <a:bodyPr/>
        <a:lstStyle/>
        <a:p>
          <a:endParaRPr lang="es-PE" sz="2400"/>
        </a:p>
      </dgm:t>
    </dgm:pt>
    <dgm:pt modelId="{141808D2-4743-4A5D-A1A0-0D4673976236}">
      <dgm:prSet custT="1"/>
      <dgm:spPr/>
      <dgm:t>
        <a:bodyPr/>
        <a:lstStyle/>
        <a:p>
          <a:pPr rtl="0"/>
          <a:r>
            <a:rPr lang="es-PE" sz="2400" b="0"/>
            <a:t>Costo =$ 2.15 por porción servidar.</a:t>
          </a:r>
          <a:endParaRPr lang="es-PE" sz="2400"/>
        </a:p>
      </dgm:t>
    </dgm:pt>
    <dgm:pt modelId="{3C13AD19-012E-49AF-85E6-1FB16036CE70}" type="parTrans" cxnId="{6F5AE1CB-3455-4563-BEF5-256C21D22183}">
      <dgm:prSet/>
      <dgm:spPr/>
      <dgm:t>
        <a:bodyPr/>
        <a:lstStyle/>
        <a:p>
          <a:endParaRPr lang="es-PE" sz="2400"/>
        </a:p>
      </dgm:t>
    </dgm:pt>
    <dgm:pt modelId="{254D7E55-8362-4B04-BECA-4191FD7A2C73}" type="sibTrans" cxnId="{6F5AE1CB-3455-4563-BEF5-256C21D22183}">
      <dgm:prSet/>
      <dgm:spPr/>
      <dgm:t>
        <a:bodyPr/>
        <a:lstStyle/>
        <a:p>
          <a:endParaRPr lang="es-PE" sz="2400"/>
        </a:p>
      </dgm:t>
    </dgm:pt>
    <dgm:pt modelId="{1BCEF0B2-5609-4E9F-85FA-5CAF208C88C0}">
      <dgm:prSet custT="1"/>
      <dgm:spPr/>
      <dgm:t>
        <a:bodyPr/>
        <a:lstStyle/>
        <a:p>
          <a:pPr rtl="0"/>
          <a:r>
            <a:rPr lang="es-PE" sz="2400" b="0"/>
            <a:t>El requisito mínimo para la Vitamina D y el hierro no se encuentren en superávit.</a:t>
          </a:r>
          <a:endParaRPr lang="es-PE" sz="2400"/>
        </a:p>
      </dgm:t>
    </dgm:pt>
    <dgm:pt modelId="{1241C62A-742C-43FA-8B00-6A2285C29F41}" type="parTrans" cxnId="{10FF5ECC-DF07-4970-ABB4-F0F2756ADFF9}">
      <dgm:prSet/>
      <dgm:spPr/>
      <dgm:t>
        <a:bodyPr/>
        <a:lstStyle/>
        <a:p>
          <a:endParaRPr lang="es-PE" sz="2400"/>
        </a:p>
      </dgm:t>
    </dgm:pt>
    <dgm:pt modelId="{0E52E6E2-BE99-409D-A1C8-B1B941C61FBA}" type="sibTrans" cxnId="{10FF5ECC-DF07-4970-ABB4-F0F2756ADFF9}">
      <dgm:prSet/>
      <dgm:spPr/>
      <dgm:t>
        <a:bodyPr/>
        <a:lstStyle/>
        <a:p>
          <a:endParaRPr lang="es-PE" sz="2400"/>
        </a:p>
      </dgm:t>
    </dgm:pt>
    <dgm:pt modelId="{8DE63619-0826-417C-A825-408DD2950760}">
      <dgm:prSet custT="1"/>
      <dgm:spPr/>
      <dgm:t>
        <a:bodyPr/>
        <a:lstStyle/>
        <a:p>
          <a:pPr rtl="0"/>
          <a:r>
            <a:rPr lang="es-PE" sz="2400" b="0"/>
            <a:t>La mezcla provee 155% del requerimiento para Vitamina A</a:t>
          </a:r>
          <a:endParaRPr lang="es-PE" sz="2400"/>
        </a:p>
      </dgm:t>
    </dgm:pt>
    <dgm:pt modelId="{ABAA61F5-1678-4F2A-B73B-962B9DC8C27A}" type="parTrans" cxnId="{9A5700BD-8056-41E5-AB6D-EE5939D29D9A}">
      <dgm:prSet/>
      <dgm:spPr/>
      <dgm:t>
        <a:bodyPr/>
        <a:lstStyle/>
        <a:p>
          <a:endParaRPr lang="es-PE" sz="2400"/>
        </a:p>
      </dgm:t>
    </dgm:pt>
    <dgm:pt modelId="{5D8C246E-B8AD-475D-BD7B-DAFB2503FAA7}" type="sibTrans" cxnId="{9A5700BD-8056-41E5-AB6D-EE5939D29D9A}">
      <dgm:prSet/>
      <dgm:spPr/>
      <dgm:t>
        <a:bodyPr/>
        <a:lstStyle/>
        <a:p>
          <a:endParaRPr lang="es-PE" sz="2400"/>
        </a:p>
      </dgm:t>
    </dgm:pt>
    <dgm:pt modelId="{942DC0C3-BC8D-451E-A845-29370D846C1E}" type="pres">
      <dgm:prSet presAssocID="{5BAD7CC2-827C-4EC7-A2CF-6FF283728CAE}" presName="linear" presStyleCnt="0">
        <dgm:presLayoutVars>
          <dgm:animLvl val="lvl"/>
          <dgm:resizeHandles val="exact"/>
        </dgm:presLayoutVars>
      </dgm:prSet>
      <dgm:spPr/>
    </dgm:pt>
    <dgm:pt modelId="{8824459C-AA53-4F35-9EC8-F22014200B1C}" type="pres">
      <dgm:prSet presAssocID="{13920C7E-0B92-4380-A826-81360D0525C0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C13EEBA2-C1B9-41C6-9C5B-F4E3413F7C71}" type="pres">
      <dgm:prSet presAssocID="{6C1A5779-31FE-4233-929F-56687772FA94}" presName="spacer" presStyleCnt="0"/>
      <dgm:spPr/>
    </dgm:pt>
    <dgm:pt modelId="{775A2B78-A2EE-447C-9893-1AF951E57CA4}" type="pres">
      <dgm:prSet presAssocID="{CE296CCE-36B0-4901-A230-EDCF52BE8162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87000ECD-6E75-4DF6-8752-9547AEA657FB}" type="pres">
      <dgm:prSet presAssocID="{26A8807D-7876-4B7E-A05C-77FC1843F94C}" presName="spacer" presStyleCnt="0"/>
      <dgm:spPr/>
    </dgm:pt>
    <dgm:pt modelId="{C61845A2-679E-49D0-97E2-20F06DD4B43A}" type="pres">
      <dgm:prSet presAssocID="{141808D2-4743-4A5D-A1A0-0D4673976236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9C2DE4BA-EE00-49FD-88A5-ED88E438E83A}" type="pres">
      <dgm:prSet presAssocID="{254D7E55-8362-4B04-BECA-4191FD7A2C73}" presName="spacer" presStyleCnt="0"/>
      <dgm:spPr/>
    </dgm:pt>
    <dgm:pt modelId="{FA4F2827-421B-47B5-BE99-DF4A2469594E}" type="pres">
      <dgm:prSet presAssocID="{1BCEF0B2-5609-4E9F-85FA-5CAF208C88C0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22B7BEF3-67CA-442D-995F-03250D436B45}" type="pres">
      <dgm:prSet presAssocID="{0E52E6E2-BE99-409D-A1C8-B1B941C61FBA}" presName="spacer" presStyleCnt="0"/>
      <dgm:spPr/>
    </dgm:pt>
    <dgm:pt modelId="{D5981628-BE79-4DCA-94FD-E22686903A08}" type="pres">
      <dgm:prSet presAssocID="{8DE63619-0826-417C-A825-408DD2950760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30758446-9CA6-47A7-A178-C1059AA619C6}" type="presOf" srcId="{CE296CCE-36B0-4901-A230-EDCF52BE8162}" destId="{775A2B78-A2EE-447C-9893-1AF951E57CA4}" srcOrd="0" destOrd="0" presId="urn:microsoft.com/office/officeart/2005/8/layout/vList2"/>
    <dgm:cxn modelId="{5CCA4E56-2C9C-4B96-9A29-9A11B0891103}" type="presOf" srcId="{141808D2-4743-4A5D-A1A0-0D4673976236}" destId="{C61845A2-679E-49D0-97E2-20F06DD4B43A}" srcOrd="0" destOrd="0" presId="urn:microsoft.com/office/officeart/2005/8/layout/vList2"/>
    <dgm:cxn modelId="{D284B65A-A78B-4246-8FCD-F4DD25BC9EB7}" type="presOf" srcId="{5BAD7CC2-827C-4EC7-A2CF-6FF283728CAE}" destId="{942DC0C3-BC8D-451E-A845-29370D846C1E}" srcOrd="0" destOrd="0" presId="urn:microsoft.com/office/officeart/2005/8/layout/vList2"/>
    <dgm:cxn modelId="{E3131F7F-293D-45AB-8356-74AD687DC69F}" type="presOf" srcId="{1BCEF0B2-5609-4E9F-85FA-5CAF208C88C0}" destId="{FA4F2827-421B-47B5-BE99-DF4A2469594E}" srcOrd="0" destOrd="0" presId="urn:microsoft.com/office/officeart/2005/8/layout/vList2"/>
    <dgm:cxn modelId="{52141280-9C81-46A3-BC10-C1B4B863A1BC}" srcId="{5BAD7CC2-827C-4EC7-A2CF-6FF283728CAE}" destId="{13920C7E-0B92-4380-A826-81360D0525C0}" srcOrd="0" destOrd="0" parTransId="{DDAF8AA4-3849-45C2-AC54-8FC6A8238603}" sibTransId="{6C1A5779-31FE-4233-929F-56687772FA94}"/>
    <dgm:cxn modelId="{AB64EA95-FBA9-4034-BA42-6BE86D5C0969}" srcId="{5BAD7CC2-827C-4EC7-A2CF-6FF283728CAE}" destId="{CE296CCE-36B0-4901-A230-EDCF52BE8162}" srcOrd="1" destOrd="0" parTransId="{E0723FBA-52B5-408B-A149-E3A516E3BF63}" sibTransId="{26A8807D-7876-4B7E-A05C-77FC1843F94C}"/>
    <dgm:cxn modelId="{676C7BAA-B4E1-4F40-AB4B-8DD91A2F8D4B}" type="presOf" srcId="{13920C7E-0B92-4380-A826-81360D0525C0}" destId="{8824459C-AA53-4F35-9EC8-F22014200B1C}" srcOrd="0" destOrd="0" presId="urn:microsoft.com/office/officeart/2005/8/layout/vList2"/>
    <dgm:cxn modelId="{9A5700BD-8056-41E5-AB6D-EE5939D29D9A}" srcId="{5BAD7CC2-827C-4EC7-A2CF-6FF283728CAE}" destId="{8DE63619-0826-417C-A825-408DD2950760}" srcOrd="4" destOrd="0" parTransId="{ABAA61F5-1678-4F2A-B73B-962B9DC8C27A}" sibTransId="{5D8C246E-B8AD-475D-BD7B-DAFB2503FAA7}"/>
    <dgm:cxn modelId="{6F5AE1CB-3455-4563-BEF5-256C21D22183}" srcId="{5BAD7CC2-827C-4EC7-A2CF-6FF283728CAE}" destId="{141808D2-4743-4A5D-A1A0-0D4673976236}" srcOrd="2" destOrd="0" parTransId="{3C13AD19-012E-49AF-85E6-1FB16036CE70}" sibTransId="{254D7E55-8362-4B04-BECA-4191FD7A2C73}"/>
    <dgm:cxn modelId="{10FF5ECC-DF07-4970-ABB4-F0F2756ADFF9}" srcId="{5BAD7CC2-827C-4EC7-A2CF-6FF283728CAE}" destId="{1BCEF0B2-5609-4E9F-85FA-5CAF208C88C0}" srcOrd="3" destOrd="0" parTransId="{1241C62A-742C-43FA-8B00-6A2285C29F41}" sibTransId="{0E52E6E2-BE99-409D-A1C8-B1B941C61FBA}"/>
    <dgm:cxn modelId="{16F2ECD0-5300-4DEB-BDCC-F6FD494C354A}" type="presOf" srcId="{8DE63619-0826-417C-A825-408DD2950760}" destId="{D5981628-BE79-4DCA-94FD-E22686903A08}" srcOrd="0" destOrd="0" presId="urn:microsoft.com/office/officeart/2005/8/layout/vList2"/>
    <dgm:cxn modelId="{DD634BAC-7406-45AA-9AD7-F02EC05DCA7D}" type="presParOf" srcId="{942DC0C3-BC8D-451E-A845-29370D846C1E}" destId="{8824459C-AA53-4F35-9EC8-F22014200B1C}" srcOrd="0" destOrd="0" presId="urn:microsoft.com/office/officeart/2005/8/layout/vList2"/>
    <dgm:cxn modelId="{5F91026E-DF9B-48A2-A5CC-A71198234DC1}" type="presParOf" srcId="{942DC0C3-BC8D-451E-A845-29370D846C1E}" destId="{C13EEBA2-C1B9-41C6-9C5B-F4E3413F7C71}" srcOrd="1" destOrd="0" presId="urn:microsoft.com/office/officeart/2005/8/layout/vList2"/>
    <dgm:cxn modelId="{D9628F19-82BA-43D0-9998-B7367AD154AA}" type="presParOf" srcId="{942DC0C3-BC8D-451E-A845-29370D846C1E}" destId="{775A2B78-A2EE-447C-9893-1AF951E57CA4}" srcOrd="2" destOrd="0" presId="urn:microsoft.com/office/officeart/2005/8/layout/vList2"/>
    <dgm:cxn modelId="{2F4E5301-4A5B-4F47-AB46-31E4D9D6263E}" type="presParOf" srcId="{942DC0C3-BC8D-451E-A845-29370D846C1E}" destId="{87000ECD-6E75-4DF6-8752-9547AEA657FB}" srcOrd="3" destOrd="0" presId="urn:microsoft.com/office/officeart/2005/8/layout/vList2"/>
    <dgm:cxn modelId="{7DB98460-B445-4279-BD64-C189C80C7220}" type="presParOf" srcId="{942DC0C3-BC8D-451E-A845-29370D846C1E}" destId="{C61845A2-679E-49D0-97E2-20F06DD4B43A}" srcOrd="4" destOrd="0" presId="urn:microsoft.com/office/officeart/2005/8/layout/vList2"/>
    <dgm:cxn modelId="{C492AD11-D011-465D-8DDB-DC7F557F3AA9}" type="presParOf" srcId="{942DC0C3-BC8D-451E-A845-29370D846C1E}" destId="{9C2DE4BA-EE00-49FD-88A5-ED88E438E83A}" srcOrd="5" destOrd="0" presId="urn:microsoft.com/office/officeart/2005/8/layout/vList2"/>
    <dgm:cxn modelId="{B31CC8B7-71ED-4354-9EE3-E25FCA73C0BC}" type="presParOf" srcId="{942DC0C3-BC8D-451E-A845-29370D846C1E}" destId="{FA4F2827-421B-47B5-BE99-DF4A2469594E}" srcOrd="6" destOrd="0" presId="urn:microsoft.com/office/officeart/2005/8/layout/vList2"/>
    <dgm:cxn modelId="{6E48C4E2-05B6-49D7-A2D4-B62E8997FB5B}" type="presParOf" srcId="{942DC0C3-BC8D-451E-A845-29370D846C1E}" destId="{22B7BEF3-67CA-442D-995F-03250D436B45}" srcOrd="7" destOrd="0" presId="urn:microsoft.com/office/officeart/2005/8/layout/vList2"/>
    <dgm:cxn modelId="{ADC9854E-8105-47D8-A159-3F8E3D20B4CF}" type="presParOf" srcId="{942DC0C3-BC8D-451E-A845-29370D846C1E}" destId="{D5981628-BE79-4DCA-94FD-E22686903A08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4D74196-23F9-482B-9299-C624551113F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s-PE"/>
        </a:p>
      </dgm:t>
    </dgm:pt>
    <dgm:pt modelId="{043DD8B1-C014-4905-A144-04BDE85977B7}">
      <dgm:prSet custT="1"/>
      <dgm:spPr>
        <a:solidFill>
          <a:srgbClr val="4472C4">
            <a:hueOff val="0"/>
            <a:satOff val="0"/>
            <a:lumOff val="0"/>
            <a:alphaOff val="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91440" tIns="91440" rIns="91440" bIns="91440" numCol="1" spcCol="1270" anchor="ctr" anchorCtr="0"/>
        <a:lstStyle/>
        <a:p>
          <a:pPr rtl="0"/>
          <a:r>
            <a:rPr lang="es-ES_tradnl" sz="2200" dirty="0"/>
            <a:t>¿Cuántas unidades de cada producto debe fabricar la compañía para maximizar las ganancias? </a:t>
          </a:r>
          <a:endParaRPr lang="es-PE" sz="2200" dirty="0"/>
        </a:p>
      </dgm:t>
    </dgm:pt>
    <dgm:pt modelId="{600C493F-D4C3-4F14-98A8-972D70E4F962}" type="parTrans" cxnId="{4279589E-FB9A-4443-9085-1AD9EC0209CA}">
      <dgm:prSet/>
      <dgm:spPr/>
      <dgm:t>
        <a:bodyPr/>
        <a:lstStyle/>
        <a:p>
          <a:endParaRPr lang="es-PE" sz="2200"/>
        </a:p>
      </dgm:t>
    </dgm:pt>
    <dgm:pt modelId="{54B9CFA0-3A41-4FED-8757-531510EFC828}" type="sibTrans" cxnId="{4279589E-FB9A-4443-9085-1AD9EC0209CA}">
      <dgm:prSet/>
      <dgm:spPr/>
      <dgm:t>
        <a:bodyPr/>
        <a:lstStyle/>
        <a:p>
          <a:endParaRPr lang="es-PE" sz="2200"/>
        </a:p>
      </dgm:t>
    </dgm:pt>
    <dgm:pt modelId="{392CD2BE-E29A-4BDD-9B5B-87C7857666EB}" type="pres">
      <dgm:prSet presAssocID="{84D74196-23F9-482B-9299-C624551113F0}" presName="linear" presStyleCnt="0">
        <dgm:presLayoutVars>
          <dgm:animLvl val="lvl"/>
          <dgm:resizeHandles val="exact"/>
        </dgm:presLayoutVars>
      </dgm:prSet>
      <dgm:spPr/>
    </dgm:pt>
    <dgm:pt modelId="{B9096F2B-CB34-46C5-AE0C-E58A190F50E5}" type="pres">
      <dgm:prSet presAssocID="{043DD8B1-C014-4905-A144-04BDE85977B7}" presName="parentText" presStyleLbl="node1" presStyleIdx="0" presStyleCnt="1">
        <dgm:presLayoutVars>
          <dgm:chMax val="0"/>
          <dgm:bulletEnabled val="1"/>
        </dgm:presLayoutVars>
      </dgm:prSet>
      <dgm:spPr>
        <a:xfrm>
          <a:off x="0" y="86"/>
          <a:ext cx="7858125" cy="707712"/>
        </a:xfrm>
        <a:prstGeom prst="roundRect">
          <a:avLst/>
        </a:prstGeom>
      </dgm:spPr>
    </dgm:pt>
  </dgm:ptLst>
  <dgm:cxnLst>
    <dgm:cxn modelId="{8C2CFB3E-B7F7-43DC-A40A-8BF61D27A0D0}" type="presOf" srcId="{84D74196-23F9-482B-9299-C624551113F0}" destId="{392CD2BE-E29A-4BDD-9B5B-87C7857666EB}" srcOrd="0" destOrd="0" presId="urn:microsoft.com/office/officeart/2005/8/layout/vList2"/>
    <dgm:cxn modelId="{4279589E-FB9A-4443-9085-1AD9EC0209CA}" srcId="{84D74196-23F9-482B-9299-C624551113F0}" destId="{043DD8B1-C014-4905-A144-04BDE85977B7}" srcOrd="0" destOrd="0" parTransId="{600C493F-D4C3-4F14-98A8-972D70E4F962}" sibTransId="{54B9CFA0-3A41-4FED-8757-531510EFC828}"/>
    <dgm:cxn modelId="{039A9DB7-527A-41C0-8E28-06DF22484B5F}" type="presOf" srcId="{043DD8B1-C014-4905-A144-04BDE85977B7}" destId="{B9096F2B-CB34-46C5-AE0C-E58A190F50E5}" srcOrd="0" destOrd="0" presId="urn:microsoft.com/office/officeart/2005/8/layout/vList2"/>
    <dgm:cxn modelId="{2A6CA3D2-EB9E-4ACF-880F-84D3EDA3B394}" type="presParOf" srcId="{392CD2BE-E29A-4BDD-9B5B-87C7857666EB}" destId="{B9096F2B-CB34-46C5-AE0C-E58A190F50E5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72981122-0DEF-4A76-9A70-EC8D2D7B1E1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PE"/>
        </a:p>
      </dgm:t>
    </dgm:pt>
    <dgm:pt modelId="{E61C0E07-3A27-41CE-BE60-7F0A3DF573BF}">
      <dgm:prSet custT="1"/>
      <dgm:spPr/>
      <dgm:t>
        <a:bodyPr/>
        <a:lstStyle/>
        <a:p>
          <a:pPr algn="just" rtl="0"/>
          <a:r>
            <a:rPr lang="es-ES_tradnl" sz="2200" dirty="0"/>
            <a:t>Una compañía elabora los productos A, B y C. Cada producto se procesa en tres departamentos: I, II y III. El total disponible de horas de trabajo por semana por cada departamento es de 900, 1080 y 840 horas, respectivamente. Los requisitos de tiempo (en horas por unidad) y la ganancia por cada unidad del producto son:</a:t>
          </a:r>
          <a:endParaRPr lang="es-PE" sz="2200" dirty="0"/>
        </a:p>
      </dgm:t>
    </dgm:pt>
    <dgm:pt modelId="{78E94403-4E51-409D-B9D8-F89936E86280}" type="parTrans" cxnId="{E2A8804E-81C3-44C6-A791-5BA72FE32FE2}">
      <dgm:prSet/>
      <dgm:spPr/>
      <dgm:t>
        <a:bodyPr/>
        <a:lstStyle/>
        <a:p>
          <a:endParaRPr lang="es-PE" sz="2000"/>
        </a:p>
      </dgm:t>
    </dgm:pt>
    <dgm:pt modelId="{5C4639C8-6D59-4E5F-A9A3-6A2459D0ED66}" type="sibTrans" cxnId="{E2A8804E-81C3-44C6-A791-5BA72FE32FE2}">
      <dgm:prSet/>
      <dgm:spPr/>
      <dgm:t>
        <a:bodyPr/>
        <a:lstStyle/>
        <a:p>
          <a:endParaRPr lang="es-PE" sz="2000"/>
        </a:p>
      </dgm:t>
    </dgm:pt>
    <dgm:pt modelId="{3E447C95-F5B1-4031-8BE3-90592C65C063}" type="pres">
      <dgm:prSet presAssocID="{72981122-0DEF-4A76-9A70-EC8D2D7B1E1B}" presName="linear" presStyleCnt="0">
        <dgm:presLayoutVars>
          <dgm:animLvl val="lvl"/>
          <dgm:resizeHandles val="exact"/>
        </dgm:presLayoutVars>
      </dgm:prSet>
      <dgm:spPr/>
    </dgm:pt>
    <dgm:pt modelId="{DF844A6D-3FFD-4B3E-AD36-F513434FDB45}" type="pres">
      <dgm:prSet presAssocID="{E61C0E07-3A27-41CE-BE60-7F0A3DF573BF}" presName="parentText" presStyleLbl="node1" presStyleIdx="0" presStyleCnt="1" custScaleY="697161">
        <dgm:presLayoutVars>
          <dgm:chMax val="0"/>
          <dgm:bulletEnabled val="1"/>
        </dgm:presLayoutVars>
      </dgm:prSet>
      <dgm:spPr/>
    </dgm:pt>
  </dgm:ptLst>
  <dgm:cxnLst>
    <dgm:cxn modelId="{E25DA501-BEB9-4E9F-B869-327664F49757}" type="presOf" srcId="{E61C0E07-3A27-41CE-BE60-7F0A3DF573BF}" destId="{DF844A6D-3FFD-4B3E-AD36-F513434FDB45}" srcOrd="0" destOrd="0" presId="urn:microsoft.com/office/officeart/2005/8/layout/vList2"/>
    <dgm:cxn modelId="{D0607C60-B3AE-4756-A680-9106D4453D93}" type="presOf" srcId="{72981122-0DEF-4A76-9A70-EC8D2D7B1E1B}" destId="{3E447C95-F5B1-4031-8BE3-90592C65C063}" srcOrd="0" destOrd="0" presId="urn:microsoft.com/office/officeart/2005/8/layout/vList2"/>
    <dgm:cxn modelId="{E2A8804E-81C3-44C6-A791-5BA72FE32FE2}" srcId="{72981122-0DEF-4A76-9A70-EC8D2D7B1E1B}" destId="{E61C0E07-3A27-41CE-BE60-7F0A3DF573BF}" srcOrd="0" destOrd="0" parTransId="{78E94403-4E51-409D-B9D8-F89936E86280}" sibTransId="{5C4639C8-6D59-4E5F-A9A3-6A2459D0ED66}"/>
    <dgm:cxn modelId="{E3AD2A80-C6F6-4CB5-AC3C-D237C26D7FAA}" type="presParOf" srcId="{3E447C95-F5B1-4031-8BE3-90592C65C063}" destId="{DF844A6D-3FFD-4B3E-AD36-F513434FDB45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2FFADD07-2759-472A-96D8-2E40CD453EE0}" type="doc">
      <dgm:prSet loTypeId="urn:microsoft.com/office/officeart/2005/8/layout/l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PE"/>
        </a:p>
      </dgm:t>
    </dgm:pt>
    <dgm:pt modelId="{6D2AB814-E72A-4B1C-896E-CCF38C0FDEF2}">
      <dgm:prSet/>
      <dgm:spPr/>
      <dgm:t>
        <a:bodyPr/>
        <a:lstStyle/>
        <a:p>
          <a:pPr rtl="0"/>
          <a:r>
            <a:rPr lang="es-ES"/>
            <a:t>COEFICIENTES DE LA FUNCIÓN OBJETIVO</a:t>
          </a:r>
          <a:endParaRPr lang="es-PE"/>
        </a:p>
      </dgm:t>
    </dgm:pt>
    <dgm:pt modelId="{EA9EB43C-3DC2-49C4-B65E-0BBFA86C667A}" type="parTrans" cxnId="{F90CCB2A-EC4E-49EE-B668-09AA09C07691}">
      <dgm:prSet/>
      <dgm:spPr/>
      <dgm:t>
        <a:bodyPr/>
        <a:lstStyle/>
        <a:p>
          <a:endParaRPr lang="es-PE"/>
        </a:p>
      </dgm:t>
    </dgm:pt>
    <dgm:pt modelId="{9F89B9AD-F647-4172-85DB-842B8E238732}" type="sibTrans" cxnId="{F90CCB2A-EC4E-49EE-B668-09AA09C07691}">
      <dgm:prSet/>
      <dgm:spPr/>
      <dgm:t>
        <a:bodyPr/>
        <a:lstStyle/>
        <a:p>
          <a:endParaRPr lang="es-PE"/>
        </a:p>
      </dgm:t>
    </dgm:pt>
    <dgm:pt modelId="{110B0189-4077-4C15-96A9-9E797C5AD282}">
      <dgm:prSet/>
      <dgm:spPr/>
      <dgm:t>
        <a:bodyPr/>
        <a:lstStyle/>
        <a:p>
          <a:pPr rtl="0"/>
          <a:r>
            <a:rPr lang="es-ES"/>
            <a:t>SOLUCION OPTIMA</a:t>
          </a:r>
          <a:endParaRPr lang="es-PE"/>
        </a:p>
      </dgm:t>
    </dgm:pt>
    <dgm:pt modelId="{081EE768-1DBE-47EB-A4DB-0754750C8551}" type="parTrans" cxnId="{B1C54483-0234-4926-A030-F2DAF37DE509}">
      <dgm:prSet/>
      <dgm:spPr/>
      <dgm:t>
        <a:bodyPr/>
        <a:lstStyle/>
        <a:p>
          <a:endParaRPr lang="es-PE"/>
        </a:p>
      </dgm:t>
    </dgm:pt>
    <dgm:pt modelId="{B4ADF7B3-16BE-422B-BC45-8806063FDF17}" type="sibTrans" cxnId="{B1C54483-0234-4926-A030-F2DAF37DE509}">
      <dgm:prSet/>
      <dgm:spPr/>
      <dgm:t>
        <a:bodyPr/>
        <a:lstStyle/>
        <a:p>
          <a:endParaRPr lang="es-PE"/>
        </a:p>
      </dgm:t>
    </dgm:pt>
    <dgm:pt modelId="{9E8DE7F5-A74C-441D-814F-7F9A84022C26}">
      <dgm:prSet/>
      <dgm:spPr/>
      <dgm:t>
        <a:bodyPr/>
        <a:lstStyle/>
        <a:p>
          <a:pPr rtl="0"/>
          <a:r>
            <a:rPr lang="es-ES" dirty="0"/>
            <a:t>LADO DERECHO DE LA </a:t>
          </a:r>
          <a:r>
            <a:rPr lang="es-ES" dirty="0" err="1"/>
            <a:t>RESTRICCION</a:t>
          </a:r>
          <a:endParaRPr lang="es-PE" dirty="0"/>
        </a:p>
      </dgm:t>
    </dgm:pt>
    <dgm:pt modelId="{7A1F3E22-13D8-4EB6-A9CA-B191FC38510B}" type="parTrans" cxnId="{4CCCC291-4DCA-436B-924F-2F3BD05C94E7}">
      <dgm:prSet/>
      <dgm:spPr/>
      <dgm:t>
        <a:bodyPr/>
        <a:lstStyle/>
        <a:p>
          <a:endParaRPr lang="es-PE"/>
        </a:p>
      </dgm:t>
    </dgm:pt>
    <dgm:pt modelId="{A2322775-C931-4C41-9992-F7A2CBD2888E}" type="sibTrans" cxnId="{4CCCC291-4DCA-436B-924F-2F3BD05C94E7}">
      <dgm:prSet/>
      <dgm:spPr/>
      <dgm:t>
        <a:bodyPr/>
        <a:lstStyle/>
        <a:p>
          <a:endParaRPr lang="es-PE"/>
        </a:p>
      </dgm:t>
    </dgm:pt>
    <dgm:pt modelId="{51E3F918-AA9C-4F3C-AADD-70299853D342}">
      <dgm:prSet/>
      <dgm:spPr/>
      <dgm:t>
        <a:bodyPr/>
        <a:lstStyle/>
        <a:p>
          <a:pPr rtl="0"/>
          <a:r>
            <a:rPr lang="es-ES"/>
            <a:t>FUNCION OBJETIVO</a:t>
          </a:r>
          <a:endParaRPr lang="es-PE"/>
        </a:p>
      </dgm:t>
    </dgm:pt>
    <dgm:pt modelId="{3176407D-976F-4595-A0C0-C46E5258DFF3}" type="parTrans" cxnId="{243F57BB-AE3F-4B4D-9A58-9E54B9849239}">
      <dgm:prSet/>
      <dgm:spPr/>
      <dgm:t>
        <a:bodyPr/>
        <a:lstStyle/>
        <a:p>
          <a:endParaRPr lang="es-PE"/>
        </a:p>
      </dgm:t>
    </dgm:pt>
    <dgm:pt modelId="{DAAD984C-0B52-447A-81D5-BDDCD72F4691}" type="sibTrans" cxnId="{243F57BB-AE3F-4B4D-9A58-9E54B9849239}">
      <dgm:prSet/>
      <dgm:spPr/>
      <dgm:t>
        <a:bodyPr/>
        <a:lstStyle/>
        <a:p>
          <a:endParaRPr lang="es-PE"/>
        </a:p>
      </dgm:t>
    </dgm:pt>
    <dgm:pt modelId="{524077F9-D205-4E0C-BBAE-D83E5877A4B8}" type="pres">
      <dgm:prSet presAssocID="{2FFADD07-2759-472A-96D8-2E40CD453EE0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DCE2E10D-A4F9-4E58-A207-916C8F2A8050}" type="pres">
      <dgm:prSet presAssocID="{6D2AB814-E72A-4B1C-896E-CCF38C0FDEF2}" presName="horFlow" presStyleCnt="0"/>
      <dgm:spPr/>
    </dgm:pt>
    <dgm:pt modelId="{A0B50EB8-0EBD-46A2-82B2-FF46176ECD2C}" type="pres">
      <dgm:prSet presAssocID="{6D2AB814-E72A-4B1C-896E-CCF38C0FDEF2}" presName="bigChev" presStyleLbl="node1" presStyleIdx="0" presStyleCnt="2" custScaleY="82418"/>
      <dgm:spPr/>
    </dgm:pt>
    <dgm:pt modelId="{E9E16F77-2159-474E-9479-8E8050266947}" type="pres">
      <dgm:prSet presAssocID="{081EE768-1DBE-47EB-A4DB-0754750C8551}" presName="parTrans" presStyleCnt="0"/>
      <dgm:spPr/>
    </dgm:pt>
    <dgm:pt modelId="{72D703B5-B180-410A-BA59-628B573D9AC0}" type="pres">
      <dgm:prSet presAssocID="{110B0189-4077-4C15-96A9-9E797C5AD282}" presName="node" presStyleLbl="alignAccFollowNode1" presStyleIdx="0" presStyleCnt="2">
        <dgm:presLayoutVars>
          <dgm:bulletEnabled val="1"/>
        </dgm:presLayoutVars>
      </dgm:prSet>
      <dgm:spPr/>
    </dgm:pt>
    <dgm:pt modelId="{2564213A-B14F-4620-AA6B-DB236EED2B69}" type="pres">
      <dgm:prSet presAssocID="{6D2AB814-E72A-4B1C-896E-CCF38C0FDEF2}" presName="vSp" presStyleCnt="0"/>
      <dgm:spPr/>
    </dgm:pt>
    <dgm:pt modelId="{55E11B48-6341-4C21-A4BB-0E6EFB915873}" type="pres">
      <dgm:prSet presAssocID="{9E8DE7F5-A74C-441D-814F-7F9A84022C26}" presName="horFlow" presStyleCnt="0"/>
      <dgm:spPr/>
    </dgm:pt>
    <dgm:pt modelId="{AAFD8013-84E0-4198-A35E-433C251116B4}" type="pres">
      <dgm:prSet presAssocID="{9E8DE7F5-A74C-441D-814F-7F9A84022C26}" presName="bigChev" presStyleLbl="node1" presStyleIdx="1" presStyleCnt="2" custScaleY="83049"/>
      <dgm:spPr/>
    </dgm:pt>
    <dgm:pt modelId="{92C26110-8598-4E90-93C7-FFA3E389B373}" type="pres">
      <dgm:prSet presAssocID="{3176407D-976F-4595-A0C0-C46E5258DFF3}" presName="parTrans" presStyleCnt="0"/>
      <dgm:spPr/>
    </dgm:pt>
    <dgm:pt modelId="{4D6F671E-DF0C-4056-933E-A257EF2DCE82}" type="pres">
      <dgm:prSet presAssocID="{51E3F918-AA9C-4F3C-AADD-70299853D342}" presName="node" presStyleLbl="alignAccFollowNode1" presStyleIdx="1" presStyleCnt="2">
        <dgm:presLayoutVars>
          <dgm:bulletEnabled val="1"/>
        </dgm:presLayoutVars>
      </dgm:prSet>
      <dgm:spPr/>
    </dgm:pt>
  </dgm:ptLst>
  <dgm:cxnLst>
    <dgm:cxn modelId="{2D39842A-72A3-4402-A455-45E37B5EE81E}" type="presOf" srcId="{2FFADD07-2759-472A-96D8-2E40CD453EE0}" destId="{524077F9-D205-4E0C-BBAE-D83E5877A4B8}" srcOrd="0" destOrd="0" presId="urn:microsoft.com/office/officeart/2005/8/layout/lProcess3"/>
    <dgm:cxn modelId="{F90CCB2A-EC4E-49EE-B668-09AA09C07691}" srcId="{2FFADD07-2759-472A-96D8-2E40CD453EE0}" destId="{6D2AB814-E72A-4B1C-896E-CCF38C0FDEF2}" srcOrd="0" destOrd="0" parTransId="{EA9EB43C-3DC2-49C4-B65E-0BBFA86C667A}" sibTransId="{9F89B9AD-F647-4172-85DB-842B8E238732}"/>
    <dgm:cxn modelId="{13B7024C-BBF9-427E-8D40-023A8B5E6805}" type="presOf" srcId="{9E8DE7F5-A74C-441D-814F-7F9A84022C26}" destId="{AAFD8013-84E0-4198-A35E-433C251116B4}" srcOrd="0" destOrd="0" presId="urn:microsoft.com/office/officeart/2005/8/layout/lProcess3"/>
    <dgm:cxn modelId="{B1C54483-0234-4926-A030-F2DAF37DE509}" srcId="{6D2AB814-E72A-4B1C-896E-CCF38C0FDEF2}" destId="{110B0189-4077-4C15-96A9-9E797C5AD282}" srcOrd="0" destOrd="0" parTransId="{081EE768-1DBE-47EB-A4DB-0754750C8551}" sibTransId="{B4ADF7B3-16BE-422B-BC45-8806063FDF17}"/>
    <dgm:cxn modelId="{4CCCC291-4DCA-436B-924F-2F3BD05C94E7}" srcId="{2FFADD07-2759-472A-96D8-2E40CD453EE0}" destId="{9E8DE7F5-A74C-441D-814F-7F9A84022C26}" srcOrd="1" destOrd="0" parTransId="{7A1F3E22-13D8-4EB6-A9CA-B191FC38510B}" sibTransId="{A2322775-C931-4C41-9992-F7A2CBD2888E}"/>
    <dgm:cxn modelId="{3D7EA092-9A73-4C23-996F-5EFE13B32C97}" type="presOf" srcId="{51E3F918-AA9C-4F3C-AADD-70299853D342}" destId="{4D6F671E-DF0C-4056-933E-A257EF2DCE82}" srcOrd="0" destOrd="0" presId="urn:microsoft.com/office/officeart/2005/8/layout/lProcess3"/>
    <dgm:cxn modelId="{62A520B7-F807-43C5-9C13-B6E97F2C4633}" type="presOf" srcId="{110B0189-4077-4C15-96A9-9E797C5AD282}" destId="{72D703B5-B180-410A-BA59-628B573D9AC0}" srcOrd="0" destOrd="0" presId="urn:microsoft.com/office/officeart/2005/8/layout/lProcess3"/>
    <dgm:cxn modelId="{243F57BB-AE3F-4B4D-9A58-9E54B9849239}" srcId="{9E8DE7F5-A74C-441D-814F-7F9A84022C26}" destId="{51E3F918-AA9C-4F3C-AADD-70299853D342}" srcOrd="0" destOrd="0" parTransId="{3176407D-976F-4595-A0C0-C46E5258DFF3}" sibTransId="{DAAD984C-0B52-447A-81D5-BDDCD72F4691}"/>
    <dgm:cxn modelId="{124BE5E2-E7C5-4307-BA86-D5901BCFAD23}" type="presOf" srcId="{6D2AB814-E72A-4B1C-896E-CCF38C0FDEF2}" destId="{A0B50EB8-0EBD-46A2-82B2-FF46176ECD2C}" srcOrd="0" destOrd="0" presId="urn:microsoft.com/office/officeart/2005/8/layout/lProcess3"/>
    <dgm:cxn modelId="{5C4460B2-861B-4822-8E1F-81EA2FDF3018}" type="presParOf" srcId="{524077F9-D205-4E0C-BBAE-D83E5877A4B8}" destId="{DCE2E10D-A4F9-4E58-A207-916C8F2A8050}" srcOrd="0" destOrd="0" presId="urn:microsoft.com/office/officeart/2005/8/layout/lProcess3"/>
    <dgm:cxn modelId="{54B0B03A-D925-4F6A-9A59-A27E4C3228B2}" type="presParOf" srcId="{DCE2E10D-A4F9-4E58-A207-916C8F2A8050}" destId="{A0B50EB8-0EBD-46A2-82B2-FF46176ECD2C}" srcOrd="0" destOrd="0" presId="urn:microsoft.com/office/officeart/2005/8/layout/lProcess3"/>
    <dgm:cxn modelId="{FF42407B-2AEC-43C2-BA47-5DC6AA5367AD}" type="presParOf" srcId="{DCE2E10D-A4F9-4E58-A207-916C8F2A8050}" destId="{E9E16F77-2159-474E-9479-8E8050266947}" srcOrd="1" destOrd="0" presId="urn:microsoft.com/office/officeart/2005/8/layout/lProcess3"/>
    <dgm:cxn modelId="{325C7916-6EF8-42CA-AD95-31D52120B3C0}" type="presParOf" srcId="{DCE2E10D-A4F9-4E58-A207-916C8F2A8050}" destId="{72D703B5-B180-410A-BA59-628B573D9AC0}" srcOrd="2" destOrd="0" presId="urn:microsoft.com/office/officeart/2005/8/layout/lProcess3"/>
    <dgm:cxn modelId="{5A091086-6086-415E-83D8-78DF10C2BB0B}" type="presParOf" srcId="{524077F9-D205-4E0C-BBAE-D83E5877A4B8}" destId="{2564213A-B14F-4620-AA6B-DB236EED2B69}" srcOrd="1" destOrd="0" presId="urn:microsoft.com/office/officeart/2005/8/layout/lProcess3"/>
    <dgm:cxn modelId="{2B95032D-E90D-41A9-8F09-640C82B7EF15}" type="presParOf" srcId="{524077F9-D205-4E0C-BBAE-D83E5877A4B8}" destId="{55E11B48-6341-4C21-A4BB-0E6EFB915873}" srcOrd="2" destOrd="0" presId="urn:microsoft.com/office/officeart/2005/8/layout/lProcess3"/>
    <dgm:cxn modelId="{60C52F10-ECC8-4A2C-8586-E8FCB8B2A77B}" type="presParOf" srcId="{55E11B48-6341-4C21-A4BB-0E6EFB915873}" destId="{AAFD8013-84E0-4198-A35E-433C251116B4}" srcOrd="0" destOrd="0" presId="urn:microsoft.com/office/officeart/2005/8/layout/lProcess3"/>
    <dgm:cxn modelId="{BF5639C3-EFBA-47B5-A107-A4341D2899F9}" type="presParOf" srcId="{55E11B48-6341-4C21-A4BB-0E6EFB915873}" destId="{92C26110-8598-4E90-93C7-FFA3E389B373}" srcOrd="1" destOrd="0" presId="urn:microsoft.com/office/officeart/2005/8/layout/lProcess3"/>
    <dgm:cxn modelId="{63F1F76B-4E76-4051-807E-407B4BD9E5C1}" type="presParOf" srcId="{55E11B48-6341-4C21-A4BB-0E6EFB915873}" destId="{4D6F671E-DF0C-4056-933E-A257EF2DCE82}" srcOrd="2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04D462-7B9A-4F29-9073-E37133CFB47F}">
      <dsp:nvSpPr>
        <dsp:cNvPr id="0" name=""/>
        <dsp:cNvSpPr/>
      </dsp:nvSpPr>
      <dsp:spPr>
        <a:xfrm>
          <a:off x="1670585" y="63907"/>
          <a:ext cx="3067540" cy="3067540"/>
        </a:xfrm>
        <a:prstGeom prst="ellipse">
          <a:avLst/>
        </a:prstGeom>
        <a:solidFill>
          <a:srgbClr val="00B0F0">
            <a:alpha val="50000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b="1" kern="1200" dirty="0"/>
            <a:t>Contraste</a:t>
          </a:r>
          <a:endParaRPr lang="es-PE" sz="2000" kern="1200" dirty="0"/>
        </a:p>
      </dsp:txBody>
      <dsp:txXfrm>
        <a:off x="2079591" y="600726"/>
        <a:ext cx="2249529" cy="1380393"/>
      </dsp:txXfrm>
    </dsp:sp>
    <dsp:sp modelId="{CAF6FE4A-C64F-4BFF-9C41-7AFEB812D949}">
      <dsp:nvSpPr>
        <dsp:cNvPr id="0" name=""/>
        <dsp:cNvSpPr/>
      </dsp:nvSpPr>
      <dsp:spPr>
        <a:xfrm>
          <a:off x="2847887" y="1981120"/>
          <a:ext cx="3067540" cy="3067540"/>
        </a:xfrm>
        <a:prstGeom prst="ellipse">
          <a:avLst/>
        </a:prstGeom>
        <a:solidFill>
          <a:srgbClr val="FF0000">
            <a:alpha val="50000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b="1" kern="1200" dirty="0"/>
            <a:t>Revise</a:t>
          </a:r>
          <a:endParaRPr lang="es-PE" sz="2000" kern="1200" dirty="0"/>
        </a:p>
      </dsp:txBody>
      <dsp:txXfrm>
        <a:off x="3786043" y="2773568"/>
        <a:ext cx="1840524" cy="1687147"/>
      </dsp:txXfrm>
    </dsp:sp>
    <dsp:sp modelId="{6CD12DBA-5B7A-4A3D-86C4-1A33937EC5C0}">
      <dsp:nvSpPr>
        <dsp:cNvPr id="0" name=""/>
        <dsp:cNvSpPr/>
      </dsp:nvSpPr>
      <dsp:spPr>
        <a:xfrm>
          <a:off x="503345" y="1981120"/>
          <a:ext cx="3067540" cy="3067540"/>
        </a:xfrm>
        <a:prstGeom prst="ellipse">
          <a:avLst/>
        </a:prstGeom>
        <a:solidFill>
          <a:srgbClr val="FFFF00">
            <a:alpha val="50000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b="1" kern="1200" dirty="0"/>
            <a:t>Practique</a:t>
          </a:r>
          <a:endParaRPr lang="es-PE" sz="2000" kern="1200" dirty="0"/>
        </a:p>
      </dsp:txBody>
      <dsp:txXfrm>
        <a:off x="792205" y="2773568"/>
        <a:ext cx="1840524" cy="168714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ECB967-D31B-4756-BDE2-836137F759FC}">
      <dsp:nvSpPr>
        <dsp:cNvPr id="0" name=""/>
        <dsp:cNvSpPr/>
      </dsp:nvSpPr>
      <dsp:spPr>
        <a:xfrm rot="5400000">
          <a:off x="4412220" y="-143092"/>
          <a:ext cx="3400225" cy="57527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28600" lvl="1" indent="-228600" algn="l" defTabSz="10668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PE" sz="2400" kern="1200" dirty="0">
              <a:solidFill>
                <a:srgbClr val="FF0000"/>
              </a:solidFill>
            </a:rPr>
            <a:t>¿</a:t>
          </a:r>
          <a:r>
            <a:rPr lang="es-PE" sz="2400" b="0" kern="1200" dirty="0">
              <a:solidFill>
                <a:srgbClr val="FF0000"/>
              </a:solidFill>
            </a:rPr>
            <a:t>Manteniendo todos los otros coeficientes , en cuánto cambiaría el valor óptimo de la función objetivo (por ejemplo, la ganancia) si el coeficiente del lado derecho de una restricción cambia en una unidad?</a:t>
          </a:r>
          <a:endParaRPr lang="es-PE" sz="2400" kern="1200" dirty="0">
            <a:solidFill>
              <a:srgbClr val="FF0000"/>
            </a:solidFill>
          </a:endParaRPr>
        </a:p>
        <a:p>
          <a:pPr marL="228600" lvl="1" indent="-228600" algn="l" defTabSz="10668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PE" sz="2400" b="0" kern="1200">
              <a:solidFill>
                <a:srgbClr val="FF0000"/>
              </a:solidFill>
            </a:rPr>
            <a:t>¿Hasta cuántas  unidades se puede agregar o disminuir para que  la solución siga siendo válida?</a:t>
          </a:r>
          <a:endParaRPr lang="es-PE" sz="2400" kern="1200">
            <a:solidFill>
              <a:srgbClr val="FF0000"/>
            </a:solidFill>
          </a:endParaRPr>
        </a:p>
      </dsp:txBody>
      <dsp:txXfrm rot="-5400000">
        <a:off x="3235941" y="1199172"/>
        <a:ext cx="5586799" cy="3068255"/>
      </dsp:txXfrm>
    </dsp:sp>
    <dsp:sp modelId="{636D3B46-06CC-4E49-8E65-21B41D0ABAE5}">
      <dsp:nvSpPr>
        <dsp:cNvPr id="0" name=""/>
        <dsp:cNvSpPr/>
      </dsp:nvSpPr>
      <dsp:spPr>
        <a:xfrm>
          <a:off x="0" y="1034847"/>
          <a:ext cx="3235941" cy="339690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2400" b="0" kern="1200" dirty="0"/>
            <a:t>Para el análisis de sensibilidad de la validez de los coeficiente del lado derecho nos interesa responder las siguientes preguntas:</a:t>
          </a:r>
          <a:endParaRPr lang="es-PE" sz="2400" kern="1200" dirty="0"/>
        </a:p>
      </dsp:txBody>
      <dsp:txXfrm>
        <a:off x="157966" y="1192813"/>
        <a:ext cx="2920009" cy="308097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9D5632-BA82-45A5-9097-362C74E43CB2}">
      <dsp:nvSpPr>
        <dsp:cNvPr id="0" name=""/>
        <dsp:cNvSpPr/>
      </dsp:nvSpPr>
      <dsp:spPr>
        <a:xfrm>
          <a:off x="0" y="149826"/>
          <a:ext cx="2398143" cy="1216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800" kern="1200" dirty="0">
              <a:latin typeface="Arial Narrow" panose="020B0606020202030204" pitchFamily="34" charset="0"/>
            </a:rPr>
            <a:t>El coeficiente de </a:t>
          </a:r>
          <a:r>
            <a:rPr lang="es-PE" sz="1800" kern="1200" dirty="0" err="1">
              <a:latin typeface="Arial Narrow" panose="020B0606020202030204" pitchFamily="34" charset="0"/>
            </a:rPr>
            <a:t>X1</a:t>
          </a:r>
          <a:r>
            <a:rPr lang="es-PE" sz="1800" kern="1200">
              <a:latin typeface="Arial Narrow" panose="020B0606020202030204" pitchFamily="34" charset="0"/>
            </a:rPr>
            <a:t> puede variar entre 0.50 a 2.50 sin que cambie la solución optima.</a:t>
          </a:r>
        </a:p>
      </dsp:txBody>
      <dsp:txXfrm>
        <a:off x="59399" y="209225"/>
        <a:ext cx="2279345" cy="1098002"/>
      </dsp:txXfrm>
    </dsp:sp>
    <dsp:sp modelId="{BFDC016E-9FF0-4E5F-8DBC-5714E300E8CA}">
      <dsp:nvSpPr>
        <dsp:cNvPr id="0" name=""/>
        <dsp:cNvSpPr/>
      </dsp:nvSpPr>
      <dsp:spPr>
        <a:xfrm>
          <a:off x="0" y="1553826"/>
          <a:ext cx="2398143" cy="1216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800" kern="1200">
              <a:latin typeface="Arial Narrow" panose="020B0606020202030204" pitchFamily="34" charset="0"/>
            </a:rPr>
            <a:t>El coeficiente de X2 puede variar entre 0.12 a 0.60 sin que cambie la solución optima.</a:t>
          </a:r>
        </a:p>
      </dsp:txBody>
      <dsp:txXfrm>
        <a:off x="59399" y="1613225"/>
        <a:ext cx="2279345" cy="109800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24459C-AA53-4F35-9EC8-F22014200B1C}">
      <dsp:nvSpPr>
        <dsp:cNvPr id="0" name=""/>
        <dsp:cNvSpPr/>
      </dsp:nvSpPr>
      <dsp:spPr>
        <a:xfrm>
          <a:off x="0" y="525"/>
          <a:ext cx="7975728" cy="89399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2400" b="0" kern="1200"/>
            <a:t>Producto Texfood = repartir 1.5 (= 3 onzas)</a:t>
          </a:r>
          <a:endParaRPr lang="es-PE" sz="2400" kern="1200"/>
        </a:p>
      </dsp:txBody>
      <dsp:txXfrm>
        <a:off x="43641" y="44166"/>
        <a:ext cx="7888446" cy="806713"/>
      </dsp:txXfrm>
    </dsp:sp>
    <dsp:sp modelId="{775A2B78-A2EE-447C-9893-1AF951E57CA4}">
      <dsp:nvSpPr>
        <dsp:cNvPr id="0" name=""/>
        <dsp:cNvSpPr/>
      </dsp:nvSpPr>
      <dsp:spPr>
        <a:xfrm>
          <a:off x="0" y="908063"/>
          <a:ext cx="7975728" cy="89399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2400" b="0" kern="1200"/>
            <a:t>Producto Calration = repartir 2.5 (= 5 onzas)</a:t>
          </a:r>
          <a:endParaRPr lang="es-PE" sz="2400" kern="1200"/>
        </a:p>
      </dsp:txBody>
      <dsp:txXfrm>
        <a:off x="43641" y="951704"/>
        <a:ext cx="7888446" cy="806713"/>
      </dsp:txXfrm>
    </dsp:sp>
    <dsp:sp modelId="{C61845A2-679E-49D0-97E2-20F06DD4B43A}">
      <dsp:nvSpPr>
        <dsp:cNvPr id="0" name=""/>
        <dsp:cNvSpPr/>
      </dsp:nvSpPr>
      <dsp:spPr>
        <a:xfrm>
          <a:off x="0" y="1815602"/>
          <a:ext cx="7975728" cy="89399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2400" b="0" kern="1200"/>
            <a:t>Costo =$ 2.15 por porción servidar.</a:t>
          </a:r>
          <a:endParaRPr lang="es-PE" sz="2400" kern="1200"/>
        </a:p>
      </dsp:txBody>
      <dsp:txXfrm>
        <a:off x="43641" y="1859243"/>
        <a:ext cx="7888446" cy="806713"/>
      </dsp:txXfrm>
    </dsp:sp>
    <dsp:sp modelId="{FA4F2827-421B-47B5-BE99-DF4A2469594E}">
      <dsp:nvSpPr>
        <dsp:cNvPr id="0" name=""/>
        <dsp:cNvSpPr/>
      </dsp:nvSpPr>
      <dsp:spPr>
        <a:xfrm>
          <a:off x="0" y="2723140"/>
          <a:ext cx="7975728" cy="89399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2400" b="0" kern="1200"/>
            <a:t>El requisito mínimo para la Vitamina D y el hierro no se encuentren en superávit.</a:t>
          </a:r>
          <a:endParaRPr lang="es-PE" sz="2400" kern="1200"/>
        </a:p>
      </dsp:txBody>
      <dsp:txXfrm>
        <a:off x="43641" y="2766781"/>
        <a:ext cx="7888446" cy="806713"/>
      </dsp:txXfrm>
    </dsp:sp>
    <dsp:sp modelId="{D5981628-BE79-4DCA-94FD-E22686903A08}">
      <dsp:nvSpPr>
        <dsp:cNvPr id="0" name=""/>
        <dsp:cNvSpPr/>
      </dsp:nvSpPr>
      <dsp:spPr>
        <a:xfrm>
          <a:off x="0" y="3630678"/>
          <a:ext cx="7975728" cy="89399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2400" b="0" kern="1200"/>
            <a:t>La mezcla provee 155% del requerimiento para Vitamina A</a:t>
          </a:r>
          <a:endParaRPr lang="es-PE" sz="2400" kern="1200"/>
        </a:p>
      </dsp:txBody>
      <dsp:txXfrm>
        <a:off x="43641" y="3674319"/>
        <a:ext cx="7888446" cy="80671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096F2B-CB34-46C5-AE0C-E58A190F50E5}">
      <dsp:nvSpPr>
        <dsp:cNvPr id="0" name=""/>
        <dsp:cNvSpPr/>
      </dsp:nvSpPr>
      <dsp:spPr>
        <a:xfrm>
          <a:off x="0" y="288"/>
          <a:ext cx="6701846" cy="720738"/>
        </a:xfrm>
        <a:prstGeom prst="roundRect">
          <a:avLst/>
        </a:prstGeom>
        <a:solidFill>
          <a:srgbClr val="4472C4">
            <a:hueOff val="0"/>
            <a:satOff val="0"/>
            <a:lumOff val="0"/>
            <a:alphaOff val="0"/>
          </a:srgb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2200" kern="1200" dirty="0"/>
            <a:t>¿Cuántas unidades de cada producto debe fabricar la compañía para maximizar las ganancias? </a:t>
          </a:r>
          <a:endParaRPr lang="es-PE" sz="2200" kern="1200" dirty="0"/>
        </a:p>
      </dsp:txBody>
      <dsp:txXfrm>
        <a:off x="35184" y="35472"/>
        <a:ext cx="6631478" cy="65037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844A6D-3FFD-4B3E-AD36-F513434FDB45}">
      <dsp:nvSpPr>
        <dsp:cNvPr id="0" name=""/>
        <dsp:cNvSpPr/>
      </dsp:nvSpPr>
      <dsp:spPr>
        <a:xfrm>
          <a:off x="0" y="1091"/>
          <a:ext cx="6753459" cy="223248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just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2200" kern="1200" dirty="0"/>
            <a:t>Una compañía elabora los productos A, B y C. Cada producto se procesa en tres departamentos: I, II y III. El total disponible de horas de trabajo por semana por cada departamento es de 900, 1080 y 840 horas, respectivamente. Los requisitos de tiempo (en horas por unidad) y la ganancia por cada unidad del producto son:</a:t>
          </a:r>
          <a:endParaRPr lang="es-PE" sz="2200" kern="1200" dirty="0"/>
        </a:p>
      </dsp:txBody>
      <dsp:txXfrm>
        <a:off x="108981" y="110072"/>
        <a:ext cx="6535497" cy="201452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B50EB8-0EBD-46A2-82B2-FF46176ECD2C}">
      <dsp:nvSpPr>
        <dsp:cNvPr id="0" name=""/>
        <dsp:cNvSpPr/>
      </dsp:nvSpPr>
      <dsp:spPr>
        <a:xfrm>
          <a:off x="2411" y="526421"/>
          <a:ext cx="4838104" cy="1594987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22860" rIns="0" bIns="22860" numCol="1" spcCol="1270" anchor="ctr" anchorCtr="0">
          <a:noAutofit/>
        </a:bodyPr>
        <a:lstStyle/>
        <a:p>
          <a:pPr marL="0" lvl="0" indent="0" algn="ctr" defTabSz="1600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600" kern="1200"/>
            <a:t>COEFICIENTES DE LA FUNCIÓN OBJETIVO</a:t>
          </a:r>
          <a:endParaRPr lang="es-PE" sz="3600" kern="1200"/>
        </a:p>
      </dsp:txBody>
      <dsp:txXfrm>
        <a:off x="799905" y="526421"/>
        <a:ext cx="3243117" cy="1594987"/>
      </dsp:txXfrm>
    </dsp:sp>
    <dsp:sp modelId="{72D703B5-B180-410A-BA59-628B573D9AC0}">
      <dsp:nvSpPr>
        <dsp:cNvPr id="0" name=""/>
        <dsp:cNvSpPr/>
      </dsp:nvSpPr>
      <dsp:spPr>
        <a:xfrm>
          <a:off x="4211562" y="520789"/>
          <a:ext cx="4015626" cy="1606250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610" tIns="27305" rIns="0" bIns="27305" numCol="1" spcCol="1270" anchor="ctr" anchorCtr="0">
          <a:noAutofit/>
        </a:bodyPr>
        <a:lstStyle/>
        <a:p>
          <a:pPr marL="0" lvl="0" indent="0" algn="ctr" defTabSz="1911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4300" kern="1200"/>
            <a:t>SOLUCION OPTIMA</a:t>
          </a:r>
          <a:endParaRPr lang="es-PE" sz="4300" kern="1200"/>
        </a:p>
      </dsp:txBody>
      <dsp:txXfrm>
        <a:off x="5014687" y="520789"/>
        <a:ext cx="2409376" cy="1606250"/>
      </dsp:txXfrm>
    </dsp:sp>
    <dsp:sp modelId="{AAFD8013-84E0-4198-A35E-433C251116B4}">
      <dsp:nvSpPr>
        <dsp:cNvPr id="0" name=""/>
        <dsp:cNvSpPr/>
      </dsp:nvSpPr>
      <dsp:spPr>
        <a:xfrm>
          <a:off x="2411" y="2397974"/>
          <a:ext cx="4838104" cy="160719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22860" rIns="0" bIns="22860" numCol="1" spcCol="1270" anchor="ctr" anchorCtr="0">
          <a:noAutofit/>
        </a:bodyPr>
        <a:lstStyle/>
        <a:p>
          <a:pPr marL="0" lvl="0" indent="0" algn="ctr" defTabSz="1600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600" kern="1200" dirty="0"/>
            <a:t>LADO DERECHO DE LA </a:t>
          </a:r>
          <a:r>
            <a:rPr lang="es-ES" sz="3600" kern="1200" dirty="0" err="1"/>
            <a:t>RESTRICCION</a:t>
          </a:r>
          <a:endParaRPr lang="es-PE" sz="3600" kern="1200" dirty="0"/>
        </a:p>
      </dsp:txBody>
      <dsp:txXfrm>
        <a:off x="806011" y="2397974"/>
        <a:ext cx="3230905" cy="1607199"/>
      </dsp:txXfrm>
    </dsp:sp>
    <dsp:sp modelId="{4D6F671E-DF0C-4056-933E-A257EF2DCE82}">
      <dsp:nvSpPr>
        <dsp:cNvPr id="0" name=""/>
        <dsp:cNvSpPr/>
      </dsp:nvSpPr>
      <dsp:spPr>
        <a:xfrm>
          <a:off x="4211562" y="2398448"/>
          <a:ext cx="4015626" cy="1606250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610" tIns="27305" rIns="0" bIns="27305" numCol="1" spcCol="1270" anchor="ctr" anchorCtr="0">
          <a:noAutofit/>
        </a:bodyPr>
        <a:lstStyle/>
        <a:p>
          <a:pPr marL="0" lvl="0" indent="0" algn="ctr" defTabSz="1911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4300" kern="1200"/>
            <a:t>FUNCION OBJETIVO</a:t>
          </a:r>
          <a:endParaRPr lang="es-PE" sz="4300" kern="1200"/>
        </a:p>
      </dsp:txBody>
      <dsp:txXfrm>
        <a:off x="5014687" y="2398448"/>
        <a:ext cx="2409376" cy="160625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5178B7CE-16B1-4D5A-BEDA-E05D7C0F0E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5CE36C0-2D64-40DB-852E-EFE530BD79E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03D107-6AA0-4BB9-B3AF-2511759F0087}" type="datetimeFigureOut">
              <a:rPr lang="es-PE" smtClean="0"/>
              <a:t>16/08/2026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BB9BBA3-CB3B-42EF-AC1C-A77E63AFD7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59A3671-5C2E-4C01-9181-86F70785151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4CDB2B-DC05-4B7E-84A4-8E8FE9CBF71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9674508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1D54B5-B035-46F5-86D2-1F43704B1BDB}" type="datetimeFigureOut">
              <a:rPr lang="es-PE" smtClean="0"/>
              <a:t>16/08/2026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836FA3-1F11-49F4-B68F-8771EDD4DFA8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0819940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5f391192_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5f391192_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7FDB4C-8DB5-4895-9E8B-EB4F1648811C}" type="slidenum">
              <a:rPr lang="es-ES" smtClean="0"/>
              <a:pPr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219091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5f391192_0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5f391192_0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20E13C-61E5-46CC-960D-63C41DAD06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63684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6267FC4-894E-4993-BA18-2C880EE5C7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CFA1ECE-8248-44B1-88C7-8265017B7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6F228-02F9-4429-9899-9A5028B2939C}" type="datetimeFigureOut">
              <a:rPr lang="es-PE" smtClean="0"/>
              <a:t>16/08/2026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C7FFCCB-2285-4BA7-B745-4CE0B16C5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C464D61-7B3F-4D44-B814-04BD0FE4C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BA379-2009-4338-BF9E-30C0A8FACAF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8848429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2F9EE1-AB02-439C-A953-D0BD302CF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F391F11-EC76-4F7E-AC56-EAD0CEBCAE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B378AEF-A6A9-47DF-9C5C-6B5007007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6F228-02F9-4429-9899-9A5028B2939C}" type="datetimeFigureOut">
              <a:rPr lang="es-PE" smtClean="0"/>
              <a:t>16/08/2026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8D63CA0-8BC2-4AA4-81B5-97227686E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EA60248-016B-4028-85F2-75F83EB91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BA379-2009-4338-BF9E-30C0A8FACAF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730579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0EA209-C4D8-4196-890A-95A7CD4C0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7D6A4D1-0438-48FA-ADCC-AC432CD76F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A542E60-612D-41CC-9EE5-C343BC61B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6F228-02F9-4429-9899-9A5028B2939C}" type="datetimeFigureOut">
              <a:rPr lang="es-PE" smtClean="0"/>
              <a:t>16/08/2026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BA065A3-6AD0-4723-847E-57B36A32A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6EC95E3-1973-401E-B849-5F2F2C425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BA379-2009-4338-BF9E-30C0A8FACAF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372680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FDB3A3-9D86-449F-A088-128C6B5F0A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8EF8CB9-38CA-4EBF-8F62-EE68B4D6F6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5BC23C3-AE0F-4F5F-B104-BC7EA7551C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FCBCC75-FAFB-4988-ADC8-1E30F0A4E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6F228-02F9-4429-9899-9A5028B2939C}" type="datetimeFigureOut">
              <a:rPr lang="es-PE" smtClean="0"/>
              <a:t>16/08/2026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A7CF524-1AD2-4D6E-AF46-445C3506E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FB533D9-E06A-43BB-8FFF-B7E7E56A3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BA379-2009-4338-BF9E-30C0A8FACAF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239711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E725AD-02A9-499A-B864-01AF086F41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A753734-FC45-4B55-9A29-B26B4CA130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198FBB3-E4E6-411C-A6B3-B26D063353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EBACB3A-C4CB-4902-9988-B007A97C90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EE2010D-8FDA-4E19-9A31-23C0FE9DC2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D1D191B-5CF0-419F-BF5B-EA606AC8D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6F228-02F9-4429-9899-9A5028B2939C}" type="datetimeFigureOut">
              <a:rPr lang="es-PE" smtClean="0"/>
              <a:t>16/08/2026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D8A4629-604A-46AD-BB45-292C54D7C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C5A188A-724B-44E9-BEF7-9E257530E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BA379-2009-4338-BF9E-30C0A8FACAF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492766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94FFE6-E44F-47FD-8C64-C1FC42A7E7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168DDD2-028A-4549-9EB3-E84318877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6F228-02F9-4429-9899-9A5028B2939C}" type="datetimeFigureOut">
              <a:rPr lang="es-PE" smtClean="0"/>
              <a:t>16/08/2026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D50669B-5EDE-4060-A1CA-FE7DBD964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F429BDB-A623-46DB-A3B7-8B68CD92E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BA379-2009-4338-BF9E-30C0A8FACAF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5766450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A578ADCC-78DF-44C4-A2C7-A7CF24269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6F228-02F9-4429-9899-9A5028B2939C}" type="datetimeFigureOut">
              <a:rPr lang="es-PE" smtClean="0"/>
              <a:t>16/08/2026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B7367FB-6CD9-4469-A229-B61F0DC43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301C5A5-C7FD-466A-934B-60249339D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BA379-2009-4338-BF9E-30C0A8FACAF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0521913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11FB1A-74AA-4E0D-83B3-1170F865B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5D0C1AE-BAE4-48E0-88AC-F6958D0E85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F3CCC19-652F-4628-8819-4FD180AB86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33BD21F-BC06-43CD-9F66-5FD87304EE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6F228-02F9-4429-9899-9A5028B2939C}" type="datetimeFigureOut">
              <a:rPr lang="es-PE" smtClean="0"/>
              <a:t>16/08/2026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82DF95C-F515-4AB8-9206-5F559DA0B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3A0F4A3-A4A8-4405-B84F-C1D44A15E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BA379-2009-4338-BF9E-30C0A8FACAF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478757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593BB7-CA9F-4940-8C7F-2CBF43BB50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045E52B-AEB7-42F1-BC8E-CA7E0DDCD4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93A4FC1-5C27-4983-99E0-60D4F82D50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FFB805C-3A94-453E-BC4E-88A5F9C85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6F228-02F9-4429-9899-9A5028B2939C}" type="datetimeFigureOut">
              <a:rPr lang="es-PE" smtClean="0"/>
              <a:t>16/08/2026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448EB1F-6B71-43D0-B4BB-2F47A94BA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90476AE-7DAC-4DCA-A6E4-E2E505CBF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BA379-2009-4338-BF9E-30C0A8FACAF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197590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15B00E-0B7A-4AA1-B637-DC7127C42E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82176F4-1231-4795-897F-95458CBCE8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06A9332-3346-4724-9DEE-503B007FA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6F228-02F9-4429-9899-9A5028B2939C}" type="datetimeFigureOut">
              <a:rPr lang="es-PE" smtClean="0"/>
              <a:t>16/08/2026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6A3589D-3073-43DA-AEA2-6F6C05DA5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FEE47B5-2AEE-4851-B029-9988B8B57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BA379-2009-4338-BF9E-30C0A8FACAF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715828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4AFE1D6-7CA5-4A02-A9CE-8A394A8F3E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218F9D7-F895-4417-B97E-7076B31845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A8AE240-89B5-46F0-94D1-CF5205BCB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6F228-02F9-4429-9899-9A5028B2939C}" type="datetimeFigureOut">
              <a:rPr lang="es-PE" smtClean="0"/>
              <a:t>16/08/2026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4EB6FE0-843B-48B7-80F0-575414327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2CE9982-F23C-426D-A95A-1B50FADAB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BA379-2009-4338-BF9E-30C0A8FACAF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702707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title"/>
          </p:nvPr>
        </p:nvSpPr>
        <p:spPr>
          <a:xfrm>
            <a:off x="974400" y="3986567"/>
            <a:ext cx="5629600" cy="1220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400"/>
              <a:buNone/>
              <a:defRPr sz="12535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es-ES"/>
              <a:t>Haga clic para modificar el estilo de título del patrón</a:t>
            </a:r>
          </a:p>
        </p:txBody>
      </p:sp>
      <p:grpSp>
        <p:nvGrpSpPr>
          <p:cNvPr id="10" name="Google Shape;10;p2"/>
          <p:cNvGrpSpPr/>
          <p:nvPr/>
        </p:nvGrpSpPr>
        <p:grpSpPr>
          <a:xfrm>
            <a:off x="4658468" y="-60667"/>
            <a:ext cx="7533533" cy="6979333"/>
            <a:chOff x="970375" y="238125"/>
            <a:chExt cx="5650150" cy="5234500"/>
          </a:xfrm>
        </p:grpSpPr>
        <p:sp>
          <p:nvSpPr>
            <p:cNvPr id="11" name="Google Shape;11;p2"/>
            <p:cNvSpPr/>
            <p:nvPr/>
          </p:nvSpPr>
          <p:spPr>
            <a:xfrm>
              <a:off x="970375" y="238125"/>
              <a:ext cx="1456750" cy="5234500"/>
            </a:xfrm>
            <a:custGeom>
              <a:avLst/>
              <a:gdLst/>
              <a:ahLst/>
              <a:cxnLst/>
              <a:rect l="l" t="t" r="r" b="b"/>
              <a:pathLst>
                <a:path w="58270" h="209380" extrusionOk="0">
                  <a:moveTo>
                    <a:pt x="55587" y="0"/>
                  </a:moveTo>
                  <a:lnTo>
                    <a:pt x="7833" y="82697"/>
                  </a:lnTo>
                  <a:cubicBezTo>
                    <a:pt x="0" y="96268"/>
                    <a:pt x="16" y="113111"/>
                    <a:pt x="7833" y="126682"/>
                  </a:cubicBezTo>
                  <a:lnTo>
                    <a:pt x="55587" y="209379"/>
                  </a:lnTo>
                  <a:lnTo>
                    <a:pt x="58270" y="209379"/>
                  </a:lnTo>
                  <a:lnTo>
                    <a:pt x="9849" y="125519"/>
                  </a:lnTo>
                  <a:cubicBezTo>
                    <a:pt x="2435" y="112677"/>
                    <a:pt x="2435" y="96718"/>
                    <a:pt x="9849" y="83860"/>
                  </a:cubicBezTo>
                  <a:lnTo>
                    <a:pt x="5827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1607825" y="238125"/>
              <a:ext cx="5012700" cy="5234500"/>
            </a:xfrm>
            <a:custGeom>
              <a:avLst/>
              <a:gdLst/>
              <a:ahLst/>
              <a:cxnLst/>
              <a:rect l="l" t="t" r="r" b="b"/>
              <a:pathLst>
                <a:path w="200508" h="209380" extrusionOk="0">
                  <a:moveTo>
                    <a:pt x="58300" y="0"/>
                  </a:moveTo>
                  <a:lnTo>
                    <a:pt x="3490" y="94919"/>
                  </a:lnTo>
                  <a:cubicBezTo>
                    <a:pt x="0" y="100967"/>
                    <a:pt x="0" y="108412"/>
                    <a:pt x="3490" y="114461"/>
                  </a:cubicBezTo>
                  <a:lnTo>
                    <a:pt x="58300" y="209379"/>
                  </a:lnTo>
                  <a:lnTo>
                    <a:pt x="200507" y="209379"/>
                  </a:lnTo>
                  <a:lnTo>
                    <a:pt x="20050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3" name="Google Shape;13;p2"/>
          <p:cNvSpPr/>
          <p:nvPr/>
        </p:nvSpPr>
        <p:spPr>
          <a:xfrm rot="1799984">
            <a:off x="7317323" y="61421"/>
            <a:ext cx="28460" cy="2319628"/>
          </a:xfrm>
          <a:custGeom>
            <a:avLst/>
            <a:gdLst/>
            <a:ahLst/>
            <a:cxnLst/>
            <a:rect l="l" t="t" r="r" b="b"/>
            <a:pathLst>
              <a:path w="2187" h="207239" extrusionOk="0">
                <a:moveTo>
                  <a:pt x="1094" y="0"/>
                </a:moveTo>
                <a:cubicBezTo>
                  <a:pt x="500" y="0"/>
                  <a:pt x="1" y="469"/>
                  <a:pt x="1" y="1063"/>
                </a:cubicBezTo>
                <a:lnTo>
                  <a:pt x="1" y="206145"/>
                </a:lnTo>
                <a:cubicBezTo>
                  <a:pt x="1" y="206739"/>
                  <a:pt x="500" y="207239"/>
                  <a:pt x="1094" y="207239"/>
                </a:cubicBezTo>
                <a:cubicBezTo>
                  <a:pt x="1281" y="207239"/>
                  <a:pt x="1469" y="207176"/>
                  <a:pt x="1625" y="207083"/>
                </a:cubicBezTo>
                <a:cubicBezTo>
                  <a:pt x="1968" y="206895"/>
                  <a:pt x="2187" y="206552"/>
                  <a:pt x="2187" y="206145"/>
                </a:cubicBezTo>
                <a:lnTo>
                  <a:pt x="2187" y="1063"/>
                </a:lnTo>
                <a:cubicBezTo>
                  <a:pt x="2187" y="469"/>
                  <a:pt x="1687" y="0"/>
                  <a:pt x="1094" y="0"/>
                </a:cubicBezTo>
                <a:close/>
              </a:path>
            </a:pathLst>
          </a:cu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" name="Google Shape;14;p2"/>
          <p:cNvSpPr/>
          <p:nvPr/>
        </p:nvSpPr>
        <p:spPr>
          <a:xfrm rot="1799984">
            <a:off x="8289458" y="-929179"/>
            <a:ext cx="28460" cy="2319628"/>
          </a:xfrm>
          <a:custGeom>
            <a:avLst/>
            <a:gdLst/>
            <a:ahLst/>
            <a:cxnLst/>
            <a:rect l="l" t="t" r="r" b="b"/>
            <a:pathLst>
              <a:path w="2187" h="207239" extrusionOk="0">
                <a:moveTo>
                  <a:pt x="1094" y="0"/>
                </a:moveTo>
                <a:cubicBezTo>
                  <a:pt x="500" y="0"/>
                  <a:pt x="1" y="469"/>
                  <a:pt x="1" y="1063"/>
                </a:cubicBezTo>
                <a:lnTo>
                  <a:pt x="1" y="206145"/>
                </a:lnTo>
                <a:cubicBezTo>
                  <a:pt x="1" y="206739"/>
                  <a:pt x="500" y="207239"/>
                  <a:pt x="1094" y="207239"/>
                </a:cubicBezTo>
                <a:cubicBezTo>
                  <a:pt x="1281" y="207239"/>
                  <a:pt x="1469" y="207176"/>
                  <a:pt x="1625" y="207083"/>
                </a:cubicBezTo>
                <a:cubicBezTo>
                  <a:pt x="1968" y="206895"/>
                  <a:pt x="2187" y="206552"/>
                  <a:pt x="2187" y="206145"/>
                </a:cubicBezTo>
                <a:lnTo>
                  <a:pt x="2187" y="1063"/>
                </a:lnTo>
                <a:cubicBezTo>
                  <a:pt x="2187" y="469"/>
                  <a:pt x="1687" y="0"/>
                  <a:pt x="1094" y="0"/>
                </a:cubicBezTo>
                <a:close/>
              </a:path>
            </a:pathLst>
          </a:cu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5" name="Google Shape;15;p2"/>
          <p:cNvGrpSpPr/>
          <p:nvPr/>
        </p:nvGrpSpPr>
        <p:grpSpPr>
          <a:xfrm>
            <a:off x="1016002" y="1081899"/>
            <a:ext cx="620999" cy="573676"/>
            <a:chOff x="1877325" y="757774"/>
            <a:chExt cx="581969" cy="537619"/>
          </a:xfrm>
        </p:grpSpPr>
        <p:sp>
          <p:nvSpPr>
            <p:cNvPr id="16" name="Google Shape;16;p2"/>
            <p:cNvSpPr/>
            <p:nvPr/>
          </p:nvSpPr>
          <p:spPr>
            <a:xfrm>
              <a:off x="1877325" y="757774"/>
              <a:ext cx="63598" cy="63598"/>
            </a:xfrm>
            <a:custGeom>
              <a:avLst/>
              <a:gdLst/>
              <a:ahLst/>
              <a:cxnLst/>
              <a:rect l="l" t="t" r="r" b="b"/>
              <a:pathLst>
                <a:path w="13312" h="13312" extrusionOk="0">
                  <a:moveTo>
                    <a:pt x="6656" y="0"/>
                  </a:moveTo>
                  <a:cubicBezTo>
                    <a:pt x="3026" y="0"/>
                    <a:pt x="0" y="3026"/>
                    <a:pt x="0" y="6656"/>
                  </a:cubicBezTo>
                  <a:cubicBezTo>
                    <a:pt x="0" y="10387"/>
                    <a:pt x="3026" y="13312"/>
                    <a:pt x="6656" y="13312"/>
                  </a:cubicBezTo>
                  <a:cubicBezTo>
                    <a:pt x="10387" y="13312"/>
                    <a:pt x="13311" y="10387"/>
                    <a:pt x="13311" y="6656"/>
                  </a:cubicBezTo>
                  <a:cubicBezTo>
                    <a:pt x="13311" y="3026"/>
                    <a:pt x="10387" y="0"/>
                    <a:pt x="665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050274" y="757774"/>
              <a:ext cx="63598" cy="63598"/>
            </a:xfrm>
            <a:custGeom>
              <a:avLst/>
              <a:gdLst/>
              <a:ahLst/>
              <a:cxnLst/>
              <a:rect l="l" t="t" r="r" b="b"/>
              <a:pathLst>
                <a:path w="13312" h="13312" extrusionOk="0">
                  <a:moveTo>
                    <a:pt x="6656" y="0"/>
                  </a:moveTo>
                  <a:cubicBezTo>
                    <a:pt x="3026" y="0"/>
                    <a:pt x="1" y="3026"/>
                    <a:pt x="1" y="6656"/>
                  </a:cubicBezTo>
                  <a:cubicBezTo>
                    <a:pt x="1" y="10387"/>
                    <a:pt x="3026" y="13312"/>
                    <a:pt x="6656" y="13312"/>
                  </a:cubicBezTo>
                  <a:cubicBezTo>
                    <a:pt x="10287" y="13312"/>
                    <a:pt x="13312" y="10387"/>
                    <a:pt x="13312" y="6656"/>
                  </a:cubicBezTo>
                  <a:cubicBezTo>
                    <a:pt x="13312" y="3026"/>
                    <a:pt x="10287" y="0"/>
                    <a:pt x="665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2223224" y="757774"/>
              <a:ext cx="63603" cy="63598"/>
            </a:xfrm>
            <a:custGeom>
              <a:avLst/>
              <a:gdLst/>
              <a:ahLst/>
              <a:cxnLst/>
              <a:rect l="l" t="t" r="r" b="b"/>
              <a:pathLst>
                <a:path w="13313" h="13312" extrusionOk="0">
                  <a:moveTo>
                    <a:pt x="6657" y="0"/>
                  </a:moveTo>
                  <a:cubicBezTo>
                    <a:pt x="2925" y="0"/>
                    <a:pt x="1" y="3026"/>
                    <a:pt x="1" y="6656"/>
                  </a:cubicBezTo>
                  <a:cubicBezTo>
                    <a:pt x="1" y="10387"/>
                    <a:pt x="2925" y="13312"/>
                    <a:pt x="6657" y="13312"/>
                  </a:cubicBezTo>
                  <a:cubicBezTo>
                    <a:pt x="10287" y="13312"/>
                    <a:pt x="13312" y="10387"/>
                    <a:pt x="13312" y="6656"/>
                  </a:cubicBezTo>
                  <a:cubicBezTo>
                    <a:pt x="13312" y="3026"/>
                    <a:pt x="10287" y="0"/>
                    <a:pt x="66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2395695" y="757774"/>
              <a:ext cx="63598" cy="63598"/>
            </a:xfrm>
            <a:custGeom>
              <a:avLst/>
              <a:gdLst/>
              <a:ahLst/>
              <a:cxnLst/>
              <a:rect l="l" t="t" r="r" b="b"/>
              <a:pathLst>
                <a:path w="13312" h="13312" extrusionOk="0">
                  <a:moveTo>
                    <a:pt x="6656" y="0"/>
                  </a:moveTo>
                  <a:cubicBezTo>
                    <a:pt x="3026" y="0"/>
                    <a:pt x="0" y="3026"/>
                    <a:pt x="0" y="6656"/>
                  </a:cubicBezTo>
                  <a:cubicBezTo>
                    <a:pt x="0" y="10387"/>
                    <a:pt x="3026" y="13312"/>
                    <a:pt x="6656" y="13312"/>
                  </a:cubicBezTo>
                  <a:cubicBezTo>
                    <a:pt x="10387" y="13312"/>
                    <a:pt x="13312" y="10387"/>
                    <a:pt x="13312" y="6656"/>
                  </a:cubicBezTo>
                  <a:cubicBezTo>
                    <a:pt x="13312" y="3026"/>
                    <a:pt x="10387" y="0"/>
                    <a:pt x="665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877325" y="915780"/>
              <a:ext cx="63598" cy="63598"/>
            </a:xfrm>
            <a:custGeom>
              <a:avLst/>
              <a:gdLst/>
              <a:ahLst/>
              <a:cxnLst/>
              <a:rect l="l" t="t" r="r" b="b"/>
              <a:pathLst>
                <a:path w="13312" h="13312" extrusionOk="0">
                  <a:moveTo>
                    <a:pt x="6656" y="1"/>
                  </a:moveTo>
                  <a:cubicBezTo>
                    <a:pt x="3026" y="1"/>
                    <a:pt x="0" y="3026"/>
                    <a:pt x="0" y="6656"/>
                  </a:cubicBezTo>
                  <a:cubicBezTo>
                    <a:pt x="0" y="10387"/>
                    <a:pt x="3026" y="13312"/>
                    <a:pt x="6656" y="13312"/>
                  </a:cubicBezTo>
                  <a:cubicBezTo>
                    <a:pt x="10387" y="13312"/>
                    <a:pt x="13311" y="10387"/>
                    <a:pt x="13311" y="6656"/>
                  </a:cubicBezTo>
                  <a:cubicBezTo>
                    <a:pt x="13311" y="3026"/>
                    <a:pt x="10387" y="1"/>
                    <a:pt x="665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2050274" y="915780"/>
              <a:ext cx="63598" cy="63598"/>
            </a:xfrm>
            <a:custGeom>
              <a:avLst/>
              <a:gdLst/>
              <a:ahLst/>
              <a:cxnLst/>
              <a:rect l="l" t="t" r="r" b="b"/>
              <a:pathLst>
                <a:path w="13312" h="13312" extrusionOk="0">
                  <a:moveTo>
                    <a:pt x="6656" y="1"/>
                  </a:moveTo>
                  <a:cubicBezTo>
                    <a:pt x="3026" y="1"/>
                    <a:pt x="1" y="3026"/>
                    <a:pt x="1" y="6656"/>
                  </a:cubicBezTo>
                  <a:cubicBezTo>
                    <a:pt x="1" y="10387"/>
                    <a:pt x="3026" y="13312"/>
                    <a:pt x="6656" y="13312"/>
                  </a:cubicBezTo>
                  <a:cubicBezTo>
                    <a:pt x="10287" y="13312"/>
                    <a:pt x="13312" y="10387"/>
                    <a:pt x="13312" y="6656"/>
                  </a:cubicBezTo>
                  <a:cubicBezTo>
                    <a:pt x="13312" y="3026"/>
                    <a:pt x="10287" y="1"/>
                    <a:pt x="665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2223224" y="915780"/>
              <a:ext cx="63603" cy="63598"/>
            </a:xfrm>
            <a:custGeom>
              <a:avLst/>
              <a:gdLst/>
              <a:ahLst/>
              <a:cxnLst/>
              <a:rect l="l" t="t" r="r" b="b"/>
              <a:pathLst>
                <a:path w="13313" h="13312" extrusionOk="0">
                  <a:moveTo>
                    <a:pt x="6657" y="1"/>
                  </a:moveTo>
                  <a:cubicBezTo>
                    <a:pt x="2925" y="1"/>
                    <a:pt x="1" y="3026"/>
                    <a:pt x="1" y="6656"/>
                  </a:cubicBezTo>
                  <a:cubicBezTo>
                    <a:pt x="1" y="10387"/>
                    <a:pt x="2925" y="13312"/>
                    <a:pt x="6657" y="13312"/>
                  </a:cubicBezTo>
                  <a:cubicBezTo>
                    <a:pt x="10287" y="13312"/>
                    <a:pt x="13312" y="10387"/>
                    <a:pt x="13312" y="6656"/>
                  </a:cubicBezTo>
                  <a:cubicBezTo>
                    <a:pt x="13312" y="3026"/>
                    <a:pt x="10287" y="1"/>
                    <a:pt x="66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2395695" y="915780"/>
              <a:ext cx="63598" cy="63598"/>
            </a:xfrm>
            <a:custGeom>
              <a:avLst/>
              <a:gdLst/>
              <a:ahLst/>
              <a:cxnLst/>
              <a:rect l="l" t="t" r="r" b="b"/>
              <a:pathLst>
                <a:path w="13312" h="13312" extrusionOk="0">
                  <a:moveTo>
                    <a:pt x="6656" y="1"/>
                  </a:moveTo>
                  <a:cubicBezTo>
                    <a:pt x="3026" y="1"/>
                    <a:pt x="0" y="3026"/>
                    <a:pt x="0" y="6656"/>
                  </a:cubicBezTo>
                  <a:cubicBezTo>
                    <a:pt x="0" y="10387"/>
                    <a:pt x="3026" y="13312"/>
                    <a:pt x="6656" y="13312"/>
                  </a:cubicBezTo>
                  <a:cubicBezTo>
                    <a:pt x="10387" y="13312"/>
                    <a:pt x="13312" y="10387"/>
                    <a:pt x="13312" y="6656"/>
                  </a:cubicBezTo>
                  <a:cubicBezTo>
                    <a:pt x="13312" y="3026"/>
                    <a:pt x="10387" y="1"/>
                    <a:pt x="665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1877325" y="1073785"/>
              <a:ext cx="63598" cy="63603"/>
            </a:xfrm>
            <a:custGeom>
              <a:avLst/>
              <a:gdLst/>
              <a:ahLst/>
              <a:cxnLst/>
              <a:rect l="l" t="t" r="r" b="b"/>
              <a:pathLst>
                <a:path w="13312" h="13313" extrusionOk="0">
                  <a:moveTo>
                    <a:pt x="6656" y="1"/>
                  </a:moveTo>
                  <a:cubicBezTo>
                    <a:pt x="3026" y="1"/>
                    <a:pt x="0" y="3026"/>
                    <a:pt x="0" y="6656"/>
                  </a:cubicBezTo>
                  <a:cubicBezTo>
                    <a:pt x="0" y="10287"/>
                    <a:pt x="3026" y="13312"/>
                    <a:pt x="6656" y="13312"/>
                  </a:cubicBezTo>
                  <a:cubicBezTo>
                    <a:pt x="10387" y="13312"/>
                    <a:pt x="13311" y="10287"/>
                    <a:pt x="13311" y="6656"/>
                  </a:cubicBezTo>
                  <a:cubicBezTo>
                    <a:pt x="13311" y="3026"/>
                    <a:pt x="10387" y="1"/>
                    <a:pt x="665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2050274" y="1073785"/>
              <a:ext cx="63598" cy="63603"/>
            </a:xfrm>
            <a:custGeom>
              <a:avLst/>
              <a:gdLst/>
              <a:ahLst/>
              <a:cxnLst/>
              <a:rect l="l" t="t" r="r" b="b"/>
              <a:pathLst>
                <a:path w="13312" h="13313" extrusionOk="0">
                  <a:moveTo>
                    <a:pt x="6656" y="1"/>
                  </a:moveTo>
                  <a:cubicBezTo>
                    <a:pt x="3026" y="1"/>
                    <a:pt x="1" y="3026"/>
                    <a:pt x="1" y="6656"/>
                  </a:cubicBezTo>
                  <a:cubicBezTo>
                    <a:pt x="1" y="10287"/>
                    <a:pt x="3026" y="13312"/>
                    <a:pt x="6656" y="13312"/>
                  </a:cubicBezTo>
                  <a:cubicBezTo>
                    <a:pt x="10287" y="13312"/>
                    <a:pt x="13312" y="10287"/>
                    <a:pt x="13312" y="6656"/>
                  </a:cubicBezTo>
                  <a:cubicBezTo>
                    <a:pt x="13312" y="3026"/>
                    <a:pt x="10287" y="1"/>
                    <a:pt x="665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2223224" y="1073785"/>
              <a:ext cx="63603" cy="63603"/>
            </a:xfrm>
            <a:custGeom>
              <a:avLst/>
              <a:gdLst/>
              <a:ahLst/>
              <a:cxnLst/>
              <a:rect l="l" t="t" r="r" b="b"/>
              <a:pathLst>
                <a:path w="13313" h="13313" extrusionOk="0">
                  <a:moveTo>
                    <a:pt x="6657" y="1"/>
                  </a:moveTo>
                  <a:cubicBezTo>
                    <a:pt x="2925" y="1"/>
                    <a:pt x="1" y="3026"/>
                    <a:pt x="1" y="6656"/>
                  </a:cubicBezTo>
                  <a:cubicBezTo>
                    <a:pt x="1" y="10287"/>
                    <a:pt x="2925" y="13312"/>
                    <a:pt x="6657" y="13312"/>
                  </a:cubicBezTo>
                  <a:cubicBezTo>
                    <a:pt x="10287" y="13312"/>
                    <a:pt x="13312" y="10287"/>
                    <a:pt x="13312" y="6656"/>
                  </a:cubicBezTo>
                  <a:cubicBezTo>
                    <a:pt x="13312" y="3026"/>
                    <a:pt x="10287" y="1"/>
                    <a:pt x="66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2395695" y="1073785"/>
              <a:ext cx="63598" cy="63603"/>
            </a:xfrm>
            <a:custGeom>
              <a:avLst/>
              <a:gdLst/>
              <a:ahLst/>
              <a:cxnLst/>
              <a:rect l="l" t="t" r="r" b="b"/>
              <a:pathLst>
                <a:path w="13312" h="13313" extrusionOk="0">
                  <a:moveTo>
                    <a:pt x="6656" y="1"/>
                  </a:moveTo>
                  <a:cubicBezTo>
                    <a:pt x="3026" y="1"/>
                    <a:pt x="0" y="3026"/>
                    <a:pt x="0" y="6656"/>
                  </a:cubicBezTo>
                  <a:cubicBezTo>
                    <a:pt x="0" y="10287"/>
                    <a:pt x="3026" y="13312"/>
                    <a:pt x="6656" y="13312"/>
                  </a:cubicBezTo>
                  <a:cubicBezTo>
                    <a:pt x="10387" y="13312"/>
                    <a:pt x="13312" y="10287"/>
                    <a:pt x="13312" y="6656"/>
                  </a:cubicBezTo>
                  <a:cubicBezTo>
                    <a:pt x="13312" y="3026"/>
                    <a:pt x="10387" y="1"/>
                    <a:pt x="665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1877325" y="1231796"/>
              <a:ext cx="63598" cy="63598"/>
            </a:xfrm>
            <a:custGeom>
              <a:avLst/>
              <a:gdLst/>
              <a:ahLst/>
              <a:cxnLst/>
              <a:rect l="l" t="t" r="r" b="b"/>
              <a:pathLst>
                <a:path w="13312" h="13312" extrusionOk="0">
                  <a:moveTo>
                    <a:pt x="6656" y="0"/>
                  </a:moveTo>
                  <a:cubicBezTo>
                    <a:pt x="3026" y="0"/>
                    <a:pt x="0" y="2925"/>
                    <a:pt x="0" y="6656"/>
                  </a:cubicBezTo>
                  <a:cubicBezTo>
                    <a:pt x="0" y="10286"/>
                    <a:pt x="3026" y="13311"/>
                    <a:pt x="6656" y="13311"/>
                  </a:cubicBezTo>
                  <a:cubicBezTo>
                    <a:pt x="10387" y="13311"/>
                    <a:pt x="13311" y="10286"/>
                    <a:pt x="13311" y="6656"/>
                  </a:cubicBezTo>
                  <a:cubicBezTo>
                    <a:pt x="13311" y="2925"/>
                    <a:pt x="10387" y="0"/>
                    <a:pt x="665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2050274" y="1231796"/>
              <a:ext cx="63598" cy="63598"/>
            </a:xfrm>
            <a:custGeom>
              <a:avLst/>
              <a:gdLst/>
              <a:ahLst/>
              <a:cxnLst/>
              <a:rect l="l" t="t" r="r" b="b"/>
              <a:pathLst>
                <a:path w="13312" h="13312" extrusionOk="0">
                  <a:moveTo>
                    <a:pt x="6656" y="0"/>
                  </a:moveTo>
                  <a:cubicBezTo>
                    <a:pt x="3026" y="0"/>
                    <a:pt x="1" y="2925"/>
                    <a:pt x="1" y="6656"/>
                  </a:cubicBezTo>
                  <a:cubicBezTo>
                    <a:pt x="1" y="10286"/>
                    <a:pt x="3026" y="13311"/>
                    <a:pt x="6656" y="13311"/>
                  </a:cubicBezTo>
                  <a:cubicBezTo>
                    <a:pt x="10287" y="13311"/>
                    <a:pt x="13312" y="10286"/>
                    <a:pt x="13312" y="6656"/>
                  </a:cubicBezTo>
                  <a:cubicBezTo>
                    <a:pt x="13312" y="2925"/>
                    <a:pt x="10287" y="0"/>
                    <a:pt x="665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2223224" y="1231796"/>
              <a:ext cx="63603" cy="63598"/>
            </a:xfrm>
            <a:custGeom>
              <a:avLst/>
              <a:gdLst/>
              <a:ahLst/>
              <a:cxnLst/>
              <a:rect l="l" t="t" r="r" b="b"/>
              <a:pathLst>
                <a:path w="13313" h="13312" extrusionOk="0">
                  <a:moveTo>
                    <a:pt x="6657" y="0"/>
                  </a:moveTo>
                  <a:cubicBezTo>
                    <a:pt x="2925" y="0"/>
                    <a:pt x="1" y="2925"/>
                    <a:pt x="1" y="6656"/>
                  </a:cubicBezTo>
                  <a:cubicBezTo>
                    <a:pt x="1" y="10286"/>
                    <a:pt x="2925" y="13311"/>
                    <a:pt x="6657" y="13311"/>
                  </a:cubicBezTo>
                  <a:cubicBezTo>
                    <a:pt x="10287" y="13311"/>
                    <a:pt x="13312" y="10286"/>
                    <a:pt x="13312" y="6656"/>
                  </a:cubicBezTo>
                  <a:cubicBezTo>
                    <a:pt x="13312" y="2925"/>
                    <a:pt x="10287" y="0"/>
                    <a:pt x="66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2395695" y="1231796"/>
              <a:ext cx="63598" cy="63598"/>
            </a:xfrm>
            <a:custGeom>
              <a:avLst/>
              <a:gdLst/>
              <a:ahLst/>
              <a:cxnLst/>
              <a:rect l="l" t="t" r="r" b="b"/>
              <a:pathLst>
                <a:path w="13312" h="13312" extrusionOk="0">
                  <a:moveTo>
                    <a:pt x="6656" y="0"/>
                  </a:moveTo>
                  <a:cubicBezTo>
                    <a:pt x="3026" y="0"/>
                    <a:pt x="0" y="2925"/>
                    <a:pt x="0" y="6656"/>
                  </a:cubicBezTo>
                  <a:cubicBezTo>
                    <a:pt x="0" y="10286"/>
                    <a:pt x="3026" y="13311"/>
                    <a:pt x="6656" y="13311"/>
                  </a:cubicBezTo>
                  <a:cubicBezTo>
                    <a:pt x="10387" y="13311"/>
                    <a:pt x="13312" y="10286"/>
                    <a:pt x="13312" y="6656"/>
                  </a:cubicBezTo>
                  <a:cubicBezTo>
                    <a:pt x="13312" y="2925"/>
                    <a:pt x="10387" y="0"/>
                    <a:pt x="665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32" name="Google Shape;32;p2"/>
          <p:cNvSpPr/>
          <p:nvPr/>
        </p:nvSpPr>
        <p:spPr>
          <a:xfrm>
            <a:off x="7726169" y="5880102"/>
            <a:ext cx="947851" cy="117881"/>
          </a:xfrm>
          <a:custGeom>
            <a:avLst/>
            <a:gdLst/>
            <a:ahLst/>
            <a:cxnLst/>
            <a:rect l="l" t="t" r="r" b="b"/>
            <a:pathLst>
              <a:path w="178391" h="22186" extrusionOk="0">
                <a:moveTo>
                  <a:pt x="173752" y="13009"/>
                </a:moveTo>
                <a:cubicBezTo>
                  <a:pt x="172743" y="13009"/>
                  <a:pt x="171836" y="12807"/>
                  <a:pt x="171130" y="12202"/>
                </a:cubicBezTo>
                <a:cubicBezTo>
                  <a:pt x="170525" y="11698"/>
                  <a:pt x="170020" y="10992"/>
                  <a:pt x="169718" y="9883"/>
                </a:cubicBezTo>
                <a:cubicBezTo>
                  <a:pt x="168911" y="6958"/>
                  <a:pt x="167298" y="4437"/>
                  <a:pt x="165079" y="2723"/>
                </a:cubicBezTo>
                <a:cubicBezTo>
                  <a:pt x="162760" y="1009"/>
                  <a:pt x="159936" y="0"/>
                  <a:pt x="156911" y="0"/>
                </a:cubicBezTo>
                <a:cubicBezTo>
                  <a:pt x="153785" y="0"/>
                  <a:pt x="150961" y="1009"/>
                  <a:pt x="148642" y="2723"/>
                </a:cubicBezTo>
                <a:cubicBezTo>
                  <a:pt x="146423" y="4437"/>
                  <a:pt x="144810" y="6958"/>
                  <a:pt x="144003" y="9883"/>
                </a:cubicBezTo>
                <a:cubicBezTo>
                  <a:pt x="143701" y="10992"/>
                  <a:pt x="143196" y="11698"/>
                  <a:pt x="142591" y="12202"/>
                </a:cubicBezTo>
                <a:cubicBezTo>
                  <a:pt x="141885" y="12807"/>
                  <a:pt x="140978" y="13009"/>
                  <a:pt x="139969" y="13009"/>
                </a:cubicBezTo>
                <a:cubicBezTo>
                  <a:pt x="138961" y="13009"/>
                  <a:pt x="138053" y="12807"/>
                  <a:pt x="137348" y="12202"/>
                </a:cubicBezTo>
                <a:cubicBezTo>
                  <a:pt x="136642" y="11698"/>
                  <a:pt x="136137" y="10891"/>
                  <a:pt x="135936" y="9883"/>
                </a:cubicBezTo>
                <a:cubicBezTo>
                  <a:pt x="135129" y="6958"/>
                  <a:pt x="133516" y="4437"/>
                  <a:pt x="131196" y="2723"/>
                </a:cubicBezTo>
                <a:cubicBezTo>
                  <a:pt x="128877" y="1009"/>
                  <a:pt x="126053" y="0"/>
                  <a:pt x="123028" y="0"/>
                </a:cubicBezTo>
                <a:cubicBezTo>
                  <a:pt x="120003" y="0"/>
                  <a:pt x="117179" y="1009"/>
                  <a:pt x="114860" y="2723"/>
                </a:cubicBezTo>
                <a:cubicBezTo>
                  <a:pt x="112540" y="4437"/>
                  <a:pt x="110927" y="6958"/>
                  <a:pt x="110120" y="9883"/>
                </a:cubicBezTo>
                <a:cubicBezTo>
                  <a:pt x="109918" y="10992"/>
                  <a:pt x="109414" y="11698"/>
                  <a:pt x="108708" y="12202"/>
                </a:cubicBezTo>
                <a:cubicBezTo>
                  <a:pt x="108002" y="12807"/>
                  <a:pt x="107095" y="13009"/>
                  <a:pt x="106086" y="13009"/>
                </a:cubicBezTo>
                <a:cubicBezTo>
                  <a:pt x="105078" y="13009"/>
                  <a:pt x="104170" y="12807"/>
                  <a:pt x="103465" y="12202"/>
                </a:cubicBezTo>
                <a:cubicBezTo>
                  <a:pt x="102859" y="11698"/>
                  <a:pt x="102355" y="10992"/>
                  <a:pt x="102053" y="9883"/>
                </a:cubicBezTo>
                <a:cubicBezTo>
                  <a:pt x="101246" y="6958"/>
                  <a:pt x="99633" y="4437"/>
                  <a:pt x="97313" y="2723"/>
                </a:cubicBezTo>
                <a:cubicBezTo>
                  <a:pt x="95095" y="1009"/>
                  <a:pt x="92271" y="0"/>
                  <a:pt x="89145" y="0"/>
                </a:cubicBezTo>
                <a:cubicBezTo>
                  <a:pt x="86120" y="0"/>
                  <a:pt x="83296" y="1009"/>
                  <a:pt x="80977" y="2723"/>
                </a:cubicBezTo>
                <a:cubicBezTo>
                  <a:pt x="78758" y="4437"/>
                  <a:pt x="77044" y="6958"/>
                  <a:pt x="76338" y="9883"/>
                </a:cubicBezTo>
                <a:cubicBezTo>
                  <a:pt x="76035" y="10891"/>
                  <a:pt x="75531" y="11698"/>
                  <a:pt x="74926" y="12202"/>
                </a:cubicBezTo>
                <a:cubicBezTo>
                  <a:pt x="74220" y="12807"/>
                  <a:pt x="73313" y="13009"/>
                  <a:pt x="72304" y="13009"/>
                </a:cubicBezTo>
                <a:cubicBezTo>
                  <a:pt x="71195" y="13009"/>
                  <a:pt x="70287" y="12807"/>
                  <a:pt x="69682" y="12202"/>
                </a:cubicBezTo>
                <a:cubicBezTo>
                  <a:pt x="68977" y="11698"/>
                  <a:pt x="68472" y="10891"/>
                  <a:pt x="68170" y="9883"/>
                </a:cubicBezTo>
                <a:cubicBezTo>
                  <a:pt x="67464" y="6958"/>
                  <a:pt x="65750" y="4437"/>
                  <a:pt x="63531" y="2723"/>
                </a:cubicBezTo>
                <a:cubicBezTo>
                  <a:pt x="61212" y="1009"/>
                  <a:pt x="58388" y="0"/>
                  <a:pt x="55363" y="0"/>
                </a:cubicBezTo>
                <a:cubicBezTo>
                  <a:pt x="52237" y="0"/>
                  <a:pt x="49413" y="1009"/>
                  <a:pt x="47195" y="2723"/>
                </a:cubicBezTo>
                <a:cubicBezTo>
                  <a:pt x="44875" y="4437"/>
                  <a:pt x="43262" y="6958"/>
                  <a:pt x="42455" y="9883"/>
                </a:cubicBezTo>
                <a:cubicBezTo>
                  <a:pt x="42153" y="10992"/>
                  <a:pt x="41749" y="11698"/>
                  <a:pt x="41043" y="12202"/>
                </a:cubicBezTo>
                <a:cubicBezTo>
                  <a:pt x="40337" y="12807"/>
                  <a:pt x="39430" y="13009"/>
                  <a:pt x="38421" y="13009"/>
                </a:cubicBezTo>
                <a:cubicBezTo>
                  <a:pt x="37413" y="13009"/>
                  <a:pt x="36505" y="12807"/>
                  <a:pt x="35799" y="12202"/>
                </a:cubicBezTo>
                <a:cubicBezTo>
                  <a:pt x="35094" y="11698"/>
                  <a:pt x="34589" y="10992"/>
                  <a:pt x="34388" y="9883"/>
                </a:cubicBezTo>
                <a:cubicBezTo>
                  <a:pt x="33581" y="6958"/>
                  <a:pt x="31967" y="4437"/>
                  <a:pt x="29648" y="2723"/>
                </a:cubicBezTo>
                <a:cubicBezTo>
                  <a:pt x="27329" y="1009"/>
                  <a:pt x="24505" y="0"/>
                  <a:pt x="21480" y="0"/>
                </a:cubicBezTo>
                <a:cubicBezTo>
                  <a:pt x="18455" y="0"/>
                  <a:pt x="15631" y="1009"/>
                  <a:pt x="13312" y="2723"/>
                </a:cubicBezTo>
                <a:cubicBezTo>
                  <a:pt x="10992" y="4437"/>
                  <a:pt x="9379" y="6958"/>
                  <a:pt x="8572" y="9883"/>
                </a:cubicBezTo>
                <a:cubicBezTo>
                  <a:pt x="8370" y="10891"/>
                  <a:pt x="7866" y="11698"/>
                  <a:pt x="7160" y="12202"/>
                </a:cubicBezTo>
                <a:cubicBezTo>
                  <a:pt x="6555" y="12807"/>
                  <a:pt x="5648" y="13009"/>
                  <a:pt x="4538" y="13009"/>
                </a:cubicBezTo>
                <a:cubicBezTo>
                  <a:pt x="2017" y="13009"/>
                  <a:pt x="0" y="15127"/>
                  <a:pt x="0" y="17648"/>
                </a:cubicBezTo>
                <a:cubicBezTo>
                  <a:pt x="0" y="20169"/>
                  <a:pt x="2017" y="22186"/>
                  <a:pt x="4538" y="22186"/>
                </a:cubicBezTo>
                <a:cubicBezTo>
                  <a:pt x="7664" y="22186"/>
                  <a:pt x="10488" y="21278"/>
                  <a:pt x="12707" y="19463"/>
                </a:cubicBezTo>
                <a:cubicBezTo>
                  <a:pt x="15026" y="17748"/>
                  <a:pt x="16639" y="15227"/>
                  <a:pt x="17446" y="12303"/>
                </a:cubicBezTo>
                <a:cubicBezTo>
                  <a:pt x="17749" y="11295"/>
                  <a:pt x="18152" y="10488"/>
                  <a:pt x="18858" y="9984"/>
                </a:cubicBezTo>
                <a:cubicBezTo>
                  <a:pt x="19564" y="9479"/>
                  <a:pt x="20471" y="9177"/>
                  <a:pt x="21480" y="9177"/>
                </a:cubicBezTo>
                <a:cubicBezTo>
                  <a:pt x="22488" y="9177"/>
                  <a:pt x="23396" y="9479"/>
                  <a:pt x="24102" y="9984"/>
                </a:cubicBezTo>
                <a:cubicBezTo>
                  <a:pt x="24808" y="10488"/>
                  <a:pt x="25211" y="11295"/>
                  <a:pt x="25514" y="12303"/>
                </a:cubicBezTo>
                <a:cubicBezTo>
                  <a:pt x="26320" y="15227"/>
                  <a:pt x="27934" y="17748"/>
                  <a:pt x="30253" y="19463"/>
                </a:cubicBezTo>
                <a:cubicBezTo>
                  <a:pt x="32472" y="21278"/>
                  <a:pt x="35396" y="22186"/>
                  <a:pt x="38421" y="22186"/>
                </a:cubicBezTo>
                <a:cubicBezTo>
                  <a:pt x="41447" y="22186"/>
                  <a:pt x="44270" y="21278"/>
                  <a:pt x="46590" y="19463"/>
                </a:cubicBezTo>
                <a:cubicBezTo>
                  <a:pt x="48909" y="17748"/>
                  <a:pt x="50522" y="15227"/>
                  <a:pt x="51329" y="12303"/>
                </a:cubicBezTo>
                <a:cubicBezTo>
                  <a:pt x="51531" y="11295"/>
                  <a:pt x="52035" y="10488"/>
                  <a:pt x="52741" y="9984"/>
                </a:cubicBezTo>
                <a:cubicBezTo>
                  <a:pt x="53346" y="9479"/>
                  <a:pt x="54254" y="9177"/>
                  <a:pt x="55363" y="9177"/>
                </a:cubicBezTo>
                <a:cubicBezTo>
                  <a:pt x="56371" y="9177"/>
                  <a:pt x="57279" y="9479"/>
                  <a:pt x="57985" y="9984"/>
                </a:cubicBezTo>
                <a:cubicBezTo>
                  <a:pt x="58590" y="10488"/>
                  <a:pt x="59094" y="11295"/>
                  <a:pt x="59397" y="12303"/>
                </a:cubicBezTo>
                <a:cubicBezTo>
                  <a:pt x="60203" y="15227"/>
                  <a:pt x="61817" y="17748"/>
                  <a:pt x="64035" y="19463"/>
                </a:cubicBezTo>
                <a:cubicBezTo>
                  <a:pt x="66355" y="21278"/>
                  <a:pt x="69178" y="22186"/>
                  <a:pt x="72203" y="22186"/>
                </a:cubicBezTo>
                <a:cubicBezTo>
                  <a:pt x="75330" y="22186"/>
                  <a:pt x="78153" y="21278"/>
                  <a:pt x="80473" y="19463"/>
                </a:cubicBezTo>
                <a:cubicBezTo>
                  <a:pt x="82691" y="17748"/>
                  <a:pt x="84305" y="15227"/>
                  <a:pt x="85111" y="12303"/>
                </a:cubicBezTo>
                <a:cubicBezTo>
                  <a:pt x="85414" y="11295"/>
                  <a:pt x="85918" y="10488"/>
                  <a:pt x="86523" y="9984"/>
                </a:cubicBezTo>
                <a:cubicBezTo>
                  <a:pt x="87229" y="9479"/>
                  <a:pt x="88137" y="9177"/>
                  <a:pt x="89145" y="9177"/>
                </a:cubicBezTo>
                <a:cubicBezTo>
                  <a:pt x="90254" y="9177"/>
                  <a:pt x="91162" y="9479"/>
                  <a:pt x="91767" y="9984"/>
                </a:cubicBezTo>
                <a:cubicBezTo>
                  <a:pt x="92473" y="10488"/>
                  <a:pt x="92977" y="11295"/>
                  <a:pt x="93179" y="12303"/>
                </a:cubicBezTo>
                <a:cubicBezTo>
                  <a:pt x="93985" y="15227"/>
                  <a:pt x="95599" y="17748"/>
                  <a:pt x="97918" y="19463"/>
                </a:cubicBezTo>
                <a:cubicBezTo>
                  <a:pt x="100238" y="21278"/>
                  <a:pt x="103061" y="22186"/>
                  <a:pt x="106086" y="22186"/>
                </a:cubicBezTo>
                <a:cubicBezTo>
                  <a:pt x="109112" y="22186"/>
                  <a:pt x="112036" y="21278"/>
                  <a:pt x="114255" y="19463"/>
                </a:cubicBezTo>
                <a:cubicBezTo>
                  <a:pt x="116574" y="17748"/>
                  <a:pt x="118187" y="15227"/>
                  <a:pt x="118994" y="12303"/>
                </a:cubicBezTo>
                <a:cubicBezTo>
                  <a:pt x="119297" y="11295"/>
                  <a:pt x="119700" y="10488"/>
                  <a:pt x="120406" y="9984"/>
                </a:cubicBezTo>
                <a:cubicBezTo>
                  <a:pt x="121112" y="9479"/>
                  <a:pt x="122019" y="9177"/>
                  <a:pt x="123028" y="9177"/>
                </a:cubicBezTo>
                <a:cubicBezTo>
                  <a:pt x="124036" y="9177"/>
                  <a:pt x="124944" y="9479"/>
                  <a:pt x="125650" y="9984"/>
                </a:cubicBezTo>
                <a:cubicBezTo>
                  <a:pt x="126356" y="10488"/>
                  <a:pt x="126759" y="11295"/>
                  <a:pt x="127062" y="12303"/>
                </a:cubicBezTo>
                <a:cubicBezTo>
                  <a:pt x="127868" y="15227"/>
                  <a:pt x="129482" y="17748"/>
                  <a:pt x="131801" y="19463"/>
                </a:cubicBezTo>
                <a:cubicBezTo>
                  <a:pt x="134020" y="21278"/>
                  <a:pt x="136843" y="22186"/>
                  <a:pt x="139969" y="22186"/>
                </a:cubicBezTo>
                <a:cubicBezTo>
                  <a:pt x="142995" y="22186"/>
                  <a:pt x="145818" y="21278"/>
                  <a:pt x="148138" y="19463"/>
                </a:cubicBezTo>
                <a:cubicBezTo>
                  <a:pt x="150356" y="17748"/>
                  <a:pt x="152070" y="15227"/>
                  <a:pt x="152776" y="12303"/>
                </a:cubicBezTo>
                <a:cubicBezTo>
                  <a:pt x="153079" y="11295"/>
                  <a:pt x="153583" y="10488"/>
                  <a:pt x="154289" y="9984"/>
                </a:cubicBezTo>
                <a:cubicBezTo>
                  <a:pt x="154894" y="9479"/>
                  <a:pt x="155802" y="9177"/>
                  <a:pt x="156911" y="9177"/>
                </a:cubicBezTo>
                <a:cubicBezTo>
                  <a:pt x="157919" y="9177"/>
                  <a:pt x="158827" y="9479"/>
                  <a:pt x="159533" y="9984"/>
                </a:cubicBezTo>
                <a:cubicBezTo>
                  <a:pt x="160138" y="10488"/>
                  <a:pt x="160642" y="11295"/>
                  <a:pt x="160945" y="12303"/>
                </a:cubicBezTo>
                <a:cubicBezTo>
                  <a:pt x="161751" y="15227"/>
                  <a:pt x="163365" y="17748"/>
                  <a:pt x="165583" y="19463"/>
                </a:cubicBezTo>
                <a:cubicBezTo>
                  <a:pt x="167903" y="21278"/>
                  <a:pt x="170726" y="22186"/>
                  <a:pt x="173752" y="22186"/>
                </a:cubicBezTo>
                <a:cubicBezTo>
                  <a:pt x="176273" y="22186"/>
                  <a:pt x="178390" y="20169"/>
                  <a:pt x="178390" y="17648"/>
                </a:cubicBezTo>
                <a:cubicBezTo>
                  <a:pt x="178390" y="15127"/>
                  <a:pt x="176273" y="13009"/>
                  <a:pt x="173752" y="13009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3" name="Google Shape;33;p2"/>
          <p:cNvSpPr/>
          <p:nvPr/>
        </p:nvSpPr>
        <p:spPr>
          <a:xfrm>
            <a:off x="1016000" y="5406567"/>
            <a:ext cx="838000" cy="119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4" name="Google Shape;34;p2"/>
          <p:cNvSpPr txBox="1">
            <a:spLocks noGrp="1"/>
          </p:cNvSpPr>
          <p:nvPr>
            <p:ph type="subTitle" idx="1"/>
          </p:nvPr>
        </p:nvSpPr>
        <p:spPr>
          <a:xfrm>
            <a:off x="974400" y="2720472"/>
            <a:ext cx="5706000" cy="11620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5465" b="1">
                <a:solidFill>
                  <a:schemeClr val="dk1"/>
                </a:solidFill>
                <a:latin typeface="Signika"/>
                <a:ea typeface="Signika"/>
                <a:cs typeface="Signika"/>
                <a:sym typeface="Signika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9pPr>
          </a:lstStyle>
          <a:p>
            <a:r>
              <a:rPr lang="es-ES"/>
              <a:t>Haga clic para editar el estilo de subtítulo del patrón</a:t>
            </a:r>
          </a:p>
        </p:txBody>
      </p:sp>
      <p:sp>
        <p:nvSpPr>
          <p:cNvPr id="35" name="Google Shape;35;p2"/>
          <p:cNvSpPr txBox="1">
            <a:spLocks noGrp="1"/>
          </p:cNvSpPr>
          <p:nvPr>
            <p:ph type="subTitle" idx="2"/>
          </p:nvPr>
        </p:nvSpPr>
        <p:spPr>
          <a:xfrm>
            <a:off x="974400" y="5716467"/>
            <a:ext cx="4996800" cy="3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2135">
                <a:latin typeface="Signika"/>
                <a:ea typeface="Signika"/>
                <a:cs typeface="Signika"/>
                <a:sym typeface="Signik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2135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2135"/>
              </a:spcBef>
              <a:spcAft>
                <a:spcPts val="2135"/>
              </a:spcAft>
              <a:buSzPts val="1400"/>
              <a:buNone/>
              <a:defRPr/>
            </a:lvl9pPr>
          </a:lstStyle>
          <a:p>
            <a:r>
              <a:rPr lang="es-ES"/>
              <a:t>Haga clic para editar el estilo de subtítulo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1622341512"/>
      </p:ext>
    </p:extLst>
  </p:cSld>
  <p:clrMapOvr>
    <a:masterClrMapping/>
  </p:clrMapOvr>
  <p:transition>
    <p:fade thruBlk="1"/>
  </p:transition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Subtitl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3"/>
          <p:cNvSpPr txBox="1">
            <a:spLocks noGrp="1"/>
          </p:cNvSpPr>
          <p:nvPr>
            <p:ph type="ctrTitle"/>
          </p:nvPr>
        </p:nvSpPr>
        <p:spPr>
          <a:xfrm>
            <a:off x="914400" y="2212733"/>
            <a:ext cx="5685200" cy="154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ubTitle" idx="1"/>
          </p:nvPr>
        </p:nvSpPr>
        <p:spPr>
          <a:xfrm>
            <a:off x="914400" y="3888339"/>
            <a:ext cx="5685200" cy="104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48261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· Big circuit">
  <p:cSld name="Blank · Big circuit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 txBox="1">
            <a:spLocks noGrp="1"/>
          </p:cNvSpPr>
          <p:nvPr>
            <p:ph type="sldNum" idx="12"/>
          </p:nvPr>
        </p:nvSpPr>
        <p:spPr>
          <a:xfrm>
            <a:off x="11307445" y="6333135"/>
            <a:ext cx="731600" cy="52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s-PE" smtClean="0"/>
              <a:pPr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6066885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F1AAE89-7064-421D-9916-420AA2E7F7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PE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A6A12CE-274A-4C60-9546-77A9682AF5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76F228-02F9-4429-9899-9A5028B2939C}" type="datetimeFigureOut">
              <a:rPr lang="es-PE" smtClean="0"/>
              <a:t>16/08/2026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573BBF9-6C16-49C0-B59C-BBB728D49E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50E9423-4AA5-436D-A3A1-72E3B07693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7BA379-2009-4338-BF9E-30C0A8FACAF6}" type="slidenum">
              <a:rPr lang="es-PE" smtClean="0"/>
              <a:t>‹Nº›</a:t>
            </a:fld>
            <a:endParaRPr lang="es-PE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91A87426-75BB-4DA5-A531-460DD7508A1B}"/>
              </a:ext>
            </a:extLst>
          </p:cNvPr>
          <p:cNvSpPr/>
          <p:nvPr userDrawn="1"/>
        </p:nvSpPr>
        <p:spPr>
          <a:xfrm>
            <a:off x="6096000" y="-9331"/>
            <a:ext cx="6096000" cy="107325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E90ED3DD-A7C3-4095-9269-329F194BB6AC}"/>
              </a:ext>
            </a:extLst>
          </p:cNvPr>
          <p:cNvSpPr/>
          <p:nvPr userDrawn="1"/>
        </p:nvSpPr>
        <p:spPr>
          <a:xfrm>
            <a:off x="0" y="1073257"/>
            <a:ext cx="12192000" cy="1515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pic>
        <p:nvPicPr>
          <p:cNvPr id="11" name="Imagen 10" descr="Resultado de imagen para LOGO UNAC">
            <a:extLst>
              <a:ext uri="{FF2B5EF4-FFF2-40B4-BE49-F238E27FC236}">
                <a16:creationId xmlns:a16="http://schemas.microsoft.com/office/drawing/2014/main" id="{C8363EE3-3A68-4118-94B3-883E5C704F10}"/>
              </a:ext>
            </a:extLst>
          </p:cNvPr>
          <p:cNvPicPr/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732" y="188233"/>
            <a:ext cx="537224" cy="68460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80173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5" r:id="rId12"/>
    <p:sldLayoutId id="2147483666" r:id="rId13"/>
    <p:sldLayoutId id="2147483667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9.jfif"/><Relationship Id="rId7" Type="http://schemas.openxmlformats.org/officeDocument/2006/relationships/diagramQuickStyle" Target="../diagrams/quickStyle1.xml"/><Relationship Id="rId2" Type="http://schemas.openxmlformats.org/officeDocument/2006/relationships/image" Target="../media/image8.jfif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image" Target="../media/image10.jpg"/><Relationship Id="rId9" Type="http://schemas.microsoft.com/office/2007/relationships/diagramDrawing" Target="../diagrams/drawing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image" Target="../media/image11.wmf"/><Relationship Id="rId7" Type="http://schemas.openxmlformats.org/officeDocument/2006/relationships/image" Target="../media/image13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12.wmf"/><Relationship Id="rId4" Type="http://schemas.openxmlformats.org/officeDocument/2006/relationships/oleObject" Target="../embeddings/oleObject2.bin"/><Relationship Id="rId9" Type="http://schemas.openxmlformats.org/officeDocument/2006/relationships/image" Target="../media/image14.wm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wmf"/><Relationship Id="rId4" Type="http://schemas.openxmlformats.org/officeDocument/2006/relationships/oleObject" Target="../embeddings/oleObject7.bin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wmf"/><Relationship Id="rId4" Type="http://schemas.openxmlformats.org/officeDocument/2006/relationships/oleObject" Target="../embeddings/oleObject8.bin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6.xml"/><Relationship Id="rId3" Type="http://schemas.openxmlformats.org/officeDocument/2006/relationships/diagramLayout" Target="../diagrams/layout5.xml"/><Relationship Id="rId7" Type="http://schemas.openxmlformats.org/officeDocument/2006/relationships/diagramData" Target="../diagrams/data6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11" Type="http://schemas.microsoft.com/office/2007/relationships/diagramDrawing" Target="../diagrams/drawing6.xml"/><Relationship Id="rId5" Type="http://schemas.openxmlformats.org/officeDocument/2006/relationships/diagramColors" Target="../diagrams/colors5.xml"/><Relationship Id="rId10" Type="http://schemas.openxmlformats.org/officeDocument/2006/relationships/diagramColors" Target="../diagrams/colors6.xml"/><Relationship Id="rId4" Type="http://schemas.openxmlformats.org/officeDocument/2006/relationships/diagramQuickStyle" Target="../diagrams/quickStyle5.xml"/><Relationship Id="rId9" Type="http://schemas.openxmlformats.org/officeDocument/2006/relationships/diagramQuickStyle" Target="../diagrams/quickStyle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wmf"/><Relationship Id="rId4" Type="http://schemas.openxmlformats.org/officeDocument/2006/relationships/oleObject" Target="../embeddings/oleObject9.bin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wmf"/><Relationship Id="rId4" Type="http://schemas.openxmlformats.org/officeDocument/2006/relationships/oleObject" Target="../embeddings/oleObject10.bin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wmf"/><Relationship Id="rId4" Type="http://schemas.openxmlformats.org/officeDocument/2006/relationships/oleObject" Target="../embeddings/oleObject11.bin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wmf"/><Relationship Id="rId4" Type="http://schemas.openxmlformats.org/officeDocument/2006/relationships/oleObject" Target="../embeddings/oleObject12.bin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5024" y="2518396"/>
            <a:ext cx="4913785" cy="291665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  <a:headEnd/>
            <a:tailEnd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5" name="Picture 2" descr="UNAC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071" y="190477"/>
            <a:ext cx="2855333" cy="674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Rectángulo 18"/>
          <p:cNvSpPr/>
          <p:nvPr/>
        </p:nvSpPr>
        <p:spPr>
          <a:xfrm>
            <a:off x="7261461" y="5795306"/>
            <a:ext cx="467139" cy="450222"/>
          </a:xfrm>
          <a:prstGeom prst="rect">
            <a:avLst/>
          </a:prstGeom>
          <a:solidFill>
            <a:srgbClr val="D7E7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10" name="Título 2"/>
          <p:cNvSpPr txBox="1"/>
          <p:nvPr/>
        </p:nvSpPr>
        <p:spPr>
          <a:xfrm>
            <a:off x="8321150" y="5795306"/>
            <a:ext cx="2803628" cy="697178"/>
          </a:xfrm>
          <a:prstGeom prst="roundRect">
            <a:avLst/>
          </a:prstGeom>
          <a:solidFill>
            <a:schemeClr val="bg1"/>
          </a:solidFill>
          <a:ln w="28575">
            <a:noFill/>
            <a:prstDash val="lgDashDot"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PE" sz="1800" dirty="0">
                <a:solidFill>
                  <a:srgbClr val="002060"/>
                </a:solidFill>
                <a:latin typeface="Bodoni MT Black" panose="02070A03080606020203" pitchFamily="18" charset="0"/>
                <a:cs typeface="Leelawadee UI" panose="020B0502040204020203" pitchFamily="34" charset="-34"/>
              </a:rPr>
              <a:t>SEMESTRE ACADÉMICO 2026 B</a:t>
            </a:r>
            <a:endParaRPr lang="es-ES" sz="1800" dirty="0">
              <a:solidFill>
                <a:srgbClr val="002060"/>
              </a:solidFill>
              <a:latin typeface="Bodoni MT Black" panose="02070A03080606020203" pitchFamily="18" charset="0"/>
              <a:cs typeface="Leelawadee UI" panose="020B0502040204020203" pitchFamily="34" charset="-34"/>
            </a:endParaRPr>
          </a:p>
        </p:txBody>
      </p:sp>
      <p:pic>
        <p:nvPicPr>
          <p:cNvPr id="26" name="Imagen 2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1461" y="0"/>
            <a:ext cx="4923006" cy="1400220"/>
          </a:xfrm>
          <a:prstGeom prst="rect">
            <a:avLst/>
          </a:prstGeom>
        </p:spPr>
      </p:pic>
      <p:sp>
        <p:nvSpPr>
          <p:cNvPr id="15" name="4 CuadroTexto">
            <a:extLst>
              <a:ext uri="{FF2B5EF4-FFF2-40B4-BE49-F238E27FC236}">
                <a16:creationId xmlns:a16="http://schemas.microsoft.com/office/drawing/2014/main" id="{4365F436-E173-4817-8107-4110CE39FADE}"/>
              </a:ext>
            </a:extLst>
          </p:cNvPr>
          <p:cNvSpPr txBox="1"/>
          <p:nvPr/>
        </p:nvSpPr>
        <p:spPr>
          <a:xfrm>
            <a:off x="0" y="4134513"/>
            <a:ext cx="6096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solidFill>
                  <a:srgbClr val="700000"/>
                </a:solidFill>
              </a:rPr>
              <a:t>Docente:</a:t>
            </a:r>
          </a:p>
          <a:p>
            <a:pPr algn="ctr"/>
            <a:r>
              <a:rPr lang="es-ES" sz="2400" b="1" dirty="0" err="1">
                <a:solidFill>
                  <a:srgbClr val="700000"/>
                </a:solidFill>
              </a:rPr>
              <a:t>ANIVAL</a:t>
            </a:r>
            <a:r>
              <a:rPr lang="es-ES" sz="2400" b="1" dirty="0">
                <a:solidFill>
                  <a:srgbClr val="700000"/>
                </a:solidFill>
              </a:rPr>
              <a:t> TORRE CAMONES</a:t>
            </a:r>
            <a:endParaRPr lang="es-PE" sz="2400" b="1" dirty="0">
              <a:solidFill>
                <a:srgbClr val="700000"/>
              </a:solidFill>
            </a:endParaRPr>
          </a:p>
        </p:txBody>
      </p:sp>
      <p:sp>
        <p:nvSpPr>
          <p:cNvPr id="2" name="5 Rectángulo">
            <a:extLst>
              <a:ext uri="{FF2B5EF4-FFF2-40B4-BE49-F238E27FC236}">
                <a16:creationId xmlns:a16="http://schemas.microsoft.com/office/drawing/2014/main" id="{3267FC93-B427-4E7C-B243-BE63C44CB29D}"/>
              </a:ext>
            </a:extLst>
          </p:cNvPr>
          <p:cNvSpPr/>
          <p:nvPr/>
        </p:nvSpPr>
        <p:spPr>
          <a:xfrm>
            <a:off x="390" y="2394096"/>
            <a:ext cx="6096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P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4000" b="1" dirty="0">
                <a:solidFill>
                  <a:srgbClr val="700000"/>
                </a:solidFill>
              </a:rPr>
              <a:t>INVESTIGACION DE OPERACIONES</a:t>
            </a:r>
            <a:endParaRPr lang="es-PE" sz="4000" b="1" dirty="0">
              <a:solidFill>
                <a:srgbClr val="700000"/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F291808-C582-26D7-9A61-E42C7376AD2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7736" y="3366595"/>
            <a:ext cx="1097308" cy="1097308"/>
          </a:xfrm>
          <a:prstGeom prst="rect">
            <a:avLst/>
          </a:prstGeom>
        </p:spPr>
      </p:pic>
    </p:spTree>
  </p:cSld>
  <p:clrMapOvr>
    <a:masterClrMapping/>
  </p:clrMapOvr>
  <p:transition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Título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PE" dirty="0">
                <a:solidFill>
                  <a:srgbClr val="FF0000"/>
                </a:solidFill>
                <a:latin typeface="Bauhaus 93" pitchFamily="82" charset="0"/>
              </a:rPr>
              <a:t>ANÁLISIS DE SENSIBILIDAD</a:t>
            </a:r>
            <a:endParaRPr lang="es-ES" dirty="0">
              <a:solidFill>
                <a:srgbClr val="0064A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</p:txBody>
      </p:sp>
      <p:sp>
        <p:nvSpPr>
          <p:cNvPr id="83" name="Google Shape;83;p15"/>
          <p:cNvSpPr txBox="1">
            <a:spLocks noGrp="1"/>
          </p:cNvSpPr>
          <p:nvPr>
            <p:ph type="sldNum" idx="4294967295"/>
          </p:nvPr>
        </p:nvSpPr>
        <p:spPr>
          <a:xfrm>
            <a:off x="10118726" y="6332538"/>
            <a:ext cx="549275" cy="525462"/>
          </a:xfrm>
          <a:prstGeom prst="rect">
            <a:avLst/>
          </a:prstGeom>
        </p:spPr>
        <p:txBody>
          <a:bodyPr spcFirstLastPara="1" vert="horz" wrap="square" lIns="0" tIns="0" rIns="0" bIns="0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2</a:t>
            </a:fld>
            <a:endParaRPr dirty="0"/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black">
          <a:xfrm>
            <a:off x="6096000" y="109243"/>
            <a:ext cx="6096000" cy="8583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itchFamily="34" charset="0"/>
              </a:defRPr>
            </a:lvl2pPr>
            <a:lvl3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itchFamily="34" charset="0"/>
              </a:defRPr>
            </a:lvl3pPr>
            <a:lvl4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itchFamily="34" charset="0"/>
              </a:defRPr>
            </a:lvl4pPr>
            <a:lvl5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itchFamily="34" charset="0"/>
              </a:defRPr>
            </a:lvl5pPr>
            <a:lvl6pPr marL="4572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itchFamily="34" charset="0"/>
              </a:defRPr>
            </a:lvl6pPr>
            <a:lvl7pPr marL="9144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itchFamily="34" charset="0"/>
              </a:defRPr>
            </a:lvl7pPr>
            <a:lvl8pPr marL="13716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itchFamily="34" charset="0"/>
              </a:defRPr>
            </a:lvl8pPr>
            <a:lvl9pPr marL="18288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algn="ctr"/>
            <a:r>
              <a:rPr lang="es-ES_tradnl" sz="3200" b="0" i="0" dirty="0">
                <a:solidFill>
                  <a:schemeClr val="bg1"/>
                </a:solidFill>
                <a:latin typeface="Bauhaus 93" pitchFamily="82" charset="0"/>
                <a:ea typeface="+mn-ea"/>
                <a:cs typeface="+mn-cs"/>
              </a:rPr>
              <a:t>Semana 6</a:t>
            </a:r>
          </a:p>
        </p:txBody>
      </p:sp>
      <p:pic>
        <p:nvPicPr>
          <p:cNvPr id="8" name="Google Shape;61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52575" y="1991473"/>
            <a:ext cx="1782850" cy="198892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264275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26887584-455C-4A6C-AF0A-668B022614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1007" y="4336781"/>
            <a:ext cx="1547499" cy="109643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A6E34F78-B24E-4BD4-89FA-3A052C5796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9769" y="4328155"/>
            <a:ext cx="1547969" cy="108639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EB7E1E10-FA07-4C87-BAC2-2BA7289CB5D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7298" y="2004898"/>
            <a:ext cx="1537404" cy="1086390"/>
          </a:xfrm>
          <a:prstGeom prst="rect">
            <a:avLst/>
          </a:prstGeom>
        </p:spPr>
      </p:pic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1775520" y="548680"/>
            <a:ext cx="8362950" cy="703282"/>
          </a:xfr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r>
              <a:rPr lang="es-ES" sz="3200" dirty="0">
                <a:solidFill>
                  <a:schemeClr val="bg1"/>
                </a:solidFill>
                <a:latin typeface="Bauhaus 93" pitchFamily="82" charset="0"/>
                <a:ea typeface="+mn-ea"/>
                <a:cs typeface="+mn-cs"/>
              </a:rPr>
              <a:t>Orientaciones</a:t>
            </a:r>
          </a:p>
        </p:txBody>
      </p:sp>
      <p:graphicFrame>
        <p:nvGraphicFramePr>
          <p:cNvPr id="3" name="2 Diagrama"/>
          <p:cNvGraphicFramePr/>
          <p:nvPr/>
        </p:nvGraphicFramePr>
        <p:xfrm>
          <a:off x="2902510" y="1268760"/>
          <a:ext cx="6408712" cy="51125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4" name="Rectangle 2">
            <a:extLst>
              <a:ext uri="{FF2B5EF4-FFF2-40B4-BE49-F238E27FC236}">
                <a16:creationId xmlns:a16="http://schemas.microsoft.com/office/drawing/2014/main" id="{470FC0F9-7E8A-49F6-A61F-06EBD9F874CF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6096000" y="109243"/>
            <a:ext cx="6096000" cy="8583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itchFamily="34" charset="0"/>
              </a:defRPr>
            </a:lvl2pPr>
            <a:lvl3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itchFamily="34" charset="0"/>
              </a:defRPr>
            </a:lvl3pPr>
            <a:lvl4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itchFamily="34" charset="0"/>
              </a:defRPr>
            </a:lvl4pPr>
            <a:lvl5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itchFamily="34" charset="0"/>
              </a:defRPr>
            </a:lvl5pPr>
            <a:lvl6pPr marL="4572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itchFamily="34" charset="0"/>
              </a:defRPr>
            </a:lvl6pPr>
            <a:lvl7pPr marL="9144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itchFamily="34" charset="0"/>
              </a:defRPr>
            </a:lvl7pPr>
            <a:lvl8pPr marL="13716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itchFamily="34" charset="0"/>
              </a:defRPr>
            </a:lvl8pPr>
            <a:lvl9pPr marL="18288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algn="ctr"/>
            <a:r>
              <a:rPr lang="es-ES_tradnl" sz="3200" b="0" i="0" dirty="0">
                <a:solidFill>
                  <a:schemeClr val="bg1"/>
                </a:solidFill>
                <a:latin typeface="Bauhaus 93" pitchFamily="82" charset="0"/>
                <a:ea typeface="+mn-ea"/>
                <a:cs typeface="+mn-cs"/>
              </a:rPr>
              <a:t>Recomendaciones</a:t>
            </a:r>
          </a:p>
        </p:txBody>
      </p:sp>
    </p:spTree>
    <p:extLst>
      <p:ext uri="{BB962C8B-B14F-4D97-AF65-F5344CB8AC3E}">
        <p14:creationId xmlns:p14="http://schemas.microsoft.com/office/powerpoint/2010/main" val="3783248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>
          <a:xfrm>
            <a:off x="2909646" y="623889"/>
            <a:ext cx="6354706" cy="563563"/>
          </a:xfrm>
          <a:noFill/>
          <a:ln w="9525">
            <a:noFill/>
            <a:miter lim="800000"/>
            <a:headEnd/>
            <a:tailEnd/>
          </a:ln>
          <a:effectLst/>
        </p:spPr>
        <p:txBody>
          <a:bodyPr spcFirstLastPara="1"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r>
              <a:rPr lang="es-PE" sz="3200" dirty="0">
                <a:solidFill>
                  <a:schemeClr val="bg1"/>
                </a:solidFill>
                <a:latin typeface="Bauhaus 93" pitchFamily="82" charset="0"/>
                <a:ea typeface="+mn-ea"/>
                <a:cs typeface="+mn-cs"/>
              </a:rPr>
              <a:t>Contenido</a:t>
            </a:r>
          </a:p>
        </p:txBody>
      </p:sp>
      <p:grpSp>
        <p:nvGrpSpPr>
          <p:cNvPr id="67587" name="Group 3"/>
          <p:cNvGrpSpPr>
            <a:grpSpLocks/>
          </p:cNvGrpSpPr>
          <p:nvPr/>
        </p:nvGrpSpPr>
        <p:grpSpPr bwMode="auto">
          <a:xfrm>
            <a:off x="1497008" y="2024064"/>
            <a:ext cx="697705" cy="665163"/>
            <a:chOff x="1110" y="2656"/>
            <a:chExt cx="1549" cy="1351"/>
          </a:xfrm>
          <a:solidFill>
            <a:srgbClr val="7030A0"/>
          </a:solidFill>
        </p:grpSpPr>
        <p:sp>
          <p:nvSpPr>
            <p:cNvPr id="67588" name="AutoShape 4"/>
            <p:cNvSpPr>
              <a:spLocks noChangeArrowheads="1"/>
            </p:cNvSpPr>
            <p:nvPr/>
          </p:nvSpPr>
          <p:spPr bwMode="gray">
            <a:xfrm>
              <a:off x="1123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s-ES" sz="3200"/>
            </a:p>
          </p:txBody>
        </p:sp>
        <p:sp>
          <p:nvSpPr>
            <p:cNvPr id="67589" name="AutoShape 5"/>
            <p:cNvSpPr>
              <a:spLocks noChangeArrowheads="1"/>
            </p:cNvSpPr>
            <p:nvPr/>
          </p:nvSpPr>
          <p:spPr bwMode="gray">
            <a:xfrm>
              <a:off x="1110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pFill/>
            <a:ln w="9525">
              <a:solidFill>
                <a:srgbClr val="C0C0C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s-ES" sz="3200"/>
            </a:p>
          </p:txBody>
        </p:sp>
        <p:sp>
          <p:nvSpPr>
            <p:cNvPr id="67590" name="AutoShape 6"/>
            <p:cNvSpPr>
              <a:spLocks noChangeArrowheads="1"/>
            </p:cNvSpPr>
            <p:nvPr/>
          </p:nvSpPr>
          <p:spPr bwMode="gray">
            <a:xfrm>
              <a:off x="1200" y="2736"/>
              <a:ext cx="1350" cy="1168"/>
            </a:xfrm>
            <a:prstGeom prst="hexagon">
              <a:avLst>
                <a:gd name="adj" fmla="val 28896"/>
                <a:gd name="vf" fmla="val 115470"/>
              </a:avLst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s-ES" sz="3200"/>
            </a:p>
          </p:txBody>
        </p:sp>
      </p:grpSp>
      <p:grpSp>
        <p:nvGrpSpPr>
          <p:cNvPr id="67591" name="Group 7"/>
          <p:cNvGrpSpPr>
            <a:grpSpLocks/>
          </p:cNvGrpSpPr>
          <p:nvPr/>
        </p:nvGrpSpPr>
        <p:grpSpPr bwMode="auto">
          <a:xfrm>
            <a:off x="1497008" y="2938464"/>
            <a:ext cx="697705" cy="665163"/>
            <a:chOff x="3174" y="2656"/>
            <a:chExt cx="1549" cy="1351"/>
          </a:xfrm>
        </p:grpSpPr>
        <p:sp>
          <p:nvSpPr>
            <p:cNvPr id="67592" name="AutoShape 8"/>
            <p:cNvSpPr>
              <a:spLocks noChangeArrowheads="1"/>
            </p:cNvSpPr>
            <p:nvPr/>
          </p:nvSpPr>
          <p:spPr bwMode="gray">
            <a:xfrm>
              <a:off x="3187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s-ES" sz="3200"/>
            </a:p>
          </p:txBody>
        </p:sp>
        <p:sp>
          <p:nvSpPr>
            <p:cNvPr id="67593" name="AutoShape 9"/>
            <p:cNvSpPr>
              <a:spLocks noChangeArrowheads="1"/>
            </p:cNvSpPr>
            <p:nvPr/>
          </p:nvSpPr>
          <p:spPr bwMode="gray">
            <a:xfrm>
              <a:off x="3174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499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1">
                  <a:srgbClr val="E6E6E6"/>
                </a:gs>
                <a:gs pos="66001">
                  <a:srgbClr val="7D8496"/>
                </a:gs>
                <a:gs pos="73500">
                  <a:srgbClr val="E6E6E6"/>
                </a:gs>
                <a:gs pos="92501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s-ES" sz="3200"/>
            </a:p>
          </p:txBody>
        </p:sp>
        <p:sp>
          <p:nvSpPr>
            <p:cNvPr id="67594" name="AutoShape 10"/>
            <p:cNvSpPr>
              <a:spLocks noChangeArrowheads="1"/>
            </p:cNvSpPr>
            <p:nvPr/>
          </p:nvSpPr>
          <p:spPr bwMode="gray">
            <a:xfrm>
              <a:off x="3264" y="2736"/>
              <a:ext cx="1350" cy="1168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100000">
                  <a:schemeClr val="accent1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s-ES" sz="3200"/>
            </a:p>
          </p:txBody>
        </p:sp>
      </p:grpSp>
      <p:sp>
        <p:nvSpPr>
          <p:cNvPr id="67596" name="Text Box 12"/>
          <p:cNvSpPr txBox="1">
            <a:spLocks noChangeArrowheads="1"/>
          </p:cNvSpPr>
          <p:nvPr/>
        </p:nvSpPr>
        <p:spPr bwMode="auto">
          <a:xfrm>
            <a:off x="2268551" y="2087961"/>
            <a:ext cx="5202065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s-ES_tradnl" sz="3200" dirty="0">
                <a:solidFill>
                  <a:schemeClr val="accent1">
                    <a:lumMod val="75000"/>
                  </a:schemeClr>
                </a:solidFill>
              </a:rPr>
              <a:t>Definición</a:t>
            </a:r>
            <a:r>
              <a:rPr lang="es-ES_tradnl" sz="3200" dirty="0">
                <a:solidFill>
                  <a:schemeClr val="bg1"/>
                </a:solidFill>
              </a:rPr>
              <a:t> de Método Gráfico.</a:t>
            </a:r>
          </a:p>
        </p:txBody>
      </p:sp>
      <p:sp>
        <p:nvSpPr>
          <p:cNvPr id="67597" name="Text Box 13"/>
          <p:cNvSpPr txBox="1">
            <a:spLocks noChangeArrowheads="1"/>
          </p:cNvSpPr>
          <p:nvPr/>
        </p:nvSpPr>
        <p:spPr bwMode="gray">
          <a:xfrm>
            <a:off x="1665511" y="2080923"/>
            <a:ext cx="393056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0" hangingPunct="0"/>
            <a:r>
              <a:rPr lang="en-US" sz="32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67599" name="Text Box 15"/>
          <p:cNvSpPr txBox="1">
            <a:spLocks noChangeArrowheads="1"/>
          </p:cNvSpPr>
          <p:nvPr/>
        </p:nvSpPr>
        <p:spPr bwMode="auto">
          <a:xfrm>
            <a:off x="2280651" y="2959318"/>
            <a:ext cx="8779776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defPPr>
              <a:defRPr lang="es-ES"/>
            </a:defPPr>
            <a:lvl1pPr eaLnBrk="0" hangingPunct="0">
              <a:defRPr sz="2400">
                <a:solidFill>
                  <a:schemeClr val="bg1"/>
                </a:solidFill>
              </a:defRPr>
            </a:lvl1pPr>
          </a:lstStyle>
          <a:p>
            <a:r>
              <a:rPr lang="es-ES_tradnl" sz="3200" dirty="0">
                <a:solidFill>
                  <a:schemeClr val="accent1">
                    <a:lumMod val="75000"/>
                  </a:schemeClr>
                </a:solidFill>
              </a:rPr>
              <a:t>Análisis de sensibilidad de los coeficientes de la F.O.</a:t>
            </a:r>
          </a:p>
        </p:txBody>
      </p:sp>
      <p:sp>
        <p:nvSpPr>
          <p:cNvPr id="67600" name="Text Box 16"/>
          <p:cNvSpPr txBox="1">
            <a:spLocks noChangeArrowheads="1"/>
          </p:cNvSpPr>
          <p:nvPr/>
        </p:nvSpPr>
        <p:spPr bwMode="gray">
          <a:xfrm>
            <a:off x="1665511" y="2995323"/>
            <a:ext cx="393056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0" hangingPunct="0"/>
            <a:r>
              <a:rPr lang="en-US" sz="3200">
                <a:solidFill>
                  <a:schemeClr val="bg1"/>
                </a:solidFill>
              </a:rPr>
              <a:t>2</a:t>
            </a:r>
          </a:p>
        </p:txBody>
      </p:sp>
      <p:grpSp>
        <p:nvGrpSpPr>
          <p:cNvPr id="67601" name="Group 17"/>
          <p:cNvGrpSpPr>
            <a:grpSpLocks/>
          </p:cNvGrpSpPr>
          <p:nvPr/>
        </p:nvGrpSpPr>
        <p:grpSpPr bwMode="auto">
          <a:xfrm>
            <a:off x="1497008" y="3830638"/>
            <a:ext cx="697705" cy="665163"/>
            <a:chOff x="1110" y="2656"/>
            <a:chExt cx="1549" cy="1351"/>
          </a:xfrm>
          <a:solidFill>
            <a:srgbClr val="7030A0"/>
          </a:solidFill>
        </p:grpSpPr>
        <p:sp>
          <p:nvSpPr>
            <p:cNvPr id="67602" name="AutoShape 18"/>
            <p:cNvSpPr>
              <a:spLocks noChangeArrowheads="1"/>
            </p:cNvSpPr>
            <p:nvPr/>
          </p:nvSpPr>
          <p:spPr bwMode="gray">
            <a:xfrm>
              <a:off x="1123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s-ES" sz="3200"/>
            </a:p>
          </p:txBody>
        </p:sp>
        <p:sp>
          <p:nvSpPr>
            <p:cNvPr id="67603" name="AutoShape 19"/>
            <p:cNvSpPr>
              <a:spLocks noChangeArrowheads="1"/>
            </p:cNvSpPr>
            <p:nvPr/>
          </p:nvSpPr>
          <p:spPr bwMode="gray">
            <a:xfrm>
              <a:off x="1110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pFill/>
            <a:ln w="9525">
              <a:solidFill>
                <a:srgbClr val="C0C0C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s-ES" sz="3200"/>
            </a:p>
          </p:txBody>
        </p:sp>
        <p:sp>
          <p:nvSpPr>
            <p:cNvPr id="67604" name="AutoShape 20"/>
            <p:cNvSpPr>
              <a:spLocks noChangeArrowheads="1"/>
            </p:cNvSpPr>
            <p:nvPr/>
          </p:nvSpPr>
          <p:spPr bwMode="gray">
            <a:xfrm>
              <a:off x="1200" y="2736"/>
              <a:ext cx="1350" cy="1168"/>
            </a:xfrm>
            <a:prstGeom prst="hexagon">
              <a:avLst>
                <a:gd name="adj" fmla="val 28896"/>
                <a:gd name="vf" fmla="val 115470"/>
              </a:avLst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s-ES" sz="3200"/>
            </a:p>
          </p:txBody>
        </p:sp>
      </p:grpSp>
      <p:grpSp>
        <p:nvGrpSpPr>
          <p:cNvPr id="67605" name="Group 21"/>
          <p:cNvGrpSpPr>
            <a:grpSpLocks/>
          </p:cNvGrpSpPr>
          <p:nvPr/>
        </p:nvGrpSpPr>
        <p:grpSpPr bwMode="auto">
          <a:xfrm>
            <a:off x="1497008" y="4745038"/>
            <a:ext cx="697705" cy="665163"/>
            <a:chOff x="3174" y="2656"/>
            <a:chExt cx="1549" cy="1351"/>
          </a:xfrm>
        </p:grpSpPr>
        <p:sp>
          <p:nvSpPr>
            <p:cNvPr id="67606" name="AutoShape 22"/>
            <p:cNvSpPr>
              <a:spLocks noChangeArrowheads="1"/>
            </p:cNvSpPr>
            <p:nvPr/>
          </p:nvSpPr>
          <p:spPr bwMode="gray">
            <a:xfrm>
              <a:off x="3187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s-ES" sz="3200"/>
            </a:p>
          </p:txBody>
        </p:sp>
        <p:sp>
          <p:nvSpPr>
            <p:cNvPr id="67607" name="AutoShape 23"/>
            <p:cNvSpPr>
              <a:spLocks noChangeArrowheads="1"/>
            </p:cNvSpPr>
            <p:nvPr/>
          </p:nvSpPr>
          <p:spPr bwMode="gray">
            <a:xfrm>
              <a:off x="3174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499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1">
                  <a:srgbClr val="E6E6E6"/>
                </a:gs>
                <a:gs pos="66001">
                  <a:srgbClr val="7D8496"/>
                </a:gs>
                <a:gs pos="73500">
                  <a:srgbClr val="E6E6E6"/>
                </a:gs>
                <a:gs pos="92501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s-ES" sz="3200"/>
            </a:p>
          </p:txBody>
        </p:sp>
        <p:sp>
          <p:nvSpPr>
            <p:cNvPr id="67608" name="AutoShape 24"/>
            <p:cNvSpPr>
              <a:spLocks noChangeArrowheads="1"/>
            </p:cNvSpPr>
            <p:nvPr/>
          </p:nvSpPr>
          <p:spPr bwMode="gray">
            <a:xfrm>
              <a:off x="3264" y="2736"/>
              <a:ext cx="1350" cy="1168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100000">
                  <a:schemeClr val="accent1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s-ES" sz="3200"/>
            </a:p>
          </p:txBody>
        </p:sp>
      </p:grpSp>
      <p:sp>
        <p:nvSpPr>
          <p:cNvPr id="67611" name="Text Box 27"/>
          <p:cNvSpPr txBox="1">
            <a:spLocks noChangeArrowheads="1"/>
          </p:cNvSpPr>
          <p:nvPr/>
        </p:nvSpPr>
        <p:spPr bwMode="gray">
          <a:xfrm>
            <a:off x="1665511" y="3887497"/>
            <a:ext cx="393056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0" hangingPunct="0"/>
            <a:r>
              <a:rPr lang="en-US" sz="320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67612" name="Line 28"/>
          <p:cNvSpPr>
            <a:spLocks noChangeShapeType="1"/>
          </p:cNvSpPr>
          <p:nvPr/>
        </p:nvSpPr>
        <p:spPr bwMode="auto">
          <a:xfrm>
            <a:off x="2393071" y="5382702"/>
            <a:ext cx="8149795" cy="16175"/>
          </a:xfrm>
          <a:prstGeom prst="line">
            <a:avLst/>
          </a:prstGeom>
          <a:noFill/>
          <a:ln w="25400">
            <a:solidFill>
              <a:schemeClr val="tx2"/>
            </a:solidFill>
            <a:prstDash val="sysDot"/>
            <a:round/>
            <a:headEnd/>
            <a:tailEnd type="oval" w="med" len="med"/>
          </a:ln>
          <a:effectLst/>
        </p:spPr>
        <p:txBody>
          <a:bodyPr wrap="none" anchor="ctr"/>
          <a:lstStyle/>
          <a:p>
            <a:endParaRPr lang="es-ES" sz="3200"/>
          </a:p>
        </p:txBody>
      </p:sp>
      <p:sp>
        <p:nvSpPr>
          <p:cNvPr id="67613" name="Text Box 29"/>
          <p:cNvSpPr txBox="1">
            <a:spLocks noChangeArrowheads="1"/>
          </p:cNvSpPr>
          <p:nvPr/>
        </p:nvSpPr>
        <p:spPr bwMode="auto">
          <a:xfrm>
            <a:off x="2280651" y="3753144"/>
            <a:ext cx="7124258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defPPr>
              <a:defRPr lang="es-ES"/>
            </a:defPPr>
            <a:lvl1pPr eaLnBrk="0" hangingPunct="0">
              <a:defRPr sz="2400">
                <a:solidFill>
                  <a:schemeClr val="bg1"/>
                </a:solidFill>
              </a:defRPr>
            </a:lvl1pPr>
          </a:lstStyle>
          <a:p>
            <a:r>
              <a:rPr lang="es-ES_tradnl" sz="3200" b="1" dirty="0">
                <a:solidFill>
                  <a:srgbClr val="FF0000"/>
                </a:solidFill>
              </a:rPr>
              <a:t>Análisis de sensibilidad del Lado derecho</a:t>
            </a:r>
          </a:p>
        </p:txBody>
      </p:sp>
      <p:sp>
        <p:nvSpPr>
          <p:cNvPr id="67614" name="Text Box 30"/>
          <p:cNvSpPr txBox="1">
            <a:spLocks noChangeArrowheads="1"/>
          </p:cNvSpPr>
          <p:nvPr/>
        </p:nvSpPr>
        <p:spPr bwMode="gray">
          <a:xfrm>
            <a:off x="1665511" y="4801898"/>
            <a:ext cx="393056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0" hangingPunct="0"/>
            <a:r>
              <a:rPr lang="en-US" sz="320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67615" name="Text Box 31"/>
          <p:cNvSpPr txBox="1">
            <a:spLocks noChangeArrowheads="1"/>
          </p:cNvSpPr>
          <p:nvPr/>
        </p:nvSpPr>
        <p:spPr bwMode="auto">
          <a:xfrm>
            <a:off x="3912396" y="722313"/>
            <a:ext cx="184731" cy="253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s-ES" sz="1050"/>
          </a:p>
        </p:txBody>
      </p:sp>
      <p:sp>
        <p:nvSpPr>
          <p:cNvPr id="32" name="Text Box 12"/>
          <p:cNvSpPr txBox="1">
            <a:spLocks noChangeArrowheads="1"/>
          </p:cNvSpPr>
          <p:nvPr/>
        </p:nvSpPr>
        <p:spPr bwMode="auto">
          <a:xfrm>
            <a:off x="2268551" y="4805682"/>
            <a:ext cx="4520597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defPPr>
              <a:defRPr lang="es-ES"/>
            </a:defPPr>
            <a:lvl1pPr eaLnBrk="0" hangingPunct="0">
              <a:defRPr sz="2400">
                <a:solidFill>
                  <a:schemeClr val="bg1"/>
                </a:solidFill>
              </a:defRPr>
            </a:lvl1pPr>
          </a:lstStyle>
          <a:p>
            <a:r>
              <a:rPr lang="es-ES_tradnl" sz="3200" dirty="0">
                <a:solidFill>
                  <a:schemeClr val="accent1">
                    <a:lumMod val="75000"/>
                  </a:schemeClr>
                </a:solidFill>
              </a:rPr>
              <a:t>Problemas</a:t>
            </a:r>
            <a:r>
              <a:rPr lang="es-ES_tradnl" sz="3200" dirty="0"/>
              <a:t> de sensibilidad</a:t>
            </a:r>
          </a:p>
        </p:txBody>
      </p:sp>
      <p:sp>
        <p:nvSpPr>
          <p:cNvPr id="33" name="Rectangle 2">
            <a:extLst>
              <a:ext uri="{FF2B5EF4-FFF2-40B4-BE49-F238E27FC236}">
                <a16:creationId xmlns:a16="http://schemas.microsoft.com/office/drawing/2014/main" id="{5BBE3D30-1F51-4D0E-B686-7852CBE1E686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6096000" y="109243"/>
            <a:ext cx="6096000" cy="8583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itchFamily="34" charset="0"/>
              </a:defRPr>
            </a:lvl2pPr>
            <a:lvl3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itchFamily="34" charset="0"/>
              </a:defRPr>
            </a:lvl3pPr>
            <a:lvl4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itchFamily="34" charset="0"/>
              </a:defRPr>
            </a:lvl4pPr>
            <a:lvl5pPr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itchFamily="34" charset="0"/>
              </a:defRPr>
            </a:lvl5pPr>
            <a:lvl6pPr marL="4572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itchFamily="34" charset="0"/>
              </a:defRPr>
            </a:lvl6pPr>
            <a:lvl7pPr marL="9144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itchFamily="34" charset="0"/>
              </a:defRPr>
            </a:lvl7pPr>
            <a:lvl8pPr marL="13716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itchFamily="34" charset="0"/>
              </a:defRPr>
            </a:lvl8pPr>
            <a:lvl9pPr marL="1828800" algn="r" rtl="0" eaLnBrk="1" fontAlgn="base" hangingPunct="1">
              <a:spcBef>
                <a:spcPct val="0"/>
              </a:spcBef>
              <a:spcAft>
                <a:spcPct val="0"/>
              </a:spcAft>
              <a:defRPr sz="2800" b="1" i="1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algn="ctr"/>
            <a:r>
              <a:rPr lang="es-ES_tradnl" sz="3200" b="0" i="0" dirty="0">
                <a:solidFill>
                  <a:schemeClr val="bg1"/>
                </a:solidFill>
                <a:latin typeface="Bauhaus 93" pitchFamily="82" charset="0"/>
                <a:ea typeface="+mn-ea"/>
                <a:cs typeface="+mn-cs"/>
              </a:rPr>
              <a:t>Contenido</a:t>
            </a:r>
          </a:p>
        </p:txBody>
      </p:sp>
      <p:sp>
        <p:nvSpPr>
          <p:cNvPr id="2" name="Line 28">
            <a:extLst>
              <a:ext uri="{FF2B5EF4-FFF2-40B4-BE49-F238E27FC236}">
                <a16:creationId xmlns:a16="http://schemas.microsoft.com/office/drawing/2014/main" id="{A80118FC-34D1-418F-BA5F-8DEC2E4EA994}"/>
              </a:ext>
            </a:extLst>
          </p:cNvPr>
          <p:cNvSpPr>
            <a:spLocks noChangeShapeType="1"/>
          </p:cNvSpPr>
          <p:nvPr/>
        </p:nvSpPr>
        <p:spPr bwMode="auto">
          <a:xfrm>
            <a:off x="2393071" y="2662420"/>
            <a:ext cx="8149795" cy="16175"/>
          </a:xfrm>
          <a:prstGeom prst="line">
            <a:avLst/>
          </a:prstGeom>
          <a:noFill/>
          <a:ln w="25400">
            <a:solidFill>
              <a:schemeClr val="tx2"/>
            </a:solidFill>
            <a:prstDash val="sysDot"/>
            <a:round/>
            <a:headEnd/>
            <a:tailEnd type="oval" w="med" len="med"/>
          </a:ln>
          <a:effectLst/>
        </p:spPr>
        <p:txBody>
          <a:bodyPr wrap="none" anchor="ctr"/>
          <a:lstStyle/>
          <a:p>
            <a:endParaRPr lang="es-ES" sz="3200"/>
          </a:p>
        </p:txBody>
      </p:sp>
      <p:sp>
        <p:nvSpPr>
          <p:cNvPr id="3" name="Line 28">
            <a:extLst>
              <a:ext uri="{FF2B5EF4-FFF2-40B4-BE49-F238E27FC236}">
                <a16:creationId xmlns:a16="http://schemas.microsoft.com/office/drawing/2014/main" id="{7E60C6F7-B21C-E421-3E5F-178AD4D63EA2}"/>
              </a:ext>
            </a:extLst>
          </p:cNvPr>
          <p:cNvSpPr>
            <a:spLocks noChangeShapeType="1"/>
          </p:cNvSpPr>
          <p:nvPr/>
        </p:nvSpPr>
        <p:spPr bwMode="auto">
          <a:xfrm>
            <a:off x="2393071" y="3540049"/>
            <a:ext cx="8149795" cy="16175"/>
          </a:xfrm>
          <a:prstGeom prst="line">
            <a:avLst/>
          </a:prstGeom>
          <a:noFill/>
          <a:ln w="25400">
            <a:solidFill>
              <a:schemeClr val="tx2"/>
            </a:solidFill>
            <a:prstDash val="sysDot"/>
            <a:round/>
            <a:headEnd/>
            <a:tailEnd type="oval" w="med" len="med"/>
          </a:ln>
          <a:effectLst/>
        </p:spPr>
        <p:txBody>
          <a:bodyPr wrap="none" anchor="ctr"/>
          <a:lstStyle/>
          <a:p>
            <a:endParaRPr lang="es-ES" sz="3200"/>
          </a:p>
        </p:txBody>
      </p:sp>
      <p:sp>
        <p:nvSpPr>
          <p:cNvPr id="4" name="Line 28">
            <a:extLst>
              <a:ext uri="{FF2B5EF4-FFF2-40B4-BE49-F238E27FC236}">
                <a16:creationId xmlns:a16="http://schemas.microsoft.com/office/drawing/2014/main" id="{B92D8A48-B82C-C1B7-0A14-E66574A81449}"/>
              </a:ext>
            </a:extLst>
          </p:cNvPr>
          <p:cNvSpPr>
            <a:spLocks noChangeShapeType="1"/>
          </p:cNvSpPr>
          <p:nvPr/>
        </p:nvSpPr>
        <p:spPr bwMode="auto">
          <a:xfrm>
            <a:off x="2393071" y="4454660"/>
            <a:ext cx="8149795" cy="16175"/>
          </a:xfrm>
          <a:prstGeom prst="line">
            <a:avLst/>
          </a:prstGeom>
          <a:noFill/>
          <a:ln w="25400">
            <a:solidFill>
              <a:schemeClr val="tx2"/>
            </a:solidFill>
            <a:prstDash val="sysDot"/>
            <a:round/>
            <a:headEnd/>
            <a:tailEnd type="oval" w="med" len="med"/>
          </a:ln>
          <a:effectLst/>
        </p:spPr>
        <p:txBody>
          <a:bodyPr wrap="none" anchor="ctr"/>
          <a:lstStyle/>
          <a:p>
            <a:endParaRPr lang="es-ES" sz="3200"/>
          </a:p>
        </p:txBody>
      </p:sp>
    </p:spTree>
    <p:extLst>
      <p:ext uri="{BB962C8B-B14F-4D97-AF65-F5344CB8AC3E}">
        <p14:creationId xmlns:p14="http://schemas.microsoft.com/office/powerpoint/2010/main" val="35570736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1 Diagrama"/>
          <p:cNvGraphicFramePr/>
          <p:nvPr>
            <p:extLst>
              <p:ext uri="{D42A27DB-BD31-4B8C-83A1-F6EECF244321}">
                <p14:modId xmlns:p14="http://schemas.microsoft.com/office/powerpoint/2010/main" val="799678430"/>
              </p:ext>
            </p:extLst>
          </p:nvPr>
        </p:nvGraphicFramePr>
        <p:xfrm>
          <a:off x="1475117" y="1268640"/>
          <a:ext cx="8988725" cy="5466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CustomShape 1"/>
          <p:cNvSpPr/>
          <p:nvPr/>
        </p:nvSpPr>
        <p:spPr>
          <a:xfrm>
            <a:off x="6107503" y="138023"/>
            <a:ext cx="6084498" cy="780867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s-PE" sz="2400" dirty="0">
                <a:solidFill>
                  <a:schemeClr val="bg1"/>
                </a:solidFill>
                <a:latin typeface="Bauhaus 93" pitchFamily="82" charset="0"/>
              </a:rPr>
              <a:t>Análisis de Sensibilidad del coeficiente del lado derecho</a:t>
            </a:r>
          </a:p>
        </p:txBody>
      </p:sp>
    </p:spTree>
    <p:extLst>
      <p:ext uri="{BB962C8B-B14F-4D97-AF65-F5344CB8AC3E}">
        <p14:creationId xmlns:p14="http://schemas.microsoft.com/office/powerpoint/2010/main" val="3182039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1703512" y="1412776"/>
            <a:ext cx="2736304" cy="5016758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n-US" sz="2000" dirty="0">
                <a:latin typeface="Arial Narrow" pitchFamily="34" charset="0"/>
              </a:rPr>
              <a:t>MIN  </a:t>
            </a:r>
            <a:r>
              <a:rPr lang="en-US" sz="2000" dirty="0" err="1">
                <a:latin typeface="Arial Narrow" pitchFamily="34" charset="0"/>
              </a:rPr>
              <a:t>0.60X1</a:t>
            </a:r>
            <a:r>
              <a:rPr lang="en-US" sz="2000" dirty="0">
                <a:latin typeface="Arial Narrow" pitchFamily="34" charset="0"/>
              </a:rPr>
              <a:t> + </a:t>
            </a:r>
            <a:r>
              <a:rPr lang="en-US" sz="2000" dirty="0" err="1">
                <a:latin typeface="Arial Narrow" pitchFamily="34" charset="0"/>
              </a:rPr>
              <a:t>0.50X2</a:t>
            </a:r>
            <a:endParaRPr lang="en-US" sz="2000" dirty="0">
              <a:latin typeface="Arial Narrow" pitchFamily="34" charset="0"/>
            </a:endParaRPr>
          </a:p>
          <a:p>
            <a:r>
              <a:rPr lang="en-US" sz="2000" dirty="0">
                <a:latin typeface="Arial Narrow" pitchFamily="34" charset="0"/>
              </a:rPr>
              <a:t>SUBJECT TO</a:t>
            </a:r>
          </a:p>
          <a:p>
            <a:r>
              <a:rPr lang="en-US" sz="2000" dirty="0" err="1">
                <a:latin typeface="Arial Narrow" pitchFamily="34" charset="0"/>
              </a:rPr>
              <a:t>20X1</a:t>
            </a:r>
            <a:r>
              <a:rPr lang="en-US" sz="2000" dirty="0">
                <a:latin typeface="Arial Narrow" pitchFamily="34" charset="0"/>
              </a:rPr>
              <a:t> +  </a:t>
            </a:r>
            <a:r>
              <a:rPr lang="en-US" sz="2000" dirty="0" err="1">
                <a:latin typeface="Arial Narrow" pitchFamily="34" charset="0"/>
              </a:rPr>
              <a:t>50X2</a:t>
            </a:r>
            <a:r>
              <a:rPr lang="en-US" sz="2000" dirty="0">
                <a:latin typeface="Arial Narrow" pitchFamily="34" charset="0"/>
              </a:rPr>
              <a:t>  &gt;=100   </a:t>
            </a:r>
          </a:p>
          <a:p>
            <a:r>
              <a:rPr lang="en-US" sz="2000" dirty="0" err="1">
                <a:latin typeface="Arial Narrow" pitchFamily="34" charset="0"/>
              </a:rPr>
              <a:t>25X1</a:t>
            </a:r>
            <a:r>
              <a:rPr lang="en-US" sz="2000" dirty="0">
                <a:latin typeface="Arial Narrow" pitchFamily="34" charset="0"/>
              </a:rPr>
              <a:t> +  </a:t>
            </a:r>
            <a:r>
              <a:rPr lang="en-US" sz="2000" dirty="0" err="1">
                <a:latin typeface="Arial Narrow" pitchFamily="34" charset="0"/>
              </a:rPr>
              <a:t>25X2</a:t>
            </a:r>
            <a:r>
              <a:rPr lang="en-US" sz="2000" dirty="0">
                <a:latin typeface="Arial Narrow" pitchFamily="34" charset="0"/>
              </a:rPr>
              <a:t>  &gt;=100   </a:t>
            </a:r>
          </a:p>
          <a:p>
            <a:r>
              <a:rPr lang="en-US" sz="2000" dirty="0" err="1">
                <a:latin typeface="Arial Narrow" pitchFamily="34" charset="0"/>
              </a:rPr>
              <a:t>50X1</a:t>
            </a:r>
            <a:r>
              <a:rPr lang="en-US" sz="2000" dirty="0">
                <a:latin typeface="Arial Narrow" pitchFamily="34" charset="0"/>
              </a:rPr>
              <a:t> +  </a:t>
            </a:r>
            <a:r>
              <a:rPr lang="en-US" sz="2000" dirty="0" err="1">
                <a:latin typeface="Arial Narrow" pitchFamily="34" charset="0"/>
              </a:rPr>
              <a:t>10X2</a:t>
            </a:r>
            <a:r>
              <a:rPr lang="en-US" sz="2000" dirty="0">
                <a:latin typeface="Arial Narrow" pitchFamily="34" charset="0"/>
              </a:rPr>
              <a:t>  &gt;=100 </a:t>
            </a:r>
          </a:p>
          <a:p>
            <a:endParaRPr lang="en-US" sz="2000" dirty="0">
              <a:latin typeface="Arial Narrow" pitchFamily="34" charset="0"/>
            </a:endParaRPr>
          </a:p>
          <a:p>
            <a:r>
              <a:rPr lang="en-US" sz="2000" dirty="0" err="1">
                <a:latin typeface="Arial Narrow" pitchFamily="34" charset="0"/>
              </a:rPr>
              <a:t>ANALISIS</a:t>
            </a:r>
            <a:r>
              <a:rPr lang="en-US" sz="2000" dirty="0">
                <a:latin typeface="Arial Narrow" pitchFamily="34" charset="0"/>
              </a:rPr>
              <a:t> DE LOS </a:t>
            </a:r>
            <a:r>
              <a:rPr lang="en-US" sz="2000" dirty="0" err="1">
                <a:latin typeface="Arial Narrow" pitchFamily="34" charset="0"/>
              </a:rPr>
              <a:t>COEFICIENTES</a:t>
            </a:r>
            <a:r>
              <a:rPr lang="en-US" sz="2000" dirty="0">
                <a:latin typeface="Arial Narrow" pitchFamily="34" charset="0"/>
              </a:rPr>
              <a:t> DE LA </a:t>
            </a:r>
            <a:r>
              <a:rPr lang="en-US" sz="2000" dirty="0" err="1">
                <a:latin typeface="Arial Narrow" pitchFamily="34" charset="0"/>
              </a:rPr>
              <a:t>FUNCION</a:t>
            </a:r>
            <a:r>
              <a:rPr lang="en-US" sz="2000" dirty="0">
                <a:latin typeface="Arial Narrow" pitchFamily="34" charset="0"/>
              </a:rPr>
              <a:t> O.</a:t>
            </a:r>
          </a:p>
          <a:p>
            <a:r>
              <a:rPr lang="en-US" sz="2000" dirty="0">
                <a:latin typeface="Arial Narrow" pitchFamily="34" charset="0"/>
              </a:rPr>
              <a:t>   0,50  ≤ </a:t>
            </a:r>
            <a:r>
              <a:rPr lang="el-GR" sz="2000" dirty="0">
                <a:latin typeface="Arial Narrow" pitchFamily="34" charset="0"/>
              </a:rPr>
              <a:t>α</a:t>
            </a:r>
            <a:r>
              <a:rPr lang="en-US" sz="2000" dirty="0">
                <a:latin typeface="Arial Narrow" pitchFamily="34" charset="0"/>
              </a:rPr>
              <a:t> ≤ 2,50</a:t>
            </a:r>
          </a:p>
          <a:p>
            <a:r>
              <a:rPr lang="en-US" sz="2000" dirty="0">
                <a:latin typeface="Arial Narrow" pitchFamily="34" charset="0"/>
              </a:rPr>
              <a:t>   0,12  ≤ </a:t>
            </a:r>
            <a:r>
              <a:rPr lang="el-GR" sz="2000" dirty="0">
                <a:latin typeface="Arial Narrow" pitchFamily="34" charset="0"/>
              </a:rPr>
              <a:t>β</a:t>
            </a:r>
            <a:r>
              <a:rPr lang="en-US" sz="2000" dirty="0">
                <a:latin typeface="Arial Narrow" pitchFamily="34" charset="0"/>
              </a:rPr>
              <a:t> ≤ 0,60</a:t>
            </a:r>
          </a:p>
          <a:p>
            <a:r>
              <a:rPr lang="en-US" sz="2000" dirty="0" err="1">
                <a:latin typeface="Arial Narrow" pitchFamily="34" charset="0"/>
              </a:rPr>
              <a:t>ANALISIS</a:t>
            </a:r>
            <a:r>
              <a:rPr lang="en-US" sz="2000" dirty="0">
                <a:latin typeface="Arial Narrow" pitchFamily="34" charset="0"/>
              </a:rPr>
              <a:t> DEL </a:t>
            </a:r>
            <a:r>
              <a:rPr lang="en-US" sz="2000" dirty="0" err="1">
                <a:latin typeface="Arial Narrow" pitchFamily="34" charset="0"/>
              </a:rPr>
              <a:t>LADO</a:t>
            </a:r>
            <a:r>
              <a:rPr lang="en-US" sz="2000" dirty="0">
                <a:latin typeface="Arial Narrow" pitchFamily="34" charset="0"/>
              </a:rPr>
              <a:t> </a:t>
            </a:r>
            <a:r>
              <a:rPr lang="en-US" sz="2000" dirty="0" err="1">
                <a:latin typeface="Arial Narrow" pitchFamily="34" charset="0"/>
              </a:rPr>
              <a:t>DERECHO</a:t>
            </a:r>
            <a:endParaRPr lang="en-US" sz="2000" dirty="0">
              <a:latin typeface="Arial Narrow" pitchFamily="34" charset="0"/>
            </a:endParaRPr>
          </a:p>
          <a:p>
            <a:r>
              <a:rPr lang="en-US" sz="2000" dirty="0">
                <a:latin typeface="Arial Narrow" pitchFamily="34" charset="0"/>
              </a:rPr>
              <a:t>m=0,019   (</a:t>
            </a:r>
            <a:r>
              <a:rPr lang="en-US" sz="2000" dirty="0" err="1">
                <a:latin typeface="Arial Narrow" pitchFamily="34" charset="0"/>
              </a:rPr>
              <a:t>Segunda</a:t>
            </a:r>
            <a:r>
              <a:rPr lang="en-US" sz="2000" dirty="0">
                <a:latin typeface="Arial Narrow" pitchFamily="34" charset="0"/>
              </a:rPr>
              <a:t> Rest.)</a:t>
            </a:r>
          </a:p>
          <a:p>
            <a:r>
              <a:rPr lang="en-US" sz="2000" dirty="0">
                <a:latin typeface="Arial Narrow" pitchFamily="34" charset="0"/>
              </a:rPr>
              <a:t>m=0,0025 (</a:t>
            </a:r>
            <a:r>
              <a:rPr lang="en-US" sz="2000" dirty="0" err="1">
                <a:latin typeface="Arial Narrow" pitchFamily="34" charset="0"/>
              </a:rPr>
              <a:t>Tercera</a:t>
            </a:r>
            <a:r>
              <a:rPr lang="en-US" sz="2000" dirty="0">
                <a:latin typeface="Arial Narrow" pitchFamily="34" charset="0"/>
              </a:rPr>
              <a:t> Rest.)</a:t>
            </a:r>
          </a:p>
          <a:p>
            <a:endParaRPr lang="es-PE" sz="2000" dirty="0">
              <a:latin typeface="Arial Narrow" pitchFamily="34" charset="0"/>
            </a:endParaRPr>
          </a:p>
        </p:txBody>
      </p:sp>
      <p:sp>
        <p:nvSpPr>
          <p:cNvPr id="3" name="2 Rectángulo"/>
          <p:cNvSpPr/>
          <p:nvPr/>
        </p:nvSpPr>
        <p:spPr>
          <a:xfrm>
            <a:off x="4503002" y="1409378"/>
            <a:ext cx="5460521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Arial Narrow" pitchFamily="34" charset="0"/>
              </a:rPr>
              <a:t> OBJECTIVE FUNCTION VALUE</a:t>
            </a:r>
          </a:p>
          <a:p>
            <a:r>
              <a:rPr lang="en-US" sz="2000" dirty="0">
                <a:latin typeface="Arial Narrow" pitchFamily="34" charset="0"/>
              </a:rPr>
              <a:t>        1)      2.150000</a:t>
            </a:r>
          </a:p>
          <a:p>
            <a:r>
              <a:rPr lang="en-US" sz="2000" dirty="0">
                <a:latin typeface="Arial Narrow" pitchFamily="34" charset="0"/>
              </a:rPr>
              <a:t>  VARIABLE        VALUE          REDUCED COST</a:t>
            </a:r>
          </a:p>
          <a:p>
            <a:r>
              <a:rPr lang="en-US" sz="2000" dirty="0">
                <a:latin typeface="Arial Narrow" pitchFamily="34" charset="0"/>
              </a:rPr>
              <a:t>        </a:t>
            </a:r>
            <a:r>
              <a:rPr lang="en-US" sz="2000" dirty="0" err="1">
                <a:latin typeface="Arial Narrow" pitchFamily="34" charset="0"/>
              </a:rPr>
              <a:t>X1</a:t>
            </a:r>
            <a:r>
              <a:rPr lang="en-US" sz="2000" dirty="0">
                <a:latin typeface="Arial Narrow" pitchFamily="34" charset="0"/>
              </a:rPr>
              <a:t>         1.500000          0.000000</a:t>
            </a:r>
          </a:p>
          <a:p>
            <a:r>
              <a:rPr lang="en-US" sz="2000" dirty="0">
                <a:latin typeface="Arial Narrow" pitchFamily="34" charset="0"/>
              </a:rPr>
              <a:t>        </a:t>
            </a:r>
            <a:r>
              <a:rPr lang="en-US" sz="2000" dirty="0" err="1">
                <a:latin typeface="Arial Narrow" pitchFamily="34" charset="0"/>
              </a:rPr>
              <a:t>X2</a:t>
            </a:r>
            <a:r>
              <a:rPr lang="en-US" sz="2000" dirty="0">
                <a:latin typeface="Arial Narrow" pitchFamily="34" charset="0"/>
              </a:rPr>
              <a:t>         2.500000          0.000000</a:t>
            </a:r>
          </a:p>
          <a:p>
            <a:r>
              <a:rPr lang="en-US" sz="2000" dirty="0">
                <a:latin typeface="Arial Narrow" pitchFamily="34" charset="0"/>
              </a:rPr>
              <a:t>  ROW   SLACK OR SURPLUS     DUAL PRICES</a:t>
            </a:r>
          </a:p>
          <a:p>
            <a:r>
              <a:rPr lang="en-US" sz="2000" dirty="0">
                <a:latin typeface="Arial Narrow" pitchFamily="34" charset="0"/>
              </a:rPr>
              <a:t>        2)        55.000000          0.000000</a:t>
            </a:r>
          </a:p>
          <a:p>
            <a:r>
              <a:rPr lang="en-US" sz="2000" dirty="0">
                <a:latin typeface="Arial Narrow" pitchFamily="34" charset="0"/>
              </a:rPr>
              <a:t>        3)         0.000000         -0.019000</a:t>
            </a:r>
          </a:p>
          <a:p>
            <a:r>
              <a:rPr lang="en-US" sz="2000" dirty="0">
                <a:latin typeface="Arial Narrow" pitchFamily="34" charset="0"/>
              </a:rPr>
              <a:t>        4)         0.000000         -0.002500</a:t>
            </a:r>
          </a:p>
          <a:p>
            <a:r>
              <a:rPr lang="en-US" sz="2000" dirty="0">
                <a:latin typeface="Arial Narrow" pitchFamily="34" charset="0"/>
              </a:rPr>
              <a:t> NO. ITERATIONS=       2</a:t>
            </a:r>
          </a:p>
          <a:p>
            <a:r>
              <a:rPr lang="en-US" sz="2000" dirty="0">
                <a:latin typeface="Arial Narrow" pitchFamily="34" charset="0"/>
              </a:rPr>
              <a:t> RANGES IN WHICH THE BASIS IS UNCHANGED:</a:t>
            </a:r>
          </a:p>
          <a:p>
            <a:r>
              <a:rPr lang="en-US" sz="2000" dirty="0">
                <a:latin typeface="Arial Narrow" pitchFamily="34" charset="0"/>
              </a:rPr>
              <a:t>    	OBJ COEFFICIENT RANGES</a:t>
            </a:r>
          </a:p>
          <a:p>
            <a:r>
              <a:rPr lang="en-US" sz="2000" dirty="0">
                <a:latin typeface="Arial Narrow" pitchFamily="34" charset="0"/>
              </a:rPr>
              <a:t> VARIABLE  CURRENT    ALLOWABLE      ALLOWABLE</a:t>
            </a:r>
          </a:p>
          <a:p>
            <a:r>
              <a:rPr lang="en-US" sz="2000" dirty="0">
                <a:latin typeface="Arial Narrow" pitchFamily="34" charset="0"/>
              </a:rPr>
              <a:t>                      </a:t>
            </a:r>
            <a:r>
              <a:rPr lang="en-US" sz="2000" dirty="0" err="1">
                <a:latin typeface="Arial Narrow" pitchFamily="34" charset="0"/>
              </a:rPr>
              <a:t>COEF</a:t>
            </a:r>
            <a:r>
              <a:rPr lang="en-US" sz="2000" dirty="0">
                <a:latin typeface="Arial Narrow" pitchFamily="34" charset="0"/>
              </a:rPr>
              <a:t>              INCREASE       DECREASE</a:t>
            </a:r>
          </a:p>
          <a:p>
            <a:r>
              <a:rPr lang="en-US" sz="2000" dirty="0">
                <a:latin typeface="Arial Narrow" pitchFamily="34" charset="0"/>
              </a:rPr>
              <a:t>       </a:t>
            </a:r>
            <a:r>
              <a:rPr lang="en-US" sz="2000" dirty="0" err="1">
                <a:latin typeface="Arial Narrow" pitchFamily="34" charset="0"/>
              </a:rPr>
              <a:t>X1</a:t>
            </a:r>
            <a:r>
              <a:rPr lang="en-US" sz="2000" dirty="0">
                <a:latin typeface="Arial Narrow" pitchFamily="34" charset="0"/>
              </a:rPr>
              <a:t>        0.600000             1.900000         0.100000</a:t>
            </a:r>
          </a:p>
          <a:p>
            <a:r>
              <a:rPr lang="en-US" sz="2000" dirty="0">
                <a:latin typeface="Arial Narrow" pitchFamily="34" charset="0"/>
              </a:rPr>
              <a:t>       </a:t>
            </a:r>
            <a:r>
              <a:rPr lang="en-US" sz="2000" dirty="0" err="1">
                <a:latin typeface="Arial Narrow" pitchFamily="34" charset="0"/>
              </a:rPr>
              <a:t>X2</a:t>
            </a:r>
            <a:r>
              <a:rPr lang="en-US" sz="2000" dirty="0">
                <a:latin typeface="Arial Narrow" pitchFamily="34" charset="0"/>
              </a:rPr>
              <a:t>        0.500000             0.100000         0.380000</a:t>
            </a:r>
            <a:endParaRPr lang="es-PE" sz="2000" dirty="0">
              <a:latin typeface="Arial Narrow" pitchFamily="34" charset="0"/>
            </a:endParaRPr>
          </a:p>
        </p:txBody>
      </p:sp>
      <p:sp>
        <p:nvSpPr>
          <p:cNvPr id="4" name="CustomShape 2"/>
          <p:cNvSpPr/>
          <p:nvPr/>
        </p:nvSpPr>
        <p:spPr>
          <a:xfrm>
            <a:off x="6098874" y="284258"/>
            <a:ext cx="6093125" cy="578472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/>
            <a:r>
              <a:rPr lang="es-PE" sz="3200" dirty="0">
                <a:solidFill>
                  <a:schemeClr val="bg1"/>
                </a:solidFill>
                <a:latin typeface="Bauhaus 93" pitchFamily="82" charset="0"/>
              </a:rPr>
              <a:t>Problema 4</a:t>
            </a:r>
          </a:p>
        </p:txBody>
      </p:sp>
      <p:graphicFrame>
        <p:nvGraphicFramePr>
          <p:cNvPr id="5" name="3 Diagrama">
            <a:extLst>
              <a:ext uri="{FF2B5EF4-FFF2-40B4-BE49-F238E27FC236}">
                <a16:creationId xmlns:a16="http://schemas.microsoft.com/office/drawing/2014/main" id="{696CBC67-E9DA-4994-AFF6-88B65A8523CE}"/>
              </a:ext>
            </a:extLst>
          </p:cNvPr>
          <p:cNvGraphicFramePr/>
          <p:nvPr/>
        </p:nvGraphicFramePr>
        <p:xfrm>
          <a:off x="9713343" y="2212264"/>
          <a:ext cx="2398143" cy="29204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379023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2" name="CustomShape 1"/>
          <p:cNvSpPr/>
          <p:nvPr/>
        </p:nvSpPr>
        <p:spPr>
          <a:xfrm>
            <a:off x="6107502" y="244122"/>
            <a:ext cx="6084498" cy="56268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s-PE" sz="2800" dirty="0">
                <a:solidFill>
                  <a:schemeClr val="bg1"/>
                </a:solidFill>
                <a:latin typeface="Bauhaus 93" pitchFamily="82" charset="0"/>
              </a:rPr>
              <a:t>Resumen de la solución óptima</a:t>
            </a:r>
          </a:p>
        </p:txBody>
      </p:sp>
      <p:graphicFrame>
        <p:nvGraphicFramePr>
          <p:cNvPr id="2" name="1 Diagrama"/>
          <p:cNvGraphicFramePr/>
          <p:nvPr/>
        </p:nvGraphicFramePr>
        <p:xfrm>
          <a:off x="2738280" y="1600200"/>
          <a:ext cx="7975728" cy="4525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200007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8F28C2B0-0B37-F1F2-E98E-6787BF2E3368}"/>
              </a:ext>
            </a:extLst>
          </p:cNvPr>
          <p:cNvSpPr/>
          <p:nvPr/>
        </p:nvSpPr>
        <p:spPr>
          <a:xfrm>
            <a:off x="9592235" y="2662518"/>
            <a:ext cx="1819836" cy="92333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5FE0F89C-3F1A-40FF-A828-735CFB0CE809}"/>
              </a:ext>
            </a:extLst>
          </p:cNvPr>
          <p:cNvSpPr/>
          <p:nvPr/>
        </p:nvSpPr>
        <p:spPr>
          <a:xfrm>
            <a:off x="0" y="10926"/>
            <a:ext cx="6093125" cy="34778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es-ES" sz="2000" dirty="0">
                <a:latin typeface="Arial" panose="020B0604020202020204" pitchFamily="34" charset="0"/>
                <a:ea typeface="Calibri" panose="020F0502020204030204" pitchFamily="34" charset="0"/>
              </a:rPr>
              <a:t>I   Identificación de las variables</a:t>
            </a:r>
            <a:endParaRPr lang="es-ES" sz="20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lvl="1" algn="just"/>
            <a:r>
              <a:rPr lang="es-ES" sz="2000" dirty="0" err="1">
                <a:latin typeface="Arial" panose="020B0604020202020204" pitchFamily="34" charset="0"/>
                <a:ea typeface="Calibri" panose="020F0502020204030204" pitchFamily="34" charset="0"/>
              </a:rPr>
              <a:t>MH</a:t>
            </a:r>
            <a:r>
              <a:rPr lang="es-ES" sz="2000" dirty="0">
                <a:latin typeface="Arial" panose="020B0604020202020204" pitchFamily="34" charset="0"/>
                <a:ea typeface="Calibri" panose="020F0502020204030204" pitchFamily="34" charset="0"/>
              </a:rPr>
              <a:t> = Cantidad en libras de mineral de hierro por transportar.</a:t>
            </a:r>
            <a:endParaRPr lang="es-ES" sz="20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lvl="1" algn="just"/>
            <a:r>
              <a:rPr lang="es-ES" sz="2000" dirty="0">
                <a:latin typeface="Arial" panose="020B0604020202020204" pitchFamily="34" charset="0"/>
                <a:ea typeface="Calibri" panose="020F0502020204030204" pitchFamily="34" charset="0"/>
              </a:rPr>
              <a:t>MC = Cantidad en libras de mineral de cobre por transportar.</a:t>
            </a:r>
            <a:endParaRPr lang="es-ES" sz="20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algn="just"/>
            <a:r>
              <a:rPr lang="es-ES" sz="2000" dirty="0">
                <a:latin typeface="Arial" panose="020B0604020202020204" pitchFamily="34" charset="0"/>
                <a:ea typeface="Calibri" panose="020F0502020204030204" pitchFamily="34" charset="0"/>
              </a:rPr>
              <a:t>II  Identificación de la Función Objetivo</a:t>
            </a:r>
            <a:endParaRPr lang="es-ES" sz="20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lvl="1" algn="just"/>
            <a:r>
              <a:rPr lang="es-ES" sz="2000" dirty="0">
                <a:latin typeface="Arial" panose="020B0604020202020204" pitchFamily="34" charset="0"/>
                <a:ea typeface="Calibri" panose="020F0502020204030204" pitchFamily="34" charset="0"/>
              </a:rPr>
              <a:t>Max </a:t>
            </a:r>
            <a:r>
              <a:rPr lang="es-ES" sz="2000" dirty="0" err="1">
                <a:latin typeface="Arial" panose="020B0604020202020204" pitchFamily="34" charset="0"/>
                <a:ea typeface="Calibri" panose="020F0502020204030204" pitchFamily="34" charset="0"/>
              </a:rPr>
              <a:t>0.30MH</a:t>
            </a:r>
            <a:r>
              <a:rPr lang="es-ES" sz="2000" dirty="0">
                <a:latin typeface="Arial" panose="020B0604020202020204" pitchFamily="34" charset="0"/>
                <a:ea typeface="Calibri" panose="020F0502020204030204" pitchFamily="34" charset="0"/>
              </a:rPr>
              <a:t> + 0.50 MC</a:t>
            </a:r>
            <a:endParaRPr lang="es-ES" sz="20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algn="just"/>
            <a:r>
              <a:rPr lang="es-ES" sz="2000" dirty="0">
                <a:latin typeface="Arial" panose="020B0604020202020204" pitchFamily="34" charset="0"/>
                <a:ea typeface="Calibri" panose="020F0502020204030204" pitchFamily="34" charset="0"/>
              </a:rPr>
              <a:t>III  Identificación de las Restricciones</a:t>
            </a:r>
            <a:endParaRPr lang="es-ES" sz="20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lvl="1" algn="just"/>
            <a:r>
              <a:rPr lang="es-ES" sz="2000" dirty="0" err="1">
                <a:latin typeface="Arial" panose="020B0604020202020204" pitchFamily="34" charset="0"/>
                <a:ea typeface="Calibri" panose="020F0502020204030204" pitchFamily="34" charset="0"/>
              </a:rPr>
              <a:t>0.04MH</a:t>
            </a:r>
            <a:r>
              <a:rPr lang="es-ES" sz="2000" dirty="0">
                <a:latin typeface="Arial" panose="020B0604020202020204" pitchFamily="34" charset="0"/>
                <a:ea typeface="Calibri" panose="020F0502020204030204" pitchFamily="34" charset="0"/>
              </a:rPr>
              <a:t> + 0.08 MC </a:t>
            </a:r>
            <a:r>
              <a:rPr lang="es-ES" sz="2000" dirty="0">
                <a:latin typeface="Symbol" panose="05050102010706020507" pitchFamily="18" charset="2"/>
                <a:ea typeface="Calibri" panose="020F0502020204030204" pitchFamily="34" charset="0"/>
              </a:rPr>
              <a:t>£</a:t>
            </a:r>
            <a:r>
              <a:rPr lang="es-ES" sz="2000" dirty="0">
                <a:latin typeface="Arial" panose="020B0604020202020204" pitchFamily="34" charset="0"/>
                <a:ea typeface="Calibri" panose="020F0502020204030204" pitchFamily="34" charset="0"/>
              </a:rPr>
              <a:t>1200</a:t>
            </a:r>
            <a:endParaRPr lang="es-ES" sz="20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lvl="1" algn="just"/>
            <a:r>
              <a:rPr lang="es-ES" sz="2000" dirty="0" err="1">
                <a:latin typeface="Arial" panose="020B0604020202020204" pitchFamily="34" charset="0"/>
                <a:ea typeface="Calibri" panose="020F0502020204030204" pitchFamily="34" charset="0"/>
              </a:rPr>
              <a:t>MH</a:t>
            </a:r>
            <a:r>
              <a:rPr lang="es-ES" sz="2000" dirty="0">
                <a:latin typeface="Arial" panose="020B0604020202020204" pitchFamily="34" charset="0"/>
                <a:ea typeface="Calibri" panose="020F0502020204030204" pitchFamily="34" charset="0"/>
              </a:rPr>
              <a:t> +MC </a:t>
            </a:r>
            <a:r>
              <a:rPr lang="es-ES" sz="2000" dirty="0">
                <a:latin typeface="Symbol" panose="05050102010706020507" pitchFamily="18" charset="2"/>
                <a:ea typeface="Calibri" panose="020F0502020204030204" pitchFamily="34" charset="0"/>
              </a:rPr>
              <a:t>£</a:t>
            </a:r>
            <a:r>
              <a:rPr lang="es-ES" sz="2000" dirty="0">
                <a:latin typeface="Arial" panose="020B0604020202020204" pitchFamily="34" charset="0"/>
                <a:ea typeface="Calibri" panose="020F0502020204030204" pitchFamily="34" charset="0"/>
              </a:rPr>
              <a:t> 22046</a:t>
            </a:r>
            <a:endParaRPr lang="es-ES" sz="20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algn="just"/>
            <a:r>
              <a:rPr lang="es-ES" sz="2000" dirty="0">
                <a:latin typeface="Arial" panose="020B0604020202020204" pitchFamily="34" charset="0"/>
                <a:ea typeface="Calibri" panose="020F0502020204030204" pitchFamily="34" charset="0"/>
              </a:rPr>
              <a:t>	</a:t>
            </a:r>
            <a:r>
              <a:rPr lang="es-ES" sz="2000" dirty="0" err="1">
                <a:latin typeface="Arial" panose="020B0604020202020204" pitchFamily="34" charset="0"/>
                <a:ea typeface="Calibri" panose="020F0502020204030204" pitchFamily="34" charset="0"/>
              </a:rPr>
              <a:t>MH,MC</a:t>
            </a:r>
            <a:r>
              <a:rPr lang="es-ES" sz="2000" dirty="0" err="1">
                <a:latin typeface="Symbol" panose="05050102010706020507" pitchFamily="18" charset="2"/>
                <a:ea typeface="Calibri" panose="020F0502020204030204" pitchFamily="34" charset="0"/>
              </a:rPr>
              <a:t>³</a:t>
            </a:r>
            <a:r>
              <a:rPr lang="es-ES" sz="2000" dirty="0">
                <a:latin typeface="Arial" panose="020B0604020202020204" pitchFamily="34" charset="0"/>
                <a:ea typeface="Calibri" panose="020F0502020204030204" pitchFamily="34" charset="0"/>
              </a:rPr>
              <a:t> 0</a:t>
            </a:r>
            <a:endParaRPr lang="es-ES" sz="20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1530BB2B-E526-463D-90B3-7D1034045915}"/>
              </a:ext>
            </a:extLst>
          </p:cNvPr>
          <p:cNvSpPr/>
          <p:nvPr/>
        </p:nvSpPr>
        <p:spPr>
          <a:xfrm>
            <a:off x="0" y="3429000"/>
            <a:ext cx="6093125" cy="193899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es-ES" sz="2000" dirty="0">
                <a:latin typeface="Arial" panose="020B0604020202020204" pitchFamily="34" charset="0"/>
                <a:ea typeface="Calibri" panose="020F0502020204030204" pitchFamily="34" charset="0"/>
              </a:rPr>
              <a:t>. Se pide:</a:t>
            </a:r>
          </a:p>
          <a:p>
            <a:pPr marL="342900" indent="-342900" algn="just">
              <a:buAutoNum type="alphaLcParenR"/>
            </a:pPr>
            <a:r>
              <a:rPr lang="es-PE" sz="2000" dirty="0"/>
              <a:t>Hallar el</a:t>
            </a:r>
            <a:r>
              <a:rPr lang="es-ES" sz="2000" dirty="0">
                <a:latin typeface="Arial" panose="020B0604020202020204" pitchFamily="34" charset="0"/>
                <a:ea typeface="Calibri" panose="020F0502020204030204" pitchFamily="34" charset="0"/>
              </a:rPr>
              <a:t> modelo y resolver con el MÉTODO GRAFICO. </a:t>
            </a:r>
          </a:p>
          <a:p>
            <a:pPr marL="342900" indent="-342900" algn="just">
              <a:buAutoNum type="alphaLcParenR"/>
            </a:pPr>
            <a:r>
              <a:rPr lang="es-PE" sz="2000" dirty="0"/>
              <a:t>Realizar el análisis de sensibilidad de los coeficientes de la función objetivo.</a:t>
            </a:r>
          </a:p>
          <a:p>
            <a:pPr lvl="0"/>
            <a:r>
              <a:rPr lang="es-PE" sz="2000" dirty="0"/>
              <a:t>c)   Realizar el análisis de sensibilidad del lado derecho.  </a:t>
            </a:r>
          </a:p>
        </p:txBody>
      </p:sp>
      <p:sp>
        <p:nvSpPr>
          <p:cNvPr id="4" name="CustomShape 2">
            <a:extLst>
              <a:ext uri="{FF2B5EF4-FFF2-40B4-BE49-F238E27FC236}">
                <a16:creationId xmlns:a16="http://schemas.microsoft.com/office/drawing/2014/main" id="{FAE3808A-DA86-4FF1-BD32-F5F928A334A1}"/>
              </a:ext>
            </a:extLst>
          </p:cNvPr>
          <p:cNvSpPr/>
          <p:nvPr/>
        </p:nvSpPr>
        <p:spPr>
          <a:xfrm>
            <a:off x="6098874" y="284258"/>
            <a:ext cx="6093125" cy="578472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/>
            <a:r>
              <a:rPr lang="es-PE" sz="3200" dirty="0">
                <a:solidFill>
                  <a:schemeClr val="bg1"/>
                </a:solidFill>
                <a:latin typeface="Bauhaus 93" pitchFamily="82" charset="0"/>
              </a:rPr>
              <a:t>Problema 5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58425B6B-F12D-1654-B09C-42532A0DA85C}"/>
              </a:ext>
            </a:extLst>
          </p:cNvPr>
          <p:cNvSpPr txBox="1"/>
          <p:nvPr/>
        </p:nvSpPr>
        <p:spPr>
          <a:xfrm>
            <a:off x="6095999" y="1225689"/>
            <a:ext cx="6051177" cy="563231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s-PE" b="1" dirty="0"/>
              <a:t> OBJECTIVE FUNCTION VALUE</a:t>
            </a:r>
          </a:p>
          <a:p>
            <a:r>
              <a:rPr lang="es-PE" b="1" dirty="0"/>
              <a:t>        1)      8204.600</a:t>
            </a:r>
          </a:p>
          <a:p>
            <a:r>
              <a:rPr lang="es-PE" b="1" dirty="0"/>
              <a:t>  VARIABLE        VALUE          	REDUCED COST</a:t>
            </a:r>
          </a:p>
          <a:p>
            <a:r>
              <a:rPr lang="es-PE" b="1" dirty="0"/>
              <a:t>        MH     14092.000000        0.000000</a:t>
            </a:r>
          </a:p>
          <a:p>
            <a:r>
              <a:rPr lang="es-PE" b="1" dirty="0"/>
              <a:t>        MC      7954.000000          0.000000</a:t>
            </a:r>
          </a:p>
          <a:p>
            <a:r>
              <a:rPr lang="es-PE" b="1" dirty="0"/>
              <a:t>       ROW   SLACK OR SURPLUS     	</a:t>
            </a:r>
            <a:r>
              <a:rPr lang="es-PE" b="1" dirty="0">
                <a:solidFill>
                  <a:srgbClr val="FF0000"/>
                </a:solidFill>
              </a:rPr>
              <a:t>DUAL PRICES</a:t>
            </a:r>
          </a:p>
          <a:p>
            <a:r>
              <a:rPr lang="es-PE" b="1" dirty="0"/>
              <a:t>        2)         0.000000          		</a:t>
            </a:r>
            <a:r>
              <a:rPr lang="es-PE" b="1" dirty="0">
                <a:solidFill>
                  <a:srgbClr val="FF0000"/>
                </a:solidFill>
              </a:rPr>
              <a:t>5.000000</a:t>
            </a:r>
          </a:p>
          <a:p>
            <a:r>
              <a:rPr lang="es-PE" b="1" dirty="0"/>
              <a:t>        3)         0.000000          		</a:t>
            </a:r>
            <a:r>
              <a:rPr lang="es-PE" b="1" dirty="0">
                <a:solidFill>
                  <a:srgbClr val="FF0000"/>
                </a:solidFill>
              </a:rPr>
              <a:t>0.100000</a:t>
            </a:r>
          </a:p>
          <a:p>
            <a:r>
              <a:rPr lang="es-PE" b="1" dirty="0"/>
              <a:t> NO. ITERATIONS=       2</a:t>
            </a:r>
          </a:p>
          <a:p>
            <a:r>
              <a:rPr lang="es-PE" b="1" dirty="0"/>
              <a:t> RANGES IN WHICH THE BASIS IS UNCHANGED:</a:t>
            </a:r>
          </a:p>
          <a:p>
            <a:r>
              <a:rPr lang="es-PE" b="1" dirty="0"/>
              <a:t>                           OBJ COEFFICIENT RANGES</a:t>
            </a:r>
          </a:p>
          <a:p>
            <a:r>
              <a:rPr lang="es-PE" b="1" dirty="0"/>
              <a:t> VARIABLE         CURRENT        ALLOWABLE        </a:t>
            </a:r>
            <a:r>
              <a:rPr lang="es-PE" b="1" dirty="0" err="1"/>
              <a:t>ALLOWABLE</a:t>
            </a:r>
            <a:endParaRPr lang="es-PE" b="1" dirty="0"/>
          </a:p>
          <a:p>
            <a:r>
              <a:rPr lang="es-PE" b="1" dirty="0"/>
              <a:t>                   COEF          INCREASE         DECREASE</a:t>
            </a:r>
          </a:p>
          <a:p>
            <a:r>
              <a:rPr lang="es-PE" b="1" dirty="0"/>
              <a:t>       MH        0.300000         0.200000         0.050000</a:t>
            </a:r>
          </a:p>
          <a:p>
            <a:r>
              <a:rPr lang="es-PE" b="1" dirty="0"/>
              <a:t>       MC        0.500000         0.100000         0.200000</a:t>
            </a:r>
          </a:p>
          <a:p>
            <a:r>
              <a:rPr lang="es-PE" b="1" dirty="0"/>
              <a:t>                           RIGHTHAND SIDE RANGES</a:t>
            </a:r>
          </a:p>
          <a:p>
            <a:r>
              <a:rPr lang="es-PE" b="1" dirty="0"/>
              <a:t>      ROW         CURRENT        ALLOWABLE        </a:t>
            </a:r>
            <a:r>
              <a:rPr lang="es-PE" b="1" dirty="0" err="1"/>
              <a:t>ALLOWABLE</a:t>
            </a:r>
            <a:endParaRPr lang="es-PE" b="1" dirty="0"/>
          </a:p>
          <a:p>
            <a:r>
              <a:rPr lang="es-PE" b="1" dirty="0"/>
              <a:t>                    RHS          INCREASE         DECREASE</a:t>
            </a:r>
          </a:p>
          <a:p>
            <a:r>
              <a:rPr lang="es-PE" b="1" dirty="0"/>
              <a:t>        2     1200.000000       563.679993       318.160004</a:t>
            </a:r>
          </a:p>
          <a:p>
            <a:r>
              <a:rPr lang="es-PE" b="1" dirty="0"/>
              <a:t>        3    22046.000000      7954.000000      7046.000000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11CDEB9B-E8B7-7EC7-D94D-89D70EDE2A07}"/>
              </a:ext>
            </a:extLst>
          </p:cNvPr>
          <p:cNvSpPr txBox="1"/>
          <p:nvPr/>
        </p:nvSpPr>
        <p:spPr>
          <a:xfrm>
            <a:off x="0" y="5367992"/>
            <a:ext cx="613634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FF0000"/>
                </a:solidFill>
                <a:latin typeface="Arial Narrow" pitchFamily="34" charset="0"/>
              </a:rPr>
              <a:t>ANALISIS DE LOS COEFICIENTES DE LA FUNCION O</a:t>
            </a:r>
            <a:r>
              <a:rPr lang="en-US" sz="1800" dirty="0">
                <a:latin typeface="Arial Narrow" pitchFamily="34" charset="0"/>
              </a:rPr>
              <a:t>.</a:t>
            </a:r>
          </a:p>
          <a:p>
            <a:r>
              <a:rPr lang="en-US" sz="1800" b="1" dirty="0">
                <a:latin typeface="Arial Narrow" pitchFamily="34" charset="0"/>
              </a:rPr>
              <a:t>   0.25  ≤ </a:t>
            </a:r>
            <a:r>
              <a:rPr lang="el-GR" sz="1800" b="1" dirty="0">
                <a:latin typeface="Arial Narrow" pitchFamily="34" charset="0"/>
              </a:rPr>
              <a:t>α</a:t>
            </a:r>
            <a:r>
              <a:rPr lang="en-US" sz="1800" b="1" dirty="0">
                <a:latin typeface="Arial Narrow" pitchFamily="34" charset="0"/>
              </a:rPr>
              <a:t> ≤ 0.50                   0.30  ≤ </a:t>
            </a:r>
            <a:r>
              <a:rPr lang="el-GR" sz="1800" b="1" dirty="0">
                <a:latin typeface="Arial Narrow" pitchFamily="34" charset="0"/>
              </a:rPr>
              <a:t>β</a:t>
            </a:r>
            <a:r>
              <a:rPr lang="en-US" sz="1800" b="1" dirty="0">
                <a:latin typeface="Arial Narrow" pitchFamily="34" charset="0"/>
              </a:rPr>
              <a:t> ≤ 0.60</a:t>
            </a:r>
          </a:p>
          <a:p>
            <a:r>
              <a:rPr lang="en-US" b="1" dirty="0">
                <a:solidFill>
                  <a:srgbClr val="FF0000"/>
                </a:solidFill>
                <a:latin typeface="Arial Narrow" pitchFamily="34" charset="0"/>
              </a:rPr>
              <a:t>ANALISIS DEL LADO DERECHO</a:t>
            </a:r>
          </a:p>
          <a:p>
            <a:r>
              <a:rPr lang="en-US" sz="1800" b="1" dirty="0">
                <a:latin typeface="Arial Narrow" pitchFamily="34" charset="0"/>
              </a:rPr>
              <a:t>m=5   </a:t>
            </a:r>
            <a:r>
              <a:rPr lang="en-US" sz="1800" dirty="0">
                <a:latin typeface="Arial Narrow" pitchFamily="34" charset="0"/>
              </a:rPr>
              <a:t>(</a:t>
            </a:r>
            <a:r>
              <a:rPr lang="en-US" dirty="0">
                <a:latin typeface="Arial Narrow" pitchFamily="34" charset="0"/>
              </a:rPr>
              <a:t>Primera</a:t>
            </a:r>
            <a:r>
              <a:rPr lang="en-US" sz="1800" dirty="0">
                <a:latin typeface="Arial Narrow" pitchFamily="34" charset="0"/>
              </a:rPr>
              <a:t> </a:t>
            </a:r>
            <a:r>
              <a:rPr lang="en-US" sz="1800" dirty="0" err="1">
                <a:latin typeface="Arial Narrow" pitchFamily="34" charset="0"/>
              </a:rPr>
              <a:t>Restricción</a:t>
            </a:r>
            <a:r>
              <a:rPr lang="en-US" sz="1800" dirty="0">
                <a:latin typeface="Arial Narrow" pitchFamily="34" charset="0"/>
              </a:rPr>
              <a:t>)</a:t>
            </a:r>
          </a:p>
          <a:p>
            <a:r>
              <a:rPr lang="en-US" sz="1800" b="1" dirty="0">
                <a:latin typeface="Arial Narrow" pitchFamily="34" charset="0"/>
              </a:rPr>
              <a:t>m=0.1   </a:t>
            </a:r>
            <a:r>
              <a:rPr lang="en-US" sz="1800" dirty="0">
                <a:latin typeface="Arial Narrow" pitchFamily="34" charset="0"/>
              </a:rPr>
              <a:t>(Segunda </a:t>
            </a:r>
            <a:r>
              <a:rPr lang="en-US" sz="1800" dirty="0" err="1">
                <a:latin typeface="Arial Narrow" pitchFamily="34" charset="0"/>
              </a:rPr>
              <a:t>Restricción</a:t>
            </a:r>
            <a:r>
              <a:rPr lang="en-US" sz="1800" dirty="0">
                <a:latin typeface="Arial Narrow" pitchFamily="34" charset="0"/>
              </a:rPr>
              <a:t>)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8C5C3EB7-2F31-92A9-7408-C1A6F6652D7C}"/>
              </a:ext>
            </a:extLst>
          </p:cNvPr>
          <p:cNvSpPr/>
          <p:nvPr/>
        </p:nvSpPr>
        <p:spPr>
          <a:xfrm>
            <a:off x="10194398" y="1154163"/>
            <a:ext cx="195277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Arial Narrow" pitchFamily="34" charset="0"/>
              </a:rPr>
              <a:t>LINDO</a:t>
            </a:r>
            <a:endParaRPr lang="es-PE" sz="5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696626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B5AD88F1-313B-4515-B4A1-78CCDB84DAEF}"/>
              </a:ext>
            </a:extLst>
          </p:cNvPr>
          <p:cNvSpPr/>
          <p:nvPr/>
        </p:nvSpPr>
        <p:spPr>
          <a:xfrm>
            <a:off x="580845" y="1373945"/>
            <a:ext cx="4094672" cy="1631216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lvl="1" indent="-457200" algn="just"/>
            <a:r>
              <a:rPr lang="es-ES" sz="2000" dirty="0">
                <a:latin typeface="Arial" panose="020B0604020202020204" pitchFamily="34" charset="0"/>
                <a:ea typeface="Calibri" panose="020F0502020204030204" pitchFamily="34" charset="0"/>
              </a:rPr>
              <a:t>Max </a:t>
            </a:r>
            <a:r>
              <a:rPr lang="es-ES" sz="2000" dirty="0" err="1">
                <a:latin typeface="Arial" panose="020B0604020202020204" pitchFamily="34" charset="0"/>
                <a:ea typeface="Calibri" panose="020F0502020204030204" pitchFamily="34" charset="0"/>
              </a:rPr>
              <a:t>0.30MH</a:t>
            </a:r>
            <a:r>
              <a:rPr lang="es-ES" sz="2000" dirty="0">
                <a:latin typeface="Arial" panose="020B0604020202020204" pitchFamily="34" charset="0"/>
                <a:ea typeface="Calibri" panose="020F0502020204030204" pitchFamily="34" charset="0"/>
              </a:rPr>
              <a:t> + 0.50 MC</a:t>
            </a:r>
            <a:endParaRPr lang="es-ES" sz="20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algn="just"/>
            <a:r>
              <a:rPr lang="es-ES" sz="2000" dirty="0">
                <a:latin typeface="Arial" panose="020B0604020202020204" pitchFamily="34" charset="0"/>
                <a:ea typeface="Calibri" panose="020F0502020204030204" pitchFamily="34" charset="0"/>
              </a:rPr>
              <a:t>Dependiendo de:</a:t>
            </a:r>
            <a:endParaRPr lang="es-ES" sz="20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lvl="1" indent="-457200" algn="just"/>
            <a:r>
              <a:rPr lang="es-ES" sz="2000" dirty="0" err="1">
                <a:latin typeface="Arial" panose="020B0604020202020204" pitchFamily="34" charset="0"/>
                <a:ea typeface="Calibri" panose="020F0502020204030204" pitchFamily="34" charset="0"/>
              </a:rPr>
              <a:t>0.04MH</a:t>
            </a:r>
            <a:r>
              <a:rPr lang="es-ES" sz="2000" dirty="0">
                <a:latin typeface="Arial" panose="020B0604020202020204" pitchFamily="34" charset="0"/>
                <a:ea typeface="Calibri" panose="020F0502020204030204" pitchFamily="34" charset="0"/>
              </a:rPr>
              <a:t> + 0.08 MC </a:t>
            </a:r>
            <a:r>
              <a:rPr lang="es-ES" sz="2000" dirty="0">
                <a:latin typeface="Symbol" panose="05050102010706020507" pitchFamily="18" charset="2"/>
                <a:ea typeface="Calibri" panose="020F0502020204030204" pitchFamily="34" charset="0"/>
              </a:rPr>
              <a:t>£</a:t>
            </a:r>
            <a:r>
              <a:rPr lang="es-ES" sz="2000" dirty="0">
                <a:latin typeface="Arial" panose="020B0604020202020204" pitchFamily="34" charset="0"/>
                <a:ea typeface="Calibri" panose="020F0502020204030204" pitchFamily="34" charset="0"/>
              </a:rPr>
              <a:t>1200</a:t>
            </a:r>
            <a:endParaRPr lang="es-ES" sz="20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lvl="1" indent="-457200" algn="just"/>
            <a:r>
              <a:rPr lang="es-ES" sz="2000" dirty="0" err="1">
                <a:latin typeface="Arial" panose="020B0604020202020204" pitchFamily="34" charset="0"/>
                <a:ea typeface="Calibri" panose="020F0502020204030204" pitchFamily="34" charset="0"/>
              </a:rPr>
              <a:t>MH</a:t>
            </a:r>
            <a:r>
              <a:rPr lang="es-ES" sz="2000" dirty="0">
                <a:latin typeface="Arial" panose="020B0604020202020204" pitchFamily="34" charset="0"/>
                <a:ea typeface="Calibri" panose="020F0502020204030204" pitchFamily="34" charset="0"/>
              </a:rPr>
              <a:t> +MC </a:t>
            </a:r>
            <a:r>
              <a:rPr lang="es-ES" sz="2000" dirty="0">
                <a:latin typeface="Symbol" panose="05050102010706020507" pitchFamily="18" charset="2"/>
                <a:ea typeface="Calibri" panose="020F0502020204030204" pitchFamily="34" charset="0"/>
              </a:rPr>
              <a:t>£</a:t>
            </a:r>
            <a:r>
              <a:rPr lang="es-ES" sz="2000" dirty="0">
                <a:latin typeface="Arial" panose="020B0604020202020204" pitchFamily="34" charset="0"/>
                <a:ea typeface="Calibri" panose="020F0502020204030204" pitchFamily="34" charset="0"/>
              </a:rPr>
              <a:t> 22046</a:t>
            </a:r>
            <a:endParaRPr lang="es-ES" sz="20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algn="just"/>
            <a:r>
              <a:rPr lang="es-ES" sz="2000" dirty="0" err="1">
                <a:latin typeface="Arial" panose="020B0604020202020204" pitchFamily="34" charset="0"/>
                <a:ea typeface="Calibri" panose="020F0502020204030204" pitchFamily="34" charset="0"/>
              </a:rPr>
              <a:t>MH,MC</a:t>
            </a:r>
            <a:r>
              <a:rPr lang="es-ES" sz="2000" dirty="0" err="1">
                <a:latin typeface="Symbol" panose="05050102010706020507" pitchFamily="18" charset="2"/>
                <a:ea typeface="Calibri" panose="020F0502020204030204" pitchFamily="34" charset="0"/>
              </a:rPr>
              <a:t>³</a:t>
            </a:r>
            <a:r>
              <a:rPr lang="es-ES" sz="2000" dirty="0">
                <a:latin typeface="Arial" panose="020B0604020202020204" pitchFamily="34" charset="0"/>
                <a:ea typeface="Calibri" panose="020F0502020204030204" pitchFamily="34" charset="0"/>
              </a:rPr>
              <a:t> 0</a:t>
            </a:r>
            <a:endParaRPr lang="es-PE" dirty="0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DFCC6536-B7DD-40AA-A426-E6B3453F0343}"/>
              </a:ext>
            </a:extLst>
          </p:cNvPr>
          <p:cNvSpPr/>
          <p:nvPr/>
        </p:nvSpPr>
        <p:spPr>
          <a:xfrm>
            <a:off x="6096001" y="1440612"/>
            <a:ext cx="5584166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ES" dirty="0" err="1">
                <a:solidFill>
                  <a:srgbClr val="FF0000"/>
                </a:solidFill>
                <a:latin typeface="Arial Narrow" panose="020B0606020202030204" pitchFamily="34" charset="0"/>
                <a:ea typeface="Calibri" panose="020F0502020204030204" pitchFamily="34" charset="0"/>
              </a:rPr>
              <a:t>Solucion</a:t>
            </a:r>
            <a:r>
              <a:rPr lang="es-ES" dirty="0">
                <a:solidFill>
                  <a:srgbClr val="FF0000"/>
                </a:solidFill>
                <a:latin typeface="Arial Narrow" panose="020B0606020202030204" pitchFamily="34" charset="0"/>
                <a:ea typeface="Calibri" panose="020F0502020204030204" pitchFamily="34" charset="0"/>
              </a:rPr>
              <a:t> usando el Método Gráfico.</a:t>
            </a:r>
            <a:endParaRPr lang="es-ES" dirty="0">
              <a:latin typeface="Arial Narrow" panose="020B0606020202030204" pitchFamily="34" charset="0"/>
              <a:ea typeface="Calibri" panose="020F0502020204030204" pitchFamily="34" charset="0"/>
            </a:endParaRPr>
          </a:p>
          <a:p>
            <a:pPr algn="just"/>
            <a:r>
              <a:rPr lang="es-ES" dirty="0">
                <a:solidFill>
                  <a:srgbClr val="FF0000"/>
                </a:solidFill>
                <a:latin typeface="Arial Narrow" panose="020B0606020202030204" pitchFamily="34" charset="0"/>
                <a:ea typeface="Calibri" panose="020F0502020204030204" pitchFamily="34" charset="0"/>
              </a:rPr>
              <a:t>1) Graficando las Restricciones</a:t>
            </a:r>
            <a:endParaRPr lang="es-ES" dirty="0">
              <a:latin typeface="Arial Narrow" panose="020B0606020202030204" pitchFamily="34" charset="0"/>
              <a:ea typeface="Calibri" panose="020F0502020204030204" pitchFamily="34" charset="0"/>
            </a:endParaRPr>
          </a:p>
          <a:p>
            <a:pPr algn="just"/>
            <a:r>
              <a:rPr lang="es-ES" dirty="0">
                <a:latin typeface="Arial Narrow" panose="020B0606020202030204" pitchFamily="34" charset="0"/>
                <a:ea typeface="Calibri" panose="020F0502020204030204" pitchFamily="34" charset="0"/>
              </a:rPr>
              <a:t>I) </a:t>
            </a:r>
            <a:r>
              <a:rPr lang="es-ES" dirty="0" err="1">
                <a:latin typeface="Arial Narrow" panose="020B0606020202030204" pitchFamily="34" charset="0"/>
                <a:ea typeface="Calibri" panose="020F0502020204030204" pitchFamily="34" charset="0"/>
              </a:rPr>
              <a:t>0.04MH</a:t>
            </a:r>
            <a:r>
              <a:rPr lang="es-ES" dirty="0">
                <a:latin typeface="Arial Narrow" panose="020B0606020202030204" pitchFamily="34" charset="0"/>
                <a:ea typeface="Calibri" panose="020F0502020204030204" pitchFamily="34" charset="0"/>
              </a:rPr>
              <a:t> + 0.08 MC = 1200	Si </a:t>
            </a:r>
            <a:r>
              <a:rPr lang="es-ES" dirty="0" err="1">
                <a:latin typeface="Arial Narrow" panose="020B0606020202030204" pitchFamily="34" charset="0"/>
                <a:ea typeface="Calibri" panose="020F0502020204030204" pitchFamily="34" charset="0"/>
              </a:rPr>
              <a:t>MH</a:t>
            </a:r>
            <a:r>
              <a:rPr lang="es-ES" dirty="0">
                <a:latin typeface="Arial Narrow" panose="020B0606020202030204" pitchFamily="34" charset="0"/>
                <a:ea typeface="Calibri" panose="020F0502020204030204" pitchFamily="34" charset="0"/>
              </a:rPr>
              <a:t>=0	Þ MC = 15000 </a:t>
            </a:r>
          </a:p>
          <a:p>
            <a:pPr algn="just"/>
            <a:r>
              <a:rPr lang="es-ES" dirty="0">
                <a:latin typeface="Arial Narrow" panose="020B0606020202030204" pitchFamily="34" charset="0"/>
                <a:ea typeface="Calibri" panose="020F0502020204030204" pitchFamily="34" charset="0"/>
              </a:rPr>
              <a:t>			Si MC=0 	Þ </a:t>
            </a:r>
            <a:r>
              <a:rPr lang="es-ES" dirty="0" err="1">
                <a:latin typeface="Arial Narrow" panose="020B0606020202030204" pitchFamily="34" charset="0"/>
                <a:ea typeface="Calibri" panose="020F0502020204030204" pitchFamily="34" charset="0"/>
              </a:rPr>
              <a:t>MH</a:t>
            </a:r>
            <a:r>
              <a:rPr lang="es-ES" dirty="0">
                <a:latin typeface="Arial Narrow" panose="020B0606020202030204" pitchFamily="34" charset="0"/>
                <a:ea typeface="Calibri" panose="020F0502020204030204" pitchFamily="34" charset="0"/>
              </a:rPr>
              <a:t>= 30000</a:t>
            </a:r>
          </a:p>
          <a:p>
            <a:pPr algn="just"/>
            <a:r>
              <a:rPr lang="es-ES" dirty="0">
                <a:latin typeface="Arial Narrow" panose="020B0606020202030204" pitchFamily="34" charset="0"/>
                <a:ea typeface="Calibri" panose="020F0502020204030204" pitchFamily="34" charset="0"/>
              </a:rPr>
              <a:t>II) </a:t>
            </a:r>
            <a:r>
              <a:rPr lang="es-ES" dirty="0" err="1">
                <a:latin typeface="Arial Narrow" panose="020B0606020202030204" pitchFamily="34" charset="0"/>
                <a:ea typeface="Calibri" panose="020F0502020204030204" pitchFamily="34" charset="0"/>
              </a:rPr>
              <a:t>MH</a:t>
            </a:r>
            <a:r>
              <a:rPr lang="es-ES" dirty="0">
                <a:latin typeface="Arial Narrow" panose="020B0606020202030204" pitchFamily="34" charset="0"/>
                <a:ea typeface="Calibri" panose="020F0502020204030204" pitchFamily="34" charset="0"/>
              </a:rPr>
              <a:t> + MC = 22046		Si </a:t>
            </a:r>
            <a:r>
              <a:rPr lang="es-ES" dirty="0" err="1">
                <a:latin typeface="Arial Narrow" panose="020B0606020202030204" pitchFamily="34" charset="0"/>
                <a:ea typeface="Calibri" panose="020F0502020204030204" pitchFamily="34" charset="0"/>
              </a:rPr>
              <a:t>MH</a:t>
            </a:r>
            <a:r>
              <a:rPr lang="es-ES" dirty="0">
                <a:latin typeface="Arial Narrow" panose="020B0606020202030204" pitchFamily="34" charset="0"/>
                <a:ea typeface="Calibri" panose="020F0502020204030204" pitchFamily="34" charset="0"/>
              </a:rPr>
              <a:t>=0	Þ MC = 22046 </a:t>
            </a:r>
          </a:p>
          <a:p>
            <a:pPr algn="just"/>
            <a:r>
              <a:rPr lang="es-ES" dirty="0">
                <a:latin typeface="Arial Narrow" panose="020B0606020202030204" pitchFamily="34" charset="0"/>
                <a:ea typeface="Calibri" panose="020F0502020204030204" pitchFamily="34" charset="0"/>
              </a:rPr>
              <a:t>			Si MC=0 	Þ </a:t>
            </a:r>
            <a:r>
              <a:rPr lang="es-ES" dirty="0" err="1">
                <a:latin typeface="Arial Narrow" panose="020B0606020202030204" pitchFamily="34" charset="0"/>
                <a:ea typeface="Calibri" panose="020F0502020204030204" pitchFamily="34" charset="0"/>
              </a:rPr>
              <a:t>MH</a:t>
            </a:r>
            <a:r>
              <a:rPr lang="es-ES" dirty="0">
                <a:latin typeface="Arial Narrow" panose="020B0606020202030204" pitchFamily="34" charset="0"/>
                <a:ea typeface="Calibri" panose="020F0502020204030204" pitchFamily="34" charset="0"/>
              </a:rPr>
              <a:t>= 22046</a:t>
            </a:r>
          </a:p>
        </p:txBody>
      </p:sp>
      <p:cxnSp>
        <p:nvCxnSpPr>
          <p:cNvPr id="4" name="Conector recto de flecha 3">
            <a:extLst>
              <a:ext uri="{FF2B5EF4-FFF2-40B4-BE49-F238E27FC236}">
                <a16:creationId xmlns:a16="http://schemas.microsoft.com/office/drawing/2014/main" id="{04792C61-038A-4BA4-9CF5-89CCC6949986}"/>
              </a:ext>
            </a:extLst>
          </p:cNvPr>
          <p:cNvCxnSpPr/>
          <p:nvPr/>
        </p:nvCxnSpPr>
        <p:spPr>
          <a:xfrm>
            <a:off x="465826" y="5589917"/>
            <a:ext cx="514997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F7EC11B3-0CE2-4554-A956-E5AD35E93104}"/>
              </a:ext>
            </a:extLst>
          </p:cNvPr>
          <p:cNvCxnSpPr>
            <a:cxnSpLocks/>
          </p:cNvCxnSpPr>
          <p:nvPr/>
        </p:nvCxnSpPr>
        <p:spPr>
          <a:xfrm flipV="1">
            <a:off x="1052422" y="3027872"/>
            <a:ext cx="0" cy="32090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8390EAD3-D595-4013-A716-6B41B334FA30}"/>
              </a:ext>
            </a:extLst>
          </p:cNvPr>
          <p:cNvSpPr txBox="1"/>
          <p:nvPr/>
        </p:nvSpPr>
        <p:spPr>
          <a:xfrm>
            <a:off x="5124091" y="5564038"/>
            <a:ext cx="612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/>
              <a:t>MH</a:t>
            </a:r>
            <a:endParaRPr lang="es-PE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596909D-CB92-4E22-A099-7D10B74C0C02}"/>
              </a:ext>
            </a:extLst>
          </p:cNvPr>
          <p:cNvSpPr txBox="1"/>
          <p:nvPr/>
        </p:nvSpPr>
        <p:spPr>
          <a:xfrm>
            <a:off x="517585" y="2921487"/>
            <a:ext cx="526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MC</a:t>
            </a:r>
            <a:endParaRPr lang="es-PE" dirty="0"/>
          </a:p>
        </p:txBody>
      </p: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F50DE8E7-C842-4466-A64B-5428CC03C8C6}"/>
              </a:ext>
            </a:extLst>
          </p:cNvPr>
          <p:cNvCxnSpPr>
            <a:cxnSpLocks/>
          </p:cNvCxnSpPr>
          <p:nvPr/>
        </p:nvCxnSpPr>
        <p:spPr>
          <a:xfrm flipH="1">
            <a:off x="698739" y="4416725"/>
            <a:ext cx="94891" cy="189781"/>
          </a:xfrm>
          <a:prstGeom prst="straightConnector1">
            <a:avLst/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488F7997-5642-4921-9768-7E15B802880C}"/>
              </a:ext>
            </a:extLst>
          </p:cNvPr>
          <p:cNvCxnSpPr>
            <a:cxnSpLocks/>
          </p:cNvCxnSpPr>
          <p:nvPr/>
        </p:nvCxnSpPr>
        <p:spPr>
          <a:xfrm flipH="1">
            <a:off x="845389" y="3856007"/>
            <a:ext cx="155286" cy="172528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8C31700E-C5E3-4720-8E67-157AB58092B1}"/>
              </a:ext>
            </a:extLst>
          </p:cNvPr>
          <p:cNvCxnSpPr>
            <a:cxnSpLocks/>
          </p:cNvCxnSpPr>
          <p:nvPr/>
        </p:nvCxnSpPr>
        <p:spPr>
          <a:xfrm>
            <a:off x="992038" y="3864634"/>
            <a:ext cx="1777041" cy="1880558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1BD2B2B3-3935-4F0A-B784-7CB9A6454939}"/>
              </a:ext>
            </a:extLst>
          </p:cNvPr>
          <p:cNvCxnSpPr>
            <a:cxnSpLocks/>
          </p:cNvCxnSpPr>
          <p:nvPr/>
        </p:nvCxnSpPr>
        <p:spPr>
          <a:xfrm>
            <a:off x="785004" y="4399472"/>
            <a:ext cx="2958860" cy="1440611"/>
          </a:xfrm>
          <a:prstGeom prst="line">
            <a:avLst/>
          </a:prstGeom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78DF7BDD-C1FD-42BD-BC2D-589BCA857CF0}"/>
              </a:ext>
            </a:extLst>
          </p:cNvPr>
          <p:cNvCxnSpPr>
            <a:cxnSpLocks/>
          </p:cNvCxnSpPr>
          <p:nvPr/>
        </p:nvCxnSpPr>
        <p:spPr>
          <a:xfrm>
            <a:off x="464389" y="4031951"/>
            <a:ext cx="3822939" cy="2377476"/>
          </a:xfrm>
          <a:prstGeom prst="line">
            <a:avLst/>
          </a:prstGeom>
          <a:ln w="254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Elipse 15">
            <a:extLst>
              <a:ext uri="{FF2B5EF4-FFF2-40B4-BE49-F238E27FC236}">
                <a16:creationId xmlns:a16="http://schemas.microsoft.com/office/drawing/2014/main" id="{4582C60C-103D-4494-8FE9-250E7F6A33AD}"/>
              </a:ext>
            </a:extLst>
          </p:cNvPr>
          <p:cNvSpPr/>
          <p:nvPr/>
        </p:nvSpPr>
        <p:spPr>
          <a:xfrm>
            <a:off x="2077349" y="5001524"/>
            <a:ext cx="57150" cy="5715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ABFED562-46AA-40E5-B36C-565719BF5D02}"/>
              </a:ext>
            </a:extLst>
          </p:cNvPr>
          <p:cNvSpPr txBox="1"/>
          <p:nvPr/>
        </p:nvSpPr>
        <p:spPr>
          <a:xfrm>
            <a:off x="258793" y="3244334"/>
            <a:ext cx="799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30000</a:t>
            </a:r>
            <a:endParaRPr lang="es-PE" dirty="0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2F0AE88B-156D-4320-A962-281CEF0BBB99}"/>
              </a:ext>
            </a:extLst>
          </p:cNvPr>
          <p:cNvSpPr txBox="1"/>
          <p:nvPr/>
        </p:nvSpPr>
        <p:spPr>
          <a:xfrm>
            <a:off x="2895598" y="5585130"/>
            <a:ext cx="7706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30000</a:t>
            </a:r>
            <a:endParaRPr lang="es-PE" dirty="0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330CF0C4-94FC-4DEF-A211-6AD5A626AA61}"/>
              </a:ext>
            </a:extLst>
          </p:cNvPr>
          <p:cNvSpPr txBox="1"/>
          <p:nvPr/>
        </p:nvSpPr>
        <p:spPr>
          <a:xfrm>
            <a:off x="2154148" y="5583417"/>
            <a:ext cx="770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20000</a:t>
            </a:r>
            <a:endParaRPr lang="es-PE"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FB8B8573-B81F-4A9F-81E4-548343D439D9}"/>
              </a:ext>
            </a:extLst>
          </p:cNvPr>
          <p:cNvSpPr txBox="1"/>
          <p:nvPr/>
        </p:nvSpPr>
        <p:spPr>
          <a:xfrm>
            <a:off x="1354347" y="5571431"/>
            <a:ext cx="7878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10000</a:t>
            </a:r>
            <a:endParaRPr lang="es-PE" dirty="0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594B4ED5-180F-43FF-8CA1-ACF11D50B7E4}"/>
              </a:ext>
            </a:extLst>
          </p:cNvPr>
          <p:cNvSpPr txBox="1"/>
          <p:nvPr/>
        </p:nvSpPr>
        <p:spPr>
          <a:xfrm>
            <a:off x="293298" y="3961812"/>
            <a:ext cx="7735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20000</a:t>
            </a:r>
            <a:endParaRPr lang="es-PE" dirty="0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F71EE908-2B09-4BE7-8095-6A8A4528000C}"/>
              </a:ext>
            </a:extLst>
          </p:cNvPr>
          <p:cNvSpPr txBox="1"/>
          <p:nvPr/>
        </p:nvSpPr>
        <p:spPr>
          <a:xfrm>
            <a:off x="284671" y="4679293"/>
            <a:ext cx="7976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10000</a:t>
            </a:r>
            <a:endParaRPr lang="es-PE" dirty="0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422FD6F5-8D06-4637-A9C1-D5B71EC6E959}"/>
              </a:ext>
            </a:extLst>
          </p:cNvPr>
          <p:cNvSpPr txBox="1"/>
          <p:nvPr/>
        </p:nvSpPr>
        <p:spPr>
          <a:xfrm>
            <a:off x="3643900" y="5583418"/>
            <a:ext cx="764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40000</a:t>
            </a:r>
            <a:endParaRPr lang="es-PE" dirty="0"/>
          </a:p>
        </p:txBody>
      </p:sp>
      <p:sp>
        <p:nvSpPr>
          <p:cNvPr id="35" name="Forma libre: forma 34">
            <a:extLst>
              <a:ext uri="{FF2B5EF4-FFF2-40B4-BE49-F238E27FC236}">
                <a16:creationId xmlns:a16="http://schemas.microsoft.com/office/drawing/2014/main" id="{55794211-B907-4AD5-9D16-2D1121097AA6}"/>
              </a:ext>
            </a:extLst>
          </p:cNvPr>
          <p:cNvSpPr/>
          <p:nvPr/>
        </p:nvSpPr>
        <p:spPr>
          <a:xfrm>
            <a:off x="1052423" y="4546121"/>
            <a:ext cx="1561381" cy="1052422"/>
          </a:xfrm>
          <a:custGeom>
            <a:avLst/>
            <a:gdLst>
              <a:gd name="connsiteX0" fmla="*/ 0 w 1561381"/>
              <a:gd name="connsiteY0" fmla="*/ 1043796 h 1052422"/>
              <a:gd name="connsiteX1" fmla="*/ 1561381 w 1561381"/>
              <a:gd name="connsiteY1" fmla="*/ 1052422 h 1052422"/>
              <a:gd name="connsiteX2" fmla="*/ 1052422 w 1561381"/>
              <a:gd name="connsiteY2" fmla="*/ 508958 h 1052422"/>
              <a:gd name="connsiteX3" fmla="*/ 0 w 1561381"/>
              <a:gd name="connsiteY3" fmla="*/ 0 h 1052422"/>
              <a:gd name="connsiteX4" fmla="*/ 0 w 1561381"/>
              <a:gd name="connsiteY4" fmla="*/ 1043796 h 1052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61381" h="1052422">
                <a:moveTo>
                  <a:pt x="0" y="1043796"/>
                </a:moveTo>
                <a:lnTo>
                  <a:pt x="1561381" y="1052422"/>
                </a:lnTo>
                <a:lnTo>
                  <a:pt x="1052422" y="508958"/>
                </a:lnTo>
                <a:lnTo>
                  <a:pt x="0" y="0"/>
                </a:lnTo>
                <a:cubicBezTo>
                  <a:pt x="2875" y="345057"/>
                  <a:pt x="5751" y="690113"/>
                  <a:pt x="0" y="1043796"/>
                </a:cubicBez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30D4F2E0-9793-4E99-8023-4F3C1D81DED5}"/>
              </a:ext>
            </a:extLst>
          </p:cNvPr>
          <p:cNvSpPr/>
          <p:nvPr/>
        </p:nvSpPr>
        <p:spPr>
          <a:xfrm>
            <a:off x="6110371" y="3265446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es-ES" dirty="0">
                <a:latin typeface="Arial Narrow" panose="020B0606020202030204" pitchFamily="34" charset="0"/>
                <a:ea typeface="Calibri" panose="020F0502020204030204" pitchFamily="34" charset="0"/>
              </a:rPr>
              <a:t>3) Graficando la Función Objetivo</a:t>
            </a:r>
          </a:p>
          <a:p>
            <a:pPr algn="just"/>
            <a:r>
              <a:rPr lang="es-ES" dirty="0" err="1">
                <a:latin typeface="Arial Narrow" panose="020B0606020202030204" pitchFamily="34" charset="0"/>
                <a:ea typeface="Calibri" panose="020F0502020204030204" pitchFamily="34" charset="0"/>
              </a:rPr>
              <a:t>0.30MH</a:t>
            </a:r>
            <a:r>
              <a:rPr lang="es-ES" dirty="0">
                <a:latin typeface="Arial Narrow" panose="020B0606020202030204" pitchFamily="34" charset="0"/>
                <a:ea typeface="Calibri" panose="020F0502020204030204" pitchFamily="34" charset="0"/>
              </a:rPr>
              <a:t> + 0.50 MC = 8000	Si </a:t>
            </a:r>
            <a:r>
              <a:rPr lang="es-ES" dirty="0" err="1">
                <a:latin typeface="Arial Narrow" panose="020B0606020202030204" pitchFamily="34" charset="0"/>
                <a:ea typeface="Calibri" panose="020F0502020204030204" pitchFamily="34" charset="0"/>
              </a:rPr>
              <a:t>MH</a:t>
            </a:r>
            <a:r>
              <a:rPr lang="es-ES" dirty="0">
                <a:latin typeface="Arial Narrow" panose="020B0606020202030204" pitchFamily="34" charset="0"/>
                <a:ea typeface="Calibri" panose="020F0502020204030204" pitchFamily="34" charset="0"/>
              </a:rPr>
              <a:t>=0	Þ MC = 16000 </a:t>
            </a:r>
          </a:p>
          <a:p>
            <a:pPr algn="just"/>
            <a:r>
              <a:rPr lang="es-ES" dirty="0">
                <a:latin typeface="Arial Narrow" panose="020B0606020202030204" pitchFamily="34" charset="0"/>
                <a:ea typeface="Calibri" panose="020F0502020204030204" pitchFamily="34" charset="0"/>
              </a:rPr>
              <a:t>			Si MC=0 	Þ </a:t>
            </a:r>
            <a:r>
              <a:rPr lang="es-ES" dirty="0" err="1">
                <a:latin typeface="Arial Narrow" panose="020B0606020202030204" pitchFamily="34" charset="0"/>
                <a:ea typeface="Calibri" panose="020F0502020204030204" pitchFamily="34" charset="0"/>
              </a:rPr>
              <a:t>MH</a:t>
            </a:r>
            <a:r>
              <a:rPr lang="es-ES" dirty="0">
                <a:latin typeface="Arial Narrow" panose="020B0606020202030204" pitchFamily="34" charset="0"/>
                <a:ea typeface="Calibri" panose="020F0502020204030204" pitchFamily="34" charset="0"/>
              </a:rPr>
              <a:t> = 26666</a:t>
            </a:r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428B2AF2-CAEB-4321-B182-885AD861089F}"/>
              </a:ext>
            </a:extLst>
          </p:cNvPr>
          <p:cNvSpPr/>
          <p:nvPr/>
        </p:nvSpPr>
        <p:spPr>
          <a:xfrm>
            <a:off x="6162136" y="4258913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es-ES" dirty="0">
                <a:latin typeface="Arial Narrow" panose="020B0606020202030204" pitchFamily="34" charset="0"/>
                <a:ea typeface="Calibri" panose="020F0502020204030204" pitchFamily="34" charset="0"/>
              </a:rPr>
              <a:t>4) Hallando la solución optima</a:t>
            </a:r>
          </a:p>
          <a:p>
            <a:pPr algn="just"/>
            <a:r>
              <a:rPr lang="es-ES" dirty="0">
                <a:latin typeface="Arial Narrow" panose="020B0606020202030204" pitchFamily="34" charset="0"/>
                <a:ea typeface="Calibri" panose="020F0502020204030204" pitchFamily="34" charset="0"/>
              </a:rPr>
              <a:t>La </a:t>
            </a:r>
            <a:r>
              <a:rPr lang="es-ES" dirty="0" err="1">
                <a:latin typeface="Arial Narrow" panose="020B0606020202030204" pitchFamily="34" charset="0"/>
                <a:ea typeface="Calibri" panose="020F0502020204030204" pitchFamily="34" charset="0"/>
              </a:rPr>
              <a:t>solucion</a:t>
            </a:r>
            <a:r>
              <a:rPr lang="es-ES" dirty="0">
                <a:latin typeface="Arial Narrow" panose="020B0606020202030204" pitchFamily="34" charset="0"/>
                <a:ea typeface="Calibri" panose="020F0502020204030204" pitchFamily="34" charset="0"/>
              </a:rPr>
              <a:t> es la intersección de I y II</a:t>
            </a:r>
          </a:p>
          <a:p>
            <a:pPr algn="just"/>
            <a:r>
              <a:rPr lang="es-ES" dirty="0">
                <a:latin typeface="Arial Narrow" panose="020B0606020202030204" pitchFamily="34" charset="0"/>
                <a:ea typeface="Calibri" panose="020F0502020204030204" pitchFamily="34" charset="0"/>
              </a:rPr>
              <a:t>I) </a:t>
            </a:r>
            <a:r>
              <a:rPr lang="es-ES" dirty="0" err="1">
                <a:latin typeface="Arial Narrow" panose="020B0606020202030204" pitchFamily="34" charset="0"/>
                <a:ea typeface="Calibri" panose="020F0502020204030204" pitchFamily="34" charset="0"/>
              </a:rPr>
              <a:t>0.04MH</a:t>
            </a:r>
            <a:r>
              <a:rPr lang="es-ES" dirty="0">
                <a:latin typeface="Arial Narrow" panose="020B0606020202030204" pitchFamily="34" charset="0"/>
                <a:ea typeface="Calibri" panose="020F0502020204030204" pitchFamily="34" charset="0"/>
              </a:rPr>
              <a:t> + </a:t>
            </a:r>
            <a:r>
              <a:rPr lang="es-ES" dirty="0" err="1">
                <a:latin typeface="Arial Narrow" panose="020B0606020202030204" pitchFamily="34" charset="0"/>
                <a:ea typeface="Calibri" panose="020F0502020204030204" pitchFamily="34" charset="0"/>
              </a:rPr>
              <a:t>0.08MC</a:t>
            </a:r>
            <a:r>
              <a:rPr lang="es-ES" dirty="0">
                <a:latin typeface="Arial Narrow" panose="020B0606020202030204" pitchFamily="34" charset="0"/>
                <a:ea typeface="Calibri" panose="020F0502020204030204" pitchFamily="34" charset="0"/>
              </a:rPr>
              <a:t> = 1200	</a:t>
            </a:r>
            <a:r>
              <a:rPr lang="es-ES" dirty="0" err="1">
                <a:latin typeface="Arial Narrow" panose="020B0606020202030204" pitchFamily="34" charset="0"/>
                <a:ea typeface="Calibri" panose="020F0502020204030204" pitchFamily="34" charset="0"/>
              </a:rPr>
              <a:t>0.04MH</a:t>
            </a:r>
            <a:r>
              <a:rPr lang="es-ES" dirty="0">
                <a:latin typeface="Arial Narrow" panose="020B0606020202030204" pitchFamily="34" charset="0"/>
                <a:ea typeface="Calibri" panose="020F0502020204030204" pitchFamily="34" charset="0"/>
              </a:rPr>
              <a:t> + </a:t>
            </a:r>
            <a:r>
              <a:rPr lang="es-ES" dirty="0" err="1">
                <a:latin typeface="Arial Narrow" panose="020B0606020202030204" pitchFamily="34" charset="0"/>
                <a:ea typeface="Calibri" panose="020F0502020204030204" pitchFamily="34" charset="0"/>
              </a:rPr>
              <a:t>0.08MC</a:t>
            </a:r>
            <a:r>
              <a:rPr lang="es-ES" dirty="0">
                <a:latin typeface="Arial Narrow" panose="020B0606020202030204" pitchFamily="34" charset="0"/>
                <a:ea typeface="Calibri" panose="020F0502020204030204" pitchFamily="34" charset="0"/>
              </a:rPr>
              <a:t>= 1200</a:t>
            </a:r>
          </a:p>
          <a:p>
            <a:pPr algn="just"/>
            <a:r>
              <a:rPr lang="es-ES" dirty="0">
                <a:latin typeface="Arial Narrow" panose="020B0606020202030204" pitchFamily="34" charset="0"/>
                <a:ea typeface="Calibri" panose="020F0502020204030204" pitchFamily="34" charset="0"/>
              </a:rPr>
              <a:t>II) </a:t>
            </a:r>
            <a:r>
              <a:rPr lang="es-ES" dirty="0" err="1">
                <a:latin typeface="Arial Narrow" panose="020B0606020202030204" pitchFamily="34" charset="0"/>
                <a:ea typeface="Calibri" panose="020F0502020204030204" pitchFamily="34" charset="0"/>
              </a:rPr>
              <a:t>MH</a:t>
            </a:r>
            <a:r>
              <a:rPr lang="es-ES" dirty="0">
                <a:latin typeface="Arial Narrow" panose="020B0606020202030204" pitchFamily="34" charset="0"/>
                <a:ea typeface="Calibri" panose="020F0502020204030204" pitchFamily="34" charset="0"/>
              </a:rPr>
              <a:t> + MC = 22046		-</a:t>
            </a:r>
            <a:r>
              <a:rPr lang="es-ES" dirty="0" err="1">
                <a:latin typeface="Arial Narrow" panose="020B0606020202030204" pitchFamily="34" charset="0"/>
                <a:ea typeface="Calibri" panose="020F0502020204030204" pitchFamily="34" charset="0"/>
              </a:rPr>
              <a:t>0.04MH</a:t>
            </a:r>
            <a:r>
              <a:rPr lang="es-ES" dirty="0">
                <a:latin typeface="Arial Narrow" panose="020B0606020202030204" pitchFamily="34" charset="0"/>
                <a:ea typeface="Calibri" panose="020F0502020204030204" pitchFamily="34" charset="0"/>
              </a:rPr>
              <a:t> –</a:t>
            </a:r>
            <a:r>
              <a:rPr lang="es-ES" dirty="0" err="1">
                <a:latin typeface="Arial Narrow" panose="020B0606020202030204" pitchFamily="34" charset="0"/>
                <a:ea typeface="Calibri" panose="020F0502020204030204" pitchFamily="34" charset="0"/>
              </a:rPr>
              <a:t>0.04MC</a:t>
            </a:r>
            <a:r>
              <a:rPr lang="es-ES" dirty="0">
                <a:latin typeface="Arial Narrow" panose="020B0606020202030204" pitchFamily="34" charset="0"/>
                <a:ea typeface="Calibri" panose="020F0502020204030204" pitchFamily="34" charset="0"/>
              </a:rPr>
              <a:t> = -881.84</a:t>
            </a:r>
          </a:p>
          <a:p>
            <a:pPr algn="just"/>
            <a:r>
              <a:rPr lang="es-ES" dirty="0">
                <a:latin typeface="Arial Narrow" panose="020B0606020202030204" pitchFamily="34" charset="0"/>
                <a:ea typeface="Calibri" panose="020F0502020204030204" pitchFamily="34" charset="0"/>
              </a:rPr>
              <a:t>				</a:t>
            </a:r>
            <a:r>
              <a:rPr lang="es-ES" dirty="0" err="1">
                <a:latin typeface="Arial Narrow" panose="020B0606020202030204" pitchFamily="34" charset="0"/>
                <a:ea typeface="Calibri" panose="020F0502020204030204" pitchFamily="34" charset="0"/>
              </a:rPr>
              <a:t>0.04MC</a:t>
            </a:r>
            <a:r>
              <a:rPr lang="es-ES" dirty="0">
                <a:latin typeface="Arial Narrow" panose="020B0606020202030204" pitchFamily="34" charset="0"/>
                <a:ea typeface="Calibri" panose="020F0502020204030204" pitchFamily="34" charset="0"/>
              </a:rPr>
              <a:t>= 318.16 </a:t>
            </a:r>
          </a:p>
          <a:p>
            <a:r>
              <a:rPr lang="es-ES" dirty="0">
                <a:latin typeface="Arial Narrow" panose="020B0606020202030204" pitchFamily="34" charset="0"/>
                <a:ea typeface="Calibri" panose="020F0502020204030204" pitchFamily="34" charset="0"/>
              </a:rPr>
              <a:t>De donde la solución óptima es:		      MC = 7954,				      	     </a:t>
            </a:r>
            <a:r>
              <a:rPr lang="es-ES" dirty="0" err="1">
                <a:latin typeface="Arial Narrow" panose="020B0606020202030204" pitchFamily="34" charset="0"/>
                <a:ea typeface="Calibri" panose="020F0502020204030204" pitchFamily="34" charset="0"/>
              </a:rPr>
              <a:t>MH</a:t>
            </a:r>
            <a:r>
              <a:rPr lang="es-ES" dirty="0">
                <a:latin typeface="Arial Narrow" panose="020B0606020202030204" pitchFamily="34" charset="0"/>
                <a:ea typeface="Calibri" panose="020F0502020204030204" pitchFamily="34" charset="0"/>
              </a:rPr>
              <a:t> = 14092</a:t>
            </a:r>
          </a:p>
          <a:p>
            <a:pPr algn="just"/>
            <a:r>
              <a:rPr lang="es-ES" dirty="0">
                <a:latin typeface="Arial Narrow" panose="020B0606020202030204" pitchFamily="34" charset="0"/>
                <a:ea typeface="Calibri" panose="020F0502020204030204" pitchFamily="34" charset="0"/>
              </a:rPr>
              <a:t>El valor que toma la función  objetiva es 	          Z = 8204.6.</a:t>
            </a:r>
          </a:p>
        </p:txBody>
      </p:sp>
      <p:sp>
        <p:nvSpPr>
          <p:cNvPr id="24" name="CustomShape 2">
            <a:extLst>
              <a:ext uri="{FF2B5EF4-FFF2-40B4-BE49-F238E27FC236}">
                <a16:creationId xmlns:a16="http://schemas.microsoft.com/office/drawing/2014/main" id="{695AA865-D452-47CF-B513-A5A69179B4AC}"/>
              </a:ext>
            </a:extLst>
          </p:cNvPr>
          <p:cNvSpPr/>
          <p:nvPr/>
        </p:nvSpPr>
        <p:spPr>
          <a:xfrm>
            <a:off x="6098874" y="284258"/>
            <a:ext cx="6093125" cy="578472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/>
            <a:r>
              <a:rPr lang="es-PE" sz="3200" dirty="0">
                <a:solidFill>
                  <a:schemeClr val="bg1"/>
                </a:solidFill>
                <a:latin typeface="Bauhaus 93" pitchFamily="82" charset="0"/>
              </a:rPr>
              <a:t>Problema 5</a:t>
            </a:r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DE530F3B-9001-64C2-510E-42B52B0E48D4}"/>
              </a:ext>
            </a:extLst>
          </p:cNvPr>
          <p:cNvCxnSpPr>
            <a:cxnSpLocks/>
          </p:cNvCxnSpPr>
          <p:nvPr/>
        </p:nvCxnSpPr>
        <p:spPr>
          <a:xfrm>
            <a:off x="616789" y="4229176"/>
            <a:ext cx="3822939" cy="2377476"/>
          </a:xfrm>
          <a:prstGeom prst="line">
            <a:avLst/>
          </a:prstGeom>
          <a:ln w="254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9920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5" grpId="0" animBg="1"/>
      <p:bldP spid="37" grpId="0"/>
      <p:bldP spid="3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CB18B91D-4083-4ADA-ABC5-35312F3FE6B5}"/>
              </a:ext>
            </a:extLst>
          </p:cNvPr>
          <p:cNvSpPr/>
          <p:nvPr/>
        </p:nvSpPr>
        <p:spPr>
          <a:xfrm>
            <a:off x="4960189" y="1305261"/>
            <a:ext cx="7021901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ES" dirty="0">
                <a:solidFill>
                  <a:srgbClr val="FF0000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Manteniendo constante el coeficiente de MC</a:t>
            </a:r>
            <a:endParaRPr lang="es-ES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algn="just"/>
            <a:r>
              <a:rPr lang="es-ES" dirty="0">
                <a:latin typeface="Arial" panose="020B0604020202020204" pitchFamily="34" charset="0"/>
                <a:ea typeface="Calibri" panose="020F0502020204030204" pitchFamily="34" charset="0"/>
              </a:rPr>
              <a:t>La pendiente de la </a:t>
            </a:r>
            <a:r>
              <a:rPr lang="es-ES" dirty="0" err="1">
                <a:latin typeface="Arial" panose="020B0604020202020204" pitchFamily="34" charset="0"/>
                <a:ea typeface="Calibri" panose="020F0502020204030204" pitchFamily="34" charset="0"/>
              </a:rPr>
              <a:t>F.O</a:t>
            </a:r>
            <a:r>
              <a:rPr lang="es-ES" dirty="0">
                <a:latin typeface="Arial" panose="020B0604020202020204" pitchFamily="34" charset="0"/>
                <a:ea typeface="Calibri" panose="020F0502020204030204" pitchFamily="34" charset="0"/>
              </a:rPr>
              <a:t>.:</a:t>
            </a:r>
            <a:r>
              <a:rPr lang="el-GR" dirty="0">
                <a:latin typeface="Arial" panose="020B0604020202020204" pitchFamily="34" charset="0"/>
                <a:ea typeface="Calibri" panose="020F0502020204030204" pitchFamily="34" charset="0"/>
              </a:rPr>
              <a:t> α </a:t>
            </a:r>
            <a:r>
              <a:rPr lang="es-ES" dirty="0" err="1">
                <a:latin typeface="Arial" panose="020B0604020202020204" pitchFamily="34" charset="0"/>
                <a:ea typeface="Calibri" panose="020F0502020204030204" pitchFamily="34" charset="0"/>
              </a:rPr>
              <a:t>MH</a:t>
            </a:r>
            <a:r>
              <a:rPr lang="es-ES" dirty="0">
                <a:latin typeface="Arial" panose="020B0604020202020204" pitchFamily="34" charset="0"/>
                <a:ea typeface="Calibri" panose="020F0502020204030204" pitchFamily="34" charset="0"/>
              </a:rPr>
              <a:t> + </a:t>
            </a:r>
            <a:r>
              <a:rPr lang="es-ES" dirty="0" err="1">
                <a:latin typeface="Arial" panose="020B0604020202020204" pitchFamily="34" charset="0"/>
                <a:ea typeface="Calibri" panose="020F0502020204030204" pitchFamily="34" charset="0"/>
              </a:rPr>
              <a:t>0.50MC</a:t>
            </a:r>
            <a:r>
              <a:rPr lang="es-ES" dirty="0">
                <a:latin typeface="Arial" panose="020B0604020202020204" pitchFamily="34" charset="0"/>
                <a:ea typeface="Calibri" panose="020F0502020204030204" pitchFamily="34" charset="0"/>
              </a:rPr>
              <a:t>	     m =-a/0.50</a:t>
            </a:r>
            <a:endParaRPr lang="es-ES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algn="just"/>
            <a:r>
              <a:rPr lang="es-ES" dirty="0">
                <a:latin typeface="Arial" panose="020B0604020202020204" pitchFamily="34" charset="0"/>
                <a:ea typeface="Calibri" panose="020F0502020204030204" pitchFamily="34" charset="0"/>
              </a:rPr>
              <a:t>De la restricción I) 0.04MH + 0.08 MC </a:t>
            </a:r>
            <a:r>
              <a:rPr lang="es-ES" dirty="0">
                <a:latin typeface="Symbol" panose="05050102010706020507" pitchFamily="18" charset="2"/>
                <a:ea typeface="Calibri" panose="020F0502020204030204" pitchFamily="34" charset="0"/>
              </a:rPr>
              <a:t>£</a:t>
            </a:r>
            <a:r>
              <a:rPr lang="es-ES" dirty="0">
                <a:latin typeface="Arial" panose="020B0604020202020204" pitchFamily="34" charset="0"/>
                <a:ea typeface="Calibri" panose="020F0502020204030204" pitchFamily="34" charset="0"/>
              </a:rPr>
              <a:t>1200    m=-0.04/0.08       -					</a:t>
            </a:r>
            <a:r>
              <a:rPr lang="es-ES" dirty="0">
                <a:latin typeface="Symbol" panose="05050102010706020507" pitchFamily="18" charset="2"/>
                <a:ea typeface="Calibri" panose="020F0502020204030204" pitchFamily="34" charset="0"/>
              </a:rPr>
              <a:t>Þ</a:t>
            </a:r>
            <a:r>
              <a:rPr lang="el-GR" dirty="0">
                <a:solidFill>
                  <a:srgbClr val="FF0000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α</a:t>
            </a:r>
            <a:r>
              <a:rPr lang="es-ES" dirty="0">
                <a:solidFill>
                  <a:srgbClr val="FF0000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= 0.25</a:t>
            </a:r>
            <a:endParaRPr lang="es-ES" dirty="0">
              <a:solidFill>
                <a:srgbClr val="FF0000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algn="just"/>
            <a:endParaRPr lang="es-ES" dirty="0"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algn="just"/>
            <a:r>
              <a:rPr lang="es-ES" dirty="0">
                <a:latin typeface="Arial" panose="020B0604020202020204" pitchFamily="34" charset="0"/>
                <a:ea typeface="Calibri" panose="020F0502020204030204" pitchFamily="34" charset="0"/>
              </a:rPr>
              <a:t>La pendiente de la F.O.:</a:t>
            </a:r>
            <a:r>
              <a:rPr lang="es-ES" dirty="0" err="1">
                <a:latin typeface="Arial" panose="020B0604020202020204" pitchFamily="34" charset="0"/>
                <a:ea typeface="Calibri" panose="020F0502020204030204" pitchFamily="34" charset="0"/>
              </a:rPr>
              <a:t>aMH</a:t>
            </a:r>
            <a:r>
              <a:rPr lang="es-ES" dirty="0">
                <a:latin typeface="Arial" panose="020B0604020202020204" pitchFamily="34" charset="0"/>
                <a:ea typeface="Calibri" panose="020F0502020204030204" pitchFamily="34" charset="0"/>
              </a:rPr>
              <a:t> + </a:t>
            </a:r>
            <a:r>
              <a:rPr lang="es-ES" dirty="0" err="1">
                <a:latin typeface="Arial" panose="020B0604020202020204" pitchFamily="34" charset="0"/>
                <a:ea typeface="Calibri" panose="020F0502020204030204" pitchFamily="34" charset="0"/>
              </a:rPr>
              <a:t>0.50MC</a:t>
            </a:r>
            <a:r>
              <a:rPr lang="es-ES" dirty="0">
                <a:latin typeface="Arial" panose="020B0604020202020204" pitchFamily="34" charset="0"/>
                <a:ea typeface="Calibri" panose="020F0502020204030204" pitchFamily="34" charset="0"/>
              </a:rPr>
              <a:t>	     m =-a/0.50</a:t>
            </a:r>
            <a:endParaRPr lang="es-ES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algn="just"/>
            <a:r>
              <a:rPr lang="es-ES" dirty="0">
                <a:latin typeface="Arial" panose="020B0604020202020204" pitchFamily="34" charset="0"/>
                <a:ea typeface="Calibri" panose="020F0502020204030204" pitchFamily="34" charset="0"/>
              </a:rPr>
              <a:t>De la restricción II) MH +MC </a:t>
            </a:r>
            <a:r>
              <a:rPr lang="es-ES" dirty="0">
                <a:latin typeface="Symbol" panose="05050102010706020507" pitchFamily="18" charset="2"/>
                <a:ea typeface="Calibri" panose="020F0502020204030204" pitchFamily="34" charset="0"/>
              </a:rPr>
              <a:t>£</a:t>
            </a:r>
            <a:r>
              <a:rPr lang="es-ES" dirty="0">
                <a:latin typeface="Arial" panose="020B0604020202020204" pitchFamily="34" charset="0"/>
                <a:ea typeface="Calibri" panose="020F0502020204030204" pitchFamily="34" charset="0"/>
              </a:rPr>
              <a:t> 22046	      m=-1/1=-1            					</a:t>
            </a:r>
            <a:r>
              <a:rPr lang="es-ES" dirty="0">
                <a:latin typeface="Symbol" panose="05050102010706020507" pitchFamily="18" charset="2"/>
                <a:ea typeface="Calibri" panose="020F0502020204030204" pitchFamily="34" charset="0"/>
              </a:rPr>
              <a:t>Þ</a:t>
            </a:r>
            <a:r>
              <a:rPr lang="el-GR" dirty="0"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  <a:r>
              <a:rPr lang="el-GR" dirty="0">
                <a:solidFill>
                  <a:srgbClr val="FF0000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α </a:t>
            </a:r>
            <a:r>
              <a:rPr lang="es-ES" dirty="0">
                <a:solidFill>
                  <a:srgbClr val="FF0000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= 0.50</a:t>
            </a:r>
            <a:endParaRPr lang="es-ES" dirty="0">
              <a:solidFill>
                <a:srgbClr val="FF0000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algn="just"/>
            <a:endParaRPr lang="es-ES" dirty="0">
              <a:latin typeface="Symbol" panose="05050102010706020507" pitchFamily="18" charset="2"/>
              <a:ea typeface="Calibri" panose="020F0502020204030204" pitchFamily="34" charset="0"/>
            </a:endParaRPr>
          </a:p>
          <a:p>
            <a:pPr algn="just"/>
            <a:r>
              <a:rPr lang="es-ES" dirty="0">
                <a:latin typeface="Symbol" panose="05050102010706020507" pitchFamily="18" charset="2"/>
                <a:ea typeface="Calibri" panose="020F0502020204030204" pitchFamily="34" charset="0"/>
              </a:rPr>
              <a:t>			Þ</a:t>
            </a:r>
            <a:r>
              <a:rPr lang="es-ES" dirty="0"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  <a:r>
              <a:rPr lang="es-ES" b="1" dirty="0">
                <a:latin typeface="Arial" panose="020B0604020202020204" pitchFamily="34" charset="0"/>
                <a:ea typeface="Calibri" panose="020F0502020204030204" pitchFamily="34" charset="0"/>
              </a:rPr>
              <a:t>0.25 </a:t>
            </a:r>
            <a:r>
              <a:rPr lang="es-ES" b="1" dirty="0">
                <a:latin typeface="Symbol" panose="05050102010706020507" pitchFamily="18" charset="2"/>
                <a:ea typeface="Calibri" panose="020F0502020204030204" pitchFamily="34" charset="0"/>
              </a:rPr>
              <a:t>£</a:t>
            </a:r>
            <a:r>
              <a:rPr lang="el-GR" dirty="0">
                <a:latin typeface="Arial" panose="020B0604020202020204" pitchFamily="34" charset="0"/>
                <a:ea typeface="Calibri" panose="020F0502020204030204" pitchFamily="34" charset="0"/>
              </a:rPr>
              <a:t> α</a:t>
            </a:r>
            <a:r>
              <a:rPr lang="es-ES" b="1" dirty="0"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  <a:r>
              <a:rPr lang="es-ES" b="1" dirty="0">
                <a:latin typeface="Symbol" panose="05050102010706020507" pitchFamily="18" charset="2"/>
                <a:ea typeface="Calibri" panose="020F0502020204030204" pitchFamily="34" charset="0"/>
              </a:rPr>
              <a:t>£</a:t>
            </a:r>
            <a:r>
              <a:rPr lang="es-ES" b="1" dirty="0">
                <a:latin typeface="Arial" panose="020B0604020202020204" pitchFamily="34" charset="0"/>
                <a:ea typeface="Calibri" panose="020F0502020204030204" pitchFamily="34" charset="0"/>
              </a:rPr>
              <a:t> 0.50</a:t>
            </a:r>
            <a:endParaRPr lang="es-ES" b="1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algn="just"/>
            <a:endParaRPr lang="es-ES" dirty="0">
              <a:solidFill>
                <a:srgbClr val="FF0000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algn="just"/>
            <a:endParaRPr lang="es-ES" dirty="0">
              <a:latin typeface="Symbol" panose="05050102010706020507" pitchFamily="18" charset="2"/>
              <a:ea typeface="Calibri" panose="020F0502020204030204" pitchFamily="34" charset="0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D8995BC1-C191-440A-B4BD-3A95E63A311D}"/>
              </a:ext>
            </a:extLst>
          </p:cNvPr>
          <p:cNvSpPr/>
          <p:nvPr/>
        </p:nvSpPr>
        <p:spPr>
          <a:xfrm>
            <a:off x="580845" y="1373945"/>
            <a:ext cx="4094672" cy="1631216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lvl="1" indent="-457200" algn="just"/>
            <a:r>
              <a:rPr lang="es-ES" sz="2000" dirty="0">
                <a:latin typeface="Arial" panose="020B0604020202020204" pitchFamily="34" charset="0"/>
                <a:ea typeface="Calibri" panose="020F0502020204030204" pitchFamily="34" charset="0"/>
              </a:rPr>
              <a:t>Max </a:t>
            </a:r>
            <a:r>
              <a:rPr lang="es-ES" sz="2000" dirty="0" err="1">
                <a:latin typeface="Arial" panose="020B0604020202020204" pitchFamily="34" charset="0"/>
                <a:ea typeface="Calibri" panose="020F0502020204030204" pitchFamily="34" charset="0"/>
              </a:rPr>
              <a:t>0.30MH</a:t>
            </a:r>
            <a:r>
              <a:rPr lang="es-ES" sz="2000" dirty="0">
                <a:latin typeface="Arial" panose="020B0604020202020204" pitchFamily="34" charset="0"/>
                <a:ea typeface="Calibri" panose="020F0502020204030204" pitchFamily="34" charset="0"/>
              </a:rPr>
              <a:t> + 0.50 MC</a:t>
            </a:r>
            <a:endParaRPr lang="es-ES" sz="20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algn="just"/>
            <a:r>
              <a:rPr lang="es-ES" sz="2000" dirty="0">
                <a:latin typeface="Arial" panose="020B0604020202020204" pitchFamily="34" charset="0"/>
                <a:ea typeface="Calibri" panose="020F0502020204030204" pitchFamily="34" charset="0"/>
              </a:rPr>
              <a:t>Dependiendo de:</a:t>
            </a:r>
            <a:endParaRPr lang="es-ES" sz="20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lvl="1" indent="-457200" algn="just"/>
            <a:r>
              <a:rPr lang="es-ES" sz="2000" dirty="0" err="1">
                <a:latin typeface="Arial" panose="020B0604020202020204" pitchFamily="34" charset="0"/>
                <a:ea typeface="Calibri" panose="020F0502020204030204" pitchFamily="34" charset="0"/>
              </a:rPr>
              <a:t>0.04MH</a:t>
            </a:r>
            <a:r>
              <a:rPr lang="es-ES" sz="2000" dirty="0">
                <a:latin typeface="Arial" panose="020B0604020202020204" pitchFamily="34" charset="0"/>
                <a:ea typeface="Calibri" panose="020F0502020204030204" pitchFamily="34" charset="0"/>
              </a:rPr>
              <a:t> + 0.08 MC </a:t>
            </a:r>
            <a:r>
              <a:rPr lang="es-ES" sz="2000" dirty="0">
                <a:latin typeface="Symbol" panose="05050102010706020507" pitchFamily="18" charset="2"/>
                <a:ea typeface="Calibri" panose="020F0502020204030204" pitchFamily="34" charset="0"/>
              </a:rPr>
              <a:t>£</a:t>
            </a:r>
            <a:r>
              <a:rPr lang="es-ES" sz="2000" dirty="0">
                <a:latin typeface="Arial" panose="020B0604020202020204" pitchFamily="34" charset="0"/>
                <a:ea typeface="Calibri" panose="020F0502020204030204" pitchFamily="34" charset="0"/>
              </a:rPr>
              <a:t>1200</a:t>
            </a:r>
            <a:endParaRPr lang="es-ES" sz="20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lvl="1" indent="-457200" algn="just"/>
            <a:r>
              <a:rPr lang="es-ES" sz="2000" dirty="0">
                <a:latin typeface="Arial" panose="020B0604020202020204" pitchFamily="34" charset="0"/>
                <a:ea typeface="Calibri" panose="020F0502020204030204" pitchFamily="34" charset="0"/>
              </a:rPr>
              <a:t>                </a:t>
            </a:r>
            <a:r>
              <a:rPr lang="es-ES" sz="2000" dirty="0" err="1">
                <a:latin typeface="Arial" panose="020B0604020202020204" pitchFamily="34" charset="0"/>
                <a:ea typeface="Calibri" panose="020F0502020204030204" pitchFamily="34" charset="0"/>
              </a:rPr>
              <a:t>MH</a:t>
            </a:r>
            <a:r>
              <a:rPr lang="es-ES" sz="2000" dirty="0">
                <a:latin typeface="Arial" panose="020B0604020202020204" pitchFamily="34" charset="0"/>
                <a:ea typeface="Calibri" panose="020F0502020204030204" pitchFamily="34" charset="0"/>
              </a:rPr>
              <a:t> +MC </a:t>
            </a:r>
            <a:r>
              <a:rPr lang="es-ES" sz="2000" dirty="0">
                <a:latin typeface="Symbol" panose="05050102010706020507" pitchFamily="18" charset="2"/>
                <a:ea typeface="Calibri" panose="020F0502020204030204" pitchFamily="34" charset="0"/>
              </a:rPr>
              <a:t>£</a:t>
            </a:r>
            <a:r>
              <a:rPr lang="es-ES" sz="2000" dirty="0">
                <a:latin typeface="Arial" panose="020B0604020202020204" pitchFamily="34" charset="0"/>
                <a:ea typeface="Calibri" panose="020F0502020204030204" pitchFamily="34" charset="0"/>
              </a:rPr>
              <a:t> 22046</a:t>
            </a:r>
            <a:endParaRPr lang="es-ES" sz="20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algn="just"/>
            <a:r>
              <a:rPr lang="es-ES" sz="2000" dirty="0">
                <a:latin typeface="Arial" panose="020B0604020202020204" pitchFamily="34" charset="0"/>
                <a:ea typeface="Calibri" panose="020F0502020204030204" pitchFamily="34" charset="0"/>
              </a:rPr>
              <a:t>                 </a:t>
            </a:r>
            <a:r>
              <a:rPr lang="es-ES" sz="2000" dirty="0" err="1">
                <a:latin typeface="Arial" panose="020B0604020202020204" pitchFamily="34" charset="0"/>
                <a:ea typeface="Calibri" panose="020F0502020204030204" pitchFamily="34" charset="0"/>
              </a:rPr>
              <a:t>MH</a:t>
            </a:r>
            <a:r>
              <a:rPr lang="es-ES" sz="2000" dirty="0">
                <a:latin typeface="Arial" panose="020B0604020202020204" pitchFamily="34" charset="0"/>
                <a:ea typeface="Calibri" panose="020F0502020204030204" pitchFamily="34" charset="0"/>
              </a:rPr>
              <a:t>, MC </a:t>
            </a:r>
            <a:r>
              <a:rPr lang="es-ES" sz="2000" dirty="0">
                <a:latin typeface="Symbol" panose="05050102010706020507" pitchFamily="18" charset="2"/>
                <a:ea typeface="Calibri" panose="020F0502020204030204" pitchFamily="34" charset="0"/>
              </a:rPr>
              <a:t>³</a:t>
            </a:r>
            <a:r>
              <a:rPr lang="es-ES" sz="2000" dirty="0">
                <a:latin typeface="Arial" panose="020B0604020202020204" pitchFamily="34" charset="0"/>
                <a:ea typeface="Calibri" panose="020F0502020204030204" pitchFamily="34" charset="0"/>
              </a:rPr>
              <a:t> 0</a:t>
            </a:r>
            <a:endParaRPr lang="es-PE" dirty="0"/>
          </a:p>
        </p:txBody>
      </p:sp>
      <p:graphicFrame>
        <p:nvGraphicFramePr>
          <p:cNvPr id="4" name="Objeto 3">
            <a:extLst>
              <a:ext uri="{FF2B5EF4-FFF2-40B4-BE49-F238E27FC236}">
                <a16:creationId xmlns:a16="http://schemas.microsoft.com/office/drawing/2014/main" id="{C7266A4A-5D3B-4B28-996A-0A88ED9C295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87668" y="2171550"/>
          <a:ext cx="1490377" cy="6147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015920" imgH="419040" progId="">
                  <p:embed/>
                </p:oleObj>
              </mc:Choice>
              <mc:Fallback>
                <p:oleObj r:id="rId2" imgW="1015920" imgH="419040" progId="">
                  <p:embed/>
                  <p:pic>
                    <p:nvPicPr>
                      <p:cNvPr id="4" name="Objeto 3">
                        <a:extLst>
                          <a:ext uri="{FF2B5EF4-FFF2-40B4-BE49-F238E27FC236}">
                            <a16:creationId xmlns:a16="http://schemas.microsoft.com/office/drawing/2014/main" id="{C7266A4A-5D3B-4B28-996A-0A88ED9C29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387668" y="2171550"/>
                        <a:ext cx="1490377" cy="61478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to 4">
            <a:extLst>
              <a:ext uri="{FF2B5EF4-FFF2-40B4-BE49-F238E27FC236}">
                <a16:creationId xmlns:a16="http://schemas.microsoft.com/office/drawing/2014/main" id="{136BFF20-F6A3-47EC-850A-A45EC747D52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51354" y="3149968"/>
          <a:ext cx="1130600" cy="6310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749160" imgH="419040" progId="">
                  <p:embed/>
                </p:oleObj>
              </mc:Choice>
              <mc:Fallback>
                <p:oleObj r:id="rId4" imgW="749160" imgH="419040" progId="">
                  <p:embed/>
                  <p:pic>
                    <p:nvPicPr>
                      <p:cNvPr id="5" name="Objeto 4">
                        <a:extLst>
                          <a:ext uri="{FF2B5EF4-FFF2-40B4-BE49-F238E27FC236}">
                            <a16:creationId xmlns:a16="http://schemas.microsoft.com/office/drawing/2014/main" id="{136BFF20-F6A3-47EC-850A-A45EC747D52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451354" y="3149968"/>
                        <a:ext cx="1130600" cy="63108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to 5">
            <a:extLst>
              <a:ext uri="{FF2B5EF4-FFF2-40B4-BE49-F238E27FC236}">
                <a16:creationId xmlns:a16="http://schemas.microsoft.com/office/drawing/2014/main" id="{E4E1E31F-414B-4C8F-AE2E-D2826094482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6023620"/>
              </p:ext>
            </p:extLst>
          </p:nvPr>
        </p:nvGraphicFramePr>
        <p:xfrm>
          <a:off x="6160518" y="5113791"/>
          <a:ext cx="1609755" cy="6640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015920" imgH="419040" progId="">
                  <p:embed/>
                </p:oleObj>
              </mc:Choice>
              <mc:Fallback>
                <p:oleObj r:id="rId6" imgW="1015920" imgH="419040" progId="">
                  <p:embed/>
                  <p:pic>
                    <p:nvPicPr>
                      <p:cNvPr id="6" name="Objeto 5">
                        <a:extLst>
                          <a:ext uri="{FF2B5EF4-FFF2-40B4-BE49-F238E27FC236}">
                            <a16:creationId xmlns:a16="http://schemas.microsoft.com/office/drawing/2014/main" id="{E4E1E31F-414B-4C8F-AE2E-D2826094482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160518" y="5113791"/>
                        <a:ext cx="1609755" cy="66402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to 6">
            <a:extLst>
              <a:ext uri="{FF2B5EF4-FFF2-40B4-BE49-F238E27FC236}">
                <a16:creationId xmlns:a16="http://schemas.microsoft.com/office/drawing/2014/main" id="{D454527D-9B0C-4C29-9B5B-6BDFD122BC7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8221378"/>
              </p:ext>
            </p:extLst>
          </p:nvPr>
        </p:nvGraphicFramePr>
        <p:xfrm>
          <a:off x="6549545" y="6231938"/>
          <a:ext cx="1220728" cy="6836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749160" imgH="419040" progId="">
                  <p:embed/>
                </p:oleObj>
              </mc:Choice>
              <mc:Fallback>
                <p:oleObj r:id="rId8" imgW="749160" imgH="419040" progId="">
                  <p:embed/>
                  <p:pic>
                    <p:nvPicPr>
                      <p:cNvPr id="7" name="Objeto 6">
                        <a:extLst>
                          <a:ext uri="{FF2B5EF4-FFF2-40B4-BE49-F238E27FC236}">
                            <a16:creationId xmlns:a16="http://schemas.microsoft.com/office/drawing/2014/main" id="{D454527D-9B0C-4C29-9B5B-6BDFD122BC7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549545" y="6231938"/>
                        <a:ext cx="1220728" cy="68360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ángulo 7">
            <a:extLst>
              <a:ext uri="{FF2B5EF4-FFF2-40B4-BE49-F238E27FC236}">
                <a16:creationId xmlns:a16="http://schemas.microsoft.com/office/drawing/2014/main" id="{80DFC2B9-6927-43B8-89A7-A5F5FBB23C63}"/>
              </a:ext>
            </a:extLst>
          </p:cNvPr>
          <p:cNvSpPr/>
          <p:nvPr/>
        </p:nvSpPr>
        <p:spPr>
          <a:xfrm>
            <a:off x="434197" y="3691477"/>
            <a:ext cx="4275826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ES" b="1" dirty="0">
                <a:solidFill>
                  <a:srgbClr val="7030A0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El coeficiente de </a:t>
            </a:r>
            <a:r>
              <a:rPr lang="es-ES" b="1" dirty="0" err="1">
                <a:solidFill>
                  <a:srgbClr val="7030A0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MH</a:t>
            </a:r>
            <a:r>
              <a:rPr lang="es-ES" b="1" dirty="0">
                <a:solidFill>
                  <a:srgbClr val="7030A0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 puede variar entre 0.25 y 0.50 inclusive sin modificar su solución óptima.</a:t>
            </a:r>
            <a:endParaRPr lang="es-ES" b="1" dirty="0">
              <a:solidFill>
                <a:srgbClr val="7030A0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algn="just"/>
            <a:r>
              <a:rPr lang="es-ES" b="1" dirty="0">
                <a:solidFill>
                  <a:srgbClr val="7030A0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El coeficiente de MC puede variar entre 0.30 y 0.60 inclusive sin modificar su solución óptima.</a:t>
            </a:r>
            <a:endParaRPr lang="es-ES" b="1" dirty="0">
              <a:solidFill>
                <a:srgbClr val="7030A0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sp>
        <p:nvSpPr>
          <p:cNvPr id="10" name="CustomShape 2">
            <a:extLst>
              <a:ext uri="{FF2B5EF4-FFF2-40B4-BE49-F238E27FC236}">
                <a16:creationId xmlns:a16="http://schemas.microsoft.com/office/drawing/2014/main" id="{3A6236EA-AC34-4741-B57B-DFF94BF49D5F}"/>
              </a:ext>
            </a:extLst>
          </p:cNvPr>
          <p:cNvSpPr/>
          <p:nvPr/>
        </p:nvSpPr>
        <p:spPr>
          <a:xfrm>
            <a:off x="6098874" y="284258"/>
            <a:ext cx="6093125" cy="578472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/>
            <a:r>
              <a:rPr lang="es-PE" sz="3200" dirty="0">
                <a:solidFill>
                  <a:schemeClr val="bg1"/>
                </a:solidFill>
                <a:latin typeface="Bauhaus 93" pitchFamily="82" charset="0"/>
              </a:rPr>
              <a:t>Problema 5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8CDC4715-1354-67DD-EF8D-95FA8458E44A}"/>
              </a:ext>
            </a:extLst>
          </p:cNvPr>
          <p:cNvSpPr txBox="1"/>
          <p:nvPr/>
        </p:nvSpPr>
        <p:spPr>
          <a:xfrm>
            <a:off x="4994695" y="4272677"/>
            <a:ext cx="646131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dirty="0">
                <a:solidFill>
                  <a:srgbClr val="FF0000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Manteniendo constante el coeficiente de MH</a:t>
            </a:r>
            <a:endParaRPr lang="es-ES" dirty="0">
              <a:solidFill>
                <a:srgbClr val="FF0000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algn="just"/>
            <a:r>
              <a:rPr lang="es-ES" dirty="0">
                <a:latin typeface="Arial" panose="020B0604020202020204" pitchFamily="34" charset="0"/>
                <a:ea typeface="Calibri" panose="020F0502020204030204" pitchFamily="34" charset="0"/>
              </a:rPr>
              <a:t>La pendiente de la F.O.:	0.30MH + </a:t>
            </a:r>
            <a:r>
              <a:rPr lang="el-GR" dirty="0">
                <a:latin typeface="Arial" panose="020B0604020202020204" pitchFamily="34" charset="0"/>
                <a:ea typeface="Calibri" panose="020F0502020204030204" pitchFamily="34" charset="0"/>
              </a:rPr>
              <a:t>β</a:t>
            </a:r>
            <a:r>
              <a:rPr lang="es-ES" dirty="0">
                <a:latin typeface="Arial" panose="020B0604020202020204" pitchFamily="34" charset="0"/>
                <a:ea typeface="Calibri" panose="020F0502020204030204" pitchFamily="34" charset="0"/>
              </a:rPr>
              <a:t>MC	        m =-0.30/</a:t>
            </a:r>
            <a:r>
              <a:rPr lang="el-GR" dirty="0">
                <a:latin typeface="Arial" panose="020B0604020202020204" pitchFamily="34" charset="0"/>
                <a:ea typeface="Calibri" panose="020F0502020204030204" pitchFamily="34" charset="0"/>
              </a:rPr>
              <a:t> β</a:t>
            </a:r>
            <a:endParaRPr lang="es-ES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algn="just"/>
            <a:r>
              <a:rPr lang="es-ES" dirty="0">
                <a:latin typeface="Arial" panose="020B0604020202020204" pitchFamily="34" charset="0"/>
                <a:ea typeface="Calibri" panose="020F0502020204030204" pitchFamily="34" charset="0"/>
              </a:rPr>
              <a:t>De la restricción I) 0.04MH + 0.08 MC </a:t>
            </a:r>
            <a:r>
              <a:rPr lang="es-ES" dirty="0">
                <a:latin typeface="Symbol" panose="05050102010706020507" pitchFamily="18" charset="2"/>
                <a:ea typeface="Calibri" panose="020F0502020204030204" pitchFamily="34" charset="0"/>
              </a:rPr>
              <a:t>£</a:t>
            </a:r>
            <a:r>
              <a:rPr lang="es-ES" dirty="0">
                <a:latin typeface="Arial" panose="020B0604020202020204" pitchFamily="34" charset="0"/>
                <a:ea typeface="Calibri" panose="020F0502020204030204" pitchFamily="34" charset="0"/>
              </a:rPr>
              <a:t>1200	        m=-0.04/0.08 				</a:t>
            </a:r>
            <a:r>
              <a:rPr lang="el-GR" dirty="0"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  <a:r>
              <a:rPr lang="es-ES" dirty="0">
                <a:latin typeface="Symbol" panose="05050102010706020507" pitchFamily="18" charset="2"/>
                <a:ea typeface="Calibri" panose="020F0502020204030204" pitchFamily="34" charset="0"/>
              </a:rPr>
              <a:t>Þ </a:t>
            </a:r>
            <a:r>
              <a:rPr lang="el-GR" dirty="0">
                <a:solidFill>
                  <a:srgbClr val="FF0000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β </a:t>
            </a:r>
            <a:r>
              <a:rPr lang="es-ES" dirty="0">
                <a:solidFill>
                  <a:srgbClr val="FF0000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= 0.60</a:t>
            </a:r>
            <a:endParaRPr lang="es-ES" dirty="0">
              <a:solidFill>
                <a:srgbClr val="FF0000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algn="just"/>
            <a:endParaRPr lang="es-ES" dirty="0"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algn="just"/>
            <a:r>
              <a:rPr lang="es-ES" dirty="0">
                <a:latin typeface="Arial" panose="020B0604020202020204" pitchFamily="34" charset="0"/>
                <a:ea typeface="Calibri" panose="020F0502020204030204" pitchFamily="34" charset="0"/>
              </a:rPr>
              <a:t>La pendiente de la F.O.:	0.30MH + </a:t>
            </a:r>
            <a:r>
              <a:rPr lang="el-GR" dirty="0">
                <a:latin typeface="Arial" panose="020B0604020202020204" pitchFamily="34" charset="0"/>
                <a:ea typeface="Calibri" panose="020F0502020204030204" pitchFamily="34" charset="0"/>
              </a:rPr>
              <a:t>β </a:t>
            </a:r>
            <a:r>
              <a:rPr lang="es-ES" dirty="0">
                <a:latin typeface="Arial" panose="020B0604020202020204" pitchFamily="34" charset="0"/>
                <a:ea typeface="Calibri" panose="020F0502020204030204" pitchFamily="34" charset="0"/>
              </a:rPr>
              <a:t>MC	        m =-0.30/</a:t>
            </a:r>
            <a:r>
              <a:rPr lang="el-GR" dirty="0">
                <a:latin typeface="Arial" panose="020B0604020202020204" pitchFamily="34" charset="0"/>
                <a:ea typeface="Calibri" panose="020F0502020204030204" pitchFamily="34" charset="0"/>
              </a:rPr>
              <a:t> β</a:t>
            </a:r>
            <a:endParaRPr lang="es-ES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algn="just"/>
            <a:r>
              <a:rPr lang="es-ES" dirty="0">
                <a:latin typeface="Arial" panose="020B0604020202020204" pitchFamily="34" charset="0"/>
                <a:ea typeface="Calibri" panose="020F0502020204030204" pitchFamily="34" charset="0"/>
              </a:rPr>
              <a:t>De la restricción II) MH +MC </a:t>
            </a:r>
            <a:r>
              <a:rPr lang="es-ES" dirty="0">
                <a:latin typeface="Symbol" panose="05050102010706020507" pitchFamily="18" charset="2"/>
                <a:ea typeface="Calibri" panose="020F0502020204030204" pitchFamily="34" charset="0"/>
              </a:rPr>
              <a:t>£</a:t>
            </a:r>
            <a:r>
              <a:rPr lang="es-ES" dirty="0">
                <a:latin typeface="Arial" panose="020B0604020202020204" pitchFamily="34" charset="0"/>
                <a:ea typeface="Calibri" panose="020F0502020204030204" pitchFamily="34" charset="0"/>
              </a:rPr>
              <a:t> 22046	         m=-1/1=-1</a:t>
            </a:r>
          </a:p>
          <a:p>
            <a:pPr algn="just"/>
            <a:r>
              <a:rPr lang="es-ES" dirty="0">
                <a:latin typeface="Arial" panose="020B0604020202020204" pitchFamily="34" charset="0"/>
                <a:ea typeface="Calibri" panose="020F0502020204030204" pitchFamily="34" charset="0"/>
              </a:rPr>
              <a:t>				 	</a:t>
            </a:r>
            <a:r>
              <a:rPr lang="es-ES" dirty="0">
                <a:latin typeface="Symbol" panose="05050102010706020507" pitchFamily="18" charset="2"/>
                <a:ea typeface="Calibri" panose="020F0502020204030204" pitchFamily="34" charset="0"/>
              </a:rPr>
              <a:t> Þ </a:t>
            </a:r>
            <a:r>
              <a:rPr lang="el-GR" dirty="0">
                <a:solidFill>
                  <a:srgbClr val="FF0000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β </a:t>
            </a:r>
            <a:r>
              <a:rPr lang="es-ES" dirty="0">
                <a:solidFill>
                  <a:srgbClr val="FF0000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= 0.30</a:t>
            </a:r>
          </a:p>
          <a:p>
            <a:pPr algn="just"/>
            <a:r>
              <a:rPr lang="es-ES" dirty="0">
                <a:solidFill>
                  <a:srgbClr val="FF0000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			</a:t>
            </a:r>
            <a:r>
              <a:rPr lang="es-ES" dirty="0">
                <a:latin typeface="Symbol" panose="05050102010706020507" pitchFamily="18" charset="2"/>
                <a:ea typeface="Calibri" panose="020F0502020204030204" pitchFamily="34" charset="0"/>
              </a:rPr>
              <a:t>Þ</a:t>
            </a:r>
            <a:r>
              <a:rPr lang="es-ES" dirty="0"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  <a:r>
              <a:rPr lang="es-ES" b="1" dirty="0">
                <a:latin typeface="Arial" panose="020B0604020202020204" pitchFamily="34" charset="0"/>
                <a:ea typeface="Calibri" panose="020F0502020204030204" pitchFamily="34" charset="0"/>
              </a:rPr>
              <a:t>0.30 </a:t>
            </a:r>
            <a:r>
              <a:rPr lang="es-ES" b="1" dirty="0">
                <a:latin typeface="Symbol" panose="05050102010706020507" pitchFamily="18" charset="2"/>
                <a:ea typeface="Calibri" panose="020F0502020204030204" pitchFamily="34" charset="0"/>
              </a:rPr>
              <a:t>£</a:t>
            </a:r>
            <a:r>
              <a:rPr lang="el-GR" dirty="0">
                <a:latin typeface="Arial" panose="020B0604020202020204" pitchFamily="34" charset="0"/>
                <a:ea typeface="Calibri" panose="020F0502020204030204" pitchFamily="34" charset="0"/>
              </a:rPr>
              <a:t> β</a:t>
            </a:r>
            <a:r>
              <a:rPr lang="es-ES" b="1" dirty="0"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  <a:r>
              <a:rPr lang="es-ES" b="1" dirty="0">
                <a:latin typeface="Symbol" panose="05050102010706020507" pitchFamily="18" charset="2"/>
                <a:ea typeface="Calibri" panose="020F0502020204030204" pitchFamily="34" charset="0"/>
              </a:rPr>
              <a:t>£</a:t>
            </a:r>
            <a:r>
              <a:rPr lang="es-ES" b="1" dirty="0">
                <a:latin typeface="Arial" panose="020B0604020202020204" pitchFamily="34" charset="0"/>
                <a:ea typeface="Calibri" panose="020F0502020204030204" pitchFamily="34" charset="0"/>
              </a:rPr>
              <a:t> 0.60</a:t>
            </a:r>
            <a:endParaRPr lang="es-ES" b="1" dirty="0"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2113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a 7">
            <a:extLst>
              <a:ext uri="{FF2B5EF4-FFF2-40B4-BE49-F238E27FC236}">
                <a16:creationId xmlns:a16="http://schemas.microsoft.com/office/drawing/2014/main" id="{4A6BBCB2-B2D3-47F1-9F1F-A26DDB475330}"/>
              </a:ext>
            </a:extLst>
          </p:cNvPr>
          <p:cNvGraphicFramePr>
            <a:graphicFrameLocks noGrp="1"/>
          </p:cNvGraphicFramePr>
          <p:nvPr/>
        </p:nvGraphicFramePr>
        <p:xfrm>
          <a:off x="5624423" y="3644017"/>
          <a:ext cx="6390255" cy="22939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1766">
                  <a:extLst>
                    <a:ext uri="{9D8B030D-6E8A-4147-A177-3AD203B41FA5}">
                      <a16:colId xmlns:a16="http://schemas.microsoft.com/office/drawing/2014/main" val="3804144040"/>
                    </a:ext>
                  </a:extLst>
                </a:gridCol>
                <a:gridCol w="4768489">
                  <a:extLst>
                    <a:ext uri="{9D8B030D-6E8A-4147-A177-3AD203B41FA5}">
                      <a16:colId xmlns:a16="http://schemas.microsoft.com/office/drawing/2014/main" val="2858789546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s-PE" sz="1800" dirty="0"/>
                        <a:t>Análisis de Sensibilidad del Lado Derecho de la I Restricción: </a:t>
                      </a:r>
                      <a:r>
                        <a:rPr lang="es-ES" dirty="0" err="1"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0.04MH</a:t>
                      </a:r>
                      <a:r>
                        <a:rPr lang="es-ES" dirty="0"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+ </a:t>
                      </a:r>
                      <a:r>
                        <a:rPr lang="es-ES" dirty="0" err="1"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0.08MC</a:t>
                      </a:r>
                      <a:r>
                        <a:rPr lang="es-ES" dirty="0"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= 1200 </a:t>
                      </a:r>
                      <a:endParaRPr lang="es-PE" sz="18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s-P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6824585"/>
                  </a:ext>
                </a:extLst>
              </a:tr>
              <a:tr h="541346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s-PE" sz="1800" dirty="0"/>
                        <a:t>En (22046, 0)</a:t>
                      </a:r>
                      <a:endParaRPr lang="es-PE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800" dirty="0" err="1"/>
                        <a:t>V.L.D</a:t>
                      </a:r>
                      <a:r>
                        <a:rPr lang="es-PE" sz="1800" dirty="0"/>
                        <a:t>.=0.04 (22046) + 0.08 (0) = </a:t>
                      </a:r>
                      <a:r>
                        <a:rPr lang="es-PE" sz="1800" dirty="0">
                          <a:solidFill>
                            <a:srgbClr val="FF0000"/>
                          </a:solidFill>
                        </a:rPr>
                        <a:t>881.84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971950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s-P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800" dirty="0"/>
                        <a:t>Z=0,30(22046) + 0,50(0) = </a:t>
                      </a:r>
                      <a:r>
                        <a:rPr lang="es-PE" sz="1800" dirty="0">
                          <a:solidFill>
                            <a:srgbClr val="FF0000"/>
                          </a:solidFill>
                        </a:rPr>
                        <a:t>$ 6613,8</a:t>
                      </a:r>
                      <a:endParaRPr lang="es-PE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9105990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800" dirty="0"/>
                        <a:t>En (0, 22046)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endParaRPr lang="es-PE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800" dirty="0" err="1"/>
                        <a:t>V.L.D</a:t>
                      </a:r>
                      <a:r>
                        <a:rPr lang="es-PE" sz="1800" dirty="0"/>
                        <a:t>.=0.04 (0) + 0.08 (22046) = </a:t>
                      </a:r>
                      <a:r>
                        <a:rPr lang="es-PE" sz="1800" dirty="0">
                          <a:solidFill>
                            <a:srgbClr val="FF0000"/>
                          </a:solidFill>
                        </a:rPr>
                        <a:t>1763,68</a:t>
                      </a:r>
                      <a:endParaRPr lang="es-PE" dirty="0"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552166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s-PE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800" dirty="0"/>
                        <a:t>Z= 0,30 (0) + 0,50 (22046) = </a:t>
                      </a:r>
                      <a:r>
                        <a:rPr lang="es-PE" sz="1800" dirty="0">
                          <a:solidFill>
                            <a:srgbClr val="FF0000"/>
                          </a:solidFill>
                        </a:rPr>
                        <a:t>$ 11023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9017813"/>
                  </a:ext>
                </a:extLst>
              </a:tr>
            </a:tbl>
          </a:graphicData>
        </a:graphic>
      </p:graphicFrame>
      <p:sp>
        <p:nvSpPr>
          <p:cNvPr id="5" name="Rectángulo 4">
            <a:extLst>
              <a:ext uri="{FF2B5EF4-FFF2-40B4-BE49-F238E27FC236}">
                <a16:creationId xmlns:a16="http://schemas.microsoft.com/office/drawing/2014/main" id="{AC798DBF-D332-4FCF-96F2-BB9A17C13657}"/>
              </a:ext>
            </a:extLst>
          </p:cNvPr>
          <p:cNvSpPr/>
          <p:nvPr/>
        </p:nvSpPr>
        <p:spPr>
          <a:xfrm>
            <a:off x="580845" y="1373945"/>
            <a:ext cx="4094672" cy="1631216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lvl="1" indent="-457200" algn="just"/>
            <a:r>
              <a:rPr lang="es-ES" sz="2000" dirty="0">
                <a:latin typeface="Arial" panose="020B0604020202020204" pitchFamily="34" charset="0"/>
                <a:ea typeface="Calibri" panose="020F0502020204030204" pitchFamily="34" charset="0"/>
              </a:rPr>
              <a:t>Max </a:t>
            </a:r>
            <a:r>
              <a:rPr lang="es-ES" sz="2000" dirty="0" err="1">
                <a:latin typeface="Arial" panose="020B0604020202020204" pitchFamily="34" charset="0"/>
                <a:ea typeface="Calibri" panose="020F0502020204030204" pitchFamily="34" charset="0"/>
              </a:rPr>
              <a:t>0.30MH</a:t>
            </a:r>
            <a:r>
              <a:rPr lang="es-ES" sz="2000" dirty="0">
                <a:latin typeface="Arial" panose="020B0604020202020204" pitchFamily="34" charset="0"/>
                <a:ea typeface="Calibri" panose="020F0502020204030204" pitchFamily="34" charset="0"/>
              </a:rPr>
              <a:t> + 0.50 MC</a:t>
            </a:r>
            <a:endParaRPr lang="es-ES" sz="20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algn="just"/>
            <a:r>
              <a:rPr lang="es-ES" sz="2000" dirty="0">
                <a:latin typeface="Arial" panose="020B0604020202020204" pitchFamily="34" charset="0"/>
                <a:ea typeface="Calibri" panose="020F0502020204030204" pitchFamily="34" charset="0"/>
              </a:rPr>
              <a:t>Dependiendo de:</a:t>
            </a:r>
            <a:endParaRPr lang="es-ES" sz="20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lvl="1" indent="-457200" algn="just"/>
            <a:r>
              <a:rPr lang="es-ES" sz="2000" dirty="0" err="1">
                <a:latin typeface="Arial" panose="020B0604020202020204" pitchFamily="34" charset="0"/>
                <a:ea typeface="Calibri" panose="020F0502020204030204" pitchFamily="34" charset="0"/>
              </a:rPr>
              <a:t>0.04MH</a:t>
            </a:r>
            <a:r>
              <a:rPr lang="es-ES" sz="2000" dirty="0">
                <a:latin typeface="Arial" panose="020B0604020202020204" pitchFamily="34" charset="0"/>
                <a:ea typeface="Calibri" panose="020F0502020204030204" pitchFamily="34" charset="0"/>
              </a:rPr>
              <a:t> + 0.08 MC </a:t>
            </a:r>
            <a:r>
              <a:rPr lang="es-ES" sz="2000" dirty="0">
                <a:latin typeface="Symbol" panose="05050102010706020507" pitchFamily="18" charset="2"/>
                <a:ea typeface="Calibri" panose="020F0502020204030204" pitchFamily="34" charset="0"/>
              </a:rPr>
              <a:t>£</a:t>
            </a:r>
            <a:r>
              <a:rPr lang="es-ES" sz="2000" dirty="0">
                <a:latin typeface="Arial" panose="020B0604020202020204" pitchFamily="34" charset="0"/>
                <a:ea typeface="Calibri" panose="020F0502020204030204" pitchFamily="34" charset="0"/>
              </a:rPr>
              <a:t>1200</a:t>
            </a:r>
            <a:endParaRPr lang="es-ES" sz="20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lvl="1" indent="-457200" algn="just"/>
            <a:r>
              <a:rPr lang="es-ES" sz="2000" dirty="0">
                <a:latin typeface="Arial" panose="020B0604020202020204" pitchFamily="34" charset="0"/>
                <a:ea typeface="Calibri" panose="020F0502020204030204" pitchFamily="34" charset="0"/>
              </a:rPr>
              <a:t>                </a:t>
            </a:r>
            <a:r>
              <a:rPr lang="es-ES" sz="2000" dirty="0" err="1">
                <a:latin typeface="Arial" panose="020B0604020202020204" pitchFamily="34" charset="0"/>
                <a:ea typeface="Calibri" panose="020F0502020204030204" pitchFamily="34" charset="0"/>
              </a:rPr>
              <a:t>MH</a:t>
            </a:r>
            <a:r>
              <a:rPr lang="es-ES" sz="2000" dirty="0">
                <a:latin typeface="Arial" panose="020B0604020202020204" pitchFamily="34" charset="0"/>
                <a:ea typeface="Calibri" panose="020F0502020204030204" pitchFamily="34" charset="0"/>
              </a:rPr>
              <a:t> +MC </a:t>
            </a:r>
            <a:r>
              <a:rPr lang="es-ES" sz="2000" dirty="0">
                <a:latin typeface="Symbol" panose="05050102010706020507" pitchFamily="18" charset="2"/>
                <a:ea typeface="Calibri" panose="020F0502020204030204" pitchFamily="34" charset="0"/>
              </a:rPr>
              <a:t>£</a:t>
            </a:r>
            <a:r>
              <a:rPr lang="es-ES" sz="2000" dirty="0">
                <a:latin typeface="Arial" panose="020B0604020202020204" pitchFamily="34" charset="0"/>
                <a:ea typeface="Calibri" panose="020F0502020204030204" pitchFamily="34" charset="0"/>
              </a:rPr>
              <a:t> 22046</a:t>
            </a:r>
            <a:endParaRPr lang="es-ES" sz="20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algn="just"/>
            <a:r>
              <a:rPr lang="es-ES" sz="2000" dirty="0">
                <a:latin typeface="Arial" panose="020B0604020202020204" pitchFamily="34" charset="0"/>
                <a:ea typeface="Calibri" panose="020F0502020204030204" pitchFamily="34" charset="0"/>
              </a:rPr>
              <a:t>                 </a:t>
            </a:r>
            <a:r>
              <a:rPr lang="es-ES" sz="2000" dirty="0" err="1">
                <a:latin typeface="Arial" panose="020B0604020202020204" pitchFamily="34" charset="0"/>
                <a:ea typeface="Calibri" panose="020F0502020204030204" pitchFamily="34" charset="0"/>
              </a:rPr>
              <a:t>MH</a:t>
            </a:r>
            <a:r>
              <a:rPr lang="es-ES" sz="2000" dirty="0">
                <a:latin typeface="Arial" panose="020B0604020202020204" pitchFamily="34" charset="0"/>
                <a:ea typeface="Calibri" panose="020F0502020204030204" pitchFamily="34" charset="0"/>
              </a:rPr>
              <a:t>, MC </a:t>
            </a:r>
            <a:r>
              <a:rPr lang="es-ES" sz="2000" dirty="0">
                <a:latin typeface="Symbol" panose="05050102010706020507" pitchFamily="18" charset="2"/>
                <a:ea typeface="Calibri" panose="020F0502020204030204" pitchFamily="34" charset="0"/>
              </a:rPr>
              <a:t>³</a:t>
            </a:r>
            <a:r>
              <a:rPr lang="es-ES" sz="2000" dirty="0">
                <a:latin typeface="Arial" panose="020B0604020202020204" pitchFamily="34" charset="0"/>
                <a:ea typeface="Calibri" panose="020F0502020204030204" pitchFamily="34" charset="0"/>
              </a:rPr>
              <a:t> 0</a:t>
            </a:r>
            <a:endParaRPr lang="es-PE" dirty="0"/>
          </a:p>
        </p:txBody>
      </p:sp>
      <p:sp>
        <p:nvSpPr>
          <p:cNvPr id="4" name="CustomShape 2">
            <a:extLst>
              <a:ext uri="{FF2B5EF4-FFF2-40B4-BE49-F238E27FC236}">
                <a16:creationId xmlns:a16="http://schemas.microsoft.com/office/drawing/2014/main" id="{123E3EE5-385C-4435-8397-D1999AF9FBD2}"/>
              </a:ext>
            </a:extLst>
          </p:cNvPr>
          <p:cNvSpPr/>
          <p:nvPr/>
        </p:nvSpPr>
        <p:spPr>
          <a:xfrm>
            <a:off x="6098874" y="284258"/>
            <a:ext cx="6093125" cy="578472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/>
            <a:r>
              <a:rPr lang="es-PE" sz="3200" dirty="0">
                <a:solidFill>
                  <a:schemeClr val="bg1"/>
                </a:solidFill>
                <a:latin typeface="Bauhaus 93" pitchFamily="82" charset="0"/>
              </a:rPr>
              <a:t>Problema 5</a:t>
            </a:r>
          </a:p>
        </p:txBody>
      </p:sp>
      <p:cxnSp>
        <p:nvCxnSpPr>
          <p:cNvPr id="2" name="Conector recto de flecha 1">
            <a:extLst>
              <a:ext uri="{FF2B5EF4-FFF2-40B4-BE49-F238E27FC236}">
                <a16:creationId xmlns:a16="http://schemas.microsoft.com/office/drawing/2014/main" id="{4A8299A1-38A6-13D4-4DE0-867DCE4D77BB}"/>
              </a:ext>
            </a:extLst>
          </p:cNvPr>
          <p:cNvCxnSpPr/>
          <p:nvPr/>
        </p:nvCxnSpPr>
        <p:spPr>
          <a:xfrm>
            <a:off x="465826" y="5589917"/>
            <a:ext cx="514997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6B8E962B-84EF-D9BF-97B9-49A864D292FD}"/>
              </a:ext>
            </a:extLst>
          </p:cNvPr>
          <p:cNvCxnSpPr>
            <a:cxnSpLocks/>
          </p:cNvCxnSpPr>
          <p:nvPr/>
        </p:nvCxnSpPr>
        <p:spPr>
          <a:xfrm flipV="1">
            <a:off x="1052422" y="3027872"/>
            <a:ext cx="0" cy="32090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64F1CC0C-A2F8-5FE5-F63E-65177651FE61}"/>
              </a:ext>
            </a:extLst>
          </p:cNvPr>
          <p:cNvSpPr txBox="1"/>
          <p:nvPr/>
        </p:nvSpPr>
        <p:spPr>
          <a:xfrm>
            <a:off x="5124091" y="5564038"/>
            <a:ext cx="612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/>
              <a:t>MH</a:t>
            </a:r>
            <a:endParaRPr lang="es-PE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F8DB0854-82A1-D46F-D283-7ABB79227B36}"/>
              </a:ext>
            </a:extLst>
          </p:cNvPr>
          <p:cNvSpPr txBox="1"/>
          <p:nvPr/>
        </p:nvSpPr>
        <p:spPr>
          <a:xfrm>
            <a:off x="517585" y="2921487"/>
            <a:ext cx="526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MC</a:t>
            </a:r>
            <a:endParaRPr lang="es-PE" dirty="0"/>
          </a:p>
        </p:txBody>
      </p: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10CD29BC-C980-4299-2742-9B0B82613F25}"/>
              </a:ext>
            </a:extLst>
          </p:cNvPr>
          <p:cNvCxnSpPr>
            <a:cxnSpLocks/>
          </p:cNvCxnSpPr>
          <p:nvPr/>
        </p:nvCxnSpPr>
        <p:spPr>
          <a:xfrm flipH="1">
            <a:off x="698739" y="4416725"/>
            <a:ext cx="94891" cy="189781"/>
          </a:xfrm>
          <a:prstGeom prst="straightConnector1">
            <a:avLst/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4C93B18E-5430-852F-6D43-4C0861D90F71}"/>
              </a:ext>
            </a:extLst>
          </p:cNvPr>
          <p:cNvCxnSpPr>
            <a:cxnSpLocks/>
          </p:cNvCxnSpPr>
          <p:nvPr/>
        </p:nvCxnSpPr>
        <p:spPr>
          <a:xfrm flipH="1">
            <a:off x="845389" y="3856007"/>
            <a:ext cx="155286" cy="172528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BEFDB009-B2D2-046B-1B41-18584956FEB9}"/>
              </a:ext>
            </a:extLst>
          </p:cNvPr>
          <p:cNvCxnSpPr>
            <a:cxnSpLocks/>
          </p:cNvCxnSpPr>
          <p:nvPr/>
        </p:nvCxnSpPr>
        <p:spPr>
          <a:xfrm>
            <a:off x="992038" y="3864634"/>
            <a:ext cx="1777041" cy="1880558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1C176D81-C67C-B591-C5B5-2DDBD1B47E6D}"/>
              </a:ext>
            </a:extLst>
          </p:cNvPr>
          <p:cNvCxnSpPr>
            <a:cxnSpLocks/>
          </p:cNvCxnSpPr>
          <p:nvPr/>
        </p:nvCxnSpPr>
        <p:spPr>
          <a:xfrm>
            <a:off x="785004" y="4399472"/>
            <a:ext cx="2958860" cy="1440611"/>
          </a:xfrm>
          <a:prstGeom prst="line">
            <a:avLst/>
          </a:prstGeom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C904F054-7FF9-748E-1CAA-71B0ED0B5A39}"/>
              </a:ext>
            </a:extLst>
          </p:cNvPr>
          <p:cNvCxnSpPr>
            <a:cxnSpLocks/>
          </p:cNvCxnSpPr>
          <p:nvPr/>
        </p:nvCxnSpPr>
        <p:spPr>
          <a:xfrm>
            <a:off x="464389" y="4031951"/>
            <a:ext cx="3822939" cy="2377476"/>
          </a:xfrm>
          <a:prstGeom prst="line">
            <a:avLst/>
          </a:prstGeom>
          <a:ln w="254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Elipse 13">
            <a:extLst>
              <a:ext uri="{FF2B5EF4-FFF2-40B4-BE49-F238E27FC236}">
                <a16:creationId xmlns:a16="http://schemas.microsoft.com/office/drawing/2014/main" id="{D5DD99B7-ED35-6C0C-695B-DCBC7C691948}"/>
              </a:ext>
            </a:extLst>
          </p:cNvPr>
          <p:cNvSpPr/>
          <p:nvPr/>
        </p:nvSpPr>
        <p:spPr>
          <a:xfrm>
            <a:off x="2077349" y="5001524"/>
            <a:ext cx="57150" cy="5715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54ED3614-3DF3-A42F-7148-23960DA3C96C}"/>
              </a:ext>
            </a:extLst>
          </p:cNvPr>
          <p:cNvSpPr txBox="1"/>
          <p:nvPr/>
        </p:nvSpPr>
        <p:spPr>
          <a:xfrm>
            <a:off x="258793" y="3244334"/>
            <a:ext cx="799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30000</a:t>
            </a:r>
            <a:endParaRPr lang="es-PE" dirty="0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4A26725B-664C-2376-F32C-9CE1777CCCDB}"/>
              </a:ext>
            </a:extLst>
          </p:cNvPr>
          <p:cNvSpPr txBox="1"/>
          <p:nvPr/>
        </p:nvSpPr>
        <p:spPr>
          <a:xfrm>
            <a:off x="2895598" y="5585130"/>
            <a:ext cx="7706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30000</a:t>
            </a:r>
            <a:endParaRPr lang="es-PE" dirty="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8A507D55-6908-46D0-AA43-02D174312D75}"/>
              </a:ext>
            </a:extLst>
          </p:cNvPr>
          <p:cNvSpPr txBox="1"/>
          <p:nvPr/>
        </p:nvSpPr>
        <p:spPr>
          <a:xfrm>
            <a:off x="2154148" y="5583417"/>
            <a:ext cx="770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20000</a:t>
            </a:r>
            <a:endParaRPr lang="es-PE" dirty="0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3BFFE93A-5A39-502E-55B8-7497FE9DBAF8}"/>
              </a:ext>
            </a:extLst>
          </p:cNvPr>
          <p:cNvSpPr txBox="1"/>
          <p:nvPr/>
        </p:nvSpPr>
        <p:spPr>
          <a:xfrm>
            <a:off x="1354347" y="5571431"/>
            <a:ext cx="7878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10000</a:t>
            </a:r>
            <a:endParaRPr lang="es-PE" dirty="0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0F80F15C-C816-46EC-D6DD-72956C5CA87F}"/>
              </a:ext>
            </a:extLst>
          </p:cNvPr>
          <p:cNvSpPr txBox="1"/>
          <p:nvPr/>
        </p:nvSpPr>
        <p:spPr>
          <a:xfrm>
            <a:off x="293298" y="3961812"/>
            <a:ext cx="7735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20000</a:t>
            </a:r>
            <a:endParaRPr lang="es-PE"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A1D8B453-4876-6113-B1B7-4EBB28D60952}"/>
              </a:ext>
            </a:extLst>
          </p:cNvPr>
          <p:cNvSpPr txBox="1"/>
          <p:nvPr/>
        </p:nvSpPr>
        <p:spPr>
          <a:xfrm>
            <a:off x="284671" y="4679293"/>
            <a:ext cx="7976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10000</a:t>
            </a:r>
            <a:endParaRPr lang="es-PE" dirty="0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597EDC69-EBA6-154E-E0E9-20E15B079F95}"/>
              </a:ext>
            </a:extLst>
          </p:cNvPr>
          <p:cNvSpPr txBox="1"/>
          <p:nvPr/>
        </p:nvSpPr>
        <p:spPr>
          <a:xfrm>
            <a:off x="3643900" y="5583418"/>
            <a:ext cx="764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40000</a:t>
            </a:r>
            <a:endParaRPr lang="es-PE" dirty="0"/>
          </a:p>
        </p:txBody>
      </p:sp>
      <p:sp>
        <p:nvSpPr>
          <p:cNvPr id="22" name="Forma libre: forma 21">
            <a:extLst>
              <a:ext uri="{FF2B5EF4-FFF2-40B4-BE49-F238E27FC236}">
                <a16:creationId xmlns:a16="http://schemas.microsoft.com/office/drawing/2014/main" id="{733DB922-A80F-364F-5B75-D2EB0A0C3873}"/>
              </a:ext>
            </a:extLst>
          </p:cNvPr>
          <p:cNvSpPr/>
          <p:nvPr/>
        </p:nvSpPr>
        <p:spPr>
          <a:xfrm>
            <a:off x="1052423" y="4546121"/>
            <a:ext cx="1561381" cy="1052422"/>
          </a:xfrm>
          <a:custGeom>
            <a:avLst/>
            <a:gdLst>
              <a:gd name="connsiteX0" fmla="*/ 0 w 1561381"/>
              <a:gd name="connsiteY0" fmla="*/ 1043796 h 1052422"/>
              <a:gd name="connsiteX1" fmla="*/ 1561381 w 1561381"/>
              <a:gd name="connsiteY1" fmla="*/ 1052422 h 1052422"/>
              <a:gd name="connsiteX2" fmla="*/ 1052422 w 1561381"/>
              <a:gd name="connsiteY2" fmla="*/ 508958 h 1052422"/>
              <a:gd name="connsiteX3" fmla="*/ 0 w 1561381"/>
              <a:gd name="connsiteY3" fmla="*/ 0 h 1052422"/>
              <a:gd name="connsiteX4" fmla="*/ 0 w 1561381"/>
              <a:gd name="connsiteY4" fmla="*/ 1043796 h 1052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61381" h="1052422">
                <a:moveTo>
                  <a:pt x="0" y="1043796"/>
                </a:moveTo>
                <a:lnTo>
                  <a:pt x="1561381" y="1052422"/>
                </a:lnTo>
                <a:lnTo>
                  <a:pt x="1052422" y="508958"/>
                </a:lnTo>
                <a:lnTo>
                  <a:pt x="0" y="0"/>
                </a:lnTo>
                <a:cubicBezTo>
                  <a:pt x="2875" y="345057"/>
                  <a:pt x="5751" y="690113"/>
                  <a:pt x="0" y="1043796"/>
                </a:cubicBez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66368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33AD711B-2300-4E8D-ACDC-60BFF1FCEE33}"/>
              </a:ext>
            </a:extLst>
          </p:cNvPr>
          <p:cNvGraphicFramePr>
            <a:graphicFrameLocks noGrp="1"/>
          </p:cNvGraphicFramePr>
          <p:nvPr/>
        </p:nvGraphicFramePr>
        <p:xfrm>
          <a:off x="1528223" y="1391785"/>
          <a:ext cx="6364947" cy="18356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42623">
                  <a:extLst>
                    <a:ext uri="{9D8B030D-6E8A-4147-A177-3AD203B41FA5}">
                      <a16:colId xmlns:a16="http://schemas.microsoft.com/office/drawing/2014/main" val="1913106873"/>
                    </a:ext>
                  </a:extLst>
                </a:gridCol>
                <a:gridCol w="2696818">
                  <a:extLst>
                    <a:ext uri="{9D8B030D-6E8A-4147-A177-3AD203B41FA5}">
                      <a16:colId xmlns:a16="http://schemas.microsoft.com/office/drawing/2014/main" val="1350177835"/>
                    </a:ext>
                  </a:extLst>
                </a:gridCol>
                <a:gridCol w="1725506">
                  <a:extLst>
                    <a:ext uri="{9D8B030D-6E8A-4147-A177-3AD203B41FA5}">
                      <a16:colId xmlns:a16="http://schemas.microsoft.com/office/drawing/2014/main" val="6496561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>
                          <a:effectLst/>
                        </a:rPr>
                        <a:t>Valor del L.D.</a:t>
                      </a:r>
                      <a:endParaRPr lang="es-PE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>
                          <a:effectLst/>
                        </a:rPr>
                        <a:t>Solución óptima</a:t>
                      </a:r>
                      <a:endParaRPr lang="es-PE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>
                          <a:effectLst/>
                        </a:rPr>
                        <a:t>Valor de la F.O.</a:t>
                      </a:r>
                      <a:endParaRPr lang="es-ES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30777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>
                          <a:effectLst/>
                        </a:rPr>
                        <a:t>881.84</a:t>
                      </a:r>
                      <a:endParaRPr lang="es-PE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>
                          <a:effectLst/>
                        </a:rPr>
                        <a:t>MH = 22046 ; MC = 0</a:t>
                      </a:r>
                      <a:endParaRPr lang="es-PE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>
                          <a:effectLst/>
                        </a:rPr>
                        <a:t>6613.8</a:t>
                      </a:r>
                      <a:endParaRPr lang="es-PE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54384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dirty="0">
                          <a:solidFill>
                            <a:srgbClr val="FF0000"/>
                          </a:solidFill>
                          <a:effectLst/>
                        </a:rPr>
                        <a:t>1200</a:t>
                      </a:r>
                      <a:endParaRPr lang="es-P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dirty="0" err="1">
                          <a:solidFill>
                            <a:srgbClr val="FF0000"/>
                          </a:solidFill>
                          <a:effectLst/>
                        </a:rPr>
                        <a:t>MH</a:t>
                      </a:r>
                      <a:r>
                        <a:rPr lang="es-PE" dirty="0">
                          <a:solidFill>
                            <a:srgbClr val="FF0000"/>
                          </a:solidFill>
                          <a:effectLst/>
                        </a:rPr>
                        <a:t> = 14092; MC = 7954</a:t>
                      </a:r>
                      <a:endParaRPr lang="es-P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dirty="0">
                          <a:solidFill>
                            <a:srgbClr val="FF0000"/>
                          </a:solidFill>
                          <a:effectLst/>
                        </a:rPr>
                        <a:t>8204.6</a:t>
                      </a:r>
                      <a:endParaRPr lang="es-P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548560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>
                          <a:effectLst/>
                        </a:rPr>
                        <a:t>1763.68</a:t>
                      </a:r>
                      <a:endParaRPr lang="es-PE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>
                          <a:effectLst/>
                        </a:rPr>
                        <a:t>MH = 0 ; MC = 22046</a:t>
                      </a:r>
                      <a:endParaRPr lang="es-PE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dirty="0">
                          <a:effectLst/>
                        </a:rPr>
                        <a:t>11023</a:t>
                      </a:r>
                      <a:endParaRPr lang="es-PE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35704318"/>
                  </a:ext>
                </a:extLst>
              </a:tr>
            </a:tbl>
          </a:graphicData>
        </a:graphic>
      </p:graphicFrame>
      <p:sp>
        <p:nvSpPr>
          <p:cNvPr id="5" name="Rectángulo 4">
            <a:extLst>
              <a:ext uri="{FF2B5EF4-FFF2-40B4-BE49-F238E27FC236}">
                <a16:creationId xmlns:a16="http://schemas.microsoft.com/office/drawing/2014/main" id="{2805F207-7EAC-4477-A6B7-C16E735A6268}"/>
              </a:ext>
            </a:extLst>
          </p:cNvPr>
          <p:cNvSpPr/>
          <p:nvPr/>
        </p:nvSpPr>
        <p:spPr>
          <a:xfrm>
            <a:off x="1331343" y="3399844"/>
            <a:ext cx="9675962" cy="25355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dirty="0">
                <a:latin typeface="Arial" panose="020B0604020202020204" pitchFamily="34" charset="0"/>
                <a:ea typeface="Calibri" panose="020F0502020204030204" pitchFamily="34" charset="0"/>
              </a:rPr>
              <a:t>El precio sombra de la restricción I) será: 5					</a:t>
            </a:r>
            <a:endParaRPr lang="es-ES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s-ES" dirty="0">
                <a:latin typeface="Arial" panose="020B0604020202020204" pitchFamily="34" charset="0"/>
                <a:ea typeface="Calibri" panose="020F0502020204030204" pitchFamily="34" charset="0"/>
              </a:rPr>
              <a:t>Por cada unidad de capacidad de volumen adicional por encima de 1200 pies cúbicos y hasta 1763.68 pies cúbicos, el margen de ganancia corporativo aumentará en 5 de $100, es decir: $500. Mientras que por cada unidad de capacidad de volumen se disminuya hasta 881.84 pies cúbicos, el margen de ganancia bajará en $500.</a:t>
            </a:r>
            <a:br>
              <a:rPr lang="es-ES" dirty="0">
                <a:latin typeface="Arial" panose="020B0604020202020204" pitchFamily="34" charset="0"/>
                <a:ea typeface="Calibri" panose="020F0502020204030204" pitchFamily="34" charset="0"/>
              </a:rPr>
            </a:br>
            <a:endParaRPr lang="es-ES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graphicFrame>
        <p:nvGraphicFramePr>
          <p:cNvPr id="2" name="Objeto 1">
            <a:extLst>
              <a:ext uri="{FF2B5EF4-FFF2-40B4-BE49-F238E27FC236}">
                <a16:creationId xmlns:a16="http://schemas.microsoft.com/office/drawing/2014/main" id="{063E00A0-C45B-4653-8BA0-CE9E5B0D067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20584" y="2027416"/>
          <a:ext cx="2645943" cy="6985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587240" imgH="419040" progId="">
                  <p:embed/>
                </p:oleObj>
              </mc:Choice>
              <mc:Fallback>
                <p:oleObj r:id="rId2" imgW="1587240" imgH="419040" progId="">
                  <p:embed/>
                  <p:pic>
                    <p:nvPicPr>
                      <p:cNvPr id="2" name="Objeto 1">
                        <a:extLst>
                          <a:ext uri="{FF2B5EF4-FFF2-40B4-BE49-F238E27FC236}">
                            <a16:creationId xmlns:a16="http://schemas.microsoft.com/office/drawing/2014/main" id="{063E00A0-C45B-4653-8BA0-CE9E5B0D067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220584" y="2027416"/>
                        <a:ext cx="2645943" cy="69852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CustomShape 2">
            <a:extLst>
              <a:ext uri="{FF2B5EF4-FFF2-40B4-BE49-F238E27FC236}">
                <a16:creationId xmlns:a16="http://schemas.microsoft.com/office/drawing/2014/main" id="{181C4D8E-E772-4B50-B4C7-F45EFDA443A2}"/>
              </a:ext>
            </a:extLst>
          </p:cNvPr>
          <p:cNvSpPr/>
          <p:nvPr/>
        </p:nvSpPr>
        <p:spPr>
          <a:xfrm>
            <a:off x="6098874" y="284258"/>
            <a:ext cx="6093125" cy="578472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/>
            <a:r>
              <a:rPr lang="es-PE" sz="3200" dirty="0">
                <a:solidFill>
                  <a:schemeClr val="bg1"/>
                </a:solidFill>
                <a:latin typeface="Bauhaus 93" pitchFamily="82" charset="0"/>
              </a:rPr>
              <a:t>Problema 5</a:t>
            </a:r>
          </a:p>
        </p:txBody>
      </p:sp>
    </p:spTree>
    <p:extLst>
      <p:ext uri="{BB962C8B-B14F-4D97-AF65-F5344CB8AC3E}">
        <p14:creationId xmlns:p14="http://schemas.microsoft.com/office/powerpoint/2010/main" val="3922290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a 7">
            <a:extLst>
              <a:ext uri="{FF2B5EF4-FFF2-40B4-BE49-F238E27FC236}">
                <a16:creationId xmlns:a16="http://schemas.microsoft.com/office/drawing/2014/main" id="{6ECAE295-D796-42DC-AE81-652B484EC315}"/>
              </a:ext>
            </a:extLst>
          </p:cNvPr>
          <p:cNvGraphicFramePr>
            <a:graphicFrameLocks noGrp="1"/>
          </p:cNvGraphicFramePr>
          <p:nvPr/>
        </p:nvGraphicFramePr>
        <p:xfrm>
          <a:off x="5624423" y="3644017"/>
          <a:ext cx="6390255" cy="22939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1766">
                  <a:extLst>
                    <a:ext uri="{9D8B030D-6E8A-4147-A177-3AD203B41FA5}">
                      <a16:colId xmlns:a16="http://schemas.microsoft.com/office/drawing/2014/main" val="3804144040"/>
                    </a:ext>
                  </a:extLst>
                </a:gridCol>
                <a:gridCol w="4768489">
                  <a:extLst>
                    <a:ext uri="{9D8B030D-6E8A-4147-A177-3AD203B41FA5}">
                      <a16:colId xmlns:a16="http://schemas.microsoft.com/office/drawing/2014/main" val="2858789546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s-PE" sz="1800" dirty="0"/>
                        <a:t>Análisis de Sensibilidad del Lado Derecho de la II Restricción: 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s-ES" dirty="0" err="1"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MH</a:t>
                      </a:r>
                      <a:r>
                        <a:rPr lang="es-ES" dirty="0"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+ MC = 22016 </a:t>
                      </a:r>
                      <a:endParaRPr lang="es-PE" sz="18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s-P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6824585"/>
                  </a:ext>
                </a:extLst>
              </a:tr>
              <a:tr h="541346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s-PE" sz="1800" dirty="0"/>
                        <a:t>En (30000, 0)</a:t>
                      </a:r>
                      <a:endParaRPr lang="es-PE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800" dirty="0" err="1"/>
                        <a:t>V.L.D</a:t>
                      </a:r>
                      <a:r>
                        <a:rPr lang="es-PE" sz="1800" dirty="0"/>
                        <a:t>.= 30000 + 0 = </a:t>
                      </a:r>
                      <a:r>
                        <a:rPr lang="es-PE" sz="1800" dirty="0">
                          <a:solidFill>
                            <a:srgbClr val="FF0000"/>
                          </a:solidFill>
                        </a:rPr>
                        <a:t>30000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971950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s-P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800" dirty="0"/>
                        <a:t>Z=0,30(30000) + 0,50(0) = </a:t>
                      </a:r>
                      <a:r>
                        <a:rPr lang="es-PE" sz="1800" dirty="0">
                          <a:solidFill>
                            <a:srgbClr val="FF0000"/>
                          </a:solidFill>
                        </a:rPr>
                        <a:t>$ 9000</a:t>
                      </a:r>
                      <a:endParaRPr lang="es-PE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9105990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800" dirty="0"/>
                        <a:t>En (0, 15000)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endParaRPr lang="es-PE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800" dirty="0" err="1"/>
                        <a:t>V.L.D</a:t>
                      </a:r>
                      <a:r>
                        <a:rPr lang="es-PE" sz="1800" dirty="0"/>
                        <a:t>.= 0 + 15000 = </a:t>
                      </a:r>
                      <a:r>
                        <a:rPr lang="es-PE" sz="1800" dirty="0">
                          <a:solidFill>
                            <a:srgbClr val="FF0000"/>
                          </a:solidFill>
                        </a:rPr>
                        <a:t>15000</a:t>
                      </a:r>
                      <a:endParaRPr lang="es-PE" dirty="0"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552166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s-PE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800" dirty="0"/>
                        <a:t>Z= 0,30 (0) + 0,50 (15000) = </a:t>
                      </a:r>
                      <a:r>
                        <a:rPr lang="es-PE" sz="1800" dirty="0">
                          <a:solidFill>
                            <a:srgbClr val="FF0000"/>
                          </a:solidFill>
                        </a:rPr>
                        <a:t>$ 7500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9017813"/>
                  </a:ext>
                </a:extLst>
              </a:tr>
            </a:tbl>
          </a:graphicData>
        </a:graphic>
      </p:graphicFrame>
      <p:sp>
        <p:nvSpPr>
          <p:cNvPr id="4" name="Rectángulo 3">
            <a:extLst>
              <a:ext uri="{FF2B5EF4-FFF2-40B4-BE49-F238E27FC236}">
                <a16:creationId xmlns:a16="http://schemas.microsoft.com/office/drawing/2014/main" id="{5785BA9B-66FC-4A03-95B1-0E40C7D495AD}"/>
              </a:ext>
            </a:extLst>
          </p:cNvPr>
          <p:cNvSpPr/>
          <p:nvPr/>
        </p:nvSpPr>
        <p:spPr>
          <a:xfrm>
            <a:off x="580845" y="1373945"/>
            <a:ext cx="4094672" cy="1631216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lvl="1" indent="-457200" algn="just"/>
            <a:r>
              <a:rPr lang="es-ES" sz="2000" dirty="0">
                <a:latin typeface="Arial" panose="020B0604020202020204" pitchFamily="34" charset="0"/>
                <a:ea typeface="Calibri" panose="020F0502020204030204" pitchFamily="34" charset="0"/>
              </a:rPr>
              <a:t>Max </a:t>
            </a:r>
            <a:r>
              <a:rPr lang="es-ES" sz="2000" dirty="0" err="1">
                <a:latin typeface="Arial" panose="020B0604020202020204" pitchFamily="34" charset="0"/>
                <a:ea typeface="Calibri" panose="020F0502020204030204" pitchFamily="34" charset="0"/>
              </a:rPr>
              <a:t>0.30MH</a:t>
            </a:r>
            <a:r>
              <a:rPr lang="es-ES" sz="2000" dirty="0">
                <a:latin typeface="Arial" panose="020B0604020202020204" pitchFamily="34" charset="0"/>
                <a:ea typeface="Calibri" panose="020F0502020204030204" pitchFamily="34" charset="0"/>
              </a:rPr>
              <a:t> + 0.50 MC</a:t>
            </a:r>
            <a:endParaRPr lang="es-ES" sz="20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algn="just"/>
            <a:r>
              <a:rPr lang="es-ES" sz="2000" dirty="0">
                <a:latin typeface="Arial" panose="020B0604020202020204" pitchFamily="34" charset="0"/>
                <a:ea typeface="Calibri" panose="020F0502020204030204" pitchFamily="34" charset="0"/>
              </a:rPr>
              <a:t>Dependiendo de:</a:t>
            </a:r>
            <a:endParaRPr lang="es-ES" sz="20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lvl="1" indent="-457200" algn="just"/>
            <a:r>
              <a:rPr lang="es-ES" sz="2000" dirty="0" err="1">
                <a:latin typeface="Arial" panose="020B0604020202020204" pitchFamily="34" charset="0"/>
                <a:ea typeface="Calibri" panose="020F0502020204030204" pitchFamily="34" charset="0"/>
              </a:rPr>
              <a:t>0.04MH</a:t>
            </a:r>
            <a:r>
              <a:rPr lang="es-ES" sz="2000" dirty="0">
                <a:latin typeface="Arial" panose="020B0604020202020204" pitchFamily="34" charset="0"/>
                <a:ea typeface="Calibri" panose="020F0502020204030204" pitchFamily="34" charset="0"/>
              </a:rPr>
              <a:t> + 0.08 MC </a:t>
            </a:r>
            <a:r>
              <a:rPr lang="es-ES" sz="2000" dirty="0">
                <a:latin typeface="Symbol" panose="05050102010706020507" pitchFamily="18" charset="2"/>
                <a:ea typeface="Calibri" panose="020F0502020204030204" pitchFamily="34" charset="0"/>
              </a:rPr>
              <a:t>£</a:t>
            </a:r>
            <a:r>
              <a:rPr lang="es-ES" sz="2000" dirty="0">
                <a:latin typeface="Arial" panose="020B0604020202020204" pitchFamily="34" charset="0"/>
                <a:ea typeface="Calibri" panose="020F0502020204030204" pitchFamily="34" charset="0"/>
              </a:rPr>
              <a:t>1200</a:t>
            </a:r>
            <a:endParaRPr lang="es-ES" sz="20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lvl="1" indent="-457200" algn="just"/>
            <a:r>
              <a:rPr lang="es-ES" sz="2000" dirty="0" err="1">
                <a:latin typeface="Arial" panose="020B0604020202020204" pitchFamily="34" charset="0"/>
                <a:ea typeface="Calibri" panose="020F0502020204030204" pitchFamily="34" charset="0"/>
              </a:rPr>
              <a:t>MH</a:t>
            </a:r>
            <a:r>
              <a:rPr lang="es-ES" sz="2000" dirty="0">
                <a:latin typeface="Arial" panose="020B0604020202020204" pitchFamily="34" charset="0"/>
                <a:ea typeface="Calibri" panose="020F0502020204030204" pitchFamily="34" charset="0"/>
              </a:rPr>
              <a:t> +MC </a:t>
            </a:r>
            <a:r>
              <a:rPr lang="es-ES" sz="2000" dirty="0">
                <a:latin typeface="Symbol" panose="05050102010706020507" pitchFamily="18" charset="2"/>
                <a:ea typeface="Calibri" panose="020F0502020204030204" pitchFamily="34" charset="0"/>
              </a:rPr>
              <a:t>£</a:t>
            </a:r>
            <a:r>
              <a:rPr lang="es-ES" sz="2000" dirty="0">
                <a:latin typeface="Arial" panose="020B0604020202020204" pitchFamily="34" charset="0"/>
                <a:ea typeface="Calibri" panose="020F0502020204030204" pitchFamily="34" charset="0"/>
              </a:rPr>
              <a:t> 22046</a:t>
            </a:r>
            <a:endParaRPr lang="es-ES" sz="20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algn="just"/>
            <a:r>
              <a:rPr lang="es-ES" sz="2000" dirty="0" err="1">
                <a:latin typeface="Arial" panose="020B0604020202020204" pitchFamily="34" charset="0"/>
                <a:ea typeface="Calibri" panose="020F0502020204030204" pitchFamily="34" charset="0"/>
              </a:rPr>
              <a:t>MH,MC</a:t>
            </a:r>
            <a:r>
              <a:rPr lang="es-ES" sz="2000" dirty="0" err="1">
                <a:latin typeface="Symbol" panose="05050102010706020507" pitchFamily="18" charset="2"/>
                <a:ea typeface="Calibri" panose="020F0502020204030204" pitchFamily="34" charset="0"/>
              </a:rPr>
              <a:t>³</a:t>
            </a:r>
            <a:r>
              <a:rPr lang="es-ES" sz="2000" dirty="0">
                <a:latin typeface="Arial" panose="020B0604020202020204" pitchFamily="34" charset="0"/>
                <a:ea typeface="Calibri" panose="020F0502020204030204" pitchFamily="34" charset="0"/>
              </a:rPr>
              <a:t> 0</a:t>
            </a:r>
            <a:endParaRPr lang="es-PE" dirty="0"/>
          </a:p>
        </p:txBody>
      </p:sp>
      <p:sp>
        <p:nvSpPr>
          <p:cNvPr id="5" name="CustomShape 2">
            <a:extLst>
              <a:ext uri="{FF2B5EF4-FFF2-40B4-BE49-F238E27FC236}">
                <a16:creationId xmlns:a16="http://schemas.microsoft.com/office/drawing/2014/main" id="{1DAB9D73-9ACA-4D7C-91EE-E7F0EA9D5E1E}"/>
              </a:ext>
            </a:extLst>
          </p:cNvPr>
          <p:cNvSpPr/>
          <p:nvPr/>
        </p:nvSpPr>
        <p:spPr>
          <a:xfrm>
            <a:off x="6098874" y="284258"/>
            <a:ext cx="6093125" cy="578472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/>
            <a:r>
              <a:rPr lang="es-PE" sz="3200" dirty="0">
                <a:solidFill>
                  <a:schemeClr val="bg1"/>
                </a:solidFill>
                <a:latin typeface="Bauhaus 93" pitchFamily="82" charset="0"/>
              </a:rPr>
              <a:t>Problema 5</a:t>
            </a:r>
          </a:p>
        </p:txBody>
      </p:sp>
      <p:cxnSp>
        <p:nvCxnSpPr>
          <p:cNvPr id="2" name="Conector recto de flecha 1">
            <a:extLst>
              <a:ext uri="{FF2B5EF4-FFF2-40B4-BE49-F238E27FC236}">
                <a16:creationId xmlns:a16="http://schemas.microsoft.com/office/drawing/2014/main" id="{CE83BC22-FB06-450B-1135-4844C9BA2BCC}"/>
              </a:ext>
            </a:extLst>
          </p:cNvPr>
          <p:cNvCxnSpPr/>
          <p:nvPr/>
        </p:nvCxnSpPr>
        <p:spPr>
          <a:xfrm>
            <a:off x="465826" y="5589917"/>
            <a:ext cx="514997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577CDD5F-8571-6669-B0A5-F71D071EF7A4}"/>
              </a:ext>
            </a:extLst>
          </p:cNvPr>
          <p:cNvCxnSpPr>
            <a:cxnSpLocks/>
          </p:cNvCxnSpPr>
          <p:nvPr/>
        </p:nvCxnSpPr>
        <p:spPr>
          <a:xfrm flipV="1">
            <a:off x="1052422" y="3027872"/>
            <a:ext cx="0" cy="32090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72B49779-A28A-FBB7-FFB5-0CD49731667A}"/>
              </a:ext>
            </a:extLst>
          </p:cNvPr>
          <p:cNvSpPr txBox="1"/>
          <p:nvPr/>
        </p:nvSpPr>
        <p:spPr>
          <a:xfrm>
            <a:off x="5124091" y="5564038"/>
            <a:ext cx="612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/>
              <a:t>MH</a:t>
            </a:r>
            <a:endParaRPr lang="es-PE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AF9A819-4DE4-4F91-DD6D-23E63CDA3C1D}"/>
              </a:ext>
            </a:extLst>
          </p:cNvPr>
          <p:cNvSpPr txBox="1"/>
          <p:nvPr/>
        </p:nvSpPr>
        <p:spPr>
          <a:xfrm>
            <a:off x="517585" y="2921487"/>
            <a:ext cx="526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MC</a:t>
            </a:r>
            <a:endParaRPr lang="es-PE" dirty="0"/>
          </a:p>
        </p:txBody>
      </p: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5D828E81-5CB7-E8B8-AE95-79388541BCA9}"/>
              </a:ext>
            </a:extLst>
          </p:cNvPr>
          <p:cNvCxnSpPr>
            <a:cxnSpLocks/>
          </p:cNvCxnSpPr>
          <p:nvPr/>
        </p:nvCxnSpPr>
        <p:spPr>
          <a:xfrm flipH="1">
            <a:off x="698739" y="4416725"/>
            <a:ext cx="94891" cy="189781"/>
          </a:xfrm>
          <a:prstGeom prst="straightConnector1">
            <a:avLst/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29FDC625-6E11-6A64-F0E3-D0F6F3BCDB65}"/>
              </a:ext>
            </a:extLst>
          </p:cNvPr>
          <p:cNvCxnSpPr>
            <a:cxnSpLocks/>
          </p:cNvCxnSpPr>
          <p:nvPr/>
        </p:nvCxnSpPr>
        <p:spPr>
          <a:xfrm flipH="1">
            <a:off x="845389" y="3856007"/>
            <a:ext cx="155286" cy="172528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D9FCC320-4D66-9DAA-8199-F06CBE301532}"/>
              </a:ext>
            </a:extLst>
          </p:cNvPr>
          <p:cNvCxnSpPr>
            <a:cxnSpLocks/>
          </p:cNvCxnSpPr>
          <p:nvPr/>
        </p:nvCxnSpPr>
        <p:spPr>
          <a:xfrm>
            <a:off x="992038" y="3864634"/>
            <a:ext cx="1777041" cy="1880558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B4F3A7BE-4E82-4075-1AC8-9A7DE7745963}"/>
              </a:ext>
            </a:extLst>
          </p:cNvPr>
          <p:cNvCxnSpPr>
            <a:cxnSpLocks/>
          </p:cNvCxnSpPr>
          <p:nvPr/>
        </p:nvCxnSpPr>
        <p:spPr>
          <a:xfrm>
            <a:off x="785004" y="4399472"/>
            <a:ext cx="2958860" cy="1440611"/>
          </a:xfrm>
          <a:prstGeom prst="line">
            <a:avLst/>
          </a:prstGeom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AE385BAC-AA06-23BC-1D30-D91B21DAB22D}"/>
              </a:ext>
            </a:extLst>
          </p:cNvPr>
          <p:cNvCxnSpPr>
            <a:cxnSpLocks/>
          </p:cNvCxnSpPr>
          <p:nvPr/>
        </p:nvCxnSpPr>
        <p:spPr>
          <a:xfrm>
            <a:off x="464389" y="4031951"/>
            <a:ext cx="3822939" cy="2377476"/>
          </a:xfrm>
          <a:prstGeom prst="line">
            <a:avLst/>
          </a:prstGeom>
          <a:ln w="254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Elipse 13">
            <a:extLst>
              <a:ext uri="{FF2B5EF4-FFF2-40B4-BE49-F238E27FC236}">
                <a16:creationId xmlns:a16="http://schemas.microsoft.com/office/drawing/2014/main" id="{8CDFB9CB-8A7E-9C05-B5CD-33D10FD6640A}"/>
              </a:ext>
            </a:extLst>
          </p:cNvPr>
          <p:cNvSpPr/>
          <p:nvPr/>
        </p:nvSpPr>
        <p:spPr>
          <a:xfrm>
            <a:off x="2077349" y="5001524"/>
            <a:ext cx="57150" cy="5715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43746FFE-C99B-A267-29EA-7D476B217608}"/>
              </a:ext>
            </a:extLst>
          </p:cNvPr>
          <p:cNvSpPr txBox="1"/>
          <p:nvPr/>
        </p:nvSpPr>
        <p:spPr>
          <a:xfrm>
            <a:off x="258793" y="3244334"/>
            <a:ext cx="799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30000</a:t>
            </a:r>
            <a:endParaRPr lang="es-PE" dirty="0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821B22BE-4A6B-23B5-A10D-3206E8FB82B1}"/>
              </a:ext>
            </a:extLst>
          </p:cNvPr>
          <p:cNvSpPr txBox="1"/>
          <p:nvPr/>
        </p:nvSpPr>
        <p:spPr>
          <a:xfrm>
            <a:off x="2895598" y="5585130"/>
            <a:ext cx="7706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30000</a:t>
            </a:r>
            <a:endParaRPr lang="es-PE" dirty="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C822ED98-16AE-0E83-456E-4986D903D6B5}"/>
              </a:ext>
            </a:extLst>
          </p:cNvPr>
          <p:cNvSpPr txBox="1"/>
          <p:nvPr/>
        </p:nvSpPr>
        <p:spPr>
          <a:xfrm>
            <a:off x="2154148" y="5583417"/>
            <a:ext cx="770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20000</a:t>
            </a:r>
            <a:endParaRPr lang="es-PE" dirty="0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26D8B11F-833C-B466-BFF1-252CB3A17DF9}"/>
              </a:ext>
            </a:extLst>
          </p:cNvPr>
          <p:cNvSpPr txBox="1"/>
          <p:nvPr/>
        </p:nvSpPr>
        <p:spPr>
          <a:xfrm>
            <a:off x="1354347" y="5571431"/>
            <a:ext cx="7878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10000</a:t>
            </a:r>
            <a:endParaRPr lang="es-PE" dirty="0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87679906-C73A-929F-35E4-7428ED05F257}"/>
              </a:ext>
            </a:extLst>
          </p:cNvPr>
          <p:cNvSpPr txBox="1"/>
          <p:nvPr/>
        </p:nvSpPr>
        <p:spPr>
          <a:xfrm>
            <a:off x="293298" y="3961812"/>
            <a:ext cx="7735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20000</a:t>
            </a:r>
            <a:endParaRPr lang="es-PE"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E5BCB8EE-5140-C59F-9F45-7457B1A4257F}"/>
              </a:ext>
            </a:extLst>
          </p:cNvPr>
          <p:cNvSpPr txBox="1"/>
          <p:nvPr/>
        </p:nvSpPr>
        <p:spPr>
          <a:xfrm>
            <a:off x="284671" y="4679293"/>
            <a:ext cx="7976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10000</a:t>
            </a:r>
            <a:endParaRPr lang="es-PE" dirty="0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33FEC448-9ECC-93D8-72A9-8124FADA6D95}"/>
              </a:ext>
            </a:extLst>
          </p:cNvPr>
          <p:cNvSpPr txBox="1"/>
          <p:nvPr/>
        </p:nvSpPr>
        <p:spPr>
          <a:xfrm>
            <a:off x="3643900" y="5583418"/>
            <a:ext cx="764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40000</a:t>
            </a:r>
            <a:endParaRPr lang="es-PE" dirty="0"/>
          </a:p>
        </p:txBody>
      </p:sp>
      <p:sp>
        <p:nvSpPr>
          <p:cNvPr id="22" name="Forma libre: forma 21">
            <a:extLst>
              <a:ext uri="{FF2B5EF4-FFF2-40B4-BE49-F238E27FC236}">
                <a16:creationId xmlns:a16="http://schemas.microsoft.com/office/drawing/2014/main" id="{CFB66C1C-A21F-BB2D-74C7-00EEE435E282}"/>
              </a:ext>
            </a:extLst>
          </p:cNvPr>
          <p:cNvSpPr/>
          <p:nvPr/>
        </p:nvSpPr>
        <p:spPr>
          <a:xfrm>
            <a:off x="1052423" y="4546121"/>
            <a:ext cx="1561381" cy="1052422"/>
          </a:xfrm>
          <a:custGeom>
            <a:avLst/>
            <a:gdLst>
              <a:gd name="connsiteX0" fmla="*/ 0 w 1561381"/>
              <a:gd name="connsiteY0" fmla="*/ 1043796 h 1052422"/>
              <a:gd name="connsiteX1" fmla="*/ 1561381 w 1561381"/>
              <a:gd name="connsiteY1" fmla="*/ 1052422 h 1052422"/>
              <a:gd name="connsiteX2" fmla="*/ 1052422 w 1561381"/>
              <a:gd name="connsiteY2" fmla="*/ 508958 h 1052422"/>
              <a:gd name="connsiteX3" fmla="*/ 0 w 1561381"/>
              <a:gd name="connsiteY3" fmla="*/ 0 h 1052422"/>
              <a:gd name="connsiteX4" fmla="*/ 0 w 1561381"/>
              <a:gd name="connsiteY4" fmla="*/ 1043796 h 1052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61381" h="1052422">
                <a:moveTo>
                  <a:pt x="0" y="1043796"/>
                </a:moveTo>
                <a:lnTo>
                  <a:pt x="1561381" y="1052422"/>
                </a:lnTo>
                <a:lnTo>
                  <a:pt x="1052422" y="508958"/>
                </a:lnTo>
                <a:lnTo>
                  <a:pt x="0" y="0"/>
                </a:lnTo>
                <a:cubicBezTo>
                  <a:pt x="2875" y="345057"/>
                  <a:pt x="5751" y="690113"/>
                  <a:pt x="0" y="1043796"/>
                </a:cubicBez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64359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AF255CC8-E705-4F73-9841-C079AB7E9893}"/>
              </a:ext>
            </a:extLst>
          </p:cNvPr>
          <p:cNvGraphicFramePr>
            <a:graphicFrameLocks noGrp="1"/>
          </p:cNvGraphicFramePr>
          <p:nvPr/>
        </p:nvGraphicFramePr>
        <p:xfrm>
          <a:off x="1975623" y="1406451"/>
          <a:ext cx="6236719" cy="18356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66905">
                  <a:extLst>
                    <a:ext uri="{9D8B030D-6E8A-4147-A177-3AD203B41FA5}">
                      <a16:colId xmlns:a16="http://schemas.microsoft.com/office/drawing/2014/main" val="3123541195"/>
                    </a:ext>
                  </a:extLst>
                </a:gridCol>
                <a:gridCol w="2948267">
                  <a:extLst>
                    <a:ext uri="{9D8B030D-6E8A-4147-A177-3AD203B41FA5}">
                      <a16:colId xmlns:a16="http://schemas.microsoft.com/office/drawing/2014/main" val="611717641"/>
                    </a:ext>
                  </a:extLst>
                </a:gridCol>
                <a:gridCol w="1621547">
                  <a:extLst>
                    <a:ext uri="{9D8B030D-6E8A-4147-A177-3AD203B41FA5}">
                      <a16:colId xmlns:a16="http://schemas.microsoft.com/office/drawing/2014/main" val="27547181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>
                          <a:effectLst/>
                        </a:rPr>
                        <a:t>Valor del L.D.</a:t>
                      </a:r>
                      <a:endParaRPr lang="es-PE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>
                          <a:effectLst/>
                        </a:rPr>
                        <a:t>Solución óptima</a:t>
                      </a:r>
                      <a:endParaRPr lang="es-PE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>
                          <a:effectLst/>
                        </a:rPr>
                        <a:t>Valor de la F.O.</a:t>
                      </a:r>
                      <a:endParaRPr lang="es-ES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08741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>
                          <a:effectLst/>
                        </a:rPr>
                        <a:t>15000</a:t>
                      </a:r>
                      <a:endParaRPr lang="es-PE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>
                          <a:effectLst/>
                        </a:rPr>
                        <a:t>MH = 0 ; MC = 15000</a:t>
                      </a:r>
                      <a:endParaRPr lang="es-PE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>
                          <a:effectLst/>
                        </a:rPr>
                        <a:t>7500</a:t>
                      </a:r>
                      <a:endParaRPr lang="es-PE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273976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dirty="0">
                          <a:solidFill>
                            <a:srgbClr val="FF0000"/>
                          </a:solidFill>
                          <a:effectLst/>
                        </a:rPr>
                        <a:t>22046</a:t>
                      </a:r>
                      <a:endParaRPr lang="es-P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dirty="0" err="1">
                          <a:solidFill>
                            <a:srgbClr val="FF0000"/>
                          </a:solidFill>
                          <a:effectLst/>
                        </a:rPr>
                        <a:t>MH</a:t>
                      </a:r>
                      <a:r>
                        <a:rPr lang="es-PE" dirty="0">
                          <a:solidFill>
                            <a:srgbClr val="FF0000"/>
                          </a:solidFill>
                          <a:effectLst/>
                        </a:rPr>
                        <a:t> = 14092; MC = 7954</a:t>
                      </a:r>
                      <a:endParaRPr lang="es-P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dirty="0">
                          <a:solidFill>
                            <a:srgbClr val="FF0000"/>
                          </a:solidFill>
                          <a:effectLst/>
                        </a:rPr>
                        <a:t>8204.6</a:t>
                      </a:r>
                      <a:endParaRPr lang="es-P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27391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dirty="0">
                          <a:effectLst/>
                        </a:rPr>
                        <a:t>30000</a:t>
                      </a:r>
                      <a:endParaRPr lang="es-PE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dirty="0" err="1">
                          <a:effectLst/>
                        </a:rPr>
                        <a:t>MH</a:t>
                      </a:r>
                      <a:r>
                        <a:rPr lang="es-PE" dirty="0">
                          <a:effectLst/>
                        </a:rPr>
                        <a:t> = 30000 ; MC = 0</a:t>
                      </a:r>
                      <a:endParaRPr lang="es-PE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dirty="0">
                          <a:effectLst/>
                        </a:rPr>
                        <a:t>9000</a:t>
                      </a:r>
                      <a:endParaRPr lang="es-PE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95883234"/>
                  </a:ext>
                </a:extLst>
              </a:tr>
            </a:tbl>
          </a:graphicData>
        </a:graphic>
      </p:graphicFrame>
      <p:sp>
        <p:nvSpPr>
          <p:cNvPr id="3" name="Rectángulo 2">
            <a:extLst>
              <a:ext uri="{FF2B5EF4-FFF2-40B4-BE49-F238E27FC236}">
                <a16:creationId xmlns:a16="http://schemas.microsoft.com/office/drawing/2014/main" id="{76BD2F9D-6942-496A-B091-BB9DC9754261}"/>
              </a:ext>
            </a:extLst>
          </p:cNvPr>
          <p:cNvSpPr/>
          <p:nvPr/>
        </p:nvSpPr>
        <p:spPr>
          <a:xfrm>
            <a:off x="2078966" y="3639239"/>
            <a:ext cx="9040483" cy="21197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dirty="0">
                <a:latin typeface="Arial" panose="020B0604020202020204" pitchFamily="34" charset="0"/>
                <a:ea typeface="Calibri" panose="020F0502020204030204" pitchFamily="34" charset="0"/>
              </a:rPr>
              <a:t>El precio sombra de la restricción I será: 0,1</a:t>
            </a:r>
            <a:endParaRPr lang="es-ES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s-ES" dirty="0">
                <a:latin typeface="Arial" panose="020B0604020202020204" pitchFamily="34" charset="0"/>
                <a:ea typeface="Calibri" panose="020F0502020204030204" pitchFamily="34" charset="0"/>
              </a:rPr>
              <a:t>Por cada unidad de capacidad de peso adicional por encima de 22016 libras y hasta 30000 libras, el margen de ganancia corporativo aumentará en 0.1 de $100, es decir: $10. Mientras que por cada unidad de capacidad de peso que se disminuya hasta 15000 libras, el margen de ganancia bajará en $10.</a:t>
            </a:r>
            <a:endParaRPr lang="es-ES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graphicFrame>
        <p:nvGraphicFramePr>
          <p:cNvPr id="4" name="Objeto 3">
            <a:extLst>
              <a:ext uri="{FF2B5EF4-FFF2-40B4-BE49-F238E27FC236}">
                <a16:creationId xmlns:a16="http://schemas.microsoft.com/office/drawing/2014/main" id="{E18C7FDF-D3AD-4714-AE55-B3C94F4AD65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446067" y="1949569"/>
          <a:ext cx="2693671" cy="6901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536480" imgH="393480" progId="">
                  <p:embed/>
                </p:oleObj>
              </mc:Choice>
              <mc:Fallback>
                <p:oleObj r:id="rId2" imgW="1536480" imgH="393480" progId="">
                  <p:embed/>
                  <p:pic>
                    <p:nvPicPr>
                      <p:cNvPr id="4" name="Objeto 3">
                        <a:extLst>
                          <a:ext uri="{FF2B5EF4-FFF2-40B4-BE49-F238E27FC236}">
                            <a16:creationId xmlns:a16="http://schemas.microsoft.com/office/drawing/2014/main" id="{E18C7FDF-D3AD-4714-AE55-B3C94F4AD65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446067" y="1949569"/>
                        <a:ext cx="2693671" cy="69011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CustomShape 2">
            <a:extLst>
              <a:ext uri="{FF2B5EF4-FFF2-40B4-BE49-F238E27FC236}">
                <a16:creationId xmlns:a16="http://schemas.microsoft.com/office/drawing/2014/main" id="{C561C37D-19E0-4843-9D34-98AACC0A37FF}"/>
              </a:ext>
            </a:extLst>
          </p:cNvPr>
          <p:cNvSpPr/>
          <p:nvPr/>
        </p:nvSpPr>
        <p:spPr>
          <a:xfrm>
            <a:off x="6098874" y="284258"/>
            <a:ext cx="6093125" cy="578472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/>
            <a:r>
              <a:rPr lang="es-PE" sz="3200" dirty="0">
                <a:solidFill>
                  <a:schemeClr val="bg1"/>
                </a:solidFill>
                <a:latin typeface="Bauhaus 93" pitchFamily="82" charset="0"/>
              </a:rPr>
              <a:t>Problema 5</a:t>
            </a:r>
          </a:p>
        </p:txBody>
      </p:sp>
    </p:spTree>
    <p:extLst>
      <p:ext uri="{BB962C8B-B14F-4D97-AF65-F5344CB8AC3E}">
        <p14:creationId xmlns:p14="http://schemas.microsoft.com/office/powerpoint/2010/main" val="3702675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9D2257D3-6819-4D9A-A03B-A202CFDC9345}"/>
              </a:ext>
            </a:extLst>
          </p:cNvPr>
          <p:cNvSpPr/>
          <p:nvPr/>
        </p:nvSpPr>
        <p:spPr>
          <a:xfrm>
            <a:off x="6277155" y="1612078"/>
            <a:ext cx="6096000" cy="480131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PE" dirty="0"/>
              <a:t> </a:t>
            </a:r>
            <a:r>
              <a:rPr lang="es-PE" dirty="0" err="1"/>
              <a:t>OBJECTIVE</a:t>
            </a:r>
            <a:r>
              <a:rPr lang="es-PE" dirty="0"/>
              <a:t> </a:t>
            </a:r>
            <a:r>
              <a:rPr lang="es-PE" dirty="0" err="1"/>
              <a:t>FUNCTION</a:t>
            </a:r>
            <a:r>
              <a:rPr lang="es-PE" dirty="0"/>
              <a:t> </a:t>
            </a:r>
            <a:r>
              <a:rPr lang="es-PE" dirty="0" err="1"/>
              <a:t>VALUE</a:t>
            </a:r>
            <a:endParaRPr lang="es-PE" dirty="0"/>
          </a:p>
          <a:p>
            <a:endParaRPr lang="es-PE" dirty="0"/>
          </a:p>
          <a:p>
            <a:r>
              <a:rPr lang="es-PE" dirty="0"/>
              <a:t>        1)      8204.600</a:t>
            </a:r>
          </a:p>
          <a:p>
            <a:r>
              <a:rPr lang="es-PE" dirty="0"/>
              <a:t>  VARIABLE        </a:t>
            </a:r>
            <a:r>
              <a:rPr lang="es-PE" dirty="0" err="1"/>
              <a:t>VALUE</a:t>
            </a:r>
            <a:r>
              <a:rPr lang="es-PE" dirty="0"/>
              <a:t>          </a:t>
            </a:r>
            <a:r>
              <a:rPr lang="es-PE" dirty="0" err="1"/>
              <a:t>REDUCED</a:t>
            </a:r>
            <a:r>
              <a:rPr lang="es-PE" dirty="0"/>
              <a:t> </a:t>
            </a:r>
            <a:r>
              <a:rPr lang="es-PE" dirty="0" err="1"/>
              <a:t>COST</a:t>
            </a:r>
            <a:endParaRPr lang="es-PE" dirty="0"/>
          </a:p>
          <a:p>
            <a:r>
              <a:rPr lang="es-PE" dirty="0"/>
              <a:t>        </a:t>
            </a:r>
            <a:r>
              <a:rPr lang="es-PE" dirty="0" err="1"/>
              <a:t>MH</a:t>
            </a:r>
            <a:r>
              <a:rPr lang="es-PE" dirty="0"/>
              <a:t>     14092.000000          0.000000</a:t>
            </a:r>
          </a:p>
          <a:p>
            <a:r>
              <a:rPr lang="es-PE" dirty="0"/>
              <a:t>        MC      7954.000000          0.000000</a:t>
            </a:r>
          </a:p>
          <a:p>
            <a:r>
              <a:rPr lang="es-PE" dirty="0"/>
              <a:t>       </a:t>
            </a:r>
            <a:r>
              <a:rPr lang="es-PE" dirty="0" err="1"/>
              <a:t>ROW</a:t>
            </a:r>
            <a:r>
              <a:rPr lang="es-PE" dirty="0"/>
              <a:t>   </a:t>
            </a:r>
            <a:r>
              <a:rPr lang="es-PE" dirty="0" err="1"/>
              <a:t>SLACK</a:t>
            </a:r>
            <a:r>
              <a:rPr lang="es-PE" dirty="0"/>
              <a:t> </a:t>
            </a:r>
            <a:r>
              <a:rPr lang="es-PE" dirty="0" err="1"/>
              <a:t>OR</a:t>
            </a:r>
            <a:r>
              <a:rPr lang="es-PE" dirty="0"/>
              <a:t> SURPLUS     DUAL </a:t>
            </a:r>
            <a:r>
              <a:rPr lang="es-PE" dirty="0" err="1"/>
              <a:t>PRICES</a:t>
            </a:r>
            <a:endParaRPr lang="es-PE" dirty="0"/>
          </a:p>
          <a:p>
            <a:r>
              <a:rPr lang="es-PE" dirty="0"/>
              <a:t>        2)         0.000000          	5.000000</a:t>
            </a:r>
          </a:p>
          <a:p>
            <a:r>
              <a:rPr lang="es-PE" dirty="0"/>
              <a:t>        3)         0.000000          	0.100000</a:t>
            </a:r>
          </a:p>
          <a:p>
            <a:r>
              <a:rPr lang="es-PE" dirty="0"/>
              <a:t> NO. </a:t>
            </a:r>
            <a:r>
              <a:rPr lang="es-PE" dirty="0" err="1"/>
              <a:t>ITERATIONS</a:t>
            </a:r>
            <a:r>
              <a:rPr lang="es-PE" dirty="0"/>
              <a:t>=       2</a:t>
            </a:r>
          </a:p>
          <a:p>
            <a:endParaRPr lang="es-PE" dirty="0"/>
          </a:p>
          <a:p>
            <a:r>
              <a:rPr lang="es-PE" dirty="0"/>
              <a:t> </a:t>
            </a:r>
            <a:r>
              <a:rPr lang="es-PE" dirty="0" err="1"/>
              <a:t>RANGES</a:t>
            </a:r>
            <a:r>
              <a:rPr lang="es-PE" dirty="0"/>
              <a:t> IN </a:t>
            </a:r>
            <a:r>
              <a:rPr lang="es-PE" dirty="0" err="1"/>
              <a:t>WHICH</a:t>
            </a:r>
            <a:r>
              <a:rPr lang="es-PE" dirty="0"/>
              <a:t> </a:t>
            </a:r>
            <a:r>
              <a:rPr lang="es-PE" dirty="0" err="1"/>
              <a:t>THE</a:t>
            </a:r>
            <a:r>
              <a:rPr lang="es-PE" dirty="0"/>
              <a:t> </a:t>
            </a:r>
            <a:r>
              <a:rPr lang="es-PE" dirty="0" err="1"/>
              <a:t>BASIS</a:t>
            </a:r>
            <a:r>
              <a:rPr lang="es-PE" dirty="0"/>
              <a:t> IS </a:t>
            </a:r>
            <a:r>
              <a:rPr lang="es-PE" dirty="0" err="1"/>
              <a:t>UNCHANGED</a:t>
            </a:r>
            <a:r>
              <a:rPr lang="es-PE" dirty="0"/>
              <a:t>:</a:t>
            </a:r>
          </a:p>
          <a:p>
            <a:r>
              <a:rPr lang="es-PE" dirty="0"/>
              <a:t>                           </a:t>
            </a:r>
            <a:r>
              <a:rPr lang="es-PE" dirty="0" err="1"/>
              <a:t>OBJ</a:t>
            </a:r>
            <a:r>
              <a:rPr lang="es-PE" dirty="0"/>
              <a:t> </a:t>
            </a:r>
            <a:r>
              <a:rPr lang="es-PE" dirty="0" err="1"/>
              <a:t>COEFFICIENT</a:t>
            </a:r>
            <a:r>
              <a:rPr lang="es-PE" dirty="0"/>
              <a:t> </a:t>
            </a:r>
            <a:r>
              <a:rPr lang="es-PE" dirty="0" err="1"/>
              <a:t>RANGES</a:t>
            </a:r>
            <a:endParaRPr lang="es-PE" dirty="0"/>
          </a:p>
          <a:p>
            <a:r>
              <a:rPr lang="es-PE" dirty="0"/>
              <a:t> VARIABLE         </a:t>
            </a:r>
            <a:r>
              <a:rPr lang="es-PE" dirty="0" err="1"/>
              <a:t>CURRENT</a:t>
            </a:r>
            <a:r>
              <a:rPr lang="es-PE" dirty="0"/>
              <a:t>        </a:t>
            </a:r>
            <a:r>
              <a:rPr lang="es-PE" dirty="0" err="1"/>
              <a:t>ALLOWABLE</a:t>
            </a:r>
            <a:r>
              <a:rPr lang="es-PE" dirty="0"/>
              <a:t>        </a:t>
            </a:r>
            <a:r>
              <a:rPr lang="es-PE" dirty="0" err="1"/>
              <a:t>ALLOWABLE</a:t>
            </a:r>
            <a:endParaRPr lang="es-PE" dirty="0"/>
          </a:p>
          <a:p>
            <a:r>
              <a:rPr lang="es-PE" dirty="0"/>
              <a:t>                   </a:t>
            </a:r>
            <a:r>
              <a:rPr lang="es-PE" dirty="0" err="1"/>
              <a:t>COEF</a:t>
            </a:r>
            <a:r>
              <a:rPr lang="es-PE" dirty="0"/>
              <a:t>          </a:t>
            </a:r>
            <a:r>
              <a:rPr lang="es-PE" dirty="0" err="1"/>
              <a:t>INCREASE</a:t>
            </a:r>
            <a:r>
              <a:rPr lang="es-PE" dirty="0"/>
              <a:t>         </a:t>
            </a:r>
            <a:r>
              <a:rPr lang="es-PE" dirty="0" err="1"/>
              <a:t>DECREASE</a:t>
            </a:r>
            <a:endParaRPr lang="es-PE" dirty="0"/>
          </a:p>
          <a:p>
            <a:r>
              <a:rPr lang="es-PE" dirty="0"/>
              <a:t>       </a:t>
            </a:r>
            <a:r>
              <a:rPr lang="es-PE" dirty="0" err="1"/>
              <a:t>MH</a:t>
            </a:r>
            <a:r>
              <a:rPr lang="es-PE" dirty="0"/>
              <a:t>        0.300000         0.200000         0.050000</a:t>
            </a:r>
          </a:p>
          <a:p>
            <a:r>
              <a:rPr lang="es-PE" dirty="0"/>
              <a:t>       MC        0.500000         0.100000         0.200000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43BD8C36-A82E-46DC-9E0D-F31B1B6676CB}"/>
              </a:ext>
            </a:extLst>
          </p:cNvPr>
          <p:cNvSpPr/>
          <p:nvPr/>
        </p:nvSpPr>
        <p:spPr>
          <a:xfrm>
            <a:off x="606725" y="1664270"/>
            <a:ext cx="3628845" cy="1200329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s-PE" dirty="0"/>
              <a:t>Max </a:t>
            </a:r>
            <a:r>
              <a:rPr lang="es-PE" dirty="0" err="1"/>
              <a:t>0.30MH</a:t>
            </a:r>
            <a:r>
              <a:rPr lang="es-PE" dirty="0"/>
              <a:t> + </a:t>
            </a:r>
            <a:r>
              <a:rPr lang="es-PE" dirty="0" err="1"/>
              <a:t>0.50MC</a:t>
            </a:r>
            <a:endParaRPr lang="es-PE" dirty="0"/>
          </a:p>
          <a:p>
            <a:r>
              <a:rPr lang="es-PE" dirty="0" err="1"/>
              <a:t>ST</a:t>
            </a:r>
            <a:endParaRPr lang="es-PE" dirty="0"/>
          </a:p>
          <a:p>
            <a:r>
              <a:rPr lang="es-PE" dirty="0" err="1"/>
              <a:t>0.04MH</a:t>
            </a:r>
            <a:r>
              <a:rPr lang="es-PE" dirty="0"/>
              <a:t> + </a:t>
            </a:r>
            <a:r>
              <a:rPr lang="es-PE" dirty="0" err="1"/>
              <a:t>0.08MC</a:t>
            </a:r>
            <a:r>
              <a:rPr lang="es-PE" dirty="0"/>
              <a:t> &lt;=1200</a:t>
            </a:r>
          </a:p>
          <a:p>
            <a:r>
              <a:rPr lang="es-PE" dirty="0" err="1"/>
              <a:t>MH+MC</a:t>
            </a:r>
            <a:r>
              <a:rPr lang="es-PE" dirty="0"/>
              <a:t> &lt;= 22046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0F90EC35-45D2-4DC8-9790-AA4D76218B4B}"/>
              </a:ext>
            </a:extLst>
          </p:cNvPr>
          <p:cNvSpPr/>
          <p:nvPr/>
        </p:nvSpPr>
        <p:spPr>
          <a:xfrm>
            <a:off x="4358666" y="5767061"/>
            <a:ext cx="252466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b="1" dirty="0">
                <a:latin typeface="Arial" panose="020B0604020202020204" pitchFamily="34" charset="0"/>
                <a:ea typeface="Calibri" panose="020F0502020204030204" pitchFamily="34" charset="0"/>
              </a:rPr>
              <a:t>0.25 </a:t>
            </a:r>
            <a:r>
              <a:rPr lang="es-ES" b="1" dirty="0">
                <a:latin typeface="Symbol" panose="05050102010706020507" pitchFamily="18" charset="2"/>
                <a:ea typeface="Calibri" panose="020F0502020204030204" pitchFamily="34" charset="0"/>
              </a:rPr>
              <a:t>£</a:t>
            </a:r>
            <a:r>
              <a:rPr lang="el-GR" dirty="0">
                <a:latin typeface="Arial" panose="020B0604020202020204" pitchFamily="34" charset="0"/>
                <a:ea typeface="Calibri" panose="020F0502020204030204" pitchFamily="34" charset="0"/>
              </a:rPr>
              <a:t> α</a:t>
            </a:r>
            <a:r>
              <a:rPr lang="es-ES" b="1" dirty="0"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  <a:r>
              <a:rPr lang="es-ES" b="1" dirty="0">
                <a:latin typeface="Symbol" panose="05050102010706020507" pitchFamily="18" charset="2"/>
                <a:ea typeface="Calibri" panose="020F0502020204030204" pitchFamily="34" charset="0"/>
              </a:rPr>
              <a:t>£</a:t>
            </a:r>
            <a:r>
              <a:rPr lang="es-ES" b="1" dirty="0">
                <a:latin typeface="Arial" panose="020B0604020202020204" pitchFamily="34" charset="0"/>
                <a:ea typeface="Calibri" panose="020F0502020204030204" pitchFamily="34" charset="0"/>
              </a:rPr>
              <a:t> 0.50</a:t>
            </a:r>
          </a:p>
          <a:p>
            <a:r>
              <a:rPr lang="es-ES" b="1" dirty="0">
                <a:latin typeface="Arial" panose="020B0604020202020204" pitchFamily="34" charset="0"/>
                <a:ea typeface="Calibri" panose="020F0502020204030204" pitchFamily="34" charset="0"/>
              </a:rPr>
              <a:t>0.30 </a:t>
            </a:r>
            <a:r>
              <a:rPr lang="es-ES" b="1" dirty="0">
                <a:latin typeface="Symbol" panose="05050102010706020507" pitchFamily="18" charset="2"/>
                <a:ea typeface="Calibri" panose="020F0502020204030204" pitchFamily="34" charset="0"/>
              </a:rPr>
              <a:t>£</a:t>
            </a:r>
            <a:r>
              <a:rPr lang="el-GR" dirty="0">
                <a:latin typeface="Arial" panose="020B0604020202020204" pitchFamily="34" charset="0"/>
                <a:ea typeface="Calibri" panose="020F0502020204030204" pitchFamily="34" charset="0"/>
              </a:rPr>
              <a:t> β</a:t>
            </a:r>
            <a:r>
              <a:rPr lang="es-ES" b="1" dirty="0"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  <a:r>
              <a:rPr lang="es-ES" b="1" dirty="0">
                <a:latin typeface="Symbol" panose="05050102010706020507" pitchFamily="18" charset="2"/>
                <a:ea typeface="Calibri" panose="020F0502020204030204" pitchFamily="34" charset="0"/>
              </a:rPr>
              <a:t>£</a:t>
            </a:r>
            <a:r>
              <a:rPr lang="es-ES" b="1" dirty="0">
                <a:latin typeface="Arial" panose="020B0604020202020204" pitchFamily="34" charset="0"/>
                <a:ea typeface="Calibri" panose="020F0502020204030204" pitchFamily="34" charset="0"/>
              </a:rPr>
              <a:t> 0.60</a:t>
            </a:r>
            <a:endParaRPr lang="es-PE" dirty="0"/>
          </a:p>
        </p:txBody>
      </p:sp>
      <p:sp>
        <p:nvSpPr>
          <p:cNvPr id="6" name="CustomShape 2">
            <a:extLst>
              <a:ext uri="{FF2B5EF4-FFF2-40B4-BE49-F238E27FC236}">
                <a16:creationId xmlns:a16="http://schemas.microsoft.com/office/drawing/2014/main" id="{D5B4B93F-E123-460F-8CA0-640351B943EF}"/>
              </a:ext>
            </a:extLst>
          </p:cNvPr>
          <p:cNvSpPr/>
          <p:nvPr/>
        </p:nvSpPr>
        <p:spPr>
          <a:xfrm>
            <a:off x="6098874" y="284258"/>
            <a:ext cx="6093125" cy="578472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/>
            <a:r>
              <a:rPr lang="es-PE" sz="3200" dirty="0">
                <a:solidFill>
                  <a:schemeClr val="bg1"/>
                </a:solidFill>
                <a:latin typeface="Bauhaus 93" pitchFamily="82" charset="0"/>
              </a:rPr>
              <a:t>Problema 5</a:t>
            </a:r>
          </a:p>
        </p:txBody>
      </p:sp>
    </p:spTree>
    <p:extLst>
      <p:ext uri="{BB962C8B-B14F-4D97-AF65-F5344CB8AC3E}">
        <p14:creationId xmlns:p14="http://schemas.microsoft.com/office/powerpoint/2010/main" val="40738419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Rectángulo"/>
          <p:cNvSpPr/>
          <p:nvPr/>
        </p:nvSpPr>
        <p:spPr>
          <a:xfrm>
            <a:off x="6029857" y="1335142"/>
            <a:ext cx="5960859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PE" dirty="0"/>
              <a:t>i) Graficando las Restricciones</a:t>
            </a:r>
          </a:p>
          <a:p>
            <a:r>
              <a:rPr lang="es-PE" dirty="0" err="1"/>
              <a:t>0.04JN</a:t>
            </a:r>
            <a:r>
              <a:rPr lang="es-PE" dirty="0"/>
              <a:t> + </a:t>
            </a:r>
            <a:r>
              <a:rPr lang="es-PE" dirty="0" err="1"/>
              <a:t>0.05JT</a:t>
            </a:r>
            <a:r>
              <a:rPr lang="es-PE" dirty="0"/>
              <a:t> = 150    (i)	Si </a:t>
            </a:r>
            <a:r>
              <a:rPr lang="es-PE" dirty="0" err="1"/>
              <a:t>JN</a:t>
            </a:r>
            <a:r>
              <a:rPr lang="es-PE" dirty="0"/>
              <a:t> = 0 		</a:t>
            </a:r>
            <a:r>
              <a:rPr lang="es-PE" dirty="0" err="1"/>
              <a:t>JT</a:t>
            </a:r>
            <a:r>
              <a:rPr lang="es-PE" dirty="0"/>
              <a:t> = 3000</a:t>
            </a:r>
          </a:p>
          <a:p>
            <a:r>
              <a:rPr lang="es-PE" dirty="0"/>
              <a:t>			Si </a:t>
            </a:r>
            <a:r>
              <a:rPr lang="es-PE" dirty="0" err="1"/>
              <a:t>JT</a:t>
            </a:r>
            <a:r>
              <a:rPr lang="es-PE" dirty="0"/>
              <a:t>= 0 		</a:t>
            </a:r>
            <a:r>
              <a:rPr lang="es-PE" dirty="0" err="1"/>
              <a:t>JN</a:t>
            </a:r>
            <a:r>
              <a:rPr lang="es-PE" dirty="0"/>
              <a:t> = 3750</a:t>
            </a:r>
          </a:p>
          <a:p>
            <a:r>
              <a:rPr lang="es-PE" dirty="0"/>
              <a:t>	</a:t>
            </a:r>
            <a:r>
              <a:rPr lang="es-PE" dirty="0" err="1"/>
              <a:t>0.70JN</a:t>
            </a:r>
            <a:r>
              <a:rPr lang="es-PE" dirty="0"/>
              <a:t> = 1000  (</a:t>
            </a:r>
            <a:r>
              <a:rPr lang="es-PE" dirty="0" err="1"/>
              <a:t>ii</a:t>
            </a:r>
            <a:r>
              <a:rPr lang="es-PE" dirty="0"/>
              <a:t>)			</a:t>
            </a:r>
            <a:r>
              <a:rPr lang="es-PE" dirty="0" err="1"/>
              <a:t>JN</a:t>
            </a:r>
            <a:r>
              <a:rPr lang="es-PE" dirty="0"/>
              <a:t> =1428,57</a:t>
            </a:r>
          </a:p>
          <a:p>
            <a:r>
              <a:rPr lang="es-PE" dirty="0"/>
              <a:t>	</a:t>
            </a:r>
            <a:r>
              <a:rPr lang="es-PE" dirty="0" err="1"/>
              <a:t>0.50JT</a:t>
            </a:r>
            <a:r>
              <a:rPr lang="es-PE" dirty="0"/>
              <a:t> = 1000   (</a:t>
            </a:r>
            <a:r>
              <a:rPr lang="es-PE" dirty="0" err="1"/>
              <a:t>iii</a:t>
            </a:r>
            <a:r>
              <a:rPr lang="es-PE" dirty="0"/>
              <a:t>)	 		</a:t>
            </a:r>
            <a:r>
              <a:rPr lang="es-PE" dirty="0" err="1"/>
              <a:t>JT</a:t>
            </a:r>
            <a:r>
              <a:rPr lang="es-PE" dirty="0"/>
              <a:t>  =2000</a:t>
            </a:r>
          </a:p>
        </p:txBody>
      </p:sp>
      <p:sp>
        <p:nvSpPr>
          <p:cNvPr id="6" name="5 Rectángulo"/>
          <p:cNvSpPr/>
          <p:nvPr/>
        </p:nvSpPr>
        <p:spPr>
          <a:xfrm>
            <a:off x="6003378" y="2872445"/>
            <a:ext cx="490048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PE" dirty="0" err="1"/>
              <a:t>iii</a:t>
            </a:r>
            <a:r>
              <a:rPr lang="es-PE" dirty="0"/>
              <a:t>) Graficando la Función Objetivo</a:t>
            </a:r>
          </a:p>
          <a:p>
            <a:r>
              <a:rPr lang="es-PE" dirty="0" err="1"/>
              <a:t>0.55JN</a:t>
            </a:r>
            <a:r>
              <a:rPr lang="es-PE" dirty="0"/>
              <a:t> + </a:t>
            </a:r>
            <a:r>
              <a:rPr lang="es-PE" dirty="0" err="1"/>
              <a:t>0,40JT</a:t>
            </a:r>
            <a:r>
              <a:rPr lang="es-PE" dirty="0"/>
              <a:t>= 11000   Si </a:t>
            </a:r>
            <a:r>
              <a:rPr lang="es-PE" dirty="0" err="1"/>
              <a:t>JN</a:t>
            </a:r>
            <a:r>
              <a:rPr lang="es-PE" dirty="0"/>
              <a:t> = 0      </a:t>
            </a:r>
            <a:r>
              <a:rPr lang="es-PE" dirty="0" err="1"/>
              <a:t>JT</a:t>
            </a:r>
            <a:r>
              <a:rPr lang="es-PE" dirty="0"/>
              <a:t> = 2750</a:t>
            </a:r>
          </a:p>
          <a:p>
            <a:r>
              <a:rPr lang="es-PE" dirty="0"/>
              <a:t>		          Si </a:t>
            </a:r>
            <a:r>
              <a:rPr lang="es-PE" dirty="0" err="1"/>
              <a:t>JT</a:t>
            </a:r>
            <a:r>
              <a:rPr lang="es-PE" dirty="0"/>
              <a:t> = 0      </a:t>
            </a:r>
            <a:r>
              <a:rPr lang="es-PE" dirty="0" err="1"/>
              <a:t>JN</a:t>
            </a:r>
            <a:r>
              <a:rPr lang="es-PE" dirty="0"/>
              <a:t>= 2000</a:t>
            </a:r>
          </a:p>
        </p:txBody>
      </p:sp>
      <p:sp>
        <p:nvSpPr>
          <p:cNvPr id="7" name="6 Rectángulo"/>
          <p:cNvSpPr/>
          <p:nvPr/>
        </p:nvSpPr>
        <p:spPr>
          <a:xfrm>
            <a:off x="5997773" y="3890683"/>
            <a:ext cx="4572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PE" dirty="0" err="1"/>
              <a:t>iv</a:t>
            </a:r>
            <a:r>
              <a:rPr lang="es-PE" dirty="0"/>
              <a:t>) Hallando la Solución óptima</a:t>
            </a:r>
          </a:p>
          <a:p>
            <a:r>
              <a:rPr lang="es-PE" dirty="0"/>
              <a:t>La Solución óptima es la intersección de las restricciones i y </a:t>
            </a:r>
            <a:r>
              <a:rPr lang="es-PE" dirty="0" err="1"/>
              <a:t>ii</a:t>
            </a:r>
            <a:endParaRPr lang="es-PE" dirty="0"/>
          </a:p>
          <a:p>
            <a:pPr lvl="0"/>
            <a:r>
              <a:rPr lang="es-PE" dirty="0"/>
              <a:t>i) </a:t>
            </a:r>
            <a:r>
              <a:rPr lang="es-PE" dirty="0" err="1"/>
              <a:t>0.04JN</a:t>
            </a:r>
            <a:r>
              <a:rPr lang="es-PE" dirty="0"/>
              <a:t> + </a:t>
            </a:r>
            <a:r>
              <a:rPr lang="es-PE" dirty="0" err="1"/>
              <a:t>0.05JT</a:t>
            </a:r>
            <a:r>
              <a:rPr lang="es-PE" dirty="0"/>
              <a:t> =150</a:t>
            </a:r>
          </a:p>
          <a:p>
            <a:pPr lvl="0"/>
            <a:r>
              <a:rPr lang="es-PE" dirty="0" err="1"/>
              <a:t>ii</a:t>
            </a:r>
            <a:r>
              <a:rPr lang="es-PE" dirty="0"/>
              <a:t>)	</a:t>
            </a:r>
            <a:r>
              <a:rPr lang="es-PE" dirty="0" err="1"/>
              <a:t>0.70JN</a:t>
            </a:r>
            <a:r>
              <a:rPr lang="es-PE" dirty="0"/>
              <a:t>  =1000	</a:t>
            </a:r>
          </a:p>
          <a:p>
            <a:r>
              <a:rPr lang="es-PE" dirty="0"/>
              <a:t>Solución óptima:	</a:t>
            </a:r>
            <a:r>
              <a:rPr lang="es-PE" dirty="0" err="1"/>
              <a:t>JN</a:t>
            </a:r>
            <a:r>
              <a:rPr lang="es-PE" dirty="0"/>
              <a:t> = 1428,57 </a:t>
            </a:r>
          </a:p>
          <a:p>
            <a:r>
              <a:rPr lang="es-PE" dirty="0"/>
              <a:t>		</a:t>
            </a:r>
            <a:r>
              <a:rPr lang="es-PE" dirty="0" err="1"/>
              <a:t>JT</a:t>
            </a:r>
            <a:r>
              <a:rPr lang="es-PE" dirty="0"/>
              <a:t> = 1857,14</a:t>
            </a:r>
          </a:p>
          <a:p>
            <a:r>
              <a:rPr lang="es-PE" dirty="0"/>
              <a:t>Valor de la </a:t>
            </a:r>
            <a:r>
              <a:rPr lang="es-PE" dirty="0" err="1"/>
              <a:t>F.O</a:t>
            </a:r>
            <a:r>
              <a:rPr lang="es-PE" dirty="0"/>
              <a:t>.	  Z = 1528,57</a:t>
            </a:r>
          </a:p>
        </p:txBody>
      </p:sp>
      <p:sp>
        <p:nvSpPr>
          <p:cNvPr id="8" name="7 Flecha derecha"/>
          <p:cNvSpPr/>
          <p:nvPr/>
        </p:nvSpPr>
        <p:spPr>
          <a:xfrm>
            <a:off x="9953098" y="2043233"/>
            <a:ext cx="216024" cy="7200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9" name="8 Flecha derecha"/>
          <p:cNvSpPr/>
          <p:nvPr/>
        </p:nvSpPr>
        <p:spPr>
          <a:xfrm>
            <a:off x="9955808" y="1767307"/>
            <a:ext cx="216024" cy="7200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0" name="9 Flecha derecha"/>
          <p:cNvSpPr/>
          <p:nvPr/>
        </p:nvSpPr>
        <p:spPr>
          <a:xfrm>
            <a:off x="9961812" y="2334623"/>
            <a:ext cx="216024" cy="7200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1" name="10 Flecha derecha"/>
          <p:cNvSpPr/>
          <p:nvPr/>
        </p:nvSpPr>
        <p:spPr>
          <a:xfrm>
            <a:off x="9958540" y="2584913"/>
            <a:ext cx="216024" cy="7200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2" name="Rectángulo 2"/>
          <p:cNvSpPr txBox="1">
            <a:spLocks noChangeArrowheads="1"/>
          </p:cNvSpPr>
          <p:nvPr/>
        </p:nvSpPr>
        <p:spPr>
          <a:xfrm>
            <a:off x="6095999" y="273698"/>
            <a:ext cx="6096001" cy="518868"/>
          </a:xfrm>
          <a:prstGeom prst="rect">
            <a:avLst/>
          </a:prstGeom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>
            <a:lvl1pPr algn="ctr" defTabSz="914400" rtl="0" eaLnBrk="1" latinLnBrk="0" hangingPunct="1">
              <a:lnSpc>
                <a:spcPts val="5800"/>
              </a:lnSpc>
              <a:spcBef>
                <a:spcPct val="0"/>
              </a:spcBef>
              <a:buNone/>
              <a:defRPr sz="5400" kern="120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  <a:lvl6pPr>
              <a:defRPr>
                <a:latin typeface="+mn-lt"/>
                <a:ea typeface="+mn-ea"/>
                <a:cs typeface="+mn-cs"/>
              </a:defRPr>
            </a:lvl6pPr>
            <a:lvl7pPr>
              <a:defRPr>
                <a:latin typeface="+mn-lt"/>
                <a:ea typeface="+mn-ea"/>
                <a:cs typeface="+mn-cs"/>
              </a:defRPr>
            </a:lvl7pPr>
            <a:lvl8pPr>
              <a:defRPr>
                <a:latin typeface="+mn-lt"/>
                <a:ea typeface="+mn-ea"/>
                <a:cs typeface="+mn-cs"/>
              </a:defRPr>
            </a:lvl8pPr>
            <a:lvl9pPr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s-ES" altLang="es-ES" sz="2800" dirty="0">
                <a:solidFill>
                  <a:schemeClr val="bg1"/>
                </a:solidFill>
                <a:latin typeface="Bauhaus 93" pitchFamily="82" charset="0"/>
              </a:rPr>
              <a:t>Solución óptima</a:t>
            </a:r>
          </a:p>
        </p:txBody>
      </p:sp>
      <p:cxnSp>
        <p:nvCxnSpPr>
          <p:cNvPr id="3" name="Conector recto de flecha 2">
            <a:extLst>
              <a:ext uri="{FF2B5EF4-FFF2-40B4-BE49-F238E27FC236}">
                <a16:creationId xmlns:a16="http://schemas.microsoft.com/office/drawing/2014/main" id="{6301A186-ACBE-43A2-AB7A-E00FD0D71D39}"/>
              </a:ext>
            </a:extLst>
          </p:cNvPr>
          <p:cNvCxnSpPr/>
          <p:nvPr/>
        </p:nvCxnSpPr>
        <p:spPr>
          <a:xfrm>
            <a:off x="465826" y="5589917"/>
            <a:ext cx="5149970" cy="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uadroTexto 14">
            <a:extLst>
              <a:ext uri="{FF2B5EF4-FFF2-40B4-BE49-F238E27FC236}">
                <a16:creationId xmlns:a16="http://schemas.microsoft.com/office/drawing/2014/main" id="{AFFE13E9-E1D8-4F9D-A574-465070209A8F}"/>
              </a:ext>
            </a:extLst>
          </p:cNvPr>
          <p:cNvSpPr txBox="1"/>
          <p:nvPr/>
        </p:nvSpPr>
        <p:spPr>
          <a:xfrm>
            <a:off x="5124091" y="5564038"/>
            <a:ext cx="517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/>
              <a:t>JN</a:t>
            </a:r>
            <a:endParaRPr lang="es-PE" dirty="0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8085076E-F646-4229-B83F-94C244E47682}"/>
              </a:ext>
            </a:extLst>
          </p:cNvPr>
          <p:cNvSpPr txBox="1"/>
          <p:nvPr/>
        </p:nvSpPr>
        <p:spPr>
          <a:xfrm>
            <a:off x="687242" y="1817306"/>
            <a:ext cx="3910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/>
              <a:t>JT</a:t>
            </a:r>
            <a:endParaRPr lang="es-PE" dirty="0"/>
          </a:p>
        </p:txBody>
      </p: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EE02111C-7C86-4C0F-BF79-2BCFED9D9D28}"/>
              </a:ext>
            </a:extLst>
          </p:cNvPr>
          <p:cNvCxnSpPr/>
          <p:nvPr/>
        </p:nvCxnSpPr>
        <p:spPr>
          <a:xfrm flipH="1">
            <a:off x="560717" y="3174522"/>
            <a:ext cx="155275" cy="2372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A10C01D2-23F9-4A6B-B8A2-B1F358A92100}"/>
              </a:ext>
            </a:extLst>
          </p:cNvPr>
          <p:cNvCxnSpPr/>
          <p:nvPr/>
        </p:nvCxnSpPr>
        <p:spPr>
          <a:xfrm>
            <a:off x="946524" y="4180949"/>
            <a:ext cx="0" cy="258792"/>
          </a:xfrm>
          <a:prstGeom prst="straightConnector1">
            <a:avLst/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687B9705-9114-46FF-A8B9-A8517D60BC16}"/>
              </a:ext>
            </a:extLst>
          </p:cNvPr>
          <p:cNvCxnSpPr/>
          <p:nvPr/>
        </p:nvCxnSpPr>
        <p:spPr>
          <a:xfrm flipH="1">
            <a:off x="1880568" y="3200400"/>
            <a:ext cx="224287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B98D9860-A559-4659-9CEC-AA4204176F24}"/>
              </a:ext>
            </a:extLst>
          </p:cNvPr>
          <p:cNvCxnSpPr/>
          <p:nvPr/>
        </p:nvCxnSpPr>
        <p:spPr>
          <a:xfrm>
            <a:off x="2104511" y="3191774"/>
            <a:ext cx="0" cy="2631056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3AE5A1E1-4074-440A-A55B-B01C3BB86C22}"/>
              </a:ext>
            </a:extLst>
          </p:cNvPr>
          <p:cNvCxnSpPr/>
          <p:nvPr/>
        </p:nvCxnSpPr>
        <p:spPr>
          <a:xfrm>
            <a:off x="715992" y="3165895"/>
            <a:ext cx="3252159" cy="25879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7FA4D836-AB1A-4167-A8D6-B0013C44576F}"/>
              </a:ext>
            </a:extLst>
          </p:cNvPr>
          <p:cNvCxnSpPr/>
          <p:nvPr/>
        </p:nvCxnSpPr>
        <p:spPr>
          <a:xfrm>
            <a:off x="783813" y="4174975"/>
            <a:ext cx="3890513" cy="0"/>
          </a:xfrm>
          <a:prstGeom prst="line">
            <a:avLst/>
          </a:prstGeom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Elipse 35">
            <a:extLst>
              <a:ext uri="{FF2B5EF4-FFF2-40B4-BE49-F238E27FC236}">
                <a16:creationId xmlns:a16="http://schemas.microsoft.com/office/drawing/2014/main" id="{2853BB48-AEE4-4B26-94AC-423872D29DF3}"/>
              </a:ext>
            </a:extLst>
          </p:cNvPr>
          <p:cNvSpPr/>
          <p:nvPr/>
        </p:nvSpPr>
        <p:spPr>
          <a:xfrm>
            <a:off x="2085975" y="4552950"/>
            <a:ext cx="57150" cy="5715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06E202F0-0D7E-4D34-9793-0020993804F4}"/>
              </a:ext>
            </a:extLst>
          </p:cNvPr>
          <p:cNvSpPr txBox="1"/>
          <p:nvPr/>
        </p:nvSpPr>
        <p:spPr>
          <a:xfrm>
            <a:off x="380143" y="3244334"/>
            <a:ext cx="6780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3000</a:t>
            </a:r>
            <a:endParaRPr lang="es-PE" dirty="0"/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36B5B43B-FFFB-459C-B20B-2EAFC225514C}"/>
              </a:ext>
            </a:extLst>
          </p:cNvPr>
          <p:cNvSpPr txBox="1"/>
          <p:nvPr/>
        </p:nvSpPr>
        <p:spPr>
          <a:xfrm>
            <a:off x="2895599" y="5585130"/>
            <a:ext cx="6780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3000</a:t>
            </a:r>
            <a:endParaRPr lang="es-PE" dirty="0"/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04F1BBCC-49E3-430C-8679-192A4F7220A2}"/>
              </a:ext>
            </a:extLst>
          </p:cNvPr>
          <p:cNvSpPr txBox="1"/>
          <p:nvPr/>
        </p:nvSpPr>
        <p:spPr>
          <a:xfrm>
            <a:off x="2154148" y="5583417"/>
            <a:ext cx="6780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2000</a:t>
            </a:r>
            <a:endParaRPr lang="es-PE" dirty="0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A8E6C4B4-5495-4A74-B6C6-F4AD6560728D}"/>
              </a:ext>
            </a:extLst>
          </p:cNvPr>
          <p:cNvSpPr txBox="1"/>
          <p:nvPr/>
        </p:nvSpPr>
        <p:spPr>
          <a:xfrm>
            <a:off x="1464067" y="5571431"/>
            <a:ext cx="6780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1000</a:t>
            </a:r>
            <a:endParaRPr lang="es-PE" dirty="0"/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F78BDFE2-CF69-4787-A29C-D18AA5777B44}"/>
              </a:ext>
            </a:extLst>
          </p:cNvPr>
          <p:cNvSpPr txBox="1"/>
          <p:nvPr/>
        </p:nvSpPr>
        <p:spPr>
          <a:xfrm>
            <a:off x="388704" y="3961812"/>
            <a:ext cx="6780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2000</a:t>
            </a:r>
            <a:endParaRPr lang="es-PE" dirty="0"/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1BE80FA7-3937-43CF-84A3-CC12CD3A5310}"/>
              </a:ext>
            </a:extLst>
          </p:cNvPr>
          <p:cNvSpPr txBox="1"/>
          <p:nvPr/>
        </p:nvSpPr>
        <p:spPr>
          <a:xfrm>
            <a:off x="386993" y="4679291"/>
            <a:ext cx="6780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1000</a:t>
            </a:r>
            <a:endParaRPr lang="es-PE" dirty="0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927BED68-B957-4999-BFE6-7AADFFD565CC}"/>
              </a:ext>
            </a:extLst>
          </p:cNvPr>
          <p:cNvSpPr txBox="1"/>
          <p:nvPr/>
        </p:nvSpPr>
        <p:spPr>
          <a:xfrm>
            <a:off x="3643900" y="5583418"/>
            <a:ext cx="6780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4000</a:t>
            </a:r>
            <a:endParaRPr lang="es-PE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F3AB3267-D571-4321-8425-1483C0F96782}"/>
              </a:ext>
            </a:extLst>
          </p:cNvPr>
          <p:cNvSpPr/>
          <p:nvPr/>
        </p:nvSpPr>
        <p:spPr>
          <a:xfrm>
            <a:off x="2501660" y="1568902"/>
            <a:ext cx="2855344" cy="1477328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lvl="0"/>
            <a:r>
              <a:rPr lang="es-PE" dirty="0"/>
              <a:t>MAX </a:t>
            </a:r>
            <a:r>
              <a:rPr lang="es-PE" dirty="0" err="1"/>
              <a:t>0,55JN</a:t>
            </a:r>
            <a:r>
              <a:rPr lang="es-PE" dirty="0"/>
              <a:t> + </a:t>
            </a:r>
            <a:r>
              <a:rPr lang="es-PE" dirty="0" err="1"/>
              <a:t>0,40JT</a:t>
            </a:r>
            <a:endParaRPr lang="es-ES" dirty="0"/>
          </a:p>
          <a:p>
            <a:r>
              <a:rPr lang="es-ES" dirty="0" err="1"/>
              <a:t>ST</a:t>
            </a:r>
            <a:endParaRPr lang="es-ES" dirty="0"/>
          </a:p>
          <a:p>
            <a:pPr lvl="0"/>
            <a:r>
              <a:rPr lang="es-PE" dirty="0" err="1"/>
              <a:t>0.04JN</a:t>
            </a:r>
            <a:r>
              <a:rPr lang="es-PE" dirty="0"/>
              <a:t> + </a:t>
            </a:r>
            <a:r>
              <a:rPr lang="es-PE" dirty="0" err="1"/>
              <a:t>0.05JT</a:t>
            </a:r>
            <a:r>
              <a:rPr lang="es-PE" dirty="0"/>
              <a:t> &lt;=150</a:t>
            </a:r>
          </a:p>
          <a:p>
            <a:pPr lvl="0"/>
            <a:r>
              <a:rPr lang="es-PE" dirty="0"/>
              <a:t>	</a:t>
            </a:r>
            <a:r>
              <a:rPr lang="es-PE" dirty="0" err="1"/>
              <a:t>0.70JN</a:t>
            </a:r>
            <a:r>
              <a:rPr lang="es-PE" dirty="0"/>
              <a:t>  &lt;=1000</a:t>
            </a:r>
          </a:p>
          <a:p>
            <a:pPr lvl="0"/>
            <a:r>
              <a:rPr lang="es-PE" dirty="0"/>
              <a:t>	</a:t>
            </a:r>
            <a:r>
              <a:rPr lang="es-PE" dirty="0" err="1"/>
              <a:t>0.50JT</a:t>
            </a:r>
            <a:r>
              <a:rPr lang="es-PE" dirty="0"/>
              <a:t>   &lt;=1000</a:t>
            </a:r>
          </a:p>
        </p:txBody>
      </p:sp>
      <p:sp>
        <p:nvSpPr>
          <p:cNvPr id="13" name="Forma libre: forma 12">
            <a:extLst>
              <a:ext uri="{FF2B5EF4-FFF2-40B4-BE49-F238E27FC236}">
                <a16:creationId xmlns:a16="http://schemas.microsoft.com/office/drawing/2014/main" id="{78201311-5F62-41A7-92AD-32F062D12597}"/>
              </a:ext>
            </a:extLst>
          </p:cNvPr>
          <p:cNvSpPr/>
          <p:nvPr/>
        </p:nvSpPr>
        <p:spPr>
          <a:xfrm>
            <a:off x="1047351" y="4153546"/>
            <a:ext cx="1053885" cy="1425844"/>
          </a:xfrm>
          <a:custGeom>
            <a:avLst/>
            <a:gdLst>
              <a:gd name="connsiteX0" fmla="*/ 0 w 1053885"/>
              <a:gd name="connsiteY0" fmla="*/ 0 h 1441342"/>
              <a:gd name="connsiteX1" fmla="*/ 30997 w 1053885"/>
              <a:gd name="connsiteY1" fmla="*/ 1441342 h 1441342"/>
              <a:gd name="connsiteX2" fmla="*/ 1038387 w 1053885"/>
              <a:gd name="connsiteY2" fmla="*/ 1425844 h 1441342"/>
              <a:gd name="connsiteX3" fmla="*/ 1053885 w 1053885"/>
              <a:gd name="connsiteY3" fmla="*/ 108488 h 1441342"/>
              <a:gd name="connsiteX4" fmla="*/ 945397 w 1053885"/>
              <a:gd name="connsiteY4" fmla="*/ 15498 h 1441342"/>
              <a:gd name="connsiteX5" fmla="*/ 0 w 1053885"/>
              <a:gd name="connsiteY5" fmla="*/ 0 h 14413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53885" h="1441342">
                <a:moveTo>
                  <a:pt x="0" y="0"/>
                </a:moveTo>
                <a:lnTo>
                  <a:pt x="30997" y="1441342"/>
                </a:lnTo>
                <a:lnTo>
                  <a:pt x="1038387" y="1425844"/>
                </a:lnTo>
                <a:lnTo>
                  <a:pt x="1053885" y="108488"/>
                </a:lnTo>
                <a:lnTo>
                  <a:pt x="945397" y="15498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35" name="Conector recto 34">
            <a:extLst>
              <a:ext uri="{FF2B5EF4-FFF2-40B4-BE49-F238E27FC236}">
                <a16:creationId xmlns:a16="http://schemas.microsoft.com/office/drawing/2014/main" id="{ED775987-7388-4004-A1DC-5ED303E70DB0}"/>
              </a:ext>
            </a:extLst>
          </p:cNvPr>
          <p:cNvCxnSpPr>
            <a:cxnSpLocks/>
          </p:cNvCxnSpPr>
          <p:nvPr/>
        </p:nvCxnSpPr>
        <p:spPr>
          <a:xfrm>
            <a:off x="511444" y="3239146"/>
            <a:ext cx="2805193" cy="3332135"/>
          </a:xfrm>
          <a:prstGeom prst="line">
            <a:avLst/>
          </a:prstGeom>
          <a:ln w="254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5FF9DD31-DF6F-4163-9FAB-AE98F7A5E5A1}"/>
              </a:ext>
            </a:extLst>
          </p:cNvPr>
          <p:cNvCxnSpPr/>
          <p:nvPr/>
        </p:nvCxnSpPr>
        <p:spPr>
          <a:xfrm flipV="1">
            <a:off x="1052422" y="1690778"/>
            <a:ext cx="0" cy="454612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cto 33">
            <a:extLst>
              <a:ext uri="{FF2B5EF4-FFF2-40B4-BE49-F238E27FC236}">
                <a16:creationId xmlns:a16="http://schemas.microsoft.com/office/drawing/2014/main" id="{AE48BC0E-051C-43F9-A21E-1E4DF40AE253}"/>
              </a:ext>
            </a:extLst>
          </p:cNvPr>
          <p:cNvCxnSpPr>
            <a:cxnSpLocks/>
          </p:cNvCxnSpPr>
          <p:nvPr/>
        </p:nvCxnSpPr>
        <p:spPr>
          <a:xfrm>
            <a:off x="663844" y="2554643"/>
            <a:ext cx="2805193" cy="3332135"/>
          </a:xfrm>
          <a:prstGeom prst="line">
            <a:avLst/>
          </a:prstGeom>
          <a:ln w="254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CuadroTexto 36">
            <a:extLst>
              <a:ext uri="{FF2B5EF4-FFF2-40B4-BE49-F238E27FC236}">
                <a16:creationId xmlns:a16="http://schemas.microsoft.com/office/drawing/2014/main" id="{BBB74E6B-114C-4D57-B80A-FDFC3CE894DE}"/>
              </a:ext>
            </a:extLst>
          </p:cNvPr>
          <p:cNvSpPr txBox="1"/>
          <p:nvPr/>
        </p:nvSpPr>
        <p:spPr>
          <a:xfrm>
            <a:off x="1996751" y="186613"/>
            <a:ext cx="257524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000" dirty="0">
                <a:solidFill>
                  <a:srgbClr val="0070C0"/>
                </a:solidFill>
              </a:rPr>
              <a:t>4.39</a:t>
            </a:r>
            <a:endParaRPr lang="es-PE" sz="40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1263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stomShape 2">
            <a:extLst>
              <a:ext uri="{FF2B5EF4-FFF2-40B4-BE49-F238E27FC236}">
                <a16:creationId xmlns:a16="http://schemas.microsoft.com/office/drawing/2014/main" id="{9916D2DA-1341-4677-BF70-F4515BBBC15F}"/>
              </a:ext>
            </a:extLst>
          </p:cNvPr>
          <p:cNvSpPr/>
          <p:nvPr/>
        </p:nvSpPr>
        <p:spPr>
          <a:xfrm>
            <a:off x="6098874" y="0"/>
            <a:ext cx="6093125" cy="1061049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/>
            <a:r>
              <a:rPr lang="es-PE" sz="3200" dirty="0">
                <a:solidFill>
                  <a:schemeClr val="bg1"/>
                </a:solidFill>
                <a:latin typeface="Bauhaus 93" pitchFamily="82" charset="0"/>
              </a:rPr>
              <a:t>Análisis de sensibilidad del lado derecho de la restricción I</a:t>
            </a:r>
          </a:p>
        </p:txBody>
      </p:sp>
      <p:graphicFrame>
        <p:nvGraphicFramePr>
          <p:cNvPr id="7" name="Tabla 7">
            <a:extLst>
              <a:ext uri="{FF2B5EF4-FFF2-40B4-BE49-F238E27FC236}">
                <a16:creationId xmlns:a16="http://schemas.microsoft.com/office/drawing/2014/main" id="{82D34760-F19D-4EE5-AC97-DE8304ED861C}"/>
              </a:ext>
            </a:extLst>
          </p:cNvPr>
          <p:cNvGraphicFramePr>
            <a:graphicFrameLocks noGrp="1"/>
          </p:cNvGraphicFramePr>
          <p:nvPr/>
        </p:nvGraphicFramePr>
        <p:xfrm>
          <a:off x="5624423" y="1375273"/>
          <a:ext cx="6390255" cy="22939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1766">
                  <a:extLst>
                    <a:ext uri="{9D8B030D-6E8A-4147-A177-3AD203B41FA5}">
                      <a16:colId xmlns:a16="http://schemas.microsoft.com/office/drawing/2014/main" val="3804144040"/>
                    </a:ext>
                  </a:extLst>
                </a:gridCol>
                <a:gridCol w="4768489">
                  <a:extLst>
                    <a:ext uri="{9D8B030D-6E8A-4147-A177-3AD203B41FA5}">
                      <a16:colId xmlns:a16="http://schemas.microsoft.com/office/drawing/2014/main" val="2858789546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800" dirty="0"/>
                        <a:t>Análisis de Sensibilidad del Lado Derecho de la I Restricción: </a:t>
                      </a:r>
                      <a:r>
                        <a:rPr lang="es-PE" dirty="0" err="1"/>
                        <a:t>0.04JN</a:t>
                      </a:r>
                      <a:r>
                        <a:rPr lang="es-PE" dirty="0"/>
                        <a:t> + </a:t>
                      </a:r>
                      <a:r>
                        <a:rPr lang="es-PE" dirty="0" err="1"/>
                        <a:t>0.05JT</a:t>
                      </a:r>
                      <a:r>
                        <a:rPr lang="es-PE" dirty="0"/>
                        <a:t> &lt;=150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s-P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6824585"/>
                  </a:ext>
                </a:extLst>
              </a:tr>
              <a:tr h="541346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s-PE" sz="1800" dirty="0"/>
                        <a:t>En (1428.57, 1857.14)</a:t>
                      </a:r>
                      <a:endParaRPr lang="es-PE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V.L.D</a:t>
                      </a:r>
                      <a:r>
                        <a:rPr lang="es-PE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.= </a:t>
                      </a:r>
                      <a:r>
                        <a:rPr lang="es-E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0,04(</a:t>
                      </a:r>
                      <a:r>
                        <a:rPr lang="es-PE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1428,57</a:t>
                      </a:r>
                      <a:r>
                        <a:rPr lang="es-E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)+0,05(1857,14)=</a:t>
                      </a:r>
                      <a:r>
                        <a:rPr lang="es-ES" sz="18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150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971950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s-P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Z=0,55(1428</a:t>
                      </a:r>
                      <a:r>
                        <a:rPr lang="es-E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lang="es-PE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57)+0,40(</a:t>
                      </a:r>
                      <a:r>
                        <a:rPr lang="es-E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1857,14</a:t>
                      </a:r>
                      <a:r>
                        <a:rPr lang="es-PE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= </a:t>
                      </a:r>
                      <a:r>
                        <a:rPr lang="es-E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1319,0455</a:t>
                      </a:r>
                      <a:endParaRPr lang="es-PE" dirty="0"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9105990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800" dirty="0"/>
                        <a:t>En </a:t>
                      </a:r>
                      <a:r>
                        <a:rPr lang="es-PE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s-PE" sz="1800" dirty="0"/>
                        <a:t>1428.57, 0</a:t>
                      </a:r>
                      <a:r>
                        <a:rPr lang="es-PE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s-PE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800" dirty="0" err="1"/>
                        <a:t>V.L.D</a:t>
                      </a:r>
                      <a:r>
                        <a:rPr lang="es-PE" sz="1800" dirty="0"/>
                        <a:t>.=</a:t>
                      </a:r>
                      <a:r>
                        <a:rPr lang="es-E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0,04(</a:t>
                      </a:r>
                      <a:r>
                        <a:rPr lang="es-PE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1428,57</a:t>
                      </a:r>
                      <a:r>
                        <a:rPr lang="es-E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)+0,05(0)=</a:t>
                      </a:r>
                      <a:r>
                        <a:rPr lang="es-ES" sz="18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57,1428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552166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s-PE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Z=0,55(1428</a:t>
                      </a:r>
                      <a:r>
                        <a:rPr lang="es-E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lang="es-PE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57)+0,40(0) = 785,7135</a:t>
                      </a:r>
                      <a:endParaRPr lang="es-PE" sz="18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9017813"/>
                  </a:ext>
                </a:extLst>
              </a:tr>
            </a:tbl>
          </a:graphicData>
        </a:graphic>
      </p:graphicFrame>
      <p:sp>
        <p:nvSpPr>
          <p:cNvPr id="34" name="CuadroTexto 33">
            <a:extLst>
              <a:ext uri="{FF2B5EF4-FFF2-40B4-BE49-F238E27FC236}">
                <a16:creationId xmlns:a16="http://schemas.microsoft.com/office/drawing/2014/main" id="{50C3C2B9-00C2-40EB-BCA7-E1C62E22AAC9}"/>
              </a:ext>
            </a:extLst>
          </p:cNvPr>
          <p:cNvSpPr txBox="1"/>
          <p:nvPr/>
        </p:nvSpPr>
        <p:spPr>
          <a:xfrm>
            <a:off x="1996751" y="186613"/>
            <a:ext cx="257524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000" dirty="0">
                <a:solidFill>
                  <a:srgbClr val="0070C0"/>
                </a:solidFill>
              </a:rPr>
              <a:t>4.39</a:t>
            </a:r>
            <a:endParaRPr lang="es-PE" sz="4000" dirty="0">
              <a:solidFill>
                <a:srgbClr val="0070C0"/>
              </a:solidFill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5625BEED-F3A3-4206-A490-5B91A6BB6DBD}"/>
              </a:ext>
            </a:extLst>
          </p:cNvPr>
          <p:cNvSpPr txBox="1"/>
          <p:nvPr/>
        </p:nvSpPr>
        <p:spPr>
          <a:xfrm>
            <a:off x="6292312" y="4742481"/>
            <a:ext cx="472698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El análisis de sensibilidad del lado derecho  se realiza con las restricciones que  intervienen en la solución optima. La restricción I y II intervienen, pero la restricción III no interviene, por lo tanto su precio sombra  de este último sería cero.</a:t>
            </a:r>
            <a:endParaRPr lang="es-PE" dirty="0"/>
          </a:p>
        </p:txBody>
      </p:sp>
      <p:cxnSp>
        <p:nvCxnSpPr>
          <p:cNvPr id="35" name="Conector recto de flecha 34">
            <a:extLst>
              <a:ext uri="{FF2B5EF4-FFF2-40B4-BE49-F238E27FC236}">
                <a16:creationId xmlns:a16="http://schemas.microsoft.com/office/drawing/2014/main" id="{07B4EA1A-CEBE-4333-91B1-AF8378083AB2}"/>
              </a:ext>
            </a:extLst>
          </p:cNvPr>
          <p:cNvCxnSpPr/>
          <p:nvPr/>
        </p:nvCxnSpPr>
        <p:spPr>
          <a:xfrm>
            <a:off x="465826" y="5589917"/>
            <a:ext cx="5149970" cy="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CuadroTexto 35">
            <a:extLst>
              <a:ext uri="{FF2B5EF4-FFF2-40B4-BE49-F238E27FC236}">
                <a16:creationId xmlns:a16="http://schemas.microsoft.com/office/drawing/2014/main" id="{D65C5F0A-4537-4B4F-903D-D386F3FDF92B}"/>
              </a:ext>
            </a:extLst>
          </p:cNvPr>
          <p:cNvSpPr txBox="1"/>
          <p:nvPr/>
        </p:nvSpPr>
        <p:spPr>
          <a:xfrm>
            <a:off x="5124091" y="5564038"/>
            <a:ext cx="517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/>
              <a:t>JN</a:t>
            </a:r>
            <a:endParaRPr lang="es-PE" dirty="0"/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F8709A24-AEEA-493F-8525-AC37C8343743}"/>
              </a:ext>
            </a:extLst>
          </p:cNvPr>
          <p:cNvSpPr txBox="1"/>
          <p:nvPr/>
        </p:nvSpPr>
        <p:spPr>
          <a:xfrm>
            <a:off x="687242" y="1817306"/>
            <a:ext cx="3910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/>
              <a:t>JT</a:t>
            </a:r>
            <a:endParaRPr lang="es-PE" dirty="0"/>
          </a:p>
        </p:txBody>
      </p:sp>
      <p:cxnSp>
        <p:nvCxnSpPr>
          <p:cNvPr id="38" name="Conector recto de flecha 37">
            <a:extLst>
              <a:ext uri="{FF2B5EF4-FFF2-40B4-BE49-F238E27FC236}">
                <a16:creationId xmlns:a16="http://schemas.microsoft.com/office/drawing/2014/main" id="{A00D0932-E384-4E76-9AF1-FB2BDC198824}"/>
              </a:ext>
            </a:extLst>
          </p:cNvPr>
          <p:cNvCxnSpPr/>
          <p:nvPr/>
        </p:nvCxnSpPr>
        <p:spPr>
          <a:xfrm flipH="1">
            <a:off x="560717" y="3174522"/>
            <a:ext cx="155275" cy="2372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cto de flecha 38">
            <a:extLst>
              <a:ext uri="{FF2B5EF4-FFF2-40B4-BE49-F238E27FC236}">
                <a16:creationId xmlns:a16="http://schemas.microsoft.com/office/drawing/2014/main" id="{E04756B5-6BA4-424A-80D6-8F4EF099B7C4}"/>
              </a:ext>
            </a:extLst>
          </p:cNvPr>
          <p:cNvCxnSpPr/>
          <p:nvPr/>
        </p:nvCxnSpPr>
        <p:spPr>
          <a:xfrm>
            <a:off x="946524" y="4180949"/>
            <a:ext cx="0" cy="258792"/>
          </a:xfrm>
          <a:prstGeom prst="straightConnector1">
            <a:avLst/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cto de flecha 39">
            <a:extLst>
              <a:ext uri="{FF2B5EF4-FFF2-40B4-BE49-F238E27FC236}">
                <a16:creationId xmlns:a16="http://schemas.microsoft.com/office/drawing/2014/main" id="{E2472981-48DC-4FC4-BDB3-BB602582BC0F}"/>
              </a:ext>
            </a:extLst>
          </p:cNvPr>
          <p:cNvCxnSpPr/>
          <p:nvPr/>
        </p:nvCxnSpPr>
        <p:spPr>
          <a:xfrm flipH="1">
            <a:off x="1880568" y="3200400"/>
            <a:ext cx="224287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cto 40">
            <a:extLst>
              <a:ext uri="{FF2B5EF4-FFF2-40B4-BE49-F238E27FC236}">
                <a16:creationId xmlns:a16="http://schemas.microsoft.com/office/drawing/2014/main" id="{7D77FA57-785D-4599-9BC2-511AFD71B2FD}"/>
              </a:ext>
            </a:extLst>
          </p:cNvPr>
          <p:cNvCxnSpPr/>
          <p:nvPr/>
        </p:nvCxnSpPr>
        <p:spPr>
          <a:xfrm>
            <a:off x="2113476" y="3191774"/>
            <a:ext cx="0" cy="2631056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recto 41">
            <a:extLst>
              <a:ext uri="{FF2B5EF4-FFF2-40B4-BE49-F238E27FC236}">
                <a16:creationId xmlns:a16="http://schemas.microsoft.com/office/drawing/2014/main" id="{437F7CC2-7F26-44CA-A776-AB16624E3471}"/>
              </a:ext>
            </a:extLst>
          </p:cNvPr>
          <p:cNvCxnSpPr/>
          <p:nvPr/>
        </p:nvCxnSpPr>
        <p:spPr>
          <a:xfrm>
            <a:off x="715992" y="3165895"/>
            <a:ext cx="3252159" cy="25879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cto 42">
            <a:extLst>
              <a:ext uri="{FF2B5EF4-FFF2-40B4-BE49-F238E27FC236}">
                <a16:creationId xmlns:a16="http://schemas.microsoft.com/office/drawing/2014/main" id="{1459A31C-A0B9-406C-81D6-4F0C428386FB}"/>
              </a:ext>
            </a:extLst>
          </p:cNvPr>
          <p:cNvCxnSpPr/>
          <p:nvPr/>
        </p:nvCxnSpPr>
        <p:spPr>
          <a:xfrm>
            <a:off x="783813" y="4174975"/>
            <a:ext cx="3890513" cy="0"/>
          </a:xfrm>
          <a:prstGeom prst="line">
            <a:avLst/>
          </a:prstGeom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Elipse 43">
            <a:extLst>
              <a:ext uri="{FF2B5EF4-FFF2-40B4-BE49-F238E27FC236}">
                <a16:creationId xmlns:a16="http://schemas.microsoft.com/office/drawing/2014/main" id="{38D351A8-5DDD-4DEA-9ED2-E73721C0DE5A}"/>
              </a:ext>
            </a:extLst>
          </p:cNvPr>
          <p:cNvSpPr/>
          <p:nvPr/>
        </p:nvSpPr>
        <p:spPr>
          <a:xfrm>
            <a:off x="2085975" y="4552950"/>
            <a:ext cx="57150" cy="5715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0610B201-9E12-4ECA-A9DA-1FBC35770220}"/>
              </a:ext>
            </a:extLst>
          </p:cNvPr>
          <p:cNvSpPr txBox="1"/>
          <p:nvPr/>
        </p:nvSpPr>
        <p:spPr>
          <a:xfrm>
            <a:off x="380143" y="3244334"/>
            <a:ext cx="6780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3000</a:t>
            </a:r>
            <a:endParaRPr lang="es-PE" dirty="0"/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F5D2E8A3-2552-4C83-A1FA-3730725F93EE}"/>
              </a:ext>
            </a:extLst>
          </p:cNvPr>
          <p:cNvSpPr txBox="1"/>
          <p:nvPr/>
        </p:nvSpPr>
        <p:spPr>
          <a:xfrm>
            <a:off x="2895599" y="5585130"/>
            <a:ext cx="6780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3000</a:t>
            </a:r>
            <a:endParaRPr lang="es-PE" dirty="0"/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CD561CB7-8157-42A2-BF41-379C6D05C567}"/>
              </a:ext>
            </a:extLst>
          </p:cNvPr>
          <p:cNvSpPr txBox="1"/>
          <p:nvPr/>
        </p:nvSpPr>
        <p:spPr>
          <a:xfrm>
            <a:off x="2154148" y="5583417"/>
            <a:ext cx="6780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2000</a:t>
            </a:r>
            <a:endParaRPr lang="es-PE" dirty="0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4D4FC68D-E8B7-44C1-B93A-C0185DA25A7A}"/>
              </a:ext>
            </a:extLst>
          </p:cNvPr>
          <p:cNvSpPr txBox="1"/>
          <p:nvPr/>
        </p:nvSpPr>
        <p:spPr>
          <a:xfrm>
            <a:off x="1464067" y="5571431"/>
            <a:ext cx="6780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1000</a:t>
            </a:r>
            <a:endParaRPr lang="es-PE" dirty="0"/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085E5CCC-4957-48E6-BF17-B71DB2A38BBE}"/>
              </a:ext>
            </a:extLst>
          </p:cNvPr>
          <p:cNvSpPr txBox="1"/>
          <p:nvPr/>
        </p:nvSpPr>
        <p:spPr>
          <a:xfrm>
            <a:off x="388704" y="3961812"/>
            <a:ext cx="6780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2000</a:t>
            </a:r>
            <a:endParaRPr lang="es-PE" dirty="0"/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6BF552A8-61E9-4738-8134-33DF6B53BAA6}"/>
              </a:ext>
            </a:extLst>
          </p:cNvPr>
          <p:cNvSpPr txBox="1"/>
          <p:nvPr/>
        </p:nvSpPr>
        <p:spPr>
          <a:xfrm>
            <a:off x="386993" y="4679291"/>
            <a:ext cx="6780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1000</a:t>
            </a:r>
            <a:endParaRPr lang="es-PE" dirty="0"/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DBA850AE-C062-4FA2-A4B0-EE2E48AEE3EE}"/>
              </a:ext>
            </a:extLst>
          </p:cNvPr>
          <p:cNvSpPr txBox="1"/>
          <p:nvPr/>
        </p:nvSpPr>
        <p:spPr>
          <a:xfrm>
            <a:off x="3643900" y="5583418"/>
            <a:ext cx="6780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4000</a:t>
            </a:r>
            <a:endParaRPr lang="es-PE" dirty="0"/>
          </a:p>
        </p:txBody>
      </p:sp>
      <p:sp>
        <p:nvSpPr>
          <p:cNvPr id="52" name="Rectángulo 51">
            <a:extLst>
              <a:ext uri="{FF2B5EF4-FFF2-40B4-BE49-F238E27FC236}">
                <a16:creationId xmlns:a16="http://schemas.microsoft.com/office/drawing/2014/main" id="{139F1C10-D41F-4728-977C-E4FE34AF102C}"/>
              </a:ext>
            </a:extLst>
          </p:cNvPr>
          <p:cNvSpPr/>
          <p:nvPr/>
        </p:nvSpPr>
        <p:spPr>
          <a:xfrm>
            <a:off x="2501660" y="1568902"/>
            <a:ext cx="2855344" cy="1477328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lvl="0"/>
            <a:r>
              <a:rPr lang="es-PE" dirty="0"/>
              <a:t>MAX </a:t>
            </a:r>
            <a:r>
              <a:rPr lang="es-PE" dirty="0" err="1"/>
              <a:t>0,55JN</a:t>
            </a:r>
            <a:r>
              <a:rPr lang="es-PE" dirty="0"/>
              <a:t> + </a:t>
            </a:r>
            <a:r>
              <a:rPr lang="es-PE" dirty="0" err="1"/>
              <a:t>0,40JT</a:t>
            </a:r>
            <a:endParaRPr lang="es-ES" dirty="0"/>
          </a:p>
          <a:p>
            <a:r>
              <a:rPr lang="es-ES" dirty="0" err="1"/>
              <a:t>ST</a:t>
            </a:r>
            <a:endParaRPr lang="es-ES" dirty="0"/>
          </a:p>
          <a:p>
            <a:pPr lvl="0"/>
            <a:r>
              <a:rPr lang="es-PE" dirty="0" err="1"/>
              <a:t>0.04JN</a:t>
            </a:r>
            <a:r>
              <a:rPr lang="es-PE" dirty="0"/>
              <a:t> + </a:t>
            </a:r>
            <a:r>
              <a:rPr lang="es-PE" dirty="0" err="1"/>
              <a:t>0.05JT</a:t>
            </a:r>
            <a:r>
              <a:rPr lang="es-PE" dirty="0"/>
              <a:t> &lt;=150</a:t>
            </a:r>
          </a:p>
          <a:p>
            <a:pPr lvl="0"/>
            <a:r>
              <a:rPr lang="es-PE" dirty="0"/>
              <a:t>	</a:t>
            </a:r>
            <a:r>
              <a:rPr lang="es-PE" dirty="0" err="1"/>
              <a:t>0.70JN</a:t>
            </a:r>
            <a:r>
              <a:rPr lang="es-PE" dirty="0"/>
              <a:t>  &lt;=1000</a:t>
            </a:r>
          </a:p>
          <a:p>
            <a:pPr lvl="0"/>
            <a:r>
              <a:rPr lang="es-PE" dirty="0"/>
              <a:t>	</a:t>
            </a:r>
            <a:r>
              <a:rPr lang="es-PE" dirty="0" err="1"/>
              <a:t>0.50JT</a:t>
            </a:r>
            <a:r>
              <a:rPr lang="es-PE" dirty="0"/>
              <a:t>   &lt;=1000</a:t>
            </a:r>
          </a:p>
        </p:txBody>
      </p:sp>
      <p:sp>
        <p:nvSpPr>
          <p:cNvPr id="53" name="Forma libre: forma 52">
            <a:extLst>
              <a:ext uri="{FF2B5EF4-FFF2-40B4-BE49-F238E27FC236}">
                <a16:creationId xmlns:a16="http://schemas.microsoft.com/office/drawing/2014/main" id="{5531F1DF-61F1-47AD-B092-C914B18B37CD}"/>
              </a:ext>
            </a:extLst>
          </p:cNvPr>
          <p:cNvSpPr/>
          <p:nvPr/>
        </p:nvSpPr>
        <p:spPr>
          <a:xfrm>
            <a:off x="1038386" y="4153546"/>
            <a:ext cx="1053885" cy="1425844"/>
          </a:xfrm>
          <a:custGeom>
            <a:avLst/>
            <a:gdLst>
              <a:gd name="connsiteX0" fmla="*/ 0 w 1053885"/>
              <a:gd name="connsiteY0" fmla="*/ 0 h 1441342"/>
              <a:gd name="connsiteX1" fmla="*/ 30997 w 1053885"/>
              <a:gd name="connsiteY1" fmla="*/ 1441342 h 1441342"/>
              <a:gd name="connsiteX2" fmla="*/ 1038387 w 1053885"/>
              <a:gd name="connsiteY2" fmla="*/ 1425844 h 1441342"/>
              <a:gd name="connsiteX3" fmla="*/ 1053885 w 1053885"/>
              <a:gd name="connsiteY3" fmla="*/ 108488 h 1441342"/>
              <a:gd name="connsiteX4" fmla="*/ 945397 w 1053885"/>
              <a:gd name="connsiteY4" fmla="*/ 15498 h 1441342"/>
              <a:gd name="connsiteX5" fmla="*/ 0 w 1053885"/>
              <a:gd name="connsiteY5" fmla="*/ 0 h 14413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53885" h="1441342">
                <a:moveTo>
                  <a:pt x="0" y="0"/>
                </a:moveTo>
                <a:lnTo>
                  <a:pt x="30997" y="1441342"/>
                </a:lnTo>
                <a:lnTo>
                  <a:pt x="1038387" y="1425844"/>
                </a:lnTo>
                <a:lnTo>
                  <a:pt x="1053885" y="108488"/>
                </a:lnTo>
                <a:lnTo>
                  <a:pt x="945397" y="15498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54" name="Conector recto 53">
            <a:extLst>
              <a:ext uri="{FF2B5EF4-FFF2-40B4-BE49-F238E27FC236}">
                <a16:creationId xmlns:a16="http://schemas.microsoft.com/office/drawing/2014/main" id="{C7641EE6-4925-488D-98B1-717E12C27343}"/>
              </a:ext>
            </a:extLst>
          </p:cNvPr>
          <p:cNvCxnSpPr>
            <a:cxnSpLocks/>
          </p:cNvCxnSpPr>
          <p:nvPr/>
        </p:nvCxnSpPr>
        <p:spPr>
          <a:xfrm>
            <a:off x="511444" y="3239146"/>
            <a:ext cx="2805193" cy="3332135"/>
          </a:xfrm>
          <a:prstGeom prst="line">
            <a:avLst/>
          </a:prstGeom>
          <a:ln w="254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recto de flecha 54">
            <a:extLst>
              <a:ext uri="{FF2B5EF4-FFF2-40B4-BE49-F238E27FC236}">
                <a16:creationId xmlns:a16="http://schemas.microsoft.com/office/drawing/2014/main" id="{A3ADA5CF-0319-4239-9EAA-32B574C9D987}"/>
              </a:ext>
            </a:extLst>
          </p:cNvPr>
          <p:cNvCxnSpPr/>
          <p:nvPr/>
        </p:nvCxnSpPr>
        <p:spPr>
          <a:xfrm flipV="1">
            <a:off x="1052422" y="1690778"/>
            <a:ext cx="0" cy="454612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ector recto 55">
            <a:extLst>
              <a:ext uri="{FF2B5EF4-FFF2-40B4-BE49-F238E27FC236}">
                <a16:creationId xmlns:a16="http://schemas.microsoft.com/office/drawing/2014/main" id="{84E30139-7625-4ACB-9F8F-F7FD64FF5634}"/>
              </a:ext>
            </a:extLst>
          </p:cNvPr>
          <p:cNvCxnSpPr>
            <a:cxnSpLocks/>
          </p:cNvCxnSpPr>
          <p:nvPr/>
        </p:nvCxnSpPr>
        <p:spPr>
          <a:xfrm>
            <a:off x="663844" y="2554643"/>
            <a:ext cx="2805193" cy="3332135"/>
          </a:xfrm>
          <a:prstGeom prst="line">
            <a:avLst/>
          </a:prstGeom>
          <a:ln w="254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8765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3 Tabla"/>
          <p:cNvGraphicFramePr>
            <a:graphicFrameLocks noGrp="1"/>
          </p:cNvGraphicFramePr>
          <p:nvPr/>
        </p:nvGraphicFramePr>
        <p:xfrm>
          <a:off x="1772520" y="1349396"/>
          <a:ext cx="8784976" cy="157853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484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154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10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656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PE" sz="2400" b="1" dirty="0">
                          <a:solidFill>
                            <a:srgbClr val="FF0000"/>
                          </a:solidFill>
                          <a:effectLst/>
                          <a:latin typeface="Arial Narrow" pitchFamily="34" charset="0"/>
                        </a:rPr>
                        <a:t>Valor lado derecho</a:t>
                      </a:r>
                      <a:endParaRPr lang="es-PE" sz="2400" b="1" dirty="0">
                        <a:solidFill>
                          <a:srgbClr val="FF0000"/>
                        </a:solidFill>
                        <a:effectLst/>
                        <a:latin typeface="Arial Narrow" pitchFamily="34" charset="0"/>
                        <a:ea typeface="Calibri"/>
                      </a:endParaRPr>
                    </a:p>
                  </a:txBody>
                  <a:tcPr marL="44450" marR="44450" marT="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PE" sz="2400" b="1" dirty="0">
                          <a:solidFill>
                            <a:srgbClr val="FF0000"/>
                          </a:solidFill>
                          <a:effectLst/>
                          <a:latin typeface="Arial Narrow" pitchFamily="34" charset="0"/>
                        </a:rPr>
                        <a:t>Solución óptima</a:t>
                      </a:r>
                      <a:endParaRPr lang="es-PE" sz="2400" b="1" dirty="0">
                        <a:solidFill>
                          <a:srgbClr val="FF0000"/>
                        </a:solidFill>
                        <a:effectLst/>
                        <a:latin typeface="Arial Narrow" pitchFamily="34" charset="0"/>
                        <a:ea typeface="Calibri"/>
                      </a:endParaRPr>
                    </a:p>
                  </a:txBody>
                  <a:tcPr marL="44450" marR="44450" marT="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PE" sz="2400" b="1" dirty="0">
                          <a:solidFill>
                            <a:srgbClr val="FF0000"/>
                          </a:solidFill>
                          <a:effectLst/>
                          <a:latin typeface="Arial Narrow" pitchFamily="34" charset="0"/>
                        </a:rPr>
                        <a:t>Valor función objetivo</a:t>
                      </a:r>
                      <a:endParaRPr lang="es-PE" sz="2400" b="1" dirty="0">
                        <a:solidFill>
                          <a:srgbClr val="FF0000"/>
                        </a:solidFill>
                        <a:effectLst/>
                        <a:latin typeface="Arial Narrow" pitchFamily="34" charset="0"/>
                        <a:ea typeface="Calibri"/>
                      </a:endParaRPr>
                    </a:p>
                  </a:txBody>
                  <a:tcPr marL="44450" marR="44450" marT="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0557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150</a:t>
                      </a:r>
                      <a:endParaRPr lang="es-PE" sz="2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9525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PE" sz="24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JN</a:t>
                      </a:r>
                      <a:r>
                        <a:rPr lang="es-PE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1428.57; </a:t>
                      </a:r>
                      <a:r>
                        <a:rPr lang="es-PE" sz="24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JT</a:t>
                      </a:r>
                      <a:r>
                        <a:rPr lang="es-PE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1857,14</a:t>
                      </a:r>
                    </a:p>
                  </a:txBody>
                  <a:tcPr marL="9525" marR="9525" marT="9525" marB="9525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1528,5695</a:t>
                      </a:r>
                      <a:endParaRPr lang="es-PE" sz="2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9525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0557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57,1428</a:t>
                      </a:r>
                      <a:endParaRPr lang="es-PE" sz="2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9525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PE" sz="24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JN</a:t>
                      </a:r>
                      <a:r>
                        <a:rPr lang="es-PE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1428.57 ; </a:t>
                      </a:r>
                      <a:r>
                        <a:rPr lang="es-PE" sz="24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JT</a:t>
                      </a:r>
                      <a:r>
                        <a:rPr lang="es-PE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0</a:t>
                      </a:r>
                    </a:p>
                  </a:txBody>
                  <a:tcPr marL="9525" marR="9525" marT="9525" marB="9525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785,7135</a:t>
                      </a:r>
                      <a:endParaRPr lang="es-PE" sz="2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9525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4 Rectángulo"/>
          <p:cNvSpPr/>
          <p:nvPr/>
        </p:nvSpPr>
        <p:spPr>
          <a:xfrm>
            <a:off x="1991544" y="5114802"/>
            <a:ext cx="444025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PE" sz="2000" dirty="0"/>
              <a:t>El precio sombra de la restricción I será:</a:t>
            </a:r>
          </a:p>
        </p:txBody>
      </p:sp>
      <p:sp>
        <p:nvSpPr>
          <p:cNvPr id="12" name="11 CuadroTexto"/>
          <p:cNvSpPr txBox="1"/>
          <p:nvPr/>
        </p:nvSpPr>
        <p:spPr>
          <a:xfrm>
            <a:off x="10056438" y="6100208"/>
            <a:ext cx="21355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1000  Lado Derecho</a:t>
            </a:r>
            <a:endParaRPr lang="es-PE" dirty="0"/>
          </a:p>
        </p:txBody>
      </p:sp>
      <p:sp>
        <p:nvSpPr>
          <p:cNvPr id="13" name="12 CuadroTexto"/>
          <p:cNvSpPr txBox="1"/>
          <p:nvPr/>
        </p:nvSpPr>
        <p:spPr>
          <a:xfrm>
            <a:off x="6698751" y="4380435"/>
            <a:ext cx="8013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Y=</a:t>
            </a:r>
            <a:r>
              <a:rPr lang="es-ES" dirty="0" err="1"/>
              <a:t>F.O</a:t>
            </a:r>
            <a:r>
              <a:rPr lang="es-ES" dirty="0"/>
              <a:t>.</a:t>
            </a:r>
            <a:endParaRPr lang="es-PE" dirty="0"/>
          </a:p>
        </p:txBody>
      </p:sp>
      <p:sp>
        <p:nvSpPr>
          <p:cNvPr id="15" name="14 Elipse"/>
          <p:cNvSpPr/>
          <p:nvPr/>
        </p:nvSpPr>
        <p:spPr>
          <a:xfrm>
            <a:off x="8332342" y="5490028"/>
            <a:ext cx="79420" cy="8906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9" name="18 Triángulo rectángulo"/>
          <p:cNvSpPr/>
          <p:nvPr/>
        </p:nvSpPr>
        <p:spPr>
          <a:xfrm flipH="1">
            <a:off x="7686136" y="5003321"/>
            <a:ext cx="2734568" cy="72461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3" name="2 Conector recto"/>
          <p:cNvCxnSpPr>
            <a:cxnSpLocks/>
            <a:stCxn id="15" idx="4"/>
          </p:cNvCxnSpPr>
          <p:nvPr/>
        </p:nvCxnSpPr>
        <p:spPr>
          <a:xfrm>
            <a:off x="8372052" y="5579094"/>
            <a:ext cx="0" cy="544304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7 Conector recto"/>
          <p:cNvCxnSpPr>
            <a:cxnSpLocks/>
            <a:endCxn id="15" idx="2"/>
          </p:cNvCxnSpPr>
          <p:nvPr/>
        </p:nvCxnSpPr>
        <p:spPr>
          <a:xfrm>
            <a:off x="7530957" y="5534561"/>
            <a:ext cx="801385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17 Conector recto"/>
          <p:cNvCxnSpPr>
            <a:cxnSpLocks/>
          </p:cNvCxnSpPr>
          <p:nvPr/>
        </p:nvCxnSpPr>
        <p:spPr>
          <a:xfrm>
            <a:off x="10425897" y="4999941"/>
            <a:ext cx="0" cy="1102908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19 Conector recto"/>
          <p:cNvCxnSpPr>
            <a:cxnSpLocks/>
          </p:cNvCxnSpPr>
          <p:nvPr/>
        </p:nvCxnSpPr>
        <p:spPr>
          <a:xfrm>
            <a:off x="8986683" y="5376744"/>
            <a:ext cx="0" cy="826205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21 Conector recto"/>
          <p:cNvCxnSpPr>
            <a:cxnSpLocks/>
          </p:cNvCxnSpPr>
          <p:nvPr/>
        </p:nvCxnSpPr>
        <p:spPr>
          <a:xfrm>
            <a:off x="7520683" y="5022994"/>
            <a:ext cx="2835705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22 Conector recto"/>
          <p:cNvCxnSpPr>
            <a:cxnSpLocks/>
          </p:cNvCxnSpPr>
          <p:nvPr/>
        </p:nvCxnSpPr>
        <p:spPr>
          <a:xfrm flipV="1">
            <a:off x="7536160" y="5359802"/>
            <a:ext cx="1440160" cy="2255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1 CuadroTexto"/>
          <p:cNvSpPr txBox="1"/>
          <p:nvPr/>
        </p:nvSpPr>
        <p:spPr>
          <a:xfrm>
            <a:off x="10405671" y="5051087"/>
            <a:ext cx="7963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000" dirty="0"/>
              <a:t>∆y</a:t>
            </a:r>
          </a:p>
        </p:txBody>
      </p:sp>
      <p:sp>
        <p:nvSpPr>
          <p:cNvPr id="24" name="23 CuadroTexto"/>
          <p:cNvSpPr txBox="1"/>
          <p:nvPr/>
        </p:nvSpPr>
        <p:spPr>
          <a:xfrm>
            <a:off x="8965423" y="5774451"/>
            <a:ext cx="7963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2000" dirty="0"/>
              <a:t>∆x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5 CuadroTexto"/>
              <p:cNvSpPr txBox="1"/>
              <p:nvPr/>
            </p:nvSpPr>
            <p:spPr>
              <a:xfrm>
                <a:off x="1991544" y="4365105"/>
                <a:ext cx="2664296" cy="5370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2000" dirty="0"/>
                  <a:t>Pendiente=m=</a:t>
                </a:r>
                <a:r>
                  <a:rPr lang="es-ES" sz="2000" dirty="0" err="1"/>
                  <a:t>tg</a:t>
                </a:r>
                <a:r>
                  <a:rPr lang="es-ES" sz="2000" dirty="0"/>
                  <a:t>(</a:t>
                </a:r>
                <a:r>
                  <a:rPr lang="el-GR" sz="2000" dirty="0"/>
                  <a:t>α</a:t>
                </a:r>
                <a:r>
                  <a:rPr lang="es-ES" sz="2000" dirty="0"/>
                  <a:t>)=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E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2000" i="1">
                            <a:latin typeface="Cambria Math"/>
                          </a:rPr>
                          <m:t>∆</m:t>
                        </m:r>
                        <m:r>
                          <a:rPr lang="es-ES" sz="2000" i="1">
                            <a:latin typeface="Cambria Math"/>
                          </a:rPr>
                          <m:t>𝑦</m:t>
                        </m:r>
                      </m:num>
                      <m:den>
                        <m:r>
                          <a:rPr lang="es-ES" sz="2000" i="1">
                            <a:latin typeface="Cambria Math"/>
                          </a:rPr>
                          <m:t>∆</m:t>
                        </m:r>
                        <m:r>
                          <a:rPr lang="es-ES" sz="2000" i="1">
                            <a:latin typeface="Cambria Math"/>
                          </a:rPr>
                          <m:t>𝑥</m:t>
                        </m:r>
                      </m:den>
                    </m:f>
                  </m:oMath>
                </a14:m>
                <a:endParaRPr lang="es-PE" sz="2000" dirty="0"/>
              </a:p>
            </p:txBody>
          </p:sp>
        </mc:Choice>
        <mc:Fallback xmlns="">
          <p:sp>
            <p:nvSpPr>
              <p:cNvPr id="6" name="5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1544" y="4365105"/>
                <a:ext cx="2664296" cy="537070"/>
              </a:xfrm>
              <a:prstGeom prst="rect">
                <a:avLst/>
              </a:prstGeom>
              <a:blipFill>
                <a:blip r:embed="rId3"/>
                <a:stretch>
                  <a:fillRect l="-2517" b="-7955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9 CuadroTexto"/>
          <p:cNvSpPr txBox="1"/>
          <p:nvPr/>
        </p:nvSpPr>
        <p:spPr>
          <a:xfrm>
            <a:off x="1991544" y="3933056"/>
            <a:ext cx="43204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rgbClr val="FF0000"/>
                </a:solidFill>
              </a:rPr>
              <a:t>Precio Sombra=Precio dual=pendiente</a:t>
            </a:r>
            <a:endParaRPr lang="es-PE" sz="2000" b="1" dirty="0">
              <a:solidFill>
                <a:srgbClr val="FF0000"/>
              </a:solidFill>
            </a:endParaRPr>
          </a:p>
        </p:txBody>
      </p:sp>
      <p:sp>
        <p:nvSpPr>
          <p:cNvPr id="25" name="CustomShape 2">
            <a:extLst>
              <a:ext uri="{FF2B5EF4-FFF2-40B4-BE49-F238E27FC236}">
                <a16:creationId xmlns:a16="http://schemas.microsoft.com/office/drawing/2014/main" id="{FD6571E3-8CA2-4904-AA1D-E46AC5BC8E79}"/>
              </a:ext>
            </a:extLst>
          </p:cNvPr>
          <p:cNvSpPr/>
          <p:nvPr/>
        </p:nvSpPr>
        <p:spPr>
          <a:xfrm>
            <a:off x="6098874" y="0"/>
            <a:ext cx="6093125" cy="1061049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/>
            <a:r>
              <a:rPr lang="es-PE" sz="3200" dirty="0">
                <a:solidFill>
                  <a:schemeClr val="bg1"/>
                </a:solidFill>
                <a:latin typeface="Bauhaus 93" pitchFamily="82" charset="0"/>
              </a:rPr>
              <a:t>Análisis de sensibilidad del lado derecho</a:t>
            </a:r>
          </a:p>
        </p:txBody>
      </p:sp>
      <p:sp>
        <p:nvSpPr>
          <p:cNvPr id="32" name="14 Elipse">
            <a:extLst>
              <a:ext uri="{FF2B5EF4-FFF2-40B4-BE49-F238E27FC236}">
                <a16:creationId xmlns:a16="http://schemas.microsoft.com/office/drawing/2014/main" id="{879646D5-AB4F-4134-AE96-D4C57F793393}"/>
              </a:ext>
            </a:extLst>
          </p:cNvPr>
          <p:cNvSpPr/>
          <p:nvPr/>
        </p:nvSpPr>
        <p:spPr>
          <a:xfrm>
            <a:off x="8947079" y="5323930"/>
            <a:ext cx="79420" cy="8906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3" name="14 Elipse">
            <a:extLst>
              <a:ext uri="{FF2B5EF4-FFF2-40B4-BE49-F238E27FC236}">
                <a16:creationId xmlns:a16="http://schemas.microsoft.com/office/drawing/2014/main" id="{B6C01DA2-6AFF-44A3-8B3C-F25D1D931B4A}"/>
              </a:ext>
            </a:extLst>
          </p:cNvPr>
          <p:cNvSpPr/>
          <p:nvPr/>
        </p:nvSpPr>
        <p:spPr>
          <a:xfrm>
            <a:off x="10352926" y="4962621"/>
            <a:ext cx="79420" cy="8906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40" name="Conector recto de flecha 39">
            <a:extLst>
              <a:ext uri="{FF2B5EF4-FFF2-40B4-BE49-F238E27FC236}">
                <a16:creationId xmlns:a16="http://schemas.microsoft.com/office/drawing/2014/main" id="{4B5FDE8E-B146-4F44-A5E0-D1D124E26E5E}"/>
              </a:ext>
            </a:extLst>
          </p:cNvPr>
          <p:cNvCxnSpPr/>
          <p:nvPr/>
        </p:nvCxnSpPr>
        <p:spPr>
          <a:xfrm flipV="1">
            <a:off x="7674796" y="4202130"/>
            <a:ext cx="0" cy="208565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recto de flecha 41">
            <a:extLst>
              <a:ext uri="{FF2B5EF4-FFF2-40B4-BE49-F238E27FC236}">
                <a16:creationId xmlns:a16="http://schemas.microsoft.com/office/drawing/2014/main" id="{4952CDF9-ACBB-4A1B-9D79-042E0B31EC98}"/>
              </a:ext>
            </a:extLst>
          </p:cNvPr>
          <p:cNvCxnSpPr/>
          <p:nvPr/>
        </p:nvCxnSpPr>
        <p:spPr>
          <a:xfrm>
            <a:off x="7315200" y="6143944"/>
            <a:ext cx="4623371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10 Conector recto"/>
          <p:cNvCxnSpPr>
            <a:cxnSpLocks/>
          </p:cNvCxnSpPr>
          <p:nvPr/>
        </p:nvCxnSpPr>
        <p:spPr>
          <a:xfrm flipV="1">
            <a:off x="7320136" y="4634144"/>
            <a:ext cx="4584819" cy="118180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Objeto 6">
            <a:extLst>
              <a:ext uri="{FF2B5EF4-FFF2-40B4-BE49-F238E27FC236}">
                <a16:creationId xmlns:a16="http://schemas.microsoft.com/office/drawing/2014/main" id="{F251766D-AAE3-4704-BE6E-17579C58080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08200" y="5664200"/>
          <a:ext cx="2970213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2247840" imgH="419040" progId="">
                  <p:embed/>
                </p:oleObj>
              </mc:Choice>
              <mc:Fallback>
                <p:oleObj r:id="rId4" imgW="2247840" imgH="419040" progId="">
                  <p:embed/>
                  <p:pic>
                    <p:nvPicPr>
                      <p:cNvPr id="7" name="Objeto 6">
                        <a:extLst>
                          <a:ext uri="{FF2B5EF4-FFF2-40B4-BE49-F238E27FC236}">
                            <a16:creationId xmlns:a16="http://schemas.microsoft.com/office/drawing/2014/main" id="{F251766D-AAE3-4704-BE6E-17579C58080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08200" y="5664200"/>
                        <a:ext cx="2970213" cy="5524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CuadroTexto 25">
            <a:extLst>
              <a:ext uri="{FF2B5EF4-FFF2-40B4-BE49-F238E27FC236}">
                <a16:creationId xmlns:a16="http://schemas.microsoft.com/office/drawing/2014/main" id="{0334AB3C-6034-47E3-AD76-5BBA0E34B664}"/>
              </a:ext>
            </a:extLst>
          </p:cNvPr>
          <p:cNvSpPr txBox="1"/>
          <p:nvPr/>
        </p:nvSpPr>
        <p:spPr>
          <a:xfrm>
            <a:off x="1996751" y="186613"/>
            <a:ext cx="257524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000" dirty="0">
                <a:solidFill>
                  <a:srgbClr val="0070C0"/>
                </a:solidFill>
              </a:rPr>
              <a:t>4.39</a:t>
            </a:r>
            <a:endParaRPr lang="es-PE" sz="40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01468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stomShape 2">
            <a:extLst>
              <a:ext uri="{FF2B5EF4-FFF2-40B4-BE49-F238E27FC236}">
                <a16:creationId xmlns:a16="http://schemas.microsoft.com/office/drawing/2014/main" id="{9916D2DA-1341-4677-BF70-F4515BBBC15F}"/>
              </a:ext>
            </a:extLst>
          </p:cNvPr>
          <p:cNvSpPr/>
          <p:nvPr/>
        </p:nvSpPr>
        <p:spPr>
          <a:xfrm>
            <a:off x="6098874" y="0"/>
            <a:ext cx="6093125" cy="1061049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/>
            <a:r>
              <a:rPr lang="es-PE" sz="3200" dirty="0">
                <a:solidFill>
                  <a:schemeClr val="bg1"/>
                </a:solidFill>
                <a:latin typeface="Bauhaus 93" pitchFamily="82" charset="0"/>
              </a:rPr>
              <a:t>Análisis de sensibilidad del lado derecho de la restricción II</a:t>
            </a:r>
          </a:p>
        </p:txBody>
      </p:sp>
      <p:graphicFrame>
        <p:nvGraphicFramePr>
          <p:cNvPr id="7" name="Tabla 7">
            <a:extLst>
              <a:ext uri="{FF2B5EF4-FFF2-40B4-BE49-F238E27FC236}">
                <a16:creationId xmlns:a16="http://schemas.microsoft.com/office/drawing/2014/main" id="{82D34760-F19D-4EE5-AC97-DE8304ED86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8640156"/>
              </p:ext>
            </p:extLst>
          </p:nvPr>
        </p:nvGraphicFramePr>
        <p:xfrm>
          <a:off x="5624423" y="1375273"/>
          <a:ext cx="6390255" cy="22939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1766">
                  <a:extLst>
                    <a:ext uri="{9D8B030D-6E8A-4147-A177-3AD203B41FA5}">
                      <a16:colId xmlns:a16="http://schemas.microsoft.com/office/drawing/2014/main" val="3804144040"/>
                    </a:ext>
                  </a:extLst>
                </a:gridCol>
                <a:gridCol w="4768489">
                  <a:extLst>
                    <a:ext uri="{9D8B030D-6E8A-4147-A177-3AD203B41FA5}">
                      <a16:colId xmlns:a16="http://schemas.microsoft.com/office/drawing/2014/main" val="2858789546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800" dirty="0"/>
                        <a:t>Análisis de Sensibilidad del Lado Derecho de la II Restricción: </a:t>
                      </a:r>
                      <a:r>
                        <a:rPr lang="es-PE" dirty="0"/>
                        <a:t>0.70JN  &lt;=1000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s-P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6824585"/>
                  </a:ext>
                </a:extLst>
              </a:tr>
              <a:tr h="541346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s-PE" sz="1800" dirty="0"/>
                        <a:t>En (0, 3000)</a:t>
                      </a:r>
                      <a:endParaRPr lang="es-PE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V.L.D</a:t>
                      </a:r>
                      <a:r>
                        <a:rPr lang="es-PE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.= </a:t>
                      </a:r>
                      <a:r>
                        <a:rPr lang="es-E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0,70(0)=</a:t>
                      </a:r>
                      <a:r>
                        <a:rPr lang="es-ES" sz="18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971950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s-P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Z=0,55(0)+0,40(3000) = </a:t>
                      </a:r>
                      <a:r>
                        <a:rPr lang="es-E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1200</a:t>
                      </a:r>
                      <a:endParaRPr lang="es-PE" dirty="0"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9105990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800" dirty="0"/>
                        <a:t>En </a:t>
                      </a:r>
                      <a:r>
                        <a:rPr lang="es-PE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(3750</a:t>
                      </a:r>
                      <a:r>
                        <a:rPr lang="es-PE" sz="1800" dirty="0"/>
                        <a:t>, 0</a:t>
                      </a:r>
                      <a:r>
                        <a:rPr lang="es-PE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s-PE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800" dirty="0" err="1"/>
                        <a:t>V.L.D</a:t>
                      </a:r>
                      <a:r>
                        <a:rPr lang="es-PE" sz="1800" dirty="0"/>
                        <a:t>.=</a:t>
                      </a:r>
                      <a:r>
                        <a:rPr lang="es-E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0,70(3750)=</a:t>
                      </a:r>
                      <a:r>
                        <a:rPr lang="es-ES" sz="18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2625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552166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s-PE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Z=0,55(3750)+0,40(0) = 2062,5</a:t>
                      </a:r>
                      <a:endParaRPr lang="es-PE" sz="18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9017813"/>
                  </a:ext>
                </a:extLst>
              </a:tr>
            </a:tbl>
          </a:graphicData>
        </a:graphic>
      </p:graphicFrame>
      <p:sp>
        <p:nvSpPr>
          <p:cNvPr id="34" name="CuadroTexto 33">
            <a:extLst>
              <a:ext uri="{FF2B5EF4-FFF2-40B4-BE49-F238E27FC236}">
                <a16:creationId xmlns:a16="http://schemas.microsoft.com/office/drawing/2014/main" id="{50C3C2B9-00C2-40EB-BCA7-E1C62E22AAC9}"/>
              </a:ext>
            </a:extLst>
          </p:cNvPr>
          <p:cNvSpPr txBox="1"/>
          <p:nvPr/>
        </p:nvSpPr>
        <p:spPr>
          <a:xfrm>
            <a:off x="1996751" y="186613"/>
            <a:ext cx="257524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000" dirty="0">
                <a:solidFill>
                  <a:srgbClr val="0070C0"/>
                </a:solidFill>
              </a:rPr>
              <a:t>4.39</a:t>
            </a:r>
            <a:endParaRPr lang="es-PE" sz="4000" dirty="0">
              <a:solidFill>
                <a:srgbClr val="0070C0"/>
              </a:solidFill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5625BEED-F3A3-4206-A490-5B91A6BB6DBD}"/>
              </a:ext>
            </a:extLst>
          </p:cNvPr>
          <p:cNvSpPr txBox="1"/>
          <p:nvPr/>
        </p:nvSpPr>
        <p:spPr>
          <a:xfrm>
            <a:off x="6292312" y="4742481"/>
            <a:ext cx="472698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El análisis de sensibilidad del lado derecho  se realiza con las restricciones que  intervienen en la solución optima. La restricción I y II intervienen, pero la restricción III no interviene, por lo tanto su precio sombra  de este último sería cero.</a:t>
            </a:r>
            <a:endParaRPr lang="es-PE" dirty="0"/>
          </a:p>
        </p:txBody>
      </p:sp>
      <p:cxnSp>
        <p:nvCxnSpPr>
          <p:cNvPr id="35" name="Conector recto de flecha 34">
            <a:extLst>
              <a:ext uri="{FF2B5EF4-FFF2-40B4-BE49-F238E27FC236}">
                <a16:creationId xmlns:a16="http://schemas.microsoft.com/office/drawing/2014/main" id="{07B4EA1A-CEBE-4333-91B1-AF8378083AB2}"/>
              </a:ext>
            </a:extLst>
          </p:cNvPr>
          <p:cNvCxnSpPr/>
          <p:nvPr/>
        </p:nvCxnSpPr>
        <p:spPr>
          <a:xfrm>
            <a:off x="465826" y="5589917"/>
            <a:ext cx="5149970" cy="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CuadroTexto 35">
            <a:extLst>
              <a:ext uri="{FF2B5EF4-FFF2-40B4-BE49-F238E27FC236}">
                <a16:creationId xmlns:a16="http://schemas.microsoft.com/office/drawing/2014/main" id="{D65C5F0A-4537-4B4F-903D-D386F3FDF92B}"/>
              </a:ext>
            </a:extLst>
          </p:cNvPr>
          <p:cNvSpPr txBox="1"/>
          <p:nvPr/>
        </p:nvSpPr>
        <p:spPr>
          <a:xfrm>
            <a:off x="5124091" y="5564038"/>
            <a:ext cx="517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/>
              <a:t>JN</a:t>
            </a:r>
            <a:endParaRPr lang="es-PE" dirty="0"/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F8709A24-AEEA-493F-8525-AC37C8343743}"/>
              </a:ext>
            </a:extLst>
          </p:cNvPr>
          <p:cNvSpPr txBox="1"/>
          <p:nvPr/>
        </p:nvSpPr>
        <p:spPr>
          <a:xfrm>
            <a:off x="687242" y="1817306"/>
            <a:ext cx="3910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/>
              <a:t>JT</a:t>
            </a:r>
            <a:endParaRPr lang="es-PE" dirty="0"/>
          </a:p>
        </p:txBody>
      </p:sp>
      <p:cxnSp>
        <p:nvCxnSpPr>
          <p:cNvPr id="38" name="Conector recto de flecha 37">
            <a:extLst>
              <a:ext uri="{FF2B5EF4-FFF2-40B4-BE49-F238E27FC236}">
                <a16:creationId xmlns:a16="http://schemas.microsoft.com/office/drawing/2014/main" id="{A00D0932-E384-4E76-9AF1-FB2BDC198824}"/>
              </a:ext>
            </a:extLst>
          </p:cNvPr>
          <p:cNvCxnSpPr/>
          <p:nvPr/>
        </p:nvCxnSpPr>
        <p:spPr>
          <a:xfrm flipH="1">
            <a:off x="560717" y="3174522"/>
            <a:ext cx="155275" cy="2372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cto de flecha 38">
            <a:extLst>
              <a:ext uri="{FF2B5EF4-FFF2-40B4-BE49-F238E27FC236}">
                <a16:creationId xmlns:a16="http://schemas.microsoft.com/office/drawing/2014/main" id="{E04756B5-6BA4-424A-80D6-8F4EF099B7C4}"/>
              </a:ext>
            </a:extLst>
          </p:cNvPr>
          <p:cNvCxnSpPr/>
          <p:nvPr/>
        </p:nvCxnSpPr>
        <p:spPr>
          <a:xfrm>
            <a:off x="946524" y="4180949"/>
            <a:ext cx="0" cy="258792"/>
          </a:xfrm>
          <a:prstGeom prst="straightConnector1">
            <a:avLst/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cto de flecha 39">
            <a:extLst>
              <a:ext uri="{FF2B5EF4-FFF2-40B4-BE49-F238E27FC236}">
                <a16:creationId xmlns:a16="http://schemas.microsoft.com/office/drawing/2014/main" id="{E2472981-48DC-4FC4-BDB3-BB602582BC0F}"/>
              </a:ext>
            </a:extLst>
          </p:cNvPr>
          <p:cNvCxnSpPr/>
          <p:nvPr/>
        </p:nvCxnSpPr>
        <p:spPr>
          <a:xfrm flipH="1">
            <a:off x="1880568" y="3200400"/>
            <a:ext cx="224287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cto 40">
            <a:extLst>
              <a:ext uri="{FF2B5EF4-FFF2-40B4-BE49-F238E27FC236}">
                <a16:creationId xmlns:a16="http://schemas.microsoft.com/office/drawing/2014/main" id="{7D77FA57-785D-4599-9BC2-511AFD71B2FD}"/>
              </a:ext>
            </a:extLst>
          </p:cNvPr>
          <p:cNvCxnSpPr/>
          <p:nvPr/>
        </p:nvCxnSpPr>
        <p:spPr>
          <a:xfrm>
            <a:off x="2113476" y="3191774"/>
            <a:ext cx="0" cy="2631056"/>
          </a:xfrm>
          <a:prstGeom prst="line">
            <a:avLst/>
          </a:prstGeom>
          <a:ln w="254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recto 41">
            <a:extLst>
              <a:ext uri="{FF2B5EF4-FFF2-40B4-BE49-F238E27FC236}">
                <a16:creationId xmlns:a16="http://schemas.microsoft.com/office/drawing/2014/main" id="{437F7CC2-7F26-44CA-A776-AB16624E3471}"/>
              </a:ext>
            </a:extLst>
          </p:cNvPr>
          <p:cNvCxnSpPr/>
          <p:nvPr/>
        </p:nvCxnSpPr>
        <p:spPr>
          <a:xfrm>
            <a:off x="715992" y="3165895"/>
            <a:ext cx="3252159" cy="25879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cto 42">
            <a:extLst>
              <a:ext uri="{FF2B5EF4-FFF2-40B4-BE49-F238E27FC236}">
                <a16:creationId xmlns:a16="http://schemas.microsoft.com/office/drawing/2014/main" id="{1459A31C-A0B9-406C-81D6-4F0C428386FB}"/>
              </a:ext>
            </a:extLst>
          </p:cNvPr>
          <p:cNvCxnSpPr/>
          <p:nvPr/>
        </p:nvCxnSpPr>
        <p:spPr>
          <a:xfrm>
            <a:off x="783813" y="4174975"/>
            <a:ext cx="3890513" cy="0"/>
          </a:xfrm>
          <a:prstGeom prst="line">
            <a:avLst/>
          </a:prstGeom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Elipse 43">
            <a:extLst>
              <a:ext uri="{FF2B5EF4-FFF2-40B4-BE49-F238E27FC236}">
                <a16:creationId xmlns:a16="http://schemas.microsoft.com/office/drawing/2014/main" id="{38D351A8-5DDD-4DEA-9ED2-E73721C0DE5A}"/>
              </a:ext>
            </a:extLst>
          </p:cNvPr>
          <p:cNvSpPr/>
          <p:nvPr/>
        </p:nvSpPr>
        <p:spPr>
          <a:xfrm>
            <a:off x="2085975" y="4248148"/>
            <a:ext cx="57150" cy="5715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0610B201-9E12-4ECA-A9DA-1FBC35770220}"/>
              </a:ext>
            </a:extLst>
          </p:cNvPr>
          <p:cNvSpPr txBox="1"/>
          <p:nvPr/>
        </p:nvSpPr>
        <p:spPr>
          <a:xfrm>
            <a:off x="380143" y="3244334"/>
            <a:ext cx="6780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3000</a:t>
            </a:r>
            <a:endParaRPr lang="es-PE" dirty="0"/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F5D2E8A3-2552-4C83-A1FA-3730725F93EE}"/>
              </a:ext>
            </a:extLst>
          </p:cNvPr>
          <p:cNvSpPr txBox="1"/>
          <p:nvPr/>
        </p:nvSpPr>
        <p:spPr>
          <a:xfrm>
            <a:off x="2895599" y="5585130"/>
            <a:ext cx="6780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3000</a:t>
            </a:r>
            <a:endParaRPr lang="es-PE" dirty="0"/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CD561CB7-8157-42A2-BF41-379C6D05C567}"/>
              </a:ext>
            </a:extLst>
          </p:cNvPr>
          <p:cNvSpPr txBox="1"/>
          <p:nvPr/>
        </p:nvSpPr>
        <p:spPr>
          <a:xfrm>
            <a:off x="2154148" y="5583417"/>
            <a:ext cx="6780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2000</a:t>
            </a:r>
            <a:endParaRPr lang="es-PE" dirty="0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4D4FC68D-E8B7-44C1-B93A-C0185DA25A7A}"/>
              </a:ext>
            </a:extLst>
          </p:cNvPr>
          <p:cNvSpPr txBox="1"/>
          <p:nvPr/>
        </p:nvSpPr>
        <p:spPr>
          <a:xfrm>
            <a:off x="1464067" y="5571431"/>
            <a:ext cx="6780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1000</a:t>
            </a:r>
            <a:endParaRPr lang="es-PE" dirty="0"/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085E5CCC-4957-48E6-BF17-B71DB2A38BBE}"/>
              </a:ext>
            </a:extLst>
          </p:cNvPr>
          <p:cNvSpPr txBox="1"/>
          <p:nvPr/>
        </p:nvSpPr>
        <p:spPr>
          <a:xfrm>
            <a:off x="388704" y="3961812"/>
            <a:ext cx="6780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2000</a:t>
            </a:r>
            <a:endParaRPr lang="es-PE" dirty="0"/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6BF552A8-61E9-4738-8134-33DF6B53BAA6}"/>
              </a:ext>
            </a:extLst>
          </p:cNvPr>
          <p:cNvSpPr txBox="1"/>
          <p:nvPr/>
        </p:nvSpPr>
        <p:spPr>
          <a:xfrm>
            <a:off x="386993" y="4679291"/>
            <a:ext cx="6780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1000</a:t>
            </a:r>
            <a:endParaRPr lang="es-PE" dirty="0"/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DBA850AE-C062-4FA2-A4B0-EE2E48AEE3EE}"/>
              </a:ext>
            </a:extLst>
          </p:cNvPr>
          <p:cNvSpPr txBox="1"/>
          <p:nvPr/>
        </p:nvSpPr>
        <p:spPr>
          <a:xfrm>
            <a:off x="3643900" y="5583418"/>
            <a:ext cx="6780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4000</a:t>
            </a:r>
            <a:endParaRPr lang="es-PE" dirty="0"/>
          </a:p>
        </p:txBody>
      </p:sp>
      <p:sp>
        <p:nvSpPr>
          <p:cNvPr id="52" name="Rectángulo 51">
            <a:extLst>
              <a:ext uri="{FF2B5EF4-FFF2-40B4-BE49-F238E27FC236}">
                <a16:creationId xmlns:a16="http://schemas.microsoft.com/office/drawing/2014/main" id="{139F1C10-D41F-4728-977C-E4FE34AF102C}"/>
              </a:ext>
            </a:extLst>
          </p:cNvPr>
          <p:cNvSpPr/>
          <p:nvPr/>
        </p:nvSpPr>
        <p:spPr>
          <a:xfrm>
            <a:off x="2501660" y="1568902"/>
            <a:ext cx="2855344" cy="1477328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lvl="0"/>
            <a:r>
              <a:rPr lang="es-PE" dirty="0"/>
              <a:t>MAX </a:t>
            </a:r>
            <a:r>
              <a:rPr lang="es-PE" dirty="0" err="1"/>
              <a:t>0,55JN</a:t>
            </a:r>
            <a:r>
              <a:rPr lang="es-PE" dirty="0"/>
              <a:t> + </a:t>
            </a:r>
            <a:r>
              <a:rPr lang="es-PE" dirty="0" err="1"/>
              <a:t>0,40JT</a:t>
            </a:r>
            <a:endParaRPr lang="es-ES" dirty="0"/>
          </a:p>
          <a:p>
            <a:r>
              <a:rPr lang="es-ES" dirty="0" err="1"/>
              <a:t>ST</a:t>
            </a:r>
            <a:endParaRPr lang="es-ES" dirty="0"/>
          </a:p>
          <a:p>
            <a:pPr lvl="0"/>
            <a:r>
              <a:rPr lang="es-PE" dirty="0" err="1"/>
              <a:t>0.04JN</a:t>
            </a:r>
            <a:r>
              <a:rPr lang="es-PE" dirty="0"/>
              <a:t> + </a:t>
            </a:r>
            <a:r>
              <a:rPr lang="es-PE" dirty="0" err="1"/>
              <a:t>0.05JT</a:t>
            </a:r>
            <a:r>
              <a:rPr lang="es-PE" dirty="0"/>
              <a:t> &lt;=150</a:t>
            </a:r>
          </a:p>
          <a:p>
            <a:pPr lvl="0"/>
            <a:r>
              <a:rPr lang="es-PE" dirty="0"/>
              <a:t>	</a:t>
            </a:r>
            <a:r>
              <a:rPr lang="es-PE" dirty="0" err="1"/>
              <a:t>0.70JN</a:t>
            </a:r>
            <a:r>
              <a:rPr lang="es-PE" dirty="0"/>
              <a:t>  &lt;=1000</a:t>
            </a:r>
          </a:p>
          <a:p>
            <a:pPr lvl="0"/>
            <a:r>
              <a:rPr lang="es-PE" dirty="0"/>
              <a:t>	</a:t>
            </a:r>
            <a:r>
              <a:rPr lang="es-PE" dirty="0" err="1"/>
              <a:t>0.50JT</a:t>
            </a:r>
            <a:r>
              <a:rPr lang="es-PE" dirty="0"/>
              <a:t>   &lt;=1000</a:t>
            </a:r>
          </a:p>
        </p:txBody>
      </p:sp>
      <p:sp>
        <p:nvSpPr>
          <p:cNvPr id="53" name="Forma libre: forma 52">
            <a:extLst>
              <a:ext uri="{FF2B5EF4-FFF2-40B4-BE49-F238E27FC236}">
                <a16:creationId xmlns:a16="http://schemas.microsoft.com/office/drawing/2014/main" id="{5531F1DF-61F1-47AD-B092-C914B18B37CD}"/>
              </a:ext>
            </a:extLst>
          </p:cNvPr>
          <p:cNvSpPr/>
          <p:nvPr/>
        </p:nvSpPr>
        <p:spPr>
          <a:xfrm>
            <a:off x="1047351" y="4153546"/>
            <a:ext cx="1053885" cy="1425844"/>
          </a:xfrm>
          <a:custGeom>
            <a:avLst/>
            <a:gdLst>
              <a:gd name="connsiteX0" fmla="*/ 0 w 1053885"/>
              <a:gd name="connsiteY0" fmla="*/ 0 h 1441342"/>
              <a:gd name="connsiteX1" fmla="*/ 30997 w 1053885"/>
              <a:gd name="connsiteY1" fmla="*/ 1441342 h 1441342"/>
              <a:gd name="connsiteX2" fmla="*/ 1038387 w 1053885"/>
              <a:gd name="connsiteY2" fmla="*/ 1425844 h 1441342"/>
              <a:gd name="connsiteX3" fmla="*/ 1053885 w 1053885"/>
              <a:gd name="connsiteY3" fmla="*/ 108488 h 1441342"/>
              <a:gd name="connsiteX4" fmla="*/ 945397 w 1053885"/>
              <a:gd name="connsiteY4" fmla="*/ 15498 h 1441342"/>
              <a:gd name="connsiteX5" fmla="*/ 0 w 1053885"/>
              <a:gd name="connsiteY5" fmla="*/ 0 h 14413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53885" h="1441342">
                <a:moveTo>
                  <a:pt x="0" y="0"/>
                </a:moveTo>
                <a:lnTo>
                  <a:pt x="30997" y="1441342"/>
                </a:lnTo>
                <a:lnTo>
                  <a:pt x="1038387" y="1425844"/>
                </a:lnTo>
                <a:lnTo>
                  <a:pt x="1053885" y="108488"/>
                </a:lnTo>
                <a:lnTo>
                  <a:pt x="945397" y="15498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54" name="Conector recto 53">
            <a:extLst>
              <a:ext uri="{FF2B5EF4-FFF2-40B4-BE49-F238E27FC236}">
                <a16:creationId xmlns:a16="http://schemas.microsoft.com/office/drawing/2014/main" id="{C7641EE6-4925-488D-98B1-717E12C27343}"/>
              </a:ext>
            </a:extLst>
          </p:cNvPr>
          <p:cNvCxnSpPr>
            <a:cxnSpLocks/>
          </p:cNvCxnSpPr>
          <p:nvPr/>
        </p:nvCxnSpPr>
        <p:spPr>
          <a:xfrm>
            <a:off x="511444" y="3239146"/>
            <a:ext cx="2805193" cy="3332135"/>
          </a:xfrm>
          <a:prstGeom prst="line">
            <a:avLst/>
          </a:prstGeom>
          <a:ln w="254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recto de flecha 54">
            <a:extLst>
              <a:ext uri="{FF2B5EF4-FFF2-40B4-BE49-F238E27FC236}">
                <a16:creationId xmlns:a16="http://schemas.microsoft.com/office/drawing/2014/main" id="{A3ADA5CF-0319-4239-9EAA-32B574C9D987}"/>
              </a:ext>
            </a:extLst>
          </p:cNvPr>
          <p:cNvCxnSpPr/>
          <p:nvPr/>
        </p:nvCxnSpPr>
        <p:spPr>
          <a:xfrm flipV="1">
            <a:off x="1052422" y="1690778"/>
            <a:ext cx="0" cy="454612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ector recto 55">
            <a:extLst>
              <a:ext uri="{FF2B5EF4-FFF2-40B4-BE49-F238E27FC236}">
                <a16:creationId xmlns:a16="http://schemas.microsoft.com/office/drawing/2014/main" id="{84E30139-7625-4ACB-9F8F-F7FD64FF5634}"/>
              </a:ext>
            </a:extLst>
          </p:cNvPr>
          <p:cNvCxnSpPr>
            <a:cxnSpLocks/>
          </p:cNvCxnSpPr>
          <p:nvPr/>
        </p:nvCxnSpPr>
        <p:spPr>
          <a:xfrm>
            <a:off x="663844" y="2554643"/>
            <a:ext cx="2805193" cy="3332135"/>
          </a:xfrm>
          <a:prstGeom prst="line">
            <a:avLst/>
          </a:prstGeom>
          <a:ln w="254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6703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3 Tabla"/>
          <p:cNvGraphicFramePr>
            <a:graphicFrameLocks noGrp="1"/>
          </p:cNvGraphicFramePr>
          <p:nvPr/>
        </p:nvGraphicFramePr>
        <p:xfrm>
          <a:off x="1772520" y="1349396"/>
          <a:ext cx="8784976" cy="157853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484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154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10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656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PE" sz="2400" b="1" dirty="0">
                          <a:solidFill>
                            <a:srgbClr val="FF0000"/>
                          </a:solidFill>
                          <a:effectLst/>
                          <a:latin typeface="Arial Narrow" pitchFamily="34" charset="0"/>
                        </a:rPr>
                        <a:t>Valor lado derecho</a:t>
                      </a:r>
                      <a:endParaRPr lang="es-PE" sz="2400" b="1" dirty="0">
                        <a:solidFill>
                          <a:srgbClr val="FF0000"/>
                        </a:solidFill>
                        <a:effectLst/>
                        <a:latin typeface="Arial Narrow" pitchFamily="34" charset="0"/>
                        <a:ea typeface="Calibri"/>
                      </a:endParaRPr>
                    </a:p>
                  </a:txBody>
                  <a:tcPr marL="44450" marR="44450" marT="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PE" sz="2400" b="1" dirty="0">
                          <a:solidFill>
                            <a:srgbClr val="FF0000"/>
                          </a:solidFill>
                          <a:effectLst/>
                          <a:latin typeface="Arial Narrow" pitchFamily="34" charset="0"/>
                        </a:rPr>
                        <a:t>Solución óptima</a:t>
                      </a:r>
                      <a:endParaRPr lang="es-PE" sz="2400" b="1" dirty="0">
                        <a:solidFill>
                          <a:srgbClr val="FF0000"/>
                        </a:solidFill>
                        <a:effectLst/>
                        <a:latin typeface="Arial Narrow" pitchFamily="34" charset="0"/>
                        <a:ea typeface="Calibri"/>
                      </a:endParaRPr>
                    </a:p>
                  </a:txBody>
                  <a:tcPr marL="44450" marR="44450" marT="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PE" sz="2400" b="1" dirty="0">
                          <a:solidFill>
                            <a:srgbClr val="FF0000"/>
                          </a:solidFill>
                          <a:effectLst/>
                          <a:latin typeface="Arial Narrow" pitchFamily="34" charset="0"/>
                        </a:rPr>
                        <a:t>Valor función objetivo</a:t>
                      </a:r>
                      <a:endParaRPr lang="es-PE" sz="2400" b="1" dirty="0">
                        <a:solidFill>
                          <a:srgbClr val="FF0000"/>
                        </a:solidFill>
                        <a:effectLst/>
                        <a:latin typeface="Arial Narrow" pitchFamily="34" charset="0"/>
                        <a:ea typeface="Calibri"/>
                      </a:endParaRPr>
                    </a:p>
                  </a:txBody>
                  <a:tcPr marL="44450" marR="44450" marT="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0557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es-PE" sz="2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9525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PE" sz="24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JN</a:t>
                      </a:r>
                      <a:r>
                        <a:rPr lang="es-PE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0; </a:t>
                      </a:r>
                      <a:r>
                        <a:rPr lang="es-PE" sz="24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JT</a:t>
                      </a:r>
                      <a:r>
                        <a:rPr lang="es-PE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3000</a:t>
                      </a:r>
                    </a:p>
                  </a:txBody>
                  <a:tcPr marL="9525" marR="9525" marT="9525" marB="9525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1200</a:t>
                      </a:r>
                      <a:endParaRPr lang="es-PE" sz="2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9525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0557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2625</a:t>
                      </a:r>
                      <a:endParaRPr lang="es-PE" sz="2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9525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PE" sz="24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JN</a:t>
                      </a:r>
                      <a:r>
                        <a:rPr lang="es-PE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3750 ; </a:t>
                      </a:r>
                      <a:r>
                        <a:rPr lang="es-PE" sz="24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JT</a:t>
                      </a:r>
                      <a:r>
                        <a:rPr lang="es-PE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0</a:t>
                      </a:r>
                    </a:p>
                  </a:txBody>
                  <a:tcPr marL="9525" marR="9525" marT="9525" marB="9525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2062,5</a:t>
                      </a:r>
                      <a:endParaRPr lang="es-PE" sz="2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9525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4 Rectángulo"/>
          <p:cNvSpPr/>
          <p:nvPr/>
        </p:nvSpPr>
        <p:spPr>
          <a:xfrm>
            <a:off x="1991544" y="5114802"/>
            <a:ext cx="444025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PE" sz="2000" dirty="0"/>
              <a:t>El precio sombra de la restricción I será:</a:t>
            </a:r>
          </a:p>
        </p:txBody>
      </p:sp>
      <p:sp>
        <p:nvSpPr>
          <p:cNvPr id="12" name="11 CuadroTexto"/>
          <p:cNvSpPr txBox="1"/>
          <p:nvPr/>
        </p:nvSpPr>
        <p:spPr>
          <a:xfrm>
            <a:off x="10056438" y="6100208"/>
            <a:ext cx="21355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1000  Lado Derecho</a:t>
            </a:r>
            <a:endParaRPr lang="es-PE" dirty="0"/>
          </a:p>
        </p:txBody>
      </p:sp>
      <p:sp>
        <p:nvSpPr>
          <p:cNvPr id="13" name="12 CuadroTexto"/>
          <p:cNvSpPr txBox="1"/>
          <p:nvPr/>
        </p:nvSpPr>
        <p:spPr>
          <a:xfrm>
            <a:off x="6698751" y="4380435"/>
            <a:ext cx="8013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Y=</a:t>
            </a:r>
            <a:r>
              <a:rPr lang="es-ES" dirty="0" err="1"/>
              <a:t>F.O</a:t>
            </a:r>
            <a:r>
              <a:rPr lang="es-ES" dirty="0"/>
              <a:t>.</a:t>
            </a:r>
            <a:endParaRPr lang="es-PE" dirty="0"/>
          </a:p>
        </p:txBody>
      </p:sp>
      <p:sp>
        <p:nvSpPr>
          <p:cNvPr id="15" name="14 Elipse"/>
          <p:cNvSpPr/>
          <p:nvPr/>
        </p:nvSpPr>
        <p:spPr>
          <a:xfrm>
            <a:off x="8332342" y="5490028"/>
            <a:ext cx="79420" cy="8906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9" name="18 Triángulo rectángulo"/>
          <p:cNvSpPr/>
          <p:nvPr/>
        </p:nvSpPr>
        <p:spPr>
          <a:xfrm flipH="1">
            <a:off x="7686136" y="5003321"/>
            <a:ext cx="2734568" cy="72461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3" name="2 Conector recto"/>
          <p:cNvCxnSpPr>
            <a:cxnSpLocks/>
            <a:stCxn id="15" idx="4"/>
          </p:cNvCxnSpPr>
          <p:nvPr/>
        </p:nvCxnSpPr>
        <p:spPr>
          <a:xfrm>
            <a:off x="8372052" y="5579094"/>
            <a:ext cx="0" cy="544304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7 Conector recto"/>
          <p:cNvCxnSpPr>
            <a:cxnSpLocks/>
            <a:endCxn id="15" idx="2"/>
          </p:cNvCxnSpPr>
          <p:nvPr/>
        </p:nvCxnSpPr>
        <p:spPr>
          <a:xfrm>
            <a:off x="7530957" y="5534561"/>
            <a:ext cx="801385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17 Conector recto"/>
          <p:cNvCxnSpPr>
            <a:cxnSpLocks/>
          </p:cNvCxnSpPr>
          <p:nvPr/>
        </p:nvCxnSpPr>
        <p:spPr>
          <a:xfrm>
            <a:off x="10425897" y="4999941"/>
            <a:ext cx="0" cy="1102908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19 Conector recto"/>
          <p:cNvCxnSpPr>
            <a:cxnSpLocks/>
          </p:cNvCxnSpPr>
          <p:nvPr/>
        </p:nvCxnSpPr>
        <p:spPr>
          <a:xfrm>
            <a:off x="8986683" y="5376744"/>
            <a:ext cx="0" cy="826205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21 Conector recto"/>
          <p:cNvCxnSpPr>
            <a:cxnSpLocks/>
          </p:cNvCxnSpPr>
          <p:nvPr/>
        </p:nvCxnSpPr>
        <p:spPr>
          <a:xfrm>
            <a:off x="7520683" y="5022994"/>
            <a:ext cx="2835705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22 Conector recto"/>
          <p:cNvCxnSpPr>
            <a:cxnSpLocks/>
          </p:cNvCxnSpPr>
          <p:nvPr/>
        </p:nvCxnSpPr>
        <p:spPr>
          <a:xfrm flipV="1">
            <a:off x="7536160" y="5359802"/>
            <a:ext cx="1440160" cy="2255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1 CuadroTexto"/>
          <p:cNvSpPr txBox="1"/>
          <p:nvPr/>
        </p:nvSpPr>
        <p:spPr>
          <a:xfrm>
            <a:off x="10405671" y="5051087"/>
            <a:ext cx="7963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000" dirty="0"/>
              <a:t>∆y</a:t>
            </a:r>
          </a:p>
        </p:txBody>
      </p:sp>
      <p:sp>
        <p:nvSpPr>
          <p:cNvPr id="24" name="23 CuadroTexto"/>
          <p:cNvSpPr txBox="1"/>
          <p:nvPr/>
        </p:nvSpPr>
        <p:spPr>
          <a:xfrm>
            <a:off x="8965423" y="5774451"/>
            <a:ext cx="7963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2000" dirty="0"/>
              <a:t>∆x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5 CuadroTexto"/>
              <p:cNvSpPr txBox="1"/>
              <p:nvPr/>
            </p:nvSpPr>
            <p:spPr>
              <a:xfrm>
                <a:off x="1991544" y="4365105"/>
                <a:ext cx="2664296" cy="5370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2000" dirty="0"/>
                  <a:t>Pendiente=m=</a:t>
                </a:r>
                <a:r>
                  <a:rPr lang="es-ES" sz="2000" dirty="0" err="1"/>
                  <a:t>tg</a:t>
                </a:r>
                <a:r>
                  <a:rPr lang="es-ES" sz="2000" dirty="0"/>
                  <a:t>(</a:t>
                </a:r>
                <a:r>
                  <a:rPr lang="el-GR" sz="2000" dirty="0"/>
                  <a:t>α</a:t>
                </a:r>
                <a:r>
                  <a:rPr lang="es-ES" sz="2000" dirty="0"/>
                  <a:t>)=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E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2000" i="1">
                            <a:latin typeface="Cambria Math"/>
                          </a:rPr>
                          <m:t>∆</m:t>
                        </m:r>
                        <m:r>
                          <a:rPr lang="es-ES" sz="2000" i="1">
                            <a:latin typeface="Cambria Math"/>
                          </a:rPr>
                          <m:t>𝑦</m:t>
                        </m:r>
                      </m:num>
                      <m:den>
                        <m:r>
                          <a:rPr lang="es-ES" sz="2000" i="1">
                            <a:latin typeface="Cambria Math"/>
                          </a:rPr>
                          <m:t>∆</m:t>
                        </m:r>
                        <m:r>
                          <a:rPr lang="es-ES" sz="2000" i="1">
                            <a:latin typeface="Cambria Math"/>
                          </a:rPr>
                          <m:t>𝑥</m:t>
                        </m:r>
                      </m:den>
                    </m:f>
                  </m:oMath>
                </a14:m>
                <a:endParaRPr lang="es-PE" sz="2000" dirty="0"/>
              </a:p>
            </p:txBody>
          </p:sp>
        </mc:Choice>
        <mc:Fallback xmlns="">
          <p:sp>
            <p:nvSpPr>
              <p:cNvPr id="6" name="5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1544" y="4365105"/>
                <a:ext cx="2664296" cy="537070"/>
              </a:xfrm>
              <a:prstGeom prst="rect">
                <a:avLst/>
              </a:prstGeom>
              <a:blipFill>
                <a:blip r:embed="rId3"/>
                <a:stretch>
                  <a:fillRect l="-2517" b="-7955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9 CuadroTexto"/>
          <p:cNvSpPr txBox="1"/>
          <p:nvPr/>
        </p:nvSpPr>
        <p:spPr>
          <a:xfrm>
            <a:off x="1991544" y="3933056"/>
            <a:ext cx="43204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rgbClr val="FF0000"/>
                </a:solidFill>
              </a:rPr>
              <a:t>Precio Sombra=Precio dual=pendiente</a:t>
            </a:r>
            <a:endParaRPr lang="es-PE" sz="2000" b="1" dirty="0">
              <a:solidFill>
                <a:srgbClr val="FF0000"/>
              </a:solidFill>
            </a:endParaRPr>
          </a:p>
        </p:txBody>
      </p:sp>
      <p:sp>
        <p:nvSpPr>
          <p:cNvPr id="25" name="CustomShape 2">
            <a:extLst>
              <a:ext uri="{FF2B5EF4-FFF2-40B4-BE49-F238E27FC236}">
                <a16:creationId xmlns:a16="http://schemas.microsoft.com/office/drawing/2014/main" id="{FD6571E3-8CA2-4904-AA1D-E46AC5BC8E79}"/>
              </a:ext>
            </a:extLst>
          </p:cNvPr>
          <p:cNvSpPr/>
          <p:nvPr/>
        </p:nvSpPr>
        <p:spPr>
          <a:xfrm>
            <a:off x="6098874" y="0"/>
            <a:ext cx="6093125" cy="1061049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/>
            <a:r>
              <a:rPr lang="es-PE" sz="3200" dirty="0">
                <a:solidFill>
                  <a:schemeClr val="bg1"/>
                </a:solidFill>
                <a:latin typeface="Bauhaus 93" pitchFamily="82" charset="0"/>
              </a:rPr>
              <a:t>Análisis de sensibilidad del lado derecho</a:t>
            </a:r>
          </a:p>
        </p:txBody>
      </p:sp>
      <p:sp>
        <p:nvSpPr>
          <p:cNvPr id="32" name="14 Elipse">
            <a:extLst>
              <a:ext uri="{FF2B5EF4-FFF2-40B4-BE49-F238E27FC236}">
                <a16:creationId xmlns:a16="http://schemas.microsoft.com/office/drawing/2014/main" id="{879646D5-AB4F-4134-AE96-D4C57F793393}"/>
              </a:ext>
            </a:extLst>
          </p:cNvPr>
          <p:cNvSpPr/>
          <p:nvPr/>
        </p:nvSpPr>
        <p:spPr>
          <a:xfrm>
            <a:off x="8947079" y="5323930"/>
            <a:ext cx="79420" cy="8906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3" name="14 Elipse">
            <a:extLst>
              <a:ext uri="{FF2B5EF4-FFF2-40B4-BE49-F238E27FC236}">
                <a16:creationId xmlns:a16="http://schemas.microsoft.com/office/drawing/2014/main" id="{B6C01DA2-6AFF-44A3-8B3C-F25D1D931B4A}"/>
              </a:ext>
            </a:extLst>
          </p:cNvPr>
          <p:cNvSpPr/>
          <p:nvPr/>
        </p:nvSpPr>
        <p:spPr>
          <a:xfrm>
            <a:off x="10352926" y="4962621"/>
            <a:ext cx="79420" cy="8906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40" name="Conector recto de flecha 39">
            <a:extLst>
              <a:ext uri="{FF2B5EF4-FFF2-40B4-BE49-F238E27FC236}">
                <a16:creationId xmlns:a16="http://schemas.microsoft.com/office/drawing/2014/main" id="{4B5FDE8E-B146-4F44-A5E0-D1D124E26E5E}"/>
              </a:ext>
            </a:extLst>
          </p:cNvPr>
          <p:cNvCxnSpPr/>
          <p:nvPr/>
        </p:nvCxnSpPr>
        <p:spPr>
          <a:xfrm flipV="1">
            <a:off x="7674796" y="4202130"/>
            <a:ext cx="0" cy="208565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recto de flecha 41">
            <a:extLst>
              <a:ext uri="{FF2B5EF4-FFF2-40B4-BE49-F238E27FC236}">
                <a16:creationId xmlns:a16="http://schemas.microsoft.com/office/drawing/2014/main" id="{4952CDF9-ACBB-4A1B-9D79-042E0B31EC98}"/>
              </a:ext>
            </a:extLst>
          </p:cNvPr>
          <p:cNvCxnSpPr/>
          <p:nvPr/>
        </p:nvCxnSpPr>
        <p:spPr>
          <a:xfrm>
            <a:off x="7315200" y="6143944"/>
            <a:ext cx="4623371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10 Conector recto"/>
          <p:cNvCxnSpPr>
            <a:cxnSpLocks/>
          </p:cNvCxnSpPr>
          <p:nvPr/>
        </p:nvCxnSpPr>
        <p:spPr>
          <a:xfrm flipV="1">
            <a:off x="7320136" y="4634144"/>
            <a:ext cx="4584819" cy="118180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Objeto 6">
            <a:extLst>
              <a:ext uri="{FF2B5EF4-FFF2-40B4-BE49-F238E27FC236}">
                <a16:creationId xmlns:a16="http://schemas.microsoft.com/office/drawing/2014/main" id="{F251766D-AAE3-4704-BE6E-17579C58080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08200" y="5680075"/>
          <a:ext cx="2970213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2247840" imgH="393480" progId="">
                  <p:embed/>
                </p:oleObj>
              </mc:Choice>
              <mc:Fallback>
                <p:oleObj r:id="rId4" imgW="2247840" imgH="393480" progId="">
                  <p:embed/>
                  <p:pic>
                    <p:nvPicPr>
                      <p:cNvPr id="7" name="Objeto 6">
                        <a:extLst>
                          <a:ext uri="{FF2B5EF4-FFF2-40B4-BE49-F238E27FC236}">
                            <a16:creationId xmlns:a16="http://schemas.microsoft.com/office/drawing/2014/main" id="{F251766D-AAE3-4704-BE6E-17579C58080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08200" y="5680075"/>
                        <a:ext cx="2970213" cy="5191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CuadroTexto 25">
            <a:extLst>
              <a:ext uri="{FF2B5EF4-FFF2-40B4-BE49-F238E27FC236}">
                <a16:creationId xmlns:a16="http://schemas.microsoft.com/office/drawing/2014/main" id="{408E5C95-2FC1-41AB-8738-4A455CE33264}"/>
              </a:ext>
            </a:extLst>
          </p:cNvPr>
          <p:cNvSpPr txBox="1"/>
          <p:nvPr/>
        </p:nvSpPr>
        <p:spPr>
          <a:xfrm>
            <a:off x="1996751" y="186613"/>
            <a:ext cx="257524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000" dirty="0">
                <a:solidFill>
                  <a:srgbClr val="0070C0"/>
                </a:solidFill>
              </a:rPr>
              <a:t>4.39</a:t>
            </a:r>
            <a:endParaRPr lang="es-PE" sz="40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1807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Rectángulo"/>
          <p:cNvSpPr/>
          <p:nvPr/>
        </p:nvSpPr>
        <p:spPr>
          <a:xfrm>
            <a:off x="1775520" y="1628801"/>
            <a:ext cx="3312368" cy="4708981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lvl="0"/>
            <a:r>
              <a:rPr lang="es-PE" sz="2000" dirty="0"/>
              <a:t>MAX </a:t>
            </a:r>
            <a:r>
              <a:rPr lang="es-PE" sz="2000" dirty="0" err="1"/>
              <a:t>0,55JN</a:t>
            </a:r>
            <a:r>
              <a:rPr lang="es-PE" sz="2000" dirty="0"/>
              <a:t> + </a:t>
            </a:r>
            <a:r>
              <a:rPr lang="es-PE" sz="2000" dirty="0" err="1"/>
              <a:t>0,40JT</a:t>
            </a:r>
            <a:endParaRPr lang="es-ES" sz="2000" dirty="0"/>
          </a:p>
          <a:p>
            <a:r>
              <a:rPr lang="es-ES" sz="2000" dirty="0" err="1"/>
              <a:t>ST</a:t>
            </a:r>
            <a:endParaRPr lang="es-ES" sz="2000" dirty="0"/>
          </a:p>
          <a:p>
            <a:pPr lvl="0"/>
            <a:r>
              <a:rPr lang="es-PE" sz="2000" dirty="0" err="1"/>
              <a:t>0.04JN</a:t>
            </a:r>
            <a:r>
              <a:rPr lang="es-PE" sz="2000" dirty="0"/>
              <a:t> + </a:t>
            </a:r>
            <a:r>
              <a:rPr lang="es-PE" sz="2000" dirty="0" err="1"/>
              <a:t>0.05JT</a:t>
            </a:r>
            <a:r>
              <a:rPr lang="es-PE" sz="2000" dirty="0"/>
              <a:t> &lt;=150</a:t>
            </a:r>
          </a:p>
          <a:p>
            <a:pPr lvl="0"/>
            <a:r>
              <a:rPr lang="es-PE" sz="2000" dirty="0"/>
              <a:t>	</a:t>
            </a:r>
            <a:r>
              <a:rPr lang="es-PE" sz="2000" dirty="0" err="1"/>
              <a:t>0.70JN</a:t>
            </a:r>
            <a:r>
              <a:rPr lang="es-PE" sz="2000" dirty="0"/>
              <a:t>  &lt;=1000</a:t>
            </a:r>
          </a:p>
          <a:p>
            <a:pPr lvl="0"/>
            <a:r>
              <a:rPr lang="es-PE" sz="2000" dirty="0"/>
              <a:t>	</a:t>
            </a:r>
            <a:r>
              <a:rPr lang="es-PE" sz="2000" dirty="0" err="1"/>
              <a:t>0.50JT</a:t>
            </a:r>
            <a:r>
              <a:rPr lang="es-PE" sz="2000" dirty="0"/>
              <a:t>   &lt;=1000</a:t>
            </a:r>
          </a:p>
          <a:p>
            <a:pPr lvl="0"/>
            <a:r>
              <a:rPr lang="es-ES" sz="2000" dirty="0">
                <a:solidFill>
                  <a:srgbClr val="FF0000"/>
                </a:solidFill>
              </a:rPr>
              <a:t>SOLUCIÓN</a:t>
            </a:r>
          </a:p>
          <a:p>
            <a:pPr lvl="0"/>
            <a:r>
              <a:rPr lang="es-ES" sz="2000" dirty="0"/>
              <a:t>Análisis de sensibilidad de los coeficientes de la </a:t>
            </a:r>
            <a:r>
              <a:rPr lang="es-ES" sz="2000" dirty="0" err="1"/>
              <a:t>F.O</a:t>
            </a:r>
            <a:r>
              <a:rPr lang="es-ES" sz="2000" dirty="0"/>
              <a:t>.</a:t>
            </a:r>
          </a:p>
          <a:p>
            <a:r>
              <a:rPr lang="es-PE" sz="2000" dirty="0">
                <a:solidFill>
                  <a:srgbClr val="FF0000"/>
                </a:solidFill>
                <a:latin typeface="Arial Narrow" pitchFamily="34" charset="0"/>
              </a:rPr>
              <a:t>	0,32 ≤ </a:t>
            </a:r>
            <a:r>
              <a:rPr lang="el-GR" sz="2000" dirty="0">
                <a:latin typeface="Arial Narrow" pitchFamily="34" charset="0"/>
              </a:rPr>
              <a:t>α</a:t>
            </a:r>
            <a:r>
              <a:rPr lang="es-PE" sz="2000" dirty="0">
                <a:solidFill>
                  <a:srgbClr val="FF0000"/>
                </a:solidFill>
                <a:latin typeface="Arial Narrow" pitchFamily="34" charset="0"/>
              </a:rPr>
              <a:t> &lt; ∞</a:t>
            </a:r>
          </a:p>
          <a:p>
            <a:r>
              <a:rPr lang="es-PE" sz="2000" dirty="0">
                <a:solidFill>
                  <a:srgbClr val="FF0000"/>
                </a:solidFill>
                <a:latin typeface="Arial Narrow" pitchFamily="34" charset="0"/>
              </a:rPr>
              <a:t>	     0 ≤ </a:t>
            </a:r>
            <a:r>
              <a:rPr lang="el-GR" sz="2000" dirty="0">
                <a:latin typeface="Arial Narrow" pitchFamily="34" charset="0"/>
              </a:rPr>
              <a:t>β</a:t>
            </a:r>
            <a:r>
              <a:rPr lang="es-PE" sz="2000" dirty="0">
                <a:solidFill>
                  <a:srgbClr val="FF0000"/>
                </a:solidFill>
                <a:latin typeface="Arial Narrow" pitchFamily="34" charset="0"/>
              </a:rPr>
              <a:t> &lt;0,6875</a:t>
            </a:r>
          </a:p>
          <a:p>
            <a:r>
              <a:rPr lang="es-ES" sz="2000" dirty="0"/>
              <a:t>Análisis de sensibilidad del lado derecho</a:t>
            </a:r>
          </a:p>
          <a:p>
            <a:r>
              <a:rPr lang="es-ES" sz="2000" dirty="0"/>
              <a:t>m=8               (Restricción 1)</a:t>
            </a:r>
          </a:p>
          <a:p>
            <a:r>
              <a:rPr lang="es-ES" sz="2000" dirty="0"/>
              <a:t>m=0,328571 (Restricción 2)</a:t>
            </a:r>
          </a:p>
          <a:p>
            <a:r>
              <a:rPr lang="es-ES" sz="2000" dirty="0"/>
              <a:t>m=0               (Restricción 3)</a:t>
            </a:r>
            <a:endParaRPr lang="es-PE" sz="2000" dirty="0"/>
          </a:p>
        </p:txBody>
      </p:sp>
      <p:sp>
        <p:nvSpPr>
          <p:cNvPr id="6" name="CustomShape 2"/>
          <p:cNvSpPr/>
          <p:nvPr/>
        </p:nvSpPr>
        <p:spPr>
          <a:xfrm>
            <a:off x="6096000" y="310296"/>
            <a:ext cx="6095999" cy="578472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/>
            <a:r>
              <a:rPr lang="es-PE" sz="3200" dirty="0">
                <a:solidFill>
                  <a:schemeClr val="bg1"/>
                </a:solidFill>
                <a:latin typeface="Bauhaus 93" pitchFamily="82" charset="0"/>
              </a:rPr>
              <a:t>Lindo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1CE40197-D6AA-434A-A9ED-13D751DD02EC}"/>
              </a:ext>
            </a:extLst>
          </p:cNvPr>
          <p:cNvSpPr/>
          <p:nvPr/>
        </p:nvSpPr>
        <p:spPr>
          <a:xfrm>
            <a:off x="6473126" y="1160211"/>
            <a:ext cx="5718874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s-PE" dirty="0"/>
          </a:p>
          <a:p>
            <a:r>
              <a:rPr lang="es-PE" dirty="0"/>
              <a:t>        </a:t>
            </a:r>
            <a:r>
              <a:rPr lang="es-PE" dirty="0" err="1"/>
              <a:t>OBJECTIVE</a:t>
            </a:r>
            <a:r>
              <a:rPr lang="es-PE" dirty="0"/>
              <a:t> </a:t>
            </a:r>
            <a:r>
              <a:rPr lang="es-PE" dirty="0" err="1"/>
              <a:t>FUNCTION</a:t>
            </a:r>
            <a:r>
              <a:rPr lang="es-PE" dirty="0"/>
              <a:t> </a:t>
            </a:r>
            <a:r>
              <a:rPr lang="es-PE" dirty="0" err="1"/>
              <a:t>VALUE</a:t>
            </a:r>
            <a:endParaRPr lang="es-PE" dirty="0"/>
          </a:p>
          <a:p>
            <a:r>
              <a:rPr lang="es-PE" dirty="0"/>
              <a:t>        1)      1528.571</a:t>
            </a:r>
          </a:p>
          <a:p>
            <a:r>
              <a:rPr lang="es-PE" dirty="0"/>
              <a:t>  VARIABLE        </a:t>
            </a:r>
            <a:r>
              <a:rPr lang="es-PE" dirty="0" err="1"/>
              <a:t>VALUE</a:t>
            </a:r>
            <a:r>
              <a:rPr lang="es-PE" dirty="0"/>
              <a:t>          </a:t>
            </a:r>
            <a:r>
              <a:rPr lang="es-PE" dirty="0" err="1"/>
              <a:t>REDUCED</a:t>
            </a:r>
            <a:r>
              <a:rPr lang="es-PE" dirty="0"/>
              <a:t> </a:t>
            </a:r>
            <a:r>
              <a:rPr lang="es-PE" dirty="0" err="1"/>
              <a:t>COST</a:t>
            </a:r>
            <a:endParaRPr lang="es-PE" dirty="0"/>
          </a:p>
          <a:p>
            <a:r>
              <a:rPr lang="es-PE" dirty="0"/>
              <a:t>        </a:t>
            </a:r>
            <a:r>
              <a:rPr lang="es-PE" dirty="0" err="1"/>
              <a:t>JN</a:t>
            </a:r>
            <a:r>
              <a:rPr lang="es-PE" dirty="0"/>
              <a:t>      1428.571411          0.000000</a:t>
            </a:r>
          </a:p>
          <a:p>
            <a:r>
              <a:rPr lang="es-PE" dirty="0"/>
              <a:t>        </a:t>
            </a:r>
            <a:r>
              <a:rPr lang="es-PE" dirty="0" err="1"/>
              <a:t>JT</a:t>
            </a:r>
            <a:r>
              <a:rPr lang="es-PE" dirty="0"/>
              <a:t>      1857.142822          0.000000</a:t>
            </a:r>
          </a:p>
          <a:p>
            <a:r>
              <a:rPr lang="es-PE" dirty="0"/>
              <a:t>       </a:t>
            </a:r>
            <a:r>
              <a:rPr lang="es-PE" dirty="0" err="1"/>
              <a:t>ROW</a:t>
            </a:r>
            <a:r>
              <a:rPr lang="es-PE" dirty="0"/>
              <a:t>   </a:t>
            </a:r>
            <a:r>
              <a:rPr lang="es-PE" dirty="0" err="1"/>
              <a:t>SLACK</a:t>
            </a:r>
            <a:r>
              <a:rPr lang="es-PE" dirty="0"/>
              <a:t> </a:t>
            </a:r>
            <a:r>
              <a:rPr lang="es-PE" dirty="0" err="1"/>
              <a:t>OR</a:t>
            </a:r>
            <a:r>
              <a:rPr lang="es-PE" dirty="0"/>
              <a:t> SURPLUS     DUAL </a:t>
            </a:r>
            <a:r>
              <a:rPr lang="es-PE" dirty="0" err="1"/>
              <a:t>PRICES</a:t>
            </a:r>
            <a:endParaRPr lang="es-PE" dirty="0"/>
          </a:p>
          <a:p>
            <a:r>
              <a:rPr lang="es-PE" dirty="0"/>
              <a:t>        2)         0.000000          8.000000</a:t>
            </a:r>
          </a:p>
          <a:p>
            <a:r>
              <a:rPr lang="es-PE" dirty="0"/>
              <a:t>        3)         0.000000          0.328571</a:t>
            </a:r>
          </a:p>
          <a:p>
            <a:r>
              <a:rPr lang="es-PE" dirty="0"/>
              <a:t>        4)        71.428574          0.000000</a:t>
            </a:r>
          </a:p>
          <a:p>
            <a:r>
              <a:rPr lang="es-PE" dirty="0"/>
              <a:t> NO. </a:t>
            </a:r>
            <a:r>
              <a:rPr lang="es-PE" dirty="0" err="1"/>
              <a:t>ITERATIONS</a:t>
            </a:r>
            <a:r>
              <a:rPr lang="es-PE" dirty="0"/>
              <a:t>=       2</a:t>
            </a:r>
          </a:p>
          <a:p>
            <a:r>
              <a:rPr lang="es-PE" dirty="0"/>
              <a:t> </a:t>
            </a:r>
            <a:r>
              <a:rPr lang="es-PE" dirty="0" err="1"/>
              <a:t>RANGES</a:t>
            </a:r>
            <a:r>
              <a:rPr lang="es-PE" dirty="0"/>
              <a:t> IN </a:t>
            </a:r>
            <a:r>
              <a:rPr lang="es-PE" dirty="0" err="1"/>
              <a:t>WHICH</a:t>
            </a:r>
            <a:r>
              <a:rPr lang="es-PE" dirty="0"/>
              <a:t> </a:t>
            </a:r>
            <a:r>
              <a:rPr lang="es-PE" dirty="0" err="1"/>
              <a:t>THE</a:t>
            </a:r>
            <a:r>
              <a:rPr lang="es-PE" dirty="0"/>
              <a:t> </a:t>
            </a:r>
            <a:r>
              <a:rPr lang="es-PE" dirty="0" err="1"/>
              <a:t>BASIS</a:t>
            </a:r>
            <a:r>
              <a:rPr lang="es-PE" dirty="0"/>
              <a:t> IS </a:t>
            </a:r>
            <a:r>
              <a:rPr lang="es-PE" dirty="0" err="1"/>
              <a:t>UNCHANGED</a:t>
            </a:r>
            <a:r>
              <a:rPr lang="es-PE" dirty="0"/>
              <a:t>:</a:t>
            </a:r>
          </a:p>
          <a:p>
            <a:r>
              <a:rPr lang="es-PE" dirty="0"/>
              <a:t>                           </a:t>
            </a:r>
            <a:r>
              <a:rPr lang="es-PE" dirty="0" err="1"/>
              <a:t>OBJ</a:t>
            </a:r>
            <a:r>
              <a:rPr lang="es-PE" dirty="0"/>
              <a:t> </a:t>
            </a:r>
            <a:r>
              <a:rPr lang="es-PE" dirty="0" err="1"/>
              <a:t>COEFFICIENT</a:t>
            </a:r>
            <a:r>
              <a:rPr lang="es-PE" dirty="0"/>
              <a:t> </a:t>
            </a:r>
            <a:r>
              <a:rPr lang="es-PE" dirty="0" err="1"/>
              <a:t>RANGES</a:t>
            </a:r>
            <a:endParaRPr lang="es-PE" dirty="0"/>
          </a:p>
          <a:p>
            <a:r>
              <a:rPr lang="es-PE" dirty="0"/>
              <a:t> VARIABLE         </a:t>
            </a:r>
            <a:r>
              <a:rPr lang="es-PE" dirty="0" err="1"/>
              <a:t>CURRENT</a:t>
            </a:r>
            <a:r>
              <a:rPr lang="es-PE" dirty="0"/>
              <a:t>        </a:t>
            </a:r>
            <a:r>
              <a:rPr lang="es-PE" dirty="0" err="1"/>
              <a:t>ALLOWABLE</a:t>
            </a:r>
            <a:r>
              <a:rPr lang="es-PE" dirty="0"/>
              <a:t>        </a:t>
            </a:r>
            <a:r>
              <a:rPr lang="es-PE" dirty="0" err="1"/>
              <a:t>ALLOWABLE</a:t>
            </a:r>
            <a:endParaRPr lang="es-PE" dirty="0"/>
          </a:p>
          <a:p>
            <a:r>
              <a:rPr lang="es-PE" dirty="0"/>
              <a:t>                              </a:t>
            </a:r>
            <a:r>
              <a:rPr lang="es-PE" dirty="0" err="1"/>
              <a:t>COEF</a:t>
            </a:r>
            <a:r>
              <a:rPr lang="es-PE" dirty="0"/>
              <a:t>              </a:t>
            </a:r>
            <a:r>
              <a:rPr lang="es-PE" dirty="0" err="1"/>
              <a:t>INCREASE</a:t>
            </a:r>
            <a:r>
              <a:rPr lang="es-PE" dirty="0"/>
              <a:t>            </a:t>
            </a:r>
            <a:r>
              <a:rPr lang="es-PE" dirty="0" err="1"/>
              <a:t>DECREASE</a:t>
            </a:r>
            <a:endParaRPr lang="es-PE" dirty="0"/>
          </a:p>
          <a:p>
            <a:r>
              <a:rPr lang="es-PE" dirty="0"/>
              <a:t>       </a:t>
            </a:r>
            <a:r>
              <a:rPr lang="es-PE" dirty="0" err="1"/>
              <a:t>JN</a:t>
            </a:r>
            <a:r>
              <a:rPr lang="es-PE" dirty="0"/>
              <a:t>        0.550000         </a:t>
            </a:r>
            <a:r>
              <a:rPr lang="es-PE" dirty="0" err="1"/>
              <a:t>INFINITY</a:t>
            </a:r>
            <a:r>
              <a:rPr lang="es-PE" dirty="0"/>
              <a:t>         0.230000</a:t>
            </a:r>
          </a:p>
          <a:p>
            <a:r>
              <a:rPr lang="es-PE" dirty="0"/>
              <a:t>       </a:t>
            </a:r>
            <a:r>
              <a:rPr lang="es-PE" dirty="0" err="1"/>
              <a:t>JT</a:t>
            </a:r>
            <a:r>
              <a:rPr lang="es-PE" dirty="0"/>
              <a:t>        0.400000         0.287500         0.400000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E14E320A-6CB6-4C17-AA12-D941B59742E5}"/>
              </a:ext>
            </a:extLst>
          </p:cNvPr>
          <p:cNvSpPr txBox="1"/>
          <p:nvPr/>
        </p:nvSpPr>
        <p:spPr>
          <a:xfrm>
            <a:off x="1996751" y="186613"/>
            <a:ext cx="257524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000" dirty="0">
                <a:solidFill>
                  <a:srgbClr val="0070C0"/>
                </a:solidFill>
              </a:rPr>
              <a:t>4.39</a:t>
            </a:r>
            <a:endParaRPr lang="es-PE" sz="40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43203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4 Diagrama"/>
          <p:cNvGraphicFramePr/>
          <p:nvPr/>
        </p:nvGraphicFramePr>
        <p:xfrm>
          <a:off x="320057" y="5633927"/>
          <a:ext cx="6701846" cy="7213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3" name="2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5038699"/>
              </p:ext>
            </p:extLst>
          </p:nvPr>
        </p:nvGraphicFramePr>
        <p:xfrm>
          <a:off x="659372" y="3654014"/>
          <a:ext cx="5715000" cy="1897356"/>
        </p:xfrm>
        <a:graphic>
          <a:graphicData uri="http://schemas.openxmlformats.org/drawingml/2006/table">
            <a:tbl>
              <a:tblPr/>
              <a:tblGrid>
                <a:gridCol w="21304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48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48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48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6177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</a:pPr>
                      <a:endParaRPr lang="es-ES_tradnl" sz="2000" b="0" dirty="0">
                        <a:latin typeface="Arial"/>
                        <a:ea typeface="Times New Roman"/>
                      </a:endParaRPr>
                    </a:p>
                  </a:txBody>
                  <a:tcPr marL="11430" marR="11430" marT="11426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es-ES_tradnl" sz="2000" b="0" dirty="0">
                          <a:latin typeface="Arial"/>
                          <a:ea typeface="Times New Roman"/>
                        </a:rPr>
                        <a:t>Producto </a:t>
                      </a:r>
                      <a:endParaRPr lang="es-ES" sz="2000" b="0" dirty="0">
                        <a:latin typeface="Times New Roman"/>
                        <a:ea typeface="Times New Roman"/>
                      </a:endParaRPr>
                    </a:p>
                  </a:txBody>
                  <a:tcPr marL="11430" marR="11430" marT="11426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es-ES_tradnl" sz="2000" b="0">
                          <a:latin typeface="Arial"/>
                          <a:ea typeface="Times New Roman"/>
                        </a:rPr>
                        <a:t>Producto </a:t>
                      </a:r>
                      <a:endParaRPr lang="es-ES" sz="2000" b="0">
                        <a:latin typeface="Times New Roman"/>
                        <a:ea typeface="Times New Roman"/>
                      </a:endParaRPr>
                    </a:p>
                  </a:txBody>
                  <a:tcPr marL="11430" marR="11430" marT="11426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es-ES_tradnl" sz="2000" b="0">
                          <a:latin typeface="Arial"/>
                          <a:ea typeface="Times New Roman"/>
                        </a:rPr>
                        <a:t>Producto </a:t>
                      </a:r>
                      <a:endParaRPr lang="es-ES" sz="2000" b="0">
                        <a:latin typeface="Times New Roman"/>
                        <a:ea typeface="Times New Roman"/>
                      </a:endParaRPr>
                    </a:p>
                  </a:txBody>
                  <a:tcPr marL="11430" marR="11430" marT="11426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177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</a:pPr>
                      <a:endParaRPr lang="es-ES_tradnl" sz="2000" b="0" dirty="0">
                        <a:latin typeface="Arial"/>
                        <a:ea typeface="Times New Roman"/>
                      </a:endParaRPr>
                    </a:p>
                  </a:txBody>
                  <a:tcPr marL="11430" marR="11430" marT="11426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es-ES_tradnl" sz="2000" b="0" dirty="0">
                          <a:latin typeface="Arial"/>
                          <a:ea typeface="Times New Roman"/>
                        </a:rPr>
                        <a:t>A</a:t>
                      </a:r>
                      <a:endParaRPr lang="es-ES" sz="2000" b="0" dirty="0">
                        <a:latin typeface="Times New Roman"/>
                        <a:ea typeface="Times New Roman"/>
                      </a:endParaRPr>
                    </a:p>
                  </a:txBody>
                  <a:tcPr marL="11430" marR="11430" marT="11426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es-ES_tradnl" sz="2000" b="0">
                          <a:latin typeface="Arial"/>
                          <a:ea typeface="Times New Roman"/>
                        </a:rPr>
                        <a:t>B</a:t>
                      </a:r>
                      <a:endParaRPr lang="es-ES" sz="2000" b="0">
                        <a:latin typeface="Times New Roman"/>
                        <a:ea typeface="Times New Roman"/>
                      </a:endParaRPr>
                    </a:p>
                  </a:txBody>
                  <a:tcPr marL="11430" marR="11430" marT="11426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es-ES_tradnl" sz="2000" b="0">
                          <a:latin typeface="Arial"/>
                          <a:ea typeface="Times New Roman"/>
                        </a:rPr>
                        <a:t>C</a:t>
                      </a:r>
                      <a:endParaRPr lang="es-ES" sz="2000" b="0">
                        <a:latin typeface="Times New Roman"/>
                        <a:ea typeface="Times New Roman"/>
                      </a:endParaRPr>
                    </a:p>
                  </a:txBody>
                  <a:tcPr marL="11430" marR="11430" marT="11426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6177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</a:pPr>
                      <a:r>
                        <a:rPr lang="es-ES_tradnl" sz="2000" b="0" dirty="0">
                          <a:latin typeface="Arial"/>
                          <a:ea typeface="Times New Roman"/>
                        </a:rPr>
                        <a:t>Departamento I</a:t>
                      </a:r>
                      <a:endParaRPr lang="es-ES" sz="2000" b="0" dirty="0">
                        <a:latin typeface="Times New Roman"/>
                        <a:ea typeface="Times New Roman"/>
                      </a:endParaRPr>
                    </a:p>
                  </a:txBody>
                  <a:tcPr marL="11430" marR="11430" marT="11426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es-ES_tradnl" sz="2000" b="0" dirty="0">
                          <a:latin typeface="Arial"/>
                          <a:ea typeface="Times New Roman"/>
                        </a:rPr>
                        <a:t>2</a:t>
                      </a:r>
                      <a:endParaRPr lang="es-ES" sz="2000" b="0" dirty="0">
                        <a:latin typeface="Times New Roman"/>
                        <a:ea typeface="Times New Roman"/>
                      </a:endParaRPr>
                    </a:p>
                  </a:txBody>
                  <a:tcPr marL="11430" marR="11430" marT="11426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es-ES_tradnl" sz="2000" b="0" dirty="0">
                          <a:latin typeface="Arial"/>
                          <a:ea typeface="Times New Roman"/>
                        </a:rPr>
                        <a:t>1</a:t>
                      </a:r>
                      <a:endParaRPr lang="es-ES" sz="2000" b="0" dirty="0">
                        <a:latin typeface="Times New Roman"/>
                        <a:ea typeface="Times New Roman"/>
                      </a:endParaRPr>
                    </a:p>
                  </a:txBody>
                  <a:tcPr marL="11430" marR="11430" marT="11426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es-ES_tradnl" sz="2000" b="0">
                          <a:latin typeface="Arial"/>
                          <a:ea typeface="Times New Roman"/>
                        </a:rPr>
                        <a:t>2</a:t>
                      </a:r>
                      <a:endParaRPr lang="es-ES" sz="2000" b="0">
                        <a:latin typeface="Times New Roman"/>
                        <a:ea typeface="Times New Roman"/>
                      </a:endParaRPr>
                    </a:p>
                  </a:txBody>
                  <a:tcPr marL="11430" marR="11430" marT="11426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6177">
                <a:tc>
                  <a:txBody>
                    <a:bodyPr/>
                    <a:lstStyle/>
                    <a:p>
                      <a:pPr hangingPunct="0"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s-ES_tradnl" sz="2000" b="0">
                          <a:latin typeface="Arial"/>
                          <a:ea typeface="Times New Roman"/>
                          <a:cs typeface="Arial"/>
                        </a:rPr>
                        <a:t>Departamento II</a:t>
                      </a:r>
                      <a:endParaRPr lang="es-ES" sz="2000" b="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1430" marR="11430" marT="11426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es-ES_tradnl" sz="2000" b="0" dirty="0">
                          <a:latin typeface="Arial"/>
                          <a:ea typeface="Times New Roman"/>
                        </a:rPr>
                        <a:t>3</a:t>
                      </a:r>
                      <a:endParaRPr lang="es-ES" sz="2000" b="0" dirty="0">
                        <a:latin typeface="Times New Roman"/>
                        <a:ea typeface="Times New Roman"/>
                      </a:endParaRPr>
                    </a:p>
                  </a:txBody>
                  <a:tcPr marL="11430" marR="11430" marT="11426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es-ES_tradnl" sz="2000" b="0" dirty="0">
                          <a:latin typeface="Arial"/>
                          <a:ea typeface="Times New Roman"/>
                        </a:rPr>
                        <a:t>1</a:t>
                      </a:r>
                      <a:endParaRPr lang="es-ES" sz="2000" b="0" dirty="0">
                        <a:latin typeface="Times New Roman"/>
                        <a:ea typeface="Times New Roman"/>
                      </a:endParaRPr>
                    </a:p>
                  </a:txBody>
                  <a:tcPr marL="11430" marR="11430" marT="11426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es-ES_tradnl" sz="2000" b="0" dirty="0">
                          <a:latin typeface="Arial"/>
                          <a:ea typeface="Times New Roman"/>
                        </a:rPr>
                        <a:t>2</a:t>
                      </a:r>
                      <a:endParaRPr lang="es-ES" sz="2000" b="0" dirty="0">
                        <a:latin typeface="Times New Roman"/>
                        <a:ea typeface="Times New Roman"/>
                      </a:endParaRPr>
                    </a:p>
                  </a:txBody>
                  <a:tcPr marL="11430" marR="11430" marT="11426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6177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</a:pPr>
                      <a:r>
                        <a:rPr lang="es-ES_tradnl" sz="2000" b="0">
                          <a:latin typeface="Arial"/>
                          <a:ea typeface="Times New Roman"/>
                        </a:rPr>
                        <a:t>Departamento III</a:t>
                      </a:r>
                      <a:endParaRPr lang="es-ES" sz="2000" b="0">
                        <a:latin typeface="Times New Roman"/>
                        <a:ea typeface="Times New Roman"/>
                      </a:endParaRPr>
                    </a:p>
                  </a:txBody>
                  <a:tcPr marL="11430" marR="11430" marT="11426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es-ES_tradnl" sz="2000" b="0">
                          <a:latin typeface="Arial"/>
                          <a:ea typeface="Times New Roman"/>
                        </a:rPr>
                        <a:t>2</a:t>
                      </a:r>
                      <a:endParaRPr lang="es-ES" sz="2000" b="0">
                        <a:latin typeface="Times New Roman"/>
                        <a:ea typeface="Times New Roman"/>
                      </a:endParaRPr>
                    </a:p>
                  </a:txBody>
                  <a:tcPr marL="11430" marR="11430" marT="11426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es-ES_tradnl" sz="2000" b="0" dirty="0">
                          <a:latin typeface="Arial"/>
                          <a:ea typeface="Times New Roman"/>
                        </a:rPr>
                        <a:t>2</a:t>
                      </a:r>
                      <a:endParaRPr lang="es-ES" sz="2000" b="0" dirty="0">
                        <a:latin typeface="Times New Roman"/>
                        <a:ea typeface="Times New Roman"/>
                      </a:endParaRPr>
                    </a:p>
                  </a:txBody>
                  <a:tcPr marL="11430" marR="11430" marT="11426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es-ES_tradnl" sz="2000" b="0" dirty="0">
                          <a:latin typeface="Arial"/>
                          <a:ea typeface="Times New Roman"/>
                        </a:rPr>
                        <a:t>1</a:t>
                      </a:r>
                      <a:endParaRPr lang="es-ES" sz="2000" b="0" dirty="0">
                        <a:latin typeface="Times New Roman"/>
                        <a:ea typeface="Times New Roman"/>
                      </a:endParaRPr>
                    </a:p>
                  </a:txBody>
                  <a:tcPr marL="11430" marR="11430" marT="11426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6177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</a:pPr>
                      <a:r>
                        <a:rPr lang="es-ES_tradnl" sz="2000" b="0">
                          <a:latin typeface="Arial"/>
                          <a:ea typeface="Times New Roman"/>
                        </a:rPr>
                        <a:t>Ganancia</a:t>
                      </a:r>
                      <a:endParaRPr lang="es-ES" sz="2000" b="0">
                        <a:latin typeface="Times New Roman"/>
                        <a:ea typeface="Times New Roman"/>
                      </a:endParaRPr>
                    </a:p>
                  </a:txBody>
                  <a:tcPr marL="11430" marR="11430" marT="11426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es-ES_tradnl" sz="2000" b="0">
                          <a:latin typeface="Arial"/>
                          <a:ea typeface="Times New Roman"/>
                        </a:rPr>
                        <a:t>$16</a:t>
                      </a:r>
                      <a:endParaRPr lang="es-ES" sz="2000" b="0">
                        <a:latin typeface="Times New Roman"/>
                        <a:ea typeface="Times New Roman"/>
                      </a:endParaRPr>
                    </a:p>
                  </a:txBody>
                  <a:tcPr marL="11430" marR="11430" marT="11426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es-ES_tradnl" sz="2000" b="0" dirty="0">
                          <a:latin typeface="Arial"/>
                          <a:ea typeface="Times New Roman"/>
                        </a:rPr>
                        <a:t>$12</a:t>
                      </a:r>
                      <a:endParaRPr lang="es-ES" sz="2000" b="0" dirty="0">
                        <a:latin typeface="Times New Roman"/>
                        <a:ea typeface="Times New Roman"/>
                      </a:endParaRPr>
                    </a:p>
                  </a:txBody>
                  <a:tcPr marL="11430" marR="11430" marT="11426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spcAft>
                          <a:spcPts val="0"/>
                        </a:spcAft>
                      </a:pPr>
                      <a:r>
                        <a:rPr lang="es-ES_tradnl" sz="2000" b="0" dirty="0">
                          <a:latin typeface="Arial"/>
                          <a:ea typeface="Times New Roman"/>
                        </a:rPr>
                        <a:t>$15</a:t>
                      </a:r>
                      <a:endParaRPr lang="es-ES" sz="2000" b="0" dirty="0">
                        <a:latin typeface="Times New Roman"/>
                        <a:ea typeface="Times New Roman"/>
                      </a:endParaRPr>
                    </a:p>
                  </a:txBody>
                  <a:tcPr marL="11430" marR="11430" marT="11426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4" name="3 Diagrama"/>
          <p:cNvGraphicFramePr/>
          <p:nvPr/>
        </p:nvGraphicFramePr>
        <p:xfrm>
          <a:off x="156301" y="1306836"/>
          <a:ext cx="6753459" cy="22346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7" name="CustomShape 2"/>
          <p:cNvSpPr/>
          <p:nvPr/>
        </p:nvSpPr>
        <p:spPr>
          <a:xfrm>
            <a:off x="6107502" y="284258"/>
            <a:ext cx="6084498" cy="578472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/>
            <a:r>
              <a:rPr lang="es-PE" sz="3200" dirty="0">
                <a:solidFill>
                  <a:schemeClr val="bg1"/>
                </a:solidFill>
                <a:latin typeface="Bauhaus 93" pitchFamily="82" charset="0"/>
              </a:rPr>
              <a:t>Problema 5</a:t>
            </a:r>
          </a:p>
        </p:txBody>
      </p:sp>
      <p:sp>
        <p:nvSpPr>
          <p:cNvPr id="6" name="2 Rectángulo">
            <a:extLst>
              <a:ext uri="{FF2B5EF4-FFF2-40B4-BE49-F238E27FC236}">
                <a16:creationId xmlns:a16="http://schemas.microsoft.com/office/drawing/2014/main" id="{6602AD1B-D79C-491F-A94A-7906E2B029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2672" y="1505191"/>
            <a:ext cx="4820569" cy="41549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s-PE" altLang="es-ES" sz="2400" dirty="0">
                <a:solidFill>
                  <a:srgbClr val="FF0000"/>
                </a:solidFill>
                <a:latin typeface="Arial Narrow" panose="020B0606020202030204" pitchFamily="34" charset="0"/>
              </a:rPr>
              <a:t>MODELO</a:t>
            </a:r>
          </a:p>
          <a:p>
            <a:pPr marL="571500" indent="-571500">
              <a:spcBef>
                <a:spcPct val="0"/>
              </a:spcBef>
              <a:buFontTx/>
              <a:buAutoNum type="romanUcPeriod"/>
            </a:pPr>
            <a:r>
              <a:rPr lang="es-PE" altLang="es-ES" sz="2400" dirty="0">
                <a:solidFill>
                  <a:srgbClr val="FF0000"/>
                </a:solidFill>
                <a:latin typeface="Arial Narrow" panose="020B0606020202030204" pitchFamily="34" charset="0"/>
              </a:rPr>
              <a:t>Identificación de las variables:</a:t>
            </a:r>
          </a:p>
          <a:p>
            <a:pPr lvl="1">
              <a:spcBef>
                <a:spcPct val="0"/>
              </a:spcBef>
              <a:buNone/>
            </a:pPr>
            <a:r>
              <a:rPr lang="es-PE" altLang="es-ES" sz="2000" dirty="0">
                <a:latin typeface="Arial Narrow" panose="020B0606020202030204" pitchFamily="34" charset="0"/>
              </a:rPr>
              <a:t>    </a:t>
            </a:r>
            <a:r>
              <a:rPr lang="es-PE" altLang="es-ES" sz="2400" dirty="0">
                <a:latin typeface="Arial Narrow" panose="020B0606020202030204" pitchFamily="34" charset="0"/>
              </a:rPr>
              <a:t>Xi=cantidad de unidades del producto i a producir esta semana.</a:t>
            </a:r>
          </a:p>
          <a:p>
            <a:pPr eaLnBrk="1">
              <a:spcBef>
                <a:spcPct val="0"/>
              </a:spcBef>
              <a:buNone/>
            </a:pPr>
            <a:r>
              <a:rPr lang="es-PE" altLang="es-ES" sz="2400" dirty="0">
                <a:solidFill>
                  <a:srgbClr val="FF0000"/>
                </a:solidFill>
                <a:latin typeface="Arial Narrow" panose="020B0606020202030204" pitchFamily="34" charset="0"/>
              </a:rPr>
              <a:t>II.  Identificación de la Función Objetivo</a:t>
            </a:r>
          </a:p>
          <a:p>
            <a:pPr eaLnBrk="1">
              <a:spcBef>
                <a:spcPct val="0"/>
              </a:spcBef>
              <a:buFontTx/>
              <a:buNone/>
            </a:pPr>
            <a:r>
              <a:rPr lang="es-PE" altLang="es-ES" sz="2400" dirty="0">
                <a:latin typeface="Arial Narrow" panose="020B0606020202030204" pitchFamily="34" charset="0"/>
              </a:rPr>
              <a:t>	Max </a:t>
            </a:r>
            <a:r>
              <a:rPr lang="es-PE" altLang="es-ES" sz="2400" dirty="0" err="1">
                <a:latin typeface="Arial Narrow" panose="020B0606020202030204" pitchFamily="34" charset="0"/>
              </a:rPr>
              <a:t>16X1</a:t>
            </a:r>
            <a:r>
              <a:rPr lang="es-PE" altLang="es-ES" sz="2400" dirty="0">
                <a:latin typeface="Arial Narrow" panose="020B0606020202030204" pitchFamily="34" charset="0"/>
              </a:rPr>
              <a:t> + </a:t>
            </a:r>
            <a:r>
              <a:rPr lang="es-PE" altLang="es-ES" sz="2400" dirty="0" err="1">
                <a:latin typeface="Arial Narrow" panose="020B0606020202030204" pitchFamily="34" charset="0"/>
              </a:rPr>
              <a:t>12X2</a:t>
            </a:r>
            <a:r>
              <a:rPr lang="es-PE" altLang="es-ES" sz="2400" dirty="0">
                <a:latin typeface="Arial Narrow" panose="020B0606020202030204" pitchFamily="34" charset="0"/>
              </a:rPr>
              <a:t> + </a:t>
            </a:r>
            <a:r>
              <a:rPr lang="es-PE" altLang="es-ES" sz="2400" dirty="0" err="1">
                <a:latin typeface="Arial Narrow" panose="020B0606020202030204" pitchFamily="34" charset="0"/>
              </a:rPr>
              <a:t>15X3</a:t>
            </a:r>
            <a:endParaRPr lang="es-ES" altLang="es-ES" sz="2400" dirty="0">
              <a:latin typeface="Arial Narrow" panose="020B0606020202030204" pitchFamily="34" charset="0"/>
            </a:endParaRPr>
          </a:p>
          <a:p>
            <a:pPr marL="571500" indent="-571500">
              <a:spcBef>
                <a:spcPct val="0"/>
              </a:spcBef>
              <a:buAutoNum type="romanUcPeriod" startAt="3"/>
            </a:pPr>
            <a:r>
              <a:rPr lang="es-PE" altLang="es-ES" sz="2400" dirty="0">
                <a:solidFill>
                  <a:srgbClr val="FF0000"/>
                </a:solidFill>
                <a:latin typeface="Arial Narrow" panose="020B0606020202030204" pitchFamily="34" charset="0"/>
              </a:rPr>
              <a:t>Identificación de las restricciones</a:t>
            </a:r>
          </a:p>
          <a:p>
            <a:pPr>
              <a:spcBef>
                <a:spcPct val="0"/>
              </a:spcBef>
              <a:buNone/>
            </a:pPr>
            <a:r>
              <a:rPr lang="es-PE" altLang="es-ES" sz="2400" dirty="0">
                <a:latin typeface="Arial Narrow" panose="020B0606020202030204" pitchFamily="34" charset="0"/>
              </a:rPr>
              <a:t> 	2 </a:t>
            </a:r>
            <a:r>
              <a:rPr lang="es-PE" altLang="es-ES" sz="2400" dirty="0" err="1">
                <a:latin typeface="Arial Narrow" panose="020B0606020202030204" pitchFamily="34" charset="0"/>
              </a:rPr>
              <a:t>X1</a:t>
            </a:r>
            <a:r>
              <a:rPr lang="es-PE" altLang="es-ES" sz="2400" dirty="0">
                <a:latin typeface="Arial Narrow" panose="020B0606020202030204" pitchFamily="34" charset="0"/>
              </a:rPr>
              <a:t> + </a:t>
            </a:r>
            <a:r>
              <a:rPr lang="es-PE" altLang="es-ES" sz="2400" dirty="0" err="1">
                <a:latin typeface="Arial Narrow" panose="020B0606020202030204" pitchFamily="34" charset="0"/>
              </a:rPr>
              <a:t>X2</a:t>
            </a:r>
            <a:r>
              <a:rPr lang="es-PE" altLang="es-ES" sz="2400" dirty="0">
                <a:latin typeface="Arial Narrow" panose="020B0606020202030204" pitchFamily="34" charset="0"/>
              </a:rPr>
              <a:t> + 2 </a:t>
            </a:r>
            <a:r>
              <a:rPr lang="es-PE" altLang="es-ES" sz="2400" dirty="0" err="1">
                <a:latin typeface="Arial Narrow" panose="020B0606020202030204" pitchFamily="34" charset="0"/>
              </a:rPr>
              <a:t>X3</a:t>
            </a:r>
            <a:r>
              <a:rPr lang="es-PE" altLang="es-ES" sz="2400" dirty="0">
                <a:latin typeface="Arial Narrow" panose="020B0606020202030204" pitchFamily="34" charset="0"/>
              </a:rPr>
              <a:t>  </a:t>
            </a:r>
            <a:r>
              <a:rPr lang="es-PE" altLang="es-ES" sz="2400" dirty="0">
                <a:latin typeface="Arial Narrow" panose="020B0606020202030204" pitchFamily="34" charset="0"/>
                <a:sym typeface="Symbol" pitchFamily="18" charset="2"/>
              </a:rPr>
              <a:t></a:t>
            </a:r>
            <a:r>
              <a:rPr lang="es-PE" altLang="es-ES" sz="2400" dirty="0">
                <a:latin typeface="Arial Narrow" panose="020B0606020202030204" pitchFamily="34" charset="0"/>
              </a:rPr>
              <a:t> 900</a:t>
            </a:r>
            <a:endParaRPr lang="es-ES" altLang="es-ES" sz="2400" dirty="0">
              <a:latin typeface="Arial Narrow" panose="020B0606020202030204" pitchFamily="34" charset="0"/>
            </a:endParaRPr>
          </a:p>
          <a:p>
            <a:pPr eaLnBrk="1">
              <a:spcBef>
                <a:spcPct val="0"/>
              </a:spcBef>
              <a:buFontTx/>
              <a:buNone/>
            </a:pPr>
            <a:r>
              <a:rPr lang="es-PE" altLang="es-ES" sz="2400" dirty="0">
                <a:latin typeface="Arial Narrow" panose="020B0606020202030204" pitchFamily="34" charset="0"/>
              </a:rPr>
              <a:t>	3 </a:t>
            </a:r>
            <a:r>
              <a:rPr lang="es-PE" altLang="es-ES" sz="2400" dirty="0" err="1">
                <a:latin typeface="Arial Narrow" panose="020B0606020202030204" pitchFamily="34" charset="0"/>
              </a:rPr>
              <a:t>X1</a:t>
            </a:r>
            <a:r>
              <a:rPr lang="es-PE" altLang="es-ES" sz="2400" dirty="0">
                <a:latin typeface="Arial Narrow" panose="020B0606020202030204" pitchFamily="34" charset="0"/>
              </a:rPr>
              <a:t> + </a:t>
            </a:r>
            <a:r>
              <a:rPr lang="es-PE" altLang="es-ES" sz="2400" dirty="0" err="1">
                <a:latin typeface="Arial Narrow" panose="020B0606020202030204" pitchFamily="34" charset="0"/>
              </a:rPr>
              <a:t>X2</a:t>
            </a:r>
            <a:r>
              <a:rPr lang="es-PE" altLang="es-ES" sz="2400" dirty="0">
                <a:latin typeface="Arial Narrow" panose="020B0606020202030204" pitchFamily="34" charset="0"/>
              </a:rPr>
              <a:t> + 2 </a:t>
            </a:r>
            <a:r>
              <a:rPr lang="es-PE" altLang="es-ES" sz="2400" dirty="0" err="1">
                <a:latin typeface="Arial Narrow" panose="020B0606020202030204" pitchFamily="34" charset="0"/>
              </a:rPr>
              <a:t>X3</a:t>
            </a:r>
            <a:r>
              <a:rPr lang="es-PE" altLang="es-ES" sz="2400" dirty="0">
                <a:latin typeface="Arial Narrow" panose="020B0606020202030204" pitchFamily="34" charset="0"/>
              </a:rPr>
              <a:t>  </a:t>
            </a:r>
            <a:r>
              <a:rPr lang="es-PE" altLang="es-ES" sz="2400" dirty="0">
                <a:latin typeface="Arial Narrow" panose="020B0606020202030204" pitchFamily="34" charset="0"/>
                <a:sym typeface="Symbol" pitchFamily="18" charset="2"/>
              </a:rPr>
              <a:t></a:t>
            </a:r>
            <a:r>
              <a:rPr lang="es-PE" altLang="es-ES" sz="2400" dirty="0">
                <a:latin typeface="Arial Narrow" panose="020B0606020202030204" pitchFamily="34" charset="0"/>
              </a:rPr>
              <a:t> 1080</a:t>
            </a:r>
            <a:endParaRPr lang="es-ES" altLang="es-ES" sz="2400" dirty="0">
              <a:latin typeface="Arial Narrow" panose="020B0606020202030204" pitchFamily="34" charset="0"/>
            </a:endParaRPr>
          </a:p>
          <a:p>
            <a:pPr eaLnBrk="1">
              <a:spcBef>
                <a:spcPct val="0"/>
              </a:spcBef>
              <a:buFontTx/>
              <a:buNone/>
            </a:pPr>
            <a:r>
              <a:rPr lang="es-PE" altLang="es-ES" sz="2400" dirty="0">
                <a:latin typeface="Arial Narrow" panose="020B0606020202030204" pitchFamily="34" charset="0"/>
              </a:rPr>
              <a:t>	2 </a:t>
            </a:r>
            <a:r>
              <a:rPr lang="es-PE" altLang="es-ES" sz="2400" dirty="0" err="1">
                <a:latin typeface="Arial Narrow" panose="020B0606020202030204" pitchFamily="34" charset="0"/>
              </a:rPr>
              <a:t>X1</a:t>
            </a:r>
            <a:r>
              <a:rPr lang="es-PE" altLang="es-ES" sz="2400" dirty="0">
                <a:latin typeface="Arial Narrow" panose="020B0606020202030204" pitchFamily="34" charset="0"/>
              </a:rPr>
              <a:t> + </a:t>
            </a:r>
            <a:r>
              <a:rPr lang="es-PE" altLang="es-ES" sz="2400" dirty="0" err="1">
                <a:latin typeface="Arial Narrow" panose="020B0606020202030204" pitchFamily="34" charset="0"/>
              </a:rPr>
              <a:t>2X2</a:t>
            </a:r>
            <a:r>
              <a:rPr lang="es-PE" altLang="es-ES" sz="2400" dirty="0">
                <a:latin typeface="Arial Narrow" panose="020B0606020202030204" pitchFamily="34" charset="0"/>
              </a:rPr>
              <a:t> +  </a:t>
            </a:r>
            <a:r>
              <a:rPr lang="es-PE" altLang="es-ES" sz="2400" dirty="0" err="1">
                <a:latin typeface="Arial Narrow" panose="020B0606020202030204" pitchFamily="34" charset="0"/>
              </a:rPr>
              <a:t>X3</a:t>
            </a:r>
            <a:r>
              <a:rPr lang="es-PE" altLang="es-ES" sz="2400" dirty="0">
                <a:latin typeface="Arial Narrow" panose="020B0606020202030204" pitchFamily="34" charset="0"/>
              </a:rPr>
              <a:t>  </a:t>
            </a:r>
            <a:r>
              <a:rPr lang="es-PE" altLang="es-ES" sz="2400" dirty="0">
                <a:latin typeface="Arial Narrow" panose="020B0606020202030204" pitchFamily="34" charset="0"/>
                <a:sym typeface="Symbol" pitchFamily="18" charset="2"/>
              </a:rPr>
              <a:t></a:t>
            </a:r>
            <a:r>
              <a:rPr lang="es-PE" altLang="es-ES" sz="2400" dirty="0">
                <a:latin typeface="Arial Narrow" panose="020B0606020202030204" pitchFamily="34" charset="0"/>
              </a:rPr>
              <a:t> 840</a:t>
            </a:r>
            <a:endParaRPr lang="es-ES" altLang="es-ES" sz="2400" dirty="0">
              <a:latin typeface="Arial Narrow" panose="020B0606020202030204" pitchFamily="34" charset="0"/>
            </a:endParaRPr>
          </a:p>
          <a:p>
            <a:pPr eaLnBrk="1">
              <a:spcBef>
                <a:spcPct val="0"/>
              </a:spcBef>
              <a:buFontTx/>
              <a:buNone/>
            </a:pPr>
            <a:r>
              <a:rPr lang="es-PE" altLang="es-ES" sz="2400" dirty="0">
                <a:latin typeface="Arial Narrow" panose="020B0606020202030204" pitchFamily="34" charset="0"/>
              </a:rPr>
              <a:t>	   </a:t>
            </a:r>
            <a:r>
              <a:rPr lang="es-PE" altLang="es-ES" sz="2400" dirty="0" err="1">
                <a:latin typeface="Arial Narrow" panose="020B0606020202030204" pitchFamily="34" charset="0"/>
              </a:rPr>
              <a:t>X1</a:t>
            </a:r>
            <a:r>
              <a:rPr lang="es-PE" altLang="es-ES" sz="2400" dirty="0">
                <a:latin typeface="Arial Narrow" panose="020B0606020202030204" pitchFamily="34" charset="0"/>
              </a:rPr>
              <a:t>,     </a:t>
            </a:r>
            <a:r>
              <a:rPr lang="es-PE" altLang="es-ES" sz="2400" dirty="0" err="1">
                <a:latin typeface="Arial Narrow" panose="020B0606020202030204" pitchFamily="34" charset="0"/>
              </a:rPr>
              <a:t>X2</a:t>
            </a:r>
            <a:r>
              <a:rPr lang="es-PE" altLang="es-ES" sz="2400" dirty="0">
                <a:latin typeface="Arial Narrow" panose="020B0606020202030204" pitchFamily="34" charset="0"/>
              </a:rPr>
              <a:t>,     </a:t>
            </a:r>
            <a:r>
              <a:rPr lang="es-PE" altLang="es-ES" sz="2400" dirty="0" err="1">
                <a:latin typeface="Arial Narrow" panose="020B0606020202030204" pitchFamily="34" charset="0"/>
              </a:rPr>
              <a:t>X3</a:t>
            </a:r>
            <a:r>
              <a:rPr lang="es-PE" altLang="es-ES" sz="2400" dirty="0">
                <a:latin typeface="Arial Narrow" panose="020B0606020202030204" pitchFamily="34" charset="0"/>
              </a:rPr>
              <a:t>  </a:t>
            </a:r>
            <a:r>
              <a:rPr lang="es-PE" altLang="es-ES" sz="2400" dirty="0">
                <a:latin typeface="Arial Narrow" panose="020B0606020202030204" pitchFamily="34" charset="0"/>
                <a:sym typeface="Symbol" pitchFamily="18" charset="2"/>
              </a:rPr>
              <a:t></a:t>
            </a:r>
            <a:r>
              <a:rPr lang="es-PE" altLang="es-ES" sz="2400" dirty="0">
                <a:latin typeface="Arial Narrow" panose="020B0606020202030204" pitchFamily="34" charset="0"/>
              </a:rPr>
              <a:t> 0, Enteros</a:t>
            </a:r>
            <a:endParaRPr lang="es-ES" altLang="es-ES" sz="2400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86647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650929" y="1412777"/>
            <a:ext cx="4652983" cy="4708981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s-PE" sz="2000"/>
              <a:t>Max 16X1 + 12X2 + 15X3</a:t>
            </a:r>
          </a:p>
          <a:p>
            <a:r>
              <a:rPr lang="es-PE" sz="2000"/>
              <a:t>ST</a:t>
            </a:r>
          </a:p>
          <a:p>
            <a:r>
              <a:rPr lang="es-PE" sz="2000"/>
              <a:t> 2 X1 + X2 + 2 X3 &lt;= 900</a:t>
            </a:r>
          </a:p>
          <a:p>
            <a:r>
              <a:rPr lang="es-PE" sz="2000"/>
              <a:t>3 X1 + X2  + 2 X3 &lt;=1080</a:t>
            </a:r>
          </a:p>
          <a:p>
            <a:r>
              <a:rPr lang="es-PE" sz="2000"/>
              <a:t>2 X1 + 2X2 +   X3 &lt;= 840</a:t>
            </a:r>
          </a:p>
          <a:p>
            <a:r>
              <a:rPr lang="es-PE" sz="2000">
                <a:latin typeface="Arial Narrow" pitchFamily="34" charset="0"/>
              </a:rPr>
              <a:t>ANALISIS DE LOS COEFICIENTES DE LA FUNCION O.</a:t>
            </a:r>
          </a:p>
          <a:p>
            <a:r>
              <a:rPr lang="es-PE" sz="2000">
                <a:latin typeface="Arial Narrow" pitchFamily="34" charset="0"/>
              </a:rPr>
              <a:t>   -∞  ≤ α ≤ 18</a:t>
            </a:r>
          </a:p>
          <a:p>
            <a:r>
              <a:rPr lang="es-PE" sz="2000">
                <a:latin typeface="Arial Narrow" pitchFamily="34" charset="0"/>
              </a:rPr>
              <a:t>     9  ≤ β ≤ 30</a:t>
            </a:r>
          </a:p>
          <a:p>
            <a:r>
              <a:rPr lang="es-PE" sz="2000">
                <a:latin typeface="Arial Narrow" pitchFamily="34" charset="0"/>
              </a:rPr>
              <a:t>   12  ≤ γ ≤ 24</a:t>
            </a:r>
          </a:p>
          <a:p>
            <a:endParaRPr lang="es-PE" sz="2000">
              <a:latin typeface="Arial Narrow" pitchFamily="34" charset="0"/>
            </a:endParaRPr>
          </a:p>
          <a:p>
            <a:r>
              <a:rPr lang="es-PE" sz="2000">
                <a:latin typeface="Arial Narrow" pitchFamily="34" charset="0"/>
              </a:rPr>
              <a:t>ANALISIS DEL LADO DERECHO</a:t>
            </a:r>
          </a:p>
          <a:p>
            <a:r>
              <a:rPr lang="es-PE" sz="2000">
                <a:latin typeface="Arial Narrow" pitchFamily="34" charset="0"/>
              </a:rPr>
              <a:t>m=6   (Primera Rest.)</a:t>
            </a:r>
          </a:p>
          <a:p>
            <a:r>
              <a:rPr lang="es-PE" sz="2000">
                <a:latin typeface="Arial Narrow" pitchFamily="34" charset="0"/>
              </a:rPr>
              <a:t>m=3   (Tercera Rest.)</a:t>
            </a:r>
            <a:endParaRPr lang="es-PE" sz="2000"/>
          </a:p>
          <a:p>
            <a:endParaRPr lang="es-PE" sz="2000"/>
          </a:p>
        </p:txBody>
      </p:sp>
      <p:sp>
        <p:nvSpPr>
          <p:cNvPr id="4" name="3 Rectángulo"/>
          <p:cNvSpPr/>
          <p:nvPr/>
        </p:nvSpPr>
        <p:spPr>
          <a:xfrm>
            <a:off x="5917754" y="1357295"/>
            <a:ext cx="6274246" cy="563231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2000" dirty="0">
                <a:latin typeface="Arial Narrow" pitchFamily="34" charset="0"/>
              </a:rPr>
              <a:t> OBJECTIVE FUNCTION VALUE</a:t>
            </a:r>
          </a:p>
          <a:p>
            <a:r>
              <a:rPr lang="en-US" sz="2000" dirty="0">
                <a:latin typeface="Arial Narrow" pitchFamily="34" charset="0"/>
              </a:rPr>
              <a:t>        1)      7920.000</a:t>
            </a:r>
          </a:p>
          <a:p>
            <a:r>
              <a:rPr lang="en-US" sz="2000" dirty="0">
                <a:latin typeface="Arial Narrow" pitchFamily="34" charset="0"/>
              </a:rPr>
              <a:t>  VARIABLE        VALUE          REDUCED COST</a:t>
            </a:r>
          </a:p>
          <a:p>
            <a:r>
              <a:rPr lang="en-US" sz="2000" dirty="0">
                <a:latin typeface="Arial Narrow" pitchFamily="34" charset="0"/>
              </a:rPr>
              <a:t>        </a:t>
            </a:r>
            <a:r>
              <a:rPr lang="en-US" sz="2000" dirty="0" err="1">
                <a:latin typeface="Arial Narrow" pitchFamily="34" charset="0"/>
              </a:rPr>
              <a:t>X1</a:t>
            </a:r>
            <a:r>
              <a:rPr lang="en-US" sz="2000" dirty="0">
                <a:latin typeface="Arial Narrow" pitchFamily="34" charset="0"/>
              </a:rPr>
              <a:t>           0.000000          2.000000</a:t>
            </a:r>
          </a:p>
          <a:p>
            <a:r>
              <a:rPr lang="en-US" sz="2000" dirty="0">
                <a:latin typeface="Arial Narrow" pitchFamily="34" charset="0"/>
              </a:rPr>
              <a:t>        </a:t>
            </a:r>
            <a:r>
              <a:rPr lang="en-US" sz="2000" dirty="0" err="1">
                <a:latin typeface="Arial Narrow" pitchFamily="34" charset="0"/>
              </a:rPr>
              <a:t>X2</a:t>
            </a:r>
            <a:r>
              <a:rPr lang="en-US" sz="2000" dirty="0">
                <a:latin typeface="Arial Narrow" pitchFamily="34" charset="0"/>
              </a:rPr>
              <a:t>       260.000000          0.000000</a:t>
            </a:r>
          </a:p>
          <a:p>
            <a:r>
              <a:rPr lang="en-US" sz="2000" dirty="0">
                <a:latin typeface="Arial Narrow" pitchFamily="34" charset="0"/>
              </a:rPr>
              <a:t>        </a:t>
            </a:r>
            <a:r>
              <a:rPr lang="en-US" sz="2000" dirty="0" err="1">
                <a:latin typeface="Arial Narrow" pitchFamily="34" charset="0"/>
              </a:rPr>
              <a:t>X3</a:t>
            </a:r>
            <a:r>
              <a:rPr lang="en-US" sz="2000" dirty="0">
                <a:latin typeface="Arial Narrow" pitchFamily="34" charset="0"/>
              </a:rPr>
              <a:t>       320.000000          0.000000</a:t>
            </a:r>
          </a:p>
          <a:p>
            <a:r>
              <a:rPr lang="en-US" sz="2000" dirty="0">
                <a:latin typeface="Arial Narrow" pitchFamily="34" charset="0"/>
              </a:rPr>
              <a:t>       ROW   SLACK OR SURPLUS     DUAL PRICES</a:t>
            </a:r>
          </a:p>
          <a:p>
            <a:r>
              <a:rPr lang="en-US" sz="2000" dirty="0">
                <a:latin typeface="Arial Narrow" pitchFamily="34" charset="0"/>
              </a:rPr>
              <a:t>        2)           0.000000          6.000000</a:t>
            </a:r>
          </a:p>
          <a:p>
            <a:r>
              <a:rPr lang="en-US" sz="2000" dirty="0">
                <a:latin typeface="Arial Narrow" pitchFamily="34" charset="0"/>
              </a:rPr>
              <a:t>        3)       180.000000          0.000000</a:t>
            </a:r>
          </a:p>
          <a:p>
            <a:r>
              <a:rPr lang="en-US" sz="2000" dirty="0">
                <a:latin typeface="Arial Narrow" pitchFamily="34" charset="0"/>
              </a:rPr>
              <a:t>        4)           0.000000          3.000000</a:t>
            </a:r>
          </a:p>
          <a:p>
            <a:r>
              <a:rPr lang="en-US" sz="2000" dirty="0">
                <a:latin typeface="Arial Narrow" pitchFamily="34" charset="0"/>
              </a:rPr>
              <a:t> NO. ITERATIONS=       2</a:t>
            </a:r>
          </a:p>
          <a:p>
            <a:r>
              <a:rPr lang="en-US" sz="2000" dirty="0">
                <a:latin typeface="Arial Narrow" pitchFamily="34" charset="0"/>
              </a:rPr>
              <a:t> RANGES IN WHICH THE BASIS IS UNCHANGED:</a:t>
            </a:r>
          </a:p>
          <a:p>
            <a:r>
              <a:rPr lang="en-US" sz="2000" dirty="0">
                <a:latin typeface="Arial Narrow" pitchFamily="34" charset="0"/>
              </a:rPr>
              <a:t>                           </a:t>
            </a:r>
            <a:r>
              <a:rPr lang="en-US" sz="2000" dirty="0" err="1">
                <a:latin typeface="Arial Narrow" pitchFamily="34" charset="0"/>
              </a:rPr>
              <a:t>OBJ</a:t>
            </a:r>
            <a:r>
              <a:rPr lang="en-US" sz="2000" dirty="0">
                <a:latin typeface="Arial Narrow" pitchFamily="34" charset="0"/>
              </a:rPr>
              <a:t> COEFFICIENT RANGES</a:t>
            </a:r>
          </a:p>
          <a:p>
            <a:r>
              <a:rPr lang="en-US" sz="2000" dirty="0">
                <a:latin typeface="Arial Narrow" pitchFamily="34" charset="0"/>
              </a:rPr>
              <a:t> VARIABLE         CURRENT        ALLOWABLE        ALLOWABLE</a:t>
            </a:r>
          </a:p>
          <a:p>
            <a:r>
              <a:rPr lang="en-US" sz="2000" dirty="0">
                <a:latin typeface="Arial Narrow" pitchFamily="34" charset="0"/>
              </a:rPr>
              <a:t>                   </a:t>
            </a:r>
            <a:r>
              <a:rPr lang="en-US" sz="2000" dirty="0" err="1">
                <a:latin typeface="Arial Narrow" pitchFamily="34" charset="0"/>
              </a:rPr>
              <a:t>COEF</a:t>
            </a:r>
            <a:r>
              <a:rPr lang="en-US" sz="2000" dirty="0">
                <a:latin typeface="Arial Narrow" pitchFamily="34" charset="0"/>
              </a:rPr>
              <a:t>          INCREASE         DECREASE</a:t>
            </a:r>
          </a:p>
          <a:p>
            <a:r>
              <a:rPr lang="en-US" sz="2000" dirty="0">
                <a:latin typeface="Arial Narrow" pitchFamily="34" charset="0"/>
              </a:rPr>
              <a:t>       </a:t>
            </a:r>
            <a:r>
              <a:rPr lang="en-US" sz="2000" dirty="0" err="1">
                <a:latin typeface="Arial Narrow" pitchFamily="34" charset="0"/>
              </a:rPr>
              <a:t>X1</a:t>
            </a:r>
            <a:r>
              <a:rPr lang="en-US" sz="2000" dirty="0">
                <a:latin typeface="Arial Narrow" pitchFamily="34" charset="0"/>
              </a:rPr>
              <a:t>       16.000000         2.000000         INFINITY</a:t>
            </a:r>
          </a:p>
          <a:p>
            <a:r>
              <a:rPr lang="en-US" sz="2000" dirty="0">
                <a:latin typeface="Arial Narrow" pitchFamily="34" charset="0"/>
              </a:rPr>
              <a:t>       </a:t>
            </a:r>
            <a:r>
              <a:rPr lang="en-US" sz="2000" dirty="0" err="1">
                <a:latin typeface="Arial Narrow" pitchFamily="34" charset="0"/>
              </a:rPr>
              <a:t>X2</a:t>
            </a:r>
            <a:r>
              <a:rPr lang="en-US" sz="2000" dirty="0">
                <a:latin typeface="Arial Narrow" pitchFamily="34" charset="0"/>
              </a:rPr>
              <a:t>       12.000000        18.000000         3.000000</a:t>
            </a:r>
          </a:p>
          <a:p>
            <a:r>
              <a:rPr lang="en-US" sz="2000" dirty="0">
                <a:latin typeface="Arial Narrow" pitchFamily="34" charset="0"/>
              </a:rPr>
              <a:t>       </a:t>
            </a:r>
            <a:r>
              <a:rPr lang="en-US" sz="2000" dirty="0" err="1">
                <a:latin typeface="Arial Narrow" pitchFamily="34" charset="0"/>
              </a:rPr>
              <a:t>X3</a:t>
            </a:r>
            <a:r>
              <a:rPr lang="en-US" sz="2000" dirty="0">
                <a:latin typeface="Arial Narrow" pitchFamily="34" charset="0"/>
              </a:rPr>
              <a:t>       15.000000         9.000000         3.000000</a:t>
            </a:r>
            <a:endParaRPr lang="es-PE" sz="2000" dirty="0"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3938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B86530BD-654D-4041-B797-D5C9FEEEA5D2}"/>
              </a:ext>
            </a:extLst>
          </p:cNvPr>
          <p:cNvSpPr/>
          <p:nvPr/>
        </p:nvSpPr>
        <p:spPr>
          <a:xfrm>
            <a:off x="165315" y="1272358"/>
            <a:ext cx="577053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800"/>
              </a:spcAft>
            </a:pPr>
            <a:r>
              <a:rPr lang="es-ES" dirty="0" err="1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NISAN</a:t>
            </a:r>
            <a:r>
              <a:rPr lang="es-ES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fabrica carros compactos y subcompactos. La producción de cada carro requiere una cierta cantidad de materia prima y mano de obra, como se especifica en la siguiente tabla:</a:t>
            </a:r>
            <a:endParaRPr lang="es-PE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C23B02D8-0C6E-45FD-BCD9-07E708A1ACDD}"/>
              </a:ext>
            </a:extLst>
          </p:cNvPr>
          <p:cNvGraphicFramePr>
            <a:graphicFrameLocks noGrp="1"/>
          </p:cNvGraphicFramePr>
          <p:nvPr/>
        </p:nvGraphicFramePr>
        <p:xfrm>
          <a:off x="201481" y="2430423"/>
          <a:ext cx="5625881" cy="225615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85046">
                  <a:extLst>
                    <a:ext uri="{9D8B030D-6E8A-4147-A177-3AD203B41FA5}">
                      <a16:colId xmlns:a16="http://schemas.microsoft.com/office/drawing/2014/main" val="3430882691"/>
                    </a:ext>
                  </a:extLst>
                </a:gridCol>
                <a:gridCol w="1885046">
                  <a:extLst>
                    <a:ext uri="{9D8B030D-6E8A-4147-A177-3AD203B41FA5}">
                      <a16:colId xmlns:a16="http://schemas.microsoft.com/office/drawing/2014/main" val="736894577"/>
                    </a:ext>
                  </a:extLst>
                </a:gridCol>
                <a:gridCol w="1855789">
                  <a:extLst>
                    <a:ext uri="{9D8B030D-6E8A-4147-A177-3AD203B41FA5}">
                      <a16:colId xmlns:a16="http://schemas.microsoft.com/office/drawing/2014/main" val="33072570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ES" sz="1800">
                          <a:effectLst/>
                        </a:rPr>
                        <a:t> </a:t>
                      </a:r>
                      <a:endParaRPr lang="es-PE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ES" sz="1800" dirty="0">
                          <a:effectLst/>
                        </a:rPr>
                        <a:t>Materia prima (Lb)</a:t>
                      </a:r>
                      <a:endParaRPr lang="es-PE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ES" sz="1800">
                          <a:effectLst/>
                        </a:rPr>
                        <a:t>Mano de obra (Horas)</a:t>
                      </a:r>
                      <a:endParaRPr lang="es-PE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44005063"/>
                  </a:ext>
                </a:extLst>
              </a:tr>
              <a:tr h="273734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ES" sz="1800">
                          <a:effectLst/>
                        </a:rPr>
                        <a:t>Compactos</a:t>
                      </a:r>
                      <a:endParaRPr lang="es-PE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ES" sz="1800">
                          <a:effectLst/>
                        </a:rPr>
                        <a:t>200</a:t>
                      </a:r>
                      <a:endParaRPr lang="es-PE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ES" sz="1800">
                          <a:effectLst/>
                        </a:rPr>
                        <a:t>18</a:t>
                      </a:r>
                      <a:endParaRPr lang="es-PE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1502776"/>
                  </a:ext>
                </a:extLst>
              </a:tr>
              <a:tr h="273734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ES" sz="1800">
                          <a:effectLst/>
                        </a:rPr>
                        <a:t>Subcompactos</a:t>
                      </a:r>
                      <a:endParaRPr lang="es-PE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ES" sz="1800">
                          <a:effectLst/>
                        </a:rPr>
                        <a:t>150</a:t>
                      </a:r>
                      <a:endParaRPr lang="es-PE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ES" sz="1800">
                          <a:effectLst/>
                        </a:rPr>
                        <a:t>20</a:t>
                      </a:r>
                      <a:endParaRPr lang="es-PE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68228380"/>
                  </a:ext>
                </a:extLst>
              </a:tr>
              <a:tr h="273734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ES" sz="1800">
                          <a:effectLst/>
                        </a:rPr>
                        <a:t>Costo unitario</a:t>
                      </a:r>
                      <a:endParaRPr lang="es-PE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ES" sz="1800">
                          <a:effectLst/>
                        </a:rPr>
                        <a:t>10</a:t>
                      </a:r>
                      <a:endParaRPr lang="es-PE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ES" sz="1800">
                          <a:effectLst/>
                        </a:rPr>
                        <a:t>70</a:t>
                      </a:r>
                      <a:endParaRPr lang="es-PE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26846997"/>
                  </a:ext>
                </a:extLst>
              </a:tr>
              <a:tr h="27373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ES" sz="1800">
                          <a:effectLst/>
                        </a:rPr>
                        <a:t>Total disponible</a:t>
                      </a:r>
                      <a:endParaRPr lang="es-PE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ES" sz="1800">
                          <a:effectLst/>
                        </a:rPr>
                        <a:t>80000</a:t>
                      </a:r>
                      <a:endParaRPr lang="es-PE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ES" sz="1800" dirty="0">
                          <a:effectLst/>
                        </a:rPr>
                        <a:t>9000</a:t>
                      </a:r>
                      <a:endParaRPr lang="es-PE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91117760"/>
                  </a:ext>
                </a:extLst>
              </a:tr>
            </a:tbl>
          </a:graphicData>
        </a:graphic>
      </p:graphicFrame>
      <p:sp>
        <p:nvSpPr>
          <p:cNvPr id="6" name="Rectángulo 5">
            <a:extLst>
              <a:ext uri="{FF2B5EF4-FFF2-40B4-BE49-F238E27FC236}">
                <a16:creationId xmlns:a16="http://schemas.microsoft.com/office/drawing/2014/main" id="{02AE234A-A186-4FD6-93F8-81E1984D2D81}"/>
              </a:ext>
            </a:extLst>
          </p:cNvPr>
          <p:cNvSpPr/>
          <p:nvPr/>
        </p:nvSpPr>
        <p:spPr>
          <a:xfrm>
            <a:off x="118821" y="4678669"/>
            <a:ext cx="5739538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800"/>
              </a:spcAft>
            </a:pPr>
            <a:r>
              <a:rPr lang="es-ES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 división de comercialización ha estimado que a lo más 1500 compactos pueden venderse a $ 10000 cada uno y que a lo más 200 subcompactos pueden venderse a $ 8000 cada uno. Formule un modelo y resuelva usando el método grafico para determinar la cantidad a fabricar de cada tipo de carro para maximizar la ganancia total.</a:t>
            </a:r>
            <a:endParaRPr lang="es-PE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A8962C34-5FFD-4DC4-B0EC-C70ED3F40D09}"/>
              </a:ext>
            </a:extLst>
          </p:cNvPr>
          <p:cNvSpPr/>
          <p:nvPr/>
        </p:nvSpPr>
        <p:spPr>
          <a:xfrm>
            <a:off x="6096000" y="1214211"/>
            <a:ext cx="6096000" cy="450379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Aft>
                <a:spcPts val="800"/>
              </a:spcAft>
            </a:pPr>
            <a:r>
              <a:rPr lang="es-PE" sz="2000" dirty="0">
                <a:solidFill>
                  <a:srgbClr val="FF0000"/>
                </a:solidFill>
                <a:latin typeface="Arial Narrow" panose="020B0606020202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Identificación de variables</a:t>
            </a:r>
            <a:endParaRPr lang="es-PE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800"/>
              </a:spcAft>
            </a:pPr>
            <a:r>
              <a:rPr lang="es-PE" sz="2000" dirty="0">
                <a:latin typeface="Arial Narrow" panose="020B0606020202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 =Número de carros compactos por fabricar </a:t>
            </a:r>
            <a:endParaRPr lang="es-PE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800"/>
              </a:spcAft>
            </a:pPr>
            <a:r>
              <a:rPr lang="es-PE" sz="2000" dirty="0">
                <a:latin typeface="Arial Narrow" panose="020B0606020202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 =Número de carros subcompactos por fabricar</a:t>
            </a:r>
            <a:endParaRPr lang="es-PE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800"/>
              </a:spcAft>
            </a:pPr>
            <a:r>
              <a:rPr lang="es-PE" sz="2000" dirty="0">
                <a:solidFill>
                  <a:srgbClr val="FF0000"/>
                </a:solidFill>
                <a:latin typeface="Arial Narrow" panose="020B0606020202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Identificación de la Función Objetivo</a:t>
            </a:r>
            <a:endParaRPr lang="es-PE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800"/>
              </a:spcAft>
            </a:pPr>
            <a:r>
              <a:rPr lang="es-PE" sz="2000" dirty="0">
                <a:latin typeface="Arial Narrow" panose="020B0606020202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MAX  </a:t>
            </a:r>
            <a:r>
              <a:rPr lang="es-PE" sz="2000" dirty="0" err="1">
                <a:latin typeface="Arial Narrow" panose="020B0606020202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6740C</a:t>
            </a:r>
            <a:r>
              <a:rPr lang="es-PE" sz="2000" dirty="0">
                <a:latin typeface="Arial Narrow" panose="020B0606020202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+ </a:t>
            </a:r>
            <a:r>
              <a:rPr lang="es-PE" sz="2000" dirty="0" err="1">
                <a:latin typeface="Arial Narrow" panose="020B0606020202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5100S</a:t>
            </a:r>
            <a:endParaRPr lang="es-PE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800"/>
              </a:spcAft>
            </a:pPr>
            <a:r>
              <a:rPr lang="es-PE" sz="2000" dirty="0">
                <a:solidFill>
                  <a:srgbClr val="FF0000"/>
                </a:solidFill>
                <a:latin typeface="Arial Narrow" panose="020B0606020202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Identificación de las restricciones</a:t>
            </a:r>
            <a:endParaRPr lang="es-PE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800"/>
              </a:spcAft>
            </a:pPr>
            <a:r>
              <a:rPr lang="es-PE" sz="2000" dirty="0">
                <a:latin typeface="Arial Narrow" panose="020B0606020202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	</a:t>
            </a:r>
            <a:r>
              <a:rPr lang="es-PE" sz="2000" dirty="0" err="1">
                <a:latin typeface="Arial Narrow" panose="020B0606020202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200C</a:t>
            </a:r>
            <a:r>
              <a:rPr lang="es-PE" sz="2000" dirty="0">
                <a:latin typeface="Arial Narrow" panose="020B0606020202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+</a:t>
            </a:r>
            <a:r>
              <a:rPr lang="es-PE" sz="2000" dirty="0" err="1">
                <a:latin typeface="Arial Narrow" panose="020B0606020202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150S</a:t>
            </a:r>
            <a:r>
              <a:rPr lang="es-PE" sz="2000" dirty="0">
                <a:latin typeface="Arial Narrow" panose="020B0606020202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	≤ 80000</a:t>
            </a:r>
            <a:endParaRPr lang="es-PE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800"/>
              </a:spcAft>
            </a:pPr>
            <a:r>
              <a:rPr lang="es-PE" sz="2000" dirty="0">
                <a:latin typeface="Arial Narrow" panose="020B0606020202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	  </a:t>
            </a:r>
            <a:r>
              <a:rPr lang="es-PE" sz="2000" dirty="0" err="1">
                <a:latin typeface="Arial Narrow" panose="020B0606020202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18C</a:t>
            </a:r>
            <a:r>
              <a:rPr lang="es-PE" sz="2000" dirty="0">
                <a:latin typeface="Arial Narrow" panose="020B0606020202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+  </a:t>
            </a:r>
            <a:r>
              <a:rPr lang="es-PE" sz="2000" dirty="0" err="1">
                <a:latin typeface="Arial Narrow" panose="020B0606020202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20S</a:t>
            </a:r>
            <a:r>
              <a:rPr lang="es-PE" sz="2000" dirty="0">
                <a:latin typeface="Arial Narrow" panose="020B0606020202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	≤   9000</a:t>
            </a:r>
            <a:endParaRPr lang="es-PE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800"/>
              </a:spcAft>
            </a:pPr>
            <a:r>
              <a:rPr lang="es-PE" sz="2000" dirty="0">
                <a:latin typeface="Arial Narrow" panose="020B0606020202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	       	C 	≤   1500</a:t>
            </a:r>
            <a:endParaRPr lang="es-PE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800"/>
              </a:spcAft>
            </a:pPr>
            <a:r>
              <a:rPr lang="es-PE" sz="2000" dirty="0">
                <a:latin typeface="Arial Narrow" panose="020B0606020202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		S 	≤    200</a:t>
            </a:r>
            <a:endParaRPr lang="es-PE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800"/>
              </a:spcAft>
            </a:pPr>
            <a:r>
              <a:rPr lang="es-PE" sz="2000" dirty="0">
                <a:latin typeface="Arial Narrow" panose="020B0606020202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		C,  S	≥  0, ENTERO</a:t>
            </a:r>
            <a:endParaRPr lang="es-PE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02696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A8962C34-5FFD-4DC4-B0EC-C70ED3F40D09}"/>
              </a:ext>
            </a:extLst>
          </p:cNvPr>
          <p:cNvSpPr/>
          <p:nvPr/>
        </p:nvSpPr>
        <p:spPr>
          <a:xfrm>
            <a:off x="160149" y="1214211"/>
            <a:ext cx="2180095" cy="2585323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s-PE" dirty="0">
                <a:latin typeface="Arial Narrow" panose="020B0606020202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MAX  </a:t>
            </a:r>
            <a:r>
              <a:rPr lang="es-PE" dirty="0" err="1">
                <a:latin typeface="Arial Narrow" panose="020B0606020202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6740C</a:t>
            </a:r>
            <a:r>
              <a:rPr lang="es-PE" dirty="0">
                <a:latin typeface="Arial Narrow" panose="020B0606020202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+ </a:t>
            </a:r>
            <a:r>
              <a:rPr lang="es-PE" dirty="0" err="1">
                <a:latin typeface="Arial Narrow" panose="020B0606020202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5100S</a:t>
            </a:r>
            <a:endParaRPr lang="es-PE" dirty="0">
              <a:latin typeface="Arial Narrow" panose="020B0606020202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s-PE" dirty="0" err="1">
                <a:solidFill>
                  <a:srgbClr val="FF0000"/>
                </a:solidFill>
                <a:latin typeface="Arial Narrow" panose="020B0606020202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ST</a:t>
            </a:r>
            <a:endParaRPr lang="es-PE" dirty="0">
              <a:latin typeface="Arial Narrow" panose="020B0606020202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s-PE" dirty="0" err="1">
                <a:latin typeface="Arial Narrow" panose="020B0606020202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200C</a:t>
            </a:r>
            <a:r>
              <a:rPr lang="es-PE" dirty="0">
                <a:latin typeface="Arial Narrow" panose="020B0606020202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+</a:t>
            </a:r>
            <a:r>
              <a:rPr lang="es-PE" dirty="0" err="1">
                <a:latin typeface="Arial Narrow" panose="020B0606020202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150S</a:t>
            </a:r>
            <a:r>
              <a:rPr lang="es-PE" dirty="0">
                <a:latin typeface="Arial Narrow" panose="020B0606020202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≤ 80000</a:t>
            </a:r>
            <a:endParaRPr lang="es-PE" dirty="0">
              <a:latin typeface="Arial Narrow" panose="020B0606020202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s-PE" dirty="0">
                <a:latin typeface="Arial Narrow" panose="020B0606020202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</a:t>
            </a:r>
            <a:r>
              <a:rPr lang="es-PE" dirty="0" err="1">
                <a:latin typeface="Arial Narrow" panose="020B0606020202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18C</a:t>
            </a:r>
            <a:r>
              <a:rPr lang="es-PE" dirty="0">
                <a:latin typeface="Arial Narrow" panose="020B0606020202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+  </a:t>
            </a:r>
            <a:r>
              <a:rPr lang="es-PE" dirty="0" err="1">
                <a:latin typeface="Arial Narrow" panose="020B0606020202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20S</a:t>
            </a:r>
            <a:r>
              <a:rPr lang="es-PE" dirty="0">
                <a:latin typeface="Arial Narrow" panose="020B0606020202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≤   9000</a:t>
            </a:r>
            <a:endParaRPr lang="es-PE" dirty="0">
              <a:latin typeface="Arial Narrow" panose="020B0606020202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s-PE" dirty="0">
                <a:latin typeface="Arial Narrow" panose="020B0606020202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   	C  ≤   1500</a:t>
            </a:r>
            <a:endParaRPr lang="es-PE" dirty="0">
              <a:latin typeface="Arial Narrow" panose="020B0606020202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s-PE" dirty="0">
                <a:latin typeface="Arial Narrow" panose="020B0606020202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	S  ≤     200</a:t>
            </a:r>
            <a:endParaRPr lang="es-PE" dirty="0">
              <a:latin typeface="Arial Narrow" panose="020B0606020202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s-PE" dirty="0" err="1">
                <a:effectLst/>
                <a:latin typeface="Arial Narrow" panose="020B0606020202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END</a:t>
            </a:r>
            <a:endParaRPr lang="es-PE" dirty="0">
              <a:effectLst/>
              <a:latin typeface="Arial Narrow" panose="020B0606020202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es-PE" dirty="0">
                <a:latin typeface="Arial Narrow" panose="020B0606020202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GIN C</a:t>
            </a:r>
          </a:p>
          <a:p>
            <a:r>
              <a:rPr lang="es-PE" dirty="0">
                <a:effectLst/>
                <a:latin typeface="Arial Narrow" panose="020B0606020202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GIN S</a:t>
            </a:r>
            <a:endParaRPr lang="es-PE" dirty="0">
              <a:effectLst/>
              <a:latin typeface="Arial Narrow" panose="020B0606020202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5A65F38A-D1E2-4C27-9A41-11E4CD0E48A0}"/>
              </a:ext>
            </a:extLst>
          </p:cNvPr>
          <p:cNvSpPr/>
          <p:nvPr/>
        </p:nvSpPr>
        <p:spPr>
          <a:xfrm>
            <a:off x="6096000" y="1262454"/>
            <a:ext cx="6096000" cy="516102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PE" dirty="0">
                <a:solidFill>
                  <a:srgbClr val="FF0000"/>
                </a:solidFill>
                <a:latin typeface="Arial Narrow" panose="020B0606020202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SOLUCIÓN USANDO MÉTODO GRAFICO</a:t>
            </a:r>
            <a:r>
              <a:rPr lang="es-PE" dirty="0">
                <a:latin typeface="Arial Narrow" panose="020B0606020202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			</a:t>
            </a:r>
            <a:endParaRPr lang="es-PE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PE" dirty="0">
                <a:latin typeface="Arial Narrow" panose="020B0606020202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PASO 1: Graficando las restricciones	</a:t>
            </a:r>
            <a:endParaRPr lang="es-PE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PE" dirty="0" err="1">
                <a:latin typeface="Arial Narrow" panose="020B0606020202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200C+150S</a:t>
            </a:r>
            <a:r>
              <a:rPr lang="es-PE" dirty="0">
                <a:latin typeface="Arial Narrow" panose="020B0606020202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=80000	…(I)	Si	C=0  </a:t>
            </a:r>
            <a:r>
              <a:rPr lang="es-PE" dirty="0">
                <a:latin typeface="Arial Narrow" panose="020B0606020202030204" pitchFamily="34" charset="0"/>
                <a:ea typeface="Calibri" panose="020F050202020403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s-PE" dirty="0">
                <a:latin typeface="Arial Narrow" panose="020B0606020202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S= 533.333…</a:t>
            </a:r>
            <a:endParaRPr lang="es-PE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PE" dirty="0">
                <a:latin typeface="Arial Narrow" panose="020B0606020202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			Si	S=0  </a:t>
            </a:r>
            <a:r>
              <a:rPr lang="es-PE" dirty="0">
                <a:latin typeface="Arial Narrow" panose="020B0606020202030204" pitchFamily="34" charset="0"/>
                <a:ea typeface="Calibri" panose="020F050202020403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s-PE" dirty="0">
                <a:latin typeface="Arial Narrow" panose="020B0606020202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C= 400	</a:t>
            </a:r>
            <a:endParaRPr lang="es-PE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PE" dirty="0" err="1">
                <a:latin typeface="Arial Narrow" panose="020B0606020202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18C+20S</a:t>
            </a:r>
            <a:r>
              <a:rPr lang="es-PE" dirty="0">
                <a:latin typeface="Arial Narrow" panose="020B0606020202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=9000	…(II)	Si	C=0  </a:t>
            </a:r>
            <a:r>
              <a:rPr lang="es-PE" dirty="0">
                <a:latin typeface="Arial Narrow" panose="020B0606020202030204" pitchFamily="34" charset="0"/>
                <a:ea typeface="Calibri" panose="020F050202020403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s-PE" dirty="0">
                <a:latin typeface="Arial Narrow" panose="020B0606020202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S= 450	</a:t>
            </a:r>
            <a:endParaRPr lang="es-PE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PE" dirty="0">
                <a:latin typeface="Arial Narrow" panose="020B0606020202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			Si	S=0  </a:t>
            </a:r>
            <a:r>
              <a:rPr lang="es-PE" dirty="0">
                <a:latin typeface="Arial Narrow" panose="020B0606020202030204" pitchFamily="34" charset="0"/>
                <a:ea typeface="Calibri" panose="020F050202020403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s-PE" dirty="0">
                <a:latin typeface="Arial Narrow" panose="020B0606020202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C= 500	</a:t>
            </a:r>
            <a:endParaRPr lang="es-PE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PE" dirty="0">
                <a:latin typeface="Arial Narrow" panose="020B0606020202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PASO 3: Graficando la </a:t>
            </a:r>
            <a:r>
              <a:rPr lang="es-PE" dirty="0" err="1">
                <a:latin typeface="Arial Narrow" panose="020B0606020202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F.O</a:t>
            </a:r>
            <a:r>
              <a:rPr lang="es-PE" dirty="0">
                <a:latin typeface="Arial Narrow" panose="020B0606020202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	</a:t>
            </a:r>
            <a:endParaRPr lang="es-PE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PE" dirty="0">
                <a:latin typeface="Arial Narrow" panose="020B0606020202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		</a:t>
            </a:r>
            <a:r>
              <a:rPr lang="es-PE" dirty="0" err="1">
                <a:latin typeface="Arial Narrow" panose="020B0606020202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6740C</a:t>
            </a:r>
            <a:r>
              <a:rPr lang="es-PE" dirty="0">
                <a:latin typeface="Arial Narrow" panose="020B0606020202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+</a:t>
            </a:r>
            <a:r>
              <a:rPr lang="es-PE" dirty="0" err="1">
                <a:latin typeface="Arial Narrow" panose="020B0606020202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5100S</a:t>
            </a:r>
            <a:r>
              <a:rPr lang="es-PE" dirty="0">
                <a:latin typeface="Arial Narrow" panose="020B0606020202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=1718700	</a:t>
            </a:r>
            <a:endParaRPr lang="es-PE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PE" dirty="0">
                <a:latin typeface="Arial Narrow" panose="020B0606020202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			Si	C=0  </a:t>
            </a:r>
            <a:r>
              <a:rPr lang="es-PE" dirty="0">
                <a:latin typeface="Arial Narrow" panose="020B0606020202030204" pitchFamily="34" charset="0"/>
                <a:ea typeface="Calibri" panose="020F050202020403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s-PE" dirty="0">
                <a:latin typeface="Arial Narrow" panose="020B0606020202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S= 337	</a:t>
            </a:r>
            <a:endParaRPr lang="es-PE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PE" dirty="0">
                <a:latin typeface="Arial Narrow" panose="020B0606020202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			Si	S=0  </a:t>
            </a:r>
            <a:r>
              <a:rPr lang="es-PE" dirty="0">
                <a:latin typeface="Arial Narrow" panose="020B0606020202030204" pitchFamily="34" charset="0"/>
                <a:ea typeface="Calibri" panose="020F050202020403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s-PE" dirty="0">
                <a:latin typeface="Arial Narrow" panose="020B0606020202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C= 255	</a:t>
            </a:r>
            <a:endParaRPr lang="es-PE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PE" dirty="0">
                <a:latin typeface="Arial Narrow" panose="020B0606020202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PASO 4: Hallando la solución optima	</a:t>
            </a:r>
            <a:endParaRPr lang="es-PE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PE" dirty="0">
                <a:latin typeface="Arial Narrow" panose="020B0606020202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Del grafico la solución óptima es:	C=250	S=200	</a:t>
            </a:r>
            <a:endParaRPr lang="es-PE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PE" dirty="0">
                <a:latin typeface="Arial Narrow" panose="020B0606020202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El valor que toma la </a:t>
            </a:r>
            <a:r>
              <a:rPr lang="es-PE" dirty="0" err="1">
                <a:latin typeface="Arial Narrow" panose="020B0606020202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F.O</a:t>
            </a:r>
            <a:r>
              <a:rPr lang="es-PE" dirty="0">
                <a:latin typeface="Arial Narrow" panose="020B0606020202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es:	Z=6740(250)+5100(200)=2705000</a:t>
            </a:r>
            <a:endParaRPr lang="es-PE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CD9AB91B-6C17-457B-9950-44F8BA20500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53032" y="3921071"/>
            <a:ext cx="4714914" cy="2654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11440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stomShape 2">
            <a:extLst>
              <a:ext uri="{FF2B5EF4-FFF2-40B4-BE49-F238E27FC236}">
                <a16:creationId xmlns:a16="http://schemas.microsoft.com/office/drawing/2014/main" id="{9916D2DA-1341-4677-BF70-F4515BBBC15F}"/>
              </a:ext>
            </a:extLst>
          </p:cNvPr>
          <p:cNvSpPr/>
          <p:nvPr/>
        </p:nvSpPr>
        <p:spPr>
          <a:xfrm>
            <a:off x="6098874" y="0"/>
            <a:ext cx="6093125" cy="1061049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/>
            <a:r>
              <a:rPr lang="es-PE" sz="3200" dirty="0">
                <a:solidFill>
                  <a:schemeClr val="bg1"/>
                </a:solidFill>
                <a:latin typeface="Bauhaus 93" pitchFamily="82" charset="0"/>
              </a:rPr>
              <a:t>Análisis de sensibilidad del lado derecho de la restricción I</a:t>
            </a:r>
          </a:p>
        </p:txBody>
      </p:sp>
      <p:graphicFrame>
        <p:nvGraphicFramePr>
          <p:cNvPr id="7" name="Tabla 7">
            <a:extLst>
              <a:ext uri="{FF2B5EF4-FFF2-40B4-BE49-F238E27FC236}">
                <a16:creationId xmlns:a16="http://schemas.microsoft.com/office/drawing/2014/main" id="{82D34760-F19D-4EE5-AC97-DE8304ED861C}"/>
              </a:ext>
            </a:extLst>
          </p:cNvPr>
          <p:cNvGraphicFramePr>
            <a:graphicFrameLocks noGrp="1"/>
          </p:cNvGraphicFramePr>
          <p:nvPr/>
        </p:nvGraphicFramePr>
        <p:xfrm>
          <a:off x="6096000" y="1375273"/>
          <a:ext cx="5918678" cy="22939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2086">
                  <a:extLst>
                    <a:ext uri="{9D8B030D-6E8A-4147-A177-3AD203B41FA5}">
                      <a16:colId xmlns:a16="http://schemas.microsoft.com/office/drawing/2014/main" val="3804144040"/>
                    </a:ext>
                  </a:extLst>
                </a:gridCol>
                <a:gridCol w="4416592">
                  <a:extLst>
                    <a:ext uri="{9D8B030D-6E8A-4147-A177-3AD203B41FA5}">
                      <a16:colId xmlns:a16="http://schemas.microsoft.com/office/drawing/2014/main" val="2858789546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800" dirty="0"/>
                        <a:t>Análisis de Sensibilidad del Lado Derecho de la I Restricción: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dirty="0" err="1">
                          <a:latin typeface="Arial Narrow" panose="020B0606020202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200C</a:t>
                      </a:r>
                      <a:r>
                        <a:rPr lang="es-PE" dirty="0">
                          <a:latin typeface="Arial Narrow" panose="020B0606020202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 +</a:t>
                      </a:r>
                      <a:r>
                        <a:rPr lang="es-PE" dirty="0" err="1">
                          <a:latin typeface="Arial Narrow" panose="020B0606020202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150S</a:t>
                      </a:r>
                      <a:r>
                        <a:rPr lang="es-PE" dirty="0">
                          <a:latin typeface="Arial Narrow" panose="020B0606020202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  ≤ 80000</a:t>
                      </a:r>
                      <a:endParaRPr lang="es-PE" dirty="0">
                        <a:latin typeface="Arial Narrow" panose="020B0606020202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s-P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6824585"/>
                  </a:ext>
                </a:extLst>
              </a:tr>
              <a:tr h="541346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s-PE" sz="1800" dirty="0"/>
                        <a:t>En (250, 200)</a:t>
                      </a:r>
                      <a:endParaRPr lang="es-PE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V.L.D</a:t>
                      </a:r>
                      <a:r>
                        <a:rPr lang="es-PE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.= 200</a:t>
                      </a:r>
                      <a:r>
                        <a:rPr lang="es-E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(250)+150(200)=</a:t>
                      </a:r>
                      <a:r>
                        <a:rPr lang="es-ES" sz="18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80000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971950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s-P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Z=</a:t>
                      </a:r>
                      <a:r>
                        <a:rPr lang="es-PE" dirty="0">
                          <a:latin typeface="Arial Narrow" panose="020B0606020202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6740(250) + 5100(200)= 2705000</a:t>
                      </a:r>
                      <a:endParaRPr lang="es-PE" dirty="0"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9105990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800" dirty="0"/>
                        <a:t>En </a:t>
                      </a:r>
                      <a:r>
                        <a:rPr lang="es-PE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(0</a:t>
                      </a:r>
                      <a:r>
                        <a:rPr lang="es-PE" sz="1800" dirty="0"/>
                        <a:t>, 200</a:t>
                      </a:r>
                      <a:r>
                        <a:rPr lang="es-PE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s-PE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V.L.D</a:t>
                      </a:r>
                      <a:r>
                        <a:rPr lang="es-PE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.= 200</a:t>
                      </a:r>
                      <a:r>
                        <a:rPr lang="es-E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(0)+150(200)=</a:t>
                      </a:r>
                      <a:r>
                        <a:rPr lang="es-ES" sz="18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30000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552166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s-PE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Z=</a:t>
                      </a:r>
                      <a:r>
                        <a:rPr lang="es-PE" dirty="0">
                          <a:latin typeface="Arial Narrow" panose="020B0606020202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6740(0) + 5100(200)= 1020000</a:t>
                      </a:r>
                      <a:endParaRPr lang="es-PE" dirty="0"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9017813"/>
                  </a:ext>
                </a:extLst>
              </a:tr>
            </a:tbl>
          </a:graphicData>
        </a:graphic>
      </p:graphicFrame>
      <p:sp>
        <p:nvSpPr>
          <p:cNvPr id="2" name="CuadroTexto 1">
            <a:extLst>
              <a:ext uri="{FF2B5EF4-FFF2-40B4-BE49-F238E27FC236}">
                <a16:creationId xmlns:a16="http://schemas.microsoft.com/office/drawing/2014/main" id="{5625BEED-F3A3-4206-A490-5B91A6BB6DBD}"/>
              </a:ext>
            </a:extLst>
          </p:cNvPr>
          <p:cNvSpPr txBox="1"/>
          <p:nvPr/>
        </p:nvSpPr>
        <p:spPr>
          <a:xfrm>
            <a:off x="6292312" y="4742481"/>
            <a:ext cx="472698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El análisis de sensibilidad del lado derecho  se realiza con las restricciones que  intervienen en la solución optima. La restricción I y IV intervienen.</a:t>
            </a:r>
            <a:endParaRPr lang="es-PE" dirty="0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C3FF3E17-93A4-405C-BB6A-71086296ED7D}"/>
              </a:ext>
            </a:extLst>
          </p:cNvPr>
          <p:cNvSpPr/>
          <p:nvPr/>
        </p:nvSpPr>
        <p:spPr>
          <a:xfrm>
            <a:off x="160149" y="1214211"/>
            <a:ext cx="2180095" cy="2585323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s-PE" dirty="0">
                <a:latin typeface="Arial Narrow" panose="020B0606020202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MAX  </a:t>
            </a:r>
            <a:r>
              <a:rPr lang="es-PE" dirty="0" err="1">
                <a:latin typeface="Arial Narrow" panose="020B0606020202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6740C</a:t>
            </a:r>
            <a:r>
              <a:rPr lang="es-PE" dirty="0">
                <a:latin typeface="Arial Narrow" panose="020B0606020202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+ </a:t>
            </a:r>
            <a:r>
              <a:rPr lang="es-PE" dirty="0" err="1">
                <a:latin typeface="Arial Narrow" panose="020B0606020202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5100S</a:t>
            </a:r>
            <a:endParaRPr lang="es-PE" dirty="0">
              <a:latin typeface="Arial Narrow" panose="020B0606020202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s-PE" dirty="0" err="1">
                <a:solidFill>
                  <a:srgbClr val="FF0000"/>
                </a:solidFill>
                <a:latin typeface="Arial Narrow" panose="020B0606020202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ST</a:t>
            </a:r>
            <a:endParaRPr lang="es-PE" dirty="0">
              <a:latin typeface="Arial Narrow" panose="020B0606020202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s-PE" dirty="0" err="1">
                <a:latin typeface="Arial Narrow" panose="020B0606020202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200C</a:t>
            </a:r>
            <a:r>
              <a:rPr lang="es-PE" dirty="0">
                <a:latin typeface="Arial Narrow" panose="020B0606020202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+</a:t>
            </a:r>
            <a:r>
              <a:rPr lang="es-PE" dirty="0" err="1">
                <a:latin typeface="Arial Narrow" panose="020B0606020202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150S</a:t>
            </a:r>
            <a:r>
              <a:rPr lang="es-PE" dirty="0">
                <a:latin typeface="Arial Narrow" panose="020B0606020202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≤ 80000</a:t>
            </a:r>
            <a:endParaRPr lang="es-PE" dirty="0">
              <a:latin typeface="Arial Narrow" panose="020B0606020202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s-PE" dirty="0">
                <a:latin typeface="Arial Narrow" panose="020B0606020202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</a:t>
            </a:r>
            <a:r>
              <a:rPr lang="es-PE" dirty="0" err="1">
                <a:latin typeface="Arial Narrow" panose="020B0606020202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18C</a:t>
            </a:r>
            <a:r>
              <a:rPr lang="es-PE" dirty="0">
                <a:latin typeface="Arial Narrow" panose="020B0606020202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+  </a:t>
            </a:r>
            <a:r>
              <a:rPr lang="es-PE" dirty="0" err="1">
                <a:latin typeface="Arial Narrow" panose="020B0606020202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20S</a:t>
            </a:r>
            <a:r>
              <a:rPr lang="es-PE" dirty="0">
                <a:latin typeface="Arial Narrow" panose="020B0606020202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≤   9000</a:t>
            </a:r>
            <a:endParaRPr lang="es-PE" dirty="0">
              <a:latin typeface="Arial Narrow" panose="020B0606020202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s-PE" dirty="0">
                <a:latin typeface="Arial Narrow" panose="020B0606020202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   	C  ≤   1500</a:t>
            </a:r>
            <a:endParaRPr lang="es-PE" dirty="0">
              <a:latin typeface="Arial Narrow" panose="020B0606020202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s-PE" dirty="0">
                <a:latin typeface="Arial Narrow" panose="020B0606020202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	S  ≤     200</a:t>
            </a:r>
            <a:endParaRPr lang="es-PE" dirty="0">
              <a:latin typeface="Arial Narrow" panose="020B0606020202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s-PE" dirty="0" err="1">
                <a:effectLst/>
                <a:latin typeface="Arial Narrow" panose="020B0606020202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END</a:t>
            </a:r>
            <a:endParaRPr lang="es-PE" dirty="0">
              <a:effectLst/>
              <a:latin typeface="Arial Narrow" panose="020B0606020202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es-PE" dirty="0">
                <a:latin typeface="Arial Narrow" panose="020B0606020202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GIN C</a:t>
            </a:r>
          </a:p>
          <a:p>
            <a:r>
              <a:rPr lang="es-PE" dirty="0">
                <a:effectLst/>
                <a:latin typeface="Arial Narrow" panose="020B0606020202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GIN S</a:t>
            </a:r>
            <a:endParaRPr lang="es-PE" dirty="0">
              <a:effectLst/>
              <a:latin typeface="Arial Narrow" panose="020B0606020202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9" name="Imagen 28">
            <a:extLst>
              <a:ext uri="{FF2B5EF4-FFF2-40B4-BE49-F238E27FC236}">
                <a16:creationId xmlns:a16="http://schemas.microsoft.com/office/drawing/2014/main" id="{13352CCF-5019-47F8-8874-0CA93C46535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53032" y="3921071"/>
            <a:ext cx="4714914" cy="2654677"/>
          </a:xfrm>
          <a:prstGeom prst="rect">
            <a:avLst/>
          </a:prstGeom>
        </p:spPr>
      </p:pic>
      <p:sp>
        <p:nvSpPr>
          <p:cNvPr id="30" name="CuadroTexto 29">
            <a:extLst>
              <a:ext uri="{FF2B5EF4-FFF2-40B4-BE49-F238E27FC236}">
                <a16:creationId xmlns:a16="http://schemas.microsoft.com/office/drawing/2014/main" id="{6D15A279-ECBF-47F0-BC13-D217C5EA12F0}"/>
              </a:ext>
            </a:extLst>
          </p:cNvPr>
          <p:cNvSpPr txBox="1"/>
          <p:nvPr/>
        </p:nvSpPr>
        <p:spPr>
          <a:xfrm>
            <a:off x="1996751" y="186613"/>
            <a:ext cx="257524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000" dirty="0">
                <a:solidFill>
                  <a:srgbClr val="0070C0"/>
                </a:solidFill>
              </a:rPr>
              <a:t>4.40</a:t>
            </a:r>
            <a:endParaRPr lang="es-PE" sz="40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42443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3 Tabla"/>
          <p:cNvGraphicFramePr>
            <a:graphicFrameLocks noGrp="1"/>
          </p:cNvGraphicFramePr>
          <p:nvPr/>
        </p:nvGraphicFramePr>
        <p:xfrm>
          <a:off x="1772520" y="1349396"/>
          <a:ext cx="8784976" cy="157853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484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154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10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656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PE" sz="2400" b="1" dirty="0">
                          <a:solidFill>
                            <a:srgbClr val="FF0000"/>
                          </a:solidFill>
                          <a:effectLst/>
                          <a:latin typeface="Arial Narrow" pitchFamily="34" charset="0"/>
                        </a:rPr>
                        <a:t>Valor lado derecho</a:t>
                      </a:r>
                      <a:endParaRPr lang="es-PE" sz="2400" b="1" dirty="0">
                        <a:solidFill>
                          <a:srgbClr val="FF0000"/>
                        </a:solidFill>
                        <a:effectLst/>
                        <a:latin typeface="Arial Narrow" pitchFamily="34" charset="0"/>
                        <a:ea typeface="Calibri"/>
                      </a:endParaRPr>
                    </a:p>
                  </a:txBody>
                  <a:tcPr marL="44450" marR="44450" marT="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PE" sz="2400" b="1" dirty="0">
                          <a:solidFill>
                            <a:srgbClr val="FF0000"/>
                          </a:solidFill>
                          <a:effectLst/>
                          <a:latin typeface="Arial Narrow" pitchFamily="34" charset="0"/>
                        </a:rPr>
                        <a:t>Solución óptima</a:t>
                      </a:r>
                      <a:endParaRPr lang="es-PE" sz="2400" b="1" dirty="0">
                        <a:solidFill>
                          <a:srgbClr val="FF0000"/>
                        </a:solidFill>
                        <a:effectLst/>
                        <a:latin typeface="Arial Narrow" pitchFamily="34" charset="0"/>
                        <a:ea typeface="Calibri"/>
                      </a:endParaRPr>
                    </a:p>
                  </a:txBody>
                  <a:tcPr marL="44450" marR="44450" marT="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PE" sz="2400" b="1" dirty="0">
                          <a:solidFill>
                            <a:srgbClr val="FF0000"/>
                          </a:solidFill>
                          <a:effectLst/>
                          <a:latin typeface="Arial Narrow" pitchFamily="34" charset="0"/>
                        </a:rPr>
                        <a:t>Valor función objetivo</a:t>
                      </a:r>
                      <a:endParaRPr lang="es-PE" sz="2400" b="1" dirty="0">
                        <a:solidFill>
                          <a:srgbClr val="FF0000"/>
                        </a:solidFill>
                        <a:effectLst/>
                        <a:latin typeface="Arial Narrow" pitchFamily="34" charset="0"/>
                        <a:ea typeface="Calibri"/>
                      </a:endParaRPr>
                    </a:p>
                  </a:txBody>
                  <a:tcPr marL="44450" marR="44450" marT="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0557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80000</a:t>
                      </a:r>
                    </a:p>
                  </a:txBody>
                  <a:tcPr marL="9525" marR="9525" marT="9525" marB="9525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PE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C= 250; S = 200</a:t>
                      </a:r>
                    </a:p>
                  </a:txBody>
                  <a:tcPr marL="9525" marR="9525" marT="9525" marB="9525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2705000</a:t>
                      </a:r>
                      <a:endParaRPr lang="es-PE" sz="2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9525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0557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30000</a:t>
                      </a:r>
                      <a:endParaRPr lang="es-PE" sz="2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9525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PE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C= 250; S = 0</a:t>
                      </a:r>
                    </a:p>
                  </a:txBody>
                  <a:tcPr marL="9525" marR="9525" marT="9525" marB="9525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1020000</a:t>
                      </a:r>
                      <a:endParaRPr lang="es-PE" sz="2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9525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4 Rectángulo"/>
          <p:cNvSpPr/>
          <p:nvPr/>
        </p:nvSpPr>
        <p:spPr>
          <a:xfrm>
            <a:off x="1991544" y="5114802"/>
            <a:ext cx="444025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PE" sz="2000" dirty="0"/>
              <a:t>El precio sombra de la restricción I será:</a:t>
            </a:r>
          </a:p>
        </p:txBody>
      </p:sp>
      <p:sp>
        <p:nvSpPr>
          <p:cNvPr id="12" name="11 CuadroTexto"/>
          <p:cNvSpPr txBox="1"/>
          <p:nvPr/>
        </p:nvSpPr>
        <p:spPr>
          <a:xfrm>
            <a:off x="10056438" y="6100208"/>
            <a:ext cx="21355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1000  Lado Derecho</a:t>
            </a:r>
            <a:endParaRPr lang="es-PE" dirty="0"/>
          </a:p>
        </p:txBody>
      </p:sp>
      <p:sp>
        <p:nvSpPr>
          <p:cNvPr id="13" name="12 CuadroTexto"/>
          <p:cNvSpPr txBox="1"/>
          <p:nvPr/>
        </p:nvSpPr>
        <p:spPr>
          <a:xfrm>
            <a:off x="6698751" y="4380435"/>
            <a:ext cx="8013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Y=</a:t>
            </a:r>
            <a:r>
              <a:rPr lang="es-ES" dirty="0" err="1"/>
              <a:t>F.O</a:t>
            </a:r>
            <a:r>
              <a:rPr lang="es-ES" dirty="0"/>
              <a:t>.</a:t>
            </a:r>
            <a:endParaRPr lang="es-PE" dirty="0"/>
          </a:p>
        </p:txBody>
      </p:sp>
      <p:sp>
        <p:nvSpPr>
          <p:cNvPr id="15" name="14 Elipse"/>
          <p:cNvSpPr/>
          <p:nvPr/>
        </p:nvSpPr>
        <p:spPr>
          <a:xfrm>
            <a:off x="8332342" y="5490028"/>
            <a:ext cx="79420" cy="8906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9" name="18 Triángulo rectángulo"/>
          <p:cNvSpPr/>
          <p:nvPr/>
        </p:nvSpPr>
        <p:spPr>
          <a:xfrm flipH="1">
            <a:off x="7686136" y="5003321"/>
            <a:ext cx="2734568" cy="72461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3" name="2 Conector recto"/>
          <p:cNvCxnSpPr>
            <a:cxnSpLocks/>
            <a:stCxn id="15" idx="4"/>
          </p:cNvCxnSpPr>
          <p:nvPr/>
        </p:nvCxnSpPr>
        <p:spPr>
          <a:xfrm>
            <a:off x="8372052" y="5579094"/>
            <a:ext cx="0" cy="544304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7 Conector recto"/>
          <p:cNvCxnSpPr>
            <a:cxnSpLocks/>
            <a:endCxn id="15" idx="2"/>
          </p:cNvCxnSpPr>
          <p:nvPr/>
        </p:nvCxnSpPr>
        <p:spPr>
          <a:xfrm>
            <a:off x="7530957" y="5534561"/>
            <a:ext cx="801385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17 Conector recto"/>
          <p:cNvCxnSpPr>
            <a:cxnSpLocks/>
          </p:cNvCxnSpPr>
          <p:nvPr/>
        </p:nvCxnSpPr>
        <p:spPr>
          <a:xfrm>
            <a:off x="10425897" y="4999941"/>
            <a:ext cx="0" cy="1102908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19 Conector recto"/>
          <p:cNvCxnSpPr>
            <a:cxnSpLocks/>
          </p:cNvCxnSpPr>
          <p:nvPr/>
        </p:nvCxnSpPr>
        <p:spPr>
          <a:xfrm>
            <a:off x="8986683" y="5376744"/>
            <a:ext cx="0" cy="826205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21 Conector recto"/>
          <p:cNvCxnSpPr>
            <a:cxnSpLocks/>
          </p:cNvCxnSpPr>
          <p:nvPr/>
        </p:nvCxnSpPr>
        <p:spPr>
          <a:xfrm>
            <a:off x="7520683" y="5022994"/>
            <a:ext cx="2835705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22 Conector recto"/>
          <p:cNvCxnSpPr>
            <a:cxnSpLocks/>
          </p:cNvCxnSpPr>
          <p:nvPr/>
        </p:nvCxnSpPr>
        <p:spPr>
          <a:xfrm flipV="1">
            <a:off x="7536160" y="5359802"/>
            <a:ext cx="1440160" cy="2255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1 CuadroTexto"/>
          <p:cNvSpPr txBox="1"/>
          <p:nvPr/>
        </p:nvSpPr>
        <p:spPr>
          <a:xfrm>
            <a:off x="10405671" y="5051087"/>
            <a:ext cx="7963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000" dirty="0"/>
              <a:t>∆y</a:t>
            </a:r>
          </a:p>
        </p:txBody>
      </p:sp>
      <p:sp>
        <p:nvSpPr>
          <p:cNvPr id="24" name="23 CuadroTexto"/>
          <p:cNvSpPr txBox="1"/>
          <p:nvPr/>
        </p:nvSpPr>
        <p:spPr>
          <a:xfrm>
            <a:off x="8965423" y="5774451"/>
            <a:ext cx="7963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2000" dirty="0"/>
              <a:t>∆x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5 CuadroTexto"/>
              <p:cNvSpPr txBox="1"/>
              <p:nvPr/>
            </p:nvSpPr>
            <p:spPr>
              <a:xfrm>
                <a:off x="1991544" y="4365105"/>
                <a:ext cx="2664296" cy="5370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2000" dirty="0"/>
                  <a:t>Pendiente=m=</a:t>
                </a:r>
                <a:r>
                  <a:rPr lang="es-ES" sz="2000" dirty="0" err="1"/>
                  <a:t>tg</a:t>
                </a:r>
                <a:r>
                  <a:rPr lang="es-ES" sz="2000" dirty="0"/>
                  <a:t>(</a:t>
                </a:r>
                <a:r>
                  <a:rPr lang="el-GR" sz="2000" dirty="0"/>
                  <a:t>α</a:t>
                </a:r>
                <a:r>
                  <a:rPr lang="es-ES" sz="2000" dirty="0"/>
                  <a:t>)=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E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2000" i="1">
                            <a:latin typeface="Cambria Math"/>
                          </a:rPr>
                          <m:t>∆</m:t>
                        </m:r>
                        <m:r>
                          <a:rPr lang="es-ES" sz="2000" i="1">
                            <a:latin typeface="Cambria Math"/>
                          </a:rPr>
                          <m:t>𝑦</m:t>
                        </m:r>
                      </m:num>
                      <m:den>
                        <m:r>
                          <a:rPr lang="es-ES" sz="2000" i="1">
                            <a:latin typeface="Cambria Math"/>
                          </a:rPr>
                          <m:t>∆</m:t>
                        </m:r>
                        <m:r>
                          <a:rPr lang="es-ES" sz="2000" i="1">
                            <a:latin typeface="Cambria Math"/>
                          </a:rPr>
                          <m:t>𝑥</m:t>
                        </m:r>
                      </m:den>
                    </m:f>
                  </m:oMath>
                </a14:m>
                <a:endParaRPr lang="es-PE" sz="2000" dirty="0"/>
              </a:p>
            </p:txBody>
          </p:sp>
        </mc:Choice>
        <mc:Fallback xmlns="">
          <p:sp>
            <p:nvSpPr>
              <p:cNvPr id="6" name="5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1544" y="4365105"/>
                <a:ext cx="2664296" cy="537070"/>
              </a:xfrm>
              <a:prstGeom prst="rect">
                <a:avLst/>
              </a:prstGeom>
              <a:blipFill>
                <a:blip r:embed="rId3"/>
                <a:stretch>
                  <a:fillRect l="-2517" b="-7955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9 CuadroTexto"/>
          <p:cNvSpPr txBox="1"/>
          <p:nvPr/>
        </p:nvSpPr>
        <p:spPr>
          <a:xfrm>
            <a:off x="1991544" y="3933056"/>
            <a:ext cx="43204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rgbClr val="FF0000"/>
                </a:solidFill>
              </a:rPr>
              <a:t>Precio Sombra=Precio dual=pendiente</a:t>
            </a:r>
            <a:endParaRPr lang="es-PE" sz="2000" b="1" dirty="0">
              <a:solidFill>
                <a:srgbClr val="FF0000"/>
              </a:solidFill>
            </a:endParaRPr>
          </a:p>
        </p:txBody>
      </p:sp>
      <p:sp>
        <p:nvSpPr>
          <p:cNvPr id="25" name="CustomShape 2">
            <a:extLst>
              <a:ext uri="{FF2B5EF4-FFF2-40B4-BE49-F238E27FC236}">
                <a16:creationId xmlns:a16="http://schemas.microsoft.com/office/drawing/2014/main" id="{FD6571E3-8CA2-4904-AA1D-E46AC5BC8E79}"/>
              </a:ext>
            </a:extLst>
          </p:cNvPr>
          <p:cNvSpPr/>
          <p:nvPr/>
        </p:nvSpPr>
        <p:spPr>
          <a:xfrm>
            <a:off x="6098874" y="0"/>
            <a:ext cx="6093125" cy="1061049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/>
            <a:r>
              <a:rPr lang="es-PE" sz="3200" dirty="0">
                <a:solidFill>
                  <a:schemeClr val="bg1"/>
                </a:solidFill>
                <a:latin typeface="Bauhaus 93" pitchFamily="82" charset="0"/>
              </a:rPr>
              <a:t>Análisis de sensibilidad del lado derecho de la restricción IV</a:t>
            </a:r>
          </a:p>
        </p:txBody>
      </p:sp>
      <p:sp>
        <p:nvSpPr>
          <p:cNvPr id="32" name="14 Elipse">
            <a:extLst>
              <a:ext uri="{FF2B5EF4-FFF2-40B4-BE49-F238E27FC236}">
                <a16:creationId xmlns:a16="http://schemas.microsoft.com/office/drawing/2014/main" id="{879646D5-AB4F-4134-AE96-D4C57F793393}"/>
              </a:ext>
            </a:extLst>
          </p:cNvPr>
          <p:cNvSpPr/>
          <p:nvPr/>
        </p:nvSpPr>
        <p:spPr>
          <a:xfrm>
            <a:off x="8947079" y="5323930"/>
            <a:ext cx="79420" cy="8906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3" name="14 Elipse">
            <a:extLst>
              <a:ext uri="{FF2B5EF4-FFF2-40B4-BE49-F238E27FC236}">
                <a16:creationId xmlns:a16="http://schemas.microsoft.com/office/drawing/2014/main" id="{B6C01DA2-6AFF-44A3-8B3C-F25D1D931B4A}"/>
              </a:ext>
            </a:extLst>
          </p:cNvPr>
          <p:cNvSpPr/>
          <p:nvPr/>
        </p:nvSpPr>
        <p:spPr>
          <a:xfrm>
            <a:off x="10352926" y="4962621"/>
            <a:ext cx="79420" cy="8906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40" name="Conector recto de flecha 39">
            <a:extLst>
              <a:ext uri="{FF2B5EF4-FFF2-40B4-BE49-F238E27FC236}">
                <a16:creationId xmlns:a16="http://schemas.microsoft.com/office/drawing/2014/main" id="{4B5FDE8E-B146-4F44-A5E0-D1D124E26E5E}"/>
              </a:ext>
            </a:extLst>
          </p:cNvPr>
          <p:cNvCxnSpPr/>
          <p:nvPr/>
        </p:nvCxnSpPr>
        <p:spPr>
          <a:xfrm flipV="1">
            <a:off x="7674796" y="4202130"/>
            <a:ext cx="0" cy="208565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recto de flecha 41">
            <a:extLst>
              <a:ext uri="{FF2B5EF4-FFF2-40B4-BE49-F238E27FC236}">
                <a16:creationId xmlns:a16="http://schemas.microsoft.com/office/drawing/2014/main" id="{4952CDF9-ACBB-4A1B-9D79-042E0B31EC98}"/>
              </a:ext>
            </a:extLst>
          </p:cNvPr>
          <p:cNvCxnSpPr/>
          <p:nvPr/>
        </p:nvCxnSpPr>
        <p:spPr>
          <a:xfrm>
            <a:off x="7315200" y="6143944"/>
            <a:ext cx="4623371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10 Conector recto"/>
          <p:cNvCxnSpPr>
            <a:cxnSpLocks/>
          </p:cNvCxnSpPr>
          <p:nvPr/>
        </p:nvCxnSpPr>
        <p:spPr>
          <a:xfrm flipV="1">
            <a:off x="7320136" y="4634144"/>
            <a:ext cx="4584819" cy="118180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Objeto 6">
            <a:extLst>
              <a:ext uri="{FF2B5EF4-FFF2-40B4-BE49-F238E27FC236}">
                <a16:creationId xmlns:a16="http://schemas.microsoft.com/office/drawing/2014/main" id="{F251766D-AAE3-4704-BE6E-17579C58080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82800" y="5680075"/>
          <a:ext cx="3021013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2286000" imgH="393480" progId="">
                  <p:embed/>
                </p:oleObj>
              </mc:Choice>
              <mc:Fallback>
                <p:oleObj r:id="rId4" imgW="2286000" imgH="393480" progId="">
                  <p:embed/>
                  <p:pic>
                    <p:nvPicPr>
                      <p:cNvPr id="7" name="Objeto 6">
                        <a:extLst>
                          <a:ext uri="{FF2B5EF4-FFF2-40B4-BE49-F238E27FC236}">
                            <a16:creationId xmlns:a16="http://schemas.microsoft.com/office/drawing/2014/main" id="{F251766D-AAE3-4704-BE6E-17579C58080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082800" y="5680075"/>
                        <a:ext cx="3021013" cy="5191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CuadroTexto 26">
            <a:extLst>
              <a:ext uri="{FF2B5EF4-FFF2-40B4-BE49-F238E27FC236}">
                <a16:creationId xmlns:a16="http://schemas.microsoft.com/office/drawing/2014/main" id="{F2BBA8EE-B088-4438-BC92-3498CC175F36}"/>
              </a:ext>
            </a:extLst>
          </p:cNvPr>
          <p:cNvSpPr txBox="1"/>
          <p:nvPr/>
        </p:nvSpPr>
        <p:spPr>
          <a:xfrm>
            <a:off x="1996751" y="186613"/>
            <a:ext cx="257524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000" dirty="0">
                <a:solidFill>
                  <a:srgbClr val="0070C0"/>
                </a:solidFill>
              </a:rPr>
              <a:t>4.40</a:t>
            </a:r>
            <a:endParaRPr lang="es-PE" sz="40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07865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stomShape 2">
            <a:extLst>
              <a:ext uri="{FF2B5EF4-FFF2-40B4-BE49-F238E27FC236}">
                <a16:creationId xmlns:a16="http://schemas.microsoft.com/office/drawing/2014/main" id="{9916D2DA-1341-4677-BF70-F4515BBBC15F}"/>
              </a:ext>
            </a:extLst>
          </p:cNvPr>
          <p:cNvSpPr/>
          <p:nvPr/>
        </p:nvSpPr>
        <p:spPr>
          <a:xfrm>
            <a:off x="6098874" y="0"/>
            <a:ext cx="6093125" cy="1061049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/>
            <a:r>
              <a:rPr lang="es-PE" sz="3200" dirty="0">
                <a:solidFill>
                  <a:schemeClr val="bg1"/>
                </a:solidFill>
                <a:latin typeface="Bauhaus 93" pitchFamily="82" charset="0"/>
              </a:rPr>
              <a:t>Análisis de sensibilidad del lado derecho de la restricción IV</a:t>
            </a:r>
          </a:p>
        </p:txBody>
      </p:sp>
      <p:graphicFrame>
        <p:nvGraphicFramePr>
          <p:cNvPr id="7" name="Tabla 7">
            <a:extLst>
              <a:ext uri="{FF2B5EF4-FFF2-40B4-BE49-F238E27FC236}">
                <a16:creationId xmlns:a16="http://schemas.microsoft.com/office/drawing/2014/main" id="{82D34760-F19D-4EE5-AC97-DE8304ED861C}"/>
              </a:ext>
            </a:extLst>
          </p:cNvPr>
          <p:cNvGraphicFramePr>
            <a:graphicFrameLocks noGrp="1"/>
          </p:cNvGraphicFramePr>
          <p:nvPr/>
        </p:nvGraphicFramePr>
        <p:xfrm>
          <a:off x="5624423" y="1375273"/>
          <a:ext cx="6390255" cy="22939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1766">
                  <a:extLst>
                    <a:ext uri="{9D8B030D-6E8A-4147-A177-3AD203B41FA5}">
                      <a16:colId xmlns:a16="http://schemas.microsoft.com/office/drawing/2014/main" val="3804144040"/>
                    </a:ext>
                  </a:extLst>
                </a:gridCol>
                <a:gridCol w="4768489">
                  <a:extLst>
                    <a:ext uri="{9D8B030D-6E8A-4147-A177-3AD203B41FA5}">
                      <a16:colId xmlns:a16="http://schemas.microsoft.com/office/drawing/2014/main" val="2858789546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800" dirty="0"/>
                        <a:t>Análisis de Sensibilidad del Lado Derecho de la IV Restricción: </a:t>
                      </a:r>
                      <a:r>
                        <a:rPr lang="es-PE" dirty="0"/>
                        <a:t>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dirty="0"/>
                        <a:t>S &lt;=200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s-P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6824585"/>
                  </a:ext>
                </a:extLst>
              </a:tr>
              <a:tr h="541346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s-PE" sz="1800" dirty="0"/>
                        <a:t>En (0, 533,33)</a:t>
                      </a:r>
                      <a:endParaRPr lang="es-PE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V.L.D</a:t>
                      </a:r>
                      <a:r>
                        <a:rPr lang="es-PE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.= </a:t>
                      </a:r>
                      <a:r>
                        <a:rPr lang="es-E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533,33=</a:t>
                      </a:r>
                      <a:r>
                        <a:rPr lang="es-ES" sz="18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533,3333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971950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s-P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Z=</a:t>
                      </a:r>
                      <a:r>
                        <a:rPr lang="es-PE" dirty="0">
                          <a:latin typeface="Arial Narrow" panose="020B0606020202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6740(0) + 5100(533,3333)=2720000 </a:t>
                      </a:r>
                      <a:endParaRPr lang="es-PE" dirty="0"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9105990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800" dirty="0"/>
                        <a:t>En </a:t>
                      </a:r>
                      <a:r>
                        <a:rPr lang="es-PE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(400</a:t>
                      </a:r>
                      <a:r>
                        <a:rPr lang="es-PE" sz="1800" dirty="0"/>
                        <a:t>, 0</a:t>
                      </a:r>
                      <a:r>
                        <a:rPr lang="es-PE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s-PE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V.L.D</a:t>
                      </a:r>
                      <a:r>
                        <a:rPr lang="es-PE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r>
                        <a:rPr lang="es-E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</a:t>
                      </a:r>
                      <a:r>
                        <a:rPr lang="es-ES" sz="18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552166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s-PE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Z=</a:t>
                      </a:r>
                      <a:r>
                        <a:rPr lang="es-PE" dirty="0">
                          <a:latin typeface="Arial Narrow" panose="020B0606020202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6740(400) + 5100(0)= 2696000</a:t>
                      </a:r>
                      <a:endParaRPr lang="es-PE" dirty="0"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9017813"/>
                  </a:ext>
                </a:extLst>
              </a:tr>
            </a:tbl>
          </a:graphicData>
        </a:graphic>
      </p:graphicFrame>
      <p:sp>
        <p:nvSpPr>
          <p:cNvPr id="2" name="CuadroTexto 1">
            <a:extLst>
              <a:ext uri="{FF2B5EF4-FFF2-40B4-BE49-F238E27FC236}">
                <a16:creationId xmlns:a16="http://schemas.microsoft.com/office/drawing/2014/main" id="{5625BEED-F3A3-4206-A490-5B91A6BB6DBD}"/>
              </a:ext>
            </a:extLst>
          </p:cNvPr>
          <p:cNvSpPr txBox="1"/>
          <p:nvPr/>
        </p:nvSpPr>
        <p:spPr>
          <a:xfrm>
            <a:off x="6292312" y="4742481"/>
            <a:ext cx="472698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El análisis de sensibilidad del lado derecho  se realiza con las restricciones que  intervienen en la solución optima. La restricción I y II intervienen, pero la restricción III no interviene, por lo tanto su precio sombra  de este último sería cero.</a:t>
            </a:r>
            <a:endParaRPr lang="es-PE" dirty="0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CD831C3F-B545-4140-A00F-16A50F39D86D}"/>
              </a:ext>
            </a:extLst>
          </p:cNvPr>
          <p:cNvSpPr/>
          <p:nvPr/>
        </p:nvSpPr>
        <p:spPr>
          <a:xfrm>
            <a:off x="160149" y="1214211"/>
            <a:ext cx="2180095" cy="2585323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s-PE" dirty="0">
                <a:latin typeface="Arial Narrow" panose="020B0606020202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MAX  </a:t>
            </a:r>
            <a:r>
              <a:rPr lang="es-PE" dirty="0" err="1">
                <a:latin typeface="Arial Narrow" panose="020B0606020202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6740C</a:t>
            </a:r>
            <a:r>
              <a:rPr lang="es-PE" dirty="0">
                <a:latin typeface="Arial Narrow" panose="020B0606020202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+ </a:t>
            </a:r>
            <a:r>
              <a:rPr lang="es-PE" dirty="0" err="1">
                <a:latin typeface="Arial Narrow" panose="020B0606020202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5100S</a:t>
            </a:r>
            <a:endParaRPr lang="es-PE" dirty="0">
              <a:latin typeface="Arial Narrow" panose="020B0606020202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s-PE" dirty="0" err="1">
                <a:solidFill>
                  <a:srgbClr val="FF0000"/>
                </a:solidFill>
                <a:latin typeface="Arial Narrow" panose="020B0606020202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ST</a:t>
            </a:r>
            <a:endParaRPr lang="es-PE" dirty="0">
              <a:latin typeface="Arial Narrow" panose="020B0606020202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s-PE" dirty="0" err="1">
                <a:latin typeface="Arial Narrow" panose="020B0606020202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200C</a:t>
            </a:r>
            <a:r>
              <a:rPr lang="es-PE" dirty="0">
                <a:latin typeface="Arial Narrow" panose="020B0606020202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+</a:t>
            </a:r>
            <a:r>
              <a:rPr lang="es-PE" dirty="0" err="1">
                <a:latin typeface="Arial Narrow" panose="020B0606020202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150S</a:t>
            </a:r>
            <a:r>
              <a:rPr lang="es-PE" dirty="0">
                <a:latin typeface="Arial Narrow" panose="020B0606020202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≤ 80000</a:t>
            </a:r>
            <a:endParaRPr lang="es-PE" dirty="0">
              <a:latin typeface="Arial Narrow" panose="020B0606020202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s-PE" dirty="0">
                <a:latin typeface="Arial Narrow" panose="020B0606020202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</a:t>
            </a:r>
            <a:r>
              <a:rPr lang="es-PE" dirty="0" err="1">
                <a:latin typeface="Arial Narrow" panose="020B0606020202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18C</a:t>
            </a:r>
            <a:r>
              <a:rPr lang="es-PE" dirty="0">
                <a:latin typeface="Arial Narrow" panose="020B0606020202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+  </a:t>
            </a:r>
            <a:r>
              <a:rPr lang="es-PE" dirty="0" err="1">
                <a:latin typeface="Arial Narrow" panose="020B0606020202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20S</a:t>
            </a:r>
            <a:r>
              <a:rPr lang="es-PE" dirty="0">
                <a:latin typeface="Arial Narrow" panose="020B0606020202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≤   9000</a:t>
            </a:r>
            <a:endParaRPr lang="es-PE" dirty="0">
              <a:latin typeface="Arial Narrow" panose="020B0606020202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s-PE" dirty="0">
                <a:latin typeface="Arial Narrow" panose="020B0606020202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   	C  ≤   1500</a:t>
            </a:r>
            <a:endParaRPr lang="es-PE" dirty="0">
              <a:latin typeface="Arial Narrow" panose="020B0606020202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s-PE" dirty="0">
                <a:latin typeface="Arial Narrow" panose="020B0606020202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	S  ≤     200</a:t>
            </a:r>
            <a:endParaRPr lang="es-PE" dirty="0">
              <a:latin typeface="Arial Narrow" panose="020B0606020202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s-PE" dirty="0" err="1">
                <a:effectLst/>
                <a:latin typeface="Arial Narrow" panose="020B0606020202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END</a:t>
            </a:r>
            <a:endParaRPr lang="es-PE" dirty="0">
              <a:effectLst/>
              <a:latin typeface="Arial Narrow" panose="020B0606020202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es-PE" dirty="0">
                <a:latin typeface="Arial Narrow" panose="020B0606020202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GIN C</a:t>
            </a:r>
          </a:p>
          <a:p>
            <a:r>
              <a:rPr lang="es-PE" dirty="0">
                <a:effectLst/>
                <a:latin typeface="Arial Narrow" panose="020B0606020202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GIN S</a:t>
            </a:r>
            <a:endParaRPr lang="es-PE" dirty="0">
              <a:effectLst/>
              <a:latin typeface="Arial Narrow" panose="020B0606020202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9" name="Imagen 28">
            <a:extLst>
              <a:ext uri="{FF2B5EF4-FFF2-40B4-BE49-F238E27FC236}">
                <a16:creationId xmlns:a16="http://schemas.microsoft.com/office/drawing/2014/main" id="{CF97A0F0-F5AE-482E-A272-00DA040110A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53032" y="3921071"/>
            <a:ext cx="4714914" cy="2654677"/>
          </a:xfrm>
          <a:prstGeom prst="rect">
            <a:avLst/>
          </a:prstGeom>
        </p:spPr>
      </p:pic>
      <p:sp>
        <p:nvSpPr>
          <p:cNvPr id="30" name="CuadroTexto 29">
            <a:extLst>
              <a:ext uri="{FF2B5EF4-FFF2-40B4-BE49-F238E27FC236}">
                <a16:creationId xmlns:a16="http://schemas.microsoft.com/office/drawing/2014/main" id="{6EAA1A1E-F291-4D94-A3CB-0236D7096D2F}"/>
              </a:ext>
            </a:extLst>
          </p:cNvPr>
          <p:cNvSpPr txBox="1"/>
          <p:nvPr/>
        </p:nvSpPr>
        <p:spPr>
          <a:xfrm>
            <a:off x="1996751" y="186613"/>
            <a:ext cx="257524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000" dirty="0">
                <a:solidFill>
                  <a:srgbClr val="0070C0"/>
                </a:solidFill>
              </a:rPr>
              <a:t>4.40</a:t>
            </a:r>
            <a:endParaRPr lang="es-PE" sz="40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63793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3 Tabla"/>
          <p:cNvGraphicFramePr>
            <a:graphicFrameLocks noGrp="1"/>
          </p:cNvGraphicFramePr>
          <p:nvPr/>
        </p:nvGraphicFramePr>
        <p:xfrm>
          <a:off x="1772520" y="1349396"/>
          <a:ext cx="8784976" cy="157853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484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154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10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656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PE" sz="2400" b="1" dirty="0">
                          <a:solidFill>
                            <a:srgbClr val="FF0000"/>
                          </a:solidFill>
                          <a:effectLst/>
                          <a:latin typeface="Arial Narrow" pitchFamily="34" charset="0"/>
                        </a:rPr>
                        <a:t>Valor lado derecho</a:t>
                      </a:r>
                      <a:endParaRPr lang="es-PE" sz="2400" b="1" dirty="0">
                        <a:solidFill>
                          <a:srgbClr val="FF0000"/>
                        </a:solidFill>
                        <a:effectLst/>
                        <a:latin typeface="Arial Narrow" pitchFamily="34" charset="0"/>
                        <a:ea typeface="Calibri"/>
                      </a:endParaRPr>
                    </a:p>
                  </a:txBody>
                  <a:tcPr marL="44450" marR="44450" marT="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PE" sz="2400" b="1" dirty="0">
                          <a:solidFill>
                            <a:srgbClr val="FF0000"/>
                          </a:solidFill>
                          <a:effectLst/>
                          <a:latin typeface="Arial Narrow" pitchFamily="34" charset="0"/>
                        </a:rPr>
                        <a:t>Solución óptima</a:t>
                      </a:r>
                      <a:endParaRPr lang="es-PE" sz="2400" b="1" dirty="0">
                        <a:solidFill>
                          <a:srgbClr val="FF0000"/>
                        </a:solidFill>
                        <a:effectLst/>
                        <a:latin typeface="Arial Narrow" pitchFamily="34" charset="0"/>
                        <a:ea typeface="Calibri"/>
                      </a:endParaRPr>
                    </a:p>
                  </a:txBody>
                  <a:tcPr marL="44450" marR="44450" marT="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PE" sz="2400" b="1" dirty="0">
                          <a:solidFill>
                            <a:srgbClr val="FF0000"/>
                          </a:solidFill>
                          <a:effectLst/>
                          <a:latin typeface="Arial Narrow" pitchFamily="34" charset="0"/>
                        </a:rPr>
                        <a:t>Valor función objetivo</a:t>
                      </a:r>
                      <a:endParaRPr lang="es-PE" sz="2400" b="1" dirty="0">
                        <a:solidFill>
                          <a:srgbClr val="FF0000"/>
                        </a:solidFill>
                        <a:effectLst/>
                        <a:latin typeface="Arial Narrow" pitchFamily="34" charset="0"/>
                        <a:ea typeface="Calibri"/>
                      </a:endParaRPr>
                    </a:p>
                  </a:txBody>
                  <a:tcPr marL="44450" marR="44450" marT="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0557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533,33</a:t>
                      </a:r>
                    </a:p>
                  </a:txBody>
                  <a:tcPr marL="9525" marR="9525" marT="9525" marB="9525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PE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C= 0; S = 533,33</a:t>
                      </a:r>
                    </a:p>
                  </a:txBody>
                  <a:tcPr marL="9525" marR="9525" marT="9525" marB="9525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2720000</a:t>
                      </a:r>
                      <a:endParaRPr lang="es-PE" sz="2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9525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0557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es-PE" sz="2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9525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PE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C= 400; S = 0</a:t>
                      </a:r>
                    </a:p>
                  </a:txBody>
                  <a:tcPr marL="9525" marR="9525" marT="9525" marB="9525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2696000</a:t>
                      </a:r>
                      <a:endParaRPr lang="es-PE" sz="2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9525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4 Rectángulo"/>
          <p:cNvSpPr/>
          <p:nvPr/>
        </p:nvSpPr>
        <p:spPr>
          <a:xfrm>
            <a:off x="1991544" y="5114802"/>
            <a:ext cx="444025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PE" sz="2000" dirty="0"/>
              <a:t>El precio sombra de la restricción I será:</a:t>
            </a:r>
          </a:p>
        </p:txBody>
      </p:sp>
      <p:sp>
        <p:nvSpPr>
          <p:cNvPr id="12" name="11 CuadroTexto"/>
          <p:cNvSpPr txBox="1"/>
          <p:nvPr/>
        </p:nvSpPr>
        <p:spPr>
          <a:xfrm>
            <a:off x="10056438" y="6100208"/>
            <a:ext cx="21355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1000  Lado Derecho</a:t>
            </a:r>
            <a:endParaRPr lang="es-PE" dirty="0"/>
          </a:p>
        </p:txBody>
      </p:sp>
      <p:sp>
        <p:nvSpPr>
          <p:cNvPr id="13" name="12 CuadroTexto"/>
          <p:cNvSpPr txBox="1"/>
          <p:nvPr/>
        </p:nvSpPr>
        <p:spPr>
          <a:xfrm>
            <a:off x="6698751" y="4380435"/>
            <a:ext cx="8013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Y=</a:t>
            </a:r>
            <a:r>
              <a:rPr lang="es-ES" dirty="0" err="1"/>
              <a:t>F.O</a:t>
            </a:r>
            <a:r>
              <a:rPr lang="es-ES" dirty="0"/>
              <a:t>.</a:t>
            </a:r>
            <a:endParaRPr lang="es-PE" dirty="0"/>
          </a:p>
        </p:txBody>
      </p:sp>
      <p:sp>
        <p:nvSpPr>
          <p:cNvPr id="15" name="14 Elipse"/>
          <p:cNvSpPr/>
          <p:nvPr/>
        </p:nvSpPr>
        <p:spPr>
          <a:xfrm>
            <a:off x="8332342" y="5490028"/>
            <a:ext cx="79420" cy="8906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9" name="18 Triángulo rectángulo"/>
          <p:cNvSpPr/>
          <p:nvPr/>
        </p:nvSpPr>
        <p:spPr>
          <a:xfrm flipH="1">
            <a:off x="7686136" y="5003321"/>
            <a:ext cx="2734568" cy="72461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3" name="2 Conector recto"/>
          <p:cNvCxnSpPr>
            <a:cxnSpLocks/>
            <a:stCxn id="15" idx="4"/>
          </p:cNvCxnSpPr>
          <p:nvPr/>
        </p:nvCxnSpPr>
        <p:spPr>
          <a:xfrm>
            <a:off x="8372052" y="5579094"/>
            <a:ext cx="0" cy="544304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7 Conector recto"/>
          <p:cNvCxnSpPr>
            <a:cxnSpLocks/>
            <a:endCxn id="15" idx="2"/>
          </p:cNvCxnSpPr>
          <p:nvPr/>
        </p:nvCxnSpPr>
        <p:spPr>
          <a:xfrm>
            <a:off x="7530957" y="5534561"/>
            <a:ext cx="801385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17 Conector recto"/>
          <p:cNvCxnSpPr>
            <a:cxnSpLocks/>
          </p:cNvCxnSpPr>
          <p:nvPr/>
        </p:nvCxnSpPr>
        <p:spPr>
          <a:xfrm>
            <a:off x="10425897" y="4999941"/>
            <a:ext cx="0" cy="1102908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19 Conector recto"/>
          <p:cNvCxnSpPr>
            <a:cxnSpLocks/>
          </p:cNvCxnSpPr>
          <p:nvPr/>
        </p:nvCxnSpPr>
        <p:spPr>
          <a:xfrm>
            <a:off x="8986683" y="5376744"/>
            <a:ext cx="0" cy="826205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21 Conector recto"/>
          <p:cNvCxnSpPr>
            <a:cxnSpLocks/>
          </p:cNvCxnSpPr>
          <p:nvPr/>
        </p:nvCxnSpPr>
        <p:spPr>
          <a:xfrm>
            <a:off x="7520683" y="5022994"/>
            <a:ext cx="2835705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22 Conector recto"/>
          <p:cNvCxnSpPr>
            <a:cxnSpLocks/>
          </p:cNvCxnSpPr>
          <p:nvPr/>
        </p:nvCxnSpPr>
        <p:spPr>
          <a:xfrm flipV="1">
            <a:off x="7536160" y="5359802"/>
            <a:ext cx="1440160" cy="2255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1 CuadroTexto"/>
          <p:cNvSpPr txBox="1"/>
          <p:nvPr/>
        </p:nvSpPr>
        <p:spPr>
          <a:xfrm>
            <a:off x="10405671" y="5051087"/>
            <a:ext cx="7963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000" dirty="0"/>
              <a:t>∆y</a:t>
            </a:r>
          </a:p>
        </p:txBody>
      </p:sp>
      <p:sp>
        <p:nvSpPr>
          <p:cNvPr id="24" name="23 CuadroTexto"/>
          <p:cNvSpPr txBox="1"/>
          <p:nvPr/>
        </p:nvSpPr>
        <p:spPr>
          <a:xfrm>
            <a:off x="8965423" y="5774451"/>
            <a:ext cx="7963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2000" dirty="0"/>
              <a:t>∆x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5 CuadroTexto"/>
              <p:cNvSpPr txBox="1"/>
              <p:nvPr/>
            </p:nvSpPr>
            <p:spPr>
              <a:xfrm>
                <a:off x="1991544" y="4365105"/>
                <a:ext cx="2664296" cy="5370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2000" dirty="0"/>
                  <a:t>Pendiente=m=</a:t>
                </a:r>
                <a:r>
                  <a:rPr lang="es-ES" sz="2000" dirty="0" err="1"/>
                  <a:t>tg</a:t>
                </a:r>
                <a:r>
                  <a:rPr lang="es-ES" sz="2000" dirty="0"/>
                  <a:t>(</a:t>
                </a:r>
                <a:r>
                  <a:rPr lang="el-GR" sz="2000" dirty="0"/>
                  <a:t>α</a:t>
                </a:r>
                <a:r>
                  <a:rPr lang="es-ES" sz="2000" dirty="0"/>
                  <a:t>)=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E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2000" i="1">
                            <a:latin typeface="Cambria Math"/>
                          </a:rPr>
                          <m:t>∆</m:t>
                        </m:r>
                        <m:r>
                          <a:rPr lang="es-ES" sz="2000" i="1">
                            <a:latin typeface="Cambria Math"/>
                          </a:rPr>
                          <m:t>𝑦</m:t>
                        </m:r>
                      </m:num>
                      <m:den>
                        <m:r>
                          <a:rPr lang="es-ES" sz="2000" i="1">
                            <a:latin typeface="Cambria Math"/>
                          </a:rPr>
                          <m:t>∆</m:t>
                        </m:r>
                        <m:r>
                          <a:rPr lang="es-ES" sz="2000" i="1">
                            <a:latin typeface="Cambria Math"/>
                          </a:rPr>
                          <m:t>𝑥</m:t>
                        </m:r>
                      </m:den>
                    </m:f>
                  </m:oMath>
                </a14:m>
                <a:endParaRPr lang="es-PE" sz="2000" dirty="0"/>
              </a:p>
            </p:txBody>
          </p:sp>
        </mc:Choice>
        <mc:Fallback xmlns="">
          <p:sp>
            <p:nvSpPr>
              <p:cNvPr id="6" name="5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1544" y="4365105"/>
                <a:ext cx="2664296" cy="537070"/>
              </a:xfrm>
              <a:prstGeom prst="rect">
                <a:avLst/>
              </a:prstGeom>
              <a:blipFill>
                <a:blip r:embed="rId3"/>
                <a:stretch>
                  <a:fillRect l="-2517" b="-7955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9 CuadroTexto"/>
          <p:cNvSpPr txBox="1"/>
          <p:nvPr/>
        </p:nvSpPr>
        <p:spPr>
          <a:xfrm>
            <a:off x="1991544" y="3933056"/>
            <a:ext cx="43204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rgbClr val="FF0000"/>
                </a:solidFill>
              </a:rPr>
              <a:t>Precio Sombra=Precio dual=pendiente</a:t>
            </a:r>
            <a:endParaRPr lang="es-PE" sz="2000" b="1" dirty="0">
              <a:solidFill>
                <a:srgbClr val="FF0000"/>
              </a:solidFill>
            </a:endParaRPr>
          </a:p>
        </p:txBody>
      </p:sp>
      <p:sp>
        <p:nvSpPr>
          <p:cNvPr id="25" name="CustomShape 2">
            <a:extLst>
              <a:ext uri="{FF2B5EF4-FFF2-40B4-BE49-F238E27FC236}">
                <a16:creationId xmlns:a16="http://schemas.microsoft.com/office/drawing/2014/main" id="{FD6571E3-8CA2-4904-AA1D-E46AC5BC8E79}"/>
              </a:ext>
            </a:extLst>
          </p:cNvPr>
          <p:cNvSpPr/>
          <p:nvPr/>
        </p:nvSpPr>
        <p:spPr>
          <a:xfrm>
            <a:off x="6098874" y="0"/>
            <a:ext cx="6093125" cy="1061049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/>
            <a:r>
              <a:rPr lang="es-PE" sz="3200" dirty="0">
                <a:solidFill>
                  <a:schemeClr val="bg1"/>
                </a:solidFill>
                <a:latin typeface="Bauhaus 93" pitchFamily="82" charset="0"/>
              </a:rPr>
              <a:t>Análisis de sensibilidad del lado derecho</a:t>
            </a:r>
          </a:p>
        </p:txBody>
      </p:sp>
      <p:sp>
        <p:nvSpPr>
          <p:cNvPr id="32" name="14 Elipse">
            <a:extLst>
              <a:ext uri="{FF2B5EF4-FFF2-40B4-BE49-F238E27FC236}">
                <a16:creationId xmlns:a16="http://schemas.microsoft.com/office/drawing/2014/main" id="{879646D5-AB4F-4134-AE96-D4C57F793393}"/>
              </a:ext>
            </a:extLst>
          </p:cNvPr>
          <p:cNvSpPr/>
          <p:nvPr/>
        </p:nvSpPr>
        <p:spPr>
          <a:xfrm>
            <a:off x="8947079" y="5323930"/>
            <a:ext cx="79420" cy="8906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3" name="14 Elipse">
            <a:extLst>
              <a:ext uri="{FF2B5EF4-FFF2-40B4-BE49-F238E27FC236}">
                <a16:creationId xmlns:a16="http://schemas.microsoft.com/office/drawing/2014/main" id="{B6C01DA2-6AFF-44A3-8B3C-F25D1D931B4A}"/>
              </a:ext>
            </a:extLst>
          </p:cNvPr>
          <p:cNvSpPr/>
          <p:nvPr/>
        </p:nvSpPr>
        <p:spPr>
          <a:xfrm>
            <a:off x="10352926" y="4962621"/>
            <a:ext cx="79420" cy="8906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40" name="Conector recto de flecha 39">
            <a:extLst>
              <a:ext uri="{FF2B5EF4-FFF2-40B4-BE49-F238E27FC236}">
                <a16:creationId xmlns:a16="http://schemas.microsoft.com/office/drawing/2014/main" id="{4B5FDE8E-B146-4F44-A5E0-D1D124E26E5E}"/>
              </a:ext>
            </a:extLst>
          </p:cNvPr>
          <p:cNvCxnSpPr/>
          <p:nvPr/>
        </p:nvCxnSpPr>
        <p:spPr>
          <a:xfrm flipV="1">
            <a:off x="7674796" y="4202130"/>
            <a:ext cx="0" cy="208565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recto de flecha 41">
            <a:extLst>
              <a:ext uri="{FF2B5EF4-FFF2-40B4-BE49-F238E27FC236}">
                <a16:creationId xmlns:a16="http://schemas.microsoft.com/office/drawing/2014/main" id="{4952CDF9-ACBB-4A1B-9D79-042E0B31EC98}"/>
              </a:ext>
            </a:extLst>
          </p:cNvPr>
          <p:cNvCxnSpPr/>
          <p:nvPr/>
        </p:nvCxnSpPr>
        <p:spPr>
          <a:xfrm>
            <a:off x="7315200" y="6143944"/>
            <a:ext cx="4623371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10 Conector recto"/>
          <p:cNvCxnSpPr>
            <a:cxnSpLocks/>
          </p:cNvCxnSpPr>
          <p:nvPr/>
        </p:nvCxnSpPr>
        <p:spPr>
          <a:xfrm flipV="1">
            <a:off x="7320136" y="4634144"/>
            <a:ext cx="4584819" cy="118180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Objeto 6">
            <a:extLst>
              <a:ext uri="{FF2B5EF4-FFF2-40B4-BE49-F238E27FC236}">
                <a16:creationId xmlns:a16="http://schemas.microsoft.com/office/drawing/2014/main" id="{F251766D-AAE3-4704-BE6E-17579C58080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00263" y="5664200"/>
          <a:ext cx="2987675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2260440" imgH="419040" progId="">
                  <p:embed/>
                </p:oleObj>
              </mc:Choice>
              <mc:Fallback>
                <p:oleObj r:id="rId4" imgW="2260440" imgH="419040" progId="">
                  <p:embed/>
                  <p:pic>
                    <p:nvPicPr>
                      <p:cNvPr id="7" name="Objeto 6">
                        <a:extLst>
                          <a:ext uri="{FF2B5EF4-FFF2-40B4-BE49-F238E27FC236}">
                            <a16:creationId xmlns:a16="http://schemas.microsoft.com/office/drawing/2014/main" id="{F251766D-AAE3-4704-BE6E-17579C58080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00263" y="5664200"/>
                        <a:ext cx="2987675" cy="5524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CuadroTexto 26">
            <a:extLst>
              <a:ext uri="{FF2B5EF4-FFF2-40B4-BE49-F238E27FC236}">
                <a16:creationId xmlns:a16="http://schemas.microsoft.com/office/drawing/2014/main" id="{E103EF57-FB98-4DBF-B9DE-D23B3B6F20D3}"/>
              </a:ext>
            </a:extLst>
          </p:cNvPr>
          <p:cNvSpPr txBox="1"/>
          <p:nvPr/>
        </p:nvSpPr>
        <p:spPr>
          <a:xfrm>
            <a:off x="1996751" y="186613"/>
            <a:ext cx="257524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000" dirty="0">
                <a:solidFill>
                  <a:srgbClr val="0070C0"/>
                </a:solidFill>
              </a:rPr>
              <a:t>4.40</a:t>
            </a:r>
            <a:endParaRPr lang="es-PE" sz="40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0013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A8962C34-5FFD-4DC4-B0EC-C70ED3F40D09}"/>
              </a:ext>
            </a:extLst>
          </p:cNvPr>
          <p:cNvSpPr/>
          <p:nvPr/>
        </p:nvSpPr>
        <p:spPr>
          <a:xfrm>
            <a:off x="6239522" y="1374490"/>
            <a:ext cx="5952478" cy="499874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s-PE" dirty="0">
                <a:solidFill>
                  <a:srgbClr val="FF0000"/>
                </a:solidFill>
              </a:rPr>
              <a:t>I   Identificación de las variables</a:t>
            </a:r>
          </a:p>
          <a:p>
            <a:pPr>
              <a:lnSpc>
                <a:spcPct val="200000"/>
              </a:lnSpc>
            </a:pPr>
            <a:r>
              <a:rPr lang="es-PE" dirty="0" err="1"/>
              <a:t>MH</a:t>
            </a:r>
            <a:r>
              <a:rPr lang="es-PE" dirty="0"/>
              <a:t> = Cantidad en libras de mineral de hierro por transportar.</a:t>
            </a:r>
          </a:p>
          <a:p>
            <a:pPr>
              <a:lnSpc>
                <a:spcPct val="200000"/>
              </a:lnSpc>
            </a:pPr>
            <a:r>
              <a:rPr lang="es-PE" dirty="0"/>
              <a:t>MC = Cantidad en libras de mineral de cobre por transportar.</a:t>
            </a:r>
          </a:p>
          <a:p>
            <a:pPr>
              <a:lnSpc>
                <a:spcPct val="200000"/>
              </a:lnSpc>
            </a:pPr>
            <a:r>
              <a:rPr lang="es-PE" dirty="0">
                <a:solidFill>
                  <a:srgbClr val="FF0000"/>
                </a:solidFill>
              </a:rPr>
              <a:t>II  Identificación de la Función Objetivo</a:t>
            </a:r>
          </a:p>
          <a:p>
            <a:pPr>
              <a:lnSpc>
                <a:spcPct val="200000"/>
              </a:lnSpc>
            </a:pPr>
            <a:r>
              <a:rPr lang="es-PE" dirty="0">
                <a:latin typeface="Arial Narrow" panose="020B0606020202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MAX  </a:t>
            </a:r>
            <a:r>
              <a:rPr lang="es-PE" dirty="0" err="1">
                <a:latin typeface="Arial Narrow" panose="020B0606020202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0,30MH</a:t>
            </a:r>
            <a:r>
              <a:rPr lang="es-PE" dirty="0">
                <a:latin typeface="Arial Narrow" panose="020B0606020202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+</a:t>
            </a:r>
            <a:r>
              <a:rPr lang="es-PE" dirty="0" err="1">
                <a:latin typeface="Arial Narrow" panose="020B0606020202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0,50MC</a:t>
            </a:r>
            <a:endParaRPr lang="es-PE" dirty="0">
              <a:latin typeface="Arial Narrow" panose="020B0606020202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s-ES" dirty="0">
                <a:solidFill>
                  <a:srgbClr val="FF0000"/>
                </a:solidFill>
              </a:rPr>
              <a:t>III Identificación de las restricciones</a:t>
            </a:r>
          </a:p>
          <a:p>
            <a:pPr>
              <a:lnSpc>
                <a:spcPct val="200000"/>
              </a:lnSpc>
            </a:pPr>
            <a:r>
              <a:rPr lang="es-ES" dirty="0"/>
              <a:t> 0,04 </a:t>
            </a:r>
            <a:r>
              <a:rPr lang="es-ES" dirty="0" err="1"/>
              <a:t>MH</a:t>
            </a:r>
            <a:r>
              <a:rPr lang="es-ES" dirty="0"/>
              <a:t> + 0,08 MC ≤ 1200 </a:t>
            </a:r>
          </a:p>
          <a:p>
            <a:pPr>
              <a:lnSpc>
                <a:spcPct val="200000"/>
              </a:lnSpc>
            </a:pPr>
            <a:r>
              <a:rPr lang="es-ES" dirty="0" err="1"/>
              <a:t>MH</a:t>
            </a:r>
            <a:r>
              <a:rPr lang="es-ES" dirty="0"/>
              <a:t> + MC ≤ 22 046 </a:t>
            </a:r>
          </a:p>
          <a:p>
            <a:pPr>
              <a:lnSpc>
                <a:spcPct val="200000"/>
              </a:lnSpc>
            </a:pPr>
            <a:r>
              <a:rPr lang="es-ES" dirty="0" err="1"/>
              <a:t>MH</a:t>
            </a:r>
            <a:r>
              <a:rPr lang="es-ES" dirty="0"/>
              <a:t>, MC ≥ 0</a:t>
            </a:r>
            <a:endParaRPr lang="es-PE" dirty="0">
              <a:effectLst/>
              <a:latin typeface="Arial Narrow" panose="020B0606020202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436C801-B9E5-4AB1-9126-06260CC54B71}"/>
              </a:ext>
            </a:extLst>
          </p:cNvPr>
          <p:cNvSpPr txBox="1"/>
          <p:nvPr/>
        </p:nvSpPr>
        <p:spPr>
          <a:xfrm>
            <a:off x="1996751" y="186613"/>
            <a:ext cx="257524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000" dirty="0">
                <a:solidFill>
                  <a:srgbClr val="0070C0"/>
                </a:solidFill>
              </a:rPr>
              <a:t>4.41</a:t>
            </a:r>
            <a:endParaRPr lang="es-PE" sz="4000" dirty="0">
              <a:solidFill>
                <a:srgbClr val="0070C0"/>
              </a:solidFill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05D1974D-69F0-4CE0-8ACB-28E7691C34D8}"/>
              </a:ext>
            </a:extLst>
          </p:cNvPr>
          <p:cNvSpPr txBox="1"/>
          <p:nvPr/>
        </p:nvSpPr>
        <p:spPr>
          <a:xfrm>
            <a:off x="133003" y="1180407"/>
            <a:ext cx="596299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>
                <a:latin typeface="Arial Narrow" panose="020B0606020202030204" pitchFamily="34" charset="0"/>
              </a:rPr>
              <a:t>Una empresa de transportes  traslada hierro y cobre en  camiones teniendo una utilidad por cada camión de 0,30 $/libra y 0,50 $/libra respectivamente. Los camiones tienen carrocerías de 1200 pies cúbicos por el tipo de tolva y además su capacidad  máxima de carga es  22046  libras.</a:t>
            </a:r>
            <a:endParaRPr lang="es-PE" sz="2400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160625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A8962C34-5FFD-4DC4-B0EC-C70ED3F40D09}"/>
              </a:ext>
            </a:extLst>
          </p:cNvPr>
          <p:cNvSpPr/>
          <p:nvPr/>
        </p:nvSpPr>
        <p:spPr>
          <a:xfrm>
            <a:off x="0" y="1241487"/>
            <a:ext cx="5952478" cy="2585323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s-PE" dirty="0"/>
              <a:t>I   	Identificación de las variables</a:t>
            </a:r>
          </a:p>
          <a:p>
            <a:r>
              <a:rPr lang="es-PE" dirty="0" err="1"/>
              <a:t>MH</a:t>
            </a:r>
            <a:r>
              <a:rPr lang="es-PE" dirty="0"/>
              <a:t> = Cantidad en libras de mineral de hierro por transportar.</a:t>
            </a:r>
          </a:p>
          <a:p>
            <a:r>
              <a:rPr lang="es-PE" dirty="0"/>
              <a:t>MC = Cantidad en libras de mineral de cobre por transportar.</a:t>
            </a:r>
          </a:p>
          <a:p>
            <a:r>
              <a:rPr lang="es-PE" dirty="0"/>
              <a:t>II  	Identificación de la Función Objetivo</a:t>
            </a:r>
          </a:p>
          <a:p>
            <a:r>
              <a:rPr lang="es-PE" dirty="0">
                <a:latin typeface="Arial Narrow" panose="020B0606020202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MAX  </a:t>
            </a:r>
            <a:r>
              <a:rPr lang="es-PE" dirty="0" err="1">
                <a:latin typeface="Arial Narrow" panose="020B0606020202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0,30MH</a:t>
            </a:r>
            <a:r>
              <a:rPr lang="es-PE" dirty="0">
                <a:latin typeface="Arial Narrow" panose="020B0606020202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+</a:t>
            </a:r>
            <a:r>
              <a:rPr lang="es-PE" dirty="0" err="1">
                <a:latin typeface="Arial Narrow" panose="020B0606020202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0,50MC</a:t>
            </a:r>
            <a:endParaRPr lang="es-PE" dirty="0">
              <a:latin typeface="Arial Narrow" panose="020B0606020202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s-ES" dirty="0"/>
              <a:t>III Identificación de las restricciones</a:t>
            </a:r>
          </a:p>
          <a:p>
            <a:r>
              <a:rPr lang="es-ES" dirty="0"/>
              <a:t> 0,04 </a:t>
            </a:r>
            <a:r>
              <a:rPr lang="es-ES" dirty="0" err="1"/>
              <a:t>MH</a:t>
            </a:r>
            <a:r>
              <a:rPr lang="es-ES" dirty="0"/>
              <a:t> + 0,08 MC ≤ 1200 </a:t>
            </a:r>
          </a:p>
          <a:p>
            <a:r>
              <a:rPr lang="es-ES" dirty="0" err="1"/>
              <a:t>MH</a:t>
            </a:r>
            <a:r>
              <a:rPr lang="es-ES" dirty="0"/>
              <a:t> + MC ≤ 22 046 </a:t>
            </a:r>
          </a:p>
          <a:p>
            <a:r>
              <a:rPr lang="es-ES" dirty="0" err="1"/>
              <a:t>MH</a:t>
            </a:r>
            <a:r>
              <a:rPr lang="es-ES" dirty="0"/>
              <a:t>, MC ≥ 0</a:t>
            </a:r>
            <a:endParaRPr lang="es-PE" dirty="0">
              <a:effectLst/>
              <a:latin typeface="Arial Narrow" panose="020B0606020202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5A65F38A-D1E2-4C27-9A41-11E4CD0E48A0}"/>
              </a:ext>
            </a:extLst>
          </p:cNvPr>
          <p:cNvSpPr/>
          <p:nvPr/>
        </p:nvSpPr>
        <p:spPr>
          <a:xfrm>
            <a:off x="6096000" y="747077"/>
            <a:ext cx="6096000" cy="624786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PE" b="1" dirty="0">
                <a:solidFill>
                  <a:schemeClr val="bg1"/>
                </a:solidFill>
                <a:latin typeface="Arial Narrow" panose="020B0606020202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SOLUCIÓN USANDO MÉTODO GRAFICO	</a:t>
            </a:r>
            <a:r>
              <a:rPr lang="es-PE" dirty="0">
                <a:latin typeface="Arial Narrow" panose="020B0606020202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		</a:t>
            </a:r>
            <a:endParaRPr lang="es-PE" sz="1600" dirty="0">
              <a:latin typeface="Arial Narrow" panose="020B0606020202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PE" dirty="0">
                <a:latin typeface="Arial Narrow" panose="020B0606020202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PASO 1: Graficando las restricciones	</a:t>
            </a:r>
            <a:endParaRPr lang="es-PE" sz="1600" dirty="0">
              <a:latin typeface="Arial Narrow" panose="020B0606020202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00050" indent="-400050">
              <a:lnSpc>
                <a:spcPct val="107000"/>
              </a:lnSpc>
              <a:spcAft>
                <a:spcPts val="800"/>
              </a:spcAft>
              <a:buAutoNum type="romanUcParenBoth"/>
            </a:pPr>
            <a:r>
              <a:rPr lang="es-ES" dirty="0">
                <a:latin typeface="Arial Narrow" panose="020B0606020202030204" pitchFamily="34" charset="0"/>
              </a:rPr>
              <a:t>0,04 </a:t>
            </a:r>
            <a:r>
              <a:rPr lang="es-ES" dirty="0" err="1">
                <a:latin typeface="Arial Narrow" panose="020B0606020202030204" pitchFamily="34" charset="0"/>
              </a:rPr>
              <a:t>MH</a:t>
            </a:r>
            <a:r>
              <a:rPr lang="es-ES" dirty="0">
                <a:latin typeface="Arial Narrow" panose="020B0606020202030204" pitchFamily="34" charset="0"/>
              </a:rPr>
              <a:t> + 0,08 MC = 1200 	    Si </a:t>
            </a:r>
            <a:r>
              <a:rPr lang="es-ES" dirty="0" err="1">
                <a:latin typeface="Arial Narrow" panose="020B0606020202030204" pitchFamily="34" charset="0"/>
              </a:rPr>
              <a:t>MH</a:t>
            </a:r>
            <a:r>
              <a:rPr lang="es-ES" dirty="0">
                <a:latin typeface="Arial Narrow" panose="020B0606020202030204" pitchFamily="34" charset="0"/>
              </a:rPr>
              <a:t> = 0 ⇒ MC = 15 000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ES" dirty="0">
                <a:latin typeface="Arial Narrow" panose="020B0606020202030204" pitchFamily="34" charset="0"/>
              </a:rPr>
              <a:t>			    Si MC = 0 ⇒ </a:t>
            </a:r>
            <a:r>
              <a:rPr lang="es-ES" dirty="0" err="1">
                <a:latin typeface="Arial Narrow" panose="020B0606020202030204" pitchFamily="34" charset="0"/>
              </a:rPr>
              <a:t>MH</a:t>
            </a:r>
            <a:r>
              <a:rPr lang="es-ES" dirty="0">
                <a:latin typeface="Arial Narrow" panose="020B0606020202030204" pitchFamily="34" charset="0"/>
              </a:rPr>
              <a:t> = 30 000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ES" dirty="0">
                <a:latin typeface="Arial Narrow" panose="020B0606020202030204" pitchFamily="34" charset="0"/>
              </a:rPr>
              <a:t>(II)           </a:t>
            </a:r>
            <a:r>
              <a:rPr lang="es-ES" dirty="0" err="1">
                <a:latin typeface="Arial Narrow" panose="020B0606020202030204" pitchFamily="34" charset="0"/>
              </a:rPr>
              <a:t>MH</a:t>
            </a:r>
            <a:r>
              <a:rPr lang="es-ES" dirty="0">
                <a:latin typeface="Arial Narrow" panose="020B0606020202030204" pitchFamily="34" charset="0"/>
              </a:rPr>
              <a:t> + MC = 22 046 	    Si </a:t>
            </a:r>
            <a:r>
              <a:rPr lang="es-ES" dirty="0" err="1">
                <a:latin typeface="Arial Narrow" panose="020B0606020202030204" pitchFamily="34" charset="0"/>
              </a:rPr>
              <a:t>MH</a:t>
            </a:r>
            <a:r>
              <a:rPr lang="es-ES" dirty="0">
                <a:latin typeface="Arial Narrow" panose="020B0606020202030204" pitchFamily="34" charset="0"/>
              </a:rPr>
              <a:t> = 0 ⇒ MC = 22 046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ES" dirty="0">
                <a:latin typeface="Arial Narrow" panose="020B0606020202030204" pitchFamily="34" charset="0"/>
              </a:rPr>
              <a:t>			    Si MC = 0 ⇒ </a:t>
            </a:r>
            <a:r>
              <a:rPr lang="es-ES" dirty="0" err="1">
                <a:latin typeface="Arial Narrow" panose="020B0606020202030204" pitchFamily="34" charset="0"/>
              </a:rPr>
              <a:t>MH</a:t>
            </a:r>
            <a:r>
              <a:rPr lang="es-ES" dirty="0">
                <a:latin typeface="Arial Narrow" panose="020B0606020202030204" pitchFamily="34" charset="0"/>
              </a:rPr>
              <a:t> = 22 046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ES" dirty="0">
                <a:latin typeface="Arial Narrow" panose="020B0606020202030204" pitchFamily="34" charset="0"/>
              </a:rPr>
              <a:t>Paso 3: Graficando la FO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ES" dirty="0">
                <a:latin typeface="Arial Narrow" panose="020B0606020202030204" pitchFamily="34" charset="0"/>
              </a:rPr>
              <a:t>     0,30 </a:t>
            </a:r>
            <a:r>
              <a:rPr lang="es-ES" dirty="0" err="1">
                <a:latin typeface="Arial Narrow" panose="020B0606020202030204" pitchFamily="34" charset="0"/>
              </a:rPr>
              <a:t>MH</a:t>
            </a:r>
            <a:r>
              <a:rPr lang="es-ES" dirty="0">
                <a:latin typeface="Arial Narrow" panose="020B0606020202030204" pitchFamily="34" charset="0"/>
              </a:rPr>
              <a:t> + 0,50 MC = </a:t>
            </a:r>
            <a:r>
              <a:rPr lang="es-ES" dirty="0">
                <a:solidFill>
                  <a:srgbClr val="FF0000"/>
                </a:solidFill>
                <a:latin typeface="Arial Narrow" panose="020B0606020202030204" pitchFamily="34" charset="0"/>
              </a:rPr>
              <a:t>8000</a:t>
            </a:r>
            <a:r>
              <a:rPr lang="es-ES" dirty="0">
                <a:latin typeface="Arial Narrow" panose="020B0606020202030204" pitchFamily="34" charset="0"/>
              </a:rPr>
              <a:t> 	    Si </a:t>
            </a:r>
            <a:r>
              <a:rPr lang="es-ES" dirty="0" err="1">
                <a:latin typeface="Arial Narrow" panose="020B0606020202030204" pitchFamily="34" charset="0"/>
              </a:rPr>
              <a:t>MH</a:t>
            </a:r>
            <a:r>
              <a:rPr lang="es-ES" dirty="0">
                <a:latin typeface="Arial Narrow" panose="020B0606020202030204" pitchFamily="34" charset="0"/>
              </a:rPr>
              <a:t> = 0 ⇒ MC = 16 000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ES" dirty="0">
                <a:latin typeface="Arial Narrow" panose="020B0606020202030204" pitchFamily="34" charset="0"/>
              </a:rPr>
              <a:t>			    Si MC = 0 ⇒ </a:t>
            </a:r>
            <a:r>
              <a:rPr lang="es-ES" dirty="0" err="1">
                <a:latin typeface="Arial Narrow" panose="020B0606020202030204" pitchFamily="34" charset="0"/>
              </a:rPr>
              <a:t>MH</a:t>
            </a:r>
            <a:r>
              <a:rPr lang="es-ES" dirty="0">
                <a:latin typeface="Arial Narrow" panose="020B0606020202030204" pitchFamily="34" charset="0"/>
              </a:rPr>
              <a:t> = 26 666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ES" dirty="0">
                <a:latin typeface="Arial Narrow" panose="020B0606020202030204" pitchFamily="34" charset="0"/>
              </a:rPr>
              <a:t>Paso 4: Hallando la solución óptima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ES" dirty="0">
                <a:latin typeface="Arial Narrow" panose="020B0606020202030204" pitchFamily="34" charset="0"/>
              </a:rPr>
              <a:t>La solución es la intersección de (I) y (II) </a:t>
            </a:r>
          </a:p>
          <a:p>
            <a:pPr marL="400050" indent="-400050">
              <a:lnSpc>
                <a:spcPct val="107000"/>
              </a:lnSpc>
              <a:spcAft>
                <a:spcPts val="800"/>
              </a:spcAft>
              <a:buAutoNum type="romanUcParenBoth"/>
            </a:pPr>
            <a:r>
              <a:rPr lang="es-ES" dirty="0">
                <a:latin typeface="Arial Narrow" panose="020B0606020202030204" pitchFamily="34" charset="0"/>
              </a:rPr>
              <a:t>0,04 </a:t>
            </a:r>
            <a:r>
              <a:rPr lang="es-ES" dirty="0" err="1">
                <a:latin typeface="Arial Narrow" panose="020B0606020202030204" pitchFamily="34" charset="0"/>
              </a:rPr>
              <a:t>MH</a:t>
            </a:r>
            <a:r>
              <a:rPr lang="es-ES" dirty="0">
                <a:latin typeface="Arial Narrow" panose="020B0606020202030204" pitchFamily="34" charset="0"/>
              </a:rPr>
              <a:t> + 0,08 MC = 1200 	→ 0,04 </a:t>
            </a:r>
            <a:r>
              <a:rPr lang="es-ES" dirty="0" err="1">
                <a:latin typeface="Arial Narrow" panose="020B0606020202030204" pitchFamily="34" charset="0"/>
              </a:rPr>
              <a:t>MH</a:t>
            </a:r>
            <a:r>
              <a:rPr lang="es-ES" dirty="0">
                <a:latin typeface="Arial Narrow" panose="020B0606020202030204" pitchFamily="34" charset="0"/>
              </a:rPr>
              <a:t> + 0,08 MC = 1200 </a:t>
            </a:r>
          </a:p>
          <a:p>
            <a:pPr marL="400050" indent="-400050">
              <a:lnSpc>
                <a:spcPct val="107000"/>
              </a:lnSpc>
              <a:spcAft>
                <a:spcPts val="800"/>
              </a:spcAft>
              <a:buAutoNum type="romanUcParenBoth"/>
            </a:pPr>
            <a:r>
              <a:rPr lang="es-ES" dirty="0">
                <a:latin typeface="Arial Narrow" panose="020B0606020202030204" pitchFamily="34" charset="0"/>
              </a:rPr>
              <a:t>(II) </a:t>
            </a:r>
            <a:r>
              <a:rPr lang="es-ES" dirty="0" err="1">
                <a:latin typeface="Arial Narrow" panose="020B0606020202030204" pitchFamily="34" charset="0"/>
              </a:rPr>
              <a:t>MH</a:t>
            </a:r>
            <a:r>
              <a:rPr lang="es-ES" dirty="0">
                <a:latin typeface="Arial Narrow" panose="020B0606020202030204" pitchFamily="34" charset="0"/>
              </a:rPr>
              <a:t> + MC = 22 046	→ 0,04 </a:t>
            </a:r>
            <a:r>
              <a:rPr lang="es-ES" dirty="0" err="1">
                <a:latin typeface="Arial Narrow" panose="020B0606020202030204" pitchFamily="34" charset="0"/>
              </a:rPr>
              <a:t>MH</a:t>
            </a:r>
            <a:r>
              <a:rPr lang="es-ES" dirty="0">
                <a:latin typeface="Arial Narrow" panose="020B0606020202030204" pitchFamily="34" charset="0"/>
              </a:rPr>
              <a:t> + 0,04 MC = -881,84 				      0,04 MC = 318,16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ES" dirty="0">
                <a:latin typeface="Arial Narrow" panose="020B0606020202030204" pitchFamily="34" charset="0"/>
              </a:rPr>
              <a:t>De donde la solución óptima es MC = 7954, </a:t>
            </a:r>
            <a:r>
              <a:rPr lang="es-ES" dirty="0" err="1">
                <a:latin typeface="Arial Narrow" panose="020B0606020202030204" pitchFamily="34" charset="0"/>
              </a:rPr>
              <a:t>MH</a:t>
            </a:r>
            <a:r>
              <a:rPr lang="es-ES" dirty="0">
                <a:latin typeface="Arial Narrow" panose="020B0606020202030204" pitchFamily="34" charset="0"/>
              </a:rPr>
              <a:t> = 14 092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ES" dirty="0">
                <a:latin typeface="Arial Narrow" panose="020B0606020202030204" pitchFamily="34" charset="0"/>
              </a:rPr>
              <a:t>El valor que toma la FO es Z = 8204,6. </a:t>
            </a:r>
            <a:endParaRPr lang="es-PE" sz="1600" dirty="0">
              <a:effectLst/>
              <a:latin typeface="Arial Narrow" panose="020B0606020202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436C801-B9E5-4AB1-9126-06260CC54B71}"/>
              </a:ext>
            </a:extLst>
          </p:cNvPr>
          <p:cNvSpPr txBox="1"/>
          <p:nvPr/>
        </p:nvSpPr>
        <p:spPr>
          <a:xfrm>
            <a:off x="1996751" y="186613"/>
            <a:ext cx="257524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000" dirty="0">
                <a:solidFill>
                  <a:srgbClr val="0070C0"/>
                </a:solidFill>
              </a:rPr>
              <a:t>4.41</a:t>
            </a:r>
            <a:endParaRPr lang="es-PE" sz="4000" dirty="0">
              <a:solidFill>
                <a:srgbClr val="0070C0"/>
              </a:solidFill>
            </a:endParaRPr>
          </a:p>
        </p:txBody>
      </p: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66251766-0854-4A52-9687-C211BC0B3459}"/>
              </a:ext>
            </a:extLst>
          </p:cNvPr>
          <p:cNvCxnSpPr/>
          <p:nvPr/>
        </p:nvCxnSpPr>
        <p:spPr>
          <a:xfrm>
            <a:off x="465826" y="6304179"/>
            <a:ext cx="5149970" cy="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CuadroTexto 29">
            <a:extLst>
              <a:ext uri="{FF2B5EF4-FFF2-40B4-BE49-F238E27FC236}">
                <a16:creationId xmlns:a16="http://schemas.microsoft.com/office/drawing/2014/main" id="{F2506EF1-0C74-468C-A24A-534C516C76AF}"/>
              </a:ext>
            </a:extLst>
          </p:cNvPr>
          <p:cNvSpPr txBox="1"/>
          <p:nvPr/>
        </p:nvSpPr>
        <p:spPr>
          <a:xfrm>
            <a:off x="5124091" y="6511677"/>
            <a:ext cx="6449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/>
              <a:t>MH</a:t>
            </a:r>
            <a:endParaRPr lang="es-PE" dirty="0"/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B5FF6C28-048F-4AB1-A67F-F275168C27BD}"/>
              </a:ext>
            </a:extLst>
          </p:cNvPr>
          <p:cNvSpPr txBox="1"/>
          <p:nvPr/>
        </p:nvSpPr>
        <p:spPr>
          <a:xfrm>
            <a:off x="329609" y="3762473"/>
            <a:ext cx="698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MC</a:t>
            </a:r>
            <a:endParaRPr lang="es-PE" dirty="0"/>
          </a:p>
        </p:txBody>
      </p:sp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7FAA7B9A-0E15-48F4-BBA3-C069A3744049}"/>
              </a:ext>
            </a:extLst>
          </p:cNvPr>
          <p:cNvCxnSpPr>
            <a:cxnSpLocks/>
          </p:cNvCxnSpPr>
          <p:nvPr/>
        </p:nvCxnSpPr>
        <p:spPr>
          <a:xfrm flipH="1">
            <a:off x="606056" y="5068459"/>
            <a:ext cx="109937" cy="23718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86C07914-C60C-4054-898F-BA66DCC0D91D}"/>
              </a:ext>
            </a:extLst>
          </p:cNvPr>
          <p:cNvCxnSpPr>
            <a:cxnSpLocks/>
          </p:cNvCxnSpPr>
          <p:nvPr/>
        </p:nvCxnSpPr>
        <p:spPr>
          <a:xfrm flipH="1">
            <a:off x="871870" y="4715350"/>
            <a:ext cx="144994" cy="164994"/>
          </a:xfrm>
          <a:prstGeom prst="straightConnector1">
            <a:avLst/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35">
            <a:extLst>
              <a:ext uri="{FF2B5EF4-FFF2-40B4-BE49-F238E27FC236}">
                <a16:creationId xmlns:a16="http://schemas.microsoft.com/office/drawing/2014/main" id="{7DBEAE1B-4AA1-446A-96E7-3029BF1B0DD3}"/>
              </a:ext>
            </a:extLst>
          </p:cNvPr>
          <p:cNvCxnSpPr>
            <a:cxnSpLocks/>
          </p:cNvCxnSpPr>
          <p:nvPr/>
        </p:nvCxnSpPr>
        <p:spPr>
          <a:xfrm>
            <a:off x="638521" y="5029199"/>
            <a:ext cx="2993366" cy="1475117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cto 36">
            <a:extLst>
              <a:ext uri="{FF2B5EF4-FFF2-40B4-BE49-F238E27FC236}">
                <a16:creationId xmlns:a16="http://schemas.microsoft.com/office/drawing/2014/main" id="{EF674FAD-C630-4CF1-BC92-D127B8E52AED}"/>
              </a:ext>
            </a:extLst>
          </p:cNvPr>
          <p:cNvCxnSpPr>
            <a:cxnSpLocks/>
          </p:cNvCxnSpPr>
          <p:nvPr/>
        </p:nvCxnSpPr>
        <p:spPr>
          <a:xfrm>
            <a:off x="888023" y="4563208"/>
            <a:ext cx="2022228" cy="2013440"/>
          </a:xfrm>
          <a:prstGeom prst="line">
            <a:avLst/>
          </a:prstGeom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Elipse 37">
            <a:extLst>
              <a:ext uri="{FF2B5EF4-FFF2-40B4-BE49-F238E27FC236}">
                <a16:creationId xmlns:a16="http://schemas.microsoft.com/office/drawing/2014/main" id="{BECC5C76-9EF8-450C-BABE-A9393468BC48}"/>
              </a:ext>
            </a:extLst>
          </p:cNvPr>
          <p:cNvSpPr/>
          <p:nvPr/>
        </p:nvSpPr>
        <p:spPr>
          <a:xfrm>
            <a:off x="2085975" y="5500589"/>
            <a:ext cx="57150" cy="5715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609D2B4B-95AC-4DE0-A944-562B756ECB1F}"/>
              </a:ext>
            </a:extLst>
          </p:cNvPr>
          <p:cNvSpPr txBox="1"/>
          <p:nvPr/>
        </p:nvSpPr>
        <p:spPr>
          <a:xfrm>
            <a:off x="297301" y="3965696"/>
            <a:ext cx="8044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30000</a:t>
            </a:r>
            <a:endParaRPr lang="es-PE" dirty="0"/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58E6BD28-9E5A-40FA-8E24-A49ABF8162E2}"/>
              </a:ext>
            </a:extLst>
          </p:cNvPr>
          <p:cNvSpPr txBox="1"/>
          <p:nvPr/>
        </p:nvSpPr>
        <p:spPr>
          <a:xfrm>
            <a:off x="2895599" y="6532769"/>
            <a:ext cx="8285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30000</a:t>
            </a:r>
            <a:endParaRPr lang="es-PE" dirty="0"/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4286EB1F-B49E-4413-8A0A-0D0B1728C83D}"/>
              </a:ext>
            </a:extLst>
          </p:cNvPr>
          <p:cNvSpPr txBox="1"/>
          <p:nvPr/>
        </p:nvSpPr>
        <p:spPr>
          <a:xfrm>
            <a:off x="2154148" y="6531056"/>
            <a:ext cx="7719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20000</a:t>
            </a:r>
            <a:endParaRPr lang="es-PE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06169989-EC2D-499F-9EDA-30737CBB6393}"/>
              </a:ext>
            </a:extLst>
          </p:cNvPr>
          <p:cNvSpPr txBox="1"/>
          <p:nvPr/>
        </p:nvSpPr>
        <p:spPr>
          <a:xfrm>
            <a:off x="1280161" y="6519070"/>
            <a:ext cx="8620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10000</a:t>
            </a:r>
            <a:endParaRPr lang="es-PE" dirty="0"/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6F60711B-B5CF-45C4-BB32-954B49D2554A}"/>
              </a:ext>
            </a:extLst>
          </p:cNvPr>
          <p:cNvSpPr txBox="1"/>
          <p:nvPr/>
        </p:nvSpPr>
        <p:spPr>
          <a:xfrm>
            <a:off x="274043" y="4721087"/>
            <a:ext cx="776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20000</a:t>
            </a:r>
            <a:endParaRPr lang="es-PE" dirty="0"/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0B421306-1982-461C-B0DA-E8246BD68031}"/>
              </a:ext>
            </a:extLst>
          </p:cNvPr>
          <p:cNvSpPr txBox="1"/>
          <p:nvPr/>
        </p:nvSpPr>
        <p:spPr>
          <a:xfrm>
            <a:off x="293298" y="5402654"/>
            <a:ext cx="7717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10000</a:t>
            </a:r>
            <a:endParaRPr lang="es-PE" dirty="0"/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E1A22715-EFFB-496B-BEE4-7D5A83CE9C0E}"/>
              </a:ext>
            </a:extLst>
          </p:cNvPr>
          <p:cNvSpPr txBox="1"/>
          <p:nvPr/>
        </p:nvSpPr>
        <p:spPr>
          <a:xfrm>
            <a:off x="3643900" y="6531057"/>
            <a:ext cx="8283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40000</a:t>
            </a:r>
            <a:endParaRPr lang="es-PE" dirty="0"/>
          </a:p>
        </p:txBody>
      </p:sp>
      <p:cxnSp>
        <p:nvCxnSpPr>
          <p:cNvPr id="48" name="Conector recto 47">
            <a:extLst>
              <a:ext uri="{FF2B5EF4-FFF2-40B4-BE49-F238E27FC236}">
                <a16:creationId xmlns:a16="http://schemas.microsoft.com/office/drawing/2014/main" id="{390BC4FC-17B2-4575-AAF0-5C85EDC2E54F}"/>
              </a:ext>
            </a:extLst>
          </p:cNvPr>
          <p:cNvCxnSpPr>
            <a:cxnSpLocks/>
          </p:cNvCxnSpPr>
          <p:nvPr/>
        </p:nvCxnSpPr>
        <p:spPr>
          <a:xfrm>
            <a:off x="925030" y="5050462"/>
            <a:ext cx="2126512" cy="1286539"/>
          </a:xfrm>
          <a:prstGeom prst="line">
            <a:avLst/>
          </a:prstGeom>
          <a:ln w="254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recto de flecha 48">
            <a:extLst>
              <a:ext uri="{FF2B5EF4-FFF2-40B4-BE49-F238E27FC236}">
                <a16:creationId xmlns:a16="http://schemas.microsoft.com/office/drawing/2014/main" id="{76932FF5-0058-478A-B9F9-ACECE6AF9E75}"/>
              </a:ext>
            </a:extLst>
          </p:cNvPr>
          <p:cNvCxnSpPr>
            <a:cxnSpLocks/>
          </p:cNvCxnSpPr>
          <p:nvPr/>
        </p:nvCxnSpPr>
        <p:spPr>
          <a:xfrm flipV="1">
            <a:off x="1051795" y="3807229"/>
            <a:ext cx="0" cy="3377308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0717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stomShape 2">
            <a:extLst>
              <a:ext uri="{FF2B5EF4-FFF2-40B4-BE49-F238E27FC236}">
                <a16:creationId xmlns:a16="http://schemas.microsoft.com/office/drawing/2014/main" id="{9916D2DA-1341-4677-BF70-F4515BBBC15F}"/>
              </a:ext>
            </a:extLst>
          </p:cNvPr>
          <p:cNvSpPr/>
          <p:nvPr/>
        </p:nvSpPr>
        <p:spPr>
          <a:xfrm>
            <a:off x="6098874" y="0"/>
            <a:ext cx="6093125" cy="1061049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/>
            <a:r>
              <a:rPr lang="es-PE" sz="3200" dirty="0">
                <a:solidFill>
                  <a:schemeClr val="bg1"/>
                </a:solidFill>
                <a:latin typeface="Bauhaus 93" pitchFamily="82" charset="0"/>
              </a:rPr>
              <a:t>Análisis de sensibilidad del lado derecho de la restricción I</a:t>
            </a:r>
          </a:p>
        </p:txBody>
      </p:sp>
      <p:graphicFrame>
        <p:nvGraphicFramePr>
          <p:cNvPr id="7" name="Tabla 7">
            <a:extLst>
              <a:ext uri="{FF2B5EF4-FFF2-40B4-BE49-F238E27FC236}">
                <a16:creationId xmlns:a16="http://schemas.microsoft.com/office/drawing/2014/main" id="{82D34760-F19D-4EE5-AC97-DE8304ED861C}"/>
              </a:ext>
            </a:extLst>
          </p:cNvPr>
          <p:cNvGraphicFramePr>
            <a:graphicFrameLocks noGrp="1"/>
          </p:cNvGraphicFramePr>
          <p:nvPr/>
        </p:nvGraphicFramePr>
        <p:xfrm>
          <a:off x="6096000" y="1375273"/>
          <a:ext cx="5918678" cy="22939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2086">
                  <a:extLst>
                    <a:ext uri="{9D8B030D-6E8A-4147-A177-3AD203B41FA5}">
                      <a16:colId xmlns:a16="http://schemas.microsoft.com/office/drawing/2014/main" val="3804144040"/>
                    </a:ext>
                  </a:extLst>
                </a:gridCol>
                <a:gridCol w="4416592">
                  <a:extLst>
                    <a:ext uri="{9D8B030D-6E8A-4147-A177-3AD203B41FA5}">
                      <a16:colId xmlns:a16="http://schemas.microsoft.com/office/drawing/2014/main" val="2858789546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800" dirty="0"/>
                        <a:t>Análisis de Sensibilidad del Lado Derecho de la I Restricción: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dirty="0"/>
                        <a:t>0,04 </a:t>
                      </a:r>
                      <a:r>
                        <a:rPr lang="es-ES" dirty="0" err="1"/>
                        <a:t>MH</a:t>
                      </a:r>
                      <a:r>
                        <a:rPr lang="es-ES" dirty="0"/>
                        <a:t> + 0,08 MC ≤ 1200 </a:t>
                      </a:r>
                      <a:endParaRPr lang="es-PE" dirty="0">
                        <a:latin typeface="Arial Narrow" panose="020B0606020202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s-P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6824585"/>
                  </a:ext>
                </a:extLst>
              </a:tr>
              <a:tr h="541346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s-PE" sz="1800" dirty="0"/>
                        <a:t>En (0,  22046)</a:t>
                      </a:r>
                      <a:endParaRPr lang="es-PE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V.L.D</a:t>
                      </a:r>
                      <a:r>
                        <a:rPr lang="es-PE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.= 0,04</a:t>
                      </a:r>
                      <a:r>
                        <a:rPr lang="es-E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(0)+0,08(22046)=</a:t>
                      </a:r>
                      <a:r>
                        <a:rPr lang="es-ES" sz="18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1763,68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971950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s-P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Z=0,30</a:t>
                      </a:r>
                      <a:r>
                        <a:rPr lang="es-PE" dirty="0">
                          <a:latin typeface="Arial Narrow" panose="020B0606020202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(0) + 0,50(22046)= 11023</a:t>
                      </a:r>
                      <a:endParaRPr lang="es-PE" dirty="0"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9105990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800" dirty="0"/>
                        <a:t>En </a:t>
                      </a:r>
                      <a:r>
                        <a:rPr lang="es-PE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(22046</a:t>
                      </a:r>
                      <a:r>
                        <a:rPr lang="es-PE" sz="1800" dirty="0"/>
                        <a:t>,  0</a:t>
                      </a:r>
                      <a:r>
                        <a:rPr lang="es-PE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s-PE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V.L.D</a:t>
                      </a:r>
                      <a:r>
                        <a:rPr lang="es-PE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.= 0,04</a:t>
                      </a:r>
                      <a:r>
                        <a:rPr lang="es-E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(22046)+0,08(0)=</a:t>
                      </a:r>
                      <a:r>
                        <a:rPr lang="es-ES" sz="18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881,84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552166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s-PE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Z=0,30</a:t>
                      </a:r>
                      <a:r>
                        <a:rPr lang="es-PE" dirty="0">
                          <a:latin typeface="Arial Narrow" panose="020B0606020202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(22046) + 0,50(0)= 6613,8</a:t>
                      </a:r>
                      <a:endParaRPr lang="es-PE" dirty="0"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9017813"/>
                  </a:ext>
                </a:extLst>
              </a:tr>
            </a:tbl>
          </a:graphicData>
        </a:graphic>
      </p:graphicFrame>
      <p:sp>
        <p:nvSpPr>
          <p:cNvPr id="2" name="CuadroTexto 1">
            <a:extLst>
              <a:ext uri="{FF2B5EF4-FFF2-40B4-BE49-F238E27FC236}">
                <a16:creationId xmlns:a16="http://schemas.microsoft.com/office/drawing/2014/main" id="{5625BEED-F3A3-4206-A490-5B91A6BB6DBD}"/>
              </a:ext>
            </a:extLst>
          </p:cNvPr>
          <p:cNvSpPr txBox="1"/>
          <p:nvPr/>
        </p:nvSpPr>
        <p:spPr>
          <a:xfrm>
            <a:off x="6292312" y="4742481"/>
            <a:ext cx="472698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El análisis de sensibilidad del lado derecho  se realiza con las restricciones que  intervienen en la solución optima. </a:t>
            </a:r>
            <a:endParaRPr lang="es-PE" dirty="0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6D15A279-ECBF-47F0-BC13-D217C5EA12F0}"/>
              </a:ext>
            </a:extLst>
          </p:cNvPr>
          <p:cNvSpPr txBox="1"/>
          <p:nvPr/>
        </p:nvSpPr>
        <p:spPr>
          <a:xfrm>
            <a:off x="1996751" y="186613"/>
            <a:ext cx="257524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000" dirty="0">
                <a:solidFill>
                  <a:srgbClr val="0070C0"/>
                </a:solidFill>
              </a:rPr>
              <a:t>4.40</a:t>
            </a:r>
            <a:endParaRPr lang="es-PE" sz="4000" dirty="0">
              <a:solidFill>
                <a:srgbClr val="0070C0"/>
              </a:solidFill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22ABB1EE-F450-42F0-AF65-3C69609C3BD8}"/>
              </a:ext>
            </a:extLst>
          </p:cNvPr>
          <p:cNvSpPr/>
          <p:nvPr/>
        </p:nvSpPr>
        <p:spPr>
          <a:xfrm>
            <a:off x="0" y="1241487"/>
            <a:ext cx="5952478" cy="2585323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s-PE" dirty="0"/>
              <a:t>I   	Identificación de las variables</a:t>
            </a:r>
          </a:p>
          <a:p>
            <a:r>
              <a:rPr lang="es-PE" dirty="0" err="1"/>
              <a:t>MH</a:t>
            </a:r>
            <a:r>
              <a:rPr lang="es-PE" dirty="0"/>
              <a:t> = Cantidad en libras de mineral de hierro por transportar.</a:t>
            </a:r>
          </a:p>
          <a:p>
            <a:r>
              <a:rPr lang="es-PE" dirty="0"/>
              <a:t>MC = Cantidad en libras de mineral de cobre por transportar.</a:t>
            </a:r>
          </a:p>
          <a:p>
            <a:r>
              <a:rPr lang="es-PE" dirty="0"/>
              <a:t>II  	Identificación de la Función Objetivo</a:t>
            </a:r>
          </a:p>
          <a:p>
            <a:r>
              <a:rPr lang="es-PE" dirty="0">
                <a:latin typeface="Arial Narrow" panose="020B0606020202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MAX  </a:t>
            </a:r>
            <a:r>
              <a:rPr lang="es-PE" dirty="0" err="1">
                <a:latin typeface="Arial Narrow" panose="020B0606020202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0,30MH</a:t>
            </a:r>
            <a:r>
              <a:rPr lang="es-PE" dirty="0">
                <a:latin typeface="Arial Narrow" panose="020B0606020202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+</a:t>
            </a:r>
            <a:r>
              <a:rPr lang="es-PE" dirty="0" err="1">
                <a:latin typeface="Arial Narrow" panose="020B0606020202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0,50MC</a:t>
            </a:r>
            <a:endParaRPr lang="es-PE" dirty="0">
              <a:latin typeface="Arial Narrow" panose="020B0606020202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s-ES" dirty="0"/>
              <a:t>III Identificación de las restricciones</a:t>
            </a:r>
          </a:p>
          <a:p>
            <a:r>
              <a:rPr lang="es-ES" dirty="0"/>
              <a:t> 0,04 </a:t>
            </a:r>
            <a:r>
              <a:rPr lang="es-ES" dirty="0" err="1"/>
              <a:t>MH</a:t>
            </a:r>
            <a:r>
              <a:rPr lang="es-ES" dirty="0"/>
              <a:t> + 0,08 MC ≤ 1200 </a:t>
            </a:r>
          </a:p>
          <a:p>
            <a:r>
              <a:rPr lang="es-ES" dirty="0" err="1"/>
              <a:t>MH</a:t>
            </a:r>
            <a:r>
              <a:rPr lang="es-ES" dirty="0"/>
              <a:t> + MC ≤ 22 046 </a:t>
            </a:r>
          </a:p>
          <a:p>
            <a:r>
              <a:rPr lang="es-ES" dirty="0" err="1"/>
              <a:t>MH</a:t>
            </a:r>
            <a:r>
              <a:rPr lang="es-ES" dirty="0"/>
              <a:t>, MC ≥ 0</a:t>
            </a:r>
            <a:endParaRPr lang="es-PE" dirty="0">
              <a:effectLst/>
              <a:latin typeface="Arial Narrow" panose="020B0606020202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BB2DCA51-189D-40FE-AC6E-2649FD733AC4}"/>
              </a:ext>
            </a:extLst>
          </p:cNvPr>
          <p:cNvCxnSpPr/>
          <p:nvPr/>
        </p:nvCxnSpPr>
        <p:spPr>
          <a:xfrm>
            <a:off x="465826" y="6304179"/>
            <a:ext cx="5149970" cy="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1719E56D-4836-4658-8B5F-C219B45A7A11}"/>
              </a:ext>
            </a:extLst>
          </p:cNvPr>
          <p:cNvSpPr txBox="1"/>
          <p:nvPr/>
        </p:nvSpPr>
        <p:spPr>
          <a:xfrm>
            <a:off x="5124091" y="6511677"/>
            <a:ext cx="6449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/>
              <a:t>MH</a:t>
            </a:r>
            <a:endParaRPr lang="es-PE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853B036B-6462-4205-AFA2-F56ABB21A3D0}"/>
              </a:ext>
            </a:extLst>
          </p:cNvPr>
          <p:cNvSpPr txBox="1"/>
          <p:nvPr/>
        </p:nvSpPr>
        <p:spPr>
          <a:xfrm>
            <a:off x="329609" y="3762473"/>
            <a:ext cx="698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MC</a:t>
            </a:r>
            <a:endParaRPr lang="es-PE" dirty="0"/>
          </a:p>
        </p:txBody>
      </p: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5AC0A448-8FBC-46A5-9019-B8117E48D976}"/>
              </a:ext>
            </a:extLst>
          </p:cNvPr>
          <p:cNvCxnSpPr>
            <a:cxnSpLocks/>
          </p:cNvCxnSpPr>
          <p:nvPr/>
        </p:nvCxnSpPr>
        <p:spPr>
          <a:xfrm flipH="1">
            <a:off x="595423" y="5068459"/>
            <a:ext cx="120570" cy="19465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76EFA183-BA64-44CE-9EAD-FDDC7B7D3481}"/>
              </a:ext>
            </a:extLst>
          </p:cNvPr>
          <p:cNvCxnSpPr>
            <a:cxnSpLocks/>
          </p:cNvCxnSpPr>
          <p:nvPr/>
        </p:nvCxnSpPr>
        <p:spPr>
          <a:xfrm flipH="1">
            <a:off x="905608" y="4715350"/>
            <a:ext cx="111255" cy="208343"/>
          </a:xfrm>
          <a:prstGeom prst="straightConnector1">
            <a:avLst/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30E56C08-8AC1-43F1-A9CD-ED806F5EC5DA}"/>
              </a:ext>
            </a:extLst>
          </p:cNvPr>
          <p:cNvCxnSpPr>
            <a:cxnSpLocks/>
          </p:cNvCxnSpPr>
          <p:nvPr/>
        </p:nvCxnSpPr>
        <p:spPr>
          <a:xfrm>
            <a:off x="638521" y="5029199"/>
            <a:ext cx="2993366" cy="1475117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9F5A3F1F-CC46-4330-BBC1-888868E77CED}"/>
              </a:ext>
            </a:extLst>
          </p:cNvPr>
          <p:cNvCxnSpPr>
            <a:cxnSpLocks/>
          </p:cNvCxnSpPr>
          <p:nvPr/>
        </p:nvCxnSpPr>
        <p:spPr>
          <a:xfrm>
            <a:off x="888023" y="4563208"/>
            <a:ext cx="2022228" cy="2013440"/>
          </a:xfrm>
          <a:prstGeom prst="line">
            <a:avLst/>
          </a:prstGeom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Elipse 15">
            <a:extLst>
              <a:ext uri="{FF2B5EF4-FFF2-40B4-BE49-F238E27FC236}">
                <a16:creationId xmlns:a16="http://schemas.microsoft.com/office/drawing/2014/main" id="{E66EEF8A-9DBE-4910-AD5D-C40746BB4164}"/>
              </a:ext>
            </a:extLst>
          </p:cNvPr>
          <p:cNvSpPr/>
          <p:nvPr/>
        </p:nvSpPr>
        <p:spPr>
          <a:xfrm>
            <a:off x="2085975" y="5500589"/>
            <a:ext cx="57150" cy="5715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E7FE32E1-34CC-4B72-88A6-32E2D9AE32AE}"/>
              </a:ext>
            </a:extLst>
          </p:cNvPr>
          <p:cNvSpPr txBox="1"/>
          <p:nvPr/>
        </p:nvSpPr>
        <p:spPr>
          <a:xfrm>
            <a:off x="297301" y="3965696"/>
            <a:ext cx="8044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30000</a:t>
            </a:r>
            <a:endParaRPr lang="es-PE" dirty="0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E33C075E-1DB6-4179-8222-4AD6C792CCEE}"/>
              </a:ext>
            </a:extLst>
          </p:cNvPr>
          <p:cNvSpPr txBox="1"/>
          <p:nvPr/>
        </p:nvSpPr>
        <p:spPr>
          <a:xfrm>
            <a:off x="2895599" y="6532769"/>
            <a:ext cx="8285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30000</a:t>
            </a:r>
            <a:endParaRPr lang="es-PE" dirty="0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DE9FF16A-6FF9-4E85-A5ED-39A9A1F62EC3}"/>
              </a:ext>
            </a:extLst>
          </p:cNvPr>
          <p:cNvSpPr txBox="1"/>
          <p:nvPr/>
        </p:nvSpPr>
        <p:spPr>
          <a:xfrm>
            <a:off x="2154148" y="6531056"/>
            <a:ext cx="7719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20000</a:t>
            </a:r>
            <a:endParaRPr lang="es-PE"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198FA657-9CD8-4277-9EFF-37B2F2A7509F}"/>
              </a:ext>
            </a:extLst>
          </p:cNvPr>
          <p:cNvSpPr txBox="1"/>
          <p:nvPr/>
        </p:nvSpPr>
        <p:spPr>
          <a:xfrm>
            <a:off x="1280161" y="6519070"/>
            <a:ext cx="8620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10000</a:t>
            </a:r>
            <a:endParaRPr lang="es-PE" dirty="0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BC254444-D9FE-4474-960A-7EBF826E8A59}"/>
              </a:ext>
            </a:extLst>
          </p:cNvPr>
          <p:cNvSpPr txBox="1"/>
          <p:nvPr/>
        </p:nvSpPr>
        <p:spPr>
          <a:xfrm>
            <a:off x="284667" y="4667923"/>
            <a:ext cx="776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20000</a:t>
            </a:r>
            <a:endParaRPr lang="es-PE" dirty="0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79D7A329-43F6-40A1-BEBF-418B3BE6197C}"/>
              </a:ext>
            </a:extLst>
          </p:cNvPr>
          <p:cNvSpPr txBox="1"/>
          <p:nvPr/>
        </p:nvSpPr>
        <p:spPr>
          <a:xfrm>
            <a:off x="293298" y="5402654"/>
            <a:ext cx="7717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10000</a:t>
            </a:r>
            <a:endParaRPr lang="es-PE" dirty="0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C2BE76A0-4EB9-4E17-9418-449C4467D618}"/>
              </a:ext>
            </a:extLst>
          </p:cNvPr>
          <p:cNvSpPr txBox="1"/>
          <p:nvPr/>
        </p:nvSpPr>
        <p:spPr>
          <a:xfrm>
            <a:off x="3643900" y="6531057"/>
            <a:ext cx="8283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40000</a:t>
            </a:r>
            <a:endParaRPr lang="es-PE" dirty="0"/>
          </a:p>
        </p:txBody>
      </p: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85FE2768-B8B6-439C-928F-DA44AFF5E9DF}"/>
              </a:ext>
            </a:extLst>
          </p:cNvPr>
          <p:cNvCxnSpPr>
            <a:cxnSpLocks/>
          </p:cNvCxnSpPr>
          <p:nvPr/>
        </p:nvCxnSpPr>
        <p:spPr>
          <a:xfrm>
            <a:off x="925030" y="5050462"/>
            <a:ext cx="2126512" cy="1286539"/>
          </a:xfrm>
          <a:prstGeom prst="line">
            <a:avLst/>
          </a:prstGeom>
          <a:ln w="254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ACABFC4C-D161-4886-BC23-DBF927E045B3}"/>
              </a:ext>
            </a:extLst>
          </p:cNvPr>
          <p:cNvCxnSpPr>
            <a:cxnSpLocks/>
          </p:cNvCxnSpPr>
          <p:nvPr/>
        </p:nvCxnSpPr>
        <p:spPr>
          <a:xfrm flipV="1">
            <a:off x="1051795" y="3807229"/>
            <a:ext cx="0" cy="3377308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7305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3 Tabla"/>
          <p:cNvGraphicFramePr>
            <a:graphicFrameLocks noGrp="1"/>
          </p:cNvGraphicFramePr>
          <p:nvPr/>
        </p:nvGraphicFramePr>
        <p:xfrm>
          <a:off x="1772520" y="1349396"/>
          <a:ext cx="8784976" cy="157853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484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154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10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656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PE" sz="2400" b="1" dirty="0">
                          <a:solidFill>
                            <a:srgbClr val="FF0000"/>
                          </a:solidFill>
                          <a:effectLst/>
                          <a:latin typeface="Arial Narrow" pitchFamily="34" charset="0"/>
                        </a:rPr>
                        <a:t>Valor lado derecho</a:t>
                      </a:r>
                      <a:endParaRPr lang="es-PE" sz="2400" b="1" dirty="0">
                        <a:solidFill>
                          <a:srgbClr val="FF0000"/>
                        </a:solidFill>
                        <a:effectLst/>
                        <a:latin typeface="Arial Narrow" pitchFamily="34" charset="0"/>
                        <a:ea typeface="Calibri"/>
                      </a:endParaRPr>
                    </a:p>
                  </a:txBody>
                  <a:tcPr marL="44450" marR="44450" marT="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PE" sz="2400" b="1" dirty="0">
                          <a:solidFill>
                            <a:srgbClr val="FF0000"/>
                          </a:solidFill>
                          <a:effectLst/>
                          <a:latin typeface="Arial Narrow" pitchFamily="34" charset="0"/>
                        </a:rPr>
                        <a:t>Solución óptima</a:t>
                      </a:r>
                      <a:endParaRPr lang="es-PE" sz="2400" b="1" dirty="0">
                        <a:solidFill>
                          <a:srgbClr val="FF0000"/>
                        </a:solidFill>
                        <a:effectLst/>
                        <a:latin typeface="Arial Narrow" pitchFamily="34" charset="0"/>
                        <a:ea typeface="Calibri"/>
                      </a:endParaRPr>
                    </a:p>
                  </a:txBody>
                  <a:tcPr marL="44450" marR="44450" marT="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PE" sz="2400" b="1" dirty="0">
                          <a:solidFill>
                            <a:srgbClr val="FF0000"/>
                          </a:solidFill>
                          <a:effectLst/>
                          <a:latin typeface="Arial Narrow" pitchFamily="34" charset="0"/>
                        </a:rPr>
                        <a:t>Valor función objetivo</a:t>
                      </a:r>
                      <a:endParaRPr lang="es-PE" sz="2400" b="1" dirty="0">
                        <a:solidFill>
                          <a:srgbClr val="FF0000"/>
                        </a:solidFill>
                        <a:effectLst/>
                        <a:latin typeface="Arial Narrow" pitchFamily="34" charset="0"/>
                        <a:ea typeface="Calibri"/>
                      </a:endParaRPr>
                    </a:p>
                  </a:txBody>
                  <a:tcPr marL="44450" marR="44450" marT="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0557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1763,68</a:t>
                      </a:r>
                    </a:p>
                  </a:txBody>
                  <a:tcPr marL="9525" marR="9525" marT="9525" marB="9525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PE" sz="24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MH</a:t>
                      </a:r>
                      <a:r>
                        <a:rPr lang="es-PE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 0; CH = 22046</a:t>
                      </a:r>
                    </a:p>
                  </a:txBody>
                  <a:tcPr marL="9525" marR="9525" marT="9525" marB="9525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11023</a:t>
                      </a:r>
                      <a:endParaRPr lang="es-PE" sz="2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9525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0557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881,84</a:t>
                      </a:r>
                      <a:endParaRPr lang="es-PE" sz="2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9525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PE" sz="24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MH</a:t>
                      </a:r>
                      <a:r>
                        <a:rPr lang="es-PE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 22046; CH = 0</a:t>
                      </a:r>
                    </a:p>
                  </a:txBody>
                  <a:tcPr marL="9525" marR="9525" marT="9525" marB="9525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6613,8</a:t>
                      </a:r>
                      <a:endParaRPr lang="es-PE" sz="2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9525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4 Rectángulo"/>
          <p:cNvSpPr/>
          <p:nvPr/>
        </p:nvSpPr>
        <p:spPr>
          <a:xfrm>
            <a:off x="1991544" y="5114802"/>
            <a:ext cx="444025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PE" sz="2000" dirty="0"/>
              <a:t>El precio sombra de la restricción I será:</a:t>
            </a:r>
          </a:p>
        </p:txBody>
      </p:sp>
      <p:sp>
        <p:nvSpPr>
          <p:cNvPr id="12" name="11 CuadroTexto"/>
          <p:cNvSpPr txBox="1"/>
          <p:nvPr/>
        </p:nvSpPr>
        <p:spPr>
          <a:xfrm>
            <a:off x="10056438" y="6100208"/>
            <a:ext cx="21355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1000  Lado Derecho</a:t>
            </a:r>
            <a:endParaRPr lang="es-PE" dirty="0"/>
          </a:p>
        </p:txBody>
      </p:sp>
      <p:sp>
        <p:nvSpPr>
          <p:cNvPr id="13" name="12 CuadroTexto"/>
          <p:cNvSpPr txBox="1"/>
          <p:nvPr/>
        </p:nvSpPr>
        <p:spPr>
          <a:xfrm>
            <a:off x="6698751" y="4380435"/>
            <a:ext cx="8013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Y=</a:t>
            </a:r>
            <a:r>
              <a:rPr lang="es-ES" dirty="0" err="1"/>
              <a:t>F.O</a:t>
            </a:r>
            <a:r>
              <a:rPr lang="es-ES" dirty="0"/>
              <a:t>.</a:t>
            </a:r>
            <a:endParaRPr lang="es-PE" dirty="0"/>
          </a:p>
        </p:txBody>
      </p:sp>
      <p:sp>
        <p:nvSpPr>
          <p:cNvPr id="15" name="14 Elipse"/>
          <p:cNvSpPr/>
          <p:nvPr/>
        </p:nvSpPr>
        <p:spPr>
          <a:xfrm>
            <a:off x="8332342" y="5490028"/>
            <a:ext cx="79420" cy="8906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9" name="18 Triángulo rectángulo"/>
          <p:cNvSpPr/>
          <p:nvPr/>
        </p:nvSpPr>
        <p:spPr>
          <a:xfrm flipH="1">
            <a:off x="7686136" y="5003321"/>
            <a:ext cx="2734568" cy="72461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3" name="2 Conector recto"/>
          <p:cNvCxnSpPr>
            <a:cxnSpLocks/>
            <a:stCxn id="15" idx="4"/>
          </p:cNvCxnSpPr>
          <p:nvPr/>
        </p:nvCxnSpPr>
        <p:spPr>
          <a:xfrm>
            <a:off x="8372052" y="5579094"/>
            <a:ext cx="0" cy="544304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7 Conector recto"/>
          <p:cNvCxnSpPr>
            <a:cxnSpLocks/>
            <a:endCxn id="15" idx="2"/>
          </p:cNvCxnSpPr>
          <p:nvPr/>
        </p:nvCxnSpPr>
        <p:spPr>
          <a:xfrm>
            <a:off x="7530957" y="5534561"/>
            <a:ext cx="801385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17 Conector recto"/>
          <p:cNvCxnSpPr>
            <a:cxnSpLocks/>
          </p:cNvCxnSpPr>
          <p:nvPr/>
        </p:nvCxnSpPr>
        <p:spPr>
          <a:xfrm>
            <a:off x="10425897" y="4999941"/>
            <a:ext cx="0" cy="1102908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19 Conector recto"/>
          <p:cNvCxnSpPr>
            <a:cxnSpLocks/>
          </p:cNvCxnSpPr>
          <p:nvPr/>
        </p:nvCxnSpPr>
        <p:spPr>
          <a:xfrm>
            <a:off x="8986683" y="5376744"/>
            <a:ext cx="0" cy="826205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21 Conector recto"/>
          <p:cNvCxnSpPr>
            <a:cxnSpLocks/>
          </p:cNvCxnSpPr>
          <p:nvPr/>
        </p:nvCxnSpPr>
        <p:spPr>
          <a:xfrm>
            <a:off x="7520683" y="5022994"/>
            <a:ext cx="2835705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22 Conector recto"/>
          <p:cNvCxnSpPr>
            <a:cxnSpLocks/>
          </p:cNvCxnSpPr>
          <p:nvPr/>
        </p:nvCxnSpPr>
        <p:spPr>
          <a:xfrm flipV="1">
            <a:off x="7536160" y="5359802"/>
            <a:ext cx="1440160" cy="2255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1 CuadroTexto"/>
          <p:cNvSpPr txBox="1"/>
          <p:nvPr/>
        </p:nvSpPr>
        <p:spPr>
          <a:xfrm>
            <a:off x="10405671" y="5051087"/>
            <a:ext cx="7963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000" dirty="0"/>
              <a:t>∆y</a:t>
            </a:r>
          </a:p>
        </p:txBody>
      </p:sp>
      <p:sp>
        <p:nvSpPr>
          <p:cNvPr id="24" name="23 CuadroTexto"/>
          <p:cNvSpPr txBox="1"/>
          <p:nvPr/>
        </p:nvSpPr>
        <p:spPr>
          <a:xfrm>
            <a:off x="8965423" y="5774451"/>
            <a:ext cx="7963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2000" dirty="0"/>
              <a:t>∆x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5 CuadroTexto"/>
              <p:cNvSpPr txBox="1"/>
              <p:nvPr/>
            </p:nvSpPr>
            <p:spPr>
              <a:xfrm>
                <a:off x="1991544" y="4365105"/>
                <a:ext cx="2664296" cy="5370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2000" dirty="0"/>
                  <a:t>Pendiente=m=</a:t>
                </a:r>
                <a:r>
                  <a:rPr lang="es-ES" sz="2000" dirty="0" err="1"/>
                  <a:t>tg</a:t>
                </a:r>
                <a:r>
                  <a:rPr lang="es-ES" sz="2000" dirty="0"/>
                  <a:t>(</a:t>
                </a:r>
                <a:r>
                  <a:rPr lang="el-GR" sz="2000" dirty="0"/>
                  <a:t>α</a:t>
                </a:r>
                <a:r>
                  <a:rPr lang="es-ES" sz="2000" dirty="0"/>
                  <a:t>)=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E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2000" i="1">
                            <a:latin typeface="Cambria Math"/>
                          </a:rPr>
                          <m:t>∆</m:t>
                        </m:r>
                        <m:r>
                          <a:rPr lang="es-ES" sz="2000" i="1">
                            <a:latin typeface="Cambria Math"/>
                          </a:rPr>
                          <m:t>𝑦</m:t>
                        </m:r>
                      </m:num>
                      <m:den>
                        <m:r>
                          <a:rPr lang="es-ES" sz="2000" i="1">
                            <a:latin typeface="Cambria Math"/>
                          </a:rPr>
                          <m:t>∆</m:t>
                        </m:r>
                        <m:r>
                          <a:rPr lang="es-ES" sz="2000" i="1">
                            <a:latin typeface="Cambria Math"/>
                          </a:rPr>
                          <m:t>𝑥</m:t>
                        </m:r>
                      </m:den>
                    </m:f>
                  </m:oMath>
                </a14:m>
                <a:endParaRPr lang="es-PE" sz="2000" dirty="0"/>
              </a:p>
            </p:txBody>
          </p:sp>
        </mc:Choice>
        <mc:Fallback xmlns="">
          <p:sp>
            <p:nvSpPr>
              <p:cNvPr id="6" name="5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1544" y="4365105"/>
                <a:ext cx="2664296" cy="537070"/>
              </a:xfrm>
              <a:prstGeom prst="rect">
                <a:avLst/>
              </a:prstGeom>
              <a:blipFill>
                <a:blip r:embed="rId3"/>
                <a:stretch>
                  <a:fillRect l="-2517" b="-7955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9 CuadroTexto"/>
          <p:cNvSpPr txBox="1"/>
          <p:nvPr/>
        </p:nvSpPr>
        <p:spPr>
          <a:xfrm>
            <a:off x="1991544" y="3933056"/>
            <a:ext cx="43204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rgbClr val="FF0000"/>
                </a:solidFill>
              </a:rPr>
              <a:t>Precio Sombra=Precio dual=pendiente</a:t>
            </a:r>
            <a:endParaRPr lang="es-PE" sz="2000" b="1" dirty="0">
              <a:solidFill>
                <a:srgbClr val="FF0000"/>
              </a:solidFill>
            </a:endParaRPr>
          </a:p>
        </p:txBody>
      </p:sp>
      <p:sp>
        <p:nvSpPr>
          <p:cNvPr id="25" name="CustomShape 2">
            <a:extLst>
              <a:ext uri="{FF2B5EF4-FFF2-40B4-BE49-F238E27FC236}">
                <a16:creationId xmlns:a16="http://schemas.microsoft.com/office/drawing/2014/main" id="{FD6571E3-8CA2-4904-AA1D-E46AC5BC8E79}"/>
              </a:ext>
            </a:extLst>
          </p:cNvPr>
          <p:cNvSpPr/>
          <p:nvPr/>
        </p:nvSpPr>
        <p:spPr>
          <a:xfrm>
            <a:off x="6098874" y="0"/>
            <a:ext cx="6093125" cy="1061049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/>
            <a:r>
              <a:rPr lang="es-PE" sz="3200" dirty="0">
                <a:solidFill>
                  <a:schemeClr val="bg1"/>
                </a:solidFill>
                <a:latin typeface="Bauhaus 93" pitchFamily="82" charset="0"/>
              </a:rPr>
              <a:t>Análisis de sensibilidad del lado derecho de la restricción IV</a:t>
            </a:r>
          </a:p>
        </p:txBody>
      </p:sp>
      <p:sp>
        <p:nvSpPr>
          <p:cNvPr id="32" name="14 Elipse">
            <a:extLst>
              <a:ext uri="{FF2B5EF4-FFF2-40B4-BE49-F238E27FC236}">
                <a16:creationId xmlns:a16="http://schemas.microsoft.com/office/drawing/2014/main" id="{879646D5-AB4F-4134-AE96-D4C57F793393}"/>
              </a:ext>
            </a:extLst>
          </p:cNvPr>
          <p:cNvSpPr/>
          <p:nvPr/>
        </p:nvSpPr>
        <p:spPr>
          <a:xfrm>
            <a:off x="8947079" y="5323930"/>
            <a:ext cx="79420" cy="8906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3" name="14 Elipse">
            <a:extLst>
              <a:ext uri="{FF2B5EF4-FFF2-40B4-BE49-F238E27FC236}">
                <a16:creationId xmlns:a16="http://schemas.microsoft.com/office/drawing/2014/main" id="{B6C01DA2-6AFF-44A3-8B3C-F25D1D931B4A}"/>
              </a:ext>
            </a:extLst>
          </p:cNvPr>
          <p:cNvSpPr/>
          <p:nvPr/>
        </p:nvSpPr>
        <p:spPr>
          <a:xfrm>
            <a:off x="10352926" y="4962621"/>
            <a:ext cx="79420" cy="8906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40" name="Conector recto de flecha 39">
            <a:extLst>
              <a:ext uri="{FF2B5EF4-FFF2-40B4-BE49-F238E27FC236}">
                <a16:creationId xmlns:a16="http://schemas.microsoft.com/office/drawing/2014/main" id="{4B5FDE8E-B146-4F44-A5E0-D1D124E26E5E}"/>
              </a:ext>
            </a:extLst>
          </p:cNvPr>
          <p:cNvCxnSpPr/>
          <p:nvPr/>
        </p:nvCxnSpPr>
        <p:spPr>
          <a:xfrm flipV="1">
            <a:off x="7674796" y="4202130"/>
            <a:ext cx="0" cy="208565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recto de flecha 41">
            <a:extLst>
              <a:ext uri="{FF2B5EF4-FFF2-40B4-BE49-F238E27FC236}">
                <a16:creationId xmlns:a16="http://schemas.microsoft.com/office/drawing/2014/main" id="{4952CDF9-ACBB-4A1B-9D79-042E0B31EC98}"/>
              </a:ext>
            </a:extLst>
          </p:cNvPr>
          <p:cNvCxnSpPr/>
          <p:nvPr/>
        </p:nvCxnSpPr>
        <p:spPr>
          <a:xfrm>
            <a:off x="7315200" y="6143944"/>
            <a:ext cx="4623371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10 Conector recto"/>
          <p:cNvCxnSpPr>
            <a:cxnSpLocks/>
          </p:cNvCxnSpPr>
          <p:nvPr/>
        </p:nvCxnSpPr>
        <p:spPr>
          <a:xfrm flipV="1">
            <a:off x="7320136" y="4634144"/>
            <a:ext cx="4584819" cy="118180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Objeto 6">
            <a:extLst>
              <a:ext uri="{FF2B5EF4-FFF2-40B4-BE49-F238E27FC236}">
                <a16:creationId xmlns:a16="http://schemas.microsoft.com/office/drawing/2014/main" id="{F251766D-AAE3-4704-BE6E-17579C58080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17750" y="5664200"/>
          <a:ext cx="3401484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930320" imgH="419040" progId="">
                  <p:embed/>
                </p:oleObj>
              </mc:Choice>
              <mc:Fallback>
                <p:oleObj r:id="rId4" imgW="1930320" imgH="419040" progId="">
                  <p:embed/>
                  <p:pic>
                    <p:nvPicPr>
                      <p:cNvPr id="7" name="Objeto 6">
                        <a:extLst>
                          <a:ext uri="{FF2B5EF4-FFF2-40B4-BE49-F238E27FC236}">
                            <a16:creationId xmlns:a16="http://schemas.microsoft.com/office/drawing/2014/main" id="{F251766D-AAE3-4704-BE6E-17579C58080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317750" y="5664200"/>
                        <a:ext cx="3401484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CuadroTexto 26">
            <a:extLst>
              <a:ext uri="{FF2B5EF4-FFF2-40B4-BE49-F238E27FC236}">
                <a16:creationId xmlns:a16="http://schemas.microsoft.com/office/drawing/2014/main" id="{F2BBA8EE-B088-4438-BC92-3498CC175F36}"/>
              </a:ext>
            </a:extLst>
          </p:cNvPr>
          <p:cNvSpPr txBox="1"/>
          <p:nvPr/>
        </p:nvSpPr>
        <p:spPr>
          <a:xfrm>
            <a:off x="1996751" y="186613"/>
            <a:ext cx="257524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000" dirty="0">
                <a:solidFill>
                  <a:srgbClr val="0070C0"/>
                </a:solidFill>
              </a:rPr>
              <a:t>4.40</a:t>
            </a:r>
            <a:endParaRPr lang="es-PE" sz="40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647000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stomShape 2">
            <a:extLst>
              <a:ext uri="{FF2B5EF4-FFF2-40B4-BE49-F238E27FC236}">
                <a16:creationId xmlns:a16="http://schemas.microsoft.com/office/drawing/2014/main" id="{9916D2DA-1341-4677-BF70-F4515BBBC15F}"/>
              </a:ext>
            </a:extLst>
          </p:cNvPr>
          <p:cNvSpPr/>
          <p:nvPr/>
        </p:nvSpPr>
        <p:spPr>
          <a:xfrm>
            <a:off x="6098874" y="0"/>
            <a:ext cx="6093125" cy="1061049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/>
            <a:r>
              <a:rPr lang="es-PE" sz="3200" dirty="0">
                <a:solidFill>
                  <a:schemeClr val="bg1"/>
                </a:solidFill>
                <a:latin typeface="Bauhaus 93" pitchFamily="82" charset="0"/>
              </a:rPr>
              <a:t>Análisis de sensibilidad del lado derecho de la restricción II</a:t>
            </a:r>
          </a:p>
        </p:txBody>
      </p:sp>
      <p:graphicFrame>
        <p:nvGraphicFramePr>
          <p:cNvPr id="7" name="Tabla 7">
            <a:extLst>
              <a:ext uri="{FF2B5EF4-FFF2-40B4-BE49-F238E27FC236}">
                <a16:creationId xmlns:a16="http://schemas.microsoft.com/office/drawing/2014/main" id="{82D34760-F19D-4EE5-AC97-DE8304ED861C}"/>
              </a:ext>
            </a:extLst>
          </p:cNvPr>
          <p:cNvGraphicFramePr>
            <a:graphicFrameLocks noGrp="1"/>
          </p:cNvGraphicFramePr>
          <p:nvPr/>
        </p:nvGraphicFramePr>
        <p:xfrm>
          <a:off x="6096000" y="1375273"/>
          <a:ext cx="5918678" cy="22939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2086">
                  <a:extLst>
                    <a:ext uri="{9D8B030D-6E8A-4147-A177-3AD203B41FA5}">
                      <a16:colId xmlns:a16="http://schemas.microsoft.com/office/drawing/2014/main" val="3804144040"/>
                    </a:ext>
                  </a:extLst>
                </a:gridCol>
                <a:gridCol w="4416592">
                  <a:extLst>
                    <a:ext uri="{9D8B030D-6E8A-4147-A177-3AD203B41FA5}">
                      <a16:colId xmlns:a16="http://schemas.microsoft.com/office/drawing/2014/main" val="2858789546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800" dirty="0"/>
                        <a:t>Análisis de Sensibilidad del Lado Derecho de la I Restricción: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dirty="0" err="1"/>
                        <a:t>MH</a:t>
                      </a:r>
                      <a:r>
                        <a:rPr lang="es-ES" dirty="0"/>
                        <a:t> + MC ≤ 22 046 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s-P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6824585"/>
                  </a:ext>
                </a:extLst>
              </a:tr>
              <a:tr h="541346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s-PE" sz="1800" dirty="0"/>
                        <a:t>En (0,  15000)</a:t>
                      </a:r>
                      <a:endParaRPr lang="es-PE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V.L.D</a:t>
                      </a:r>
                      <a:r>
                        <a:rPr lang="es-PE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.= </a:t>
                      </a:r>
                      <a:r>
                        <a:rPr lang="es-E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0+15000=</a:t>
                      </a:r>
                      <a:r>
                        <a:rPr lang="es-ES" sz="18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15000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971950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s-P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Z=0,30</a:t>
                      </a:r>
                      <a:r>
                        <a:rPr lang="es-PE" dirty="0">
                          <a:latin typeface="Arial Narrow" panose="020B0606020202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(0) + 0,50(15000)= 7500</a:t>
                      </a:r>
                      <a:endParaRPr lang="es-PE" dirty="0"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9105990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800" dirty="0"/>
                        <a:t>En </a:t>
                      </a:r>
                      <a:r>
                        <a:rPr lang="es-PE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(30000</a:t>
                      </a:r>
                      <a:r>
                        <a:rPr lang="es-PE" sz="1800" dirty="0"/>
                        <a:t>,  0</a:t>
                      </a:r>
                      <a:r>
                        <a:rPr lang="es-PE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s-PE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V.L.D</a:t>
                      </a:r>
                      <a:r>
                        <a:rPr lang="es-PE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.= </a:t>
                      </a:r>
                      <a:r>
                        <a:rPr lang="es-E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30000+0=</a:t>
                      </a:r>
                      <a:r>
                        <a:rPr lang="es-ES" sz="18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30000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552166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s-PE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Z=0,30</a:t>
                      </a:r>
                      <a:r>
                        <a:rPr lang="es-PE" dirty="0">
                          <a:latin typeface="Arial Narrow" panose="020B0606020202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(30000) + 0,50(0)= 9000</a:t>
                      </a:r>
                      <a:endParaRPr lang="es-PE" dirty="0"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9017813"/>
                  </a:ext>
                </a:extLst>
              </a:tr>
            </a:tbl>
          </a:graphicData>
        </a:graphic>
      </p:graphicFrame>
      <p:sp>
        <p:nvSpPr>
          <p:cNvPr id="2" name="CuadroTexto 1">
            <a:extLst>
              <a:ext uri="{FF2B5EF4-FFF2-40B4-BE49-F238E27FC236}">
                <a16:creationId xmlns:a16="http://schemas.microsoft.com/office/drawing/2014/main" id="{5625BEED-F3A3-4206-A490-5B91A6BB6DBD}"/>
              </a:ext>
            </a:extLst>
          </p:cNvPr>
          <p:cNvSpPr txBox="1"/>
          <p:nvPr/>
        </p:nvSpPr>
        <p:spPr>
          <a:xfrm>
            <a:off x="6292312" y="4742481"/>
            <a:ext cx="472698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El análisis de sensibilidad del lado derecho  se realiza con las restricciones que  intervienen en la solución optima. </a:t>
            </a:r>
            <a:endParaRPr lang="es-PE" dirty="0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6D15A279-ECBF-47F0-BC13-D217C5EA12F0}"/>
              </a:ext>
            </a:extLst>
          </p:cNvPr>
          <p:cNvSpPr txBox="1"/>
          <p:nvPr/>
        </p:nvSpPr>
        <p:spPr>
          <a:xfrm>
            <a:off x="1996751" y="186613"/>
            <a:ext cx="257524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000" dirty="0">
                <a:solidFill>
                  <a:srgbClr val="0070C0"/>
                </a:solidFill>
              </a:rPr>
              <a:t>4.40</a:t>
            </a:r>
            <a:endParaRPr lang="es-PE" sz="4000" dirty="0">
              <a:solidFill>
                <a:srgbClr val="0070C0"/>
              </a:solidFill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22ABB1EE-F450-42F0-AF65-3C69609C3BD8}"/>
              </a:ext>
            </a:extLst>
          </p:cNvPr>
          <p:cNvSpPr/>
          <p:nvPr/>
        </p:nvSpPr>
        <p:spPr>
          <a:xfrm>
            <a:off x="0" y="1241487"/>
            <a:ext cx="5952478" cy="2585323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s-PE" dirty="0"/>
              <a:t>I   	Identificación de las variables</a:t>
            </a:r>
          </a:p>
          <a:p>
            <a:r>
              <a:rPr lang="es-PE" dirty="0" err="1"/>
              <a:t>MH</a:t>
            </a:r>
            <a:r>
              <a:rPr lang="es-PE" dirty="0"/>
              <a:t> = Cantidad en libras de mineral de hierro por transportar.</a:t>
            </a:r>
          </a:p>
          <a:p>
            <a:r>
              <a:rPr lang="es-PE" dirty="0"/>
              <a:t>MC = Cantidad en libras de mineral de cobre por transportar.</a:t>
            </a:r>
          </a:p>
          <a:p>
            <a:r>
              <a:rPr lang="es-PE" dirty="0"/>
              <a:t>II  	Identificación de la Función Objetivo</a:t>
            </a:r>
          </a:p>
          <a:p>
            <a:r>
              <a:rPr lang="es-PE" dirty="0">
                <a:latin typeface="Arial Narrow" panose="020B0606020202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MAX  </a:t>
            </a:r>
            <a:r>
              <a:rPr lang="es-PE" dirty="0" err="1">
                <a:latin typeface="Arial Narrow" panose="020B0606020202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0,30MH</a:t>
            </a:r>
            <a:r>
              <a:rPr lang="es-PE" dirty="0">
                <a:latin typeface="Arial Narrow" panose="020B0606020202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+</a:t>
            </a:r>
            <a:r>
              <a:rPr lang="es-PE" dirty="0" err="1">
                <a:latin typeface="Arial Narrow" panose="020B0606020202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0,50MC</a:t>
            </a:r>
            <a:endParaRPr lang="es-PE" dirty="0">
              <a:latin typeface="Arial Narrow" panose="020B0606020202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s-ES" dirty="0"/>
              <a:t>III Identificación de las restricciones</a:t>
            </a:r>
          </a:p>
          <a:p>
            <a:r>
              <a:rPr lang="es-ES" dirty="0"/>
              <a:t> 0,04 </a:t>
            </a:r>
            <a:r>
              <a:rPr lang="es-ES" dirty="0" err="1"/>
              <a:t>MH</a:t>
            </a:r>
            <a:r>
              <a:rPr lang="es-ES" dirty="0"/>
              <a:t> + 0,08 MC ≤ 1200 </a:t>
            </a:r>
          </a:p>
          <a:p>
            <a:r>
              <a:rPr lang="es-ES" dirty="0" err="1"/>
              <a:t>MH</a:t>
            </a:r>
            <a:r>
              <a:rPr lang="es-ES" dirty="0"/>
              <a:t> + MC ≤ 22 046 </a:t>
            </a:r>
          </a:p>
          <a:p>
            <a:r>
              <a:rPr lang="es-ES" dirty="0" err="1"/>
              <a:t>MH</a:t>
            </a:r>
            <a:r>
              <a:rPr lang="es-ES" dirty="0"/>
              <a:t>, MC ≥ 0</a:t>
            </a:r>
            <a:endParaRPr lang="es-PE" dirty="0">
              <a:effectLst/>
              <a:latin typeface="Arial Narrow" panose="020B0606020202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BB2DCA51-189D-40FE-AC6E-2649FD733AC4}"/>
              </a:ext>
            </a:extLst>
          </p:cNvPr>
          <p:cNvCxnSpPr/>
          <p:nvPr/>
        </p:nvCxnSpPr>
        <p:spPr>
          <a:xfrm>
            <a:off x="465826" y="6304179"/>
            <a:ext cx="5149970" cy="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1719E56D-4836-4658-8B5F-C219B45A7A11}"/>
              </a:ext>
            </a:extLst>
          </p:cNvPr>
          <p:cNvSpPr txBox="1"/>
          <p:nvPr/>
        </p:nvSpPr>
        <p:spPr>
          <a:xfrm>
            <a:off x="5124091" y="6511677"/>
            <a:ext cx="6449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/>
              <a:t>MH</a:t>
            </a:r>
            <a:endParaRPr lang="es-PE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853B036B-6462-4205-AFA2-F56ABB21A3D0}"/>
              </a:ext>
            </a:extLst>
          </p:cNvPr>
          <p:cNvSpPr txBox="1"/>
          <p:nvPr/>
        </p:nvSpPr>
        <p:spPr>
          <a:xfrm>
            <a:off x="329609" y="3762473"/>
            <a:ext cx="698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MC</a:t>
            </a:r>
            <a:endParaRPr lang="es-PE" dirty="0"/>
          </a:p>
        </p:txBody>
      </p: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5AC0A448-8FBC-46A5-9019-B8117E48D976}"/>
              </a:ext>
            </a:extLst>
          </p:cNvPr>
          <p:cNvCxnSpPr>
            <a:cxnSpLocks/>
          </p:cNvCxnSpPr>
          <p:nvPr/>
        </p:nvCxnSpPr>
        <p:spPr>
          <a:xfrm flipH="1">
            <a:off x="595423" y="5068459"/>
            <a:ext cx="120570" cy="19465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76EFA183-BA64-44CE-9EAD-FDDC7B7D3481}"/>
              </a:ext>
            </a:extLst>
          </p:cNvPr>
          <p:cNvCxnSpPr>
            <a:cxnSpLocks/>
          </p:cNvCxnSpPr>
          <p:nvPr/>
        </p:nvCxnSpPr>
        <p:spPr>
          <a:xfrm flipH="1">
            <a:off x="905608" y="4715350"/>
            <a:ext cx="111255" cy="208343"/>
          </a:xfrm>
          <a:prstGeom prst="straightConnector1">
            <a:avLst/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30E56C08-8AC1-43F1-A9CD-ED806F5EC5DA}"/>
              </a:ext>
            </a:extLst>
          </p:cNvPr>
          <p:cNvCxnSpPr>
            <a:cxnSpLocks/>
          </p:cNvCxnSpPr>
          <p:nvPr/>
        </p:nvCxnSpPr>
        <p:spPr>
          <a:xfrm>
            <a:off x="638521" y="5029199"/>
            <a:ext cx="2993366" cy="1475117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9F5A3F1F-CC46-4330-BBC1-888868E77CED}"/>
              </a:ext>
            </a:extLst>
          </p:cNvPr>
          <p:cNvCxnSpPr>
            <a:cxnSpLocks/>
          </p:cNvCxnSpPr>
          <p:nvPr/>
        </p:nvCxnSpPr>
        <p:spPr>
          <a:xfrm>
            <a:off x="888023" y="4563208"/>
            <a:ext cx="2022228" cy="2013440"/>
          </a:xfrm>
          <a:prstGeom prst="line">
            <a:avLst/>
          </a:prstGeom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Elipse 15">
            <a:extLst>
              <a:ext uri="{FF2B5EF4-FFF2-40B4-BE49-F238E27FC236}">
                <a16:creationId xmlns:a16="http://schemas.microsoft.com/office/drawing/2014/main" id="{E66EEF8A-9DBE-4910-AD5D-C40746BB4164}"/>
              </a:ext>
            </a:extLst>
          </p:cNvPr>
          <p:cNvSpPr/>
          <p:nvPr/>
        </p:nvSpPr>
        <p:spPr>
          <a:xfrm>
            <a:off x="2085975" y="5500589"/>
            <a:ext cx="57150" cy="5715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E7FE32E1-34CC-4B72-88A6-32E2D9AE32AE}"/>
              </a:ext>
            </a:extLst>
          </p:cNvPr>
          <p:cNvSpPr txBox="1"/>
          <p:nvPr/>
        </p:nvSpPr>
        <p:spPr>
          <a:xfrm>
            <a:off x="297301" y="3965696"/>
            <a:ext cx="8044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30000</a:t>
            </a:r>
            <a:endParaRPr lang="es-PE" dirty="0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E33C075E-1DB6-4179-8222-4AD6C792CCEE}"/>
              </a:ext>
            </a:extLst>
          </p:cNvPr>
          <p:cNvSpPr txBox="1"/>
          <p:nvPr/>
        </p:nvSpPr>
        <p:spPr>
          <a:xfrm>
            <a:off x="2895599" y="6532769"/>
            <a:ext cx="8285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30000</a:t>
            </a:r>
            <a:endParaRPr lang="es-PE" dirty="0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DE9FF16A-6FF9-4E85-A5ED-39A9A1F62EC3}"/>
              </a:ext>
            </a:extLst>
          </p:cNvPr>
          <p:cNvSpPr txBox="1"/>
          <p:nvPr/>
        </p:nvSpPr>
        <p:spPr>
          <a:xfrm>
            <a:off x="2154148" y="6531056"/>
            <a:ext cx="7719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20000</a:t>
            </a:r>
            <a:endParaRPr lang="es-PE"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198FA657-9CD8-4277-9EFF-37B2F2A7509F}"/>
              </a:ext>
            </a:extLst>
          </p:cNvPr>
          <p:cNvSpPr txBox="1"/>
          <p:nvPr/>
        </p:nvSpPr>
        <p:spPr>
          <a:xfrm>
            <a:off x="1280161" y="6519070"/>
            <a:ext cx="8620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10000</a:t>
            </a:r>
            <a:endParaRPr lang="es-PE" dirty="0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BC254444-D9FE-4474-960A-7EBF826E8A59}"/>
              </a:ext>
            </a:extLst>
          </p:cNvPr>
          <p:cNvSpPr txBox="1"/>
          <p:nvPr/>
        </p:nvSpPr>
        <p:spPr>
          <a:xfrm>
            <a:off x="284667" y="4667923"/>
            <a:ext cx="776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20000</a:t>
            </a:r>
            <a:endParaRPr lang="es-PE" dirty="0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79D7A329-43F6-40A1-BEBF-418B3BE6197C}"/>
              </a:ext>
            </a:extLst>
          </p:cNvPr>
          <p:cNvSpPr txBox="1"/>
          <p:nvPr/>
        </p:nvSpPr>
        <p:spPr>
          <a:xfrm>
            <a:off x="293298" y="5402654"/>
            <a:ext cx="7717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10000</a:t>
            </a:r>
            <a:endParaRPr lang="es-PE" dirty="0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C2BE76A0-4EB9-4E17-9418-449C4467D618}"/>
              </a:ext>
            </a:extLst>
          </p:cNvPr>
          <p:cNvSpPr txBox="1"/>
          <p:nvPr/>
        </p:nvSpPr>
        <p:spPr>
          <a:xfrm>
            <a:off x="3643900" y="6531057"/>
            <a:ext cx="8283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40000</a:t>
            </a:r>
            <a:endParaRPr lang="es-PE" dirty="0"/>
          </a:p>
        </p:txBody>
      </p: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85FE2768-B8B6-439C-928F-DA44AFF5E9DF}"/>
              </a:ext>
            </a:extLst>
          </p:cNvPr>
          <p:cNvCxnSpPr>
            <a:cxnSpLocks/>
          </p:cNvCxnSpPr>
          <p:nvPr/>
        </p:nvCxnSpPr>
        <p:spPr>
          <a:xfrm>
            <a:off x="925030" y="5050462"/>
            <a:ext cx="2126512" cy="1286539"/>
          </a:xfrm>
          <a:prstGeom prst="line">
            <a:avLst/>
          </a:prstGeom>
          <a:ln w="254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ACABFC4C-D161-4886-BC23-DBF927E045B3}"/>
              </a:ext>
            </a:extLst>
          </p:cNvPr>
          <p:cNvCxnSpPr>
            <a:cxnSpLocks/>
          </p:cNvCxnSpPr>
          <p:nvPr/>
        </p:nvCxnSpPr>
        <p:spPr>
          <a:xfrm flipV="1">
            <a:off x="1051795" y="3807229"/>
            <a:ext cx="0" cy="3377308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570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3 Tabla"/>
          <p:cNvGraphicFramePr>
            <a:graphicFrameLocks noGrp="1"/>
          </p:cNvGraphicFramePr>
          <p:nvPr/>
        </p:nvGraphicFramePr>
        <p:xfrm>
          <a:off x="1772520" y="1349396"/>
          <a:ext cx="8784976" cy="157853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484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154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10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656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PE" sz="2400" b="1" dirty="0">
                          <a:solidFill>
                            <a:srgbClr val="FF0000"/>
                          </a:solidFill>
                          <a:effectLst/>
                          <a:latin typeface="Arial Narrow" pitchFamily="34" charset="0"/>
                        </a:rPr>
                        <a:t>Valor lado derecho</a:t>
                      </a:r>
                      <a:endParaRPr lang="es-PE" sz="2400" b="1" dirty="0">
                        <a:solidFill>
                          <a:srgbClr val="FF0000"/>
                        </a:solidFill>
                        <a:effectLst/>
                        <a:latin typeface="Arial Narrow" pitchFamily="34" charset="0"/>
                        <a:ea typeface="Calibri"/>
                      </a:endParaRPr>
                    </a:p>
                  </a:txBody>
                  <a:tcPr marL="44450" marR="44450" marT="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PE" sz="2400" b="1" dirty="0">
                          <a:solidFill>
                            <a:srgbClr val="FF0000"/>
                          </a:solidFill>
                          <a:effectLst/>
                          <a:latin typeface="Arial Narrow" pitchFamily="34" charset="0"/>
                        </a:rPr>
                        <a:t>Solución óptima</a:t>
                      </a:r>
                      <a:endParaRPr lang="es-PE" sz="2400" b="1" dirty="0">
                        <a:solidFill>
                          <a:srgbClr val="FF0000"/>
                        </a:solidFill>
                        <a:effectLst/>
                        <a:latin typeface="Arial Narrow" pitchFamily="34" charset="0"/>
                        <a:ea typeface="Calibri"/>
                      </a:endParaRPr>
                    </a:p>
                  </a:txBody>
                  <a:tcPr marL="44450" marR="44450" marT="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PE" sz="2400" b="1" dirty="0">
                          <a:solidFill>
                            <a:srgbClr val="FF0000"/>
                          </a:solidFill>
                          <a:effectLst/>
                          <a:latin typeface="Arial Narrow" pitchFamily="34" charset="0"/>
                        </a:rPr>
                        <a:t>Valor función objetivo</a:t>
                      </a:r>
                      <a:endParaRPr lang="es-PE" sz="2400" b="1" dirty="0">
                        <a:solidFill>
                          <a:srgbClr val="FF0000"/>
                        </a:solidFill>
                        <a:effectLst/>
                        <a:latin typeface="Arial Narrow" pitchFamily="34" charset="0"/>
                        <a:ea typeface="Calibri"/>
                      </a:endParaRPr>
                    </a:p>
                  </a:txBody>
                  <a:tcPr marL="44450" marR="44450" marT="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0557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15000</a:t>
                      </a:r>
                    </a:p>
                  </a:txBody>
                  <a:tcPr marL="9525" marR="9525" marT="9525" marB="9525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PE" sz="24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MH</a:t>
                      </a:r>
                      <a:r>
                        <a:rPr lang="es-PE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 0; CH = 15000</a:t>
                      </a:r>
                    </a:p>
                  </a:txBody>
                  <a:tcPr marL="9525" marR="9525" marT="9525" marB="9525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7500</a:t>
                      </a:r>
                      <a:endParaRPr lang="es-PE" sz="2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9525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0557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30000</a:t>
                      </a:r>
                      <a:endParaRPr lang="es-PE" sz="2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9525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PE" sz="24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MH</a:t>
                      </a:r>
                      <a:r>
                        <a:rPr lang="es-PE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 30000; CH = 0</a:t>
                      </a:r>
                    </a:p>
                  </a:txBody>
                  <a:tcPr marL="9525" marR="9525" marT="9525" marB="9525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9000</a:t>
                      </a:r>
                      <a:endParaRPr lang="es-PE" sz="2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9525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4 Rectángulo"/>
          <p:cNvSpPr/>
          <p:nvPr/>
        </p:nvSpPr>
        <p:spPr>
          <a:xfrm>
            <a:off x="1991544" y="5114802"/>
            <a:ext cx="444025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PE" sz="2000" dirty="0"/>
              <a:t>El precio sombra de la restricción I será:</a:t>
            </a:r>
          </a:p>
        </p:txBody>
      </p:sp>
      <p:sp>
        <p:nvSpPr>
          <p:cNvPr id="12" name="11 CuadroTexto"/>
          <p:cNvSpPr txBox="1"/>
          <p:nvPr/>
        </p:nvSpPr>
        <p:spPr>
          <a:xfrm>
            <a:off x="10056438" y="6100208"/>
            <a:ext cx="21355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1000  Lado Derecho</a:t>
            </a:r>
            <a:endParaRPr lang="es-PE" dirty="0"/>
          </a:p>
        </p:txBody>
      </p:sp>
      <p:sp>
        <p:nvSpPr>
          <p:cNvPr id="13" name="12 CuadroTexto"/>
          <p:cNvSpPr txBox="1"/>
          <p:nvPr/>
        </p:nvSpPr>
        <p:spPr>
          <a:xfrm>
            <a:off x="6698751" y="4380435"/>
            <a:ext cx="8013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Y=</a:t>
            </a:r>
            <a:r>
              <a:rPr lang="es-ES" dirty="0" err="1"/>
              <a:t>F.O</a:t>
            </a:r>
            <a:r>
              <a:rPr lang="es-ES" dirty="0"/>
              <a:t>.</a:t>
            </a:r>
            <a:endParaRPr lang="es-PE" dirty="0"/>
          </a:p>
        </p:txBody>
      </p:sp>
      <p:sp>
        <p:nvSpPr>
          <p:cNvPr id="15" name="14 Elipse"/>
          <p:cNvSpPr/>
          <p:nvPr/>
        </p:nvSpPr>
        <p:spPr>
          <a:xfrm>
            <a:off x="8332342" y="5490028"/>
            <a:ext cx="79420" cy="8906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9" name="18 Triángulo rectángulo"/>
          <p:cNvSpPr/>
          <p:nvPr/>
        </p:nvSpPr>
        <p:spPr>
          <a:xfrm flipH="1">
            <a:off x="7686136" y="5003321"/>
            <a:ext cx="2734568" cy="72461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3" name="2 Conector recto"/>
          <p:cNvCxnSpPr>
            <a:cxnSpLocks/>
            <a:stCxn id="15" idx="4"/>
          </p:cNvCxnSpPr>
          <p:nvPr/>
        </p:nvCxnSpPr>
        <p:spPr>
          <a:xfrm>
            <a:off x="8372052" y="5579094"/>
            <a:ext cx="0" cy="544304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7 Conector recto"/>
          <p:cNvCxnSpPr>
            <a:cxnSpLocks/>
            <a:endCxn id="15" idx="2"/>
          </p:cNvCxnSpPr>
          <p:nvPr/>
        </p:nvCxnSpPr>
        <p:spPr>
          <a:xfrm>
            <a:off x="7530957" y="5534561"/>
            <a:ext cx="801385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17 Conector recto"/>
          <p:cNvCxnSpPr>
            <a:cxnSpLocks/>
          </p:cNvCxnSpPr>
          <p:nvPr/>
        </p:nvCxnSpPr>
        <p:spPr>
          <a:xfrm>
            <a:off x="10425897" y="4999941"/>
            <a:ext cx="0" cy="1102908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19 Conector recto"/>
          <p:cNvCxnSpPr>
            <a:cxnSpLocks/>
          </p:cNvCxnSpPr>
          <p:nvPr/>
        </p:nvCxnSpPr>
        <p:spPr>
          <a:xfrm>
            <a:off x="8986683" y="5376744"/>
            <a:ext cx="0" cy="826205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21 Conector recto"/>
          <p:cNvCxnSpPr>
            <a:cxnSpLocks/>
          </p:cNvCxnSpPr>
          <p:nvPr/>
        </p:nvCxnSpPr>
        <p:spPr>
          <a:xfrm>
            <a:off x="7520683" y="5022994"/>
            <a:ext cx="2835705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22 Conector recto"/>
          <p:cNvCxnSpPr>
            <a:cxnSpLocks/>
          </p:cNvCxnSpPr>
          <p:nvPr/>
        </p:nvCxnSpPr>
        <p:spPr>
          <a:xfrm flipV="1">
            <a:off x="7536160" y="5359802"/>
            <a:ext cx="1440160" cy="2255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1 CuadroTexto"/>
          <p:cNvSpPr txBox="1"/>
          <p:nvPr/>
        </p:nvSpPr>
        <p:spPr>
          <a:xfrm>
            <a:off x="10405671" y="5051087"/>
            <a:ext cx="7963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000" dirty="0"/>
              <a:t>∆y</a:t>
            </a:r>
          </a:p>
        </p:txBody>
      </p:sp>
      <p:sp>
        <p:nvSpPr>
          <p:cNvPr id="24" name="23 CuadroTexto"/>
          <p:cNvSpPr txBox="1"/>
          <p:nvPr/>
        </p:nvSpPr>
        <p:spPr>
          <a:xfrm>
            <a:off x="8965423" y="5774451"/>
            <a:ext cx="7963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2000" dirty="0"/>
              <a:t>∆x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5 CuadroTexto"/>
              <p:cNvSpPr txBox="1"/>
              <p:nvPr/>
            </p:nvSpPr>
            <p:spPr>
              <a:xfrm>
                <a:off x="1991544" y="4365105"/>
                <a:ext cx="2664296" cy="5370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2000" dirty="0"/>
                  <a:t>Pendiente=m=</a:t>
                </a:r>
                <a:r>
                  <a:rPr lang="es-ES" sz="2000" dirty="0" err="1"/>
                  <a:t>tg</a:t>
                </a:r>
                <a:r>
                  <a:rPr lang="es-ES" sz="2000" dirty="0"/>
                  <a:t>(</a:t>
                </a:r>
                <a:r>
                  <a:rPr lang="el-GR" sz="2000" dirty="0"/>
                  <a:t>α</a:t>
                </a:r>
                <a:r>
                  <a:rPr lang="es-ES" sz="2000" dirty="0"/>
                  <a:t>)=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E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2000" i="1">
                            <a:latin typeface="Cambria Math"/>
                          </a:rPr>
                          <m:t>∆</m:t>
                        </m:r>
                        <m:r>
                          <a:rPr lang="es-ES" sz="2000" i="1">
                            <a:latin typeface="Cambria Math"/>
                          </a:rPr>
                          <m:t>𝑦</m:t>
                        </m:r>
                      </m:num>
                      <m:den>
                        <m:r>
                          <a:rPr lang="es-ES" sz="2000" i="1">
                            <a:latin typeface="Cambria Math"/>
                          </a:rPr>
                          <m:t>∆</m:t>
                        </m:r>
                        <m:r>
                          <a:rPr lang="es-ES" sz="2000" i="1">
                            <a:latin typeface="Cambria Math"/>
                          </a:rPr>
                          <m:t>𝑥</m:t>
                        </m:r>
                      </m:den>
                    </m:f>
                  </m:oMath>
                </a14:m>
                <a:endParaRPr lang="es-PE" sz="2000" dirty="0"/>
              </a:p>
            </p:txBody>
          </p:sp>
        </mc:Choice>
        <mc:Fallback xmlns="">
          <p:sp>
            <p:nvSpPr>
              <p:cNvPr id="6" name="5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1544" y="4365105"/>
                <a:ext cx="2664296" cy="537070"/>
              </a:xfrm>
              <a:prstGeom prst="rect">
                <a:avLst/>
              </a:prstGeom>
              <a:blipFill>
                <a:blip r:embed="rId3"/>
                <a:stretch>
                  <a:fillRect l="-2517" b="-7955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9 CuadroTexto"/>
          <p:cNvSpPr txBox="1"/>
          <p:nvPr/>
        </p:nvSpPr>
        <p:spPr>
          <a:xfrm>
            <a:off x="1991544" y="3933056"/>
            <a:ext cx="43204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rgbClr val="FF0000"/>
                </a:solidFill>
              </a:rPr>
              <a:t>Precio Sombra=Precio dual=pendiente</a:t>
            </a:r>
            <a:endParaRPr lang="es-PE" sz="2000" b="1" dirty="0">
              <a:solidFill>
                <a:srgbClr val="FF0000"/>
              </a:solidFill>
            </a:endParaRPr>
          </a:p>
        </p:txBody>
      </p:sp>
      <p:sp>
        <p:nvSpPr>
          <p:cNvPr id="25" name="CustomShape 2">
            <a:extLst>
              <a:ext uri="{FF2B5EF4-FFF2-40B4-BE49-F238E27FC236}">
                <a16:creationId xmlns:a16="http://schemas.microsoft.com/office/drawing/2014/main" id="{FD6571E3-8CA2-4904-AA1D-E46AC5BC8E79}"/>
              </a:ext>
            </a:extLst>
          </p:cNvPr>
          <p:cNvSpPr/>
          <p:nvPr/>
        </p:nvSpPr>
        <p:spPr>
          <a:xfrm>
            <a:off x="6098874" y="0"/>
            <a:ext cx="6093125" cy="1061049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/>
            <a:r>
              <a:rPr lang="es-PE" sz="3200" dirty="0">
                <a:solidFill>
                  <a:schemeClr val="bg1"/>
                </a:solidFill>
                <a:latin typeface="Bauhaus 93" pitchFamily="82" charset="0"/>
              </a:rPr>
              <a:t>Análisis de sensibilidad del lado derecho de la restricción IV</a:t>
            </a:r>
          </a:p>
        </p:txBody>
      </p:sp>
      <p:sp>
        <p:nvSpPr>
          <p:cNvPr id="32" name="14 Elipse">
            <a:extLst>
              <a:ext uri="{FF2B5EF4-FFF2-40B4-BE49-F238E27FC236}">
                <a16:creationId xmlns:a16="http://schemas.microsoft.com/office/drawing/2014/main" id="{879646D5-AB4F-4134-AE96-D4C57F793393}"/>
              </a:ext>
            </a:extLst>
          </p:cNvPr>
          <p:cNvSpPr/>
          <p:nvPr/>
        </p:nvSpPr>
        <p:spPr>
          <a:xfrm>
            <a:off x="8947079" y="5323930"/>
            <a:ext cx="79420" cy="8906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3" name="14 Elipse">
            <a:extLst>
              <a:ext uri="{FF2B5EF4-FFF2-40B4-BE49-F238E27FC236}">
                <a16:creationId xmlns:a16="http://schemas.microsoft.com/office/drawing/2014/main" id="{B6C01DA2-6AFF-44A3-8B3C-F25D1D931B4A}"/>
              </a:ext>
            </a:extLst>
          </p:cNvPr>
          <p:cNvSpPr/>
          <p:nvPr/>
        </p:nvSpPr>
        <p:spPr>
          <a:xfrm>
            <a:off x="10352926" y="4962621"/>
            <a:ext cx="79420" cy="8906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40" name="Conector recto de flecha 39">
            <a:extLst>
              <a:ext uri="{FF2B5EF4-FFF2-40B4-BE49-F238E27FC236}">
                <a16:creationId xmlns:a16="http://schemas.microsoft.com/office/drawing/2014/main" id="{4B5FDE8E-B146-4F44-A5E0-D1D124E26E5E}"/>
              </a:ext>
            </a:extLst>
          </p:cNvPr>
          <p:cNvCxnSpPr/>
          <p:nvPr/>
        </p:nvCxnSpPr>
        <p:spPr>
          <a:xfrm flipV="1">
            <a:off x="7674796" y="4202130"/>
            <a:ext cx="0" cy="208565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recto de flecha 41">
            <a:extLst>
              <a:ext uri="{FF2B5EF4-FFF2-40B4-BE49-F238E27FC236}">
                <a16:creationId xmlns:a16="http://schemas.microsoft.com/office/drawing/2014/main" id="{4952CDF9-ACBB-4A1B-9D79-042E0B31EC98}"/>
              </a:ext>
            </a:extLst>
          </p:cNvPr>
          <p:cNvCxnSpPr/>
          <p:nvPr/>
        </p:nvCxnSpPr>
        <p:spPr>
          <a:xfrm>
            <a:off x="7315200" y="6143944"/>
            <a:ext cx="4623371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10 Conector recto"/>
          <p:cNvCxnSpPr>
            <a:cxnSpLocks/>
          </p:cNvCxnSpPr>
          <p:nvPr/>
        </p:nvCxnSpPr>
        <p:spPr>
          <a:xfrm flipV="1">
            <a:off x="7320136" y="4634144"/>
            <a:ext cx="4584819" cy="118180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Objeto 6">
            <a:extLst>
              <a:ext uri="{FF2B5EF4-FFF2-40B4-BE49-F238E27FC236}">
                <a16:creationId xmlns:a16="http://schemas.microsoft.com/office/drawing/2014/main" id="{F251766D-AAE3-4704-BE6E-17579C58080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51088" y="5680075"/>
          <a:ext cx="3449337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879560" imgH="393480" progId="">
                  <p:embed/>
                </p:oleObj>
              </mc:Choice>
              <mc:Fallback>
                <p:oleObj r:id="rId4" imgW="1879560" imgH="393480" progId="">
                  <p:embed/>
                  <p:pic>
                    <p:nvPicPr>
                      <p:cNvPr id="7" name="Objeto 6">
                        <a:extLst>
                          <a:ext uri="{FF2B5EF4-FFF2-40B4-BE49-F238E27FC236}">
                            <a16:creationId xmlns:a16="http://schemas.microsoft.com/office/drawing/2014/main" id="{F251766D-AAE3-4704-BE6E-17579C58080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351088" y="5680075"/>
                        <a:ext cx="3449337" cy="720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CuadroTexto 26">
            <a:extLst>
              <a:ext uri="{FF2B5EF4-FFF2-40B4-BE49-F238E27FC236}">
                <a16:creationId xmlns:a16="http://schemas.microsoft.com/office/drawing/2014/main" id="{F2BBA8EE-B088-4438-BC92-3498CC175F36}"/>
              </a:ext>
            </a:extLst>
          </p:cNvPr>
          <p:cNvSpPr txBox="1"/>
          <p:nvPr/>
        </p:nvSpPr>
        <p:spPr>
          <a:xfrm>
            <a:off x="1996751" y="186613"/>
            <a:ext cx="257524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000" dirty="0">
                <a:solidFill>
                  <a:srgbClr val="0070C0"/>
                </a:solidFill>
              </a:rPr>
              <a:t>4.40</a:t>
            </a:r>
            <a:endParaRPr lang="es-PE" sz="40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707925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E81FA81D-0DEE-4DFE-A68F-889A4CD8EE43}"/>
              </a:ext>
            </a:extLst>
          </p:cNvPr>
          <p:cNvSpPr/>
          <p:nvPr/>
        </p:nvSpPr>
        <p:spPr>
          <a:xfrm>
            <a:off x="0" y="1159758"/>
            <a:ext cx="6096000" cy="2554545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es-ES" sz="2000" dirty="0">
                <a:latin typeface="Arial Narrow" panose="020B0606020202030204" pitchFamily="34" charset="0"/>
                <a:ea typeface="Calibri" panose="020F0502020204030204" pitchFamily="34" charset="0"/>
              </a:rPr>
              <a:t>LITUO debe producir al menos 600 de tornillos pequeños y 400 de tornillos grandes para satisfacer la demanda de las siguientes 4 semanas. Estos tornillos pueden producirse en dos máquinas distintas, cada una de las cuales está disponible 40 horas a la semana. Los requerimientos de costos y tiempo para producir cada tamaño de tornillo en cada máquina y el precio de venta de cada tamaño de tornillo se muestra en la siguiente tabla:</a:t>
            </a:r>
            <a:endParaRPr lang="es-ES" sz="2000" dirty="0">
              <a:effectLst/>
              <a:latin typeface="Arial Narrow" panose="020B0606020202030204" pitchFamily="34" charset="0"/>
              <a:ea typeface="Calibri" panose="020F0502020204030204" pitchFamily="34" charset="0"/>
            </a:endParaRP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2FCA10E0-9380-41EF-8411-1F51C06717A3}"/>
              </a:ext>
            </a:extLst>
          </p:cNvPr>
          <p:cNvGraphicFramePr>
            <a:graphicFrameLocks noGrp="1"/>
          </p:cNvGraphicFramePr>
          <p:nvPr/>
        </p:nvGraphicFramePr>
        <p:xfrm>
          <a:off x="0" y="3818711"/>
          <a:ext cx="6096002" cy="23423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35230">
                  <a:extLst>
                    <a:ext uri="{9D8B030D-6E8A-4147-A177-3AD203B41FA5}">
                      <a16:colId xmlns:a16="http://schemas.microsoft.com/office/drawing/2014/main" val="2813370116"/>
                    </a:ext>
                  </a:extLst>
                </a:gridCol>
                <a:gridCol w="1248772">
                  <a:extLst>
                    <a:ext uri="{9D8B030D-6E8A-4147-A177-3AD203B41FA5}">
                      <a16:colId xmlns:a16="http://schemas.microsoft.com/office/drawing/2014/main" val="2670992996"/>
                    </a:ext>
                  </a:extLst>
                </a:gridCol>
                <a:gridCol w="1112000">
                  <a:extLst>
                    <a:ext uri="{9D8B030D-6E8A-4147-A177-3AD203B41FA5}">
                      <a16:colId xmlns:a16="http://schemas.microsoft.com/office/drawing/2014/main" val="2278663341"/>
                    </a:ext>
                  </a:extLst>
                </a:gridCol>
              </a:tblGrid>
              <a:tr h="488659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s-PE" sz="20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79237" marR="79237" marT="39619" marB="39619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2000">
                          <a:effectLst/>
                        </a:rPr>
                        <a:t>Tornillos</a:t>
                      </a: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2000">
                          <a:effectLst/>
                        </a:rPr>
                        <a:t>pequeños</a:t>
                      </a:r>
                      <a:endParaRPr lang="es-PE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79237" marR="79237" marT="39619" marB="39619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2000">
                          <a:effectLst/>
                        </a:rPr>
                        <a:t>Tornillos grandes</a:t>
                      </a:r>
                      <a:endParaRPr lang="es-PE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79237" marR="79237" marT="39619" marB="39619"/>
                </a:tc>
                <a:extLst>
                  <a:ext uri="{0D108BD9-81ED-4DB2-BD59-A6C34878D82A}">
                    <a16:rowId xmlns:a16="http://schemas.microsoft.com/office/drawing/2014/main" val="827106554"/>
                  </a:ext>
                </a:extLst>
              </a:tr>
              <a:tr h="165349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000" dirty="0">
                          <a:effectLst/>
                        </a:rPr>
                        <a:t>Precio de venta ($/unidad)</a:t>
                      </a:r>
                    </a:p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000" dirty="0">
                          <a:effectLst/>
                        </a:rPr>
                        <a:t>Costo en la máquina 1 ($/unidad)</a:t>
                      </a:r>
                    </a:p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000" dirty="0">
                          <a:effectLst/>
                        </a:rPr>
                        <a:t>Costo en la máquina 2($/unidad)</a:t>
                      </a:r>
                    </a:p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000" dirty="0">
                          <a:effectLst/>
                        </a:rPr>
                        <a:t>Tiempo en la máquina 1(min. /Lb.)</a:t>
                      </a:r>
                    </a:p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000" dirty="0">
                          <a:effectLst/>
                        </a:rPr>
                        <a:t>Tiempo en la máquina 2(min. /Lb.)</a:t>
                      </a:r>
                      <a:endParaRPr lang="es-ES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79237" marR="79237" marT="39619" marB="39619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2000" dirty="0">
                          <a:effectLst/>
                        </a:rPr>
                        <a:t>27.50</a:t>
                      </a: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2000" dirty="0">
                          <a:effectLst/>
                        </a:rPr>
                        <a:t>6.25</a:t>
                      </a: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2000" dirty="0">
                          <a:effectLst/>
                        </a:rPr>
                        <a:t>8.00</a:t>
                      </a: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2000" dirty="0">
                          <a:effectLst/>
                        </a:rPr>
                        <a:t>1.50</a:t>
                      </a: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2000" dirty="0">
                          <a:effectLst/>
                        </a:rPr>
                        <a:t>1.00</a:t>
                      </a:r>
                      <a:endParaRPr lang="es-PE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79237" marR="79237" marT="39619" marB="39619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2000" dirty="0">
                          <a:effectLst/>
                        </a:rPr>
                        <a:t>32.50</a:t>
                      </a: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2000" dirty="0">
                          <a:effectLst/>
                        </a:rPr>
                        <a:t>7.75</a:t>
                      </a: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2000" dirty="0">
                          <a:effectLst/>
                        </a:rPr>
                        <a:t>9.25</a:t>
                      </a: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2000" dirty="0">
                          <a:effectLst/>
                        </a:rPr>
                        <a:t>1.75</a:t>
                      </a: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E" sz="2000" dirty="0">
                          <a:effectLst/>
                        </a:rPr>
                        <a:t>1.25</a:t>
                      </a:r>
                      <a:endParaRPr lang="es-PE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79237" marR="79237" marT="39619" marB="39619"/>
                </a:tc>
                <a:extLst>
                  <a:ext uri="{0D108BD9-81ED-4DB2-BD59-A6C34878D82A}">
                    <a16:rowId xmlns:a16="http://schemas.microsoft.com/office/drawing/2014/main" val="4183726220"/>
                  </a:ext>
                </a:extLst>
              </a:tr>
            </a:tbl>
          </a:graphicData>
        </a:graphic>
      </p:graphicFrame>
      <p:sp>
        <p:nvSpPr>
          <p:cNvPr id="5" name="Rectángulo 4">
            <a:extLst>
              <a:ext uri="{FF2B5EF4-FFF2-40B4-BE49-F238E27FC236}">
                <a16:creationId xmlns:a16="http://schemas.microsoft.com/office/drawing/2014/main" id="{C5ABF936-A099-47D1-80FC-60962C430727}"/>
              </a:ext>
            </a:extLst>
          </p:cNvPr>
          <p:cNvSpPr/>
          <p:nvPr/>
        </p:nvSpPr>
        <p:spPr>
          <a:xfrm>
            <a:off x="6243144" y="1190269"/>
            <a:ext cx="5948856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ES" sz="2000" dirty="0">
                <a:latin typeface="Arial Narrow" panose="020B0606020202030204" pitchFamily="34" charset="0"/>
                <a:ea typeface="Calibri" panose="020F0502020204030204" pitchFamily="34" charset="0"/>
              </a:rPr>
              <a:t>En cada libra hay aproximadamente 60 tornillos pequeños y 40 tornillos grandes. Usando las variables:</a:t>
            </a:r>
          </a:p>
          <a:p>
            <a:pPr algn="just"/>
            <a:r>
              <a:rPr lang="es-ES" sz="2000" dirty="0" err="1">
                <a:latin typeface="Arial Narrow" panose="020B0606020202030204" pitchFamily="34" charset="0"/>
                <a:ea typeface="Calibri" panose="020F0502020204030204" pitchFamily="34" charset="0"/>
              </a:rPr>
              <a:t>S1</a:t>
            </a:r>
            <a:r>
              <a:rPr lang="es-ES" sz="2000" dirty="0">
                <a:latin typeface="Arial Narrow" panose="020B0606020202030204" pitchFamily="34" charset="0"/>
                <a:ea typeface="Calibri" panose="020F0502020204030204" pitchFamily="34" charset="0"/>
              </a:rPr>
              <a:t> =</a:t>
            </a:r>
            <a:r>
              <a:rPr lang="es-ES" sz="2000" dirty="0" err="1">
                <a:latin typeface="Arial Narrow" panose="020B0606020202030204" pitchFamily="34" charset="0"/>
                <a:ea typeface="Calibri" panose="020F0502020204030204" pitchFamily="34" charset="0"/>
              </a:rPr>
              <a:t>N°</a:t>
            </a:r>
            <a:r>
              <a:rPr lang="es-ES" sz="2000" dirty="0">
                <a:latin typeface="Arial Narrow" panose="020B0606020202030204" pitchFamily="34" charset="0"/>
                <a:ea typeface="Calibri" panose="020F0502020204030204" pitchFamily="34" charset="0"/>
              </a:rPr>
              <a:t> de  tornillos pequeños por producir en la máquina 1 </a:t>
            </a:r>
          </a:p>
          <a:p>
            <a:pPr algn="just"/>
            <a:r>
              <a:rPr lang="es-ES" sz="2000" dirty="0" err="1">
                <a:latin typeface="Arial Narrow" panose="020B0606020202030204" pitchFamily="34" charset="0"/>
                <a:ea typeface="Calibri" panose="020F0502020204030204" pitchFamily="34" charset="0"/>
              </a:rPr>
              <a:t>S2</a:t>
            </a:r>
            <a:r>
              <a:rPr lang="es-ES" sz="2000" dirty="0">
                <a:latin typeface="Arial Narrow" panose="020B0606020202030204" pitchFamily="34" charset="0"/>
                <a:ea typeface="Calibri" panose="020F0502020204030204" pitchFamily="34" charset="0"/>
              </a:rPr>
              <a:t> =</a:t>
            </a:r>
            <a:r>
              <a:rPr lang="es-ES" sz="2000" dirty="0" err="1">
                <a:latin typeface="Arial Narrow" panose="020B0606020202030204" pitchFamily="34" charset="0"/>
                <a:ea typeface="Calibri" panose="020F0502020204030204" pitchFamily="34" charset="0"/>
              </a:rPr>
              <a:t>N°</a:t>
            </a:r>
            <a:r>
              <a:rPr lang="es-ES" sz="2000" dirty="0">
                <a:latin typeface="Arial Narrow" panose="020B0606020202030204" pitchFamily="34" charset="0"/>
                <a:ea typeface="Calibri" panose="020F0502020204030204" pitchFamily="34" charset="0"/>
              </a:rPr>
              <a:t> de tornillos pequeños por producir en la máquina 2 </a:t>
            </a:r>
          </a:p>
          <a:p>
            <a:pPr algn="just"/>
            <a:r>
              <a:rPr lang="es-ES" sz="2000" dirty="0" err="1">
                <a:latin typeface="Arial Narrow" panose="020B0606020202030204" pitchFamily="34" charset="0"/>
                <a:ea typeface="Calibri" panose="020F0502020204030204" pitchFamily="34" charset="0"/>
              </a:rPr>
              <a:t>L1</a:t>
            </a:r>
            <a:r>
              <a:rPr lang="es-ES" sz="2000" dirty="0">
                <a:latin typeface="Arial Narrow" panose="020B0606020202030204" pitchFamily="34" charset="0"/>
                <a:ea typeface="Calibri" panose="020F0502020204030204" pitchFamily="34" charset="0"/>
              </a:rPr>
              <a:t> =</a:t>
            </a:r>
            <a:r>
              <a:rPr lang="es-ES" sz="2000" dirty="0" err="1">
                <a:latin typeface="Arial Narrow" panose="020B0606020202030204" pitchFamily="34" charset="0"/>
                <a:ea typeface="Calibri" panose="020F0502020204030204" pitchFamily="34" charset="0"/>
              </a:rPr>
              <a:t>N°</a:t>
            </a:r>
            <a:r>
              <a:rPr lang="es-ES" sz="2000" dirty="0">
                <a:latin typeface="Arial Narrow" panose="020B0606020202030204" pitchFamily="34" charset="0"/>
                <a:ea typeface="Calibri" panose="020F0502020204030204" pitchFamily="34" charset="0"/>
              </a:rPr>
              <a:t> de tornillos grandes por producir en la máquina 1 </a:t>
            </a:r>
          </a:p>
          <a:p>
            <a:pPr algn="just"/>
            <a:r>
              <a:rPr lang="es-ES" sz="2000" dirty="0" err="1">
                <a:latin typeface="Arial Narrow" panose="020B0606020202030204" pitchFamily="34" charset="0"/>
                <a:ea typeface="Calibri" panose="020F0502020204030204" pitchFamily="34" charset="0"/>
              </a:rPr>
              <a:t>L2</a:t>
            </a:r>
            <a:r>
              <a:rPr lang="es-ES" sz="2000" dirty="0">
                <a:latin typeface="Arial Narrow" panose="020B0606020202030204" pitchFamily="34" charset="0"/>
                <a:ea typeface="Calibri" panose="020F0502020204030204" pitchFamily="34" charset="0"/>
              </a:rPr>
              <a:t> =</a:t>
            </a:r>
            <a:r>
              <a:rPr lang="es-ES" sz="2000" dirty="0" err="1">
                <a:latin typeface="Arial Narrow" panose="020B0606020202030204" pitchFamily="34" charset="0"/>
                <a:ea typeface="Calibri" panose="020F0502020204030204" pitchFamily="34" charset="0"/>
              </a:rPr>
              <a:t>N°</a:t>
            </a:r>
            <a:r>
              <a:rPr lang="es-ES" sz="2000" dirty="0">
                <a:latin typeface="Arial Narrow" panose="020B0606020202030204" pitchFamily="34" charset="0"/>
                <a:ea typeface="Calibri" panose="020F0502020204030204" pitchFamily="34" charset="0"/>
              </a:rPr>
              <a:t> de tornillos grandes por producir en la máquina 2 </a:t>
            </a:r>
          </a:p>
          <a:p>
            <a:pPr algn="just"/>
            <a:r>
              <a:rPr lang="es-ES" sz="2000" dirty="0">
                <a:latin typeface="Arial Narrow" panose="020B0606020202030204" pitchFamily="34" charset="0"/>
                <a:ea typeface="Calibri" panose="020F0502020204030204" pitchFamily="34" charset="0"/>
              </a:rPr>
              <a:t>Se pide:</a:t>
            </a: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Times New Roman" panose="02020603050405020304" pitchFamily="18" charset="0"/>
              <a:buAutoNum type="alphaUcParenR"/>
            </a:pPr>
            <a:r>
              <a:rPr lang="es-ES" sz="2000" dirty="0">
                <a:latin typeface="Arial Narrow" panose="020B0606020202030204" pitchFamily="34" charset="0"/>
                <a:ea typeface="Calibri" panose="020F0502020204030204" pitchFamily="34" charset="0"/>
              </a:rPr>
              <a:t>El modelo para maximizar la ganancia y satisfacer la demanda con la disponibilidad limitada de tiempo de máquina en las siguientes 4 semanas.</a:t>
            </a: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Times New Roman" panose="02020603050405020304" pitchFamily="18" charset="0"/>
              <a:buAutoNum type="alphaUcParenR"/>
            </a:pPr>
            <a:r>
              <a:rPr lang="es-ES" sz="2000" dirty="0">
                <a:latin typeface="Arial Narrow" panose="020B0606020202030204" pitchFamily="34" charset="0"/>
                <a:ea typeface="Calibri" panose="020F0502020204030204" pitchFamily="34" charset="0"/>
              </a:rPr>
              <a:t>Resolver el modelo</a:t>
            </a: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Times New Roman" panose="02020603050405020304" pitchFamily="18" charset="0"/>
              <a:buAutoNum type="alphaUcParenR"/>
            </a:pPr>
            <a:r>
              <a:rPr lang="es-ES" sz="2000" dirty="0">
                <a:latin typeface="Arial Narrow" panose="020B0606020202030204" pitchFamily="34" charset="0"/>
                <a:ea typeface="Calibri" panose="020F0502020204030204" pitchFamily="34" charset="0"/>
              </a:rPr>
              <a:t>Realizar el análisis de sensibilidad del lado derecho de las restricciones de demanda</a:t>
            </a:r>
            <a:endParaRPr lang="es-ES" sz="2000" dirty="0">
              <a:effectLst/>
              <a:latin typeface="Arial Narrow" panose="020B0606020202030204" pitchFamily="34" charset="0"/>
              <a:ea typeface="Calibri" panose="020F0502020204030204" pitchFamily="34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ADBC580D-680C-468C-B8B1-03B981F53640}"/>
              </a:ext>
            </a:extLst>
          </p:cNvPr>
          <p:cNvSpPr txBox="1">
            <a:spLocks noChangeArrowheads="1"/>
          </p:cNvSpPr>
          <p:nvPr/>
        </p:nvSpPr>
        <p:spPr>
          <a:xfrm>
            <a:off x="6096000" y="274634"/>
            <a:ext cx="6096000" cy="5818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fontAlgn="base">
              <a:spcAft>
                <a:spcPct val="0"/>
              </a:spcAft>
            </a:pPr>
            <a:r>
              <a:rPr lang="es-ES" sz="3200" dirty="0">
                <a:solidFill>
                  <a:schemeClr val="bg1"/>
                </a:solidFill>
                <a:latin typeface="Bauhaus 93" pitchFamily="82" charset="0"/>
                <a:ea typeface="+mn-ea"/>
                <a:cs typeface="+mn-cs"/>
              </a:rPr>
              <a:t>Problema 4</a:t>
            </a:r>
          </a:p>
        </p:txBody>
      </p:sp>
    </p:spTree>
    <p:extLst>
      <p:ext uri="{BB962C8B-B14F-4D97-AF65-F5344CB8AC3E}">
        <p14:creationId xmlns:p14="http://schemas.microsoft.com/office/powerpoint/2010/main" val="280981127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95296E19-B80F-447D-8E2A-41F60B9B6EA5}"/>
              </a:ext>
            </a:extLst>
          </p:cNvPr>
          <p:cNvSpPr/>
          <p:nvPr/>
        </p:nvSpPr>
        <p:spPr>
          <a:xfrm>
            <a:off x="446690" y="1817316"/>
            <a:ext cx="5479657" cy="3729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2000" dirty="0" err="1">
                <a:latin typeface="Arial" panose="020B0604020202020204" pitchFamily="34" charset="0"/>
                <a:ea typeface="Calibri" panose="020F0502020204030204" pitchFamily="34" charset="0"/>
              </a:rPr>
              <a:t>SOLUCIÓN</a:t>
            </a:r>
            <a:r>
              <a:rPr lang="pt-BR" sz="2000" dirty="0"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  <a:endParaRPr lang="pt-BR" sz="20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pt-BR" sz="2000" dirty="0">
                <a:latin typeface="Arial" panose="020B0604020202020204" pitchFamily="34" charset="0"/>
                <a:ea typeface="Calibri" panose="020F0502020204030204" pitchFamily="34" charset="0"/>
              </a:rPr>
              <a:t>MAX </a:t>
            </a:r>
            <a:r>
              <a:rPr lang="pt-BR" sz="2000" dirty="0" err="1">
                <a:latin typeface="Arial" panose="020B0604020202020204" pitchFamily="34" charset="0"/>
                <a:ea typeface="Calibri" panose="020F0502020204030204" pitchFamily="34" charset="0"/>
              </a:rPr>
              <a:t>21,25S1</a:t>
            </a:r>
            <a:r>
              <a:rPr lang="pt-BR" sz="2000" dirty="0">
                <a:latin typeface="Arial" panose="020B0604020202020204" pitchFamily="34" charset="0"/>
                <a:ea typeface="Calibri" panose="020F0502020204030204" pitchFamily="34" charset="0"/>
              </a:rPr>
              <a:t> + </a:t>
            </a:r>
            <a:r>
              <a:rPr lang="pt-BR" sz="2000" dirty="0" err="1">
                <a:latin typeface="Arial" panose="020B0604020202020204" pitchFamily="34" charset="0"/>
                <a:ea typeface="Calibri" panose="020F0502020204030204" pitchFamily="34" charset="0"/>
              </a:rPr>
              <a:t>19,50S2</a:t>
            </a:r>
            <a:r>
              <a:rPr lang="pt-BR" sz="2000" dirty="0">
                <a:latin typeface="Arial" panose="020B0604020202020204" pitchFamily="34" charset="0"/>
                <a:ea typeface="Calibri" panose="020F0502020204030204" pitchFamily="34" charset="0"/>
              </a:rPr>
              <a:t> + </a:t>
            </a:r>
            <a:r>
              <a:rPr lang="pt-BR" sz="2000" dirty="0" err="1">
                <a:latin typeface="Arial" panose="020B0604020202020204" pitchFamily="34" charset="0"/>
                <a:ea typeface="Calibri" panose="020F0502020204030204" pitchFamily="34" charset="0"/>
              </a:rPr>
              <a:t>24,75L1</a:t>
            </a:r>
            <a:r>
              <a:rPr lang="pt-BR" sz="2000" dirty="0">
                <a:latin typeface="Arial" panose="020B0604020202020204" pitchFamily="34" charset="0"/>
                <a:ea typeface="Calibri" panose="020F0502020204030204" pitchFamily="34" charset="0"/>
              </a:rPr>
              <a:t> + </a:t>
            </a:r>
            <a:r>
              <a:rPr lang="pt-BR" sz="2000" dirty="0" err="1">
                <a:latin typeface="Arial" panose="020B0604020202020204" pitchFamily="34" charset="0"/>
                <a:ea typeface="Calibri" panose="020F0502020204030204" pitchFamily="34" charset="0"/>
              </a:rPr>
              <a:t>23,25L2</a:t>
            </a:r>
            <a:endParaRPr lang="pt-BR" sz="20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pt-BR" sz="2000" dirty="0">
                <a:latin typeface="Arial" panose="020B0604020202020204" pitchFamily="34" charset="0"/>
                <a:ea typeface="Calibri" panose="020F0502020204030204" pitchFamily="34" charset="0"/>
              </a:rPr>
              <a:t>Condicionado por:</a:t>
            </a:r>
            <a:endParaRPr lang="pt-BR" sz="20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pt-BR" sz="2000" dirty="0" err="1">
                <a:latin typeface="Arial" panose="020B0604020202020204" pitchFamily="34" charset="0"/>
                <a:ea typeface="Calibri" panose="020F0502020204030204" pitchFamily="34" charset="0"/>
              </a:rPr>
              <a:t>S1</a:t>
            </a:r>
            <a:r>
              <a:rPr lang="pt-BR" sz="2000" dirty="0">
                <a:latin typeface="Arial" panose="020B0604020202020204" pitchFamily="34" charset="0"/>
                <a:ea typeface="Calibri" panose="020F0502020204030204" pitchFamily="34" charset="0"/>
              </a:rPr>
              <a:t> + </a:t>
            </a:r>
            <a:r>
              <a:rPr lang="pt-BR" sz="2000" dirty="0" err="1">
                <a:latin typeface="Arial" panose="020B0604020202020204" pitchFamily="34" charset="0"/>
                <a:ea typeface="Calibri" panose="020F0502020204030204" pitchFamily="34" charset="0"/>
              </a:rPr>
              <a:t>S2</a:t>
            </a:r>
            <a:r>
              <a:rPr lang="pt-BR" sz="2000" dirty="0">
                <a:latin typeface="Arial" panose="020B0604020202020204" pitchFamily="34" charset="0"/>
                <a:ea typeface="Calibri" panose="020F0502020204030204" pitchFamily="34" charset="0"/>
              </a:rPr>
              <a:t>	≥600</a:t>
            </a:r>
            <a:endParaRPr lang="pt-BR" sz="20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pt-BR" sz="2000" dirty="0" err="1">
                <a:latin typeface="Arial" panose="020B0604020202020204" pitchFamily="34" charset="0"/>
                <a:ea typeface="Calibri" panose="020F0502020204030204" pitchFamily="34" charset="0"/>
              </a:rPr>
              <a:t>L1</a:t>
            </a:r>
            <a:r>
              <a:rPr lang="pt-BR" sz="2000" dirty="0">
                <a:latin typeface="Arial" panose="020B0604020202020204" pitchFamily="34" charset="0"/>
                <a:ea typeface="Calibri" panose="020F0502020204030204" pitchFamily="34" charset="0"/>
              </a:rPr>
              <a:t> + </a:t>
            </a:r>
            <a:r>
              <a:rPr lang="pt-BR" sz="2000" dirty="0" err="1">
                <a:latin typeface="Arial" panose="020B0604020202020204" pitchFamily="34" charset="0"/>
                <a:ea typeface="Calibri" panose="020F0502020204030204" pitchFamily="34" charset="0"/>
              </a:rPr>
              <a:t>L2</a:t>
            </a:r>
            <a:r>
              <a:rPr lang="pt-BR" sz="2000" dirty="0">
                <a:latin typeface="Arial" panose="020B0604020202020204" pitchFamily="34" charset="0"/>
                <a:ea typeface="Calibri" panose="020F0502020204030204" pitchFamily="34" charset="0"/>
              </a:rPr>
              <a:t>	≥400</a:t>
            </a:r>
            <a:endParaRPr lang="pt-BR" sz="20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pt-BR" sz="2000" dirty="0" err="1">
                <a:latin typeface="Arial" panose="020B0604020202020204" pitchFamily="34" charset="0"/>
                <a:ea typeface="Calibri" panose="020F0502020204030204" pitchFamily="34" charset="0"/>
              </a:rPr>
              <a:t>0,0041667S1</a:t>
            </a:r>
            <a:r>
              <a:rPr lang="pt-BR" sz="2000" dirty="0">
                <a:latin typeface="Arial" panose="020B0604020202020204" pitchFamily="34" charset="0"/>
                <a:ea typeface="Calibri" panose="020F0502020204030204" pitchFamily="34" charset="0"/>
              </a:rPr>
              <a:t> + </a:t>
            </a:r>
            <a:r>
              <a:rPr lang="pt-BR" sz="2000" dirty="0" err="1">
                <a:latin typeface="Arial" panose="020B0604020202020204" pitchFamily="34" charset="0"/>
                <a:ea typeface="Calibri" panose="020F0502020204030204" pitchFamily="34" charset="0"/>
              </a:rPr>
              <a:t>0,007290L1</a:t>
            </a:r>
            <a:r>
              <a:rPr lang="pt-BR" sz="2000" dirty="0">
                <a:latin typeface="Arial" panose="020B0604020202020204" pitchFamily="34" charset="0"/>
                <a:ea typeface="Calibri" panose="020F0502020204030204" pitchFamily="34" charset="0"/>
              </a:rPr>
              <a:t>	≤160</a:t>
            </a:r>
            <a:endParaRPr lang="pt-BR" sz="20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pt-BR" sz="2000" dirty="0" err="1">
                <a:latin typeface="Arial" panose="020B0604020202020204" pitchFamily="34" charset="0"/>
                <a:ea typeface="Calibri" panose="020F0502020204030204" pitchFamily="34" charset="0"/>
              </a:rPr>
              <a:t>0,002777S2</a:t>
            </a:r>
            <a:r>
              <a:rPr lang="pt-BR" sz="2000" dirty="0">
                <a:latin typeface="Arial" panose="020B0604020202020204" pitchFamily="34" charset="0"/>
                <a:ea typeface="Calibri" panose="020F0502020204030204" pitchFamily="34" charset="0"/>
              </a:rPr>
              <a:t> + </a:t>
            </a:r>
            <a:r>
              <a:rPr lang="pt-BR" sz="2000" dirty="0" err="1">
                <a:latin typeface="Arial" panose="020B0604020202020204" pitchFamily="34" charset="0"/>
                <a:ea typeface="Calibri" panose="020F0502020204030204" pitchFamily="34" charset="0"/>
              </a:rPr>
              <a:t>0,005208L2</a:t>
            </a:r>
            <a:r>
              <a:rPr lang="pt-BR" sz="2000" dirty="0">
                <a:latin typeface="Arial" panose="020B0604020202020204" pitchFamily="34" charset="0"/>
                <a:ea typeface="Calibri" panose="020F0502020204030204" pitchFamily="34" charset="0"/>
              </a:rPr>
              <a:t>	≤160</a:t>
            </a:r>
            <a:endParaRPr lang="pt-BR" sz="20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pt-BR" sz="2000" dirty="0" err="1">
                <a:latin typeface="Arial" panose="020B0604020202020204" pitchFamily="34" charset="0"/>
                <a:ea typeface="Calibri" panose="020F0502020204030204" pitchFamily="34" charset="0"/>
              </a:rPr>
              <a:t>S1,S2,L1,L2</a:t>
            </a:r>
            <a:r>
              <a:rPr lang="pt-BR" sz="2000" dirty="0">
                <a:latin typeface="Arial" panose="020B0604020202020204" pitchFamily="34" charset="0"/>
                <a:ea typeface="Calibri" panose="020F0502020204030204" pitchFamily="34" charset="0"/>
              </a:rPr>
              <a:t>	≥0, </a:t>
            </a:r>
            <a:r>
              <a:rPr lang="pt-BR" sz="2000" dirty="0" err="1">
                <a:latin typeface="Arial" panose="020B0604020202020204" pitchFamily="34" charset="0"/>
                <a:ea typeface="Calibri" panose="020F0502020204030204" pitchFamily="34" charset="0"/>
              </a:rPr>
              <a:t>entero</a:t>
            </a:r>
            <a:endParaRPr lang="pt-BR" sz="20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A8F3B670-944E-4555-A9FE-AAC105F6D789}"/>
              </a:ext>
            </a:extLst>
          </p:cNvPr>
          <p:cNvSpPr/>
          <p:nvPr/>
        </p:nvSpPr>
        <p:spPr>
          <a:xfrm>
            <a:off x="6437586" y="1899857"/>
            <a:ext cx="5355021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PE" dirty="0"/>
              <a:t> </a:t>
            </a:r>
            <a:r>
              <a:rPr lang="es-PE" dirty="0" err="1"/>
              <a:t>OBJECTIVE</a:t>
            </a:r>
            <a:r>
              <a:rPr lang="es-PE" dirty="0"/>
              <a:t> </a:t>
            </a:r>
            <a:r>
              <a:rPr lang="es-PE" dirty="0" err="1"/>
              <a:t>FUNCTION</a:t>
            </a:r>
            <a:r>
              <a:rPr lang="es-PE" dirty="0"/>
              <a:t> </a:t>
            </a:r>
            <a:r>
              <a:rPr lang="es-PE" dirty="0" err="1"/>
              <a:t>VALUE</a:t>
            </a:r>
            <a:endParaRPr lang="es-PE" dirty="0"/>
          </a:p>
          <a:p>
            <a:endParaRPr lang="es-PE" dirty="0"/>
          </a:p>
          <a:p>
            <a:r>
              <a:rPr lang="es-PE" dirty="0"/>
              <a:t>        1)      1934528.</a:t>
            </a:r>
          </a:p>
          <a:p>
            <a:endParaRPr lang="es-PE" dirty="0"/>
          </a:p>
          <a:p>
            <a:r>
              <a:rPr lang="es-PE" dirty="0"/>
              <a:t>  VARIABLE        </a:t>
            </a:r>
            <a:r>
              <a:rPr lang="es-PE" dirty="0" err="1"/>
              <a:t>VALUE</a:t>
            </a:r>
            <a:r>
              <a:rPr lang="es-PE" dirty="0"/>
              <a:t>          </a:t>
            </a:r>
            <a:r>
              <a:rPr lang="es-PE" dirty="0" err="1"/>
              <a:t>REDUCED</a:t>
            </a:r>
            <a:r>
              <a:rPr lang="es-PE" dirty="0"/>
              <a:t> </a:t>
            </a:r>
            <a:r>
              <a:rPr lang="es-PE" dirty="0" err="1"/>
              <a:t>COST</a:t>
            </a:r>
            <a:endParaRPr lang="es-PE" dirty="0"/>
          </a:p>
          <a:p>
            <a:r>
              <a:rPr lang="es-PE" dirty="0"/>
              <a:t>        </a:t>
            </a:r>
            <a:r>
              <a:rPr lang="es-PE" dirty="0" err="1"/>
              <a:t>S1</a:t>
            </a:r>
            <a:r>
              <a:rPr lang="es-PE" dirty="0"/>
              <a:t>     37712.000000        -21.250000</a:t>
            </a:r>
          </a:p>
          <a:p>
            <a:r>
              <a:rPr lang="es-PE" dirty="0"/>
              <a:t>        </a:t>
            </a:r>
            <a:r>
              <a:rPr lang="es-PE" dirty="0" err="1"/>
              <a:t>S2</a:t>
            </a:r>
            <a:r>
              <a:rPr lang="es-PE" dirty="0"/>
              <a:t>     57603.000000        -19.500000</a:t>
            </a:r>
          </a:p>
          <a:p>
            <a:r>
              <a:rPr lang="es-PE" dirty="0"/>
              <a:t>        </a:t>
            </a:r>
            <a:r>
              <a:rPr lang="es-PE" dirty="0" err="1"/>
              <a:t>L1</a:t>
            </a:r>
            <a:r>
              <a:rPr lang="es-PE" dirty="0"/>
              <a:t>       393.000000        -24.750000</a:t>
            </a:r>
          </a:p>
          <a:p>
            <a:r>
              <a:rPr lang="es-PE" dirty="0"/>
              <a:t>        </a:t>
            </a:r>
            <a:r>
              <a:rPr lang="es-PE" dirty="0" err="1"/>
              <a:t>L2</a:t>
            </a:r>
            <a:r>
              <a:rPr lang="es-PE" dirty="0"/>
              <a:t>         7.000000        -23.250000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E629E85-F8DF-46F0-A3E6-8E5DDFF6ADD7}"/>
              </a:ext>
            </a:extLst>
          </p:cNvPr>
          <p:cNvSpPr txBox="1">
            <a:spLocks noChangeArrowheads="1"/>
          </p:cNvSpPr>
          <p:nvPr/>
        </p:nvSpPr>
        <p:spPr>
          <a:xfrm>
            <a:off x="6096000" y="274634"/>
            <a:ext cx="6096000" cy="5818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fontAlgn="base">
              <a:spcAft>
                <a:spcPct val="0"/>
              </a:spcAft>
            </a:pPr>
            <a:r>
              <a:rPr lang="es-ES" sz="3200" dirty="0">
                <a:solidFill>
                  <a:schemeClr val="bg1"/>
                </a:solidFill>
                <a:latin typeface="Bauhaus 93" pitchFamily="82" charset="0"/>
                <a:ea typeface="+mn-ea"/>
                <a:cs typeface="+mn-cs"/>
              </a:rPr>
              <a:t>Problema 4</a:t>
            </a:r>
          </a:p>
        </p:txBody>
      </p:sp>
    </p:spTree>
    <p:extLst>
      <p:ext uri="{BB962C8B-B14F-4D97-AF65-F5344CB8AC3E}">
        <p14:creationId xmlns:p14="http://schemas.microsoft.com/office/powerpoint/2010/main" val="220354526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3 Marcador de contenido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3021512"/>
              </p:ext>
            </p:extLst>
          </p:nvPr>
        </p:nvGraphicFramePr>
        <p:xfrm>
          <a:off x="454152" y="1783081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Rectángulo 2"/>
          <p:cNvSpPr>
            <a:spLocks noGrp="1" noChangeArrowheads="1"/>
          </p:cNvSpPr>
          <p:nvPr>
            <p:ph type="title"/>
          </p:nvPr>
        </p:nvSpPr>
        <p:spPr>
          <a:xfrm>
            <a:off x="1563936" y="441246"/>
            <a:ext cx="8686800" cy="864096"/>
          </a:xfr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rPr lang="es-ES" altLang="es-ES" sz="2800" dirty="0">
                <a:solidFill>
                  <a:schemeClr val="bg1"/>
                </a:solidFill>
                <a:latin typeface="Bauhaus 93" pitchFamily="82" charset="0"/>
              </a:rPr>
              <a:t>CONCLUSIÓN</a:t>
            </a:r>
          </a:p>
        </p:txBody>
      </p:sp>
      <p:grpSp>
        <p:nvGrpSpPr>
          <p:cNvPr id="6" name="Grupo 5">
            <a:extLst>
              <a:ext uri="{FF2B5EF4-FFF2-40B4-BE49-F238E27FC236}">
                <a16:creationId xmlns:a16="http://schemas.microsoft.com/office/drawing/2014/main" id="{90467C98-9B85-4DCB-8801-4BD68EB53537}"/>
              </a:ext>
            </a:extLst>
          </p:cNvPr>
          <p:cNvGrpSpPr/>
          <p:nvPr/>
        </p:nvGrpSpPr>
        <p:grpSpPr>
          <a:xfrm>
            <a:off x="8176374" y="2296691"/>
            <a:ext cx="4015626" cy="1606250"/>
            <a:chOff x="4211562" y="356768"/>
            <a:chExt cx="4015626" cy="1606250"/>
          </a:xfrm>
        </p:grpSpPr>
        <p:sp>
          <p:nvSpPr>
            <p:cNvPr id="7" name="Flecha: cheurón 6">
              <a:extLst>
                <a:ext uri="{FF2B5EF4-FFF2-40B4-BE49-F238E27FC236}">
                  <a16:creationId xmlns:a16="http://schemas.microsoft.com/office/drawing/2014/main" id="{D34BF2D7-36D3-41F1-90A1-2D38633939A1}"/>
                </a:ext>
              </a:extLst>
            </p:cNvPr>
            <p:cNvSpPr/>
            <p:nvPr/>
          </p:nvSpPr>
          <p:spPr>
            <a:xfrm>
              <a:off x="4211562" y="356768"/>
              <a:ext cx="4015626" cy="1606250"/>
            </a:xfrm>
            <a:prstGeom prst="chevron">
              <a:avLst/>
            </a:prstGeom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s-PE"/>
            </a:p>
          </p:txBody>
        </p:sp>
        <p:sp>
          <p:nvSpPr>
            <p:cNvPr id="8" name="Flecha: cheurón 4">
              <a:extLst>
                <a:ext uri="{FF2B5EF4-FFF2-40B4-BE49-F238E27FC236}">
                  <a16:creationId xmlns:a16="http://schemas.microsoft.com/office/drawing/2014/main" id="{62A8EE29-DD43-42C7-8E21-73C71EEFA360}"/>
                </a:ext>
              </a:extLst>
            </p:cNvPr>
            <p:cNvSpPr txBox="1"/>
            <p:nvPr/>
          </p:nvSpPr>
          <p:spPr>
            <a:xfrm>
              <a:off x="5014687" y="356768"/>
              <a:ext cx="2409376" cy="160625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54610" tIns="27305" rIns="0" bIns="27305" numCol="1" spcCol="1270" anchor="ctr" anchorCtr="0">
              <a:noAutofit/>
            </a:bodyPr>
            <a:lstStyle/>
            <a:p>
              <a:pPr marL="0" lvl="0" indent="0" algn="ctr" defTabSz="191135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ES" sz="2800" kern="1200" dirty="0"/>
                <a:t>Sigue igual</a:t>
              </a:r>
            </a:p>
            <a:p>
              <a:pPr marL="0" lvl="0" indent="0" algn="ctr" defTabSz="191135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ES" sz="2800" dirty="0"/>
                <a:t>Cambia</a:t>
              </a:r>
              <a:endParaRPr lang="es-PE" sz="2800" kern="1200" dirty="0"/>
            </a:p>
          </p:txBody>
        </p:sp>
      </p:grpSp>
      <p:grpSp>
        <p:nvGrpSpPr>
          <p:cNvPr id="9" name="Grupo 8">
            <a:extLst>
              <a:ext uri="{FF2B5EF4-FFF2-40B4-BE49-F238E27FC236}">
                <a16:creationId xmlns:a16="http://schemas.microsoft.com/office/drawing/2014/main" id="{6555F3A7-26F3-4600-B0B1-0F9E50620E95}"/>
              </a:ext>
            </a:extLst>
          </p:cNvPr>
          <p:cNvGrpSpPr/>
          <p:nvPr/>
        </p:nvGrpSpPr>
        <p:grpSpPr>
          <a:xfrm>
            <a:off x="8176374" y="4177307"/>
            <a:ext cx="4015626" cy="1606250"/>
            <a:chOff x="4211562" y="356768"/>
            <a:chExt cx="4015626" cy="1606250"/>
          </a:xfrm>
        </p:grpSpPr>
        <p:sp>
          <p:nvSpPr>
            <p:cNvPr id="10" name="Flecha: cheurón 9">
              <a:extLst>
                <a:ext uri="{FF2B5EF4-FFF2-40B4-BE49-F238E27FC236}">
                  <a16:creationId xmlns:a16="http://schemas.microsoft.com/office/drawing/2014/main" id="{2988941A-92AD-4163-8276-FD569240D4A2}"/>
                </a:ext>
              </a:extLst>
            </p:cNvPr>
            <p:cNvSpPr/>
            <p:nvPr/>
          </p:nvSpPr>
          <p:spPr>
            <a:xfrm>
              <a:off x="4211562" y="356768"/>
              <a:ext cx="4015626" cy="1606250"/>
            </a:xfrm>
            <a:prstGeom prst="chevron">
              <a:avLst/>
            </a:prstGeom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s-PE"/>
            </a:p>
          </p:txBody>
        </p:sp>
        <p:sp>
          <p:nvSpPr>
            <p:cNvPr id="11" name="Flecha: cheurón 4">
              <a:extLst>
                <a:ext uri="{FF2B5EF4-FFF2-40B4-BE49-F238E27FC236}">
                  <a16:creationId xmlns:a16="http://schemas.microsoft.com/office/drawing/2014/main" id="{AD7BD0D5-1C28-4B71-AF47-443EE4A66453}"/>
                </a:ext>
              </a:extLst>
            </p:cNvPr>
            <p:cNvSpPr txBox="1"/>
            <p:nvPr/>
          </p:nvSpPr>
          <p:spPr>
            <a:xfrm>
              <a:off x="5014687" y="356768"/>
              <a:ext cx="2409376" cy="160625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54610" tIns="27305" rIns="0" bIns="27305" numCol="1" spcCol="1270" anchor="ctr" anchorCtr="0">
              <a:noAutofit/>
            </a:bodyPr>
            <a:lstStyle/>
            <a:p>
              <a:pPr marL="0" lvl="0" indent="0" algn="ctr" defTabSz="191135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ES" sz="2800" kern="1200" dirty="0"/>
                <a:t>Aumenta</a:t>
              </a:r>
            </a:p>
            <a:p>
              <a:pPr marL="0" lvl="0" indent="0" algn="ctr" defTabSz="191135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ES" sz="2800" dirty="0"/>
                <a:t>Disminuye</a:t>
              </a:r>
              <a:endParaRPr lang="es-PE" sz="2800" kern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377226531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3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39</a:t>
            </a:fld>
            <a:endParaRPr dirty="0"/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2049501" y="2276872"/>
            <a:ext cx="7920880" cy="1220754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  <p:txBody>
          <a:bodyPr spcFirstLastPara="1"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 i="0" u="none" strike="noStrike" cap="none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 i="0" u="none" strike="noStrike" cap="none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 i="0" u="none" strike="noStrike" cap="none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 i="0" u="none" strike="noStrike" cap="none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 i="0" u="none" strike="noStrike" cap="none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 i="0" u="none" strike="noStrike" cap="none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 i="0" u="none" strike="noStrike" cap="none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 i="0" u="none" strike="noStrike" cap="none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 i="0" u="none" strike="noStrike" cap="none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>
            <a:pPr marL="87313" indent="-87313" algn="ctr"/>
            <a:r>
              <a:rPr lang="es-ES" sz="2800" b="0" dirty="0">
                <a:solidFill>
                  <a:srgbClr val="700000"/>
                </a:solidFill>
                <a:latin typeface="+mn-lt"/>
                <a:ea typeface="+mn-ea"/>
                <a:cs typeface="+mn-cs"/>
              </a:rPr>
              <a:t>Donde quiera que usted vea un negocio exitoso, alguien ha tomado una decisión valiente</a:t>
            </a:r>
            <a:r>
              <a:rPr lang="es-ES" sz="2400" b="0" dirty="0">
                <a:solidFill>
                  <a:srgbClr val="700000"/>
                </a:solidFill>
                <a:latin typeface="+mn-lt"/>
                <a:ea typeface="+mn-ea"/>
                <a:cs typeface="+mn-cs"/>
              </a:rPr>
              <a:t>.</a:t>
            </a:r>
            <a:br>
              <a:rPr lang="es-ES" sz="2400" b="0" dirty="0">
                <a:solidFill>
                  <a:srgbClr val="700000"/>
                </a:solidFill>
                <a:latin typeface="+mn-lt"/>
                <a:ea typeface="+mn-ea"/>
                <a:cs typeface="+mn-cs"/>
              </a:rPr>
            </a:br>
            <a:endParaRPr lang="es-PE" sz="2400" b="0" dirty="0">
              <a:solidFill>
                <a:srgbClr val="7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6096000" y="92279"/>
            <a:ext cx="6096000" cy="8724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3200" i="1">
                <a:solidFill>
                  <a:schemeClr val="accent5">
                    <a:lumMod val="20000"/>
                    <a:lumOff val="80000"/>
                  </a:schemeClr>
                </a:solidFill>
                <a:latin typeface="Bauhaus 93" pitchFamily="82" charset="0"/>
              </a:defRPr>
            </a:lvl1pPr>
            <a:lvl2pPr algn="r" eaLnBrk="1" hangingPunct="1">
              <a:defRPr sz="2800" i="1">
                <a:latin typeface="Verdana" pitchFamily="34" charset="0"/>
              </a:defRPr>
            </a:lvl2pPr>
            <a:lvl3pPr algn="r" eaLnBrk="1" hangingPunct="1">
              <a:defRPr sz="2800" i="1">
                <a:latin typeface="Verdana" pitchFamily="34" charset="0"/>
              </a:defRPr>
            </a:lvl3pPr>
            <a:lvl4pPr algn="r" eaLnBrk="1" hangingPunct="1">
              <a:defRPr sz="2800" i="1">
                <a:latin typeface="Verdana" pitchFamily="34" charset="0"/>
              </a:defRPr>
            </a:lvl4pPr>
            <a:lvl5pPr algn="r" eaLnBrk="1" hangingPunct="1">
              <a:defRPr sz="2800" i="1">
                <a:latin typeface="Verdana" pitchFamily="34" charset="0"/>
              </a:defRPr>
            </a:lvl5pPr>
            <a:lvl6pPr marL="457200" algn="r" fontAlgn="base">
              <a:spcBef>
                <a:spcPct val="0"/>
              </a:spcBef>
              <a:spcAft>
                <a:spcPct val="0"/>
              </a:spcAft>
              <a:defRPr sz="2800" i="1">
                <a:latin typeface="Verdana" pitchFamily="34" charset="0"/>
              </a:defRPr>
            </a:lvl6pPr>
            <a:lvl7pPr marL="914400" algn="r" fontAlgn="base">
              <a:spcBef>
                <a:spcPct val="0"/>
              </a:spcBef>
              <a:spcAft>
                <a:spcPct val="0"/>
              </a:spcAft>
              <a:defRPr sz="2800" i="1">
                <a:latin typeface="Verdana" pitchFamily="34" charset="0"/>
              </a:defRPr>
            </a:lvl7pPr>
            <a:lvl8pPr marL="1371600" algn="r" fontAlgn="base">
              <a:spcBef>
                <a:spcPct val="0"/>
              </a:spcBef>
              <a:spcAft>
                <a:spcPct val="0"/>
              </a:spcAft>
              <a:defRPr sz="2800" i="1">
                <a:latin typeface="Verdana" pitchFamily="34" charset="0"/>
              </a:defRPr>
            </a:lvl8pPr>
            <a:lvl9pPr marL="1828800" algn="r" fontAlgn="base">
              <a:spcBef>
                <a:spcPct val="0"/>
              </a:spcBef>
              <a:spcAft>
                <a:spcPct val="0"/>
              </a:spcAft>
              <a:defRPr sz="2800" i="1">
                <a:latin typeface="Verdana" pitchFamily="34" charset="0"/>
              </a:defRPr>
            </a:lvl9pPr>
          </a:lstStyle>
          <a:p>
            <a:r>
              <a:rPr lang="es-MX" dirty="0">
                <a:solidFill>
                  <a:srgbClr val="FFFF00"/>
                </a:solidFill>
              </a:rPr>
              <a:t>Seamos dueños de nuestro propio destino</a:t>
            </a:r>
            <a:endParaRPr lang="es-ES" i="0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345A401-5395-4861-90CC-1389B0CFAC65}"/>
              </a:ext>
            </a:extLst>
          </p:cNvPr>
          <p:cNvSpPr/>
          <p:nvPr/>
        </p:nvSpPr>
        <p:spPr>
          <a:xfrm>
            <a:off x="4958093" y="4125017"/>
            <a:ext cx="227581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Gracias</a:t>
            </a:r>
          </a:p>
        </p:txBody>
      </p:sp>
      <p:pic>
        <p:nvPicPr>
          <p:cNvPr id="6" name="Picture 5" descr="004">
            <a:extLst>
              <a:ext uri="{FF2B5EF4-FFF2-40B4-BE49-F238E27FC236}">
                <a16:creationId xmlns:a16="http://schemas.microsoft.com/office/drawing/2014/main" id="{10E9D79D-8D69-43FB-8635-4B0D7576B5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5506" y="3733101"/>
            <a:ext cx="2095281" cy="2793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24822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68" decel="100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" dur="768" decel="100000"/>
                                        <p:tgtEl>
                                          <p:spTgt spid="4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9" dur="1230" accel="100000" fill="hold">
                                          <p:stCondLst>
                                            <p:cond delay="7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10" dur="768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11" dur="1230" accel="100000" fill="hold">
                                          <p:stCondLst>
                                            <p:cond delay="7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2" dur="768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13" dur="1230" accel="100000" fill="hold">
                                          <p:stCondLst>
                                            <p:cond delay="7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Tema de Office">
  <a:themeElements>
    <a:clrScheme name="Azul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5590</TotalTime>
  <Words>4896</Words>
  <Application>Microsoft Office PowerPoint</Application>
  <PresentationFormat>Panorámica</PresentationFormat>
  <Paragraphs>796</Paragraphs>
  <Slides>39</Slides>
  <Notes>3</Notes>
  <HiddenSlides>0</HiddenSlides>
  <MMClips>0</MMClips>
  <ScaleCrop>false</ScaleCrop>
  <HeadingPairs>
    <vt:vector size="8" baseType="variant">
      <vt:variant>
        <vt:lpstr>Fuentes usadas</vt:lpstr>
      </vt:variant>
      <vt:variant>
        <vt:i4>12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0</vt:i4>
      </vt:variant>
      <vt:variant>
        <vt:lpstr>Títulos de diapositiva</vt:lpstr>
      </vt:variant>
      <vt:variant>
        <vt:i4>39</vt:i4>
      </vt:variant>
    </vt:vector>
  </HeadingPairs>
  <TitlesOfParts>
    <vt:vector size="52" baseType="lpstr">
      <vt:lpstr>Arial</vt:lpstr>
      <vt:lpstr>Arial Black</vt:lpstr>
      <vt:lpstr>Arial Narrow</vt:lpstr>
      <vt:lpstr>Bauhaus 93</vt:lpstr>
      <vt:lpstr>Bodoni MT Black</vt:lpstr>
      <vt:lpstr>Calibri</vt:lpstr>
      <vt:lpstr>Calibri Light</vt:lpstr>
      <vt:lpstr>Cambria Math</vt:lpstr>
      <vt:lpstr>Lexend Deca</vt:lpstr>
      <vt:lpstr>Signika</vt:lpstr>
      <vt:lpstr>Symbol</vt:lpstr>
      <vt:lpstr>Times New Roman</vt:lpstr>
      <vt:lpstr>Tema de Office</vt:lpstr>
      <vt:lpstr>Presentación de PowerPoint</vt:lpstr>
      <vt:lpstr>ANÁLISIS DE SENSIBILIDAD</vt:lpstr>
      <vt:lpstr>Orientaciones</vt:lpstr>
      <vt:lpstr>Contenido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CONCLUSIÓN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ANIVAL ALFREDO TORRE CAMONES</dc:creator>
  <cp:lastModifiedBy>ANIVAL ALFREDO TORRE CAMONES</cp:lastModifiedBy>
  <cp:revision>300</cp:revision>
  <dcterms:created xsi:type="dcterms:W3CDTF">2021-09-08T13:14:39Z</dcterms:created>
  <dcterms:modified xsi:type="dcterms:W3CDTF">2026-08-16T17:21:30Z</dcterms:modified>
</cp:coreProperties>
</file>
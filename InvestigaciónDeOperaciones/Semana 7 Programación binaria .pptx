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481" r:id="rId2"/>
    <p:sldId id="398" r:id="rId3"/>
    <p:sldId id="304" r:id="rId4"/>
    <p:sldId id="329" r:id="rId5"/>
    <p:sldId id="350" r:id="rId6"/>
    <p:sldId id="352" r:id="rId7"/>
    <p:sldId id="385" r:id="rId8"/>
    <p:sldId id="313" r:id="rId9"/>
    <p:sldId id="410" r:id="rId10"/>
    <p:sldId id="411" r:id="rId11"/>
    <p:sldId id="412" r:id="rId12"/>
    <p:sldId id="413" r:id="rId13"/>
    <p:sldId id="326" r:id="rId14"/>
    <p:sldId id="414" r:id="rId15"/>
    <p:sldId id="409" r:id="rId16"/>
    <p:sldId id="397" r:id="rId17"/>
    <p:sldId id="426" r:id="rId18"/>
    <p:sldId id="425" r:id="rId19"/>
    <p:sldId id="416" r:id="rId20"/>
    <p:sldId id="417" r:id="rId21"/>
    <p:sldId id="418" r:id="rId22"/>
    <p:sldId id="419" r:id="rId23"/>
    <p:sldId id="420" r:id="rId24"/>
    <p:sldId id="421" r:id="rId25"/>
    <p:sldId id="422" r:id="rId26"/>
    <p:sldId id="423" r:id="rId27"/>
    <p:sldId id="424" r:id="rId28"/>
    <p:sldId id="280" r:id="rId29"/>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8" autoAdjust="0"/>
    <p:restoredTop sz="94660"/>
  </p:normalViewPr>
  <p:slideViewPr>
    <p:cSldViewPr snapToGrid="0">
      <p:cViewPr varScale="1">
        <p:scale>
          <a:sx n="159" d="100"/>
          <a:sy n="159" d="100"/>
        </p:scale>
        <p:origin x="828" y="132"/>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45ACB6-42D4-4194-959A-3BBD355D534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F64614F2-E48D-44E6-ABB3-391D38A37BD3}">
      <dgm:prSet custT="1"/>
      <dgm:spPr/>
      <dgm:t>
        <a:bodyPr/>
        <a:lstStyle/>
        <a:p>
          <a:pPr rtl="0">
            <a:lnSpc>
              <a:spcPct val="100000"/>
            </a:lnSpc>
          </a:pPr>
          <a:r>
            <a:rPr lang="en-US" sz="2800" b="1" dirty="0">
              <a:latin typeface="Arial Narrow" pitchFamily="34" charset="0"/>
            </a:rPr>
            <a:t>1)      	3.000000</a:t>
          </a:r>
          <a:endParaRPr lang="es-ES" sz="2800" b="1" dirty="0">
            <a:latin typeface="Arial Narrow" pitchFamily="34" charset="0"/>
          </a:endParaRPr>
        </a:p>
      </dgm:t>
    </dgm:pt>
    <dgm:pt modelId="{10307FA4-14F5-43D6-8069-5AE2EAB5F092}" type="parTrans" cxnId="{4E853336-E701-4DD6-A1FE-46D6D74CF5FC}">
      <dgm:prSet/>
      <dgm:spPr/>
      <dgm:t>
        <a:bodyPr/>
        <a:lstStyle/>
        <a:p>
          <a:pPr>
            <a:lnSpc>
              <a:spcPct val="100000"/>
            </a:lnSpc>
          </a:pPr>
          <a:endParaRPr lang="es-ES" sz="2800" b="1">
            <a:latin typeface="Arial Narrow" pitchFamily="34" charset="0"/>
          </a:endParaRPr>
        </a:p>
      </dgm:t>
    </dgm:pt>
    <dgm:pt modelId="{EAD7F430-A937-4BFA-806F-7A3F15C72CFC}" type="sibTrans" cxnId="{4E853336-E701-4DD6-A1FE-46D6D74CF5FC}">
      <dgm:prSet/>
      <dgm:spPr/>
      <dgm:t>
        <a:bodyPr/>
        <a:lstStyle/>
        <a:p>
          <a:pPr>
            <a:lnSpc>
              <a:spcPct val="100000"/>
            </a:lnSpc>
          </a:pPr>
          <a:endParaRPr lang="es-ES" sz="2800" b="1">
            <a:latin typeface="Arial Narrow" pitchFamily="34" charset="0"/>
          </a:endParaRPr>
        </a:p>
      </dgm:t>
    </dgm:pt>
    <dgm:pt modelId="{BEEEF6BE-9191-498E-B466-69B29A4EE09C}">
      <dgm:prSet custT="1"/>
      <dgm:spPr/>
      <dgm:t>
        <a:bodyPr/>
        <a:lstStyle/>
        <a:p>
          <a:pPr rtl="0">
            <a:lnSpc>
              <a:spcPct val="100000"/>
            </a:lnSpc>
          </a:pPr>
          <a:r>
            <a:rPr lang="en-US" sz="2800" b="1" dirty="0">
              <a:latin typeface="Arial Narrow" pitchFamily="34" charset="0"/>
            </a:rPr>
            <a:t>VARIABLE       VALUE  REDUCED COST    </a:t>
          </a:r>
          <a:endParaRPr lang="es-ES" sz="2800" b="1" dirty="0">
            <a:latin typeface="Arial Narrow" pitchFamily="34" charset="0"/>
          </a:endParaRPr>
        </a:p>
      </dgm:t>
    </dgm:pt>
    <dgm:pt modelId="{679C6863-5FDA-4ED9-93AF-A8F49DB152BF}" type="parTrans" cxnId="{47EABD3E-2FC9-4B5B-9877-35CCC7130426}">
      <dgm:prSet/>
      <dgm:spPr/>
      <dgm:t>
        <a:bodyPr/>
        <a:lstStyle/>
        <a:p>
          <a:pPr>
            <a:lnSpc>
              <a:spcPct val="100000"/>
            </a:lnSpc>
          </a:pPr>
          <a:endParaRPr lang="es-ES" sz="2800" b="1">
            <a:latin typeface="Arial Narrow" pitchFamily="34" charset="0"/>
          </a:endParaRPr>
        </a:p>
      </dgm:t>
    </dgm:pt>
    <dgm:pt modelId="{E4A6C462-0328-4E83-A6E5-DDB0E8104F3E}" type="sibTrans" cxnId="{47EABD3E-2FC9-4B5B-9877-35CCC7130426}">
      <dgm:prSet/>
      <dgm:spPr/>
      <dgm:t>
        <a:bodyPr/>
        <a:lstStyle/>
        <a:p>
          <a:pPr>
            <a:lnSpc>
              <a:spcPct val="100000"/>
            </a:lnSpc>
          </a:pPr>
          <a:endParaRPr lang="es-ES" sz="2800" b="1">
            <a:latin typeface="Arial Narrow" pitchFamily="34" charset="0"/>
          </a:endParaRPr>
        </a:p>
      </dgm:t>
    </dgm:pt>
    <dgm:pt modelId="{B17BA4A0-3B95-4EC3-9581-83153037E29C}">
      <dgm:prSet custT="1"/>
      <dgm:spPr/>
      <dgm:t>
        <a:bodyPr/>
        <a:lstStyle/>
        <a:p>
          <a:pPr rtl="0">
            <a:lnSpc>
              <a:spcPct val="100000"/>
            </a:lnSpc>
            <a:spcAft>
              <a:spcPts val="0"/>
            </a:spcAft>
          </a:pPr>
          <a:r>
            <a:rPr lang="en-US" sz="2800" b="1" dirty="0">
              <a:latin typeface="Arial Narrow" pitchFamily="34" charset="0"/>
            </a:rPr>
            <a:t>A         	0.000000         -1.000000	</a:t>
          </a:r>
        </a:p>
        <a:p>
          <a:pPr rtl="0">
            <a:lnSpc>
              <a:spcPct val="100000"/>
            </a:lnSpc>
            <a:spcAft>
              <a:spcPts val="0"/>
            </a:spcAft>
          </a:pPr>
          <a:r>
            <a:rPr lang="en-US" sz="2800" b="1" dirty="0">
              <a:latin typeface="Arial Narrow" pitchFamily="34" charset="0"/>
            </a:rPr>
            <a:t>B         	1.000000         -1.000000</a:t>
          </a:r>
        </a:p>
        <a:p>
          <a:pPr rtl="0">
            <a:lnSpc>
              <a:spcPct val="100000"/>
            </a:lnSpc>
            <a:spcAft>
              <a:spcPts val="0"/>
            </a:spcAft>
          </a:pPr>
          <a:r>
            <a:rPr lang="en-US" sz="2800" b="1" dirty="0">
              <a:latin typeface="Arial Narrow" pitchFamily="34" charset="0"/>
            </a:rPr>
            <a:t>C     	0.000000         -1.000000   </a:t>
          </a:r>
        </a:p>
        <a:p>
          <a:pPr rtl="0">
            <a:lnSpc>
              <a:spcPct val="100000"/>
            </a:lnSpc>
            <a:spcAft>
              <a:spcPts val="0"/>
            </a:spcAft>
          </a:pPr>
          <a:r>
            <a:rPr lang="es-PE" sz="2800" b="1" dirty="0">
              <a:latin typeface="Arial Narrow" pitchFamily="34" charset="0"/>
            </a:rPr>
            <a:t>D    	1.000000         -1.000000</a:t>
          </a:r>
          <a:r>
            <a:rPr lang="en-US" sz="2800" b="1" dirty="0">
              <a:latin typeface="Arial Narrow" pitchFamily="34" charset="0"/>
            </a:rPr>
            <a:t> </a:t>
          </a:r>
        </a:p>
        <a:p>
          <a:pPr rtl="0">
            <a:lnSpc>
              <a:spcPct val="100000"/>
            </a:lnSpc>
            <a:spcAft>
              <a:spcPts val="0"/>
            </a:spcAft>
          </a:pPr>
          <a:r>
            <a:rPr lang="es-PE" sz="2800" b="1" dirty="0">
              <a:latin typeface="Arial Narrow" pitchFamily="34" charset="0"/>
            </a:rPr>
            <a:t>E 	0.000000         -1.000000      </a:t>
          </a:r>
        </a:p>
        <a:p>
          <a:pPr rtl="0">
            <a:lnSpc>
              <a:spcPct val="100000"/>
            </a:lnSpc>
            <a:spcAft>
              <a:spcPts val="0"/>
            </a:spcAft>
          </a:pPr>
          <a:r>
            <a:rPr lang="es-PE" sz="2800" b="1" dirty="0">
              <a:latin typeface="Arial Narrow" pitchFamily="34" charset="0"/>
            </a:rPr>
            <a:t>F 	0.000000         -1.000000</a:t>
          </a:r>
        </a:p>
        <a:p>
          <a:pPr rtl="0">
            <a:lnSpc>
              <a:spcPct val="100000"/>
            </a:lnSpc>
            <a:spcAft>
              <a:spcPts val="0"/>
            </a:spcAft>
          </a:pPr>
          <a:r>
            <a:rPr lang="es-PE" sz="2800" b="1" dirty="0">
              <a:latin typeface="Arial Narrow" pitchFamily="34" charset="0"/>
            </a:rPr>
            <a:t>G	0.000000         -1.000000  </a:t>
          </a:r>
        </a:p>
        <a:p>
          <a:pPr rtl="0">
            <a:lnSpc>
              <a:spcPct val="100000"/>
            </a:lnSpc>
            <a:spcAft>
              <a:spcPts val="0"/>
            </a:spcAft>
          </a:pPr>
          <a:r>
            <a:rPr lang="es-PE" sz="2800" b="1" dirty="0">
              <a:latin typeface="Arial Narrow" pitchFamily="34" charset="0"/>
            </a:rPr>
            <a:t>H        	1.000000         -1.000000         </a:t>
          </a:r>
          <a:r>
            <a:rPr lang="en-US" sz="2800" b="1" dirty="0">
              <a:latin typeface="Arial Narrow" pitchFamily="34" charset="0"/>
            </a:rPr>
            <a:t>  </a:t>
          </a:r>
          <a:endParaRPr lang="es-ES" sz="2800" b="1" dirty="0">
            <a:latin typeface="Arial Narrow" pitchFamily="34" charset="0"/>
          </a:endParaRPr>
        </a:p>
      </dgm:t>
    </dgm:pt>
    <dgm:pt modelId="{6F999661-23F9-409F-92B0-E23DE897DD7A}" type="parTrans" cxnId="{8C55A4FC-A971-4D57-8DF6-C5B3D2726FA1}">
      <dgm:prSet/>
      <dgm:spPr/>
      <dgm:t>
        <a:bodyPr/>
        <a:lstStyle/>
        <a:p>
          <a:pPr>
            <a:lnSpc>
              <a:spcPct val="100000"/>
            </a:lnSpc>
          </a:pPr>
          <a:endParaRPr lang="es-ES" sz="2800" b="1">
            <a:latin typeface="Arial Narrow" pitchFamily="34" charset="0"/>
          </a:endParaRPr>
        </a:p>
      </dgm:t>
    </dgm:pt>
    <dgm:pt modelId="{A9FBC9B1-7C8A-4F72-90A8-314719BD7D61}" type="sibTrans" cxnId="{8C55A4FC-A971-4D57-8DF6-C5B3D2726FA1}">
      <dgm:prSet/>
      <dgm:spPr/>
      <dgm:t>
        <a:bodyPr/>
        <a:lstStyle/>
        <a:p>
          <a:pPr>
            <a:lnSpc>
              <a:spcPct val="100000"/>
            </a:lnSpc>
          </a:pPr>
          <a:endParaRPr lang="es-ES" sz="2800" b="1">
            <a:latin typeface="Arial Narrow" pitchFamily="34" charset="0"/>
          </a:endParaRPr>
        </a:p>
      </dgm:t>
    </dgm:pt>
    <dgm:pt modelId="{693EF89D-76C8-4BEF-87B7-C127C408A068}">
      <dgm:prSet custT="1"/>
      <dgm:spPr/>
      <dgm:t>
        <a:bodyPr/>
        <a:lstStyle/>
        <a:p>
          <a:pPr rtl="0">
            <a:lnSpc>
              <a:spcPct val="100000"/>
            </a:lnSpc>
          </a:pPr>
          <a:endParaRPr lang="es-ES" sz="2800" b="1" dirty="0">
            <a:latin typeface="Arial Narrow" pitchFamily="34" charset="0"/>
          </a:endParaRPr>
        </a:p>
      </dgm:t>
    </dgm:pt>
    <dgm:pt modelId="{C7B9422C-3FB4-4D52-9B36-4A54351C3C9C}" type="parTrans" cxnId="{EC8DE691-3573-40DF-AFCB-1032872943C4}">
      <dgm:prSet/>
      <dgm:spPr/>
      <dgm:t>
        <a:bodyPr/>
        <a:lstStyle/>
        <a:p>
          <a:pPr>
            <a:lnSpc>
              <a:spcPct val="100000"/>
            </a:lnSpc>
          </a:pPr>
          <a:endParaRPr lang="es-ES" sz="2800" b="1">
            <a:latin typeface="Arial Narrow" pitchFamily="34" charset="0"/>
          </a:endParaRPr>
        </a:p>
      </dgm:t>
    </dgm:pt>
    <dgm:pt modelId="{B64816ED-F3DD-41A4-A92F-9B2D076A1204}" type="sibTrans" cxnId="{EC8DE691-3573-40DF-AFCB-1032872943C4}">
      <dgm:prSet/>
      <dgm:spPr/>
      <dgm:t>
        <a:bodyPr/>
        <a:lstStyle/>
        <a:p>
          <a:pPr>
            <a:lnSpc>
              <a:spcPct val="100000"/>
            </a:lnSpc>
          </a:pPr>
          <a:endParaRPr lang="es-ES" sz="2800" b="1">
            <a:latin typeface="Arial Narrow" pitchFamily="34" charset="0"/>
          </a:endParaRPr>
        </a:p>
      </dgm:t>
    </dgm:pt>
    <dgm:pt modelId="{A9F9A43C-D9EC-4B56-852D-D2574B6F1417}" type="pres">
      <dgm:prSet presAssocID="{7245ACB6-42D4-4194-959A-3BBD355D5349}" presName="linear" presStyleCnt="0">
        <dgm:presLayoutVars>
          <dgm:animLvl val="lvl"/>
          <dgm:resizeHandles val="exact"/>
        </dgm:presLayoutVars>
      </dgm:prSet>
      <dgm:spPr/>
    </dgm:pt>
    <dgm:pt modelId="{A651CE4B-2491-4B0C-81DD-1A867181BE76}" type="pres">
      <dgm:prSet presAssocID="{F64614F2-E48D-44E6-ABB3-391D38A37BD3}" presName="parentText" presStyleLbl="node1" presStyleIdx="0" presStyleCnt="3" custScaleY="13922" custLinFactY="-2884" custLinFactNeighborX="0" custLinFactNeighborY="-100000">
        <dgm:presLayoutVars>
          <dgm:chMax val="0"/>
          <dgm:bulletEnabled val="1"/>
        </dgm:presLayoutVars>
      </dgm:prSet>
      <dgm:spPr/>
    </dgm:pt>
    <dgm:pt modelId="{1F16B640-F6E1-4515-B2C4-EA4937FD0D52}" type="pres">
      <dgm:prSet presAssocID="{EAD7F430-A937-4BFA-806F-7A3F15C72CFC}" presName="spacer" presStyleCnt="0"/>
      <dgm:spPr/>
    </dgm:pt>
    <dgm:pt modelId="{E0CF6B50-53F1-4ADA-AD3C-E9E73C009592}" type="pres">
      <dgm:prSet presAssocID="{BEEEF6BE-9191-498E-B466-69B29A4EE09C}" presName="parentText" presStyleLbl="node1" presStyleIdx="1" presStyleCnt="3" custScaleY="17571" custLinFactNeighborY="-6811">
        <dgm:presLayoutVars>
          <dgm:chMax val="0"/>
          <dgm:bulletEnabled val="1"/>
        </dgm:presLayoutVars>
      </dgm:prSet>
      <dgm:spPr/>
    </dgm:pt>
    <dgm:pt modelId="{52FE3595-375E-4E47-B398-05A6A5E5DE15}" type="pres">
      <dgm:prSet presAssocID="{E4A6C462-0328-4E83-A6E5-DDB0E8104F3E}" presName="spacer" presStyleCnt="0"/>
      <dgm:spPr/>
    </dgm:pt>
    <dgm:pt modelId="{9F001700-F8BD-439A-BF89-686F56A4D107}" type="pres">
      <dgm:prSet presAssocID="{B17BA4A0-3B95-4EC3-9581-83153037E29C}" presName="parentText" presStyleLbl="node1" presStyleIdx="2" presStyleCnt="3">
        <dgm:presLayoutVars>
          <dgm:chMax val="0"/>
          <dgm:bulletEnabled val="1"/>
        </dgm:presLayoutVars>
      </dgm:prSet>
      <dgm:spPr/>
    </dgm:pt>
    <dgm:pt modelId="{0E3624A1-80F9-4854-B46C-0A44079949B0}" type="pres">
      <dgm:prSet presAssocID="{B17BA4A0-3B95-4EC3-9581-83153037E29C}" presName="childText" presStyleLbl="revTx" presStyleIdx="0" presStyleCnt="1">
        <dgm:presLayoutVars>
          <dgm:bulletEnabled val="1"/>
        </dgm:presLayoutVars>
      </dgm:prSet>
      <dgm:spPr/>
    </dgm:pt>
  </dgm:ptLst>
  <dgm:cxnLst>
    <dgm:cxn modelId="{4E853336-E701-4DD6-A1FE-46D6D74CF5FC}" srcId="{7245ACB6-42D4-4194-959A-3BBD355D5349}" destId="{F64614F2-E48D-44E6-ABB3-391D38A37BD3}" srcOrd="0" destOrd="0" parTransId="{10307FA4-14F5-43D6-8069-5AE2EAB5F092}" sibTransId="{EAD7F430-A937-4BFA-806F-7A3F15C72CFC}"/>
    <dgm:cxn modelId="{47EABD3E-2FC9-4B5B-9877-35CCC7130426}" srcId="{7245ACB6-42D4-4194-959A-3BBD355D5349}" destId="{BEEEF6BE-9191-498E-B466-69B29A4EE09C}" srcOrd="1" destOrd="0" parTransId="{679C6863-5FDA-4ED9-93AF-A8F49DB152BF}" sibTransId="{E4A6C462-0328-4E83-A6E5-DDB0E8104F3E}"/>
    <dgm:cxn modelId="{EC8DE691-3573-40DF-AFCB-1032872943C4}" srcId="{B17BA4A0-3B95-4EC3-9581-83153037E29C}" destId="{693EF89D-76C8-4BEF-87B7-C127C408A068}" srcOrd="0" destOrd="0" parTransId="{C7B9422C-3FB4-4D52-9B36-4A54351C3C9C}" sibTransId="{B64816ED-F3DD-41A4-A92F-9B2D076A1204}"/>
    <dgm:cxn modelId="{DC092C99-60DC-4259-A3E6-516409243184}" type="presOf" srcId="{B17BA4A0-3B95-4EC3-9581-83153037E29C}" destId="{9F001700-F8BD-439A-BF89-686F56A4D107}" srcOrd="0" destOrd="0" presId="urn:microsoft.com/office/officeart/2005/8/layout/vList2"/>
    <dgm:cxn modelId="{9E84E5AE-140C-41F7-9DD9-A70DC8418632}" type="presOf" srcId="{F64614F2-E48D-44E6-ABB3-391D38A37BD3}" destId="{A651CE4B-2491-4B0C-81DD-1A867181BE76}" srcOrd="0" destOrd="0" presId="urn:microsoft.com/office/officeart/2005/8/layout/vList2"/>
    <dgm:cxn modelId="{3E5462CA-A9A1-4C47-8E44-0CD916F338C9}" type="presOf" srcId="{693EF89D-76C8-4BEF-87B7-C127C408A068}" destId="{0E3624A1-80F9-4854-B46C-0A44079949B0}" srcOrd="0" destOrd="0" presId="urn:microsoft.com/office/officeart/2005/8/layout/vList2"/>
    <dgm:cxn modelId="{D58871E0-866B-47DC-8A60-F11717D422A2}" type="presOf" srcId="{7245ACB6-42D4-4194-959A-3BBD355D5349}" destId="{A9F9A43C-D9EC-4B56-852D-D2574B6F1417}" srcOrd="0" destOrd="0" presId="urn:microsoft.com/office/officeart/2005/8/layout/vList2"/>
    <dgm:cxn modelId="{B3CC9CE5-F99D-465C-AAC3-8F5C95CDD251}" type="presOf" srcId="{BEEEF6BE-9191-498E-B466-69B29A4EE09C}" destId="{E0CF6B50-53F1-4ADA-AD3C-E9E73C009592}" srcOrd="0" destOrd="0" presId="urn:microsoft.com/office/officeart/2005/8/layout/vList2"/>
    <dgm:cxn modelId="{8C55A4FC-A971-4D57-8DF6-C5B3D2726FA1}" srcId="{7245ACB6-42D4-4194-959A-3BBD355D5349}" destId="{B17BA4A0-3B95-4EC3-9581-83153037E29C}" srcOrd="2" destOrd="0" parTransId="{6F999661-23F9-409F-92B0-E23DE897DD7A}" sibTransId="{A9FBC9B1-7C8A-4F72-90A8-314719BD7D61}"/>
    <dgm:cxn modelId="{E45C8B95-D657-4AE2-933D-C80BBE9F5277}" type="presParOf" srcId="{A9F9A43C-D9EC-4B56-852D-D2574B6F1417}" destId="{A651CE4B-2491-4B0C-81DD-1A867181BE76}" srcOrd="0" destOrd="0" presId="urn:microsoft.com/office/officeart/2005/8/layout/vList2"/>
    <dgm:cxn modelId="{A3B1A080-879B-4FAD-A892-58AE6A8210B6}" type="presParOf" srcId="{A9F9A43C-D9EC-4B56-852D-D2574B6F1417}" destId="{1F16B640-F6E1-4515-B2C4-EA4937FD0D52}" srcOrd="1" destOrd="0" presId="urn:microsoft.com/office/officeart/2005/8/layout/vList2"/>
    <dgm:cxn modelId="{6D26129B-2699-41F5-A93E-19013CD0F105}" type="presParOf" srcId="{A9F9A43C-D9EC-4B56-852D-D2574B6F1417}" destId="{E0CF6B50-53F1-4ADA-AD3C-E9E73C009592}" srcOrd="2" destOrd="0" presId="urn:microsoft.com/office/officeart/2005/8/layout/vList2"/>
    <dgm:cxn modelId="{79D2A220-2C14-4337-AAA7-CE1AB6256BC8}" type="presParOf" srcId="{A9F9A43C-D9EC-4B56-852D-D2574B6F1417}" destId="{52FE3595-375E-4E47-B398-05A6A5E5DE15}" srcOrd="3" destOrd="0" presId="urn:microsoft.com/office/officeart/2005/8/layout/vList2"/>
    <dgm:cxn modelId="{FF0A3254-3D33-457A-9365-23273D6848EA}" type="presParOf" srcId="{A9F9A43C-D9EC-4B56-852D-D2574B6F1417}" destId="{9F001700-F8BD-439A-BF89-686F56A4D107}" srcOrd="4" destOrd="0" presId="urn:microsoft.com/office/officeart/2005/8/layout/vList2"/>
    <dgm:cxn modelId="{0BFEE9A9-B1E1-4095-953A-CACAC8104C2E}" type="presParOf" srcId="{A9F9A43C-D9EC-4B56-852D-D2574B6F1417}" destId="{0E3624A1-80F9-4854-B46C-0A44079949B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51CE4B-2491-4B0C-81DD-1A867181BE76}">
      <dsp:nvSpPr>
        <dsp:cNvPr id="0" name=""/>
        <dsp:cNvSpPr/>
      </dsp:nvSpPr>
      <dsp:spPr>
        <a:xfrm>
          <a:off x="0" y="0"/>
          <a:ext cx="6013141" cy="54058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100000"/>
            </a:lnSpc>
            <a:spcBef>
              <a:spcPct val="0"/>
            </a:spcBef>
            <a:spcAft>
              <a:spcPct val="35000"/>
            </a:spcAft>
            <a:buNone/>
          </a:pPr>
          <a:r>
            <a:rPr lang="en-US" sz="2800" b="1" kern="1200" dirty="0">
              <a:latin typeface="Arial Narrow" pitchFamily="34" charset="0"/>
            </a:rPr>
            <a:t>1)      	3.000000</a:t>
          </a:r>
          <a:endParaRPr lang="es-ES" sz="2800" b="1" kern="1200" dirty="0">
            <a:latin typeface="Arial Narrow" pitchFamily="34" charset="0"/>
          </a:endParaRPr>
        </a:p>
      </dsp:txBody>
      <dsp:txXfrm>
        <a:off x="26389" y="26389"/>
        <a:ext cx="5960363" cy="487804"/>
      </dsp:txXfrm>
    </dsp:sp>
    <dsp:sp modelId="{E0CF6B50-53F1-4ADA-AD3C-E9E73C009592}">
      <dsp:nvSpPr>
        <dsp:cNvPr id="0" name=""/>
        <dsp:cNvSpPr/>
      </dsp:nvSpPr>
      <dsp:spPr>
        <a:xfrm>
          <a:off x="0" y="575647"/>
          <a:ext cx="6013141" cy="6822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100000"/>
            </a:lnSpc>
            <a:spcBef>
              <a:spcPct val="0"/>
            </a:spcBef>
            <a:spcAft>
              <a:spcPct val="35000"/>
            </a:spcAft>
            <a:buNone/>
          </a:pPr>
          <a:r>
            <a:rPr lang="en-US" sz="2800" b="1" kern="1200" dirty="0">
              <a:latin typeface="Arial Narrow" pitchFamily="34" charset="0"/>
            </a:rPr>
            <a:t>VARIABLE       VALUE  REDUCED COST    </a:t>
          </a:r>
          <a:endParaRPr lang="es-ES" sz="2800" b="1" kern="1200" dirty="0">
            <a:latin typeface="Arial Narrow" pitchFamily="34" charset="0"/>
          </a:endParaRPr>
        </a:p>
      </dsp:txBody>
      <dsp:txXfrm>
        <a:off x="33306" y="608953"/>
        <a:ext cx="5946529" cy="615658"/>
      </dsp:txXfrm>
    </dsp:sp>
    <dsp:sp modelId="{9F001700-F8BD-439A-BF89-686F56A4D107}">
      <dsp:nvSpPr>
        <dsp:cNvPr id="0" name=""/>
        <dsp:cNvSpPr/>
      </dsp:nvSpPr>
      <dsp:spPr>
        <a:xfrm>
          <a:off x="0" y="1288680"/>
          <a:ext cx="6013141" cy="38829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100000"/>
            </a:lnSpc>
            <a:spcBef>
              <a:spcPct val="0"/>
            </a:spcBef>
            <a:spcAft>
              <a:spcPts val="0"/>
            </a:spcAft>
            <a:buNone/>
          </a:pPr>
          <a:r>
            <a:rPr lang="en-US" sz="2800" b="1" kern="1200" dirty="0">
              <a:latin typeface="Arial Narrow" pitchFamily="34" charset="0"/>
            </a:rPr>
            <a:t>A         	0.000000         -1.000000	</a:t>
          </a:r>
        </a:p>
        <a:p>
          <a:pPr marL="0" lvl="0" indent="0" algn="l" defTabSz="1244600" rtl="0">
            <a:lnSpc>
              <a:spcPct val="100000"/>
            </a:lnSpc>
            <a:spcBef>
              <a:spcPct val="0"/>
            </a:spcBef>
            <a:spcAft>
              <a:spcPts val="0"/>
            </a:spcAft>
            <a:buNone/>
          </a:pPr>
          <a:r>
            <a:rPr lang="en-US" sz="2800" b="1" kern="1200" dirty="0">
              <a:latin typeface="Arial Narrow" pitchFamily="34" charset="0"/>
            </a:rPr>
            <a:t>B         	1.000000         -1.000000</a:t>
          </a:r>
        </a:p>
        <a:p>
          <a:pPr marL="0" lvl="0" indent="0" algn="l" defTabSz="1244600" rtl="0">
            <a:lnSpc>
              <a:spcPct val="100000"/>
            </a:lnSpc>
            <a:spcBef>
              <a:spcPct val="0"/>
            </a:spcBef>
            <a:spcAft>
              <a:spcPts val="0"/>
            </a:spcAft>
            <a:buNone/>
          </a:pPr>
          <a:r>
            <a:rPr lang="en-US" sz="2800" b="1" kern="1200" dirty="0">
              <a:latin typeface="Arial Narrow" pitchFamily="34" charset="0"/>
            </a:rPr>
            <a:t>C     	0.000000         -1.000000   </a:t>
          </a:r>
        </a:p>
        <a:p>
          <a:pPr marL="0" lvl="0" indent="0" algn="l" defTabSz="1244600" rtl="0">
            <a:lnSpc>
              <a:spcPct val="100000"/>
            </a:lnSpc>
            <a:spcBef>
              <a:spcPct val="0"/>
            </a:spcBef>
            <a:spcAft>
              <a:spcPts val="0"/>
            </a:spcAft>
            <a:buNone/>
          </a:pPr>
          <a:r>
            <a:rPr lang="es-PE" sz="2800" b="1" kern="1200" dirty="0">
              <a:latin typeface="Arial Narrow" pitchFamily="34" charset="0"/>
            </a:rPr>
            <a:t>D    	1.000000         -1.000000</a:t>
          </a:r>
          <a:r>
            <a:rPr lang="en-US" sz="2800" b="1" kern="1200" dirty="0">
              <a:latin typeface="Arial Narrow" pitchFamily="34" charset="0"/>
            </a:rPr>
            <a:t> </a:t>
          </a:r>
        </a:p>
        <a:p>
          <a:pPr marL="0" lvl="0" indent="0" algn="l" defTabSz="1244600" rtl="0">
            <a:lnSpc>
              <a:spcPct val="100000"/>
            </a:lnSpc>
            <a:spcBef>
              <a:spcPct val="0"/>
            </a:spcBef>
            <a:spcAft>
              <a:spcPts val="0"/>
            </a:spcAft>
            <a:buNone/>
          </a:pPr>
          <a:r>
            <a:rPr lang="es-PE" sz="2800" b="1" kern="1200" dirty="0">
              <a:latin typeface="Arial Narrow" pitchFamily="34" charset="0"/>
            </a:rPr>
            <a:t>E 	0.000000         -1.000000      </a:t>
          </a:r>
        </a:p>
        <a:p>
          <a:pPr marL="0" lvl="0" indent="0" algn="l" defTabSz="1244600" rtl="0">
            <a:lnSpc>
              <a:spcPct val="100000"/>
            </a:lnSpc>
            <a:spcBef>
              <a:spcPct val="0"/>
            </a:spcBef>
            <a:spcAft>
              <a:spcPts val="0"/>
            </a:spcAft>
            <a:buNone/>
          </a:pPr>
          <a:r>
            <a:rPr lang="es-PE" sz="2800" b="1" kern="1200" dirty="0">
              <a:latin typeface="Arial Narrow" pitchFamily="34" charset="0"/>
            </a:rPr>
            <a:t>F 	0.000000         -1.000000</a:t>
          </a:r>
        </a:p>
        <a:p>
          <a:pPr marL="0" lvl="0" indent="0" algn="l" defTabSz="1244600" rtl="0">
            <a:lnSpc>
              <a:spcPct val="100000"/>
            </a:lnSpc>
            <a:spcBef>
              <a:spcPct val="0"/>
            </a:spcBef>
            <a:spcAft>
              <a:spcPts val="0"/>
            </a:spcAft>
            <a:buNone/>
          </a:pPr>
          <a:r>
            <a:rPr lang="es-PE" sz="2800" b="1" kern="1200" dirty="0">
              <a:latin typeface="Arial Narrow" pitchFamily="34" charset="0"/>
            </a:rPr>
            <a:t>G	0.000000         -1.000000  </a:t>
          </a:r>
        </a:p>
        <a:p>
          <a:pPr marL="0" lvl="0" indent="0" algn="l" defTabSz="1244600" rtl="0">
            <a:lnSpc>
              <a:spcPct val="100000"/>
            </a:lnSpc>
            <a:spcBef>
              <a:spcPct val="0"/>
            </a:spcBef>
            <a:spcAft>
              <a:spcPts val="0"/>
            </a:spcAft>
            <a:buNone/>
          </a:pPr>
          <a:r>
            <a:rPr lang="es-PE" sz="2800" b="1" kern="1200" dirty="0">
              <a:latin typeface="Arial Narrow" pitchFamily="34" charset="0"/>
            </a:rPr>
            <a:t>H        	1.000000         -1.000000         </a:t>
          </a:r>
          <a:r>
            <a:rPr lang="en-US" sz="2800" b="1" kern="1200" dirty="0">
              <a:latin typeface="Arial Narrow" pitchFamily="34" charset="0"/>
            </a:rPr>
            <a:t>  </a:t>
          </a:r>
          <a:endParaRPr lang="es-ES" sz="2800" b="1" kern="1200" dirty="0">
            <a:latin typeface="Arial Narrow" pitchFamily="34" charset="0"/>
          </a:endParaRPr>
        </a:p>
      </dsp:txBody>
      <dsp:txXfrm>
        <a:off x="189549" y="1478229"/>
        <a:ext cx="5634043" cy="3503839"/>
      </dsp:txXfrm>
    </dsp:sp>
    <dsp:sp modelId="{0E3624A1-80F9-4854-B46C-0A44079949B0}">
      <dsp:nvSpPr>
        <dsp:cNvPr id="0" name=""/>
        <dsp:cNvSpPr/>
      </dsp:nvSpPr>
      <dsp:spPr>
        <a:xfrm>
          <a:off x="0" y="5171618"/>
          <a:ext cx="6013141" cy="16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917" tIns="35560" rIns="199136" bIns="35560" numCol="1" spcCol="1270" anchor="t" anchorCtr="0">
          <a:noAutofit/>
        </a:bodyPr>
        <a:lstStyle/>
        <a:p>
          <a:pPr marL="285750" lvl="1" indent="-285750" algn="l" defTabSz="1244600" rtl="0">
            <a:lnSpc>
              <a:spcPct val="100000"/>
            </a:lnSpc>
            <a:spcBef>
              <a:spcPct val="0"/>
            </a:spcBef>
            <a:spcAft>
              <a:spcPct val="20000"/>
            </a:spcAft>
            <a:buChar char="•"/>
          </a:pPr>
          <a:endParaRPr lang="es-ES" sz="2800" b="1" kern="1200" dirty="0">
            <a:latin typeface="Arial Narrow" pitchFamily="34" charset="0"/>
          </a:endParaRPr>
        </a:p>
      </dsp:txBody>
      <dsp:txXfrm>
        <a:off x="0" y="5171618"/>
        <a:ext cx="6013141" cy="1656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a:xfrm>
            <a:off x="3884613" y="8685213"/>
            <a:ext cx="2971800" cy="457200"/>
          </a:xfrm>
          <a:prstGeom prst="rect">
            <a:avLst/>
          </a:prstGeom>
        </p:spPr>
        <p:txBody>
          <a:bodyPr/>
          <a:lstStyle/>
          <a:p>
            <a:fld id="{937FDB4C-8DB5-4895-9E8B-EB4F1648811C}" type="slidenum">
              <a:rPr lang="es-ES" smtClean="0"/>
              <a:pPr/>
              <a:t>3</a:t>
            </a:fld>
            <a:endParaRPr lang="es-ES" dirty="0"/>
          </a:p>
        </p:txBody>
      </p:sp>
    </p:spTree>
    <p:extLst>
      <p:ext uri="{BB962C8B-B14F-4D97-AF65-F5344CB8AC3E}">
        <p14:creationId xmlns:p14="http://schemas.microsoft.com/office/powerpoint/2010/main" val="67298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56323"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592138" y="804863"/>
            <a:ext cx="5673725" cy="3192462"/>
          </a:xfrm>
          <a:ln/>
        </p:spPr>
      </p:sp>
      <p:sp>
        <p:nvSpPr>
          <p:cNvPr id="52227" name="Rectangle 3"/>
          <p:cNvSpPr>
            <a:spLocks noGrp="1" noChangeArrowheads="1"/>
          </p:cNvSpPr>
          <p:nvPr>
            <p:ph type="body" idx="1"/>
          </p:nvPr>
        </p:nvSpPr>
        <p:spPr>
          <a:xfrm>
            <a:off x="913438" y="4345157"/>
            <a:ext cx="5031126" cy="3849027"/>
          </a:xfrm>
          <a:noFill/>
          <a:ln w="9525"/>
        </p:spPr>
        <p:txBody>
          <a:bodyPr/>
          <a:lstStyle/>
          <a:p>
            <a:endParaRPr lang="es-ES"/>
          </a:p>
        </p:txBody>
      </p:sp>
    </p:spTree>
    <p:extLst>
      <p:ext uri="{BB962C8B-B14F-4D97-AF65-F5344CB8AC3E}">
        <p14:creationId xmlns:p14="http://schemas.microsoft.com/office/powerpoint/2010/main" val="1086276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749801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795358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8.jfi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 name="2 Título"/>
          <p:cNvSpPr>
            <a:spLocks noGrp="1"/>
          </p:cNvSpPr>
          <p:nvPr>
            <p:ph type="ctrTitle"/>
          </p:nvPr>
        </p:nvSpPr>
        <p:spPr/>
        <p:txBody>
          <a:bodyPr/>
          <a:lstStyle/>
          <a:p>
            <a:r>
              <a:rPr lang="es-PE" dirty="0">
                <a:solidFill>
                  <a:srgbClr val="FF0000"/>
                </a:solidFill>
                <a:latin typeface="Bauhaus 93" pitchFamily="82" charset="0"/>
              </a:rPr>
              <a:t>PROGRAMACIÓN BINARIA</a:t>
            </a:r>
            <a:endParaRPr lang="es-ES" dirty="0">
              <a:solidFill>
                <a:srgbClr val="0064AE"/>
              </a:solidFill>
              <a:effectLst>
                <a:outerShdw blurRad="38100" dist="38100" dir="2700000" algn="tl">
                  <a:srgbClr val="000000">
                    <a:alpha val="43137"/>
                  </a:srgbClr>
                </a:outerShdw>
              </a:effectLst>
              <a:latin typeface="Arial Black" panose="020B0A04020102020204" pitchFamily="34" charset="0"/>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Semana 7</a:t>
            </a:r>
          </a:p>
        </p:txBody>
      </p:sp>
      <p:pic>
        <p:nvPicPr>
          <p:cNvPr id="8" name="Google Shape;61;p13"/>
          <p:cNvPicPr preferRelativeResize="0"/>
          <p:nvPr/>
        </p:nvPicPr>
        <p:blipFill>
          <a:blip r:embed="rId3">
            <a:alphaModFix/>
          </a:blip>
          <a:stretch>
            <a:fillRect/>
          </a:stretch>
        </p:blipFill>
        <p:spPr>
          <a:xfrm>
            <a:off x="9058003" y="1676383"/>
            <a:ext cx="1782850" cy="1988920"/>
          </a:xfrm>
          <a:prstGeom prst="rect">
            <a:avLst/>
          </a:prstGeom>
          <a:noFill/>
          <a:ln>
            <a:noFill/>
          </a:ln>
        </p:spPr>
      </p:pic>
    </p:spTree>
    <p:extLst>
      <p:ext uri="{BB962C8B-B14F-4D97-AF65-F5344CB8AC3E}">
        <p14:creationId xmlns:p14="http://schemas.microsoft.com/office/powerpoint/2010/main" val="3172296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15" name="Text Box 31"/>
          <p:cNvSpPr txBox="1">
            <a:spLocks noChangeArrowheads="1"/>
          </p:cNvSpPr>
          <p:nvPr/>
        </p:nvSpPr>
        <p:spPr bwMode="auto">
          <a:xfrm>
            <a:off x="3184527" y="722314"/>
            <a:ext cx="184731" cy="369332"/>
          </a:xfrm>
          <a:prstGeom prst="rect">
            <a:avLst/>
          </a:prstGeom>
          <a:noFill/>
          <a:ln w="9525">
            <a:noFill/>
            <a:miter lim="800000"/>
            <a:headEnd/>
            <a:tailEnd/>
          </a:ln>
          <a:effectLst/>
        </p:spPr>
        <p:txBody>
          <a:bodyPr wrap="none">
            <a:spAutoFit/>
          </a:bodyPr>
          <a:lstStyle/>
          <a:p>
            <a:endParaRPr lang="es-ES" dirty="0"/>
          </a:p>
        </p:txBody>
      </p:sp>
      <p:sp>
        <p:nvSpPr>
          <p:cNvPr id="32" name="Rectangle 2">
            <a:extLst>
              <a:ext uri="{FF2B5EF4-FFF2-40B4-BE49-F238E27FC236}">
                <a16:creationId xmlns:a16="http://schemas.microsoft.com/office/drawing/2014/main" id="{483A48B0-615B-48A5-A61A-36298DBB8E4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a:solidFill>
                  <a:schemeClr val="bg1"/>
                </a:solidFill>
                <a:latin typeface="Bauhaus 93" pitchFamily="82" charset="0"/>
                <a:ea typeface="+mn-ea"/>
                <a:cs typeface="+mn-cs"/>
              </a:rPr>
              <a:t>Contenido</a:t>
            </a:r>
            <a:endParaRPr lang="es-ES" sz="3200" dirty="0">
              <a:solidFill>
                <a:schemeClr val="bg1"/>
              </a:solidFill>
              <a:latin typeface="Bauhaus 93" pitchFamily="82" charset="0"/>
              <a:ea typeface="+mn-ea"/>
              <a:cs typeface="+mn-cs"/>
            </a:endParaRPr>
          </a:p>
        </p:txBody>
      </p:sp>
      <p:grpSp>
        <p:nvGrpSpPr>
          <p:cNvPr id="33" name="Group 3">
            <a:extLst>
              <a:ext uri="{FF2B5EF4-FFF2-40B4-BE49-F238E27FC236}">
                <a16:creationId xmlns:a16="http://schemas.microsoft.com/office/drawing/2014/main" id="{5B61D062-FBEE-48C3-A75B-8C61106281A1}"/>
              </a:ext>
            </a:extLst>
          </p:cNvPr>
          <p:cNvGrpSpPr>
            <a:grpSpLocks/>
          </p:cNvGrpSpPr>
          <p:nvPr/>
        </p:nvGrpSpPr>
        <p:grpSpPr bwMode="auto">
          <a:xfrm>
            <a:off x="2635074" y="2037150"/>
            <a:ext cx="762000" cy="665163"/>
            <a:chOff x="1110" y="2656"/>
            <a:chExt cx="1549" cy="1351"/>
          </a:xfrm>
          <a:solidFill>
            <a:schemeClr val="accent6">
              <a:lumMod val="75000"/>
            </a:schemeClr>
          </a:solidFill>
        </p:grpSpPr>
        <p:sp>
          <p:nvSpPr>
            <p:cNvPr id="34" name="AutoShape 4">
              <a:extLst>
                <a:ext uri="{FF2B5EF4-FFF2-40B4-BE49-F238E27FC236}">
                  <a16:creationId xmlns:a16="http://schemas.microsoft.com/office/drawing/2014/main" id="{B8C0FBAC-0E93-44D7-8FCE-24A6555FB389}"/>
                </a:ext>
              </a:extLst>
            </p:cNvPr>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dirty="0"/>
            </a:p>
          </p:txBody>
        </p:sp>
        <p:sp>
          <p:nvSpPr>
            <p:cNvPr id="35" name="AutoShape 5">
              <a:extLst>
                <a:ext uri="{FF2B5EF4-FFF2-40B4-BE49-F238E27FC236}">
                  <a16:creationId xmlns:a16="http://schemas.microsoft.com/office/drawing/2014/main" id="{4DACE944-DC51-4015-89F7-3E7595C72D7A}"/>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dirty="0"/>
            </a:p>
          </p:txBody>
        </p:sp>
        <p:sp>
          <p:nvSpPr>
            <p:cNvPr id="36" name="AutoShape 6">
              <a:extLst>
                <a:ext uri="{FF2B5EF4-FFF2-40B4-BE49-F238E27FC236}">
                  <a16:creationId xmlns:a16="http://schemas.microsoft.com/office/drawing/2014/main" id="{2F3DBC2B-0406-4F1D-B850-E0F4C8DEEBA2}"/>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dirty="0"/>
            </a:p>
          </p:txBody>
        </p:sp>
      </p:grpSp>
      <p:grpSp>
        <p:nvGrpSpPr>
          <p:cNvPr id="37" name="Group 7">
            <a:extLst>
              <a:ext uri="{FF2B5EF4-FFF2-40B4-BE49-F238E27FC236}">
                <a16:creationId xmlns:a16="http://schemas.microsoft.com/office/drawing/2014/main" id="{F9C58DD1-E9EE-45EB-A40D-D5A7705B8DAA}"/>
              </a:ext>
            </a:extLst>
          </p:cNvPr>
          <p:cNvGrpSpPr>
            <a:grpSpLocks/>
          </p:cNvGrpSpPr>
          <p:nvPr/>
        </p:nvGrpSpPr>
        <p:grpSpPr bwMode="auto">
          <a:xfrm>
            <a:off x="2627879" y="2945666"/>
            <a:ext cx="762000" cy="665163"/>
            <a:chOff x="3174" y="2656"/>
            <a:chExt cx="1549" cy="1351"/>
          </a:xfrm>
        </p:grpSpPr>
        <p:sp>
          <p:nvSpPr>
            <p:cNvPr id="38" name="AutoShape 8">
              <a:extLst>
                <a:ext uri="{FF2B5EF4-FFF2-40B4-BE49-F238E27FC236}">
                  <a16:creationId xmlns:a16="http://schemas.microsoft.com/office/drawing/2014/main" id="{0B943929-2F43-4043-BB57-F64E300B07E6}"/>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dirty="0"/>
            </a:p>
          </p:txBody>
        </p:sp>
        <p:sp>
          <p:nvSpPr>
            <p:cNvPr id="39" name="AutoShape 9">
              <a:extLst>
                <a:ext uri="{FF2B5EF4-FFF2-40B4-BE49-F238E27FC236}">
                  <a16:creationId xmlns:a16="http://schemas.microsoft.com/office/drawing/2014/main" id="{B8AF94C4-E811-42F0-B797-0E6682FD4006}"/>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dirty="0"/>
            </a:p>
          </p:txBody>
        </p:sp>
        <p:sp>
          <p:nvSpPr>
            <p:cNvPr id="40" name="AutoShape 10">
              <a:extLst>
                <a:ext uri="{FF2B5EF4-FFF2-40B4-BE49-F238E27FC236}">
                  <a16:creationId xmlns:a16="http://schemas.microsoft.com/office/drawing/2014/main" id="{A04D3265-623C-4C12-BA84-5BDD08CEFA1C}"/>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dirty="0"/>
            </a:p>
          </p:txBody>
        </p:sp>
      </p:grpSp>
      <p:sp>
        <p:nvSpPr>
          <p:cNvPr id="41" name="Line 11">
            <a:extLst>
              <a:ext uri="{FF2B5EF4-FFF2-40B4-BE49-F238E27FC236}">
                <a16:creationId xmlns:a16="http://schemas.microsoft.com/office/drawing/2014/main" id="{45281CEC-ED06-4BA4-BB7F-8ABF33370CE2}"/>
              </a:ext>
            </a:extLst>
          </p:cNvPr>
          <p:cNvSpPr>
            <a:spLocks noChangeShapeType="1"/>
          </p:cNvSpPr>
          <p:nvPr/>
        </p:nvSpPr>
        <p:spPr bwMode="auto">
          <a:xfrm>
            <a:off x="3791744" y="2643767"/>
            <a:ext cx="5760640" cy="0"/>
          </a:xfrm>
          <a:prstGeom prst="line">
            <a:avLst/>
          </a:prstGeom>
          <a:noFill/>
          <a:ln w="25400">
            <a:solidFill>
              <a:schemeClr val="tx2"/>
            </a:solidFill>
            <a:prstDash val="sysDot"/>
            <a:round/>
            <a:headEnd/>
            <a:tailEnd type="oval" w="med" len="med"/>
          </a:ln>
          <a:effectLst/>
        </p:spPr>
        <p:txBody>
          <a:bodyPr wrap="none" anchor="ctr"/>
          <a:lstStyle/>
          <a:p>
            <a:endParaRPr lang="es-ES" sz="2800" dirty="0"/>
          </a:p>
        </p:txBody>
      </p:sp>
      <p:sp>
        <p:nvSpPr>
          <p:cNvPr id="42" name="Text Box 12">
            <a:extLst>
              <a:ext uri="{FF2B5EF4-FFF2-40B4-BE49-F238E27FC236}">
                <a16:creationId xmlns:a16="http://schemas.microsoft.com/office/drawing/2014/main" id="{2E9563F9-DDD2-49DF-AFEF-32286DEFAEA4}"/>
              </a:ext>
            </a:extLst>
          </p:cNvPr>
          <p:cNvSpPr txBox="1">
            <a:spLocks noChangeArrowheads="1"/>
          </p:cNvSpPr>
          <p:nvPr/>
        </p:nvSpPr>
        <p:spPr bwMode="auto">
          <a:xfrm>
            <a:off x="3647728" y="2134166"/>
            <a:ext cx="5306004"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dirty="0">
                <a:solidFill>
                  <a:srgbClr val="700000"/>
                </a:solidFill>
              </a:rPr>
              <a:t>Definición de Programación Binaria</a:t>
            </a:r>
          </a:p>
        </p:txBody>
      </p:sp>
      <p:sp>
        <p:nvSpPr>
          <p:cNvPr id="43" name="Text Box 13">
            <a:extLst>
              <a:ext uri="{FF2B5EF4-FFF2-40B4-BE49-F238E27FC236}">
                <a16:creationId xmlns:a16="http://schemas.microsoft.com/office/drawing/2014/main" id="{F9334EE2-F751-43CA-A2B1-AF71799B7B24}"/>
              </a:ext>
            </a:extLst>
          </p:cNvPr>
          <p:cNvSpPr txBox="1">
            <a:spLocks noChangeArrowheads="1"/>
          </p:cNvSpPr>
          <p:nvPr/>
        </p:nvSpPr>
        <p:spPr bwMode="gray">
          <a:xfrm>
            <a:off x="2835568" y="2122490"/>
            <a:ext cx="367409"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1</a:t>
            </a:r>
          </a:p>
        </p:txBody>
      </p:sp>
      <p:sp>
        <p:nvSpPr>
          <p:cNvPr id="44" name="Line 14">
            <a:extLst>
              <a:ext uri="{FF2B5EF4-FFF2-40B4-BE49-F238E27FC236}">
                <a16:creationId xmlns:a16="http://schemas.microsoft.com/office/drawing/2014/main" id="{06ECABC2-6CC8-4E23-B2BE-B0712E2BBCFA}"/>
              </a:ext>
            </a:extLst>
          </p:cNvPr>
          <p:cNvSpPr>
            <a:spLocks noChangeShapeType="1"/>
          </p:cNvSpPr>
          <p:nvPr/>
        </p:nvSpPr>
        <p:spPr bwMode="auto">
          <a:xfrm>
            <a:off x="3791744" y="3548063"/>
            <a:ext cx="5760640" cy="0"/>
          </a:xfrm>
          <a:prstGeom prst="line">
            <a:avLst/>
          </a:prstGeom>
          <a:noFill/>
          <a:ln w="25400">
            <a:solidFill>
              <a:schemeClr val="tx2"/>
            </a:solidFill>
            <a:prstDash val="sysDot"/>
            <a:round/>
            <a:headEnd/>
            <a:tailEnd type="oval" w="med" len="med"/>
          </a:ln>
          <a:effectLst/>
        </p:spPr>
        <p:txBody>
          <a:bodyPr wrap="none" anchor="ctr"/>
          <a:lstStyle/>
          <a:p>
            <a:endParaRPr lang="es-ES" sz="2800" dirty="0"/>
          </a:p>
        </p:txBody>
      </p:sp>
      <p:sp>
        <p:nvSpPr>
          <p:cNvPr id="45" name="Text Box 15">
            <a:extLst>
              <a:ext uri="{FF2B5EF4-FFF2-40B4-BE49-F238E27FC236}">
                <a16:creationId xmlns:a16="http://schemas.microsoft.com/office/drawing/2014/main" id="{F37BCFFB-CF2E-4B7C-A749-C588CB77B45C}"/>
              </a:ext>
            </a:extLst>
          </p:cNvPr>
          <p:cNvSpPr txBox="1">
            <a:spLocks noChangeArrowheads="1"/>
          </p:cNvSpPr>
          <p:nvPr/>
        </p:nvSpPr>
        <p:spPr bwMode="auto">
          <a:xfrm>
            <a:off x="3666523" y="3032425"/>
            <a:ext cx="5111977" cy="523220"/>
          </a:xfrm>
          <a:prstGeom prst="rect">
            <a:avLst/>
          </a:prstGeom>
          <a:noFill/>
          <a:ln w="9525" algn="ctr">
            <a:noFill/>
            <a:miter lim="800000"/>
            <a:headEnd/>
            <a:tailEnd/>
          </a:ln>
          <a:effectLst/>
        </p:spPr>
        <p:txBody>
          <a:bodyPr wrap="none">
            <a:spAutoFit/>
          </a:bodyPr>
          <a:lstStyle>
            <a:defPPr>
              <a:defRPr lang="es-PE"/>
            </a:defPPr>
            <a:lvl1pPr eaLnBrk="0" hangingPunct="0">
              <a:defRPr sz="2800" b="0">
                <a:solidFill>
                  <a:srgbClr val="700000"/>
                </a:solidFill>
              </a:defRPr>
            </a:lvl1pPr>
          </a:lstStyle>
          <a:p>
            <a:r>
              <a:rPr lang="es-ES_tradnl" dirty="0"/>
              <a:t>Modelos de Programación Binaria</a:t>
            </a:r>
          </a:p>
        </p:txBody>
      </p:sp>
      <p:sp>
        <p:nvSpPr>
          <p:cNvPr id="46" name="Text Box 16">
            <a:extLst>
              <a:ext uri="{FF2B5EF4-FFF2-40B4-BE49-F238E27FC236}">
                <a16:creationId xmlns:a16="http://schemas.microsoft.com/office/drawing/2014/main" id="{083093D9-9CC2-425A-83D5-8201FD98D4D1}"/>
              </a:ext>
            </a:extLst>
          </p:cNvPr>
          <p:cNvSpPr txBox="1">
            <a:spLocks noChangeArrowheads="1"/>
          </p:cNvSpPr>
          <p:nvPr/>
        </p:nvSpPr>
        <p:spPr bwMode="gray">
          <a:xfrm>
            <a:off x="2879842" y="3036890"/>
            <a:ext cx="367409"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2</a:t>
            </a:r>
          </a:p>
        </p:txBody>
      </p:sp>
      <p:grpSp>
        <p:nvGrpSpPr>
          <p:cNvPr id="47" name="Group 17">
            <a:extLst>
              <a:ext uri="{FF2B5EF4-FFF2-40B4-BE49-F238E27FC236}">
                <a16:creationId xmlns:a16="http://schemas.microsoft.com/office/drawing/2014/main" id="{52FA8E60-7675-4735-BFF7-98229BFB5288}"/>
              </a:ext>
            </a:extLst>
          </p:cNvPr>
          <p:cNvGrpSpPr>
            <a:grpSpLocks/>
          </p:cNvGrpSpPr>
          <p:nvPr/>
        </p:nvGrpSpPr>
        <p:grpSpPr bwMode="auto">
          <a:xfrm>
            <a:off x="2641469" y="3841962"/>
            <a:ext cx="762000" cy="665163"/>
            <a:chOff x="1110" y="2656"/>
            <a:chExt cx="1549" cy="1351"/>
          </a:xfrm>
          <a:solidFill>
            <a:schemeClr val="accent6">
              <a:lumMod val="75000"/>
            </a:schemeClr>
          </a:solidFill>
        </p:grpSpPr>
        <p:sp>
          <p:nvSpPr>
            <p:cNvPr id="48" name="AutoShape 18">
              <a:extLst>
                <a:ext uri="{FF2B5EF4-FFF2-40B4-BE49-F238E27FC236}">
                  <a16:creationId xmlns:a16="http://schemas.microsoft.com/office/drawing/2014/main" id="{88794187-A390-41CE-A58B-0CD4FA29C8A6}"/>
                </a:ext>
              </a:extLst>
            </p:cNvPr>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dirty="0"/>
            </a:p>
          </p:txBody>
        </p:sp>
        <p:sp>
          <p:nvSpPr>
            <p:cNvPr id="49" name="AutoShape 19">
              <a:extLst>
                <a:ext uri="{FF2B5EF4-FFF2-40B4-BE49-F238E27FC236}">
                  <a16:creationId xmlns:a16="http://schemas.microsoft.com/office/drawing/2014/main" id="{51C7348C-04A6-4DEB-89CA-6AA4A67ECFC4}"/>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dirty="0"/>
            </a:p>
          </p:txBody>
        </p:sp>
        <p:sp>
          <p:nvSpPr>
            <p:cNvPr id="50" name="AutoShape 20">
              <a:extLst>
                <a:ext uri="{FF2B5EF4-FFF2-40B4-BE49-F238E27FC236}">
                  <a16:creationId xmlns:a16="http://schemas.microsoft.com/office/drawing/2014/main" id="{E95E7183-E2C6-4674-961B-0C513969C0C9}"/>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dirty="0"/>
            </a:p>
          </p:txBody>
        </p:sp>
      </p:grpSp>
      <p:sp>
        <p:nvSpPr>
          <p:cNvPr id="51" name="Line 25">
            <a:extLst>
              <a:ext uri="{FF2B5EF4-FFF2-40B4-BE49-F238E27FC236}">
                <a16:creationId xmlns:a16="http://schemas.microsoft.com/office/drawing/2014/main" id="{0DFD3606-7106-4371-B139-E7665F05C3ED}"/>
              </a:ext>
            </a:extLst>
          </p:cNvPr>
          <p:cNvSpPr>
            <a:spLocks noChangeShapeType="1"/>
          </p:cNvSpPr>
          <p:nvPr/>
        </p:nvSpPr>
        <p:spPr bwMode="auto">
          <a:xfrm>
            <a:off x="3791744" y="4444292"/>
            <a:ext cx="5760640" cy="51509"/>
          </a:xfrm>
          <a:prstGeom prst="line">
            <a:avLst/>
          </a:prstGeom>
          <a:noFill/>
          <a:ln w="25400">
            <a:solidFill>
              <a:schemeClr val="tx2"/>
            </a:solidFill>
            <a:prstDash val="sysDot"/>
            <a:round/>
            <a:headEnd/>
            <a:tailEnd type="oval" w="med" len="med"/>
          </a:ln>
          <a:effectLst/>
        </p:spPr>
        <p:txBody>
          <a:bodyPr wrap="none" anchor="ctr"/>
          <a:lstStyle/>
          <a:p>
            <a:endParaRPr lang="es-ES" sz="2800" dirty="0"/>
          </a:p>
        </p:txBody>
      </p:sp>
      <p:sp>
        <p:nvSpPr>
          <p:cNvPr id="52" name="Text Box 26">
            <a:extLst>
              <a:ext uri="{FF2B5EF4-FFF2-40B4-BE49-F238E27FC236}">
                <a16:creationId xmlns:a16="http://schemas.microsoft.com/office/drawing/2014/main" id="{5AE75EDA-2271-492A-8DCE-AC425B74149D}"/>
              </a:ext>
            </a:extLst>
          </p:cNvPr>
          <p:cNvSpPr txBox="1">
            <a:spLocks noChangeArrowheads="1"/>
          </p:cNvSpPr>
          <p:nvPr/>
        </p:nvSpPr>
        <p:spPr bwMode="auto">
          <a:xfrm>
            <a:off x="3691480" y="3938049"/>
            <a:ext cx="1727396" cy="523220"/>
          </a:xfrm>
          <a:prstGeom prst="rect">
            <a:avLst/>
          </a:prstGeom>
          <a:noFill/>
          <a:ln w="9525" algn="ctr">
            <a:noFill/>
            <a:miter lim="800000"/>
            <a:headEnd/>
            <a:tailEnd/>
          </a:ln>
          <a:effectLst/>
        </p:spPr>
        <p:txBody>
          <a:bodyPr wrap="none">
            <a:spAutoFit/>
          </a:bodyPr>
          <a:lstStyle>
            <a:defPPr>
              <a:defRPr lang="es-PE"/>
            </a:defPPr>
            <a:lvl1pPr eaLnBrk="0" hangingPunct="0">
              <a:defRPr sz="2800" b="0">
                <a:solidFill>
                  <a:srgbClr val="700000"/>
                </a:solidFill>
              </a:defRPr>
            </a:lvl1pPr>
          </a:lstStyle>
          <a:p>
            <a:r>
              <a:rPr lang="es-ES_tradnl" dirty="0"/>
              <a:t>Problemas</a:t>
            </a:r>
          </a:p>
        </p:txBody>
      </p:sp>
      <p:sp>
        <p:nvSpPr>
          <p:cNvPr id="53" name="Text Box 27">
            <a:extLst>
              <a:ext uri="{FF2B5EF4-FFF2-40B4-BE49-F238E27FC236}">
                <a16:creationId xmlns:a16="http://schemas.microsoft.com/office/drawing/2014/main" id="{0AE4878B-7976-4B0F-8E81-6AE48A449F82}"/>
              </a:ext>
            </a:extLst>
          </p:cNvPr>
          <p:cNvSpPr txBox="1">
            <a:spLocks noChangeArrowheads="1"/>
          </p:cNvSpPr>
          <p:nvPr/>
        </p:nvSpPr>
        <p:spPr bwMode="gray">
          <a:xfrm>
            <a:off x="2841963" y="3951607"/>
            <a:ext cx="367409"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3</a:t>
            </a:r>
          </a:p>
        </p:txBody>
      </p:sp>
    </p:spTree>
    <p:extLst>
      <p:ext uri="{BB962C8B-B14F-4D97-AF65-F5344CB8AC3E}">
        <p14:creationId xmlns:p14="http://schemas.microsoft.com/office/powerpoint/2010/main" val="1392834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154AF9D-E0AA-4E35-80BA-3E6B3FC08351}"/>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Definición</a:t>
            </a:r>
          </a:p>
        </p:txBody>
      </p:sp>
      <p:sp>
        <p:nvSpPr>
          <p:cNvPr id="8" name="Forma libre: forma 7">
            <a:extLst>
              <a:ext uri="{FF2B5EF4-FFF2-40B4-BE49-F238E27FC236}">
                <a16:creationId xmlns:a16="http://schemas.microsoft.com/office/drawing/2014/main" id="{307A300C-AA28-45A6-ADD4-FE2B214F1B1A}"/>
              </a:ext>
            </a:extLst>
          </p:cNvPr>
          <p:cNvSpPr/>
          <p:nvPr/>
        </p:nvSpPr>
        <p:spPr>
          <a:xfrm>
            <a:off x="342898" y="1499363"/>
            <a:ext cx="5422471" cy="1410029"/>
          </a:xfrm>
          <a:custGeom>
            <a:avLst/>
            <a:gdLst>
              <a:gd name="connsiteX0" fmla="*/ 0 w 5551715"/>
              <a:gd name="connsiteY0" fmla="*/ 235010 h 1410029"/>
              <a:gd name="connsiteX1" fmla="*/ 235010 w 5551715"/>
              <a:gd name="connsiteY1" fmla="*/ 0 h 1410029"/>
              <a:gd name="connsiteX2" fmla="*/ 5316705 w 5551715"/>
              <a:gd name="connsiteY2" fmla="*/ 0 h 1410029"/>
              <a:gd name="connsiteX3" fmla="*/ 5551715 w 5551715"/>
              <a:gd name="connsiteY3" fmla="*/ 235010 h 1410029"/>
              <a:gd name="connsiteX4" fmla="*/ 5551715 w 5551715"/>
              <a:gd name="connsiteY4" fmla="*/ 1175019 h 1410029"/>
              <a:gd name="connsiteX5" fmla="*/ 5316705 w 5551715"/>
              <a:gd name="connsiteY5" fmla="*/ 1410029 h 1410029"/>
              <a:gd name="connsiteX6" fmla="*/ 235010 w 5551715"/>
              <a:gd name="connsiteY6" fmla="*/ 1410029 h 1410029"/>
              <a:gd name="connsiteX7" fmla="*/ 0 w 5551715"/>
              <a:gd name="connsiteY7" fmla="*/ 1175019 h 1410029"/>
              <a:gd name="connsiteX8" fmla="*/ 0 w 5551715"/>
              <a:gd name="connsiteY8" fmla="*/ 235010 h 141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1715" h="1410029">
                <a:moveTo>
                  <a:pt x="0" y="235010"/>
                </a:moveTo>
                <a:cubicBezTo>
                  <a:pt x="0" y="105218"/>
                  <a:pt x="105218" y="0"/>
                  <a:pt x="235010" y="0"/>
                </a:cubicBezTo>
                <a:lnTo>
                  <a:pt x="5316705" y="0"/>
                </a:lnTo>
                <a:cubicBezTo>
                  <a:pt x="5446497" y="0"/>
                  <a:pt x="5551715" y="105218"/>
                  <a:pt x="5551715" y="235010"/>
                </a:cubicBezTo>
                <a:lnTo>
                  <a:pt x="5551715" y="1175019"/>
                </a:lnTo>
                <a:cubicBezTo>
                  <a:pt x="5551715" y="1304811"/>
                  <a:pt x="5446497" y="1410029"/>
                  <a:pt x="5316705" y="1410029"/>
                </a:cubicBezTo>
                <a:lnTo>
                  <a:pt x="235010" y="1410029"/>
                </a:lnTo>
                <a:cubicBezTo>
                  <a:pt x="105218" y="1410029"/>
                  <a:pt x="0" y="1304811"/>
                  <a:pt x="0" y="1175019"/>
                </a:cubicBezTo>
                <a:lnTo>
                  <a:pt x="0" y="23501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6462" tIns="156462" rIns="156462" bIns="156462" numCol="1" spcCol="1270" anchor="ctr" anchorCtr="0">
            <a:noAutofit/>
          </a:bodyPr>
          <a:lstStyle/>
          <a:p>
            <a:pPr marL="0" lvl="0" indent="0" algn="just" defTabSz="1022350">
              <a:lnSpc>
                <a:spcPct val="90000"/>
              </a:lnSpc>
              <a:spcBef>
                <a:spcPct val="0"/>
              </a:spcBef>
              <a:spcAft>
                <a:spcPct val="35000"/>
              </a:spcAft>
              <a:buNone/>
            </a:pPr>
            <a:r>
              <a:rPr lang="es-ES" sz="2300" kern="1200"/>
              <a:t>Se llama Programación Binaria o programación  lineal entera 0-1, cuando el valor de las variables se restringe  a  0 ó  1.</a:t>
            </a:r>
            <a:endParaRPr lang="es-PE" sz="2300" kern="1200"/>
          </a:p>
        </p:txBody>
      </p:sp>
      <p:sp>
        <p:nvSpPr>
          <p:cNvPr id="2" name="Rectángulo 1">
            <a:extLst>
              <a:ext uri="{FF2B5EF4-FFF2-40B4-BE49-F238E27FC236}">
                <a16:creationId xmlns:a16="http://schemas.microsoft.com/office/drawing/2014/main" id="{574A43E4-F8D0-4231-9BBE-86C294827E24}"/>
              </a:ext>
            </a:extLst>
          </p:cNvPr>
          <p:cNvSpPr/>
          <p:nvPr/>
        </p:nvSpPr>
        <p:spPr>
          <a:xfrm>
            <a:off x="6373739" y="1263755"/>
            <a:ext cx="5518578" cy="2308324"/>
          </a:xfrm>
          <a:prstGeom prst="rect">
            <a:avLst/>
          </a:prstGeom>
          <a:solidFill>
            <a:schemeClr val="accent4">
              <a:lumMod val="40000"/>
              <a:lumOff val="60000"/>
            </a:schemeClr>
          </a:solidFill>
        </p:spPr>
        <p:txBody>
          <a:bodyPr wrap="square">
            <a:spAutoFit/>
          </a:bodyPr>
          <a:lstStyle/>
          <a:p>
            <a:pPr>
              <a:lnSpc>
                <a:spcPct val="150000"/>
              </a:lnSpc>
            </a:pPr>
            <a:r>
              <a:rPr lang="es-ES" sz="2400" dirty="0">
                <a:solidFill>
                  <a:srgbClr val="FF0000"/>
                </a:solidFill>
                <a:latin typeface="Arial Narrow" panose="020B0606020202030204" pitchFamily="34" charset="0"/>
              </a:rPr>
              <a:t>Identificación de las variables</a:t>
            </a:r>
          </a:p>
          <a:p>
            <a:pPr>
              <a:lnSpc>
                <a:spcPct val="150000"/>
              </a:lnSpc>
            </a:pPr>
            <a:r>
              <a:rPr lang="es-ES" sz="2400" dirty="0">
                <a:latin typeface="Arial Narrow" panose="020B0606020202030204" pitchFamily="34" charset="0"/>
              </a:rPr>
              <a:t>Vi=Variable i   (i = 1, 2, 3, …n)</a:t>
            </a:r>
          </a:p>
          <a:p>
            <a:r>
              <a:rPr lang="es-ES" sz="2400" dirty="0">
                <a:latin typeface="Arial Narrow" panose="020B0606020202030204" pitchFamily="34" charset="0"/>
              </a:rPr>
              <a:t>	0 </a:t>
            </a:r>
            <a:r>
              <a:rPr lang="es-ES" sz="2400" dirty="0">
                <a:solidFill>
                  <a:srgbClr val="FF0000"/>
                </a:solidFill>
                <a:latin typeface="Arial Narrow" panose="020B0606020202030204" pitchFamily="34" charset="0"/>
              </a:rPr>
              <a:t>No</a:t>
            </a:r>
            <a:r>
              <a:rPr lang="es-ES" sz="2400" dirty="0">
                <a:latin typeface="Arial Narrow" panose="020B0606020202030204" pitchFamily="34" charset="0"/>
              </a:rPr>
              <a:t> ejecuta </a:t>
            </a:r>
          </a:p>
          <a:p>
            <a:r>
              <a:rPr lang="es-ES" sz="2400" dirty="0">
                <a:latin typeface="Arial Narrow" panose="020B0606020202030204" pitchFamily="34" charset="0"/>
              </a:rPr>
              <a:t>Vi  =    </a:t>
            </a:r>
          </a:p>
          <a:p>
            <a:r>
              <a:rPr lang="es-ES" sz="2400" dirty="0">
                <a:latin typeface="Arial Narrow" panose="020B0606020202030204" pitchFamily="34" charset="0"/>
              </a:rPr>
              <a:t> 	1 </a:t>
            </a:r>
            <a:r>
              <a:rPr lang="es-ES" sz="2400" dirty="0">
                <a:solidFill>
                  <a:srgbClr val="FF0000"/>
                </a:solidFill>
                <a:latin typeface="Arial Narrow" panose="020B0606020202030204" pitchFamily="34" charset="0"/>
              </a:rPr>
              <a:t>Si</a:t>
            </a:r>
            <a:r>
              <a:rPr lang="es-ES" sz="2400" dirty="0">
                <a:latin typeface="Arial Narrow" panose="020B0606020202030204" pitchFamily="34" charset="0"/>
              </a:rPr>
              <a:t> ejecuta</a:t>
            </a:r>
            <a:endParaRPr lang="es-PE" sz="2400" dirty="0"/>
          </a:p>
        </p:txBody>
      </p:sp>
      <p:sp>
        <p:nvSpPr>
          <p:cNvPr id="5" name="Rectángulo 4">
            <a:extLst>
              <a:ext uri="{FF2B5EF4-FFF2-40B4-BE49-F238E27FC236}">
                <a16:creationId xmlns:a16="http://schemas.microsoft.com/office/drawing/2014/main" id="{FDE26D4A-66B5-49BE-8C53-53D9ADB48EA2}"/>
              </a:ext>
            </a:extLst>
          </p:cNvPr>
          <p:cNvSpPr/>
          <p:nvPr/>
        </p:nvSpPr>
        <p:spPr>
          <a:xfrm>
            <a:off x="6362149" y="3572079"/>
            <a:ext cx="5530168" cy="1140377"/>
          </a:xfrm>
          <a:prstGeom prst="rect">
            <a:avLst/>
          </a:prstGeom>
          <a:solidFill>
            <a:schemeClr val="accent4">
              <a:lumMod val="40000"/>
              <a:lumOff val="60000"/>
            </a:schemeClr>
          </a:solidFill>
        </p:spPr>
        <p:txBody>
          <a:bodyPr wrap="square">
            <a:spAutoFit/>
          </a:bodyPr>
          <a:lstStyle/>
          <a:p>
            <a:pPr>
              <a:lnSpc>
                <a:spcPct val="150000"/>
              </a:lnSpc>
            </a:pPr>
            <a:r>
              <a:rPr lang="es-ES" sz="2400" dirty="0">
                <a:solidFill>
                  <a:srgbClr val="FF0000"/>
                </a:solidFill>
                <a:latin typeface="Arial Narrow" panose="020B0606020202030204" pitchFamily="34" charset="0"/>
              </a:rPr>
              <a:t>Identificación de la función objetivo</a:t>
            </a:r>
          </a:p>
          <a:p>
            <a:pPr>
              <a:lnSpc>
                <a:spcPct val="150000"/>
              </a:lnSpc>
            </a:pPr>
            <a:r>
              <a:rPr lang="es-PE" sz="2400" dirty="0">
                <a:latin typeface="Arial Narrow" panose="020B0606020202030204" pitchFamily="34" charset="0"/>
              </a:rPr>
              <a:t>	MAX ∑</a:t>
            </a:r>
            <a:r>
              <a:rPr lang="es-PE" sz="2400" dirty="0" err="1">
                <a:latin typeface="Arial Narrow" panose="020B0606020202030204" pitchFamily="34" charset="0"/>
              </a:rPr>
              <a:t>CiVi</a:t>
            </a:r>
            <a:r>
              <a:rPr lang="es-PE" sz="2400" dirty="0">
                <a:latin typeface="Arial Narrow" panose="020B0606020202030204" pitchFamily="34" charset="0"/>
              </a:rPr>
              <a:t>	</a:t>
            </a:r>
            <a:r>
              <a:rPr lang="es-PE" sz="2400" dirty="0" err="1">
                <a:latin typeface="Arial Narrow" panose="020B0606020202030204" pitchFamily="34" charset="0"/>
              </a:rPr>
              <a:t>ó</a:t>
            </a:r>
            <a:r>
              <a:rPr lang="es-PE" sz="2400" dirty="0">
                <a:latin typeface="Arial Narrow" panose="020B0606020202030204" pitchFamily="34" charset="0"/>
              </a:rPr>
              <a:t>        MIN  ∑</a:t>
            </a:r>
            <a:r>
              <a:rPr lang="es-PE" sz="2400" dirty="0" err="1">
                <a:latin typeface="Arial Narrow" panose="020B0606020202030204" pitchFamily="34" charset="0"/>
              </a:rPr>
              <a:t>CiVi</a:t>
            </a:r>
            <a:endParaRPr lang="es-PE" sz="2400" dirty="0"/>
          </a:p>
        </p:txBody>
      </p:sp>
      <p:sp>
        <p:nvSpPr>
          <p:cNvPr id="14" name="Forma libre: forma 13">
            <a:extLst>
              <a:ext uri="{FF2B5EF4-FFF2-40B4-BE49-F238E27FC236}">
                <a16:creationId xmlns:a16="http://schemas.microsoft.com/office/drawing/2014/main" id="{D67B211D-EC9D-47D2-B381-4DBFDAEE89D3}"/>
              </a:ext>
            </a:extLst>
          </p:cNvPr>
          <p:cNvSpPr/>
          <p:nvPr/>
        </p:nvSpPr>
        <p:spPr>
          <a:xfrm>
            <a:off x="322047" y="4683894"/>
            <a:ext cx="1811664" cy="1752612"/>
          </a:xfrm>
          <a:custGeom>
            <a:avLst/>
            <a:gdLst>
              <a:gd name="connsiteX0" fmla="*/ 0 w 1811664"/>
              <a:gd name="connsiteY0" fmla="*/ 292108 h 1752612"/>
              <a:gd name="connsiteX1" fmla="*/ 292108 w 1811664"/>
              <a:gd name="connsiteY1" fmla="*/ 0 h 1752612"/>
              <a:gd name="connsiteX2" fmla="*/ 1519556 w 1811664"/>
              <a:gd name="connsiteY2" fmla="*/ 0 h 1752612"/>
              <a:gd name="connsiteX3" fmla="*/ 1811664 w 1811664"/>
              <a:gd name="connsiteY3" fmla="*/ 292108 h 1752612"/>
              <a:gd name="connsiteX4" fmla="*/ 1811664 w 1811664"/>
              <a:gd name="connsiteY4" fmla="*/ 1460504 h 1752612"/>
              <a:gd name="connsiteX5" fmla="*/ 1519556 w 1811664"/>
              <a:gd name="connsiteY5" fmla="*/ 1752612 h 1752612"/>
              <a:gd name="connsiteX6" fmla="*/ 292108 w 1811664"/>
              <a:gd name="connsiteY6" fmla="*/ 1752612 h 1752612"/>
              <a:gd name="connsiteX7" fmla="*/ 0 w 1811664"/>
              <a:gd name="connsiteY7" fmla="*/ 1460504 h 1752612"/>
              <a:gd name="connsiteX8" fmla="*/ 0 w 1811664"/>
              <a:gd name="connsiteY8" fmla="*/ 292108 h 175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1664" h="1752612">
                <a:moveTo>
                  <a:pt x="0" y="292108"/>
                </a:moveTo>
                <a:cubicBezTo>
                  <a:pt x="0" y="130781"/>
                  <a:pt x="130781" y="0"/>
                  <a:pt x="292108" y="0"/>
                </a:cubicBezTo>
                <a:lnTo>
                  <a:pt x="1519556" y="0"/>
                </a:lnTo>
                <a:cubicBezTo>
                  <a:pt x="1680883" y="0"/>
                  <a:pt x="1811664" y="130781"/>
                  <a:pt x="1811664" y="292108"/>
                </a:cubicBezTo>
                <a:lnTo>
                  <a:pt x="1811664" y="1460504"/>
                </a:lnTo>
                <a:cubicBezTo>
                  <a:pt x="1811664" y="1621831"/>
                  <a:pt x="1680883" y="1752612"/>
                  <a:pt x="1519556" y="1752612"/>
                </a:cubicBezTo>
                <a:lnTo>
                  <a:pt x="292108" y="1752612"/>
                </a:lnTo>
                <a:cubicBezTo>
                  <a:pt x="130781" y="1752612"/>
                  <a:pt x="0" y="1621831"/>
                  <a:pt x="0" y="1460504"/>
                </a:cubicBezTo>
                <a:lnTo>
                  <a:pt x="0" y="29210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3665" tIns="144610" rIns="203665" bIns="144610" numCol="1" spcCol="1270" anchor="ctr" anchorCtr="0">
            <a:noAutofit/>
          </a:bodyPr>
          <a:lstStyle/>
          <a:p>
            <a:pPr marL="0" lvl="0" indent="0" algn="ctr" defTabSz="1377950">
              <a:lnSpc>
                <a:spcPct val="90000"/>
              </a:lnSpc>
              <a:spcBef>
                <a:spcPct val="0"/>
              </a:spcBef>
              <a:spcAft>
                <a:spcPct val="35000"/>
              </a:spcAft>
              <a:buNone/>
            </a:pPr>
            <a:r>
              <a:rPr lang="es-ES" sz="3100" kern="1200"/>
              <a:t>CASOS: 	</a:t>
            </a:r>
            <a:endParaRPr lang="es-PE" sz="3100" kern="1200"/>
          </a:p>
        </p:txBody>
      </p:sp>
      <p:sp>
        <p:nvSpPr>
          <p:cNvPr id="4" name="Abrir llave 3">
            <a:extLst>
              <a:ext uri="{FF2B5EF4-FFF2-40B4-BE49-F238E27FC236}">
                <a16:creationId xmlns:a16="http://schemas.microsoft.com/office/drawing/2014/main" id="{3B7EF2B1-733C-421A-A1E7-6530F0BD2147}"/>
              </a:ext>
            </a:extLst>
          </p:cNvPr>
          <p:cNvSpPr/>
          <p:nvPr/>
        </p:nvSpPr>
        <p:spPr>
          <a:xfrm>
            <a:off x="7020732" y="2417917"/>
            <a:ext cx="387458" cy="115416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11" name="Forma libre: forma 10">
            <a:extLst>
              <a:ext uri="{FF2B5EF4-FFF2-40B4-BE49-F238E27FC236}">
                <a16:creationId xmlns:a16="http://schemas.microsoft.com/office/drawing/2014/main" id="{D4625132-7976-43DA-A409-956C6956F6D3}"/>
              </a:ext>
            </a:extLst>
          </p:cNvPr>
          <p:cNvSpPr/>
          <p:nvPr/>
        </p:nvSpPr>
        <p:spPr>
          <a:xfrm>
            <a:off x="342899" y="2984273"/>
            <a:ext cx="5468966" cy="1401735"/>
          </a:xfrm>
          <a:custGeom>
            <a:avLst/>
            <a:gdLst>
              <a:gd name="connsiteX0" fmla="*/ 0 w 5551715"/>
              <a:gd name="connsiteY0" fmla="*/ 233627 h 1401735"/>
              <a:gd name="connsiteX1" fmla="*/ 233627 w 5551715"/>
              <a:gd name="connsiteY1" fmla="*/ 0 h 1401735"/>
              <a:gd name="connsiteX2" fmla="*/ 5318088 w 5551715"/>
              <a:gd name="connsiteY2" fmla="*/ 0 h 1401735"/>
              <a:gd name="connsiteX3" fmla="*/ 5551715 w 5551715"/>
              <a:gd name="connsiteY3" fmla="*/ 233627 h 1401735"/>
              <a:gd name="connsiteX4" fmla="*/ 5551715 w 5551715"/>
              <a:gd name="connsiteY4" fmla="*/ 1168108 h 1401735"/>
              <a:gd name="connsiteX5" fmla="*/ 5318088 w 5551715"/>
              <a:gd name="connsiteY5" fmla="*/ 1401735 h 1401735"/>
              <a:gd name="connsiteX6" fmla="*/ 233627 w 5551715"/>
              <a:gd name="connsiteY6" fmla="*/ 1401735 h 1401735"/>
              <a:gd name="connsiteX7" fmla="*/ 0 w 5551715"/>
              <a:gd name="connsiteY7" fmla="*/ 1168108 h 1401735"/>
              <a:gd name="connsiteX8" fmla="*/ 0 w 5551715"/>
              <a:gd name="connsiteY8" fmla="*/ 233627 h 140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1715" h="1401735">
                <a:moveTo>
                  <a:pt x="0" y="233627"/>
                </a:moveTo>
                <a:cubicBezTo>
                  <a:pt x="0" y="104598"/>
                  <a:pt x="104598" y="0"/>
                  <a:pt x="233627" y="0"/>
                </a:cubicBezTo>
                <a:lnTo>
                  <a:pt x="5318088" y="0"/>
                </a:lnTo>
                <a:cubicBezTo>
                  <a:pt x="5447117" y="0"/>
                  <a:pt x="5551715" y="104598"/>
                  <a:pt x="5551715" y="233627"/>
                </a:cubicBezTo>
                <a:lnTo>
                  <a:pt x="5551715" y="1168108"/>
                </a:lnTo>
                <a:cubicBezTo>
                  <a:pt x="5551715" y="1297137"/>
                  <a:pt x="5447117" y="1401735"/>
                  <a:pt x="5318088" y="1401735"/>
                </a:cubicBezTo>
                <a:lnTo>
                  <a:pt x="233627" y="1401735"/>
                </a:lnTo>
                <a:cubicBezTo>
                  <a:pt x="104598" y="1401735"/>
                  <a:pt x="0" y="1297137"/>
                  <a:pt x="0" y="1168108"/>
                </a:cubicBezTo>
                <a:lnTo>
                  <a:pt x="0" y="23362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6057" tIns="156057" rIns="156057" bIns="156057" numCol="1" spcCol="1270" anchor="ctr" anchorCtr="0">
            <a:noAutofit/>
          </a:bodyPr>
          <a:lstStyle/>
          <a:p>
            <a:pPr marL="0" lvl="0" indent="0" algn="just" defTabSz="1022350">
              <a:lnSpc>
                <a:spcPct val="90000"/>
              </a:lnSpc>
              <a:spcBef>
                <a:spcPct val="0"/>
              </a:spcBef>
              <a:spcAft>
                <a:spcPct val="35000"/>
              </a:spcAft>
              <a:buNone/>
            </a:pPr>
            <a:r>
              <a:rPr lang="es-ES" sz="2300" kern="1200" dirty="0"/>
              <a:t>Estas variables pueden representar decisiones dicotómicas (sí o no).</a:t>
            </a:r>
            <a:endParaRPr lang="es-PE" sz="2300" kern="1200" dirty="0"/>
          </a:p>
        </p:txBody>
      </p:sp>
      <p:sp>
        <p:nvSpPr>
          <p:cNvPr id="15" name="Forma libre: forma 14">
            <a:extLst>
              <a:ext uri="{FF2B5EF4-FFF2-40B4-BE49-F238E27FC236}">
                <a16:creationId xmlns:a16="http://schemas.microsoft.com/office/drawing/2014/main" id="{D7CDB427-D923-4AAB-9C9D-7D028D8203E4}"/>
              </a:ext>
            </a:extLst>
          </p:cNvPr>
          <p:cNvSpPr/>
          <p:nvPr/>
        </p:nvSpPr>
        <p:spPr>
          <a:xfrm>
            <a:off x="2133712" y="4710976"/>
            <a:ext cx="3723628" cy="1698450"/>
          </a:xfrm>
          <a:custGeom>
            <a:avLst/>
            <a:gdLst>
              <a:gd name="connsiteX0" fmla="*/ 283081 w 1698450"/>
              <a:gd name="connsiteY0" fmla="*/ 0 h 3723628"/>
              <a:gd name="connsiteX1" fmla="*/ 1415369 w 1698450"/>
              <a:gd name="connsiteY1" fmla="*/ 0 h 3723628"/>
              <a:gd name="connsiteX2" fmla="*/ 1698450 w 1698450"/>
              <a:gd name="connsiteY2" fmla="*/ 283081 h 3723628"/>
              <a:gd name="connsiteX3" fmla="*/ 1698450 w 1698450"/>
              <a:gd name="connsiteY3" fmla="*/ 3723628 h 3723628"/>
              <a:gd name="connsiteX4" fmla="*/ 1698450 w 1698450"/>
              <a:gd name="connsiteY4" fmla="*/ 3723628 h 3723628"/>
              <a:gd name="connsiteX5" fmla="*/ 0 w 1698450"/>
              <a:gd name="connsiteY5" fmla="*/ 3723628 h 3723628"/>
              <a:gd name="connsiteX6" fmla="*/ 0 w 1698450"/>
              <a:gd name="connsiteY6" fmla="*/ 3723628 h 3723628"/>
              <a:gd name="connsiteX7" fmla="*/ 0 w 1698450"/>
              <a:gd name="connsiteY7" fmla="*/ 283081 h 3723628"/>
              <a:gd name="connsiteX8" fmla="*/ 283081 w 1698450"/>
              <a:gd name="connsiteY8" fmla="*/ 0 h 372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8450" h="3723628">
                <a:moveTo>
                  <a:pt x="1698450" y="620619"/>
                </a:moveTo>
                <a:lnTo>
                  <a:pt x="1698450" y="3103009"/>
                </a:lnTo>
                <a:cubicBezTo>
                  <a:pt x="1698450" y="3445766"/>
                  <a:pt x="1640640" y="3723627"/>
                  <a:pt x="1569329" y="3723627"/>
                </a:cubicBezTo>
                <a:lnTo>
                  <a:pt x="0" y="3723627"/>
                </a:lnTo>
                <a:lnTo>
                  <a:pt x="0" y="3723627"/>
                </a:lnTo>
                <a:lnTo>
                  <a:pt x="0" y="1"/>
                </a:lnTo>
                <a:lnTo>
                  <a:pt x="0" y="1"/>
                </a:lnTo>
                <a:lnTo>
                  <a:pt x="1569329" y="1"/>
                </a:lnTo>
                <a:cubicBezTo>
                  <a:pt x="1640640" y="1"/>
                  <a:pt x="1698450" y="277862"/>
                  <a:pt x="1698450" y="62061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206735" rIns="330560" bIns="206737" numCol="1" spcCol="1270" anchor="ctr" anchorCtr="0">
            <a:noAutofit/>
          </a:bodyPr>
          <a:lstStyle/>
          <a:p>
            <a:pPr marL="228600" lvl="1" indent="-228600" algn="l" defTabSz="889000">
              <a:lnSpc>
                <a:spcPct val="90000"/>
              </a:lnSpc>
              <a:spcBef>
                <a:spcPct val="0"/>
              </a:spcBef>
              <a:spcAft>
                <a:spcPct val="15000"/>
              </a:spcAft>
              <a:buChar char="•"/>
            </a:pPr>
            <a:r>
              <a:rPr lang="es-ES" sz="2000" b="1" kern="1200"/>
              <a:t>Problemas de asignación, </a:t>
            </a:r>
            <a:endParaRPr lang="es-PE" sz="2000" b="1" kern="1200"/>
          </a:p>
          <a:p>
            <a:pPr marL="228600" lvl="1" indent="-228600" algn="l" defTabSz="889000">
              <a:lnSpc>
                <a:spcPct val="90000"/>
              </a:lnSpc>
              <a:spcBef>
                <a:spcPct val="0"/>
              </a:spcBef>
              <a:spcAft>
                <a:spcPct val="15000"/>
              </a:spcAft>
              <a:buChar char="•"/>
            </a:pPr>
            <a:r>
              <a:rPr lang="es-ES" sz="2000" b="1" kern="1200" dirty="0"/>
              <a:t>Ubicación de fábricas, </a:t>
            </a:r>
            <a:endParaRPr lang="es-PE" sz="2000" b="1" kern="1200" dirty="0"/>
          </a:p>
          <a:p>
            <a:pPr marL="228600" lvl="1" indent="-228600" algn="l" defTabSz="889000">
              <a:lnSpc>
                <a:spcPct val="90000"/>
              </a:lnSpc>
              <a:spcBef>
                <a:spcPct val="0"/>
              </a:spcBef>
              <a:spcAft>
                <a:spcPct val="15000"/>
              </a:spcAft>
              <a:buChar char="•"/>
            </a:pPr>
            <a:r>
              <a:rPr lang="es-ES" sz="2000" b="1" kern="1200"/>
              <a:t>Planes de producción,</a:t>
            </a:r>
            <a:endParaRPr lang="es-PE" sz="2000" b="1" kern="1200"/>
          </a:p>
          <a:p>
            <a:pPr marL="228600" lvl="1" indent="-228600" algn="l" defTabSz="889000">
              <a:lnSpc>
                <a:spcPct val="90000"/>
              </a:lnSpc>
              <a:spcBef>
                <a:spcPct val="0"/>
              </a:spcBef>
              <a:spcAft>
                <a:spcPct val="15000"/>
              </a:spcAft>
              <a:buChar char="•"/>
            </a:pPr>
            <a:r>
              <a:rPr lang="es-ES" sz="2000" b="1" kern="1200"/>
              <a:t>Construcción de consorcios</a:t>
            </a:r>
            <a:endParaRPr lang="es-PE" sz="2000" b="1" kern="1200"/>
          </a:p>
          <a:p>
            <a:pPr marL="228600" lvl="1" indent="-228600" algn="l" defTabSz="889000">
              <a:lnSpc>
                <a:spcPct val="90000"/>
              </a:lnSpc>
              <a:spcBef>
                <a:spcPct val="0"/>
              </a:spcBef>
              <a:spcAft>
                <a:spcPct val="15000"/>
              </a:spcAft>
              <a:buChar char="•"/>
            </a:pPr>
            <a:r>
              <a:rPr lang="es-ES" sz="2000" b="1" kern="1200"/>
              <a:t>Problema de la mochila</a:t>
            </a:r>
            <a:endParaRPr lang="es-PE" sz="2000" b="1" kern="1200"/>
          </a:p>
        </p:txBody>
      </p:sp>
    </p:spTree>
    <p:extLst>
      <p:ext uri="{BB962C8B-B14F-4D97-AF65-F5344CB8AC3E}">
        <p14:creationId xmlns:p14="http://schemas.microsoft.com/office/powerpoint/2010/main" val="296649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4" grpId="0" animBg="1"/>
      <p:bldP spid="4" grpId="0" animBg="1"/>
      <p:bldP spid="11"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6096000" y="241124"/>
            <a:ext cx="6096001" cy="57628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Problema </a:t>
            </a:r>
            <a:r>
              <a:rPr lang="es-ES" sz="3200" dirty="0" err="1">
                <a:solidFill>
                  <a:schemeClr val="bg1"/>
                </a:solidFill>
                <a:latin typeface="Bauhaus 93" pitchFamily="82" charset="0"/>
                <a:ea typeface="+mn-ea"/>
                <a:cs typeface="+mn-cs"/>
              </a:rPr>
              <a:t>N°1</a:t>
            </a:r>
            <a:endParaRPr lang="es-PE" sz="3200" dirty="0">
              <a:solidFill>
                <a:schemeClr val="bg1"/>
              </a:solidFill>
              <a:latin typeface="Bauhaus 93" pitchFamily="82" charset="0"/>
              <a:ea typeface="+mn-ea"/>
              <a:cs typeface="+mn-cs"/>
            </a:endParaRPr>
          </a:p>
        </p:txBody>
      </p:sp>
      <p:sp>
        <p:nvSpPr>
          <p:cNvPr id="5" name="4 Rectángulo">
            <a:extLst>
              <a:ext uri="{FF2B5EF4-FFF2-40B4-BE49-F238E27FC236}">
                <a16:creationId xmlns:a16="http://schemas.microsoft.com/office/drawing/2014/main" id="{D0DAF89E-6ED1-4CBE-8B83-5C80B98A2928}"/>
              </a:ext>
            </a:extLst>
          </p:cNvPr>
          <p:cNvSpPr/>
          <p:nvPr/>
        </p:nvSpPr>
        <p:spPr>
          <a:xfrm>
            <a:off x="6219646" y="1458456"/>
            <a:ext cx="5772108" cy="1938992"/>
          </a:xfrm>
          <a:prstGeom prst="rect">
            <a:avLst/>
          </a:prstGeom>
          <a:solidFill>
            <a:schemeClr val="accent4">
              <a:lumMod val="40000"/>
              <a:lumOff val="60000"/>
            </a:schemeClr>
          </a:solidFill>
        </p:spPr>
        <p:txBody>
          <a:bodyPr wrap="square">
            <a:spAutoFit/>
          </a:bodyPr>
          <a:lstStyle/>
          <a:p>
            <a:pPr>
              <a:defRPr/>
            </a:pPr>
            <a:r>
              <a:rPr lang="es-ES_tradnl" sz="2400" b="1" dirty="0">
                <a:solidFill>
                  <a:srgbClr val="FF0000"/>
                </a:solidFill>
              </a:rPr>
              <a:t>I Identificación de las variable</a:t>
            </a:r>
          </a:p>
          <a:p>
            <a:pPr lvl="0"/>
            <a:r>
              <a:rPr lang="es-PE" sz="2400" dirty="0"/>
              <a:t>A =  Frecuencia 100.0	   B = Frecuencia 100.1</a:t>
            </a:r>
            <a:endParaRPr lang="es-ES" sz="2400" dirty="0"/>
          </a:p>
          <a:p>
            <a:pPr lvl="0"/>
            <a:r>
              <a:rPr lang="es-PE" sz="2400" dirty="0"/>
              <a:t>C =  Frecuencia 100.3	   D = Frecuencia 100.7</a:t>
            </a:r>
            <a:endParaRPr lang="es-ES" sz="2400" dirty="0"/>
          </a:p>
          <a:p>
            <a:pPr lvl="0"/>
            <a:r>
              <a:rPr lang="es-PE" sz="2400" dirty="0"/>
              <a:t>E =  Frecuencia 101.0	   F  = Frecuencia 101.1</a:t>
            </a:r>
            <a:endParaRPr lang="es-ES" sz="2400" dirty="0"/>
          </a:p>
          <a:p>
            <a:pPr lvl="0"/>
            <a:r>
              <a:rPr lang="es-PE" sz="2400" dirty="0"/>
              <a:t>G =  Frecuencia 101.4	   H = Frecuencia 101.8</a:t>
            </a:r>
            <a:endParaRPr lang="es-ES_tradnl" sz="2400" b="1" dirty="0">
              <a:solidFill>
                <a:srgbClr val="FF0000"/>
              </a:solidFill>
            </a:endParaRPr>
          </a:p>
        </p:txBody>
      </p:sp>
      <p:sp>
        <p:nvSpPr>
          <p:cNvPr id="2" name="Rectángulo 1">
            <a:extLst>
              <a:ext uri="{FF2B5EF4-FFF2-40B4-BE49-F238E27FC236}">
                <a16:creationId xmlns:a16="http://schemas.microsoft.com/office/drawing/2014/main" id="{A630D69F-F7BF-4D3F-ABAE-7AEC0C5FD626}"/>
              </a:ext>
            </a:extLst>
          </p:cNvPr>
          <p:cNvSpPr/>
          <p:nvPr/>
        </p:nvSpPr>
        <p:spPr>
          <a:xfrm>
            <a:off x="6222519" y="3352663"/>
            <a:ext cx="5768198" cy="830997"/>
          </a:xfrm>
          <a:prstGeom prst="rect">
            <a:avLst/>
          </a:prstGeom>
          <a:solidFill>
            <a:schemeClr val="accent4">
              <a:lumMod val="40000"/>
              <a:lumOff val="60000"/>
            </a:schemeClr>
          </a:solidFill>
        </p:spPr>
        <p:txBody>
          <a:bodyPr wrap="square">
            <a:spAutoFit/>
          </a:bodyPr>
          <a:lstStyle/>
          <a:p>
            <a:pPr>
              <a:defRPr/>
            </a:pPr>
            <a:r>
              <a:rPr lang="es-ES_tradnl" sz="2400" b="1" dirty="0">
                <a:solidFill>
                  <a:srgbClr val="FF0000"/>
                </a:solidFill>
              </a:rPr>
              <a:t>II Identificación de la </a:t>
            </a:r>
            <a:r>
              <a:rPr lang="es-ES_tradnl" sz="2400" b="1" dirty="0" err="1">
                <a:solidFill>
                  <a:srgbClr val="FF0000"/>
                </a:solidFill>
              </a:rPr>
              <a:t>funcion</a:t>
            </a:r>
            <a:r>
              <a:rPr lang="es-ES_tradnl" sz="2400" b="1" dirty="0">
                <a:solidFill>
                  <a:srgbClr val="FF0000"/>
                </a:solidFill>
              </a:rPr>
              <a:t> objetivo</a:t>
            </a:r>
          </a:p>
          <a:p>
            <a:pPr lvl="0"/>
            <a:r>
              <a:rPr lang="es-PE" sz="2400" dirty="0"/>
              <a:t>MAX  A + B + C + D + E + F +G + H</a:t>
            </a:r>
          </a:p>
        </p:txBody>
      </p:sp>
      <p:sp>
        <p:nvSpPr>
          <p:cNvPr id="4" name="Rectángulo 3">
            <a:extLst>
              <a:ext uri="{FF2B5EF4-FFF2-40B4-BE49-F238E27FC236}">
                <a16:creationId xmlns:a16="http://schemas.microsoft.com/office/drawing/2014/main" id="{41073ADD-7915-477E-A914-7015839A19EE}"/>
              </a:ext>
            </a:extLst>
          </p:cNvPr>
          <p:cNvSpPr/>
          <p:nvPr/>
        </p:nvSpPr>
        <p:spPr>
          <a:xfrm>
            <a:off x="6222523" y="4112745"/>
            <a:ext cx="5776819" cy="2677656"/>
          </a:xfrm>
          <a:prstGeom prst="rect">
            <a:avLst/>
          </a:prstGeom>
          <a:solidFill>
            <a:schemeClr val="accent4">
              <a:lumMod val="40000"/>
              <a:lumOff val="60000"/>
            </a:schemeClr>
          </a:solidFill>
        </p:spPr>
        <p:txBody>
          <a:bodyPr wrap="square">
            <a:spAutoFit/>
          </a:bodyPr>
          <a:lstStyle/>
          <a:p>
            <a:pPr>
              <a:defRPr/>
            </a:pPr>
            <a:r>
              <a:rPr lang="es-ES_tradnl" sz="2400" b="1" dirty="0">
                <a:solidFill>
                  <a:srgbClr val="FF0000"/>
                </a:solidFill>
              </a:rPr>
              <a:t>III Identificación de las restricciones</a:t>
            </a:r>
          </a:p>
          <a:p>
            <a:pPr lvl="0"/>
            <a:r>
              <a:rPr lang="es-PE" sz="2400" dirty="0"/>
              <a:t>A     + 	B   +    C      ≤  1             	</a:t>
            </a:r>
            <a:endParaRPr lang="es-ES" sz="2400" dirty="0"/>
          </a:p>
          <a:p>
            <a:pPr lvl="0"/>
            <a:r>
              <a:rPr lang="es-PE" sz="2400" dirty="0"/>
              <a:t>             C    +    D     ≤  1</a:t>
            </a:r>
            <a:endParaRPr lang="es-ES" sz="2400" dirty="0"/>
          </a:p>
          <a:p>
            <a:pPr lvl="0"/>
            <a:r>
              <a:rPr lang="es-PE" sz="2400" dirty="0"/>
              <a:t>D     + 	E    +    F      ≤  1		</a:t>
            </a:r>
            <a:endParaRPr lang="es-ES" sz="2400" dirty="0"/>
          </a:p>
          <a:p>
            <a:pPr lvl="0"/>
            <a:r>
              <a:rPr lang="es-PE" sz="2400" dirty="0"/>
              <a:t>E      + 	F    +    G     ≤  1</a:t>
            </a:r>
            <a:endParaRPr lang="es-ES" sz="2400" dirty="0"/>
          </a:p>
          <a:p>
            <a:pPr lvl="0"/>
            <a:r>
              <a:rPr lang="es-PE" sz="2400" dirty="0"/>
              <a:t>	G   +    H      ≤  1</a:t>
            </a:r>
            <a:endParaRPr lang="es-ES" sz="2400" dirty="0"/>
          </a:p>
          <a:p>
            <a:pPr lvl="0"/>
            <a:r>
              <a:rPr lang="es-PE" sz="2400" dirty="0"/>
              <a:t>A, B, C, D, E, F, G, H  ≥  0  y  binario</a:t>
            </a:r>
          </a:p>
        </p:txBody>
      </p:sp>
      <p:sp>
        <p:nvSpPr>
          <p:cNvPr id="7" name="CuadroTexto 6">
            <a:extLst>
              <a:ext uri="{FF2B5EF4-FFF2-40B4-BE49-F238E27FC236}">
                <a16:creationId xmlns:a16="http://schemas.microsoft.com/office/drawing/2014/main" id="{65F3CCDC-9927-06EB-9032-9BE9DBA12470}"/>
              </a:ext>
            </a:extLst>
          </p:cNvPr>
          <p:cNvSpPr txBox="1"/>
          <p:nvPr/>
        </p:nvSpPr>
        <p:spPr>
          <a:xfrm>
            <a:off x="60960" y="1346886"/>
            <a:ext cx="5916105" cy="4893647"/>
          </a:xfrm>
          <a:prstGeom prst="rect">
            <a:avLst/>
          </a:prstGeom>
          <a:noFill/>
        </p:spPr>
        <p:txBody>
          <a:bodyPr wrap="square">
            <a:spAutoFit/>
          </a:bodyPr>
          <a:lstStyle/>
          <a:p>
            <a:pPr algn="just"/>
            <a:r>
              <a:rPr lang="es-ES" sz="2600" i="1" dirty="0"/>
              <a:t>Mason </a:t>
            </a:r>
            <a:r>
              <a:rPr lang="es-ES" sz="2600" i="1" dirty="0" err="1"/>
              <a:t>Communication</a:t>
            </a:r>
            <a:r>
              <a:rPr lang="es-ES" sz="2600" i="1" dirty="0"/>
              <a:t> </a:t>
            </a:r>
            <a:r>
              <a:rPr lang="es-ES" sz="2600" i="1" dirty="0" err="1"/>
              <a:t>Commission</a:t>
            </a:r>
            <a:r>
              <a:rPr lang="es-ES" sz="2600" i="1" dirty="0"/>
              <a:t> </a:t>
            </a:r>
            <a:r>
              <a:rPr lang="es-ES" sz="2600" dirty="0"/>
              <a:t>ha recibido solicitudes de asignación de frecuencias de cuatro nuevas estaciones de radio. Dos frecuencias de radio interfieren si están a 0.5 mega </a:t>
            </a:r>
            <a:r>
              <a:rPr lang="es-ES" sz="2600" dirty="0" err="1"/>
              <a:t>hertz</a:t>
            </a:r>
            <a:r>
              <a:rPr lang="es-ES" sz="2600" dirty="0"/>
              <a:t> de distancia. Las siguientes frecuencias en mega Hertz están actualmente disponibles: 100.0, 100.1, 100.3, 100.7, 101.0, 101.1, 101.4, 101.8. Formule un modelo para determinar si la comisión puede asignar cuatro nuevas frecuencias y, si es así, cuáles. </a:t>
            </a:r>
            <a:endParaRPr lang="es-PE" sz="2600" dirty="0"/>
          </a:p>
        </p:txBody>
      </p:sp>
    </p:spTree>
    <p:extLst>
      <p:ext uri="{BB962C8B-B14F-4D97-AF65-F5344CB8AC3E}">
        <p14:creationId xmlns:p14="http://schemas.microsoft.com/office/powerpoint/2010/main" val="41755659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xfrm>
            <a:off x="523784" y="1398748"/>
            <a:ext cx="5223536" cy="5269471"/>
          </a:xfrm>
          <a:solidFill>
            <a:srgbClr val="FFFF00"/>
          </a:solidFill>
        </p:spPr>
        <p:txBody>
          <a:bodyPr>
            <a:noAutofit/>
          </a:bodyPr>
          <a:lstStyle/>
          <a:p>
            <a:pPr>
              <a:lnSpc>
                <a:spcPct val="120000"/>
              </a:lnSpc>
              <a:spcBef>
                <a:spcPct val="0"/>
              </a:spcBef>
              <a:buFont typeface="Wingdings" pitchFamily="2" charset="2"/>
              <a:buNone/>
            </a:pPr>
            <a:r>
              <a:rPr lang="es-PE" sz="2400" b="1" dirty="0">
                <a:latin typeface="Arial Narrow" pitchFamily="34" charset="0"/>
              </a:rPr>
              <a:t>MAX  A + B + C + D + E + F +G + H</a:t>
            </a:r>
          </a:p>
          <a:p>
            <a:pPr marL="0" indent="0">
              <a:lnSpc>
                <a:spcPct val="120000"/>
              </a:lnSpc>
              <a:spcBef>
                <a:spcPct val="0"/>
              </a:spcBef>
              <a:buNone/>
            </a:pPr>
            <a:r>
              <a:rPr lang="es-PE" sz="2400" b="1" dirty="0">
                <a:solidFill>
                  <a:srgbClr val="FF0000"/>
                </a:solidFill>
                <a:latin typeface="Arial Narrow" pitchFamily="34" charset="0"/>
              </a:rPr>
              <a:t>SUBJECT TO</a:t>
            </a:r>
          </a:p>
          <a:p>
            <a:pPr>
              <a:lnSpc>
                <a:spcPct val="120000"/>
              </a:lnSpc>
              <a:spcBef>
                <a:spcPct val="0"/>
              </a:spcBef>
              <a:buFont typeface="Wingdings" pitchFamily="2" charset="2"/>
              <a:buNone/>
            </a:pPr>
            <a:r>
              <a:rPr lang="es-PE" sz="2400" b="1" dirty="0">
                <a:latin typeface="Arial Narrow" pitchFamily="34" charset="0"/>
              </a:rPr>
              <a:t>		A   + 	B   + 	C   &lt;= 1             			C   + 	D   &lt;= 1</a:t>
            </a:r>
          </a:p>
          <a:p>
            <a:pPr>
              <a:lnSpc>
                <a:spcPct val="120000"/>
              </a:lnSpc>
              <a:spcBef>
                <a:spcPct val="0"/>
              </a:spcBef>
              <a:buNone/>
            </a:pPr>
            <a:r>
              <a:rPr lang="es-PE" sz="2400" b="1" dirty="0">
                <a:latin typeface="Arial Narrow" pitchFamily="34" charset="0"/>
              </a:rPr>
              <a:t>		D   + 	E   + 	F   &lt;= 1	</a:t>
            </a:r>
          </a:p>
          <a:p>
            <a:pPr>
              <a:lnSpc>
                <a:spcPct val="120000"/>
              </a:lnSpc>
              <a:spcBef>
                <a:spcPct val="0"/>
              </a:spcBef>
              <a:buNone/>
            </a:pPr>
            <a:r>
              <a:rPr lang="es-PE" sz="2400" b="1" dirty="0">
                <a:latin typeface="Arial Narrow" pitchFamily="34" charset="0"/>
              </a:rPr>
              <a:t>		E   + 	F   + 	G  &lt;= 1</a:t>
            </a:r>
          </a:p>
          <a:p>
            <a:pPr>
              <a:lnSpc>
                <a:spcPct val="120000"/>
              </a:lnSpc>
              <a:spcBef>
                <a:spcPct val="0"/>
              </a:spcBef>
              <a:buNone/>
            </a:pPr>
            <a:r>
              <a:rPr lang="es-PE" sz="2400" b="1" dirty="0">
                <a:latin typeface="Arial Narrow" pitchFamily="34" charset="0"/>
              </a:rPr>
              <a:t>	         		G   + 	H  &lt;= 1</a:t>
            </a:r>
          </a:p>
          <a:p>
            <a:pPr>
              <a:lnSpc>
                <a:spcPct val="120000"/>
              </a:lnSpc>
              <a:spcBef>
                <a:spcPct val="0"/>
              </a:spcBef>
              <a:buNone/>
            </a:pPr>
            <a:r>
              <a:rPr lang="es-PE" sz="2400" b="1" dirty="0">
                <a:solidFill>
                  <a:srgbClr val="FF0000"/>
                </a:solidFill>
                <a:latin typeface="Arial Narrow" pitchFamily="34" charset="0"/>
              </a:rPr>
              <a:t>END</a:t>
            </a:r>
          </a:p>
          <a:p>
            <a:pPr>
              <a:lnSpc>
                <a:spcPct val="120000"/>
              </a:lnSpc>
              <a:spcBef>
                <a:spcPct val="0"/>
              </a:spcBef>
              <a:buNone/>
            </a:pPr>
            <a:r>
              <a:rPr lang="es-PE" sz="2400" b="1" dirty="0">
                <a:latin typeface="Arial Narrow" pitchFamily="34" charset="0"/>
              </a:rPr>
              <a:t>INT A	INT B</a:t>
            </a:r>
          </a:p>
          <a:p>
            <a:pPr>
              <a:lnSpc>
                <a:spcPct val="120000"/>
              </a:lnSpc>
              <a:spcBef>
                <a:spcPct val="0"/>
              </a:spcBef>
              <a:buNone/>
            </a:pPr>
            <a:r>
              <a:rPr lang="es-PE" sz="2400" b="1" dirty="0">
                <a:latin typeface="Arial Narrow" pitchFamily="34" charset="0"/>
              </a:rPr>
              <a:t>INT C	INT D</a:t>
            </a:r>
          </a:p>
          <a:p>
            <a:pPr>
              <a:lnSpc>
                <a:spcPct val="120000"/>
              </a:lnSpc>
              <a:spcBef>
                <a:spcPct val="0"/>
              </a:spcBef>
              <a:buNone/>
            </a:pPr>
            <a:r>
              <a:rPr lang="es-PE" sz="2400" b="1" dirty="0">
                <a:latin typeface="Arial Narrow" pitchFamily="34" charset="0"/>
              </a:rPr>
              <a:t>INT E	INT F</a:t>
            </a:r>
          </a:p>
          <a:p>
            <a:pPr>
              <a:lnSpc>
                <a:spcPct val="120000"/>
              </a:lnSpc>
              <a:spcBef>
                <a:spcPct val="0"/>
              </a:spcBef>
              <a:buNone/>
            </a:pPr>
            <a:r>
              <a:rPr lang="es-PE" sz="2400" b="1" dirty="0">
                <a:latin typeface="Arial Narrow" pitchFamily="34" charset="0"/>
              </a:rPr>
              <a:t>INT G	INT H</a:t>
            </a:r>
          </a:p>
        </p:txBody>
      </p:sp>
      <p:sp>
        <p:nvSpPr>
          <p:cNvPr id="5" name="Rectangle 2"/>
          <p:cNvSpPr>
            <a:spLocks noGrp="1" noChangeArrowheads="1"/>
          </p:cNvSpPr>
          <p:nvPr>
            <p:ph type="title"/>
          </p:nvPr>
        </p:nvSpPr>
        <p:spPr bwMode="auto">
          <a:xfrm>
            <a:off x="6096000" y="270002"/>
            <a:ext cx="6096000" cy="432842"/>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accent5">
                    <a:lumMod val="20000"/>
                    <a:lumOff val="80000"/>
                  </a:schemeClr>
                </a:solidFill>
                <a:latin typeface="Bauhaus 93" pitchFamily="82" charset="0"/>
                <a:ea typeface="+mn-ea"/>
                <a:cs typeface="+mn-cs"/>
              </a:rPr>
              <a:t>Lindo</a:t>
            </a:r>
            <a:endParaRPr lang="es-PE" sz="3200" dirty="0">
              <a:solidFill>
                <a:schemeClr val="accent5">
                  <a:lumMod val="20000"/>
                  <a:lumOff val="80000"/>
                </a:schemeClr>
              </a:solidFill>
              <a:latin typeface="Bauhaus 93" pitchFamily="82" charset="0"/>
              <a:ea typeface="+mn-ea"/>
              <a:cs typeface="+mn-cs"/>
            </a:endParaRPr>
          </a:p>
        </p:txBody>
      </p:sp>
      <p:graphicFrame>
        <p:nvGraphicFramePr>
          <p:cNvPr id="4" name="3 Diagrama"/>
          <p:cNvGraphicFramePr/>
          <p:nvPr>
            <p:extLst>
              <p:ext uri="{D42A27DB-BD31-4B8C-83A1-F6EECF244321}">
                <p14:modId xmlns:p14="http://schemas.microsoft.com/office/powerpoint/2010/main" val="4062040492"/>
              </p:ext>
            </p:extLst>
          </p:nvPr>
        </p:nvGraphicFramePr>
        <p:xfrm>
          <a:off x="6178858" y="1322773"/>
          <a:ext cx="6013141" cy="53454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96489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721A808-8D3B-40E5-AA7F-ACB63BE78A73}"/>
              </a:ext>
            </a:extLst>
          </p:cNvPr>
          <p:cNvSpPr/>
          <p:nvPr/>
        </p:nvSpPr>
        <p:spPr>
          <a:xfrm>
            <a:off x="406300" y="1203950"/>
            <a:ext cx="5651600" cy="1323439"/>
          </a:xfrm>
          <a:prstGeom prst="rect">
            <a:avLst/>
          </a:prstGeom>
        </p:spPr>
        <p:txBody>
          <a:bodyPr wrap="square">
            <a:spAutoFit/>
          </a:bodyPr>
          <a:lstStyle/>
          <a:p>
            <a:pPr marL="88900" marR="67310" algn="just">
              <a:spcAft>
                <a:spcPts val="0"/>
              </a:spcAft>
            </a:pP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Un</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mpr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sa</a:t>
            </a:r>
            <a:r>
              <a:rPr lang="es-PE" sz="2000" b="1"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de</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ort</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a:t>
            </a:r>
            <a:r>
              <a:rPr lang="es-PE" sz="2000" b="1" spc="-5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d</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be</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d</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idir</a:t>
            </a:r>
            <a:r>
              <a:rPr lang="es-PE" sz="2000" b="1"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q</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é</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í</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cu</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l</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os</a:t>
            </a:r>
            <a:r>
              <a:rPr lang="es-PE" sz="2000" b="1"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d</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be</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spor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28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u="heavy"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u="heavy"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u="heavy"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u="heavy" dirty="0">
                <a:latin typeface="Arial Narrow" panose="020B0606020202030204" pitchFamily="34" charset="0"/>
                <a:ea typeface="Times New Roman" panose="02020603050405020304" pitchFamily="18" charset="0"/>
                <a:cs typeface="Times New Roman" panose="02020603050405020304" pitchFamily="18" charset="0"/>
              </a:rPr>
              <a:t>su</a:t>
            </a:r>
            <a:r>
              <a:rPr lang="es-PE" sz="2000" b="1" u="heavy"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u="heavy" dirty="0">
                <a:latin typeface="Arial Narrow" panose="020B0606020202030204" pitchFamily="34" charset="0"/>
                <a:ea typeface="Times New Roman" panose="02020603050405020304" pitchFamily="18" charset="0"/>
                <a:cs typeface="Times New Roman" panose="02020603050405020304" pitchFamily="18" charset="0"/>
              </a:rPr>
              <a:t>p</a:t>
            </a:r>
            <a:r>
              <a:rPr lang="es-PE" sz="2000" b="1" u="heavy" spc="10"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u="heavy" dirty="0">
                <a:latin typeface="Arial Narrow" panose="020B0606020202030204" pitchFamily="34" charset="0"/>
                <a:ea typeface="Times New Roman" panose="02020603050405020304" pitchFamily="18" charset="0"/>
                <a:cs typeface="Times New Roman" panose="02020603050405020304" pitchFamily="18" charset="0"/>
              </a:rPr>
              <a:t>im</a:t>
            </a:r>
            <a:r>
              <a:rPr lang="es-PE" sz="2000" b="1" u="heavy"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u="heavy"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u="heavy"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u="heavy" dirty="0">
                <a:latin typeface="Arial Narrow" panose="020B0606020202030204" pitchFamily="34" charset="0"/>
                <a:ea typeface="Times New Roman" panose="02020603050405020304" pitchFamily="18" charset="0"/>
                <a:cs typeface="Times New Roman" panose="02020603050405020304" pitchFamily="18" charset="0"/>
              </a:rPr>
              <a:t>via</a:t>
            </a:r>
            <a:r>
              <a:rPr lang="es-PE" sz="2000" b="1" u="heavy" spc="10" dirty="0">
                <a:latin typeface="Arial Narrow" panose="020B0606020202030204" pitchFamily="34" charset="0"/>
                <a:ea typeface="Times New Roman" panose="02020603050405020304" pitchFamily="18" charset="0"/>
                <a:cs typeface="Times New Roman" panose="02020603050405020304" pitchFamily="18" charset="0"/>
              </a:rPr>
              <a:t>j</a:t>
            </a:r>
            <a:r>
              <a:rPr lang="es-PE" sz="2000" b="1" u="heavy"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a:t>
            </a:r>
            <a:r>
              <a:rPr lang="es-PE" sz="2000" b="1"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l</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p</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s</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o</a:t>
            </a:r>
            <a:r>
              <a:rPr lang="es-PE" sz="2000" b="1"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de</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ca</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d</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í</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cu</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lo y</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la</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 u</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tilid</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d</a:t>
            </a:r>
            <a:r>
              <a:rPr lang="es-PE" sz="2000" b="1"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que</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g</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rí</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a:t>
            </a:r>
            <a:r>
              <a:rPr lang="es-PE" sz="2000" b="1"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en</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so</a:t>
            </a:r>
            <a:r>
              <a:rPr lang="es-PE" sz="2000" b="1"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sea</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spor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do,</a:t>
            </a:r>
            <a:r>
              <a:rPr lang="es-PE" sz="2000" b="1" spc="-6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se</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str</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o</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t</a:t>
            </a:r>
            <a:r>
              <a:rPr lang="es-PE" sz="2000" b="1" spc="10" dirty="0">
                <a:latin typeface="Arial Narrow" panose="020B0606020202030204" pitchFamily="34" charset="0"/>
                <a:ea typeface="Times New Roman" panose="02020603050405020304" pitchFamily="18" charset="0"/>
                <a:cs typeface="Times New Roman" panose="02020603050405020304" pitchFamily="18" charset="0"/>
              </a:rPr>
              <a:t>i</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nu</a:t>
            </a:r>
            <a:r>
              <a:rPr lang="es-PE" sz="2000" b="1"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ió</a:t>
            </a:r>
            <a:r>
              <a:rPr lang="es-PE" sz="2000" b="1"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2000" b="1" dirty="0">
                <a:latin typeface="Arial Narrow" panose="020B0606020202030204" pitchFamily="34" charset="0"/>
                <a:ea typeface="Times New Roman" panose="02020603050405020304" pitchFamily="18" charset="0"/>
                <a:cs typeface="Times New Roman" panose="02020603050405020304" pitchFamily="18" charset="0"/>
              </a:rPr>
              <a:t>:</a:t>
            </a:r>
            <a:endParaRPr lang="es-PE" sz="2000" b="1" dirty="0">
              <a:effectLst/>
              <a:latin typeface="Arial Narrow" panose="020B0606020202030204" pitchFamily="34" charset="0"/>
              <a:ea typeface="Times New Roman" panose="02020603050405020304" pitchFamily="18" charset="0"/>
              <a:cs typeface="Times New Roman" panose="02020603050405020304" pitchFamily="18" charset="0"/>
            </a:endParaRPr>
          </a:p>
        </p:txBody>
      </p:sp>
      <p:graphicFrame>
        <p:nvGraphicFramePr>
          <p:cNvPr id="5" name="Tabla 4">
            <a:extLst>
              <a:ext uri="{FF2B5EF4-FFF2-40B4-BE49-F238E27FC236}">
                <a16:creationId xmlns:a16="http://schemas.microsoft.com/office/drawing/2014/main" id="{4CAA970E-FB11-48E3-9DA2-0021E7E9EAEE}"/>
              </a:ext>
            </a:extLst>
          </p:cNvPr>
          <p:cNvGraphicFramePr>
            <a:graphicFrameLocks noGrp="1"/>
          </p:cNvGraphicFramePr>
          <p:nvPr>
            <p:extLst>
              <p:ext uri="{D42A27DB-BD31-4B8C-83A1-F6EECF244321}">
                <p14:modId xmlns:p14="http://schemas.microsoft.com/office/powerpoint/2010/main" val="2675919387"/>
              </p:ext>
            </p:extLst>
          </p:nvPr>
        </p:nvGraphicFramePr>
        <p:xfrm>
          <a:off x="458055" y="2604734"/>
          <a:ext cx="5599845" cy="975228"/>
        </p:xfrm>
        <a:graphic>
          <a:graphicData uri="http://schemas.openxmlformats.org/drawingml/2006/table">
            <a:tbl>
              <a:tblPr>
                <a:tableStyleId>{5C22544A-7EE6-4342-B048-85BDC9FD1C3A}</a:tableStyleId>
              </a:tblPr>
              <a:tblGrid>
                <a:gridCol w="2045453">
                  <a:extLst>
                    <a:ext uri="{9D8B030D-6E8A-4147-A177-3AD203B41FA5}">
                      <a16:colId xmlns:a16="http://schemas.microsoft.com/office/drawing/2014/main" val="430939687"/>
                    </a:ext>
                  </a:extLst>
                </a:gridCol>
                <a:gridCol w="374012">
                  <a:extLst>
                    <a:ext uri="{9D8B030D-6E8A-4147-A177-3AD203B41FA5}">
                      <a16:colId xmlns:a16="http://schemas.microsoft.com/office/drawing/2014/main" val="3662761564"/>
                    </a:ext>
                  </a:extLst>
                </a:gridCol>
                <a:gridCol w="468588">
                  <a:extLst>
                    <a:ext uri="{9D8B030D-6E8A-4147-A177-3AD203B41FA5}">
                      <a16:colId xmlns:a16="http://schemas.microsoft.com/office/drawing/2014/main" val="2982189290"/>
                    </a:ext>
                  </a:extLst>
                </a:gridCol>
                <a:gridCol w="468588">
                  <a:extLst>
                    <a:ext uri="{9D8B030D-6E8A-4147-A177-3AD203B41FA5}">
                      <a16:colId xmlns:a16="http://schemas.microsoft.com/office/drawing/2014/main" val="4285249757"/>
                    </a:ext>
                  </a:extLst>
                </a:gridCol>
                <a:gridCol w="466009">
                  <a:extLst>
                    <a:ext uri="{9D8B030D-6E8A-4147-A177-3AD203B41FA5}">
                      <a16:colId xmlns:a16="http://schemas.microsoft.com/office/drawing/2014/main" val="3253772857"/>
                    </a:ext>
                  </a:extLst>
                </a:gridCol>
                <a:gridCol w="468588">
                  <a:extLst>
                    <a:ext uri="{9D8B030D-6E8A-4147-A177-3AD203B41FA5}">
                      <a16:colId xmlns:a16="http://schemas.microsoft.com/office/drawing/2014/main" val="568509280"/>
                    </a:ext>
                  </a:extLst>
                </a:gridCol>
                <a:gridCol w="468588">
                  <a:extLst>
                    <a:ext uri="{9D8B030D-6E8A-4147-A177-3AD203B41FA5}">
                      <a16:colId xmlns:a16="http://schemas.microsoft.com/office/drawing/2014/main" val="279930377"/>
                    </a:ext>
                  </a:extLst>
                </a:gridCol>
                <a:gridCol w="466869">
                  <a:extLst>
                    <a:ext uri="{9D8B030D-6E8A-4147-A177-3AD203B41FA5}">
                      <a16:colId xmlns:a16="http://schemas.microsoft.com/office/drawing/2014/main" val="641875468"/>
                    </a:ext>
                  </a:extLst>
                </a:gridCol>
                <a:gridCol w="373150">
                  <a:extLst>
                    <a:ext uri="{9D8B030D-6E8A-4147-A177-3AD203B41FA5}">
                      <a16:colId xmlns:a16="http://schemas.microsoft.com/office/drawing/2014/main" val="1595605833"/>
                    </a:ext>
                  </a:extLst>
                </a:gridCol>
              </a:tblGrid>
              <a:tr h="383438">
                <a:tc>
                  <a:txBody>
                    <a:bodyPr/>
                    <a:lstStyle/>
                    <a:p>
                      <a:pPr marL="64770" algn="ctr">
                        <a:lnSpc>
                          <a:spcPts val="1190"/>
                        </a:lnSpc>
                        <a:spcAft>
                          <a:spcPts val="0"/>
                        </a:spcAft>
                      </a:pPr>
                      <a:r>
                        <a:rPr lang="es-PE" sz="2000" b="1" noProof="0">
                          <a:effectLst/>
                        </a:rPr>
                        <a:t>Tipo</a:t>
                      </a:r>
                      <a:r>
                        <a:rPr lang="es-PE" sz="2000" b="1" spc="-15" noProof="0">
                          <a:effectLst/>
                        </a:rPr>
                        <a:t> </a:t>
                      </a:r>
                      <a:r>
                        <a:rPr lang="es-PE" sz="2000" b="1" noProof="0">
                          <a:effectLst/>
                        </a:rPr>
                        <a:t>de</a:t>
                      </a:r>
                      <a:r>
                        <a:rPr lang="es-PE" sz="2000" b="1" spc="-10" noProof="0">
                          <a:effectLst/>
                        </a:rPr>
                        <a:t> </a:t>
                      </a:r>
                      <a:r>
                        <a:rPr lang="es-PE" sz="2000" b="1" noProof="0">
                          <a:effectLst/>
                        </a:rPr>
                        <a:t>A</a:t>
                      </a:r>
                      <a:r>
                        <a:rPr lang="es-PE" sz="2000" b="1" spc="15" noProof="0">
                          <a:effectLst/>
                        </a:rPr>
                        <a:t>r</a:t>
                      </a:r>
                      <a:r>
                        <a:rPr lang="es-PE" sz="2000" b="1" spc="-5" noProof="0">
                          <a:effectLst/>
                        </a:rPr>
                        <a:t>t</a:t>
                      </a:r>
                      <a:r>
                        <a:rPr lang="es-PE" sz="2000" b="1" noProof="0">
                          <a:effectLst/>
                        </a:rPr>
                        <a:t>ícu</a:t>
                      </a:r>
                      <a:r>
                        <a:rPr lang="es-PE" sz="2000" b="1" spc="10" noProof="0">
                          <a:effectLst/>
                        </a:rPr>
                        <a:t>l</a:t>
                      </a:r>
                      <a:r>
                        <a:rPr lang="es-PE" sz="2000" b="1" noProof="0">
                          <a:effectLst/>
                        </a:rPr>
                        <a:t>o</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77470" marR="77470" algn="ctr">
                        <a:lnSpc>
                          <a:spcPts val="1190"/>
                        </a:lnSpc>
                        <a:spcAft>
                          <a:spcPts val="0"/>
                        </a:spcAft>
                      </a:pPr>
                      <a:r>
                        <a:rPr lang="es-PE" sz="2000" b="1" noProof="0">
                          <a:effectLst/>
                        </a:rPr>
                        <a:t>1</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190"/>
                        </a:lnSpc>
                        <a:spcAft>
                          <a:spcPts val="0"/>
                        </a:spcAft>
                      </a:pPr>
                      <a:r>
                        <a:rPr lang="es-PE" sz="2000" b="1" noProof="0">
                          <a:effectLst/>
                        </a:rPr>
                        <a:t>2</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190"/>
                        </a:lnSpc>
                        <a:spcAft>
                          <a:spcPts val="0"/>
                        </a:spcAft>
                      </a:pPr>
                      <a:r>
                        <a:rPr lang="es-PE" sz="2000" b="1" noProof="0">
                          <a:effectLst/>
                        </a:rPr>
                        <a:t>3</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1125" marR="112395" algn="ctr">
                        <a:lnSpc>
                          <a:spcPts val="1190"/>
                        </a:lnSpc>
                        <a:spcAft>
                          <a:spcPts val="0"/>
                        </a:spcAft>
                      </a:pPr>
                      <a:r>
                        <a:rPr lang="es-PE" sz="2000" b="1" noProof="0">
                          <a:effectLst/>
                        </a:rPr>
                        <a:t>4</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190"/>
                        </a:lnSpc>
                        <a:spcAft>
                          <a:spcPts val="0"/>
                        </a:spcAft>
                      </a:pPr>
                      <a:r>
                        <a:rPr lang="es-PE" sz="2000" b="1" noProof="0">
                          <a:effectLst/>
                        </a:rPr>
                        <a:t>5</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190"/>
                        </a:lnSpc>
                        <a:spcAft>
                          <a:spcPts val="0"/>
                        </a:spcAft>
                      </a:pPr>
                      <a:r>
                        <a:rPr lang="es-PE" sz="2000" b="1" noProof="0">
                          <a:effectLst/>
                        </a:rPr>
                        <a:t>6</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1760" marR="112395" algn="ctr">
                        <a:lnSpc>
                          <a:spcPts val="1190"/>
                        </a:lnSpc>
                        <a:spcAft>
                          <a:spcPts val="0"/>
                        </a:spcAft>
                      </a:pPr>
                      <a:r>
                        <a:rPr lang="es-PE" sz="2000" b="1" noProof="0">
                          <a:effectLst/>
                        </a:rPr>
                        <a:t>7</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77470" marR="77470" algn="ctr">
                        <a:lnSpc>
                          <a:spcPts val="1190"/>
                        </a:lnSpc>
                        <a:spcAft>
                          <a:spcPts val="0"/>
                        </a:spcAft>
                      </a:pPr>
                      <a:r>
                        <a:rPr lang="es-PE" sz="2000" b="1" noProof="0">
                          <a:effectLst/>
                        </a:rPr>
                        <a:t>8</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326757924"/>
                  </a:ext>
                </a:extLst>
              </a:tr>
              <a:tr h="208352">
                <a:tc>
                  <a:txBody>
                    <a:bodyPr/>
                    <a:lstStyle/>
                    <a:p>
                      <a:pPr marL="64770" algn="ctr">
                        <a:lnSpc>
                          <a:spcPts val="1200"/>
                        </a:lnSpc>
                        <a:spcAft>
                          <a:spcPts val="0"/>
                        </a:spcAft>
                      </a:pPr>
                      <a:r>
                        <a:rPr lang="es-PE" sz="2000" b="1" spc="5" noProof="0">
                          <a:effectLst/>
                        </a:rPr>
                        <a:t>P</a:t>
                      </a:r>
                      <a:r>
                        <a:rPr lang="es-PE" sz="2000" b="1" spc="-5" noProof="0">
                          <a:effectLst/>
                        </a:rPr>
                        <a:t>e</a:t>
                      </a:r>
                      <a:r>
                        <a:rPr lang="es-PE" sz="2000" b="1" noProof="0">
                          <a:effectLst/>
                        </a:rPr>
                        <a:t>so</a:t>
                      </a:r>
                      <a:r>
                        <a:rPr lang="es-PE" sz="2000" b="1" spc="-30" noProof="0">
                          <a:effectLst/>
                        </a:rPr>
                        <a:t> </a:t>
                      </a:r>
                      <a:r>
                        <a:rPr lang="es-PE" sz="2000" b="1" spc="5" noProof="0">
                          <a:effectLst/>
                        </a:rPr>
                        <a:t>(</a:t>
                      </a:r>
                      <a:r>
                        <a:rPr lang="es-PE" sz="2000" b="1" spc="-5" noProof="0">
                          <a:effectLst/>
                        </a:rPr>
                        <a:t>t</a:t>
                      </a:r>
                      <a:r>
                        <a:rPr lang="es-PE" sz="2000" b="1" noProof="0">
                          <a:effectLst/>
                        </a:rPr>
                        <a:t>)</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77470" marR="77470" algn="ctr">
                        <a:lnSpc>
                          <a:spcPts val="1200"/>
                        </a:lnSpc>
                        <a:spcAft>
                          <a:spcPts val="0"/>
                        </a:spcAft>
                      </a:pPr>
                      <a:r>
                        <a:rPr lang="es-PE" sz="2000" b="1" noProof="0">
                          <a:effectLst/>
                        </a:rPr>
                        <a:t>2</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200"/>
                        </a:lnSpc>
                        <a:spcAft>
                          <a:spcPts val="0"/>
                        </a:spcAft>
                      </a:pPr>
                      <a:r>
                        <a:rPr lang="es-PE" sz="2000" b="1" noProof="0">
                          <a:effectLst/>
                        </a:rPr>
                        <a:t>3</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200"/>
                        </a:lnSpc>
                        <a:spcAft>
                          <a:spcPts val="0"/>
                        </a:spcAft>
                      </a:pPr>
                      <a:r>
                        <a:rPr lang="es-PE" sz="2000" b="1" noProof="0">
                          <a:effectLst/>
                        </a:rPr>
                        <a:t>5</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1125" marR="112395" algn="ctr">
                        <a:lnSpc>
                          <a:spcPts val="1200"/>
                        </a:lnSpc>
                        <a:spcAft>
                          <a:spcPts val="0"/>
                        </a:spcAft>
                      </a:pPr>
                      <a:r>
                        <a:rPr lang="es-PE" sz="2000" b="1" noProof="0">
                          <a:effectLst/>
                        </a:rPr>
                        <a:t>2</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200"/>
                        </a:lnSpc>
                        <a:spcAft>
                          <a:spcPts val="0"/>
                        </a:spcAft>
                      </a:pPr>
                      <a:r>
                        <a:rPr lang="es-PE" sz="2000" b="1" noProof="0">
                          <a:effectLst/>
                        </a:rPr>
                        <a:t>6</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3030" marR="112395" algn="ctr">
                        <a:lnSpc>
                          <a:spcPts val="1200"/>
                        </a:lnSpc>
                        <a:spcAft>
                          <a:spcPts val="0"/>
                        </a:spcAft>
                      </a:pPr>
                      <a:r>
                        <a:rPr lang="es-PE" sz="2000" b="1" noProof="0">
                          <a:effectLst/>
                        </a:rPr>
                        <a:t>5</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111760" marR="112395" algn="ctr">
                        <a:lnSpc>
                          <a:spcPts val="1200"/>
                        </a:lnSpc>
                        <a:spcAft>
                          <a:spcPts val="0"/>
                        </a:spcAft>
                      </a:pPr>
                      <a:r>
                        <a:rPr lang="es-PE" sz="2000" b="1" noProof="0">
                          <a:effectLst/>
                        </a:rPr>
                        <a:t>3</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77470" marR="77470" algn="ctr">
                        <a:lnSpc>
                          <a:spcPts val="1200"/>
                        </a:lnSpc>
                        <a:spcAft>
                          <a:spcPts val="0"/>
                        </a:spcAft>
                      </a:pPr>
                      <a:r>
                        <a:rPr lang="es-PE" sz="2000" b="1" noProof="0">
                          <a:effectLst/>
                        </a:rPr>
                        <a:t>1</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09098955"/>
                  </a:ext>
                </a:extLst>
              </a:tr>
              <a:tr h="383438">
                <a:tc>
                  <a:txBody>
                    <a:bodyPr/>
                    <a:lstStyle/>
                    <a:p>
                      <a:pPr marL="64770" algn="ctr">
                        <a:lnSpc>
                          <a:spcPts val="1200"/>
                        </a:lnSpc>
                        <a:spcAft>
                          <a:spcPts val="0"/>
                        </a:spcAft>
                      </a:pPr>
                      <a:r>
                        <a:rPr lang="es-PE" sz="2000" b="1" spc="-5" noProof="0">
                          <a:effectLst/>
                        </a:rPr>
                        <a:t>Ut</a:t>
                      </a:r>
                      <a:r>
                        <a:rPr lang="es-PE" sz="2000" b="1" noProof="0">
                          <a:effectLst/>
                        </a:rPr>
                        <a:t>i</a:t>
                      </a:r>
                      <a:r>
                        <a:rPr lang="es-PE" sz="2000" b="1" spc="10" noProof="0">
                          <a:effectLst/>
                        </a:rPr>
                        <a:t>l</a:t>
                      </a:r>
                      <a:r>
                        <a:rPr lang="es-PE" sz="2000" b="1" noProof="0">
                          <a:effectLst/>
                        </a:rPr>
                        <a:t>i</a:t>
                      </a:r>
                      <a:r>
                        <a:rPr lang="es-PE" sz="2000" b="1" spc="-5" noProof="0">
                          <a:effectLst/>
                        </a:rPr>
                        <a:t>d</a:t>
                      </a:r>
                      <a:r>
                        <a:rPr lang="es-PE" sz="2000" b="1" noProof="0">
                          <a:effectLst/>
                        </a:rPr>
                        <a:t>ad</a:t>
                      </a:r>
                      <a:r>
                        <a:rPr lang="es-PE" sz="2000" b="1" spc="-35" noProof="0">
                          <a:effectLst/>
                        </a:rPr>
                        <a:t> </a:t>
                      </a:r>
                      <a:r>
                        <a:rPr lang="es-PE" sz="2000" b="1" spc="10" noProof="0">
                          <a:effectLst/>
                        </a:rPr>
                        <a:t>(</a:t>
                      </a:r>
                      <a:r>
                        <a:rPr lang="es-PE" sz="2000" b="1" noProof="0">
                          <a:effectLst/>
                        </a:rPr>
                        <a:t>Mi</a:t>
                      </a:r>
                      <a:r>
                        <a:rPr lang="es-PE" sz="2000" b="1" spc="10" noProof="0">
                          <a:effectLst/>
                        </a:rPr>
                        <a:t>l</a:t>
                      </a:r>
                      <a:r>
                        <a:rPr lang="es-PE" sz="2000" b="1" spc="-5" noProof="0">
                          <a:effectLst/>
                        </a:rPr>
                        <a:t>e</a:t>
                      </a:r>
                      <a:r>
                        <a:rPr lang="es-PE" sz="2000" b="1" noProof="0">
                          <a:effectLst/>
                        </a:rPr>
                        <a:t>s</a:t>
                      </a:r>
                      <a:r>
                        <a:rPr lang="es-PE" sz="2000" b="1" spc="-20" noProof="0">
                          <a:effectLst/>
                        </a:rPr>
                        <a:t> </a:t>
                      </a:r>
                      <a:r>
                        <a:rPr lang="es-PE" sz="2000" b="1" spc="5" noProof="0">
                          <a:effectLst/>
                        </a:rPr>
                        <a:t>$</a:t>
                      </a:r>
                      <a:r>
                        <a:rPr lang="es-PE" sz="2000" b="1" noProof="0">
                          <a:effectLst/>
                        </a:rPr>
                        <a:t>)</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77470" marR="77470" algn="ctr">
                        <a:lnSpc>
                          <a:spcPts val="1200"/>
                        </a:lnSpc>
                        <a:spcAft>
                          <a:spcPts val="0"/>
                        </a:spcAft>
                      </a:pPr>
                      <a:r>
                        <a:rPr lang="es-PE" sz="2000" b="1" noProof="0">
                          <a:effectLst/>
                        </a:rPr>
                        <a:t>7</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99695" algn="ctr">
                        <a:lnSpc>
                          <a:spcPts val="1200"/>
                        </a:lnSpc>
                        <a:spcAft>
                          <a:spcPts val="0"/>
                        </a:spcAft>
                      </a:pPr>
                      <a:r>
                        <a:rPr lang="es-PE" sz="2000" b="1" spc="-5" noProof="0">
                          <a:effectLst/>
                        </a:rPr>
                        <a:t>20</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99695" algn="ctr">
                        <a:lnSpc>
                          <a:spcPts val="1200"/>
                        </a:lnSpc>
                        <a:spcAft>
                          <a:spcPts val="0"/>
                        </a:spcAft>
                      </a:pPr>
                      <a:r>
                        <a:rPr lang="es-PE" sz="2000" b="1" spc="-5" noProof="0">
                          <a:effectLst/>
                        </a:rPr>
                        <a:t>25</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98425" algn="ctr">
                        <a:lnSpc>
                          <a:spcPts val="1200"/>
                        </a:lnSpc>
                        <a:spcAft>
                          <a:spcPts val="0"/>
                        </a:spcAft>
                      </a:pPr>
                      <a:r>
                        <a:rPr lang="es-PE" sz="2000" b="1" spc="-5" noProof="0">
                          <a:effectLst/>
                        </a:rPr>
                        <a:t>10</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99695" algn="ctr">
                        <a:lnSpc>
                          <a:spcPts val="1200"/>
                        </a:lnSpc>
                        <a:spcAft>
                          <a:spcPts val="0"/>
                        </a:spcAft>
                      </a:pPr>
                      <a:r>
                        <a:rPr lang="es-PE" sz="2000" b="1" spc="-5" noProof="0">
                          <a:effectLst/>
                        </a:rPr>
                        <a:t>40</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99695" algn="ctr">
                        <a:lnSpc>
                          <a:spcPts val="1200"/>
                        </a:lnSpc>
                        <a:spcAft>
                          <a:spcPts val="0"/>
                        </a:spcAft>
                      </a:pPr>
                      <a:r>
                        <a:rPr lang="es-PE" sz="2000" b="1" spc="-5" noProof="0">
                          <a:effectLst/>
                        </a:rPr>
                        <a:t>30</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98425" algn="ctr">
                        <a:lnSpc>
                          <a:spcPts val="1200"/>
                        </a:lnSpc>
                        <a:spcAft>
                          <a:spcPts val="0"/>
                        </a:spcAft>
                      </a:pPr>
                      <a:r>
                        <a:rPr lang="es-PE" sz="2000" b="1" spc="-5" noProof="0">
                          <a:effectLst/>
                        </a:rPr>
                        <a:t>15</a:t>
                      </a:r>
                      <a:endParaRPr lang="es-PE" sz="2000" b="1" noProof="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77470" marR="77470" algn="ctr">
                        <a:lnSpc>
                          <a:spcPts val="1200"/>
                        </a:lnSpc>
                        <a:spcAft>
                          <a:spcPts val="0"/>
                        </a:spcAft>
                      </a:pPr>
                      <a:r>
                        <a:rPr lang="es-PE" sz="2000" b="1" noProof="0" dirty="0">
                          <a:effectLst/>
                        </a:rPr>
                        <a:t>9</a:t>
                      </a:r>
                      <a:endParaRPr lang="es-PE" sz="2000" b="1" noProof="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097084582"/>
                  </a:ext>
                </a:extLst>
              </a:tr>
            </a:tbl>
          </a:graphicData>
        </a:graphic>
      </p:graphicFrame>
      <p:sp>
        <p:nvSpPr>
          <p:cNvPr id="6" name="Rectángulo 5">
            <a:extLst>
              <a:ext uri="{FF2B5EF4-FFF2-40B4-BE49-F238E27FC236}">
                <a16:creationId xmlns:a16="http://schemas.microsoft.com/office/drawing/2014/main" id="{43DADFCB-E4C6-4704-9C71-52184F2A99E4}"/>
              </a:ext>
            </a:extLst>
          </p:cNvPr>
          <p:cNvSpPr/>
          <p:nvPr/>
        </p:nvSpPr>
        <p:spPr>
          <a:xfrm>
            <a:off x="458056" y="3683851"/>
            <a:ext cx="5424442" cy="3170099"/>
          </a:xfrm>
          <a:prstGeom prst="rect">
            <a:avLst/>
          </a:prstGeom>
        </p:spPr>
        <p:txBody>
          <a:bodyPr wrap="square">
            <a:spAutoFit/>
          </a:bodyPr>
          <a:lstStyle/>
          <a:p>
            <a:pPr marL="88900" marR="67310" algn="just"/>
            <a:r>
              <a:rPr lang="es-PE" sz="2000" b="1" spc="-5" dirty="0">
                <a:latin typeface="Arial Narrow" panose="020B0606020202030204" pitchFamily="34" charset="0"/>
                <a:cs typeface="Times New Roman" panose="02020603050405020304" pitchFamily="18" charset="0"/>
              </a:rPr>
              <a:t>Para el transporte, debe tener en cuenta que:</a:t>
            </a:r>
          </a:p>
          <a:p>
            <a:pPr marL="88900" marR="67310" algn="just"/>
            <a:r>
              <a:rPr lang="es-PE" sz="2000" b="1" spc="-5" dirty="0">
                <a:latin typeface="Arial Narrow" panose="020B0606020202030204" pitchFamily="34" charset="0"/>
                <a:cs typeface="Times New Roman" panose="02020603050405020304" pitchFamily="18" charset="0"/>
              </a:rPr>
              <a:t> </a:t>
            </a:r>
            <a:r>
              <a:rPr lang="en-US" sz="2000" b="1" spc="-5" dirty="0">
                <a:latin typeface="Arial Narrow" panose="020B0606020202030204" pitchFamily="34" charset="0"/>
                <a:cs typeface="Times New Roman" panose="02020603050405020304" pitchFamily="18" charset="0"/>
              </a:rPr>
              <a:t>·</a:t>
            </a:r>
            <a:r>
              <a:rPr lang="es-PE" sz="2000" b="1" spc="-5" dirty="0">
                <a:latin typeface="Arial Narrow" panose="020B0606020202030204" pitchFamily="34" charset="0"/>
                <a:cs typeface="Times New Roman" panose="02020603050405020304" pitchFamily="18" charset="0"/>
              </a:rPr>
              <a:t>     La empresa posee un camión cuya capacidad de carga es 13 toneladas.</a:t>
            </a:r>
          </a:p>
          <a:p>
            <a:pPr marL="88900" marR="67310" algn="just"/>
            <a:r>
              <a:rPr lang="en-US" sz="2000" b="1" spc="-5" dirty="0">
                <a:latin typeface="Arial Narrow" panose="020B0606020202030204" pitchFamily="34" charset="0"/>
                <a:cs typeface="Times New Roman" panose="02020603050405020304" pitchFamily="18" charset="0"/>
              </a:rPr>
              <a:t>·</a:t>
            </a:r>
            <a:r>
              <a:rPr lang="es-PE" sz="2000" b="1" spc="-5" dirty="0">
                <a:latin typeface="Arial Narrow" panose="020B0606020202030204" pitchFamily="34" charset="0"/>
                <a:cs typeface="Times New Roman" panose="02020603050405020304" pitchFamily="18" charset="0"/>
              </a:rPr>
              <a:t>     Si se transporta el artículo 2, entonces se transporta el artículo 3.</a:t>
            </a:r>
          </a:p>
          <a:p>
            <a:pPr marL="88900" marR="67310" algn="just"/>
            <a:r>
              <a:rPr lang="en-US" sz="2000" b="1" spc="-5" dirty="0">
                <a:latin typeface="Arial Narrow" panose="020B0606020202030204" pitchFamily="34" charset="0"/>
                <a:cs typeface="Times New Roman" panose="02020603050405020304" pitchFamily="18" charset="0"/>
              </a:rPr>
              <a:t>·</a:t>
            </a:r>
            <a:r>
              <a:rPr lang="es-PE" sz="2000" b="1" spc="-5" dirty="0">
                <a:latin typeface="Arial Narrow" panose="020B0606020202030204" pitchFamily="34" charset="0"/>
                <a:cs typeface="Times New Roman" panose="02020603050405020304" pitchFamily="18" charset="0"/>
              </a:rPr>
              <a:t>     Por razones de volumen, si se transporta el artículo 7 entonces no se transporta el artículo 8.</a:t>
            </a:r>
          </a:p>
          <a:p>
            <a:pPr marL="88900" marR="67310" algn="just"/>
            <a:r>
              <a:rPr lang="es-PE" sz="2000" b="1" spc="-5" dirty="0">
                <a:latin typeface="Arial Narrow" panose="020B0606020202030204" pitchFamily="34" charset="0"/>
                <a:cs typeface="Times New Roman" panose="02020603050405020304" pitchFamily="18" charset="0"/>
              </a:rPr>
              <a:t>Defina las variables de decisión y formule el modelo de programación lineal que le permita a la empresa maximizar su utilidad total</a:t>
            </a:r>
          </a:p>
        </p:txBody>
      </p:sp>
      <p:sp>
        <p:nvSpPr>
          <p:cNvPr id="7" name="CuadroTexto 6">
            <a:extLst>
              <a:ext uri="{FF2B5EF4-FFF2-40B4-BE49-F238E27FC236}">
                <a16:creationId xmlns:a16="http://schemas.microsoft.com/office/drawing/2014/main" id="{7F4C0723-FC2C-4499-B06B-B679461EBBDE}"/>
              </a:ext>
            </a:extLst>
          </p:cNvPr>
          <p:cNvSpPr txBox="1"/>
          <p:nvPr/>
        </p:nvSpPr>
        <p:spPr>
          <a:xfrm>
            <a:off x="6096000" y="1241138"/>
            <a:ext cx="3433308" cy="923330"/>
          </a:xfrm>
          <a:prstGeom prst="rect">
            <a:avLst/>
          </a:prstGeom>
          <a:solidFill>
            <a:schemeClr val="accent3">
              <a:lumMod val="40000"/>
              <a:lumOff val="60000"/>
            </a:schemeClr>
          </a:solidFill>
        </p:spPr>
        <p:txBody>
          <a:bodyPr wrap="square" rtlCol="0">
            <a:spAutoFit/>
          </a:bodyPr>
          <a:lstStyle/>
          <a:p>
            <a:r>
              <a:rPr lang="es-ES" b="1" dirty="0">
                <a:solidFill>
                  <a:srgbClr val="FF0000"/>
                </a:solidFill>
              </a:rPr>
              <a:t>Identificación de las variables</a:t>
            </a:r>
          </a:p>
          <a:p>
            <a:r>
              <a:rPr lang="es-ES" b="1" dirty="0"/>
              <a:t>Ti=Tipo de artículo</a:t>
            </a:r>
          </a:p>
          <a:p>
            <a:r>
              <a:rPr lang="es-ES" b="1" dirty="0"/>
              <a:t>{Ti=0 </a:t>
            </a:r>
            <a:r>
              <a:rPr lang="es-ES" b="1"/>
              <a:t>No viaja,       </a:t>
            </a:r>
            <a:r>
              <a:rPr lang="es-ES" b="1" dirty="0"/>
              <a:t>Ti=1 Viaja}</a:t>
            </a:r>
          </a:p>
        </p:txBody>
      </p:sp>
      <p:sp>
        <p:nvSpPr>
          <p:cNvPr id="10" name="Rectangle 2">
            <a:extLst>
              <a:ext uri="{FF2B5EF4-FFF2-40B4-BE49-F238E27FC236}">
                <a16:creationId xmlns:a16="http://schemas.microsoft.com/office/drawing/2014/main" id="{C76F2F12-7C0F-4369-8E52-459407560EE8}"/>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2</a:t>
            </a:r>
          </a:p>
        </p:txBody>
      </p:sp>
      <p:sp>
        <p:nvSpPr>
          <p:cNvPr id="2" name="Rectángulo 1">
            <a:extLst>
              <a:ext uri="{FF2B5EF4-FFF2-40B4-BE49-F238E27FC236}">
                <a16:creationId xmlns:a16="http://schemas.microsoft.com/office/drawing/2014/main" id="{07885DB0-9C35-4802-961B-45A509FFF544}"/>
              </a:ext>
            </a:extLst>
          </p:cNvPr>
          <p:cNvSpPr/>
          <p:nvPr/>
        </p:nvSpPr>
        <p:spPr>
          <a:xfrm>
            <a:off x="6096000" y="3091000"/>
            <a:ext cx="3433308" cy="2246769"/>
          </a:xfrm>
          <a:prstGeom prst="rect">
            <a:avLst/>
          </a:prstGeom>
          <a:solidFill>
            <a:schemeClr val="accent3">
              <a:lumMod val="40000"/>
              <a:lumOff val="60000"/>
            </a:schemeClr>
          </a:solidFill>
        </p:spPr>
        <p:txBody>
          <a:bodyPr wrap="square">
            <a:spAutoFit/>
          </a:bodyPr>
          <a:lstStyle/>
          <a:p>
            <a:r>
              <a:rPr lang="es-PE" sz="2000" b="1" dirty="0">
                <a:solidFill>
                  <a:srgbClr val="FF0000"/>
                </a:solidFill>
              </a:rPr>
              <a:t>Identificación de las restricciones</a:t>
            </a:r>
          </a:p>
          <a:p>
            <a:r>
              <a:rPr lang="es-PE" sz="2000" b="1" dirty="0" err="1"/>
              <a:t>2T1+3T2+5T3+2T4+6T5+5T6</a:t>
            </a:r>
            <a:r>
              <a:rPr lang="es-PE" sz="2000" b="1" dirty="0"/>
              <a:t>+ </a:t>
            </a:r>
            <a:r>
              <a:rPr lang="es-PE" sz="2000" b="1" dirty="0" err="1"/>
              <a:t>3T7+1T8</a:t>
            </a:r>
            <a:r>
              <a:rPr lang="es-PE" sz="2000" b="1" dirty="0"/>
              <a:t>&lt;=13</a:t>
            </a:r>
          </a:p>
          <a:p>
            <a:r>
              <a:rPr lang="es-PE" sz="2000" b="1" dirty="0"/>
              <a:t>T2+T3&lt;=2</a:t>
            </a:r>
          </a:p>
          <a:p>
            <a:r>
              <a:rPr lang="es-PE" sz="2000" b="1" dirty="0" err="1"/>
              <a:t>T7+T8</a:t>
            </a:r>
            <a:r>
              <a:rPr lang="es-PE" sz="2000" b="1" dirty="0"/>
              <a:t>&lt;=1</a:t>
            </a:r>
          </a:p>
          <a:p>
            <a:r>
              <a:rPr lang="es-PE" sz="2000" b="1" dirty="0"/>
              <a:t>Ti&gt;=0, BINARIO</a:t>
            </a:r>
          </a:p>
        </p:txBody>
      </p:sp>
      <p:sp>
        <p:nvSpPr>
          <p:cNvPr id="3" name="Rectángulo 2">
            <a:extLst>
              <a:ext uri="{FF2B5EF4-FFF2-40B4-BE49-F238E27FC236}">
                <a16:creationId xmlns:a16="http://schemas.microsoft.com/office/drawing/2014/main" id="{808B5A7E-E712-4787-80CD-D806E8281223}"/>
              </a:ext>
            </a:extLst>
          </p:cNvPr>
          <p:cNvSpPr/>
          <p:nvPr/>
        </p:nvSpPr>
        <p:spPr>
          <a:xfrm>
            <a:off x="6096001" y="2173273"/>
            <a:ext cx="3433308" cy="923330"/>
          </a:xfrm>
          <a:prstGeom prst="rect">
            <a:avLst/>
          </a:prstGeom>
          <a:solidFill>
            <a:schemeClr val="accent3">
              <a:lumMod val="40000"/>
              <a:lumOff val="60000"/>
            </a:schemeClr>
          </a:solidFill>
        </p:spPr>
        <p:txBody>
          <a:bodyPr wrap="square">
            <a:spAutoFit/>
          </a:bodyPr>
          <a:lstStyle/>
          <a:p>
            <a:r>
              <a:rPr lang="es-ES" b="1" dirty="0">
                <a:solidFill>
                  <a:srgbClr val="FF0000"/>
                </a:solidFill>
              </a:rPr>
              <a:t>Identificación de la F. O.</a:t>
            </a:r>
          </a:p>
          <a:p>
            <a:r>
              <a:rPr lang="es-PE" b="1" dirty="0"/>
              <a:t>MAX </a:t>
            </a:r>
            <a:r>
              <a:rPr lang="es-PE" b="1" dirty="0" err="1"/>
              <a:t>7T1+20T2+25T3+10T4</a:t>
            </a:r>
            <a:r>
              <a:rPr lang="es-PE" b="1" dirty="0"/>
              <a:t>+</a:t>
            </a:r>
          </a:p>
          <a:p>
            <a:r>
              <a:rPr lang="es-PE" b="1" dirty="0"/>
              <a:t>          </a:t>
            </a:r>
            <a:r>
              <a:rPr lang="es-PE" b="1" dirty="0" err="1"/>
              <a:t>40T5</a:t>
            </a:r>
            <a:r>
              <a:rPr lang="es-PE" b="1" dirty="0"/>
              <a:t>+ </a:t>
            </a:r>
            <a:r>
              <a:rPr lang="es-PE" b="1" dirty="0" err="1"/>
              <a:t>30T6+15T7+9T8</a:t>
            </a:r>
            <a:endParaRPr lang="es-PE" b="1" dirty="0"/>
          </a:p>
        </p:txBody>
      </p:sp>
      <p:sp>
        <p:nvSpPr>
          <p:cNvPr id="8" name="Rectángulo 7">
            <a:extLst>
              <a:ext uri="{FF2B5EF4-FFF2-40B4-BE49-F238E27FC236}">
                <a16:creationId xmlns:a16="http://schemas.microsoft.com/office/drawing/2014/main" id="{AAB399E9-4387-484E-B59E-151B24F9665F}"/>
              </a:ext>
            </a:extLst>
          </p:cNvPr>
          <p:cNvSpPr/>
          <p:nvPr/>
        </p:nvSpPr>
        <p:spPr>
          <a:xfrm>
            <a:off x="9529308" y="1242211"/>
            <a:ext cx="2645428" cy="5324535"/>
          </a:xfrm>
          <a:prstGeom prst="rect">
            <a:avLst/>
          </a:prstGeom>
          <a:solidFill>
            <a:srgbClr val="FFFF00"/>
          </a:solidFill>
        </p:spPr>
        <p:txBody>
          <a:bodyPr wrap="square">
            <a:spAutoFit/>
          </a:bodyPr>
          <a:lstStyle/>
          <a:p>
            <a:r>
              <a:rPr lang="es-PE" sz="2000" b="1" dirty="0"/>
              <a:t>MAX </a:t>
            </a:r>
            <a:r>
              <a:rPr lang="es-PE" sz="2000" b="1" dirty="0" err="1"/>
              <a:t>7T1+20T2+25T3+10T4+40T5+30T6+15T7+9T8</a:t>
            </a:r>
            <a:endParaRPr lang="es-PE" sz="2000" b="1" dirty="0"/>
          </a:p>
          <a:p>
            <a:r>
              <a:rPr lang="es-PE" sz="2000" b="1" dirty="0" err="1">
                <a:solidFill>
                  <a:srgbClr val="FF0000"/>
                </a:solidFill>
              </a:rPr>
              <a:t>ST</a:t>
            </a:r>
            <a:endParaRPr lang="es-PE" sz="2000" b="1" dirty="0">
              <a:solidFill>
                <a:srgbClr val="FF0000"/>
              </a:solidFill>
            </a:endParaRPr>
          </a:p>
          <a:p>
            <a:r>
              <a:rPr lang="es-PE" sz="2000" b="1" dirty="0" err="1"/>
              <a:t>2T1+3T2+5T3+2T4+6T5+5T6+3T7+1T8</a:t>
            </a:r>
            <a:r>
              <a:rPr lang="es-PE" sz="2000" b="1" dirty="0"/>
              <a:t>&lt;=13</a:t>
            </a:r>
          </a:p>
          <a:p>
            <a:r>
              <a:rPr lang="es-PE" sz="2000" b="1" dirty="0"/>
              <a:t>T2+T3&lt;=2</a:t>
            </a:r>
          </a:p>
          <a:p>
            <a:r>
              <a:rPr lang="es-PE" sz="2000" b="1" dirty="0"/>
              <a:t>T7+T8&lt;=1</a:t>
            </a:r>
          </a:p>
          <a:p>
            <a:r>
              <a:rPr lang="fr-FR" sz="2000" b="1" dirty="0"/>
              <a:t>END</a:t>
            </a:r>
          </a:p>
          <a:p>
            <a:r>
              <a:rPr lang="fr-FR" sz="2000" b="1" dirty="0"/>
              <a:t>INT </a:t>
            </a:r>
            <a:r>
              <a:rPr lang="fr-FR" sz="2000" b="1" dirty="0" err="1"/>
              <a:t>T1</a:t>
            </a:r>
            <a:endParaRPr lang="fr-FR" sz="2000" b="1" dirty="0"/>
          </a:p>
          <a:p>
            <a:r>
              <a:rPr lang="fr-FR" sz="2000" b="1" dirty="0"/>
              <a:t>INT </a:t>
            </a:r>
            <a:r>
              <a:rPr lang="fr-FR" sz="2000" b="1" dirty="0" err="1"/>
              <a:t>T2</a:t>
            </a:r>
            <a:endParaRPr lang="fr-FR" sz="2000" b="1" dirty="0"/>
          </a:p>
          <a:p>
            <a:r>
              <a:rPr lang="fr-FR" sz="2000" b="1" dirty="0"/>
              <a:t>INT </a:t>
            </a:r>
            <a:r>
              <a:rPr lang="fr-FR" sz="2000" b="1" dirty="0" err="1"/>
              <a:t>T3</a:t>
            </a:r>
            <a:endParaRPr lang="fr-FR" sz="2000" b="1" dirty="0"/>
          </a:p>
          <a:p>
            <a:r>
              <a:rPr lang="fr-FR" sz="2000" b="1" dirty="0"/>
              <a:t>INT </a:t>
            </a:r>
            <a:r>
              <a:rPr lang="fr-FR" sz="2000" b="1" dirty="0" err="1"/>
              <a:t>T4</a:t>
            </a:r>
            <a:endParaRPr lang="fr-FR" sz="2000" b="1" dirty="0"/>
          </a:p>
          <a:p>
            <a:r>
              <a:rPr lang="fr-FR" sz="2000" b="1" dirty="0"/>
              <a:t>INT </a:t>
            </a:r>
            <a:r>
              <a:rPr lang="fr-FR" sz="2000" b="1" dirty="0" err="1"/>
              <a:t>T5</a:t>
            </a:r>
            <a:endParaRPr lang="fr-FR" sz="2000" b="1" dirty="0"/>
          </a:p>
          <a:p>
            <a:r>
              <a:rPr lang="fr-FR" sz="2000" b="1" dirty="0"/>
              <a:t>INT </a:t>
            </a:r>
            <a:r>
              <a:rPr lang="fr-FR" sz="2000" b="1" dirty="0" err="1"/>
              <a:t>T6</a:t>
            </a:r>
            <a:endParaRPr lang="fr-FR" sz="2000" b="1" dirty="0"/>
          </a:p>
          <a:p>
            <a:r>
              <a:rPr lang="fr-FR" sz="2000" b="1" dirty="0"/>
              <a:t>INT </a:t>
            </a:r>
            <a:r>
              <a:rPr lang="fr-FR" sz="2000" b="1" dirty="0" err="1"/>
              <a:t>T7</a:t>
            </a:r>
            <a:endParaRPr lang="fr-FR" sz="2000" b="1" dirty="0"/>
          </a:p>
          <a:p>
            <a:r>
              <a:rPr lang="fr-FR" sz="2000" b="1" dirty="0"/>
              <a:t>INT </a:t>
            </a:r>
            <a:r>
              <a:rPr lang="fr-FR" sz="2000" b="1" dirty="0" err="1"/>
              <a:t>T8</a:t>
            </a:r>
            <a:endParaRPr lang="es-PE" sz="2000" b="1" dirty="0"/>
          </a:p>
        </p:txBody>
      </p:sp>
      <p:graphicFrame>
        <p:nvGraphicFramePr>
          <p:cNvPr id="11" name="Tabla 11">
            <a:extLst>
              <a:ext uri="{FF2B5EF4-FFF2-40B4-BE49-F238E27FC236}">
                <a16:creationId xmlns:a16="http://schemas.microsoft.com/office/drawing/2014/main" id="{2BC93F6D-B030-DEBD-8C9D-7DC4518B01F8}"/>
              </a:ext>
            </a:extLst>
          </p:cNvPr>
          <p:cNvGraphicFramePr>
            <a:graphicFrameLocks noGrp="1"/>
          </p:cNvGraphicFramePr>
          <p:nvPr>
            <p:extLst>
              <p:ext uri="{D42A27DB-BD31-4B8C-83A1-F6EECF244321}">
                <p14:modId xmlns:p14="http://schemas.microsoft.com/office/powerpoint/2010/main" val="1753600440"/>
              </p:ext>
            </p:extLst>
          </p:nvPr>
        </p:nvGraphicFramePr>
        <p:xfrm>
          <a:off x="10856848" y="5394960"/>
          <a:ext cx="1317888" cy="1463040"/>
        </p:xfrm>
        <a:graphic>
          <a:graphicData uri="http://schemas.openxmlformats.org/drawingml/2006/table">
            <a:tbl>
              <a:tblPr firstRow="1" bandRow="1">
                <a:tableStyleId>{5C22544A-7EE6-4342-B048-85BDC9FD1C3A}</a:tableStyleId>
              </a:tblPr>
              <a:tblGrid>
                <a:gridCol w="658944">
                  <a:extLst>
                    <a:ext uri="{9D8B030D-6E8A-4147-A177-3AD203B41FA5}">
                      <a16:colId xmlns:a16="http://schemas.microsoft.com/office/drawing/2014/main" val="3659484973"/>
                    </a:ext>
                  </a:extLst>
                </a:gridCol>
                <a:gridCol w="658944">
                  <a:extLst>
                    <a:ext uri="{9D8B030D-6E8A-4147-A177-3AD203B41FA5}">
                      <a16:colId xmlns:a16="http://schemas.microsoft.com/office/drawing/2014/main" val="2267542248"/>
                    </a:ext>
                  </a:extLst>
                </a:gridCol>
              </a:tblGrid>
              <a:tr h="290945">
                <a:tc>
                  <a:txBody>
                    <a:bodyPr/>
                    <a:lstStyle/>
                    <a:p>
                      <a:pPr algn="ctr"/>
                      <a:r>
                        <a:rPr lang="es-ES" b="1" dirty="0"/>
                        <a:t>T7</a:t>
                      </a:r>
                      <a:endParaRPr lang="es-PE" b="1" dirty="0"/>
                    </a:p>
                  </a:txBody>
                  <a:tcPr/>
                </a:tc>
                <a:tc>
                  <a:txBody>
                    <a:bodyPr/>
                    <a:lstStyle/>
                    <a:p>
                      <a:pPr algn="ctr"/>
                      <a:r>
                        <a:rPr lang="es-ES" b="1" dirty="0"/>
                        <a:t>T8</a:t>
                      </a:r>
                      <a:endParaRPr lang="es-PE" b="1" dirty="0"/>
                    </a:p>
                  </a:txBody>
                  <a:tcPr/>
                </a:tc>
                <a:extLst>
                  <a:ext uri="{0D108BD9-81ED-4DB2-BD59-A6C34878D82A}">
                    <a16:rowId xmlns:a16="http://schemas.microsoft.com/office/drawing/2014/main" val="2896734413"/>
                  </a:ext>
                </a:extLst>
              </a:tr>
              <a:tr h="290945">
                <a:tc>
                  <a:txBody>
                    <a:bodyPr/>
                    <a:lstStyle/>
                    <a:p>
                      <a:pPr algn="ctr"/>
                      <a:r>
                        <a:rPr lang="es-ES" b="1" dirty="0"/>
                        <a:t>1</a:t>
                      </a:r>
                      <a:endParaRPr lang="es-PE" b="1" dirty="0"/>
                    </a:p>
                  </a:txBody>
                  <a:tcPr/>
                </a:tc>
                <a:tc>
                  <a:txBody>
                    <a:bodyPr/>
                    <a:lstStyle/>
                    <a:p>
                      <a:pPr algn="ctr"/>
                      <a:r>
                        <a:rPr lang="es-ES" b="1" dirty="0"/>
                        <a:t>0</a:t>
                      </a:r>
                      <a:endParaRPr lang="es-PE" b="1" dirty="0"/>
                    </a:p>
                  </a:txBody>
                  <a:tcPr/>
                </a:tc>
                <a:extLst>
                  <a:ext uri="{0D108BD9-81ED-4DB2-BD59-A6C34878D82A}">
                    <a16:rowId xmlns:a16="http://schemas.microsoft.com/office/drawing/2014/main" val="2381521776"/>
                  </a:ext>
                </a:extLst>
              </a:tr>
              <a:tr h="290945">
                <a:tc>
                  <a:txBody>
                    <a:bodyPr/>
                    <a:lstStyle/>
                    <a:p>
                      <a:pPr algn="ctr"/>
                      <a:r>
                        <a:rPr lang="es-ES" b="1" dirty="0"/>
                        <a:t>0</a:t>
                      </a:r>
                      <a:endParaRPr lang="es-PE" b="1" dirty="0"/>
                    </a:p>
                  </a:txBody>
                  <a:tcPr/>
                </a:tc>
                <a:tc>
                  <a:txBody>
                    <a:bodyPr/>
                    <a:lstStyle/>
                    <a:p>
                      <a:pPr algn="ctr"/>
                      <a:r>
                        <a:rPr lang="es-ES" b="1" dirty="0"/>
                        <a:t>1</a:t>
                      </a:r>
                      <a:endParaRPr lang="es-PE" b="1" dirty="0"/>
                    </a:p>
                  </a:txBody>
                  <a:tcPr/>
                </a:tc>
                <a:extLst>
                  <a:ext uri="{0D108BD9-81ED-4DB2-BD59-A6C34878D82A}">
                    <a16:rowId xmlns:a16="http://schemas.microsoft.com/office/drawing/2014/main" val="316709275"/>
                  </a:ext>
                </a:extLst>
              </a:tr>
              <a:tr h="290945">
                <a:tc>
                  <a:txBody>
                    <a:bodyPr/>
                    <a:lstStyle/>
                    <a:p>
                      <a:pPr algn="ctr"/>
                      <a:r>
                        <a:rPr lang="es-ES" b="1" dirty="0"/>
                        <a:t>0</a:t>
                      </a:r>
                      <a:endParaRPr lang="es-PE" b="1" dirty="0"/>
                    </a:p>
                  </a:txBody>
                  <a:tcPr/>
                </a:tc>
                <a:tc>
                  <a:txBody>
                    <a:bodyPr/>
                    <a:lstStyle/>
                    <a:p>
                      <a:pPr algn="ctr"/>
                      <a:r>
                        <a:rPr lang="es-ES" b="1" dirty="0"/>
                        <a:t>0</a:t>
                      </a:r>
                      <a:endParaRPr lang="es-PE" b="1" dirty="0"/>
                    </a:p>
                  </a:txBody>
                  <a:tcPr/>
                </a:tc>
                <a:extLst>
                  <a:ext uri="{0D108BD9-81ED-4DB2-BD59-A6C34878D82A}">
                    <a16:rowId xmlns:a16="http://schemas.microsoft.com/office/drawing/2014/main" val="3310742986"/>
                  </a:ext>
                </a:extLst>
              </a:tr>
            </a:tbl>
          </a:graphicData>
        </a:graphic>
      </p:graphicFrame>
      <p:sp>
        <p:nvSpPr>
          <p:cNvPr id="9" name="Rectángulo 8">
            <a:extLst>
              <a:ext uri="{FF2B5EF4-FFF2-40B4-BE49-F238E27FC236}">
                <a16:creationId xmlns:a16="http://schemas.microsoft.com/office/drawing/2014/main" id="{60D5AE3A-FCE4-4617-80B3-75684DF21D33}"/>
              </a:ext>
            </a:extLst>
          </p:cNvPr>
          <p:cNvSpPr/>
          <p:nvPr/>
        </p:nvSpPr>
        <p:spPr>
          <a:xfrm>
            <a:off x="6095999" y="5232227"/>
            <a:ext cx="3433309" cy="1661993"/>
          </a:xfrm>
          <a:prstGeom prst="rect">
            <a:avLst/>
          </a:prstGeom>
          <a:solidFill>
            <a:schemeClr val="accent5">
              <a:lumMod val="40000"/>
              <a:lumOff val="60000"/>
            </a:schemeClr>
          </a:solidFill>
        </p:spPr>
        <p:txBody>
          <a:bodyPr wrap="square">
            <a:spAutoFit/>
          </a:bodyPr>
          <a:lstStyle/>
          <a:p>
            <a:r>
              <a:rPr lang="es-PE" sz="1700" b="1" dirty="0">
                <a:latin typeface="Arial Narrow" panose="020B0606020202030204" pitchFamily="34" charset="0"/>
              </a:rPr>
              <a:t> </a:t>
            </a:r>
            <a:r>
              <a:rPr lang="fr-FR" sz="1700" b="1" dirty="0">
                <a:latin typeface="Arial Narrow" panose="020B0606020202030204" pitchFamily="34" charset="0"/>
              </a:rPr>
              <a:t> OBJECTIVE </a:t>
            </a:r>
            <a:r>
              <a:rPr lang="fr-FR" sz="1700" b="1" dirty="0" err="1">
                <a:latin typeface="Arial Narrow" panose="020B0606020202030204" pitchFamily="34" charset="0"/>
              </a:rPr>
              <a:t>FUNCTION</a:t>
            </a:r>
            <a:r>
              <a:rPr lang="fr-FR" sz="1700" b="1" dirty="0">
                <a:latin typeface="Arial Narrow" panose="020B0606020202030204" pitchFamily="34" charset="0"/>
              </a:rPr>
              <a:t> VALUE</a:t>
            </a:r>
          </a:p>
          <a:p>
            <a:r>
              <a:rPr lang="fr-FR" sz="1700" b="1" dirty="0">
                <a:latin typeface="Arial Narrow" panose="020B0606020202030204" pitchFamily="34" charset="0"/>
              </a:rPr>
              <a:t>        1)      80.0</a:t>
            </a:r>
          </a:p>
          <a:p>
            <a:r>
              <a:rPr lang="fr-FR" sz="1700" b="1" dirty="0">
                <a:latin typeface="Arial Narrow" panose="020B0606020202030204" pitchFamily="34" charset="0"/>
              </a:rPr>
              <a:t>VARIABLE  VALUE </a:t>
            </a:r>
            <a:r>
              <a:rPr lang="fr-FR" sz="1700" b="1" dirty="0" err="1">
                <a:latin typeface="Arial Narrow" panose="020B0606020202030204" pitchFamily="34" charset="0"/>
              </a:rPr>
              <a:t>REDUCED</a:t>
            </a:r>
            <a:r>
              <a:rPr lang="fr-FR" sz="1700" b="1" dirty="0">
                <a:latin typeface="Arial Narrow" panose="020B0606020202030204" pitchFamily="34" charset="0"/>
              </a:rPr>
              <a:t> COST</a:t>
            </a:r>
          </a:p>
          <a:p>
            <a:r>
              <a:rPr lang="fr-FR" sz="1700" b="1" dirty="0">
                <a:latin typeface="Arial Narrow" panose="020B0606020202030204" pitchFamily="34" charset="0"/>
              </a:rPr>
              <a:t>T4         1.000000        -10.000000</a:t>
            </a:r>
          </a:p>
          <a:p>
            <a:r>
              <a:rPr lang="fr-FR" sz="1700" b="1" dirty="0">
                <a:latin typeface="Arial Narrow" panose="020B0606020202030204" pitchFamily="34" charset="0"/>
              </a:rPr>
              <a:t>T5         1.000000        -40.000000</a:t>
            </a:r>
          </a:p>
          <a:p>
            <a:r>
              <a:rPr lang="fr-FR" sz="1700" b="1" dirty="0">
                <a:latin typeface="Arial Narrow" panose="020B0606020202030204" pitchFamily="34" charset="0"/>
              </a:rPr>
              <a:t>T6         1.000000        -30.000000</a:t>
            </a:r>
            <a:endParaRPr lang="es-PE" sz="1700" b="1" dirty="0">
              <a:latin typeface="Arial Narrow" panose="020B0606020202030204" pitchFamily="34" charset="0"/>
            </a:endParaRPr>
          </a:p>
        </p:txBody>
      </p:sp>
      <p:graphicFrame>
        <p:nvGraphicFramePr>
          <p:cNvPr id="12" name="Tabla 11">
            <a:extLst>
              <a:ext uri="{FF2B5EF4-FFF2-40B4-BE49-F238E27FC236}">
                <a16:creationId xmlns:a16="http://schemas.microsoft.com/office/drawing/2014/main" id="{62F5817D-A15C-8596-4600-10C549CA868E}"/>
              </a:ext>
            </a:extLst>
          </p:cNvPr>
          <p:cNvGraphicFramePr>
            <a:graphicFrameLocks noGrp="1"/>
          </p:cNvGraphicFramePr>
          <p:nvPr>
            <p:extLst>
              <p:ext uri="{D42A27DB-BD31-4B8C-83A1-F6EECF244321}">
                <p14:modId xmlns:p14="http://schemas.microsoft.com/office/powerpoint/2010/main" val="2519321658"/>
              </p:ext>
            </p:extLst>
          </p:nvPr>
        </p:nvGraphicFramePr>
        <p:xfrm>
          <a:off x="10854267" y="3904546"/>
          <a:ext cx="1317888" cy="1463040"/>
        </p:xfrm>
        <a:graphic>
          <a:graphicData uri="http://schemas.openxmlformats.org/drawingml/2006/table">
            <a:tbl>
              <a:tblPr firstRow="1" bandRow="1">
                <a:tableStyleId>{5C22544A-7EE6-4342-B048-85BDC9FD1C3A}</a:tableStyleId>
              </a:tblPr>
              <a:tblGrid>
                <a:gridCol w="658944">
                  <a:extLst>
                    <a:ext uri="{9D8B030D-6E8A-4147-A177-3AD203B41FA5}">
                      <a16:colId xmlns:a16="http://schemas.microsoft.com/office/drawing/2014/main" val="3659484973"/>
                    </a:ext>
                  </a:extLst>
                </a:gridCol>
                <a:gridCol w="658944">
                  <a:extLst>
                    <a:ext uri="{9D8B030D-6E8A-4147-A177-3AD203B41FA5}">
                      <a16:colId xmlns:a16="http://schemas.microsoft.com/office/drawing/2014/main" val="2267542248"/>
                    </a:ext>
                  </a:extLst>
                </a:gridCol>
              </a:tblGrid>
              <a:tr h="290945">
                <a:tc>
                  <a:txBody>
                    <a:bodyPr/>
                    <a:lstStyle/>
                    <a:p>
                      <a:pPr algn="ctr"/>
                      <a:r>
                        <a:rPr lang="es-ES" b="1" dirty="0"/>
                        <a:t>T2</a:t>
                      </a:r>
                      <a:endParaRPr lang="es-PE" b="1" dirty="0"/>
                    </a:p>
                  </a:txBody>
                  <a:tcPr/>
                </a:tc>
                <a:tc>
                  <a:txBody>
                    <a:bodyPr/>
                    <a:lstStyle/>
                    <a:p>
                      <a:pPr algn="ctr"/>
                      <a:r>
                        <a:rPr lang="es-ES" b="1" dirty="0"/>
                        <a:t>T3</a:t>
                      </a:r>
                      <a:endParaRPr lang="es-PE" b="1" dirty="0"/>
                    </a:p>
                  </a:txBody>
                  <a:tcPr/>
                </a:tc>
                <a:extLst>
                  <a:ext uri="{0D108BD9-81ED-4DB2-BD59-A6C34878D82A}">
                    <a16:rowId xmlns:a16="http://schemas.microsoft.com/office/drawing/2014/main" val="2896734413"/>
                  </a:ext>
                </a:extLst>
              </a:tr>
              <a:tr h="290945">
                <a:tc>
                  <a:txBody>
                    <a:bodyPr/>
                    <a:lstStyle/>
                    <a:p>
                      <a:pPr algn="ctr"/>
                      <a:r>
                        <a:rPr lang="es-ES" b="1" dirty="0"/>
                        <a:t>1</a:t>
                      </a:r>
                      <a:endParaRPr lang="es-PE" b="1" dirty="0"/>
                    </a:p>
                  </a:txBody>
                  <a:tcPr/>
                </a:tc>
                <a:tc>
                  <a:txBody>
                    <a:bodyPr/>
                    <a:lstStyle/>
                    <a:p>
                      <a:pPr algn="ctr"/>
                      <a:r>
                        <a:rPr lang="es-ES" b="1" dirty="0"/>
                        <a:t>1</a:t>
                      </a:r>
                      <a:endParaRPr lang="es-PE" b="1" dirty="0"/>
                    </a:p>
                  </a:txBody>
                  <a:tcPr/>
                </a:tc>
                <a:extLst>
                  <a:ext uri="{0D108BD9-81ED-4DB2-BD59-A6C34878D82A}">
                    <a16:rowId xmlns:a16="http://schemas.microsoft.com/office/drawing/2014/main" val="2381521776"/>
                  </a:ext>
                </a:extLst>
              </a:tr>
              <a:tr h="290945">
                <a:tc>
                  <a:txBody>
                    <a:bodyPr/>
                    <a:lstStyle/>
                    <a:p>
                      <a:pPr algn="ctr"/>
                      <a:r>
                        <a:rPr lang="es-ES" b="1" dirty="0"/>
                        <a:t>0</a:t>
                      </a:r>
                      <a:endParaRPr lang="es-PE" b="1" dirty="0"/>
                    </a:p>
                  </a:txBody>
                  <a:tcPr/>
                </a:tc>
                <a:tc>
                  <a:txBody>
                    <a:bodyPr/>
                    <a:lstStyle/>
                    <a:p>
                      <a:pPr algn="ctr"/>
                      <a:r>
                        <a:rPr lang="es-ES" b="1" dirty="0"/>
                        <a:t>1</a:t>
                      </a:r>
                      <a:endParaRPr lang="es-PE" b="1" dirty="0"/>
                    </a:p>
                  </a:txBody>
                  <a:tcPr/>
                </a:tc>
                <a:extLst>
                  <a:ext uri="{0D108BD9-81ED-4DB2-BD59-A6C34878D82A}">
                    <a16:rowId xmlns:a16="http://schemas.microsoft.com/office/drawing/2014/main" val="316709275"/>
                  </a:ext>
                </a:extLst>
              </a:tr>
              <a:tr h="290945">
                <a:tc>
                  <a:txBody>
                    <a:bodyPr/>
                    <a:lstStyle/>
                    <a:p>
                      <a:pPr algn="ctr"/>
                      <a:r>
                        <a:rPr lang="es-ES" b="1" dirty="0"/>
                        <a:t>0</a:t>
                      </a:r>
                      <a:endParaRPr lang="es-PE" b="1" dirty="0"/>
                    </a:p>
                  </a:txBody>
                  <a:tcPr/>
                </a:tc>
                <a:tc>
                  <a:txBody>
                    <a:bodyPr/>
                    <a:lstStyle/>
                    <a:p>
                      <a:pPr algn="ctr"/>
                      <a:r>
                        <a:rPr lang="es-ES" b="1" dirty="0"/>
                        <a:t>0</a:t>
                      </a:r>
                      <a:endParaRPr lang="es-PE" b="1" dirty="0"/>
                    </a:p>
                  </a:txBody>
                  <a:tcPr/>
                </a:tc>
                <a:extLst>
                  <a:ext uri="{0D108BD9-81ED-4DB2-BD59-A6C34878D82A}">
                    <a16:rowId xmlns:a16="http://schemas.microsoft.com/office/drawing/2014/main" val="3310742986"/>
                  </a:ext>
                </a:extLst>
              </a:tr>
            </a:tbl>
          </a:graphicData>
        </a:graphic>
      </p:graphicFrame>
    </p:spTree>
    <p:extLst>
      <p:ext uri="{BB962C8B-B14F-4D97-AF65-F5344CB8AC3E}">
        <p14:creationId xmlns:p14="http://schemas.microsoft.com/office/powerpoint/2010/main" val="99345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P spid="3"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3228255-59FC-4BA5-A923-84E6545B96A0}"/>
              </a:ext>
            </a:extLst>
          </p:cNvPr>
          <p:cNvSpPr txBox="1"/>
          <p:nvPr/>
        </p:nvSpPr>
        <p:spPr>
          <a:xfrm>
            <a:off x="6095999" y="4284923"/>
            <a:ext cx="3664121" cy="2554545"/>
          </a:xfrm>
          <a:prstGeom prst="rect">
            <a:avLst/>
          </a:prstGeom>
          <a:solidFill>
            <a:srgbClr val="FFFF00"/>
          </a:solidFill>
        </p:spPr>
        <p:txBody>
          <a:bodyPr wrap="square">
            <a:spAutoFit/>
          </a:bodyPr>
          <a:lstStyle>
            <a:defPPr>
              <a:defRPr lang="es-PE"/>
            </a:defPPr>
            <a:lvl1pPr>
              <a:defRPr sz="2000">
                <a:solidFill>
                  <a:srgbClr val="FF0000"/>
                </a:solidFill>
              </a:defRPr>
            </a:lvl1pPr>
          </a:lstStyle>
          <a:p>
            <a:r>
              <a:rPr lang="es-ES" dirty="0">
                <a:solidFill>
                  <a:schemeClr val="tx1"/>
                </a:solidFill>
              </a:rPr>
              <a:t>MAX </a:t>
            </a:r>
            <a:r>
              <a:rPr lang="es-ES" dirty="0" err="1">
                <a:solidFill>
                  <a:schemeClr val="tx1"/>
                </a:solidFill>
              </a:rPr>
              <a:t>8X1+11X2+6X3+4X4</a:t>
            </a:r>
            <a:endParaRPr lang="es-ES" dirty="0">
              <a:solidFill>
                <a:schemeClr val="tx1"/>
              </a:solidFill>
            </a:endParaRPr>
          </a:p>
          <a:p>
            <a:r>
              <a:rPr lang="es-ES" dirty="0" err="1">
                <a:solidFill>
                  <a:schemeClr val="tx1"/>
                </a:solidFill>
              </a:rPr>
              <a:t>ST</a:t>
            </a:r>
            <a:endParaRPr lang="es-ES" dirty="0">
              <a:solidFill>
                <a:schemeClr val="tx1"/>
              </a:solidFill>
            </a:endParaRPr>
          </a:p>
          <a:p>
            <a:r>
              <a:rPr lang="es-ES" dirty="0" err="1">
                <a:solidFill>
                  <a:schemeClr val="tx1"/>
                </a:solidFill>
              </a:rPr>
              <a:t>11X1+13X2+9X3+5X4</a:t>
            </a:r>
            <a:r>
              <a:rPr lang="es-ES" dirty="0">
                <a:solidFill>
                  <a:schemeClr val="tx1"/>
                </a:solidFill>
              </a:rPr>
              <a:t>&lt;=28</a:t>
            </a:r>
          </a:p>
          <a:p>
            <a:r>
              <a:rPr lang="es-ES" dirty="0" err="1">
                <a:solidFill>
                  <a:schemeClr val="tx1"/>
                </a:solidFill>
              </a:rPr>
              <a:t>END</a:t>
            </a:r>
            <a:endParaRPr lang="es-ES" dirty="0">
              <a:solidFill>
                <a:schemeClr val="tx1"/>
              </a:solidFill>
            </a:endParaRPr>
          </a:p>
          <a:p>
            <a:r>
              <a:rPr lang="es-ES" dirty="0" err="1">
                <a:solidFill>
                  <a:schemeClr val="tx1"/>
                </a:solidFill>
              </a:rPr>
              <a:t>INT</a:t>
            </a:r>
            <a:r>
              <a:rPr lang="es-ES" dirty="0">
                <a:solidFill>
                  <a:schemeClr val="tx1"/>
                </a:solidFill>
              </a:rPr>
              <a:t> </a:t>
            </a:r>
            <a:r>
              <a:rPr lang="es-ES" dirty="0" err="1">
                <a:solidFill>
                  <a:schemeClr val="tx1"/>
                </a:solidFill>
              </a:rPr>
              <a:t>X1</a:t>
            </a:r>
            <a:endParaRPr lang="es-ES" dirty="0">
              <a:solidFill>
                <a:schemeClr val="tx1"/>
              </a:solidFill>
            </a:endParaRPr>
          </a:p>
          <a:p>
            <a:r>
              <a:rPr lang="es-ES" dirty="0" err="1">
                <a:solidFill>
                  <a:schemeClr val="tx1"/>
                </a:solidFill>
              </a:rPr>
              <a:t>INT</a:t>
            </a:r>
            <a:r>
              <a:rPr lang="es-ES" dirty="0">
                <a:solidFill>
                  <a:schemeClr val="tx1"/>
                </a:solidFill>
              </a:rPr>
              <a:t> </a:t>
            </a:r>
            <a:r>
              <a:rPr lang="es-ES" dirty="0" err="1">
                <a:solidFill>
                  <a:schemeClr val="tx1"/>
                </a:solidFill>
              </a:rPr>
              <a:t>X2</a:t>
            </a:r>
            <a:endParaRPr lang="es-ES" dirty="0">
              <a:solidFill>
                <a:schemeClr val="tx1"/>
              </a:solidFill>
            </a:endParaRPr>
          </a:p>
          <a:p>
            <a:r>
              <a:rPr lang="es-ES" dirty="0" err="1">
                <a:solidFill>
                  <a:schemeClr val="tx1"/>
                </a:solidFill>
              </a:rPr>
              <a:t>INT</a:t>
            </a:r>
            <a:r>
              <a:rPr lang="es-ES" dirty="0">
                <a:solidFill>
                  <a:schemeClr val="tx1"/>
                </a:solidFill>
              </a:rPr>
              <a:t> </a:t>
            </a:r>
            <a:r>
              <a:rPr lang="es-ES" dirty="0" err="1">
                <a:solidFill>
                  <a:schemeClr val="tx1"/>
                </a:solidFill>
              </a:rPr>
              <a:t>X3</a:t>
            </a:r>
            <a:endParaRPr lang="es-ES" dirty="0">
              <a:solidFill>
                <a:schemeClr val="tx1"/>
              </a:solidFill>
            </a:endParaRPr>
          </a:p>
          <a:p>
            <a:r>
              <a:rPr lang="es-ES" dirty="0" err="1">
                <a:solidFill>
                  <a:schemeClr val="tx1"/>
                </a:solidFill>
              </a:rPr>
              <a:t>INT</a:t>
            </a:r>
            <a:r>
              <a:rPr lang="es-ES" dirty="0">
                <a:solidFill>
                  <a:schemeClr val="tx1"/>
                </a:solidFill>
              </a:rPr>
              <a:t> </a:t>
            </a:r>
            <a:r>
              <a:rPr lang="es-ES" dirty="0" err="1">
                <a:solidFill>
                  <a:schemeClr val="tx1"/>
                </a:solidFill>
              </a:rPr>
              <a:t>X4</a:t>
            </a:r>
            <a:endParaRPr lang="es-PE" dirty="0">
              <a:solidFill>
                <a:schemeClr val="tx1"/>
              </a:solidFill>
            </a:endParaRPr>
          </a:p>
        </p:txBody>
      </p:sp>
      <p:sp>
        <p:nvSpPr>
          <p:cNvPr id="7" name="Rectángulo 6">
            <a:extLst>
              <a:ext uri="{FF2B5EF4-FFF2-40B4-BE49-F238E27FC236}">
                <a16:creationId xmlns:a16="http://schemas.microsoft.com/office/drawing/2014/main" id="{3D4C3480-0833-45F7-A852-99973021D4FC}"/>
              </a:ext>
            </a:extLst>
          </p:cNvPr>
          <p:cNvSpPr/>
          <p:nvPr/>
        </p:nvSpPr>
        <p:spPr>
          <a:xfrm>
            <a:off x="8957094" y="4292351"/>
            <a:ext cx="3234906" cy="1815882"/>
          </a:xfrm>
          <a:prstGeom prst="rect">
            <a:avLst/>
          </a:prstGeom>
          <a:solidFill>
            <a:schemeClr val="accent4">
              <a:lumMod val="40000"/>
              <a:lumOff val="60000"/>
            </a:schemeClr>
          </a:solidFill>
        </p:spPr>
        <p:txBody>
          <a:bodyPr wrap="square">
            <a:spAutoFit/>
          </a:bodyPr>
          <a:lstStyle/>
          <a:p>
            <a:r>
              <a:rPr lang="es-PE" sz="1600" dirty="0">
                <a:latin typeface="Arial Narrow" panose="020B0606020202030204" pitchFamily="34" charset="0"/>
              </a:rPr>
              <a:t> </a:t>
            </a:r>
            <a:r>
              <a:rPr lang="es-PE" sz="1600" dirty="0" err="1">
                <a:latin typeface="Arial Narrow" panose="020B0606020202030204" pitchFamily="34" charset="0"/>
              </a:rPr>
              <a:t>OBJECTIVE</a:t>
            </a:r>
            <a:r>
              <a:rPr lang="es-PE" sz="1600" dirty="0">
                <a:latin typeface="Arial Narrow" panose="020B0606020202030204" pitchFamily="34" charset="0"/>
              </a:rPr>
              <a:t> </a:t>
            </a:r>
            <a:r>
              <a:rPr lang="es-PE" sz="1600" dirty="0" err="1">
                <a:latin typeface="Arial Narrow" panose="020B0606020202030204" pitchFamily="34" charset="0"/>
              </a:rPr>
              <a:t>FUNCTION</a:t>
            </a:r>
            <a:r>
              <a:rPr lang="es-PE" sz="1600" dirty="0">
                <a:latin typeface="Arial Narrow" panose="020B0606020202030204" pitchFamily="34" charset="0"/>
              </a:rPr>
              <a:t> </a:t>
            </a:r>
            <a:r>
              <a:rPr lang="es-PE" sz="1600" dirty="0" err="1">
                <a:latin typeface="Arial Narrow" panose="020B0606020202030204" pitchFamily="34" charset="0"/>
              </a:rPr>
              <a:t>VALUE</a:t>
            </a:r>
            <a:endParaRPr lang="es-PE" sz="1600" dirty="0">
              <a:latin typeface="Arial Narrow" panose="020B0606020202030204" pitchFamily="34" charset="0"/>
            </a:endParaRPr>
          </a:p>
          <a:p>
            <a:r>
              <a:rPr lang="es-PE" sz="1600" dirty="0">
                <a:latin typeface="Arial Narrow" panose="020B0606020202030204" pitchFamily="34" charset="0"/>
              </a:rPr>
              <a:t>        1)      21.00000</a:t>
            </a:r>
          </a:p>
          <a:p>
            <a:r>
              <a:rPr lang="es-PE" sz="1600" dirty="0">
                <a:latin typeface="Arial Narrow" panose="020B0606020202030204" pitchFamily="34" charset="0"/>
              </a:rPr>
              <a:t>  VARIABLE   </a:t>
            </a:r>
            <a:r>
              <a:rPr lang="es-PE" sz="1600" dirty="0" err="1">
                <a:latin typeface="Arial Narrow" panose="020B0606020202030204" pitchFamily="34" charset="0"/>
              </a:rPr>
              <a:t>VALUE</a:t>
            </a:r>
            <a:r>
              <a:rPr lang="es-PE" sz="1600" dirty="0">
                <a:latin typeface="Arial Narrow" panose="020B0606020202030204" pitchFamily="34" charset="0"/>
              </a:rPr>
              <a:t>   </a:t>
            </a:r>
            <a:r>
              <a:rPr lang="es-PE" sz="1600" dirty="0" err="1">
                <a:latin typeface="Arial Narrow" panose="020B0606020202030204" pitchFamily="34" charset="0"/>
              </a:rPr>
              <a:t>REDUCED</a:t>
            </a:r>
            <a:r>
              <a:rPr lang="es-PE" sz="1600" dirty="0">
                <a:latin typeface="Arial Narrow" panose="020B0606020202030204" pitchFamily="34" charset="0"/>
              </a:rPr>
              <a:t> </a:t>
            </a:r>
            <a:r>
              <a:rPr lang="es-PE" sz="1600" dirty="0" err="1">
                <a:latin typeface="Arial Narrow" panose="020B0606020202030204" pitchFamily="34" charset="0"/>
              </a:rPr>
              <a:t>COST</a:t>
            </a:r>
            <a:endParaRPr lang="es-PE" sz="1600" dirty="0">
              <a:latin typeface="Arial Narrow" panose="020B0606020202030204" pitchFamily="34" charset="0"/>
            </a:endParaRPr>
          </a:p>
          <a:p>
            <a:r>
              <a:rPr lang="es-PE" sz="1600" dirty="0">
                <a:latin typeface="Arial Narrow" panose="020B0606020202030204" pitchFamily="34" charset="0"/>
              </a:rPr>
              <a:t>        </a:t>
            </a:r>
            <a:r>
              <a:rPr lang="es-PE" sz="1600" dirty="0" err="1">
                <a:latin typeface="Arial Narrow" panose="020B0606020202030204" pitchFamily="34" charset="0"/>
              </a:rPr>
              <a:t>X1</a:t>
            </a:r>
            <a:r>
              <a:rPr lang="es-PE" sz="1600" dirty="0">
                <a:latin typeface="Arial Narrow" panose="020B0606020202030204" pitchFamily="34" charset="0"/>
              </a:rPr>
              <a:t>         0.000000         -8.000000</a:t>
            </a:r>
          </a:p>
          <a:p>
            <a:r>
              <a:rPr lang="es-PE" sz="1600" dirty="0">
                <a:latin typeface="Arial Narrow" panose="020B0606020202030204" pitchFamily="34" charset="0"/>
              </a:rPr>
              <a:t>        </a:t>
            </a:r>
            <a:r>
              <a:rPr lang="es-PE" sz="1600" dirty="0" err="1">
                <a:latin typeface="Arial Narrow" panose="020B0606020202030204" pitchFamily="34" charset="0"/>
              </a:rPr>
              <a:t>X2</a:t>
            </a:r>
            <a:r>
              <a:rPr lang="es-PE" sz="1600" dirty="0">
                <a:latin typeface="Arial Narrow" panose="020B0606020202030204" pitchFamily="34" charset="0"/>
              </a:rPr>
              <a:t>         1.000000        -11.000000</a:t>
            </a:r>
          </a:p>
          <a:p>
            <a:r>
              <a:rPr lang="es-PE" sz="1600" dirty="0">
                <a:latin typeface="Arial Narrow" panose="020B0606020202030204" pitchFamily="34" charset="0"/>
              </a:rPr>
              <a:t>        </a:t>
            </a:r>
            <a:r>
              <a:rPr lang="es-PE" sz="1600" dirty="0" err="1">
                <a:latin typeface="Arial Narrow" panose="020B0606020202030204" pitchFamily="34" charset="0"/>
              </a:rPr>
              <a:t>X3</a:t>
            </a:r>
            <a:r>
              <a:rPr lang="es-PE" sz="1600" dirty="0">
                <a:latin typeface="Arial Narrow" panose="020B0606020202030204" pitchFamily="34" charset="0"/>
              </a:rPr>
              <a:t>         1.000000         -6.000000</a:t>
            </a:r>
          </a:p>
          <a:p>
            <a:r>
              <a:rPr lang="es-PE" sz="1600" dirty="0">
                <a:latin typeface="Arial Narrow" panose="020B0606020202030204" pitchFamily="34" charset="0"/>
              </a:rPr>
              <a:t>        </a:t>
            </a:r>
            <a:r>
              <a:rPr lang="es-PE" sz="1600" dirty="0" err="1">
                <a:latin typeface="Arial Narrow" panose="020B0606020202030204" pitchFamily="34" charset="0"/>
              </a:rPr>
              <a:t>X4</a:t>
            </a:r>
            <a:r>
              <a:rPr lang="es-PE" sz="1600" dirty="0">
                <a:latin typeface="Arial Narrow" panose="020B0606020202030204" pitchFamily="34" charset="0"/>
              </a:rPr>
              <a:t>         1.000000         -4.000000</a:t>
            </a:r>
          </a:p>
        </p:txBody>
      </p:sp>
      <p:sp>
        <p:nvSpPr>
          <p:cNvPr id="8" name="Rectangle 2">
            <a:extLst>
              <a:ext uri="{FF2B5EF4-FFF2-40B4-BE49-F238E27FC236}">
                <a16:creationId xmlns:a16="http://schemas.microsoft.com/office/drawing/2014/main" id="{8179FCA1-FC98-43EE-9BD4-6CA111C3A772}"/>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3</a:t>
            </a:r>
          </a:p>
        </p:txBody>
      </p:sp>
      <p:pic>
        <p:nvPicPr>
          <p:cNvPr id="4" name="Imagen 3">
            <a:extLst>
              <a:ext uri="{FF2B5EF4-FFF2-40B4-BE49-F238E27FC236}">
                <a16:creationId xmlns:a16="http://schemas.microsoft.com/office/drawing/2014/main" id="{747805D3-0820-4B93-96C3-41BC0349F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001" y="1231281"/>
            <a:ext cx="1282999" cy="1525897"/>
          </a:xfrm>
          <a:prstGeom prst="rect">
            <a:avLst/>
          </a:prstGeom>
        </p:spPr>
      </p:pic>
      <p:sp>
        <p:nvSpPr>
          <p:cNvPr id="10" name="CuadroTexto 9">
            <a:extLst>
              <a:ext uri="{FF2B5EF4-FFF2-40B4-BE49-F238E27FC236}">
                <a16:creationId xmlns:a16="http://schemas.microsoft.com/office/drawing/2014/main" id="{819DCFF8-5148-4675-AAE7-56AC242A748A}"/>
              </a:ext>
            </a:extLst>
          </p:cNvPr>
          <p:cNvSpPr txBox="1"/>
          <p:nvPr/>
        </p:nvSpPr>
        <p:spPr>
          <a:xfrm>
            <a:off x="6107501" y="1242211"/>
            <a:ext cx="3663514" cy="1323439"/>
          </a:xfrm>
          <a:prstGeom prst="rect">
            <a:avLst/>
          </a:prstGeom>
          <a:solidFill>
            <a:schemeClr val="accent2">
              <a:lumMod val="20000"/>
              <a:lumOff val="80000"/>
            </a:schemeClr>
          </a:solidFill>
        </p:spPr>
        <p:txBody>
          <a:bodyPr wrap="square" rtlCol="0">
            <a:spAutoFit/>
          </a:bodyPr>
          <a:lstStyle/>
          <a:p>
            <a:r>
              <a:rPr lang="es-ES" sz="2000" dirty="0">
                <a:solidFill>
                  <a:srgbClr val="FF0000"/>
                </a:solidFill>
              </a:rPr>
              <a:t>Identificación de las variables</a:t>
            </a:r>
          </a:p>
          <a:p>
            <a:r>
              <a:rPr lang="es-ES" sz="2000" dirty="0"/>
              <a:t>Xi=Tipo de objeto (i=1,2,3,4)</a:t>
            </a:r>
          </a:p>
          <a:p>
            <a:r>
              <a:rPr lang="es-ES" sz="2000" dirty="0"/>
              <a:t>{Xi=1 Se selecciona,      </a:t>
            </a:r>
          </a:p>
          <a:p>
            <a:r>
              <a:rPr lang="es-ES" sz="2000" dirty="0"/>
              <a:t> Xi=0 en otro caso}</a:t>
            </a:r>
          </a:p>
        </p:txBody>
      </p:sp>
      <p:sp>
        <p:nvSpPr>
          <p:cNvPr id="2" name="Rectángulo 1">
            <a:extLst>
              <a:ext uri="{FF2B5EF4-FFF2-40B4-BE49-F238E27FC236}">
                <a16:creationId xmlns:a16="http://schemas.microsoft.com/office/drawing/2014/main" id="{96E38CF7-0184-4391-B940-3DB1DD7F7E1E}"/>
              </a:ext>
            </a:extLst>
          </p:cNvPr>
          <p:cNvSpPr/>
          <p:nvPr/>
        </p:nvSpPr>
        <p:spPr>
          <a:xfrm>
            <a:off x="6106894" y="2588752"/>
            <a:ext cx="3664121" cy="707886"/>
          </a:xfrm>
          <a:prstGeom prst="rect">
            <a:avLst/>
          </a:prstGeom>
          <a:solidFill>
            <a:schemeClr val="accent2">
              <a:lumMod val="20000"/>
              <a:lumOff val="80000"/>
            </a:schemeClr>
          </a:solidFill>
        </p:spPr>
        <p:txBody>
          <a:bodyPr wrap="square">
            <a:spAutoFit/>
          </a:bodyPr>
          <a:lstStyle/>
          <a:p>
            <a:r>
              <a:rPr lang="es-ES" sz="2000" dirty="0">
                <a:solidFill>
                  <a:srgbClr val="FF0000"/>
                </a:solidFill>
              </a:rPr>
              <a:t>Identificación de la F. O.</a:t>
            </a:r>
          </a:p>
          <a:p>
            <a:r>
              <a:rPr lang="es-PE" sz="2000" dirty="0"/>
              <a:t>MAX </a:t>
            </a:r>
            <a:r>
              <a:rPr lang="es-PE" sz="2000" dirty="0" err="1"/>
              <a:t>8X1+11X2+6X3+4X4</a:t>
            </a:r>
            <a:endParaRPr lang="es-PE" sz="2000" dirty="0"/>
          </a:p>
        </p:txBody>
      </p:sp>
      <p:sp>
        <p:nvSpPr>
          <p:cNvPr id="5" name="Rectángulo 4">
            <a:extLst>
              <a:ext uri="{FF2B5EF4-FFF2-40B4-BE49-F238E27FC236}">
                <a16:creationId xmlns:a16="http://schemas.microsoft.com/office/drawing/2014/main" id="{D0B93719-769C-4C62-B5A5-1D7D38F0A6B9}"/>
              </a:ext>
            </a:extLst>
          </p:cNvPr>
          <p:cNvSpPr/>
          <p:nvPr/>
        </p:nvSpPr>
        <p:spPr>
          <a:xfrm>
            <a:off x="6095999" y="3269260"/>
            <a:ext cx="3675017" cy="1015663"/>
          </a:xfrm>
          <a:prstGeom prst="rect">
            <a:avLst/>
          </a:prstGeom>
          <a:solidFill>
            <a:schemeClr val="accent2">
              <a:lumMod val="20000"/>
              <a:lumOff val="80000"/>
            </a:schemeClr>
          </a:solidFill>
        </p:spPr>
        <p:txBody>
          <a:bodyPr wrap="square">
            <a:spAutoFit/>
          </a:bodyPr>
          <a:lstStyle/>
          <a:p>
            <a:r>
              <a:rPr lang="es-PE" sz="2000" dirty="0">
                <a:solidFill>
                  <a:srgbClr val="FF0000"/>
                </a:solidFill>
              </a:rPr>
              <a:t>Identificación de las restricciones</a:t>
            </a:r>
          </a:p>
          <a:p>
            <a:r>
              <a:rPr lang="es-PE" sz="2000" dirty="0" err="1"/>
              <a:t>11X1+13X2+9X3+5X4</a:t>
            </a:r>
            <a:r>
              <a:rPr lang="es-PE" sz="2000" dirty="0"/>
              <a:t>&lt;=28</a:t>
            </a:r>
          </a:p>
          <a:p>
            <a:r>
              <a:rPr lang="es-PE" sz="2000" dirty="0"/>
              <a:t>Xi= 0, 1 BINARIO</a:t>
            </a:r>
          </a:p>
        </p:txBody>
      </p:sp>
      <p:sp>
        <p:nvSpPr>
          <p:cNvPr id="11" name="CuadroTexto 10">
            <a:extLst>
              <a:ext uri="{FF2B5EF4-FFF2-40B4-BE49-F238E27FC236}">
                <a16:creationId xmlns:a16="http://schemas.microsoft.com/office/drawing/2014/main" id="{2EF496E6-DD7E-D1F8-234E-3BC4A89CDC35}"/>
              </a:ext>
            </a:extLst>
          </p:cNvPr>
          <p:cNvSpPr txBox="1"/>
          <p:nvPr/>
        </p:nvSpPr>
        <p:spPr>
          <a:xfrm>
            <a:off x="139344" y="1409339"/>
            <a:ext cx="4563291" cy="1938992"/>
          </a:xfrm>
          <a:prstGeom prst="rect">
            <a:avLst/>
          </a:prstGeom>
          <a:solidFill>
            <a:schemeClr val="accent1">
              <a:lumMod val="20000"/>
              <a:lumOff val="80000"/>
            </a:schemeClr>
          </a:solidFill>
        </p:spPr>
        <p:txBody>
          <a:bodyPr wrap="square">
            <a:spAutoFit/>
          </a:bodyPr>
          <a:lstStyle/>
          <a:p>
            <a:r>
              <a:rPr lang="es-ES" sz="2000" b="1" dirty="0"/>
              <a:t>El problema de la mochila</a:t>
            </a:r>
            <a:endParaRPr lang="es-ES" sz="2000" dirty="0"/>
          </a:p>
          <a:p>
            <a:r>
              <a:rPr lang="es-ES" sz="2000" dirty="0"/>
              <a:t>El peso máximo que puede soportar en una mochila es de 28 kg. Podemos elegir los objetos siguientes con los pesos y utilidad descrita en la tabla. Elegir los objetos para tener máxima utilidad.</a:t>
            </a:r>
          </a:p>
        </p:txBody>
      </p:sp>
      <p:graphicFrame>
        <p:nvGraphicFramePr>
          <p:cNvPr id="17" name="Tabla 16">
            <a:extLst>
              <a:ext uri="{FF2B5EF4-FFF2-40B4-BE49-F238E27FC236}">
                <a16:creationId xmlns:a16="http://schemas.microsoft.com/office/drawing/2014/main" id="{C3979FCD-ADD1-5B0E-3F7B-6EAEB4E52DDA}"/>
              </a:ext>
            </a:extLst>
          </p:cNvPr>
          <p:cNvGraphicFramePr>
            <a:graphicFrameLocks noGrp="1"/>
          </p:cNvGraphicFramePr>
          <p:nvPr>
            <p:extLst>
              <p:ext uri="{D42A27DB-BD31-4B8C-83A1-F6EECF244321}">
                <p14:modId xmlns:p14="http://schemas.microsoft.com/office/powerpoint/2010/main" val="928469965"/>
              </p:ext>
            </p:extLst>
          </p:nvPr>
        </p:nvGraphicFramePr>
        <p:xfrm>
          <a:off x="128450" y="3624872"/>
          <a:ext cx="4563291" cy="1571625"/>
        </p:xfrm>
        <a:graphic>
          <a:graphicData uri="http://schemas.openxmlformats.org/drawingml/2006/table">
            <a:tbl>
              <a:tblPr>
                <a:tableStyleId>{5C22544A-7EE6-4342-B048-85BDC9FD1C3A}</a:tableStyleId>
              </a:tblPr>
              <a:tblGrid>
                <a:gridCol w="1521097">
                  <a:extLst>
                    <a:ext uri="{9D8B030D-6E8A-4147-A177-3AD203B41FA5}">
                      <a16:colId xmlns:a16="http://schemas.microsoft.com/office/drawing/2014/main" val="2545851424"/>
                    </a:ext>
                  </a:extLst>
                </a:gridCol>
                <a:gridCol w="1521097">
                  <a:extLst>
                    <a:ext uri="{9D8B030D-6E8A-4147-A177-3AD203B41FA5}">
                      <a16:colId xmlns:a16="http://schemas.microsoft.com/office/drawing/2014/main" val="2141472708"/>
                    </a:ext>
                  </a:extLst>
                </a:gridCol>
                <a:gridCol w="1521097">
                  <a:extLst>
                    <a:ext uri="{9D8B030D-6E8A-4147-A177-3AD203B41FA5}">
                      <a16:colId xmlns:a16="http://schemas.microsoft.com/office/drawing/2014/main" val="2667492809"/>
                    </a:ext>
                  </a:extLst>
                </a:gridCol>
              </a:tblGrid>
              <a:tr h="195848">
                <a:tc>
                  <a:txBody>
                    <a:bodyPr/>
                    <a:lstStyle/>
                    <a:p>
                      <a:pPr algn="ctr" fontAlgn="ctr"/>
                      <a:r>
                        <a:rPr lang="es-PE" sz="2000" u="none" strike="noStrike" dirty="0">
                          <a:solidFill>
                            <a:schemeClr val="bg1"/>
                          </a:solidFill>
                          <a:effectLst/>
                        </a:rPr>
                        <a:t>Objeto</a:t>
                      </a:r>
                      <a:endParaRPr lang="es-PE" sz="2000" b="1" i="0" u="none" strike="noStrike" dirty="0">
                        <a:solidFill>
                          <a:schemeClr val="bg1"/>
                        </a:solidFill>
                        <a:effectLst/>
                        <a:latin typeface="Calibri" panose="020F0502020204030204" pitchFamily="34" charset="0"/>
                      </a:endParaRPr>
                    </a:p>
                  </a:txBody>
                  <a:tcPr marL="9525" marR="9525" marT="9525" marB="0" anchor="ctr">
                    <a:solidFill>
                      <a:schemeClr val="accent3">
                        <a:lumMod val="75000"/>
                      </a:schemeClr>
                    </a:solidFill>
                  </a:tcPr>
                </a:tc>
                <a:tc>
                  <a:txBody>
                    <a:bodyPr/>
                    <a:lstStyle/>
                    <a:p>
                      <a:pPr algn="ctr" fontAlgn="ctr"/>
                      <a:r>
                        <a:rPr lang="es-PE" sz="2000" u="none" strike="noStrike" dirty="0">
                          <a:solidFill>
                            <a:schemeClr val="bg1"/>
                          </a:solidFill>
                          <a:effectLst/>
                        </a:rPr>
                        <a:t>Peso</a:t>
                      </a:r>
                      <a:endParaRPr lang="es-PE" sz="2000" b="1" i="0" u="none" strike="noStrike" dirty="0">
                        <a:solidFill>
                          <a:schemeClr val="bg1"/>
                        </a:solidFill>
                        <a:effectLst/>
                        <a:latin typeface="Calibri" panose="020F0502020204030204" pitchFamily="34" charset="0"/>
                      </a:endParaRPr>
                    </a:p>
                  </a:txBody>
                  <a:tcPr marL="9525" marR="9525" marT="9525" marB="0" anchor="ctr">
                    <a:solidFill>
                      <a:schemeClr val="accent3">
                        <a:lumMod val="75000"/>
                      </a:schemeClr>
                    </a:solidFill>
                  </a:tcPr>
                </a:tc>
                <a:tc>
                  <a:txBody>
                    <a:bodyPr/>
                    <a:lstStyle/>
                    <a:p>
                      <a:pPr algn="ctr" fontAlgn="ctr"/>
                      <a:r>
                        <a:rPr lang="es-PE" sz="2000" u="none" strike="noStrike" dirty="0">
                          <a:solidFill>
                            <a:schemeClr val="bg1"/>
                          </a:solidFill>
                          <a:effectLst/>
                        </a:rPr>
                        <a:t>Utilidad</a:t>
                      </a:r>
                      <a:endParaRPr lang="es-PE" sz="2000" b="1" i="0" u="none" strike="noStrike" dirty="0">
                        <a:solidFill>
                          <a:schemeClr val="bg1"/>
                        </a:solidFill>
                        <a:effectLst/>
                        <a:latin typeface="Calibri" panose="020F0502020204030204" pitchFamily="34" charset="0"/>
                      </a:endParaRPr>
                    </a:p>
                  </a:txBody>
                  <a:tcPr marL="9525" marR="9525" marT="9525" marB="0" anchor="ctr">
                    <a:solidFill>
                      <a:schemeClr val="accent3">
                        <a:lumMod val="75000"/>
                      </a:schemeClr>
                    </a:solidFill>
                  </a:tcPr>
                </a:tc>
                <a:extLst>
                  <a:ext uri="{0D108BD9-81ED-4DB2-BD59-A6C34878D82A}">
                    <a16:rowId xmlns:a16="http://schemas.microsoft.com/office/drawing/2014/main" val="600432756"/>
                  </a:ext>
                </a:extLst>
              </a:tr>
              <a:tr h="195848">
                <a:tc>
                  <a:txBody>
                    <a:bodyPr/>
                    <a:lstStyle/>
                    <a:p>
                      <a:pPr algn="ctr" fontAlgn="ctr"/>
                      <a:r>
                        <a:rPr lang="es-PE" sz="2000" u="none" strike="noStrike">
                          <a:effectLst/>
                        </a:rPr>
                        <a:t>1</a:t>
                      </a:r>
                      <a:endParaRPr lang="es-PE"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a:effectLst/>
                        </a:rPr>
                        <a:t>11</a:t>
                      </a:r>
                      <a:endParaRPr lang="es-PE"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a:effectLst/>
                        </a:rPr>
                        <a:t>8</a:t>
                      </a:r>
                      <a:endParaRPr lang="es-PE"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5008703"/>
                  </a:ext>
                </a:extLst>
              </a:tr>
              <a:tr h="195848">
                <a:tc>
                  <a:txBody>
                    <a:bodyPr/>
                    <a:lstStyle/>
                    <a:p>
                      <a:pPr algn="ctr" fontAlgn="ctr"/>
                      <a:r>
                        <a:rPr lang="es-PE" sz="2000" u="none" strike="noStrike">
                          <a:effectLst/>
                        </a:rPr>
                        <a:t>2</a:t>
                      </a:r>
                      <a:endParaRPr lang="es-PE"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a:effectLst/>
                        </a:rPr>
                        <a:t>13</a:t>
                      </a:r>
                      <a:endParaRPr lang="es-PE"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dirty="0">
                          <a:effectLst/>
                        </a:rPr>
                        <a:t>11</a:t>
                      </a:r>
                      <a:endParaRPr lang="es-PE"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14567063"/>
                  </a:ext>
                </a:extLst>
              </a:tr>
              <a:tr h="195848">
                <a:tc>
                  <a:txBody>
                    <a:bodyPr/>
                    <a:lstStyle/>
                    <a:p>
                      <a:pPr algn="ctr" fontAlgn="ctr"/>
                      <a:r>
                        <a:rPr lang="es-PE" sz="2000" u="none" strike="noStrike">
                          <a:effectLst/>
                        </a:rPr>
                        <a:t>3</a:t>
                      </a:r>
                      <a:endParaRPr lang="es-PE"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a:effectLst/>
                        </a:rPr>
                        <a:t>9</a:t>
                      </a:r>
                      <a:endParaRPr lang="es-PE"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a:effectLst/>
                        </a:rPr>
                        <a:t>6</a:t>
                      </a:r>
                      <a:endParaRPr lang="es-PE"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97766214"/>
                  </a:ext>
                </a:extLst>
              </a:tr>
              <a:tr h="195848">
                <a:tc>
                  <a:txBody>
                    <a:bodyPr/>
                    <a:lstStyle/>
                    <a:p>
                      <a:pPr algn="ctr" fontAlgn="ctr"/>
                      <a:r>
                        <a:rPr lang="es-PE" sz="2000" u="none" strike="noStrike">
                          <a:effectLst/>
                        </a:rPr>
                        <a:t>4</a:t>
                      </a:r>
                      <a:endParaRPr lang="es-PE"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dirty="0">
                          <a:effectLst/>
                        </a:rPr>
                        <a:t>5</a:t>
                      </a:r>
                      <a:endParaRPr lang="es-PE"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2000" u="none" strike="noStrike" dirty="0">
                          <a:effectLst/>
                        </a:rPr>
                        <a:t>4</a:t>
                      </a:r>
                      <a:endParaRPr lang="es-PE"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11408097"/>
                  </a:ext>
                </a:extLst>
              </a:tr>
            </a:tbl>
          </a:graphicData>
        </a:graphic>
      </p:graphicFrame>
    </p:spTree>
    <p:extLst>
      <p:ext uri="{BB962C8B-B14F-4D97-AF65-F5344CB8AC3E}">
        <p14:creationId xmlns:p14="http://schemas.microsoft.com/office/powerpoint/2010/main" val="232677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2"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B7938E0-4BAF-449A-AFF1-1F14134F7F61}"/>
              </a:ext>
            </a:extLst>
          </p:cNvPr>
          <p:cNvSpPr/>
          <p:nvPr/>
        </p:nvSpPr>
        <p:spPr>
          <a:xfrm>
            <a:off x="71892" y="1244454"/>
            <a:ext cx="6024108" cy="1463542"/>
          </a:xfrm>
          <a:prstGeom prst="rect">
            <a:avLst/>
          </a:prstGeom>
          <a:solidFill>
            <a:schemeClr val="accent4">
              <a:lumMod val="40000"/>
              <a:lumOff val="60000"/>
            </a:schemeClr>
          </a:solidFill>
        </p:spPr>
        <p:txBody>
          <a:bodyPr wrap="square">
            <a:spAutoFit/>
          </a:bodyPr>
          <a:lstStyle/>
          <a:p>
            <a:pPr marL="88900" marR="66040" algn="just">
              <a:lnSpc>
                <a:spcPct val="99000"/>
              </a:lnSpc>
              <a:spcAft>
                <a:spcPts val="0"/>
              </a:spcAft>
            </a:pP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inversionista </a:t>
            </a:r>
            <a:r>
              <a:rPr lang="es-PE" dirty="0">
                <a:latin typeface="Arial Narrow" panose="020B0606020202030204" pitchFamily="34" charset="0"/>
                <a:ea typeface="Times New Roman" panose="02020603050405020304" pitchFamily="18" charset="0"/>
                <a:cs typeface="Times New Roman" panose="02020603050405020304" pitchFamily="18" charset="0"/>
              </a:rPr>
              <a:t>disp</a:t>
            </a:r>
            <a:r>
              <a:rPr lang="es-PE" spc="15" dirty="0">
                <a:latin typeface="Arial Narrow" panose="020B0606020202030204" pitchFamily="34" charset="0"/>
                <a:ea typeface="Times New Roman" panose="02020603050405020304" pitchFamily="18" charset="0"/>
                <a:cs typeface="Times New Roman" panose="02020603050405020304" pitchFamily="18" charset="0"/>
              </a:rPr>
              <a:t>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2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2</a:t>
            </a:r>
            <a:r>
              <a:rPr lang="es-PE" dirty="0">
                <a:latin typeface="Arial Narrow" panose="020B0606020202030204" pitchFamily="34" charset="0"/>
                <a:ea typeface="Times New Roman" panose="02020603050405020304" pitchFamily="18" charset="0"/>
                <a:cs typeface="Times New Roman" panose="02020603050405020304" pitchFamily="18" charset="0"/>
              </a:rPr>
              <a:t>0</a:t>
            </a:r>
            <a:r>
              <a:rPr lang="es-PE" spc="-5" dirty="0">
                <a:latin typeface="Arial Narrow" panose="020B0606020202030204" pitchFamily="34" charset="0"/>
                <a:ea typeface="Times New Roman" panose="02020603050405020304" pitchFamily="18" charset="0"/>
                <a:cs typeface="Times New Roman" panose="02020603050405020304" pitchFamily="18" charset="0"/>
              </a:rPr>
              <a:t>0</a:t>
            </a:r>
            <a:r>
              <a:rPr lang="es-PE" spc="5" dirty="0">
                <a:latin typeface="Arial Narrow" panose="020B0606020202030204" pitchFamily="34" charset="0"/>
                <a:ea typeface="Times New Roman" panose="02020603050405020304" pitchFamily="18" charset="0"/>
                <a:cs typeface="Times New Roman" panose="02020603050405020304" pitchFamily="18" charset="0"/>
              </a:rPr>
              <a:t>0</a:t>
            </a:r>
            <a:r>
              <a:rPr lang="es-PE" spc="-5" dirty="0">
                <a:latin typeface="Arial Narrow" panose="020B0606020202030204" pitchFamily="34" charset="0"/>
                <a:ea typeface="Times New Roman" panose="02020603050405020304" pitchFamily="18" charset="0"/>
                <a:cs typeface="Times New Roman" panose="02020603050405020304" pitchFamily="18" charset="0"/>
              </a:rPr>
              <a:t>0</a:t>
            </a:r>
            <a:r>
              <a:rPr lang="es-PE" dirty="0">
                <a:latin typeface="Arial Narrow" panose="020B0606020202030204" pitchFamily="34" charset="0"/>
                <a:ea typeface="Times New Roman" panose="02020603050405020304" pitchFamily="18" charset="0"/>
                <a:cs typeface="Times New Roman" panose="02020603050405020304" pitchFamily="18" charset="0"/>
              </a:rPr>
              <a:t>,</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10" dirty="0">
                <a:latin typeface="Arial Narrow" panose="020B0606020202030204" pitchFamily="34" charset="0"/>
                <a:ea typeface="Times New Roman" panose="02020603050405020304" pitchFamily="18" charset="0"/>
                <a:cs typeface="Times New Roman" panose="02020603050405020304" pitchFamily="18" charset="0"/>
              </a:rPr>
              <a:t>o</a:t>
            </a:r>
            <a:r>
              <a:rPr lang="es-PE" dirty="0">
                <a:latin typeface="Arial Narrow" panose="020B0606020202030204" pitchFamily="34" charset="0"/>
                <a:ea typeface="Times New Roman" panose="02020603050405020304" pitchFamily="18" charset="0"/>
                <a:cs typeface="Times New Roman" panose="02020603050405020304" pitchFamily="18" charset="0"/>
              </a:rPr>
              <a:t>s </a:t>
            </a:r>
            <a:r>
              <a:rPr lang="es-PE" spc="10"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sea</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d</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sti</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rlos</a:t>
            </a:r>
            <a:r>
              <a:rPr lang="es-PE" spc="-3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a</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c</a:t>
            </a:r>
            <a:r>
              <a:rPr lang="es-PE" dirty="0">
                <a:latin typeface="Arial Narrow" panose="020B0606020202030204" pitchFamily="34" charset="0"/>
                <a:ea typeface="Times New Roman" panose="02020603050405020304" pitchFamily="18" charset="0"/>
                <a:cs typeface="Times New Roman" panose="02020603050405020304" pitchFamily="18" charset="0"/>
              </a:rPr>
              <a:t>om</a:t>
            </a:r>
            <a:r>
              <a:rPr lang="es-PE" spc="5" dirty="0">
                <a:latin typeface="Arial Narrow" panose="020B0606020202030204" pitchFamily="34" charset="0"/>
                <a:ea typeface="Times New Roman" panose="02020603050405020304" pitchFamily="18" charset="0"/>
                <a:cs typeface="Times New Roman" panose="02020603050405020304" pitchFamily="18" charset="0"/>
              </a:rPr>
              <a:t>p</a:t>
            </a:r>
            <a:r>
              <a:rPr lang="es-PE" dirty="0">
                <a:latin typeface="Arial Narrow" panose="020B0606020202030204" pitchFamily="34" charset="0"/>
                <a:ea typeface="Times New Roman" panose="02020603050405020304" pitchFamily="18" charset="0"/>
                <a:cs typeface="Times New Roman" panose="02020603050405020304" pitchFamily="18" charset="0"/>
              </a:rPr>
              <a:t>ra</a:t>
            </a:r>
            <a:r>
              <a:rPr lang="es-PE" spc="-2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5" dirty="0">
                <a:latin typeface="Arial Narrow" panose="020B0606020202030204" pitchFamily="34" charset="0"/>
                <a:ea typeface="Times New Roman" panose="02020603050405020304" pitchFamily="18" charset="0"/>
                <a:cs typeface="Times New Roman" panose="02020603050405020304" pitchFamily="18" charset="0"/>
              </a:rPr>
              <a:t>te</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3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spc="-5" dirty="0">
                <a:latin typeface="Arial Narrow" panose="020B0606020202030204" pitchFamily="34" charset="0"/>
                <a:ea typeface="Times New Roman" panose="02020603050405020304" pitchFamily="18" charset="0"/>
                <a:cs typeface="Times New Roman" panose="02020603050405020304" pitchFamily="18" charset="0"/>
              </a:rPr>
              <a:t>cc</a:t>
            </a:r>
            <a:r>
              <a:rPr lang="es-PE" dirty="0">
                <a:latin typeface="Arial Narrow" panose="020B0606020202030204" pitchFamily="34" charset="0"/>
                <a:ea typeface="Times New Roman" panose="02020603050405020304" pitchFamily="18" charset="0"/>
                <a:cs typeface="Times New Roman" panose="02020603050405020304" pitchFamily="18" charset="0"/>
              </a:rPr>
              <a:t>io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10" dirty="0">
                <a:latin typeface="Arial Narrow" panose="020B0606020202030204" pitchFamily="34" charset="0"/>
                <a:ea typeface="Times New Roman" panose="02020603050405020304" pitchFamily="18" charset="0"/>
                <a:cs typeface="Times New Roman" panose="02020603050405020304" pitchFamily="18" charset="0"/>
              </a:rPr>
              <a:t>s</a:t>
            </a:r>
            <a:r>
              <a:rPr lang="es-PE" dirty="0">
                <a:latin typeface="Arial Narrow" panose="020B0606020202030204" pitchFamily="34" charset="0"/>
                <a:ea typeface="Times New Roman" panose="02020603050405020304" pitchFamily="18" charset="0"/>
                <a:cs typeface="Times New Roman" panose="02020603050405020304" pitchFamily="18" charset="0"/>
              </a:rPr>
              <a:t>,</a:t>
            </a:r>
            <a:r>
              <a:rPr lang="es-PE" spc="-11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quien </a:t>
            </a:r>
            <a:r>
              <a:rPr lang="es-PE" dirty="0">
                <a:latin typeface="Arial Narrow" panose="020B0606020202030204" pitchFamily="34" charset="0"/>
                <a:ea typeface="Times New Roman" panose="02020603050405020304" pitchFamily="18" charset="0"/>
                <a:cs typeface="Times New Roman" panose="02020603050405020304" pitchFamily="18" charset="0"/>
              </a:rPr>
              <a:t>dispone</a:t>
            </a:r>
            <a:r>
              <a:rPr lang="es-PE" spc="-10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1</a:t>
            </a:r>
            <a:r>
              <a:rPr lang="es-PE" dirty="0">
                <a:latin typeface="Arial Narrow" panose="020B0606020202030204" pitchFamily="34" charset="0"/>
                <a:ea typeface="Times New Roman" panose="02020603050405020304" pitchFamily="18" charset="0"/>
                <a:cs typeface="Times New Roman" panose="02020603050405020304" pitchFamily="18" charset="0"/>
              </a:rPr>
              <a:t>0</a:t>
            </a:r>
            <a:r>
              <a:rPr lang="es-PE"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lt</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rna</a:t>
            </a:r>
            <a:r>
              <a:rPr lang="es-PE" spc="5" dirty="0">
                <a:latin typeface="Arial Narrow" panose="020B0606020202030204" pitchFamily="34" charset="0"/>
                <a:ea typeface="Times New Roman" panose="02020603050405020304" pitchFamily="18" charset="0"/>
                <a:cs typeface="Times New Roman" panose="02020603050405020304" pitchFamily="18" charset="0"/>
              </a:rPr>
              <a:t>t</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5" dirty="0">
                <a:latin typeface="Arial Narrow" panose="020B0606020202030204" pitchFamily="34" charset="0"/>
                <a:ea typeface="Times New Roman" panose="02020603050405020304" pitchFamily="18" charset="0"/>
                <a:cs typeface="Times New Roman" panose="02020603050405020304" pitchFamily="18" charset="0"/>
              </a:rPr>
              <a:t>v</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1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L</a:t>
            </a:r>
            <a:r>
              <a:rPr lang="es-PE" dirty="0">
                <a:latin typeface="Arial Narrow" panose="020B0606020202030204" pitchFamily="34" charset="0"/>
                <a:ea typeface="Times New Roman" panose="02020603050405020304" pitchFamily="18" charset="0"/>
                <a:cs typeface="Times New Roman" panose="02020603050405020304" pitchFamily="18" charset="0"/>
              </a:rPr>
              <a:t>a</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ve</a:t>
            </a:r>
            <a:r>
              <a:rPr lang="es-PE" dirty="0">
                <a:latin typeface="Arial Narrow" panose="020B0606020202030204" pitchFamily="34" charset="0"/>
                <a:ea typeface="Times New Roman" panose="02020603050405020304" pitchFamily="18" charset="0"/>
                <a:cs typeface="Times New Roman" panose="02020603050405020304" pitchFamily="18" charset="0"/>
              </a:rPr>
              <a:t>rsión</a:t>
            </a:r>
            <a:r>
              <a:rPr lang="es-PE" spc="-1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por</a:t>
            </a:r>
            <a:r>
              <a:rPr lang="es-PE" spc="-8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5" dirty="0">
                <a:latin typeface="Arial Narrow" panose="020B0606020202030204" pitchFamily="34" charset="0"/>
                <a:ea typeface="Times New Roman" panose="02020603050405020304" pitchFamily="18" charset="0"/>
                <a:cs typeface="Times New Roman" panose="02020603050405020304" pitchFamily="18" charset="0"/>
              </a:rPr>
              <a:t>t</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a:t>
            </a:r>
            <a:r>
              <a:rPr lang="es-PE" spc="-7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t</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bilid</a:t>
            </a:r>
            <a:r>
              <a:rPr lang="es-PE" spc="10"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d</a:t>
            </a:r>
            <a:r>
              <a:rPr lang="es-PE" spc="-12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da</a:t>
            </a:r>
            <a:r>
              <a:rPr lang="es-PE" spc="-8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5" dirty="0">
                <a:latin typeface="Arial Narrow" panose="020B0606020202030204" pitchFamily="34" charset="0"/>
                <a:ea typeface="Times New Roman" panose="02020603050405020304" pitchFamily="18" charset="0"/>
                <a:cs typeface="Times New Roman" panose="02020603050405020304" pitchFamily="18" charset="0"/>
              </a:rPr>
              <a:t>t</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1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7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spc="-5" dirty="0">
                <a:latin typeface="Arial Narrow" panose="020B0606020202030204" pitchFamily="34" charset="0"/>
                <a:ea typeface="Times New Roman" panose="02020603050405020304" pitchFamily="18" charset="0"/>
                <a:cs typeface="Times New Roman" panose="02020603050405020304" pitchFamily="18" charset="0"/>
              </a:rPr>
              <a:t>cc</a:t>
            </a:r>
            <a:r>
              <a:rPr lang="es-PE" dirty="0">
                <a:latin typeface="Arial Narrow" panose="020B0606020202030204" pitchFamily="34" charset="0"/>
                <a:ea typeface="Times New Roman" panose="02020603050405020304" pitchFamily="18" charset="0"/>
                <a:cs typeface="Times New Roman" panose="02020603050405020304" pitchFamily="18" charset="0"/>
              </a:rPr>
              <a:t>io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10" dirty="0">
                <a:latin typeface="Arial Narrow" panose="020B0606020202030204" pitchFamily="34" charset="0"/>
                <a:ea typeface="Times New Roman" panose="02020603050405020304" pitchFamily="18" charset="0"/>
                <a:cs typeface="Times New Roman" panose="02020603050405020304" pitchFamily="18" charset="0"/>
              </a:rPr>
              <a:t>s</a:t>
            </a:r>
            <a:r>
              <a:rPr lang="es-PE" dirty="0">
                <a:latin typeface="Arial Narrow" panose="020B0606020202030204" pitchFamily="34" charset="0"/>
                <a:ea typeface="Times New Roman" panose="02020603050405020304" pitchFamily="18" charset="0"/>
                <a:cs typeface="Times New Roman" panose="02020603050405020304" pitchFamily="18" charset="0"/>
              </a:rPr>
              <a:t> y</a:t>
            </a:r>
            <a:r>
              <a:rPr lang="es-PE"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10"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bro</a:t>
            </a:r>
            <a:r>
              <a:rPr lang="es-PE"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1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te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5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c</a:t>
            </a:r>
            <a:r>
              <a:rPr lang="es-PE" dirty="0">
                <a:latin typeface="Arial Narrow" panose="020B0606020202030204" pitchFamily="34" charset="0"/>
                <a:ea typeface="Times New Roman" panose="02020603050405020304" pitchFamily="18" charset="0"/>
                <a:cs typeface="Times New Roman" panose="02020603050405020304" pitchFamily="18" charset="0"/>
              </a:rPr>
              <a:t>om</a:t>
            </a:r>
            <a:r>
              <a:rPr lang="es-PE" spc="5" dirty="0">
                <a:latin typeface="Arial Narrow" panose="020B0606020202030204" pitchFamily="34" charset="0"/>
                <a:ea typeface="Times New Roman" panose="02020603050405020304" pitchFamily="18" charset="0"/>
                <a:cs typeface="Times New Roman" panose="02020603050405020304" pitchFamily="18" charset="0"/>
              </a:rPr>
              <a:t>pa</a:t>
            </a:r>
            <a:r>
              <a:rPr lang="es-PE" spc="-5" dirty="0">
                <a:latin typeface="Arial Narrow" panose="020B0606020202030204" pitchFamily="34" charset="0"/>
                <a:ea typeface="Times New Roman" panose="02020603050405020304" pitchFamily="18" charset="0"/>
                <a:cs typeface="Times New Roman" panose="02020603050405020304" pitchFamily="18" charset="0"/>
              </a:rPr>
              <a:t>ñ</a:t>
            </a:r>
            <a:r>
              <a:rPr lang="es-PE" dirty="0">
                <a:latin typeface="Arial Narrow" panose="020B0606020202030204" pitchFamily="34" charset="0"/>
                <a:ea typeface="Times New Roman" panose="02020603050405020304" pitchFamily="18" charset="0"/>
                <a:cs typeface="Times New Roman" panose="02020603050405020304" pitchFamily="18" charset="0"/>
              </a:rPr>
              <a:t>í</a:t>
            </a:r>
            <a:r>
              <a:rPr lang="es-PE" spc="2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o</a:t>
            </a:r>
            <a:r>
              <a:rPr lang="es-PE" spc="-5" dirty="0">
                <a:latin typeface="Arial Narrow" panose="020B0606020202030204" pitchFamily="34" charset="0"/>
                <a:ea typeface="Times New Roman" panose="02020603050405020304" pitchFamily="18" charset="0"/>
                <a:cs typeface="Times New Roman" panose="02020603050405020304" pitchFamily="18" charset="0"/>
              </a:rPr>
              <a:t>f</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4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pc="-5" dirty="0">
                <a:latin typeface="Arial Narrow" panose="020B0606020202030204" pitchFamily="34" charset="0"/>
                <a:ea typeface="Times New Roman" panose="02020603050405020304" pitchFamily="18" charset="0"/>
                <a:cs typeface="Times New Roman" panose="02020603050405020304" pitchFamily="18" charset="0"/>
              </a:rPr>
              <a:t>cc</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3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se</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15"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t</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5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si</a:t>
            </a:r>
            <a:r>
              <a:rPr lang="es-PE" spc="10" dirty="0">
                <a:latin typeface="Arial Narrow" panose="020B0606020202030204" pitchFamily="34" charset="0"/>
                <a:ea typeface="Times New Roman" panose="02020603050405020304" pitchFamily="18" charset="0"/>
                <a:cs typeface="Times New Roman" panose="02020603050405020304" pitchFamily="18" charset="0"/>
              </a:rPr>
              <a:t>g</a:t>
            </a: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te</a:t>
            </a:r>
            <a:r>
              <a:rPr lang="es-PE"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ta</a:t>
            </a:r>
            <a:r>
              <a:rPr lang="es-PE" dirty="0">
                <a:latin typeface="Arial Narrow" panose="020B0606020202030204" pitchFamily="34" charset="0"/>
                <a:ea typeface="Times New Roman" panose="02020603050405020304" pitchFamily="18" charset="0"/>
                <a:cs typeface="Times New Roman" panose="02020603050405020304" pitchFamily="18" charset="0"/>
              </a:rPr>
              <a:t>bl</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a:t>
            </a:r>
            <a:endParaRPr lang="es-PE" sz="2400" dirty="0">
              <a:effectLst/>
              <a:latin typeface="Arial Narrow" panose="020B0606020202030204" pitchFamily="34" charset="0"/>
              <a:ea typeface="Times New Roman" panose="02020603050405020304" pitchFamily="18" charset="0"/>
              <a:cs typeface="Times New Roman" panose="02020603050405020304" pitchFamily="18" charset="0"/>
            </a:endParaRPr>
          </a:p>
        </p:txBody>
      </p:sp>
      <p:graphicFrame>
        <p:nvGraphicFramePr>
          <p:cNvPr id="3" name="Tabla 2">
            <a:extLst>
              <a:ext uri="{FF2B5EF4-FFF2-40B4-BE49-F238E27FC236}">
                <a16:creationId xmlns:a16="http://schemas.microsoft.com/office/drawing/2014/main" id="{E3F94ECD-4D1D-45D8-AE29-E3088E10DEF8}"/>
              </a:ext>
            </a:extLst>
          </p:cNvPr>
          <p:cNvGraphicFramePr>
            <a:graphicFrameLocks noGrp="1"/>
          </p:cNvGraphicFramePr>
          <p:nvPr>
            <p:extLst>
              <p:ext uri="{D42A27DB-BD31-4B8C-83A1-F6EECF244321}">
                <p14:modId xmlns:p14="http://schemas.microsoft.com/office/powerpoint/2010/main" val="228017317"/>
              </p:ext>
            </p:extLst>
          </p:nvPr>
        </p:nvGraphicFramePr>
        <p:xfrm>
          <a:off x="86264" y="2702249"/>
          <a:ext cx="6019800" cy="831991"/>
        </p:xfrm>
        <a:graphic>
          <a:graphicData uri="http://schemas.openxmlformats.org/drawingml/2006/table">
            <a:tbl>
              <a:tblPr>
                <a:tableStyleId>{5C22544A-7EE6-4342-B048-85BDC9FD1C3A}</a:tableStyleId>
              </a:tblPr>
              <a:tblGrid>
                <a:gridCol w="1648299">
                  <a:extLst>
                    <a:ext uri="{9D8B030D-6E8A-4147-A177-3AD203B41FA5}">
                      <a16:colId xmlns:a16="http://schemas.microsoft.com/office/drawing/2014/main" val="1980796595"/>
                    </a:ext>
                  </a:extLst>
                </a:gridCol>
                <a:gridCol w="437150">
                  <a:extLst>
                    <a:ext uri="{9D8B030D-6E8A-4147-A177-3AD203B41FA5}">
                      <a16:colId xmlns:a16="http://schemas.microsoft.com/office/drawing/2014/main" val="477700837"/>
                    </a:ext>
                  </a:extLst>
                </a:gridCol>
                <a:gridCol w="436571">
                  <a:extLst>
                    <a:ext uri="{9D8B030D-6E8A-4147-A177-3AD203B41FA5}">
                      <a16:colId xmlns:a16="http://schemas.microsoft.com/office/drawing/2014/main" val="1758233329"/>
                    </a:ext>
                  </a:extLst>
                </a:gridCol>
                <a:gridCol w="437150">
                  <a:extLst>
                    <a:ext uri="{9D8B030D-6E8A-4147-A177-3AD203B41FA5}">
                      <a16:colId xmlns:a16="http://schemas.microsoft.com/office/drawing/2014/main" val="2482175304"/>
                    </a:ext>
                  </a:extLst>
                </a:gridCol>
                <a:gridCol w="433092">
                  <a:extLst>
                    <a:ext uri="{9D8B030D-6E8A-4147-A177-3AD203B41FA5}">
                      <a16:colId xmlns:a16="http://schemas.microsoft.com/office/drawing/2014/main" val="280479915"/>
                    </a:ext>
                  </a:extLst>
                </a:gridCol>
                <a:gridCol w="432511">
                  <a:extLst>
                    <a:ext uri="{9D8B030D-6E8A-4147-A177-3AD203B41FA5}">
                      <a16:colId xmlns:a16="http://schemas.microsoft.com/office/drawing/2014/main" val="1206058234"/>
                    </a:ext>
                  </a:extLst>
                </a:gridCol>
                <a:gridCol w="432511">
                  <a:extLst>
                    <a:ext uri="{9D8B030D-6E8A-4147-A177-3AD203B41FA5}">
                      <a16:colId xmlns:a16="http://schemas.microsoft.com/office/drawing/2014/main" val="1228566829"/>
                    </a:ext>
                  </a:extLst>
                </a:gridCol>
                <a:gridCol w="433092">
                  <a:extLst>
                    <a:ext uri="{9D8B030D-6E8A-4147-A177-3AD203B41FA5}">
                      <a16:colId xmlns:a16="http://schemas.microsoft.com/office/drawing/2014/main" val="3826520621"/>
                    </a:ext>
                  </a:extLst>
                </a:gridCol>
                <a:gridCol w="442948">
                  <a:extLst>
                    <a:ext uri="{9D8B030D-6E8A-4147-A177-3AD203B41FA5}">
                      <a16:colId xmlns:a16="http://schemas.microsoft.com/office/drawing/2014/main" val="3074334067"/>
                    </a:ext>
                  </a:extLst>
                </a:gridCol>
                <a:gridCol w="442369">
                  <a:extLst>
                    <a:ext uri="{9D8B030D-6E8A-4147-A177-3AD203B41FA5}">
                      <a16:colId xmlns:a16="http://schemas.microsoft.com/office/drawing/2014/main" val="732209437"/>
                    </a:ext>
                  </a:extLst>
                </a:gridCol>
                <a:gridCol w="444107">
                  <a:extLst>
                    <a:ext uri="{9D8B030D-6E8A-4147-A177-3AD203B41FA5}">
                      <a16:colId xmlns:a16="http://schemas.microsoft.com/office/drawing/2014/main" val="887640219"/>
                    </a:ext>
                  </a:extLst>
                </a:gridCol>
              </a:tblGrid>
              <a:tr h="159803">
                <a:tc>
                  <a:txBody>
                    <a:bodyPr/>
                    <a:lstStyle/>
                    <a:p>
                      <a:pPr marL="701675" marR="662305" indent="-339725" algn="ctr">
                        <a:lnSpc>
                          <a:spcPts val="1190"/>
                        </a:lnSpc>
                        <a:spcAft>
                          <a:spcPts val="0"/>
                        </a:spcAft>
                      </a:pPr>
                      <a:r>
                        <a:rPr lang="en-US" sz="1200" b="1" spc="-5" dirty="0" err="1">
                          <a:effectLst/>
                          <a:latin typeface="Arial Narrow" panose="020B0606020202030204" pitchFamily="34" charset="0"/>
                        </a:rPr>
                        <a:t>R</a:t>
                      </a:r>
                      <a:r>
                        <a:rPr lang="en-US" sz="1200" b="1" spc="10" dirty="0" err="1">
                          <a:effectLst/>
                          <a:latin typeface="Arial Narrow" panose="020B0606020202030204" pitchFamily="34" charset="0"/>
                        </a:rPr>
                        <a:t>u</a:t>
                      </a:r>
                      <a:r>
                        <a:rPr lang="en-US" sz="1200" b="1" spc="-5" dirty="0" err="1">
                          <a:effectLst/>
                          <a:latin typeface="Arial Narrow" panose="020B0606020202030204" pitchFamily="34" charset="0"/>
                        </a:rPr>
                        <a:t>b</a:t>
                      </a:r>
                      <a:r>
                        <a:rPr lang="en-US" sz="1200" b="1" dirty="0" err="1">
                          <a:effectLst/>
                          <a:latin typeface="Arial Narrow" panose="020B0606020202030204" pitchFamily="34" charset="0"/>
                        </a:rPr>
                        <a:t>ro</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gridSpan="3">
                  <a:txBody>
                    <a:bodyPr/>
                    <a:lstStyle/>
                    <a:p>
                      <a:pPr marL="300990">
                        <a:lnSpc>
                          <a:spcPts val="1200"/>
                        </a:lnSpc>
                        <a:spcAft>
                          <a:spcPts val="0"/>
                        </a:spcAft>
                      </a:pPr>
                      <a:r>
                        <a:rPr lang="en-US" sz="1200" b="1" spc="-5" dirty="0" err="1">
                          <a:effectLst/>
                          <a:latin typeface="Arial Narrow" panose="020B0606020202030204" pitchFamily="34" charset="0"/>
                        </a:rPr>
                        <a:t>C</a:t>
                      </a:r>
                      <a:r>
                        <a:rPr lang="en-US" sz="1200" b="1" dirty="0" err="1">
                          <a:effectLst/>
                          <a:latin typeface="Arial Narrow" panose="020B0606020202030204" pitchFamily="34" charset="0"/>
                        </a:rPr>
                        <a:t>o</a:t>
                      </a:r>
                      <a:r>
                        <a:rPr lang="en-US" sz="1200" b="1" spc="-5" dirty="0" err="1">
                          <a:effectLst/>
                          <a:latin typeface="Arial Narrow" panose="020B0606020202030204" pitchFamily="34" charset="0"/>
                        </a:rPr>
                        <a:t>n</a:t>
                      </a:r>
                      <a:r>
                        <a:rPr lang="en-US" sz="1200" b="1" spc="15" dirty="0" err="1">
                          <a:effectLst/>
                          <a:latin typeface="Arial Narrow" panose="020B0606020202030204" pitchFamily="34" charset="0"/>
                        </a:rPr>
                        <a:t>s</a:t>
                      </a:r>
                      <a:r>
                        <a:rPr lang="en-US" sz="1200" b="1" spc="-5" dirty="0" err="1">
                          <a:effectLst/>
                          <a:latin typeface="Arial Narrow" panose="020B0606020202030204" pitchFamily="34" charset="0"/>
                        </a:rPr>
                        <a:t>t</a:t>
                      </a:r>
                      <a:r>
                        <a:rPr lang="en-US" sz="1200" b="1" dirty="0" err="1">
                          <a:effectLst/>
                          <a:latin typeface="Arial Narrow" panose="020B0606020202030204" pitchFamily="34" charset="0"/>
                        </a:rPr>
                        <a:t>ruc</a:t>
                      </a:r>
                      <a:r>
                        <a:rPr lang="en-US" sz="1200" b="1" spc="5" dirty="0" err="1">
                          <a:effectLst/>
                          <a:latin typeface="Arial Narrow" panose="020B0606020202030204" pitchFamily="34" charset="0"/>
                        </a:rPr>
                        <a:t>c</a:t>
                      </a:r>
                      <a:r>
                        <a:rPr lang="en-US" sz="1200" b="1" spc="10" dirty="0" err="1">
                          <a:effectLst/>
                          <a:latin typeface="Arial Narrow" panose="020B0606020202030204" pitchFamily="34" charset="0"/>
                        </a:rPr>
                        <a:t>i</a:t>
                      </a:r>
                      <a:r>
                        <a:rPr lang="en-US" sz="1200" b="1" dirty="0" err="1">
                          <a:effectLst/>
                          <a:latin typeface="Arial Narrow" panose="020B0606020202030204" pitchFamily="34" charset="0"/>
                        </a:rPr>
                        <a:t>ón</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hMerge="1">
                  <a:txBody>
                    <a:bodyPr/>
                    <a:lstStyle/>
                    <a:p>
                      <a:endParaRPr lang="es-PE"/>
                    </a:p>
                  </a:txBody>
                  <a:tcPr/>
                </a:tc>
                <a:tc hMerge="1">
                  <a:txBody>
                    <a:bodyPr/>
                    <a:lstStyle/>
                    <a:p>
                      <a:endParaRPr lang="es-PE"/>
                    </a:p>
                  </a:txBody>
                  <a:tcPr/>
                </a:tc>
                <a:tc gridSpan="4">
                  <a:txBody>
                    <a:bodyPr/>
                    <a:lstStyle/>
                    <a:p>
                      <a:pPr marL="685800" marR="681990" indent="-150813" algn="ctr">
                        <a:lnSpc>
                          <a:spcPts val="1200"/>
                        </a:lnSpc>
                        <a:spcAft>
                          <a:spcPts val="0"/>
                        </a:spcAft>
                      </a:pPr>
                      <a:r>
                        <a:rPr lang="en-US" sz="1200" b="1" dirty="0" err="1">
                          <a:effectLst/>
                          <a:latin typeface="Arial Narrow" panose="020B0606020202030204" pitchFamily="34" charset="0"/>
                        </a:rPr>
                        <a:t>Mi</a:t>
                      </a:r>
                      <a:r>
                        <a:rPr lang="en-US" sz="1200" b="1" spc="-5" dirty="0" err="1">
                          <a:effectLst/>
                          <a:latin typeface="Arial Narrow" panose="020B0606020202030204" pitchFamily="34" charset="0"/>
                        </a:rPr>
                        <a:t>n</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ría</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gridSpan="3">
                  <a:txBody>
                    <a:bodyPr/>
                    <a:lstStyle/>
                    <a:p>
                      <a:pPr marL="368300">
                        <a:lnSpc>
                          <a:spcPts val="1200"/>
                        </a:lnSpc>
                        <a:spcAft>
                          <a:spcPts val="0"/>
                        </a:spcAft>
                      </a:pPr>
                      <a:r>
                        <a:rPr lang="en-US" sz="1200" b="1">
                          <a:effectLst/>
                          <a:latin typeface="Arial Narrow" panose="020B0606020202030204" pitchFamily="34" charset="0"/>
                        </a:rPr>
                        <a:t>Agricu</a:t>
                      </a:r>
                      <a:r>
                        <a:rPr lang="en-US" sz="1200" b="1" spc="10">
                          <a:effectLst/>
                          <a:latin typeface="Arial Narrow" panose="020B0606020202030204" pitchFamily="34" charset="0"/>
                        </a:rPr>
                        <a:t>l</a:t>
                      </a:r>
                      <a:r>
                        <a:rPr lang="en-US" sz="1200" b="1" spc="-5">
                          <a:effectLst/>
                          <a:latin typeface="Arial Narrow" panose="020B0606020202030204" pitchFamily="34" charset="0"/>
                        </a:rPr>
                        <a:t>t</a:t>
                      </a:r>
                      <a:r>
                        <a:rPr lang="en-US" sz="1200" b="1">
                          <a:effectLst/>
                          <a:latin typeface="Arial Narrow" panose="020B0606020202030204" pitchFamily="34" charset="0"/>
                        </a:rPr>
                        <a:t>ura</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487582494"/>
                  </a:ext>
                </a:extLst>
              </a:tr>
              <a:tr h="161071">
                <a:tc>
                  <a:txBody>
                    <a:bodyPr/>
                    <a:lstStyle/>
                    <a:p>
                      <a:pPr marL="246380">
                        <a:lnSpc>
                          <a:spcPts val="1200"/>
                        </a:lnSpc>
                        <a:spcAft>
                          <a:spcPts val="0"/>
                        </a:spcAft>
                      </a:pPr>
                      <a:r>
                        <a:rPr lang="en-US" sz="1200" b="1" spc="5" dirty="0" err="1">
                          <a:effectLst/>
                          <a:latin typeface="Arial Narrow" panose="020B0606020202030204" pitchFamily="34" charset="0"/>
                        </a:rPr>
                        <a:t>P</a:t>
                      </a:r>
                      <a:r>
                        <a:rPr lang="en-US" sz="1200" b="1" dirty="0" err="1">
                          <a:effectLst/>
                          <a:latin typeface="Arial Narrow" panose="020B0606020202030204" pitchFamily="34" charset="0"/>
                        </a:rPr>
                        <a:t>aq</a:t>
                      </a:r>
                      <a:r>
                        <a:rPr lang="en-US" sz="1200" b="1" spc="-5" dirty="0" err="1">
                          <a:effectLst/>
                          <a:latin typeface="Arial Narrow" panose="020B0606020202030204" pitchFamily="34" charset="0"/>
                        </a:rPr>
                        <a:t>u</a:t>
                      </a:r>
                      <a:r>
                        <a:rPr lang="en-US" sz="1200" b="1" spc="5" dirty="0" err="1">
                          <a:effectLst/>
                          <a:latin typeface="Arial Narrow" panose="020B0606020202030204" pitchFamily="34" charset="0"/>
                        </a:rPr>
                        <a:t>e</a:t>
                      </a:r>
                      <a:r>
                        <a:rPr lang="en-US" sz="1200" b="1" spc="-5" dirty="0" err="1">
                          <a:effectLst/>
                          <a:latin typeface="Arial Narrow" panose="020B0606020202030204" pitchFamily="34" charset="0"/>
                        </a:rPr>
                        <a:t>t</a:t>
                      </a:r>
                      <a:r>
                        <a:rPr lang="en-US" sz="1200" b="1" dirty="0" err="1">
                          <a:effectLst/>
                          <a:latin typeface="Arial Narrow" panose="020B0606020202030204" pitchFamily="34" charset="0"/>
                        </a:rPr>
                        <a:t>e</a:t>
                      </a:r>
                      <a:r>
                        <a:rPr lang="en-US" sz="1200" b="1" spc="-35" dirty="0">
                          <a:effectLst/>
                          <a:latin typeface="Arial Narrow" panose="020B0606020202030204" pitchFamily="34" charset="0"/>
                        </a:rPr>
                        <a:t> </a:t>
                      </a:r>
                      <a:r>
                        <a:rPr lang="en-US" sz="1200" b="1" dirty="0">
                          <a:effectLst/>
                          <a:latin typeface="Arial Narrow" panose="020B0606020202030204" pitchFamily="34" charset="0"/>
                        </a:rPr>
                        <a:t>de</a:t>
                      </a:r>
                      <a:r>
                        <a:rPr lang="en-US" sz="1200" b="1" spc="-10" dirty="0">
                          <a:effectLst/>
                          <a:latin typeface="Arial Narrow" panose="020B0606020202030204" pitchFamily="34" charset="0"/>
                        </a:rPr>
                        <a:t> </a:t>
                      </a:r>
                      <a:r>
                        <a:rPr lang="en-US" sz="1200" b="1" dirty="0" err="1">
                          <a:effectLst/>
                          <a:latin typeface="Arial Narrow" panose="020B0606020202030204" pitchFamily="34" charset="0"/>
                        </a:rPr>
                        <a:t>acci</a:t>
                      </a:r>
                      <a:r>
                        <a:rPr lang="en-US" sz="1200" b="1" spc="10" dirty="0" err="1">
                          <a:effectLst/>
                          <a:latin typeface="Arial Narrow" panose="020B0606020202030204" pitchFamily="34" charset="0"/>
                        </a:rPr>
                        <a:t>o</a:t>
                      </a:r>
                      <a:r>
                        <a:rPr lang="en-US" sz="1200" b="1" dirty="0" err="1">
                          <a:effectLst/>
                          <a:latin typeface="Arial Narrow" panose="020B0606020202030204" pitchFamily="34" charset="0"/>
                        </a:rPr>
                        <a:t>n</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s</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9545" marR="168275" algn="ctr">
                        <a:lnSpc>
                          <a:spcPts val="1200"/>
                        </a:lnSpc>
                        <a:spcAft>
                          <a:spcPts val="0"/>
                        </a:spcAft>
                      </a:pPr>
                      <a:r>
                        <a:rPr lang="en-US" sz="1200" b="1">
                          <a:effectLst/>
                          <a:latin typeface="Arial Narrow" panose="020B0606020202030204" pitchFamily="34" charset="0"/>
                        </a:rPr>
                        <a:t>A</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8275" marR="170180" algn="ctr">
                        <a:lnSpc>
                          <a:spcPts val="1200"/>
                        </a:lnSpc>
                        <a:spcAft>
                          <a:spcPts val="0"/>
                        </a:spcAft>
                      </a:pPr>
                      <a:r>
                        <a:rPr lang="en-US" sz="1200" b="1">
                          <a:effectLst/>
                          <a:latin typeface="Arial Narrow" panose="020B0606020202030204" pitchFamily="34" charset="0"/>
                        </a:rPr>
                        <a:t>B</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71450" marR="170180" algn="ctr">
                        <a:lnSpc>
                          <a:spcPts val="1200"/>
                        </a:lnSpc>
                        <a:spcAft>
                          <a:spcPts val="0"/>
                        </a:spcAft>
                      </a:pPr>
                      <a:r>
                        <a:rPr lang="en-US" sz="1200" b="1">
                          <a:effectLst/>
                          <a:latin typeface="Arial Narrow" panose="020B0606020202030204" pitchFamily="34" charset="0"/>
                        </a:rPr>
                        <a:t>C</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5100" marR="160655" algn="ctr">
                        <a:lnSpc>
                          <a:spcPts val="1200"/>
                        </a:lnSpc>
                        <a:spcAft>
                          <a:spcPts val="0"/>
                        </a:spcAft>
                      </a:pPr>
                      <a:r>
                        <a:rPr lang="en-US" sz="1200" b="1">
                          <a:effectLst/>
                          <a:latin typeface="Arial Narrow" panose="020B0606020202030204" pitchFamily="34" charset="0"/>
                        </a:rPr>
                        <a:t>D</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72720" marR="169545" algn="ctr">
                        <a:lnSpc>
                          <a:spcPts val="1200"/>
                        </a:lnSpc>
                        <a:spcAft>
                          <a:spcPts val="0"/>
                        </a:spcAft>
                      </a:pPr>
                      <a:r>
                        <a:rPr lang="en-US" sz="1200" b="1">
                          <a:effectLst/>
                          <a:latin typeface="Arial Narrow" panose="020B0606020202030204" pitchFamily="34" charset="0"/>
                        </a:rPr>
                        <a:t>E</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72720" marR="173990" algn="ctr">
                        <a:lnSpc>
                          <a:spcPts val="1200"/>
                        </a:lnSpc>
                        <a:spcAft>
                          <a:spcPts val="0"/>
                        </a:spcAft>
                      </a:pPr>
                      <a:r>
                        <a:rPr lang="en-US" sz="1200" b="1">
                          <a:effectLst/>
                          <a:latin typeface="Arial Narrow" panose="020B0606020202030204" pitchFamily="34" charset="0"/>
                        </a:rPr>
                        <a:t>F</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2560" marR="165100" algn="ctr">
                        <a:lnSpc>
                          <a:spcPts val="1200"/>
                        </a:lnSpc>
                        <a:spcAft>
                          <a:spcPts val="0"/>
                        </a:spcAft>
                      </a:pPr>
                      <a:r>
                        <a:rPr lang="en-US" sz="1200" b="1">
                          <a:effectLst/>
                          <a:latin typeface="Arial Narrow" panose="020B0606020202030204" pitchFamily="34" charset="0"/>
                        </a:rPr>
                        <a:t>G</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7640" marR="167640" algn="ctr">
                        <a:lnSpc>
                          <a:spcPts val="1200"/>
                        </a:lnSpc>
                        <a:spcAft>
                          <a:spcPts val="0"/>
                        </a:spcAft>
                      </a:pPr>
                      <a:r>
                        <a:rPr lang="en-US" sz="1200" b="1">
                          <a:effectLst/>
                          <a:latin typeface="Arial Narrow" panose="020B0606020202030204" pitchFamily="34" charset="0"/>
                        </a:rPr>
                        <a:t>H</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84785" marR="184785" algn="ctr">
                        <a:lnSpc>
                          <a:spcPts val="1200"/>
                        </a:lnSpc>
                        <a:spcAft>
                          <a:spcPts val="0"/>
                        </a:spcAft>
                      </a:pPr>
                      <a:r>
                        <a:rPr lang="en-US" sz="1200" b="1">
                          <a:effectLst/>
                          <a:latin typeface="Arial Narrow" panose="020B0606020202030204" pitchFamily="34" charset="0"/>
                        </a:rPr>
                        <a:t>I</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84785" marR="185420" algn="ctr">
                        <a:lnSpc>
                          <a:spcPts val="1200"/>
                        </a:lnSpc>
                        <a:spcAft>
                          <a:spcPts val="0"/>
                        </a:spcAft>
                      </a:pPr>
                      <a:r>
                        <a:rPr lang="en-US" sz="1200" b="1">
                          <a:effectLst/>
                          <a:latin typeface="Arial Narrow" panose="020B0606020202030204" pitchFamily="34" charset="0"/>
                        </a:rPr>
                        <a:t>J</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extLst>
                  <a:ext uri="{0D108BD9-81ED-4DB2-BD59-A6C34878D82A}">
                    <a16:rowId xmlns:a16="http://schemas.microsoft.com/office/drawing/2014/main" val="1692772326"/>
                  </a:ext>
                </a:extLst>
              </a:tr>
              <a:tr h="197852">
                <a:tc>
                  <a:txBody>
                    <a:bodyPr/>
                    <a:lstStyle/>
                    <a:p>
                      <a:pPr marL="40640">
                        <a:lnSpc>
                          <a:spcPct val="107000"/>
                        </a:lnSpc>
                        <a:spcBef>
                          <a:spcPts val="145"/>
                        </a:spcBef>
                        <a:spcAft>
                          <a:spcPts val="0"/>
                        </a:spcAft>
                      </a:pPr>
                      <a:r>
                        <a:rPr lang="en-US" sz="1200" b="1" dirty="0" err="1">
                          <a:effectLst/>
                          <a:latin typeface="Arial Narrow" panose="020B0606020202030204" pitchFamily="34" charset="0"/>
                        </a:rPr>
                        <a:t>I</a:t>
                      </a:r>
                      <a:r>
                        <a:rPr lang="en-US" sz="1200" b="1" spc="-5" dirty="0" err="1">
                          <a:effectLst/>
                          <a:latin typeface="Arial Narrow" panose="020B0606020202030204" pitchFamily="34" charset="0"/>
                        </a:rPr>
                        <a:t>nv</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rsi</a:t>
                      </a:r>
                      <a:r>
                        <a:rPr lang="en-US" sz="1200" b="1" spc="10" dirty="0" err="1">
                          <a:effectLst/>
                          <a:latin typeface="Arial Narrow" panose="020B0606020202030204" pitchFamily="34" charset="0"/>
                        </a:rPr>
                        <a:t>ó</a:t>
                      </a:r>
                      <a:r>
                        <a:rPr lang="en-US" sz="1200" b="1" dirty="0" err="1">
                          <a:effectLst/>
                          <a:latin typeface="Arial Narrow" panose="020B0606020202030204" pitchFamily="34" charset="0"/>
                        </a:rPr>
                        <a:t>n</a:t>
                      </a:r>
                      <a:r>
                        <a:rPr lang="en-US" sz="1200" b="1" spc="-45" dirty="0">
                          <a:effectLst/>
                          <a:latin typeface="Arial Narrow" panose="020B0606020202030204" pitchFamily="34" charset="0"/>
                        </a:rPr>
                        <a:t> </a:t>
                      </a:r>
                      <a:r>
                        <a:rPr lang="en-US" sz="1200" b="1" dirty="0">
                          <a:effectLst/>
                          <a:latin typeface="Arial Narrow" panose="020B0606020202030204" pitchFamily="34" charset="0"/>
                        </a:rPr>
                        <a:t>por</a:t>
                      </a:r>
                      <a:r>
                        <a:rPr lang="en-US" sz="1200" b="1" spc="-15" dirty="0">
                          <a:effectLst/>
                          <a:latin typeface="Arial Narrow" panose="020B0606020202030204" pitchFamily="34" charset="0"/>
                        </a:rPr>
                        <a:t> </a:t>
                      </a:r>
                      <a:r>
                        <a:rPr lang="en-US" sz="1200" b="1" spc="5" dirty="0" err="1">
                          <a:effectLst/>
                          <a:latin typeface="Arial Narrow" panose="020B0606020202030204" pitchFamily="34" charset="0"/>
                        </a:rPr>
                        <a:t>pa</a:t>
                      </a:r>
                      <a:r>
                        <a:rPr lang="en-US" sz="1200" b="1" spc="10" dirty="0" err="1">
                          <a:effectLst/>
                          <a:latin typeface="Arial Narrow" panose="020B0606020202030204" pitchFamily="34" charset="0"/>
                        </a:rPr>
                        <a:t>q</a:t>
                      </a:r>
                      <a:r>
                        <a:rPr lang="en-US" sz="1200" b="1" spc="-5" dirty="0" err="1">
                          <a:effectLst/>
                          <a:latin typeface="Arial Narrow" panose="020B0606020202030204" pitchFamily="34" charset="0"/>
                        </a:rPr>
                        <a:t>u</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te</a:t>
                      </a:r>
                      <a:r>
                        <a:rPr lang="en-US" sz="1200" b="1" spc="-20" dirty="0">
                          <a:effectLst/>
                          <a:latin typeface="Arial Narrow" panose="020B0606020202030204" pitchFamily="34" charset="0"/>
                        </a:rPr>
                        <a:t> </a:t>
                      </a:r>
                      <a:r>
                        <a:rPr lang="en-US" sz="1200" b="1" dirty="0">
                          <a:effectLst/>
                          <a:latin typeface="Arial Narrow" panose="020B0606020202030204" pitchFamily="34" charset="0"/>
                        </a:rPr>
                        <a:t>($)</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5250">
                        <a:lnSpc>
                          <a:spcPct val="107000"/>
                        </a:lnSpc>
                        <a:spcBef>
                          <a:spcPts val="145"/>
                        </a:spcBef>
                        <a:spcAft>
                          <a:spcPts val="0"/>
                        </a:spcAft>
                      </a:pPr>
                      <a:r>
                        <a:rPr lang="en-US" sz="1200" b="1" spc="-5" dirty="0">
                          <a:effectLst/>
                          <a:latin typeface="Arial Narrow" panose="020B0606020202030204" pitchFamily="34" charset="0"/>
                        </a:rPr>
                        <a:t>35</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5885">
                        <a:lnSpc>
                          <a:spcPct val="107000"/>
                        </a:lnSpc>
                        <a:spcBef>
                          <a:spcPts val="145"/>
                        </a:spcBef>
                        <a:spcAft>
                          <a:spcPts val="0"/>
                        </a:spcAft>
                      </a:pPr>
                      <a:r>
                        <a:rPr lang="en-US" sz="1200" b="1" spc="-5" dirty="0">
                          <a:effectLst/>
                          <a:latin typeface="Arial Narrow" panose="020B0606020202030204" pitchFamily="34" charset="0"/>
                        </a:rPr>
                        <a:t>29</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7790">
                        <a:lnSpc>
                          <a:spcPct val="107000"/>
                        </a:lnSpc>
                        <a:spcBef>
                          <a:spcPts val="145"/>
                        </a:spcBef>
                        <a:spcAft>
                          <a:spcPts val="0"/>
                        </a:spcAft>
                      </a:pPr>
                      <a:r>
                        <a:rPr lang="en-US" sz="1200" b="1" spc="-5" dirty="0">
                          <a:effectLst/>
                          <a:latin typeface="Arial Narrow" panose="020B0606020202030204" pitchFamily="34" charset="0"/>
                        </a:rPr>
                        <a:t>40</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5885">
                        <a:lnSpc>
                          <a:spcPct val="107000"/>
                        </a:lnSpc>
                        <a:spcBef>
                          <a:spcPts val="145"/>
                        </a:spcBef>
                        <a:spcAft>
                          <a:spcPts val="0"/>
                        </a:spcAft>
                      </a:pPr>
                      <a:r>
                        <a:rPr lang="en-US" sz="1200" b="1" spc="-5" dirty="0">
                          <a:effectLst/>
                          <a:latin typeface="Arial Narrow" panose="020B0606020202030204" pitchFamily="34" charset="0"/>
                        </a:rPr>
                        <a:t>38</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4615">
                        <a:lnSpc>
                          <a:spcPct val="107000"/>
                        </a:lnSpc>
                        <a:spcBef>
                          <a:spcPts val="145"/>
                        </a:spcBef>
                        <a:spcAft>
                          <a:spcPts val="0"/>
                        </a:spcAft>
                      </a:pPr>
                      <a:r>
                        <a:rPr lang="en-US" sz="1200" b="1" spc="-5" dirty="0">
                          <a:effectLst/>
                          <a:latin typeface="Arial Narrow" panose="020B0606020202030204" pitchFamily="34" charset="0"/>
                        </a:rPr>
                        <a:t>42</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2710">
                        <a:lnSpc>
                          <a:spcPct val="107000"/>
                        </a:lnSpc>
                        <a:spcBef>
                          <a:spcPts val="145"/>
                        </a:spcBef>
                        <a:spcAft>
                          <a:spcPts val="0"/>
                        </a:spcAft>
                      </a:pPr>
                      <a:r>
                        <a:rPr lang="en-US" sz="1200" b="1" spc="-5" dirty="0">
                          <a:effectLst/>
                          <a:latin typeface="Arial Narrow" panose="020B0606020202030204" pitchFamily="34" charset="0"/>
                        </a:rPr>
                        <a:t>36</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2710">
                        <a:lnSpc>
                          <a:spcPct val="107000"/>
                        </a:lnSpc>
                        <a:spcBef>
                          <a:spcPts val="145"/>
                        </a:spcBef>
                        <a:spcAft>
                          <a:spcPts val="0"/>
                        </a:spcAft>
                      </a:pPr>
                      <a:r>
                        <a:rPr lang="en-US" sz="1200" b="1" spc="-5" dirty="0">
                          <a:effectLst/>
                          <a:latin typeface="Arial Narrow" panose="020B0606020202030204" pitchFamily="34" charset="0"/>
                        </a:rPr>
                        <a:t>32</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9695">
                        <a:lnSpc>
                          <a:spcPct val="107000"/>
                        </a:lnSpc>
                        <a:spcBef>
                          <a:spcPts val="145"/>
                        </a:spcBef>
                        <a:spcAft>
                          <a:spcPts val="0"/>
                        </a:spcAft>
                      </a:pPr>
                      <a:r>
                        <a:rPr lang="en-US" sz="1200" b="1" spc="-5" dirty="0">
                          <a:effectLst/>
                          <a:latin typeface="Arial Narrow" panose="020B0606020202030204" pitchFamily="34" charset="0"/>
                        </a:rPr>
                        <a:t>30</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9060">
                        <a:lnSpc>
                          <a:spcPct val="107000"/>
                        </a:lnSpc>
                        <a:spcBef>
                          <a:spcPts val="145"/>
                        </a:spcBef>
                        <a:spcAft>
                          <a:spcPts val="0"/>
                        </a:spcAft>
                      </a:pPr>
                      <a:r>
                        <a:rPr lang="en-US" sz="1200" b="1" spc="-5" dirty="0">
                          <a:effectLst/>
                          <a:latin typeface="Arial Narrow" panose="020B0606020202030204" pitchFamily="34" charset="0"/>
                        </a:rPr>
                        <a:t>37</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00330">
                        <a:lnSpc>
                          <a:spcPct val="107000"/>
                        </a:lnSpc>
                        <a:spcBef>
                          <a:spcPts val="145"/>
                        </a:spcBef>
                        <a:spcAft>
                          <a:spcPts val="0"/>
                        </a:spcAft>
                      </a:pPr>
                      <a:r>
                        <a:rPr lang="en-US" sz="1200" b="1" spc="-5">
                          <a:effectLst/>
                          <a:latin typeface="Arial Narrow" panose="020B0606020202030204" pitchFamily="34" charset="0"/>
                        </a:rPr>
                        <a:t>33</a:t>
                      </a:r>
                      <a:r>
                        <a:rPr lang="en-US" sz="1200" b="1" spc="5">
                          <a:effectLst/>
                          <a:latin typeface="Arial Narrow" panose="020B0606020202030204" pitchFamily="34" charset="0"/>
                        </a:rPr>
                        <a:t>0</a:t>
                      </a:r>
                      <a:r>
                        <a:rPr lang="en-US" sz="1200" b="1">
                          <a:effectLst/>
                          <a:latin typeface="Arial Narrow" panose="020B0606020202030204" pitchFamily="34" charset="0"/>
                        </a:rPr>
                        <a:t>0</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extLst>
                  <a:ext uri="{0D108BD9-81ED-4DB2-BD59-A6C34878D82A}">
                    <a16:rowId xmlns:a16="http://schemas.microsoft.com/office/drawing/2014/main" val="3103788821"/>
                  </a:ext>
                </a:extLst>
              </a:tr>
              <a:tr h="313265">
                <a:tc>
                  <a:txBody>
                    <a:bodyPr/>
                    <a:lstStyle/>
                    <a:p>
                      <a:pPr marL="40640" marR="71755">
                        <a:lnSpc>
                          <a:spcPts val="1210"/>
                        </a:lnSpc>
                        <a:spcBef>
                          <a:spcPts val="20"/>
                        </a:spcBef>
                        <a:spcAft>
                          <a:spcPts val="0"/>
                        </a:spcAft>
                      </a:pPr>
                      <a:r>
                        <a:rPr lang="es-PE" sz="1200" b="1" spc="5" dirty="0">
                          <a:effectLst/>
                          <a:latin typeface="Arial Narrow" panose="020B0606020202030204" pitchFamily="34" charset="0"/>
                        </a:rPr>
                        <a:t>Re</a:t>
                      </a:r>
                      <a:r>
                        <a:rPr lang="es-PE" sz="1200" b="1" spc="-5" dirty="0">
                          <a:effectLst/>
                          <a:latin typeface="Arial Narrow" panose="020B0606020202030204" pitchFamily="34" charset="0"/>
                        </a:rPr>
                        <a:t>n</a:t>
                      </a:r>
                      <a:r>
                        <a:rPr lang="es-PE" sz="1200" b="1" dirty="0">
                          <a:effectLst/>
                          <a:latin typeface="Arial Narrow" panose="020B0606020202030204" pitchFamily="34" charset="0"/>
                        </a:rPr>
                        <a:t>t</a:t>
                      </a:r>
                      <a:r>
                        <a:rPr lang="es-PE" sz="1200" b="1" spc="5" dirty="0">
                          <a:effectLst/>
                          <a:latin typeface="Arial Narrow" panose="020B0606020202030204" pitchFamily="34" charset="0"/>
                        </a:rPr>
                        <a:t>a</a:t>
                      </a:r>
                      <a:r>
                        <a:rPr lang="es-PE" sz="1200" b="1" dirty="0">
                          <a:effectLst/>
                          <a:latin typeface="Arial Narrow" panose="020B0606020202030204" pitchFamily="34" charset="0"/>
                        </a:rPr>
                        <a:t>bilid</a:t>
                      </a:r>
                      <a:r>
                        <a:rPr lang="es-PE" sz="1200" b="1" spc="10" dirty="0">
                          <a:effectLst/>
                          <a:latin typeface="Arial Narrow" panose="020B0606020202030204" pitchFamily="34" charset="0"/>
                        </a:rPr>
                        <a:t>a</a:t>
                      </a:r>
                      <a:r>
                        <a:rPr lang="es-PE" sz="1200" b="1" dirty="0">
                          <a:effectLst/>
                          <a:latin typeface="Arial Narrow" panose="020B0606020202030204" pitchFamily="34" charset="0"/>
                        </a:rPr>
                        <a:t>d</a:t>
                      </a:r>
                      <a:r>
                        <a:rPr lang="es-PE" sz="1200" b="1" spc="-55" dirty="0">
                          <a:effectLst/>
                          <a:latin typeface="Arial Narrow" panose="020B0606020202030204" pitchFamily="34" charset="0"/>
                        </a:rPr>
                        <a:t> </a:t>
                      </a:r>
                      <a:r>
                        <a:rPr lang="es-PE" sz="1200" b="1" spc="5" dirty="0">
                          <a:effectLst/>
                          <a:latin typeface="Arial Narrow" panose="020B0606020202030204" pitchFamily="34" charset="0"/>
                        </a:rPr>
                        <a:t>(</a:t>
                      </a:r>
                      <a:r>
                        <a:rPr lang="es-PE" sz="1200" b="1" dirty="0">
                          <a:effectLst/>
                          <a:latin typeface="Arial Narrow" panose="020B0606020202030204" pitchFamily="34" charset="0"/>
                        </a:rPr>
                        <a:t>%</a:t>
                      </a:r>
                      <a:r>
                        <a:rPr lang="es-PE" sz="1200" b="1" spc="-5" dirty="0">
                          <a:effectLst/>
                          <a:latin typeface="Arial Narrow" panose="020B0606020202030204" pitchFamily="34" charset="0"/>
                        </a:rPr>
                        <a:t> </a:t>
                      </a:r>
                      <a:r>
                        <a:rPr lang="es-PE" sz="1200" b="1" dirty="0">
                          <a:effectLst/>
                          <a:latin typeface="Arial Narrow" panose="020B0606020202030204" pitchFamily="34" charset="0"/>
                        </a:rPr>
                        <a:t>r</a:t>
                      </a:r>
                      <a:r>
                        <a:rPr lang="es-PE" sz="1200" b="1" spc="5" dirty="0">
                          <a:effectLst/>
                          <a:latin typeface="Arial Narrow" panose="020B0606020202030204" pitchFamily="34" charset="0"/>
                        </a:rPr>
                        <a:t>e</a:t>
                      </a:r>
                      <a:r>
                        <a:rPr lang="es-PE" sz="1200" b="1" dirty="0">
                          <a:effectLst/>
                          <a:latin typeface="Arial Narrow" panose="020B0606020202030204" pitchFamily="34" charset="0"/>
                        </a:rPr>
                        <a:t>sp</a:t>
                      </a:r>
                      <a:r>
                        <a:rPr lang="es-PE" sz="1200" b="1" spc="5" dirty="0">
                          <a:effectLst/>
                          <a:latin typeface="Arial Narrow" panose="020B0606020202030204" pitchFamily="34" charset="0"/>
                        </a:rPr>
                        <a:t>e</a:t>
                      </a:r>
                      <a:r>
                        <a:rPr lang="es-PE" sz="1200" b="1" spc="-5" dirty="0">
                          <a:effectLst/>
                          <a:latin typeface="Arial Narrow" panose="020B0606020202030204" pitchFamily="34" charset="0"/>
                        </a:rPr>
                        <a:t>c</a:t>
                      </a:r>
                      <a:r>
                        <a:rPr lang="es-PE" sz="1200" b="1" dirty="0">
                          <a:effectLst/>
                          <a:latin typeface="Arial Narrow" panose="020B0606020202030204" pitchFamily="34" charset="0"/>
                        </a:rPr>
                        <a:t>to</a:t>
                      </a:r>
                      <a:r>
                        <a:rPr lang="es-PE" sz="1200" b="1" spc="-35" dirty="0">
                          <a:effectLst/>
                          <a:latin typeface="Arial Narrow" panose="020B0606020202030204" pitchFamily="34" charset="0"/>
                        </a:rPr>
                        <a:t> </a:t>
                      </a:r>
                      <a:r>
                        <a:rPr lang="es-PE" sz="1200" b="1" dirty="0">
                          <a:effectLst/>
                          <a:latin typeface="Arial Narrow" panose="020B0606020202030204" pitchFamily="34" charset="0"/>
                        </a:rPr>
                        <a:t>a</a:t>
                      </a:r>
                      <a:r>
                        <a:rPr lang="es-PE" sz="1200" b="1" spc="10" dirty="0">
                          <a:effectLst/>
                          <a:latin typeface="Arial Narrow" panose="020B0606020202030204" pitchFamily="34" charset="0"/>
                        </a:rPr>
                        <a:t> </a:t>
                      </a:r>
                      <a:r>
                        <a:rPr lang="es-PE" sz="1200" b="1" dirty="0">
                          <a:effectLst/>
                          <a:latin typeface="Arial Narrow" panose="020B0606020202030204" pitchFamily="34" charset="0"/>
                        </a:rPr>
                        <a:t>la i</a:t>
                      </a:r>
                      <a:r>
                        <a:rPr lang="es-PE" sz="1200" b="1" spc="-5" dirty="0">
                          <a:effectLst/>
                          <a:latin typeface="Arial Narrow" panose="020B0606020202030204" pitchFamily="34" charset="0"/>
                        </a:rPr>
                        <a:t>nv</a:t>
                      </a:r>
                      <a:r>
                        <a:rPr lang="es-PE" sz="1200" b="1" spc="5" dirty="0">
                          <a:effectLst/>
                          <a:latin typeface="Arial Narrow" panose="020B0606020202030204" pitchFamily="34" charset="0"/>
                        </a:rPr>
                        <a:t>e</a:t>
                      </a:r>
                      <a:r>
                        <a:rPr lang="es-PE" sz="1200" b="1" dirty="0">
                          <a:effectLst/>
                          <a:latin typeface="Arial Narrow" panose="020B0606020202030204" pitchFamily="34" charset="0"/>
                        </a:rPr>
                        <a:t>rsi</a:t>
                      </a:r>
                      <a:r>
                        <a:rPr lang="es-PE" sz="1200" b="1" spc="10" dirty="0">
                          <a:effectLst/>
                          <a:latin typeface="Arial Narrow" panose="020B0606020202030204" pitchFamily="34" charset="0"/>
                        </a:rPr>
                        <a:t>ó</a:t>
                      </a:r>
                      <a:r>
                        <a:rPr lang="es-PE" sz="1200" b="1" dirty="0">
                          <a:effectLst/>
                          <a:latin typeface="Arial Narrow" panose="020B0606020202030204" pitchFamily="34" charset="0"/>
                        </a:rPr>
                        <a:t>n)</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s-PE" sz="1200" b="1" dirty="0">
                          <a:effectLst/>
                          <a:latin typeface="Arial Narrow" panose="020B0606020202030204" pitchFamily="34" charset="0"/>
                        </a:rPr>
                        <a:t> </a:t>
                      </a:r>
                    </a:p>
                    <a:p>
                      <a:pPr marL="14605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.2</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11125">
                        <a:lnSpc>
                          <a:spcPct val="107000"/>
                        </a:lnSpc>
                        <a:spcAft>
                          <a:spcPts val="0"/>
                        </a:spcAft>
                      </a:pPr>
                      <a:r>
                        <a:rPr lang="en-US" sz="1200" b="1" spc="-5" dirty="0">
                          <a:effectLst/>
                          <a:latin typeface="Arial Narrow" panose="020B0606020202030204" pitchFamily="34" charset="0"/>
                        </a:rPr>
                        <a:t>10</a:t>
                      </a:r>
                      <a:r>
                        <a:rPr lang="en-US" sz="1200" b="1" spc="10" dirty="0">
                          <a:effectLst/>
                          <a:latin typeface="Arial Narrow" panose="020B0606020202030204" pitchFamily="34" charset="0"/>
                        </a:rPr>
                        <a:t>.</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7955">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.4</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6050">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.6</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4780">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.2</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351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.2</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351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.6</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50495">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.9</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9225">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.9</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5113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.4</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extLst>
                  <a:ext uri="{0D108BD9-81ED-4DB2-BD59-A6C34878D82A}">
                    <a16:rowId xmlns:a16="http://schemas.microsoft.com/office/drawing/2014/main" val="3145165247"/>
                  </a:ext>
                </a:extLst>
              </a:tr>
            </a:tbl>
          </a:graphicData>
        </a:graphic>
      </p:graphicFrame>
      <p:sp>
        <p:nvSpPr>
          <p:cNvPr id="4" name="Rectángulo 3">
            <a:extLst>
              <a:ext uri="{FF2B5EF4-FFF2-40B4-BE49-F238E27FC236}">
                <a16:creationId xmlns:a16="http://schemas.microsoft.com/office/drawing/2014/main" id="{B4B356A0-1305-4C3B-B954-C185DDFE720F}"/>
              </a:ext>
            </a:extLst>
          </p:cNvPr>
          <p:cNvSpPr/>
          <p:nvPr/>
        </p:nvSpPr>
        <p:spPr>
          <a:xfrm>
            <a:off x="77638" y="3536846"/>
            <a:ext cx="6018361" cy="3046988"/>
          </a:xfrm>
          <a:prstGeom prst="rect">
            <a:avLst/>
          </a:prstGeom>
          <a:solidFill>
            <a:schemeClr val="accent4">
              <a:lumMod val="40000"/>
              <a:lumOff val="60000"/>
            </a:schemeClr>
          </a:solidFill>
        </p:spPr>
        <p:txBody>
          <a:bodyPr wrap="square">
            <a:spAutoFit/>
          </a:bodyPr>
          <a:lstStyle/>
          <a:p>
            <a:pPr marR="74295" algn="just">
              <a:spcBef>
                <a:spcPts val="125"/>
              </a:spcBef>
              <a:spcAft>
                <a:spcPts val="0"/>
              </a:spcAft>
            </a:pP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Es</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nar</a:t>
            </a:r>
            <a:r>
              <a:rPr lang="es-PE" sz="1600" b="1" u="heavy" spc="15"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o 1: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inversionista</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sol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dquirir</a:t>
            </a:r>
            <a:r>
              <a:rPr lang="es-PE" sz="1600"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tipo</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6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ó</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a:t>
            </a:r>
            <a:r>
              <a:rPr lang="es-PE" sz="1600" spc="5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y</a:t>
            </a:r>
            <a:r>
              <a:rPr lang="es-PE" sz="1600" spc="6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dirty="0">
                <a:latin typeface="Arial Narrow" panose="020B0606020202030204" pitchFamily="34" charset="0"/>
                <a:ea typeface="Times New Roman" panose="02020603050405020304" pitchFamily="18" charset="0"/>
                <a:cs typeface="Times New Roman" panose="02020603050405020304" pitchFamily="18" charset="0"/>
              </a:rPr>
              <a:t>or</a:t>
            </a:r>
            <a:r>
              <a:rPr lang="es-PE" sz="1600" spc="5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om</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ó</a:t>
            </a:r>
            <a:r>
              <a:rPr lang="es-PE" sz="1600" dirty="0">
                <a:latin typeface="Arial Narrow" panose="020B0606020202030204" pitchFamily="34" charset="0"/>
                <a:ea typeface="Times New Roman" panose="02020603050405020304" pitchFamily="18" charset="0"/>
                <a:cs typeface="Times New Roman" panose="02020603050405020304" pitchFamily="18" charset="0"/>
              </a:rPr>
              <a:t>n de</a:t>
            </a:r>
            <a:r>
              <a:rPr lang="es-PE" sz="1600" spc="7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xp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f</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z</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a lo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á</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be</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irir</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2</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ot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por</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rub</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p>
          <a:p>
            <a:pPr algn="just">
              <a:spcAft>
                <a:spcPts val="0"/>
              </a:spcAft>
            </a:pP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 F</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le</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mod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lo</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gr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ión</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bina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a:t>
            </a:r>
            <a:r>
              <a:rPr lang="es-PE" sz="1600"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dirty="0">
                <a:latin typeface="Arial Narrow" panose="020B0606020202030204" pitchFamily="34" charset="0"/>
                <a:ea typeface="Times New Roman" panose="02020603050405020304" pitchFamily="18" charset="0"/>
                <a:cs typeface="Times New Roman" panose="02020603050405020304" pitchFamily="18" charset="0"/>
              </a:rPr>
              <a:t>ita</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qué</a:t>
            </a:r>
            <a:r>
              <a:rPr lang="es-PE" sz="1600" spc="8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b</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dquirir</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ob</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má</a:t>
            </a:r>
            <a:r>
              <a:rPr lang="es-PE" sz="1600" dirty="0">
                <a:latin typeface="Arial Narrow" panose="020B0606020202030204" pitchFamily="34" charset="0"/>
                <a:ea typeface="Times New Roman" panose="02020603050405020304" pitchFamily="18" charset="0"/>
                <a:cs typeface="Times New Roman" panose="02020603050405020304" pitchFamily="18" charset="0"/>
              </a:rPr>
              <a:t>xima</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utilid</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dirty="0">
                <a:latin typeface="Arial Narrow" panose="020B0606020202030204" pitchFamily="34" charset="0"/>
                <a:ea typeface="Times New Roman" panose="02020603050405020304" pitchFamily="18" charset="0"/>
                <a:cs typeface="Times New Roman" panose="02020603050405020304" pitchFamily="18" charset="0"/>
              </a:rPr>
              <a:t>.</a:t>
            </a:r>
          </a:p>
          <a:p>
            <a:pPr algn="just">
              <a:spcAft>
                <a:spcPts val="0"/>
              </a:spcAft>
            </a:pPr>
            <a:r>
              <a:rPr lang="es-PE" sz="1600" spc="5" dirty="0">
                <a:latin typeface="Arial Narrow" panose="020B0606020202030204" pitchFamily="34" charset="0"/>
                <a:ea typeface="Times New Roman" panose="02020603050405020304" pitchFamily="18" charset="0"/>
                <a:cs typeface="Times New Roman" panose="02020603050405020304" pitchFamily="18" charset="0"/>
              </a:rPr>
              <a:t>b)E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bore</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por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is</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v</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6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los</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lt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dos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b</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idos .</a:t>
            </a:r>
          </a:p>
          <a:p>
            <a:pPr algn="just">
              <a:spcAft>
                <a:spcPts val="0"/>
              </a:spcAft>
            </a:pP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Es</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nar</a:t>
            </a:r>
            <a:r>
              <a:rPr lang="es-PE" sz="1600" b="1" u="heavy" spc="15"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o 2</a:t>
            </a:r>
            <a:r>
              <a:rPr lang="es-PE" sz="1600" b="1" dirty="0">
                <a:latin typeface="Arial Narrow" panose="020B0606020202030204" pitchFamily="34" charset="0"/>
                <a:ea typeface="Times New Roman" panose="02020603050405020304" pitchFamily="18" charset="0"/>
                <a:cs typeface="Times New Roman" panose="02020603050405020304" pitchFamily="18" charset="0"/>
              </a:rPr>
              <a:t>:</a:t>
            </a:r>
            <a:r>
              <a:rPr lang="es-PE" sz="1600" b="1"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Y</a:t>
            </a:r>
            <a:r>
              <a:rPr lang="es-PE" sz="1600"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stri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sobre</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nú</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tot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dquiridos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dirty="0">
                <a:latin typeface="Arial Narrow" panose="020B0606020202030204" pitchFamily="34" charset="0"/>
                <a:ea typeface="Times New Roman" panose="02020603050405020304" pitchFamily="18" charset="0"/>
                <a:cs typeface="Times New Roman" panose="02020603050405020304" pitchFamily="18" charset="0"/>
              </a:rPr>
              <a:t>or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br</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g</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h</a:t>
            </a:r>
            <a:r>
              <a:rPr lang="es-PE" sz="1600" dirty="0">
                <a:latin typeface="Arial Narrow" panose="020B0606020202030204" pitchFamily="34" charset="0"/>
                <a:ea typeface="Times New Roman" panose="02020603050405020304" pitchFamily="18" charset="0"/>
                <a:cs typeface="Times New Roman" panose="02020603050405020304" pitchFamily="18" charset="0"/>
              </a:rPr>
              <a:t>ora su</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isi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ó</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ser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á</a:t>
            </a:r>
            <a:r>
              <a:rPr lang="es-PE" sz="1600" dirty="0">
                <a:latin typeface="Arial Narrow" panose="020B0606020202030204" pitchFamily="34" charset="0"/>
                <a:ea typeface="Times New Roman" panose="02020603050405020304" pitchFamily="18" charset="0"/>
                <a:cs typeface="Times New Roman" panose="02020603050405020304" pitchFamily="18" charset="0"/>
              </a:rPr>
              <a:t>s puede 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nv</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ir</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2</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rub</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os</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dist</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p>
          <a:p>
            <a:pPr algn="just">
              <a:spcAft>
                <a:spcPts val="0"/>
              </a:spcAft>
            </a:pP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 F</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le</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mod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lo</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gr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ión</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bina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 con</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f</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sol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v</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io.</a:t>
            </a:r>
          </a:p>
          <a:p>
            <a:pPr algn="just"/>
            <a:r>
              <a:rPr lang="es-PE" sz="1600" dirty="0">
                <a:latin typeface="Arial Narrow" panose="020B0606020202030204" pitchFamily="34" charset="0"/>
                <a:ea typeface="Times New Roman" panose="02020603050405020304" pitchFamily="18" charset="0"/>
              </a:rPr>
              <a:t>d)   </a:t>
            </a:r>
            <a:r>
              <a:rPr lang="es-PE" sz="1600" spc="75"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E</a:t>
            </a:r>
            <a:r>
              <a:rPr lang="es-PE" sz="1600" dirty="0">
                <a:latin typeface="Arial Narrow" panose="020B0606020202030204" pitchFamily="34" charset="0"/>
                <a:ea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bore</a:t>
            </a:r>
            <a:r>
              <a:rPr lang="es-PE" sz="1600" spc="-30"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u</a:t>
            </a:r>
            <a:r>
              <a:rPr lang="es-PE" sz="1600" dirty="0">
                <a:latin typeface="Arial Narrow" panose="020B0606020202030204" pitchFamily="34" charset="0"/>
                <a:ea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rPr>
              <a:t>e</a:t>
            </a:r>
            <a:r>
              <a:rPr lang="es-PE" sz="1600" dirty="0">
                <a:latin typeface="Arial Narrow" panose="020B0606020202030204" pitchFamily="34" charset="0"/>
                <a:ea typeface="Times New Roman" panose="02020603050405020304" pitchFamily="18" charset="0"/>
              </a:rPr>
              <a:t>por</a:t>
            </a:r>
            <a:r>
              <a:rPr lang="es-PE" sz="1600" spc="5" dirty="0">
                <a:latin typeface="Arial Narrow" panose="020B0606020202030204" pitchFamily="34" charset="0"/>
                <a:ea typeface="Times New Roman" panose="02020603050405020304" pitchFamily="18" charset="0"/>
              </a:rPr>
              <a:t>t</a:t>
            </a:r>
            <a:r>
              <a:rPr lang="es-PE" sz="1600" dirty="0">
                <a:latin typeface="Arial Narrow" panose="020B0606020202030204" pitchFamily="34" charset="0"/>
                <a:ea typeface="Times New Roman" panose="02020603050405020304" pitchFamily="18" charset="0"/>
              </a:rPr>
              <a:t>e</a:t>
            </a:r>
            <a:r>
              <a:rPr lang="es-PE" sz="1600" spc="-30"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rPr>
              <a:t>m</a:t>
            </a:r>
            <a:r>
              <a:rPr lang="es-PE" sz="1600" dirty="0">
                <a:latin typeface="Arial Narrow" panose="020B0606020202030204" pitchFamily="34" charset="0"/>
                <a:ea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rPr>
              <a:t>n</a:t>
            </a:r>
            <a:r>
              <a:rPr lang="es-PE" sz="1600" dirty="0">
                <a:latin typeface="Arial Narrow" panose="020B0606020202030204" pitchFamily="34" charset="0"/>
                <a:ea typeface="Times New Roman" panose="02020603050405020304" pitchFamily="18" charset="0"/>
              </a:rPr>
              <a:t>is</a:t>
            </a:r>
            <a:r>
              <a:rPr lang="es-PE" sz="1600" spc="15" dirty="0">
                <a:latin typeface="Arial Narrow" panose="020B0606020202030204" pitchFamily="34" charset="0"/>
                <a:ea typeface="Times New Roman" panose="02020603050405020304" pitchFamily="18" charset="0"/>
              </a:rPr>
              <a:t>t</a:t>
            </a:r>
            <a:r>
              <a:rPr lang="es-PE" sz="1600" dirty="0">
                <a:latin typeface="Arial Narrow" panose="020B0606020202030204" pitchFamily="34" charset="0"/>
                <a:ea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rPr>
              <a:t>v</a:t>
            </a:r>
            <a:r>
              <a:rPr lang="es-PE" sz="1600" dirty="0">
                <a:latin typeface="Arial Narrow" panose="020B0606020202030204" pitchFamily="34" charset="0"/>
                <a:ea typeface="Times New Roman" panose="02020603050405020304" pitchFamily="18" charset="0"/>
              </a:rPr>
              <a:t>o</a:t>
            </a:r>
            <a:r>
              <a:rPr lang="es-PE" sz="1600" spc="-60"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c</a:t>
            </a:r>
            <a:r>
              <a:rPr lang="es-PE" sz="1600" spc="10" dirty="0">
                <a:latin typeface="Arial Narrow" panose="020B0606020202030204" pitchFamily="34" charset="0"/>
                <a:ea typeface="Times New Roman" panose="02020603050405020304" pitchFamily="18" charset="0"/>
              </a:rPr>
              <a:t>o</a:t>
            </a:r>
            <a:r>
              <a:rPr lang="es-PE" sz="1600" dirty="0">
                <a:latin typeface="Arial Narrow" panose="020B0606020202030204" pitchFamily="34" charset="0"/>
                <a:ea typeface="Times New Roman" panose="02020603050405020304" pitchFamily="18" charset="0"/>
              </a:rPr>
              <a:t>n</a:t>
            </a:r>
            <a:r>
              <a:rPr lang="es-PE" sz="1600" spc="-20"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los</a:t>
            </a:r>
            <a:r>
              <a:rPr lang="es-PE" sz="1600" spc="-10"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rPr>
              <a:t>e</a:t>
            </a:r>
            <a:r>
              <a:rPr lang="es-PE" sz="1600" spc="10" dirty="0">
                <a:latin typeface="Arial Narrow" panose="020B0606020202030204" pitchFamily="34" charset="0"/>
                <a:ea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rPr>
              <a:t>u</a:t>
            </a:r>
            <a:r>
              <a:rPr lang="es-PE" sz="1600" dirty="0">
                <a:latin typeface="Arial Narrow" panose="020B0606020202030204" pitchFamily="34" charset="0"/>
                <a:ea typeface="Times New Roman" panose="02020603050405020304" pitchFamily="18" charset="0"/>
              </a:rPr>
              <a:t>lt</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dos</a:t>
            </a:r>
            <a:r>
              <a:rPr lang="es-PE" sz="1600" spc="-45"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o</a:t>
            </a:r>
            <a:r>
              <a:rPr lang="es-PE" sz="1600" spc="10" dirty="0">
                <a:latin typeface="Arial Narrow" panose="020B0606020202030204" pitchFamily="34" charset="0"/>
                <a:ea typeface="Times New Roman" panose="02020603050405020304" pitchFamily="18" charset="0"/>
              </a:rPr>
              <a:t>b</a:t>
            </a:r>
            <a:r>
              <a:rPr lang="es-PE" sz="1600" dirty="0">
                <a:latin typeface="Arial Narrow" panose="020B0606020202030204" pitchFamily="34" charset="0"/>
                <a:ea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rPr>
              <a:t>n</a:t>
            </a:r>
            <a:r>
              <a:rPr lang="es-PE" sz="1600" dirty="0">
                <a:latin typeface="Arial Narrow" panose="020B0606020202030204" pitchFamily="34" charset="0"/>
                <a:ea typeface="Times New Roman" panose="02020603050405020304" pitchFamily="18" charset="0"/>
              </a:rPr>
              <a:t>idos.</a:t>
            </a:r>
            <a:r>
              <a:rPr lang="es-PE" sz="1600" spc="-15" dirty="0">
                <a:latin typeface="Arial Narrow" panose="020B0606020202030204" pitchFamily="34" charset="0"/>
                <a:ea typeface="Times New Roman" panose="02020603050405020304" pitchFamily="18" charset="0"/>
              </a:rPr>
              <a:t> </a:t>
            </a:r>
            <a:endParaRPr lang="es-PE" sz="1600" dirty="0">
              <a:latin typeface="Arial Narrow" panose="020B0606020202030204" pitchFamily="34" charset="0"/>
            </a:endParaRPr>
          </a:p>
        </p:txBody>
      </p:sp>
      <p:sp>
        <p:nvSpPr>
          <p:cNvPr id="5" name="CuadroTexto 4">
            <a:extLst>
              <a:ext uri="{FF2B5EF4-FFF2-40B4-BE49-F238E27FC236}">
                <a16:creationId xmlns:a16="http://schemas.microsoft.com/office/drawing/2014/main" id="{29810DC5-6A49-468E-A04D-6A491EE28822}"/>
              </a:ext>
            </a:extLst>
          </p:cNvPr>
          <p:cNvSpPr txBox="1"/>
          <p:nvPr/>
        </p:nvSpPr>
        <p:spPr>
          <a:xfrm>
            <a:off x="6365966" y="1253163"/>
            <a:ext cx="5815970" cy="1200329"/>
          </a:xfrm>
          <a:prstGeom prst="rect">
            <a:avLst/>
          </a:prstGeom>
          <a:solidFill>
            <a:schemeClr val="accent1">
              <a:lumMod val="40000"/>
              <a:lumOff val="60000"/>
            </a:schemeClr>
          </a:solidFill>
        </p:spPr>
        <p:txBody>
          <a:bodyPr wrap="square" rtlCol="0">
            <a:spAutoFit/>
          </a:bodyPr>
          <a:lstStyle/>
          <a:p>
            <a:r>
              <a:rPr lang="es-ES" sz="2400" dirty="0">
                <a:solidFill>
                  <a:srgbClr val="FF0000"/>
                </a:solidFill>
                <a:latin typeface="Arial Narrow" panose="020B0606020202030204" pitchFamily="34" charset="0"/>
              </a:rPr>
              <a:t>Identificación de las variables</a:t>
            </a:r>
          </a:p>
          <a:p>
            <a:r>
              <a:rPr lang="es-ES" sz="2400" dirty="0">
                <a:latin typeface="Arial Narrow" panose="020B0606020202030204" pitchFamily="34" charset="0"/>
              </a:rPr>
              <a:t>Ti=Tipo de acción i   (</a:t>
            </a:r>
            <a:r>
              <a:rPr lang="es-ES" sz="2400" dirty="0" err="1">
                <a:latin typeface="Arial Narrow" panose="020B0606020202030204" pitchFamily="34" charset="0"/>
              </a:rPr>
              <a:t>A,B,C</a:t>
            </a:r>
            <a:r>
              <a:rPr lang="es-ES" sz="2400" dirty="0">
                <a:latin typeface="Arial Narrow" panose="020B0606020202030204" pitchFamily="34" charset="0"/>
              </a:rPr>
              <a:t>…J)</a:t>
            </a:r>
          </a:p>
          <a:p>
            <a:r>
              <a:rPr lang="es-ES" sz="2400" dirty="0">
                <a:latin typeface="Arial Narrow" panose="020B0606020202030204" pitchFamily="34" charset="0"/>
              </a:rPr>
              <a:t>{Ti=0 No compra  Ti=1 Compra}</a:t>
            </a:r>
          </a:p>
        </p:txBody>
      </p:sp>
      <p:sp>
        <p:nvSpPr>
          <p:cNvPr id="6" name="Rectángulo 5">
            <a:extLst>
              <a:ext uri="{FF2B5EF4-FFF2-40B4-BE49-F238E27FC236}">
                <a16:creationId xmlns:a16="http://schemas.microsoft.com/office/drawing/2014/main" id="{0F6E32C1-5CAE-451C-9B0D-2D4CD2935B64}"/>
              </a:ext>
            </a:extLst>
          </p:cNvPr>
          <p:cNvSpPr/>
          <p:nvPr/>
        </p:nvSpPr>
        <p:spPr>
          <a:xfrm>
            <a:off x="6365966" y="4180344"/>
            <a:ext cx="5826034" cy="2677656"/>
          </a:xfrm>
          <a:prstGeom prst="rect">
            <a:avLst/>
          </a:prstGeom>
          <a:solidFill>
            <a:schemeClr val="accent1">
              <a:lumMod val="40000"/>
              <a:lumOff val="60000"/>
            </a:schemeClr>
          </a:solidFill>
        </p:spPr>
        <p:txBody>
          <a:bodyPr wrap="square">
            <a:spAutoFit/>
          </a:bodyPr>
          <a:lstStyle/>
          <a:p>
            <a:r>
              <a:rPr lang="es-PE" sz="2400" dirty="0">
                <a:solidFill>
                  <a:srgbClr val="FF0000"/>
                </a:solidFill>
                <a:latin typeface="Arial Narrow" panose="020B0606020202030204" pitchFamily="34" charset="0"/>
              </a:rPr>
              <a:t>Identificación de las restricciones</a:t>
            </a:r>
          </a:p>
          <a:p>
            <a:r>
              <a:rPr lang="es-PE" sz="2400" dirty="0" err="1">
                <a:latin typeface="Arial Narrow" panose="020B0606020202030204" pitchFamily="34" charset="0"/>
              </a:rPr>
              <a:t>3500T1+2900T2+4000T3+3800T4+4200T5+3600T6</a:t>
            </a:r>
            <a:r>
              <a:rPr lang="es-PE" sz="2400" dirty="0">
                <a:latin typeface="Arial Narrow" panose="020B0606020202030204" pitchFamily="34" charset="0"/>
              </a:rPr>
              <a:t> +3200T7+3000T8+3700T9+3300T10&lt;=20000</a:t>
            </a:r>
          </a:p>
          <a:p>
            <a:r>
              <a:rPr lang="es-PE" sz="2400" dirty="0" err="1">
                <a:latin typeface="Arial Narrow" panose="020B0606020202030204" pitchFamily="34" charset="0"/>
              </a:rPr>
              <a:t>T1+T2+T3</a:t>
            </a:r>
            <a:r>
              <a:rPr lang="es-PE" sz="2400" dirty="0">
                <a:latin typeface="Arial Narrow" panose="020B0606020202030204" pitchFamily="34" charset="0"/>
              </a:rPr>
              <a:t>&lt;=2</a:t>
            </a:r>
          </a:p>
          <a:p>
            <a:r>
              <a:rPr lang="es-PE" sz="2400" dirty="0">
                <a:latin typeface="Arial Narrow" panose="020B0606020202030204" pitchFamily="34" charset="0"/>
              </a:rPr>
              <a:t>T4+T5+T6+T7&lt;=2</a:t>
            </a:r>
          </a:p>
          <a:p>
            <a:r>
              <a:rPr lang="es-PE" sz="2400" dirty="0">
                <a:latin typeface="Arial Narrow" panose="020B0606020202030204" pitchFamily="34" charset="0"/>
              </a:rPr>
              <a:t>T8+T9+T10&lt;=2</a:t>
            </a:r>
          </a:p>
          <a:p>
            <a:r>
              <a:rPr lang="es-PE" sz="2400" dirty="0">
                <a:latin typeface="Arial Narrow" panose="020B0606020202030204" pitchFamily="34" charset="0"/>
              </a:rPr>
              <a:t>Ti&gt;=0, BINARIO</a:t>
            </a:r>
            <a:endParaRPr lang="es-PE" sz="2400" dirty="0"/>
          </a:p>
        </p:txBody>
      </p:sp>
      <p:sp>
        <p:nvSpPr>
          <p:cNvPr id="7" name="Rectángulo 6">
            <a:extLst>
              <a:ext uri="{FF2B5EF4-FFF2-40B4-BE49-F238E27FC236}">
                <a16:creationId xmlns:a16="http://schemas.microsoft.com/office/drawing/2014/main" id="{349754E9-20E1-461A-9B0D-96F81093181C}"/>
              </a:ext>
            </a:extLst>
          </p:cNvPr>
          <p:cNvSpPr/>
          <p:nvPr/>
        </p:nvSpPr>
        <p:spPr>
          <a:xfrm>
            <a:off x="6365966" y="2353905"/>
            <a:ext cx="5826034" cy="1938992"/>
          </a:xfrm>
          <a:prstGeom prst="rect">
            <a:avLst/>
          </a:prstGeom>
          <a:solidFill>
            <a:schemeClr val="accent1">
              <a:lumMod val="40000"/>
              <a:lumOff val="60000"/>
            </a:schemeClr>
          </a:solidFill>
        </p:spPr>
        <p:txBody>
          <a:bodyPr wrap="square">
            <a:spAutoFit/>
          </a:bodyPr>
          <a:lstStyle/>
          <a:p>
            <a:r>
              <a:rPr lang="es-ES" sz="2400" dirty="0">
                <a:solidFill>
                  <a:srgbClr val="FF0000"/>
                </a:solidFill>
                <a:latin typeface="Arial Narrow" panose="020B0606020202030204" pitchFamily="34" charset="0"/>
              </a:rPr>
              <a:t>Identificación de la función objetivo</a:t>
            </a:r>
          </a:p>
          <a:p>
            <a:r>
              <a:rPr lang="es-PE" sz="2400" dirty="0">
                <a:latin typeface="Arial Narrow" panose="020B0606020202030204" pitchFamily="34" charset="0"/>
              </a:rPr>
              <a:t>MAX (0,092)</a:t>
            </a:r>
            <a:r>
              <a:rPr lang="es-PE" sz="2400" dirty="0" err="1">
                <a:latin typeface="Arial Narrow" panose="020B0606020202030204" pitchFamily="34" charset="0"/>
              </a:rPr>
              <a:t>3500T1</a:t>
            </a:r>
            <a:r>
              <a:rPr lang="es-PE" sz="2400" dirty="0">
                <a:latin typeface="Arial Narrow" panose="020B0606020202030204" pitchFamily="34" charset="0"/>
              </a:rPr>
              <a:t>+(0,10)</a:t>
            </a:r>
            <a:r>
              <a:rPr lang="es-PE" sz="2400" dirty="0" err="1">
                <a:latin typeface="Arial Narrow" panose="020B0606020202030204" pitchFamily="34" charset="0"/>
              </a:rPr>
              <a:t>2900T2</a:t>
            </a:r>
            <a:r>
              <a:rPr lang="es-PE" sz="2400" dirty="0">
                <a:latin typeface="Arial Narrow" panose="020B0606020202030204" pitchFamily="34" charset="0"/>
              </a:rPr>
              <a:t>+ (0,084)</a:t>
            </a:r>
            <a:r>
              <a:rPr lang="es-PE" sz="2400" dirty="0" err="1">
                <a:latin typeface="Arial Narrow" panose="020B0606020202030204" pitchFamily="34" charset="0"/>
              </a:rPr>
              <a:t>4000T3</a:t>
            </a:r>
            <a:r>
              <a:rPr lang="es-PE" sz="2400" dirty="0">
                <a:latin typeface="Arial Narrow" panose="020B0606020202030204" pitchFamily="34" charset="0"/>
              </a:rPr>
              <a:t>+(0,086)</a:t>
            </a:r>
            <a:r>
              <a:rPr lang="es-PE" sz="2400" dirty="0" err="1">
                <a:latin typeface="Arial Narrow" panose="020B0606020202030204" pitchFamily="34" charset="0"/>
              </a:rPr>
              <a:t>3800T4</a:t>
            </a:r>
            <a:r>
              <a:rPr lang="es-PE" sz="2400" dirty="0">
                <a:latin typeface="Arial Narrow" panose="020B0606020202030204" pitchFamily="34" charset="0"/>
              </a:rPr>
              <a:t>+(0,082)</a:t>
            </a:r>
            <a:r>
              <a:rPr lang="es-PE" sz="2400" dirty="0" err="1">
                <a:latin typeface="Arial Narrow" panose="020B0606020202030204" pitchFamily="34" charset="0"/>
              </a:rPr>
              <a:t>4200T5</a:t>
            </a:r>
            <a:r>
              <a:rPr lang="es-PE" sz="2400" dirty="0">
                <a:latin typeface="Arial Narrow" panose="020B0606020202030204" pitchFamily="34" charset="0"/>
              </a:rPr>
              <a:t>+</a:t>
            </a:r>
          </a:p>
          <a:p>
            <a:r>
              <a:rPr lang="es-PE" sz="2400" dirty="0">
                <a:latin typeface="Arial Narrow" panose="020B0606020202030204" pitchFamily="34" charset="0"/>
              </a:rPr>
              <a:t>(0,092)</a:t>
            </a:r>
            <a:r>
              <a:rPr lang="es-PE" sz="2400" dirty="0" err="1">
                <a:latin typeface="Arial Narrow" panose="020B0606020202030204" pitchFamily="34" charset="0"/>
              </a:rPr>
              <a:t>3600T6</a:t>
            </a:r>
            <a:r>
              <a:rPr lang="es-PE" sz="2400" dirty="0">
                <a:latin typeface="Arial Narrow" panose="020B0606020202030204" pitchFamily="34" charset="0"/>
              </a:rPr>
              <a:t>+(0,096)</a:t>
            </a:r>
            <a:r>
              <a:rPr lang="es-PE" sz="2400" dirty="0" err="1">
                <a:latin typeface="Arial Narrow" panose="020B0606020202030204" pitchFamily="34" charset="0"/>
              </a:rPr>
              <a:t>3200T7</a:t>
            </a:r>
            <a:r>
              <a:rPr lang="es-PE" sz="2400" dirty="0">
                <a:latin typeface="Arial Narrow" panose="020B0606020202030204" pitchFamily="34" charset="0"/>
              </a:rPr>
              <a:t>+(0,099)</a:t>
            </a:r>
            <a:r>
              <a:rPr lang="es-PE" sz="2400" dirty="0" err="1">
                <a:latin typeface="Arial Narrow" panose="020B0606020202030204" pitchFamily="34" charset="0"/>
              </a:rPr>
              <a:t>3000T8</a:t>
            </a:r>
            <a:r>
              <a:rPr lang="es-PE" sz="2400" dirty="0">
                <a:latin typeface="Arial Narrow" panose="020B0606020202030204" pitchFamily="34" charset="0"/>
              </a:rPr>
              <a:t>+</a:t>
            </a:r>
          </a:p>
          <a:p>
            <a:r>
              <a:rPr lang="es-PE" sz="2400" dirty="0">
                <a:latin typeface="Arial Narrow" panose="020B0606020202030204" pitchFamily="34" charset="0"/>
              </a:rPr>
              <a:t>(0,089)</a:t>
            </a:r>
            <a:r>
              <a:rPr lang="es-PE" sz="2400" dirty="0" err="1">
                <a:latin typeface="Arial Narrow" panose="020B0606020202030204" pitchFamily="34" charset="0"/>
              </a:rPr>
              <a:t>3700T9</a:t>
            </a:r>
            <a:r>
              <a:rPr lang="es-PE" sz="2400" dirty="0">
                <a:latin typeface="Arial Narrow" panose="020B0606020202030204" pitchFamily="34" charset="0"/>
              </a:rPr>
              <a:t>+(0,094)</a:t>
            </a:r>
            <a:r>
              <a:rPr lang="es-PE" sz="2400" dirty="0" err="1">
                <a:latin typeface="Arial Narrow" panose="020B0606020202030204" pitchFamily="34" charset="0"/>
              </a:rPr>
              <a:t>3300T10</a:t>
            </a:r>
            <a:endParaRPr lang="es-PE" sz="2400" dirty="0">
              <a:latin typeface="Arial Narrow" panose="020B0606020202030204" pitchFamily="34" charset="0"/>
            </a:endParaRPr>
          </a:p>
        </p:txBody>
      </p:sp>
      <p:sp>
        <p:nvSpPr>
          <p:cNvPr id="8" name="Rectangle 2">
            <a:extLst>
              <a:ext uri="{FF2B5EF4-FFF2-40B4-BE49-F238E27FC236}">
                <a16:creationId xmlns:a16="http://schemas.microsoft.com/office/drawing/2014/main" id="{048EE593-77A5-4A05-967B-E143776896DD}"/>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4</a:t>
            </a:r>
          </a:p>
        </p:txBody>
      </p:sp>
    </p:spTree>
    <p:extLst>
      <p:ext uri="{BB962C8B-B14F-4D97-AF65-F5344CB8AC3E}">
        <p14:creationId xmlns:p14="http://schemas.microsoft.com/office/powerpoint/2010/main" val="25742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3FBDBE22-5904-4D38-80D3-F6BCDCC10D06}"/>
              </a:ext>
            </a:extLst>
          </p:cNvPr>
          <p:cNvSpPr/>
          <p:nvPr/>
        </p:nvSpPr>
        <p:spPr>
          <a:xfrm>
            <a:off x="6407988" y="1234315"/>
            <a:ext cx="5472024" cy="4893647"/>
          </a:xfrm>
          <a:prstGeom prst="rect">
            <a:avLst/>
          </a:prstGeom>
          <a:solidFill>
            <a:schemeClr val="accent4">
              <a:lumMod val="40000"/>
              <a:lumOff val="60000"/>
            </a:schemeClr>
          </a:solidFill>
        </p:spPr>
        <p:txBody>
          <a:bodyPr wrap="square">
            <a:spAutoFit/>
          </a:bodyPr>
          <a:lstStyle/>
          <a:p>
            <a:r>
              <a:rPr lang="es-PE" sz="2400" dirty="0">
                <a:latin typeface="Arial Narrow" panose="020B0606020202030204" pitchFamily="34" charset="0"/>
              </a:rPr>
              <a:t> </a:t>
            </a:r>
            <a:r>
              <a:rPr lang="es-PE" sz="2400" dirty="0" err="1">
                <a:latin typeface="Arial Narrow" panose="020B0606020202030204" pitchFamily="34" charset="0"/>
              </a:rPr>
              <a:t>OBJECTIVE</a:t>
            </a:r>
            <a:r>
              <a:rPr lang="es-PE" sz="2400" dirty="0">
                <a:latin typeface="Arial Narrow" panose="020B0606020202030204" pitchFamily="34" charset="0"/>
              </a:rPr>
              <a:t> </a:t>
            </a:r>
            <a:r>
              <a:rPr lang="es-PE" sz="2400" dirty="0" err="1">
                <a:latin typeface="Arial Narrow" panose="020B0606020202030204" pitchFamily="34" charset="0"/>
              </a:rPr>
              <a:t>FUNCTION</a:t>
            </a:r>
            <a:r>
              <a:rPr lang="es-PE" sz="2400" dirty="0">
                <a:latin typeface="Arial Narrow" panose="020B0606020202030204" pitchFamily="34" charset="0"/>
              </a:rPr>
              <a:t> </a:t>
            </a:r>
            <a:r>
              <a:rPr lang="es-PE" sz="2400" dirty="0" err="1">
                <a:latin typeface="Arial Narrow" panose="020B0606020202030204" pitchFamily="34" charset="0"/>
              </a:rPr>
              <a:t>VALUE</a:t>
            </a:r>
            <a:endParaRPr lang="es-PE" sz="2400" dirty="0">
              <a:latin typeface="Arial Narrow" panose="020B0606020202030204" pitchFamily="34" charset="0"/>
            </a:endParaRPr>
          </a:p>
          <a:p>
            <a:r>
              <a:rPr lang="es-PE" sz="2400" dirty="0">
                <a:latin typeface="Arial Narrow" panose="020B0606020202030204" pitchFamily="34" charset="0"/>
              </a:rPr>
              <a:t>        1)      1876.700</a:t>
            </a:r>
          </a:p>
          <a:p>
            <a:r>
              <a:rPr lang="es-PE" sz="2400" dirty="0">
                <a:latin typeface="Arial Narrow" panose="020B0606020202030204" pitchFamily="34" charset="0"/>
              </a:rPr>
              <a:t>VARIABLE       </a:t>
            </a:r>
            <a:r>
              <a:rPr lang="es-PE" sz="2400" dirty="0" err="1">
                <a:latin typeface="Arial Narrow" panose="020B0606020202030204" pitchFamily="34" charset="0"/>
              </a:rPr>
              <a:t>VALUE</a:t>
            </a:r>
            <a:r>
              <a:rPr lang="es-PE" sz="2400" dirty="0">
                <a:latin typeface="Arial Narrow" panose="020B0606020202030204" pitchFamily="34" charset="0"/>
              </a:rPr>
              <a:t>       </a:t>
            </a:r>
            <a:r>
              <a:rPr lang="es-PE" sz="2400" dirty="0" err="1">
                <a:latin typeface="Arial Narrow" panose="020B0606020202030204" pitchFamily="34" charset="0"/>
              </a:rPr>
              <a:t>REDUCED</a:t>
            </a:r>
            <a:r>
              <a:rPr lang="es-PE" sz="2400" dirty="0">
                <a:latin typeface="Arial Narrow" panose="020B0606020202030204" pitchFamily="34" charset="0"/>
              </a:rPr>
              <a:t> </a:t>
            </a:r>
            <a:r>
              <a:rPr lang="es-PE" sz="2400" dirty="0" err="1">
                <a:latin typeface="Arial Narrow" panose="020B0606020202030204" pitchFamily="34" charset="0"/>
              </a:rPr>
              <a:t>COST</a:t>
            </a:r>
            <a:endParaRPr lang="es-PE" sz="2400" dirty="0">
              <a:latin typeface="Arial Narrow" panose="020B0606020202030204" pitchFamily="34" charset="0"/>
            </a:endParaRPr>
          </a:p>
          <a:p>
            <a:r>
              <a:rPr lang="es-PE" sz="2400" dirty="0">
                <a:latin typeface="Arial Narrow" panose="020B0606020202030204" pitchFamily="34" charset="0"/>
              </a:rPr>
              <a:t>        </a:t>
            </a:r>
            <a:r>
              <a:rPr lang="es-PE" sz="2400" dirty="0" err="1">
                <a:latin typeface="Arial Narrow" panose="020B0606020202030204" pitchFamily="34" charset="0"/>
              </a:rPr>
              <a:t>T1</a:t>
            </a:r>
            <a:r>
              <a:rPr lang="es-PE" sz="2400" dirty="0">
                <a:latin typeface="Arial Narrow" panose="020B0606020202030204" pitchFamily="34" charset="0"/>
              </a:rPr>
              <a:t>         1.000000       -322.000000</a:t>
            </a:r>
          </a:p>
          <a:p>
            <a:r>
              <a:rPr lang="es-PE" sz="2400" dirty="0">
                <a:latin typeface="Arial Narrow" panose="020B0606020202030204" pitchFamily="34" charset="0"/>
              </a:rPr>
              <a:t>        </a:t>
            </a:r>
            <a:r>
              <a:rPr lang="es-PE" sz="2400" dirty="0" err="1">
                <a:latin typeface="Arial Narrow" panose="020B0606020202030204" pitchFamily="34" charset="0"/>
              </a:rPr>
              <a:t>T2</a:t>
            </a:r>
            <a:r>
              <a:rPr lang="es-PE" sz="2400" dirty="0">
                <a:latin typeface="Arial Narrow" panose="020B0606020202030204" pitchFamily="34" charset="0"/>
              </a:rPr>
              <a:t>         1.000000       -290.000000</a:t>
            </a:r>
          </a:p>
          <a:p>
            <a:r>
              <a:rPr lang="es-PE" sz="2400" dirty="0">
                <a:latin typeface="Arial Narrow" panose="020B0606020202030204" pitchFamily="34" charset="0"/>
              </a:rPr>
              <a:t>        </a:t>
            </a:r>
            <a:r>
              <a:rPr lang="es-PE" sz="2400" dirty="0" err="1">
                <a:latin typeface="Arial Narrow" panose="020B0606020202030204" pitchFamily="34" charset="0"/>
              </a:rPr>
              <a:t>T3</a:t>
            </a:r>
            <a:r>
              <a:rPr lang="es-PE" sz="2400" dirty="0">
                <a:latin typeface="Arial Narrow" panose="020B0606020202030204" pitchFamily="34" charset="0"/>
              </a:rPr>
              <a:t>         0.000000       -336.000000</a:t>
            </a:r>
          </a:p>
          <a:p>
            <a:r>
              <a:rPr lang="es-PE" sz="2400" dirty="0">
                <a:latin typeface="Arial Narrow" panose="020B0606020202030204" pitchFamily="34" charset="0"/>
              </a:rPr>
              <a:t>        </a:t>
            </a:r>
            <a:r>
              <a:rPr lang="es-PE" sz="2400" dirty="0" err="1">
                <a:latin typeface="Arial Narrow" panose="020B0606020202030204" pitchFamily="34" charset="0"/>
              </a:rPr>
              <a:t>T4</a:t>
            </a:r>
            <a:r>
              <a:rPr lang="es-PE" sz="2400" dirty="0">
                <a:latin typeface="Arial Narrow" panose="020B0606020202030204" pitchFamily="34" charset="0"/>
              </a:rPr>
              <a:t>         0.000000       -326.799988</a:t>
            </a:r>
          </a:p>
          <a:p>
            <a:r>
              <a:rPr lang="es-PE" sz="2400" dirty="0">
                <a:latin typeface="Arial Narrow" panose="020B0606020202030204" pitchFamily="34" charset="0"/>
              </a:rPr>
              <a:t>        </a:t>
            </a:r>
            <a:r>
              <a:rPr lang="es-PE" sz="2400" dirty="0" err="1">
                <a:latin typeface="Arial Narrow" panose="020B0606020202030204" pitchFamily="34" charset="0"/>
              </a:rPr>
              <a:t>T5</a:t>
            </a:r>
            <a:r>
              <a:rPr lang="es-PE" sz="2400" dirty="0">
                <a:latin typeface="Arial Narrow" panose="020B0606020202030204" pitchFamily="34" charset="0"/>
              </a:rPr>
              <a:t>         0.000000       -344.399994</a:t>
            </a:r>
          </a:p>
          <a:p>
            <a:r>
              <a:rPr lang="es-PE" sz="2400" dirty="0">
                <a:latin typeface="Arial Narrow" panose="020B0606020202030204" pitchFamily="34" charset="0"/>
              </a:rPr>
              <a:t>        </a:t>
            </a:r>
            <a:r>
              <a:rPr lang="es-PE" sz="2400" dirty="0" err="1">
                <a:latin typeface="Arial Narrow" panose="020B0606020202030204" pitchFamily="34" charset="0"/>
              </a:rPr>
              <a:t>T6</a:t>
            </a:r>
            <a:r>
              <a:rPr lang="es-PE" sz="2400" dirty="0">
                <a:latin typeface="Arial Narrow" panose="020B0606020202030204" pitchFamily="34" charset="0"/>
              </a:rPr>
              <a:t>         1.000000       -331.200012</a:t>
            </a:r>
          </a:p>
          <a:p>
            <a:r>
              <a:rPr lang="es-PE" sz="2400" dirty="0">
                <a:latin typeface="Arial Narrow" panose="020B0606020202030204" pitchFamily="34" charset="0"/>
              </a:rPr>
              <a:t>        </a:t>
            </a:r>
            <a:r>
              <a:rPr lang="es-PE" sz="2400" dirty="0" err="1">
                <a:latin typeface="Arial Narrow" panose="020B0606020202030204" pitchFamily="34" charset="0"/>
              </a:rPr>
              <a:t>T7</a:t>
            </a:r>
            <a:r>
              <a:rPr lang="es-PE" sz="2400" dirty="0">
                <a:latin typeface="Arial Narrow" panose="020B0606020202030204" pitchFamily="34" charset="0"/>
              </a:rPr>
              <a:t>         1.000000       -307.200012</a:t>
            </a:r>
          </a:p>
          <a:p>
            <a:r>
              <a:rPr lang="es-PE" sz="2400" dirty="0">
                <a:latin typeface="Arial Narrow" panose="020B0606020202030204" pitchFamily="34" charset="0"/>
              </a:rPr>
              <a:t>        </a:t>
            </a:r>
            <a:r>
              <a:rPr lang="es-PE" sz="2400" dirty="0" err="1">
                <a:latin typeface="Arial Narrow" panose="020B0606020202030204" pitchFamily="34" charset="0"/>
              </a:rPr>
              <a:t>T8</a:t>
            </a:r>
            <a:r>
              <a:rPr lang="es-PE" sz="2400" dirty="0">
                <a:latin typeface="Arial Narrow" panose="020B0606020202030204" pitchFamily="34" charset="0"/>
              </a:rPr>
              <a:t>         1.000000       -297.000000</a:t>
            </a:r>
          </a:p>
          <a:p>
            <a:r>
              <a:rPr lang="es-PE" sz="2400" dirty="0">
                <a:latin typeface="Arial Narrow" panose="020B0606020202030204" pitchFamily="34" charset="0"/>
              </a:rPr>
              <a:t>        </a:t>
            </a:r>
            <a:r>
              <a:rPr lang="es-PE" sz="2400" dirty="0" err="1">
                <a:latin typeface="Arial Narrow" panose="020B0606020202030204" pitchFamily="34" charset="0"/>
              </a:rPr>
              <a:t>T9</a:t>
            </a:r>
            <a:r>
              <a:rPr lang="es-PE" sz="2400" dirty="0">
                <a:latin typeface="Arial Narrow" panose="020B0606020202030204" pitchFamily="34" charset="0"/>
              </a:rPr>
              <a:t>         1.000000       -329.299988</a:t>
            </a:r>
          </a:p>
          <a:p>
            <a:r>
              <a:rPr lang="es-PE" sz="2400" dirty="0">
                <a:latin typeface="Arial Narrow" panose="020B0606020202030204" pitchFamily="34" charset="0"/>
              </a:rPr>
              <a:t>       </a:t>
            </a:r>
            <a:r>
              <a:rPr lang="es-PE" sz="2400" dirty="0" err="1">
                <a:latin typeface="Arial Narrow" panose="020B0606020202030204" pitchFamily="34" charset="0"/>
              </a:rPr>
              <a:t>T10</a:t>
            </a:r>
            <a:r>
              <a:rPr lang="es-PE" sz="2400" dirty="0">
                <a:latin typeface="Arial Narrow" panose="020B0606020202030204" pitchFamily="34" charset="0"/>
              </a:rPr>
              <a:t>         0.000000       -310.200012</a:t>
            </a:r>
          </a:p>
        </p:txBody>
      </p:sp>
      <p:sp>
        <p:nvSpPr>
          <p:cNvPr id="5" name="Rectángulo 4">
            <a:extLst>
              <a:ext uri="{FF2B5EF4-FFF2-40B4-BE49-F238E27FC236}">
                <a16:creationId xmlns:a16="http://schemas.microsoft.com/office/drawing/2014/main" id="{17F4F542-68CF-44AB-9C2E-97303D2D9EB0}"/>
              </a:ext>
            </a:extLst>
          </p:cNvPr>
          <p:cNvSpPr/>
          <p:nvPr/>
        </p:nvSpPr>
        <p:spPr>
          <a:xfrm>
            <a:off x="0" y="1234315"/>
            <a:ext cx="6035040" cy="5262979"/>
          </a:xfrm>
          <a:prstGeom prst="rect">
            <a:avLst/>
          </a:prstGeom>
          <a:solidFill>
            <a:srgbClr val="FFFF00"/>
          </a:solidFill>
        </p:spPr>
        <p:txBody>
          <a:bodyPr wrap="square">
            <a:spAutoFit/>
          </a:bodyPr>
          <a:lstStyle/>
          <a:p>
            <a:r>
              <a:rPr lang="es-PE" sz="2400" dirty="0">
                <a:latin typeface="Arial Narrow" panose="020B0606020202030204" pitchFamily="34" charset="0"/>
              </a:rPr>
              <a:t>MAX </a:t>
            </a:r>
            <a:r>
              <a:rPr lang="es-PE" sz="2400" dirty="0" err="1">
                <a:latin typeface="Arial Narrow" panose="020B0606020202030204" pitchFamily="34" charset="0"/>
              </a:rPr>
              <a:t>322T1+290T2+336T3+326.8T4+344.4T5</a:t>
            </a:r>
            <a:r>
              <a:rPr lang="es-PE" sz="2400" dirty="0">
                <a:latin typeface="Arial Narrow" panose="020B0606020202030204" pitchFamily="34" charset="0"/>
              </a:rPr>
              <a:t>+ </a:t>
            </a:r>
            <a:r>
              <a:rPr lang="es-PE" sz="2400" dirty="0" err="1">
                <a:latin typeface="Arial Narrow" panose="020B0606020202030204" pitchFamily="34" charset="0"/>
              </a:rPr>
              <a:t>331.2T6</a:t>
            </a:r>
            <a:r>
              <a:rPr lang="es-PE" sz="2400" dirty="0">
                <a:latin typeface="Arial Narrow" panose="020B0606020202030204" pitchFamily="34" charset="0"/>
              </a:rPr>
              <a:t>+ </a:t>
            </a:r>
            <a:r>
              <a:rPr lang="es-PE" sz="2400" dirty="0" err="1">
                <a:latin typeface="Arial Narrow" panose="020B0606020202030204" pitchFamily="34" charset="0"/>
              </a:rPr>
              <a:t>307.2T7+297T8+329.3T9+310.2T10</a:t>
            </a:r>
            <a:endParaRPr lang="es-PE" sz="2400" dirty="0">
              <a:latin typeface="Arial Narrow" panose="020B0606020202030204" pitchFamily="34" charset="0"/>
            </a:endParaRPr>
          </a:p>
          <a:p>
            <a:r>
              <a:rPr lang="es-PE" sz="2400" dirty="0" err="1">
                <a:solidFill>
                  <a:srgbClr val="FF0000"/>
                </a:solidFill>
                <a:latin typeface="Arial Narrow" panose="020B0606020202030204" pitchFamily="34" charset="0"/>
              </a:rPr>
              <a:t>ST</a:t>
            </a:r>
            <a:endParaRPr lang="es-PE" sz="2400" dirty="0">
              <a:solidFill>
                <a:srgbClr val="FF0000"/>
              </a:solidFill>
              <a:latin typeface="Arial Narrow" panose="020B0606020202030204" pitchFamily="34" charset="0"/>
            </a:endParaRPr>
          </a:p>
          <a:p>
            <a:r>
              <a:rPr lang="es-PE" sz="2400" dirty="0">
                <a:latin typeface="Arial Narrow" panose="020B0606020202030204" pitchFamily="34" charset="0"/>
              </a:rPr>
              <a:t>3500T1+2900T2+4000T3+3800T4+4200T5+3600T6+3200T7+3000T8+3700T9+3300T10&lt;=20000</a:t>
            </a:r>
          </a:p>
          <a:p>
            <a:r>
              <a:rPr lang="es-PE" sz="2400" dirty="0">
                <a:latin typeface="Arial Narrow" panose="020B0606020202030204" pitchFamily="34" charset="0"/>
              </a:rPr>
              <a:t>            </a:t>
            </a:r>
            <a:r>
              <a:rPr lang="es-PE" sz="2400" dirty="0" err="1">
                <a:latin typeface="Arial Narrow" panose="020B0606020202030204" pitchFamily="34" charset="0"/>
              </a:rPr>
              <a:t>T1+T2+T3</a:t>
            </a:r>
            <a:r>
              <a:rPr lang="es-PE" sz="2400" dirty="0">
                <a:latin typeface="Arial Narrow" panose="020B0606020202030204" pitchFamily="34" charset="0"/>
              </a:rPr>
              <a:t>  &lt;=2</a:t>
            </a:r>
          </a:p>
          <a:p>
            <a:r>
              <a:rPr lang="es-PE" sz="2400" dirty="0">
                <a:latin typeface="Arial Narrow" panose="020B0606020202030204" pitchFamily="34" charset="0"/>
              </a:rPr>
              <a:t>      </a:t>
            </a:r>
            <a:r>
              <a:rPr lang="es-PE" sz="2400" dirty="0" err="1">
                <a:latin typeface="Arial Narrow" panose="020B0606020202030204" pitchFamily="34" charset="0"/>
              </a:rPr>
              <a:t>T4+T5+T6+T7</a:t>
            </a:r>
            <a:r>
              <a:rPr lang="es-PE" sz="2400" dirty="0">
                <a:latin typeface="Arial Narrow" panose="020B0606020202030204" pitchFamily="34" charset="0"/>
              </a:rPr>
              <a:t>  &lt;=2</a:t>
            </a:r>
          </a:p>
          <a:p>
            <a:r>
              <a:rPr lang="es-PE" sz="2400" dirty="0">
                <a:latin typeface="Arial Narrow" panose="020B0606020202030204" pitchFamily="34" charset="0"/>
              </a:rPr>
              <a:t>            </a:t>
            </a:r>
            <a:r>
              <a:rPr lang="es-PE" sz="2400" dirty="0" err="1">
                <a:latin typeface="Arial Narrow" panose="020B0606020202030204" pitchFamily="34" charset="0"/>
              </a:rPr>
              <a:t>T8+T9+T10</a:t>
            </a:r>
            <a:r>
              <a:rPr lang="es-PE" sz="2400" dirty="0">
                <a:latin typeface="Arial Narrow" panose="020B0606020202030204" pitchFamily="34" charset="0"/>
              </a:rPr>
              <a:t>&lt;=2</a:t>
            </a:r>
          </a:p>
          <a:p>
            <a:r>
              <a:rPr lang="es-PE" sz="2400" dirty="0" err="1">
                <a:solidFill>
                  <a:srgbClr val="FF0000"/>
                </a:solidFill>
                <a:latin typeface="Arial Narrow" panose="020B0606020202030204" pitchFamily="34" charset="0"/>
              </a:rPr>
              <a:t>END</a:t>
            </a:r>
            <a:endParaRPr lang="es-PE" sz="2400" dirty="0">
              <a:solidFill>
                <a:srgbClr val="FF0000"/>
              </a:solidFill>
              <a:latin typeface="Arial Narrow" panose="020B0606020202030204" pitchFamily="34" charset="0"/>
            </a:endParaRPr>
          </a:p>
          <a:p>
            <a:r>
              <a:rPr lang="es-PE" sz="2400" dirty="0">
                <a:latin typeface="Arial Narrow" panose="020B0606020202030204" pitchFamily="34" charset="0"/>
              </a:rPr>
              <a:t>INT T1		INT T2</a:t>
            </a:r>
          </a:p>
          <a:p>
            <a:r>
              <a:rPr lang="es-PE" sz="2400" dirty="0">
                <a:latin typeface="Arial Narrow" panose="020B0606020202030204" pitchFamily="34" charset="0"/>
              </a:rPr>
              <a:t>INT T3		INT T4</a:t>
            </a:r>
          </a:p>
          <a:p>
            <a:r>
              <a:rPr lang="es-PE" sz="2400" dirty="0">
                <a:latin typeface="Arial Narrow" panose="020B0606020202030204" pitchFamily="34" charset="0"/>
              </a:rPr>
              <a:t>INT T5		INT T6</a:t>
            </a:r>
          </a:p>
          <a:p>
            <a:r>
              <a:rPr lang="es-PE" sz="2400" dirty="0">
                <a:latin typeface="Arial Narrow" panose="020B0606020202030204" pitchFamily="34" charset="0"/>
              </a:rPr>
              <a:t>INT T7		INT T8</a:t>
            </a:r>
          </a:p>
          <a:p>
            <a:r>
              <a:rPr lang="es-PE" sz="2400" dirty="0">
                <a:latin typeface="Arial Narrow" panose="020B0606020202030204" pitchFamily="34" charset="0"/>
              </a:rPr>
              <a:t>INT T9		INT T10</a:t>
            </a:r>
          </a:p>
        </p:txBody>
      </p:sp>
      <p:sp>
        <p:nvSpPr>
          <p:cNvPr id="6" name="CuadroTexto 5">
            <a:extLst>
              <a:ext uri="{FF2B5EF4-FFF2-40B4-BE49-F238E27FC236}">
                <a16:creationId xmlns:a16="http://schemas.microsoft.com/office/drawing/2014/main" id="{11C06D4F-4C06-4BD5-AB1A-B03019345154}"/>
              </a:ext>
            </a:extLst>
          </p:cNvPr>
          <p:cNvSpPr txBox="1"/>
          <p:nvPr/>
        </p:nvSpPr>
        <p:spPr>
          <a:xfrm>
            <a:off x="6096000" y="222480"/>
            <a:ext cx="6096000" cy="584775"/>
          </a:xfrm>
          <a:prstGeom prst="rect">
            <a:avLst/>
          </a:prstGeom>
          <a:noFill/>
        </p:spPr>
        <p:txBody>
          <a:bodyPr wrap="square" rtlCol="0">
            <a:spAutoFit/>
          </a:bodyPr>
          <a:lstStyle/>
          <a:p>
            <a:pPr algn="ct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Es</a:t>
            </a:r>
            <a:r>
              <a:rPr lang="es-PE" sz="3200" b="1" u="heavy" spc="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c</a:t>
            </a:r>
            <a:r>
              <a:rPr lang="es-PE" sz="3200" b="1" u="heavy" spc="-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e</a:t>
            </a: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nar</a:t>
            </a:r>
            <a:r>
              <a:rPr lang="es-PE" sz="3200" b="1" u="heavy" spc="1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i</a:t>
            </a: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o 1</a:t>
            </a:r>
            <a:endParaRPr lang="es-PE" sz="3200" dirty="0">
              <a:solidFill>
                <a:schemeClr val="bg1"/>
              </a:solidFill>
            </a:endParaRPr>
          </a:p>
        </p:txBody>
      </p:sp>
    </p:spTree>
    <p:extLst>
      <p:ext uri="{BB962C8B-B14F-4D97-AF65-F5344CB8AC3E}">
        <p14:creationId xmlns:p14="http://schemas.microsoft.com/office/powerpoint/2010/main" val="187453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9810DC5-6A49-468E-A04D-6A491EE28822}"/>
              </a:ext>
            </a:extLst>
          </p:cNvPr>
          <p:cNvSpPr txBox="1"/>
          <p:nvPr/>
        </p:nvSpPr>
        <p:spPr>
          <a:xfrm>
            <a:off x="6509639" y="1482041"/>
            <a:ext cx="5685235" cy="1015663"/>
          </a:xfrm>
          <a:prstGeom prst="rect">
            <a:avLst/>
          </a:prstGeom>
          <a:solidFill>
            <a:schemeClr val="accent2">
              <a:lumMod val="20000"/>
              <a:lumOff val="80000"/>
            </a:schemeClr>
          </a:solidFill>
        </p:spPr>
        <p:txBody>
          <a:bodyPr wrap="square" rtlCol="0">
            <a:spAutoFit/>
          </a:bodyPr>
          <a:lstStyle/>
          <a:p>
            <a:r>
              <a:rPr lang="es-ES" sz="2000" b="1" dirty="0">
                <a:solidFill>
                  <a:srgbClr val="FF0000"/>
                </a:solidFill>
                <a:latin typeface="Arial Narrow" panose="020B0606020202030204" pitchFamily="34" charset="0"/>
              </a:rPr>
              <a:t>Identificación de las variables</a:t>
            </a:r>
          </a:p>
          <a:p>
            <a:r>
              <a:rPr lang="es-ES" sz="2000" b="1" dirty="0">
                <a:latin typeface="Arial Narrow" panose="020B0606020202030204" pitchFamily="34" charset="0"/>
              </a:rPr>
              <a:t>Ti=Tipo de acción i {Ti=0 No compra  Ti=1 Compra}</a:t>
            </a:r>
          </a:p>
          <a:p>
            <a:r>
              <a:rPr lang="es-ES" sz="2000" b="1" dirty="0" err="1">
                <a:solidFill>
                  <a:srgbClr val="7030A0"/>
                </a:solidFill>
                <a:latin typeface="Arial Narrow" panose="020B0606020202030204" pitchFamily="34" charset="0"/>
              </a:rPr>
              <a:t>Ri</a:t>
            </a:r>
            <a:r>
              <a:rPr lang="es-ES" sz="2000" b="1" dirty="0">
                <a:solidFill>
                  <a:srgbClr val="7030A0"/>
                </a:solidFill>
                <a:latin typeface="Arial Narrow" panose="020B0606020202030204" pitchFamily="34" charset="0"/>
              </a:rPr>
              <a:t>= Rubro i  {</a:t>
            </a:r>
            <a:r>
              <a:rPr lang="es-ES" sz="2000" b="1" dirty="0" err="1">
                <a:solidFill>
                  <a:srgbClr val="7030A0"/>
                </a:solidFill>
                <a:latin typeface="Arial Narrow" panose="020B0606020202030204" pitchFamily="34" charset="0"/>
              </a:rPr>
              <a:t>Ri</a:t>
            </a:r>
            <a:r>
              <a:rPr lang="es-ES" sz="2000" b="1" dirty="0">
                <a:solidFill>
                  <a:srgbClr val="7030A0"/>
                </a:solidFill>
                <a:latin typeface="Arial Narrow" panose="020B0606020202030204" pitchFamily="34" charset="0"/>
              </a:rPr>
              <a:t>=0 No se invierte </a:t>
            </a:r>
            <a:r>
              <a:rPr lang="es-ES" sz="2000" b="1" dirty="0" err="1">
                <a:solidFill>
                  <a:srgbClr val="7030A0"/>
                </a:solidFill>
                <a:latin typeface="Arial Narrow" panose="020B0606020202030204" pitchFamily="34" charset="0"/>
              </a:rPr>
              <a:t>Ri</a:t>
            </a:r>
            <a:r>
              <a:rPr lang="es-ES" sz="2000" b="1" dirty="0">
                <a:solidFill>
                  <a:srgbClr val="7030A0"/>
                </a:solidFill>
                <a:latin typeface="Arial Narrow" panose="020B0606020202030204" pitchFamily="34" charset="0"/>
              </a:rPr>
              <a:t>=1 Se invierte}</a:t>
            </a:r>
          </a:p>
        </p:txBody>
      </p:sp>
      <p:sp>
        <p:nvSpPr>
          <p:cNvPr id="2" name="Rectángulo 1">
            <a:extLst>
              <a:ext uri="{FF2B5EF4-FFF2-40B4-BE49-F238E27FC236}">
                <a16:creationId xmlns:a16="http://schemas.microsoft.com/office/drawing/2014/main" id="{D7609270-4B1C-4CA5-807D-82785B5D7ABA}"/>
              </a:ext>
            </a:extLst>
          </p:cNvPr>
          <p:cNvSpPr/>
          <p:nvPr/>
        </p:nvSpPr>
        <p:spPr>
          <a:xfrm>
            <a:off x="6509639" y="4130731"/>
            <a:ext cx="5682361" cy="2554545"/>
          </a:xfrm>
          <a:prstGeom prst="rect">
            <a:avLst/>
          </a:prstGeom>
          <a:solidFill>
            <a:schemeClr val="accent2">
              <a:lumMod val="20000"/>
              <a:lumOff val="80000"/>
            </a:schemeClr>
          </a:solidFill>
        </p:spPr>
        <p:txBody>
          <a:bodyPr wrap="square">
            <a:spAutoFit/>
          </a:bodyPr>
          <a:lstStyle/>
          <a:p>
            <a:r>
              <a:rPr lang="es-PE" sz="2000" b="1" dirty="0">
                <a:solidFill>
                  <a:srgbClr val="FF0000"/>
                </a:solidFill>
                <a:latin typeface="Arial Narrow" panose="020B0606020202030204" pitchFamily="34" charset="0"/>
              </a:rPr>
              <a:t>Identificación de las restricciones</a:t>
            </a:r>
          </a:p>
          <a:p>
            <a:r>
              <a:rPr lang="es-PE" sz="2000" b="1" dirty="0">
                <a:latin typeface="Arial Narrow" panose="020B0606020202030204" pitchFamily="34" charset="0"/>
              </a:rPr>
              <a:t>3500T1+2900T2+4000T3+3800T4+4200T5+3600T6+3200T7+3000T8+3700T9+3300T10&lt;=20000</a:t>
            </a:r>
          </a:p>
          <a:p>
            <a:r>
              <a:rPr lang="es-PE" sz="2000" b="1" dirty="0" err="1">
                <a:latin typeface="Arial Narrow" panose="020B0606020202030204" pitchFamily="34" charset="0"/>
              </a:rPr>
              <a:t>R1+R2+R3</a:t>
            </a:r>
            <a:r>
              <a:rPr lang="es-PE" sz="2000" b="1" dirty="0">
                <a:latin typeface="Arial Narrow" panose="020B0606020202030204" pitchFamily="34" charset="0"/>
              </a:rPr>
              <a:t>&lt;=2</a:t>
            </a:r>
          </a:p>
          <a:p>
            <a:r>
              <a:rPr lang="es-PE" sz="2000" b="1" dirty="0">
                <a:latin typeface="Arial Narrow" panose="020B0606020202030204" pitchFamily="34" charset="0"/>
              </a:rPr>
              <a:t>T1+T2+T3-3R1&lt;=0              	</a:t>
            </a:r>
            <a:r>
              <a:rPr lang="es-PE" sz="2000" b="1" dirty="0" err="1">
                <a:solidFill>
                  <a:srgbClr val="FF0000"/>
                </a:solidFill>
                <a:latin typeface="Arial Narrow" panose="020B0606020202030204" pitchFamily="34" charset="0"/>
              </a:rPr>
              <a:t>T1+T2+T3</a:t>
            </a:r>
            <a:r>
              <a:rPr lang="es-PE" sz="2000" b="1" dirty="0">
                <a:solidFill>
                  <a:srgbClr val="FF0000"/>
                </a:solidFill>
                <a:latin typeface="Arial Narrow" panose="020B0606020202030204" pitchFamily="34" charset="0"/>
              </a:rPr>
              <a:t>&lt;= </a:t>
            </a:r>
            <a:r>
              <a:rPr lang="es-PE" sz="2000" b="1" dirty="0" err="1">
                <a:solidFill>
                  <a:srgbClr val="FF0000"/>
                </a:solidFill>
                <a:latin typeface="Arial Narrow" panose="020B0606020202030204" pitchFamily="34" charset="0"/>
              </a:rPr>
              <a:t>3R1</a:t>
            </a:r>
            <a:endParaRPr lang="es-PE" sz="2000" b="1" dirty="0">
              <a:solidFill>
                <a:srgbClr val="FF0000"/>
              </a:solidFill>
              <a:latin typeface="Arial Narrow" panose="020B0606020202030204" pitchFamily="34" charset="0"/>
            </a:endParaRPr>
          </a:p>
          <a:p>
            <a:r>
              <a:rPr lang="es-PE" sz="2000" b="1" dirty="0">
                <a:latin typeface="Arial Narrow" panose="020B0606020202030204" pitchFamily="34" charset="0"/>
              </a:rPr>
              <a:t>T4+T5+T6+T7-4R2&lt;=0        	</a:t>
            </a:r>
            <a:r>
              <a:rPr lang="es-PE" sz="2000" b="1" dirty="0" err="1">
                <a:solidFill>
                  <a:srgbClr val="FF0000"/>
                </a:solidFill>
                <a:latin typeface="Arial Narrow" panose="020B0606020202030204" pitchFamily="34" charset="0"/>
              </a:rPr>
              <a:t>T4+T5+T6+T7</a:t>
            </a:r>
            <a:r>
              <a:rPr lang="es-PE" sz="2000" b="1" dirty="0">
                <a:solidFill>
                  <a:srgbClr val="FF0000"/>
                </a:solidFill>
                <a:latin typeface="Arial Narrow" panose="020B0606020202030204" pitchFamily="34" charset="0"/>
              </a:rPr>
              <a:t>&lt;= </a:t>
            </a:r>
            <a:r>
              <a:rPr lang="es-PE" sz="2000" b="1" dirty="0" err="1">
                <a:solidFill>
                  <a:srgbClr val="FF0000"/>
                </a:solidFill>
                <a:latin typeface="Arial Narrow" panose="020B0606020202030204" pitchFamily="34" charset="0"/>
              </a:rPr>
              <a:t>4R2</a:t>
            </a:r>
            <a:endParaRPr lang="es-PE" sz="2000" b="1" dirty="0">
              <a:solidFill>
                <a:srgbClr val="FF0000"/>
              </a:solidFill>
              <a:latin typeface="Arial Narrow" panose="020B0606020202030204" pitchFamily="34" charset="0"/>
            </a:endParaRPr>
          </a:p>
          <a:p>
            <a:r>
              <a:rPr lang="es-PE" sz="2000" b="1" dirty="0">
                <a:latin typeface="Arial Narrow" panose="020B0606020202030204" pitchFamily="34" charset="0"/>
              </a:rPr>
              <a:t>T8+T9+T10-3R3&lt;=0            	</a:t>
            </a:r>
            <a:r>
              <a:rPr lang="es-PE" sz="2000" b="1" dirty="0">
                <a:solidFill>
                  <a:srgbClr val="FF0000"/>
                </a:solidFill>
                <a:latin typeface="Arial Narrow" panose="020B0606020202030204" pitchFamily="34" charset="0"/>
              </a:rPr>
              <a:t>T8+T9+T10&lt;= 3R3 </a:t>
            </a:r>
          </a:p>
          <a:p>
            <a:r>
              <a:rPr lang="es-PE" sz="2000" b="1" dirty="0">
                <a:latin typeface="Arial Narrow" panose="020B0606020202030204" pitchFamily="34" charset="0"/>
              </a:rPr>
              <a:t>Ti, </a:t>
            </a:r>
            <a:r>
              <a:rPr lang="es-PE" sz="2000" b="1" dirty="0" err="1">
                <a:latin typeface="Arial Narrow" panose="020B0606020202030204" pitchFamily="34" charset="0"/>
              </a:rPr>
              <a:t>Ri</a:t>
            </a:r>
            <a:r>
              <a:rPr lang="es-PE" sz="2000" b="1" dirty="0">
                <a:latin typeface="Arial Narrow" panose="020B0606020202030204" pitchFamily="34" charset="0"/>
              </a:rPr>
              <a:t> &gt;=0, BINARIO</a:t>
            </a:r>
            <a:endParaRPr lang="es-PE" sz="2000" b="1" dirty="0"/>
          </a:p>
        </p:txBody>
      </p:sp>
      <p:sp>
        <p:nvSpPr>
          <p:cNvPr id="3" name="Rectángulo 2">
            <a:extLst>
              <a:ext uri="{FF2B5EF4-FFF2-40B4-BE49-F238E27FC236}">
                <a16:creationId xmlns:a16="http://schemas.microsoft.com/office/drawing/2014/main" id="{F31A5B7C-D31C-46C1-8566-CC1D1BFA65F8}"/>
              </a:ext>
            </a:extLst>
          </p:cNvPr>
          <p:cNvSpPr/>
          <p:nvPr/>
        </p:nvSpPr>
        <p:spPr>
          <a:xfrm>
            <a:off x="6509639" y="2499515"/>
            <a:ext cx="5682361" cy="1631216"/>
          </a:xfrm>
          <a:prstGeom prst="rect">
            <a:avLst/>
          </a:prstGeom>
          <a:solidFill>
            <a:schemeClr val="accent2">
              <a:lumMod val="20000"/>
              <a:lumOff val="80000"/>
            </a:schemeClr>
          </a:solidFill>
        </p:spPr>
        <p:txBody>
          <a:bodyPr wrap="square">
            <a:spAutoFit/>
          </a:bodyPr>
          <a:lstStyle/>
          <a:p>
            <a:r>
              <a:rPr lang="es-ES" sz="2000" b="1" dirty="0">
                <a:solidFill>
                  <a:srgbClr val="FF0000"/>
                </a:solidFill>
                <a:latin typeface="Arial Narrow" panose="020B0606020202030204" pitchFamily="34" charset="0"/>
              </a:rPr>
              <a:t>Identificación de la función objetivo</a:t>
            </a:r>
          </a:p>
          <a:p>
            <a:r>
              <a:rPr lang="es-PE" sz="2000" b="1" dirty="0">
                <a:latin typeface="Arial Narrow" panose="020B0606020202030204" pitchFamily="34" charset="0"/>
              </a:rPr>
              <a:t>MAX (0,092)</a:t>
            </a:r>
            <a:r>
              <a:rPr lang="es-PE" sz="2000" b="1" dirty="0" err="1">
                <a:latin typeface="Arial Narrow" panose="020B0606020202030204" pitchFamily="34" charset="0"/>
              </a:rPr>
              <a:t>3500T1</a:t>
            </a:r>
            <a:r>
              <a:rPr lang="es-PE" sz="2000" b="1" dirty="0">
                <a:latin typeface="Arial Narrow" panose="020B0606020202030204" pitchFamily="34" charset="0"/>
              </a:rPr>
              <a:t>+(0,10)</a:t>
            </a:r>
            <a:r>
              <a:rPr lang="es-PE" sz="2000" b="1" dirty="0" err="1">
                <a:latin typeface="Arial Narrow" panose="020B0606020202030204" pitchFamily="34" charset="0"/>
              </a:rPr>
              <a:t>2900T2</a:t>
            </a:r>
            <a:r>
              <a:rPr lang="es-PE" sz="2000" b="1" dirty="0">
                <a:latin typeface="Arial Narrow" panose="020B0606020202030204" pitchFamily="34" charset="0"/>
              </a:rPr>
              <a:t>+(0,084)</a:t>
            </a:r>
            <a:r>
              <a:rPr lang="es-PE" sz="2000" b="1" dirty="0" err="1">
                <a:latin typeface="Arial Narrow" panose="020B0606020202030204" pitchFamily="34" charset="0"/>
              </a:rPr>
              <a:t>4000T3</a:t>
            </a:r>
            <a:r>
              <a:rPr lang="es-PE" sz="2000" b="1" dirty="0">
                <a:latin typeface="Arial Narrow" panose="020B0606020202030204" pitchFamily="34" charset="0"/>
              </a:rPr>
              <a:t>+</a:t>
            </a:r>
          </a:p>
          <a:p>
            <a:r>
              <a:rPr lang="es-PE" sz="2000" b="1" dirty="0">
                <a:latin typeface="Arial Narrow" panose="020B0606020202030204" pitchFamily="34" charset="0"/>
              </a:rPr>
              <a:t>         (0,086)</a:t>
            </a:r>
            <a:r>
              <a:rPr lang="es-PE" sz="2000" b="1" dirty="0" err="1">
                <a:latin typeface="Arial Narrow" panose="020B0606020202030204" pitchFamily="34" charset="0"/>
              </a:rPr>
              <a:t>3800T4</a:t>
            </a:r>
            <a:r>
              <a:rPr lang="es-PE" sz="2000" b="1" dirty="0">
                <a:latin typeface="Arial Narrow" panose="020B0606020202030204" pitchFamily="34" charset="0"/>
              </a:rPr>
              <a:t>+(0,082)</a:t>
            </a:r>
            <a:r>
              <a:rPr lang="es-PE" sz="2000" b="1" dirty="0" err="1">
                <a:latin typeface="Arial Narrow" panose="020B0606020202030204" pitchFamily="34" charset="0"/>
              </a:rPr>
              <a:t>4200T5</a:t>
            </a:r>
            <a:r>
              <a:rPr lang="es-PE" sz="2000" b="1" dirty="0">
                <a:latin typeface="Arial Narrow" panose="020B0606020202030204" pitchFamily="34" charset="0"/>
              </a:rPr>
              <a:t>+(0,092)</a:t>
            </a:r>
            <a:r>
              <a:rPr lang="es-PE" sz="2000" b="1" dirty="0" err="1">
                <a:latin typeface="Arial Narrow" panose="020B0606020202030204" pitchFamily="34" charset="0"/>
              </a:rPr>
              <a:t>3600T6</a:t>
            </a:r>
            <a:r>
              <a:rPr lang="es-PE" sz="2000" b="1" dirty="0">
                <a:latin typeface="Arial Narrow" panose="020B0606020202030204" pitchFamily="34" charset="0"/>
              </a:rPr>
              <a:t>+</a:t>
            </a:r>
          </a:p>
          <a:p>
            <a:r>
              <a:rPr lang="es-PE" sz="2000" b="1" dirty="0">
                <a:latin typeface="Arial Narrow" panose="020B0606020202030204" pitchFamily="34" charset="0"/>
              </a:rPr>
              <a:t>         (0,096)</a:t>
            </a:r>
            <a:r>
              <a:rPr lang="es-PE" sz="2000" b="1" dirty="0" err="1">
                <a:latin typeface="Arial Narrow" panose="020B0606020202030204" pitchFamily="34" charset="0"/>
              </a:rPr>
              <a:t>3200T7</a:t>
            </a:r>
            <a:r>
              <a:rPr lang="es-PE" sz="2000" b="1" dirty="0">
                <a:latin typeface="Arial Narrow" panose="020B0606020202030204" pitchFamily="34" charset="0"/>
              </a:rPr>
              <a:t>+(0,099)</a:t>
            </a:r>
            <a:r>
              <a:rPr lang="es-PE" sz="2000" b="1" dirty="0" err="1">
                <a:latin typeface="Arial Narrow" panose="020B0606020202030204" pitchFamily="34" charset="0"/>
              </a:rPr>
              <a:t>3000T8</a:t>
            </a:r>
            <a:r>
              <a:rPr lang="es-PE" sz="2000" b="1" dirty="0">
                <a:latin typeface="Arial Narrow" panose="020B0606020202030204" pitchFamily="34" charset="0"/>
              </a:rPr>
              <a:t>+(0,089)</a:t>
            </a:r>
            <a:r>
              <a:rPr lang="es-PE" sz="2000" b="1" dirty="0" err="1">
                <a:latin typeface="Arial Narrow" panose="020B0606020202030204" pitchFamily="34" charset="0"/>
              </a:rPr>
              <a:t>3700T9</a:t>
            </a:r>
            <a:r>
              <a:rPr lang="es-PE" sz="2000" b="1" dirty="0">
                <a:latin typeface="Arial Narrow" panose="020B0606020202030204" pitchFamily="34" charset="0"/>
              </a:rPr>
              <a:t>+</a:t>
            </a:r>
          </a:p>
          <a:p>
            <a:r>
              <a:rPr lang="es-PE" sz="2000" b="1" dirty="0">
                <a:latin typeface="Arial Narrow" panose="020B0606020202030204" pitchFamily="34" charset="0"/>
              </a:rPr>
              <a:t>         (0,094)</a:t>
            </a:r>
            <a:r>
              <a:rPr lang="es-PE" sz="2000" b="1" dirty="0" err="1">
                <a:latin typeface="Arial Narrow" panose="020B0606020202030204" pitchFamily="34" charset="0"/>
              </a:rPr>
              <a:t>3300T10</a:t>
            </a:r>
            <a:endParaRPr lang="es-PE" sz="2000" b="1" dirty="0">
              <a:latin typeface="Arial Narrow" panose="020B0606020202030204" pitchFamily="34" charset="0"/>
            </a:endParaRPr>
          </a:p>
        </p:txBody>
      </p:sp>
      <p:sp>
        <p:nvSpPr>
          <p:cNvPr id="4" name="Rectángulo 3">
            <a:extLst>
              <a:ext uri="{FF2B5EF4-FFF2-40B4-BE49-F238E27FC236}">
                <a16:creationId xmlns:a16="http://schemas.microsoft.com/office/drawing/2014/main" id="{00E6B37E-9FE5-B3BD-1B3C-6076117DDC0E}"/>
              </a:ext>
            </a:extLst>
          </p:cNvPr>
          <p:cNvSpPr/>
          <p:nvPr/>
        </p:nvSpPr>
        <p:spPr>
          <a:xfrm>
            <a:off x="71892" y="1244454"/>
            <a:ext cx="6024108" cy="1463542"/>
          </a:xfrm>
          <a:prstGeom prst="rect">
            <a:avLst/>
          </a:prstGeom>
          <a:solidFill>
            <a:schemeClr val="accent4">
              <a:lumMod val="40000"/>
              <a:lumOff val="60000"/>
            </a:schemeClr>
          </a:solidFill>
        </p:spPr>
        <p:txBody>
          <a:bodyPr wrap="square">
            <a:spAutoFit/>
          </a:bodyPr>
          <a:lstStyle/>
          <a:p>
            <a:pPr marL="88900" marR="66040" algn="just">
              <a:lnSpc>
                <a:spcPct val="99000"/>
              </a:lnSpc>
              <a:spcAft>
                <a:spcPts val="0"/>
              </a:spcAft>
            </a:pP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inversionista </a:t>
            </a:r>
            <a:r>
              <a:rPr lang="es-PE" dirty="0">
                <a:latin typeface="Arial Narrow" panose="020B0606020202030204" pitchFamily="34" charset="0"/>
                <a:ea typeface="Times New Roman" panose="02020603050405020304" pitchFamily="18" charset="0"/>
                <a:cs typeface="Times New Roman" panose="02020603050405020304" pitchFamily="18" charset="0"/>
              </a:rPr>
              <a:t>disp</a:t>
            </a:r>
            <a:r>
              <a:rPr lang="es-PE" spc="15" dirty="0">
                <a:latin typeface="Arial Narrow" panose="020B0606020202030204" pitchFamily="34" charset="0"/>
                <a:ea typeface="Times New Roman" panose="02020603050405020304" pitchFamily="18" charset="0"/>
                <a:cs typeface="Times New Roman" panose="02020603050405020304" pitchFamily="18" charset="0"/>
              </a:rPr>
              <a:t>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2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2</a:t>
            </a:r>
            <a:r>
              <a:rPr lang="es-PE" dirty="0">
                <a:latin typeface="Arial Narrow" panose="020B0606020202030204" pitchFamily="34" charset="0"/>
                <a:ea typeface="Times New Roman" panose="02020603050405020304" pitchFamily="18" charset="0"/>
                <a:cs typeface="Times New Roman" panose="02020603050405020304" pitchFamily="18" charset="0"/>
              </a:rPr>
              <a:t>0</a:t>
            </a:r>
            <a:r>
              <a:rPr lang="es-PE" spc="-5" dirty="0">
                <a:latin typeface="Arial Narrow" panose="020B0606020202030204" pitchFamily="34" charset="0"/>
                <a:ea typeface="Times New Roman" panose="02020603050405020304" pitchFamily="18" charset="0"/>
                <a:cs typeface="Times New Roman" panose="02020603050405020304" pitchFamily="18" charset="0"/>
              </a:rPr>
              <a:t>0</a:t>
            </a:r>
            <a:r>
              <a:rPr lang="es-PE" spc="5" dirty="0">
                <a:latin typeface="Arial Narrow" panose="020B0606020202030204" pitchFamily="34" charset="0"/>
                <a:ea typeface="Times New Roman" panose="02020603050405020304" pitchFamily="18" charset="0"/>
                <a:cs typeface="Times New Roman" panose="02020603050405020304" pitchFamily="18" charset="0"/>
              </a:rPr>
              <a:t>0</a:t>
            </a:r>
            <a:r>
              <a:rPr lang="es-PE" spc="-5" dirty="0">
                <a:latin typeface="Arial Narrow" panose="020B0606020202030204" pitchFamily="34" charset="0"/>
                <a:ea typeface="Times New Roman" panose="02020603050405020304" pitchFamily="18" charset="0"/>
                <a:cs typeface="Times New Roman" panose="02020603050405020304" pitchFamily="18" charset="0"/>
              </a:rPr>
              <a:t>0</a:t>
            </a:r>
            <a:r>
              <a:rPr lang="es-PE" dirty="0">
                <a:latin typeface="Arial Narrow" panose="020B0606020202030204" pitchFamily="34" charset="0"/>
                <a:ea typeface="Times New Roman" panose="02020603050405020304" pitchFamily="18" charset="0"/>
                <a:cs typeface="Times New Roman" panose="02020603050405020304" pitchFamily="18" charset="0"/>
              </a:rPr>
              <a:t>,</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10" dirty="0">
                <a:latin typeface="Arial Narrow" panose="020B0606020202030204" pitchFamily="34" charset="0"/>
                <a:ea typeface="Times New Roman" panose="02020603050405020304" pitchFamily="18" charset="0"/>
                <a:cs typeface="Times New Roman" panose="02020603050405020304" pitchFamily="18" charset="0"/>
              </a:rPr>
              <a:t>o</a:t>
            </a:r>
            <a:r>
              <a:rPr lang="es-PE" dirty="0">
                <a:latin typeface="Arial Narrow" panose="020B0606020202030204" pitchFamily="34" charset="0"/>
                <a:ea typeface="Times New Roman" panose="02020603050405020304" pitchFamily="18" charset="0"/>
                <a:cs typeface="Times New Roman" panose="02020603050405020304" pitchFamily="18" charset="0"/>
              </a:rPr>
              <a:t>s </a:t>
            </a:r>
            <a:r>
              <a:rPr lang="es-PE" spc="10"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sea</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d</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sti</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rlos</a:t>
            </a:r>
            <a:r>
              <a:rPr lang="es-PE" spc="-3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a</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c</a:t>
            </a:r>
            <a:r>
              <a:rPr lang="es-PE" dirty="0">
                <a:latin typeface="Arial Narrow" panose="020B0606020202030204" pitchFamily="34" charset="0"/>
                <a:ea typeface="Times New Roman" panose="02020603050405020304" pitchFamily="18" charset="0"/>
                <a:cs typeface="Times New Roman" panose="02020603050405020304" pitchFamily="18" charset="0"/>
              </a:rPr>
              <a:t>om</a:t>
            </a:r>
            <a:r>
              <a:rPr lang="es-PE" spc="5" dirty="0">
                <a:latin typeface="Arial Narrow" panose="020B0606020202030204" pitchFamily="34" charset="0"/>
                <a:ea typeface="Times New Roman" panose="02020603050405020304" pitchFamily="18" charset="0"/>
                <a:cs typeface="Times New Roman" panose="02020603050405020304" pitchFamily="18" charset="0"/>
              </a:rPr>
              <a:t>p</a:t>
            </a:r>
            <a:r>
              <a:rPr lang="es-PE" dirty="0">
                <a:latin typeface="Arial Narrow" panose="020B0606020202030204" pitchFamily="34" charset="0"/>
                <a:ea typeface="Times New Roman" panose="02020603050405020304" pitchFamily="18" charset="0"/>
                <a:cs typeface="Times New Roman" panose="02020603050405020304" pitchFamily="18" charset="0"/>
              </a:rPr>
              <a:t>ra</a:t>
            </a:r>
            <a:r>
              <a:rPr lang="es-PE" spc="-2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5" dirty="0">
                <a:latin typeface="Arial Narrow" panose="020B0606020202030204" pitchFamily="34" charset="0"/>
                <a:ea typeface="Times New Roman" panose="02020603050405020304" pitchFamily="18" charset="0"/>
                <a:cs typeface="Times New Roman" panose="02020603050405020304" pitchFamily="18" charset="0"/>
              </a:rPr>
              <a:t>te</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3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spc="-5" dirty="0">
                <a:latin typeface="Arial Narrow" panose="020B0606020202030204" pitchFamily="34" charset="0"/>
                <a:ea typeface="Times New Roman" panose="02020603050405020304" pitchFamily="18" charset="0"/>
                <a:cs typeface="Times New Roman" panose="02020603050405020304" pitchFamily="18" charset="0"/>
              </a:rPr>
              <a:t>cc</a:t>
            </a:r>
            <a:r>
              <a:rPr lang="es-PE" dirty="0">
                <a:latin typeface="Arial Narrow" panose="020B0606020202030204" pitchFamily="34" charset="0"/>
                <a:ea typeface="Times New Roman" panose="02020603050405020304" pitchFamily="18" charset="0"/>
                <a:cs typeface="Times New Roman" panose="02020603050405020304" pitchFamily="18" charset="0"/>
              </a:rPr>
              <a:t>io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10" dirty="0">
                <a:latin typeface="Arial Narrow" panose="020B0606020202030204" pitchFamily="34" charset="0"/>
                <a:ea typeface="Times New Roman" panose="02020603050405020304" pitchFamily="18" charset="0"/>
                <a:cs typeface="Times New Roman" panose="02020603050405020304" pitchFamily="18" charset="0"/>
              </a:rPr>
              <a:t>s</a:t>
            </a:r>
            <a:r>
              <a:rPr lang="es-PE" dirty="0">
                <a:latin typeface="Arial Narrow" panose="020B0606020202030204" pitchFamily="34" charset="0"/>
                <a:ea typeface="Times New Roman" panose="02020603050405020304" pitchFamily="18" charset="0"/>
                <a:cs typeface="Times New Roman" panose="02020603050405020304" pitchFamily="18" charset="0"/>
              </a:rPr>
              <a:t>,</a:t>
            </a:r>
            <a:r>
              <a:rPr lang="es-PE" spc="-11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quien </a:t>
            </a:r>
            <a:r>
              <a:rPr lang="es-PE" dirty="0">
                <a:latin typeface="Arial Narrow" panose="020B0606020202030204" pitchFamily="34" charset="0"/>
                <a:ea typeface="Times New Roman" panose="02020603050405020304" pitchFamily="18" charset="0"/>
                <a:cs typeface="Times New Roman" panose="02020603050405020304" pitchFamily="18" charset="0"/>
              </a:rPr>
              <a:t>dispone</a:t>
            </a:r>
            <a:r>
              <a:rPr lang="es-PE" spc="-10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1</a:t>
            </a:r>
            <a:r>
              <a:rPr lang="es-PE" dirty="0">
                <a:latin typeface="Arial Narrow" panose="020B0606020202030204" pitchFamily="34" charset="0"/>
                <a:ea typeface="Times New Roman" panose="02020603050405020304" pitchFamily="18" charset="0"/>
                <a:cs typeface="Times New Roman" panose="02020603050405020304" pitchFamily="18" charset="0"/>
              </a:rPr>
              <a:t>0</a:t>
            </a:r>
            <a:r>
              <a:rPr lang="es-PE"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lt</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rna</a:t>
            </a:r>
            <a:r>
              <a:rPr lang="es-PE" spc="5" dirty="0">
                <a:latin typeface="Arial Narrow" panose="020B0606020202030204" pitchFamily="34" charset="0"/>
                <a:ea typeface="Times New Roman" panose="02020603050405020304" pitchFamily="18" charset="0"/>
                <a:cs typeface="Times New Roman" panose="02020603050405020304" pitchFamily="18" charset="0"/>
              </a:rPr>
              <a:t>t</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5" dirty="0">
                <a:latin typeface="Arial Narrow" panose="020B0606020202030204" pitchFamily="34" charset="0"/>
                <a:ea typeface="Times New Roman" panose="02020603050405020304" pitchFamily="18" charset="0"/>
                <a:cs typeface="Times New Roman" panose="02020603050405020304" pitchFamily="18" charset="0"/>
              </a:rPr>
              <a:t>v</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1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L</a:t>
            </a:r>
            <a:r>
              <a:rPr lang="es-PE" dirty="0">
                <a:latin typeface="Arial Narrow" panose="020B0606020202030204" pitchFamily="34" charset="0"/>
                <a:ea typeface="Times New Roman" panose="02020603050405020304" pitchFamily="18" charset="0"/>
                <a:cs typeface="Times New Roman" panose="02020603050405020304" pitchFamily="18" charset="0"/>
              </a:rPr>
              <a:t>a</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ve</a:t>
            </a:r>
            <a:r>
              <a:rPr lang="es-PE" dirty="0">
                <a:latin typeface="Arial Narrow" panose="020B0606020202030204" pitchFamily="34" charset="0"/>
                <a:ea typeface="Times New Roman" panose="02020603050405020304" pitchFamily="18" charset="0"/>
                <a:cs typeface="Times New Roman" panose="02020603050405020304" pitchFamily="18" charset="0"/>
              </a:rPr>
              <a:t>rsión</a:t>
            </a:r>
            <a:r>
              <a:rPr lang="es-PE" spc="-1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por</a:t>
            </a:r>
            <a:r>
              <a:rPr lang="es-PE" spc="-8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5" dirty="0">
                <a:latin typeface="Arial Narrow" panose="020B0606020202030204" pitchFamily="34" charset="0"/>
                <a:ea typeface="Times New Roman" panose="02020603050405020304" pitchFamily="18" charset="0"/>
                <a:cs typeface="Times New Roman" panose="02020603050405020304" pitchFamily="18" charset="0"/>
              </a:rPr>
              <a:t>t</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a:t>
            </a:r>
            <a:r>
              <a:rPr lang="es-PE" spc="-7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t</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bilid</a:t>
            </a:r>
            <a:r>
              <a:rPr lang="es-PE" spc="10"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d</a:t>
            </a:r>
            <a:r>
              <a:rPr lang="es-PE" spc="-12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8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da</a:t>
            </a:r>
            <a:r>
              <a:rPr lang="es-PE" spc="-8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5" dirty="0">
                <a:latin typeface="Arial Narrow" panose="020B0606020202030204" pitchFamily="34" charset="0"/>
                <a:ea typeface="Times New Roman" panose="02020603050405020304" pitchFamily="18" charset="0"/>
                <a:cs typeface="Times New Roman" panose="02020603050405020304" pitchFamily="18" charset="0"/>
              </a:rPr>
              <a:t>t</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1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de</a:t>
            </a:r>
            <a:r>
              <a:rPr lang="es-PE" spc="-7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spc="-5" dirty="0">
                <a:latin typeface="Arial Narrow" panose="020B0606020202030204" pitchFamily="34" charset="0"/>
                <a:ea typeface="Times New Roman" panose="02020603050405020304" pitchFamily="18" charset="0"/>
                <a:cs typeface="Times New Roman" panose="02020603050405020304" pitchFamily="18" charset="0"/>
              </a:rPr>
              <a:t>cc</a:t>
            </a:r>
            <a:r>
              <a:rPr lang="es-PE" dirty="0">
                <a:latin typeface="Arial Narrow" panose="020B0606020202030204" pitchFamily="34" charset="0"/>
                <a:ea typeface="Times New Roman" panose="02020603050405020304" pitchFamily="18" charset="0"/>
                <a:cs typeface="Times New Roman" panose="02020603050405020304" pitchFamily="18" charset="0"/>
              </a:rPr>
              <a:t>io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10" dirty="0">
                <a:latin typeface="Arial Narrow" panose="020B0606020202030204" pitchFamily="34" charset="0"/>
                <a:ea typeface="Times New Roman" panose="02020603050405020304" pitchFamily="18" charset="0"/>
                <a:cs typeface="Times New Roman" panose="02020603050405020304" pitchFamily="18" charset="0"/>
              </a:rPr>
              <a:t>s</a:t>
            </a:r>
            <a:r>
              <a:rPr lang="es-PE" dirty="0">
                <a:latin typeface="Arial Narrow" panose="020B0606020202030204" pitchFamily="34" charset="0"/>
                <a:ea typeface="Times New Roman" panose="02020603050405020304" pitchFamily="18" charset="0"/>
                <a:cs typeface="Times New Roman" panose="02020603050405020304" pitchFamily="18" charset="0"/>
              </a:rPr>
              <a:t> y</a:t>
            </a:r>
            <a:r>
              <a:rPr lang="es-PE"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10"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bro</a:t>
            </a:r>
            <a:r>
              <a:rPr lang="es-PE"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que</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1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te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5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c</a:t>
            </a:r>
            <a:r>
              <a:rPr lang="es-PE" dirty="0">
                <a:latin typeface="Arial Narrow" panose="020B0606020202030204" pitchFamily="34" charset="0"/>
                <a:ea typeface="Times New Roman" panose="02020603050405020304" pitchFamily="18" charset="0"/>
                <a:cs typeface="Times New Roman" panose="02020603050405020304" pitchFamily="18" charset="0"/>
              </a:rPr>
              <a:t>om</a:t>
            </a:r>
            <a:r>
              <a:rPr lang="es-PE" spc="5" dirty="0">
                <a:latin typeface="Arial Narrow" panose="020B0606020202030204" pitchFamily="34" charset="0"/>
                <a:ea typeface="Times New Roman" panose="02020603050405020304" pitchFamily="18" charset="0"/>
                <a:cs typeface="Times New Roman" panose="02020603050405020304" pitchFamily="18" charset="0"/>
              </a:rPr>
              <a:t>pa</a:t>
            </a:r>
            <a:r>
              <a:rPr lang="es-PE" spc="-5" dirty="0">
                <a:latin typeface="Arial Narrow" panose="020B0606020202030204" pitchFamily="34" charset="0"/>
                <a:ea typeface="Times New Roman" panose="02020603050405020304" pitchFamily="18" charset="0"/>
                <a:cs typeface="Times New Roman" panose="02020603050405020304" pitchFamily="18" charset="0"/>
              </a:rPr>
              <a:t>ñ</a:t>
            </a:r>
            <a:r>
              <a:rPr lang="es-PE" dirty="0">
                <a:latin typeface="Arial Narrow" panose="020B0606020202030204" pitchFamily="34" charset="0"/>
                <a:ea typeface="Times New Roman" panose="02020603050405020304" pitchFamily="18" charset="0"/>
                <a:cs typeface="Times New Roman" panose="02020603050405020304" pitchFamily="18" charset="0"/>
              </a:rPr>
              <a:t>í</a:t>
            </a:r>
            <a:r>
              <a:rPr lang="es-PE" spc="2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e</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o</a:t>
            </a:r>
            <a:r>
              <a:rPr lang="es-PE" spc="-5" dirty="0">
                <a:latin typeface="Arial Narrow" panose="020B0606020202030204" pitchFamily="34" charset="0"/>
                <a:ea typeface="Times New Roman" panose="02020603050405020304" pitchFamily="18" charset="0"/>
                <a:cs typeface="Times New Roman" panose="02020603050405020304" pitchFamily="18" charset="0"/>
              </a:rPr>
              <a:t>f</a:t>
            </a:r>
            <a:r>
              <a:rPr lang="es-PE"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c</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4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pc="-5" dirty="0">
                <a:latin typeface="Arial Narrow" panose="020B0606020202030204" pitchFamily="34" charset="0"/>
                <a:ea typeface="Times New Roman" panose="02020603050405020304" pitchFamily="18" charset="0"/>
                <a:cs typeface="Times New Roman" panose="02020603050405020304" pitchFamily="18" charset="0"/>
              </a:rPr>
              <a:t>cc</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a:t>
            </a:r>
            <a:r>
              <a:rPr lang="es-PE" spc="-3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se</a:t>
            </a:r>
            <a:r>
              <a:rPr lang="es-PE" spc="-10"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p</a:t>
            </a:r>
            <a:r>
              <a:rPr lang="es-PE" spc="15" dirty="0">
                <a:latin typeface="Arial Narrow" panose="020B0606020202030204" pitchFamily="34" charset="0"/>
                <a:ea typeface="Times New Roman" panose="02020603050405020304" pitchFamily="18" charset="0"/>
                <a:cs typeface="Times New Roman" panose="02020603050405020304" pitchFamily="18" charset="0"/>
              </a:rPr>
              <a:t>r</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se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t</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5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dirty="0">
                <a:latin typeface="Arial Narrow" panose="020B0606020202030204" pitchFamily="34" charset="0"/>
                <a:ea typeface="Times New Roman" panose="02020603050405020304" pitchFamily="18" charset="0"/>
                <a:cs typeface="Times New Roman" panose="02020603050405020304" pitchFamily="18" charset="0"/>
              </a:rPr>
              <a:t>n</a:t>
            </a:r>
            <a:r>
              <a:rPr lang="es-PE" spc="-1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la</a:t>
            </a:r>
            <a:r>
              <a:rPr lang="es-PE" spc="-5" dirty="0">
                <a:latin typeface="Arial Narrow" panose="020B0606020202030204" pitchFamily="34" charset="0"/>
                <a:ea typeface="Times New Roman" panose="02020603050405020304" pitchFamily="18" charset="0"/>
                <a:cs typeface="Times New Roman" panose="02020603050405020304" pitchFamily="18" charset="0"/>
              </a:rPr>
              <a:t> </a:t>
            </a:r>
            <a:r>
              <a:rPr lang="es-PE" dirty="0">
                <a:latin typeface="Arial Narrow" panose="020B0606020202030204" pitchFamily="34" charset="0"/>
                <a:ea typeface="Times New Roman" panose="02020603050405020304" pitchFamily="18" charset="0"/>
                <a:cs typeface="Times New Roman" panose="02020603050405020304" pitchFamily="18" charset="0"/>
              </a:rPr>
              <a:t>si</a:t>
            </a:r>
            <a:r>
              <a:rPr lang="es-PE" spc="10" dirty="0">
                <a:latin typeface="Arial Narrow" panose="020B0606020202030204" pitchFamily="34" charset="0"/>
                <a:ea typeface="Times New Roman" panose="02020603050405020304" pitchFamily="18" charset="0"/>
                <a:cs typeface="Times New Roman" panose="02020603050405020304" pitchFamily="18" charset="0"/>
              </a:rPr>
              <a:t>g</a:t>
            </a:r>
            <a:r>
              <a:rPr lang="es-PE" spc="-5" dirty="0">
                <a:latin typeface="Arial Narrow" panose="020B0606020202030204" pitchFamily="34" charset="0"/>
                <a:ea typeface="Times New Roman" panose="02020603050405020304" pitchFamily="18" charset="0"/>
                <a:cs typeface="Times New Roman" panose="02020603050405020304" pitchFamily="18" charset="0"/>
              </a:rPr>
              <a:t>u</a:t>
            </a:r>
            <a:r>
              <a:rPr lang="es-PE" dirty="0">
                <a:latin typeface="Arial Narrow" panose="020B0606020202030204" pitchFamily="34" charset="0"/>
                <a:ea typeface="Times New Roman" panose="02020603050405020304" pitchFamily="18" charset="0"/>
                <a:cs typeface="Times New Roman" panose="02020603050405020304" pitchFamily="18" charset="0"/>
              </a:rPr>
              <a:t>i</a:t>
            </a:r>
            <a:r>
              <a:rPr lang="es-PE" spc="5" dirty="0">
                <a:latin typeface="Arial Narrow" panose="020B0606020202030204" pitchFamily="34" charset="0"/>
                <a:ea typeface="Times New Roman" panose="02020603050405020304" pitchFamily="18" charset="0"/>
                <a:cs typeface="Times New Roman" panose="02020603050405020304" pitchFamily="18" charset="0"/>
              </a:rPr>
              <a:t>e</a:t>
            </a:r>
            <a:r>
              <a:rPr lang="es-PE" spc="-5" dirty="0">
                <a:latin typeface="Arial Narrow" panose="020B0606020202030204" pitchFamily="34" charset="0"/>
                <a:ea typeface="Times New Roman" panose="02020603050405020304" pitchFamily="18" charset="0"/>
                <a:cs typeface="Times New Roman" panose="02020603050405020304" pitchFamily="18" charset="0"/>
              </a:rPr>
              <a:t>n</a:t>
            </a:r>
            <a:r>
              <a:rPr lang="es-PE" dirty="0">
                <a:latin typeface="Arial Narrow" panose="020B0606020202030204" pitchFamily="34" charset="0"/>
                <a:ea typeface="Times New Roman" panose="02020603050405020304" pitchFamily="18" charset="0"/>
                <a:cs typeface="Times New Roman" panose="02020603050405020304" pitchFamily="18" charset="0"/>
              </a:rPr>
              <a:t>te</a:t>
            </a:r>
            <a:r>
              <a:rPr lang="es-PE"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pc="5" dirty="0">
                <a:latin typeface="Arial Narrow" panose="020B0606020202030204" pitchFamily="34" charset="0"/>
                <a:ea typeface="Times New Roman" panose="02020603050405020304" pitchFamily="18" charset="0"/>
                <a:cs typeface="Times New Roman" panose="02020603050405020304" pitchFamily="18" charset="0"/>
              </a:rPr>
              <a:t>ta</a:t>
            </a:r>
            <a:r>
              <a:rPr lang="es-PE" dirty="0">
                <a:latin typeface="Arial Narrow" panose="020B0606020202030204" pitchFamily="34" charset="0"/>
                <a:ea typeface="Times New Roman" panose="02020603050405020304" pitchFamily="18" charset="0"/>
                <a:cs typeface="Times New Roman" panose="02020603050405020304" pitchFamily="18" charset="0"/>
              </a:rPr>
              <a:t>bl</a:t>
            </a:r>
            <a:r>
              <a:rPr lang="es-PE" spc="5" dirty="0">
                <a:latin typeface="Arial Narrow" panose="020B0606020202030204" pitchFamily="34" charset="0"/>
                <a:ea typeface="Times New Roman" panose="02020603050405020304" pitchFamily="18" charset="0"/>
                <a:cs typeface="Times New Roman" panose="02020603050405020304" pitchFamily="18" charset="0"/>
              </a:rPr>
              <a:t>a</a:t>
            </a:r>
            <a:r>
              <a:rPr lang="es-PE" dirty="0">
                <a:latin typeface="Arial Narrow" panose="020B0606020202030204" pitchFamily="34" charset="0"/>
                <a:ea typeface="Times New Roman" panose="02020603050405020304" pitchFamily="18" charset="0"/>
                <a:cs typeface="Times New Roman" panose="02020603050405020304" pitchFamily="18" charset="0"/>
              </a:rPr>
              <a:t>:</a:t>
            </a:r>
            <a:endParaRPr lang="es-PE" sz="2400" dirty="0">
              <a:effectLst/>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8" name="Rectángulo 7">
            <a:extLst>
              <a:ext uri="{FF2B5EF4-FFF2-40B4-BE49-F238E27FC236}">
                <a16:creationId xmlns:a16="http://schemas.microsoft.com/office/drawing/2014/main" id="{36FE330B-DAA5-6975-CF54-88F36C740CE7}"/>
              </a:ext>
            </a:extLst>
          </p:cNvPr>
          <p:cNvSpPr/>
          <p:nvPr/>
        </p:nvSpPr>
        <p:spPr>
          <a:xfrm>
            <a:off x="77638" y="3536846"/>
            <a:ext cx="6018361" cy="3046988"/>
          </a:xfrm>
          <a:prstGeom prst="rect">
            <a:avLst/>
          </a:prstGeom>
          <a:solidFill>
            <a:schemeClr val="accent4">
              <a:lumMod val="40000"/>
              <a:lumOff val="60000"/>
            </a:schemeClr>
          </a:solidFill>
        </p:spPr>
        <p:txBody>
          <a:bodyPr wrap="square">
            <a:spAutoFit/>
          </a:bodyPr>
          <a:lstStyle/>
          <a:p>
            <a:pPr marR="74295" algn="just">
              <a:spcBef>
                <a:spcPts val="125"/>
              </a:spcBef>
              <a:spcAft>
                <a:spcPts val="0"/>
              </a:spcAft>
            </a:pP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Es</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nar</a:t>
            </a:r>
            <a:r>
              <a:rPr lang="es-PE" sz="1600" b="1" u="heavy" spc="15"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o 1: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inversionista</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sol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dquirir</a:t>
            </a:r>
            <a:r>
              <a:rPr lang="es-PE" sz="1600"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tipo</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6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ó</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a:t>
            </a:r>
            <a:r>
              <a:rPr lang="es-PE" sz="1600" spc="5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y</a:t>
            </a:r>
            <a:r>
              <a:rPr lang="es-PE" sz="1600" spc="6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dirty="0">
                <a:latin typeface="Arial Narrow" panose="020B0606020202030204" pitchFamily="34" charset="0"/>
                <a:ea typeface="Times New Roman" panose="02020603050405020304" pitchFamily="18" charset="0"/>
                <a:cs typeface="Times New Roman" panose="02020603050405020304" pitchFamily="18" charset="0"/>
              </a:rPr>
              <a:t>or</a:t>
            </a:r>
            <a:r>
              <a:rPr lang="es-PE" sz="1600" spc="5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om</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ó</a:t>
            </a:r>
            <a:r>
              <a:rPr lang="es-PE" sz="1600" dirty="0">
                <a:latin typeface="Arial Narrow" panose="020B0606020202030204" pitchFamily="34" charset="0"/>
                <a:ea typeface="Times New Roman" panose="02020603050405020304" pitchFamily="18" charset="0"/>
                <a:cs typeface="Times New Roman" panose="02020603050405020304" pitchFamily="18" charset="0"/>
              </a:rPr>
              <a:t>n de</a:t>
            </a:r>
            <a:r>
              <a:rPr lang="es-PE" sz="1600" spc="7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xp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f</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z</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a lo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á</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be</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irir</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2</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ot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por</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rub</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p>
          <a:p>
            <a:pPr algn="just">
              <a:spcAft>
                <a:spcPts val="0"/>
              </a:spcAft>
            </a:pP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 F</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le</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mod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lo</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gr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ión</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bina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a:t>
            </a:r>
            <a:r>
              <a:rPr lang="es-PE" sz="1600"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dirty="0">
                <a:latin typeface="Arial Narrow" panose="020B0606020202030204" pitchFamily="34" charset="0"/>
                <a:ea typeface="Times New Roman" panose="02020603050405020304" pitchFamily="18" charset="0"/>
                <a:cs typeface="Times New Roman" panose="02020603050405020304" pitchFamily="18" charset="0"/>
              </a:rPr>
              <a:t>ita</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qué</a:t>
            </a:r>
            <a:r>
              <a:rPr lang="es-PE" sz="1600" spc="8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b</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dquirir</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ob</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má</a:t>
            </a:r>
            <a:r>
              <a:rPr lang="es-PE" sz="1600" dirty="0">
                <a:latin typeface="Arial Narrow" panose="020B0606020202030204" pitchFamily="34" charset="0"/>
                <a:ea typeface="Times New Roman" panose="02020603050405020304" pitchFamily="18" charset="0"/>
                <a:cs typeface="Times New Roman" panose="02020603050405020304" pitchFamily="18" charset="0"/>
              </a:rPr>
              <a:t>xima</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utilid</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dirty="0">
                <a:latin typeface="Arial Narrow" panose="020B0606020202030204" pitchFamily="34" charset="0"/>
                <a:ea typeface="Times New Roman" panose="02020603050405020304" pitchFamily="18" charset="0"/>
                <a:cs typeface="Times New Roman" panose="02020603050405020304" pitchFamily="18" charset="0"/>
              </a:rPr>
              <a:t>.</a:t>
            </a:r>
          </a:p>
          <a:p>
            <a:pPr algn="just">
              <a:spcAft>
                <a:spcPts val="0"/>
              </a:spcAft>
            </a:pPr>
            <a:r>
              <a:rPr lang="es-PE" sz="1600" spc="5" dirty="0">
                <a:latin typeface="Arial Narrow" panose="020B0606020202030204" pitchFamily="34" charset="0"/>
                <a:ea typeface="Times New Roman" panose="02020603050405020304" pitchFamily="18" charset="0"/>
                <a:cs typeface="Times New Roman" panose="02020603050405020304" pitchFamily="18" charset="0"/>
              </a:rPr>
              <a:t>b)E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bore</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por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is</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v</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6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los</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lt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dos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b</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idos .</a:t>
            </a:r>
          </a:p>
          <a:p>
            <a:pPr algn="just">
              <a:spcAft>
                <a:spcPts val="0"/>
              </a:spcAft>
            </a:pP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Es</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b="1" u="heavy"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nar</a:t>
            </a:r>
            <a:r>
              <a:rPr lang="es-PE" sz="1600" b="1" u="heavy" spc="15"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b="1" u="heavy" dirty="0">
                <a:latin typeface="Arial Narrow" panose="020B0606020202030204" pitchFamily="34" charset="0"/>
                <a:ea typeface="Times New Roman" panose="02020603050405020304" pitchFamily="18" charset="0"/>
                <a:cs typeface="Times New Roman" panose="02020603050405020304" pitchFamily="18" charset="0"/>
              </a:rPr>
              <a:t>o 2</a:t>
            </a:r>
            <a:r>
              <a:rPr lang="es-PE" sz="1600" b="1" dirty="0">
                <a:latin typeface="Arial Narrow" panose="020B0606020202030204" pitchFamily="34" charset="0"/>
                <a:ea typeface="Times New Roman" panose="02020603050405020304" pitchFamily="18" charset="0"/>
                <a:cs typeface="Times New Roman" panose="02020603050405020304" pitchFamily="18" charset="0"/>
              </a:rPr>
              <a:t>:</a:t>
            </a:r>
            <a:r>
              <a:rPr lang="es-PE" sz="1600" b="1"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Y</a:t>
            </a:r>
            <a:r>
              <a:rPr lang="es-PE" sz="1600"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stri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sobre</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nú</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q</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tot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dquiridos</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dirty="0">
                <a:latin typeface="Arial Narrow" panose="020B0606020202030204" pitchFamily="34" charset="0"/>
                <a:ea typeface="Times New Roman" panose="02020603050405020304" pitchFamily="18" charset="0"/>
                <a:cs typeface="Times New Roman" panose="02020603050405020304" pitchFamily="18" charset="0"/>
              </a:rPr>
              <a:t>or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br</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g</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h</a:t>
            </a:r>
            <a:r>
              <a:rPr lang="es-PE" sz="1600" dirty="0">
                <a:latin typeface="Arial Narrow" panose="020B0606020202030204" pitchFamily="34" charset="0"/>
                <a:ea typeface="Times New Roman" panose="02020603050405020304" pitchFamily="18" charset="0"/>
                <a:cs typeface="Times New Roman" panose="02020603050405020304" pitchFamily="18" charset="0"/>
              </a:rPr>
              <a:t>ora su</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isi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ó</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2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ser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á</a:t>
            </a:r>
            <a:r>
              <a:rPr lang="es-PE" sz="1600" dirty="0">
                <a:latin typeface="Arial Narrow" panose="020B0606020202030204" pitchFamily="34" charset="0"/>
                <a:ea typeface="Times New Roman" panose="02020603050405020304" pitchFamily="18" charset="0"/>
                <a:cs typeface="Times New Roman" panose="02020603050405020304" pitchFamily="18" charset="0"/>
              </a:rPr>
              <a:t>s puede 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nv</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dirty="0">
                <a:latin typeface="Arial Narrow" panose="020B0606020202030204" pitchFamily="34" charset="0"/>
                <a:ea typeface="Times New Roman" panose="02020603050405020304" pitchFamily="18" charset="0"/>
                <a:cs typeface="Times New Roman" panose="02020603050405020304" pitchFamily="18" charset="0"/>
              </a:rPr>
              <a:t>ir</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2</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rub</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os</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dist</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t</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p>
          <a:p>
            <a:pPr algn="just">
              <a:spcAft>
                <a:spcPts val="0"/>
              </a:spcAft>
            </a:pP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 F</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u</a:t>
            </a:r>
            <a:r>
              <a:rPr lang="es-PE" sz="1600" dirty="0">
                <a:latin typeface="Arial Narrow" panose="020B0606020202030204" pitchFamily="34" charset="0"/>
                <a:ea typeface="Times New Roman" panose="02020603050405020304" pitchFamily="18" charset="0"/>
                <a:cs typeface="Times New Roman" panose="02020603050405020304" pitchFamily="18" charset="0"/>
              </a:rPr>
              <a:t>le</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8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mod</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lo</a:t>
            </a:r>
            <a:r>
              <a:rPr lang="es-PE" sz="1600" spc="6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de</a:t>
            </a:r>
            <a:r>
              <a:rPr lang="es-PE" sz="1600" spc="9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dirty="0">
                <a:latin typeface="Arial Narrow" panose="020B0606020202030204" pitchFamily="34" charset="0"/>
                <a:ea typeface="Times New Roman" panose="02020603050405020304" pitchFamily="18" charset="0"/>
                <a:cs typeface="Times New Roman" panose="02020603050405020304" pitchFamily="18" charset="0"/>
              </a:rPr>
              <a:t>gr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m</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ión</a:t>
            </a:r>
            <a:r>
              <a:rPr lang="es-PE" sz="1600" spc="3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7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bina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 con</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mo</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d</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f</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dirty="0">
                <a:latin typeface="Arial Narrow" panose="020B0606020202030204" pitchFamily="34" charset="0"/>
                <a:ea typeface="Times New Roman" panose="02020603050405020304" pitchFamily="18" charset="0"/>
                <a:cs typeface="Times New Roman" panose="02020603050405020304" pitchFamily="18" charset="0"/>
              </a:rPr>
              <a:t>i</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o</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que</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a:t>
            </a:r>
            <a:r>
              <a:rPr lang="es-PE" sz="1600"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2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ri</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4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a:t>
            </a:r>
            <a:r>
              <a:rPr lang="es-PE" sz="1600" spc="-1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sol</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v</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spc="-35"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l</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dirty="0">
                <a:latin typeface="Arial Narrow" panose="020B0606020202030204" pitchFamily="34" charset="0"/>
                <a:ea typeface="Times New Roman" panose="02020603050405020304" pitchFamily="18" charset="0"/>
                <a:cs typeface="Times New Roman" panose="02020603050405020304" pitchFamily="18" charset="0"/>
              </a:rPr>
              <a:t>pr</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dirty="0">
                <a:latin typeface="Arial Narrow" panose="020B0606020202030204" pitchFamily="34" charset="0"/>
                <a:ea typeface="Times New Roman" panose="02020603050405020304" pitchFamily="18" charset="0"/>
                <a:cs typeface="Times New Roman" panose="02020603050405020304" pitchFamily="18" charset="0"/>
              </a:rPr>
              <a:t>se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dirty="0">
                <a:latin typeface="Arial Narrow" panose="020B0606020202030204" pitchFamily="34" charset="0"/>
                <a:ea typeface="Times New Roman" panose="02020603050405020304" pitchFamily="18" charset="0"/>
                <a:cs typeface="Times New Roman" panose="02020603050405020304" pitchFamily="18" charset="0"/>
              </a:rPr>
              <a:t>te</a:t>
            </a:r>
            <a:r>
              <a:rPr lang="es-PE" sz="1600" spc="-40" dirty="0">
                <a:latin typeface="Arial Narrow" panose="020B0606020202030204" pitchFamily="34" charset="0"/>
                <a:ea typeface="Times New Roman" panose="02020603050405020304" pitchFamily="18" charset="0"/>
                <a:cs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c</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n</a:t>
            </a:r>
            <a:r>
              <a:rPr lang="es-PE" sz="1600" spc="5" dirty="0">
                <a:latin typeface="Arial Narrow" panose="020B0606020202030204" pitchFamily="34" charset="0"/>
                <a:ea typeface="Times New Roman" panose="02020603050405020304" pitchFamily="18" charset="0"/>
                <a:cs typeface="Times New Roman" panose="02020603050405020304" pitchFamily="18" charset="0"/>
              </a:rPr>
              <a:t>a</a:t>
            </a:r>
            <a:r>
              <a:rPr lang="es-PE" sz="1600" spc="10" dirty="0">
                <a:latin typeface="Arial Narrow" panose="020B0606020202030204" pitchFamily="34" charset="0"/>
                <a:ea typeface="Times New Roman" panose="02020603050405020304" pitchFamily="18" charset="0"/>
                <a:cs typeface="Times New Roman" panose="02020603050405020304" pitchFamily="18" charset="0"/>
              </a:rPr>
              <a:t>r</a:t>
            </a:r>
            <a:r>
              <a:rPr lang="es-PE" sz="1600" dirty="0">
                <a:latin typeface="Arial Narrow" panose="020B0606020202030204" pitchFamily="34" charset="0"/>
                <a:ea typeface="Times New Roman" panose="02020603050405020304" pitchFamily="18" charset="0"/>
                <a:cs typeface="Times New Roman" panose="02020603050405020304" pitchFamily="18" charset="0"/>
              </a:rPr>
              <a:t>io.</a:t>
            </a:r>
          </a:p>
          <a:p>
            <a:pPr algn="just"/>
            <a:r>
              <a:rPr lang="es-PE" sz="1600" dirty="0">
                <a:latin typeface="Arial Narrow" panose="020B0606020202030204" pitchFamily="34" charset="0"/>
                <a:ea typeface="Times New Roman" panose="02020603050405020304" pitchFamily="18" charset="0"/>
              </a:rPr>
              <a:t>d)   </a:t>
            </a:r>
            <a:r>
              <a:rPr lang="es-PE" sz="1600" spc="75"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E</a:t>
            </a:r>
            <a:r>
              <a:rPr lang="es-PE" sz="1600" dirty="0">
                <a:latin typeface="Arial Narrow" panose="020B0606020202030204" pitchFamily="34" charset="0"/>
                <a:ea typeface="Times New Roman" panose="02020603050405020304" pitchFamily="18" charset="0"/>
              </a:rPr>
              <a:t>l</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bore</a:t>
            </a:r>
            <a:r>
              <a:rPr lang="es-PE" sz="1600" spc="-30"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u</a:t>
            </a:r>
            <a:r>
              <a:rPr lang="es-PE" sz="1600" dirty="0">
                <a:latin typeface="Arial Narrow" panose="020B0606020202030204" pitchFamily="34" charset="0"/>
                <a:ea typeface="Times New Roman" panose="02020603050405020304" pitchFamily="18" charset="0"/>
              </a:rPr>
              <a:t>n</a:t>
            </a:r>
            <a:r>
              <a:rPr lang="es-PE" sz="1600" spc="-15"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rPr>
              <a:t>e</a:t>
            </a:r>
            <a:r>
              <a:rPr lang="es-PE" sz="1600" dirty="0">
                <a:latin typeface="Arial Narrow" panose="020B0606020202030204" pitchFamily="34" charset="0"/>
                <a:ea typeface="Times New Roman" panose="02020603050405020304" pitchFamily="18" charset="0"/>
              </a:rPr>
              <a:t>por</a:t>
            </a:r>
            <a:r>
              <a:rPr lang="es-PE" sz="1600" spc="5" dirty="0">
                <a:latin typeface="Arial Narrow" panose="020B0606020202030204" pitchFamily="34" charset="0"/>
                <a:ea typeface="Times New Roman" panose="02020603050405020304" pitchFamily="18" charset="0"/>
              </a:rPr>
              <a:t>t</a:t>
            </a:r>
            <a:r>
              <a:rPr lang="es-PE" sz="1600" dirty="0">
                <a:latin typeface="Arial Narrow" panose="020B0606020202030204" pitchFamily="34" charset="0"/>
                <a:ea typeface="Times New Roman" panose="02020603050405020304" pitchFamily="18" charset="0"/>
              </a:rPr>
              <a:t>e</a:t>
            </a:r>
            <a:r>
              <a:rPr lang="es-PE" sz="1600" spc="-30"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d</a:t>
            </a:r>
            <a:r>
              <a:rPr lang="es-PE" sz="1600" spc="5" dirty="0">
                <a:latin typeface="Arial Narrow" panose="020B0606020202030204" pitchFamily="34" charset="0"/>
                <a:ea typeface="Times New Roman" panose="02020603050405020304" pitchFamily="18" charset="0"/>
              </a:rPr>
              <a:t>m</a:t>
            </a:r>
            <a:r>
              <a:rPr lang="es-PE" sz="1600" dirty="0">
                <a:latin typeface="Arial Narrow" panose="020B0606020202030204" pitchFamily="34" charset="0"/>
                <a:ea typeface="Times New Roman" panose="02020603050405020304" pitchFamily="18" charset="0"/>
              </a:rPr>
              <a:t>i</a:t>
            </a:r>
            <a:r>
              <a:rPr lang="es-PE" sz="1600" spc="-5" dirty="0">
                <a:latin typeface="Arial Narrow" panose="020B0606020202030204" pitchFamily="34" charset="0"/>
                <a:ea typeface="Times New Roman" panose="02020603050405020304" pitchFamily="18" charset="0"/>
              </a:rPr>
              <a:t>n</a:t>
            </a:r>
            <a:r>
              <a:rPr lang="es-PE" sz="1600" dirty="0">
                <a:latin typeface="Arial Narrow" panose="020B0606020202030204" pitchFamily="34" charset="0"/>
                <a:ea typeface="Times New Roman" panose="02020603050405020304" pitchFamily="18" charset="0"/>
              </a:rPr>
              <a:t>is</a:t>
            </a:r>
            <a:r>
              <a:rPr lang="es-PE" sz="1600" spc="15" dirty="0">
                <a:latin typeface="Arial Narrow" panose="020B0606020202030204" pitchFamily="34" charset="0"/>
                <a:ea typeface="Times New Roman" panose="02020603050405020304" pitchFamily="18" charset="0"/>
              </a:rPr>
              <a:t>t</a:t>
            </a:r>
            <a:r>
              <a:rPr lang="es-PE" sz="1600" dirty="0">
                <a:latin typeface="Arial Narrow" panose="020B0606020202030204" pitchFamily="34" charset="0"/>
                <a:ea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ti</a:t>
            </a:r>
            <a:r>
              <a:rPr lang="es-PE" sz="1600" spc="-5" dirty="0">
                <a:latin typeface="Arial Narrow" panose="020B0606020202030204" pitchFamily="34" charset="0"/>
                <a:ea typeface="Times New Roman" panose="02020603050405020304" pitchFamily="18" charset="0"/>
              </a:rPr>
              <a:t>v</a:t>
            </a:r>
            <a:r>
              <a:rPr lang="es-PE" sz="1600" dirty="0">
                <a:latin typeface="Arial Narrow" panose="020B0606020202030204" pitchFamily="34" charset="0"/>
                <a:ea typeface="Times New Roman" panose="02020603050405020304" pitchFamily="18" charset="0"/>
              </a:rPr>
              <a:t>o</a:t>
            </a:r>
            <a:r>
              <a:rPr lang="es-PE" sz="1600" spc="-60" dirty="0">
                <a:latin typeface="Arial Narrow" panose="020B0606020202030204" pitchFamily="34" charset="0"/>
                <a:ea typeface="Times New Roman" panose="02020603050405020304" pitchFamily="18" charset="0"/>
              </a:rPr>
              <a:t> </a:t>
            </a:r>
            <a:r>
              <a:rPr lang="es-PE" sz="1600" spc="-5" dirty="0">
                <a:latin typeface="Arial Narrow" panose="020B0606020202030204" pitchFamily="34" charset="0"/>
                <a:ea typeface="Times New Roman" panose="02020603050405020304" pitchFamily="18" charset="0"/>
              </a:rPr>
              <a:t>c</a:t>
            </a:r>
            <a:r>
              <a:rPr lang="es-PE" sz="1600" spc="10" dirty="0">
                <a:latin typeface="Arial Narrow" panose="020B0606020202030204" pitchFamily="34" charset="0"/>
                <a:ea typeface="Times New Roman" panose="02020603050405020304" pitchFamily="18" charset="0"/>
              </a:rPr>
              <a:t>o</a:t>
            </a:r>
            <a:r>
              <a:rPr lang="es-PE" sz="1600" dirty="0">
                <a:latin typeface="Arial Narrow" panose="020B0606020202030204" pitchFamily="34" charset="0"/>
                <a:ea typeface="Times New Roman" panose="02020603050405020304" pitchFamily="18" charset="0"/>
              </a:rPr>
              <a:t>n</a:t>
            </a:r>
            <a:r>
              <a:rPr lang="es-PE" sz="1600" spc="-20"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los</a:t>
            </a:r>
            <a:r>
              <a:rPr lang="es-PE" sz="1600" spc="-10"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r</a:t>
            </a:r>
            <a:r>
              <a:rPr lang="es-PE" sz="1600" spc="5" dirty="0">
                <a:latin typeface="Arial Narrow" panose="020B0606020202030204" pitchFamily="34" charset="0"/>
                <a:ea typeface="Times New Roman" panose="02020603050405020304" pitchFamily="18" charset="0"/>
              </a:rPr>
              <a:t>e</a:t>
            </a:r>
            <a:r>
              <a:rPr lang="es-PE" sz="1600" spc="10" dirty="0">
                <a:latin typeface="Arial Narrow" panose="020B0606020202030204" pitchFamily="34" charset="0"/>
                <a:ea typeface="Times New Roman" panose="02020603050405020304" pitchFamily="18" charset="0"/>
              </a:rPr>
              <a:t>s</a:t>
            </a:r>
            <a:r>
              <a:rPr lang="es-PE" sz="1600" spc="-5" dirty="0">
                <a:latin typeface="Arial Narrow" panose="020B0606020202030204" pitchFamily="34" charset="0"/>
                <a:ea typeface="Times New Roman" panose="02020603050405020304" pitchFamily="18" charset="0"/>
              </a:rPr>
              <a:t>u</a:t>
            </a:r>
            <a:r>
              <a:rPr lang="es-PE" sz="1600" dirty="0">
                <a:latin typeface="Arial Narrow" panose="020B0606020202030204" pitchFamily="34" charset="0"/>
                <a:ea typeface="Times New Roman" panose="02020603050405020304" pitchFamily="18" charset="0"/>
              </a:rPr>
              <a:t>lt</a:t>
            </a:r>
            <a:r>
              <a:rPr lang="es-PE" sz="1600" spc="5" dirty="0">
                <a:latin typeface="Arial Narrow" panose="020B0606020202030204" pitchFamily="34" charset="0"/>
                <a:ea typeface="Times New Roman" panose="02020603050405020304" pitchFamily="18" charset="0"/>
              </a:rPr>
              <a:t>a</a:t>
            </a:r>
            <a:r>
              <a:rPr lang="es-PE" sz="1600" dirty="0">
                <a:latin typeface="Arial Narrow" panose="020B0606020202030204" pitchFamily="34" charset="0"/>
                <a:ea typeface="Times New Roman" panose="02020603050405020304" pitchFamily="18" charset="0"/>
              </a:rPr>
              <a:t>dos</a:t>
            </a:r>
            <a:r>
              <a:rPr lang="es-PE" sz="1600" spc="-45" dirty="0">
                <a:latin typeface="Arial Narrow" panose="020B0606020202030204" pitchFamily="34" charset="0"/>
                <a:ea typeface="Times New Roman" panose="02020603050405020304" pitchFamily="18" charset="0"/>
              </a:rPr>
              <a:t> </a:t>
            </a:r>
            <a:r>
              <a:rPr lang="es-PE" sz="1600" dirty="0">
                <a:latin typeface="Arial Narrow" panose="020B0606020202030204" pitchFamily="34" charset="0"/>
                <a:ea typeface="Times New Roman" panose="02020603050405020304" pitchFamily="18" charset="0"/>
              </a:rPr>
              <a:t>o</a:t>
            </a:r>
            <a:r>
              <a:rPr lang="es-PE" sz="1600" spc="10" dirty="0">
                <a:latin typeface="Arial Narrow" panose="020B0606020202030204" pitchFamily="34" charset="0"/>
                <a:ea typeface="Times New Roman" panose="02020603050405020304" pitchFamily="18" charset="0"/>
              </a:rPr>
              <a:t>b</a:t>
            </a:r>
            <a:r>
              <a:rPr lang="es-PE" sz="1600" dirty="0">
                <a:latin typeface="Arial Narrow" panose="020B0606020202030204" pitchFamily="34" charset="0"/>
                <a:ea typeface="Times New Roman" panose="02020603050405020304" pitchFamily="18" charset="0"/>
              </a:rPr>
              <a:t>t</a:t>
            </a:r>
            <a:r>
              <a:rPr lang="es-PE" sz="1600" spc="5" dirty="0">
                <a:latin typeface="Arial Narrow" panose="020B0606020202030204" pitchFamily="34" charset="0"/>
                <a:ea typeface="Times New Roman" panose="02020603050405020304" pitchFamily="18" charset="0"/>
              </a:rPr>
              <a:t>e</a:t>
            </a:r>
            <a:r>
              <a:rPr lang="es-PE" sz="1600" spc="-5" dirty="0">
                <a:latin typeface="Arial Narrow" panose="020B0606020202030204" pitchFamily="34" charset="0"/>
                <a:ea typeface="Times New Roman" panose="02020603050405020304" pitchFamily="18" charset="0"/>
              </a:rPr>
              <a:t>n</a:t>
            </a:r>
            <a:r>
              <a:rPr lang="es-PE" sz="1600" dirty="0">
                <a:latin typeface="Arial Narrow" panose="020B0606020202030204" pitchFamily="34" charset="0"/>
                <a:ea typeface="Times New Roman" panose="02020603050405020304" pitchFamily="18" charset="0"/>
              </a:rPr>
              <a:t>idos.</a:t>
            </a:r>
            <a:r>
              <a:rPr lang="es-PE" sz="1600" spc="-15" dirty="0">
                <a:latin typeface="Arial Narrow" panose="020B0606020202030204" pitchFamily="34" charset="0"/>
                <a:ea typeface="Times New Roman" panose="02020603050405020304" pitchFamily="18" charset="0"/>
              </a:rPr>
              <a:t> </a:t>
            </a:r>
            <a:endParaRPr lang="es-PE" sz="1600" dirty="0">
              <a:latin typeface="Arial Narrow" panose="020B0606020202030204" pitchFamily="34" charset="0"/>
            </a:endParaRPr>
          </a:p>
        </p:txBody>
      </p:sp>
      <p:graphicFrame>
        <p:nvGraphicFramePr>
          <p:cNvPr id="9" name="Tabla 8">
            <a:extLst>
              <a:ext uri="{FF2B5EF4-FFF2-40B4-BE49-F238E27FC236}">
                <a16:creationId xmlns:a16="http://schemas.microsoft.com/office/drawing/2014/main" id="{F52E978C-3B09-E75D-A620-5FC04B9451A0}"/>
              </a:ext>
            </a:extLst>
          </p:cNvPr>
          <p:cNvGraphicFramePr>
            <a:graphicFrameLocks noGrp="1"/>
          </p:cNvGraphicFramePr>
          <p:nvPr>
            <p:extLst>
              <p:ext uri="{D42A27DB-BD31-4B8C-83A1-F6EECF244321}">
                <p14:modId xmlns:p14="http://schemas.microsoft.com/office/powerpoint/2010/main" val="3137059476"/>
              </p:ext>
            </p:extLst>
          </p:nvPr>
        </p:nvGraphicFramePr>
        <p:xfrm>
          <a:off x="86264" y="2702249"/>
          <a:ext cx="6019800" cy="831991"/>
        </p:xfrm>
        <a:graphic>
          <a:graphicData uri="http://schemas.openxmlformats.org/drawingml/2006/table">
            <a:tbl>
              <a:tblPr>
                <a:tableStyleId>{5C22544A-7EE6-4342-B048-85BDC9FD1C3A}</a:tableStyleId>
              </a:tblPr>
              <a:tblGrid>
                <a:gridCol w="1648299">
                  <a:extLst>
                    <a:ext uri="{9D8B030D-6E8A-4147-A177-3AD203B41FA5}">
                      <a16:colId xmlns:a16="http://schemas.microsoft.com/office/drawing/2014/main" val="1980796595"/>
                    </a:ext>
                  </a:extLst>
                </a:gridCol>
                <a:gridCol w="437150">
                  <a:extLst>
                    <a:ext uri="{9D8B030D-6E8A-4147-A177-3AD203B41FA5}">
                      <a16:colId xmlns:a16="http://schemas.microsoft.com/office/drawing/2014/main" val="477700837"/>
                    </a:ext>
                  </a:extLst>
                </a:gridCol>
                <a:gridCol w="436571">
                  <a:extLst>
                    <a:ext uri="{9D8B030D-6E8A-4147-A177-3AD203B41FA5}">
                      <a16:colId xmlns:a16="http://schemas.microsoft.com/office/drawing/2014/main" val="1758233329"/>
                    </a:ext>
                  </a:extLst>
                </a:gridCol>
                <a:gridCol w="437150">
                  <a:extLst>
                    <a:ext uri="{9D8B030D-6E8A-4147-A177-3AD203B41FA5}">
                      <a16:colId xmlns:a16="http://schemas.microsoft.com/office/drawing/2014/main" val="2482175304"/>
                    </a:ext>
                  </a:extLst>
                </a:gridCol>
                <a:gridCol w="433092">
                  <a:extLst>
                    <a:ext uri="{9D8B030D-6E8A-4147-A177-3AD203B41FA5}">
                      <a16:colId xmlns:a16="http://schemas.microsoft.com/office/drawing/2014/main" val="280479915"/>
                    </a:ext>
                  </a:extLst>
                </a:gridCol>
                <a:gridCol w="432511">
                  <a:extLst>
                    <a:ext uri="{9D8B030D-6E8A-4147-A177-3AD203B41FA5}">
                      <a16:colId xmlns:a16="http://schemas.microsoft.com/office/drawing/2014/main" val="1206058234"/>
                    </a:ext>
                  </a:extLst>
                </a:gridCol>
                <a:gridCol w="432511">
                  <a:extLst>
                    <a:ext uri="{9D8B030D-6E8A-4147-A177-3AD203B41FA5}">
                      <a16:colId xmlns:a16="http://schemas.microsoft.com/office/drawing/2014/main" val="1228566829"/>
                    </a:ext>
                  </a:extLst>
                </a:gridCol>
                <a:gridCol w="433092">
                  <a:extLst>
                    <a:ext uri="{9D8B030D-6E8A-4147-A177-3AD203B41FA5}">
                      <a16:colId xmlns:a16="http://schemas.microsoft.com/office/drawing/2014/main" val="3826520621"/>
                    </a:ext>
                  </a:extLst>
                </a:gridCol>
                <a:gridCol w="442948">
                  <a:extLst>
                    <a:ext uri="{9D8B030D-6E8A-4147-A177-3AD203B41FA5}">
                      <a16:colId xmlns:a16="http://schemas.microsoft.com/office/drawing/2014/main" val="3074334067"/>
                    </a:ext>
                  </a:extLst>
                </a:gridCol>
                <a:gridCol w="442369">
                  <a:extLst>
                    <a:ext uri="{9D8B030D-6E8A-4147-A177-3AD203B41FA5}">
                      <a16:colId xmlns:a16="http://schemas.microsoft.com/office/drawing/2014/main" val="732209437"/>
                    </a:ext>
                  </a:extLst>
                </a:gridCol>
                <a:gridCol w="444107">
                  <a:extLst>
                    <a:ext uri="{9D8B030D-6E8A-4147-A177-3AD203B41FA5}">
                      <a16:colId xmlns:a16="http://schemas.microsoft.com/office/drawing/2014/main" val="887640219"/>
                    </a:ext>
                  </a:extLst>
                </a:gridCol>
              </a:tblGrid>
              <a:tr h="159803">
                <a:tc>
                  <a:txBody>
                    <a:bodyPr/>
                    <a:lstStyle/>
                    <a:p>
                      <a:pPr marL="701675" marR="662305" indent="-339725" algn="ctr">
                        <a:lnSpc>
                          <a:spcPts val="1190"/>
                        </a:lnSpc>
                        <a:spcAft>
                          <a:spcPts val="0"/>
                        </a:spcAft>
                      </a:pPr>
                      <a:r>
                        <a:rPr lang="en-US" sz="1200" b="1" spc="-5" dirty="0" err="1">
                          <a:effectLst/>
                          <a:latin typeface="Arial Narrow" panose="020B0606020202030204" pitchFamily="34" charset="0"/>
                        </a:rPr>
                        <a:t>R</a:t>
                      </a:r>
                      <a:r>
                        <a:rPr lang="en-US" sz="1200" b="1" spc="10" dirty="0" err="1">
                          <a:effectLst/>
                          <a:latin typeface="Arial Narrow" panose="020B0606020202030204" pitchFamily="34" charset="0"/>
                        </a:rPr>
                        <a:t>u</a:t>
                      </a:r>
                      <a:r>
                        <a:rPr lang="en-US" sz="1200" b="1" spc="-5" dirty="0" err="1">
                          <a:effectLst/>
                          <a:latin typeface="Arial Narrow" panose="020B0606020202030204" pitchFamily="34" charset="0"/>
                        </a:rPr>
                        <a:t>b</a:t>
                      </a:r>
                      <a:r>
                        <a:rPr lang="en-US" sz="1200" b="1" dirty="0" err="1">
                          <a:effectLst/>
                          <a:latin typeface="Arial Narrow" panose="020B0606020202030204" pitchFamily="34" charset="0"/>
                        </a:rPr>
                        <a:t>ro</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gridSpan="3">
                  <a:txBody>
                    <a:bodyPr/>
                    <a:lstStyle/>
                    <a:p>
                      <a:pPr marL="300990">
                        <a:lnSpc>
                          <a:spcPts val="1200"/>
                        </a:lnSpc>
                        <a:spcAft>
                          <a:spcPts val="0"/>
                        </a:spcAft>
                      </a:pPr>
                      <a:r>
                        <a:rPr lang="en-US" sz="1200" b="1" spc="-5" dirty="0" err="1">
                          <a:effectLst/>
                          <a:latin typeface="Arial Narrow" panose="020B0606020202030204" pitchFamily="34" charset="0"/>
                        </a:rPr>
                        <a:t>C</a:t>
                      </a:r>
                      <a:r>
                        <a:rPr lang="en-US" sz="1200" b="1" dirty="0" err="1">
                          <a:effectLst/>
                          <a:latin typeface="Arial Narrow" panose="020B0606020202030204" pitchFamily="34" charset="0"/>
                        </a:rPr>
                        <a:t>o</a:t>
                      </a:r>
                      <a:r>
                        <a:rPr lang="en-US" sz="1200" b="1" spc="-5" dirty="0" err="1">
                          <a:effectLst/>
                          <a:latin typeface="Arial Narrow" panose="020B0606020202030204" pitchFamily="34" charset="0"/>
                        </a:rPr>
                        <a:t>n</a:t>
                      </a:r>
                      <a:r>
                        <a:rPr lang="en-US" sz="1200" b="1" spc="15" dirty="0" err="1">
                          <a:effectLst/>
                          <a:latin typeface="Arial Narrow" panose="020B0606020202030204" pitchFamily="34" charset="0"/>
                        </a:rPr>
                        <a:t>s</a:t>
                      </a:r>
                      <a:r>
                        <a:rPr lang="en-US" sz="1200" b="1" spc="-5" dirty="0" err="1">
                          <a:effectLst/>
                          <a:latin typeface="Arial Narrow" panose="020B0606020202030204" pitchFamily="34" charset="0"/>
                        </a:rPr>
                        <a:t>t</a:t>
                      </a:r>
                      <a:r>
                        <a:rPr lang="en-US" sz="1200" b="1" dirty="0" err="1">
                          <a:effectLst/>
                          <a:latin typeface="Arial Narrow" panose="020B0606020202030204" pitchFamily="34" charset="0"/>
                        </a:rPr>
                        <a:t>ruc</a:t>
                      </a:r>
                      <a:r>
                        <a:rPr lang="en-US" sz="1200" b="1" spc="5" dirty="0" err="1">
                          <a:effectLst/>
                          <a:latin typeface="Arial Narrow" panose="020B0606020202030204" pitchFamily="34" charset="0"/>
                        </a:rPr>
                        <a:t>c</a:t>
                      </a:r>
                      <a:r>
                        <a:rPr lang="en-US" sz="1200" b="1" spc="10" dirty="0" err="1">
                          <a:effectLst/>
                          <a:latin typeface="Arial Narrow" panose="020B0606020202030204" pitchFamily="34" charset="0"/>
                        </a:rPr>
                        <a:t>i</a:t>
                      </a:r>
                      <a:r>
                        <a:rPr lang="en-US" sz="1200" b="1" dirty="0" err="1">
                          <a:effectLst/>
                          <a:latin typeface="Arial Narrow" panose="020B0606020202030204" pitchFamily="34" charset="0"/>
                        </a:rPr>
                        <a:t>ón</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hMerge="1">
                  <a:txBody>
                    <a:bodyPr/>
                    <a:lstStyle/>
                    <a:p>
                      <a:endParaRPr lang="es-PE"/>
                    </a:p>
                  </a:txBody>
                  <a:tcPr/>
                </a:tc>
                <a:tc hMerge="1">
                  <a:txBody>
                    <a:bodyPr/>
                    <a:lstStyle/>
                    <a:p>
                      <a:endParaRPr lang="es-PE"/>
                    </a:p>
                  </a:txBody>
                  <a:tcPr/>
                </a:tc>
                <a:tc gridSpan="4">
                  <a:txBody>
                    <a:bodyPr/>
                    <a:lstStyle/>
                    <a:p>
                      <a:pPr marL="685800" marR="681990" indent="-150813" algn="ctr">
                        <a:lnSpc>
                          <a:spcPts val="1200"/>
                        </a:lnSpc>
                        <a:spcAft>
                          <a:spcPts val="0"/>
                        </a:spcAft>
                      </a:pPr>
                      <a:r>
                        <a:rPr lang="en-US" sz="1200" b="1" dirty="0" err="1">
                          <a:effectLst/>
                          <a:latin typeface="Arial Narrow" panose="020B0606020202030204" pitchFamily="34" charset="0"/>
                        </a:rPr>
                        <a:t>Mi</a:t>
                      </a:r>
                      <a:r>
                        <a:rPr lang="en-US" sz="1200" b="1" spc="-5" dirty="0" err="1">
                          <a:effectLst/>
                          <a:latin typeface="Arial Narrow" panose="020B0606020202030204" pitchFamily="34" charset="0"/>
                        </a:rPr>
                        <a:t>n</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ría</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gridSpan="3">
                  <a:txBody>
                    <a:bodyPr/>
                    <a:lstStyle/>
                    <a:p>
                      <a:pPr marL="368300">
                        <a:lnSpc>
                          <a:spcPts val="1200"/>
                        </a:lnSpc>
                        <a:spcAft>
                          <a:spcPts val="0"/>
                        </a:spcAft>
                      </a:pPr>
                      <a:r>
                        <a:rPr lang="en-US" sz="1200" b="1">
                          <a:effectLst/>
                          <a:latin typeface="Arial Narrow" panose="020B0606020202030204" pitchFamily="34" charset="0"/>
                        </a:rPr>
                        <a:t>Agricu</a:t>
                      </a:r>
                      <a:r>
                        <a:rPr lang="en-US" sz="1200" b="1" spc="10">
                          <a:effectLst/>
                          <a:latin typeface="Arial Narrow" panose="020B0606020202030204" pitchFamily="34" charset="0"/>
                        </a:rPr>
                        <a:t>l</a:t>
                      </a:r>
                      <a:r>
                        <a:rPr lang="en-US" sz="1200" b="1" spc="-5">
                          <a:effectLst/>
                          <a:latin typeface="Arial Narrow" panose="020B0606020202030204" pitchFamily="34" charset="0"/>
                        </a:rPr>
                        <a:t>t</a:t>
                      </a:r>
                      <a:r>
                        <a:rPr lang="en-US" sz="1200" b="1">
                          <a:effectLst/>
                          <a:latin typeface="Arial Narrow" panose="020B0606020202030204" pitchFamily="34" charset="0"/>
                        </a:rPr>
                        <a:t>ura</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487582494"/>
                  </a:ext>
                </a:extLst>
              </a:tr>
              <a:tr h="161071">
                <a:tc>
                  <a:txBody>
                    <a:bodyPr/>
                    <a:lstStyle/>
                    <a:p>
                      <a:pPr marL="246380">
                        <a:lnSpc>
                          <a:spcPts val="1200"/>
                        </a:lnSpc>
                        <a:spcAft>
                          <a:spcPts val="0"/>
                        </a:spcAft>
                      </a:pPr>
                      <a:r>
                        <a:rPr lang="en-US" sz="1200" b="1" spc="5" dirty="0" err="1">
                          <a:effectLst/>
                          <a:latin typeface="Arial Narrow" panose="020B0606020202030204" pitchFamily="34" charset="0"/>
                        </a:rPr>
                        <a:t>P</a:t>
                      </a:r>
                      <a:r>
                        <a:rPr lang="en-US" sz="1200" b="1" dirty="0" err="1">
                          <a:effectLst/>
                          <a:latin typeface="Arial Narrow" panose="020B0606020202030204" pitchFamily="34" charset="0"/>
                        </a:rPr>
                        <a:t>aq</a:t>
                      </a:r>
                      <a:r>
                        <a:rPr lang="en-US" sz="1200" b="1" spc="-5" dirty="0" err="1">
                          <a:effectLst/>
                          <a:latin typeface="Arial Narrow" panose="020B0606020202030204" pitchFamily="34" charset="0"/>
                        </a:rPr>
                        <a:t>u</a:t>
                      </a:r>
                      <a:r>
                        <a:rPr lang="en-US" sz="1200" b="1" spc="5" dirty="0" err="1">
                          <a:effectLst/>
                          <a:latin typeface="Arial Narrow" panose="020B0606020202030204" pitchFamily="34" charset="0"/>
                        </a:rPr>
                        <a:t>e</a:t>
                      </a:r>
                      <a:r>
                        <a:rPr lang="en-US" sz="1200" b="1" spc="-5" dirty="0" err="1">
                          <a:effectLst/>
                          <a:latin typeface="Arial Narrow" panose="020B0606020202030204" pitchFamily="34" charset="0"/>
                        </a:rPr>
                        <a:t>t</a:t>
                      </a:r>
                      <a:r>
                        <a:rPr lang="en-US" sz="1200" b="1" dirty="0" err="1">
                          <a:effectLst/>
                          <a:latin typeface="Arial Narrow" panose="020B0606020202030204" pitchFamily="34" charset="0"/>
                        </a:rPr>
                        <a:t>e</a:t>
                      </a:r>
                      <a:r>
                        <a:rPr lang="en-US" sz="1200" b="1" spc="-35" dirty="0">
                          <a:effectLst/>
                          <a:latin typeface="Arial Narrow" panose="020B0606020202030204" pitchFamily="34" charset="0"/>
                        </a:rPr>
                        <a:t> </a:t>
                      </a:r>
                      <a:r>
                        <a:rPr lang="en-US" sz="1200" b="1" dirty="0">
                          <a:effectLst/>
                          <a:latin typeface="Arial Narrow" panose="020B0606020202030204" pitchFamily="34" charset="0"/>
                        </a:rPr>
                        <a:t>de</a:t>
                      </a:r>
                      <a:r>
                        <a:rPr lang="en-US" sz="1200" b="1" spc="-10" dirty="0">
                          <a:effectLst/>
                          <a:latin typeface="Arial Narrow" panose="020B0606020202030204" pitchFamily="34" charset="0"/>
                        </a:rPr>
                        <a:t> </a:t>
                      </a:r>
                      <a:r>
                        <a:rPr lang="en-US" sz="1200" b="1" dirty="0" err="1">
                          <a:effectLst/>
                          <a:latin typeface="Arial Narrow" panose="020B0606020202030204" pitchFamily="34" charset="0"/>
                        </a:rPr>
                        <a:t>acci</a:t>
                      </a:r>
                      <a:r>
                        <a:rPr lang="en-US" sz="1200" b="1" spc="10" dirty="0" err="1">
                          <a:effectLst/>
                          <a:latin typeface="Arial Narrow" panose="020B0606020202030204" pitchFamily="34" charset="0"/>
                        </a:rPr>
                        <a:t>o</a:t>
                      </a:r>
                      <a:r>
                        <a:rPr lang="en-US" sz="1200" b="1" dirty="0" err="1">
                          <a:effectLst/>
                          <a:latin typeface="Arial Narrow" panose="020B0606020202030204" pitchFamily="34" charset="0"/>
                        </a:rPr>
                        <a:t>n</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s</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9545" marR="168275" algn="ctr">
                        <a:lnSpc>
                          <a:spcPts val="1200"/>
                        </a:lnSpc>
                        <a:spcAft>
                          <a:spcPts val="0"/>
                        </a:spcAft>
                      </a:pPr>
                      <a:r>
                        <a:rPr lang="en-US" sz="1200" b="1">
                          <a:effectLst/>
                          <a:latin typeface="Arial Narrow" panose="020B0606020202030204" pitchFamily="34" charset="0"/>
                        </a:rPr>
                        <a:t>A</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8275" marR="170180" algn="ctr">
                        <a:lnSpc>
                          <a:spcPts val="1200"/>
                        </a:lnSpc>
                        <a:spcAft>
                          <a:spcPts val="0"/>
                        </a:spcAft>
                      </a:pPr>
                      <a:r>
                        <a:rPr lang="en-US" sz="1200" b="1">
                          <a:effectLst/>
                          <a:latin typeface="Arial Narrow" panose="020B0606020202030204" pitchFamily="34" charset="0"/>
                        </a:rPr>
                        <a:t>B</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71450" marR="170180" algn="ctr">
                        <a:lnSpc>
                          <a:spcPts val="1200"/>
                        </a:lnSpc>
                        <a:spcAft>
                          <a:spcPts val="0"/>
                        </a:spcAft>
                      </a:pPr>
                      <a:r>
                        <a:rPr lang="en-US" sz="1200" b="1">
                          <a:effectLst/>
                          <a:latin typeface="Arial Narrow" panose="020B0606020202030204" pitchFamily="34" charset="0"/>
                        </a:rPr>
                        <a:t>C</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5100" marR="160655" algn="ctr">
                        <a:lnSpc>
                          <a:spcPts val="1200"/>
                        </a:lnSpc>
                        <a:spcAft>
                          <a:spcPts val="0"/>
                        </a:spcAft>
                      </a:pPr>
                      <a:r>
                        <a:rPr lang="en-US" sz="1200" b="1">
                          <a:effectLst/>
                          <a:latin typeface="Arial Narrow" panose="020B0606020202030204" pitchFamily="34" charset="0"/>
                        </a:rPr>
                        <a:t>D</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72720" marR="169545" algn="ctr">
                        <a:lnSpc>
                          <a:spcPts val="1200"/>
                        </a:lnSpc>
                        <a:spcAft>
                          <a:spcPts val="0"/>
                        </a:spcAft>
                      </a:pPr>
                      <a:r>
                        <a:rPr lang="en-US" sz="1200" b="1">
                          <a:effectLst/>
                          <a:latin typeface="Arial Narrow" panose="020B0606020202030204" pitchFamily="34" charset="0"/>
                        </a:rPr>
                        <a:t>E</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72720" marR="173990" algn="ctr">
                        <a:lnSpc>
                          <a:spcPts val="1200"/>
                        </a:lnSpc>
                        <a:spcAft>
                          <a:spcPts val="0"/>
                        </a:spcAft>
                      </a:pPr>
                      <a:r>
                        <a:rPr lang="en-US" sz="1200" b="1">
                          <a:effectLst/>
                          <a:latin typeface="Arial Narrow" panose="020B0606020202030204" pitchFamily="34" charset="0"/>
                        </a:rPr>
                        <a:t>F</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2560" marR="165100" algn="ctr">
                        <a:lnSpc>
                          <a:spcPts val="1200"/>
                        </a:lnSpc>
                        <a:spcAft>
                          <a:spcPts val="0"/>
                        </a:spcAft>
                      </a:pPr>
                      <a:r>
                        <a:rPr lang="en-US" sz="1200" b="1">
                          <a:effectLst/>
                          <a:latin typeface="Arial Narrow" panose="020B0606020202030204" pitchFamily="34" charset="0"/>
                        </a:rPr>
                        <a:t>G</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67640" marR="167640" algn="ctr">
                        <a:lnSpc>
                          <a:spcPts val="1200"/>
                        </a:lnSpc>
                        <a:spcAft>
                          <a:spcPts val="0"/>
                        </a:spcAft>
                      </a:pPr>
                      <a:r>
                        <a:rPr lang="en-US" sz="1200" b="1">
                          <a:effectLst/>
                          <a:latin typeface="Arial Narrow" panose="020B0606020202030204" pitchFamily="34" charset="0"/>
                        </a:rPr>
                        <a:t>H</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84785" marR="184785" algn="ctr">
                        <a:lnSpc>
                          <a:spcPts val="1200"/>
                        </a:lnSpc>
                        <a:spcAft>
                          <a:spcPts val="0"/>
                        </a:spcAft>
                      </a:pPr>
                      <a:r>
                        <a:rPr lang="en-US" sz="1200" b="1">
                          <a:effectLst/>
                          <a:latin typeface="Arial Narrow" panose="020B0606020202030204" pitchFamily="34" charset="0"/>
                        </a:rPr>
                        <a:t>I</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84785" marR="185420" algn="ctr">
                        <a:lnSpc>
                          <a:spcPts val="1200"/>
                        </a:lnSpc>
                        <a:spcAft>
                          <a:spcPts val="0"/>
                        </a:spcAft>
                      </a:pPr>
                      <a:r>
                        <a:rPr lang="en-US" sz="1200" b="1">
                          <a:effectLst/>
                          <a:latin typeface="Arial Narrow" panose="020B0606020202030204" pitchFamily="34" charset="0"/>
                        </a:rPr>
                        <a:t>J</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extLst>
                  <a:ext uri="{0D108BD9-81ED-4DB2-BD59-A6C34878D82A}">
                    <a16:rowId xmlns:a16="http://schemas.microsoft.com/office/drawing/2014/main" val="1692772326"/>
                  </a:ext>
                </a:extLst>
              </a:tr>
              <a:tr h="197852">
                <a:tc>
                  <a:txBody>
                    <a:bodyPr/>
                    <a:lstStyle/>
                    <a:p>
                      <a:pPr marL="40640">
                        <a:lnSpc>
                          <a:spcPct val="107000"/>
                        </a:lnSpc>
                        <a:spcBef>
                          <a:spcPts val="145"/>
                        </a:spcBef>
                        <a:spcAft>
                          <a:spcPts val="0"/>
                        </a:spcAft>
                      </a:pPr>
                      <a:r>
                        <a:rPr lang="en-US" sz="1200" b="1" dirty="0" err="1">
                          <a:effectLst/>
                          <a:latin typeface="Arial Narrow" panose="020B0606020202030204" pitchFamily="34" charset="0"/>
                        </a:rPr>
                        <a:t>I</a:t>
                      </a:r>
                      <a:r>
                        <a:rPr lang="en-US" sz="1200" b="1" spc="-5" dirty="0" err="1">
                          <a:effectLst/>
                          <a:latin typeface="Arial Narrow" panose="020B0606020202030204" pitchFamily="34" charset="0"/>
                        </a:rPr>
                        <a:t>nv</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rsi</a:t>
                      </a:r>
                      <a:r>
                        <a:rPr lang="en-US" sz="1200" b="1" spc="10" dirty="0" err="1">
                          <a:effectLst/>
                          <a:latin typeface="Arial Narrow" panose="020B0606020202030204" pitchFamily="34" charset="0"/>
                        </a:rPr>
                        <a:t>ó</a:t>
                      </a:r>
                      <a:r>
                        <a:rPr lang="en-US" sz="1200" b="1" dirty="0" err="1">
                          <a:effectLst/>
                          <a:latin typeface="Arial Narrow" panose="020B0606020202030204" pitchFamily="34" charset="0"/>
                        </a:rPr>
                        <a:t>n</a:t>
                      </a:r>
                      <a:r>
                        <a:rPr lang="en-US" sz="1200" b="1" spc="-45" dirty="0">
                          <a:effectLst/>
                          <a:latin typeface="Arial Narrow" panose="020B0606020202030204" pitchFamily="34" charset="0"/>
                        </a:rPr>
                        <a:t> </a:t>
                      </a:r>
                      <a:r>
                        <a:rPr lang="en-US" sz="1200" b="1" dirty="0">
                          <a:effectLst/>
                          <a:latin typeface="Arial Narrow" panose="020B0606020202030204" pitchFamily="34" charset="0"/>
                        </a:rPr>
                        <a:t>por</a:t>
                      </a:r>
                      <a:r>
                        <a:rPr lang="en-US" sz="1200" b="1" spc="-15" dirty="0">
                          <a:effectLst/>
                          <a:latin typeface="Arial Narrow" panose="020B0606020202030204" pitchFamily="34" charset="0"/>
                        </a:rPr>
                        <a:t> </a:t>
                      </a:r>
                      <a:r>
                        <a:rPr lang="en-US" sz="1200" b="1" spc="5" dirty="0" err="1">
                          <a:effectLst/>
                          <a:latin typeface="Arial Narrow" panose="020B0606020202030204" pitchFamily="34" charset="0"/>
                        </a:rPr>
                        <a:t>pa</a:t>
                      </a:r>
                      <a:r>
                        <a:rPr lang="en-US" sz="1200" b="1" spc="10" dirty="0" err="1">
                          <a:effectLst/>
                          <a:latin typeface="Arial Narrow" panose="020B0606020202030204" pitchFamily="34" charset="0"/>
                        </a:rPr>
                        <a:t>q</a:t>
                      </a:r>
                      <a:r>
                        <a:rPr lang="en-US" sz="1200" b="1" spc="-5" dirty="0" err="1">
                          <a:effectLst/>
                          <a:latin typeface="Arial Narrow" panose="020B0606020202030204" pitchFamily="34" charset="0"/>
                        </a:rPr>
                        <a:t>u</a:t>
                      </a:r>
                      <a:r>
                        <a:rPr lang="en-US" sz="1200" b="1" spc="5" dirty="0" err="1">
                          <a:effectLst/>
                          <a:latin typeface="Arial Narrow" panose="020B0606020202030204" pitchFamily="34" charset="0"/>
                        </a:rPr>
                        <a:t>e</a:t>
                      </a:r>
                      <a:r>
                        <a:rPr lang="en-US" sz="1200" b="1" dirty="0" err="1">
                          <a:effectLst/>
                          <a:latin typeface="Arial Narrow" panose="020B0606020202030204" pitchFamily="34" charset="0"/>
                        </a:rPr>
                        <a:t>te</a:t>
                      </a:r>
                      <a:r>
                        <a:rPr lang="en-US" sz="1200" b="1" spc="-20" dirty="0">
                          <a:effectLst/>
                          <a:latin typeface="Arial Narrow" panose="020B0606020202030204" pitchFamily="34" charset="0"/>
                        </a:rPr>
                        <a:t> </a:t>
                      </a:r>
                      <a:r>
                        <a:rPr lang="en-US" sz="1200" b="1" dirty="0">
                          <a:effectLst/>
                          <a:latin typeface="Arial Narrow" panose="020B0606020202030204" pitchFamily="34" charset="0"/>
                        </a:rPr>
                        <a:t>($)</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5250">
                        <a:lnSpc>
                          <a:spcPct val="107000"/>
                        </a:lnSpc>
                        <a:spcBef>
                          <a:spcPts val="145"/>
                        </a:spcBef>
                        <a:spcAft>
                          <a:spcPts val="0"/>
                        </a:spcAft>
                      </a:pPr>
                      <a:r>
                        <a:rPr lang="en-US" sz="1200" b="1" spc="-5" dirty="0">
                          <a:effectLst/>
                          <a:latin typeface="Arial Narrow" panose="020B0606020202030204" pitchFamily="34" charset="0"/>
                        </a:rPr>
                        <a:t>35</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5885">
                        <a:lnSpc>
                          <a:spcPct val="107000"/>
                        </a:lnSpc>
                        <a:spcBef>
                          <a:spcPts val="145"/>
                        </a:spcBef>
                        <a:spcAft>
                          <a:spcPts val="0"/>
                        </a:spcAft>
                      </a:pPr>
                      <a:r>
                        <a:rPr lang="en-US" sz="1200" b="1" spc="-5" dirty="0">
                          <a:effectLst/>
                          <a:latin typeface="Arial Narrow" panose="020B0606020202030204" pitchFamily="34" charset="0"/>
                        </a:rPr>
                        <a:t>29</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7790">
                        <a:lnSpc>
                          <a:spcPct val="107000"/>
                        </a:lnSpc>
                        <a:spcBef>
                          <a:spcPts val="145"/>
                        </a:spcBef>
                        <a:spcAft>
                          <a:spcPts val="0"/>
                        </a:spcAft>
                      </a:pPr>
                      <a:r>
                        <a:rPr lang="en-US" sz="1200" b="1" spc="-5" dirty="0">
                          <a:effectLst/>
                          <a:latin typeface="Arial Narrow" panose="020B0606020202030204" pitchFamily="34" charset="0"/>
                        </a:rPr>
                        <a:t>40</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5885">
                        <a:lnSpc>
                          <a:spcPct val="107000"/>
                        </a:lnSpc>
                        <a:spcBef>
                          <a:spcPts val="145"/>
                        </a:spcBef>
                        <a:spcAft>
                          <a:spcPts val="0"/>
                        </a:spcAft>
                      </a:pPr>
                      <a:r>
                        <a:rPr lang="en-US" sz="1200" b="1" spc="-5" dirty="0">
                          <a:effectLst/>
                          <a:latin typeface="Arial Narrow" panose="020B0606020202030204" pitchFamily="34" charset="0"/>
                        </a:rPr>
                        <a:t>38</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4615">
                        <a:lnSpc>
                          <a:spcPct val="107000"/>
                        </a:lnSpc>
                        <a:spcBef>
                          <a:spcPts val="145"/>
                        </a:spcBef>
                        <a:spcAft>
                          <a:spcPts val="0"/>
                        </a:spcAft>
                      </a:pPr>
                      <a:r>
                        <a:rPr lang="en-US" sz="1200" b="1" spc="-5" dirty="0">
                          <a:effectLst/>
                          <a:latin typeface="Arial Narrow" panose="020B0606020202030204" pitchFamily="34" charset="0"/>
                        </a:rPr>
                        <a:t>42</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2710">
                        <a:lnSpc>
                          <a:spcPct val="107000"/>
                        </a:lnSpc>
                        <a:spcBef>
                          <a:spcPts val="145"/>
                        </a:spcBef>
                        <a:spcAft>
                          <a:spcPts val="0"/>
                        </a:spcAft>
                      </a:pPr>
                      <a:r>
                        <a:rPr lang="en-US" sz="1200" b="1" spc="-5" dirty="0">
                          <a:effectLst/>
                          <a:latin typeface="Arial Narrow" panose="020B0606020202030204" pitchFamily="34" charset="0"/>
                        </a:rPr>
                        <a:t>36</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2710">
                        <a:lnSpc>
                          <a:spcPct val="107000"/>
                        </a:lnSpc>
                        <a:spcBef>
                          <a:spcPts val="145"/>
                        </a:spcBef>
                        <a:spcAft>
                          <a:spcPts val="0"/>
                        </a:spcAft>
                      </a:pPr>
                      <a:r>
                        <a:rPr lang="en-US" sz="1200" b="1" spc="-5" dirty="0">
                          <a:effectLst/>
                          <a:latin typeface="Arial Narrow" panose="020B0606020202030204" pitchFamily="34" charset="0"/>
                        </a:rPr>
                        <a:t>32</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9695">
                        <a:lnSpc>
                          <a:spcPct val="107000"/>
                        </a:lnSpc>
                        <a:spcBef>
                          <a:spcPts val="145"/>
                        </a:spcBef>
                        <a:spcAft>
                          <a:spcPts val="0"/>
                        </a:spcAft>
                      </a:pPr>
                      <a:r>
                        <a:rPr lang="en-US" sz="1200" b="1" spc="-5" dirty="0">
                          <a:effectLst/>
                          <a:latin typeface="Arial Narrow" panose="020B0606020202030204" pitchFamily="34" charset="0"/>
                        </a:rPr>
                        <a:t>30</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99060">
                        <a:lnSpc>
                          <a:spcPct val="107000"/>
                        </a:lnSpc>
                        <a:spcBef>
                          <a:spcPts val="145"/>
                        </a:spcBef>
                        <a:spcAft>
                          <a:spcPts val="0"/>
                        </a:spcAft>
                      </a:pPr>
                      <a:r>
                        <a:rPr lang="en-US" sz="1200" b="1" spc="-5" dirty="0">
                          <a:effectLst/>
                          <a:latin typeface="Arial Narrow" panose="020B0606020202030204" pitchFamily="34" charset="0"/>
                        </a:rPr>
                        <a:t>37</a:t>
                      </a:r>
                      <a:r>
                        <a:rPr lang="en-US" sz="1200" b="1" spc="5" dirty="0">
                          <a:effectLst/>
                          <a:latin typeface="Arial Narrow" panose="020B0606020202030204" pitchFamily="34" charset="0"/>
                        </a:rPr>
                        <a:t>0</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marL="100330">
                        <a:lnSpc>
                          <a:spcPct val="107000"/>
                        </a:lnSpc>
                        <a:spcBef>
                          <a:spcPts val="145"/>
                        </a:spcBef>
                        <a:spcAft>
                          <a:spcPts val="0"/>
                        </a:spcAft>
                      </a:pPr>
                      <a:r>
                        <a:rPr lang="en-US" sz="1200" b="1" spc="-5">
                          <a:effectLst/>
                          <a:latin typeface="Arial Narrow" panose="020B0606020202030204" pitchFamily="34" charset="0"/>
                        </a:rPr>
                        <a:t>33</a:t>
                      </a:r>
                      <a:r>
                        <a:rPr lang="en-US" sz="1200" b="1" spc="5">
                          <a:effectLst/>
                          <a:latin typeface="Arial Narrow" panose="020B0606020202030204" pitchFamily="34" charset="0"/>
                        </a:rPr>
                        <a:t>0</a:t>
                      </a:r>
                      <a:r>
                        <a:rPr lang="en-US" sz="1200" b="1">
                          <a:effectLst/>
                          <a:latin typeface="Arial Narrow" panose="020B0606020202030204" pitchFamily="34" charset="0"/>
                        </a:rPr>
                        <a:t>0</a:t>
                      </a:r>
                      <a:endParaRPr lang="es-PE" sz="1200" b="1">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extLst>
                  <a:ext uri="{0D108BD9-81ED-4DB2-BD59-A6C34878D82A}">
                    <a16:rowId xmlns:a16="http://schemas.microsoft.com/office/drawing/2014/main" val="3103788821"/>
                  </a:ext>
                </a:extLst>
              </a:tr>
              <a:tr h="313265">
                <a:tc>
                  <a:txBody>
                    <a:bodyPr/>
                    <a:lstStyle/>
                    <a:p>
                      <a:pPr marL="40640" marR="71755">
                        <a:lnSpc>
                          <a:spcPts val="1210"/>
                        </a:lnSpc>
                        <a:spcBef>
                          <a:spcPts val="20"/>
                        </a:spcBef>
                        <a:spcAft>
                          <a:spcPts val="0"/>
                        </a:spcAft>
                      </a:pPr>
                      <a:r>
                        <a:rPr lang="es-PE" sz="1200" b="1" spc="5" dirty="0">
                          <a:effectLst/>
                          <a:latin typeface="Arial Narrow" panose="020B0606020202030204" pitchFamily="34" charset="0"/>
                        </a:rPr>
                        <a:t>Re</a:t>
                      </a:r>
                      <a:r>
                        <a:rPr lang="es-PE" sz="1200" b="1" spc="-5" dirty="0">
                          <a:effectLst/>
                          <a:latin typeface="Arial Narrow" panose="020B0606020202030204" pitchFamily="34" charset="0"/>
                        </a:rPr>
                        <a:t>n</a:t>
                      </a:r>
                      <a:r>
                        <a:rPr lang="es-PE" sz="1200" b="1" dirty="0">
                          <a:effectLst/>
                          <a:latin typeface="Arial Narrow" panose="020B0606020202030204" pitchFamily="34" charset="0"/>
                        </a:rPr>
                        <a:t>t</a:t>
                      </a:r>
                      <a:r>
                        <a:rPr lang="es-PE" sz="1200" b="1" spc="5" dirty="0">
                          <a:effectLst/>
                          <a:latin typeface="Arial Narrow" panose="020B0606020202030204" pitchFamily="34" charset="0"/>
                        </a:rPr>
                        <a:t>a</a:t>
                      </a:r>
                      <a:r>
                        <a:rPr lang="es-PE" sz="1200" b="1" dirty="0">
                          <a:effectLst/>
                          <a:latin typeface="Arial Narrow" panose="020B0606020202030204" pitchFamily="34" charset="0"/>
                        </a:rPr>
                        <a:t>bilid</a:t>
                      </a:r>
                      <a:r>
                        <a:rPr lang="es-PE" sz="1200" b="1" spc="10" dirty="0">
                          <a:effectLst/>
                          <a:latin typeface="Arial Narrow" panose="020B0606020202030204" pitchFamily="34" charset="0"/>
                        </a:rPr>
                        <a:t>a</a:t>
                      </a:r>
                      <a:r>
                        <a:rPr lang="es-PE" sz="1200" b="1" dirty="0">
                          <a:effectLst/>
                          <a:latin typeface="Arial Narrow" panose="020B0606020202030204" pitchFamily="34" charset="0"/>
                        </a:rPr>
                        <a:t>d</a:t>
                      </a:r>
                      <a:r>
                        <a:rPr lang="es-PE" sz="1200" b="1" spc="-55" dirty="0">
                          <a:effectLst/>
                          <a:latin typeface="Arial Narrow" panose="020B0606020202030204" pitchFamily="34" charset="0"/>
                        </a:rPr>
                        <a:t> </a:t>
                      </a:r>
                      <a:r>
                        <a:rPr lang="es-PE" sz="1200" b="1" spc="5" dirty="0">
                          <a:effectLst/>
                          <a:latin typeface="Arial Narrow" panose="020B0606020202030204" pitchFamily="34" charset="0"/>
                        </a:rPr>
                        <a:t>(</a:t>
                      </a:r>
                      <a:r>
                        <a:rPr lang="es-PE" sz="1200" b="1" dirty="0">
                          <a:effectLst/>
                          <a:latin typeface="Arial Narrow" panose="020B0606020202030204" pitchFamily="34" charset="0"/>
                        </a:rPr>
                        <a:t>%</a:t>
                      </a:r>
                      <a:r>
                        <a:rPr lang="es-PE" sz="1200" b="1" spc="-5" dirty="0">
                          <a:effectLst/>
                          <a:latin typeface="Arial Narrow" panose="020B0606020202030204" pitchFamily="34" charset="0"/>
                        </a:rPr>
                        <a:t> </a:t>
                      </a:r>
                      <a:r>
                        <a:rPr lang="es-PE" sz="1200" b="1" dirty="0">
                          <a:effectLst/>
                          <a:latin typeface="Arial Narrow" panose="020B0606020202030204" pitchFamily="34" charset="0"/>
                        </a:rPr>
                        <a:t>r</a:t>
                      </a:r>
                      <a:r>
                        <a:rPr lang="es-PE" sz="1200" b="1" spc="5" dirty="0">
                          <a:effectLst/>
                          <a:latin typeface="Arial Narrow" panose="020B0606020202030204" pitchFamily="34" charset="0"/>
                        </a:rPr>
                        <a:t>e</a:t>
                      </a:r>
                      <a:r>
                        <a:rPr lang="es-PE" sz="1200" b="1" dirty="0">
                          <a:effectLst/>
                          <a:latin typeface="Arial Narrow" panose="020B0606020202030204" pitchFamily="34" charset="0"/>
                        </a:rPr>
                        <a:t>sp</a:t>
                      </a:r>
                      <a:r>
                        <a:rPr lang="es-PE" sz="1200" b="1" spc="5" dirty="0">
                          <a:effectLst/>
                          <a:latin typeface="Arial Narrow" panose="020B0606020202030204" pitchFamily="34" charset="0"/>
                        </a:rPr>
                        <a:t>e</a:t>
                      </a:r>
                      <a:r>
                        <a:rPr lang="es-PE" sz="1200" b="1" spc="-5" dirty="0">
                          <a:effectLst/>
                          <a:latin typeface="Arial Narrow" panose="020B0606020202030204" pitchFamily="34" charset="0"/>
                        </a:rPr>
                        <a:t>c</a:t>
                      </a:r>
                      <a:r>
                        <a:rPr lang="es-PE" sz="1200" b="1" dirty="0">
                          <a:effectLst/>
                          <a:latin typeface="Arial Narrow" panose="020B0606020202030204" pitchFamily="34" charset="0"/>
                        </a:rPr>
                        <a:t>to</a:t>
                      </a:r>
                      <a:r>
                        <a:rPr lang="es-PE" sz="1200" b="1" spc="-35" dirty="0">
                          <a:effectLst/>
                          <a:latin typeface="Arial Narrow" panose="020B0606020202030204" pitchFamily="34" charset="0"/>
                        </a:rPr>
                        <a:t> </a:t>
                      </a:r>
                      <a:r>
                        <a:rPr lang="es-PE" sz="1200" b="1" dirty="0">
                          <a:effectLst/>
                          <a:latin typeface="Arial Narrow" panose="020B0606020202030204" pitchFamily="34" charset="0"/>
                        </a:rPr>
                        <a:t>a</a:t>
                      </a:r>
                      <a:r>
                        <a:rPr lang="es-PE" sz="1200" b="1" spc="10" dirty="0">
                          <a:effectLst/>
                          <a:latin typeface="Arial Narrow" panose="020B0606020202030204" pitchFamily="34" charset="0"/>
                        </a:rPr>
                        <a:t> </a:t>
                      </a:r>
                      <a:r>
                        <a:rPr lang="es-PE" sz="1200" b="1" dirty="0">
                          <a:effectLst/>
                          <a:latin typeface="Arial Narrow" panose="020B0606020202030204" pitchFamily="34" charset="0"/>
                        </a:rPr>
                        <a:t>la i</a:t>
                      </a:r>
                      <a:r>
                        <a:rPr lang="es-PE" sz="1200" b="1" spc="-5" dirty="0">
                          <a:effectLst/>
                          <a:latin typeface="Arial Narrow" panose="020B0606020202030204" pitchFamily="34" charset="0"/>
                        </a:rPr>
                        <a:t>nv</a:t>
                      </a:r>
                      <a:r>
                        <a:rPr lang="es-PE" sz="1200" b="1" spc="5" dirty="0">
                          <a:effectLst/>
                          <a:latin typeface="Arial Narrow" panose="020B0606020202030204" pitchFamily="34" charset="0"/>
                        </a:rPr>
                        <a:t>e</a:t>
                      </a:r>
                      <a:r>
                        <a:rPr lang="es-PE" sz="1200" b="1" dirty="0">
                          <a:effectLst/>
                          <a:latin typeface="Arial Narrow" panose="020B0606020202030204" pitchFamily="34" charset="0"/>
                        </a:rPr>
                        <a:t>rsi</a:t>
                      </a:r>
                      <a:r>
                        <a:rPr lang="es-PE" sz="1200" b="1" spc="10" dirty="0">
                          <a:effectLst/>
                          <a:latin typeface="Arial Narrow" panose="020B0606020202030204" pitchFamily="34" charset="0"/>
                        </a:rPr>
                        <a:t>ó</a:t>
                      </a:r>
                      <a:r>
                        <a:rPr lang="es-PE" sz="1200" b="1" dirty="0">
                          <a:effectLst/>
                          <a:latin typeface="Arial Narrow" panose="020B0606020202030204" pitchFamily="34" charset="0"/>
                        </a:rPr>
                        <a:t>n)</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s-PE" sz="1200" b="1" dirty="0">
                          <a:effectLst/>
                          <a:latin typeface="Arial Narrow" panose="020B0606020202030204" pitchFamily="34" charset="0"/>
                        </a:rPr>
                        <a:t> </a:t>
                      </a:r>
                    </a:p>
                    <a:p>
                      <a:pPr marL="14605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.2</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11125">
                        <a:lnSpc>
                          <a:spcPct val="107000"/>
                        </a:lnSpc>
                        <a:spcAft>
                          <a:spcPts val="0"/>
                        </a:spcAft>
                      </a:pPr>
                      <a:r>
                        <a:rPr lang="en-US" sz="1200" b="1" spc="-5" dirty="0">
                          <a:effectLst/>
                          <a:latin typeface="Arial Narrow" panose="020B0606020202030204" pitchFamily="34" charset="0"/>
                        </a:rPr>
                        <a:t>10</a:t>
                      </a:r>
                      <a:r>
                        <a:rPr lang="en-US" sz="1200" b="1" spc="10" dirty="0">
                          <a:effectLst/>
                          <a:latin typeface="Arial Narrow" panose="020B0606020202030204" pitchFamily="34" charset="0"/>
                        </a:rPr>
                        <a:t>.</a:t>
                      </a:r>
                      <a:r>
                        <a:rPr lang="en-US" sz="1200" b="1" dirty="0">
                          <a:effectLst/>
                          <a:latin typeface="Arial Narrow" panose="020B0606020202030204" pitchFamily="34" charset="0"/>
                        </a:rPr>
                        <a:t>0</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7955">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.4</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6050">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.6</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4780">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.2</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351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.2</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351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.6</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50495">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.9</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49225">
                        <a:lnSpc>
                          <a:spcPct val="107000"/>
                        </a:lnSpc>
                        <a:spcAft>
                          <a:spcPts val="0"/>
                        </a:spcAft>
                      </a:pPr>
                      <a:r>
                        <a:rPr lang="en-US" sz="1200" b="1" spc="-5" dirty="0">
                          <a:effectLst/>
                          <a:latin typeface="Arial Narrow" panose="020B0606020202030204" pitchFamily="34" charset="0"/>
                        </a:rPr>
                        <a:t>8</a:t>
                      </a:r>
                      <a:r>
                        <a:rPr lang="en-US" sz="1200" b="1" dirty="0">
                          <a:effectLst/>
                          <a:latin typeface="Arial Narrow" panose="020B0606020202030204" pitchFamily="34" charset="0"/>
                        </a:rPr>
                        <a:t>.9</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tc>
                  <a:txBody>
                    <a:bodyPr/>
                    <a:lstStyle/>
                    <a:p>
                      <a:pPr>
                        <a:lnSpc>
                          <a:spcPts val="600"/>
                        </a:lnSpc>
                        <a:spcBef>
                          <a:spcPts val="5"/>
                        </a:spcBef>
                        <a:spcAft>
                          <a:spcPts val="0"/>
                        </a:spcAft>
                      </a:pPr>
                      <a:r>
                        <a:rPr lang="en-US" sz="1200" b="1" dirty="0">
                          <a:effectLst/>
                          <a:latin typeface="Arial Narrow" panose="020B0606020202030204" pitchFamily="34" charset="0"/>
                        </a:rPr>
                        <a:t> </a:t>
                      </a:r>
                      <a:endParaRPr lang="es-PE" sz="1200" b="1" dirty="0">
                        <a:effectLst/>
                        <a:latin typeface="Arial Narrow" panose="020B0606020202030204" pitchFamily="34" charset="0"/>
                      </a:endParaRPr>
                    </a:p>
                    <a:p>
                      <a:pPr marL="151130">
                        <a:lnSpc>
                          <a:spcPct val="107000"/>
                        </a:lnSpc>
                        <a:spcAft>
                          <a:spcPts val="0"/>
                        </a:spcAft>
                      </a:pPr>
                      <a:r>
                        <a:rPr lang="en-US" sz="1200" b="1" spc="-5" dirty="0">
                          <a:effectLst/>
                          <a:latin typeface="Arial Narrow" panose="020B0606020202030204" pitchFamily="34" charset="0"/>
                        </a:rPr>
                        <a:t>9</a:t>
                      </a:r>
                      <a:r>
                        <a:rPr lang="en-US" sz="1200" b="1" dirty="0">
                          <a:effectLst/>
                          <a:latin typeface="Arial Narrow" panose="020B0606020202030204" pitchFamily="34" charset="0"/>
                        </a:rPr>
                        <a:t>.4</a:t>
                      </a:r>
                      <a:endParaRPr lang="es-PE" sz="1200" b="1" dirty="0">
                        <a:effectLst/>
                        <a:latin typeface="Arial Narrow" panose="020B0606020202030204" pitchFamily="34" charset="0"/>
                        <a:ea typeface="Times New Roman" panose="02020603050405020304" pitchFamily="18" charset="0"/>
                        <a:cs typeface="Times New Roman" panose="02020603050405020304" pitchFamily="18" charset="0"/>
                      </a:endParaRPr>
                    </a:p>
                  </a:txBody>
                  <a:tcPr marL="0" marR="0" marT="0" marB="0">
                    <a:solidFill>
                      <a:schemeClr val="accent3">
                        <a:lumMod val="60000"/>
                        <a:lumOff val="40000"/>
                      </a:schemeClr>
                    </a:solidFill>
                  </a:tcPr>
                </a:tc>
                <a:extLst>
                  <a:ext uri="{0D108BD9-81ED-4DB2-BD59-A6C34878D82A}">
                    <a16:rowId xmlns:a16="http://schemas.microsoft.com/office/drawing/2014/main" val="3145165247"/>
                  </a:ext>
                </a:extLst>
              </a:tr>
            </a:tbl>
          </a:graphicData>
        </a:graphic>
      </p:graphicFrame>
      <p:sp>
        <p:nvSpPr>
          <p:cNvPr id="6" name="CuadroTexto 5">
            <a:extLst>
              <a:ext uri="{FF2B5EF4-FFF2-40B4-BE49-F238E27FC236}">
                <a16:creationId xmlns:a16="http://schemas.microsoft.com/office/drawing/2014/main" id="{EEB0E90E-27B5-5DC3-04F8-154A9F9A7F3D}"/>
              </a:ext>
            </a:extLst>
          </p:cNvPr>
          <p:cNvSpPr txBox="1"/>
          <p:nvPr/>
        </p:nvSpPr>
        <p:spPr>
          <a:xfrm>
            <a:off x="6096000" y="222480"/>
            <a:ext cx="6096000" cy="584775"/>
          </a:xfrm>
          <a:prstGeom prst="rect">
            <a:avLst/>
          </a:prstGeom>
          <a:noFill/>
        </p:spPr>
        <p:txBody>
          <a:bodyPr wrap="square" rtlCol="0">
            <a:spAutoFit/>
          </a:bodyPr>
          <a:lstStyle/>
          <a:p>
            <a:pPr algn="ct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Es</a:t>
            </a:r>
            <a:r>
              <a:rPr lang="es-PE" sz="3200" b="1" u="heavy" spc="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c</a:t>
            </a:r>
            <a:r>
              <a:rPr lang="es-PE" sz="3200" b="1" u="heavy" spc="-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e</a:t>
            </a: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nar</a:t>
            </a:r>
            <a:r>
              <a:rPr lang="es-PE" sz="3200" b="1" u="heavy" spc="1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i</a:t>
            </a: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o 2</a:t>
            </a:r>
            <a:endParaRPr lang="es-PE" sz="3200" dirty="0">
              <a:solidFill>
                <a:schemeClr val="bg1"/>
              </a:solidFill>
            </a:endParaRPr>
          </a:p>
        </p:txBody>
      </p:sp>
    </p:spTree>
    <p:extLst>
      <p:ext uri="{BB962C8B-B14F-4D97-AF65-F5344CB8AC3E}">
        <p14:creationId xmlns:p14="http://schemas.microsoft.com/office/powerpoint/2010/main" val="44285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0273931-44DA-4EB2-97CB-1352E3D7A45D}"/>
              </a:ext>
            </a:extLst>
          </p:cNvPr>
          <p:cNvSpPr/>
          <p:nvPr/>
        </p:nvSpPr>
        <p:spPr>
          <a:xfrm>
            <a:off x="0" y="1232390"/>
            <a:ext cx="6096000" cy="5632311"/>
          </a:xfrm>
          <a:prstGeom prst="rect">
            <a:avLst/>
          </a:prstGeom>
          <a:solidFill>
            <a:srgbClr val="FFFF00"/>
          </a:solidFill>
        </p:spPr>
        <p:txBody>
          <a:bodyPr wrap="square">
            <a:spAutoFit/>
          </a:bodyPr>
          <a:lstStyle/>
          <a:p>
            <a:r>
              <a:rPr lang="es-PE" sz="2400" b="1" dirty="0">
                <a:latin typeface="Arial Narrow" panose="020B0606020202030204" pitchFamily="34" charset="0"/>
              </a:rPr>
              <a:t>MAX </a:t>
            </a:r>
            <a:r>
              <a:rPr lang="es-PE" sz="2400" b="1" dirty="0" err="1">
                <a:latin typeface="Arial Narrow" panose="020B0606020202030204" pitchFamily="34" charset="0"/>
              </a:rPr>
              <a:t>322T1+290T2+336T3+326.8T4+344.4T5</a:t>
            </a:r>
            <a:r>
              <a:rPr lang="es-PE" sz="2400" b="1" dirty="0">
                <a:latin typeface="Arial Narrow" panose="020B0606020202030204" pitchFamily="34" charset="0"/>
              </a:rPr>
              <a:t>+</a:t>
            </a:r>
          </a:p>
          <a:p>
            <a:r>
              <a:rPr lang="es-PE" sz="2400" b="1" dirty="0" err="1">
                <a:latin typeface="Arial Narrow" panose="020B0606020202030204" pitchFamily="34" charset="0"/>
              </a:rPr>
              <a:t>331.2T6</a:t>
            </a:r>
            <a:r>
              <a:rPr lang="es-PE" sz="2400" b="1" dirty="0">
                <a:latin typeface="Arial Narrow" panose="020B0606020202030204" pitchFamily="34" charset="0"/>
              </a:rPr>
              <a:t>+ </a:t>
            </a:r>
            <a:r>
              <a:rPr lang="es-PE" sz="2400" b="1" dirty="0" err="1">
                <a:latin typeface="Arial Narrow" panose="020B0606020202030204" pitchFamily="34" charset="0"/>
              </a:rPr>
              <a:t>307.2T7+297T8+329.3T9+310.2T10</a:t>
            </a:r>
            <a:endParaRPr lang="es-PE" sz="2400" b="1" dirty="0">
              <a:latin typeface="Arial Narrow" panose="020B0606020202030204" pitchFamily="34" charset="0"/>
            </a:endParaRPr>
          </a:p>
          <a:p>
            <a:r>
              <a:rPr lang="es-PE" sz="2400" b="1" dirty="0" err="1">
                <a:latin typeface="Arial Narrow" panose="020B0606020202030204" pitchFamily="34" charset="0"/>
              </a:rPr>
              <a:t>ST</a:t>
            </a:r>
            <a:endParaRPr lang="es-PE" sz="2400" b="1" dirty="0">
              <a:latin typeface="Arial Narrow" panose="020B0606020202030204" pitchFamily="34" charset="0"/>
            </a:endParaRPr>
          </a:p>
          <a:p>
            <a:r>
              <a:rPr lang="es-PE" sz="2400" b="1" dirty="0">
                <a:latin typeface="Arial Narrow" panose="020B0606020202030204" pitchFamily="34" charset="0"/>
              </a:rPr>
              <a:t>3500T1+2900T2+4000T3+3800T4+4200T5+3600T6+3200T7+3000T8+3700T9+3300T10&lt;=20000</a:t>
            </a:r>
          </a:p>
          <a:p>
            <a:r>
              <a:rPr lang="es-PE" sz="2400" b="1" dirty="0">
                <a:latin typeface="Arial Narrow" panose="020B0606020202030204" pitchFamily="34" charset="0"/>
              </a:rPr>
              <a:t>T1+T2+T3-3R1&lt;=0</a:t>
            </a:r>
          </a:p>
          <a:p>
            <a:r>
              <a:rPr lang="es-PE" sz="2400" b="1" dirty="0">
                <a:latin typeface="Arial Narrow" panose="020B0606020202030204" pitchFamily="34" charset="0"/>
              </a:rPr>
              <a:t>T4+T5+T6+T7-4R2&lt;=0</a:t>
            </a:r>
          </a:p>
          <a:p>
            <a:r>
              <a:rPr lang="es-PE" sz="2400" b="1" dirty="0">
                <a:latin typeface="Arial Narrow" panose="020B0606020202030204" pitchFamily="34" charset="0"/>
              </a:rPr>
              <a:t>T8+T9+T10- 3R3&lt;=0</a:t>
            </a:r>
          </a:p>
          <a:p>
            <a:r>
              <a:rPr lang="es-PE" sz="2400" b="1" dirty="0" err="1">
                <a:latin typeface="Arial Narrow" panose="020B0606020202030204" pitchFamily="34" charset="0"/>
              </a:rPr>
              <a:t>R1+R2+R3</a:t>
            </a:r>
            <a:r>
              <a:rPr lang="es-PE" sz="2400" b="1" dirty="0">
                <a:latin typeface="Arial Narrow" panose="020B0606020202030204" pitchFamily="34" charset="0"/>
              </a:rPr>
              <a:t>&lt;=2</a:t>
            </a:r>
          </a:p>
          <a:p>
            <a:r>
              <a:rPr lang="es-PE" sz="2400" b="1" dirty="0">
                <a:latin typeface="Arial Narrow" panose="020B0606020202030204" pitchFamily="34" charset="0"/>
              </a:rPr>
              <a:t>END</a:t>
            </a:r>
          </a:p>
          <a:p>
            <a:r>
              <a:rPr lang="es-PE" sz="2400" b="1" dirty="0" err="1">
                <a:latin typeface="Arial Narrow" panose="020B0606020202030204" pitchFamily="34" charset="0"/>
              </a:rPr>
              <a:t>INT</a:t>
            </a:r>
            <a:r>
              <a:rPr lang="es-PE" sz="2400" b="1" dirty="0">
                <a:latin typeface="Arial Narrow" panose="020B0606020202030204" pitchFamily="34" charset="0"/>
              </a:rPr>
              <a:t> </a:t>
            </a:r>
            <a:r>
              <a:rPr lang="es-PE" sz="2400" b="1" dirty="0" err="1">
                <a:latin typeface="Arial Narrow" panose="020B0606020202030204" pitchFamily="34" charset="0"/>
              </a:rPr>
              <a:t>T1</a:t>
            </a:r>
            <a:endParaRPr lang="es-PE" sz="2400" b="1" dirty="0">
              <a:latin typeface="Arial Narrow" panose="020B0606020202030204" pitchFamily="34" charset="0"/>
            </a:endParaRPr>
          </a:p>
          <a:p>
            <a:r>
              <a:rPr lang="es-PE" sz="2400" b="1" dirty="0" err="1">
                <a:latin typeface="Arial Narrow" panose="020B0606020202030204" pitchFamily="34" charset="0"/>
              </a:rPr>
              <a:t>INT</a:t>
            </a:r>
            <a:r>
              <a:rPr lang="es-PE" sz="2400" b="1" dirty="0">
                <a:latin typeface="Arial Narrow" panose="020B0606020202030204" pitchFamily="34" charset="0"/>
              </a:rPr>
              <a:t> </a:t>
            </a:r>
            <a:r>
              <a:rPr lang="es-PE" sz="2400" b="1" dirty="0" err="1">
                <a:latin typeface="Arial Narrow" panose="020B0606020202030204" pitchFamily="34" charset="0"/>
              </a:rPr>
              <a:t>T2</a:t>
            </a:r>
            <a:endParaRPr lang="es-PE" sz="2400" b="1" dirty="0">
              <a:latin typeface="Arial Narrow" panose="020B0606020202030204" pitchFamily="34" charset="0"/>
            </a:endParaRPr>
          </a:p>
          <a:p>
            <a:r>
              <a:rPr lang="es-PE" sz="2400" b="1" dirty="0" err="1">
                <a:latin typeface="Arial Narrow" panose="020B0606020202030204" pitchFamily="34" charset="0"/>
              </a:rPr>
              <a:t>INT</a:t>
            </a:r>
            <a:r>
              <a:rPr lang="es-PE" sz="2400" b="1" dirty="0">
                <a:latin typeface="Arial Narrow" panose="020B0606020202030204" pitchFamily="34" charset="0"/>
              </a:rPr>
              <a:t> </a:t>
            </a:r>
            <a:r>
              <a:rPr lang="es-PE" sz="2400" b="1" dirty="0" err="1">
                <a:latin typeface="Arial Narrow" panose="020B0606020202030204" pitchFamily="34" charset="0"/>
              </a:rPr>
              <a:t>T3</a:t>
            </a:r>
            <a:endParaRPr lang="es-PE" sz="2400" b="1" dirty="0">
              <a:latin typeface="Arial Narrow" panose="020B0606020202030204" pitchFamily="34" charset="0"/>
            </a:endParaRPr>
          </a:p>
          <a:p>
            <a:r>
              <a:rPr lang="es-PE" sz="2400" b="1" dirty="0" err="1">
                <a:latin typeface="Arial Narrow" panose="020B0606020202030204" pitchFamily="34" charset="0"/>
              </a:rPr>
              <a:t>INT</a:t>
            </a:r>
            <a:r>
              <a:rPr lang="es-PE" sz="2400" b="1" dirty="0">
                <a:latin typeface="Arial Narrow" panose="020B0606020202030204" pitchFamily="34" charset="0"/>
              </a:rPr>
              <a:t> </a:t>
            </a:r>
            <a:r>
              <a:rPr lang="es-PE" sz="2400" b="1" dirty="0" err="1">
                <a:latin typeface="Arial Narrow" panose="020B0606020202030204" pitchFamily="34" charset="0"/>
              </a:rPr>
              <a:t>T4</a:t>
            </a:r>
            <a:r>
              <a:rPr lang="es-PE" sz="2400" b="1" dirty="0">
                <a:latin typeface="Arial Narrow" panose="020B0606020202030204" pitchFamily="34" charset="0"/>
              </a:rPr>
              <a:t> 	</a:t>
            </a:r>
          </a:p>
          <a:p>
            <a:r>
              <a:rPr lang="es-PE" sz="2400" b="1" dirty="0" err="1">
                <a:latin typeface="Arial Narrow" panose="020B0606020202030204" pitchFamily="34" charset="0"/>
              </a:rPr>
              <a:t>INT</a:t>
            </a:r>
            <a:r>
              <a:rPr lang="es-PE" sz="2400" b="1" dirty="0">
                <a:latin typeface="Arial Narrow" panose="020B0606020202030204" pitchFamily="34" charset="0"/>
              </a:rPr>
              <a:t> </a:t>
            </a:r>
            <a:r>
              <a:rPr lang="es-PE" sz="2400" b="1" dirty="0" err="1">
                <a:latin typeface="Arial Narrow" panose="020B0606020202030204" pitchFamily="34" charset="0"/>
              </a:rPr>
              <a:t>T5</a:t>
            </a:r>
            <a:endParaRPr lang="es-PE" sz="2400" b="1" dirty="0">
              <a:latin typeface="Arial Narrow" panose="020B0606020202030204" pitchFamily="34" charset="0"/>
            </a:endParaRPr>
          </a:p>
        </p:txBody>
      </p:sp>
      <p:sp>
        <p:nvSpPr>
          <p:cNvPr id="6" name="CuadroTexto 5">
            <a:extLst>
              <a:ext uri="{FF2B5EF4-FFF2-40B4-BE49-F238E27FC236}">
                <a16:creationId xmlns:a16="http://schemas.microsoft.com/office/drawing/2014/main" id="{62DBE41F-ACBB-B3F5-204F-F7B0127C4B87}"/>
              </a:ext>
            </a:extLst>
          </p:cNvPr>
          <p:cNvSpPr txBox="1"/>
          <p:nvPr/>
        </p:nvSpPr>
        <p:spPr>
          <a:xfrm>
            <a:off x="6653348" y="1232390"/>
            <a:ext cx="5077097" cy="5632311"/>
          </a:xfrm>
          <a:prstGeom prst="rect">
            <a:avLst/>
          </a:prstGeom>
          <a:solidFill>
            <a:schemeClr val="accent3">
              <a:lumMod val="60000"/>
              <a:lumOff val="40000"/>
            </a:schemeClr>
          </a:solidFill>
        </p:spPr>
        <p:txBody>
          <a:bodyPr wrap="square">
            <a:spAutoFit/>
          </a:bodyPr>
          <a:lstStyle/>
          <a:p>
            <a:r>
              <a:rPr lang="es-PE" sz="2400" b="1" dirty="0">
                <a:latin typeface="Arial Narrow" panose="020B0606020202030204" pitchFamily="34" charset="0"/>
              </a:rPr>
              <a:t> 1)      1660.400</a:t>
            </a:r>
          </a:p>
          <a:p>
            <a:r>
              <a:rPr lang="es-PE" sz="2400" b="1" dirty="0">
                <a:latin typeface="Arial Narrow" panose="020B0606020202030204" pitchFamily="34" charset="0"/>
              </a:rPr>
              <a:t>  VARIABLE    </a:t>
            </a:r>
            <a:r>
              <a:rPr lang="es-PE" sz="2400" b="1" dirty="0" err="1">
                <a:latin typeface="Arial Narrow" panose="020B0606020202030204" pitchFamily="34" charset="0"/>
              </a:rPr>
              <a:t>VALUE</a:t>
            </a:r>
            <a:r>
              <a:rPr lang="es-PE" sz="2400" b="1" dirty="0">
                <a:latin typeface="Arial Narrow" panose="020B0606020202030204" pitchFamily="34" charset="0"/>
              </a:rPr>
              <a:t>     </a:t>
            </a:r>
            <a:r>
              <a:rPr lang="es-PE" sz="2400" b="1" dirty="0" err="1">
                <a:latin typeface="Arial Narrow" panose="020B0606020202030204" pitchFamily="34" charset="0"/>
              </a:rPr>
              <a:t>REDUCED</a:t>
            </a:r>
            <a:r>
              <a:rPr lang="es-PE" sz="2400" b="1" dirty="0">
                <a:latin typeface="Arial Narrow" panose="020B0606020202030204" pitchFamily="34" charset="0"/>
              </a:rPr>
              <a:t> COST</a:t>
            </a:r>
          </a:p>
          <a:p>
            <a:r>
              <a:rPr lang="es-PE" sz="2400" b="1" dirty="0">
                <a:latin typeface="Arial Narrow" panose="020B0606020202030204" pitchFamily="34" charset="0"/>
              </a:rPr>
              <a:t>        T1         1.000000       -322.000000</a:t>
            </a:r>
          </a:p>
          <a:p>
            <a:r>
              <a:rPr lang="es-PE" sz="2400" b="1" dirty="0">
                <a:latin typeface="Arial Narrow" panose="020B0606020202030204" pitchFamily="34" charset="0"/>
              </a:rPr>
              <a:t>        T2         0.000000       -290.000000</a:t>
            </a:r>
          </a:p>
          <a:p>
            <a:r>
              <a:rPr lang="es-PE" sz="2400" b="1" dirty="0">
                <a:latin typeface="Arial Narrow" panose="020B0606020202030204" pitchFamily="34" charset="0"/>
              </a:rPr>
              <a:t>        T3         1.000000       -336.000000</a:t>
            </a:r>
          </a:p>
          <a:p>
            <a:r>
              <a:rPr lang="es-PE" sz="2400" b="1" dirty="0">
                <a:latin typeface="Arial Narrow" panose="020B0606020202030204" pitchFamily="34" charset="0"/>
              </a:rPr>
              <a:t>        T4         1.000000       -326.799988</a:t>
            </a:r>
          </a:p>
          <a:p>
            <a:r>
              <a:rPr lang="es-PE" sz="2400" b="1" dirty="0">
                <a:latin typeface="Arial Narrow" panose="020B0606020202030204" pitchFamily="34" charset="0"/>
              </a:rPr>
              <a:t>        T5         1.000000       -344.399994</a:t>
            </a:r>
          </a:p>
          <a:p>
            <a:r>
              <a:rPr lang="es-PE" sz="2400" b="1" dirty="0">
                <a:latin typeface="Arial Narrow" panose="020B0606020202030204" pitchFamily="34" charset="0"/>
              </a:rPr>
              <a:t>        T6         1.000000       -331.200012</a:t>
            </a:r>
          </a:p>
          <a:p>
            <a:r>
              <a:rPr lang="es-PE" sz="2400" b="1" dirty="0">
                <a:latin typeface="Arial Narrow" panose="020B0606020202030204" pitchFamily="34" charset="0"/>
              </a:rPr>
              <a:t>        T7         0.000000       -307.200012</a:t>
            </a:r>
          </a:p>
          <a:p>
            <a:r>
              <a:rPr lang="es-PE" sz="2400" b="1" dirty="0">
                <a:latin typeface="Arial Narrow" panose="020B0606020202030204" pitchFamily="34" charset="0"/>
              </a:rPr>
              <a:t>        T8         0.000000       -297.000000</a:t>
            </a:r>
          </a:p>
          <a:p>
            <a:r>
              <a:rPr lang="es-PE" sz="2400" b="1" dirty="0">
                <a:latin typeface="Arial Narrow" panose="020B0606020202030204" pitchFamily="34" charset="0"/>
              </a:rPr>
              <a:t>        T9         0.000000       -329.299988</a:t>
            </a:r>
          </a:p>
          <a:p>
            <a:r>
              <a:rPr lang="es-PE" sz="2400" b="1" dirty="0">
                <a:latin typeface="Arial Narrow" panose="020B0606020202030204" pitchFamily="34" charset="0"/>
              </a:rPr>
              <a:t>       T10         0.000000       -310.200012</a:t>
            </a:r>
          </a:p>
          <a:p>
            <a:r>
              <a:rPr lang="es-PE" sz="2400" b="1" dirty="0">
                <a:latin typeface="Arial Narrow" panose="020B0606020202030204" pitchFamily="34" charset="0"/>
              </a:rPr>
              <a:t>        R1         1.000000          0.000000</a:t>
            </a:r>
          </a:p>
          <a:p>
            <a:r>
              <a:rPr lang="es-PE" sz="2400" b="1" dirty="0">
                <a:latin typeface="Arial Narrow" panose="020B0606020202030204" pitchFamily="34" charset="0"/>
              </a:rPr>
              <a:t>        R2         1.000000          0.000000</a:t>
            </a:r>
          </a:p>
          <a:p>
            <a:r>
              <a:rPr lang="es-PE" sz="2400" b="1" dirty="0">
                <a:latin typeface="Arial Narrow" panose="020B0606020202030204" pitchFamily="34" charset="0"/>
              </a:rPr>
              <a:t>        R3         0.000000          0.000000</a:t>
            </a:r>
          </a:p>
        </p:txBody>
      </p:sp>
      <p:sp>
        <p:nvSpPr>
          <p:cNvPr id="2" name="CuadroTexto 1">
            <a:extLst>
              <a:ext uri="{FF2B5EF4-FFF2-40B4-BE49-F238E27FC236}">
                <a16:creationId xmlns:a16="http://schemas.microsoft.com/office/drawing/2014/main" id="{8CA82D83-080C-1FFB-8C88-EDFDAB91A696}"/>
              </a:ext>
            </a:extLst>
          </p:cNvPr>
          <p:cNvSpPr txBox="1"/>
          <p:nvPr/>
        </p:nvSpPr>
        <p:spPr>
          <a:xfrm>
            <a:off x="6096000" y="222480"/>
            <a:ext cx="6096000" cy="584775"/>
          </a:xfrm>
          <a:prstGeom prst="rect">
            <a:avLst/>
          </a:prstGeom>
          <a:noFill/>
        </p:spPr>
        <p:txBody>
          <a:bodyPr wrap="square" rtlCol="0">
            <a:spAutoFit/>
          </a:bodyPr>
          <a:lstStyle/>
          <a:p>
            <a:pPr algn="ct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Es</a:t>
            </a:r>
            <a:r>
              <a:rPr lang="es-PE" sz="3200" b="1" u="heavy" spc="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c</a:t>
            </a:r>
            <a:r>
              <a:rPr lang="es-PE" sz="3200" b="1" u="heavy" spc="-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e</a:t>
            </a: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nar</a:t>
            </a:r>
            <a:r>
              <a:rPr lang="es-PE" sz="3200" b="1" u="heavy" spc="15"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i</a:t>
            </a:r>
            <a:r>
              <a:rPr lang="es-PE" sz="3200" b="1" u="heavy" dirty="0">
                <a:solidFill>
                  <a:schemeClr val="bg1"/>
                </a:solidFill>
                <a:latin typeface="Arial Narrow" panose="020B0606020202030204" pitchFamily="34" charset="0"/>
                <a:ea typeface="Times New Roman" panose="02020603050405020304" pitchFamily="18" charset="0"/>
                <a:cs typeface="Times New Roman" panose="02020603050405020304" pitchFamily="18" charset="0"/>
              </a:rPr>
              <a:t>o 2</a:t>
            </a:r>
            <a:endParaRPr lang="es-PE" sz="3200" dirty="0">
              <a:solidFill>
                <a:schemeClr val="bg1"/>
              </a:solidFill>
            </a:endParaRPr>
          </a:p>
        </p:txBody>
      </p:sp>
      <p:graphicFrame>
        <p:nvGraphicFramePr>
          <p:cNvPr id="3" name="Tabla 2">
            <a:extLst>
              <a:ext uri="{FF2B5EF4-FFF2-40B4-BE49-F238E27FC236}">
                <a16:creationId xmlns:a16="http://schemas.microsoft.com/office/drawing/2014/main" id="{042B3A19-17D9-F7C0-8F83-4C25C7F56066}"/>
              </a:ext>
            </a:extLst>
          </p:cNvPr>
          <p:cNvGraphicFramePr>
            <a:graphicFrameLocks noGrp="1"/>
          </p:cNvGraphicFramePr>
          <p:nvPr>
            <p:extLst>
              <p:ext uri="{D42A27DB-BD31-4B8C-83A1-F6EECF244321}">
                <p14:modId xmlns:p14="http://schemas.microsoft.com/office/powerpoint/2010/main" val="1938498605"/>
              </p:ext>
            </p:extLst>
          </p:nvPr>
        </p:nvGraphicFramePr>
        <p:xfrm>
          <a:off x="3005668" y="3527141"/>
          <a:ext cx="3090332" cy="3337560"/>
        </p:xfrm>
        <a:graphic>
          <a:graphicData uri="http://schemas.openxmlformats.org/drawingml/2006/table">
            <a:tbl>
              <a:tblPr firstRow="1" bandRow="1">
                <a:tableStyleId>{5C22544A-7EE6-4342-B048-85BDC9FD1C3A}</a:tableStyleId>
              </a:tblPr>
              <a:tblGrid>
                <a:gridCol w="772583">
                  <a:extLst>
                    <a:ext uri="{9D8B030D-6E8A-4147-A177-3AD203B41FA5}">
                      <a16:colId xmlns:a16="http://schemas.microsoft.com/office/drawing/2014/main" val="3952297096"/>
                    </a:ext>
                  </a:extLst>
                </a:gridCol>
                <a:gridCol w="772583">
                  <a:extLst>
                    <a:ext uri="{9D8B030D-6E8A-4147-A177-3AD203B41FA5}">
                      <a16:colId xmlns:a16="http://schemas.microsoft.com/office/drawing/2014/main" val="500446710"/>
                    </a:ext>
                  </a:extLst>
                </a:gridCol>
                <a:gridCol w="772583">
                  <a:extLst>
                    <a:ext uri="{9D8B030D-6E8A-4147-A177-3AD203B41FA5}">
                      <a16:colId xmlns:a16="http://schemas.microsoft.com/office/drawing/2014/main" val="1345092439"/>
                    </a:ext>
                  </a:extLst>
                </a:gridCol>
                <a:gridCol w="772583">
                  <a:extLst>
                    <a:ext uri="{9D8B030D-6E8A-4147-A177-3AD203B41FA5}">
                      <a16:colId xmlns:a16="http://schemas.microsoft.com/office/drawing/2014/main" val="3514468528"/>
                    </a:ext>
                  </a:extLst>
                </a:gridCol>
              </a:tblGrid>
              <a:tr h="370840">
                <a:tc>
                  <a:txBody>
                    <a:bodyPr/>
                    <a:lstStyle/>
                    <a:p>
                      <a:r>
                        <a:rPr lang="es-ES" dirty="0"/>
                        <a:t>T1</a:t>
                      </a:r>
                      <a:endParaRPr lang="es-PE" dirty="0"/>
                    </a:p>
                  </a:txBody>
                  <a:tcPr/>
                </a:tc>
                <a:tc>
                  <a:txBody>
                    <a:bodyPr/>
                    <a:lstStyle/>
                    <a:p>
                      <a:r>
                        <a:rPr lang="es-ES" dirty="0"/>
                        <a:t>T2</a:t>
                      </a:r>
                      <a:endParaRPr lang="es-PE" dirty="0"/>
                    </a:p>
                  </a:txBody>
                  <a:tcPr/>
                </a:tc>
                <a:tc>
                  <a:txBody>
                    <a:bodyPr/>
                    <a:lstStyle/>
                    <a:p>
                      <a:r>
                        <a:rPr lang="es-ES" dirty="0"/>
                        <a:t>T3</a:t>
                      </a:r>
                      <a:endParaRPr lang="es-PE" dirty="0"/>
                    </a:p>
                  </a:txBody>
                  <a:tcPr/>
                </a:tc>
                <a:tc>
                  <a:txBody>
                    <a:bodyPr/>
                    <a:lstStyle/>
                    <a:p>
                      <a:r>
                        <a:rPr lang="es-ES" dirty="0"/>
                        <a:t>R1</a:t>
                      </a:r>
                      <a:endParaRPr lang="es-PE" dirty="0"/>
                    </a:p>
                  </a:txBody>
                  <a:tcPr/>
                </a:tc>
                <a:extLst>
                  <a:ext uri="{0D108BD9-81ED-4DB2-BD59-A6C34878D82A}">
                    <a16:rowId xmlns:a16="http://schemas.microsoft.com/office/drawing/2014/main" val="2933509105"/>
                  </a:ext>
                </a:extLst>
              </a:tr>
              <a:tr h="370840">
                <a:tc>
                  <a:txBody>
                    <a:bodyPr/>
                    <a:lstStyle/>
                    <a:p>
                      <a:r>
                        <a:rPr lang="es-ES" dirty="0"/>
                        <a:t>0</a:t>
                      </a:r>
                      <a:endParaRPr lang="es-PE" dirty="0"/>
                    </a:p>
                  </a:txBody>
                  <a:tcPr/>
                </a:tc>
                <a:tc>
                  <a:txBody>
                    <a:bodyPr/>
                    <a:lstStyle/>
                    <a:p>
                      <a:r>
                        <a:rPr lang="es-ES" dirty="0"/>
                        <a:t>0</a:t>
                      </a:r>
                      <a:endParaRPr lang="es-PE" dirty="0"/>
                    </a:p>
                  </a:txBody>
                  <a:tcPr/>
                </a:tc>
                <a:tc>
                  <a:txBody>
                    <a:bodyPr/>
                    <a:lstStyle/>
                    <a:p>
                      <a:r>
                        <a:rPr lang="es-ES" dirty="0"/>
                        <a:t>0</a:t>
                      </a:r>
                      <a:endParaRPr lang="es-PE" dirty="0"/>
                    </a:p>
                  </a:txBody>
                  <a:tcPr/>
                </a:tc>
                <a:tc>
                  <a:txBody>
                    <a:bodyPr/>
                    <a:lstStyle/>
                    <a:p>
                      <a:r>
                        <a:rPr lang="es-ES" dirty="0"/>
                        <a:t>0</a:t>
                      </a:r>
                      <a:endParaRPr lang="es-PE" dirty="0"/>
                    </a:p>
                  </a:txBody>
                  <a:tcPr/>
                </a:tc>
                <a:extLst>
                  <a:ext uri="{0D108BD9-81ED-4DB2-BD59-A6C34878D82A}">
                    <a16:rowId xmlns:a16="http://schemas.microsoft.com/office/drawing/2014/main" val="1208178346"/>
                  </a:ext>
                </a:extLst>
              </a:tr>
              <a:tr h="370840">
                <a:tc>
                  <a:txBody>
                    <a:bodyPr/>
                    <a:lstStyle/>
                    <a:p>
                      <a:r>
                        <a:rPr lang="es-ES" dirty="0"/>
                        <a:t>0</a:t>
                      </a:r>
                      <a:endParaRPr lang="es-PE" dirty="0"/>
                    </a:p>
                  </a:txBody>
                  <a:tcPr/>
                </a:tc>
                <a:tc>
                  <a:txBody>
                    <a:bodyPr/>
                    <a:lstStyle/>
                    <a:p>
                      <a:r>
                        <a:rPr lang="es-ES" dirty="0"/>
                        <a:t>0</a:t>
                      </a:r>
                      <a:endParaRPr lang="es-PE" dirty="0"/>
                    </a:p>
                  </a:txBody>
                  <a:tcPr/>
                </a:tc>
                <a:tc>
                  <a:txBody>
                    <a:bodyPr/>
                    <a:lstStyle/>
                    <a:p>
                      <a:r>
                        <a:rPr lang="es-ES" dirty="0"/>
                        <a:t>1</a:t>
                      </a:r>
                      <a:endParaRPr lang="es-PE" dirty="0"/>
                    </a:p>
                  </a:txBody>
                  <a:tcPr/>
                </a:tc>
                <a:tc>
                  <a:txBody>
                    <a:bodyPr/>
                    <a:lstStyle/>
                    <a:p>
                      <a:r>
                        <a:rPr lang="es-ES" dirty="0"/>
                        <a:t>1</a:t>
                      </a:r>
                      <a:endParaRPr lang="es-PE" dirty="0"/>
                    </a:p>
                  </a:txBody>
                  <a:tcPr/>
                </a:tc>
                <a:extLst>
                  <a:ext uri="{0D108BD9-81ED-4DB2-BD59-A6C34878D82A}">
                    <a16:rowId xmlns:a16="http://schemas.microsoft.com/office/drawing/2014/main" val="2704277125"/>
                  </a:ext>
                </a:extLst>
              </a:tr>
              <a:tr h="370840">
                <a:tc>
                  <a:txBody>
                    <a:bodyPr/>
                    <a:lstStyle/>
                    <a:p>
                      <a:r>
                        <a:rPr lang="es-ES" dirty="0"/>
                        <a:t>0</a:t>
                      </a:r>
                      <a:endParaRPr lang="es-PE" dirty="0"/>
                    </a:p>
                  </a:txBody>
                  <a:tcPr/>
                </a:tc>
                <a:tc>
                  <a:txBody>
                    <a:bodyPr/>
                    <a:lstStyle/>
                    <a:p>
                      <a:r>
                        <a:rPr lang="es-ES" dirty="0"/>
                        <a:t>1</a:t>
                      </a:r>
                      <a:endParaRPr lang="es-PE" dirty="0"/>
                    </a:p>
                  </a:txBody>
                  <a:tcPr/>
                </a:tc>
                <a:tc>
                  <a:txBody>
                    <a:bodyPr/>
                    <a:lstStyle/>
                    <a:p>
                      <a:r>
                        <a:rPr lang="es-ES" dirty="0"/>
                        <a:t>0</a:t>
                      </a:r>
                      <a:endParaRPr lang="es-PE" dirty="0"/>
                    </a:p>
                  </a:txBody>
                  <a:tcPr/>
                </a:tc>
                <a:tc>
                  <a:txBody>
                    <a:bodyPr/>
                    <a:lstStyle/>
                    <a:p>
                      <a:r>
                        <a:rPr lang="es-ES" dirty="0"/>
                        <a:t>1</a:t>
                      </a:r>
                      <a:endParaRPr lang="es-PE" dirty="0"/>
                    </a:p>
                  </a:txBody>
                  <a:tcPr/>
                </a:tc>
                <a:extLst>
                  <a:ext uri="{0D108BD9-81ED-4DB2-BD59-A6C34878D82A}">
                    <a16:rowId xmlns:a16="http://schemas.microsoft.com/office/drawing/2014/main" val="2568154564"/>
                  </a:ext>
                </a:extLst>
              </a:tr>
              <a:tr h="370840">
                <a:tc>
                  <a:txBody>
                    <a:bodyPr/>
                    <a:lstStyle/>
                    <a:p>
                      <a:r>
                        <a:rPr lang="es-ES" dirty="0"/>
                        <a:t>0</a:t>
                      </a:r>
                      <a:endParaRPr lang="es-PE" dirty="0"/>
                    </a:p>
                  </a:txBody>
                  <a:tcPr/>
                </a:tc>
                <a:tc>
                  <a:txBody>
                    <a:bodyPr/>
                    <a:lstStyle/>
                    <a:p>
                      <a:r>
                        <a:rPr lang="es-ES" dirty="0"/>
                        <a:t>1</a:t>
                      </a:r>
                      <a:endParaRPr lang="es-PE" dirty="0"/>
                    </a:p>
                  </a:txBody>
                  <a:tcPr/>
                </a:tc>
                <a:tc>
                  <a:txBody>
                    <a:bodyPr/>
                    <a:lstStyle/>
                    <a:p>
                      <a:r>
                        <a:rPr lang="es-ES" dirty="0"/>
                        <a:t>1</a:t>
                      </a:r>
                      <a:endParaRPr lang="es-PE" dirty="0"/>
                    </a:p>
                  </a:txBody>
                  <a:tcPr/>
                </a:tc>
                <a:tc>
                  <a:txBody>
                    <a:bodyPr/>
                    <a:lstStyle/>
                    <a:p>
                      <a:r>
                        <a:rPr lang="es-ES" dirty="0"/>
                        <a:t>1</a:t>
                      </a:r>
                      <a:endParaRPr lang="es-PE" dirty="0"/>
                    </a:p>
                  </a:txBody>
                  <a:tcPr/>
                </a:tc>
                <a:extLst>
                  <a:ext uri="{0D108BD9-81ED-4DB2-BD59-A6C34878D82A}">
                    <a16:rowId xmlns:a16="http://schemas.microsoft.com/office/drawing/2014/main" val="1278438145"/>
                  </a:ext>
                </a:extLst>
              </a:tr>
              <a:tr h="370840">
                <a:tc>
                  <a:txBody>
                    <a:bodyPr/>
                    <a:lstStyle/>
                    <a:p>
                      <a:r>
                        <a:rPr lang="es-ES" dirty="0"/>
                        <a:t>1</a:t>
                      </a:r>
                      <a:endParaRPr lang="es-PE" dirty="0"/>
                    </a:p>
                  </a:txBody>
                  <a:tcPr/>
                </a:tc>
                <a:tc>
                  <a:txBody>
                    <a:bodyPr/>
                    <a:lstStyle/>
                    <a:p>
                      <a:r>
                        <a:rPr lang="es-ES" dirty="0"/>
                        <a:t>0</a:t>
                      </a:r>
                      <a:endParaRPr lang="es-PE" dirty="0"/>
                    </a:p>
                  </a:txBody>
                  <a:tcPr/>
                </a:tc>
                <a:tc>
                  <a:txBody>
                    <a:bodyPr/>
                    <a:lstStyle/>
                    <a:p>
                      <a:r>
                        <a:rPr lang="es-ES" dirty="0"/>
                        <a:t>0</a:t>
                      </a:r>
                      <a:endParaRPr lang="es-PE" dirty="0"/>
                    </a:p>
                  </a:txBody>
                  <a:tcPr/>
                </a:tc>
                <a:tc>
                  <a:txBody>
                    <a:bodyPr/>
                    <a:lstStyle/>
                    <a:p>
                      <a:r>
                        <a:rPr lang="es-ES" dirty="0"/>
                        <a:t>1</a:t>
                      </a:r>
                      <a:endParaRPr lang="es-PE" dirty="0"/>
                    </a:p>
                  </a:txBody>
                  <a:tcPr/>
                </a:tc>
                <a:extLst>
                  <a:ext uri="{0D108BD9-81ED-4DB2-BD59-A6C34878D82A}">
                    <a16:rowId xmlns:a16="http://schemas.microsoft.com/office/drawing/2014/main" val="166634035"/>
                  </a:ext>
                </a:extLst>
              </a:tr>
              <a:tr h="370840">
                <a:tc>
                  <a:txBody>
                    <a:bodyPr/>
                    <a:lstStyle/>
                    <a:p>
                      <a:r>
                        <a:rPr lang="es-ES" dirty="0"/>
                        <a:t>1</a:t>
                      </a:r>
                      <a:endParaRPr lang="es-PE" dirty="0"/>
                    </a:p>
                  </a:txBody>
                  <a:tcPr/>
                </a:tc>
                <a:tc>
                  <a:txBody>
                    <a:bodyPr/>
                    <a:lstStyle/>
                    <a:p>
                      <a:r>
                        <a:rPr lang="es-ES" dirty="0"/>
                        <a:t>0</a:t>
                      </a:r>
                      <a:endParaRPr lang="es-PE" dirty="0"/>
                    </a:p>
                  </a:txBody>
                  <a:tcPr/>
                </a:tc>
                <a:tc>
                  <a:txBody>
                    <a:bodyPr/>
                    <a:lstStyle/>
                    <a:p>
                      <a:r>
                        <a:rPr lang="es-ES" dirty="0"/>
                        <a:t>1</a:t>
                      </a:r>
                      <a:endParaRPr lang="es-PE" dirty="0"/>
                    </a:p>
                  </a:txBody>
                  <a:tcPr/>
                </a:tc>
                <a:tc>
                  <a:txBody>
                    <a:bodyPr/>
                    <a:lstStyle/>
                    <a:p>
                      <a:r>
                        <a:rPr lang="es-ES" dirty="0"/>
                        <a:t>1</a:t>
                      </a:r>
                      <a:endParaRPr lang="es-PE" dirty="0"/>
                    </a:p>
                  </a:txBody>
                  <a:tcPr/>
                </a:tc>
                <a:extLst>
                  <a:ext uri="{0D108BD9-81ED-4DB2-BD59-A6C34878D82A}">
                    <a16:rowId xmlns:a16="http://schemas.microsoft.com/office/drawing/2014/main" val="916416827"/>
                  </a:ext>
                </a:extLst>
              </a:tr>
              <a:tr h="370840">
                <a:tc>
                  <a:txBody>
                    <a:bodyPr/>
                    <a:lstStyle/>
                    <a:p>
                      <a:r>
                        <a:rPr lang="es-ES" dirty="0"/>
                        <a:t>1</a:t>
                      </a:r>
                      <a:endParaRPr lang="es-PE" dirty="0"/>
                    </a:p>
                  </a:txBody>
                  <a:tcPr/>
                </a:tc>
                <a:tc>
                  <a:txBody>
                    <a:bodyPr/>
                    <a:lstStyle/>
                    <a:p>
                      <a:r>
                        <a:rPr lang="es-ES" dirty="0"/>
                        <a:t>1</a:t>
                      </a:r>
                      <a:endParaRPr lang="es-PE" dirty="0"/>
                    </a:p>
                  </a:txBody>
                  <a:tcPr/>
                </a:tc>
                <a:tc>
                  <a:txBody>
                    <a:bodyPr/>
                    <a:lstStyle/>
                    <a:p>
                      <a:r>
                        <a:rPr lang="es-ES" dirty="0"/>
                        <a:t>0</a:t>
                      </a:r>
                      <a:endParaRPr lang="es-PE" dirty="0"/>
                    </a:p>
                  </a:txBody>
                  <a:tcPr/>
                </a:tc>
                <a:tc>
                  <a:txBody>
                    <a:bodyPr/>
                    <a:lstStyle/>
                    <a:p>
                      <a:r>
                        <a:rPr lang="es-ES" dirty="0"/>
                        <a:t>1</a:t>
                      </a:r>
                      <a:endParaRPr lang="es-PE" dirty="0"/>
                    </a:p>
                  </a:txBody>
                  <a:tcPr/>
                </a:tc>
                <a:extLst>
                  <a:ext uri="{0D108BD9-81ED-4DB2-BD59-A6C34878D82A}">
                    <a16:rowId xmlns:a16="http://schemas.microsoft.com/office/drawing/2014/main" val="179124556"/>
                  </a:ext>
                </a:extLst>
              </a:tr>
              <a:tr h="370840">
                <a:tc>
                  <a:txBody>
                    <a:bodyPr/>
                    <a:lstStyle/>
                    <a:p>
                      <a:r>
                        <a:rPr lang="es-ES" dirty="0"/>
                        <a:t>1</a:t>
                      </a:r>
                      <a:endParaRPr lang="es-PE" dirty="0"/>
                    </a:p>
                  </a:txBody>
                  <a:tcPr/>
                </a:tc>
                <a:tc>
                  <a:txBody>
                    <a:bodyPr/>
                    <a:lstStyle/>
                    <a:p>
                      <a:r>
                        <a:rPr lang="es-ES" dirty="0"/>
                        <a:t>1</a:t>
                      </a:r>
                      <a:endParaRPr lang="es-PE" dirty="0"/>
                    </a:p>
                  </a:txBody>
                  <a:tcPr/>
                </a:tc>
                <a:tc>
                  <a:txBody>
                    <a:bodyPr/>
                    <a:lstStyle/>
                    <a:p>
                      <a:r>
                        <a:rPr lang="es-ES" dirty="0"/>
                        <a:t>1</a:t>
                      </a:r>
                      <a:endParaRPr lang="es-PE" dirty="0"/>
                    </a:p>
                  </a:txBody>
                  <a:tcPr/>
                </a:tc>
                <a:tc>
                  <a:txBody>
                    <a:bodyPr/>
                    <a:lstStyle/>
                    <a:p>
                      <a:r>
                        <a:rPr lang="es-ES" dirty="0"/>
                        <a:t>1</a:t>
                      </a:r>
                      <a:endParaRPr lang="es-PE" dirty="0"/>
                    </a:p>
                  </a:txBody>
                  <a:tcPr/>
                </a:tc>
                <a:extLst>
                  <a:ext uri="{0D108BD9-81ED-4DB2-BD59-A6C34878D82A}">
                    <a16:rowId xmlns:a16="http://schemas.microsoft.com/office/drawing/2014/main" val="1326939175"/>
                  </a:ext>
                </a:extLst>
              </a:tr>
            </a:tbl>
          </a:graphicData>
        </a:graphic>
      </p:graphicFrame>
    </p:spTree>
    <p:extLst>
      <p:ext uri="{BB962C8B-B14F-4D97-AF65-F5344CB8AC3E}">
        <p14:creationId xmlns:p14="http://schemas.microsoft.com/office/powerpoint/2010/main" val="3696721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C019225A-738B-4122-8440-2391D94D2200}"/>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5</a:t>
            </a:r>
          </a:p>
        </p:txBody>
      </p:sp>
      <p:sp>
        <p:nvSpPr>
          <p:cNvPr id="9" name="CuadroTexto 8">
            <a:extLst>
              <a:ext uri="{FF2B5EF4-FFF2-40B4-BE49-F238E27FC236}">
                <a16:creationId xmlns:a16="http://schemas.microsoft.com/office/drawing/2014/main" id="{F35F5963-D429-4ED5-B588-E42C55CDAA46}"/>
              </a:ext>
            </a:extLst>
          </p:cNvPr>
          <p:cNvSpPr txBox="1"/>
          <p:nvPr/>
        </p:nvSpPr>
        <p:spPr>
          <a:xfrm>
            <a:off x="6366294" y="2658871"/>
            <a:ext cx="4902597" cy="892552"/>
          </a:xfrm>
          <a:prstGeom prst="rect">
            <a:avLst/>
          </a:prstGeom>
          <a:solidFill>
            <a:srgbClr val="FFFF00"/>
          </a:solidFill>
        </p:spPr>
        <p:txBody>
          <a:bodyPr wrap="square" rtlCol="0">
            <a:spAutoFit/>
          </a:bodyPr>
          <a:lstStyle/>
          <a:p>
            <a:r>
              <a:rPr lang="es-ES" sz="2600" b="1" dirty="0">
                <a:solidFill>
                  <a:srgbClr val="FF0000"/>
                </a:solidFill>
                <a:latin typeface="Arial Narrow" panose="020B0606020202030204" pitchFamily="34" charset="0"/>
              </a:rPr>
              <a:t>Identificación de la </a:t>
            </a:r>
            <a:r>
              <a:rPr lang="es-ES" sz="2600" b="1" dirty="0" err="1">
                <a:solidFill>
                  <a:srgbClr val="FF0000"/>
                </a:solidFill>
                <a:latin typeface="Arial Narrow" panose="020B0606020202030204" pitchFamily="34" charset="0"/>
              </a:rPr>
              <a:t>Funcion</a:t>
            </a:r>
            <a:r>
              <a:rPr lang="es-ES" sz="2600" b="1" dirty="0">
                <a:solidFill>
                  <a:srgbClr val="FF0000"/>
                </a:solidFill>
                <a:latin typeface="Arial Narrow" panose="020B0606020202030204" pitchFamily="34" charset="0"/>
              </a:rPr>
              <a:t> objetivo</a:t>
            </a:r>
          </a:p>
          <a:p>
            <a:r>
              <a:rPr lang="es-ES" sz="2600" b="1" dirty="0">
                <a:latin typeface="Arial Narrow" panose="020B0606020202030204" pitchFamily="34" charset="0"/>
              </a:rPr>
              <a:t>MAX 9X1+12X2+18X3+20X4+25X5</a:t>
            </a:r>
          </a:p>
        </p:txBody>
      </p:sp>
      <p:sp>
        <p:nvSpPr>
          <p:cNvPr id="2" name="CuadroTexto 1">
            <a:extLst>
              <a:ext uri="{FF2B5EF4-FFF2-40B4-BE49-F238E27FC236}">
                <a16:creationId xmlns:a16="http://schemas.microsoft.com/office/drawing/2014/main" id="{C17DEA8E-8353-F99C-A4F9-E153A4428B6C}"/>
              </a:ext>
            </a:extLst>
          </p:cNvPr>
          <p:cNvSpPr txBox="1"/>
          <p:nvPr/>
        </p:nvSpPr>
        <p:spPr>
          <a:xfrm>
            <a:off x="6340415" y="1252794"/>
            <a:ext cx="4902597" cy="1292662"/>
          </a:xfrm>
          <a:prstGeom prst="rect">
            <a:avLst/>
          </a:prstGeom>
          <a:solidFill>
            <a:schemeClr val="accent2">
              <a:lumMod val="20000"/>
              <a:lumOff val="80000"/>
            </a:schemeClr>
          </a:solidFill>
        </p:spPr>
        <p:txBody>
          <a:bodyPr wrap="square" rtlCol="0">
            <a:spAutoFit/>
          </a:bodyPr>
          <a:lstStyle/>
          <a:p>
            <a:r>
              <a:rPr lang="es-ES" sz="2600" b="1" dirty="0">
                <a:solidFill>
                  <a:srgbClr val="FF0000"/>
                </a:solidFill>
                <a:latin typeface="Arial Narrow" panose="020B0606020202030204" pitchFamily="34" charset="0"/>
              </a:rPr>
              <a:t>Identificación de las variables</a:t>
            </a:r>
          </a:p>
          <a:p>
            <a:r>
              <a:rPr lang="es-ES" sz="2600" b="1" dirty="0">
                <a:latin typeface="Arial Narrow" panose="020B0606020202030204" pitchFamily="34" charset="0"/>
              </a:rPr>
              <a:t>Xi=Tipo de proyecto i </a:t>
            </a:r>
          </a:p>
          <a:p>
            <a:r>
              <a:rPr lang="es-ES" sz="2600" b="1" dirty="0">
                <a:latin typeface="Arial Narrow" panose="020B0606020202030204" pitchFamily="34" charset="0"/>
              </a:rPr>
              <a:t>{Xi=0 No se realiza  Xi=1 Se realiza}</a:t>
            </a:r>
          </a:p>
        </p:txBody>
      </p:sp>
      <p:sp>
        <p:nvSpPr>
          <p:cNvPr id="11" name="CuadroTexto 10">
            <a:extLst>
              <a:ext uri="{FF2B5EF4-FFF2-40B4-BE49-F238E27FC236}">
                <a16:creationId xmlns:a16="http://schemas.microsoft.com/office/drawing/2014/main" id="{33A844A4-4A4A-3EC5-F4B9-79F8622DEABE}"/>
              </a:ext>
            </a:extLst>
          </p:cNvPr>
          <p:cNvSpPr txBox="1"/>
          <p:nvPr/>
        </p:nvSpPr>
        <p:spPr>
          <a:xfrm>
            <a:off x="1" y="1230175"/>
            <a:ext cx="6095999" cy="1754326"/>
          </a:xfrm>
          <a:prstGeom prst="rect">
            <a:avLst/>
          </a:prstGeom>
          <a:solidFill>
            <a:schemeClr val="accent1">
              <a:lumMod val="20000"/>
              <a:lumOff val="80000"/>
            </a:schemeClr>
          </a:solidFill>
        </p:spPr>
        <p:txBody>
          <a:bodyPr wrap="square">
            <a:spAutoFit/>
          </a:bodyPr>
          <a:lstStyle/>
          <a:p>
            <a:r>
              <a:rPr lang="es-ES" b="1" dirty="0">
                <a:latin typeface="Arial Narrow" panose="020B0606020202030204" pitchFamily="34" charset="0"/>
              </a:rPr>
              <a:t>Una empresa consultora dedicada a la realización de proyectos industriales, tiene en su cartera de pedidos, un conjunto de 5 proyectos. Estos proyectos pueden realizarse total o parcialmente. La utilidad aportada por cada proyecto (en unidades monetarias, </a:t>
            </a:r>
            <a:r>
              <a:rPr lang="es-ES" b="1" dirty="0" err="1">
                <a:latin typeface="Arial Narrow" panose="020B0606020202030204" pitchFamily="34" charset="0"/>
              </a:rPr>
              <a:t>u.m</a:t>
            </a:r>
            <a:r>
              <a:rPr lang="es-ES" b="1" dirty="0">
                <a:latin typeface="Arial Narrow" panose="020B0606020202030204" pitchFamily="34" charset="0"/>
              </a:rPr>
              <a:t>.) y l</a:t>
            </a:r>
            <a:r>
              <a:rPr lang="es-ES" b="1" dirty="0"/>
              <a:t>a cantidad de recursos necesarios para realizar un determinado tipo de proyecto es:</a:t>
            </a:r>
            <a:endParaRPr lang="es-PE" b="1" dirty="0">
              <a:latin typeface="Arial Narrow" panose="020B0606020202030204" pitchFamily="34" charset="0"/>
            </a:endParaRPr>
          </a:p>
        </p:txBody>
      </p:sp>
      <p:sp>
        <p:nvSpPr>
          <p:cNvPr id="20" name="CuadroTexto 19">
            <a:extLst>
              <a:ext uri="{FF2B5EF4-FFF2-40B4-BE49-F238E27FC236}">
                <a16:creationId xmlns:a16="http://schemas.microsoft.com/office/drawing/2014/main" id="{ADED2043-6E49-6DAA-359F-33B9E6C97643}"/>
              </a:ext>
            </a:extLst>
          </p:cNvPr>
          <p:cNvSpPr txBox="1"/>
          <p:nvPr/>
        </p:nvSpPr>
        <p:spPr>
          <a:xfrm>
            <a:off x="0" y="5157159"/>
            <a:ext cx="6095999" cy="1754326"/>
          </a:xfrm>
          <a:prstGeom prst="rect">
            <a:avLst/>
          </a:prstGeom>
          <a:solidFill>
            <a:schemeClr val="accent1">
              <a:lumMod val="20000"/>
              <a:lumOff val="80000"/>
            </a:schemeClr>
          </a:solidFill>
        </p:spPr>
        <p:txBody>
          <a:bodyPr wrap="square">
            <a:spAutoFit/>
          </a:bodyPr>
          <a:lstStyle>
            <a:defPPr>
              <a:defRPr lang="es-PE"/>
            </a:defPPr>
            <a:lvl1pPr>
              <a:defRPr b="1">
                <a:latin typeface="Arial Narrow" panose="020B0606020202030204" pitchFamily="34" charset="0"/>
              </a:defRPr>
            </a:lvl1pPr>
          </a:lstStyle>
          <a:p>
            <a:r>
              <a:rPr lang="es-ES" dirty="0"/>
              <a:t>Para la realización de proyectos es necesario la utilización de tres tipos de recursos </a:t>
            </a:r>
            <a:r>
              <a:rPr lang="es-ES" dirty="0" err="1"/>
              <a:t>R1</a:t>
            </a:r>
            <a:r>
              <a:rPr lang="es-ES" dirty="0"/>
              <a:t>, </a:t>
            </a:r>
            <a:r>
              <a:rPr lang="es-ES" dirty="0" err="1"/>
              <a:t>R2</a:t>
            </a:r>
            <a:r>
              <a:rPr lang="es-ES" dirty="0"/>
              <a:t> y </a:t>
            </a:r>
            <a:r>
              <a:rPr lang="es-ES" dirty="0" err="1"/>
              <a:t>R3</a:t>
            </a:r>
            <a:r>
              <a:rPr lang="es-ES" dirty="0"/>
              <a:t>, con las siguientes condiciones: deben utilizarse por lo menos 7 unidades del recurso </a:t>
            </a:r>
            <a:r>
              <a:rPr lang="es-ES" dirty="0" err="1"/>
              <a:t>R1</a:t>
            </a:r>
            <a:r>
              <a:rPr lang="es-ES" dirty="0"/>
              <a:t> y 5 unidades del recurso </a:t>
            </a:r>
            <a:r>
              <a:rPr lang="es-ES" dirty="0" err="1"/>
              <a:t>R2</a:t>
            </a:r>
            <a:r>
              <a:rPr lang="es-ES" dirty="0"/>
              <a:t>, disponiendo únicamente de 8 unidades del recurso </a:t>
            </a:r>
            <a:r>
              <a:rPr lang="es-ES" dirty="0" err="1"/>
              <a:t>R3</a:t>
            </a:r>
            <a:r>
              <a:rPr lang="es-ES" dirty="0"/>
              <a:t>. </a:t>
            </a:r>
            <a:r>
              <a:rPr lang="es-ES" sz="1800" dirty="0">
                <a:latin typeface="Arial Narrow" panose="020B0606020202030204" pitchFamily="34" charset="0"/>
              </a:rPr>
              <a:t>Formular el modelo lineal para maximizar la utilidad. </a:t>
            </a:r>
            <a:endParaRPr lang="es-PE" dirty="0"/>
          </a:p>
        </p:txBody>
      </p:sp>
      <p:sp>
        <p:nvSpPr>
          <p:cNvPr id="4" name="CuadroTexto 3">
            <a:extLst>
              <a:ext uri="{FF2B5EF4-FFF2-40B4-BE49-F238E27FC236}">
                <a16:creationId xmlns:a16="http://schemas.microsoft.com/office/drawing/2014/main" id="{4F8AF80A-784F-9EF0-68C2-BE8E0D9DFA5E}"/>
              </a:ext>
            </a:extLst>
          </p:cNvPr>
          <p:cNvSpPr txBox="1"/>
          <p:nvPr/>
        </p:nvSpPr>
        <p:spPr>
          <a:xfrm>
            <a:off x="6366294" y="3634060"/>
            <a:ext cx="4880281" cy="2092881"/>
          </a:xfrm>
          <a:prstGeom prst="rect">
            <a:avLst/>
          </a:prstGeom>
          <a:solidFill>
            <a:srgbClr val="FFFF00"/>
          </a:solidFill>
        </p:spPr>
        <p:txBody>
          <a:bodyPr wrap="square" rtlCol="0">
            <a:spAutoFit/>
          </a:bodyPr>
          <a:lstStyle>
            <a:defPPr>
              <a:defRPr lang="es-PE"/>
            </a:defPPr>
            <a:lvl1pPr>
              <a:defRPr sz="2800" b="1">
                <a:solidFill>
                  <a:srgbClr val="FF0000"/>
                </a:solidFill>
                <a:latin typeface="Arial Narrow" panose="020B0606020202030204" pitchFamily="34" charset="0"/>
              </a:defRPr>
            </a:lvl1pPr>
          </a:lstStyle>
          <a:p>
            <a:r>
              <a:rPr lang="es-ES" sz="2600" dirty="0"/>
              <a:t>Identificación de las restricciones</a:t>
            </a:r>
          </a:p>
          <a:p>
            <a:r>
              <a:rPr lang="es-ES" sz="2600" dirty="0">
                <a:solidFill>
                  <a:schemeClr val="tx1"/>
                </a:solidFill>
              </a:rPr>
              <a:t>2X1+3X2+2X3+1X4+3X5&gt;=7</a:t>
            </a:r>
          </a:p>
          <a:p>
            <a:r>
              <a:rPr lang="es-ES" sz="2600" dirty="0">
                <a:solidFill>
                  <a:schemeClr val="tx1"/>
                </a:solidFill>
              </a:rPr>
              <a:t>2X1+5X2+2X3+4X4+2X5&gt;=5</a:t>
            </a:r>
          </a:p>
          <a:p>
            <a:r>
              <a:rPr lang="es-ES" sz="2600" dirty="0">
                <a:solidFill>
                  <a:schemeClr val="tx1"/>
                </a:solidFill>
              </a:rPr>
              <a:t>3X1+1X2+3X3+4X4+3X5&lt;=8</a:t>
            </a:r>
          </a:p>
          <a:p>
            <a:r>
              <a:rPr lang="es-ES" sz="2600" dirty="0">
                <a:solidFill>
                  <a:schemeClr val="tx1"/>
                </a:solidFill>
              </a:rPr>
              <a:t>Xi&gt;=0, BINARIO</a:t>
            </a:r>
          </a:p>
        </p:txBody>
      </p:sp>
      <p:graphicFrame>
        <p:nvGraphicFramePr>
          <p:cNvPr id="6" name="Tabla 5">
            <a:extLst>
              <a:ext uri="{FF2B5EF4-FFF2-40B4-BE49-F238E27FC236}">
                <a16:creationId xmlns:a16="http://schemas.microsoft.com/office/drawing/2014/main" id="{96CB1A22-7489-48C0-A20A-8B3FD86AE5D5}"/>
              </a:ext>
            </a:extLst>
          </p:cNvPr>
          <p:cNvGraphicFramePr>
            <a:graphicFrameLocks noGrp="1"/>
          </p:cNvGraphicFramePr>
          <p:nvPr>
            <p:extLst>
              <p:ext uri="{D42A27DB-BD31-4B8C-83A1-F6EECF244321}">
                <p14:modId xmlns:p14="http://schemas.microsoft.com/office/powerpoint/2010/main" val="2335521483"/>
              </p:ext>
            </p:extLst>
          </p:nvPr>
        </p:nvGraphicFramePr>
        <p:xfrm>
          <a:off x="-3" y="2911574"/>
          <a:ext cx="6096002" cy="2255520"/>
        </p:xfrm>
        <a:graphic>
          <a:graphicData uri="http://schemas.openxmlformats.org/drawingml/2006/table">
            <a:tbl>
              <a:tblPr firstRow="1" bandRow="1">
                <a:tableStyleId>{5C22544A-7EE6-4342-B048-85BDC9FD1C3A}</a:tableStyleId>
              </a:tblPr>
              <a:tblGrid>
                <a:gridCol w="1292896">
                  <a:extLst>
                    <a:ext uri="{9D8B030D-6E8A-4147-A177-3AD203B41FA5}">
                      <a16:colId xmlns:a16="http://schemas.microsoft.com/office/drawing/2014/main" val="1802773400"/>
                    </a:ext>
                  </a:extLst>
                </a:gridCol>
                <a:gridCol w="1292896">
                  <a:extLst>
                    <a:ext uri="{9D8B030D-6E8A-4147-A177-3AD203B41FA5}">
                      <a16:colId xmlns:a16="http://schemas.microsoft.com/office/drawing/2014/main" val="3289036126"/>
                    </a:ext>
                  </a:extLst>
                </a:gridCol>
                <a:gridCol w="1292896">
                  <a:extLst>
                    <a:ext uri="{9D8B030D-6E8A-4147-A177-3AD203B41FA5}">
                      <a16:colId xmlns:a16="http://schemas.microsoft.com/office/drawing/2014/main" val="1861177077"/>
                    </a:ext>
                  </a:extLst>
                </a:gridCol>
                <a:gridCol w="1292896">
                  <a:extLst>
                    <a:ext uri="{9D8B030D-6E8A-4147-A177-3AD203B41FA5}">
                      <a16:colId xmlns:a16="http://schemas.microsoft.com/office/drawing/2014/main" val="3228852933"/>
                    </a:ext>
                  </a:extLst>
                </a:gridCol>
                <a:gridCol w="924418">
                  <a:extLst>
                    <a:ext uri="{9D8B030D-6E8A-4147-A177-3AD203B41FA5}">
                      <a16:colId xmlns:a16="http://schemas.microsoft.com/office/drawing/2014/main" val="3734465649"/>
                    </a:ext>
                  </a:extLst>
                </a:gridCol>
              </a:tblGrid>
              <a:tr h="533653">
                <a:tc>
                  <a:txBody>
                    <a:bodyPr/>
                    <a:lstStyle/>
                    <a:p>
                      <a:pPr algn="ctr"/>
                      <a:r>
                        <a:rPr lang="es-ES" sz="1600" b="1" dirty="0">
                          <a:latin typeface="Arial Narrow" panose="020B0606020202030204" pitchFamily="34" charset="0"/>
                          <a:cs typeface="Times New Roman" panose="02020603050405020304" pitchFamily="18" charset="0"/>
                        </a:rPr>
                        <a:t>Tipo de proyecto</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Unidades del Recurso 1</a:t>
                      </a:r>
                      <a:endParaRPr lang="es-PE" sz="1600" b="1" dirty="0">
                        <a:latin typeface="Arial Narrow" panose="020B0606020202030204" pitchFamily="34"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Times New Roman" panose="02020603050405020304" pitchFamily="18" charset="0"/>
                        </a:rPr>
                        <a:t>Unidades del Recurso 2</a:t>
                      </a:r>
                      <a:endParaRPr kumimoji="0" lang="es-PE" sz="16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Times New Roman" panose="02020603050405020304" pitchFamily="18" charset="0"/>
                        </a:rPr>
                        <a:t>Unidades del Recurso 3</a:t>
                      </a:r>
                      <a:endParaRPr kumimoji="0" lang="es-PE" sz="16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Times New Roman" panose="02020603050405020304" pitchFamily="18" charset="0"/>
                        </a:rPr>
                        <a:t>Utilidad</a:t>
                      </a:r>
                      <a:endParaRPr kumimoji="0" lang="es-PE" sz="16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Times New Roman" panose="02020603050405020304" pitchFamily="18" charset="0"/>
                      </a:endParaRPr>
                    </a:p>
                  </a:txBody>
                  <a:tcPr/>
                </a:tc>
                <a:extLst>
                  <a:ext uri="{0D108BD9-81ED-4DB2-BD59-A6C34878D82A}">
                    <a16:rowId xmlns:a16="http://schemas.microsoft.com/office/drawing/2014/main" val="3435509014"/>
                  </a:ext>
                </a:extLst>
              </a:tr>
              <a:tr h="308957">
                <a:tc>
                  <a:txBody>
                    <a:bodyPr/>
                    <a:lstStyle/>
                    <a:p>
                      <a:pPr algn="ctr"/>
                      <a:r>
                        <a:rPr lang="es-ES" sz="1600" b="1" dirty="0">
                          <a:latin typeface="Arial Narrow" panose="020B0606020202030204" pitchFamily="34" charset="0"/>
                          <a:cs typeface="Times New Roman" panose="02020603050405020304" pitchFamily="18" charset="0"/>
                        </a:rPr>
                        <a:t>1</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2</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2</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3</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9</a:t>
                      </a:r>
                      <a:endParaRPr lang="es-PE" sz="1600" b="1"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840145609"/>
                  </a:ext>
                </a:extLst>
              </a:tr>
              <a:tr h="308957">
                <a:tc>
                  <a:txBody>
                    <a:bodyPr/>
                    <a:lstStyle/>
                    <a:p>
                      <a:pPr algn="ctr"/>
                      <a:r>
                        <a:rPr lang="es-ES" sz="1600" b="1" dirty="0">
                          <a:latin typeface="Arial Narrow" panose="020B0606020202030204" pitchFamily="34" charset="0"/>
                          <a:cs typeface="Times New Roman" panose="02020603050405020304" pitchFamily="18" charset="0"/>
                        </a:rPr>
                        <a:t>2</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3</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5</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1</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12</a:t>
                      </a:r>
                      <a:endParaRPr lang="es-PE" sz="1600" b="1"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3002615736"/>
                  </a:ext>
                </a:extLst>
              </a:tr>
              <a:tr h="308957">
                <a:tc>
                  <a:txBody>
                    <a:bodyPr/>
                    <a:lstStyle/>
                    <a:p>
                      <a:pPr algn="ctr"/>
                      <a:r>
                        <a:rPr lang="es-ES" sz="1600" b="1" dirty="0">
                          <a:latin typeface="Arial Narrow" panose="020B0606020202030204" pitchFamily="34" charset="0"/>
                          <a:cs typeface="Times New Roman" panose="02020603050405020304" pitchFamily="18" charset="0"/>
                        </a:rPr>
                        <a:t>3</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2</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2</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3</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18</a:t>
                      </a:r>
                      <a:endParaRPr lang="es-PE" sz="1600" b="1"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2052659421"/>
                  </a:ext>
                </a:extLst>
              </a:tr>
              <a:tr h="308957">
                <a:tc>
                  <a:txBody>
                    <a:bodyPr/>
                    <a:lstStyle/>
                    <a:p>
                      <a:pPr algn="ctr"/>
                      <a:r>
                        <a:rPr lang="es-ES" sz="1600" b="1" dirty="0">
                          <a:latin typeface="Arial Narrow" panose="020B0606020202030204" pitchFamily="34" charset="0"/>
                          <a:cs typeface="Times New Roman" panose="02020603050405020304" pitchFamily="18" charset="0"/>
                        </a:rPr>
                        <a:t>4</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1</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4</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4</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20</a:t>
                      </a:r>
                      <a:endParaRPr lang="es-PE" sz="1600" b="1"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1634081444"/>
                  </a:ext>
                </a:extLst>
              </a:tr>
              <a:tr h="308957">
                <a:tc>
                  <a:txBody>
                    <a:bodyPr/>
                    <a:lstStyle/>
                    <a:p>
                      <a:pPr algn="ctr"/>
                      <a:r>
                        <a:rPr lang="es-ES" sz="1600" b="1" dirty="0">
                          <a:latin typeface="Arial Narrow" panose="020B0606020202030204" pitchFamily="34" charset="0"/>
                          <a:cs typeface="Times New Roman" panose="02020603050405020304" pitchFamily="18" charset="0"/>
                        </a:rPr>
                        <a:t>5</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3</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2</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3</a:t>
                      </a:r>
                      <a:endParaRPr lang="es-PE" sz="1600" b="1" dirty="0">
                        <a:latin typeface="Arial Narrow" panose="020B0606020202030204" pitchFamily="34" charset="0"/>
                        <a:cs typeface="Times New Roman" panose="02020603050405020304" pitchFamily="18" charset="0"/>
                      </a:endParaRPr>
                    </a:p>
                  </a:txBody>
                  <a:tcPr/>
                </a:tc>
                <a:tc>
                  <a:txBody>
                    <a:bodyPr/>
                    <a:lstStyle/>
                    <a:p>
                      <a:pPr algn="ctr"/>
                      <a:r>
                        <a:rPr lang="es-ES" sz="1600" b="1" dirty="0">
                          <a:latin typeface="Arial Narrow" panose="020B0606020202030204" pitchFamily="34" charset="0"/>
                          <a:cs typeface="Times New Roman" panose="02020603050405020304" pitchFamily="18" charset="0"/>
                        </a:rPr>
                        <a:t>25</a:t>
                      </a:r>
                      <a:endParaRPr lang="es-PE" sz="1600" b="1"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2618509010"/>
                  </a:ext>
                </a:extLst>
              </a:tr>
            </a:tbl>
          </a:graphicData>
        </a:graphic>
      </p:graphicFrame>
    </p:spTree>
    <p:extLst>
      <p:ext uri="{BB962C8B-B14F-4D97-AF65-F5344CB8AC3E}">
        <p14:creationId xmlns:p14="http://schemas.microsoft.com/office/powerpoint/2010/main" val="63463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C019225A-738B-4122-8440-2391D94D2200}"/>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5</a:t>
            </a:r>
          </a:p>
        </p:txBody>
      </p:sp>
      <p:sp>
        <p:nvSpPr>
          <p:cNvPr id="9" name="CuadroTexto 8">
            <a:extLst>
              <a:ext uri="{FF2B5EF4-FFF2-40B4-BE49-F238E27FC236}">
                <a16:creationId xmlns:a16="http://schemas.microsoft.com/office/drawing/2014/main" id="{F35F5963-D429-4ED5-B588-E42C55CDAA46}"/>
              </a:ext>
            </a:extLst>
          </p:cNvPr>
          <p:cNvSpPr txBox="1"/>
          <p:nvPr/>
        </p:nvSpPr>
        <p:spPr>
          <a:xfrm>
            <a:off x="416510" y="1592723"/>
            <a:ext cx="5365451" cy="4832092"/>
          </a:xfrm>
          <a:prstGeom prst="rect">
            <a:avLst/>
          </a:prstGeom>
          <a:solidFill>
            <a:srgbClr val="FFFF00"/>
          </a:solidFill>
        </p:spPr>
        <p:txBody>
          <a:bodyPr wrap="square" rtlCol="0">
            <a:spAutoFit/>
          </a:bodyPr>
          <a:lstStyle/>
          <a:p>
            <a:r>
              <a:rPr lang="es-ES" sz="2800" dirty="0">
                <a:latin typeface="Arial Narrow" panose="020B0606020202030204" pitchFamily="34" charset="0"/>
              </a:rPr>
              <a:t>MAX 9X1+12X2+18X3+20X4+25X5</a:t>
            </a:r>
          </a:p>
          <a:p>
            <a:r>
              <a:rPr lang="es-ES" sz="2800" dirty="0">
                <a:solidFill>
                  <a:srgbClr val="FF0000"/>
                </a:solidFill>
                <a:latin typeface="Arial Narrow" panose="020B0606020202030204" pitchFamily="34" charset="0"/>
              </a:rPr>
              <a:t>ST</a:t>
            </a:r>
          </a:p>
          <a:p>
            <a:r>
              <a:rPr lang="es-ES" sz="2800" dirty="0">
                <a:latin typeface="Arial Narrow" panose="020B0606020202030204" pitchFamily="34" charset="0"/>
              </a:rPr>
              <a:t>2X1+3X2+2X3+1X4+3X5&gt;=7</a:t>
            </a:r>
          </a:p>
          <a:p>
            <a:r>
              <a:rPr lang="es-ES" sz="2800" dirty="0" err="1">
                <a:latin typeface="Arial Narrow" panose="020B0606020202030204" pitchFamily="34" charset="0"/>
              </a:rPr>
              <a:t>2X1+5X2+2X3+4X4+2X5</a:t>
            </a:r>
            <a:r>
              <a:rPr lang="es-ES" sz="2800" dirty="0">
                <a:latin typeface="Arial Narrow" panose="020B0606020202030204" pitchFamily="34" charset="0"/>
              </a:rPr>
              <a:t>&gt;=5</a:t>
            </a:r>
          </a:p>
          <a:p>
            <a:r>
              <a:rPr lang="es-ES" sz="2800" dirty="0" err="1">
                <a:latin typeface="Arial Narrow" panose="020B0606020202030204" pitchFamily="34" charset="0"/>
              </a:rPr>
              <a:t>3X1+1X2+3X3+4X4+3X5</a:t>
            </a:r>
            <a:r>
              <a:rPr lang="es-ES" sz="2800" dirty="0">
                <a:latin typeface="Arial Narrow" panose="020B0606020202030204" pitchFamily="34" charset="0"/>
              </a:rPr>
              <a:t>&lt;=8</a:t>
            </a:r>
          </a:p>
          <a:p>
            <a:r>
              <a:rPr lang="es-ES" sz="2800" dirty="0" err="1">
                <a:latin typeface="Arial Narrow" panose="020B0606020202030204" pitchFamily="34" charset="0"/>
              </a:rPr>
              <a:t>END</a:t>
            </a:r>
            <a:endParaRPr lang="es-ES" sz="2800" dirty="0">
              <a:latin typeface="Arial Narrow" panose="020B0606020202030204" pitchFamily="34" charset="0"/>
            </a:endParaRPr>
          </a:p>
          <a:p>
            <a:r>
              <a:rPr lang="es-ES" sz="2800" dirty="0" err="1">
                <a:latin typeface="Arial Narrow" panose="020B0606020202030204" pitchFamily="34" charset="0"/>
              </a:rPr>
              <a:t>INT</a:t>
            </a:r>
            <a:r>
              <a:rPr lang="es-ES" sz="2800" dirty="0">
                <a:latin typeface="Arial Narrow" panose="020B0606020202030204" pitchFamily="34" charset="0"/>
              </a:rPr>
              <a:t> </a:t>
            </a:r>
            <a:r>
              <a:rPr lang="es-ES" sz="2800" dirty="0" err="1">
                <a:latin typeface="Arial Narrow" panose="020B0606020202030204" pitchFamily="34" charset="0"/>
              </a:rPr>
              <a:t>X1</a:t>
            </a:r>
            <a:endParaRPr lang="es-ES" sz="2800" dirty="0">
              <a:latin typeface="Arial Narrow" panose="020B0606020202030204" pitchFamily="34" charset="0"/>
            </a:endParaRPr>
          </a:p>
          <a:p>
            <a:r>
              <a:rPr lang="es-ES" sz="2800" dirty="0" err="1">
                <a:latin typeface="Arial Narrow" panose="020B0606020202030204" pitchFamily="34" charset="0"/>
              </a:rPr>
              <a:t>INT</a:t>
            </a:r>
            <a:r>
              <a:rPr lang="es-ES" sz="2800" dirty="0">
                <a:latin typeface="Arial Narrow" panose="020B0606020202030204" pitchFamily="34" charset="0"/>
              </a:rPr>
              <a:t> </a:t>
            </a:r>
            <a:r>
              <a:rPr lang="es-ES" sz="2800" dirty="0" err="1">
                <a:latin typeface="Arial Narrow" panose="020B0606020202030204" pitchFamily="34" charset="0"/>
              </a:rPr>
              <a:t>X2</a:t>
            </a:r>
            <a:endParaRPr lang="es-ES" sz="2800" dirty="0">
              <a:latin typeface="Arial Narrow" panose="020B0606020202030204" pitchFamily="34" charset="0"/>
            </a:endParaRPr>
          </a:p>
          <a:p>
            <a:r>
              <a:rPr lang="es-ES" sz="2800" dirty="0" err="1">
                <a:latin typeface="Arial Narrow" panose="020B0606020202030204" pitchFamily="34" charset="0"/>
              </a:rPr>
              <a:t>INT</a:t>
            </a:r>
            <a:r>
              <a:rPr lang="es-ES" sz="2800" dirty="0">
                <a:latin typeface="Arial Narrow" panose="020B0606020202030204" pitchFamily="34" charset="0"/>
              </a:rPr>
              <a:t> </a:t>
            </a:r>
            <a:r>
              <a:rPr lang="es-ES" sz="2800" dirty="0" err="1">
                <a:latin typeface="Arial Narrow" panose="020B0606020202030204" pitchFamily="34" charset="0"/>
              </a:rPr>
              <a:t>X3</a:t>
            </a:r>
            <a:endParaRPr lang="es-ES" sz="2800" dirty="0">
              <a:latin typeface="Arial Narrow" panose="020B0606020202030204" pitchFamily="34" charset="0"/>
            </a:endParaRPr>
          </a:p>
          <a:p>
            <a:r>
              <a:rPr lang="es-ES" sz="2800" dirty="0" err="1">
                <a:latin typeface="Arial Narrow" panose="020B0606020202030204" pitchFamily="34" charset="0"/>
              </a:rPr>
              <a:t>INT</a:t>
            </a:r>
            <a:r>
              <a:rPr lang="es-ES" sz="2800" dirty="0">
                <a:latin typeface="Arial Narrow" panose="020B0606020202030204" pitchFamily="34" charset="0"/>
              </a:rPr>
              <a:t> </a:t>
            </a:r>
            <a:r>
              <a:rPr lang="es-ES" sz="2800" dirty="0" err="1">
                <a:latin typeface="Arial Narrow" panose="020B0606020202030204" pitchFamily="34" charset="0"/>
              </a:rPr>
              <a:t>X4</a:t>
            </a:r>
            <a:endParaRPr lang="es-ES" sz="2800" dirty="0">
              <a:latin typeface="Arial Narrow" panose="020B0606020202030204" pitchFamily="34" charset="0"/>
            </a:endParaRPr>
          </a:p>
          <a:p>
            <a:r>
              <a:rPr lang="es-ES" sz="2800" dirty="0" err="1">
                <a:latin typeface="Arial Narrow" panose="020B0606020202030204" pitchFamily="34" charset="0"/>
              </a:rPr>
              <a:t>INT</a:t>
            </a:r>
            <a:r>
              <a:rPr lang="es-ES" sz="2800" dirty="0">
                <a:latin typeface="Arial Narrow" panose="020B0606020202030204" pitchFamily="34" charset="0"/>
              </a:rPr>
              <a:t> </a:t>
            </a:r>
            <a:r>
              <a:rPr lang="es-ES" sz="2800" dirty="0" err="1">
                <a:latin typeface="Arial Narrow" panose="020B0606020202030204" pitchFamily="34" charset="0"/>
              </a:rPr>
              <a:t>X5</a:t>
            </a:r>
            <a:endParaRPr lang="es-PE" sz="2800" dirty="0">
              <a:latin typeface="Arial Narrow" panose="020B0606020202030204" pitchFamily="34" charset="0"/>
            </a:endParaRPr>
          </a:p>
        </p:txBody>
      </p:sp>
      <p:sp>
        <p:nvSpPr>
          <p:cNvPr id="11" name="Rectángulo 10">
            <a:extLst>
              <a:ext uri="{FF2B5EF4-FFF2-40B4-BE49-F238E27FC236}">
                <a16:creationId xmlns:a16="http://schemas.microsoft.com/office/drawing/2014/main" id="{3BCBF591-3E53-47C4-B710-6211A7674C9D}"/>
              </a:ext>
            </a:extLst>
          </p:cNvPr>
          <p:cNvSpPr/>
          <p:nvPr/>
        </p:nvSpPr>
        <p:spPr>
          <a:xfrm>
            <a:off x="6410039" y="1618493"/>
            <a:ext cx="5365451" cy="3539430"/>
          </a:xfrm>
          <a:prstGeom prst="rect">
            <a:avLst/>
          </a:prstGeom>
          <a:solidFill>
            <a:schemeClr val="accent2">
              <a:lumMod val="20000"/>
              <a:lumOff val="80000"/>
            </a:schemeClr>
          </a:solidFill>
        </p:spPr>
        <p:txBody>
          <a:bodyPr wrap="square">
            <a:spAutoFit/>
          </a:bodyPr>
          <a:lstStyle/>
          <a:p>
            <a:r>
              <a:rPr lang="es-PE" sz="2800" dirty="0">
                <a:latin typeface="Arial Narrow" panose="020B0606020202030204" pitchFamily="34" charset="0"/>
              </a:rPr>
              <a:t> </a:t>
            </a:r>
            <a:r>
              <a:rPr lang="es-PE" sz="2800" dirty="0" err="1">
                <a:latin typeface="Arial Narrow" panose="020B0606020202030204" pitchFamily="34" charset="0"/>
              </a:rPr>
              <a:t>OBJECTIVE</a:t>
            </a:r>
            <a:r>
              <a:rPr lang="es-PE" sz="2800" dirty="0">
                <a:latin typeface="Arial Narrow" panose="020B0606020202030204" pitchFamily="34" charset="0"/>
              </a:rPr>
              <a:t> </a:t>
            </a:r>
            <a:r>
              <a:rPr lang="es-PE" sz="2800" dirty="0" err="1">
                <a:latin typeface="Arial Narrow" panose="020B0606020202030204" pitchFamily="34" charset="0"/>
              </a:rPr>
              <a:t>FUNCTION</a:t>
            </a:r>
            <a:r>
              <a:rPr lang="es-PE" sz="2800" dirty="0">
                <a:latin typeface="Arial Narrow" panose="020B0606020202030204" pitchFamily="34" charset="0"/>
              </a:rPr>
              <a:t> </a:t>
            </a:r>
            <a:r>
              <a:rPr lang="es-PE" sz="2800" dirty="0" err="1">
                <a:latin typeface="Arial Narrow" panose="020B0606020202030204" pitchFamily="34" charset="0"/>
              </a:rPr>
              <a:t>VALUE</a:t>
            </a:r>
            <a:endParaRPr lang="es-PE" sz="2800" dirty="0">
              <a:latin typeface="Arial Narrow" panose="020B0606020202030204" pitchFamily="34" charset="0"/>
            </a:endParaRPr>
          </a:p>
          <a:p>
            <a:r>
              <a:rPr lang="es-PE" sz="2800" dirty="0">
                <a:latin typeface="Arial Narrow" panose="020B0606020202030204" pitchFamily="34" charset="0"/>
              </a:rPr>
              <a:t>        1)      57.00000</a:t>
            </a:r>
          </a:p>
          <a:p>
            <a:r>
              <a:rPr lang="es-PE" sz="2800" dirty="0">
                <a:latin typeface="Arial Narrow" panose="020B0606020202030204" pitchFamily="34" charset="0"/>
              </a:rPr>
              <a:t>  VARIABLE  </a:t>
            </a:r>
            <a:r>
              <a:rPr lang="es-PE" sz="2800" dirty="0" err="1">
                <a:latin typeface="Arial Narrow" panose="020B0606020202030204" pitchFamily="34" charset="0"/>
              </a:rPr>
              <a:t>VALUE</a:t>
            </a:r>
            <a:r>
              <a:rPr lang="es-PE" sz="2800" dirty="0">
                <a:latin typeface="Arial Narrow" panose="020B0606020202030204" pitchFamily="34" charset="0"/>
              </a:rPr>
              <a:t>  </a:t>
            </a:r>
            <a:r>
              <a:rPr lang="es-PE" sz="2800" dirty="0" err="1">
                <a:latin typeface="Arial Narrow" panose="020B0606020202030204" pitchFamily="34" charset="0"/>
              </a:rPr>
              <a:t>REDUCED</a:t>
            </a:r>
            <a:r>
              <a:rPr lang="es-PE" sz="2800" dirty="0">
                <a:latin typeface="Arial Narrow" panose="020B0606020202030204" pitchFamily="34" charset="0"/>
              </a:rPr>
              <a:t> </a:t>
            </a:r>
            <a:r>
              <a:rPr lang="es-PE" sz="2800" dirty="0" err="1">
                <a:latin typeface="Arial Narrow" panose="020B0606020202030204" pitchFamily="34" charset="0"/>
              </a:rPr>
              <a:t>COST</a:t>
            </a:r>
            <a:endParaRPr lang="es-PE" sz="2800" dirty="0">
              <a:latin typeface="Arial Narrow" panose="020B0606020202030204" pitchFamily="34" charset="0"/>
            </a:endParaRPr>
          </a:p>
          <a:p>
            <a:r>
              <a:rPr lang="es-PE" sz="2800" dirty="0">
                <a:latin typeface="Arial Narrow" panose="020B0606020202030204" pitchFamily="34" charset="0"/>
              </a:rPr>
              <a:t>        </a:t>
            </a:r>
            <a:r>
              <a:rPr lang="es-PE" sz="2800" dirty="0" err="1">
                <a:latin typeface="Arial Narrow" panose="020B0606020202030204" pitchFamily="34" charset="0"/>
              </a:rPr>
              <a:t>X1</a:t>
            </a:r>
            <a:r>
              <a:rPr lang="es-PE" sz="2800" dirty="0">
                <a:latin typeface="Arial Narrow" panose="020B0606020202030204" pitchFamily="34" charset="0"/>
              </a:rPr>
              <a:t>         0.000000         -9.000000</a:t>
            </a:r>
          </a:p>
          <a:p>
            <a:r>
              <a:rPr lang="es-PE" sz="2800" dirty="0">
                <a:latin typeface="Arial Narrow" panose="020B0606020202030204" pitchFamily="34" charset="0"/>
              </a:rPr>
              <a:t>        </a:t>
            </a:r>
            <a:r>
              <a:rPr lang="es-PE" sz="2800" dirty="0" err="1">
                <a:latin typeface="Arial Narrow" panose="020B0606020202030204" pitchFamily="34" charset="0"/>
              </a:rPr>
              <a:t>X2</a:t>
            </a:r>
            <a:r>
              <a:rPr lang="es-PE" sz="2800" dirty="0">
                <a:latin typeface="Arial Narrow" panose="020B0606020202030204" pitchFamily="34" charset="0"/>
              </a:rPr>
              <a:t>         1.000000        -12.000000</a:t>
            </a:r>
          </a:p>
          <a:p>
            <a:r>
              <a:rPr lang="es-PE" sz="2800" dirty="0">
                <a:latin typeface="Arial Narrow" panose="020B0606020202030204" pitchFamily="34" charset="0"/>
              </a:rPr>
              <a:t>        </a:t>
            </a:r>
            <a:r>
              <a:rPr lang="es-PE" sz="2800" dirty="0" err="1">
                <a:latin typeface="Arial Narrow" panose="020B0606020202030204" pitchFamily="34" charset="0"/>
              </a:rPr>
              <a:t>X3</a:t>
            </a:r>
            <a:r>
              <a:rPr lang="es-PE" sz="2800" dirty="0">
                <a:latin typeface="Arial Narrow" panose="020B0606020202030204" pitchFamily="34" charset="0"/>
              </a:rPr>
              <a:t>         0.000000        -18.000000</a:t>
            </a:r>
          </a:p>
          <a:p>
            <a:r>
              <a:rPr lang="es-PE" sz="2800" dirty="0">
                <a:latin typeface="Arial Narrow" panose="020B0606020202030204" pitchFamily="34" charset="0"/>
              </a:rPr>
              <a:t>        </a:t>
            </a:r>
            <a:r>
              <a:rPr lang="es-PE" sz="2800" dirty="0" err="1">
                <a:latin typeface="Arial Narrow" panose="020B0606020202030204" pitchFamily="34" charset="0"/>
              </a:rPr>
              <a:t>X4</a:t>
            </a:r>
            <a:r>
              <a:rPr lang="es-PE" sz="2800" dirty="0">
                <a:latin typeface="Arial Narrow" panose="020B0606020202030204" pitchFamily="34" charset="0"/>
              </a:rPr>
              <a:t>         1.000000        -20.000000</a:t>
            </a:r>
          </a:p>
          <a:p>
            <a:r>
              <a:rPr lang="es-PE" sz="2800" dirty="0">
                <a:latin typeface="Arial Narrow" panose="020B0606020202030204" pitchFamily="34" charset="0"/>
              </a:rPr>
              <a:t>        </a:t>
            </a:r>
            <a:r>
              <a:rPr lang="es-PE" sz="2800" dirty="0" err="1">
                <a:latin typeface="Arial Narrow" panose="020B0606020202030204" pitchFamily="34" charset="0"/>
              </a:rPr>
              <a:t>X5</a:t>
            </a:r>
            <a:r>
              <a:rPr lang="es-PE" sz="2800" dirty="0">
                <a:latin typeface="Arial Narrow" panose="020B0606020202030204" pitchFamily="34" charset="0"/>
              </a:rPr>
              <a:t>         1.000000        -25.000000</a:t>
            </a:r>
          </a:p>
        </p:txBody>
      </p:sp>
    </p:spTree>
    <p:extLst>
      <p:ext uri="{BB962C8B-B14F-4D97-AF65-F5344CB8AC3E}">
        <p14:creationId xmlns:p14="http://schemas.microsoft.com/office/powerpoint/2010/main" val="255856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2B89427-E9BA-40F9-82FB-CDEDCD1ADA32}"/>
              </a:ext>
            </a:extLst>
          </p:cNvPr>
          <p:cNvSpPr txBox="1"/>
          <p:nvPr/>
        </p:nvSpPr>
        <p:spPr>
          <a:xfrm>
            <a:off x="6339841" y="1246602"/>
            <a:ext cx="4876800" cy="1631216"/>
          </a:xfrm>
          <a:prstGeom prst="rect">
            <a:avLst/>
          </a:prstGeom>
          <a:solidFill>
            <a:schemeClr val="accent1">
              <a:lumMod val="20000"/>
              <a:lumOff val="80000"/>
            </a:schemeClr>
          </a:solidFill>
        </p:spPr>
        <p:txBody>
          <a:bodyPr wrap="square" rtlCol="0">
            <a:spAutoFit/>
          </a:bodyPr>
          <a:lstStyle/>
          <a:p>
            <a:r>
              <a:rPr lang="es-ES" sz="2000" b="1" dirty="0">
                <a:solidFill>
                  <a:srgbClr val="FF0000"/>
                </a:solidFill>
              </a:rPr>
              <a:t>Identificación de las variables</a:t>
            </a:r>
          </a:p>
          <a:p>
            <a:r>
              <a:rPr lang="es-ES" sz="2000" b="1" dirty="0"/>
              <a:t>Xi=      1 si se construye la fabrica o almacén i</a:t>
            </a:r>
          </a:p>
          <a:p>
            <a:r>
              <a:rPr lang="es-ES" sz="2000" b="1" dirty="0"/>
              <a:t>            0 en otro caso</a:t>
            </a:r>
          </a:p>
          <a:p>
            <a:r>
              <a:rPr lang="es-ES" sz="2000" b="1" dirty="0" err="1"/>
              <a:t>X1</a:t>
            </a:r>
            <a:r>
              <a:rPr lang="es-ES" sz="2000" b="1" dirty="0"/>
              <a:t>= Fábrica A,            </a:t>
            </a:r>
            <a:r>
              <a:rPr lang="es-ES" sz="2000" b="1" dirty="0" err="1"/>
              <a:t>X2</a:t>
            </a:r>
            <a:r>
              <a:rPr lang="es-ES" sz="2000" b="1" dirty="0"/>
              <a:t>= Fábrica B, </a:t>
            </a:r>
          </a:p>
          <a:p>
            <a:r>
              <a:rPr lang="es-ES" sz="2000" b="1" dirty="0" err="1"/>
              <a:t>X3</a:t>
            </a:r>
            <a:r>
              <a:rPr lang="es-ES" sz="2000" b="1" dirty="0"/>
              <a:t>= Almacén A,         </a:t>
            </a:r>
            <a:r>
              <a:rPr lang="es-ES" sz="2000" b="1" dirty="0" err="1"/>
              <a:t>X4</a:t>
            </a:r>
            <a:r>
              <a:rPr lang="es-ES" sz="2000" b="1" dirty="0"/>
              <a:t>= Almacén B.</a:t>
            </a:r>
          </a:p>
        </p:txBody>
      </p:sp>
      <p:sp>
        <p:nvSpPr>
          <p:cNvPr id="6" name="Abrir llave 5">
            <a:extLst>
              <a:ext uri="{FF2B5EF4-FFF2-40B4-BE49-F238E27FC236}">
                <a16:creationId xmlns:a16="http://schemas.microsoft.com/office/drawing/2014/main" id="{2DC146D4-CF32-41AB-879A-5C582C4D6723}"/>
              </a:ext>
            </a:extLst>
          </p:cNvPr>
          <p:cNvSpPr/>
          <p:nvPr/>
        </p:nvSpPr>
        <p:spPr>
          <a:xfrm>
            <a:off x="6881002" y="1623237"/>
            <a:ext cx="94890" cy="48308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PE"/>
          </a:p>
        </p:txBody>
      </p:sp>
      <p:sp>
        <p:nvSpPr>
          <p:cNvPr id="7" name="Rectángulo 6">
            <a:extLst>
              <a:ext uri="{FF2B5EF4-FFF2-40B4-BE49-F238E27FC236}">
                <a16:creationId xmlns:a16="http://schemas.microsoft.com/office/drawing/2014/main" id="{A4006CD2-978A-4824-90D3-576EFB7D6CA4}"/>
              </a:ext>
            </a:extLst>
          </p:cNvPr>
          <p:cNvSpPr/>
          <p:nvPr/>
        </p:nvSpPr>
        <p:spPr>
          <a:xfrm>
            <a:off x="6339838" y="3588326"/>
            <a:ext cx="4876800" cy="1015663"/>
          </a:xfrm>
          <a:prstGeom prst="rect">
            <a:avLst/>
          </a:prstGeom>
          <a:solidFill>
            <a:schemeClr val="accent1">
              <a:lumMod val="20000"/>
              <a:lumOff val="80000"/>
            </a:schemeClr>
          </a:solidFill>
        </p:spPr>
        <p:txBody>
          <a:bodyPr wrap="square">
            <a:spAutoFit/>
          </a:bodyPr>
          <a:lstStyle/>
          <a:p>
            <a:r>
              <a:rPr lang="es-ES" sz="2000" b="1" dirty="0">
                <a:solidFill>
                  <a:srgbClr val="FF0000"/>
                </a:solidFill>
              </a:rPr>
              <a:t>Identificación de las restricciones</a:t>
            </a:r>
          </a:p>
          <a:p>
            <a:r>
              <a:rPr lang="es-PE" sz="2000" b="1" dirty="0"/>
              <a:t>Construcción de a lo sumo un almacén</a:t>
            </a:r>
          </a:p>
          <a:p>
            <a:r>
              <a:rPr lang="es-PE" sz="2000" b="1" dirty="0"/>
              <a:t>	</a:t>
            </a:r>
            <a:r>
              <a:rPr lang="es-PE" sz="2000" b="1" dirty="0" err="1"/>
              <a:t>X3+X4</a:t>
            </a:r>
            <a:r>
              <a:rPr lang="es-PE" sz="2000" b="1" dirty="0"/>
              <a:t> &lt;= 1</a:t>
            </a:r>
          </a:p>
        </p:txBody>
      </p:sp>
      <p:sp>
        <p:nvSpPr>
          <p:cNvPr id="8" name="Rectángulo 7">
            <a:extLst>
              <a:ext uri="{FF2B5EF4-FFF2-40B4-BE49-F238E27FC236}">
                <a16:creationId xmlns:a16="http://schemas.microsoft.com/office/drawing/2014/main" id="{9EA1E48D-A192-4D12-9F0B-65DC3E4393BC}"/>
              </a:ext>
            </a:extLst>
          </p:cNvPr>
          <p:cNvSpPr/>
          <p:nvPr/>
        </p:nvSpPr>
        <p:spPr>
          <a:xfrm>
            <a:off x="6339839" y="2880440"/>
            <a:ext cx="4876801" cy="707886"/>
          </a:xfrm>
          <a:prstGeom prst="rect">
            <a:avLst/>
          </a:prstGeom>
          <a:solidFill>
            <a:schemeClr val="accent1">
              <a:lumMod val="20000"/>
              <a:lumOff val="80000"/>
            </a:schemeClr>
          </a:solidFill>
        </p:spPr>
        <p:txBody>
          <a:bodyPr wrap="square">
            <a:spAutoFit/>
          </a:bodyPr>
          <a:lstStyle/>
          <a:p>
            <a:r>
              <a:rPr lang="es-ES" sz="2000" b="1" dirty="0">
                <a:solidFill>
                  <a:srgbClr val="FF0000"/>
                </a:solidFill>
              </a:rPr>
              <a:t>Identificación de la Función objetivo</a:t>
            </a:r>
          </a:p>
          <a:p>
            <a:r>
              <a:rPr lang="es-PE" sz="2000" b="1" dirty="0"/>
              <a:t>MAX </a:t>
            </a:r>
            <a:r>
              <a:rPr lang="es-PE" sz="2000" b="1" dirty="0" err="1"/>
              <a:t>9X1+5X2+6X3+4X4</a:t>
            </a:r>
            <a:endParaRPr lang="es-PE" sz="2000" b="1" dirty="0"/>
          </a:p>
        </p:txBody>
      </p:sp>
      <p:sp>
        <p:nvSpPr>
          <p:cNvPr id="9" name="Rectángulo 8">
            <a:extLst>
              <a:ext uri="{FF2B5EF4-FFF2-40B4-BE49-F238E27FC236}">
                <a16:creationId xmlns:a16="http://schemas.microsoft.com/office/drawing/2014/main" id="{94844B36-9329-4C26-9E9A-9FB3ED52BB32}"/>
              </a:ext>
            </a:extLst>
          </p:cNvPr>
          <p:cNvSpPr/>
          <p:nvPr/>
        </p:nvSpPr>
        <p:spPr>
          <a:xfrm>
            <a:off x="6338281" y="4603989"/>
            <a:ext cx="4876797" cy="707886"/>
          </a:xfrm>
          <a:prstGeom prst="rect">
            <a:avLst/>
          </a:prstGeom>
          <a:solidFill>
            <a:schemeClr val="accent1">
              <a:lumMod val="20000"/>
              <a:lumOff val="80000"/>
            </a:schemeClr>
          </a:solidFill>
        </p:spPr>
        <p:txBody>
          <a:bodyPr wrap="square">
            <a:spAutoFit/>
          </a:bodyPr>
          <a:lstStyle/>
          <a:p>
            <a:r>
              <a:rPr lang="es-PE" sz="2000" b="1" dirty="0"/>
              <a:t>Límite presupuestario de inversión</a:t>
            </a:r>
          </a:p>
          <a:p>
            <a:r>
              <a:rPr lang="es-PE" sz="2000" b="1" dirty="0"/>
              <a:t>	</a:t>
            </a:r>
            <a:r>
              <a:rPr lang="es-PE" sz="2000" b="1" dirty="0" err="1"/>
              <a:t>6X1+3X2+5X3+2X4</a:t>
            </a:r>
            <a:r>
              <a:rPr lang="es-PE" sz="2000" b="1" dirty="0"/>
              <a:t> &lt;= 10</a:t>
            </a:r>
          </a:p>
        </p:txBody>
      </p:sp>
      <p:sp>
        <p:nvSpPr>
          <p:cNvPr id="10" name="Rectángulo 9">
            <a:extLst>
              <a:ext uri="{FF2B5EF4-FFF2-40B4-BE49-F238E27FC236}">
                <a16:creationId xmlns:a16="http://schemas.microsoft.com/office/drawing/2014/main" id="{1B6B91D4-EA8B-4CD0-885C-358E49161434}"/>
              </a:ext>
            </a:extLst>
          </p:cNvPr>
          <p:cNvSpPr/>
          <p:nvPr/>
        </p:nvSpPr>
        <p:spPr>
          <a:xfrm>
            <a:off x="6339841" y="5226784"/>
            <a:ext cx="4876797" cy="1323439"/>
          </a:xfrm>
          <a:prstGeom prst="rect">
            <a:avLst/>
          </a:prstGeom>
          <a:solidFill>
            <a:schemeClr val="accent1">
              <a:lumMod val="20000"/>
              <a:lumOff val="80000"/>
            </a:schemeClr>
          </a:solidFill>
        </p:spPr>
        <p:txBody>
          <a:bodyPr wrap="square">
            <a:spAutoFit/>
          </a:bodyPr>
          <a:lstStyle/>
          <a:p>
            <a:r>
              <a:rPr lang="es-PE" sz="2000" b="1" dirty="0"/>
              <a:t>Si se construye una fábrica en A o B</a:t>
            </a:r>
          </a:p>
          <a:p>
            <a:r>
              <a:rPr lang="es-PE" sz="2000" b="1" dirty="0"/>
              <a:t>	</a:t>
            </a:r>
            <a:r>
              <a:rPr lang="es-PE" sz="2000" b="1" dirty="0" err="1"/>
              <a:t>X3</a:t>
            </a:r>
            <a:r>
              <a:rPr lang="es-PE" sz="2000" b="1" dirty="0"/>
              <a:t>&lt;=</a:t>
            </a:r>
            <a:r>
              <a:rPr lang="es-PE" sz="2000" b="1" dirty="0" err="1"/>
              <a:t>X1</a:t>
            </a:r>
            <a:endParaRPr lang="es-PE" sz="2000" b="1" dirty="0"/>
          </a:p>
          <a:p>
            <a:r>
              <a:rPr lang="es-PE" sz="2000" b="1" dirty="0"/>
              <a:t>	</a:t>
            </a:r>
            <a:r>
              <a:rPr lang="es-PE" sz="2000" b="1" dirty="0" err="1"/>
              <a:t>X4</a:t>
            </a:r>
            <a:r>
              <a:rPr lang="es-PE" sz="2000" b="1" dirty="0"/>
              <a:t>&lt;=</a:t>
            </a:r>
            <a:r>
              <a:rPr lang="es-PE" sz="2000" b="1" dirty="0" err="1"/>
              <a:t>X2</a:t>
            </a:r>
            <a:endParaRPr lang="es-PE" sz="2000" b="1" dirty="0"/>
          </a:p>
          <a:p>
            <a:r>
              <a:rPr lang="es-PE" sz="2000" b="1" dirty="0"/>
              <a:t>	Xi&gt;=0, BINARIO</a:t>
            </a:r>
          </a:p>
        </p:txBody>
      </p:sp>
      <p:sp>
        <p:nvSpPr>
          <p:cNvPr id="15" name="Rectangle 2">
            <a:extLst>
              <a:ext uri="{FF2B5EF4-FFF2-40B4-BE49-F238E27FC236}">
                <a16:creationId xmlns:a16="http://schemas.microsoft.com/office/drawing/2014/main" id="{CA1A2D2A-D340-4CA9-A6A6-F21030D00667}"/>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6</a:t>
            </a:r>
          </a:p>
        </p:txBody>
      </p:sp>
      <p:sp>
        <p:nvSpPr>
          <p:cNvPr id="4" name="CuadroTexto 3">
            <a:extLst>
              <a:ext uri="{FF2B5EF4-FFF2-40B4-BE49-F238E27FC236}">
                <a16:creationId xmlns:a16="http://schemas.microsoft.com/office/drawing/2014/main" id="{3D6706C4-E6CE-A0E8-E1B7-3C014559A422}"/>
              </a:ext>
            </a:extLst>
          </p:cNvPr>
          <p:cNvSpPr txBox="1"/>
          <p:nvPr/>
        </p:nvSpPr>
        <p:spPr>
          <a:xfrm>
            <a:off x="-1" y="1272733"/>
            <a:ext cx="5939247" cy="2554545"/>
          </a:xfrm>
          <a:prstGeom prst="rect">
            <a:avLst/>
          </a:prstGeom>
          <a:solidFill>
            <a:schemeClr val="accent1">
              <a:lumMod val="20000"/>
              <a:lumOff val="80000"/>
            </a:schemeClr>
          </a:solidFill>
        </p:spPr>
        <p:txBody>
          <a:bodyPr wrap="square">
            <a:spAutoFit/>
          </a:bodyPr>
          <a:lstStyle>
            <a:defPPr>
              <a:defRPr lang="es-PE"/>
            </a:defPPr>
            <a:lvl1pPr>
              <a:defRPr sz="2000" b="1"/>
            </a:lvl1pPr>
          </a:lstStyle>
          <a:p>
            <a:r>
              <a:rPr lang="es-ES" dirty="0"/>
              <a:t>El servicio de estudios de una compañía pretende construir nuevas fábricas en las ciudades A y B. Desea, además, construir a lo sumo un nuevo almacén, pero éste debe hacerse en una de las ciudades donde se construya una fábrica. La tabla proporciona el valor actual neto, el coste de la inversión, ambos en millones de soles. Y el impacto ambiental, en una escala subjetiva de 0 a 9, de cada construcción.</a:t>
            </a:r>
            <a:endParaRPr lang="es-PE" dirty="0"/>
          </a:p>
        </p:txBody>
      </p:sp>
      <p:graphicFrame>
        <p:nvGraphicFramePr>
          <p:cNvPr id="5" name="Tabla 10">
            <a:extLst>
              <a:ext uri="{FF2B5EF4-FFF2-40B4-BE49-F238E27FC236}">
                <a16:creationId xmlns:a16="http://schemas.microsoft.com/office/drawing/2014/main" id="{B394ABF9-1038-1402-70FE-14F8E8CF0C14}"/>
              </a:ext>
            </a:extLst>
          </p:cNvPr>
          <p:cNvGraphicFramePr>
            <a:graphicFrameLocks noGrp="1"/>
          </p:cNvGraphicFramePr>
          <p:nvPr>
            <p:extLst>
              <p:ext uri="{D42A27DB-BD31-4B8C-83A1-F6EECF244321}">
                <p14:modId xmlns:p14="http://schemas.microsoft.com/office/powerpoint/2010/main" val="2406196230"/>
              </p:ext>
            </p:extLst>
          </p:nvPr>
        </p:nvGraphicFramePr>
        <p:xfrm>
          <a:off x="0" y="3827278"/>
          <a:ext cx="5939247" cy="2055483"/>
        </p:xfrm>
        <a:graphic>
          <a:graphicData uri="http://schemas.openxmlformats.org/drawingml/2006/table">
            <a:tbl>
              <a:tblPr firstRow="1" bandRow="1">
                <a:tableStyleId>{5C22544A-7EE6-4342-B048-85BDC9FD1C3A}</a:tableStyleId>
              </a:tblPr>
              <a:tblGrid>
                <a:gridCol w="1696928">
                  <a:extLst>
                    <a:ext uri="{9D8B030D-6E8A-4147-A177-3AD203B41FA5}">
                      <a16:colId xmlns:a16="http://schemas.microsoft.com/office/drawing/2014/main" val="183576006"/>
                    </a:ext>
                  </a:extLst>
                </a:gridCol>
                <a:gridCol w="786381">
                  <a:extLst>
                    <a:ext uri="{9D8B030D-6E8A-4147-A177-3AD203B41FA5}">
                      <a16:colId xmlns:a16="http://schemas.microsoft.com/office/drawing/2014/main" val="1745691597"/>
                    </a:ext>
                  </a:extLst>
                </a:gridCol>
                <a:gridCol w="1173041">
                  <a:extLst>
                    <a:ext uri="{9D8B030D-6E8A-4147-A177-3AD203B41FA5}">
                      <a16:colId xmlns:a16="http://schemas.microsoft.com/office/drawing/2014/main" val="3082706602"/>
                    </a:ext>
                  </a:extLst>
                </a:gridCol>
                <a:gridCol w="2282897">
                  <a:extLst>
                    <a:ext uri="{9D8B030D-6E8A-4147-A177-3AD203B41FA5}">
                      <a16:colId xmlns:a16="http://schemas.microsoft.com/office/drawing/2014/main" val="2895479026"/>
                    </a:ext>
                  </a:extLst>
                </a:gridCol>
              </a:tblGrid>
              <a:tr h="441321">
                <a:tc>
                  <a:txBody>
                    <a:bodyPr/>
                    <a:lstStyle/>
                    <a:p>
                      <a:pPr algn="ctr"/>
                      <a:r>
                        <a:rPr lang="es-ES" b="1" dirty="0"/>
                        <a:t>Construcción</a:t>
                      </a:r>
                      <a:endParaRPr lang="es-PE" b="1" dirty="0"/>
                    </a:p>
                  </a:txBody>
                  <a:tcPr/>
                </a:tc>
                <a:tc>
                  <a:txBody>
                    <a:bodyPr/>
                    <a:lstStyle/>
                    <a:p>
                      <a:pPr algn="ctr"/>
                      <a:r>
                        <a:rPr lang="es-ES" b="1" dirty="0"/>
                        <a:t>VAN</a:t>
                      </a:r>
                      <a:endParaRPr lang="es-PE" b="1" dirty="0"/>
                    </a:p>
                  </a:txBody>
                  <a:tcPr/>
                </a:tc>
                <a:tc>
                  <a:txBody>
                    <a:bodyPr/>
                    <a:lstStyle/>
                    <a:p>
                      <a:pPr algn="ctr"/>
                      <a:r>
                        <a:rPr lang="es-ES" b="1" dirty="0"/>
                        <a:t>Inversión</a:t>
                      </a:r>
                      <a:endParaRPr lang="es-PE" b="1" dirty="0"/>
                    </a:p>
                  </a:txBody>
                  <a:tcPr/>
                </a:tc>
                <a:tc>
                  <a:txBody>
                    <a:bodyPr/>
                    <a:lstStyle/>
                    <a:p>
                      <a:pPr algn="ctr"/>
                      <a:r>
                        <a:rPr lang="es-ES" b="1" dirty="0"/>
                        <a:t>Impacto Ambiental</a:t>
                      </a:r>
                      <a:endParaRPr lang="es-PE" b="1" dirty="0"/>
                    </a:p>
                  </a:txBody>
                  <a:tcPr/>
                </a:tc>
                <a:extLst>
                  <a:ext uri="{0D108BD9-81ED-4DB2-BD59-A6C34878D82A}">
                    <a16:rowId xmlns:a16="http://schemas.microsoft.com/office/drawing/2014/main" val="436044487"/>
                  </a:ext>
                </a:extLst>
              </a:tr>
              <a:tr h="353681">
                <a:tc>
                  <a:txBody>
                    <a:bodyPr/>
                    <a:lstStyle/>
                    <a:p>
                      <a:pPr algn="ctr"/>
                      <a:r>
                        <a:rPr lang="es-ES" b="1" dirty="0"/>
                        <a:t>Fábrica A</a:t>
                      </a:r>
                    </a:p>
                  </a:txBody>
                  <a:tcPr/>
                </a:tc>
                <a:tc>
                  <a:txBody>
                    <a:bodyPr/>
                    <a:lstStyle/>
                    <a:p>
                      <a:pPr algn="ctr"/>
                      <a:r>
                        <a:rPr lang="es-ES" b="1" dirty="0"/>
                        <a:t>9</a:t>
                      </a:r>
                      <a:endParaRPr lang="es-PE" b="1" dirty="0"/>
                    </a:p>
                  </a:txBody>
                  <a:tcPr/>
                </a:tc>
                <a:tc>
                  <a:txBody>
                    <a:bodyPr/>
                    <a:lstStyle/>
                    <a:p>
                      <a:pPr algn="ctr"/>
                      <a:r>
                        <a:rPr lang="es-ES" b="1" dirty="0"/>
                        <a:t>6</a:t>
                      </a:r>
                      <a:endParaRPr lang="es-PE" b="1" dirty="0"/>
                    </a:p>
                  </a:txBody>
                  <a:tcPr/>
                </a:tc>
                <a:tc>
                  <a:txBody>
                    <a:bodyPr/>
                    <a:lstStyle/>
                    <a:p>
                      <a:pPr algn="ctr"/>
                      <a:r>
                        <a:rPr lang="es-ES" b="1" dirty="0"/>
                        <a:t>3</a:t>
                      </a:r>
                      <a:endParaRPr lang="es-PE" b="1" dirty="0"/>
                    </a:p>
                  </a:txBody>
                  <a:tcPr/>
                </a:tc>
                <a:extLst>
                  <a:ext uri="{0D108BD9-81ED-4DB2-BD59-A6C34878D82A}">
                    <a16:rowId xmlns:a16="http://schemas.microsoft.com/office/drawing/2014/main" val="3720917714"/>
                  </a:ext>
                </a:extLst>
              </a:tr>
              <a:tr h="353681">
                <a:tc>
                  <a:txBody>
                    <a:bodyPr/>
                    <a:lstStyle/>
                    <a:p>
                      <a:pPr algn="ctr"/>
                      <a:r>
                        <a:rPr lang="es-ES" b="1" dirty="0"/>
                        <a:t>Fábrica B</a:t>
                      </a:r>
                      <a:endParaRPr lang="es-PE" b="1" dirty="0"/>
                    </a:p>
                  </a:txBody>
                  <a:tcPr/>
                </a:tc>
                <a:tc>
                  <a:txBody>
                    <a:bodyPr/>
                    <a:lstStyle/>
                    <a:p>
                      <a:pPr algn="ctr"/>
                      <a:r>
                        <a:rPr lang="es-ES" b="1" dirty="0"/>
                        <a:t>5</a:t>
                      </a:r>
                      <a:endParaRPr lang="es-PE" b="1" dirty="0"/>
                    </a:p>
                  </a:txBody>
                  <a:tcPr/>
                </a:tc>
                <a:tc>
                  <a:txBody>
                    <a:bodyPr/>
                    <a:lstStyle/>
                    <a:p>
                      <a:pPr algn="ctr"/>
                      <a:r>
                        <a:rPr lang="es-ES" b="1" dirty="0"/>
                        <a:t>3</a:t>
                      </a:r>
                      <a:endParaRPr lang="es-PE" b="1" dirty="0"/>
                    </a:p>
                  </a:txBody>
                  <a:tcPr/>
                </a:tc>
                <a:tc>
                  <a:txBody>
                    <a:bodyPr/>
                    <a:lstStyle/>
                    <a:p>
                      <a:pPr algn="ctr"/>
                      <a:r>
                        <a:rPr lang="es-ES" b="1" dirty="0"/>
                        <a:t>7</a:t>
                      </a:r>
                      <a:endParaRPr lang="es-PE" b="1" dirty="0"/>
                    </a:p>
                  </a:txBody>
                  <a:tcPr/>
                </a:tc>
                <a:extLst>
                  <a:ext uri="{0D108BD9-81ED-4DB2-BD59-A6C34878D82A}">
                    <a16:rowId xmlns:a16="http://schemas.microsoft.com/office/drawing/2014/main" val="1203439385"/>
                  </a:ext>
                </a:extLst>
              </a:tr>
              <a:tr h="441321">
                <a:tc>
                  <a:txBody>
                    <a:bodyPr/>
                    <a:lstStyle/>
                    <a:p>
                      <a:pPr algn="ctr"/>
                      <a:r>
                        <a:rPr lang="es-ES" b="1" dirty="0"/>
                        <a:t>Almacén en A</a:t>
                      </a:r>
                      <a:endParaRPr lang="es-PE" b="1" dirty="0"/>
                    </a:p>
                  </a:txBody>
                  <a:tcPr/>
                </a:tc>
                <a:tc>
                  <a:txBody>
                    <a:bodyPr/>
                    <a:lstStyle/>
                    <a:p>
                      <a:pPr algn="ctr"/>
                      <a:r>
                        <a:rPr lang="es-ES" b="1" dirty="0"/>
                        <a:t>6</a:t>
                      </a:r>
                      <a:endParaRPr lang="es-PE" b="1" dirty="0"/>
                    </a:p>
                  </a:txBody>
                  <a:tcPr/>
                </a:tc>
                <a:tc>
                  <a:txBody>
                    <a:bodyPr/>
                    <a:lstStyle/>
                    <a:p>
                      <a:pPr algn="ctr"/>
                      <a:r>
                        <a:rPr lang="es-ES" b="1" dirty="0"/>
                        <a:t>5</a:t>
                      </a:r>
                      <a:endParaRPr lang="es-PE" b="1" dirty="0"/>
                    </a:p>
                  </a:txBody>
                  <a:tcPr/>
                </a:tc>
                <a:tc>
                  <a:txBody>
                    <a:bodyPr/>
                    <a:lstStyle/>
                    <a:p>
                      <a:pPr algn="ctr"/>
                      <a:r>
                        <a:rPr lang="es-ES" b="1" dirty="0"/>
                        <a:t>2</a:t>
                      </a:r>
                      <a:endParaRPr lang="es-PE" b="1" dirty="0"/>
                    </a:p>
                  </a:txBody>
                  <a:tcPr/>
                </a:tc>
                <a:extLst>
                  <a:ext uri="{0D108BD9-81ED-4DB2-BD59-A6C34878D82A}">
                    <a16:rowId xmlns:a16="http://schemas.microsoft.com/office/drawing/2014/main" val="802863131"/>
                  </a:ext>
                </a:extLst>
              </a:tr>
              <a:tr h="441321">
                <a:tc>
                  <a:txBody>
                    <a:bodyPr/>
                    <a:lstStyle/>
                    <a:p>
                      <a:pPr algn="ctr"/>
                      <a:r>
                        <a:rPr lang="es-ES" b="1" dirty="0"/>
                        <a:t>Almacén en B</a:t>
                      </a:r>
                      <a:endParaRPr lang="es-PE" b="1" dirty="0"/>
                    </a:p>
                  </a:txBody>
                  <a:tcPr/>
                </a:tc>
                <a:tc>
                  <a:txBody>
                    <a:bodyPr/>
                    <a:lstStyle/>
                    <a:p>
                      <a:pPr algn="ctr"/>
                      <a:r>
                        <a:rPr lang="es-ES" b="1" dirty="0"/>
                        <a:t>4</a:t>
                      </a:r>
                      <a:endParaRPr lang="es-PE" b="1" dirty="0"/>
                    </a:p>
                  </a:txBody>
                  <a:tcPr/>
                </a:tc>
                <a:tc>
                  <a:txBody>
                    <a:bodyPr/>
                    <a:lstStyle/>
                    <a:p>
                      <a:pPr algn="ctr"/>
                      <a:r>
                        <a:rPr lang="es-ES" b="1" dirty="0"/>
                        <a:t>2</a:t>
                      </a:r>
                      <a:endParaRPr lang="es-PE" b="1" dirty="0"/>
                    </a:p>
                  </a:txBody>
                  <a:tcPr/>
                </a:tc>
                <a:tc>
                  <a:txBody>
                    <a:bodyPr/>
                    <a:lstStyle/>
                    <a:p>
                      <a:pPr algn="ctr"/>
                      <a:r>
                        <a:rPr lang="es-ES" b="1" dirty="0"/>
                        <a:t>1</a:t>
                      </a:r>
                      <a:endParaRPr lang="es-PE" b="1" dirty="0"/>
                    </a:p>
                  </a:txBody>
                  <a:tcPr/>
                </a:tc>
                <a:extLst>
                  <a:ext uri="{0D108BD9-81ED-4DB2-BD59-A6C34878D82A}">
                    <a16:rowId xmlns:a16="http://schemas.microsoft.com/office/drawing/2014/main" val="2260023961"/>
                  </a:ext>
                </a:extLst>
              </a:tr>
            </a:tbl>
          </a:graphicData>
        </a:graphic>
      </p:graphicFrame>
      <p:sp>
        <p:nvSpPr>
          <p:cNvPr id="12" name="CuadroTexto 11">
            <a:extLst>
              <a:ext uri="{FF2B5EF4-FFF2-40B4-BE49-F238E27FC236}">
                <a16:creationId xmlns:a16="http://schemas.microsoft.com/office/drawing/2014/main" id="{C61E764D-6559-50FE-41DF-3FC7759D515F}"/>
              </a:ext>
            </a:extLst>
          </p:cNvPr>
          <p:cNvSpPr txBox="1"/>
          <p:nvPr/>
        </p:nvSpPr>
        <p:spPr>
          <a:xfrm>
            <a:off x="0" y="5842337"/>
            <a:ext cx="5939246" cy="1015663"/>
          </a:xfrm>
          <a:prstGeom prst="rect">
            <a:avLst/>
          </a:prstGeom>
          <a:solidFill>
            <a:schemeClr val="accent1">
              <a:lumMod val="20000"/>
              <a:lumOff val="80000"/>
            </a:schemeClr>
          </a:solidFill>
        </p:spPr>
        <p:txBody>
          <a:bodyPr wrap="square">
            <a:spAutoFit/>
          </a:bodyPr>
          <a:lstStyle/>
          <a:p>
            <a:r>
              <a:rPr lang="es-ES" sz="2000" b="1" dirty="0"/>
              <a:t>El presupuesto de la inversión es de 10 millones de soles. Formular un programa 0-1 que proporcione la inversión de máximo valor actual neto.</a:t>
            </a:r>
          </a:p>
        </p:txBody>
      </p:sp>
      <p:graphicFrame>
        <p:nvGraphicFramePr>
          <p:cNvPr id="3" name="Tabla 11">
            <a:extLst>
              <a:ext uri="{FF2B5EF4-FFF2-40B4-BE49-F238E27FC236}">
                <a16:creationId xmlns:a16="http://schemas.microsoft.com/office/drawing/2014/main" id="{45C51549-A118-CD9F-6DBA-3523D19B04FB}"/>
              </a:ext>
            </a:extLst>
          </p:cNvPr>
          <p:cNvGraphicFramePr>
            <a:graphicFrameLocks noGrp="1"/>
          </p:cNvGraphicFramePr>
          <p:nvPr>
            <p:extLst>
              <p:ext uri="{D42A27DB-BD31-4B8C-83A1-F6EECF244321}">
                <p14:modId xmlns:p14="http://schemas.microsoft.com/office/powerpoint/2010/main" val="3716506666"/>
              </p:ext>
            </p:extLst>
          </p:nvPr>
        </p:nvGraphicFramePr>
        <p:xfrm>
          <a:off x="10874112" y="4741595"/>
          <a:ext cx="1317888" cy="1828800"/>
        </p:xfrm>
        <a:graphic>
          <a:graphicData uri="http://schemas.openxmlformats.org/drawingml/2006/table">
            <a:tbl>
              <a:tblPr firstRow="1" bandRow="1">
                <a:tableStyleId>{5C22544A-7EE6-4342-B048-85BDC9FD1C3A}</a:tableStyleId>
              </a:tblPr>
              <a:tblGrid>
                <a:gridCol w="658944">
                  <a:extLst>
                    <a:ext uri="{9D8B030D-6E8A-4147-A177-3AD203B41FA5}">
                      <a16:colId xmlns:a16="http://schemas.microsoft.com/office/drawing/2014/main" val="3659484973"/>
                    </a:ext>
                  </a:extLst>
                </a:gridCol>
                <a:gridCol w="658944">
                  <a:extLst>
                    <a:ext uri="{9D8B030D-6E8A-4147-A177-3AD203B41FA5}">
                      <a16:colId xmlns:a16="http://schemas.microsoft.com/office/drawing/2014/main" val="2267542248"/>
                    </a:ext>
                  </a:extLst>
                </a:gridCol>
              </a:tblGrid>
              <a:tr h="405313">
                <a:tc>
                  <a:txBody>
                    <a:bodyPr/>
                    <a:lstStyle/>
                    <a:p>
                      <a:pPr algn="ctr"/>
                      <a:r>
                        <a:rPr lang="es-ES" sz="2400" b="1" dirty="0" err="1"/>
                        <a:t>X2</a:t>
                      </a:r>
                      <a:endParaRPr lang="es-PE" sz="2400" b="1" dirty="0"/>
                    </a:p>
                  </a:txBody>
                  <a:tcPr/>
                </a:tc>
                <a:tc>
                  <a:txBody>
                    <a:bodyPr/>
                    <a:lstStyle/>
                    <a:p>
                      <a:pPr algn="ctr"/>
                      <a:r>
                        <a:rPr lang="es-ES" sz="2400" b="1" dirty="0" err="1"/>
                        <a:t>X4</a:t>
                      </a:r>
                      <a:endParaRPr lang="es-PE" sz="2400" b="1" dirty="0"/>
                    </a:p>
                  </a:txBody>
                  <a:tcPr/>
                </a:tc>
                <a:extLst>
                  <a:ext uri="{0D108BD9-81ED-4DB2-BD59-A6C34878D82A}">
                    <a16:rowId xmlns:a16="http://schemas.microsoft.com/office/drawing/2014/main" val="2896734413"/>
                  </a:ext>
                </a:extLst>
              </a:tr>
              <a:tr h="405313">
                <a:tc>
                  <a:txBody>
                    <a:bodyPr/>
                    <a:lstStyle/>
                    <a:p>
                      <a:pPr algn="ctr"/>
                      <a:r>
                        <a:rPr lang="es-ES" sz="2400" b="1" dirty="0"/>
                        <a:t>1</a:t>
                      </a:r>
                      <a:endParaRPr lang="es-PE" sz="2400" b="1" dirty="0"/>
                    </a:p>
                  </a:txBody>
                  <a:tcPr/>
                </a:tc>
                <a:tc>
                  <a:txBody>
                    <a:bodyPr/>
                    <a:lstStyle/>
                    <a:p>
                      <a:pPr algn="ctr"/>
                      <a:r>
                        <a:rPr lang="es-ES" sz="2400" b="1" dirty="0"/>
                        <a:t>1</a:t>
                      </a:r>
                      <a:endParaRPr lang="es-PE" sz="2400" b="1" dirty="0"/>
                    </a:p>
                  </a:txBody>
                  <a:tcPr/>
                </a:tc>
                <a:extLst>
                  <a:ext uri="{0D108BD9-81ED-4DB2-BD59-A6C34878D82A}">
                    <a16:rowId xmlns:a16="http://schemas.microsoft.com/office/drawing/2014/main" val="2381521776"/>
                  </a:ext>
                </a:extLst>
              </a:tr>
              <a:tr h="405313">
                <a:tc>
                  <a:txBody>
                    <a:bodyPr/>
                    <a:lstStyle/>
                    <a:p>
                      <a:pPr algn="ctr"/>
                      <a:r>
                        <a:rPr lang="es-ES" sz="2400" b="1" dirty="0"/>
                        <a:t>1</a:t>
                      </a:r>
                      <a:endParaRPr lang="es-PE" sz="2400" b="1" dirty="0"/>
                    </a:p>
                  </a:txBody>
                  <a:tcPr/>
                </a:tc>
                <a:tc>
                  <a:txBody>
                    <a:bodyPr/>
                    <a:lstStyle/>
                    <a:p>
                      <a:pPr algn="ctr"/>
                      <a:r>
                        <a:rPr lang="es-ES" sz="2400" b="1" dirty="0"/>
                        <a:t>0</a:t>
                      </a:r>
                      <a:endParaRPr lang="es-PE" sz="2400" b="1" dirty="0"/>
                    </a:p>
                  </a:txBody>
                  <a:tcPr/>
                </a:tc>
                <a:extLst>
                  <a:ext uri="{0D108BD9-81ED-4DB2-BD59-A6C34878D82A}">
                    <a16:rowId xmlns:a16="http://schemas.microsoft.com/office/drawing/2014/main" val="316709275"/>
                  </a:ext>
                </a:extLst>
              </a:tr>
              <a:tr h="405313">
                <a:tc>
                  <a:txBody>
                    <a:bodyPr/>
                    <a:lstStyle/>
                    <a:p>
                      <a:pPr algn="ctr"/>
                      <a:r>
                        <a:rPr lang="es-ES" sz="2400" b="1" dirty="0"/>
                        <a:t>0</a:t>
                      </a:r>
                      <a:endParaRPr lang="es-PE" sz="2400" b="1" dirty="0"/>
                    </a:p>
                  </a:txBody>
                  <a:tcPr/>
                </a:tc>
                <a:tc>
                  <a:txBody>
                    <a:bodyPr/>
                    <a:lstStyle/>
                    <a:p>
                      <a:pPr algn="ctr"/>
                      <a:r>
                        <a:rPr lang="es-ES" sz="2400" b="1" dirty="0"/>
                        <a:t>0</a:t>
                      </a:r>
                      <a:endParaRPr lang="es-PE" sz="2400" b="1" dirty="0"/>
                    </a:p>
                  </a:txBody>
                  <a:tcPr/>
                </a:tc>
                <a:extLst>
                  <a:ext uri="{0D108BD9-81ED-4DB2-BD59-A6C34878D82A}">
                    <a16:rowId xmlns:a16="http://schemas.microsoft.com/office/drawing/2014/main" val="3310742986"/>
                  </a:ext>
                </a:extLst>
              </a:tr>
            </a:tbl>
          </a:graphicData>
        </a:graphic>
      </p:graphicFrame>
      <p:graphicFrame>
        <p:nvGraphicFramePr>
          <p:cNvPr id="11" name="Tabla 10">
            <a:extLst>
              <a:ext uri="{FF2B5EF4-FFF2-40B4-BE49-F238E27FC236}">
                <a16:creationId xmlns:a16="http://schemas.microsoft.com/office/drawing/2014/main" id="{090D8CA6-091E-260A-14CD-86147019CFB5}"/>
              </a:ext>
            </a:extLst>
          </p:cNvPr>
          <p:cNvGraphicFramePr>
            <a:graphicFrameLocks noGrp="1"/>
          </p:cNvGraphicFramePr>
          <p:nvPr>
            <p:extLst>
              <p:ext uri="{D42A27DB-BD31-4B8C-83A1-F6EECF244321}">
                <p14:modId xmlns:p14="http://schemas.microsoft.com/office/powerpoint/2010/main" val="2050953045"/>
              </p:ext>
            </p:extLst>
          </p:nvPr>
        </p:nvGraphicFramePr>
        <p:xfrm>
          <a:off x="10856848" y="2877818"/>
          <a:ext cx="1317888" cy="1828800"/>
        </p:xfrm>
        <a:graphic>
          <a:graphicData uri="http://schemas.openxmlformats.org/drawingml/2006/table">
            <a:tbl>
              <a:tblPr firstRow="1" bandRow="1">
                <a:tableStyleId>{5C22544A-7EE6-4342-B048-85BDC9FD1C3A}</a:tableStyleId>
              </a:tblPr>
              <a:tblGrid>
                <a:gridCol w="658944">
                  <a:extLst>
                    <a:ext uri="{9D8B030D-6E8A-4147-A177-3AD203B41FA5}">
                      <a16:colId xmlns:a16="http://schemas.microsoft.com/office/drawing/2014/main" val="3659484973"/>
                    </a:ext>
                  </a:extLst>
                </a:gridCol>
                <a:gridCol w="658944">
                  <a:extLst>
                    <a:ext uri="{9D8B030D-6E8A-4147-A177-3AD203B41FA5}">
                      <a16:colId xmlns:a16="http://schemas.microsoft.com/office/drawing/2014/main" val="2267542248"/>
                    </a:ext>
                  </a:extLst>
                </a:gridCol>
              </a:tblGrid>
              <a:tr h="405313">
                <a:tc>
                  <a:txBody>
                    <a:bodyPr/>
                    <a:lstStyle/>
                    <a:p>
                      <a:pPr algn="ctr"/>
                      <a:r>
                        <a:rPr lang="es-ES" sz="2400" b="1" dirty="0" err="1"/>
                        <a:t>X1</a:t>
                      </a:r>
                      <a:endParaRPr lang="es-PE" sz="2400" b="1" dirty="0"/>
                    </a:p>
                  </a:txBody>
                  <a:tcPr/>
                </a:tc>
                <a:tc>
                  <a:txBody>
                    <a:bodyPr/>
                    <a:lstStyle/>
                    <a:p>
                      <a:pPr algn="ctr"/>
                      <a:r>
                        <a:rPr lang="es-ES" sz="2400" b="1" dirty="0" err="1"/>
                        <a:t>X3</a:t>
                      </a:r>
                      <a:endParaRPr lang="es-PE" sz="2400" b="1" dirty="0"/>
                    </a:p>
                  </a:txBody>
                  <a:tcPr/>
                </a:tc>
                <a:extLst>
                  <a:ext uri="{0D108BD9-81ED-4DB2-BD59-A6C34878D82A}">
                    <a16:rowId xmlns:a16="http://schemas.microsoft.com/office/drawing/2014/main" val="2896734413"/>
                  </a:ext>
                </a:extLst>
              </a:tr>
              <a:tr h="405313">
                <a:tc>
                  <a:txBody>
                    <a:bodyPr/>
                    <a:lstStyle/>
                    <a:p>
                      <a:pPr algn="ctr"/>
                      <a:r>
                        <a:rPr lang="es-ES" sz="2400" b="1" dirty="0"/>
                        <a:t>1</a:t>
                      </a:r>
                      <a:endParaRPr lang="es-PE" sz="2400" b="1" dirty="0"/>
                    </a:p>
                  </a:txBody>
                  <a:tcPr/>
                </a:tc>
                <a:tc>
                  <a:txBody>
                    <a:bodyPr/>
                    <a:lstStyle/>
                    <a:p>
                      <a:pPr algn="ctr"/>
                      <a:r>
                        <a:rPr lang="es-ES" sz="2400" b="1" dirty="0"/>
                        <a:t>1</a:t>
                      </a:r>
                      <a:endParaRPr lang="es-PE" sz="2400" b="1" dirty="0"/>
                    </a:p>
                  </a:txBody>
                  <a:tcPr/>
                </a:tc>
                <a:extLst>
                  <a:ext uri="{0D108BD9-81ED-4DB2-BD59-A6C34878D82A}">
                    <a16:rowId xmlns:a16="http://schemas.microsoft.com/office/drawing/2014/main" val="2381521776"/>
                  </a:ext>
                </a:extLst>
              </a:tr>
              <a:tr h="405313">
                <a:tc>
                  <a:txBody>
                    <a:bodyPr/>
                    <a:lstStyle/>
                    <a:p>
                      <a:pPr algn="ctr"/>
                      <a:r>
                        <a:rPr lang="es-ES" sz="2400" b="1" dirty="0"/>
                        <a:t>1</a:t>
                      </a:r>
                      <a:endParaRPr lang="es-PE" sz="2400" b="1" dirty="0"/>
                    </a:p>
                  </a:txBody>
                  <a:tcPr/>
                </a:tc>
                <a:tc>
                  <a:txBody>
                    <a:bodyPr/>
                    <a:lstStyle/>
                    <a:p>
                      <a:pPr algn="ctr"/>
                      <a:r>
                        <a:rPr lang="es-ES" sz="2400" b="1" dirty="0"/>
                        <a:t>0</a:t>
                      </a:r>
                      <a:endParaRPr lang="es-PE" sz="2400" b="1" dirty="0"/>
                    </a:p>
                  </a:txBody>
                  <a:tcPr/>
                </a:tc>
                <a:extLst>
                  <a:ext uri="{0D108BD9-81ED-4DB2-BD59-A6C34878D82A}">
                    <a16:rowId xmlns:a16="http://schemas.microsoft.com/office/drawing/2014/main" val="316709275"/>
                  </a:ext>
                </a:extLst>
              </a:tr>
              <a:tr h="405313">
                <a:tc>
                  <a:txBody>
                    <a:bodyPr/>
                    <a:lstStyle/>
                    <a:p>
                      <a:pPr algn="ctr"/>
                      <a:r>
                        <a:rPr lang="es-ES" sz="2400" b="1" dirty="0"/>
                        <a:t>0</a:t>
                      </a:r>
                      <a:endParaRPr lang="es-PE" sz="2400" b="1" dirty="0"/>
                    </a:p>
                  </a:txBody>
                  <a:tcPr/>
                </a:tc>
                <a:tc>
                  <a:txBody>
                    <a:bodyPr/>
                    <a:lstStyle/>
                    <a:p>
                      <a:pPr algn="ctr"/>
                      <a:r>
                        <a:rPr lang="es-ES" sz="2400" b="1" dirty="0"/>
                        <a:t>0</a:t>
                      </a:r>
                      <a:endParaRPr lang="es-PE" sz="2400" b="1" dirty="0"/>
                    </a:p>
                  </a:txBody>
                  <a:tcPr/>
                </a:tc>
                <a:extLst>
                  <a:ext uri="{0D108BD9-81ED-4DB2-BD59-A6C34878D82A}">
                    <a16:rowId xmlns:a16="http://schemas.microsoft.com/office/drawing/2014/main" val="3310742986"/>
                  </a:ext>
                </a:extLst>
              </a:tr>
            </a:tbl>
          </a:graphicData>
        </a:graphic>
      </p:graphicFrame>
    </p:spTree>
    <p:extLst>
      <p:ext uri="{BB962C8B-B14F-4D97-AF65-F5344CB8AC3E}">
        <p14:creationId xmlns:p14="http://schemas.microsoft.com/office/powerpoint/2010/main" val="3251485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503B313-872B-48D4-9807-D68E08680EB4}"/>
              </a:ext>
            </a:extLst>
          </p:cNvPr>
          <p:cNvSpPr/>
          <p:nvPr/>
        </p:nvSpPr>
        <p:spPr>
          <a:xfrm>
            <a:off x="604888" y="1351508"/>
            <a:ext cx="4886228" cy="4154984"/>
          </a:xfrm>
          <a:prstGeom prst="rect">
            <a:avLst/>
          </a:prstGeom>
          <a:solidFill>
            <a:srgbClr val="FFFF00"/>
          </a:solidFill>
        </p:spPr>
        <p:txBody>
          <a:bodyPr wrap="square">
            <a:spAutoFit/>
          </a:bodyPr>
          <a:lstStyle/>
          <a:p>
            <a:r>
              <a:rPr lang="es-PE" sz="2400" dirty="0"/>
              <a:t>MAX </a:t>
            </a:r>
            <a:r>
              <a:rPr lang="es-PE" sz="2400" dirty="0" err="1"/>
              <a:t>9X1+5X2+6X3+4X4</a:t>
            </a:r>
            <a:endParaRPr lang="es-PE" sz="2400" dirty="0"/>
          </a:p>
          <a:p>
            <a:r>
              <a:rPr lang="es-PE" sz="2400" dirty="0" err="1"/>
              <a:t>ST</a:t>
            </a:r>
            <a:endParaRPr lang="es-PE" sz="2400" dirty="0"/>
          </a:p>
          <a:p>
            <a:r>
              <a:rPr lang="es-PE" sz="2400" dirty="0"/>
              <a:t>	</a:t>
            </a:r>
            <a:r>
              <a:rPr lang="es-PE" sz="2400" dirty="0" err="1"/>
              <a:t>X3+X4</a:t>
            </a:r>
            <a:r>
              <a:rPr lang="es-PE" sz="2400" dirty="0"/>
              <a:t>&lt;=1</a:t>
            </a:r>
          </a:p>
          <a:p>
            <a:r>
              <a:rPr lang="es-PE" sz="2400" dirty="0"/>
              <a:t>	</a:t>
            </a:r>
            <a:r>
              <a:rPr lang="es-PE" sz="2400" dirty="0" err="1"/>
              <a:t>6X1+3X2+5X3+2X4</a:t>
            </a:r>
            <a:r>
              <a:rPr lang="es-PE" sz="2400" dirty="0"/>
              <a:t>&lt;=10</a:t>
            </a:r>
          </a:p>
          <a:p>
            <a:r>
              <a:rPr lang="es-PE" sz="2400" dirty="0"/>
              <a:t>	</a:t>
            </a:r>
            <a:r>
              <a:rPr lang="es-PE" sz="2400" dirty="0" err="1"/>
              <a:t>X3-X1</a:t>
            </a:r>
            <a:r>
              <a:rPr lang="es-PE" sz="2400" dirty="0"/>
              <a:t>&lt;=0</a:t>
            </a:r>
          </a:p>
          <a:p>
            <a:r>
              <a:rPr lang="es-PE" sz="2400" dirty="0"/>
              <a:t>	</a:t>
            </a:r>
            <a:r>
              <a:rPr lang="es-PE" sz="2400" dirty="0" err="1"/>
              <a:t>X4-X2</a:t>
            </a:r>
            <a:r>
              <a:rPr lang="es-PE" sz="2400" dirty="0"/>
              <a:t>&lt;=0</a:t>
            </a:r>
          </a:p>
          <a:p>
            <a:r>
              <a:rPr lang="es-PE" sz="2400" dirty="0" err="1"/>
              <a:t>END</a:t>
            </a:r>
            <a:endParaRPr lang="es-PE" sz="2400" dirty="0"/>
          </a:p>
          <a:p>
            <a:r>
              <a:rPr lang="es-PE" sz="2400" dirty="0" err="1"/>
              <a:t>INT</a:t>
            </a:r>
            <a:r>
              <a:rPr lang="es-PE" sz="2400" dirty="0"/>
              <a:t> </a:t>
            </a:r>
            <a:r>
              <a:rPr lang="es-PE" sz="2400" dirty="0" err="1"/>
              <a:t>X1</a:t>
            </a:r>
            <a:endParaRPr lang="es-PE" sz="2400" dirty="0"/>
          </a:p>
          <a:p>
            <a:r>
              <a:rPr lang="es-PE" sz="2400" dirty="0" err="1"/>
              <a:t>INT</a:t>
            </a:r>
            <a:r>
              <a:rPr lang="es-PE" sz="2400" dirty="0"/>
              <a:t> </a:t>
            </a:r>
            <a:r>
              <a:rPr lang="es-PE" sz="2400" dirty="0" err="1"/>
              <a:t>X2</a:t>
            </a:r>
            <a:endParaRPr lang="es-PE" sz="2400" dirty="0"/>
          </a:p>
          <a:p>
            <a:r>
              <a:rPr lang="es-PE" sz="2400" dirty="0" err="1"/>
              <a:t>INT</a:t>
            </a:r>
            <a:r>
              <a:rPr lang="es-PE" sz="2400" dirty="0"/>
              <a:t> </a:t>
            </a:r>
            <a:r>
              <a:rPr lang="es-PE" sz="2400" dirty="0" err="1"/>
              <a:t>X3</a:t>
            </a:r>
            <a:endParaRPr lang="es-PE" sz="2400" dirty="0"/>
          </a:p>
          <a:p>
            <a:r>
              <a:rPr lang="es-PE" sz="2400" dirty="0" err="1"/>
              <a:t>INT</a:t>
            </a:r>
            <a:r>
              <a:rPr lang="es-PE" sz="2400" dirty="0"/>
              <a:t> </a:t>
            </a:r>
            <a:r>
              <a:rPr lang="es-PE" sz="2400" dirty="0" err="1"/>
              <a:t>X4</a:t>
            </a:r>
            <a:endParaRPr lang="es-PE" sz="2400" dirty="0"/>
          </a:p>
        </p:txBody>
      </p:sp>
      <p:sp>
        <p:nvSpPr>
          <p:cNvPr id="5" name="Rectángulo 4">
            <a:extLst>
              <a:ext uri="{FF2B5EF4-FFF2-40B4-BE49-F238E27FC236}">
                <a16:creationId xmlns:a16="http://schemas.microsoft.com/office/drawing/2014/main" id="{C2D72894-CD10-4EE7-9C7C-CAD423F95307}"/>
              </a:ext>
            </a:extLst>
          </p:cNvPr>
          <p:cNvSpPr/>
          <p:nvPr/>
        </p:nvSpPr>
        <p:spPr>
          <a:xfrm>
            <a:off x="6700886" y="1413063"/>
            <a:ext cx="4886227" cy="2677656"/>
          </a:xfrm>
          <a:prstGeom prst="rect">
            <a:avLst/>
          </a:prstGeom>
          <a:solidFill>
            <a:schemeClr val="accent4">
              <a:lumMod val="40000"/>
              <a:lumOff val="60000"/>
            </a:schemeClr>
          </a:solidFill>
        </p:spPr>
        <p:txBody>
          <a:bodyPr wrap="square">
            <a:spAutoFit/>
          </a:bodyPr>
          <a:lstStyle/>
          <a:p>
            <a:r>
              <a:rPr lang="es-PE" sz="2400" dirty="0"/>
              <a:t> 1)      14.00000</a:t>
            </a:r>
          </a:p>
          <a:p>
            <a:endParaRPr lang="es-PE" sz="2400" dirty="0"/>
          </a:p>
          <a:p>
            <a:r>
              <a:rPr lang="es-PE" sz="2400" dirty="0"/>
              <a:t>  VARIABLE        </a:t>
            </a:r>
            <a:r>
              <a:rPr lang="es-PE" sz="2400" dirty="0" err="1"/>
              <a:t>VALUE</a:t>
            </a:r>
            <a:r>
              <a:rPr lang="es-PE" sz="2400" dirty="0"/>
              <a:t> </a:t>
            </a:r>
            <a:r>
              <a:rPr lang="es-PE" sz="2400" dirty="0" err="1"/>
              <a:t>REDUCED</a:t>
            </a:r>
            <a:r>
              <a:rPr lang="es-PE" sz="2400" dirty="0"/>
              <a:t> </a:t>
            </a:r>
            <a:r>
              <a:rPr lang="es-PE" sz="2400" dirty="0" err="1"/>
              <a:t>COST</a:t>
            </a:r>
            <a:endParaRPr lang="es-PE" sz="2400" dirty="0"/>
          </a:p>
          <a:p>
            <a:r>
              <a:rPr lang="es-PE" sz="2400" dirty="0"/>
              <a:t>        </a:t>
            </a:r>
            <a:r>
              <a:rPr lang="es-PE" sz="2400" dirty="0" err="1"/>
              <a:t>X1</a:t>
            </a:r>
            <a:r>
              <a:rPr lang="es-PE" sz="2400" dirty="0"/>
              <a:t>         1.000000         -9.000000</a:t>
            </a:r>
          </a:p>
          <a:p>
            <a:r>
              <a:rPr lang="es-PE" sz="2400" dirty="0"/>
              <a:t>        </a:t>
            </a:r>
            <a:r>
              <a:rPr lang="es-PE" sz="2400" dirty="0" err="1"/>
              <a:t>X2</a:t>
            </a:r>
            <a:r>
              <a:rPr lang="es-PE" sz="2400" dirty="0"/>
              <a:t>         1.000000         -5.000000</a:t>
            </a:r>
          </a:p>
          <a:p>
            <a:r>
              <a:rPr lang="es-PE" sz="2400" dirty="0"/>
              <a:t>        </a:t>
            </a:r>
            <a:r>
              <a:rPr lang="es-PE" sz="2400" dirty="0" err="1"/>
              <a:t>X3</a:t>
            </a:r>
            <a:r>
              <a:rPr lang="es-PE" sz="2400" dirty="0"/>
              <a:t>         0.000000         -6.000000</a:t>
            </a:r>
          </a:p>
          <a:p>
            <a:r>
              <a:rPr lang="es-PE" sz="2400" dirty="0"/>
              <a:t>        </a:t>
            </a:r>
            <a:r>
              <a:rPr lang="es-PE" sz="2400" dirty="0" err="1"/>
              <a:t>X4</a:t>
            </a:r>
            <a:r>
              <a:rPr lang="es-PE" sz="2400" dirty="0"/>
              <a:t>         0.000000         -4.000000</a:t>
            </a:r>
          </a:p>
        </p:txBody>
      </p:sp>
      <p:sp>
        <p:nvSpPr>
          <p:cNvPr id="4" name="Rectangle 2">
            <a:extLst>
              <a:ext uri="{FF2B5EF4-FFF2-40B4-BE49-F238E27FC236}">
                <a16:creationId xmlns:a16="http://schemas.microsoft.com/office/drawing/2014/main" id="{F2430FEA-550F-4BC9-BEA9-2197F54FAB95}"/>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5</a:t>
            </a:r>
          </a:p>
        </p:txBody>
      </p:sp>
    </p:spTree>
    <p:extLst>
      <p:ext uri="{BB962C8B-B14F-4D97-AF65-F5344CB8AC3E}">
        <p14:creationId xmlns:p14="http://schemas.microsoft.com/office/powerpoint/2010/main" val="6137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0B6A12B-54B2-9825-D0F5-9A8963E42E34}"/>
              </a:ext>
            </a:extLst>
          </p:cNvPr>
          <p:cNvSpPr txBox="1"/>
          <p:nvPr/>
        </p:nvSpPr>
        <p:spPr>
          <a:xfrm>
            <a:off x="161115" y="1242535"/>
            <a:ext cx="5778500" cy="2677656"/>
          </a:xfrm>
          <a:prstGeom prst="rect">
            <a:avLst/>
          </a:prstGeom>
          <a:solidFill>
            <a:schemeClr val="accent4">
              <a:lumMod val="20000"/>
              <a:lumOff val="80000"/>
            </a:schemeClr>
          </a:solidFill>
        </p:spPr>
        <p:txBody>
          <a:bodyPr wrap="square">
            <a:spAutoFit/>
          </a:bodyPr>
          <a:lstStyle/>
          <a:p>
            <a:r>
              <a:rPr lang="es-ES" sz="2400" b="1" dirty="0"/>
              <a:t>Asignación de Tareas</a:t>
            </a:r>
          </a:p>
          <a:p>
            <a:r>
              <a:rPr lang="es-ES" sz="2400" b="1" dirty="0"/>
              <a:t>Descripción:</a:t>
            </a:r>
          </a:p>
          <a:p>
            <a:r>
              <a:rPr lang="es-ES" sz="2400" dirty="0"/>
              <a:t>Una empresa tiene 3 empleados y 3 tareas. Cada tarea debe ser asignada a exactamente un empleado, minimizando el costo total de asignación.</a:t>
            </a:r>
          </a:p>
          <a:p>
            <a:r>
              <a:rPr lang="es-PE" sz="2400" dirty="0"/>
              <a:t>Datos:</a:t>
            </a:r>
            <a:endParaRPr lang="es-ES" sz="2400" dirty="0"/>
          </a:p>
        </p:txBody>
      </p:sp>
      <p:graphicFrame>
        <p:nvGraphicFramePr>
          <p:cNvPr id="5" name="Tabla 5">
            <a:extLst>
              <a:ext uri="{FF2B5EF4-FFF2-40B4-BE49-F238E27FC236}">
                <a16:creationId xmlns:a16="http://schemas.microsoft.com/office/drawing/2014/main" id="{AF3E7701-4E16-7610-E9B3-E02F132C755B}"/>
              </a:ext>
            </a:extLst>
          </p:cNvPr>
          <p:cNvGraphicFramePr>
            <a:graphicFrameLocks noGrp="1"/>
          </p:cNvGraphicFramePr>
          <p:nvPr>
            <p:extLst>
              <p:ext uri="{D42A27DB-BD31-4B8C-83A1-F6EECF244321}">
                <p14:modId xmlns:p14="http://schemas.microsoft.com/office/powerpoint/2010/main" val="772445926"/>
              </p:ext>
            </p:extLst>
          </p:nvPr>
        </p:nvGraphicFramePr>
        <p:xfrm>
          <a:off x="165469" y="4120266"/>
          <a:ext cx="5778500" cy="1828800"/>
        </p:xfrm>
        <a:graphic>
          <a:graphicData uri="http://schemas.openxmlformats.org/drawingml/2006/table">
            <a:tbl>
              <a:tblPr firstRow="1" bandRow="1">
                <a:tableStyleId>{5C22544A-7EE6-4342-B048-85BDC9FD1C3A}</a:tableStyleId>
              </a:tblPr>
              <a:tblGrid>
                <a:gridCol w="1811383">
                  <a:extLst>
                    <a:ext uri="{9D8B030D-6E8A-4147-A177-3AD203B41FA5}">
                      <a16:colId xmlns:a16="http://schemas.microsoft.com/office/drawing/2014/main" val="253544345"/>
                    </a:ext>
                  </a:extLst>
                </a:gridCol>
                <a:gridCol w="1524000">
                  <a:extLst>
                    <a:ext uri="{9D8B030D-6E8A-4147-A177-3AD203B41FA5}">
                      <a16:colId xmlns:a16="http://schemas.microsoft.com/office/drawing/2014/main" val="3075635309"/>
                    </a:ext>
                  </a:extLst>
                </a:gridCol>
                <a:gridCol w="1254034">
                  <a:extLst>
                    <a:ext uri="{9D8B030D-6E8A-4147-A177-3AD203B41FA5}">
                      <a16:colId xmlns:a16="http://schemas.microsoft.com/office/drawing/2014/main" val="1464454567"/>
                    </a:ext>
                  </a:extLst>
                </a:gridCol>
                <a:gridCol w="1189083">
                  <a:extLst>
                    <a:ext uri="{9D8B030D-6E8A-4147-A177-3AD203B41FA5}">
                      <a16:colId xmlns:a16="http://schemas.microsoft.com/office/drawing/2014/main" val="1467918706"/>
                    </a:ext>
                  </a:extLst>
                </a:gridCol>
              </a:tblGrid>
              <a:tr h="429697">
                <a:tc>
                  <a:txBody>
                    <a:bodyPr/>
                    <a:lstStyle/>
                    <a:p>
                      <a:pPr algn="ctr"/>
                      <a:endParaRPr lang="es-PE" sz="2400" b="1" dirty="0"/>
                    </a:p>
                  </a:txBody>
                  <a:tcPr/>
                </a:tc>
                <a:tc>
                  <a:txBody>
                    <a:bodyPr/>
                    <a:lstStyle/>
                    <a:p>
                      <a:pPr algn="ctr"/>
                      <a:r>
                        <a:rPr lang="es-ES" sz="2400" b="1" dirty="0"/>
                        <a:t>Tarea 1</a:t>
                      </a:r>
                      <a:endParaRPr lang="es-PE" sz="2400" b="1" dirty="0"/>
                    </a:p>
                  </a:txBody>
                  <a:tcPr/>
                </a:tc>
                <a:tc>
                  <a:txBody>
                    <a:bodyPr/>
                    <a:lstStyle/>
                    <a:p>
                      <a:pPr algn="ctr"/>
                      <a:r>
                        <a:rPr lang="es-ES" sz="2400" b="1" dirty="0"/>
                        <a:t>Tarea 2</a:t>
                      </a:r>
                      <a:endParaRPr lang="es-PE" sz="2400" b="1" dirty="0"/>
                    </a:p>
                  </a:txBody>
                  <a:tcPr/>
                </a:tc>
                <a:tc>
                  <a:txBody>
                    <a:bodyPr/>
                    <a:lstStyle/>
                    <a:p>
                      <a:pPr algn="ctr"/>
                      <a:r>
                        <a:rPr lang="es-ES" sz="2400" b="1" dirty="0"/>
                        <a:t>Tarea 3</a:t>
                      </a:r>
                      <a:endParaRPr lang="es-PE" sz="2400" b="1" dirty="0"/>
                    </a:p>
                  </a:txBody>
                  <a:tcPr/>
                </a:tc>
                <a:extLst>
                  <a:ext uri="{0D108BD9-81ED-4DB2-BD59-A6C34878D82A}">
                    <a16:rowId xmlns:a16="http://schemas.microsoft.com/office/drawing/2014/main" val="2824342791"/>
                  </a:ext>
                </a:extLst>
              </a:tr>
              <a:tr h="429697">
                <a:tc>
                  <a:txBody>
                    <a:bodyPr/>
                    <a:lstStyle/>
                    <a:p>
                      <a:pPr algn="ctr"/>
                      <a:r>
                        <a:rPr lang="es-ES" sz="2400" b="1" dirty="0"/>
                        <a:t>Empleado 1</a:t>
                      </a:r>
                      <a:endParaRPr lang="es-PE" sz="2400" b="1" dirty="0"/>
                    </a:p>
                  </a:txBody>
                  <a:tcPr/>
                </a:tc>
                <a:tc>
                  <a:txBody>
                    <a:bodyPr/>
                    <a:lstStyle/>
                    <a:p>
                      <a:pPr algn="ctr"/>
                      <a:r>
                        <a:rPr lang="es-ES" sz="2400" b="1" dirty="0"/>
                        <a:t>8</a:t>
                      </a:r>
                      <a:endParaRPr lang="es-PE" sz="2400" b="1" dirty="0"/>
                    </a:p>
                  </a:txBody>
                  <a:tcPr/>
                </a:tc>
                <a:tc>
                  <a:txBody>
                    <a:bodyPr/>
                    <a:lstStyle/>
                    <a:p>
                      <a:pPr algn="ctr"/>
                      <a:r>
                        <a:rPr lang="es-ES" sz="2400" b="1" dirty="0"/>
                        <a:t>6</a:t>
                      </a:r>
                      <a:endParaRPr lang="es-PE" sz="2400" b="1" dirty="0"/>
                    </a:p>
                  </a:txBody>
                  <a:tcPr/>
                </a:tc>
                <a:tc>
                  <a:txBody>
                    <a:bodyPr/>
                    <a:lstStyle/>
                    <a:p>
                      <a:pPr algn="ctr"/>
                      <a:r>
                        <a:rPr lang="es-ES" sz="2400" b="1" dirty="0"/>
                        <a:t>4</a:t>
                      </a:r>
                      <a:endParaRPr lang="es-PE" sz="2400" b="1" dirty="0"/>
                    </a:p>
                  </a:txBody>
                  <a:tcPr/>
                </a:tc>
                <a:extLst>
                  <a:ext uri="{0D108BD9-81ED-4DB2-BD59-A6C34878D82A}">
                    <a16:rowId xmlns:a16="http://schemas.microsoft.com/office/drawing/2014/main" val="48142687"/>
                  </a:ext>
                </a:extLst>
              </a:tr>
              <a:tr h="429697">
                <a:tc>
                  <a:txBody>
                    <a:bodyPr/>
                    <a:lstStyle/>
                    <a:p>
                      <a:pPr algn="ctr"/>
                      <a:r>
                        <a:rPr lang="es-ES" sz="2400" b="1" dirty="0"/>
                        <a:t>Empleado 2</a:t>
                      </a:r>
                      <a:endParaRPr lang="es-PE" sz="2400" b="1" dirty="0"/>
                    </a:p>
                  </a:txBody>
                  <a:tcPr/>
                </a:tc>
                <a:tc>
                  <a:txBody>
                    <a:bodyPr/>
                    <a:lstStyle/>
                    <a:p>
                      <a:pPr algn="ctr"/>
                      <a:r>
                        <a:rPr lang="es-ES" sz="2400" b="1" dirty="0"/>
                        <a:t>5</a:t>
                      </a:r>
                      <a:endParaRPr lang="es-PE" sz="2400" b="1" dirty="0"/>
                    </a:p>
                  </a:txBody>
                  <a:tcPr/>
                </a:tc>
                <a:tc>
                  <a:txBody>
                    <a:bodyPr/>
                    <a:lstStyle/>
                    <a:p>
                      <a:pPr algn="ctr"/>
                      <a:r>
                        <a:rPr lang="es-ES" sz="2400" b="1" dirty="0"/>
                        <a:t>7</a:t>
                      </a:r>
                      <a:endParaRPr lang="es-PE" sz="2400" b="1" dirty="0"/>
                    </a:p>
                  </a:txBody>
                  <a:tcPr/>
                </a:tc>
                <a:tc>
                  <a:txBody>
                    <a:bodyPr/>
                    <a:lstStyle/>
                    <a:p>
                      <a:pPr algn="ctr"/>
                      <a:r>
                        <a:rPr lang="es-ES" sz="2400" b="1" dirty="0"/>
                        <a:t>3</a:t>
                      </a:r>
                      <a:endParaRPr lang="es-PE" sz="2400" b="1" dirty="0"/>
                    </a:p>
                  </a:txBody>
                  <a:tcPr/>
                </a:tc>
                <a:extLst>
                  <a:ext uri="{0D108BD9-81ED-4DB2-BD59-A6C34878D82A}">
                    <a16:rowId xmlns:a16="http://schemas.microsoft.com/office/drawing/2014/main" val="2171659082"/>
                  </a:ext>
                </a:extLst>
              </a:tr>
              <a:tr h="429697">
                <a:tc>
                  <a:txBody>
                    <a:bodyPr/>
                    <a:lstStyle/>
                    <a:p>
                      <a:pPr algn="ctr"/>
                      <a:r>
                        <a:rPr lang="es-ES" sz="2400" b="1" dirty="0"/>
                        <a:t>Empleado 3</a:t>
                      </a:r>
                      <a:endParaRPr lang="es-PE" sz="2400" b="1" dirty="0"/>
                    </a:p>
                  </a:txBody>
                  <a:tcPr/>
                </a:tc>
                <a:tc>
                  <a:txBody>
                    <a:bodyPr/>
                    <a:lstStyle/>
                    <a:p>
                      <a:pPr algn="ctr"/>
                      <a:r>
                        <a:rPr lang="es-ES" sz="2400" b="1" dirty="0"/>
                        <a:t>6</a:t>
                      </a:r>
                      <a:endParaRPr lang="es-PE" sz="2400" b="1" dirty="0"/>
                    </a:p>
                  </a:txBody>
                  <a:tcPr/>
                </a:tc>
                <a:tc>
                  <a:txBody>
                    <a:bodyPr/>
                    <a:lstStyle/>
                    <a:p>
                      <a:pPr algn="ctr"/>
                      <a:r>
                        <a:rPr lang="es-ES" sz="2400" b="1" dirty="0"/>
                        <a:t>4</a:t>
                      </a:r>
                      <a:endParaRPr lang="es-PE" sz="2400" b="1" dirty="0"/>
                    </a:p>
                  </a:txBody>
                  <a:tcPr/>
                </a:tc>
                <a:tc>
                  <a:txBody>
                    <a:bodyPr/>
                    <a:lstStyle/>
                    <a:p>
                      <a:pPr algn="ctr"/>
                      <a:r>
                        <a:rPr lang="es-ES" sz="2400" b="1" dirty="0"/>
                        <a:t>5</a:t>
                      </a:r>
                      <a:endParaRPr lang="es-PE" sz="2400" b="1" dirty="0"/>
                    </a:p>
                  </a:txBody>
                  <a:tcPr/>
                </a:tc>
                <a:extLst>
                  <a:ext uri="{0D108BD9-81ED-4DB2-BD59-A6C34878D82A}">
                    <a16:rowId xmlns:a16="http://schemas.microsoft.com/office/drawing/2014/main" val="2436385743"/>
                  </a:ext>
                </a:extLst>
              </a:tr>
            </a:tbl>
          </a:graphicData>
        </a:graphic>
      </p:graphicFrame>
      <p:sp>
        <p:nvSpPr>
          <p:cNvPr id="6" name="CuadroTexto 5">
            <a:extLst>
              <a:ext uri="{FF2B5EF4-FFF2-40B4-BE49-F238E27FC236}">
                <a16:creationId xmlns:a16="http://schemas.microsoft.com/office/drawing/2014/main" id="{6CBD051B-3481-B407-9353-3FCD8D046BEF}"/>
              </a:ext>
            </a:extLst>
          </p:cNvPr>
          <p:cNvSpPr txBox="1"/>
          <p:nvPr/>
        </p:nvSpPr>
        <p:spPr>
          <a:xfrm>
            <a:off x="6207098" y="1259627"/>
            <a:ext cx="5625737" cy="5509200"/>
          </a:xfrm>
          <a:prstGeom prst="rect">
            <a:avLst/>
          </a:prstGeom>
          <a:solidFill>
            <a:schemeClr val="accent3">
              <a:lumMod val="40000"/>
              <a:lumOff val="60000"/>
            </a:schemeClr>
          </a:solidFill>
        </p:spPr>
        <p:txBody>
          <a:bodyPr wrap="square">
            <a:spAutoFit/>
          </a:bodyPr>
          <a:lstStyle/>
          <a:p>
            <a:r>
              <a:rPr lang="es-PE" sz="2200" b="1" dirty="0">
                <a:solidFill>
                  <a:srgbClr val="FF0000"/>
                </a:solidFill>
              </a:rPr>
              <a:t>Identificación de las variables:</a:t>
            </a:r>
          </a:p>
          <a:p>
            <a:r>
              <a:rPr lang="es-PE" sz="2200" b="1" dirty="0" err="1"/>
              <a:t>Xij</a:t>
            </a:r>
            <a:r>
              <a:rPr lang="es-PE" sz="2200" b="1" dirty="0"/>
              <a:t>​ = 1 si al empleado i se asigna la tarea j  </a:t>
            </a:r>
          </a:p>
          <a:p>
            <a:r>
              <a:rPr lang="es-PE" sz="2200" b="1" dirty="0"/>
              <a:t>         0 en caso contrario.</a:t>
            </a:r>
          </a:p>
          <a:p>
            <a:r>
              <a:rPr lang="es-PE" sz="2200" b="1" dirty="0">
                <a:solidFill>
                  <a:srgbClr val="FF0000"/>
                </a:solidFill>
              </a:rPr>
              <a:t>Identificación de la Función objetivo: </a:t>
            </a:r>
          </a:p>
          <a:p>
            <a:r>
              <a:rPr lang="es-PE" sz="2200" b="1" dirty="0"/>
              <a:t>Min </a:t>
            </a:r>
            <a:r>
              <a:rPr lang="es-PE" sz="2200" b="1" dirty="0" err="1"/>
              <a:t>8X11+6X12+4X13+5X21+7X22+3X23</a:t>
            </a:r>
            <a:r>
              <a:rPr lang="es-PE" sz="2200" b="1" dirty="0"/>
              <a:t>+</a:t>
            </a:r>
          </a:p>
          <a:p>
            <a:r>
              <a:rPr lang="es-PE" sz="2200" b="1" dirty="0"/>
              <a:t>        </a:t>
            </a:r>
            <a:r>
              <a:rPr lang="es-PE" sz="2200" b="1" dirty="0" err="1"/>
              <a:t>6X31+4X32+5X33</a:t>
            </a:r>
            <a:r>
              <a:rPr lang="es-PE" sz="2200" b="1" dirty="0"/>
              <a:t>​</a:t>
            </a:r>
          </a:p>
          <a:p>
            <a:r>
              <a:rPr lang="es-PE" sz="2200" b="1" dirty="0">
                <a:solidFill>
                  <a:srgbClr val="FF0000"/>
                </a:solidFill>
              </a:rPr>
              <a:t>Identificación de las Restricciones:</a:t>
            </a:r>
          </a:p>
          <a:p>
            <a:r>
              <a:rPr lang="es-PE" sz="2200" b="1" dirty="0"/>
              <a:t>Cada empleado debe tener una tarea: </a:t>
            </a:r>
          </a:p>
          <a:p>
            <a:r>
              <a:rPr lang="es-PE" sz="2200" b="1" dirty="0" err="1"/>
              <a:t>X11+X12+X13</a:t>
            </a:r>
            <a:r>
              <a:rPr lang="es-PE" sz="2200" b="1" dirty="0"/>
              <a:t>=1</a:t>
            </a:r>
          </a:p>
          <a:p>
            <a:r>
              <a:rPr lang="es-PE" sz="2200" b="1" dirty="0" err="1"/>
              <a:t>X21+X22+X23</a:t>
            </a:r>
            <a:r>
              <a:rPr lang="es-PE" sz="2200" b="1" dirty="0"/>
              <a:t>=1</a:t>
            </a:r>
          </a:p>
          <a:p>
            <a:r>
              <a:rPr lang="es-PE" sz="2200" b="1" dirty="0" err="1"/>
              <a:t>X31+X32+X33</a:t>
            </a:r>
            <a:r>
              <a:rPr lang="es-PE" sz="2200" b="1" dirty="0"/>
              <a:t>=1</a:t>
            </a:r>
          </a:p>
          <a:p>
            <a:r>
              <a:rPr lang="es-PE" sz="2200" b="1" dirty="0"/>
              <a:t>Cada tarea debe ser asignada a un empleado: </a:t>
            </a:r>
          </a:p>
          <a:p>
            <a:r>
              <a:rPr lang="es-PE" sz="2200" b="1" dirty="0" err="1"/>
              <a:t>X11+X21+X31</a:t>
            </a:r>
            <a:r>
              <a:rPr lang="es-PE" sz="2200" b="1" dirty="0"/>
              <a:t>=1</a:t>
            </a:r>
          </a:p>
          <a:p>
            <a:r>
              <a:rPr lang="es-PE" sz="2200" b="1" dirty="0" err="1"/>
              <a:t>X12+X22+X32</a:t>
            </a:r>
            <a:r>
              <a:rPr lang="es-PE" sz="2200" b="1" dirty="0"/>
              <a:t>=1</a:t>
            </a:r>
          </a:p>
          <a:p>
            <a:r>
              <a:rPr lang="es-PE" sz="2200" b="1" dirty="0" err="1"/>
              <a:t>X13+X23+X33</a:t>
            </a:r>
            <a:r>
              <a:rPr lang="es-PE" sz="2200" b="1" dirty="0"/>
              <a:t>=1</a:t>
            </a:r>
          </a:p>
          <a:p>
            <a:r>
              <a:rPr lang="es-PE" sz="2200" b="1" dirty="0" err="1"/>
              <a:t>Xij</a:t>
            </a:r>
            <a:r>
              <a:rPr lang="es-PE" sz="2200" b="1" dirty="0"/>
              <a:t>&gt;0, binario</a:t>
            </a:r>
          </a:p>
        </p:txBody>
      </p:sp>
      <p:sp>
        <p:nvSpPr>
          <p:cNvPr id="2" name="Rectangle 2">
            <a:extLst>
              <a:ext uri="{FF2B5EF4-FFF2-40B4-BE49-F238E27FC236}">
                <a16:creationId xmlns:a16="http://schemas.microsoft.com/office/drawing/2014/main" id="{DC6F0C44-C0C4-224B-AE63-E8895B922E22}"/>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5</a:t>
            </a:r>
          </a:p>
        </p:txBody>
      </p:sp>
    </p:spTree>
    <p:extLst>
      <p:ext uri="{BB962C8B-B14F-4D97-AF65-F5344CB8AC3E}">
        <p14:creationId xmlns:p14="http://schemas.microsoft.com/office/powerpoint/2010/main" val="398827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BD22DA23-7EE0-D963-7F62-BB73CA473256}"/>
              </a:ext>
            </a:extLst>
          </p:cNvPr>
          <p:cNvGraphicFramePr>
            <a:graphicFrameLocks noGrp="1"/>
          </p:cNvGraphicFramePr>
          <p:nvPr>
            <p:extLst>
              <p:ext uri="{D42A27DB-BD31-4B8C-83A1-F6EECF244321}">
                <p14:modId xmlns:p14="http://schemas.microsoft.com/office/powerpoint/2010/main" val="199469820"/>
              </p:ext>
            </p:extLst>
          </p:nvPr>
        </p:nvGraphicFramePr>
        <p:xfrm>
          <a:off x="6504090" y="1542931"/>
          <a:ext cx="5464956" cy="1567142"/>
        </p:xfrm>
        <a:graphic>
          <a:graphicData uri="http://schemas.openxmlformats.org/drawingml/2006/table">
            <a:tbl>
              <a:tblPr firstRow="1" bandRow="1">
                <a:tableStyleId>{5C22544A-7EE6-4342-B048-85BDC9FD1C3A}</a:tableStyleId>
              </a:tblPr>
              <a:tblGrid>
                <a:gridCol w="455413">
                  <a:extLst>
                    <a:ext uri="{9D8B030D-6E8A-4147-A177-3AD203B41FA5}">
                      <a16:colId xmlns:a16="http://schemas.microsoft.com/office/drawing/2014/main" val="4180367564"/>
                    </a:ext>
                  </a:extLst>
                </a:gridCol>
                <a:gridCol w="455413">
                  <a:extLst>
                    <a:ext uri="{9D8B030D-6E8A-4147-A177-3AD203B41FA5}">
                      <a16:colId xmlns:a16="http://schemas.microsoft.com/office/drawing/2014/main" val="1253809284"/>
                    </a:ext>
                  </a:extLst>
                </a:gridCol>
                <a:gridCol w="455413">
                  <a:extLst>
                    <a:ext uri="{9D8B030D-6E8A-4147-A177-3AD203B41FA5}">
                      <a16:colId xmlns:a16="http://schemas.microsoft.com/office/drawing/2014/main" val="2069603784"/>
                    </a:ext>
                  </a:extLst>
                </a:gridCol>
                <a:gridCol w="455413">
                  <a:extLst>
                    <a:ext uri="{9D8B030D-6E8A-4147-A177-3AD203B41FA5}">
                      <a16:colId xmlns:a16="http://schemas.microsoft.com/office/drawing/2014/main" val="2944365739"/>
                    </a:ext>
                  </a:extLst>
                </a:gridCol>
                <a:gridCol w="455413">
                  <a:extLst>
                    <a:ext uri="{9D8B030D-6E8A-4147-A177-3AD203B41FA5}">
                      <a16:colId xmlns:a16="http://schemas.microsoft.com/office/drawing/2014/main" val="4289909199"/>
                    </a:ext>
                  </a:extLst>
                </a:gridCol>
                <a:gridCol w="455413">
                  <a:extLst>
                    <a:ext uri="{9D8B030D-6E8A-4147-A177-3AD203B41FA5}">
                      <a16:colId xmlns:a16="http://schemas.microsoft.com/office/drawing/2014/main" val="3988785754"/>
                    </a:ext>
                  </a:extLst>
                </a:gridCol>
                <a:gridCol w="455413">
                  <a:extLst>
                    <a:ext uri="{9D8B030D-6E8A-4147-A177-3AD203B41FA5}">
                      <a16:colId xmlns:a16="http://schemas.microsoft.com/office/drawing/2014/main" val="3134268193"/>
                    </a:ext>
                  </a:extLst>
                </a:gridCol>
                <a:gridCol w="455413">
                  <a:extLst>
                    <a:ext uri="{9D8B030D-6E8A-4147-A177-3AD203B41FA5}">
                      <a16:colId xmlns:a16="http://schemas.microsoft.com/office/drawing/2014/main" val="3981509332"/>
                    </a:ext>
                  </a:extLst>
                </a:gridCol>
                <a:gridCol w="455413">
                  <a:extLst>
                    <a:ext uri="{9D8B030D-6E8A-4147-A177-3AD203B41FA5}">
                      <a16:colId xmlns:a16="http://schemas.microsoft.com/office/drawing/2014/main" val="1341160869"/>
                    </a:ext>
                  </a:extLst>
                </a:gridCol>
                <a:gridCol w="455413">
                  <a:extLst>
                    <a:ext uri="{9D8B030D-6E8A-4147-A177-3AD203B41FA5}">
                      <a16:colId xmlns:a16="http://schemas.microsoft.com/office/drawing/2014/main" val="3042226399"/>
                    </a:ext>
                  </a:extLst>
                </a:gridCol>
                <a:gridCol w="455413">
                  <a:extLst>
                    <a:ext uri="{9D8B030D-6E8A-4147-A177-3AD203B41FA5}">
                      <a16:colId xmlns:a16="http://schemas.microsoft.com/office/drawing/2014/main" val="1374245312"/>
                    </a:ext>
                  </a:extLst>
                </a:gridCol>
                <a:gridCol w="455413">
                  <a:extLst>
                    <a:ext uri="{9D8B030D-6E8A-4147-A177-3AD203B41FA5}">
                      <a16:colId xmlns:a16="http://schemas.microsoft.com/office/drawing/2014/main" val="813102047"/>
                    </a:ext>
                  </a:extLst>
                </a:gridCol>
              </a:tblGrid>
              <a:tr h="399086">
                <a:tc>
                  <a:txBody>
                    <a:bodyPr/>
                    <a:lstStyle/>
                    <a:p>
                      <a:pPr algn="ctr" rtl="0" fontAlgn="ctr"/>
                      <a:r>
                        <a:rPr lang="es-PE" sz="2000" u="none" strike="noStrike" dirty="0">
                          <a:solidFill>
                            <a:schemeClr val="tx1"/>
                          </a:solidFill>
                          <a:effectLst/>
                        </a:rPr>
                        <a:t>8</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rtl="0" fontAlgn="ctr"/>
                      <a:r>
                        <a:rPr lang="es-PE" sz="2000" u="none" strike="noStrike" dirty="0">
                          <a:solidFill>
                            <a:schemeClr val="tx1"/>
                          </a:solidFill>
                          <a:effectLst/>
                        </a:rPr>
                        <a:t>6</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rtl="0" fontAlgn="ctr"/>
                      <a:r>
                        <a:rPr lang="es-PE" sz="2000" u="none" strike="noStrike" dirty="0">
                          <a:solidFill>
                            <a:schemeClr val="tx1"/>
                          </a:solidFill>
                          <a:effectLst/>
                        </a:rPr>
                        <a:t>4</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fontAlgn="b"/>
                      <a:r>
                        <a:rPr lang="es-PE" sz="2000" u="none" strike="noStrike" dirty="0">
                          <a:solidFill>
                            <a:srgbClr val="FF0000"/>
                          </a:solidFill>
                          <a:effectLst/>
                        </a:rPr>
                        <a:t>4</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4</a:t>
                      </a:r>
                      <a:endParaRPr lang="es-PE" sz="2000" b="0" i="0" u="none" strike="noStrike" dirty="0">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a:solidFill>
                            <a:schemeClr val="tx1"/>
                          </a:solidFill>
                          <a:effectLst/>
                        </a:rPr>
                        <a:t>2</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a:solidFill>
                            <a:schemeClr val="tx1"/>
                          </a:solidFill>
                          <a:effectLst/>
                        </a:rPr>
                        <a:t>0</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2</a:t>
                      </a:r>
                      <a:endParaRPr lang="es-PE" sz="2000" b="0" i="0" u="none" strike="noStrike" dirty="0">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a:solidFill>
                            <a:schemeClr val="tx1"/>
                          </a:solidFill>
                          <a:effectLst/>
                        </a:rPr>
                        <a:t>2</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a:solidFill>
                            <a:schemeClr val="tx1"/>
                          </a:solidFill>
                          <a:effectLst/>
                        </a:rPr>
                        <a:t>0</a:t>
                      </a:r>
                      <a:endParaRPr lang="es-PE" sz="2000" b="0" i="0" u="none" strike="noStrike">
                        <a:solidFill>
                          <a:schemeClr val="tx1"/>
                        </a:solidFill>
                        <a:effectLst/>
                        <a:latin typeface="Calibri" panose="020F0502020204030204" pitchFamily="34" charset="0"/>
                      </a:endParaRPr>
                    </a:p>
                  </a:txBody>
                  <a:tcPr marL="0" marR="0" marT="0" marB="0">
                    <a:solidFill>
                      <a:schemeClr val="accent3">
                        <a:lumMod val="40000"/>
                        <a:lumOff val="60000"/>
                      </a:schemeClr>
                    </a:solidFill>
                  </a:tcPr>
                </a:tc>
                <a:extLst>
                  <a:ext uri="{0D108BD9-81ED-4DB2-BD59-A6C34878D82A}">
                    <a16:rowId xmlns:a16="http://schemas.microsoft.com/office/drawing/2014/main" val="3272051676"/>
                  </a:ext>
                </a:extLst>
              </a:tr>
              <a:tr h="389352">
                <a:tc>
                  <a:txBody>
                    <a:bodyPr/>
                    <a:lstStyle/>
                    <a:p>
                      <a:pPr algn="ctr" rtl="0" fontAlgn="ctr"/>
                      <a:r>
                        <a:rPr lang="es-PE" sz="2000" u="none" strike="noStrike">
                          <a:solidFill>
                            <a:schemeClr val="tx1"/>
                          </a:solidFill>
                          <a:effectLst/>
                        </a:rPr>
                        <a:t>5</a:t>
                      </a:r>
                      <a:endParaRPr lang="es-PE" sz="2000" b="0" i="0" u="none" strike="noStrike">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rtl="0" fontAlgn="ctr"/>
                      <a:r>
                        <a:rPr lang="es-PE" sz="2000" u="none" strike="noStrike" dirty="0">
                          <a:solidFill>
                            <a:schemeClr val="tx1"/>
                          </a:solidFill>
                          <a:effectLst/>
                        </a:rPr>
                        <a:t>7</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rtl="0" fontAlgn="ctr"/>
                      <a:r>
                        <a:rPr lang="es-PE" sz="2000" u="none" strike="noStrike" dirty="0">
                          <a:solidFill>
                            <a:schemeClr val="tx1"/>
                          </a:solidFill>
                          <a:effectLst/>
                        </a:rPr>
                        <a:t>3</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fontAlgn="b"/>
                      <a:r>
                        <a:rPr lang="es-PE" sz="2000" u="none" strike="noStrike" dirty="0">
                          <a:solidFill>
                            <a:srgbClr val="FF0000"/>
                          </a:solidFill>
                          <a:effectLst/>
                        </a:rPr>
                        <a:t>3</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2</a:t>
                      </a:r>
                      <a:endParaRPr lang="es-PE" sz="2000" b="0" i="0" u="none" strike="noStrike" dirty="0">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a:solidFill>
                            <a:schemeClr val="tx1"/>
                          </a:solidFill>
                          <a:effectLst/>
                        </a:rPr>
                        <a:t>4</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a:solidFill>
                            <a:schemeClr val="tx1"/>
                          </a:solidFill>
                          <a:effectLst/>
                        </a:rPr>
                        <a:t>0</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solidFill>
                      <a:schemeClr val="accent3">
                        <a:lumMod val="40000"/>
                        <a:lumOff val="60000"/>
                      </a:schemeClr>
                    </a:solidFill>
                  </a:tcPr>
                </a:tc>
                <a:tc>
                  <a:txBody>
                    <a:bodyPr/>
                    <a:lstStyle/>
                    <a:p>
                      <a:pPr algn="ctr" fontAlgn="b"/>
                      <a:r>
                        <a:rPr lang="es-PE" sz="2000" u="none" strike="noStrike" dirty="0">
                          <a:solidFill>
                            <a:schemeClr val="tx1"/>
                          </a:solidFill>
                          <a:effectLst/>
                        </a:rPr>
                        <a:t>4</a:t>
                      </a:r>
                      <a:endParaRPr lang="es-PE" sz="2000" b="0" i="0" u="none" strike="noStrike" dirty="0">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a:solidFill>
                            <a:schemeClr val="tx1"/>
                          </a:solidFill>
                          <a:effectLst/>
                        </a:rPr>
                        <a:t>0</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extLst>
                  <a:ext uri="{0D108BD9-81ED-4DB2-BD59-A6C34878D82A}">
                    <a16:rowId xmlns:a16="http://schemas.microsoft.com/office/drawing/2014/main" val="3409119557"/>
                  </a:ext>
                </a:extLst>
              </a:tr>
              <a:tr h="389352">
                <a:tc>
                  <a:txBody>
                    <a:bodyPr/>
                    <a:lstStyle/>
                    <a:p>
                      <a:pPr algn="ctr" rtl="0" fontAlgn="ctr"/>
                      <a:r>
                        <a:rPr lang="es-PE" sz="2000" u="none" strike="noStrike">
                          <a:solidFill>
                            <a:schemeClr val="tx1"/>
                          </a:solidFill>
                          <a:effectLst/>
                        </a:rPr>
                        <a:t>6</a:t>
                      </a:r>
                      <a:endParaRPr lang="es-PE" sz="2000" b="0" i="0" u="none" strike="noStrike">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rtl="0" fontAlgn="ctr"/>
                      <a:r>
                        <a:rPr lang="es-PE" sz="2000" u="none" strike="noStrike" dirty="0">
                          <a:solidFill>
                            <a:schemeClr val="tx1"/>
                          </a:solidFill>
                          <a:effectLst/>
                        </a:rPr>
                        <a:t>4</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rtl="0" fontAlgn="ctr"/>
                      <a:r>
                        <a:rPr lang="es-PE" sz="2000" u="none" strike="noStrike" dirty="0">
                          <a:solidFill>
                            <a:schemeClr val="tx1"/>
                          </a:solidFill>
                          <a:effectLst/>
                        </a:rPr>
                        <a:t>5</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accent3">
                        <a:lumMod val="40000"/>
                        <a:lumOff val="60000"/>
                      </a:schemeClr>
                    </a:solidFill>
                  </a:tcPr>
                </a:tc>
                <a:tc>
                  <a:txBody>
                    <a:bodyPr/>
                    <a:lstStyle/>
                    <a:p>
                      <a:pPr algn="ctr" fontAlgn="b"/>
                      <a:r>
                        <a:rPr lang="es-PE" sz="2000" u="none" strike="noStrike" dirty="0">
                          <a:solidFill>
                            <a:srgbClr val="FF0000"/>
                          </a:solidFill>
                          <a:effectLst/>
                        </a:rPr>
                        <a:t>4</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a:solidFill>
                            <a:schemeClr val="tx1"/>
                          </a:solidFill>
                          <a:effectLst/>
                        </a:rPr>
                        <a:t>2</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dirty="0">
                          <a:solidFill>
                            <a:schemeClr val="tx1"/>
                          </a:solidFill>
                          <a:effectLst/>
                        </a:rPr>
                        <a:t>1</a:t>
                      </a:r>
                      <a:endParaRPr lang="es-PE" sz="2000" b="0" i="0" u="none" strike="noStrike" dirty="0">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a:solidFill>
                            <a:schemeClr val="tx1"/>
                          </a:solidFill>
                          <a:effectLst/>
                        </a:rPr>
                        <a:t>0</a:t>
                      </a:r>
                      <a:endParaRPr lang="es-PE" sz="2000" b="0" i="0" u="none" strike="noStrike">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solidFill>
                      <a:schemeClr val="accent3">
                        <a:lumMod val="40000"/>
                        <a:lumOff val="60000"/>
                      </a:schemeClr>
                    </a:solidFill>
                  </a:tcPr>
                </a:tc>
                <a:tc>
                  <a:txBody>
                    <a:bodyPr/>
                    <a:lstStyle/>
                    <a:p>
                      <a:pPr algn="ctr" fontAlgn="b"/>
                      <a:r>
                        <a:rPr lang="es-PE" sz="2000" u="none" strike="noStrike" dirty="0">
                          <a:solidFill>
                            <a:schemeClr val="tx1"/>
                          </a:solidFill>
                          <a:effectLst/>
                        </a:rPr>
                        <a:t>1</a:t>
                      </a:r>
                      <a:endParaRPr lang="es-PE" sz="2000" b="0" i="0" u="none" strike="noStrike" dirty="0">
                        <a:solidFill>
                          <a:schemeClr val="tx1"/>
                        </a:solidFill>
                        <a:effectLst/>
                        <a:latin typeface="Calibri" panose="020F0502020204030204" pitchFamily="34" charset="0"/>
                      </a:endParaRPr>
                    </a:p>
                  </a:txBody>
                  <a:tcPr marL="0" marR="0" marT="0" marB="0" anchor="b">
                    <a:solidFill>
                      <a:schemeClr val="accent3">
                        <a:lumMod val="40000"/>
                        <a:lumOff val="60000"/>
                      </a:schemeClr>
                    </a:solidFill>
                  </a:tcPr>
                </a:tc>
                <a:extLst>
                  <a:ext uri="{0D108BD9-81ED-4DB2-BD59-A6C34878D82A}">
                    <a16:rowId xmlns:a16="http://schemas.microsoft.com/office/drawing/2014/main" val="684939926"/>
                  </a:ext>
                </a:extLst>
              </a:tr>
              <a:tr h="389352">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rgbClr val="FF0000"/>
                          </a:solidFill>
                          <a:effectLst/>
                        </a:rPr>
                        <a:t>2</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extLst>
                  <a:ext uri="{0D108BD9-81ED-4DB2-BD59-A6C34878D82A}">
                    <a16:rowId xmlns:a16="http://schemas.microsoft.com/office/drawing/2014/main" val="3478783143"/>
                  </a:ext>
                </a:extLst>
              </a:tr>
            </a:tbl>
          </a:graphicData>
        </a:graphic>
      </p:graphicFrame>
      <p:sp>
        <p:nvSpPr>
          <p:cNvPr id="3" name="Elipse 2">
            <a:extLst>
              <a:ext uri="{FF2B5EF4-FFF2-40B4-BE49-F238E27FC236}">
                <a16:creationId xmlns:a16="http://schemas.microsoft.com/office/drawing/2014/main" id="{0B04ACA9-B40B-4F32-D93B-03C16A54FED2}"/>
              </a:ext>
            </a:extLst>
          </p:cNvPr>
          <p:cNvSpPr/>
          <p:nvPr/>
        </p:nvSpPr>
        <p:spPr>
          <a:xfrm>
            <a:off x="11615535" y="1588725"/>
            <a:ext cx="253810" cy="24851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2400"/>
          </a:p>
        </p:txBody>
      </p:sp>
      <p:sp>
        <p:nvSpPr>
          <p:cNvPr id="7" name="Elipse 6">
            <a:extLst>
              <a:ext uri="{FF2B5EF4-FFF2-40B4-BE49-F238E27FC236}">
                <a16:creationId xmlns:a16="http://schemas.microsoft.com/office/drawing/2014/main" id="{E5325A67-D6FB-4FA6-948B-386B220AD842}"/>
              </a:ext>
            </a:extLst>
          </p:cNvPr>
          <p:cNvSpPr/>
          <p:nvPr/>
        </p:nvSpPr>
        <p:spPr>
          <a:xfrm>
            <a:off x="10705933" y="1989565"/>
            <a:ext cx="241059" cy="24334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2400"/>
          </a:p>
        </p:txBody>
      </p:sp>
      <p:sp>
        <p:nvSpPr>
          <p:cNvPr id="8" name="Elipse 7">
            <a:extLst>
              <a:ext uri="{FF2B5EF4-FFF2-40B4-BE49-F238E27FC236}">
                <a16:creationId xmlns:a16="http://schemas.microsoft.com/office/drawing/2014/main" id="{035A3D62-D204-4052-8B5B-2AB20BC37326}"/>
              </a:ext>
            </a:extLst>
          </p:cNvPr>
          <p:cNvSpPr/>
          <p:nvPr/>
        </p:nvSpPr>
        <p:spPr>
          <a:xfrm>
            <a:off x="11183127" y="2326502"/>
            <a:ext cx="251228" cy="26429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2400"/>
          </a:p>
        </p:txBody>
      </p:sp>
      <p:sp>
        <p:nvSpPr>
          <p:cNvPr id="9" name="CuadroTexto 8">
            <a:extLst>
              <a:ext uri="{FF2B5EF4-FFF2-40B4-BE49-F238E27FC236}">
                <a16:creationId xmlns:a16="http://schemas.microsoft.com/office/drawing/2014/main" id="{E3B92D58-32E1-32FF-FF84-D5F1578CC852}"/>
              </a:ext>
            </a:extLst>
          </p:cNvPr>
          <p:cNvSpPr txBox="1"/>
          <p:nvPr/>
        </p:nvSpPr>
        <p:spPr>
          <a:xfrm>
            <a:off x="6504090" y="3556707"/>
            <a:ext cx="5464956" cy="1938992"/>
          </a:xfrm>
          <a:prstGeom prst="rect">
            <a:avLst/>
          </a:prstGeom>
          <a:solidFill>
            <a:schemeClr val="accent3">
              <a:lumMod val="40000"/>
              <a:lumOff val="60000"/>
            </a:schemeClr>
          </a:solidFill>
        </p:spPr>
        <p:txBody>
          <a:bodyPr wrap="square" rtlCol="0">
            <a:spAutoFit/>
          </a:bodyPr>
          <a:lstStyle/>
          <a:p>
            <a:r>
              <a:rPr lang="es-ES" sz="2400" dirty="0"/>
              <a:t>RESPUESTA:</a:t>
            </a:r>
          </a:p>
          <a:p>
            <a:r>
              <a:rPr lang="es-ES" sz="2400" dirty="0"/>
              <a:t>Al empleado 1 se le asigna la tarea 3</a:t>
            </a:r>
            <a:r>
              <a:rPr lang="es-ES" sz="2400" dirty="0">
                <a:sym typeface="Wingdings" panose="05000000000000000000" pitchFamily="2" charset="2"/>
              </a:rPr>
              <a:t>4</a:t>
            </a:r>
            <a:endParaRPr lang="es-ES" sz="2400" dirty="0"/>
          </a:p>
          <a:p>
            <a:r>
              <a:rPr lang="es-ES" sz="2400" dirty="0"/>
              <a:t>Al empleado 2 se le asigna la tarea 1</a:t>
            </a:r>
            <a:r>
              <a:rPr lang="es-ES" sz="2400" dirty="0">
                <a:sym typeface="Wingdings" panose="05000000000000000000" pitchFamily="2" charset="2"/>
              </a:rPr>
              <a:t>5</a:t>
            </a:r>
            <a:endParaRPr lang="es-ES" sz="2400" dirty="0"/>
          </a:p>
          <a:p>
            <a:r>
              <a:rPr lang="es-ES" sz="2400" dirty="0"/>
              <a:t>Al empleado 3 se le asigna la tarea 2</a:t>
            </a:r>
            <a:r>
              <a:rPr lang="es-ES" sz="2400" dirty="0">
                <a:sym typeface="Wingdings" panose="05000000000000000000" pitchFamily="2" charset="2"/>
              </a:rPr>
              <a:t>4</a:t>
            </a:r>
          </a:p>
          <a:p>
            <a:r>
              <a:rPr lang="es-ES" sz="2400" dirty="0">
                <a:sym typeface="Wingdings" panose="05000000000000000000" pitchFamily="2" charset="2"/>
              </a:rPr>
              <a:t>                                          COSTO TOTAL:  13</a:t>
            </a:r>
            <a:endParaRPr lang="es-PE" sz="2400" dirty="0"/>
          </a:p>
        </p:txBody>
      </p:sp>
      <p:sp>
        <p:nvSpPr>
          <p:cNvPr id="6" name="Rectangle 2">
            <a:extLst>
              <a:ext uri="{FF2B5EF4-FFF2-40B4-BE49-F238E27FC236}">
                <a16:creationId xmlns:a16="http://schemas.microsoft.com/office/drawing/2014/main" id="{3A2761DA-0CA4-D879-6614-3F6BFB881E7F}"/>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6</a:t>
            </a:r>
          </a:p>
        </p:txBody>
      </p:sp>
      <p:sp>
        <p:nvSpPr>
          <p:cNvPr id="10" name="CuadroTexto 9">
            <a:extLst>
              <a:ext uri="{FF2B5EF4-FFF2-40B4-BE49-F238E27FC236}">
                <a16:creationId xmlns:a16="http://schemas.microsoft.com/office/drawing/2014/main" id="{5A6CB743-BEB0-1458-F7CF-F75FEAA0B8FF}"/>
              </a:ext>
            </a:extLst>
          </p:cNvPr>
          <p:cNvSpPr txBox="1"/>
          <p:nvPr/>
        </p:nvSpPr>
        <p:spPr>
          <a:xfrm>
            <a:off x="161115" y="1242535"/>
            <a:ext cx="5778500" cy="2677656"/>
          </a:xfrm>
          <a:prstGeom prst="rect">
            <a:avLst/>
          </a:prstGeom>
          <a:solidFill>
            <a:schemeClr val="accent4">
              <a:lumMod val="20000"/>
              <a:lumOff val="80000"/>
            </a:schemeClr>
          </a:solidFill>
        </p:spPr>
        <p:txBody>
          <a:bodyPr wrap="square">
            <a:spAutoFit/>
          </a:bodyPr>
          <a:lstStyle/>
          <a:p>
            <a:r>
              <a:rPr lang="es-ES" sz="2400" b="1" dirty="0"/>
              <a:t>Asignación de Tareas</a:t>
            </a:r>
          </a:p>
          <a:p>
            <a:r>
              <a:rPr lang="es-ES" sz="2400" b="1" dirty="0"/>
              <a:t>Descripción:</a:t>
            </a:r>
          </a:p>
          <a:p>
            <a:r>
              <a:rPr lang="es-ES" sz="2400" dirty="0"/>
              <a:t>Una empresa tiene 3 empleados y 3 tareas. Cada tarea debe ser asignada a exactamente un empleado, minimizando el costo total de asignación.</a:t>
            </a:r>
          </a:p>
          <a:p>
            <a:r>
              <a:rPr lang="es-PE" sz="2400" dirty="0"/>
              <a:t>Datos:</a:t>
            </a:r>
            <a:endParaRPr lang="es-ES" sz="2400" dirty="0"/>
          </a:p>
        </p:txBody>
      </p:sp>
      <p:graphicFrame>
        <p:nvGraphicFramePr>
          <p:cNvPr id="11" name="Tabla 5">
            <a:extLst>
              <a:ext uri="{FF2B5EF4-FFF2-40B4-BE49-F238E27FC236}">
                <a16:creationId xmlns:a16="http://schemas.microsoft.com/office/drawing/2014/main" id="{5DC18234-3063-7EF7-C7F2-7DAE67CF102D}"/>
              </a:ext>
            </a:extLst>
          </p:cNvPr>
          <p:cNvGraphicFramePr>
            <a:graphicFrameLocks noGrp="1"/>
          </p:cNvGraphicFramePr>
          <p:nvPr>
            <p:extLst>
              <p:ext uri="{D42A27DB-BD31-4B8C-83A1-F6EECF244321}">
                <p14:modId xmlns:p14="http://schemas.microsoft.com/office/powerpoint/2010/main" val="1825723930"/>
              </p:ext>
            </p:extLst>
          </p:nvPr>
        </p:nvGraphicFramePr>
        <p:xfrm>
          <a:off x="165469" y="4120266"/>
          <a:ext cx="5778500" cy="1828800"/>
        </p:xfrm>
        <a:graphic>
          <a:graphicData uri="http://schemas.openxmlformats.org/drawingml/2006/table">
            <a:tbl>
              <a:tblPr firstRow="1" bandRow="1">
                <a:tableStyleId>{5C22544A-7EE6-4342-B048-85BDC9FD1C3A}</a:tableStyleId>
              </a:tblPr>
              <a:tblGrid>
                <a:gridCol w="1811383">
                  <a:extLst>
                    <a:ext uri="{9D8B030D-6E8A-4147-A177-3AD203B41FA5}">
                      <a16:colId xmlns:a16="http://schemas.microsoft.com/office/drawing/2014/main" val="253544345"/>
                    </a:ext>
                  </a:extLst>
                </a:gridCol>
                <a:gridCol w="1524000">
                  <a:extLst>
                    <a:ext uri="{9D8B030D-6E8A-4147-A177-3AD203B41FA5}">
                      <a16:colId xmlns:a16="http://schemas.microsoft.com/office/drawing/2014/main" val="3075635309"/>
                    </a:ext>
                  </a:extLst>
                </a:gridCol>
                <a:gridCol w="1254034">
                  <a:extLst>
                    <a:ext uri="{9D8B030D-6E8A-4147-A177-3AD203B41FA5}">
                      <a16:colId xmlns:a16="http://schemas.microsoft.com/office/drawing/2014/main" val="1464454567"/>
                    </a:ext>
                  </a:extLst>
                </a:gridCol>
                <a:gridCol w="1189083">
                  <a:extLst>
                    <a:ext uri="{9D8B030D-6E8A-4147-A177-3AD203B41FA5}">
                      <a16:colId xmlns:a16="http://schemas.microsoft.com/office/drawing/2014/main" val="1467918706"/>
                    </a:ext>
                  </a:extLst>
                </a:gridCol>
              </a:tblGrid>
              <a:tr h="429697">
                <a:tc>
                  <a:txBody>
                    <a:bodyPr/>
                    <a:lstStyle/>
                    <a:p>
                      <a:pPr algn="ctr"/>
                      <a:endParaRPr lang="es-PE" sz="2400" b="1" dirty="0"/>
                    </a:p>
                  </a:txBody>
                  <a:tcPr/>
                </a:tc>
                <a:tc>
                  <a:txBody>
                    <a:bodyPr/>
                    <a:lstStyle/>
                    <a:p>
                      <a:pPr algn="ctr"/>
                      <a:r>
                        <a:rPr lang="es-ES" sz="2400" b="1" dirty="0"/>
                        <a:t>Tarea 1</a:t>
                      </a:r>
                      <a:endParaRPr lang="es-PE" sz="2400" b="1" dirty="0"/>
                    </a:p>
                  </a:txBody>
                  <a:tcPr/>
                </a:tc>
                <a:tc>
                  <a:txBody>
                    <a:bodyPr/>
                    <a:lstStyle/>
                    <a:p>
                      <a:pPr algn="ctr"/>
                      <a:r>
                        <a:rPr lang="es-ES" sz="2400" b="1" dirty="0"/>
                        <a:t>Tarea 2</a:t>
                      </a:r>
                      <a:endParaRPr lang="es-PE" sz="2400" b="1" dirty="0"/>
                    </a:p>
                  </a:txBody>
                  <a:tcPr/>
                </a:tc>
                <a:tc>
                  <a:txBody>
                    <a:bodyPr/>
                    <a:lstStyle/>
                    <a:p>
                      <a:pPr algn="ctr"/>
                      <a:r>
                        <a:rPr lang="es-ES" sz="2400" b="1" dirty="0"/>
                        <a:t>Tarea 3</a:t>
                      </a:r>
                      <a:endParaRPr lang="es-PE" sz="2400" b="1" dirty="0"/>
                    </a:p>
                  </a:txBody>
                  <a:tcPr/>
                </a:tc>
                <a:extLst>
                  <a:ext uri="{0D108BD9-81ED-4DB2-BD59-A6C34878D82A}">
                    <a16:rowId xmlns:a16="http://schemas.microsoft.com/office/drawing/2014/main" val="2824342791"/>
                  </a:ext>
                </a:extLst>
              </a:tr>
              <a:tr h="429697">
                <a:tc>
                  <a:txBody>
                    <a:bodyPr/>
                    <a:lstStyle/>
                    <a:p>
                      <a:pPr algn="ctr"/>
                      <a:r>
                        <a:rPr lang="es-ES" sz="2400" b="1" dirty="0"/>
                        <a:t>Empleado 1</a:t>
                      </a:r>
                      <a:endParaRPr lang="es-PE" sz="2400" b="1" dirty="0"/>
                    </a:p>
                  </a:txBody>
                  <a:tcPr/>
                </a:tc>
                <a:tc>
                  <a:txBody>
                    <a:bodyPr/>
                    <a:lstStyle/>
                    <a:p>
                      <a:pPr algn="ctr"/>
                      <a:r>
                        <a:rPr lang="es-ES" sz="2400" b="1" dirty="0"/>
                        <a:t>8</a:t>
                      </a:r>
                      <a:endParaRPr lang="es-PE" sz="2400" b="1" dirty="0"/>
                    </a:p>
                  </a:txBody>
                  <a:tcPr/>
                </a:tc>
                <a:tc>
                  <a:txBody>
                    <a:bodyPr/>
                    <a:lstStyle/>
                    <a:p>
                      <a:pPr algn="ctr"/>
                      <a:r>
                        <a:rPr lang="es-ES" sz="2400" b="1" dirty="0"/>
                        <a:t>6</a:t>
                      </a:r>
                      <a:endParaRPr lang="es-PE" sz="2400" b="1" dirty="0"/>
                    </a:p>
                  </a:txBody>
                  <a:tcPr/>
                </a:tc>
                <a:tc>
                  <a:txBody>
                    <a:bodyPr/>
                    <a:lstStyle/>
                    <a:p>
                      <a:pPr algn="ctr"/>
                      <a:r>
                        <a:rPr lang="es-ES" sz="2400" b="1" dirty="0"/>
                        <a:t>4</a:t>
                      </a:r>
                      <a:endParaRPr lang="es-PE" sz="2400" b="1" dirty="0"/>
                    </a:p>
                  </a:txBody>
                  <a:tcPr/>
                </a:tc>
                <a:extLst>
                  <a:ext uri="{0D108BD9-81ED-4DB2-BD59-A6C34878D82A}">
                    <a16:rowId xmlns:a16="http://schemas.microsoft.com/office/drawing/2014/main" val="48142687"/>
                  </a:ext>
                </a:extLst>
              </a:tr>
              <a:tr h="429697">
                <a:tc>
                  <a:txBody>
                    <a:bodyPr/>
                    <a:lstStyle/>
                    <a:p>
                      <a:pPr algn="ctr"/>
                      <a:r>
                        <a:rPr lang="es-ES" sz="2400" b="1" dirty="0"/>
                        <a:t>Empleado 2</a:t>
                      </a:r>
                      <a:endParaRPr lang="es-PE" sz="2400" b="1" dirty="0"/>
                    </a:p>
                  </a:txBody>
                  <a:tcPr/>
                </a:tc>
                <a:tc>
                  <a:txBody>
                    <a:bodyPr/>
                    <a:lstStyle/>
                    <a:p>
                      <a:pPr algn="ctr"/>
                      <a:r>
                        <a:rPr lang="es-ES" sz="2400" b="1" dirty="0"/>
                        <a:t>5</a:t>
                      </a:r>
                      <a:endParaRPr lang="es-PE" sz="2400" b="1" dirty="0"/>
                    </a:p>
                  </a:txBody>
                  <a:tcPr/>
                </a:tc>
                <a:tc>
                  <a:txBody>
                    <a:bodyPr/>
                    <a:lstStyle/>
                    <a:p>
                      <a:pPr algn="ctr"/>
                      <a:r>
                        <a:rPr lang="es-ES" sz="2400" b="1" dirty="0"/>
                        <a:t>7</a:t>
                      </a:r>
                      <a:endParaRPr lang="es-PE" sz="2400" b="1" dirty="0"/>
                    </a:p>
                  </a:txBody>
                  <a:tcPr/>
                </a:tc>
                <a:tc>
                  <a:txBody>
                    <a:bodyPr/>
                    <a:lstStyle/>
                    <a:p>
                      <a:pPr algn="ctr"/>
                      <a:r>
                        <a:rPr lang="es-ES" sz="2400" b="1" dirty="0"/>
                        <a:t>3</a:t>
                      </a:r>
                      <a:endParaRPr lang="es-PE" sz="2400" b="1" dirty="0"/>
                    </a:p>
                  </a:txBody>
                  <a:tcPr/>
                </a:tc>
                <a:extLst>
                  <a:ext uri="{0D108BD9-81ED-4DB2-BD59-A6C34878D82A}">
                    <a16:rowId xmlns:a16="http://schemas.microsoft.com/office/drawing/2014/main" val="2171659082"/>
                  </a:ext>
                </a:extLst>
              </a:tr>
              <a:tr h="429697">
                <a:tc>
                  <a:txBody>
                    <a:bodyPr/>
                    <a:lstStyle/>
                    <a:p>
                      <a:pPr algn="ctr"/>
                      <a:r>
                        <a:rPr lang="es-ES" sz="2400" b="1" dirty="0"/>
                        <a:t>Empleado 3</a:t>
                      </a:r>
                      <a:endParaRPr lang="es-PE" sz="2400" b="1" dirty="0"/>
                    </a:p>
                  </a:txBody>
                  <a:tcPr/>
                </a:tc>
                <a:tc>
                  <a:txBody>
                    <a:bodyPr/>
                    <a:lstStyle/>
                    <a:p>
                      <a:pPr algn="ctr"/>
                      <a:r>
                        <a:rPr lang="es-ES" sz="2400" b="1" dirty="0"/>
                        <a:t>6</a:t>
                      </a:r>
                      <a:endParaRPr lang="es-PE" sz="2400" b="1" dirty="0"/>
                    </a:p>
                  </a:txBody>
                  <a:tcPr/>
                </a:tc>
                <a:tc>
                  <a:txBody>
                    <a:bodyPr/>
                    <a:lstStyle/>
                    <a:p>
                      <a:pPr algn="ctr"/>
                      <a:r>
                        <a:rPr lang="es-ES" sz="2400" b="1" dirty="0"/>
                        <a:t>4</a:t>
                      </a:r>
                      <a:endParaRPr lang="es-PE" sz="2400" b="1" dirty="0"/>
                    </a:p>
                  </a:txBody>
                  <a:tcPr/>
                </a:tc>
                <a:tc>
                  <a:txBody>
                    <a:bodyPr/>
                    <a:lstStyle/>
                    <a:p>
                      <a:pPr algn="ctr"/>
                      <a:r>
                        <a:rPr lang="es-ES" sz="2400" b="1" dirty="0"/>
                        <a:t>5</a:t>
                      </a:r>
                      <a:endParaRPr lang="es-PE" sz="2400" b="1" dirty="0"/>
                    </a:p>
                  </a:txBody>
                  <a:tcPr/>
                </a:tc>
                <a:extLst>
                  <a:ext uri="{0D108BD9-81ED-4DB2-BD59-A6C34878D82A}">
                    <a16:rowId xmlns:a16="http://schemas.microsoft.com/office/drawing/2014/main" val="2436385743"/>
                  </a:ext>
                </a:extLst>
              </a:tr>
            </a:tbl>
          </a:graphicData>
        </a:graphic>
      </p:graphicFrame>
    </p:spTree>
    <p:extLst>
      <p:ext uri="{BB962C8B-B14F-4D97-AF65-F5344CB8AC3E}">
        <p14:creationId xmlns:p14="http://schemas.microsoft.com/office/powerpoint/2010/main" val="207254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A6AB6C2-2E8C-7DC6-FCBF-1251F6AA6F9C}"/>
              </a:ext>
            </a:extLst>
          </p:cNvPr>
          <p:cNvSpPr txBox="1"/>
          <p:nvPr/>
        </p:nvSpPr>
        <p:spPr>
          <a:xfrm>
            <a:off x="0" y="1370737"/>
            <a:ext cx="6105524" cy="1754326"/>
          </a:xfrm>
          <a:prstGeom prst="rect">
            <a:avLst/>
          </a:prstGeom>
          <a:noFill/>
        </p:spPr>
        <p:txBody>
          <a:bodyPr wrap="square">
            <a:spAutoFit/>
          </a:bodyPr>
          <a:lstStyle/>
          <a:p>
            <a:r>
              <a:rPr lang="es-ES" b="1" dirty="0"/>
              <a:t>Selección de Proyectos</a:t>
            </a:r>
          </a:p>
          <a:p>
            <a:r>
              <a:rPr lang="es-ES" b="1" dirty="0"/>
              <a:t>Descripción:</a:t>
            </a:r>
          </a:p>
          <a:p>
            <a:r>
              <a:rPr lang="es-ES" dirty="0"/>
              <a:t>Una empresa tiene un conjunto de 5 proyectos y un presupuesto de 15 unidades monetarias. Cada proyecto tiene un costo y un beneficio.</a:t>
            </a:r>
          </a:p>
          <a:p>
            <a:r>
              <a:rPr lang="es-ES" b="1" dirty="0"/>
              <a:t>Datos:</a:t>
            </a:r>
          </a:p>
        </p:txBody>
      </p:sp>
      <p:graphicFrame>
        <p:nvGraphicFramePr>
          <p:cNvPr id="5" name="Tabla 5">
            <a:extLst>
              <a:ext uri="{FF2B5EF4-FFF2-40B4-BE49-F238E27FC236}">
                <a16:creationId xmlns:a16="http://schemas.microsoft.com/office/drawing/2014/main" id="{961064F8-29C4-AE3A-C0B2-4C91ADCA0B25}"/>
              </a:ext>
            </a:extLst>
          </p:cNvPr>
          <p:cNvGraphicFramePr>
            <a:graphicFrameLocks noGrp="1"/>
          </p:cNvGraphicFramePr>
          <p:nvPr>
            <p:extLst>
              <p:ext uri="{D42A27DB-BD31-4B8C-83A1-F6EECF244321}">
                <p14:modId xmlns:p14="http://schemas.microsoft.com/office/powerpoint/2010/main" val="3035311671"/>
              </p:ext>
            </p:extLst>
          </p:nvPr>
        </p:nvGraphicFramePr>
        <p:xfrm>
          <a:off x="2834833" y="2542063"/>
          <a:ext cx="3007152" cy="2194560"/>
        </p:xfrm>
        <a:graphic>
          <a:graphicData uri="http://schemas.openxmlformats.org/drawingml/2006/table">
            <a:tbl>
              <a:tblPr firstRow="1" bandRow="1">
                <a:tableStyleId>{5C22544A-7EE6-4342-B048-85BDC9FD1C3A}</a:tableStyleId>
              </a:tblPr>
              <a:tblGrid>
                <a:gridCol w="1112363">
                  <a:extLst>
                    <a:ext uri="{9D8B030D-6E8A-4147-A177-3AD203B41FA5}">
                      <a16:colId xmlns:a16="http://schemas.microsoft.com/office/drawing/2014/main" val="2048859303"/>
                    </a:ext>
                  </a:extLst>
                </a:gridCol>
                <a:gridCol w="782425">
                  <a:extLst>
                    <a:ext uri="{9D8B030D-6E8A-4147-A177-3AD203B41FA5}">
                      <a16:colId xmlns:a16="http://schemas.microsoft.com/office/drawing/2014/main" val="1694885080"/>
                    </a:ext>
                  </a:extLst>
                </a:gridCol>
                <a:gridCol w="1112364">
                  <a:extLst>
                    <a:ext uri="{9D8B030D-6E8A-4147-A177-3AD203B41FA5}">
                      <a16:colId xmlns:a16="http://schemas.microsoft.com/office/drawing/2014/main" val="3220221663"/>
                    </a:ext>
                  </a:extLst>
                </a:gridCol>
              </a:tblGrid>
              <a:tr h="327675">
                <a:tc>
                  <a:txBody>
                    <a:bodyPr/>
                    <a:lstStyle/>
                    <a:p>
                      <a:pPr algn="ctr"/>
                      <a:r>
                        <a:rPr lang="es-ES" dirty="0"/>
                        <a:t>Proyecto</a:t>
                      </a:r>
                      <a:endParaRPr lang="es-PE" dirty="0"/>
                    </a:p>
                  </a:txBody>
                  <a:tcPr/>
                </a:tc>
                <a:tc>
                  <a:txBody>
                    <a:bodyPr/>
                    <a:lstStyle/>
                    <a:p>
                      <a:pPr algn="ctr"/>
                      <a:r>
                        <a:rPr lang="es-ES" dirty="0"/>
                        <a:t>Costo</a:t>
                      </a:r>
                      <a:endParaRPr lang="es-PE" dirty="0"/>
                    </a:p>
                  </a:txBody>
                  <a:tcPr/>
                </a:tc>
                <a:tc>
                  <a:txBody>
                    <a:bodyPr/>
                    <a:lstStyle/>
                    <a:p>
                      <a:pPr algn="ctr"/>
                      <a:r>
                        <a:rPr lang="es-ES" dirty="0"/>
                        <a:t>Beneficio</a:t>
                      </a:r>
                      <a:endParaRPr lang="es-PE" dirty="0"/>
                    </a:p>
                  </a:txBody>
                  <a:tcPr/>
                </a:tc>
                <a:extLst>
                  <a:ext uri="{0D108BD9-81ED-4DB2-BD59-A6C34878D82A}">
                    <a16:rowId xmlns:a16="http://schemas.microsoft.com/office/drawing/2014/main" val="204913097"/>
                  </a:ext>
                </a:extLst>
              </a:tr>
              <a:tr h="327675">
                <a:tc>
                  <a:txBody>
                    <a:bodyPr/>
                    <a:lstStyle/>
                    <a:p>
                      <a:pPr algn="ctr"/>
                      <a:r>
                        <a:rPr lang="es-ES" dirty="0"/>
                        <a:t>1</a:t>
                      </a:r>
                      <a:endParaRPr lang="es-PE" dirty="0"/>
                    </a:p>
                  </a:txBody>
                  <a:tcPr/>
                </a:tc>
                <a:tc>
                  <a:txBody>
                    <a:bodyPr/>
                    <a:lstStyle/>
                    <a:p>
                      <a:pPr algn="ctr"/>
                      <a:r>
                        <a:rPr lang="es-ES" dirty="0"/>
                        <a:t>5</a:t>
                      </a:r>
                      <a:endParaRPr lang="es-PE" dirty="0"/>
                    </a:p>
                  </a:txBody>
                  <a:tcPr/>
                </a:tc>
                <a:tc>
                  <a:txBody>
                    <a:bodyPr/>
                    <a:lstStyle/>
                    <a:p>
                      <a:pPr algn="ctr"/>
                      <a:r>
                        <a:rPr lang="es-ES" dirty="0"/>
                        <a:t>10</a:t>
                      </a:r>
                      <a:endParaRPr lang="es-PE" dirty="0"/>
                    </a:p>
                  </a:txBody>
                  <a:tcPr/>
                </a:tc>
                <a:extLst>
                  <a:ext uri="{0D108BD9-81ED-4DB2-BD59-A6C34878D82A}">
                    <a16:rowId xmlns:a16="http://schemas.microsoft.com/office/drawing/2014/main" val="2488444376"/>
                  </a:ext>
                </a:extLst>
              </a:tr>
              <a:tr h="327675">
                <a:tc>
                  <a:txBody>
                    <a:bodyPr/>
                    <a:lstStyle/>
                    <a:p>
                      <a:pPr algn="ctr"/>
                      <a:r>
                        <a:rPr lang="es-ES" dirty="0"/>
                        <a:t>2</a:t>
                      </a:r>
                      <a:endParaRPr lang="es-PE" dirty="0"/>
                    </a:p>
                  </a:txBody>
                  <a:tcPr/>
                </a:tc>
                <a:tc>
                  <a:txBody>
                    <a:bodyPr/>
                    <a:lstStyle/>
                    <a:p>
                      <a:pPr algn="ctr"/>
                      <a:r>
                        <a:rPr lang="es-ES" dirty="0"/>
                        <a:t>4</a:t>
                      </a:r>
                      <a:endParaRPr lang="es-PE" dirty="0"/>
                    </a:p>
                  </a:txBody>
                  <a:tcPr/>
                </a:tc>
                <a:tc>
                  <a:txBody>
                    <a:bodyPr/>
                    <a:lstStyle/>
                    <a:p>
                      <a:pPr algn="ctr"/>
                      <a:r>
                        <a:rPr lang="es-ES" dirty="0"/>
                        <a:t>8</a:t>
                      </a:r>
                      <a:endParaRPr lang="es-PE" dirty="0"/>
                    </a:p>
                  </a:txBody>
                  <a:tcPr/>
                </a:tc>
                <a:extLst>
                  <a:ext uri="{0D108BD9-81ED-4DB2-BD59-A6C34878D82A}">
                    <a16:rowId xmlns:a16="http://schemas.microsoft.com/office/drawing/2014/main" val="3925619025"/>
                  </a:ext>
                </a:extLst>
              </a:tr>
              <a:tr h="327675">
                <a:tc>
                  <a:txBody>
                    <a:bodyPr/>
                    <a:lstStyle/>
                    <a:p>
                      <a:pPr algn="ctr"/>
                      <a:r>
                        <a:rPr lang="es-ES" dirty="0"/>
                        <a:t>3</a:t>
                      </a:r>
                      <a:endParaRPr lang="es-PE" dirty="0"/>
                    </a:p>
                  </a:txBody>
                  <a:tcPr/>
                </a:tc>
                <a:tc>
                  <a:txBody>
                    <a:bodyPr/>
                    <a:lstStyle/>
                    <a:p>
                      <a:pPr algn="ctr"/>
                      <a:r>
                        <a:rPr lang="es-ES" dirty="0"/>
                        <a:t>7</a:t>
                      </a:r>
                      <a:endParaRPr lang="es-PE" dirty="0"/>
                    </a:p>
                  </a:txBody>
                  <a:tcPr/>
                </a:tc>
                <a:tc>
                  <a:txBody>
                    <a:bodyPr/>
                    <a:lstStyle/>
                    <a:p>
                      <a:pPr algn="ctr"/>
                      <a:r>
                        <a:rPr lang="es-ES" dirty="0"/>
                        <a:t>15</a:t>
                      </a:r>
                      <a:endParaRPr lang="es-PE" dirty="0"/>
                    </a:p>
                  </a:txBody>
                  <a:tcPr/>
                </a:tc>
                <a:extLst>
                  <a:ext uri="{0D108BD9-81ED-4DB2-BD59-A6C34878D82A}">
                    <a16:rowId xmlns:a16="http://schemas.microsoft.com/office/drawing/2014/main" val="1703560527"/>
                  </a:ext>
                </a:extLst>
              </a:tr>
              <a:tr h="327675">
                <a:tc>
                  <a:txBody>
                    <a:bodyPr/>
                    <a:lstStyle/>
                    <a:p>
                      <a:pPr algn="ctr"/>
                      <a:r>
                        <a:rPr lang="es-ES" dirty="0"/>
                        <a:t>4</a:t>
                      </a:r>
                      <a:endParaRPr lang="es-PE" dirty="0"/>
                    </a:p>
                  </a:txBody>
                  <a:tcPr/>
                </a:tc>
                <a:tc>
                  <a:txBody>
                    <a:bodyPr/>
                    <a:lstStyle/>
                    <a:p>
                      <a:pPr algn="ctr"/>
                      <a:r>
                        <a:rPr lang="es-ES" dirty="0"/>
                        <a:t>6</a:t>
                      </a:r>
                      <a:endParaRPr lang="es-PE" dirty="0"/>
                    </a:p>
                  </a:txBody>
                  <a:tcPr/>
                </a:tc>
                <a:tc>
                  <a:txBody>
                    <a:bodyPr/>
                    <a:lstStyle/>
                    <a:p>
                      <a:pPr algn="ctr"/>
                      <a:r>
                        <a:rPr lang="es-ES" dirty="0"/>
                        <a:t>12</a:t>
                      </a:r>
                      <a:endParaRPr lang="es-PE" dirty="0"/>
                    </a:p>
                  </a:txBody>
                  <a:tcPr/>
                </a:tc>
                <a:extLst>
                  <a:ext uri="{0D108BD9-81ED-4DB2-BD59-A6C34878D82A}">
                    <a16:rowId xmlns:a16="http://schemas.microsoft.com/office/drawing/2014/main" val="929764322"/>
                  </a:ext>
                </a:extLst>
              </a:tr>
              <a:tr h="327675">
                <a:tc>
                  <a:txBody>
                    <a:bodyPr/>
                    <a:lstStyle/>
                    <a:p>
                      <a:pPr algn="ctr"/>
                      <a:r>
                        <a:rPr lang="es-ES" dirty="0"/>
                        <a:t>5</a:t>
                      </a:r>
                      <a:endParaRPr lang="es-PE" dirty="0"/>
                    </a:p>
                  </a:txBody>
                  <a:tcPr/>
                </a:tc>
                <a:tc>
                  <a:txBody>
                    <a:bodyPr/>
                    <a:lstStyle/>
                    <a:p>
                      <a:pPr algn="ctr"/>
                      <a:r>
                        <a:rPr lang="es-ES" dirty="0"/>
                        <a:t>3</a:t>
                      </a:r>
                      <a:endParaRPr lang="es-PE" dirty="0"/>
                    </a:p>
                  </a:txBody>
                  <a:tcPr/>
                </a:tc>
                <a:tc>
                  <a:txBody>
                    <a:bodyPr/>
                    <a:lstStyle/>
                    <a:p>
                      <a:pPr algn="ctr"/>
                      <a:r>
                        <a:rPr lang="es-ES" dirty="0"/>
                        <a:t>7</a:t>
                      </a:r>
                      <a:endParaRPr lang="es-PE" dirty="0"/>
                    </a:p>
                  </a:txBody>
                  <a:tcPr/>
                </a:tc>
                <a:extLst>
                  <a:ext uri="{0D108BD9-81ED-4DB2-BD59-A6C34878D82A}">
                    <a16:rowId xmlns:a16="http://schemas.microsoft.com/office/drawing/2014/main" val="3290553418"/>
                  </a:ext>
                </a:extLst>
              </a:tr>
            </a:tbl>
          </a:graphicData>
        </a:graphic>
      </p:graphicFrame>
      <p:sp>
        <p:nvSpPr>
          <p:cNvPr id="7" name="CuadroTexto 6">
            <a:extLst>
              <a:ext uri="{FF2B5EF4-FFF2-40B4-BE49-F238E27FC236}">
                <a16:creationId xmlns:a16="http://schemas.microsoft.com/office/drawing/2014/main" id="{4D8F97D7-EADF-2F4A-8718-C8187226D78F}"/>
              </a:ext>
            </a:extLst>
          </p:cNvPr>
          <p:cNvSpPr txBox="1"/>
          <p:nvPr/>
        </p:nvSpPr>
        <p:spPr>
          <a:xfrm>
            <a:off x="6105524" y="1370737"/>
            <a:ext cx="5859168" cy="1569660"/>
          </a:xfrm>
          <a:prstGeom prst="rect">
            <a:avLst/>
          </a:prstGeom>
          <a:solidFill>
            <a:schemeClr val="accent3">
              <a:lumMod val="40000"/>
              <a:lumOff val="60000"/>
            </a:schemeClr>
          </a:solidFill>
        </p:spPr>
        <p:txBody>
          <a:bodyPr wrap="square">
            <a:spAutoFit/>
          </a:bodyPr>
          <a:lstStyle/>
          <a:p>
            <a:r>
              <a:rPr lang="es-PE" sz="2400" b="1" dirty="0"/>
              <a:t>Formulación del Modelo:</a:t>
            </a:r>
          </a:p>
          <a:p>
            <a:r>
              <a:rPr lang="es-PE" sz="2400" dirty="0"/>
              <a:t>Variables: </a:t>
            </a:r>
          </a:p>
          <a:p>
            <a:r>
              <a:rPr lang="es-PE" sz="2400" dirty="0"/>
              <a:t>Xi​ = 1 si el proyecto i es seleccionado, </a:t>
            </a:r>
          </a:p>
          <a:p>
            <a:r>
              <a:rPr lang="es-PE" sz="2400" dirty="0"/>
              <a:t>       0 en caso contrario.</a:t>
            </a:r>
          </a:p>
        </p:txBody>
      </p:sp>
      <p:sp>
        <p:nvSpPr>
          <p:cNvPr id="2" name="Rectangle 2">
            <a:extLst>
              <a:ext uri="{FF2B5EF4-FFF2-40B4-BE49-F238E27FC236}">
                <a16:creationId xmlns:a16="http://schemas.microsoft.com/office/drawing/2014/main" id="{76095A4C-67EB-803A-0694-EBB74C94EB0D}"/>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7</a:t>
            </a:r>
          </a:p>
        </p:txBody>
      </p:sp>
      <p:sp>
        <p:nvSpPr>
          <p:cNvPr id="6" name="CuadroTexto 5">
            <a:extLst>
              <a:ext uri="{FF2B5EF4-FFF2-40B4-BE49-F238E27FC236}">
                <a16:creationId xmlns:a16="http://schemas.microsoft.com/office/drawing/2014/main" id="{60B50A02-9B13-C714-4419-6E2AFE578901}"/>
              </a:ext>
            </a:extLst>
          </p:cNvPr>
          <p:cNvSpPr txBox="1"/>
          <p:nvPr/>
        </p:nvSpPr>
        <p:spPr>
          <a:xfrm>
            <a:off x="6105524" y="3771394"/>
            <a:ext cx="5859168" cy="1569660"/>
          </a:xfrm>
          <a:prstGeom prst="rect">
            <a:avLst/>
          </a:prstGeom>
          <a:solidFill>
            <a:schemeClr val="accent3">
              <a:lumMod val="40000"/>
              <a:lumOff val="60000"/>
            </a:schemeClr>
          </a:solidFill>
        </p:spPr>
        <p:txBody>
          <a:bodyPr wrap="square">
            <a:spAutoFit/>
          </a:bodyPr>
          <a:lstStyle>
            <a:defPPr>
              <a:defRPr lang="es-PE"/>
            </a:defPPr>
            <a:lvl1pPr>
              <a:defRPr sz="2400" b="1"/>
            </a:lvl1pPr>
          </a:lstStyle>
          <a:p>
            <a:r>
              <a:rPr lang="es-PE" dirty="0"/>
              <a:t>Restricciones:</a:t>
            </a:r>
          </a:p>
          <a:p>
            <a:r>
              <a:rPr lang="es-PE" b="0" dirty="0"/>
              <a:t>No exceder el presupuesto: </a:t>
            </a:r>
          </a:p>
          <a:p>
            <a:r>
              <a:rPr lang="es-PE" b="0" dirty="0" err="1"/>
              <a:t>5X1+4X2+7X3+6X4+3X5</a:t>
            </a:r>
            <a:r>
              <a:rPr lang="es-PE" b="0" dirty="0"/>
              <a:t>&lt;=15</a:t>
            </a:r>
          </a:p>
          <a:p>
            <a:r>
              <a:rPr lang="es-PE" b="0" dirty="0"/>
              <a:t>Xi&gt;=0, BINARIO</a:t>
            </a:r>
          </a:p>
        </p:txBody>
      </p:sp>
      <p:sp>
        <p:nvSpPr>
          <p:cNvPr id="9" name="CuadroTexto 8">
            <a:extLst>
              <a:ext uri="{FF2B5EF4-FFF2-40B4-BE49-F238E27FC236}">
                <a16:creationId xmlns:a16="http://schemas.microsoft.com/office/drawing/2014/main" id="{0BFB2EAB-48BC-2525-8723-C2C0DD604AE9}"/>
              </a:ext>
            </a:extLst>
          </p:cNvPr>
          <p:cNvSpPr txBox="1"/>
          <p:nvPr/>
        </p:nvSpPr>
        <p:spPr>
          <a:xfrm>
            <a:off x="6096000" y="2940397"/>
            <a:ext cx="5859168" cy="830997"/>
          </a:xfrm>
          <a:prstGeom prst="rect">
            <a:avLst/>
          </a:prstGeom>
          <a:solidFill>
            <a:schemeClr val="accent3">
              <a:lumMod val="40000"/>
              <a:lumOff val="60000"/>
            </a:schemeClr>
          </a:solidFill>
        </p:spPr>
        <p:txBody>
          <a:bodyPr wrap="square">
            <a:spAutoFit/>
          </a:bodyPr>
          <a:lstStyle>
            <a:defPPr>
              <a:defRPr lang="es-PE"/>
            </a:defPPr>
            <a:lvl1pPr>
              <a:defRPr sz="2400" b="1"/>
            </a:lvl1pPr>
          </a:lstStyle>
          <a:p>
            <a:r>
              <a:rPr lang="es-PE" dirty="0"/>
              <a:t>Función objetivo: </a:t>
            </a:r>
          </a:p>
          <a:p>
            <a:r>
              <a:rPr lang="es-PE" b="0" dirty="0"/>
              <a:t>Maximizar </a:t>
            </a:r>
            <a:r>
              <a:rPr lang="es-PE" b="0" dirty="0" err="1"/>
              <a:t>10X1+8X2+15X3+12X4+7X5</a:t>
            </a:r>
            <a:endParaRPr lang="es-PE" b="0" dirty="0"/>
          </a:p>
        </p:txBody>
      </p:sp>
      <p:sp>
        <p:nvSpPr>
          <p:cNvPr id="11" name="CuadroTexto 10">
            <a:extLst>
              <a:ext uri="{FF2B5EF4-FFF2-40B4-BE49-F238E27FC236}">
                <a16:creationId xmlns:a16="http://schemas.microsoft.com/office/drawing/2014/main" id="{6333FAC6-00A7-4026-8A8F-7F6A3878BABA}"/>
              </a:ext>
            </a:extLst>
          </p:cNvPr>
          <p:cNvSpPr txBox="1"/>
          <p:nvPr/>
        </p:nvSpPr>
        <p:spPr>
          <a:xfrm>
            <a:off x="2630078" y="5079444"/>
            <a:ext cx="3211907" cy="1815882"/>
          </a:xfrm>
          <a:prstGeom prst="rect">
            <a:avLst/>
          </a:prstGeom>
          <a:solidFill>
            <a:schemeClr val="accent5">
              <a:lumMod val="40000"/>
              <a:lumOff val="60000"/>
            </a:schemeClr>
          </a:solidFill>
        </p:spPr>
        <p:txBody>
          <a:bodyPr wrap="square">
            <a:spAutoFit/>
          </a:bodyPr>
          <a:lstStyle/>
          <a:p>
            <a:r>
              <a:rPr lang="es-PE" sz="1400" dirty="0"/>
              <a:t> </a:t>
            </a:r>
            <a:r>
              <a:rPr lang="es-PE" sz="1400" dirty="0" err="1"/>
              <a:t>OBJECTIVE</a:t>
            </a:r>
            <a:r>
              <a:rPr lang="es-PE" sz="1400" dirty="0"/>
              <a:t> </a:t>
            </a:r>
            <a:r>
              <a:rPr lang="es-PE" sz="1400" dirty="0" err="1"/>
              <a:t>FUNCTION</a:t>
            </a:r>
            <a:r>
              <a:rPr lang="es-PE" sz="1400" dirty="0"/>
              <a:t> </a:t>
            </a:r>
            <a:r>
              <a:rPr lang="es-PE" sz="1400" dirty="0" err="1"/>
              <a:t>VALUE</a:t>
            </a:r>
            <a:endParaRPr lang="es-PE" sz="1400" dirty="0"/>
          </a:p>
          <a:p>
            <a:r>
              <a:rPr lang="es-PE" sz="1400" dirty="0"/>
              <a:t>        1)      32.00000</a:t>
            </a:r>
          </a:p>
          <a:p>
            <a:r>
              <a:rPr lang="es-PE" sz="1400" dirty="0"/>
              <a:t>  VARIABLE        </a:t>
            </a:r>
            <a:r>
              <a:rPr lang="es-PE" sz="1400" dirty="0" err="1"/>
              <a:t>VALUE</a:t>
            </a:r>
            <a:r>
              <a:rPr lang="es-PE" sz="1400" dirty="0"/>
              <a:t>    </a:t>
            </a:r>
            <a:r>
              <a:rPr lang="es-PE" sz="1400" dirty="0" err="1"/>
              <a:t>REDUCED</a:t>
            </a:r>
            <a:r>
              <a:rPr lang="es-PE" sz="1400" dirty="0"/>
              <a:t> </a:t>
            </a:r>
            <a:r>
              <a:rPr lang="es-PE" sz="1400" dirty="0" err="1"/>
              <a:t>COST</a:t>
            </a:r>
            <a:endParaRPr lang="es-PE" sz="1400" dirty="0"/>
          </a:p>
          <a:p>
            <a:r>
              <a:rPr lang="es-PE" sz="1400" dirty="0"/>
              <a:t>        </a:t>
            </a:r>
            <a:r>
              <a:rPr lang="es-PE" sz="1400" dirty="0" err="1"/>
              <a:t>X1</a:t>
            </a:r>
            <a:r>
              <a:rPr lang="es-PE" sz="1400" dirty="0"/>
              <a:t>         1.000000        -10.000000</a:t>
            </a:r>
          </a:p>
          <a:p>
            <a:r>
              <a:rPr lang="es-PE" sz="1400" dirty="0"/>
              <a:t>        </a:t>
            </a:r>
            <a:r>
              <a:rPr lang="es-PE" sz="1400" dirty="0" err="1"/>
              <a:t>X2</a:t>
            </a:r>
            <a:r>
              <a:rPr lang="es-PE" sz="1400" dirty="0"/>
              <a:t>         0.000000         -8.000000</a:t>
            </a:r>
          </a:p>
          <a:p>
            <a:r>
              <a:rPr lang="es-PE" sz="1400" dirty="0"/>
              <a:t>        </a:t>
            </a:r>
            <a:r>
              <a:rPr lang="es-PE" sz="1400" dirty="0" err="1"/>
              <a:t>X3</a:t>
            </a:r>
            <a:r>
              <a:rPr lang="es-PE" sz="1400" dirty="0"/>
              <a:t>         1.000000        -15.000000</a:t>
            </a:r>
          </a:p>
          <a:p>
            <a:r>
              <a:rPr lang="es-PE" sz="1400" dirty="0"/>
              <a:t>        </a:t>
            </a:r>
            <a:r>
              <a:rPr lang="es-PE" sz="1400" dirty="0" err="1"/>
              <a:t>X4</a:t>
            </a:r>
            <a:r>
              <a:rPr lang="es-PE" sz="1400" dirty="0"/>
              <a:t>         0.000000        -12.000000</a:t>
            </a:r>
          </a:p>
          <a:p>
            <a:r>
              <a:rPr lang="es-PE" sz="1400" dirty="0"/>
              <a:t>        </a:t>
            </a:r>
            <a:r>
              <a:rPr lang="es-PE" sz="1400" dirty="0" err="1"/>
              <a:t>X5</a:t>
            </a:r>
            <a:r>
              <a:rPr lang="es-PE" sz="1400" dirty="0"/>
              <a:t>         1.000000         -7.000000</a:t>
            </a:r>
          </a:p>
        </p:txBody>
      </p:sp>
      <p:sp>
        <p:nvSpPr>
          <p:cNvPr id="13" name="CuadroTexto 12">
            <a:extLst>
              <a:ext uri="{FF2B5EF4-FFF2-40B4-BE49-F238E27FC236}">
                <a16:creationId xmlns:a16="http://schemas.microsoft.com/office/drawing/2014/main" id="{5074C66B-39FF-6399-A234-AACE77521977}"/>
              </a:ext>
            </a:extLst>
          </p:cNvPr>
          <p:cNvSpPr txBox="1"/>
          <p:nvPr/>
        </p:nvSpPr>
        <p:spPr>
          <a:xfrm>
            <a:off x="0" y="4826675"/>
            <a:ext cx="2630078" cy="2031325"/>
          </a:xfrm>
          <a:prstGeom prst="rect">
            <a:avLst/>
          </a:prstGeom>
          <a:solidFill>
            <a:srgbClr val="FFFF00"/>
          </a:solidFill>
        </p:spPr>
        <p:txBody>
          <a:bodyPr wrap="square">
            <a:spAutoFit/>
          </a:bodyPr>
          <a:lstStyle/>
          <a:p>
            <a:r>
              <a:rPr lang="es-PE" sz="1400" b="1" dirty="0"/>
              <a:t>Max </a:t>
            </a:r>
            <a:r>
              <a:rPr lang="es-PE" sz="1400" b="1" dirty="0" err="1"/>
              <a:t>10X1+8X2+15X3+12X4+7X5</a:t>
            </a:r>
            <a:endParaRPr lang="es-PE" sz="1400" b="1" dirty="0"/>
          </a:p>
          <a:p>
            <a:r>
              <a:rPr lang="es-PE" sz="1400" b="1" dirty="0" err="1">
                <a:solidFill>
                  <a:srgbClr val="FF0000"/>
                </a:solidFill>
              </a:rPr>
              <a:t>ST</a:t>
            </a:r>
            <a:endParaRPr lang="es-PE" sz="1400" b="1" dirty="0">
              <a:solidFill>
                <a:srgbClr val="FF0000"/>
              </a:solidFill>
            </a:endParaRPr>
          </a:p>
          <a:p>
            <a:r>
              <a:rPr lang="es-PE" sz="1400" b="1" dirty="0" err="1"/>
              <a:t>5X1+4X2+7X3+6X4+3X5</a:t>
            </a:r>
            <a:r>
              <a:rPr lang="es-PE" sz="1400" b="1" dirty="0"/>
              <a:t>&lt;=15</a:t>
            </a:r>
          </a:p>
          <a:p>
            <a:r>
              <a:rPr lang="es-PE" sz="1400" b="1" dirty="0" err="1">
                <a:solidFill>
                  <a:srgbClr val="FF0000"/>
                </a:solidFill>
              </a:rPr>
              <a:t>END</a:t>
            </a:r>
            <a:endParaRPr lang="es-PE" sz="1400" b="1" dirty="0">
              <a:solidFill>
                <a:srgbClr val="FF0000"/>
              </a:solidFill>
            </a:endParaRPr>
          </a:p>
          <a:p>
            <a:r>
              <a:rPr lang="es-PE" sz="1400" b="1" dirty="0" err="1"/>
              <a:t>INT</a:t>
            </a:r>
            <a:r>
              <a:rPr lang="es-PE" sz="1400" b="1" dirty="0"/>
              <a:t> </a:t>
            </a:r>
            <a:r>
              <a:rPr lang="es-PE" sz="1400" b="1" dirty="0" err="1"/>
              <a:t>X1</a:t>
            </a:r>
            <a:endParaRPr lang="es-PE" sz="1400" b="1" dirty="0"/>
          </a:p>
          <a:p>
            <a:r>
              <a:rPr lang="es-PE" sz="1400" b="1" dirty="0" err="1"/>
              <a:t>INT</a:t>
            </a:r>
            <a:r>
              <a:rPr lang="es-PE" sz="1400" b="1" dirty="0"/>
              <a:t> </a:t>
            </a:r>
            <a:r>
              <a:rPr lang="es-PE" sz="1400" b="1" dirty="0" err="1"/>
              <a:t>X2</a:t>
            </a:r>
            <a:endParaRPr lang="es-PE" sz="1400" b="1" dirty="0"/>
          </a:p>
          <a:p>
            <a:r>
              <a:rPr lang="es-PE" sz="1400" b="1" dirty="0" err="1"/>
              <a:t>INT</a:t>
            </a:r>
            <a:r>
              <a:rPr lang="es-PE" sz="1400" b="1" dirty="0"/>
              <a:t> </a:t>
            </a:r>
            <a:r>
              <a:rPr lang="es-PE" sz="1400" b="1" dirty="0" err="1"/>
              <a:t>X3</a:t>
            </a:r>
            <a:endParaRPr lang="es-PE" sz="1400" b="1" dirty="0"/>
          </a:p>
          <a:p>
            <a:r>
              <a:rPr lang="es-PE" sz="1400" b="1" dirty="0" err="1"/>
              <a:t>INT</a:t>
            </a:r>
            <a:r>
              <a:rPr lang="es-PE" sz="1400" b="1" dirty="0"/>
              <a:t> </a:t>
            </a:r>
            <a:r>
              <a:rPr lang="es-PE" sz="1400" b="1" dirty="0" err="1"/>
              <a:t>X4</a:t>
            </a:r>
            <a:endParaRPr lang="es-PE" sz="1400" b="1" dirty="0"/>
          </a:p>
          <a:p>
            <a:r>
              <a:rPr lang="es-PE" sz="1400" b="1" dirty="0" err="1"/>
              <a:t>INT</a:t>
            </a:r>
            <a:r>
              <a:rPr lang="es-PE" sz="1400" b="1" dirty="0"/>
              <a:t> </a:t>
            </a:r>
            <a:r>
              <a:rPr lang="es-PE" sz="1400" b="1" dirty="0" err="1"/>
              <a:t>X5</a:t>
            </a:r>
            <a:endParaRPr lang="es-PE" sz="1400" b="1" dirty="0"/>
          </a:p>
        </p:txBody>
      </p:sp>
    </p:spTree>
    <p:extLst>
      <p:ext uri="{BB962C8B-B14F-4D97-AF65-F5344CB8AC3E}">
        <p14:creationId xmlns:p14="http://schemas.microsoft.com/office/powerpoint/2010/main" val="172126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9"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CFE327F-1E39-27DD-FC11-18C6173FF740}"/>
              </a:ext>
            </a:extLst>
          </p:cNvPr>
          <p:cNvSpPr txBox="1"/>
          <p:nvPr/>
        </p:nvSpPr>
        <p:spPr>
          <a:xfrm>
            <a:off x="0" y="1313587"/>
            <a:ext cx="6105524" cy="1754326"/>
          </a:xfrm>
          <a:prstGeom prst="rect">
            <a:avLst/>
          </a:prstGeom>
          <a:noFill/>
        </p:spPr>
        <p:txBody>
          <a:bodyPr wrap="square">
            <a:spAutoFit/>
          </a:bodyPr>
          <a:lstStyle/>
          <a:p>
            <a:r>
              <a:rPr lang="es-ES" b="1" dirty="0"/>
              <a:t>Planificación de Producción</a:t>
            </a:r>
          </a:p>
          <a:p>
            <a:r>
              <a:rPr lang="es-ES" b="1" dirty="0"/>
              <a:t>Descripción:</a:t>
            </a:r>
          </a:p>
          <a:p>
            <a:r>
              <a:rPr lang="es-ES" dirty="0"/>
              <a:t>Una fábrica produce 3 productos. Cada producto requiere diferentes cantidades de 2 recursos, con disponibilidad limitada de recursos.</a:t>
            </a:r>
          </a:p>
          <a:p>
            <a:r>
              <a:rPr lang="es-ES" b="1" dirty="0"/>
              <a:t>Datos:</a:t>
            </a:r>
          </a:p>
        </p:txBody>
      </p:sp>
      <p:graphicFrame>
        <p:nvGraphicFramePr>
          <p:cNvPr id="5" name="Tabla 5">
            <a:extLst>
              <a:ext uri="{FF2B5EF4-FFF2-40B4-BE49-F238E27FC236}">
                <a16:creationId xmlns:a16="http://schemas.microsoft.com/office/drawing/2014/main" id="{7FBB6E12-464B-E21F-7DC4-F6FAE7488EE9}"/>
              </a:ext>
            </a:extLst>
          </p:cNvPr>
          <p:cNvGraphicFramePr>
            <a:graphicFrameLocks noGrp="1"/>
          </p:cNvGraphicFramePr>
          <p:nvPr>
            <p:extLst>
              <p:ext uri="{D42A27DB-BD31-4B8C-83A1-F6EECF244321}">
                <p14:modId xmlns:p14="http://schemas.microsoft.com/office/powerpoint/2010/main" val="2198301161"/>
              </p:ext>
            </p:extLst>
          </p:nvPr>
        </p:nvGraphicFramePr>
        <p:xfrm>
          <a:off x="0" y="3067913"/>
          <a:ext cx="6105524" cy="1828800"/>
        </p:xfrm>
        <a:graphic>
          <a:graphicData uri="http://schemas.openxmlformats.org/drawingml/2006/table">
            <a:tbl>
              <a:tblPr firstRow="1" bandRow="1">
                <a:tableStyleId>{5C22544A-7EE6-4342-B048-85BDC9FD1C3A}</a:tableStyleId>
              </a:tblPr>
              <a:tblGrid>
                <a:gridCol w="1526381">
                  <a:extLst>
                    <a:ext uri="{9D8B030D-6E8A-4147-A177-3AD203B41FA5}">
                      <a16:colId xmlns:a16="http://schemas.microsoft.com/office/drawing/2014/main" val="2186765625"/>
                    </a:ext>
                  </a:extLst>
                </a:gridCol>
                <a:gridCol w="1526381">
                  <a:extLst>
                    <a:ext uri="{9D8B030D-6E8A-4147-A177-3AD203B41FA5}">
                      <a16:colId xmlns:a16="http://schemas.microsoft.com/office/drawing/2014/main" val="3660055813"/>
                    </a:ext>
                  </a:extLst>
                </a:gridCol>
                <a:gridCol w="1526381">
                  <a:extLst>
                    <a:ext uri="{9D8B030D-6E8A-4147-A177-3AD203B41FA5}">
                      <a16:colId xmlns:a16="http://schemas.microsoft.com/office/drawing/2014/main" val="1428323251"/>
                    </a:ext>
                  </a:extLst>
                </a:gridCol>
                <a:gridCol w="1526381">
                  <a:extLst>
                    <a:ext uri="{9D8B030D-6E8A-4147-A177-3AD203B41FA5}">
                      <a16:colId xmlns:a16="http://schemas.microsoft.com/office/drawing/2014/main" val="2955417822"/>
                    </a:ext>
                  </a:extLst>
                </a:gridCol>
              </a:tblGrid>
              <a:tr h="350865">
                <a:tc>
                  <a:txBody>
                    <a:bodyPr/>
                    <a:lstStyle/>
                    <a:p>
                      <a:pPr algn="ctr"/>
                      <a:r>
                        <a:rPr lang="es-ES" dirty="0"/>
                        <a:t>Producto</a:t>
                      </a:r>
                      <a:endParaRPr lang="es-PE" dirty="0"/>
                    </a:p>
                  </a:txBody>
                  <a:tcPr/>
                </a:tc>
                <a:tc>
                  <a:txBody>
                    <a:bodyPr/>
                    <a:lstStyle/>
                    <a:p>
                      <a:pPr algn="ctr"/>
                      <a:r>
                        <a:rPr lang="es-ES" dirty="0"/>
                        <a:t>Recurso 1</a:t>
                      </a:r>
                      <a:endParaRPr lang="es-PE" dirty="0"/>
                    </a:p>
                  </a:txBody>
                  <a:tcPr/>
                </a:tc>
                <a:tc>
                  <a:txBody>
                    <a:bodyPr/>
                    <a:lstStyle/>
                    <a:p>
                      <a:pPr algn="ctr"/>
                      <a:r>
                        <a:rPr lang="es-ES" dirty="0"/>
                        <a:t>Recurso 2</a:t>
                      </a:r>
                      <a:endParaRPr lang="es-PE" dirty="0"/>
                    </a:p>
                  </a:txBody>
                  <a:tcPr/>
                </a:tc>
                <a:tc>
                  <a:txBody>
                    <a:bodyPr/>
                    <a:lstStyle/>
                    <a:p>
                      <a:pPr algn="ctr"/>
                      <a:r>
                        <a:rPr lang="es-ES" dirty="0"/>
                        <a:t>Beneficio</a:t>
                      </a:r>
                      <a:endParaRPr lang="es-PE" dirty="0"/>
                    </a:p>
                  </a:txBody>
                  <a:tcPr/>
                </a:tc>
                <a:extLst>
                  <a:ext uri="{0D108BD9-81ED-4DB2-BD59-A6C34878D82A}">
                    <a16:rowId xmlns:a16="http://schemas.microsoft.com/office/drawing/2014/main" val="2724649488"/>
                  </a:ext>
                </a:extLst>
              </a:tr>
              <a:tr h="350865">
                <a:tc>
                  <a:txBody>
                    <a:bodyPr/>
                    <a:lstStyle/>
                    <a:p>
                      <a:pPr algn="ctr"/>
                      <a:r>
                        <a:rPr lang="es-ES" dirty="0"/>
                        <a:t>1</a:t>
                      </a:r>
                      <a:endParaRPr lang="es-PE" dirty="0"/>
                    </a:p>
                  </a:txBody>
                  <a:tcPr/>
                </a:tc>
                <a:tc>
                  <a:txBody>
                    <a:bodyPr/>
                    <a:lstStyle/>
                    <a:p>
                      <a:pPr algn="ctr"/>
                      <a:r>
                        <a:rPr lang="es-ES" dirty="0"/>
                        <a:t>4</a:t>
                      </a:r>
                      <a:endParaRPr lang="es-PE" dirty="0"/>
                    </a:p>
                  </a:txBody>
                  <a:tcPr/>
                </a:tc>
                <a:tc>
                  <a:txBody>
                    <a:bodyPr/>
                    <a:lstStyle/>
                    <a:p>
                      <a:pPr algn="ctr"/>
                      <a:r>
                        <a:rPr lang="es-ES" dirty="0"/>
                        <a:t>3</a:t>
                      </a:r>
                      <a:endParaRPr lang="es-PE" dirty="0"/>
                    </a:p>
                  </a:txBody>
                  <a:tcPr/>
                </a:tc>
                <a:tc>
                  <a:txBody>
                    <a:bodyPr/>
                    <a:lstStyle/>
                    <a:p>
                      <a:pPr algn="ctr"/>
                      <a:r>
                        <a:rPr lang="es-ES" dirty="0"/>
                        <a:t>5</a:t>
                      </a:r>
                      <a:endParaRPr lang="es-PE" dirty="0"/>
                    </a:p>
                  </a:txBody>
                  <a:tcPr/>
                </a:tc>
                <a:extLst>
                  <a:ext uri="{0D108BD9-81ED-4DB2-BD59-A6C34878D82A}">
                    <a16:rowId xmlns:a16="http://schemas.microsoft.com/office/drawing/2014/main" val="498992219"/>
                  </a:ext>
                </a:extLst>
              </a:tr>
              <a:tr h="350865">
                <a:tc>
                  <a:txBody>
                    <a:bodyPr/>
                    <a:lstStyle/>
                    <a:p>
                      <a:pPr algn="ctr"/>
                      <a:r>
                        <a:rPr lang="es-ES" dirty="0"/>
                        <a:t>2</a:t>
                      </a:r>
                      <a:endParaRPr lang="es-PE" dirty="0"/>
                    </a:p>
                  </a:txBody>
                  <a:tcPr/>
                </a:tc>
                <a:tc>
                  <a:txBody>
                    <a:bodyPr/>
                    <a:lstStyle/>
                    <a:p>
                      <a:pPr algn="ctr"/>
                      <a:r>
                        <a:rPr lang="es-ES" dirty="0"/>
                        <a:t>3</a:t>
                      </a:r>
                      <a:endParaRPr lang="es-PE" dirty="0"/>
                    </a:p>
                  </a:txBody>
                  <a:tcPr/>
                </a:tc>
                <a:tc>
                  <a:txBody>
                    <a:bodyPr/>
                    <a:lstStyle/>
                    <a:p>
                      <a:pPr algn="ctr"/>
                      <a:r>
                        <a:rPr lang="es-ES" dirty="0"/>
                        <a:t>2</a:t>
                      </a:r>
                      <a:endParaRPr lang="es-PE" dirty="0"/>
                    </a:p>
                  </a:txBody>
                  <a:tcPr/>
                </a:tc>
                <a:tc>
                  <a:txBody>
                    <a:bodyPr/>
                    <a:lstStyle/>
                    <a:p>
                      <a:pPr algn="ctr"/>
                      <a:r>
                        <a:rPr lang="es-ES" dirty="0"/>
                        <a:t>4</a:t>
                      </a:r>
                      <a:endParaRPr lang="es-PE" dirty="0"/>
                    </a:p>
                  </a:txBody>
                  <a:tcPr/>
                </a:tc>
                <a:extLst>
                  <a:ext uri="{0D108BD9-81ED-4DB2-BD59-A6C34878D82A}">
                    <a16:rowId xmlns:a16="http://schemas.microsoft.com/office/drawing/2014/main" val="4198381079"/>
                  </a:ext>
                </a:extLst>
              </a:tr>
              <a:tr h="350865">
                <a:tc>
                  <a:txBody>
                    <a:bodyPr/>
                    <a:lstStyle/>
                    <a:p>
                      <a:pPr algn="ctr"/>
                      <a:r>
                        <a:rPr lang="es-ES" dirty="0"/>
                        <a:t>3</a:t>
                      </a:r>
                      <a:endParaRPr lang="es-PE" dirty="0"/>
                    </a:p>
                  </a:txBody>
                  <a:tcPr/>
                </a:tc>
                <a:tc>
                  <a:txBody>
                    <a:bodyPr/>
                    <a:lstStyle/>
                    <a:p>
                      <a:pPr algn="ctr"/>
                      <a:r>
                        <a:rPr lang="es-ES" dirty="0"/>
                        <a:t>5</a:t>
                      </a:r>
                      <a:endParaRPr lang="es-PE" dirty="0"/>
                    </a:p>
                  </a:txBody>
                  <a:tcPr/>
                </a:tc>
                <a:tc>
                  <a:txBody>
                    <a:bodyPr/>
                    <a:lstStyle/>
                    <a:p>
                      <a:pPr algn="ctr"/>
                      <a:r>
                        <a:rPr lang="es-ES" dirty="0"/>
                        <a:t>4</a:t>
                      </a:r>
                      <a:endParaRPr lang="es-PE" dirty="0"/>
                    </a:p>
                  </a:txBody>
                  <a:tcPr/>
                </a:tc>
                <a:tc>
                  <a:txBody>
                    <a:bodyPr/>
                    <a:lstStyle/>
                    <a:p>
                      <a:pPr algn="ctr"/>
                      <a:r>
                        <a:rPr lang="es-ES" dirty="0"/>
                        <a:t>7</a:t>
                      </a:r>
                      <a:endParaRPr lang="es-PE" dirty="0"/>
                    </a:p>
                  </a:txBody>
                  <a:tcPr/>
                </a:tc>
                <a:extLst>
                  <a:ext uri="{0D108BD9-81ED-4DB2-BD59-A6C34878D82A}">
                    <a16:rowId xmlns:a16="http://schemas.microsoft.com/office/drawing/2014/main" val="2382762803"/>
                  </a:ext>
                </a:extLst>
              </a:tr>
              <a:tr h="350865">
                <a:tc>
                  <a:txBody>
                    <a:bodyPr/>
                    <a:lstStyle/>
                    <a:p>
                      <a:pPr algn="ctr"/>
                      <a:r>
                        <a:rPr lang="es-ES" dirty="0"/>
                        <a:t>Disponibilidad</a:t>
                      </a:r>
                      <a:endParaRPr lang="es-PE" dirty="0"/>
                    </a:p>
                  </a:txBody>
                  <a:tcPr/>
                </a:tc>
                <a:tc>
                  <a:txBody>
                    <a:bodyPr/>
                    <a:lstStyle/>
                    <a:p>
                      <a:pPr algn="ctr"/>
                      <a:r>
                        <a:rPr lang="es-ES" dirty="0"/>
                        <a:t>10</a:t>
                      </a:r>
                      <a:endParaRPr lang="es-PE" dirty="0"/>
                    </a:p>
                  </a:txBody>
                  <a:tcPr/>
                </a:tc>
                <a:tc>
                  <a:txBody>
                    <a:bodyPr/>
                    <a:lstStyle/>
                    <a:p>
                      <a:pPr algn="ctr"/>
                      <a:r>
                        <a:rPr lang="es-ES" dirty="0"/>
                        <a:t>8</a:t>
                      </a:r>
                      <a:endParaRPr lang="es-PE" dirty="0"/>
                    </a:p>
                  </a:txBody>
                  <a:tcPr/>
                </a:tc>
                <a:tc>
                  <a:txBody>
                    <a:bodyPr/>
                    <a:lstStyle/>
                    <a:p>
                      <a:pPr algn="ctr"/>
                      <a:endParaRPr lang="es-PE" dirty="0"/>
                    </a:p>
                  </a:txBody>
                  <a:tcPr/>
                </a:tc>
                <a:extLst>
                  <a:ext uri="{0D108BD9-81ED-4DB2-BD59-A6C34878D82A}">
                    <a16:rowId xmlns:a16="http://schemas.microsoft.com/office/drawing/2014/main" val="690007019"/>
                  </a:ext>
                </a:extLst>
              </a:tr>
            </a:tbl>
          </a:graphicData>
        </a:graphic>
      </p:graphicFrame>
      <p:sp>
        <p:nvSpPr>
          <p:cNvPr id="7" name="CuadroTexto 6">
            <a:extLst>
              <a:ext uri="{FF2B5EF4-FFF2-40B4-BE49-F238E27FC236}">
                <a16:creationId xmlns:a16="http://schemas.microsoft.com/office/drawing/2014/main" id="{83E8E761-A5AB-8166-F275-46F23F306330}"/>
              </a:ext>
            </a:extLst>
          </p:cNvPr>
          <p:cNvSpPr txBox="1"/>
          <p:nvPr/>
        </p:nvSpPr>
        <p:spPr>
          <a:xfrm>
            <a:off x="6504943" y="1252624"/>
            <a:ext cx="4598486" cy="4154984"/>
          </a:xfrm>
          <a:prstGeom prst="rect">
            <a:avLst/>
          </a:prstGeom>
          <a:solidFill>
            <a:schemeClr val="accent3">
              <a:lumMod val="40000"/>
              <a:lumOff val="60000"/>
            </a:schemeClr>
          </a:solidFill>
        </p:spPr>
        <p:txBody>
          <a:bodyPr wrap="square">
            <a:spAutoFit/>
          </a:bodyPr>
          <a:lstStyle/>
          <a:p>
            <a:r>
              <a:rPr lang="es-PE" sz="2400" b="1" dirty="0">
                <a:solidFill>
                  <a:srgbClr val="FF0000"/>
                </a:solidFill>
              </a:rPr>
              <a:t>Identificación de las variables:</a:t>
            </a:r>
          </a:p>
          <a:p>
            <a:r>
              <a:rPr lang="es-PE" sz="2400" dirty="0"/>
              <a:t>xi​ = 1 si el producto i es producido, </a:t>
            </a:r>
          </a:p>
          <a:p>
            <a:r>
              <a:rPr lang="es-PE" sz="2400" dirty="0"/>
              <a:t>       0 en caso contrario.</a:t>
            </a:r>
          </a:p>
          <a:p>
            <a:r>
              <a:rPr lang="es-PE" sz="2400" b="1" dirty="0">
                <a:solidFill>
                  <a:srgbClr val="FF0000"/>
                </a:solidFill>
              </a:rPr>
              <a:t>Identificación de la </a:t>
            </a:r>
            <a:r>
              <a:rPr lang="es-PE" sz="2400" b="1" dirty="0" err="1">
                <a:solidFill>
                  <a:srgbClr val="FF0000"/>
                </a:solidFill>
              </a:rPr>
              <a:t>F.O</a:t>
            </a:r>
            <a:r>
              <a:rPr lang="es-PE" sz="2400" b="1" dirty="0">
                <a:solidFill>
                  <a:srgbClr val="FF0000"/>
                </a:solidFill>
              </a:rPr>
              <a:t>:</a:t>
            </a:r>
            <a:r>
              <a:rPr lang="es-PE" sz="2400" dirty="0"/>
              <a:t> </a:t>
            </a:r>
          </a:p>
          <a:p>
            <a:r>
              <a:rPr lang="es-PE" sz="2400" dirty="0"/>
              <a:t>Max 5X1+4X2+7X3​</a:t>
            </a:r>
          </a:p>
          <a:p>
            <a:r>
              <a:rPr lang="es-PE" sz="2400" b="1" dirty="0">
                <a:solidFill>
                  <a:srgbClr val="FF0000"/>
                </a:solidFill>
              </a:rPr>
              <a:t>Identificación de las Restricciones:</a:t>
            </a:r>
          </a:p>
          <a:p>
            <a:r>
              <a:rPr lang="es-PE" sz="2400" dirty="0"/>
              <a:t>Disponibilidad del recurso 1:</a:t>
            </a:r>
          </a:p>
          <a:p>
            <a:r>
              <a:rPr lang="es-PE" sz="2400" dirty="0"/>
              <a:t>4X1+3X2+5X3&lt;=10</a:t>
            </a:r>
          </a:p>
          <a:p>
            <a:r>
              <a:rPr lang="es-PE" sz="2400" dirty="0"/>
              <a:t>Disponibilidad del recurso 2:</a:t>
            </a:r>
          </a:p>
          <a:p>
            <a:r>
              <a:rPr lang="es-PE" sz="2400" dirty="0"/>
              <a:t>3X1+2X2+4X3&lt;=8</a:t>
            </a:r>
          </a:p>
          <a:p>
            <a:r>
              <a:rPr lang="es-PE" sz="2400" dirty="0"/>
              <a:t>Xi&gt;=0, BINARIO</a:t>
            </a:r>
          </a:p>
        </p:txBody>
      </p:sp>
      <p:sp>
        <p:nvSpPr>
          <p:cNvPr id="2" name="Rectangle 2">
            <a:extLst>
              <a:ext uri="{FF2B5EF4-FFF2-40B4-BE49-F238E27FC236}">
                <a16:creationId xmlns:a16="http://schemas.microsoft.com/office/drawing/2014/main" id="{41BB182B-8236-D135-36FE-EDDCFAEA8E22}"/>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8</a:t>
            </a:r>
          </a:p>
        </p:txBody>
      </p:sp>
      <p:sp>
        <p:nvSpPr>
          <p:cNvPr id="6" name="CuadroTexto 5">
            <a:extLst>
              <a:ext uri="{FF2B5EF4-FFF2-40B4-BE49-F238E27FC236}">
                <a16:creationId xmlns:a16="http://schemas.microsoft.com/office/drawing/2014/main" id="{D72F3E7D-F29B-68D8-A4B6-0B6882559435}"/>
              </a:ext>
            </a:extLst>
          </p:cNvPr>
          <p:cNvSpPr txBox="1"/>
          <p:nvPr/>
        </p:nvSpPr>
        <p:spPr>
          <a:xfrm>
            <a:off x="8534047" y="5103674"/>
            <a:ext cx="3653381" cy="1754326"/>
          </a:xfrm>
          <a:prstGeom prst="rect">
            <a:avLst/>
          </a:prstGeom>
          <a:solidFill>
            <a:schemeClr val="accent5">
              <a:lumMod val="40000"/>
              <a:lumOff val="60000"/>
            </a:schemeClr>
          </a:solidFill>
        </p:spPr>
        <p:txBody>
          <a:bodyPr wrap="square">
            <a:spAutoFit/>
          </a:bodyPr>
          <a:lstStyle/>
          <a:p>
            <a:r>
              <a:rPr lang="es-PE" b="1" dirty="0"/>
              <a:t> </a:t>
            </a:r>
            <a:r>
              <a:rPr lang="en-US" b="1" dirty="0"/>
              <a:t> OBJECTIVE FUNCTION VALUE</a:t>
            </a:r>
          </a:p>
          <a:p>
            <a:r>
              <a:rPr lang="en-US" b="1" dirty="0"/>
              <a:t>  1)      12.00000</a:t>
            </a:r>
          </a:p>
          <a:p>
            <a:r>
              <a:rPr lang="en-US" b="1" dirty="0"/>
              <a:t>  VARIABLE   VALUE    REDUCED COST</a:t>
            </a:r>
          </a:p>
          <a:p>
            <a:r>
              <a:rPr lang="en-US" b="1" dirty="0"/>
              <a:t>        </a:t>
            </a:r>
            <a:r>
              <a:rPr lang="en-US" b="1" dirty="0" err="1"/>
              <a:t>X1</a:t>
            </a:r>
            <a:r>
              <a:rPr lang="en-US" b="1" dirty="0"/>
              <a:t>         1.000000         -5.000000</a:t>
            </a:r>
          </a:p>
          <a:p>
            <a:r>
              <a:rPr lang="en-US" b="1" dirty="0"/>
              <a:t>        </a:t>
            </a:r>
            <a:r>
              <a:rPr lang="en-US" b="1" dirty="0" err="1"/>
              <a:t>X2</a:t>
            </a:r>
            <a:r>
              <a:rPr lang="en-US" b="1" dirty="0"/>
              <a:t>         0.000000         -4.000000</a:t>
            </a:r>
          </a:p>
          <a:p>
            <a:r>
              <a:rPr lang="en-US" b="1" dirty="0"/>
              <a:t>        </a:t>
            </a:r>
            <a:r>
              <a:rPr lang="en-US" b="1" dirty="0" err="1"/>
              <a:t>X3</a:t>
            </a:r>
            <a:r>
              <a:rPr lang="en-US" b="1" dirty="0"/>
              <a:t>         1.000000         -7.000000</a:t>
            </a:r>
            <a:endParaRPr lang="es-PE" b="1" dirty="0"/>
          </a:p>
        </p:txBody>
      </p:sp>
      <p:sp>
        <p:nvSpPr>
          <p:cNvPr id="9" name="CuadroTexto 8">
            <a:extLst>
              <a:ext uri="{FF2B5EF4-FFF2-40B4-BE49-F238E27FC236}">
                <a16:creationId xmlns:a16="http://schemas.microsoft.com/office/drawing/2014/main" id="{E9FE1A4F-E1BB-0E37-7495-DF62E84B54E4}"/>
              </a:ext>
            </a:extLst>
          </p:cNvPr>
          <p:cNvSpPr txBox="1"/>
          <p:nvPr/>
        </p:nvSpPr>
        <p:spPr>
          <a:xfrm>
            <a:off x="10148441" y="2795350"/>
            <a:ext cx="2016530" cy="2308324"/>
          </a:xfrm>
          <a:prstGeom prst="rect">
            <a:avLst/>
          </a:prstGeom>
          <a:solidFill>
            <a:srgbClr val="FFFF00"/>
          </a:solidFill>
        </p:spPr>
        <p:txBody>
          <a:bodyPr wrap="square">
            <a:spAutoFit/>
          </a:bodyPr>
          <a:lstStyle/>
          <a:p>
            <a:r>
              <a:rPr lang="es-PE" b="1" dirty="0"/>
              <a:t>Max </a:t>
            </a:r>
            <a:r>
              <a:rPr lang="es-PE" b="1" dirty="0" err="1"/>
              <a:t>5X1+4X2+7X3</a:t>
            </a:r>
            <a:endParaRPr lang="es-PE" b="1" dirty="0"/>
          </a:p>
          <a:p>
            <a:r>
              <a:rPr lang="es-PE" b="1" dirty="0" err="1"/>
              <a:t>ST</a:t>
            </a:r>
            <a:endParaRPr lang="es-PE" b="1" dirty="0"/>
          </a:p>
          <a:p>
            <a:r>
              <a:rPr lang="es-PE" b="1" dirty="0" err="1"/>
              <a:t>4X1+3X2+5X3</a:t>
            </a:r>
            <a:r>
              <a:rPr lang="es-PE" b="1" dirty="0"/>
              <a:t>&lt;=10</a:t>
            </a:r>
          </a:p>
          <a:p>
            <a:r>
              <a:rPr lang="es-PE" b="1" dirty="0" err="1"/>
              <a:t>3X1+2X2+4X3</a:t>
            </a:r>
            <a:r>
              <a:rPr lang="es-PE" b="1" dirty="0"/>
              <a:t>&lt;=8</a:t>
            </a:r>
          </a:p>
          <a:p>
            <a:r>
              <a:rPr lang="es-PE" b="1" dirty="0" err="1"/>
              <a:t>END</a:t>
            </a:r>
            <a:endParaRPr lang="es-PE" b="1" dirty="0"/>
          </a:p>
          <a:p>
            <a:r>
              <a:rPr lang="es-PE" b="1" dirty="0" err="1"/>
              <a:t>INT</a:t>
            </a:r>
            <a:r>
              <a:rPr lang="es-PE" b="1" dirty="0"/>
              <a:t> </a:t>
            </a:r>
            <a:r>
              <a:rPr lang="es-PE" b="1" dirty="0" err="1"/>
              <a:t>X1</a:t>
            </a:r>
            <a:endParaRPr lang="es-PE" b="1" dirty="0"/>
          </a:p>
          <a:p>
            <a:r>
              <a:rPr lang="es-PE" b="1" dirty="0" err="1"/>
              <a:t>INT</a:t>
            </a:r>
            <a:r>
              <a:rPr lang="es-PE" b="1" dirty="0"/>
              <a:t> </a:t>
            </a:r>
            <a:r>
              <a:rPr lang="es-PE" b="1" dirty="0" err="1"/>
              <a:t>X2</a:t>
            </a:r>
            <a:endParaRPr lang="es-PE" b="1" dirty="0"/>
          </a:p>
          <a:p>
            <a:r>
              <a:rPr lang="es-PE" b="1" dirty="0" err="1"/>
              <a:t>INT</a:t>
            </a:r>
            <a:r>
              <a:rPr lang="es-PE" b="1" dirty="0"/>
              <a:t> </a:t>
            </a:r>
            <a:r>
              <a:rPr lang="es-PE" b="1" dirty="0" err="1"/>
              <a:t>X3</a:t>
            </a:r>
            <a:endParaRPr lang="es-PE" b="1" dirty="0"/>
          </a:p>
        </p:txBody>
      </p:sp>
    </p:spTree>
    <p:extLst>
      <p:ext uri="{BB962C8B-B14F-4D97-AF65-F5344CB8AC3E}">
        <p14:creationId xmlns:p14="http://schemas.microsoft.com/office/powerpoint/2010/main" val="180928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B208F19-5CCF-7024-59E3-7585CCCAF3CB}"/>
              </a:ext>
            </a:extLst>
          </p:cNvPr>
          <p:cNvSpPr txBox="1"/>
          <p:nvPr/>
        </p:nvSpPr>
        <p:spPr>
          <a:xfrm>
            <a:off x="113211" y="1317103"/>
            <a:ext cx="5852160" cy="2308324"/>
          </a:xfrm>
          <a:prstGeom prst="rect">
            <a:avLst/>
          </a:prstGeom>
          <a:solidFill>
            <a:schemeClr val="accent4">
              <a:lumMod val="20000"/>
              <a:lumOff val="80000"/>
            </a:schemeClr>
          </a:solidFill>
        </p:spPr>
        <p:txBody>
          <a:bodyPr wrap="square">
            <a:spAutoFit/>
          </a:bodyPr>
          <a:lstStyle/>
          <a:p>
            <a:pPr algn="just"/>
            <a:r>
              <a:rPr lang="es-ES" sz="2400" b="1" dirty="0"/>
              <a:t>Localización de Instalaciones</a:t>
            </a:r>
          </a:p>
          <a:p>
            <a:pPr algn="just"/>
            <a:r>
              <a:rPr lang="es-ES" sz="2400" b="1" dirty="0"/>
              <a:t>Descripción:</a:t>
            </a:r>
          </a:p>
          <a:p>
            <a:pPr algn="just"/>
            <a:r>
              <a:rPr lang="es-ES" sz="2400" dirty="0"/>
              <a:t>Una empresa quiere decidir en qué ubicaciones construir nuevas instalaciones, con un presupuesto limitado.</a:t>
            </a:r>
          </a:p>
          <a:p>
            <a:pPr algn="just"/>
            <a:r>
              <a:rPr lang="es-ES" sz="2400" b="1" dirty="0"/>
              <a:t>Datos:</a:t>
            </a:r>
          </a:p>
        </p:txBody>
      </p:sp>
      <p:graphicFrame>
        <p:nvGraphicFramePr>
          <p:cNvPr id="5" name="Tabla 5">
            <a:extLst>
              <a:ext uri="{FF2B5EF4-FFF2-40B4-BE49-F238E27FC236}">
                <a16:creationId xmlns:a16="http://schemas.microsoft.com/office/drawing/2014/main" id="{64FEE724-6A43-83EC-386D-B26F6E2998A8}"/>
              </a:ext>
            </a:extLst>
          </p:cNvPr>
          <p:cNvGraphicFramePr>
            <a:graphicFrameLocks noGrp="1"/>
          </p:cNvGraphicFramePr>
          <p:nvPr>
            <p:extLst>
              <p:ext uri="{D42A27DB-BD31-4B8C-83A1-F6EECF244321}">
                <p14:modId xmlns:p14="http://schemas.microsoft.com/office/powerpoint/2010/main" val="3288097056"/>
              </p:ext>
            </p:extLst>
          </p:nvPr>
        </p:nvGraphicFramePr>
        <p:xfrm>
          <a:off x="113211" y="3632388"/>
          <a:ext cx="5852160" cy="2743200"/>
        </p:xfrm>
        <a:graphic>
          <a:graphicData uri="http://schemas.openxmlformats.org/drawingml/2006/table">
            <a:tbl>
              <a:tblPr firstRow="1" bandRow="1">
                <a:tableStyleId>{5C22544A-7EE6-4342-B048-85BDC9FD1C3A}</a:tableStyleId>
              </a:tblPr>
              <a:tblGrid>
                <a:gridCol w="2138859">
                  <a:extLst>
                    <a:ext uri="{9D8B030D-6E8A-4147-A177-3AD203B41FA5}">
                      <a16:colId xmlns:a16="http://schemas.microsoft.com/office/drawing/2014/main" val="3878176396"/>
                    </a:ext>
                  </a:extLst>
                </a:gridCol>
                <a:gridCol w="1762581">
                  <a:extLst>
                    <a:ext uri="{9D8B030D-6E8A-4147-A177-3AD203B41FA5}">
                      <a16:colId xmlns:a16="http://schemas.microsoft.com/office/drawing/2014/main" val="1952882458"/>
                    </a:ext>
                  </a:extLst>
                </a:gridCol>
                <a:gridCol w="1950720">
                  <a:extLst>
                    <a:ext uri="{9D8B030D-6E8A-4147-A177-3AD203B41FA5}">
                      <a16:colId xmlns:a16="http://schemas.microsoft.com/office/drawing/2014/main" val="1201711421"/>
                    </a:ext>
                  </a:extLst>
                </a:gridCol>
              </a:tblGrid>
              <a:tr h="343614">
                <a:tc>
                  <a:txBody>
                    <a:bodyPr/>
                    <a:lstStyle/>
                    <a:p>
                      <a:r>
                        <a:rPr lang="es-ES" sz="2400" dirty="0"/>
                        <a:t>Ubicación </a:t>
                      </a:r>
                      <a:endParaRPr lang="es-PE" sz="2400" dirty="0"/>
                    </a:p>
                  </a:txBody>
                  <a:tcPr/>
                </a:tc>
                <a:tc>
                  <a:txBody>
                    <a:bodyPr/>
                    <a:lstStyle/>
                    <a:p>
                      <a:r>
                        <a:rPr lang="es-ES" sz="2400" dirty="0"/>
                        <a:t>Costo</a:t>
                      </a:r>
                      <a:endParaRPr lang="es-PE" sz="2400" dirty="0"/>
                    </a:p>
                  </a:txBody>
                  <a:tcPr/>
                </a:tc>
                <a:tc>
                  <a:txBody>
                    <a:bodyPr/>
                    <a:lstStyle/>
                    <a:p>
                      <a:r>
                        <a:rPr lang="es-ES" sz="2400" dirty="0"/>
                        <a:t>Beneficio</a:t>
                      </a:r>
                      <a:endParaRPr lang="es-PE" sz="2400" dirty="0"/>
                    </a:p>
                  </a:txBody>
                  <a:tcPr/>
                </a:tc>
                <a:extLst>
                  <a:ext uri="{0D108BD9-81ED-4DB2-BD59-A6C34878D82A}">
                    <a16:rowId xmlns:a16="http://schemas.microsoft.com/office/drawing/2014/main" val="3342280262"/>
                  </a:ext>
                </a:extLst>
              </a:tr>
              <a:tr h="343614">
                <a:tc>
                  <a:txBody>
                    <a:bodyPr/>
                    <a:lstStyle/>
                    <a:p>
                      <a:r>
                        <a:rPr lang="es-ES" sz="2400" dirty="0"/>
                        <a:t>A</a:t>
                      </a:r>
                      <a:endParaRPr lang="es-PE" sz="2400" dirty="0"/>
                    </a:p>
                  </a:txBody>
                  <a:tcPr/>
                </a:tc>
                <a:tc>
                  <a:txBody>
                    <a:bodyPr/>
                    <a:lstStyle/>
                    <a:p>
                      <a:r>
                        <a:rPr lang="es-ES" sz="2400" dirty="0"/>
                        <a:t>8</a:t>
                      </a:r>
                      <a:endParaRPr lang="es-PE" sz="2400" dirty="0"/>
                    </a:p>
                  </a:txBody>
                  <a:tcPr/>
                </a:tc>
                <a:tc>
                  <a:txBody>
                    <a:bodyPr/>
                    <a:lstStyle/>
                    <a:p>
                      <a:r>
                        <a:rPr lang="es-ES" sz="2400" dirty="0"/>
                        <a:t>12</a:t>
                      </a:r>
                      <a:endParaRPr lang="es-PE" sz="2400" dirty="0"/>
                    </a:p>
                  </a:txBody>
                  <a:tcPr/>
                </a:tc>
                <a:extLst>
                  <a:ext uri="{0D108BD9-81ED-4DB2-BD59-A6C34878D82A}">
                    <a16:rowId xmlns:a16="http://schemas.microsoft.com/office/drawing/2014/main" val="2085986974"/>
                  </a:ext>
                </a:extLst>
              </a:tr>
              <a:tr h="343614">
                <a:tc>
                  <a:txBody>
                    <a:bodyPr/>
                    <a:lstStyle/>
                    <a:p>
                      <a:r>
                        <a:rPr lang="es-ES" sz="2400" dirty="0"/>
                        <a:t>B</a:t>
                      </a:r>
                      <a:endParaRPr lang="es-PE" sz="2400" dirty="0"/>
                    </a:p>
                  </a:txBody>
                  <a:tcPr/>
                </a:tc>
                <a:tc>
                  <a:txBody>
                    <a:bodyPr/>
                    <a:lstStyle/>
                    <a:p>
                      <a:r>
                        <a:rPr lang="es-ES" sz="2400" dirty="0"/>
                        <a:t>5</a:t>
                      </a:r>
                      <a:endParaRPr lang="es-PE" sz="2400" dirty="0"/>
                    </a:p>
                  </a:txBody>
                  <a:tcPr/>
                </a:tc>
                <a:tc>
                  <a:txBody>
                    <a:bodyPr/>
                    <a:lstStyle/>
                    <a:p>
                      <a:r>
                        <a:rPr lang="es-ES" sz="2400" dirty="0"/>
                        <a:t>8</a:t>
                      </a:r>
                      <a:endParaRPr lang="es-PE" sz="2400" dirty="0"/>
                    </a:p>
                  </a:txBody>
                  <a:tcPr/>
                </a:tc>
                <a:extLst>
                  <a:ext uri="{0D108BD9-81ED-4DB2-BD59-A6C34878D82A}">
                    <a16:rowId xmlns:a16="http://schemas.microsoft.com/office/drawing/2014/main" val="1570560716"/>
                  </a:ext>
                </a:extLst>
              </a:tr>
              <a:tr h="343614">
                <a:tc>
                  <a:txBody>
                    <a:bodyPr/>
                    <a:lstStyle/>
                    <a:p>
                      <a:r>
                        <a:rPr lang="es-ES" sz="2400" dirty="0"/>
                        <a:t>C</a:t>
                      </a:r>
                      <a:endParaRPr lang="es-PE" sz="2400" dirty="0"/>
                    </a:p>
                  </a:txBody>
                  <a:tcPr/>
                </a:tc>
                <a:tc>
                  <a:txBody>
                    <a:bodyPr/>
                    <a:lstStyle/>
                    <a:p>
                      <a:r>
                        <a:rPr lang="es-ES" sz="2400" dirty="0"/>
                        <a:t>6</a:t>
                      </a:r>
                      <a:endParaRPr lang="es-PE" sz="2400" dirty="0"/>
                    </a:p>
                  </a:txBody>
                  <a:tcPr/>
                </a:tc>
                <a:tc>
                  <a:txBody>
                    <a:bodyPr/>
                    <a:lstStyle/>
                    <a:p>
                      <a:r>
                        <a:rPr lang="es-ES" sz="2400" dirty="0"/>
                        <a:t>10</a:t>
                      </a:r>
                      <a:endParaRPr lang="es-PE" sz="2400" dirty="0"/>
                    </a:p>
                  </a:txBody>
                  <a:tcPr/>
                </a:tc>
                <a:extLst>
                  <a:ext uri="{0D108BD9-81ED-4DB2-BD59-A6C34878D82A}">
                    <a16:rowId xmlns:a16="http://schemas.microsoft.com/office/drawing/2014/main" val="427934217"/>
                  </a:ext>
                </a:extLst>
              </a:tr>
              <a:tr h="343614">
                <a:tc>
                  <a:txBody>
                    <a:bodyPr/>
                    <a:lstStyle/>
                    <a:p>
                      <a:r>
                        <a:rPr lang="es-ES" sz="2400" dirty="0"/>
                        <a:t>D</a:t>
                      </a:r>
                      <a:endParaRPr lang="es-PE" sz="2400" dirty="0"/>
                    </a:p>
                  </a:txBody>
                  <a:tcPr/>
                </a:tc>
                <a:tc>
                  <a:txBody>
                    <a:bodyPr/>
                    <a:lstStyle/>
                    <a:p>
                      <a:r>
                        <a:rPr lang="es-ES" sz="2400" dirty="0"/>
                        <a:t>7</a:t>
                      </a:r>
                      <a:endParaRPr lang="es-PE" sz="2400" dirty="0"/>
                    </a:p>
                  </a:txBody>
                  <a:tcPr/>
                </a:tc>
                <a:tc>
                  <a:txBody>
                    <a:bodyPr/>
                    <a:lstStyle/>
                    <a:p>
                      <a:r>
                        <a:rPr lang="es-ES" sz="2400" dirty="0"/>
                        <a:t>11</a:t>
                      </a:r>
                      <a:endParaRPr lang="es-PE" sz="2400" dirty="0"/>
                    </a:p>
                  </a:txBody>
                  <a:tcPr/>
                </a:tc>
                <a:extLst>
                  <a:ext uri="{0D108BD9-81ED-4DB2-BD59-A6C34878D82A}">
                    <a16:rowId xmlns:a16="http://schemas.microsoft.com/office/drawing/2014/main" val="1005509980"/>
                  </a:ext>
                </a:extLst>
              </a:tr>
              <a:tr h="343614">
                <a:tc>
                  <a:txBody>
                    <a:bodyPr/>
                    <a:lstStyle/>
                    <a:p>
                      <a:r>
                        <a:rPr lang="es-ES" sz="2400" dirty="0"/>
                        <a:t>Presupuesto</a:t>
                      </a:r>
                      <a:endParaRPr lang="es-PE" sz="2400" dirty="0"/>
                    </a:p>
                  </a:txBody>
                  <a:tcPr/>
                </a:tc>
                <a:tc>
                  <a:txBody>
                    <a:bodyPr/>
                    <a:lstStyle/>
                    <a:p>
                      <a:r>
                        <a:rPr lang="es-ES" sz="2400" dirty="0"/>
                        <a:t>15</a:t>
                      </a:r>
                      <a:endParaRPr lang="es-PE" sz="2400" dirty="0"/>
                    </a:p>
                  </a:txBody>
                  <a:tcPr/>
                </a:tc>
                <a:tc>
                  <a:txBody>
                    <a:bodyPr/>
                    <a:lstStyle/>
                    <a:p>
                      <a:endParaRPr lang="es-PE" sz="2400" dirty="0"/>
                    </a:p>
                  </a:txBody>
                  <a:tcPr/>
                </a:tc>
                <a:extLst>
                  <a:ext uri="{0D108BD9-81ED-4DB2-BD59-A6C34878D82A}">
                    <a16:rowId xmlns:a16="http://schemas.microsoft.com/office/drawing/2014/main" val="3678191654"/>
                  </a:ext>
                </a:extLst>
              </a:tr>
            </a:tbl>
          </a:graphicData>
        </a:graphic>
      </p:graphicFrame>
      <p:sp>
        <p:nvSpPr>
          <p:cNvPr id="7" name="CuadroTexto 6">
            <a:extLst>
              <a:ext uri="{FF2B5EF4-FFF2-40B4-BE49-F238E27FC236}">
                <a16:creationId xmlns:a16="http://schemas.microsoft.com/office/drawing/2014/main" id="{7CB3E4E0-4675-7957-C04F-60477A86B78F}"/>
              </a:ext>
            </a:extLst>
          </p:cNvPr>
          <p:cNvSpPr txBox="1"/>
          <p:nvPr/>
        </p:nvSpPr>
        <p:spPr>
          <a:xfrm>
            <a:off x="6096000" y="1233698"/>
            <a:ext cx="4902926" cy="3785652"/>
          </a:xfrm>
          <a:prstGeom prst="rect">
            <a:avLst/>
          </a:prstGeom>
          <a:solidFill>
            <a:schemeClr val="accent3">
              <a:lumMod val="40000"/>
              <a:lumOff val="60000"/>
            </a:schemeClr>
          </a:solidFill>
        </p:spPr>
        <p:txBody>
          <a:bodyPr wrap="square">
            <a:spAutoFit/>
          </a:bodyPr>
          <a:lstStyle/>
          <a:p>
            <a:r>
              <a:rPr lang="es-PE" sz="2400" b="1" dirty="0"/>
              <a:t>Formulación del Modelo:</a:t>
            </a:r>
          </a:p>
          <a:p>
            <a:r>
              <a:rPr lang="es-PE" sz="2400" dirty="0"/>
              <a:t>Variables: </a:t>
            </a:r>
          </a:p>
          <a:p>
            <a:r>
              <a:rPr lang="es-PE" sz="2400" dirty="0"/>
              <a:t>Xi​ = 1 si se construye en la ubicación i, </a:t>
            </a:r>
          </a:p>
          <a:p>
            <a:r>
              <a:rPr lang="es-PE" sz="2400" dirty="0"/>
              <a:t>       0 en caso contrario.</a:t>
            </a:r>
          </a:p>
          <a:p>
            <a:r>
              <a:rPr lang="es-PE" sz="2400" dirty="0"/>
              <a:t>Función objetivo: </a:t>
            </a:r>
          </a:p>
          <a:p>
            <a:r>
              <a:rPr lang="es-PE" sz="2400" dirty="0"/>
              <a:t>Max 12X1+8X2+10X3+11X4​</a:t>
            </a:r>
          </a:p>
          <a:p>
            <a:r>
              <a:rPr lang="es-PE" sz="2400" dirty="0"/>
              <a:t>Restricciones:</a:t>
            </a:r>
          </a:p>
          <a:p>
            <a:r>
              <a:rPr lang="es-PE" sz="2400" dirty="0"/>
              <a:t>No exceder el presupuesto: </a:t>
            </a:r>
          </a:p>
          <a:p>
            <a:r>
              <a:rPr lang="es-PE" sz="2400" dirty="0"/>
              <a:t>8X1+5X2+6X3+7X4​≤15</a:t>
            </a:r>
          </a:p>
          <a:p>
            <a:r>
              <a:rPr lang="es-PE" sz="2400" dirty="0"/>
              <a:t>Xi&gt;=0, BINARIO</a:t>
            </a:r>
          </a:p>
        </p:txBody>
      </p:sp>
      <p:sp>
        <p:nvSpPr>
          <p:cNvPr id="2" name="Rectangle 2">
            <a:extLst>
              <a:ext uri="{FF2B5EF4-FFF2-40B4-BE49-F238E27FC236}">
                <a16:creationId xmlns:a16="http://schemas.microsoft.com/office/drawing/2014/main" id="{2A3EDA48-8431-7E9A-062F-7A5466B43990}"/>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9</a:t>
            </a:r>
          </a:p>
        </p:txBody>
      </p:sp>
      <p:sp>
        <p:nvSpPr>
          <p:cNvPr id="6" name="CuadroTexto 5">
            <a:extLst>
              <a:ext uri="{FF2B5EF4-FFF2-40B4-BE49-F238E27FC236}">
                <a16:creationId xmlns:a16="http://schemas.microsoft.com/office/drawing/2014/main" id="{4D99C9A2-6A10-6673-3662-036FD3B0F8EC}"/>
              </a:ext>
            </a:extLst>
          </p:cNvPr>
          <p:cNvSpPr txBox="1"/>
          <p:nvPr/>
        </p:nvSpPr>
        <p:spPr>
          <a:xfrm>
            <a:off x="6096000" y="5036768"/>
            <a:ext cx="3313858" cy="1815882"/>
          </a:xfrm>
          <a:prstGeom prst="rect">
            <a:avLst/>
          </a:prstGeom>
          <a:solidFill>
            <a:schemeClr val="accent6">
              <a:lumMod val="40000"/>
              <a:lumOff val="60000"/>
            </a:schemeClr>
          </a:solidFill>
        </p:spPr>
        <p:txBody>
          <a:bodyPr wrap="square">
            <a:spAutoFit/>
          </a:bodyPr>
          <a:lstStyle/>
          <a:p>
            <a:r>
              <a:rPr lang="es-PE" sz="1600" b="1" dirty="0"/>
              <a:t> </a:t>
            </a:r>
            <a:r>
              <a:rPr lang="es-PE" sz="1600" b="1" dirty="0" err="1"/>
              <a:t>OBJECTIVE</a:t>
            </a:r>
            <a:r>
              <a:rPr lang="es-PE" sz="1600" b="1" dirty="0"/>
              <a:t> </a:t>
            </a:r>
            <a:r>
              <a:rPr lang="es-PE" sz="1600" b="1" dirty="0" err="1"/>
              <a:t>FUNCTION</a:t>
            </a:r>
            <a:r>
              <a:rPr lang="es-PE" sz="1600" b="1" dirty="0"/>
              <a:t> </a:t>
            </a:r>
            <a:r>
              <a:rPr lang="es-PE" sz="1600" b="1" dirty="0" err="1"/>
              <a:t>VALUE</a:t>
            </a:r>
            <a:endParaRPr lang="es-PE" sz="1600" b="1" dirty="0"/>
          </a:p>
          <a:p>
            <a:r>
              <a:rPr lang="es-PE" sz="1600" b="1" dirty="0"/>
              <a:t>        1)      23.00000</a:t>
            </a:r>
          </a:p>
          <a:p>
            <a:r>
              <a:rPr lang="es-PE" sz="1600" b="1" dirty="0"/>
              <a:t>  VARIABLE      </a:t>
            </a:r>
            <a:r>
              <a:rPr lang="es-PE" sz="1600" b="1" dirty="0" err="1"/>
              <a:t>VALUE</a:t>
            </a:r>
            <a:r>
              <a:rPr lang="es-PE" sz="1600" b="1" dirty="0"/>
              <a:t>  </a:t>
            </a:r>
            <a:r>
              <a:rPr lang="es-PE" sz="1600" b="1" dirty="0" err="1"/>
              <a:t>REDUCED</a:t>
            </a:r>
            <a:r>
              <a:rPr lang="es-PE" sz="1600" b="1" dirty="0"/>
              <a:t> </a:t>
            </a:r>
            <a:r>
              <a:rPr lang="es-PE" sz="1600" b="1" dirty="0" err="1"/>
              <a:t>COST</a:t>
            </a:r>
            <a:endParaRPr lang="es-PE" sz="1600" b="1" dirty="0"/>
          </a:p>
          <a:p>
            <a:r>
              <a:rPr lang="es-PE" sz="1600" b="1" dirty="0"/>
              <a:t>        </a:t>
            </a:r>
            <a:r>
              <a:rPr lang="es-PE" sz="1600" b="1" dirty="0" err="1"/>
              <a:t>X1</a:t>
            </a:r>
            <a:r>
              <a:rPr lang="es-PE" sz="1600" b="1" dirty="0"/>
              <a:t>         1.000000        -12.000000</a:t>
            </a:r>
          </a:p>
          <a:p>
            <a:r>
              <a:rPr lang="es-PE" sz="1600" b="1" dirty="0"/>
              <a:t>        </a:t>
            </a:r>
            <a:r>
              <a:rPr lang="es-PE" sz="1600" b="1" dirty="0" err="1"/>
              <a:t>X2</a:t>
            </a:r>
            <a:r>
              <a:rPr lang="es-PE" sz="1600" b="1" dirty="0"/>
              <a:t>         0.000000         -8.000000</a:t>
            </a:r>
          </a:p>
          <a:p>
            <a:r>
              <a:rPr lang="es-PE" sz="1600" b="1" dirty="0"/>
              <a:t>        </a:t>
            </a:r>
            <a:r>
              <a:rPr lang="es-PE" sz="1600" b="1" dirty="0" err="1"/>
              <a:t>X3</a:t>
            </a:r>
            <a:r>
              <a:rPr lang="es-PE" sz="1600" b="1" dirty="0"/>
              <a:t>         0.000000        -10.000000</a:t>
            </a:r>
          </a:p>
          <a:p>
            <a:r>
              <a:rPr lang="es-PE" sz="1600" b="1" dirty="0"/>
              <a:t>        </a:t>
            </a:r>
            <a:r>
              <a:rPr lang="es-PE" sz="1600" b="1" dirty="0" err="1"/>
              <a:t>X4</a:t>
            </a:r>
            <a:r>
              <a:rPr lang="es-PE" sz="1600" b="1" dirty="0"/>
              <a:t>         1.000000        -11.000000</a:t>
            </a:r>
          </a:p>
        </p:txBody>
      </p:sp>
      <p:sp>
        <p:nvSpPr>
          <p:cNvPr id="9" name="CuadroTexto 8">
            <a:extLst>
              <a:ext uri="{FF2B5EF4-FFF2-40B4-BE49-F238E27FC236}">
                <a16:creationId xmlns:a16="http://schemas.microsoft.com/office/drawing/2014/main" id="{5E5C32AA-9C48-C7CC-2435-D9D0568AAE79}"/>
              </a:ext>
            </a:extLst>
          </p:cNvPr>
          <p:cNvSpPr txBox="1"/>
          <p:nvPr/>
        </p:nvSpPr>
        <p:spPr>
          <a:xfrm>
            <a:off x="9410307" y="4795897"/>
            <a:ext cx="2754983" cy="2062103"/>
          </a:xfrm>
          <a:prstGeom prst="rect">
            <a:avLst/>
          </a:prstGeom>
          <a:solidFill>
            <a:srgbClr val="FFFF00"/>
          </a:solidFill>
        </p:spPr>
        <p:txBody>
          <a:bodyPr wrap="square">
            <a:spAutoFit/>
          </a:bodyPr>
          <a:lstStyle>
            <a:defPPr>
              <a:defRPr lang="es-PE"/>
            </a:defPPr>
            <a:lvl1pPr>
              <a:defRPr sz="1600" b="1"/>
            </a:lvl1pPr>
          </a:lstStyle>
          <a:p>
            <a:r>
              <a:rPr lang="es-PE" dirty="0"/>
              <a:t>Max </a:t>
            </a:r>
            <a:r>
              <a:rPr lang="es-PE" dirty="0" err="1"/>
              <a:t>12X1+8X2+10X3+11X4</a:t>
            </a:r>
            <a:endParaRPr lang="es-PE" dirty="0"/>
          </a:p>
          <a:p>
            <a:r>
              <a:rPr lang="es-PE" dirty="0" err="1"/>
              <a:t>ST</a:t>
            </a:r>
            <a:endParaRPr lang="es-PE" dirty="0"/>
          </a:p>
          <a:p>
            <a:r>
              <a:rPr lang="es-PE" dirty="0" err="1"/>
              <a:t>8X1+5X2+6X3+7X4</a:t>
            </a:r>
            <a:r>
              <a:rPr lang="es-PE" dirty="0"/>
              <a:t>&lt;=15</a:t>
            </a:r>
          </a:p>
          <a:p>
            <a:r>
              <a:rPr lang="es-PE" dirty="0" err="1"/>
              <a:t>END</a:t>
            </a:r>
            <a:endParaRPr lang="es-PE" dirty="0"/>
          </a:p>
          <a:p>
            <a:r>
              <a:rPr lang="es-PE" dirty="0" err="1"/>
              <a:t>INT</a:t>
            </a:r>
            <a:r>
              <a:rPr lang="es-PE" dirty="0"/>
              <a:t> </a:t>
            </a:r>
            <a:r>
              <a:rPr lang="es-PE" dirty="0" err="1"/>
              <a:t>X1</a:t>
            </a:r>
            <a:endParaRPr lang="es-PE" dirty="0"/>
          </a:p>
          <a:p>
            <a:r>
              <a:rPr lang="es-PE" dirty="0" err="1"/>
              <a:t>INT</a:t>
            </a:r>
            <a:r>
              <a:rPr lang="es-PE" dirty="0"/>
              <a:t> </a:t>
            </a:r>
            <a:r>
              <a:rPr lang="es-PE" dirty="0" err="1"/>
              <a:t>X2</a:t>
            </a:r>
            <a:endParaRPr lang="es-PE" dirty="0"/>
          </a:p>
          <a:p>
            <a:r>
              <a:rPr lang="es-PE" dirty="0" err="1"/>
              <a:t>INT</a:t>
            </a:r>
            <a:r>
              <a:rPr lang="es-PE" dirty="0"/>
              <a:t> </a:t>
            </a:r>
            <a:r>
              <a:rPr lang="es-PE" dirty="0" err="1"/>
              <a:t>X3</a:t>
            </a:r>
            <a:endParaRPr lang="es-PE" dirty="0"/>
          </a:p>
          <a:p>
            <a:r>
              <a:rPr lang="es-PE" dirty="0" err="1"/>
              <a:t>INT</a:t>
            </a:r>
            <a:r>
              <a:rPr lang="es-PE" dirty="0"/>
              <a:t> </a:t>
            </a:r>
            <a:r>
              <a:rPr lang="es-PE" dirty="0" err="1"/>
              <a:t>X4</a:t>
            </a:r>
            <a:endParaRPr lang="es-PE" dirty="0"/>
          </a:p>
        </p:txBody>
      </p:sp>
    </p:spTree>
    <p:extLst>
      <p:ext uri="{BB962C8B-B14F-4D97-AF65-F5344CB8AC3E}">
        <p14:creationId xmlns:p14="http://schemas.microsoft.com/office/powerpoint/2010/main" val="3136851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DFF7FC5-08BD-0BE4-3935-C48368B3EFF7}"/>
              </a:ext>
            </a:extLst>
          </p:cNvPr>
          <p:cNvSpPr txBox="1"/>
          <p:nvPr/>
        </p:nvSpPr>
        <p:spPr>
          <a:xfrm>
            <a:off x="0" y="1280636"/>
            <a:ext cx="6105524" cy="2308324"/>
          </a:xfrm>
          <a:prstGeom prst="rect">
            <a:avLst/>
          </a:prstGeom>
          <a:solidFill>
            <a:schemeClr val="accent4">
              <a:lumMod val="20000"/>
              <a:lumOff val="80000"/>
            </a:schemeClr>
          </a:solidFill>
        </p:spPr>
        <p:txBody>
          <a:bodyPr wrap="square">
            <a:spAutoFit/>
          </a:bodyPr>
          <a:lstStyle/>
          <a:p>
            <a:r>
              <a:rPr lang="es-ES" sz="2400" b="1" dirty="0"/>
              <a:t>Selección de Inversiones</a:t>
            </a:r>
          </a:p>
          <a:p>
            <a:r>
              <a:rPr lang="es-ES" sz="2400" b="1" dirty="0"/>
              <a:t>Descripción:</a:t>
            </a:r>
          </a:p>
          <a:p>
            <a:r>
              <a:rPr lang="es-ES" sz="2400" dirty="0"/>
              <a:t>Una empresa dispone de 4 opciones de inversión. Cada inversión tiene un costo y un retorno esperado.</a:t>
            </a:r>
          </a:p>
          <a:p>
            <a:r>
              <a:rPr lang="es-ES" sz="2400" b="1" dirty="0"/>
              <a:t>Datos:</a:t>
            </a:r>
          </a:p>
        </p:txBody>
      </p:sp>
      <p:graphicFrame>
        <p:nvGraphicFramePr>
          <p:cNvPr id="5" name="Tabla 5">
            <a:extLst>
              <a:ext uri="{FF2B5EF4-FFF2-40B4-BE49-F238E27FC236}">
                <a16:creationId xmlns:a16="http://schemas.microsoft.com/office/drawing/2014/main" id="{C5A23D52-6909-1147-6C4D-785E239AD686}"/>
              </a:ext>
            </a:extLst>
          </p:cNvPr>
          <p:cNvGraphicFramePr>
            <a:graphicFrameLocks noGrp="1"/>
          </p:cNvGraphicFramePr>
          <p:nvPr>
            <p:extLst>
              <p:ext uri="{D42A27DB-BD31-4B8C-83A1-F6EECF244321}">
                <p14:modId xmlns:p14="http://schemas.microsoft.com/office/powerpoint/2010/main" val="4231125326"/>
              </p:ext>
            </p:extLst>
          </p:nvPr>
        </p:nvGraphicFramePr>
        <p:xfrm>
          <a:off x="-9525" y="3588960"/>
          <a:ext cx="6105525" cy="2194560"/>
        </p:xfrm>
        <a:graphic>
          <a:graphicData uri="http://schemas.openxmlformats.org/drawingml/2006/table">
            <a:tbl>
              <a:tblPr firstRow="1" bandRow="1">
                <a:tableStyleId>{5C22544A-7EE6-4342-B048-85BDC9FD1C3A}</a:tableStyleId>
              </a:tblPr>
              <a:tblGrid>
                <a:gridCol w="2035175">
                  <a:extLst>
                    <a:ext uri="{9D8B030D-6E8A-4147-A177-3AD203B41FA5}">
                      <a16:colId xmlns:a16="http://schemas.microsoft.com/office/drawing/2014/main" val="3878176396"/>
                    </a:ext>
                  </a:extLst>
                </a:gridCol>
                <a:gridCol w="2035175">
                  <a:extLst>
                    <a:ext uri="{9D8B030D-6E8A-4147-A177-3AD203B41FA5}">
                      <a16:colId xmlns:a16="http://schemas.microsoft.com/office/drawing/2014/main" val="1952882458"/>
                    </a:ext>
                  </a:extLst>
                </a:gridCol>
                <a:gridCol w="2035175">
                  <a:extLst>
                    <a:ext uri="{9D8B030D-6E8A-4147-A177-3AD203B41FA5}">
                      <a16:colId xmlns:a16="http://schemas.microsoft.com/office/drawing/2014/main" val="1201711421"/>
                    </a:ext>
                  </a:extLst>
                </a:gridCol>
              </a:tblGrid>
              <a:tr h="343614">
                <a:tc>
                  <a:txBody>
                    <a:bodyPr/>
                    <a:lstStyle/>
                    <a:p>
                      <a:pPr algn="ctr"/>
                      <a:r>
                        <a:rPr lang="es-ES" dirty="0"/>
                        <a:t>Inversión </a:t>
                      </a:r>
                      <a:endParaRPr lang="es-PE" dirty="0"/>
                    </a:p>
                  </a:txBody>
                  <a:tcPr/>
                </a:tc>
                <a:tc>
                  <a:txBody>
                    <a:bodyPr/>
                    <a:lstStyle/>
                    <a:p>
                      <a:pPr algn="ctr"/>
                      <a:r>
                        <a:rPr lang="es-ES" dirty="0"/>
                        <a:t>Costo</a:t>
                      </a:r>
                      <a:endParaRPr lang="es-PE" dirty="0"/>
                    </a:p>
                  </a:txBody>
                  <a:tcPr/>
                </a:tc>
                <a:tc>
                  <a:txBody>
                    <a:bodyPr/>
                    <a:lstStyle/>
                    <a:p>
                      <a:pPr algn="ctr"/>
                      <a:r>
                        <a:rPr lang="es-ES" dirty="0"/>
                        <a:t>Retorno</a:t>
                      </a:r>
                      <a:endParaRPr lang="es-PE" dirty="0"/>
                    </a:p>
                  </a:txBody>
                  <a:tcPr/>
                </a:tc>
                <a:extLst>
                  <a:ext uri="{0D108BD9-81ED-4DB2-BD59-A6C34878D82A}">
                    <a16:rowId xmlns:a16="http://schemas.microsoft.com/office/drawing/2014/main" val="3342280262"/>
                  </a:ext>
                </a:extLst>
              </a:tr>
              <a:tr h="343614">
                <a:tc>
                  <a:txBody>
                    <a:bodyPr/>
                    <a:lstStyle/>
                    <a:p>
                      <a:pPr algn="ctr"/>
                      <a:r>
                        <a:rPr lang="es-ES" dirty="0"/>
                        <a:t>1</a:t>
                      </a:r>
                      <a:endParaRPr lang="es-PE" dirty="0"/>
                    </a:p>
                  </a:txBody>
                  <a:tcPr/>
                </a:tc>
                <a:tc>
                  <a:txBody>
                    <a:bodyPr/>
                    <a:lstStyle/>
                    <a:p>
                      <a:pPr algn="ctr"/>
                      <a:r>
                        <a:rPr lang="es-ES" dirty="0"/>
                        <a:t>6</a:t>
                      </a:r>
                      <a:endParaRPr lang="es-PE" dirty="0"/>
                    </a:p>
                  </a:txBody>
                  <a:tcPr/>
                </a:tc>
                <a:tc>
                  <a:txBody>
                    <a:bodyPr/>
                    <a:lstStyle/>
                    <a:p>
                      <a:pPr algn="ctr"/>
                      <a:r>
                        <a:rPr lang="es-ES" dirty="0"/>
                        <a:t>10</a:t>
                      </a:r>
                      <a:endParaRPr lang="es-PE" dirty="0"/>
                    </a:p>
                  </a:txBody>
                  <a:tcPr/>
                </a:tc>
                <a:extLst>
                  <a:ext uri="{0D108BD9-81ED-4DB2-BD59-A6C34878D82A}">
                    <a16:rowId xmlns:a16="http://schemas.microsoft.com/office/drawing/2014/main" val="2085986974"/>
                  </a:ext>
                </a:extLst>
              </a:tr>
              <a:tr h="343614">
                <a:tc>
                  <a:txBody>
                    <a:bodyPr/>
                    <a:lstStyle/>
                    <a:p>
                      <a:pPr algn="ctr"/>
                      <a:r>
                        <a:rPr lang="es-ES" dirty="0"/>
                        <a:t>2</a:t>
                      </a:r>
                      <a:endParaRPr lang="es-PE" dirty="0"/>
                    </a:p>
                  </a:txBody>
                  <a:tcPr/>
                </a:tc>
                <a:tc>
                  <a:txBody>
                    <a:bodyPr/>
                    <a:lstStyle/>
                    <a:p>
                      <a:pPr algn="ctr"/>
                      <a:r>
                        <a:rPr lang="es-ES" dirty="0"/>
                        <a:t>5</a:t>
                      </a:r>
                      <a:endParaRPr lang="es-PE" dirty="0"/>
                    </a:p>
                  </a:txBody>
                  <a:tcPr/>
                </a:tc>
                <a:tc>
                  <a:txBody>
                    <a:bodyPr/>
                    <a:lstStyle/>
                    <a:p>
                      <a:pPr algn="ctr"/>
                      <a:r>
                        <a:rPr lang="es-ES" dirty="0"/>
                        <a:t>9</a:t>
                      </a:r>
                      <a:endParaRPr lang="es-PE" dirty="0"/>
                    </a:p>
                  </a:txBody>
                  <a:tcPr/>
                </a:tc>
                <a:extLst>
                  <a:ext uri="{0D108BD9-81ED-4DB2-BD59-A6C34878D82A}">
                    <a16:rowId xmlns:a16="http://schemas.microsoft.com/office/drawing/2014/main" val="1570560716"/>
                  </a:ext>
                </a:extLst>
              </a:tr>
              <a:tr h="343614">
                <a:tc>
                  <a:txBody>
                    <a:bodyPr/>
                    <a:lstStyle/>
                    <a:p>
                      <a:pPr algn="ctr"/>
                      <a:r>
                        <a:rPr lang="es-ES" dirty="0"/>
                        <a:t>3</a:t>
                      </a:r>
                      <a:endParaRPr lang="es-PE" dirty="0"/>
                    </a:p>
                  </a:txBody>
                  <a:tcPr/>
                </a:tc>
                <a:tc>
                  <a:txBody>
                    <a:bodyPr/>
                    <a:lstStyle/>
                    <a:p>
                      <a:pPr algn="ctr"/>
                      <a:r>
                        <a:rPr lang="es-ES" dirty="0"/>
                        <a:t>7</a:t>
                      </a:r>
                      <a:endParaRPr lang="es-PE" dirty="0"/>
                    </a:p>
                  </a:txBody>
                  <a:tcPr/>
                </a:tc>
                <a:tc>
                  <a:txBody>
                    <a:bodyPr/>
                    <a:lstStyle/>
                    <a:p>
                      <a:pPr algn="ctr"/>
                      <a:r>
                        <a:rPr lang="es-ES" dirty="0"/>
                        <a:t>12</a:t>
                      </a:r>
                      <a:endParaRPr lang="es-PE" dirty="0"/>
                    </a:p>
                  </a:txBody>
                  <a:tcPr/>
                </a:tc>
                <a:extLst>
                  <a:ext uri="{0D108BD9-81ED-4DB2-BD59-A6C34878D82A}">
                    <a16:rowId xmlns:a16="http://schemas.microsoft.com/office/drawing/2014/main" val="427934217"/>
                  </a:ext>
                </a:extLst>
              </a:tr>
              <a:tr h="343614">
                <a:tc>
                  <a:txBody>
                    <a:bodyPr/>
                    <a:lstStyle/>
                    <a:p>
                      <a:pPr algn="ctr"/>
                      <a:r>
                        <a:rPr lang="es-ES" dirty="0"/>
                        <a:t>4</a:t>
                      </a:r>
                      <a:endParaRPr lang="es-PE" dirty="0"/>
                    </a:p>
                  </a:txBody>
                  <a:tcPr/>
                </a:tc>
                <a:tc>
                  <a:txBody>
                    <a:bodyPr/>
                    <a:lstStyle/>
                    <a:p>
                      <a:pPr algn="ctr"/>
                      <a:r>
                        <a:rPr lang="es-ES" dirty="0"/>
                        <a:t>4</a:t>
                      </a:r>
                      <a:endParaRPr lang="es-PE" dirty="0"/>
                    </a:p>
                  </a:txBody>
                  <a:tcPr/>
                </a:tc>
                <a:tc>
                  <a:txBody>
                    <a:bodyPr/>
                    <a:lstStyle/>
                    <a:p>
                      <a:pPr algn="ctr"/>
                      <a:r>
                        <a:rPr lang="es-ES" dirty="0"/>
                        <a:t>7</a:t>
                      </a:r>
                      <a:endParaRPr lang="es-PE" dirty="0"/>
                    </a:p>
                  </a:txBody>
                  <a:tcPr/>
                </a:tc>
                <a:extLst>
                  <a:ext uri="{0D108BD9-81ED-4DB2-BD59-A6C34878D82A}">
                    <a16:rowId xmlns:a16="http://schemas.microsoft.com/office/drawing/2014/main" val="1005509980"/>
                  </a:ext>
                </a:extLst>
              </a:tr>
              <a:tr h="343614">
                <a:tc>
                  <a:txBody>
                    <a:bodyPr/>
                    <a:lstStyle/>
                    <a:p>
                      <a:pPr algn="ctr"/>
                      <a:r>
                        <a:rPr lang="es-ES" dirty="0"/>
                        <a:t>Presupuesto</a:t>
                      </a:r>
                      <a:endParaRPr lang="es-PE" dirty="0"/>
                    </a:p>
                  </a:txBody>
                  <a:tcPr/>
                </a:tc>
                <a:tc>
                  <a:txBody>
                    <a:bodyPr/>
                    <a:lstStyle/>
                    <a:p>
                      <a:pPr algn="ctr"/>
                      <a:r>
                        <a:rPr lang="es-ES" dirty="0"/>
                        <a:t>12</a:t>
                      </a:r>
                      <a:endParaRPr lang="es-PE" dirty="0"/>
                    </a:p>
                  </a:txBody>
                  <a:tcPr/>
                </a:tc>
                <a:tc>
                  <a:txBody>
                    <a:bodyPr/>
                    <a:lstStyle/>
                    <a:p>
                      <a:pPr algn="ctr"/>
                      <a:endParaRPr lang="es-PE" dirty="0"/>
                    </a:p>
                  </a:txBody>
                  <a:tcPr/>
                </a:tc>
                <a:extLst>
                  <a:ext uri="{0D108BD9-81ED-4DB2-BD59-A6C34878D82A}">
                    <a16:rowId xmlns:a16="http://schemas.microsoft.com/office/drawing/2014/main" val="3678191654"/>
                  </a:ext>
                </a:extLst>
              </a:tr>
            </a:tbl>
          </a:graphicData>
        </a:graphic>
      </p:graphicFrame>
      <p:sp>
        <p:nvSpPr>
          <p:cNvPr id="7" name="CuadroTexto 6">
            <a:extLst>
              <a:ext uri="{FF2B5EF4-FFF2-40B4-BE49-F238E27FC236}">
                <a16:creationId xmlns:a16="http://schemas.microsoft.com/office/drawing/2014/main" id="{4189EFAB-956E-8C13-246B-9C05F44DA500}"/>
              </a:ext>
            </a:extLst>
          </p:cNvPr>
          <p:cNvSpPr txBox="1"/>
          <p:nvPr/>
        </p:nvSpPr>
        <p:spPr>
          <a:xfrm>
            <a:off x="6105524" y="1345853"/>
            <a:ext cx="6134100" cy="3785652"/>
          </a:xfrm>
          <a:prstGeom prst="rect">
            <a:avLst/>
          </a:prstGeom>
          <a:solidFill>
            <a:schemeClr val="accent3">
              <a:lumMod val="40000"/>
              <a:lumOff val="60000"/>
            </a:schemeClr>
          </a:solidFill>
        </p:spPr>
        <p:txBody>
          <a:bodyPr wrap="square">
            <a:spAutoFit/>
          </a:bodyPr>
          <a:lstStyle/>
          <a:p>
            <a:r>
              <a:rPr lang="es-PE" sz="2400" b="1" dirty="0"/>
              <a:t>Formulación del Modelo:</a:t>
            </a:r>
          </a:p>
          <a:p>
            <a:r>
              <a:rPr lang="es-PE" sz="2400" dirty="0"/>
              <a:t>Variables: </a:t>
            </a:r>
          </a:p>
          <a:p>
            <a:r>
              <a:rPr lang="es-PE" sz="2400" dirty="0"/>
              <a:t>Xi​ = 1 si la inversión i es seleccionada, </a:t>
            </a:r>
          </a:p>
          <a:p>
            <a:r>
              <a:rPr lang="es-PE" sz="2400" dirty="0"/>
              <a:t>        0 en caso contrario.</a:t>
            </a:r>
          </a:p>
          <a:p>
            <a:r>
              <a:rPr lang="es-PE" sz="2400" dirty="0"/>
              <a:t>Función objetivo: </a:t>
            </a:r>
          </a:p>
          <a:p>
            <a:r>
              <a:rPr lang="es-PE" sz="2400" dirty="0"/>
              <a:t>Max </a:t>
            </a:r>
            <a:r>
              <a:rPr lang="es-PE" sz="2400" dirty="0" err="1"/>
              <a:t>4X1+4X2+5X3+3X4</a:t>
            </a:r>
            <a:r>
              <a:rPr lang="es-PE" sz="2400" dirty="0"/>
              <a:t>​</a:t>
            </a:r>
          </a:p>
          <a:p>
            <a:r>
              <a:rPr lang="es-PE" sz="2400" dirty="0"/>
              <a:t>Restricciones:</a:t>
            </a:r>
          </a:p>
          <a:p>
            <a:r>
              <a:rPr lang="es-PE" sz="2400" dirty="0"/>
              <a:t>No exceder el presupuesto: </a:t>
            </a:r>
          </a:p>
          <a:p>
            <a:r>
              <a:rPr lang="es-PE" sz="2400" dirty="0"/>
              <a:t>6X1+5X2+7X3+4X4&lt;=12</a:t>
            </a:r>
          </a:p>
          <a:p>
            <a:r>
              <a:rPr lang="es-PE" sz="2400" dirty="0"/>
              <a:t>Xi&gt;=0, BINARIO</a:t>
            </a:r>
          </a:p>
        </p:txBody>
      </p:sp>
      <p:sp>
        <p:nvSpPr>
          <p:cNvPr id="2" name="Rectangle 2">
            <a:extLst>
              <a:ext uri="{FF2B5EF4-FFF2-40B4-BE49-F238E27FC236}">
                <a16:creationId xmlns:a16="http://schemas.microsoft.com/office/drawing/2014/main" id="{8D5A3E4E-A56A-206F-2634-3BAD11AD784D}"/>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10</a:t>
            </a:r>
          </a:p>
        </p:txBody>
      </p:sp>
      <p:sp>
        <p:nvSpPr>
          <p:cNvPr id="9" name="CuadroTexto 8">
            <a:extLst>
              <a:ext uri="{FF2B5EF4-FFF2-40B4-BE49-F238E27FC236}">
                <a16:creationId xmlns:a16="http://schemas.microsoft.com/office/drawing/2014/main" id="{913828BF-C8FF-9A5A-80B6-82DFC6223CDB}"/>
              </a:ext>
            </a:extLst>
          </p:cNvPr>
          <p:cNvSpPr txBox="1"/>
          <p:nvPr/>
        </p:nvSpPr>
        <p:spPr>
          <a:xfrm>
            <a:off x="6105524" y="5131505"/>
            <a:ext cx="3737432" cy="1600438"/>
          </a:xfrm>
          <a:prstGeom prst="rect">
            <a:avLst/>
          </a:prstGeom>
          <a:solidFill>
            <a:schemeClr val="accent6">
              <a:lumMod val="40000"/>
              <a:lumOff val="60000"/>
            </a:schemeClr>
          </a:solidFill>
        </p:spPr>
        <p:txBody>
          <a:bodyPr wrap="square">
            <a:spAutoFit/>
          </a:bodyPr>
          <a:lstStyle/>
          <a:p>
            <a:r>
              <a:rPr lang="es-PE" sz="1400" dirty="0"/>
              <a:t> </a:t>
            </a:r>
            <a:r>
              <a:rPr lang="es-PE" sz="1400" dirty="0" err="1"/>
              <a:t>OBJECTIVE</a:t>
            </a:r>
            <a:r>
              <a:rPr lang="es-PE" sz="1400" dirty="0"/>
              <a:t> </a:t>
            </a:r>
            <a:r>
              <a:rPr lang="es-PE" sz="1400" dirty="0" err="1"/>
              <a:t>FUNCTION</a:t>
            </a:r>
            <a:r>
              <a:rPr lang="es-PE" sz="1400" dirty="0"/>
              <a:t> </a:t>
            </a:r>
            <a:r>
              <a:rPr lang="es-PE" sz="1400" dirty="0" err="1"/>
              <a:t>VALUE</a:t>
            </a:r>
            <a:endParaRPr lang="es-PE" sz="1400" dirty="0"/>
          </a:p>
          <a:p>
            <a:r>
              <a:rPr lang="es-PE" sz="1400" dirty="0"/>
              <a:t>        1)      9.000000</a:t>
            </a:r>
          </a:p>
          <a:p>
            <a:r>
              <a:rPr lang="es-PE" sz="1400" dirty="0"/>
              <a:t>  VARIABLE        </a:t>
            </a:r>
            <a:r>
              <a:rPr lang="es-PE" sz="1400" dirty="0" err="1"/>
              <a:t>VALUE</a:t>
            </a:r>
            <a:r>
              <a:rPr lang="es-PE" sz="1400" dirty="0"/>
              <a:t>          </a:t>
            </a:r>
            <a:r>
              <a:rPr lang="es-PE" sz="1400" dirty="0" err="1"/>
              <a:t>REDUCED</a:t>
            </a:r>
            <a:r>
              <a:rPr lang="es-PE" sz="1400" dirty="0"/>
              <a:t> </a:t>
            </a:r>
            <a:r>
              <a:rPr lang="es-PE" sz="1400" dirty="0" err="1"/>
              <a:t>COST</a:t>
            </a:r>
            <a:endParaRPr lang="es-PE" sz="1400" dirty="0"/>
          </a:p>
          <a:p>
            <a:r>
              <a:rPr lang="es-PE" sz="1400" dirty="0"/>
              <a:t>        </a:t>
            </a:r>
            <a:r>
              <a:rPr lang="es-PE" sz="1400" dirty="0" err="1"/>
              <a:t>X1</a:t>
            </a:r>
            <a:r>
              <a:rPr lang="es-PE" sz="1400" dirty="0"/>
              <a:t>         0.000000         -4.000000</a:t>
            </a:r>
          </a:p>
          <a:p>
            <a:r>
              <a:rPr lang="es-PE" sz="1400" dirty="0"/>
              <a:t>        </a:t>
            </a:r>
            <a:r>
              <a:rPr lang="es-PE" sz="1400" dirty="0" err="1"/>
              <a:t>X2</a:t>
            </a:r>
            <a:r>
              <a:rPr lang="es-PE" sz="1400" dirty="0"/>
              <a:t>         1.000000         -4.000000</a:t>
            </a:r>
          </a:p>
          <a:p>
            <a:r>
              <a:rPr lang="es-PE" sz="1400" dirty="0"/>
              <a:t>        </a:t>
            </a:r>
            <a:r>
              <a:rPr lang="es-PE" sz="1400" dirty="0" err="1"/>
              <a:t>X3</a:t>
            </a:r>
            <a:r>
              <a:rPr lang="es-PE" sz="1400" dirty="0"/>
              <a:t>         1.000000         -5.000000</a:t>
            </a:r>
          </a:p>
          <a:p>
            <a:r>
              <a:rPr lang="es-PE" sz="1400" dirty="0"/>
              <a:t>        </a:t>
            </a:r>
            <a:r>
              <a:rPr lang="es-PE" sz="1400" dirty="0" err="1"/>
              <a:t>X4</a:t>
            </a:r>
            <a:r>
              <a:rPr lang="es-PE" sz="1400" dirty="0"/>
              <a:t>         0.000000         -3.000000</a:t>
            </a:r>
          </a:p>
        </p:txBody>
      </p:sp>
      <p:sp>
        <p:nvSpPr>
          <p:cNvPr id="11" name="CuadroTexto 10">
            <a:extLst>
              <a:ext uri="{FF2B5EF4-FFF2-40B4-BE49-F238E27FC236}">
                <a16:creationId xmlns:a16="http://schemas.microsoft.com/office/drawing/2014/main" id="{F06BD4A9-97AE-4BBA-5BDD-6CFD5DEF9782}"/>
              </a:ext>
            </a:extLst>
          </p:cNvPr>
          <p:cNvSpPr txBox="1"/>
          <p:nvPr/>
        </p:nvSpPr>
        <p:spPr>
          <a:xfrm>
            <a:off x="9804857" y="4669840"/>
            <a:ext cx="2406192" cy="2062103"/>
          </a:xfrm>
          <a:prstGeom prst="rect">
            <a:avLst/>
          </a:prstGeom>
          <a:solidFill>
            <a:srgbClr val="FFFF00"/>
          </a:solidFill>
        </p:spPr>
        <p:txBody>
          <a:bodyPr wrap="square">
            <a:spAutoFit/>
          </a:bodyPr>
          <a:lstStyle/>
          <a:p>
            <a:r>
              <a:rPr lang="es-PE" sz="1600" dirty="0"/>
              <a:t>Max </a:t>
            </a:r>
            <a:r>
              <a:rPr lang="es-PE" sz="1600" dirty="0" err="1"/>
              <a:t>4X1+4X2+5X3+3X4</a:t>
            </a:r>
            <a:endParaRPr lang="es-PE" sz="1600" dirty="0"/>
          </a:p>
          <a:p>
            <a:r>
              <a:rPr lang="es-PE" sz="1600" dirty="0" err="1"/>
              <a:t>ST</a:t>
            </a:r>
            <a:endParaRPr lang="es-PE" sz="1600" dirty="0"/>
          </a:p>
          <a:p>
            <a:r>
              <a:rPr lang="es-PE" sz="1600" dirty="0" err="1"/>
              <a:t>6X1+5X2+7X3+4X4</a:t>
            </a:r>
            <a:r>
              <a:rPr lang="es-PE" sz="1600" dirty="0"/>
              <a:t>&lt;=12</a:t>
            </a:r>
          </a:p>
          <a:p>
            <a:r>
              <a:rPr lang="es-PE" sz="1600" dirty="0" err="1"/>
              <a:t>END</a:t>
            </a:r>
            <a:endParaRPr lang="es-PE" sz="1600" dirty="0"/>
          </a:p>
          <a:p>
            <a:r>
              <a:rPr lang="es-PE" sz="1600" dirty="0" err="1"/>
              <a:t>INT</a:t>
            </a:r>
            <a:r>
              <a:rPr lang="es-PE" sz="1600" dirty="0"/>
              <a:t> </a:t>
            </a:r>
            <a:r>
              <a:rPr lang="es-PE" sz="1600" dirty="0" err="1"/>
              <a:t>X1</a:t>
            </a:r>
            <a:endParaRPr lang="es-PE" sz="1600" dirty="0"/>
          </a:p>
          <a:p>
            <a:r>
              <a:rPr lang="es-PE" sz="1600" dirty="0" err="1"/>
              <a:t>INT</a:t>
            </a:r>
            <a:r>
              <a:rPr lang="es-PE" sz="1600" dirty="0"/>
              <a:t> </a:t>
            </a:r>
            <a:r>
              <a:rPr lang="es-PE" sz="1600" dirty="0" err="1"/>
              <a:t>X2</a:t>
            </a:r>
            <a:endParaRPr lang="es-PE" sz="1600" dirty="0"/>
          </a:p>
          <a:p>
            <a:r>
              <a:rPr lang="es-PE" sz="1600" dirty="0" err="1"/>
              <a:t>INT</a:t>
            </a:r>
            <a:r>
              <a:rPr lang="es-PE" sz="1600" dirty="0"/>
              <a:t> </a:t>
            </a:r>
            <a:r>
              <a:rPr lang="es-PE" sz="1600" dirty="0" err="1"/>
              <a:t>X3</a:t>
            </a:r>
            <a:endParaRPr lang="es-PE" sz="1600" dirty="0"/>
          </a:p>
          <a:p>
            <a:r>
              <a:rPr lang="es-PE" sz="1600" dirty="0" err="1"/>
              <a:t>INT</a:t>
            </a:r>
            <a:r>
              <a:rPr lang="es-PE" sz="1600" dirty="0"/>
              <a:t> </a:t>
            </a:r>
            <a:r>
              <a:rPr lang="es-PE" sz="1600" dirty="0" err="1"/>
              <a:t>X4</a:t>
            </a:r>
            <a:endParaRPr lang="es-PE" sz="1600" dirty="0"/>
          </a:p>
        </p:txBody>
      </p:sp>
    </p:spTree>
    <p:extLst>
      <p:ext uri="{BB962C8B-B14F-4D97-AF65-F5344CB8AC3E}">
        <p14:creationId xmlns:p14="http://schemas.microsoft.com/office/powerpoint/2010/main" val="131171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304AC1B-E2FC-4DAF-425F-9D21D5CE61B5}"/>
              </a:ext>
            </a:extLst>
          </p:cNvPr>
          <p:cNvSpPr txBox="1"/>
          <p:nvPr/>
        </p:nvSpPr>
        <p:spPr>
          <a:xfrm>
            <a:off x="-1" y="1351687"/>
            <a:ext cx="6094929" cy="2677656"/>
          </a:xfrm>
          <a:prstGeom prst="rect">
            <a:avLst/>
          </a:prstGeom>
          <a:solidFill>
            <a:schemeClr val="accent4">
              <a:lumMod val="20000"/>
              <a:lumOff val="80000"/>
            </a:schemeClr>
          </a:solidFill>
        </p:spPr>
        <p:txBody>
          <a:bodyPr wrap="square">
            <a:spAutoFit/>
          </a:bodyPr>
          <a:lstStyle/>
          <a:p>
            <a:pPr algn="just"/>
            <a:r>
              <a:rPr lang="es-ES" sz="2400" b="1" dirty="0"/>
              <a:t>Diseño de Red de Telecomunicaciones</a:t>
            </a:r>
          </a:p>
          <a:p>
            <a:pPr algn="just"/>
            <a:r>
              <a:rPr lang="es-ES" sz="2400" b="1" dirty="0"/>
              <a:t>Descripción:</a:t>
            </a:r>
          </a:p>
          <a:p>
            <a:pPr algn="just"/>
            <a:r>
              <a:rPr lang="es-ES" sz="2400" dirty="0"/>
              <a:t>Una empresa de telecomunicaciones quiere determinar qué enlaces instalar en una red de 4 nodos para garantizar la conectividad total al menor costo.</a:t>
            </a:r>
          </a:p>
          <a:p>
            <a:pPr algn="just"/>
            <a:r>
              <a:rPr lang="es-ES" sz="2400" b="1" dirty="0"/>
              <a:t>Datos:</a:t>
            </a:r>
          </a:p>
        </p:txBody>
      </p:sp>
      <p:graphicFrame>
        <p:nvGraphicFramePr>
          <p:cNvPr id="5" name="Tabla 5">
            <a:extLst>
              <a:ext uri="{FF2B5EF4-FFF2-40B4-BE49-F238E27FC236}">
                <a16:creationId xmlns:a16="http://schemas.microsoft.com/office/drawing/2014/main" id="{512F19C2-B872-5881-4785-382647023602}"/>
              </a:ext>
            </a:extLst>
          </p:cNvPr>
          <p:cNvGraphicFramePr>
            <a:graphicFrameLocks noGrp="1"/>
          </p:cNvGraphicFramePr>
          <p:nvPr>
            <p:extLst>
              <p:ext uri="{D42A27DB-BD31-4B8C-83A1-F6EECF244321}">
                <p14:modId xmlns:p14="http://schemas.microsoft.com/office/powerpoint/2010/main" val="2336982340"/>
              </p:ext>
            </p:extLst>
          </p:nvPr>
        </p:nvGraphicFramePr>
        <p:xfrm>
          <a:off x="274120" y="3723956"/>
          <a:ext cx="1950721" cy="2842665"/>
        </p:xfrm>
        <a:graphic>
          <a:graphicData uri="http://schemas.openxmlformats.org/drawingml/2006/table">
            <a:tbl>
              <a:tblPr firstRow="1" bandRow="1">
                <a:tableStyleId>{5C22544A-7EE6-4342-B048-85BDC9FD1C3A}</a:tableStyleId>
              </a:tblPr>
              <a:tblGrid>
                <a:gridCol w="1175926">
                  <a:extLst>
                    <a:ext uri="{9D8B030D-6E8A-4147-A177-3AD203B41FA5}">
                      <a16:colId xmlns:a16="http://schemas.microsoft.com/office/drawing/2014/main" val="188008651"/>
                    </a:ext>
                  </a:extLst>
                </a:gridCol>
                <a:gridCol w="774795">
                  <a:extLst>
                    <a:ext uri="{9D8B030D-6E8A-4147-A177-3AD203B41FA5}">
                      <a16:colId xmlns:a16="http://schemas.microsoft.com/office/drawing/2014/main" val="2374271521"/>
                    </a:ext>
                  </a:extLst>
                </a:gridCol>
              </a:tblGrid>
              <a:tr h="406095">
                <a:tc>
                  <a:txBody>
                    <a:bodyPr/>
                    <a:lstStyle/>
                    <a:p>
                      <a:pPr algn="ctr"/>
                      <a:r>
                        <a:rPr lang="es-ES" dirty="0" err="1"/>
                        <a:t>Enlase</a:t>
                      </a:r>
                      <a:r>
                        <a:rPr lang="es-ES" dirty="0"/>
                        <a:t> (</a:t>
                      </a:r>
                      <a:r>
                        <a:rPr lang="es-ES" dirty="0" err="1"/>
                        <a:t>i,j</a:t>
                      </a:r>
                      <a:r>
                        <a:rPr lang="es-ES" dirty="0"/>
                        <a:t>)</a:t>
                      </a:r>
                      <a:endParaRPr lang="es-PE" dirty="0"/>
                    </a:p>
                  </a:txBody>
                  <a:tcPr/>
                </a:tc>
                <a:tc>
                  <a:txBody>
                    <a:bodyPr/>
                    <a:lstStyle/>
                    <a:p>
                      <a:pPr algn="ctr"/>
                      <a:r>
                        <a:rPr lang="es-ES" dirty="0"/>
                        <a:t>Costo</a:t>
                      </a:r>
                      <a:endParaRPr lang="es-PE" dirty="0"/>
                    </a:p>
                  </a:txBody>
                  <a:tcPr/>
                </a:tc>
                <a:extLst>
                  <a:ext uri="{0D108BD9-81ED-4DB2-BD59-A6C34878D82A}">
                    <a16:rowId xmlns:a16="http://schemas.microsoft.com/office/drawing/2014/main" val="1061503894"/>
                  </a:ext>
                </a:extLst>
              </a:tr>
              <a:tr h="406095">
                <a:tc>
                  <a:txBody>
                    <a:bodyPr/>
                    <a:lstStyle/>
                    <a:p>
                      <a:pPr algn="ctr"/>
                      <a:r>
                        <a:rPr lang="es-ES" dirty="0"/>
                        <a:t>(1,2)</a:t>
                      </a:r>
                      <a:endParaRPr lang="es-PE" dirty="0"/>
                    </a:p>
                  </a:txBody>
                  <a:tcPr/>
                </a:tc>
                <a:tc>
                  <a:txBody>
                    <a:bodyPr/>
                    <a:lstStyle/>
                    <a:p>
                      <a:pPr algn="ctr"/>
                      <a:r>
                        <a:rPr lang="es-ES" dirty="0"/>
                        <a:t>4</a:t>
                      </a:r>
                      <a:endParaRPr lang="es-PE" dirty="0"/>
                    </a:p>
                  </a:txBody>
                  <a:tcPr/>
                </a:tc>
                <a:extLst>
                  <a:ext uri="{0D108BD9-81ED-4DB2-BD59-A6C34878D82A}">
                    <a16:rowId xmlns:a16="http://schemas.microsoft.com/office/drawing/2014/main" val="310902585"/>
                  </a:ext>
                </a:extLst>
              </a:tr>
              <a:tr h="406095">
                <a:tc>
                  <a:txBody>
                    <a:bodyPr/>
                    <a:lstStyle/>
                    <a:p>
                      <a:pPr algn="ctr"/>
                      <a:r>
                        <a:rPr lang="es-ES" dirty="0"/>
                        <a:t>(1,3)</a:t>
                      </a:r>
                      <a:endParaRPr lang="es-PE" dirty="0"/>
                    </a:p>
                  </a:txBody>
                  <a:tcPr/>
                </a:tc>
                <a:tc>
                  <a:txBody>
                    <a:bodyPr/>
                    <a:lstStyle/>
                    <a:p>
                      <a:pPr algn="ctr"/>
                      <a:r>
                        <a:rPr lang="es-ES" dirty="0"/>
                        <a:t>6</a:t>
                      </a:r>
                      <a:endParaRPr lang="es-PE" dirty="0"/>
                    </a:p>
                  </a:txBody>
                  <a:tcPr/>
                </a:tc>
                <a:extLst>
                  <a:ext uri="{0D108BD9-81ED-4DB2-BD59-A6C34878D82A}">
                    <a16:rowId xmlns:a16="http://schemas.microsoft.com/office/drawing/2014/main" val="2339883012"/>
                  </a:ext>
                </a:extLst>
              </a:tr>
              <a:tr h="406095">
                <a:tc>
                  <a:txBody>
                    <a:bodyPr/>
                    <a:lstStyle/>
                    <a:p>
                      <a:pPr algn="ctr"/>
                      <a:r>
                        <a:rPr lang="es-ES" dirty="0"/>
                        <a:t>(1,4)</a:t>
                      </a:r>
                      <a:endParaRPr lang="es-PE" dirty="0"/>
                    </a:p>
                  </a:txBody>
                  <a:tcPr/>
                </a:tc>
                <a:tc>
                  <a:txBody>
                    <a:bodyPr/>
                    <a:lstStyle/>
                    <a:p>
                      <a:pPr algn="ctr"/>
                      <a:r>
                        <a:rPr lang="es-ES" dirty="0"/>
                        <a:t>8</a:t>
                      </a:r>
                      <a:endParaRPr lang="es-PE" dirty="0"/>
                    </a:p>
                  </a:txBody>
                  <a:tcPr/>
                </a:tc>
                <a:extLst>
                  <a:ext uri="{0D108BD9-81ED-4DB2-BD59-A6C34878D82A}">
                    <a16:rowId xmlns:a16="http://schemas.microsoft.com/office/drawing/2014/main" val="1597970602"/>
                  </a:ext>
                </a:extLst>
              </a:tr>
              <a:tr h="406095">
                <a:tc>
                  <a:txBody>
                    <a:bodyPr/>
                    <a:lstStyle/>
                    <a:p>
                      <a:pPr algn="ctr"/>
                      <a:r>
                        <a:rPr lang="es-ES" dirty="0"/>
                        <a:t>(2,3)</a:t>
                      </a:r>
                      <a:endParaRPr lang="es-PE" dirty="0"/>
                    </a:p>
                  </a:txBody>
                  <a:tcPr/>
                </a:tc>
                <a:tc>
                  <a:txBody>
                    <a:bodyPr/>
                    <a:lstStyle/>
                    <a:p>
                      <a:pPr algn="ctr"/>
                      <a:r>
                        <a:rPr lang="es-ES" dirty="0"/>
                        <a:t>5</a:t>
                      </a:r>
                      <a:endParaRPr lang="es-PE" dirty="0"/>
                    </a:p>
                  </a:txBody>
                  <a:tcPr/>
                </a:tc>
                <a:extLst>
                  <a:ext uri="{0D108BD9-81ED-4DB2-BD59-A6C34878D82A}">
                    <a16:rowId xmlns:a16="http://schemas.microsoft.com/office/drawing/2014/main" val="4287002919"/>
                  </a:ext>
                </a:extLst>
              </a:tr>
              <a:tr h="406095">
                <a:tc>
                  <a:txBody>
                    <a:bodyPr/>
                    <a:lstStyle/>
                    <a:p>
                      <a:pPr algn="ctr"/>
                      <a:r>
                        <a:rPr lang="es-ES" dirty="0"/>
                        <a:t>(2,4)</a:t>
                      </a:r>
                      <a:endParaRPr lang="es-PE" dirty="0"/>
                    </a:p>
                  </a:txBody>
                  <a:tcPr/>
                </a:tc>
                <a:tc>
                  <a:txBody>
                    <a:bodyPr/>
                    <a:lstStyle/>
                    <a:p>
                      <a:pPr algn="ctr"/>
                      <a:r>
                        <a:rPr lang="es-ES" dirty="0"/>
                        <a:t>7</a:t>
                      </a:r>
                      <a:endParaRPr lang="es-PE" dirty="0"/>
                    </a:p>
                  </a:txBody>
                  <a:tcPr/>
                </a:tc>
                <a:extLst>
                  <a:ext uri="{0D108BD9-81ED-4DB2-BD59-A6C34878D82A}">
                    <a16:rowId xmlns:a16="http://schemas.microsoft.com/office/drawing/2014/main" val="1200950941"/>
                  </a:ext>
                </a:extLst>
              </a:tr>
              <a:tr h="406095">
                <a:tc>
                  <a:txBody>
                    <a:bodyPr/>
                    <a:lstStyle/>
                    <a:p>
                      <a:pPr algn="ctr"/>
                      <a:r>
                        <a:rPr lang="es-ES" dirty="0"/>
                        <a:t>(3,4)</a:t>
                      </a:r>
                      <a:endParaRPr lang="es-PE" dirty="0"/>
                    </a:p>
                  </a:txBody>
                  <a:tcPr/>
                </a:tc>
                <a:tc>
                  <a:txBody>
                    <a:bodyPr/>
                    <a:lstStyle/>
                    <a:p>
                      <a:pPr algn="ctr"/>
                      <a:r>
                        <a:rPr lang="es-ES" dirty="0"/>
                        <a:t>3</a:t>
                      </a:r>
                      <a:endParaRPr lang="es-PE" dirty="0"/>
                    </a:p>
                  </a:txBody>
                  <a:tcPr/>
                </a:tc>
                <a:extLst>
                  <a:ext uri="{0D108BD9-81ED-4DB2-BD59-A6C34878D82A}">
                    <a16:rowId xmlns:a16="http://schemas.microsoft.com/office/drawing/2014/main" val="3938144351"/>
                  </a:ext>
                </a:extLst>
              </a:tr>
            </a:tbl>
          </a:graphicData>
        </a:graphic>
      </p:graphicFrame>
      <p:sp>
        <p:nvSpPr>
          <p:cNvPr id="7" name="CuadroTexto 6">
            <a:extLst>
              <a:ext uri="{FF2B5EF4-FFF2-40B4-BE49-F238E27FC236}">
                <a16:creationId xmlns:a16="http://schemas.microsoft.com/office/drawing/2014/main" id="{3CFFF750-57D1-E72F-0564-053F2EFFC416}"/>
              </a:ext>
            </a:extLst>
          </p:cNvPr>
          <p:cNvSpPr txBox="1"/>
          <p:nvPr/>
        </p:nvSpPr>
        <p:spPr>
          <a:xfrm>
            <a:off x="6096000" y="1192047"/>
            <a:ext cx="6134100" cy="4524315"/>
          </a:xfrm>
          <a:prstGeom prst="rect">
            <a:avLst/>
          </a:prstGeom>
          <a:solidFill>
            <a:schemeClr val="accent3">
              <a:lumMod val="40000"/>
              <a:lumOff val="60000"/>
            </a:schemeClr>
          </a:solidFill>
        </p:spPr>
        <p:txBody>
          <a:bodyPr wrap="square">
            <a:spAutoFit/>
          </a:bodyPr>
          <a:lstStyle/>
          <a:p>
            <a:r>
              <a:rPr lang="es-ES" sz="2400" b="1" dirty="0">
                <a:solidFill>
                  <a:srgbClr val="FF0000"/>
                </a:solidFill>
              </a:rPr>
              <a:t>Identificación de las variables: </a:t>
            </a:r>
          </a:p>
          <a:p>
            <a:r>
              <a:rPr lang="es-ES" sz="2400" b="1" dirty="0" err="1"/>
              <a:t>Xij</a:t>
            </a:r>
            <a:r>
              <a:rPr lang="es-ES" sz="2400" b="1" dirty="0"/>
              <a:t>​ = 1 si el enlace es instalado,    </a:t>
            </a:r>
          </a:p>
          <a:p>
            <a:r>
              <a:rPr lang="es-ES" sz="2400" b="1" dirty="0"/>
              <a:t>         0 en caso contrario.</a:t>
            </a:r>
          </a:p>
          <a:p>
            <a:r>
              <a:rPr lang="es-ES" sz="2400" b="1" dirty="0">
                <a:solidFill>
                  <a:srgbClr val="FF0000"/>
                </a:solidFill>
              </a:rPr>
              <a:t>Identificación de la función objetivo: </a:t>
            </a:r>
          </a:p>
          <a:p>
            <a:r>
              <a:rPr lang="es-ES" sz="2400" b="1" dirty="0"/>
              <a:t>Min 4X12+6X13+8X14+5X23+7X24+3X34​</a:t>
            </a:r>
          </a:p>
          <a:p>
            <a:r>
              <a:rPr lang="es-ES" sz="2400" b="1" dirty="0">
                <a:solidFill>
                  <a:srgbClr val="FF0000"/>
                </a:solidFill>
              </a:rPr>
              <a:t>Identificación  de las r</a:t>
            </a:r>
            <a:r>
              <a:rPr lang="es-ES" sz="2400" b="1" dirty="0"/>
              <a:t>estricciones:</a:t>
            </a:r>
          </a:p>
          <a:p>
            <a:r>
              <a:rPr lang="es-ES" sz="2400" b="1" dirty="0" err="1"/>
              <a:t>X12+X13+X23</a:t>
            </a:r>
            <a:r>
              <a:rPr lang="es-ES" sz="2400" b="1" dirty="0"/>
              <a:t>&lt;=2</a:t>
            </a:r>
          </a:p>
          <a:p>
            <a:r>
              <a:rPr lang="es-ES" sz="2400" b="1" dirty="0" err="1"/>
              <a:t>X12+X14+X24</a:t>
            </a:r>
            <a:r>
              <a:rPr lang="es-ES" sz="2400" b="1" dirty="0"/>
              <a:t>&lt;=2</a:t>
            </a:r>
          </a:p>
          <a:p>
            <a:r>
              <a:rPr lang="es-ES" sz="2400" b="1" dirty="0" err="1"/>
              <a:t>X13+X14+X34</a:t>
            </a:r>
            <a:r>
              <a:rPr lang="es-ES" sz="2400" b="1" dirty="0"/>
              <a:t>&lt;=2</a:t>
            </a:r>
          </a:p>
          <a:p>
            <a:r>
              <a:rPr lang="es-ES" sz="2400" b="1" dirty="0" err="1"/>
              <a:t>X23+X24+X34</a:t>
            </a:r>
            <a:r>
              <a:rPr lang="es-ES" sz="2400" b="1" dirty="0"/>
              <a:t>&lt;=2</a:t>
            </a:r>
          </a:p>
          <a:p>
            <a:r>
              <a:rPr lang="es-ES" sz="2400" b="1" dirty="0" err="1"/>
              <a:t>X12+X13+X14</a:t>
            </a:r>
            <a:r>
              <a:rPr lang="es-ES" sz="2400" b="1" dirty="0"/>
              <a:t>+</a:t>
            </a:r>
          </a:p>
          <a:p>
            <a:r>
              <a:rPr lang="es-ES" sz="2400" b="1" dirty="0" err="1"/>
              <a:t>X23+X24+X34</a:t>
            </a:r>
            <a:r>
              <a:rPr lang="es-ES" sz="2400" b="1" dirty="0"/>
              <a:t>&lt;=3​</a:t>
            </a:r>
          </a:p>
        </p:txBody>
      </p:sp>
      <p:sp>
        <p:nvSpPr>
          <p:cNvPr id="2" name="Elipse 1">
            <a:extLst>
              <a:ext uri="{FF2B5EF4-FFF2-40B4-BE49-F238E27FC236}">
                <a16:creationId xmlns:a16="http://schemas.microsoft.com/office/drawing/2014/main" id="{D148DB2E-6448-E71E-C871-FE734B13D0AC}"/>
              </a:ext>
            </a:extLst>
          </p:cNvPr>
          <p:cNvSpPr/>
          <p:nvPr/>
        </p:nvSpPr>
        <p:spPr>
          <a:xfrm>
            <a:off x="2364219" y="4138409"/>
            <a:ext cx="371959" cy="418455"/>
          </a:xfrm>
          <a:prstGeom prst="ellipse">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1</a:t>
            </a:r>
            <a:endParaRPr lang="es-PE" sz="2000" dirty="0">
              <a:solidFill>
                <a:schemeClr val="tx1"/>
              </a:solidFill>
            </a:endParaRPr>
          </a:p>
        </p:txBody>
      </p:sp>
      <p:sp>
        <p:nvSpPr>
          <p:cNvPr id="8" name="Elipse 7">
            <a:extLst>
              <a:ext uri="{FF2B5EF4-FFF2-40B4-BE49-F238E27FC236}">
                <a16:creationId xmlns:a16="http://schemas.microsoft.com/office/drawing/2014/main" id="{E03D5CC0-4359-1D51-CCCB-A5851BAE96EF}"/>
              </a:ext>
            </a:extLst>
          </p:cNvPr>
          <p:cNvSpPr/>
          <p:nvPr/>
        </p:nvSpPr>
        <p:spPr>
          <a:xfrm>
            <a:off x="5131120" y="4151194"/>
            <a:ext cx="371959" cy="418455"/>
          </a:xfrm>
          <a:prstGeom prst="ellipse">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4</a:t>
            </a:r>
            <a:endParaRPr lang="es-PE" sz="2000" dirty="0">
              <a:solidFill>
                <a:schemeClr val="tx1"/>
              </a:solidFill>
            </a:endParaRPr>
          </a:p>
        </p:txBody>
      </p:sp>
      <p:sp>
        <p:nvSpPr>
          <p:cNvPr id="9" name="Elipse 8">
            <a:extLst>
              <a:ext uri="{FF2B5EF4-FFF2-40B4-BE49-F238E27FC236}">
                <a16:creationId xmlns:a16="http://schemas.microsoft.com/office/drawing/2014/main" id="{41CE38A0-73F3-83D6-B687-5068DBA52E96}"/>
              </a:ext>
            </a:extLst>
          </p:cNvPr>
          <p:cNvSpPr/>
          <p:nvPr/>
        </p:nvSpPr>
        <p:spPr>
          <a:xfrm>
            <a:off x="3707615" y="4585229"/>
            <a:ext cx="371959" cy="418455"/>
          </a:xfrm>
          <a:prstGeom prst="ellipse">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3</a:t>
            </a:r>
            <a:endParaRPr lang="es-PE" sz="2000" dirty="0">
              <a:solidFill>
                <a:schemeClr val="tx1"/>
              </a:solidFill>
            </a:endParaRPr>
          </a:p>
        </p:txBody>
      </p:sp>
      <p:sp>
        <p:nvSpPr>
          <p:cNvPr id="10" name="Elipse 9">
            <a:extLst>
              <a:ext uri="{FF2B5EF4-FFF2-40B4-BE49-F238E27FC236}">
                <a16:creationId xmlns:a16="http://schemas.microsoft.com/office/drawing/2014/main" id="{C4FAACCD-8361-9BB6-4EB3-FE7397A612BE}"/>
              </a:ext>
            </a:extLst>
          </p:cNvPr>
          <p:cNvSpPr/>
          <p:nvPr/>
        </p:nvSpPr>
        <p:spPr>
          <a:xfrm>
            <a:off x="3707615" y="3724406"/>
            <a:ext cx="371959" cy="418455"/>
          </a:xfrm>
          <a:prstGeom prst="ellipse">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2</a:t>
            </a:r>
            <a:endParaRPr lang="es-PE" sz="2000" dirty="0">
              <a:solidFill>
                <a:schemeClr val="tx1"/>
              </a:solidFill>
            </a:endParaRPr>
          </a:p>
        </p:txBody>
      </p:sp>
      <p:cxnSp>
        <p:nvCxnSpPr>
          <p:cNvPr id="12" name="Conector recto de flecha 11">
            <a:extLst>
              <a:ext uri="{FF2B5EF4-FFF2-40B4-BE49-F238E27FC236}">
                <a16:creationId xmlns:a16="http://schemas.microsoft.com/office/drawing/2014/main" id="{FE5AE180-E072-4FAE-2F5E-F0F32CC6BF07}"/>
              </a:ext>
            </a:extLst>
          </p:cNvPr>
          <p:cNvCxnSpPr>
            <a:stCxn id="2" idx="6"/>
            <a:endCxn id="10" idx="2"/>
          </p:cNvCxnSpPr>
          <p:nvPr/>
        </p:nvCxnSpPr>
        <p:spPr>
          <a:xfrm flipV="1">
            <a:off x="2736178" y="3933634"/>
            <a:ext cx="971437" cy="414003"/>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832146BA-5AF1-84F2-03AB-8DDD75E45279}"/>
              </a:ext>
            </a:extLst>
          </p:cNvPr>
          <p:cNvCxnSpPr>
            <a:cxnSpLocks/>
            <a:stCxn id="2" idx="6"/>
            <a:endCxn id="9" idx="2"/>
          </p:cNvCxnSpPr>
          <p:nvPr/>
        </p:nvCxnSpPr>
        <p:spPr>
          <a:xfrm>
            <a:off x="2736178" y="4347637"/>
            <a:ext cx="971437" cy="44682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5D179759-4AAD-83C5-9E5E-BA29D2C07423}"/>
              </a:ext>
            </a:extLst>
          </p:cNvPr>
          <p:cNvCxnSpPr>
            <a:cxnSpLocks/>
            <a:stCxn id="2" idx="6"/>
            <a:endCxn id="8" idx="2"/>
          </p:cNvCxnSpPr>
          <p:nvPr/>
        </p:nvCxnSpPr>
        <p:spPr>
          <a:xfrm>
            <a:off x="2736178" y="4347637"/>
            <a:ext cx="2394942" cy="1278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230FDEA1-1C6C-F64E-258C-6BE64B40FF79}"/>
              </a:ext>
            </a:extLst>
          </p:cNvPr>
          <p:cNvCxnSpPr>
            <a:cxnSpLocks/>
            <a:endCxn id="9" idx="0"/>
          </p:cNvCxnSpPr>
          <p:nvPr/>
        </p:nvCxnSpPr>
        <p:spPr>
          <a:xfrm>
            <a:off x="3893594" y="4138409"/>
            <a:ext cx="1" cy="44682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CCDA7AF9-0811-9C56-DBC4-A2332D27ED54}"/>
              </a:ext>
            </a:extLst>
          </p:cNvPr>
          <p:cNvCxnSpPr>
            <a:cxnSpLocks/>
            <a:stCxn id="10" idx="6"/>
            <a:endCxn id="8" idx="2"/>
          </p:cNvCxnSpPr>
          <p:nvPr/>
        </p:nvCxnSpPr>
        <p:spPr>
          <a:xfrm>
            <a:off x="4079574" y="3933634"/>
            <a:ext cx="1051546" cy="42678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15D97105-C849-3B70-8C3F-18CEA2015ABF}"/>
              </a:ext>
            </a:extLst>
          </p:cNvPr>
          <p:cNvCxnSpPr>
            <a:cxnSpLocks/>
            <a:stCxn id="9" idx="6"/>
            <a:endCxn id="8" idx="2"/>
          </p:cNvCxnSpPr>
          <p:nvPr/>
        </p:nvCxnSpPr>
        <p:spPr>
          <a:xfrm flipV="1">
            <a:off x="4079574" y="4360422"/>
            <a:ext cx="1051546" cy="43403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24D629A-B89B-8BD2-E08B-74E33D5D51F3}"/>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11</a:t>
            </a:r>
          </a:p>
        </p:txBody>
      </p:sp>
      <p:sp>
        <p:nvSpPr>
          <p:cNvPr id="25" name="CuadroTexto 24">
            <a:extLst>
              <a:ext uri="{FF2B5EF4-FFF2-40B4-BE49-F238E27FC236}">
                <a16:creationId xmlns:a16="http://schemas.microsoft.com/office/drawing/2014/main" id="{5FBFDFB4-2BDF-E30A-C7F9-61E1BE7EEFA8}"/>
              </a:ext>
            </a:extLst>
          </p:cNvPr>
          <p:cNvSpPr txBox="1"/>
          <p:nvPr/>
        </p:nvSpPr>
        <p:spPr>
          <a:xfrm>
            <a:off x="2952206" y="3814354"/>
            <a:ext cx="278674" cy="400110"/>
          </a:xfrm>
          <a:prstGeom prst="rect">
            <a:avLst/>
          </a:prstGeom>
          <a:noFill/>
        </p:spPr>
        <p:txBody>
          <a:bodyPr wrap="square" rtlCol="0">
            <a:spAutoFit/>
          </a:bodyPr>
          <a:lstStyle/>
          <a:p>
            <a:r>
              <a:rPr lang="es-ES" sz="2000" dirty="0"/>
              <a:t>4</a:t>
            </a:r>
            <a:endParaRPr lang="es-PE" sz="2000" dirty="0"/>
          </a:p>
        </p:txBody>
      </p:sp>
      <p:sp>
        <p:nvSpPr>
          <p:cNvPr id="26" name="CuadroTexto 25">
            <a:extLst>
              <a:ext uri="{FF2B5EF4-FFF2-40B4-BE49-F238E27FC236}">
                <a16:creationId xmlns:a16="http://schemas.microsoft.com/office/drawing/2014/main" id="{6F20DD02-ADBB-84B5-7327-57842FF8D390}"/>
              </a:ext>
            </a:extLst>
          </p:cNvPr>
          <p:cNvSpPr txBox="1"/>
          <p:nvPr/>
        </p:nvSpPr>
        <p:spPr>
          <a:xfrm>
            <a:off x="3372681" y="4036174"/>
            <a:ext cx="278674" cy="400110"/>
          </a:xfrm>
          <a:prstGeom prst="rect">
            <a:avLst/>
          </a:prstGeom>
          <a:noFill/>
        </p:spPr>
        <p:txBody>
          <a:bodyPr wrap="square" rtlCol="0">
            <a:spAutoFit/>
          </a:bodyPr>
          <a:lstStyle/>
          <a:p>
            <a:r>
              <a:rPr lang="es-ES" sz="2000" dirty="0"/>
              <a:t>8</a:t>
            </a:r>
            <a:endParaRPr lang="es-PE" sz="2000" dirty="0"/>
          </a:p>
        </p:txBody>
      </p:sp>
      <p:sp>
        <p:nvSpPr>
          <p:cNvPr id="27" name="CuadroTexto 26">
            <a:extLst>
              <a:ext uri="{FF2B5EF4-FFF2-40B4-BE49-F238E27FC236}">
                <a16:creationId xmlns:a16="http://schemas.microsoft.com/office/drawing/2014/main" id="{8210958B-C333-2C6B-690C-AC6CD29586C2}"/>
              </a:ext>
            </a:extLst>
          </p:cNvPr>
          <p:cNvSpPr txBox="1"/>
          <p:nvPr/>
        </p:nvSpPr>
        <p:spPr>
          <a:xfrm>
            <a:off x="4450079" y="4565198"/>
            <a:ext cx="278674" cy="400110"/>
          </a:xfrm>
          <a:prstGeom prst="rect">
            <a:avLst/>
          </a:prstGeom>
          <a:noFill/>
        </p:spPr>
        <p:txBody>
          <a:bodyPr wrap="square" rtlCol="0">
            <a:spAutoFit/>
          </a:bodyPr>
          <a:lstStyle/>
          <a:p>
            <a:r>
              <a:rPr lang="es-ES" sz="2000" dirty="0"/>
              <a:t>3</a:t>
            </a:r>
            <a:endParaRPr lang="es-PE" sz="2000" dirty="0"/>
          </a:p>
        </p:txBody>
      </p:sp>
      <p:sp>
        <p:nvSpPr>
          <p:cNvPr id="28" name="CuadroTexto 27">
            <a:extLst>
              <a:ext uri="{FF2B5EF4-FFF2-40B4-BE49-F238E27FC236}">
                <a16:creationId xmlns:a16="http://schemas.microsoft.com/office/drawing/2014/main" id="{0ECF5879-D30F-D5F3-8246-67B93DB706B5}"/>
              </a:ext>
            </a:extLst>
          </p:cNvPr>
          <p:cNvSpPr txBox="1"/>
          <p:nvPr/>
        </p:nvSpPr>
        <p:spPr>
          <a:xfrm>
            <a:off x="2939143" y="4540862"/>
            <a:ext cx="278674" cy="400110"/>
          </a:xfrm>
          <a:prstGeom prst="rect">
            <a:avLst/>
          </a:prstGeom>
          <a:noFill/>
        </p:spPr>
        <p:txBody>
          <a:bodyPr wrap="square" rtlCol="0">
            <a:spAutoFit/>
          </a:bodyPr>
          <a:lstStyle/>
          <a:p>
            <a:r>
              <a:rPr lang="es-ES" sz="2000" dirty="0"/>
              <a:t>6</a:t>
            </a:r>
            <a:endParaRPr lang="es-PE" sz="2000" dirty="0"/>
          </a:p>
        </p:txBody>
      </p:sp>
      <p:sp>
        <p:nvSpPr>
          <p:cNvPr id="29" name="CuadroTexto 28">
            <a:extLst>
              <a:ext uri="{FF2B5EF4-FFF2-40B4-BE49-F238E27FC236}">
                <a16:creationId xmlns:a16="http://schemas.microsoft.com/office/drawing/2014/main" id="{F608BF06-5CBB-13FD-D40D-1067AF0C0D6B}"/>
              </a:ext>
            </a:extLst>
          </p:cNvPr>
          <p:cNvSpPr txBox="1"/>
          <p:nvPr/>
        </p:nvSpPr>
        <p:spPr>
          <a:xfrm>
            <a:off x="4450079" y="3823065"/>
            <a:ext cx="278674" cy="400110"/>
          </a:xfrm>
          <a:prstGeom prst="rect">
            <a:avLst/>
          </a:prstGeom>
          <a:noFill/>
        </p:spPr>
        <p:txBody>
          <a:bodyPr wrap="square" rtlCol="0">
            <a:spAutoFit/>
          </a:bodyPr>
          <a:lstStyle/>
          <a:p>
            <a:r>
              <a:rPr lang="es-ES" sz="2000" dirty="0"/>
              <a:t>7</a:t>
            </a:r>
            <a:endParaRPr lang="es-PE" sz="2000" dirty="0"/>
          </a:p>
        </p:txBody>
      </p:sp>
      <p:sp>
        <p:nvSpPr>
          <p:cNvPr id="30" name="CuadroTexto 29">
            <a:extLst>
              <a:ext uri="{FF2B5EF4-FFF2-40B4-BE49-F238E27FC236}">
                <a16:creationId xmlns:a16="http://schemas.microsoft.com/office/drawing/2014/main" id="{E7864C47-294A-4708-B89C-6F58B38344BE}"/>
              </a:ext>
            </a:extLst>
          </p:cNvPr>
          <p:cNvSpPr txBox="1"/>
          <p:nvPr/>
        </p:nvSpPr>
        <p:spPr>
          <a:xfrm>
            <a:off x="3862479" y="4278144"/>
            <a:ext cx="278674" cy="400110"/>
          </a:xfrm>
          <a:prstGeom prst="rect">
            <a:avLst/>
          </a:prstGeom>
          <a:noFill/>
        </p:spPr>
        <p:txBody>
          <a:bodyPr wrap="square" rtlCol="0">
            <a:spAutoFit/>
          </a:bodyPr>
          <a:lstStyle/>
          <a:p>
            <a:r>
              <a:rPr lang="es-ES" sz="2000" dirty="0"/>
              <a:t>5</a:t>
            </a:r>
            <a:endParaRPr lang="es-PE" sz="2000" dirty="0"/>
          </a:p>
        </p:txBody>
      </p:sp>
      <p:sp>
        <p:nvSpPr>
          <p:cNvPr id="16" name="CuadroTexto 15">
            <a:extLst>
              <a:ext uri="{FF2B5EF4-FFF2-40B4-BE49-F238E27FC236}">
                <a16:creationId xmlns:a16="http://schemas.microsoft.com/office/drawing/2014/main" id="{8B93FA00-90FC-54E6-9C68-A3A1B729808E}"/>
              </a:ext>
            </a:extLst>
          </p:cNvPr>
          <p:cNvSpPr txBox="1"/>
          <p:nvPr/>
        </p:nvSpPr>
        <p:spPr>
          <a:xfrm>
            <a:off x="8528703" y="3995678"/>
            <a:ext cx="3702465" cy="2862322"/>
          </a:xfrm>
          <a:prstGeom prst="rect">
            <a:avLst/>
          </a:prstGeom>
          <a:solidFill>
            <a:srgbClr val="FFFF00"/>
          </a:solidFill>
        </p:spPr>
        <p:txBody>
          <a:bodyPr wrap="square">
            <a:spAutoFit/>
          </a:bodyPr>
          <a:lstStyle/>
          <a:p>
            <a:r>
              <a:rPr lang="es-PE" sz="2000" dirty="0"/>
              <a:t> </a:t>
            </a:r>
            <a:r>
              <a:rPr lang="es-PE" sz="2000" dirty="0" err="1"/>
              <a:t>OBJECTIVE</a:t>
            </a:r>
            <a:r>
              <a:rPr lang="es-PE" sz="2000" dirty="0"/>
              <a:t> </a:t>
            </a:r>
            <a:r>
              <a:rPr lang="es-PE" sz="2000" dirty="0" err="1"/>
              <a:t>FUNCTION</a:t>
            </a:r>
            <a:r>
              <a:rPr lang="es-PE" sz="2000" dirty="0"/>
              <a:t> </a:t>
            </a:r>
            <a:r>
              <a:rPr lang="es-PE" sz="2000" dirty="0" err="1"/>
              <a:t>VALUE</a:t>
            </a:r>
            <a:endParaRPr lang="es-PE" sz="2000" dirty="0"/>
          </a:p>
          <a:p>
            <a:r>
              <a:rPr lang="es-PE" sz="2000" dirty="0"/>
              <a:t>        1)      12.00000</a:t>
            </a:r>
          </a:p>
          <a:p>
            <a:r>
              <a:rPr lang="es-PE" sz="2000" dirty="0"/>
              <a:t>VARIABLE   VALUE REDUCED COST</a:t>
            </a:r>
          </a:p>
          <a:p>
            <a:r>
              <a:rPr lang="es-PE" sz="2000" dirty="0"/>
              <a:t>   X12         1.000000        4.000000</a:t>
            </a:r>
          </a:p>
          <a:p>
            <a:r>
              <a:rPr lang="es-PE" sz="2000" dirty="0"/>
              <a:t>   X13         0.000000        6.000000</a:t>
            </a:r>
          </a:p>
          <a:p>
            <a:r>
              <a:rPr lang="es-PE" sz="2000" dirty="0"/>
              <a:t>   X14         0.000000        8.000000</a:t>
            </a:r>
          </a:p>
          <a:p>
            <a:r>
              <a:rPr lang="es-PE" sz="2000" dirty="0"/>
              <a:t>   X23         1.000000        5.000000</a:t>
            </a:r>
          </a:p>
          <a:p>
            <a:r>
              <a:rPr lang="es-PE" sz="2000" dirty="0"/>
              <a:t>   X24         0.000000        7.000000</a:t>
            </a:r>
          </a:p>
          <a:p>
            <a:r>
              <a:rPr lang="es-PE" sz="2000" dirty="0"/>
              <a:t>   X34         1.000000        3.000000</a:t>
            </a:r>
          </a:p>
        </p:txBody>
      </p:sp>
    </p:spTree>
    <p:extLst>
      <p:ext uri="{BB962C8B-B14F-4D97-AF65-F5344CB8AC3E}">
        <p14:creationId xmlns:p14="http://schemas.microsoft.com/office/powerpoint/2010/main" val="181771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P spid="8" grpId="0" animBg="1"/>
      <p:bldP spid="9" grpId="0" animBg="1"/>
      <p:bldP spid="10" grpId="0" animBg="1"/>
      <p:bldP spid="25" grpId="0"/>
      <p:bldP spid="26" grpId="0"/>
      <p:bldP spid="27" grpId="0"/>
      <p:bldP spid="28" grpId="0"/>
      <p:bldP spid="29" grpId="0"/>
      <p:bldP spid="30" grpId="0"/>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F3C79C3-DB37-421A-C22F-E5DCED12CEFC}"/>
              </a:ext>
            </a:extLst>
          </p:cNvPr>
          <p:cNvSpPr txBox="1"/>
          <p:nvPr/>
        </p:nvSpPr>
        <p:spPr>
          <a:xfrm>
            <a:off x="0" y="1375886"/>
            <a:ext cx="5660571" cy="1938992"/>
          </a:xfrm>
          <a:prstGeom prst="rect">
            <a:avLst/>
          </a:prstGeom>
          <a:solidFill>
            <a:schemeClr val="accent4">
              <a:lumMod val="20000"/>
              <a:lumOff val="80000"/>
            </a:schemeClr>
          </a:solidFill>
        </p:spPr>
        <p:txBody>
          <a:bodyPr wrap="square">
            <a:spAutoFit/>
          </a:bodyPr>
          <a:lstStyle/>
          <a:p>
            <a:r>
              <a:rPr lang="es-ES" sz="2000" b="1" dirty="0"/>
              <a:t>Selección de Portafolio</a:t>
            </a:r>
          </a:p>
          <a:p>
            <a:r>
              <a:rPr lang="es-ES" sz="2000" b="1" dirty="0"/>
              <a:t>Descripción:</a:t>
            </a:r>
          </a:p>
          <a:p>
            <a:r>
              <a:rPr lang="es-ES" sz="2000" dirty="0"/>
              <a:t>Un gestor de fondos debe seleccionar una cartera de 4 activos financieros, maximizando el retorno total esperado.</a:t>
            </a:r>
          </a:p>
          <a:p>
            <a:r>
              <a:rPr lang="es-ES" sz="2000" b="1" dirty="0"/>
              <a:t>Datos:</a:t>
            </a:r>
          </a:p>
        </p:txBody>
      </p:sp>
      <p:graphicFrame>
        <p:nvGraphicFramePr>
          <p:cNvPr id="5" name="Tabla 5">
            <a:extLst>
              <a:ext uri="{FF2B5EF4-FFF2-40B4-BE49-F238E27FC236}">
                <a16:creationId xmlns:a16="http://schemas.microsoft.com/office/drawing/2014/main" id="{FB919C62-0E0B-7DAE-A134-DF4BB1A04CD1}"/>
              </a:ext>
            </a:extLst>
          </p:cNvPr>
          <p:cNvGraphicFramePr>
            <a:graphicFrameLocks noGrp="1"/>
          </p:cNvGraphicFramePr>
          <p:nvPr>
            <p:extLst>
              <p:ext uri="{D42A27DB-BD31-4B8C-83A1-F6EECF244321}">
                <p14:modId xmlns:p14="http://schemas.microsoft.com/office/powerpoint/2010/main" val="2452716910"/>
              </p:ext>
            </p:extLst>
          </p:nvPr>
        </p:nvGraphicFramePr>
        <p:xfrm>
          <a:off x="8829" y="3429000"/>
          <a:ext cx="5651742" cy="2377440"/>
        </p:xfrm>
        <a:graphic>
          <a:graphicData uri="http://schemas.openxmlformats.org/drawingml/2006/table">
            <a:tbl>
              <a:tblPr firstRow="1" bandRow="1">
                <a:tableStyleId>{5C22544A-7EE6-4342-B048-85BDC9FD1C3A}</a:tableStyleId>
              </a:tblPr>
              <a:tblGrid>
                <a:gridCol w="1883914">
                  <a:extLst>
                    <a:ext uri="{9D8B030D-6E8A-4147-A177-3AD203B41FA5}">
                      <a16:colId xmlns:a16="http://schemas.microsoft.com/office/drawing/2014/main" val="1488358384"/>
                    </a:ext>
                  </a:extLst>
                </a:gridCol>
                <a:gridCol w="1883914">
                  <a:extLst>
                    <a:ext uri="{9D8B030D-6E8A-4147-A177-3AD203B41FA5}">
                      <a16:colId xmlns:a16="http://schemas.microsoft.com/office/drawing/2014/main" val="3290097434"/>
                    </a:ext>
                  </a:extLst>
                </a:gridCol>
                <a:gridCol w="1883914">
                  <a:extLst>
                    <a:ext uri="{9D8B030D-6E8A-4147-A177-3AD203B41FA5}">
                      <a16:colId xmlns:a16="http://schemas.microsoft.com/office/drawing/2014/main" val="2434959939"/>
                    </a:ext>
                  </a:extLst>
                </a:gridCol>
              </a:tblGrid>
              <a:tr h="394414">
                <a:tc>
                  <a:txBody>
                    <a:bodyPr/>
                    <a:lstStyle/>
                    <a:p>
                      <a:pPr algn="ctr"/>
                      <a:r>
                        <a:rPr lang="es-ES" sz="2000" b="1" dirty="0"/>
                        <a:t>Activo</a:t>
                      </a:r>
                      <a:endParaRPr lang="es-PE" sz="2000" b="1" dirty="0"/>
                    </a:p>
                  </a:txBody>
                  <a:tcPr/>
                </a:tc>
                <a:tc>
                  <a:txBody>
                    <a:bodyPr/>
                    <a:lstStyle/>
                    <a:p>
                      <a:pPr algn="ctr"/>
                      <a:r>
                        <a:rPr lang="es-ES" sz="2000" b="1" dirty="0"/>
                        <a:t>Costo</a:t>
                      </a:r>
                      <a:endParaRPr lang="es-PE" sz="2000" b="1" dirty="0"/>
                    </a:p>
                  </a:txBody>
                  <a:tcPr/>
                </a:tc>
                <a:tc>
                  <a:txBody>
                    <a:bodyPr/>
                    <a:lstStyle/>
                    <a:p>
                      <a:pPr algn="ctr"/>
                      <a:r>
                        <a:rPr lang="es-ES" sz="2000" b="1" dirty="0"/>
                        <a:t>Retorno</a:t>
                      </a:r>
                      <a:endParaRPr lang="es-PE" sz="2000" b="1" dirty="0"/>
                    </a:p>
                  </a:txBody>
                  <a:tcPr/>
                </a:tc>
                <a:extLst>
                  <a:ext uri="{0D108BD9-81ED-4DB2-BD59-A6C34878D82A}">
                    <a16:rowId xmlns:a16="http://schemas.microsoft.com/office/drawing/2014/main" val="2047649775"/>
                  </a:ext>
                </a:extLst>
              </a:tr>
              <a:tr h="394414">
                <a:tc>
                  <a:txBody>
                    <a:bodyPr/>
                    <a:lstStyle/>
                    <a:p>
                      <a:pPr algn="ctr"/>
                      <a:r>
                        <a:rPr lang="es-ES" sz="2000" b="1" dirty="0"/>
                        <a:t>1</a:t>
                      </a:r>
                      <a:endParaRPr lang="es-PE" sz="2000" b="1" dirty="0"/>
                    </a:p>
                  </a:txBody>
                  <a:tcPr/>
                </a:tc>
                <a:tc>
                  <a:txBody>
                    <a:bodyPr/>
                    <a:lstStyle/>
                    <a:p>
                      <a:pPr algn="ctr"/>
                      <a:r>
                        <a:rPr lang="es-ES" sz="2000" b="1" dirty="0"/>
                        <a:t>6</a:t>
                      </a:r>
                      <a:endParaRPr lang="es-PE" sz="2000" b="1" dirty="0"/>
                    </a:p>
                  </a:txBody>
                  <a:tcPr/>
                </a:tc>
                <a:tc>
                  <a:txBody>
                    <a:bodyPr/>
                    <a:lstStyle/>
                    <a:p>
                      <a:pPr algn="ctr"/>
                      <a:r>
                        <a:rPr lang="es-ES" sz="2000" b="1" dirty="0"/>
                        <a:t>10</a:t>
                      </a:r>
                      <a:endParaRPr lang="es-PE" sz="2000" b="1" dirty="0"/>
                    </a:p>
                  </a:txBody>
                  <a:tcPr/>
                </a:tc>
                <a:extLst>
                  <a:ext uri="{0D108BD9-81ED-4DB2-BD59-A6C34878D82A}">
                    <a16:rowId xmlns:a16="http://schemas.microsoft.com/office/drawing/2014/main" val="1780222780"/>
                  </a:ext>
                </a:extLst>
              </a:tr>
              <a:tr h="394414">
                <a:tc>
                  <a:txBody>
                    <a:bodyPr/>
                    <a:lstStyle/>
                    <a:p>
                      <a:pPr algn="ctr"/>
                      <a:r>
                        <a:rPr lang="es-ES" sz="2000" b="1" dirty="0"/>
                        <a:t>2</a:t>
                      </a:r>
                      <a:endParaRPr lang="es-PE" sz="2000" b="1" dirty="0"/>
                    </a:p>
                  </a:txBody>
                  <a:tcPr/>
                </a:tc>
                <a:tc>
                  <a:txBody>
                    <a:bodyPr/>
                    <a:lstStyle/>
                    <a:p>
                      <a:pPr algn="ctr"/>
                      <a:r>
                        <a:rPr lang="es-ES" sz="2000" b="1" dirty="0"/>
                        <a:t>5</a:t>
                      </a:r>
                      <a:endParaRPr lang="es-PE" sz="2000" b="1" dirty="0"/>
                    </a:p>
                  </a:txBody>
                  <a:tcPr/>
                </a:tc>
                <a:tc>
                  <a:txBody>
                    <a:bodyPr/>
                    <a:lstStyle/>
                    <a:p>
                      <a:pPr algn="ctr"/>
                      <a:r>
                        <a:rPr lang="es-ES" sz="2000" b="1" dirty="0"/>
                        <a:t>8</a:t>
                      </a:r>
                      <a:endParaRPr lang="es-PE" sz="2000" b="1" dirty="0"/>
                    </a:p>
                  </a:txBody>
                  <a:tcPr/>
                </a:tc>
                <a:extLst>
                  <a:ext uri="{0D108BD9-81ED-4DB2-BD59-A6C34878D82A}">
                    <a16:rowId xmlns:a16="http://schemas.microsoft.com/office/drawing/2014/main" val="560314865"/>
                  </a:ext>
                </a:extLst>
              </a:tr>
              <a:tr h="394414">
                <a:tc>
                  <a:txBody>
                    <a:bodyPr/>
                    <a:lstStyle/>
                    <a:p>
                      <a:pPr algn="ctr"/>
                      <a:r>
                        <a:rPr lang="es-ES" sz="2000" b="1" dirty="0"/>
                        <a:t>3</a:t>
                      </a:r>
                      <a:endParaRPr lang="es-PE" sz="2000" b="1" dirty="0"/>
                    </a:p>
                  </a:txBody>
                  <a:tcPr/>
                </a:tc>
                <a:tc>
                  <a:txBody>
                    <a:bodyPr/>
                    <a:lstStyle/>
                    <a:p>
                      <a:pPr algn="ctr"/>
                      <a:r>
                        <a:rPr lang="es-ES" sz="2000" b="1" dirty="0"/>
                        <a:t>7</a:t>
                      </a:r>
                      <a:endParaRPr lang="es-PE" sz="2000" b="1" dirty="0"/>
                    </a:p>
                  </a:txBody>
                  <a:tcPr/>
                </a:tc>
                <a:tc>
                  <a:txBody>
                    <a:bodyPr/>
                    <a:lstStyle/>
                    <a:p>
                      <a:pPr algn="ctr"/>
                      <a:r>
                        <a:rPr lang="es-ES" sz="2000" b="1" dirty="0"/>
                        <a:t>12</a:t>
                      </a:r>
                      <a:endParaRPr lang="es-PE" sz="2000" b="1" dirty="0"/>
                    </a:p>
                  </a:txBody>
                  <a:tcPr/>
                </a:tc>
                <a:extLst>
                  <a:ext uri="{0D108BD9-81ED-4DB2-BD59-A6C34878D82A}">
                    <a16:rowId xmlns:a16="http://schemas.microsoft.com/office/drawing/2014/main" val="1554283629"/>
                  </a:ext>
                </a:extLst>
              </a:tr>
              <a:tr h="394414">
                <a:tc>
                  <a:txBody>
                    <a:bodyPr/>
                    <a:lstStyle/>
                    <a:p>
                      <a:pPr algn="ctr"/>
                      <a:r>
                        <a:rPr lang="es-ES" sz="2000" b="1" dirty="0"/>
                        <a:t>4</a:t>
                      </a:r>
                      <a:endParaRPr lang="es-PE" sz="2000" b="1" dirty="0"/>
                    </a:p>
                  </a:txBody>
                  <a:tcPr/>
                </a:tc>
                <a:tc>
                  <a:txBody>
                    <a:bodyPr/>
                    <a:lstStyle/>
                    <a:p>
                      <a:pPr algn="ctr"/>
                      <a:r>
                        <a:rPr lang="es-ES" sz="2000" b="1" dirty="0"/>
                        <a:t>4</a:t>
                      </a:r>
                      <a:endParaRPr lang="es-PE" sz="2000" b="1" dirty="0"/>
                    </a:p>
                  </a:txBody>
                  <a:tcPr/>
                </a:tc>
                <a:tc>
                  <a:txBody>
                    <a:bodyPr/>
                    <a:lstStyle/>
                    <a:p>
                      <a:pPr algn="ctr"/>
                      <a:r>
                        <a:rPr lang="es-ES" sz="2000" b="1" dirty="0"/>
                        <a:t>7</a:t>
                      </a:r>
                      <a:endParaRPr lang="es-PE" sz="2000" b="1" dirty="0"/>
                    </a:p>
                  </a:txBody>
                  <a:tcPr/>
                </a:tc>
                <a:extLst>
                  <a:ext uri="{0D108BD9-81ED-4DB2-BD59-A6C34878D82A}">
                    <a16:rowId xmlns:a16="http://schemas.microsoft.com/office/drawing/2014/main" val="2279141527"/>
                  </a:ext>
                </a:extLst>
              </a:tr>
              <a:tr h="394414">
                <a:tc>
                  <a:txBody>
                    <a:bodyPr/>
                    <a:lstStyle/>
                    <a:p>
                      <a:pPr algn="ctr"/>
                      <a:r>
                        <a:rPr lang="es-ES" sz="2000" b="1" dirty="0"/>
                        <a:t>Presupuesto</a:t>
                      </a:r>
                      <a:endParaRPr lang="es-PE" sz="2000" b="1" dirty="0"/>
                    </a:p>
                  </a:txBody>
                  <a:tcPr/>
                </a:tc>
                <a:tc>
                  <a:txBody>
                    <a:bodyPr/>
                    <a:lstStyle/>
                    <a:p>
                      <a:pPr algn="ctr"/>
                      <a:r>
                        <a:rPr lang="es-ES" sz="2000" b="1" dirty="0"/>
                        <a:t>15</a:t>
                      </a:r>
                      <a:endParaRPr lang="es-PE" sz="2000" b="1" dirty="0"/>
                    </a:p>
                  </a:txBody>
                  <a:tcPr/>
                </a:tc>
                <a:tc>
                  <a:txBody>
                    <a:bodyPr/>
                    <a:lstStyle/>
                    <a:p>
                      <a:pPr algn="ctr"/>
                      <a:endParaRPr lang="es-PE" sz="2000" b="1" dirty="0"/>
                    </a:p>
                  </a:txBody>
                  <a:tcPr/>
                </a:tc>
                <a:extLst>
                  <a:ext uri="{0D108BD9-81ED-4DB2-BD59-A6C34878D82A}">
                    <a16:rowId xmlns:a16="http://schemas.microsoft.com/office/drawing/2014/main" val="3315543303"/>
                  </a:ext>
                </a:extLst>
              </a:tr>
            </a:tbl>
          </a:graphicData>
        </a:graphic>
      </p:graphicFrame>
      <p:sp>
        <p:nvSpPr>
          <p:cNvPr id="7" name="CuadroTexto 6">
            <a:extLst>
              <a:ext uri="{FF2B5EF4-FFF2-40B4-BE49-F238E27FC236}">
                <a16:creationId xmlns:a16="http://schemas.microsoft.com/office/drawing/2014/main" id="{52757164-39D0-5401-6C4C-943BCD646881}"/>
              </a:ext>
            </a:extLst>
          </p:cNvPr>
          <p:cNvSpPr txBox="1"/>
          <p:nvPr/>
        </p:nvSpPr>
        <p:spPr>
          <a:xfrm>
            <a:off x="6105524" y="1375886"/>
            <a:ext cx="6134100" cy="3785652"/>
          </a:xfrm>
          <a:prstGeom prst="rect">
            <a:avLst/>
          </a:prstGeom>
          <a:solidFill>
            <a:schemeClr val="accent3">
              <a:lumMod val="40000"/>
              <a:lumOff val="60000"/>
            </a:schemeClr>
          </a:solidFill>
        </p:spPr>
        <p:txBody>
          <a:bodyPr wrap="square">
            <a:spAutoFit/>
          </a:bodyPr>
          <a:lstStyle/>
          <a:p>
            <a:r>
              <a:rPr lang="es-PE" sz="2400" b="1" dirty="0"/>
              <a:t>Formulación del Modelo:</a:t>
            </a:r>
          </a:p>
          <a:p>
            <a:r>
              <a:rPr lang="es-PE" sz="2400" dirty="0"/>
              <a:t>Variables: </a:t>
            </a:r>
          </a:p>
          <a:p>
            <a:r>
              <a:rPr lang="es-PE" sz="2400" dirty="0"/>
              <a:t>xi​ = 1 si el activo i es seleccionado, </a:t>
            </a:r>
          </a:p>
          <a:p>
            <a:r>
              <a:rPr lang="es-PE" sz="2400" dirty="0"/>
              <a:t>       0 en caso contrario.</a:t>
            </a:r>
          </a:p>
          <a:p>
            <a:r>
              <a:rPr lang="es-PE" sz="2400" dirty="0"/>
              <a:t>Función objetivo: </a:t>
            </a:r>
          </a:p>
          <a:p>
            <a:r>
              <a:rPr lang="es-PE" sz="2400" dirty="0"/>
              <a:t>Max </a:t>
            </a:r>
            <a:r>
              <a:rPr lang="es-PE" sz="2400" dirty="0" err="1"/>
              <a:t>4X1+3X2+5X3+3X4</a:t>
            </a:r>
            <a:r>
              <a:rPr lang="es-PE" sz="2400" dirty="0"/>
              <a:t>​</a:t>
            </a:r>
          </a:p>
          <a:p>
            <a:r>
              <a:rPr lang="es-PE" sz="2400" dirty="0"/>
              <a:t>Restricciones:</a:t>
            </a:r>
          </a:p>
          <a:p>
            <a:pPr>
              <a:buFont typeface="+mj-lt"/>
              <a:buAutoNum type="arabicPeriod"/>
            </a:pPr>
            <a:r>
              <a:rPr lang="es-PE" sz="2400" dirty="0"/>
              <a:t>No exceder el presupuesto: </a:t>
            </a:r>
          </a:p>
          <a:p>
            <a:r>
              <a:rPr lang="es-PE" sz="2400" dirty="0" err="1"/>
              <a:t>6X1+5X2+7X3+4X4</a:t>
            </a:r>
            <a:r>
              <a:rPr lang="es-PE" sz="2400" dirty="0"/>
              <a:t>&lt;=15</a:t>
            </a:r>
          </a:p>
          <a:p>
            <a:r>
              <a:rPr lang="es-PE" sz="2400" dirty="0"/>
              <a:t>Xi&gt;=0, BINARIO</a:t>
            </a:r>
          </a:p>
        </p:txBody>
      </p:sp>
      <p:sp>
        <p:nvSpPr>
          <p:cNvPr id="2" name="Rectangle 2">
            <a:extLst>
              <a:ext uri="{FF2B5EF4-FFF2-40B4-BE49-F238E27FC236}">
                <a16:creationId xmlns:a16="http://schemas.microsoft.com/office/drawing/2014/main" id="{BC64D609-E24A-13E1-998C-52FA080322C2}"/>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12</a:t>
            </a:r>
          </a:p>
        </p:txBody>
      </p:sp>
    </p:spTree>
    <p:extLst>
      <p:ext uri="{BB962C8B-B14F-4D97-AF65-F5344CB8AC3E}">
        <p14:creationId xmlns:p14="http://schemas.microsoft.com/office/powerpoint/2010/main" val="105557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5B3977D-DBD0-69DF-C578-B939B2DBEC87}"/>
              </a:ext>
            </a:extLst>
          </p:cNvPr>
          <p:cNvSpPr txBox="1"/>
          <p:nvPr/>
        </p:nvSpPr>
        <p:spPr>
          <a:xfrm>
            <a:off x="0" y="1299686"/>
            <a:ext cx="6105524" cy="1477328"/>
          </a:xfrm>
          <a:prstGeom prst="rect">
            <a:avLst/>
          </a:prstGeom>
          <a:noFill/>
        </p:spPr>
        <p:txBody>
          <a:bodyPr wrap="square">
            <a:spAutoFit/>
          </a:bodyPr>
          <a:lstStyle/>
          <a:p>
            <a:r>
              <a:rPr lang="es-ES" b="1" dirty="0"/>
              <a:t>Problema del Viajante</a:t>
            </a:r>
          </a:p>
          <a:p>
            <a:r>
              <a:rPr lang="es-ES" b="1" dirty="0"/>
              <a:t>Descripción:</a:t>
            </a:r>
          </a:p>
          <a:p>
            <a:r>
              <a:rPr lang="es-ES" dirty="0"/>
              <a:t>Un vendedor debe visitar 4 ciudades y regresar a su ciudad de origen, minimizando la distancia total recorrida.</a:t>
            </a:r>
          </a:p>
          <a:p>
            <a:r>
              <a:rPr lang="es-ES" b="1" dirty="0"/>
              <a:t>Datos:</a:t>
            </a:r>
          </a:p>
        </p:txBody>
      </p:sp>
      <p:graphicFrame>
        <p:nvGraphicFramePr>
          <p:cNvPr id="5" name="Tabla 5">
            <a:extLst>
              <a:ext uri="{FF2B5EF4-FFF2-40B4-BE49-F238E27FC236}">
                <a16:creationId xmlns:a16="http://schemas.microsoft.com/office/drawing/2014/main" id="{94976BBF-FA21-6195-FAFE-2084823E732C}"/>
              </a:ext>
            </a:extLst>
          </p:cNvPr>
          <p:cNvGraphicFramePr>
            <a:graphicFrameLocks noGrp="1"/>
          </p:cNvGraphicFramePr>
          <p:nvPr>
            <p:extLst>
              <p:ext uri="{D42A27DB-BD31-4B8C-83A1-F6EECF244321}">
                <p14:modId xmlns:p14="http://schemas.microsoft.com/office/powerpoint/2010/main" val="1803806058"/>
              </p:ext>
            </p:extLst>
          </p:nvPr>
        </p:nvGraphicFramePr>
        <p:xfrm>
          <a:off x="1" y="2777014"/>
          <a:ext cx="5335570" cy="2156935"/>
        </p:xfrm>
        <a:graphic>
          <a:graphicData uri="http://schemas.openxmlformats.org/drawingml/2006/table">
            <a:tbl>
              <a:tblPr firstRow="1" bandRow="1">
                <a:tableStyleId>{5C22544A-7EE6-4342-B048-85BDC9FD1C3A}</a:tableStyleId>
              </a:tblPr>
              <a:tblGrid>
                <a:gridCol w="1614821">
                  <a:extLst>
                    <a:ext uri="{9D8B030D-6E8A-4147-A177-3AD203B41FA5}">
                      <a16:colId xmlns:a16="http://schemas.microsoft.com/office/drawing/2014/main" val="584348529"/>
                    </a:ext>
                  </a:extLst>
                </a:gridCol>
                <a:gridCol w="898974">
                  <a:extLst>
                    <a:ext uri="{9D8B030D-6E8A-4147-A177-3AD203B41FA5}">
                      <a16:colId xmlns:a16="http://schemas.microsoft.com/office/drawing/2014/main" val="604801777"/>
                    </a:ext>
                  </a:extLst>
                </a:gridCol>
                <a:gridCol w="882325">
                  <a:extLst>
                    <a:ext uri="{9D8B030D-6E8A-4147-A177-3AD203B41FA5}">
                      <a16:colId xmlns:a16="http://schemas.microsoft.com/office/drawing/2014/main" val="139257440"/>
                    </a:ext>
                  </a:extLst>
                </a:gridCol>
                <a:gridCol w="998858">
                  <a:extLst>
                    <a:ext uri="{9D8B030D-6E8A-4147-A177-3AD203B41FA5}">
                      <a16:colId xmlns:a16="http://schemas.microsoft.com/office/drawing/2014/main" val="2516231891"/>
                    </a:ext>
                  </a:extLst>
                </a:gridCol>
                <a:gridCol w="940592">
                  <a:extLst>
                    <a:ext uri="{9D8B030D-6E8A-4147-A177-3AD203B41FA5}">
                      <a16:colId xmlns:a16="http://schemas.microsoft.com/office/drawing/2014/main" val="4115826413"/>
                    </a:ext>
                  </a:extLst>
                </a:gridCol>
              </a:tblGrid>
              <a:tr h="431387">
                <a:tc>
                  <a:txBody>
                    <a:bodyPr/>
                    <a:lstStyle/>
                    <a:p>
                      <a:pPr algn="ctr"/>
                      <a:r>
                        <a:rPr lang="es-ES" b="1" dirty="0"/>
                        <a:t>Ciudad/Ciudad</a:t>
                      </a:r>
                      <a:endParaRPr lang="es-PE" b="1" dirty="0"/>
                    </a:p>
                  </a:txBody>
                  <a:tcPr/>
                </a:tc>
                <a:tc>
                  <a:txBody>
                    <a:bodyPr/>
                    <a:lstStyle/>
                    <a:p>
                      <a:pPr algn="ctr"/>
                      <a:r>
                        <a:rPr lang="es-ES" b="1" dirty="0"/>
                        <a:t>1</a:t>
                      </a:r>
                      <a:endParaRPr lang="es-PE" b="1" dirty="0"/>
                    </a:p>
                  </a:txBody>
                  <a:tcPr/>
                </a:tc>
                <a:tc>
                  <a:txBody>
                    <a:bodyPr/>
                    <a:lstStyle/>
                    <a:p>
                      <a:pPr algn="ctr"/>
                      <a:r>
                        <a:rPr lang="es-ES" b="1" dirty="0"/>
                        <a:t>2</a:t>
                      </a:r>
                      <a:endParaRPr lang="es-PE" b="1" dirty="0"/>
                    </a:p>
                  </a:txBody>
                  <a:tcPr/>
                </a:tc>
                <a:tc>
                  <a:txBody>
                    <a:bodyPr/>
                    <a:lstStyle/>
                    <a:p>
                      <a:pPr algn="ctr"/>
                      <a:r>
                        <a:rPr lang="es-ES" b="1" dirty="0"/>
                        <a:t>3</a:t>
                      </a:r>
                      <a:endParaRPr lang="es-PE" b="1" dirty="0"/>
                    </a:p>
                  </a:txBody>
                  <a:tcPr/>
                </a:tc>
                <a:tc>
                  <a:txBody>
                    <a:bodyPr/>
                    <a:lstStyle/>
                    <a:p>
                      <a:pPr algn="ctr"/>
                      <a:r>
                        <a:rPr lang="es-ES" b="1" dirty="0"/>
                        <a:t>4</a:t>
                      </a:r>
                      <a:endParaRPr lang="es-PE" b="1" dirty="0"/>
                    </a:p>
                  </a:txBody>
                  <a:tcPr/>
                </a:tc>
                <a:extLst>
                  <a:ext uri="{0D108BD9-81ED-4DB2-BD59-A6C34878D82A}">
                    <a16:rowId xmlns:a16="http://schemas.microsoft.com/office/drawing/2014/main" val="2253044406"/>
                  </a:ext>
                </a:extLst>
              </a:tr>
              <a:tr h="431387">
                <a:tc>
                  <a:txBody>
                    <a:bodyPr/>
                    <a:lstStyle/>
                    <a:p>
                      <a:pPr algn="ctr"/>
                      <a:r>
                        <a:rPr lang="es-ES" b="1" dirty="0"/>
                        <a:t>1</a:t>
                      </a:r>
                      <a:endParaRPr lang="es-PE" b="1" dirty="0"/>
                    </a:p>
                  </a:txBody>
                  <a:tcPr/>
                </a:tc>
                <a:tc>
                  <a:txBody>
                    <a:bodyPr/>
                    <a:lstStyle/>
                    <a:p>
                      <a:pPr algn="ctr"/>
                      <a:r>
                        <a:rPr lang="es-ES" b="1" dirty="0"/>
                        <a:t>0</a:t>
                      </a:r>
                      <a:endParaRPr lang="es-PE" b="1" dirty="0"/>
                    </a:p>
                  </a:txBody>
                  <a:tcPr/>
                </a:tc>
                <a:tc>
                  <a:txBody>
                    <a:bodyPr/>
                    <a:lstStyle/>
                    <a:p>
                      <a:pPr algn="ctr"/>
                      <a:r>
                        <a:rPr lang="es-ES" b="1" dirty="0"/>
                        <a:t>2</a:t>
                      </a:r>
                      <a:endParaRPr lang="es-PE" b="1" dirty="0"/>
                    </a:p>
                  </a:txBody>
                  <a:tcPr/>
                </a:tc>
                <a:tc>
                  <a:txBody>
                    <a:bodyPr/>
                    <a:lstStyle/>
                    <a:p>
                      <a:pPr algn="ctr"/>
                      <a:r>
                        <a:rPr lang="es-ES" b="1" dirty="0"/>
                        <a:t>9</a:t>
                      </a:r>
                      <a:endParaRPr lang="es-PE" b="1" dirty="0"/>
                    </a:p>
                  </a:txBody>
                  <a:tcPr/>
                </a:tc>
                <a:tc>
                  <a:txBody>
                    <a:bodyPr/>
                    <a:lstStyle/>
                    <a:p>
                      <a:pPr algn="ctr"/>
                      <a:r>
                        <a:rPr lang="es-ES" b="1" dirty="0"/>
                        <a:t>10</a:t>
                      </a:r>
                      <a:endParaRPr lang="es-PE" b="1" dirty="0"/>
                    </a:p>
                  </a:txBody>
                  <a:tcPr/>
                </a:tc>
                <a:extLst>
                  <a:ext uri="{0D108BD9-81ED-4DB2-BD59-A6C34878D82A}">
                    <a16:rowId xmlns:a16="http://schemas.microsoft.com/office/drawing/2014/main" val="3239387131"/>
                  </a:ext>
                </a:extLst>
              </a:tr>
              <a:tr h="431387">
                <a:tc>
                  <a:txBody>
                    <a:bodyPr/>
                    <a:lstStyle/>
                    <a:p>
                      <a:pPr algn="ctr"/>
                      <a:r>
                        <a:rPr lang="es-ES" b="1" dirty="0"/>
                        <a:t>2</a:t>
                      </a:r>
                      <a:endParaRPr lang="es-PE" b="1" dirty="0"/>
                    </a:p>
                  </a:txBody>
                  <a:tcPr/>
                </a:tc>
                <a:tc>
                  <a:txBody>
                    <a:bodyPr/>
                    <a:lstStyle/>
                    <a:p>
                      <a:pPr algn="ctr"/>
                      <a:r>
                        <a:rPr lang="es-ES" b="1" dirty="0"/>
                        <a:t>2</a:t>
                      </a:r>
                      <a:endParaRPr lang="es-PE" b="1" dirty="0"/>
                    </a:p>
                  </a:txBody>
                  <a:tcPr/>
                </a:tc>
                <a:tc>
                  <a:txBody>
                    <a:bodyPr/>
                    <a:lstStyle/>
                    <a:p>
                      <a:pPr algn="ctr"/>
                      <a:r>
                        <a:rPr lang="es-ES" b="1" dirty="0"/>
                        <a:t>0</a:t>
                      </a:r>
                      <a:endParaRPr lang="es-PE" b="1" dirty="0"/>
                    </a:p>
                  </a:txBody>
                  <a:tcPr/>
                </a:tc>
                <a:tc>
                  <a:txBody>
                    <a:bodyPr/>
                    <a:lstStyle/>
                    <a:p>
                      <a:pPr algn="ctr"/>
                      <a:r>
                        <a:rPr lang="es-ES" b="1" dirty="0"/>
                        <a:t>6</a:t>
                      </a:r>
                      <a:endParaRPr lang="es-PE" b="1" dirty="0"/>
                    </a:p>
                  </a:txBody>
                  <a:tcPr/>
                </a:tc>
                <a:tc>
                  <a:txBody>
                    <a:bodyPr/>
                    <a:lstStyle/>
                    <a:p>
                      <a:pPr algn="ctr"/>
                      <a:r>
                        <a:rPr lang="es-ES" b="1" dirty="0"/>
                        <a:t>4</a:t>
                      </a:r>
                      <a:endParaRPr lang="es-PE" b="1" dirty="0"/>
                    </a:p>
                  </a:txBody>
                  <a:tcPr/>
                </a:tc>
                <a:extLst>
                  <a:ext uri="{0D108BD9-81ED-4DB2-BD59-A6C34878D82A}">
                    <a16:rowId xmlns:a16="http://schemas.microsoft.com/office/drawing/2014/main" val="2967033072"/>
                  </a:ext>
                </a:extLst>
              </a:tr>
              <a:tr h="431387">
                <a:tc>
                  <a:txBody>
                    <a:bodyPr/>
                    <a:lstStyle/>
                    <a:p>
                      <a:pPr algn="ctr"/>
                      <a:r>
                        <a:rPr lang="es-ES" b="1" dirty="0"/>
                        <a:t>3</a:t>
                      </a:r>
                      <a:endParaRPr lang="es-PE" b="1" dirty="0"/>
                    </a:p>
                  </a:txBody>
                  <a:tcPr/>
                </a:tc>
                <a:tc>
                  <a:txBody>
                    <a:bodyPr/>
                    <a:lstStyle/>
                    <a:p>
                      <a:pPr algn="ctr"/>
                      <a:r>
                        <a:rPr lang="es-ES" b="1" dirty="0"/>
                        <a:t>9</a:t>
                      </a:r>
                      <a:endParaRPr lang="es-PE" b="1" dirty="0"/>
                    </a:p>
                  </a:txBody>
                  <a:tcPr/>
                </a:tc>
                <a:tc>
                  <a:txBody>
                    <a:bodyPr/>
                    <a:lstStyle/>
                    <a:p>
                      <a:pPr algn="ctr"/>
                      <a:r>
                        <a:rPr lang="es-ES" b="1" dirty="0"/>
                        <a:t>6</a:t>
                      </a:r>
                      <a:endParaRPr lang="es-PE" b="1" dirty="0"/>
                    </a:p>
                  </a:txBody>
                  <a:tcPr/>
                </a:tc>
                <a:tc>
                  <a:txBody>
                    <a:bodyPr/>
                    <a:lstStyle/>
                    <a:p>
                      <a:pPr algn="ctr"/>
                      <a:r>
                        <a:rPr lang="es-ES" b="1" dirty="0"/>
                        <a:t>0</a:t>
                      </a:r>
                      <a:endParaRPr lang="es-PE" b="1" dirty="0"/>
                    </a:p>
                  </a:txBody>
                  <a:tcPr/>
                </a:tc>
                <a:tc>
                  <a:txBody>
                    <a:bodyPr/>
                    <a:lstStyle/>
                    <a:p>
                      <a:pPr algn="ctr"/>
                      <a:r>
                        <a:rPr lang="es-ES" b="1" dirty="0"/>
                        <a:t>8</a:t>
                      </a:r>
                      <a:endParaRPr lang="es-PE" b="1" dirty="0"/>
                    </a:p>
                  </a:txBody>
                  <a:tcPr/>
                </a:tc>
                <a:extLst>
                  <a:ext uri="{0D108BD9-81ED-4DB2-BD59-A6C34878D82A}">
                    <a16:rowId xmlns:a16="http://schemas.microsoft.com/office/drawing/2014/main" val="3540923652"/>
                  </a:ext>
                </a:extLst>
              </a:tr>
              <a:tr h="431387">
                <a:tc>
                  <a:txBody>
                    <a:bodyPr/>
                    <a:lstStyle/>
                    <a:p>
                      <a:pPr algn="ctr"/>
                      <a:r>
                        <a:rPr lang="es-ES" b="1" dirty="0"/>
                        <a:t>4</a:t>
                      </a:r>
                      <a:endParaRPr lang="es-PE" b="1" dirty="0"/>
                    </a:p>
                  </a:txBody>
                  <a:tcPr/>
                </a:tc>
                <a:tc>
                  <a:txBody>
                    <a:bodyPr/>
                    <a:lstStyle/>
                    <a:p>
                      <a:pPr algn="ctr"/>
                      <a:r>
                        <a:rPr lang="es-ES" b="1" dirty="0"/>
                        <a:t>10</a:t>
                      </a:r>
                      <a:endParaRPr lang="es-PE" b="1" dirty="0"/>
                    </a:p>
                  </a:txBody>
                  <a:tcPr/>
                </a:tc>
                <a:tc>
                  <a:txBody>
                    <a:bodyPr/>
                    <a:lstStyle/>
                    <a:p>
                      <a:pPr algn="ctr"/>
                      <a:r>
                        <a:rPr lang="es-ES" b="1" dirty="0"/>
                        <a:t>4</a:t>
                      </a:r>
                      <a:endParaRPr lang="es-PE" b="1" dirty="0"/>
                    </a:p>
                  </a:txBody>
                  <a:tcPr/>
                </a:tc>
                <a:tc>
                  <a:txBody>
                    <a:bodyPr/>
                    <a:lstStyle/>
                    <a:p>
                      <a:pPr algn="ctr"/>
                      <a:r>
                        <a:rPr lang="es-ES" b="1" dirty="0"/>
                        <a:t>8</a:t>
                      </a:r>
                      <a:endParaRPr lang="es-PE" b="1" dirty="0"/>
                    </a:p>
                  </a:txBody>
                  <a:tcPr/>
                </a:tc>
                <a:tc>
                  <a:txBody>
                    <a:bodyPr/>
                    <a:lstStyle/>
                    <a:p>
                      <a:pPr algn="ctr"/>
                      <a:r>
                        <a:rPr lang="es-ES" b="1" dirty="0"/>
                        <a:t>0</a:t>
                      </a:r>
                      <a:endParaRPr lang="es-PE" b="1" dirty="0"/>
                    </a:p>
                  </a:txBody>
                  <a:tcPr/>
                </a:tc>
                <a:extLst>
                  <a:ext uri="{0D108BD9-81ED-4DB2-BD59-A6C34878D82A}">
                    <a16:rowId xmlns:a16="http://schemas.microsoft.com/office/drawing/2014/main" val="595913429"/>
                  </a:ext>
                </a:extLst>
              </a:tr>
            </a:tbl>
          </a:graphicData>
        </a:graphic>
      </p:graphicFrame>
      <p:sp>
        <p:nvSpPr>
          <p:cNvPr id="7" name="CuadroTexto 6">
            <a:extLst>
              <a:ext uri="{FF2B5EF4-FFF2-40B4-BE49-F238E27FC236}">
                <a16:creationId xmlns:a16="http://schemas.microsoft.com/office/drawing/2014/main" id="{97F0A31E-C57B-8C14-18FD-49F3678F2E8E}"/>
              </a:ext>
            </a:extLst>
          </p:cNvPr>
          <p:cNvSpPr txBox="1"/>
          <p:nvPr/>
        </p:nvSpPr>
        <p:spPr>
          <a:xfrm>
            <a:off x="6096000" y="1240630"/>
            <a:ext cx="6134100" cy="5632311"/>
          </a:xfrm>
          <a:prstGeom prst="rect">
            <a:avLst/>
          </a:prstGeom>
          <a:noFill/>
        </p:spPr>
        <p:txBody>
          <a:bodyPr wrap="square">
            <a:spAutoFit/>
          </a:bodyPr>
          <a:lstStyle/>
          <a:p>
            <a:r>
              <a:rPr lang="es-PE" b="1" dirty="0"/>
              <a:t>Formulación del Modelo:</a:t>
            </a:r>
          </a:p>
          <a:p>
            <a:r>
              <a:rPr lang="es-PE" dirty="0"/>
              <a:t>Variables: </a:t>
            </a:r>
          </a:p>
          <a:p>
            <a:r>
              <a:rPr lang="es-PE" dirty="0" err="1"/>
              <a:t>Xij</a:t>
            </a:r>
            <a:r>
              <a:rPr lang="es-PE" dirty="0"/>
              <a:t>​ = 1 si el vendedor viaja de la ciudad i a la ciudad j, </a:t>
            </a:r>
          </a:p>
          <a:p>
            <a:r>
              <a:rPr lang="es-PE" dirty="0"/>
              <a:t>         0 en caso contrario.</a:t>
            </a:r>
          </a:p>
          <a:p>
            <a:r>
              <a:rPr lang="es-PE" dirty="0"/>
              <a:t>Función objetivo: </a:t>
            </a:r>
          </a:p>
          <a:p>
            <a:r>
              <a:rPr lang="es-PE" dirty="0"/>
              <a:t>Min </a:t>
            </a:r>
            <a:r>
              <a:rPr lang="es-PE" dirty="0" err="1"/>
              <a:t>2X12+9X</a:t>
            </a:r>
            <a:r>
              <a:rPr lang="es-PE" dirty="0"/>
              <a:t>​</a:t>
            </a:r>
            <a:r>
              <a:rPr lang="es-PE" dirty="0" err="1"/>
              <a:t>13+10X14</a:t>
            </a:r>
            <a:r>
              <a:rPr lang="es-PE" dirty="0"/>
              <a:t>+  </a:t>
            </a:r>
            <a:r>
              <a:rPr lang="es-PE" dirty="0" err="1"/>
              <a:t>2X21+6X23+4X24</a:t>
            </a:r>
            <a:endParaRPr lang="es-PE" dirty="0"/>
          </a:p>
          <a:p>
            <a:r>
              <a:rPr lang="es-PE" dirty="0"/>
              <a:t>        </a:t>
            </a:r>
            <a:r>
              <a:rPr lang="es-PE" dirty="0" err="1"/>
              <a:t>9X31+6X32</a:t>
            </a:r>
            <a:r>
              <a:rPr lang="es-PE" dirty="0"/>
              <a:t>+  </a:t>
            </a:r>
            <a:r>
              <a:rPr lang="es-PE" dirty="0" err="1"/>
              <a:t>8X34+10X41+4X42+8X43</a:t>
            </a:r>
            <a:endParaRPr lang="es-PE" dirty="0"/>
          </a:p>
          <a:p>
            <a:r>
              <a:rPr lang="es-PE" dirty="0"/>
              <a:t>Restricciones:</a:t>
            </a:r>
          </a:p>
          <a:p>
            <a:r>
              <a:rPr lang="es-PE" dirty="0"/>
              <a:t>El vendedor debe salir de cada ciudad una vez: </a:t>
            </a:r>
          </a:p>
          <a:p>
            <a:r>
              <a:rPr lang="es-PE" dirty="0" err="1"/>
              <a:t>X12+X13+X14</a:t>
            </a:r>
            <a:r>
              <a:rPr lang="es-PE" dirty="0"/>
              <a:t>=1</a:t>
            </a:r>
          </a:p>
          <a:p>
            <a:r>
              <a:rPr lang="es-PE" dirty="0" err="1"/>
              <a:t>X21+X23+X24</a:t>
            </a:r>
            <a:r>
              <a:rPr lang="es-PE" dirty="0"/>
              <a:t>=1</a:t>
            </a:r>
          </a:p>
          <a:p>
            <a:r>
              <a:rPr lang="es-PE" dirty="0" err="1"/>
              <a:t>X31+X32+X34</a:t>
            </a:r>
            <a:r>
              <a:rPr lang="es-PE" dirty="0"/>
              <a:t>=1</a:t>
            </a:r>
          </a:p>
          <a:p>
            <a:r>
              <a:rPr lang="es-PE" dirty="0" err="1"/>
              <a:t>X41+X42+X43</a:t>
            </a:r>
            <a:r>
              <a:rPr lang="es-PE" dirty="0"/>
              <a:t>=1</a:t>
            </a:r>
          </a:p>
          <a:p>
            <a:r>
              <a:rPr lang="es-PE" dirty="0"/>
              <a:t>Cada ciudad debe ser visitada una vez:</a:t>
            </a:r>
          </a:p>
          <a:p>
            <a:r>
              <a:rPr lang="es-PE" dirty="0" err="1"/>
              <a:t>X21+X31+X41</a:t>
            </a:r>
            <a:r>
              <a:rPr lang="es-PE" dirty="0"/>
              <a:t>=1</a:t>
            </a:r>
          </a:p>
          <a:p>
            <a:r>
              <a:rPr lang="es-PE" dirty="0" err="1"/>
              <a:t>X12+X32+X42</a:t>
            </a:r>
            <a:r>
              <a:rPr lang="es-PE" dirty="0"/>
              <a:t>=1</a:t>
            </a:r>
          </a:p>
          <a:p>
            <a:r>
              <a:rPr lang="es-PE" dirty="0" err="1"/>
              <a:t>X13+X23+X43</a:t>
            </a:r>
            <a:r>
              <a:rPr lang="es-PE" dirty="0"/>
              <a:t>=1</a:t>
            </a:r>
          </a:p>
          <a:p>
            <a:r>
              <a:rPr lang="es-PE" dirty="0" err="1"/>
              <a:t>X14+X24+X34</a:t>
            </a:r>
            <a:r>
              <a:rPr lang="es-PE" dirty="0"/>
              <a:t>=1</a:t>
            </a:r>
          </a:p>
          <a:p>
            <a:endParaRPr lang="es-PE" dirty="0"/>
          </a:p>
          <a:p>
            <a:endParaRPr lang="es-PE" dirty="0"/>
          </a:p>
        </p:txBody>
      </p:sp>
      <p:sp>
        <p:nvSpPr>
          <p:cNvPr id="2" name="Rectangle 2">
            <a:extLst>
              <a:ext uri="{FF2B5EF4-FFF2-40B4-BE49-F238E27FC236}">
                <a16:creationId xmlns:a16="http://schemas.microsoft.com/office/drawing/2014/main" id="{FE64B4C0-9563-5DAD-8CB9-0086DA9AA942}"/>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13</a:t>
            </a:r>
          </a:p>
        </p:txBody>
      </p:sp>
      <p:sp>
        <p:nvSpPr>
          <p:cNvPr id="6" name="CuadroTexto 5">
            <a:extLst>
              <a:ext uri="{FF2B5EF4-FFF2-40B4-BE49-F238E27FC236}">
                <a16:creationId xmlns:a16="http://schemas.microsoft.com/office/drawing/2014/main" id="{5D87C425-B2D1-88EF-F4A7-6ACB0A63D7DB}"/>
              </a:ext>
            </a:extLst>
          </p:cNvPr>
          <p:cNvSpPr txBox="1"/>
          <p:nvPr/>
        </p:nvSpPr>
        <p:spPr>
          <a:xfrm>
            <a:off x="9159712" y="3548954"/>
            <a:ext cx="3084233" cy="3323987"/>
          </a:xfrm>
          <a:prstGeom prst="rect">
            <a:avLst/>
          </a:prstGeom>
          <a:solidFill>
            <a:schemeClr val="accent6">
              <a:lumMod val="40000"/>
              <a:lumOff val="60000"/>
            </a:schemeClr>
          </a:solidFill>
        </p:spPr>
        <p:txBody>
          <a:bodyPr wrap="square">
            <a:spAutoFit/>
          </a:bodyPr>
          <a:lstStyle/>
          <a:p>
            <a:r>
              <a:rPr lang="es-PE" sz="1400" b="1" dirty="0"/>
              <a:t> </a:t>
            </a:r>
            <a:r>
              <a:rPr lang="en-US" sz="1400" b="1" dirty="0"/>
              <a:t> OBJECTIVE FUNCTION VALUE</a:t>
            </a:r>
          </a:p>
          <a:p>
            <a:r>
              <a:rPr lang="en-US" sz="1400" b="1" dirty="0"/>
              <a:t>        1)      20.00000</a:t>
            </a:r>
          </a:p>
          <a:p>
            <a:r>
              <a:rPr lang="en-US" sz="1400" b="1" dirty="0"/>
              <a:t>  VARIABLE        VALUE    REDUCED COST</a:t>
            </a:r>
          </a:p>
          <a:p>
            <a:r>
              <a:rPr lang="en-US" sz="1400" b="1" dirty="0"/>
              <a:t>       </a:t>
            </a:r>
            <a:r>
              <a:rPr lang="en-US" sz="1400" b="1" dirty="0" err="1"/>
              <a:t>X12</a:t>
            </a:r>
            <a:r>
              <a:rPr lang="en-US" sz="1400" b="1" dirty="0"/>
              <a:t>         1.000000          0.000000</a:t>
            </a:r>
          </a:p>
          <a:p>
            <a:r>
              <a:rPr lang="en-US" sz="1400" b="1" dirty="0"/>
              <a:t>       </a:t>
            </a:r>
            <a:r>
              <a:rPr lang="en-US" sz="1400" b="1" dirty="0" err="1"/>
              <a:t>X13</a:t>
            </a:r>
            <a:r>
              <a:rPr lang="en-US" sz="1400" b="1" dirty="0"/>
              <a:t>         0.000000          3.000000</a:t>
            </a:r>
          </a:p>
          <a:p>
            <a:r>
              <a:rPr lang="en-US" sz="1400" b="1" dirty="0"/>
              <a:t>       </a:t>
            </a:r>
            <a:r>
              <a:rPr lang="en-US" sz="1400" b="1" dirty="0" err="1"/>
              <a:t>X14</a:t>
            </a:r>
            <a:r>
              <a:rPr lang="en-US" sz="1400" b="1" dirty="0"/>
              <a:t>         0.000000          6.000000</a:t>
            </a:r>
          </a:p>
          <a:p>
            <a:r>
              <a:rPr lang="en-US" sz="1400" b="1" dirty="0"/>
              <a:t>       </a:t>
            </a:r>
            <a:r>
              <a:rPr lang="en-US" sz="1400" b="1" dirty="0" err="1"/>
              <a:t>X21</a:t>
            </a:r>
            <a:r>
              <a:rPr lang="en-US" sz="1400" b="1" dirty="0"/>
              <a:t>         1.000000          0.000000</a:t>
            </a:r>
          </a:p>
          <a:p>
            <a:r>
              <a:rPr lang="en-US" sz="1400" b="1" dirty="0"/>
              <a:t>       </a:t>
            </a:r>
            <a:r>
              <a:rPr lang="en-US" sz="1400" b="1" dirty="0" err="1"/>
              <a:t>X23</a:t>
            </a:r>
            <a:r>
              <a:rPr lang="en-US" sz="1400" b="1" dirty="0"/>
              <a:t>         0.000000          0.000000</a:t>
            </a:r>
          </a:p>
          <a:p>
            <a:r>
              <a:rPr lang="en-US" sz="1400" b="1" dirty="0"/>
              <a:t>       </a:t>
            </a:r>
            <a:r>
              <a:rPr lang="en-US" sz="1400" b="1" dirty="0" err="1"/>
              <a:t>X24</a:t>
            </a:r>
            <a:r>
              <a:rPr lang="en-US" sz="1400" b="1" dirty="0"/>
              <a:t>         0.000000          0.000000</a:t>
            </a:r>
          </a:p>
          <a:p>
            <a:r>
              <a:rPr lang="en-US" sz="1400" b="1" dirty="0"/>
              <a:t>       </a:t>
            </a:r>
            <a:r>
              <a:rPr lang="en-US" sz="1400" b="1" dirty="0" err="1"/>
              <a:t>X31</a:t>
            </a:r>
            <a:r>
              <a:rPr lang="en-US" sz="1400" b="1" dirty="0"/>
              <a:t>         0.000000          3.000000</a:t>
            </a:r>
          </a:p>
          <a:p>
            <a:r>
              <a:rPr lang="en-US" sz="1400" b="1" dirty="0"/>
              <a:t>       </a:t>
            </a:r>
            <a:r>
              <a:rPr lang="en-US" sz="1400" b="1" dirty="0" err="1"/>
              <a:t>X32</a:t>
            </a:r>
            <a:r>
              <a:rPr lang="en-US" sz="1400" b="1" dirty="0"/>
              <a:t>         0.000000          0.000000</a:t>
            </a:r>
          </a:p>
          <a:p>
            <a:r>
              <a:rPr lang="en-US" sz="1400" b="1" dirty="0"/>
              <a:t>       </a:t>
            </a:r>
            <a:r>
              <a:rPr lang="en-US" sz="1400" b="1" dirty="0" err="1"/>
              <a:t>X34</a:t>
            </a:r>
            <a:r>
              <a:rPr lang="en-US" sz="1400" b="1" dirty="0"/>
              <a:t>         1.000000          0.000000</a:t>
            </a:r>
          </a:p>
          <a:p>
            <a:r>
              <a:rPr lang="en-US" sz="1400" b="1" dirty="0"/>
              <a:t>       </a:t>
            </a:r>
            <a:r>
              <a:rPr lang="en-US" sz="1400" b="1" dirty="0" err="1"/>
              <a:t>X41</a:t>
            </a:r>
            <a:r>
              <a:rPr lang="en-US" sz="1400" b="1" dirty="0"/>
              <a:t>         0.000000          6.000000</a:t>
            </a:r>
          </a:p>
          <a:p>
            <a:r>
              <a:rPr lang="en-US" sz="1400" b="1" dirty="0"/>
              <a:t>       </a:t>
            </a:r>
            <a:r>
              <a:rPr lang="en-US" sz="1400" b="1" dirty="0" err="1"/>
              <a:t>X42</a:t>
            </a:r>
            <a:r>
              <a:rPr lang="en-US" sz="1400" b="1" dirty="0"/>
              <a:t>         0.000000          0.000000</a:t>
            </a:r>
          </a:p>
          <a:p>
            <a:r>
              <a:rPr lang="en-US" sz="1400" b="1" dirty="0"/>
              <a:t>       </a:t>
            </a:r>
            <a:r>
              <a:rPr lang="en-US" sz="1400" b="1" dirty="0" err="1"/>
              <a:t>X43</a:t>
            </a:r>
            <a:r>
              <a:rPr lang="en-US" sz="1400" b="1" dirty="0"/>
              <a:t>         1.000000          0.000000</a:t>
            </a:r>
            <a:endParaRPr lang="es-PE" sz="1400" b="1" dirty="0"/>
          </a:p>
        </p:txBody>
      </p:sp>
    </p:spTree>
    <p:extLst>
      <p:ext uri="{BB962C8B-B14F-4D97-AF65-F5344CB8AC3E}">
        <p14:creationId xmlns:p14="http://schemas.microsoft.com/office/powerpoint/2010/main" val="306145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B627A79-513E-D8AC-DE48-907DE0ED8D13}"/>
              </a:ext>
            </a:extLst>
          </p:cNvPr>
          <p:cNvSpPr txBox="1"/>
          <p:nvPr/>
        </p:nvSpPr>
        <p:spPr>
          <a:xfrm>
            <a:off x="0" y="1332637"/>
            <a:ext cx="4972594" cy="1938992"/>
          </a:xfrm>
          <a:prstGeom prst="rect">
            <a:avLst/>
          </a:prstGeom>
          <a:solidFill>
            <a:schemeClr val="accent4">
              <a:lumMod val="20000"/>
              <a:lumOff val="80000"/>
            </a:schemeClr>
          </a:solidFill>
        </p:spPr>
        <p:txBody>
          <a:bodyPr wrap="square">
            <a:spAutoFit/>
          </a:bodyPr>
          <a:lstStyle/>
          <a:p>
            <a:r>
              <a:rPr lang="es-ES" sz="2000" b="1" dirty="0"/>
              <a:t>Selección de Empleados</a:t>
            </a:r>
          </a:p>
          <a:p>
            <a:r>
              <a:rPr lang="es-ES" sz="2000" b="1" dirty="0"/>
              <a:t>Descripción:</a:t>
            </a:r>
          </a:p>
          <a:p>
            <a:r>
              <a:rPr lang="es-ES" sz="2000" dirty="0"/>
              <a:t>Una empresa debe seleccionar un equipo de 5 empleados de un conjunto de candidatos, maximizando el beneficio total del equipo.</a:t>
            </a:r>
          </a:p>
          <a:p>
            <a:r>
              <a:rPr lang="es-ES" sz="2000" b="1" dirty="0"/>
              <a:t>Datos:</a:t>
            </a:r>
          </a:p>
        </p:txBody>
      </p:sp>
      <p:graphicFrame>
        <p:nvGraphicFramePr>
          <p:cNvPr id="5" name="Tabla 5">
            <a:extLst>
              <a:ext uri="{FF2B5EF4-FFF2-40B4-BE49-F238E27FC236}">
                <a16:creationId xmlns:a16="http://schemas.microsoft.com/office/drawing/2014/main" id="{215F328B-7926-1E00-02BD-8F4B81779670}"/>
              </a:ext>
            </a:extLst>
          </p:cNvPr>
          <p:cNvGraphicFramePr>
            <a:graphicFrameLocks noGrp="1"/>
          </p:cNvGraphicFramePr>
          <p:nvPr>
            <p:extLst>
              <p:ext uri="{D42A27DB-BD31-4B8C-83A1-F6EECF244321}">
                <p14:modId xmlns:p14="http://schemas.microsoft.com/office/powerpoint/2010/main" val="1503866986"/>
              </p:ext>
            </p:extLst>
          </p:nvPr>
        </p:nvGraphicFramePr>
        <p:xfrm>
          <a:off x="1" y="3429000"/>
          <a:ext cx="4972593" cy="2595880"/>
        </p:xfrm>
        <a:graphic>
          <a:graphicData uri="http://schemas.openxmlformats.org/drawingml/2006/table">
            <a:tbl>
              <a:tblPr firstRow="1" bandRow="1">
                <a:tableStyleId>{5C22544A-7EE6-4342-B048-85BDC9FD1C3A}</a:tableStyleId>
              </a:tblPr>
              <a:tblGrid>
                <a:gridCol w="1657531">
                  <a:extLst>
                    <a:ext uri="{9D8B030D-6E8A-4147-A177-3AD203B41FA5}">
                      <a16:colId xmlns:a16="http://schemas.microsoft.com/office/drawing/2014/main" val="1605799880"/>
                    </a:ext>
                  </a:extLst>
                </a:gridCol>
                <a:gridCol w="1657531">
                  <a:extLst>
                    <a:ext uri="{9D8B030D-6E8A-4147-A177-3AD203B41FA5}">
                      <a16:colId xmlns:a16="http://schemas.microsoft.com/office/drawing/2014/main" val="767927515"/>
                    </a:ext>
                  </a:extLst>
                </a:gridCol>
                <a:gridCol w="1657531">
                  <a:extLst>
                    <a:ext uri="{9D8B030D-6E8A-4147-A177-3AD203B41FA5}">
                      <a16:colId xmlns:a16="http://schemas.microsoft.com/office/drawing/2014/main" val="2284800561"/>
                    </a:ext>
                  </a:extLst>
                </a:gridCol>
              </a:tblGrid>
              <a:tr h="370840">
                <a:tc>
                  <a:txBody>
                    <a:bodyPr/>
                    <a:lstStyle/>
                    <a:p>
                      <a:pPr algn="ctr"/>
                      <a:r>
                        <a:rPr lang="es-ES" b="1" dirty="0"/>
                        <a:t>Empleado</a:t>
                      </a:r>
                      <a:endParaRPr lang="es-PE" b="1" dirty="0"/>
                    </a:p>
                  </a:txBody>
                  <a:tcPr/>
                </a:tc>
                <a:tc>
                  <a:txBody>
                    <a:bodyPr/>
                    <a:lstStyle/>
                    <a:p>
                      <a:pPr algn="ctr"/>
                      <a:r>
                        <a:rPr lang="es-ES" b="1" dirty="0"/>
                        <a:t>Costo</a:t>
                      </a:r>
                      <a:endParaRPr lang="es-PE" b="1" dirty="0"/>
                    </a:p>
                  </a:txBody>
                  <a:tcPr/>
                </a:tc>
                <a:tc>
                  <a:txBody>
                    <a:bodyPr/>
                    <a:lstStyle/>
                    <a:p>
                      <a:pPr algn="ctr"/>
                      <a:r>
                        <a:rPr lang="es-ES" b="1" dirty="0"/>
                        <a:t>Beneficio</a:t>
                      </a:r>
                      <a:endParaRPr lang="es-PE" b="1" dirty="0"/>
                    </a:p>
                  </a:txBody>
                  <a:tcPr/>
                </a:tc>
                <a:extLst>
                  <a:ext uri="{0D108BD9-81ED-4DB2-BD59-A6C34878D82A}">
                    <a16:rowId xmlns:a16="http://schemas.microsoft.com/office/drawing/2014/main" val="3252129510"/>
                  </a:ext>
                </a:extLst>
              </a:tr>
              <a:tr h="370840">
                <a:tc>
                  <a:txBody>
                    <a:bodyPr/>
                    <a:lstStyle/>
                    <a:p>
                      <a:pPr algn="ctr"/>
                      <a:r>
                        <a:rPr lang="es-ES" b="1" dirty="0"/>
                        <a:t>1</a:t>
                      </a:r>
                      <a:endParaRPr lang="es-PE" b="1" dirty="0"/>
                    </a:p>
                  </a:txBody>
                  <a:tcPr/>
                </a:tc>
                <a:tc>
                  <a:txBody>
                    <a:bodyPr/>
                    <a:lstStyle/>
                    <a:p>
                      <a:pPr algn="ctr"/>
                      <a:r>
                        <a:rPr lang="es-ES" b="1" dirty="0"/>
                        <a:t>5</a:t>
                      </a:r>
                      <a:endParaRPr lang="es-PE" b="1" dirty="0"/>
                    </a:p>
                  </a:txBody>
                  <a:tcPr/>
                </a:tc>
                <a:tc>
                  <a:txBody>
                    <a:bodyPr/>
                    <a:lstStyle/>
                    <a:p>
                      <a:pPr algn="ctr"/>
                      <a:r>
                        <a:rPr lang="es-ES" b="1" dirty="0"/>
                        <a:t>8</a:t>
                      </a:r>
                      <a:endParaRPr lang="es-PE" b="1" dirty="0"/>
                    </a:p>
                  </a:txBody>
                  <a:tcPr/>
                </a:tc>
                <a:extLst>
                  <a:ext uri="{0D108BD9-81ED-4DB2-BD59-A6C34878D82A}">
                    <a16:rowId xmlns:a16="http://schemas.microsoft.com/office/drawing/2014/main" val="3204704214"/>
                  </a:ext>
                </a:extLst>
              </a:tr>
              <a:tr h="370840">
                <a:tc>
                  <a:txBody>
                    <a:bodyPr/>
                    <a:lstStyle/>
                    <a:p>
                      <a:pPr algn="ctr"/>
                      <a:r>
                        <a:rPr lang="es-ES" b="1" dirty="0"/>
                        <a:t>2</a:t>
                      </a:r>
                      <a:endParaRPr lang="es-PE" b="1" dirty="0"/>
                    </a:p>
                  </a:txBody>
                  <a:tcPr/>
                </a:tc>
                <a:tc>
                  <a:txBody>
                    <a:bodyPr/>
                    <a:lstStyle/>
                    <a:p>
                      <a:pPr algn="ctr"/>
                      <a:r>
                        <a:rPr lang="es-ES" b="1" dirty="0"/>
                        <a:t>4</a:t>
                      </a:r>
                      <a:endParaRPr lang="es-PE" b="1" dirty="0"/>
                    </a:p>
                  </a:txBody>
                  <a:tcPr/>
                </a:tc>
                <a:tc>
                  <a:txBody>
                    <a:bodyPr/>
                    <a:lstStyle/>
                    <a:p>
                      <a:pPr algn="ctr"/>
                      <a:r>
                        <a:rPr lang="es-ES" b="1" dirty="0"/>
                        <a:t>7</a:t>
                      </a:r>
                      <a:endParaRPr lang="es-PE" b="1" dirty="0"/>
                    </a:p>
                  </a:txBody>
                  <a:tcPr/>
                </a:tc>
                <a:extLst>
                  <a:ext uri="{0D108BD9-81ED-4DB2-BD59-A6C34878D82A}">
                    <a16:rowId xmlns:a16="http://schemas.microsoft.com/office/drawing/2014/main" val="3325691812"/>
                  </a:ext>
                </a:extLst>
              </a:tr>
              <a:tr h="370840">
                <a:tc>
                  <a:txBody>
                    <a:bodyPr/>
                    <a:lstStyle/>
                    <a:p>
                      <a:pPr algn="ctr"/>
                      <a:r>
                        <a:rPr lang="es-ES" b="1" dirty="0"/>
                        <a:t>3</a:t>
                      </a:r>
                      <a:endParaRPr lang="es-PE" b="1" dirty="0"/>
                    </a:p>
                  </a:txBody>
                  <a:tcPr/>
                </a:tc>
                <a:tc>
                  <a:txBody>
                    <a:bodyPr/>
                    <a:lstStyle/>
                    <a:p>
                      <a:pPr algn="ctr"/>
                      <a:r>
                        <a:rPr lang="es-ES" b="1" dirty="0"/>
                        <a:t>6</a:t>
                      </a:r>
                      <a:endParaRPr lang="es-PE" b="1" dirty="0"/>
                    </a:p>
                  </a:txBody>
                  <a:tcPr/>
                </a:tc>
                <a:tc>
                  <a:txBody>
                    <a:bodyPr/>
                    <a:lstStyle/>
                    <a:p>
                      <a:pPr algn="ctr"/>
                      <a:r>
                        <a:rPr lang="es-ES" b="1" dirty="0"/>
                        <a:t>10</a:t>
                      </a:r>
                      <a:endParaRPr lang="es-PE" b="1" dirty="0"/>
                    </a:p>
                  </a:txBody>
                  <a:tcPr/>
                </a:tc>
                <a:extLst>
                  <a:ext uri="{0D108BD9-81ED-4DB2-BD59-A6C34878D82A}">
                    <a16:rowId xmlns:a16="http://schemas.microsoft.com/office/drawing/2014/main" val="283178345"/>
                  </a:ext>
                </a:extLst>
              </a:tr>
              <a:tr h="370840">
                <a:tc>
                  <a:txBody>
                    <a:bodyPr/>
                    <a:lstStyle/>
                    <a:p>
                      <a:pPr algn="ctr"/>
                      <a:r>
                        <a:rPr lang="es-ES" b="1" dirty="0"/>
                        <a:t>4</a:t>
                      </a:r>
                      <a:endParaRPr lang="es-PE" b="1" dirty="0"/>
                    </a:p>
                  </a:txBody>
                  <a:tcPr/>
                </a:tc>
                <a:tc>
                  <a:txBody>
                    <a:bodyPr/>
                    <a:lstStyle/>
                    <a:p>
                      <a:pPr algn="ctr"/>
                      <a:r>
                        <a:rPr lang="es-ES" b="1" dirty="0"/>
                        <a:t>3</a:t>
                      </a:r>
                      <a:endParaRPr lang="es-PE" b="1" dirty="0"/>
                    </a:p>
                  </a:txBody>
                  <a:tcPr/>
                </a:tc>
                <a:tc>
                  <a:txBody>
                    <a:bodyPr/>
                    <a:lstStyle/>
                    <a:p>
                      <a:pPr algn="ctr"/>
                      <a:r>
                        <a:rPr lang="es-ES" b="1" dirty="0"/>
                        <a:t>5</a:t>
                      </a:r>
                      <a:endParaRPr lang="es-PE" b="1" dirty="0"/>
                    </a:p>
                  </a:txBody>
                  <a:tcPr/>
                </a:tc>
                <a:extLst>
                  <a:ext uri="{0D108BD9-81ED-4DB2-BD59-A6C34878D82A}">
                    <a16:rowId xmlns:a16="http://schemas.microsoft.com/office/drawing/2014/main" val="4175717878"/>
                  </a:ext>
                </a:extLst>
              </a:tr>
              <a:tr h="370840">
                <a:tc>
                  <a:txBody>
                    <a:bodyPr/>
                    <a:lstStyle/>
                    <a:p>
                      <a:pPr algn="ctr"/>
                      <a:r>
                        <a:rPr lang="es-ES" b="1" dirty="0"/>
                        <a:t>5</a:t>
                      </a:r>
                      <a:endParaRPr lang="es-PE" b="1" dirty="0"/>
                    </a:p>
                  </a:txBody>
                  <a:tcPr/>
                </a:tc>
                <a:tc>
                  <a:txBody>
                    <a:bodyPr/>
                    <a:lstStyle/>
                    <a:p>
                      <a:pPr algn="ctr"/>
                      <a:r>
                        <a:rPr lang="es-ES" b="1" dirty="0"/>
                        <a:t>7</a:t>
                      </a:r>
                      <a:endParaRPr lang="es-PE" b="1" dirty="0"/>
                    </a:p>
                  </a:txBody>
                  <a:tcPr/>
                </a:tc>
                <a:tc>
                  <a:txBody>
                    <a:bodyPr/>
                    <a:lstStyle/>
                    <a:p>
                      <a:pPr algn="ctr"/>
                      <a:r>
                        <a:rPr lang="es-ES" b="1" dirty="0"/>
                        <a:t>12</a:t>
                      </a:r>
                      <a:endParaRPr lang="es-PE" b="1" dirty="0"/>
                    </a:p>
                  </a:txBody>
                  <a:tcPr/>
                </a:tc>
                <a:extLst>
                  <a:ext uri="{0D108BD9-81ED-4DB2-BD59-A6C34878D82A}">
                    <a16:rowId xmlns:a16="http://schemas.microsoft.com/office/drawing/2014/main" val="3098586355"/>
                  </a:ext>
                </a:extLst>
              </a:tr>
              <a:tr h="370840">
                <a:tc>
                  <a:txBody>
                    <a:bodyPr/>
                    <a:lstStyle/>
                    <a:p>
                      <a:pPr algn="ctr"/>
                      <a:r>
                        <a:rPr lang="es-ES" b="1" dirty="0"/>
                        <a:t>Presupuesto</a:t>
                      </a:r>
                      <a:endParaRPr lang="es-PE" b="1" dirty="0"/>
                    </a:p>
                  </a:txBody>
                  <a:tcPr/>
                </a:tc>
                <a:tc>
                  <a:txBody>
                    <a:bodyPr/>
                    <a:lstStyle/>
                    <a:p>
                      <a:pPr algn="ctr"/>
                      <a:r>
                        <a:rPr lang="es-ES" b="1" dirty="0"/>
                        <a:t>15</a:t>
                      </a:r>
                      <a:endParaRPr lang="es-PE" b="1" dirty="0"/>
                    </a:p>
                  </a:txBody>
                  <a:tcPr/>
                </a:tc>
                <a:tc>
                  <a:txBody>
                    <a:bodyPr/>
                    <a:lstStyle/>
                    <a:p>
                      <a:pPr algn="ctr"/>
                      <a:endParaRPr lang="es-PE" b="1" dirty="0"/>
                    </a:p>
                  </a:txBody>
                  <a:tcPr/>
                </a:tc>
                <a:extLst>
                  <a:ext uri="{0D108BD9-81ED-4DB2-BD59-A6C34878D82A}">
                    <a16:rowId xmlns:a16="http://schemas.microsoft.com/office/drawing/2014/main" val="3181661549"/>
                  </a:ext>
                </a:extLst>
              </a:tr>
            </a:tbl>
          </a:graphicData>
        </a:graphic>
      </p:graphicFrame>
      <p:sp>
        <p:nvSpPr>
          <p:cNvPr id="7" name="CuadroTexto 6">
            <a:extLst>
              <a:ext uri="{FF2B5EF4-FFF2-40B4-BE49-F238E27FC236}">
                <a16:creationId xmlns:a16="http://schemas.microsoft.com/office/drawing/2014/main" id="{5AA4C31E-0C5D-FF9B-2120-E37BDD58E3CD}"/>
              </a:ext>
            </a:extLst>
          </p:cNvPr>
          <p:cNvSpPr txBox="1"/>
          <p:nvPr/>
        </p:nvSpPr>
        <p:spPr>
          <a:xfrm>
            <a:off x="6105524" y="1332637"/>
            <a:ext cx="6134100" cy="3785652"/>
          </a:xfrm>
          <a:prstGeom prst="rect">
            <a:avLst/>
          </a:prstGeom>
          <a:solidFill>
            <a:schemeClr val="accent3">
              <a:lumMod val="40000"/>
              <a:lumOff val="60000"/>
            </a:schemeClr>
          </a:solidFill>
        </p:spPr>
        <p:txBody>
          <a:bodyPr wrap="square">
            <a:spAutoFit/>
          </a:bodyPr>
          <a:lstStyle/>
          <a:p>
            <a:r>
              <a:rPr lang="es-PE" sz="2400" b="1" dirty="0"/>
              <a:t>Formulación del Modelo:</a:t>
            </a:r>
          </a:p>
          <a:p>
            <a:r>
              <a:rPr lang="es-PE" sz="2400" dirty="0"/>
              <a:t>Variables: </a:t>
            </a:r>
          </a:p>
          <a:p>
            <a:r>
              <a:rPr lang="es-PE" sz="2400" dirty="0"/>
              <a:t>xi​ = 1 si el empleado i es seleccionado, </a:t>
            </a:r>
          </a:p>
          <a:p>
            <a:r>
              <a:rPr lang="es-PE" sz="2400" dirty="0"/>
              <a:t>       0 en caso contrario.</a:t>
            </a:r>
          </a:p>
          <a:p>
            <a:r>
              <a:rPr lang="es-PE" sz="2400" dirty="0"/>
              <a:t>Función objetivo: </a:t>
            </a:r>
          </a:p>
          <a:p>
            <a:r>
              <a:rPr lang="es-PE" sz="2400" dirty="0"/>
              <a:t>Max  </a:t>
            </a:r>
            <a:r>
              <a:rPr lang="es-PE" sz="2400" dirty="0" err="1"/>
              <a:t>8X1+7X2+10X3+5X4+12X5</a:t>
            </a:r>
            <a:endParaRPr lang="es-PE" sz="2400" dirty="0"/>
          </a:p>
          <a:p>
            <a:r>
              <a:rPr lang="es-PE" sz="2400" dirty="0"/>
              <a:t>Restricciones:</a:t>
            </a:r>
          </a:p>
          <a:p>
            <a:r>
              <a:rPr lang="es-PE" sz="2400" dirty="0"/>
              <a:t>No exceder el presupuesto: </a:t>
            </a:r>
          </a:p>
          <a:p>
            <a:r>
              <a:rPr lang="es-PE" sz="2400" dirty="0" err="1"/>
              <a:t>5X1+4X2+6X3+3X4+7X5</a:t>
            </a:r>
            <a:r>
              <a:rPr lang="es-PE" sz="2400" dirty="0"/>
              <a:t> &lt;=15</a:t>
            </a:r>
          </a:p>
          <a:p>
            <a:r>
              <a:rPr lang="es-PE" sz="2400" dirty="0"/>
              <a:t>Xi&gt;=0, BINARIO</a:t>
            </a:r>
          </a:p>
        </p:txBody>
      </p:sp>
      <p:sp>
        <p:nvSpPr>
          <p:cNvPr id="2" name="Rectangle 2">
            <a:extLst>
              <a:ext uri="{FF2B5EF4-FFF2-40B4-BE49-F238E27FC236}">
                <a16:creationId xmlns:a16="http://schemas.microsoft.com/office/drawing/2014/main" id="{63C7F6FB-EA71-F346-FAE1-82C1A6C9DADC}"/>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14</a:t>
            </a:r>
          </a:p>
        </p:txBody>
      </p:sp>
      <p:sp>
        <p:nvSpPr>
          <p:cNvPr id="6" name="CuadroTexto 5">
            <a:extLst>
              <a:ext uri="{FF2B5EF4-FFF2-40B4-BE49-F238E27FC236}">
                <a16:creationId xmlns:a16="http://schemas.microsoft.com/office/drawing/2014/main" id="{D7E7BBB9-3761-908C-7756-627B08411D47}"/>
              </a:ext>
            </a:extLst>
          </p:cNvPr>
          <p:cNvSpPr txBox="1"/>
          <p:nvPr/>
        </p:nvSpPr>
        <p:spPr>
          <a:xfrm>
            <a:off x="8540686" y="5042118"/>
            <a:ext cx="3421930" cy="1815882"/>
          </a:xfrm>
          <a:prstGeom prst="rect">
            <a:avLst/>
          </a:prstGeom>
          <a:solidFill>
            <a:schemeClr val="accent6">
              <a:lumMod val="40000"/>
              <a:lumOff val="60000"/>
            </a:schemeClr>
          </a:solidFill>
        </p:spPr>
        <p:txBody>
          <a:bodyPr wrap="square">
            <a:spAutoFit/>
          </a:bodyPr>
          <a:lstStyle/>
          <a:p>
            <a:r>
              <a:rPr lang="es-PE" sz="1400" b="1" dirty="0"/>
              <a:t> </a:t>
            </a:r>
            <a:r>
              <a:rPr lang="es-PE" sz="1400" b="1" dirty="0" err="1"/>
              <a:t>OBJECTIVE</a:t>
            </a:r>
            <a:r>
              <a:rPr lang="es-PE" sz="1400" b="1" dirty="0"/>
              <a:t> </a:t>
            </a:r>
            <a:r>
              <a:rPr lang="es-PE" sz="1400" b="1" dirty="0" err="1"/>
              <a:t>FUNCTION</a:t>
            </a:r>
            <a:r>
              <a:rPr lang="es-PE" sz="1400" b="1" dirty="0"/>
              <a:t> </a:t>
            </a:r>
            <a:r>
              <a:rPr lang="es-PE" sz="1400" b="1" dirty="0" err="1"/>
              <a:t>VALUE</a:t>
            </a:r>
            <a:endParaRPr lang="es-PE" sz="1400" b="1" dirty="0"/>
          </a:p>
          <a:p>
            <a:r>
              <a:rPr lang="es-PE" sz="1400" b="1" dirty="0"/>
              <a:t>        1)      25.00000</a:t>
            </a:r>
          </a:p>
          <a:p>
            <a:r>
              <a:rPr lang="es-PE" sz="1400" b="1" dirty="0"/>
              <a:t>  VARIABLE        </a:t>
            </a:r>
            <a:r>
              <a:rPr lang="es-PE" sz="1400" b="1" dirty="0" err="1"/>
              <a:t>VALUE</a:t>
            </a:r>
            <a:r>
              <a:rPr lang="es-PE" sz="1400" b="1" dirty="0"/>
              <a:t>          </a:t>
            </a:r>
            <a:r>
              <a:rPr lang="es-PE" sz="1400" b="1" dirty="0" err="1"/>
              <a:t>REDUCED</a:t>
            </a:r>
            <a:r>
              <a:rPr lang="es-PE" sz="1400" b="1" dirty="0"/>
              <a:t> </a:t>
            </a:r>
            <a:r>
              <a:rPr lang="es-PE" sz="1400" b="1" dirty="0" err="1"/>
              <a:t>COST</a:t>
            </a:r>
            <a:endParaRPr lang="es-PE" sz="1400" b="1" dirty="0"/>
          </a:p>
          <a:p>
            <a:r>
              <a:rPr lang="es-PE" sz="1400" b="1" dirty="0"/>
              <a:t>        </a:t>
            </a:r>
            <a:r>
              <a:rPr lang="es-PE" sz="1400" b="1" dirty="0" err="1"/>
              <a:t>X1</a:t>
            </a:r>
            <a:r>
              <a:rPr lang="es-PE" sz="1400" b="1" dirty="0"/>
              <a:t>         1.000000         -8.000000</a:t>
            </a:r>
          </a:p>
          <a:p>
            <a:r>
              <a:rPr lang="es-PE" sz="1400" b="1" dirty="0"/>
              <a:t>        </a:t>
            </a:r>
            <a:r>
              <a:rPr lang="es-PE" sz="1400" b="1" dirty="0" err="1"/>
              <a:t>X2</a:t>
            </a:r>
            <a:r>
              <a:rPr lang="es-PE" sz="1400" b="1" dirty="0"/>
              <a:t>         1.000000         -7.000000</a:t>
            </a:r>
          </a:p>
          <a:p>
            <a:r>
              <a:rPr lang="es-PE" sz="1400" b="1" dirty="0"/>
              <a:t>        </a:t>
            </a:r>
            <a:r>
              <a:rPr lang="es-PE" sz="1400" b="1" dirty="0" err="1"/>
              <a:t>X3</a:t>
            </a:r>
            <a:r>
              <a:rPr lang="es-PE" sz="1400" b="1" dirty="0"/>
              <a:t>         1.000000        -10.000000</a:t>
            </a:r>
          </a:p>
          <a:p>
            <a:r>
              <a:rPr lang="es-PE" sz="1400" b="1" dirty="0"/>
              <a:t>        </a:t>
            </a:r>
            <a:r>
              <a:rPr lang="es-PE" sz="1400" b="1" dirty="0" err="1"/>
              <a:t>X4</a:t>
            </a:r>
            <a:r>
              <a:rPr lang="es-PE" sz="1400" b="1" dirty="0"/>
              <a:t>         0.000000         -5.000000</a:t>
            </a:r>
          </a:p>
          <a:p>
            <a:r>
              <a:rPr lang="es-PE" sz="1400" b="1" dirty="0"/>
              <a:t>        </a:t>
            </a:r>
            <a:r>
              <a:rPr lang="es-PE" sz="1400" b="1" dirty="0" err="1"/>
              <a:t>X5</a:t>
            </a:r>
            <a:r>
              <a:rPr lang="es-PE" sz="1400" b="1" dirty="0"/>
              <a:t>         0.000000        -12.000000</a:t>
            </a:r>
          </a:p>
        </p:txBody>
      </p:sp>
    </p:spTree>
    <p:extLst>
      <p:ext uri="{BB962C8B-B14F-4D97-AF65-F5344CB8AC3E}">
        <p14:creationId xmlns:p14="http://schemas.microsoft.com/office/powerpoint/2010/main" val="394177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36FDBEB-4C33-A56C-A8C2-643C29A633DE}"/>
              </a:ext>
            </a:extLst>
          </p:cNvPr>
          <p:cNvSpPr txBox="1"/>
          <p:nvPr/>
        </p:nvSpPr>
        <p:spPr>
          <a:xfrm>
            <a:off x="0" y="1356836"/>
            <a:ext cx="5464956" cy="1631216"/>
          </a:xfrm>
          <a:prstGeom prst="rect">
            <a:avLst/>
          </a:prstGeom>
          <a:noFill/>
        </p:spPr>
        <p:txBody>
          <a:bodyPr wrap="square">
            <a:spAutoFit/>
          </a:bodyPr>
          <a:lstStyle/>
          <a:p>
            <a:r>
              <a:rPr lang="es-ES" sz="2000" b="1" dirty="0"/>
              <a:t>Optimización de Horarios</a:t>
            </a:r>
          </a:p>
          <a:p>
            <a:r>
              <a:rPr lang="es-ES" sz="2000" b="1" dirty="0"/>
              <a:t>Descripción:</a:t>
            </a:r>
          </a:p>
          <a:p>
            <a:r>
              <a:rPr lang="es-ES" sz="2000" dirty="0"/>
              <a:t>Una universidad debe asignar 3 cursos a 3 franjas horarias, minimizando el costo total de asignación.</a:t>
            </a:r>
          </a:p>
          <a:p>
            <a:r>
              <a:rPr lang="es-ES" sz="2000" b="1" dirty="0"/>
              <a:t>Datos:</a:t>
            </a:r>
          </a:p>
        </p:txBody>
      </p:sp>
      <p:graphicFrame>
        <p:nvGraphicFramePr>
          <p:cNvPr id="5" name="Tabla 5">
            <a:extLst>
              <a:ext uri="{FF2B5EF4-FFF2-40B4-BE49-F238E27FC236}">
                <a16:creationId xmlns:a16="http://schemas.microsoft.com/office/drawing/2014/main" id="{24BBE419-E08B-26FD-E4FA-D189E3FAB9C3}"/>
              </a:ext>
            </a:extLst>
          </p:cNvPr>
          <p:cNvGraphicFramePr>
            <a:graphicFrameLocks noGrp="1"/>
          </p:cNvGraphicFramePr>
          <p:nvPr>
            <p:extLst>
              <p:ext uri="{D42A27DB-BD31-4B8C-83A1-F6EECF244321}">
                <p14:modId xmlns:p14="http://schemas.microsoft.com/office/powerpoint/2010/main" val="3939644101"/>
              </p:ext>
            </p:extLst>
          </p:nvPr>
        </p:nvGraphicFramePr>
        <p:xfrm>
          <a:off x="0" y="3062816"/>
          <a:ext cx="5464956" cy="1584960"/>
        </p:xfrm>
        <a:graphic>
          <a:graphicData uri="http://schemas.openxmlformats.org/drawingml/2006/table">
            <a:tbl>
              <a:tblPr firstRow="1" bandRow="1">
                <a:tableStyleId>{5C22544A-7EE6-4342-B048-85BDC9FD1C3A}</a:tableStyleId>
              </a:tblPr>
              <a:tblGrid>
                <a:gridCol w="1366239">
                  <a:extLst>
                    <a:ext uri="{9D8B030D-6E8A-4147-A177-3AD203B41FA5}">
                      <a16:colId xmlns:a16="http://schemas.microsoft.com/office/drawing/2014/main" val="3736270591"/>
                    </a:ext>
                  </a:extLst>
                </a:gridCol>
                <a:gridCol w="1366239">
                  <a:extLst>
                    <a:ext uri="{9D8B030D-6E8A-4147-A177-3AD203B41FA5}">
                      <a16:colId xmlns:a16="http://schemas.microsoft.com/office/drawing/2014/main" val="2380512067"/>
                    </a:ext>
                  </a:extLst>
                </a:gridCol>
                <a:gridCol w="1366239">
                  <a:extLst>
                    <a:ext uri="{9D8B030D-6E8A-4147-A177-3AD203B41FA5}">
                      <a16:colId xmlns:a16="http://schemas.microsoft.com/office/drawing/2014/main" val="3321513174"/>
                    </a:ext>
                  </a:extLst>
                </a:gridCol>
                <a:gridCol w="1366239">
                  <a:extLst>
                    <a:ext uri="{9D8B030D-6E8A-4147-A177-3AD203B41FA5}">
                      <a16:colId xmlns:a16="http://schemas.microsoft.com/office/drawing/2014/main" val="1196621988"/>
                    </a:ext>
                  </a:extLst>
                </a:gridCol>
              </a:tblGrid>
              <a:tr h="369332">
                <a:tc>
                  <a:txBody>
                    <a:bodyPr/>
                    <a:lstStyle/>
                    <a:p>
                      <a:pPr algn="ctr"/>
                      <a:endParaRPr lang="es-PE" sz="2000" dirty="0"/>
                    </a:p>
                  </a:txBody>
                  <a:tcPr/>
                </a:tc>
                <a:tc>
                  <a:txBody>
                    <a:bodyPr/>
                    <a:lstStyle/>
                    <a:p>
                      <a:pPr algn="ctr"/>
                      <a:r>
                        <a:rPr lang="es-ES" sz="2000" dirty="0"/>
                        <a:t>Franja 1</a:t>
                      </a:r>
                      <a:endParaRPr lang="es-PE" sz="2000" dirty="0"/>
                    </a:p>
                  </a:txBody>
                  <a:tcPr/>
                </a:tc>
                <a:tc>
                  <a:txBody>
                    <a:bodyPr/>
                    <a:lstStyle/>
                    <a:p>
                      <a:pPr algn="ctr"/>
                      <a:r>
                        <a:rPr lang="es-ES" sz="2000" dirty="0"/>
                        <a:t>Franja 2</a:t>
                      </a:r>
                      <a:endParaRPr lang="es-PE" sz="2000" dirty="0"/>
                    </a:p>
                  </a:txBody>
                  <a:tcPr/>
                </a:tc>
                <a:tc>
                  <a:txBody>
                    <a:bodyPr/>
                    <a:lstStyle/>
                    <a:p>
                      <a:pPr algn="ctr"/>
                      <a:r>
                        <a:rPr lang="es-ES" sz="2000" dirty="0"/>
                        <a:t>Franja 3</a:t>
                      </a:r>
                    </a:p>
                  </a:txBody>
                  <a:tcPr/>
                </a:tc>
                <a:extLst>
                  <a:ext uri="{0D108BD9-81ED-4DB2-BD59-A6C34878D82A}">
                    <a16:rowId xmlns:a16="http://schemas.microsoft.com/office/drawing/2014/main" val="3356082854"/>
                  </a:ext>
                </a:extLst>
              </a:tr>
              <a:tr h="369332">
                <a:tc>
                  <a:txBody>
                    <a:bodyPr/>
                    <a:lstStyle/>
                    <a:p>
                      <a:pPr algn="ctr"/>
                      <a:r>
                        <a:rPr lang="es-ES" sz="2000" dirty="0"/>
                        <a:t>Curso 1</a:t>
                      </a:r>
                      <a:endParaRPr lang="es-PE" sz="2000" dirty="0"/>
                    </a:p>
                  </a:txBody>
                  <a:tcPr/>
                </a:tc>
                <a:tc>
                  <a:txBody>
                    <a:bodyPr/>
                    <a:lstStyle/>
                    <a:p>
                      <a:pPr algn="ctr"/>
                      <a:r>
                        <a:rPr lang="es-ES" sz="2000" dirty="0"/>
                        <a:t>3</a:t>
                      </a:r>
                      <a:endParaRPr lang="es-PE" sz="2000" dirty="0"/>
                    </a:p>
                  </a:txBody>
                  <a:tcPr/>
                </a:tc>
                <a:tc>
                  <a:txBody>
                    <a:bodyPr/>
                    <a:lstStyle/>
                    <a:p>
                      <a:pPr algn="ctr"/>
                      <a:r>
                        <a:rPr lang="es-ES" sz="2000" dirty="0"/>
                        <a:t>4</a:t>
                      </a:r>
                      <a:endParaRPr lang="es-PE" sz="2000" dirty="0"/>
                    </a:p>
                  </a:txBody>
                  <a:tcPr/>
                </a:tc>
                <a:tc>
                  <a:txBody>
                    <a:bodyPr/>
                    <a:lstStyle/>
                    <a:p>
                      <a:pPr algn="ctr"/>
                      <a:r>
                        <a:rPr lang="es-ES" sz="2000" dirty="0"/>
                        <a:t>5</a:t>
                      </a:r>
                      <a:endParaRPr lang="es-PE" sz="2000" dirty="0"/>
                    </a:p>
                  </a:txBody>
                  <a:tcPr/>
                </a:tc>
                <a:extLst>
                  <a:ext uri="{0D108BD9-81ED-4DB2-BD59-A6C34878D82A}">
                    <a16:rowId xmlns:a16="http://schemas.microsoft.com/office/drawing/2014/main" val="3835105213"/>
                  </a:ext>
                </a:extLst>
              </a:tr>
              <a:tr h="369332">
                <a:tc>
                  <a:txBody>
                    <a:bodyPr/>
                    <a:lstStyle/>
                    <a:p>
                      <a:pPr algn="ctr"/>
                      <a:r>
                        <a:rPr lang="es-ES" sz="2000" dirty="0"/>
                        <a:t>Curso 2</a:t>
                      </a:r>
                      <a:endParaRPr lang="es-PE" sz="2000" dirty="0"/>
                    </a:p>
                  </a:txBody>
                  <a:tcPr/>
                </a:tc>
                <a:tc>
                  <a:txBody>
                    <a:bodyPr/>
                    <a:lstStyle/>
                    <a:p>
                      <a:pPr algn="ctr"/>
                      <a:r>
                        <a:rPr lang="es-ES" sz="2000" dirty="0"/>
                        <a:t>2</a:t>
                      </a:r>
                      <a:endParaRPr lang="es-PE" sz="2000" dirty="0"/>
                    </a:p>
                  </a:txBody>
                  <a:tcPr/>
                </a:tc>
                <a:tc>
                  <a:txBody>
                    <a:bodyPr/>
                    <a:lstStyle/>
                    <a:p>
                      <a:pPr algn="ctr"/>
                      <a:r>
                        <a:rPr lang="es-ES" sz="2000" dirty="0"/>
                        <a:t>3</a:t>
                      </a:r>
                      <a:endParaRPr lang="es-PE" sz="2000" dirty="0"/>
                    </a:p>
                  </a:txBody>
                  <a:tcPr/>
                </a:tc>
                <a:tc>
                  <a:txBody>
                    <a:bodyPr/>
                    <a:lstStyle/>
                    <a:p>
                      <a:pPr algn="ctr"/>
                      <a:r>
                        <a:rPr lang="es-ES" sz="2000" dirty="0"/>
                        <a:t>6</a:t>
                      </a:r>
                      <a:endParaRPr lang="es-PE" sz="2000" dirty="0"/>
                    </a:p>
                  </a:txBody>
                  <a:tcPr/>
                </a:tc>
                <a:extLst>
                  <a:ext uri="{0D108BD9-81ED-4DB2-BD59-A6C34878D82A}">
                    <a16:rowId xmlns:a16="http://schemas.microsoft.com/office/drawing/2014/main" val="2368030421"/>
                  </a:ext>
                </a:extLst>
              </a:tr>
              <a:tr h="369332">
                <a:tc>
                  <a:txBody>
                    <a:bodyPr/>
                    <a:lstStyle/>
                    <a:p>
                      <a:pPr algn="ctr"/>
                      <a:r>
                        <a:rPr lang="es-ES" sz="2000" dirty="0"/>
                        <a:t>Curso 3</a:t>
                      </a:r>
                      <a:endParaRPr lang="es-PE" sz="2000" dirty="0"/>
                    </a:p>
                  </a:txBody>
                  <a:tcPr/>
                </a:tc>
                <a:tc>
                  <a:txBody>
                    <a:bodyPr/>
                    <a:lstStyle/>
                    <a:p>
                      <a:pPr algn="ctr"/>
                      <a:r>
                        <a:rPr lang="es-ES" sz="2000" dirty="0"/>
                        <a:t>4</a:t>
                      </a:r>
                      <a:endParaRPr lang="es-PE" sz="2000" dirty="0"/>
                    </a:p>
                  </a:txBody>
                  <a:tcPr/>
                </a:tc>
                <a:tc>
                  <a:txBody>
                    <a:bodyPr/>
                    <a:lstStyle/>
                    <a:p>
                      <a:pPr algn="ctr"/>
                      <a:r>
                        <a:rPr lang="es-ES" sz="2000" dirty="0"/>
                        <a:t>5</a:t>
                      </a:r>
                      <a:endParaRPr lang="es-PE" sz="2000" dirty="0"/>
                    </a:p>
                  </a:txBody>
                  <a:tcPr/>
                </a:tc>
                <a:tc>
                  <a:txBody>
                    <a:bodyPr/>
                    <a:lstStyle/>
                    <a:p>
                      <a:pPr algn="ctr"/>
                      <a:r>
                        <a:rPr lang="es-ES" sz="2000" dirty="0"/>
                        <a:t>3</a:t>
                      </a:r>
                      <a:endParaRPr lang="es-PE" sz="2000" dirty="0"/>
                    </a:p>
                  </a:txBody>
                  <a:tcPr/>
                </a:tc>
                <a:extLst>
                  <a:ext uri="{0D108BD9-81ED-4DB2-BD59-A6C34878D82A}">
                    <a16:rowId xmlns:a16="http://schemas.microsoft.com/office/drawing/2014/main" val="4173199875"/>
                  </a:ext>
                </a:extLst>
              </a:tr>
            </a:tbl>
          </a:graphicData>
        </a:graphic>
      </p:graphicFrame>
      <p:graphicFrame>
        <p:nvGraphicFramePr>
          <p:cNvPr id="2" name="Tabla 1">
            <a:extLst>
              <a:ext uri="{FF2B5EF4-FFF2-40B4-BE49-F238E27FC236}">
                <a16:creationId xmlns:a16="http://schemas.microsoft.com/office/drawing/2014/main" id="{971513D0-AF46-3711-F52C-12BD554A3FBB}"/>
              </a:ext>
            </a:extLst>
          </p:cNvPr>
          <p:cNvGraphicFramePr>
            <a:graphicFrameLocks noGrp="1"/>
          </p:cNvGraphicFramePr>
          <p:nvPr>
            <p:extLst>
              <p:ext uri="{D42A27DB-BD31-4B8C-83A1-F6EECF244321}">
                <p14:modId xmlns:p14="http://schemas.microsoft.com/office/powerpoint/2010/main" val="1760567736"/>
              </p:ext>
            </p:extLst>
          </p:nvPr>
        </p:nvGraphicFramePr>
        <p:xfrm>
          <a:off x="6499736" y="1429719"/>
          <a:ext cx="5464956" cy="1567142"/>
        </p:xfrm>
        <a:graphic>
          <a:graphicData uri="http://schemas.openxmlformats.org/drawingml/2006/table">
            <a:tbl>
              <a:tblPr firstRow="1" bandRow="1">
                <a:tableStyleId>{5C22544A-7EE6-4342-B048-85BDC9FD1C3A}</a:tableStyleId>
              </a:tblPr>
              <a:tblGrid>
                <a:gridCol w="455413">
                  <a:extLst>
                    <a:ext uri="{9D8B030D-6E8A-4147-A177-3AD203B41FA5}">
                      <a16:colId xmlns:a16="http://schemas.microsoft.com/office/drawing/2014/main" val="4180367564"/>
                    </a:ext>
                  </a:extLst>
                </a:gridCol>
                <a:gridCol w="455413">
                  <a:extLst>
                    <a:ext uri="{9D8B030D-6E8A-4147-A177-3AD203B41FA5}">
                      <a16:colId xmlns:a16="http://schemas.microsoft.com/office/drawing/2014/main" val="1253809284"/>
                    </a:ext>
                  </a:extLst>
                </a:gridCol>
                <a:gridCol w="455413">
                  <a:extLst>
                    <a:ext uri="{9D8B030D-6E8A-4147-A177-3AD203B41FA5}">
                      <a16:colId xmlns:a16="http://schemas.microsoft.com/office/drawing/2014/main" val="2069603784"/>
                    </a:ext>
                  </a:extLst>
                </a:gridCol>
                <a:gridCol w="455413">
                  <a:extLst>
                    <a:ext uri="{9D8B030D-6E8A-4147-A177-3AD203B41FA5}">
                      <a16:colId xmlns:a16="http://schemas.microsoft.com/office/drawing/2014/main" val="2944365739"/>
                    </a:ext>
                  </a:extLst>
                </a:gridCol>
                <a:gridCol w="455413">
                  <a:extLst>
                    <a:ext uri="{9D8B030D-6E8A-4147-A177-3AD203B41FA5}">
                      <a16:colId xmlns:a16="http://schemas.microsoft.com/office/drawing/2014/main" val="4289909199"/>
                    </a:ext>
                  </a:extLst>
                </a:gridCol>
                <a:gridCol w="455413">
                  <a:extLst>
                    <a:ext uri="{9D8B030D-6E8A-4147-A177-3AD203B41FA5}">
                      <a16:colId xmlns:a16="http://schemas.microsoft.com/office/drawing/2014/main" val="3988785754"/>
                    </a:ext>
                  </a:extLst>
                </a:gridCol>
                <a:gridCol w="455413">
                  <a:extLst>
                    <a:ext uri="{9D8B030D-6E8A-4147-A177-3AD203B41FA5}">
                      <a16:colId xmlns:a16="http://schemas.microsoft.com/office/drawing/2014/main" val="3134268193"/>
                    </a:ext>
                  </a:extLst>
                </a:gridCol>
                <a:gridCol w="455413">
                  <a:extLst>
                    <a:ext uri="{9D8B030D-6E8A-4147-A177-3AD203B41FA5}">
                      <a16:colId xmlns:a16="http://schemas.microsoft.com/office/drawing/2014/main" val="3981509332"/>
                    </a:ext>
                  </a:extLst>
                </a:gridCol>
                <a:gridCol w="455413">
                  <a:extLst>
                    <a:ext uri="{9D8B030D-6E8A-4147-A177-3AD203B41FA5}">
                      <a16:colId xmlns:a16="http://schemas.microsoft.com/office/drawing/2014/main" val="1341160869"/>
                    </a:ext>
                  </a:extLst>
                </a:gridCol>
                <a:gridCol w="455413">
                  <a:extLst>
                    <a:ext uri="{9D8B030D-6E8A-4147-A177-3AD203B41FA5}">
                      <a16:colId xmlns:a16="http://schemas.microsoft.com/office/drawing/2014/main" val="3042226399"/>
                    </a:ext>
                  </a:extLst>
                </a:gridCol>
                <a:gridCol w="455413">
                  <a:extLst>
                    <a:ext uri="{9D8B030D-6E8A-4147-A177-3AD203B41FA5}">
                      <a16:colId xmlns:a16="http://schemas.microsoft.com/office/drawing/2014/main" val="1374245312"/>
                    </a:ext>
                  </a:extLst>
                </a:gridCol>
                <a:gridCol w="455413">
                  <a:extLst>
                    <a:ext uri="{9D8B030D-6E8A-4147-A177-3AD203B41FA5}">
                      <a16:colId xmlns:a16="http://schemas.microsoft.com/office/drawing/2014/main" val="813102047"/>
                    </a:ext>
                  </a:extLst>
                </a:gridCol>
              </a:tblGrid>
              <a:tr h="399086">
                <a:tc>
                  <a:txBody>
                    <a:bodyPr/>
                    <a:lstStyle/>
                    <a:p>
                      <a:pPr algn="ctr" rtl="0" fontAlgn="ctr"/>
                      <a:r>
                        <a:rPr lang="es-ES" sz="2000" b="0" i="0" u="none" strike="noStrike" dirty="0">
                          <a:solidFill>
                            <a:schemeClr val="tx1"/>
                          </a:solidFill>
                          <a:effectLst/>
                          <a:latin typeface="Calibri" panose="020F0502020204030204" pitchFamily="34" charset="0"/>
                        </a:rPr>
                        <a:t>3</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rtl="0" fontAlgn="ctr"/>
                      <a:r>
                        <a:rPr lang="es-ES" sz="2000" b="0" i="0" u="none" strike="noStrike" dirty="0">
                          <a:solidFill>
                            <a:schemeClr val="tx1"/>
                          </a:solidFill>
                          <a:effectLst/>
                          <a:latin typeface="Calibri" panose="020F0502020204030204" pitchFamily="34" charset="0"/>
                        </a:rPr>
                        <a:t>4</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rtl="0" fontAlgn="ctr"/>
                      <a:r>
                        <a:rPr lang="es-ES" sz="2000" b="0" i="0" u="none" strike="noStrike" dirty="0">
                          <a:solidFill>
                            <a:schemeClr val="tx1"/>
                          </a:solidFill>
                          <a:effectLst/>
                          <a:latin typeface="Calibri" panose="020F0502020204030204" pitchFamily="34" charset="0"/>
                        </a:rPr>
                        <a:t>5</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fontAlgn="b"/>
                      <a:r>
                        <a:rPr lang="es-ES" sz="2000" b="0" i="0" u="none" strike="noStrike" dirty="0">
                          <a:solidFill>
                            <a:srgbClr val="FF0000"/>
                          </a:solidFill>
                          <a:effectLst/>
                          <a:latin typeface="Calibri" panose="020F0502020204030204" pitchFamily="34" charset="0"/>
                        </a:rPr>
                        <a:t>3</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1</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2</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2</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extLst>
                  <a:ext uri="{0D108BD9-81ED-4DB2-BD59-A6C34878D82A}">
                    <a16:rowId xmlns:a16="http://schemas.microsoft.com/office/drawing/2014/main" val="3272051676"/>
                  </a:ext>
                </a:extLst>
              </a:tr>
              <a:tr h="389352">
                <a:tc>
                  <a:txBody>
                    <a:bodyPr/>
                    <a:lstStyle/>
                    <a:p>
                      <a:pPr algn="ctr" rtl="0" fontAlgn="ctr"/>
                      <a:r>
                        <a:rPr lang="es-ES" sz="2000" b="0" i="0" u="none" strike="noStrike" dirty="0">
                          <a:solidFill>
                            <a:schemeClr val="tx1"/>
                          </a:solidFill>
                          <a:effectLst/>
                          <a:latin typeface="Calibri" panose="020F0502020204030204" pitchFamily="34" charset="0"/>
                        </a:rPr>
                        <a:t>2</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rtl="0" fontAlgn="ctr"/>
                      <a:r>
                        <a:rPr lang="es-ES" sz="2000" b="0" i="0" u="none" strike="noStrike" dirty="0">
                          <a:solidFill>
                            <a:schemeClr val="tx1"/>
                          </a:solidFill>
                          <a:effectLst/>
                          <a:latin typeface="Calibri" panose="020F0502020204030204" pitchFamily="34" charset="0"/>
                        </a:rPr>
                        <a:t>3</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rtl="0" fontAlgn="ctr"/>
                      <a:r>
                        <a:rPr lang="es-ES" sz="2000" b="0" i="0" u="none" strike="noStrike" dirty="0">
                          <a:solidFill>
                            <a:schemeClr val="tx1"/>
                          </a:solidFill>
                          <a:effectLst/>
                          <a:latin typeface="Calibri" panose="020F0502020204030204" pitchFamily="34" charset="0"/>
                        </a:rPr>
                        <a:t>6</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fontAlgn="b"/>
                      <a:r>
                        <a:rPr lang="es-ES" sz="2000" b="0" i="0" u="none" strike="noStrike" dirty="0">
                          <a:solidFill>
                            <a:srgbClr val="FF0000"/>
                          </a:solidFill>
                          <a:effectLst/>
                          <a:latin typeface="Calibri" panose="020F0502020204030204" pitchFamily="34" charset="0"/>
                        </a:rPr>
                        <a:t>2</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1</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4</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4</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extLst>
                  <a:ext uri="{0D108BD9-81ED-4DB2-BD59-A6C34878D82A}">
                    <a16:rowId xmlns:a16="http://schemas.microsoft.com/office/drawing/2014/main" val="3409119557"/>
                  </a:ext>
                </a:extLst>
              </a:tr>
              <a:tr h="389352">
                <a:tc>
                  <a:txBody>
                    <a:bodyPr/>
                    <a:lstStyle/>
                    <a:p>
                      <a:pPr algn="ctr" rtl="0" fontAlgn="ctr"/>
                      <a:r>
                        <a:rPr lang="es-ES" sz="2000" b="0" i="0" u="none" strike="noStrike" dirty="0">
                          <a:solidFill>
                            <a:schemeClr val="tx1"/>
                          </a:solidFill>
                          <a:effectLst/>
                          <a:latin typeface="Calibri" panose="020F0502020204030204" pitchFamily="34" charset="0"/>
                        </a:rPr>
                        <a:t>4</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rtl="0" fontAlgn="ctr"/>
                      <a:r>
                        <a:rPr lang="es-ES" sz="2000" b="0" i="0" u="none" strike="noStrike" dirty="0">
                          <a:solidFill>
                            <a:schemeClr val="tx1"/>
                          </a:solidFill>
                          <a:effectLst/>
                          <a:latin typeface="Calibri" panose="020F0502020204030204" pitchFamily="34" charset="0"/>
                        </a:rPr>
                        <a:t>5</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rtl="0" fontAlgn="ctr"/>
                      <a:r>
                        <a:rPr lang="es-ES" sz="2000" b="0" i="0" u="none" strike="noStrike" dirty="0">
                          <a:solidFill>
                            <a:schemeClr val="tx1"/>
                          </a:solidFill>
                          <a:effectLst/>
                          <a:latin typeface="Calibri" panose="020F0502020204030204" pitchFamily="34" charset="0"/>
                        </a:rPr>
                        <a:t>3</a:t>
                      </a:r>
                      <a:endParaRPr lang="es-PE" sz="2000" b="0" i="0" u="none" strike="noStrike" dirty="0">
                        <a:solidFill>
                          <a:schemeClr val="tx1"/>
                        </a:solidFill>
                        <a:effectLst/>
                        <a:latin typeface="Calibri" panose="020F0502020204030204" pitchFamily="34" charset="0"/>
                      </a:endParaRPr>
                    </a:p>
                  </a:txBody>
                  <a:tcPr marL="0" marR="0" marT="0" marB="0" anchor="ctr">
                    <a:solidFill>
                      <a:schemeClr val="bg2"/>
                    </a:solidFill>
                  </a:tcPr>
                </a:tc>
                <a:tc>
                  <a:txBody>
                    <a:bodyPr/>
                    <a:lstStyle/>
                    <a:p>
                      <a:pPr algn="ctr" fontAlgn="b"/>
                      <a:r>
                        <a:rPr lang="es-ES" sz="2000" b="0" i="0" u="none" strike="noStrike" dirty="0">
                          <a:solidFill>
                            <a:srgbClr val="FF0000"/>
                          </a:solidFill>
                          <a:effectLst/>
                          <a:latin typeface="Calibri" panose="020F0502020204030204" pitchFamily="34" charset="0"/>
                        </a:rPr>
                        <a:t>3</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1</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2</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1</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1</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chemeClr val="tx1"/>
                          </a:solidFill>
                          <a:effectLst/>
                        </a:rPr>
                        <a:t>0</a:t>
                      </a:r>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extLst>
                  <a:ext uri="{0D108BD9-81ED-4DB2-BD59-A6C34878D82A}">
                    <a16:rowId xmlns:a16="http://schemas.microsoft.com/office/drawing/2014/main" val="684939926"/>
                  </a:ext>
                </a:extLst>
              </a:tr>
              <a:tr h="389352">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rgbClr val="FF0000"/>
                          </a:solidFill>
                          <a:effectLst/>
                        </a:rPr>
                        <a:t>1</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a:solidFill>
                          <a:schemeClr val="tx1"/>
                        </a:solidFill>
                        <a:effectLst/>
                        <a:latin typeface="Calibri" panose="020F0502020204030204" pitchFamily="34" charset="0"/>
                      </a:endParaRPr>
                    </a:p>
                  </a:txBody>
                  <a:tcPr marL="0" marR="0" marT="0" marB="0" anchor="b">
                    <a:solidFill>
                      <a:schemeClr val="bg2"/>
                    </a:solidFill>
                  </a:tcPr>
                </a:tc>
                <a:tc>
                  <a:txBody>
                    <a:bodyPr/>
                    <a:lstStyle/>
                    <a:p>
                      <a:pPr algn="ctr" fontAlgn="b"/>
                      <a:endParaRPr lang="es-PE" sz="2000" b="0" i="0" u="none" strike="noStrike" dirty="0">
                        <a:solidFill>
                          <a:schemeClr val="tx1"/>
                        </a:solidFill>
                        <a:effectLst/>
                        <a:latin typeface="Calibri" panose="020F0502020204030204" pitchFamily="34" charset="0"/>
                      </a:endParaRPr>
                    </a:p>
                  </a:txBody>
                  <a:tcPr marL="0" marR="0" marT="0" marB="0" anchor="b">
                    <a:solidFill>
                      <a:schemeClr val="bg2"/>
                    </a:solidFill>
                  </a:tcPr>
                </a:tc>
                <a:extLst>
                  <a:ext uri="{0D108BD9-81ED-4DB2-BD59-A6C34878D82A}">
                    <a16:rowId xmlns:a16="http://schemas.microsoft.com/office/drawing/2014/main" val="3478783143"/>
                  </a:ext>
                </a:extLst>
              </a:tr>
            </a:tbl>
          </a:graphicData>
        </a:graphic>
      </p:graphicFrame>
      <p:sp>
        <p:nvSpPr>
          <p:cNvPr id="3" name="CuadroTexto 2">
            <a:extLst>
              <a:ext uri="{FF2B5EF4-FFF2-40B4-BE49-F238E27FC236}">
                <a16:creationId xmlns:a16="http://schemas.microsoft.com/office/drawing/2014/main" id="{0FAB97F3-1504-9500-E63A-9AA2E10A5D2E}"/>
              </a:ext>
            </a:extLst>
          </p:cNvPr>
          <p:cNvSpPr txBox="1"/>
          <p:nvPr/>
        </p:nvSpPr>
        <p:spPr>
          <a:xfrm>
            <a:off x="6499736" y="3443495"/>
            <a:ext cx="5464956" cy="1938992"/>
          </a:xfrm>
          <a:prstGeom prst="rect">
            <a:avLst/>
          </a:prstGeom>
          <a:solidFill>
            <a:schemeClr val="accent3">
              <a:lumMod val="40000"/>
              <a:lumOff val="60000"/>
            </a:schemeClr>
          </a:solidFill>
        </p:spPr>
        <p:txBody>
          <a:bodyPr wrap="square" rtlCol="0">
            <a:spAutoFit/>
          </a:bodyPr>
          <a:lstStyle/>
          <a:p>
            <a:r>
              <a:rPr lang="es-ES" sz="2400" dirty="0"/>
              <a:t>RESPUESTA:</a:t>
            </a:r>
          </a:p>
          <a:p>
            <a:r>
              <a:rPr lang="es-ES" sz="2400" dirty="0"/>
              <a:t>Al empleado 1 se le asigna la tarea 1    =3</a:t>
            </a:r>
          </a:p>
          <a:p>
            <a:r>
              <a:rPr lang="es-ES" sz="2400" dirty="0"/>
              <a:t>Al empleado 2 se le asigna la tarea 2    =3</a:t>
            </a:r>
          </a:p>
          <a:p>
            <a:r>
              <a:rPr lang="es-ES" sz="2400" dirty="0"/>
              <a:t>Al empleado 3 se le asigna la tarea 3    =3</a:t>
            </a:r>
          </a:p>
          <a:p>
            <a:r>
              <a:rPr lang="es-ES" sz="2400" dirty="0"/>
              <a:t>                                             COSTO TOTAL=9</a:t>
            </a:r>
            <a:endParaRPr lang="es-PE" sz="2400" dirty="0"/>
          </a:p>
        </p:txBody>
      </p:sp>
      <p:sp>
        <p:nvSpPr>
          <p:cNvPr id="6" name="Elipse 5">
            <a:extLst>
              <a:ext uri="{FF2B5EF4-FFF2-40B4-BE49-F238E27FC236}">
                <a16:creationId xmlns:a16="http://schemas.microsoft.com/office/drawing/2014/main" id="{F746D717-A4C9-149B-D3D5-E2BC1F02203B}"/>
              </a:ext>
            </a:extLst>
          </p:cNvPr>
          <p:cNvSpPr/>
          <p:nvPr/>
        </p:nvSpPr>
        <p:spPr>
          <a:xfrm>
            <a:off x="10710287" y="1562845"/>
            <a:ext cx="241059" cy="24334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7" name="Elipse 6">
            <a:extLst>
              <a:ext uri="{FF2B5EF4-FFF2-40B4-BE49-F238E27FC236}">
                <a16:creationId xmlns:a16="http://schemas.microsoft.com/office/drawing/2014/main" id="{71B5C661-682E-C1C1-71C6-C127937F0769}"/>
              </a:ext>
            </a:extLst>
          </p:cNvPr>
          <p:cNvSpPr/>
          <p:nvPr/>
        </p:nvSpPr>
        <p:spPr>
          <a:xfrm>
            <a:off x="11151642" y="1935109"/>
            <a:ext cx="241059" cy="24334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8" name="Elipse 7">
            <a:extLst>
              <a:ext uri="{FF2B5EF4-FFF2-40B4-BE49-F238E27FC236}">
                <a16:creationId xmlns:a16="http://schemas.microsoft.com/office/drawing/2014/main" id="{784B6243-164F-43AF-475B-1B824CBBB6D7}"/>
              </a:ext>
            </a:extLst>
          </p:cNvPr>
          <p:cNvSpPr/>
          <p:nvPr/>
        </p:nvSpPr>
        <p:spPr>
          <a:xfrm>
            <a:off x="11605343" y="2332220"/>
            <a:ext cx="241059" cy="24334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9" name="Rectangle 2">
            <a:extLst>
              <a:ext uri="{FF2B5EF4-FFF2-40B4-BE49-F238E27FC236}">
                <a16:creationId xmlns:a16="http://schemas.microsoft.com/office/drawing/2014/main" id="{47658E50-A604-63B2-4B3E-A4774FAB3452}"/>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15</a:t>
            </a:r>
          </a:p>
        </p:txBody>
      </p:sp>
    </p:spTree>
    <p:extLst>
      <p:ext uri="{BB962C8B-B14F-4D97-AF65-F5344CB8AC3E}">
        <p14:creationId xmlns:p14="http://schemas.microsoft.com/office/powerpoint/2010/main" val="1705513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28</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r>
              <a:rPr lang="es-ES" sz="2400" b="0" dirty="0">
                <a:solidFill>
                  <a:srgbClr val="700000"/>
                </a:solidFill>
                <a:latin typeface="+mn-lt"/>
                <a:ea typeface="+mn-ea"/>
                <a:cs typeface="+mn-cs"/>
              </a:rPr>
              <a:t>.</a:t>
            </a:r>
            <a:br>
              <a:rPr lang="es-ES" sz="2400" b="0" dirty="0">
                <a:solidFill>
                  <a:srgbClr val="700000"/>
                </a:solidFill>
                <a:latin typeface="+mn-lt"/>
                <a:ea typeface="+mn-ea"/>
                <a:cs typeface="+mn-cs"/>
              </a:rPr>
            </a:br>
            <a:endParaRPr lang="es-PE" sz="24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pic>
        <p:nvPicPr>
          <p:cNvPr id="6" name="Picture 5" descr="004">
            <a:extLst>
              <a:ext uri="{FF2B5EF4-FFF2-40B4-BE49-F238E27FC236}">
                <a16:creationId xmlns:a16="http://schemas.microsoft.com/office/drawing/2014/main" id="{10E9D79D-8D69-43FB-8635-4B0D7576B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5506" y="3733101"/>
            <a:ext cx="2095281" cy="279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8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5946</TotalTime>
  <Words>4195</Words>
  <Application>Microsoft Office PowerPoint</Application>
  <PresentationFormat>Panorámica</PresentationFormat>
  <Paragraphs>1096</Paragraphs>
  <Slides>28</Slides>
  <Notes>5</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28</vt:i4>
      </vt:variant>
    </vt:vector>
  </HeadingPairs>
  <TitlesOfParts>
    <vt:vector size="39" baseType="lpstr">
      <vt:lpstr>Arial</vt:lpstr>
      <vt:lpstr>Arial Black</vt:lpstr>
      <vt:lpstr>Arial Narrow</vt:lpstr>
      <vt:lpstr>Bauhaus 93</vt:lpstr>
      <vt:lpstr>Bodoni MT Black</vt:lpstr>
      <vt:lpstr>Calibri</vt:lpstr>
      <vt:lpstr>Calibri Light</vt:lpstr>
      <vt:lpstr>Lexend Deca</vt:lpstr>
      <vt:lpstr>Signika</vt:lpstr>
      <vt:lpstr>Wingdings</vt:lpstr>
      <vt:lpstr>Tema de Office</vt:lpstr>
      <vt:lpstr>Presentación de PowerPoint</vt:lpstr>
      <vt:lpstr>PROGRAMACIÓN BINARIA</vt:lpstr>
      <vt:lpstr>Presentación de PowerPoint</vt:lpstr>
      <vt:lpstr>Presentación de PowerPoint</vt:lpstr>
      <vt:lpstr>Problema N°1</vt:lpstr>
      <vt:lpstr>Lindo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300</cp:revision>
  <dcterms:created xsi:type="dcterms:W3CDTF">2021-09-08T13:14:39Z</dcterms:created>
  <dcterms:modified xsi:type="dcterms:W3CDTF">2026-08-16T17:22:06Z</dcterms:modified>
</cp:coreProperties>
</file>
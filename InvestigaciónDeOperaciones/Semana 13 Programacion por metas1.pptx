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481" r:id="rId2"/>
    <p:sldId id="416" r:id="rId3"/>
    <p:sldId id="304" r:id="rId4"/>
    <p:sldId id="519" r:id="rId5"/>
    <p:sldId id="521" r:id="rId6"/>
    <p:sldId id="522" r:id="rId7"/>
    <p:sldId id="523" r:id="rId8"/>
    <p:sldId id="520" r:id="rId9"/>
    <p:sldId id="287" r:id="rId10"/>
    <p:sldId id="288" r:id="rId11"/>
    <p:sldId id="389" r:id="rId12"/>
    <p:sldId id="517" r:id="rId13"/>
    <p:sldId id="386" r:id="rId14"/>
    <p:sldId id="292" r:id="rId15"/>
    <p:sldId id="390" r:id="rId16"/>
    <p:sldId id="391" r:id="rId17"/>
    <p:sldId id="393" r:id="rId18"/>
    <p:sldId id="394" r:id="rId19"/>
    <p:sldId id="413" r:id="rId20"/>
    <p:sldId id="293" r:id="rId21"/>
    <p:sldId id="294" r:id="rId22"/>
    <p:sldId id="295" r:id="rId23"/>
    <p:sldId id="395" r:id="rId24"/>
    <p:sldId id="396" r:id="rId25"/>
    <p:sldId id="397" r:id="rId26"/>
    <p:sldId id="398" r:id="rId27"/>
    <p:sldId id="414" r:id="rId28"/>
    <p:sldId id="403" r:id="rId29"/>
    <p:sldId id="404" r:id="rId30"/>
    <p:sldId id="405" r:id="rId31"/>
    <p:sldId id="280" r:id="rId3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6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1772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7B0A58-D6D4-4059-9DB9-527E141F548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DD4F0801-3EEE-4FA3-80F4-0DB447E9B4E0}">
      <dgm:prSet custT="1"/>
      <dgm:spPr/>
      <dgm:t>
        <a:bodyPr/>
        <a:lstStyle/>
        <a:p>
          <a:r>
            <a:rPr lang="es-ES" sz="3200" b="1" dirty="0">
              <a:latin typeface="Arial Narrow" panose="020B0606020202030204" pitchFamily="34" charset="0"/>
            </a:rPr>
            <a:t>Programación lineal</a:t>
          </a:r>
          <a:endParaRPr lang="es-PE" sz="3200" dirty="0">
            <a:latin typeface="Arial Narrow" panose="020B0606020202030204" pitchFamily="34" charset="0"/>
          </a:endParaRPr>
        </a:p>
      </dgm:t>
    </dgm:pt>
    <dgm:pt modelId="{28486652-9C38-4386-9732-9DC224D7EDBD}" type="parTrans" cxnId="{B2992032-F0A6-46FE-9DDD-FF2EF310B340}">
      <dgm:prSet/>
      <dgm:spPr/>
      <dgm:t>
        <a:bodyPr/>
        <a:lstStyle/>
        <a:p>
          <a:endParaRPr lang="es-PE"/>
        </a:p>
      </dgm:t>
    </dgm:pt>
    <dgm:pt modelId="{46AEB18F-5E57-4393-AEC8-A3968E226832}" type="sibTrans" cxnId="{B2992032-F0A6-46FE-9DDD-FF2EF310B340}">
      <dgm:prSet/>
      <dgm:spPr/>
      <dgm:t>
        <a:bodyPr/>
        <a:lstStyle/>
        <a:p>
          <a:endParaRPr lang="es-PE"/>
        </a:p>
      </dgm:t>
    </dgm:pt>
    <dgm:pt modelId="{5A63DE5A-1B6F-4903-949E-089C513B8735}">
      <dgm:prSet custT="1"/>
      <dgm:spPr>
        <a:solidFill>
          <a:srgbClr val="4472C4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4472C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91440" tIns="45720" rIns="91440" bIns="45720" numCol="1" spcCol="1270" anchor="ctr" anchorCtr="0"/>
        <a:lstStyle/>
        <a:p>
          <a:r>
            <a:rPr lang="es-ES" sz="2400" b="1" dirty="0"/>
            <a:t>T</a:t>
          </a:r>
          <a:r>
            <a:rPr lang="es-ES" sz="2400" dirty="0"/>
            <a:t>odas las </a:t>
          </a:r>
          <a:r>
            <a:rPr lang="es-ES" sz="2400" b="1" dirty="0"/>
            <a:t>metas</a:t>
          </a:r>
          <a:r>
            <a:rPr lang="es-ES" sz="2400" dirty="0"/>
            <a:t> se incluyen en </a:t>
          </a:r>
          <a:r>
            <a:rPr lang="es-ES" sz="2400" dirty="0">
              <a:solidFill>
                <a:srgbClr val="FF0000"/>
              </a:solidFill>
            </a:rPr>
            <a:t>una sola</a:t>
          </a:r>
          <a:r>
            <a:rPr lang="es-ES" sz="2400" dirty="0"/>
            <a:t> </a:t>
          </a:r>
          <a:r>
            <a:rPr lang="es-ES" sz="2400" b="1" dirty="0"/>
            <a:t>función objetivo </a:t>
          </a:r>
          <a:r>
            <a:rPr lang="es-ES" sz="2400" b="0" dirty="0"/>
            <a:t>.</a:t>
          </a:r>
          <a:endParaRPr lang="es-PE" sz="2400" b="0" dirty="0"/>
        </a:p>
      </dgm:t>
    </dgm:pt>
    <dgm:pt modelId="{1B6287D5-9F78-40F3-9103-E157014EF4FB}" type="parTrans" cxnId="{1C987EF1-AF8A-496D-B450-057F35C6A7CF}">
      <dgm:prSet/>
      <dgm:spPr/>
      <dgm:t>
        <a:bodyPr/>
        <a:lstStyle/>
        <a:p>
          <a:endParaRPr lang="es-PE"/>
        </a:p>
      </dgm:t>
    </dgm:pt>
    <dgm:pt modelId="{CF33EC55-6224-4CAE-80DF-A86328226508}" type="sibTrans" cxnId="{1C987EF1-AF8A-496D-B450-057F35C6A7CF}">
      <dgm:prSet/>
      <dgm:spPr/>
      <dgm:t>
        <a:bodyPr/>
        <a:lstStyle/>
        <a:p>
          <a:endParaRPr lang="es-PE"/>
        </a:p>
      </dgm:t>
    </dgm:pt>
    <dgm:pt modelId="{78D4C064-51A1-4854-9066-72A152F27301}" type="pres">
      <dgm:prSet presAssocID="{0A7B0A58-D6D4-4059-9DB9-527E141F5481}" presName="Name0" presStyleCnt="0">
        <dgm:presLayoutVars>
          <dgm:dir/>
          <dgm:animLvl val="lvl"/>
          <dgm:resizeHandles val="exact"/>
        </dgm:presLayoutVars>
      </dgm:prSet>
      <dgm:spPr/>
    </dgm:pt>
    <dgm:pt modelId="{874D099C-740F-4E63-8123-2D67075CE750}" type="pres">
      <dgm:prSet presAssocID="{DD4F0801-3EEE-4FA3-80F4-0DB447E9B4E0}" presName="linNode" presStyleCnt="0"/>
      <dgm:spPr/>
    </dgm:pt>
    <dgm:pt modelId="{26669014-F292-4868-81A6-691BFA58F698}" type="pres">
      <dgm:prSet presAssocID="{DD4F0801-3EEE-4FA3-80F4-0DB447E9B4E0}" presName="parentText" presStyleLbl="node1" presStyleIdx="0" presStyleCnt="1" custScaleX="154416">
        <dgm:presLayoutVars>
          <dgm:chMax val="1"/>
          <dgm:bulletEnabled val="1"/>
        </dgm:presLayoutVars>
      </dgm:prSet>
      <dgm:spPr/>
    </dgm:pt>
    <dgm:pt modelId="{2AE8422D-44E6-4D03-889C-BB7AEFFC9BD3}" type="pres">
      <dgm:prSet presAssocID="{DD4F0801-3EEE-4FA3-80F4-0DB447E9B4E0}" presName="descendantText" presStyleLbl="alignAccFollowNode1" presStyleIdx="0" presStyleCnt="1" custScaleY="124987" custLinFactNeighborX="47">
        <dgm:presLayoutVars>
          <dgm:bulletEnabled val="1"/>
        </dgm:presLayoutVars>
      </dgm:prSet>
      <dgm:spPr>
        <a:xfrm rot="5400000">
          <a:off x="3097824" y="-678665"/>
          <a:ext cx="2119955" cy="3479579"/>
        </a:xfrm>
        <a:prstGeom prst="round2SameRect">
          <a:avLst/>
        </a:prstGeom>
      </dgm:spPr>
    </dgm:pt>
  </dgm:ptLst>
  <dgm:cxnLst>
    <dgm:cxn modelId="{0C84C40A-8FC0-4772-8AD0-153F68EB09DC}" type="presOf" srcId="{DD4F0801-3EEE-4FA3-80F4-0DB447E9B4E0}" destId="{26669014-F292-4868-81A6-691BFA58F698}" srcOrd="0" destOrd="0" presId="urn:microsoft.com/office/officeart/2005/8/layout/vList5"/>
    <dgm:cxn modelId="{B2992032-F0A6-46FE-9DDD-FF2EF310B340}" srcId="{0A7B0A58-D6D4-4059-9DB9-527E141F5481}" destId="{DD4F0801-3EEE-4FA3-80F4-0DB447E9B4E0}" srcOrd="0" destOrd="0" parTransId="{28486652-9C38-4386-9732-9DC224D7EDBD}" sibTransId="{46AEB18F-5E57-4393-AEC8-A3968E226832}"/>
    <dgm:cxn modelId="{DA03F3A0-B8A0-4E68-B28B-A9EE4FC38EF8}" type="presOf" srcId="{5A63DE5A-1B6F-4903-949E-089C513B8735}" destId="{2AE8422D-44E6-4D03-889C-BB7AEFFC9BD3}" srcOrd="0" destOrd="0" presId="urn:microsoft.com/office/officeart/2005/8/layout/vList5"/>
    <dgm:cxn modelId="{0CD114DC-51F3-4ABA-9539-A0773355E5A2}" type="presOf" srcId="{0A7B0A58-D6D4-4059-9DB9-527E141F5481}" destId="{78D4C064-51A1-4854-9066-72A152F27301}" srcOrd="0" destOrd="0" presId="urn:microsoft.com/office/officeart/2005/8/layout/vList5"/>
    <dgm:cxn modelId="{1C987EF1-AF8A-496D-B450-057F35C6A7CF}" srcId="{DD4F0801-3EEE-4FA3-80F4-0DB447E9B4E0}" destId="{5A63DE5A-1B6F-4903-949E-089C513B8735}" srcOrd="0" destOrd="0" parTransId="{1B6287D5-9F78-40F3-9103-E157014EF4FB}" sibTransId="{CF33EC55-6224-4CAE-80DF-A86328226508}"/>
    <dgm:cxn modelId="{91BD61C4-2FA9-4AE7-8D1D-145342F181CC}" type="presParOf" srcId="{78D4C064-51A1-4854-9066-72A152F27301}" destId="{874D099C-740F-4E63-8123-2D67075CE750}" srcOrd="0" destOrd="0" presId="urn:microsoft.com/office/officeart/2005/8/layout/vList5"/>
    <dgm:cxn modelId="{10DCDA52-2568-4153-89C8-A3662B2ED5A1}" type="presParOf" srcId="{874D099C-740F-4E63-8123-2D67075CE750}" destId="{26669014-F292-4868-81A6-691BFA58F698}" srcOrd="0" destOrd="0" presId="urn:microsoft.com/office/officeart/2005/8/layout/vList5"/>
    <dgm:cxn modelId="{1553635B-79AD-40CC-8550-8ED258C10E5D}" type="presParOf" srcId="{874D099C-740F-4E63-8123-2D67075CE750}" destId="{2AE8422D-44E6-4D03-889C-BB7AEFFC9BD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0DD3DC-2198-4F8F-A026-CCEC350C923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21E452F2-04A5-4CD0-A36E-F3C85B40013B}">
      <dgm:prSet custT="1"/>
      <dgm:spPr/>
      <dgm:t>
        <a:bodyPr/>
        <a:lstStyle/>
        <a:p>
          <a:pPr algn="ctr"/>
          <a:r>
            <a:rPr lang="es-ES" sz="2400" b="0" dirty="0">
              <a:latin typeface="Arial Narrow" panose="020B0606020202030204" pitchFamily="34" charset="0"/>
            </a:rPr>
            <a:t>¿Cómo resolver un ejercicio de </a:t>
          </a:r>
          <a:r>
            <a:rPr lang="es-ES" sz="2400" b="0" dirty="0" err="1">
              <a:latin typeface="Arial Narrow" panose="020B0606020202030204" pitchFamily="34" charset="0"/>
            </a:rPr>
            <a:t>pogramación</a:t>
          </a:r>
          <a:r>
            <a:rPr lang="es-ES" sz="2400" b="0" dirty="0">
              <a:latin typeface="Arial Narrow" panose="020B0606020202030204" pitchFamily="34" charset="0"/>
            </a:rPr>
            <a:t> Lineal con más de un objetivo?</a:t>
          </a:r>
          <a:endParaRPr lang="es-PE" sz="2400" b="0" dirty="0">
            <a:latin typeface="Arial Narrow" panose="020B0606020202030204" pitchFamily="34" charset="0"/>
          </a:endParaRPr>
        </a:p>
      </dgm:t>
    </dgm:pt>
    <dgm:pt modelId="{73CF0B71-3CB4-4EB5-91E2-A7876E45AD07}" type="parTrans" cxnId="{E526C128-E451-491A-B760-2B543F288489}">
      <dgm:prSet/>
      <dgm:spPr/>
      <dgm:t>
        <a:bodyPr/>
        <a:lstStyle/>
        <a:p>
          <a:pPr algn="just"/>
          <a:endParaRPr lang="es-PE" sz="2400" b="0">
            <a:latin typeface="Arial Narrow" panose="020B0606020202030204" pitchFamily="34" charset="0"/>
          </a:endParaRPr>
        </a:p>
      </dgm:t>
    </dgm:pt>
    <dgm:pt modelId="{BA948764-41FC-46A2-8DB7-22A1B861DE91}" type="sibTrans" cxnId="{E526C128-E451-491A-B760-2B543F288489}">
      <dgm:prSet/>
      <dgm:spPr/>
      <dgm:t>
        <a:bodyPr/>
        <a:lstStyle/>
        <a:p>
          <a:pPr algn="just"/>
          <a:endParaRPr lang="es-PE" sz="2400" b="0">
            <a:latin typeface="Arial Narrow" panose="020B0606020202030204" pitchFamily="34" charset="0"/>
          </a:endParaRPr>
        </a:p>
      </dgm:t>
    </dgm:pt>
    <dgm:pt modelId="{872AF51C-4526-41D0-B3C6-6135E2A1DC34}" type="pres">
      <dgm:prSet presAssocID="{4E0DD3DC-2198-4F8F-A026-CCEC350C9232}" presName="linear" presStyleCnt="0">
        <dgm:presLayoutVars>
          <dgm:animLvl val="lvl"/>
          <dgm:resizeHandles val="exact"/>
        </dgm:presLayoutVars>
      </dgm:prSet>
      <dgm:spPr/>
    </dgm:pt>
    <dgm:pt modelId="{DC411B96-CEA2-4356-9176-F30FB2A05557}" type="pres">
      <dgm:prSet presAssocID="{21E452F2-04A5-4CD0-A36E-F3C85B40013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526C128-E451-491A-B760-2B543F288489}" srcId="{4E0DD3DC-2198-4F8F-A026-CCEC350C9232}" destId="{21E452F2-04A5-4CD0-A36E-F3C85B40013B}" srcOrd="0" destOrd="0" parTransId="{73CF0B71-3CB4-4EB5-91E2-A7876E45AD07}" sibTransId="{BA948764-41FC-46A2-8DB7-22A1B861DE91}"/>
    <dgm:cxn modelId="{8487C385-D90D-4D9B-B161-45F503695582}" type="presOf" srcId="{4E0DD3DC-2198-4F8F-A026-CCEC350C9232}" destId="{872AF51C-4526-41D0-B3C6-6135E2A1DC34}" srcOrd="0" destOrd="0" presId="urn:microsoft.com/office/officeart/2005/8/layout/vList2"/>
    <dgm:cxn modelId="{F9E5BCD6-E189-4C1A-8482-7DC06E7FDB09}" type="presOf" srcId="{21E452F2-04A5-4CD0-A36E-F3C85B40013B}" destId="{DC411B96-CEA2-4356-9176-F30FB2A05557}" srcOrd="0" destOrd="0" presId="urn:microsoft.com/office/officeart/2005/8/layout/vList2"/>
    <dgm:cxn modelId="{7D502BAC-11A2-4D48-96BB-B9EB7536ADD3}" type="presParOf" srcId="{872AF51C-4526-41D0-B3C6-6135E2A1DC34}" destId="{DC411B96-CEA2-4356-9176-F30FB2A0555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B6DC52-2F24-49B7-9B7B-A1F7F3F821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0E9D895F-2A16-4535-89A9-24D7FF1659CC}">
      <dgm:prSet custT="1"/>
      <dgm:spPr>
        <a:solidFill>
          <a:srgbClr val="002060"/>
        </a:solidFill>
      </dgm:spPr>
      <dgm:t>
        <a:bodyPr/>
        <a:lstStyle/>
        <a:p>
          <a:pPr algn="ctr"/>
          <a:r>
            <a:rPr lang="es-ES" sz="2400" dirty="0"/>
            <a:t>LA PROGRAMACIÓN LINEAL POR METAS</a:t>
          </a:r>
          <a:endParaRPr lang="es-PE" sz="2400" dirty="0"/>
        </a:p>
      </dgm:t>
    </dgm:pt>
    <dgm:pt modelId="{6772C721-4666-4272-80C8-458B08B8B53B}" type="parTrans" cxnId="{386803AC-2C7F-42DB-9343-48A3B785D195}">
      <dgm:prSet/>
      <dgm:spPr/>
      <dgm:t>
        <a:bodyPr/>
        <a:lstStyle/>
        <a:p>
          <a:pPr algn="ctr"/>
          <a:endParaRPr lang="es-PE" sz="2400" dirty="0"/>
        </a:p>
      </dgm:t>
    </dgm:pt>
    <dgm:pt modelId="{5931FD6E-3DF4-4149-A9B1-E42924DF12EA}" type="sibTrans" cxnId="{386803AC-2C7F-42DB-9343-48A3B785D195}">
      <dgm:prSet/>
      <dgm:spPr/>
      <dgm:t>
        <a:bodyPr/>
        <a:lstStyle/>
        <a:p>
          <a:pPr algn="ctr"/>
          <a:endParaRPr lang="es-PE" sz="2400" dirty="0"/>
        </a:p>
      </dgm:t>
    </dgm:pt>
    <dgm:pt modelId="{BACE4000-C51A-4207-8EC6-0AD0113EF8B4}" type="pres">
      <dgm:prSet presAssocID="{6EB6DC52-2F24-49B7-9B7B-A1F7F3F821BE}" presName="linear" presStyleCnt="0">
        <dgm:presLayoutVars>
          <dgm:animLvl val="lvl"/>
          <dgm:resizeHandles val="exact"/>
        </dgm:presLayoutVars>
      </dgm:prSet>
      <dgm:spPr/>
    </dgm:pt>
    <dgm:pt modelId="{886C1DE5-DF5F-42C8-A3AF-23B897E38B4C}" type="pres">
      <dgm:prSet presAssocID="{0E9D895F-2A16-4535-89A9-24D7FF1659CC}" presName="parentText" presStyleLbl="node1" presStyleIdx="0" presStyleCnt="1" custScaleY="70142" custLinFactNeighborY="-720">
        <dgm:presLayoutVars>
          <dgm:chMax val="0"/>
          <dgm:bulletEnabled val="1"/>
        </dgm:presLayoutVars>
      </dgm:prSet>
      <dgm:spPr/>
    </dgm:pt>
  </dgm:ptLst>
  <dgm:cxnLst>
    <dgm:cxn modelId="{12BF0E40-64FD-4EF6-BCF3-DB2DD11FE190}" type="presOf" srcId="{0E9D895F-2A16-4535-89A9-24D7FF1659CC}" destId="{886C1DE5-DF5F-42C8-A3AF-23B897E38B4C}" srcOrd="0" destOrd="0" presId="urn:microsoft.com/office/officeart/2005/8/layout/vList2"/>
    <dgm:cxn modelId="{44A2AF86-4FAD-483F-85E6-569584F2D873}" type="presOf" srcId="{6EB6DC52-2F24-49B7-9B7B-A1F7F3F821BE}" destId="{BACE4000-C51A-4207-8EC6-0AD0113EF8B4}" srcOrd="0" destOrd="0" presId="urn:microsoft.com/office/officeart/2005/8/layout/vList2"/>
    <dgm:cxn modelId="{386803AC-2C7F-42DB-9343-48A3B785D195}" srcId="{6EB6DC52-2F24-49B7-9B7B-A1F7F3F821BE}" destId="{0E9D895F-2A16-4535-89A9-24D7FF1659CC}" srcOrd="0" destOrd="0" parTransId="{6772C721-4666-4272-80C8-458B08B8B53B}" sibTransId="{5931FD6E-3DF4-4149-A9B1-E42924DF12EA}"/>
    <dgm:cxn modelId="{0B2114C7-34CA-4E82-AB0B-59D97C210698}" type="presParOf" srcId="{BACE4000-C51A-4207-8EC6-0AD0113EF8B4}" destId="{886C1DE5-DF5F-42C8-A3AF-23B897E38B4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B6DC52-2F24-49B7-9B7B-A1F7F3F821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0E9D895F-2A16-4535-89A9-24D7FF1659CC}">
      <dgm:prSet custT="1"/>
      <dgm:spPr>
        <a:solidFill>
          <a:srgbClr val="002060"/>
        </a:solidFill>
      </dgm:spPr>
      <dgm:t>
        <a:bodyPr/>
        <a:lstStyle/>
        <a:p>
          <a:pPr algn="ctr"/>
          <a:r>
            <a:rPr lang="es-ES" sz="2400" dirty="0"/>
            <a:t>LA PROGRAMACIÓN LINEAL</a:t>
          </a:r>
          <a:endParaRPr lang="es-PE" sz="2400" dirty="0"/>
        </a:p>
      </dgm:t>
    </dgm:pt>
    <dgm:pt modelId="{6772C721-4666-4272-80C8-458B08B8B53B}" type="parTrans" cxnId="{386803AC-2C7F-42DB-9343-48A3B785D195}">
      <dgm:prSet/>
      <dgm:spPr/>
      <dgm:t>
        <a:bodyPr/>
        <a:lstStyle/>
        <a:p>
          <a:pPr algn="ctr"/>
          <a:endParaRPr lang="es-PE" sz="2400" dirty="0"/>
        </a:p>
      </dgm:t>
    </dgm:pt>
    <dgm:pt modelId="{5931FD6E-3DF4-4149-A9B1-E42924DF12EA}" type="sibTrans" cxnId="{386803AC-2C7F-42DB-9343-48A3B785D195}">
      <dgm:prSet/>
      <dgm:spPr/>
      <dgm:t>
        <a:bodyPr/>
        <a:lstStyle/>
        <a:p>
          <a:pPr algn="ctr"/>
          <a:endParaRPr lang="es-PE" sz="2400" dirty="0"/>
        </a:p>
      </dgm:t>
    </dgm:pt>
    <dgm:pt modelId="{BACE4000-C51A-4207-8EC6-0AD0113EF8B4}" type="pres">
      <dgm:prSet presAssocID="{6EB6DC52-2F24-49B7-9B7B-A1F7F3F821BE}" presName="linear" presStyleCnt="0">
        <dgm:presLayoutVars>
          <dgm:animLvl val="lvl"/>
          <dgm:resizeHandles val="exact"/>
        </dgm:presLayoutVars>
      </dgm:prSet>
      <dgm:spPr/>
    </dgm:pt>
    <dgm:pt modelId="{886C1DE5-DF5F-42C8-A3AF-23B897E38B4C}" type="pres">
      <dgm:prSet presAssocID="{0E9D895F-2A16-4535-89A9-24D7FF1659CC}" presName="parentText" presStyleLbl="node1" presStyleIdx="0" presStyleCnt="1" custScaleY="70142" custLinFactNeighborX="-179">
        <dgm:presLayoutVars>
          <dgm:chMax val="0"/>
          <dgm:bulletEnabled val="1"/>
        </dgm:presLayoutVars>
      </dgm:prSet>
      <dgm:spPr/>
    </dgm:pt>
  </dgm:ptLst>
  <dgm:cxnLst>
    <dgm:cxn modelId="{12BF0E40-64FD-4EF6-BCF3-DB2DD11FE190}" type="presOf" srcId="{0E9D895F-2A16-4535-89A9-24D7FF1659CC}" destId="{886C1DE5-DF5F-42C8-A3AF-23B897E38B4C}" srcOrd="0" destOrd="0" presId="urn:microsoft.com/office/officeart/2005/8/layout/vList2"/>
    <dgm:cxn modelId="{44A2AF86-4FAD-483F-85E6-569584F2D873}" type="presOf" srcId="{6EB6DC52-2F24-49B7-9B7B-A1F7F3F821BE}" destId="{BACE4000-C51A-4207-8EC6-0AD0113EF8B4}" srcOrd="0" destOrd="0" presId="urn:microsoft.com/office/officeart/2005/8/layout/vList2"/>
    <dgm:cxn modelId="{386803AC-2C7F-42DB-9343-48A3B785D195}" srcId="{6EB6DC52-2F24-49B7-9B7B-A1F7F3F821BE}" destId="{0E9D895F-2A16-4535-89A9-24D7FF1659CC}" srcOrd="0" destOrd="0" parTransId="{6772C721-4666-4272-80C8-458B08B8B53B}" sibTransId="{5931FD6E-3DF4-4149-A9B1-E42924DF12EA}"/>
    <dgm:cxn modelId="{0B2114C7-34CA-4E82-AB0B-59D97C210698}" type="presParOf" srcId="{BACE4000-C51A-4207-8EC6-0AD0113EF8B4}" destId="{886C1DE5-DF5F-42C8-A3AF-23B897E38B4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CA9893-80B5-41A7-B88C-0CC7CAFB512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8303973B-65C2-4DE1-A71B-F1A0FD53FE44}">
      <dgm:prSet custT="1"/>
      <dgm:spPr/>
      <dgm:t>
        <a:bodyPr/>
        <a:lstStyle/>
        <a:p>
          <a:r>
            <a:rPr lang="es-ES" sz="2400" b="1" dirty="0"/>
            <a:t>Variable de decisión:</a:t>
          </a:r>
          <a:endParaRPr lang="es-PE" sz="2400" dirty="0"/>
        </a:p>
      </dgm:t>
    </dgm:pt>
    <dgm:pt modelId="{E8F74AF0-1426-4B5F-8B5F-7FA23367A543}" type="parTrans" cxnId="{297FBEE1-DE0C-4947-98DE-76877A2F321D}">
      <dgm:prSet/>
      <dgm:spPr/>
      <dgm:t>
        <a:bodyPr/>
        <a:lstStyle/>
        <a:p>
          <a:endParaRPr lang="es-PE"/>
        </a:p>
      </dgm:t>
    </dgm:pt>
    <dgm:pt modelId="{DD56ABBF-A76B-454A-AD16-365E0EC7CC1A}" type="sibTrans" cxnId="{297FBEE1-DE0C-4947-98DE-76877A2F321D}">
      <dgm:prSet/>
      <dgm:spPr/>
      <dgm:t>
        <a:bodyPr/>
        <a:lstStyle/>
        <a:p>
          <a:endParaRPr lang="es-PE"/>
        </a:p>
      </dgm:t>
    </dgm:pt>
    <dgm:pt modelId="{69EFE4EB-FC9A-4496-AC91-817956AF53A6}">
      <dgm:prSet custT="1"/>
      <dgm:spPr/>
      <dgm:t>
        <a:bodyPr/>
        <a:lstStyle/>
        <a:p>
          <a:r>
            <a:rPr lang="es-ES" sz="2200" dirty="0"/>
            <a:t>Indican cuánto producir, vender, comprar; cuántas personas contratar, qué turno u horario, qué tarea  asignar a una persona,  cuánto almacenar, cuánto trasladar.  </a:t>
          </a:r>
          <a:r>
            <a:rPr lang="es-ES" sz="2200" dirty="0" err="1"/>
            <a:t>Xij</a:t>
          </a:r>
          <a:r>
            <a:rPr lang="es-ES" sz="2200" dirty="0"/>
            <a:t>, </a:t>
          </a:r>
          <a:r>
            <a:rPr lang="es-ES" sz="2200" dirty="0" err="1"/>
            <a:t>Yjk</a:t>
          </a:r>
          <a:r>
            <a:rPr lang="es-ES" sz="2200" dirty="0"/>
            <a:t>, X, Y, </a:t>
          </a:r>
          <a:r>
            <a:rPr lang="es-ES" sz="2200" dirty="0" err="1"/>
            <a:t>Wi</a:t>
          </a:r>
          <a:endParaRPr lang="es-PE" sz="2200" dirty="0"/>
        </a:p>
      </dgm:t>
    </dgm:pt>
    <dgm:pt modelId="{097A927B-CACE-4E2B-8E4C-24E6242D21A6}" type="parTrans" cxnId="{38727786-5717-4EF7-870B-5240AA3C2DAE}">
      <dgm:prSet/>
      <dgm:spPr/>
      <dgm:t>
        <a:bodyPr/>
        <a:lstStyle/>
        <a:p>
          <a:endParaRPr lang="es-PE"/>
        </a:p>
      </dgm:t>
    </dgm:pt>
    <dgm:pt modelId="{E3DB1935-3B87-4366-9A10-B931AAD425AC}" type="sibTrans" cxnId="{38727786-5717-4EF7-870B-5240AA3C2DAE}">
      <dgm:prSet/>
      <dgm:spPr/>
      <dgm:t>
        <a:bodyPr/>
        <a:lstStyle/>
        <a:p>
          <a:endParaRPr lang="es-PE"/>
        </a:p>
      </dgm:t>
    </dgm:pt>
    <dgm:pt modelId="{3A6E03E4-08E6-431C-A14B-6ED757DCAB91}" type="pres">
      <dgm:prSet presAssocID="{1DCA9893-80B5-41A7-B88C-0CC7CAFB5125}" presName="Name0" presStyleCnt="0">
        <dgm:presLayoutVars>
          <dgm:dir/>
          <dgm:animLvl val="lvl"/>
          <dgm:resizeHandles val="exact"/>
        </dgm:presLayoutVars>
      </dgm:prSet>
      <dgm:spPr/>
    </dgm:pt>
    <dgm:pt modelId="{08916AE5-7E5C-4BAB-938A-BC15A2C12B0A}" type="pres">
      <dgm:prSet presAssocID="{8303973B-65C2-4DE1-A71B-F1A0FD53FE44}" presName="linNode" presStyleCnt="0"/>
      <dgm:spPr/>
    </dgm:pt>
    <dgm:pt modelId="{FE06B61C-5704-41CE-A9DA-C811BFB1F5D1}" type="pres">
      <dgm:prSet presAssocID="{8303973B-65C2-4DE1-A71B-F1A0FD53FE44}" presName="parentText" presStyleLbl="node1" presStyleIdx="0" presStyleCnt="1" custScaleX="89160" custScaleY="99626" custLinFactNeighborX="-2260">
        <dgm:presLayoutVars>
          <dgm:chMax val="1"/>
          <dgm:bulletEnabled val="1"/>
        </dgm:presLayoutVars>
      </dgm:prSet>
      <dgm:spPr/>
    </dgm:pt>
    <dgm:pt modelId="{8F89C551-CC37-4C81-9AE4-8D09D3F6FC4B}" type="pres">
      <dgm:prSet presAssocID="{8303973B-65C2-4DE1-A71B-F1A0FD53FE44}" presName="descendantText" presStyleLbl="alignAccFollowNode1" presStyleIdx="0" presStyleCnt="1" custScaleX="105021" custScaleY="120905" custLinFactNeighborX="-677">
        <dgm:presLayoutVars>
          <dgm:bulletEnabled val="1"/>
        </dgm:presLayoutVars>
      </dgm:prSet>
      <dgm:spPr/>
    </dgm:pt>
  </dgm:ptLst>
  <dgm:cxnLst>
    <dgm:cxn modelId="{FB2C015C-976B-4E0C-A195-E3E94B0C203C}" type="presOf" srcId="{69EFE4EB-FC9A-4496-AC91-817956AF53A6}" destId="{8F89C551-CC37-4C81-9AE4-8D09D3F6FC4B}" srcOrd="0" destOrd="0" presId="urn:microsoft.com/office/officeart/2005/8/layout/vList5"/>
    <dgm:cxn modelId="{38727786-5717-4EF7-870B-5240AA3C2DAE}" srcId="{8303973B-65C2-4DE1-A71B-F1A0FD53FE44}" destId="{69EFE4EB-FC9A-4496-AC91-817956AF53A6}" srcOrd="0" destOrd="0" parTransId="{097A927B-CACE-4E2B-8E4C-24E6242D21A6}" sibTransId="{E3DB1935-3B87-4366-9A10-B931AAD425AC}"/>
    <dgm:cxn modelId="{3C7F09AD-1AE6-468C-A9BC-A6AF2202F5CF}" type="presOf" srcId="{8303973B-65C2-4DE1-A71B-F1A0FD53FE44}" destId="{FE06B61C-5704-41CE-A9DA-C811BFB1F5D1}" srcOrd="0" destOrd="0" presId="urn:microsoft.com/office/officeart/2005/8/layout/vList5"/>
    <dgm:cxn modelId="{501A8FC4-56F6-42F0-92D4-FDB7EE846075}" type="presOf" srcId="{1DCA9893-80B5-41A7-B88C-0CC7CAFB5125}" destId="{3A6E03E4-08E6-431C-A14B-6ED757DCAB91}" srcOrd="0" destOrd="0" presId="urn:microsoft.com/office/officeart/2005/8/layout/vList5"/>
    <dgm:cxn modelId="{297FBEE1-DE0C-4947-98DE-76877A2F321D}" srcId="{1DCA9893-80B5-41A7-B88C-0CC7CAFB5125}" destId="{8303973B-65C2-4DE1-A71B-F1A0FD53FE44}" srcOrd="0" destOrd="0" parTransId="{E8F74AF0-1426-4B5F-8B5F-7FA23367A543}" sibTransId="{DD56ABBF-A76B-454A-AD16-365E0EC7CC1A}"/>
    <dgm:cxn modelId="{2C1AC821-9850-466D-87E7-0449ECC27478}" type="presParOf" srcId="{3A6E03E4-08E6-431C-A14B-6ED757DCAB91}" destId="{08916AE5-7E5C-4BAB-938A-BC15A2C12B0A}" srcOrd="0" destOrd="0" presId="urn:microsoft.com/office/officeart/2005/8/layout/vList5"/>
    <dgm:cxn modelId="{F3045978-84F8-4E48-8C5E-1CB9F072BC71}" type="presParOf" srcId="{08916AE5-7E5C-4BAB-938A-BC15A2C12B0A}" destId="{FE06B61C-5704-41CE-A9DA-C811BFB1F5D1}" srcOrd="0" destOrd="0" presId="urn:microsoft.com/office/officeart/2005/8/layout/vList5"/>
    <dgm:cxn modelId="{16F80393-D96D-49C2-A439-C7D866940273}" type="presParOf" srcId="{08916AE5-7E5C-4BAB-938A-BC15A2C12B0A}" destId="{8F89C551-CC37-4C81-9AE4-8D09D3F6FC4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20B00E8-DC1B-40CA-A2AE-C247E1C0C66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024DD7DE-87B4-49CA-A8C4-5107015E79DB}">
      <dgm:prSet/>
      <dgm:spPr/>
      <dgm:t>
        <a:bodyPr/>
        <a:lstStyle/>
        <a:p>
          <a:r>
            <a:rPr lang="es-ES" b="1" dirty="0"/>
            <a:t>Variable de desviación por Debajo (Defecto):</a:t>
          </a:r>
          <a:endParaRPr lang="es-PE" dirty="0"/>
        </a:p>
      </dgm:t>
    </dgm:pt>
    <dgm:pt modelId="{417B2784-7F79-49F8-B93B-147E2C8B45D8}" type="parTrans" cxnId="{C352358E-29E4-4B0A-9DC4-B35CCCA29099}">
      <dgm:prSet/>
      <dgm:spPr/>
      <dgm:t>
        <a:bodyPr/>
        <a:lstStyle/>
        <a:p>
          <a:endParaRPr lang="es-PE"/>
        </a:p>
      </dgm:t>
    </dgm:pt>
    <dgm:pt modelId="{15A29EC9-3F14-4AAB-946F-F0405F0C2A59}" type="sibTrans" cxnId="{C352358E-29E4-4B0A-9DC4-B35CCCA29099}">
      <dgm:prSet/>
      <dgm:spPr/>
      <dgm:t>
        <a:bodyPr/>
        <a:lstStyle/>
        <a:p>
          <a:endParaRPr lang="es-PE"/>
        </a:p>
      </dgm:t>
    </dgm:pt>
    <dgm:pt modelId="{DC3536AD-557D-4BC3-BAD9-297710F8454F}">
      <dgm:prSet/>
      <dgm:spPr/>
      <dgm:t>
        <a:bodyPr/>
        <a:lstStyle/>
        <a:p>
          <a:r>
            <a:rPr lang="es-ES"/>
            <a:t>D</a:t>
          </a:r>
          <a:r>
            <a:rPr lang="es-ES" baseline="-25000"/>
            <a:t>1</a:t>
          </a:r>
          <a:r>
            <a:rPr lang="es-ES"/>
            <a:t>, D</a:t>
          </a:r>
          <a:r>
            <a:rPr lang="es-ES" baseline="-25000"/>
            <a:t>2</a:t>
          </a:r>
          <a:r>
            <a:rPr lang="es-ES"/>
            <a:t>, D</a:t>
          </a:r>
          <a:r>
            <a:rPr lang="es-ES" baseline="-25000"/>
            <a:t>3</a:t>
          </a:r>
          <a:r>
            <a:rPr lang="es-ES"/>
            <a:t>……D</a:t>
          </a:r>
          <a:r>
            <a:rPr lang="es-ES" baseline="-25000"/>
            <a:t>n</a:t>
          </a:r>
          <a:endParaRPr lang="es-PE"/>
        </a:p>
      </dgm:t>
    </dgm:pt>
    <dgm:pt modelId="{467C74A5-3E46-4684-B9E2-DAF59229D8F9}" type="parTrans" cxnId="{12FB4645-8175-4A13-A595-CD9BD0730102}">
      <dgm:prSet/>
      <dgm:spPr/>
      <dgm:t>
        <a:bodyPr/>
        <a:lstStyle/>
        <a:p>
          <a:endParaRPr lang="es-PE"/>
        </a:p>
      </dgm:t>
    </dgm:pt>
    <dgm:pt modelId="{189B6D68-7C0C-41FD-B9FD-D4309E859091}" type="sibTrans" cxnId="{12FB4645-8175-4A13-A595-CD9BD0730102}">
      <dgm:prSet/>
      <dgm:spPr/>
      <dgm:t>
        <a:bodyPr/>
        <a:lstStyle/>
        <a:p>
          <a:endParaRPr lang="es-PE"/>
        </a:p>
      </dgm:t>
    </dgm:pt>
    <dgm:pt modelId="{9676737A-3D8C-4236-B9D6-11779FE248D2}">
      <dgm:prSet/>
      <dgm:spPr/>
      <dgm:t>
        <a:bodyPr/>
        <a:lstStyle/>
        <a:p>
          <a:r>
            <a:rPr lang="es-ES" b="1" dirty="0"/>
            <a:t>Variable de desviación por Encina (Exceso):</a:t>
          </a:r>
          <a:endParaRPr lang="es-PE" dirty="0"/>
        </a:p>
      </dgm:t>
    </dgm:pt>
    <dgm:pt modelId="{E8E8DBC1-A118-4FDA-B0F1-C5860437053F}" type="parTrans" cxnId="{7DCD049A-B6CB-477C-907B-C7E550DCD426}">
      <dgm:prSet/>
      <dgm:spPr/>
      <dgm:t>
        <a:bodyPr/>
        <a:lstStyle/>
        <a:p>
          <a:endParaRPr lang="es-PE"/>
        </a:p>
      </dgm:t>
    </dgm:pt>
    <dgm:pt modelId="{CF4BEDA8-FAEE-4BC9-AB1E-EBE87396CF08}" type="sibTrans" cxnId="{7DCD049A-B6CB-477C-907B-C7E550DCD426}">
      <dgm:prSet/>
      <dgm:spPr/>
      <dgm:t>
        <a:bodyPr/>
        <a:lstStyle/>
        <a:p>
          <a:endParaRPr lang="es-PE"/>
        </a:p>
      </dgm:t>
    </dgm:pt>
    <dgm:pt modelId="{E2533505-AB11-44FA-AE38-758C355B89FA}">
      <dgm:prSet/>
      <dgm:spPr/>
      <dgm:t>
        <a:bodyPr/>
        <a:lstStyle/>
        <a:p>
          <a:r>
            <a:rPr lang="es-ES" dirty="0" err="1"/>
            <a:t>E</a:t>
          </a:r>
          <a:r>
            <a:rPr lang="es-ES" baseline="-25000" dirty="0" err="1"/>
            <a:t>1</a:t>
          </a:r>
          <a:r>
            <a:rPr lang="es-ES" dirty="0"/>
            <a:t>, </a:t>
          </a:r>
          <a:r>
            <a:rPr lang="es-ES" dirty="0" err="1"/>
            <a:t>E</a:t>
          </a:r>
          <a:r>
            <a:rPr lang="es-ES" baseline="-25000" dirty="0" err="1"/>
            <a:t>2</a:t>
          </a:r>
          <a:r>
            <a:rPr lang="es-ES" dirty="0"/>
            <a:t>, </a:t>
          </a:r>
          <a:r>
            <a:rPr lang="es-ES" dirty="0" err="1"/>
            <a:t>E</a:t>
          </a:r>
          <a:r>
            <a:rPr lang="es-ES" baseline="-25000" dirty="0" err="1"/>
            <a:t>3</a:t>
          </a:r>
          <a:r>
            <a:rPr lang="es-ES" dirty="0"/>
            <a:t>,……E</a:t>
          </a:r>
          <a:r>
            <a:rPr lang="es-ES" baseline="-25000" dirty="0"/>
            <a:t>n</a:t>
          </a:r>
          <a:r>
            <a:rPr lang="es-ES" dirty="0"/>
            <a:t> 				</a:t>
          </a:r>
          <a:endParaRPr lang="es-PE" dirty="0"/>
        </a:p>
      </dgm:t>
    </dgm:pt>
    <dgm:pt modelId="{53C23E4D-F3CF-4435-82AF-38B324C591D1}" type="parTrans" cxnId="{547F66EC-E4E9-4D03-B290-AFD5E9D3844A}">
      <dgm:prSet/>
      <dgm:spPr/>
      <dgm:t>
        <a:bodyPr/>
        <a:lstStyle/>
        <a:p>
          <a:endParaRPr lang="es-PE"/>
        </a:p>
      </dgm:t>
    </dgm:pt>
    <dgm:pt modelId="{B8B87250-3006-4127-8F96-7D0ECEC26DCD}" type="sibTrans" cxnId="{547F66EC-E4E9-4D03-B290-AFD5E9D3844A}">
      <dgm:prSet/>
      <dgm:spPr/>
      <dgm:t>
        <a:bodyPr/>
        <a:lstStyle/>
        <a:p>
          <a:endParaRPr lang="es-PE"/>
        </a:p>
      </dgm:t>
    </dgm:pt>
    <dgm:pt modelId="{1C9C1FFE-27ED-4E9A-B3EF-790169F116E8}" type="pres">
      <dgm:prSet presAssocID="{F20B00E8-DC1B-40CA-A2AE-C247E1C0C661}" presName="Name0" presStyleCnt="0">
        <dgm:presLayoutVars>
          <dgm:dir/>
          <dgm:animLvl val="lvl"/>
          <dgm:resizeHandles val="exact"/>
        </dgm:presLayoutVars>
      </dgm:prSet>
      <dgm:spPr/>
    </dgm:pt>
    <dgm:pt modelId="{AE7AD40D-94C8-4B9E-8825-841CD4263F73}" type="pres">
      <dgm:prSet presAssocID="{024DD7DE-87B4-49CA-A8C4-5107015E79DB}" presName="linNode" presStyleCnt="0"/>
      <dgm:spPr/>
    </dgm:pt>
    <dgm:pt modelId="{B1E8A090-7B0B-421E-BDDD-6AB0862990AA}" type="pres">
      <dgm:prSet presAssocID="{024DD7DE-87B4-49CA-A8C4-5107015E79DB}" presName="parentText" presStyleLbl="node1" presStyleIdx="0" presStyleCnt="2" custScaleX="105652" custScaleY="63178" custLinFactNeighborX="-1848">
        <dgm:presLayoutVars>
          <dgm:chMax val="1"/>
          <dgm:bulletEnabled val="1"/>
        </dgm:presLayoutVars>
      </dgm:prSet>
      <dgm:spPr/>
    </dgm:pt>
    <dgm:pt modelId="{D9F9538C-BE61-4BD0-B871-F5E040FC188D}" type="pres">
      <dgm:prSet presAssocID="{024DD7DE-87B4-49CA-A8C4-5107015E79DB}" presName="descendantText" presStyleLbl="alignAccFollowNode1" presStyleIdx="0" presStyleCnt="2" custScaleY="64344">
        <dgm:presLayoutVars>
          <dgm:bulletEnabled val="1"/>
        </dgm:presLayoutVars>
      </dgm:prSet>
      <dgm:spPr/>
    </dgm:pt>
    <dgm:pt modelId="{4F406BB0-E12A-4078-BC5F-8872EA48DDCE}" type="pres">
      <dgm:prSet presAssocID="{15A29EC9-3F14-4AAB-946F-F0405F0C2A59}" presName="sp" presStyleCnt="0"/>
      <dgm:spPr/>
    </dgm:pt>
    <dgm:pt modelId="{18F7BD81-FAF3-44F1-8E78-9F6A1648DFEF}" type="pres">
      <dgm:prSet presAssocID="{9676737A-3D8C-4236-B9D6-11779FE248D2}" presName="linNode" presStyleCnt="0"/>
      <dgm:spPr/>
    </dgm:pt>
    <dgm:pt modelId="{04A66EF7-E3BE-4B1D-B8AD-D32BB28A4B7B}" type="pres">
      <dgm:prSet presAssocID="{9676737A-3D8C-4236-B9D6-11779FE248D2}" presName="parentText" presStyleLbl="node1" presStyleIdx="1" presStyleCnt="2" custScaleX="106355" custScaleY="59373" custLinFactNeighborX="-1617">
        <dgm:presLayoutVars>
          <dgm:chMax val="1"/>
          <dgm:bulletEnabled val="1"/>
        </dgm:presLayoutVars>
      </dgm:prSet>
      <dgm:spPr/>
    </dgm:pt>
    <dgm:pt modelId="{3322E5D6-831A-47E4-B9A0-F9F04C1E650F}" type="pres">
      <dgm:prSet presAssocID="{9676737A-3D8C-4236-B9D6-11779FE248D2}" presName="descendantText" presStyleLbl="alignAccFollowNode1" presStyleIdx="1" presStyleCnt="2" custScaleY="62757">
        <dgm:presLayoutVars>
          <dgm:bulletEnabled val="1"/>
        </dgm:presLayoutVars>
      </dgm:prSet>
      <dgm:spPr/>
    </dgm:pt>
  </dgm:ptLst>
  <dgm:cxnLst>
    <dgm:cxn modelId="{7054A12A-B3C8-4755-9ECD-BC7D71F24B25}" type="presOf" srcId="{F20B00E8-DC1B-40CA-A2AE-C247E1C0C661}" destId="{1C9C1FFE-27ED-4E9A-B3EF-790169F116E8}" srcOrd="0" destOrd="0" presId="urn:microsoft.com/office/officeart/2005/8/layout/vList5"/>
    <dgm:cxn modelId="{12FB4645-8175-4A13-A595-CD9BD0730102}" srcId="{024DD7DE-87B4-49CA-A8C4-5107015E79DB}" destId="{DC3536AD-557D-4BC3-BAD9-297710F8454F}" srcOrd="0" destOrd="0" parTransId="{467C74A5-3E46-4684-B9E2-DAF59229D8F9}" sibTransId="{189B6D68-7C0C-41FD-B9FD-D4309E859091}"/>
    <dgm:cxn modelId="{1C914687-C57A-48B7-8590-2271DF84A9D1}" type="presOf" srcId="{DC3536AD-557D-4BC3-BAD9-297710F8454F}" destId="{D9F9538C-BE61-4BD0-B871-F5E040FC188D}" srcOrd="0" destOrd="0" presId="urn:microsoft.com/office/officeart/2005/8/layout/vList5"/>
    <dgm:cxn modelId="{C352358E-29E4-4B0A-9DC4-B35CCCA29099}" srcId="{F20B00E8-DC1B-40CA-A2AE-C247E1C0C661}" destId="{024DD7DE-87B4-49CA-A8C4-5107015E79DB}" srcOrd="0" destOrd="0" parTransId="{417B2784-7F79-49F8-B93B-147E2C8B45D8}" sibTransId="{15A29EC9-3F14-4AAB-946F-F0405F0C2A59}"/>
    <dgm:cxn modelId="{8A01F098-6278-4F96-A893-7B08471AA756}" type="presOf" srcId="{024DD7DE-87B4-49CA-A8C4-5107015E79DB}" destId="{B1E8A090-7B0B-421E-BDDD-6AB0862990AA}" srcOrd="0" destOrd="0" presId="urn:microsoft.com/office/officeart/2005/8/layout/vList5"/>
    <dgm:cxn modelId="{7DCD049A-B6CB-477C-907B-C7E550DCD426}" srcId="{F20B00E8-DC1B-40CA-A2AE-C247E1C0C661}" destId="{9676737A-3D8C-4236-B9D6-11779FE248D2}" srcOrd="1" destOrd="0" parTransId="{E8E8DBC1-A118-4FDA-B0F1-C5860437053F}" sibTransId="{CF4BEDA8-FAEE-4BC9-AB1E-EBE87396CF08}"/>
    <dgm:cxn modelId="{56B442AC-5AC5-424C-8BDD-D7B607BC8178}" type="presOf" srcId="{E2533505-AB11-44FA-AE38-758C355B89FA}" destId="{3322E5D6-831A-47E4-B9A0-F9F04C1E650F}" srcOrd="0" destOrd="0" presId="urn:microsoft.com/office/officeart/2005/8/layout/vList5"/>
    <dgm:cxn modelId="{547F66EC-E4E9-4D03-B290-AFD5E9D3844A}" srcId="{9676737A-3D8C-4236-B9D6-11779FE248D2}" destId="{E2533505-AB11-44FA-AE38-758C355B89FA}" srcOrd="0" destOrd="0" parTransId="{53C23E4D-F3CF-4435-82AF-38B324C591D1}" sibTransId="{B8B87250-3006-4127-8F96-7D0ECEC26DCD}"/>
    <dgm:cxn modelId="{E3E7D5EC-529D-4ABE-8A8E-23D2B3137D17}" type="presOf" srcId="{9676737A-3D8C-4236-B9D6-11779FE248D2}" destId="{04A66EF7-E3BE-4B1D-B8AD-D32BB28A4B7B}" srcOrd="0" destOrd="0" presId="urn:microsoft.com/office/officeart/2005/8/layout/vList5"/>
    <dgm:cxn modelId="{870C41F1-C9E9-4333-A2DD-E5E1A245D827}" type="presParOf" srcId="{1C9C1FFE-27ED-4E9A-B3EF-790169F116E8}" destId="{AE7AD40D-94C8-4B9E-8825-841CD4263F73}" srcOrd="0" destOrd="0" presId="urn:microsoft.com/office/officeart/2005/8/layout/vList5"/>
    <dgm:cxn modelId="{5220875D-B0B0-448D-A4D5-460029B667B8}" type="presParOf" srcId="{AE7AD40D-94C8-4B9E-8825-841CD4263F73}" destId="{B1E8A090-7B0B-421E-BDDD-6AB0862990AA}" srcOrd="0" destOrd="0" presId="urn:microsoft.com/office/officeart/2005/8/layout/vList5"/>
    <dgm:cxn modelId="{F6DBD66D-FF16-4C9A-8153-6CBF8DAD28FB}" type="presParOf" srcId="{AE7AD40D-94C8-4B9E-8825-841CD4263F73}" destId="{D9F9538C-BE61-4BD0-B871-F5E040FC188D}" srcOrd="1" destOrd="0" presId="urn:microsoft.com/office/officeart/2005/8/layout/vList5"/>
    <dgm:cxn modelId="{4BF85B7A-C270-462F-AD9E-08748525E95E}" type="presParOf" srcId="{1C9C1FFE-27ED-4E9A-B3EF-790169F116E8}" destId="{4F406BB0-E12A-4078-BC5F-8872EA48DDCE}" srcOrd="1" destOrd="0" presId="urn:microsoft.com/office/officeart/2005/8/layout/vList5"/>
    <dgm:cxn modelId="{AE481F52-112D-418C-9A05-2479A00AFD19}" type="presParOf" srcId="{1C9C1FFE-27ED-4E9A-B3EF-790169F116E8}" destId="{18F7BD81-FAF3-44F1-8E78-9F6A1648DFEF}" srcOrd="2" destOrd="0" presId="urn:microsoft.com/office/officeart/2005/8/layout/vList5"/>
    <dgm:cxn modelId="{4492F0A8-0176-4C12-A2C5-A507C9294059}" type="presParOf" srcId="{18F7BD81-FAF3-44F1-8E78-9F6A1648DFEF}" destId="{04A66EF7-E3BE-4B1D-B8AD-D32BB28A4B7B}" srcOrd="0" destOrd="0" presId="urn:microsoft.com/office/officeart/2005/8/layout/vList5"/>
    <dgm:cxn modelId="{F1C9FB30-2F8E-4009-B5F5-1A0E694A63FB}" type="presParOf" srcId="{18F7BD81-FAF3-44F1-8E78-9F6A1648DFEF}" destId="{3322E5D6-831A-47E4-B9A0-F9F04C1E650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547D058-A427-4D84-ACD4-D07929C07C4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54666FBC-B4A5-47C6-BB95-98E393603F31}">
      <dgm:prSet/>
      <dgm:spPr/>
      <dgm:t>
        <a:bodyPr/>
        <a:lstStyle/>
        <a:p>
          <a:r>
            <a:rPr lang="es-ES" b="1"/>
            <a:t>Restricciones  Duras:</a:t>
          </a:r>
          <a:endParaRPr lang="es-PE"/>
        </a:p>
      </dgm:t>
    </dgm:pt>
    <dgm:pt modelId="{85E1B038-FD4A-42D0-B4EC-5E1C0273F419}" type="parTrans" cxnId="{9DF1E019-5BC7-4341-A427-65691700CDE7}">
      <dgm:prSet/>
      <dgm:spPr/>
      <dgm:t>
        <a:bodyPr/>
        <a:lstStyle/>
        <a:p>
          <a:endParaRPr lang="es-PE"/>
        </a:p>
      </dgm:t>
    </dgm:pt>
    <dgm:pt modelId="{E2347A0B-7DDB-4B81-9940-AB53DF12465E}" type="sibTrans" cxnId="{9DF1E019-5BC7-4341-A427-65691700CDE7}">
      <dgm:prSet/>
      <dgm:spPr/>
      <dgm:t>
        <a:bodyPr/>
        <a:lstStyle/>
        <a:p>
          <a:endParaRPr lang="es-PE"/>
        </a:p>
      </dgm:t>
    </dgm:pt>
    <dgm:pt modelId="{52E829B4-E2FC-46D1-A8B3-90C93C12E620}">
      <dgm:prSet/>
      <dgm:spPr/>
      <dgm:t>
        <a:bodyPr/>
        <a:lstStyle/>
        <a:p>
          <a:r>
            <a:rPr lang="es-ES" dirty="0"/>
            <a:t>Son restricciones que  no son metas, o no admiten “flexibilidad” pues sí o sí se cumplen. Pueden ser:    ≤,    ≥ ,  =</a:t>
          </a:r>
          <a:endParaRPr lang="es-PE" dirty="0"/>
        </a:p>
      </dgm:t>
    </dgm:pt>
    <dgm:pt modelId="{00068E7C-329C-470A-9055-DB419E0AB44C}" type="parTrans" cxnId="{86CED1AA-4306-4ED2-84DF-38CBF40A31B2}">
      <dgm:prSet/>
      <dgm:spPr/>
      <dgm:t>
        <a:bodyPr/>
        <a:lstStyle/>
        <a:p>
          <a:endParaRPr lang="es-PE"/>
        </a:p>
      </dgm:t>
    </dgm:pt>
    <dgm:pt modelId="{39550DAA-410B-4D59-96FE-C2C003B78EA3}" type="sibTrans" cxnId="{86CED1AA-4306-4ED2-84DF-38CBF40A31B2}">
      <dgm:prSet/>
      <dgm:spPr/>
      <dgm:t>
        <a:bodyPr/>
        <a:lstStyle/>
        <a:p>
          <a:endParaRPr lang="es-PE"/>
        </a:p>
      </dgm:t>
    </dgm:pt>
    <dgm:pt modelId="{8D3A3833-4548-45B1-9C14-FDC75248B964}" type="pres">
      <dgm:prSet presAssocID="{6547D058-A427-4D84-ACD4-D07929C07C41}" presName="Name0" presStyleCnt="0">
        <dgm:presLayoutVars>
          <dgm:dir/>
          <dgm:animLvl val="lvl"/>
          <dgm:resizeHandles val="exact"/>
        </dgm:presLayoutVars>
      </dgm:prSet>
      <dgm:spPr/>
    </dgm:pt>
    <dgm:pt modelId="{5214981C-4C67-4109-A817-BE0AE117C445}" type="pres">
      <dgm:prSet presAssocID="{54666FBC-B4A5-47C6-BB95-98E393603F31}" presName="linNode" presStyleCnt="0"/>
      <dgm:spPr/>
    </dgm:pt>
    <dgm:pt modelId="{807B8BD6-77A2-4928-9F79-A6F852E75683}" type="pres">
      <dgm:prSet presAssocID="{54666FBC-B4A5-47C6-BB95-98E393603F31}" presName="parentText" presStyleLbl="node1" presStyleIdx="0" presStyleCnt="1" custScaleX="86319">
        <dgm:presLayoutVars>
          <dgm:chMax val="1"/>
          <dgm:bulletEnabled val="1"/>
        </dgm:presLayoutVars>
      </dgm:prSet>
      <dgm:spPr/>
    </dgm:pt>
    <dgm:pt modelId="{9802BD70-15BB-4F0D-A300-FE754AA1EA1E}" type="pres">
      <dgm:prSet presAssocID="{54666FBC-B4A5-47C6-BB95-98E393603F31}" presName="descendantText" presStyleLbl="alignAccFollowNode1" presStyleIdx="0" presStyleCnt="1" custScaleX="107696" custScaleY="122236">
        <dgm:presLayoutVars>
          <dgm:bulletEnabled val="1"/>
        </dgm:presLayoutVars>
      </dgm:prSet>
      <dgm:spPr/>
    </dgm:pt>
  </dgm:ptLst>
  <dgm:cxnLst>
    <dgm:cxn modelId="{9DF1E019-5BC7-4341-A427-65691700CDE7}" srcId="{6547D058-A427-4D84-ACD4-D07929C07C41}" destId="{54666FBC-B4A5-47C6-BB95-98E393603F31}" srcOrd="0" destOrd="0" parTransId="{85E1B038-FD4A-42D0-B4EC-5E1C0273F419}" sibTransId="{E2347A0B-7DDB-4B81-9940-AB53DF12465E}"/>
    <dgm:cxn modelId="{7403F42E-E15E-4382-A0F5-460876D743DA}" type="presOf" srcId="{54666FBC-B4A5-47C6-BB95-98E393603F31}" destId="{807B8BD6-77A2-4928-9F79-A6F852E75683}" srcOrd="0" destOrd="0" presId="urn:microsoft.com/office/officeart/2005/8/layout/vList5"/>
    <dgm:cxn modelId="{06DB6E52-2AC4-4C74-B35E-6BD72BFB24A1}" type="presOf" srcId="{6547D058-A427-4D84-ACD4-D07929C07C41}" destId="{8D3A3833-4548-45B1-9C14-FDC75248B964}" srcOrd="0" destOrd="0" presId="urn:microsoft.com/office/officeart/2005/8/layout/vList5"/>
    <dgm:cxn modelId="{86CED1AA-4306-4ED2-84DF-38CBF40A31B2}" srcId="{54666FBC-B4A5-47C6-BB95-98E393603F31}" destId="{52E829B4-E2FC-46D1-A8B3-90C93C12E620}" srcOrd="0" destOrd="0" parTransId="{00068E7C-329C-470A-9055-DB419E0AB44C}" sibTransId="{39550DAA-410B-4D59-96FE-C2C003B78EA3}"/>
    <dgm:cxn modelId="{A6B87AED-C425-4E33-9A33-70EB38E053CC}" type="presOf" srcId="{52E829B4-E2FC-46D1-A8B3-90C93C12E620}" destId="{9802BD70-15BB-4F0D-A300-FE754AA1EA1E}" srcOrd="0" destOrd="0" presId="urn:microsoft.com/office/officeart/2005/8/layout/vList5"/>
    <dgm:cxn modelId="{3B000C5C-0376-48E1-84D1-071692E21720}" type="presParOf" srcId="{8D3A3833-4548-45B1-9C14-FDC75248B964}" destId="{5214981C-4C67-4109-A817-BE0AE117C445}" srcOrd="0" destOrd="0" presId="urn:microsoft.com/office/officeart/2005/8/layout/vList5"/>
    <dgm:cxn modelId="{BC2DEC64-94AA-411F-AAD7-39DFD9D2075B}" type="presParOf" srcId="{5214981C-4C67-4109-A817-BE0AE117C445}" destId="{807B8BD6-77A2-4928-9F79-A6F852E75683}" srcOrd="0" destOrd="0" presId="urn:microsoft.com/office/officeart/2005/8/layout/vList5"/>
    <dgm:cxn modelId="{83F35A6D-6F64-42E2-B9D8-0AC5B5014AA1}" type="presParOf" srcId="{5214981C-4C67-4109-A817-BE0AE117C445}" destId="{9802BD70-15BB-4F0D-A300-FE754AA1EA1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40AEBE6-CC0D-4E9D-857B-2CA5D288F5F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5E338C04-B029-4A5D-83FD-1369D9D81CCC}">
      <dgm:prSet/>
      <dgm:spPr/>
      <dgm:t>
        <a:bodyPr/>
        <a:lstStyle/>
        <a:p>
          <a:r>
            <a:rPr lang="es-ES" b="1" dirty="0"/>
            <a:t>Restricciones  Blandas:</a:t>
          </a:r>
          <a:endParaRPr lang="es-PE" dirty="0"/>
        </a:p>
      </dgm:t>
    </dgm:pt>
    <dgm:pt modelId="{AB8967B6-36B4-4D24-B921-E446B188AF6D}" type="parTrans" cxnId="{FD92D6E9-6F30-4F66-AB1D-FCFA0E9EE62A}">
      <dgm:prSet/>
      <dgm:spPr/>
      <dgm:t>
        <a:bodyPr/>
        <a:lstStyle/>
        <a:p>
          <a:endParaRPr lang="es-PE"/>
        </a:p>
      </dgm:t>
    </dgm:pt>
    <dgm:pt modelId="{A7A98B0C-DBED-4C82-8A77-CEE04C9AD793}" type="sibTrans" cxnId="{FD92D6E9-6F30-4F66-AB1D-FCFA0E9EE62A}">
      <dgm:prSet/>
      <dgm:spPr/>
      <dgm:t>
        <a:bodyPr/>
        <a:lstStyle/>
        <a:p>
          <a:endParaRPr lang="es-PE"/>
        </a:p>
      </dgm:t>
    </dgm:pt>
    <dgm:pt modelId="{D7D7B358-D6C8-4155-9F93-9317A460241D}">
      <dgm:prSet/>
      <dgm:spPr/>
      <dgm:t>
        <a:bodyPr/>
        <a:lstStyle/>
        <a:p>
          <a:pPr marL="0" lvl="1" indent="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s-ES" sz="2200" kern="1200" dirty="0"/>
            <a:t>Son ecuaciones que representan el deseo de alcanzar los valores meta establecidos para cada objetivo.   </a:t>
          </a:r>
          <a:endParaRPr lang="es-PE" sz="2200" kern="1200" dirty="0"/>
        </a:p>
      </dgm:t>
    </dgm:pt>
    <dgm:pt modelId="{9E955CF5-DA6D-45E8-B065-AF81E1F86FA4}" type="parTrans" cxnId="{546B6B79-5D90-4CEA-A845-A276639DF7BC}">
      <dgm:prSet/>
      <dgm:spPr/>
      <dgm:t>
        <a:bodyPr/>
        <a:lstStyle/>
        <a:p>
          <a:endParaRPr lang="es-PE"/>
        </a:p>
      </dgm:t>
    </dgm:pt>
    <dgm:pt modelId="{B7D1C4C9-C3CF-4E0A-8520-B83FA210193F}" type="sibTrans" cxnId="{546B6B79-5D90-4CEA-A845-A276639DF7BC}">
      <dgm:prSet/>
      <dgm:spPr/>
      <dgm:t>
        <a:bodyPr/>
        <a:lstStyle/>
        <a:p>
          <a:endParaRPr lang="es-PE"/>
        </a:p>
      </dgm:t>
    </dgm:pt>
    <dgm:pt modelId="{4C23527E-E182-47F2-9D48-2FEDE1388BC1}">
      <dgm:prSet custT="1"/>
      <dgm:spPr/>
      <dgm:t>
        <a:bodyPr/>
        <a:lstStyle/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s-ES" sz="1800" b="1" kern="1200" dirty="0" err="1"/>
            <a:t>Restricción</a:t>
          </a:r>
          <a:r>
            <a:rPr lang="es-ES" sz="1800" b="1" kern="1200" baseline="-25000" dirty="0" err="1"/>
            <a:t>1</a:t>
          </a:r>
          <a:r>
            <a:rPr lang="es-ES" sz="1800" b="1" kern="1200" dirty="0"/>
            <a:t> +</a:t>
          </a:r>
          <a:r>
            <a:rPr lang="es-ES" sz="1800" b="1" kern="1200" dirty="0" err="1"/>
            <a:t>D</a:t>
          </a:r>
          <a:r>
            <a:rPr lang="es-ES" sz="1800" b="1" kern="1200" baseline="-25000" dirty="0" err="1"/>
            <a:t>1</a:t>
          </a:r>
          <a:r>
            <a:rPr lang="es-ES" sz="1800" b="1" kern="1200" baseline="-25000" dirty="0"/>
            <a:t> </a:t>
          </a:r>
          <a:r>
            <a:rPr lang="es-ES" sz="1800" b="1" kern="1200" dirty="0"/>
            <a:t>– </a:t>
          </a:r>
          <a:r>
            <a:rPr lang="es-ES" sz="1800" b="1" kern="1200" dirty="0" err="1"/>
            <a:t>E</a:t>
          </a:r>
          <a:r>
            <a:rPr lang="es-ES" sz="1800" b="1" kern="1200" baseline="-25000" dirty="0" err="1"/>
            <a:t>1</a:t>
          </a:r>
          <a:r>
            <a:rPr lang="es-ES" sz="1800" b="1" kern="1200" dirty="0"/>
            <a:t> = Valor </a:t>
          </a:r>
          <a:r>
            <a:rPr lang="es-ES" sz="1800" b="1" kern="1200" dirty="0" err="1"/>
            <a:t>meta</a:t>
          </a:r>
          <a:r>
            <a:rPr lang="es-ES" sz="1800" b="1" kern="1200" baseline="-25000" dirty="0" err="1"/>
            <a:t>1</a:t>
          </a:r>
          <a:endParaRPr lang="es-PE" sz="1800" b="1" kern="1200" dirty="0"/>
        </a:p>
      </dgm:t>
    </dgm:pt>
    <dgm:pt modelId="{398BB635-38F2-49F3-B56D-231ECAB2C2F1}" type="parTrans" cxnId="{C3FCB138-5A11-45D8-9FEB-4C9D3DD56D25}">
      <dgm:prSet/>
      <dgm:spPr/>
      <dgm:t>
        <a:bodyPr/>
        <a:lstStyle/>
        <a:p>
          <a:endParaRPr lang="es-PE"/>
        </a:p>
      </dgm:t>
    </dgm:pt>
    <dgm:pt modelId="{A2AEC6FF-77EB-4FF3-BCE5-FC0A509AC2E7}" type="sibTrans" cxnId="{C3FCB138-5A11-45D8-9FEB-4C9D3DD56D25}">
      <dgm:prSet/>
      <dgm:spPr/>
      <dgm:t>
        <a:bodyPr/>
        <a:lstStyle/>
        <a:p>
          <a:endParaRPr lang="es-PE"/>
        </a:p>
      </dgm:t>
    </dgm:pt>
    <dgm:pt modelId="{2D437825-5033-4B6A-BAAE-BCB961CF015B}">
      <dgm:prSet custT="1"/>
      <dgm:spPr/>
      <dgm:t>
        <a:bodyPr/>
        <a:lstStyle/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Restricción</a:t>
          </a:r>
          <a:r>
            <a:rPr lang="es-ES" sz="1800" b="1" kern="1200" baseline="-250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2</a:t>
          </a:r>
          <a:r>
            <a:rPr lang="es-ES" sz="1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 +</a:t>
          </a:r>
          <a:r>
            <a:rPr lang="es-ES" sz="18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D2</a:t>
          </a:r>
          <a:r>
            <a:rPr lang="es-ES" sz="1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 – </a:t>
          </a:r>
          <a:r>
            <a:rPr lang="es-ES" sz="18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E</a:t>
          </a:r>
          <a:r>
            <a:rPr lang="es-ES" sz="1800" b="1" kern="1200" baseline="-250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2</a:t>
          </a:r>
          <a:r>
            <a:rPr lang="es-ES" sz="1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 = Valor </a:t>
          </a:r>
          <a:r>
            <a:rPr lang="es-ES" sz="18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meta</a:t>
          </a:r>
          <a:r>
            <a:rPr lang="es-ES" sz="1800" b="1" kern="1200" baseline="-250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2</a:t>
          </a:r>
          <a:endParaRPr lang="es-PE" sz="1800" b="1" kern="1200" baseline="-250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02541B5A-7F19-4B01-B948-96B998715E64}" type="parTrans" cxnId="{28C67BA8-8553-4525-9C10-26E764FF66E8}">
      <dgm:prSet/>
      <dgm:spPr/>
      <dgm:t>
        <a:bodyPr/>
        <a:lstStyle/>
        <a:p>
          <a:endParaRPr lang="es-PE"/>
        </a:p>
      </dgm:t>
    </dgm:pt>
    <dgm:pt modelId="{37132C45-EA3D-4AEF-9567-562261CAB83F}" type="sibTrans" cxnId="{28C67BA8-8553-4525-9C10-26E764FF66E8}">
      <dgm:prSet/>
      <dgm:spPr/>
      <dgm:t>
        <a:bodyPr/>
        <a:lstStyle/>
        <a:p>
          <a:endParaRPr lang="es-PE"/>
        </a:p>
      </dgm:t>
    </dgm:pt>
    <dgm:pt modelId="{7BDFF41F-3212-4E73-8549-F7E6A438F1BE}" type="pres">
      <dgm:prSet presAssocID="{840AEBE6-CC0D-4E9D-857B-2CA5D288F5F1}" presName="Name0" presStyleCnt="0">
        <dgm:presLayoutVars>
          <dgm:dir/>
          <dgm:animLvl val="lvl"/>
          <dgm:resizeHandles val="exact"/>
        </dgm:presLayoutVars>
      </dgm:prSet>
      <dgm:spPr/>
    </dgm:pt>
    <dgm:pt modelId="{FD918EC6-45C8-4C15-85FB-7846CDCF9BEE}" type="pres">
      <dgm:prSet presAssocID="{5E338C04-B029-4A5D-83FD-1369D9D81CCC}" presName="linNode" presStyleCnt="0"/>
      <dgm:spPr/>
    </dgm:pt>
    <dgm:pt modelId="{0B8F7FCD-72AD-4F39-93B6-34CC020AFA81}" type="pres">
      <dgm:prSet presAssocID="{5E338C04-B029-4A5D-83FD-1369D9D81CCC}" presName="parentText" presStyleLbl="node1" presStyleIdx="0" presStyleCnt="1" custScaleX="85168" custScaleY="95123">
        <dgm:presLayoutVars>
          <dgm:chMax val="1"/>
          <dgm:bulletEnabled val="1"/>
        </dgm:presLayoutVars>
      </dgm:prSet>
      <dgm:spPr/>
    </dgm:pt>
    <dgm:pt modelId="{69826F5C-0DEB-4CC8-B51B-A62B3A2E7C5F}" type="pres">
      <dgm:prSet presAssocID="{5E338C04-B029-4A5D-83FD-1369D9D81CCC}" presName="descendantText" presStyleLbl="alignAccFollowNode1" presStyleIdx="0" presStyleCnt="1" custScaleX="108449" custScaleY="118904">
        <dgm:presLayoutVars>
          <dgm:bulletEnabled val="1"/>
        </dgm:presLayoutVars>
      </dgm:prSet>
      <dgm:spPr/>
    </dgm:pt>
  </dgm:ptLst>
  <dgm:cxnLst>
    <dgm:cxn modelId="{C3FCB138-5A11-45D8-9FEB-4C9D3DD56D25}" srcId="{5E338C04-B029-4A5D-83FD-1369D9D81CCC}" destId="{4C23527E-E182-47F2-9D48-2FEDE1388BC1}" srcOrd="1" destOrd="0" parTransId="{398BB635-38F2-49F3-B56D-231ECAB2C2F1}" sibTransId="{A2AEC6FF-77EB-4FF3-BCE5-FC0A509AC2E7}"/>
    <dgm:cxn modelId="{B7748A54-0C93-4321-9643-236397010462}" type="presOf" srcId="{D7D7B358-D6C8-4155-9F93-9317A460241D}" destId="{69826F5C-0DEB-4CC8-B51B-A62B3A2E7C5F}" srcOrd="0" destOrd="0" presId="urn:microsoft.com/office/officeart/2005/8/layout/vList5"/>
    <dgm:cxn modelId="{546B6B79-5D90-4CEA-A845-A276639DF7BC}" srcId="{5E338C04-B029-4A5D-83FD-1369D9D81CCC}" destId="{D7D7B358-D6C8-4155-9F93-9317A460241D}" srcOrd="0" destOrd="0" parTransId="{9E955CF5-DA6D-45E8-B065-AF81E1F86FA4}" sibTransId="{B7D1C4C9-C3CF-4E0A-8520-B83FA210193F}"/>
    <dgm:cxn modelId="{F2D8E498-CE25-4D6F-B54F-B35B9F71F276}" type="presOf" srcId="{2D437825-5033-4B6A-BAAE-BCB961CF015B}" destId="{69826F5C-0DEB-4CC8-B51B-A62B3A2E7C5F}" srcOrd="0" destOrd="2" presId="urn:microsoft.com/office/officeart/2005/8/layout/vList5"/>
    <dgm:cxn modelId="{28C67BA8-8553-4525-9C10-26E764FF66E8}" srcId="{5E338C04-B029-4A5D-83FD-1369D9D81CCC}" destId="{2D437825-5033-4B6A-BAAE-BCB961CF015B}" srcOrd="2" destOrd="0" parTransId="{02541B5A-7F19-4B01-B948-96B998715E64}" sibTransId="{37132C45-EA3D-4AEF-9567-562261CAB83F}"/>
    <dgm:cxn modelId="{0F62B6AA-23FA-4AE2-958F-EBE198FA17C3}" type="presOf" srcId="{4C23527E-E182-47F2-9D48-2FEDE1388BC1}" destId="{69826F5C-0DEB-4CC8-B51B-A62B3A2E7C5F}" srcOrd="0" destOrd="1" presId="urn:microsoft.com/office/officeart/2005/8/layout/vList5"/>
    <dgm:cxn modelId="{0B1C56BF-0489-41B9-AD57-16E58FC76FD9}" type="presOf" srcId="{5E338C04-B029-4A5D-83FD-1369D9D81CCC}" destId="{0B8F7FCD-72AD-4F39-93B6-34CC020AFA81}" srcOrd="0" destOrd="0" presId="urn:microsoft.com/office/officeart/2005/8/layout/vList5"/>
    <dgm:cxn modelId="{FD92D6E9-6F30-4F66-AB1D-FCFA0E9EE62A}" srcId="{840AEBE6-CC0D-4E9D-857B-2CA5D288F5F1}" destId="{5E338C04-B029-4A5D-83FD-1369D9D81CCC}" srcOrd="0" destOrd="0" parTransId="{AB8967B6-36B4-4D24-B921-E446B188AF6D}" sibTransId="{A7A98B0C-DBED-4C82-8A77-CEE04C9AD793}"/>
    <dgm:cxn modelId="{86E334FF-6B1B-492F-AD4C-6807330FE41A}" type="presOf" srcId="{840AEBE6-CC0D-4E9D-857B-2CA5D288F5F1}" destId="{7BDFF41F-3212-4E73-8549-F7E6A438F1BE}" srcOrd="0" destOrd="0" presId="urn:microsoft.com/office/officeart/2005/8/layout/vList5"/>
    <dgm:cxn modelId="{A94E4937-8376-4418-A5FB-A44EDC1E09E1}" type="presParOf" srcId="{7BDFF41F-3212-4E73-8549-F7E6A438F1BE}" destId="{FD918EC6-45C8-4C15-85FB-7846CDCF9BEE}" srcOrd="0" destOrd="0" presId="urn:microsoft.com/office/officeart/2005/8/layout/vList5"/>
    <dgm:cxn modelId="{71075B4E-DFC4-4C02-9EEC-24EA58270D2E}" type="presParOf" srcId="{FD918EC6-45C8-4C15-85FB-7846CDCF9BEE}" destId="{0B8F7FCD-72AD-4F39-93B6-34CC020AFA81}" srcOrd="0" destOrd="0" presId="urn:microsoft.com/office/officeart/2005/8/layout/vList5"/>
    <dgm:cxn modelId="{5CD00301-789E-4AC3-8751-F75F5B118F20}" type="presParOf" srcId="{FD918EC6-45C8-4C15-85FB-7846CDCF9BEE}" destId="{69826F5C-0DEB-4CC8-B51B-A62B3A2E7C5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0B5E4A5-EFC9-4EF0-8171-CBD5CB98E7B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60D76E5-1AA1-4181-8395-183625BE7F71}">
      <dgm:prSet custT="1"/>
      <dgm:spPr/>
      <dgm:t>
        <a:bodyPr/>
        <a:lstStyle/>
        <a:p>
          <a:r>
            <a:rPr lang="es-ES" sz="2800" b="1" dirty="0"/>
            <a:t>Siempre será de minimización</a:t>
          </a:r>
          <a:endParaRPr lang="es-PE" sz="2800" dirty="0"/>
        </a:p>
      </dgm:t>
    </dgm:pt>
    <dgm:pt modelId="{7B03B676-8F71-4983-A32B-228B45257F8D}" type="parTrans" cxnId="{93121575-2F28-4CFA-AAD9-8F77D1FC229E}">
      <dgm:prSet/>
      <dgm:spPr/>
      <dgm:t>
        <a:bodyPr/>
        <a:lstStyle/>
        <a:p>
          <a:endParaRPr lang="es-PE"/>
        </a:p>
      </dgm:t>
    </dgm:pt>
    <dgm:pt modelId="{D27AE790-2152-411E-B4B5-243141F0BBF3}" type="sibTrans" cxnId="{93121575-2F28-4CFA-AAD9-8F77D1FC229E}">
      <dgm:prSet/>
      <dgm:spPr/>
      <dgm:t>
        <a:bodyPr/>
        <a:lstStyle/>
        <a:p>
          <a:endParaRPr lang="es-PE"/>
        </a:p>
      </dgm:t>
    </dgm:pt>
    <dgm:pt modelId="{27CCF246-F6F1-4BF5-92D2-0AADABCA1332}">
      <dgm:prSet custT="1"/>
      <dgm:spPr/>
      <dgm:t>
        <a:bodyPr/>
        <a:lstStyle/>
        <a:p>
          <a:r>
            <a:rPr lang="es-ES" sz="2800" b="0" dirty="0"/>
            <a:t>C</a:t>
          </a:r>
          <a:r>
            <a:rPr lang="es-ES" sz="2800" dirty="0"/>
            <a:t>ontiene las variables de desviación “No deseadas”</a:t>
          </a:r>
          <a:endParaRPr lang="es-PE" sz="2800" dirty="0"/>
        </a:p>
      </dgm:t>
    </dgm:pt>
    <dgm:pt modelId="{1C04EDBC-39B1-492A-AF6E-B1A7CA3767BD}" type="parTrans" cxnId="{9500B77E-D1D5-436E-BFF0-ADC8911AB697}">
      <dgm:prSet/>
      <dgm:spPr/>
      <dgm:t>
        <a:bodyPr/>
        <a:lstStyle/>
        <a:p>
          <a:endParaRPr lang="es-PE"/>
        </a:p>
      </dgm:t>
    </dgm:pt>
    <dgm:pt modelId="{921B0695-140B-4A49-80BA-2D44C4168191}" type="sibTrans" cxnId="{9500B77E-D1D5-436E-BFF0-ADC8911AB697}">
      <dgm:prSet/>
      <dgm:spPr/>
      <dgm:t>
        <a:bodyPr/>
        <a:lstStyle/>
        <a:p>
          <a:endParaRPr lang="es-PE"/>
        </a:p>
      </dgm:t>
    </dgm:pt>
    <dgm:pt modelId="{4CAFF69A-8EB9-45CB-BF48-7F334A38B53D}" type="pres">
      <dgm:prSet presAssocID="{50B5E4A5-EFC9-4EF0-8171-CBD5CB98E7BE}" presName="Name0" presStyleCnt="0">
        <dgm:presLayoutVars>
          <dgm:dir/>
          <dgm:animLvl val="lvl"/>
          <dgm:resizeHandles val="exact"/>
        </dgm:presLayoutVars>
      </dgm:prSet>
      <dgm:spPr/>
    </dgm:pt>
    <dgm:pt modelId="{6140FCAE-D4D1-4C12-A882-BCD89F2B14E8}" type="pres">
      <dgm:prSet presAssocID="{C60D76E5-1AA1-4181-8395-183625BE7F71}" presName="linNode" presStyleCnt="0"/>
      <dgm:spPr/>
    </dgm:pt>
    <dgm:pt modelId="{313AB4CA-7464-40E1-B671-C5214672F429}" type="pres">
      <dgm:prSet presAssocID="{C60D76E5-1AA1-4181-8395-183625BE7F71}" presName="parentText" presStyleLbl="node1" presStyleIdx="0" presStyleCnt="1" custScaleX="159459">
        <dgm:presLayoutVars>
          <dgm:chMax val="1"/>
          <dgm:bulletEnabled val="1"/>
        </dgm:presLayoutVars>
      </dgm:prSet>
      <dgm:spPr/>
    </dgm:pt>
    <dgm:pt modelId="{619A3172-8605-4436-80A1-C2DEC9F08BF4}" type="pres">
      <dgm:prSet presAssocID="{C60D76E5-1AA1-4181-8395-183625BE7F71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4030AB0E-17CA-4EF5-AE19-9CE6D11685E8}" type="presOf" srcId="{27CCF246-F6F1-4BF5-92D2-0AADABCA1332}" destId="{619A3172-8605-4436-80A1-C2DEC9F08BF4}" srcOrd="0" destOrd="0" presId="urn:microsoft.com/office/officeart/2005/8/layout/vList5"/>
    <dgm:cxn modelId="{EC685F72-409D-46C4-9D09-EA19A5E48052}" type="presOf" srcId="{C60D76E5-1AA1-4181-8395-183625BE7F71}" destId="{313AB4CA-7464-40E1-B671-C5214672F429}" srcOrd="0" destOrd="0" presId="urn:microsoft.com/office/officeart/2005/8/layout/vList5"/>
    <dgm:cxn modelId="{5EF4A474-FD47-4A60-B2C3-0C91B0656B98}" type="presOf" srcId="{50B5E4A5-EFC9-4EF0-8171-CBD5CB98E7BE}" destId="{4CAFF69A-8EB9-45CB-BF48-7F334A38B53D}" srcOrd="0" destOrd="0" presId="urn:microsoft.com/office/officeart/2005/8/layout/vList5"/>
    <dgm:cxn modelId="{93121575-2F28-4CFA-AAD9-8F77D1FC229E}" srcId="{50B5E4A5-EFC9-4EF0-8171-CBD5CB98E7BE}" destId="{C60D76E5-1AA1-4181-8395-183625BE7F71}" srcOrd="0" destOrd="0" parTransId="{7B03B676-8F71-4983-A32B-228B45257F8D}" sibTransId="{D27AE790-2152-411E-B4B5-243141F0BBF3}"/>
    <dgm:cxn modelId="{9500B77E-D1D5-436E-BFF0-ADC8911AB697}" srcId="{C60D76E5-1AA1-4181-8395-183625BE7F71}" destId="{27CCF246-F6F1-4BF5-92D2-0AADABCA1332}" srcOrd="0" destOrd="0" parTransId="{1C04EDBC-39B1-492A-AF6E-B1A7CA3767BD}" sibTransId="{921B0695-140B-4A49-80BA-2D44C4168191}"/>
    <dgm:cxn modelId="{99B801A6-2F52-4E17-9D54-E3E268C0F8BE}" type="presParOf" srcId="{4CAFF69A-8EB9-45CB-BF48-7F334A38B53D}" destId="{6140FCAE-D4D1-4C12-A882-BCD89F2B14E8}" srcOrd="0" destOrd="0" presId="urn:microsoft.com/office/officeart/2005/8/layout/vList5"/>
    <dgm:cxn modelId="{060658E5-0C4A-4990-A71D-BB6809B6135B}" type="presParOf" srcId="{6140FCAE-D4D1-4C12-A882-BCD89F2B14E8}" destId="{313AB4CA-7464-40E1-B671-C5214672F429}" srcOrd="0" destOrd="0" presId="urn:microsoft.com/office/officeart/2005/8/layout/vList5"/>
    <dgm:cxn modelId="{5B8F48C2-91C9-4EDD-9AED-72469C0113FB}" type="presParOf" srcId="{6140FCAE-D4D1-4C12-A882-BCD89F2B14E8}" destId="{619A3172-8605-4436-80A1-C2DEC9F08BF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E8422D-44E6-4D03-889C-BB7AEFFC9BD3}">
      <dsp:nvSpPr>
        <dsp:cNvPr id="0" name=""/>
        <dsp:cNvSpPr/>
      </dsp:nvSpPr>
      <dsp:spPr>
        <a:xfrm rot="5400000">
          <a:off x="3258908" y="-516481"/>
          <a:ext cx="2122028" cy="3155211"/>
        </a:xfrm>
        <a:prstGeom prst="round2SameRect">
          <a:avLst/>
        </a:prstGeom>
        <a:solidFill>
          <a:srgbClr val="4472C4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4472C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b="1" kern="1200" dirty="0"/>
            <a:t>T</a:t>
          </a:r>
          <a:r>
            <a:rPr lang="es-ES" sz="2400" kern="1200" dirty="0"/>
            <a:t>odas las </a:t>
          </a:r>
          <a:r>
            <a:rPr lang="es-ES" sz="2400" b="1" kern="1200" dirty="0"/>
            <a:t>metas</a:t>
          </a:r>
          <a:r>
            <a:rPr lang="es-ES" sz="2400" kern="1200" dirty="0"/>
            <a:t> se incluyen en </a:t>
          </a:r>
          <a:r>
            <a:rPr lang="es-ES" sz="2400" kern="1200" dirty="0">
              <a:solidFill>
                <a:srgbClr val="FF0000"/>
              </a:solidFill>
            </a:rPr>
            <a:t>una sola</a:t>
          </a:r>
          <a:r>
            <a:rPr lang="es-ES" sz="2400" kern="1200" dirty="0"/>
            <a:t> </a:t>
          </a:r>
          <a:r>
            <a:rPr lang="es-ES" sz="2400" b="1" kern="1200" dirty="0"/>
            <a:t>función objetivo </a:t>
          </a:r>
          <a:r>
            <a:rPr lang="es-ES" sz="2400" b="0" kern="1200" dirty="0"/>
            <a:t>.</a:t>
          </a:r>
          <a:endParaRPr lang="es-PE" sz="2400" b="0" kern="1200" dirty="0"/>
        </a:p>
      </dsp:txBody>
      <dsp:txXfrm rot="-5400000">
        <a:off x="2742317" y="103699"/>
        <a:ext cx="3051622" cy="1914850"/>
      </dsp:txXfrm>
    </dsp:sp>
    <dsp:sp modelId="{26669014-F292-4868-81A6-691BFA58F698}">
      <dsp:nvSpPr>
        <dsp:cNvPr id="0" name=""/>
        <dsp:cNvSpPr/>
      </dsp:nvSpPr>
      <dsp:spPr>
        <a:xfrm>
          <a:off x="897" y="0"/>
          <a:ext cx="2740585" cy="21222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>
              <a:latin typeface="Arial Narrow" panose="020B0606020202030204" pitchFamily="34" charset="0"/>
            </a:rPr>
            <a:t>Programación lineal</a:t>
          </a:r>
          <a:endParaRPr lang="es-PE" sz="3200" kern="1200" dirty="0">
            <a:latin typeface="Arial Narrow" panose="020B0606020202030204" pitchFamily="34" charset="0"/>
          </a:endParaRPr>
        </a:p>
      </dsp:txBody>
      <dsp:txXfrm>
        <a:off x="104497" y="103600"/>
        <a:ext cx="2533385" cy="19150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411B96-CEA2-4356-9176-F30FB2A05557}">
      <dsp:nvSpPr>
        <dsp:cNvPr id="0" name=""/>
        <dsp:cNvSpPr/>
      </dsp:nvSpPr>
      <dsp:spPr>
        <a:xfrm>
          <a:off x="0" y="120"/>
          <a:ext cx="5395572" cy="7753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0" kern="1200" dirty="0">
              <a:latin typeface="Arial Narrow" panose="020B0606020202030204" pitchFamily="34" charset="0"/>
            </a:rPr>
            <a:t>¿Cómo resolver un ejercicio de </a:t>
          </a:r>
          <a:r>
            <a:rPr lang="es-ES" sz="2400" b="0" kern="1200" dirty="0" err="1">
              <a:latin typeface="Arial Narrow" panose="020B0606020202030204" pitchFamily="34" charset="0"/>
            </a:rPr>
            <a:t>pogramación</a:t>
          </a:r>
          <a:r>
            <a:rPr lang="es-ES" sz="2400" b="0" kern="1200" dirty="0">
              <a:latin typeface="Arial Narrow" panose="020B0606020202030204" pitchFamily="34" charset="0"/>
            </a:rPr>
            <a:t> Lineal con más de un objetivo?</a:t>
          </a:r>
          <a:endParaRPr lang="es-PE" sz="2400" b="0" kern="1200" dirty="0">
            <a:latin typeface="Arial Narrow" panose="020B0606020202030204" pitchFamily="34" charset="0"/>
          </a:endParaRPr>
        </a:p>
      </dsp:txBody>
      <dsp:txXfrm>
        <a:off x="37850" y="37970"/>
        <a:ext cx="5319872" cy="6996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6C1DE5-DF5F-42C8-A3AF-23B897E38B4C}">
      <dsp:nvSpPr>
        <dsp:cNvPr id="0" name=""/>
        <dsp:cNvSpPr/>
      </dsp:nvSpPr>
      <dsp:spPr>
        <a:xfrm>
          <a:off x="0" y="18930"/>
          <a:ext cx="4898816" cy="840357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LA PROGRAMACIÓN LINEAL POR METAS</a:t>
          </a:r>
          <a:endParaRPr lang="es-PE" sz="2400" kern="1200" dirty="0"/>
        </a:p>
      </dsp:txBody>
      <dsp:txXfrm>
        <a:off x="41023" y="59953"/>
        <a:ext cx="4816770" cy="7583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6C1DE5-DF5F-42C8-A3AF-23B897E38B4C}">
      <dsp:nvSpPr>
        <dsp:cNvPr id="0" name=""/>
        <dsp:cNvSpPr/>
      </dsp:nvSpPr>
      <dsp:spPr>
        <a:xfrm>
          <a:off x="0" y="20991"/>
          <a:ext cx="4898816" cy="853487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LA PROGRAMACIÓN LINEAL</a:t>
          </a:r>
          <a:endParaRPr lang="es-PE" sz="2400" kern="1200" dirty="0"/>
        </a:p>
      </dsp:txBody>
      <dsp:txXfrm>
        <a:off x="41664" y="62655"/>
        <a:ext cx="4815488" cy="7701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89C551-CC37-4C81-9AE4-8D09D3F6FC4B}">
      <dsp:nvSpPr>
        <dsp:cNvPr id="0" name=""/>
        <dsp:cNvSpPr/>
      </dsp:nvSpPr>
      <dsp:spPr>
        <a:xfrm rot="5400000">
          <a:off x="2585526" y="-711718"/>
          <a:ext cx="2322535" cy="382698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/>
            <a:t>Indican cuánto producir, vender, comprar; cuántas personas contratar, qué turno u horario, qué tarea  asignar a una persona,  cuánto almacenar, cuánto trasladar.  </a:t>
          </a:r>
          <a:r>
            <a:rPr lang="es-ES" sz="2200" kern="1200" dirty="0" err="1"/>
            <a:t>Xij</a:t>
          </a:r>
          <a:r>
            <a:rPr lang="es-ES" sz="2200" kern="1200" dirty="0"/>
            <a:t>, </a:t>
          </a:r>
          <a:r>
            <a:rPr lang="es-ES" sz="2200" kern="1200" dirty="0" err="1"/>
            <a:t>Yjk</a:t>
          </a:r>
          <a:r>
            <a:rPr lang="es-ES" sz="2200" kern="1200" dirty="0"/>
            <a:t>, X, Y, </a:t>
          </a:r>
          <a:r>
            <a:rPr lang="es-ES" sz="2200" kern="1200" dirty="0" err="1"/>
            <a:t>Wi</a:t>
          </a:r>
          <a:endParaRPr lang="es-PE" sz="2200" kern="1200" dirty="0"/>
        </a:p>
      </dsp:txBody>
      <dsp:txXfrm rot="-5400000">
        <a:off x="1833303" y="153882"/>
        <a:ext cx="3713605" cy="2095781"/>
      </dsp:txXfrm>
    </dsp:sp>
    <dsp:sp modelId="{FE06B61C-5704-41CE-A9DA-C811BFB1F5D1}">
      <dsp:nvSpPr>
        <dsp:cNvPr id="0" name=""/>
        <dsp:cNvSpPr/>
      </dsp:nvSpPr>
      <dsp:spPr>
        <a:xfrm>
          <a:off x="0" y="5663"/>
          <a:ext cx="1827565" cy="23922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Variable de decisión:</a:t>
          </a:r>
          <a:endParaRPr lang="es-PE" sz="2400" kern="1200" dirty="0"/>
        </a:p>
      </dsp:txBody>
      <dsp:txXfrm>
        <a:off x="89214" y="94877"/>
        <a:ext cx="1649137" cy="22137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9538C-BE61-4BD0-B871-F5E040FC188D}">
      <dsp:nvSpPr>
        <dsp:cNvPr id="0" name=""/>
        <dsp:cNvSpPr/>
      </dsp:nvSpPr>
      <dsp:spPr>
        <a:xfrm rot="5400000">
          <a:off x="3448005" y="-1227782"/>
          <a:ext cx="899255" cy="356153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/>
            <a:t>D</a:t>
          </a:r>
          <a:r>
            <a:rPr lang="es-ES" sz="2400" kern="1200" baseline="-25000"/>
            <a:t>1</a:t>
          </a:r>
          <a:r>
            <a:rPr lang="es-ES" sz="2400" kern="1200"/>
            <a:t>, D</a:t>
          </a:r>
          <a:r>
            <a:rPr lang="es-ES" sz="2400" kern="1200" baseline="-25000"/>
            <a:t>2</a:t>
          </a:r>
          <a:r>
            <a:rPr lang="es-ES" sz="2400" kern="1200"/>
            <a:t>, D</a:t>
          </a:r>
          <a:r>
            <a:rPr lang="es-ES" sz="2400" kern="1200" baseline="-25000"/>
            <a:t>3</a:t>
          </a:r>
          <a:r>
            <a:rPr lang="es-ES" sz="2400" kern="1200"/>
            <a:t>……D</a:t>
          </a:r>
          <a:r>
            <a:rPr lang="es-ES" sz="2400" kern="1200" baseline="-25000"/>
            <a:t>n</a:t>
          </a:r>
          <a:endParaRPr lang="es-PE" sz="2400" kern="1200"/>
        </a:p>
      </dsp:txBody>
      <dsp:txXfrm rot="-5400000">
        <a:off x="2116867" y="147254"/>
        <a:ext cx="3517634" cy="811459"/>
      </dsp:txXfrm>
    </dsp:sp>
    <dsp:sp modelId="{B1E8A090-7B0B-421E-BDDD-6AB0862990AA}">
      <dsp:nvSpPr>
        <dsp:cNvPr id="0" name=""/>
        <dsp:cNvSpPr/>
      </dsp:nvSpPr>
      <dsp:spPr>
        <a:xfrm>
          <a:off x="0" y="1133"/>
          <a:ext cx="2116591" cy="11036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Variable de desviación por Debajo (Defecto):</a:t>
          </a:r>
          <a:endParaRPr lang="es-PE" sz="2000" kern="1200" dirty="0"/>
        </a:p>
      </dsp:txBody>
      <dsp:txXfrm>
        <a:off x="53878" y="55011"/>
        <a:ext cx="2008835" cy="995943"/>
      </dsp:txXfrm>
    </dsp:sp>
    <dsp:sp modelId="{3322E5D6-831A-47E4-B9A0-F9F04C1E650F}">
      <dsp:nvSpPr>
        <dsp:cNvPr id="0" name=""/>
        <dsp:cNvSpPr/>
      </dsp:nvSpPr>
      <dsp:spPr>
        <a:xfrm rot="5400000">
          <a:off x="3465378" y="-66419"/>
          <a:ext cx="877075" cy="355443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 err="1"/>
            <a:t>E</a:t>
          </a:r>
          <a:r>
            <a:rPr lang="es-ES" sz="2400" kern="1200" baseline="-25000" dirty="0" err="1"/>
            <a:t>1</a:t>
          </a:r>
          <a:r>
            <a:rPr lang="es-ES" sz="2400" kern="1200" dirty="0"/>
            <a:t>, </a:t>
          </a:r>
          <a:r>
            <a:rPr lang="es-ES" sz="2400" kern="1200" dirty="0" err="1"/>
            <a:t>E</a:t>
          </a:r>
          <a:r>
            <a:rPr lang="es-ES" sz="2400" kern="1200" baseline="-25000" dirty="0" err="1"/>
            <a:t>2</a:t>
          </a:r>
          <a:r>
            <a:rPr lang="es-ES" sz="2400" kern="1200" dirty="0"/>
            <a:t>, </a:t>
          </a:r>
          <a:r>
            <a:rPr lang="es-ES" sz="2400" kern="1200" dirty="0" err="1"/>
            <a:t>E</a:t>
          </a:r>
          <a:r>
            <a:rPr lang="es-ES" sz="2400" kern="1200" baseline="-25000" dirty="0" err="1"/>
            <a:t>3</a:t>
          </a:r>
          <a:r>
            <a:rPr lang="es-ES" sz="2400" kern="1200" dirty="0"/>
            <a:t>,……E</a:t>
          </a:r>
          <a:r>
            <a:rPr lang="es-ES" sz="2400" kern="1200" baseline="-25000" dirty="0"/>
            <a:t>n</a:t>
          </a:r>
          <a:r>
            <a:rPr lang="es-ES" sz="2400" kern="1200" dirty="0"/>
            <a:t> 				</a:t>
          </a:r>
          <a:endParaRPr lang="es-PE" sz="2400" kern="1200" dirty="0"/>
        </a:p>
      </dsp:txBody>
      <dsp:txXfrm rot="-5400000">
        <a:off x="2126701" y="1315073"/>
        <a:ext cx="3511615" cy="791445"/>
      </dsp:txXfrm>
    </dsp:sp>
    <dsp:sp modelId="{04A66EF7-E3BE-4B1D-B8AD-D32BB28A4B7B}">
      <dsp:nvSpPr>
        <dsp:cNvPr id="0" name=""/>
        <dsp:cNvSpPr/>
      </dsp:nvSpPr>
      <dsp:spPr>
        <a:xfrm>
          <a:off x="0" y="1192181"/>
          <a:ext cx="2126426" cy="10372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Variable de desviación por Encina (Exceso):</a:t>
          </a:r>
          <a:endParaRPr lang="es-PE" sz="2000" kern="1200" dirty="0"/>
        </a:p>
      </dsp:txBody>
      <dsp:txXfrm>
        <a:off x="50633" y="1242814"/>
        <a:ext cx="2025160" cy="9359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2BD70-15BB-4F0D-A300-FE754AA1EA1E}">
      <dsp:nvSpPr>
        <dsp:cNvPr id="0" name=""/>
        <dsp:cNvSpPr/>
      </dsp:nvSpPr>
      <dsp:spPr>
        <a:xfrm rot="5400000">
          <a:off x="2920766" y="-1045732"/>
          <a:ext cx="1967197" cy="410314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/>
            <a:t>Son restricciones que  no son metas, o no admiten “flexibilidad” pues sí o sí se cumplen. Pueden ser:    ≤,    ≥ ,  =</a:t>
          </a:r>
          <a:endParaRPr lang="es-PE" sz="2300" kern="1200" dirty="0"/>
        </a:p>
      </dsp:txBody>
      <dsp:txXfrm rot="-5400000">
        <a:off x="1852793" y="118272"/>
        <a:ext cx="4007114" cy="1775135"/>
      </dsp:txXfrm>
    </dsp:sp>
    <dsp:sp modelId="{807B8BD6-77A2-4928-9F79-A6F852E75683}">
      <dsp:nvSpPr>
        <dsp:cNvPr id="0" name=""/>
        <dsp:cNvSpPr/>
      </dsp:nvSpPr>
      <dsp:spPr>
        <a:xfrm>
          <a:off x="2901" y="0"/>
          <a:ext cx="1849891" cy="201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/>
            <a:t>Restricciones  Duras:</a:t>
          </a:r>
          <a:endParaRPr lang="es-PE" sz="2100" kern="1200"/>
        </a:p>
      </dsp:txBody>
      <dsp:txXfrm>
        <a:off x="93205" y="90304"/>
        <a:ext cx="1669283" cy="18310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826F5C-0DEB-4CC8-B51B-A62B3A2E7C5F}">
      <dsp:nvSpPr>
        <dsp:cNvPr id="0" name=""/>
        <dsp:cNvSpPr/>
      </dsp:nvSpPr>
      <dsp:spPr>
        <a:xfrm rot="5400000">
          <a:off x="2255501" y="-345484"/>
          <a:ext cx="3273060" cy="413183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1" indent="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 dirty="0"/>
            <a:t>Son ecuaciones que representan el deseo de alcanzar los valores meta establecidos para cada objetivo.   </a:t>
          </a:r>
          <a:endParaRPr lang="es-PE" sz="2200" kern="1200" dirty="0"/>
        </a:p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 dirty="0" err="1"/>
            <a:t>Restricción</a:t>
          </a:r>
          <a:r>
            <a:rPr lang="es-ES" sz="1800" b="1" kern="1200" baseline="-25000" dirty="0" err="1"/>
            <a:t>1</a:t>
          </a:r>
          <a:r>
            <a:rPr lang="es-ES" sz="1800" b="1" kern="1200" dirty="0"/>
            <a:t> +</a:t>
          </a:r>
          <a:r>
            <a:rPr lang="es-ES" sz="1800" b="1" kern="1200" dirty="0" err="1"/>
            <a:t>D</a:t>
          </a:r>
          <a:r>
            <a:rPr lang="es-ES" sz="1800" b="1" kern="1200" baseline="-25000" dirty="0" err="1"/>
            <a:t>1</a:t>
          </a:r>
          <a:r>
            <a:rPr lang="es-ES" sz="1800" b="1" kern="1200" baseline="-25000" dirty="0"/>
            <a:t> </a:t>
          </a:r>
          <a:r>
            <a:rPr lang="es-ES" sz="1800" b="1" kern="1200" dirty="0"/>
            <a:t>– </a:t>
          </a:r>
          <a:r>
            <a:rPr lang="es-ES" sz="1800" b="1" kern="1200" dirty="0" err="1"/>
            <a:t>E</a:t>
          </a:r>
          <a:r>
            <a:rPr lang="es-ES" sz="1800" b="1" kern="1200" baseline="-25000" dirty="0" err="1"/>
            <a:t>1</a:t>
          </a:r>
          <a:r>
            <a:rPr lang="es-ES" sz="1800" b="1" kern="1200" dirty="0"/>
            <a:t> = Valor </a:t>
          </a:r>
          <a:r>
            <a:rPr lang="es-ES" sz="1800" b="1" kern="1200" dirty="0" err="1"/>
            <a:t>meta</a:t>
          </a:r>
          <a:r>
            <a:rPr lang="es-ES" sz="1800" b="1" kern="1200" baseline="-25000" dirty="0" err="1"/>
            <a:t>1</a:t>
          </a:r>
          <a:endParaRPr lang="es-PE" sz="1800" b="1" kern="1200" dirty="0"/>
        </a:p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Restricción</a:t>
          </a:r>
          <a:r>
            <a:rPr lang="es-ES" sz="1800" b="1" kern="1200" baseline="-250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2</a:t>
          </a:r>
          <a:r>
            <a:rPr lang="es-ES" sz="1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 +</a:t>
          </a:r>
          <a:r>
            <a:rPr lang="es-ES" sz="18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D2</a:t>
          </a:r>
          <a:r>
            <a:rPr lang="es-ES" sz="1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 – </a:t>
          </a:r>
          <a:r>
            <a:rPr lang="es-ES" sz="18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E</a:t>
          </a:r>
          <a:r>
            <a:rPr lang="es-ES" sz="1800" b="1" kern="1200" baseline="-250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2</a:t>
          </a:r>
          <a:r>
            <a:rPr lang="es-ES" sz="1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 = Valor </a:t>
          </a:r>
          <a:r>
            <a:rPr lang="es-ES" sz="18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meta</a:t>
          </a:r>
          <a:r>
            <a:rPr lang="es-ES" sz="1800" b="1" kern="1200" baseline="-250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2</a:t>
          </a:r>
          <a:endParaRPr lang="es-PE" sz="1800" b="1" kern="1200" baseline="-250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 rot="-5400000">
        <a:off x="1826114" y="243681"/>
        <a:ext cx="3972056" cy="2953504"/>
      </dsp:txXfrm>
    </dsp:sp>
    <dsp:sp modelId="{0B8F7FCD-72AD-4F39-93B6-34CC020AFA81}">
      <dsp:nvSpPr>
        <dsp:cNvPr id="0" name=""/>
        <dsp:cNvSpPr/>
      </dsp:nvSpPr>
      <dsp:spPr>
        <a:xfrm>
          <a:off x="890" y="83905"/>
          <a:ext cx="1825224" cy="32730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 dirty="0"/>
            <a:t>Restricciones  Blandas:</a:t>
          </a:r>
          <a:endParaRPr lang="es-PE" sz="2100" kern="1200" dirty="0"/>
        </a:p>
      </dsp:txBody>
      <dsp:txXfrm>
        <a:off x="89990" y="173005"/>
        <a:ext cx="1647024" cy="30948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A3172-8605-4436-80A1-C2DEC9F08BF4}">
      <dsp:nvSpPr>
        <dsp:cNvPr id="0" name=""/>
        <dsp:cNvSpPr/>
      </dsp:nvSpPr>
      <dsp:spPr>
        <a:xfrm rot="5400000">
          <a:off x="3016342" y="37975"/>
          <a:ext cx="2504320" cy="305445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800" b="0" kern="1200" dirty="0"/>
            <a:t>C</a:t>
          </a:r>
          <a:r>
            <a:rPr lang="es-ES" sz="2800" kern="1200" dirty="0"/>
            <a:t>ontiene las variables de desviación “No deseadas”</a:t>
          </a:r>
          <a:endParaRPr lang="es-PE" sz="2800" kern="1200" dirty="0"/>
        </a:p>
      </dsp:txBody>
      <dsp:txXfrm rot="-5400000">
        <a:off x="2741278" y="435291"/>
        <a:ext cx="2932199" cy="2259818"/>
      </dsp:txXfrm>
    </dsp:sp>
    <dsp:sp modelId="{313AB4CA-7464-40E1-B671-C5214672F429}">
      <dsp:nvSpPr>
        <dsp:cNvPr id="0" name=""/>
        <dsp:cNvSpPr/>
      </dsp:nvSpPr>
      <dsp:spPr>
        <a:xfrm>
          <a:off x="1567" y="0"/>
          <a:ext cx="2739710" cy="31304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Siempre será de minimización</a:t>
          </a:r>
          <a:endParaRPr lang="es-PE" sz="2800" kern="1200" dirty="0"/>
        </a:p>
      </dsp:txBody>
      <dsp:txXfrm>
        <a:off x="135309" y="133742"/>
        <a:ext cx="2472226" cy="28629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178B7CE-16B1-4D5A-BEDA-E05D7C0F0E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CE36C0-2D64-40DB-852E-EFE530BD79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3D107-6AA0-4BB9-B3AF-2511759F0087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B9BBA3-CB3B-42EF-AC1C-A77E63AFD7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9A3671-5C2E-4C01-9181-86F7078515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CDB2B-DC05-4B7E-84A4-8E8FE9CBF7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7450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D54B5-B035-46F5-86D2-1F43704B1BDB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36FA3-1F11-49F4-B68F-8771EDD4DFA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199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8044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937FDB4C-8DB5-4895-9E8B-EB4F1648811C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2980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8202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VE" dirty="0"/>
          </a:p>
        </p:txBody>
      </p:sp>
      <p:sp>
        <p:nvSpPr>
          <p:cNvPr id="4" name="3 Marcador de encabezado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s-VE"/>
              <a:t>Investigacion de Operaciones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/>
              <a:t>Ing. Rosa Amaya</a:t>
            </a:r>
          </a:p>
        </p:txBody>
      </p:sp>
    </p:spTree>
    <p:extLst>
      <p:ext uri="{BB962C8B-B14F-4D97-AF65-F5344CB8AC3E}">
        <p14:creationId xmlns:p14="http://schemas.microsoft.com/office/powerpoint/2010/main" val="25510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097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0E13C-61E5-46CC-960D-63C41DAD0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3684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267FC4-894E-4993-BA18-2C880EE5C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A1ECE-8248-44B1-88C7-8265017B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7FFCCB-2285-4BA7-B745-4CE0B16C5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64D61-7B3F-4D44-B814-04BD0FE4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484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F9EE1-AB02-439C-A953-D0BD302C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391F11-EC76-4F7E-AC56-EAD0CEBCA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378AEF-A6A9-47DF-9C5C-6B5007007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D63CA0-8BC2-4AA4-81B5-97227686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60248-016B-4028-85F2-75F83EB9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305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EA209-C4D8-4196-890A-95A7CD4C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D6A4D1-0438-48FA-ADCC-AC432CD76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542E60-612D-41CC-9EE5-C343BC61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A065A3-6AD0-4723-847E-57B36A32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EC95E3-1973-401E-B849-5F2F2C42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726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DB3A3-9D86-449F-A088-128C6B5F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EF8CB9-38CA-4EBF-8F62-EE68B4D6F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BC23C3-AE0F-4F5F-B104-BC7EA7551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CBCC75-FAFB-4988-ADC8-1E30F0A4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7CF524-1AD2-4D6E-AF46-445C3506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B533D9-E06A-43BB-8FFF-B7E7E56A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971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725AD-02A9-499A-B864-01AF086F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753734-FC45-4B55-9A29-B26B4CA1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98FBB3-E4E6-411C-A6B3-B26D06335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BACB3A-C4CB-4902-9988-B007A97C9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EE2010D-8FDA-4E19-9A31-23C0FE9DC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1D191B-5CF0-419F-BF5B-EA606AC8D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8A4629-604A-46AD-BB45-292C54D7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5A188A-724B-44E9-BEF7-9E257530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927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4FFE6-E44F-47FD-8C64-C1FC42A7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68DDD2-028A-4549-9EB3-E8431887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50669B-5EDE-4060-A1CA-FE7DBD96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429BDB-A623-46DB-A3B7-8B68CD92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6645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78ADCC-78DF-44C4-A2C7-A7CF2426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7367FB-6CD9-4469-A229-B61F0DC4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01C5A5-C7FD-466A-934B-60249339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219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1FB1A-74AA-4E0D-83B3-1170F865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D0C1AE-BAE4-48E0-88AC-F6958D0E8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3CCC19-652F-4628-8819-4FD180AB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3BD21F-BC06-43CD-9F66-5FD87304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2DF95C-F515-4AB8-9206-5F559DA0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A0F4A3-A4A8-4405-B84F-C1D44A15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8757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93BB7-CA9F-4940-8C7F-2CBF43BB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45E52B-AEB7-42F1-BC8E-CA7E0DDCD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3A4FC1-5C27-4983-99E0-60D4F82D5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FB805C-3A94-453E-BC4E-88A5F9C8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48EB1F-6B71-43D0-B4BB-2F47A94BA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0476AE-7DAC-4DCA-A6E4-E2E505CB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975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5B00E-0B7A-4AA1-B637-DC7127C4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2176F4-1231-4795-897F-95458CBCE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A9332-3346-4724-9DEE-503B007F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A3589D-3073-43DA-AEA2-6F6C05DA5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EE47B5-2AEE-4851-B029-9988B8B5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1582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AFE1D6-7CA5-4A02-A9CE-8A394A8F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18F9D7-F895-4417-B97E-7076B3184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8AE240-89B5-46F0-94D1-CF5205BC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EB6FE0-843B-48B7-80F0-57541432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CE9982-F23C-426D-A95A-1B50FADA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0270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974400" y="3986567"/>
            <a:ext cx="5629600" cy="122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400"/>
              <a:buNone/>
              <a:defRPr sz="12535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</a:p>
        </p:txBody>
      </p:sp>
      <p:grpSp>
        <p:nvGrpSpPr>
          <p:cNvPr id="10" name="Google Shape;10;p2"/>
          <p:cNvGrpSpPr/>
          <p:nvPr/>
        </p:nvGrpSpPr>
        <p:grpSpPr>
          <a:xfrm>
            <a:off x="4658468" y="-60667"/>
            <a:ext cx="7533533" cy="6979333"/>
            <a:chOff x="970375" y="238125"/>
            <a:chExt cx="5650150" cy="5234500"/>
          </a:xfrm>
        </p:grpSpPr>
        <p:sp>
          <p:nvSpPr>
            <p:cNvPr id="11" name="Google Shape;11;p2"/>
            <p:cNvSpPr/>
            <p:nvPr/>
          </p:nvSpPr>
          <p:spPr>
            <a:xfrm>
              <a:off x="970375" y="238125"/>
              <a:ext cx="1456750" cy="5234500"/>
            </a:xfrm>
            <a:custGeom>
              <a:avLst/>
              <a:gdLst/>
              <a:ahLst/>
              <a:cxnLst/>
              <a:rect l="l" t="t" r="r" b="b"/>
              <a:pathLst>
                <a:path w="58270" h="209380" extrusionOk="0">
                  <a:moveTo>
                    <a:pt x="55587" y="0"/>
                  </a:moveTo>
                  <a:lnTo>
                    <a:pt x="7833" y="82697"/>
                  </a:lnTo>
                  <a:cubicBezTo>
                    <a:pt x="0" y="96268"/>
                    <a:pt x="16" y="113111"/>
                    <a:pt x="7833" y="126682"/>
                  </a:cubicBezTo>
                  <a:lnTo>
                    <a:pt x="55587" y="209379"/>
                  </a:lnTo>
                  <a:lnTo>
                    <a:pt x="58270" y="209379"/>
                  </a:lnTo>
                  <a:lnTo>
                    <a:pt x="9849" y="125519"/>
                  </a:lnTo>
                  <a:cubicBezTo>
                    <a:pt x="2435" y="112677"/>
                    <a:pt x="2435" y="96718"/>
                    <a:pt x="9849" y="83860"/>
                  </a:cubicBezTo>
                  <a:lnTo>
                    <a:pt x="582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607825" y="238125"/>
              <a:ext cx="5012700" cy="5234500"/>
            </a:xfrm>
            <a:custGeom>
              <a:avLst/>
              <a:gdLst/>
              <a:ahLst/>
              <a:cxnLst/>
              <a:rect l="l" t="t" r="r" b="b"/>
              <a:pathLst>
                <a:path w="200508" h="209380" extrusionOk="0">
                  <a:moveTo>
                    <a:pt x="58300" y="0"/>
                  </a:moveTo>
                  <a:lnTo>
                    <a:pt x="3490" y="94919"/>
                  </a:lnTo>
                  <a:cubicBezTo>
                    <a:pt x="0" y="100967"/>
                    <a:pt x="0" y="108412"/>
                    <a:pt x="3490" y="114461"/>
                  </a:cubicBezTo>
                  <a:lnTo>
                    <a:pt x="58300" y="209379"/>
                  </a:lnTo>
                  <a:lnTo>
                    <a:pt x="200507" y="209379"/>
                  </a:lnTo>
                  <a:lnTo>
                    <a:pt x="2005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" name="Google Shape;13;p2"/>
          <p:cNvSpPr/>
          <p:nvPr/>
        </p:nvSpPr>
        <p:spPr>
          <a:xfrm rot="1799984">
            <a:off x="7317323" y="61421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 rot="1799984">
            <a:off x="8289458" y="-929179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" name="Google Shape;15;p2"/>
          <p:cNvGrpSpPr/>
          <p:nvPr/>
        </p:nvGrpSpPr>
        <p:grpSpPr>
          <a:xfrm>
            <a:off x="1016002" y="1081899"/>
            <a:ext cx="620999" cy="573676"/>
            <a:chOff x="1877325" y="757774"/>
            <a:chExt cx="581969" cy="537619"/>
          </a:xfrm>
        </p:grpSpPr>
        <p:sp>
          <p:nvSpPr>
            <p:cNvPr id="16" name="Google Shape;16;p2"/>
            <p:cNvSpPr/>
            <p:nvPr/>
          </p:nvSpPr>
          <p:spPr>
            <a:xfrm>
              <a:off x="187732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50274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223224" y="757774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39569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87732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050274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223224" y="915780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39569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7732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1" y="102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050274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287"/>
                    <a:pt x="3026" y="13312"/>
                    <a:pt x="6656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223224" y="1073785"/>
              <a:ext cx="63603" cy="63603"/>
            </a:xfrm>
            <a:custGeom>
              <a:avLst/>
              <a:gdLst/>
              <a:ahLst/>
              <a:cxnLst/>
              <a:rect l="l" t="t" r="r" b="b"/>
              <a:pathLst>
                <a:path w="13313" h="13313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287"/>
                    <a:pt x="2925" y="13312"/>
                    <a:pt x="6657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39569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2" y="102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87732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1" y="10286"/>
                    <a:pt x="13311" y="6656"/>
                  </a:cubicBezTo>
                  <a:cubicBezTo>
                    <a:pt x="13311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050274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2925"/>
                    <a:pt x="1" y="6656"/>
                  </a:cubicBezTo>
                  <a:cubicBezTo>
                    <a:pt x="1" y="10286"/>
                    <a:pt x="3026" y="13311"/>
                    <a:pt x="6656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223224" y="1231796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2925"/>
                    <a:pt x="1" y="6656"/>
                  </a:cubicBezTo>
                  <a:cubicBezTo>
                    <a:pt x="1" y="10286"/>
                    <a:pt x="2925" y="13311"/>
                    <a:pt x="6657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39569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2" y="10286"/>
                    <a:pt x="13312" y="6656"/>
                  </a:cubicBezTo>
                  <a:cubicBezTo>
                    <a:pt x="13312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" name="Google Shape;32;p2"/>
          <p:cNvSpPr/>
          <p:nvPr/>
        </p:nvSpPr>
        <p:spPr>
          <a:xfrm>
            <a:off x="7726169" y="5880102"/>
            <a:ext cx="947851" cy="117881"/>
          </a:xfrm>
          <a:custGeom>
            <a:avLst/>
            <a:gdLst/>
            <a:ahLst/>
            <a:cxnLst/>
            <a:rect l="l" t="t" r="r" b="b"/>
            <a:pathLst>
              <a:path w="178391" h="22186" extrusionOk="0">
                <a:moveTo>
                  <a:pt x="173752" y="13009"/>
                </a:moveTo>
                <a:cubicBezTo>
                  <a:pt x="172743" y="13009"/>
                  <a:pt x="171836" y="12807"/>
                  <a:pt x="171130" y="12202"/>
                </a:cubicBezTo>
                <a:cubicBezTo>
                  <a:pt x="170525" y="11698"/>
                  <a:pt x="170020" y="10992"/>
                  <a:pt x="169718" y="9883"/>
                </a:cubicBezTo>
                <a:cubicBezTo>
                  <a:pt x="168911" y="6958"/>
                  <a:pt x="167298" y="4437"/>
                  <a:pt x="165079" y="2723"/>
                </a:cubicBezTo>
                <a:cubicBezTo>
                  <a:pt x="162760" y="1009"/>
                  <a:pt x="159936" y="0"/>
                  <a:pt x="156911" y="0"/>
                </a:cubicBezTo>
                <a:cubicBezTo>
                  <a:pt x="153785" y="0"/>
                  <a:pt x="150961" y="1009"/>
                  <a:pt x="148642" y="2723"/>
                </a:cubicBezTo>
                <a:cubicBezTo>
                  <a:pt x="146423" y="4437"/>
                  <a:pt x="144810" y="6958"/>
                  <a:pt x="144003" y="9883"/>
                </a:cubicBezTo>
                <a:cubicBezTo>
                  <a:pt x="143701" y="10992"/>
                  <a:pt x="143196" y="11698"/>
                  <a:pt x="142591" y="12202"/>
                </a:cubicBezTo>
                <a:cubicBezTo>
                  <a:pt x="141885" y="12807"/>
                  <a:pt x="140978" y="13009"/>
                  <a:pt x="139969" y="13009"/>
                </a:cubicBezTo>
                <a:cubicBezTo>
                  <a:pt x="138961" y="13009"/>
                  <a:pt x="138053" y="12807"/>
                  <a:pt x="137348" y="12202"/>
                </a:cubicBezTo>
                <a:cubicBezTo>
                  <a:pt x="136642" y="11698"/>
                  <a:pt x="136137" y="10891"/>
                  <a:pt x="135936" y="9883"/>
                </a:cubicBezTo>
                <a:cubicBezTo>
                  <a:pt x="135129" y="6958"/>
                  <a:pt x="133516" y="4437"/>
                  <a:pt x="131196" y="2723"/>
                </a:cubicBezTo>
                <a:cubicBezTo>
                  <a:pt x="128877" y="1009"/>
                  <a:pt x="126053" y="0"/>
                  <a:pt x="123028" y="0"/>
                </a:cubicBezTo>
                <a:cubicBezTo>
                  <a:pt x="120003" y="0"/>
                  <a:pt x="117179" y="1009"/>
                  <a:pt x="114860" y="2723"/>
                </a:cubicBezTo>
                <a:cubicBezTo>
                  <a:pt x="112540" y="4437"/>
                  <a:pt x="110927" y="6958"/>
                  <a:pt x="110120" y="9883"/>
                </a:cubicBezTo>
                <a:cubicBezTo>
                  <a:pt x="109918" y="10992"/>
                  <a:pt x="109414" y="11698"/>
                  <a:pt x="108708" y="12202"/>
                </a:cubicBezTo>
                <a:cubicBezTo>
                  <a:pt x="108002" y="12807"/>
                  <a:pt x="107095" y="13009"/>
                  <a:pt x="106086" y="13009"/>
                </a:cubicBezTo>
                <a:cubicBezTo>
                  <a:pt x="105078" y="13009"/>
                  <a:pt x="104170" y="12807"/>
                  <a:pt x="103465" y="12202"/>
                </a:cubicBezTo>
                <a:cubicBezTo>
                  <a:pt x="102859" y="11698"/>
                  <a:pt x="102355" y="10992"/>
                  <a:pt x="102053" y="9883"/>
                </a:cubicBezTo>
                <a:cubicBezTo>
                  <a:pt x="101246" y="6958"/>
                  <a:pt x="99633" y="4437"/>
                  <a:pt x="97313" y="2723"/>
                </a:cubicBezTo>
                <a:cubicBezTo>
                  <a:pt x="95095" y="1009"/>
                  <a:pt x="92271" y="0"/>
                  <a:pt x="89145" y="0"/>
                </a:cubicBezTo>
                <a:cubicBezTo>
                  <a:pt x="86120" y="0"/>
                  <a:pt x="83296" y="1009"/>
                  <a:pt x="80977" y="2723"/>
                </a:cubicBezTo>
                <a:cubicBezTo>
                  <a:pt x="78758" y="4437"/>
                  <a:pt x="77044" y="6958"/>
                  <a:pt x="76338" y="9883"/>
                </a:cubicBezTo>
                <a:cubicBezTo>
                  <a:pt x="76035" y="10891"/>
                  <a:pt x="75531" y="11698"/>
                  <a:pt x="74926" y="12202"/>
                </a:cubicBezTo>
                <a:cubicBezTo>
                  <a:pt x="74220" y="12807"/>
                  <a:pt x="73313" y="13009"/>
                  <a:pt x="72304" y="13009"/>
                </a:cubicBezTo>
                <a:cubicBezTo>
                  <a:pt x="71195" y="13009"/>
                  <a:pt x="70287" y="12807"/>
                  <a:pt x="69682" y="12202"/>
                </a:cubicBezTo>
                <a:cubicBezTo>
                  <a:pt x="68977" y="11698"/>
                  <a:pt x="68472" y="10891"/>
                  <a:pt x="68170" y="9883"/>
                </a:cubicBezTo>
                <a:cubicBezTo>
                  <a:pt x="67464" y="6958"/>
                  <a:pt x="65750" y="4437"/>
                  <a:pt x="63531" y="2723"/>
                </a:cubicBezTo>
                <a:cubicBezTo>
                  <a:pt x="61212" y="1009"/>
                  <a:pt x="58388" y="0"/>
                  <a:pt x="55363" y="0"/>
                </a:cubicBezTo>
                <a:cubicBezTo>
                  <a:pt x="52237" y="0"/>
                  <a:pt x="49413" y="1009"/>
                  <a:pt x="47195" y="2723"/>
                </a:cubicBezTo>
                <a:cubicBezTo>
                  <a:pt x="44875" y="4437"/>
                  <a:pt x="43262" y="6958"/>
                  <a:pt x="42455" y="9883"/>
                </a:cubicBezTo>
                <a:cubicBezTo>
                  <a:pt x="42153" y="10992"/>
                  <a:pt x="41749" y="11698"/>
                  <a:pt x="41043" y="12202"/>
                </a:cubicBezTo>
                <a:cubicBezTo>
                  <a:pt x="40337" y="12807"/>
                  <a:pt x="39430" y="13009"/>
                  <a:pt x="38421" y="13009"/>
                </a:cubicBezTo>
                <a:cubicBezTo>
                  <a:pt x="37413" y="13009"/>
                  <a:pt x="36505" y="12807"/>
                  <a:pt x="35799" y="12202"/>
                </a:cubicBezTo>
                <a:cubicBezTo>
                  <a:pt x="35094" y="11698"/>
                  <a:pt x="34589" y="10992"/>
                  <a:pt x="34388" y="9883"/>
                </a:cubicBezTo>
                <a:cubicBezTo>
                  <a:pt x="33581" y="6958"/>
                  <a:pt x="31967" y="4437"/>
                  <a:pt x="29648" y="2723"/>
                </a:cubicBezTo>
                <a:cubicBezTo>
                  <a:pt x="27329" y="1009"/>
                  <a:pt x="24505" y="0"/>
                  <a:pt x="21480" y="0"/>
                </a:cubicBezTo>
                <a:cubicBezTo>
                  <a:pt x="18455" y="0"/>
                  <a:pt x="15631" y="1009"/>
                  <a:pt x="13312" y="2723"/>
                </a:cubicBezTo>
                <a:cubicBezTo>
                  <a:pt x="10992" y="4437"/>
                  <a:pt x="9379" y="6958"/>
                  <a:pt x="8572" y="9883"/>
                </a:cubicBezTo>
                <a:cubicBezTo>
                  <a:pt x="8370" y="10891"/>
                  <a:pt x="7866" y="11698"/>
                  <a:pt x="7160" y="12202"/>
                </a:cubicBezTo>
                <a:cubicBezTo>
                  <a:pt x="6555" y="12807"/>
                  <a:pt x="5648" y="13009"/>
                  <a:pt x="4538" y="13009"/>
                </a:cubicBezTo>
                <a:cubicBezTo>
                  <a:pt x="2017" y="13009"/>
                  <a:pt x="0" y="15127"/>
                  <a:pt x="0" y="17648"/>
                </a:cubicBezTo>
                <a:cubicBezTo>
                  <a:pt x="0" y="20169"/>
                  <a:pt x="2017" y="22186"/>
                  <a:pt x="4538" y="22186"/>
                </a:cubicBezTo>
                <a:cubicBezTo>
                  <a:pt x="7664" y="22186"/>
                  <a:pt x="10488" y="21278"/>
                  <a:pt x="12707" y="19463"/>
                </a:cubicBezTo>
                <a:cubicBezTo>
                  <a:pt x="15026" y="17748"/>
                  <a:pt x="16639" y="15227"/>
                  <a:pt x="17446" y="12303"/>
                </a:cubicBezTo>
                <a:cubicBezTo>
                  <a:pt x="17749" y="11295"/>
                  <a:pt x="18152" y="10488"/>
                  <a:pt x="18858" y="9984"/>
                </a:cubicBezTo>
                <a:cubicBezTo>
                  <a:pt x="19564" y="9479"/>
                  <a:pt x="20471" y="9177"/>
                  <a:pt x="21480" y="9177"/>
                </a:cubicBezTo>
                <a:cubicBezTo>
                  <a:pt x="22488" y="9177"/>
                  <a:pt x="23396" y="9479"/>
                  <a:pt x="24102" y="9984"/>
                </a:cubicBezTo>
                <a:cubicBezTo>
                  <a:pt x="24808" y="10488"/>
                  <a:pt x="25211" y="11295"/>
                  <a:pt x="25514" y="12303"/>
                </a:cubicBezTo>
                <a:cubicBezTo>
                  <a:pt x="26320" y="15227"/>
                  <a:pt x="27934" y="17748"/>
                  <a:pt x="30253" y="19463"/>
                </a:cubicBezTo>
                <a:cubicBezTo>
                  <a:pt x="32472" y="21278"/>
                  <a:pt x="35396" y="22186"/>
                  <a:pt x="38421" y="22186"/>
                </a:cubicBezTo>
                <a:cubicBezTo>
                  <a:pt x="41447" y="22186"/>
                  <a:pt x="44270" y="21278"/>
                  <a:pt x="46590" y="19463"/>
                </a:cubicBezTo>
                <a:cubicBezTo>
                  <a:pt x="48909" y="17748"/>
                  <a:pt x="50522" y="15227"/>
                  <a:pt x="51329" y="12303"/>
                </a:cubicBezTo>
                <a:cubicBezTo>
                  <a:pt x="51531" y="11295"/>
                  <a:pt x="52035" y="10488"/>
                  <a:pt x="52741" y="9984"/>
                </a:cubicBezTo>
                <a:cubicBezTo>
                  <a:pt x="53346" y="9479"/>
                  <a:pt x="54254" y="9177"/>
                  <a:pt x="55363" y="9177"/>
                </a:cubicBezTo>
                <a:cubicBezTo>
                  <a:pt x="56371" y="9177"/>
                  <a:pt x="57279" y="9479"/>
                  <a:pt x="57985" y="9984"/>
                </a:cubicBezTo>
                <a:cubicBezTo>
                  <a:pt x="58590" y="10488"/>
                  <a:pt x="59094" y="11295"/>
                  <a:pt x="59397" y="12303"/>
                </a:cubicBezTo>
                <a:cubicBezTo>
                  <a:pt x="60203" y="15227"/>
                  <a:pt x="61817" y="17748"/>
                  <a:pt x="64035" y="19463"/>
                </a:cubicBezTo>
                <a:cubicBezTo>
                  <a:pt x="66355" y="21278"/>
                  <a:pt x="69178" y="22186"/>
                  <a:pt x="72203" y="22186"/>
                </a:cubicBezTo>
                <a:cubicBezTo>
                  <a:pt x="75330" y="22186"/>
                  <a:pt x="78153" y="21278"/>
                  <a:pt x="80473" y="19463"/>
                </a:cubicBezTo>
                <a:cubicBezTo>
                  <a:pt x="82691" y="17748"/>
                  <a:pt x="84305" y="15227"/>
                  <a:pt x="85111" y="12303"/>
                </a:cubicBezTo>
                <a:cubicBezTo>
                  <a:pt x="85414" y="11295"/>
                  <a:pt x="85918" y="10488"/>
                  <a:pt x="86523" y="9984"/>
                </a:cubicBezTo>
                <a:cubicBezTo>
                  <a:pt x="87229" y="9479"/>
                  <a:pt x="88137" y="9177"/>
                  <a:pt x="89145" y="9177"/>
                </a:cubicBezTo>
                <a:cubicBezTo>
                  <a:pt x="90254" y="9177"/>
                  <a:pt x="91162" y="9479"/>
                  <a:pt x="91767" y="9984"/>
                </a:cubicBezTo>
                <a:cubicBezTo>
                  <a:pt x="92473" y="10488"/>
                  <a:pt x="92977" y="11295"/>
                  <a:pt x="93179" y="12303"/>
                </a:cubicBezTo>
                <a:cubicBezTo>
                  <a:pt x="93985" y="15227"/>
                  <a:pt x="95599" y="17748"/>
                  <a:pt x="97918" y="19463"/>
                </a:cubicBezTo>
                <a:cubicBezTo>
                  <a:pt x="100238" y="21278"/>
                  <a:pt x="103061" y="22186"/>
                  <a:pt x="106086" y="22186"/>
                </a:cubicBezTo>
                <a:cubicBezTo>
                  <a:pt x="109112" y="22186"/>
                  <a:pt x="112036" y="21278"/>
                  <a:pt x="114255" y="19463"/>
                </a:cubicBezTo>
                <a:cubicBezTo>
                  <a:pt x="116574" y="17748"/>
                  <a:pt x="118187" y="15227"/>
                  <a:pt x="118994" y="12303"/>
                </a:cubicBezTo>
                <a:cubicBezTo>
                  <a:pt x="119297" y="11295"/>
                  <a:pt x="119700" y="10488"/>
                  <a:pt x="120406" y="9984"/>
                </a:cubicBezTo>
                <a:cubicBezTo>
                  <a:pt x="121112" y="9479"/>
                  <a:pt x="122019" y="9177"/>
                  <a:pt x="123028" y="9177"/>
                </a:cubicBezTo>
                <a:cubicBezTo>
                  <a:pt x="124036" y="9177"/>
                  <a:pt x="124944" y="9479"/>
                  <a:pt x="125650" y="9984"/>
                </a:cubicBezTo>
                <a:cubicBezTo>
                  <a:pt x="126356" y="10488"/>
                  <a:pt x="126759" y="11295"/>
                  <a:pt x="127062" y="12303"/>
                </a:cubicBezTo>
                <a:cubicBezTo>
                  <a:pt x="127868" y="15227"/>
                  <a:pt x="129482" y="17748"/>
                  <a:pt x="131801" y="19463"/>
                </a:cubicBezTo>
                <a:cubicBezTo>
                  <a:pt x="134020" y="21278"/>
                  <a:pt x="136843" y="22186"/>
                  <a:pt x="139969" y="22186"/>
                </a:cubicBezTo>
                <a:cubicBezTo>
                  <a:pt x="142995" y="22186"/>
                  <a:pt x="145818" y="21278"/>
                  <a:pt x="148138" y="19463"/>
                </a:cubicBezTo>
                <a:cubicBezTo>
                  <a:pt x="150356" y="17748"/>
                  <a:pt x="152070" y="15227"/>
                  <a:pt x="152776" y="12303"/>
                </a:cubicBezTo>
                <a:cubicBezTo>
                  <a:pt x="153079" y="11295"/>
                  <a:pt x="153583" y="10488"/>
                  <a:pt x="154289" y="9984"/>
                </a:cubicBezTo>
                <a:cubicBezTo>
                  <a:pt x="154894" y="9479"/>
                  <a:pt x="155802" y="9177"/>
                  <a:pt x="156911" y="9177"/>
                </a:cubicBezTo>
                <a:cubicBezTo>
                  <a:pt x="157919" y="9177"/>
                  <a:pt x="158827" y="9479"/>
                  <a:pt x="159533" y="9984"/>
                </a:cubicBezTo>
                <a:cubicBezTo>
                  <a:pt x="160138" y="10488"/>
                  <a:pt x="160642" y="11295"/>
                  <a:pt x="160945" y="12303"/>
                </a:cubicBezTo>
                <a:cubicBezTo>
                  <a:pt x="161751" y="15227"/>
                  <a:pt x="163365" y="17748"/>
                  <a:pt x="165583" y="19463"/>
                </a:cubicBezTo>
                <a:cubicBezTo>
                  <a:pt x="167903" y="21278"/>
                  <a:pt x="170726" y="22186"/>
                  <a:pt x="173752" y="22186"/>
                </a:cubicBezTo>
                <a:cubicBezTo>
                  <a:pt x="176273" y="22186"/>
                  <a:pt x="178390" y="20169"/>
                  <a:pt x="178390" y="17648"/>
                </a:cubicBezTo>
                <a:cubicBezTo>
                  <a:pt x="178390" y="15127"/>
                  <a:pt x="176273" y="13009"/>
                  <a:pt x="173752" y="1300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2"/>
          <p:cNvSpPr/>
          <p:nvPr/>
        </p:nvSpPr>
        <p:spPr>
          <a:xfrm>
            <a:off x="1016000" y="5406567"/>
            <a:ext cx="838000" cy="1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2"/>
          <p:cNvSpPr txBox="1">
            <a:spLocks noGrp="1"/>
          </p:cNvSpPr>
          <p:nvPr>
            <p:ph type="subTitle" idx="1"/>
          </p:nvPr>
        </p:nvSpPr>
        <p:spPr>
          <a:xfrm>
            <a:off x="974400" y="2720472"/>
            <a:ext cx="5706000" cy="1162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5465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2"/>
          </p:nvPr>
        </p:nvSpPr>
        <p:spPr>
          <a:xfrm>
            <a:off x="974400" y="5716467"/>
            <a:ext cx="4996800" cy="3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135">
                <a:latin typeface="Signika"/>
                <a:ea typeface="Signika"/>
                <a:cs typeface="Signika"/>
                <a:sym typeface="Signi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>
            <a:r>
              <a:rPr lang="es-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22341512"/>
      </p:ext>
    </p:extLst>
  </p:cSld>
  <p:clrMapOvr>
    <a:masterClrMapping/>
  </p:clrMapOvr>
  <p:transition>
    <p:fade thruBlk="1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914400" y="2212733"/>
            <a:ext cx="56852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14400" y="3888339"/>
            <a:ext cx="5685200" cy="10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3976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>
  <p:cSld name="Blank · Big circui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87242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AAE89-7064-421D-9916-420AA2E7F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6A12CE-274A-4C60-9546-77A9682AF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73BBF9-6C16-49C0-B59C-BBB728D49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0E9423-4AA5-436D-A3A1-72E3B0769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A87426-75BB-4DA5-A531-460DD7508A1B}"/>
              </a:ext>
            </a:extLst>
          </p:cNvPr>
          <p:cNvSpPr/>
          <p:nvPr userDrawn="1"/>
        </p:nvSpPr>
        <p:spPr>
          <a:xfrm>
            <a:off x="6096000" y="-9331"/>
            <a:ext cx="6096000" cy="10732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90ED3DD-A7C3-4095-9269-329F194BB6AC}"/>
              </a:ext>
            </a:extLst>
          </p:cNvPr>
          <p:cNvSpPr/>
          <p:nvPr userDrawn="1"/>
        </p:nvSpPr>
        <p:spPr>
          <a:xfrm>
            <a:off x="0" y="1073257"/>
            <a:ext cx="12192000" cy="151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1" name="Imagen 10" descr="Resultado de imagen para LOGO UNAC">
            <a:extLst>
              <a:ext uri="{FF2B5EF4-FFF2-40B4-BE49-F238E27FC236}">
                <a16:creationId xmlns:a16="http://schemas.microsoft.com/office/drawing/2014/main" id="{C8363EE3-3A68-4118-94B3-883E5C704F10}"/>
              </a:ext>
            </a:extLst>
          </p:cNvPr>
          <p:cNvPicPr/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32" y="188233"/>
            <a:ext cx="537224" cy="6846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017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5" r:id="rId12"/>
    <p:sldLayoutId id="2147483666" r:id="rId13"/>
    <p:sldLayoutId id="214748366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flickr.com/photos/insideview/8178747734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hyperlink" Target="https://mujeresnelmundo.blogspot.com/2013/02/mujeres-y-deportes-de-riesgo.html" TargetMode="External"/><Relationship Id="rId3" Type="http://schemas.openxmlformats.org/officeDocument/2006/relationships/hyperlink" Target="https://empresayeconomia.republica.com/economia/diez-cosas-que-quizas-no-sabias-sobre-la-economia-de-estados-unidos.html" TargetMode="External"/><Relationship Id="rId7" Type="http://schemas.openxmlformats.org/officeDocument/2006/relationships/hyperlink" Target="https://www.teinspira.com/hospital-produce-para-sus-pacientes-cultivos-organicos-en-el-tejado/" TargetMode="External"/><Relationship Id="rId12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11" Type="http://schemas.openxmlformats.org/officeDocument/2006/relationships/hyperlink" Target="https://www.linaresenlinea.cl/2020/04/14/covid19-servicio-de-salud-del-maule-supervisa-llegada-de-insumos-para-enfrentar-pandemia/" TargetMode="External"/><Relationship Id="rId5" Type="http://schemas.openxmlformats.org/officeDocument/2006/relationships/hyperlink" Target="https://mercadoabastos.eus/index.php/es/actividades/visitas-guiadas" TargetMode="External"/><Relationship Id="rId10" Type="http://schemas.openxmlformats.org/officeDocument/2006/relationships/image" Target="../media/image13.jpeg"/><Relationship Id="rId4" Type="http://schemas.openxmlformats.org/officeDocument/2006/relationships/image" Target="../media/image10.jpg"/><Relationship Id="rId9" Type="http://schemas.openxmlformats.org/officeDocument/2006/relationships/hyperlink" Target="http://www.drlopezheras.com/2017/04/el-ruido-del-trafico-y-la-contaminacion.html" TargetMode="External"/><Relationship Id="rId14" Type="http://schemas.openxmlformats.org/officeDocument/2006/relationships/hyperlink" Target="https://creativecommons.org/licenses/by-nc-nd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.wikimedia.org/wiki/Grants:APG/Proposals/2012-2013_round2/Wikim%C3%A9dia_France/Impact_report" TargetMode="External"/><Relationship Id="rId7" Type="http://schemas.openxmlformats.org/officeDocument/2006/relationships/hyperlink" Target="https://www.flickr.com/photos/gerardovargaslanderos/6212501853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hyperlink" Target="http://www.murciaresidencial.com/cuanto-cuesta-una-casa-prefabricada-precios-y-modelos/" TargetMode="External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/3.0/" TargetMode="External"/><Relationship Id="rId3" Type="http://schemas.openxmlformats.org/officeDocument/2006/relationships/hyperlink" Target="https://freepngimg.com/png/29607-analyst-transparent-image" TargetMode="External"/><Relationship Id="rId7" Type="http://schemas.openxmlformats.org/officeDocument/2006/relationships/hyperlink" Target="https://farras.live/unacem-ecuador-logro-eliminar-27-mil-toneladas-sustancias-agotadoras-capa-de-ozono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hyperlink" Target="https://www.flickr.com/photos/xuanxu/2963434743/" TargetMode="External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24" y="2518396"/>
            <a:ext cx="4913785" cy="29166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2" descr="UNA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71" y="190477"/>
            <a:ext cx="2855333" cy="67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ángulo 18"/>
          <p:cNvSpPr/>
          <p:nvPr/>
        </p:nvSpPr>
        <p:spPr>
          <a:xfrm>
            <a:off x="7261461" y="5795306"/>
            <a:ext cx="467139" cy="450222"/>
          </a:xfrm>
          <a:prstGeom prst="rect">
            <a:avLst/>
          </a:prstGeom>
          <a:solidFill>
            <a:srgbClr val="D7E7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Título 2"/>
          <p:cNvSpPr txBox="1"/>
          <p:nvPr/>
        </p:nvSpPr>
        <p:spPr>
          <a:xfrm>
            <a:off x="8321150" y="5795306"/>
            <a:ext cx="2803628" cy="697178"/>
          </a:xfrm>
          <a:prstGeom prst="roundRect">
            <a:avLst/>
          </a:prstGeom>
          <a:solidFill>
            <a:schemeClr val="bg1"/>
          </a:solidFill>
          <a:ln w="28575">
            <a:noFill/>
            <a:prstDash val="lg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800" dirty="0">
                <a:solidFill>
                  <a:srgbClr val="002060"/>
                </a:solidFill>
                <a:latin typeface="Bodoni MT Black" panose="02070A03080606020203" pitchFamily="18" charset="0"/>
                <a:cs typeface="Leelawadee UI" panose="020B0502040204020203" pitchFamily="34" charset="-34"/>
              </a:rPr>
              <a:t>SEMESTRE ACADÉMICO 2026 B</a:t>
            </a:r>
            <a:endParaRPr lang="es-ES" sz="1800" dirty="0">
              <a:solidFill>
                <a:srgbClr val="002060"/>
              </a:solidFill>
              <a:latin typeface="Bodoni MT Black" panose="02070A03080606020203" pitchFamily="18" charset="0"/>
              <a:cs typeface="Leelawadee UI" panose="020B0502040204020203" pitchFamily="34" charset="-34"/>
            </a:endParaRP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461" y="0"/>
            <a:ext cx="4923006" cy="1400220"/>
          </a:xfrm>
          <a:prstGeom prst="rect">
            <a:avLst/>
          </a:prstGeom>
        </p:spPr>
      </p:pic>
      <p:sp>
        <p:nvSpPr>
          <p:cNvPr id="15" name="4 CuadroTexto">
            <a:extLst>
              <a:ext uri="{FF2B5EF4-FFF2-40B4-BE49-F238E27FC236}">
                <a16:creationId xmlns:a16="http://schemas.microsoft.com/office/drawing/2014/main" id="{4365F436-E173-4817-8107-4110CE39FADE}"/>
              </a:ext>
            </a:extLst>
          </p:cNvPr>
          <p:cNvSpPr txBox="1"/>
          <p:nvPr/>
        </p:nvSpPr>
        <p:spPr>
          <a:xfrm>
            <a:off x="0" y="4134513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700000"/>
                </a:solidFill>
              </a:rPr>
              <a:t>Docente:</a:t>
            </a:r>
          </a:p>
          <a:p>
            <a:pPr algn="ctr"/>
            <a:r>
              <a:rPr lang="es-ES" sz="2400" b="1" dirty="0" err="1">
                <a:solidFill>
                  <a:srgbClr val="700000"/>
                </a:solidFill>
              </a:rPr>
              <a:t>ANIVAL</a:t>
            </a:r>
            <a:r>
              <a:rPr lang="es-ES" sz="2400" b="1" dirty="0">
                <a:solidFill>
                  <a:srgbClr val="700000"/>
                </a:solidFill>
              </a:rPr>
              <a:t> TORRE CAMONES</a:t>
            </a:r>
            <a:endParaRPr lang="es-PE" sz="2400" b="1" dirty="0">
              <a:solidFill>
                <a:srgbClr val="700000"/>
              </a:solidFill>
            </a:endParaRPr>
          </a:p>
        </p:txBody>
      </p:sp>
      <p:sp>
        <p:nvSpPr>
          <p:cNvPr id="2" name="5 Rectángulo">
            <a:extLst>
              <a:ext uri="{FF2B5EF4-FFF2-40B4-BE49-F238E27FC236}">
                <a16:creationId xmlns:a16="http://schemas.microsoft.com/office/drawing/2014/main" id="{3267FC93-B427-4E7C-B243-BE63C44CB29D}"/>
              </a:ext>
            </a:extLst>
          </p:cNvPr>
          <p:cNvSpPr/>
          <p:nvPr/>
        </p:nvSpPr>
        <p:spPr>
          <a:xfrm>
            <a:off x="390" y="2394096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000" b="1" dirty="0">
                <a:solidFill>
                  <a:srgbClr val="700000"/>
                </a:solidFill>
              </a:rPr>
              <a:t>INVESTIGACION DE OPERACIONES</a:t>
            </a:r>
            <a:endParaRPr lang="es-PE" sz="4000" b="1" dirty="0">
              <a:solidFill>
                <a:srgbClr val="70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291808-C582-26D7-9A61-E42C7376AD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36" y="3366595"/>
            <a:ext cx="1097308" cy="1097308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>
          <a:xfrm>
            <a:off x="834501" y="3194028"/>
            <a:ext cx="5181600" cy="1546400"/>
          </a:xfrm>
        </p:spPr>
        <p:txBody>
          <a:bodyPr/>
          <a:lstStyle/>
          <a:p>
            <a:pPr algn="ctr"/>
            <a:r>
              <a:rPr lang="es-PE" sz="4400" dirty="0">
                <a:solidFill>
                  <a:srgbClr val="FF0000"/>
                </a:solidFill>
                <a:latin typeface="Bauhaus 93" pitchFamily="82" charset="0"/>
              </a:rPr>
              <a:t>PROGRAMACIÓN POR METAS</a:t>
            </a:r>
            <a:endParaRPr lang="es-ES" sz="4400" dirty="0">
              <a:solidFill>
                <a:srgbClr val="0064A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4294967295"/>
          </p:nvPr>
        </p:nvSpPr>
        <p:spPr>
          <a:xfrm>
            <a:off x="10118726" y="6332538"/>
            <a:ext cx="549275" cy="525462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black">
          <a:xfrm>
            <a:off x="6096000" y="109243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s-ES_tradnl" sz="3200" b="0" i="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Semana 13</a:t>
            </a:r>
          </a:p>
        </p:txBody>
      </p:sp>
      <p:pic>
        <p:nvPicPr>
          <p:cNvPr id="8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4592" y="1978308"/>
            <a:ext cx="1782850" cy="1988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2296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87" name="Group 3"/>
          <p:cNvGrpSpPr>
            <a:grpSpLocks/>
          </p:cNvGrpSpPr>
          <p:nvPr/>
        </p:nvGrpSpPr>
        <p:grpSpPr bwMode="auto">
          <a:xfrm>
            <a:off x="2635074" y="2037150"/>
            <a:ext cx="762000" cy="665163"/>
            <a:chOff x="1110" y="2656"/>
            <a:chExt cx="1549" cy="1351"/>
          </a:xfrm>
          <a:solidFill>
            <a:schemeClr val="accent6">
              <a:lumMod val="75000"/>
            </a:schemeClr>
          </a:solidFill>
        </p:grpSpPr>
        <p:sp>
          <p:nvSpPr>
            <p:cNvPr id="67588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89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90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grpSp>
        <p:nvGrpSpPr>
          <p:cNvPr id="67591" name="Group 7"/>
          <p:cNvGrpSpPr>
            <a:grpSpLocks/>
          </p:cNvGrpSpPr>
          <p:nvPr/>
        </p:nvGrpSpPr>
        <p:grpSpPr bwMode="auto">
          <a:xfrm>
            <a:off x="2627879" y="2945666"/>
            <a:ext cx="762000" cy="665163"/>
            <a:chOff x="3174" y="2656"/>
            <a:chExt cx="1549" cy="1351"/>
          </a:xfrm>
        </p:grpSpPr>
        <p:sp>
          <p:nvSpPr>
            <p:cNvPr id="67592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93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94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sp>
        <p:nvSpPr>
          <p:cNvPr id="67595" name="Line 11"/>
          <p:cNvSpPr>
            <a:spLocks noChangeShapeType="1"/>
          </p:cNvSpPr>
          <p:nvPr/>
        </p:nvSpPr>
        <p:spPr bwMode="auto">
          <a:xfrm flipV="1">
            <a:off x="3791744" y="2631057"/>
            <a:ext cx="6309788" cy="1271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67596" name="Text Box 12"/>
          <p:cNvSpPr txBox="1">
            <a:spLocks noChangeArrowheads="1"/>
          </p:cNvSpPr>
          <p:nvPr/>
        </p:nvSpPr>
        <p:spPr bwMode="auto">
          <a:xfrm>
            <a:off x="3647728" y="2091036"/>
            <a:ext cx="663181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PE"/>
            </a:defPPr>
            <a:lvl1pPr eaLnBrk="0" hangingPunct="0">
              <a:defRPr sz="2800">
                <a:solidFill>
                  <a:schemeClr val="bg2">
                    <a:lumMod val="25000"/>
                  </a:schemeClr>
                </a:solidFill>
              </a:defRPr>
            </a:lvl1pPr>
            <a:lvl2pPr marL="0" lvl="1">
              <a:defRPr sz="2800"/>
            </a:lvl2pPr>
          </a:lstStyle>
          <a:p>
            <a:r>
              <a:rPr lang="es-ES_tradnl" dirty="0">
                <a:solidFill>
                  <a:schemeClr val="tx1"/>
                </a:solidFill>
              </a:rPr>
              <a:t>Definición de Programación lineal por metas</a:t>
            </a:r>
          </a:p>
        </p:txBody>
      </p:sp>
      <p:sp>
        <p:nvSpPr>
          <p:cNvPr id="67597" name="Text Box 13"/>
          <p:cNvSpPr txBox="1">
            <a:spLocks noChangeArrowheads="1"/>
          </p:cNvSpPr>
          <p:nvPr/>
        </p:nvSpPr>
        <p:spPr bwMode="gray">
          <a:xfrm>
            <a:off x="2849193" y="2122490"/>
            <a:ext cx="34015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7598" name="Line 14"/>
          <p:cNvSpPr>
            <a:spLocks noChangeShapeType="1"/>
          </p:cNvSpPr>
          <p:nvPr/>
        </p:nvSpPr>
        <p:spPr bwMode="auto">
          <a:xfrm flipV="1">
            <a:off x="3821502" y="3562708"/>
            <a:ext cx="6271404" cy="17253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67599" name="Text Box 15"/>
          <p:cNvSpPr txBox="1">
            <a:spLocks noChangeArrowheads="1"/>
          </p:cNvSpPr>
          <p:nvPr/>
        </p:nvSpPr>
        <p:spPr bwMode="auto">
          <a:xfrm>
            <a:off x="3666522" y="3058303"/>
            <a:ext cx="661181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PE"/>
            </a:defPPr>
            <a:lvl1pPr eaLnBrk="0" hangingPunct="0"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marL="0" lvl="1"/>
            <a:r>
              <a:rPr lang="es-ES" sz="2800" dirty="0"/>
              <a:t>Programación por metas con ponderaciones</a:t>
            </a:r>
            <a:endParaRPr lang="es-PE" sz="2800" dirty="0"/>
          </a:p>
        </p:txBody>
      </p:sp>
      <p:sp>
        <p:nvSpPr>
          <p:cNvPr id="67600" name="Text Box 16"/>
          <p:cNvSpPr txBox="1">
            <a:spLocks noChangeArrowheads="1"/>
          </p:cNvSpPr>
          <p:nvPr/>
        </p:nvSpPr>
        <p:spPr bwMode="gray">
          <a:xfrm>
            <a:off x="2893467" y="3036890"/>
            <a:ext cx="34015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2</a:t>
            </a:r>
          </a:p>
        </p:txBody>
      </p:sp>
      <p:grpSp>
        <p:nvGrpSpPr>
          <p:cNvPr id="67601" name="Group 17"/>
          <p:cNvGrpSpPr>
            <a:grpSpLocks/>
          </p:cNvGrpSpPr>
          <p:nvPr/>
        </p:nvGrpSpPr>
        <p:grpSpPr bwMode="auto">
          <a:xfrm>
            <a:off x="2641469" y="3841962"/>
            <a:ext cx="762000" cy="665163"/>
            <a:chOff x="1110" y="2656"/>
            <a:chExt cx="1549" cy="1351"/>
          </a:xfrm>
          <a:solidFill>
            <a:schemeClr val="accent6">
              <a:lumMod val="75000"/>
            </a:schemeClr>
          </a:solidFill>
        </p:grpSpPr>
        <p:sp>
          <p:nvSpPr>
            <p:cNvPr id="67602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3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4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grpSp>
        <p:nvGrpSpPr>
          <p:cNvPr id="67605" name="Group 21"/>
          <p:cNvGrpSpPr>
            <a:grpSpLocks/>
          </p:cNvGrpSpPr>
          <p:nvPr/>
        </p:nvGrpSpPr>
        <p:grpSpPr bwMode="auto">
          <a:xfrm>
            <a:off x="2635074" y="4719490"/>
            <a:ext cx="762000" cy="665163"/>
            <a:chOff x="3174" y="2656"/>
            <a:chExt cx="1549" cy="1351"/>
          </a:xfrm>
        </p:grpSpPr>
        <p:sp>
          <p:nvSpPr>
            <p:cNvPr id="67606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7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8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sp>
        <p:nvSpPr>
          <p:cNvPr id="67610" name="Text Box 26"/>
          <p:cNvSpPr txBox="1">
            <a:spLocks noChangeArrowheads="1"/>
          </p:cNvSpPr>
          <p:nvPr/>
        </p:nvSpPr>
        <p:spPr bwMode="auto">
          <a:xfrm>
            <a:off x="3691480" y="3938049"/>
            <a:ext cx="6117444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ES"/>
            </a:defPPr>
            <a:lvl1pPr eaLnBrk="0" hangingPunct="0">
              <a:defRPr sz="2800" b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marL="0" lvl="1"/>
            <a:r>
              <a:rPr lang="es-ES" sz="2800" dirty="0"/>
              <a:t>Programación por metas con prioridades</a:t>
            </a:r>
            <a:endParaRPr lang="es-PE" sz="2800" dirty="0"/>
          </a:p>
        </p:txBody>
      </p:sp>
      <p:sp>
        <p:nvSpPr>
          <p:cNvPr id="67611" name="Text Box 27"/>
          <p:cNvSpPr txBox="1">
            <a:spLocks noChangeArrowheads="1"/>
          </p:cNvSpPr>
          <p:nvPr/>
        </p:nvSpPr>
        <p:spPr bwMode="gray">
          <a:xfrm>
            <a:off x="2855588" y="3951607"/>
            <a:ext cx="34015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613" name="Text Box 29"/>
          <p:cNvSpPr txBox="1">
            <a:spLocks noChangeArrowheads="1"/>
          </p:cNvSpPr>
          <p:nvPr/>
        </p:nvSpPr>
        <p:spPr bwMode="auto">
          <a:xfrm>
            <a:off x="3691478" y="4837457"/>
            <a:ext cx="1997919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ES"/>
            </a:defPPr>
            <a:lvl1pPr eaLnBrk="0" hangingPunct="0">
              <a:defRPr sz="2800" b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marL="0" lvl="1"/>
            <a:r>
              <a:rPr lang="es-ES" sz="2800" dirty="0"/>
              <a:t>Aplicaciones</a:t>
            </a:r>
            <a:endParaRPr lang="es-PE" sz="2800" dirty="0"/>
          </a:p>
        </p:txBody>
      </p:sp>
      <p:sp>
        <p:nvSpPr>
          <p:cNvPr id="67614" name="Text Box 30"/>
          <p:cNvSpPr txBox="1">
            <a:spLocks noChangeArrowheads="1"/>
          </p:cNvSpPr>
          <p:nvPr/>
        </p:nvSpPr>
        <p:spPr bwMode="gray">
          <a:xfrm>
            <a:off x="2847718" y="4832917"/>
            <a:ext cx="34015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615" name="Text Box 31"/>
          <p:cNvSpPr txBox="1">
            <a:spLocks noChangeArrowheads="1"/>
          </p:cNvSpPr>
          <p:nvPr/>
        </p:nvSpPr>
        <p:spPr bwMode="auto">
          <a:xfrm>
            <a:off x="3184527" y="72231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s-ES" dirty="0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483A48B0-615B-48A5-A61A-36298DBB8E44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74634"/>
            <a:ext cx="6096000" cy="5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ES" sz="320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Contenido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sp>
        <p:nvSpPr>
          <p:cNvPr id="33" name="Line 14">
            <a:extLst>
              <a:ext uri="{FF2B5EF4-FFF2-40B4-BE49-F238E27FC236}">
                <a16:creationId xmlns:a16="http://schemas.microsoft.com/office/drawing/2014/main" id="{65F44E7A-596E-4287-AA04-50CD15F512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7260" y="4448348"/>
            <a:ext cx="6271404" cy="17253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34" name="Line 14">
            <a:extLst>
              <a:ext uri="{FF2B5EF4-FFF2-40B4-BE49-F238E27FC236}">
                <a16:creationId xmlns:a16="http://schemas.microsoft.com/office/drawing/2014/main" id="{7F533541-929E-4B6C-80C1-57E712465A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3010" y="5325372"/>
            <a:ext cx="6271404" cy="17253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2834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BCFE08-C238-43D8-9843-96DB71D67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3902"/>
            <a:ext cx="6096000" cy="905773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¿Por qué no solamente utilizar programación lineal?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5" name="Onda 4">
            <a:extLst>
              <a:ext uri="{FF2B5EF4-FFF2-40B4-BE49-F238E27FC236}">
                <a16:creationId xmlns:a16="http://schemas.microsoft.com/office/drawing/2014/main" id="{E27AF30C-E0A0-479B-9C22-723D6E09627A}"/>
              </a:ext>
            </a:extLst>
          </p:cNvPr>
          <p:cNvSpPr/>
          <p:nvPr/>
        </p:nvSpPr>
        <p:spPr>
          <a:xfrm>
            <a:off x="6087893" y="1660358"/>
            <a:ext cx="5835194" cy="2475118"/>
          </a:xfrm>
          <a:prstGeom prst="wave">
            <a:avLst>
              <a:gd name="adj1" fmla="val 12500"/>
              <a:gd name="adj2" fmla="val -238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2800" dirty="0">
                <a:latin typeface="Arial Narrow" panose="020B0606020202030204" pitchFamily="34" charset="0"/>
              </a:rPr>
              <a:t>Los problemas de P. L. tienen </a:t>
            </a:r>
            <a:r>
              <a:rPr lang="es-ES" sz="2800" dirty="0">
                <a:solidFill>
                  <a:srgbClr val="FFFF00"/>
                </a:solidFill>
                <a:latin typeface="Arial Narrow" panose="020B0606020202030204" pitchFamily="34" charset="0"/>
              </a:rPr>
              <a:t>un solo objetivo</a:t>
            </a:r>
            <a:r>
              <a:rPr lang="es-ES" sz="2800" dirty="0">
                <a:latin typeface="Arial Narrow" panose="020B0606020202030204" pitchFamily="34" charset="0"/>
              </a:rPr>
              <a:t>: maximizar las ganancias o minimizar los costos. </a:t>
            </a:r>
            <a:endParaRPr lang="es-PE" sz="2800" dirty="0">
              <a:latin typeface="Arial Narrow" panose="020B060602020203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72C6C328-57AF-402D-942C-2D445FCEEF03}"/>
              </a:ext>
            </a:extLst>
          </p:cNvPr>
          <p:cNvSpPr txBox="1">
            <a:spLocks/>
          </p:cNvSpPr>
          <p:nvPr/>
        </p:nvSpPr>
        <p:spPr>
          <a:xfrm>
            <a:off x="226748" y="3878536"/>
            <a:ext cx="5658332" cy="214327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sz="2400" dirty="0">
                <a:solidFill>
                  <a:schemeClr val="bg1"/>
                </a:solidFill>
              </a:rPr>
              <a:t>Afirma que posiblemente los gerentes modernos no sean capaces de </a:t>
            </a:r>
            <a:r>
              <a:rPr lang="es-ES" sz="2400" dirty="0">
                <a:solidFill>
                  <a:srgbClr val="FFFF00"/>
                </a:solidFill>
              </a:rPr>
              <a:t>“optimizar”</a:t>
            </a:r>
            <a:r>
              <a:rPr lang="es-ES" sz="2400" dirty="0">
                <a:solidFill>
                  <a:schemeClr val="bg1"/>
                </a:solidFill>
              </a:rPr>
              <a:t>, sino tengan que </a:t>
            </a:r>
            <a:r>
              <a:rPr lang="es-ES" sz="2400" dirty="0">
                <a:solidFill>
                  <a:srgbClr val="FFFF00"/>
                </a:solidFill>
              </a:rPr>
              <a:t>“satisfacer” </a:t>
            </a:r>
            <a:r>
              <a:rPr lang="es-ES" sz="2400" dirty="0">
                <a:solidFill>
                  <a:schemeClr val="bg1"/>
                </a:solidFill>
              </a:rPr>
              <a:t>o “acercarse tanto como sea posible” al logro de sus metas. Es el caso con modelos tales la </a:t>
            </a:r>
            <a:r>
              <a:rPr lang="es-ES" sz="2400" dirty="0">
                <a:solidFill>
                  <a:srgbClr val="FFFF00"/>
                </a:solidFill>
              </a:rPr>
              <a:t>programación por metas</a:t>
            </a:r>
            <a:r>
              <a:rPr lang="es-ES" sz="2400" dirty="0">
                <a:solidFill>
                  <a:schemeClr val="bg1"/>
                </a:solidFill>
              </a:rPr>
              <a:t>.</a:t>
            </a:r>
            <a:endParaRPr lang="es-PE" sz="2400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B27EB97-D8F2-4EDB-9A62-937FC9D14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4912" y="1365796"/>
            <a:ext cx="2215038" cy="2215038"/>
          </a:xfrm>
          <a:prstGeom prst="rect">
            <a:avLst/>
          </a:prstGeom>
        </p:spPr>
      </p:pic>
      <p:sp>
        <p:nvSpPr>
          <p:cNvPr id="8" name="Onda 7">
            <a:extLst>
              <a:ext uri="{FF2B5EF4-FFF2-40B4-BE49-F238E27FC236}">
                <a16:creationId xmlns:a16="http://schemas.microsoft.com/office/drawing/2014/main" id="{1B67A443-6618-453B-AB19-A40A5FE4599C}"/>
              </a:ext>
            </a:extLst>
          </p:cNvPr>
          <p:cNvSpPr/>
          <p:nvPr/>
        </p:nvSpPr>
        <p:spPr>
          <a:xfrm>
            <a:off x="6101813" y="3715123"/>
            <a:ext cx="5835194" cy="2475119"/>
          </a:xfrm>
          <a:prstGeom prst="wave">
            <a:avLst>
              <a:gd name="adj1" fmla="val 12500"/>
              <a:gd name="adj2" fmla="val 66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2800" dirty="0"/>
              <a:t>En muchas ocasiones, sin embargo, se puede tener </a:t>
            </a:r>
            <a:r>
              <a:rPr lang="es-ES" sz="2800" dirty="0">
                <a:solidFill>
                  <a:srgbClr val="FFFF00"/>
                </a:solidFill>
              </a:rPr>
              <a:t>objetivos múltiples</a:t>
            </a:r>
            <a:r>
              <a:rPr lang="es-ES" sz="2800" dirty="0"/>
              <a:t>, es decir, dos o mas metas por lograr</a:t>
            </a:r>
            <a:endParaRPr lang="es-PE" sz="28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1823971-C243-4189-905F-D1AE98844821}"/>
              </a:ext>
            </a:extLst>
          </p:cNvPr>
          <p:cNvSpPr/>
          <p:nvPr/>
        </p:nvSpPr>
        <p:spPr>
          <a:xfrm>
            <a:off x="2453871" y="1365796"/>
            <a:ext cx="36201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rial Narrow" panose="020B0606020202030204" pitchFamily="34" charset="0"/>
              </a:rPr>
              <a:t>Herbert A. Simón, Premio Nobel de Economía </a:t>
            </a:r>
            <a:r>
              <a:rPr lang="es-ES" sz="2400" b="1" dirty="0">
                <a:latin typeface="Arial Narrow" panose="020B0606020202030204" pitchFamily="34" charset="0"/>
              </a:rPr>
              <a:t>1978</a:t>
            </a:r>
            <a:r>
              <a:rPr lang="es-ES" sz="2400" dirty="0">
                <a:latin typeface="Arial Narrow" panose="020B0606020202030204" pitchFamily="34" charset="0"/>
              </a:rPr>
              <a:t> por su investigación pionera en el proceso de adopción de decisiones en las organizaciones económicas.</a:t>
            </a:r>
            <a:endParaRPr lang="es-PE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61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BCFE08-C238-43D8-9843-96DB71D67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53948"/>
            <a:ext cx="6096000" cy="70530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¿Qué sucedería si un negocio tuviese varios objetivos?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E5A886A-85CE-4DAC-83F2-13548F94D337}"/>
              </a:ext>
            </a:extLst>
          </p:cNvPr>
          <p:cNvSpPr txBox="1"/>
          <p:nvPr/>
        </p:nvSpPr>
        <p:spPr>
          <a:xfrm>
            <a:off x="1445918" y="3638158"/>
            <a:ext cx="2595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Max. la utilidad</a:t>
            </a:r>
            <a:endParaRPr lang="es-PE" sz="20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BA03B4-062E-450C-B951-B96247D949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45918" y="2021434"/>
            <a:ext cx="2614019" cy="154789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0EFD9C3-6319-44C1-8AD1-1BA9EF1DE950}"/>
              </a:ext>
            </a:extLst>
          </p:cNvPr>
          <p:cNvSpPr txBox="1"/>
          <p:nvPr/>
        </p:nvSpPr>
        <p:spPr>
          <a:xfrm>
            <a:off x="4598855" y="3622482"/>
            <a:ext cx="291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ctr">
              <a:defRPr sz="2000" b="1"/>
            </a:lvl1pPr>
          </a:lstStyle>
          <a:p>
            <a:r>
              <a:rPr lang="es-ES" dirty="0"/>
              <a:t>Max. la participación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8FBD317-68D2-48CA-8E47-C2D3A499889E}"/>
              </a:ext>
            </a:extLst>
          </p:cNvPr>
          <p:cNvSpPr txBox="1"/>
          <p:nvPr/>
        </p:nvSpPr>
        <p:spPr>
          <a:xfrm>
            <a:off x="8023190" y="3560823"/>
            <a:ext cx="2708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ctr">
              <a:defRPr sz="2000" b="1"/>
            </a:lvl1pPr>
          </a:lstStyle>
          <a:p>
            <a:r>
              <a:rPr lang="es-ES" dirty="0"/>
              <a:t>Max. la administración de calidad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2844D12-6570-4B82-87BB-7868D9E4AC5F}"/>
              </a:ext>
            </a:extLst>
          </p:cNvPr>
          <p:cNvSpPr txBox="1"/>
          <p:nvPr/>
        </p:nvSpPr>
        <p:spPr>
          <a:xfrm>
            <a:off x="1316736" y="6206802"/>
            <a:ext cx="272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ctr">
              <a:defRPr sz="2000" b="1"/>
            </a:lvl1pPr>
          </a:lstStyle>
          <a:p>
            <a:r>
              <a:rPr lang="es-ES" dirty="0"/>
              <a:t>Min. el nivel de ruido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D85CFD5-1775-4C97-991B-FD3737B8E7F9}"/>
              </a:ext>
            </a:extLst>
          </p:cNvPr>
          <p:cNvSpPr txBox="1"/>
          <p:nvPr/>
        </p:nvSpPr>
        <p:spPr>
          <a:xfrm>
            <a:off x="4619753" y="6185447"/>
            <a:ext cx="2823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ctr">
              <a:defRPr sz="2000" b="1"/>
            </a:lvl1pPr>
          </a:lstStyle>
          <a:p>
            <a:r>
              <a:rPr lang="es-ES" dirty="0"/>
              <a:t>Min. el uso de recursos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0CC6C54-A06A-4D57-8FF7-B3D6AECF5584}"/>
              </a:ext>
            </a:extLst>
          </p:cNvPr>
          <p:cNvSpPr txBox="1"/>
          <p:nvPr/>
        </p:nvSpPr>
        <p:spPr>
          <a:xfrm>
            <a:off x="7988684" y="6116778"/>
            <a:ext cx="28719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ctr">
              <a:defRPr sz="2000" b="1"/>
            </a:lvl1pPr>
          </a:lstStyle>
          <a:p>
            <a:r>
              <a:rPr lang="es-ES" dirty="0"/>
              <a:t>Satisfacer necesidades no económicas. </a:t>
            </a:r>
            <a:endParaRPr lang="es-PE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0B37F6F-BF8D-4619-98A1-097F8E79E7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786818" y="1999567"/>
            <a:ext cx="2618363" cy="15697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C464C89-7FEA-42F6-9FB9-6A89B4AEBD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103230" y="1950521"/>
            <a:ext cx="2628039" cy="155833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50FB3D4-1BB1-45FA-A9F7-1CB70AC6008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402810" y="4316382"/>
            <a:ext cx="2625716" cy="182159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35603B57-A136-44E2-8AF9-5BEE56C75A8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4791680" y="4307355"/>
            <a:ext cx="2608640" cy="1808774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E76EE173-85BB-45AF-B613-821AF65885E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8101855" y="4245429"/>
            <a:ext cx="2646666" cy="1818942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7F63B7D6-FC99-4E87-8B88-D9D467AD966C}"/>
              </a:ext>
            </a:extLst>
          </p:cNvPr>
          <p:cNvSpPr txBox="1"/>
          <p:nvPr/>
        </p:nvSpPr>
        <p:spPr>
          <a:xfrm>
            <a:off x="9323614" y="7031674"/>
            <a:ext cx="13443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900">
                <a:hlinkClick r:id="rId13" tooltip="https://mujeresnelmundo.blogspot.com/2013/02/mujeres-y-deportes-de-riesgo.html"/>
              </a:rPr>
              <a:t>Esta foto</a:t>
            </a:r>
            <a:r>
              <a:rPr lang="es-PE" sz="900"/>
              <a:t> de Autor desconocido está bajo licencia </a:t>
            </a:r>
            <a:r>
              <a:rPr lang="es-PE" sz="900">
                <a:hlinkClick r:id="rId14" tooltip="https://creativecommons.org/licenses/by-nc-nd/3.0/"/>
              </a:rPr>
              <a:t>CC BY-NC-ND</a:t>
            </a:r>
            <a:endParaRPr lang="es-PE" sz="900"/>
          </a:p>
        </p:txBody>
      </p:sp>
    </p:spTree>
    <p:extLst>
      <p:ext uri="{BB962C8B-B14F-4D97-AF65-F5344CB8AC3E}">
        <p14:creationId xmlns:p14="http://schemas.microsoft.com/office/powerpoint/2010/main" val="354521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981CA-AC5B-4D65-939D-1EF36DE3A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58665"/>
            <a:ext cx="6096000" cy="531359"/>
          </a:xfrm>
        </p:spPr>
        <p:txBody>
          <a:bodyPr/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Modelos de programación por metas</a:t>
            </a:r>
            <a:endParaRPr lang="es-PE" sz="2800" b="1" dirty="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DD6632-5A54-4D35-820F-40DBF32DF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966" y="4896414"/>
            <a:ext cx="2362200" cy="14253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3200" dirty="0">
                <a:solidFill>
                  <a:srgbClr val="FF0000"/>
                </a:solidFill>
              </a:rPr>
              <a:t>¿Metas?</a:t>
            </a:r>
          </a:p>
          <a:p>
            <a:pPr marL="0" indent="0" algn="ctr">
              <a:buNone/>
            </a:pPr>
            <a:r>
              <a:rPr lang="es-ES" sz="3200" dirty="0">
                <a:solidFill>
                  <a:srgbClr val="FF0000"/>
                </a:solidFill>
              </a:rPr>
              <a:t>¿Prioridad?</a:t>
            </a:r>
            <a:endParaRPr lang="es-PE" sz="3200" dirty="0">
              <a:solidFill>
                <a:srgbClr val="FF000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85F36A-D025-443F-B879-0A8806EC7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87137" y="2039257"/>
            <a:ext cx="3921579" cy="261438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9F0AB02-EB81-4DE0-AB13-EE08BD3FFA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605421" y="2039257"/>
            <a:ext cx="2981160" cy="261438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ED39C93-7DA2-4A3E-8193-E9F355BFD38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783285" y="2039257"/>
            <a:ext cx="3921577" cy="2614386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565997" y="5860098"/>
            <a:ext cx="38427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1°, 2°, 3°,……</a:t>
            </a:r>
          </a:p>
        </p:txBody>
      </p:sp>
    </p:spTree>
    <p:extLst>
      <p:ext uri="{BB962C8B-B14F-4D97-AF65-F5344CB8AC3E}">
        <p14:creationId xmlns:p14="http://schemas.microsoft.com/office/powerpoint/2010/main" val="354617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59326E-DDA3-49FB-86F6-72AB4C182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160" y="3432973"/>
            <a:ext cx="5257800" cy="424732"/>
          </a:xfr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/>
            <a:r>
              <a:rPr lang="es-ES" sz="2400" b="1" dirty="0">
                <a:solidFill>
                  <a:schemeClr val="bg1"/>
                </a:solidFill>
              </a:rPr>
              <a:t>No es posible alcanzar todas las metas</a:t>
            </a:r>
            <a:endParaRPr lang="es-PE" sz="2400" b="1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BF431C-1284-4CA3-86C3-467109AA76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997048" y="1470478"/>
            <a:ext cx="2824024" cy="191738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15CC379-B4CF-450F-9F86-2FF6C89B92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678432" y="1775462"/>
            <a:ext cx="3346126" cy="172497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DA22185-9075-4CB1-AEDB-D2EF9D6ACC5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666008" y="4645642"/>
            <a:ext cx="3358923" cy="165164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2577061-C9F4-40C2-A92C-CE2912BEE080}"/>
              </a:ext>
            </a:extLst>
          </p:cNvPr>
          <p:cNvSpPr txBox="1"/>
          <p:nvPr/>
        </p:nvSpPr>
        <p:spPr>
          <a:xfrm>
            <a:off x="7952014" y="6534004"/>
            <a:ext cx="3358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900">
                <a:hlinkClick r:id="rId7" tooltip="https://farras.live/unacem-ecuador-logro-eliminar-27-mil-toneladas-sustancias-agotadoras-capa-de-ozono/"/>
              </a:rPr>
              <a:t>Esta foto</a:t>
            </a:r>
            <a:r>
              <a:rPr lang="es-PE" sz="900"/>
              <a:t> de Autor desconocido está bajo licencia </a:t>
            </a:r>
            <a:r>
              <a:rPr lang="es-PE" sz="900">
                <a:hlinkClick r:id="rId8" tooltip="https://creativecommons.org/licenses/by/3.0/"/>
              </a:rPr>
              <a:t>CC BY</a:t>
            </a:r>
            <a:endParaRPr lang="es-PE" sz="90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83E8D4B-8C5D-42C6-970A-61AC5AD1013B}"/>
              </a:ext>
            </a:extLst>
          </p:cNvPr>
          <p:cNvSpPr txBox="1"/>
          <p:nvPr/>
        </p:nvSpPr>
        <p:spPr>
          <a:xfrm>
            <a:off x="7686136" y="1147313"/>
            <a:ext cx="3329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dirty="0">
                <a:solidFill>
                  <a:srgbClr val="8A0000"/>
                </a:solidFill>
              </a:rPr>
              <a:t>Planificado</a:t>
            </a:r>
            <a:endParaRPr lang="es-PE" sz="3600" dirty="0">
              <a:solidFill>
                <a:srgbClr val="8A00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9C0F084-4966-4371-BA18-5F9B67D94514}"/>
              </a:ext>
            </a:extLst>
          </p:cNvPr>
          <p:cNvSpPr txBox="1"/>
          <p:nvPr/>
        </p:nvSpPr>
        <p:spPr>
          <a:xfrm>
            <a:off x="7660257" y="3973891"/>
            <a:ext cx="3355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dirty="0">
                <a:solidFill>
                  <a:srgbClr val="8A0000"/>
                </a:solidFill>
              </a:rPr>
              <a:t>Logrado</a:t>
            </a:r>
            <a:endParaRPr lang="es-PE" sz="3600" dirty="0">
              <a:solidFill>
                <a:srgbClr val="8A0000"/>
              </a:solidFill>
            </a:endParaRP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5FD21864-4679-440B-A35D-5038B683CB28}"/>
              </a:ext>
            </a:extLst>
          </p:cNvPr>
          <p:cNvSpPr txBox="1">
            <a:spLocks/>
          </p:cNvSpPr>
          <p:nvPr/>
        </p:nvSpPr>
        <p:spPr>
          <a:xfrm>
            <a:off x="784169" y="3857705"/>
            <a:ext cx="5255545" cy="14361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S" b="1" dirty="0"/>
              <a:t>La programación por metas intenta alcanzar un </a:t>
            </a:r>
            <a:r>
              <a:rPr lang="es-ES" b="1" dirty="0">
                <a:solidFill>
                  <a:srgbClr val="8A0000"/>
                </a:solidFill>
              </a:rPr>
              <a:t>NIVEL SATISFACTORIO </a:t>
            </a:r>
            <a:r>
              <a:rPr lang="es-ES" b="1" dirty="0"/>
              <a:t>de múltiples objetivos.</a:t>
            </a:r>
            <a:endParaRPr lang="es-PE" b="1" dirty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2F569938-235A-4FAA-8E59-59CA16CD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58665"/>
            <a:ext cx="6096000" cy="531359"/>
          </a:xfrm>
        </p:spPr>
        <p:txBody>
          <a:bodyPr/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Modelos de programación por metas</a:t>
            </a:r>
            <a:endParaRPr lang="es-PE" sz="2800" b="1" dirty="0">
              <a:solidFill>
                <a:schemeClr val="bg1"/>
              </a:solidFill>
            </a:endParaRPr>
          </a:p>
        </p:txBody>
      </p:sp>
      <p:sp>
        <p:nvSpPr>
          <p:cNvPr id="2" name="Flecha: a la izquierda y arriba 1">
            <a:extLst>
              <a:ext uri="{FF2B5EF4-FFF2-40B4-BE49-F238E27FC236}">
                <a16:creationId xmlns:a16="http://schemas.microsoft.com/office/drawing/2014/main" id="{54C5CACB-2A46-2EDC-6E88-3A525C592999}"/>
              </a:ext>
            </a:extLst>
          </p:cNvPr>
          <p:cNvSpPr/>
          <p:nvPr/>
        </p:nvSpPr>
        <p:spPr>
          <a:xfrm rot="7978613">
            <a:off x="6120565" y="3493286"/>
            <a:ext cx="1721481" cy="1697617"/>
          </a:xfrm>
          <a:prstGeom prst="leftUpArrow">
            <a:avLst>
              <a:gd name="adj1" fmla="val 22800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3640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33746-1805-4B64-A09B-56058EDA2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18294"/>
            <a:ext cx="6096000" cy="62837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Aft>
                <a:spcPct val="0"/>
              </a:spcAft>
            </a:pPr>
            <a:r>
              <a:rPr lang="es-ES" sz="28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Desventajas del modelo P. L.</a:t>
            </a:r>
            <a:endParaRPr lang="es-PE" sz="28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5727BA-F675-4A73-98F2-EA042A8E32B2}"/>
              </a:ext>
            </a:extLst>
          </p:cNvPr>
          <p:cNvSpPr txBox="1"/>
          <p:nvPr/>
        </p:nvSpPr>
        <p:spPr>
          <a:xfrm>
            <a:off x="303981" y="1404453"/>
            <a:ext cx="5564038" cy="83099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La función objetivo mide solamente en una dimensión.</a:t>
            </a:r>
            <a:endParaRPr lang="es-PE" sz="2400" b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F5B528A-76CC-4A1B-A921-3B815FFA3E23}"/>
              </a:ext>
            </a:extLst>
          </p:cNvPr>
          <p:cNvSpPr txBox="1"/>
          <p:nvPr/>
        </p:nvSpPr>
        <p:spPr>
          <a:xfrm>
            <a:off x="6395051" y="1414488"/>
            <a:ext cx="5492968" cy="83099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b="1" dirty="0"/>
              <a:t>No es posible múltiples metas , a menos que todas estén en las mismas unidades.</a:t>
            </a:r>
            <a:endParaRPr lang="es-PE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06D8D80-5153-4C3C-B5F2-2BB63D4763A6}"/>
              </a:ext>
            </a:extLst>
          </p:cNvPr>
          <p:cNvSpPr txBox="1"/>
          <p:nvPr/>
        </p:nvSpPr>
        <p:spPr>
          <a:xfrm>
            <a:off x="6395051" y="2245485"/>
            <a:ext cx="5492967" cy="3046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3200" dirty="0"/>
              <a:t>Min COSTOS   $</a:t>
            </a:r>
          </a:p>
          <a:p>
            <a:pPr algn="ctr"/>
            <a:r>
              <a:rPr lang="es-ES" sz="3200" dirty="0"/>
              <a:t>Min TIEMPOS   </a:t>
            </a:r>
            <a:r>
              <a:rPr lang="es-ES" sz="3200" dirty="0" err="1"/>
              <a:t>Hr</a:t>
            </a:r>
            <a:r>
              <a:rPr lang="es-ES" sz="3200" dirty="0"/>
              <a:t>.</a:t>
            </a:r>
          </a:p>
          <a:p>
            <a:pPr algn="ctr"/>
            <a:r>
              <a:rPr lang="es-ES" sz="3200" dirty="0"/>
              <a:t>Max INGRESOS   $</a:t>
            </a:r>
          </a:p>
          <a:p>
            <a:pPr algn="ctr"/>
            <a:r>
              <a:rPr lang="es-ES" sz="3200" dirty="0"/>
              <a:t>Max PRODUCCIÓN  Kg.</a:t>
            </a:r>
          </a:p>
          <a:p>
            <a:pPr algn="ctr"/>
            <a:endParaRPr lang="es-ES" sz="3200" dirty="0"/>
          </a:p>
          <a:p>
            <a:pPr algn="ctr"/>
            <a:r>
              <a:rPr lang="es-ES" sz="3200" dirty="0"/>
              <a:t>¡MISMA UNIDAD!</a:t>
            </a:r>
            <a:endParaRPr lang="es-PE" sz="32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3EC9B70-488C-4BC7-99CE-CD777DA418AD}"/>
              </a:ext>
            </a:extLst>
          </p:cNvPr>
          <p:cNvSpPr txBox="1">
            <a:spLocks noChangeArrowheads="1"/>
          </p:cNvSpPr>
          <p:nvPr/>
        </p:nvSpPr>
        <p:spPr>
          <a:xfrm>
            <a:off x="303982" y="2249488"/>
            <a:ext cx="5564038" cy="306237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s-ES" sz="2000" b="1" dirty="0">
                <a:solidFill>
                  <a:schemeClr val="tx2"/>
                </a:solidFill>
              </a:rPr>
              <a:t>	Sea Xi las variables de decisión, (i= 1,2,..n)</a:t>
            </a:r>
          </a:p>
          <a:p>
            <a:pPr>
              <a:buFont typeface="Wingdings" panose="05000000000000000000" pitchFamily="2" charset="2"/>
              <a:buNone/>
            </a:pPr>
            <a:r>
              <a:rPr lang="es-ES" sz="2000" b="1" dirty="0">
                <a:solidFill>
                  <a:schemeClr val="tx2"/>
                </a:solidFill>
              </a:rPr>
              <a:t>	FO:  Max (</a:t>
            </a:r>
            <a:r>
              <a:rPr lang="es-ES" sz="2000" b="1" dirty="0" err="1">
                <a:solidFill>
                  <a:schemeClr val="tx2"/>
                </a:solidFill>
              </a:rPr>
              <a:t>ó</a:t>
            </a:r>
            <a:r>
              <a:rPr lang="es-ES" sz="2000" b="1" dirty="0">
                <a:solidFill>
                  <a:schemeClr val="tx2"/>
                </a:solidFill>
              </a:rPr>
              <a:t> Min) Z = </a:t>
            </a:r>
            <a:r>
              <a:rPr lang="es-ES" sz="2000" b="1" dirty="0" err="1">
                <a:solidFill>
                  <a:schemeClr val="tx2"/>
                </a:solidFill>
              </a:rPr>
              <a:t>c1x1</a:t>
            </a:r>
            <a:r>
              <a:rPr lang="es-ES" sz="2000" b="1" dirty="0">
                <a:solidFill>
                  <a:schemeClr val="tx2"/>
                </a:solidFill>
              </a:rPr>
              <a:t> + </a:t>
            </a:r>
            <a:r>
              <a:rPr lang="es-ES" sz="2000" b="1" dirty="0" err="1">
                <a:solidFill>
                  <a:schemeClr val="tx2"/>
                </a:solidFill>
              </a:rPr>
              <a:t>c2X2</a:t>
            </a:r>
            <a:r>
              <a:rPr lang="es-ES" sz="2000" b="1" dirty="0">
                <a:solidFill>
                  <a:schemeClr val="tx2"/>
                </a:solidFill>
              </a:rPr>
              <a:t> + ….. + </a:t>
            </a:r>
            <a:r>
              <a:rPr lang="es-ES" sz="2000" b="1" dirty="0" err="1">
                <a:solidFill>
                  <a:schemeClr val="tx2"/>
                </a:solidFill>
              </a:rPr>
              <a:t>cnXn</a:t>
            </a:r>
            <a:endParaRPr lang="es-ES" sz="2000" b="1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s-ES" sz="2000" b="1" dirty="0">
                <a:solidFill>
                  <a:schemeClr val="tx2"/>
                </a:solidFill>
              </a:rPr>
              <a:t>	Sujeto a :</a:t>
            </a:r>
          </a:p>
          <a:p>
            <a:pPr>
              <a:buFont typeface="Wingdings" panose="05000000000000000000" pitchFamily="2" charset="2"/>
              <a:buNone/>
            </a:pPr>
            <a:r>
              <a:rPr lang="es-ES" sz="2000" b="1" dirty="0">
                <a:solidFill>
                  <a:schemeClr val="tx2"/>
                </a:solidFill>
              </a:rPr>
              <a:t>	</a:t>
            </a:r>
            <a:r>
              <a:rPr lang="es-ES" sz="2000" b="1" dirty="0" err="1">
                <a:solidFill>
                  <a:schemeClr val="tx2"/>
                </a:solidFill>
              </a:rPr>
              <a:t>a11X1</a:t>
            </a:r>
            <a:r>
              <a:rPr lang="es-ES" sz="2000" b="1" dirty="0">
                <a:solidFill>
                  <a:schemeClr val="tx2"/>
                </a:solidFill>
              </a:rPr>
              <a:t> + </a:t>
            </a:r>
            <a:r>
              <a:rPr lang="es-ES" sz="2000" b="1" dirty="0" err="1">
                <a:solidFill>
                  <a:schemeClr val="tx2"/>
                </a:solidFill>
              </a:rPr>
              <a:t>a12X2</a:t>
            </a:r>
            <a:r>
              <a:rPr lang="es-ES" sz="2000" b="1" dirty="0">
                <a:solidFill>
                  <a:schemeClr val="tx2"/>
                </a:solidFill>
              </a:rPr>
              <a:t> + </a:t>
            </a:r>
            <a:r>
              <a:rPr lang="es-ES" sz="2000" b="1" dirty="0" err="1">
                <a:solidFill>
                  <a:schemeClr val="tx2"/>
                </a:solidFill>
              </a:rPr>
              <a:t>a13X3</a:t>
            </a:r>
            <a:r>
              <a:rPr lang="es-ES" sz="2000" b="1" dirty="0">
                <a:solidFill>
                  <a:schemeClr val="tx2"/>
                </a:solidFill>
              </a:rPr>
              <a:t> + …… + </a:t>
            </a:r>
            <a:r>
              <a:rPr lang="es-ES" sz="2000" b="1" dirty="0" err="1">
                <a:solidFill>
                  <a:schemeClr val="tx2"/>
                </a:solidFill>
              </a:rPr>
              <a:t>a1nXn</a:t>
            </a:r>
            <a:r>
              <a:rPr lang="es-ES" sz="2000" b="1" dirty="0">
                <a:solidFill>
                  <a:schemeClr val="tx2"/>
                </a:solidFill>
              </a:rPr>
              <a:t>      </a:t>
            </a:r>
            <a:r>
              <a:rPr lang="es-ES" sz="2000" b="1" dirty="0">
                <a:solidFill>
                  <a:schemeClr val="tx2"/>
                </a:solidFill>
                <a:cs typeface="Times New Roman" panose="02020603050405020304" pitchFamily="18" charset="0"/>
              </a:rPr>
              <a:t>≤</a:t>
            </a:r>
            <a:r>
              <a:rPr lang="es-ES" sz="2000" b="1" dirty="0">
                <a:solidFill>
                  <a:schemeClr val="tx2"/>
                </a:solidFill>
              </a:rPr>
              <a:t>      </a:t>
            </a:r>
            <a:r>
              <a:rPr lang="es-ES" sz="2000" b="1" dirty="0" err="1">
                <a:solidFill>
                  <a:schemeClr val="tx2"/>
                </a:solidFill>
              </a:rPr>
              <a:t>b1</a:t>
            </a:r>
            <a:endParaRPr lang="es-ES" sz="2000" b="1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s-ES" sz="2000" b="1" dirty="0">
                <a:solidFill>
                  <a:schemeClr val="tx2"/>
                </a:solidFill>
              </a:rPr>
              <a:t>	</a:t>
            </a:r>
            <a:r>
              <a:rPr lang="es-ES" sz="2000" b="1" dirty="0" err="1">
                <a:solidFill>
                  <a:schemeClr val="tx2"/>
                </a:solidFill>
              </a:rPr>
              <a:t>a21X1</a:t>
            </a:r>
            <a:r>
              <a:rPr lang="es-ES" sz="2000" b="1" dirty="0">
                <a:solidFill>
                  <a:schemeClr val="tx2"/>
                </a:solidFill>
              </a:rPr>
              <a:t> + </a:t>
            </a:r>
            <a:r>
              <a:rPr lang="es-ES" sz="2000" b="1" dirty="0" err="1">
                <a:solidFill>
                  <a:schemeClr val="tx2"/>
                </a:solidFill>
              </a:rPr>
              <a:t>a22X2</a:t>
            </a:r>
            <a:r>
              <a:rPr lang="es-ES" sz="2000" b="1" dirty="0">
                <a:solidFill>
                  <a:schemeClr val="tx2"/>
                </a:solidFill>
              </a:rPr>
              <a:t> + </a:t>
            </a:r>
            <a:r>
              <a:rPr lang="es-ES" sz="2000" b="1" dirty="0" err="1">
                <a:solidFill>
                  <a:schemeClr val="tx2"/>
                </a:solidFill>
              </a:rPr>
              <a:t>a23X3</a:t>
            </a:r>
            <a:r>
              <a:rPr lang="es-ES" sz="2000" b="1" dirty="0">
                <a:solidFill>
                  <a:schemeClr val="tx2"/>
                </a:solidFill>
              </a:rPr>
              <a:t> + …… + </a:t>
            </a:r>
            <a:r>
              <a:rPr lang="es-ES" sz="2000" b="1" dirty="0" err="1">
                <a:solidFill>
                  <a:schemeClr val="tx2"/>
                </a:solidFill>
              </a:rPr>
              <a:t>a2nXn</a:t>
            </a:r>
            <a:r>
              <a:rPr lang="es-ES" sz="2000" b="1" dirty="0">
                <a:solidFill>
                  <a:schemeClr val="tx2"/>
                </a:solidFill>
              </a:rPr>
              <a:t>      </a:t>
            </a:r>
            <a:r>
              <a:rPr lang="es-ES" sz="2000" b="1" dirty="0">
                <a:solidFill>
                  <a:schemeClr val="tx2"/>
                </a:solidFill>
                <a:cs typeface="Times New Roman" panose="02020603050405020304" pitchFamily="18" charset="0"/>
              </a:rPr>
              <a:t>≥   </a:t>
            </a:r>
            <a:r>
              <a:rPr lang="es-ES" sz="2000" b="1" dirty="0">
                <a:solidFill>
                  <a:schemeClr val="tx2"/>
                </a:solidFill>
              </a:rPr>
              <a:t>   </a:t>
            </a:r>
            <a:r>
              <a:rPr lang="es-ES" sz="2000" b="1" dirty="0" err="1">
                <a:solidFill>
                  <a:schemeClr val="tx2"/>
                </a:solidFill>
              </a:rPr>
              <a:t>b2</a:t>
            </a:r>
            <a:endParaRPr lang="es-ES" sz="2000" b="1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s-ES" sz="2000" b="1" dirty="0">
                <a:solidFill>
                  <a:schemeClr val="tx2"/>
                </a:solidFill>
              </a:rPr>
              <a:t>	…. ……….. ……… …………. .. ……….                 =     ….. </a:t>
            </a:r>
          </a:p>
          <a:p>
            <a:pPr>
              <a:buFont typeface="Wingdings" panose="05000000000000000000" pitchFamily="2" charset="2"/>
              <a:buNone/>
            </a:pPr>
            <a:r>
              <a:rPr lang="es-ES" sz="2000" b="1" dirty="0">
                <a:solidFill>
                  <a:schemeClr val="tx2"/>
                </a:solidFill>
              </a:rPr>
              <a:t>	am1X1 + am2X2 +  … + </a:t>
            </a:r>
            <a:r>
              <a:rPr lang="es-ES" sz="2000" b="1" dirty="0" err="1">
                <a:solidFill>
                  <a:schemeClr val="tx2"/>
                </a:solidFill>
              </a:rPr>
              <a:t>amnXn</a:t>
            </a:r>
            <a:r>
              <a:rPr lang="es-ES" sz="2000" b="1" dirty="0">
                <a:solidFill>
                  <a:schemeClr val="tx2"/>
                </a:solidFill>
              </a:rPr>
              <a:t> ………    	      </a:t>
            </a:r>
            <a:r>
              <a:rPr lang="es-ES" sz="2000" b="1" dirty="0" err="1">
                <a:solidFill>
                  <a:schemeClr val="tx2"/>
                </a:solidFill>
              </a:rPr>
              <a:t>bm</a:t>
            </a:r>
            <a:endParaRPr lang="es-ES" sz="2000" b="1" dirty="0">
              <a:solidFill>
                <a:schemeClr val="tx2"/>
              </a:solidFill>
            </a:endParaRPr>
          </a:p>
          <a:p>
            <a:pPr lvl="8">
              <a:buFont typeface="Arial" panose="020B0604020202020204" pitchFamily="34" charset="0"/>
              <a:buNone/>
            </a:pPr>
            <a:r>
              <a:rPr lang="es-ES" sz="2000" b="1" dirty="0">
                <a:solidFill>
                  <a:schemeClr val="tx2"/>
                </a:solidFill>
              </a:rPr>
              <a:t>          Xi &gt;=   0</a:t>
            </a:r>
          </a:p>
        </p:txBody>
      </p:sp>
    </p:spTree>
    <p:extLst>
      <p:ext uri="{BB962C8B-B14F-4D97-AF65-F5344CB8AC3E}">
        <p14:creationId xmlns:p14="http://schemas.microsoft.com/office/powerpoint/2010/main" val="335407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3 Título"/>
          <p:cNvSpPr txBox="1">
            <a:spLocks/>
          </p:cNvSpPr>
          <p:nvPr/>
        </p:nvSpPr>
        <p:spPr>
          <a:xfrm>
            <a:off x="6096000" y="155687"/>
            <a:ext cx="6095999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3200" b="0" i="0">
                <a:solidFill>
                  <a:schemeClr val="bg1"/>
                </a:solidFill>
                <a:latin typeface="Bauhaus 93" pitchFamily="82" charset="0"/>
              </a:defRPr>
            </a:lvl1pPr>
            <a:lvl2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2pPr>
            <a:lvl3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3pPr>
            <a:lvl4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4pPr>
            <a:lvl5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9pPr>
          </a:lstStyle>
          <a:p>
            <a:r>
              <a:rPr lang="es-VE" sz="2800" dirty="0"/>
              <a:t>DIFERENCIA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AC12CE7-2F9F-4430-8BA5-0D06CA7E6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953" y="2943496"/>
            <a:ext cx="5395572" cy="3299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B298324-AC37-4D86-A54B-C378EF484F49}"/>
              </a:ext>
            </a:extLst>
          </p:cNvPr>
          <p:cNvCxnSpPr>
            <a:cxnSpLocks/>
          </p:cNvCxnSpPr>
          <p:nvPr/>
        </p:nvCxnSpPr>
        <p:spPr>
          <a:xfrm>
            <a:off x="7528264" y="3773010"/>
            <a:ext cx="923278" cy="94103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0B35C278-ACC0-4EF5-BEB0-1C5E9AA31A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7271232"/>
              </p:ext>
            </p:extLst>
          </p:nvPr>
        </p:nvGraphicFramePr>
        <p:xfrm>
          <a:off x="198409" y="2192438"/>
          <a:ext cx="5897592" cy="2122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7" name="Grupo 6">
            <a:extLst>
              <a:ext uri="{FF2B5EF4-FFF2-40B4-BE49-F238E27FC236}">
                <a16:creationId xmlns:a16="http://schemas.microsoft.com/office/drawing/2014/main" id="{2ECF107B-490A-47C3-9960-708FCE5E924E}"/>
              </a:ext>
            </a:extLst>
          </p:cNvPr>
          <p:cNvGrpSpPr/>
          <p:nvPr/>
        </p:nvGrpSpPr>
        <p:grpSpPr>
          <a:xfrm>
            <a:off x="2777706" y="4541153"/>
            <a:ext cx="3318294" cy="1698389"/>
            <a:chOff x="2623649" y="2283419"/>
            <a:chExt cx="3273163" cy="2007926"/>
          </a:xfrm>
        </p:grpSpPr>
        <p:sp>
          <p:nvSpPr>
            <p:cNvPr id="8" name="Rectángulo: esquinas superiores redondeadas 7">
              <a:extLst>
                <a:ext uri="{FF2B5EF4-FFF2-40B4-BE49-F238E27FC236}">
                  <a16:creationId xmlns:a16="http://schemas.microsoft.com/office/drawing/2014/main" id="{DBFBAEC3-2B7D-45D9-89E3-216E4750489D}"/>
                </a:ext>
              </a:extLst>
            </p:cNvPr>
            <p:cNvSpPr/>
            <p:nvPr/>
          </p:nvSpPr>
          <p:spPr>
            <a:xfrm rot="5400000">
              <a:off x="3256268" y="1650800"/>
              <a:ext cx="2007926" cy="3273163"/>
            </a:xfrm>
            <a:prstGeom prst="round2SameRect">
              <a:avLst/>
            </a:prstGeom>
            <a:solidFill>
              <a:schemeClr val="bg1">
                <a:lumMod val="85000"/>
                <a:alpha val="90000"/>
              </a:schemeClr>
            </a:solid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9" name="Rectángulo: esquinas superiores redondeadas 4">
              <a:extLst>
                <a:ext uri="{FF2B5EF4-FFF2-40B4-BE49-F238E27FC236}">
                  <a16:creationId xmlns:a16="http://schemas.microsoft.com/office/drawing/2014/main" id="{A5857A14-78D4-4EF4-B353-9FAA1FF40F58}"/>
                </a:ext>
              </a:extLst>
            </p:cNvPr>
            <p:cNvSpPr txBox="1"/>
            <p:nvPr/>
          </p:nvSpPr>
          <p:spPr>
            <a:xfrm>
              <a:off x="2623650" y="2381438"/>
              <a:ext cx="3175144" cy="1811888"/>
            </a:xfrm>
            <a:prstGeom prst="rect">
              <a:avLst/>
            </a:prstGeom>
            <a:solidFill>
              <a:schemeClr val="bg1">
                <a:lumMod val="85000"/>
                <a:alpha val="90000"/>
              </a:schemeClr>
            </a:solidFill>
            <a:ln w="12700" cap="flat" cmpd="sng" algn="ctr">
              <a:solidFill>
                <a:srgbClr val="4472C4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91440" tIns="45720" rIns="91440" bIns="45720" numCol="1" spcCol="1270" anchor="ctr" anchorCtr="0">
              <a:noAutofit/>
            </a:bodyPr>
            <a:lstStyle>
              <a:lvl1pPr>
                <a:defRPr b="1"/>
              </a:lvl1pPr>
            </a:lstStyle>
            <a:p>
              <a:pPr marL="180975" lvl="1"/>
              <a:r>
                <a:rPr lang="es-ES" sz="2400" dirty="0"/>
                <a:t>Todas las </a:t>
              </a:r>
              <a:r>
                <a:rPr lang="es-ES" sz="2400" b="1" dirty="0"/>
                <a:t>metas</a:t>
              </a:r>
              <a:r>
                <a:rPr lang="es-ES" sz="2400" dirty="0"/>
                <a:t> que no puedan reducirse a una sola dimensión son incluidos. </a:t>
              </a:r>
              <a:endParaRPr lang="es-PE" sz="2400" dirty="0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A6B739AD-46C4-4C06-9A13-269AA16A62FA}"/>
              </a:ext>
            </a:extLst>
          </p:cNvPr>
          <p:cNvGrpSpPr/>
          <p:nvPr/>
        </p:nvGrpSpPr>
        <p:grpSpPr>
          <a:xfrm>
            <a:off x="175616" y="4501941"/>
            <a:ext cx="2745137" cy="1763482"/>
            <a:chOff x="1523" y="2226953"/>
            <a:chExt cx="3024572" cy="2120857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00F82B6F-75DE-4918-BBED-3FD554F674F7}"/>
                </a:ext>
              </a:extLst>
            </p:cNvPr>
            <p:cNvSpPr/>
            <p:nvPr/>
          </p:nvSpPr>
          <p:spPr>
            <a:xfrm>
              <a:off x="1523" y="2226953"/>
              <a:ext cx="3024572" cy="2120857"/>
            </a:xfrm>
            <a:prstGeom prst="roundRect">
              <a:avLst/>
            </a:prstGeom>
            <a:solidFill>
              <a:srgbClr val="1CADE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121920" tIns="60960" rIns="121920" bIns="60960" numCol="1" spcCol="1270" anchor="ctr" anchorCtr="0">
              <a:noAutofit/>
            </a:bodyPr>
            <a:lstStyle/>
            <a:p>
              <a:pPr algn="ctr"/>
              <a:endParaRPr lang="es-PE">
                <a:solidFill>
                  <a:schemeClr val="bg1"/>
                </a:solidFill>
              </a:endParaRPr>
            </a:p>
          </p:txBody>
        </p:sp>
        <p:sp>
          <p:nvSpPr>
            <p:cNvPr id="15" name="Rectángulo: esquinas redondeadas 4">
              <a:extLst>
                <a:ext uri="{FF2B5EF4-FFF2-40B4-BE49-F238E27FC236}">
                  <a16:creationId xmlns:a16="http://schemas.microsoft.com/office/drawing/2014/main" id="{B2B03CEF-6822-4B2D-8D64-FA6204E0679A}"/>
                </a:ext>
              </a:extLst>
            </p:cNvPr>
            <p:cNvSpPr txBox="1"/>
            <p:nvPr/>
          </p:nvSpPr>
          <p:spPr>
            <a:xfrm>
              <a:off x="105055" y="2330485"/>
              <a:ext cx="2817508" cy="1913793"/>
            </a:xfrm>
            <a:prstGeom prst="rect">
              <a:avLst/>
            </a:prstGeom>
            <a:solidFill>
              <a:srgbClr val="1CADE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spcFirstLastPara="0" vert="horz" wrap="square" lIns="121920" tIns="60960" rIns="121920" bIns="60960" numCol="1" spcCol="1270" anchor="ctr" anchorCtr="0">
              <a:noAutofit/>
            </a:bodyPr>
            <a:lstStyle>
              <a:lvl1pPr>
                <a:defRPr sz="3200" b="1">
                  <a:latin typeface="Arial Narrow" panose="020B0606020202030204" pitchFamily="34" charset="0"/>
                </a:defRPr>
              </a:lvl1pPr>
            </a:lstStyle>
            <a:p>
              <a:pPr algn="ctr"/>
              <a:r>
                <a:rPr lang="es-ES" dirty="0">
                  <a:solidFill>
                    <a:schemeClr val="bg1"/>
                  </a:solidFill>
                </a:rPr>
                <a:t>Programación lineal por metas</a:t>
              </a:r>
              <a:endParaRPr lang="es-PE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089AED6-933B-88A2-C702-CF49B8A5A1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4155214"/>
              </p:ext>
            </p:extLst>
          </p:nvPr>
        </p:nvGraphicFramePr>
        <p:xfrm>
          <a:off x="6467953" y="2167903"/>
          <a:ext cx="5395572" cy="7755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BA32A53F-01FA-A978-AB15-381646A5E37E}"/>
              </a:ext>
            </a:extLst>
          </p:cNvPr>
          <p:cNvSpPr/>
          <p:nvPr/>
        </p:nvSpPr>
        <p:spPr>
          <a:xfrm>
            <a:off x="6467952" y="1152240"/>
            <a:ext cx="5395573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Se imaginan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AC84D18-371B-C238-1209-572D1A300208}"/>
              </a:ext>
            </a:extLst>
          </p:cNvPr>
          <p:cNvSpPr/>
          <p:nvPr/>
        </p:nvSpPr>
        <p:spPr>
          <a:xfrm>
            <a:off x="7322354" y="6150114"/>
            <a:ext cx="336265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8A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Objetivo=meta</a:t>
            </a:r>
          </a:p>
        </p:txBody>
      </p:sp>
    </p:spTree>
    <p:extLst>
      <p:ext uri="{BB962C8B-B14F-4D97-AF65-F5344CB8AC3E}">
        <p14:creationId xmlns:p14="http://schemas.microsoft.com/office/powerpoint/2010/main" val="2360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3 Título">
            <a:extLst>
              <a:ext uri="{FF2B5EF4-FFF2-40B4-BE49-F238E27FC236}">
                <a16:creationId xmlns:a16="http://schemas.microsoft.com/office/drawing/2014/main" id="{083A49B8-1393-4F5B-B683-3F24132A5658}"/>
              </a:ext>
            </a:extLst>
          </p:cNvPr>
          <p:cNvSpPr txBox="1">
            <a:spLocks/>
          </p:cNvSpPr>
          <p:nvPr/>
        </p:nvSpPr>
        <p:spPr>
          <a:xfrm>
            <a:off x="6096000" y="155687"/>
            <a:ext cx="6095999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3200" b="0" i="0">
                <a:solidFill>
                  <a:schemeClr val="bg1"/>
                </a:solidFill>
                <a:latin typeface="Bauhaus 93" pitchFamily="82" charset="0"/>
              </a:defRPr>
            </a:lvl1pPr>
            <a:lvl2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2pPr>
            <a:lvl3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3pPr>
            <a:lvl4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4pPr>
            <a:lvl5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9pPr>
          </a:lstStyle>
          <a:p>
            <a:r>
              <a:rPr lang="es-VE" sz="2800" dirty="0"/>
              <a:t>PL  POR METAS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3EF284D1-5C88-44C0-AFF5-4B76CBB97CB7}"/>
              </a:ext>
            </a:extLst>
          </p:cNvPr>
          <p:cNvGrpSpPr/>
          <p:nvPr/>
        </p:nvGrpSpPr>
        <p:grpSpPr>
          <a:xfrm>
            <a:off x="241539" y="4193165"/>
            <a:ext cx="5596112" cy="1916213"/>
            <a:chOff x="0" y="33395"/>
            <a:chExt cx="5504522" cy="1826625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7EB69813-59CE-4ECA-84E2-3849AC7C9196}"/>
                </a:ext>
              </a:extLst>
            </p:cNvPr>
            <p:cNvSpPr/>
            <p:nvPr/>
          </p:nvSpPr>
          <p:spPr>
            <a:xfrm>
              <a:off x="0" y="33395"/>
              <a:ext cx="5504522" cy="182662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1" name="Rectángulo: esquinas redondeadas 4">
              <a:extLst>
                <a:ext uri="{FF2B5EF4-FFF2-40B4-BE49-F238E27FC236}">
                  <a16:creationId xmlns:a16="http://schemas.microsoft.com/office/drawing/2014/main" id="{48FEE414-1073-43A5-9AE2-FF6B5593A054}"/>
                </a:ext>
              </a:extLst>
            </p:cNvPr>
            <p:cNvSpPr txBox="1"/>
            <p:nvPr/>
          </p:nvSpPr>
          <p:spPr>
            <a:xfrm>
              <a:off x="89168" y="122563"/>
              <a:ext cx="5326186" cy="16482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just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400" kern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</a:t>
              </a:r>
              <a:r>
                <a:rPr lang="es-ES" sz="2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mite formular una función objetivo que “llega tan cerca como sea posible” a la satisfacción de las metas especificadas. </a:t>
              </a:r>
              <a:endParaRPr lang="es-PE" sz="24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7 CuadroTexto">
            <a:extLst>
              <a:ext uri="{FF2B5EF4-FFF2-40B4-BE49-F238E27FC236}">
                <a16:creationId xmlns:a16="http://schemas.microsoft.com/office/drawing/2014/main" id="{4596933A-6F13-4040-ACF0-EC2572648F88}"/>
              </a:ext>
            </a:extLst>
          </p:cNvPr>
          <p:cNvSpPr txBox="1"/>
          <p:nvPr/>
        </p:nvSpPr>
        <p:spPr>
          <a:xfrm>
            <a:off x="216861" y="1689467"/>
            <a:ext cx="210073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3200" b="0" i="0">
                <a:solidFill>
                  <a:srgbClr val="FF0000"/>
                </a:solidFill>
                <a:latin typeface="Bauhaus 93" pitchFamily="82" charset="0"/>
              </a:defRPr>
            </a:lvl1pPr>
            <a:lvl2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2pPr>
            <a:lvl3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3pPr>
            <a:lvl4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4pPr>
            <a:lvl5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9pPr>
          </a:lstStyle>
          <a:p>
            <a:r>
              <a:rPr lang="es-VE" dirty="0"/>
              <a:t>Definición </a:t>
            </a:r>
          </a:p>
        </p:txBody>
      </p:sp>
      <p:sp>
        <p:nvSpPr>
          <p:cNvPr id="3" name="3 Título">
            <a:extLst>
              <a:ext uri="{FF2B5EF4-FFF2-40B4-BE49-F238E27FC236}">
                <a16:creationId xmlns:a16="http://schemas.microsoft.com/office/drawing/2014/main" id="{FF412F41-C0A0-79E3-669B-76135E8DE722}"/>
              </a:ext>
            </a:extLst>
          </p:cNvPr>
          <p:cNvSpPr txBox="1">
            <a:spLocks/>
          </p:cNvSpPr>
          <p:nvPr/>
        </p:nvSpPr>
        <p:spPr>
          <a:xfrm>
            <a:off x="6068559" y="1592806"/>
            <a:ext cx="6095999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3200" b="0" i="0">
                <a:solidFill>
                  <a:schemeClr val="bg1"/>
                </a:solidFill>
                <a:latin typeface="Bauhaus 93" pitchFamily="82" charset="0"/>
              </a:defRPr>
            </a:lvl1pPr>
            <a:lvl2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2pPr>
            <a:lvl3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3pPr>
            <a:lvl4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4pPr>
            <a:lvl5pPr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2800" b="1" i="1">
                <a:latin typeface="Verdana" pitchFamily="34" charset="0"/>
              </a:defRPr>
            </a:lvl9pPr>
          </a:lstStyle>
          <a:p>
            <a:r>
              <a:rPr lang="es-VE" dirty="0">
                <a:solidFill>
                  <a:srgbClr val="FF0000"/>
                </a:solidFill>
              </a:rPr>
              <a:t>¿Cuando utilizar PL por metas?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907C1AC-A40C-BB18-753E-604F5D10C244}"/>
              </a:ext>
            </a:extLst>
          </p:cNvPr>
          <p:cNvSpPr/>
          <p:nvPr/>
        </p:nvSpPr>
        <p:spPr>
          <a:xfrm>
            <a:off x="6252754" y="2582713"/>
            <a:ext cx="5808617" cy="84628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txBody>
          <a:bodyPr spcFirstLastPara="0" vert="horz" wrap="square" lIns="83820" tIns="41910" rIns="83820" bIns="41910" numCol="1" spcCol="1270" anchor="ctr" anchorCtr="0">
            <a:no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Cuando se desea optimizar más de un objetivo, que son contrapuestos.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85CF476-3EEA-7AD1-4F8A-E7848A71DC81}"/>
              </a:ext>
            </a:extLst>
          </p:cNvPr>
          <p:cNvSpPr/>
          <p:nvPr/>
        </p:nvSpPr>
        <p:spPr>
          <a:xfrm>
            <a:off x="6252754" y="3840769"/>
            <a:ext cx="5808617" cy="8462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txBody>
          <a:bodyPr spcFirstLastPara="0" vert="horz" wrap="square" lIns="83820" tIns="41910" rIns="83820" bIns="41910" numCol="1" spcCol="1270" anchor="ctr" anchorCtr="0">
            <a:no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Cuando el problema de programación lineal es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infactible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hay que flexibilizarlo.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BAFCE7-3112-44ED-5B65-CA1C4474440B}"/>
              </a:ext>
            </a:extLst>
          </p:cNvPr>
          <p:cNvSpPr/>
          <p:nvPr/>
        </p:nvSpPr>
        <p:spPr>
          <a:xfrm>
            <a:off x="6252754" y="5056461"/>
            <a:ext cx="5808617" cy="8462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txBody>
          <a:bodyPr spcFirstLastPara="0" vert="horz" wrap="square" lIns="83820" tIns="41910" rIns="83820" bIns="41910" numCol="1" spcCol="1270" anchor="ctr" anchorCtr="0">
            <a:no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Cuando se desea priorizar a ciertos objetivos o restricciones.</a:t>
            </a:r>
            <a:endParaRPr lang="es-PE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CF61FF98-5006-2F84-B21C-11E1259BCE71}"/>
              </a:ext>
            </a:extLst>
          </p:cNvPr>
          <p:cNvGrpSpPr/>
          <p:nvPr/>
        </p:nvGrpSpPr>
        <p:grpSpPr>
          <a:xfrm>
            <a:off x="241539" y="2464548"/>
            <a:ext cx="5596112" cy="1635075"/>
            <a:chOff x="0" y="659941"/>
            <a:chExt cx="5571432" cy="1635075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991986FA-C18B-5678-ACAB-70F9D37FB6B5}"/>
                </a:ext>
              </a:extLst>
            </p:cNvPr>
            <p:cNvSpPr/>
            <p:nvPr/>
          </p:nvSpPr>
          <p:spPr>
            <a:xfrm>
              <a:off x="0" y="659941"/>
              <a:ext cx="5571432" cy="16350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8" name="Rectángulo: esquinas redondeadas 4">
              <a:extLst>
                <a:ext uri="{FF2B5EF4-FFF2-40B4-BE49-F238E27FC236}">
                  <a16:creationId xmlns:a16="http://schemas.microsoft.com/office/drawing/2014/main" id="{2BB6422E-0045-C6D8-B1AC-1FE1DBEA4FC1}"/>
                </a:ext>
              </a:extLst>
            </p:cNvPr>
            <p:cNvSpPr txBox="1"/>
            <p:nvPr/>
          </p:nvSpPr>
          <p:spPr>
            <a:xfrm>
              <a:off x="79818" y="739759"/>
              <a:ext cx="5411796" cy="14754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just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400" b="1" kern="12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Programación lineal por metas </a:t>
              </a:r>
              <a:r>
                <a:rPr lang="es-ES" sz="2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es una nueva versión de la programación lineal para modelos con </a:t>
              </a:r>
              <a:r>
                <a:rPr lang="es-ES" sz="2400" b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objetivos múlt</a:t>
              </a:r>
              <a:r>
                <a:rPr lang="es-ES" sz="2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s-ES" sz="2400" b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ples.</a:t>
              </a:r>
              <a:endParaRPr lang="es-PE" sz="24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367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75;p30">
            <a:extLst>
              <a:ext uri="{FF2B5EF4-FFF2-40B4-BE49-F238E27FC236}">
                <a16:creationId xmlns:a16="http://schemas.microsoft.com/office/drawing/2014/main" id="{6D4B2B50-43A0-49AE-89F8-84A756490DA0}"/>
              </a:ext>
            </a:extLst>
          </p:cNvPr>
          <p:cNvCxnSpPr>
            <a:cxnSpLocks/>
          </p:cNvCxnSpPr>
          <p:nvPr/>
        </p:nvCxnSpPr>
        <p:spPr>
          <a:xfrm flipH="1">
            <a:off x="4717514" y="4603712"/>
            <a:ext cx="392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3" name="Google Shape;273;p30"/>
          <p:cNvSpPr txBox="1">
            <a:spLocks noGrp="1"/>
          </p:cNvSpPr>
          <p:nvPr>
            <p:ph type="sldNum" sz="quarter" idx="12"/>
          </p:nvPr>
        </p:nvSpPr>
        <p:spPr>
          <a:xfrm>
            <a:off x="10214546" y="6356351"/>
            <a:ext cx="561975" cy="365125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olidFill>
                  <a:schemeClr val="bg2">
                    <a:lumMod val="50000"/>
                  </a:schemeClr>
                </a:solidFill>
              </a:rPr>
              <a:pPr/>
              <a:t>11</a:t>
            </a:fld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81" name="Google Shape;281;p30"/>
          <p:cNvCxnSpPr>
            <a:cxnSpLocks/>
            <a:endCxn id="32" idx="3"/>
          </p:cNvCxnSpPr>
          <p:nvPr/>
        </p:nvCxnSpPr>
        <p:spPr>
          <a:xfrm flipH="1">
            <a:off x="4746058" y="3985404"/>
            <a:ext cx="757595" cy="23866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3" name="Google Shape;283;p30"/>
          <p:cNvSpPr txBox="1"/>
          <p:nvPr/>
        </p:nvSpPr>
        <p:spPr>
          <a:xfrm>
            <a:off x="4416726" y="2889845"/>
            <a:ext cx="323582" cy="5003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Aft>
                <a:spcPts val="1600"/>
              </a:spcAft>
            </a:pPr>
            <a:r>
              <a:rPr lang="en" sz="2400" dirty="0">
                <a:solidFill>
                  <a:schemeClr val="bg1"/>
                </a:solidFill>
                <a:latin typeface="Lexend Deca"/>
                <a:ea typeface="Lexend Deca"/>
                <a:cs typeface="Lexend Deca"/>
                <a:sym typeface="Lexend Deca"/>
              </a:rPr>
              <a:t>2</a:t>
            </a:r>
            <a:endParaRPr sz="2400" dirty="0">
              <a:solidFill>
                <a:schemeClr val="bg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grpSp>
        <p:nvGrpSpPr>
          <p:cNvPr id="284" name="Google Shape;284;p30"/>
          <p:cNvGrpSpPr/>
          <p:nvPr/>
        </p:nvGrpSpPr>
        <p:grpSpPr>
          <a:xfrm>
            <a:off x="7155010" y="1367513"/>
            <a:ext cx="4932514" cy="2546727"/>
            <a:chOff x="4886012" y="523865"/>
            <a:chExt cx="4697728" cy="1775429"/>
          </a:xfrm>
        </p:grpSpPr>
        <p:cxnSp>
          <p:nvCxnSpPr>
            <p:cNvPr id="285" name="Google Shape;285;p30"/>
            <p:cNvCxnSpPr/>
            <p:nvPr/>
          </p:nvCxnSpPr>
          <p:spPr>
            <a:xfrm>
              <a:off x="4886012" y="1312633"/>
              <a:ext cx="857549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6" name="Google Shape;286;p30"/>
            <p:cNvSpPr txBox="1"/>
            <p:nvPr/>
          </p:nvSpPr>
          <p:spPr>
            <a:xfrm>
              <a:off x="6157413" y="523865"/>
              <a:ext cx="3426327" cy="17754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s-ES" sz="2400" b="1" dirty="0">
                  <a:solidFill>
                    <a:srgbClr val="FF0000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VARIABLES</a:t>
              </a:r>
            </a:p>
            <a:p>
              <a:r>
                <a:rPr lang="es-ES_tradnl" altLang="es-PE" sz="2400" b="1" dirty="0">
                  <a:latin typeface="Arial Narrow" pitchFamily="34" charset="0"/>
                  <a:cs typeface="Tahoma" panose="020B0604030504040204" pitchFamily="34" charset="0"/>
                </a:rPr>
                <a:t>Variables de decisión y variables de desviación.</a:t>
              </a:r>
              <a:endParaRPr sz="2400" b="1" dirty="0">
                <a:latin typeface="Arial Narrow" pitchFamily="34" charset="0"/>
                <a:cs typeface="Tahoma" panose="020B0604030504040204" pitchFamily="34" charset="0"/>
                <a:sym typeface="Muli Regular"/>
              </a:endParaRPr>
            </a:p>
          </p:txBody>
        </p:sp>
        <p:sp>
          <p:nvSpPr>
            <p:cNvPr id="288" name="Google Shape;288;p30"/>
            <p:cNvSpPr txBox="1"/>
            <p:nvPr/>
          </p:nvSpPr>
          <p:spPr>
            <a:xfrm>
              <a:off x="5499982" y="961610"/>
              <a:ext cx="243579" cy="35102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>
                <a:defRPr lang="es-ES"/>
              </a:defPPr>
              <a:lvl1pPr lvl="0" indent="0" algn="ctr">
                <a:spcBef>
                  <a:spcPts val="0"/>
                </a:spcBef>
                <a:spcAft>
                  <a:spcPts val="1600"/>
                </a:spcAft>
                <a:buNone/>
                <a:defRPr sz="2000">
                  <a:solidFill>
                    <a:schemeClr val="bg2">
                      <a:lumMod val="50000"/>
                    </a:schemeClr>
                  </a:solidFill>
                  <a:latin typeface="Lexend Deca"/>
                  <a:ea typeface="Lexend Deca"/>
                  <a:cs typeface="Lexend Deca"/>
                </a:defRPr>
              </a:lvl1pPr>
            </a:lstStyle>
            <a:p>
              <a:r>
                <a:rPr lang="en" dirty="0">
                  <a:solidFill>
                    <a:schemeClr val="bg1"/>
                  </a:solidFill>
                  <a:sym typeface="Lexend Deca"/>
                </a:rPr>
                <a:t>1</a:t>
              </a:r>
              <a:endParaRPr dirty="0">
                <a:solidFill>
                  <a:schemeClr val="bg1"/>
                </a:solidFill>
                <a:sym typeface="Lexend Deca"/>
              </a:endParaRPr>
            </a:p>
          </p:txBody>
        </p:sp>
      </p:grpSp>
      <p:sp>
        <p:nvSpPr>
          <p:cNvPr id="290" name="Google Shape;290;p30"/>
          <p:cNvSpPr/>
          <p:nvPr/>
        </p:nvSpPr>
        <p:spPr>
          <a:xfrm>
            <a:off x="5402268" y="3667458"/>
            <a:ext cx="2555893" cy="1371674"/>
          </a:xfrm>
          <a:custGeom>
            <a:avLst/>
            <a:gdLst/>
            <a:ahLst/>
            <a:cxnLst/>
            <a:rect l="l" t="t" r="r" b="b"/>
            <a:pathLst>
              <a:path w="126826" h="43529" extrusionOk="0">
                <a:moveTo>
                  <a:pt x="0" y="20002"/>
                </a:moveTo>
                <a:lnTo>
                  <a:pt x="63389" y="43529"/>
                </a:lnTo>
                <a:lnTo>
                  <a:pt x="126826" y="19907"/>
                </a:lnTo>
                <a:lnTo>
                  <a:pt x="635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91" name="Google Shape;291;p30"/>
          <p:cNvSpPr/>
          <p:nvPr/>
        </p:nvSpPr>
        <p:spPr>
          <a:xfrm>
            <a:off x="4920262" y="4299424"/>
            <a:ext cx="1767900" cy="1997859"/>
          </a:xfrm>
          <a:custGeom>
            <a:avLst/>
            <a:gdLst/>
            <a:ahLst/>
            <a:cxnLst/>
            <a:rect l="l" t="t" r="r" b="b"/>
            <a:pathLst>
              <a:path w="87725" h="63817" extrusionOk="0">
                <a:moveTo>
                  <a:pt x="24288" y="0"/>
                </a:moveTo>
                <a:lnTo>
                  <a:pt x="0" y="29908"/>
                </a:lnTo>
                <a:lnTo>
                  <a:pt x="87725" y="63817"/>
                </a:lnTo>
                <a:lnTo>
                  <a:pt x="87725" y="42291"/>
                </a:lnTo>
                <a:lnTo>
                  <a:pt x="87725" y="23526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92" name="Google Shape;292;p30"/>
          <p:cNvSpPr/>
          <p:nvPr/>
        </p:nvSpPr>
        <p:spPr>
          <a:xfrm flipH="1">
            <a:off x="6676845" y="4299424"/>
            <a:ext cx="1767900" cy="1997859"/>
          </a:xfrm>
          <a:custGeom>
            <a:avLst/>
            <a:gdLst/>
            <a:ahLst/>
            <a:cxnLst/>
            <a:rect l="l" t="t" r="r" b="b"/>
            <a:pathLst>
              <a:path w="87725" h="63817" extrusionOk="0">
                <a:moveTo>
                  <a:pt x="24288" y="0"/>
                </a:moveTo>
                <a:lnTo>
                  <a:pt x="0" y="29908"/>
                </a:lnTo>
                <a:lnTo>
                  <a:pt x="87725" y="63817"/>
                </a:lnTo>
                <a:lnTo>
                  <a:pt x="87725" y="42291"/>
                </a:lnTo>
                <a:lnTo>
                  <a:pt x="87725" y="23526"/>
                </a:lnTo>
                <a:close/>
              </a:path>
            </a:pathLst>
          </a:custGeom>
          <a:solidFill>
            <a:srgbClr val="8A000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93" name="Google Shape;293;p30"/>
          <p:cNvSpPr/>
          <p:nvPr/>
        </p:nvSpPr>
        <p:spPr>
          <a:xfrm>
            <a:off x="5899250" y="2811216"/>
            <a:ext cx="1574464" cy="845502"/>
          </a:xfrm>
          <a:custGeom>
            <a:avLst/>
            <a:gdLst/>
            <a:ahLst/>
            <a:cxnLst/>
            <a:rect l="l" t="t" r="r" b="b"/>
            <a:pathLst>
              <a:path w="24053" h="8150" extrusionOk="0">
                <a:moveTo>
                  <a:pt x="0" y="3827"/>
                </a:moveTo>
                <a:lnTo>
                  <a:pt x="11976" y="8150"/>
                </a:lnTo>
                <a:lnTo>
                  <a:pt x="24053" y="3827"/>
                </a:lnTo>
                <a:lnTo>
                  <a:pt x="1212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94" name="Google Shape;294;p30"/>
          <p:cNvSpPr/>
          <p:nvPr/>
        </p:nvSpPr>
        <p:spPr>
          <a:xfrm>
            <a:off x="5495378" y="3209552"/>
            <a:ext cx="1195842" cy="1465293"/>
          </a:xfrm>
          <a:custGeom>
            <a:avLst/>
            <a:gdLst/>
            <a:ahLst/>
            <a:cxnLst/>
            <a:rect l="l" t="t" r="r" b="b"/>
            <a:pathLst>
              <a:path w="18238" h="14114" extrusionOk="0">
                <a:moveTo>
                  <a:pt x="6262" y="0"/>
                </a:moveTo>
                <a:lnTo>
                  <a:pt x="18238" y="4324"/>
                </a:lnTo>
                <a:lnTo>
                  <a:pt x="18238" y="14114"/>
                </a:lnTo>
                <a:lnTo>
                  <a:pt x="0" y="7554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95" name="Google Shape;295;p30"/>
          <p:cNvSpPr/>
          <p:nvPr/>
        </p:nvSpPr>
        <p:spPr>
          <a:xfrm flipH="1">
            <a:off x="6681488" y="3209552"/>
            <a:ext cx="1195842" cy="1465293"/>
          </a:xfrm>
          <a:custGeom>
            <a:avLst/>
            <a:gdLst/>
            <a:ahLst/>
            <a:cxnLst/>
            <a:rect l="l" t="t" r="r" b="b"/>
            <a:pathLst>
              <a:path w="18238" h="14114" extrusionOk="0">
                <a:moveTo>
                  <a:pt x="6262" y="0"/>
                </a:moveTo>
                <a:lnTo>
                  <a:pt x="18238" y="4324"/>
                </a:lnTo>
                <a:lnTo>
                  <a:pt x="18238" y="14114"/>
                </a:lnTo>
                <a:lnTo>
                  <a:pt x="0" y="75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96" name="Google Shape;296;p30"/>
          <p:cNvSpPr/>
          <p:nvPr/>
        </p:nvSpPr>
        <p:spPr>
          <a:xfrm>
            <a:off x="5993911" y="1589342"/>
            <a:ext cx="697323" cy="1733454"/>
          </a:xfrm>
          <a:custGeom>
            <a:avLst/>
            <a:gdLst/>
            <a:ahLst/>
            <a:cxnLst/>
            <a:rect l="l" t="t" r="r" b="b"/>
            <a:pathLst>
              <a:path w="10635" h="16697" extrusionOk="0">
                <a:moveTo>
                  <a:pt x="10635" y="0"/>
                </a:moveTo>
                <a:lnTo>
                  <a:pt x="0" y="12722"/>
                </a:lnTo>
                <a:lnTo>
                  <a:pt x="10635" y="16697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97" name="Google Shape;297;p30"/>
          <p:cNvSpPr/>
          <p:nvPr/>
        </p:nvSpPr>
        <p:spPr>
          <a:xfrm flipH="1">
            <a:off x="6684200" y="1589342"/>
            <a:ext cx="697323" cy="1733454"/>
          </a:xfrm>
          <a:custGeom>
            <a:avLst/>
            <a:gdLst/>
            <a:ahLst/>
            <a:cxnLst/>
            <a:rect l="l" t="t" r="r" b="b"/>
            <a:pathLst>
              <a:path w="10635" h="16697" extrusionOk="0">
                <a:moveTo>
                  <a:pt x="10635" y="0"/>
                </a:moveTo>
                <a:lnTo>
                  <a:pt x="0" y="12722"/>
                </a:lnTo>
                <a:lnTo>
                  <a:pt x="10635" y="1669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6096000" y="136524"/>
            <a:ext cx="6096000" cy="832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L="533400" indent="9525">
              <a:lnSpc>
                <a:spcPct val="90000"/>
              </a:lnSpc>
              <a:spcBef>
                <a:spcPct val="0"/>
              </a:spcBef>
              <a:buClr>
                <a:schemeClr val="lt1"/>
              </a:buClr>
              <a:buSzPts val="3200"/>
              <a:buFont typeface="Lexend Deca"/>
              <a:buNone/>
              <a:defRPr sz="2800" b="1">
                <a:solidFill>
                  <a:srgbClr val="FFFF00"/>
                </a:solidFill>
                <a:latin typeface="Arial Narrow" pitchFamily="34" charset="0"/>
                <a:ea typeface="Lexend Deca"/>
                <a:cs typeface="Lexend Deca"/>
                <a:sym typeface="Lexend Deca"/>
              </a:defRPr>
            </a:lvl2pPr>
            <a:lvl3pPr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lvl="1" algn="ctr"/>
            <a:r>
              <a:rPr lang="es-PE" sz="3200" b="0" dirty="0">
                <a:solidFill>
                  <a:schemeClr val="bg1"/>
                </a:solidFill>
                <a:latin typeface="Bauhaus 93" pitchFamily="82" charset="0"/>
                <a:ea typeface="Arial"/>
                <a:cs typeface="Arial"/>
              </a:rPr>
              <a:t>M</a:t>
            </a:r>
            <a:r>
              <a:rPr lang="en" sz="3200" b="0" dirty="0">
                <a:solidFill>
                  <a:schemeClr val="bg1"/>
                </a:solidFill>
                <a:latin typeface="Bauhaus 93" pitchFamily="82" charset="0"/>
                <a:ea typeface="Arial"/>
                <a:cs typeface="Arial"/>
              </a:rPr>
              <a:t>odelo matem</a:t>
            </a:r>
            <a:r>
              <a:rPr lang="es-PE" sz="3200" b="0" dirty="0">
                <a:solidFill>
                  <a:schemeClr val="bg1"/>
                </a:solidFill>
                <a:latin typeface="Bauhaus 93" pitchFamily="82" charset="0"/>
                <a:ea typeface="Arial"/>
                <a:cs typeface="Arial"/>
              </a:rPr>
              <a:t>á</a:t>
            </a:r>
            <a:r>
              <a:rPr lang="en" sz="3200" b="0" dirty="0">
                <a:solidFill>
                  <a:schemeClr val="bg1"/>
                </a:solidFill>
                <a:latin typeface="Bauhaus 93" pitchFamily="82" charset="0"/>
                <a:ea typeface="Arial"/>
                <a:cs typeface="Arial"/>
              </a:rPr>
              <a:t>tico</a:t>
            </a:r>
            <a:endParaRPr lang="es-ES" sz="3200" b="0" dirty="0">
              <a:solidFill>
                <a:schemeClr val="bg1"/>
              </a:solidFill>
              <a:latin typeface="Bauhaus 93" pitchFamily="82" charset="0"/>
              <a:ea typeface="Arial"/>
              <a:cs typeface="Arial"/>
            </a:endParaRPr>
          </a:p>
        </p:txBody>
      </p:sp>
      <p:sp>
        <p:nvSpPr>
          <p:cNvPr id="24" name="Google Shape;280;p30">
            <a:extLst>
              <a:ext uri="{FF2B5EF4-FFF2-40B4-BE49-F238E27FC236}">
                <a16:creationId xmlns:a16="http://schemas.microsoft.com/office/drawing/2014/main" id="{B48ADA8D-13A4-4B13-84F9-600C8277902B}"/>
              </a:ext>
            </a:extLst>
          </p:cNvPr>
          <p:cNvSpPr txBox="1"/>
          <p:nvPr/>
        </p:nvSpPr>
        <p:spPr>
          <a:xfrm>
            <a:off x="577970" y="4593004"/>
            <a:ext cx="3360115" cy="1229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s-ES"/>
            </a:defPPr>
            <a:lvl1pPr lv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>
                    <a:lumMod val="50000"/>
                  </a:schemeClr>
                </a:solidFill>
                <a:latin typeface="Muli Regular"/>
                <a:ea typeface="Muli Regular"/>
                <a:cs typeface="Muli Regular"/>
              </a:defRPr>
            </a:lvl1pPr>
          </a:lstStyle>
          <a:p>
            <a:r>
              <a:rPr lang="es-ES" sz="2400" dirty="0">
                <a:solidFill>
                  <a:srgbClr val="FF0000"/>
                </a:solidFill>
                <a:latin typeface="Arial Narrow" pitchFamily="34" charset="0"/>
                <a:sym typeface="Muli Regular"/>
              </a:rPr>
              <a:t>FUNCIÓN OBJETIVO</a:t>
            </a:r>
          </a:p>
          <a:p>
            <a:r>
              <a:rPr lang="es-ES_tradnl" altLang="es-PE" sz="2400" dirty="0">
                <a:solidFill>
                  <a:schemeClr val="tx1"/>
                </a:solidFill>
                <a:latin typeface="Arial Narrow" pitchFamily="34" charset="0"/>
                <a:ea typeface="+mn-ea"/>
                <a:cs typeface="Tahoma" panose="020B0604030504040204" pitchFamily="34" charset="0"/>
              </a:rPr>
              <a:t>Siempre es MINIMIZAR las desviaciones.</a:t>
            </a:r>
            <a:endParaRPr lang="es-ES" sz="2400" dirty="0">
              <a:solidFill>
                <a:schemeClr val="tx1"/>
              </a:solidFill>
              <a:latin typeface="Arial Narrow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26" name="Google Shape;276;p30">
            <a:extLst>
              <a:ext uri="{FF2B5EF4-FFF2-40B4-BE49-F238E27FC236}">
                <a16:creationId xmlns:a16="http://schemas.microsoft.com/office/drawing/2014/main" id="{237E5F35-05C1-4D1D-BD97-75799CBAF8FF}"/>
              </a:ext>
            </a:extLst>
          </p:cNvPr>
          <p:cNvSpPr txBox="1"/>
          <p:nvPr/>
        </p:nvSpPr>
        <p:spPr>
          <a:xfrm>
            <a:off x="586596" y="2475781"/>
            <a:ext cx="3847381" cy="194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 Narrow" pitchFamily="34" charset="0"/>
                <a:ea typeface="Muli Regular"/>
                <a:cs typeface="Muli Regular"/>
                <a:sym typeface="Muli Regular"/>
              </a:rPr>
              <a:t>RESTRICCIONES</a:t>
            </a:r>
            <a:endParaRPr sz="2400" b="1" dirty="0">
              <a:solidFill>
                <a:srgbClr val="FF0000"/>
              </a:solidFill>
              <a:latin typeface="Arial Narrow" pitchFamily="34" charset="0"/>
              <a:ea typeface="Muli Regular"/>
              <a:cs typeface="Muli Regular"/>
              <a:sym typeface="Muli Regular"/>
            </a:endParaRPr>
          </a:p>
          <a:p>
            <a:pPr>
              <a:lnSpc>
                <a:spcPct val="150000"/>
              </a:lnSpc>
            </a:pPr>
            <a:r>
              <a:rPr lang="es-ES_tradnl" altLang="es-PE" sz="2400" b="1" dirty="0">
                <a:latin typeface="Arial Narrow" pitchFamily="34" charset="0"/>
                <a:cs typeface="Tahoma" panose="020B0604030504040204" pitchFamily="34" charset="0"/>
              </a:rPr>
              <a:t>Identifique las metas</a:t>
            </a:r>
          </a:p>
          <a:p>
            <a:pPr>
              <a:lnSpc>
                <a:spcPct val="150000"/>
              </a:lnSpc>
            </a:pPr>
            <a:r>
              <a:rPr lang="es-ES_tradnl" altLang="es-PE" sz="2400" b="1" dirty="0">
                <a:latin typeface="Arial Narrow" pitchFamily="34" charset="0"/>
                <a:cs typeface="Tahoma" panose="020B0604030504040204" pitchFamily="34" charset="0"/>
              </a:rPr>
              <a:t>Restricciones metas (blandas)</a:t>
            </a:r>
          </a:p>
          <a:p>
            <a:pPr>
              <a:lnSpc>
                <a:spcPct val="150000"/>
              </a:lnSpc>
            </a:pPr>
            <a:r>
              <a:rPr lang="es-ES_tradnl" altLang="es-PE" sz="2400" b="1" dirty="0">
                <a:latin typeface="Arial Narrow" pitchFamily="34" charset="0"/>
                <a:cs typeface="Tahoma" panose="020B0604030504040204" pitchFamily="34" charset="0"/>
              </a:rPr>
              <a:t>Restricciones duras</a:t>
            </a:r>
            <a:endParaRPr sz="2400" b="1" dirty="0">
              <a:latin typeface="Arial Narrow" pitchFamily="34" charset="0"/>
              <a:cs typeface="Tahoma" panose="020B0604030504040204" pitchFamily="34" charset="0"/>
              <a:sym typeface="Muli Regular"/>
            </a:endParaRPr>
          </a:p>
        </p:txBody>
      </p:sp>
      <p:sp>
        <p:nvSpPr>
          <p:cNvPr id="27" name="Google Shape;278;p30">
            <a:extLst>
              <a:ext uri="{FF2B5EF4-FFF2-40B4-BE49-F238E27FC236}">
                <a16:creationId xmlns:a16="http://schemas.microsoft.com/office/drawing/2014/main" id="{CDE3925E-97DC-4BF8-B3A2-010D4BE04FBE}"/>
              </a:ext>
            </a:extLst>
          </p:cNvPr>
          <p:cNvSpPr txBox="1"/>
          <p:nvPr/>
        </p:nvSpPr>
        <p:spPr>
          <a:xfrm>
            <a:off x="4429548" y="4929222"/>
            <a:ext cx="303296" cy="47091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s-ES"/>
            </a:defPPr>
            <a:lvl1pPr lvl="0" indent="0" algn="ctr">
              <a:spcBef>
                <a:spcPts val="0"/>
              </a:spcBef>
              <a:spcAft>
                <a:spcPts val="1600"/>
              </a:spcAft>
              <a:buNone/>
              <a:defRPr sz="2000">
                <a:solidFill>
                  <a:schemeClr val="bg1"/>
                </a:solidFill>
                <a:latin typeface="Lexend Deca"/>
                <a:ea typeface="Lexend Deca"/>
                <a:cs typeface="Lexend Deca"/>
              </a:defRPr>
            </a:lvl1pPr>
          </a:lstStyle>
          <a:p>
            <a:r>
              <a:rPr lang="en" sz="2400" b="1" dirty="0">
                <a:sym typeface="Lexend Deca"/>
              </a:rPr>
              <a:t>5</a:t>
            </a:r>
            <a:endParaRPr sz="2400" b="1" dirty="0">
              <a:sym typeface="Lexend Deca"/>
            </a:endParaRPr>
          </a:p>
        </p:txBody>
      </p:sp>
      <p:sp>
        <p:nvSpPr>
          <p:cNvPr id="32" name="Google Shape;283;p30">
            <a:extLst>
              <a:ext uri="{FF2B5EF4-FFF2-40B4-BE49-F238E27FC236}">
                <a16:creationId xmlns:a16="http://schemas.microsoft.com/office/drawing/2014/main" id="{D93D0135-3325-49ED-80C5-3EE6EBEF7B70}"/>
              </a:ext>
            </a:extLst>
          </p:cNvPr>
          <p:cNvSpPr txBox="1"/>
          <p:nvPr/>
        </p:nvSpPr>
        <p:spPr>
          <a:xfrm>
            <a:off x="4422476" y="3973898"/>
            <a:ext cx="323582" cy="5003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Aft>
                <a:spcPts val="1600"/>
              </a:spcAft>
            </a:pPr>
            <a:r>
              <a:rPr lang="en" sz="2400" dirty="0">
                <a:solidFill>
                  <a:schemeClr val="bg1"/>
                </a:solidFill>
                <a:latin typeface="Lexend Deca"/>
                <a:ea typeface="Lexend Deca"/>
                <a:cs typeface="Lexend Deca"/>
                <a:sym typeface="Lexend Deca"/>
              </a:rPr>
              <a:t>4</a:t>
            </a:r>
            <a:endParaRPr sz="2400" dirty="0">
              <a:solidFill>
                <a:schemeClr val="bg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3" name="Google Shape;283;p30">
            <a:extLst>
              <a:ext uri="{FF2B5EF4-FFF2-40B4-BE49-F238E27FC236}">
                <a16:creationId xmlns:a16="http://schemas.microsoft.com/office/drawing/2014/main" id="{F4011C55-93D2-4080-9554-77042E0C8E76}"/>
              </a:ext>
            </a:extLst>
          </p:cNvPr>
          <p:cNvSpPr txBox="1"/>
          <p:nvPr/>
        </p:nvSpPr>
        <p:spPr>
          <a:xfrm>
            <a:off x="4419600" y="3436185"/>
            <a:ext cx="323582" cy="5003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Aft>
                <a:spcPts val="1600"/>
              </a:spcAft>
            </a:pPr>
            <a:r>
              <a:rPr lang="en" sz="2400" dirty="0">
                <a:solidFill>
                  <a:schemeClr val="bg1"/>
                </a:solidFill>
                <a:latin typeface="Lexend Deca"/>
                <a:ea typeface="Lexend Deca"/>
                <a:cs typeface="Lexend Deca"/>
                <a:sym typeface="Lexend Deca"/>
              </a:rPr>
              <a:t>3</a:t>
            </a:r>
            <a:endParaRPr sz="2400" dirty="0">
              <a:solidFill>
                <a:schemeClr val="bg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cxnSp>
        <p:nvCxnSpPr>
          <p:cNvPr id="35" name="Google Shape;281;p30">
            <a:extLst>
              <a:ext uri="{FF2B5EF4-FFF2-40B4-BE49-F238E27FC236}">
                <a16:creationId xmlns:a16="http://schemas.microsoft.com/office/drawing/2014/main" id="{BB181A28-4CB8-4E94-8F9D-8A80B719923F}"/>
              </a:ext>
            </a:extLst>
          </p:cNvPr>
          <p:cNvCxnSpPr>
            <a:cxnSpLocks/>
          </p:cNvCxnSpPr>
          <p:nvPr/>
        </p:nvCxnSpPr>
        <p:spPr>
          <a:xfrm flipH="1">
            <a:off x="4734719" y="3677824"/>
            <a:ext cx="958715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281;p30">
            <a:extLst>
              <a:ext uri="{FF2B5EF4-FFF2-40B4-BE49-F238E27FC236}">
                <a16:creationId xmlns:a16="http://schemas.microsoft.com/office/drawing/2014/main" id="{84CB2EA2-4E4E-48D9-A6C1-59E5BCE3C10E}"/>
              </a:ext>
            </a:extLst>
          </p:cNvPr>
          <p:cNvCxnSpPr>
            <a:cxnSpLocks/>
            <a:endCxn id="283" idx="3"/>
          </p:cNvCxnSpPr>
          <p:nvPr/>
        </p:nvCxnSpPr>
        <p:spPr>
          <a:xfrm flipH="1" flipV="1">
            <a:off x="4740308" y="3140011"/>
            <a:ext cx="996258" cy="293302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" name="Google Shape;281;p30">
            <a:extLst>
              <a:ext uri="{FF2B5EF4-FFF2-40B4-BE49-F238E27FC236}">
                <a16:creationId xmlns:a16="http://schemas.microsoft.com/office/drawing/2014/main" id="{EFF58D2C-E693-4E64-9DC6-A08E8885C481}"/>
              </a:ext>
            </a:extLst>
          </p:cNvPr>
          <p:cNvCxnSpPr>
            <a:cxnSpLocks/>
          </p:cNvCxnSpPr>
          <p:nvPr/>
        </p:nvCxnSpPr>
        <p:spPr>
          <a:xfrm flipH="1">
            <a:off x="4731845" y="5184571"/>
            <a:ext cx="211091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58640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 animBg="1"/>
      <p:bldP spid="24" grpId="0"/>
      <p:bldP spid="26" grpId="0"/>
      <p:bldP spid="27" grpId="0" animBg="1"/>
      <p:bldP spid="32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9068127" y="1870025"/>
            <a:ext cx="1253303" cy="0"/>
          </a:xfrm>
          <a:custGeom>
            <a:avLst/>
            <a:gdLst/>
            <a:ahLst/>
            <a:cxnLst/>
            <a:rect l="l" t="t" r="r" b="b"/>
            <a:pathLst>
              <a:path w="1465668">
                <a:moveTo>
                  <a:pt x="0" y="0"/>
                </a:moveTo>
                <a:lnTo>
                  <a:pt x="1465668" y="0"/>
                </a:lnTo>
              </a:path>
            </a:pathLst>
          </a:custGeom>
          <a:ln w="39547">
            <a:solidFill>
              <a:srgbClr val="FDFDF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13" name="object 13">
            <a:extLst>
              <a:ext uri="{FF2B5EF4-FFF2-40B4-BE49-F238E27FC236}">
                <a16:creationId xmlns:a16="http://schemas.microsoft.com/office/drawing/2014/main" id="{606D4A27-85C3-4D7A-A5D7-711F9EEBA6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7374" y="1174111"/>
            <a:ext cx="2311878" cy="2326327"/>
          </a:xfrm>
          <a:prstGeom prst="rect">
            <a:avLst/>
          </a:prstGeom>
        </p:spPr>
      </p:pic>
      <p:pic>
        <p:nvPicPr>
          <p:cNvPr id="19" name="object 17">
            <a:extLst>
              <a:ext uri="{FF2B5EF4-FFF2-40B4-BE49-F238E27FC236}">
                <a16:creationId xmlns:a16="http://schemas.microsoft.com/office/drawing/2014/main" id="{EFB7236C-8F07-4158-8C09-7B688AD4922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8623" y="3345164"/>
            <a:ext cx="2371750" cy="2451788"/>
          </a:xfrm>
          <a:prstGeom prst="rect">
            <a:avLst/>
          </a:prstGeom>
        </p:spPr>
      </p:pic>
      <p:pic>
        <p:nvPicPr>
          <p:cNvPr id="21" name="object 21">
            <a:extLst>
              <a:ext uri="{FF2B5EF4-FFF2-40B4-BE49-F238E27FC236}">
                <a16:creationId xmlns:a16="http://schemas.microsoft.com/office/drawing/2014/main" id="{447065C4-DDA7-4C5B-AF08-FC6C2835B10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8184" y="4704662"/>
            <a:ext cx="2335632" cy="2268747"/>
          </a:xfrm>
          <a:prstGeom prst="rect">
            <a:avLst/>
          </a:prstGeom>
        </p:spPr>
      </p:pic>
      <p:pic>
        <p:nvPicPr>
          <p:cNvPr id="23" name="object 25">
            <a:extLst>
              <a:ext uri="{FF2B5EF4-FFF2-40B4-BE49-F238E27FC236}">
                <a16:creationId xmlns:a16="http://schemas.microsoft.com/office/drawing/2014/main" id="{CA6AC7FB-14DE-455D-B321-F450B3853B9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10650" y="3345764"/>
            <a:ext cx="2316769" cy="2331019"/>
          </a:xfrm>
          <a:prstGeom prst="rect">
            <a:avLst/>
          </a:prstGeom>
        </p:spPr>
      </p:pic>
      <p:pic>
        <p:nvPicPr>
          <p:cNvPr id="25" name="object 29">
            <a:extLst>
              <a:ext uri="{FF2B5EF4-FFF2-40B4-BE49-F238E27FC236}">
                <a16:creationId xmlns:a16="http://schemas.microsoft.com/office/drawing/2014/main" id="{91BBEFEC-B875-47CE-B20D-CE16FE306A0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66867" y="1154972"/>
            <a:ext cx="2337759" cy="2345466"/>
          </a:xfrm>
          <a:prstGeom prst="rect">
            <a:avLst/>
          </a:prstGeom>
        </p:spPr>
      </p:pic>
      <p:sp>
        <p:nvSpPr>
          <p:cNvPr id="29" name="object 14">
            <a:extLst>
              <a:ext uri="{FF2B5EF4-FFF2-40B4-BE49-F238E27FC236}">
                <a16:creationId xmlns:a16="http://schemas.microsoft.com/office/drawing/2014/main" id="{2720D3AE-9052-4258-9177-FE32137365FA}"/>
              </a:ext>
            </a:extLst>
          </p:cNvPr>
          <p:cNvSpPr txBox="1"/>
          <p:nvPr/>
        </p:nvSpPr>
        <p:spPr>
          <a:xfrm>
            <a:off x="7056408" y="4054409"/>
            <a:ext cx="2027207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s-PE"/>
            </a:defPPr>
            <a:lvl1pPr lvl="0" algn="ctr">
              <a:defRPr sz="2000" b="1">
                <a:solidFill>
                  <a:srgbClr val="002060"/>
                </a:solidFill>
              </a:defRPr>
            </a:lvl1pPr>
          </a:lstStyle>
          <a:p>
            <a:r>
              <a:rPr lang="es-ES" dirty="0"/>
              <a:t>Permite que las metas conflictivas sean especificadas.</a:t>
            </a:r>
            <a:endParaRPr lang="es-VE" dirty="0"/>
          </a:p>
        </p:txBody>
      </p:sp>
      <p:sp>
        <p:nvSpPr>
          <p:cNvPr id="31" name="object 18">
            <a:extLst>
              <a:ext uri="{FF2B5EF4-FFF2-40B4-BE49-F238E27FC236}">
                <a16:creationId xmlns:a16="http://schemas.microsoft.com/office/drawing/2014/main" id="{84DC2BE3-6FFD-463E-9688-BE80E4F6BC2E}"/>
              </a:ext>
            </a:extLst>
          </p:cNvPr>
          <p:cNvSpPr txBox="1"/>
          <p:nvPr/>
        </p:nvSpPr>
        <p:spPr>
          <a:xfrm>
            <a:off x="5054422" y="5490467"/>
            <a:ext cx="2083156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s-PE"/>
            </a:defPPr>
            <a:lvl1pPr lvl="0" algn="ctr">
              <a:defRPr sz="2000" b="1">
                <a:solidFill>
                  <a:srgbClr val="002060"/>
                </a:solidFill>
              </a:defRPr>
            </a:lvl1pPr>
          </a:lstStyle>
          <a:p>
            <a:r>
              <a:rPr lang="es-ES" dirty="0"/>
              <a:t>El modelo se puede resolver usando cualquier método.</a:t>
            </a:r>
            <a:endParaRPr lang="es-VE" dirty="0"/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4019D021-8EC0-4F21-ACCA-D7FD989FD151}"/>
              </a:ext>
            </a:extLst>
          </p:cNvPr>
          <p:cNvSpPr txBox="1"/>
          <p:nvPr/>
        </p:nvSpPr>
        <p:spPr>
          <a:xfrm>
            <a:off x="6228271" y="1889185"/>
            <a:ext cx="2068567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s-PE"/>
            </a:defPPr>
            <a:lvl1pPr lvl="0" algn="ctr">
              <a:defRPr sz="2000" b="1">
                <a:solidFill>
                  <a:srgbClr val="002060"/>
                </a:solidFill>
              </a:defRPr>
            </a:lvl1pPr>
          </a:lstStyle>
          <a:p>
            <a:r>
              <a:rPr lang="es-ES" dirty="0"/>
              <a:t>Maneja problemas con </a:t>
            </a:r>
            <a:r>
              <a:rPr lang="es-ES" dirty="0">
                <a:solidFill>
                  <a:srgbClr val="FF0000"/>
                </a:solidFill>
              </a:rPr>
              <a:t>más de una meta</a:t>
            </a:r>
            <a:r>
              <a:rPr lang="es-ES" dirty="0"/>
              <a:t>.</a:t>
            </a:r>
            <a:endParaRPr lang="es-VE" dirty="0"/>
          </a:p>
        </p:txBody>
      </p:sp>
      <p:sp>
        <p:nvSpPr>
          <p:cNvPr id="35" name="object 26">
            <a:extLst>
              <a:ext uri="{FF2B5EF4-FFF2-40B4-BE49-F238E27FC236}">
                <a16:creationId xmlns:a16="http://schemas.microsoft.com/office/drawing/2014/main" id="{0FA5986E-3CDB-4502-A448-39F6C0AA9571}"/>
              </a:ext>
            </a:extLst>
          </p:cNvPr>
          <p:cNvSpPr txBox="1"/>
          <p:nvPr/>
        </p:nvSpPr>
        <p:spPr>
          <a:xfrm>
            <a:off x="3217650" y="4130619"/>
            <a:ext cx="200436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s-PE"/>
            </a:defPPr>
            <a:lvl1pPr lvl="0" algn="ctr">
              <a:defRPr sz="2000" b="1">
                <a:solidFill>
                  <a:srgbClr val="002060"/>
                </a:solidFill>
              </a:defRPr>
            </a:lvl1pPr>
          </a:lstStyle>
          <a:p>
            <a:r>
              <a:rPr lang="es-VE" dirty="0"/>
              <a:t>Las metas se satisfacen en secuencia ordinal.</a:t>
            </a:r>
          </a:p>
        </p:txBody>
      </p:sp>
      <p:sp>
        <p:nvSpPr>
          <p:cNvPr id="37" name="object 30">
            <a:extLst>
              <a:ext uri="{FF2B5EF4-FFF2-40B4-BE49-F238E27FC236}">
                <a16:creationId xmlns:a16="http://schemas.microsoft.com/office/drawing/2014/main" id="{FF411D8E-D1CF-480A-B012-1FEF58FC54A1}"/>
              </a:ext>
            </a:extLst>
          </p:cNvPr>
          <p:cNvSpPr txBox="1"/>
          <p:nvPr/>
        </p:nvSpPr>
        <p:spPr>
          <a:xfrm>
            <a:off x="4010132" y="1858537"/>
            <a:ext cx="180246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s-PE"/>
            </a:defPPr>
            <a:lvl1pPr lvl="0" algn="ctr">
              <a:defRPr sz="1600" b="1">
                <a:solidFill>
                  <a:srgbClr val="002060"/>
                </a:solidFill>
              </a:defRPr>
            </a:lvl1pPr>
          </a:lstStyle>
          <a:p>
            <a:r>
              <a:rPr lang="es-ES" sz="2000" dirty="0"/>
              <a:t>Busca un nivel satisfactorio de las metas.</a:t>
            </a:r>
            <a:endParaRPr lang="es-VE" sz="2000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8592515-2A09-41E7-B1DA-1EB95A087546}"/>
              </a:ext>
            </a:extLst>
          </p:cNvPr>
          <p:cNvSpPr/>
          <p:nvPr/>
        </p:nvSpPr>
        <p:spPr>
          <a:xfrm>
            <a:off x="5047890" y="2826871"/>
            <a:ext cx="2096219" cy="2122098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600" dirty="0">
              <a:latin typeface="Arial Narrow" panose="020B0606020202030204" pitchFamily="34" charset="0"/>
            </a:endParaRPr>
          </a:p>
        </p:txBody>
      </p:sp>
      <p:sp>
        <p:nvSpPr>
          <p:cNvPr id="39" name="object 8">
            <a:extLst>
              <a:ext uri="{FF2B5EF4-FFF2-40B4-BE49-F238E27FC236}">
                <a16:creationId xmlns:a16="http://schemas.microsoft.com/office/drawing/2014/main" id="{38284326-F7E4-45AD-BB8D-C7C7DDAB4CF2}"/>
              </a:ext>
            </a:extLst>
          </p:cNvPr>
          <p:cNvSpPr txBox="1"/>
          <p:nvPr/>
        </p:nvSpPr>
        <p:spPr>
          <a:xfrm>
            <a:off x="5048408" y="3408998"/>
            <a:ext cx="2113472" cy="709297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indent="-635" algn="ctr">
              <a:lnSpc>
                <a:spcPct val="89400"/>
              </a:lnSpc>
              <a:spcBef>
                <a:spcPts val="405"/>
              </a:spcBef>
            </a:pPr>
            <a:r>
              <a:rPr lang="es-PE" sz="2400" dirty="0">
                <a:solidFill>
                  <a:srgbClr val="002060"/>
                </a:solidFill>
                <a:latin typeface="Bauhaus 93" pitchFamily="82" charset="0"/>
              </a:rPr>
              <a:t>Programación por metas</a:t>
            </a:r>
            <a:endParaRPr lang="es-ES" sz="2400" b="1" spc="-140" dirty="0">
              <a:solidFill>
                <a:srgbClr val="002060"/>
              </a:solidFill>
              <a:latin typeface="Tahoma"/>
              <a:cs typeface="Tahoma"/>
            </a:endParaRPr>
          </a:p>
        </p:txBody>
      </p:sp>
      <p:sp>
        <p:nvSpPr>
          <p:cNvPr id="40" name="1 Título">
            <a:extLst>
              <a:ext uri="{FF2B5EF4-FFF2-40B4-BE49-F238E27FC236}">
                <a16:creationId xmlns:a16="http://schemas.microsoft.com/office/drawing/2014/main" id="{7A983510-B619-4A19-A3A1-376B58FBB694}"/>
              </a:ext>
            </a:extLst>
          </p:cNvPr>
          <p:cNvSpPr txBox="1">
            <a:spLocks/>
          </p:cNvSpPr>
          <p:nvPr/>
        </p:nvSpPr>
        <p:spPr>
          <a:xfrm>
            <a:off x="6096000" y="240399"/>
            <a:ext cx="6096000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VE" sz="320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Características</a:t>
            </a:r>
            <a:endParaRPr lang="es-VE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1E92116-FE16-4F3E-B92F-8D39ED94754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468" y="4100541"/>
            <a:ext cx="967064" cy="608620"/>
          </a:xfrm>
          <a:prstGeom prst="rect">
            <a:avLst/>
          </a:prstGeom>
          <a:solidFill>
            <a:srgbClr val="FFFF00"/>
          </a:solidFill>
        </p:spPr>
      </p:pic>
    </p:spTree>
    <p:extLst>
      <p:ext uri="{BB962C8B-B14F-4D97-AF65-F5344CB8AC3E}">
        <p14:creationId xmlns:p14="http://schemas.microsoft.com/office/powerpoint/2010/main" val="20496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3" grpId="0"/>
      <p:bldP spid="35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 txBox="1">
            <a:spLocks/>
          </p:cNvSpPr>
          <p:nvPr/>
        </p:nvSpPr>
        <p:spPr>
          <a:xfrm>
            <a:off x="6096000" y="231506"/>
            <a:ext cx="6095999" cy="562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Definiciones básicas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E148190-C3D1-4093-87E8-47A5C61296E6}"/>
              </a:ext>
            </a:extLst>
          </p:cNvPr>
          <p:cNvSpPr/>
          <p:nvPr/>
        </p:nvSpPr>
        <p:spPr>
          <a:xfrm>
            <a:off x="751307" y="1538470"/>
            <a:ext cx="10716520" cy="5011804"/>
          </a:xfrm>
          <a:prstGeom prst="rect">
            <a:avLst/>
          </a:prstGeom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207E1BC-E6C2-47D0-B176-117F0566F8BB}"/>
              </a:ext>
            </a:extLst>
          </p:cNvPr>
          <p:cNvSpPr/>
          <p:nvPr/>
        </p:nvSpPr>
        <p:spPr>
          <a:xfrm>
            <a:off x="4670895" y="5778803"/>
            <a:ext cx="6429912" cy="770858"/>
          </a:xfrm>
          <a:custGeom>
            <a:avLst/>
            <a:gdLst>
              <a:gd name="connsiteX0" fmla="*/ 0 w 6429912"/>
              <a:gd name="connsiteY0" fmla="*/ 96357 h 770858"/>
              <a:gd name="connsiteX1" fmla="*/ 6044483 w 6429912"/>
              <a:gd name="connsiteY1" fmla="*/ 96357 h 770858"/>
              <a:gd name="connsiteX2" fmla="*/ 6044483 w 6429912"/>
              <a:gd name="connsiteY2" fmla="*/ 0 h 770858"/>
              <a:gd name="connsiteX3" fmla="*/ 6429912 w 6429912"/>
              <a:gd name="connsiteY3" fmla="*/ 385429 h 770858"/>
              <a:gd name="connsiteX4" fmla="*/ 6044483 w 6429912"/>
              <a:gd name="connsiteY4" fmla="*/ 770858 h 770858"/>
              <a:gd name="connsiteX5" fmla="*/ 6044483 w 6429912"/>
              <a:gd name="connsiteY5" fmla="*/ 674501 h 770858"/>
              <a:gd name="connsiteX6" fmla="*/ 0 w 6429912"/>
              <a:gd name="connsiteY6" fmla="*/ 674501 h 770858"/>
              <a:gd name="connsiteX7" fmla="*/ 0 w 6429912"/>
              <a:gd name="connsiteY7" fmla="*/ 96357 h 7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29912" h="770858">
                <a:moveTo>
                  <a:pt x="0" y="96357"/>
                </a:moveTo>
                <a:lnTo>
                  <a:pt x="6044483" y="96357"/>
                </a:lnTo>
                <a:lnTo>
                  <a:pt x="6044483" y="0"/>
                </a:lnTo>
                <a:lnTo>
                  <a:pt x="6429912" y="385429"/>
                </a:lnTo>
                <a:lnTo>
                  <a:pt x="6044483" y="770858"/>
                </a:lnTo>
                <a:lnTo>
                  <a:pt x="6044483" y="674501"/>
                </a:lnTo>
                <a:lnTo>
                  <a:pt x="0" y="674501"/>
                </a:lnTo>
                <a:lnTo>
                  <a:pt x="0" y="9635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scene3d>
            <a:camera prst="orthographicFront"/>
            <a:lightRig rig="threePt" dir="t">
              <a:rot lat="0" lon="0" rev="7500000"/>
            </a:lightRig>
          </a:scene3d>
          <a:sp3d z="-152400" extrusionH="63500" prstMaterial="dkEdge">
            <a:bevelT w="144450" h="36350" prst="relaxedInset"/>
            <a:contourClr>
              <a:schemeClr val="bg1"/>
            </a:contourClr>
          </a:sp3d>
        </p:spPr>
        <p:style>
          <a:lnRef idx="1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970" tIns="110327" rIns="303042" bIns="110327" numCol="1" spcCol="1270" anchor="t" anchorCtr="0">
            <a:noAutofit/>
          </a:bodyPr>
          <a:lstStyle/>
          <a:p>
            <a:pPr marL="228600" lvl="1" indent="-228600" algn="l" defTabSz="977900" eaLnBrk="1" latinLnBrk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VE" sz="2200" kern="1200" dirty="0"/>
              <a:t>Es aquella que puede ser no óptima respecto a todos los objetivos conflictivos del problema.</a:t>
            </a:r>
          </a:p>
          <a:p>
            <a:pPr marL="228600" lvl="1" indent="-228600" algn="l" defTabSz="9779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s-VE" sz="2200" kern="1200" dirty="0"/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5D96EB83-4587-4D61-9D2A-84ADB428DF40}"/>
              </a:ext>
            </a:extLst>
          </p:cNvPr>
          <p:cNvSpPr/>
          <p:nvPr/>
        </p:nvSpPr>
        <p:spPr>
          <a:xfrm>
            <a:off x="1118326" y="5778803"/>
            <a:ext cx="3552569" cy="770858"/>
          </a:xfrm>
          <a:custGeom>
            <a:avLst/>
            <a:gdLst>
              <a:gd name="connsiteX0" fmla="*/ 0 w 3552569"/>
              <a:gd name="connsiteY0" fmla="*/ 128479 h 770858"/>
              <a:gd name="connsiteX1" fmla="*/ 128479 w 3552569"/>
              <a:gd name="connsiteY1" fmla="*/ 0 h 770858"/>
              <a:gd name="connsiteX2" fmla="*/ 3424090 w 3552569"/>
              <a:gd name="connsiteY2" fmla="*/ 0 h 770858"/>
              <a:gd name="connsiteX3" fmla="*/ 3552569 w 3552569"/>
              <a:gd name="connsiteY3" fmla="*/ 128479 h 770858"/>
              <a:gd name="connsiteX4" fmla="*/ 3552569 w 3552569"/>
              <a:gd name="connsiteY4" fmla="*/ 642379 h 770858"/>
              <a:gd name="connsiteX5" fmla="*/ 3424090 w 3552569"/>
              <a:gd name="connsiteY5" fmla="*/ 770858 h 770858"/>
              <a:gd name="connsiteX6" fmla="*/ 128479 w 3552569"/>
              <a:gd name="connsiteY6" fmla="*/ 770858 h 770858"/>
              <a:gd name="connsiteX7" fmla="*/ 0 w 3552569"/>
              <a:gd name="connsiteY7" fmla="*/ 642379 h 770858"/>
              <a:gd name="connsiteX8" fmla="*/ 0 w 3552569"/>
              <a:gd name="connsiteY8" fmla="*/ 128479 h 7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2569" h="770858">
                <a:moveTo>
                  <a:pt x="0" y="128479"/>
                </a:moveTo>
                <a:cubicBezTo>
                  <a:pt x="0" y="57522"/>
                  <a:pt x="57522" y="0"/>
                  <a:pt x="128479" y="0"/>
                </a:cubicBezTo>
                <a:lnTo>
                  <a:pt x="3424090" y="0"/>
                </a:lnTo>
                <a:cubicBezTo>
                  <a:pt x="3495047" y="0"/>
                  <a:pt x="3552569" y="57522"/>
                  <a:pt x="3552569" y="128479"/>
                </a:cubicBezTo>
                <a:lnTo>
                  <a:pt x="3552569" y="642379"/>
                </a:lnTo>
                <a:cubicBezTo>
                  <a:pt x="3552569" y="713336"/>
                  <a:pt x="3495047" y="770858"/>
                  <a:pt x="3424090" y="770858"/>
                </a:cubicBezTo>
                <a:lnTo>
                  <a:pt x="128479" y="770858"/>
                </a:lnTo>
                <a:cubicBezTo>
                  <a:pt x="57522" y="770858"/>
                  <a:pt x="0" y="713336"/>
                  <a:pt x="0" y="642379"/>
                </a:cubicBezTo>
                <a:lnTo>
                  <a:pt x="0" y="128479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450" tIns="79540" rIns="121450" bIns="7954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200" b="1" kern="1200" dirty="0"/>
              <a:t>Solución eficiente:</a:t>
            </a: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8DE0A3CE-6D29-418A-911D-0AE37DB3665F}"/>
              </a:ext>
            </a:extLst>
          </p:cNvPr>
          <p:cNvSpPr/>
          <p:nvPr/>
        </p:nvSpPr>
        <p:spPr>
          <a:xfrm>
            <a:off x="4670895" y="4930859"/>
            <a:ext cx="6429912" cy="770858"/>
          </a:xfrm>
          <a:custGeom>
            <a:avLst/>
            <a:gdLst>
              <a:gd name="connsiteX0" fmla="*/ 0 w 6429912"/>
              <a:gd name="connsiteY0" fmla="*/ 96357 h 770858"/>
              <a:gd name="connsiteX1" fmla="*/ 6044483 w 6429912"/>
              <a:gd name="connsiteY1" fmla="*/ 96357 h 770858"/>
              <a:gd name="connsiteX2" fmla="*/ 6044483 w 6429912"/>
              <a:gd name="connsiteY2" fmla="*/ 0 h 770858"/>
              <a:gd name="connsiteX3" fmla="*/ 6429912 w 6429912"/>
              <a:gd name="connsiteY3" fmla="*/ 385429 h 770858"/>
              <a:gd name="connsiteX4" fmla="*/ 6044483 w 6429912"/>
              <a:gd name="connsiteY4" fmla="*/ 770858 h 770858"/>
              <a:gd name="connsiteX5" fmla="*/ 6044483 w 6429912"/>
              <a:gd name="connsiteY5" fmla="*/ 674501 h 770858"/>
              <a:gd name="connsiteX6" fmla="*/ 0 w 6429912"/>
              <a:gd name="connsiteY6" fmla="*/ 674501 h 770858"/>
              <a:gd name="connsiteX7" fmla="*/ 0 w 6429912"/>
              <a:gd name="connsiteY7" fmla="*/ 96357 h 7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29912" h="770858">
                <a:moveTo>
                  <a:pt x="0" y="96357"/>
                </a:moveTo>
                <a:lnTo>
                  <a:pt x="6044483" y="96357"/>
                </a:lnTo>
                <a:lnTo>
                  <a:pt x="6044483" y="0"/>
                </a:lnTo>
                <a:lnTo>
                  <a:pt x="6429912" y="385429"/>
                </a:lnTo>
                <a:lnTo>
                  <a:pt x="6044483" y="770858"/>
                </a:lnTo>
                <a:lnTo>
                  <a:pt x="6044483" y="674501"/>
                </a:lnTo>
                <a:lnTo>
                  <a:pt x="0" y="674501"/>
                </a:lnTo>
                <a:lnTo>
                  <a:pt x="0" y="96357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scene3d>
            <a:camera prst="orthographicFront"/>
            <a:lightRig rig="threePt" dir="t">
              <a:rot lat="0" lon="0" rev="7500000"/>
            </a:lightRig>
          </a:scene3d>
          <a:sp3d z="-152400" extrusionH="63500" prstMaterial="dkEdge">
            <a:bevelT w="144450" h="36350" prst="relaxedInset"/>
            <a:contourClr>
              <a:schemeClr val="bg1"/>
            </a:contourClr>
          </a:sp3d>
        </p:spPr>
        <p:style>
          <a:lnRef idx="1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970" tIns="110327" rIns="303042" bIns="110327" numCol="1" spcCol="1270" anchor="t" anchorCtr="0">
            <a:noAutofit/>
          </a:bodyPr>
          <a:lstStyle/>
          <a:p>
            <a:pPr marL="228600" lvl="1" indent="-228600" algn="l" defTabSz="9779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VE" sz="2200" kern="1200" dirty="0"/>
              <a:t>Valor relativo que se usa para representar insatisfacción en el logro de las metas. </a:t>
            </a:r>
          </a:p>
        </p:txBody>
      </p:sp>
      <p:sp>
        <p:nvSpPr>
          <p:cNvPr id="21" name="Forma libre: forma 20">
            <a:extLst>
              <a:ext uri="{FF2B5EF4-FFF2-40B4-BE49-F238E27FC236}">
                <a16:creationId xmlns:a16="http://schemas.microsoft.com/office/drawing/2014/main" id="{ACBD6893-31F8-4980-B3DE-A859374F50AD}"/>
              </a:ext>
            </a:extLst>
          </p:cNvPr>
          <p:cNvSpPr/>
          <p:nvPr/>
        </p:nvSpPr>
        <p:spPr>
          <a:xfrm>
            <a:off x="1118326" y="4930859"/>
            <a:ext cx="3552569" cy="770858"/>
          </a:xfrm>
          <a:custGeom>
            <a:avLst/>
            <a:gdLst>
              <a:gd name="connsiteX0" fmla="*/ 0 w 3552569"/>
              <a:gd name="connsiteY0" fmla="*/ 128479 h 770858"/>
              <a:gd name="connsiteX1" fmla="*/ 128479 w 3552569"/>
              <a:gd name="connsiteY1" fmla="*/ 0 h 770858"/>
              <a:gd name="connsiteX2" fmla="*/ 3424090 w 3552569"/>
              <a:gd name="connsiteY2" fmla="*/ 0 h 770858"/>
              <a:gd name="connsiteX3" fmla="*/ 3552569 w 3552569"/>
              <a:gd name="connsiteY3" fmla="*/ 128479 h 770858"/>
              <a:gd name="connsiteX4" fmla="*/ 3552569 w 3552569"/>
              <a:gd name="connsiteY4" fmla="*/ 642379 h 770858"/>
              <a:gd name="connsiteX5" fmla="*/ 3424090 w 3552569"/>
              <a:gd name="connsiteY5" fmla="*/ 770858 h 770858"/>
              <a:gd name="connsiteX6" fmla="*/ 128479 w 3552569"/>
              <a:gd name="connsiteY6" fmla="*/ 770858 h 770858"/>
              <a:gd name="connsiteX7" fmla="*/ 0 w 3552569"/>
              <a:gd name="connsiteY7" fmla="*/ 642379 h 770858"/>
              <a:gd name="connsiteX8" fmla="*/ 0 w 3552569"/>
              <a:gd name="connsiteY8" fmla="*/ 128479 h 7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2569" h="770858">
                <a:moveTo>
                  <a:pt x="0" y="128479"/>
                </a:moveTo>
                <a:cubicBezTo>
                  <a:pt x="0" y="57522"/>
                  <a:pt x="57522" y="0"/>
                  <a:pt x="128479" y="0"/>
                </a:cubicBezTo>
                <a:lnTo>
                  <a:pt x="3424090" y="0"/>
                </a:lnTo>
                <a:cubicBezTo>
                  <a:pt x="3495047" y="0"/>
                  <a:pt x="3552569" y="57522"/>
                  <a:pt x="3552569" y="128479"/>
                </a:cubicBezTo>
                <a:lnTo>
                  <a:pt x="3552569" y="642379"/>
                </a:lnTo>
                <a:cubicBezTo>
                  <a:pt x="3552569" y="713336"/>
                  <a:pt x="3495047" y="770858"/>
                  <a:pt x="3424090" y="770858"/>
                </a:cubicBezTo>
                <a:lnTo>
                  <a:pt x="128479" y="770858"/>
                </a:lnTo>
                <a:cubicBezTo>
                  <a:pt x="57522" y="770858"/>
                  <a:pt x="0" y="713336"/>
                  <a:pt x="0" y="642379"/>
                </a:cubicBezTo>
                <a:lnTo>
                  <a:pt x="0" y="12847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450" tIns="79540" rIns="121450" bIns="7954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200" b="1" kern="1200" dirty="0"/>
              <a:t>Penalización:</a:t>
            </a:r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A47136BA-A62C-4219-A95C-9DD69684D2A0}"/>
              </a:ext>
            </a:extLst>
          </p:cNvPr>
          <p:cNvSpPr/>
          <p:nvPr/>
        </p:nvSpPr>
        <p:spPr>
          <a:xfrm>
            <a:off x="4670895" y="4082914"/>
            <a:ext cx="6429912" cy="770858"/>
          </a:xfrm>
          <a:custGeom>
            <a:avLst/>
            <a:gdLst>
              <a:gd name="connsiteX0" fmla="*/ 0 w 6429912"/>
              <a:gd name="connsiteY0" fmla="*/ 96357 h 770858"/>
              <a:gd name="connsiteX1" fmla="*/ 6044483 w 6429912"/>
              <a:gd name="connsiteY1" fmla="*/ 96357 h 770858"/>
              <a:gd name="connsiteX2" fmla="*/ 6044483 w 6429912"/>
              <a:gd name="connsiteY2" fmla="*/ 0 h 770858"/>
              <a:gd name="connsiteX3" fmla="*/ 6429912 w 6429912"/>
              <a:gd name="connsiteY3" fmla="*/ 385429 h 770858"/>
              <a:gd name="connsiteX4" fmla="*/ 6044483 w 6429912"/>
              <a:gd name="connsiteY4" fmla="*/ 770858 h 770858"/>
              <a:gd name="connsiteX5" fmla="*/ 6044483 w 6429912"/>
              <a:gd name="connsiteY5" fmla="*/ 674501 h 770858"/>
              <a:gd name="connsiteX6" fmla="*/ 0 w 6429912"/>
              <a:gd name="connsiteY6" fmla="*/ 674501 h 770858"/>
              <a:gd name="connsiteX7" fmla="*/ 0 w 6429912"/>
              <a:gd name="connsiteY7" fmla="*/ 96357 h 7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29912" h="770858">
                <a:moveTo>
                  <a:pt x="0" y="96357"/>
                </a:moveTo>
                <a:lnTo>
                  <a:pt x="6044483" y="96357"/>
                </a:lnTo>
                <a:lnTo>
                  <a:pt x="6044483" y="0"/>
                </a:lnTo>
                <a:lnTo>
                  <a:pt x="6429912" y="385429"/>
                </a:lnTo>
                <a:lnTo>
                  <a:pt x="6044483" y="770858"/>
                </a:lnTo>
                <a:lnTo>
                  <a:pt x="6044483" y="674501"/>
                </a:lnTo>
                <a:lnTo>
                  <a:pt x="0" y="674501"/>
                </a:lnTo>
                <a:lnTo>
                  <a:pt x="0" y="96357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scene3d>
            <a:camera prst="orthographicFront"/>
            <a:lightRig rig="threePt" dir="t">
              <a:rot lat="0" lon="0" rev="7500000"/>
            </a:lightRig>
          </a:scene3d>
          <a:sp3d z="-152400" extrusionH="63500" prstMaterial="dkEdge">
            <a:bevelT w="144450" h="36350" prst="relaxedInset"/>
            <a:contourClr>
              <a:schemeClr val="bg1"/>
            </a:contourClr>
          </a:sp3d>
        </p:spPr>
        <p:style>
          <a:lnRef idx="1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970" tIns="110327" rIns="303042" bIns="110327" numCol="1" spcCol="1270" anchor="t" anchorCtr="0">
            <a:noAutofit/>
          </a:bodyPr>
          <a:lstStyle/>
          <a:p>
            <a:pPr marL="228600" lvl="1" indent="-228600" algn="l" defTabSz="9779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VE" sz="2200" kern="1200" dirty="0"/>
              <a:t>Importancia subjetiva ordinal para clasificar las metas. </a:t>
            </a:r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A5A4C9EF-2CB0-4987-8138-BAC44DCD33D5}"/>
              </a:ext>
            </a:extLst>
          </p:cNvPr>
          <p:cNvSpPr/>
          <p:nvPr/>
        </p:nvSpPr>
        <p:spPr>
          <a:xfrm>
            <a:off x="1118326" y="4082914"/>
            <a:ext cx="3552569" cy="770858"/>
          </a:xfrm>
          <a:custGeom>
            <a:avLst/>
            <a:gdLst>
              <a:gd name="connsiteX0" fmla="*/ 0 w 3552569"/>
              <a:gd name="connsiteY0" fmla="*/ 128479 h 770858"/>
              <a:gd name="connsiteX1" fmla="*/ 128479 w 3552569"/>
              <a:gd name="connsiteY1" fmla="*/ 0 h 770858"/>
              <a:gd name="connsiteX2" fmla="*/ 3424090 w 3552569"/>
              <a:gd name="connsiteY2" fmla="*/ 0 h 770858"/>
              <a:gd name="connsiteX3" fmla="*/ 3552569 w 3552569"/>
              <a:gd name="connsiteY3" fmla="*/ 128479 h 770858"/>
              <a:gd name="connsiteX4" fmla="*/ 3552569 w 3552569"/>
              <a:gd name="connsiteY4" fmla="*/ 642379 h 770858"/>
              <a:gd name="connsiteX5" fmla="*/ 3424090 w 3552569"/>
              <a:gd name="connsiteY5" fmla="*/ 770858 h 770858"/>
              <a:gd name="connsiteX6" fmla="*/ 128479 w 3552569"/>
              <a:gd name="connsiteY6" fmla="*/ 770858 h 770858"/>
              <a:gd name="connsiteX7" fmla="*/ 0 w 3552569"/>
              <a:gd name="connsiteY7" fmla="*/ 642379 h 770858"/>
              <a:gd name="connsiteX8" fmla="*/ 0 w 3552569"/>
              <a:gd name="connsiteY8" fmla="*/ 128479 h 7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2569" h="770858">
                <a:moveTo>
                  <a:pt x="0" y="128479"/>
                </a:moveTo>
                <a:cubicBezTo>
                  <a:pt x="0" y="57522"/>
                  <a:pt x="57522" y="0"/>
                  <a:pt x="128479" y="0"/>
                </a:cubicBezTo>
                <a:lnTo>
                  <a:pt x="3424090" y="0"/>
                </a:lnTo>
                <a:cubicBezTo>
                  <a:pt x="3495047" y="0"/>
                  <a:pt x="3552569" y="57522"/>
                  <a:pt x="3552569" y="128479"/>
                </a:cubicBezTo>
                <a:lnTo>
                  <a:pt x="3552569" y="642379"/>
                </a:lnTo>
                <a:cubicBezTo>
                  <a:pt x="3552569" y="713336"/>
                  <a:pt x="3495047" y="770858"/>
                  <a:pt x="3424090" y="770858"/>
                </a:cubicBezTo>
                <a:lnTo>
                  <a:pt x="128479" y="770858"/>
                </a:lnTo>
                <a:cubicBezTo>
                  <a:pt x="57522" y="770858"/>
                  <a:pt x="0" y="713336"/>
                  <a:pt x="0" y="642379"/>
                </a:cubicBezTo>
                <a:lnTo>
                  <a:pt x="0" y="128479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450" tIns="79540" rIns="121450" bIns="7954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200" b="1" kern="1200" dirty="0"/>
              <a:t>Prioridades:</a:t>
            </a:r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64D761B3-49EA-44FE-8982-4394DE5FE67F}"/>
              </a:ext>
            </a:extLst>
          </p:cNvPr>
          <p:cNvSpPr/>
          <p:nvPr/>
        </p:nvSpPr>
        <p:spPr>
          <a:xfrm>
            <a:off x="4627764" y="3200466"/>
            <a:ext cx="6465807" cy="845324"/>
          </a:xfrm>
          <a:custGeom>
            <a:avLst/>
            <a:gdLst>
              <a:gd name="connsiteX0" fmla="*/ 0 w 6429912"/>
              <a:gd name="connsiteY0" fmla="*/ 96357 h 770858"/>
              <a:gd name="connsiteX1" fmla="*/ 6044483 w 6429912"/>
              <a:gd name="connsiteY1" fmla="*/ 96357 h 770858"/>
              <a:gd name="connsiteX2" fmla="*/ 6044483 w 6429912"/>
              <a:gd name="connsiteY2" fmla="*/ 0 h 770858"/>
              <a:gd name="connsiteX3" fmla="*/ 6429912 w 6429912"/>
              <a:gd name="connsiteY3" fmla="*/ 385429 h 770858"/>
              <a:gd name="connsiteX4" fmla="*/ 6044483 w 6429912"/>
              <a:gd name="connsiteY4" fmla="*/ 770858 h 770858"/>
              <a:gd name="connsiteX5" fmla="*/ 6044483 w 6429912"/>
              <a:gd name="connsiteY5" fmla="*/ 674501 h 770858"/>
              <a:gd name="connsiteX6" fmla="*/ 0 w 6429912"/>
              <a:gd name="connsiteY6" fmla="*/ 674501 h 770858"/>
              <a:gd name="connsiteX7" fmla="*/ 0 w 6429912"/>
              <a:gd name="connsiteY7" fmla="*/ 96357 h 7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29912" h="770858">
                <a:moveTo>
                  <a:pt x="0" y="96357"/>
                </a:moveTo>
                <a:lnTo>
                  <a:pt x="6044483" y="96357"/>
                </a:lnTo>
                <a:lnTo>
                  <a:pt x="6044483" y="0"/>
                </a:lnTo>
                <a:lnTo>
                  <a:pt x="6429912" y="385429"/>
                </a:lnTo>
                <a:lnTo>
                  <a:pt x="6044483" y="770858"/>
                </a:lnTo>
                <a:lnTo>
                  <a:pt x="6044483" y="674501"/>
                </a:lnTo>
                <a:lnTo>
                  <a:pt x="0" y="674501"/>
                </a:lnTo>
                <a:lnTo>
                  <a:pt x="0" y="96357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scene3d>
            <a:camera prst="orthographicFront"/>
            <a:lightRig rig="threePt" dir="t">
              <a:rot lat="0" lon="0" rev="7500000"/>
            </a:lightRig>
          </a:scene3d>
          <a:sp3d z="-152400" extrusionH="63500" prstMaterial="dkEdge">
            <a:bevelT w="144450" h="36350" prst="relaxedInset"/>
            <a:contourClr>
              <a:schemeClr val="bg1"/>
            </a:contourClr>
          </a:sp3d>
        </p:spPr>
        <p:style>
          <a:lnRef idx="1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970" tIns="110327" rIns="303042" bIns="110327" numCol="1" spcCol="1270" anchor="t" anchorCtr="0">
            <a:noAutofit/>
          </a:bodyPr>
          <a:lstStyle/>
          <a:p>
            <a:pPr marL="228600" lvl="1" indent="-228600" algn="l" defTabSz="9779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VE" sz="2200" kern="1200" dirty="0"/>
              <a:t>Desviaciones por debajo (D) y </a:t>
            </a:r>
          </a:p>
          <a:p>
            <a:pPr marL="228600" lvl="1" indent="-228600" algn="l" defTabSz="9779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VE" sz="2200" kern="1200" dirty="0"/>
              <a:t>Desviaciones por encima(E) del lado derecho. </a:t>
            </a:r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7E109A22-D0E9-429B-B231-4F07CCD4C57F}"/>
              </a:ext>
            </a:extLst>
          </p:cNvPr>
          <p:cNvSpPr/>
          <p:nvPr/>
        </p:nvSpPr>
        <p:spPr>
          <a:xfrm>
            <a:off x="1118326" y="3234970"/>
            <a:ext cx="3552569" cy="770858"/>
          </a:xfrm>
          <a:custGeom>
            <a:avLst/>
            <a:gdLst>
              <a:gd name="connsiteX0" fmla="*/ 0 w 3552569"/>
              <a:gd name="connsiteY0" fmla="*/ 128479 h 770858"/>
              <a:gd name="connsiteX1" fmla="*/ 128479 w 3552569"/>
              <a:gd name="connsiteY1" fmla="*/ 0 h 770858"/>
              <a:gd name="connsiteX2" fmla="*/ 3424090 w 3552569"/>
              <a:gd name="connsiteY2" fmla="*/ 0 h 770858"/>
              <a:gd name="connsiteX3" fmla="*/ 3552569 w 3552569"/>
              <a:gd name="connsiteY3" fmla="*/ 128479 h 770858"/>
              <a:gd name="connsiteX4" fmla="*/ 3552569 w 3552569"/>
              <a:gd name="connsiteY4" fmla="*/ 642379 h 770858"/>
              <a:gd name="connsiteX5" fmla="*/ 3424090 w 3552569"/>
              <a:gd name="connsiteY5" fmla="*/ 770858 h 770858"/>
              <a:gd name="connsiteX6" fmla="*/ 128479 w 3552569"/>
              <a:gd name="connsiteY6" fmla="*/ 770858 h 770858"/>
              <a:gd name="connsiteX7" fmla="*/ 0 w 3552569"/>
              <a:gd name="connsiteY7" fmla="*/ 642379 h 770858"/>
              <a:gd name="connsiteX8" fmla="*/ 0 w 3552569"/>
              <a:gd name="connsiteY8" fmla="*/ 128479 h 7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2569" h="770858">
                <a:moveTo>
                  <a:pt x="0" y="128479"/>
                </a:moveTo>
                <a:cubicBezTo>
                  <a:pt x="0" y="57522"/>
                  <a:pt x="57522" y="0"/>
                  <a:pt x="128479" y="0"/>
                </a:cubicBezTo>
                <a:lnTo>
                  <a:pt x="3424090" y="0"/>
                </a:lnTo>
                <a:cubicBezTo>
                  <a:pt x="3495047" y="0"/>
                  <a:pt x="3552569" y="57522"/>
                  <a:pt x="3552569" y="128479"/>
                </a:cubicBezTo>
                <a:lnTo>
                  <a:pt x="3552569" y="642379"/>
                </a:lnTo>
                <a:cubicBezTo>
                  <a:pt x="3552569" y="713336"/>
                  <a:pt x="3495047" y="770858"/>
                  <a:pt x="3424090" y="770858"/>
                </a:cubicBezTo>
                <a:lnTo>
                  <a:pt x="128479" y="770858"/>
                </a:lnTo>
                <a:cubicBezTo>
                  <a:pt x="57522" y="770858"/>
                  <a:pt x="0" y="713336"/>
                  <a:pt x="0" y="642379"/>
                </a:cubicBezTo>
                <a:lnTo>
                  <a:pt x="0" y="128479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450" tIns="79540" rIns="121450" bIns="79540" numCol="1" spcCol="1270" anchor="ctr" anchorCtr="0">
            <a:noAutofit/>
          </a:bodyPr>
          <a:lstStyle/>
          <a:p>
            <a:pPr lvl="0" algn="ctr" defTabSz="711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s-VE" sz="2200" b="1" kern="1200" dirty="0"/>
              <a:t>Variables </a:t>
            </a:r>
            <a:r>
              <a:rPr lang="es-VE" sz="2200" b="1" kern="1200" dirty="0" err="1"/>
              <a:t>desviacionales</a:t>
            </a:r>
            <a:r>
              <a:rPr lang="es-VE" sz="2200" b="1" kern="1200" dirty="0"/>
              <a:t>:</a:t>
            </a:r>
          </a:p>
        </p:txBody>
      </p:sp>
      <p:sp>
        <p:nvSpPr>
          <p:cNvPr id="26" name="Forma libre: forma 25">
            <a:extLst>
              <a:ext uri="{FF2B5EF4-FFF2-40B4-BE49-F238E27FC236}">
                <a16:creationId xmlns:a16="http://schemas.microsoft.com/office/drawing/2014/main" id="{85759D45-4F06-4D74-B6AD-94F314DFD343}"/>
              </a:ext>
            </a:extLst>
          </p:cNvPr>
          <p:cNvSpPr/>
          <p:nvPr/>
        </p:nvSpPr>
        <p:spPr>
          <a:xfrm>
            <a:off x="4654285" y="2387026"/>
            <a:ext cx="6429912" cy="770858"/>
          </a:xfrm>
          <a:custGeom>
            <a:avLst/>
            <a:gdLst>
              <a:gd name="connsiteX0" fmla="*/ 0 w 6429912"/>
              <a:gd name="connsiteY0" fmla="*/ 96357 h 770858"/>
              <a:gd name="connsiteX1" fmla="*/ 6044483 w 6429912"/>
              <a:gd name="connsiteY1" fmla="*/ 96357 h 770858"/>
              <a:gd name="connsiteX2" fmla="*/ 6044483 w 6429912"/>
              <a:gd name="connsiteY2" fmla="*/ 0 h 770858"/>
              <a:gd name="connsiteX3" fmla="*/ 6429912 w 6429912"/>
              <a:gd name="connsiteY3" fmla="*/ 385429 h 770858"/>
              <a:gd name="connsiteX4" fmla="*/ 6044483 w 6429912"/>
              <a:gd name="connsiteY4" fmla="*/ 770858 h 770858"/>
              <a:gd name="connsiteX5" fmla="*/ 6044483 w 6429912"/>
              <a:gd name="connsiteY5" fmla="*/ 674501 h 770858"/>
              <a:gd name="connsiteX6" fmla="*/ 0 w 6429912"/>
              <a:gd name="connsiteY6" fmla="*/ 674501 h 770858"/>
              <a:gd name="connsiteX7" fmla="*/ 0 w 6429912"/>
              <a:gd name="connsiteY7" fmla="*/ 96357 h 7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29912" h="770858">
                <a:moveTo>
                  <a:pt x="0" y="96357"/>
                </a:moveTo>
                <a:lnTo>
                  <a:pt x="6044483" y="96357"/>
                </a:lnTo>
                <a:lnTo>
                  <a:pt x="6044483" y="0"/>
                </a:lnTo>
                <a:lnTo>
                  <a:pt x="6429912" y="385429"/>
                </a:lnTo>
                <a:lnTo>
                  <a:pt x="6044483" y="770858"/>
                </a:lnTo>
                <a:lnTo>
                  <a:pt x="6044483" y="674501"/>
                </a:lnTo>
                <a:lnTo>
                  <a:pt x="0" y="674501"/>
                </a:lnTo>
                <a:lnTo>
                  <a:pt x="0" y="96357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scene3d>
            <a:camera prst="orthographicFront"/>
            <a:lightRig rig="threePt" dir="t">
              <a:rot lat="0" lon="0" rev="7500000"/>
            </a:lightRig>
          </a:scene3d>
          <a:sp3d z="-152400" extrusionH="63500" prstMaterial="dkEdge">
            <a:bevelT w="144450" h="36350" prst="relaxedInset"/>
            <a:contourClr>
              <a:schemeClr val="bg1"/>
            </a:contourClr>
          </a:sp3d>
        </p:spPr>
        <p:style>
          <a:lnRef idx="1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970" tIns="110327" rIns="303042" bIns="110327" numCol="1" spcCol="1270" anchor="t" anchorCtr="0">
            <a:noAutofit/>
          </a:bodyPr>
          <a:lstStyle/>
          <a:p>
            <a:pPr marL="228600" lvl="1" indent="-228600" algn="l" defTabSz="9779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VE" sz="2200" kern="1200" dirty="0"/>
              <a:t>Objetivo numérico establecido para un fin.</a:t>
            </a:r>
          </a:p>
        </p:txBody>
      </p: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4D216FA4-60B9-41A0-97F3-C546F0B3FA12}"/>
              </a:ext>
            </a:extLst>
          </p:cNvPr>
          <p:cNvSpPr/>
          <p:nvPr/>
        </p:nvSpPr>
        <p:spPr>
          <a:xfrm>
            <a:off x="1134936" y="2387026"/>
            <a:ext cx="3519348" cy="770858"/>
          </a:xfrm>
          <a:custGeom>
            <a:avLst/>
            <a:gdLst>
              <a:gd name="connsiteX0" fmla="*/ 0 w 3519348"/>
              <a:gd name="connsiteY0" fmla="*/ 128479 h 770858"/>
              <a:gd name="connsiteX1" fmla="*/ 128479 w 3519348"/>
              <a:gd name="connsiteY1" fmla="*/ 0 h 770858"/>
              <a:gd name="connsiteX2" fmla="*/ 3390869 w 3519348"/>
              <a:gd name="connsiteY2" fmla="*/ 0 h 770858"/>
              <a:gd name="connsiteX3" fmla="*/ 3519348 w 3519348"/>
              <a:gd name="connsiteY3" fmla="*/ 128479 h 770858"/>
              <a:gd name="connsiteX4" fmla="*/ 3519348 w 3519348"/>
              <a:gd name="connsiteY4" fmla="*/ 642379 h 770858"/>
              <a:gd name="connsiteX5" fmla="*/ 3390869 w 3519348"/>
              <a:gd name="connsiteY5" fmla="*/ 770858 h 770858"/>
              <a:gd name="connsiteX6" fmla="*/ 128479 w 3519348"/>
              <a:gd name="connsiteY6" fmla="*/ 770858 h 770858"/>
              <a:gd name="connsiteX7" fmla="*/ 0 w 3519348"/>
              <a:gd name="connsiteY7" fmla="*/ 642379 h 770858"/>
              <a:gd name="connsiteX8" fmla="*/ 0 w 3519348"/>
              <a:gd name="connsiteY8" fmla="*/ 128479 h 7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19348" h="770858">
                <a:moveTo>
                  <a:pt x="0" y="128479"/>
                </a:moveTo>
                <a:cubicBezTo>
                  <a:pt x="0" y="57522"/>
                  <a:pt x="57522" y="0"/>
                  <a:pt x="128479" y="0"/>
                </a:cubicBezTo>
                <a:lnTo>
                  <a:pt x="3390869" y="0"/>
                </a:lnTo>
                <a:cubicBezTo>
                  <a:pt x="3461826" y="0"/>
                  <a:pt x="3519348" y="57522"/>
                  <a:pt x="3519348" y="128479"/>
                </a:cubicBezTo>
                <a:lnTo>
                  <a:pt x="3519348" y="642379"/>
                </a:lnTo>
                <a:cubicBezTo>
                  <a:pt x="3519348" y="713336"/>
                  <a:pt x="3461826" y="770858"/>
                  <a:pt x="3390869" y="770858"/>
                </a:cubicBezTo>
                <a:lnTo>
                  <a:pt x="128479" y="770858"/>
                </a:lnTo>
                <a:cubicBezTo>
                  <a:pt x="57522" y="770858"/>
                  <a:pt x="0" y="713336"/>
                  <a:pt x="0" y="642379"/>
                </a:cubicBezTo>
                <a:lnTo>
                  <a:pt x="0" y="128479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450" tIns="79540" rIns="121450" bIns="7954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200" b="1" kern="1200" dirty="0"/>
              <a:t>Meta:</a:t>
            </a:r>
          </a:p>
        </p:txBody>
      </p:sp>
      <p:sp>
        <p:nvSpPr>
          <p:cNvPr id="28" name="Forma libre: forma 27">
            <a:extLst>
              <a:ext uri="{FF2B5EF4-FFF2-40B4-BE49-F238E27FC236}">
                <a16:creationId xmlns:a16="http://schemas.microsoft.com/office/drawing/2014/main" id="{26E65F31-4297-4393-B66A-EBF1C3842976}"/>
              </a:ext>
            </a:extLst>
          </p:cNvPr>
          <p:cNvSpPr/>
          <p:nvPr/>
        </p:nvSpPr>
        <p:spPr>
          <a:xfrm>
            <a:off x="4637695" y="1539081"/>
            <a:ext cx="6429912" cy="770858"/>
          </a:xfrm>
          <a:custGeom>
            <a:avLst/>
            <a:gdLst>
              <a:gd name="connsiteX0" fmla="*/ 0 w 6429912"/>
              <a:gd name="connsiteY0" fmla="*/ 96357 h 770858"/>
              <a:gd name="connsiteX1" fmla="*/ 6044483 w 6429912"/>
              <a:gd name="connsiteY1" fmla="*/ 96357 h 770858"/>
              <a:gd name="connsiteX2" fmla="*/ 6044483 w 6429912"/>
              <a:gd name="connsiteY2" fmla="*/ 0 h 770858"/>
              <a:gd name="connsiteX3" fmla="*/ 6429912 w 6429912"/>
              <a:gd name="connsiteY3" fmla="*/ 385429 h 770858"/>
              <a:gd name="connsiteX4" fmla="*/ 6044483 w 6429912"/>
              <a:gd name="connsiteY4" fmla="*/ 770858 h 770858"/>
              <a:gd name="connsiteX5" fmla="*/ 6044483 w 6429912"/>
              <a:gd name="connsiteY5" fmla="*/ 674501 h 770858"/>
              <a:gd name="connsiteX6" fmla="*/ 0 w 6429912"/>
              <a:gd name="connsiteY6" fmla="*/ 674501 h 770858"/>
              <a:gd name="connsiteX7" fmla="*/ 0 w 6429912"/>
              <a:gd name="connsiteY7" fmla="*/ 96357 h 7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29912" h="770858">
                <a:moveTo>
                  <a:pt x="0" y="96357"/>
                </a:moveTo>
                <a:lnTo>
                  <a:pt x="6044483" y="96357"/>
                </a:lnTo>
                <a:lnTo>
                  <a:pt x="6044483" y="0"/>
                </a:lnTo>
                <a:lnTo>
                  <a:pt x="6429912" y="385429"/>
                </a:lnTo>
                <a:lnTo>
                  <a:pt x="6044483" y="770858"/>
                </a:lnTo>
                <a:lnTo>
                  <a:pt x="6044483" y="674501"/>
                </a:lnTo>
                <a:lnTo>
                  <a:pt x="0" y="674501"/>
                </a:lnTo>
                <a:lnTo>
                  <a:pt x="0" y="96357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>
              <a:rot lat="0" lon="0" rev="7500000"/>
            </a:lightRig>
          </a:scene3d>
          <a:sp3d z="-152400" extrusionH="63500" prstMaterial="dkEdge">
            <a:bevelT w="144450" h="36350" prst="relaxedInset"/>
            <a:contourClr>
              <a:schemeClr val="bg1"/>
            </a:contourClr>
          </a:sp3d>
        </p:spPr>
        <p:style>
          <a:lnRef idx="1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970" tIns="110327" rIns="303042" bIns="110327" numCol="1" spcCol="1270" anchor="t" anchorCtr="0">
            <a:noAutofit/>
          </a:bodyPr>
          <a:lstStyle/>
          <a:p>
            <a:pPr marL="228600" lvl="1" indent="-228600" algn="l" defTabSz="977900" eaLnBrk="1" latinLnBrk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VE" sz="2200" kern="1200" dirty="0"/>
              <a:t>Múltiples objetivos.</a:t>
            </a:r>
          </a:p>
        </p:txBody>
      </p: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E7AED37D-CE99-4875-92DF-769172DDB3F3}"/>
              </a:ext>
            </a:extLst>
          </p:cNvPr>
          <p:cNvSpPr/>
          <p:nvPr/>
        </p:nvSpPr>
        <p:spPr>
          <a:xfrm>
            <a:off x="1143349" y="1538470"/>
            <a:ext cx="3486169" cy="770858"/>
          </a:xfrm>
          <a:custGeom>
            <a:avLst/>
            <a:gdLst>
              <a:gd name="connsiteX0" fmla="*/ 0 w 3486169"/>
              <a:gd name="connsiteY0" fmla="*/ 128479 h 770858"/>
              <a:gd name="connsiteX1" fmla="*/ 128479 w 3486169"/>
              <a:gd name="connsiteY1" fmla="*/ 0 h 770858"/>
              <a:gd name="connsiteX2" fmla="*/ 3357690 w 3486169"/>
              <a:gd name="connsiteY2" fmla="*/ 0 h 770858"/>
              <a:gd name="connsiteX3" fmla="*/ 3486169 w 3486169"/>
              <a:gd name="connsiteY3" fmla="*/ 128479 h 770858"/>
              <a:gd name="connsiteX4" fmla="*/ 3486169 w 3486169"/>
              <a:gd name="connsiteY4" fmla="*/ 642379 h 770858"/>
              <a:gd name="connsiteX5" fmla="*/ 3357690 w 3486169"/>
              <a:gd name="connsiteY5" fmla="*/ 770858 h 770858"/>
              <a:gd name="connsiteX6" fmla="*/ 128479 w 3486169"/>
              <a:gd name="connsiteY6" fmla="*/ 770858 h 770858"/>
              <a:gd name="connsiteX7" fmla="*/ 0 w 3486169"/>
              <a:gd name="connsiteY7" fmla="*/ 642379 h 770858"/>
              <a:gd name="connsiteX8" fmla="*/ 0 w 3486169"/>
              <a:gd name="connsiteY8" fmla="*/ 128479 h 7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86169" h="770858">
                <a:moveTo>
                  <a:pt x="0" y="128479"/>
                </a:moveTo>
                <a:cubicBezTo>
                  <a:pt x="0" y="57522"/>
                  <a:pt x="57522" y="0"/>
                  <a:pt x="128479" y="0"/>
                </a:cubicBezTo>
                <a:lnTo>
                  <a:pt x="3357690" y="0"/>
                </a:lnTo>
                <a:cubicBezTo>
                  <a:pt x="3428647" y="0"/>
                  <a:pt x="3486169" y="57522"/>
                  <a:pt x="3486169" y="128479"/>
                </a:cubicBezTo>
                <a:lnTo>
                  <a:pt x="3486169" y="642379"/>
                </a:lnTo>
                <a:cubicBezTo>
                  <a:pt x="3486169" y="713336"/>
                  <a:pt x="3428647" y="770858"/>
                  <a:pt x="3357690" y="770858"/>
                </a:cubicBezTo>
                <a:lnTo>
                  <a:pt x="128479" y="770858"/>
                </a:lnTo>
                <a:cubicBezTo>
                  <a:pt x="57522" y="770858"/>
                  <a:pt x="0" y="713336"/>
                  <a:pt x="0" y="642379"/>
                </a:cubicBezTo>
                <a:lnTo>
                  <a:pt x="0" y="128479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450" tIns="79540" rIns="121450" bIns="7954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200" b="1" dirty="0"/>
              <a:t>M</a:t>
            </a:r>
            <a:r>
              <a:rPr lang="es-VE" sz="2200" b="1" kern="1200" dirty="0"/>
              <a:t>ultiobjetivo:</a:t>
            </a:r>
          </a:p>
        </p:txBody>
      </p:sp>
    </p:spTree>
    <p:extLst>
      <p:ext uri="{BB962C8B-B14F-4D97-AF65-F5344CB8AC3E}">
        <p14:creationId xmlns:p14="http://schemas.microsoft.com/office/powerpoint/2010/main" val="6853261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METODOLOGIA 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4F50A64-DE63-4510-BE94-BD747ECC3B5F}"/>
              </a:ext>
            </a:extLst>
          </p:cNvPr>
          <p:cNvSpPr/>
          <p:nvPr/>
        </p:nvSpPr>
        <p:spPr>
          <a:xfrm>
            <a:off x="6607834" y="2172032"/>
            <a:ext cx="4865298" cy="4496186"/>
          </a:xfrm>
          <a:prstGeom prst="rect">
            <a:avLst/>
          </a:prstGeom>
          <a:noFill/>
        </p:spPr>
        <p:txBody>
          <a:bodyPr/>
          <a:lstStyle/>
          <a:p>
            <a:endParaRPr lang="es-PE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F3457E77-9E40-400F-B0CC-D30728BB15BF}"/>
              </a:ext>
            </a:extLst>
          </p:cNvPr>
          <p:cNvGraphicFramePr/>
          <p:nvPr/>
        </p:nvGraphicFramePr>
        <p:xfrm>
          <a:off x="6566353" y="1214683"/>
          <a:ext cx="4898816" cy="895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D2591AC0-E44A-47D9-9BD8-AB065F317132}"/>
              </a:ext>
            </a:extLst>
          </p:cNvPr>
          <p:cNvGraphicFramePr/>
          <p:nvPr/>
        </p:nvGraphicFramePr>
        <p:xfrm>
          <a:off x="634480" y="1208819"/>
          <a:ext cx="4898816" cy="895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5378428D-6203-4875-8D7B-A7A86A153C1A}"/>
              </a:ext>
            </a:extLst>
          </p:cNvPr>
          <p:cNvSpPr/>
          <p:nvPr/>
        </p:nvSpPr>
        <p:spPr>
          <a:xfrm>
            <a:off x="649584" y="2192213"/>
            <a:ext cx="4865298" cy="3880783"/>
          </a:xfrm>
          <a:prstGeom prst="rect">
            <a:avLst/>
          </a:prstGeom>
          <a:noFill/>
        </p:spPr>
        <p:txBody>
          <a:bodyPr/>
          <a:lstStyle/>
          <a:p>
            <a:endParaRPr lang="es-PE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5498017-B0CE-4D6C-9069-8CC7346A562C}"/>
              </a:ext>
            </a:extLst>
          </p:cNvPr>
          <p:cNvCxnSpPr/>
          <p:nvPr/>
        </p:nvCxnSpPr>
        <p:spPr>
          <a:xfrm>
            <a:off x="5512279" y="2579298"/>
            <a:ext cx="1086929" cy="0"/>
          </a:xfrm>
          <a:prstGeom prst="straightConnector1">
            <a:avLst/>
          </a:prstGeom>
          <a:ln w="34925">
            <a:solidFill>
              <a:schemeClr val="accent2">
                <a:lumMod val="60000"/>
                <a:lumOff val="4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65E292B6-5775-4ADD-B268-EFB3B80C51B1}"/>
              </a:ext>
            </a:extLst>
          </p:cNvPr>
          <p:cNvCxnSpPr/>
          <p:nvPr/>
        </p:nvCxnSpPr>
        <p:spPr>
          <a:xfrm>
            <a:off x="5495544" y="4309414"/>
            <a:ext cx="1106424" cy="2093976"/>
          </a:xfrm>
          <a:prstGeom prst="straightConnector1">
            <a:avLst/>
          </a:prstGeom>
          <a:ln w="34925">
            <a:solidFill>
              <a:schemeClr val="accent2">
                <a:lumMod val="60000"/>
                <a:lumOff val="4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05A94661-9914-4165-8B17-52BC36FC204C}"/>
              </a:ext>
            </a:extLst>
          </p:cNvPr>
          <p:cNvCxnSpPr>
            <a:cxnSpLocks/>
          </p:cNvCxnSpPr>
          <p:nvPr/>
        </p:nvCxnSpPr>
        <p:spPr>
          <a:xfrm>
            <a:off x="5520906" y="5378744"/>
            <a:ext cx="1062774" cy="0"/>
          </a:xfrm>
          <a:prstGeom prst="straightConnector1">
            <a:avLst/>
          </a:prstGeom>
          <a:ln w="34925">
            <a:solidFill>
              <a:schemeClr val="accent2">
                <a:lumMod val="60000"/>
                <a:lumOff val="4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93B386F6-CDE8-41AE-81AB-5CDD278A7FDE}"/>
              </a:ext>
            </a:extLst>
          </p:cNvPr>
          <p:cNvSpPr/>
          <p:nvPr/>
        </p:nvSpPr>
        <p:spPr>
          <a:xfrm>
            <a:off x="649584" y="4911239"/>
            <a:ext cx="4865298" cy="825322"/>
          </a:xfrm>
          <a:custGeom>
            <a:avLst/>
            <a:gdLst>
              <a:gd name="connsiteX0" fmla="*/ 0 w 4865298"/>
              <a:gd name="connsiteY0" fmla="*/ 0 h 1067248"/>
              <a:gd name="connsiteX1" fmla="*/ 4865298 w 4865298"/>
              <a:gd name="connsiteY1" fmla="*/ 0 h 1067248"/>
              <a:gd name="connsiteX2" fmla="*/ 4865298 w 4865298"/>
              <a:gd name="connsiteY2" fmla="*/ 1067248 h 1067248"/>
              <a:gd name="connsiteX3" fmla="*/ 0 w 4865298"/>
              <a:gd name="connsiteY3" fmla="*/ 1067248 h 1067248"/>
              <a:gd name="connsiteX4" fmla="*/ 0 w 4865298"/>
              <a:gd name="connsiteY4" fmla="*/ 0 h 106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5298" h="1067248">
                <a:moveTo>
                  <a:pt x="0" y="0"/>
                </a:moveTo>
                <a:lnTo>
                  <a:pt x="4865298" y="0"/>
                </a:lnTo>
                <a:lnTo>
                  <a:pt x="4865298" y="1067248"/>
                </a:lnTo>
                <a:lnTo>
                  <a:pt x="0" y="106724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style>
          <a:lnRef idx="3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0688" tIns="170688" rIns="170688" bIns="170688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2400" b="1" kern="1200" dirty="0"/>
              <a:t>3. Identifique las </a:t>
            </a:r>
            <a:r>
              <a:rPr lang="es-VE" sz="2400" b="1" kern="1200" dirty="0">
                <a:solidFill>
                  <a:srgbClr val="FF0000"/>
                </a:solidFill>
              </a:rPr>
              <a:t>restricciones</a:t>
            </a:r>
            <a:r>
              <a:rPr lang="es-VE" sz="2400" b="1" kern="1200" dirty="0"/>
              <a:t> </a:t>
            </a:r>
            <a:r>
              <a:rPr lang="es-VE" sz="2400" b="1" kern="1200" dirty="0">
                <a:solidFill>
                  <a:srgbClr val="FF0000"/>
                </a:solidFill>
              </a:rPr>
              <a:t>DURA</a:t>
            </a:r>
            <a:endParaRPr lang="es-VE" sz="2400" b="1" kern="1200" dirty="0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5816C65E-A469-4BE2-9A3A-C256FD5A6CE9}"/>
              </a:ext>
            </a:extLst>
          </p:cNvPr>
          <p:cNvSpPr/>
          <p:nvPr/>
        </p:nvSpPr>
        <p:spPr>
          <a:xfrm>
            <a:off x="649584" y="3510149"/>
            <a:ext cx="4865298" cy="1329267"/>
          </a:xfrm>
          <a:custGeom>
            <a:avLst/>
            <a:gdLst>
              <a:gd name="connsiteX0" fmla="*/ 0 w 4865298"/>
              <a:gd name="connsiteY0" fmla="*/ 605472 h 1728783"/>
              <a:gd name="connsiteX1" fmla="*/ 2216551 w 4865298"/>
              <a:gd name="connsiteY1" fmla="*/ 605472 h 1728783"/>
              <a:gd name="connsiteX2" fmla="*/ 2216551 w 4865298"/>
              <a:gd name="connsiteY2" fmla="*/ 432196 h 1728783"/>
              <a:gd name="connsiteX3" fmla="*/ 2000453 w 4865298"/>
              <a:gd name="connsiteY3" fmla="*/ 432196 h 1728783"/>
              <a:gd name="connsiteX4" fmla="*/ 2432649 w 4865298"/>
              <a:gd name="connsiteY4" fmla="*/ 0 h 1728783"/>
              <a:gd name="connsiteX5" fmla="*/ 2864845 w 4865298"/>
              <a:gd name="connsiteY5" fmla="*/ 432196 h 1728783"/>
              <a:gd name="connsiteX6" fmla="*/ 2648747 w 4865298"/>
              <a:gd name="connsiteY6" fmla="*/ 432196 h 1728783"/>
              <a:gd name="connsiteX7" fmla="*/ 2648747 w 4865298"/>
              <a:gd name="connsiteY7" fmla="*/ 605472 h 1728783"/>
              <a:gd name="connsiteX8" fmla="*/ 4865298 w 4865298"/>
              <a:gd name="connsiteY8" fmla="*/ 605472 h 1728783"/>
              <a:gd name="connsiteX9" fmla="*/ 4865298 w 4865298"/>
              <a:gd name="connsiteY9" fmla="*/ 1728783 h 1728783"/>
              <a:gd name="connsiteX10" fmla="*/ 0 w 4865298"/>
              <a:gd name="connsiteY10" fmla="*/ 1728783 h 1728783"/>
              <a:gd name="connsiteX11" fmla="*/ 0 w 4865298"/>
              <a:gd name="connsiteY11" fmla="*/ 605472 h 172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65298" h="1728783">
                <a:moveTo>
                  <a:pt x="4865298" y="1123311"/>
                </a:moveTo>
                <a:lnTo>
                  <a:pt x="2648747" y="1123311"/>
                </a:lnTo>
                <a:lnTo>
                  <a:pt x="2648747" y="1296587"/>
                </a:lnTo>
                <a:lnTo>
                  <a:pt x="2864845" y="1296587"/>
                </a:lnTo>
                <a:lnTo>
                  <a:pt x="2432649" y="1728782"/>
                </a:lnTo>
                <a:lnTo>
                  <a:pt x="2000453" y="1296587"/>
                </a:lnTo>
                <a:lnTo>
                  <a:pt x="2216551" y="1296587"/>
                </a:lnTo>
                <a:lnTo>
                  <a:pt x="2216551" y="1123311"/>
                </a:lnTo>
                <a:lnTo>
                  <a:pt x="0" y="1123311"/>
                </a:lnTo>
                <a:lnTo>
                  <a:pt x="0" y="1"/>
                </a:lnTo>
                <a:lnTo>
                  <a:pt x="4865298" y="1"/>
                </a:lnTo>
                <a:lnTo>
                  <a:pt x="4865298" y="112331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0687" tIns="170689" rIns="170688" bIns="776160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2400" b="1" kern="1200" dirty="0"/>
              <a:t>2. Identifique la </a:t>
            </a:r>
            <a:r>
              <a:rPr lang="es-VE" sz="2400" b="1" kern="1200" dirty="0">
                <a:solidFill>
                  <a:srgbClr val="FF0000"/>
                </a:solidFill>
              </a:rPr>
              <a:t>función objetivo</a:t>
            </a:r>
            <a:endParaRPr lang="es-VE" sz="2400" b="1" kern="1200" dirty="0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417A1F49-27DB-4AE0-A2B7-57722DAA0CC6}"/>
              </a:ext>
            </a:extLst>
          </p:cNvPr>
          <p:cNvSpPr/>
          <p:nvPr/>
        </p:nvSpPr>
        <p:spPr>
          <a:xfrm>
            <a:off x="649584" y="2192212"/>
            <a:ext cx="4865298" cy="1232475"/>
          </a:xfrm>
          <a:custGeom>
            <a:avLst/>
            <a:gdLst>
              <a:gd name="connsiteX0" fmla="*/ 0 w 4865298"/>
              <a:gd name="connsiteY0" fmla="*/ 605472 h 1728783"/>
              <a:gd name="connsiteX1" fmla="*/ 2216551 w 4865298"/>
              <a:gd name="connsiteY1" fmla="*/ 605472 h 1728783"/>
              <a:gd name="connsiteX2" fmla="*/ 2216551 w 4865298"/>
              <a:gd name="connsiteY2" fmla="*/ 432196 h 1728783"/>
              <a:gd name="connsiteX3" fmla="*/ 2000453 w 4865298"/>
              <a:gd name="connsiteY3" fmla="*/ 432196 h 1728783"/>
              <a:gd name="connsiteX4" fmla="*/ 2432649 w 4865298"/>
              <a:gd name="connsiteY4" fmla="*/ 0 h 1728783"/>
              <a:gd name="connsiteX5" fmla="*/ 2864845 w 4865298"/>
              <a:gd name="connsiteY5" fmla="*/ 432196 h 1728783"/>
              <a:gd name="connsiteX6" fmla="*/ 2648747 w 4865298"/>
              <a:gd name="connsiteY6" fmla="*/ 432196 h 1728783"/>
              <a:gd name="connsiteX7" fmla="*/ 2648747 w 4865298"/>
              <a:gd name="connsiteY7" fmla="*/ 605472 h 1728783"/>
              <a:gd name="connsiteX8" fmla="*/ 4865298 w 4865298"/>
              <a:gd name="connsiteY8" fmla="*/ 605472 h 1728783"/>
              <a:gd name="connsiteX9" fmla="*/ 4865298 w 4865298"/>
              <a:gd name="connsiteY9" fmla="*/ 1728783 h 1728783"/>
              <a:gd name="connsiteX10" fmla="*/ 0 w 4865298"/>
              <a:gd name="connsiteY10" fmla="*/ 1728783 h 1728783"/>
              <a:gd name="connsiteX11" fmla="*/ 0 w 4865298"/>
              <a:gd name="connsiteY11" fmla="*/ 605472 h 172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65298" h="1728783">
                <a:moveTo>
                  <a:pt x="4865298" y="1123311"/>
                </a:moveTo>
                <a:lnTo>
                  <a:pt x="2648747" y="1123311"/>
                </a:lnTo>
                <a:lnTo>
                  <a:pt x="2648747" y="1296587"/>
                </a:lnTo>
                <a:lnTo>
                  <a:pt x="2864845" y="1296587"/>
                </a:lnTo>
                <a:lnTo>
                  <a:pt x="2432649" y="1728782"/>
                </a:lnTo>
                <a:lnTo>
                  <a:pt x="2000453" y="1296587"/>
                </a:lnTo>
                <a:lnTo>
                  <a:pt x="2216551" y="1296587"/>
                </a:lnTo>
                <a:lnTo>
                  <a:pt x="2216551" y="1123311"/>
                </a:lnTo>
                <a:lnTo>
                  <a:pt x="0" y="1123311"/>
                </a:lnTo>
                <a:lnTo>
                  <a:pt x="0" y="1"/>
                </a:lnTo>
                <a:lnTo>
                  <a:pt x="4865298" y="1"/>
                </a:lnTo>
                <a:lnTo>
                  <a:pt x="4865298" y="1123311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3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0687" tIns="170689" rIns="170688" bIns="776161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400" b="1" kern="1200" dirty="0"/>
              <a:t>1. Identifique las </a:t>
            </a:r>
            <a:r>
              <a:rPr lang="es-VE" sz="2400" b="1" kern="1200" dirty="0">
                <a:solidFill>
                  <a:srgbClr val="FF0000"/>
                </a:solidFill>
              </a:rPr>
              <a:t>variables</a:t>
            </a:r>
            <a:r>
              <a:rPr lang="es-VE" sz="2400" b="1" kern="1200" dirty="0"/>
              <a:t> de decisión</a:t>
            </a:r>
          </a:p>
        </p:txBody>
      </p: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4E1EAD1E-0B24-4F89-9C70-C913058D5830}"/>
              </a:ext>
            </a:extLst>
          </p:cNvPr>
          <p:cNvSpPr/>
          <p:nvPr/>
        </p:nvSpPr>
        <p:spPr>
          <a:xfrm>
            <a:off x="6607834" y="5068065"/>
            <a:ext cx="4865299" cy="974129"/>
          </a:xfrm>
          <a:custGeom>
            <a:avLst/>
            <a:gdLst>
              <a:gd name="connsiteX0" fmla="*/ 0 w 4865298"/>
              <a:gd name="connsiteY0" fmla="*/ 341169 h 974128"/>
              <a:gd name="connsiteX1" fmla="*/ 2310883 w 4865298"/>
              <a:gd name="connsiteY1" fmla="*/ 341169 h 974128"/>
              <a:gd name="connsiteX2" fmla="*/ 2310883 w 4865298"/>
              <a:gd name="connsiteY2" fmla="*/ 243532 h 974128"/>
              <a:gd name="connsiteX3" fmla="*/ 2189117 w 4865298"/>
              <a:gd name="connsiteY3" fmla="*/ 243532 h 974128"/>
              <a:gd name="connsiteX4" fmla="*/ 2432649 w 4865298"/>
              <a:gd name="connsiteY4" fmla="*/ 0 h 974128"/>
              <a:gd name="connsiteX5" fmla="*/ 2676181 w 4865298"/>
              <a:gd name="connsiteY5" fmla="*/ 243532 h 974128"/>
              <a:gd name="connsiteX6" fmla="*/ 2554415 w 4865298"/>
              <a:gd name="connsiteY6" fmla="*/ 243532 h 974128"/>
              <a:gd name="connsiteX7" fmla="*/ 2554415 w 4865298"/>
              <a:gd name="connsiteY7" fmla="*/ 341169 h 974128"/>
              <a:gd name="connsiteX8" fmla="*/ 4865298 w 4865298"/>
              <a:gd name="connsiteY8" fmla="*/ 341169 h 974128"/>
              <a:gd name="connsiteX9" fmla="*/ 4865298 w 4865298"/>
              <a:gd name="connsiteY9" fmla="*/ 974128 h 974128"/>
              <a:gd name="connsiteX10" fmla="*/ 0 w 4865298"/>
              <a:gd name="connsiteY10" fmla="*/ 974128 h 974128"/>
              <a:gd name="connsiteX11" fmla="*/ 0 w 4865298"/>
              <a:gd name="connsiteY11" fmla="*/ 341169 h 97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65298" h="974128">
                <a:moveTo>
                  <a:pt x="4865298" y="632959"/>
                </a:moveTo>
                <a:lnTo>
                  <a:pt x="2554415" y="632959"/>
                </a:lnTo>
                <a:lnTo>
                  <a:pt x="2554415" y="730596"/>
                </a:lnTo>
                <a:lnTo>
                  <a:pt x="2676181" y="730596"/>
                </a:lnTo>
                <a:lnTo>
                  <a:pt x="2432649" y="974127"/>
                </a:lnTo>
                <a:lnTo>
                  <a:pt x="2189117" y="730596"/>
                </a:lnTo>
                <a:lnTo>
                  <a:pt x="2310883" y="730596"/>
                </a:lnTo>
                <a:lnTo>
                  <a:pt x="2310883" y="632959"/>
                </a:lnTo>
                <a:lnTo>
                  <a:pt x="0" y="632959"/>
                </a:lnTo>
                <a:lnTo>
                  <a:pt x="0" y="1"/>
                </a:lnTo>
                <a:lnTo>
                  <a:pt x="4865298" y="1"/>
                </a:lnTo>
                <a:lnTo>
                  <a:pt x="4865298" y="632959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style>
          <a:lnRef idx="3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0688" tIns="170689" rIns="170689" bIns="511857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VE" sz="2400" b="1" kern="12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2400" b="1" kern="1200" dirty="0"/>
              <a:t>4. Identifique las </a:t>
            </a:r>
            <a:r>
              <a:rPr lang="es-VE" sz="2400" b="1" kern="1200" dirty="0">
                <a:solidFill>
                  <a:srgbClr val="FF0000"/>
                </a:solidFill>
              </a:rPr>
              <a:t>restricciones DURA</a:t>
            </a:r>
          </a:p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s-VE" sz="2400" b="1" kern="1200" dirty="0"/>
          </a:p>
        </p:txBody>
      </p: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63B8C5A2-F510-4E48-BF14-ED1C02FA04FF}"/>
              </a:ext>
            </a:extLst>
          </p:cNvPr>
          <p:cNvSpPr/>
          <p:nvPr/>
        </p:nvSpPr>
        <p:spPr>
          <a:xfrm>
            <a:off x="6607834" y="6032694"/>
            <a:ext cx="4865298" cy="633373"/>
          </a:xfrm>
          <a:custGeom>
            <a:avLst/>
            <a:gdLst>
              <a:gd name="connsiteX0" fmla="*/ 0 w 4865298"/>
              <a:gd name="connsiteY0" fmla="*/ 0 h 633373"/>
              <a:gd name="connsiteX1" fmla="*/ 4865298 w 4865298"/>
              <a:gd name="connsiteY1" fmla="*/ 0 h 633373"/>
              <a:gd name="connsiteX2" fmla="*/ 4865298 w 4865298"/>
              <a:gd name="connsiteY2" fmla="*/ 633373 h 633373"/>
              <a:gd name="connsiteX3" fmla="*/ 0 w 4865298"/>
              <a:gd name="connsiteY3" fmla="*/ 633373 h 633373"/>
              <a:gd name="connsiteX4" fmla="*/ 0 w 4865298"/>
              <a:gd name="connsiteY4" fmla="*/ 0 h 633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5298" h="633373">
                <a:moveTo>
                  <a:pt x="0" y="0"/>
                </a:moveTo>
                <a:lnTo>
                  <a:pt x="4865298" y="0"/>
                </a:lnTo>
                <a:lnTo>
                  <a:pt x="4865298" y="633373"/>
                </a:lnTo>
                <a:lnTo>
                  <a:pt x="0" y="6333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0688" tIns="170688" rIns="170688" bIns="170688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VE" sz="2400" b="1" kern="12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2400" b="1" kern="1200" dirty="0"/>
              <a:t>5. Identifique la </a:t>
            </a:r>
            <a:r>
              <a:rPr lang="es-VE" sz="2400" b="1" kern="1200" dirty="0">
                <a:solidFill>
                  <a:srgbClr val="FF0000"/>
                </a:solidFill>
              </a:rPr>
              <a:t>función objetivo</a:t>
            </a:r>
            <a:endParaRPr lang="es-VE" sz="2400" b="1" kern="1200" dirty="0"/>
          </a:p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s-VE" sz="2400" b="1" kern="1200" dirty="0"/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FE7C8988-5BA7-45A0-B599-264E7D907546}"/>
              </a:ext>
            </a:extLst>
          </p:cNvPr>
          <p:cNvSpPr/>
          <p:nvPr/>
        </p:nvSpPr>
        <p:spPr>
          <a:xfrm>
            <a:off x="6607834" y="4106067"/>
            <a:ext cx="4865298" cy="974129"/>
          </a:xfrm>
          <a:custGeom>
            <a:avLst/>
            <a:gdLst>
              <a:gd name="connsiteX0" fmla="*/ 0 w 4865298"/>
              <a:gd name="connsiteY0" fmla="*/ 341169 h 974128"/>
              <a:gd name="connsiteX1" fmla="*/ 2310883 w 4865298"/>
              <a:gd name="connsiteY1" fmla="*/ 341169 h 974128"/>
              <a:gd name="connsiteX2" fmla="*/ 2310883 w 4865298"/>
              <a:gd name="connsiteY2" fmla="*/ 243532 h 974128"/>
              <a:gd name="connsiteX3" fmla="*/ 2189117 w 4865298"/>
              <a:gd name="connsiteY3" fmla="*/ 243532 h 974128"/>
              <a:gd name="connsiteX4" fmla="*/ 2432649 w 4865298"/>
              <a:gd name="connsiteY4" fmla="*/ 0 h 974128"/>
              <a:gd name="connsiteX5" fmla="*/ 2676181 w 4865298"/>
              <a:gd name="connsiteY5" fmla="*/ 243532 h 974128"/>
              <a:gd name="connsiteX6" fmla="*/ 2554415 w 4865298"/>
              <a:gd name="connsiteY6" fmla="*/ 243532 h 974128"/>
              <a:gd name="connsiteX7" fmla="*/ 2554415 w 4865298"/>
              <a:gd name="connsiteY7" fmla="*/ 341169 h 974128"/>
              <a:gd name="connsiteX8" fmla="*/ 4865298 w 4865298"/>
              <a:gd name="connsiteY8" fmla="*/ 341169 h 974128"/>
              <a:gd name="connsiteX9" fmla="*/ 4865298 w 4865298"/>
              <a:gd name="connsiteY9" fmla="*/ 974128 h 974128"/>
              <a:gd name="connsiteX10" fmla="*/ 0 w 4865298"/>
              <a:gd name="connsiteY10" fmla="*/ 974128 h 974128"/>
              <a:gd name="connsiteX11" fmla="*/ 0 w 4865298"/>
              <a:gd name="connsiteY11" fmla="*/ 341169 h 97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65298" h="974128">
                <a:moveTo>
                  <a:pt x="4865298" y="632959"/>
                </a:moveTo>
                <a:lnTo>
                  <a:pt x="2554415" y="632959"/>
                </a:lnTo>
                <a:lnTo>
                  <a:pt x="2554415" y="730596"/>
                </a:lnTo>
                <a:lnTo>
                  <a:pt x="2676181" y="730596"/>
                </a:lnTo>
                <a:lnTo>
                  <a:pt x="2432649" y="974127"/>
                </a:lnTo>
                <a:lnTo>
                  <a:pt x="2189117" y="730596"/>
                </a:lnTo>
                <a:lnTo>
                  <a:pt x="2310883" y="730596"/>
                </a:lnTo>
                <a:lnTo>
                  <a:pt x="2310883" y="632959"/>
                </a:lnTo>
                <a:lnTo>
                  <a:pt x="0" y="632959"/>
                </a:lnTo>
                <a:lnTo>
                  <a:pt x="0" y="1"/>
                </a:lnTo>
                <a:lnTo>
                  <a:pt x="4865298" y="1"/>
                </a:lnTo>
                <a:lnTo>
                  <a:pt x="4865298" y="632959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style>
          <a:lnRef idx="3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0687" tIns="170689" rIns="170688" bIns="511857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VE" sz="2400" b="1" kern="12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VE" sz="2400" b="1" kern="1200" dirty="0"/>
              <a:t>3. Identifique las </a:t>
            </a:r>
            <a:r>
              <a:rPr lang="es-VE" sz="2400" b="1" kern="1200" dirty="0">
                <a:solidFill>
                  <a:srgbClr val="FF0000"/>
                </a:solidFill>
              </a:rPr>
              <a:t>restricciones</a:t>
            </a:r>
            <a:r>
              <a:rPr lang="es-VE" sz="2400" b="1" kern="1200" dirty="0"/>
              <a:t> </a:t>
            </a:r>
            <a:r>
              <a:rPr lang="es-VE" sz="2400" b="1" kern="1200" dirty="0">
                <a:solidFill>
                  <a:srgbClr val="FF0000"/>
                </a:solidFill>
              </a:rPr>
              <a:t>META</a:t>
            </a:r>
          </a:p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s-VE" sz="2400" b="1" kern="1200" dirty="0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F0E6B825-8ACB-4E88-AEE5-C6DE4679E417}"/>
              </a:ext>
            </a:extLst>
          </p:cNvPr>
          <p:cNvSpPr/>
          <p:nvPr/>
        </p:nvSpPr>
        <p:spPr>
          <a:xfrm>
            <a:off x="6607834" y="3138808"/>
            <a:ext cx="4865298" cy="974129"/>
          </a:xfrm>
          <a:custGeom>
            <a:avLst/>
            <a:gdLst>
              <a:gd name="connsiteX0" fmla="*/ 0 w 4865298"/>
              <a:gd name="connsiteY0" fmla="*/ 341169 h 974128"/>
              <a:gd name="connsiteX1" fmla="*/ 2310883 w 4865298"/>
              <a:gd name="connsiteY1" fmla="*/ 341169 h 974128"/>
              <a:gd name="connsiteX2" fmla="*/ 2310883 w 4865298"/>
              <a:gd name="connsiteY2" fmla="*/ 243532 h 974128"/>
              <a:gd name="connsiteX3" fmla="*/ 2189117 w 4865298"/>
              <a:gd name="connsiteY3" fmla="*/ 243532 h 974128"/>
              <a:gd name="connsiteX4" fmla="*/ 2432649 w 4865298"/>
              <a:gd name="connsiteY4" fmla="*/ 0 h 974128"/>
              <a:gd name="connsiteX5" fmla="*/ 2676181 w 4865298"/>
              <a:gd name="connsiteY5" fmla="*/ 243532 h 974128"/>
              <a:gd name="connsiteX6" fmla="*/ 2554415 w 4865298"/>
              <a:gd name="connsiteY6" fmla="*/ 243532 h 974128"/>
              <a:gd name="connsiteX7" fmla="*/ 2554415 w 4865298"/>
              <a:gd name="connsiteY7" fmla="*/ 341169 h 974128"/>
              <a:gd name="connsiteX8" fmla="*/ 4865298 w 4865298"/>
              <a:gd name="connsiteY8" fmla="*/ 341169 h 974128"/>
              <a:gd name="connsiteX9" fmla="*/ 4865298 w 4865298"/>
              <a:gd name="connsiteY9" fmla="*/ 974128 h 974128"/>
              <a:gd name="connsiteX10" fmla="*/ 0 w 4865298"/>
              <a:gd name="connsiteY10" fmla="*/ 974128 h 974128"/>
              <a:gd name="connsiteX11" fmla="*/ 0 w 4865298"/>
              <a:gd name="connsiteY11" fmla="*/ 341169 h 97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65298" h="974128">
                <a:moveTo>
                  <a:pt x="4865298" y="632959"/>
                </a:moveTo>
                <a:lnTo>
                  <a:pt x="2554415" y="632959"/>
                </a:lnTo>
                <a:lnTo>
                  <a:pt x="2554415" y="730596"/>
                </a:lnTo>
                <a:lnTo>
                  <a:pt x="2676181" y="730596"/>
                </a:lnTo>
                <a:lnTo>
                  <a:pt x="2432649" y="974127"/>
                </a:lnTo>
                <a:lnTo>
                  <a:pt x="2189117" y="730596"/>
                </a:lnTo>
                <a:lnTo>
                  <a:pt x="2310883" y="730596"/>
                </a:lnTo>
                <a:lnTo>
                  <a:pt x="2310883" y="632959"/>
                </a:lnTo>
                <a:lnTo>
                  <a:pt x="0" y="632959"/>
                </a:lnTo>
                <a:lnTo>
                  <a:pt x="0" y="1"/>
                </a:lnTo>
                <a:lnTo>
                  <a:pt x="4865298" y="1"/>
                </a:lnTo>
                <a:lnTo>
                  <a:pt x="4865298" y="632959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style>
          <a:lnRef idx="3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0687" tIns="170689" rIns="170688" bIns="511857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400" b="1" kern="1200" dirty="0"/>
              <a:t>2. Identifique las </a:t>
            </a:r>
            <a:r>
              <a:rPr lang="es-VE" sz="2400" b="1" kern="1200" dirty="0">
                <a:solidFill>
                  <a:srgbClr val="FF0000"/>
                </a:solidFill>
              </a:rPr>
              <a:t>metas</a:t>
            </a:r>
            <a:r>
              <a:rPr lang="es-VE" sz="2400" b="1" kern="1200" dirty="0"/>
              <a:t> gerenciales en orden de prioridad</a:t>
            </a:r>
          </a:p>
        </p:txBody>
      </p:sp>
      <p:sp>
        <p:nvSpPr>
          <p:cNvPr id="32" name="Forma libre: forma 31">
            <a:extLst>
              <a:ext uri="{FF2B5EF4-FFF2-40B4-BE49-F238E27FC236}">
                <a16:creationId xmlns:a16="http://schemas.microsoft.com/office/drawing/2014/main" id="{A5A1E9D9-092A-4B0E-8465-ECAD9DEB0816}"/>
              </a:ext>
            </a:extLst>
          </p:cNvPr>
          <p:cNvSpPr/>
          <p:nvPr/>
        </p:nvSpPr>
        <p:spPr>
          <a:xfrm>
            <a:off x="6607834" y="2172031"/>
            <a:ext cx="4865298" cy="974130"/>
          </a:xfrm>
          <a:custGeom>
            <a:avLst/>
            <a:gdLst>
              <a:gd name="connsiteX0" fmla="*/ 0 w 4865298"/>
              <a:gd name="connsiteY0" fmla="*/ 341169 h 974128"/>
              <a:gd name="connsiteX1" fmla="*/ 2310883 w 4865298"/>
              <a:gd name="connsiteY1" fmla="*/ 341169 h 974128"/>
              <a:gd name="connsiteX2" fmla="*/ 2310883 w 4865298"/>
              <a:gd name="connsiteY2" fmla="*/ 243532 h 974128"/>
              <a:gd name="connsiteX3" fmla="*/ 2189117 w 4865298"/>
              <a:gd name="connsiteY3" fmla="*/ 243532 h 974128"/>
              <a:gd name="connsiteX4" fmla="*/ 2432649 w 4865298"/>
              <a:gd name="connsiteY4" fmla="*/ 0 h 974128"/>
              <a:gd name="connsiteX5" fmla="*/ 2676181 w 4865298"/>
              <a:gd name="connsiteY5" fmla="*/ 243532 h 974128"/>
              <a:gd name="connsiteX6" fmla="*/ 2554415 w 4865298"/>
              <a:gd name="connsiteY6" fmla="*/ 243532 h 974128"/>
              <a:gd name="connsiteX7" fmla="*/ 2554415 w 4865298"/>
              <a:gd name="connsiteY7" fmla="*/ 341169 h 974128"/>
              <a:gd name="connsiteX8" fmla="*/ 4865298 w 4865298"/>
              <a:gd name="connsiteY8" fmla="*/ 341169 h 974128"/>
              <a:gd name="connsiteX9" fmla="*/ 4865298 w 4865298"/>
              <a:gd name="connsiteY9" fmla="*/ 974128 h 974128"/>
              <a:gd name="connsiteX10" fmla="*/ 0 w 4865298"/>
              <a:gd name="connsiteY10" fmla="*/ 974128 h 974128"/>
              <a:gd name="connsiteX11" fmla="*/ 0 w 4865298"/>
              <a:gd name="connsiteY11" fmla="*/ 341169 h 97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65298" h="974128">
                <a:moveTo>
                  <a:pt x="4865298" y="632959"/>
                </a:moveTo>
                <a:lnTo>
                  <a:pt x="2554415" y="632959"/>
                </a:lnTo>
                <a:lnTo>
                  <a:pt x="2554415" y="730596"/>
                </a:lnTo>
                <a:lnTo>
                  <a:pt x="2676181" y="730596"/>
                </a:lnTo>
                <a:lnTo>
                  <a:pt x="2432649" y="974127"/>
                </a:lnTo>
                <a:lnTo>
                  <a:pt x="2189117" y="730596"/>
                </a:lnTo>
                <a:lnTo>
                  <a:pt x="2310883" y="730596"/>
                </a:lnTo>
                <a:lnTo>
                  <a:pt x="2310883" y="632959"/>
                </a:lnTo>
                <a:lnTo>
                  <a:pt x="0" y="632959"/>
                </a:lnTo>
                <a:lnTo>
                  <a:pt x="0" y="1"/>
                </a:lnTo>
                <a:lnTo>
                  <a:pt x="4865298" y="1"/>
                </a:lnTo>
                <a:lnTo>
                  <a:pt x="4865298" y="632959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3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0687" tIns="170689" rIns="170688" bIns="511858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400" b="1" kern="1200" dirty="0"/>
              <a:t>1. Identifique las </a:t>
            </a:r>
            <a:r>
              <a:rPr lang="es-VE" sz="2400" b="1" kern="1200" dirty="0">
                <a:solidFill>
                  <a:srgbClr val="FF0000"/>
                </a:solidFill>
              </a:rPr>
              <a:t>variables de decisión y variables de desviación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4E9A38D-3732-447A-A6F9-C1E2EA178244}"/>
              </a:ext>
            </a:extLst>
          </p:cNvPr>
          <p:cNvSpPr/>
          <p:nvPr/>
        </p:nvSpPr>
        <p:spPr>
          <a:xfrm>
            <a:off x="6348046" y="3103685"/>
            <a:ext cx="5416062" cy="265876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975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C4532A88-5BAC-4802-9522-5718B41B4019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VARIABLES </a:t>
            </a:r>
          </a:p>
        </p:txBody>
      </p:sp>
      <p:graphicFrame>
        <p:nvGraphicFramePr>
          <p:cNvPr id="20" name="Diagrama 19">
            <a:extLst>
              <a:ext uri="{FF2B5EF4-FFF2-40B4-BE49-F238E27FC236}">
                <a16:creationId xmlns:a16="http://schemas.microsoft.com/office/drawing/2014/main" id="{FA4137B7-9CC5-448D-844A-D23D2006BF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2934427"/>
              </p:ext>
            </p:extLst>
          </p:nvPr>
        </p:nvGraphicFramePr>
        <p:xfrm>
          <a:off x="201927" y="1509623"/>
          <a:ext cx="5693776" cy="24035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1" name="Diagrama 20">
            <a:extLst>
              <a:ext uri="{FF2B5EF4-FFF2-40B4-BE49-F238E27FC236}">
                <a16:creationId xmlns:a16="http://schemas.microsoft.com/office/drawing/2014/main" id="{F193E510-2821-4DE6-AE41-EEE3AE0CD5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663967"/>
              </p:ext>
            </p:extLst>
          </p:nvPr>
        </p:nvGraphicFramePr>
        <p:xfrm>
          <a:off x="201926" y="4049487"/>
          <a:ext cx="5681407" cy="2230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89290EFF-B732-4F2B-8D12-69D83DCC1E57}"/>
              </a:ext>
            </a:extLst>
          </p:cNvPr>
          <p:cNvSpPr txBox="1"/>
          <p:nvPr/>
        </p:nvSpPr>
        <p:spPr>
          <a:xfrm>
            <a:off x="6762770" y="1742828"/>
            <a:ext cx="4889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Se desea obtener por lo menos una utilidad de $200 000</a:t>
            </a:r>
            <a:endParaRPr lang="es-PE" sz="2400" b="1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2F8FB8F-161D-4D8C-94AF-438F4A276CE1}"/>
              </a:ext>
            </a:extLst>
          </p:cNvPr>
          <p:cNvCxnSpPr/>
          <p:nvPr/>
        </p:nvCxnSpPr>
        <p:spPr>
          <a:xfrm>
            <a:off x="6811347" y="5030611"/>
            <a:ext cx="453467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81B9393-0167-4D98-A926-A27C5B833789}"/>
              </a:ext>
            </a:extLst>
          </p:cNvPr>
          <p:cNvCxnSpPr/>
          <p:nvPr/>
        </p:nvCxnSpPr>
        <p:spPr>
          <a:xfrm>
            <a:off x="7632441" y="4863779"/>
            <a:ext cx="0" cy="3545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54A1179-668D-4333-8212-B126B33AB1F9}"/>
              </a:ext>
            </a:extLst>
          </p:cNvPr>
          <p:cNvCxnSpPr/>
          <p:nvPr/>
        </p:nvCxnSpPr>
        <p:spPr>
          <a:xfrm>
            <a:off x="9128448" y="4866516"/>
            <a:ext cx="0" cy="3545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3337E07-D37A-4BD9-BC05-7716266D7B1D}"/>
              </a:ext>
            </a:extLst>
          </p:cNvPr>
          <p:cNvCxnSpPr/>
          <p:nvPr/>
        </p:nvCxnSpPr>
        <p:spPr>
          <a:xfrm>
            <a:off x="10587134" y="4868880"/>
            <a:ext cx="0" cy="3545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8BEB28F-3C39-4CC7-889D-D92B2C8A5881}"/>
              </a:ext>
            </a:extLst>
          </p:cNvPr>
          <p:cNvSpPr txBox="1"/>
          <p:nvPr/>
        </p:nvSpPr>
        <p:spPr>
          <a:xfrm>
            <a:off x="7128588" y="4489436"/>
            <a:ext cx="121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C37CDA4-86FF-499B-8C30-448B8E480CA3}"/>
              </a:ext>
            </a:extLst>
          </p:cNvPr>
          <p:cNvSpPr txBox="1"/>
          <p:nvPr/>
        </p:nvSpPr>
        <p:spPr>
          <a:xfrm>
            <a:off x="8481848" y="4255198"/>
            <a:ext cx="12139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/>
            </a:lvl1pPr>
          </a:lstStyle>
          <a:p>
            <a:r>
              <a:rPr lang="es-ES" b="1" dirty="0">
                <a:solidFill>
                  <a:srgbClr val="0070C0"/>
                </a:solidFill>
              </a:rPr>
              <a:t>$200 000</a:t>
            </a:r>
          </a:p>
          <a:p>
            <a:r>
              <a:rPr lang="es-ES" b="1" dirty="0"/>
              <a:t>(Utilidad)</a:t>
            </a:r>
            <a:endParaRPr lang="es-PE" b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F0A5197-DA9E-4C5C-A47B-A2D55C117795}"/>
              </a:ext>
            </a:extLst>
          </p:cNvPr>
          <p:cNvSpPr txBox="1"/>
          <p:nvPr/>
        </p:nvSpPr>
        <p:spPr>
          <a:xfrm>
            <a:off x="9958546" y="4486431"/>
            <a:ext cx="1282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/>
            </a:lvl1pPr>
          </a:lstStyle>
          <a:p>
            <a:r>
              <a:rPr lang="es-ES" b="1" dirty="0"/>
              <a:t>$230 000</a:t>
            </a:r>
            <a:endParaRPr lang="es-PE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D68A79A-7BC1-469E-93B5-C8F553E2CA3B}"/>
              </a:ext>
            </a:extLst>
          </p:cNvPr>
          <p:cNvSpPr txBox="1"/>
          <p:nvPr/>
        </p:nvSpPr>
        <p:spPr>
          <a:xfrm>
            <a:off x="6952594" y="4496941"/>
            <a:ext cx="1329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$180 000</a:t>
            </a:r>
            <a:endParaRPr lang="es-PE" sz="20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8B0A0BC-2BCB-4FA8-B2D9-5F947597F80A}"/>
              </a:ext>
            </a:extLst>
          </p:cNvPr>
          <p:cNvSpPr txBox="1"/>
          <p:nvPr/>
        </p:nvSpPr>
        <p:spPr>
          <a:xfrm>
            <a:off x="7898518" y="5138068"/>
            <a:ext cx="2475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rgbClr val="FF0000"/>
                </a:solidFill>
              </a:rPr>
              <a:t>D</a:t>
            </a:r>
            <a:r>
              <a:rPr lang="es-ES" sz="2400" b="1" baseline="-25000" dirty="0" err="1">
                <a:solidFill>
                  <a:srgbClr val="FF0000"/>
                </a:solidFill>
              </a:rPr>
              <a:t>1</a:t>
            </a:r>
            <a:r>
              <a:rPr lang="es-ES" sz="2400" b="1" dirty="0">
                <a:solidFill>
                  <a:srgbClr val="FF0000"/>
                </a:solidFill>
              </a:rPr>
              <a:t>  </a:t>
            </a:r>
            <a:r>
              <a:rPr lang="es-ES" sz="2400" b="1" dirty="0"/>
              <a:t>              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es-ES" sz="2400" b="1" baseline="-25000" dirty="0" err="1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es-PE" sz="2400" b="1" baseline="-25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98CE5C8-4EBC-4EEF-8ED1-7467FF6E4FC0}"/>
              </a:ext>
            </a:extLst>
          </p:cNvPr>
          <p:cNvSpPr txBox="1"/>
          <p:nvPr/>
        </p:nvSpPr>
        <p:spPr>
          <a:xfrm>
            <a:off x="7614745" y="5737163"/>
            <a:ext cx="3011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Por DEBAJO          Por ENCIMA</a:t>
            </a:r>
          </a:p>
          <a:p>
            <a:pPr algn="ctr"/>
            <a:r>
              <a:rPr lang="es-ES" b="1" dirty="0"/>
              <a:t>de la meta             de la meta</a:t>
            </a:r>
            <a:endParaRPr lang="es-PE" b="1" dirty="0"/>
          </a:p>
        </p:txBody>
      </p:sp>
      <p:sp>
        <p:nvSpPr>
          <p:cNvPr id="17" name="Bocadillo: rectángulo con esquinas redondeadas 16">
            <a:extLst>
              <a:ext uri="{FF2B5EF4-FFF2-40B4-BE49-F238E27FC236}">
                <a16:creationId xmlns:a16="http://schemas.microsoft.com/office/drawing/2014/main" id="{74345642-4ADC-4276-9253-096A47578959}"/>
              </a:ext>
            </a:extLst>
          </p:cNvPr>
          <p:cNvSpPr/>
          <p:nvPr/>
        </p:nvSpPr>
        <p:spPr>
          <a:xfrm>
            <a:off x="6306208" y="5358791"/>
            <a:ext cx="1182414" cy="536028"/>
          </a:xfrm>
          <a:prstGeom prst="wedgeRoundRectCallout">
            <a:avLst>
              <a:gd name="adj1" fmla="val 105887"/>
              <a:gd name="adj2" fmla="val -4070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No deseada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9F1C0E5-CB4E-46A1-A516-47154C757586}"/>
              </a:ext>
            </a:extLst>
          </p:cNvPr>
          <p:cNvSpPr/>
          <p:nvPr/>
        </p:nvSpPr>
        <p:spPr>
          <a:xfrm>
            <a:off x="6728685" y="1337897"/>
            <a:ext cx="1534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Ejemplo 1: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A0C6106-1395-4E8B-AF13-659226F9A29C}"/>
              </a:ext>
            </a:extLst>
          </p:cNvPr>
          <p:cNvSpPr/>
          <p:nvPr/>
        </p:nvSpPr>
        <p:spPr>
          <a:xfrm>
            <a:off x="6762770" y="2591577"/>
            <a:ext cx="13548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Solución: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D7F43F35-DC35-4DEE-B110-38A3C7ADDF74}"/>
              </a:ext>
            </a:extLst>
          </p:cNvPr>
          <p:cNvSpPr/>
          <p:nvPr/>
        </p:nvSpPr>
        <p:spPr>
          <a:xfrm>
            <a:off x="8320040" y="3665468"/>
            <a:ext cx="1487156" cy="572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META</a:t>
            </a:r>
            <a:endParaRPr lang="es-PE" b="1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7AC0064D-78E7-409B-B418-F4CDA39B6E11}"/>
              </a:ext>
            </a:extLst>
          </p:cNvPr>
          <p:cNvCxnSpPr>
            <a:stCxn id="19" idx="6"/>
          </p:cNvCxnSpPr>
          <p:nvPr/>
        </p:nvCxnSpPr>
        <p:spPr>
          <a:xfrm flipV="1">
            <a:off x="9807196" y="3950898"/>
            <a:ext cx="1476155" cy="94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10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4" grpId="0"/>
      <p:bldP spid="15" grpId="0"/>
      <p:bldP spid="9" grpId="0"/>
      <p:bldP spid="16" grpId="0"/>
      <p:bldP spid="17" grpId="0" animBg="1"/>
      <p:bldP spid="6" grpId="0"/>
      <p:bldP spid="18" grpId="0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C4532A88-5BAC-4802-9522-5718B41B4019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VARIABLES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9290EFF-B732-4F2B-8D12-69D83DCC1E57}"/>
              </a:ext>
            </a:extLst>
          </p:cNvPr>
          <p:cNvSpPr txBox="1"/>
          <p:nvPr/>
        </p:nvSpPr>
        <p:spPr>
          <a:xfrm>
            <a:off x="505339" y="1929796"/>
            <a:ext cx="4889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Atender a lo más 1000 clientes</a:t>
            </a:r>
            <a:endParaRPr lang="es-PE" sz="2400" b="1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2F8FB8F-161D-4D8C-94AF-438F4A276CE1}"/>
              </a:ext>
            </a:extLst>
          </p:cNvPr>
          <p:cNvCxnSpPr/>
          <p:nvPr/>
        </p:nvCxnSpPr>
        <p:spPr>
          <a:xfrm>
            <a:off x="511131" y="5028027"/>
            <a:ext cx="453467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81B9393-0167-4D98-A926-A27C5B833789}"/>
              </a:ext>
            </a:extLst>
          </p:cNvPr>
          <p:cNvCxnSpPr/>
          <p:nvPr/>
        </p:nvCxnSpPr>
        <p:spPr>
          <a:xfrm>
            <a:off x="1332225" y="4916059"/>
            <a:ext cx="0" cy="3545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54A1179-668D-4333-8212-B126B33AB1F9}"/>
              </a:ext>
            </a:extLst>
          </p:cNvPr>
          <p:cNvCxnSpPr/>
          <p:nvPr/>
        </p:nvCxnSpPr>
        <p:spPr>
          <a:xfrm>
            <a:off x="2828232" y="4900508"/>
            <a:ext cx="0" cy="3545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3337E07-D37A-4BD9-BC05-7716266D7B1D}"/>
              </a:ext>
            </a:extLst>
          </p:cNvPr>
          <p:cNvCxnSpPr/>
          <p:nvPr/>
        </p:nvCxnSpPr>
        <p:spPr>
          <a:xfrm>
            <a:off x="4286918" y="4866296"/>
            <a:ext cx="0" cy="3545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8BEB28F-3C39-4CC7-889D-D92B2C8A5881}"/>
              </a:ext>
            </a:extLst>
          </p:cNvPr>
          <p:cNvSpPr txBox="1"/>
          <p:nvPr/>
        </p:nvSpPr>
        <p:spPr>
          <a:xfrm>
            <a:off x="828372" y="4486852"/>
            <a:ext cx="121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C37CDA4-86FF-499B-8C30-448B8E480CA3}"/>
              </a:ext>
            </a:extLst>
          </p:cNvPr>
          <p:cNvSpPr txBox="1"/>
          <p:nvPr/>
        </p:nvSpPr>
        <p:spPr>
          <a:xfrm>
            <a:off x="1677135" y="4252614"/>
            <a:ext cx="2286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/>
            </a:lvl1pPr>
          </a:lstStyle>
          <a:p>
            <a:pPr algn="ctr"/>
            <a:r>
              <a:rPr lang="es-ES" b="1" dirty="0"/>
              <a:t>1000</a:t>
            </a:r>
          </a:p>
          <a:p>
            <a:r>
              <a:rPr lang="es-ES" b="1" dirty="0"/>
              <a:t>(Clientes atendidos)</a:t>
            </a:r>
            <a:endParaRPr lang="es-PE" b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F0A5197-DA9E-4C5C-A47B-A2D55C117795}"/>
              </a:ext>
            </a:extLst>
          </p:cNvPr>
          <p:cNvSpPr txBox="1"/>
          <p:nvPr/>
        </p:nvSpPr>
        <p:spPr>
          <a:xfrm>
            <a:off x="3658330" y="4483847"/>
            <a:ext cx="1282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/>
            </a:lvl1pPr>
          </a:lstStyle>
          <a:p>
            <a:pPr algn="ctr"/>
            <a:r>
              <a:rPr lang="es-ES" b="1" dirty="0"/>
              <a:t>1100</a:t>
            </a:r>
            <a:endParaRPr lang="es-PE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D68A79A-7BC1-469E-93B5-C8F553E2CA3B}"/>
              </a:ext>
            </a:extLst>
          </p:cNvPr>
          <p:cNvSpPr txBox="1"/>
          <p:nvPr/>
        </p:nvSpPr>
        <p:spPr>
          <a:xfrm>
            <a:off x="652378" y="4494357"/>
            <a:ext cx="1329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700</a:t>
            </a:r>
            <a:endParaRPr lang="es-PE" sz="20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8B0A0BC-2BCB-4FA8-B2D9-5F947597F80A}"/>
              </a:ext>
            </a:extLst>
          </p:cNvPr>
          <p:cNvSpPr txBox="1"/>
          <p:nvPr/>
        </p:nvSpPr>
        <p:spPr>
          <a:xfrm>
            <a:off x="1598302" y="5135484"/>
            <a:ext cx="2475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rgbClr val="FF0000"/>
                </a:solidFill>
              </a:rPr>
              <a:t>D</a:t>
            </a:r>
            <a:r>
              <a:rPr lang="es-ES" sz="2400" b="1" baseline="-25000" dirty="0" err="1">
                <a:solidFill>
                  <a:srgbClr val="FF0000"/>
                </a:solidFill>
              </a:rPr>
              <a:t>1</a:t>
            </a:r>
            <a:r>
              <a:rPr lang="es-ES" sz="2400" b="1" dirty="0">
                <a:solidFill>
                  <a:srgbClr val="FF0000"/>
                </a:solidFill>
              </a:rPr>
              <a:t>  </a:t>
            </a:r>
            <a:r>
              <a:rPr lang="es-ES" sz="2400" b="1" dirty="0"/>
              <a:t>              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es-ES" sz="2400" b="1" baseline="-25000" dirty="0" err="1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es-PE" sz="2400" b="1" baseline="-25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98CE5C8-4EBC-4EEF-8ED1-7467FF6E4FC0}"/>
              </a:ext>
            </a:extLst>
          </p:cNvPr>
          <p:cNvSpPr txBox="1"/>
          <p:nvPr/>
        </p:nvSpPr>
        <p:spPr>
          <a:xfrm>
            <a:off x="1314529" y="5734579"/>
            <a:ext cx="3011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Por DEBAJO          Por ENCIMA</a:t>
            </a:r>
          </a:p>
          <a:p>
            <a:pPr algn="ctr"/>
            <a:r>
              <a:rPr lang="es-ES" b="1" dirty="0"/>
              <a:t>de la meta             de la meta</a:t>
            </a:r>
            <a:endParaRPr lang="es-PE" b="1" dirty="0"/>
          </a:p>
        </p:txBody>
      </p:sp>
      <p:sp>
        <p:nvSpPr>
          <p:cNvPr id="17" name="Bocadillo: rectángulo con esquinas redondeadas 16">
            <a:extLst>
              <a:ext uri="{FF2B5EF4-FFF2-40B4-BE49-F238E27FC236}">
                <a16:creationId xmlns:a16="http://schemas.microsoft.com/office/drawing/2014/main" id="{74345642-4ADC-4276-9253-096A47578959}"/>
              </a:ext>
            </a:extLst>
          </p:cNvPr>
          <p:cNvSpPr/>
          <p:nvPr/>
        </p:nvSpPr>
        <p:spPr>
          <a:xfrm>
            <a:off x="4373040" y="5387738"/>
            <a:ext cx="1182414" cy="536028"/>
          </a:xfrm>
          <a:prstGeom prst="wedgeRoundRectCallout">
            <a:avLst>
              <a:gd name="adj1" fmla="val -98113"/>
              <a:gd name="adj2" fmla="val -524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No deseada</a:t>
            </a:r>
            <a:endParaRPr lang="es-PE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FB4975B-4D77-4D99-8135-CEE1819C9C9A}"/>
              </a:ext>
            </a:extLst>
          </p:cNvPr>
          <p:cNvSpPr/>
          <p:nvPr/>
        </p:nvSpPr>
        <p:spPr>
          <a:xfrm>
            <a:off x="428469" y="1292177"/>
            <a:ext cx="1534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Ejemplo 2: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0572FAB-22EB-4F61-8209-0A4CFFD4E743}"/>
              </a:ext>
            </a:extLst>
          </p:cNvPr>
          <p:cNvSpPr/>
          <p:nvPr/>
        </p:nvSpPr>
        <p:spPr>
          <a:xfrm>
            <a:off x="468731" y="3040467"/>
            <a:ext cx="13548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Solución: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0CC326DE-071F-4AC9-B47A-B847CC2DB8BC}"/>
              </a:ext>
            </a:extLst>
          </p:cNvPr>
          <p:cNvSpPr/>
          <p:nvPr/>
        </p:nvSpPr>
        <p:spPr>
          <a:xfrm>
            <a:off x="2019824" y="3662884"/>
            <a:ext cx="1487156" cy="572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META</a:t>
            </a:r>
            <a:endParaRPr lang="es-PE" b="1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BBAB0D5-CEE9-4006-A09A-C64EA6F7B718}"/>
              </a:ext>
            </a:extLst>
          </p:cNvPr>
          <p:cNvSpPr txBox="1"/>
          <p:nvPr/>
        </p:nvSpPr>
        <p:spPr>
          <a:xfrm>
            <a:off x="6787267" y="1911508"/>
            <a:ext cx="4889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Usar 500 horas hombre. No holguras ni excesos</a:t>
            </a:r>
            <a:endParaRPr lang="es-PE" sz="2400" b="1" dirty="0"/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CB7F55F-71E4-428E-8251-3A057FC2CB39}"/>
              </a:ext>
            </a:extLst>
          </p:cNvPr>
          <p:cNvCxnSpPr/>
          <p:nvPr/>
        </p:nvCxnSpPr>
        <p:spPr>
          <a:xfrm>
            <a:off x="6793059" y="5009739"/>
            <a:ext cx="453467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2A08AB1-0BA3-48B1-9681-3223FDC6B5F0}"/>
              </a:ext>
            </a:extLst>
          </p:cNvPr>
          <p:cNvCxnSpPr/>
          <p:nvPr/>
        </p:nvCxnSpPr>
        <p:spPr>
          <a:xfrm>
            <a:off x="7614153" y="4861195"/>
            <a:ext cx="0" cy="3545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E99DE1A8-2E91-450D-9937-99CD8AB0B584}"/>
              </a:ext>
            </a:extLst>
          </p:cNvPr>
          <p:cNvCxnSpPr/>
          <p:nvPr/>
        </p:nvCxnSpPr>
        <p:spPr>
          <a:xfrm>
            <a:off x="9110160" y="4863932"/>
            <a:ext cx="0" cy="3545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81935EF6-DFA1-4927-9AC7-654676389422}"/>
              </a:ext>
            </a:extLst>
          </p:cNvPr>
          <p:cNvCxnSpPr/>
          <p:nvPr/>
        </p:nvCxnSpPr>
        <p:spPr>
          <a:xfrm>
            <a:off x="10568846" y="4848008"/>
            <a:ext cx="0" cy="3545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7C472DB-7D56-43F1-8403-86140B15DC24}"/>
              </a:ext>
            </a:extLst>
          </p:cNvPr>
          <p:cNvSpPr txBox="1"/>
          <p:nvPr/>
        </p:nvSpPr>
        <p:spPr>
          <a:xfrm>
            <a:off x="7110300" y="4468564"/>
            <a:ext cx="121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PE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7FB481F-53D8-4DCB-9E72-FE0490884CCE}"/>
              </a:ext>
            </a:extLst>
          </p:cNvPr>
          <p:cNvSpPr txBox="1"/>
          <p:nvPr/>
        </p:nvSpPr>
        <p:spPr>
          <a:xfrm>
            <a:off x="8132484" y="4234326"/>
            <a:ext cx="1844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/>
            </a:lvl1pPr>
          </a:lstStyle>
          <a:p>
            <a:pPr algn="ctr"/>
            <a:r>
              <a:rPr lang="es-ES" b="1" dirty="0"/>
              <a:t>500</a:t>
            </a:r>
          </a:p>
          <a:p>
            <a:pPr algn="ctr"/>
            <a:r>
              <a:rPr lang="es-ES" b="1" dirty="0"/>
              <a:t>(horas hombre)</a:t>
            </a:r>
            <a:endParaRPr lang="es-PE" b="1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B1CEA61-F051-4DB3-9288-6FCCC69A833D}"/>
              </a:ext>
            </a:extLst>
          </p:cNvPr>
          <p:cNvSpPr txBox="1"/>
          <p:nvPr/>
        </p:nvSpPr>
        <p:spPr>
          <a:xfrm>
            <a:off x="9940258" y="4465559"/>
            <a:ext cx="1282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/>
            </a:lvl1pPr>
          </a:lstStyle>
          <a:p>
            <a:pPr algn="ctr"/>
            <a:r>
              <a:rPr lang="es-ES" b="1" dirty="0"/>
              <a:t>  600</a:t>
            </a:r>
            <a:endParaRPr lang="es-PE" b="1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41C01ABF-627B-4030-9C12-EC09B9E776EF}"/>
              </a:ext>
            </a:extLst>
          </p:cNvPr>
          <p:cNvSpPr txBox="1"/>
          <p:nvPr/>
        </p:nvSpPr>
        <p:spPr>
          <a:xfrm>
            <a:off x="6934306" y="4476069"/>
            <a:ext cx="1329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400</a:t>
            </a:r>
            <a:endParaRPr lang="es-PE" sz="2000" b="1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3B3AF00-CD1A-46E5-9C48-0DE7E6716648}"/>
              </a:ext>
            </a:extLst>
          </p:cNvPr>
          <p:cNvSpPr txBox="1"/>
          <p:nvPr/>
        </p:nvSpPr>
        <p:spPr>
          <a:xfrm>
            <a:off x="7880230" y="5117196"/>
            <a:ext cx="2475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rgbClr val="FF0000"/>
                </a:solidFill>
              </a:rPr>
              <a:t>D</a:t>
            </a:r>
            <a:r>
              <a:rPr lang="es-ES" sz="2400" b="1" baseline="-25000" dirty="0" err="1">
                <a:solidFill>
                  <a:srgbClr val="FF0000"/>
                </a:solidFill>
              </a:rPr>
              <a:t>1</a:t>
            </a:r>
            <a:r>
              <a:rPr lang="es-ES" sz="2400" b="1" dirty="0">
                <a:solidFill>
                  <a:srgbClr val="FF0000"/>
                </a:solidFill>
              </a:rPr>
              <a:t>  </a:t>
            </a:r>
            <a:r>
              <a:rPr lang="es-ES" sz="2400" b="1" dirty="0"/>
              <a:t>              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es-ES" sz="2400" b="1" baseline="-25000" dirty="0" err="1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es-PE" sz="2400" b="1" baseline="-25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98816CC-63B9-422C-AB0E-D276AC2219D4}"/>
              </a:ext>
            </a:extLst>
          </p:cNvPr>
          <p:cNvSpPr txBox="1"/>
          <p:nvPr/>
        </p:nvSpPr>
        <p:spPr>
          <a:xfrm>
            <a:off x="7596457" y="5716291"/>
            <a:ext cx="3011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Por DEBAJO          Por ENCIMA</a:t>
            </a:r>
          </a:p>
          <a:p>
            <a:pPr algn="ctr"/>
            <a:r>
              <a:rPr lang="es-ES" b="1" dirty="0"/>
              <a:t>de la meta             de la meta</a:t>
            </a:r>
            <a:endParaRPr lang="es-PE" b="1" dirty="0"/>
          </a:p>
        </p:txBody>
      </p:sp>
      <p:sp>
        <p:nvSpPr>
          <p:cNvPr id="50" name="Bocadillo: rectángulo con esquinas redondeadas 49">
            <a:extLst>
              <a:ext uri="{FF2B5EF4-FFF2-40B4-BE49-F238E27FC236}">
                <a16:creationId xmlns:a16="http://schemas.microsoft.com/office/drawing/2014/main" id="{ED70091B-9C73-4C72-97FC-76DDB36EED4B}"/>
              </a:ext>
            </a:extLst>
          </p:cNvPr>
          <p:cNvSpPr/>
          <p:nvPr/>
        </p:nvSpPr>
        <p:spPr>
          <a:xfrm>
            <a:off x="6287920" y="5337919"/>
            <a:ext cx="1182414" cy="536028"/>
          </a:xfrm>
          <a:prstGeom prst="wedgeRoundRectCallout">
            <a:avLst>
              <a:gd name="adj1" fmla="val 105887"/>
              <a:gd name="adj2" fmla="val -4070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No deseada</a:t>
            </a:r>
            <a:endParaRPr lang="es-PE" dirty="0"/>
          </a:p>
        </p:txBody>
      </p:sp>
      <p:sp>
        <p:nvSpPr>
          <p:cNvPr id="51" name="Bocadillo: rectángulo con esquinas redondeadas 50">
            <a:extLst>
              <a:ext uri="{FF2B5EF4-FFF2-40B4-BE49-F238E27FC236}">
                <a16:creationId xmlns:a16="http://schemas.microsoft.com/office/drawing/2014/main" id="{42A7FACC-0813-4B39-9E6E-7D88221A2193}"/>
              </a:ext>
            </a:extLst>
          </p:cNvPr>
          <p:cNvSpPr/>
          <p:nvPr/>
        </p:nvSpPr>
        <p:spPr>
          <a:xfrm>
            <a:off x="10775842" y="5332664"/>
            <a:ext cx="1182414" cy="536028"/>
          </a:xfrm>
          <a:prstGeom prst="wedgeRoundRectCallout">
            <a:avLst>
              <a:gd name="adj1" fmla="val -107446"/>
              <a:gd name="adj2" fmla="val -377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No deseada</a:t>
            </a:r>
            <a:endParaRPr lang="es-PE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8F004F70-2DDE-45F6-90A5-754B0F6180BD}"/>
              </a:ext>
            </a:extLst>
          </p:cNvPr>
          <p:cNvSpPr/>
          <p:nvPr/>
        </p:nvSpPr>
        <p:spPr>
          <a:xfrm>
            <a:off x="6710397" y="1273889"/>
            <a:ext cx="1534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Ejemplo 3: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BC66CE71-4E77-4E9E-B3C4-B91A7FA779CB}"/>
              </a:ext>
            </a:extLst>
          </p:cNvPr>
          <p:cNvSpPr/>
          <p:nvPr/>
        </p:nvSpPr>
        <p:spPr>
          <a:xfrm>
            <a:off x="6750659" y="3039431"/>
            <a:ext cx="13548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Solución:</a:t>
            </a: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359E388E-7937-4A4F-B699-3B90C088682E}"/>
              </a:ext>
            </a:extLst>
          </p:cNvPr>
          <p:cNvSpPr/>
          <p:nvPr/>
        </p:nvSpPr>
        <p:spPr>
          <a:xfrm>
            <a:off x="8301752" y="3644596"/>
            <a:ext cx="1487156" cy="572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META</a:t>
            </a:r>
            <a:endParaRPr lang="es-PE" b="1" dirty="0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68CFD5D6-D0CE-4772-BC2A-6F587E7E95D2}"/>
              </a:ext>
            </a:extLst>
          </p:cNvPr>
          <p:cNvCxnSpPr>
            <a:cxnSpLocks/>
          </p:cNvCxnSpPr>
          <p:nvPr/>
        </p:nvCxnSpPr>
        <p:spPr>
          <a:xfrm flipH="1">
            <a:off x="550417" y="3969600"/>
            <a:ext cx="1479941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8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4" grpId="0"/>
      <p:bldP spid="15" grpId="0"/>
      <p:bldP spid="9" grpId="0"/>
      <p:bldP spid="16" grpId="0"/>
      <p:bldP spid="17" grpId="0" animBg="1"/>
      <p:bldP spid="18" grpId="0"/>
      <p:bldP spid="19" grpId="0"/>
      <p:bldP spid="22" grpId="0" animBg="1"/>
      <p:bldP spid="39" grpId="0"/>
      <p:bldP spid="45" grpId="0"/>
      <p:bldP spid="46" grpId="0"/>
      <p:bldP spid="47" grpId="0"/>
      <p:bldP spid="48" grpId="0"/>
      <p:bldP spid="49" grpId="0"/>
      <p:bldP spid="50" grpId="0" animBg="1"/>
      <p:bldP spid="51" grpId="0" animBg="1"/>
      <p:bldP spid="52" grpId="0"/>
      <p:bldP spid="53" grpId="0"/>
      <p:bldP spid="5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4362F69E-F67A-4F90-8001-A776122B3A9C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RESTRICCIONES</a:t>
            </a:r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52349A78-1ACA-4241-9D34-8AB17D1ED1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7497523"/>
              </p:ext>
            </p:extLst>
          </p:nvPr>
        </p:nvGraphicFramePr>
        <p:xfrm>
          <a:off x="137160" y="1325880"/>
          <a:ext cx="5958840" cy="2011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A509A595-62E1-4578-A8D1-37662D21C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4714439"/>
              </p:ext>
            </p:extLst>
          </p:nvPr>
        </p:nvGraphicFramePr>
        <p:xfrm>
          <a:off x="173736" y="3417134"/>
          <a:ext cx="5958840" cy="3440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0D9C2BE0-358E-44DF-9E59-91258B44557E}"/>
              </a:ext>
            </a:extLst>
          </p:cNvPr>
          <p:cNvSpPr/>
          <p:nvPr/>
        </p:nvSpPr>
        <p:spPr>
          <a:xfrm>
            <a:off x="6616687" y="4303454"/>
            <a:ext cx="523441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3200" b="1" dirty="0">
                <a:solidFill>
                  <a:srgbClr val="FF0000"/>
                </a:solidFill>
              </a:rPr>
              <a:t>!Restricciones </a:t>
            </a:r>
            <a:r>
              <a:rPr lang="es-PE" sz="3200" b="1" dirty="0" err="1">
                <a:solidFill>
                  <a:srgbClr val="FF0000"/>
                </a:solidFill>
              </a:rPr>
              <a:t>meta1</a:t>
            </a:r>
            <a:endParaRPr lang="es-PE" sz="3200" b="1" dirty="0">
              <a:solidFill>
                <a:srgbClr val="FF0000"/>
              </a:solidFill>
            </a:endParaRPr>
          </a:p>
          <a:p>
            <a:r>
              <a:rPr lang="es-PE" sz="3200" dirty="0" err="1"/>
              <a:t>0.5X1+0.25X2+D1-E1</a:t>
            </a:r>
            <a:r>
              <a:rPr lang="es-PE" sz="3200" dirty="0"/>
              <a:t>=700</a:t>
            </a:r>
          </a:p>
          <a:p>
            <a:r>
              <a:rPr lang="es-PE" sz="3200" b="1" dirty="0">
                <a:solidFill>
                  <a:srgbClr val="FF0000"/>
                </a:solidFill>
              </a:rPr>
              <a:t>!Restricciones </a:t>
            </a:r>
            <a:r>
              <a:rPr lang="es-PE" sz="3200" b="1" dirty="0" err="1">
                <a:solidFill>
                  <a:srgbClr val="FF0000"/>
                </a:solidFill>
              </a:rPr>
              <a:t>meta2</a:t>
            </a:r>
            <a:endParaRPr lang="es-PE" sz="3200" b="1" dirty="0">
              <a:solidFill>
                <a:srgbClr val="FF0000"/>
              </a:solidFill>
            </a:endParaRPr>
          </a:p>
          <a:p>
            <a:r>
              <a:rPr lang="es-PE" sz="3200" dirty="0" err="1"/>
              <a:t>3X1+5X2+D2-E2</a:t>
            </a:r>
            <a:r>
              <a:rPr lang="es-PE" sz="3200" dirty="0"/>
              <a:t>=9000</a:t>
            </a:r>
          </a:p>
          <a:p>
            <a:endParaRPr lang="es-PE" sz="3200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460026A-97EF-4328-878B-0D2FCB073BA1}"/>
              </a:ext>
            </a:extLst>
          </p:cNvPr>
          <p:cNvSpPr/>
          <p:nvPr/>
        </p:nvSpPr>
        <p:spPr>
          <a:xfrm>
            <a:off x="6576432" y="2321294"/>
            <a:ext cx="44407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3200" b="1" dirty="0">
                <a:solidFill>
                  <a:srgbClr val="FF0000"/>
                </a:solidFill>
              </a:rPr>
              <a:t>!Restricciones dura</a:t>
            </a:r>
          </a:p>
          <a:p>
            <a:r>
              <a:rPr lang="es-PE" sz="3200" dirty="0" err="1"/>
              <a:t>25X1+50X2</a:t>
            </a:r>
            <a:r>
              <a:rPr lang="es-PE" sz="3200" dirty="0"/>
              <a:t>&lt;=80000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CDF4096-7FED-4807-9C9E-959E9A90F90E}"/>
              </a:ext>
            </a:extLst>
          </p:cNvPr>
          <p:cNvSpPr/>
          <p:nvPr/>
        </p:nvSpPr>
        <p:spPr>
          <a:xfrm>
            <a:off x="6576432" y="1580082"/>
            <a:ext cx="1685077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3200" b="1" dirty="0">
                <a:solidFill>
                  <a:srgbClr val="FF0000"/>
                </a:solidFill>
              </a:rPr>
              <a:t>Ejemplo: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0CFF5F0-FC5B-48CD-AE60-25F26D139726}"/>
              </a:ext>
            </a:extLst>
          </p:cNvPr>
          <p:cNvSpPr/>
          <p:nvPr/>
        </p:nvSpPr>
        <p:spPr>
          <a:xfrm>
            <a:off x="6616687" y="3548760"/>
            <a:ext cx="2004876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3200" b="1" dirty="0">
                <a:solidFill>
                  <a:srgbClr val="FF0000"/>
                </a:solidFill>
              </a:rPr>
              <a:t>Ejemplo:</a:t>
            </a:r>
          </a:p>
        </p:txBody>
      </p:sp>
    </p:spTree>
    <p:extLst>
      <p:ext uri="{BB962C8B-B14F-4D97-AF65-F5344CB8AC3E}">
        <p14:creationId xmlns:p14="http://schemas.microsoft.com/office/powerpoint/2010/main" val="33294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4362F69E-F67A-4F90-8001-A776122B3A9C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FUNCIÓN OBJETIVO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87AA3660-54CA-4335-830B-8D2B5B68ED55}"/>
              </a:ext>
            </a:extLst>
          </p:cNvPr>
          <p:cNvGraphicFramePr/>
          <p:nvPr/>
        </p:nvGraphicFramePr>
        <p:xfrm>
          <a:off x="210312" y="1734207"/>
          <a:ext cx="5797296" cy="3130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700665B5-0195-4139-A14B-837AE1443B50}"/>
              </a:ext>
            </a:extLst>
          </p:cNvPr>
          <p:cNvSpPr txBox="1"/>
          <p:nvPr/>
        </p:nvSpPr>
        <p:spPr>
          <a:xfrm>
            <a:off x="6586022" y="2424423"/>
            <a:ext cx="4895737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/>
              <a:t>Minimizar  </a:t>
            </a:r>
            <a:r>
              <a:rPr lang="es-ES" sz="2400" dirty="0" err="1"/>
              <a:t>E1+D2</a:t>
            </a:r>
            <a:endParaRPr lang="es-ES" sz="2400" dirty="0"/>
          </a:p>
          <a:p>
            <a:pPr algn="just">
              <a:lnSpc>
                <a:spcPct val="150000"/>
              </a:lnSpc>
            </a:pPr>
            <a:r>
              <a:rPr lang="es-ES" sz="2400" dirty="0"/>
              <a:t>Minimizar  </a:t>
            </a:r>
            <a:r>
              <a:rPr lang="es-ES" sz="2400" dirty="0" err="1"/>
              <a:t>D1+D2+D3</a:t>
            </a:r>
            <a:endParaRPr lang="es-ES" sz="2400" dirty="0"/>
          </a:p>
          <a:p>
            <a:pPr algn="just">
              <a:lnSpc>
                <a:spcPct val="150000"/>
              </a:lnSpc>
            </a:pPr>
            <a:r>
              <a:rPr lang="es-ES" sz="2400" dirty="0"/>
              <a:t>Minimizar  </a:t>
            </a:r>
            <a:r>
              <a:rPr lang="es-ES" sz="2400" dirty="0" err="1"/>
              <a:t>P1</a:t>
            </a:r>
            <a:r>
              <a:rPr lang="es-ES" sz="2400" dirty="0"/>
              <a:t>(</a:t>
            </a:r>
            <a:r>
              <a:rPr lang="es-ES" sz="2400" dirty="0" err="1"/>
              <a:t>D1</a:t>
            </a:r>
            <a:r>
              <a:rPr lang="es-ES" sz="2400" dirty="0"/>
              <a:t>),</a:t>
            </a:r>
            <a:r>
              <a:rPr lang="es-ES" sz="2400" dirty="0" err="1"/>
              <a:t>P2</a:t>
            </a:r>
            <a:r>
              <a:rPr lang="es-ES" sz="2400" dirty="0"/>
              <a:t>(</a:t>
            </a:r>
            <a:r>
              <a:rPr lang="es-ES" sz="2400" dirty="0" err="1"/>
              <a:t>E2</a:t>
            </a:r>
            <a:r>
              <a:rPr lang="es-ES" sz="2400" dirty="0"/>
              <a:t>),</a:t>
            </a:r>
            <a:r>
              <a:rPr lang="es-ES" sz="2400" dirty="0" err="1"/>
              <a:t>P3</a:t>
            </a:r>
            <a:r>
              <a:rPr lang="es-ES" sz="2400" dirty="0"/>
              <a:t>(</a:t>
            </a:r>
            <a:r>
              <a:rPr lang="es-ES" sz="2400" dirty="0" err="1"/>
              <a:t>D3+E3</a:t>
            </a:r>
            <a:r>
              <a:rPr lang="es-ES" sz="2400" dirty="0"/>
              <a:t>)</a:t>
            </a:r>
            <a:endParaRPr lang="es-PE" sz="24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5AF4F0D-9E6A-416A-8938-98ACD2476253}"/>
              </a:ext>
            </a:extLst>
          </p:cNvPr>
          <p:cNvSpPr/>
          <p:nvPr/>
        </p:nvSpPr>
        <p:spPr>
          <a:xfrm>
            <a:off x="6612875" y="1799085"/>
            <a:ext cx="1433406" cy="589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b="1" dirty="0">
                <a:solidFill>
                  <a:srgbClr val="FF0000"/>
                </a:solidFill>
              </a:rPr>
              <a:t>Ejemplos: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7D7CDDB-84DC-407F-B173-B6078731736A}"/>
              </a:ext>
            </a:extLst>
          </p:cNvPr>
          <p:cNvSpPr/>
          <p:nvPr/>
        </p:nvSpPr>
        <p:spPr>
          <a:xfrm>
            <a:off x="6627962" y="5253813"/>
            <a:ext cx="3128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 err="1"/>
              <a:t>P1</a:t>
            </a:r>
            <a:r>
              <a:rPr lang="es-ES" sz="2400" dirty="0"/>
              <a:t> = Prioridad 1</a:t>
            </a:r>
          </a:p>
          <a:p>
            <a:r>
              <a:rPr lang="es-ES" sz="2400" dirty="0" err="1"/>
              <a:t>P2</a:t>
            </a:r>
            <a:r>
              <a:rPr lang="es-ES" sz="2400" dirty="0"/>
              <a:t> = Prioridad 2</a:t>
            </a:r>
          </a:p>
          <a:p>
            <a:r>
              <a:rPr lang="es-ES" sz="2400" dirty="0" err="1"/>
              <a:t>P3</a:t>
            </a:r>
            <a:r>
              <a:rPr lang="es-ES" sz="2400" dirty="0"/>
              <a:t> = Prioridad 3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385551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7E4BE42A-53FC-4873-950F-45C8D7672093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FUNCIÓN OBJETIVO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F60F47-96E4-4C33-8553-909BA20B5BA3}"/>
              </a:ext>
            </a:extLst>
          </p:cNvPr>
          <p:cNvSpPr/>
          <p:nvPr/>
        </p:nvSpPr>
        <p:spPr>
          <a:xfrm>
            <a:off x="6369174" y="1712076"/>
            <a:ext cx="1153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/>
              <a:t>MIN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B4717DF-727D-44DE-9383-8F8D5DEFF5CE}"/>
              </a:ext>
            </a:extLst>
          </p:cNvPr>
          <p:cNvSpPr/>
          <p:nvPr/>
        </p:nvSpPr>
        <p:spPr>
          <a:xfrm>
            <a:off x="6317415" y="2850760"/>
            <a:ext cx="16275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/>
              <a:t>MIN </a:t>
            </a:r>
            <a:r>
              <a:rPr lang="es-ES" sz="2000" b="1" dirty="0" err="1"/>
              <a:t>D1</a:t>
            </a:r>
            <a:endParaRPr lang="es-ES" sz="20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53A196C-D664-4588-87A9-EFE61553BF93}"/>
              </a:ext>
            </a:extLst>
          </p:cNvPr>
          <p:cNvSpPr/>
          <p:nvPr/>
        </p:nvSpPr>
        <p:spPr>
          <a:xfrm>
            <a:off x="6366294" y="4400644"/>
            <a:ext cx="12249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/>
              <a:t>MIN </a:t>
            </a:r>
            <a:r>
              <a:rPr lang="es-ES" sz="2000" b="1" dirty="0" err="1"/>
              <a:t>E1</a:t>
            </a:r>
            <a:endParaRPr lang="es-ES" sz="2000" b="1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6E8DF64-5869-4B5F-A1D0-8E381DBB5CD3}"/>
              </a:ext>
            </a:extLst>
          </p:cNvPr>
          <p:cNvSpPr/>
          <p:nvPr/>
        </p:nvSpPr>
        <p:spPr>
          <a:xfrm>
            <a:off x="6397924" y="5907386"/>
            <a:ext cx="18575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/>
              <a:t>MIN (</a:t>
            </a:r>
            <a:r>
              <a:rPr lang="es-ES" sz="2000" b="1" dirty="0" err="1"/>
              <a:t>D1+E1</a:t>
            </a:r>
            <a:r>
              <a:rPr lang="es-ES" sz="2000" b="1" dirty="0"/>
              <a:t>)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3BC1BAA-08E8-4E64-9A8C-4C969E781AAF}"/>
              </a:ext>
            </a:extLst>
          </p:cNvPr>
          <p:cNvCxnSpPr/>
          <p:nvPr/>
        </p:nvCxnSpPr>
        <p:spPr>
          <a:xfrm>
            <a:off x="7682612" y="4211103"/>
            <a:ext cx="4534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BC65BAF9-39FE-442D-A587-D8D6AF23E14F}"/>
              </a:ext>
            </a:extLst>
          </p:cNvPr>
          <p:cNvCxnSpPr/>
          <p:nvPr/>
        </p:nvCxnSpPr>
        <p:spPr>
          <a:xfrm>
            <a:off x="8503706" y="4099135"/>
            <a:ext cx="0" cy="354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B966E4E-F288-47AA-909E-5DB82941C958}"/>
              </a:ext>
            </a:extLst>
          </p:cNvPr>
          <p:cNvCxnSpPr/>
          <p:nvPr/>
        </p:nvCxnSpPr>
        <p:spPr>
          <a:xfrm>
            <a:off x="11458399" y="4049372"/>
            <a:ext cx="0" cy="354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AF0A244-9A60-46F8-9543-786042D31549}"/>
              </a:ext>
            </a:extLst>
          </p:cNvPr>
          <p:cNvSpPr txBox="1"/>
          <p:nvPr/>
        </p:nvSpPr>
        <p:spPr>
          <a:xfrm>
            <a:off x="8769783" y="4318560"/>
            <a:ext cx="2475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rgbClr val="FF0000"/>
                </a:solidFill>
              </a:rPr>
              <a:t>D</a:t>
            </a:r>
            <a:r>
              <a:rPr lang="es-ES" sz="2400" b="1" baseline="-25000" dirty="0" err="1">
                <a:solidFill>
                  <a:srgbClr val="FF0000"/>
                </a:solidFill>
              </a:rPr>
              <a:t>1</a:t>
            </a:r>
            <a:r>
              <a:rPr lang="es-ES" sz="2400" b="1" dirty="0">
                <a:solidFill>
                  <a:srgbClr val="FF0000"/>
                </a:solidFill>
              </a:rPr>
              <a:t>  </a:t>
            </a:r>
            <a:r>
              <a:rPr lang="es-ES" sz="2400" b="1" dirty="0"/>
              <a:t>              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es-ES" sz="2400" b="1" baseline="-25000" dirty="0" err="1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es-PE" sz="2400" b="1" baseline="-25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7964525-7BE2-4958-8A40-210EF9B51ADE}"/>
              </a:ext>
            </a:extLst>
          </p:cNvPr>
          <p:cNvSpPr txBox="1"/>
          <p:nvPr/>
        </p:nvSpPr>
        <p:spPr>
          <a:xfrm>
            <a:off x="8486010" y="4917655"/>
            <a:ext cx="3011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Por DEBAJO          Por ENCIMA</a:t>
            </a:r>
          </a:p>
          <a:p>
            <a:pPr algn="ctr"/>
            <a:r>
              <a:rPr lang="es-ES" b="1" dirty="0"/>
              <a:t>de la meta             de la meta</a:t>
            </a:r>
            <a:endParaRPr lang="es-PE" b="1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A845C2C-DEE1-415E-B856-552735AF267B}"/>
              </a:ext>
            </a:extLst>
          </p:cNvPr>
          <p:cNvSpPr/>
          <p:nvPr/>
        </p:nvSpPr>
        <p:spPr>
          <a:xfrm>
            <a:off x="9268939" y="3432544"/>
            <a:ext cx="1487156" cy="572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META</a:t>
            </a:r>
            <a:endParaRPr lang="es-PE" b="1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CBE97CB1-95CC-4DDF-A013-9FAB92508034}"/>
              </a:ext>
            </a:extLst>
          </p:cNvPr>
          <p:cNvCxnSpPr/>
          <p:nvPr/>
        </p:nvCxnSpPr>
        <p:spPr>
          <a:xfrm>
            <a:off x="10014909" y="4029247"/>
            <a:ext cx="0" cy="354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D1B3491-4527-4F7F-B115-1690E0ECDCD9}"/>
              </a:ext>
            </a:extLst>
          </p:cNvPr>
          <p:cNvGrpSpPr/>
          <p:nvPr/>
        </p:nvGrpSpPr>
        <p:grpSpPr>
          <a:xfrm>
            <a:off x="278240" y="5482009"/>
            <a:ext cx="5691239" cy="1190605"/>
            <a:chOff x="522966" y="4325178"/>
            <a:chExt cx="4693451" cy="1190605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BAA61220-061A-4336-AB91-B0333EB51B55}"/>
                </a:ext>
              </a:extLst>
            </p:cNvPr>
            <p:cNvSpPr/>
            <p:nvPr/>
          </p:nvSpPr>
          <p:spPr>
            <a:xfrm>
              <a:off x="522966" y="4325178"/>
              <a:ext cx="4693451" cy="1190605"/>
            </a:xfrm>
            <a:prstGeom prst="roundRect">
              <a:avLst>
                <a:gd name="adj" fmla="val 10000"/>
              </a:avLst>
            </a:prstGeom>
            <a:solidFill>
              <a:srgbClr val="A5A5A5">
                <a:tint val="40000"/>
                <a:alpha val="90000"/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A5A5A5">
                  <a:tint val="40000"/>
                  <a:alpha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9" name="Rectángulo: esquinas redondeadas 4">
              <a:extLst>
                <a:ext uri="{FF2B5EF4-FFF2-40B4-BE49-F238E27FC236}">
                  <a16:creationId xmlns:a16="http://schemas.microsoft.com/office/drawing/2014/main" id="{CE2B1081-7329-4479-8438-6ECC211801D5}"/>
                </a:ext>
              </a:extLst>
            </p:cNvPr>
            <p:cNvSpPr txBox="1"/>
            <p:nvPr/>
          </p:nvSpPr>
          <p:spPr>
            <a:xfrm>
              <a:off x="557838" y="4360050"/>
              <a:ext cx="4623707" cy="112086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400" kern="1200" dirty="0"/>
                <a:t>Si se </a:t>
              </a:r>
              <a:r>
                <a:rPr lang="es-ES" sz="2400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libri" panose="020F0502020204030204"/>
                  <a:ea typeface="+mn-ea"/>
                  <a:cs typeface="+mn-cs"/>
                </a:rPr>
                <a:t>desea</a:t>
              </a:r>
              <a:r>
                <a:rPr lang="es-ES" sz="2400" kern="1200" dirty="0"/>
                <a:t> alcanzar exactamente el nivel de aspiración se minimizan ambas variables de desviación.</a:t>
              </a:r>
              <a:endParaRPr lang="es-VE" sz="2400" kern="1200" dirty="0"/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DCA8D509-2C5B-4741-9C44-544C428EE04F}"/>
              </a:ext>
            </a:extLst>
          </p:cNvPr>
          <p:cNvGrpSpPr/>
          <p:nvPr/>
        </p:nvGrpSpPr>
        <p:grpSpPr>
          <a:xfrm>
            <a:off x="277532" y="4070684"/>
            <a:ext cx="5701964" cy="1149276"/>
            <a:chOff x="18710" y="4097656"/>
            <a:chExt cx="5701964" cy="1149276"/>
          </a:xfrm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A5CC576D-AB7E-49D4-8F97-305C82874900}"/>
                </a:ext>
              </a:extLst>
            </p:cNvPr>
            <p:cNvSpPr/>
            <p:nvPr/>
          </p:nvSpPr>
          <p:spPr>
            <a:xfrm>
              <a:off x="18710" y="4097656"/>
              <a:ext cx="5701964" cy="1149276"/>
            </a:xfrm>
            <a:prstGeom prst="roundRect">
              <a:avLst>
                <a:gd name="adj" fmla="val 10000"/>
              </a:avLst>
            </a:prstGeom>
            <a:solidFill>
              <a:srgbClr val="ED7D31">
                <a:tint val="40000"/>
                <a:alpha val="90000"/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ED7D31">
                  <a:tint val="40000"/>
                  <a:alpha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24" name="Rectángulo: esquinas redondeadas 4">
              <a:extLst>
                <a:ext uri="{FF2B5EF4-FFF2-40B4-BE49-F238E27FC236}">
                  <a16:creationId xmlns:a16="http://schemas.microsoft.com/office/drawing/2014/main" id="{1E6FD6BB-C956-49DD-A399-5AD187098795}"/>
                </a:ext>
              </a:extLst>
            </p:cNvPr>
            <p:cNvSpPr txBox="1"/>
            <p:nvPr/>
          </p:nvSpPr>
          <p:spPr>
            <a:xfrm>
              <a:off x="52371" y="4131317"/>
              <a:ext cx="5634642" cy="10819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400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libri" panose="020F0502020204030204"/>
                  <a:ea typeface="+mn-ea"/>
                  <a:cs typeface="+mn-cs"/>
                </a:rPr>
                <a:t>Si se desea tener un logro por debajo, se minimiza la variable de desviación por encima Ei</a:t>
              </a:r>
              <a:endParaRPr lang="es-VE" sz="240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1D0B416D-A089-44E5-9316-3E67F3BF1FE9}"/>
              </a:ext>
            </a:extLst>
          </p:cNvPr>
          <p:cNvGrpSpPr/>
          <p:nvPr/>
        </p:nvGrpSpPr>
        <p:grpSpPr>
          <a:xfrm>
            <a:off x="267839" y="2539608"/>
            <a:ext cx="5710267" cy="1248796"/>
            <a:chOff x="391" y="3275492"/>
            <a:chExt cx="5738602" cy="1248796"/>
          </a:xfrm>
        </p:grpSpPr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FFE4C2E7-C26E-43B3-BE0E-5EF8A117583B}"/>
                </a:ext>
              </a:extLst>
            </p:cNvPr>
            <p:cNvSpPr/>
            <p:nvPr/>
          </p:nvSpPr>
          <p:spPr>
            <a:xfrm>
              <a:off x="391" y="3275492"/>
              <a:ext cx="5738602" cy="12487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27" name="Rectángulo: esquinas redondeadas 4">
              <a:extLst>
                <a:ext uri="{FF2B5EF4-FFF2-40B4-BE49-F238E27FC236}">
                  <a16:creationId xmlns:a16="http://schemas.microsoft.com/office/drawing/2014/main" id="{1F283473-F153-4A36-8BBA-7DC3ED641F2D}"/>
                </a:ext>
              </a:extLst>
            </p:cNvPr>
            <p:cNvSpPr txBox="1"/>
            <p:nvPr/>
          </p:nvSpPr>
          <p:spPr>
            <a:xfrm>
              <a:off x="36967" y="3312068"/>
              <a:ext cx="5665450" cy="117564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400" kern="1200" dirty="0"/>
                <a:t>Si se desea tener un logro por encima, se minimiza la variable de desviación por Debajo Di</a:t>
              </a:r>
              <a:endParaRPr lang="es-VE" sz="2400" kern="1200" dirty="0"/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570FA32B-C05D-4E1D-9E04-D145E674F078}"/>
              </a:ext>
            </a:extLst>
          </p:cNvPr>
          <p:cNvGrpSpPr/>
          <p:nvPr/>
        </p:nvGrpSpPr>
        <p:grpSpPr>
          <a:xfrm>
            <a:off x="267998" y="1416176"/>
            <a:ext cx="5727360" cy="851139"/>
            <a:chOff x="551" y="2907073"/>
            <a:chExt cx="5738282" cy="851139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7851A8CD-1463-4B14-9C82-5186AFFE51C6}"/>
                </a:ext>
              </a:extLst>
            </p:cNvPr>
            <p:cNvSpPr/>
            <p:nvPr/>
          </p:nvSpPr>
          <p:spPr>
            <a:xfrm>
              <a:off x="551" y="2907073"/>
              <a:ext cx="5738282" cy="85113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30" name="Rectángulo: esquinas redondeadas 4">
              <a:extLst>
                <a:ext uri="{FF2B5EF4-FFF2-40B4-BE49-F238E27FC236}">
                  <a16:creationId xmlns:a16="http://schemas.microsoft.com/office/drawing/2014/main" id="{97B44D2E-C15B-4690-8214-C0D1CCB2164B}"/>
                </a:ext>
              </a:extLst>
            </p:cNvPr>
            <p:cNvSpPr txBox="1"/>
            <p:nvPr/>
          </p:nvSpPr>
          <p:spPr>
            <a:xfrm>
              <a:off x="25480" y="2932002"/>
              <a:ext cx="5688424" cy="8012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VE" sz="2400" kern="1200" dirty="0"/>
                <a:t>La función siempre es de minimizar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517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0E9DC421-8D60-2A6A-0365-E08FD04D8C73}"/>
              </a:ext>
            </a:extLst>
          </p:cNvPr>
          <p:cNvGrpSpPr/>
          <p:nvPr/>
        </p:nvGrpSpPr>
        <p:grpSpPr>
          <a:xfrm>
            <a:off x="901566" y="1352582"/>
            <a:ext cx="4244448" cy="1053357"/>
            <a:chOff x="970345" y="1345019"/>
            <a:chExt cx="4244448" cy="1083835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682CFBB-8EC4-5036-C048-32EE4FFC0773}"/>
                </a:ext>
              </a:extLst>
            </p:cNvPr>
            <p:cNvSpPr/>
            <p:nvPr/>
          </p:nvSpPr>
          <p:spPr>
            <a:xfrm>
              <a:off x="970345" y="1345019"/>
              <a:ext cx="4244448" cy="858484"/>
            </a:xfrm>
            <a:custGeom>
              <a:avLst/>
              <a:gdLst>
                <a:gd name="connsiteX0" fmla="*/ 0 w 4244448"/>
                <a:gd name="connsiteY0" fmla="*/ 85848 h 858484"/>
                <a:gd name="connsiteX1" fmla="*/ 85848 w 4244448"/>
                <a:gd name="connsiteY1" fmla="*/ 0 h 858484"/>
                <a:gd name="connsiteX2" fmla="*/ 4158600 w 4244448"/>
                <a:gd name="connsiteY2" fmla="*/ 0 h 858484"/>
                <a:gd name="connsiteX3" fmla="*/ 4244448 w 4244448"/>
                <a:gd name="connsiteY3" fmla="*/ 85848 h 858484"/>
                <a:gd name="connsiteX4" fmla="*/ 4244448 w 4244448"/>
                <a:gd name="connsiteY4" fmla="*/ 772636 h 858484"/>
                <a:gd name="connsiteX5" fmla="*/ 4158600 w 4244448"/>
                <a:gd name="connsiteY5" fmla="*/ 858484 h 858484"/>
                <a:gd name="connsiteX6" fmla="*/ 85848 w 4244448"/>
                <a:gd name="connsiteY6" fmla="*/ 858484 h 858484"/>
                <a:gd name="connsiteX7" fmla="*/ 0 w 4244448"/>
                <a:gd name="connsiteY7" fmla="*/ 772636 h 858484"/>
                <a:gd name="connsiteX8" fmla="*/ 0 w 4244448"/>
                <a:gd name="connsiteY8" fmla="*/ 85848 h 858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44448" h="858484">
                  <a:moveTo>
                    <a:pt x="0" y="85848"/>
                  </a:moveTo>
                  <a:cubicBezTo>
                    <a:pt x="0" y="38435"/>
                    <a:pt x="38435" y="0"/>
                    <a:pt x="85848" y="0"/>
                  </a:cubicBezTo>
                  <a:lnTo>
                    <a:pt x="4158600" y="0"/>
                  </a:lnTo>
                  <a:cubicBezTo>
                    <a:pt x="4206013" y="0"/>
                    <a:pt x="4244448" y="38435"/>
                    <a:pt x="4244448" y="85848"/>
                  </a:cubicBezTo>
                  <a:lnTo>
                    <a:pt x="4244448" y="772636"/>
                  </a:lnTo>
                  <a:cubicBezTo>
                    <a:pt x="4244448" y="820049"/>
                    <a:pt x="4206013" y="858484"/>
                    <a:pt x="4158600" y="858484"/>
                  </a:cubicBezTo>
                  <a:lnTo>
                    <a:pt x="85848" y="858484"/>
                  </a:lnTo>
                  <a:cubicBezTo>
                    <a:pt x="38435" y="858484"/>
                    <a:pt x="0" y="820049"/>
                    <a:pt x="0" y="772636"/>
                  </a:cubicBezTo>
                  <a:lnTo>
                    <a:pt x="0" y="8584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1814" tIns="51814" rIns="51814" bIns="51814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VE" sz="2100" b="1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RESTRICCIONES META</a:t>
              </a:r>
            </a:p>
          </p:txBody>
        </p:sp>
        <p:sp>
          <p:nvSpPr>
            <p:cNvPr id="16" name="Flecha: a la derecha 15">
              <a:extLst>
                <a:ext uri="{FF2B5EF4-FFF2-40B4-BE49-F238E27FC236}">
                  <a16:creationId xmlns:a16="http://schemas.microsoft.com/office/drawing/2014/main" id="{ECDACBB2-DC4A-B93D-8484-780A82210B8C}"/>
                </a:ext>
              </a:extLst>
            </p:cNvPr>
            <p:cNvSpPr/>
            <p:nvPr/>
          </p:nvSpPr>
          <p:spPr>
            <a:xfrm rot="5400000">
              <a:off x="3017452" y="2278620"/>
              <a:ext cx="150234" cy="150234"/>
            </a:xfrm>
            <a:prstGeom prst="rightArrow">
              <a:avLst>
                <a:gd name="adj1" fmla="val 667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</p:grpSp>
      <p:sp>
        <p:nvSpPr>
          <p:cNvPr id="4" name="1 Título">
            <a:extLst>
              <a:ext uri="{FF2B5EF4-FFF2-40B4-BE49-F238E27FC236}">
                <a16:creationId xmlns:a16="http://schemas.microsoft.com/office/drawing/2014/main" id="{7E4BE42A-53FC-4873-950F-45C8D7672093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RESTRICCIONES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FD94D88-30F2-4AEC-9A17-7B1C7B14164C}"/>
              </a:ext>
            </a:extLst>
          </p:cNvPr>
          <p:cNvSpPr/>
          <p:nvPr/>
        </p:nvSpPr>
        <p:spPr>
          <a:xfrm>
            <a:off x="6607701" y="1884200"/>
            <a:ext cx="53539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 err="1"/>
              <a:t>D1</a:t>
            </a:r>
            <a:r>
              <a:rPr lang="es-ES" sz="2400" dirty="0"/>
              <a:t> = Desviación por debajo (Defecto)</a:t>
            </a:r>
          </a:p>
          <a:p>
            <a:r>
              <a:rPr lang="es-ES" sz="2400" dirty="0" err="1"/>
              <a:t>E1</a:t>
            </a:r>
            <a:r>
              <a:rPr lang="es-ES" sz="2400" dirty="0"/>
              <a:t> = Desviación por Encima (Exceso)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C026EE0-9FC6-4FA3-8760-60CC6985D4E9}"/>
              </a:ext>
            </a:extLst>
          </p:cNvPr>
          <p:cNvSpPr/>
          <p:nvPr/>
        </p:nvSpPr>
        <p:spPr>
          <a:xfrm>
            <a:off x="10100946" y="4354765"/>
            <a:ext cx="8195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/>
              <a:t>700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4C247B4-5840-4544-B13F-323ED3E8E39F}"/>
              </a:ext>
            </a:extLst>
          </p:cNvPr>
          <p:cNvSpPr/>
          <p:nvPr/>
        </p:nvSpPr>
        <p:spPr>
          <a:xfrm>
            <a:off x="6032941" y="4636631"/>
            <a:ext cx="31004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err="1"/>
              <a:t>0,5X1+0,25X2</a:t>
            </a:r>
            <a:r>
              <a:rPr lang="es-ES" sz="2000" b="1" dirty="0"/>
              <a:t> +</a:t>
            </a:r>
            <a:r>
              <a:rPr lang="es-ES" sz="2000" b="1" dirty="0" err="1"/>
              <a:t>D1-E1</a:t>
            </a:r>
            <a:r>
              <a:rPr lang="es-ES" sz="2000" b="1" dirty="0"/>
              <a:t> =700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F609DC2-43D5-4187-9274-1EE3D10F1C8F}"/>
              </a:ext>
            </a:extLst>
          </p:cNvPr>
          <p:cNvCxnSpPr>
            <a:cxnSpLocks/>
          </p:cNvCxnSpPr>
          <p:nvPr/>
        </p:nvCxnSpPr>
        <p:spPr>
          <a:xfrm>
            <a:off x="9441740" y="4211103"/>
            <a:ext cx="18925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7ED4F04F-757C-4C67-925F-E816AD84F800}"/>
              </a:ext>
            </a:extLst>
          </p:cNvPr>
          <p:cNvCxnSpPr/>
          <p:nvPr/>
        </p:nvCxnSpPr>
        <p:spPr>
          <a:xfrm>
            <a:off x="9641407" y="4024706"/>
            <a:ext cx="0" cy="354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6AC439B-D130-42BA-88D0-89B6BAC11FAC}"/>
              </a:ext>
            </a:extLst>
          </p:cNvPr>
          <p:cNvCxnSpPr/>
          <p:nvPr/>
        </p:nvCxnSpPr>
        <p:spPr>
          <a:xfrm>
            <a:off x="11128806" y="4049372"/>
            <a:ext cx="0" cy="354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4B5557C-7A91-4031-A5BB-8A68A60FF192}"/>
              </a:ext>
            </a:extLst>
          </p:cNvPr>
          <p:cNvSpPr txBox="1"/>
          <p:nvPr/>
        </p:nvSpPr>
        <p:spPr>
          <a:xfrm>
            <a:off x="9152571" y="4318560"/>
            <a:ext cx="2475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rgbClr val="FF0000"/>
                </a:solidFill>
              </a:rPr>
              <a:t>D</a:t>
            </a:r>
            <a:r>
              <a:rPr lang="es-ES" sz="2400" b="1" baseline="-25000" dirty="0" err="1">
                <a:solidFill>
                  <a:srgbClr val="FF0000"/>
                </a:solidFill>
              </a:rPr>
              <a:t>1</a:t>
            </a:r>
            <a:r>
              <a:rPr lang="es-ES" sz="2400" b="1" dirty="0">
                <a:solidFill>
                  <a:srgbClr val="FF0000"/>
                </a:solidFill>
              </a:rPr>
              <a:t>  </a:t>
            </a:r>
            <a:r>
              <a:rPr lang="es-ES" sz="2400" b="1" dirty="0"/>
              <a:t>                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es-ES" sz="2400" b="1" baseline="-25000" dirty="0" err="1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es-PE" sz="2400" b="1" baseline="-25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A10CA70-100B-4312-8D28-FD2FDEFA19F7}"/>
              </a:ext>
            </a:extLst>
          </p:cNvPr>
          <p:cNvSpPr txBox="1"/>
          <p:nvPr/>
        </p:nvSpPr>
        <p:spPr>
          <a:xfrm>
            <a:off x="9060192" y="4917655"/>
            <a:ext cx="3011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Por DEBAJO          Por ENCIMA</a:t>
            </a:r>
          </a:p>
          <a:p>
            <a:pPr algn="ctr"/>
            <a:r>
              <a:rPr lang="es-ES" b="1" dirty="0"/>
              <a:t>de la meta             de la meta</a:t>
            </a:r>
            <a:endParaRPr lang="es-PE" b="1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91B1AAC-DBEF-4A0B-AE06-45F02B9925F1}"/>
              </a:ext>
            </a:extLst>
          </p:cNvPr>
          <p:cNvSpPr/>
          <p:nvPr/>
        </p:nvSpPr>
        <p:spPr>
          <a:xfrm>
            <a:off x="9651727" y="3432544"/>
            <a:ext cx="1487156" cy="572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META</a:t>
            </a:r>
            <a:endParaRPr lang="es-PE" b="1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05D84E11-C580-4420-84E1-B9158FE942F5}"/>
              </a:ext>
            </a:extLst>
          </p:cNvPr>
          <p:cNvCxnSpPr/>
          <p:nvPr/>
        </p:nvCxnSpPr>
        <p:spPr>
          <a:xfrm>
            <a:off x="10397697" y="4029247"/>
            <a:ext cx="0" cy="354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brir llave 16">
            <a:extLst>
              <a:ext uri="{FF2B5EF4-FFF2-40B4-BE49-F238E27FC236}">
                <a16:creationId xmlns:a16="http://schemas.microsoft.com/office/drawing/2014/main" id="{AA49ECF1-8E6F-4692-AB6E-6ABFA70A5B21}"/>
              </a:ext>
            </a:extLst>
          </p:cNvPr>
          <p:cNvSpPr/>
          <p:nvPr/>
        </p:nvSpPr>
        <p:spPr>
          <a:xfrm rot="16200000">
            <a:off x="7437478" y="3833042"/>
            <a:ext cx="223277" cy="2700668"/>
          </a:xfrm>
          <a:prstGeom prst="leftBrace">
            <a:avLst>
              <a:gd name="adj1" fmla="val 8333"/>
              <a:gd name="adj2" fmla="val 5245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Abrir llave 17">
            <a:extLst>
              <a:ext uri="{FF2B5EF4-FFF2-40B4-BE49-F238E27FC236}">
                <a16:creationId xmlns:a16="http://schemas.microsoft.com/office/drawing/2014/main" id="{C1DD2F61-05E9-4BDA-87DA-767B8348307D}"/>
              </a:ext>
            </a:extLst>
          </p:cNvPr>
          <p:cNvSpPr/>
          <p:nvPr/>
        </p:nvSpPr>
        <p:spPr>
          <a:xfrm rot="5400000">
            <a:off x="7925410" y="4259511"/>
            <a:ext cx="257507" cy="62732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6C9A0AF8-9022-4322-A6F3-BABD61F9B4B3}"/>
              </a:ext>
            </a:extLst>
          </p:cNvPr>
          <p:cNvCxnSpPr>
            <a:cxnSpLocks/>
          </p:cNvCxnSpPr>
          <p:nvPr/>
        </p:nvCxnSpPr>
        <p:spPr>
          <a:xfrm>
            <a:off x="5284381" y="2955851"/>
            <a:ext cx="2764466" cy="1531089"/>
          </a:xfrm>
          <a:prstGeom prst="bentConnector3">
            <a:avLst>
              <a:gd name="adj1" fmla="val 100000"/>
            </a:avLst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DE720832-7F19-433A-98BA-41CA01D84A13}"/>
              </a:ext>
            </a:extLst>
          </p:cNvPr>
          <p:cNvCxnSpPr/>
          <p:nvPr/>
        </p:nvCxnSpPr>
        <p:spPr>
          <a:xfrm>
            <a:off x="5273749" y="4082902"/>
            <a:ext cx="3402418" cy="574158"/>
          </a:xfrm>
          <a:prstGeom prst="bentConnector3">
            <a:avLst>
              <a:gd name="adj1" fmla="val 100000"/>
            </a:avLst>
          </a:prstGeom>
          <a:ln w="254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D31E453F-FA61-4B83-8345-56F02BC88BC8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5179161" y="5295015"/>
            <a:ext cx="2436365" cy="34996"/>
          </a:xfrm>
          <a:prstGeom prst="bentConnector4">
            <a:avLst>
              <a:gd name="adj1" fmla="val 46346"/>
              <a:gd name="adj2" fmla="val 1405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rma libre: forma 25">
            <a:extLst>
              <a:ext uri="{FF2B5EF4-FFF2-40B4-BE49-F238E27FC236}">
                <a16:creationId xmlns:a16="http://schemas.microsoft.com/office/drawing/2014/main" id="{554C1510-FF14-A738-B0DC-B7F0A9228F9F}"/>
              </a:ext>
            </a:extLst>
          </p:cNvPr>
          <p:cNvSpPr/>
          <p:nvPr/>
        </p:nvSpPr>
        <p:spPr>
          <a:xfrm>
            <a:off x="828535" y="4700879"/>
            <a:ext cx="4350626" cy="1130294"/>
          </a:xfrm>
          <a:custGeom>
            <a:avLst/>
            <a:gdLst>
              <a:gd name="connsiteX0" fmla="*/ 0 w 4350626"/>
              <a:gd name="connsiteY0" fmla="*/ 144406 h 1444064"/>
              <a:gd name="connsiteX1" fmla="*/ 144406 w 4350626"/>
              <a:gd name="connsiteY1" fmla="*/ 0 h 1444064"/>
              <a:gd name="connsiteX2" fmla="*/ 4206220 w 4350626"/>
              <a:gd name="connsiteY2" fmla="*/ 0 h 1444064"/>
              <a:gd name="connsiteX3" fmla="*/ 4350626 w 4350626"/>
              <a:gd name="connsiteY3" fmla="*/ 144406 h 1444064"/>
              <a:gd name="connsiteX4" fmla="*/ 4350626 w 4350626"/>
              <a:gd name="connsiteY4" fmla="*/ 1299658 h 1444064"/>
              <a:gd name="connsiteX5" fmla="*/ 4206220 w 4350626"/>
              <a:gd name="connsiteY5" fmla="*/ 1444064 h 1444064"/>
              <a:gd name="connsiteX6" fmla="*/ 144406 w 4350626"/>
              <a:gd name="connsiteY6" fmla="*/ 1444064 h 1444064"/>
              <a:gd name="connsiteX7" fmla="*/ 0 w 4350626"/>
              <a:gd name="connsiteY7" fmla="*/ 1299658 h 1444064"/>
              <a:gd name="connsiteX8" fmla="*/ 0 w 4350626"/>
              <a:gd name="connsiteY8" fmla="*/ 144406 h 144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50626" h="1444064">
                <a:moveTo>
                  <a:pt x="0" y="144406"/>
                </a:moveTo>
                <a:cubicBezTo>
                  <a:pt x="0" y="64653"/>
                  <a:pt x="64653" y="0"/>
                  <a:pt x="144406" y="0"/>
                </a:cubicBezTo>
                <a:lnTo>
                  <a:pt x="4206220" y="0"/>
                </a:lnTo>
                <a:cubicBezTo>
                  <a:pt x="4285973" y="0"/>
                  <a:pt x="4350626" y="64653"/>
                  <a:pt x="4350626" y="144406"/>
                </a:cubicBezTo>
                <a:lnTo>
                  <a:pt x="4350626" y="1299658"/>
                </a:lnTo>
                <a:cubicBezTo>
                  <a:pt x="4350626" y="1379411"/>
                  <a:pt x="4285973" y="1444064"/>
                  <a:pt x="4206220" y="1444064"/>
                </a:cubicBezTo>
                <a:lnTo>
                  <a:pt x="144406" y="1444064"/>
                </a:lnTo>
                <a:cubicBezTo>
                  <a:pt x="64653" y="1444064"/>
                  <a:pt x="0" y="1379411"/>
                  <a:pt x="0" y="1299658"/>
                </a:cubicBezTo>
                <a:lnTo>
                  <a:pt x="0" y="144406"/>
                </a:lnTo>
                <a:close/>
              </a:path>
            </a:pathLst>
          </a:custGeom>
        </p:spPr>
        <p:style>
          <a:lnRef idx="2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775" tIns="72775" rIns="72775" bIns="72775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400" kern="1200" dirty="0"/>
              <a:t>Conecte el atributo con el nivel de aspiración introduciendo las variables de desviación.</a:t>
            </a:r>
          </a:p>
        </p:txBody>
      </p:sp>
      <p:sp>
        <p:nvSpPr>
          <p:cNvPr id="28" name="Forma libre: forma 27">
            <a:extLst>
              <a:ext uri="{FF2B5EF4-FFF2-40B4-BE49-F238E27FC236}">
                <a16:creationId xmlns:a16="http://schemas.microsoft.com/office/drawing/2014/main" id="{AC37ABAA-1C55-EE19-E325-F4F616866534}"/>
              </a:ext>
            </a:extLst>
          </p:cNvPr>
          <p:cNvSpPr/>
          <p:nvPr/>
        </p:nvSpPr>
        <p:spPr>
          <a:xfrm>
            <a:off x="882435" y="3700595"/>
            <a:ext cx="4350626" cy="786345"/>
          </a:xfrm>
          <a:custGeom>
            <a:avLst/>
            <a:gdLst>
              <a:gd name="connsiteX0" fmla="*/ 0 w 4350626"/>
              <a:gd name="connsiteY0" fmla="*/ 108407 h 1084068"/>
              <a:gd name="connsiteX1" fmla="*/ 108407 w 4350626"/>
              <a:gd name="connsiteY1" fmla="*/ 0 h 1084068"/>
              <a:gd name="connsiteX2" fmla="*/ 4242219 w 4350626"/>
              <a:gd name="connsiteY2" fmla="*/ 0 h 1084068"/>
              <a:gd name="connsiteX3" fmla="*/ 4350626 w 4350626"/>
              <a:gd name="connsiteY3" fmla="*/ 108407 h 1084068"/>
              <a:gd name="connsiteX4" fmla="*/ 4350626 w 4350626"/>
              <a:gd name="connsiteY4" fmla="*/ 975661 h 1084068"/>
              <a:gd name="connsiteX5" fmla="*/ 4242219 w 4350626"/>
              <a:gd name="connsiteY5" fmla="*/ 1084068 h 1084068"/>
              <a:gd name="connsiteX6" fmla="*/ 108407 w 4350626"/>
              <a:gd name="connsiteY6" fmla="*/ 1084068 h 1084068"/>
              <a:gd name="connsiteX7" fmla="*/ 0 w 4350626"/>
              <a:gd name="connsiteY7" fmla="*/ 975661 h 1084068"/>
              <a:gd name="connsiteX8" fmla="*/ 0 w 4350626"/>
              <a:gd name="connsiteY8" fmla="*/ 108407 h 10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50626" h="1084068">
                <a:moveTo>
                  <a:pt x="0" y="108407"/>
                </a:moveTo>
                <a:cubicBezTo>
                  <a:pt x="0" y="48535"/>
                  <a:pt x="48535" y="0"/>
                  <a:pt x="108407" y="0"/>
                </a:cubicBezTo>
                <a:lnTo>
                  <a:pt x="4242219" y="0"/>
                </a:lnTo>
                <a:cubicBezTo>
                  <a:pt x="4302091" y="0"/>
                  <a:pt x="4350626" y="48535"/>
                  <a:pt x="4350626" y="108407"/>
                </a:cubicBezTo>
                <a:lnTo>
                  <a:pt x="4350626" y="975661"/>
                </a:lnTo>
                <a:cubicBezTo>
                  <a:pt x="4350626" y="1035533"/>
                  <a:pt x="4302091" y="1084068"/>
                  <a:pt x="4242219" y="1084068"/>
                </a:cubicBezTo>
                <a:lnTo>
                  <a:pt x="108407" y="1084068"/>
                </a:lnTo>
                <a:cubicBezTo>
                  <a:pt x="48535" y="1084068"/>
                  <a:pt x="0" y="1035533"/>
                  <a:pt x="0" y="975661"/>
                </a:cubicBezTo>
                <a:lnTo>
                  <a:pt x="0" y="108407"/>
                </a:lnTo>
                <a:close/>
              </a:path>
            </a:pathLst>
          </a:custGeom>
        </p:spPr>
        <p:style>
          <a:lnRef idx="2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2231" tIns="62231" rIns="62231" bIns="62231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400" kern="1200" dirty="0"/>
              <a:t>Determine el nivel de aspiración</a:t>
            </a:r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D488D5C-2649-F6EC-2A78-0D5D9926A682}"/>
              </a:ext>
            </a:extLst>
          </p:cNvPr>
          <p:cNvSpPr/>
          <p:nvPr/>
        </p:nvSpPr>
        <p:spPr>
          <a:xfrm rot="5400000">
            <a:off x="2944772" y="4509007"/>
            <a:ext cx="158033" cy="150234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52F64C6B-6941-EF78-1194-61C419306A89}"/>
              </a:ext>
            </a:extLst>
          </p:cNvPr>
          <p:cNvSpPr/>
          <p:nvPr/>
        </p:nvSpPr>
        <p:spPr>
          <a:xfrm rot="5400000">
            <a:off x="2944773" y="3533417"/>
            <a:ext cx="158033" cy="150234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32" name="Forma libre: forma 31">
            <a:extLst>
              <a:ext uri="{FF2B5EF4-FFF2-40B4-BE49-F238E27FC236}">
                <a16:creationId xmlns:a16="http://schemas.microsoft.com/office/drawing/2014/main" id="{7FC46AEB-5B16-6D1E-4BB0-4263EE6A6BBB}"/>
              </a:ext>
            </a:extLst>
          </p:cNvPr>
          <p:cNvSpPr/>
          <p:nvPr/>
        </p:nvSpPr>
        <p:spPr>
          <a:xfrm>
            <a:off x="887549" y="2429814"/>
            <a:ext cx="4350626" cy="1053357"/>
          </a:xfrm>
          <a:custGeom>
            <a:avLst/>
            <a:gdLst>
              <a:gd name="connsiteX0" fmla="*/ 0 w 4350626"/>
              <a:gd name="connsiteY0" fmla="*/ 100137 h 1001370"/>
              <a:gd name="connsiteX1" fmla="*/ 100137 w 4350626"/>
              <a:gd name="connsiteY1" fmla="*/ 0 h 1001370"/>
              <a:gd name="connsiteX2" fmla="*/ 4250489 w 4350626"/>
              <a:gd name="connsiteY2" fmla="*/ 0 h 1001370"/>
              <a:gd name="connsiteX3" fmla="*/ 4350626 w 4350626"/>
              <a:gd name="connsiteY3" fmla="*/ 100137 h 1001370"/>
              <a:gd name="connsiteX4" fmla="*/ 4350626 w 4350626"/>
              <a:gd name="connsiteY4" fmla="*/ 901233 h 1001370"/>
              <a:gd name="connsiteX5" fmla="*/ 4250489 w 4350626"/>
              <a:gd name="connsiteY5" fmla="*/ 1001370 h 1001370"/>
              <a:gd name="connsiteX6" fmla="*/ 100137 w 4350626"/>
              <a:gd name="connsiteY6" fmla="*/ 1001370 h 1001370"/>
              <a:gd name="connsiteX7" fmla="*/ 0 w 4350626"/>
              <a:gd name="connsiteY7" fmla="*/ 901233 h 1001370"/>
              <a:gd name="connsiteX8" fmla="*/ 0 w 4350626"/>
              <a:gd name="connsiteY8" fmla="*/ 100137 h 100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50626" h="1001370">
                <a:moveTo>
                  <a:pt x="0" y="100137"/>
                </a:moveTo>
                <a:cubicBezTo>
                  <a:pt x="0" y="44833"/>
                  <a:pt x="44833" y="0"/>
                  <a:pt x="100137" y="0"/>
                </a:cubicBezTo>
                <a:lnTo>
                  <a:pt x="4250489" y="0"/>
                </a:lnTo>
                <a:cubicBezTo>
                  <a:pt x="4305793" y="0"/>
                  <a:pt x="4350626" y="44833"/>
                  <a:pt x="4350626" y="100137"/>
                </a:cubicBezTo>
                <a:lnTo>
                  <a:pt x="4350626" y="901233"/>
                </a:lnTo>
                <a:cubicBezTo>
                  <a:pt x="4350626" y="956537"/>
                  <a:pt x="4305793" y="1001370"/>
                  <a:pt x="4250489" y="1001370"/>
                </a:cubicBezTo>
                <a:lnTo>
                  <a:pt x="100137" y="1001370"/>
                </a:lnTo>
                <a:cubicBezTo>
                  <a:pt x="44833" y="1001370"/>
                  <a:pt x="0" y="956537"/>
                  <a:pt x="0" y="901233"/>
                </a:cubicBezTo>
                <a:lnTo>
                  <a:pt x="0" y="100137"/>
                </a:lnTo>
                <a:close/>
              </a:path>
            </a:pathLst>
          </a:custGeom>
        </p:spPr>
        <p:style>
          <a:lnRef idx="2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9809" tIns="59809" rIns="59809" bIns="59809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VE" sz="2400" kern="1200" dirty="0"/>
              <a:t>Defina dos variables desviacionales no negativas por cada restricción meta.</a:t>
            </a:r>
          </a:p>
        </p:txBody>
      </p:sp>
    </p:spTree>
    <p:extLst>
      <p:ext uri="{BB962C8B-B14F-4D97-AF65-F5344CB8AC3E}">
        <p14:creationId xmlns:p14="http://schemas.microsoft.com/office/powerpoint/2010/main" val="83434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6" grpId="0" animBg="1"/>
      <p:bldP spid="28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ChangeArrowheads="1"/>
          </p:cNvSpPr>
          <p:nvPr/>
        </p:nvSpPr>
        <p:spPr bwMode="auto">
          <a:xfrm>
            <a:off x="17778" y="1263553"/>
            <a:ext cx="7004641" cy="3266985"/>
          </a:xfrm>
          <a:prstGeom prst="rect">
            <a:avLst/>
          </a:prstGeom>
          <a:ln>
            <a:headEnd/>
            <a:tailEnd/>
          </a:ln>
          <a:effectLst>
            <a:softEdge rad="1270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Minimizar Z = </a:t>
            </a:r>
            <a:r>
              <a:rPr lang="es-E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2000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 </a:t>
            </a:r>
            <a:r>
              <a:rPr lang="es-ES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s-E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2000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+ </a:t>
            </a:r>
            <a:r>
              <a:rPr lang="es-E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2000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ES" sz="2000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2000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+...+ </a:t>
            </a:r>
            <a:r>
              <a:rPr lang="es-E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2000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ES" sz="2000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E</a:t>
            </a:r>
            <a:r>
              <a:rPr lang="es-ES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	     Sujeto a las restricciones: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000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s-E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2000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000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s-E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2000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+…. + </a:t>
            </a:r>
            <a:r>
              <a:rPr lang="es-E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000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n1</a:t>
            </a:r>
            <a:r>
              <a:rPr lang="es-E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2000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(≤, = o ≥) b</a:t>
            </a:r>
            <a:r>
              <a:rPr lang="es-ES" sz="20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ctr">
              <a:lnSpc>
                <a:spcPct val="150000"/>
              </a:lnSpc>
            </a:pPr>
            <a:r>
              <a:rPr lang="es-E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0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n1</a:t>
            </a:r>
            <a:r>
              <a:rPr lang="es-E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20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a</a:t>
            </a:r>
            <a:r>
              <a:rPr lang="es-ES" sz="20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n2</a:t>
            </a:r>
            <a:r>
              <a:rPr lang="es-E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20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…. + </a:t>
            </a:r>
            <a:r>
              <a:rPr lang="es-E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000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nn</a:t>
            </a:r>
            <a:r>
              <a:rPr lang="es-E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2000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(≤, = o ≥) </a:t>
            </a:r>
            <a:r>
              <a:rPr lang="es-ES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ES" sz="2000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ES" sz="2000" baseline="-25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ES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000" baseline="-25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r>
              <a:rPr lang="es-ES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2000" baseline="-25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000" baseline="-25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s-ES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2000" baseline="-25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ES" sz="2000" baseline="-25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s-ES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2000" baseline="-25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ES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sz="2000" baseline="-25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2000" baseline="-25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E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000" baseline="-25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n1</a:t>
            </a:r>
            <a:r>
              <a:rPr lang="es-ES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2000" baseline="-25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000" baseline="-25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n2</a:t>
            </a:r>
            <a:r>
              <a:rPr lang="es-ES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2000" baseline="-25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D</a:t>
            </a:r>
            <a:r>
              <a:rPr lang="es-ES" sz="20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E</a:t>
            </a:r>
            <a:r>
              <a:rPr lang="es-ES" sz="20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M</a:t>
            </a:r>
            <a:r>
              <a:rPr lang="es-ES" sz="20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sz="2000" baseline="-25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E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2000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ES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</a:t>
            </a:r>
            <a:r>
              <a:rPr lang="es-ES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  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</a:t>
            </a:r>
            <a:r>
              <a:rPr lang="es-ES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≥ 0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Cerrar llave"/>
          <p:cNvSpPr/>
          <p:nvPr/>
        </p:nvSpPr>
        <p:spPr>
          <a:xfrm>
            <a:off x="6111261" y="2385128"/>
            <a:ext cx="144016" cy="72008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>
              <a:latin typeface="Arial Black" panose="020B0A04020102020204" pitchFamily="34" charset="0"/>
            </a:endParaRPr>
          </a:p>
        </p:txBody>
      </p:sp>
      <p:sp>
        <p:nvSpPr>
          <p:cNvPr id="8" name="7 Cerrar llave"/>
          <p:cNvSpPr/>
          <p:nvPr/>
        </p:nvSpPr>
        <p:spPr>
          <a:xfrm>
            <a:off x="6111261" y="3307848"/>
            <a:ext cx="144016" cy="72008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>
              <a:latin typeface="Arial Black" panose="020B0A04020102020204" pitchFamily="34" charset="0"/>
            </a:endParaRPr>
          </a:p>
        </p:txBody>
      </p:sp>
      <p:sp>
        <p:nvSpPr>
          <p:cNvPr id="9" name="8 Cerrar llave"/>
          <p:cNvSpPr/>
          <p:nvPr/>
        </p:nvSpPr>
        <p:spPr>
          <a:xfrm>
            <a:off x="6111260" y="4152190"/>
            <a:ext cx="151723" cy="467274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>
              <a:latin typeface="Arial Black" panose="020B0A04020102020204" pitchFamily="34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6574544" y="2529863"/>
            <a:ext cx="3347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 b="1">
                <a:solidFill>
                  <a:srgbClr val="7030A0"/>
                </a:solidFill>
              </a:defRPr>
            </a:lvl1pPr>
          </a:lstStyle>
          <a:p>
            <a:r>
              <a:rPr lang="es-VE" dirty="0">
                <a:solidFill>
                  <a:srgbClr val="0070C0"/>
                </a:solidFill>
              </a:rPr>
              <a:t>Restricciones DURAS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6610717" y="3492910"/>
            <a:ext cx="3726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ctr">
              <a:defRPr sz="2000"/>
            </a:lvl1pPr>
          </a:lstStyle>
          <a:p>
            <a:pPr algn="l"/>
            <a:r>
              <a:rPr lang="es-VE" b="1" dirty="0">
                <a:solidFill>
                  <a:srgbClr val="7030A0"/>
                </a:solidFill>
              </a:rPr>
              <a:t>Restricciones BLANDAS o META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6621816" y="4123873"/>
            <a:ext cx="3790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 b="1">
                <a:solidFill>
                  <a:srgbClr val="7030A0"/>
                </a:solidFill>
              </a:defRPr>
            </a:lvl1pPr>
          </a:lstStyle>
          <a:p>
            <a:r>
              <a:rPr lang="es-VE" dirty="0">
                <a:solidFill>
                  <a:schemeClr val="tx1"/>
                </a:solidFill>
              </a:rPr>
              <a:t>Restricción de no negatividad</a:t>
            </a:r>
          </a:p>
        </p:txBody>
      </p:sp>
      <p:sp>
        <p:nvSpPr>
          <p:cNvPr id="13" name="1 Título">
            <a:extLst>
              <a:ext uri="{FF2B5EF4-FFF2-40B4-BE49-F238E27FC236}">
                <a16:creationId xmlns:a16="http://schemas.microsoft.com/office/drawing/2014/main" id="{7513E2D8-74F5-4C4E-9409-965A0A710E19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Modelo General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ADF0005-79D3-4915-94C8-CB3F7217BFF0}"/>
              </a:ext>
            </a:extLst>
          </p:cNvPr>
          <p:cNvSpPr/>
          <p:nvPr/>
        </p:nvSpPr>
        <p:spPr>
          <a:xfrm>
            <a:off x="253040" y="4554487"/>
            <a:ext cx="785578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Donde: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  </a:t>
            </a:r>
            <a:r>
              <a:rPr lang="es-ES" dirty="0" err="1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X</a:t>
            </a:r>
            <a:r>
              <a:rPr lang="es-ES" baseline="-25000" dirty="0" err="1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j</a:t>
            </a:r>
            <a:r>
              <a:rPr lang="es-ES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= variables de decisión o nivel de la actividad j (j = 1, 2,…, n)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 P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= pesos de ponderación asignados a las metas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 D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= Variables de desviación por Debajo y por Encima de la meta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  Z = valor de la función objetivo.</a:t>
            </a:r>
          </a:p>
          <a:p>
            <a:r>
              <a:rPr lang="es-ES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  </a:t>
            </a:r>
            <a:r>
              <a:rPr lang="es-ES" dirty="0" err="1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b</a:t>
            </a:r>
            <a:r>
              <a:rPr lang="es-E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b</a:t>
            </a:r>
            <a:r>
              <a:rPr lang="es-E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= Recurso disponible para asignar a las actividades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  </a:t>
            </a:r>
            <a:r>
              <a:rPr lang="es-ES" dirty="0" err="1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a</a:t>
            </a:r>
            <a:r>
              <a:rPr lang="es-E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ij</a:t>
            </a:r>
            <a:r>
              <a:rPr lang="es-ES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= Cantidad de recurso i consumido por cada unidad de la actividad j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3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/>
      <p:bldP spid="12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6095999" y="356328"/>
            <a:ext cx="60241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sz="3200" dirty="0">
                <a:solidFill>
                  <a:schemeClr val="bg1"/>
                </a:solidFill>
                <a:latin typeface="Bauhaus 93" pitchFamily="82" charset="0"/>
              </a:rPr>
              <a:t>Aspectos a considerar:</a:t>
            </a:r>
          </a:p>
        </p:txBody>
      </p:sp>
      <p:grpSp>
        <p:nvGrpSpPr>
          <p:cNvPr id="6" name="5 Grupo"/>
          <p:cNvGrpSpPr/>
          <p:nvPr/>
        </p:nvGrpSpPr>
        <p:grpSpPr>
          <a:xfrm>
            <a:off x="1880558" y="1518250"/>
            <a:ext cx="8617789" cy="802256"/>
            <a:chOff x="505187" y="1130"/>
            <a:chExt cx="8603302" cy="1052988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9" name="8 Pentágono"/>
            <p:cNvSpPr/>
            <p:nvPr/>
          </p:nvSpPr>
          <p:spPr>
            <a:xfrm rot="10800000">
              <a:off x="505187" y="1130"/>
              <a:ext cx="8603302" cy="1052988"/>
            </a:xfrm>
            <a:prstGeom prst="homePlat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Pentágono 4"/>
            <p:cNvSpPr/>
            <p:nvPr/>
          </p:nvSpPr>
          <p:spPr>
            <a:xfrm>
              <a:off x="768434" y="1130"/>
              <a:ext cx="8340055" cy="105298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64339" tIns="64770" rIns="120904" bIns="64770" numCol="1" spcCol="1270" anchor="ctr" anchorCtr="0">
              <a:noAutofit/>
            </a:bodyPr>
            <a:lstStyle/>
            <a:p>
              <a:pPr algn="just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2400" b="1" dirty="0">
                  <a:solidFill>
                    <a:schemeClr val="tx1"/>
                  </a:solidFill>
                </a:rPr>
                <a:t>Las variables de desviación son mayores o iguales a cero, al menos una de las dos variables tendrá que ser cero.</a:t>
              </a:r>
              <a:endParaRPr lang="es-VE" sz="2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10 Grupo"/>
          <p:cNvGrpSpPr/>
          <p:nvPr/>
        </p:nvGrpSpPr>
        <p:grpSpPr>
          <a:xfrm>
            <a:off x="1902284" y="2522962"/>
            <a:ext cx="8603302" cy="772347"/>
            <a:chOff x="505187" y="1368444"/>
            <a:chExt cx="8603302" cy="772347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2" name="11 Pentágono"/>
            <p:cNvSpPr/>
            <p:nvPr/>
          </p:nvSpPr>
          <p:spPr>
            <a:xfrm rot="10800000">
              <a:off x="505187" y="1368444"/>
              <a:ext cx="8603302" cy="763720"/>
            </a:xfrm>
            <a:prstGeom prst="homePlat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3" name="Pentágono 4"/>
            <p:cNvSpPr/>
            <p:nvPr/>
          </p:nvSpPr>
          <p:spPr>
            <a:xfrm>
              <a:off x="768434" y="1368444"/>
              <a:ext cx="8340055" cy="77234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64339" tIns="64770" rIns="120904" bIns="64770" numCol="1" spcCol="1270" anchor="ctr" anchorCtr="0">
              <a:noAutofit/>
            </a:bodyPr>
            <a:lstStyle/>
            <a:p>
              <a:pPr algn="just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2400" b="1" dirty="0">
                  <a:solidFill>
                    <a:schemeClr val="tx1"/>
                  </a:solidFill>
                </a:rPr>
                <a:t>Las dos variables de desviación tomarán el valor cero cuando la meta alcance exactamente su nivel. </a:t>
              </a:r>
              <a:endParaRPr lang="es-VE" sz="2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13 Grupo"/>
          <p:cNvGrpSpPr/>
          <p:nvPr/>
        </p:nvGrpSpPr>
        <p:grpSpPr>
          <a:xfrm>
            <a:off x="1919536" y="3493710"/>
            <a:ext cx="8603302" cy="845378"/>
            <a:chOff x="505187" y="2735758"/>
            <a:chExt cx="8603302" cy="105298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5" name="14 Pentágono"/>
            <p:cNvSpPr/>
            <p:nvPr/>
          </p:nvSpPr>
          <p:spPr>
            <a:xfrm rot="10800000">
              <a:off x="505187" y="2735758"/>
              <a:ext cx="8603302" cy="1052988"/>
            </a:xfrm>
            <a:prstGeom prst="homePlat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6" name="Pentágono 4"/>
            <p:cNvSpPr/>
            <p:nvPr/>
          </p:nvSpPr>
          <p:spPr>
            <a:xfrm>
              <a:off x="768434" y="2735758"/>
              <a:ext cx="8340055" cy="105298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64339" tIns="64770" rIns="120904" bIns="64770" numCol="1" spcCol="1270" anchor="ctr" anchorCtr="0">
              <a:noAutofit/>
            </a:bodyPr>
            <a:lstStyle/>
            <a:p>
              <a:pPr algn="just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2400" b="1" dirty="0">
                  <a:solidFill>
                    <a:schemeClr val="tx1"/>
                  </a:solidFill>
                </a:rPr>
                <a:t>Se asigna la prioridad P1 al objetivo más importante, </a:t>
              </a:r>
              <a:r>
                <a:rPr lang="es-ES" sz="2400" b="1" dirty="0" err="1">
                  <a:solidFill>
                    <a:schemeClr val="tx1"/>
                  </a:solidFill>
                </a:rPr>
                <a:t>P2</a:t>
              </a:r>
              <a:r>
                <a:rPr lang="es-ES" sz="2400" b="1" dirty="0">
                  <a:solidFill>
                    <a:schemeClr val="tx1"/>
                  </a:solidFill>
                </a:rPr>
                <a:t> a una prioridad más baja. </a:t>
              </a:r>
              <a:endParaRPr lang="es-VE" sz="2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16 Grupo"/>
          <p:cNvGrpSpPr/>
          <p:nvPr/>
        </p:nvGrpSpPr>
        <p:grpSpPr>
          <a:xfrm>
            <a:off x="1919536" y="5439224"/>
            <a:ext cx="8603302" cy="823554"/>
            <a:chOff x="505187" y="4103072"/>
            <a:chExt cx="8603302" cy="1052988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8" name="17 Pentágono"/>
            <p:cNvSpPr/>
            <p:nvPr/>
          </p:nvSpPr>
          <p:spPr>
            <a:xfrm rot="10800000">
              <a:off x="505187" y="4103072"/>
              <a:ext cx="8603302" cy="1052988"/>
            </a:xfrm>
            <a:prstGeom prst="homePlat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9" name="Pentágono 4"/>
            <p:cNvSpPr/>
            <p:nvPr/>
          </p:nvSpPr>
          <p:spPr>
            <a:xfrm rot="21600000">
              <a:off x="768434" y="4103072"/>
              <a:ext cx="8340055" cy="105298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64339" tIns="64770" rIns="120904" bIns="64770" numCol="1" spcCol="1270" anchor="ctr" anchorCtr="0">
              <a:noAutofit/>
            </a:bodyPr>
            <a:lstStyle/>
            <a:p>
              <a:pPr algn="just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2400" b="1" dirty="0">
                  <a:solidFill>
                    <a:schemeClr val="tx1"/>
                  </a:solidFill>
                </a:rPr>
                <a:t>La resolución del modelo de programación por meta es casi idéntico al método simplex de programación lineal.</a:t>
              </a:r>
              <a:endParaRPr lang="es-VE" sz="2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16 Grupo">
            <a:extLst>
              <a:ext uri="{FF2B5EF4-FFF2-40B4-BE49-F238E27FC236}">
                <a16:creationId xmlns:a16="http://schemas.microsoft.com/office/drawing/2014/main" id="{15688387-C20F-4384-A6EF-09211A63093D}"/>
              </a:ext>
            </a:extLst>
          </p:cNvPr>
          <p:cNvGrpSpPr/>
          <p:nvPr/>
        </p:nvGrpSpPr>
        <p:grpSpPr>
          <a:xfrm>
            <a:off x="1933913" y="4452937"/>
            <a:ext cx="8603302" cy="835055"/>
            <a:chOff x="548319" y="1941261"/>
            <a:chExt cx="8603302" cy="1052988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1" name="17 Pentágono">
              <a:extLst>
                <a:ext uri="{FF2B5EF4-FFF2-40B4-BE49-F238E27FC236}">
                  <a16:creationId xmlns:a16="http://schemas.microsoft.com/office/drawing/2014/main" id="{4C1B6899-1AB2-417B-9E18-636DAF95032C}"/>
                </a:ext>
              </a:extLst>
            </p:cNvPr>
            <p:cNvSpPr/>
            <p:nvPr/>
          </p:nvSpPr>
          <p:spPr>
            <a:xfrm rot="10800000">
              <a:off x="548319" y="1941261"/>
              <a:ext cx="8603302" cy="1052988"/>
            </a:xfrm>
            <a:prstGeom prst="homePlat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22" name="Pentágono 4">
              <a:extLst>
                <a:ext uri="{FF2B5EF4-FFF2-40B4-BE49-F238E27FC236}">
                  <a16:creationId xmlns:a16="http://schemas.microsoft.com/office/drawing/2014/main" id="{61D57645-A9E8-4407-98B6-42B8E33D1C43}"/>
                </a:ext>
              </a:extLst>
            </p:cNvPr>
            <p:cNvSpPr/>
            <p:nvPr/>
          </p:nvSpPr>
          <p:spPr>
            <a:xfrm>
              <a:off x="796889" y="1949478"/>
              <a:ext cx="8233962" cy="104477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64339" tIns="64770" rIns="120904" bIns="64770" numCol="1" spcCol="1270" anchor="ctr" anchorCtr="0">
              <a:noAutofit/>
            </a:bodyPr>
            <a:lstStyle/>
            <a:p>
              <a:pPr algn="just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2400" b="1" dirty="0">
                  <a:solidFill>
                    <a:schemeClr val="tx1"/>
                  </a:solidFill>
                </a:rPr>
                <a:t>No existe límite en el número de niveles de prioridad, cada variable de desviación debe tener su prioridad. </a:t>
              </a:r>
              <a:endParaRPr lang="es-VE" sz="2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Elipse 1">
            <a:extLst>
              <a:ext uri="{FF2B5EF4-FFF2-40B4-BE49-F238E27FC236}">
                <a16:creationId xmlns:a16="http://schemas.microsoft.com/office/drawing/2014/main" id="{85E83591-86F5-4E26-8648-136228494636}"/>
              </a:ext>
            </a:extLst>
          </p:cNvPr>
          <p:cNvSpPr/>
          <p:nvPr/>
        </p:nvSpPr>
        <p:spPr>
          <a:xfrm>
            <a:off x="658368" y="1581912"/>
            <a:ext cx="777240" cy="78638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1</a:t>
            </a:r>
            <a:endParaRPr lang="es-PE" sz="2800" b="1" dirty="0">
              <a:solidFill>
                <a:schemeClr val="tx1"/>
              </a:solidFill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56549D5B-CBF3-40AD-9BE3-F999F889A1B8}"/>
              </a:ext>
            </a:extLst>
          </p:cNvPr>
          <p:cNvSpPr/>
          <p:nvPr/>
        </p:nvSpPr>
        <p:spPr>
          <a:xfrm>
            <a:off x="664464" y="2529840"/>
            <a:ext cx="777240" cy="786384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2</a:t>
            </a:r>
            <a:endParaRPr lang="es-PE" sz="2800" b="1" dirty="0">
              <a:solidFill>
                <a:schemeClr val="tx1"/>
              </a:solidFill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B66BA95-473A-42E3-A3BB-07FD89D47825}"/>
              </a:ext>
            </a:extLst>
          </p:cNvPr>
          <p:cNvSpPr/>
          <p:nvPr/>
        </p:nvSpPr>
        <p:spPr>
          <a:xfrm>
            <a:off x="652272" y="3500438"/>
            <a:ext cx="777240" cy="78638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3</a:t>
            </a:r>
            <a:endParaRPr lang="es-PE" sz="2800" b="1" dirty="0">
              <a:solidFill>
                <a:schemeClr val="tx1"/>
              </a:solidFill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78763B4F-B4FA-45B3-8305-215DD81A0835}"/>
              </a:ext>
            </a:extLst>
          </p:cNvPr>
          <p:cNvSpPr/>
          <p:nvPr/>
        </p:nvSpPr>
        <p:spPr>
          <a:xfrm>
            <a:off x="667512" y="4471416"/>
            <a:ext cx="777240" cy="7863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4</a:t>
            </a:r>
            <a:endParaRPr lang="es-PE" sz="2800" b="1" dirty="0">
              <a:solidFill>
                <a:schemeClr val="tx1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A90623BF-36F4-416F-ACD5-A50F57294C0B}"/>
              </a:ext>
            </a:extLst>
          </p:cNvPr>
          <p:cNvSpPr/>
          <p:nvPr/>
        </p:nvSpPr>
        <p:spPr>
          <a:xfrm>
            <a:off x="664464" y="5428488"/>
            <a:ext cx="777240" cy="78638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5</a:t>
            </a:r>
            <a:endParaRPr lang="es-PE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69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64B333-7A44-45C8-AE44-2B7AFDAEDE48}"/>
              </a:ext>
            </a:extLst>
          </p:cNvPr>
          <p:cNvSpPr txBox="1"/>
          <p:nvPr/>
        </p:nvSpPr>
        <p:spPr>
          <a:xfrm>
            <a:off x="1419134" y="1253669"/>
            <a:ext cx="95450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/>
              <a:t>Un inversor está dispuesto a invertir un capital de $ 80 000 en seleccionar una cartera de inversiones  en base a dos tipos de acciones (US </a:t>
            </a:r>
            <a:r>
              <a:rPr lang="es-ES" sz="2000" b="1" dirty="0" err="1"/>
              <a:t>OIL</a:t>
            </a:r>
            <a:r>
              <a:rPr lang="es-ES" sz="2000" b="1" dirty="0"/>
              <a:t> y HUB </a:t>
            </a:r>
            <a:r>
              <a:rPr lang="es-ES" sz="2000" b="1" dirty="0" err="1"/>
              <a:t>properties</a:t>
            </a:r>
            <a:r>
              <a:rPr lang="es-ES" sz="2000" b="1" dirty="0"/>
              <a:t>). El inversor ha identificado 2 objetivos para su selección de cartera: 	</a:t>
            </a:r>
          </a:p>
          <a:p>
            <a:pPr algn="just"/>
            <a:r>
              <a:rPr lang="es-ES" sz="2000" b="1" dirty="0"/>
              <a:t>META 1: Asumir un riesgo  inferior  a un índice de Riesgo de la cartera de 700 puntos. </a:t>
            </a:r>
          </a:p>
          <a:p>
            <a:pPr algn="just"/>
            <a:r>
              <a:rPr lang="es-ES" sz="2000" b="1" dirty="0"/>
              <a:t>META 2: Obtener un Rendimiento anual mínimo de  $ 9 000. </a:t>
            </a:r>
          </a:p>
          <a:p>
            <a:pPr algn="just"/>
            <a:r>
              <a:rPr lang="es-ES" sz="2000" b="1" dirty="0"/>
              <a:t>La Tabla siguiente resume los datos de precio y de rendimiento anual en dólares por acción y además se detalla el índice de riesgo que posee cada tipo de acción:</a:t>
            </a:r>
            <a:endParaRPr lang="es-PE" sz="2000" b="1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AD3524D7-ABF9-433E-9140-4A9FDCEC2CC5}"/>
              </a:ext>
            </a:extLst>
          </p:cNvPr>
          <p:cNvGraphicFramePr>
            <a:graphicFrameLocks noGrp="1"/>
          </p:cNvGraphicFramePr>
          <p:nvPr/>
        </p:nvGraphicFramePr>
        <p:xfrm>
          <a:off x="1501916" y="3472393"/>
          <a:ext cx="9435487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0783">
                  <a:extLst>
                    <a:ext uri="{9D8B030D-6E8A-4147-A177-3AD203B41FA5}">
                      <a16:colId xmlns:a16="http://schemas.microsoft.com/office/drawing/2014/main" val="3121245884"/>
                    </a:ext>
                  </a:extLst>
                </a:gridCol>
                <a:gridCol w="2113411">
                  <a:extLst>
                    <a:ext uri="{9D8B030D-6E8A-4147-A177-3AD203B41FA5}">
                      <a16:colId xmlns:a16="http://schemas.microsoft.com/office/drawing/2014/main" val="4226824686"/>
                    </a:ext>
                  </a:extLst>
                </a:gridCol>
                <a:gridCol w="2383024">
                  <a:extLst>
                    <a:ext uri="{9D8B030D-6E8A-4147-A177-3AD203B41FA5}">
                      <a16:colId xmlns:a16="http://schemas.microsoft.com/office/drawing/2014/main" val="932971753"/>
                    </a:ext>
                  </a:extLst>
                </a:gridCol>
                <a:gridCol w="2548269">
                  <a:extLst>
                    <a:ext uri="{9D8B030D-6E8A-4147-A177-3AD203B41FA5}">
                      <a16:colId xmlns:a16="http://schemas.microsoft.com/office/drawing/2014/main" val="2937874600"/>
                    </a:ext>
                  </a:extLst>
                </a:gridCol>
              </a:tblGrid>
              <a:tr h="62790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Acciones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Precio $/acción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Rendimiento Anual $/acción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Índice de Riesgo puntos/acción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739118"/>
                  </a:ext>
                </a:extLst>
              </a:tr>
              <a:tr h="356627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 err="1">
                          <a:latin typeface="Arial Black" panose="020B0A04020102020204" pitchFamily="34" charset="0"/>
                        </a:rPr>
                        <a:t>Us</a:t>
                      </a:r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s-ES" sz="2000" b="1" dirty="0" err="1">
                          <a:latin typeface="Arial Black" panose="020B0A04020102020204" pitchFamily="34" charset="0"/>
                        </a:rPr>
                        <a:t>Oil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25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0,5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504855"/>
                  </a:ext>
                </a:extLst>
              </a:tr>
              <a:tr h="356627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HUB </a:t>
                      </a:r>
                      <a:r>
                        <a:rPr lang="es-ES" sz="2000" b="1" dirty="0" err="1">
                          <a:latin typeface="Arial Black" panose="020B0A04020102020204" pitchFamily="34" charset="0"/>
                        </a:rPr>
                        <a:t>properties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50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5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0,25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003199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59570650-42E1-430C-AE9B-ED41B0BA1628}"/>
              </a:ext>
            </a:extLst>
          </p:cNvPr>
          <p:cNvSpPr txBox="1"/>
          <p:nvPr/>
        </p:nvSpPr>
        <p:spPr>
          <a:xfrm>
            <a:off x="1419134" y="4921013"/>
            <a:ext cx="96140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/>
              <a:t>a) Elabore y resuelva el modelo, si las metas se deben lograr en ese orden de </a:t>
            </a:r>
            <a:r>
              <a:rPr lang="es-ES" sz="2000" b="1" dirty="0">
                <a:solidFill>
                  <a:srgbClr val="FF0000"/>
                </a:solidFill>
              </a:rPr>
              <a:t>prioridades</a:t>
            </a:r>
            <a:r>
              <a:rPr lang="es-ES" sz="2000" b="1" dirty="0"/>
              <a:t>.</a:t>
            </a:r>
          </a:p>
          <a:p>
            <a:pPr algn="just"/>
            <a:r>
              <a:rPr lang="es-ES" sz="2000" b="1" dirty="0"/>
              <a:t>b) Ahora se consultó al inversor y se obtuvieron los siguientes coeficientes de </a:t>
            </a:r>
            <a:r>
              <a:rPr lang="es-ES" sz="2000" b="1" dirty="0">
                <a:solidFill>
                  <a:srgbClr val="FF0000"/>
                </a:solidFill>
              </a:rPr>
              <a:t>penalización</a:t>
            </a:r>
            <a:r>
              <a:rPr lang="es-ES" sz="2000" b="1" dirty="0"/>
              <a:t>: Cada desvío correspondiente a un punto de riesgo superior es penalizado con un parámetro igual a 30. Cada desvío correspondiente a un dólar de rendimiento anual menor es penalizado con un coeficiente igual a 25. Elabore y resuelva el modelo, si las metas ya no tienen un orden de prioridades. </a:t>
            </a:r>
            <a:endParaRPr lang="es-PE" sz="2000" b="1" dirty="0"/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8FC15E4D-0A3A-4288-9CF0-8F93AF232BD3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PROBLEMA 1</a:t>
            </a:r>
          </a:p>
        </p:txBody>
      </p:sp>
    </p:spTree>
    <p:extLst>
      <p:ext uri="{BB962C8B-B14F-4D97-AF65-F5344CB8AC3E}">
        <p14:creationId xmlns:p14="http://schemas.microsoft.com/office/powerpoint/2010/main" val="2002599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95E82B-D273-4F04-8727-2FEA5B775D96}"/>
              </a:ext>
            </a:extLst>
          </p:cNvPr>
          <p:cNvSpPr txBox="1"/>
          <p:nvPr/>
        </p:nvSpPr>
        <p:spPr>
          <a:xfrm>
            <a:off x="325888" y="1346145"/>
            <a:ext cx="57701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1. VARIABLES: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Xi= Número de acciones del tipo i a invertir en el año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Di =Desviaciones por debajo de la meta i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Ei =Desviaciones Por encima de la meta i</a:t>
            </a:r>
            <a:endParaRPr lang="es-PE" sz="2000" b="1" dirty="0">
              <a:latin typeface="Arial Narrow" panose="020B0606020202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D3232A-F6A9-4ECC-9B41-F0D6F63250B8}"/>
              </a:ext>
            </a:extLst>
          </p:cNvPr>
          <p:cNvSpPr txBox="1"/>
          <p:nvPr/>
        </p:nvSpPr>
        <p:spPr>
          <a:xfrm>
            <a:off x="311640" y="4368596"/>
            <a:ext cx="562829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3. RESTRICCIONES BLANDAS O META: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1</a:t>
            </a:r>
            <a:r>
              <a:rPr lang="es-ES" sz="2000" b="1" dirty="0"/>
              <a:t>: </a:t>
            </a:r>
            <a:r>
              <a:rPr lang="es-ES" sz="2400" b="1" dirty="0">
                <a:solidFill>
                  <a:srgbClr val="FF0000"/>
                </a:solidFill>
              </a:rPr>
              <a:t>Min  </a:t>
            </a:r>
            <a:r>
              <a:rPr lang="es-ES" sz="2400" b="1" dirty="0" err="1">
                <a:solidFill>
                  <a:srgbClr val="FF0000"/>
                </a:solidFill>
              </a:rPr>
              <a:t>E1</a:t>
            </a:r>
            <a:r>
              <a:rPr lang="es-ES" sz="2000" b="1" dirty="0"/>
              <a:t>	 </a:t>
            </a:r>
            <a:r>
              <a:rPr lang="es-ES" sz="2000" b="1" dirty="0">
                <a:solidFill>
                  <a:srgbClr val="0070C0"/>
                </a:solidFill>
              </a:rPr>
              <a:t>Asumir un riesgo inferior a 700</a:t>
            </a:r>
          </a:p>
          <a:p>
            <a:r>
              <a:rPr lang="es-ES" sz="2400" b="1" dirty="0" err="1"/>
              <a:t>0,5X1+0,25X2</a:t>
            </a:r>
            <a:r>
              <a:rPr lang="es-ES" sz="2400" b="1" dirty="0"/>
              <a:t> +</a:t>
            </a:r>
            <a:r>
              <a:rPr lang="es-ES" sz="2400" b="1" dirty="0" err="1"/>
              <a:t>D1-E1</a:t>
            </a:r>
            <a:r>
              <a:rPr lang="es-ES" sz="2400" b="1" dirty="0"/>
              <a:t> =700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2</a:t>
            </a:r>
            <a:r>
              <a:rPr lang="es-ES" sz="2000" b="1" dirty="0"/>
              <a:t>: </a:t>
            </a:r>
            <a:r>
              <a:rPr lang="es-ES" sz="2000" b="1" dirty="0">
                <a:solidFill>
                  <a:srgbClr val="FF0000"/>
                </a:solidFill>
              </a:rPr>
              <a:t>Min  </a:t>
            </a:r>
            <a:r>
              <a:rPr lang="es-ES" sz="2000" b="1" dirty="0" err="1">
                <a:solidFill>
                  <a:srgbClr val="FF0000"/>
                </a:solidFill>
              </a:rPr>
              <a:t>D2</a:t>
            </a:r>
            <a:r>
              <a:rPr lang="es-ES" sz="2000" b="1" dirty="0"/>
              <a:t>	</a:t>
            </a:r>
            <a:r>
              <a:rPr lang="es-ES" sz="2000" b="1" dirty="0">
                <a:solidFill>
                  <a:srgbClr val="0070C0"/>
                </a:solidFill>
              </a:rPr>
              <a:t>Obtener 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un rendimiento anual mínimo de  $ 9 000</a:t>
            </a:r>
          </a:p>
          <a:p>
            <a:r>
              <a:rPr lang="es-ES" sz="2400" b="1" dirty="0" err="1"/>
              <a:t>3X1+5X2</a:t>
            </a:r>
            <a:r>
              <a:rPr lang="es-ES" sz="2400" b="1" dirty="0"/>
              <a:t> +</a:t>
            </a:r>
            <a:r>
              <a:rPr lang="es-ES" sz="2400" b="1" dirty="0" err="1"/>
              <a:t>D2-E2</a:t>
            </a:r>
            <a:r>
              <a:rPr lang="es-ES" sz="2400" b="1" dirty="0"/>
              <a:t> =9000</a:t>
            </a:r>
            <a:endParaRPr lang="es-PE" sz="24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177B2CC-2BF7-42F7-BD38-3221E885D76F}"/>
              </a:ext>
            </a:extLst>
          </p:cNvPr>
          <p:cNvSpPr txBox="1"/>
          <p:nvPr/>
        </p:nvSpPr>
        <p:spPr>
          <a:xfrm>
            <a:off x="6503325" y="3429000"/>
            <a:ext cx="56282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4. RESTRICCIONES DURAS:</a:t>
            </a:r>
          </a:p>
          <a:p>
            <a:r>
              <a:rPr lang="es-ES" sz="2000" b="1" dirty="0">
                <a:solidFill>
                  <a:srgbClr val="0070C0"/>
                </a:solidFill>
                <a:latin typeface="Arial Narrow" panose="020B0606020202030204" pitchFamily="34" charset="0"/>
              </a:rPr>
              <a:t>Dinero disponible para invertir</a:t>
            </a:r>
          </a:p>
          <a:p>
            <a:r>
              <a:rPr lang="es-ES" sz="2000" b="1" dirty="0" err="1">
                <a:latin typeface="Arial Narrow" panose="020B0606020202030204" pitchFamily="34" charset="0"/>
              </a:rPr>
              <a:t>25X1+50X2</a:t>
            </a:r>
            <a:r>
              <a:rPr lang="es-ES" sz="2000" b="1" dirty="0">
                <a:latin typeface="Arial Narrow" panose="020B0606020202030204" pitchFamily="34" charset="0"/>
              </a:rPr>
              <a:t>&lt; =80 000</a:t>
            </a:r>
          </a:p>
          <a:p>
            <a:endParaRPr lang="es-ES" sz="2000" b="1" dirty="0">
              <a:latin typeface="Arial Narrow" panose="020B0606020202030204" pitchFamily="34" charset="0"/>
            </a:endParaRPr>
          </a:p>
          <a:p>
            <a:r>
              <a:rPr lang="es-ES" sz="2000" b="1" dirty="0">
                <a:latin typeface="Arial Narrow" panose="020B0606020202030204" pitchFamily="34" charset="0"/>
              </a:rPr>
              <a:t>		</a:t>
            </a:r>
            <a:r>
              <a:rPr lang="es-ES" sz="2000" b="1" dirty="0">
                <a:solidFill>
                  <a:srgbClr val="0070C0"/>
                </a:solidFill>
                <a:latin typeface="Arial Narrow" panose="020B0606020202030204" pitchFamily="34" charset="0"/>
              </a:rPr>
              <a:t>Xi, </a:t>
            </a:r>
            <a:r>
              <a:rPr lang="es-ES" sz="2000" b="1" dirty="0" err="1">
                <a:solidFill>
                  <a:srgbClr val="0070C0"/>
                </a:solidFill>
                <a:latin typeface="Arial Narrow" panose="020B0606020202030204" pitchFamily="34" charset="0"/>
              </a:rPr>
              <a:t>Dj,Ej</a:t>
            </a:r>
            <a:r>
              <a:rPr lang="es-ES" sz="2000" b="1" dirty="0">
                <a:solidFill>
                  <a:srgbClr val="0070C0"/>
                </a:solidFill>
                <a:latin typeface="Arial Narrow" panose="020B0606020202030204" pitchFamily="34" charset="0"/>
              </a:rPr>
              <a:t> &gt;=0</a:t>
            </a:r>
            <a:endParaRPr lang="es-PE" sz="200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81AC0E-CCE6-413F-A53E-6B8145B5E6DD}"/>
              </a:ext>
            </a:extLst>
          </p:cNvPr>
          <p:cNvSpPr txBox="1"/>
          <p:nvPr/>
        </p:nvSpPr>
        <p:spPr>
          <a:xfrm>
            <a:off x="6645140" y="5252020"/>
            <a:ext cx="3594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5. FUNCIÓN OBJETIVO:</a:t>
            </a:r>
          </a:p>
          <a:p>
            <a:r>
              <a:rPr lang="es-ES" sz="2000" b="1" dirty="0"/>
              <a:t>MIN  </a:t>
            </a:r>
            <a:r>
              <a:rPr lang="es-ES" sz="2000" b="1" dirty="0" err="1"/>
              <a:t>P1</a:t>
            </a:r>
            <a:r>
              <a:rPr lang="es-ES" sz="2000" b="1" dirty="0"/>
              <a:t>(</a:t>
            </a:r>
            <a:r>
              <a:rPr lang="es-ES" sz="2000" b="1" dirty="0" err="1"/>
              <a:t>E1</a:t>
            </a:r>
            <a:r>
              <a:rPr lang="es-ES" sz="2000" b="1" dirty="0"/>
              <a:t>), </a:t>
            </a:r>
            <a:r>
              <a:rPr lang="es-ES" sz="2000" b="1" dirty="0" err="1"/>
              <a:t>P2</a:t>
            </a:r>
            <a:r>
              <a:rPr lang="es-ES" sz="2000" b="1" dirty="0"/>
              <a:t>(</a:t>
            </a:r>
            <a:r>
              <a:rPr lang="es-ES" sz="2000" b="1" dirty="0" err="1"/>
              <a:t>D2</a:t>
            </a:r>
            <a:r>
              <a:rPr lang="es-ES" sz="2000" b="1" dirty="0"/>
              <a:t>)</a:t>
            </a:r>
          </a:p>
          <a:p>
            <a:r>
              <a:rPr lang="es-ES" sz="2000" dirty="0" err="1"/>
              <a:t>P1</a:t>
            </a:r>
            <a:r>
              <a:rPr lang="es-ES" sz="2000" dirty="0"/>
              <a:t>=Prioridad 1</a:t>
            </a:r>
          </a:p>
          <a:p>
            <a:r>
              <a:rPr lang="es-ES" sz="2000" dirty="0" err="1"/>
              <a:t>P2</a:t>
            </a:r>
            <a:r>
              <a:rPr lang="es-ES" sz="2000" dirty="0"/>
              <a:t>=Prioridad 2</a:t>
            </a:r>
            <a:endParaRPr lang="es-PE" sz="2000" dirty="0"/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8FEB0DA1-DC5E-4B8F-91F0-24081BF07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2337"/>
            <a:ext cx="6096000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PE"/>
            </a:defPPr>
            <a:lvl1pPr eaLnBrk="0" hangingPunct="0"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marL="0" lvl="1" algn="ctr"/>
            <a:r>
              <a:rPr lang="es-ES" sz="2800" b="1" dirty="0">
                <a:solidFill>
                  <a:schemeClr val="bg1"/>
                </a:solidFill>
              </a:rPr>
              <a:t>Programación lineal por metas con </a:t>
            </a:r>
            <a:r>
              <a:rPr lang="es-ES" sz="2800" b="1" dirty="0">
                <a:solidFill>
                  <a:srgbClr val="FFFF00"/>
                </a:solidFill>
              </a:rPr>
              <a:t>prioridades</a:t>
            </a:r>
            <a:endParaRPr lang="es-PE" sz="2800" b="1" dirty="0">
              <a:solidFill>
                <a:srgbClr val="FFFF0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7331FCC-920A-4735-83AE-262368D7A709}"/>
              </a:ext>
            </a:extLst>
          </p:cNvPr>
          <p:cNvSpPr txBox="1"/>
          <p:nvPr/>
        </p:nvSpPr>
        <p:spPr>
          <a:xfrm>
            <a:off x="315728" y="2775394"/>
            <a:ext cx="572947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2. METAS: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META 1: Asumir un riesgo  inferior  a un índice de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               Riesgo de la cartera de 700 puntos. 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META 2: Obtener un Rendimiento anual mínimo de  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               $ 9 000. </a:t>
            </a:r>
            <a:endParaRPr lang="es-ES" sz="2400" b="1" dirty="0">
              <a:solidFill>
                <a:srgbClr val="0070C0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E534465-457B-4146-8E8B-87F1ECFC52FD}"/>
              </a:ext>
            </a:extLst>
          </p:cNvPr>
          <p:cNvCxnSpPr>
            <a:cxnSpLocks/>
          </p:cNvCxnSpPr>
          <p:nvPr/>
        </p:nvCxnSpPr>
        <p:spPr>
          <a:xfrm>
            <a:off x="6159260" y="2638521"/>
            <a:ext cx="241174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C28B3ED-02EF-4E28-95BA-BB9242A09378}"/>
              </a:ext>
            </a:extLst>
          </p:cNvPr>
          <p:cNvCxnSpPr>
            <a:cxnSpLocks/>
          </p:cNvCxnSpPr>
          <p:nvPr/>
        </p:nvCxnSpPr>
        <p:spPr>
          <a:xfrm>
            <a:off x="6370054" y="2500673"/>
            <a:ext cx="0" cy="3545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D00D9CB-9F60-4D7F-B232-A0E757F01521}"/>
              </a:ext>
            </a:extLst>
          </p:cNvPr>
          <p:cNvCxnSpPr>
            <a:cxnSpLocks/>
          </p:cNvCxnSpPr>
          <p:nvPr/>
        </p:nvCxnSpPr>
        <p:spPr>
          <a:xfrm>
            <a:off x="8021337" y="2528255"/>
            <a:ext cx="0" cy="3545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B5EBD4B-99B6-44B7-8F8E-AC3E81BF953F}"/>
              </a:ext>
            </a:extLst>
          </p:cNvPr>
          <p:cNvCxnSpPr>
            <a:cxnSpLocks/>
          </p:cNvCxnSpPr>
          <p:nvPr/>
        </p:nvCxnSpPr>
        <p:spPr>
          <a:xfrm>
            <a:off x="7168143" y="2485416"/>
            <a:ext cx="0" cy="3545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1568860-D341-409B-8576-FE1B8D11EF2A}"/>
              </a:ext>
            </a:extLst>
          </p:cNvPr>
          <p:cNvSpPr txBox="1"/>
          <p:nvPr/>
        </p:nvSpPr>
        <p:spPr>
          <a:xfrm>
            <a:off x="5443508" y="2097346"/>
            <a:ext cx="921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PE" sz="140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E0E927A-0316-4F01-9138-9EC78A5514A0}"/>
              </a:ext>
            </a:extLst>
          </p:cNvPr>
          <p:cNvSpPr txBox="1"/>
          <p:nvPr/>
        </p:nvSpPr>
        <p:spPr>
          <a:xfrm>
            <a:off x="6292270" y="1863108"/>
            <a:ext cx="1736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/>
            </a:lvl1pPr>
          </a:lstStyle>
          <a:p>
            <a:pPr algn="ctr"/>
            <a:r>
              <a:rPr lang="es-ES" sz="1400" b="1" dirty="0"/>
              <a:t>700</a:t>
            </a:r>
          </a:p>
          <a:p>
            <a:r>
              <a:rPr lang="es-ES" sz="1400" b="1" dirty="0"/>
              <a:t>           (Riesgo)</a:t>
            </a:r>
            <a:endParaRPr lang="es-PE" sz="1400" b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16BD2AA-A68F-43D4-8A76-A1B55DD8FC38}"/>
              </a:ext>
            </a:extLst>
          </p:cNvPr>
          <p:cNvSpPr txBox="1"/>
          <p:nvPr/>
        </p:nvSpPr>
        <p:spPr>
          <a:xfrm>
            <a:off x="7531594" y="2128847"/>
            <a:ext cx="974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/>
            </a:lvl1pPr>
          </a:lstStyle>
          <a:p>
            <a:pPr algn="ctr"/>
            <a:r>
              <a:rPr lang="es-ES" sz="1400" b="1" dirty="0"/>
              <a:t>900</a:t>
            </a:r>
            <a:endParaRPr lang="es-PE" sz="1400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AF16FD4-78CA-4BCC-A135-1C87C016773D}"/>
              </a:ext>
            </a:extLst>
          </p:cNvPr>
          <p:cNvSpPr txBox="1"/>
          <p:nvPr/>
        </p:nvSpPr>
        <p:spPr>
          <a:xfrm>
            <a:off x="5897241" y="2139357"/>
            <a:ext cx="1009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600</a:t>
            </a:r>
            <a:endParaRPr lang="es-PE" sz="1400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E986E22-F6CC-4EB8-9A56-360A3BA69980}"/>
              </a:ext>
            </a:extLst>
          </p:cNvPr>
          <p:cNvSpPr txBox="1"/>
          <p:nvPr/>
        </p:nvSpPr>
        <p:spPr>
          <a:xfrm>
            <a:off x="6299701" y="2720099"/>
            <a:ext cx="1880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 err="1">
                <a:solidFill>
                  <a:srgbClr val="FF0000"/>
                </a:solidFill>
              </a:rPr>
              <a:t>D</a:t>
            </a:r>
            <a:r>
              <a:rPr lang="es-ES" sz="1400" b="1" baseline="-25000" dirty="0" err="1">
                <a:solidFill>
                  <a:srgbClr val="FF0000"/>
                </a:solidFill>
              </a:rPr>
              <a:t>1</a:t>
            </a:r>
            <a:r>
              <a:rPr lang="es-ES" sz="1400" b="1" dirty="0">
                <a:solidFill>
                  <a:srgbClr val="FF0000"/>
                </a:solidFill>
              </a:rPr>
              <a:t>  </a:t>
            </a:r>
            <a:r>
              <a:rPr lang="es-ES" sz="1400" b="1" dirty="0"/>
              <a:t>              </a:t>
            </a:r>
            <a:r>
              <a:rPr lang="es-ES" sz="1400" b="1" dirty="0" err="1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es-ES" sz="1400" b="1" baseline="-25000" dirty="0" err="1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es-PE" sz="1400" b="1" baseline="-25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" name="Bocadillo: rectángulo con esquinas redondeadas 17">
            <a:extLst>
              <a:ext uri="{FF2B5EF4-FFF2-40B4-BE49-F238E27FC236}">
                <a16:creationId xmlns:a16="http://schemas.microsoft.com/office/drawing/2014/main" id="{D7E42E6C-786D-4DC4-A265-A865759CAF48}"/>
              </a:ext>
            </a:extLst>
          </p:cNvPr>
          <p:cNvSpPr/>
          <p:nvPr/>
        </p:nvSpPr>
        <p:spPr>
          <a:xfrm>
            <a:off x="8246303" y="2972353"/>
            <a:ext cx="898214" cy="536028"/>
          </a:xfrm>
          <a:prstGeom prst="wedgeRoundRectCallout">
            <a:avLst>
              <a:gd name="adj1" fmla="val -98113"/>
              <a:gd name="adj2" fmla="val -524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No deseada</a:t>
            </a:r>
            <a:endParaRPr lang="es-PE" sz="140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E59A6460-0F1A-4332-AE70-92BD19FE8296}"/>
              </a:ext>
            </a:extLst>
          </p:cNvPr>
          <p:cNvSpPr/>
          <p:nvPr/>
        </p:nvSpPr>
        <p:spPr>
          <a:xfrm>
            <a:off x="6634959" y="1273378"/>
            <a:ext cx="1129709" cy="572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/>
              <a:t>META 1</a:t>
            </a:r>
            <a:endParaRPr lang="es-PE" sz="1400" b="1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465C5AE-5832-4C55-95E5-3EB97FBEC119}"/>
              </a:ext>
            </a:extLst>
          </p:cNvPr>
          <p:cNvCxnSpPr>
            <a:cxnSpLocks/>
          </p:cNvCxnSpPr>
          <p:nvPr/>
        </p:nvCxnSpPr>
        <p:spPr>
          <a:xfrm flipH="1">
            <a:off x="6289780" y="1580094"/>
            <a:ext cx="355714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52964087-BBD3-4A0A-8A95-2E89695343DC}"/>
              </a:ext>
            </a:extLst>
          </p:cNvPr>
          <p:cNvCxnSpPr>
            <a:cxnSpLocks/>
          </p:cNvCxnSpPr>
          <p:nvPr/>
        </p:nvCxnSpPr>
        <p:spPr>
          <a:xfrm>
            <a:off x="9074989" y="2635653"/>
            <a:ext cx="28746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3C09E21-8D22-4DCF-A7E3-7429BBD863AD}"/>
              </a:ext>
            </a:extLst>
          </p:cNvPr>
          <p:cNvCxnSpPr>
            <a:cxnSpLocks/>
          </p:cNvCxnSpPr>
          <p:nvPr/>
        </p:nvCxnSpPr>
        <p:spPr>
          <a:xfrm>
            <a:off x="9791842" y="2463300"/>
            <a:ext cx="0" cy="3545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6316756E-341F-4E1A-ADFE-12D389935D7C}"/>
              </a:ext>
            </a:extLst>
          </p:cNvPr>
          <p:cNvCxnSpPr>
            <a:cxnSpLocks/>
          </p:cNvCxnSpPr>
          <p:nvPr/>
        </p:nvCxnSpPr>
        <p:spPr>
          <a:xfrm>
            <a:off x="10520099" y="2439122"/>
            <a:ext cx="0" cy="3545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FF0503F0-290C-404B-92C3-DF38F24F4BB1}"/>
              </a:ext>
            </a:extLst>
          </p:cNvPr>
          <p:cNvCxnSpPr>
            <a:cxnSpLocks/>
          </p:cNvCxnSpPr>
          <p:nvPr/>
        </p:nvCxnSpPr>
        <p:spPr>
          <a:xfrm>
            <a:off x="11504331" y="2499801"/>
            <a:ext cx="0" cy="3545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72A4AAB-2475-42FC-B930-5C29C820A5BB}"/>
              </a:ext>
            </a:extLst>
          </p:cNvPr>
          <p:cNvSpPr txBox="1"/>
          <p:nvPr/>
        </p:nvSpPr>
        <p:spPr>
          <a:xfrm>
            <a:off x="8822164" y="2094478"/>
            <a:ext cx="921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PE" sz="140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3275FD3-17EF-46D6-9AAB-3EE674BFBC03}"/>
              </a:ext>
            </a:extLst>
          </p:cNvPr>
          <p:cNvSpPr txBox="1"/>
          <p:nvPr/>
        </p:nvSpPr>
        <p:spPr>
          <a:xfrm>
            <a:off x="9601914" y="1868866"/>
            <a:ext cx="1736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/>
            </a:lvl1pPr>
          </a:lstStyle>
          <a:p>
            <a:pPr algn="ctr"/>
            <a:r>
              <a:rPr lang="es-ES" sz="1400" b="1" dirty="0"/>
              <a:t>9000</a:t>
            </a:r>
          </a:p>
          <a:p>
            <a:r>
              <a:rPr lang="es-ES" sz="1400" b="1" dirty="0"/>
              <a:t>           (Rendimiento)</a:t>
            </a:r>
            <a:endParaRPr lang="es-PE" sz="1400" b="1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84432B3-9F90-4419-83FC-4FCFB605D4A6}"/>
              </a:ext>
            </a:extLst>
          </p:cNvPr>
          <p:cNvSpPr txBox="1"/>
          <p:nvPr/>
        </p:nvSpPr>
        <p:spPr>
          <a:xfrm>
            <a:off x="11108657" y="2151858"/>
            <a:ext cx="974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/>
            </a:lvl1pPr>
          </a:lstStyle>
          <a:p>
            <a:pPr algn="ctr"/>
            <a:r>
              <a:rPr lang="es-ES" sz="1400" b="1" dirty="0"/>
              <a:t>10000</a:t>
            </a:r>
            <a:endParaRPr lang="es-PE" sz="1400" b="1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FB40B4E-5553-4D84-B3BF-5263764AA4BD}"/>
              </a:ext>
            </a:extLst>
          </p:cNvPr>
          <p:cNvSpPr txBox="1"/>
          <p:nvPr/>
        </p:nvSpPr>
        <p:spPr>
          <a:xfrm>
            <a:off x="9293150" y="2136489"/>
            <a:ext cx="1009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6000</a:t>
            </a:r>
            <a:endParaRPr lang="es-PE" sz="1400" b="1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15B8F4D-59F2-410A-A46C-4192F9AD28E1}"/>
              </a:ext>
            </a:extLst>
          </p:cNvPr>
          <p:cNvSpPr txBox="1"/>
          <p:nvPr/>
        </p:nvSpPr>
        <p:spPr>
          <a:xfrm>
            <a:off x="9592093" y="2743110"/>
            <a:ext cx="1880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 err="1">
                <a:solidFill>
                  <a:srgbClr val="FF0000"/>
                </a:solidFill>
              </a:rPr>
              <a:t>D</a:t>
            </a:r>
            <a:r>
              <a:rPr lang="es-ES" sz="1400" b="1" baseline="-25000" dirty="0" err="1">
                <a:solidFill>
                  <a:srgbClr val="FF0000"/>
                </a:solidFill>
              </a:rPr>
              <a:t>2</a:t>
            </a:r>
            <a:r>
              <a:rPr lang="es-ES" sz="1400" b="1" dirty="0">
                <a:solidFill>
                  <a:srgbClr val="FF0000"/>
                </a:solidFill>
              </a:rPr>
              <a:t>  </a:t>
            </a:r>
            <a:r>
              <a:rPr lang="es-ES" sz="1400" b="1" dirty="0"/>
              <a:t>              </a:t>
            </a:r>
            <a:r>
              <a:rPr lang="es-ES" sz="1400" b="1" dirty="0" err="1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es-ES" sz="1400" b="1" baseline="-25000" dirty="0" err="1">
                <a:solidFill>
                  <a:schemeClr val="accent6">
                    <a:lumMod val="50000"/>
                  </a:schemeClr>
                </a:solidFill>
              </a:rPr>
              <a:t>2</a:t>
            </a:r>
            <a:endParaRPr lang="es-PE" sz="1400" b="1" baseline="-25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6" name="Bocadillo: rectángulo con esquinas redondeadas 35">
            <a:extLst>
              <a:ext uri="{FF2B5EF4-FFF2-40B4-BE49-F238E27FC236}">
                <a16:creationId xmlns:a16="http://schemas.microsoft.com/office/drawing/2014/main" id="{2F5AED0D-0482-43DC-BBA2-032904E49E48}"/>
              </a:ext>
            </a:extLst>
          </p:cNvPr>
          <p:cNvSpPr/>
          <p:nvPr/>
        </p:nvSpPr>
        <p:spPr>
          <a:xfrm>
            <a:off x="10650174" y="3021244"/>
            <a:ext cx="898214" cy="536028"/>
          </a:xfrm>
          <a:prstGeom prst="wedgeRoundRectCallout">
            <a:avLst>
              <a:gd name="adj1" fmla="val -98113"/>
              <a:gd name="adj2" fmla="val -524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No deseada</a:t>
            </a:r>
            <a:endParaRPr lang="es-PE" sz="1400" dirty="0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07768C0C-F1BD-4638-A942-A9E46954C0DE}"/>
              </a:ext>
            </a:extLst>
          </p:cNvPr>
          <p:cNvSpPr/>
          <p:nvPr/>
        </p:nvSpPr>
        <p:spPr>
          <a:xfrm>
            <a:off x="10013615" y="1270510"/>
            <a:ext cx="1129709" cy="572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/>
              <a:t>META 2</a:t>
            </a:r>
            <a:endParaRPr lang="es-PE" sz="1400" b="1" dirty="0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FE488D5-2D15-477E-B7B3-8DA7213D3DDF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11143324" y="1556888"/>
            <a:ext cx="717997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67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13" grpId="0"/>
      <p:bldP spid="14" grpId="0"/>
      <p:bldP spid="15" grpId="0"/>
      <p:bldP spid="16" grpId="0"/>
      <p:bldP spid="18" grpId="0" animBg="1"/>
      <p:bldP spid="20" grpId="0" animBg="1"/>
      <p:bldP spid="32" grpId="0"/>
      <p:bldP spid="33" grpId="0"/>
      <p:bldP spid="34" grpId="0"/>
      <p:bldP spid="35" grpId="0"/>
      <p:bldP spid="36" grpId="0" animBg="1"/>
      <p:bldP spid="3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1B88B80-ABF4-41E0-B73F-FFCCA4B0C79B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LINGO Parte 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DCA552-8402-4DA5-9BC8-297941FBBE6B}"/>
              </a:ext>
            </a:extLst>
          </p:cNvPr>
          <p:cNvSpPr/>
          <p:nvPr/>
        </p:nvSpPr>
        <p:spPr>
          <a:xfrm>
            <a:off x="1209674" y="3603717"/>
            <a:ext cx="4173209" cy="22467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PE" sz="2000" b="1" dirty="0"/>
              <a:t>        </a:t>
            </a:r>
            <a:r>
              <a:rPr lang="es-PE" sz="2000" b="1" dirty="0" err="1"/>
              <a:t>OBJECTIVE</a:t>
            </a:r>
            <a:r>
              <a:rPr lang="es-PE" sz="2000" b="1" dirty="0"/>
              <a:t> </a:t>
            </a:r>
            <a:r>
              <a:rPr lang="es-PE" sz="2000" b="1" dirty="0" err="1"/>
              <a:t>FUNCTION</a:t>
            </a:r>
            <a:r>
              <a:rPr lang="es-PE" sz="2000" b="1" dirty="0"/>
              <a:t> </a:t>
            </a:r>
            <a:r>
              <a:rPr lang="es-PE" sz="2000" b="1" dirty="0" err="1"/>
              <a:t>VALUE</a:t>
            </a:r>
            <a:endParaRPr lang="es-PE" sz="2000" b="1" dirty="0"/>
          </a:p>
          <a:p>
            <a:r>
              <a:rPr lang="es-PE" sz="2000" b="1" dirty="0"/>
              <a:t>        1)     </a:t>
            </a:r>
            <a:r>
              <a:rPr lang="es-PE" sz="2000" b="1" dirty="0" err="1"/>
              <a:t>0.0000000E+00</a:t>
            </a:r>
            <a:endParaRPr lang="es-PE" sz="2000" b="1" dirty="0"/>
          </a:p>
          <a:p>
            <a:r>
              <a:rPr lang="es-PE" sz="2000" b="1" dirty="0"/>
              <a:t>  VARIABLE     </a:t>
            </a:r>
            <a:r>
              <a:rPr lang="es-PE" sz="2000" b="1" dirty="0" err="1"/>
              <a:t>VALUE</a:t>
            </a:r>
            <a:r>
              <a:rPr lang="es-PE" sz="2000" b="1" dirty="0"/>
              <a:t>    </a:t>
            </a:r>
            <a:r>
              <a:rPr lang="es-PE" sz="2000" b="1" dirty="0" err="1"/>
              <a:t>REDUCED</a:t>
            </a:r>
            <a:r>
              <a:rPr lang="es-PE" sz="2000" b="1" dirty="0"/>
              <a:t> </a:t>
            </a:r>
            <a:r>
              <a:rPr lang="es-PE" sz="2000" b="1" dirty="0" err="1"/>
              <a:t>COST</a:t>
            </a:r>
            <a:endParaRPr lang="es-PE" sz="2000" b="1" dirty="0"/>
          </a:p>
          <a:p>
            <a:r>
              <a:rPr lang="es-PE" sz="2000" b="1" dirty="0"/>
              <a:t>        </a:t>
            </a:r>
            <a:r>
              <a:rPr lang="es-PE" sz="2000" b="1" dirty="0" err="1">
                <a:highlight>
                  <a:srgbClr val="FFFF00"/>
                </a:highlight>
              </a:rPr>
              <a:t>E1</a:t>
            </a:r>
            <a:r>
              <a:rPr lang="es-PE" sz="2000" b="1" dirty="0">
                <a:highlight>
                  <a:srgbClr val="FFFF00"/>
                </a:highlight>
              </a:rPr>
              <a:t>         0.000000          1.000000</a:t>
            </a:r>
          </a:p>
          <a:p>
            <a:r>
              <a:rPr lang="es-PE" sz="2000" b="1" dirty="0"/>
              <a:t>        </a:t>
            </a:r>
            <a:r>
              <a:rPr lang="es-PE" sz="2000" b="1" dirty="0" err="1"/>
              <a:t>X1</a:t>
            </a:r>
            <a:r>
              <a:rPr lang="es-PE" sz="2000" b="1" dirty="0"/>
              <a:t>         0.000000          0.000000</a:t>
            </a:r>
          </a:p>
          <a:p>
            <a:r>
              <a:rPr lang="es-PE" sz="2000" b="1" dirty="0"/>
              <a:t>        </a:t>
            </a:r>
            <a:r>
              <a:rPr lang="es-PE" sz="2000" b="1" dirty="0" err="1"/>
              <a:t>X2</a:t>
            </a:r>
            <a:r>
              <a:rPr lang="es-PE" sz="2000" b="1" dirty="0"/>
              <a:t>         0.000000          0.000000</a:t>
            </a:r>
          </a:p>
          <a:p>
            <a:r>
              <a:rPr lang="es-PE" sz="2000" b="1" dirty="0"/>
              <a:t>        </a:t>
            </a:r>
            <a:r>
              <a:rPr lang="es-PE" sz="2000" b="1" dirty="0" err="1"/>
              <a:t>D1</a:t>
            </a:r>
            <a:r>
              <a:rPr lang="es-PE" sz="2000" b="1" dirty="0"/>
              <a:t>    700.000000          0.000000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0DE8D4-E61C-48EC-9DDD-91F22C6E0F20}"/>
              </a:ext>
            </a:extLst>
          </p:cNvPr>
          <p:cNvSpPr/>
          <p:nvPr/>
        </p:nvSpPr>
        <p:spPr>
          <a:xfrm>
            <a:off x="335761" y="1239986"/>
            <a:ext cx="5025224" cy="132343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rgbClr val="7030A0"/>
                </a:solidFill>
              </a:rPr>
              <a:t>MIN</a:t>
            </a:r>
            <a:r>
              <a:rPr lang="es-PE" sz="2000" b="1" dirty="0"/>
              <a:t> </a:t>
            </a:r>
            <a:r>
              <a:rPr lang="es-PE" sz="2000" b="1" dirty="0" err="1"/>
              <a:t>E1</a:t>
            </a:r>
            <a:endParaRPr lang="es-PE" sz="2000" b="1" dirty="0"/>
          </a:p>
          <a:p>
            <a:r>
              <a:rPr lang="es-PE" sz="2000" b="1" dirty="0" err="1"/>
              <a:t>ST</a:t>
            </a:r>
            <a:endParaRPr lang="es-PE" sz="2000" b="1" dirty="0"/>
          </a:p>
          <a:p>
            <a:r>
              <a:rPr lang="es-PE" sz="2000" b="1" dirty="0">
                <a:solidFill>
                  <a:schemeClr val="accent6">
                    <a:lumMod val="50000"/>
                  </a:schemeClr>
                </a:solidFill>
              </a:rPr>
              <a:t>!Restricciones meta 1</a:t>
            </a:r>
          </a:p>
          <a:p>
            <a:r>
              <a:rPr lang="es-PE" sz="2000" b="1" dirty="0" err="1"/>
              <a:t>0.5X1+0.25X2</a:t>
            </a:r>
            <a:r>
              <a:rPr lang="es-PE" sz="2000" b="1" dirty="0"/>
              <a:t> +</a:t>
            </a:r>
            <a:r>
              <a:rPr lang="es-PE" sz="2000" b="1" dirty="0" err="1"/>
              <a:t>D1</a:t>
            </a:r>
            <a:r>
              <a:rPr lang="es-PE" sz="2000" b="1" dirty="0"/>
              <a:t> - </a:t>
            </a:r>
            <a:r>
              <a:rPr lang="es-PE" sz="2000" b="1" dirty="0" err="1"/>
              <a:t>E1</a:t>
            </a:r>
            <a:r>
              <a:rPr lang="es-PE" sz="2000" b="1" dirty="0"/>
              <a:t>=700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5124EBD-EB9F-4D4F-A174-7DDCB8AADC7B}"/>
              </a:ext>
            </a:extLst>
          </p:cNvPr>
          <p:cNvSpPr txBox="1"/>
          <p:nvPr/>
        </p:nvSpPr>
        <p:spPr>
          <a:xfrm>
            <a:off x="4002659" y="1464158"/>
            <a:ext cx="13543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ES" dirty="0">
                <a:solidFill>
                  <a:srgbClr val="FF0000"/>
                </a:solidFill>
              </a:rPr>
              <a:t>LINDO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1B94D0F-0F80-4750-972C-892185AEF6CE}"/>
              </a:ext>
            </a:extLst>
          </p:cNvPr>
          <p:cNvSpPr/>
          <p:nvPr/>
        </p:nvSpPr>
        <p:spPr>
          <a:xfrm>
            <a:off x="323977" y="2555219"/>
            <a:ext cx="5029200" cy="101566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chemeClr val="accent6">
                    <a:lumMod val="50000"/>
                  </a:schemeClr>
                </a:solidFill>
              </a:rPr>
              <a:t>!Restricciones dura</a:t>
            </a:r>
          </a:p>
          <a:p>
            <a:r>
              <a:rPr lang="es-PE" sz="2000" b="1" dirty="0" err="1"/>
              <a:t>25X1+50X2</a:t>
            </a:r>
            <a:r>
              <a:rPr lang="es-PE" sz="2000" b="1" dirty="0"/>
              <a:t> &lt;=80000</a:t>
            </a:r>
          </a:p>
          <a:p>
            <a:r>
              <a:rPr lang="es-PE" sz="2000" b="1" dirty="0" err="1"/>
              <a:t>END</a:t>
            </a:r>
            <a:endParaRPr lang="es-PE" sz="20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58D065-37D9-4F4B-AC63-B767E00F4F0A}"/>
              </a:ext>
            </a:extLst>
          </p:cNvPr>
          <p:cNvSpPr txBox="1"/>
          <p:nvPr/>
        </p:nvSpPr>
        <p:spPr>
          <a:xfrm>
            <a:off x="6284499" y="1262191"/>
            <a:ext cx="5190234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7030A0"/>
                </a:solidFill>
              </a:rPr>
              <a:t>MIN </a:t>
            </a:r>
            <a:r>
              <a:rPr lang="es-ES" sz="2000" b="1" dirty="0" err="1"/>
              <a:t>D2</a:t>
            </a:r>
            <a:endParaRPr lang="es-ES" sz="2000" b="1" dirty="0"/>
          </a:p>
          <a:p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</a:rPr>
              <a:t>ST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!Restricciones meta 1</a:t>
            </a:r>
          </a:p>
          <a:p>
            <a:r>
              <a:rPr lang="es-ES" sz="2000" b="1" dirty="0" err="1"/>
              <a:t>0.5X1+0.25X2</a:t>
            </a:r>
            <a:r>
              <a:rPr lang="es-ES" sz="2000" b="1" dirty="0"/>
              <a:t> +</a:t>
            </a:r>
            <a:r>
              <a:rPr lang="es-ES" sz="2000" b="1" dirty="0" err="1"/>
              <a:t>D1</a:t>
            </a:r>
            <a:r>
              <a:rPr lang="es-ES" sz="2000" b="1" dirty="0"/>
              <a:t> – </a:t>
            </a:r>
            <a:r>
              <a:rPr lang="es-ES" sz="2000" b="1" dirty="0" err="1"/>
              <a:t>E1</a:t>
            </a:r>
            <a:r>
              <a:rPr lang="es-ES" sz="2000" b="1" dirty="0"/>
              <a:t>=700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DF7597-C8B5-459F-9FCA-13A29CD2ED3C}"/>
              </a:ext>
            </a:extLst>
          </p:cNvPr>
          <p:cNvSpPr/>
          <p:nvPr/>
        </p:nvSpPr>
        <p:spPr>
          <a:xfrm>
            <a:off x="7297946" y="4411176"/>
            <a:ext cx="4169435" cy="24468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700" b="1" dirty="0"/>
              <a:t> OBJECTIVE FUNCTION VALUE</a:t>
            </a:r>
          </a:p>
          <a:p>
            <a:r>
              <a:rPr lang="en-US" sz="1700" b="1" dirty="0"/>
              <a:t>        1)      600.0000</a:t>
            </a:r>
          </a:p>
          <a:p>
            <a:r>
              <a:rPr lang="en-US" sz="1700" b="1" dirty="0"/>
              <a:t>  VARIABLE        VALUE       REDUCED COST</a:t>
            </a:r>
          </a:p>
          <a:p>
            <a:r>
              <a:rPr lang="en-US" sz="1700" b="1" dirty="0"/>
              <a:t>        </a:t>
            </a:r>
            <a:r>
              <a:rPr lang="en-US" sz="1700" b="1" dirty="0" err="1"/>
              <a:t>D2</a:t>
            </a:r>
            <a:r>
              <a:rPr lang="en-US" sz="1700" b="1" dirty="0"/>
              <a:t>       600.000000          0.000000</a:t>
            </a:r>
          </a:p>
          <a:p>
            <a:r>
              <a:rPr lang="en-US" sz="1700" b="1" dirty="0"/>
              <a:t>        </a:t>
            </a:r>
            <a:r>
              <a:rPr lang="en-US" sz="1700" b="1" dirty="0" err="1"/>
              <a:t>X1</a:t>
            </a:r>
            <a:r>
              <a:rPr lang="en-US" sz="1700" b="1" dirty="0"/>
              <a:t>       800.000000          0.000000</a:t>
            </a:r>
          </a:p>
          <a:p>
            <a:r>
              <a:rPr lang="en-US" sz="1700" b="1" dirty="0"/>
              <a:t>        </a:t>
            </a:r>
            <a:r>
              <a:rPr lang="en-US" sz="1700" b="1" dirty="0" err="1"/>
              <a:t>X2</a:t>
            </a:r>
            <a:r>
              <a:rPr lang="en-US" sz="1700" b="1" dirty="0"/>
              <a:t>     1200.000000          0.000000</a:t>
            </a:r>
          </a:p>
          <a:p>
            <a:r>
              <a:rPr lang="en-US" sz="1700" b="1" dirty="0"/>
              <a:t>        </a:t>
            </a:r>
            <a:r>
              <a:rPr lang="en-US" sz="1700" b="1" dirty="0" err="1"/>
              <a:t>D1</a:t>
            </a:r>
            <a:r>
              <a:rPr lang="en-US" sz="1700" b="1" dirty="0"/>
              <a:t>           0.000000          1.333333</a:t>
            </a:r>
          </a:p>
          <a:p>
            <a:r>
              <a:rPr lang="en-US" sz="1700" b="1" dirty="0"/>
              <a:t>        </a:t>
            </a:r>
            <a:r>
              <a:rPr lang="en-US" sz="1700" b="1" dirty="0" err="1"/>
              <a:t>E1</a:t>
            </a:r>
            <a:r>
              <a:rPr lang="en-US" sz="1700" b="1" dirty="0"/>
              <a:t>            0.000000          0.000000</a:t>
            </a:r>
          </a:p>
          <a:p>
            <a:r>
              <a:rPr lang="en-US" sz="1700" b="1" dirty="0"/>
              <a:t>        </a:t>
            </a:r>
            <a:r>
              <a:rPr lang="en-US" sz="1700" b="1" dirty="0" err="1"/>
              <a:t>E2</a:t>
            </a:r>
            <a:r>
              <a:rPr lang="en-US" sz="1700" b="1" dirty="0"/>
              <a:t>            0.000000          1.000000</a:t>
            </a:r>
            <a:endParaRPr lang="es-PE" sz="17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C28D326-B57B-4220-B048-F1031D0F3F36}"/>
              </a:ext>
            </a:extLst>
          </p:cNvPr>
          <p:cNvSpPr txBox="1"/>
          <p:nvPr/>
        </p:nvSpPr>
        <p:spPr>
          <a:xfrm>
            <a:off x="10058390" y="1414730"/>
            <a:ext cx="1354347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ES" dirty="0">
                <a:solidFill>
                  <a:srgbClr val="FF0000"/>
                </a:solidFill>
              </a:rPr>
              <a:t>LINDO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D0C00E6-033A-42AD-AC5F-587C3C71C60F}"/>
              </a:ext>
            </a:extLst>
          </p:cNvPr>
          <p:cNvSpPr/>
          <p:nvPr/>
        </p:nvSpPr>
        <p:spPr>
          <a:xfrm>
            <a:off x="6295974" y="2507523"/>
            <a:ext cx="5181600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ES" sz="2000" b="1" dirty="0" err="1"/>
              <a:t>E1</a:t>
            </a:r>
            <a:r>
              <a:rPr lang="es-ES" sz="2000" b="1" dirty="0"/>
              <a:t>=0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62ABBB8-A5E6-4E21-93C6-B30517E72517}"/>
              </a:ext>
            </a:extLst>
          </p:cNvPr>
          <p:cNvSpPr/>
          <p:nvPr/>
        </p:nvSpPr>
        <p:spPr>
          <a:xfrm>
            <a:off x="6278721" y="2824951"/>
            <a:ext cx="5181600" cy="70788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!Restricciones meta 2</a:t>
            </a:r>
          </a:p>
          <a:p>
            <a:r>
              <a:rPr lang="es-ES" sz="2000" b="1" dirty="0" err="1"/>
              <a:t>3X1+5X2+D2-E2</a:t>
            </a:r>
            <a:r>
              <a:rPr lang="es-ES" sz="2000" b="1" dirty="0"/>
              <a:t> =9000</a:t>
            </a:r>
            <a:endParaRPr lang="es-PE" sz="2000" b="1" dirty="0"/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9AC129C5-0273-4B34-AC93-C31E508A6276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5382883" y="2707578"/>
            <a:ext cx="913091" cy="2019524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B525F1B-F374-4EED-80C9-8791D83988EF}"/>
              </a:ext>
            </a:extLst>
          </p:cNvPr>
          <p:cNvSpPr/>
          <p:nvPr/>
        </p:nvSpPr>
        <p:spPr>
          <a:xfrm>
            <a:off x="6280030" y="3450409"/>
            <a:ext cx="5184474" cy="101566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!Restricciones dura</a:t>
            </a:r>
          </a:p>
          <a:p>
            <a:r>
              <a:rPr lang="es-ES" sz="2000" b="1" dirty="0" err="1"/>
              <a:t>25X1+50X2</a:t>
            </a:r>
            <a:r>
              <a:rPr lang="es-ES" sz="2000" b="1" dirty="0"/>
              <a:t> &lt;=80000</a:t>
            </a:r>
          </a:p>
          <a:p>
            <a:r>
              <a:rPr lang="es-ES" sz="2000" b="1" dirty="0" err="1"/>
              <a:t>END</a:t>
            </a:r>
            <a:endParaRPr lang="es-PE" sz="2000" b="1" dirty="0"/>
          </a:p>
        </p:txBody>
      </p:sp>
    </p:spTree>
    <p:extLst>
      <p:ext uri="{BB962C8B-B14F-4D97-AF65-F5344CB8AC3E}">
        <p14:creationId xmlns:p14="http://schemas.microsoft.com/office/powerpoint/2010/main" val="232987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0" grpId="0" animBg="1"/>
      <p:bldP spid="12" grpId="0" animBg="1"/>
      <p:bldP spid="13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AD6797C-9094-4471-BD21-D37739A097E4}"/>
              </a:ext>
            </a:extLst>
          </p:cNvPr>
          <p:cNvSpPr txBox="1"/>
          <p:nvPr/>
        </p:nvSpPr>
        <p:spPr>
          <a:xfrm>
            <a:off x="718117" y="1340039"/>
            <a:ext cx="507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Plan de inversión</a:t>
            </a:r>
            <a:endParaRPr lang="es-PE" sz="2400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D10A7FDE-A6E0-4089-B254-98E8CF204902}"/>
              </a:ext>
            </a:extLst>
          </p:cNvPr>
          <p:cNvGraphicFramePr>
            <a:graphicFrameLocks noGrp="1"/>
          </p:cNvGraphicFramePr>
          <p:nvPr/>
        </p:nvGraphicFramePr>
        <p:xfrm>
          <a:off x="793345" y="1992651"/>
          <a:ext cx="49330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502">
                  <a:extLst>
                    <a:ext uri="{9D8B030D-6E8A-4147-A177-3AD203B41FA5}">
                      <a16:colId xmlns:a16="http://schemas.microsoft.com/office/drawing/2014/main" val="3634477077"/>
                    </a:ext>
                  </a:extLst>
                </a:gridCol>
                <a:gridCol w="2466502">
                  <a:extLst>
                    <a:ext uri="{9D8B030D-6E8A-4147-A177-3AD203B41FA5}">
                      <a16:colId xmlns:a16="http://schemas.microsoft.com/office/drawing/2014/main" val="3249260829"/>
                    </a:ext>
                  </a:extLst>
                </a:gridCol>
              </a:tblGrid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Acciones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Cantidad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589736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Us</a:t>
                      </a:r>
                      <a:r>
                        <a:rPr lang="es-ES" sz="2400" dirty="0"/>
                        <a:t> </a:t>
                      </a:r>
                      <a:r>
                        <a:rPr lang="es-ES" sz="2400" dirty="0" err="1"/>
                        <a:t>Oil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800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34738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HUB </a:t>
                      </a:r>
                      <a:r>
                        <a:rPr lang="es-ES" sz="2400" dirty="0" err="1"/>
                        <a:t>Propierties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1200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70891"/>
                  </a:ext>
                </a:extLst>
              </a:tr>
            </a:tbl>
          </a:graphicData>
        </a:graphic>
      </p:graphicFrame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21201559-EED4-45FC-AB14-802BCCEA8E15}"/>
              </a:ext>
            </a:extLst>
          </p:cNvPr>
          <p:cNvGraphicFramePr>
            <a:graphicFrameLocks noGrp="1"/>
          </p:cNvGraphicFramePr>
          <p:nvPr/>
        </p:nvGraphicFramePr>
        <p:xfrm>
          <a:off x="768464" y="4572915"/>
          <a:ext cx="10672324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763">
                  <a:extLst>
                    <a:ext uri="{9D8B030D-6E8A-4147-A177-3AD203B41FA5}">
                      <a16:colId xmlns:a16="http://schemas.microsoft.com/office/drawing/2014/main" val="1918889544"/>
                    </a:ext>
                  </a:extLst>
                </a:gridCol>
                <a:gridCol w="1984442">
                  <a:extLst>
                    <a:ext uri="{9D8B030D-6E8A-4147-A177-3AD203B41FA5}">
                      <a16:colId xmlns:a16="http://schemas.microsoft.com/office/drawing/2014/main" val="185774863"/>
                    </a:ext>
                  </a:extLst>
                </a:gridCol>
                <a:gridCol w="2159541">
                  <a:extLst>
                    <a:ext uri="{9D8B030D-6E8A-4147-A177-3AD203B41FA5}">
                      <a16:colId xmlns:a16="http://schemas.microsoft.com/office/drawing/2014/main" val="3142263125"/>
                    </a:ext>
                  </a:extLst>
                </a:gridCol>
                <a:gridCol w="5408578">
                  <a:extLst>
                    <a:ext uri="{9D8B030D-6E8A-4147-A177-3AD203B41FA5}">
                      <a16:colId xmlns:a16="http://schemas.microsoft.com/office/drawing/2014/main" val="459202778"/>
                    </a:ext>
                  </a:extLst>
                </a:gridCol>
              </a:tblGrid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Meta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¿Se cumplió?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Variable de desviación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Descripción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80141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D1</a:t>
                      </a:r>
                      <a:r>
                        <a:rPr lang="es-ES" sz="2400" dirty="0"/>
                        <a:t>=0: </a:t>
                      </a:r>
                      <a:r>
                        <a:rPr lang="es-ES" sz="2400" dirty="0" err="1"/>
                        <a:t>E1</a:t>
                      </a:r>
                      <a:r>
                        <a:rPr lang="es-ES" sz="2400" dirty="0"/>
                        <a:t>=0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dirty="0"/>
                        <a:t>El riesgo es exactamente 700 puntos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6026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D2</a:t>
                      </a:r>
                      <a:r>
                        <a:rPr lang="es-ES" sz="2400" dirty="0"/>
                        <a:t>=600:  </a:t>
                      </a:r>
                      <a:r>
                        <a:rPr lang="es-ES" sz="2400" dirty="0" err="1"/>
                        <a:t>E2</a:t>
                      </a:r>
                      <a:r>
                        <a:rPr lang="es-ES" sz="2400" dirty="0"/>
                        <a:t>=0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dirty="0"/>
                        <a:t>No se alcanza la meta de rendimiento por $600 que están por debajo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35707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07C7877B-3F47-45C0-AC6B-A97CEC791C48}"/>
              </a:ext>
            </a:extLst>
          </p:cNvPr>
          <p:cNvSpPr/>
          <p:nvPr/>
        </p:nvSpPr>
        <p:spPr>
          <a:xfrm>
            <a:off x="6258560" y="1259212"/>
            <a:ext cx="5933440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>
                <a:latin typeface="Arial Narrow" panose="020B0606020202030204" pitchFamily="34" charset="0"/>
              </a:rPr>
              <a:t>META 1: </a:t>
            </a:r>
            <a:r>
              <a:rPr lang="es-ES" sz="2000" b="1" dirty="0">
                <a:solidFill>
                  <a:srgbClr val="FF0000"/>
                </a:solidFill>
              </a:rPr>
              <a:t>Min  </a:t>
            </a:r>
            <a:r>
              <a:rPr lang="es-ES" sz="2000" b="1" dirty="0" err="1">
                <a:solidFill>
                  <a:srgbClr val="FF0000"/>
                </a:solidFill>
              </a:rPr>
              <a:t>E1</a:t>
            </a:r>
            <a:r>
              <a:rPr lang="es-ES" b="1" dirty="0"/>
              <a:t>	 </a:t>
            </a:r>
            <a:r>
              <a:rPr lang="es-ES" b="1" dirty="0">
                <a:solidFill>
                  <a:srgbClr val="0070C0"/>
                </a:solidFill>
              </a:rPr>
              <a:t>Asumir un riesgo inferior a 700 </a:t>
            </a:r>
          </a:p>
          <a:p>
            <a:r>
              <a:rPr lang="es-ES" b="1" dirty="0">
                <a:latin typeface="Arial Narrow" panose="020B0606020202030204" pitchFamily="34" charset="0"/>
              </a:rPr>
              <a:t>META 2: </a:t>
            </a:r>
            <a:r>
              <a:rPr lang="es-ES" b="1" dirty="0">
                <a:solidFill>
                  <a:srgbClr val="FF0000"/>
                </a:solidFill>
              </a:rPr>
              <a:t>Min  </a:t>
            </a:r>
            <a:r>
              <a:rPr lang="es-ES" b="1" dirty="0" err="1">
                <a:solidFill>
                  <a:srgbClr val="FF0000"/>
                </a:solidFill>
              </a:rPr>
              <a:t>D2</a:t>
            </a:r>
            <a:r>
              <a:rPr lang="es-ES" b="1" dirty="0"/>
              <a:t>	</a:t>
            </a:r>
            <a:r>
              <a:rPr lang="es-ES" b="1" dirty="0">
                <a:solidFill>
                  <a:srgbClr val="0070C0"/>
                </a:solidFill>
              </a:rPr>
              <a:t>Obtener </a:t>
            </a:r>
            <a:r>
              <a:rPr lang="es-ES" b="1" dirty="0"/>
              <a:t> </a:t>
            </a:r>
            <a:r>
              <a:rPr lang="es-ES" b="1" dirty="0">
                <a:solidFill>
                  <a:srgbClr val="0070C0"/>
                </a:solidFill>
              </a:rPr>
              <a:t>un rendimiento anual mínimo</a:t>
            </a:r>
          </a:p>
          <a:p>
            <a:r>
              <a:rPr lang="es-ES" b="1" dirty="0">
                <a:solidFill>
                  <a:srgbClr val="0070C0"/>
                </a:solidFill>
              </a:rPr>
              <a:t>                                   de  $ 9 000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E1B9CEB-C5EA-496C-A1BC-8E0FFBAA69E9}"/>
              </a:ext>
            </a:extLst>
          </p:cNvPr>
          <p:cNvSpPr/>
          <p:nvPr/>
        </p:nvSpPr>
        <p:spPr>
          <a:xfrm>
            <a:off x="6096000" y="277614"/>
            <a:ext cx="609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Informe administrativo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D87D3F-6977-482A-8744-6ED76BA899DC}"/>
              </a:ext>
            </a:extLst>
          </p:cNvPr>
          <p:cNvSpPr/>
          <p:nvPr/>
        </p:nvSpPr>
        <p:spPr>
          <a:xfrm>
            <a:off x="7272071" y="2233896"/>
            <a:ext cx="4169435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/>
              <a:t> OBJECTIVE FUNCTION VALUE</a:t>
            </a:r>
          </a:p>
          <a:p>
            <a:r>
              <a:rPr lang="en-US" sz="1600" b="1" dirty="0"/>
              <a:t>        1)      600.0000</a:t>
            </a:r>
          </a:p>
          <a:p>
            <a:r>
              <a:rPr lang="en-US" sz="1600" b="1" dirty="0"/>
              <a:t>  VARIABLE        VALUE       REDUCED COST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D2</a:t>
            </a:r>
            <a:r>
              <a:rPr lang="en-US" sz="1600" b="1" dirty="0"/>
              <a:t>       600.000000          0.000000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X1</a:t>
            </a:r>
            <a:r>
              <a:rPr lang="en-US" sz="1600" b="1" dirty="0"/>
              <a:t>       800.000000          0.000000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X2</a:t>
            </a:r>
            <a:r>
              <a:rPr lang="en-US" sz="1600" b="1" dirty="0"/>
              <a:t>     1200.000000          0.000000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D1</a:t>
            </a:r>
            <a:r>
              <a:rPr lang="en-US" sz="1600" b="1" dirty="0"/>
              <a:t>           0.000000          1.333333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E1</a:t>
            </a:r>
            <a:r>
              <a:rPr lang="en-US" sz="1600" b="1" dirty="0"/>
              <a:t>            0.000000          0.000000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E2</a:t>
            </a:r>
            <a:r>
              <a:rPr lang="en-US" sz="1600" b="1" dirty="0"/>
              <a:t>            0.000000          1.000000</a:t>
            </a:r>
            <a:endParaRPr lang="es-PE" sz="1600" b="1" dirty="0"/>
          </a:p>
        </p:txBody>
      </p:sp>
    </p:spTree>
    <p:extLst>
      <p:ext uri="{BB962C8B-B14F-4D97-AF65-F5344CB8AC3E}">
        <p14:creationId xmlns:p14="http://schemas.microsoft.com/office/powerpoint/2010/main" val="85131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64B333-7A44-45C8-AE44-2B7AFDAEDE48}"/>
              </a:ext>
            </a:extLst>
          </p:cNvPr>
          <p:cNvSpPr txBox="1"/>
          <p:nvPr/>
        </p:nvSpPr>
        <p:spPr>
          <a:xfrm>
            <a:off x="1419134" y="1253669"/>
            <a:ext cx="95450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/>
              <a:t>Un inversor está dispuesto a invertir un capital de $ 80 000 en seleccionar una cartera de inversiones  en base a dos tipos de acciones (US </a:t>
            </a:r>
            <a:r>
              <a:rPr lang="es-ES" sz="2000" b="1" dirty="0" err="1"/>
              <a:t>OIL</a:t>
            </a:r>
            <a:r>
              <a:rPr lang="es-ES" sz="2000" b="1" dirty="0"/>
              <a:t> y HUB </a:t>
            </a:r>
            <a:r>
              <a:rPr lang="es-ES" sz="2000" b="1" dirty="0" err="1"/>
              <a:t>properties</a:t>
            </a:r>
            <a:r>
              <a:rPr lang="es-ES" sz="2000" b="1" dirty="0"/>
              <a:t>). El inversor ha identificado 2 objetivos para su selección de cartera: 	</a:t>
            </a:r>
          </a:p>
          <a:p>
            <a:pPr algn="just"/>
            <a:r>
              <a:rPr lang="es-ES" sz="2000" b="1" dirty="0"/>
              <a:t>META 1: Asumir un riesgo  inferior  a un índice de Riesgo de la cartera de 700 puntos. </a:t>
            </a:r>
          </a:p>
          <a:p>
            <a:pPr algn="just"/>
            <a:r>
              <a:rPr lang="es-ES" sz="2000" b="1" dirty="0"/>
              <a:t>META 2: Obtener un Rendimiento anual mínimo de  $ 9 000. </a:t>
            </a:r>
          </a:p>
          <a:p>
            <a:pPr algn="just"/>
            <a:r>
              <a:rPr lang="es-ES" sz="2000" b="1" dirty="0"/>
              <a:t>La Tabla siguiente resume los datos de precio y de rendimiento anual en dólares por acción y además se detalla el índice de riesgo que posee cada tipo de acción:</a:t>
            </a:r>
            <a:endParaRPr lang="es-PE" sz="2000" b="1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AD3524D7-ABF9-433E-9140-4A9FDCEC2CC5}"/>
              </a:ext>
            </a:extLst>
          </p:cNvPr>
          <p:cNvGraphicFramePr>
            <a:graphicFrameLocks noGrp="1"/>
          </p:cNvGraphicFramePr>
          <p:nvPr/>
        </p:nvGraphicFramePr>
        <p:xfrm>
          <a:off x="1501916" y="3472393"/>
          <a:ext cx="9435487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0783">
                  <a:extLst>
                    <a:ext uri="{9D8B030D-6E8A-4147-A177-3AD203B41FA5}">
                      <a16:colId xmlns:a16="http://schemas.microsoft.com/office/drawing/2014/main" val="3121245884"/>
                    </a:ext>
                  </a:extLst>
                </a:gridCol>
                <a:gridCol w="2113411">
                  <a:extLst>
                    <a:ext uri="{9D8B030D-6E8A-4147-A177-3AD203B41FA5}">
                      <a16:colId xmlns:a16="http://schemas.microsoft.com/office/drawing/2014/main" val="4226824686"/>
                    </a:ext>
                  </a:extLst>
                </a:gridCol>
                <a:gridCol w="2383024">
                  <a:extLst>
                    <a:ext uri="{9D8B030D-6E8A-4147-A177-3AD203B41FA5}">
                      <a16:colId xmlns:a16="http://schemas.microsoft.com/office/drawing/2014/main" val="932971753"/>
                    </a:ext>
                  </a:extLst>
                </a:gridCol>
                <a:gridCol w="2548269">
                  <a:extLst>
                    <a:ext uri="{9D8B030D-6E8A-4147-A177-3AD203B41FA5}">
                      <a16:colId xmlns:a16="http://schemas.microsoft.com/office/drawing/2014/main" val="2937874600"/>
                    </a:ext>
                  </a:extLst>
                </a:gridCol>
              </a:tblGrid>
              <a:tr h="62790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Acciones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Precio $/acción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Rendimiento Anual $/acción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Índice de Riesgo puntos/acción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739118"/>
                  </a:ext>
                </a:extLst>
              </a:tr>
              <a:tr h="356627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 err="1">
                          <a:latin typeface="Arial Black" panose="020B0A04020102020204" pitchFamily="34" charset="0"/>
                        </a:rPr>
                        <a:t>Us</a:t>
                      </a:r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s-ES" sz="2000" b="1" dirty="0" err="1">
                          <a:latin typeface="Arial Black" panose="020B0A04020102020204" pitchFamily="34" charset="0"/>
                        </a:rPr>
                        <a:t>Oil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25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0,5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504855"/>
                  </a:ext>
                </a:extLst>
              </a:tr>
              <a:tr h="356627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HUB </a:t>
                      </a:r>
                      <a:r>
                        <a:rPr lang="es-ES" sz="2000" b="1" dirty="0" err="1">
                          <a:latin typeface="Arial Black" panose="020B0A04020102020204" pitchFamily="34" charset="0"/>
                        </a:rPr>
                        <a:t>properties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50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5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Arial Black" panose="020B0A04020102020204" pitchFamily="34" charset="0"/>
                        </a:rPr>
                        <a:t>0,25</a:t>
                      </a:r>
                      <a:endParaRPr lang="es-PE" sz="20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003199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59570650-42E1-430C-AE9B-ED41B0BA1628}"/>
              </a:ext>
            </a:extLst>
          </p:cNvPr>
          <p:cNvSpPr txBox="1"/>
          <p:nvPr/>
        </p:nvSpPr>
        <p:spPr>
          <a:xfrm>
            <a:off x="1419134" y="4921013"/>
            <a:ext cx="96140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/>
              <a:t>a) Elabore y resuelva el modelo, si las metas se deben lograr en ese orden de </a:t>
            </a:r>
            <a:r>
              <a:rPr lang="es-ES" sz="2000" b="1" dirty="0">
                <a:solidFill>
                  <a:srgbClr val="FF0000"/>
                </a:solidFill>
              </a:rPr>
              <a:t>prioridades</a:t>
            </a:r>
            <a:r>
              <a:rPr lang="es-ES" sz="2000" b="1" dirty="0"/>
              <a:t>.</a:t>
            </a:r>
          </a:p>
          <a:p>
            <a:pPr algn="just"/>
            <a:r>
              <a:rPr lang="es-ES" sz="2000" b="1" dirty="0"/>
              <a:t>b) Ahora se consultó al inversor y se obtuvieron los siguientes coeficientes de </a:t>
            </a:r>
            <a:r>
              <a:rPr lang="es-ES" sz="2000" b="1" dirty="0">
                <a:solidFill>
                  <a:srgbClr val="FF0000"/>
                </a:solidFill>
              </a:rPr>
              <a:t>penalización</a:t>
            </a:r>
            <a:r>
              <a:rPr lang="es-ES" sz="2000" b="1" dirty="0"/>
              <a:t>: Cada desvío correspondiente a un punto de riesgo superior es penalizado con un parámetro igual a 30. Cada desvío correspondiente a un dólar de rendimiento anual menor es penalizado con un coeficiente igual a 25. Elabore y resuelva el modelo, si las metas ya no tienen un orden de prioridades. </a:t>
            </a:r>
            <a:endParaRPr lang="es-PE" sz="2000" b="1" dirty="0"/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8FC15E4D-0A3A-4288-9CF0-8F93AF232BD3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PROBLEMA 2</a:t>
            </a:r>
          </a:p>
        </p:txBody>
      </p:sp>
    </p:spTree>
    <p:extLst>
      <p:ext uri="{BB962C8B-B14F-4D97-AF65-F5344CB8AC3E}">
        <p14:creationId xmlns:p14="http://schemas.microsoft.com/office/powerpoint/2010/main" val="2392501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481AC0E-CCE6-413F-A53E-6B8145B5E6DD}"/>
              </a:ext>
            </a:extLst>
          </p:cNvPr>
          <p:cNvSpPr txBox="1"/>
          <p:nvPr/>
        </p:nvSpPr>
        <p:spPr>
          <a:xfrm>
            <a:off x="6263594" y="3500438"/>
            <a:ext cx="5628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5. FUNCIÓN OBJETIVO:</a:t>
            </a:r>
          </a:p>
          <a:p>
            <a:r>
              <a:rPr lang="es-ES" sz="2400" b="1" dirty="0">
                <a:solidFill>
                  <a:srgbClr val="7030A0"/>
                </a:solidFill>
              </a:rPr>
              <a:t>MIN  </a:t>
            </a:r>
            <a:r>
              <a:rPr lang="es-ES" sz="2400" b="1" dirty="0" err="1">
                <a:solidFill>
                  <a:srgbClr val="7030A0"/>
                </a:solidFill>
              </a:rPr>
              <a:t>30E1</a:t>
            </a:r>
            <a:r>
              <a:rPr lang="es-ES" sz="2400" b="1" dirty="0">
                <a:solidFill>
                  <a:srgbClr val="7030A0"/>
                </a:solidFill>
              </a:rPr>
              <a:t> + </a:t>
            </a:r>
            <a:r>
              <a:rPr lang="es-ES" sz="2400" b="1" dirty="0" err="1">
                <a:solidFill>
                  <a:srgbClr val="7030A0"/>
                </a:solidFill>
              </a:rPr>
              <a:t>25D2</a:t>
            </a:r>
            <a:endParaRPr lang="es-PE" sz="2400" b="1" dirty="0">
              <a:solidFill>
                <a:srgbClr val="7030A0"/>
              </a:solidFill>
            </a:endParaRPr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6858C33D-C835-4F71-849A-C131CB33E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2337"/>
            <a:ext cx="6096000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PE"/>
            </a:defPPr>
            <a:lvl1pPr eaLnBrk="0" hangingPunct="0"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marL="0" lvl="1" algn="ctr"/>
            <a:r>
              <a:rPr lang="es-ES" sz="2800" dirty="0">
                <a:solidFill>
                  <a:schemeClr val="bg1"/>
                </a:solidFill>
              </a:rPr>
              <a:t>Programación lineal por metas con </a:t>
            </a:r>
            <a:r>
              <a:rPr lang="es-ES" sz="2800" dirty="0">
                <a:solidFill>
                  <a:srgbClr val="FFFF00"/>
                </a:solidFill>
              </a:rPr>
              <a:t>ponderaciones</a:t>
            </a:r>
            <a:endParaRPr lang="es-PE" sz="2800" dirty="0">
              <a:solidFill>
                <a:srgbClr val="FFFF0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F162E5D-E376-482B-83CA-9E331CB6AD1D}"/>
              </a:ext>
            </a:extLst>
          </p:cNvPr>
          <p:cNvSpPr txBox="1"/>
          <p:nvPr/>
        </p:nvSpPr>
        <p:spPr>
          <a:xfrm>
            <a:off x="325888" y="1346145"/>
            <a:ext cx="57701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1. VARIABLES: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Xi= Número de acciones del tipo i a invertir en el año i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Di =Desviaciones por debajo 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Ei =Desviaciones por encima.</a:t>
            </a:r>
            <a:endParaRPr lang="es-PE" sz="2000" b="1" dirty="0">
              <a:latin typeface="Arial Narrow" panose="020B0606020202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50EC107-C241-401D-A988-FC79D14C7CFA}"/>
              </a:ext>
            </a:extLst>
          </p:cNvPr>
          <p:cNvSpPr txBox="1"/>
          <p:nvPr/>
        </p:nvSpPr>
        <p:spPr>
          <a:xfrm>
            <a:off x="244366" y="4366149"/>
            <a:ext cx="562829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3. RESTRICCIONES META: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1</a:t>
            </a:r>
            <a:r>
              <a:rPr lang="es-ES" sz="2000" b="1" dirty="0"/>
              <a:t>: </a:t>
            </a:r>
            <a:r>
              <a:rPr lang="es-ES" sz="2400" b="1" dirty="0">
                <a:solidFill>
                  <a:srgbClr val="FF0000"/>
                </a:solidFill>
              </a:rPr>
              <a:t>Min  </a:t>
            </a:r>
            <a:r>
              <a:rPr lang="es-ES" sz="2400" b="1" dirty="0" err="1">
                <a:solidFill>
                  <a:srgbClr val="FF0000"/>
                </a:solidFill>
              </a:rPr>
              <a:t>E1</a:t>
            </a:r>
            <a:r>
              <a:rPr lang="es-ES" sz="2000" b="1" dirty="0"/>
              <a:t>	 </a:t>
            </a:r>
            <a:r>
              <a:rPr lang="es-ES" sz="2000" b="1" dirty="0">
                <a:solidFill>
                  <a:srgbClr val="0070C0"/>
                </a:solidFill>
              </a:rPr>
              <a:t>Asumir un riesgo inferior a 700</a:t>
            </a:r>
          </a:p>
          <a:p>
            <a:r>
              <a:rPr lang="es-ES" sz="2400" b="1" dirty="0" err="1"/>
              <a:t>0,5X1+0,25X2</a:t>
            </a:r>
            <a:r>
              <a:rPr lang="es-ES" sz="2400" b="1" dirty="0"/>
              <a:t> +</a:t>
            </a:r>
            <a:r>
              <a:rPr lang="es-ES" sz="2400" b="1" dirty="0" err="1"/>
              <a:t>D1-E1</a:t>
            </a:r>
            <a:r>
              <a:rPr lang="es-ES" sz="2400" b="1" dirty="0"/>
              <a:t> =700</a:t>
            </a:r>
          </a:p>
          <a:p>
            <a:endParaRPr lang="es-ES" sz="2000" b="1" dirty="0"/>
          </a:p>
          <a:p>
            <a:r>
              <a:rPr lang="es-ES" sz="2000" b="1" dirty="0">
                <a:solidFill>
                  <a:srgbClr val="0070C0"/>
                </a:solidFill>
              </a:rPr>
              <a:t>Meta 2</a:t>
            </a:r>
            <a:r>
              <a:rPr lang="es-ES" sz="2000" b="1" dirty="0"/>
              <a:t>: </a:t>
            </a:r>
            <a:r>
              <a:rPr lang="es-ES" sz="2000" b="1" dirty="0">
                <a:solidFill>
                  <a:srgbClr val="FF0000"/>
                </a:solidFill>
              </a:rPr>
              <a:t>Min  </a:t>
            </a:r>
            <a:r>
              <a:rPr lang="es-ES" sz="2000" b="1" dirty="0" err="1">
                <a:solidFill>
                  <a:srgbClr val="FF0000"/>
                </a:solidFill>
              </a:rPr>
              <a:t>D2</a:t>
            </a:r>
            <a:r>
              <a:rPr lang="es-ES" sz="2000" b="1" dirty="0"/>
              <a:t>	</a:t>
            </a:r>
            <a:r>
              <a:rPr lang="es-ES" sz="2000" b="1" dirty="0">
                <a:solidFill>
                  <a:srgbClr val="0070C0"/>
                </a:solidFill>
              </a:rPr>
              <a:t>Obtener 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un rendimiento anual mínimo de  $ 9 000</a:t>
            </a:r>
          </a:p>
          <a:p>
            <a:r>
              <a:rPr lang="es-ES" sz="2400" b="1" dirty="0" err="1"/>
              <a:t>3X1+5X2</a:t>
            </a:r>
            <a:r>
              <a:rPr lang="es-ES" sz="2400" b="1" dirty="0"/>
              <a:t> +</a:t>
            </a:r>
            <a:r>
              <a:rPr lang="es-ES" sz="2400" b="1" dirty="0" err="1"/>
              <a:t>D2-E2</a:t>
            </a:r>
            <a:r>
              <a:rPr lang="es-ES" sz="2400" b="1" dirty="0"/>
              <a:t> =9000</a:t>
            </a:r>
            <a:endParaRPr lang="es-PE" sz="24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F6772FB-A4FA-4FBC-9276-34AF62B890DD}"/>
              </a:ext>
            </a:extLst>
          </p:cNvPr>
          <p:cNvSpPr txBox="1"/>
          <p:nvPr/>
        </p:nvSpPr>
        <p:spPr>
          <a:xfrm>
            <a:off x="6281663" y="1287139"/>
            <a:ext cx="56282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4. RESTRICCIONES DURAS:</a:t>
            </a:r>
          </a:p>
          <a:p>
            <a:r>
              <a:rPr lang="es-ES" sz="2400" b="1" dirty="0">
                <a:solidFill>
                  <a:srgbClr val="0070C0"/>
                </a:solidFill>
              </a:rPr>
              <a:t>Dinero disponible para invertir</a:t>
            </a:r>
          </a:p>
          <a:p>
            <a:r>
              <a:rPr lang="es-ES" sz="2400" b="1" dirty="0" err="1"/>
              <a:t>25X1+50X2</a:t>
            </a:r>
            <a:r>
              <a:rPr lang="es-ES" sz="2400" b="1" dirty="0"/>
              <a:t>&lt; =80 000</a:t>
            </a:r>
          </a:p>
          <a:p>
            <a:endParaRPr lang="es-ES" sz="2400" b="1" dirty="0"/>
          </a:p>
          <a:p>
            <a:r>
              <a:rPr lang="es-ES" sz="2400" b="1" dirty="0"/>
              <a:t>		</a:t>
            </a:r>
            <a:r>
              <a:rPr lang="es-ES" sz="2400" b="1" dirty="0">
                <a:solidFill>
                  <a:srgbClr val="0070C0"/>
                </a:solidFill>
              </a:rPr>
              <a:t>Xi, </a:t>
            </a:r>
            <a:r>
              <a:rPr lang="es-ES" sz="2400" b="1" dirty="0" err="1">
                <a:solidFill>
                  <a:srgbClr val="0070C0"/>
                </a:solidFill>
              </a:rPr>
              <a:t>Dj,Ej</a:t>
            </a:r>
            <a:r>
              <a:rPr lang="es-ES" sz="2400" b="1" dirty="0">
                <a:solidFill>
                  <a:srgbClr val="0070C0"/>
                </a:solidFill>
              </a:rPr>
              <a:t> &gt;=0</a:t>
            </a:r>
            <a:endParaRPr lang="es-PE" sz="2400" b="1" dirty="0">
              <a:solidFill>
                <a:srgbClr val="0070C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4861628-F5E8-46C2-9244-7E8DD5CB40D6}"/>
              </a:ext>
            </a:extLst>
          </p:cNvPr>
          <p:cNvSpPr txBox="1"/>
          <p:nvPr/>
        </p:nvSpPr>
        <p:spPr>
          <a:xfrm>
            <a:off x="227804" y="2654052"/>
            <a:ext cx="572947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2. METAS: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META 1: Asumir un riesgo  inferior  a un índice de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               Riesgo de la cartera de 700 puntos. 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META 2: Obtener un Rendimiento anual mínimo de  </a:t>
            </a:r>
          </a:p>
          <a:p>
            <a:r>
              <a:rPr lang="es-ES" sz="2000" b="1" dirty="0">
                <a:latin typeface="Arial Narrow" panose="020B0606020202030204" pitchFamily="34" charset="0"/>
              </a:rPr>
              <a:t>               $ 9 000. </a:t>
            </a:r>
            <a:endParaRPr lang="es-E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02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1B88B80-ABF4-41E0-B73F-FFCCA4B0C79B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LINGO Parte 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0FC750-85C6-453F-A152-1B5E6498C0B0}"/>
              </a:ext>
            </a:extLst>
          </p:cNvPr>
          <p:cNvSpPr txBox="1"/>
          <p:nvPr/>
        </p:nvSpPr>
        <p:spPr>
          <a:xfrm>
            <a:off x="564191" y="4223293"/>
            <a:ext cx="4180337" cy="255454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7030A0"/>
                </a:solidFill>
              </a:rPr>
              <a:t>MIN</a:t>
            </a:r>
            <a:r>
              <a:rPr lang="es-ES" sz="2000" b="1" dirty="0"/>
              <a:t>=30*</a:t>
            </a:r>
            <a:r>
              <a:rPr lang="es-ES" sz="2000" b="1" dirty="0" err="1"/>
              <a:t>E1+25</a:t>
            </a:r>
            <a:r>
              <a:rPr lang="es-ES" sz="2000" b="1" dirty="0"/>
              <a:t>*</a:t>
            </a:r>
            <a:r>
              <a:rPr lang="es-ES" sz="2000" b="1" dirty="0" err="1"/>
              <a:t>D2</a:t>
            </a:r>
            <a:r>
              <a:rPr lang="es-ES" sz="2000" b="1" dirty="0"/>
              <a:t>;</a:t>
            </a:r>
          </a:p>
          <a:p>
            <a:r>
              <a:rPr lang="es-ES" sz="2000" b="1" dirty="0">
                <a:solidFill>
                  <a:srgbClr val="7030A0"/>
                </a:solidFill>
              </a:rPr>
              <a:t>!Restricciones </a:t>
            </a:r>
            <a:r>
              <a:rPr lang="es-ES" sz="2000" b="1" dirty="0" err="1">
                <a:solidFill>
                  <a:srgbClr val="7030A0"/>
                </a:solidFill>
              </a:rPr>
              <a:t>meta1</a:t>
            </a:r>
            <a:r>
              <a:rPr lang="es-ES" sz="2000" b="1" dirty="0">
                <a:solidFill>
                  <a:srgbClr val="7030A0"/>
                </a:solidFill>
              </a:rPr>
              <a:t>;</a:t>
            </a:r>
          </a:p>
          <a:p>
            <a:r>
              <a:rPr lang="es-ES" sz="2000" b="1" dirty="0"/>
              <a:t>0.5*</a:t>
            </a:r>
            <a:r>
              <a:rPr lang="es-ES" sz="2000" b="1" dirty="0" err="1"/>
              <a:t>X1+0.25</a:t>
            </a:r>
            <a:r>
              <a:rPr lang="es-ES" sz="2000" b="1" dirty="0"/>
              <a:t>*</a:t>
            </a:r>
            <a:r>
              <a:rPr lang="es-ES" sz="2000" b="1" dirty="0" err="1"/>
              <a:t>X2</a:t>
            </a:r>
            <a:r>
              <a:rPr lang="es-ES" sz="2000" b="1" dirty="0"/>
              <a:t> +</a:t>
            </a:r>
            <a:r>
              <a:rPr lang="es-ES" sz="2000" b="1" dirty="0" err="1"/>
              <a:t>D1</a:t>
            </a:r>
            <a:r>
              <a:rPr lang="es-ES" sz="2000" b="1" dirty="0"/>
              <a:t> – </a:t>
            </a:r>
            <a:r>
              <a:rPr lang="es-ES" sz="2000" b="1" dirty="0" err="1"/>
              <a:t>E1</a:t>
            </a:r>
            <a:r>
              <a:rPr lang="es-ES" sz="2000" b="1" dirty="0"/>
              <a:t>=700;</a:t>
            </a:r>
          </a:p>
          <a:p>
            <a:r>
              <a:rPr lang="es-ES" sz="2000" b="1" dirty="0">
                <a:solidFill>
                  <a:srgbClr val="7030A0"/>
                </a:solidFill>
              </a:rPr>
              <a:t>!Restricciones </a:t>
            </a:r>
            <a:r>
              <a:rPr lang="es-ES" sz="2000" b="1" dirty="0" err="1">
                <a:solidFill>
                  <a:srgbClr val="7030A0"/>
                </a:solidFill>
              </a:rPr>
              <a:t>meta2</a:t>
            </a:r>
            <a:r>
              <a:rPr lang="es-ES" sz="2000" b="1" dirty="0">
                <a:solidFill>
                  <a:srgbClr val="7030A0"/>
                </a:solidFill>
              </a:rPr>
              <a:t>;</a:t>
            </a:r>
          </a:p>
          <a:p>
            <a:r>
              <a:rPr lang="es-ES" sz="2000" b="1" dirty="0"/>
              <a:t>3*</a:t>
            </a:r>
            <a:r>
              <a:rPr lang="es-ES" sz="2000" b="1" dirty="0" err="1"/>
              <a:t>X1+5</a:t>
            </a:r>
            <a:r>
              <a:rPr lang="es-ES" sz="2000" b="1" dirty="0"/>
              <a:t>*</a:t>
            </a:r>
            <a:r>
              <a:rPr lang="es-ES" sz="2000" b="1" dirty="0" err="1"/>
              <a:t>X2</a:t>
            </a:r>
            <a:r>
              <a:rPr lang="es-ES" sz="2000" b="1" dirty="0"/>
              <a:t> +</a:t>
            </a:r>
            <a:r>
              <a:rPr lang="es-ES" sz="2000" b="1" dirty="0" err="1"/>
              <a:t>D2-E2</a:t>
            </a:r>
            <a:r>
              <a:rPr lang="es-ES" sz="2000" b="1" dirty="0"/>
              <a:t> =9000;</a:t>
            </a:r>
            <a:endParaRPr lang="es-PE" sz="2000" b="1" dirty="0"/>
          </a:p>
          <a:p>
            <a:r>
              <a:rPr lang="es-ES" sz="2000" b="1" dirty="0">
                <a:solidFill>
                  <a:srgbClr val="7030A0"/>
                </a:solidFill>
              </a:rPr>
              <a:t>!Restricciones dura;</a:t>
            </a:r>
          </a:p>
          <a:p>
            <a:r>
              <a:rPr lang="es-ES" sz="2000" b="1" dirty="0"/>
              <a:t>25*</a:t>
            </a:r>
            <a:r>
              <a:rPr lang="es-ES" sz="2000" b="1" dirty="0" err="1"/>
              <a:t>X1+50</a:t>
            </a:r>
            <a:r>
              <a:rPr lang="es-ES" sz="2000" b="1" dirty="0"/>
              <a:t>*</a:t>
            </a:r>
            <a:r>
              <a:rPr lang="es-ES" sz="2000" b="1" dirty="0" err="1"/>
              <a:t>X2</a:t>
            </a:r>
            <a:r>
              <a:rPr lang="es-ES" sz="2000" b="1" dirty="0"/>
              <a:t> &lt;=80000;</a:t>
            </a:r>
          </a:p>
          <a:p>
            <a:r>
              <a:rPr lang="es-ES" sz="2000" b="1" dirty="0" err="1"/>
              <a:t>END</a:t>
            </a:r>
            <a:endParaRPr lang="es-PE" sz="2000" b="1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DCA552-8402-4DA5-9BC8-297941FBBE6B}"/>
              </a:ext>
            </a:extLst>
          </p:cNvPr>
          <p:cNvSpPr/>
          <p:nvPr/>
        </p:nvSpPr>
        <p:spPr>
          <a:xfrm>
            <a:off x="6096000" y="1238280"/>
            <a:ext cx="4764657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 OBJECTIVE FUNCTION VALUE</a:t>
            </a:r>
          </a:p>
          <a:p>
            <a:r>
              <a:rPr lang="en-US" sz="2000" dirty="0"/>
              <a:t>        1)      13500.00</a:t>
            </a:r>
          </a:p>
          <a:p>
            <a:r>
              <a:rPr lang="en-US" sz="2000" dirty="0"/>
              <a:t>  VARIABLE        VALUE          REDUCED COST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E1</a:t>
            </a:r>
            <a:r>
              <a:rPr lang="en-US" sz="2000" dirty="0"/>
              <a:t>       450.000000        0.000000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D2</a:t>
            </a:r>
            <a:r>
              <a:rPr lang="en-US" sz="2000" dirty="0"/>
              <a:t>         0.000000          2.500000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X1</a:t>
            </a:r>
            <a:r>
              <a:rPr lang="en-US" sz="2000" dirty="0"/>
              <a:t>      2000.000000       0.000000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X2</a:t>
            </a:r>
            <a:r>
              <a:rPr lang="en-US" sz="2000" dirty="0"/>
              <a:t>       600.000000         0.000000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D1</a:t>
            </a:r>
            <a:r>
              <a:rPr lang="en-US" sz="2000" dirty="0"/>
              <a:t>         0.000000        30.000000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E2</a:t>
            </a:r>
            <a:r>
              <a:rPr lang="en-US" sz="2000" dirty="0"/>
              <a:t>         0.000000         22.500000</a:t>
            </a:r>
            <a:endParaRPr lang="es-PE" sz="20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11E3902-A606-4BB8-A859-5FC9581A91F7}"/>
              </a:ext>
            </a:extLst>
          </p:cNvPr>
          <p:cNvSpPr/>
          <p:nvPr/>
        </p:nvSpPr>
        <p:spPr>
          <a:xfrm>
            <a:off x="559076" y="1239720"/>
            <a:ext cx="4195804" cy="286232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000" b="1" dirty="0"/>
              <a:t>MIN </a:t>
            </a:r>
            <a:r>
              <a:rPr lang="es-PE" sz="2000" b="1" dirty="0" err="1"/>
              <a:t>30E1+25D2</a:t>
            </a:r>
            <a:endParaRPr lang="es-PE" sz="2000" b="1" dirty="0"/>
          </a:p>
          <a:p>
            <a:r>
              <a:rPr lang="es-PE" sz="2000" b="1" dirty="0" err="1"/>
              <a:t>ST</a:t>
            </a:r>
            <a:endParaRPr lang="es-PE" sz="2000" b="1" dirty="0"/>
          </a:p>
          <a:p>
            <a:r>
              <a:rPr lang="es-PE" sz="2000" b="1" dirty="0"/>
              <a:t>!Restricciones </a:t>
            </a:r>
            <a:r>
              <a:rPr lang="es-PE" sz="2000" b="1" dirty="0" err="1"/>
              <a:t>meta1</a:t>
            </a:r>
            <a:endParaRPr lang="es-PE" sz="2000" b="1" dirty="0"/>
          </a:p>
          <a:p>
            <a:r>
              <a:rPr lang="es-PE" sz="2000" b="1" dirty="0" err="1"/>
              <a:t>0.5X1+0.25X2+D1-E1</a:t>
            </a:r>
            <a:r>
              <a:rPr lang="es-PE" sz="2000" b="1" dirty="0"/>
              <a:t>=700</a:t>
            </a:r>
          </a:p>
          <a:p>
            <a:r>
              <a:rPr lang="es-PE" sz="2000" b="1" dirty="0"/>
              <a:t>!Restricciones </a:t>
            </a:r>
            <a:r>
              <a:rPr lang="es-PE" sz="2000" b="1" dirty="0" err="1"/>
              <a:t>meta2</a:t>
            </a:r>
            <a:endParaRPr lang="es-PE" sz="2000" b="1" dirty="0"/>
          </a:p>
          <a:p>
            <a:r>
              <a:rPr lang="es-PE" sz="2000" b="1" dirty="0" err="1"/>
              <a:t>3X1+5X2+D2-E2</a:t>
            </a:r>
            <a:r>
              <a:rPr lang="es-PE" sz="2000" b="1" dirty="0"/>
              <a:t>=9000</a:t>
            </a:r>
          </a:p>
          <a:p>
            <a:r>
              <a:rPr lang="es-PE" sz="2000" b="1" dirty="0"/>
              <a:t>!Restricciones dura</a:t>
            </a:r>
          </a:p>
          <a:p>
            <a:r>
              <a:rPr lang="es-PE" sz="2000" b="1" dirty="0" err="1"/>
              <a:t>25X1+50X2</a:t>
            </a:r>
            <a:r>
              <a:rPr lang="es-PE" sz="2000" b="1" dirty="0"/>
              <a:t>&lt;=80000</a:t>
            </a:r>
          </a:p>
          <a:p>
            <a:r>
              <a:rPr lang="es-PE" sz="2000" b="1" dirty="0" err="1"/>
              <a:t>END</a:t>
            </a:r>
            <a:endParaRPr lang="es-PE" sz="20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E66E375-1165-4FCD-976A-38CA1E0A90DC}"/>
              </a:ext>
            </a:extLst>
          </p:cNvPr>
          <p:cNvSpPr txBox="1"/>
          <p:nvPr/>
        </p:nvSpPr>
        <p:spPr>
          <a:xfrm>
            <a:off x="4252823" y="1423358"/>
            <a:ext cx="1354347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ES" dirty="0">
                <a:solidFill>
                  <a:srgbClr val="FF0000"/>
                </a:solidFill>
              </a:rPr>
              <a:t>LINDO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C8AF818-CFFF-47B7-B672-CEF9779CA35B}"/>
              </a:ext>
            </a:extLst>
          </p:cNvPr>
          <p:cNvSpPr txBox="1"/>
          <p:nvPr/>
        </p:nvSpPr>
        <p:spPr>
          <a:xfrm>
            <a:off x="4267533" y="4668481"/>
            <a:ext cx="1354347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ES" dirty="0">
                <a:solidFill>
                  <a:srgbClr val="FF0000"/>
                </a:solidFill>
              </a:rPr>
              <a:t>LINGO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41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AD6797C-9094-4471-BD21-D37739A097E4}"/>
              </a:ext>
            </a:extLst>
          </p:cNvPr>
          <p:cNvSpPr txBox="1"/>
          <p:nvPr/>
        </p:nvSpPr>
        <p:spPr>
          <a:xfrm>
            <a:off x="758757" y="1289239"/>
            <a:ext cx="507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Plan de inversión</a:t>
            </a:r>
            <a:endParaRPr lang="es-PE" sz="2400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D10A7FDE-A6E0-4089-B254-98E8CF204902}"/>
              </a:ext>
            </a:extLst>
          </p:cNvPr>
          <p:cNvGraphicFramePr>
            <a:graphicFrameLocks noGrp="1"/>
          </p:cNvGraphicFramePr>
          <p:nvPr/>
        </p:nvGraphicFramePr>
        <p:xfrm>
          <a:off x="793345" y="1992651"/>
          <a:ext cx="49330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047">
                  <a:extLst>
                    <a:ext uri="{9D8B030D-6E8A-4147-A177-3AD203B41FA5}">
                      <a16:colId xmlns:a16="http://schemas.microsoft.com/office/drawing/2014/main" val="3634477077"/>
                    </a:ext>
                  </a:extLst>
                </a:gridCol>
                <a:gridCol w="2343957">
                  <a:extLst>
                    <a:ext uri="{9D8B030D-6E8A-4147-A177-3AD203B41FA5}">
                      <a16:colId xmlns:a16="http://schemas.microsoft.com/office/drawing/2014/main" val="3249260829"/>
                    </a:ext>
                  </a:extLst>
                </a:gridCol>
              </a:tblGrid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Acciones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Cantidad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589736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Us</a:t>
                      </a:r>
                      <a:r>
                        <a:rPr lang="es-ES" sz="2400" dirty="0"/>
                        <a:t> </a:t>
                      </a:r>
                      <a:r>
                        <a:rPr lang="es-ES" sz="2400" dirty="0" err="1"/>
                        <a:t>Oil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2000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34738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HUB </a:t>
                      </a:r>
                      <a:r>
                        <a:rPr lang="es-ES" sz="2400" dirty="0" err="1"/>
                        <a:t>Propierties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600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70891"/>
                  </a:ext>
                </a:extLst>
              </a:tr>
            </a:tbl>
          </a:graphicData>
        </a:graphic>
      </p:graphicFrame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21201559-EED4-45FC-AB14-802BCCEA8E15}"/>
              </a:ext>
            </a:extLst>
          </p:cNvPr>
          <p:cNvGraphicFramePr>
            <a:graphicFrameLocks noGrp="1"/>
          </p:cNvGraphicFramePr>
          <p:nvPr/>
        </p:nvGraphicFramePr>
        <p:xfrm>
          <a:off x="759838" y="4237241"/>
          <a:ext cx="10672324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763">
                  <a:extLst>
                    <a:ext uri="{9D8B030D-6E8A-4147-A177-3AD203B41FA5}">
                      <a16:colId xmlns:a16="http://schemas.microsoft.com/office/drawing/2014/main" val="1918889544"/>
                    </a:ext>
                  </a:extLst>
                </a:gridCol>
                <a:gridCol w="1984442">
                  <a:extLst>
                    <a:ext uri="{9D8B030D-6E8A-4147-A177-3AD203B41FA5}">
                      <a16:colId xmlns:a16="http://schemas.microsoft.com/office/drawing/2014/main" val="185774863"/>
                    </a:ext>
                  </a:extLst>
                </a:gridCol>
                <a:gridCol w="2159541">
                  <a:extLst>
                    <a:ext uri="{9D8B030D-6E8A-4147-A177-3AD203B41FA5}">
                      <a16:colId xmlns:a16="http://schemas.microsoft.com/office/drawing/2014/main" val="3142263125"/>
                    </a:ext>
                  </a:extLst>
                </a:gridCol>
                <a:gridCol w="5408578">
                  <a:extLst>
                    <a:ext uri="{9D8B030D-6E8A-4147-A177-3AD203B41FA5}">
                      <a16:colId xmlns:a16="http://schemas.microsoft.com/office/drawing/2014/main" val="459202778"/>
                    </a:ext>
                  </a:extLst>
                </a:gridCol>
              </a:tblGrid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Meta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¿Se cumplió?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Variable de desviación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Descripción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80141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D1</a:t>
                      </a:r>
                      <a:r>
                        <a:rPr lang="es-ES" sz="2400" dirty="0"/>
                        <a:t>=0: </a:t>
                      </a:r>
                      <a:r>
                        <a:rPr lang="es-ES" sz="2400" dirty="0" err="1"/>
                        <a:t>E1</a:t>
                      </a:r>
                      <a:r>
                        <a:rPr lang="es-ES" sz="2400" dirty="0"/>
                        <a:t>=450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dirty="0"/>
                        <a:t>El riesgo se excede el máximo posible en 450 puntos.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6026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D2</a:t>
                      </a:r>
                      <a:r>
                        <a:rPr lang="es-ES" sz="2400" dirty="0"/>
                        <a:t>=0:  </a:t>
                      </a:r>
                      <a:r>
                        <a:rPr lang="es-ES" sz="2400" dirty="0" err="1"/>
                        <a:t>E2</a:t>
                      </a:r>
                      <a:r>
                        <a:rPr lang="es-ES" sz="2400" dirty="0"/>
                        <a:t>=0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dirty="0"/>
                        <a:t>Se alcanza exactamente la meta de rendimiento de $9000 .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35707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D8D653DB-97BC-41DB-B9C4-296D38E8383F}"/>
              </a:ext>
            </a:extLst>
          </p:cNvPr>
          <p:cNvSpPr/>
          <p:nvPr/>
        </p:nvSpPr>
        <p:spPr>
          <a:xfrm>
            <a:off x="6096000" y="277614"/>
            <a:ext cx="609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Informe administrativo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A16E973-705D-439A-BD56-D42D13270F11}"/>
              </a:ext>
            </a:extLst>
          </p:cNvPr>
          <p:cNvSpPr/>
          <p:nvPr/>
        </p:nvSpPr>
        <p:spPr>
          <a:xfrm>
            <a:off x="6258560" y="1233332"/>
            <a:ext cx="5933440" cy="9541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>
                <a:latin typeface="Arial Narrow" panose="020B0606020202030204" pitchFamily="34" charset="0"/>
              </a:rPr>
              <a:t>META 1: </a:t>
            </a:r>
            <a:r>
              <a:rPr lang="es-ES" sz="2000" b="1" dirty="0">
                <a:solidFill>
                  <a:srgbClr val="FF0000"/>
                </a:solidFill>
              </a:rPr>
              <a:t>Min  </a:t>
            </a:r>
            <a:r>
              <a:rPr lang="es-ES" sz="2000" b="1" dirty="0" err="1">
                <a:solidFill>
                  <a:srgbClr val="FF0000"/>
                </a:solidFill>
              </a:rPr>
              <a:t>E1</a:t>
            </a:r>
            <a:r>
              <a:rPr lang="es-ES" b="1" dirty="0"/>
              <a:t>	</a:t>
            </a:r>
            <a:r>
              <a:rPr lang="es-ES" b="1" dirty="0">
                <a:solidFill>
                  <a:srgbClr val="0070C0"/>
                </a:solidFill>
              </a:rPr>
              <a:t>Asumir un riesgo inferior a 700 </a:t>
            </a:r>
          </a:p>
          <a:p>
            <a:r>
              <a:rPr lang="es-ES" b="1" dirty="0">
                <a:latin typeface="Arial Narrow" panose="020B0606020202030204" pitchFamily="34" charset="0"/>
              </a:rPr>
              <a:t>META 2: </a:t>
            </a:r>
            <a:r>
              <a:rPr lang="es-ES" b="1" dirty="0">
                <a:solidFill>
                  <a:srgbClr val="FF0000"/>
                </a:solidFill>
              </a:rPr>
              <a:t>Min  </a:t>
            </a:r>
            <a:r>
              <a:rPr lang="es-ES" b="1" dirty="0" err="1">
                <a:solidFill>
                  <a:srgbClr val="FF0000"/>
                </a:solidFill>
              </a:rPr>
              <a:t>D2</a:t>
            </a:r>
            <a:r>
              <a:rPr lang="es-ES" b="1" dirty="0"/>
              <a:t>	</a:t>
            </a:r>
            <a:r>
              <a:rPr lang="es-ES" b="1" dirty="0">
                <a:solidFill>
                  <a:srgbClr val="0070C0"/>
                </a:solidFill>
              </a:rPr>
              <a:t>Obtener </a:t>
            </a:r>
            <a:r>
              <a:rPr lang="es-ES" b="1" dirty="0"/>
              <a:t> </a:t>
            </a:r>
            <a:r>
              <a:rPr lang="es-ES" b="1" dirty="0">
                <a:solidFill>
                  <a:srgbClr val="0070C0"/>
                </a:solidFill>
              </a:rPr>
              <a:t>un rendimiento anual mínimo</a:t>
            </a:r>
          </a:p>
          <a:p>
            <a:r>
              <a:rPr lang="es-ES" b="1" dirty="0">
                <a:solidFill>
                  <a:srgbClr val="0070C0"/>
                </a:solidFill>
              </a:rPr>
              <a:t>                                   de  $ 9 000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B0DF641-BB76-4EE6-9F22-E1A42FF7907D}"/>
              </a:ext>
            </a:extLst>
          </p:cNvPr>
          <p:cNvCxnSpPr>
            <a:cxnSpLocks/>
          </p:cNvCxnSpPr>
          <p:nvPr/>
        </p:nvCxnSpPr>
        <p:spPr>
          <a:xfrm>
            <a:off x="4827412" y="-20161"/>
            <a:ext cx="0" cy="874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DE4A640-B3DE-4B1E-A14B-4FC8F53044EE}"/>
              </a:ext>
            </a:extLst>
          </p:cNvPr>
          <p:cNvCxnSpPr/>
          <p:nvPr/>
        </p:nvCxnSpPr>
        <p:spPr>
          <a:xfrm>
            <a:off x="3882190" y="483273"/>
            <a:ext cx="18493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5988E4D-330E-43E6-A742-61706BC49397}"/>
              </a:ext>
            </a:extLst>
          </p:cNvPr>
          <p:cNvSpPr txBox="1"/>
          <p:nvPr/>
        </p:nvSpPr>
        <p:spPr>
          <a:xfrm>
            <a:off x="4149318" y="20936"/>
            <a:ext cx="51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  <a:endParaRPr lang="es-PE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A05A51C-1BCF-48A4-AF88-37B17BEE8192}"/>
              </a:ext>
            </a:extLst>
          </p:cNvPr>
          <p:cNvSpPr txBox="1"/>
          <p:nvPr/>
        </p:nvSpPr>
        <p:spPr>
          <a:xfrm>
            <a:off x="5065302" y="391422"/>
            <a:ext cx="51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D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AE47E9F-FE86-47CF-8EF9-4E2BA7C70110}"/>
              </a:ext>
            </a:extLst>
          </p:cNvPr>
          <p:cNvSpPr txBox="1"/>
          <p:nvPr/>
        </p:nvSpPr>
        <p:spPr>
          <a:xfrm>
            <a:off x="4159463" y="391422"/>
            <a:ext cx="51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E4E6CCE-3724-4A8B-B14D-4D3208073345}"/>
              </a:ext>
            </a:extLst>
          </p:cNvPr>
          <p:cNvSpPr txBox="1"/>
          <p:nvPr/>
        </p:nvSpPr>
        <p:spPr>
          <a:xfrm>
            <a:off x="4966113" y="17447"/>
            <a:ext cx="51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  B</a:t>
            </a: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2801501-267C-42C4-9C2D-59351AFAF0A9}"/>
              </a:ext>
            </a:extLst>
          </p:cNvPr>
          <p:cNvSpPr txBox="1"/>
          <p:nvPr/>
        </p:nvSpPr>
        <p:spPr>
          <a:xfrm>
            <a:off x="4504291" y="710198"/>
            <a:ext cx="1591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Rendimiento</a:t>
            </a:r>
            <a:endParaRPr lang="es-PE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B4FC9A6-7258-4AA0-B3C6-B225970FA299}"/>
              </a:ext>
            </a:extLst>
          </p:cNvPr>
          <p:cNvSpPr txBox="1"/>
          <p:nvPr/>
        </p:nvSpPr>
        <p:spPr>
          <a:xfrm>
            <a:off x="3152725" y="66101"/>
            <a:ext cx="98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Riesgo</a:t>
            </a:r>
            <a:endParaRPr lang="es-PE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C602BA6-5B29-481C-AC1B-839469E17DAB}"/>
              </a:ext>
            </a:extLst>
          </p:cNvPr>
          <p:cNvCxnSpPr/>
          <p:nvPr/>
        </p:nvCxnSpPr>
        <p:spPr>
          <a:xfrm>
            <a:off x="3915135" y="790360"/>
            <a:ext cx="199270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2FAE28B-8B20-4A73-87FE-39281EBD1E17}"/>
              </a:ext>
            </a:extLst>
          </p:cNvPr>
          <p:cNvCxnSpPr>
            <a:cxnSpLocks/>
          </p:cNvCxnSpPr>
          <p:nvPr/>
        </p:nvCxnSpPr>
        <p:spPr>
          <a:xfrm flipV="1">
            <a:off x="3934365" y="106526"/>
            <a:ext cx="0" cy="6586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F6A59CE-0EFC-4014-B41E-2E4600664003}"/>
              </a:ext>
            </a:extLst>
          </p:cNvPr>
          <p:cNvSpPr/>
          <p:nvPr/>
        </p:nvSpPr>
        <p:spPr>
          <a:xfrm>
            <a:off x="8877669" y="2186479"/>
            <a:ext cx="3314331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/>
              <a:t> OBJECTIVE FUNCTION VALUE</a:t>
            </a:r>
          </a:p>
          <a:p>
            <a:r>
              <a:rPr lang="en-US" sz="1400" b="1" dirty="0"/>
              <a:t>        1)      13500.00</a:t>
            </a:r>
          </a:p>
          <a:p>
            <a:r>
              <a:rPr lang="en-US" sz="1400" b="1" dirty="0"/>
              <a:t>  VARIABLE        VALUE          REDUCED COST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E1</a:t>
            </a:r>
            <a:r>
              <a:rPr lang="en-US" sz="1400" b="1" dirty="0"/>
              <a:t>        450.000000          0.000000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D2</a:t>
            </a:r>
            <a:r>
              <a:rPr lang="en-US" sz="1400" b="1" dirty="0"/>
              <a:t>            0.000000          2.500000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X1</a:t>
            </a:r>
            <a:r>
              <a:rPr lang="en-US" sz="1400" b="1" dirty="0"/>
              <a:t>      2000.000000          0.000000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X2</a:t>
            </a:r>
            <a:r>
              <a:rPr lang="en-US" sz="1400" b="1" dirty="0"/>
              <a:t>        600.000000          0.000000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D1</a:t>
            </a:r>
            <a:r>
              <a:rPr lang="en-US" sz="1400" b="1" dirty="0"/>
              <a:t>            0.000000        30.000000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E2</a:t>
            </a:r>
            <a:r>
              <a:rPr lang="en-US" sz="1400" b="1" dirty="0"/>
              <a:t>             0.000000        22.500000</a:t>
            </a:r>
            <a:endParaRPr lang="es-PE" sz="1400" b="1" dirty="0"/>
          </a:p>
        </p:txBody>
      </p:sp>
    </p:spTree>
    <p:extLst>
      <p:ext uri="{BB962C8B-B14F-4D97-AF65-F5344CB8AC3E}">
        <p14:creationId xmlns:p14="http://schemas.microsoft.com/office/powerpoint/2010/main" val="236284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31</a:t>
            </a:fld>
            <a:endParaRPr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49501" y="2276872"/>
            <a:ext cx="7920880" cy="1220754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spcFirstLastPara="1"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87313" indent="-87313" algn="ctr"/>
            <a:r>
              <a:rPr lang="es-ES" sz="28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  <a:t>Donde quiera que usted vea un negocio exitoso, alguien ha tomado una decisión valiente.</a:t>
            </a:r>
            <a:br>
              <a:rPr lang="es-ES" sz="28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</a:br>
            <a:endParaRPr lang="es-PE" sz="2800" b="0" dirty="0">
              <a:solidFill>
                <a:srgbClr val="7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0" y="92279"/>
            <a:ext cx="6096000" cy="87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3200" i="1">
                <a:solidFill>
                  <a:schemeClr val="accent5">
                    <a:lumMod val="20000"/>
                    <a:lumOff val="80000"/>
                  </a:schemeClr>
                </a:solidFill>
                <a:latin typeface="Bauhaus 93" pitchFamily="82" charset="0"/>
              </a:defRPr>
            </a:lvl1pPr>
            <a:lvl2pPr algn="r" eaLnBrk="1" hangingPunct="1">
              <a:defRPr sz="2800" i="1">
                <a:latin typeface="Verdana" pitchFamily="34" charset="0"/>
              </a:defRPr>
            </a:lvl2pPr>
            <a:lvl3pPr algn="r" eaLnBrk="1" hangingPunct="1">
              <a:defRPr sz="2800" i="1">
                <a:latin typeface="Verdana" pitchFamily="34" charset="0"/>
              </a:defRPr>
            </a:lvl3pPr>
            <a:lvl4pPr algn="r" eaLnBrk="1" hangingPunct="1">
              <a:defRPr sz="2800" i="1">
                <a:latin typeface="Verdana" pitchFamily="34" charset="0"/>
              </a:defRPr>
            </a:lvl4pPr>
            <a:lvl5pPr algn="r" eaLnBrk="1" hangingPunct="1">
              <a:defRPr sz="2800" i="1">
                <a:latin typeface="Verdana" pitchFamily="34" charset="0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9pPr>
          </a:lstStyle>
          <a:p>
            <a:r>
              <a:rPr lang="es-MX" dirty="0">
                <a:solidFill>
                  <a:srgbClr val="FFFF00"/>
                </a:solidFill>
              </a:rPr>
              <a:t>Seamos dueños de nuestro propio destino</a:t>
            </a:r>
            <a:endParaRPr lang="es-ES" i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45A401-5395-4861-90CC-1389B0CFAC65}"/>
              </a:ext>
            </a:extLst>
          </p:cNvPr>
          <p:cNvSpPr/>
          <p:nvPr/>
        </p:nvSpPr>
        <p:spPr>
          <a:xfrm>
            <a:off x="4958093" y="4125017"/>
            <a:ext cx="22758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Gracias</a:t>
            </a:r>
          </a:p>
        </p:txBody>
      </p:sp>
      <p:pic>
        <p:nvPicPr>
          <p:cNvPr id="6" name="Picture 5" descr="004">
            <a:extLst>
              <a:ext uri="{FF2B5EF4-FFF2-40B4-BE49-F238E27FC236}">
                <a16:creationId xmlns:a16="http://schemas.microsoft.com/office/drawing/2014/main" id="{10E9D79D-8D69-43FB-8635-4B0D7576B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506" y="3733101"/>
            <a:ext cx="2095281" cy="279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82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4999</TotalTime>
  <Words>2857</Words>
  <Application>Microsoft Office PowerPoint</Application>
  <PresentationFormat>Panorámica</PresentationFormat>
  <Paragraphs>488</Paragraphs>
  <Slides>31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44" baseType="lpstr">
      <vt:lpstr>Arial</vt:lpstr>
      <vt:lpstr>Arial Black</vt:lpstr>
      <vt:lpstr>Arial Narrow</vt:lpstr>
      <vt:lpstr>Bauhaus 93</vt:lpstr>
      <vt:lpstr>Bodoni MT Black</vt:lpstr>
      <vt:lpstr>Calibri</vt:lpstr>
      <vt:lpstr>Calibri Light</vt:lpstr>
      <vt:lpstr>Lexend Deca</vt:lpstr>
      <vt:lpstr>Muli Regular</vt:lpstr>
      <vt:lpstr>Signika</vt:lpstr>
      <vt:lpstr>Tahoma</vt:lpstr>
      <vt:lpstr>Wingdings</vt:lpstr>
      <vt:lpstr>Tema de Office</vt:lpstr>
      <vt:lpstr>Presentación de PowerPoint</vt:lpstr>
      <vt:lpstr>PROGRAMACIÓN POR METAS</vt:lpstr>
      <vt:lpstr>Presentación de PowerPoint</vt:lpstr>
      <vt:lpstr>Presentación de PowerPoint</vt:lpstr>
      <vt:lpstr>Presentación de PowerPoint</vt:lpstr>
      <vt:lpstr>Modelos de programación por metas</vt:lpstr>
      <vt:lpstr>Modelos de programación por metas</vt:lpstr>
      <vt:lpstr>Desventajas del modelo P. L.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ANIVAL ALFREDO TORRE CAMONES</dc:creator>
  <cp:lastModifiedBy>ANIVAL ALFREDO TORRE CAMONES</cp:lastModifiedBy>
  <cp:revision>302</cp:revision>
  <dcterms:created xsi:type="dcterms:W3CDTF">2021-09-08T13:14:39Z</dcterms:created>
  <dcterms:modified xsi:type="dcterms:W3CDTF">2026-08-16T17:30:26Z</dcterms:modified>
</cp:coreProperties>
</file>
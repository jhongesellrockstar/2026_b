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481" r:id="rId2"/>
    <p:sldId id="525" r:id="rId3"/>
    <p:sldId id="343" r:id="rId4"/>
    <p:sldId id="527" r:id="rId5"/>
    <p:sldId id="341" r:id="rId6"/>
    <p:sldId id="528" r:id="rId7"/>
    <p:sldId id="526" r:id="rId8"/>
    <p:sldId id="344" r:id="rId9"/>
    <p:sldId id="345" r:id="rId10"/>
    <p:sldId id="375" r:id="rId11"/>
    <p:sldId id="377" r:id="rId12"/>
    <p:sldId id="334" r:id="rId13"/>
    <p:sldId id="376" r:id="rId14"/>
    <p:sldId id="363" r:id="rId15"/>
    <p:sldId id="449" r:id="rId16"/>
    <p:sldId id="450" r:id="rId17"/>
    <p:sldId id="451" r:id="rId18"/>
    <p:sldId id="452" r:id="rId19"/>
    <p:sldId id="453" r:id="rId20"/>
    <p:sldId id="529" r:id="rId21"/>
    <p:sldId id="280" r:id="rId2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486" autoAdjust="0"/>
    <p:restoredTop sz="94660"/>
  </p:normalViewPr>
  <p:slideViewPr>
    <p:cSldViewPr snapToGrid="0">
      <p:cViewPr varScale="1">
        <p:scale>
          <a:sx n="86" d="100"/>
          <a:sy n="86" d="100"/>
        </p:scale>
        <p:origin x="114" y="16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1772"/>
    </p:cViewPr>
  </p:sorter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21CB9B-663B-4969-8C86-E35C972F1687}" type="doc">
      <dgm:prSet loTypeId="urn:microsoft.com/office/officeart/2005/8/layout/vList5" loCatId="list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s-PE"/>
        </a:p>
      </dgm:t>
    </dgm:pt>
    <dgm:pt modelId="{8DEAA3CE-64CB-4937-91F5-EA9C43CEEF7A}">
      <dgm:prSet custT="1"/>
      <dgm:spPr/>
      <dgm:t>
        <a:bodyPr/>
        <a:lstStyle/>
        <a:p>
          <a:r>
            <a:rPr lang="es-ES" sz="2000" b="1" dirty="0"/>
            <a:t>Meta 1: </a:t>
          </a:r>
          <a:endParaRPr lang="es-PE" sz="2000" dirty="0"/>
        </a:p>
      </dgm:t>
    </dgm:pt>
    <dgm:pt modelId="{86387914-F8B2-4D31-952D-7CC3F0EDB7AC}" type="parTrans" cxnId="{AFBA2DDF-494E-45EC-A7EC-0F9053EE22A8}">
      <dgm:prSet/>
      <dgm:spPr/>
      <dgm:t>
        <a:bodyPr/>
        <a:lstStyle/>
        <a:p>
          <a:endParaRPr lang="es-PE" sz="1400"/>
        </a:p>
      </dgm:t>
    </dgm:pt>
    <dgm:pt modelId="{04E65719-01BC-4490-BABE-9462D9669412}" type="sibTrans" cxnId="{AFBA2DDF-494E-45EC-A7EC-0F9053EE22A8}">
      <dgm:prSet/>
      <dgm:spPr/>
      <dgm:t>
        <a:bodyPr/>
        <a:lstStyle/>
        <a:p>
          <a:endParaRPr lang="es-PE" sz="1400"/>
        </a:p>
      </dgm:t>
    </dgm:pt>
    <dgm:pt modelId="{5C78DB7F-8E9F-4167-933E-4CB53F5A0001}">
      <dgm:prSet custT="1"/>
      <dgm:spPr/>
      <dgm:t>
        <a:bodyPr/>
        <a:lstStyle/>
        <a:p>
          <a:r>
            <a:rPr lang="es-ES" sz="1400" b="0" dirty="0"/>
            <a:t>Que el costo total que sea lo más pequeña posible. Y no supere los 80000 dolares </a:t>
          </a:r>
          <a:endParaRPr lang="es-PE" sz="1400" b="0" dirty="0"/>
        </a:p>
      </dgm:t>
    </dgm:pt>
    <dgm:pt modelId="{EFAE2117-D51B-4BF9-A6E8-96C0F9A34FB9}" type="parTrans" cxnId="{86F8D77A-5AB0-491D-8D44-82F43099F102}">
      <dgm:prSet/>
      <dgm:spPr/>
      <dgm:t>
        <a:bodyPr/>
        <a:lstStyle/>
        <a:p>
          <a:endParaRPr lang="es-PE" sz="1400"/>
        </a:p>
      </dgm:t>
    </dgm:pt>
    <dgm:pt modelId="{90EA5BDA-8206-47D9-AF63-C3AE2EC0862C}" type="sibTrans" cxnId="{86F8D77A-5AB0-491D-8D44-82F43099F102}">
      <dgm:prSet/>
      <dgm:spPr/>
      <dgm:t>
        <a:bodyPr/>
        <a:lstStyle/>
        <a:p>
          <a:endParaRPr lang="es-PE" sz="1400"/>
        </a:p>
      </dgm:t>
    </dgm:pt>
    <dgm:pt modelId="{4AB59A0F-F097-450A-85F8-2004C913B71A}">
      <dgm:prSet custT="1"/>
      <dgm:spPr/>
      <dgm:t>
        <a:bodyPr/>
        <a:lstStyle/>
        <a:p>
          <a:r>
            <a:rPr lang="es-ES" sz="2000" b="1" dirty="0"/>
            <a:t>Meta 2: </a:t>
          </a:r>
          <a:endParaRPr lang="es-PE" sz="2000" dirty="0"/>
        </a:p>
      </dgm:t>
    </dgm:pt>
    <dgm:pt modelId="{C3DA9395-3540-4246-9FF2-5B6CB020DD65}" type="parTrans" cxnId="{D4C3DF3A-9A35-4AD6-B171-07040BC7D225}">
      <dgm:prSet/>
      <dgm:spPr/>
      <dgm:t>
        <a:bodyPr/>
        <a:lstStyle/>
        <a:p>
          <a:endParaRPr lang="es-PE" sz="1400"/>
        </a:p>
      </dgm:t>
    </dgm:pt>
    <dgm:pt modelId="{46119655-535D-4B37-91A7-1670023AAEDF}" type="sibTrans" cxnId="{D4C3DF3A-9A35-4AD6-B171-07040BC7D225}">
      <dgm:prSet/>
      <dgm:spPr/>
      <dgm:t>
        <a:bodyPr/>
        <a:lstStyle/>
        <a:p>
          <a:endParaRPr lang="es-PE" sz="1400"/>
        </a:p>
      </dgm:t>
    </dgm:pt>
    <dgm:pt modelId="{CF9C5B38-DAC8-44ED-9A67-B83F4EDDED15}">
      <dgm:prSet custT="1"/>
      <dgm:spPr/>
      <dgm:t>
        <a:bodyPr/>
        <a:lstStyle/>
        <a:p>
          <a:r>
            <a:rPr lang="es-ES" sz="1400" b="0" dirty="0"/>
            <a:t>Que la producción de gasolina sea exactamente 1260 barriles ya que no hay otros clientes. </a:t>
          </a:r>
          <a:endParaRPr lang="es-PE" sz="1400" b="0" dirty="0"/>
        </a:p>
      </dgm:t>
    </dgm:pt>
    <dgm:pt modelId="{52DFC804-6C37-405D-A914-F69F971750ED}" type="parTrans" cxnId="{6146CCC0-E9EB-41F3-8001-FD97818F06BB}">
      <dgm:prSet/>
      <dgm:spPr/>
      <dgm:t>
        <a:bodyPr/>
        <a:lstStyle/>
        <a:p>
          <a:endParaRPr lang="es-PE" sz="1400"/>
        </a:p>
      </dgm:t>
    </dgm:pt>
    <dgm:pt modelId="{CC6D6A2A-31E5-48DD-A955-8B3153F60CA0}" type="sibTrans" cxnId="{6146CCC0-E9EB-41F3-8001-FD97818F06BB}">
      <dgm:prSet/>
      <dgm:spPr/>
      <dgm:t>
        <a:bodyPr/>
        <a:lstStyle/>
        <a:p>
          <a:endParaRPr lang="es-PE" sz="1400"/>
        </a:p>
      </dgm:t>
    </dgm:pt>
    <dgm:pt modelId="{537C5C8A-39A1-4356-B0F7-1C4AFBCA6CB4}">
      <dgm:prSet custT="1"/>
      <dgm:spPr/>
      <dgm:t>
        <a:bodyPr/>
        <a:lstStyle/>
        <a:p>
          <a:r>
            <a:rPr lang="es-ES" sz="2000" b="1"/>
            <a:t>Meta 3: </a:t>
          </a:r>
          <a:endParaRPr lang="es-PE" sz="2000"/>
        </a:p>
      </dgm:t>
    </dgm:pt>
    <dgm:pt modelId="{9A91671E-B98F-4DD2-B9DB-467435B385DF}" type="parTrans" cxnId="{B8AF2D03-ACDF-42DF-91CB-C1ABC4A92B5E}">
      <dgm:prSet/>
      <dgm:spPr/>
      <dgm:t>
        <a:bodyPr/>
        <a:lstStyle/>
        <a:p>
          <a:endParaRPr lang="es-PE" sz="1400"/>
        </a:p>
      </dgm:t>
    </dgm:pt>
    <dgm:pt modelId="{ADC622D5-F842-4095-814D-ECD6C792C0C1}" type="sibTrans" cxnId="{B8AF2D03-ACDF-42DF-91CB-C1ABC4A92B5E}">
      <dgm:prSet/>
      <dgm:spPr/>
      <dgm:t>
        <a:bodyPr/>
        <a:lstStyle/>
        <a:p>
          <a:endParaRPr lang="es-PE" sz="1400"/>
        </a:p>
      </dgm:t>
    </dgm:pt>
    <dgm:pt modelId="{68733D2E-DF48-43E7-81A0-86C97B336A1A}">
      <dgm:prSet custT="1"/>
      <dgm:spPr/>
      <dgm:t>
        <a:bodyPr/>
        <a:lstStyle/>
        <a:p>
          <a:r>
            <a:rPr lang="es-ES" sz="1400" b="0" dirty="0"/>
            <a:t>Que la producción de turbosina sea  mas de 1000  barriles ya que los aviones extranjeros incrementando su compra de este combustible. </a:t>
          </a:r>
          <a:endParaRPr lang="es-PE" sz="1400" b="0" dirty="0"/>
        </a:p>
      </dgm:t>
    </dgm:pt>
    <dgm:pt modelId="{748F86EF-27E6-41DA-9B96-1A4734AA9AA0}" type="parTrans" cxnId="{F3ADA84A-8653-4F0F-9F22-BF0B97724715}">
      <dgm:prSet/>
      <dgm:spPr/>
      <dgm:t>
        <a:bodyPr/>
        <a:lstStyle/>
        <a:p>
          <a:endParaRPr lang="es-PE" sz="1400"/>
        </a:p>
      </dgm:t>
    </dgm:pt>
    <dgm:pt modelId="{F6292124-1ABC-4C60-AFA0-6384E20E71AC}" type="sibTrans" cxnId="{F3ADA84A-8653-4F0F-9F22-BF0B97724715}">
      <dgm:prSet/>
      <dgm:spPr/>
      <dgm:t>
        <a:bodyPr/>
        <a:lstStyle/>
        <a:p>
          <a:endParaRPr lang="es-PE" sz="1400"/>
        </a:p>
      </dgm:t>
    </dgm:pt>
    <dgm:pt modelId="{64920BF3-B686-41FC-AAE7-CE96C6C6D41B}">
      <dgm:prSet custT="1"/>
      <dgm:spPr/>
      <dgm:t>
        <a:bodyPr/>
        <a:lstStyle/>
        <a:p>
          <a:r>
            <a:rPr lang="es-ES" sz="2000" b="1"/>
            <a:t>Meta 4: </a:t>
          </a:r>
          <a:endParaRPr lang="es-PE" sz="2000"/>
        </a:p>
      </dgm:t>
    </dgm:pt>
    <dgm:pt modelId="{4D262508-481A-45E5-8642-83CAD89B1B54}" type="parTrans" cxnId="{68EA3549-1927-46D5-BCEA-A82EF27D5329}">
      <dgm:prSet/>
      <dgm:spPr/>
      <dgm:t>
        <a:bodyPr/>
        <a:lstStyle/>
        <a:p>
          <a:endParaRPr lang="es-PE" sz="1400"/>
        </a:p>
      </dgm:t>
    </dgm:pt>
    <dgm:pt modelId="{6AAF67E3-AF1D-4B50-9B4C-20AF4E31F9BF}" type="sibTrans" cxnId="{68EA3549-1927-46D5-BCEA-A82EF27D5329}">
      <dgm:prSet/>
      <dgm:spPr/>
      <dgm:t>
        <a:bodyPr/>
        <a:lstStyle/>
        <a:p>
          <a:endParaRPr lang="es-PE" sz="1400"/>
        </a:p>
      </dgm:t>
    </dgm:pt>
    <dgm:pt modelId="{7876DC86-38ED-47C6-9E4E-B97727E91F43}">
      <dgm:prSet custT="1"/>
      <dgm:spPr/>
      <dgm:t>
        <a:bodyPr/>
        <a:lstStyle/>
        <a:p>
          <a:r>
            <a:rPr lang="es-ES" sz="1400" b="0" dirty="0"/>
            <a:t>La producción de queroseno sea a lo más de 500 barriles. </a:t>
          </a:r>
          <a:endParaRPr lang="es-PE" sz="1400" b="0" dirty="0"/>
        </a:p>
      </dgm:t>
    </dgm:pt>
    <dgm:pt modelId="{2ABBBF32-4E47-4054-A47C-2DB464438B9C}" type="parTrans" cxnId="{3A036C5A-6221-48A2-8FC4-5EA7FF0530B5}">
      <dgm:prSet/>
      <dgm:spPr/>
      <dgm:t>
        <a:bodyPr/>
        <a:lstStyle/>
        <a:p>
          <a:endParaRPr lang="es-PE" sz="1400"/>
        </a:p>
      </dgm:t>
    </dgm:pt>
    <dgm:pt modelId="{2924B6C5-317C-4275-A5FB-F6ACBFCD8A07}" type="sibTrans" cxnId="{3A036C5A-6221-48A2-8FC4-5EA7FF0530B5}">
      <dgm:prSet/>
      <dgm:spPr/>
      <dgm:t>
        <a:bodyPr/>
        <a:lstStyle/>
        <a:p>
          <a:endParaRPr lang="es-PE" sz="1400"/>
        </a:p>
      </dgm:t>
    </dgm:pt>
    <dgm:pt modelId="{1F83268E-88DD-492D-83F4-27E9ADD517F0}" type="pres">
      <dgm:prSet presAssocID="{2321CB9B-663B-4969-8C86-E35C972F1687}" presName="Name0" presStyleCnt="0">
        <dgm:presLayoutVars>
          <dgm:dir/>
          <dgm:animLvl val="lvl"/>
          <dgm:resizeHandles val="exact"/>
        </dgm:presLayoutVars>
      </dgm:prSet>
      <dgm:spPr/>
    </dgm:pt>
    <dgm:pt modelId="{C92B9A91-C0F2-49D6-861B-D79973C00F45}" type="pres">
      <dgm:prSet presAssocID="{8DEAA3CE-64CB-4937-91F5-EA9C43CEEF7A}" presName="linNode" presStyleCnt="0"/>
      <dgm:spPr/>
    </dgm:pt>
    <dgm:pt modelId="{9DF32C51-ECB5-4D95-83B4-84223D3B26F8}" type="pres">
      <dgm:prSet presAssocID="{8DEAA3CE-64CB-4937-91F5-EA9C43CEEF7A}" presName="parentText" presStyleLbl="node1" presStyleIdx="0" presStyleCnt="4" custScaleX="71557">
        <dgm:presLayoutVars>
          <dgm:chMax val="1"/>
          <dgm:bulletEnabled val="1"/>
        </dgm:presLayoutVars>
      </dgm:prSet>
      <dgm:spPr/>
    </dgm:pt>
    <dgm:pt modelId="{D88DACF4-290E-4429-ABA1-538100743345}" type="pres">
      <dgm:prSet presAssocID="{8DEAA3CE-64CB-4937-91F5-EA9C43CEEF7A}" presName="descendantText" presStyleLbl="alignAccFollowNode1" presStyleIdx="0" presStyleCnt="4" custScaleX="115477" custScaleY="112877">
        <dgm:presLayoutVars>
          <dgm:bulletEnabled val="1"/>
        </dgm:presLayoutVars>
      </dgm:prSet>
      <dgm:spPr/>
    </dgm:pt>
    <dgm:pt modelId="{C0E56C97-704B-465D-B94A-B8674AA7C9D8}" type="pres">
      <dgm:prSet presAssocID="{04E65719-01BC-4490-BABE-9462D9669412}" presName="sp" presStyleCnt="0"/>
      <dgm:spPr/>
    </dgm:pt>
    <dgm:pt modelId="{87C94A08-FD4C-4995-BA4D-22665290EB96}" type="pres">
      <dgm:prSet presAssocID="{4AB59A0F-F097-450A-85F8-2004C913B71A}" presName="linNode" presStyleCnt="0"/>
      <dgm:spPr/>
    </dgm:pt>
    <dgm:pt modelId="{F14BE77B-816D-4248-A7EC-505294A64660}" type="pres">
      <dgm:prSet presAssocID="{4AB59A0F-F097-450A-85F8-2004C913B71A}" presName="parentText" presStyleLbl="node1" presStyleIdx="1" presStyleCnt="4" custScaleX="72022">
        <dgm:presLayoutVars>
          <dgm:chMax val="1"/>
          <dgm:bulletEnabled val="1"/>
        </dgm:presLayoutVars>
      </dgm:prSet>
      <dgm:spPr/>
    </dgm:pt>
    <dgm:pt modelId="{7AE815B1-C101-4469-BFB0-465A5EE74F5B}" type="pres">
      <dgm:prSet presAssocID="{4AB59A0F-F097-450A-85F8-2004C913B71A}" presName="descendantText" presStyleLbl="alignAccFollowNode1" presStyleIdx="1" presStyleCnt="4" custScaleX="115514" custScaleY="112854">
        <dgm:presLayoutVars>
          <dgm:bulletEnabled val="1"/>
        </dgm:presLayoutVars>
      </dgm:prSet>
      <dgm:spPr/>
    </dgm:pt>
    <dgm:pt modelId="{BD258384-C4EE-4CD9-83C4-7200D1905135}" type="pres">
      <dgm:prSet presAssocID="{46119655-535D-4B37-91A7-1670023AAEDF}" presName="sp" presStyleCnt="0"/>
      <dgm:spPr/>
    </dgm:pt>
    <dgm:pt modelId="{77CDC10E-F641-48A9-BDEE-E2F0D2B28FF5}" type="pres">
      <dgm:prSet presAssocID="{537C5C8A-39A1-4356-B0F7-1C4AFBCA6CB4}" presName="linNode" presStyleCnt="0"/>
      <dgm:spPr/>
    </dgm:pt>
    <dgm:pt modelId="{3A2F6804-E712-4BFC-85F5-647D3AAFB3A4}" type="pres">
      <dgm:prSet presAssocID="{537C5C8A-39A1-4356-B0F7-1C4AFBCA6CB4}" presName="parentText" presStyleLbl="node1" presStyleIdx="2" presStyleCnt="4" custScaleX="73202">
        <dgm:presLayoutVars>
          <dgm:chMax val="1"/>
          <dgm:bulletEnabled val="1"/>
        </dgm:presLayoutVars>
      </dgm:prSet>
      <dgm:spPr/>
    </dgm:pt>
    <dgm:pt modelId="{0DBF8F4B-5120-4A22-ADCA-1D8D9863E94C}" type="pres">
      <dgm:prSet presAssocID="{537C5C8A-39A1-4356-B0F7-1C4AFBCA6CB4}" presName="descendantText" presStyleLbl="alignAccFollowNode1" presStyleIdx="2" presStyleCnt="4" custScaleX="114518" custScaleY="121609" custLinFactNeighborY="0">
        <dgm:presLayoutVars>
          <dgm:bulletEnabled val="1"/>
        </dgm:presLayoutVars>
      </dgm:prSet>
      <dgm:spPr/>
    </dgm:pt>
    <dgm:pt modelId="{C10EF99A-0E05-4F25-B7F3-C63A84D575BB}" type="pres">
      <dgm:prSet presAssocID="{ADC622D5-F842-4095-814D-ECD6C792C0C1}" presName="sp" presStyleCnt="0"/>
      <dgm:spPr/>
    </dgm:pt>
    <dgm:pt modelId="{86665AEC-8C84-4D4B-866C-F57EFD74F636}" type="pres">
      <dgm:prSet presAssocID="{64920BF3-B686-41FC-AAE7-CE96C6C6D41B}" presName="linNode" presStyleCnt="0"/>
      <dgm:spPr/>
    </dgm:pt>
    <dgm:pt modelId="{8099A1AF-3ADD-416B-AF5B-5289A2C6298E}" type="pres">
      <dgm:prSet presAssocID="{64920BF3-B686-41FC-AAE7-CE96C6C6D41B}" presName="parentText" presStyleLbl="node1" presStyleIdx="3" presStyleCnt="4" custScaleX="71556">
        <dgm:presLayoutVars>
          <dgm:chMax val="1"/>
          <dgm:bulletEnabled val="1"/>
        </dgm:presLayoutVars>
      </dgm:prSet>
      <dgm:spPr/>
    </dgm:pt>
    <dgm:pt modelId="{36392E0E-AE2D-446C-8D7F-0126D4EEFC6D}" type="pres">
      <dgm:prSet presAssocID="{64920BF3-B686-41FC-AAE7-CE96C6C6D41B}" presName="descendantText" presStyleLbl="alignAccFollowNode1" presStyleIdx="3" presStyleCnt="4" custScaleX="114552" custScaleY="111827">
        <dgm:presLayoutVars>
          <dgm:bulletEnabled val="1"/>
        </dgm:presLayoutVars>
      </dgm:prSet>
      <dgm:spPr/>
    </dgm:pt>
  </dgm:ptLst>
  <dgm:cxnLst>
    <dgm:cxn modelId="{A478CD02-8563-499B-8A93-FC29F3229805}" type="presOf" srcId="{2321CB9B-663B-4969-8C86-E35C972F1687}" destId="{1F83268E-88DD-492D-83F4-27E9ADD517F0}" srcOrd="0" destOrd="0" presId="urn:microsoft.com/office/officeart/2005/8/layout/vList5"/>
    <dgm:cxn modelId="{B8AF2D03-ACDF-42DF-91CB-C1ABC4A92B5E}" srcId="{2321CB9B-663B-4969-8C86-E35C972F1687}" destId="{537C5C8A-39A1-4356-B0F7-1C4AFBCA6CB4}" srcOrd="2" destOrd="0" parTransId="{9A91671E-B98F-4DD2-B9DB-467435B385DF}" sibTransId="{ADC622D5-F842-4095-814D-ECD6C792C0C1}"/>
    <dgm:cxn modelId="{5E6A7819-F4E6-43E4-9A0B-4B378F65090B}" type="presOf" srcId="{CF9C5B38-DAC8-44ED-9A67-B83F4EDDED15}" destId="{7AE815B1-C101-4469-BFB0-465A5EE74F5B}" srcOrd="0" destOrd="0" presId="urn:microsoft.com/office/officeart/2005/8/layout/vList5"/>
    <dgm:cxn modelId="{EB55C73A-7ED1-4840-9D61-01898751F275}" type="presOf" srcId="{68733D2E-DF48-43E7-81A0-86C97B336A1A}" destId="{0DBF8F4B-5120-4A22-ADCA-1D8D9863E94C}" srcOrd="0" destOrd="0" presId="urn:microsoft.com/office/officeart/2005/8/layout/vList5"/>
    <dgm:cxn modelId="{D4C3DF3A-9A35-4AD6-B171-07040BC7D225}" srcId="{2321CB9B-663B-4969-8C86-E35C972F1687}" destId="{4AB59A0F-F097-450A-85F8-2004C913B71A}" srcOrd="1" destOrd="0" parTransId="{C3DA9395-3540-4246-9FF2-5B6CB020DD65}" sibTransId="{46119655-535D-4B37-91A7-1670023AAEDF}"/>
    <dgm:cxn modelId="{68EA3549-1927-46D5-BCEA-A82EF27D5329}" srcId="{2321CB9B-663B-4969-8C86-E35C972F1687}" destId="{64920BF3-B686-41FC-AAE7-CE96C6C6D41B}" srcOrd="3" destOrd="0" parTransId="{4D262508-481A-45E5-8642-83CAD89B1B54}" sibTransId="{6AAF67E3-AF1D-4B50-9B4C-20AF4E31F9BF}"/>
    <dgm:cxn modelId="{F3ADA84A-8653-4F0F-9F22-BF0B97724715}" srcId="{537C5C8A-39A1-4356-B0F7-1C4AFBCA6CB4}" destId="{68733D2E-DF48-43E7-81A0-86C97B336A1A}" srcOrd="0" destOrd="0" parTransId="{748F86EF-27E6-41DA-9B96-1A4734AA9AA0}" sibTransId="{F6292124-1ABC-4C60-AFA0-6384E20E71AC}"/>
    <dgm:cxn modelId="{8D56B951-0D51-4443-9B15-12E1FE6DED6A}" type="presOf" srcId="{4AB59A0F-F097-450A-85F8-2004C913B71A}" destId="{F14BE77B-816D-4248-A7EC-505294A64660}" srcOrd="0" destOrd="0" presId="urn:microsoft.com/office/officeart/2005/8/layout/vList5"/>
    <dgm:cxn modelId="{3A036C5A-6221-48A2-8FC4-5EA7FF0530B5}" srcId="{64920BF3-B686-41FC-AAE7-CE96C6C6D41B}" destId="{7876DC86-38ED-47C6-9E4E-B97727E91F43}" srcOrd="0" destOrd="0" parTransId="{2ABBBF32-4E47-4054-A47C-2DB464438B9C}" sibTransId="{2924B6C5-317C-4275-A5FB-F6ACBFCD8A07}"/>
    <dgm:cxn modelId="{86F8D77A-5AB0-491D-8D44-82F43099F102}" srcId="{8DEAA3CE-64CB-4937-91F5-EA9C43CEEF7A}" destId="{5C78DB7F-8E9F-4167-933E-4CB53F5A0001}" srcOrd="0" destOrd="0" parTransId="{EFAE2117-D51B-4BF9-A6E8-96C0F9A34FB9}" sibTransId="{90EA5BDA-8206-47D9-AF63-C3AE2EC0862C}"/>
    <dgm:cxn modelId="{F1498F8C-561B-4A08-BA00-5B5E089FC98F}" type="presOf" srcId="{5C78DB7F-8E9F-4167-933E-4CB53F5A0001}" destId="{D88DACF4-290E-4429-ABA1-538100743345}" srcOrd="0" destOrd="0" presId="urn:microsoft.com/office/officeart/2005/8/layout/vList5"/>
    <dgm:cxn modelId="{62BF2EBB-D3B5-422D-99A5-0F6B2EEBA6BC}" type="presOf" srcId="{537C5C8A-39A1-4356-B0F7-1C4AFBCA6CB4}" destId="{3A2F6804-E712-4BFC-85F5-647D3AAFB3A4}" srcOrd="0" destOrd="0" presId="urn:microsoft.com/office/officeart/2005/8/layout/vList5"/>
    <dgm:cxn modelId="{F2435CBF-53FC-4109-B71D-C3390A5271AC}" type="presOf" srcId="{64920BF3-B686-41FC-AAE7-CE96C6C6D41B}" destId="{8099A1AF-3ADD-416B-AF5B-5289A2C6298E}" srcOrd="0" destOrd="0" presId="urn:microsoft.com/office/officeart/2005/8/layout/vList5"/>
    <dgm:cxn modelId="{6146CCC0-E9EB-41F3-8001-FD97818F06BB}" srcId="{4AB59A0F-F097-450A-85F8-2004C913B71A}" destId="{CF9C5B38-DAC8-44ED-9A67-B83F4EDDED15}" srcOrd="0" destOrd="0" parTransId="{52DFC804-6C37-405D-A914-F69F971750ED}" sibTransId="{CC6D6A2A-31E5-48DD-A955-8B3153F60CA0}"/>
    <dgm:cxn modelId="{BB9330D8-F9CB-4B4A-A583-E6538D16C4B1}" type="presOf" srcId="{8DEAA3CE-64CB-4937-91F5-EA9C43CEEF7A}" destId="{9DF32C51-ECB5-4D95-83B4-84223D3B26F8}" srcOrd="0" destOrd="0" presId="urn:microsoft.com/office/officeart/2005/8/layout/vList5"/>
    <dgm:cxn modelId="{66E9A5DE-B6D8-4EC4-9762-718E456F3A7A}" type="presOf" srcId="{7876DC86-38ED-47C6-9E4E-B97727E91F43}" destId="{36392E0E-AE2D-446C-8D7F-0126D4EEFC6D}" srcOrd="0" destOrd="0" presId="urn:microsoft.com/office/officeart/2005/8/layout/vList5"/>
    <dgm:cxn modelId="{AFBA2DDF-494E-45EC-A7EC-0F9053EE22A8}" srcId="{2321CB9B-663B-4969-8C86-E35C972F1687}" destId="{8DEAA3CE-64CB-4937-91F5-EA9C43CEEF7A}" srcOrd="0" destOrd="0" parTransId="{86387914-F8B2-4D31-952D-7CC3F0EDB7AC}" sibTransId="{04E65719-01BC-4490-BABE-9462D9669412}"/>
    <dgm:cxn modelId="{2E892720-9C60-44F9-ACE4-875F85BC9C0A}" type="presParOf" srcId="{1F83268E-88DD-492D-83F4-27E9ADD517F0}" destId="{C92B9A91-C0F2-49D6-861B-D79973C00F45}" srcOrd="0" destOrd="0" presId="urn:microsoft.com/office/officeart/2005/8/layout/vList5"/>
    <dgm:cxn modelId="{028A6BE1-B678-450F-928C-20097370FB76}" type="presParOf" srcId="{C92B9A91-C0F2-49D6-861B-D79973C00F45}" destId="{9DF32C51-ECB5-4D95-83B4-84223D3B26F8}" srcOrd="0" destOrd="0" presId="urn:microsoft.com/office/officeart/2005/8/layout/vList5"/>
    <dgm:cxn modelId="{20698BE2-6ECC-47AB-834B-4E4FF4B8BDC9}" type="presParOf" srcId="{C92B9A91-C0F2-49D6-861B-D79973C00F45}" destId="{D88DACF4-290E-4429-ABA1-538100743345}" srcOrd="1" destOrd="0" presId="urn:microsoft.com/office/officeart/2005/8/layout/vList5"/>
    <dgm:cxn modelId="{EBE3AEAD-BE9F-4594-A6B3-1EB41866EC4F}" type="presParOf" srcId="{1F83268E-88DD-492D-83F4-27E9ADD517F0}" destId="{C0E56C97-704B-465D-B94A-B8674AA7C9D8}" srcOrd="1" destOrd="0" presId="urn:microsoft.com/office/officeart/2005/8/layout/vList5"/>
    <dgm:cxn modelId="{1B18C0F8-5550-4F30-960C-2A0AF66A034D}" type="presParOf" srcId="{1F83268E-88DD-492D-83F4-27E9ADD517F0}" destId="{87C94A08-FD4C-4995-BA4D-22665290EB96}" srcOrd="2" destOrd="0" presId="urn:microsoft.com/office/officeart/2005/8/layout/vList5"/>
    <dgm:cxn modelId="{06FCB814-50AB-4809-8909-550BB8E18847}" type="presParOf" srcId="{87C94A08-FD4C-4995-BA4D-22665290EB96}" destId="{F14BE77B-816D-4248-A7EC-505294A64660}" srcOrd="0" destOrd="0" presId="urn:microsoft.com/office/officeart/2005/8/layout/vList5"/>
    <dgm:cxn modelId="{4F047F1E-AC8A-41A1-BDCB-FFAD583422B9}" type="presParOf" srcId="{87C94A08-FD4C-4995-BA4D-22665290EB96}" destId="{7AE815B1-C101-4469-BFB0-465A5EE74F5B}" srcOrd="1" destOrd="0" presId="urn:microsoft.com/office/officeart/2005/8/layout/vList5"/>
    <dgm:cxn modelId="{DAD653E9-1AA3-4EAC-AFDF-4E27AD43FA97}" type="presParOf" srcId="{1F83268E-88DD-492D-83F4-27E9ADD517F0}" destId="{BD258384-C4EE-4CD9-83C4-7200D1905135}" srcOrd="3" destOrd="0" presId="urn:microsoft.com/office/officeart/2005/8/layout/vList5"/>
    <dgm:cxn modelId="{7F1E6693-AAEC-473E-822B-63A2DD199770}" type="presParOf" srcId="{1F83268E-88DD-492D-83F4-27E9ADD517F0}" destId="{77CDC10E-F641-48A9-BDEE-E2F0D2B28FF5}" srcOrd="4" destOrd="0" presId="urn:microsoft.com/office/officeart/2005/8/layout/vList5"/>
    <dgm:cxn modelId="{F689FC3B-B8BB-4C96-B438-D2E50FC6FC7C}" type="presParOf" srcId="{77CDC10E-F641-48A9-BDEE-E2F0D2B28FF5}" destId="{3A2F6804-E712-4BFC-85F5-647D3AAFB3A4}" srcOrd="0" destOrd="0" presId="urn:microsoft.com/office/officeart/2005/8/layout/vList5"/>
    <dgm:cxn modelId="{7C7DF39F-A810-473B-8BD8-3DDDAF16B0C3}" type="presParOf" srcId="{77CDC10E-F641-48A9-BDEE-E2F0D2B28FF5}" destId="{0DBF8F4B-5120-4A22-ADCA-1D8D9863E94C}" srcOrd="1" destOrd="0" presId="urn:microsoft.com/office/officeart/2005/8/layout/vList5"/>
    <dgm:cxn modelId="{A2566ED8-70A0-4DC2-932C-763350ACB3DA}" type="presParOf" srcId="{1F83268E-88DD-492D-83F4-27E9ADD517F0}" destId="{C10EF99A-0E05-4F25-B7F3-C63A84D575BB}" srcOrd="5" destOrd="0" presId="urn:microsoft.com/office/officeart/2005/8/layout/vList5"/>
    <dgm:cxn modelId="{7515C9ED-A093-47B2-ABFB-1AB50D42D25E}" type="presParOf" srcId="{1F83268E-88DD-492D-83F4-27E9ADD517F0}" destId="{86665AEC-8C84-4D4B-866C-F57EFD74F636}" srcOrd="6" destOrd="0" presId="urn:microsoft.com/office/officeart/2005/8/layout/vList5"/>
    <dgm:cxn modelId="{BA208B7B-C081-45EB-826A-DEC2C4A5C4D6}" type="presParOf" srcId="{86665AEC-8C84-4D4B-866C-F57EFD74F636}" destId="{8099A1AF-3ADD-416B-AF5B-5289A2C6298E}" srcOrd="0" destOrd="0" presId="urn:microsoft.com/office/officeart/2005/8/layout/vList5"/>
    <dgm:cxn modelId="{6D32AB52-EBEF-486A-A7AF-9C6E7E8D9BF3}" type="presParOf" srcId="{86665AEC-8C84-4D4B-866C-F57EFD74F636}" destId="{36392E0E-AE2D-446C-8D7F-0126D4EEFC6D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8DACF4-290E-4429-ABA1-538100743345}">
      <dsp:nvSpPr>
        <dsp:cNvPr id="0" name=""/>
        <dsp:cNvSpPr/>
      </dsp:nvSpPr>
      <dsp:spPr>
        <a:xfrm rot="5400000">
          <a:off x="3311272" y="-1816102"/>
          <a:ext cx="507344" cy="4196375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b="0" kern="1200" dirty="0"/>
            <a:t>Que el costo total que sea lo más pequeña posible. Y no supere los 80000 dolares </a:t>
          </a:r>
          <a:endParaRPr lang="es-PE" sz="1400" b="0" kern="1200" dirty="0"/>
        </a:p>
      </dsp:txBody>
      <dsp:txXfrm rot="-5400000">
        <a:off x="1466757" y="53179"/>
        <a:ext cx="4171609" cy="457812"/>
      </dsp:txXfrm>
    </dsp:sp>
    <dsp:sp modelId="{9DF32C51-ECB5-4D95-83B4-84223D3B26F8}">
      <dsp:nvSpPr>
        <dsp:cNvPr id="0" name=""/>
        <dsp:cNvSpPr/>
      </dsp:nvSpPr>
      <dsp:spPr>
        <a:xfrm>
          <a:off x="4063" y="1168"/>
          <a:ext cx="1462694" cy="56183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 dirty="0"/>
            <a:t>Meta 1: </a:t>
          </a:r>
          <a:endParaRPr lang="es-PE" sz="2000" kern="1200" dirty="0"/>
        </a:p>
      </dsp:txBody>
      <dsp:txXfrm>
        <a:off x="31489" y="28594"/>
        <a:ext cx="1407842" cy="506981"/>
      </dsp:txXfrm>
    </dsp:sp>
    <dsp:sp modelId="{7AE815B1-C101-4469-BFB0-465A5EE74F5B}">
      <dsp:nvSpPr>
        <dsp:cNvPr id="0" name=""/>
        <dsp:cNvSpPr/>
      </dsp:nvSpPr>
      <dsp:spPr>
        <a:xfrm rot="5400000">
          <a:off x="3321501" y="-1226849"/>
          <a:ext cx="507241" cy="419772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b="0" kern="1200" dirty="0"/>
            <a:t>Que la producción de gasolina sea exactamente 1260 barriles ya que no hay otros clientes. </a:t>
          </a:r>
          <a:endParaRPr lang="es-PE" sz="1400" b="0" kern="1200" dirty="0"/>
        </a:p>
      </dsp:txBody>
      <dsp:txXfrm rot="-5400000">
        <a:off x="1476262" y="643151"/>
        <a:ext cx="4172959" cy="457719"/>
      </dsp:txXfrm>
    </dsp:sp>
    <dsp:sp modelId="{F14BE77B-816D-4248-A7EC-505294A64660}">
      <dsp:nvSpPr>
        <dsp:cNvPr id="0" name=""/>
        <dsp:cNvSpPr/>
      </dsp:nvSpPr>
      <dsp:spPr>
        <a:xfrm>
          <a:off x="4063" y="591093"/>
          <a:ext cx="1472199" cy="56183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 dirty="0"/>
            <a:t>Meta 2: </a:t>
          </a:r>
          <a:endParaRPr lang="es-PE" sz="2000" kern="1200" dirty="0"/>
        </a:p>
      </dsp:txBody>
      <dsp:txXfrm>
        <a:off x="31489" y="618519"/>
        <a:ext cx="1417347" cy="506981"/>
      </dsp:txXfrm>
    </dsp:sp>
    <dsp:sp modelId="{0DBF8F4B-5120-4A22-ADCA-1D8D9863E94C}">
      <dsp:nvSpPr>
        <dsp:cNvPr id="0" name=""/>
        <dsp:cNvSpPr/>
      </dsp:nvSpPr>
      <dsp:spPr>
        <a:xfrm rot="5400000">
          <a:off x="3307849" y="-618827"/>
          <a:ext cx="546592" cy="416152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b="0" kern="1200" dirty="0"/>
            <a:t>Que la producción de turbosina sea  mas de 1000  barriles ya que los aviones extranjeros incrementando su compra de este combustible. </a:t>
          </a:r>
          <a:endParaRPr lang="es-PE" sz="1400" b="0" kern="1200" dirty="0"/>
        </a:p>
      </dsp:txBody>
      <dsp:txXfrm rot="-5400000">
        <a:off x="1500382" y="1215322"/>
        <a:ext cx="4134844" cy="493228"/>
      </dsp:txXfrm>
    </dsp:sp>
    <dsp:sp modelId="{3A2F6804-E712-4BFC-85F5-647D3AAFB3A4}">
      <dsp:nvSpPr>
        <dsp:cNvPr id="0" name=""/>
        <dsp:cNvSpPr/>
      </dsp:nvSpPr>
      <dsp:spPr>
        <a:xfrm>
          <a:off x="4063" y="1181018"/>
          <a:ext cx="1496319" cy="56183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/>
            <a:t>Meta 3: </a:t>
          </a:r>
          <a:endParaRPr lang="es-PE" sz="2000" kern="1200"/>
        </a:p>
      </dsp:txBody>
      <dsp:txXfrm>
        <a:off x="31489" y="1208444"/>
        <a:ext cx="1441467" cy="506981"/>
      </dsp:txXfrm>
    </dsp:sp>
    <dsp:sp modelId="{36392E0E-AE2D-446C-8D7F-0126D4EEFC6D}">
      <dsp:nvSpPr>
        <dsp:cNvPr id="0" name=""/>
        <dsp:cNvSpPr/>
      </dsp:nvSpPr>
      <dsp:spPr>
        <a:xfrm rot="5400000">
          <a:off x="3296805" y="-29519"/>
          <a:ext cx="502625" cy="416276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b="0" kern="1200" dirty="0"/>
            <a:t>La producción de queroseno sea a lo más de 500 barriles. </a:t>
          </a:r>
          <a:endParaRPr lang="es-PE" sz="1400" b="0" kern="1200" dirty="0"/>
        </a:p>
      </dsp:txBody>
      <dsp:txXfrm rot="-5400000">
        <a:off x="1466737" y="1825085"/>
        <a:ext cx="4138225" cy="453553"/>
      </dsp:txXfrm>
    </dsp:sp>
    <dsp:sp modelId="{8099A1AF-3ADD-416B-AF5B-5289A2C6298E}">
      <dsp:nvSpPr>
        <dsp:cNvPr id="0" name=""/>
        <dsp:cNvSpPr/>
      </dsp:nvSpPr>
      <dsp:spPr>
        <a:xfrm>
          <a:off x="4063" y="1770944"/>
          <a:ext cx="1462673" cy="56183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/>
            <a:t>Meta 4: </a:t>
          </a:r>
          <a:endParaRPr lang="es-PE" sz="2000" kern="1200"/>
        </a:p>
      </dsp:txBody>
      <dsp:txXfrm>
        <a:off x="31489" y="1798370"/>
        <a:ext cx="1407821" cy="5069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5178B7CE-16B1-4D5A-BEDA-E05D7C0F0E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5CE36C0-2D64-40DB-852E-EFE530BD79E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03D107-6AA0-4BB9-B3AF-2511759F0087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BB9BBA3-CB3B-42EF-AC1C-A77E63AFD7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59A3671-5C2E-4C01-9181-86F7078515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4CDB2B-DC05-4B7E-84A4-8E8FE9CBF71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674508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1D54B5-B035-46F5-86D2-1F43704B1BDB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836FA3-1F11-49F4-B68F-8771EDD4DFA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81994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s-ES_tradnl" dirty="0"/>
              <a:t>PERÚ 2021</a:t>
            </a: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90550" y="803275"/>
            <a:ext cx="5676900" cy="3194050"/>
          </a:xfrm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9499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5f391192_0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5f391192_0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20E13C-61E5-46CC-960D-63C41DAD06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63684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6267FC4-894E-4993-BA18-2C880EE5C7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FA1ECE-8248-44B1-88C7-8265017B7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7FFCCB-2285-4BA7-B745-4CE0B16C5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464D61-7B3F-4D44-B814-04BD0FE4C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84842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2F9EE1-AB02-439C-A953-D0BD302CF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391F11-EC76-4F7E-AC56-EAD0CEBCA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B378AEF-A6A9-47DF-9C5C-6B5007007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8D63CA0-8BC2-4AA4-81B5-97227686E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A60248-016B-4028-85F2-75F83EB91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73057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0EA209-C4D8-4196-890A-95A7CD4C0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7D6A4D1-0438-48FA-ADCC-AC432CD76F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542E60-612D-41CC-9EE5-C343BC61B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A065A3-6AD0-4723-847E-57B36A32A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EC95E3-1973-401E-B849-5F2F2C425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37268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FDB3A3-9D86-449F-A088-128C6B5F0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EF8CB9-38CA-4EBF-8F62-EE68B4D6F6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5BC23C3-AE0F-4F5F-B104-BC7EA7551C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FCBCC75-FAFB-4988-ADC8-1E30F0A4E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7CF524-1AD2-4D6E-AF46-445C3506E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FB533D9-E06A-43BB-8FFF-B7E7E56A3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39711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E725AD-02A9-499A-B864-01AF086F4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A753734-FC45-4B55-9A29-B26B4CA130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198FBB3-E4E6-411C-A6B3-B26D063353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EBACB3A-C4CB-4902-9988-B007A97C90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EE2010D-8FDA-4E19-9A31-23C0FE9DC2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D1D191B-5CF0-419F-BF5B-EA606AC8D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D8A4629-604A-46AD-BB45-292C54D7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C5A188A-724B-44E9-BEF7-9E257530E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49276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94FFE6-E44F-47FD-8C64-C1FC42A7E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168DDD2-028A-4549-9EB3-E84318877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D50669B-5EDE-4060-A1CA-FE7DBD964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F429BDB-A623-46DB-A3B7-8B68CD92E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76645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578ADCC-78DF-44C4-A2C7-A7CF24269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B7367FB-6CD9-4469-A229-B61F0DC43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301C5A5-C7FD-466A-934B-60249339D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52191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11FB1A-74AA-4E0D-83B3-1170F865B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D0C1AE-BAE4-48E0-88AC-F6958D0E8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F3CCC19-652F-4628-8819-4FD180AB86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33BD21F-BC06-43CD-9F66-5FD87304E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82DF95C-F515-4AB8-9206-5F559DA0B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3A0F4A3-A4A8-4405-B84F-C1D44A15E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78757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593BB7-CA9F-4940-8C7F-2CBF43BB5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045E52B-AEB7-42F1-BC8E-CA7E0DDCD4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93A4FC1-5C27-4983-99E0-60D4F82D50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FFB805C-3A94-453E-BC4E-88A5F9C85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448EB1F-6B71-43D0-B4BB-2F47A94BA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90476AE-7DAC-4DCA-A6E4-E2E505CBF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19759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15B00E-0B7A-4AA1-B637-DC7127C42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82176F4-1231-4795-897F-95458CBCE8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6A9332-3346-4724-9DEE-503B007FA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A3589D-3073-43DA-AEA2-6F6C05DA5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EE47B5-2AEE-4851-B029-9988B8B57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1582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4AFE1D6-7CA5-4A02-A9CE-8A394A8F3E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218F9D7-F895-4417-B97E-7076B31845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A8AE240-89B5-46F0-94D1-CF5205BCB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EB6FE0-843B-48B7-80F0-575414327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2CE9982-F23C-426D-A95A-1B50FADA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70270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· Big circuit">
  <p:cSld name="Blank · Big circui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s-PE" smtClean="0"/>
              <a:pPr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33117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title"/>
          </p:nvPr>
        </p:nvSpPr>
        <p:spPr>
          <a:xfrm>
            <a:off x="974400" y="3986567"/>
            <a:ext cx="5629600" cy="122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400"/>
              <a:buNone/>
              <a:defRPr sz="12535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s-ES"/>
              <a:t>Haga clic para modificar el estilo de título del patrón</a:t>
            </a:r>
          </a:p>
        </p:txBody>
      </p:sp>
      <p:grpSp>
        <p:nvGrpSpPr>
          <p:cNvPr id="10" name="Google Shape;10;p2"/>
          <p:cNvGrpSpPr/>
          <p:nvPr/>
        </p:nvGrpSpPr>
        <p:grpSpPr>
          <a:xfrm>
            <a:off x="4658468" y="-60667"/>
            <a:ext cx="7533533" cy="6979333"/>
            <a:chOff x="970375" y="238125"/>
            <a:chExt cx="5650150" cy="5234500"/>
          </a:xfrm>
        </p:grpSpPr>
        <p:sp>
          <p:nvSpPr>
            <p:cNvPr id="11" name="Google Shape;11;p2"/>
            <p:cNvSpPr/>
            <p:nvPr/>
          </p:nvSpPr>
          <p:spPr>
            <a:xfrm>
              <a:off x="970375" y="238125"/>
              <a:ext cx="1456750" cy="5234500"/>
            </a:xfrm>
            <a:custGeom>
              <a:avLst/>
              <a:gdLst/>
              <a:ahLst/>
              <a:cxnLst/>
              <a:rect l="l" t="t" r="r" b="b"/>
              <a:pathLst>
                <a:path w="58270" h="209380" extrusionOk="0">
                  <a:moveTo>
                    <a:pt x="55587" y="0"/>
                  </a:moveTo>
                  <a:lnTo>
                    <a:pt x="7833" y="82697"/>
                  </a:lnTo>
                  <a:cubicBezTo>
                    <a:pt x="0" y="96268"/>
                    <a:pt x="16" y="113111"/>
                    <a:pt x="7833" y="126682"/>
                  </a:cubicBezTo>
                  <a:lnTo>
                    <a:pt x="55587" y="209379"/>
                  </a:lnTo>
                  <a:lnTo>
                    <a:pt x="58270" y="209379"/>
                  </a:lnTo>
                  <a:lnTo>
                    <a:pt x="9849" y="125519"/>
                  </a:lnTo>
                  <a:cubicBezTo>
                    <a:pt x="2435" y="112677"/>
                    <a:pt x="2435" y="96718"/>
                    <a:pt x="9849" y="83860"/>
                  </a:cubicBezTo>
                  <a:lnTo>
                    <a:pt x="5827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1607825" y="238125"/>
              <a:ext cx="5012700" cy="5234500"/>
            </a:xfrm>
            <a:custGeom>
              <a:avLst/>
              <a:gdLst/>
              <a:ahLst/>
              <a:cxnLst/>
              <a:rect l="l" t="t" r="r" b="b"/>
              <a:pathLst>
                <a:path w="200508" h="209380" extrusionOk="0">
                  <a:moveTo>
                    <a:pt x="58300" y="0"/>
                  </a:moveTo>
                  <a:lnTo>
                    <a:pt x="3490" y="94919"/>
                  </a:lnTo>
                  <a:cubicBezTo>
                    <a:pt x="0" y="100967"/>
                    <a:pt x="0" y="108412"/>
                    <a:pt x="3490" y="114461"/>
                  </a:cubicBezTo>
                  <a:lnTo>
                    <a:pt x="58300" y="209379"/>
                  </a:lnTo>
                  <a:lnTo>
                    <a:pt x="200507" y="209379"/>
                  </a:lnTo>
                  <a:lnTo>
                    <a:pt x="20050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" name="Google Shape;13;p2"/>
          <p:cNvSpPr/>
          <p:nvPr/>
        </p:nvSpPr>
        <p:spPr>
          <a:xfrm rot="1799984">
            <a:off x="7317323" y="61421"/>
            <a:ext cx="28460" cy="2319628"/>
          </a:xfrm>
          <a:custGeom>
            <a:avLst/>
            <a:gdLst/>
            <a:ahLst/>
            <a:cxnLst/>
            <a:rect l="l" t="t" r="r" b="b"/>
            <a:pathLst>
              <a:path w="2187" h="207239" extrusionOk="0">
                <a:moveTo>
                  <a:pt x="1094" y="0"/>
                </a:moveTo>
                <a:cubicBezTo>
                  <a:pt x="500" y="0"/>
                  <a:pt x="1" y="469"/>
                  <a:pt x="1" y="1063"/>
                </a:cubicBezTo>
                <a:lnTo>
                  <a:pt x="1" y="206145"/>
                </a:lnTo>
                <a:cubicBezTo>
                  <a:pt x="1" y="206739"/>
                  <a:pt x="500" y="207239"/>
                  <a:pt x="1094" y="207239"/>
                </a:cubicBezTo>
                <a:cubicBezTo>
                  <a:pt x="1281" y="207239"/>
                  <a:pt x="1469" y="207176"/>
                  <a:pt x="1625" y="207083"/>
                </a:cubicBezTo>
                <a:cubicBezTo>
                  <a:pt x="1968" y="206895"/>
                  <a:pt x="2187" y="206552"/>
                  <a:pt x="2187" y="206145"/>
                </a:cubicBezTo>
                <a:lnTo>
                  <a:pt x="2187" y="1063"/>
                </a:lnTo>
                <a:cubicBezTo>
                  <a:pt x="2187" y="469"/>
                  <a:pt x="1687" y="0"/>
                  <a:pt x="1094" y="0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" name="Google Shape;14;p2"/>
          <p:cNvSpPr/>
          <p:nvPr/>
        </p:nvSpPr>
        <p:spPr>
          <a:xfrm rot="1799984">
            <a:off x="8289458" y="-929179"/>
            <a:ext cx="28460" cy="2319628"/>
          </a:xfrm>
          <a:custGeom>
            <a:avLst/>
            <a:gdLst/>
            <a:ahLst/>
            <a:cxnLst/>
            <a:rect l="l" t="t" r="r" b="b"/>
            <a:pathLst>
              <a:path w="2187" h="207239" extrusionOk="0">
                <a:moveTo>
                  <a:pt x="1094" y="0"/>
                </a:moveTo>
                <a:cubicBezTo>
                  <a:pt x="500" y="0"/>
                  <a:pt x="1" y="469"/>
                  <a:pt x="1" y="1063"/>
                </a:cubicBezTo>
                <a:lnTo>
                  <a:pt x="1" y="206145"/>
                </a:lnTo>
                <a:cubicBezTo>
                  <a:pt x="1" y="206739"/>
                  <a:pt x="500" y="207239"/>
                  <a:pt x="1094" y="207239"/>
                </a:cubicBezTo>
                <a:cubicBezTo>
                  <a:pt x="1281" y="207239"/>
                  <a:pt x="1469" y="207176"/>
                  <a:pt x="1625" y="207083"/>
                </a:cubicBezTo>
                <a:cubicBezTo>
                  <a:pt x="1968" y="206895"/>
                  <a:pt x="2187" y="206552"/>
                  <a:pt x="2187" y="206145"/>
                </a:cubicBezTo>
                <a:lnTo>
                  <a:pt x="2187" y="1063"/>
                </a:lnTo>
                <a:cubicBezTo>
                  <a:pt x="2187" y="469"/>
                  <a:pt x="1687" y="0"/>
                  <a:pt x="1094" y="0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" name="Google Shape;15;p2"/>
          <p:cNvGrpSpPr/>
          <p:nvPr/>
        </p:nvGrpSpPr>
        <p:grpSpPr>
          <a:xfrm>
            <a:off x="1016002" y="1081899"/>
            <a:ext cx="620999" cy="573676"/>
            <a:chOff x="1877325" y="757774"/>
            <a:chExt cx="581969" cy="537619"/>
          </a:xfrm>
        </p:grpSpPr>
        <p:sp>
          <p:nvSpPr>
            <p:cNvPr id="16" name="Google Shape;16;p2"/>
            <p:cNvSpPr/>
            <p:nvPr/>
          </p:nvSpPr>
          <p:spPr>
            <a:xfrm>
              <a:off x="1877325" y="757774"/>
              <a:ext cx="63598" cy="63598"/>
            </a:xfrm>
            <a:custGeom>
              <a:avLst/>
              <a:gdLst/>
              <a:ahLst/>
              <a:cxnLst/>
              <a:rect l="l" t="t" r="r" b="b"/>
              <a:pathLst>
                <a:path w="13312" h="13312" extrusionOk="0">
                  <a:moveTo>
                    <a:pt x="6656" y="0"/>
                  </a:moveTo>
                  <a:cubicBezTo>
                    <a:pt x="3026" y="0"/>
                    <a:pt x="0" y="3026"/>
                    <a:pt x="0" y="6656"/>
                  </a:cubicBezTo>
                  <a:cubicBezTo>
                    <a:pt x="0" y="10387"/>
                    <a:pt x="3026" y="13312"/>
                    <a:pt x="6656" y="13312"/>
                  </a:cubicBezTo>
                  <a:cubicBezTo>
                    <a:pt x="10387" y="13312"/>
                    <a:pt x="13311" y="10387"/>
                    <a:pt x="13311" y="6656"/>
                  </a:cubicBezTo>
                  <a:cubicBezTo>
                    <a:pt x="13311" y="3026"/>
                    <a:pt x="10387" y="0"/>
                    <a:pt x="66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050274" y="757774"/>
              <a:ext cx="63598" cy="63598"/>
            </a:xfrm>
            <a:custGeom>
              <a:avLst/>
              <a:gdLst/>
              <a:ahLst/>
              <a:cxnLst/>
              <a:rect l="l" t="t" r="r" b="b"/>
              <a:pathLst>
                <a:path w="13312" h="13312" extrusionOk="0">
                  <a:moveTo>
                    <a:pt x="6656" y="0"/>
                  </a:moveTo>
                  <a:cubicBezTo>
                    <a:pt x="3026" y="0"/>
                    <a:pt x="1" y="3026"/>
                    <a:pt x="1" y="6656"/>
                  </a:cubicBezTo>
                  <a:cubicBezTo>
                    <a:pt x="1" y="10387"/>
                    <a:pt x="3026" y="13312"/>
                    <a:pt x="6656" y="13312"/>
                  </a:cubicBezTo>
                  <a:cubicBezTo>
                    <a:pt x="10287" y="13312"/>
                    <a:pt x="13312" y="10387"/>
                    <a:pt x="13312" y="6656"/>
                  </a:cubicBezTo>
                  <a:cubicBezTo>
                    <a:pt x="13312" y="3026"/>
                    <a:pt x="10287" y="0"/>
                    <a:pt x="66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223224" y="757774"/>
              <a:ext cx="63603" cy="63598"/>
            </a:xfrm>
            <a:custGeom>
              <a:avLst/>
              <a:gdLst/>
              <a:ahLst/>
              <a:cxnLst/>
              <a:rect l="l" t="t" r="r" b="b"/>
              <a:pathLst>
                <a:path w="13313" h="13312" extrusionOk="0">
                  <a:moveTo>
                    <a:pt x="6657" y="0"/>
                  </a:moveTo>
                  <a:cubicBezTo>
                    <a:pt x="2925" y="0"/>
                    <a:pt x="1" y="3026"/>
                    <a:pt x="1" y="6656"/>
                  </a:cubicBezTo>
                  <a:cubicBezTo>
                    <a:pt x="1" y="10387"/>
                    <a:pt x="2925" y="13312"/>
                    <a:pt x="6657" y="13312"/>
                  </a:cubicBezTo>
                  <a:cubicBezTo>
                    <a:pt x="10287" y="13312"/>
                    <a:pt x="13312" y="10387"/>
                    <a:pt x="13312" y="6656"/>
                  </a:cubicBezTo>
                  <a:cubicBezTo>
                    <a:pt x="13312" y="3026"/>
                    <a:pt x="10287" y="0"/>
                    <a:pt x="66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2395695" y="757774"/>
              <a:ext cx="63598" cy="63598"/>
            </a:xfrm>
            <a:custGeom>
              <a:avLst/>
              <a:gdLst/>
              <a:ahLst/>
              <a:cxnLst/>
              <a:rect l="l" t="t" r="r" b="b"/>
              <a:pathLst>
                <a:path w="13312" h="13312" extrusionOk="0">
                  <a:moveTo>
                    <a:pt x="6656" y="0"/>
                  </a:moveTo>
                  <a:cubicBezTo>
                    <a:pt x="3026" y="0"/>
                    <a:pt x="0" y="3026"/>
                    <a:pt x="0" y="6656"/>
                  </a:cubicBezTo>
                  <a:cubicBezTo>
                    <a:pt x="0" y="10387"/>
                    <a:pt x="3026" y="13312"/>
                    <a:pt x="6656" y="13312"/>
                  </a:cubicBezTo>
                  <a:cubicBezTo>
                    <a:pt x="10387" y="13312"/>
                    <a:pt x="13312" y="10387"/>
                    <a:pt x="13312" y="6656"/>
                  </a:cubicBezTo>
                  <a:cubicBezTo>
                    <a:pt x="13312" y="3026"/>
                    <a:pt x="10387" y="0"/>
                    <a:pt x="66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877325" y="915780"/>
              <a:ext cx="63598" cy="63598"/>
            </a:xfrm>
            <a:custGeom>
              <a:avLst/>
              <a:gdLst/>
              <a:ahLst/>
              <a:cxnLst/>
              <a:rect l="l" t="t" r="r" b="b"/>
              <a:pathLst>
                <a:path w="13312" h="13312" extrusionOk="0">
                  <a:moveTo>
                    <a:pt x="6656" y="1"/>
                  </a:moveTo>
                  <a:cubicBezTo>
                    <a:pt x="3026" y="1"/>
                    <a:pt x="0" y="3026"/>
                    <a:pt x="0" y="6656"/>
                  </a:cubicBezTo>
                  <a:cubicBezTo>
                    <a:pt x="0" y="10387"/>
                    <a:pt x="3026" y="13312"/>
                    <a:pt x="6656" y="13312"/>
                  </a:cubicBezTo>
                  <a:cubicBezTo>
                    <a:pt x="10387" y="13312"/>
                    <a:pt x="13311" y="10387"/>
                    <a:pt x="13311" y="6656"/>
                  </a:cubicBezTo>
                  <a:cubicBezTo>
                    <a:pt x="13311" y="3026"/>
                    <a:pt x="10387" y="1"/>
                    <a:pt x="66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2050274" y="915780"/>
              <a:ext cx="63598" cy="63598"/>
            </a:xfrm>
            <a:custGeom>
              <a:avLst/>
              <a:gdLst/>
              <a:ahLst/>
              <a:cxnLst/>
              <a:rect l="l" t="t" r="r" b="b"/>
              <a:pathLst>
                <a:path w="13312" h="13312" extrusionOk="0">
                  <a:moveTo>
                    <a:pt x="6656" y="1"/>
                  </a:moveTo>
                  <a:cubicBezTo>
                    <a:pt x="3026" y="1"/>
                    <a:pt x="1" y="3026"/>
                    <a:pt x="1" y="6656"/>
                  </a:cubicBezTo>
                  <a:cubicBezTo>
                    <a:pt x="1" y="10387"/>
                    <a:pt x="3026" y="13312"/>
                    <a:pt x="6656" y="13312"/>
                  </a:cubicBezTo>
                  <a:cubicBezTo>
                    <a:pt x="10287" y="13312"/>
                    <a:pt x="13312" y="10387"/>
                    <a:pt x="13312" y="6656"/>
                  </a:cubicBezTo>
                  <a:cubicBezTo>
                    <a:pt x="13312" y="3026"/>
                    <a:pt x="10287" y="1"/>
                    <a:pt x="66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2223224" y="915780"/>
              <a:ext cx="63603" cy="63598"/>
            </a:xfrm>
            <a:custGeom>
              <a:avLst/>
              <a:gdLst/>
              <a:ahLst/>
              <a:cxnLst/>
              <a:rect l="l" t="t" r="r" b="b"/>
              <a:pathLst>
                <a:path w="13313" h="13312" extrusionOk="0">
                  <a:moveTo>
                    <a:pt x="6657" y="1"/>
                  </a:moveTo>
                  <a:cubicBezTo>
                    <a:pt x="2925" y="1"/>
                    <a:pt x="1" y="3026"/>
                    <a:pt x="1" y="6656"/>
                  </a:cubicBezTo>
                  <a:cubicBezTo>
                    <a:pt x="1" y="10387"/>
                    <a:pt x="2925" y="13312"/>
                    <a:pt x="6657" y="13312"/>
                  </a:cubicBezTo>
                  <a:cubicBezTo>
                    <a:pt x="10287" y="13312"/>
                    <a:pt x="13312" y="10387"/>
                    <a:pt x="13312" y="6656"/>
                  </a:cubicBezTo>
                  <a:cubicBezTo>
                    <a:pt x="13312" y="3026"/>
                    <a:pt x="10287" y="1"/>
                    <a:pt x="66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2395695" y="915780"/>
              <a:ext cx="63598" cy="63598"/>
            </a:xfrm>
            <a:custGeom>
              <a:avLst/>
              <a:gdLst/>
              <a:ahLst/>
              <a:cxnLst/>
              <a:rect l="l" t="t" r="r" b="b"/>
              <a:pathLst>
                <a:path w="13312" h="13312" extrusionOk="0">
                  <a:moveTo>
                    <a:pt x="6656" y="1"/>
                  </a:moveTo>
                  <a:cubicBezTo>
                    <a:pt x="3026" y="1"/>
                    <a:pt x="0" y="3026"/>
                    <a:pt x="0" y="6656"/>
                  </a:cubicBezTo>
                  <a:cubicBezTo>
                    <a:pt x="0" y="10387"/>
                    <a:pt x="3026" y="13312"/>
                    <a:pt x="6656" y="13312"/>
                  </a:cubicBezTo>
                  <a:cubicBezTo>
                    <a:pt x="10387" y="13312"/>
                    <a:pt x="13312" y="10387"/>
                    <a:pt x="13312" y="6656"/>
                  </a:cubicBezTo>
                  <a:cubicBezTo>
                    <a:pt x="13312" y="3026"/>
                    <a:pt x="10387" y="1"/>
                    <a:pt x="66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1877325" y="1073785"/>
              <a:ext cx="63598" cy="63603"/>
            </a:xfrm>
            <a:custGeom>
              <a:avLst/>
              <a:gdLst/>
              <a:ahLst/>
              <a:cxnLst/>
              <a:rect l="l" t="t" r="r" b="b"/>
              <a:pathLst>
                <a:path w="13312" h="13313" extrusionOk="0">
                  <a:moveTo>
                    <a:pt x="6656" y="1"/>
                  </a:moveTo>
                  <a:cubicBezTo>
                    <a:pt x="3026" y="1"/>
                    <a:pt x="0" y="3026"/>
                    <a:pt x="0" y="6656"/>
                  </a:cubicBezTo>
                  <a:cubicBezTo>
                    <a:pt x="0" y="10287"/>
                    <a:pt x="3026" y="13312"/>
                    <a:pt x="6656" y="13312"/>
                  </a:cubicBezTo>
                  <a:cubicBezTo>
                    <a:pt x="10387" y="13312"/>
                    <a:pt x="13311" y="10287"/>
                    <a:pt x="13311" y="6656"/>
                  </a:cubicBezTo>
                  <a:cubicBezTo>
                    <a:pt x="13311" y="3026"/>
                    <a:pt x="10387" y="1"/>
                    <a:pt x="66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2050274" y="1073785"/>
              <a:ext cx="63598" cy="63603"/>
            </a:xfrm>
            <a:custGeom>
              <a:avLst/>
              <a:gdLst/>
              <a:ahLst/>
              <a:cxnLst/>
              <a:rect l="l" t="t" r="r" b="b"/>
              <a:pathLst>
                <a:path w="13312" h="13313" extrusionOk="0">
                  <a:moveTo>
                    <a:pt x="6656" y="1"/>
                  </a:moveTo>
                  <a:cubicBezTo>
                    <a:pt x="3026" y="1"/>
                    <a:pt x="1" y="3026"/>
                    <a:pt x="1" y="6656"/>
                  </a:cubicBezTo>
                  <a:cubicBezTo>
                    <a:pt x="1" y="10287"/>
                    <a:pt x="3026" y="13312"/>
                    <a:pt x="6656" y="13312"/>
                  </a:cubicBezTo>
                  <a:cubicBezTo>
                    <a:pt x="10287" y="13312"/>
                    <a:pt x="13312" y="10287"/>
                    <a:pt x="13312" y="6656"/>
                  </a:cubicBezTo>
                  <a:cubicBezTo>
                    <a:pt x="13312" y="3026"/>
                    <a:pt x="10287" y="1"/>
                    <a:pt x="66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2223224" y="1073785"/>
              <a:ext cx="63603" cy="63603"/>
            </a:xfrm>
            <a:custGeom>
              <a:avLst/>
              <a:gdLst/>
              <a:ahLst/>
              <a:cxnLst/>
              <a:rect l="l" t="t" r="r" b="b"/>
              <a:pathLst>
                <a:path w="13313" h="13313" extrusionOk="0">
                  <a:moveTo>
                    <a:pt x="6657" y="1"/>
                  </a:moveTo>
                  <a:cubicBezTo>
                    <a:pt x="2925" y="1"/>
                    <a:pt x="1" y="3026"/>
                    <a:pt x="1" y="6656"/>
                  </a:cubicBezTo>
                  <a:cubicBezTo>
                    <a:pt x="1" y="10287"/>
                    <a:pt x="2925" y="13312"/>
                    <a:pt x="6657" y="13312"/>
                  </a:cubicBezTo>
                  <a:cubicBezTo>
                    <a:pt x="10287" y="13312"/>
                    <a:pt x="13312" y="10287"/>
                    <a:pt x="13312" y="6656"/>
                  </a:cubicBezTo>
                  <a:cubicBezTo>
                    <a:pt x="13312" y="3026"/>
                    <a:pt x="10287" y="1"/>
                    <a:pt x="66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2395695" y="1073785"/>
              <a:ext cx="63598" cy="63603"/>
            </a:xfrm>
            <a:custGeom>
              <a:avLst/>
              <a:gdLst/>
              <a:ahLst/>
              <a:cxnLst/>
              <a:rect l="l" t="t" r="r" b="b"/>
              <a:pathLst>
                <a:path w="13312" h="13313" extrusionOk="0">
                  <a:moveTo>
                    <a:pt x="6656" y="1"/>
                  </a:moveTo>
                  <a:cubicBezTo>
                    <a:pt x="3026" y="1"/>
                    <a:pt x="0" y="3026"/>
                    <a:pt x="0" y="6656"/>
                  </a:cubicBezTo>
                  <a:cubicBezTo>
                    <a:pt x="0" y="10287"/>
                    <a:pt x="3026" y="13312"/>
                    <a:pt x="6656" y="13312"/>
                  </a:cubicBezTo>
                  <a:cubicBezTo>
                    <a:pt x="10387" y="13312"/>
                    <a:pt x="13312" y="10287"/>
                    <a:pt x="13312" y="6656"/>
                  </a:cubicBezTo>
                  <a:cubicBezTo>
                    <a:pt x="13312" y="3026"/>
                    <a:pt x="10387" y="1"/>
                    <a:pt x="66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1877325" y="1231796"/>
              <a:ext cx="63598" cy="63598"/>
            </a:xfrm>
            <a:custGeom>
              <a:avLst/>
              <a:gdLst/>
              <a:ahLst/>
              <a:cxnLst/>
              <a:rect l="l" t="t" r="r" b="b"/>
              <a:pathLst>
                <a:path w="13312" h="13312" extrusionOk="0">
                  <a:moveTo>
                    <a:pt x="6656" y="0"/>
                  </a:moveTo>
                  <a:cubicBezTo>
                    <a:pt x="3026" y="0"/>
                    <a:pt x="0" y="2925"/>
                    <a:pt x="0" y="6656"/>
                  </a:cubicBezTo>
                  <a:cubicBezTo>
                    <a:pt x="0" y="10286"/>
                    <a:pt x="3026" y="13311"/>
                    <a:pt x="6656" y="13311"/>
                  </a:cubicBezTo>
                  <a:cubicBezTo>
                    <a:pt x="10387" y="13311"/>
                    <a:pt x="13311" y="10286"/>
                    <a:pt x="13311" y="6656"/>
                  </a:cubicBezTo>
                  <a:cubicBezTo>
                    <a:pt x="13311" y="2925"/>
                    <a:pt x="10387" y="0"/>
                    <a:pt x="66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2050274" y="1231796"/>
              <a:ext cx="63598" cy="63598"/>
            </a:xfrm>
            <a:custGeom>
              <a:avLst/>
              <a:gdLst/>
              <a:ahLst/>
              <a:cxnLst/>
              <a:rect l="l" t="t" r="r" b="b"/>
              <a:pathLst>
                <a:path w="13312" h="13312" extrusionOk="0">
                  <a:moveTo>
                    <a:pt x="6656" y="0"/>
                  </a:moveTo>
                  <a:cubicBezTo>
                    <a:pt x="3026" y="0"/>
                    <a:pt x="1" y="2925"/>
                    <a:pt x="1" y="6656"/>
                  </a:cubicBezTo>
                  <a:cubicBezTo>
                    <a:pt x="1" y="10286"/>
                    <a:pt x="3026" y="13311"/>
                    <a:pt x="6656" y="13311"/>
                  </a:cubicBezTo>
                  <a:cubicBezTo>
                    <a:pt x="10287" y="13311"/>
                    <a:pt x="13312" y="10286"/>
                    <a:pt x="13312" y="6656"/>
                  </a:cubicBezTo>
                  <a:cubicBezTo>
                    <a:pt x="13312" y="2925"/>
                    <a:pt x="10287" y="0"/>
                    <a:pt x="66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2223224" y="1231796"/>
              <a:ext cx="63603" cy="63598"/>
            </a:xfrm>
            <a:custGeom>
              <a:avLst/>
              <a:gdLst/>
              <a:ahLst/>
              <a:cxnLst/>
              <a:rect l="l" t="t" r="r" b="b"/>
              <a:pathLst>
                <a:path w="13313" h="13312" extrusionOk="0">
                  <a:moveTo>
                    <a:pt x="6657" y="0"/>
                  </a:moveTo>
                  <a:cubicBezTo>
                    <a:pt x="2925" y="0"/>
                    <a:pt x="1" y="2925"/>
                    <a:pt x="1" y="6656"/>
                  </a:cubicBezTo>
                  <a:cubicBezTo>
                    <a:pt x="1" y="10286"/>
                    <a:pt x="2925" y="13311"/>
                    <a:pt x="6657" y="13311"/>
                  </a:cubicBezTo>
                  <a:cubicBezTo>
                    <a:pt x="10287" y="13311"/>
                    <a:pt x="13312" y="10286"/>
                    <a:pt x="13312" y="6656"/>
                  </a:cubicBezTo>
                  <a:cubicBezTo>
                    <a:pt x="13312" y="2925"/>
                    <a:pt x="10287" y="0"/>
                    <a:pt x="66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2395695" y="1231796"/>
              <a:ext cx="63598" cy="63598"/>
            </a:xfrm>
            <a:custGeom>
              <a:avLst/>
              <a:gdLst/>
              <a:ahLst/>
              <a:cxnLst/>
              <a:rect l="l" t="t" r="r" b="b"/>
              <a:pathLst>
                <a:path w="13312" h="13312" extrusionOk="0">
                  <a:moveTo>
                    <a:pt x="6656" y="0"/>
                  </a:moveTo>
                  <a:cubicBezTo>
                    <a:pt x="3026" y="0"/>
                    <a:pt x="0" y="2925"/>
                    <a:pt x="0" y="6656"/>
                  </a:cubicBezTo>
                  <a:cubicBezTo>
                    <a:pt x="0" y="10286"/>
                    <a:pt x="3026" y="13311"/>
                    <a:pt x="6656" y="13311"/>
                  </a:cubicBezTo>
                  <a:cubicBezTo>
                    <a:pt x="10387" y="13311"/>
                    <a:pt x="13312" y="10286"/>
                    <a:pt x="13312" y="6656"/>
                  </a:cubicBezTo>
                  <a:cubicBezTo>
                    <a:pt x="13312" y="2925"/>
                    <a:pt x="10387" y="0"/>
                    <a:pt x="66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2" name="Google Shape;32;p2"/>
          <p:cNvSpPr/>
          <p:nvPr/>
        </p:nvSpPr>
        <p:spPr>
          <a:xfrm>
            <a:off x="7726169" y="5880102"/>
            <a:ext cx="947851" cy="117881"/>
          </a:xfrm>
          <a:custGeom>
            <a:avLst/>
            <a:gdLst/>
            <a:ahLst/>
            <a:cxnLst/>
            <a:rect l="l" t="t" r="r" b="b"/>
            <a:pathLst>
              <a:path w="178391" h="22186" extrusionOk="0">
                <a:moveTo>
                  <a:pt x="173752" y="13009"/>
                </a:moveTo>
                <a:cubicBezTo>
                  <a:pt x="172743" y="13009"/>
                  <a:pt x="171836" y="12807"/>
                  <a:pt x="171130" y="12202"/>
                </a:cubicBezTo>
                <a:cubicBezTo>
                  <a:pt x="170525" y="11698"/>
                  <a:pt x="170020" y="10992"/>
                  <a:pt x="169718" y="9883"/>
                </a:cubicBezTo>
                <a:cubicBezTo>
                  <a:pt x="168911" y="6958"/>
                  <a:pt x="167298" y="4437"/>
                  <a:pt x="165079" y="2723"/>
                </a:cubicBezTo>
                <a:cubicBezTo>
                  <a:pt x="162760" y="1009"/>
                  <a:pt x="159936" y="0"/>
                  <a:pt x="156911" y="0"/>
                </a:cubicBezTo>
                <a:cubicBezTo>
                  <a:pt x="153785" y="0"/>
                  <a:pt x="150961" y="1009"/>
                  <a:pt x="148642" y="2723"/>
                </a:cubicBezTo>
                <a:cubicBezTo>
                  <a:pt x="146423" y="4437"/>
                  <a:pt x="144810" y="6958"/>
                  <a:pt x="144003" y="9883"/>
                </a:cubicBezTo>
                <a:cubicBezTo>
                  <a:pt x="143701" y="10992"/>
                  <a:pt x="143196" y="11698"/>
                  <a:pt x="142591" y="12202"/>
                </a:cubicBezTo>
                <a:cubicBezTo>
                  <a:pt x="141885" y="12807"/>
                  <a:pt x="140978" y="13009"/>
                  <a:pt x="139969" y="13009"/>
                </a:cubicBezTo>
                <a:cubicBezTo>
                  <a:pt x="138961" y="13009"/>
                  <a:pt x="138053" y="12807"/>
                  <a:pt x="137348" y="12202"/>
                </a:cubicBezTo>
                <a:cubicBezTo>
                  <a:pt x="136642" y="11698"/>
                  <a:pt x="136137" y="10891"/>
                  <a:pt x="135936" y="9883"/>
                </a:cubicBezTo>
                <a:cubicBezTo>
                  <a:pt x="135129" y="6958"/>
                  <a:pt x="133516" y="4437"/>
                  <a:pt x="131196" y="2723"/>
                </a:cubicBezTo>
                <a:cubicBezTo>
                  <a:pt x="128877" y="1009"/>
                  <a:pt x="126053" y="0"/>
                  <a:pt x="123028" y="0"/>
                </a:cubicBezTo>
                <a:cubicBezTo>
                  <a:pt x="120003" y="0"/>
                  <a:pt x="117179" y="1009"/>
                  <a:pt x="114860" y="2723"/>
                </a:cubicBezTo>
                <a:cubicBezTo>
                  <a:pt x="112540" y="4437"/>
                  <a:pt x="110927" y="6958"/>
                  <a:pt x="110120" y="9883"/>
                </a:cubicBezTo>
                <a:cubicBezTo>
                  <a:pt x="109918" y="10992"/>
                  <a:pt x="109414" y="11698"/>
                  <a:pt x="108708" y="12202"/>
                </a:cubicBezTo>
                <a:cubicBezTo>
                  <a:pt x="108002" y="12807"/>
                  <a:pt x="107095" y="13009"/>
                  <a:pt x="106086" y="13009"/>
                </a:cubicBezTo>
                <a:cubicBezTo>
                  <a:pt x="105078" y="13009"/>
                  <a:pt x="104170" y="12807"/>
                  <a:pt x="103465" y="12202"/>
                </a:cubicBezTo>
                <a:cubicBezTo>
                  <a:pt x="102859" y="11698"/>
                  <a:pt x="102355" y="10992"/>
                  <a:pt x="102053" y="9883"/>
                </a:cubicBezTo>
                <a:cubicBezTo>
                  <a:pt x="101246" y="6958"/>
                  <a:pt x="99633" y="4437"/>
                  <a:pt x="97313" y="2723"/>
                </a:cubicBezTo>
                <a:cubicBezTo>
                  <a:pt x="95095" y="1009"/>
                  <a:pt x="92271" y="0"/>
                  <a:pt x="89145" y="0"/>
                </a:cubicBezTo>
                <a:cubicBezTo>
                  <a:pt x="86120" y="0"/>
                  <a:pt x="83296" y="1009"/>
                  <a:pt x="80977" y="2723"/>
                </a:cubicBezTo>
                <a:cubicBezTo>
                  <a:pt x="78758" y="4437"/>
                  <a:pt x="77044" y="6958"/>
                  <a:pt x="76338" y="9883"/>
                </a:cubicBezTo>
                <a:cubicBezTo>
                  <a:pt x="76035" y="10891"/>
                  <a:pt x="75531" y="11698"/>
                  <a:pt x="74926" y="12202"/>
                </a:cubicBezTo>
                <a:cubicBezTo>
                  <a:pt x="74220" y="12807"/>
                  <a:pt x="73313" y="13009"/>
                  <a:pt x="72304" y="13009"/>
                </a:cubicBezTo>
                <a:cubicBezTo>
                  <a:pt x="71195" y="13009"/>
                  <a:pt x="70287" y="12807"/>
                  <a:pt x="69682" y="12202"/>
                </a:cubicBezTo>
                <a:cubicBezTo>
                  <a:pt x="68977" y="11698"/>
                  <a:pt x="68472" y="10891"/>
                  <a:pt x="68170" y="9883"/>
                </a:cubicBezTo>
                <a:cubicBezTo>
                  <a:pt x="67464" y="6958"/>
                  <a:pt x="65750" y="4437"/>
                  <a:pt x="63531" y="2723"/>
                </a:cubicBezTo>
                <a:cubicBezTo>
                  <a:pt x="61212" y="1009"/>
                  <a:pt x="58388" y="0"/>
                  <a:pt x="55363" y="0"/>
                </a:cubicBezTo>
                <a:cubicBezTo>
                  <a:pt x="52237" y="0"/>
                  <a:pt x="49413" y="1009"/>
                  <a:pt x="47195" y="2723"/>
                </a:cubicBezTo>
                <a:cubicBezTo>
                  <a:pt x="44875" y="4437"/>
                  <a:pt x="43262" y="6958"/>
                  <a:pt x="42455" y="9883"/>
                </a:cubicBezTo>
                <a:cubicBezTo>
                  <a:pt x="42153" y="10992"/>
                  <a:pt x="41749" y="11698"/>
                  <a:pt x="41043" y="12202"/>
                </a:cubicBezTo>
                <a:cubicBezTo>
                  <a:pt x="40337" y="12807"/>
                  <a:pt x="39430" y="13009"/>
                  <a:pt x="38421" y="13009"/>
                </a:cubicBezTo>
                <a:cubicBezTo>
                  <a:pt x="37413" y="13009"/>
                  <a:pt x="36505" y="12807"/>
                  <a:pt x="35799" y="12202"/>
                </a:cubicBezTo>
                <a:cubicBezTo>
                  <a:pt x="35094" y="11698"/>
                  <a:pt x="34589" y="10992"/>
                  <a:pt x="34388" y="9883"/>
                </a:cubicBezTo>
                <a:cubicBezTo>
                  <a:pt x="33581" y="6958"/>
                  <a:pt x="31967" y="4437"/>
                  <a:pt x="29648" y="2723"/>
                </a:cubicBezTo>
                <a:cubicBezTo>
                  <a:pt x="27329" y="1009"/>
                  <a:pt x="24505" y="0"/>
                  <a:pt x="21480" y="0"/>
                </a:cubicBezTo>
                <a:cubicBezTo>
                  <a:pt x="18455" y="0"/>
                  <a:pt x="15631" y="1009"/>
                  <a:pt x="13312" y="2723"/>
                </a:cubicBezTo>
                <a:cubicBezTo>
                  <a:pt x="10992" y="4437"/>
                  <a:pt x="9379" y="6958"/>
                  <a:pt x="8572" y="9883"/>
                </a:cubicBezTo>
                <a:cubicBezTo>
                  <a:pt x="8370" y="10891"/>
                  <a:pt x="7866" y="11698"/>
                  <a:pt x="7160" y="12202"/>
                </a:cubicBezTo>
                <a:cubicBezTo>
                  <a:pt x="6555" y="12807"/>
                  <a:pt x="5648" y="13009"/>
                  <a:pt x="4538" y="13009"/>
                </a:cubicBezTo>
                <a:cubicBezTo>
                  <a:pt x="2017" y="13009"/>
                  <a:pt x="0" y="15127"/>
                  <a:pt x="0" y="17648"/>
                </a:cubicBezTo>
                <a:cubicBezTo>
                  <a:pt x="0" y="20169"/>
                  <a:pt x="2017" y="22186"/>
                  <a:pt x="4538" y="22186"/>
                </a:cubicBezTo>
                <a:cubicBezTo>
                  <a:pt x="7664" y="22186"/>
                  <a:pt x="10488" y="21278"/>
                  <a:pt x="12707" y="19463"/>
                </a:cubicBezTo>
                <a:cubicBezTo>
                  <a:pt x="15026" y="17748"/>
                  <a:pt x="16639" y="15227"/>
                  <a:pt x="17446" y="12303"/>
                </a:cubicBezTo>
                <a:cubicBezTo>
                  <a:pt x="17749" y="11295"/>
                  <a:pt x="18152" y="10488"/>
                  <a:pt x="18858" y="9984"/>
                </a:cubicBezTo>
                <a:cubicBezTo>
                  <a:pt x="19564" y="9479"/>
                  <a:pt x="20471" y="9177"/>
                  <a:pt x="21480" y="9177"/>
                </a:cubicBezTo>
                <a:cubicBezTo>
                  <a:pt x="22488" y="9177"/>
                  <a:pt x="23396" y="9479"/>
                  <a:pt x="24102" y="9984"/>
                </a:cubicBezTo>
                <a:cubicBezTo>
                  <a:pt x="24808" y="10488"/>
                  <a:pt x="25211" y="11295"/>
                  <a:pt x="25514" y="12303"/>
                </a:cubicBezTo>
                <a:cubicBezTo>
                  <a:pt x="26320" y="15227"/>
                  <a:pt x="27934" y="17748"/>
                  <a:pt x="30253" y="19463"/>
                </a:cubicBezTo>
                <a:cubicBezTo>
                  <a:pt x="32472" y="21278"/>
                  <a:pt x="35396" y="22186"/>
                  <a:pt x="38421" y="22186"/>
                </a:cubicBezTo>
                <a:cubicBezTo>
                  <a:pt x="41447" y="22186"/>
                  <a:pt x="44270" y="21278"/>
                  <a:pt x="46590" y="19463"/>
                </a:cubicBezTo>
                <a:cubicBezTo>
                  <a:pt x="48909" y="17748"/>
                  <a:pt x="50522" y="15227"/>
                  <a:pt x="51329" y="12303"/>
                </a:cubicBezTo>
                <a:cubicBezTo>
                  <a:pt x="51531" y="11295"/>
                  <a:pt x="52035" y="10488"/>
                  <a:pt x="52741" y="9984"/>
                </a:cubicBezTo>
                <a:cubicBezTo>
                  <a:pt x="53346" y="9479"/>
                  <a:pt x="54254" y="9177"/>
                  <a:pt x="55363" y="9177"/>
                </a:cubicBezTo>
                <a:cubicBezTo>
                  <a:pt x="56371" y="9177"/>
                  <a:pt x="57279" y="9479"/>
                  <a:pt x="57985" y="9984"/>
                </a:cubicBezTo>
                <a:cubicBezTo>
                  <a:pt x="58590" y="10488"/>
                  <a:pt x="59094" y="11295"/>
                  <a:pt x="59397" y="12303"/>
                </a:cubicBezTo>
                <a:cubicBezTo>
                  <a:pt x="60203" y="15227"/>
                  <a:pt x="61817" y="17748"/>
                  <a:pt x="64035" y="19463"/>
                </a:cubicBezTo>
                <a:cubicBezTo>
                  <a:pt x="66355" y="21278"/>
                  <a:pt x="69178" y="22186"/>
                  <a:pt x="72203" y="22186"/>
                </a:cubicBezTo>
                <a:cubicBezTo>
                  <a:pt x="75330" y="22186"/>
                  <a:pt x="78153" y="21278"/>
                  <a:pt x="80473" y="19463"/>
                </a:cubicBezTo>
                <a:cubicBezTo>
                  <a:pt x="82691" y="17748"/>
                  <a:pt x="84305" y="15227"/>
                  <a:pt x="85111" y="12303"/>
                </a:cubicBezTo>
                <a:cubicBezTo>
                  <a:pt x="85414" y="11295"/>
                  <a:pt x="85918" y="10488"/>
                  <a:pt x="86523" y="9984"/>
                </a:cubicBezTo>
                <a:cubicBezTo>
                  <a:pt x="87229" y="9479"/>
                  <a:pt x="88137" y="9177"/>
                  <a:pt x="89145" y="9177"/>
                </a:cubicBezTo>
                <a:cubicBezTo>
                  <a:pt x="90254" y="9177"/>
                  <a:pt x="91162" y="9479"/>
                  <a:pt x="91767" y="9984"/>
                </a:cubicBezTo>
                <a:cubicBezTo>
                  <a:pt x="92473" y="10488"/>
                  <a:pt x="92977" y="11295"/>
                  <a:pt x="93179" y="12303"/>
                </a:cubicBezTo>
                <a:cubicBezTo>
                  <a:pt x="93985" y="15227"/>
                  <a:pt x="95599" y="17748"/>
                  <a:pt x="97918" y="19463"/>
                </a:cubicBezTo>
                <a:cubicBezTo>
                  <a:pt x="100238" y="21278"/>
                  <a:pt x="103061" y="22186"/>
                  <a:pt x="106086" y="22186"/>
                </a:cubicBezTo>
                <a:cubicBezTo>
                  <a:pt x="109112" y="22186"/>
                  <a:pt x="112036" y="21278"/>
                  <a:pt x="114255" y="19463"/>
                </a:cubicBezTo>
                <a:cubicBezTo>
                  <a:pt x="116574" y="17748"/>
                  <a:pt x="118187" y="15227"/>
                  <a:pt x="118994" y="12303"/>
                </a:cubicBezTo>
                <a:cubicBezTo>
                  <a:pt x="119297" y="11295"/>
                  <a:pt x="119700" y="10488"/>
                  <a:pt x="120406" y="9984"/>
                </a:cubicBezTo>
                <a:cubicBezTo>
                  <a:pt x="121112" y="9479"/>
                  <a:pt x="122019" y="9177"/>
                  <a:pt x="123028" y="9177"/>
                </a:cubicBezTo>
                <a:cubicBezTo>
                  <a:pt x="124036" y="9177"/>
                  <a:pt x="124944" y="9479"/>
                  <a:pt x="125650" y="9984"/>
                </a:cubicBezTo>
                <a:cubicBezTo>
                  <a:pt x="126356" y="10488"/>
                  <a:pt x="126759" y="11295"/>
                  <a:pt x="127062" y="12303"/>
                </a:cubicBezTo>
                <a:cubicBezTo>
                  <a:pt x="127868" y="15227"/>
                  <a:pt x="129482" y="17748"/>
                  <a:pt x="131801" y="19463"/>
                </a:cubicBezTo>
                <a:cubicBezTo>
                  <a:pt x="134020" y="21278"/>
                  <a:pt x="136843" y="22186"/>
                  <a:pt x="139969" y="22186"/>
                </a:cubicBezTo>
                <a:cubicBezTo>
                  <a:pt x="142995" y="22186"/>
                  <a:pt x="145818" y="21278"/>
                  <a:pt x="148138" y="19463"/>
                </a:cubicBezTo>
                <a:cubicBezTo>
                  <a:pt x="150356" y="17748"/>
                  <a:pt x="152070" y="15227"/>
                  <a:pt x="152776" y="12303"/>
                </a:cubicBezTo>
                <a:cubicBezTo>
                  <a:pt x="153079" y="11295"/>
                  <a:pt x="153583" y="10488"/>
                  <a:pt x="154289" y="9984"/>
                </a:cubicBezTo>
                <a:cubicBezTo>
                  <a:pt x="154894" y="9479"/>
                  <a:pt x="155802" y="9177"/>
                  <a:pt x="156911" y="9177"/>
                </a:cubicBezTo>
                <a:cubicBezTo>
                  <a:pt x="157919" y="9177"/>
                  <a:pt x="158827" y="9479"/>
                  <a:pt x="159533" y="9984"/>
                </a:cubicBezTo>
                <a:cubicBezTo>
                  <a:pt x="160138" y="10488"/>
                  <a:pt x="160642" y="11295"/>
                  <a:pt x="160945" y="12303"/>
                </a:cubicBezTo>
                <a:cubicBezTo>
                  <a:pt x="161751" y="15227"/>
                  <a:pt x="163365" y="17748"/>
                  <a:pt x="165583" y="19463"/>
                </a:cubicBezTo>
                <a:cubicBezTo>
                  <a:pt x="167903" y="21278"/>
                  <a:pt x="170726" y="22186"/>
                  <a:pt x="173752" y="22186"/>
                </a:cubicBezTo>
                <a:cubicBezTo>
                  <a:pt x="176273" y="22186"/>
                  <a:pt x="178390" y="20169"/>
                  <a:pt x="178390" y="17648"/>
                </a:cubicBezTo>
                <a:cubicBezTo>
                  <a:pt x="178390" y="15127"/>
                  <a:pt x="176273" y="13009"/>
                  <a:pt x="173752" y="1300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3" name="Google Shape;33;p2"/>
          <p:cNvSpPr/>
          <p:nvPr/>
        </p:nvSpPr>
        <p:spPr>
          <a:xfrm>
            <a:off x="1016000" y="5406567"/>
            <a:ext cx="838000" cy="119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4" name="Google Shape;34;p2"/>
          <p:cNvSpPr txBox="1">
            <a:spLocks noGrp="1"/>
          </p:cNvSpPr>
          <p:nvPr>
            <p:ph type="subTitle" idx="1"/>
          </p:nvPr>
        </p:nvSpPr>
        <p:spPr>
          <a:xfrm>
            <a:off x="974400" y="2720472"/>
            <a:ext cx="5706000" cy="1162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5465" b="1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9pPr>
          </a:lstStyle>
          <a:p>
            <a:r>
              <a:rPr lang="es-ES"/>
              <a:t>Haga clic para editar el estilo de subtítulo del patrón</a:t>
            </a:r>
          </a:p>
        </p:txBody>
      </p:sp>
      <p:sp>
        <p:nvSpPr>
          <p:cNvPr id="35" name="Google Shape;35;p2"/>
          <p:cNvSpPr txBox="1">
            <a:spLocks noGrp="1"/>
          </p:cNvSpPr>
          <p:nvPr>
            <p:ph type="subTitle" idx="2"/>
          </p:nvPr>
        </p:nvSpPr>
        <p:spPr>
          <a:xfrm>
            <a:off x="974400" y="5716467"/>
            <a:ext cx="4996800" cy="3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2135">
                <a:latin typeface="Signika"/>
                <a:ea typeface="Signika"/>
                <a:cs typeface="Signika"/>
                <a:sym typeface="Signi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2135"/>
              </a:spcBef>
              <a:spcAft>
                <a:spcPts val="2135"/>
              </a:spcAft>
              <a:buSzPts val="1400"/>
              <a:buNone/>
              <a:defRPr/>
            </a:lvl9pPr>
          </a:lstStyle>
          <a:p>
            <a:r>
              <a:rPr lang="es-ES"/>
              <a:t>Haga clic para editar el estilo de subtítulo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196302112"/>
      </p:ext>
    </p:extLst>
  </p:cSld>
  <p:clrMapOvr>
    <a:masterClrMapping/>
  </p:clrMapOvr>
  <p:transition>
    <p:fade thruBlk="1"/>
  </p:transition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Sub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>
            <a:spLocks noGrp="1"/>
          </p:cNvSpPr>
          <p:nvPr>
            <p:ph type="ctrTitle"/>
          </p:nvPr>
        </p:nvSpPr>
        <p:spPr>
          <a:xfrm>
            <a:off x="914400" y="2212733"/>
            <a:ext cx="5685200" cy="154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914400" y="3888339"/>
            <a:ext cx="5685200" cy="104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70903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1AAE89-7064-421D-9916-420AA2E7F7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6A12CE-274A-4C60-9546-77A9682AF5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73BBF9-6C16-49C0-B59C-BBB728D49E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0E9423-4AA5-436D-A3A1-72E3B07693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1A87426-75BB-4DA5-A531-460DD7508A1B}"/>
              </a:ext>
            </a:extLst>
          </p:cNvPr>
          <p:cNvSpPr/>
          <p:nvPr userDrawn="1"/>
        </p:nvSpPr>
        <p:spPr>
          <a:xfrm>
            <a:off x="6096000" y="-9331"/>
            <a:ext cx="6096000" cy="107325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90ED3DD-A7C3-4095-9269-329F194BB6AC}"/>
              </a:ext>
            </a:extLst>
          </p:cNvPr>
          <p:cNvSpPr/>
          <p:nvPr userDrawn="1"/>
        </p:nvSpPr>
        <p:spPr>
          <a:xfrm>
            <a:off x="0" y="1073257"/>
            <a:ext cx="12192000" cy="1515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11" name="Imagen 10" descr="Resultado de imagen para LOGO UNAC">
            <a:extLst>
              <a:ext uri="{FF2B5EF4-FFF2-40B4-BE49-F238E27FC236}">
                <a16:creationId xmlns:a16="http://schemas.microsoft.com/office/drawing/2014/main" id="{C8363EE3-3A68-4118-94B3-883E5C704F10}"/>
              </a:ext>
            </a:extLst>
          </p:cNvPr>
          <p:cNvPicPr/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732" y="188233"/>
            <a:ext cx="537224" cy="6846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80173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7" r:id="rId12"/>
    <p:sldLayoutId id="2147483668" r:id="rId13"/>
    <p:sldLayoutId id="214748366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9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024" y="2518396"/>
            <a:ext cx="4913785" cy="291665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Picture 2" descr="UNA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071" y="190477"/>
            <a:ext cx="2855333" cy="674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ángulo 18"/>
          <p:cNvSpPr/>
          <p:nvPr/>
        </p:nvSpPr>
        <p:spPr>
          <a:xfrm>
            <a:off x="7261461" y="5795306"/>
            <a:ext cx="467139" cy="450222"/>
          </a:xfrm>
          <a:prstGeom prst="rect">
            <a:avLst/>
          </a:prstGeom>
          <a:solidFill>
            <a:srgbClr val="D7E7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10" name="Título 2"/>
          <p:cNvSpPr txBox="1"/>
          <p:nvPr/>
        </p:nvSpPr>
        <p:spPr>
          <a:xfrm>
            <a:off x="8321150" y="5795306"/>
            <a:ext cx="2803628" cy="697178"/>
          </a:xfrm>
          <a:prstGeom prst="roundRect">
            <a:avLst/>
          </a:prstGeom>
          <a:solidFill>
            <a:schemeClr val="bg1"/>
          </a:solidFill>
          <a:ln w="28575">
            <a:noFill/>
            <a:prstDash val="lgDashDot"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PE" sz="1800" dirty="0">
                <a:solidFill>
                  <a:srgbClr val="002060"/>
                </a:solidFill>
                <a:latin typeface="Bodoni MT Black" panose="02070A03080606020203" pitchFamily="18" charset="0"/>
                <a:cs typeface="Leelawadee UI" panose="020B0502040204020203" pitchFamily="34" charset="-34"/>
              </a:rPr>
              <a:t>SEMESTRE ACADÉMICO 2026 B</a:t>
            </a:r>
            <a:endParaRPr lang="es-ES" sz="1800" dirty="0">
              <a:solidFill>
                <a:srgbClr val="002060"/>
              </a:solidFill>
              <a:latin typeface="Bodoni MT Black" panose="02070A03080606020203" pitchFamily="18" charset="0"/>
              <a:cs typeface="Leelawadee UI" panose="020B0502040204020203" pitchFamily="34" charset="-34"/>
            </a:endParaRPr>
          </a:p>
        </p:txBody>
      </p:sp>
      <p:pic>
        <p:nvPicPr>
          <p:cNvPr id="26" name="Imagen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1461" y="0"/>
            <a:ext cx="4923006" cy="1400220"/>
          </a:xfrm>
          <a:prstGeom prst="rect">
            <a:avLst/>
          </a:prstGeom>
        </p:spPr>
      </p:pic>
      <p:sp>
        <p:nvSpPr>
          <p:cNvPr id="15" name="4 CuadroTexto">
            <a:extLst>
              <a:ext uri="{FF2B5EF4-FFF2-40B4-BE49-F238E27FC236}">
                <a16:creationId xmlns:a16="http://schemas.microsoft.com/office/drawing/2014/main" id="{4365F436-E173-4817-8107-4110CE39FADE}"/>
              </a:ext>
            </a:extLst>
          </p:cNvPr>
          <p:cNvSpPr txBox="1"/>
          <p:nvPr/>
        </p:nvSpPr>
        <p:spPr>
          <a:xfrm>
            <a:off x="0" y="4134513"/>
            <a:ext cx="6096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rgbClr val="700000"/>
                </a:solidFill>
              </a:rPr>
              <a:t>Docente:</a:t>
            </a:r>
          </a:p>
          <a:p>
            <a:pPr algn="ctr"/>
            <a:r>
              <a:rPr lang="es-ES" sz="2400" b="1" dirty="0" err="1">
                <a:solidFill>
                  <a:srgbClr val="700000"/>
                </a:solidFill>
              </a:rPr>
              <a:t>ANIVAL</a:t>
            </a:r>
            <a:r>
              <a:rPr lang="es-ES" sz="2400" b="1" dirty="0">
                <a:solidFill>
                  <a:srgbClr val="700000"/>
                </a:solidFill>
              </a:rPr>
              <a:t> TORRE CAMONES</a:t>
            </a:r>
            <a:endParaRPr lang="es-PE" sz="2400" b="1" dirty="0">
              <a:solidFill>
                <a:srgbClr val="700000"/>
              </a:solidFill>
            </a:endParaRPr>
          </a:p>
        </p:txBody>
      </p:sp>
      <p:sp>
        <p:nvSpPr>
          <p:cNvPr id="2" name="5 Rectángulo">
            <a:extLst>
              <a:ext uri="{FF2B5EF4-FFF2-40B4-BE49-F238E27FC236}">
                <a16:creationId xmlns:a16="http://schemas.microsoft.com/office/drawing/2014/main" id="{3267FC93-B427-4E7C-B243-BE63C44CB29D}"/>
              </a:ext>
            </a:extLst>
          </p:cNvPr>
          <p:cNvSpPr/>
          <p:nvPr/>
        </p:nvSpPr>
        <p:spPr>
          <a:xfrm>
            <a:off x="390" y="2394096"/>
            <a:ext cx="6096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4000" b="1" dirty="0">
                <a:solidFill>
                  <a:srgbClr val="700000"/>
                </a:solidFill>
              </a:rPr>
              <a:t>INVESTIGACION DE OPERACIONES</a:t>
            </a:r>
            <a:endParaRPr lang="es-PE" sz="4000" b="1" dirty="0">
              <a:solidFill>
                <a:srgbClr val="700000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F291808-C582-26D7-9A61-E42C7376AD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7736" y="3366595"/>
            <a:ext cx="1097308" cy="1097308"/>
          </a:xfrm>
          <a:prstGeom prst="rect">
            <a:avLst/>
          </a:prstGeom>
        </p:spPr>
      </p:pic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>
                <a:solidFill>
                  <a:srgbClr val="FF0000"/>
                </a:solidFill>
                <a:latin typeface="Bauhaus 93" pitchFamily="82" charset="0"/>
              </a:rPr>
              <a:t>PROBLEMA DE REPASO</a:t>
            </a:r>
            <a:endParaRPr lang="es-ES" dirty="0">
              <a:solidFill>
                <a:srgbClr val="0064A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83" name="Google Shape;83;p15"/>
          <p:cNvSpPr txBox="1">
            <a:spLocks noGrp="1"/>
          </p:cNvSpPr>
          <p:nvPr>
            <p:ph type="sldNum" idx="4294967295"/>
          </p:nvPr>
        </p:nvSpPr>
        <p:spPr>
          <a:xfrm>
            <a:off x="10118726" y="6332538"/>
            <a:ext cx="549275" cy="525462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2</a:t>
            </a:fld>
            <a:endParaRPr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black">
          <a:xfrm>
            <a:off x="6096000" y="109243"/>
            <a:ext cx="6096000" cy="858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2pPr>
            <a:lvl3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3pPr>
            <a:lvl4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4pPr>
            <a:lvl5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5pPr>
            <a:lvl6pPr marL="4572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6pPr>
            <a:lvl7pPr marL="9144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7pPr>
            <a:lvl8pPr marL="13716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8pPr>
            <a:lvl9pPr marL="18288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/>
            <a:r>
              <a:rPr lang="es-ES_tradnl" sz="3200" b="0" i="0" dirty="0">
                <a:solidFill>
                  <a:schemeClr val="bg1"/>
                </a:solidFill>
                <a:latin typeface="Bauhaus 93" pitchFamily="82" charset="0"/>
                <a:ea typeface="+mn-ea"/>
                <a:cs typeface="+mn-cs"/>
              </a:rPr>
              <a:t>Semana 15</a:t>
            </a:r>
          </a:p>
        </p:txBody>
      </p:sp>
      <p:pic>
        <p:nvPicPr>
          <p:cNvPr id="8" name="Google Shape;6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58003" y="1676383"/>
            <a:ext cx="1782850" cy="19889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20923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9634447"/>
              </p:ext>
            </p:extLst>
          </p:nvPr>
        </p:nvGraphicFramePr>
        <p:xfrm>
          <a:off x="68077" y="1260110"/>
          <a:ext cx="2863738" cy="5486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757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1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68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21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effectLst/>
                        </a:rPr>
                        <a:t>Tarea</a:t>
                      </a:r>
                      <a:endParaRPr lang="es-PE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T(</a:t>
                      </a:r>
                      <a:r>
                        <a:rPr lang="en-US" sz="2400" dirty="0" err="1">
                          <a:effectLst/>
                        </a:rPr>
                        <a:t>sem</a:t>
                      </a:r>
                      <a:r>
                        <a:rPr lang="en-US" sz="2400" dirty="0">
                          <a:effectLst/>
                        </a:rPr>
                        <a:t>)</a:t>
                      </a:r>
                      <a:endParaRPr lang="es-PE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effectLst/>
                        </a:rPr>
                        <a:t>Prece</a:t>
                      </a:r>
                      <a:r>
                        <a:rPr lang="en-US" sz="2400" dirty="0">
                          <a:effectLst/>
                        </a:rPr>
                        <a:t>.</a:t>
                      </a:r>
                      <a:endParaRPr lang="es-PE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21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A</a:t>
                      </a:r>
                      <a:endParaRPr lang="es-PE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2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-</a:t>
                      </a:r>
                      <a:endParaRPr lang="es-PE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21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B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3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A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21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C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2400">
                          <a:effectLst/>
                        </a:rPr>
                        <a:t>4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2400">
                          <a:effectLst/>
                        </a:rPr>
                        <a:t>A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21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2400">
                          <a:effectLst/>
                        </a:rPr>
                        <a:t>D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2400">
                          <a:effectLst/>
                        </a:rPr>
                        <a:t>3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2400">
                          <a:effectLst/>
                        </a:rPr>
                        <a:t>B,C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21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2400">
                          <a:effectLst/>
                        </a:rPr>
                        <a:t>E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2400">
                          <a:effectLst/>
                        </a:rPr>
                        <a:t>2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2400">
                          <a:effectLst/>
                        </a:rPr>
                        <a:t>B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21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2400">
                          <a:effectLst/>
                        </a:rPr>
                        <a:t>F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2400">
                          <a:effectLst/>
                        </a:rPr>
                        <a:t>3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2400">
                          <a:effectLst/>
                        </a:rPr>
                        <a:t>E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21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G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-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21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H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4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G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721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I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3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H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721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J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2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H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721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K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3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I,J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721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L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5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F,K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721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M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3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K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721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N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2400">
                          <a:effectLst/>
                        </a:rPr>
                        <a:t>2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2400" dirty="0">
                          <a:effectLst/>
                        </a:rPr>
                        <a:t>M</a:t>
                      </a:r>
                      <a:endParaRPr lang="es-PE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aphicFrame>
        <p:nvGraphicFramePr>
          <p:cNvPr id="5" name="4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5439295"/>
              </p:ext>
            </p:extLst>
          </p:nvPr>
        </p:nvGraphicFramePr>
        <p:xfrm>
          <a:off x="9730124" y="1232931"/>
          <a:ext cx="2457564" cy="109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575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207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s-ES_tradnl" sz="24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Arial Narrow" panose="020B0606020202030204" pitchFamily="34" charset="0"/>
                        </a:rPr>
                        <a:t>RUTA CRÍTICA: GHIKMN      GHIKL DURACION: 16 </a:t>
                      </a:r>
                      <a:r>
                        <a:rPr lang="es-ES_tradnl" sz="2400" dirty="0" err="1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Arial Narrow" panose="020B0606020202030204" pitchFamily="34" charset="0"/>
                        </a:rPr>
                        <a:t>sem</a:t>
                      </a:r>
                      <a:r>
                        <a:rPr lang="es-ES_tradnl" sz="24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Arial Narrow" panose="020B0606020202030204" pitchFamily="34" charset="0"/>
                        </a:rPr>
                        <a:t>.</a:t>
                      </a:r>
                      <a:endParaRPr lang="es-PE" sz="2400" dirty="0"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Times New Roman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6" name="Group 175"/>
          <p:cNvGrpSpPr>
            <a:grpSpLocks/>
          </p:cNvGrpSpPr>
          <p:nvPr/>
        </p:nvGrpSpPr>
        <p:grpSpPr bwMode="auto">
          <a:xfrm>
            <a:off x="3538068" y="4133628"/>
            <a:ext cx="447675" cy="468313"/>
            <a:chOff x="1695" y="6990"/>
            <a:chExt cx="420" cy="420"/>
          </a:xfrm>
        </p:grpSpPr>
        <p:sp>
          <p:nvSpPr>
            <p:cNvPr id="7" name="Oval 178"/>
            <p:cNvSpPr>
              <a:spLocks noChangeArrowheads="1"/>
            </p:cNvSpPr>
            <p:nvPr/>
          </p:nvSpPr>
          <p:spPr bwMode="auto">
            <a:xfrm>
              <a:off x="1695" y="6990"/>
              <a:ext cx="420" cy="4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  <p:sp>
          <p:nvSpPr>
            <p:cNvPr id="8" name="Line 177"/>
            <p:cNvSpPr>
              <a:spLocks noChangeShapeType="1"/>
            </p:cNvSpPr>
            <p:nvPr/>
          </p:nvSpPr>
          <p:spPr bwMode="auto">
            <a:xfrm>
              <a:off x="1710" y="7125"/>
              <a:ext cx="3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  <p:sp>
          <p:nvSpPr>
            <p:cNvPr id="9" name="Line 176"/>
            <p:cNvSpPr>
              <a:spLocks noChangeShapeType="1"/>
            </p:cNvSpPr>
            <p:nvPr/>
          </p:nvSpPr>
          <p:spPr bwMode="auto">
            <a:xfrm>
              <a:off x="1905" y="7125"/>
              <a:ext cx="0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</p:grpSp>
      <p:grpSp>
        <p:nvGrpSpPr>
          <p:cNvPr id="10" name="Group 171"/>
          <p:cNvGrpSpPr>
            <a:grpSpLocks/>
          </p:cNvGrpSpPr>
          <p:nvPr/>
        </p:nvGrpSpPr>
        <p:grpSpPr bwMode="auto">
          <a:xfrm>
            <a:off x="4376268" y="2523903"/>
            <a:ext cx="447675" cy="468313"/>
            <a:chOff x="1695" y="6990"/>
            <a:chExt cx="420" cy="420"/>
          </a:xfrm>
        </p:grpSpPr>
        <p:sp>
          <p:nvSpPr>
            <p:cNvPr id="11" name="Oval 174"/>
            <p:cNvSpPr>
              <a:spLocks noChangeArrowheads="1"/>
            </p:cNvSpPr>
            <p:nvPr/>
          </p:nvSpPr>
          <p:spPr bwMode="auto">
            <a:xfrm>
              <a:off x="1695" y="6990"/>
              <a:ext cx="420" cy="4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  <p:sp>
          <p:nvSpPr>
            <p:cNvPr id="12" name="Line 173"/>
            <p:cNvSpPr>
              <a:spLocks noChangeShapeType="1"/>
            </p:cNvSpPr>
            <p:nvPr/>
          </p:nvSpPr>
          <p:spPr bwMode="auto">
            <a:xfrm>
              <a:off x="1710" y="7125"/>
              <a:ext cx="3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  <p:sp>
          <p:nvSpPr>
            <p:cNvPr id="13" name="Line 172"/>
            <p:cNvSpPr>
              <a:spLocks noChangeShapeType="1"/>
            </p:cNvSpPr>
            <p:nvPr/>
          </p:nvSpPr>
          <p:spPr bwMode="auto">
            <a:xfrm>
              <a:off x="1905" y="7125"/>
              <a:ext cx="0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</p:grpSp>
      <p:sp>
        <p:nvSpPr>
          <p:cNvPr id="14" name="Text Box 170"/>
          <p:cNvSpPr txBox="1">
            <a:spLocks noChangeArrowheads="1"/>
          </p:cNvSpPr>
          <p:nvPr/>
        </p:nvSpPr>
        <p:spPr bwMode="auto">
          <a:xfrm>
            <a:off x="4368329" y="2636615"/>
            <a:ext cx="687388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400" b="1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2</a:t>
            </a:r>
            <a:r>
              <a:rPr lang="es-ES_tradnl" sz="1400" b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3</a:t>
            </a:r>
            <a:endParaRPr lang="es-ES_tradnl" sz="1400" b="1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5" name="Group 166"/>
          <p:cNvGrpSpPr>
            <a:grpSpLocks/>
          </p:cNvGrpSpPr>
          <p:nvPr/>
        </p:nvGrpSpPr>
        <p:grpSpPr bwMode="auto">
          <a:xfrm>
            <a:off x="5536730" y="2535015"/>
            <a:ext cx="447675" cy="468312"/>
            <a:chOff x="1695" y="6990"/>
            <a:chExt cx="420" cy="420"/>
          </a:xfrm>
        </p:grpSpPr>
        <p:sp>
          <p:nvSpPr>
            <p:cNvPr id="16" name="Oval 169"/>
            <p:cNvSpPr>
              <a:spLocks noChangeArrowheads="1"/>
            </p:cNvSpPr>
            <p:nvPr/>
          </p:nvSpPr>
          <p:spPr bwMode="auto">
            <a:xfrm>
              <a:off x="1695" y="6990"/>
              <a:ext cx="420" cy="4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  <p:sp>
          <p:nvSpPr>
            <p:cNvPr id="17" name="Line 168"/>
            <p:cNvSpPr>
              <a:spLocks noChangeShapeType="1"/>
            </p:cNvSpPr>
            <p:nvPr/>
          </p:nvSpPr>
          <p:spPr bwMode="auto">
            <a:xfrm>
              <a:off x="1710" y="7125"/>
              <a:ext cx="3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  <p:sp>
          <p:nvSpPr>
            <p:cNvPr id="18" name="Line 167"/>
            <p:cNvSpPr>
              <a:spLocks noChangeShapeType="1"/>
            </p:cNvSpPr>
            <p:nvPr/>
          </p:nvSpPr>
          <p:spPr bwMode="auto">
            <a:xfrm>
              <a:off x="1905" y="7125"/>
              <a:ext cx="0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</p:grpSp>
      <p:sp>
        <p:nvSpPr>
          <p:cNvPr id="19" name="Text Box 165"/>
          <p:cNvSpPr txBox="1">
            <a:spLocks noChangeArrowheads="1"/>
          </p:cNvSpPr>
          <p:nvPr/>
        </p:nvSpPr>
        <p:spPr bwMode="auto">
          <a:xfrm>
            <a:off x="5536729" y="2649315"/>
            <a:ext cx="687388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400" b="1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6</a:t>
            </a:r>
            <a:r>
              <a:rPr lang="es-ES_tradnl" sz="1400" b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 13 </a:t>
            </a:r>
            <a:endParaRPr lang="es-ES_tradnl" sz="1400" b="1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0" name="Group 161"/>
          <p:cNvGrpSpPr>
            <a:grpSpLocks/>
          </p:cNvGrpSpPr>
          <p:nvPr/>
        </p:nvGrpSpPr>
        <p:grpSpPr bwMode="auto">
          <a:xfrm>
            <a:off x="4808068" y="6198965"/>
            <a:ext cx="447675" cy="468312"/>
            <a:chOff x="1695" y="6990"/>
            <a:chExt cx="420" cy="420"/>
          </a:xfrm>
        </p:grpSpPr>
        <p:sp>
          <p:nvSpPr>
            <p:cNvPr id="21" name="Oval 164"/>
            <p:cNvSpPr>
              <a:spLocks noChangeArrowheads="1"/>
            </p:cNvSpPr>
            <p:nvPr/>
          </p:nvSpPr>
          <p:spPr bwMode="auto">
            <a:xfrm>
              <a:off x="1695" y="6990"/>
              <a:ext cx="420" cy="4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  <p:sp>
          <p:nvSpPr>
            <p:cNvPr id="22" name="Line 163"/>
            <p:cNvSpPr>
              <a:spLocks noChangeShapeType="1"/>
            </p:cNvSpPr>
            <p:nvPr/>
          </p:nvSpPr>
          <p:spPr bwMode="auto">
            <a:xfrm>
              <a:off x="1710" y="7125"/>
              <a:ext cx="3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  <p:sp>
          <p:nvSpPr>
            <p:cNvPr id="23" name="Line 162"/>
            <p:cNvSpPr>
              <a:spLocks noChangeShapeType="1"/>
            </p:cNvSpPr>
            <p:nvPr/>
          </p:nvSpPr>
          <p:spPr bwMode="auto">
            <a:xfrm>
              <a:off x="1905" y="7125"/>
              <a:ext cx="0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</p:grpSp>
      <p:sp>
        <p:nvSpPr>
          <p:cNvPr id="24" name="Text Box 160"/>
          <p:cNvSpPr txBox="1">
            <a:spLocks noChangeArrowheads="1"/>
          </p:cNvSpPr>
          <p:nvPr/>
        </p:nvSpPr>
        <p:spPr bwMode="auto">
          <a:xfrm>
            <a:off x="4782667" y="6344250"/>
            <a:ext cx="519112" cy="331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400" b="1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1</a:t>
            </a:r>
            <a:r>
              <a:rPr lang="es-ES_tradnl" sz="1400" b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1</a:t>
            </a:r>
            <a:endParaRPr lang="es-ES_tradnl" sz="1400" b="1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5" name="Group 156"/>
          <p:cNvGrpSpPr>
            <a:grpSpLocks/>
          </p:cNvGrpSpPr>
          <p:nvPr/>
        </p:nvGrpSpPr>
        <p:grpSpPr bwMode="auto">
          <a:xfrm>
            <a:off x="6201893" y="6248178"/>
            <a:ext cx="447675" cy="468313"/>
            <a:chOff x="1695" y="6990"/>
            <a:chExt cx="420" cy="420"/>
          </a:xfrm>
        </p:grpSpPr>
        <p:sp>
          <p:nvSpPr>
            <p:cNvPr id="26" name="Oval 159"/>
            <p:cNvSpPr>
              <a:spLocks noChangeArrowheads="1"/>
            </p:cNvSpPr>
            <p:nvPr/>
          </p:nvSpPr>
          <p:spPr bwMode="auto">
            <a:xfrm>
              <a:off x="1695" y="6990"/>
              <a:ext cx="420" cy="4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  <p:sp>
          <p:nvSpPr>
            <p:cNvPr id="27" name="Line 158"/>
            <p:cNvSpPr>
              <a:spLocks noChangeShapeType="1"/>
            </p:cNvSpPr>
            <p:nvPr/>
          </p:nvSpPr>
          <p:spPr bwMode="auto">
            <a:xfrm>
              <a:off x="1710" y="7125"/>
              <a:ext cx="3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  <p:sp>
          <p:nvSpPr>
            <p:cNvPr id="28" name="Line 157"/>
            <p:cNvSpPr>
              <a:spLocks noChangeShapeType="1"/>
            </p:cNvSpPr>
            <p:nvPr/>
          </p:nvSpPr>
          <p:spPr bwMode="auto">
            <a:xfrm>
              <a:off x="1905" y="7125"/>
              <a:ext cx="0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</p:grpSp>
      <p:sp>
        <p:nvSpPr>
          <p:cNvPr id="29" name="Text Box 155"/>
          <p:cNvSpPr txBox="1">
            <a:spLocks noChangeArrowheads="1"/>
          </p:cNvSpPr>
          <p:nvPr/>
        </p:nvSpPr>
        <p:spPr bwMode="auto">
          <a:xfrm>
            <a:off x="6185224" y="6405340"/>
            <a:ext cx="563563" cy="34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400" b="1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5</a:t>
            </a:r>
            <a:r>
              <a:rPr lang="es-ES_tradnl" sz="1400" b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5</a:t>
            </a:r>
            <a:endParaRPr lang="es-ES_tradnl" sz="1400" b="1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30" name="Group 151"/>
          <p:cNvGrpSpPr>
            <a:grpSpLocks/>
          </p:cNvGrpSpPr>
          <p:nvPr/>
        </p:nvGrpSpPr>
        <p:grpSpPr bwMode="auto">
          <a:xfrm>
            <a:off x="6927380" y="1306290"/>
            <a:ext cx="447675" cy="468312"/>
            <a:chOff x="1695" y="6990"/>
            <a:chExt cx="420" cy="420"/>
          </a:xfrm>
        </p:grpSpPr>
        <p:sp>
          <p:nvSpPr>
            <p:cNvPr id="31" name="Oval 154"/>
            <p:cNvSpPr>
              <a:spLocks noChangeArrowheads="1"/>
            </p:cNvSpPr>
            <p:nvPr/>
          </p:nvSpPr>
          <p:spPr bwMode="auto">
            <a:xfrm>
              <a:off x="1695" y="6990"/>
              <a:ext cx="420" cy="4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  <p:sp>
          <p:nvSpPr>
            <p:cNvPr id="32" name="Line 153"/>
            <p:cNvSpPr>
              <a:spLocks noChangeShapeType="1"/>
            </p:cNvSpPr>
            <p:nvPr/>
          </p:nvSpPr>
          <p:spPr bwMode="auto">
            <a:xfrm>
              <a:off x="1710" y="7125"/>
              <a:ext cx="3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  <p:sp>
          <p:nvSpPr>
            <p:cNvPr id="33" name="Line 152"/>
            <p:cNvSpPr>
              <a:spLocks noChangeShapeType="1"/>
            </p:cNvSpPr>
            <p:nvPr/>
          </p:nvSpPr>
          <p:spPr bwMode="auto">
            <a:xfrm>
              <a:off x="1905" y="7125"/>
              <a:ext cx="0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</p:grpSp>
      <p:sp>
        <p:nvSpPr>
          <p:cNvPr id="34" name="Text Box 150"/>
          <p:cNvSpPr txBox="1">
            <a:spLocks noChangeArrowheads="1"/>
          </p:cNvSpPr>
          <p:nvPr/>
        </p:nvSpPr>
        <p:spPr bwMode="auto">
          <a:xfrm>
            <a:off x="6843243" y="1404715"/>
            <a:ext cx="687387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400" b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</a:t>
            </a:r>
            <a:r>
              <a:rPr lang="es-ES_tradnl" sz="1400" b="1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7</a:t>
            </a:r>
            <a:r>
              <a:rPr lang="es-ES_tradnl" sz="1400" b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8</a:t>
            </a:r>
            <a:endParaRPr lang="es-ES_tradnl" sz="1400" b="1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35" name="Group 146"/>
          <p:cNvGrpSpPr>
            <a:grpSpLocks/>
          </p:cNvGrpSpPr>
          <p:nvPr/>
        </p:nvGrpSpPr>
        <p:grpSpPr bwMode="auto">
          <a:xfrm>
            <a:off x="5544668" y="1323753"/>
            <a:ext cx="446087" cy="468313"/>
            <a:chOff x="1695" y="6990"/>
            <a:chExt cx="420" cy="420"/>
          </a:xfrm>
        </p:grpSpPr>
        <p:sp>
          <p:nvSpPr>
            <p:cNvPr id="36" name="Oval 149"/>
            <p:cNvSpPr>
              <a:spLocks noChangeArrowheads="1"/>
            </p:cNvSpPr>
            <p:nvPr/>
          </p:nvSpPr>
          <p:spPr bwMode="auto">
            <a:xfrm>
              <a:off x="1695" y="6990"/>
              <a:ext cx="420" cy="4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  <p:sp>
          <p:nvSpPr>
            <p:cNvPr id="37" name="Line 148"/>
            <p:cNvSpPr>
              <a:spLocks noChangeShapeType="1"/>
            </p:cNvSpPr>
            <p:nvPr/>
          </p:nvSpPr>
          <p:spPr bwMode="auto">
            <a:xfrm>
              <a:off x="1710" y="7125"/>
              <a:ext cx="3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  <p:sp>
          <p:nvSpPr>
            <p:cNvPr id="38" name="Line 147"/>
            <p:cNvSpPr>
              <a:spLocks noChangeShapeType="1"/>
            </p:cNvSpPr>
            <p:nvPr/>
          </p:nvSpPr>
          <p:spPr bwMode="auto">
            <a:xfrm>
              <a:off x="1905" y="7125"/>
              <a:ext cx="0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</p:grpSp>
      <p:sp>
        <p:nvSpPr>
          <p:cNvPr id="39" name="Text Box 145"/>
          <p:cNvSpPr txBox="1">
            <a:spLocks noChangeArrowheads="1"/>
          </p:cNvSpPr>
          <p:nvPr/>
        </p:nvSpPr>
        <p:spPr bwMode="auto">
          <a:xfrm>
            <a:off x="5492280" y="1439640"/>
            <a:ext cx="688975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400" b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lang="es-ES_tradnl" sz="1400" b="1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5</a:t>
            </a:r>
            <a:r>
              <a:rPr lang="es-ES_tradnl" sz="1400" b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6</a:t>
            </a:r>
            <a:endParaRPr lang="es-ES_tradnl" sz="1400" b="1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40" name="Group 141"/>
          <p:cNvGrpSpPr>
            <a:grpSpLocks/>
          </p:cNvGrpSpPr>
          <p:nvPr/>
        </p:nvGrpSpPr>
        <p:grpSpPr bwMode="auto">
          <a:xfrm>
            <a:off x="10103968" y="4151090"/>
            <a:ext cx="447675" cy="468312"/>
            <a:chOff x="1695" y="6990"/>
            <a:chExt cx="420" cy="420"/>
          </a:xfrm>
        </p:grpSpPr>
        <p:sp>
          <p:nvSpPr>
            <p:cNvPr id="41" name="Oval 144"/>
            <p:cNvSpPr>
              <a:spLocks noChangeArrowheads="1"/>
            </p:cNvSpPr>
            <p:nvPr/>
          </p:nvSpPr>
          <p:spPr bwMode="auto">
            <a:xfrm>
              <a:off x="1695" y="6990"/>
              <a:ext cx="420" cy="4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  <p:sp>
          <p:nvSpPr>
            <p:cNvPr id="42" name="Line 143"/>
            <p:cNvSpPr>
              <a:spLocks noChangeShapeType="1"/>
            </p:cNvSpPr>
            <p:nvPr/>
          </p:nvSpPr>
          <p:spPr bwMode="auto">
            <a:xfrm>
              <a:off x="1710" y="7125"/>
              <a:ext cx="3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  <p:sp>
          <p:nvSpPr>
            <p:cNvPr id="43" name="Line 142"/>
            <p:cNvSpPr>
              <a:spLocks noChangeShapeType="1"/>
            </p:cNvSpPr>
            <p:nvPr/>
          </p:nvSpPr>
          <p:spPr bwMode="auto">
            <a:xfrm>
              <a:off x="1905" y="7125"/>
              <a:ext cx="0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</p:grpSp>
      <p:sp>
        <p:nvSpPr>
          <p:cNvPr id="44" name="Text Box 140"/>
          <p:cNvSpPr txBox="1">
            <a:spLocks noChangeArrowheads="1"/>
          </p:cNvSpPr>
          <p:nvPr/>
        </p:nvSpPr>
        <p:spPr bwMode="auto">
          <a:xfrm>
            <a:off x="10003955" y="4287615"/>
            <a:ext cx="688975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400" b="1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16 </a:t>
            </a:r>
            <a:r>
              <a:rPr lang="es-ES_tradnl" sz="1400" b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16</a:t>
            </a:r>
            <a:endParaRPr lang="es-ES_tradnl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5" name="Line 139"/>
          <p:cNvSpPr>
            <a:spLocks noChangeShapeType="1"/>
          </p:cNvSpPr>
          <p:nvPr/>
        </p:nvSpPr>
        <p:spPr bwMode="auto">
          <a:xfrm flipV="1">
            <a:off x="3819055" y="2979515"/>
            <a:ext cx="701675" cy="12001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 sz="1400" b="1"/>
          </a:p>
        </p:txBody>
      </p:sp>
      <p:sp>
        <p:nvSpPr>
          <p:cNvPr id="46" name="Line 138"/>
          <p:cNvSpPr>
            <a:spLocks noChangeShapeType="1"/>
          </p:cNvSpPr>
          <p:nvPr/>
        </p:nvSpPr>
        <p:spPr bwMode="auto">
          <a:xfrm>
            <a:off x="5225579" y="6456140"/>
            <a:ext cx="979488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 sz="1400" b="1"/>
          </a:p>
        </p:txBody>
      </p:sp>
      <p:sp>
        <p:nvSpPr>
          <p:cNvPr id="47" name="Line 137"/>
          <p:cNvSpPr>
            <a:spLocks noChangeShapeType="1"/>
          </p:cNvSpPr>
          <p:nvPr/>
        </p:nvSpPr>
        <p:spPr bwMode="auto">
          <a:xfrm>
            <a:off x="3841279" y="4614640"/>
            <a:ext cx="990600" cy="1701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 sz="1400" b="1"/>
          </a:p>
        </p:txBody>
      </p:sp>
      <p:grpSp>
        <p:nvGrpSpPr>
          <p:cNvPr id="48" name="Group 133"/>
          <p:cNvGrpSpPr>
            <a:grpSpLocks/>
          </p:cNvGrpSpPr>
          <p:nvPr/>
        </p:nvGrpSpPr>
        <p:grpSpPr bwMode="auto">
          <a:xfrm>
            <a:off x="8557743" y="6232303"/>
            <a:ext cx="447675" cy="466725"/>
            <a:chOff x="1695" y="6990"/>
            <a:chExt cx="420" cy="420"/>
          </a:xfrm>
        </p:grpSpPr>
        <p:sp>
          <p:nvSpPr>
            <p:cNvPr id="49" name="Oval 136"/>
            <p:cNvSpPr>
              <a:spLocks noChangeArrowheads="1"/>
            </p:cNvSpPr>
            <p:nvPr/>
          </p:nvSpPr>
          <p:spPr bwMode="auto">
            <a:xfrm>
              <a:off x="1695" y="6990"/>
              <a:ext cx="420" cy="4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  <p:sp>
          <p:nvSpPr>
            <p:cNvPr id="50" name="Line 135"/>
            <p:cNvSpPr>
              <a:spLocks noChangeShapeType="1"/>
            </p:cNvSpPr>
            <p:nvPr/>
          </p:nvSpPr>
          <p:spPr bwMode="auto">
            <a:xfrm>
              <a:off x="1710" y="7125"/>
              <a:ext cx="3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  <p:sp>
          <p:nvSpPr>
            <p:cNvPr id="51" name="Line 134"/>
            <p:cNvSpPr>
              <a:spLocks noChangeShapeType="1"/>
            </p:cNvSpPr>
            <p:nvPr/>
          </p:nvSpPr>
          <p:spPr bwMode="auto">
            <a:xfrm>
              <a:off x="1905" y="7125"/>
              <a:ext cx="0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</p:grpSp>
      <p:sp>
        <p:nvSpPr>
          <p:cNvPr id="52" name="Text Box 132"/>
          <p:cNvSpPr txBox="1">
            <a:spLocks noChangeArrowheads="1"/>
          </p:cNvSpPr>
          <p:nvPr/>
        </p:nvSpPr>
        <p:spPr bwMode="auto">
          <a:xfrm>
            <a:off x="8479954" y="6338665"/>
            <a:ext cx="687388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400" b="1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11 </a:t>
            </a:r>
            <a:r>
              <a:rPr lang="es-ES_tradnl" sz="1400" b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11</a:t>
            </a:r>
            <a:endParaRPr lang="es-ES_tradnl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Text Box 131"/>
          <p:cNvSpPr txBox="1">
            <a:spLocks noChangeArrowheads="1"/>
          </p:cNvSpPr>
          <p:nvPr/>
        </p:nvSpPr>
        <p:spPr bwMode="auto">
          <a:xfrm>
            <a:off x="3884142" y="3239865"/>
            <a:ext cx="862012" cy="265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400" b="1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A-2</a:t>
            </a:r>
            <a:endParaRPr lang="es-ES_tradnl" sz="1400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54" name="Text Box 130"/>
          <p:cNvSpPr txBox="1">
            <a:spLocks noChangeArrowheads="1"/>
          </p:cNvSpPr>
          <p:nvPr/>
        </p:nvSpPr>
        <p:spPr bwMode="auto">
          <a:xfrm>
            <a:off x="5079529" y="2077816"/>
            <a:ext cx="668338" cy="280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400" b="1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B-3</a:t>
            </a:r>
            <a:endParaRPr lang="es-ES_tradnl" sz="1400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55" name="Text Box 129"/>
          <p:cNvSpPr txBox="1">
            <a:spLocks noChangeArrowheads="1"/>
          </p:cNvSpPr>
          <p:nvPr/>
        </p:nvSpPr>
        <p:spPr bwMode="auto">
          <a:xfrm>
            <a:off x="4952529" y="2487390"/>
            <a:ext cx="698500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400" b="1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C-4</a:t>
            </a:r>
            <a:endParaRPr lang="es-ES_tradnl" sz="1400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56" name="Text Box 128"/>
          <p:cNvSpPr txBox="1">
            <a:spLocks noChangeArrowheads="1"/>
          </p:cNvSpPr>
          <p:nvPr/>
        </p:nvSpPr>
        <p:spPr bwMode="auto">
          <a:xfrm>
            <a:off x="7041853" y="2908272"/>
            <a:ext cx="5349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400" b="1" dirty="0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D-3</a:t>
            </a:r>
            <a:endParaRPr lang="es-ES_tradnl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7" name="Text Box 127"/>
          <p:cNvSpPr txBox="1">
            <a:spLocks noChangeArrowheads="1"/>
          </p:cNvSpPr>
          <p:nvPr/>
        </p:nvSpPr>
        <p:spPr bwMode="auto">
          <a:xfrm>
            <a:off x="6123030" y="1226915"/>
            <a:ext cx="515144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400" b="1" dirty="0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E-2</a:t>
            </a:r>
            <a:endParaRPr lang="es-ES_tradnl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8" name="Text Box 179"/>
          <p:cNvSpPr txBox="1">
            <a:spLocks noChangeArrowheads="1"/>
          </p:cNvSpPr>
          <p:nvPr/>
        </p:nvSpPr>
        <p:spPr bwMode="auto">
          <a:xfrm>
            <a:off x="7677474" y="1245064"/>
            <a:ext cx="515144" cy="24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400" b="1" dirty="0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F-3</a:t>
            </a:r>
            <a:endParaRPr lang="es-ES_tradnl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 Box 126"/>
          <p:cNvSpPr txBox="1">
            <a:spLocks noChangeArrowheads="1"/>
          </p:cNvSpPr>
          <p:nvPr/>
        </p:nvSpPr>
        <p:spPr bwMode="auto">
          <a:xfrm>
            <a:off x="3826993" y="5322665"/>
            <a:ext cx="935037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400" b="1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G-1</a:t>
            </a:r>
            <a:endParaRPr lang="es-ES_tradnl" sz="1400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 Box 125"/>
          <p:cNvSpPr txBox="1">
            <a:spLocks noChangeArrowheads="1"/>
          </p:cNvSpPr>
          <p:nvPr/>
        </p:nvSpPr>
        <p:spPr bwMode="auto">
          <a:xfrm>
            <a:off x="5533554" y="6499448"/>
            <a:ext cx="4826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400" b="1" dirty="0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H-4</a:t>
            </a:r>
            <a:endParaRPr lang="es-ES_tradnl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 Box 124"/>
          <p:cNvSpPr txBox="1">
            <a:spLocks noChangeArrowheads="1"/>
          </p:cNvSpPr>
          <p:nvPr/>
        </p:nvSpPr>
        <p:spPr bwMode="auto">
          <a:xfrm>
            <a:off x="6843243" y="6494240"/>
            <a:ext cx="4349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400" b="1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I-3</a:t>
            </a:r>
            <a:endParaRPr lang="es-ES_tradnl" sz="1400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62" name="Text Box 123"/>
          <p:cNvSpPr txBox="1">
            <a:spLocks noChangeArrowheads="1"/>
          </p:cNvSpPr>
          <p:nvPr/>
        </p:nvSpPr>
        <p:spPr bwMode="auto">
          <a:xfrm>
            <a:off x="7054380" y="5163915"/>
            <a:ext cx="47625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400" b="1" dirty="0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J-2</a:t>
            </a:r>
            <a:endParaRPr lang="es-ES_tradnl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3" name="Text Box 122"/>
          <p:cNvSpPr txBox="1">
            <a:spLocks noChangeArrowheads="1"/>
          </p:cNvSpPr>
          <p:nvPr/>
        </p:nvSpPr>
        <p:spPr bwMode="auto">
          <a:xfrm>
            <a:off x="7962430" y="6497416"/>
            <a:ext cx="4810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400" b="1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K-3</a:t>
            </a:r>
            <a:endParaRPr lang="es-ES_tradnl" sz="1400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64" name="Text Box 121"/>
          <p:cNvSpPr txBox="1">
            <a:spLocks noChangeArrowheads="1"/>
          </p:cNvSpPr>
          <p:nvPr/>
        </p:nvSpPr>
        <p:spPr bwMode="auto">
          <a:xfrm>
            <a:off x="9051455" y="2595341"/>
            <a:ext cx="474663" cy="31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400" b="1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L-5</a:t>
            </a:r>
            <a:endParaRPr lang="es-ES_tradnl" sz="1400" b="1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65" name="Group 117"/>
          <p:cNvGrpSpPr>
            <a:grpSpLocks/>
          </p:cNvGrpSpPr>
          <p:nvPr/>
        </p:nvGrpSpPr>
        <p:grpSpPr bwMode="auto">
          <a:xfrm>
            <a:off x="7384580" y="6235478"/>
            <a:ext cx="447675" cy="468313"/>
            <a:chOff x="1695" y="6990"/>
            <a:chExt cx="420" cy="420"/>
          </a:xfrm>
        </p:grpSpPr>
        <p:sp>
          <p:nvSpPr>
            <p:cNvPr id="66" name="Oval 120"/>
            <p:cNvSpPr>
              <a:spLocks noChangeArrowheads="1"/>
            </p:cNvSpPr>
            <p:nvPr/>
          </p:nvSpPr>
          <p:spPr bwMode="auto">
            <a:xfrm>
              <a:off x="1695" y="6990"/>
              <a:ext cx="420" cy="4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  <p:sp>
          <p:nvSpPr>
            <p:cNvPr id="67" name="Line 119"/>
            <p:cNvSpPr>
              <a:spLocks noChangeShapeType="1"/>
            </p:cNvSpPr>
            <p:nvPr/>
          </p:nvSpPr>
          <p:spPr bwMode="auto">
            <a:xfrm>
              <a:off x="1710" y="7125"/>
              <a:ext cx="3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  <p:sp>
          <p:nvSpPr>
            <p:cNvPr id="68" name="Line 118"/>
            <p:cNvSpPr>
              <a:spLocks noChangeShapeType="1"/>
            </p:cNvSpPr>
            <p:nvPr/>
          </p:nvSpPr>
          <p:spPr bwMode="auto">
            <a:xfrm>
              <a:off x="1905" y="7125"/>
              <a:ext cx="0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</p:grpSp>
      <p:sp>
        <p:nvSpPr>
          <p:cNvPr id="69" name="Text Box 116"/>
          <p:cNvSpPr txBox="1">
            <a:spLocks noChangeArrowheads="1"/>
          </p:cNvSpPr>
          <p:nvPr/>
        </p:nvSpPr>
        <p:spPr bwMode="auto">
          <a:xfrm>
            <a:off x="7398983" y="6400949"/>
            <a:ext cx="587375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400" b="1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8 </a:t>
            </a:r>
            <a:r>
              <a:rPr lang="es-ES_tradnl" sz="1400" b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 8</a:t>
            </a:r>
            <a:endParaRPr lang="es-ES_tradnl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0" name="Line 115"/>
          <p:cNvSpPr>
            <a:spLocks noChangeShapeType="1"/>
          </p:cNvSpPr>
          <p:nvPr/>
        </p:nvSpPr>
        <p:spPr bwMode="auto">
          <a:xfrm>
            <a:off x="6671792" y="6454552"/>
            <a:ext cx="6985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 sz="1400" b="1"/>
          </a:p>
        </p:txBody>
      </p:sp>
      <p:grpSp>
        <p:nvGrpSpPr>
          <p:cNvPr id="71" name="Group 111"/>
          <p:cNvGrpSpPr>
            <a:grpSpLocks/>
          </p:cNvGrpSpPr>
          <p:nvPr/>
        </p:nvGrpSpPr>
        <p:grpSpPr bwMode="auto">
          <a:xfrm>
            <a:off x="7395693" y="4489228"/>
            <a:ext cx="447675" cy="468313"/>
            <a:chOff x="1695" y="6990"/>
            <a:chExt cx="420" cy="420"/>
          </a:xfrm>
        </p:grpSpPr>
        <p:sp>
          <p:nvSpPr>
            <p:cNvPr id="72" name="Oval 114"/>
            <p:cNvSpPr>
              <a:spLocks noChangeArrowheads="1"/>
            </p:cNvSpPr>
            <p:nvPr/>
          </p:nvSpPr>
          <p:spPr bwMode="auto">
            <a:xfrm>
              <a:off x="1695" y="6990"/>
              <a:ext cx="420" cy="4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  <p:sp>
          <p:nvSpPr>
            <p:cNvPr id="73" name="Line 113"/>
            <p:cNvSpPr>
              <a:spLocks noChangeShapeType="1"/>
            </p:cNvSpPr>
            <p:nvPr/>
          </p:nvSpPr>
          <p:spPr bwMode="auto">
            <a:xfrm>
              <a:off x="1710" y="7125"/>
              <a:ext cx="3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  <p:sp>
          <p:nvSpPr>
            <p:cNvPr id="74" name="Line 112"/>
            <p:cNvSpPr>
              <a:spLocks noChangeShapeType="1"/>
            </p:cNvSpPr>
            <p:nvPr/>
          </p:nvSpPr>
          <p:spPr bwMode="auto">
            <a:xfrm>
              <a:off x="1905" y="7125"/>
              <a:ext cx="0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</p:grpSp>
      <p:sp>
        <p:nvSpPr>
          <p:cNvPr id="75" name="Text Box 110"/>
          <p:cNvSpPr txBox="1">
            <a:spLocks noChangeArrowheads="1"/>
          </p:cNvSpPr>
          <p:nvPr/>
        </p:nvSpPr>
        <p:spPr bwMode="auto">
          <a:xfrm>
            <a:off x="7317904" y="4595590"/>
            <a:ext cx="687388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400" b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</a:t>
            </a:r>
            <a:r>
              <a:rPr lang="es-ES_tradnl" sz="1400" b="1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7 </a:t>
            </a:r>
            <a:r>
              <a:rPr lang="es-ES_tradnl" sz="1400" b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 8</a:t>
            </a:r>
            <a:endParaRPr lang="es-ES_tradnl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6" name="Line 109"/>
          <p:cNvSpPr>
            <a:spLocks noChangeShapeType="1"/>
          </p:cNvSpPr>
          <p:nvPr/>
        </p:nvSpPr>
        <p:spPr bwMode="auto">
          <a:xfrm flipV="1">
            <a:off x="6519393" y="4725766"/>
            <a:ext cx="879475" cy="15192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 sz="1400" b="1"/>
          </a:p>
        </p:txBody>
      </p:sp>
      <p:sp>
        <p:nvSpPr>
          <p:cNvPr id="77" name="Line 108"/>
          <p:cNvSpPr>
            <a:spLocks noChangeShapeType="1"/>
          </p:cNvSpPr>
          <p:nvPr/>
        </p:nvSpPr>
        <p:spPr bwMode="auto">
          <a:xfrm flipV="1">
            <a:off x="4725517" y="1722215"/>
            <a:ext cx="850900" cy="838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 sz="1400" b="1"/>
          </a:p>
        </p:txBody>
      </p:sp>
      <p:sp>
        <p:nvSpPr>
          <p:cNvPr id="78" name="Line 107"/>
          <p:cNvSpPr>
            <a:spLocks noChangeShapeType="1"/>
          </p:cNvSpPr>
          <p:nvPr/>
        </p:nvSpPr>
        <p:spPr bwMode="auto">
          <a:xfrm>
            <a:off x="5984405" y="1544415"/>
            <a:ext cx="939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 sz="1400" b="1"/>
          </a:p>
        </p:txBody>
      </p:sp>
      <p:grpSp>
        <p:nvGrpSpPr>
          <p:cNvPr id="79" name="Group 103"/>
          <p:cNvGrpSpPr>
            <a:grpSpLocks/>
          </p:cNvGrpSpPr>
          <p:nvPr/>
        </p:nvGrpSpPr>
        <p:grpSpPr bwMode="auto">
          <a:xfrm>
            <a:off x="8527580" y="1306290"/>
            <a:ext cx="447675" cy="468312"/>
            <a:chOff x="1695" y="6990"/>
            <a:chExt cx="420" cy="420"/>
          </a:xfrm>
        </p:grpSpPr>
        <p:sp>
          <p:nvSpPr>
            <p:cNvPr id="80" name="Oval 106"/>
            <p:cNvSpPr>
              <a:spLocks noChangeArrowheads="1"/>
            </p:cNvSpPr>
            <p:nvPr/>
          </p:nvSpPr>
          <p:spPr bwMode="auto">
            <a:xfrm>
              <a:off x="1695" y="6990"/>
              <a:ext cx="420" cy="4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  <p:sp>
          <p:nvSpPr>
            <p:cNvPr id="81" name="Line 105"/>
            <p:cNvSpPr>
              <a:spLocks noChangeShapeType="1"/>
            </p:cNvSpPr>
            <p:nvPr/>
          </p:nvSpPr>
          <p:spPr bwMode="auto">
            <a:xfrm>
              <a:off x="1710" y="7125"/>
              <a:ext cx="3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  <p:sp>
          <p:nvSpPr>
            <p:cNvPr id="82" name="Line 104"/>
            <p:cNvSpPr>
              <a:spLocks noChangeShapeType="1"/>
            </p:cNvSpPr>
            <p:nvPr/>
          </p:nvSpPr>
          <p:spPr bwMode="auto">
            <a:xfrm>
              <a:off x="1905" y="7125"/>
              <a:ext cx="0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</p:grpSp>
      <p:sp>
        <p:nvSpPr>
          <p:cNvPr id="83" name="Text Box 102"/>
          <p:cNvSpPr txBox="1">
            <a:spLocks noChangeArrowheads="1"/>
          </p:cNvSpPr>
          <p:nvPr/>
        </p:nvSpPr>
        <p:spPr bwMode="auto">
          <a:xfrm>
            <a:off x="8443443" y="1404715"/>
            <a:ext cx="687387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400" b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lang="es-ES_tradnl" sz="1400" b="1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11</a:t>
            </a:r>
            <a:r>
              <a:rPr lang="es-ES_tradnl" sz="1400" b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11</a:t>
            </a:r>
            <a:endParaRPr lang="es-ES_tradnl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4" name="Line 101"/>
          <p:cNvSpPr>
            <a:spLocks noChangeShapeType="1"/>
          </p:cNvSpPr>
          <p:nvPr/>
        </p:nvSpPr>
        <p:spPr bwMode="auto">
          <a:xfrm>
            <a:off x="7379817" y="1544415"/>
            <a:ext cx="1143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 sz="1400" b="1"/>
          </a:p>
        </p:txBody>
      </p:sp>
      <p:sp>
        <p:nvSpPr>
          <p:cNvPr id="85" name="Line 100"/>
          <p:cNvSpPr>
            <a:spLocks noChangeShapeType="1"/>
          </p:cNvSpPr>
          <p:nvPr/>
        </p:nvSpPr>
        <p:spPr bwMode="auto">
          <a:xfrm>
            <a:off x="4814417" y="2738215"/>
            <a:ext cx="711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 sz="1400" b="1"/>
          </a:p>
        </p:txBody>
      </p:sp>
      <p:sp>
        <p:nvSpPr>
          <p:cNvPr id="86" name="Line 99"/>
          <p:cNvSpPr>
            <a:spLocks noChangeShapeType="1"/>
          </p:cNvSpPr>
          <p:nvPr/>
        </p:nvSpPr>
        <p:spPr bwMode="auto">
          <a:xfrm>
            <a:off x="5995517" y="2814415"/>
            <a:ext cx="4102100" cy="14859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 sz="1400" b="1"/>
          </a:p>
        </p:txBody>
      </p:sp>
      <p:sp>
        <p:nvSpPr>
          <p:cNvPr id="87" name="Line 98"/>
          <p:cNvSpPr>
            <a:spLocks noChangeShapeType="1"/>
          </p:cNvSpPr>
          <p:nvPr/>
        </p:nvSpPr>
        <p:spPr bwMode="auto">
          <a:xfrm>
            <a:off x="8891117" y="1722215"/>
            <a:ext cx="1384300" cy="240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 sz="1400" b="1"/>
          </a:p>
        </p:txBody>
      </p:sp>
      <p:sp>
        <p:nvSpPr>
          <p:cNvPr id="88" name="Line 97"/>
          <p:cNvSpPr>
            <a:spLocks noChangeShapeType="1"/>
          </p:cNvSpPr>
          <p:nvPr/>
        </p:nvSpPr>
        <p:spPr bwMode="auto">
          <a:xfrm>
            <a:off x="5754217" y="1785715"/>
            <a:ext cx="0" cy="73660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 sz="1400" b="1"/>
          </a:p>
        </p:txBody>
      </p:sp>
      <p:sp>
        <p:nvSpPr>
          <p:cNvPr id="89" name="Line 96"/>
          <p:cNvSpPr>
            <a:spLocks noChangeShapeType="1"/>
          </p:cNvSpPr>
          <p:nvPr/>
        </p:nvSpPr>
        <p:spPr bwMode="auto">
          <a:xfrm>
            <a:off x="7608417" y="4973415"/>
            <a:ext cx="12700" cy="125730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 sz="1400" b="1"/>
          </a:p>
        </p:txBody>
      </p:sp>
      <p:sp>
        <p:nvSpPr>
          <p:cNvPr id="90" name="Line 95"/>
          <p:cNvSpPr>
            <a:spLocks noChangeShapeType="1"/>
          </p:cNvSpPr>
          <p:nvPr/>
        </p:nvSpPr>
        <p:spPr bwMode="auto">
          <a:xfrm>
            <a:off x="7824317" y="6459315"/>
            <a:ext cx="7366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 sz="1400" b="1"/>
          </a:p>
        </p:txBody>
      </p:sp>
      <p:grpSp>
        <p:nvGrpSpPr>
          <p:cNvPr id="91" name="Group 91"/>
          <p:cNvGrpSpPr>
            <a:grpSpLocks/>
          </p:cNvGrpSpPr>
          <p:nvPr/>
        </p:nvGrpSpPr>
        <p:grpSpPr bwMode="auto">
          <a:xfrm>
            <a:off x="9395943" y="5203603"/>
            <a:ext cx="447675" cy="466725"/>
            <a:chOff x="1695" y="6990"/>
            <a:chExt cx="420" cy="420"/>
          </a:xfrm>
        </p:grpSpPr>
        <p:sp>
          <p:nvSpPr>
            <p:cNvPr id="92" name="Oval 94"/>
            <p:cNvSpPr>
              <a:spLocks noChangeArrowheads="1"/>
            </p:cNvSpPr>
            <p:nvPr/>
          </p:nvSpPr>
          <p:spPr bwMode="auto">
            <a:xfrm>
              <a:off x="1695" y="6990"/>
              <a:ext cx="420" cy="4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  <p:sp>
          <p:nvSpPr>
            <p:cNvPr id="93" name="Line 93"/>
            <p:cNvSpPr>
              <a:spLocks noChangeShapeType="1"/>
            </p:cNvSpPr>
            <p:nvPr/>
          </p:nvSpPr>
          <p:spPr bwMode="auto">
            <a:xfrm>
              <a:off x="1710" y="7125"/>
              <a:ext cx="3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  <p:sp>
          <p:nvSpPr>
            <p:cNvPr id="94" name="Line 92"/>
            <p:cNvSpPr>
              <a:spLocks noChangeShapeType="1"/>
            </p:cNvSpPr>
            <p:nvPr/>
          </p:nvSpPr>
          <p:spPr bwMode="auto">
            <a:xfrm>
              <a:off x="1905" y="7125"/>
              <a:ext cx="0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</p:grpSp>
      <p:sp>
        <p:nvSpPr>
          <p:cNvPr id="95" name="Text Box 90"/>
          <p:cNvSpPr txBox="1">
            <a:spLocks noChangeArrowheads="1"/>
          </p:cNvSpPr>
          <p:nvPr/>
        </p:nvSpPr>
        <p:spPr bwMode="auto">
          <a:xfrm>
            <a:off x="9318154" y="5309965"/>
            <a:ext cx="687388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400" b="1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14 </a:t>
            </a:r>
            <a:r>
              <a:rPr lang="es-ES_tradnl" sz="1400" b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14</a:t>
            </a:r>
            <a:endParaRPr lang="es-ES_tradnl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6" name="Line 89"/>
          <p:cNvSpPr>
            <a:spLocks noChangeShapeType="1"/>
          </p:cNvSpPr>
          <p:nvPr/>
        </p:nvSpPr>
        <p:spPr bwMode="auto">
          <a:xfrm flipV="1">
            <a:off x="8954617" y="5621115"/>
            <a:ext cx="508000" cy="6731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 sz="1400" b="1"/>
          </a:p>
        </p:txBody>
      </p:sp>
      <p:sp>
        <p:nvSpPr>
          <p:cNvPr id="97" name="Line 88"/>
          <p:cNvSpPr>
            <a:spLocks noChangeShapeType="1"/>
          </p:cNvSpPr>
          <p:nvPr/>
        </p:nvSpPr>
        <p:spPr bwMode="auto">
          <a:xfrm flipV="1">
            <a:off x="9742017" y="4592415"/>
            <a:ext cx="457200" cy="6477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 sz="1400" b="1"/>
          </a:p>
        </p:txBody>
      </p:sp>
      <p:sp>
        <p:nvSpPr>
          <p:cNvPr id="98" name="Text Box 87"/>
          <p:cNvSpPr txBox="1">
            <a:spLocks noChangeArrowheads="1"/>
          </p:cNvSpPr>
          <p:nvPr/>
        </p:nvSpPr>
        <p:spPr bwMode="auto">
          <a:xfrm>
            <a:off x="9183216" y="5925915"/>
            <a:ext cx="546907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400" b="1" dirty="0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M-3</a:t>
            </a:r>
            <a:endParaRPr lang="es-ES_tradnl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9" name="Line 86"/>
          <p:cNvSpPr>
            <a:spLocks noChangeShapeType="1"/>
          </p:cNvSpPr>
          <p:nvPr/>
        </p:nvSpPr>
        <p:spPr bwMode="auto">
          <a:xfrm flipV="1">
            <a:off x="8764117" y="1760315"/>
            <a:ext cx="12700" cy="445770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 sz="1400" b="1"/>
          </a:p>
        </p:txBody>
      </p:sp>
      <p:sp>
        <p:nvSpPr>
          <p:cNvPr id="184" name="Text Box 1"/>
          <p:cNvSpPr txBox="1">
            <a:spLocks noChangeArrowheads="1"/>
          </p:cNvSpPr>
          <p:nvPr/>
        </p:nvSpPr>
        <p:spPr bwMode="auto">
          <a:xfrm>
            <a:off x="3431704" y="4243166"/>
            <a:ext cx="687388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400" b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</a:t>
            </a:r>
            <a:r>
              <a:rPr lang="es-ES_tradnl" sz="1400" b="1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0 </a:t>
            </a:r>
            <a:r>
              <a:rPr lang="es-ES_tradnl" sz="1400" b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 0</a:t>
            </a:r>
            <a:endParaRPr lang="es-ES_tradnl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5" name="Rectangle 180"/>
          <p:cNvSpPr>
            <a:spLocks noChangeArrowheads="1"/>
          </p:cNvSpPr>
          <p:nvPr/>
        </p:nvSpPr>
        <p:spPr bwMode="auto">
          <a:xfrm>
            <a:off x="2335214" y="1605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s-PE">
              <a:latin typeface="Arial" pitchFamily="34" charset="0"/>
              <a:cs typeface="Arial" pitchFamily="34" charset="0"/>
            </a:endParaRPr>
          </a:p>
        </p:txBody>
      </p:sp>
      <p:sp>
        <p:nvSpPr>
          <p:cNvPr id="186" name="Rectangle 220"/>
          <p:cNvSpPr>
            <a:spLocks noChangeArrowheads="1"/>
          </p:cNvSpPr>
          <p:nvPr/>
        </p:nvSpPr>
        <p:spPr bwMode="auto">
          <a:xfrm>
            <a:off x="3413126" y="4013300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s-PE" sz="1400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187" name="Text Box 87"/>
          <p:cNvSpPr txBox="1">
            <a:spLocks noChangeArrowheads="1"/>
          </p:cNvSpPr>
          <p:nvPr/>
        </p:nvSpPr>
        <p:spPr bwMode="auto">
          <a:xfrm>
            <a:off x="9938241" y="4985913"/>
            <a:ext cx="470525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400" b="1" dirty="0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N-2</a:t>
            </a:r>
            <a:endParaRPr lang="es-ES_tradnl" sz="1400" b="1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89" name="Conector recto de flecha 188">
            <a:extLst>
              <a:ext uri="{FF2B5EF4-FFF2-40B4-BE49-F238E27FC236}">
                <a16:creationId xmlns:a16="http://schemas.microsoft.com/office/drawing/2014/main" id="{FEA18F2D-C804-2B1B-660B-BF88846E1583}"/>
              </a:ext>
            </a:extLst>
          </p:cNvPr>
          <p:cNvCxnSpPr/>
          <p:nvPr/>
        </p:nvCxnSpPr>
        <p:spPr>
          <a:xfrm>
            <a:off x="11099800" y="6056090"/>
            <a:ext cx="889000" cy="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CuadroTexto 189">
            <a:extLst>
              <a:ext uri="{FF2B5EF4-FFF2-40B4-BE49-F238E27FC236}">
                <a16:creationId xmlns:a16="http://schemas.microsoft.com/office/drawing/2014/main" id="{FAC33A8C-8255-1305-4D33-7917333632B5}"/>
              </a:ext>
            </a:extLst>
          </p:cNvPr>
          <p:cNvSpPr txBox="1"/>
          <p:nvPr/>
        </p:nvSpPr>
        <p:spPr>
          <a:xfrm>
            <a:off x="11099800" y="5670327"/>
            <a:ext cx="88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MAYOR</a:t>
            </a:r>
            <a:endParaRPr lang="es-PE" dirty="0"/>
          </a:p>
        </p:txBody>
      </p:sp>
      <p:cxnSp>
        <p:nvCxnSpPr>
          <p:cNvPr id="192" name="Conector recto de flecha 191">
            <a:extLst>
              <a:ext uri="{FF2B5EF4-FFF2-40B4-BE49-F238E27FC236}">
                <a16:creationId xmlns:a16="http://schemas.microsoft.com/office/drawing/2014/main" id="{9100A1A6-7A34-24F3-EA47-55499D1032DE}"/>
              </a:ext>
            </a:extLst>
          </p:cNvPr>
          <p:cNvCxnSpPr/>
          <p:nvPr/>
        </p:nvCxnSpPr>
        <p:spPr>
          <a:xfrm flipH="1">
            <a:off x="11099800" y="6746510"/>
            <a:ext cx="889000" cy="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CuadroTexto 192">
            <a:extLst>
              <a:ext uri="{FF2B5EF4-FFF2-40B4-BE49-F238E27FC236}">
                <a16:creationId xmlns:a16="http://schemas.microsoft.com/office/drawing/2014/main" id="{A54D79A7-F4AA-7128-29F8-0A9594802796}"/>
              </a:ext>
            </a:extLst>
          </p:cNvPr>
          <p:cNvSpPr txBox="1"/>
          <p:nvPr/>
        </p:nvSpPr>
        <p:spPr>
          <a:xfrm>
            <a:off x="11018366" y="6266196"/>
            <a:ext cx="1062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MENOR</a:t>
            </a:r>
            <a:endParaRPr lang="es-PE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F288BC2-9961-7065-333B-AE75CC994653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6096000" y="109243"/>
            <a:ext cx="6096000" cy="858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2pPr>
            <a:lvl3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3pPr>
            <a:lvl4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4pPr>
            <a:lvl5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5pPr>
            <a:lvl6pPr marL="4572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6pPr>
            <a:lvl7pPr marL="9144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7pPr>
            <a:lvl8pPr marL="13716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8pPr>
            <a:lvl9pPr marL="18288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/>
            <a:r>
              <a:rPr lang="es-ES_tradnl" sz="3200" b="0" i="0" dirty="0">
                <a:solidFill>
                  <a:schemeClr val="bg1"/>
                </a:solidFill>
                <a:latin typeface="Bauhaus 93" pitchFamily="82" charset="0"/>
                <a:ea typeface="+mn-ea"/>
                <a:cs typeface="+mn-cs"/>
              </a:rPr>
              <a:t>Problema 1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7681D14-2515-5723-C511-BF2CD167839C}"/>
              </a:ext>
            </a:extLst>
          </p:cNvPr>
          <p:cNvSpPr txBox="1"/>
          <p:nvPr/>
        </p:nvSpPr>
        <p:spPr>
          <a:xfrm>
            <a:off x="1175883" y="-29620"/>
            <a:ext cx="451164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>
                <a:solidFill>
                  <a:srgbClr val="FF0000"/>
                </a:solidFill>
              </a:rPr>
              <a:t>Hallar la duración, la ruta critica, TIP, </a:t>
            </a:r>
            <a:r>
              <a:rPr lang="es-ES" sz="2800" dirty="0" err="1">
                <a:solidFill>
                  <a:srgbClr val="FF0000"/>
                </a:solidFill>
              </a:rPr>
              <a:t>TIL</a:t>
            </a:r>
            <a:r>
              <a:rPr lang="es-ES" sz="2800" dirty="0">
                <a:solidFill>
                  <a:srgbClr val="FF0000"/>
                </a:solidFill>
              </a:rPr>
              <a:t>, </a:t>
            </a:r>
            <a:r>
              <a:rPr lang="es-ES" sz="2800" dirty="0" err="1">
                <a:solidFill>
                  <a:srgbClr val="FF0000"/>
                </a:solidFill>
              </a:rPr>
              <a:t>TTP</a:t>
            </a:r>
            <a:r>
              <a:rPr lang="es-ES" sz="2800" dirty="0">
                <a:solidFill>
                  <a:srgbClr val="FF0000"/>
                </a:solidFill>
              </a:rPr>
              <a:t> y </a:t>
            </a:r>
            <a:r>
              <a:rPr lang="es-ES" sz="2800" dirty="0" err="1">
                <a:solidFill>
                  <a:srgbClr val="FF0000"/>
                </a:solidFill>
              </a:rPr>
              <a:t>TTL</a:t>
            </a:r>
            <a:endParaRPr lang="es-PE" sz="2800" dirty="0">
              <a:solidFill>
                <a:srgbClr val="FF0000"/>
              </a:solidFill>
            </a:endParaRPr>
          </a:p>
        </p:txBody>
      </p:sp>
      <p:sp>
        <p:nvSpPr>
          <p:cNvPr id="100" name="CuadroTexto 99">
            <a:extLst>
              <a:ext uri="{FF2B5EF4-FFF2-40B4-BE49-F238E27FC236}">
                <a16:creationId xmlns:a16="http://schemas.microsoft.com/office/drawing/2014/main" id="{CA803FF6-1592-EF83-E229-6924A476C3C3}"/>
              </a:ext>
            </a:extLst>
          </p:cNvPr>
          <p:cNvSpPr txBox="1"/>
          <p:nvPr/>
        </p:nvSpPr>
        <p:spPr>
          <a:xfrm>
            <a:off x="10584611" y="2560415"/>
            <a:ext cx="149597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FF0000"/>
                </a:solidFill>
              </a:rPr>
              <a:t>RUTAS:</a:t>
            </a:r>
          </a:p>
          <a:p>
            <a:r>
              <a:rPr lang="es-ES" b="1" dirty="0">
                <a:solidFill>
                  <a:srgbClr val="FF0000"/>
                </a:solidFill>
              </a:rPr>
              <a:t>ABEFL</a:t>
            </a:r>
            <a:r>
              <a:rPr lang="es-ES" b="1" dirty="0">
                <a:solidFill>
                  <a:srgbClr val="FF0000"/>
                </a:solidFill>
                <a:sym typeface="Wingdings" panose="05000000000000000000" pitchFamily="2" charset="2"/>
              </a:rPr>
              <a:t>15</a:t>
            </a:r>
          </a:p>
          <a:p>
            <a:r>
              <a:rPr lang="es-ES" b="1" dirty="0">
                <a:solidFill>
                  <a:srgbClr val="FF0000"/>
                </a:solidFill>
                <a:sym typeface="Wingdings" panose="05000000000000000000" pitchFamily="2" charset="2"/>
              </a:rPr>
              <a:t>ABD8</a:t>
            </a:r>
          </a:p>
          <a:p>
            <a:r>
              <a:rPr lang="es-ES" b="1" dirty="0">
                <a:solidFill>
                  <a:srgbClr val="FF0000"/>
                </a:solidFill>
                <a:sym typeface="Wingdings" panose="05000000000000000000" pitchFamily="2" charset="2"/>
              </a:rPr>
              <a:t>ACD9</a:t>
            </a:r>
          </a:p>
          <a:p>
            <a:r>
              <a:rPr lang="es-ES" b="1" dirty="0">
                <a:solidFill>
                  <a:srgbClr val="FF0000"/>
                </a:solidFill>
                <a:sym typeface="Wingdings" panose="05000000000000000000" pitchFamily="2" charset="2"/>
              </a:rPr>
              <a:t>GHJKL15</a:t>
            </a:r>
          </a:p>
          <a:p>
            <a:r>
              <a:rPr lang="es-ES" b="1" dirty="0">
                <a:solidFill>
                  <a:srgbClr val="7030A0"/>
                </a:solidFill>
                <a:sym typeface="Wingdings" panose="05000000000000000000" pitchFamily="2" charset="2"/>
              </a:rPr>
              <a:t>GHIKL16</a:t>
            </a:r>
          </a:p>
          <a:p>
            <a:r>
              <a:rPr lang="es-ES" b="1" dirty="0">
                <a:solidFill>
                  <a:srgbClr val="FF0000"/>
                </a:solidFill>
                <a:sym typeface="Wingdings" panose="05000000000000000000" pitchFamily="2" charset="2"/>
              </a:rPr>
              <a:t>GHJKMN15</a:t>
            </a:r>
          </a:p>
          <a:p>
            <a:r>
              <a:rPr lang="es-ES" b="1" dirty="0">
                <a:solidFill>
                  <a:srgbClr val="7030A0"/>
                </a:solidFill>
                <a:sym typeface="Wingdings" panose="05000000000000000000" pitchFamily="2" charset="2"/>
              </a:rPr>
              <a:t>GHIKMN16</a:t>
            </a:r>
          </a:p>
          <a:p>
            <a:endParaRPr lang="es-PE" b="1" dirty="0">
              <a:solidFill>
                <a:srgbClr val="FF0000"/>
              </a:solidFill>
            </a:endParaRPr>
          </a:p>
          <a:p>
            <a:endParaRPr lang="es-PE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1287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9" grpId="0"/>
      <p:bldP spid="24" grpId="0"/>
      <p:bldP spid="29" grpId="0"/>
      <p:bldP spid="34" grpId="0"/>
      <p:bldP spid="39" grpId="0"/>
      <p:bldP spid="44" grpId="0"/>
      <p:bldP spid="52" grpId="0"/>
      <p:bldP spid="69" grpId="0"/>
      <p:bldP spid="75" grpId="0"/>
      <p:bldP spid="83" grpId="0"/>
      <p:bldP spid="95" grpId="0"/>
      <p:bldP spid="184" grpId="0"/>
      <p:bldP spid="193" grpId="0"/>
      <p:bldP spid="10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68077" y="1260110"/>
          <a:ext cx="2863738" cy="5486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757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14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65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21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effectLst/>
                        </a:rPr>
                        <a:t>Tarea</a:t>
                      </a:r>
                      <a:endParaRPr lang="es-PE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T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effectLst/>
                        </a:rPr>
                        <a:t>Prece</a:t>
                      </a:r>
                      <a:r>
                        <a:rPr lang="en-US" sz="2400" dirty="0">
                          <a:effectLst/>
                        </a:rPr>
                        <a:t>.</a:t>
                      </a:r>
                      <a:endParaRPr lang="es-PE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21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A</a:t>
                      </a:r>
                      <a:endParaRPr lang="es-PE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2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-</a:t>
                      </a:r>
                      <a:endParaRPr lang="es-PE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21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B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3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A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21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C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2400">
                          <a:effectLst/>
                        </a:rPr>
                        <a:t>4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2400">
                          <a:effectLst/>
                        </a:rPr>
                        <a:t>A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21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2400">
                          <a:effectLst/>
                        </a:rPr>
                        <a:t>D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2400">
                          <a:effectLst/>
                        </a:rPr>
                        <a:t>3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2400">
                          <a:effectLst/>
                        </a:rPr>
                        <a:t>B,C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21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2400">
                          <a:effectLst/>
                        </a:rPr>
                        <a:t>E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2400">
                          <a:effectLst/>
                        </a:rPr>
                        <a:t>2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2400">
                          <a:effectLst/>
                        </a:rPr>
                        <a:t>B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21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2400">
                          <a:effectLst/>
                        </a:rPr>
                        <a:t>F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2400">
                          <a:effectLst/>
                        </a:rPr>
                        <a:t>3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2400">
                          <a:effectLst/>
                        </a:rPr>
                        <a:t>E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21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G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-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21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H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4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G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721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I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3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H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721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J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2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H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721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K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3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I,J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721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L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5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F,K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721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M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3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K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721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N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2400">
                          <a:effectLst/>
                        </a:rPr>
                        <a:t>2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2400" dirty="0">
                          <a:effectLst/>
                        </a:rPr>
                        <a:t>M</a:t>
                      </a:r>
                      <a:endParaRPr lang="es-PE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6" name="Group 175"/>
          <p:cNvGrpSpPr>
            <a:grpSpLocks/>
          </p:cNvGrpSpPr>
          <p:nvPr/>
        </p:nvGrpSpPr>
        <p:grpSpPr bwMode="auto">
          <a:xfrm>
            <a:off x="3538068" y="4133628"/>
            <a:ext cx="447675" cy="468313"/>
            <a:chOff x="1695" y="6990"/>
            <a:chExt cx="420" cy="420"/>
          </a:xfrm>
        </p:grpSpPr>
        <p:sp>
          <p:nvSpPr>
            <p:cNvPr id="7" name="Oval 178"/>
            <p:cNvSpPr>
              <a:spLocks noChangeArrowheads="1"/>
            </p:cNvSpPr>
            <p:nvPr/>
          </p:nvSpPr>
          <p:spPr bwMode="auto">
            <a:xfrm>
              <a:off x="1695" y="6990"/>
              <a:ext cx="420" cy="4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8" name="Line 177"/>
            <p:cNvSpPr>
              <a:spLocks noChangeShapeType="1"/>
            </p:cNvSpPr>
            <p:nvPr/>
          </p:nvSpPr>
          <p:spPr bwMode="auto">
            <a:xfrm>
              <a:off x="1710" y="7125"/>
              <a:ext cx="3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9" name="Line 176"/>
            <p:cNvSpPr>
              <a:spLocks noChangeShapeType="1"/>
            </p:cNvSpPr>
            <p:nvPr/>
          </p:nvSpPr>
          <p:spPr bwMode="auto">
            <a:xfrm>
              <a:off x="1905" y="7125"/>
              <a:ext cx="0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grpSp>
        <p:nvGrpSpPr>
          <p:cNvPr id="10" name="Group 171"/>
          <p:cNvGrpSpPr>
            <a:grpSpLocks/>
          </p:cNvGrpSpPr>
          <p:nvPr/>
        </p:nvGrpSpPr>
        <p:grpSpPr bwMode="auto">
          <a:xfrm>
            <a:off x="4376268" y="2523903"/>
            <a:ext cx="447675" cy="468313"/>
            <a:chOff x="1695" y="6990"/>
            <a:chExt cx="420" cy="420"/>
          </a:xfrm>
        </p:grpSpPr>
        <p:sp>
          <p:nvSpPr>
            <p:cNvPr id="11" name="Oval 174"/>
            <p:cNvSpPr>
              <a:spLocks noChangeArrowheads="1"/>
            </p:cNvSpPr>
            <p:nvPr/>
          </p:nvSpPr>
          <p:spPr bwMode="auto">
            <a:xfrm>
              <a:off x="1695" y="6990"/>
              <a:ext cx="420" cy="4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2" name="Line 173"/>
            <p:cNvSpPr>
              <a:spLocks noChangeShapeType="1"/>
            </p:cNvSpPr>
            <p:nvPr/>
          </p:nvSpPr>
          <p:spPr bwMode="auto">
            <a:xfrm>
              <a:off x="1710" y="7125"/>
              <a:ext cx="3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3" name="Line 172"/>
            <p:cNvSpPr>
              <a:spLocks noChangeShapeType="1"/>
            </p:cNvSpPr>
            <p:nvPr/>
          </p:nvSpPr>
          <p:spPr bwMode="auto">
            <a:xfrm>
              <a:off x="1905" y="7125"/>
              <a:ext cx="0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14" name="Text Box 170"/>
          <p:cNvSpPr txBox="1">
            <a:spLocks noChangeArrowheads="1"/>
          </p:cNvSpPr>
          <p:nvPr/>
        </p:nvSpPr>
        <p:spPr bwMode="auto">
          <a:xfrm>
            <a:off x="4368329" y="2636615"/>
            <a:ext cx="687388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b="1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2</a:t>
            </a:r>
            <a:r>
              <a:rPr lang="es-ES_tradnl" sz="1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 </a:t>
            </a:r>
            <a:r>
              <a:rPr lang="es-ES_tradnl" sz="1000" b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3</a:t>
            </a:r>
            <a:endParaRPr lang="es-ES_tradnl" b="1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5" name="Group 166"/>
          <p:cNvGrpSpPr>
            <a:grpSpLocks/>
          </p:cNvGrpSpPr>
          <p:nvPr/>
        </p:nvGrpSpPr>
        <p:grpSpPr bwMode="auto">
          <a:xfrm>
            <a:off x="5536730" y="2535015"/>
            <a:ext cx="447675" cy="468312"/>
            <a:chOff x="1695" y="6990"/>
            <a:chExt cx="420" cy="420"/>
          </a:xfrm>
        </p:grpSpPr>
        <p:sp>
          <p:nvSpPr>
            <p:cNvPr id="16" name="Oval 169"/>
            <p:cNvSpPr>
              <a:spLocks noChangeArrowheads="1"/>
            </p:cNvSpPr>
            <p:nvPr/>
          </p:nvSpPr>
          <p:spPr bwMode="auto">
            <a:xfrm>
              <a:off x="1695" y="6990"/>
              <a:ext cx="420" cy="4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7" name="Line 168"/>
            <p:cNvSpPr>
              <a:spLocks noChangeShapeType="1"/>
            </p:cNvSpPr>
            <p:nvPr/>
          </p:nvSpPr>
          <p:spPr bwMode="auto">
            <a:xfrm>
              <a:off x="1710" y="7125"/>
              <a:ext cx="3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8" name="Line 167"/>
            <p:cNvSpPr>
              <a:spLocks noChangeShapeType="1"/>
            </p:cNvSpPr>
            <p:nvPr/>
          </p:nvSpPr>
          <p:spPr bwMode="auto">
            <a:xfrm>
              <a:off x="1905" y="7125"/>
              <a:ext cx="0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19" name="Text Box 165"/>
          <p:cNvSpPr txBox="1">
            <a:spLocks noChangeArrowheads="1"/>
          </p:cNvSpPr>
          <p:nvPr/>
        </p:nvSpPr>
        <p:spPr bwMode="auto">
          <a:xfrm>
            <a:off x="5536729" y="2649315"/>
            <a:ext cx="687388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b="1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6</a:t>
            </a:r>
            <a:r>
              <a:rPr lang="es-ES_tradnl" sz="1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13 </a:t>
            </a:r>
            <a:endParaRPr lang="es-ES_tradnl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0" name="Group 161"/>
          <p:cNvGrpSpPr>
            <a:grpSpLocks/>
          </p:cNvGrpSpPr>
          <p:nvPr/>
        </p:nvGrpSpPr>
        <p:grpSpPr bwMode="auto">
          <a:xfrm>
            <a:off x="4808068" y="6198965"/>
            <a:ext cx="447675" cy="468312"/>
            <a:chOff x="1695" y="6990"/>
            <a:chExt cx="420" cy="420"/>
          </a:xfrm>
        </p:grpSpPr>
        <p:sp>
          <p:nvSpPr>
            <p:cNvPr id="21" name="Oval 164"/>
            <p:cNvSpPr>
              <a:spLocks noChangeArrowheads="1"/>
            </p:cNvSpPr>
            <p:nvPr/>
          </p:nvSpPr>
          <p:spPr bwMode="auto">
            <a:xfrm>
              <a:off x="1695" y="6990"/>
              <a:ext cx="420" cy="4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22" name="Line 163"/>
            <p:cNvSpPr>
              <a:spLocks noChangeShapeType="1"/>
            </p:cNvSpPr>
            <p:nvPr/>
          </p:nvSpPr>
          <p:spPr bwMode="auto">
            <a:xfrm>
              <a:off x="1710" y="7125"/>
              <a:ext cx="3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23" name="Line 162"/>
            <p:cNvSpPr>
              <a:spLocks noChangeShapeType="1"/>
            </p:cNvSpPr>
            <p:nvPr/>
          </p:nvSpPr>
          <p:spPr bwMode="auto">
            <a:xfrm>
              <a:off x="1905" y="7125"/>
              <a:ext cx="0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24" name="Text Box 160"/>
          <p:cNvSpPr txBox="1">
            <a:spLocks noChangeArrowheads="1"/>
          </p:cNvSpPr>
          <p:nvPr/>
        </p:nvSpPr>
        <p:spPr bwMode="auto">
          <a:xfrm>
            <a:off x="4782667" y="6379941"/>
            <a:ext cx="519112" cy="331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1    1</a:t>
            </a:r>
            <a:endParaRPr lang="es-ES_tradnl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5" name="Group 156"/>
          <p:cNvGrpSpPr>
            <a:grpSpLocks/>
          </p:cNvGrpSpPr>
          <p:nvPr/>
        </p:nvGrpSpPr>
        <p:grpSpPr bwMode="auto">
          <a:xfrm>
            <a:off x="6201893" y="6248178"/>
            <a:ext cx="447675" cy="468313"/>
            <a:chOff x="1695" y="6990"/>
            <a:chExt cx="420" cy="420"/>
          </a:xfrm>
        </p:grpSpPr>
        <p:sp>
          <p:nvSpPr>
            <p:cNvPr id="26" name="Oval 159"/>
            <p:cNvSpPr>
              <a:spLocks noChangeArrowheads="1"/>
            </p:cNvSpPr>
            <p:nvPr/>
          </p:nvSpPr>
          <p:spPr bwMode="auto">
            <a:xfrm>
              <a:off x="1695" y="6990"/>
              <a:ext cx="420" cy="4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27" name="Line 158"/>
            <p:cNvSpPr>
              <a:spLocks noChangeShapeType="1"/>
            </p:cNvSpPr>
            <p:nvPr/>
          </p:nvSpPr>
          <p:spPr bwMode="auto">
            <a:xfrm>
              <a:off x="1710" y="7125"/>
              <a:ext cx="3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28" name="Line 157"/>
            <p:cNvSpPr>
              <a:spLocks noChangeShapeType="1"/>
            </p:cNvSpPr>
            <p:nvPr/>
          </p:nvSpPr>
          <p:spPr bwMode="auto">
            <a:xfrm>
              <a:off x="1905" y="7125"/>
              <a:ext cx="0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29" name="Text Box 155"/>
          <p:cNvSpPr txBox="1">
            <a:spLocks noChangeArrowheads="1"/>
          </p:cNvSpPr>
          <p:nvPr/>
        </p:nvSpPr>
        <p:spPr bwMode="auto">
          <a:xfrm>
            <a:off x="6181255" y="6424390"/>
            <a:ext cx="563563" cy="34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>
                <a:latin typeface="Arial" pitchFamily="34" charset="0"/>
                <a:ea typeface="Times New Roman" pitchFamily="18" charset="0"/>
                <a:cs typeface="Arial" pitchFamily="34" charset="0"/>
              </a:rPr>
              <a:t>5     5</a:t>
            </a:r>
            <a:endParaRPr lang="es-ES_tradnl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30" name="Group 151"/>
          <p:cNvGrpSpPr>
            <a:grpSpLocks/>
          </p:cNvGrpSpPr>
          <p:nvPr/>
        </p:nvGrpSpPr>
        <p:grpSpPr bwMode="auto">
          <a:xfrm>
            <a:off x="6927380" y="1306290"/>
            <a:ext cx="447675" cy="468312"/>
            <a:chOff x="1695" y="6990"/>
            <a:chExt cx="420" cy="420"/>
          </a:xfrm>
        </p:grpSpPr>
        <p:sp>
          <p:nvSpPr>
            <p:cNvPr id="31" name="Oval 154"/>
            <p:cNvSpPr>
              <a:spLocks noChangeArrowheads="1"/>
            </p:cNvSpPr>
            <p:nvPr/>
          </p:nvSpPr>
          <p:spPr bwMode="auto">
            <a:xfrm>
              <a:off x="1695" y="6990"/>
              <a:ext cx="420" cy="4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32" name="Line 153"/>
            <p:cNvSpPr>
              <a:spLocks noChangeShapeType="1"/>
            </p:cNvSpPr>
            <p:nvPr/>
          </p:nvSpPr>
          <p:spPr bwMode="auto">
            <a:xfrm>
              <a:off x="1710" y="7125"/>
              <a:ext cx="3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33" name="Line 152"/>
            <p:cNvSpPr>
              <a:spLocks noChangeShapeType="1"/>
            </p:cNvSpPr>
            <p:nvPr/>
          </p:nvSpPr>
          <p:spPr bwMode="auto">
            <a:xfrm>
              <a:off x="1905" y="7125"/>
              <a:ext cx="0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34" name="Text Box 150"/>
          <p:cNvSpPr txBox="1">
            <a:spLocks noChangeArrowheads="1"/>
          </p:cNvSpPr>
          <p:nvPr/>
        </p:nvSpPr>
        <p:spPr bwMode="auto">
          <a:xfrm>
            <a:off x="6843243" y="1404715"/>
            <a:ext cx="687387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>
                <a:latin typeface="Arial" pitchFamily="34" charset="0"/>
                <a:ea typeface="Times New Roman" pitchFamily="18" charset="0"/>
                <a:cs typeface="Arial" pitchFamily="34" charset="0"/>
              </a:rPr>
              <a:t>  7     8</a:t>
            </a:r>
            <a:endParaRPr lang="es-ES_tradnl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35" name="Group 146"/>
          <p:cNvGrpSpPr>
            <a:grpSpLocks/>
          </p:cNvGrpSpPr>
          <p:nvPr/>
        </p:nvGrpSpPr>
        <p:grpSpPr bwMode="auto">
          <a:xfrm>
            <a:off x="5544668" y="1323753"/>
            <a:ext cx="446087" cy="468313"/>
            <a:chOff x="1695" y="6990"/>
            <a:chExt cx="420" cy="420"/>
          </a:xfrm>
        </p:grpSpPr>
        <p:sp>
          <p:nvSpPr>
            <p:cNvPr id="36" name="Oval 149"/>
            <p:cNvSpPr>
              <a:spLocks noChangeArrowheads="1"/>
            </p:cNvSpPr>
            <p:nvPr/>
          </p:nvSpPr>
          <p:spPr bwMode="auto">
            <a:xfrm>
              <a:off x="1695" y="6990"/>
              <a:ext cx="420" cy="4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37" name="Line 148"/>
            <p:cNvSpPr>
              <a:spLocks noChangeShapeType="1"/>
            </p:cNvSpPr>
            <p:nvPr/>
          </p:nvSpPr>
          <p:spPr bwMode="auto">
            <a:xfrm>
              <a:off x="1710" y="7125"/>
              <a:ext cx="3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38" name="Line 147"/>
            <p:cNvSpPr>
              <a:spLocks noChangeShapeType="1"/>
            </p:cNvSpPr>
            <p:nvPr/>
          </p:nvSpPr>
          <p:spPr bwMode="auto">
            <a:xfrm>
              <a:off x="1905" y="7125"/>
              <a:ext cx="0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39" name="Text Box 145"/>
          <p:cNvSpPr txBox="1">
            <a:spLocks noChangeArrowheads="1"/>
          </p:cNvSpPr>
          <p:nvPr/>
        </p:nvSpPr>
        <p:spPr bwMode="auto">
          <a:xfrm>
            <a:off x="5492280" y="1439640"/>
            <a:ext cx="688975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5     </a:t>
            </a:r>
            <a:r>
              <a:rPr lang="es-ES_tradnl" sz="1000" b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6</a:t>
            </a:r>
            <a:endParaRPr lang="es-ES_tradnl" b="1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40" name="Group 141"/>
          <p:cNvGrpSpPr>
            <a:grpSpLocks/>
          </p:cNvGrpSpPr>
          <p:nvPr/>
        </p:nvGrpSpPr>
        <p:grpSpPr bwMode="auto">
          <a:xfrm>
            <a:off x="10103968" y="4151090"/>
            <a:ext cx="447675" cy="468312"/>
            <a:chOff x="1695" y="6990"/>
            <a:chExt cx="420" cy="420"/>
          </a:xfrm>
        </p:grpSpPr>
        <p:sp>
          <p:nvSpPr>
            <p:cNvPr id="41" name="Oval 144"/>
            <p:cNvSpPr>
              <a:spLocks noChangeArrowheads="1"/>
            </p:cNvSpPr>
            <p:nvPr/>
          </p:nvSpPr>
          <p:spPr bwMode="auto">
            <a:xfrm>
              <a:off x="1695" y="6990"/>
              <a:ext cx="420" cy="4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42" name="Line 143"/>
            <p:cNvSpPr>
              <a:spLocks noChangeShapeType="1"/>
            </p:cNvSpPr>
            <p:nvPr/>
          </p:nvSpPr>
          <p:spPr bwMode="auto">
            <a:xfrm>
              <a:off x="1710" y="7125"/>
              <a:ext cx="3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43" name="Line 142"/>
            <p:cNvSpPr>
              <a:spLocks noChangeShapeType="1"/>
            </p:cNvSpPr>
            <p:nvPr/>
          </p:nvSpPr>
          <p:spPr bwMode="auto">
            <a:xfrm>
              <a:off x="1905" y="7125"/>
              <a:ext cx="0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44" name="Text Box 140"/>
          <p:cNvSpPr txBox="1">
            <a:spLocks noChangeArrowheads="1"/>
          </p:cNvSpPr>
          <p:nvPr/>
        </p:nvSpPr>
        <p:spPr bwMode="auto">
          <a:xfrm>
            <a:off x="10003955" y="4287615"/>
            <a:ext cx="688975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16   </a:t>
            </a:r>
            <a:r>
              <a:rPr lang="es-ES_tradnl" sz="1100" b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16</a:t>
            </a:r>
            <a:endParaRPr lang="es-ES_tradnl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5" name="Line 139"/>
          <p:cNvSpPr>
            <a:spLocks noChangeShapeType="1"/>
          </p:cNvSpPr>
          <p:nvPr/>
        </p:nvSpPr>
        <p:spPr bwMode="auto">
          <a:xfrm flipV="1">
            <a:off x="3819055" y="2979515"/>
            <a:ext cx="701675" cy="12001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46" name="Line 138"/>
          <p:cNvSpPr>
            <a:spLocks noChangeShapeType="1"/>
          </p:cNvSpPr>
          <p:nvPr/>
        </p:nvSpPr>
        <p:spPr bwMode="auto">
          <a:xfrm>
            <a:off x="5225579" y="6456140"/>
            <a:ext cx="979488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47" name="Line 137"/>
          <p:cNvSpPr>
            <a:spLocks noChangeShapeType="1"/>
          </p:cNvSpPr>
          <p:nvPr/>
        </p:nvSpPr>
        <p:spPr bwMode="auto">
          <a:xfrm>
            <a:off x="3841279" y="4614640"/>
            <a:ext cx="990600" cy="1701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grpSp>
        <p:nvGrpSpPr>
          <p:cNvPr id="48" name="Group 133"/>
          <p:cNvGrpSpPr>
            <a:grpSpLocks/>
          </p:cNvGrpSpPr>
          <p:nvPr/>
        </p:nvGrpSpPr>
        <p:grpSpPr bwMode="auto">
          <a:xfrm>
            <a:off x="8557743" y="6232303"/>
            <a:ext cx="447675" cy="466725"/>
            <a:chOff x="1695" y="6990"/>
            <a:chExt cx="420" cy="420"/>
          </a:xfrm>
        </p:grpSpPr>
        <p:sp>
          <p:nvSpPr>
            <p:cNvPr id="49" name="Oval 136"/>
            <p:cNvSpPr>
              <a:spLocks noChangeArrowheads="1"/>
            </p:cNvSpPr>
            <p:nvPr/>
          </p:nvSpPr>
          <p:spPr bwMode="auto">
            <a:xfrm>
              <a:off x="1695" y="6990"/>
              <a:ext cx="420" cy="4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50" name="Line 135"/>
            <p:cNvSpPr>
              <a:spLocks noChangeShapeType="1"/>
            </p:cNvSpPr>
            <p:nvPr/>
          </p:nvSpPr>
          <p:spPr bwMode="auto">
            <a:xfrm>
              <a:off x="1710" y="7125"/>
              <a:ext cx="3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51" name="Line 134"/>
            <p:cNvSpPr>
              <a:spLocks noChangeShapeType="1"/>
            </p:cNvSpPr>
            <p:nvPr/>
          </p:nvSpPr>
          <p:spPr bwMode="auto">
            <a:xfrm>
              <a:off x="1905" y="7125"/>
              <a:ext cx="0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52" name="Text Box 132"/>
          <p:cNvSpPr txBox="1">
            <a:spLocks noChangeArrowheads="1"/>
          </p:cNvSpPr>
          <p:nvPr/>
        </p:nvSpPr>
        <p:spPr bwMode="auto">
          <a:xfrm>
            <a:off x="8479954" y="6338665"/>
            <a:ext cx="687388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100">
                <a:latin typeface="Arial" pitchFamily="34" charset="0"/>
                <a:ea typeface="Times New Roman" pitchFamily="18" charset="0"/>
                <a:cs typeface="Arial" pitchFamily="34" charset="0"/>
              </a:rPr>
              <a:t> 11  11</a:t>
            </a:r>
            <a:endParaRPr lang="es-ES_tradnl"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Text Box 131"/>
          <p:cNvSpPr txBox="1">
            <a:spLocks noChangeArrowheads="1"/>
          </p:cNvSpPr>
          <p:nvPr/>
        </p:nvSpPr>
        <p:spPr bwMode="auto">
          <a:xfrm>
            <a:off x="3884142" y="3239865"/>
            <a:ext cx="862012" cy="265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A-2</a:t>
            </a:r>
            <a:endParaRPr lang="es-ES_tradnl">
              <a:latin typeface="Arial" pitchFamily="34" charset="0"/>
              <a:cs typeface="Arial" pitchFamily="34" charset="0"/>
            </a:endParaRPr>
          </a:p>
        </p:txBody>
      </p:sp>
      <p:sp>
        <p:nvSpPr>
          <p:cNvPr id="54" name="Text Box 130"/>
          <p:cNvSpPr txBox="1">
            <a:spLocks noChangeArrowheads="1"/>
          </p:cNvSpPr>
          <p:nvPr/>
        </p:nvSpPr>
        <p:spPr bwMode="auto">
          <a:xfrm>
            <a:off x="5079529" y="2077816"/>
            <a:ext cx="668338" cy="280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B-3</a:t>
            </a:r>
            <a:endParaRPr lang="es-ES_tradnl">
              <a:latin typeface="Arial" pitchFamily="34" charset="0"/>
              <a:cs typeface="Arial" pitchFamily="34" charset="0"/>
            </a:endParaRPr>
          </a:p>
        </p:txBody>
      </p:sp>
      <p:sp>
        <p:nvSpPr>
          <p:cNvPr id="55" name="Text Box 129"/>
          <p:cNvSpPr txBox="1">
            <a:spLocks noChangeArrowheads="1"/>
          </p:cNvSpPr>
          <p:nvPr/>
        </p:nvSpPr>
        <p:spPr bwMode="auto">
          <a:xfrm>
            <a:off x="4952529" y="2487390"/>
            <a:ext cx="698500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C-4</a:t>
            </a:r>
            <a:endParaRPr lang="es-ES_tradnl">
              <a:latin typeface="Arial" pitchFamily="34" charset="0"/>
              <a:cs typeface="Arial" pitchFamily="34" charset="0"/>
            </a:endParaRPr>
          </a:p>
        </p:txBody>
      </p:sp>
      <p:sp>
        <p:nvSpPr>
          <p:cNvPr id="56" name="Text Box 128"/>
          <p:cNvSpPr txBox="1">
            <a:spLocks noChangeArrowheads="1"/>
          </p:cNvSpPr>
          <p:nvPr/>
        </p:nvSpPr>
        <p:spPr bwMode="auto">
          <a:xfrm>
            <a:off x="7040093" y="2812827"/>
            <a:ext cx="5349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D-3</a:t>
            </a:r>
            <a:endParaRPr lang="es-ES_tradnl">
              <a:latin typeface="Arial" pitchFamily="34" charset="0"/>
              <a:cs typeface="Arial" pitchFamily="34" charset="0"/>
            </a:endParaRPr>
          </a:p>
        </p:txBody>
      </p:sp>
      <p:sp>
        <p:nvSpPr>
          <p:cNvPr id="57" name="Text Box 127"/>
          <p:cNvSpPr txBox="1">
            <a:spLocks noChangeArrowheads="1"/>
          </p:cNvSpPr>
          <p:nvPr/>
        </p:nvSpPr>
        <p:spPr bwMode="auto">
          <a:xfrm>
            <a:off x="6108229" y="1196752"/>
            <a:ext cx="4000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E-2</a:t>
            </a:r>
            <a:endParaRPr lang="es-ES_tradnl">
              <a:latin typeface="Arial" pitchFamily="34" charset="0"/>
              <a:cs typeface="Arial" pitchFamily="34" charset="0"/>
            </a:endParaRPr>
          </a:p>
        </p:txBody>
      </p:sp>
      <p:sp>
        <p:nvSpPr>
          <p:cNvPr id="58" name="Text Box 179"/>
          <p:cNvSpPr txBox="1">
            <a:spLocks noChangeArrowheads="1"/>
          </p:cNvSpPr>
          <p:nvPr/>
        </p:nvSpPr>
        <p:spPr bwMode="auto">
          <a:xfrm>
            <a:off x="7677474" y="1245064"/>
            <a:ext cx="427037" cy="24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F-3</a:t>
            </a:r>
            <a:endParaRPr lang="es-ES_tradnl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 Box 126"/>
          <p:cNvSpPr txBox="1">
            <a:spLocks noChangeArrowheads="1"/>
          </p:cNvSpPr>
          <p:nvPr/>
        </p:nvSpPr>
        <p:spPr bwMode="auto">
          <a:xfrm>
            <a:off x="3826993" y="5322665"/>
            <a:ext cx="935037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G-1</a:t>
            </a:r>
            <a:endParaRPr lang="es-ES_tradnl"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 Box 125"/>
          <p:cNvSpPr txBox="1">
            <a:spLocks noChangeArrowheads="1"/>
          </p:cNvSpPr>
          <p:nvPr/>
        </p:nvSpPr>
        <p:spPr bwMode="auto">
          <a:xfrm>
            <a:off x="5536729" y="6529165"/>
            <a:ext cx="4826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H-4</a:t>
            </a:r>
            <a:endParaRPr lang="es-ES_tradnl"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 Box 124"/>
          <p:cNvSpPr txBox="1">
            <a:spLocks noChangeArrowheads="1"/>
          </p:cNvSpPr>
          <p:nvPr/>
        </p:nvSpPr>
        <p:spPr bwMode="auto">
          <a:xfrm>
            <a:off x="6843243" y="6494240"/>
            <a:ext cx="4349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I-3</a:t>
            </a:r>
            <a:endParaRPr lang="es-ES_tradnl">
              <a:latin typeface="Arial" pitchFamily="34" charset="0"/>
              <a:cs typeface="Arial" pitchFamily="34" charset="0"/>
            </a:endParaRPr>
          </a:p>
        </p:txBody>
      </p:sp>
      <p:sp>
        <p:nvSpPr>
          <p:cNvPr id="62" name="Text Box 123"/>
          <p:cNvSpPr txBox="1">
            <a:spLocks noChangeArrowheads="1"/>
          </p:cNvSpPr>
          <p:nvPr/>
        </p:nvSpPr>
        <p:spPr bwMode="auto">
          <a:xfrm>
            <a:off x="7054380" y="5163915"/>
            <a:ext cx="417513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J-2</a:t>
            </a:r>
            <a:endParaRPr lang="es-ES_tradnl">
              <a:latin typeface="Arial" pitchFamily="34" charset="0"/>
              <a:cs typeface="Arial" pitchFamily="34" charset="0"/>
            </a:endParaRPr>
          </a:p>
        </p:txBody>
      </p:sp>
      <p:sp>
        <p:nvSpPr>
          <p:cNvPr id="63" name="Text Box 122"/>
          <p:cNvSpPr txBox="1">
            <a:spLocks noChangeArrowheads="1"/>
          </p:cNvSpPr>
          <p:nvPr/>
        </p:nvSpPr>
        <p:spPr bwMode="auto">
          <a:xfrm>
            <a:off x="7962430" y="6497416"/>
            <a:ext cx="4810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K-3</a:t>
            </a:r>
            <a:endParaRPr lang="es-ES_tradnl">
              <a:latin typeface="Arial" pitchFamily="34" charset="0"/>
              <a:cs typeface="Arial" pitchFamily="34" charset="0"/>
            </a:endParaRPr>
          </a:p>
        </p:txBody>
      </p:sp>
      <p:sp>
        <p:nvSpPr>
          <p:cNvPr id="64" name="Text Box 121"/>
          <p:cNvSpPr txBox="1">
            <a:spLocks noChangeArrowheads="1"/>
          </p:cNvSpPr>
          <p:nvPr/>
        </p:nvSpPr>
        <p:spPr bwMode="auto">
          <a:xfrm>
            <a:off x="9051455" y="2595341"/>
            <a:ext cx="474663" cy="31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L-5</a:t>
            </a:r>
            <a:endParaRPr lang="es-ES_tradnl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65" name="Group 117"/>
          <p:cNvGrpSpPr>
            <a:grpSpLocks/>
          </p:cNvGrpSpPr>
          <p:nvPr/>
        </p:nvGrpSpPr>
        <p:grpSpPr bwMode="auto">
          <a:xfrm>
            <a:off x="7384580" y="6235478"/>
            <a:ext cx="447675" cy="468313"/>
            <a:chOff x="1695" y="6990"/>
            <a:chExt cx="420" cy="420"/>
          </a:xfrm>
        </p:grpSpPr>
        <p:sp>
          <p:nvSpPr>
            <p:cNvPr id="66" name="Oval 120"/>
            <p:cNvSpPr>
              <a:spLocks noChangeArrowheads="1"/>
            </p:cNvSpPr>
            <p:nvPr/>
          </p:nvSpPr>
          <p:spPr bwMode="auto">
            <a:xfrm>
              <a:off x="1695" y="6990"/>
              <a:ext cx="420" cy="4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67" name="Line 119"/>
            <p:cNvSpPr>
              <a:spLocks noChangeShapeType="1"/>
            </p:cNvSpPr>
            <p:nvPr/>
          </p:nvSpPr>
          <p:spPr bwMode="auto">
            <a:xfrm>
              <a:off x="1710" y="7125"/>
              <a:ext cx="3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68" name="Line 118"/>
            <p:cNvSpPr>
              <a:spLocks noChangeShapeType="1"/>
            </p:cNvSpPr>
            <p:nvPr/>
          </p:nvSpPr>
          <p:spPr bwMode="auto">
            <a:xfrm>
              <a:off x="1905" y="7125"/>
              <a:ext cx="0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69" name="Text Box 116"/>
          <p:cNvSpPr txBox="1">
            <a:spLocks noChangeArrowheads="1"/>
          </p:cNvSpPr>
          <p:nvPr/>
        </p:nvSpPr>
        <p:spPr bwMode="auto">
          <a:xfrm>
            <a:off x="7375055" y="6437091"/>
            <a:ext cx="587375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>
                <a:latin typeface="Arial" pitchFamily="34" charset="0"/>
                <a:ea typeface="Times New Roman" pitchFamily="18" charset="0"/>
                <a:cs typeface="Arial" pitchFamily="34" charset="0"/>
              </a:rPr>
              <a:t>8    8</a:t>
            </a:r>
            <a:endParaRPr lang="es-ES_tradnl">
              <a:latin typeface="Arial" pitchFamily="34" charset="0"/>
              <a:cs typeface="Arial" pitchFamily="34" charset="0"/>
            </a:endParaRPr>
          </a:p>
        </p:txBody>
      </p:sp>
      <p:sp>
        <p:nvSpPr>
          <p:cNvPr id="70" name="Line 115"/>
          <p:cNvSpPr>
            <a:spLocks noChangeShapeType="1"/>
          </p:cNvSpPr>
          <p:nvPr/>
        </p:nvSpPr>
        <p:spPr bwMode="auto">
          <a:xfrm>
            <a:off x="6671792" y="6454552"/>
            <a:ext cx="6985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grpSp>
        <p:nvGrpSpPr>
          <p:cNvPr id="71" name="Group 111"/>
          <p:cNvGrpSpPr>
            <a:grpSpLocks/>
          </p:cNvGrpSpPr>
          <p:nvPr/>
        </p:nvGrpSpPr>
        <p:grpSpPr bwMode="auto">
          <a:xfrm>
            <a:off x="7395693" y="4489228"/>
            <a:ext cx="447675" cy="468313"/>
            <a:chOff x="1695" y="6990"/>
            <a:chExt cx="420" cy="420"/>
          </a:xfrm>
        </p:grpSpPr>
        <p:sp>
          <p:nvSpPr>
            <p:cNvPr id="72" name="Oval 114"/>
            <p:cNvSpPr>
              <a:spLocks noChangeArrowheads="1"/>
            </p:cNvSpPr>
            <p:nvPr/>
          </p:nvSpPr>
          <p:spPr bwMode="auto">
            <a:xfrm>
              <a:off x="1695" y="6990"/>
              <a:ext cx="420" cy="4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73" name="Line 113"/>
            <p:cNvSpPr>
              <a:spLocks noChangeShapeType="1"/>
            </p:cNvSpPr>
            <p:nvPr/>
          </p:nvSpPr>
          <p:spPr bwMode="auto">
            <a:xfrm>
              <a:off x="1710" y="7125"/>
              <a:ext cx="3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74" name="Line 112"/>
            <p:cNvSpPr>
              <a:spLocks noChangeShapeType="1"/>
            </p:cNvSpPr>
            <p:nvPr/>
          </p:nvSpPr>
          <p:spPr bwMode="auto">
            <a:xfrm>
              <a:off x="1905" y="7125"/>
              <a:ext cx="0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75" name="Text Box 110"/>
          <p:cNvSpPr txBox="1">
            <a:spLocks noChangeArrowheads="1"/>
          </p:cNvSpPr>
          <p:nvPr/>
        </p:nvSpPr>
        <p:spPr bwMode="auto">
          <a:xfrm>
            <a:off x="7317904" y="4595590"/>
            <a:ext cx="687388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100">
                <a:latin typeface="Arial" pitchFamily="34" charset="0"/>
                <a:ea typeface="Times New Roman" pitchFamily="18" charset="0"/>
                <a:cs typeface="Arial" pitchFamily="34" charset="0"/>
              </a:rPr>
              <a:t>  7   8</a:t>
            </a:r>
            <a:endParaRPr lang="es-ES_tradnl">
              <a:latin typeface="Arial" pitchFamily="34" charset="0"/>
              <a:cs typeface="Arial" pitchFamily="34" charset="0"/>
            </a:endParaRPr>
          </a:p>
        </p:txBody>
      </p:sp>
      <p:sp>
        <p:nvSpPr>
          <p:cNvPr id="76" name="Line 109"/>
          <p:cNvSpPr>
            <a:spLocks noChangeShapeType="1"/>
          </p:cNvSpPr>
          <p:nvPr/>
        </p:nvSpPr>
        <p:spPr bwMode="auto">
          <a:xfrm flipV="1">
            <a:off x="6519393" y="4725766"/>
            <a:ext cx="879475" cy="15192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77" name="Line 108"/>
          <p:cNvSpPr>
            <a:spLocks noChangeShapeType="1"/>
          </p:cNvSpPr>
          <p:nvPr/>
        </p:nvSpPr>
        <p:spPr bwMode="auto">
          <a:xfrm flipV="1">
            <a:off x="4725517" y="1722215"/>
            <a:ext cx="850900" cy="838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78" name="Line 107"/>
          <p:cNvSpPr>
            <a:spLocks noChangeShapeType="1"/>
          </p:cNvSpPr>
          <p:nvPr/>
        </p:nvSpPr>
        <p:spPr bwMode="auto">
          <a:xfrm>
            <a:off x="5945019" y="1568509"/>
            <a:ext cx="939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grpSp>
        <p:nvGrpSpPr>
          <p:cNvPr id="79" name="Group 103"/>
          <p:cNvGrpSpPr>
            <a:grpSpLocks/>
          </p:cNvGrpSpPr>
          <p:nvPr/>
        </p:nvGrpSpPr>
        <p:grpSpPr bwMode="auto">
          <a:xfrm>
            <a:off x="8527580" y="1306290"/>
            <a:ext cx="447675" cy="468312"/>
            <a:chOff x="1695" y="6990"/>
            <a:chExt cx="420" cy="420"/>
          </a:xfrm>
        </p:grpSpPr>
        <p:sp>
          <p:nvSpPr>
            <p:cNvPr id="80" name="Oval 106"/>
            <p:cNvSpPr>
              <a:spLocks noChangeArrowheads="1"/>
            </p:cNvSpPr>
            <p:nvPr/>
          </p:nvSpPr>
          <p:spPr bwMode="auto">
            <a:xfrm>
              <a:off x="1695" y="6990"/>
              <a:ext cx="420" cy="4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81" name="Line 105"/>
            <p:cNvSpPr>
              <a:spLocks noChangeShapeType="1"/>
            </p:cNvSpPr>
            <p:nvPr/>
          </p:nvSpPr>
          <p:spPr bwMode="auto">
            <a:xfrm>
              <a:off x="1710" y="7125"/>
              <a:ext cx="3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82" name="Line 104"/>
            <p:cNvSpPr>
              <a:spLocks noChangeShapeType="1"/>
            </p:cNvSpPr>
            <p:nvPr/>
          </p:nvSpPr>
          <p:spPr bwMode="auto">
            <a:xfrm>
              <a:off x="1905" y="7125"/>
              <a:ext cx="0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83" name="Text Box 102"/>
          <p:cNvSpPr txBox="1">
            <a:spLocks noChangeArrowheads="1"/>
          </p:cNvSpPr>
          <p:nvPr/>
        </p:nvSpPr>
        <p:spPr bwMode="auto">
          <a:xfrm>
            <a:off x="8443443" y="1404715"/>
            <a:ext cx="687387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>
                <a:latin typeface="Arial" pitchFamily="34" charset="0"/>
                <a:ea typeface="Times New Roman" pitchFamily="18" charset="0"/>
                <a:cs typeface="Arial" pitchFamily="34" charset="0"/>
              </a:rPr>
              <a:t> 11   11</a:t>
            </a:r>
            <a:endParaRPr lang="es-ES_tradnl">
              <a:latin typeface="Arial" pitchFamily="34" charset="0"/>
              <a:cs typeface="Arial" pitchFamily="34" charset="0"/>
            </a:endParaRPr>
          </a:p>
        </p:txBody>
      </p:sp>
      <p:sp>
        <p:nvSpPr>
          <p:cNvPr id="84" name="Line 101"/>
          <p:cNvSpPr>
            <a:spLocks noChangeShapeType="1"/>
          </p:cNvSpPr>
          <p:nvPr/>
        </p:nvSpPr>
        <p:spPr bwMode="auto">
          <a:xfrm>
            <a:off x="7379817" y="1544415"/>
            <a:ext cx="1143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85" name="Line 100"/>
          <p:cNvSpPr>
            <a:spLocks noChangeShapeType="1"/>
          </p:cNvSpPr>
          <p:nvPr/>
        </p:nvSpPr>
        <p:spPr bwMode="auto">
          <a:xfrm>
            <a:off x="4814417" y="2738215"/>
            <a:ext cx="711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86" name="Line 99"/>
          <p:cNvSpPr>
            <a:spLocks noChangeShapeType="1"/>
          </p:cNvSpPr>
          <p:nvPr/>
        </p:nvSpPr>
        <p:spPr bwMode="auto">
          <a:xfrm>
            <a:off x="5995517" y="2814415"/>
            <a:ext cx="4102100" cy="14859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87" name="Line 98"/>
          <p:cNvSpPr>
            <a:spLocks noChangeShapeType="1"/>
          </p:cNvSpPr>
          <p:nvPr/>
        </p:nvSpPr>
        <p:spPr bwMode="auto">
          <a:xfrm>
            <a:off x="8891117" y="1722215"/>
            <a:ext cx="1384300" cy="240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88" name="Line 97"/>
          <p:cNvSpPr>
            <a:spLocks noChangeShapeType="1"/>
          </p:cNvSpPr>
          <p:nvPr/>
        </p:nvSpPr>
        <p:spPr bwMode="auto">
          <a:xfrm>
            <a:off x="5754217" y="1785715"/>
            <a:ext cx="0" cy="73660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89" name="Line 96"/>
          <p:cNvSpPr>
            <a:spLocks noChangeShapeType="1"/>
          </p:cNvSpPr>
          <p:nvPr/>
        </p:nvSpPr>
        <p:spPr bwMode="auto">
          <a:xfrm>
            <a:off x="7608417" y="4973415"/>
            <a:ext cx="12700" cy="125730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90" name="Line 95"/>
          <p:cNvSpPr>
            <a:spLocks noChangeShapeType="1"/>
          </p:cNvSpPr>
          <p:nvPr/>
        </p:nvSpPr>
        <p:spPr bwMode="auto">
          <a:xfrm>
            <a:off x="7824317" y="6459315"/>
            <a:ext cx="7366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grpSp>
        <p:nvGrpSpPr>
          <p:cNvPr id="91" name="Group 91"/>
          <p:cNvGrpSpPr>
            <a:grpSpLocks/>
          </p:cNvGrpSpPr>
          <p:nvPr/>
        </p:nvGrpSpPr>
        <p:grpSpPr bwMode="auto">
          <a:xfrm>
            <a:off x="9395943" y="5203603"/>
            <a:ext cx="447675" cy="466725"/>
            <a:chOff x="1695" y="6990"/>
            <a:chExt cx="420" cy="420"/>
          </a:xfrm>
        </p:grpSpPr>
        <p:sp>
          <p:nvSpPr>
            <p:cNvPr id="92" name="Oval 94"/>
            <p:cNvSpPr>
              <a:spLocks noChangeArrowheads="1"/>
            </p:cNvSpPr>
            <p:nvPr/>
          </p:nvSpPr>
          <p:spPr bwMode="auto">
            <a:xfrm>
              <a:off x="1695" y="6990"/>
              <a:ext cx="420" cy="4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93" name="Line 93"/>
            <p:cNvSpPr>
              <a:spLocks noChangeShapeType="1"/>
            </p:cNvSpPr>
            <p:nvPr/>
          </p:nvSpPr>
          <p:spPr bwMode="auto">
            <a:xfrm>
              <a:off x="1710" y="7125"/>
              <a:ext cx="3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94" name="Line 92"/>
            <p:cNvSpPr>
              <a:spLocks noChangeShapeType="1"/>
            </p:cNvSpPr>
            <p:nvPr/>
          </p:nvSpPr>
          <p:spPr bwMode="auto">
            <a:xfrm>
              <a:off x="1905" y="7125"/>
              <a:ext cx="0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95" name="Text Box 90"/>
          <p:cNvSpPr txBox="1">
            <a:spLocks noChangeArrowheads="1"/>
          </p:cNvSpPr>
          <p:nvPr/>
        </p:nvSpPr>
        <p:spPr bwMode="auto">
          <a:xfrm>
            <a:off x="9318154" y="5309965"/>
            <a:ext cx="687388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100">
                <a:latin typeface="Arial" pitchFamily="34" charset="0"/>
                <a:ea typeface="Times New Roman" pitchFamily="18" charset="0"/>
                <a:cs typeface="Arial" pitchFamily="34" charset="0"/>
              </a:rPr>
              <a:t> 14  14</a:t>
            </a:r>
            <a:endParaRPr lang="es-ES_tradnl">
              <a:latin typeface="Arial" pitchFamily="34" charset="0"/>
              <a:cs typeface="Arial" pitchFamily="34" charset="0"/>
            </a:endParaRPr>
          </a:p>
        </p:txBody>
      </p:sp>
      <p:sp>
        <p:nvSpPr>
          <p:cNvPr id="96" name="Line 89"/>
          <p:cNvSpPr>
            <a:spLocks noChangeShapeType="1"/>
          </p:cNvSpPr>
          <p:nvPr/>
        </p:nvSpPr>
        <p:spPr bwMode="auto">
          <a:xfrm flipV="1">
            <a:off x="8954617" y="5621115"/>
            <a:ext cx="508000" cy="6731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97" name="Line 88"/>
          <p:cNvSpPr>
            <a:spLocks noChangeShapeType="1"/>
          </p:cNvSpPr>
          <p:nvPr/>
        </p:nvSpPr>
        <p:spPr bwMode="auto">
          <a:xfrm flipV="1">
            <a:off x="9742017" y="4592415"/>
            <a:ext cx="457200" cy="6477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98" name="Text Box 87"/>
          <p:cNvSpPr txBox="1">
            <a:spLocks noChangeArrowheads="1"/>
          </p:cNvSpPr>
          <p:nvPr/>
        </p:nvSpPr>
        <p:spPr bwMode="auto">
          <a:xfrm>
            <a:off x="9183217" y="5925915"/>
            <a:ext cx="4381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M-3</a:t>
            </a:r>
            <a:endParaRPr lang="es-ES_tradnl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9" name="Line 86"/>
          <p:cNvSpPr>
            <a:spLocks noChangeShapeType="1"/>
          </p:cNvSpPr>
          <p:nvPr/>
        </p:nvSpPr>
        <p:spPr bwMode="auto">
          <a:xfrm flipV="1">
            <a:off x="8764117" y="1760315"/>
            <a:ext cx="12700" cy="445770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grpSp>
        <p:nvGrpSpPr>
          <p:cNvPr id="100" name="Group 81"/>
          <p:cNvGrpSpPr>
            <a:grpSpLocks/>
          </p:cNvGrpSpPr>
          <p:nvPr/>
        </p:nvGrpSpPr>
        <p:grpSpPr bwMode="auto">
          <a:xfrm>
            <a:off x="4642967" y="1439640"/>
            <a:ext cx="508000" cy="571500"/>
            <a:chOff x="6980" y="6660"/>
            <a:chExt cx="800" cy="900"/>
          </a:xfrm>
        </p:grpSpPr>
        <p:sp>
          <p:nvSpPr>
            <p:cNvPr id="101" name="Oval 85"/>
            <p:cNvSpPr>
              <a:spLocks noChangeArrowheads="1"/>
            </p:cNvSpPr>
            <p:nvPr/>
          </p:nvSpPr>
          <p:spPr bwMode="auto">
            <a:xfrm>
              <a:off x="6980" y="6660"/>
              <a:ext cx="800" cy="7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02" name="Rectangle 84"/>
            <p:cNvSpPr>
              <a:spLocks noChangeArrowheads="1"/>
            </p:cNvSpPr>
            <p:nvPr/>
          </p:nvSpPr>
          <p:spPr bwMode="auto">
            <a:xfrm>
              <a:off x="6980" y="7020"/>
              <a:ext cx="800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03" name="Line 83"/>
            <p:cNvSpPr>
              <a:spLocks noChangeShapeType="1"/>
            </p:cNvSpPr>
            <p:nvPr/>
          </p:nvSpPr>
          <p:spPr bwMode="auto">
            <a:xfrm>
              <a:off x="6980" y="7300"/>
              <a:ext cx="8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04" name="Line 82"/>
            <p:cNvSpPr>
              <a:spLocks noChangeShapeType="1"/>
            </p:cNvSpPr>
            <p:nvPr/>
          </p:nvSpPr>
          <p:spPr bwMode="auto">
            <a:xfrm>
              <a:off x="7380" y="7020"/>
              <a:ext cx="0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105" name="Text Box 80"/>
          <p:cNvSpPr txBox="1">
            <a:spLocks noChangeArrowheads="1"/>
          </p:cNvSpPr>
          <p:nvPr/>
        </p:nvSpPr>
        <p:spPr bwMode="auto">
          <a:xfrm>
            <a:off x="4593923" y="1459545"/>
            <a:ext cx="9271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</a:t>
            </a: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1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b="1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2</a:t>
            </a: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 3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5    </a:t>
            </a:r>
            <a:r>
              <a:rPr lang="es-ES_tradnl" sz="1100" b="1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6</a:t>
            </a:r>
            <a:endParaRPr lang="es-ES_tradnl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06" name="Group 75"/>
          <p:cNvGrpSpPr>
            <a:grpSpLocks/>
          </p:cNvGrpSpPr>
          <p:nvPr/>
        </p:nvGrpSpPr>
        <p:grpSpPr bwMode="auto">
          <a:xfrm>
            <a:off x="4119092" y="3601815"/>
            <a:ext cx="508000" cy="571500"/>
            <a:chOff x="6980" y="6660"/>
            <a:chExt cx="800" cy="900"/>
          </a:xfrm>
        </p:grpSpPr>
        <p:sp>
          <p:nvSpPr>
            <p:cNvPr id="107" name="Oval 79"/>
            <p:cNvSpPr>
              <a:spLocks noChangeArrowheads="1"/>
            </p:cNvSpPr>
            <p:nvPr/>
          </p:nvSpPr>
          <p:spPr bwMode="auto">
            <a:xfrm>
              <a:off x="6980" y="6660"/>
              <a:ext cx="800" cy="7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08" name="Rectangle 78"/>
            <p:cNvSpPr>
              <a:spLocks noChangeArrowheads="1"/>
            </p:cNvSpPr>
            <p:nvPr/>
          </p:nvSpPr>
          <p:spPr bwMode="auto">
            <a:xfrm>
              <a:off x="6980" y="7020"/>
              <a:ext cx="800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09" name="Line 77"/>
            <p:cNvSpPr>
              <a:spLocks noChangeShapeType="1"/>
            </p:cNvSpPr>
            <p:nvPr/>
          </p:nvSpPr>
          <p:spPr bwMode="auto">
            <a:xfrm>
              <a:off x="6980" y="7300"/>
              <a:ext cx="8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10" name="Line 76"/>
            <p:cNvSpPr>
              <a:spLocks noChangeShapeType="1"/>
            </p:cNvSpPr>
            <p:nvPr/>
          </p:nvSpPr>
          <p:spPr bwMode="auto">
            <a:xfrm>
              <a:off x="7380" y="7020"/>
              <a:ext cx="0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111" name="Text Box 74"/>
          <p:cNvSpPr txBox="1">
            <a:spLocks noChangeArrowheads="1"/>
          </p:cNvSpPr>
          <p:nvPr/>
        </p:nvSpPr>
        <p:spPr bwMode="auto">
          <a:xfrm>
            <a:off x="4076229" y="3617900"/>
            <a:ext cx="9271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</a:t>
            </a: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1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b="1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0</a:t>
            </a: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 1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2    </a:t>
            </a:r>
            <a:r>
              <a:rPr lang="es-ES_tradnl" sz="11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3</a:t>
            </a:r>
          </a:p>
        </p:txBody>
      </p:sp>
      <p:grpSp>
        <p:nvGrpSpPr>
          <p:cNvPr id="112" name="Group 69"/>
          <p:cNvGrpSpPr>
            <a:grpSpLocks/>
          </p:cNvGrpSpPr>
          <p:nvPr/>
        </p:nvGrpSpPr>
        <p:grpSpPr bwMode="auto">
          <a:xfrm>
            <a:off x="4947767" y="2801715"/>
            <a:ext cx="508000" cy="571500"/>
            <a:chOff x="6980" y="6660"/>
            <a:chExt cx="800" cy="900"/>
          </a:xfrm>
        </p:grpSpPr>
        <p:sp>
          <p:nvSpPr>
            <p:cNvPr id="113" name="Oval 73"/>
            <p:cNvSpPr>
              <a:spLocks noChangeArrowheads="1"/>
            </p:cNvSpPr>
            <p:nvPr/>
          </p:nvSpPr>
          <p:spPr bwMode="auto">
            <a:xfrm>
              <a:off x="6980" y="6660"/>
              <a:ext cx="800" cy="7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14" name="Rectangle 72"/>
            <p:cNvSpPr>
              <a:spLocks noChangeArrowheads="1"/>
            </p:cNvSpPr>
            <p:nvPr/>
          </p:nvSpPr>
          <p:spPr bwMode="auto">
            <a:xfrm>
              <a:off x="6980" y="7020"/>
              <a:ext cx="800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15" name="Line 71"/>
            <p:cNvSpPr>
              <a:spLocks noChangeShapeType="1"/>
            </p:cNvSpPr>
            <p:nvPr/>
          </p:nvSpPr>
          <p:spPr bwMode="auto">
            <a:xfrm>
              <a:off x="6980" y="7300"/>
              <a:ext cx="8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16" name="Line 70"/>
            <p:cNvSpPr>
              <a:spLocks noChangeShapeType="1"/>
            </p:cNvSpPr>
            <p:nvPr/>
          </p:nvSpPr>
          <p:spPr bwMode="auto">
            <a:xfrm>
              <a:off x="7380" y="7020"/>
              <a:ext cx="0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117" name="Text Box 68"/>
          <p:cNvSpPr txBox="1">
            <a:spLocks noChangeArrowheads="1"/>
          </p:cNvSpPr>
          <p:nvPr/>
        </p:nvSpPr>
        <p:spPr bwMode="auto">
          <a:xfrm>
            <a:off x="4922741" y="2801715"/>
            <a:ext cx="9271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</a:t>
            </a: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7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2    9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6   13 </a:t>
            </a:r>
            <a:endParaRPr lang="es-ES_tradnl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18" name="Group 63"/>
          <p:cNvGrpSpPr>
            <a:grpSpLocks/>
          </p:cNvGrpSpPr>
          <p:nvPr/>
        </p:nvGrpSpPr>
        <p:grpSpPr bwMode="auto">
          <a:xfrm>
            <a:off x="6155854" y="1547590"/>
            <a:ext cx="508000" cy="571500"/>
            <a:chOff x="6980" y="6660"/>
            <a:chExt cx="800" cy="900"/>
          </a:xfrm>
        </p:grpSpPr>
        <p:sp>
          <p:nvSpPr>
            <p:cNvPr id="119" name="Oval 67"/>
            <p:cNvSpPr>
              <a:spLocks noChangeArrowheads="1"/>
            </p:cNvSpPr>
            <p:nvPr/>
          </p:nvSpPr>
          <p:spPr bwMode="auto">
            <a:xfrm>
              <a:off x="6980" y="6660"/>
              <a:ext cx="800" cy="7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20" name="Rectangle 66"/>
            <p:cNvSpPr>
              <a:spLocks noChangeArrowheads="1"/>
            </p:cNvSpPr>
            <p:nvPr/>
          </p:nvSpPr>
          <p:spPr bwMode="auto">
            <a:xfrm>
              <a:off x="6980" y="7020"/>
              <a:ext cx="800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21" name="Line 65"/>
            <p:cNvSpPr>
              <a:spLocks noChangeShapeType="1"/>
            </p:cNvSpPr>
            <p:nvPr/>
          </p:nvSpPr>
          <p:spPr bwMode="auto">
            <a:xfrm>
              <a:off x="6980" y="7300"/>
              <a:ext cx="8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22" name="Line 64"/>
            <p:cNvSpPr>
              <a:spLocks noChangeShapeType="1"/>
            </p:cNvSpPr>
            <p:nvPr/>
          </p:nvSpPr>
          <p:spPr bwMode="auto">
            <a:xfrm>
              <a:off x="7380" y="7020"/>
              <a:ext cx="0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123" name="Text Box 62"/>
          <p:cNvSpPr txBox="1">
            <a:spLocks noChangeArrowheads="1"/>
          </p:cNvSpPr>
          <p:nvPr/>
        </p:nvSpPr>
        <p:spPr bwMode="auto">
          <a:xfrm>
            <a:off x="6103467" y="1563465"/>
            <a:ext cx="9271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</a:t>
            </a: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1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b="1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5</a:t>
            </a: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 6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7    </a:t>
            </a:r>
            <a:r>
              <a:rPr lang="es-ES_tradnl" sz="1100" b="1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8</a:t>
            </a:r>
            <a:endParaRPr lang="es-ES_tradnl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24" name="Group 57"/>
          <p:cNvGrpSpPr>
            <a:grpSpLocks/>
          </p:cNvGrpSpPr>
          <p:nvPr/>
        </p:nvGrpSpPr>
        <p:grpSpPr bwMode="auto">
          <a:xfrm>
            <a:off x="7575079" y="1528540"/>
            <a:ext cx="508000" cy="571500"/>
            <a:chOff x="6980" y="6660"/>
            <a:chExt cx="800" cy="900"/>
          </a:xfrm>
        </p:grpSpPr>
        <p:sp>
          <p:nvSpPr>
            <p:cNvPr id="125" name="Oval 61"/>
            <p:cNvSpPr>
              <a:spLocks noChangeArrowheads="1"/>
            </p:cNvSpPr>
            <p:nvPr/>
          </p:nvSpPr>
          <p:spPr bwMode="auto">
            <a:xfrm>
              <a:off x="6980" y="6660"/>
              <a:ext cx="800" cy="7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26" name="Rectangle 60"/>
            <p:cNvSpPr>
              <a:spLocks noChangeArrowheads="1"/>
            </p:cNvSpPr>
            <p:nvPr/>
          </p:nvSpPr>
          <p:spPr bwMode="auto">
            <a:xfrm>
              <a:off x="6980" y="7020"/>
              <a:ext cx="800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27" name="Line 59"/>
            <p:cNvSpPr>
              <a:spLocks noChangeShapeType="1"/>
            </p:cNvSpPr>
            <p:nvPr/>
          </p:nvSpPr>
          <p:spPr bwMode="auto">
            <a:xfrm>
              <a:off x="6980" y="7300"/>
              <a:ext cx="8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28" name="Line 58"/>
            <p:cNvSpPr>
              <a:spLocks noChangeShapeType="1"/>
            </p:cNvSpPr>
            <p:nvPr/>
          </p:nvSpPr>
          <p:spPr bwMode="auto">
            <a:xfrm>
              <a:off x="7380" y="7020"/>
              <a:ext cx="0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129" name="Text Box 56"/>
          <p:cNvSpPr txBox="1">
            <a:spLocks noChangeArrowheads="1"/>
          </p:cNvSpPr>
          <p:nvPr/>
        </p:nvSpPr>
        <p:spPr bwMode="auto">
          <a:xfrm>
            <a:off x="7546105" y="1540446"/>
            <a:ext cx="9271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</a:t>
            </a: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1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7    8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10   11</a:t>
            </a:r>
            <a:endParaRPr lang="es-ES_tradnl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30" name="Group 51"/>
          <p:cNvGrpSpPr>
            <a:grpSpLocks/>
          </p:cNvGrpSpPr>
          <p:nvPr/>
        </p:nvGrpSpPr>
        <p:grpSpPr bwMode="auto">
          <a:xfrm>
            <a:off x="7176617" y="3382740"/>
            <a:ext cx="508000" cy="571500"/>
            <a:chOff x="6980" y="6660"/>
            <a:chExt cx="800" cy="900"/>
          </a:xfrm>
        </p:grpSpPr>
        <p:sp>
          <p:nvSpPr>
            <p:cNvPr id="131" name="Oval 55"/>
            <p:cNvSpPr>
              <a:spLocks noChangeArrowheads="1"/>
            </p:cNvSpPr>
            <p:nvPr/>
          </p:nvSpPr>
          <p:spPr bwMode="auto">
            <a:xfrm>
              <a:off x="6980" y="6660"/>
              <a:ext cx="800" cy="7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32" name="Rectangle 54"/>
            <p:cNvSpPr>
              <a:spLocks noChangeArrowheads="1"/>
            </p:cNvSpPr>
            <p:nvPr/>
          </p:nvSpPr>
          <p:spPr bwMode="auto">
            <a:xfrm>
              <a:off x="6980" y="7020"/>
              <a:ext cx="800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33" name="Line 53"/>
            <p:cNvSpPr>
              <a:spLocks noChangeShapeType="1"/>
            </p:cNvSpPr>
            <p:nvPr/>
          </p:nvSpPr>
          <p:spPr bwMode="auto">
            <a:xfrm>
              <a:off x="6980" y="7300"/>
              <a:ext cx="8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34" name="Line 52"/>
            <p:cNvSpPr>
              <a:spLocks noChangeShapeType="1"/>
            </p:cNvSpPr>
            <p:nvPr/>
          </p:nvSpPr>
          <p:spPr bwMode="auto">
            <a:xfrm>
              <a:off x="7380" y="7020"/>
              <a:ext cx="0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135" name="Text Box 50"/>
          <p:cNvSpPr txBox="1">
            <a:spLocks noChangeArrowheads="1"/>
          </p:cNvSpPr>
          <p:nvPr/>
        </p:nvSpPr>
        <p:spPr bwMode="auto">
          <a:xfrm>
            <a:off x="7144866" y="3387445"/>
            <a:ext cx="9271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7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13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9   </a:t>
            </a:r>
            <a:r>
              <a:rPr lang="es-ES_tradnl" sz="1100" b="1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16</a:t>
            </a:r>
            <a:endParaRPr lang="es-ES_tradnl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36" name="Group 45"/>
          <p:cNvGrpSpPr>
            <a:grpSpLocks/>
          </p:cNvGrpSpPr>
          <p:nvPr/>
        </p:nvGrpSpPr>
        <p:grpSpPr bwMode="auto">
          <a:xfrm>
            <a:off x="9773936" y="2497417"/>
            <a:ext cx="508000" cy="571500"/>
            <a:chOff x="6980" y="6660"/>
            <a:chExt cx="800" cy="900"/>
          </a:xfrm>
        </p:grpSpPr>
        <p:sp>
          <p:nvSpPr>
            <p:cNvPr id="137" name="Oval 49"/>
            <p:cNvSpPr>
              <a:spLocks noChangeArrowheads="1"/>
            </p:cNvSpPr>
            <p:nvPr/>
          </p:nvSpPr>
          <p:spPr bwMode="auto">
            <a:xfrm>
              <a:off x="6980" y="6660"/>
              <a:ext cx="800" cy="7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38" name="Rectangle 48"/>
            <p:cNvSpPr>
              <a:spLocks noChangeArrowheads="1"/>
            </p:cNvSpPr>
            <p:nvPr/>
          </p:nvSpPr>
          <p:spPr bwMode="auto">
            <a:xfrm>
              <a:off x="6980" y="7020"/>
              <a:ext cx="800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39" name="Line 47"/>
            <p:cNvSpPr>
              <a:spLocks noChangeShapeType="1"/>
            </p:cNvSpPr>
            <p:nvPr/>
          </p:nvSpPr>
          <p:spPr bwMode="auto">
            <a:xfrm>
              <a:off x="6980" y="7300"/>
              <a:ext cx="8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40" name="Line 46"/>
            <p:cNvSpPr>
              <a:spLocks noChangeShapeType="1"/>
            </p:cNvSpPr>
            <p:nvPr/>
          </p:nvSpPr>
          <p:spPr bwMode="auto">
            <a:xfrm>
              <a:off x="7380" y="7020"/>
              <a:ext cx="0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141" name="Text Box 44"/>
          <p:cNvSpPr txBox="1">
            <a:spLocks noChangeArrowheads="1"/>
          </p:cNvSpPr>
          <p:nvPr/>
        </p:nvSpPr>
        <p:spPr bwMode="auto">
          <a:xfrm>
            <a:off x="9583267" y="2521341"/>
            <a:ext cx="9271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     </a:t>
            </a: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0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 11   11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 16   16</a:t>
            </a:r>
            <a:endParaRPr lang="es-ES_tradnl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42" name="Group 39"/>
          <p:cNvGrpSpPr>
            <a:grpSpLocks/>
          </p:cNvGrpSpPr>
          <p:nvPr/>
        </p:nvGrpSpPr>
        <p:grpSpPr bwMode="auto">
          <a:xfrm>
            <a:off x="9329267" y="4363815"/>
            <a:ext cx="508000" cy="571500"/>
            <a:chOff x="6980" y="6660"/>
            <a:chExt cx="800" cy="900"/>
          </a:xfrm>
        </p:grpSpPr>
        <p:sp>
          <p:nvSpPr>
            <p:cNvPr id="143" name="Oval 43"/>
            <p:cNvSpPr>
              <a:spLocks noChangeArrowheads="1"/>
            </p:cNvSpPr>
            <p:nvPr/>
          </p:nvSpPr>
          <p:spPr bwMode="auto">
            <a:xfrm>
              <a:off x="6980" y="6660"/>
              <a:ext cx="800" cy="7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44" name="Rectangle 42"/>
            <p:cNvSpPr>
              <a:spLocks noChangeArrowheads="1"/>
            </p:cNvSpPr>
            <p:nvPr/>
          </p:nvSpPr>
          <p:spPr bwMode="auto">
            <a:xfrm>
              <a:off x="6980" y="7020"/>
              <a:ext cx="800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45" name="Line 41"/>
            <p:cNvSpPr>
              <a:spLocks noChangeShapeType="1"/>
            </p:cNvSpPr>
            <p:nvPr/>
          </p:nvSpPr>
          <p:spPr bwMode="auto">
            <a:xfrm>
              <a:off x="6980" y="7300"/>
              <a:ext cx="8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46" name="Line 40"/>
            <p:cNvSpPr>
              <a:spLocks noChangeShapeType="1"/>
            </p:cNvSpPr>
            <p:nvPr/>
          </p:nvSpPr>
          <p:spPr bwMode="auto">
            <a:xfrm>
              <a:off x="7380" y="7020"/>
              <a:ext cx="0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147" name="Text Box 38"/>
          <p:cNvSpPr txBox="1">
            <a:spLocks noChangeArrowheads="1"/>
          </p:cNvSpPr>
          <p:nvPr/>
        </p:nvSpPr>
        <p:spPr bwMode="auto">
          <a:xfrm>
            <a:off x="9138767" y="4395565"/>
            <a:ext cx="9271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     </a:t>
            </a: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0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 14   14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 16   16</a:t>
            </a:r>
            <a:endParaRPr lang="es-ES_tradnl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48" name="Group 33"/>
          <p:cNvGrpSpPr>
            <a:grpSpLocks/>
          </p:cNvGrpSpPr>
          <p:nvPr/>
        </p:nvGrpSpPr>
        <p:grpSpPr bwMode="auto">
          <a:xfrm>
            <a:off x="6567017" y="4563840"/>
            <a:ext cx="508000" cy="571500"/>
            <a:chOff x="6980" y="6660"/>
            <a:chExt cx="800" cy="900"/>
          </a:xfrm>
        </p:grpSpPr>
        <p:sp>
          <p:nvSpPr>
            <p:cNvPr id="149" name="Oval 37"/>
            <p:cNvSpPr>
              <a:spLocks noChangeArrowheads="1"/>
            </p:cNvSpPr>
            <p:nvPr/>
          </p:nvSpPr>
          <p:spPr bwMode="auto">
            <a:xfrm>
              <a:off x="6980" y="6660"/>
              <a:ext cx="800" cy="7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50" name="Rectangle 36"/>
            <p:cNvSpPr>
              <a:spLocks noChangeArrowheads="1"/>
            </p:cNvSpPr>
            <p:nvPr/>
          </p:nvSpPr>
          <p:spPr bwMode="auto">
            <a:xfrm>
              <a:off x="6980" y="7020"/>
              <a:ext cx="800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51" name="Line 35"/>
            <p:cNvSpPr>
              <a:spLocks noChangeShapeType="1"/>
            </p:cNvSpPr>
            <p:nvPr/>
          </p:nvSpPr>
          <p:spPr bwMode="auto">
            <a:xfrm>
              <a:off x="6980" y="7300"/>
              <a:ext cx="8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52" name="Line 34"/>
            <p:cNvSpPr>
              <a:spLocks noChangeShapeType="1"/>
            </p:cNvSpPr>
            <p:nvPr/>
          </p:nvSpPr>
          <p:spPr bwMode="auto">
            <a:xfrm>
              <a:off x="7380" y="7020"/>
              <a:ext cx="0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153" name="Text Box 32"/>
          <p:cNvSpPr txBox="1">
            <a:spLocks noChangeArrowheads="1"/>
          </p:cNvSpPr>
          <p:nvPr/>
        </p:nvSpPr>
        <p:spPr bwMode="auto">
          <a:xfrm>
            <a:off x="6557492" y="4595590"/>
            <a:ext cx="9271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</a:t>
            </a: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1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5   6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7    8</a:t>
            </a:r>
            <a:endParaRPr lang="es-ES_tradnl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54" name="Group 27"/>
          <p:cNvGrpSpPr>
            <a:grpSpLocks/>
          </p:cNvGrpSpPr>
          <p:nvPr/>
        </p:nvGrpSpPr>
        <p:grpSpPr bwMode="auto">
          <a:xfrm>
            <a:off x="6757517" y="5811615"/>
            <a:ext cx="508000" cy="571500"/>
            <a:chOff x="6980" y="6660"/>
            <a:chExt cx="800" cy="900"/>
          </a:xfrm>
        </p:grpSpPr>
        <p:sp>
          <p:nvSpPr>
            <p:cNvPr id="155" name="Oval 31"/>
            <p:cNvSpPr>
              <a:spLocks noChangeArrowheads="1"/>
            </p:cNvSpPr>
            <p:nvPr/>
          </p:nvSpPr>
          <p:spPr bwMode="auto">
            <a:xfrm>
              <a:off x="6980" y="6660"/>
              <a:ext cx="800" cy="7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56" name="Rectangle 30"/>
            <p:cNvSpPr>
              <a:spLocks noChangeArrowheads="1"/>
            </p:cNvSpPr>
            <p:nvPr/>
          </p:nvSpPr>
          <p:spPr bwMode="auto">
            <a:xfrm>
              <a:off x="6980" y="7020"/>
              <a:ext cx="800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57" name="Line 29"/>
            <p:cNvSpPr>
              <a:spLocks noChangeShapeType="1"/>
            </p:cNvSpPr>
            <p:nvPr/>
          </p:nvSpPr>
          <p:spPr bwMode="auto">
            <a:xfrm>
              <a:off x="6980" y="7300"/>
              <a:ext cx="8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58" name="Line 28"/>
            <p:cNvSpPr>
              <a:spLocks noChangeShapeType="1"/>
            </p:cNvSpPr>
            <p:nvPr/>
          </p:nvSpPr>
          <p:spPr bwMode="auto">
            <a:xfrm>
              <a:off x="7380" y="7020"/>
              <a:ext cx="0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159" name="Text Box 26"/>
          <p:cNvSpPr txBox="1">
            <a:spLocks noChangeArrowheads="1"/>
          </p:cNvSpPr>
          <p:nvPr/>
        </p:nvSpPr>
        <p:spPr bwMode="auto">
          <a:xfrm>
            <a:off x="6744817" y="5843365"/>
            <a:ext cx="9271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</a:t>
            </a: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0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5    5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8    8</a:t>
            </a:r>
            <a:endParaRPr lang="es-ES_tradnl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60" name="Group 21"/>
          <p:cNvGrpSpPr>
            <a:grpSpLocks/>
          </p:cNvGrpSpPr>
          <p:nvPr/>
        </p:nvGrpSpPr>
        <p:grpSpPr bwMode="auto">
          <a:xfrm>
            <a:off x="7890992" y="5754465"/>
            <a:ext cx="508000" cy="571500"/>
            <a:chOff x="6980" y="6660"/>
            <a:chExt cx="800" cy="900"/>
          </a:xfrm>
        </p:grpSpPr>
        <p:sp>
          <p:nvSpPr>
            <p:cNvPr id="161" name="Oval 25"/>
            <p:cNvSpPr>
              <a:spLocks noChangeArrowheads="1"/>
            </p:cNvSpPr>
            <p:nvPr/>
          </p:nvSpPr>
          <p:spPr bwMode="auto">
            <a:xfrm>
              <a:off x="6980" y="6660"/>
              <a:ext cx="800" cy="7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62" name="Rectangle 24"/>
            <p:cNvSpPr>
              <a:spLocks noChangeArrowheads="1"/>
            </p:cNvSpPr>
            <p:nvPr/>
          </p:nvSpPr>
          <p:spPr bwMode="auto">
            <a:xfrm>
              <a:off x="6980" y="7020"/>
              <a:ext cx="800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63" name="Line 23"/>
            <p:cNvSpPr>
              <a:spLocks noChangeShapeType="1"/>
            </p:cNvSpPr>
            <p:nvPr/>
          </p:nvSpPr>
          <p:spPr bwMode="auto">
            <a:xfrm>
              <a:off x="6980" y="7300"/>
              <a:ext cx="8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64" name="Line 22"/>
            <p:cNvSpPr>
              <a:spLocks noChangeShapeType="1"/>
            </p:cNvSpPr>
            <p:nvPr/>
          </p:nvSpPr>
          <p:spPr bwMode="auto">
            <a:xfrm>
              <a:off x="7380" y="7020"/>
              <a:ext cx="0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165" name="Text Box 20"/>
          <p:cNvSpPr txBox="1">
            <a:spLocks noChangeArrowheads="1"/>
          </p:cNvSpPr>
          <p:nvPr/>
        </p:nvSpPr>
        <p:spPr bwMode="auto">
          <a:xfrm>
            <a:off x="7821454" y="5797846"/>
            <a:ext cx="9271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</a:t>
            </a: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0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8    8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11   11</a:t>
            </a:r>
            <a:endParaRPr lang="es-ES_tradnl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66" name="Group 15"/>
          <p:cNvGrpSpPr>
            <a:grpSpLocks/>
          </p:cNvGrpSpPr>
          <p:nvPr/>
        </p:nvGrpSpPr>
        <p:grpSpPr bwMode="auto">
          <a:xfrm>
            <a:off x="5414492" y="5811615"/>
            <a:ext cx="508000" cy="571500"/>
            <a:chOff x="6980" y="6660"/>
            <a:chExt cx="800" cy="900"/>
          </a:xfrm>
        </p:grpSpPr>
        <p:sp>
          <p:nvSpPr>
            <p:cNvPr id="167" name="Oval 19"/>
            <p:cNvSpPr>
              <a:spLocks noChangeArrowheads="1"/>
            </p:cNvSpPr>
            <p:nvPr/>
          </p:nvSpPr>
          <p:spPr bwMode="auto">
            <a:xfrm>
              <a:off x="6980" y="6660"/>
              <a:ext cx="800" cy="7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68" name="Rectangle 18"/>
            <p:cNvSpPr>
              <a:spLocks noChangeArrowheads="1"/>
            </p:cNvSpPr>
            <p:nvPr/>
          </p:nvSpPr>
          <p:spPr bwMode="auto">
            <a:xfrm>
              <a:off x="6980" y="7020"/>
              <a:ext cx="800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69" name="Line 17"/>
            <p:cNvSpPr>
              <a:spLocks noChangeShapeType="1"/>
            </p:cNvSpPr>
            <p:nvPr/>
          </p:nvSpPr>
          <p:spPr bwMode="auto">
            <a:xfrm>
              <a:off x="6980" y="7300"/>
              <a:ext cx="8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70" name="Line 16"/>
            <p:cNvSpPr>
              <a:spLocks noChangeShapeType="1"/>
            </p:cNvSpPr>
            <p:nvPr/>
          </p:nvSpPr>
          <p:spPr bwMode="auto">
            <a:xfrm>
              <a:off x="7380" y="7020"/>
              <a:ext cx="0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171" name="Text Box 14"/>
          <p:cNvSpPr txBox="1">
            <a:spLocks noChangeArrowheads="1"/>
          </p:cNvSpPr>
          <p:nvPr/>
        </p:nvSpPr>
        <p:spPr bwMode="auto">
          <a:xfrm>
            <a:off x="5411317" y="5832195"/>
            <a:ext cx="9271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</a:t>
            </a: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0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1    1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5    5</a:t>
            </a:r>
            <a:endParaRPr lang="es-ES_tradnl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72" name="Group 9"/>
          <p:cNvGrpSpPr>
            <a:grpSpLocks/>
          </p:cNvGrpSpPr>
          <p:nvPr/>
        </p:nvGrpSpPr>
        <p:grpSpPr bwMode="auto">
          <a:xfrm>
            <a:off x="4442942" y="4935315"/>
            <a:ext cx="508000" cy="571500"/>
            <a:chOff x="6980" y="6660"/>
            <a:chExt cx="800" cy="900"/>
          </a:xfrm>
        </p:grpSpPr>
        <p:sp>
          <p:nvSpPr>
            <p:cNvPr id="173" name="Oval 13"/>
            <p:cNvSpPr>
              <a:spLocks noChangeArrowheads="1"/>
            </p:cNvSpPr>
            <p:nvPr/>
          </p:nvSpPr>
          <p:spPr bwMode="auto">
            <a:xfrm>
              <a:off x="6980" y="6660"/>
              <a:ext cx="800" cy="7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74" name="Rectangle 12"/>
            <p:cNvSpPr>
              <a:spLocks noChangeArrowheads="1"/>
            </p:cNvSpPr>
            <p:nvPr/>
          </p:nvSpPr>
          <p:spPr bwMode="auto">
            <a:xfrm>
              <a:off x="6980" y="7020"/>
              <a:ext cx="800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75" name="Line 11"/>
            <p:cNvSpPr>
              <a:spLocks noChangeShapeType="1"/>
            </p:cNvSpPr>
            <p:nvPr/>
          </p:nvSpPr>
          <p:spPr bwMode="auto">
            <a:xfrm>
              <a:off x="6980" y="7300"/>
              <a:ext cx="8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76" name="Line 10"/>
            <p:cNvSpPr>
              <a:spLocks noChangeShapeType="1"/>
            </p:cNvSpPr>
            <p:nvPr/>
          </p:nvSpPr>
          <p:spPr bwMode="auto">
            <a:xfrm>
              <a:off x="7380" y="7020"/>
              <a:ext cx="0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177" name="Text Box 8"/>
          <p:cNvSpPr txBox="1">
            <a:spLocks noChangeArrowheads="1"/>
          </p:cNvSpPr>
          <p:nvPr/>
        </p:nvSpPr>
        <p:spPr bwMode="auto">
          <a:xfrm>
            <a:off x="4442942" y="4936515"/>
            <a:ext cx="9271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</a:t>
            </a: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0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0    0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1    1</a:t>
            </a:r>
            <a:endParaRPr lang="es-ES_tradnl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78" name="Group 3"/>
          <p:cNvGrpSpPr>
            <a:grpSpLocks/>
          </p:cNvGrpSpPr>
          <p:nvPr/>
        </p:nvGrpSpPr>
        <p:grpSpPr bwMode="auto">
          <a:xfrm>
            <a:off x="8795867" y="5227415"/>
            <a:ext cx="508000" cy="571500"/>
            <a:chOff x="6980" y="6660"/>
            <a:chExt cx="800" cy="900"/>
          </a:xfrm>
        </p:grpSpPr>
        <p:sp>
          <p:nvSpPr>
            <p:cNvPr id="179" name="Oval 7"/>
            <p:cNvSpPr>
              <a:spLocks noChangeArrowheads="1"/>
            </p:cNvSpPr>
            <p:nvPr/>
          </p:nvSpPr>
          <p:spPr bwMode="auto">
            <a:xfrm>
              <a:off x="6980" y="6660"/>
              <a:ext cx="800" cy="7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80" name="Rectangle 6"/>
            <p:cNvSpPr>
              <a:spLocks noChangeArrowheads="1"/>
            </p:cNvSpPr>
            <p:nvPr/>
          </p:nvSpPr>
          <p:spPr bwMode="auto">
            <a:xfrm>
              <a:off x="6980" y="7020"/>
              <a:ext cx="800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81" name="Line 5"/>
            <p:cNvSpPr>
              <a:spLocks noChangeShapeType="1"/>
            </p:cNvSpPr>
            <p:nvPr/>
          </p:nvSpPr>
          <p:spPr bwMode="auto">
            <a:xfrm>
              <a:off x="6980" y="7300"/>
              <a:ext cx="8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82" name="Line 4"/>
            <p:cNvSpPr>
              <a:spLocks noChangeShapeType="1"/>
            </p:cNvSpPr>
            <p:nvPr/>
          </p:nvSpPr>
          <p:spPr bwMode="auto">
            <a:xfrm>
              <a:off x="7380" y="7020"/>
              <a:ext cx="0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183" name="Text Box 2"/>
          <p:cNvSpPr txBox="1">
            <a:spLocks noChangeArrowheads="1"/>
          </p:cNvSpPr>
          <p:nvPr/>
        </p:nvSpPr>
        <p:spPr bwMode="auto">
          <a:xfrm>
            <a:off x="8605367" y="5259165"/>
            <a:ext cx="9271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      </a:t>
            </a: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0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  11  11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  14  14</a:t>
            </a:r>
            <a:endParaRPr lang="es-ES_tradnl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4" name="Text Box 1"/>
          <p:cNvSpPr txBox="1">
            <a:spLocks noChangeArrowheads="1"/>
          </p:cNvSpPr>
          <p:nvPr/>
        </p:nvSpPr>
        <p:spPr bwMode="auto">
          <a:xfrm>
            <a:off x="3431704" y="4243166"/>
            <a:ext cx="687388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</a:t>
            </a:r>
            <a:r>
              <a:rPr lang="es-ES_tradnl" sz="1000" b="1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0 </a:t>
            </a:r>
            <a:r>
              <a:rPr lang="es-ES_tradnl" sz="1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0</a:t>
            </a:r>
            <a:endParaRPr lang="es-ES_tradnl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5" name="Rectangle 180"/>
          <p:cNvSpPr>
            <a:spLocks noChangeArrowheads="1"/>
          </p:cNvSpPr>
          <p:nvPr/>
        </p:nvSpPr>
        <p:spPr bwMode="auto">
          <a:xfrm>
            <a:off x="2335214" y="1605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s-PE">
              <a:latin typeface="Arial" pitchFamily="34" charset="0"/>
              <a:cs typeface="Arial" pitchFamily="34" charset="0"/>
            </a:endParaRPr>
          </a:p>
        </p:txBody>
      </p:sp>
      <p:sp>
        <p:nvSpPr>
          <p:cNvPr id="186" name="Rectangle 220"/>
          <p:cNvSpPr>
            <a:spLocks noChangeArrowheads="1"/>
          </p:cNvSpPr>
          <p:nvPr/>
        </p:nvSpPr>
        <p:spPr bwMode="auto">
          <a:xfrm>
            <a:off x="3413126" y="39825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s-PE">
              <a:latin typeface="Arial" pitchFamily="34" charset="0"/>
              <a:cs typeface="Arial" pitchFamily="34" charset="0"/>
            </a:endParaRPr>
          </a:p>
        </p:txBody>
      </p:sp>
      <p:sp>
        <p:nvSpPr>
          <p:cNvPr id="187" name="Text Box 87"/>
          <p:cNvSpPr txBox="1">
            <a:spLocks noChangeArrowheads="1"/>
          </p:cNvSpPr>
          <p:nvPr/>
        </p:nvSpPr>
        <p:spPr bwMode="auto">
          <a:xfrm>
            <a:off x="9938242" y="4985913"/>
            <a:ext cx="4381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N-2</a:t>
            </a:r>
            <a:endParaRPr lang="es-ES_tradnl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D4CCCD1-5BB0-16DE-5716-AA606DCE9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4</a:t>
            </a:fld>
            <a:endParaRPr lang="es-PE"/>
          </a:p>
        </p:txBody>
      </p:sp>
      <p:graphicFrame>
        <p:nvGraphicFramePr>
          <p:cNvPr id="188" name="4 Tabla">
            <a:extLst>
              <a:ext uri="{FF2B5EF4-FFF2-40B4-BE49-F238E27FC236}">
                <a16:creationId xmlns:a16="http://schemas.microsoft.com/office/drawing/2014/main" id="{798CBB21-32D0-6C3F-8920-F441DE0292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7365956"/>
              </p:ext>
            </p:extLst>
          </p:nvPr>
        </p:nvGraphicFramePr>
        <p:xfrm>
          <a:off x="9730124" y="1232931"/>
          <a:ext cx="2457564" cy="109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575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207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s-ES_tradnl" sz="24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Arial Narrow" panose="020B0606020202030204" pitchFamily="34" charset="0"/>
                        </a:rPr>
                        <a:t>RUTA CRÍTICA: GHIKMN      GHIKL DURACION: 16 </a:t>
                      </a:r>
                      <a:r>
                        <a:rPr lang="es-ES_tradnl" sz="2400" dirty="0" err="1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Arial Narrow" panose="020B0606020202030204" pitchFamily="34" charset="0"/>
                        </a:rPr>
                        <a:t>sem</a:t>
                      </a:r>
                      <a:r>
                        <a:rPr lang="es-ES_tradnl" sz="24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Arial Narrow" panose="020B0606020202030204" pitchFamily="34" charset="0"/>
                        </a:rPr>
                        <a:t>.</a:t>
                      </a:r>
                      <a:endParaRPr lang="es-PE" sz="2400" dirty="0"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Times New Roman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9" name="5 Elipse">
            <a:extLst>
              <a:ext uri="{FF2B5EF4-FFF2-40B4-BE49-F238E27FC236}">
                <a16:creationId xmlns:a16="http://schemas.microsoft.com/office/drawing/2014/main" id="{84664110-64F7-6CAC-E9D5-0002DBE88BB3}"/>
              </a:ext>
            </a:extLst>
          </p:cNvPr>
          <p:cNvSpPr/>
          <p:nvPr/>
        </p:nvSpPr>
        <p:spPr>
          <a:xfrm>
            <a:off x="10600818" y="5008223"/>
            <a:ext cx="1530785" cy="156102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srgbClr val="FF0000"/>
                </a:solidFill>
                <a:latin typeface="Arial Narrow" pitchFamily="34" charset="0"/>
              </a:rPr>
              <a:t>H</a:t>
            </a:r>
          </a:p>
          <a:p>
            <a:pPr algn="ctr"/>
            <a:endParaRPr lang="es-ES" sz="2800" b="1" dirty="0">
              <a:solidFill>
                <a:srgbClr val="FF0000"/>
              </a:solidFill>
              <a:latin typeface="Arial Narrow" pitchFamily="34" charset="0"/>
            </a:endParaRPr>
          </a:p>
          <a:p>
            <a:pPr algn="ctr"/>
            <a:endParaRPr lang="es-PE" sz="28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graphicFrame>
        <p:nvGraphicFramePr>
          <p:cNvPr id="190" name="3 Tabla">
            <a:extLst>
              <a:ext uri="{FF2B5EF4-FFF2-40B4-BE49-F238E27FC236}">
                <a16:creationId xmlns:a16="http://schemas.microsoft.com/office/drawing/2014/main" id="{6229BA77-20EE-40D0-D4A9-DD9496FCDF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4809459"/>
              </p:ext>
            </p:extLst>
          </p:nvPr>
        </p:nvGraphicFramePr>
        <p:xfrm>
          <a:off x="10594805" y="5642593"/>
          <a:ext cx="1530784" cy="11536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4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62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81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2800" b="1" kern="1200" dirty="0" err="1">
                          <a:solidFill>
                            <a:schemeClr val="tx1"/>
                          </a:solidFill>
                          <a:latin typeface="Arial Narrow" pitchFamily="34" charset="0"/>
                          <a:ea typeface="+mn-ea"/>
                          <a:cs typeface="+mn-cs"/>
                        </a:rPr>
                        <a:t>TIP</a:t>
                      </a:r>
                      <a:endParaRPr lang="es-PE" sz="2800" b="1" kern="1200" dirty="0">
                        <a:solidFill>
                          <a:schemeClr val="tx1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2800" b="1" kern="1200" dirty="0" err="1">
                          <a:solidFill>
                            <a:srgbClr val="FF0000"/>
                          </a:solidFill>
                          <a:latin typeface="Arial Narrow" pitchFamily="34" charset="0"/>
                          <a:ea typeface="+mn-ea"/>
                          <a:cs typeface="+mn-cs"/>
                        </a:rPr>
                        <a:t>TIL</a:t>
                      </a:r>
                      <a:endParaRPr lang="es-PE" sz="2800" b="1" kern="1200" dirty="0">
                        <a:solidFill>
                          <a:srgbClr val="FF0000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81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2800" b="1" kern="1200" dirty="0" err="1">
                          <a:solidFill>
                            <a:srgbClr val="FF0000"/>
                          </a:solidFill>
                          <a:latin typeface="Arial Narrow" pitchFamily="34" charset="0"/>
                          <a:ea typeface="+mn-ea"/>
                          <a:cs typeface="+mn-cs"/>
                        </a:rPr>
                        <a:t>TTP</a:t>
                      </a:r>
                      <a:endParaRPr lang="es-PE" sz="2800" b="1" kern="1200" dirty="0">
                        <a:solidFill>
                          <a:srgbClr val="FF0000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2800" b="1" kern="1200" dirty="0" err="1">
                          <a:solidFill>
                            <a:schemeClr val="tx1"/>
                          </a:solidFill>
                          <a:latin typeface="Arial Narrow" pitchFamily="34" charset="0"/>
                          <a:ea typeface="+mn-ea"/>
                          <a:cs typeface="+mn-cs"/>
                        </a:rPr>
                        <a:t>TTL</a:t>
                      </a:r>
                      <a:endParaRPr lang="es-PE" sz="2800" b="1" kern="1200" dirty="0">
                        <a:solidFill>
                          <a:schemeClr val="tx1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1" name="Rectangle 2">
            <a:extLst>
              <a:ext uri="{FF2B5EF4-FFF2-40B4-BE49-F238E27FC236}">
                <a16:creationId xmlns:a16="http://schemas.microsoft.com/office/drawing/2014/main" id="{33DC8595-CF7A-7D08-915E-D1131CF15595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6096000" y="109243"/>
            <a:ext cx="6096000" cy="858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2pPr>
            <a:lvl3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3pPr>
            <a:lvl4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4pPr>
            <a:lvl5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5pPr>
            <a:lvl6pPr marL="4572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6pPr>
            <a:lvl7pPr marL="9144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7pPr>
            <a:lvl8pPr marL="13716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8pPr>
            <a:lvl9pPr marL="18288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/>
            <a:r>
              <a:rPr lang="es-ES_tradnl" sz="3200" b="0" i="0" dirty="0">
                <a:solidFill>
                  <a:schemeClr val="bg1"/>
                </a:solidFill>
                <a:latin typeface="Bauhaus 93" pitchFamily="82" charset="0"/>
                <a:ea typeface="+mn-ea"/>
                <a:cs typeface="+mn-cs"/>
              </a:rPr>
              <a:t>Problema 1</a:t>
            </a:r>
          </a:p>
        </p:txBody>
      </p:sp>
    </p:spTree>
    <p:extLst>
      <p:ext uri="{BB962C8B-B14F-4D97-AF65-F5344CB8AC3E}">
        <p14:creationId xmlns:p14="http://schemas.microsoft.com/office/powerpoint/2010/main" val="748810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/>
      <p:bldP spid="111" grpId="0"/>
      <p:bldP spid="117" grpId="0"/>
      <p:bldP spid="123" grpId="0"/>
      <p:bldP spid="129" grpId="0"/>
      <p:bldP spid="135" grpId="0"/>
      <p:bldP spid="141" grpId="0"/>
      <p:bldP spid="147" grpId="0"/>
      <p:bldP spid="153" grpId="0"/>
      <p:bldP spid="159" grpId="0"/>
      <p:bldP spid="165" grpId="0"/>
      <p:bldP spid="171" grpId="0"/>
      <p:bldP spid="177" grpId="0"/>
      <p:bldP spid="18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ANIVAL TORRE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7123F-EA94-4AF6-90FD-8402484B591B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5" name="Tab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7264493"/>
              </p:ext>
            </p:extLst>
          </p:nvPr>
        </p:nvGraphicFramePr>
        <p:xfrm>
          <a:off x="233079" y="1403523"/>
          <a:ext cx="9395010" cy="51956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5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70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12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81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81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08113">
                <a:tc>
                  <a:txBody>
                    <a:bodyPr/>
                    <a:lstStyle/>
                    <a:p>
                      <a:pPr marL="147320" marR="74930" indent="-11938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 dirty="0">
                          <a:effectLst/>
                          <a:latin typeface="Arial Narrow" panose="020B0606020202030204" pitchFamily="34" charset="0"/>
                        </a:rPr>
                        <a:t>Ta rea</a:t>
                      </a:r>
                      <a:endParaRPr lang="es-PE" sz="2400" b="1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1905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PE" sz="2400" b="1" dirty="0">
                          <a:effectLst/>
                          <a:latin typeface="Arial Narrow" panose="020B0606020202030204" pitchFamily="34" charset="0"/>
                        </a:rPr>
                        <a:t>Descripción</a:t>
                      </a:r>
                      <a:endParaRPr lang="es-PE" sz="2400" b="1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 dirty="0">
                          <a:effectLst/>
                          <a:latin typeface="Arial Narrow" panose="020B0606020202030204" pitchFamily="34" charset="0"/>
                        </a:rPr>
                        <a:t>Predecesores Inmediatos</a:t>
                      </a:r>
                      <a:endParaRPr lang="es-PE" sz="2400" b="1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901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 dirty="0">
                          <a:effectLst/>
                          <a:latin typeface="Arial Narrow" panose="020B0606020202030204" pitchFamily="34" charset="0"/>
                        </a:rPr>
                        <a:t>Tiempo</a:t>
                      </a:r>
                      <a:endParaRPr lang="es-PE" sz="2400" b="1" dirty="0">
                        <a:effectLst/>
                        <a:latin typeface="Arial Narrow" panose="020B0606020202030204" pitchFamily="34" charset="0"/>
                      </a:endParaRPr>
                    </a:p>
                    <a:p>
                      <a:pPr marL="147320" marR="74930" indent="-901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 dirty="0">
                          <a:effectLst/>
                          <a:latin typeface="Arial Narrow" panose="020B0606020202030204" pitchFamily="34" charset="0"/>
                        </a:rPr>
                        <a:t>Normal</a:t>
                      </a:r>
                      <a:endParaRPr lang="es-PE" sz="2400" b="1" dirty="0">
                        <a:effectLst/>
                        <a:latin typeface="Arial Narrow" panose="020B0606020202030204" pitchFamily="34" charset="0"/>
                      </a:endParaRPr>
                    </a:p>
                    <a:p>
                      <a:pPr marL="147320" marR="74930" indent="-901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 dirty="0">
                          <a:effectLst/>
                          <a:latin typeface="Arial Narrow" panose="020B0606020202030204" pitchFamily="34" charset="0"/>
                        </a:rPr>
                        <a:t>(Min)</a:t>
                      </a:r>
                      <a:endParaRPr lang="es-PE" sz="2400" b="1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R="74930" indent="-4445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 dirty="0">
                          <a:effectLst/>
                          <a:latin typeface="Arial Narrow" panose="020B0606020202030204" pitchFamily="34" charset="0"/>
                        </a:rPr>
                        <a:t>Tiempo Choque</a:t>
                      </a:r>
                      <a:endParaRPr lang="es-PE" sz="2400" b="1" dirty="0">
                        <a:effectLst/>
                        <a:latin typeface="Arial Narrow" panose="020B0606020202030204" pitchFamily="34" charset="0"/>
                      </a:endParaRPr>
                    </a:p>
                    <a:p>
                      <a:pPr marR="74930" indent="-4445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 dirty="0">
                          <a:effectLst/>
                          <a:latin typeface="Arial Narrow" panose="020B0606020202030204" pitchFamily="34" charset="0"/>
                        </a:rPr>
                        <a:t>(Min)</a:t>
                      </a:r>
                      <a:endParaRPr lang="es-PE" sz="2400" b="1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901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>
                          <a:effectLst/>
                          <a:latin typeface="Arial Narrow" panose="020B0606020202030204" pitchFamily="34" charset="0"/>
                        </a:rPr>
                        <a:t>C.Ch-C.N.</a:t>
                      </a:r>
                      <a:endParaRPr lang="es-PE" sz="2400" b="1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492">
                <a:tc>
                  <a:txBody>
                    <a:bodyPr/>
                    <a:lstStyle/>
                    <a:p>
                      <a:pPr marL="147320" marR="74930" indent="-1905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>
                          <a:effectLst/>
                          <a:latin typeface="Arial Narrow" panose="020B0606020202030204" pitchFamily="34" charset="0"/>
                        </a:rPr>
                        <a:t>A</a:t>
                      </a:r>
                      <a:endParaRPr lang="es-PE" sz="2400" b="1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14732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 dirty="0">
                          <a:effectLst/>
                          <a:latin typeface="Arial Narrow" panose="020B0606020202030204" pitchFamily="34" charset="0"/>
                        </a:rPr>
                        <a:t>Preparar las ruedas</a:t>
                      </a:r>
                      <a:endParaRPr lang="es-PE" sz="2400" b="1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>
                          <a:effectLst/>
                          <a:latin typeface="Arial Narrow" panose="020B0606020202030204" pitchFamily="34" charset="0"/>
                        </a:rPr>
                        <a:t>Ninguno</a:t>
                      </a:r>
                      <a:endParaRPr lang="es-PE" sz="2400" b="1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901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>
                          <a:effectLst/>
                          <a:latin typeface="Arial Narrow" panose="020B0606020202030204" pitchFamily="34" charset="0"/>
                        </a:rPr>
                        <a:t>10</a:t>
                      </a:r>
                      <a:endParaRPr lang="es-PE" sz="2400" b="1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1917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 dirty="0">
                          <a:effectLst/>
                          <a:latin typeface="Arial Narrow" panose="020B0606020202030204" pitchFamily="34" charset="0"/>
                        </a:rPr>
                        <a:t>5</a:t>
                      </a:r>
                      <a:endParaRPr lang="es-PE" sz="2400" b="1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901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 dirty="0">
                          <a:effectLst/>
                          <a:latin typeface="Arial Narrow" panose="020B0606020202030204" pitchFamily="34" charset="0"/>
                        </a:rPr>
                        <a:t>5</a:t>
                      </a:r>
                      <a:endParaRPr lang="es-PE" sz="2400" b="1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492">
                <a:tc>
                  <a:txBody>
                    <a:bodyPr/>
                    <a:lstStyle/>
                    <a:p>
                      <a:pPr marL="147320" marR="74930" indent="-1905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>
                          <a:effectLst/>
                          <a:latin typeface="Arial Narrow" panose="020B0606020202030204" pitchFamily="34" charset="0"/>
                        </a:rPr>
                        <a:t>B</a:t>
                      </a:r>
                      <a:endParaRPr lang="es-PE" sz="2400" b="1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14732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>
                          <a:effectLst/>
                          <a:latin typeface="Arial Narrow" panose="020B0606020202030204" pitchFamily="34" charset="0"/>
                        </a:rPr>
                        <a:t>Montar las ruedas</a:t>
                      </a:r>
                      <a:endParaRPr lang="es-PE" sz="2400" b="1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>
                          <a:effectLst/>
                          <a:latin typeface="Arial Narrow" panose="020B0606020202030204" pitchFamily="34" charset="0"/>
                        </a:rPr>
                        <a:t>A</a:t>
                      </a:r>
                      <a:endParaRPr lang="es-PE" sz="2400" b="1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901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>
                          <a:effectLst/>
                          <a:latin typeface="Arial Narrow" panose="020B0606020202030204" pitchFamily="34" charset="0"/>
                        </a:rPr>
                        <a:t>5</a:t>
                      </a:r>
                      <a:endParaRPr lang="es-PE" sz="2400" b="1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1917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>
                          <a:effectLst/>
                          <a:latin typeface="Arial Narrow" panose="020B0606020202030204" pitchFamily="34" charset="0"/>
                        </a:rPr>
                        <a:t>4</a:t>
                      </a:r>
                      <a:endParaRPr lang="es-PE" sz="2400" b="1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901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 dirty="0">
                          <a:effectLst/>
                          <a:latin typeface="Arial Narrow" panose="020B0606020202030204" pitchFamily="34" charset="0"/>
                        </a:rPr>
                        <a:t>2</a:t>
                      </a:r>
                      <a:endParaRPr lang="es-PE" sz="2400" b="1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136">
                <a:tc>
                  <a:txBody>
                    <a:bodyPr/>
                    <a:lstStyle/>
                    <a:p>
                      <a:pPr marL="147320" marR="74930" indent="-1905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</a:rPr>
                        <a:t>C</a:t>
                      </a:r>
                      <a:endParaRPr lang="es-PE" sz="2400" b="1" dirty="0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14732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>
                          <a:effectLst/>
                          <a:latin typeface="Arial Narrow" panose="020B0606020202030204" pitchFamily="34" charset="0"/>
                        </a:rPr>
                        <a:t>Ensamblar los costados</a:t>
                      </a:r>
                      <a:endParaRPr lang="es-PE" sz="2400" b="1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>
                          <a:effectLst/>
                          <a:latin typeface="Arial Narrow" panose="020B0606020202030204" pitchFamily="34" charset="0"/>
                        </a:rPr>
                        <a:t>Ninguno</a:t>
                      </a:r>
                      <a:endParaRPr lang="es-PE" sz="2400" b="1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901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>
                          <a:effectLst/>
                          <a:latin typeface="Arial Narrow" panose="020B0606020202030204" pitchFamily="34" charset="0"/>
                        </a:rPr>
                        <a:t>15</a:t>
                      </a:r>
                      <a:endParaRPr lang="es-PE" sz="2400" b="1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1917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>
                          <a:effectLst/>
                          <a:latin typeface="Arial Narrow" panose="020B0606020202030204" pitchFamily="34" charset="0"/>
                        </a:rPr>
                        <a:t>10</a:t>
                      </a:r>
                      <a:endParaRPr lang="es-PE" sz="2400" b="1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901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>
                          <a:effectLst/>
                          <a:latin typeface="Arial Narrow" panose="020B0606020202030204" pitchFamily="34" charset="0"/>
                        </a:rPr>
                        <a:t>5</a:t>
                      </a:r>
                      <a:endParaRPr lang="es-PE" sz="2400" b="1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147320" marR="74930" indent="-1905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</a:rPr>
                        <a:t>D</a:t>
                      </a:r>
                      <a:endParaRPr lang="es-PE" sz="2400" b="1" dirty="0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14732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>
                          <a:effectLst/>
                          <a:latin typeface="Arial Narrow" panose="020B0606020202030204" pitchFamily="34" charset="0"/>
                        </a:rPr>
                        <a:t>Colocar la cubierta superior</a:t>
                      </a:r>
                      <a:endParaRPr lang="es-PE" sz="2400" b="1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>
                          <a:effectLst/>
                          <a:latin typeface="Arial Narrow" panose="020B0606020202030204" pitchFamily="34" charset="0"/>
                        </a:rPr>
                        <a:t>C</a:t>
                      </a:r>
                      <a:endParaRPr lang="es-PE" sz="2400" b="1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901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>
                          <a:effectLst/>
                          <a:latin typeface="Arial Narrow" panose="020B0606020202030204" pitchFamily="34" charset="0"/>
                        </a:rPr>
                        <a:t>11</a:t>
                      </a:r>
                      <a:endParaRPr lang="es-PE" sz="2400" b="1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1917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>
                          <a:effectLst/>
                          <a:latin typeface="Arial Narrow" panose="020B0606020202030204" pitchFamily="34" charset="0"/>
                        </a:rPr>
                        <a:t>6</a:t>
                      </a:r>
                      <a:endParaRPr lang="es-PE" sz="2400" b="1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901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>
                          <a:effectLst/>
                          <a:latin typeface="Arial Narrow" panose="020B0606020202030204" pitchFamily="34" charset="0"/>
                        </a:rPr>
                        <a:t>5</a:t>
                      </a:r>
                      <a:endParaRPr lang="es-PE" sz="2400" b="1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492">
                <a:tc>
                  <a:txBody>
                    <a:bodyPr/>
                    <a:lstStyle/>
                    <a:p>
                      <a:pPr marL="147320" marR="74930" indent="-1905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>
                          <a:effectLst/>
                          <a:latin typeface="Arial Narrow" panose="020B0606020202030204" pitchFamily="34" charset="0"/>
                        </a:rPr>
                        <a:t>E</a:t>
                      </a:r>
                      <a:endParaRPr lang="es-PE" sz="2400" b="1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14732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>
                          <a:effectLst/>
                          <a:latin typeface="Arial Narrow" panose="020B0606020202030204" pitchFamily="34" charset="0"/>
                        </a:rPr>
                        <a:t>Colocar la base</a:t>
                      </a:r>
                      <a:endParaRPr lang="es-PE" sz="2400" b="1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>
                          <a:effectLst/>
                          <a:latin typeface="Arial Narrow" panose="020B0606020202030204" pitchFamily="34" charset="0"/>
                        </a:rPr>
                        <a:t>B, C</a:t>
                      </a:r>
                      <a:endParaRPr lang="es-PE" sz="2400" b="1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901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>
                          <a:effectLst/>
                          <a:latin typeface="Arial Narrow" panose="020B0606020202030204" pitchFamily="34" charset="0"/>
                        </a:rPr>
                        <a:t>10</a:t>
                      </a:r>
                      <a:endParaRPr lang="es-PE" sz="2400" b="1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1917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>
                          <a:effectLst/>
                          <a:latin typeface="Arial Narrow" panose="020B0606020202030204" pitchFamily="34" charset="0"/>
                        </a:rPr>
                        <a:t>7</a:t>
                      </a:r>
                      <a:endParaRPr lang="es-PE" sz="2400" b="1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901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>
                          <a:effectLst/>
                          <a:latin typeface="Arial Narrow" panose="020B0606020202030204" pitchFamily="34" charset="0"/>
                        </a:rPr>
                        <a:t>3</a:t>
                      </a:r>
                      <a:endParaRPr lang="es-PE" sz="2400" b="1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492">
                <a:tc>
                  <a:txBody>
                    <a:bodyPr/>
                    <a:lstStyle/>
                    <a:p>
                      <a:pPr marL="147320" marR="74930" indent="-1905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>
                          <a:effectLst/>
                          <a:latin typeface="Arial Narrow" panose="020B0606020202030204" pitchFamily="34" charset="0"/>
                        </a:rPr>
                        <a:t>F</a:t>
                      </a:r>
                      <a:endParaRPr lang="es-PE" sz="2400" b="1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14732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>
                          <a:effectLst/>
                          <a:latin typeface="Arial Narrow" panose="020B0606020202030204" pitchFamily="34" charset="0"/>
                        </a:rPr>
                        <a:t>Insertar las ménsulas</a:t>
                      </a:r>
                      <a:endParaRPr lang="es-PE" sz="2400" b="1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>
                          <a:effectLst/>
                          <a:latin typeface="Arial Narrow" panose="020B0606020202030204" pitchFamily="34" charset="0"/>
                        </a:rPr>
                        <a:t>C</a:t>
                      </a:r>
                      <a:endParaRPr lang="es-PE" sz="2400" b="1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901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>
                          <a:effectLst/>
                          <a:latin typeface="Arial Narrow" panose="020B0606020202030204" pitchFamily="34" charset="0"/>
                        </a:rPr>
                        <a:t>5</a:t>
                      </a:r>
                      <a:endParaRPr lang="es-PE" sz="2400" b="1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1917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>
                          <a:effectLst/>
                          <a:latin typeface="Arial Narrow" panose="020B0606020202030204" pitchFamily="34" charset="0"/>
                        </a:rPr>
                        <a:t>4</a:t>
                      </a:r>
                      <a:endParaRPr lang="es-PE" sz="2400" b="1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901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>
                          <a:effectLst/>
                          <a:latin typeface="Arial Narrow" panose="020B0606020202030204" pitchFamily="34" charset="0"/>
                        </a:rPr>
                        <a:t>2</a:t>
                      </a:r>
                      <a:endParaRPr lang="es-PE" sz="2400" b="1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492">
                <a:tc>
                  <a:txBody>
                    <a:bodyPr/>
                    <a:lstStyle/>
                    <a:p>
                      <a:pPr marL="147320" marR="74930" indent="-1905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>
                          <a:effectLst/>
                          <a:latin typeface="Arial Narrow" panose="020B0606020202030204" pitchFamily="34" charset="0"/>
                        </a:rPr>
                        <a:t>G</a:t>
                      </a:r>
                      <a:endParaRPr lang="es-PE" sz="2400" b="1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14732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>
                          <a:effectLst/>
                          <a:latin typeface="Arial Narrow" panose="020B0606020202030204" pitchFamily="34" charset="0"/>
                        </a:rPr>
                        <a:t>Insertar las repisas</a:t>
                      </a:r>
                      <a:endParaRPr lang="es-PE" sz="2400" b="1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>
                          <a:effectLst/>
                          <a:latin typeface="Arial Narrow" panose="020B0606020202030204" pitchFamily="34" charset="0"/>
                        </a:rPr>
                        <a:t>F</a:t>
                      </a:r>
                      <a:endParaRPr lang="es-PE" sz="2400" b="1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901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>
                          <a:effectLst/>
                          <a:latin typeface="Arial Narrow" panose="020B0606020202030204" pitchFamily="34" charset="0"/>
                        </a:rPr>
                        <a:t>5</a:t>
                      </a:r>
                      <a:endParaRPr lang="es-PE" sz="2400" b="1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1917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>
                          <a:effectLst/>
                          <a:latin typeface="Arial Narrow" panose="020B0606020202030204" pitchFamily="34" charset="0"/>
                        </a:rPr>
                        <a:t>4</a:t>
                      </a:r>
                      <a:endParaRPr lang="es-PE" sz="2400" b="1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901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>
                          <a:effectLst/>
                          <a:latin typeface="Arial Narrow" panose="020B0606020202030204" pitchFamily="34" charset="0"/>
                        </a:rPr>
                        <a:t>2</a:t>
                      </a:r>
                      <a:endParaRPr lang="es-PE" sz="2400" b="1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6492">
                <a:tc>
                  <a:txBody>
                    <a:bodyPr/>
                    <a:lstStyle/>
                    <a:p>
                      <a:pPr marL="147320" marR="74930" indent="-1905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</a:rPr>
                        <a:t>H</a:t>
                      </a:r>
                      <a:endParaRPr lang="es-PE" sz="2400" b="1" dirty="0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14732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>
                          <a:effectLst/>
                          <a:latin typeface="Arial Narrow" panose="020B0606020202030204" pitchFamily="34" charset="0"/>
                        </a:rPr>
                        <a:t>Colocar las puertas</a:t>
                      </a:r>
                      <a:endParaRPr lang="es-PE" sz="2400" b="1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>
                          <a:effectLst/>
                          <a:latin typeface="Arial Narrow" panose="020B0606020202030204" pitchFamily="34" charset="0"/>
                        </a:rPr>
                        <a:t>D, E, G</a:t>
                      </a:r>
                      <a:endParaRPr lang="es-PE" sz="2400" b="1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901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>
                          <a:effectLst/>
                          <a:latin typeface="Arial Narrow" panose="020B0606020202030204" pitchFamily="34" charset="0"/>
                        </a:rPr>
                        <a:t>10</a:t>
                      </a:r>
                      <a:endParaRPr lang="es-PE" sz="2400" b="1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1917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>
                          <a:effectLst/>
                          <a:latin typeface="Arial Narrow" panose="020B0606020202030204" pitchFamily="34" charset="0"/>
                        </a:rPr>
                        <a:t>8</a:t>
                      </a:r>
                      <a:endParaRPr lang="es-PE" sz="2400" b="1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901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>
                          <a:effectLst/>
                          <a:latin typeface="Arial Narrow" panose="020B0606020202030204" pitchFamily="34" charset="0"/>
                        </a:rPr>
                        <a:t>6</a:t>
                      </a:r>
                      <a:endParaRPr lang="es-PE" sz="2400" b="1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2224">
                <a:tc>
                  <a:txBody>
                    <a:bodyPr/>
                    <a:lstStyle/>
                    <a:p>
                      <a:pPr marL="147320" marR="74930" indent="-1905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</a:rPr>
                        <a:t>I</a:t>
                      </a:r>
                      <a:endParaRPr lang="es-PE" sz="2400" b="1" dirty="0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14732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>
                          <a:effectLst/>
                          <a:latin typeface="Arial Narrow" panose="020B0606020202030204" pitchFamily="34" charset="0"/>
                        </a:rPr>
                        <a:t>Colocar el panel posterior</a:t>
                      </a:r>
                      <a:endParaRPr lang="es-PE" sz="2400" b="1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>
                          <a:effectLst/>
                          <a:latin typeface="Arial Narrow" panose="020B0606020202030204" pitchFamily="34" charset="0"/>
                        </a:rPr>
                        <a:t>D, E</a:t>
                      </a:r>
                      <a:endParaRPr lang="es-PE" sz="2400" b="1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901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>
                          <a:effectLst/>
                          <a:latin typeface="Arial Narrow" panose="020B0606020202030204" pitchFamily="34" charset="0"/>
                        </a:rPr>
                        <a:t>10</a:t>
                      </a:r>
                      <a:endParaRPr lang="es-PE" sz="2400" b="1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1917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>
                          <a:effectLst/>
                          <a:latin typeface="Arial Narrow" panose="020B0606020202030204" pitchFamily="34" charset="0"/>
                        </a:rPr>
                        <a:t>8</a:t>
                      </a:r>
                      <a:endParaRPr lang="es-PE" sz="2400" b="1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901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>
                          <a:effectLst/>
                          <a:latin typeface="Arial Narrow" panose="020B0606020202030204" pitchFamily="34" charset="0"/>
                        </a:rPr>
                        <a:t>6</a:t>
                      </a:r>
                      <a:endParaRPr lang="es-PE" sz="2400" b="1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1845">
                <a:tc>
                  <a:txBody>
                    <a:bodyPr/>
                    <a:lstStyle/>
                    <a:p>
                      <a:pPr marL="38735" marR="74930" indent="-1905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>
                          <a:effectLst/>
                          <a:latin typeface="Arial Narrow" panose="020B0606020202030204" pitchFamily="34" charset="0"/>
                        </a:rPr>
                        <a:t>J</a:t>
                      </a:r>
                      <a:endParaRPr lang="es-PE" sz="2400" b="1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38735" marR="74930" indent="9715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>
                          <a:effectLst/>
                          <a:latin typeface="Arial Narrow" panose="020B0606020202030204" pitchFamily="34" charset="0"/>
                        </a:rPr>
                        <a:t>Pintar la unidad</a:t>
                      </a:r>
                      <a:endParaRPr lang="es-PE" sz="2400" b="1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>
                          <a:effectLst/>
                          <a:latin typeface="Arial Narrow" panose="020B0606020202030204" pitchFamily="34" charset="0"/>
                        </a:rPr>
                        <a:t>H, I</a:t>
                      </a:r>
                      <a:endParaRPr lang="es-PE" sz="2400" b="1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38735" marR="74930" indent="-3873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>
                          <a:effectLst/>
                          <a:latin typeface="Arial Narrow" panose="020B0606020202030204" pitchFamily="34" charset="0"/>
                        </a:rPr>
                        <a:t>15</a:t>
                      </a:r>
                      <a:endParaRPr lang="es-PE" sz="2400" b="1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38735" marR="74930" indent="-3873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>
                          <a:effectLst/>
                          <a:latin typeface="Arial Narrow" panose="020B0606020202030204" pitchFamily="34" charset="0"/>
                        </a:rPr>
                        <a:t>10</a:t>
                      </a:r>
                      <a:endParaRPr lang="es-PE" sz="2400" b="1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38735" marR="74930" indent="-3873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 dirty="0">
                          <a:effectLst/>
                          <a:latin typeface="Arial Narrow" panose="020B0606020202030204" pitchFamily="34" charset="0"/>
                        </a:rPr>
                        <a:t>20</a:t>
                      </a:r>
                      <a:endParaRPr lang="es-PE" sz="2400" b="1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5 CuadroTexto"/>
          <p:cNvSpPr txBox="1"/>
          <p:nvPr/>
        </p:nvSpPr>
        <p:spPr>
          <a:xfrm>
            <a:off x="1154752" y="61387"/>
            <a:ext cx="44279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>
                <a:solidFill>
                  <a:srgbClr val="FF0000"/>
                </a:solidFill>
              </a:rPr>
              <a:t>Disminuir la duración del proyecto a 48 minutos.</a:t>
            </a:r>
            <a:endParaRPr lang="es-PE" sz="2800" dirty="0">
              <a:solidFill>
                <a:srgbClr val="FF0000"/>
              </a:solidFill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1DF4C2FD-F92F-BF7D-5E82-F42231CC58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9347269"/>
              </p:ext>
            </p:extLst>
          </p:nvPr>
        </p:nvGraphicFramePr>
        <p:xfrm>
          <a:off x="9628089" y="1400342"/>
          <a:ext cx="2339931" cy="51956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99801">
                  <a:extLst>
                    <a:ext uri="{9D8B030D-6E8A-4147-A177-3AD203B41FA5}">
                      <a16:colId xmlns:a16="http://schemas.microsoft.com/office/drawing/2014/main" val="3624260999"/>
                    </a:ext>
                  </a:extLst>
                </a:gridCol>
                <a:gridCol w="1340130">
                  <a:extLst>
                    <a:ext uri="{9D8B030D-6E8A-4147-A177-3AD203B41FA5}">
                      <a16:colId xmlns:a16="http://schemas.microsoft.com/office/drawing/2014/main" val="3698991095"/>
                    </a:ext>
                  </a:extLst>
                </a:gridCol>
              </a:tblGrid>
              <a:tr h="1008113">
                <a:tc>
                  <a:txBody>
                    <a:bodyPr/>
                    <a:lstStyle/>
                    <a:p>
                      <a:pPr marL="147320" marR="74930" indent="-901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 dirty="0">
                          <a:effectLst/>
                          <a:latin typeface="Arial Narrow" panose="020B0606020202030204" pitchFamily="34" charset="0"/>
                        </a:rPr>
                        <a:t>Red</a:t>
                      </a:r>
                      <a:endParaRPr lang="es-PE" sz="2400" b="1" dirty="0">
                        <a:effectLst/>
                        <a:latin typeface="Arial Narrow" panose="020B0606020202030204" pitchFamily="34" charset="0"/>
                      </a:endParaRPr>
                    </a:p>
                    <a:p>
                      <a:pPr marL="147320" marR="74930" indent="-901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 dirty="0">
                          <a:effectLst/>
                          <a:latin typeface="Arial Narrow" panose="020B0606020202030204" pitchFamily="34" charset="0"/>
                        </a:rPr>
                        <a:t>Max</a:t>
                      </a:r>
                    </a:p>
                    <a:p>
                      <a:pPr marL="147320" marR="74930" indent="-901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s-PE" sz="2400" b="1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901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 u="sng" dirty="0">
                          <a:effectLst/>
                          <a:latin typeface="Arial Narrow" panose="020B0606020202030204" pitchFamily="34" charset="0"/>
                        </a:rPr>
                        <a:t>Costo</a:t>
                      </a:r>
                      <a:endParaRPr lang="es-PE" sz="2400" b="1" dirty="0">
                        <a:effectLst/>
                        <a:latin typeface="Arial Narrow" panose="020B0606020202030204" pitchFamily="34" charset="0"/>
                      </a:endParaRPr>
                    </a:p>
                    <a:p>
                      <a:pPr marL="147320" marR="74930" indent="-901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 dirty="0">
                          <a:effectLst/>
                          <a:latin typeface="Arial Narrow" panose="020B0606020202030204" pitchFamily="34" charset="0"/>
                        </a:rPr>
                        <a:t>Min.</a:t>
                      </a:r>
                    </a:p>
                    <a:p>
                      <a:pPr marL="147320" marR="74930" indent="-901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s-PE" sz="2400" b="1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3450117811"/>
                  </a:ext>
                </a:extLst>
              </a:tr>
              <a:tr h="316492">
                <a:tc>
                  <a:txBody>
                    <a:bodyPr/>
                    <a:lstStyle/>
                    <a:p>
                      <a:pPr marL="147320" marR="74930" indent="-901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</a:rPr>
                        <a:t>5</a:t>
                      </a:r>
                      <a:endParaRPr lang="es-PE" sz="2400" b="1" dirty="0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901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</a:rPr>
                        <a:t>1</a:t>
                      </a:r>
                      <a:endParaRPr lang="es-PE" sz="2400" b="1" dirty="0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3968495198"/>
                  </a:ext>
                </a:extLst>
              </a:tr>
              <a:tr h="316492">
                <a:tc>
                  <a:txBody>
                    <a:bodyPr/>
                    <a:lstStyle/>
                    <a:p>
                      <a:pPr marL="147320" marR="74930" indent="-901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</a:rPr>
                        <a:t>1</a:t>
                      </a:r>
                      <a:endParaRPr lang="es-PE" sz="2400" b="1" dirty="0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901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</a:rPr>
                        <a:t>2</a:t>
                      </a:r>
                      <a:endParaRPr lang="es-PE" sz="2400" b="1" dirty="0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271809288"/>
                  </a:ext>
                </a:extLst>
              </a:tr>
              <a:tr h="447136">
                <a:tc>
                  <a:txBody>
                    <a:bodyPr/>
                    <a:lstStyle/>
                    <a:p>
                      <a:pPr marL="147320" marR="74930" indent="-901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</a:rPr>
                        <a:t>5</a:t>
                      </a:r>
                      <a:endParaRPr lang="es-PE" sz="2400" b="1" dirty="0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901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</a:rPr>
                        <a:t>1</a:t>
                      </a:r>
                      <a:endParaRPr lang="es-PE" sz="2400" b="1" dirty="0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622658370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147320" marR="74930" indent="-901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</a:rPr>
                        <a:t>5</a:t>
                      </a:r>
                      <a:endParaRPr lang="es-PE" sz="2400" b="1" dirty="0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901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</a:rPr>
                        <a:t>1</a:t>
                      </a:r>
                      <a:endParaRPr lang="es-PE" sz="2400" b="1" dirty="0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872634482"/>
                  </a:ext>
                </a:extLst>
              </a:tr>
              <a:tr h="316492">
                <a:tc>
                  <a:txBody>
                    <a:bodyPr/>
                    <a:lstStyle/>
                    <a:p>
                      <a:pPr marL="147320" marR="74930" indent="-901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</a:rPr>
                        <a:t>3</a:t>
                      </a:r>
                      <a:endParaRPr lang="es-PE" sz="2400" b="1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901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</a:rPr>
                        <a:t>1</a:t>
                      </a:r>
                      <a:endParaRPr lang="es-PE" sz="2400" b="1" dirty="0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69447826"/>
                  </a:ext>
                </a:extLst>
              </a:tr>
              <a:tr h="316492">
                <a:tc>
                  <a:txBody>
                    <a:bodyPr/>
                    <a:lstStyle/>
                    <a:p>
                      <a:pPr marL="147320" marR="74930" indent="-901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</a:rPr>
                        <a:t>1</a:t>
                      </a:r>
                      <a:endParaRPr lang="es-PE" sz="2400" b="1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901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</a:rPr>
                        <a:t>2</a:t>
                      </a:r>
                      <a:endParaRPr lang="es-PE" sz="2400" b="1" dirty="0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191925415"/>
                  </a:ext>
                </a:extLst>
              </a:tr>
              <a:tr h="316492">
                <a:tc>
                  <a:txBody>
                    <a:bodyPr/>
                    <a:lstStyle/>
                    <a:p>
                      <a:pPr marL="147320" marR="74930" indent="-901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</a:rPr>
                        <a:t>1</a:t>
                      </a:r>
                      <a:endParaRPr lang="es-PE" sz="2400" b="1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901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</a:rPr>
                        <a:t>2</a:t>
                      </a:r>
                      <a:endParaRPr lang="es-PE" sz="2400" b="1" dirty="0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213185127"/>
                  </a:ext>
                </a:extLst>
              </a:tr>
              <a:tr h="316492">
                <a:tc>
                  <a:txBody>
                    <a:bodyPr/>
                    <a:lstStyle/>
                    <a:p>
                      <a:pPr marL="147320" marR="74930" indent="-901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</a:rPr>
                        <a:t>2</a:t>
                      </a:r>
                      <a:endParaRPr lang="es-PE" sz="2400" b="1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901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</a:rPr>
                        <a:t>3</a:t>
                      </a:r>
                      <a:endParaRPr lang="es-PE" sz="2400" b="1" dirty="0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560983604"/>
                  </a:ext>
                </a:extLst>
              </a:tr>
              <a:tr h="462224">
                <a:tc>
                  <a:txBody>
                    <a:bodyPr/>
                    <a:lstStyle/>
                    <a:p>
                      <a:pPr marL="147320" marR="74930" indent="-901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</a:rPr>
                        <a:t>2</a:t>
                      </a:r>
                      <a:endParaRPr lang="es-PE" sz="2400" b="1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901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</a:rPr>
                        <a:t>3</a:t>
                      </a:r>
                      <a:endParaRPr lang="es-PE" sz="2400" b="1" dirty="0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3372391659"/>
                  </a:ext>
                </a:extLst>
              </a:tr>
              <a:tr h="321845">
                <a:tc>
                  <a:txBody>
                    <a:bodyPr/>
                    <a:lstStyle/>
                    <a:p>
                      <a:pPr marL="38735" marR="74930" indent="-3873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</a:rPr>
                        <a:t>5</a:t>
                      </a:r>
                      <a:endParaRPr lang="es-PE" sz="2400" b="1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38735" marR="74930" indent="-3873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b="1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</a:rPr>
                        <a:t>4</a:t>
                      </a:r>
                      <a:endParaRPr lang="es-PE" sz="2400" b="1" dirty="0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3607875215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512046B0-2C5F-9901-F12B-CF09FA5D7ED2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6096000" y="109243"/>
            <a:ext cx="6096000" cy="858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2pPr>
            <a:lvl3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3pPr>
            <a:lvl4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4pPr>
            <a:lvl5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5pPr>
            <a:lvl6pPr marL="4572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6pPr>
            <a:lvl7pPr marL="9144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7pPr>
            <a:lvl8pPr marL="13716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8pPr>
            <a:lvl9pPr marL="18288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/>
            <a:r>
              <a:rPr lang="es-ES_tradnl" sz="3200" b="0" i="0" dirty="0">
                <a:solidFill>
                  <a:schemeClr val="bg1"/>
                </a:solidFill>
                <a:latin typeface="Bauhaus 93" pitchFamily="82" charset="0"/>
                <a:ea typeface="+mn-ea"/>
                <a:cs typeface="+mn-cs"/>
              </a:rPr>
              <a:t>Problema 2</a:t>
            </a:r>
          </a:p>
        </p:txBody>
      </p:sp>
    </p:spTree>
    <p:extLst>
      <p:ext uri="{BB962C8B-B14F-4D97-AF65-F5344CB8AC3E}">
        <p14:creationId xmlns:p14="http://schemas.microsoft.com/office/powerpoint/2010/main" val="452151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ANIVAL TORRE</a:t>
            </a:r>
          </a:p>
        </p:txBody>
      </p:sp>
      <p:sp>
        <p:nvSpPr>
          <p:cNvPr id="10" name="Oval 3">
            <a:hlinkHover r:id="" action="ppaction://noaction">
              <a:snd r:embed="rId2" name="gunshot.wav"/>
            </a:hlinkHover>
            <a:extLst>
              <a:ext uri="{FF2B5EF4-FFF2-40B4-BE49-F238E27FC236}">
                <a16:creationId xmlns:a16="http://schemas.microsoft.com/office/drawing/2014/main" id="{EE13E5AB-CF2F-249C-8298-A280DB53C5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1798" y="3465189"/>
            <a:ext cx="642912" cy="691444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b="1" dirty="0" err="1">
                <a:latin typeface="Arial Narrow" panose="020B0606020202030204" pitchFamily="34" charset="0"/>
              </a:rPr>
              <a:t>X0</a:t>
            </a:r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11" name="Oval 4">
            <a:extLst>
              <a:ext uri="{FF2B5EF4-FFF2-40B4-BE49-F238E27FC236}">
                <a16:creationId xmlns:a16="http://schemas.microsoft.com/office/drawing/2014/main" id="{0675C95F-C41B-9FBB-02B5-2E297B295E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87723" y="5086696"/>
            <a:ext cx="586782" cy="706445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b="1" dirty="0" err="1">
                <a:latin typeface="Arial Narrow" panose="020B0606020202030204" pitchFamily="34" charset="0"/>
              </a:rPr>
              <a:t>X5</a:t>
            </a:r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12" name="Oval 5">
            <a:extLst>
              <a:ext uri="{FF2B5EF4-FFF2-40B4-BE49-F238E27FC236}">
                <a16:creationId xmlns:a16="http://schemas.microsoft.com/office/drawing/2014/main" id="{276AD1AA-FE98-2E9C-BCB3-E0B10A2A61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7678" y="1506066"/>
            <a:ext cx="655638" cy="692339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b="1" dirty="0" err="1">
                <a:latin typeface="Arial Narrow" panose="020B0606020202030204" pitchFamily="34" charset="0"/>
              </a:rPr>
              <a:t>X3</a:t>
            </a:r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13" name="Oval 6">
            <a:extLst>
              <a:ext uri="{FF2B5EF4-FFF2-40B4-BE49-F238E27FC236}">
                <a16:creationId xmlns:a16="http://schemas.microsoft.com/office/drawing/2014/main" id="{2D5ED201-28E8-F7D4-5A04-6BAEBE3D5F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1013" y="3527156"/>
            <a:ext cx="590344" cy="684243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b="1" dirty="0" err="1">
                <a:latin typeface="Arial Narrow" panose="020B0606020202030204" pitchFamily="34" charset="0"/>
              </a:rPr>
              <a:t>X8</a:t>
            </a:r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14" name="Oval 7">
            <a:extLst>
              <a:ext uri="{FF2B5EF4-FFF2-40B4-BE49-F238E27FC236}">
                <a16:creationId xmlns:a16="http://schemas.microsoft.com/office/drawing/2014/main" id="{877DD136-872E-B957-46DB-8840E41402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7791" y="3555727"/>
            <a:ext cx="583881" cy="679190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b="1" dirty="0" err="1">
                <a:latin typeface="Arial Narrow" panose="020B0606020202030204" pitchFamily="34" charset="0"/>
              </a:rPr>
              <a:t>X2</a:t>
            </a:r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15" name="Oval 8">
            <a:extLst>
              <a:ext uri="{FF2B5EF4-FFF2-40B4-BE49-F238E27FC236}">
                <a16:creationId xmlns:a16="http://schemas.microsoft.com/office/drawing/2014/main" id="{F4DBDBE8-525F-2753-5B35-1C5B5A380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3667" y="1500029"/>
            <a:ext cx="657887" cy="692338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b="1" dirty="0" err="1">
                <a:latin typeface="Arial Narrow" panose="020B0606020202030204" pitchFamily="34" charset="0"/>
              </a:rPr>
              <a:t>X1</a:t>
            </a:r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16" name="Oval 9">
            <a:extLst>
              <a:ext uri="{FF2B5EF4-FFF2-40B4-BE49-F238E27FC236}">
                <a16:creationId xmlns:a16="http://schemas.microsoft.com/office/drawing/2014/main" id="{8C88FD65-07FE-CB90-318A-BD916FECFE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8467" y="3555727"/>
            <a:ext cx="647088" cy="650912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b="1" dirty="0" err="1">
                <a:latin typeface="Arial Narrow" panose="020B0606020202030204" pitchFamily="34" charset="0"/>
              </a:rPr>
              <a:t>X4</a:t>
            </a:r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17" name="Oval 10">
            <a:extLst>
              <a:ext uri="{FF2B5EF4-FFF2-40B4-BE49-F238E27FC236}">
                <a16:creationId xmlns:a16="http://schemas.microsoft.com/office/drawing/2014/main" id="{2E5581C5-5670-7015-F1C6-BE942F2CD7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77668" y="1506066"/>
            <a:ext cx="633689" cy="692338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b="1" dirty="0" err="1">
                <a:latin typeface="Arial Narrow" panose="020B0606020202030204" pitchFamily="34" charset="0"/>
              </a:rPr>
              <a:t>X6</a:t>
            </a:r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18" name="Oval 11">
            <a:extLst>
              <a:ext uri="{FF2B5EF4-FFF2-40B4-BE49-F238E27FC236}">
                <a16:creationId xmlns:a16="http://schemas.microsoft.com/office/drawing/2014/main" id="{8B64A2E5-E98D-D986-824B-29FF7CBA04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40813" y="3555727"/>
            <a:ext cx="588898" cy="655672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b="1" dirty="0" err="1">
                <a:latin typeface="Arial Narrow" panose="020B0606020202030204" pitchFamily="34" charset="0"/>
              </a:rPr>
              <a:t>X9</a:t>
            </a:r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19" name="Line 12">
            <a:extLst>
              <a:ext uri="{FF2B5EF4-FFF2-40B4-BE49-F238E27FC236}">
                <a16:creationId xmlns:a16="http://schemas.microsoft.com/office/drawing/2014/main" id="{63638579-5E00-388A-03D2-0A87DDEF67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77035" y="2148990"/>
            <a:ext cx="596168" cy="131619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20" name="Line 13">
            <a:extLst>
              <a:ext uri="{FF2B5EF4-FFF2-40B4-BE49-F238E27FC236}">
                <a16:creationId xmlns:a16="http://schemas.microsoft.com/office/drawing/2014/main" id="{3EAA5738-4584-612D-36D0-5F1CABA83E4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93761" y="3879269"/>
            <a:ext cx="1974029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21" name="Line 14">
            <a:extLst>
              <a:ext uri="{FF2B5EF4-FFF2-40B4-BE49-F238E27FC236}">
                <a16:creationId xmlns:a16="http://schemas.microsoft.com/office/drawing/2014/main" id="{ECFB1843-1050-7D21-3464-C835FF5ED3AC}"/>
              </a:ext>
            </a:extLst>
          </p:cNvPr>
          <p:cNvSpPr>
            <a:spLocks noChangeShapeType="1"/>
          </p:cNvSpPr>
          <p:nvPr/>
        </p:nvSpPr>
        <p:spPr bwMode="auto">
          <a:xfrm>
            <a:off x="6678663" y="4156633"/>
            <a:ext cx="2109060" cy="114969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22" name="Line 15">
            <a:extLst>
              <a:ext uri="{FF2B5EF4-FFF2-40B4-BE49-F238E27FC236}">
                <a16:creationId xmlns:a16="http://schemas.microsoft.com/office/drawing/2014/main" id="{02B9FBDA-A735-B62F-8745-24E90AA6286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078903" y="4196483"/>
            <a:ext cx="12654" cy="88174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23" name="Line 18">
            <a:extLst>
              <a:ext uri="{FF2B5EF4-FFF2-40B4-BE49-F238E27FC236}">
                <a16:creationId xmlns:a16="http://schemas.microsoft.com/office/drawing/2014/main" id="{0660B253-598A-A5F6-1729-CA7E502F610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83160" y="1995101"/>
            <a:ext cx="1937853" cy="1684542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24" name="Line 19">
            <a:extLst>
              <a:ext uri="{FF2B5EF4-FFF2-40B4-BE49-F238E27FC236}">
                <a16:creationId xmlns:a16="http://schemas.microsoft.com/office/drawing/2014/main" id="{15D8FAAE-0085-0202-DA45-8FEE2243BC88}"/>
              </a:ext>
            </a:extLst>
          </p:cNvPr>
          <p:cNvSpPr>
            <a:spLocks noChangeShapeType="1"/>
          </p:cNvSpPr>
          <p:nvPr/>
        </p:nvSpPr>
        <p:spPr bwMode="auto">
          <a:xfrm>
            <a:off x="5091554" y="1846198"/>
            <a:ext cx="109612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25" name="Line 20">
            <a:extLst>
              <a:ext uri="{FF2B5EF4-FFF2-40B4-BE49-F238E27FC236}">
                <a16:creationId xmlns:a16="http://schemas.microsoft.com/office/drawing/2014/main" id="{9264D995-0972-70F8-3C41-DDEDE0211F96}"/>
              </a:ext>
            </a:extLst>
          </p:cNvPr>
          <p:cNvSpPr>
            <a:spLocks noChangeShapeType="1"/>
          </p:cNvSpPr>
          <p:nvPr/>
        </p:nvSpPr>
        <p:spPr bwMode="auto">
          <a:xfrm>
            <a:off x="6736790" y="2148990"/>
            <a:ext cx="882147" cy="14067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26" name="Line 21">
            <a:extLst>
              <a:ext uri="{FF2B5EF4-FFF2-40B4-BE49-F238E27FC236}">
                <a16:creationId xmlns:a16="http://schemas.microsoft.com/office/drawing/2014/main" id="{3AE4DBFC-B748-9E13-4367-4029F10FDBB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438506" y="2198404"/>
            <a:ext cx="19891" cy="1328752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27" name="Line 22">
            <a:extLst>
              <a:ext uri="{FF2B5EF4-FFF2-40B4-BE49-F238E27FC236}">
                <a16:creationId xmlns:a16="http://schemas.microsoft.com/office/drawing/2014/main" id="{C627CC1F-3BA7-2792-8A37-F173728DDE3C}"/>
              </a:ext>
            </a:extLst>
          </p:cNvPr>
          <p:cNvSpPr>
            <a:spLocks noChangeShapeType="1"/>
          </p:cNvSpPr>
          <p:nvPr/>
        </p:nvSpPr>
        <p:spPr bwMode="auto">
          <a:xfrm>
            <a:off x="6736790" y="3895322"/>
            <a:ext cx="789081" cy="799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28" name="Text Box 23">
            <a:extLst>
              <a:ext uri="{FF2B5EF4-FFF2-40B4-BE49-F238E27FC236}">
                <a16:creationId xmlns:a16="http://schemas.microsoft.com/office/drawing/2014/main" id="{1898F132-AF1E-8248-6FF4-457F323962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2472" y="2625215"/>
            <a:ext cx="57099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b="1" dirty="0">
                <a:latin typeface="Arial Narrow" panose="020B0606020202030204" pitchFamily="34" charset="0"/>
              </a:rPr>
              <a:t>A10</a:t>
            </a:r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29" name="Text Box 24">
            <a:extLst>
              <a:ext uri="{FF2B5EF4-FFF2-40B4-BE49-F238E27FC236}">
                <a16:creationId xmlns:a16="http://schemas.microsoft.com/office/drawing/2014/main" id="{8943A5E9-A7D2-BF0D-EF99-F54BAF1BCE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1038" y="3503206"/>
            <a:ext cx="57099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b="1">
                <a:latin typeface="Arial Narrow" panose="020B0606020202030204" pitchFamily="34" charset="0"/>
              </a:rPr>
              <a:t>C15</a:t>
            </a:r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30" name="Text Box 25">
            <a:extLst>
              <a:ext uri="{FF2B5EF4-FFF2-40B4-BE49-F238E27FC236}">
                <a16:creationId xmlns:a16="http://schemas.microsoft.com/office/drawing/2014/main" id="{946C514E-898D-19F1-4786-79814AE15F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2955" y="1452731"/>
            <a:ext cx="45397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b="1" dirty="0">
                <a:latin typeface="Arial Narrow" panose="020B0606020202030204" pitchFamily="34" charset="0"/>
              </a:rPr>
              <a:t>B5</a:t>
            </a:r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31" name="Text Box 26">
            <a:extLst>
              <a:ext uri="{FF2B5EF4-FFF2-40B4-BE49-F238E27FC236}">
                <a16:creationId xmlns:a16="http://schemas.microsoft.com/office/drawing/2014/main" id="{B16CC287-D521-5F55-2254-8D2B5C49CF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3714" y="2876457"/>
            <a:ext cx="55977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b="1" dirty="0">
                <a:latin typeface="Arial Narrow" panose="020B0606020202030204" pitchFamily="34" charset="0"/>
              </a:rPr>
              <a:t>E10</a:t>
            </a:r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32" name="Text Box 27">
            <a:extLst>
              <a:ext uri="{FF2B5EF4-FFF2-40B4-BE49-F238E27FC236}">
                <a16:creationId xmlns:a16="http://schemas.microsoft.com/office/drawing/2014/main" id="{AB421EC8-A576-4CFA-ACC6-E35A06BC1F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20179" y="2465236"/>
            <a:ext cx="47641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b="1" dirty="0">
                <a:latin typeface="Arial Narrow" panose="020B0606020202030204" pitchFamily="34" charset="0"/>
              </a:rPr>
              <a:t>I10</a:t>
            </a:r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33" name="Text Box 28">
            <a:extLst>
              <a:ext uri="{FF2B5EF4-FFF2-40B4-BE49-F238E27FC236}">
                <a16:creationId xmlns:a16="http://schemas.microsoft.com/office/drawing/2014/main" id="{B8B2D455-EE8D-91DC-4488-4C6D8B1A79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1158" y="3586016"/>
            <a:ext cx="57099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b="1" dirty="0">
                <a:latin typeface="Arial Narrow" panose="020B0606020202030204" pitchFamily="34" charset="0"/>
              </a:rPr>
              <a:t>H10</a:t>
            </a:r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34" name="Text Box 29">
            <a:extLst>
              <a:ext uri="{FF2B5EF4-FFF2-40B4-BE49-F238E27FC236}">
                <a16:creationId xmlns:a16="http://schemas.microsoft.com/office/drawing/2014/main" id="{4F383113-82B7-9C7D-456E-07D1E63AA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13907" y="3555727"/>
            <a:ext cx="53572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b="1" dirty="0">
                <a:latin typeface="Arial Narrow" panose="020B0606020202030204" pitchFamily="34" charset="0"/>
              </a:rPr>
              <a:t>J15</a:t>
            </a:r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35" name="Text Box 30">
            <a:extLst>
              <a:ext uri="{FF2B5EF4-FFF2-40B4-BE49-F238E27FC236}">
                <a16:creationId xmlns:a16="http://schemas.microsoft.com/office/drawing/2014/main" id="{DB74502B-D6DA-513A-DC07-AD5164FD03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1909" y="4735802"/>
            <a:ext cx="46519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b="1" dirty="0">
                <a:latin typeface="Arial Narrow" panose="020B0606020202030204" pitchFamily="34" charset="0"/>
              </a:rPr>
              <a:t>G5</a:t>
            </a:r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36" name="Text Box 31">
            <a:extLst>
              <a:ext uri="{FF2B5EF4-FFF2-40B4-BE49-F238E27FC236}">
                <a16:creationId xmlns:a16="http://schemas.microsoft.com/office/drawing/2014/main" id="{8AD2CF1F-7073-CD5A-0D2B-C09303DC7D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6900" y="4823656"/>
            <a:ext cx="42992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b="1" dirty="0">
                <a:latin typeface="Arial Narrow" panose="020B0606020202030204" pitchFamily="34" charset="0"/>
              </a:rPr>
              <a:t>F5</a:t>
            </a:r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37" name="Text Box 32">
            <a:extLst>
              <a:ext uri="{FF2B5EF4-FFF2-40B4-BE49-F238E27FC236}">
                <a16:creationId xmlns:a16="http://schemas.microsoft.com/office/drawing/2014/main" id="{E7EC62FA-C5A4-2E7B-795A-7222489C79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0702" y="3512238"/>
            <a:ext cx="55560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b="1">
                <a:latin typeface="Arial Narrow" panose="020B0606020202030204" pitchFamily="34" charset="0"/>
              </a:rPr>
              <a:t>D11</a:t>
            </a:r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48" name="Line 43">
            <a:extLst>
              <a:ext uri="{FF2B5EF4-FFF2-40B4-BE49-F238E27FC236}">
                <a16:creationId xmlns:a16="http://schemas.microsoft.com/office/drawing/2014/main" id="{83A48692-3EA8-09BE-7475-08405C3671C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360080" y="2198405"/>
            <a:ext cx="0" cy="1276091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49" name="Text Box 44">
            <a:extLst>
              <a:ext uri="{FF2B5EF4-FFF2-40B4-BE49-F238E27FC236}">
                <a16:creationId xmlns:a16="http://schemas.microsoft.com/office/drawing/2014/main" id="{39DC5B82-F1D7-E2AB-23E8-3E243D68F6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876" y="2691856"/>
            <a:ext cx="108234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b="1" dirty="0">
                <a:latin typeface="Arial Narrow" panose="020B0606020202030204" pitchFamily="34" charset="0"/>
              </a:rPr>
              <a:t>Figurado</a:t>
            </a:r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51" name="Line 19">
            <a:extLst>
              <a:ext uri="{FF2B5EF4-FFF2-40B4-BE49-F238E27FC236}">
                <a16:creationId xmlns:a16="http://schemas.microsoft.com/office/drawing/2014/main" id="{621772CE-566E-4F9E-52D0-AC4B18F28C50}"/>
              </a:ext>
            </a:extLst>
          </p:cNvPr>
          <p:cNvSpPr>
            <a:spLocks noChangeShapeType="1"/>
          </p:cNvSpPr>
          <p:nvPr/>
        </p:nvSpPr>
        <p:spPr bwMode="auto">
          <a:xfrm>
            <a:off x="9171700" y="3936686"/>
            <a:ext cx="849313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52" name="Line 19">
            <a:extLst>
              <a:ext uri="{FF2B5EF4-FFF2-40B4-BE49-F238E27FC236}">
                <a16:creationId xmlns:a16="http://schemas.microsoft.com/office/drawing/2014/main" id="{4C3D0AD6-359C-E4A9-8075-D1BAE846FE2B}"/>
              </a:ext>
            </a:extLst>
          </p:cNvPr>
          <p:cNvSpPr>
            <a:spLocks noChangeShapeType="1"/>
          </p:cNvSpPr>
          <p:nvPr/>
        </p:nvSpPr>
        <p:spPr bwMode="auto">
          <a:xfrm>
            <a:off x="10714159" y="3923928"/>
            <a:ext cx="849313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53" name="Oval 9">
            <a:extLst>
              <a:ext uri="{FF2B5EF4-FFF2-40B4-BE49-F238E27FC236}">
                <a16:creationId xmlns:a16="http://schemas.microsoft.com/office/drawing/2014/main" id="{C22DD70F-AA64-5ACC-F351-F43CA8BD6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5328" y="3512238"/>
            <a:ext cx="600560" cy="684245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b="1" dirty="0" err="1">
                <a:latin typeface="Arial Narrow" panose="020B0606020202030204" pitchFamily="34" charset="0"/>
              </a:rPr>
              <a:t>X7</a:t>
            </a:r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54" name="Line 43">
            <a:extLst>
              <a:ext uri="{FF2B5EF4-FFF2-40B4-BE49-F238E27FC236}">
                <a16:creationId xmlns:a16="http://schemas.microsoft.com/office/drawing/2014/main" id="{73B2BD29-3722-C112-C0A9-7129D6F34EC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05556" y="3923928"/>
            <a:ext cx="682167" cy="12758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50" name="2 Marcador de contenido">
            <a:extLst>
              <a:ext uri="{FF2B5EF4-FFF2-40B4-BE49-F238E27FC236}">
                <a16:creationId xmlns:a16="http://schemas.microsoft.com/office/drawing/2014/main" id="{812B8BA6-6847-FB4A-A270-12D7681589F9}"/>
              </a:ext>
            </a:extLst>
          </p:cNvPr>
          <p:cNvSpPr txBox="1">
            <a:spLocks/>
          </p:cNvSpPr>
          <p:nvPr/>
        </p:nvSpPr>
        <p:spPr>
          <a:xfrm>
            <a:off x="7862360" y="0"/>
            <a:ext cx="4319007" cy="1262853"/>
          </a:xfrm>
          <a:prstGeom prst="rect">
            <a:avLst/>
          </a:prstGeom>
          <a:solidFill>
            <a:srgbClr val="FFFF00"/>
          </a:solidFill>
        </p:spPr>
        <p:txBody>
          <a:bodyPr/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defRPr/>
            </a:pPr>
            <a:r>
              <a:rPr lang="es-PE" sz="2400" b="1" kern="0" dirty="0">
                <a:latin typeface="Arial Narrow" pitchFamily="34" charset="0"/>
              </a:rPr>
              <a:t>RESPUESTA: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defRPr/>
            </a:pPr>
            <a:r>
              <a:rPr lang="es-PE" sz="2400" b="1" kern="0" dirty="0">
                <a:latin typeface="Arial Narrow" pitchFamily="34" charset="0"/>
              </a:rPr>
              <a:t>Duración del proyecto:  51 min.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defRPr/>
            </a:pPr>
            <a:r>
              <a:rPr lang="es-PE" sz="2400" b="1" kern="0" dirty="0">
                <a:latin typeface="Arial Narrow" pitchFamily="34" charset="0"/>
              </a:rPr>
              <a:t>Rutas críticas: CDHJ  /   CDIJ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7042D61-D1A0-D60C-8586-CBFD2892657E}"/>
              </a:ext>
            </a:extLst>
          </p:cNvPr>
          <p:cNvSpPr txBox="1"/>
          <p:nvPr/>
        </p:nvSpPr>
        <p:spPr>
          <a:xfrm>
            <a:off x="10317276" y="4324038"/>
            <a:ext cx="164307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RUTAS:</a:t>
            </a:r>
          </a:p>
          <a:p>
            <a:r>
              <a:rPr lang="es-PE" sz="2000" b="1" dirty="0"/>
              <a:t>ABEIJ</a:t>
            </a:r>
            <a:r>
              <a:rPr lang="es-PE" sz="2000" b="1" dirty="0">
                <a:sym typeface="Wingdings" panose="05000000000000000000" pitchFamily="2" charset="2"/>
              </a:rPr>
              <a:t>50</a:t>
            </a:r>
          </a:p>
          <a:p>
            <a:r>
              <a:rPr lang="es-PE" sz="2000" b="1" dirty="0">
                <a:sym typeface="Wingdings" panose="05000000000000000000" pitchFamily="2" charset="2"/>
              </a:rPr>
              <a:t>ABEHJ50</a:t>
            </a:r>
          </a:p>
          <a:p>
            <a:r>
              <a:rPr lang="es-PE" sz="2000" b="1" dirty="0"/>
              <a:t>CEIJ</a:t>
            </a:r>
            <a:r>
              <a:rPr lang="es-PE" sz="2000" b="1" dirty="0">
                <a:sym typeface="Wingdings" panose="05000000000000000000" pitchFamily="2" charset="2"/>
              </a:rPr>
              <a:t>50</a:t>
            </a:r>
          </a:p>
          <a:p>
            <a:r>
              <a:rPr lang="es-PE" sz="2000" b="1" dirty="0">
                <a:sym typeface="Wingdings" panose="05000000000000000000" pitchFamily="2" charset="2"/>
              </a:rPr>
              <a:t>CEHJ50</a:t>
            </a:r>
          </a:p>
          <a:p>
            <a:r>
              <a:rPr lang="es-PE" sz="2000" b="1" dirty="0">
                <a:solidFill>
                  <a:srgbClr val="FF0000"/>
                </a:solidFill>
              </a:rPr>
              <a:t>CDIJ</a:t>
            </a:r>
            <a:r>
              <a:rPr lang="es-PE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51</a:t>
            </a:r>
          </a:p>
          <a:p>
            <a:r>
              <a:rPr lang="es-PE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CDHJ51</a:t>
            </a:r>
          </a:p>
          <a:p>
            <a:r>
              <a:rPr lang="es-PE" sz="2000" b="1" dirty="0">
                <a:sym typeface="Wingdings" panose="05000000000000000000" pitchFamily="2" charset="2"/>
              </a:rPr>
              <a:t>CFGHJ45</a:t>
            </a:r>
            <a:endParaRPr lang="es-PE" sz="2000" b="1" dirty="0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7F6E2FC3-6239-B286-5CFA-0E439C30CF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058541"/>
              </p:ext>
            </p:extLst>
          </p:nvPr>
        </p:nvGraphicFramePr>
        <p:xfrm>
          <a:off x="-4909" y="1332313"/>
          <a:ext cx="3581827" cy="492783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07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5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16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40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03007">
                <a:tc>
                  <a:txBody>
                    <a:bodyPr/>
                    <a:lstStyle/>
                    <a:p>
                      <a:pPr marL="147320" marR="74930" indent="-11938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400" b="0" dirty="0">
                          <a:effectLst/>
                          <a:latin typeface="Arial Narrow" panose="020B0606020202030204" pitchFamily="34" charset="0"/>
                        </a:rPr>
                        <a:t>Ta rea</a:t>
                      </a:r>
                      <a:endParaRPr lang="es-PE" sz="1400" b="0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1905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PE" sz="1400" b="0" dirty="0">
                          <a:effectLst/>
                          <a:latin typeface="Arial Narrow" panose="020B0606020202030204" pitchFamily="34" charset="0"/>
                        </a:rPr>
                        <a:t>Descripción</a:t>
                      </a:r>
                      <a:endParaRPr lang="es-PE" sz="1400" b="0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400" b="0" dirty="0" err="1">
                          <a:effectLst/>
                          <a:latin typeface="Arial Narrow" panose="020B0606020202030204" pitchFamily="34" charset="0"/>
                        </a:rPr>
                        <a:t>Predeceso</a:t>
                      </a:r>
                      <a:r>
                        <a:rPr lang="es-MX" sz="1400" b="0" dirty="0">
                          <a:effectLst/>
                          <a:latin typeface="Arial Narrow" panose="020B0606020202030204" pitchFamily="34" charset="0"/>
                        </a:rPr>
                        <a:t> res Inmediatos</a:t>
                      </a:r>
                      <a:endParaRPr lang="es-PE" sz="1400" b="0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901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400" b="0" dirty="0">
                          <a:effectLst/>
                          <a:latin typeface="Arial Narrow" panose="020B0606020202030204" pitchFamily="34" charset="0"/>
                        </a:rPr>
                        <a:t>Tiempo</a:t>
                      </a:r>
                      <a:endParaRPr lang="es-PE" sz="1400" b="0" dirty="0">
                        <a:effectLst/>
                        <a:latin typeface="Arial Narrow" panose="020B0606020202030204" pitchFamily="34" charset="0"/>
                      </a:endParaRPr>
                    </a:p>
                    <a:p>
                      <a:pPr marL="147320" marR="74930" indent="-901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400" b="0" dirty="0">
                          <a:effectLst/>
                          <a:latin typeface="Arial Narrow" panose="020B0606020202030204" pitchFamily="34" charset="0"/>
                        </a:rPr>
                        <a:t>Normal</a:t>
                      </a:r>
                      <a:endParaRPr lang="es-PE" sz="1400" b="0" dirty="0">
                        <a:effectLst/>
                        <a:latin typeface="Arial Narrow" panose="020B0606020202030204" pitchFamily="34" charset="0"/>
                      </a:endParaRPr>
                    </a:p>
                    <a:p>
                      <a:pPr marL="147320" marR="74930" indent="-901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400" b="0" dirty="0">
                          <a:effectLst/>
                          <a:latin typeface="Arial Narrow" panose="020B0606020202030204" pitchFamily="34" charset="0"/>
                        </a:rPr>
                        <a:t>(Min)</a:t>
                      </a:r>
                      <a:endParaRPr lang="es-PE" sz="1400" b="0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89">
                <a:tc>
                  <a:txBody>
                    <a:bodyPr/>
                    <a:lstStyle/>
                    <a:p>
                      <a:pPr marL="147320" marR="74930" indent="-1905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400" b="0">
                          <a:effectLst/>
                          <a:latin typeface="Arial Narrow" panose="020B0606020202030204" pitchFamily="34" charset="0"/>
                        </a:rPr>
                        <a:t>A</a:t>
                      </a:r>
                      <a:endParaRPr lang="es-PE" sz="1400" b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14732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400" b="0" dirty="0">
                          <a:effectLst/>
                          <a:latin typeface="Arial Narrow" panose="020B0606020202030204" pitchFamily="34" charset="0"/>
                        </a:rPr>
                        <a:t>Preparar las ruedas</a:t>
                      </a:r>
                      <a:endParaRPr lang="es-PE" sz="1400" b="0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400" b="0">
                          <a:effectLst/>
                          <a:latin typeface="Arial Narrow" panose="020B0606020202030204" pitchFamily="34" charset="0"/>
                        </a:rPr>
                        <a:t>Ninguno</a:t>
                      </a:r>
                      <a:endParaRPr lang="es-PE" sz="1400" b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901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400" b="0">
                          <a:effectLst/>
                          <a:latin typeface="Arial Narrow" panose="020B0606020202030204" pitchFamily="34" charset="0"/>
                        </a:rPr>
                        <a:t>10</a:t>
                      </a:r>
                      <a:endParaRPr lang="es-PE" sz="1400" b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889">
                <a:tc>
                  <a:txBody>
                    <a:bodyPr/>
                    <a:lstStyle/>
                    <a:p>
                      <a:pPr marL="147320" marR="74930" indent="-1905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400" b="0">
                          <a:effectLst/>
                          <a:latin typeface="Arial Narrow" panose="020B0606020202030204" pitchFamily="34" charset="0"/>
                        </a:rPr>
                        <a:t>B</a:t>
                      </a:r>
                      <a:endParaRPr lang="es-PE" sz="1400" b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14732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400" b="0" dirty="0">
                          <a:effectLst/>
                          <a:latin typeface="Arial Narrow" panose="020B0606020202030204" pitchFamily="34" charset="0"/>
                        </a:rPr>
                        <a:t>Montar las ruedas</a:t>
                      </a:r>
                      <a:endParaRPr lang="es-PE" sz="1400" b="0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400" b="0">
                          <a:effectLst/>
                          <a:latin typeface="Arial Narrow" panose="020B0606020202030204" pitchFamily="34" charset="0"/>
                        </a:rPr>
                        <a:t>A</a:t>
                      </a:r>
                      <a:endParaRPr lang="es-PE" sz="1400" b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901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400" b="0">
                          <a:effectLst/>
                          <a:latin typeface="Arial Narrow" panose="020B0606020202030204" pitchFamily="34" charset="0"/>
                        </a:rPr>
                        <a:t>5</a:t>
                      </a:r>
                      <a:endParaRPr lang="es-PE" sz="1400" b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871">
                <a:tc>
                  <a:txBody>
                    <a:bodyPr/>
                    <a:lstStyle/>
                    <a:p>
                      <a:pPr marL="147320" marR="74930" indent="-1905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400" b="0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</a:rPr>
                        <a:t>C</a:t>
                      </a:r>
                      <a:endParaRPr lang="es-PE" sz="1400" b="0" dirty="0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14732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400" b="0" dirty="0">
                          <a:effectLst/>
                          <a:latin typeface="Arial Narrow" panose="020B0606020202030204" pitchFamily="34" charset="0"/>
                        </a:rPr>
                        <a:t>Ensamblar los costados</a:t>
                      </a:r>
                      <a:endParaRPr lang="es-PE" sz="1400" b="0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400" b="0">
                          <a:effectLst/>
                          <a:latin typeface="Arial Narrow" panose="020B0606020202030204" pitchFamily="34" charset="0"/>
                        </a:rPr>
                        <a:t>Ninguno</a:t>
                      </a:r>
                      <a:endParaRPr lang="es-PE" sz="1400" b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901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400" b="0">
                          <a:effectLst/>
                          <a:latin typeface="Arial Narrow" panose="020B0606020202030204" pitchFamily="34" charset="0"/>
                        </a:rPr>
                        <a:t>15</a:t>
                      </a:r>
                      <a:endParaRPr lang="es-PE" sz="1400" b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635">
                <a:tc>
                  <a:txBody>
                    <a:bodyPr/>
                    <a:lstStyle/>
                    <a:p>
                      <a:pPr marL="147320" marR="74930" indent="-1905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400" b="0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</a:rPr>
                        <a:t>D</a:t>
                      </a:r>
                      <a:endParaRPr lang="es-PE" sz="1400" b="0" dirty="0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14732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400" b="0" dirty="0">
                          <a:effectLst/>
                          <a:latin typeface="Arial Narrow" panose="020B0606020202030204" pitchFamily="34" charset="0"/>
                        </a:rPr>
                        <a:t>Colocar la cubierta superior</a:t>
                      </a:r>
                      <a:endParaRPr lang="es-PE" sz="1400" b="0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400" b="0">
                          <a:effectLst/>
                          <a:latin typeface="Arial Narrow" panose="020B0606020202030204" pitchFamily="34" charset="0"/>
                        </a:rPr>
                        <a:t>C</a:t>
                      </a:r>
                      <a:endParaRPr lang="es-PE" sz="1400" b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901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400" b="0">
                          <a:effectLst/>
                          <a:latin typeface="Arial Narrow" panose="020B0606020202030204" pitchFamily="34" charset="0"/>
                        </a:rPr>
                        <a:t>11</a:t>
                      </a:r>
                      <a:endParaRPr lang="es-PE" sz="1400" b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889">
                <a:tc>
                  <a:txBody>
                    <a:bodyPr/>
                    <a:lstStyle/>
                    <a:p>
                      <a:pPr marL="147320" marR="74930" indent="-1905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400" b="0">
                          <a:effectLst/>
                          <a:latin typeface="Arial Narrow" panose="020B0606020202030204" pitchFamily="34" charset="0"/>
                        </a:rPr>
                        <a:t>E</a:t>
                      </a:r>
                      <a:endParaRPr lang="es-PE" sz="1400" b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14732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400" b="0" dirty="0">
                          <a:effectLst/>
                          <a:latin typeface="Arial Narrow" panose="020B0606020202030204" pitchFamily="34" charset="0"/>
                        </a:rPr>
                        <a:t>Colocar la base</a:t>
                      </a:r>
                      <a:endParaRPr lang="es-PE" sz="1400" b="0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400" b="0">
                          <a:effectLst/>
                          <a:latin typeface="Arial Narrow" panose="020B0606020202030204" pitchFamily="34" charset="0"/>
                        </a:rPr>
                        <a:t>B, C</a:t>
                      </a:r>
                      <a:endParaRPr lang="es-PE" sz="1400" b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901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400" b="0">
                          <a:effectLst/>
                          <a:latin typeface="Arial Narrow" panose="020B0606020202030204" pitchFamily="34" charset="0"/>
                        </a:rPr>
                        <a:t>10</a:t>
                      </a:r>
                      <a:endParaRPr lang="es-PE" sz="1400" b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4889">
                <a:tc>
                  <a:txBody>
                    <a:bodyPr/>
                    <a:lstStyle/>
                    <a:p>
                      <a:pPr marL="147320" marR="74930" indent="-1905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400" b="0">
                          <a:effectLst/>
                          <a:latin typeface="Arial Narrow" panose="020B0606020202030204" pitchFamily="34" charset="0"/>
                        </a:rPr>
                        <a:t>F</a:t>
                      </a:r>
                      <a:endParaRPr lang="es-PE" sz="1400" b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14732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400" b="0" dirty="0">
                          <a:effectLst/>
                          <a:latin typeface="Arial Narrow" panose="020B0606020202030204" pitchFamily="34" charset="0"/>
                        </a:rPr>
                        <a:t>Insertar las ménsulas</a:t>
                      </a:r>
                      <a:endParaRPr lang="es-PE" sz="1400" b="0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400" b="0">
                          <a:effectLst/>
                          <a:latin typeface="Arial Narrow" panose="020B0606020202030204" pitchFamily="34" charset="0"/>
                        </a:rPr>
                        <a:t>C</a:t>
                      </a:r>
                      <a:endParaRPr lang="es-PE" sz="1400" b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901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400" b="0">
                          <a:effectLst/>
                          <a:latin typeface="Arial Narrow" panose="020B0606020202030204" pitchFamily="34" charset="0"/>
                        </a:rPr>
                        <a:t>5</a:t>
                      </a:r>
                      <a:endParaRPr lang="es-PE" sz="1400" b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4889">
                <a:tc>
                  <a:txBody>
                    <a:bodyPr/>
                    <a:lstStyle/>
                    <a:p>
                      <a:pPr marL="147320" marR="74930" indent="-1905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400" b="0">
                          <a:effectLst/>
                          <a:latin typeface="Arial Narrow" panose="020B0606020202030204" pitchFamily="34" charset="0"/>
                        </a:rPr>
                        <a:t>G</a:t>
                      </a:r>
                      <a:endParaRPr lang="es-PE" sz="1400" b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14732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400" b="0" dirty="0">
                          <a:effectLst/>
                          <a:latin typeface="Arial Narrow" panose="020B0606020202030204" pitchFamily="34" charset="0"/>
                        </a:rPr>
                        <a:t>Insertar las repisas</a:t>
                      </a:r>
                      <a:endParaRPr lang="es-PE" sz="1400" b="0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400" b="0">
                          <a:effectLst/>
                          <a:latin typeface="Arial Narrow" panose="020B0606020202030204" pitchFamily="34" charset="0"/>
                        </a:rPr>
                        <a:t>F</a:t>
                      </a:r>
                      <a:endParaRPr lang="es-PE" sz="1400" b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901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400" b="0">
                          <a:effectLst/>
                          <a:latin typeface="Arial Narrow" panose="020B0606020202030204" pitchFamily="34" charset="0"/>
                        </a:rPr>
                        <a:t>5</a:t>
                      </a:r>
                      <a:endParaRPr lang="es-PE" sz="1400" b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4889">
                <a:tc>
                  <a:txBody>
                    <a:bodyPr/>
                    <a:lstStyle/>
                    <a:p>
                      <a:pPr marL="147320" marR="74930" indent="-1905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400" b="0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</a:rPr>
                        <a:t>H</a:t>
                      </a:r>
                      <a:endParaRPr lang="es-PE" sz="1400" b="0" dirty="0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14732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400" b="0" dirty="0">
                          <a:effectLst/>
                          <a:latin typeface="Arial Narrow" panose="020B0606020202030204" pitchFamily="34" charset="0"/>
                        </a:rPr>
                        <a:t>Colocar las puertas</a:t>
                      </a:r>
                      <a:endParaRPr lang="es-PE" sz="1400" b="0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400" b="0">
                          <a:effectLst/>
                          <a:latin typeface="Arial Narrow" panose="020B0606020202030204" pitchFamily="34" charset="0"/>
                        </a:rPr>
                        <a:t>D, E, G</a:t>
                      </a:r>
                      <a:endParaRPr lang="es-PE" sz="1400" b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901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400" b="0">
                          <a:effectLst/>
                          <a:latin typeface="Arial Narrow" panose="020B0606020202030204" pitchFamily="34" charset="0"/>
                        </a:rPr>
                        <a:t>10</a:t>
                      </a:r>
                      <a:endParaRPr lang="es-PE" sz="1400" b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9883">
                <a:tc>
                  <a:txBody>
                    <a:bodyPr/>
                    <a:lstStyle/>
                    <a:p>
                      <a:pPr marL="147320" marR="74930" indent="-1905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400" b="0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</a:rPr>
                        <a:t>I</a:t>
                      </a:r>
                      <a:endParaRPr lang="es-PE" sz="1400" b="0" dirty="0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14732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400" b="0" dirty="0">
                          <a:effectLst/>
                          <a:latin typeface="Arial Narrow" panose="020B0606020202030204" pitchFamily="34" charset="0"/>
                        </a:rPr>
                        <a:t>Colocar el panel posterior</a:t>
                      </a:r>
                      <a:endParaRPr lang="es-PE" sz="1400" b="0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400" b="0">
                          <a:effectLst/>
                          <a:latin typeface="Arial Narrow" panose="020B0606020202030204" pitchFamily="34" charset="0"/>
                        </a:rPr>
                        <a:t>D, E</a:t>
                      </a:r>
                      <a:endParaRPr lang="es-PE" sz="1400" b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147320" marR="74930" indent="-901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400" b="0">
                          <a:effectLst/>
                          <a:latin typeface="Arial Narrow" panose="020B0606020202030204" pitchFamily="34" charset="0"/>
                        </a:rPr>
                        <a:t>10</a:t>
                      </a:r>
                      <a:endParaRPr lang="es-PE" sz="1400" b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215">
                <a:tc>
                  <a:txBody>
                    <a:bodyPr/>
                    <a:lstStyle/>
                    <a:p>
                      <a:pPr marL="38735" marR="74930" indent="-1905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400" b="0">
                          <a:effectLst/>
                          <a:latin typeface="Arial Narrow" panose="020B0606020202030204" pitchFamily="34" charset="0"/>
                        </a:rPr>
                        <a:t>J</a:t>
                      </a:r>
                      <a:endParaRPr lang="es-PE" sz="1400" b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38735" marR="74930" indent="97155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400" b="0" dirty="0">
                          <a:effectLst/>
                          <a:latin typeface="Arial Narrow" panose="020B0606020202030204" pitchFamily="34" charset="0"/>
                        </a:rPr>
                        <a:t>Pintar la unidad</a:t>
                      </a:r>
                      <a:endParaRPr lang="es-PE" sz="1400" b="0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400" b="0">
                          <a:effectLst/>
                          <a:latin typeface="Arial Narrow" panose="020B0606020202030204" pitchFamily="34" charset="0"/>
                        </a:rPr>
                        <a:t>H, I</a:t>
                      </a:r>
                      <a:endParaRPr lang="es-PE" sz="1400" b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38735" marR="74930" indent="-3873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400" b="0" dirty="0">
                          <a:effectLst/>
                          <a:latin typeface="Arial Narrow" panose="020B0606020202030204" pitchFamily="34" charset="0"/>
                        </a:rPr>
                        <a:t>15</a:t>
                      </a:r>
                      <a:endParaRPr lang="es-PE" sz="1400" b="0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1785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ANIVAL TORRE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610600" y="5947274"/>
            <a:ext cx="2743200" cy="365125"/>
          </a:xfrm>
        </p:spPr>
        <p:txBody>
          <a:bodyPr/>
          <a:lstStyle/>
          <a:p>
            <a:fld id="{55F7123F-EA94-4AF6-90FD-8402484B591B}" type="slidenum">
              <a:rPr lang="en-US" smtClean="0"/>
              <a:pPr/>
              <a:t>7</a:t>
            </a:fld>
            <a:endParaRPr lang="en-US" dirty="0"/>
          </a:p>
        </p:txBody>
      </p:sp>
      <p:graphicFrame>
        <p:nvGraphicFramePr>
          <p:cNvPr id="5" name="4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7559814"/>
              </p:ext>
            </p:extLst>
          </p:nvPr>
        </p:nvGraphicFramePr>
        <p:xfrm>
          <a:off x="6737686" y="3757031"/>
          <a:ext cx="5332778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9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4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1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76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9581"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latin typeface="Arial Narrow" panose="020B0606020202030204" pitchFamily="34" charset="0"/>
                        </a:rPr>
                        <a:t>Rutas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latin typeface="Arial Narrow" panose="020B0606020202030204" pitchFamily="34" charset="0"/>
                        </a:rPr>
                        <a:t>Duración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latin typeface="Arial Narrow" panose="020B0606020202030204" pitchFamily="34" charset="0"/>
                        </a:rPr>
                        <a:t>Tareas a reducir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latin typeface="Arial Narrow" panose="020B0606020202030204" pitchFamily="34" charset="0"/>
                        </a:rPr>
                        <a:t>Costo adicional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2 Marcador de contenido"/>
          <p:cNvSpPr txBox="1">
            <a:spLocks/>
          </p:cNvSpPr>
          <p:nvPr/>
        </p:nvSpPr>
        <p:spPr>
          <a:xfrm>
            <a:off x="12640" y="6046701"/>
            <a:ext cx="5527901" cy="796930"/>
          </a:xfrm>
          <a:prstGeom prst="rect">
            <a:avLst/>
          </a:prstGeom>
          <a:solidFill>
            <a:srgbClr val="FFFF00"/>
          </a:solidFill>
        </p:spPr>
        <p:txBody>
          <a:bodyPr/>
          <a:lstStyle/>
          <a:p>
            <a:pPr marL="342900" indent="-342900" fontAlgn="base">
              <a:spcAft>
                <a:spcPct val="0"/>
              </a:spcAft>
              <a:buClr>
                <a:schemeClr val="hlink"/>
              </a:buClr>
              <a:defRPr/>
            </a:pPr>
            <a:r>
              <a:rPr lang="es-PE" sz="2400" kern="0" dirty="0">
                <a:latin typeface="Arial Narrow" pitchFamily="34" charset="0"/>
              </a:rPr>
              <a:t>RESPUESTA:</a:t>
            </a:r>
          </a:p>
          <a:p>
            <a:pPr marL="342900" indent="-342900" fontAlgn="base">
              <a:spcAft>
                <a:spcPct val="0"/>
              </a:spcAft>
              <a:buClr>
                <a:schemeClr val="hlink"/>
              </a:buClr>
              <a:defRPr/>
            </a:pPr>
            <a:r>
              <a:rPr lang="es-PE" sz="2400" kern="0" dirty="0">
                <a:latin typeface="Arial Narrow" pitchFamily="34" charset="0"/>
              </a:rPr>
              <a:t>Costo adicional: </a:t>
            </a:r>
            <a:r>
              <a:rPr lang="es-PE" sz="2400" kern="0" dirty="0" err="1">
                <a:latin typeface="Arial Narrow" pitchFamily="34" charset="0"/>
              </a:rPr>
              <a:t>5,Tareas</a:t>
            </a:r>
            <a:r>
              <a:rPr lang="es-PE" sz="2400" kern="0" dirty="0">
                <a:latin typeface="Arial Narrow" pitchFamily="34" charset="0"/>
              </a:rPr>
              <a:t> a reducir : A(2)    C(3)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487B9406-7354-2DAD-D487-77F153FE38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3911678"/>
              </p:ext>
            </p:extLst>
          </p:nvPr>
        </p:nvGraphicFramePr>
        <p:xfrm>
          <a:off x="6737686" y="4835119"/>
          <a:ext cx="5332778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2243">
                  <a:extLst>
                    <a:ext uri="{9D8B030D-6E8A-4147-A177-3AD203B41FA5}">
                      <a16:colId xmlns:a16="http://schemas.microsoft.com/office/drawing/2014/main" val="3393695925"/>
                    </a:ext>
                  </a:extLst>
                </a:gridCol>
                <a:gridCol w="1120589">
                  <a:extLst>
                    <a:ext uri="{9D8B030D-6E8A-4147-A177-3AD203B41FA5}">
                      <a16:colId xmlns:a16="http://schemas.microsoft.com/office/drawing/2014/main" val="1390794511"/>
                    </a:ext>
                  </a:extLst>
                </a:gridCol>
                <a:gridCol w="1082313">
                  <a:extLst>
                    <a:ext uri="{9D8B030D-6E8A-4147-A177-3AD203B41FA5}">
                      <a16:colId xmlns:a16="http://schemas.microsoft.com/office/drawing/2014/main" val="888684186"/>
                    </a:ext>
                  </a:extLst>
                </a:gridCol>
                <a:gridCol w="1467633">
                  <a:extLst>
                    <a:ext uri="{9D8B030D-6E8A-4147-A177-3AD203B41FA5}">
                      <a16:colId xmlns:a16="http://schemas.microsoft.com/office/drawing/2014/main" val="20562873"/>
                    </a:ext>
                  </a:extLst>
                </a:gridCol>
              </a:tblGrid>
              <a:tr h="65532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2000" dirty="0">
                          <a:latin typeface="Arial Narrow" panose="020B0606020202030204" pitchFamily="34" charset="0"/>
                        </a:rPr>
                        <a:t>CDHJ / CDIJ</a:t>
                      </a:r>
                    </a:p>
                    <a:p>
                      <a:r>
                        <a:rPr lang="es-PE" sz="2000" dirty="0">
                          <a:latin typeface="Arial Narrow" panose="020B0606020202030204" pitchFamily="34" charset="0"/>
                        </a:rPr>
                        <a:t>ABEHJ /ABEIJ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latin typeface="Arial Narrow" panose="020B0606020202030204" pitchFamily="34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latin typeface="Arial Narrow" panose="020B0606020202030204" pitchFamily="34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2000" dirty="0">
                          <a:latin typeface="Arial Narrow" panose="020B0606020202030204" pitchFamily="34" charset="0"/>
                        </a:rPr>
                        <a:t>C=1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0890699"/>
                  </a:ext>
                </a:extLst>
              </a:tr>
            </a:tbl>
          </a:graphicData>
        </a:graphic>
      </p:graphicFrame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E9F47F16-6EC4-DA7A-D613-F182B69E5B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9888248"/>
              </p:ext>
            </p:extLst>
          </p:nvPr>
        </p:nvGraphicFramePr>
        <p:xfrm>
          <a:off x="6731670" y="5521904"/>
          <a:ext cx="5332778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8259">
                  <a:extLst>
                    <a:ext uri="{9D8B030D-6E8A-4147-A177-3AD203B41FA5}">
                      <a16:colId xmlns:a16="http://schemas.microsoft.com/office/drawing/2014/main" val="3173680461"/>
                    </a:ext>
                  </a:extLst>
                </a:gridCol>
                <a:gridCol w="1120589">
                  <a:extLst>
                    <a:ext uri="{9D8B030D-6E8A-4147-A177-3AD203B41FA5}">
                      <a16:colId xmlns:a16="http://schemas.microsoft.com/office/drawing/2014/main" val="1769889351"/>
                    </a:ext>
                  </a:extLst>
                </a:gridCol>
                <a:gridCol w="1076297">
                  <a:extLst>
                    <a:ext uri="{9D8B030D-6E8A-4147-A177-3AD203B41FA5}">
                      <a16:colId xmlns:a16="http://schemas.microsoft.com/office/drawing/2014/main" val="2156877231"/>
                    </a:ext>
                  </a:extLst>
                </a:gridCol>
                <a:gridCol w="1467633">
                  <a:extLst>
                    <a:ext uri="{9D8B030D-6E8A-4147-A177-3AD203B41FA5}">
                      <a16:colId xmlns:a16="http://schemas.microsoft.com/office/drawing/2014/main" val="356582601"/>
                    </a:ext>
                  </a:extLst>
                </a:gridCol>
              </a:tblGrid>
              <a:tr h="65532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2000" dirty="0">
                          <a:latin typeface="Arial Narrow" panose="020B0606020202030204" pitchFamily="34" charset="0"/>
                        </a:rPr>
                        <a:t>CDHJ / CDIJ</a:t>
                      </a:r>
                    </a:p>
                    <a:p>
                      <a:r>
                        <a:rPr lang="es-PE" sz="2000" dirty="0">
                          <a:latin typeface="Arial Narrow" panose="020B0606020202030204" pitchFamily="34" charset="0"/>
                        </a:rPr>
                        <a:t>ABEHJ /ABEIJ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latin typeface="Arial Narrow" panose="020B0606020202030204" pitchFamily="34" charset="0"/>
                        </a:rPr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latin typeface="Arial Narrow" panose="020B0606020202030204" pitchFamily="34" charset="0"/>
                        </a:rPr>
                        <a:t>A+C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2000" dirty="0">
                          <a:latin typeface="Arial Narrow" panose="020B0606020202030204" pitchFamily="34" charset="0"/>
                        </a:rPr>
                        <a:t>C=1+(1+1)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643501"/>
                  </a:ext>
                </a:extLst>
              </a:tr>
            </a:tbl>
          </a:graphicData>
        </a:graphic>
      </p:graphicFrame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937BA36F-8944-5B88-2C5A-2C30087ACA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2422046"/>
              </p:ext>
            </p:extLst>
          </p:nvPr>
        </p:nvGraphicFramePr>
        <p:xfrm>
          <a:off x="6731670" y="6166060"/>
          <a:ext cx="5332777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9295">
                  <a:extLst>
                    <a:ext uri="{9D8B030D-6E8A-4147-A177-3AD203B41FA5}">
                      <a16:colId xmlns:a16="http://schemas.microsoft.com/office/drawing/2014/main" val="3265925786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251623"/>
                    </a:ext>
                  </a:extLst>
                </a:gridCol>
                <a:gridCol w="1085261">
                  <a:extLst>
                    <a:ext uri="{9D8B030D-6E8A-4147-A177-3AD203B41FA5}">
                      <a16:colId xmlns:a16="http://schemas.microsoft.com/office/drawing/2014/main" val="3732666096"/>
                    </a:ext>
                  </a:extLst>
                </a:gridCol>
                <a:gridCol w="1467633">
                  <a:extLst>
                    <a:ext uri="{9D8B030D-6E8A-4147-A177-3AD203B41FA5}">
                      <a16:colId xmlns:a16="http://schemas.microsoft.com/office/drawing/2014/main" val="476909362"/>
                    </a:ext>
                  </a:extLst>
                </a:gridCol>
              </a:tblGrid>
              <a:tr h="65532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2000" dirty="0">
                          <a:latin typeface="Arial Narrow" panose="020B0606020202030204" pitchFamily="34" charset="0"/>
                        </a:rPr>
                        <a:t>CDHJ / CDIJ</a:t>
                      </a:r>
                    </a:p>
                    <a:p>
                      <a:r>
                        <a:rPr lang="es-PE" sz="2000" dirty="0">
                          <a:latin typeface="Arial Narrow" panose="020B0606020202030204" pitchFamily="34" charset="0"/>
                        </a:rPr>
                        <a:t>ABEHJ /ABEIJ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latin typeface="Arial Narrow" panose="020B0606020202030204" pitchFamily="34" charset="0"/>
                        </a:rP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 err="1">
                          <a:latin typeface="Arial Narrow" panose="020B0606020202030204" pitchFamily="34" charset="0"/>
                        </a:rPr>
                        <a:t>A+C</a:t>
                      </a:r>
                      <a:endParaRPr lang="es-PE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2000" dirty="0">
                          <a:latin typeface="Arial Narrow" panose="020B0606020202030204" pitchFamily="34" charset="0"/>
                        </a:rPr>
                        <a:t>C=3+2=5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272702"/>
                  </a:ext>
                </a:extLst>
              </a:tr>
            </a:tbl>
          </a:graphicData>
        </a:graphic>
      </p:graphicFrame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667EF307-FF08-C815-1E96-CCD1EEFECB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5817495"/>
              </p:ext>
            </p:extLst>
          </p:nvPr>
        </p:nvGraphicFramePr>
        <p:xfrm>
          <a:off x="6725653" y="4454508"/>
          <a:ext cx="5332778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4276">
                  <a:extLst>
                    <a:ext uri="{9D8B030D-6E8A-4147-A177-3AD203B41FA5}">
                      <a16:colId xmlns:a16="http://schemas.microsoft.com/office/drawing/2014/main" val="487839116"/>
                    </a:ext>
                  </a:extLst>
                </a:gridCol>
                <a:gridCol w="1111624">
                  <a:extLst>
                    <a:ext uri="{9D8B030D-6E8A-4147-A177-3AD203B41FA5}">
                      <a16:colId xmlns:a16="http://schemas.microsoft.com/office/drawing/2014/main" val="3421596571"/>
                    </a:ext>
                  </a:extLst>
                </a:gridCol>
                <a:gridCol w="1079245">
                  <a:extLst>
                    <a:ext uri="{9D8B030D-6E8A-4147-A177-3AD203B41FA5}">
                      <a16:colId xmlns:a16="http://schemas.microsoft.com/office/drawing/2014/main" val="143676295"/>
                    </a:ext>
                  </a:extLst>
                </a:gridCol>
                <a:gridCol w="1467633">
                  <a:extLst>
                    <a:ext uri="{9D8B030D-6E8A-4147-A177-3AD203B41FA5}">
                      <a16:colId xmlns:a16="http://schemas.microsoft.com/office/drawing/2014/main" val="370676667"/>
                    </a:ext>
                  </a:extLst>
                </a:gridCol>
              </a:tblGrid>
              <a:tr h="359370">
                <a:tc>
                  <a:txBody>
                    <a:bodyPr/>
                    <a:lstStyle/>
                    <a:p>
                      <a:r>
                        <a:rPr lang="es-PE" sz="2000" dirty="0">
                          <a:latin typeface="Arial Narrow" panose="020B0606020202030204" pitchFamily="34" charset="0"/>
                        </a:rPr>
                        <a:t>CDHJ / CDIJ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latin typeface="Arial Narrow" panose="020B0606020202030204" pitchFamily="34" charset="0"/>
                        </a:rPr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PE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2000" dirty="0">
                          <a:latin typeface="Arial Narrow" panose="020B0606020202030204" pitchFamily="34" charset="0"/>
                        </a:rPr>
                        <a:t>C=0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0803504"/>
                  </a:ext>
                </a:extLst>
              </a:tr>
            </a:tbl>
          </a:graphicData>
        </a:graphic>
      </p:graphicFrame>
      <p:sp>
        <p:nvSpPr>
          <p:cNvPr id="10" name="Oval 3">
            <a:hlinkHover r:id="" action="ppaction://noaction">
              <a:snd r:embed="rId2" name="gunshot.wav"/>
            </a:hlinkHover>
            <a:extLst>
              <a:ext uri="{FF2B5EF4-FFF2-40B4-BE49-F238E27FC236}">
                <a16:creationId xmlns:a16="http://schemas.microsoft.com/office/drawing/2014/main" id="{EE13E5AB-CF2F-249C-8298-A280DB53C5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78" y="2963507"/>
            <a:ext cx="642912" cy="691444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b="1" dirty="0" err="1">
                <a:latin typeface="Arial Narrow" panose="020B0606020202030204" pitchFamily="34" charset="0"/>
              </a:rPr>
              <a:t>X0</a:t>
            </a:r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11" name="Oval 4">
            <a:extLst>
              <a:ext uri="{FF2B5EF4-FFF2-40B4-BE49-F238E27FC236}">
                <a16:creationId xmlns:a16="http://schemas.microsoft.com/office/drawing/2014/main" id="{0675C95F-C41B-9FBB-02B5-2E297B295E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51" y="5160621"/>
            <a:ext cx="586782" cy="706445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b="1" dirty="0" err="1">
                <a:latin typeface="Arial Narrow" panose="020B0606020202030204" pitchFamily="34" charset="0"/>
              </a:rPr>
              <a:t>X5</a:t>
            </a:r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12" name="Oval 5">
            <a:extLst>
              <a:ext uri="{FF2B5EF4-FFF2-40B4-BE49-F238E27FC236}">
                <a16:creationId xmlns:a16="http://schemas.microsoft.com/office/drawing/2014/main" id="{276AD1AA-FE98-2E9C-BCB3-E0B10A2A61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407" y="995078"/>
            <a:ext cx="655638" cy="692339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b="1" dirty="0" err="1">
                <a:latin typeface="Arial Narrow" panose="020B0606020202030204" pitchFamily="34" charset="0"/>
              </a:rPr>
              <a:t>X3</a:t>
            </a:r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13" name="Oval 6">
            <a:extLst>
              <a:ext uri="{FF2B5EF4-FFF2-40B4-BE49-F238E27FC236}">
                <a16:creationId xmlns:a16="http://schemas.microsoft.com/office/drawing/2014/main" id="{2D5ED201-28E8-F7D4-5A04-6BAEBE3D5F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3742" y="3016168"/>
            <a:ext cx="590344" cy="684243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b="1" dirty="0" err="1">
                <a:latin typeface="Arial Narrow" panose="020B0606020202030204" pitchFamily="34" charset="0"/>
              </a:rPr>
              <a:t>X8</a:t>
            </a:r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14" name="Oval 7">
            <a:extLst>
              <a:ext uri="{FF2B5EF4-FFF2-40B4-BE49-F238E27FC236}">
                <a16:creationId xmlns:a16="http://schemas.microsoft.com/office/drawing/2014/main" id="{877DD136-872E-B957-46DB-8840E41402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5779" y="5187875"/>
            <a:ext cx="583881" cy="679190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b="1" dirty="0" err="1">
                <a:latin typeface="Arial Narrow" panose="020B0606020202030204" pitchFamily="34" charset="0"/>
              </a:rPr>
              <a:t>X2</a:t>
            </a:r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15" name="Oval 8">
            <a:extLst>
              <a:ext uri="{FF2B5EF4-FFF2-40B4-BE49-F238E27FC236}">
                <a16:creationId xmlns:a16="http://schemas.microsoft.com/office/drawing/2014/main" id="{F4DBDBE8-525F-2753-5B35-1C5B5A380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119" y="995078"/>
            <a:ext cx="657887" cy="692338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b="1" dirty="0" err="1">
                <a:latin typeface="Arial Narrow" panose="020B0606020202030204" pitchFamily="34" charset="0"/>
              </a:rPr>
              <a:t>X1</a:t>
            </a:r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16" name="Oval 9">
            <a:extLst>
              <a:ext uri="{FF2B5EF4-FFF2-40B4-BE49-F238E27FC236}">
                <a16:creationId xmlns:a16="http://schemas.microsoft.com/office/drawing/2014/main" id="{8C88FD65-07FE-CB90-318A-BD916FECFE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1196" y="3044739"/>
            <a:ext cx="647088" cy="650912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b="1" dirty="0" err="1">
                <a:latin typeface="Arial Narrow" panose="020B0606020202030204" pitchFamily="34" charset="0"/>
              </a:rPr>
              <a:t>X4</a:t>
            </a:r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17" name="Oval 10">
            <a:extLst>
              <a:ext uri="{FF2B5EF4-FFF2-40B4-BE49-F238E27FC236}">
                <a16:creationId xmlns:a16="http://schemas.microsoft.com/office/drawing/2014/main" id="{2E5581C5-5670-7015-F1C6-BE942F2CD7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0397" y="995078"/>
            <a:ext cx="633689" cy="692338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b="1" dirty="0" err="1">
                <a:latin typeface="Arial Narrow" panose="020B0606020202030204" pitchFamily="34" charset="0"/>
              </a:rPr>
              <a:t>X6</a:t>
            </a:r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18" name="Oval 11">
            <a:extLst>
              <a:ext uri="{FF2B5EF4-FFF2-40B4-BE49-F238E27FC236}">
                <a16:creationId xmlns:a16="http://schemas.microsoft.com/office/drawing/2014/main" id="{8B64A2E5-E98D-D986-824B-29FF7CBA04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3542" y="3044739"/>
            <a:ext cx="588898" cy="655672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b="1" dirty="0" err="1">
                <a:latin typeface="Arial Narrow" panose="020B0606020202030204" pitchFamily="34" charset="0"/>
              </a:rPr>
              <a:t>X9</a:t>
            </a:r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19" name="Line 12">
            <a:extLst>
              <a:ext uri="{FF2B5EF4-FFF2-40B4-BE49-F238E27FC236}">
                <a16:creationId xmlns:a16="http://schemas.microsoft.com/office/drawing/2014/main" id="{63638579-5E00-388A-03D2-0A87DDEF67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3443" y="1709453"/>
            <a:ext cx="543653" cy="125405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20" name="Line 13">
            <a:extLst>
              <a:ext uri="{FF2B5EF4-FFF2-40B4-BE49-F238E27FC236}">
                <a16:creationId xmlns:a16="http://schemas.microsoft.com/office/drawing/2014/main" id="{3EAA5738-4584-612D-36D0-5F1CABA83E4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3443" y="3700411"/>
            <a:ext cx="683619" cy="14874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21" name="Line 14">
            <a:extLst>
              <a:ext uri="{FF2B5EF4-FFF2-40B4-BE49-F238E27FC236}">
                <a16:creationId xmlns:a16="http://schemas.microsoft.com/office/drawing/2014/main" id="{ECFB1843-1050-7D21-3464-C835FF5ED3AC}"/>
              </a:ext>
            </a:extLst>
          </p:cNvPr>
          <p:cNvSpPr>
            <a:spLocks noChangeShapeType="1"/>
          </p:cNvSpPr>
          <p:nvPr/>
        </p:nvSpPr>
        <p:spPr bwMode="auto">
          <a:xfrm>
            <a:off x="1683654" y="5564101"/>
            <a:ext cx="108820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22" name="Line 15">
            <a:extLst>
              <a:ext uri="{FF2B5EF4-FFF2-40B4-BE49-F238E27FC236}">
                <a16:creationId xmlns:a16="http://schemas.microsoft.com/office/drawing/2014/main" id="{02B9FBDA-A735-B62F-8745-24E90AA6286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82333" y="3695650"/>
            <a:ext cx="1895724" cy="15630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23" name="Line 18">
            <a:extLst>
              <a:ext uri="{FF2B5EF4-FFF2-40B4-BE49-F238E27FC236}">
                <a16:creationId xmlns:a16="http://schemas.microsoft.com/office/drawing/2014/main" id="{0660B253-598A-A5F6-1729-CA7E502F610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95889" y="1484113"/>
            <a:ext cx="1937853" cy="168454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24" name="Line 19">
            <a:extLst>
              <a:ext uri="{FF2B5EF4-FFF2-40B4-BE49-F238E27FC236}">
                <a16:creationId xmlns:a16="http://schemas.microsoft.com/office/drawing/2014/main" id="{15D8FAAE-0085-0202-DA45-8FEE2243BC88}"/>
              </a:ext>
            </a:extLst>
          </p:cNvPr>
          <p:cNvSpPr>
            <a:spLocks noChangeShapeType="1"/>
          </p:cNvSpPr>
          <p:nvPr/>
        </p:nvSpPr>
        <p:spPr bwMode="auto">
          <a:xfrm>
            <a:off x="1488933" y="1262857"/>
            <a:ext cx="121147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25" name="Line 20">
            <a:extLst>
              <a:ext uri="{FF2B5EF4-FFF2-40B4-BE49-F238E27FC236}">
                <a16:creationId xmlns:a16="http://schemas.microsoft.com/office/drawing/2014/main" id="{9264D995-0972-70F8-3C41-DDEDE0211F96}"/>
              </a:ext>
            </a:extLst>
          </p:cNvPr>
          <p:cNvSpPr>
            <a:spLocks noChangeShapeType="1"/>
          </p:cNvSpPr>
          <p:nvPr/>
        </p:nvSpPr>
        <p:spPr bwMode="auto">
          <a:xfrm>
            <a:off x="3249519" y="1638002"/>
            <a:ext cx="882147" cy="14067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26" name="Line 21">
            <a:extLst>
              <a:ext uri="{FF2B5EF4-FFF2-40B4-BE49-F238E27FC236}">
                <a16:creationId xmlns:a16="http://schemas.microsoft.com/office/drawing/2014/main" id="{3AE4DBFC-B748-9E13-4367-4029F10FDBB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73294" y="1687416"/>
            <a:ext cx="1377941" cy="3417898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 type="triangle" w="med" len="med"/>
          </a:ln>
        </p:spPr>
        <p:txBody>
          <a:bodyPr/>
          <a:lstStyle/>
          <a:p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27" name="Line 22">
            <a:extLst>
              <a:ext uri="{FF2B5EF4-FFF2-40B4-BE49-F238E27FC236}">
                <a16:creationId xmlns:a16="http://schemas.microsoft.com/office/drawing/2014/main" id="{C627CC1F-3BA7-2792-8A37-F173728DDE3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79661" y="3627253"/>
            <a:ext cx="2328858" cy="179714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28" name="Text Box 23">
            <a:extLst>
              <a:ext uri="{FF2B5EF4-FFF2-40B4-BE49-F238E27FC236}">
                <a16:creationId xmlns:a16="http://schemas.microsoft.com/office/drawing/2014/main" id="{1898F132-AF1E-8248-6FF4-457F323962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201" y="2114227"/>
            <a:ext cx="57099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b="1" dirty="0">
                <a:latin typeface="Arial Narrow" panose="020B0606020202030204" pitchFamily="34" charset="0"/>
              </a:rPr>
              <a:t>A10</a:t>
            </a:r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29" name="Text Box 24">
            <a:extLst>
              <a:ext uri="{FF2B5EF4-FFF2-40B4-BE49-F238E27FC236}">
                <a16:creationId xmlns:a16="http://schemas.microsoft.com/office/drawing/2014/main" id="{8943A5E9-A7D2-BF0D-EF99-F54BAF1BCE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646" y="4402061"/>
            <a:ext cx="57099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b="1" dirty="0">
                <a:latin typeface="Arial Narrow" panose="020B0606020202030204" pitchFamily="34" charset="0"/>
              </a:rPr>
              <a:t>C15</a:t>
            </a:r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30" name="Text Box 25">
            <a:extLst>
              <a:ext uri="{FF2B5EF4-FFF2-40B4-BE49-F238E27FC236}">
                <a16:creationId xmlns:a16="http://schemas.microsoft.com/office/drawing/2014/main" id="{946C514E-898D-19F1-4786-79814AE15F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5684" y="941743"/>
            <a:ext cx="45397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b="1" dirty="0">
                <a:latin typeface="Arial Narrow" panose="020B0606020202030204" pitchFamily="34" charset="0"/>
              </a:rPr>
              <a:t>B5</a:t>
            </a:r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31" name="Text Box 26">
            <a:extLst>
              <a:ext uri="{FF2B5EF4-FFF2-40B4-BE49-F238E27FC236}">
                <a16:creationId xmlns:a16="http://schemas.microsoft.com/office/drawing/2014/main" id="{B16CC287-D521-5F55-2254-8D2B5C49CF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6443" y="2365469"/>
            <a:ext cx="55977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b="1" dirty="0">
                <a:latin typeface="Arial Narrow" panose="020B0606020202030204" pitchFamily="34" charset="0"/>
              </a:rPr>
              <a:t>E10</a:t>
            </a:r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32" name="Text Box 27">
            <a:extLst>
              <a:ext uri="{FF2B5EF4-FFF2-40B4-BE49-F238E27FC236}">
                <a16:creationId xmlns:a16="http://schemas.microsoft.com/office/drawing/2014/main" id="{AB421EC8-A576-4CFA-ACC6-E35A06BC1F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2908" y="1954248"/>
            <a:ext cx="47641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b="1" dirty="0">
                <a:latin typeface="Arial Narrow" panose="020B0606020202030204" pitchFamily="34" charset="0"/>
              </a:rPr>
              <a:t>I10</a:t>
            </a:r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33" name="Text Box 28">
            <a:extLst>
              <a:ext uri="{FF2B5EF4-FFF2-40B4-BE49-F238E27FC236}">
                <a16:creationId xmlns:a16="http://schemas.microsoft.com/office/drawing/2014/main" id="{B8B2D455-EE8D-91DC-4488-4C6D8B1A79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3887" y="3075028"/>
            <a:ext cx="57099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b="1" dirty="0">
                <a:latin typeface="Arial Narrow" panose="020B0606020202030204" pitchFamily="34" charset="0"/>
              </a:rPr>
              <a:t>H10</a:t>
            </a:r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34" name="Text Box 29">
            <a:extLst>
              <a:ext uri="{FF2B5EF4-FFF2-40B4-BE49-F238E27FC236}">
                <a16:creationId xmlns:a16="http://schemas.microsoft.com/office/drawing/2014/main" id="{4F383113-82B7-9C7D-456E-07D1E63AA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6636" y="3044739"/>
            <a:ext cx="53572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b="1" dirty="0">
                <a:latin typeface="Arial Narrow" panose="020B0606020202030204" pitchFamily="34" charset="0"/>
              </a:rPr>
              <a:t>J15</a:t>
            </a:r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35" name="Text Box 30">
            <a:extLst>
              <a:ext uri="{FF2B5EF4-FFF2-40B4-BE49-F238E27FC236}">
                <a16:creationId xmlns:a16="http://schemas.microsoft.com/office/drawing/2014/main" id="{DB74502B-D6DA-513A-DC07-AD5164FD03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9552" y="4330621"/>
            <a:ext cx="46519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b="1" dirty="0">
                <a:latin typeface="Arial Narrow" panose="020B0606020202030204" pitchFamily="34" charset="0"/>
              </a:rPr>
              <a:t>G5</a:t>
            </a:r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36" name="Text Box 31">
            <a:extLst>
              <a:ext uri="{FF2B5EF4-FFF2-40B4-BE49-F238E27FC236}">
                <a16:creationId xmlns:a16="http://schemas.microsoft.com/office/drawing/2014/main" id="{8AD2CF1F-7073-CD5A-0D2B-C09303DC7D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8459" y="5237250"/>
            <a:ext cx="42992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b="1" dirty="0">
                <a:latin typeface="Arial Narrow" panose="020B0606020202030204" pitchFamily="34" charset="0"/>
              </a:rPr>
              <a:t>F5</a:t>
            </a:r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37" name="Text Box 32">
            <a:extLst>
              <a:ext uri="{FF2B5EF4-FFF2-40B4-BE49-F238E27FC236}">
                <a16:creationId xmlns:a16="http://schemas.microsoft.com/office/drawing/2014/main" id="{E7EC62FA-C5A4-2E7B-795A-7222489C79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0942" y="3923322"/>
            <a:ext cx="55560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b="1" dirty="0">
                <a:latin typeface="Arial Narrow" panose="020B0606020202030204" pitchFamily="34" charset="0"/>
              </a:rPr>
              <a:t>D11</a:t>
            </a:r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38" name="Text Box 33">
            <a:extLst>
              <a:ext uri="{FF2B5EF4-FFF2-40B4-BE49-F238E27FC236}">
                <a16:creationId xmlns:a16="http://schemas.microsoft.com/office/drawing/2014/main" id="{A2301013-1658-6A30-7AE2-88C053F445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790" y="2365469"/>
            <a:ext cx="75597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b="1" dirty="0">
                <a:latin typeface="Arial Narrow" panose="020B0606020202030204" pitchFamily="34" charset="0"/>
              </a:rPr>
              <a:t>10-YA</a:t>
            </a:r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39" name="Text Box 34">
            <a:extLst>
              <a:ext uri="{FF2B5EF4-FFF2-40B4-BE49-F238E27FC236}">
                <a16:creationId xmlns:a16="http://schemas.microsoft.com/office/drawing/2014/main" id="{4DAA5CA9-8894-A033-8F88-6561364796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303" y="4322714"/>
            <a:ext cx="78258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b="1" dirty="0">
                <a:latin typeface="Arial Narrow" panose="020B0606020202030204" pitchFamily="34" charset="0"/>
              </a:rPr>
              <a:t>15-YC</a:t>
            </a:r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40" name="Text Box 35">
            <a:extLst>
              <a:ext uri="{FF2B5EF4-FFF2-40B4-BE49-F238E27FC236}">
                <a16:creationId xmlns:a16="http://schemas.microsoft.com/office/drawing/2014/main" id="{BF6A04C7-1806-9CEC-11D7-7BA2F8DF5B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6121" y="5613798"/>
            <a:ext cx="64152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b="1" dirty="0">
                <a:latin typeface="Arial Narrow" panose="020B0606020202030204" pitchFamily="34" charset="0"/>
              </a:rPr>
              <a:t>5-YF</a:t>
            </a:r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41" name="Text Box 36">
            <a:extLst>
              <a:ext uri="{FF2B5EF4-FFF2-40B4-BE49-F238E27FC236}">
                <a16:creationId xmlns:a16="http://schemas.microsoft.com/office/drawing/2014/main" id="{D987B631-E6E1-E164-2F4F-3C299BCCEB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4796" y="4638392"/>
            <a:ext cx="67678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b="1" dirty="0">
                <a:latin typeface="Arial Narrow" panose="020B0606020202030204" pitchFamily="34" charset="0"/>
              </a:rPr>
              <a:t>5-YG</a:t>
            </a:r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42" name="Text Box 37">
            <a:extLst>
              <a:ext uri="{FF2B5EF4-FFF2-40B4-BE49-F238E27FC236}">
                <a16:creationId xmlns:a16="http://schemas.microsoft.com/office/drawing/2014/main" id="{9C757143-ACD9-E576-F706-70E5F93E16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3367" y="3499844"/>
            <a:ext cx="78258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b="1" dirty="0">
                <a:latin typeface="Arial Narrow" panose="020B0606020202030204" pitchFamily="34" charset="0"/>
              </a:rPr>
              <a:t>10-YH</a:t>
            </a:r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43" name="Text Box 38">
            <a:extLst>
              <a:ext uri="{FF2B5EF4-FFF2-40B4-BE49-F238E27FC236}">
                <a16:creationId xmlns:a16="http://schemas.microsoft.com/office/drawing/2014/main" id="{36797D92-B5A1-9B52-D488-6B65FF69F4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1607" y="3473367"/>
            <a:ext cx="74732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b="1" dirty="0">
                <a:latin typeface="Arial Narrow" panose="020B0606020202030204" pitchFamily="34" charset="0"/>
              </a:rPr>
              <a:t>15-YJ</a:t>
            </a:r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44" name="Text Box 39">
            <a:extLst>
              <a:ext uri="{FF2B5EF4-FFF2-40B4-BE49-F238E27FC236}">
                <a16:creationId xmlns:a16="http://schemas.microsoft.com/office/drawing/2014/main" id="{975764AA-CBCD-D2B9-8355-17375912A0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6299" y="2114228"/>
            <a:ext cx="68800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b="1" dirty="0">
                <a:latin typeface="Arial Narrow" panose="020B0606020202030204" pitchFamily="34" charset="0"/>
              </a:rPr>
              <a:t>10-YI</a:t>
            </a:r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45" name="Text Box 40">
            <a:extLst>
              <a:ext uri="{FF2B5EF4-FFF2-40B4-BE49-F238E27FC236}">
                <a16:creationId xmlns:a16="http://schemas.microsoft.com/office/drawing/2014/main" id="{F12A9BF7-BAB2-6BD4-1723-ECFDA0BCE0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6466" y="2180126"/>
            <a:ext cx="77136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b="1" dirty="0">
                <a:latin typeface="Arial Narrow" panose="020B0606020202030204" pitchFamily="34" charset="0"/>
              </a:rPr>
              <a:t>10-YE</a:t>
            </a:r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46" name="Text Box 41">
            <a:extLst>
              <a:ext uri="{FF2B5EF4-FFF2-40B4-BE49-F238E27FC236}">
                <a16:creationId xmlns:a16="http://schemas.microsoft.com/office/drawing/2014/main" id="{4313A2AE-37A2-8A10-7181-F5F2C276D7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2177" y="1330225"/>
            <a:ext cx="66556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b="1" dirty="0">
                <a:latin typeface="Arial Narrow" panose="020B0606020202030204" pitchFamily="34" charset="0"/>
              </a:rPr>
              <a:t>5-YB</a:t>
            </a:r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47" name="Text Box 42">
            <a:extLst>
              <a:ext uri="{FF2B5EF4-FFF2-40B4-BE49-F238E27FC236}">
                <a16:creationId xmlns:a16="http://schemas.microsoft.com/office/drawing/2014/main" id="{0738ADA5-86E8-6254-3CA6-64E6E995B9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2447" y="4408516"/>
            <a:ext cx="76719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b="1" dirty="0">
                <a:latin typeface="Arial Narrow" panose="020B0606020202030204" pitchFamily="34" charset="0"/>
              </a:rPr>
              <a:t>11-YD</a:t>
            </a:r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48" name="Line 43">
            <a:extLst>
              <a:ext uri="{FF2B5EF4-FFF2-40B4-BE49-F238E27FC236}">
                <a16:creationId xmlns:a16="http://schemas.microsoft.com/office/drawing/2014/main" id="{83A48692-3EA8-09BE-7475-08405C3671C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72809" y="1687417"/>
            <a:ext cx="0" cy="1276091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 type="triangle" w="med" len="med"/>
          </a:ln>
        </p:spPr>
        <p:txBody>
          <a:bodyPr/>
          <a:lstStyle/>
          <a:p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49" name="Text Box 44">
            <a:extLst>
              <a:ext uri="{FF2B5EF4-FFF2-40B4-BE49-F238E27FC236}">
                <a16:creationId xmlns:a16="http://schemas.microsoft.com/office/drawing/2014/main" id="{39DC5B82-F1D7-E2AB-23E8-3E243D68F6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7634" y="2962288"/>
            <a:ext cx="108234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b="1" dirty="0">
                <a:latin typeface="Arial Narrow" panose="020B0606020202030204" pitchFamily="34" charset="0"/>
              </a:rPr>
              <a:t>Figurado</a:t>
            </a:r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51" name="Line 19">
            <a:extLst>
              <a:ext uri="{FF2B5EF4-FFF2-40B4-BE49-F238E27FC236}">
                <a16:creationId xmlns:a16="http://schemas.microsoft.com/office/drawing/2014/main" id="{621772CE-566E-4F9E-52D0-AC4B18F28C50}"/>
              </a:ext>
            </a:extLst>
          </p:cNvPr>
          <p:cNvSpPr>
            <a:spLocks noChangeShapeType="1"/>
          </p:cNvSpPr>
          <p:nvPr/>
        </p:nvSpPr>
        <p:spPr bwMode="auto">
          <a:xfrm>
            <a:off x="5684429" y="3425698"/>
            <a:ext cx="84931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52" name="Line 19">
            <a:extLst>
              <a:ext uri="{FF2B5EF4-FFF2-40B4-BE49-F238E27FC236}">
                <a16:creationId xmlns:a16="http://schemas.microsoft.com/office/drawing/2014/main" id="{4C3D0AD6-359C-E4A9-8075-D1BAE846FE2B}"/>
              </a:ext>
            </a:extLst>
          </p:cNvPr>
          <p:cNvSpPr>
            <a:spLocks noChangeShapeType="1"/>
          </p:cNvSpPr>
          <p:nvPr/>
        </p:nvSpPr>
        <p:spPr bwMode="auto">
          <a:xfrm>
            <a:off x="7226888" y="3412940"/>
            <a:ext cx="84931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53" name="Oval 9">
            <a:extLst>
              <a:ext uri="{FF2B5EF4-FFF2-40B4-BE49-F238E27FC236}">
                <a16:creationId xmlns:a16="http://schemas.microsoft.com/office/drawing/2014/main" id="{C22DD70F-AA64-5ACC-F351-F43CA8BD6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42" y="3016167"/>
            <a:ext cx="600560" cy="684245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b="1" dirty="0" err="1">
                <a:latin typeface="Arial Narrow" panose="020B0606020202030204" pitchFamily="34" charset="0"/>
              </a:rPr>
              <a:t>X7</a:t>
            </a:r>
            <a:endParaRPr lang="es-ES" sz="2000" b="1" dirty="0">
              <a:latin typeface="Arial Narrow" panose="020B0606020202030204" pitchFamily="34" charset="0"/>
            </a:endParaRPr>
          </a:p>
        </p:txBody>
      </p:sp>
      <p:sp>
        <p:nvSpPr>
          <p:cNvPr id="54" name="Line 43">
            <a:extLst>
              <a:ext uri="{FF2B5EF4-FFF2-40B4-BE49-F238E27FC236}">
                <a16:creationId xmlns:a16="http://schemas.microsoft.com/office/drawing/2014/main" id="{73B2BD29-3722-C112-C0A9-7129D6F34EC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18285" y="3405408"/>
            <a:ext cx="552893" cy="2029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 type="triangle" w="med" len="med"/>
          </a:ln>
        </p:spPr>
        <p:txBody>
          <a:bodyPr/>
          <a:lstStyle/>
          <a:p>
            <a:endParaRPr lang="es-ES" sz="2000" b="1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90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ANIVAL TORRE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7123F-EA94-4AF6-90FD-8402484B591B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22881" name="Rectangle 1"/>
          <p:cNvSpPr>
            <a:spLocks noChangeArrowheads="1"/>
          </p:cNvSpPr>
          <p:nvPr/>
        </p:nvSpPr>
        <p:spPr bwMode="auto">
          <a:xfrm>
            <a:off x="1524000" y="1294481"/>
            <a:ext cx="9144000" cy="120032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630238" algn="l"/>
              </a:tabLst>
            </a:pPr>
            <a:r>
              <a:rPr lang="es-MX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I.     Identificación de las variables:</a:t>
            </a:r>
            <a:endParaRPr lang="es-PE" dirty="0">
              <a:latin typeface="Arial" pitchFamily="34" charset="0"/>
              <a:cs typeface="Arial" pitchFamily="34" charset="0"/>
            </a:endParaRPr>
          </a:p>
          <a:p>
            <a:pPr indent="450850" eaLnBrk="0" fontAlgn="base" hangingPunct="0">
              <a:spcBef>
                <a:spcPct val="0"/>
              </a:spcBef>
              <a:spcAft>
                <a:spcPct val="0"/>
              </a:spcAft>
              <a:tabLst>
                <a:tab pos="630238" algn="l"/>
              </a:tabLst>
            </a:pP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Y i</a:t>
            </a:r>
            <a:r>
              <a:rPr lang="es-MX" baseline="-30000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= Número de minutos en que se puede reducir la tarea i  (i = A, B, C, D,  … J)</a:t>
            </a:r>
            <a:endParaRPr lang="es-PE" dirty="0">
              <a:latin typeface="Arial" pitchFamily="34" charset="0"/>
              <a:cs typeface="Arial" pitchFamily="34" charset="0"/>
            </a:endParaRPr>
          </a:p>
          <a:p>
            <a:pPr indent="450850" eaLnBrk="0" fontAlgn="base" hangingPunct="0">
              <a:spcBef>
                <a:spcPct val="0"/>
              </a:spcBef>
              <a:spcAft>
                <a:spcPct val="0"/>
              </a:spcAft>
              <a:tabLst>
                <a:tab pos="630238" algn="l"/>
              </a:tabLst>
            </a:pP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X j</a:t>
            </a:r>
            <a:r>
              <a:rPr lang="es-MX" baseline="-30000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= Tiempo en el que todas las tareas que salen del nodo j pueden empezar </a:t>
            </a:r>
          </a:p>
          <a:p>
            <a:pPr indent="450850" eaLnBrk="0" fontAlgn="base" hangingPunct="0">
              <a:spcBef>
                <a:spcPct val="0"/>
              </a:spcBef>
              <a:spcAft>
                <a:spcPct val="0"/>
              </a:spcAft>
              <a:tabLst>
                <a:tab pos="630238" algn="l"/>
              </a:tabLst>
            </a:pP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       (j = 0, 1, 2, .. 8).</a:t>
            </a:r>
            <a:endParaRPr lang="es-PE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4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2690766"/>
              </p:ext>
            </p:extLst>
          </p:nvPr>
        </p:nvGraphicFramePr>
        <p:xfrm>
          <a:off x="1521995" y="4846320"/>
          <a:ext cx="9146004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30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30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X1</a:t>
                      </a:r>
                      <a:r>
                        <a:rPr kumimoji="0" lang="es-MX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≥ </a:t>
                      </a:r>
                      <a:r>
                        <a:rPr kumimoji="0" lang="es-MX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X0</a:t>
                      </a:r>
                      <a:r>
                        <a:rPr kumimoji="0" lang="es-MX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+ (10 – YA)</a:t>
                      </a: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X2</a:t>
                      </a:r>
                      <a:r>
                        <a:rPr kumimoji="0" lang="es-MX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≥ </a:t>
                      </a:r>
                      <a:r>
                        <a:rPr kumimoji="0" lang="es-MX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X0</a:t>
                      </a:r>
                      <a:r>
                        <a:rPr kumimoji="0" lang="es-MX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+ (  15 – </a:t>
                      </a:r>
                      <a:r>
                        <a:rPr kumimoji="0" lang="es-MX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YC</a:t>
                      </a:r>
                      <a:r>
                        <a:rPr kumimoji="0" lang="es-MX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)</a:t>
                      </a:r>
                      <a:endParaRPr kumimoji="0" lang="es-PE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Symbol" pitchFamily="18" charset="2"/>
                      </a:endParaRP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X3</a:t>
                      </a:r>
                      <a:r>
                        <a:rPr kumimoji="0" lang="es-MX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≥ </a:t>
                      </a:r>
                      <a:r>
                        <a:rPr kumimoji="0" lang="es-MX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X1</a:t>
                      </a:r>
                      <a:r>
                        <a:rPr kumimoji="0" lang="es-MX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+ (5 – YB)</a:t>
                      </a:r>
                      <a:endParaRPr kumimoji="0" lang="es-PE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Symbol" pitchFamily="18" charset="2"/>
                      </a:endParaRPr>
                    </a:p>
                    <a:p>
                      <a:pPr lvl="0" indent="450850" eaLnBrk="0" hangingPunct="0">
                        <a:tabLst>
                          <a:tab pos="630238" algn="l"/>
                        </a:tabLst>
                      </a:pPr>
                      <a:r>
                        <a:rPr lang="es-MX" sz="1800" b="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X3</a:t>
                      </a:r>
                      <a:r>
                        <a:rPr lang="es-MX" sz="1800" b="0" dirty="0">
                          <a:solidFill>
                            <a:srgbClr val="000000"/>
                          </a:solidFill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≥ </a:t>
                      </a:r>
                      <a:r>
                        <a:rPr lang="es-MX" sz="1800" b="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X2</a:t>
                      </a:r>
                      <a:r>
                        <a:rPr lang="es-MX" sz="1800" b="0" dirty="0">
                          <a:solidFill>
                            <a:srgbClr val="000000"/>
                          </a:solidFill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</a:t>
                      </a:r>
                    </a:p>
                    <a:p>
                      <a:pPr lvl="0" indent="450850" eaLnBrk="0" hangingPunct="0">
                        <a:tabLst>
                          <a:tab pos="630238" algn="l"/>
                        </a:tabLst>
                      </a:pPr>
                      <a:r>
                        <a:rPr kumimoji="0" lang="es-MX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X4</a:t>
                      </a:r>
                      <a:r>
                        <a:rPr kumimoji="0" lang="es-MX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≥ </a:t>
                      </a:r>
                      <a:r>
                        <a:rPr kumimoji="0" lang="es-MX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X2</a:t>
                      </a:r>
                      <a:r>
                        <a:rPr kumimoji="0" lang="es-MX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+ (5 – </a:t>
                      </a:r>
                      <a:r>
                        <a:rPr kumimoji="0" lang="es-MX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YF</a:t>
                      </a:r>
                      <a:r>
                        <a:rPr kumimoji="0" lang="es-MX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)</a:t>
                      </a:r>
                    </a:p>
                    <a:p>
                      <a:pPr lvl="0" indent="450850" eaLnBrk="0" hangingPunct="0">
                        <a:tabLst>
                          <a:tab pos="630238" algn="l"/>
                        </a:tabLst>
                      </a:pPr>
                      <a:r>
                        <a:rPr kumimoji="0" lang="es-MX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X5</a:t>
                      </a:r>
                      <a:r>
                        <a:rPr kumimoji="0" lang="es-MX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≥ </a:t>
                      </a:r>
                      <a:r>
                        <a:rPr kumimoji="0" lang="es-MX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X3</a:t>
                      </a:r>
                      <a:r>
                        <a:rPr kumimoji="0" lang="es-MX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+ (10 – YE)</a:t>
                      </a:r>
                      <a:endParaRPr kumimoji="0" lang="es-PE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Symbol" pitchFamily="18" charset="2"/>
                      </a:endParaRP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X5</a:t>
                      </a:r>
                      <a:r>
                        <a:rPr kumimoji="0" lang="es-MX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≥ </a:t>
                      </a:r>
                      <a:r>
                        <a:rPr kumimoji="0" lang="es-MX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X2</a:t>
                      </a:r>
                      <a:r>
                        <a:rPr kumimoji="0" lang="es-MX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+ (11 – YD)</a:t>
                      </a:r>
                      <a:endParaRPr lang="es-PE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X5</a:t>
                      </a:r>
                      <a:r>
                        <a:rPr kumimoji="0" lang="es-MX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≥ </a:t>
                      </a:r>
                      <a:r>
                        <a:rPr kumimoji="0" lang="es-MX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X4</a:t>
                      </a:r>
                      <a:r>
                        <a:rPr kumimoji="0" lang="es-MX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+ ( 5  –</a:t>
                      </a:r>
                      <a:r>
                        <a:rPr kumimoji="0" lang="es-MX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YG</a:t>
                      </a:r>
                      <a:r>
                        <a:rPr kumimoji="0" lang="es-MX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)</a:t>
                      </a:r>
                      <a:endParaRPr kumimoji="0" lang="es-PE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Symbol" pitchFamily="18" charset="2"/>
                      </a:endParaRP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X6</a:t>
                      </a:r>
                      <a:r>
                        <a:rPr kumimoji="0" lang="es-MX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≥ </a:t>
                      </a:r>
                      <a:r>
                        <a:rPr kumimoji="0" lang="es-MX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X5</a:t>
                      </a:r>
                      <a:r>
                        <a:rPr kumimoji="0" lang="es-MX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 +(10-</a:t>
                      </a:r>
                      <a:r>
                        <a:rPr kumimoji="0" lang="es-MX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YI</a:t>
                      </a:r>
                      <a:r>
                        <a:rPr kumimoji="0" lang="es-MX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)</a:t>
                      </a: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X7</a:t>
                      </a:r>
                      <a:r>
                        <a:rPr kumimoji="0" lang="es-MX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≥ </a:t>
                      </a:r>
                      <a:r>
                        <a:rPr kumimoji="0" lang="es-MX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X5</a:t>
                      </a:r>
                      <a:r>
                        <a:rPr kumimoji="0" lang="es-MX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+ (10 – </a:t>
                      </a:r>
                      <a:r>
                        <a:rPr kumimoji="0" lang="es-MX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YH</a:t>
                      </a:r>
                      <a:r>
                        <a:rPr kumimoji="0" lang="es-MX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)</a:t>
                      </a:r>
                      <a:endParaRPr kumimoji="0" lang="es-PE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Symbol" pitchFamily="18" charset="2"/>
                      </a:endParaRP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X7</a:t>
                      </a:r>
                      <a:r>
                        <a:rPr kumimoji="0" lang="es-MX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≥ </a:t>
                      </a:r>
                      <a:r>
                        <a:rPr kumimoji="0" lang="es-MX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X6</a:t>
                      </a:r>
                      <a:r>
                        <a:rPr kumimoji="0" lang="es-MX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	</a:t>
                      </a:r>
                      <a:endParaRPr kumimoji="0" lang="es-PE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Symbol" pitchFamily="18" charset="2"/>
                      </a:endParaRP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X8</a:t>
                      </a:r>
                      <a:r>
                        <a:rPr kumimoji="0" lang="es-MX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≥ </a:t>
                      </a:r>
                      <a:r>
                        <a:rPr kumimoji="0" lang="es-MX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X7</a:t>
                      </a:r>
                      <a:r>
                        <a:rPr kumimoji="0" lang="es-MX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+ (15 – </a:t>
                      </a:r>
                      <a:r>
                        <a:rPr kumimoji="0" lang="es-MX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YJ</a:t>
                      </a:r>
                      <a:r>
                        <a:rPr kumimoji="0" lang="es-MX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)</a:t>
                      </a:r>
                      <a:endParaRPr kumimoji="0" lang="es-PE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Symbol" pitchFamily="18" charset="2"/>
                      </a:endParaRP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Xi  ,  </a:t>
                      </a:r>
                      <a:r>
                        <a:rPr kumimoji="0" lang="es-MX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Yi</a:t>
                      </a:r>
                      <a:r>
                        <a:rPr kumimoji="0" lang="es-MX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 </a:t>
                      </a:r>
                      <a:r>
                        <a:rPr kumimoji="0" lang="es-MX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  </a:t>
                      </a:r>
                      <a:r>
                        <a:rPr kumimoji="0" lang="es-MX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0</a:t>
                      </a:r>
                    </a:p>
                    <a:p>
                      <a:endParaRPr lang="es-PE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Rectángulo 5">
            <a:extLst>
              <a:ext uri="{FF2B5EF4-FFF2-40B4-BE49-F238E27FC236}">
                <a16:creationId xmlns:a16="http://schemas.microsoft.com/office/drawing/2014/main" id="{0F19999D-6CA4-0604-7C7A-3EB3ADEC88C0}"/>
              </a:ext>
            </a:extLst>
          </p:cNvPr>
          <p:cNvSpPr/>
          <p:nvPr/>
        </p:nvSpPr>
        <p:spPr>
          <a:xfrm>
            <a:off x="6096000" y="136525"/>
            <a:ext cx="6096000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spcFirstLastPara="1"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5800"/>
              </a:lnSpc>
              <a:spcBef>
                <a:spcPct val="0"/>
              </a:spcBef>
            </a:pPr>
            <a:r>
              <a:rPr lang="es-PE" sz="3200" dirty="0">
                <a:solidFill>
                  <a:schemeClr val="bg1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Bauhaus 93" pitchFamily="82" charset="0"/>
              </a:rPr>
              <a:t>Modelo matemático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E9940CE-9BCF-F6BA-B1AB-5591F3E2D84B}"/>
              </a:ext>
            </a:extLst>
          </p:cNvPr>
          <p:cNvSpPr txBox="1"/>
          <p:nvPr/>
        </p:nvSpPr>
        <p:spPr>
          <a:xfrm>
            <a:off x="1524000" y="2494810"/>
            <a:ext cx="9144000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630238" algn="l"/>
              </a:tabLst>
            </a:pPr>
            <a:r>
              <a:rPr lang="es-MX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II.    Identificación de la Función objetivo:</a:t>
            </a:r>
            <a:endParaRPr lang="es-PE" dirty="0">
              <a:latin typeface="Arial" pitchFamily="34" charset="0"/>
              <a:cs typeface="Arial" pitchFamily="34" charset="0"/>
            </a:endParaRPr>
          </a:p>
          <a:p>
            <a:pPr indent="450850" eaLnBrk="0" fontAlgn="base" hangingPunct="0">
              <a:spcBef>
                <a:spcPct val="0"/>
              </a:spcBef>
              <a:spcAft>
                <a:spcPct val="0"/>
              </a:spcAft>
              <a:tabLst>
                <a:tab pos="630238" algn="l"/>
              </a:tabLst>
            </a:pP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MIN </a:t>
            </a:r>
            <a:r>
              <a:rPr lang="es-MX" dirty="0" err="1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1YA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+ </a:t>
            </a:r>
            <a:r>
              <a:rPr lang="es-MX" dirty="0" err="1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2YB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+</a:t>
            </a:r>
            <a:r>
              <a:rPr lang="es-MX" dirty="0" err="1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1YC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+ </a:t>
            </a:r>
            <a:r>
              <a:rPr lang="es-MX" dirty="0" err="1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1YD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+ </a:t>
            </a:r>
            <a:r>
              <a:rPr lang="es-MX" dirty="0" err="1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1YE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+ </a:t>
            </a:r>
            <a:r>
              <a:rPr lang="es-MX" dirty="0" err="1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2YF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+ </a:t>
            </a:r>
            <a:r>
              <a:rPr lang="es-MX" dirty="0" err="1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2YG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+ </a:t>
            </a:r>
            <a:r>
              <a:rPr lang="es-MX" dirty="0" err="1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3YH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+ </a:t>
            </a:r>
            <a:r>
              <a:rPr lang="es-MX" dirty="0" err="1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3YI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+ </a:t>
            </a:r>
            <a:r>
              <a:rPr lang="es-MX" dirty="0" err="1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4YJ</a:t>
            </a:r>
            <a:endParaRPr lang="es-P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3462116-FD5D-A645-FC4F-4B5E08AA3358}"/>
              </a:ext>
            </a:extLst>
          </p:cNvPr>
          <p:cNvSpPr txBox="1"/>
          <p:nvPr/>
        </p:nvSpPr>
        <p:spPr>
          <a:xfrm>
            <a:off x="1524001" y="3148711"/>
            <a:ext cx="9144000" cy="175432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71463" indent="-271463" eaLnBrk="0" fontAlgn="base" hangingPunct="0">
              <a:spcBef>
                <a:spcPct val="0"/>
              </a:spcBef>
              <a:spcAft>
                <a:spcPct val="0"/>
              </a:spcAft>
              <a:tabLst>
                <a:tab pos="630238" algn="l"/>
              </a:tabLst>
            </a:pPr>
            <a:r>
              <a:rPr lang="es-ES_tradnl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III.   Identificación de las restricciones:</a:t>
            </a:r>
            <a:r>
              <a:rPr lang="es-ES_tradnl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	</a:t>
            </a:r>
            <a:endParaRPr lang="es-PE" dirty="0">
              <a:latin typeface="Arial" pitchFamily="34" charset="0"/>
              <a:cs typeface="Arial" pitchFamily="34" charset="0"/>
            </a:endParaRPr>
          </a:p>
          <a:p>
            <a:pPr marL="715963" indent="-271463" eaLnBrk="0" fontAlgn="base" hangingPunct="0">
              <a:spcBef>
                <a:spcPct val="0"/>
              </a:spcBef>
              <a:spcAft>
                <a:spcPct val="0"/>
              </a:spcAft>
              <a:tabLst>
                <a:tab pos="630238" algn="l"/>
              </a:tabLst>
            </a:pP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0 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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YA ≤ 5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	0 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YB ≤ 1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       0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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lang="es-MX" dirty="0" err="1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YC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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5   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0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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YD ≤ 5   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0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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YE ≤ 3  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0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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lang="es-MX" dirty="0" err="1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YF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≤ 1</a:t>
            </a:r>
          </a:p>
          <a:p>
            <a:pPr marL="715963" indent="-271463" eaLnBrk="0" fontAlgn="base" hangingPunct="0">
              <a:spcBef>
                <a:spcPct val="0"/>
              </a:spcBef>
              <a:spcAft>
                <a:spcPct val="0"/>
              </a:spcAft>
              <a:tabLst>
                <a:tab pos="630238" algn="l"/>
              </a:tabLst>
            </a:pP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0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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lang="es-MX" dirty="0" err="1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YG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≤ 1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	0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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lang="es-MX" dirty="0" err="1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YH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≤ 2       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0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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YI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  ≤ 2	 0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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lang="es-MX" dirty="0" err="1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YJ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≤ 5</a:t>
            </a:r>
            <a:endParaRPr lang="es-PE" dirty="0">
              <a:latin typeface="Arial" pitchFamily="34" charset="0"/>
              <a:cs typeface="Arial" pitchFamily="34" charset="0"/>
              <a:sym typeface="Symbol" pitchFamily="18" charset="2"/>
            </a:endParaRPr>
          </a:p>
          <a:p>
            <a:pPr marL="715963" indent="-271463" eaLnBrk="0" fontAlgn="base" hangingPunct="0">
              <a:spcBef>
                <a:spcPct val="0"/>
              </a:spcBef>
              <a:spcAft>
                <a:spcPct val="0"/>
              </a:spcAft>
              <a:tabLst>
                <a:tab pos="630238" algn="l"/>
              </a:tabLst>
            </a:pP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Restricción de inicio. 	</a:t>
            </a:r>
            <a:r>
              <a:rPr lang="es-MX" dirty="0" err="1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X0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 = 0,	</a:t>
            </a:r>
            <a:endParaRPr lang="es-PE" dirty="0">
              <a:latin typeface="Arial" pitchFamily="34" charset="0"/>
              <a:cs typeface="Arial" pitchFamily="34" charset="0"/>
              <a:sym typeface="Symbol" pitchFamily="18" charset="2"/>
            </a:endParaRPr>
          </a:p>
          <a:p>
            <a:pPr marL="715963" indent="-271463" eaLnBrk="0" fontAlgn="base" hangingPunct="0">
              <a:spcBef>
                <a:spcPct val="0"/>
              </a:spcBef>
              <a:spcAft>
                <a:spcPct val="0"/>
              </a:spcAft>
              <a:tabLst>
                <a:tab pos="630238" algn="l"/>
              </a:tabLst>
            </a:pP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Restricción de termino	</a:t>
            </a:r>
            <a:r>
              <a:rPr lang="es-MX" dirty="0" err="1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X8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 ≤ </a:t>
            </a:r>
            <a:r>
              <a:rPr lang="es-PE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48</a:t>
            </a:r>
            <a:endParaRPr lang="es-PE" dirty="0">
              <a:latin typeface="Arial" pitchFamily="34" charset="0"/>
              <a:cs typeface="Arial" pitchFamily="34" charset="0"/>
              <a:sym typeface="Symbol" pitchFamily="18" charset="2"/>
            </a:endParaRPr>
          </a:p>
          <a:p>
            <a:pPr marL="715963" indent="-271463" eaLnBrk="0" fontAlgn="base" hangingPunct="0">
              <a:spcBef>
                <a:spcPct val="0"/>
              </a:spcBef>
              <a:spcAft>
                <a:spcPct val="0"/>
              </a:spcAft>
              <a:tabLst>
                <a:tab pos="630238" algn="l"/>
              </a:tabLst>
            </a:pP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Restricciones de la red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082049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ANIVAL TORRE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7123F-EA94-4AF6-90FD-8402484B591B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22881" name="Rectangle 1"/>
          <p:cNvSpPr>
            <a:spLocks noChangeArrowheads="1"/>
          </p:cNvSpPr>
          <p:nvPr/>
        </p:nvSpPr>
        <p:spPr bwMode="auto">
          <a:xfrm>
            <a:off x="0" y="1212275"/>
            <a:ext cx="60960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450850" eaLnBrk="0" fontAlgn="base" hangingPunct="0">
              <a:spcBef>
                <a:spcPct val="0"/>
              </a:spcBef>
              <a:spcAft>
                <a:spcPct val="0"/>
              </a:spcAft>
              <a:tabLst>
                <a:tab pos="630238" algn="l"/>
              </a:tabLst>
            </a:pPr>
            <a:r>
              <a:rPr lang="es-MX" sz="24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MIN </a:t>
            </a:r>
            <a:r>
              <a:rPr lang="es-MX" sz="2400" b="1" dirty="0" err="1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1YA</a:t>
            </a:r>
            <a:r>
              <a:rPr lang="es-MX" sz="24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+ 2YB +1YC + 1YD + 1YE + </a:t>
            </a:r>
          </a:p>
          <a:p>
            <a:pPr indent="450850" eaLnBrk="0" fontAlgn="base" hangingPunct="0">
              <a:spcBef>
                <a:spcPct val="0"/>
              </a:spcBef>
              <a:spcAft>
                <a:spcPct val="0"/>
              </a:spcAft>
              <a:tabLst>
                <a:tab pos="630238" algn="l"/>
              </a:tabLst>
            </a:pPr>
            <a:r>
              <a:rPr lang="es-MX" sz="24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		</a:t>
            </a:r>
            <a:r>
              <a:rPr lang="es-MX" sz="2400" b="1" dirty="0" err="1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2YF</a:t>
            </a:r>
            <a:r>
              <a:rPr lang="es-MX" sz="24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+ 2YG + 3YH +3YI  + 4YJ</a:t>
            </a:r>
            <a:endParaRPr lang="es-PE" sz="2400" b="1" dirty="0">
              <a:latin typeface="Arial" pitchFamily="34" charset="0"/>
              <a:cs typeface="Arial" pitchFamily="34" charset="0"/>
              <a:sym typeface="Symbol" pitchFamily="18" charset="2"/>
            </a:endParaRPr>
          </a:p>
        </p:txBody>
      </p:sp>
      <p:graphicFrame>
        <p:nvGraphicFramePr>
          <p:cNvPr id="7" name="6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1306696"/>
              </p:ext>
            </p:extLst>
          </p:nvPr>
        </p:nvGraphicFramePr>
        <p:xfrm>
          <a:off x="160421" y="2005985"/>
          <a:ext cx="5888659" cy="454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2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8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s-PE" sz="2200" b="1" dirty="0"/>
                        <a:t>SUBJECT TO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YA &lt;= 5</a:t>
                      </a: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YB &lt;= 1</a:t>
                      </a: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YC &lt;= 5</a:t>
                      </a: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YD &lt;= 5</a:t>
                      </a: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YE &lt;= 3</a:t>
                      </a: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YF &lt;= 1</a:t>
                      </a:r>
                      <a:endParaRPr kumimoji="0" lang="es-MX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  <a:sym typeface="Symbol" pitchFamily="18" charset="2"/>
                      </a:endParaRP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YG</a:t>
                      </a:r>
                      <a:r>
                        <a:rPr kumimoji="0" lang="es-MX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 &lt;= 1</a:t>
                      </a: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YH &lt;= 2      </a:t>
                      </a: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YI</a:t>
                      </a:r>
                      <a:r>
                        <a:rPr kumimoji="0" lang="es-MX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 </a:t>
                      </a:r>
                      <a:r>
                        <a:rPr kumimoji="0" lang="es-MX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&lt;=</a:t>
                      </a:r>
                      <a:r>
                        <a:rPr kumimoji="0" lang="es-MX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2</a:t>
                      </a: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YJ &lt;= 5</a:t>
                      </a: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  <a:sym typeface="Symbol" pitchFamily="18" charset="2"/>
                        </a:rPr>
                        <a:t>X0=0</a:t>
                      </a: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  <a:sym typeface="Symbol" pitchFamily="18" charset="2"/>
                        </a:rPr>
                        <a:t>X8=48</a:t>
                      </a:r>
                      <a:endParaRPr lang="es-PE" sz="2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X1 - X0 +YA &gt;= 10</a:t>
                      </a: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X2 -  X0 +YC&gt;= 15</a:t>
                      </a:r>
                      <a:endParaRPr kumimoji="0" lang="es-PE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Symbol" pitchFamily="18" charset="2"/>
                      </a:endParaRP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X3 - X1 + YB&gt;= 5</a:t>
                      </a:r>
                      <a:endParaRPr kumimoji="0" lang="es-PE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Symbol" pitchFamily="18" charset="2"/>
                      </a:endParaRPr>
                    </a:p>
                    <a:p>
                      <a:pPr lvl="0" indent="450850" eaLnBrk="0" hangingPunct="0">
                        <a:tabLst>
                          <a:tab pos="630238" algn="l"/>
                        </a:tabLst>
                      </a:pPr>
                      <a:r>
                        <a:rPr lang="es-MX" sz="2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X3 - X2  &gt;= 0 </a:t>
                      </a:r>
                    </a:p>
                    <a:p>
                      <a:pPr lvl="0" indent="450850" eaLnBrk="0" hangingPunct="0">
                        <a:tabLst>
                          <a:tab pos="630238" algn="l"/>
                        </a:tabLst>
                      </a:pPr>
                      <a:r>
                        <a:rPr kumimoji="0" lang="es-MX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X4 - X2 + YF&gt;=5		</a:t>
                      </a:r>
                      <a:endParaRPr kumimoji="0" lang="es-PE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Symbol" pitchFamily="18" charset="2"/>
                      </a:endParaRP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X5 - X3 + YE&gt;=10</a:t>
                      </a:r>
                      <a:endParaRPr kumimoji="0" lang="es-PE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Symbol" pitchFamily="18" charset="2"/>
                      </a:endParaRP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X5 - X2 + YD&gt;=11</a:t>
                      </a:r>
                      <a:endParaRPr kumimoji="0" lang="es-PE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Symbol" pitchFamily="18" charset="2"/>
                      </a:endParaRP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X5 - X4 + YG&gt;=5</a:t>
                      </a:r>
                      <a:endParaRPr kumimoji="0" lang="es-PE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Symbol" pitchFamily="18" charset="2"/>
                      </a:endParaRP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X6 - X5  +YI&gt;=10	</a:t>
                      </a: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X7 - X5 + YH&gt;=10</a:t>
                      </a:r>
                      <a:endParaRPr kumimoji="0" lang="es-PE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Symbol" pitchFamily="18" charset="2"/>
                      </a:endParaRP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X7 - X6&gt;=0 	</a:t>
                      </a:r>
                      <a:endParaRPr kumimoji="0" lang="es-PE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Symbol" pitchFamily="18" charset="2"/>
                      </a:endParaRP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X8 - X7 + YJ&gt;=15</a:t>
                      </a:r>
                      <a:endParaRPr lang="es-PE" sz="2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6 Rectángulo">
            <a:extLst>
              <a:ext uri="{FF2B5EF4-FFF2-40B4-BE49-F238E27FC236}">
                <a16:creationId xmlns:a16="http://schemas.microsoft.com/office/drawing/2014/main" id="{86144B85-DF53-616E-5469-57DFDCE15D06}"/>
              </a:ext>
            </a:extLst>
          </p:cNvPr>
          <p:cNvSpPr/>
          <p:nvPr/>
        </p:nvSpPr>
        <p:spPr>
          <a:xfrm>
            <a:off x="6095999" y="0"/>
            <a:ext cx="4658315" cy="717119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b="1" dirty="0">
                <a:latin typeface="Arial Narrow" pitchFamily="34" charset="0"/>
              </a:rPr>
              <a:t> OBJECTIVE FUNCTION VALUE</a:t>
            </a:r>
          </a:p>
          <a:p>
            <a:r>
              <a:rPr lang="en-US" sz="2000" b="1" dirty="0">
                <a:solidFill>
                  <a:srgbClr val="FF0000"/>
                </a:solidFill>
                <a:latin typeface="Arial Narrow" pitchFamily="34" charset="0"/>
              </a:rPr>
              <a:t>   1)      5.000000</a:t>
            </a:r>
          </a:p>
          <a:p>
            <a:r>
              <a:rPr lang="en-US" sz="2000" b="1" dirty="0">
                <a:latin typeface="Arial Narrow" pitchFamily="34" charset="0"/>
              </a:rPr>
              <a:t>  VARIABLE        VALUE          REDUCED COST</a:t>
            </a:r>
          </a:p>
          <a:p>
            <a:r>
              <a:rPr lang="en-US" sz="2000" b="1" dirty="0">
                <a:latin typeface="Arial Narrow" pitchFamily="34" charset="0"/>
              </a:rPr>
              <a:t>        YA         2.000000          0.000000</a:t>
            </a:r>
          </a:p>
          <a:p>
            <a:r>
              <a:rPr lang="en-US" sz="2000" b="1" dirty="0">
                <a:latin typeface="Arial Narrow" pitchFamily="34" charset="0"/>
              </a:rPr>
              <a:t>        </a:t>
            </a:r>
            <a:r>
              <a:rPr lang="en-US" sz="2000" b="1" dirty="0" err="1">
                <a:latin typeface="Arial Narrow" pitchFamily="34" charset="0"/>
              </a:rPr>
              <a:t>YB</a:t>
            </a:r>
            <a:r>
              <a:rPr lang="en-US" sz="2000" b="1" dirty="0">
                <a:latin typeface="Arial Narrow" pitchFamily="34" charset="0"/>
              </a:rPr>
              <a:t>         0.000000          1.000000</a:t>
            </a:r>
          </a:p>
          <a:p>
            <a:r>
              <a:rPr lang="en-US" sz="2000" b="1" dirty="0">
                <a:latin typeface="Arial Narrow" pitchFamily="34" charset="0"/>
              </a:rPr>
              <a:t>        </a:t>
            </a:r>
            <a:r>
              <a:rPr lang="en-US" sz="2000" b="1" dirty="0" err="1">
                <a:latin typeface="Arial Narrow" pitchFamily="34" charset="0"/>
              </a:rPr>
              <a:t>YC</a:t>
            </a:r>
            <a:r>
              <a:rPr lang="en-US" sz="2000" b="1" dirty="0">
                <a:latin typeface="Arial Narrow" pitchFamily="34" charset="0"/>
              </a:rPr>
              <a:t>         2.000000          0.000000</a:t>
            </a:r>
          </a:p>
          <a:p>
            <a:r>
              <a:rPr lang="en-US" sz="2000" b="1" dirty="0">
                <a:latin typeface="Arial Narrow" pitchFamily="34" charset="0"/>
              </a:rPr>
              <a:t>        </a:t>
            </a:r>
            <a:r>
              <a:rPr lang="en-US" sz="2000" b="1" dirty="0" err="1">
                <a:latin typeface="Arial Narrow" pitchFamily="34" charset="0"/>
              </a:rPr>
              <a:t>YD</a:t>
            </a:r>
            <a:r>
              <a:rPr lang="en-US" sz="2000" b="1" dirty="0">
                <a:latin typeface="Arial Narrow" pitchFamily="34" charset="0"/>
              </a:rPr>
              <a:t>         1.000000          0.000000</a:t>
            </a:r>
          </a:p>
          <a:p>
            <a:r>
              <a:rPr lang="en-US" sz="2000" b="1" dirty="0">
                <a:latin typeface="Arial Narrow" pitchFamily="34" charset="0"/>
              </a:rPr>
              <a:t>        YE         0.000000          0.000000</a:t>
            </a:r>
          </a:p>
          <a:p>
            <a:r>
              <a:rPr lang="en-US" sz="2000" b="1" dirty="0">
                <a:latin typeface="Arial Narrow" pitchFamily="34" charset="0"/>
              </a:rPr>
              <a:t>        </a:t>
            </a:r>
            <a:r>
              <a:rPr lang="en-US" sz="2000" b="1" dirty="0" err="1">
                <a:latin typeface="Arial Narrow" pitchFamily="34" charset="0"/>
              </a:rPr>
              <a:t>YF</a:t>
            </a:r>
            <a:r>
              <a:rPr lang="en-US" sz="2000" b="1" dirty="0">
                <a:latin typeface="Arial Narrow" pitchFamily="34" charset="0"/>
              </a:rPr>
              <a:t>         0.000000          2.000000</a:t>
            </a:r>
          </a:p>
          <a:p>
            <a:r>
              <a:rPr lang="en-US" sz="2000" b="1" dirty="0">
                <a:latin typeface="Arial Narrow" pitchFamily="34" charset="0"/>
              </a:rPr>
              <a:t>        </a:t>
            </a:r>
            <a:r>
              <a:rPr lang="en-US" sz="2000" b="1" dirty="0" err="1">
                <a:latin typeface="Arial Narrow" pitchFamily="34" charset="0"/>
              </a:rPr>
              <a:t>YG</a:t>
            </a:r>
            <a:r>
              <a:rPr lang="en-US" sz="2000" b="1" dirty="0">
                <a:latin typeface="Arial Narrow" pitchFamily="34" charset="0"/>
              </a:rPr>
              <a:t>         0.000000          2.000000</a:t>
            </a:r>
          </a:p>
          <a:p>
            <a:r>
              <a:rPr lang="en-US" sz="2000" b="1" dirty="0">
                <a:latin typeface="Arial Narrow" pitchFamily="34" charset="0"/>
              </a:rPr>
              <a:t>        </a:t>
            </a:r>
            <a:r>
              <a:rPr lang="en-US" sz="2000" b="1" dirty="0" err="1">
                <a:latin typeface="Arial Narrow" pitchFamily="34" charset="0"/>
              </a:rPr>
              <a:t>YH</a:t>
            </a:r>
            <a:r>
              <a:rPr lang="en-US" sz="2000" b="1" dirty="0">
                <a:latin typeface="Arial Narrow" pitchFamily="34" charset="0"/>
              </a:rPr>
              <a:t>         0.000000          1.000000</a:t>
            </a:r>
          </a:p>
          <a:p>
            <a:r>
              <a:rPr lang="en-US" sz="2000" b="1" dirty="0">
                <a:latin typeface="Arial Narrow" pitchFamily="34" charset="0"/>
              </a:rPr>
              <a:t>        YI           0.000000          3.000000</a:t>
            </a:r>
          </a:p>
          <a:p>
            <a:r>
              <a:rPr lang="en-US" sz="2000" b="1" dirty="0">
                <a:latin typeface="Arial Narrow" pitchFamily="34" charset="0"/>
              </a:rPr>
              <a:t>        </a:t>
            </a:r>
            <a:r>
              <a:rPr lang="en-US" sz="2000" b="1" dirty="0" err="1">
                <a:latin typeface="Arial Narrow" pitchFamily="34" charset="0"/>
              </a:rPr>
              <a:t>YJ</a:t>
            </a:r>
            <a:r>
              <a:rPr lang="en-US" sz="2000" b="1" dirty="0">
                <a:latin typeface="Arial Narrow" pitchFamily="34" charset="0"/>
              </a:rPr>
              <a:t>          0.000000          2.000000</a:t>
            </a:r>
          </a:p>
          <a:p>
            <a:r>
              <a:rPr lang="en-US" sz="2000" b="1" dirty="0">
                <a:latin typeface="Arial Narrow" pitchFamily="34" charset="0"/>
              </a:rPr>
              <a:t>        </a:t>
            </a:r>
            <a:r>
              <a:rPr lang="en-US" sz="2000" b="1" dirty="0" err="1">
                <a:latin typeface="Arial Narrow" pitchFamily="34" charset="0"/>
              </a:rPr>
              <a:t>X0</a:t>
            </a:r>
            <a:r>
              <a:rPr lang="en-US" sz="2000" b="1" dirty="0">
                <a:latin typeface="Arial Narrow" pitchFamily="34" charset="0"/>
              </a:rPr>
              <a:t>         0.000000           2.000000</a:t>
            </a:r>
          </a:p>
          <a:p>
            <a:r>
              <a:rPr lang="en-US" sz="2000" b="1" dirty="0">
                <a:latin typeface="Arial Narrow" pitchFamily="34" charset="0"/>
              </a:rPr>
              <a:t>        </a:t>
            </a:r>
            <a:r>
              <a:rPr lang="en-US" sz="2000" b="1" dirty="0" err="1">
                <a:latin typeface="Arial Narrow" pitchFamily="34" charset="0"/>
              </a:rPr>
              <a:t>X8</a:t>
            </a:r>
            <a:r>
              <a:rPr lang="en-US" sz="2000" b="1" dirty="0">
                <a:latin typeface="Arial Narrow" pitchFamily="34" charset="0"/>
              </a:rPr>
              <a:t>        48.000000          0.000000</a:t>
            </a:r>
          </a:p>
          <a:p>
            <a:r>
              <a:rPr lang="en-US" sz="2000" b="1" dirty="0">
                <a:latin typeface="Arial Narrow" pitchFamily="34" charset="0"/>
              </a:rPr>
              <a:t>        </a:t>
            </a:r>
            <a:r>
              <a:rPr lang="en-US" sz="2000" b="1" dirty="0" err="1">
                <a:latin typeface="Arial Narrow" pitchFamily="34" charset="0"/>
              </a:rPr>
              <a:t>X1</a:t>
            </a:r>
            <a:r>
              <a:rPr lang="en-US" sz="2000" b="1" dirty="0">
                <a:latin typeface="Arial Narrow" pitchFamily="34" charset="0"/>
              </a:rPr>
              <a:t>         8.000000          0.000000</a:t>
            </a:r>
          </a:p>
          <a:p>
            <a:r>
              <a:rPr lang="en-US" sz="2000" b="1" dirty="0">
                <a:latin typeface="Arial Narrow" pitchFamily="34" charset="0"/>
              </a:rPr>
              <a:t>        </a:t>
            </a:r>
            <a:r>
              <a:rPr lang="en-US" sz="2000" b="1" dirty="0" err="1">
                <a:latin typeface="Arial Narrow" pitchFamily="34" charset="0"/>
              </a:rPr>
              <a:t>X2</a:t>
            </a:r>
            <a:r>
              <a:rPr lang="en-US" sz="2000" b="1" dirty="0">
                <a:latin typeface="Arial Narrow" pitchFamily="34" charset="0"/>
              </a:rPr>
              <a:t>        13.000000          0.000000</a:t>
            </a:r>
          </a:p>
          <a:p>
            <a:r>
              <a:rPr lang="en-US" sz="2000" b="1" dirty="0">
                <a:latin typeface="Arial Narrow" pitchFamily="34" charset="0"/>
              </a:rPr>
              <a:t>        </a:t>
            </a:r>
            <a:r>
              <a:rPr lang="en-US" sz="2000" b="1" dirty="0" err="1">
                <a:latin typeface="Arial Narrow" pitchFamily="34" charset="0"/>
              </a:rPr>
              <a:t>X3</a:t>
            </a:r>
            <a:r>
              <a:rPr lang="en-US" sz="2000" b="1" dirty="0">
                <a:latin typeface="Arial Narrow" pitchFamily="34" charset="0"/>
              </a:rPr>
              <a:t>        13.000000          0.000000</a:t>
            </a:r>
          </a:p>
          <a:p>
            <a:r>
              <a:rPr lang="en-US" sz="2000" b="1" dirty="0">
                <a:latin typeface="Arial Narrow" pitchFamily="34" charset="0"/>
              </a:rPr>
              <a:t>        </a:t>
            </a:r>
            <a:r>
              <a:rPr lang="en-US" sz="2000" b="1" dirty="0" err="1">
                <a:latin typeface="Arial Narrow" pitchFamily="34" charset="0"/>
              </a:rPr>
              <a:t>X4</a:t>
            </a:r>
            <a:r>
              <a:rPr lang="en-US" sz="2000" b="1" dirty="0">
                <a:latin typeface="Arial Narrow" pitchFamily="34" charset="0"/>
              </a:rPr>
              <a:t>        18.000000          0.000000</a:t>
            </a:r>
          </a:p>
          <a:p>
            <a:r>
              <a:rPr lang="en-US" sz="2000" b="1" dirty="0">
                <a:latin typeface="Arial Narrow" pitchFamily="34" charset="0"/>
              </a:rPr>
              <a:t>        </a:t>
            </a:r>
            <a:r>
              <a:rPr lang="en-US" sz="2000" b="1" dirty="0" err="1">
                <a:latin typeface="Arial Narrow" pitchFamily="34" charset="0"/>
              </a:rPr>
              <a:t>X5</a:t>
            </a:r>
            <a:r>
              <a:rPr lang="en-US" sz="2000" b="1" dirty="0">
                <a:latin typeface="Arial Narrow" pitchFamily="34" charset="0"/>
              </a:rPr>
              <a:t>        23.000000          0.000000</a:t>
            </a:r>
          </a:p>
          <a:p>
            <a:r>
              <a:rPr lang="en-US" sz="2000" b="1" dirty="0">
                <a:latin typeface="Arial Narrow" pitchFamily="34" charset="0"/>
              </a:rPr>
              <a:t>        </a:t>
            </a:r>
            <a:r>
              <a:rPr lang="en-US" sz="2000" b="1" dirty="0" err="1">
                <a:latin typeface="Arial Narrow" pitchFamily="34" charset="0"/>
              </a:rPr>
              <a:t>X6</a:t>
            </a:r>
            <a:r>
              <a:rPr lang="en-US" sz="2000" b="1" dirty="0">
                <a:latin typeface="Arial Narrow" pitchFamily="34" charset="0"/>
              </a:rPr>
              <a:t>        33.000000          0.000000</a:t>
            </a:r>
          </a:p>
          <a:p>
            <a:r>
              <a:rPr lang="en-US" sz="2000" b="1" dirty="0">
                <a:latin typeface="Arial Narrow" pitchFamily="34" charset="0"/>
              </a:rPr>
              <a:t>        </a:t>
            </a:r>
            <a:r>
              <a:rPr lang="en-US" sz="2000" b="1" dirty="0" err="1">
                <a:latin typeface="Arial Narrow" pitchFamily="34" charset="0"/>
              </a:rPr>
              <a:t>X7</a:t>
            </a:r>
            <a:r>
              <a:rPr lang="en-US" sz="2000" b="1" dirty="0">
                <a:latin typeface="Arial Narrow" pitchFamily="34" charset="0"/>
              </a:rPr>
              <a:t>        33.000000          0.000000</a:t>
            </a:r>
            <a:endParaRPr lang="es-PE" sz="2000" b="1" dirty="0">
              <a:latin typeface="Arial Narrow" pitchFamily="34" charset="0"/>
            </a:endParaRPr>
          </a:p>
        </p:txBody>
      </p:sp>
      <p:sp>
        <p:nvSpPr>
          <p:cNvPr id="2" name="2 Marcador de contenido">
            <a:extLst>
              <a:ext uri="{FF2B5EF4-FFF2-40B4-BE49-F238E27FC236}">
                <a16:creationId xmlns:a16="http://schemas.microsoft.com/office/drawing/2014/main" id="{55AB1FE4-29B0-EACA-6009-2F3F9440A916}"/>
              </a:ext>
            </a:extLst>
          </p:cNvPr>
          <p:cNvSpPr txBox="1">
            <a:spLocks/>
          </p:cNvSpPr>
          <p:nvPr/>
        </p:nvSpPr>
        <p:spPr>
          <a:xfrm>
            <a:off x="9807547" y="3212484"/>
            <a:ext cx="2384453" cy="1780834"/>
          </a:xfrm>
          <a:prstGeom prst="rect">
            <a:avLst/>
          </a:prstGeom>
          <a:solidFill>
            <a:srgbClr val="FFFF00"/>
          </a:solidFill>
        </p:spPr>
        <p:txBody>
          <a:bodyPr/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defRPr/>
            </a:pPr>
            <a:r>
              <a:rPr lang="es-PE" sz="2400" b="1" kern="0" dirty="0">
                <a:latin typeface="Arial Narrow" pitchFamily="34" charset="0"/>
              </a:rPr>
              <a:t>RESPUESTA: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defRPr/>
            </a:pPr>
            <a:r>
              <a:rPr lang="es-PE" sz="2400" b="1" kern="0" dirty="0">
                <a:latin typeface="Arial Narrow" pitchFamily="34" charset="0"/>
              </a:rPr>
              <a:t>Costo adicional: 5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defRPr/>
            </a:pPr>
            <a:r>
              <a:rPr lang="es-PE" sz="2400" b="1" kern="0" dirty="0">
                <a:latin typeface="Arial Narrow" pitchFamily="34" charset="0"/>
              </a:rPr>
              <a:t>Tareas a reducir : A(2)    C(3)</a:t>
            </a:r>
          </a:p>
        </p:txBody>
      </p:sp>
    </p:spTree>
    <p:extLst>
      <p:ext uri="{BB962C8B-B14F-4D97-AF65-F5344CB8AC3E}">
        <p14:creationId xmlns:p14="http://schemas.microsoft.com/office/powerpoint/2010/main" val="1550515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886ACA97-0F92-4C0F-9550-A27DB63DF9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4638932"/>
              </p:ext>
            </p:extLst>
          </p:nvPr>
        </p:nvGraphicFramePr>
        <p:xfrm>
          <a:off x="0" y="0"/>
          <a:ext cx="12192002" cy="52254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81597">
                  <a:extLst>
                    <a:ext uri="{9D8B030D-6E8A-4147-A177-3AD203B41FA5}">
                      <a16:colId xmlns:a16="http://schemas.microsoft.com/office/drawing/2014/main" val="166342041"/>
                    </a:ext>
                  </a:extLst>
                </a:gridCol>
                <a:gridCol w="2593528">
                  <a:extLst>
                    <a:ext uri="{9D8B030D-6E8A-4147-A177-3AD203B41FA5}">
                      <a16:colId xmlns:a16="http://schemas.microsoft.com/office/drawing/2014/main" val="3540566617"/>
                    </a:ext>
                  </a:extLst>
                </a:gridCol>
                <a:gridCol w="1817893">
                  <a:extLst>
                    <a:ext uri="{9D8B030D-6E8A-4147-A177-3AD203B41FA5}">
                      <a16:colId xmlns:a16="http://schemas.microsoft.com/office/drawing/2014/main" val="2245280338"/>
                    </a:ext>
                  </a:extLst>
                </a:gridCol>
                <a:gridCol w="1817893">
                  <a:extLst>
                    <a:ext uri="{9D8B030D-6E8A-4147-A177-3AD203B41FA5}">
                      <a16:colId xmlns:a16="http://schemas.microsoft.com/office/drawing/2014/main" val="724203329"/>
                    </a:ext>
                  </a:extLst>
                </a:gridCol>
                <a:gridCol w="1272019">
                  <a:extLst>
                    <a:ext uri="{9D8B030D-6E8A-4147-A177-3AD203B41FA5}">
                      <a16:colId xmlns:a16="http://schemas.microsoft.com/office/drawing/2014/main" val="1205623332"/>
                    </a:ext>
                  </a:extLst>
                </a:gridCol>
                <a:gridCol w="1724469">
                  <a:extLst>
                    <a:ext uri="{9D8B030D-6E8A-4147-A177-3AD203B41FA5}">
                      <a16:colId xmlns:a16="http://schemas.microsoft.com/office/drawing/2014/main" val="358387909"/>
                    </a:ext>
                  </a:extLst>
                </a:gridCol>
                <a:gridCol w="1584603">
                  <a:extLst>
                    <a:ext uri="{9D8B030D-6E8A-4147-A177-3AD203B41FA5}">
                      <a16:colId xmlns:a16="http://schemas.microsoft.com/office/drawing/2014/main" val="1107827522"/>
                    </a:ext>
                  </a:extLst>
                </a:gridCol>
              </a:tblGrid>
              <a:tr h="8068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MX" sz="2800" spc="-10" dirty="0">
                          <a:solidFill>
                            <a:schemeClr val="bg1"/>
                          </a:solidFill>
                          <a:effectLst/>
                        </a:rPr>
                        <a:t>Tarea</a:t>
                      </a:r>
                      <a:endParaRPr lang="es-PE" sz="28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MX" sz="2800" spc="-10" dirty="0">
                          <a:solidFill>
                            <a:schemeClr val="bg1"/>
                          </a:solidFill>
                          <a:effectLst/>
                        </a:rPr>
                        <a:t>Predecesores Inmediatos</a:t>
                      </a:r>
                      <a:endParaRPr lang="es-PE" sz="28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MX" sz="2800" spc="-10" dirty="0">
                          <a:solidFill>
                            <a:schemeClr val="bg1"/>
                          </a:solidFill>
                          <a:effectLst/>
                        </a:rPr>
                        <a:t>a</a:t>
                      </a:r>
                      <a:endParaRPr lang="es-PE" sz="28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PE" sz="2800" spc="-10" dirty="0">
                          <a:solidFill>
                            <a:schemeClr val="bg1"/>
                          </a:solidFill>
                          <a:effectLst/>
                        </a:rPr>
                        <a:t>m</a:t>
                      </a:r>
                      <a:endParaRPr lang="es-PE" sz="28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MX" sz="2800" spc="-10" dirty="0">
                          <a:solidFill>
                            <a:schemeClr val="bg1"/>
                          </a:solidFill>
                          <a:effectLst/>
                        </a:rPr>
                        <a:t>b</a:t>
                      </a:r>
                      <a:endParaRPr lang="es-PE" sz="28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MX" sz="2800" spc="-10" dirty="0">
                          <a:solidFill>
                            <a:schemeClr val="bg1"/>
                          </a:solidFill>
                          <a:effectLst/>
                        </a:rPr>
                        <a:t>Tiempo de Choque</a:t>
                      </a:r>
                      <a:endParaRPr lang="es-PE" sz="28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MX" sz="2800" u="sng" spc="-10" dirty="0">
                          <a:solidFill>
                            <a:schemeClr val="bg1"/>
                          </a:solidFill>
                          <a:effectLst/>
                        </a:rPr>
                        <a:t>Costo</a:t>
                      </a:r>
                      <a:endParaRPr lang="es-PE" sz="28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MX" sz="2800" spc="-10" dirty="0" err="1">
                          <a:solidFill>
                            <a:schemeClr val="bg1"/>
                          </a:solidFill>
                          <a:effectLst/>
                        </a:rPr>
                        <a:t>sem</a:t>
                      </a:r>
                      <a:r>
                        <a:rPr lang="es-MX" sz="2800" spc="-10" dirty="0">
                          <a:solidFill>
                            <a:schemeClr val="bg1"/>
                          </a:solidFill>
                          <a:effectLst/>
                        </a:rPr>
                        <a:t>.</a:t>
                      </a:r>
                      <a:endParaRPr lang="es-PE" sz="28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855792"/>
                  </a:ext>
                </a:extLst>
              </a:tr>
              <a:tr h="40788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MX" sz="2800" spc="-10">
                          <a:effectLst/>
                        </a:rPr>
                        <a:t>A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MX" sz="2800" spc="-10">
                          <a:effectLst/>
                        </a:rPr>
                        <a:t>Ninguno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PE" sz="2800" spc="-10" dirty="0">
                          <a:effectLst/>
                        </a:rPr>
                        <a:t>2</a:t>
                      </a:r>
                      <a:endParaRPr lang="es-PE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PE" sz="2800" spc="-10">
                          <a:effectLst/>
                        </a:rPr>
                        <a:t>5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PE" sz="2800" spc="-10">
                          <a:effectLst/>
                        </a:rPr>
                        <a:t>7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PE" sz="2800" spc="-10">
                          <a:effectLst/>
                        </a:rPr>
                        <a:t>3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PE" sz="2800" spc="-10">
                          <a:effectLst/>
                        </a:rPr>
                        <a:t>1000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extLst>
                  <a:ext uri="{0D108BD9-81ED-4DB2-BD59-A6C34878D82A}">
                    <a16:rowId xmlns:a16="http://schemas.microsoft.com/office/drawing/2014/main" val="4046060233"/>
                  </a:ext>
                </a:extLst>
              </a:tr>
              <a:tr h="40788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MX" sz="2800" spc="-10">
                          <a:effectLst/>
                        </a:rPr>
                        <a:t>B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2800" spc="-10">
                          <a:effectLst/>
                        </a:rPr>
                        <a:t>Ninguno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PE" sz="2800" spc="-10">
                          <a:effectLst/>
                        </a:rPr>
                        <a:t>2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PE" sz="2800" spc="-10">
                          <a:effectLst/>
                        </a:rPr>
                        <a:t>3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PE" sz="2800" spc="-10">
                          <a:effectLst/>
                        </a:rPr>
                        <a:t>4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PE" sz="2800" spc="-10">
                          <a:effectLst/>
                        </a:rPr>
                        <a:t>2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PE" sz="2800" spc="-10" dirty="0">
                          <a:effectLst/>
                        </a:rPr>
                        <a:t>1000</a:t>
                      </a:r>
                      <a:endParaRPr lang="es-PE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extLst>
                  <a:ext uri="{0D108BD9-81ED-4DB2-BD59-A6C34878D82A}">
                    <a16:rowId xmlns:a16="http://schemas.microsoft.com/office/drawing/2014/main" val="3002903402"/>
                  </a:ext>
                </a:extLst>
              </a:tr>
              <a:tr h="40788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MX" sz="2800" spc="-10">
                          <a:effectLst/>
                        </a:rPr>
                        <a:t>C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2800" spc="-10">
                          <a:effectLst/>
                        </a:rPr>
                        <a:t>Ninguno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PE" sz="2800" spc="-10">
                          <a:effectLst/>
                        </a:rPr>
                        <a:t>2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PE" sz="2800" spc="-10">
                          <a:effectLst/>
                        </a:rPr>
                        <a:t>4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PE" sz="2800" spc="-10">
                          <a:effectLst/>
                        </a:rPr>
                        <a:t>6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PE" sz="2800" spc="-10">
                          <a:effectLst/>
                        </a:rPr>
                        <a:t>3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PE" sz="2800" spc="-10">
                          <a:effectLst/>
                        </a:rPr>
                        <a:t>500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extLst>
                  <a:ext uri="{0D108BD9-81ED-4DB2-BD59-A6C34878D82A}">
                    <a16:rowId xmlns:a16="http://schemas.microsoft.com/office/drawing/2014/main" val="1851331221"/>
                  </a:ext>
                </a:extLst>
              </a:tr>
              <a:tr h="40788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MX" sz="2800" spc="-10">
                          <a:effectLst/>
                        </a:rPr>
                        <a:t>D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MX" sz="2800" spc="-10">
                          <a:effectLst/>
                        </a:rPr>
                        <a:t>B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PE" sz="2800" spc="-10">
                          <a:effectLst/>
                        </a:rPr>
                        <a:t>2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PE" sz="2800" spc="-10">
                          <a:effectLst/>
                        </a:rPr>
                        <a:t>5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PE" sz="2800" spc="-10">
                          <a:effectLst/>
                        </a:rPr>
                        <a:t>8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PE" sz="2800" spc="-10">
                          <a:effectLst/>
                        </a:rPr>
                        <a:t>5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PE" sz="2800" spc="-10">
                          <a:effectLst/>
                        </a:rPr>
                        <a:t>------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extLst>
                  <a:ext uri="{0D108BD9-81ED-4DB2-BD59-A6C34878D82A}">
                    <a16:rowId xmlns:a16="http://schemas.microsoft.com/office/drawing/2014/main" val="2697982418"/>
                  </a:ext>
                </a:extLst>
              </a:tr>
              <a:tr h="40788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MX" sz="2800" spc="-10">
                          <a:effectLst/>
                        </a:rPr>
                        <a:t>E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MX" sz="2800" spc="-10">
                          <a:effectLst/>
                        </a:rPr>
                        <a:t>A,C,D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PE" sz="2800" spc="-10">
                          <a:effectLst/>
                        </a:rPr>
                        <a:t>2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PE" sz="2800" spc="-10">
                          <a:effectLst/>
                        </a:rPr>
                        <a:t>4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PE" sz="2800" spc="-10">
                          <a:effectLst/>
                        </a:rPr>
                        <a:t>8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PE" sz="2800" spc="-10">
                          <a:effectLst/>
                        </a:rPr>
                        <a:t>3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PE" sz="2800" spc="-10">
                          <a:effectLst/>
                        </a:rPr>
                        <a:t>2500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extLst>
                  <a:ext uri="{0D108BD9-81ED-4DB2-BD59-A6C34878D82A}">
                    <a16:rowId xmlns:a16="http://schemas.microsoft.com/office/drawing/2014/main" val="1883088752"/>
                  </a:ext>
                </a:extLst>
              </a:tr>
              <a:tr h="40788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MX" sz="2800" spc="-10">
                          <a:effectLst/>
                        </a:rPr>
                        <a:t>F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MX" sz="2800" spc="-10">
                          <a:effectLst/>
                        </a:rPr>
                        <a:t>E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PE" sz="2800" spc="-10">
                          <a:effectLst/>
                        </a:rPr>
                        <a:t>3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PE" sz="2800" spc="-10">
                          <a:effectLst/>
                        </a:rPr>
                        <a:t>6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PE" sz="2800" spc="-10">
                          <a:effectLst/>
                        </a:rPr>
                        <a:t>9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PE" sz="2800" spc="-10">
                          <a:effectLst/>
                        </a:rPr>
                        <a:t>4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PE" sz="2800" spc="-10">
                          <a:effectLst/>
                        </a:rPr>
                        <a:t>1000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extLst>
                  <a:ext uri="{0D108BD9-81ED-4DB2-BD59-A6C34878D82A}">
                    <a16:rowId xmlns:a16="http://schemas.microsoft.com/office/drawing/2014/main" val="3701292255"/>
                  </a:ext>
                </a:extLst>
              </a:tr>
              <a:tr h="40788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MX" sz="2800" spc="-10">
                          <a:effectLst/>
                        </a:rPr>
                        <a:t>G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MX" sz="2800" spc="-10">
                          <a:effectLst/>
                        </a:rPr>
                        <a:t>C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PE" sz="2800" spc="-10">
                          <a:effectLst/>
                        </a:rPr>
                        <a:t>2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PE" sz="2800" spc="-10">
                          <a:effectLst/>
                        </a:rPr>
                        <a:t>4,5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PE" sz="2800" spc="-10">
                          <a:effectLst/>
                        </a:rPr>
                        <a:t>7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PE" sz="2800" spc="-10">
                          <a:effectLst/>
                        </a:rPr>
                        <a:t>3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PE" sz="2800" spc="-10">
                          <a:effectLst/>
                        </a:rPr>
                        <a:t>1000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extLst>
                  <a:ext uri="{0D108BD9-81ED-4DB2-BD59-A6C34878D82A}">
                    <a16:rowId xmlns:a16="http://schemas.microsoft.com/office/drawing/2014/main" val="1663903351"/>
                  </a:ext>
                </a:extLst>
              </a:tr>
              <a:tr h="40788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MX" sz="2800" spc="-10">
                          <a:effectLst/>
                        </a:rPr>
                        <a:t>H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MX" sz="2800" spc="-10">
                          <a:effectLst/>
                        </a:rPr>
                        <a:t>E,G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PE" sz="2800" spc="-10">
                          <a:effectLst/>
                        </a:rPr>
                        <a:t>4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PE" sz="2800" spc="-10">
                          <a:effectLst/>
                        </a:rPr>
                        <a:t>6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PE" sz="2800" spc="-10">
                          <a:effectLst/>
                        </a:rPr>
                        <a:t>8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PE" sz="2800" spc="-10">
                          <a:effectLst/>
                        </a:rPr>
                        <a:t>4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PE" sz="2800" spc="-10">
                          <a:effectLst/>
                        </a:rPr>
                        <a:t>5000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extLst>
                  <a:ext uri="{0D108BD9-81ED-4DB2-BD59-A6C34878D82A}">
                    <a16:rowId xmlns:a16="http://schemas.microsoft.com/office/drawing/2014/main" val="2344111272"/>
                  </a:ext>
                </a:extLst>
              </a:tr>
              <a:tr h="40788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MX" sz="2800" spc="-10">
                          <a:effectLst/>
                        </a:rPr>
                        <a:t>I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MX" sz="2800" spc="-10">
                          <a:effectLst/>
                        </a:rPr>
                        <a:t>H,F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PE" sz="2800" spc="-10">
                          <a:effectLst/>
                        </a:rPr>
                        <a:t>3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PE" sz="2800" spc="-10">
                          <a:effectLst/>
                        </a:rPr>
                        <a:t>4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PE" sz="2800" spc="-10">
                          <a:effectLst/>
                        </a:rPr>
                        <a:t>5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PE" sz="2800" spc="-10">
                          <a:effectLst/>
                        </a:rPr>
                        <a:t>3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PE" sz="2800" spc="-10">
                          <a:effectLst/>
                        </a:rPr>
                        <a:t>2500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extLst>
                  <a:ext uri="{0D108BD9-81ED-4DB2-BD59-A6C34878D82A}">
                    <a16:rowId xmlns:a16="http://schemas.microsoft.com/office/drawing/2014/main" val="793310450"/>
                  </a:ext>
                </a:extLst>
              </a:tr>
              <a:tr h="40788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MX" sz="2800" spc="-10">
                          <a:effectLst/>
                        </a:rPr>
                        <a:t>J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MX" sz="2800" spc="-10">
                          <a:effectLst/>
                        </a:rPr>
                        <a:t>I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PE" sz="2800" spc="-10">
                          <a:effectLst/>
                        </a:rPr>
                        <a:t>1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PE" sz="2800" spc="-10">
                          <a:effectLst/>
                        </a:rPr>
                        <a:t>2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PE" sz="2800" spc="-10">
                          <a:effectLst/>
                        </a:rPr>
                        <a:t>3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PE" sz="2800" spc="-10">
                          <a:effectLst/>
                        </a:rPr>
                        <a:t>2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PE" sz="2800" spc="-10" dirty="0">
                          <a:effectLst/>
                        </a:rPr>
                        <a:t>------</a:t>
                      </a:r>
                      <a:endParaRPr lang="es-PE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9525" marB="0"/>
                </a:tc>
                <a:extLst>
                  <a:ext uri="{0D108BD9-81ED-4DB2-BD59-A6C34878D82A}">
                    <a16:rowId xmlns:a16="http://schemas.microsoft.com/office/drawing/2014/main" val="1632947950"/>
                  </a:ext>
                </a:extLst>
              </a:tr>
            </a:tbl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842C9A0A-6AE1-497E-B8FD-B28E60C3FA58}"/>
              </a:ext>
            </a:extLst>
          </p:cNvPr>
          <p:cNvSpPr/>
          <p:nvPr/>
        </p:nvSpPr>
        <p:spPr>
          <a:xfrm>
            <a:off x="0" y="5225415"/>
            <a:ext cx="12192000" cy="1938992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pPr algn="just">
              <a:tabLst>
                <a:tab pos="-457200" algn="l"/>
              </a:tabLst>
            </a:pPr>
            <a:r>
              <a:rPr lang="es-PE" sz="2400" spc="-1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 pide:  a)  Ruta(s) crítica(s). 				</a:t>
            </a:r>
            <a:endParaRPr lang="es-PE" sz="24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tabLst>
                <a:tab pos="-457200" algn="l"/>
              </a:tabLst>
            </a:pPr>
            <a:r>
              <a:rPr lang="es-PE" sz="2400" spc="-1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                b)  Tiempo esperado y desviación estándar del proyecto	</a:t>
            </a:r>
            <a:endParaRPr lang="es-PE" sz="24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tabLst>
                <a:tab pos="-457200" algn="l"/>
              </a:tabLst>
            </a:pPr>
            <a:r>
              <a:rPr lang="es-PE" sz="2400" spc="-1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                c)  ¿Cuál es la probabilidad de estar listo para el estreno en medio año?	</a:t>
            </a:r>
            <a:endParaRPr lang="es-PE" sz="24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s-PE" sz="2400" spc="-1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    d) ¿Cuál es la probabilidad que el proyecto se termine entre 24 y 26 semanas? 	</a:t>
            </a:r>
            <a:endParaRPr lang="es-PE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1545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13005DCD-A3B8-48CE-A2BC-893BCDD33A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4055165"/>
              </p:ext>
            </p:extLst>
          </p:nvPr>
        </p:nvGraphicFramePr>
        <p:xfrm>
          <a:off x="1775521" y="1484784"/>
          <a:ext cx="5952489" cy="48965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29459">
                  <a:extLst>
                    <a:ext uri="{9D8B030D-6E8A-4147-A177-3AD203B41FA5}">
                      <a16:colId xmlns:a16="http://schemas.microsoft.com/office/drawing/2014/main" val="2166947825"/>
                    </a:ext>
                  </a:extLst>
                </a:gridCol>
                <a:gridCol w="929459">
                  <a:extLst>
                    <a:ext uri="{9D8B030D-6E8A-4147-A177-3AD203B41FA5}">
                      <a16:colId xmlns:a16="http://schemas.microsoft.com/office/drawing/2014/main" val="3546261502"/>
                    </a:ext>
                  </a:extLst>
                </a:gridCol>
                <a:gridCol w="791028">
                  <a:extLst>
                    <a:ext uri="{9D8B030D-6E8A-4147-A177-3AD203B41FA5}">
                      <a16:colId xmlns:a16="http://schemas.microsoft.com/office/drawing/2014/main" val="3341617787"/>
                    </a:ext>
                  </a:extLst>
                </a:gridCol>
                <a:gridCol w="791028">
                  <a:extLst>
                    <a:ext uri="{9D8B030D-6E8A-4147-A177-3AD203B41FA5}">
                      <a16:colId xmlns:a16="http://schemas.microsoft.com/office/drawing/2014/main" val="289547448"/>
                    </a:ext>
                  </a:extLst>
                </a:gridCol>
                <a:gridCol w="791028">
                  <a:extLst>
                    <a:ext uri="{9D8B030D-6E8A-4147-A177-3AD203B41FA5}">
                      <a16:colId xmlns:a16="http://schemas.microsoft.com/office/drawing/2014/main" val="417910494"/>
                    </a:ext>
                  </a:extLst>
                </a:gridCol>
                <a:gridCol w="791028">
                  <a:extLst>
                    <a:ext uri="{9D8B030D-6E8A-4147-A177-3AD203B41FA5}">
                      <a16:colId xmlns:a16="http://schemas.microsoft.com/office/drawing/2014/main" val="2278692445"/>
                    </a:ext>
                  </a:extLst>
                </a:gridCol>
                <a:gridCol w="929459">
                  <a:extLst>
                    <a:ext uri="{9D8B030D-6E8A-4147-A177-3AD203B41FA5}">
                      <a16:colId xmlns:a16="http://schemas.microsoft.com/office/drawing/2014/main" val="803489425"/>
                    </a:ext>
                  </a:extLst>
                </a:gridCol>
              </a:tblGrid>
              <a:tr h="506556"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TAREA</a:t>
                      </a:r>
                      <a:endParaRPr lang="es-PE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Preced</a:t>
                      </a:r>
                      <a:endParaRPr lang="es-PE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a</a:t>
                      </a:r>
                      <a:endParaRPr lang="es-PE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m</a:t>
                      </a:r>
                      <a:endParaRPr lang="es-PE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</a:t>
                      </a:r>
                      <a:endParaRPr lang="es-PE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T.Ch</a:t>
                      </a:r>
                      <a:endParaRPr lang="es-PE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C/</a:t>
                      </a:r>
                      <a:r>
                        <a:rPr lang="es-PE" sz="20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sem</a:t>
                      </a:r>
                      <a:endParaRPr lang="es-PE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4225344"/>
                  </a:ext>
                </a:extLst>
              </a:tr>
              <a:tr h="438999"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A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-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2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5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7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3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1000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81675298"/>
                  </a:ext>
                </a:extLst>
              </a:tr>
              <a:tr h="438999"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B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-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2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3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4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2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1000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43678638"/>
                  </a:ext>
                </a:extLst>
              </a:tr>
              <a:tr h="438999"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C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-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2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4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6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3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500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51149153"/>
                  </a:ext>
                </a:extLst>
              </a:tr>
              <a:tr h="438999"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D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B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2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5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8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5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-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6839046"/>
                  </a:ext>
                </a:extLst>
              </a:tr>
              <a:tr h="438999"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E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A,C,D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2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4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8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3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2500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85944648"/>
                  </a:ext>
                </a:extLst>
              </a:tr>
              <a:tr h="438999"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F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E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3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6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9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4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1000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99992439"/>
                  </a:ext>
                </a:extLst>
              </a:tr>
              <a:tr h="438999"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G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C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2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4,5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7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3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1000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72945944"/>
                  </a:ext>
                </a:extLst>
              </a:tr>
              <a:tr h="438999"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H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E,G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4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6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8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4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5000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78537392"/>
                  </a:ext>
                </a:extLst>
              </a:tr>
              <a:tr h="438999"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I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H,F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3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4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5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3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2500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76156948"/>
                  </a:ext>
                </a:extLst>
              </a:tr>
              <a:tr h="438999"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J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I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1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2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3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effectLst/>
                        </a:rPr>
                        <a:t>2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 dirty="0">
                          <a:effectLst/>
                        </a:rPr>
                        <a:t>-</a:t>
                      </a:r>
                      <a:endParaRPr lang="es-PE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89466562"/>
                  </a:ext>
                </a:extLst>
              </a:tr>
            </a:tbl>
          </a:graphicData>
        </a:graphic>
      </p:graphicFrame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A073A7E1-56C9-BB85-2C68-E0E7E370E1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9281399"/>
              </p:ext>
            </p:extLst>
          </p:nvPr>
        </p:nvGraphicFramePr>
        <p:xfrm>
          <a:off x="7728010" y="1484784"/>
          <a:ext cx="2939990" cy="48965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29459">
                  <a:extLst>
                    <a:ext uri="{9D8B030D-6E8A-4147-A177-3AD203B41FA5}">
                      <a16:colId xmlns:a16="http://schemas.microsoft.com/office/drawing/2014/main" val="29126920"/>
                    </a:ext>
                  </a:extLst>
                </a:gridCol>
                <a:gridCol w="929459">
                  <a:extLst>
                    <a:ext uri="{9D8B030D-6E8A-4147-A177-3AD203B41FA5}">
                      <a16:colId xmlns:a16="http://schemas.microsoft.com/office/drawing/2014/main" val="250828711"/>
                    </a:ext>
                  </a:extLst>
                </a:gridCol>
                <a:gridCol w="1081072">
                  <a:extLst>
                    <a:ext uri="{9D8B030D-6E8A-4147-A177-3AD203B41FA5}">
                      <a16:colId xmlns:a16="http://schemas.microsoft.com/office/drawing/2014/main" val="2101701502"/>
                    </a:ext>
                  </a:extLst>
                </a:gridCol>
              </a:tblGrid>
              <a:tr h="506556"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te</a:t>
                      </a:r>
                      <a:endParaRPr lang="es-PE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D.S</a:t>
                      </a:r>
                      <a:r>
                        <a:rPr lang="es-PE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.</a:t>
                      </a:r>
                      <a:endParaRPr lang="es-PE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Red.Max</a:t>
                      </a:r>
                      <a:endParaRPr lang="es-PE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1608960"/>
                  </a:ext>
                </a:extLst>
              </a:tr>
              <a:tr h="438999"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4,83</a:t>
                      </a:r>
                      <a:endParaRPr lang="es-PE" sz="20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solidFill>
                            <a:srgbClr val="FF0000"/>
                          </a:solidFill>
                          <a:effectLst/>
                        </a:rPr>
                        <a:t>0,8333</a:t>
                      </a:r>
                      <a:endParaRPr lang="es-PE" sz="20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solidFill>
                            <a:srgbClr val="FF0000"/>
                          </a:solidFill>
                          <a:effectLst/>
                        </a:rPr>
                        <a:t>1,83</a:t>
                      </a:r>
                      <a:endParaRPr lang="es-PE" sz="20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71561012"/>
                  </a:ext>
                </a:extLst>
              </a:tr>
              <a:tr h="438999"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3,00</a:t>
                      </a:r>
                      <a:endParaRPr lang="es-PE" sz="20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solidFill>
                            <a:srgbClr val="FF0000"/>
                          </a:solidFill>
                          <a:effectLst/>
                        </a:rPr>
                        <a:t>0,3333</a:t>
                      </a:r>
                      <a:endParaRPr lang="es-PE" sz="20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solidFill>
                            <a:srgbClr val="FF0000"/>
                          </a:solidFill>
                          <a:effectLst/>
                        </a:rPr>
                        <a:t>1,00</a:t>
                      </a:r>
                      <a:endParaRPr lang="es-PE" sz="20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62594686"/>
                  </a:ext>
                </a:extLst>
              </a:tr>
              <a:tr h="438999"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4,00</a:t>
                      </a:r>
                      <a:endParaRPr lang="es-PE" sz="20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solidFill>
                            <a:srgbClr val="FF0000"/>
                          </a:solidFill>
                          <a:effectLst/>
                        </a:rPr>
                        <a:t>0,6667</a:t>
                      </a:r>
                      <a:endParaRPr lang="es-PE" sz="20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solidFill>
                            <a:srgbClr val="FF0000"/>
                          </a:solidFill>
                          <a:effectLst/>
                        </a:rPr>
                        <a:t>1,00</a:t>
                      </a:r>
                      <a:endParaRPr lang="es-PE" sz="20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92706976"/>
                  </a:ext>
                </a:extLst>
              </a:tr>
              <a:tr h="438999"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5,00</a:t>
                      </a:r>
                      <a:endParaRPr lang="es-PE" sz="20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solidFill>
                            <a:srgbClr val="FF0000"/>
                          </a:solidFill>
                          <a:effectLst/>
                        </a:rPr>
                        <a:t>1,0000</a:t>
                      </a:r>
                      <a:endParaRPr lang="es-PE" sz="20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solidFill>
                            <a:srgbClr val="FF0000"/>
                          </a:solidFill>
                          <a:effectLst/>
                        </a:rPr>
                        <a:t>0,00</a:t>
                      </a:r>
                      <a:endParaRPr lang="es-PE" sz="20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1318444"/>
                  </a:ext>
                </a:extLst>
              </a:tr>
              <a:tr h="438999"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4,33</a:t>
                      </a:r>
                      <a:endParaRPr lang="es-PE" sz="20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solidFill>
                            <a:srgbClr val="FF0000"/>
                          </a:solidFill>
                          <a:effectLst/>
                        </a:rPr>
                        <a:t>1,0000</a:t>
                      </a:r>
                      <a:endParaRPr lang="es-PE" sz="20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solidFill>
                            <a:srgbClr val="FF0000"/>
                          </a:solidFill>
                          <a:effectLst/>
                        </a:rPr>
                        <a:t>1,33</a:t>
                      </a:r>
                      <a:endParaRPr lang="es-PE" sz="20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83544324"/>
                  </a:ext>
                </a:extLst>
              </a:tr>
              <a:tr h="438999"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6,00</a:t>
                      </a:r>
                      <a:endParaRPr lang="es-PE" sz="20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1,0000</a:t>
                      </a:r>
                      <a:endParaRPr lang="es-PE" sz="20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solidFill>
                            <a:srgbClr val="FF0000"/>
                          </a:solidFill>
                          <a:effectLst/>
                        </a:rPr>
                        <a:t>2,00</a:t>
                      </a:r>
                      <a:endParaRPr lang="es-PE" sz="20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52092050"/>
                  </a:ext>
                </a:extLst>
              </a:tr>
              <a:tr h="438999"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4,50</a:t>
                      </a:r>
                      <a:endParaRPr lang="es-PE" sz="20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0,8333</a:t>
                      </a:r>
                      <a:endParaRPr lang="es-PE" sz="20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solidFill>
                            <a:srgbClr val="FF0000"/>
                          </a:solidFill>
                          <a:effectLst/>
                        </a:rPr>
                        <a:t>1,50</a:t>
                      </a:r>
                      <a:endParaRPr lang="es-PE" sz="20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07477678"/>
                  </a:ext>
                </a:extLst>
              </a:tr>
              <a:tr h="438999"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6,00</a:t>
                      </a:r>
                      <a:endParaRPr lang="es-PE" sz="20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0,6667</a:t>
                      </a:r>
                      <a:endParaRPr lang="es-PE" sz="20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solidFill>
                            <a:srgbClr val="FF0000"/>
                          </a:solidFill>
                          <a:effectLst/>
                        </a:rPr>
                        <a:t>2,00</a:t>
                      </a:r>
                      <a:endParaRPr lang="es-PE" sz="20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68641577"/>
                  </a:ext>
                </a:extLst>
              </a:tr>
              <a:tr h="438999"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solidFill>
                            <a:srgbClr val="FF0000"/>
                          </a:solidFill>
                          <a:effectLst/>
                        </a:rPr>
                        <a:t>4,00</a:t>
                      </a:r>
                      <a:endParaRPr lang="es-PE" sz="20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0,3333</a:t>
                      </a:r>
                      <a:endParaRPr lang="es-PE" sz="20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solidFill>
                            <a:srgbClr val="FF0000"/>
                          </a:solidFill>
                          <a:effectLst/>
                        </a:rPr>
                        <a:t>1,00</a:t>
                      </a:r>
                      <a:endParaRPr lang="es-PE" sz="20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30597769"/>
                  </a:ext>
                </a:extLst>
              </a:tr>
              <a:tr h="438999"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>
                          <a:solidFill>
                            <a:srgbClr val="FF0000"/>
                          </a:solidFill>
                          <a:effectLst/>
                        </a:rPr>
                        <a:t>2,00</a:t>
                      </a:r>
                      <a:endParaRPr lang="es-PE" sz="20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0,3333</a:t>
                      </a:r>
                      <a:endParaRPr lang="es-PE" sz="20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0,00</a:t>
                      </a:r>
                      <a:endParaRPr lang="es-PE" sz="20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96450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7478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41 Conector recto de flecha"/>
          <p:cNvCxnSpPr/>
          <p:nvPr/>
        </p:nvCxnSpPr>
        <p:spPr>
          <a:xfrm>
            <a:off x="3496445" y="2935645"/>
            <a:ext cx="642942" cy="2381"/>
          </a:xfrm>
          <a:prstGeom prst="straightConnector1">
            <a:avLst/>
          </a:prstGeom>
          <a:noFill/>
          <a:ln w="38100" cmpd="dbl">
            <a:solidFill>
              <a:srgbClr val="FF0000"/>
            </a:solidFill>
            <a:round/>
            <a:headEnd/>
            <a:tailEnd type="triangle" w="med" len="med"/>
          </a:ln>
        </p:spPr>
      </p:cxnSp>
      <p:sp>
        <p:nvSpPr>
          <p:cNvPr id="51202" name="Oval 3"/>
          <p:cNvSpPr>
            <a:spLocks noChangeArrowheads="1"/>
          </p:cNvSpPr>
          <p:nvPr/>
        </p:nvSpPr>
        <p:spPr bwMode="auto">
          <a:xfrm>
            <a:off x="1703512" y="2626082"/>
            <a:ext cx="619100" cy="62388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0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1203" name="Oval 4"/>
          <p:cNvSpPr>
            <a:spLocks noChangeArrowheads="1"/>
          </p:cNvSpPr>
          <p:nvPr/>
        </p:nvSpPr>
        <p:spPr bwMode="auto">
          <a:xfrm>
            <a:off x="8458624" y="2626082"/>
            <a:ext cx="571504" cy="571504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6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1204" name="Oval 5"/>
          <p:cNvSpPr>
            <a:spLocks noChangeArrowheads="1"/>
          </p:cNvSpPr>
          <p:nvPr/>
        </p:nvSpPr>
        <p:spPr bwMode="auto">
          <a:xfrm>
            <a:off x="4141912" y="2626082"/>
            <a:ext cx="609592" cy="64294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2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1205" name="Oval 6"/>
          <p:cNvSpPr>
            <a:spLocks noChangeArrowheads="1"/>
          </p:cNvSpPr>
          <p:nvPr/>
        </p:nvSpPr>
        <p:spPr bwMode="auto">
          <a:xfrm>
            <a:off x="3036992" y="3769091"/>
            <a:ext cx="571504" cy="63816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3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1206" name="Oval 7"/>
          <p:cNvSpPr>
            <a:spLocks noChangeArrowheads="1"/>
          </p:cNvSpPr>
          <p:nvPr/>
        </p:nvSpPr>
        <p:spPr bwMode="auto">
          <a:xfrm>
            <a:off x="3014788" y="1268760"/>
            <a:ext cx="593709" cy="61754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1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1208" name="Oval 9"/>
          <p:cNvSpPr>
            <a:spLocks noChangeArrowheads="1"/>
          </p:cNvSpPr>
          <p:nvPr/>
        </p:nvSpPr>
        <p:spPr bwMode="auto">
          <a:xfrm>
            <a:off x="7048920" y="2649900"/>
            <a:ext cx="571504" cy="54768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6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1209" name="Oval 10"/>
          <p:cNvSpPr>
            <a:spLocks noChangeArrowheads="1"/>
          </p:cNvSpPr>
          <p:nvPr/>
        </p:nvSpPr>
        <p:spPr bwMode="auto">
          <a:xfrm>
            <a:off x="5631619" y="2683335"/>
            <a:ext cx="571504" cy="54768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4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1210" name="Line 11"/>
          <p:cNvSpPr>
            <a:spLocks noChangeShapeType="1"/>
          </p:cNvSpPr>
          <p:nvPr/>
        </p:nvSpPr>
        <p:spPr bwMode="auto">
          <a:xfrm>
            <a:off x="2251174" y="3197586"/>
            <a:ext cx="796629" cy="7143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1211" name="Line 12"/>
          <p:cNvSpPr>
            <a:spLocks noChangeShapeType="1"/>
          </p:cNvSpPr>
          <p:nvPr/>
        </p:nvSpPr>
        <p:spPr bwMode="auto">
          <a:xfrm flipV="1">
            <a:off x="2251174" y="1768826"/>
            <a:ext cx="785818" cy="93503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1212" name="Line 13"/>
          <p:cNvSpPr>
            <a:spLocks noChangeShapeType="1"/>
          </p:cNvSpPr>
          <p:nvPr/>
        </p:nvSpPr>
        <p:spPr bwMode="auto">
          <a:xfrm>
            <a:off x="3537058" y="1768826"/>
            <a:ext cx="857256" cy="857256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1213" name="Line 14"/>
          <p:cNvSpPr>
            <a:spLocks noChangeShapeType="1"/>
          </p:cNvSpPr>
          <p:nvPr/>
        </p:nvSpPr>
        <p:spPr bwMode="auto">
          <a:xfrm flipV="1">
            <a:off x="3608497" y="3254729"/>
            <a:ext cx="636587" cy="62548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1217" name="Line 18"/>
          <p:cNvSpPr>
            <a:spLocks noChangeShapeType="1"/>
          </p:cNvSpPr>
          <p:nvPr/>
        </p:nvSpPr>
        <p:spPr bwMode="auto">
          <a:xfrm>
            <a:off x="6192674" y="2977317"/>
            <a:ext cx="838200" cy="0"/>
          </a:xfrm>
          <a:prstGeom prst="line">
            <a:avLst/>
          </a:prstGeom>
          <a:noFill/>
          <a:ln w="38100" cmpd="dbl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1219" name="Line 20"/>
          <p:cNvSpPr>
            <a:spLocks noChangeShapeType="1"/>
          </p:cNvSpPr>
          <p:nvPr/>
        </p:nvSpPr>
        <p:spPr bwMode="auto">
          <a:xfrm>
            <a:off x="3608496" y="4137867"/>
            <a:ext cx="199452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1220" name="Text Box 21"/>
          <p:cNvSpPr txBox="1">
            <a:spLocks noChangeArrowheads="1"/>
          </p:cNvSpPr>
          <p:nvPr/>
        </p:nvSpPr>
        <p:spPr bwMode="auto">
          <a:xfrm>
            <a:off x="2216318" y="1691043"/>
            <a:ext cx="73449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 err="1">
                <a:latin typeface="Arial Narrow" pitchFamily="34" charset="0"/>
              </a:rPr>
              <a:t>A4,83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1221" name="Text Box 22"/>
          <p:cNvSpPr txBox="1">
            <a:spLocks noChangeArrowheads="1"/>
          </p:cNvSpPr>
          <p:nvPr/>
        </p:nvSpPr>
        <p:spPr bwMode="auto">
          <a:xfrm>
            <a:off x="2605055" y="2483206"/>
            <a:ext cx="44274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B3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1223" name="Text Box 24"/>
          <p:cNvSpPr txBox="1">
            <a:spLocks noChangeArrowheads="1"/>
          </p:cNvSpPr>
          <p:nvPr/>
        </p:nvSpPr>
        <p:spPr bwMode="auto">
          <a:xfrm>
            <a:off x="2313691" y="3483338"/>
            <a:ext cx="45397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C4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1224" name="Text Box 25"/>
          <p:cNvSpPr txBox="1">
            <a:spLocks noChangeArrowheads="1"/>
          </p:cNvSpPr>
          <p:nvPr/>
        </p:nvSpPr>
        <p:spPr bwMode="auto">
          <a:xfrm>
            <a:off x="3742451" y="2483206"/>
            <a:ext cx="45397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D5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1225" name="Text Box 26"/>
          <p:cNvSpPr txBox="1">
            <a:spLocks noChangeArrowheads="1"/>
          </p:cNvSpPr>
          <p:nvPr/>
        </p:nvSpPr>
        <p:spPr bwMode="auto">
          <a:xfrm>
            <a:off x="4751505" y="2520126"/>
            <a:ext cx="9906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E4,33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1228" name="Text Box 29"/>
          <p:cNvSpPr txBox="1">
            <a:spLocks noChangeArrowheads="1"/>
          </p:cNvSpPr>
          <p:nvPr/>
        </p:nvSpPr>
        <p:spPr bwMode="auto">
          <a:xfrm>
            <a:off x="6396811" y="2460564"/>
            <a:ext cx="42992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F6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1229" name="Text Box 30"/>
          <p:cNvSpPr txBox="1">
            <a:spLocks noChangeArrowheads="1"/>
          </p:cNvSpPr>
          <p:nvPr/>
        </p:nvSpPr>
        <p:spPr bwMode="auto">
          <a:xfrm>
            <a:off x="4857303" y="4197718"/>
            <a:ext cx="63991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G4,5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116767" name="Rectangle 31"/>
          <p:cNvSpPr>
            <a:spLocks noChangeArrowheads="1"/>
          </p:cNvSpPr>
          <p:nvPr/>
        </p:nvSpPr>
        <p:spPr bwMode="auto">
          <a:xfrm>
            <a:off x="6096000" y="136525"/>
            <a:ext cx="6096000" cy="749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spcFirstLastPara="1"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5800"/>
              </a:lnSpc>
              <a:spcBef>
                <a:spcPct val="0"/>
              </a:spcBef>
            </a:pPr>
            <a:r>
              <a:rPr lang="es-MX" sz="3200" dirty="0">
                <a:solidFill>
                  <a:schemeClr val="bg1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Bauhaus 93" pitchFamily="82" charset="0"/>
              </a:rPr>
              <a:t>Red del ejercicio 10.10</a:t>
            </a:r>
            <a:endParaRPr lang="es-ES" sz="3200" dirty="0">
              <a:solidFill>
                <a:schemeClr val="bg1"/>
              </a:solidFill>
              <a:effectLst>
                <a:outerShdw blurRad="63500" dist="38100" dir="5400000" algn="t" rotWithShape="0">
                  <a:prstClr val="black">
                    <a:alpha val="25000"/>
                  </a:prstClr>
                </a:outerShdw>
              </a:effectLst>
              <a:latin typeface="Bauhaus 93" pitchFamily="82" charset="0"/>
            </a:endParaRPr>
          </a:p>
        </p:txBody>
      </p:sp>
      <p:sp>
        <p:nvSpPr>
          <p:cNvPr id="2" name="1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ANIVAL TORRE</a:t>
            </a:r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7123F-EA94-4AF6-90FD-8402484B591B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3" name="Oval 4"/>
          <p:cNvSpPr>
            <a:spLocks noChangeArrowheads="1"/>
          </p:cNvSpPr>
          <p:nvPr/>
        </p:nvSpPr>
        <p:spPr bwMode="auto">
          <a:xfrm>
            <a:off x="5608760" y="3769090"/>
            <a:ext cx="571504" cy="571504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6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34" name="Oval 4"/>
          <p:cNvSpPr>
            <a:spLocks noChangeArrowheads="1"/>
          </p:cNvSpPr>
          <p:nvPr/>
        </p:nvSpPr>
        <p:spPr bwMode="auto">
          <a:xfrm>
            <a:off x="9834393" y="2626082"/>
            <a:ext cx="571504" cy="571504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6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37" name="Text Box 30"/>
          <p:cNvSpPr txBox="1">
            <a:spLocks noChangeArrowheads="1"/>
          </p:cNvSpPr>
          <p:nvPr/>
        </p:nvSpPr>
        <p:spPr bwMode="auto">
          <a:xfrm>
            <a:off x="6559885" y="3681133"/>
            <a:ext cx="45397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H6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38" name="Text Box 30"/>
          <p:cNvSpPr txBox="1">
            <a:spLocks noChangeArrowheads="1"/>
          </p:cNvSpPr>
          <p:nvPr/>
        </p:nvSpPr>
        <p:spPr bwMode="auto">
          <a:xfrm>
            <a:off x="7859826" y="2495167"/>
            <a:ext cx="35939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I4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32" name="Oval 10"/>
          <p:cNvSpPr>
            <a:spLocks noChangeArrowheads="1"/>
          </p:cNvSpPr>
          <p:nvPr/>
        </p:nvSpPr>
        <p:spPr bwMode="auto">
          <a:xfrm>
            <a:off x="2965554" y="2626082"/>
            <a:ext cx="642942" cy="62864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4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45" name="Line 13"/>
          <p:cNvSpPr>
            <a:spLocks noChangeShapeType="1"/>
          </p:cNvSpPr>
          <p:nvPr/>
        </p:nvSpPr>
        <p:spPr bwMode="auto">
          <a:xfrm>
            <a:off x="5917372" y="3231022"/>
            <a:ext cx="0" cy="538069"/>
          </a:xfrm>
          <a:prstGeom prst="line">
            <a:avLst/>
          </a:prstGeom>
          <a:noFill/>
          <a:ln w="38100" cmpd="dbl">
            <a:solidFill>
              <a:srgbClr val="FF0000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46" name="Line 20"/>
          <p:cNvSpPr>
            <a:spLocks noChangeShapeType="1"/>
          </p:cNvSpPr>
          <p:nvPr/>
        </p:nvSpPr>
        <p:spPr bwMode="auto">
          <a:xfrm flipV="1">
            <a:off x="6140960" y="3145868"/>
            <a:ext cx="942276" cy="843488"/>
          </a:xfrm>
          <a:prstGeom prst="line">
            <a:avLst/>
          </a:prstGeom>
          <a:noFill/>
          <a:ln w="38100" cmpd="dbl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48" name="Line 18"/>
          <p:cNvSpPr>
            <a:spLocks noChangeShapeType="1"/>
          </p:cNvSpPr>
          <p:nvPr/>
        </p:nvSpPr>
        <p:spPr bwMode="auto">
          <a:xfrm>
            <a:off x="7620424" y="2964366"/>
            <a:ext cx="838200" cy="0"/>
          </a:xfrm>
          <a:prstGeom prst="line">
            <a:avLst/>
          </a:prstGeom>
          <a:noFill/>
          <a:ln w="38100" cmpd="dbl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cxnSp>
        <p:nvCxnSpPr>
          <p:cNvPr id="50" name="49 Conector recto de flecha"/>
          <p:cNvCxnSpPr/>
          <p:nvPr/>
        </p:nvCxnSpPr>
        <p:spPr bwMode="auto">
          <a:xfrm>
            <a:off x="9030128" y="2971363"/>
            <a:ext cx="793016" cy="0"/>
          </a:xfrm>
          <a:prstGeom prst="straightConnector1">
            <a:avLst/>
          </a:prstGeom>
          <a:noFill/>
          <a:ln w="38100" cmpd="dbl">
            <a:solidFill>
              <a:srgbClr val="FF0000"/>
            </a:solidFill>
            <a:round/>
            <a:headEnd/>
            <a:tailEnd type="triangle" w="med" len="med"/>
          </a:ln>
        </p:spPr>
      </p:cxnSp>
      <p:sp>
        <p:nvSpPr>
          <p:cNvPr id="52" name="Text Box 30"/>
          <p:cNvSpPr txBox="1">
            <a:spLocks noChangeArrowheads="1"/>
          </p:cNvSpPr>
          <p:nvPr/>
        </p:nvSpPr>
        <p:spPr bwMode="auto">
          <a:xfrm>
            <a:off x="9193130" y="2459050"/>
            <a:ext cx="40748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J2</a:t>
            </a:r>
            <a:endParaRPr lang="es-ES" sz="2000" dirty="0">
              <a:latin typeface="Arial Narrow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 Box 30"/>
              <p:cNvSpPr txBox="1">
                <a:spLocks noChangeArrowheads="1"/>
              </p:cNvSpPr>
              <p:nvPr/>
            </p:nvSpPr>
            <p:spPr bwMode="auto">
              <a:xfrm>
                <a:off x="1524000" y="4664914"/>
                <a:ext cx="9105253" cy="13106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es-MX" sz="2600" dirty="0">
                    <a:latin typeface="Arial Narrow" pitchFamily="34" charset="0"/>
                  </a:rPr>
                  <a:t>V(x)=0,33</a:t>
                </a:r>
                <a:r>
                  <a:rPr lang="es-MX" sz="2600" baseline="30000" dirty="0">
                    <a:latin typeface="Arial Narrow" pitchFamily="34" charset="0"/>
                  </a:rPr>
                  <a:t>2</a:t>
                </a:r>
                <a:r>
                  <a:rPr lang="es-MX" sz="2600" dirty="0">
                    <a:latin typeface="Arial Narrow" pitchFamily="34" charset="0"/>
                  </a:rPr>
                  <a:t>+1</a:t>
                </a:r>
                <a:r>
                  <a:rPr lang="es-MX" sz="2600" baseline="30000" dirty="0">
                    <a:latin typeface="Arial Narrow" pitchFamily="34" charset="0"/>
                  </a:rPr>
                  <a:t>2</a:t>
                </a:r>
                <a:r>
                  <a:rPr lang="es-MX" sz="2600" dirty="0">
                    <a:latin typeface="Arial Narrow" pitchFamily="34" charset="0"/>
                  </a:rPr>
                  <a:t>+1</a:t>
                </a:r>
                <a:r>
                  <a:rPr lang="es-MX" sz="2600" baseline="30000" dirty="0">
                    <a:latin typeface="Arial Narrow" pitchFamily="34" charset="0"/>
                  </a:rPr>
                  <a:t>2</a:t>
                </a:r>
                <a:r>
                  <a:rPr lang="es-MX" sz="2600" dirty="0">
                    <a:latin typeface="Arial Narrow" pitchFamily="34" charset="0"/>
                  </a:rPr>
                  <a:t>+1</a:t>
                </a:r>
                <a:r>
                  <a:rPr lang="es-MX" sz="2600" baseline="30000" dirty="0">
                    <a:latin typeface="Arial Narrow" pitchFamily="34" charset="0"/>
                  </a:rPr>
                  <a:t>2</a:t>
                </a:r>
                <a:r>
                  <a:rPr lang="es-MX" sz="2600" dirty="0">
                    <a:latin typeface="Arial Narrow" pitchFamily="34" charset="0"/>
                  </a:rPr>
                  <a:t>+0,33</a:t>
                </a:r>
                <a:r>
                  <a:rPr lang="es-MX" sz="2600" baseline="30000" dirty="0">
                    <a:latin typeface="Arial Narrow" pitchFamily="34" charset="0"/>
                  </a:rPr>
                  <a:t>2</a:t>
                </a:r>
                <a:r>
                  <a:rPr lang="es-MX" sz="2600" dirty="0">
                    <a:latin typeface="Arial Narrow" pitchFamily="34" charset="0"/>
                  </a:rPr>
                  <a:t>+0,33</a:t>
                </a:r>
                <a:r>
                  <a:rPr lang="es-MX" sz="2600" baseline="30000" dirty="0">
                    <a:latin typeface="Arial Narrow" pitchFamily="34" charset="0"/>
                  </a:rPr>
                  <a:t>2</a:t>
                </a:r>
                <a:r>
                  <a:rPr lang="es-MX" sz="2600" dirty="0">
                    <a:latin typeface="Arial Narrow" pitchFamily="34" charset="0"/>
                  </a:rPr>
                  <a:t>=</a:t>
                </a:r>
                <a:r>
                  <a:rPr lang="es-MX" sz="2600" dirty="0" err="1">
                    <a:latin typeface="Arial Narrow" pitchFamily="34" charset="0"/>
                  </a:rPr>
                  <a:t>3,3333</a:t>
                </a:r>
                <a:r>
                  <a:rPr lang="es-MX" sz="2600" dirty="0" err="1">
                    <a:latin typeface="Arial Narrow" pitchFamily="34" charset="0"/>
                    <a:sym typeface="Wingdings" panose="05000000000000000000" pitchFamily="2" charset="2"/>
                  </a:rPr>
                  <a:t>DS</a:t>
                </a:r>
                <a:r>
                  <a:rPr lang="es-MX" sz="2600" dirty="0">
                    <a:latin typeface="Arial Narrow" pitchFamily="34" charset="0"/>
                    <a:sym typeface="Wingdings" panose="05000000000000000000" pitchFamily="2" charset="2"/>
                  </a:rPr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s-MX" sz="26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radPr>
                      <m:deg/>
                      <m:e>
                        <m:r>
                          <a:rPr lang="es-ES" sz="26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3,3333</m:t>
                        </m:r>
                      </m:e>
                    </m:rad>
                    <m:r>
                      <a:rPr lang="es-ES" sz="26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=1,8357</m:t>
                    </m:r>
                  </m:oMath>
                </a14:m>
                <a:endParaRPr lang="es-MX" sz="2600" dirty="0">
                  <a:latin typeface="Arial Narrow" pitchFamily="34" charset="0"/>
                </a:endParaRPr>
              </a:p>
              <a:p>
                <a:pPr marL="514350" indent="-514350">
                  <a:buAutoNum type="alphaLcParenR"/>
                </a:pPr>
                <a:r>
                  <a:rPr lang="es-MX" sz="2600" dirty="0">
                    <a:latin typeface="Arial Narrow" pitchFamily="34" charset="0"/>
                  </a:rPr>
                  <a:t>Rutas críticas: BDEFIJ/BDEHIJ,  </a:t>
                </a:r>
              </a:p>
              <a:p>
                <a:pPr marL="514350" indent="-514350">
                  <a:buAutoNum type="alphaLcParenR"/>
                </a:pPr>
                <a:r>
                  <a:rPr lang="es-MX" sz="2600" dirty="0">
                    <a:latin typeface="Arial Narrow" pitchFamily="34" charset="0"/>
                  </a:rPr>
                  <a:t>Te= </a:t>
                </a:r>
                <a:r>
                  <a:rPr lang="es-MX" sz="2600" dirty="0">
                    <a:solidFill>
                      <a:srgbClr val="FF0000"/>
                    </a:solidFill>
                    <a:latin typeface="Arial Narrow" pitchFamily="34" charset="0"/>
                  </a:rPr>
                  <a:t>24,33</a:t>
                </a:r>
                <a:r>
                  <a:rPr lang="es-MX" sz="2600" dirty="0">
                    <a:latin typeface="Arial Narrow" pitchFamily="34" charset="0"/>
                  </a:rPr>
                  <a:t>,  DS=1,8357         </a:t>
                </a:r>
                <a:r>
                  <a:rPr lang="es-MX" sz="2600" dirty="0">
                    <a:latin typeface="Arial Narrow" pitchFamily="34" charset="0"/>
                    <a:sym typeface="Wingdings" panose="05000000000000000000" pitchFamily="2" charset="2"/>
                  </a:rPr>
                  <a:t>   µ=24,33       </a:t>
                </a:r>
                <a:r>
                  <a:rPr lang="el-GR" sz="2600" dirty="0">
                    <a:latin typeface="Arial Narrow" pitchFamily="34" charset="0"/>
                    <a:sym typeface="Wingdings" panose="05000000000000000000" pitchFamily="2" charset="2"/>
                  </a:rPr>
                  <a:t>σ</a:t>
                </a:r>
                <a:r>
                  <a:rPr lang="es-ES" sz="2600" dirty="0">
                    <a:latin typeface="Arial Narrow" pitchFamily="34" charset="0"/>
                    <a:sym typeface="Wingdings" panose="05000000000000000000" pitchFamily="2" charset="2"/>
                  </a:rPr>
                  <a:t>=1,8357</a:t>
                </a:r>
                <a:endParaRPr lang="es-ES" sz="2600" dirty="0">
                  <a:latin typeface="Arial Narrow" pitchFamily="34" charset="0"/>
                </a:endParaRPr>
              </a:p>
            </p:txBody>
          </p:sp>
        </mc:Choice>
        <mc:Fallback xmlns="">
          <p:sp>
            <p:nvSpPr>
              <p:cNvPr id="53" name="Text 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0" y="4664914"/>
                <a:ext cx="9105253" cy="1310615"/>
              </a:xfrm>
              <a:prstGeom prst="rect">
                <a:avLst/>
              </a:prstGeom>
              <a:blipFill>
                <a:blip r:embed="rId3"/>
                <a:stretch>
                  <a:fillRect l="-1205" t="-2791" b="-11163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Line 18"/>
          <p:cNvSpPr>
            <a:spLocks noChangeShapeType="1"/>
          </p:cNvSpPr>
          <p:nvPr/>
        </p:nvSpPr>
        <p:spPr bwMode="auto">
          <a:xfrm>
            <a:off x="4764820" y="2971363"/>
            <a:ext cx="838200" cy="0"/>
          </a:xfrm>
          <a:prstGeom prst="line">
            <a:avLst/>
          </a:prstGeom>
          <a:noFill/>
          <a:ln w="38100" cmpd="dbl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cxnSp>
        <p:nvCxnSpPr>
          <p:cNvPr id="5" name="4 Conector recto de flecha"/>
          <p:cNvCxnSpPr>
            <a:stCxn id="51202" idx="6"/>
            <a:endCxn id="32" idx="2"/>
          </p:cNvCxnSpPr>
          <p:nvPr/>
        </p:nvCxnSpPr>
        <p:spPr>
          <a:xfrm>
            <a:off x="2322612" y="2938026"/>
            <a:ext cx="642942" cy="2381"/>
          </a:xfrm>
          <a:prstGeom prst="straightConnector1">
            <a:avLst/>
          </a:prstGeom>
          <a:noFill/>
          <a:ln w="38100" cmpd="dbl">
            <a:solidFill>
              <a:srgbClr val="FF0000"/>
            </a:solidFill>
            <a:round/>
            <a:headEnd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49823180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373DE21C-9BD3-4AAC-84F4-CEE5460E4A74}"/>
              </a:ext>
            </a:extLst>
          </p:cNvPr>
          <p:cNvSpPr/>
          <p:nvPr/>
        </p:nvSpPr>
        <p:spPr>
          <a:xfrm>
            <a:off x="1701862" y="1700808"/>
            <a:ext cx="8712968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tabLst>
                <a:tab pos="-457200" algn="l"/>
              </a:tabLst>
            </a:pPr>
            <a:r>
              <a:rPr lang="es-PE" sz="2600" spc="-10" dirty="0">
                <a:latin typeface="Arial Narrow" panose="020B0606020202030204" pitchFamily="34" charset="0"/>
                <a:ea typeface="Calibri" panose="020F0502020204030204" pitchFamily="34" charset="0"/>
              </a:rPr>
              <a:t>c)¿Cuál es la probabilidad de estar listo para el estreno en medio año?</a:t>
            </a:r>
          </a:p>
          <a:p>
            <a:pPr algn="just">
              <a:tabLst>
                <a:tab pos="-457200" algn="l"/>
              </a:tabLst>
            </a:pPr>
            <a:r>
              <a:rPr lang="es-PE" sz="2600" spc="-10" dirty="0">
                <a:latin typeface="Arial Narrow" panose="020B0606020202030204" pitchFamily="34" charset="0"/>
                <a:ea typeface="Calibri" panose="020F0502020204030204" pitchFamily="34" charset="0"/>
              </a:rPr>
              <a:t>Sea X: variable aleatoria duración del proyecto</a:t>
            </a:r>
          </a:p>
          <a:p>
            <a:pPr algn="just">
              <a:tabLst>
                <a:tab pos="-457200" algn="l"/>
              </a:tabLst>
            </a:pPr>
            <a:endParaRPr lang="es-PE" sz="2600" spc="-10" dirty="0">
              <a:latin typeface="Arial Narrow" panose="020B0606020202030204" pitchFamily="34" charset="0"/>
              <a:ea typeface="Calibri" panose="020F0502020204030204" pitchFamily="34" charset="0"/>
            </a:endParaRPr>
          </a:p>
          <a:p>
            <a:pPr algn="just">
              <a:tabLst>
                <a:tab pos="-457200" algn="l"/>
              </a:tabLst>
            </a:pPr>
            <a:endParaRPr lang="es-PE" sz="2600" spc="-10" dirty="0">
              <a:latin typeface="Arial Narrow" panose="020B0606020202030204" pitchFamily="34" charset="0"/>
              <a:ea typeface="Calibri" panose="020F0502020204030204" pitchFamily="34" charset="0"/>
            </a:endParaRPr>
          </a:p>
          <a:p>
            <a:pPr algn="just">
              <a:tabLst>
                <a:tab pos="-457200" algn="l"/>
              </a:tabLst>
            </a:pPr>
            <a:endParaRPr lang="es-PE" sz="2600" spc="-10" dirty="0">
              <a:latin typeface="Arial Narrow" panose="020B060602020203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1968B9E-62CC-4A3B-BFE9-3325E13E2C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9856" y="2583194"/>
            <a:ext cx="400811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ES" sz="2000" dirty="0">
                <a:solidFill>
                  <a:srgbClr val="000000"/>
                </a:solidFill>
                <a:latin typeface="Arial" pitchFamily="34" charset="0"/>
                <a:ea typeface="MS Mincho"/>
                <a:cs typeface="Arial" pitchFamily="34" charset="0"/>
              </a:rPr>
              <a:t>P(x ≤ 26)  =   P (                         )</a:t>
            </a:r>
            <a:endParaRPr lang="es-ES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C8862AE-9D86-455D-ADB7-B3D58DB18C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528" y="3387482"/>
            <a:ext cx="8712968" cy="40011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s-ES" sz="2000" dirty="0">
                <a:solidFill>
                  <a:srgbClr val="000000"/>
                </a:solidFill>
                <a:latin typeface="Arial" pitchFamily="34" charset="0"/>
                <a:ea typeface="MS Mincho"/>
                <a:cs typeface="Arial" pitchFamily="34" charset="0"/>
              </a:rPr>
              <a:t>P(x ≤ 26)  =</a:t>
            </a:r>
            <a:r>
              <a:rPr lang="es-MX" sz="2000" dirty="0"/>
              <a:t> P(z&lt;=0,91)= 0,5 + </a:t>
            </a:r>
            <a:r>
              <a:rPr lang="es-MX" sz="2000" dirty="0">
                <a:solidFill>
                  <a:srgbClr val="FF0000"/>
                </a:solidFill>
              </a:rPr>
              <a:t>P(0&lt;=z&lt;=0,91)</a:t>
            </a:r>
            <a:r>
              <a:rPr lang="es-MX" sz="2000" dirty="0"/>
              <a:t>= 0,5 + 0,3186   =0,8186	</a:t>
            </a:r>
            <a:endParaRPr lang="es-PE" sz="2000" dirty="0"/>
          </a:p>
        </p:txBody>
      </p:sp>
      <p:graphicFrame>
        <p:nvGraphicFramePr>
          <p:cNvPr id="5" name="1 Objeto">
            <a:extLst>
              <a:ext uri="{FF2B5EF4-FFF2-40B4-BE49-F238E27FC236}">
                <a16:creationId xmlns:a16="http://schemas.microsoft.com/office/drawing/2014/main" id="{BFC976FF-14F7-4053-8C92-4A85F689AE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84600" y="2565400"/>
          <a:ext cx="1849438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117440" imgH="419040" progId="Equation.DSMT4">
                  <p:embed/>
                </p:oleObj>
              </mc:Choice>
              <mc:Fallback>
                <p:oleObj r:id="rId2" imgW="1117440" imgH="419040" progId="Equation.DSMT4">
                  <p:embed/>
                  <p:pic>
                    <p:nvPicPr>
                      <p:cNvPr id="5" name="1 Objeto">
                        <a:extLst>
                          <a:ext uri="{FF2B5EF4-FFF2-40B4-BE49-F238E27FC236}">
                            <a16:creationId xmlns:a16="http://schemas.microsoft.com/office/drawing/2014/main" id="{BFC976FF-14F7-4053-8C92-4A85F689AE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4600" y="2565400"/>
                        <a:ext cx="1849438" cy="6985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ángulo 5">
            <a:extLst>
              <a:ext uri="{FF2B5EF4-FFF2-40B4-BE49-F238E27FC236}">
                <a16:creationId xmlns:a16="http://schemas.microsoft.com/office/drawing/2014/main" id="{2E2B369A-0C6E-4EFB-ACBE-142147661823}"/>
              </a:ext>
            </a:extLst>
          </p:cNvPr>
          <p:cNvSpPr/>
          <p:nvPr/>
        </p:nvSpPr>
        <p:spPr>
          <a:xfrm>
            <a:off x="5049079" y="1259469"/>
            <a:ext cx="27302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2400" b="1" dirty="0">
                <a:solidFill>
                  <a:srgbClr val="FF0000"/>
                </a:solidFill>
                <a:latin typeface="Arial Narrow" pitchFamily="34" charset="0"/>
                <a:sym typeface="Wingdings" panose="05000000000000000000" pitchFamily="2" charset="2"/>
              </a:rPr>
              <a:t>µ=24,33       </a:t>
            </a:r>
            <a:r>
              <a:rPr lang="el-GR" sz="2400" b="1" dirty="0">
                <a:solidFill>
                  <a:srgbClr val="FF0000"/>
                </a:solidFill>
                <a:latin typeface="Arial Narrow" pitchFamily="34" charset="0"/>
                <a:sym typeface="Wingdings" panose="05000000000000000000" pitchFamily="2" charset="2"/>
              </a:rPr>
              <a:t>σ</a:t>
            </a:r>
            <a:r>
              <a:rPr lang="es-ES" sz="2400" b="1" dirty="0">
                <a:solidFill>
                  <a:srgbClr val="FF0000"/>
                </a:solidFill>
                <a:latin typeface="Arial Narrow" pitchFamily="34" charset="0"/>
                <a:sym typeface="Wingdings" panose="05000000000000000000" pitchFamily="2" charset="2"/>
              </a:rPr>
              <a:t>=1,8357</a:t>
            </a:r>
            <a:endParaRPr lang="es-PE" sz="2400" b="1" dirty="0">
              <a:solidFill>
                <a:srgbClr val="FF0000"/>
              </a:solidFill>
            </a:endParaRPr>
          </a:p>
        </p:txBody>
      </p:sp>
      <p:pic>
        <p:nvPicPr>
          <p:cNvPr id="7" name="Imagen 29">
            <a:extLst>
              <a:ext uri="{FF2B5EF4-FFF2-40B4-BE49-F238E27FC236}">
                <a16:creationId xmlns:a16="http://schemas.microsoft.com/office/drawing/2014/main" id="{C06C8C77-2B76-4334-9F1F-B1803BC01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016"/>
          <a:stretch>
            <a:fillRect/>
          </a:stretch>
        </p:blipFill>
        <p:spPr bwMode="auto">
          <a:xfrm>
            <a:off x="7896201" y="-14177"/>
            <a:ext cx="2124075" cy="63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8">
            <a:extLst>
              <a:ext uri="{FF2B5EF4-FFF2-40B4-BE49-F238E27FC236}">
                <a16:creationId xmlns:a16="http://schemas.microsoft.com/office/drawing/2014/main" id="{8FE4687B-9387-4D06-985A-59016D8710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8466" y="4564401"/>
            <a:ext cx="602371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ES" sz="2000" dirty="0">
                <a:solidFill>
                  <a:srgbClr val="000000"/>
                </a:solidFill>
                <a:latin typeface="Arial" pitchFamily="34" charset="0"/>
                <a:ea typeface="MS Mincho" charset="-128"/>
                <a:cs typeface="Arial" pitchFamily="34" charset="0"/>
              </a:rPr>
              <a:t>P(24≤ x ≤26)	= P (                                              )</a:t>
            </a:r>
            <a:endParaRPr lang="es-ES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tangle 19">
            <a:extLst>
              <a:ext uri="{FF2B5EF4-FFF2-40B4-BE49-F238E27FC236}">
                <a16:creationId xmlns:a16="http://schemas.microsoft.com/office/drawing/2014/main" id="{5D75549E-D6B2-4493-A4CB-89D642B034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2151" y="5725706"/>
            <a:ext cx="4470198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22066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sz="2000" dirty="0">
                <a:latin typeface="Arial" pitchFamily="34" charset="0"/>
                <a:ea typeface="MS Mincho" charset="-128"/>
                <a:cs typeface="Arial" pitchFamily="34" charset="0"/>
              </a:rPr>
              <a:t>= P (0 ≤ z ≤ 0,18) + P (0 ≤ z ≤ 0,91) </a:t>
            </a:r>
            <a:endParaRPr lang="es-PE" sz="2000" dirty="0">
              <a:latin typeface="Arial" pitchFamily="34" charset="0"/>
              <a:cs typeface="Arial" pitchFamily="34" charset="0"/>
            </a:endParaRPr>
          </a:p>
          <a:p>
            <a:pPr indent="22066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sz="2000" dirty="0">
                <a:latin typeface="Arial" pitchFamily="34" charset="0"/>
                <a:ea typeface="MS Mincho" charset="-128"/>
                <a:cs typeface="Arial" pitchFamily="34" charset="0"/>
              </a:rPr>
              <a:t>= 0,0714+0,3186 = 0,3900</a:t>
            </a:r>
            <a:endParaRPr lang="es-PE" sz="2000" dirty="0">
              <a:latin typeface="Arial" pitchFamily="34" charset="0"/>
              <a:cs typeface="Arial" pitchFamily="34" charset="0"/>
            </a:endParaRPr>
          </a:p>
          <a:p>
            <a:pPr indent="220663" eaLnBrk="0" fontAlgn="base" hangingPunct="0">
              <a:spcBef>
                <a:spcPct val="0"/>
              </a:spcBef>
              <a:spcAft>
                <a:spcPct val="0"/>
              </a:spcAft>
            </a:pPr>
            <a:endParaRPr lang="es-PE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18 Rectángulo">
            <a:extLst>
              <a:ext uri="{FF2B5EF4-FFF2-40B4-BE49-F238E27FC236}">
                <a16:creationId xmlns:a16="http://schemas.microsoft.com/office/drawing/2014/main" id="{03025DCF-187E-4424-A671-3CD3F7E185C5}"/>
              </a:ext>
            </a:extLst>
          </p:cNvPr>
          <p:cNvSpPr/>
          <p:nvPr/>
        </p:nvSpPr>
        <p:spPr>
          <a:xfrm>
            <a:off x="3442152" y="5276974"/>
            <a:ext cx="25741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20663" eaLnBrk="0" hangingPunct="0"/>
            <a:r>
              <a:rPr lang="es-MX" dirty="0">
                <a:solidFill>
                  <a:srgbClr val="000000"/>
                </a:solidFill>
                <a:latin typeface="Arial" pitchFamily="34" charset="0"/>
                <a:ea typeface="MS Mincho" charset="-128"/>
                <a:cs typeface="Arial" pitchFamily="34" charset="0"/>
              </a:rPr>
              <a:t>= P (-0.18 ≤ z ≤ 0,91)</a:t>
            </a:r>
            <a:endParaRPr lang="es-PE" sz="1000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1" name="14 Objeto">
            <a:extLst>
              <a:ext uri="{FF2B5EF4-FFF2-40B4-BE49-F238E27FC236}">
                <a16:creationId xmlns:a16="http://schemas.microsoft.com/office/drawing/2014/main" id="{F4F2B536-4C53-4CF5-8362-4B1A438305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41974" y="4531718"/>
          <a:ext cx="3078162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892160" imgH="419040" progId="Equation.DSMT4">
                  <p:embed/>
                </p:oleObj>
              </mc:Choice>
              <mc:Fallback>
                <p:oleObj r:id="rId5" imgW="1892160" imgH="419040" progId="Equation.DSMT4">
                  <p:embed/>
                  <p:pic>
                    <p:nvPicPr>
                      <p:cNvPr id="11" name="14 Objeto">
                        <a:extLst>
                          <a:ext uri="{FF2B5EF4-FFF2-40B4-BE49-F238E27FC236}">
                            <a16:creationId xmlns:a16="http://schemas.microsoft.com/office/drawing/2014/main" id="{F4F2B536-4C53-4CF5-8362-4B1A438305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1974" y="4531718"/>
                        <a:ext cx="3078162" cy="6254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uadroTexto 12">
            <a:extLst>
              <a:ext uri="{FF2B5EF4-FFF2-40B4-BE49-F238E27FC236}">
                <a16:creationId xmlns:a16="http://schemas.microsoft.com/office/drawing/2014/main" id="{77ACB6DF-2242-52C0-9728-CDCA1CA13A32}"/>
              </a:ext>
            </a:extLst>
          </p:cNvPr>
          <p:cNvSpPr txBox="1"/>
          <p:nvPr/>
        </p:nvSpPr>
        <p:spPr>
          <a:xfrm>
            <a:off x="1728465" y="3902456"/>
            <a:ext cx="996021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600" spc="-10" dirty="0">
                <a:latin typeface="Arial Narrow" panose="020B0606020202030204" pitchFamily="34" charset="0"/>
              </a:rPr>
              <a:t>d)¿Cuál es la probabilidad que el proyecto se termine entre 24 y 26 semanas? </a:t>
            </a:r>
          </a:p>
        </p:txBody>
      </p:sp>
    </p:spTree>
    <p:extLst>
      <p:ext uri="{BB962C8B-B14F-4D97-AF65-F5344CB8AC3E}">
        <p14:creationId xmlns:p14="http://schemas.microsoft.com/office/powerpoint/2010/main" val="1168468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8" grpId="0"/>
      <p:bldP spid="9" grpId="0"/>
      <p:bldP spid="10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ANIVAL TORRE</a:t>
            </a:r>
            <a:endParaRPr lang="en-US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38C50-023F-42B7-BFCC-78669C22CA39}" type="slidenum">
              <a:rPr lang="en-US" smtClean="0"/>
              <a:pPr/>
              <a:t>14</a:t>
            </a:fld>
            <a:endParaRPr lang="en-US" dirty="0"/>
          </a:p>
        </p:txBody>
      </p:sp>
      <p:graphicFrame>
        <p:nvGraphicFramePr>
          <p:cNvPr id="6" name="5 Tabla"/>
          <p:cNvGraphicFramePr>
            <a:graphicFrameLocks noGrp="1"/>
          </p:cNvGraphicFramePr>
          <p:nvPr/>
        </p:nvGraphicFramePr>
        <p:xfrm>
          <a:off x="0" y="-14590"/>
          <a:ext cx="9144002" cy="68942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46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9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97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97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97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97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97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97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97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297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297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 dirty="0">
                          <a:effectLst/>
                        </a:rPr>
                        <a:t>z</a:t>
                      </a:r>
                      <a:endParaRPr lang="es-PE" sz="1000" b="1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0.0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0,01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0,02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0,03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0,04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0,05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0,06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0,07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0,08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0,09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0,0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0,00000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0,00399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0,00798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0,01197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0,01595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0,01994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0,02392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0,0279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0,03188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0,03586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 dirty="0">
                          <a:effectLst/>
                        </a:rPr>
                        <a:t>0,03983</a:t>
                      </a:r>
                      <a:endParaRPr lang="es-PE" sz="1000" b="1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 dirty="0">
                          <a:effectLst/>
                        </a:rPr>
                        <a:t>0,0438</a:t>
                      </a:r>
                      <a:endParaRPr lang="es-PE" sz="1000" b="1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 dirty="0">
                          <a:effectLst/>
                        </a:rPr>
                        <a:t>0,04776</a:t>
                      </a:r>
                      <a:endParaRPr lang="es-PE" sz="1000" b="1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 dirty="0">
                          <a:effectLst/>
                        </a:rPr>
                        <a:t>0,05172</a:t>
                      </a:r>
                      <a:endParaRPr lang="es-PE" sz="1000" b="1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 dirty="0">
                          <a:effectLst/>
                        </a:rPr>
                        <a:t>0,05567</a:t>
                      </a:r>
                      <a:endParaRPr lang="es-PE" sz="1000" b="1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 dirty="0">
                          <a:effectLst/>
                        </a:rPr>
                        <a:t>0,05962</a:t>
                      </a:r>
                      <a:endParaRPr lang="es-PE" sz="1000" b="1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 dirty="0">
                          <a:effectLst/>
                        </a:rPr>
                        <a:t>0,06356</a:t>
                      </a:r>
                      <a:endParaRPr lang="es-PE" sz="1000" b="1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 dirty="0">
                          <a:effectLst/>
                        </a:rPr>
                        <a:t>0,06749</a:t>
                      </a:r>
                      <a:endParaRPr lang="es-PE" sz="1000" b="1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 dirty="0">
                          <a:effectLst/>
                        </a:rPr>
                        <a:t>0,07142</a:t>
                      </a:r>
                      <a:endParaRPr lang="es-PE" sz="1000" b="1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0,07535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 dirty="0">
                          <a:effectLst/>
                        </a:rPr>
                        <a:t>0,07926</a:t>
                      </a:r>
                      <a:endParaRPr lang="es-PE" sz="1000" b="1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0,08317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0,08706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0,09095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0,09483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0,09871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0,10257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0,10642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0,11026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0,11409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 dirty="0">
                          <a:effectLst/>
                        </a:rPr>
                        <a:t>0,11791</a:t>
                      </a:r>
                      <a:endParaRPr lang="es-PE" sz="1000" b="1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0,12172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0,12552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0,1293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0,13307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0,13683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0,14058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0,14431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0,14803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0,15173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 dirty="0">
                          <a:effectLst/>
                        </a:rPr>
                        <a:t>0,15542</a:t>
                      </a:r>
                      <a:endParaRPr lang="es-PE" sz="1000" b="1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0,1591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0,16276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0,1664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0,17003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0,17364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0,17724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0,18082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0,18439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0,18793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 dirty="0">
                          <a:effectLst/>
                        </a:rPr>
                        <a:t>0,19146</a:t>
                      </a:r>
                      <a:endParaRPr lang="es-PE" sz="1000" b="1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0,19497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0,19847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0,20194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0,2054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0,20884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0,21226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0,21566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0,21904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0,2224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 dirty="0">
                          <a:effectLst/>
                        </a:rPr>
                        <a:t>0,22575</a:t>
                      </a:r>
                      <a:endParaRPr lang="es-PE" sz="1000" b="1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0,22907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0,23237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0,23565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0,23891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0,24215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0,24537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0,24857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0,25175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0,2549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 dirty="0">
                          <a:effectLst/>
                        </a:rPr>
                        <a:t>0,25804</a:t>
                      </a:r>
                      <a:endParaRPr lang="es-PE" sz="1000" b="1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0,26115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0,26424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0,2673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0,27035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0,27337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0,27637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0,27935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0,2823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0,28524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 dirty="0">
                          <a:effectLst/>
                        </a:rPr>
                        <a:t>0,28814</a:t>
                      </a:r>
                      <a:endParaRPr lang="es-PE" sz="1000" b="1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0,29103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0,29389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0,29673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0,29955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0,30234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0,30511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0,30785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0,31057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0,31327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 dirty="0">
                          <a:effectLst/>
                        </a:rPr>
                        <a:t>0,31594</a:t>
                      </a:r>
                      <a:endParaRPr lang="es-PE" sz="1000" b="1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 dirty="0">
                          <a:effectLst/>
                        </a:rPr>
                        <a:t>0,31859</a:t>
                      </a:r>
                      <a:endParaRPr lang="es-PE" sz="1000" b="1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0,32121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0,32381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0,32639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0,32894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0,33147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0,33398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0,33646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0,33891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0,34134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0,34375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0,34614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0,34849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0,35083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0,35314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0,35543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0,35769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0,35993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0,36214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1,1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0,36433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0,3665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0,36864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0,37076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0,37286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0,37493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0,37698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0,379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0,381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0,38298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1,2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0,38493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0,38686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0,38877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0,39065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0,39251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0,39435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0,39617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0,39796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0,39973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0,40147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1,3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0,4032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0,4049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0,40658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0,40824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0,40988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0,41149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0,41308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0,41466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0,41621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0,41774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1,4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0,41924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0,42073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0,4222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0,42364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0,42507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0,42647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0,42785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0,42922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0,43056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0,43189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1,5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0,43319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0,43448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0,43574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0,43699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0,43822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0,43943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0,44062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0,44179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0,44295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0,44408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1,6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0,4452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0,4463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0,44738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0,44845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0,4495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0,45053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0,45154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0,45254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0,45352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0,45449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1,7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0,45543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0,45637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0,45728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0,45818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0,45907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0,45994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0,4608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0,46164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0,46246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0,46327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1,8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0,46407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0,46485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0,46562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0,46638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0,46712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0,46784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0,46856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0,46926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0,46995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0,47062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1,9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0,47128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0,47193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0,47257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0,4732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0,47381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0,47441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0,475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0,47558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0,47615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0,4767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0,47725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0,47778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0,47831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0,47882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0,47932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0,47982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0,4803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0,48077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0,48124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0,48169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2,1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0,48214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0,48257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0,483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0,48341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0,48382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0,48422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0,48461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0,485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0,48537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0,48574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2,2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0,4861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0,48645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0,48679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0,48713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0,48745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0,48778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0,48809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0,4884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0,4887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0,48899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2,3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0,48928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0,48956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0,48983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0,4901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0,49036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0,49061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0,49086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0,49111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0,49134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0,49158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2,4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0,4918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0,49202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0,49224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0,49245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0,49266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0,49286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0,49305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0,49324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0,49343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0,49361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2,5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0,49379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0,49396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0,49413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0,4943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0,49446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0,49461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0,49477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0,49492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0,49506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0,4952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2,6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0,49534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0,49547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0,4956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0,49573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0,49585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0,49598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0,49609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0,49621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0,49632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0,49643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2,7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0,49653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0,49664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0,49674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0,49683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0,49693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0,49702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0,49711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0,4972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0,49728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0,49736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2,8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0,49744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0,49752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0,4976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0,49767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0,49774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0,49781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0,49788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0,49795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0,49801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0,49807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2,9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0,49813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0,49819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0,49825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0,49831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0,49836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0,49841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0,49846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0,49851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0,49856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0,49861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0,49865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0,49869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0,49874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0,49878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0,49882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0,49886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0,49889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0,49893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0,49896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3,1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0,49903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0,49906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0,49913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0,49916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0,49918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0,49921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0,49924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0,49926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0,49929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3,2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0,49931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0,49934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0,49936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0,49938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0,49942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0,49944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0,49946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0,49948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33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3,3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0,49952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0,49953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0,49955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0,49957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0,49958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0,49961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0,49962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0,49964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0,49965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34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3,4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0,49966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0,49968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0,49969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0,49971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0,49972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0,49973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0,49974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0,49975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0,49976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35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3,5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0,49977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0,49978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0,49978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0,49979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0,49981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0,49981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0,49982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0,49983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0,49983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36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3,6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0,49984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0,49985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0,49985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0,49986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0,49986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0,49987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0,49987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0,49988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0,49988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0,49989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37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3,7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0,49989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38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3,8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39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3,9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40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 dirty="0">
                          <a:effectLst/>
                        </a:rPr>
                        <a:t>0,49998</a:t>
                      </a:r>
                      <a:endParaRPr lang="es-PE" sz="1000" b="1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 dirty="0">
                          <a:effectLst/>
                        </a:rPr>
                        <a:t>0,49998</a:t>
                      </a:r>
                      <a:endParaRPr lang="es-PE" sz="1000" b="1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41"/>
                  </a:ext>
                </a:extLst>
              </a:tr>
            </a:tbl>
          </a:graphicData>
        </a:graphic>
      </p:graphicFrame>
      <p:pic>
        <p:nvPicPr>
          <p:cNvPr id="131073" name="Imagen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016"/>
          <a:stretch>
            <a:fillRect/>
          </a:stretch>
        </p:blipFill>
        <p:spPr bwMode="auto">
          <a:xfrm>
            <a:off x="9144002" y="3441213"/>
            <a:ext cx="2991480" cy="734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6 Objeto"/>
          <p:cNvGraphicFramePr>
            <a:graphicFrameLocks noChangeAspect="1"/>
          </p:cNvGraphicFramePr>
          <p:nvPr/>
        </p:nvGraphicFramePr>
        <p:xfrm>
          <a:off x="9261615" y="2879894"/>
          <a:ext cx="2873867" cy="5819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799753" imgH="203112" progId="Equation.3">
                  <p:embed/>
                </p:oleObj>
              </mc:Choice>
              <mc:Fallback>
                <p:oleObj name="Ecuación" r:id="rId3" imgW="799753" imgH="203112" progId="Equation.3">
                  <p:embed/>
                  <p:pic>
                    <p:nvPicPr>
                      <p:cNvPr id="7" name="6 Objet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61615" y="2879894"/>
                        <a:ext cx="2873867" cy="58197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1524001" y="803460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PE">
              <a:solidFill>
                <a:schemeClr val="bg1"/>
              </a:solidFill>
            </a:endParaRP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4811714" y="-322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s-PE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E88196A-76AD-F892-4ECA-A3D035EDBF93}"/>
              </a:ext>
            </a:extLst>
          </p:cNvPr>
          <p:cNvSpPr txBox="1"/>
          <p:nvPr/>
        </p:nvSpPr>
        <p:spPr>
          <a:xfrm>
            <a:off x="10509584" y="4070213"/>
            <a:ext cx="1100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0          z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796280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A06511D1-C95E-4697-BD57-32D81AE1D3C5}"/>
              </a:ext>
            </a:extLst>
          </p:cNvPr>
          <p:cNvSpPr/>
          <p:nvPr/>
        </p:nvSpPr>
        <p:spPr>
          <a:xfrm>
            <a:off x="175404" y="1226348"/>
            <a:ext cx="592059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s-ES" sz="2000" dirty="0"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PETROPERÚ puede comprar dos tipos de petróleo: crudo ligero a un costo de $114 por barril, y: crudo pesado a un costo de $94 por barril. Cada barril de petróleo crudo, ya refinado, produce tres productos: gasolina, turbosina y queroseno. La siguiente tabla indica las cantidades en barriles de gasolina, turbosina y queroseno producidos por barril de cada tipo de petróleo crudo:</a:t>
            </a:r>
            <a:endParaRPr lang="es-PE" sz="2000" dirty="0"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C2205BB5-DB5B-413C-9C74-F1DFF22EC225}"/>
              </a:ext>
            </a:extLst>
          </p:cNvPr>
          <p:cNvGraphicFramePr>
            <a:graphicFrameLocks noGrp="1"/>
          </p:cNvGraphicFramePr>
          <p:nvPr/>
        </p:nvGraphicFramePr>
        <p:xfrm>
          <a:off x="293166" y="3407553"/>
          <a:ext cx="5802834" cy="13417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33823">
                  <a:extLst>
                    <a:ext uri="{9D8B030D-6E8A-4147-A177-3AD203B41FA5}">
                      <a16:colId xmlns:a16="http://schemas.microsoft.com/office/drawing/2014/main" val="822437679"/>
                    </a:ext>
                  </a:extLst>
                </a:gridCol>
                <a:gridCol w="1208292">
                  <a:extLst>
                    <a:ext uri="{9D8B030D-6E8A-4147-A177-3AD203B41FA5}">
                      <a16:colId xmlns:a16="http://schemas.microsoft.com/office/drawing/2014/main" val="716483196"/>
                    </a:ext>
                  </a:extLst>
                </a:gridCol>
                <a:gridCol w="1177257">
                  <a:extLst>
                    <a:ext uri="{9D8B030D-6E8A-4147-A177-3AD203B41FA5}">
                      <a16:colId xmlns:a16="http://schemas.microsoft.com/office/drawing/2014/main" val="3203756728"/>
                    </a:ext>
                  </a:extLst>
                </a:gridCol>
                <a:gridCol w="1083462">
                  <a:extLst>
                    <a:ext uri="{9D8B030D-6E8A-4147-A177-3AD203B41FA5}">
                      <a16:colId xmlns:a16="http://schemas.microsoft.com/office/drawing/2014/main" val="3258398762"/>
                    </a:ext>
                  </a:extLst>
                </a:gridCol>
              </a:tblGrid>
              <a:tr h="197732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TIPOS DE PETRÓLEO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</a:rPr>
                        <a:t>PRODUCTOS</a:t>
                      </a:r>
                      <a:endParaRPr lang="es-PE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621787"/>
                  </a:ext>
                </a:extLst>
              </a:tr>
              <a:tr h="197732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effectLst/>
                        </a:rPr>
                        <a:t>Gasolina</a:t>
                      </a:r>
                      <a:endParaRPr lang="es-PE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1">
                          <a:effectLst/>
                        </a:rPr>
                        <a:t>Turbosina</a:t>
                      </a:r>
                      <a:endParaRPr lang="es-PE" sz="16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1">
                          <a:effectLst/>
                        </a:rPr>
                        <a:t>Queroseno</a:t>
                      </a:r>
                      <a:endParaRPr lang="es-PE" sz="16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2538855833"/>
                  </a:ext>
                </a:extLst>
              </a:tr>
              <a:tr h="24782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Crudo ligero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effectLst/>
                        </a:rPr>
                        <a:t>0,45</a:t>
                      </a:r>
                      <a:endParaRPr lang="es-PE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1">
                          <a:effectLst/>
                        </a:rPr>
                        <a:t>0,18</a:t>
                      </a:r>
                      <a:endParaRPr lang="es-PE" sz="16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1">
                          <a:effectLst/>
                        </a:rPr>
                        <a:t>0,30</a:t>
                      </a:r>
                      <a:endParaRPr lang="es-PE" sz="16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2090351906"/>
                  </a:ext>
                </a:extLst>
              </a:tr>
              <a:tr h="24782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Crudo pesado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effectLst/>
                        </a:rPr>
                        <a:t>0,35</a:t>
                      </a:r>
                      <a:endParaRPr lang="es-PE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effectLst/>
                        </a:rPr>
                        <a:t>0,36</a:t>
                      </a:r>
                      <a:endParaRPr lang="es-PE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1">
                          <a:effectLst/>
                        </a:rPr>
                        <a:t>0,20</a:t>
                      </a:r>
                      <a:endParaRPr lang="es-PE" sz="16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2112660403"/>
                  </a:ext>
                </a:extLst>
              </a:tr>
              <a:tr h="2412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Demanda en barriles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effectLst/>
                        </a:rPr>
                        <a:t>1260</a:t>
                      </a:r>
                      <a:endParaRPr lang="es-PE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effectLst/>
                        </a:rPr>
                        <a:t>900</a:t>
                      </a:r>
                      <a:endParaRPr lang="es-PE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effectLst/>
                        </a:rPr>
                        <a:t>300</a:t>
                      </a:r>
                      <a:endParaRPr lang="es-PE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744359903"/>
                  </a:ext>
                </a:extLst>
              </a:tr>
            </a:tbl>
          </a:graphicData>
        </a:graphic>
      </p:graphicFrame>
      <p:sp>
        <p:nvSpPr>
          <p:cNvPr id="4" name="Rectángulo 3">
            <a:extLst>
              <a:ext uri="{FF2B5EF4-FFF2-40B4-BE49-F238E27FC236}">
                <a16:creationId xmlns:a16="http://schemas.microsoft.com/office/drawing/2014/main" id="{5E73630F-A9F6-4B99-BEEC-A4178EF507B3}"/>
              </a:ext>
            </a:extLst>
          </p:cNvPr>
          <p:cNvSpPr/>
          <p:nvPr/>
        </p:nvSpPr>
        <p:spPr>
          <a:xfrm>
            <a:off x="175404" y="4687699"/>
            <a:ext cx="594647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s-ES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 refinería se ha comprometido a entregar 1260 barriles de gasolina, 900 barriles de turbosina y 300 barriles de queroseno. Se quiere determinar la cantidad de cada tipo de petróleo crudo por comprar para minimizar el costo total. 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Definidas las variables de decisión y los atributos u objetivos relevantes del problema que nos ocupa, el decisor define las siguientes </a:t>
            </a:r>
            <a:r>
              <a:rPr lang="es-ES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METAS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según prioridad: </a:t>
            </a:r>
            <a:endParaRPr lang="es-PE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0D1942F4-F108-49C1-826A-48396D1D7038}"/>
              </a:ext>
            </a:extLst>
          </p:cNvPr>
          <p:cNvGraphicFramePr/>
          <p:nvPr/>
        </p:nvGraphicFramePr>
        <p:xfrm>
          <a:off x="6394211" y="1367197"/>
          <a:ext cx="5678046" cy="23339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2A63D510-30C9-896D-A952-45004791B72C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0" y="274634"/>
            <a:ext cx="6096000" cy="5818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base">
              <a:spcAft>
                <a:spcPct val="0"/>
              </a:spcAft>
            </a:pPr>
            <a:r>
              <a:rPr lang="es-ES" sz="3200" dirty="0">
                <a:solidFill>
                  <a:schemeClr val="bg1"/>
                </a:solidFill>
                <a:latin typeface="Bauhaus 93" pitchFamily="82" charset="0"/>
                <a:ea typeface="+mn-ea"/>
                <a:cs typeface="+mn-cs"/>
              </a:rPr>
              <a:t>Problema 6</a:t>
            </a:r>
          </a:p>
        </p:txBody>
      </p:sp>
    </p:spTree>
    <p:extLst>
      <p:ext uri="{BB962C8B-B14F-4D97-AF65-F5344CB8AC3E}">
        <p14:creationId xmlns:p14="http://schemas.microsoft.com/office/powerpoint/2010/main" val="22350982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695E82B-D273-4F04-8727-2FEA5B775D96}"/>
              </a:ext>
            </a:extLst>
          </p:cNvPr>
          <p:cNvSpPr txBox="1"/>
          <p:nvPr/>
        </p:nvSpPr>
        <p:spPr>
          <a:xfrm>
            <a:off x="236866" y="1181186"/>
            <a:ext cx="58591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FF0000"/>
                </a:solidFill>
                <a:latin typeface="Arial Narrow" panose="020B0606020202030204" pitchFamily="34" charset="0"/>
              </a:rPr>
              <a:t>1. VARIABLES: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dirty="0" err="1">
                <a:latin typeface="Arial Narrow" panose="020B0606020202030204" pitchFamily="34" charset="0"/>
                <a:ea typeface="Calibri" pitchFamily="34" charset="0"/>
                <a:cs typeface="Arial" pitchFamily="34" charset="0"/>
              </a:rPr>
              <a:t>X</a:t>
            </a:r>
            <a:r>
              <a:rPr lang="es-ES" baseline="-30000" dirty="0" err="1">
                <a:latin typeface="Arial Narrow" panose="020B0606020202030204" pitchFamily="34" charset="0"/>
                <a:ea typeface="Calibri" pitchFamily="34" charset="0"/>
                <a:cs typeface="Arial" pitchFamily="34" charset="0"/>
              </a:rPr>
              <a:t>1</a:t>
            </a:r>
            <a:r>
              <a:rPr lang="es-ES" dirty="0">
                <a:latin typeface="Arial Narrow" panose="020B0606020202030204" pitchFamily="34" charset="0"/>
                <a:ea typeface="Calibri" pitchFamily="34" charset="0"/>
                <a:cs typeface="Arial" pitchFamily="34" charset="0"/>
              </a:rPr>
              <a:t> = Número de barriles de crudo ligero a comprar.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dirty="0" err="1">
                <a:latin typeface="Arial Narrow" panose="020B0606020202030204" pitchFamily="34" charset="0"/>
                <a:ea typeface="Calibri" pitchFamily="34" charset="0"/>
                <a:cs typeface="Arial" pitchFamily="34" charset="0"/>
              </a:rPr>
              <a:t>X</a:t>
            </a:r>
            <a:r>
              <a:rPr lang="es-ES" baseline="-30000" dirty="0" err="1">
                <a:latin typeface="Arial Narrow" panose="020B0606020202030204" pitchFamily="34" charset="0"/>
                <a:ea typeface="Calibri" pitchFamily="34" charset="0"/>
                <a:cs typeface="Arial" pitchFamily="34" charset="0"/>
              </a:rPr>
              <a:t>2</a:t>
            </a:r>
            <a:r>
              <a:rPr lang="es-ES" dirty="0">
                <a:latin typeface="Arial Narrow" panose="020B0606020202030204" pitchFamily="34" charset="0"/>
                <a:ea typeface="Calibri" pitchFamily="34" charset="0"/>
                <a:cs typeface="Arial" pitchFamily="34" charset="0"/>
              </a:rPr>
              <a:t> = Número de barriles de crudo pesado a comprar.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dirty="0">
                <a:latin typeface="Arial Narrow" panose="020B0606020202030204" pitchFamily="34" charset="0"/>
                <a:cs typeface="Arial" pitchFamily="34" charset="0"/>
              </a:rPr>
              <a:t>Di = Desviaciones por debajo. Ei = Desviaciones por encima</a:t>
            </a:r>
            <a:endParaRPr lang="es-PE" dirty="0">
              <a:latin typeface="Arial Narrow" panose="020B0606020202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6D3232A-F6A9-4ECC-9B41-F0D6F63250B8}"/>
              </a:ext>
            </a:extLst>
          </p:cNvPr>
          <p:cNvSpPr txBox="1"/>
          <p:nvPr/>
        </p:nvSpPr>
        <p:spPr>
          <a:xfrm>
            <a:off x="6096000" y="1253669"/>
            <a:ext cx="609599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FF0000"/>
                </a:solidFill>
                <a:latin typeface="Arial Narrow" panose="020B0606020202030204" pitchFamily="34" charset="0"/>
              </a:rPr>
              <a:t>3. RESTRICCIONES META:</a:t>
            </a:r>
          </a:p>
          <a:p>
            <a:r>
              <a:rPr lang="es-ES" b="1" dirty="0">
                <a:solidFill>
                  <a:srgbClr val="0070C0"/>
                </a:solidFill>
                <a:latin typeface="Arial Narrow" panose="020B0606020202030204" pitchFamily="34" charset="0"/>
              </a:rPr>
              <a:t>Meta 1</a:t>
            </a:r>
            <a:r>
              <a:rPr lang="es-ES" b="1" dirty="0">
                <a:latin typeface="Arial Narrow" panose="020B0606020202030204" pitchFamily="34" charset="0"/>
              </a:rPr>
              <a:t>: Min  </a:t>
            </a:r>
            <a:r>
              <a:rPr lang="es-ES" b="1" dirty="0" err="1">
                <a:latin typeface="Arial Narrow" panose="020B0606020202030204" pitchFamily="34" charset="0"/>
              </a:rPr>
              <a:t>E1</a:t>
            </a:r>
            <a:r>
              <a:rPr lang="es-ES" b="1" dirty="0">
                <a:latin typeface="Arial Narrow" panose="020B0606020202030204" pitchFamily="34" charset="0"/>
              </a:rPr>
              <a:t>	</a:t>
            </a:r>
            <a:r>
              <a:rPr lang="es-ES" b="1" dirty="0">
                <a:latin typeface="Arial Narrow" panose="020B0606020202030204" pitchFamily="34" charset="0"/>
                <a:ea typeface="Calibri" panose="020F0502020204030204" pitchFamily="34" charset="0"/>
              </a:rPr>
              <a:t> E</a:t>
            </a:r>
            <a:r>
              <a:rPr lang="es-ES" dirty="0">
                <a:latin typeface="Arial Narrow" panose="020B0606020202030204" pitchFamily="34" charset="0"/>
              </a:rPr>
              <a:t>l costo total no supere los 80000 dólares </a:t>
            </a:r>
            <a:endParaRPr lang="es-PE" dirty="0">
              <a:latin typeface="Arial Narrow" panose="020B0606020202030204" pitchFamily="34" charset="0"/>
            </a:endParaRPr>
          </a:p>
          <a:p>
            <a:r>
              <a:rPr lang="es-ES" b="1" dirty="0">
                <a:solidFill>
                  <a:srgbClr val="0070C0"/>
                </a:solidFill>
                <a:latin typeface="Arial Narrow" panose="020B0606020202030204" pitchFamily="34" charset="0"/>
              </a:rPr>
              <a:t>.</a:t>
            </a:r>
            <a:r>
              <a:rPr lang="es-ES" b="1" dirty="0" err="1">
                <a:latin typeface="Arial Narrow" panose="020B0606020202030204" pitchFamily="34" charset="0"/>
                <a:cs typeface="Arial" pitchFamily="34" charset="0"/>
              </a:rPr>
              <a:t>114X1+94X2</a:t>
            </a:r>
            <a:r>
              <a:rPr lang="es-ES" b="1" dirty="0">
                <a:latin typeface="Arial Narrow" panose="020B0606020202030204" pitchFamily="34" charset="0"/>
                <a:cs typeface="Arial" pitchFamily="34" charset="0"/>
              </a:rPr>
              <a:t> + </a:t>
            </a:r>
            <a:r>
              <a:rPr lang="es-ES" b="1" dirty="0" err="1">
                <a:latin typeface="Arial Narrow" panose="020B0606020202030204" pitchFamily="34" charset="0"/>
                <a:cs typeface="Arial" pitchFamily="34" charset="0"/>
              </a:rPr>
              <a:t>D1</a:t>
            </a:r>
            <a:r>
              <a:rPr lang="es-ES" b="1" dirty="0">
                <a:latin typeface="Arial Narrow" panose="020B0606020202030204" pitchFamily="34" charset="0"/>
                <a:cs typeface="Arial" pitchFamily="34" charset="0"/>
              </a:rPr>
              <a:t> – </a:t>
            </a:r>
            <a:r>
              <a:rPr lang="es-ES" b="1" dirty="0" err="1">
                <a:latin typeface="Arial Narrow" panose="020B0606020202030204" pitchFamily="34" charset="0"/>
                <a:cs typeface="Arial" pitchFamily="34" charset="0"/>
              </a:rPr>
              <a:t>E1</a:t>
            </a:r>
            <a:r>
              <a:rPr lang="es-ES" b="1" dirty="0">
                <a:latin typeface="Arial Narrow" panose="020B0606020202030204" pitchFamily="34" charset="0"/>
                <a:cs typeface="Arial" pitchFamily="34" charset="0"/>
              </a:rPr>
              <a:t> = 80000     </a:t>
            </a:r>
            <a:r>
              <a:rPr lang="es-ES" dirty="0">
                <a:latin typeface="Arial Narrow" panose="020B0606020202030204" pitchFamily="34" charset="0"/>
                <a:cs typeface="Arial" pitchFamily="34" charset="0"/>
              </a:rPr>
              <a:t>    Dólares</a:t>
            </a:r>
            <a:endParaRPr lang="es-ES" b="1" dirty="0">
              <a:solidFill>
                <a:srgbClr val="7030A0"/>
              </a:solidFill>
              <a:latin typeface="Arial Narrow" panose="020B0606020202030204" pitchFamily="34" charset="0"/>
              <a:cs typeface="Arial" pitchFamily="34" charset="0"/>
            </a:endParaRPr>
          </a:p>
          <a:p>
            <a:r>
              <a:rPr lang="es-ES" b="1" dirty="0">
                <a:solidFill>
                  <a:srgbClr val="0070C0"/>
                </a:solidFill>
                <a:latin typeface="Arial Narrow" panose="020B0606020202030204" pitchFamily="34" charset="0"/>
              </a:rPr>
              <a:t>Meta 2</a:t>
            </a:r>
            <a:r>
              <a:rPr lang="es-ES" b="1" dirty="0">
                <a:latin typeface="Arial Narrow" panose="020B0606020202030204" pitchFamily="34" charset="0"/>
              </a:rPr>
              <a:t>: Min  </a:t>
            </a:r>
            <a:r>
              <a:rPr lang="es-ES" b="1" dirty="0" err="1">
                <a:latin typeface="Arial Narrow" panose="020B0606020202030204" pitchFamily="34" charset="0"/>
              </a:rPr>
              <a:t>D2+E2</a:t>
            </a:r>
            <a:r>
              <a:rPr lang="es-ES" b="1" dirty="0">
                <a:latin typeface="Arial Narrow" panose="020B0606020202030204" pitchFamily="34" charset="0"/>
              </a:rPr>
              <a:t> L</a:t>
            </a:r>
            <a:r>
              <a:rPr lang="es-ES" dirty="0">
                <a:latin typeface="Arial Narrow" panose="020B0606020202030204" pitchFamily="34" charset="0"/>
              </a:rPr>
              <a:t>a producción de gasolina sea </a:t>
            </a:r>
            <a:r>
              <a:rPr lang="es-ES" dirty="0" err="1">
                <a:latin typeface="Arial Narrow" panose="020B0606020202030204" pitchFamily="34" charset="0"/>
              </a:rPr>
              <a:t>exactamente1260</a:t>
            </a:r>
            <a:r>
              <a:rPr lang="es-ES" dirty="0">
                <a:latin typeface="Arial Narrow" panose="020B0606020202030204" pitchFamily="34" charset="0"/>
              </a:rPr>
              <a:t> </a:t>
            </a:r>
            <a:r>
              <a:rPr lang="es-ES" b="1" dirty="0" err="1">
                <a:latin typeface="Arial Narrow" panose="020B0606020202030204" pitchFamily="34" charset="0"/>
              </a:rPr>
              <a:t>0,45</a:t>
            </a:r>
            <a:r>
              <a:rPr lang="es-ES" b="1" dirty="0" err="1">
                <a:latin typeface="Arial Narrow" panose="020B0606020202030204" pitchFamily="34" charset="0"/>
                <a:cs typeface="Arial" pitchFamily="34" charset="0"/>
              </a:rPr>
              <a:t>X1</a:t>
            </a:r>
            <a:r>
              <a:rPr lang="es-ES" b="1" dirty="0">
                <a:latin typeface="Arial Narrow" panose="020B0606020202030204" pitchFamily="34" charset="0"/>
                <a:cs typeface="Arial" pitchFamily="34" charset="0"/>
              </a:rPr>
              <a:t> + </a:t>
            </a:r>
            <a:r>
              <a:rPr lang="es-ES" b="1" dirty="0" err="1">
                <a:latin typeface="Arial Narrow" panose="020B0606020202030204" pitchFamily="34" charset="0"/>
                <a:cs typeface="Arial" pitchFamily="34" charset="0"/>
              </a:rPr>
              <a:t>0,35X2</a:t>
            </a:r>
            <a:r>
              <a:rPr lang="es-ES" b="1" dirty="0">
                <a:latin typeface="Arial Narrow" panose="020B0606020202030204" pitchFamily="34" charset="0"/>
                <a:cs typeface="Arial" pitchFamily="34" charset="0"/>
              </a:rPr>
              <a:t> + </a:t>
            </a:r>
            <a:r>
              <a:rPr lang="es-ES" b="1" dirty="0" err="1">
                <a:latin typeface="Arial Narrow" panose="020B0606020202030204" pitchFamily="34" charset="0"/>
                <a:cs typeface="Arial" pitchFamily="34" charset="0"/>
              </a:rPr>
              <a:t>D2</a:t>
            </a:r>
            <a:r>
              <a:rPr lang="es-ES" b="1" dirty="0">
                <a:latin typeface="Arial Narrow" panose="020B0606020202030204" pitchFamily="34" charset="0"/>
                <a:cs typeface="Arial" pitchFamily="34" charset="0"/>
              </a:rPr>
              <a:t> – </a:t>
            </a:r>
            <a:r>
              <a:rPr lang="es-ES" b="1" dirty="0" err="1">
                <a:latin typeface="Arial Narrow" panose="020B0606020202030204" pitchFamily="34" charset="0"/>
                <a:cs typeface="Arial" pitchFamily="34" charset="0"/>
              </a:rPr>
              <a:t>E2</a:t>
            </a:r>
            <a:r>
              <a:rPr lang="es-ES" b="1" dirty="0">
                <a:latin typeface="Arial Narrow" panose="020B0606020202030204" pitchFamily="34" charset="0"/>
                <a:cs typeface="Arial" pitchFamily="34" charset="0"/>
              </a:rPr>
              <a:t> = 1260      Gasolina</a:t>
            </a:r>
            <a:endParaRPr lang="es-ES" b="1" dirty="0">
              <a:solidFill>
                <a:srgbClr val="7030A0"/>
              </a:solidFill>
              <a:latin typeface="Arial Narrow" panose="020B0606020202030204" pitchFamily="34" charset="0"/>
              <a:cs typeface="Arial" pitchFamily="34" charset="0"/>
            </a:endParaRPr>
          </a:p>
          <a:p>
            <a:r>
              <a:rPr lang="es-ES" b="1" dirty="0">
                <a:solidFill>
                  <a:srgbClr val="0070C0"/>
                </a:solidFill>
                <a:latin typeface="Arial Narrow" panose="020B0606020202030204" pitchFamily="34" charset="0"/>
              </a:rPr>
              <a:t>Meta 3</a:t>
            </a:r>
            <a:r>
              <a:rPr lang="es-ES" b="1" dirty="0">
                <a:latin typeface="Arial Narrow" panose="020B0606020202030204" pitchFamily="34" charset="0"/>
              </a:rPr>
              <a:t>: Min </a:t>
            </a:r>
            <a:r>
              <a:rPr lang="es-ES" b="1" dirty="0" err="1">
                <a:latin typeface="Arial Narrow" panose="020B0606020202030204" pitchFamily="34" charset="0"/>
              </a:rPr>
              <a:t>D3</a:t>
            </a:r>
            <a:r>
              <a:rPr lang="es-ES" b="1" dirty="0">
                <a:latin typeface="Arial Narrow" panose="020B0606020202030204" pitchFamily="34" charset="0"/>
              </a:rPr>
              <a:t> L</a:t>
            </a:r>
            <a:r>
              <a:rPr lang="es-ES" dirty="0">
                <a:latin typeface="Arial Narrow" panose="020B0606020202030204" pitchFamily="34" charset="0"/>
              </a:rPr>
              <a:t>a producción de turbosina sea  mas de 1000  barriles </a:t>
            </a:r>
            <a:r>
              <a:rPr lang="es-ES" b="1" dirty="0" err="1">
                <a:latin typeface="Arial Narrow" panose="020B0606020202030204" pitchFamily="34" charset="0"/>
              </a:rPr>
              <a:t>0,18</a:t>
            </a:r>
            <a:r>
              <a:rPr lang="es-ES" b="1" dirty="0" err="1">
                <a:latin typeface="Arial Narrow" panose="020B0606020202030204" pitchFamily="34" charset="0"/>
                <a:cs typeface="Arial" pitchFamily="34" charset="0"/>
              </a:rPr>
              <a:t>X1</a:t>
            </a:r>
            <a:r>
              <a:rPr lang="es-ES" b="1" dirty="0">
                <a:latin typeface="Arial Narrow" panose="020B0606020202030204" pitchFamily="34" charset="0"/>
                <a:cs typeface="Arial" pitchFamily="34" charset="0"/>
              </a:rPr>
              <a:t>  + </a:t>
            </a:r>
            <a:r>
              <a:rPr lang="es-ES" b="1" dirty="0" err="1">
                <a:latin typeface="Arial Narrow" panose="020B0606020202030204" pitchFamily="34" charset="0"/>
                <a:cs typeface="Arial" pitchFamily="34" charset="0"/>
              </a:rPr>
              <a:t>0,36X2</a:t>
            </a:r>
            <a:r>
              <a:rPr lang="es-ES" b="1" dirty="0">
                <a:latin typeface="Arial Narrow" panose="020B0606020202030204" pitchFamily="34" charset="0"/>
                <a:cs typeface="Arial" pitchFamily="34" charset="0"/>
              </a:rPr>
              <a:t> + </a:t>
            </a:r>
            <a:r>
              <a:rPr lang="es-ES" b="1" dirty="0" err="1">
                <a:latin typeface="Arial Narrow" panose="020B0606020202030204" pitchFamily="34" charset="0"/>
                <a:cs typeface="Arial" pitchFamily="34" charset="0"/>
              </a:rPr>
              <a:t>D3</a:t>
            </a:r>
            <a:r>
              <a:rPr lang="es-ES" b="1" dirty="0">
                <a:latin typeface="Arial Narrow" panose="020B0606020202030204" pitchFamily="34" charset="0"/>
                <a:cs typeface="Arial" pitchFamily="34" charset="0"/>
              </a:rPr>
              <a:t> – </a:t>
            </a:r>
            <a:r>
              <a:rPr lang="es-ES" b="1" dirty="0" err="1">
                <a:latin typeface="Arial Narrow" panose="020B0606020202030204" pitchFamily="34" charset="0"/>
                <a:cs typeface="Arial" pitchFamily="34" charset="0"/>
              </a:rPr>
              <a:t>E3</a:t>
            </a:r>
            <a:r>
              <a:rPr lang="es-ES" b="1" dirty="0">
                <a:latin typeface="Arial Narrow" panose="020B0606020202030204" pitchFamily="34" charset="0"/>
                <a:cs typeface="Arial" pitchFamily="34" charset="0"/>
              </a:rPr>
              <a:t> = 1000     </a:t>
            </a:r>
            <a:r>
              <a:rPr lang="es-ES" dirty="0">
                <a:latin typeface="Arial Narrow" panose="020B0606020202030204" pitchFamily="34" charset="0"/>
                <a:cs typeface="Arial" pitchFamily="34" charset="0"/>
              </a:rPr>
              <a:t>	    	</a:t>
            </a:r>
            <a:r>
              <a:rPr lang="es-ES" b="1" dirty="0">
                <a:solidFill>
                  <a:srgbClr val="7030A0"/>
                </a:solidFill>
                <a:latin typeface="Arial Narrow" panose="020B0606020202030204" pitchFamily="34" charset="0"/>
                <a:cs typeface="Arial" pitchFamily="34" charset="0"/>
              </a:rPr>
              <a:t>Turbosina</a:t>
            </a:r>
          </a:p>
          <a:p>
            <a:r>
              <a:rPr lang="es-ES" b="1" dirty="0">
                <a:solidFill>
                  <a:srgbClr val="0070C0"/>
                </a:solidFill>
                <a:latin typeface="Arial Narrow" panose="020B0606020202030204" pitchFamily="34" charset="0"/>
              </a:rPr>
              <a:t>Meta 4</a:t>
            </a:r>
            <a:r>
              <a:rPr lang="es-ES" b="1" dirty="0">
                <a:latin typeface="Arial Narrow" panose="020B0606020202030204" pitchFamily="34" charset="0"/>
              </a:rPr>
              <a:t>: Min  </a:t>
            </a:r>
            <a:r>
              <a:rPr lang="es-ES" b="1" dirty="0" err="1">
                <a:latin typeface="Arial Narrow" panose="020B0606020202030204" pitchFamily="34" charset="0"/>
              </a:rPr>
              <a:t>E4</a:t>
            </a:r>
            <a:r>
              <a:rPr lang="es-ES" b="1" dirty="0">
                <a:latin typeface="Arial Narrow" panose="020B0606020202030204" pitchFamily="34" charset="0"/>
              </a:rPr>
              <a:t> </a:t>
            </a:r>
            <a:r>
              <a:rPr lang="es-ES" dirty="0">
                <a:latin typeface="Arial Narrow" panose="020B0606020202030204" pitchFamily="34" charset="0"/>
              </a:rPr>
              <a:t>La producción de queroseno sea a lo más de 500 barriles. </a:t>
            </a:r>
            <a:r>
              <a:rPr lang="es-ES" b="1" dirty="0" err="1">
                <a:latin typeface="Arial Narrow" panose="020B0606020202030204" pitchFamily="34" charset="0"/>
              </a:rPr>
              <a:t>0,3</a:t>
            </a:r>
            <a:r>
              <a:rPr lang="es-ES" b="1" dirty="0" err="1">
                <a:latin typeface="Arial Narrow" panose="020B0606020202030204" pitchFamily="34" charset="0"/>
                <a:cs typeface="Arial" pitchFamily="34" charset="0"/>
              </a:rPr>
              <a:t>X1</a:t>
            </a:r>
            <a:r>
              <a:rPr lang="es-ES" b="1" dirty="0">
                <a:latin typeface="Arial Narrow" panose="020B0606020202030204" pitchFamily="34" charset="0"/>
                <a:cs typeface="Arial" pitchFamily="34" charset="0"/>
              </a:rPr>
              <a:t>  + </a:t>
            </a:r>
            <a:r>
              <a:rPr lang="es-ES" b="1" dirty="0" err="1">
                <a:latin typeface="Arial Narrow" panose="020B0606020202030204" pitchFamily="34" charset="0"/>
                <a:cs typeface="Arial" pitchFamily="34" charset="0"/>
              </a:rPr>
              <a:t>0,2X2</a:t>
            </a:r>
            <a:r>
              <a:rPr lang="es-ES" b="1" dirty="0">
                <a:latin typeface="Arial Narrow" panose="020B0606020202030204" pitchFamily="34" charset="0"/>
                <a:cs typeface="Arial" pitchFamily="34" charset="0"/>
              </a:rPr>
              <a:t>  + </a:t>
            </a:r>
            <a:r>
              <a:rPr lang="es-ES" b="1" dirty="0" err="1">
                <a:latin typeface="Arial Narrow" panose="020B0606020202030204" pitchFamily="34" charset="0"/>
                <a:cs typeface="Arial" pitchFamily="34" charset="0"/>
              </a:rPr>
              <a:t>D4</a:t>
            </a:r>
            <a:r>
              <a:rPr lang="es-ES" b="1" dirty="0">
                <a:latin typeface="Arial Narrow" panose="020B0606020202030204" pitchFamily="34" charset="0"/>
                <a:cs typeface="Arial" pitchFamily="34" charset="0"/>
              </a:rPr>
              <a:t> – </a:t>
            </a:r>
            <a:r>
              <a:rPr lang="es-ES" b="1" dirty="0" err="1">
                <a:latin typeface="Arial Narrow" panose="020B0606020202030204" pitchFamily="34" charset="0"/>
                <a:cs typeface="Arial" pitchFamily="34" charset="0"/>
              </a:rPr>
              <a:t>E4</a:t>
            </a:r>
            <a:r>
              <a:rPr lang="es-ES" b="1" dirty="0">
                <a:latin typeface="Arial Narrow" panose="020B0606020202030204" pitchFamily="34" charset="0"/>
                <a:cs typeface="Arial" pitchFamily="34" charset="0"/>
              </a:rPr>
              <a:t> = 500   		</a:t>
            </a:r>
            <a:r>
              <a:rPr lang="es-ES" b="1" dirty="0">
                <a:solidFill>
                  <a:srgbClr val="7030A0"/>
                </a:solidFill>
                <a:latin typeface="Arial Narrow" panose="020B0606020202030204" pitchFamily="34" charset="0"/>
                <a:cs typeface="Arial" pitchFamily="34" charset="0"/>
              </a:rPr>
              <a:t>Queroseno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177B2CC-2BF7-42F7-BD38-3221E885D76F}"/>
              </a:ext>
            </a:extLst>
          </p:cNvPr>
          <p:cNvSpPr txBox="1"/>
          <p:nvPr/>
        </p:nvSpPr>
        <p:spPr>
          <a:xfrm>
            <a:off x="6096000" y="3945966"/>
            <a:ext cx="57690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FF0000"/>
                </a:solidFill>
              </a:rPr>
              <a:t>4. RESTRICCIONES DURAS:</a:t>
            </a:r>
          </a:p>
          <a:p>
            <a:r>
              <a:rPr lang="es-ES" sz="2000" b="1" dirty="0"/>
              <a:t>		</a:t>
            </a:r>
            <a:r>
              <a:rPr lang="es-ES" sz="2000" b="1" dirty="0">
                <a:solidFill>
                  <a:srgbClr val="7030A0"/>
                </a:solidFill>
              </a:rPr>
              <a:t>Xi, Dj, </a:t>
            </a:r>
            <a:r>
              <a:rPr lang="es-ES" sz="2000" b="1" dirty="0" err="1">
                <a:solidFill>
                  <a:srgbClr val="7030A0"/>
                </a:solidFill>
              </a:rPr>
              <a:t>Ej</a:t>
            </a:r>
            <a:r>
              <a:rPr lang="es-ES" sz="2000" b="1" dirty="0">
                <a:solidFill>
                  <a:srgbClr val="7030A0"/>
                </a:solidFill>
              </a:rPr>
              <a:t> &gt;=0</a:t>
            </a:r>
            <a:endParaRPr lang="es-PE" sz="2000" b="1" dirty="0">
              <a:solidFill>
                <a:srgbClr val="7030A0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481AC0E-CCE6-413F-A53E-6B8145B5E6DD}"/>
              </a:ext>
            </a:extLst>
          </p:cNvPr>
          <p:cNvSpPr txBox="1"/>
          <p:nvPr/>
        </p:nvSpPr>
        <p:spPr>
          <a:xfrm>
            <a:off x="6096000" y="4736723"/>
            <a:ext cx="60266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FF0000"/>
                </a:solidFill>
              </a:rPr>
              <a:t>5. FUNCIÓN OBJETIVO:</a:t>
            </a:r>
          </a:p>
          <a:p>
            <a:r>
              <a:rPr lang="es-ES" sz="2000" b="1" dirty="0">
                <a:solidFill>
                  <a:srgbClr val="7030A0"/>
                </a:solidFill>
              </a:rPr>
              <a:t>MIN = </a:t>
            </a:r>
            <a:r>
              <a:rPr lang="es-ES" sz="2000" b="1" dirty="0">
                <a:latin typeface="Calibri" pitchFamily="34" charset="0"/>
                <a:ea typeface="Calibri" pitchFamily="34" charset="0"/>
                <a:cs typeface="Arial" pitchFamily="34" charset="0"/>
              </a:rPr>
              <a:t>  P1 (E1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) + P2 (D2+E2)+P3(D3)+P4(E4)</a:t>
            </a:r>
            <a:endParaRPr lang="es-PE" sz="2000" b="1" dirty="0">
              <a:solidFill>
                <a:srgbClr val="7030A0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61396B7-0A2E-4E8C-99F0-913A9C720FC4}"/>
              </a:ext>
            </a:extLst>
          </p:cNvPr>
          <p:cNvSpPr txBox="1"/>
          <p:nvPr/>
        </p:nvSpPr>
        <p:spPr>
          <a:xfrm>
            <a:off x="236866" y="2282864"/>
            <a:ext cx="585913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FF0000"/>
                </a:solidFill>
                <a:latin typeface="Arial Narrow" panose="020B0606020202030204" pitchFamily="34" charset="0"/>
              </a:rPr>
              <a:t>2. METAS:</a:t>
            </a:r>
          </a:p>
          <a:p>
            <a:pPr lvl="0"/>
            <a:r>
              <a:rPr lang="es-ES" b="1" dirty="0">
                <a:solidFill>
                  <a:srgbClr val="0070C0"/>
                </a:solidFill>
                <a:latin typeface="Arial Narrow" panose="020B0606020202030204" pitchFamily="34" charset="0"/>
              </a:rPr>
              <a:t>Meta 1</a:t>
            </a:r>
            <a:r>
              <a:rPr lang="es-ES" b="1" dirty="0">
                <a:latin typeface="Arial Narrow" panose="020B0606020202030204" pitchFamily="34" charset="0"/>
              </a:rPr>
              <a:t>: </a:t>
            </a:r>
            <a:r>
              <a:rPr lang="es-ES" dirty="0">
                <a:latin typeface="Arial Narrow" panose="020B0606020202030204" pitchFamily="34" charset="0"/>
              </a:rPr>
              <a:t>Que el costo total que sea lo más pequeña posible. Y no supere los 80000 dólares </a:t>
            </a:r>
            <a:endParaRPr lang="es-PE" dirty="0">
              <a:latin typeface="Arial Narrow" panose="020B0606020202030204" pitchFamily="34" charset="0"/>
            </a:endParaRPr>
          </a:p>
          <a:p>
            <a:pPr lvl="0"/>
            <a:r>
              <a:rPr lang="es-ES" b="1" dirty="0">
                <a:solidFill>
                  <a:srgbClr val="0070C0"/>
                </a:solidFill>
                <a:latin typeface="Arial Narrow" panose="020B0606020202030204" pitchFamily="34" charset="0"/>
              </a:rPr>
              <a:t>Meta 2</a:t>
            </a:r>
            <a:r>
              <a:rPr lang="es-ES" b="1" dirty="0">
                <a:latin typeface="Arial Narrow" panose="020B0606020202030204" pitchFamily="34" charset="0"/>
                <a:ea typeface="Calibri" panose="020F0502020204030204" pitchFamily="34" charset="0"/>
              </a:rPr>
              <a:t>: </a:t>
            </a:r>
            <a:r>
              <a:rPr lang="es-ES" dirty="0">
                <a:latin typeface="Arial Narrow" panose="020B0606020202030204" pitchFamily="34" charset="0"/>
              </a:rPr>
              <a:t>Que la producción de gasolina sea exactamente 1260 barriles ya que no hay otros clientes. </a:t>
            </a:r>
            <a:endParaRPr lang="es-PE" dirty="0">
              <a:latin typeface="Arial Narrow" panose="020B0606020202030204" pitchFamily="34" charset="0"/>
            </a:endParaRPr>
          </a:p>
          <a:p>
            <a:pPr lvl="0"/>
            <a:r>
              <a:rPr lang="es-ES" b="1" dirty="0">
                <a:solidFill>
                  <a:srgbClr val="0070C0"/>
                </a:solidFill>
                <a:latin typeface="Arial Narrow" panose="020B0606020202030204" pitchFamily="34" charset="0"/>
              </a:rPr>
              <a:t>Meta 3</a:t>
            </a:r>
            <a:r>
              <a:rPr lang="es-ES" b="1" dirty="0">
                <a:latin typeface="Arial Narrow" panose="020B0606020202030204" pitchFamily="34" charset="0"/>
                <a:ea typeface="Calibri" panose="020F0502020204030204" pitchFamily="34" charset="0"/>
              </a:rPr>
              <a:t>: </a:t>
            </a:r>
            <a:r>
              <a:rPr lang="es-ES" dirty="0">
                <a:latin typeface="Arial Narrow" panose="020B0606020202030204" pitchFamily="34" charset="0"/>
              </a:rPr>
              <a:t>Que la producción de turbosina sea  mas de 1000  barriles ya que los aviones extranjeros están incrementando su compra de este combustible. </a:t>
            </a:r>
            <a:endParaRPr lang="es-PE" dirty="0">
              <a:latin typeface="Arial Narrow" panose="020B0606020202030204" pitchFamily="34" charset="0"/>
            </a:endParaRPr>
          </a:p>
          <a:p>
            <a:pPr algn="just"/>
            <a:r>
              <a:rPr lang="es-ES" b="1" dirty="0">
                <a:solidFill>
                  <a:srgbClr val="0070C0"/>
                </a:solidFill>
                <a:latin typeface="Arial Narrow" panose="020B0606020202030204" pitchFamily="34" charset="0"/>
              </a:rPr>
              <a:t>Meta 4</a:t>
            </a:r>
            <a:r>
              <a:rPr lang="es-ES" b="1" dirty="0">
                <a:latin typeface="Arial Narrow" panose="020B0606020202030204" pitchFamily="34" charset="0"/>
                <a:ea typeface="Calibri" panose="020F0502020204030204" pitchFamily="34" charset="0"/>
              </a:rPr>
              <a:t>: </a:t>
            </a:r>
            <a:r>
              <a:rPr lang="es-ES" dirty="0">
                <a:latin typeface="Arial Narrow" panose="020B0606020202030204" pitchFamily="34" charset="0"/>
              </a:rPr>
              <a:t>La producción de queroseno sea a lo más de 500 barriles. </a:t>
            </a:r>
            <a:endParaRPr lang="es-PE" dirty="0">
              <a:latin typeface="Arial Narrow" panose="020B060602020203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47142F94-4DE8-4CC5-B59E-41CA29A5017B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0" y="274634"/>
            <a:ext cx="6096000" cy="5818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base">
              <a:spcAft>
                <a:spcPct val="0"/>
              </a:spcAft>
            </a:pPr>
            <a:r>
              <a:rPr lang="es-ES" sz="3200" dirty="0">
                <a:solidFill>
                  <a:schemeClr val="bg1"/>
                </a:solidFill>
                <a:latin typeface="Bauhaus 93" pitchFamily="82" charset="0"/>
                <a:ea typeface="+mn-ea"/>
                <a:cs typeface="+mn-cs"/>
              </a:rPr>
              <a:t>Problema 6</a:t>
            </a:r>
          </a:p>
        </p:txBody>
      </p:sp>
    </p:spTree>
    <p:extLst>
      <p:ext uri="{BB962C8B-B14F-4D97-AF65-F5344CB8AC3E}">
        <p14:creationId xmlns:p14="http://schemas.microsoft.com/office/powerpoint/2010/main" val="3372399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F2B2C94C-C342-4831-BEF5-E52E25881258}"/>
              </a:ext>
            </a:extLst>
          </p:cNvPr>
          <p:cNvSpPr/>
          <p:nvPr/>
        </p:nvSpPr>
        <p:spPr>
          <a:xfrm>
            <a:off x="899700" y="406541"/>
            <a:ext cx="50007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dirty="0"/>
              <a:t>https://</a:t>
            </a:r>
            <a:r>
              <a:rPr lang="es-PE" dirty="0" err="1"/>
              <a:t>www.youtube.com</a:t>
            </a:r>
            <a:r>
              <a:rPr lang="es-PE" dirty="0"/>
              <a:t>/</a:t>
            </a:r>
            <a:r>
              <a:rPr lang="es-PE" dirty="0" err="1"/>
              <a:t>watch?v</a:t>
            </a:r>
            <a:r>
              <a:rPr lang="es-PE" dirty="0"/>
              <a:t>=</a:t>
            </a:r>
            <a:r>
              <a:rPr lang="es-PE" dirty="0" err="1"/>
              <a:t>0jXUyYamkHQ</a:t>
            </a:r>
            <a:endParaRPr lang="es-PE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532AD40-2694-4235-A5EB-A9E91154E018}"/>
              </a:ext>
            </a:extLst>
          </p:cNvPr>
          <p:cNvSpPr/>
          <p:nvPr/>
        </p:nvSpPr>
        <p:spPr>
          <a:xfrm>
            <a:off x="1227440" y="3546689"/>
            <a:ext cx="4259367" cy="1323439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s-PE" sz="2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</a:t>
            </a:r>
            <a:r>
              <a:rPr lang="es-PE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PE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E1</a:t>
            </a:r>
            <a:endParaRPr lang="es-PE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PE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endParaRPr lang="es-PE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2000" b="1" dirty="0" err="1">
                <a:latin typeface="Arial Narrow" panose="020B0606020202030204" pitchFamily="34" charset="0"/>
                <a:cs typeface="Arial" pitchFamily="34" charset="0"/>
              </a:rPr>
              <a:t>114X1+94X2</a:t>
            </a:r>
            <a:r>
              <a:rPr lang="es-ES" sz="2000" b="1" dirty="0">
                <a:latin typeface="Arial Narrow" panose="020B0606020202030204" pitchFamily="34" charset="0"/>
                <a:cs typeface="Arial" pitchFamily="34" charset="0"/>
              </a:rPr>
              <a:t> + </a:t>
            </a:r>
            <a:r>
              <a:rPr lang="es-ES" sz="2000" b="1" dirty="0" err="1">
                <a:latin typeface="Arial Narrow" panose="020B0606020202030204" pitchFamily="34" charset="0"/>
                <a:cs typeface="Arial" pitchFamily="34" charset="0"/>
              </a:rPr>
              <a:t>D1</a:t>
            </a:r>
            <a:r>
              <a:rPr lang="es-ES" sz="2000" b="1" dirty="0">
                <a:latin typeface="Arial Narrow" panose="020B0606020202030204" pitchFamily="34" charset="0"/>
                <a:cs typeface="Arial" pitchFamily="34" charset="0"/>
              </a:rPr>
              <a:t> – </a:t>
            </a:r>
            <a:r>
              <a:rPr lang="es-ES" sz="2000" b="1" dirty="0" err="1">
                <a:latin typeface="Arial Narrow" panose="020B0606020202030204" pitchFamily="34" charset="0"/>
                <a:cs typeface="Arial" pitchFamily="34" charset="0"/>
              </a:rPr>
              <a:t>E1</a:t>
            </a:r>
            <a:r>
              <a:rPr lang="es-ES" sz="2000" b="1" dirty="0">
                <a:latin typeface="Arial Narrow" panose="020B0606020202030204" pitchFamily="34" charset="0"/>
                <a:cs typeface="Arial" pitchFamily="34" charset="0"/>
              </a:rPr>
              <a:t> = 80000</a:t>
            </a:r>
            <a:endParaRPr lang="es-ES" sz="2000" b="1" dirty="0">
              <a:latin typeface="Calibri" pitchFamily="34" charset="0"/>
              <a:cs typeface="Arial" pitchFamily="34" charset="0"/>
            </a:endParaRPr>
          </a:p>
          <a:p>
            <a:r>
              <a:rPr lang="es-PE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  <a:endParaRPr lang="es-PE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9D415A5-5055-43ED-90DA-A4DDD25E5CA5}"/>
              </a:ext>
            </a:extLst>
          </p:cNvPr>
          <p:cNvSpPr/>
          <p:nvPr/>
        </p:nvSpPr>
        <p:spPr>
          <a:xfrm>
            <a:off x="6185338" y="3215548"/>
            <a:ext cx="3032234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sz="1400" dirty="0">
                <a:latin typeface="Arial Narrow" panose="020B0606020202030204" pitchFamily="34" charset="0"/>
              </a:rPr>
              <a:t> </a:t>
            </a:r>
            <a:r>
              <a:rPr lang="es-PE" sz="1400" dirty="0" err="1">
                <a:latin typeface="Arial Narrow" panose="020B0606020202030204" pitchFamily="34" charset="0"/>
              </a:rPr>
              <a:t>OBJECTIVE</a:t>
            </a:r>
            <a:r>
              <a:rPr lang="es-PE" sz="1400" dirty="0">
                <a:latin typeface="Arial Narrow" panose="020B0606020202030204" pitchFamily="34" charset="0"/>
              </a:rPr>
              <a:t> </a:t>
            </a:r>
            <a:r>
              <a:rPr lang="es-PE" sz="1400" dirty="0" err="1">
                <a:latin typeface="Arial Narrow" panose="020B0606020202030204" pitchFamily="34" charset="0"/>
              </a:rPr>
              <a:t>FUNCTION</a:t>
            </a:r>
            <a:r>
              <a:rPr lang="es-PE" sz="1400" dirty="0">
                <a:latin typeface="Arial Narrow" panose="020B0606020202030204" pitchFamily="34" charset="0"/>
              </a:rPr>
              <a:t> </a:t>
            </a:r>
            <a:r>
              <a:rPr lang="es-PE" sz="1400" dirty="0" err="1">
                <a:latin typeface="Arial Narrow" panose="020B0606020202030204" pitchFamily="34" charset="0"/>
              </a:rPr>
              <a:t>VALUE</a:t>
            </a:r>
            <a:endParaRPr lang="es-PE" sz="1400" dirty="0">
              <a:latin typeface="Arial Narrow" panose="020B0606020202030204" pitchFamily="34" charset="0"/>
            </a:endParaRPr>
          </a:p>
          <a:p>
            <a:r>
              <a:rPr lang="es-PE" sz="1400" dirty="0">
                <a:latin typeface="Arial Narrow" panose="020B0606020202030204" pitchFamily="34" charset="0"/>
              </a:rPr>
              <a:t>        1)     </a:t>
            </a:r>
            <a:r>
              <a:rPr lang="es-PE" sz="1400" dirty="0" err="1">
                <a:latin typeface="Arial Narrow" panose="020B0606020202030204" pitchFamily="34" charset="0"/>
              </a:rPr>
              <a:t>0.0000000E+00</a:t>
            </a:r>
            <a:endParaRPr lang="es-PE" sz="1400" dirty="0">
              <a:latin typeface="Arial Narrow" panose="020B0606020202030204" pitchFamily="34" charset="0"/>
            </a:endParaRPr>
          </a:p>
          <a:p>
            <a:r>
              <a:rPr lang="es-PE" sz="1400" dirty="0">
                <a:latin typeface="Arial Narrow" panose="020B0606020202030204" pitchFamily="34" charset="0"/>
              </a:rPr>
              <a:t>  VARIABLE        </a:t>
            </a:r>
            <a:r>
              <a:rPr lang="es-PE" sz="1400" dirty="0" err="1">
                <a:latin typeface="Arial Narrow" panose="020B0606020202030204" pitchFamily="34" charset="0"/>
              </a:rPr>
              <a:t>VALUE</a:t>
            </a:r>
            <a:r>
              <a:rPr lang="es-PE" sz="1400" dirty="0">
                <a:latin typeface="Arial Narrow" panose="020B0606020202030204" pitchFamily="34" charset="0"/>
              </a:rPr>
              <a:t>    </a:t>
            </a:r>
            <a:r>
              <a:rPr lang="es-PE" sz="1400" dirty="0" err="1">
                <a:latin typeface="Arial Narrow" panose="020B0606020202030204" pitchFamily="34" charset="0"/>
              </a:rPr>
              <a:t>EDUCED</a:t>
            </a:r>
            <a:r>
              <a:rPr lang="es-PE" sz="1400" dirty="0">
                <a:latin typeface="Arial Narrow" panose="020B0606020202030204" pitchFamily="34" charset="0"/>
              </a:rPr>
              <a:t> </a:t>
            </a:r>
            <a:r>
              <a:rPr lang="es-PE" sz="1400" dirty="0" err="1">
                <a:latin typeface="Arial Narrow" panose="020B0606020202030204" pitchFamily="34" charset="0"/>
              </a:rPr>
              <a:t>COST</a:t>
            </a:r>
            <a:endParaRPr lang="es-PE" sz="1400" dirty="0">
              <a:latin typeface="Arial Narrow" panose="020B0606020202030204" pitchFamily="34" charset="0"/>
            </a:endParaRPr>
          </a:p>
          <a:p>
            <a:r>
              <a:rPr lang="es-PE" sz="1400" dirty="0">
                <a:latin typeface="Arial Narrow" panose="020B0606020202030204" pitchFamily="34" charset="0"/>
              </a:rPr>
              <a:t>        </a:t>
            </a:r>
            <a:r>
              <a:rPr lang="es-PE" sz="1400" dirty="0" err="1">
                <a:latin typeface="Arial Narrow" panose="020B0606020202030204" pitchFamily="34" charset="0"/>
              </a:rPr>
              <a:t>E1</a:t>
            </a:r>
            <a:r>
              <a:rPr lang="es-PE" sz="1400" dirty="0">
                <a:latin typeface="Arial Narrow" panose="020B0606020202030204" pitchFamily="34" charset="0"/>
              </a:rPr>
              <a:t>         0.000000          1.000000</a:t>
            </a:r>
          </a:p>
          <a:p>
            <a:r>
              <a:rPr lang="es-PE" sz="1400" dirty="0">
                <a:latin typeface="Arial Narrow" panose="020B0606020202030204" pitchFamily="34" charset="0"/>
              </a:rPr>
              <a:t>        </a:t>
            </a:r>
            <a:r>
              <a:rPr lang="es-PE" sz="1400" dirty="0" err="1">
                <a:latin typeface="Arial Narrow" panose="020B0606020202030204" pitchFamily="34" charset="0"/>
              </a:rPr>
              <a:t>X1</a:t>
            </a:r>
            <a:r>
              <a:rPr lang="es-PE" sz="1400" dirty="0">
                <a:latin typeface="Arial Narrow" panose="020B0606020202030204" pitchFamily="34" charset="0"/>
              </a:rPr>
              <a:t>        25.000000          0.000000</a:t>
            </a:r>
          </a:p>
          <a:p>
            <a:r>
              <a:rPr lang="es-PE" sz="1400" dirty="0">
                <a:latin typeface="Arial Narrow" panose="020B0606020202030204" pitchFamily="34" charset="0"/>
              </a:rPr>
              <a:t>        </a:t>
            </a:r>
            <a:r>
              <a:rPr lang="es-PE" sz="1400" dirty="0" err="1">
                <a:latin typeface="Arial Narrow" panose="020B0606020202030204" pitchFamily="34" charset="0"/>
              </a:rPr>
              <a:t>X2</a:t>
            </a:r>
            <a:r>
              <a:rPr lang="es-PE" sz="1400" dirty="0">
                <a:latin typeface="Arial Narrow" panose="020B0606020202030204" pitchFamily="34" charset="0"/>
              </a:rPr>
              <a:t>         0.000000          0.000000</a:t>
            </a:r>
          </a:p>
          <a:p>
            <a:r>
              <a:rPr lang="es-PE" sz="1400" dirty="0">
                <a:latin typeface="Arial Narrow" panose="020B0606020202030204" pitchFamily="34" charset="0"/>
              </a:rPr>
              <a:t>        </a:t>
            </a:r>
            <a:r>
              <a:rPr lang="es-PE" sz="1400" dirty="0" err="1">
                <a:latin typeface="Arial Narrow" panose="020B0606020202030204" pitchFamily="34" charset="0"/>
              </a:rPr>
              <a:t>D1</a:t>
            </a:r>
            <a:r>
              <a:rPr lang="es-PE" sz="1400" dirty="0">
                <a:latin typeface="Arial Narrow" panose="020B0606020202030204" pitchFamily="34" charset="0"/>
              </a:rPr>
              <a:t>        20.000000          0.000000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890D40E-D66B-487F-8524-D7C7BE99A9B3}"/>
              </a:ext>
            </a:extLst>
          </p:cNvPr>
          <p:cNvSpPr/>
          <p:nvPr/>
        </p:nvSpPr>
        <p:spPr>
          <a:xfrm>
            <a:off x="1227440" y="4904528"/>
            <a:ext cx="4222581" cy="193899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s-PE" sz="2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</a:t>
            </a:r>
            <a:r>
              <a:rPr lang="es-PE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PE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D2+E2</a:t>
            </a:r>
            <a:endParaRPr lang="es-PE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PE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endParaRPr lang="es-PE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2000" b="1" dirty="0" err="1">
                <a:latin typeface="Arial Narrow" panose="020B0606020202030204" pitchFamily="34" charset="0"/>
                <a:cs typeface="Arial" pitchFamily="34" charset="0"/>
              </a:rPr>
              <a:t>114X1+94X2</a:t>
            </a:r>
            <a:r>
              <a:rPr lang="es-ES" sz="2000" b="1" dirty="0">
                <a:latin typeface="Arial Narrow" panose="020B0606020202030204" pitchFamily="34" charset="0"/>
                <a:cs typeface="Arial" pitchFamily="34" charset="0"/>
              </a:rPr>
              <a:t> + </a:t>
            </a:r>
            <a:r>
              <a:rPr lang="es-ES" sz="2000" b="1" dirty="0" err="1">
                <a:latin typeface="Arial Narrow" panose="020B0606020202030204" pitchFamily="34" charset="0"/>
                <a:cs typeface="Arial" pitchFamily="34" charset="0"/>
              </a:rPr>
              <a:t>D1</a:t>
            </a:r>
            <a:r>
              <a:rPr lang="es-ES" sz="2000" b="1" dirty="0">
                <a:latin typeface="Arial Narrow" panose="020B0606020202030204" pitchFamily="34" charset="0"/>
                <a:cs typeface="Arial" pitchFamily="34" charset="0"/>
              </a:rPr>
              <a:t> – </a:t>
            </a:r>
            <a:r>
              <a:rPr lang="es-ES" sz="2000" b="1" dirty="0" err="1">
                <a:latin typeface="Arial Narrow" panose="020B0606020202030204" pitchFamily="34" charset="0"/>
                <a:cs typeface="Arial" pitchFamily="34" charset="0"/>
              </a:rPr>
              <a:t>E1</a:t>
            </a:r>
            <a:r>
              <a:rPr lang="es-ES" sz="2000" b="1" dirty="0">
                <a:latin typeface="Arial Narrow" panose="020B0606020202030204" pitchFamily="34" charset="0"/>
                <a:cs typeface="Arial" pitchFamily="34" charset="0"/>
              </a:rPr>
              <a:t> = 80000</a:t>
            </a:r>
            <a:endParaRPr lang="es-ES" sz="2000" b="1" dirty="0">
              <a:latin typeface="Calibri" pitchFamily="34" charset="0"/>
              <a:cs typeface="Arial" pitchFamily="34" charset="0"/>
            </a:endParaRPr>
          </a:p>
          <a:p>
            <a:r>
              <a:rPr lang="es-ES" sz="2000" b="1" dirty="0" err="1">
                <a:latin typeface="Calibri" pitchFamily="34" charset="0"/>
                <a:cs typeface="Arial" pitchFamily="34" charset="0"/>
              </a:rPr>
              <a:t>E1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=0</a:t>
            </a:r>
          </a:p>
          <a:p>
            <a:r>
              <a:rPr lang="es-ES" sz="2000" b="1" dirty="0" err="1">
                <a:latin typeface="Arial Narrow" panose="020B0606020202030204" pitchFamily="34" charset="0"/>
              </a:rPr>
              <a:t>0,45</a:t>
            </a:r>
            <a:r>
              <a:rPr lang="es-ES" sz="2000" b="1" dirty="0" err="1">
                <a:latin typeface="Arial Narrow" panose="020B0606020202030204" pitchFamily="34" charset="0"/>
                <a:cs typeface="Arial" pitchFamily="34" charset="0"/>
              </a:rPr>
              <a:t>X1</a:t>
            </a:r>
            <a:r>
              <a:rPr lang="es-ES" sz="2000" b="1" dirty="0">
                <a:latin typeface="Arial Narrow" panose="020B0606020202030204" pitchFamily="34" charset="0"/>
                <a:cs typeface="Arial" pitchFamily="34" charset="0"/>
              </a:rPr>
              <a:t> + </a:t>
            </a:r>
            <a:r>
              <a:rPr lang="es-ES" sz="2000" b="1" dirty="0" err="1">
                <a:latin typeface="Arial Narrow" panose="020B0606020202030204" pitchFamily="34" charset="0"/>
                <a:cs typeface="Arial" pitchFamily="34" charset="0"/>
              </a:rPr>
              <a:t>0,35X2</a:t>
            </a:r>
            <a:r>
              <a:rPr lang="es-ES" sz="2000" b="1" dirty="0">
                <a:latin typeface="Arial Narrow" panose="020B0606020202030204" pitchFamily="34" charset="0"/>
                <a:cs typeface="Arial" pitchFamily="34" charset="0"/>
              </a:rPr>
              <a:t> + </a:t>
            </a:r>
            <a:r>
              <a:rPr lang="es-ES" sz="2000" b="1" dirty="0" err="1">
                <a:latin typeface="Arial Narrow" panose="020B0606020202030204" pitchFamily="34" charset="0"/>
                <a:cs typeface="Arial" pitchFamily="34" charset="0"/>
              </a:rPr>
              <a:t>D2</a:t>
            </a:r>
            <a:r>
              <a:rPr lang="es-ES" sz="2000" b="1" dirty="0">
                <a:latin typeface="Arial Narrow" panose="020B0606020202030204" pitchFamily="34" charset="0"/>
                <a:cs typeface="Arial" pitchFamily="34" charset="0"/>
              </a:rPr>
              <a:t> – </a:t>
            </a:r>
            <a:r>
              <a:rPr lang="es-ES" sz="2000" b="1" dirty="0" err="1">
                <a:latin typeface="Arial Narrow" panose="020B0606020202030204" pitchFamily="34" charset="0"/>
                <a:cs typeface="Arial" pitchFamily="34" charset="0"/>
              </a:rPr>
              <a:t>E2</a:t>
            </a:r>
            <a:r>
              <a:rPr lang="es-ES" sz="2000" b="1" dirty="0">
                <a:latin typeface="Arial Narrow" panose="020B0606020202030204" pitchFamily="34" charset="0"/>
                <a:cs typeface="Arial" pitchFamily="34" charset="0"/>
              </a:rPr>
              <a:t> = 1260 </a:t>
            </a:r>
          </a:p>
          <a:p>
            <a:r>
              <a:rPr lang="es-PE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  <a:endParaRPr lang="es-PE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3F7B1E3-606D-460D-A3F9-41696BA4DB6E}"/>
              </a:ext>
            </a:extLst>
          </p:cNvPr>
          <p:cNvSpPr/>
          <p:nvPr/>
        </p:nvSpPr>
        <p:spPr>
          <a:xfrm>
            <a:off x="6185338" y="4859756"/>
            <a:ext cx="317937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sz="1400" dirty="0">
                <a:latin typeface="Arial Narrow" panose="020B0606020202030204" pitchFamily="34" charset="0"/>
              </a:rPr>
              <a:t> </a:t>
            </a:r>
            <a:r>
              <a:rPr lang="en-US" sz="1400" dirty="0">
                <a:latin typeface="Arial Narrow" panose="020B0606020202030204" pitchFamily="34" charset="0"/>
              </a:rPr>
              <a:t> OBJECTIVE FUNCTION VALUE</a:t>
            </a:r>
          </a:p>
          <a:p>
            <a:r>
              <a:rPr lang="en-US" sz="1400" dirty="0">
                <a:latin typeface="Arial Narrow" panose="020B0606020202030204" pitchFamily="34" charset="0"/>
              </a:rPr>
              <a:t>        1)      944.2105</a:t>
            </a:r>
          </a:p>
          <a:p>
            <a:r>
              <a:rPr lang="en-US" sz="1400" dirty="0">
                <a:latin typeface="Arial Narrow" panose="020B0606020202030204" pitchFamily="34" charset="0"/>
              </a:rPr>
              <a:t>  VARIABLE        VALUE      REDUCED COST</a:t>
            </a:r>
          </a:p>
          <a:p>
            <a:r>
              <a:rPr lang="en-US" sz="1400" dirty="0">
                <a:latin typeface="Arial Narrow" panose="020B0606020202030204" pitchFamily="34" charset="0"/>
              </a:rPr>
              <a:t>        </a:t>
            </a:r>
            <a:r>
              <a:rPr lang="en-US" sz="1400" dirty="0" err="1">
                <a:latin typeface="Arial Narrow" panose="020B0606020202030204" pitchFamily="34" charset="0"/>
              </a:rPr>
              <a:t>D2</a:t>
            </a:r>
            <a:r>
              <a:rPr lang="en-US" sz="1400" dirty="0">
                <a:latin typeface="Arial Narrow" panose="020B0606020202030204" pitchFamily="34" charset="0"/>
              </a:rPr>
              <a:t>       944.210510          0.000000</a:t>
            </a:r>
          </a:p>
          <a:p>
            <a:r>
              <a:rPr lang="en-US" sz="1400" dirty="0">
                <a:latin typeface="Arial Narrow" panose="020B0606020202030204" pitchFamily="34" charset="0"/>
              </a:rPr>
              <a:t>        </a:t>
            </a:r>
            <a:r>
              <a:rPr lang="en-US" sz="1400" dirty="0" err="1">
                <a:latin typeface="Arial Narrow" panose="020B0606020202030204" pitchFamily="34" charset="0"/>
              </a:rPr>
              <a:t>E2</a:t>
            </a:r>
            <a:r>
              <a:rPr lang="en-US" sz="1400" dirty="0">
                <a:latin typeface="Arial Narrow" panose="020B0606020202030204" pitchFamily="34" charset="0"/>
              </a:rPr>
              <a:t>         0.000000            2.000000</a:t>
            </a:r>
          </a:p>
          <a:p>
            <a:r>
              <a:rPr lang="en-US" sz="1400" dirty="0">
                <a:latin typeface="Arial Narrow" panose="020B0606020202030204" pitchFamily="34" charset="0"/>
              </a:rPr>
              <a:t>        </a:t>
            </a:r>
            <a:r>
              <a:rPr lang="en-US" sz="1400" dirty="0" err="1">
                <a:latin typeface="Arial Narrow" panose="020B0606020202030204" pitchFamily="34" charset="0"/>
              </a:rPr>
              <a:t>X1</a:t>
            </a:r>
            <a:r>
              <a:rPr lang="en-US" sz="1400" dirty="0">
                <a:latin typeface="Arial Narrow" panose="020B0606020202030204" pitchFamily="34" charset="0"/>
              </a:rPr>
              <a:t>       701.754395          0.000000</a:t>
            </a:r>
          </a:p>
          <a:p>
            <a:r>
              <a:rPr lang="en-US" sz="1400" dirty="0">
                <a:latin typeface="Arial Narrow" panose="020B0606020202030204" pitchFamily="34" charset="0"/>
              </a:rPr>
              <a:t>        </a:t>
            </a:r>
            <a:r>
              <a:rPr lang="en-US" sz="1400" dirty="0" err="1">
                <a:latin typeface="Arial Narrow" panose="020B0606020202030204" pitchFamily="34" charset="0"/>
              </a:rPr>
              <a:t>X2</a:t>
            </a:r>
            <a:r>
              <a:rPr lang="en-US" sz="1400" dirty="0">
                <a:latin typeface="Arial Narrow" panose="020B0606020202030204" pitchFamily="34" charset="0"/>
              </a:rPr>
              <a:t>           0.000000          0.021053</a:t>
            </a:r>
          </a:p>
          <a:p>
            <a:r>
              <a:rPr lang="en-US" sz="1400" dirty="0">
                <a:latin typeface="Arial Narrow" panose="020B0606020202030204" pitchFamily="34" charset="0"/>
              </a:rPr>
              <a:t>        </a:t>
            </a:r>
            <a:r>
              <a:rPr lang="en-US" sz="1400" dirty="0" err="1">
                <a:latin typeface="Arial Narrow" panose="020B0606020202030204" pitchFamily="34" charset="0"/>
              </a:rPr>
              <a:t>D1</a:t>
            </a:r>
            <a:r>
              <a:rPr lang="en-US" sz="1400" dirty="0">
                <a:latin typeface="Arial Narrow" panose="020B0606020202030204" pitchFamily="34" charset="0"/>
              </a:rPr>
              <a:t>           0.000000          0.003947</a:t>
            </a:r>
          </a:p>
          <a:p>
            <a:r>
              <a:rPr lang="en-US" sz="1400" dirty="0">
                <a:latin typeface="Arial Narrow" panose="020B0606020202030204" pitchFamily="34" charset="0"/>
              </a:rPr>
              <a:t>        </a:t>
            </a:r>
            <a:r>
              <a:rPr lang="en-US" sz="1400" dirty="0" err="1">
                <a:latin typeface="Arial Narrow" panose="020B0606020202030204" pitchFamily="34" charset="0"/>
              </a:rPr>
              <a:t>E1</a:t>
            </a:r>
            <a:r>
              <a:rPr lang="en-US" sz="1400" dirty="0">
                <a:latin typeface="Arial Narrow" panose="020B0606020202030204" pitchFamily="34" charset="0"/>
              </a:rPr>
              <a:t>           0.000000          0.000000</a:t>
            </a:r>
            <a:endParaRPr lang="es-PE" sz="1400" dirty="0">
              <a:latin typeface="Arial Narrow" panose="020B060602020203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81724EA-598A-4D54-B9FF-2DE6FF44DB05}"/>
              </a:ext>
            </a:extLst>
          </p:cNvPr>
          <p:cNvSpPr txBox="1"/>
          <p:nvPr/>
        </p:nvSpPr>
        <p:spPr>
          <a:xfrm>
            <a:off x="247292" y="4290607"/>
            <a:ext cx="10121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FF0000"/>
                </a:solidFill>
              </a:rPr>
              <a:t>META 1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C1753EF-18F3-499A-927B-8D101CC8EADD}"/>
              </a:ext>
            </a:extLst>
          </p:cNvPr>
          <p:cNvSpPr txBox="1"/>
          <p:nvPr/>
        </p:nvSpPr>
        <p:spPr>
          <a:xfrm>
            <a:off x="244416" y="5681464"/>
            <a:ext cx="10121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FF0000"/>
                </a:solidFill>
              </a:rPr>
              <a:t>META 2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9B05A6A5-429B-4640-8437-77FAA1B0AC20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0" y="274634"/>
            <a:ext cx="6096000" cy="5818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base">
              <a:spcAft>
                <a:spcPct val="0"/>
              </a:spcAft>
            </a:pPr>
            <a:r>
              <a:rPr lang="es-ES" sz="3200" dirty="0">
                <a:solidFill>
                  <a:schemeClr val="bg1"/>
                </a:solidFill>
                <a:latin typeface="Bauhaus 93" pitchFamily="82" charset="0"/>
                <a:ea typeface="+mn-ea"/>
                <a:cs typeface="+mn-cs"/>
              </a:rPr>
              <a:t>Problema 6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A73CB2A-1EB2-4BF6-BC29-83D119A2391C}"/>
              </a:ext>
            </a:extLst>
          </p:cNvPr>
          <p:cNvSpPr txBox="1"/>
          <p:nvPr/>
        </p:nvSpPr>
        <p:spPr>
          <a:xfrm>
            <a:off x="244417" y="1203965"/>
            <a:ext cx="58515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0000"/>
                </a:solidFill>
                <a:latin typeface="Arial Narrow" panose="020B0606020202030204" pitchFamily="34" charset="0"/>
              </a:rPr>
              <a:t>3. RESTRICCIONES META:</a:t>
            </a:r>
          </a:p>
          <a:p>
            <a:r>
              <a:rPr lang="es-ES" sz="1600" b="1" dirty="0">
                <a:solidFill>
                  <a:srgbClr val="0070C0"/>
                </a:solidFill>
                <a:latin typeface="Arial Narrow" panose="020B0606020202030204" pitchFamily="34" charset="0"/>
              </a:rPr>
              <a:t>Meta 1</a:t>
            </a:r>
            <a:r>
              <a:rPr lang="es-ES" sz="1600" b="1" dirty="0">
                <a:latin typeface="Arial Narrow" panose="020B0606020202030204" pitchFamily="34" charset="0"/>
              </a:rPr>
              <a:t>: Min  </a:t>
            </a:r>
            <a:r>
              <a:rPr lang="es-ES" sz="1600" b="1" dirty="0" err="1">
                <a:latin typeface="Arial Narrow" panose="020B0606020202030204" pitchFamily="34" charset="0"/>
              </a:rPr>
              <a:t>E1</a:t>
            </a:r>
            <a:r>
              <a:rPr lang="es-ES" sz="1600" b="1" dirty="0">
                <a:latin typeface="Arial Narrow" panose="020B0606020202030204" pitchFamily="34" charset="0"/>
              </a:rPr>
              <a:t>	</a:t>
            </a:r>
            <a:r>
              <a:rPr lang="es-ES" sz="1600" b="1" dirty="0">
                <a:latin typeface="Arial Narrow" panose="020B0606020202030204" pitchFamily="34" charset="0"/>
                <a:ea typeface="Calibri" panose="020F0502020204030204" pitchFamily="34" charset="0"/>
              </a:rPr>
              <a:t> </a:t>
            </a:r>
            <a:r>
              <a:rPr lang="es-ES" sz="1600" dirty="0">
                <a:latin typeface="Arial Narrow" panose="020B0606020202030204" pitchFamily="34" charset="0"/>
                <a:ea typeface="Calibri" panose="020F0502020204030204" pitchFamily="34" charset="0"/>
              </a:rPr>
              <a:t>E</a:t>
            </a:r>
            <a:r>
              <a:rPr lang="es-ES" sz="1600" dirty="0">
                <a:latin typeface="Arial Narrow" panose="020B0606020202030204" pitchFamily="34" charset="0"/>
              </a:rPr>
              <a:t>l costo total no supere los 80000 dólares </a:t>
            </a:r>
            <a:endParaRPr lang="es-PE" sz="1600" dirty="0">
              <a:latin typeface="Arial Narrow" panose="020B0606020202030204" pitchFamily="34" charset="0"/>
            </a:endParaRPr>
          </a:p>
          <a:p>
            <a:r>
              <a:rPr lang="es-ES" sz="1600" b="1" dirty="0">
                <a:latin typeface="Arial Narrow" panose="020B0606020202030204" pitchFamily="34" charset="0"/>
                <a:cs typeface="Arial" pitchFamily="34" charset="0"/>
              </a:rPr>
              <a:t> </a:t>
            </a:r>
            <a:r>
              <a:rPr lang="es-ES" sz="1600" b="1" dirty="0" err="1">
                <a:latin typeface="Arial Narrow" panose="020B0606020202030204" pitchFamily="34" charset="0"/>
                <a:cs typeface="Arial" pitchFamily="34" charset="0"/>
              </a:rPr>
              <a:t>114X1+94X2</a:t>
            </a:r>
            <a:r>
              <a:rPr lang="es-ES" sz="1600" b="1" dirty="0">
                <a:latin typeface="Arial Narrow" panose="020B0606020202030204" pitchFamily="34" charset="0"/>
                <a:cs typeface="Arial" pitchFamily="34" charset="0"/>
              </a:rPr>
              <a:t> + </a:t>
            </a:r>
            <a:r>
              <a:rPr lang="es-ES" sz="1600" b="1" dirty="0" err="1">
                <a:latin typeface="Arial Narrow" panose="020B0606020202030204" pitchFamily="34" charset="0"/>
                <a:cs typeface="Arial" pitchFamily="34" charset="0"/>
              </a:rPr>
              <a:t>D1</a:t>
            </a:r>
            <a:r>
              <a:rPr lang="es-ES" sz="1600" b="1" dirty="0">
                <a:latin typeface="Arial Narrow" panose="020B0606020202030204" pitchFamily="34" charset="0"/>
                <a:cs typeface="Arial" pitchFamily="34" charset="0"/>
              </a:rPr>
              <a:t> – </a:t>
            </a:r>
            <a:r>
              <a:rPr lang="es-ES" sz="1600" b="1" dirty="0" err="1">
                <a:latin typeface="Arial Narrow" panose="020B0606020202030204" pitchFamily="34" charset="0"/>
                <a:cs typeface="Arial" pitchFamily="34" charset="0"/>
              </a:rPr>
              <a:t>E1</a:t>
            </a:r>
            <a:r>
              <a:rPr lang="es-ES" sz="1600" b="1" dirty="0">
                <a:latin typeface="Arial Narrow" panose="020B0606020202030204" pitchFamily="34" charset="0"/>
                <a:cs typeface="Arial" pitchFamily="34" charset="0"/>
              </a:rPr>
              <a:t> = 80000      </a:t>
            </a:r>
            <a:r>
              <a:rPr lang="es-ES" sz="1600" dirty="0">
                <a:latin typeface="Arial Narrow" panose="020B0606020202030204" pitchFamily="34" charset="0"/>
                <a:cs typeface="Arial" pitchFamily="34" charset="0"/>
              </a:rPr>
              <a:t>    </a:t>
            </a:r>
            <a:r>
              <a:rPr lang="es-ES" sz="1600" b="1" dirty="0">
                <a:latin typeface="Arial Narrow" panose="020B0606020202030204" pitchFamily="34" charset="0"/>
                <a:cs typeface="Arial" pitchFamily="34" charset="0"/>
              </a:rPr>
              <a:t>Dólares</a:t>
            </a:r>
            <a:endParaRPr lang="es-ES" sz="1600" b="1" dirty="0">
              <a:solidFill>
                <a:srgbClr val="7030A0"/>
              </a:solidFill>
              <a:latin typeface="Arial Narrow" panose="020B0606020202030204" pitchFamily="34" charset="0"/>
              <a:cs typeface="Arial" pitchFamily="34" charset="0"/>
            </a:endParaRPr>
          </a:p>
          <a:p>
            <a:r>
              <a:rPr lang="es-ES" sz="1600" b="1" dirty="0">
                <a:solidFill>
                  <a:srgbClr val="0070C0"/>
                </a:solidFill>
                <a:latin typeface="Arial Narrow" panose="020B0606020202030204" pitchFamily="34" charset="0"/>
              </a:rPr>
              <a:t>Meta 2</a:t>
            </a:r>
            <a:r>
              <a:rPr lang="es-ES" sz="1600" b="1" dirty="0">
                <a:latin typeface="Arial Narrow" panose="020B0606020202030204" pitchFamily="34" charset="0"/>
              </a:rPr>
              <a:t>: Min  </a:t>
            </a:r>
            <a:r>
              <a:rPr lang="es-ES" sz="1600" b="1" dirty="0" err="1">
                <a:latin typeface="Arial Narrow" panose="020B0606020202030204" pitchFamily="34" charset="0"/>
              </a:rPr>
              <a:t>D2+E2</a:t>
            </a:r>
            <a:r>
              <a:rPr lang="es-ES" sz="1600" b="1" dirty="0">
                <a:latin typeface="Arial Narrow" panose="020B0606020202030204" pitchFamily="34" charset="0"/>
              </a:rPr>
              <a:t>        </a:t>
            </a:r>
            <a:r>
              <a:rPr lang="es-ES" sz="1600" dirty="0">
                <a:latin typeface="Arial Narrow" panose="020B0606020202030204" pitchFamily="34" charset="0"/>
              </a:rPr>
              <a:t>La producción de gasolina sea exactamente 1260 </a:t>
            </a:r>
          </a:p>
          <a:p>
            <a:r>
              <a:rPr lang="es-ES" sz="1600" b="1" dirty="0">
                <a:latin typeface="Arial Narrow" panose="020B0606020202030204" pitchFamily="34" charset="0"/>
              </a:rPr>
              <a:t> </a:t>
            </a:r>
            <a:r>
              <a:rPr lang="es-ES" sz="1600" b="1" dirty="0" err="1">
                <a:latin typeface="Arial Narrow" panose="020B0606020202030204" pitchFamily="34" charset="0"/>
              </a:rPr>
              <a:t>0,45</a:t>
            </a:r>
            <a:r>
              <a:rPr lang="es-ES" sz="1600" b="1" dirty="0" err="1">
                <a:latin typeface="Arial Narrow" panose="020B0606020202030204" pitchFamily="34" charset="0"/>
                <a:cs typeface="Arial" pitchFamily="34" charset="0"/>
              </a:rPr>
              <a:t>X1</a:t>
            </a:r>
            <a:r>
              <a:rPr lang="es-ES" sz="1600" b="1" dirty="0">
                <a:latin typeface="Arial Narrow" panose="020B0606020202030204" pitchFamily="34" charset="0"/>
                <a:cs typeface="Arial" pitchFamily="34" charset="0"/>
              </a:rPr>
              <a:t> + </a:t>
            </a:r>
            <a:r>
              <a:rPr lang="es-ES" sz="1600" b="1" dirty="0" err="1">
                <a:latin typeface="Arial Narrow" panose="020B0606020202030204" pitchFamily="34" charset="0"/>
                <a:cs typeface="Arial" pitchFamily="34" charset="0"/>
              </a:rPr>
              <a:t>0,35X2</a:t>
            </a:r>
            <a:r>
              <a:rPr lang="es-ES" sz="1600" b="1" dirty="0">
                <a:latin typeface="Arial Narrow" panose="020B0606020202030204" pitchFamily="34" charset="0"/>
                <a:cs typeface="Arial" pitchFamily="34" charset="0"/>
              </a:rPr>
              <a:t> + </a:t>
            </a:r>
            <a:r>
              <a:rPr lang="es-ES" sz="1600" b="1" dirty="0" err="1">
                <a:latin typeface="Arial Narrow" panose="020B0606020202030204" pitchFamily="34" charset="0"/>
                <a:cs typeface="Arial" pitchFamily="34" charset="0"/>
              </a:rPr>
              <a:t>D2</a:t>
            </a:r>
            <a:r>
              <a:rPr lang="es-ES" sz="1600" b="1" dirty="0">
                <a:latin typeface="Arial Narrow" panose="020B0606020202030204" pitchFamily="34" charset="0"/>
                <a:cs typeface="Arial" pitchFamily="34" charset="0"/>
              </a:rPr>
              <a:t> – </a:t>
            </a:r>
            <a:r>
              <a:rPr lang="es-ES" sz="1600" b="1" dirty="0" err="1">
                <a:latin typeface="Arial Narrow" panose="020B0606020202030204" pitchFamily="34" charset="0"/>
                <a:cs typeface="Arial" pitchFamily="34" charset="0"/>
              </a:rPr>
              <a:t>E2</a:t>
            </a:r>
            <a:r>
              <a:rPr lang="es-ES" sz="1600" b="1" dirty="0">
                <a:latin typeface="Arial Narrow" panose="020B0606020202030204" pitchFamily="34" charset="0"/>
                <a:cs typeface="Arial" pitchFamily="34" charset="0"/>
              </a:rPr>
              <a:t> = 1260      Gasolina</a:t>
            </a:r>
            <a:endParaRPr lang="es-ES" sz="1600" b="1" dirty="0">
              <a:solidFill>
                <a:srgbClr val="7030A0"/>
              </a:solidFill>
              <a:latin typeface="Arial Narrow" panose="020B0606020202030204" pitchFamily="34" charset="0"/>
              <a:cs typeface="Arial" pitchFamily="34" charset="0"/>
            </a:endParaRPr>
          </a:p>
          <a:p>
            <a:r>
              <a:rPr lang="es-ES" sz="1600" b="1" dirty="0">
                <a:solidFill>
                  <a:srgbClr val="0070C0"/>
                </a:solidFill>
                <a:latin typeface="Arial Narrow" panose="020B0606020202030204" pitchFamily="34" charset="0"/>
              </a:rPr>
              <a:t>Meta 3</a:t>
            </a:r>
            <a:r>
              <a:rPr lang="es-ES" sz="1600" b="1" dirty="0">
                <a:latin typeface="Arial Narrow" panose="020B0606020202030204" pitchFamily="34" charset="0"/>
              </a:rPr>
              <a:t>: Min </a:t>
            </a:r>
            <a:r>
              <a:rPr lang="es-ES" sz="1600" b="1" dirty="0" err="1">
                <a:latin typeface="Arial Narrow" panose="020B0606020202030204" pitchFamily="34" charset="0"/>
              </a:rPr>
              <a:t>D3</a:t>
            </a:r>
            <a:r>
              <a:rPr lang="es-ES" sz="1600" b="1" dirty="0">
                <a:latin typeface="Arial Narrow" panose="020B0606020202030204" pitchFamily="34" charset="0"/>
              </a:rPr>
              <a:t>          </a:t>
            </a:r>
            <a:r>
              <a:rPr lang="es-ES" sz="1600" dirty="0">
                <a:latin typeface="Arial Narrow" panose="020B0606020202030204" pitchFamily="34" charset="0"/>
              </a:rPr>
              <a:t>La producción de turbosina sea  mas de 1000  barriles </a:t>
            </a:r>
          </a:p>
          <a:p>
            <a:r>
              <a:rPr lang="es-ES" sz="1600" b="1" dirty="0" err="1">
                <a:latin typeface="Arial Narrow" panose="020B0606020202030204" pitchFamily="34" charset="0"/>
              </a:rPr>
              <a:t>0,18</a:t>
            </a:r>
            <a:r>
              <a:rPr lang="es-ES" sz="1600" b="1" dirty="0" err="1">
                <a:latin typeface="Arial Narrow" panose="020B0606020202030204" pitchFamily="34" charset="0"/>
                <a:cs typeface="Arial" pitchFamily="34" charset="0"/>
              </a:rPr>
              <a:t>X1</a:t>
            </a:r>
            <a:r>
              <a:rPr lang="es-ES" sz="1600" b="1" dirty="0">
                <a:latin typeface="Arial Narrow" panose="020B0606020202030204" pitchFamily="34" charset="0"/>
                <a:cs typeface="Arial" pitchFamily="34" charset="0"/>
              </a:rPr>
              <a:t>  + </a:t>
            </a:r>
            <a:r>
              <a:rPr lang="es-ES" sz="1600" b="1" dirty="0" err="1">
                <a:latin typeface="Arial Narrow" panose="020B0606020202030204" pitchFamily="34" charset="0"/>
                <a:cs typeface="Arial" pitchFamily="34" charset="0"/>
              </a:rPr>
              <a:t>0,36X2</a:t>
            </a:r>
            <a:r>
              <a:rPr lang="es-ES" sz="1600" b="1" dirty="0">
                <a:latin typeface="Arial Narrow" panose="020B0606020202030204" pitchFamily="34" charset="0"/>
                <a:cs typeface="Arial" pitchFamily="34" charset="0"/>
              </a:rPr>
              <a:t> + </a:t>
            </a:r>
            <a:r>
              <a:rPr lang="es-ES" sz="1600" b="1" dirty="0" err="1">
                <a:latin typeface="Arial Narrow" panose="020B0606020202030204" pitchFamily="34" charset="0"/>
                <a:cs typeface="Arial" pitchFamily="34" charset="0"/>
              </a:rPr>
              <a:t>D3</a:t>
            </a:r>
            <a:r>
              <a:rPr lang="es-ES" sz="1600" b="1" dirty="0">
                <a:latin typeface="Arial Narrow" panose="020B0606020202030204" pitchFamily="34" charset="0"/>
                <a:cs typeface="Arial" pitchFamily="34" charset="0"/>
              </a:rPr>
              <a:t> – </a:t>
            </a:r>
            <a:r>
              <a:rPr lang="es-ES" sz="1600" b="1" dirty="0" err="1">
                <a:latin typeface="Arial Narrow" panose="020B0606020202030204" pitchFamily="34" charset="0"/>
                <a:cs typeface="Arial" pitchFamily="34" charset="0"/>
              </a:rPr>
              <a:t>E3</a:t>
            </a:r>
            <a:r>
              <a:rPr lang="es-ES" sz="1600" b="1" dirty="0">
                <a:latin typeface="Arial Narrow" panose="020B0606020202030204" pitchFamily="34" charset="0"/>
                <a:cs typeface="Arial" pitchFamily="34" charset="0"/>
              </a:rPr>
              <a:t> = 1000      </a:t>
            </a:r>
            <a:r>
              <a:rPr lang="es-ES" sz="1600" b="1" dirty="0">
                <a:solidFill>
                  <a:srgbClr val="7030A0"/>
                </a:solidFill>
                <a:latin typeface="Arial Narrow" panose="020B0606020202030204" pitchFamily="34" charset="0"/>
                <a:cs typeface="Arial" pitchFamily="34" charset="0"/>
              </a:rPr>
              <a:t>Turbosina</a:t>
            </a:r>
          </a:p>
          <a:p>
            <a:r>
              <a:rPr lang="es-ES" sz="1600" b="1" dirty="0">
                <a:solidFill>
                  <a:srgbClr val="0070C0"/>
                </a:solidFill>
                <a:latin typeface="Arial Narrow" panose="020B0606020202030204" pitchFamily="34" charset="0"/>
              </a:rPr>
              <a:t>Meta 4</a:t>
            </a:r>
            <a:r>
              <a:rPr lang="es-ES" sz="1600" b="1" dirty="0">
                <a:latin typeface="Arial Narrow" panose="020B0606020202030204" pitchFamily="34" charset="0"/>
              </a:rPr>
              <a:t>: Min  </a:t>
            </a:r>
            <a:r>
              <a:rPr lang="es-ES" sz="1600" b="1" dirty="0" err="1">
                <a:latin typeface="Arial Narrow" panose="020B0606020202030204" pitchFamily="34" charset="0"/>
              </a:rPr>
              <a:t>E4</a:t>
            </a:r>
            <a:r>
              <a:rPr lang="es-ES" sz="1600" b="1" dirty="0">
                <a:latin typeface="Arial Narrow" panose="020B0606020202030204" pitchFamily="34" charset="0"/>
              </a:rPr>
              <a:t>    </a:t>
            </a:r>
            <a:r>
              <a:rPr lang="es-ES" sz="1600" dirty="0">
                <a:latin typeface="Arial Narrow" panose="020B0606020202030204" pitchFamily="34" charset="0"/>
              </a:rPr>
              <a:t>La producción de queroseno sea a lo más de 500 barriles. </a:t>
            </a:r>
            <a:r>
              <a:rPr lang="es-ES" sz="1600" b="1" dirty="0" err="1">
                <a:latin typeface="Arial Narrow" panose="020B0606020202030204" pitchFamily="34" charset="0"/>
              </a:rPr>
              <a:t>0,3</a:t>
            </a:r>
            <a:r>
              <a:rPr lang="es-ES" sz="1600" b="1" dirty="0" err="1">
                <a:latin typeface="Arial Narrow" panose="020B0606020202030204" pitchFamily="34" charset="0"/>
                <a:cs typeface="Arial" pitchFamily="34" charset="0"/>
              </a:rPr>
              <a:t>X1</a:t>
            </a:r>
            <a:r>
              <a:rPr lang="es-ES" sz="1600" b="1" dirty="0">
                <a:latin typeface="Arial Narrow" panose="020B0606020202030204" pitchFamily="34" charset="0"/>
                <a:cs typeface="Arial" pitchFamily="34" charset="0"/>
              </a:rPr>
              <a:t>  + </a:t>
            </a:r>
            <a:r>
              <a:rPr lang="es-ES" sz="1600" b="1" dirty="0" err="1">
                <a:latin typeface="Arial Narrow" panose="020B0606020202030204" pitchFamily="34" charset="0"/>
                <a:cs typeface="Arial" pitchFamily="34" charset="0"/>
              </a:rPr>
              <a:t>0,2X2</a:t>
            </a:r>
            <a:r>
              <a:rPr lang="es-ES" sz="1600" b="1" dirty="0">
                <a:latin typeface="Arial Narrow" panose="020B0606020202030204" pitchFamily="34" charset="0"/>
                <a:cs typeface="Arial" pitchFamily="34" charset="0"/>
              </a:rPr>
              <a:t>  + </a:t>
            </a:r>
            <a:r>
              <a:rPr lang="es-ES" sz="1600" b="1" dirty="0" err="1">
                <a:latin typeface="Arial Narrow" panose="020B0606020202030204" pitchFamily="34" charset="0"/>
                <a:cs typeface="Arial" pitchFamily="34" charset="0"/>
              </a:rPr>
              <a:t>D4</a:t>
            </a:r>
            <a:r>
              <a:rPr lang="es-ES" sz="1600" b="1" dirty="0">
                <a:latin typeface="Arial Narrow" panose="020B0606020202030204" pitchFamily="34" charset="0"/>
                <a:cs typeface="Arial" pitchFamily="34" charset="0"/>
              </a:rPr>
              <a:t> – </a:t>
            </a:r>
            <a:r>
              <a:rPr lang="es-ES" sz="1600" b="1" dirty="0" err="1">
                <a:latin typeface="Arial Narrow" panose="020B0606020202030204" pitchFamily="34" charset="0"/>
                <a:cs typeface="Arial" pitchFamily="34" charset="0"/>
              </a:rPr>
              <a:t>E4</a:t>
            </a:r>
            <a:r>
              <a:rPr lang="es-ES" sz="1600" b="1" dirty="0">
                <a:latin typeface="Arial Narrow" panose="020B0606020202030204" pitchFamily="34" charset="0"/>
                <a:cs typeface="Arial" pitchFamily="34" charset="0"/>
              </a:rPr>
              <a:t> = 500   	   </a:t>
            </a:r>
            <a:r>
              <a:rPr lang="es-ES" sz="1600" b="1" dirty="0">
                <a:solidFill>
                  <a:srgbClr val="7030A0"/>
                </a:solidFill>
                <a:latin typeface="Arial Narrow" panose="020B0606020202030204" pitchFamily="34" charset="0"/>
                <a:cs typeface="Arial" pitchFamily="34" charset="0"/>
              </a:rPr>
              <a:t>Queroseno</a:t>
            </a:r>
          </a:p>
        </p:txBody>
      </p:sp>
      <p:cxnSp>
        <p:nvCxnSpPr>
          <p:cNvPr id="2" name="Conector: angular 1">
            <a:extLst>
              <a:ext uri="{FF2B5EF4-FFF2-40B4-BE49-F238E27FC236}">
                <a16:creationId xmlns:a16="http://schemas.microsoft.com/office/drawing/2014/main" id="{712660C4-E21F-2BBC-08D6-1A06B6C02929}"/>
              </a:ext>
            </a:extLst>
          </p:cNvPr>
          <p:cNvCxnSpPr>
            <a:cxnSpLocks/>
          </p:cNvCxnSpPr>
          <p:nvPr/>
        </p:nvCxnSpPr>
        <p:spPr>
          <a:xfrm rot="5400000">
            <a:off x="4466439" y="4193238"/>
            <a:ext cx="1967163" cy="1612221"/>
          </a:xfrm>
          <a:prstGeom prst="bentConnector3">
            <a:avLst>
              <a:gd name="adj1" fmla="val 100153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6093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  <p:bldP spid="11" grpId="0"/>
      <p:bldP spid="12" grpId="0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F2B2C94C-C342-4831-BEF5-E52E25881258}"/>
              </a:ext>
            </a:extLst>
          </p:cNvPr>
          <p:cNvSpPr/>
          <p:nvPr/>
        </p:nvSpPr>
        <p:spPr>
          <a:xfrm>
            <a:off x="899700" y="406541"/>
            <a:ext cx="50007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dirty="0"/>
              <a:t>https://</a:t>
            </a:r>
            <a:r>
              <a:rPr lang="es-PE" dirty="0" err="1"/>
              <a:t>www.youtube.com</a:t>
            </a:r>
            <a:r>
              <a:rPr lang="es-PE" dirty="0"/>
              <a:t>/</a:t>
            </a:r>
            <a:r>
              <a:rPr lang="es-PE" dirty="0" err="1"/>
              <a:t>watch?v</a:t>
            </a:r>
            <a:r>
              <a:rPr lang="es-PE" dirty="0"/>
              <a:t>=</a:t>
            </a:r>
            <a:r>
              <a:rPr lang="es-PE" dirty="0" err="1"/>
              <a:t>0jXUyYamkHQ</a:t>
            </a:r>
            <a:endParaRPr lang="es-PE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3F7B1E3-606D-460D-A3F9-41696BA4DB6E}"/>
              </a:ext>
            </a:extLst>
          </p:cNvPr>
          <p:cNvSpPr/>
          <p:nvPr/>
        </p:nvSpPr>
        <p:spPr>
          <a:xfrm>
            <a:off x="6096000" y="3986847"/>
            <a:ext cx="317937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sz="1400" dirty="0">
                <a:latin typeface="Arial Narrow" panose="020B0606020202030204" pitchFamily="34" charset="0"/>
              </a:rPr>
              <a:t> NO HAY SOLUCIÓN EN LA META 3.</a:t>
            </a:r>
          </a:p>
          <a:p>
            <a:endParaRPr lang="es-PE" sz="1400" dirty="0">
              <a:latin typeface="Arial Narrow" panose="020B0606020202030204" pitchFamily="34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02D13F1-0663-4C8F-82ED-FF472C617C08}"/>
              </a:ext>
            </a:extLst>
          </p:cNvPr>
          <p:cNvSpPr/>
          <p:nvPr/>
        </p:nvSpPr>
        <p:spPr>
          <a:xfrm>
            <a:off x="1199071" y="1332801"/>
            <a:ext cx="4115589" cy="2585323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s-PE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</a:t>
            </a:r>
            <a:r>
              <a:rPr lang="es-PE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PE" b="1" dirty="0" err="1">
                <a:latin typeface="Arial" panose="020B0604020202020204" pitchFamily="34" charset="0"/>
                <a:cs typeface="Arial" panose="020B0604020202020204" pitchFamily="34" charset="0"/>
              </a:rPr>
              <a:t>D3</a:t>
            </a:r>
            <a:endParaRPr lang="es-PE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PE" b="1" dirty="0" err="1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endParaRPr lang="es-PE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b="1" dirty="0" err="1">
                <a:latin typeface="Arial Narrow" panose="020B0606020202030204" pitchFamily="34" charset="0"/>
                <a:cs typeface="Arial" pitchFamily="34" charset="0"/>
              </a:rPr>
              <a:t>114X1+94X2</a:t>
            </a:r>
            <a:r>
              <a:rPr lang="es-ES" b="1" dirty="0">
                <a:latin typeface="Arial Narrow" panose="020B0606020202030204" pitchFamily="34" charset="0"/>
                <a:cs typeface="Arial" pitchFamily="34" charset="0"/>
              </a:rPr>
              <a:t> + </a:t>
            </a:r>
            <a:r>
              <a:rPr lang="es-ES" b="1" dirty="0" err="1">
                <a:latin typeface="Arial Narrow" panose="020B0606020202030204" pitchFamily="34" charset="0"/>
                <a:cs typeface="Arial" pitchFamily="34" charset="0"/>
              </a:rPr>
              <a:t>D1</a:t>
            </a:r>
            <a:r>
              <a:rPr lang="es-ES" b="1" dirty="0">
                <a:latin typeface="Arial Narrow" panose="020B0606020202030204" pitchFamily="34" charset="0"/>
                <a:cs typeface="Arial" pitchFamily="34" charset="0"/>
              </a:rPr>
              <a:t> – </a:t>
            </a:r>
            <a:r>
              <a:rPr lang="es-ES" b="1" dirty="0" err="1">
                <a:latin typeface="Arial Narrow" panose="020B0606020202030204" pitchFamily="34" charset="0"/>
                <a:cs typeface="Arial" pitchFamily="34" charset="0"/>
              </a:rPr>
              <a:t>E1</a:t>
            </a:r>
            <a:r>
              <a:rPr lang="es-ES" b="1" dirty="0">
                <a:latin typeface="Arial Narrow" panose="020B0606020202030204" pitchFamily="34" charset="0"/>
                <a:cs typeface="Arial" pitchFamily="34" charset="0"/>
              </a:rPr>
              <a:t> = 80000</a:t>
            </a:r>
            <a:endParaRPr lang="es-ES" b="1" dirty="0">
              <a:latin typeface="Calibri" pitchFamily="34" charset="0"/>
              <a:cs typeface="Arial" pitchFamily="34" charset="0"/>
            </a:endParaRPr>
          </a:p>
          <a:p>
            <a:r>
              <a:rPr lang="es-ES" b="1" dirty="0" err="1">
                <a:latin typeface="Calibri" pitchFamily="34" charset="0"/>
                <a:cs typeface="Arial" pitchFamily="34" charset="0"/>
              </a:rPr>
              <a:t>E1</a:t>
            </a:r>
            <a:r>
              <a:rPr lang="es-ES" b="1" dirty="0">
                <a:latin typeface="Calibri" pitchFamily="34" charset="0"/>
                <a:cs typeface="Arial" pitchFamily="34" charset="0"/>
              </a:rPr>
              <a:t>=0</a:t>
            </a:r>
          </a:p>
          <a:p>
            <a:r>
              <a:rPr lang="es-ES" b="1" dirty="0" err="1">
                <a:latin typeface="Arial Narrow" panose="020B0606020202030204" pitchFamily="34" charset="0"/>
              </a:rPr>
              <a:t>0,45</a:t>
            </a:r>
            <a:r>
              <a:rPr lang="es-ES" b="1" dirty="0" err="1">
                <a:latin typeface="Arial Narrow" panose="020B0606020202030204" pitchFamily="34" charset="0"/>
                <a:cs typeface="Arial" pitchFamily="34" charset="0"/>
              </a:rPr>
              <a:t>X1</a:t>
            </a:r>
            <a:r>
              <a:rPr lang="es-ES" b="1" dirty="0">
                <a:latin typeface="Arial Narrow" panose="020B0606020202030204" pitchFamily="34" charset="0"/>
                <a:cs typeface="Arial" pitchFamily="34" charset="0"/>
              </a:rPr>
              <a:t> + </a:t>
            </a:r>
            <a:r>
              <a:rPr lang="es-ES" b="1" dirty="0" err="1">
                <a:latin typeface="Arial Narrow" panose="020B0606020202030204" pitchFamily="34" charset="0"/>
                <a:cs typeface="Arial" pitchFamily="34" charset="0"/>
              </a:rPr>
              <a:t>0,35X2</a:t>
            </a:r>
            <a:r>
              <a:rPr lang="es-ES" b="1" dirty="0">
                <a:latin typeface="Arial Narrow" panose="020B0606020202030204" pitchFamily="34" charset="0"/>
                <a:cs typeface="Arial" pitchFamily="34" charset="0"/>
              </a:rPr>
              <a:t> + </a:t>
            </a:r>
            <a:r>
              <a:rPr lang="es-ES" b="1" dirty="0" err="1">
                <a:latin typeface="Arial Narrow" panose="020B0606020202030204" pitchFamily="34" charset="0"/>
                <a:cs typeface="Arial" pitchFamily="34" charset="0"/>
              </a:rPr>
              <a:t>D2</a:t>
            </a:r>
            <a:r>
              <a:rPr lang="es-ES" b="1" dirty="0">
                <a:latin typeface="Arial Narrow" panose="020B0606020202030204" pitchFamily="34" charset="0"/>
                <a:cs typeface="Arial" pitchFamily="34" charset="0"/>
              </a:rPr>
              <a:t> – </a:t>
            </a:r>
            <a:r>
              <a:rPr lang="es-ES" b="1" dirty="0" err="1">
                <a:latin typeface="Arial Narrow" panose="020B0606020202030204" pitchFamily="34" charset="0"/>
                <a:cs typeface="Arial" pitchFamily="34" charset="0"/>
              </a:rPr>
              <a:t>E2</a:t>
            </a:r>
            <a:r>
              <a:rPr lang="es-ES" b="1" dirty="0">
                <a:latin typeface="Arial Narrow" panose="020B0606020202030204" pitchFamily="34" charset="0"/>
                <a:cs typeface="Arial" pitchFamily="34" charset="0"/>
              </a:rPr>
              <a:t> = 1260 </a:t>
            </a:r>
          </a:p>
          <a:p>
            <a:r>
              <a:rPr lang="en-US" dirty="0" err="1">
                <a:latin typeface="Arial Narrow" panose="020B0606020202030204" pitchFamily="34" charset="0"/>
              </a:rPr>
              <a:t>D2</a:t>
            </a:r>
            <a:r>
              <a:rPr lang="en-US" dirty="0">
                <a:latin typeface="Arial Narrow" panose="020B0606020202030204" pitchFamily="34" charset="0"/>
              </a:rPr>
              <a:t>= 944.210510</a:t>
            </a:r>
          </a:p>
          <a:p>
            <a:r>
              <a:rPr lang="en-US" dirty="0" err="1">
                <a:latin typeface="Arial Narrow" panose="020B0606020202030204" pitchFamily="34" charset="0"/>
              </a:rPr>
              <a:t>E2</a:t>
            </a:r>
            <a:r>
              <a:rPr lang="en-US" dirty="0">
                <a:latin typeface="Arial Narrow" panose="020B0606020202030204" pitchFamily="34" charset="0"/>
              </a:rPr>
              <a:t>=0 </a:t>
            </a:r>
          </a:p>
          <a:p>
            <a:r>
              <a:rPr lang="es-ES" b="1" dirty="0" err="1">
                <a:latin typeface="Arial Narrow" panose="020B0606020202030204" pitchFamily="34" charset="0"/>
              </a:rPr>
              <a:t>0,18</a:t>
            </a:r>
            <a:r>
              <a:rPr lang="es-ES" b="1" dirty="0" err="1">
                <a:latin typeface="Arial Narrow" panose="020B0606020202030204" pitchFamily="34" charset="0"/>
                <a:cs typeface="Arial" pitchFamily="34" charset="0"/>
              </a:rPr>
              <a:t>X1</a:t>
            </a:r>
            <a:r>
              <a:rPr lang="es-ES" b="1" dirty="0">
                <a:latin typeface="Arial Narrow" panose="020B0606020202030204" pitchFamily="34" charset="0"/>
                <a:cs typeface="Arial" pitchFamily="34" charset="0"/>
              </a:rPr>
              <a:t>  + </a:t>
            </a:r>
            <a:r>
              <a:rPr lang="es-ES" b="1" dirty="0" err="1">
                <a:latin typeface="Arial Narrow" panose="020B0606020202030204" pitchFamily="34" charset="0"/>
                <a:cs typeface="Arial" pitchFamily="34" charset="0"/>
              </a:rPr>
              <a:t>0,36X2</a:t>
            </a:r>
            <a:r>
              <a:rPr lang="es-ES" b="1" dirty="0">
                <a:latin typeface="Arial Narrow" panose="020B0606020202030204" pitchFamily="34" charset="0"/>
                <a:cs typeface="Arial" pitchFamily="34" charset="0"/>
              </a:rPr>
              <a:t> + </a:t>
            </a:r>
            <a:r>
              <a:rPr lang="es-ES" b="1" dirty="0" err="1">
                <a:latin typeface="Arial Narrow" panose="020B0606020202030204" pitchFamily="34" charset="0"/>
                <a:cs typeface="Arial" pitchFamily="34" charset="0"/>
              </a:rPr>
              <a:t>D3</a:t>
            </a:r>
            <a:r>
              <a:rPr lang="es-ES" b="1" dirty="0">
                <a:latin typeface="Arial Narrow" panose="020B0606020202030204" pitchFamily="34" charset="0"/>
                <a:cs typeface="Arial" pitchFamily="34" charset="0"/>
              </a:rPr>
              <a:t> – </a:t>
            </a:r>
            <a:r>
              <a:rPr lang="es-ES" b="1" dirty="0" err="1">
                <a:latin typeface="Arial Narrow" panose="020B0606020202030204" pitchFamily="34" charset="0"/>
                <a:cs typeface="Arial" pitchFamily="34" charset="0"/>
              </a:rPr>
              <a:t>E3</a:t>
            </a:r>
            <a:r>
              <a:rPr lang="es-ES" b="1" dirty="0">
                <a:latin typeface="Arial Narrow" panose="020B0606020202030204" pitchFamily="34" charset="0"/>
                <a:cs typeface="Arial" pitchFamily="34" charset="0"/>
              </a:rPr>
              <a:t> = 1000</a:t>
            </a:r>
            <a:endParaRPr lang="en-US" dirty="0">
              <a:latin typeface="Arial Narrow" panose="020B0606020202030204" pitchFamily="34" charset="0"/>
            </a:endParaRPr>
          </a:p>
          <a:p>
            <a:r>
              <a:rPr lang="es-PE" b="1" dirty="0" err="1"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  <a:endParaRPr lang="es-PE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F61EBED-35D9-401B-807E-19FA05A77EFA}"/>
              </a:ext>
            </a:extLst>
          </p:cNvPr>
          <p:cNvSpPr txBox="1"/>
          <p:nvPr/>
        </p:nvSpPr>
        <p:spPr>
          <a:xfrm>
            <a:off x="247292" y="2197106"/>
            <a:ext cx="10121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FF0000"/>
                </a:solidFill>
              </a:rPr>
              <a:t>META 3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B96ECA1-7B6F-4F24-BCC6-34D176C10C37}"/>
              </a:ext>
            </a:extLst>
          </p:cNvPr>
          <p:cNvSpPr txBox="1"/>
          <p:nvPr/>
        </p:nvSpPr>
        <p:spPr>
          <a:xfrm>
            <a:off x="244416" y="4652759"/>
            <a:ext cx="10121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FF0000"/>
                </a:solidFill>
              </a:rPr>
              <a:t>META 4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1D2A7AC4-C27F-4F81-951B-5CE7B878D591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0" y="274634"/>
            <a:ext cx="6096000" cy="5818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base">
              <a:spcAft>
                <a:spcPct val="0"/>
              </a:spcAft>
            </a:pPr>
            <a:r>
              <a:rPr lang="es-ES" sz="3200" dirty="0">
                <a:solidFill>
                  <a:schemeClr val="bg1"/>
                </a:solidFill>
                <a:latin typeface="Bauhaus 93" pitchFamily="82" charset="0"/>
                <a:ea typeface="+mn-ea"/>
                <a:cs typeface="+mn-cs"/>
              </a:rPr>
              <a:t>Problema 6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93361BA-4AED-4FC1-A6B8-7A44A33FAB20}"/>
              </a:ext>
            </a:extLst>
          </p:cNvPr>
          <p:cNvSpPr/>
          <p:nvPr/>
        </p:nvSpPr>
        <p:spPr>
          <a:xfrm>
            <a:off x="1222081" y="3986847"/>
            <a:ext cx="4115589" cy="286232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s-PE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</a:t>
            </a:r>
            <a:r>
              <a:rPr lang="es-PE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PE" b="1" dirty="0" err="1">
                <a:latin typeface="Arial" panose="020B0604020202020204" pitchFamily="34" charset="0"/>
                <a:cs typeface="Arial" panose="020B0604020202020204" pitchFamily="34" charset="0"/>
              </a:rPr>
              <a:t>E4</a:t>
            </a:r>
            <a:endParaRPr lang="es-PE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PE" b="1" dirty="0" err="1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endParaRPr lang="es-PE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b="1" dirty="0" err="1">
                <a:latin typeface="Arial Narrow" panose="020B0606020202030204" pitchFamily="34" charset="0"/>
                <a:cs typeface="Arial" pitchFamily="34" charset="0"/>
              </a:rPr>
              <a:t>114X1+94X2</a:t>
            </a:r>
            <a:r>
              <a:rPr lang="es-ES" b="1" dirty="0">
                <a:latin typeface="Arial Narrow" panose="020B0606020202030204" pitchFamily="34" charset="0"/>
                <a:cs typeface="Arial" pitchFamily="34" charset="0"/>
              </a:rPr>
              <a:t> + </a:t>
            </a:r>
            <a:r>
              <a:rPr lang="es-ES" b="1" dirty="0" err="1">
                <a:latin typeface="Arial Narrow" panose="020B0606020202030204" pitchFamily="34" charset="0"/>
                <a:cs typeface="Arial" pitchFamily="34" charset="0"/>
              </a:rPr>
              <a:t>D1</a:t>
            </a:r>
            <a:r>
              <a:rPr lang="es-ES" b="1" dirty="0">
                <a:latin typeface="Arial Narrow" panose="020B0606020202030204" pitchFamily="34" charset="0"/>
                <a:cs typeface="Arial" pitchFamily="34" charset="0"/>
              </a:rPr>
              <a:t> – </a:t>
            </a:r>
            <a:r>
              <a:rPr lang="es-ES" b="1" dirty="0" err="1">
                <a:latin typeface="Arial Narrow" panose="020B0606020202030204" pitchFamily="34" charset="0"/>
                <a:cs typeface="Arial" pitchFamily="34" charset="0"/>
              </a:rPr>
              <a:t>E1</a:t>
            </a:r>
            <a:r>
              <a:rPr lang="es-ES" b="1" dirty="0">
                <a:latin typeface="Arial Narrow" panose="020B0606020202030204" pitchFamily="34" charset="0"/>
                <a:cs typeface="Arial" pitchFamily="34" charset="0"/>
              </a:rPr>
              <a:t> = 80000</a:t>
            </a:r>
            <a:endParaRPr lang="es-ES" b="1" dirty="0">
              <a:latin typeface="Calibri" pitchFamily="34" charset="0"/>
              <a:cs typeface="Arial" pitchFamily="34" charset="0"/>
            </a:endParaRPr>
          </a:p>
          <a:p>
            <a:r>
              <a:rPr lang="es-ES" b="1" dirty="0" err="1">
                <a:latin typeface="Calibri" pitchFamily="34" charset="0"/>
                <a:cs typeface="Arial" pitchFamily="34" charset="0"/>
              </a:rPr>
              <a:t>E1</a:t>
            </a:r>
            <a:r>
              <a:rPr lang="es-ES" b="1" dirty="0">
                <a:latin typeface="Calibri" pitchFamily="34" charset="0"/>
                <a:cs typeface="Arial" pitchFamily="34" charset="0"/>
              </a:rPr>
              <a:t>=0</a:t>
            </a:r>
          </a:p>
          <a:p>
            <a:r>
              <a:rPr lang="es-ES" b="1" dirty="0" err="1">
                <a:latin typeface="Arial Narrow" panose="020B0606020202030204" pitchFamily="34" charset="0"/>
              </a:rPr>
              <a:t>0,45</a:t>
            </a:r>
            <a:r>
              <a:rPr lang="es-ES" b="1" dirty="0" err="1">
                <a:latin typeface="Arial Narrow" panose="020B0606020202030204" pitchFamily="34" charset="0"/>
                <a:cs typeface="Arial" pitchFamily="34" charset="0"/>
              </a:rPr>
              <a:t>X1</a:t>
            </a:r>
            <a:r>
              <a:rPr lang="es-ES" b="1" dirty="0">
                <a:latin typeface="Arial Narrow" panose="020B0606020202030204" pitchFamily="34" charset="0"/>
                <a:cs typeface="Arial" pitchFamily="34" charset="0"/>
              </a:rPr>
              <a:t> + </a:t>
            </a:r>
            <a:r>
              <a:rPr lang="es-ES" b="1" dirty="0" err="1">
                <a:latin typeface="Arial Narrow" panose="020B0606020202030204" pitchFamily="34" charset="0"/>
                <a:cs typeface="Arial" pitchFamily="34" charset="0"/>
              </a:rPr>
              <a:t>0,35X2</a:t>
            </a:r>
            <a:r>
              <a:rPr lang="es-ES" b="1" dirty="0">
                <a:latin typeface="Arial Narrow" panose="020B0606020202030204" pitchFamily="34" charset="0"/>
                <a:cs typeface="Arial" pitchFamily="34" charset="0"/>
              </a:rPr>
              <a:t> + </a:t>
            </a:r>
            <a:r>
              <a:rPr lang="es-ES" b="1" dirty="0" err="1">
                <a:latin typeface="Arial Narrow" panose="020B0606020202030204" pitchFamily="34" charset="0"/>
                <a:cs typeface="Arial" pitchFamily="34" charset="0"/>
              </a:rPr>
              <a:t>D2</a:t>
            </a:r>
            <a:r>
              <a:rPr lang="es-ES" b="1" dirty="0">
                <a:latin typeface="Arial Narrow" panose="020B0606020202030204" pitchFamily="34" charset="0"/>
                <a:cs typeface="Arial" pitchFamily="34" charset="0"/>
              </a:rPr>
              <a:t> – </a:t>
            </a:r>
            <a:r>
              <a:rPr lang="es-ES" b="1" dirty="0" err="1">
                <a:latin typeface="Arial Narrow" panose="020B0606020202030204" pitchFamily="34" charset="0"/>
                <a:cs typeface="Arial" pitchFamily="34" charset="0"/>
              </a:rPr>
              <a:t>E2</a:t>
            </a:r>
            <a:r>
              <a:rPr lang="es-ES" b="1" dirty="0">
                <a:latin typeface="Arial Narrow" panose="020B0606020202030204" pitchFamily="34" charset="0"/>
                <a:cs typeface="Arial" pitchFamily="34" charset="0"/>
              </a:rPr>
              <a:t> = 1260 </a:t>
            </a:r>
          </a:p>
          <a:p>
            <a:r>
              <a:rPr lang="en-US" dirty="0" err="1">
                <a:latin typeface="Arial Narrow" panose="020B0606020202030204" pitchFamily="34" charset="0"/>
              </a:rPr>
              <a:t>D2</a:t>
            </a:r>
            <a:r>
              <a:rPr lang="en-US" dirty="0">
                <a:latin typeface="Arial Narrow" panose="020B0606020202030204" pitchFamily="34" charset="0"/>
              </a:rPr>
              <a:t>= 944.210510</a:t>
            </a:r>
          </a:p>
          <a:p>
            <a:r>
              <a:rPr lang="en-US" dirty="0" err="1">
                <a:latin typeface="Arial Narrow" panose="020B0606020202030204" pitchFamily="34" charset="0"/>
              </a:rPr>
              <a:t>E2</a:t>
            </a:r>
            <a:r>
              <a:rPr lang="en-US" dirty="0">
                <a:latin typeface="Arial Narrow" panose="020B0606020202030204" pitchFamily="34" charset="0"/>
              </a:rPr>
              <a:t>=0 </a:t>
            </a:r>
          </a:p>
          <a:p>
            <a:r>
              <a:rPr lang="es-ES" b="1" dirty="0" err="1">
                <a:latin typeface="Arial Narrow" panose="020B0606020202030204" pitchFamily="34" charset="0"/>
              </a:rPr>
              <a:t>0,18</a:t>
            </a:r>
            <a:r>
              <a:rPr lang="es-ES" b="1" dirty="0" err="1">
                <a:latin typeface="Arial Narrow" panose="020B0606020202030204" pitchFamily="34" charset="0"/>
                <a:cs typeface="Arial" pitchFamily="34" charset="0"/>
              </a:rPr>
              <a:t>X1</a:t>
            </a:r>
            <a:r>
              <a:rPr lang="es-ES" b="1" dirty="0">
                <a:latin typeface="Arial Narrow" panose="020B0606020202030204" pitchFamily="34" charset="0"/>
                <a:cs typeface="Arial" pitchFamily="34" charset="0"/>
              </a:rPr>
              <a:t>  + </a:t>
            </a:r>
            <a:r>
              <a:rPr lang="es-ES" b="1" dirty="0" err="1">
                <a:latin typeface="Arial Narrow" panose="020B0606020202030204" pitchFamily="34" charset="0"/>
                <a:cs typeface="Arial" pitchFamily="34" charset="0"/>
              </a:rPr>
              <a:t>0,36X2</a:t>
            </a:r>
            <a:r>
              <a:rPr lang="es-ES" b="1" dirty="0">
                <a:latin typeface="Arial Narrow" panose="020B0606020202030204" pitchFamily="34" charset="0"/>
                <a:cs typeface="Arial" pitchFamily="34" charset="0"/>
              </a:rPr>
              <a:t> + </a:t>
            </a:r>
            <a:r>
              <a:rPr lang="es-ES" b="1" dirty="0" err="1">
                <a:latin typeface="Arial Narrow" panose="020B0606020202030204" pitchFamily="34" charset="0"/>
                <a:cs typeface="Arial" pitchFamily="34" charset="0"/>
              </a:rPr>
              <a:t>D3</a:t>
            </a:r>
            <a:r>
              <a:rPr lang="es-ES" b="1" dirty="0">
                <a:latin typeface="Arial Narrow" panose="020B0606020202030204" pitchFamily="34" charset="0"/>
                <a:cs typeface="Arial" pitchFamily="34" charset="0"/>
              </a:rPr>
              <a:t> – </a:t>
            </a:r>
            <a:r>
              <a:rPr lang="es-ES" b="1" dirty="0" err="1">
                <a:latin typeface="Arial Narrow" panose="020B0606020202030204" pitchFamily="34" charset="0"/>
                <a:cs typeface="Arial" pitchFamily="34" charset="0"/>
              </a:rPr>
              <a:t>E3</a:t>
            </a:r>
            <a:r>
              <a:rPr lang="es-ES" b="1" dirty="0">
                <a:latin typeface="Arial Narrow" panose="020B0606020202030204" pitchFamily="34" charset="0"/>
                <a:cs typeface="Arial" pitchFamily="34" charset="0"/>
              </a:rPr>
              <a:t> = 1000</a:t>
            </a:r>
          </a:p>
          <a:p>
            <a:r>
              <a:rPr lang="es-ES" b="1" dirty="0" err="1">
                <a:latin typeface="Arial Narrow" panose="020B0606020202030204" pitchFamily="34" charset="0"/>
              </a:rPr>
              <a:t>0,3</a:t>
            </a:r>
            <a:r>
              <a:rPr lang="es-ES" b="1" dirty="0" err="1">
                <a:latin typeface="Arial Narrow" panose="020B0606020202030204" pitchFamily="34" charset="0"/>
                <a:cs typeface="Arial" pitchFamily="34" charset="0"/>
              </a:rPr>
              <a:t>X1</a:t>
            </a:r>
            <a:r>
              <a:rPr lang="es-ES" b="1" dirty="0">
                <a:latin typeface="Arial Narrow" panose="020B0606020202030204" pitchFamily="34" charset="0"/>
                <a:cs typeface="Arial" pitchFamily="34" charset="0"/>
              </a:rPr>
              <a:t>  + </a:t>
            </a:r>
            <a:r>
              <a:rPr lang="es-ES" b="1" dirty="0" err="1">
                <a:latin typeface="Arial Narrow" panose="020B0606020202030204" pitchFamily="34" charset="0"/>
                <a:cs typeface="Arial" pitchFamily="34" charset="0"/>
              </a:rPr>
              <a:t>0,2X2</a:t>
            </a:r>
            <a:r>
              <a:rPr lang="es-ES" b="1" dirty="0">
                <a:latin typeface="Arial Narrow" panose="020B0606020202030204" pitchFamily="34" charset="0"/>
                <a:cs typeface="Arial" pitchFamily="34" charset="0"/>
              </a:rPr>
              <a:t>  + </a:t>
            </a:r>
            <a:r>
              <a:rPr lang="es-ES" b="1" dirty="0" err="1">
                <a:latin typeface="Arial Narrow" panose="020B0606020202030204" pitchFamily="34" charset="0"/>
                <a:cs typeface="Arial" pitchFamily="34" charset="0"/>
              </a:rPr>
              <a:t>D4</a:t>
            </a:r>
            <a:r>
              <a:rPr lang="es-ES" b="1" dirty="0">
                <a:latin typeface="Arial Narrow" panose="020B0606020202030204" pitchFamily="34" charset="0"/>
                <a:cs typeface="Arial" pitchFamily="34" charset="0"/>
              </a:rPr>
              <a:t> – </a:t>
            </a:r>
            <a:r>
              <a:rPr lang="es-ES" b="1" dirty="0" err="1">
                <a:latin typeface="Arial Narrow" panose="020B0606020202030204" pitchFamily="34" charset="0"/>
                <a:cs typeface="Arial" pitchFamily="34" charset="0"/>
              </a:rPr>
              <a:t>E4</a:t>
            </a:r>
            <a:r>
              <a:rPr lang="es-ES" b="1" dirty="0">
                <a:latin typeface="Arial Narrow" panose="020B0606020202030204" pitchFamily="34" charset="0"/>
                <a:cs typeface="Arial" pitchFamily="34" charset="0"/>
              </a:rPr>
              <a:t> = 500</a:t>
            </a:r>
            <a:endParaRPr lang="en-US" dirty="0">
              <a:latin typeface="Arial Narrow" panose="020B0606020202030204" pitchFamily="34" charset="0"/>
            </a:endParaRPr>
          </a:p>
          <a:p>
            <a:r>
              <a:rPr lang="es-PE" b="1" dirty="0" err="1"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  <a:endParaRPr lang="es-PE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689597E9-A3EA-4A59-8C0D-159DCEE25EBE}"/>
              </a:ext>
            </a:extLst>
          </p:cNvPr>
          <p:cNvSpPr/>
          <p:nvPr/>
        </p:nvSpPr>
        <p:spPr>
          <a:xfrm>
            <a:off x="6095999" y="4591204"/>
            <a:ext cx="317937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sz="1400" dirty="0">
                <a:latin typeface="Arial Narrow" panose="020B0606020202030204" pitchFamily="34" charset="0"/>
              </a:rPr>
              <a:t> NO HAY SOLUCIÓN EN LA META 4.</a:t>
            </a:r>
          </a:p>
          <a:p>
            <a:endParaRPr lang="es-PE" sz="1400" dirty="0">
              <a:latin typeface="Arial Narrow" panose="020B060602020203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B708106-81F9-F277-42BE-DB79618DA422}"/>
              </a:ext>
            </a:extLst>
          </p:cNvPr>
          <p:cNvSpPr txBox="1"/>
          <p:nvPr/>
        </p:nvSpPr>
        <p:spPr>
          <a:xfrm>
            <a:off x="6097793" y="1203965"/>
            <a:ext cx="58515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0000"/>
                </a:solidFill>
                <a:latin typeface="Arial Narrow" panose="020B0606020202030204" pitchFamily="34" charset="0"/>
              </a:rPr>
              <a:t>3. RESTRICCIONES META:</a:t>
            </a:r>
          </a:p>
          <a:p>
            <a:r>
              <a:rPr lang="es-ES" sz="1600" b="1" dirty="0">
                <a:solidFill>
                  <a:srgbClr val="0070C0"/>
                </a:solidFill>
                <a:latin typeface="Arial Narrow" panose="020B0606020202030204" pitchFamily="34" charset="0"/>
              </a:rPr>
              <a:t>Meta 1</a:t>
            </a:r>
            <a:r>
              <a:rPr lang="es-ES" sz="1600" b="1" dirty="0">
                <a:latin typeface="Arial Narrow" panose="020B0606020202030204" pitchFamily="34" charset="0"/>
              </a:rPr>
              <a:t>: Min  </a:t>
            </a:r>
            <a:r>
              <a:rPr lang="es-ES" sz="1600" b="1" dirty="0" err="1">
                <a:latin typeface="Arial Narrow" panose="020B0606020202030204" pitchFamily="34" charset="0"/>
              </a:rPr>
              <a:t>E1</a:t>
            </a:r>
            <a:r>
              <a:rPr lang="es-ES" sz="1600" b="1" dirty="0">
                <a:latin typeface="Arial Narrow" panose="020B0606020202030204" pitchFamily="34" charset="0"/>
              </a:rPr>
              <a:t>	</a:t>
            </a:r>
            <a:r>
              <a:rPr lang="es-ES" sz="1600" b="1" dirty="0">
                <a:latin typeface="Arial Narrow" panose="020B0606020202030204" pitchFamily="34" charset="0"/>
                <a:ea typeface="Calibri" panose="020F0502020204030204" pitchFamily="34" charset="0"/>
              </a:rPr>
              <a:t> </a:t>
            </a:r>
            <a:r>
              <a:rPr lang="es-ES" sz="1600" dirty="0">
                <a:latin typeface="Arial Narrow" panose="020B0606020202030204" pitchFamily="34" charset="0"/>
                <a:ea typeface="Calibri" panose="020F0502020204030204" pitchFamily="34" charset="0"/>
              </a:rPr>
              <a:t>E</a:t>
            </a:r>
            <a:r>
              <a:rPr lang="es-ES" sz="1600" dirty="0">
                <a:latin typeface="Arial Narrow" panose="020B0606020202030204" pitchFamily="34" charset="0"/>
              </a:rPr>
              <a:t>l costo total no supere los 80000 dólares </a:t>
            </a:r>
            <a:endParaRPr lang="es-PE" sz="1600" dirty="0">
              <a:latin typeface="Arial Narrow" panose="020B0606020202030204" pitchFamily="34" charset="0"/>
            </a:endParaRPr>
          </a:p>
          <a:p>
            <a:r>
              <a:rPr lang="es-ES" sz="1600" b="1" dirty="0">
                <a:latin typeface="Arial Narrow" panose="020B0606020202030204" pitchFamily="34" charset="0"/>
                <a:cs typeface="Arial" pitchFamily="34" charset="0"/>
              </a:rPr>
              <a:t> </a:t>
            </a:r>
            <a:r>
              <a:rPr lang="es-ES" sz="1600" b="1" dirty="0" err="1">
                <a:latin typeface="Arial Narrow" panose="020B0606020202030204" pitchFamily="34" charset="0"/>
                <a:cs typeface="Arial" pitchFamily="34" charset="0"/>
              </a:rPr>
              <a:t>114X1+94X2</a:t>
            </a:r>
            <a:r>
              <a:rPr lang="es-ES" sz="1600" b="1" dirty="0">
                <a:latin typeface="Arial Narrow" panose="020B0606020202030204" pitchFamily="34" charset="0"/>
                <a:cs typeface="Arial" pitchFamily="34" charset="0"/>
              </a:rPr>
              <a:t> + </a:t>
            </a:r>
            <a:r>
              <a:rPr lang="es-ES" sz="1600" b="1" dirty="0" err="1">
                <a:latin typeface="Arial Narrow" panose="020B0606020202030204" pitchFamily="34" charset="0"/>
                <a:cs typeface="Arial" pitchFamily="34" charset="0"/>
              </a:rPr>
              <a:t>D1</a:t>
            </a:r>
            <a:r>
              <a:rPr lang="es-ES" sz="1600" b="1" dirty="0">
                <a:latin typeface="Arial Narrow" panose="020B0606020202030204" pitchFamily="34" charset="0"/>
                <a:cs typeface="Arial" pitchFamily="34" charset="0"/>
              </a:rPr>
              <a:t> – </a:t>
            </a:r>
            <a:r>
              <a:rPr lang="es-ES" sz="1600" b="1" dirty="0" err="1">
                <a:latin typeface="Arial Narrow" panose="020B0606020202030204" pitchFamily="34" charset="0"/>
                <a:cs typeface="Arial" pitchFamily="34" charset="0"/>
              </a:rPr>
              <a:t>E1</a:t>
            </a:r>
            <a:r>
              <a:rPr lang="es-ES" sz="1600" b="1" dirty="0">
                <a:latin typeface="Arial Narrow" panose="020B0606020202030204" pitchFamily="34" charset="0"/>
                <a:cs typeface="Arial" pitchFamily="34" charset="0"/>
              </a:rPr>
              <a:t> = 80000      </a:t>
            </a:r>
            <a:r>
              <a:rPr lang="es-ES" sz="1600" dirty="0">
                <a:latin typeface="Arial Narrow" panose="020B0606020202030204" pitchFamily="34" charset="0"/>
                <a:cs typeface="Arial" pitchFamily="34" charset="0"/>
              </a:rPr>
              <a:t>    </a:t>
            </a:r>
            <a:r>
              <a:rPr lang="es-ES" sz="1600" b="1" dirty="0">
                <a:latin typeface="Arial Narrow" panose="020B0606020202030204" pitchFamily="34" charset="0"/>
                <a:cs typeface="Arial" pitchFamily="34" charset="0"/>
              </a:rPr>
              <a:t>Dólares</a:t>
            </a:r>
            <a:endParaRPr lang="es-ES" sz="1600" b="1" dirty="0">
              <a:solidFill>
                <a:srgbClr val="7030A0"/>
              </a:solidFill>
              <a:latin typeface="Arial Narrow" panose="020B0606020202030204" pitchFamily="34" charset="0"/>
              <a:cs typeface="Arial" pitchFamily="34" charset="0"/>
            </a:endParaRPr>
          </a:p>
          <a:p>
            <a:r>
              <a:rPr lang="es-ES" sz="1600" b="1" dirty="0">
                <a:solidFill>
                  <a:srgbClr val="0070C0"/>
                </a:solidFill>
                <a:latin typeface="Arial Narrow" panose="020B0606020202030204" pitchFamily="34" charset="0"/>
              </a:rPr>
              <a:t>Meta 2</a:t>
            </a:r>
            <a:r>
              <a:rPr lang="es-ES" sz="1600" b="1" dirty="0">
                <a:latin typeface="Arial Narrow" panose="020B0606020202030204" pitchFamily="34" charset="0"/>
              </a:rPr>
              <a:t>: Min  </a:t>
            </a:r>
            <a:r>
              <a:rPr lang="es-ES" sz="1600" b="1" dirty="0" err="1">
                <a:latin typeface="Arial Narrow" panose="020B0606020202030204" pitchFamily="34" charset="0"/>
              </a:rPr>
              <a:t>D2+E2</a:t>
            </a:r>
            <a:r>
              <a:rPr lang="es-ES" sz="1600" b="1" dirty="0">
                <a:latin typeface="Arial Narrow" panose="020B0606020202030204" pitchFamily="34" charset="0"/>
              </a:rPr>
              <a:t>        </a:t>
            </a:r>
            <a:r>
              <a:rPr lang="es-ES" sz="1600" dirty="0">
                <a:latin typeface="Arial Narrow" panose="020B0606020202030204" pitchFamily="34" charset="0"/>
              </a:rPr>
              <a:t>La producción de gasolina sea exactamente 1260 </a:t>
            </a:r>
          </a:p>
          <a:p>
            <a:r>
              <a:rPr lang="es-ES" sz="1600" b="1" dirty="0">
                <a:latin typeface="Arial Narrow" panose="020B0606020202030204" pitchFamily="34" charset="0"/>
              </a:rPr>
              <a:t> </a:t>
            </a:r>
            <a:r>
              <a:rPr lang="es-ES" sz="1600" b="1" dirty="0" err="1">
                <a:latin typeface="Arial Narrow" panose="020B0606020202030204" pitchFamily="34" charset="0"/>
              </a:rPr>
              <a:t>0,45</a:t>
            </a:r>
            <a:r>
              <a:rPr lang="es-ES" sz="1600" b="1" dirty="0" err="1">
                <a:latin typeface="Arial Narrow" panose="020B0606020202030204" pitchFamily="34" charset="0"/>
                <a:cs typeface="Arial" pitchFamily="34" charset="0"/>
              </a:rPr>
              <a:t>X1</a:t>
            </a:r>
            <a:r>
              <a:rPr lang="es-ES" sz="1600" b="1" dirty="0">
                <a:latin typeface="Arial Narrow" panose="020B0606020202030204" pitchFamily="34" charset="0"/>
                <a:cs typeface="Arial" pitchFamily="34" charset="0"/>
              </a:rPr>
              <a:t> + </a:t>
            </a:r>
            <a:r>
              <a:rPr lang="es-ES" sz="1600" b="1" dirty="0" err="1">
                <a:latin typeface="Arial Narrow" panose="020B0606020202030204" pitchFamily="34" charset="0"/>
                <a:cs typeface="Arial" pitchFamily="34" charset="0"/>
              </a:rPr>
              <a:t>0,35X2</a:t>
            </a:r>
            <a:r>
              <a:rPr lang="es-ES" sz="1600" b="1" dirty="0">
                <a:latin typeface="Arial Narrow" panose="020B0606020202030204" pitchFamily="34" charset="0"/>
                <a:cs typeface="Arial" pitchFamily="34" charset="0"/>
              </a:rPr>
              <a:t> + </a:t>
            </a:r>
            <a:r>
              <a:rPr lang="es-ES" sz="1600" b="1" dirty="0" err="1">
                <a:latin typeface="Arial Narrow" panose="020B0606020202030204" pitchFamily="34" charset="0"/>
                <a:cs typeface="Arial" pitchFamily="34" charset="0"/>
              </a:rPr>
              <a:t>D2</a:t>
            </a:r>
            <a:r>
              <a:rPr lang="es-ES" sz="1600" b="1" dirty="0">
                <a:latin typeface="Arial Narrow" panose="020B0606020202030204" pitchFamily="34" charset="0"/>
                <a:cs typeface="Arial" pitchFamily="34" charset="0"/>
              </a:rPr>
              <a:t> – </a:t>
            </a:r>
            <a:r>
              <a:rPr lang="es-ES" sz="1600" b="1" dirty="0" err="1">
                <a:latin typeface="Arial Narrow" panose="020B0606020202030204" pitchFamily="34" charset="0"/>
                <a:cs typeface="Arial" pitchFamily="34" charset="0"/>
              </a:rPr>
              <a:t>E2</a:t>
            </a:r>
            <a:r>
              <a:rPr lang="es-ES" sz="1600" b="1" dirty="0">
                <a:latin typeface="Arial Narrow" panose="020B0606020202030204" pitchFamily="34" charset="0"/>
                <a:cs typeface="Arial" pitchFamily="34" charset="0"/>
              </a:rPr>
              <a:t> = 1260      Gasolina</a:t>
            </a:r>
            <a:endParaRPr lang="es-ES" sz="1600" b="1" dirty="0">
              <a:solidFill>
                <a:srgbClr val="7030A0"/>
              </a:solidFill>
              <a:latin typeface="Arial Narrow" panose="020B0606020202030204" pitchFamily="34" charset="0"/>
              <a:cs typeface="Arial" pitchFamily="34" charset="0"/>
            </a:endParaRPr>
          </a:p>
          <a:p>
            <a:r>
              <a:rPr lang="es-ES" sz="1600" b="1" dirty="0">
                <a:solidFill>
                  <a:srgbClr val="0070C0"/>
                </a:solidFill>
                <a:latin typeface="Arial Narrow" panose="020B0606020202030204" pitchFamily="34" charset="0"/>
              </a:rPr>
              <a:t>Meta 3</a:t>
            </a:r>
            <a:r>
              <a:rPr lang="es-ES" sz="1600" b="1" dirty="0">
                <a:latin typeface="Arial Narrow" panose="020B0606020202030204" pitchFamily="34" charset="0"/>
              </a:rPr>
              <a:t>: Min </a:t>
            </a:r>
            <a:r>
              <a:rPr lang="es-ES" sz="1600" b="1" dirty="0" err="1">
                <a:latin typeface="Arial Narrow" panose="020B0606020202030204" pitchFamily="34" charset="0"/>
              </a:rPr>
              <a:t>D3</a:t>
            </a:r>
            <a:r>
              <a:rPr lang="es-ES" sz="1600" b="1" dirty="0">
                <a:latin typeface="Arial Narrow" panose="020B0606020202030204" pitchFamily="34" charset="0"/>
              </a:rPr>
              <a:t>          </a:t>
            </a:r>
            <a:r>
              <a:rPr lang="es-ES" sz="1600" dirty="0">
                <a:latin typeface="Arial Narrow" panose="020B0606020202030204" pitchFamily="34" charset="0"/>
              </a:rPr>
              <a:t>La producción de turbosina sea  mas de 1000  barriles </a:t>
            </a:r>
          </a:p>
          <a:p>
            <a:r>
              <a:rPr lang="es-ES" sz="1600" b="1" dirty="0" err="1">
                <a:latin typeface="Arial Narrow" panose="020B0606020202030204" pitchFamily="34" charset="0"/>
              </a:rPr>
              <a:t>0,18</a:t>
            </a:r>
            <a:r>
              <a:rPr lang="es-ES" sz="1600" b="1" dirty="0" err="1">
                <a:latin typeface="Arial Narrow" panose="020B0606020202030204" pitchFamily="34" charset="0"/>
                <a:cs typeface="Arial" pitchFamily="34" charset="0"/>
              </a:rPr>
              <a:t>X1</a:t>
            </a:r>
            <a:r>
              <a:rPr lang="es-ES" sz="1600" b="1" dirty="0">
                <a:latin typeface="Arial Narrow" panose="020B0606020202030204" pitchFamily="34" charset="0"/>
                <a:cs typeface="Arial" pitchFamily="34" charset="0"/>
              </a:rPr>
              <a:t>  + </a:t>
            </a:r>
            <a:r>
              <a:rPr lang="es-ES" sz="1600" b="1" dirty="0" err="1">
                <a:latin typeface="Arial Narrow" panose="020B0606020202030204" pitchFamily="34" charset="0"/>
                <a:cs typeface="Arial" pitchFamily="34" charset="0"/>
              </a:rPr>
              <a:t>0,36X2</a:t>
            </a:r>
            <a:r>
              <a:rPr lang="es-ES" sz="1600" b="1" dirty="0">
                <a:latin typeface="Arial Narrow" panose="020B0606020202030204" pitchFamily="34" charset="0"/>
                <a:cs typeface="Arial" pitchFamily="34" charset="0"/>
              </a:rPr>
              <a:t> + </a:t>
            </a:r>
            <a:r>
              <a:rPr lang="es-ES" sz="1600" b="1" dirty="0" err="1">
                <a:latin typeface="Arial Narrow" panose="020B0606020202030204" pitchFamily="34" charset="0"/>
                <a:cs typeface="Arial" pitchFamily="34" charset="0"/>
              </a:rPr>
              <a:t>D3</a:t>
            </a:r>
            <a:r>
              <a:rPr lang="es-ES" sz="1600" b="1" dirty="0">
                <a:latin typeface="Arial Narrow" panose="020B0606020202030204" pitchFamily="34" charset="0"/>
                <a:cs typeface="Arial" pitchFamily="34" charset="0"/>
              </a:rPr>
              <a:t> – </a:t>
            </a:r>
            <a:r>
              <a:rPr lang="es-ES" sz="1600" b="1" dirty="0" err="1">
                <a:latin typeface="Arial Narrow" panose="020B0606020202030204" pitchFamily="34" charset="0"/>
                <a:cs typeface="Arial" pitchFamily="34" charset="0"/>
              </a:rPr>
              <a:t>E3</a:t>
            </a:r>
            <a:r>
              <a:rPr lang="es-ES" sz="1600" b="1" dirty="0">
                <a:latin typeface="Arial Narrow" panose="020B0606020202030204" pitchFamily="34" charset="0"/>
                <a:cs typeface="Arial" pitchFamily="34" charset="0"/>
              </a:rPr>
              <a:t> = 1000      </a:t>
            </a:r>
            <a:r>
              <a:rPr lang="es-ES" sz="1600" b="1" dirty="0">
                <a:solidFill>
                  <a:srgbClr val="7030A0"/>
                </a:solidFill>
                <a:latin typeface="Arial Narrow" panose="020B0606020202030204" pitchFamily="34" charset="0"/>
                <a:cs typeface="Arial" pitchFamily="34" charset="0"/>
              </a:rPr>
              <a:t>Turbosina</a:t>
            </a:r>
          </a:p>
          <a:p>
            <a:r>
              <a:rPr lang="es-ES" sz="1600" b="1" dirty="0">
                <a:solidFill>
                  <a:srgbClr val="0070C0"/>
                </a:solidFill>
                <a:latin typeface="Arial Narrow" panose="020B0606020202030204" pitchFamily="34" charset="0"/>
              </a:rPr>
              <a:t>Meta 4</a:t>
            </a:r>
            <a:r>
              <a:rPr lang="es-ES" sz="1600" b="1" dirty="0">
                <a:latin typeface="Arial Narrow" panose="020B0606020202030204" pitchFamily="34" charset="0"/>
              </a:rPr>
              <a:t>: Min  </a:t>
            </a:r>
            <a:r>
              <a:rPr lang="es-ES" sz="1600" b="1" dirty="0" err="1">
                <a:latin typeface="Arial Narrow" panose="020B0606020202030204" pitchFamily="34" charset="0"/>
              </a:rPr>
              <a:t>E4</a:t>
            </a:r>
            <a:r>
              <a:rPr lang="es-ES" sz="1600" b="1" dirty="0">
                <a:latin typeface="Arial Narrow" panose="020B0606020202030204" pitchFamily="34" charset="0"/>
              </a:rPr>
              <a:t>    </a:t>
            </a:r>
            <a:r>
              <a:rPr lang="es-ES" sz="1600" dirty="0">
                <a:latin typeface="Arial Narrow" panose="020B0606020202030204" pitchFamily="34" charset="0"/>
              </a:rPr>
              <a:t>La producción de queroseno sea a lo más de 500 barriles. </a:t>
            </a:r>
            <a:r>
              <a:rPr lang="es-ES" sz="1600" b="1" dirty="0" err="1">
                <a:latin typeface="Arial Narrow" panose="020B0606020202030204" pitchFamily="34" charset="0"/>
              </a:rPr>
              <a:t>0,3</a:t>
            </a:r>
            <a:r>
              <a:rPr lang="es-ES" sz="1600" b="1" dirty="0" err="1">
                <a:latin typeface="Arial Narrow" panose="020B0606020202030204" pitchFamily="34" charset="0"/>
                <a:cs typeface="Arial" pitchFamily="34" charset="0"/>
              </a:rPr>
              <a:t>X1</a:t>
            </a:r>
            <a:r>
              <a:rPr lang="es-ES" sz="1600" b="1" dirty="0">
                <a:latin typeface="Arial Narrow" panose="020B0606020202030204" pitchFamily="34" charset="0"/>
                <a:cs typeface="Arial" pitchFamily="34" charset="0"/>
              </a:rPr>
              <a:t>  + </a:t>
            </a:r>
            <a:r>
              <a:rPr lang="es-ES" sz="1600" b="1" dirty="0" err="1">
                <a:latin typeface="Arial Narrow" panose="020B0606020202030204" pitchFamily="34" charset="0"/>
                <a:cs typeface="Arial" pitchFamily="34" charset="0"/>
              </a:rPr>
              <a:t>0,2X2</a:t>
            </a:r>
            <a:r>
              <a:rPr lang="es-ES" sz="1600" b="1" dirty="0">
                <a:latin typeface="Arial Narrow" panose="020B0606020202030204" pitchFamily="34" charset="0"/>
                <a:cs typeface="Arial" pitchFamily="34" charset="0"/>
              </a:rPr>
              <a:t>  + </a:t>
            </a:r>
            <a:r>
              <a:rPr lang="es-ES" sz="1600" b="1" dirty="0" err="1">
                <a:latin typeface="Arial Narrow" panose="020B0606020202030204" pitchFamily="34" charset="0"/>
                <a:cs typeface="Arial" pitchFamily="34" charset="0"/>
              </a:rPr>
              <a:t>D4</a:t>
            </a:r>
            <a:r>
              <a:rPr lang="es-ES" sz="1600" b="1" dirty="0">
                <a:latin typeface="Arial Narrow" panose="020B0606020202030204" pitchFamily="34" charset="0"/>
                <a:cs typeface="Arial" pitchFamily="34" charset="0"/>
              </a:rPr>
              <a:t> – </a:t>
            </a:r>
            <a:r>
              <a:rPr lang="es-ES" sz="1600" b="1" dirty="0" err="1">
                <a:latin typeface="Arial Narrow" panose="020B0606020202030204" pitchFamily="34" charset="0"/>
                <a:cs typeface="Arial" pitchFamily="34" charset="0"/>
              </a:rPr>
              <a:t>E4</a:t>
            </a:r>
            <a:r>
              <a:rPr lang="es-ES" sz="1600" b="1" dirty="0">
                <a:latin typeface="Arial Narrow" panose="020B0606020202030204" pitchFamily="34" charset="0"/>
                <a:cs typeface="Arial" pitchFamily="34" charset="0"/>
              </a:rPr>
              <a:t> = 500   	   </a:t>
            </a:r>
            <a:r>
              <a:rPr lang="es-ES" sz="1600" b="1" dirty="0">
                <a:solidFill>
                  <a:srgbClr val="7030A0"/>
                </a:solidFill>
                <a:latin typeface="Arial Narrow" panose="020B0606020202030204" pitchFamily="34" charset="0"/>
                <a:cs typeface="Arial" pitchFamily="34" charset="0"/>
              </a:rPr>
              <a:t>Queroseno</a:t>
            </a:r>
          </a:p>
        </p:txBody>
      </p:sp>
    </p:spTree>
    <p:extLst>
      <p:ext uri="{BB962C8B-B14F-4D97-AF65-F5344CB8AC3E}">
        <p14:creationId xmlns:p14="http://schemas.microsoft.com/office/powerpoint/2010/main" val="2782673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AD6797C-9094-4471-BD21-D37739A097E4}"/>
              </a:ext>
            </a:extLst>
          </p:cNvPr>
          <p:cNvSpPr txBox="1"/>
          <p:nvPr/>
        </p:nvSpPr>
        <p:spPr>
          <a:xfrm>
            <a:off x="758757" y="1289239"/>
            <a:ext cx="5077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Plan de producción</a:t>
            </a:r>
            <a:endParaRPr lang="es-PE" sz="2400" dirty="0"/>
          </a:p>
        </p:txBody>
      </p:sp>
      <p:graphicFrame>
        <p:nvGraphicFramePr>
          <p:cNvPr id="3" name="Tabla 3">
            <a:extLst>
              <a:ext uri="{FF2B5EF4-FFF2-40B4-BE49-F238E27FC236}">
                <a16:creationId xmlns:a16="http://schemas.microsoft.com/office/drawing/2014/main" id="{D10A7FDE-A6E0-4089-B254-98E8CF204902}"/>
              </a:ext>
            </a:extLst>
          </p:cNvPr>
          <p:cNvGraphicFramePr>
            <a:graphicFrameLocks noGrp="1"/>
          </p:cNvGraphicFramePr>
          <p:nvPr/>
        </p:nvGraphicFramePr>
        <p:xfrm>
          <a:off x="893098" y="2025902"/>
          <a:ext cx="4933004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6502">
                  <a:extLst>
                    <a:ext uri="{9D8B030D-6E8A-4147-A177-3AD203B41FA5}">
                      <a16:colId xmlns:a16="http://schemas.microsoft.com/office/drawing/2014/main" val="3634477077"/>
                    </a:ext>
                  </a:extLst>
                </a:gridCol>
                <a:gridCol w="2466502">
                  <a:extLst>
                    <a:ext uri="{9D8B030D-6E8A-4147-A177-3AD203B41FA5}">
                      <a16:colId xmlns:a16="http://schemas.microsoft.com/office/drawing/2014/main" val="3249260829"/>
                    </a:ext>
                  </a:extLst>
                </a:gridCol>
              </a:tblGrid>
              <a:tr h="337286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Acciones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Cantidad</a:t>
                      </a:r>
                      <a:endParaRPr lang="es-P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2589736"/>
                  </a:ext>
                </a:extLst>
              </a:tr>
              <a:tr h="337286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Cantidad de </a:t>
                      </a:r>
                      <a:r>
                        <a:rPr lang="es-ES" sz="2400" dirty="0" err="1"/>
                        <a:t>X1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701</a:t>
                      </a:r>
                      <a:endParaRPr lang="es-P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8934738"/>
                  </a:ext>
                </a:extLst>
              </a:tr>
              <a:tr h="337286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Cantidad de </a:t>
                      </a:r>
                      <a:r>
                        <a:rPr lang="es-ES" sz="2400" dirty="0" err="1"/>
                        <a:t>X2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0</a:t>
                      </a:r>
                      <a:endParaRPr lang="es-P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270891"/>
                  </a:ext>
                </a:extLst>
              </a:tr>
            </a:tbl>
          </a:graphicData>
        </a:graphic>
      </p:graphicFrame>
      <p:graphicFrame>
        <p:nvGraphicFramePr>
          <p:cNvPr id="5" name="Tabla 5">
            <a:extLst>
              <a:ext uri="{FF2B5EF4-FFF2-40B4-BE49-F238E27FC236}">
                <a16:creationId xmlns:a16="http://schemas.microsoft.com/office/drawing/2014/main" id="{21201559-EED4-45FC-AB14-802BCCEA8E15}"/>
              </a:ext>
            </a:extLst>
          </p:cNvPr>
          <p:cNvGraphicFramePr>
            <a:graphicFrameLocks noGrp="1"/>
          </p:cNvGraphicFramePr>
          <p:nvPr/>
        </p:nvGraphicFramePr>
        <p:xfrm>
          <a:off x="759838" y="4108581"/>
          <a:ext cx="11161868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1127">
                  <a:extLst>
                    <a:ext uri="{9D8B030D-6E8A-4147-A177-3AD203B41FA5}">
                      <a16:colId xmlns:a16="http://schemas.microsoft.com/office/drawing/2014/main" val="1918889544"/>
                    </a:ext>
                  </a:extLst>
                </a:gridCol>
                <a:gridCol w="2075469">
                  <a:extLst>
                    <a:ext uri="{9D8B030D-6E8A-4147-A177-3AD203B41FA5}">
                      <a16:colId xmlns:a16="http://schemas.microsoft.com/office/drawing/2014/main" val="185774863"/>
                    </a:ext>
                  </a:extLst>
                </a:gridCol>
                <a:gridCol w="2601400">
                  <a:extLst>
                    <a:ext uri="{9D8B030D-6E8A-4147-A177-3AD203B41FA5}">
                      <a16:colId xmlns:a16="http://schemas.microsoft.com/office/drawing/2014/main" val="3142263125"/>
                    </a:ext>
                  </a:extLst>
                </a:gridCol>
                <a:gridCol w="5313872">
                  <a:extLst>
                    <a:ext uri="{9D8B030D-6E8A-4147-A177-3AD203B41FA5}">
                      <a16:colId xmlns:a16="http://schemas.microsoft.com/office/drawing/2014/main" val="459202778"/>
                    </a:ext>
                  </a:extLst>
                </a:gridCol>
              </a:tblGrid>
              <a:tr h="421592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Meta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¿Se cumplió?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Variable de desviación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Descripción</a:t>
                      </a:r>
                      <a:endParaRPr lang="es-P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4280141"/>
                  </a:ext>
                </a:extLst>
              </a:tr>
              <a:tr h="421592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1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si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 err="1"/>
                        <a:t>D1</a:t>
                      </a:r>
                      <a:r>
                        <a:rPr lang="es-ES" sz="2400" dirty="0"/>
                        <a:t>=0: </a:t>
                      </a:r>
                      <a:r>
                        <a:rPr lang="es-ES" sz="2400" dirty="0" err="1"/>
                        <a:t>E1</a:t>
                      </a:r>
                      <a:r>
                        <a:rPr lang="es-ES" sz="2400" dirty="0"/>
                        <a:t>=0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400" b="1" dirty="0">
                          <a:solidFill>
                            <a:srgbClr val="0070C0"/>
                          </a:solidFill>
                        </a:rPr>
                        <a:t>El costo salió 80000.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660262"/>
                  </a:ext>
                </a:extLst>
              </a:tr>
              <a:tr h="421592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2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No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D2=944:  E2=0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400" b="1" dirty="0">
                          <a:solidFill>
                            <a:srgbClr val="0070C0"/>
                          </a:solidFill>
                        </a:rPr>
                        <a:t>Se obtuvo 944 menos de 1260.</a:t>
                      </a:r>
                      <a:endParaRPr lang="es-P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535707"/>
                  </a:ext>
                </a:extLst>
              </a:tr>
              <a:tr h="421592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3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No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 hay solución</a:t>
                      </a:r>
                      <a:endParaRPr kumimoji="0" lang="es-PE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24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251432"/>
                  </a:ext>
                </a:extLst>
              </a:tr>
              <a:tr h="421592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4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No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No hay solución</a:t>
                      </a:r>
                      <a:endParaRPr kumimoji="0" lang="es-PE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24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4895000"/>
                  </a:ext>
                </a:extLst>
              </a:tr>
            </a:tbl>
          </a:graphicData>
        </a:graphic>
      </p:graphicFrame>
      <p:sp>
        <p:nvSpPr>
          <p:cNvPr id="6" name="Rectángulo 5">
            <a:extLst>
              <a:ext uri="{FF2B5EF4-FFF2-40B4-BE49-F238E27FC236}">
                <a16:creationId xmlns:a16="http://schemas.microsoft.com/office/drawing/2014/main" id="{D8D653DB-97BC-41DB-B9C4-296D38E8383F}"/>
              </a:ext>
            </a:extLst>
          </p:cNvPr>
          <p:cNvSpPr/>
          <p:nvPr/>
        </p:nvSpPr>
        <p:spPr>
          <a:xfrm>
            <a:off x="6096000" y="277614"/>
            <a:ext cx="6096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800" b="1" dirty="0">
                <a:solidFill>
                  <a:schemeClr val="bg1"/>
                </a:solidFill>
              </a:rPr>
              <a:t>Informe administrativo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F6C5236-3535-2D74-DB26-1BB6649BCAEF}"/>
              </a:ext>
            </a:extLst>
          </p:cNvPr>
          <p:cNvSpPr txBox="1"/>
          <p:nvPr/>
        </p:nvSpPr>
        <p:spPr>
          <a:xfrm>
            <a:off x="6097793" y="1203965"/>
            <a:ext cx="58515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0000"/>
                </a:solidFill>
                <a:latin typeface="Arial Narrow" panose="020B0606020202030204" pitchFamily="34" charset="0"/>
              </a:rPr>
              <a:t>3. RESTRICCIONES META:</a:t>
            </a:r>
          </a:p>
          <a:p>
            <a:r>
              <a:rPr lang="es-ES" sz="1600" b="1" dirty="0">
                <a:solidFill>
                  <a:srgbClr val="0070C0"/>
                </a:solidFill>
                <a:latin typeface="Arial Narrow" panose="020B0606020202030204" pitchFamily="34" charset="0"/>
              </a:rPr>
              <a:t>Meta 1</a:t>
            </a:r>
            <a:r>
              <a:rPr lang="es-ES" sz="1600" b="1" dirty="0">
                <a:latin typeface="Arial Narrow" panose="020B0606020202030204" pitchFamily="34" charset="0"/>
              </a:rPr>
              <a:t>: Min  </a:t>
            </a:r>
            <a:r>
              <a:rPr lang="es-ES" sz="1600" b="1" dirty="0" err="1">
                <a:latin typeface="Arial Narrow" panose="020B0606020202030204" pitchFamily="34" charset="0"/>
              </a:rPr>
              <a:t>E1</a:t>
            </a:r>
            <a:r>
              <a:rPr lang="es-ES" sz="1600" b="1" dirty="0">
                <a:latin typeface="Arial Narrow" panose="020B0606020202030204" pitchFamily="34" charset="0"/>
              </a:rPr>
              <a:t>	</a:t>
            </a:r>
            <a:r>
              <a:rPr lang="es-ES" sz="1600" b="1" dirty="0">
                <a:latin typeface="Arial Narrow" panose="020B0606020202030204" pitchFamily="34" charset="0"/>
                <a:ea typeface="Calibri" panose="020F0502020204030204" pitchFamily="34" charset="0"/>
              </a:rPr>
              <a:t> </a:t>
            </a:r>
            <a:r>
              <a:rPr lang="es-ES" sz="1600" dirty="0">
                <a:latin typeface="Arial Narrow" panose="020B0606020202030204" pitchFamily="34" charset="0"/>
                <a:ea typeface="Calibri" panose="020F0502020204030204" pitchFamily="34" charset="0"/>
              </a:rPr>
              <a:t>E</a:t>
            </a:r>
            <a:r>
              <a:rPr lang="es-ES" sz="1600" dirty="0">
                <a:latin typeface="Arial Narrow" panose="020B0606020202030204" pitchFamily="34" charset="0"/>
              </a:rPr>
              <a:t>l costo total no supere los 80000 dólares </a:t>
            </a:r>
            <a:endParaRPr lang="es-PE" sz="1600" dirty="0">
              <a:latin typeface="Arial Narrow" panose="020B0606020202030204" pitchFamily="34" charset="0"/>
            </a:endParaRPr>
          </a:p>
          <a:p>
            <a:r>
              <a:rPr lang="es-ES" sz="1600" b="1" dirty="0">
                <a:latin typeface="Arial Narrow" panose="020B0606020202030204" pitchFamily="34" charset="0"/>
                <a:cs typeface="Arial" pitchFamily="34" charset="0"/>
              </a:rPr>
              <a:t> </a:t>
            </a:r>
            <a:r>
              <a:rPr lang="es-ES" sz="1600" b="1" dirty="0" err="1">
                <a:latin typeface="Arial Narrow" panose="020B0606020202030204" pitchFamily="34" charset="0"/>
                <a:cs typeface="Arial" pitchFamily="34" charset="0"/>
              </a:rPr>
              <a:t>114X1+94X2</a:t>
            </a:r>
            <a:r>
              <a:rPr lang="es-ES" sz="1600" b="1" dirty="0">
                <a:latin typeface="Arial Narrow" panose="020B0606020202030204" pitchFamily="34" charset="0"/>
                <a:cs typeface="Arial" pitchFamily="34" charset="0"/>
              </a:rPr>
              <a:t> + </a:t>
            </a:r>
            <a:r>
              <a:rPr lang="es-ES" sz="1600" b="1" dirty="0" err="1">
                <a:latin typeface="Arial Narrow" panose="020B0606020202030204" pitchFamily="34" charset="0"/>
                <a:cs typeface="Arial" pitchFamily="34" charset="0"/>
              </a:rPr>
              <a:t>D1</a:t>
            </a:r>
            <a:r>
              <a:rPr lang="es-ES" sz="1600" b="1" dirty="0">
                <a:latin typeface="Arial Narrow" panose="020B0606020202030204" pitchFamily="34" charset="0"/>
                <a:cs typeface="Arial" pitchFamily="34" charset="0"/>
              </a:rPr>
              <a:t> – </a:t>
            </a:r>
            <a:r>
              <a:rPr lang="es-ES" sz="1600" b="1" dirty="0" err="1">
                <a:latin typeface="Arial Narrow" panose="020B0606020202030204" pitchFamily="34" charset="0"/>
                <a:cs typeface="Arial" pitchFamily="34" charset="0"/>
              </a:rPr>
              <a:t>E1</a:t>
            </a:r>
            <a:r>
              <a:rPr lang="es-ES" sz="1600" b="1" dirty="0">
                <a:latin typeface="Arial Narrow" panose="020B0606020202030204" pitchFamily="34" charset="0"/>
                <a:cs typeface="Arial" pitchFamily="34" charset="0"/>
              </a:rPr>
              <a:t> = 80000      </a:t>
            </a:r>
            <a:r>
              <a:rPr lang="es-ES" sz="1600" dirty="0">
                <a:latin typeface="Arial Narrow" panose="020B0606020202030204" pitchFamily="34" charset="0"/>
                <a:cs typeface="Arial" pitchFamily="34" charset="0"/>
              </a:rPr>
              <a:t>    </a:t>
            </a:r>
            <a:r>
              <a:rPr lang="es-ES" sz="1600" b="1" dirty="0">
                <a:latin typeface="Arial Narrow" panose="020B0606020202030204" pitchFamily="34" charset="0"/>
                <a:cs typeface="Arial" pitchFamily="34" charset="0"/>
              </a:rPr>
              <a:t>Dólares</a:t>
            </a:r>
            <a:endParaRPr lang="es-ES" sz="1600" b="1" dirty="0">
              <a:solidFill>
                <a:srgbClr val="7030A0"/>
              </a:solidFill>
              <a:latin typeface="Arial Narrow" panose="020B0606020202030204" pitchFamily="34" charset="0"/>
              <a:cs typeface="Arial" pitchFamily="34" charset="0"/>
            </a:endParaRPr>
          </a:p>
          <a:p>
            <a:r>
              <a:rPr lang="es-ES" sz="1600" b="1" dirty="0">
                <a:solidFill>
                  <a:srgbClr val="0070C0"/>
                </a:solidFill>
                <a:latin typeface="Arial Narrow" panose="020B0606020202030204" pitchFamily="34" charset="0"/>
              </a:rPr>
              <a:t>Meta 2</a:t>
            </a:r>
            <a:r>
              <a:rPr lang="es-ES" sz="1600" b="1" dirty="0">
                <a:latin typeface="Arial Narrow" panose="020B0606020202030204" pitchFamily="34" charset="0"/>
              </a:rPr>
              <a:t>: Min  </a:t>
            </a:r>
            <a:r>
              <a:rPr lang="es-ES" sz="1600" b="1" dirty="0" err="1">
                <a:latin typeface="Arial Narrow" panose="020B0606020202030204" pitchFamily="34" charset="0"/>
              </a:rPr>
              <a:t>D2+E2</a:t>
            </a:r>
            <a:r>
              <a:rPr lang="es-ES" sz="1600" b="1" dirty="0">
                <a:latin typeface="Arial Narrow" panose="020B0606020202030204" pitchFamily="34" charset="0"/>
              </a:rPr>
              <a:t>        </a:t>
            </a:r>
            <a:r>
              <a:rPr lang="es-ES" sz="1600" dirty="0">
                <a:latin typeface="Arial Narrow" panose="020B0606020202030204" pitchFamily="34" charset="0"/>
              </a:rPr>
              <a:t>La producción de gasolina sea exactamente 1260 </a:t>
            </a:r>
          </a:p>
          <a:p>
            <a:r>
              <a:rPr lang="es-ES" sz="1600" b="1" dirty="0">
                <a:latin typeface="Arial Narrow" panose="020B0606020202030204" pitchFamily="34" charset="0"/>
              </a:rPr>
              <a:t> </a:t>
            </a:r>
            <a:r>
              <a:rPr lang="es-ES" sz="1600" b="1" dirty="0" err="1">
                <a:latin typeface="Arial Narrow" panose="020B0606020202030204" pitchFamily="34" charset="0"/>
              </a:rPr>
              <a:t>0,45</a:t>
            </a:r>
            <a:r>
              <a:rPr lang="es-ES" sz="1600" b="1" dirty="0" err="1">
                <a:latin typeface="Arial Narrow" panose="020B0606020202030204" pitchFamily="34" charset="0"/>
                <a:cs typeface="Arial" pitchFamily="34" charset="0"/>
              </a:rPr>
              <a:t>X1</a:t>
            </a:r>
            <a:r>
              <a:rPr lang="es-ES" sz="1600" b="1" dirty="0">
                <a:latin typeface="Arial Narrow" panose="020B0606020202030204" pitchFamily="34" charset="0"/>
                <a:cs typeface="Arial" pitchFamily="34" charset="0"/>
              </a:rPr>
              <a:t> + </a:t>
            </a:r>
            <a:r>
              <a:rPr lang="es-ES" sz="1600" b="1" dirty="0" err="1">
                <a:latin typeface="Arial Narrow" panose="020B0606020202030204" pitchFamily="34" charset="0"/>
                <a:cs typeface="Arial" pitchFamily="34" charset="0"/>
              </a:rPr>
              <a:t>0,35X2</a:t>
            </a:r>
            <a:r>
              <a:rPr lang="es-ES" sz="1600" b="1" dirty="0">
                <a:latin typeface="Arial Narrow" panose="020B0606020202030204" pitchFamily="34" charset="0"/>
                <a:cs typeface="Arial" pitchFamily="34" charset="0"/>
              </a:rPr>
              <a:t> + </a:t>
            </a:r>
            <a:r>
              <a:rPr lang="es-ES" sz="1600" b="1" dirty="0" err="1">
                <a:latin typeface="Arial Narrow" panose="020B0606020202030204" pitchFamily="34" charset="0"/>
                <a:cs typeface="Arial" pitchFamily="34" charset="0"/>
              </a:rPr>
              <a:t>D2</a:t>
            </a:r>
            <a:r>
              <a:rPr lang="es-ES" sz="1600" b="1" dirty="0">
                <a:latin typeface="Arial Narrow" panose="020B0606020202030204" pitchFamily="34" charset="0"/>
                <a:cs typeface="Arial" pitchFamily="34" charset="0"/>
              </a:rPr>
              <a:t> – </a:t>
            </a:r>
            <a:r>
              <a:rPr lang="es-ES" sz="1600" b="1" dirty="0" err="1">
                <a:latin typeface="Arial Narrow" panose="020B0606020202030204" pitchFamily="34" charset="0"/>
                <a:cs typeface="Arial" pitchFamily="34" charset="0"/>
              </a:rPr>
              <a:t>E2</a:t>
            </a:r>
            <a:r>
              <a:rPr lang="es-ES" sz="1600" b="1" dirty="0">
                <a:latin typeface="Arial Narrow" panose="020B0606020202030204" pitchFamily="34" charset="0"/>
                <a:cs typeface="Arial" pitchFamily="34" charset="0"/>
              </a:rPr>
              <a:t> = 1260      Gasolina</a:t>
            </a:r>
            <a:endParaRPr lang="es-ES" sz="1600" b="1" dirty="0">
              <a:solidFill>
                <a:srgbClr val="7030A0"/>
              </a:solidFill>
              <a:latin typeface="Arial Narrow" panose="020B0606020202030204" pitchFamily="34" charset="0"/>
              <a:cs typeface="Arial" pitchFamily="34" charset="0"/>
            </a:endParaRPr>
          </a:p>
          <a:p>
            <a:r>
              <a:rPr lang="es-ES" sz="1600" b="1" dirty="0">
                <a:solidFill>
                  <a:srgbClr val="0070C0"/>
                </a:solidFill>
                <a:latin typeface="Arial Narrow" panose="020B0606020202030204" pitchFamily="34" charset="0"/>
              </a:rPr>
              <a:t>Meta 3</a:t>
            </a:r>
            <a:r>
              <a:rPr lang="es-ES" sz="1600" b="1" dirty="0">
                <a:latin typeface="Arial Narrow" panose="020B0606020202030204" pitchFamily="34" charset="0"/>
              </a:rPr>
              <a:t>: Min </a:t>
            </a:r>
            <a:r>
              <a:rPr lang="es-ES" sz="1600" b="1" dirty="0" err="1">
                <a:latin typeface="Arial Narrow" panose="020B0606020202030204" pitchFamily="34" charset="0"/>
              </a:rPr>
              <a:t>D3</a:t>
            </a:r>
            <a:r>
              <a:rPr lang="es-ES" sz="1600" b="1" dirty="0">
                <a:latin typeface="Arial Narrow" panose="020B0606020202030204" pitchFamily="34" charset="0"/>
              </a:rPr>
              <a:t>          </a:t>
            </a:r>
            <a:r>
              <a:rPr lang="es-ES" sz="1600" dirty="0">
                <a:latin typeface="Arial Narrow" panose="020B0606020202030204" pitchFamily="34" charset="0"/>
              </a:rPr>
              <a:t>La producción de turbosina sea  mas de 1000  barriles </a:t>
            </a:r>
          </a:p>
          <a:p>
            <a:r>
              <a:rPr lang="es-ES" sz="1600" b="1" dirty="0" err="1">
                <a:latin typeface="Arial Narrow" panose="020B0606020202030204" pitchFamily="34" charset="0"/>
              </a:rPr>
              <a:t>0,18</a:t>
            </a:r>
            <a:r>
              <a:rPr lang="es-ES" sz="1600" b="1" dirty="0" err="1">
                <a:latin typeface="Arial Narrow" panose="020B0606020202030204" pitchFamily="34" charset="0"/>
                <a:cs typeface="Arial" pitchFamily="34" charset="0"/>
              </a:rPr>
              <a:t>X1</a:t>
            </a:r>
            <a:r>
              <a:rPr lang="es-ES" sz="1600" b="1" dirty="0">
                <a:latin typeface="Arial Narrow" panose="020B0606020202030204" pitchFamily="34" charset="0"/>
                <a:cs typeface="Arial" pitchFamily="34" charset="0"/>
              </a:rPr>
              <a:t>  + </a:t>
            </a:r>
            <a:r>
              <a:rPr lang="es-ES" sz="1600" b="1" dirty="0" err="1">
                <a:latin typeface="Arial Narrow" panose="020B0606020202030204" pitchFamily="34" charset="0"/>
                <a:cs typeface="Arial" pitchFamily="34" charset="0"/>
              </a:rPr>
              <a:t>0,36X2</a:t>
            </a:r>
            <a:r>
              <a:rPr lang="es-ES" sz="1600" b="1" dirty="0">
                <a:latin typeface="Arial Narrow" panose="020B0606020202030204" pitchFamily="34" charset="0"/>
                <a:cs typeface="Arial" pitchFamily="34" charset="0"/>
              </a:rPr>
              <a:t> + </a:t>
            </a:r>
            <a:r>
              <a:rPr lang="es-ES" sz="1600" b="1" dirty="0" err="1">
                <a:latin typeface="Arial Narrow" panose="020B0606020202030204" pitchFamily="34" charset="0"/>
                <a:cs typeface="Arial" pitchFamily="34" charset="0"/>
              </a:rPr>
              <a:t>D3</a:t>
            </a:r>
            <a:r>
              <a:rPr lang="es-ES" sz="1600" b="1" dirty="0">
                <a:latin typeface="Arial Narrow" panose="020B0606020202030204" pitchFamily="34" charset="0"/>
                <a:cs typeface="Arial" pitchFamily="34" charset="0"/>
              </a:rPr>
              <a:t> – </a:t>
            </a:r>
            <a:r>
              <a:rPr lang="es-ES" sz="1600" b="1" dirty="0" err="1">
                <a:latin typeface="Arial Narrow" panose="020B0606020202030204" pitchFamily="34" charset="0"/>
                <a:cs typeface="Arial" pitchFamily="34" charset="0"/>
              </a:rPr>
              <a:t>E3</a:t>
            </a:r>
            <a:r>
              <a:rPr lang="es-ES" sz="1600" b="1" dirty="0">
                <a:latin typeface="Arial Narrow" panose="020B0606020202030204" pitchFamily="34" charset="0"/>
                <a:cs typeface="Arial" pitchFamily="34" charset="0"/>
              </a:rPr>
              <a:t> = 1000      </a:t>
            </a:r>
            <a:r>
              <a:rPr lang="es-ES" sz="1600" b="1" dirty="0">
                <a:solidFill>
                  <a:srgbClr val="7030A0"/>
                </a:solidFill>
                <a:latin typeface="Arial Narrow" panose="020B0606020202030204" pitchFamily="34" charset="0"/>
                <a:cs typeface="Arial" pitchFamily="34" charset="0"/>
              </a:rPr>
              <a:t>Turbosina</a:t>
            </a:r>
          </a:p>
          <a:p>
            <a:r>
              <a:rPr lang="es-ES" sz="1600" b="1" dirty="0">
                <a:solidFill>
                  <a:srgbClr val="0070C0"/>
                </a:solidFill>
                <a:latin typeface="Arial Narrow" panose="020B0606020202030204" pitchFamily="34" charset="0"/>
              </a:rPr>
              <a:t>Meta 4</a:t>
            </a:r>
            <a:r>
              <a:rPr lang="es-ES" sz="1600" b="1" dirty="0">
                <a:latin typeface="Arial Narrow" panose="020B0606020202030204" pitchFamily="34" charset="0"/>
              </a:rPr>
              <a:t>: Min  </a:t>
            </a:r>
            <a:r>
              <a:rPr lang="es-ES" sz="1600" b="1" dirty="0" err="1">
                <a:latin typeface="Arial Narrow" panose="020B0606020202030204" pitchFamily="34" charset="0"/>
              </a:rPr>
              <a:t>E4</a:t>
            </a:r>
            <a:r>
              <a:rPr lang="es-ES" sz="1600" b="1" dirty="0">
                <a:latin typeface="Arial Narrow" panose="020B0606020202030204" pitchFamily="34" charset="0"/>
              </a:rPr>
              <a:t>    </a:t>
            </a:r>
            <a:r>
              <a:rPr lang="es-ES" sz="1600" dirty="0">
                <a:latin typeface="Arial Narrow" panose="020B0606020202030204" pitchFamily="34" charset="0"/>
              </a:rPr>
              <a:t>La producción de queroseno sea a lo más de 500 barriles. </a:t>
            </a:r>
            <a:r>
              <a:rPr lang="es-ES" sz="1600" b="1" dirty="0" err="1">
                <a:latin typeface="Arial Narrow" panose="020B0606020202030204" pitchFamily="34" charset="0"/>
              </a:rPr>
              <a:t>0,3</a:t>
            </a:r>
            <a:r>
              <a:rPr lang="es-ES" sz="1600" b="1" dirty="0" err="1">
                <a:latin typeface="Arial Narrow" panose="020B0606020202030204" pitchFamily="34" charset="0"/>
                <a:cs typeface="Arial" pitchFamily="34" charset="0"/>
              </a:rPr>
              <a:t>X1</a:t>
            </a:r>
            <a:r>
              <a:rPr lang="es-ES" sz="1600" b="1" dirty="0">
                <a:latin typeface="Arial Narrow" panose="020B0606020202030204" pitchFamily="34" charset="0"/>
                <a:cs typeface="Arial" pitchFamily="34" charset="0"/>
              </a:rPr>
              <a:t>  + </a:t>
            </a:r>
            <a:r>
              <a:rPr lang="es-ES" sz="1600" b="1" dirty="0" err="1">
                <a:latin typeface="Arial Narrow" panose="020B0606020202030204" pitchFamily="34" charset="0"/>
                <a:cs typeface="Arial" pitchFamily="34" charset="0"/>
              </a:rPr>
              <a:t>0,2X2</a:t>
            </a:r>
            <a:r>
              <a:rPr lang="es-ES" sz="1600" b="1" dirty="0">
                <a:latin typeface="Arial Narrow" panose="020B0606020202030204" pitchFamily="34" charset="0"/>
                <a:cs typeface="Arial" pitchFamily="34" charset="0"/>
              </a:rPr>
              <a:t>  + </a:t>
            </a:r>
            <a:r>
              <a:rPr lang="es-ES" sz="1600" b="1" dirty="0" err="1">
                <a:latin typeface="Arial Narrow" panose="020B0606020202030204" pitchFamily="34" charset="0"/>
                <a:cs typeface="Arial" pitchFamily="34" charset="0"/>
              </a:rPr>
              <a:t>D4</a:t>
            </a:r>
            <a:r>
              <a:rPr lang="es-ES" sz="1600" b="1" dirty="0">
                <a:latin typeface="Arial Narrow" panose="020B0606020202030204" pitchFamily="34" charset="0"/>
                <a:cs typeface="Arial" pitchFamily="34" charset="0"/>
              </a:rPr>
              <a:t> – </a:t>
            </a:r>
            <a:r>
              <a:rPr lang="es-ES" sz="1600" b="1" dirty="0" err="1">
                <a:latin typeface="Arial Narrow" panose="020B0606020202030204" pitchFamily="34" charset="0"/>
                <a:cs typeface="Arial" pitchFamily="34" charset="0"/>
              </a:rPr>
              <a:t>E4</a:t>
            </a:r>
            <a:r>
              <a:rPr lang="es-ES" sz="1600" b="1" dirty="0">
                <a:latin typeface="Arial Narrow" panose="020B0606020202030204" pitchFamily="34" charset="0"/>
                <a:cs typeface="Arial" pitchFamily="34" charset="0"/>
              </a:rPr>
              <a:t> = 500   	   </a:t>
            </a:r>
            <a:r>
              <a:rPr lang="es-ES" sz="1600" b="1" dirty="0">
                <a:solidFill>
                  <a:srgbClr val="7030A0"/>
                </a:solidFill>
                <a:latin typeface="Arial Narrow" panose="020B0606020202030204" pitchFamily="34" charset="0"/>
                <a:cs typeface="Arial" pitchFamily="34" charset="0"/>
              </a:rPr>
              <a:t>Queroseno</a:t>
            </a:r>
          </a:p>
        </p:txBody>
      </p:sp>
    </p:spTree>
    <p:extLst>
      <p:ext uri="{BB962C8B-B14F-4D97-AF65-F5344CB8AC3E}">
        <p14:creationId xmlns:p14="http://schemas.microsoft.com/office/powerpoint/2010/main" val="943765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3 Tabla">
            <a:extLst>
              <a:ext uri="{FF2B5EF4-FFF2-40B4-BE49-F238E27FC236}">
                <a16:creationId xmlns:a16="http://schemas.microsoft.com/office/drawing/2014/main" id="{E05BA06B-F6C1-52AE-05AA-8C467D67EE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4203269"/>
              </p:ext>
            </p:extLst>
          </p:nvPr>
        </p:nvGraphicFramePr>
        <p:xfrm>
          <a:off x="1" y="0"/>
          <a:ext cx="2521225" cy="685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61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9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21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000" b="0" dirty="0" err="1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Tarea</a:t>
                      </a:r>
                      <a:endParaRPr lang="es-PE" sz="3000" b="0" dirty="0">
                        <a:effectLst/>
                        <a:latin typeface="Arial Narrow" panose="020B060602020203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000" b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s-PE" sz="3000" b="0">
                        <a:effectLst/>
                        <a:latin typeface="Arial Narrow" panose="020B060602020203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000" b="0" dirty="0" err="1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Prece</a:t>
                      </a:r>
                      <a:r>
                        <a:rPr lang="en-US" sz="3000" b="0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es-PE" sz="3000" b="0" dirty="0">
                        <a:effectLst/>
                        <a:latin typeface="Arial Narrow" panose="020B060602020203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21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000" b="0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s-PE" sz="3000" b="0" dirty="0">
                        <a:effectLst/>
                        <a:latin typeface="Arial Narrow" panose="020B060602020203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000" b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s-PE" sz="3000" b="0">
                        <a:effectLst/>
                        <a:latin typeface="Arial Narrow" panose="020B060602020203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000" b="0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es-PE" sz="3000" b="0" dirty="0">
                        <a:effectLst/>
                        <a:latin typeface="Arial Narrow" panose="020B060602020203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21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000" b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s-PE" sz="3000" b="0">
                        <a:effectLst/>
                        <a:latin typeface="Arial Narrow" panose="020B060602020203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000" b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s-PE" sz="3000" b="0">
                        <a:effectLst/>
                        <a:latin typeface="Arial Narrow" panose="020B060602020203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3000" b="0" dirty="0">
                          <a:effectLst/>
                          <a:latin typeface="Arial Narrow" panose="020B0606020202030204" pitchFamily="34" charset="0"/>
                          <a:ea typeface="Times New Roman"/>
                          <a:cs typeface="Arial" panose="020B0604020202020204" pitchFamily="34" charset="0"/>
                        </a:rPr>
                        <a:t>-</a:t>
                      </a:r>
                      <a:endParaRPr lang="es-PE" sz="3000" b="0" dirty="0">
                        <a:effectLst/>
                        <a:latin typeface="Arial Narrow" panose="020B060602020203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21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000" b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lang="es-PE" sz="3000" b="0">
                        <a:effectLst/>
                        <a:latin typeface="Arial Narrow" panose="020B060602020203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3000" b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s-PE" sz="3000" b="0">
                        <a:effectLst/>
                        <a:latin typeface="Arial Narrow" panose="020B060602020203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3000" b="0" dirty="0">
                          <a:effectLst/>
                          <a:latin typeface="Arial Narrow" panose="020B0606020202030204" pitchFamily="34" charset="0"/>
                          <a:ea typeface="Times New Roman"/>
                          <a:cs typeface="Arial" panose="020B0604020202020204" pitchFamily="34" charset="0"/>
                        </a:rPr>
                        <a:t>A,B</a:t>
                      </a:r>
                      <a:endParaRPr lang="es-PE" sz="3000" b="0" dirty="0">
                        <a:effectLst/>
                        <a:latin typeface="Arial Narrow" panose="020B060602020203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21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3000" b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D</a:t>
                      </a:r>
                      <a:endParaRPr lang="es-PE" sz="3000" b="0">
                        <a:effectLst/>
                        <a:latin typeface="Arial Narrow" panose="020B060602020203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3000" b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s-PE" sz="3000" b="0">
                        <a:effectLst/>
                        <a:latin typeface="Arial Narrow" panose="020B060602020203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3000" b="0" dirty="0">
                          <a:effectLst/>
                          <a:latin typeface="Arial Narrow" panose="020B0606020202030204" pitchFamily="34" charset="0"/>
                          <a:ea typeface="Times New Roman"/>
                          <a:cs typeface="Arial" panose="020B0604020202020204" pitchFamily="34" charset="0"/>
                        </a:rPr>
                        <a:t>B</a:t>
                      </a:r>
                      <a:endParaRPr lang="es-PE" sz="3000" b="0" dirty="0">
                        <a:effectLst/>
                        <a:latin typeface="Arial Narrow" panose="020B060602020203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21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3000" b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E</a:t>
                      </a:r>
                      <a:endParaRPr lang="es-PE" sz="3000" b="0">
                        <a:effectLst/>
                        <a:latin typeface="Arial Narrow" panose="020B060602020203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3000" b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s-PE" sz="3000" b="0">
                        <a:effectLst/>
                        <a:latin typeface="Arial Narrow" panose="020B060602020203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3000" b="0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B,D</a:t>
                      </a:r>
                      <a:endParaRPr lang="es-PE" sz="3000" b="0" dirty="0">
                        <a:effectLst/>
                        <a:latin typeface="Arial Narrow" panose="020B060602020203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21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3000" b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F</a:t>
                      </a:r>
                      <a:endParaRPr lang="es-PE" sz="3000" b="0">
                        <a:effectLst/>
                        <a:latin typeface="Arial Narrow" panose="020B060602020203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3000" b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s-PE" sz="3000" b="0">
                        <a:effectLst/>
                        <a:latin typeface="Arial Narrow" panose="020B060602020203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3000" b="0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E</a:t>
                      </a:r>
                      <a:endParaRPr lang="es-PE" sz="3000" b="0" dirty="0">
                        <a:effectLst/>
                        <a:latin typeface="Arial Narrow" panose="020B060602020203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21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000" b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G</a:t>
                      </a:r>
                      <a:endParaRPr lang="es-PE" sz="3000" b="0">
                        <a:effectLst/>
                        <a:latin typeface="Arial Narrow" panose="020B060602020203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000" b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s-PE" sz="3000" b="0">
                        <a:effectLst/>
                        <a:latin typeface="Arial Narrow" panose="020B060602020203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000" b="0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es-PE" sz="3000" b="0" dirty="0">
                        <a:effectLst/>
                        <a:latin typeface="Arial Narrow" panose="020B060602020203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21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000" b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H</a:t>
                      </a:r>
                      <a:endParaRPr lang="es-PE" sz="3000" b="0">
                        <a:effectLst/>
                        <a:latin typeface="Arial Narrow" panose="020B060602020203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000" b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s-PE" sz="3000" b="0">
                        <a:effectLst/>
                        <a:latin typeface="Arial Narrow" panose="020B060602020203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000" b="0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G</a:t>
                      </a:r>
                      <a:endParaRPr lang="es-PE" sz="3000" b="0" dirty="0">
                        <a:effectLst/>
                        <a:latin typeface="Arial Narrow" panose="020B060602020203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721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000" b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I</a:t>
                      </a:r>
                      <a:endParaRPr lang="es-PE" sz="3000" b="0">
                        <a:effectLst/>
                        <a:latin typeface="Arial Narrow" panose="020B060602020203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000" b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s-PE" sz="3000" b="0">
                        <a:effectLst/>
                        <a:latin typeface="Arial Narrow" panose="020B060602020203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000" b="0" dirty="0">
                          <a:effectLst/>
                          <a:latin typeface="Arial Narrow" panose="020B0606020202030204" pitchFamily="34" charset="0"/>
                          <a:ea typeface="Times New Roman"/>
                          <a:cs typeface="Arial" panose="020B0604020202020204" pitchFamily="34" charset="0"/>
                        </a:rPr>
                        <a:t>G</a:t>
                      </a:r>
                      <a:endParaRPr lang="es-PE" sz="3000" b="0" dirty="0">
                        <a:effectLst/>
                        <a:latin typeface="Arial Narrow" panose="020B060602020203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721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000" b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J</a:t>
                      </a:r>
                      <a:endParaRPr lang="es-PE" sz="3000" b="0">
                        <a:effectLst/>
                        <a:latin typeface="Arial Narrow" panose="020B060602020203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000" b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s-PE" sz="3000" b="0">
                        <a:effectLst/>
                        <a:latin typeface="Arial Narrow" panose="020B060602020203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000" b="0" dirty="0">
                          <a:effectLst/>
                          <a:latin typeface="Arial Narrow" panose="020B0606020202030204" pitchFamily="34" charset="0"/>
                          <a:ea typeface="Times New Roman"/>
                          <a:cs typeface="Arial" panose="020B0604020202020204" pitchFamily="34" charset="0"/>
                        </a:rPr>
                        <a:t>F,H</a:t>
                      </a:r>
                      <a:endParaRPr lang="es-PE" sz="3000" b="0" dirty="0">
                        <a:effectLst/>
                        <a:latin typeface="Arial Narrow" panose="020B060602020203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721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000" b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K</a:t>
                      </a:r>
                      <a:endParaRPr lang="es-PE" sz="3000" b="0">
                        <a:effectLst/>
                        <a:latin typeface="Arial Narrow" panose="020B060602020203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000" b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s-PE" sz="3000" b="0">
                        <a:effectLst/>
                        <a:latin typeface="Arial Narrow" panose="020B060602020203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000" b="0" dirty="0">
                          <a:effectLst/>
                          <a:latin typeface="Arial Narrow" panose="020B0606020202030204" pitchFamily="34" charset="0"/>
                          <a:ea typeface="Times New Roman"/>
                          <a:cs typeface="Arial" panose="020B0604020202020204" pitchFamily="34" charset="0"/>
                        </a:rPr>
                        <a:t>F,J</a:t>
                      </a:r>
                      <a:endParaRPr lang="es-PE" sz="3000" b="0" dirty="0">
                        <a:effectLst/>
                        <a:latin typeface="Arial Narrow" panose="020B060602020203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721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000" b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L</a:t>
                      </a:r>
                      <a:endParaRPr lang="es-PE" sz="3000" b="0">
                        <a:effectLst/>
                        <a:latin typeface="Arial Narrow" panose="020B060602020203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000" b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s-PE" sz="3000" b="0">
                        <a:effectLst/>
                        <a:latin typeface="Arial Narrow" panose="020B060602020203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000" b="0" dirty="0">
                          <a:effectLst/>
                          <a:latin typeface="Arial Narrow" panose="020B0606020202030204" pitchFamily="34" charset="0"/>
                          <a:ea typeface="Times New Roman"/>
                          <a:cs typeface="Arial" panose="020B0604020202020204" pitchFamily="34" charset="0"/>
                        </a:rPr>
                        <a:t>K</a:t>
                      </a:r>
                      <a:endParaRPr lang="es-PE" sz="3000" b="0" dirty="0">
                        <a:effectLst/>
                        <a:latin typeface="Arial Narrow" panose="020B060602020203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721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000" b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M</a:t>
                      </a:r>
                      <a:endParaRPr lang="es-PE" sz="3000" b="0">
                        <a:effectLst/>
                        <a:latin typeface="Arial Narrow" panose="020B060602020203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000" b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s-PE" sz="3000" b="0">
                        <a:effectLst/>
                        <a:latin typeface="Arial Narrow" panose="020B060602020203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000" b="0" dirty="0">
                          <a:effectLst/>
                          <a:latin typeface="Arial Narrow" panose="020B0606020202030204" pitchFamily="34" charset="0"/>
                          <a:ea typeface="Times New Roman"/>
                          <a:cs typeface="Arial" panose="020B0604020202020204" pitchFamily="34" charset="0"/>
                        </a:rPr>
                        <a:t>K,I</a:t>
                      </a:r>
                      <a:endParaRPr lang="es-PE" sz="3000" b="0" dirty="0">
                        <a:effectLst/>
                        <a:latin typeface="Arial Narrow" panose="020B060602020203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721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000" b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es-PE" sz="3000" b="0">
                        <a:effectLst/>
                        <a:latin typeface="Arial Narrow" panose="020B060602020203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3000" b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s-PE" sz="3000" b="0">
                        <a:effectLst/>
                        <a:latin typeface="Arial Narrow" panose="020B060602020203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3000" b="0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L,M</a:t>
                      </a:r>
                      <a:endParaRPr lang="es-PE" sz="3000" b="0" dirty="0">
                        <a:effectLst/>
                        <a:latin typeface="Arial Narrow" panose="020B060602020203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4" name="Group 175">
            <a:extLst>
              <a:ext uri="{FF2B5EF4-FFF2-40B4-BE49-F238E27FC236}">
                <a16:creationId xmlns:a16="http://schemas.microsoft.com/office/drawing/2014/main" id="{89E4A2F9-D1BE-ABBE-4BD3-9F0E712C8E27}"/>
              </a:ext>
            </a:extLst>
          </p:cNvPr>
          <p:cNvGrpSpPr>
            <a:grpSpLocks/>
          </p:cNvGrpSpPr>
          <p:nvPr/>
        </p:nvGrpSpPr>
        <p:grpSpPr bwMode="auto">
          <a:xfrm>
            <a:off x="2480232" y="3219226"/>
            <a:ext cx="447675" cy="468313"/>
            <a:chOff x="1695" y="6990"/>
            <a:chExt cx="420" cy="420"/>
          </a:xfrm>
        </p:grpSpPr>
        <p:sp>
          <p:nvSpPr>
            <p:cNvPr id="5" name="Oval 178">
              <a:extLst>
                <a:ext uri="{FF2B5EF4-FFF2-40B4-BE49-F238E27FC236}">
                  <a16:creationId xmlns:a16="http://schemas.microsoft.com/office/drawing/2014/main" id="{01926627-4BB4-A7BA-597B-2070FDF4F2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5" y="6990"/>
              <a:ext cx="420" cy="42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  <p:sp>
          <p:nvSpPr>
            <p:cNvPr id="6" name="Line 177">
              <a:extLst>
                <a:ext uri="{FF2B5EF4-FFF2-40B4-BE49-F238E27FC236}">
                  <a16:creationId xmlns:a16="http://schemas.microsoft.com/office/drawing/2014/main" id="{32885AA9-6EE7-0165-93AF-61382143C4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0" y="7125"/>
              <a:ext cx="39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  <p:sp>
          <p:nvSpPr>
            <p:cNvPr id="7" name="Line 176">
              <a:extLst>
                <a:ext uri="{FF2B5EF4-FFF2-40B4-BE49-F238E27FC236}">
                  <a16:creationId xmlns:a16="http://schemas.microsoft.com/office/drawing/2014/main" id="{BA4A7E81-F25F-FFCE-EA47-23405B05A0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5" y="7125"/>
              <a:ext cx="0" cy="28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</p:grpSp>
      <p:grpSp>
        <p:nvGrpSpPr>
          <p:cNvPr id="8" name="Group 171">
            <a:extLst>
              <a:ext uri="{FF2B5EF4-FFF2-40B4-BE49-F238E27FC236}">
                <a16:creationId xmlns:a16="http://schemas.microsoft.com/office/drawing/2014/main" id="{217A8F97-D4EE-1020-AB02-F4D58B362B51}"/>
              </a:ext>
            </a:extLst>
          </p:cNvPr>
          <p:cNvGrpSpPr>
            <a:grpSpLocks/>
          </p:cNvGrpSpPr>
          <p:nvPr/>
        </p:nvGrpSpPr>
        <p:grpSpPr bwMode="auto">
          <a:xfrm>
            <a:off x="3730810" y="1645361"/>
            <a:ext cx="447675" cy="468313"/>
            <a:chOff x="1695" y="6990"/>
            <a:chExt cx="420" cy="420"/>
          </a:xfrm>
        </p:grpSpPr>
        <p:sp>
          <p:nvSpPr>
            <p:cNvPr id="9" name="Oval 174">
              <a:extLst>
                <a:ext uri="{FF2B5EF4-FFF2-40B4-BE49-F238E27FC236}">
                  <a16:creationId xmlns:a16="http://schemas.microsoft.com/office/drawing/2014/main" id="{F2C1477F-0EDD-DB1C-023C-25B7E94195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5" y="6990"/>
              <a:ext cx="420" cy="42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  <p:sp>
          <p:nvSpPr>
            <p:cNvPr id="10" name="Line 173">
              <a:extLst>
                <a:ext uri="{FF2B5EF4-FFF2-40B4-BE49-F238E27FC236}">
                  <a16:creationId xmlns:a16="http://schemas.microsoft.com/office/drawing/2014/main" id="{A9F24D67-9AEF-99A8-EB57-EAE6E1B0DE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0" y="7125"/>
              <a:ext cx="39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  <p:sp>
          <p:nvSpPr>
            <p:cNvPr id="11" name="Line 172">
              <a:extLst>
                <a:ext uri="{FF2B5EF4-FFF2-40B4-BE49-F238E27FC236}">
                  <a16:creationId xmlns:a16="http://schemas.microsoft.com/office/drawing/2014/main" id="{90D23963-504A-F96C-BA10-A891D90FAD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5" y="7125"/>
              <a:ext cx="0" cy="28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</p:grpSp>
      <p:grpSp>
        <p:nvGrpSpPr>
          <p:cNvPr id="13" name="Group 166">
            <a:extLst>
              <a:ext uri="{FF2B5EF4-FFF2-40B4-BE49-F238E27FC236}">
                <a16:creationId xmlns:a16="http://schemas.microsoft.com/office/drawing/2014/main" id="{C5EDF28E-D845-C3C2-A380-70A2539A93A6}"/>
              </a:ext>
            </a:extLst>
          </p:cNvPr>
          <p:cNvGrpSpPr>
            <a:grpSpLocks/>
          </p:cNvGrpSpPr>
          <p:nvPr/>
        </p:nvGrpSpPr>
        <p:grpSpPr bwMode="auto">
          <a:xfrm>
            <a:off x="3714821" y="3208379"/>
            <a:ext cx="447675" cy="468312"/>
            <a:chOff x="1695" y="6990"/>
            <a:chExt cx="420" cy="420"/>
          </a:xfrm>
        </p:grpSpPr>
        <p:sp>
          <p:nvSpPr>
            <p:cNvPr id="14" name="Oval 169">
              <a:extLst>
                <a:ext uri="{FF2B5EF4-FFF2-40B4-BE49-F238E27FC236}">
                  <a16:creationId xmlns:a16="http://schemas.microsoft.com/office/drawing/2014/main" id="{E6DC2D6C-FC96-5E69-D456-0EC6433D77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5" y="6990"/>
              <a:ext cx="420" cy="42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  <p:sp>
          <p:nvSpPr>
            <p:cNvPr id="15" name="Line 168">
              <a:extLst>
                <a:ext uri="{FF2B5EF4-FFF2-40B4-BE49-F238E27FC236}">
                  <a16:creationId xmlns:a16="http://schemas.microsoft.com/office/drawing/2014/main" id="{44B601D7-1FE6-B23B-1D98-55946C1BCA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0" y="7125"/>
              <a:ext cx="39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  <p:sp>
          <p:nvSpPr>
            <p:cNvPr id="16" name="Line 167">
              <a:extLst>
                <a:ext uri="{FF2B5EF4-FFF2-40B4-BE49-F238E27FC236}">
                  <a16:creationId xmlns:a16="http://schemas.microsoft.com/office/drawing/2014/main" id="{39121203-FCB5-458D-27EA-8922B666F9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5" y="7125"/>
              <a:ext cx="0" cy="28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</p:grpSp>
      <p:grpSp>
        <p:nvGrpSpPr>
          <p:cNvPr id="18" name="Group 161">
            <a:extLst>
              <a:ext uri="{FF2B5EF4-FFF2-40B4-BE49-F238E27FC236}">
                <a16:creationId xmlns:a16="http://schemas.microsoft.com/office/drawing/2014/main" id="{D2BDB91D-2F5C-7804-D77A-417120B8D7A1}"/>
              </a:ext>
            </a:extLst>
          </p:cNvPr>
          <p:cNvGrpSpPr>
            <a:grpSpLocks/>
          </p:cNvGrpSpPr>
          <p:nvPr/>
        </p:nvGrpSpPr>
        <p:grpSpPr bwMode="auto">
          <a:xfrm>
            <a:off x="5111197" y="4481898"/>
            <a:ext cx="447675" cy="468312"/>
            <a:chOff x="1695" y="6990"/>
            <a:chExt cx="420" cy="420"/>
          </a:xfrm>
        </p:grpSpPr>
        <p:sp>
          <p:nvSpPr>
            <p:cNvPr id="19" name="Oval 164">
              <a:extLst>
                <a:ext uri="{FF2B5EF4-FFF2-40B4-BE49-F238E27FC236}">
                  <a16:creationId xmlns:a16="http://schemas.microsoft.com/office/drawing/2014/main" id="{545B5FBA-767F-548E-562F-BF4E12E284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5" y="6990"/>
              <a:ext cx="420" cy="42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  <p:sp>
          <p:nvSpPr>
            <p:cNvPr id="20" name="Line 163">
              <a:extLst>
                <a:ext uri="{FF2B5EF4-FFF2-40B4-BE49-F238E27FC236}">
                  <a16:creationId xmlns:a16="http://schemas.microsoft.com/office/drawing/2014/main" id="{F048B0B9-41FD-A73A-A2AE-304D4991BF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0" y="7125"/>
              <a:ext cx="39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  <p:sp>
          <p:nvSpPr>
            <p:cNvPr id="21" name="Line 162">
              <a:extLst>
                <a:ext uri="{FF2B5EF4-FFF2-40B4-BE49-F238E27FC236}">
                  <a16:creationId xmlns:a16="http://schemas.microsoft.com/office/drawing/2014/main" id="{7BDF788C-130C-398A-3B4F-DE0153C119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5" y="7125"/>
              <a:ext cx="0" cy="28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</p:grpSp>
      <p:grpSp>
        <p:nvGrpSpPr>
          <p:cNvPr id="23" name="Group 156">
            <a:extLst>
              <a:ext uri="{FF2B5EF4-FFF2-40B4-BE49-F238E27FC236}">
                <a16:creationId xmlns:a16="http://schemas.microsoft.com/office/drawing/2014/main" id="{31633E9B-62A2-583B-8B27-DAD3D8DD2E6E}"/>
              </a:ext>
            </a:extLst>
          </p:cNvPr>
          <p:cNvGrpSpPr>
            <a:grpSpLocks/>
          </p:cNvGrpSpPr>
          <p:nvPr/>
        </p:nvGrpSpPr>
        <p:grpSpPr bwMode="auto">
          <a:xfrm>
            <a:off x="11593998" y="1591225"/>
            <a:ext cx="447675" cy="468313"/>
            <a:chOff x="1695" y="6990"/>
            <a:chExt cx="420" cy="420"/>
          </a:xfrm>
        </p:grpSpPr>
        <p:sp>
          <p:nvSpPr>
            <p:cNvPr id="24" name="Oval 159">
              <a:extLst>
                <a:ext uri="{FF2B5EF4-FFF2-40B4-BE49-F238E27FC236}">
                  <a16:creationId xmlns:a16="http://schemas.microsoft.com/office/drawing/2014/main" id="{8ADE0B81-DD40-70E5-F1CD-702B5932E1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5" y="6990"/>
              <a:ext cx="420" cy="42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  <p:sp>
          <p:nvSpPr>
            <p:cNvPr id="25" name="Line 158">
              <a:extLst>
                <a:ext uri="{FF2B5EF4-FFF2-40B4-BE49-F238E27FC236}">
                  <a16:creationId xmlns:a16="http://schemas.microsoft.com/office/drawing/2014/main" id="{7D918927-239E-495B-7AE9-A9DF50AAF5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0" y="7125"/>
              <a:ext cx="39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  <p:sp>
          <p:nvSpPr>
            <p:cNvPr id="26" name="Line 157">
              <a:extLst>
                <a:ext uri="{FF2B5EF4-FFF2-40B4-BE49-F238E27FC236}">
                  <a16:creationId xmlns:a16="http://schemas.microsoft.com/office/drawing/2014/main" id="{A7A1CF6A-DA35-3F38-5B1A-CA2E76BD8F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5" y="7125"/>
              <a:ext cx="0" cy="28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</p:grpSp>
      <p:grpSp>
        <p:nvGrpSpPr>
          <p:cNvPr id="28" name="Group 151">
            <a:extLst>
              <a:ext uri="{FF2B5EF4-FFF2-40B4-BE49-F238E27FC236}">
                <a16:creationId xmlns:a16="http://schemas.microsoft.com/office/drawing/2014/main" id="{1F8F1269-AEE8-2E17-4C9E-1932FFE22A55}"/>
              </a:ext>
            </a:extLst>
          </p:cNvPr>
          <p:cNvGrpSpPr>
            <a:grpSpLocks/>
          </p:cNvGrpSpPr>
          <p:nvPr/>
        </p:nvGrpSpPr>
        <p:grpSpPr bwMode="auto">
          <a:xfrm>
            <a:off x="6434323" y="3233703"/>
            <a:ext cx="447675" cy="468312"/>
            <a:chOff x="1695" y="6990"/>
            <a:chExt cx="420" cy="420"/>
          </a:xfrm>
        </p:grpSpPr>
        <p:sp>
          <p:nvSpPr>
            <p:cNvPr id="29" name="Oval 154">
              <a:extLst>
                <a:ext uri="{FF2B5EF4-FFF2-40B4-BE49-F238E27FC236}">
                  <a16:creationId xmlns:a16="http://schemas.microsoft.com/office/drawing/2014/main" id="{E1A5AFB7-8842-BC1B-D1A6-9F2311B740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5" y="6990"/>
              <a:ext cx="420" cy="42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  <p:sp>
          <p:nvSpPr>
            <p:cNvPr id="30" name="Line 153">
              <a:extLst>
                <a:ext uri="{FF2B5EF4-FFF2-40B4-BE49-F238E27FC236}">
                  <a16:creationId xmlns:a16="http://schemas.microsoft.com/office/drawing/2014/main" id="{61565ABA-8CF2-CBEA-2462-6ACBE54EBA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0" y="7125"/>
              <a:ext cx="39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  <p:sp>
          <p:nvSpPr>
            <p:cNvPr id="31" name="Line 152">
              <a:extLst>
                <a:ext uri="{FF2B5EF4-FFF2-40B4-BE49-F238E27FC236}">
                  <a16:creationId xmlns:a16="http://schemas.microsoft.com/office/drawing/2014/main" id="{EEC19FC9-5D71-ECF0-3C63-6D011166DB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5" y="7125"/>
              <a:ext cx="0" cy="28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</p:grpSp>
      <p:grpSp>
        <p:nvGrpSpPr>
          <p:cNvPr id="33" name="Group 146">
            <a:extLst>
              <a:ext uri="{FF2B5EF4-FFF2-40B4-BE49-F238E27FC236}">
                <a16:creationId xmlns:a16="http://schemas.microsoft.com/office/drawing/2014/main" id="{CC817CC0-E51A-4CFD-8341-F16D1E4E17AA}"/>
              </a:ext>
            </a:extLst>
          </p:cNvPr>
          <p:cNvGrpSpPr>
            <a:grpSpLocks/>
          </p:cNvGrpSpPr>
          <p:nvPr/>
        </p:nvGrpSpPr>
        <p:grpSpPr bwMode="auto">
          <a:xfrm>
            <a:off x="5107160" y="3208338"/>
            <a:ext cx="446087" cy="468313"/>
            <a:chOff x="1695" y="6990"/>
            <a:chExt cx="420" cy="420"/>
          </a:xfrm>
        </p:grpSpPr>
        <p:sp>
          <p:nvSpPr>
            <p:cNvPr id="34" name="Oval 149">
              <a:extLst>
                <a:ext uri="{FF2B5EF4-FFF2-40B4-BE49-F238E27FC236}">
                  <a16:creationId xmlns:a16="http://schemas.microsoft.com/office/drawing/2014/main" id="{A40A2D54-5ECA-4B7E-444C-4EC1864991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5" y="6990"/>
              <a:ext cx="420" cy="42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  <p:sp>
          <p:nvSpPr>
            <p:cNvPr id="35" name="Line 148">
              <a:extLst>
                <a:ext uri="{FF2B5EF4-FFF2-40B4-BE49-F238E27FC236}">
                  <a16:creationId xmlns:a16="http://schemas.microsoft.com/office/drawing/2014/main" id="{BC184AE3-089C-707F-D7DF-1A28105F0E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0" y="7125"/>
              <a:ext cx="39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  <p:sp>
          <p:nvSpPr>
            <p:cNvPr id="36" name="Line 147">
              <a:extLst>
                <a:ext uri="{FF2B5EF4-FFF2-40B4-BE49-F238E27FC236}">
                  <a16:creationId xmlns:a16="http://schemas.microsoft.com/office/drawing/2014/main" id="{AEA97ED9-AF3B-5276-B693-3CC92EC662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5" y="7125"/>
              <a:ext cx="0" cy="28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</p:grpSp>
      <p:grpSp>
        <p:nvGrpSpPr>
          <p:cNvPr id="38" name="Group 141">
            <a:extLst>
              <a:ext uri="{FF2B5EF4-FFF2-40B4-BE49-F238E27FC236}">
                <a16:creationId xmlns:a16="http://schemas.microsoft.com/office/drawing/2014/main" id="{0E203A17-A238-4C1A-6D8A-B10532619B22}"/>
              </a:ext>
            </a:extLst>
          </p:cNvPr>
          <p:cNvGrpSpPr>
            <a:grpSpLocks/>
          </p:cNvGrpSpPr>
          <p:nvPr/>
        </p:nvGrpSpPr>
        <p:grpSpPr bwMode="auto">
          <a:xfrm>
            <a:off x="7800648" y="3193452"/>
            <a:ext cx="447675" cy="468312"/>
            <a:chOff x="1695" y="6990"/>
            <a:chExt cx="420" cy="420"/>
          </a:xfrm>
        </p:grpSpPr>
        <p:sp>
          <p:nvSpPr>
            <p:cNvPr id="39" name="Oval 144">
              <a:extLst>
                <a:ext uri="{FF2B5EF4-FFF2-40B4-BE49-F238E27FC236}">
                  <a16:creationId xmlns:a16="http://schemas.microsoft.com/office/drawing/2014/main" id="{3D174673-47FE-0938-3343-B54F6FB55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5" y="6990"/>
              <a:ext cx="420" cy="42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  <p:sp>
          <p:nvSpPr>
            <p:cNvPr id="40" name="Line 143">
              <a:extLst>
                <a:ext uri="{FF2B5EF4-FFF2-40B4-BE49-F238E27FC236}">
                  <a16:creationId xmlns:a16="http://schemas.microsoft.com/office/drawing/2014/main" id="{A89A9E5A-C999-6153-830B-3F4979C017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0" y="7125"/>
              <a:ext cx="39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  <p:sp>
          <p:nvSpPr>
            <p:cNvPr id="41" name="Line 142">
              <a:extLst>
                <a:ext uri="{FF2B5EF4-FFF2-40B4-BE49-F238E27FC236}">
                  <a16:creationId xmlns:a16="http://schemas.microsoft.com/office/drawing/2014/main" id="{BB97998A-DB38-1705-3BCA-AC2744925B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5" y="7125"/>
              <a:ext cx="0" cy="28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</p:grpSp>
      <p:sp>
        <p:nvSpPr>
          <p:cNvPr id="42" name="Text Box 140">
            <a:extLst>
              <a:ext uri="{FF2B5EF4-FFF2-40B4-BE49-F238E27FC236}">
                <a16:creationId xmlns:a16="http://schemas.microsoft.com/office/drawing/2014/main" id="{FE86CB8C-2A44-DD2D-A86D-D3B4BCBB07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6721" y="3370270"/>
            <a:ext cx="688975" cy="317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400" b="1" dirty="0">
                <a:latin typeface="Arial" pitchFamily="34" charset="0"/>
                <a:cs typeface="Arial" pitchFamily="34" charset="0"/>
              </a:rPr>
              <a:t>3  3 </a:t>
            </a:r>
          </a:p>
        </p:txBody>
      </p:sp>
      <p:sp>
        <p:nvSpPr>
          <p:cNvPr id="43" name="Line 139">
            <a:extLst>
              <a:ext uri="{FF2B5EF4-FFF2-40B4-BE49-F238E27FC236}">
                <a16:creationId xmlns:a16="http://schemas.microsoft.com/office/drawing/2014/main" id="{7659399E-510C-304B-D008-D058A5FABF8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84673" y="2100973"/>
            <a:ext cx="990599" cy="1101531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 sz="1400" b="1"/>
          </a:p>
        </p:txBody>
      </p:sp>
      <p:sp>
        <p:nvSpPr>
          <p:cNvPr id="44" name="Line 138">
            <a:extLst>
              <a:ext uri="{FF2B5EF4-FFF2-40B4-BE49-F238E27FC236}">
                <a16:creationId xmlns:a16="http://schemas.microsoft.com/office/drawing/2014/main" id="{3D18CD97-175F-101D-43DE-637458E2B1A3}"/>
              </a:ext>
            </a:extLst>
          </p:cNvPr>
          <p:cNvSpPr>
            <a:spLocks noChangeShapeType="1"/>
          </p:cNvSpPr>
          <p:nvPr/>
        </p:nvSpPr>
        <p:spPr bwMode="auto">
          <a:xfrm>
            <a:off x="4186421" y="3453051"/>
            <a:ext cx="918878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 sz="1400" b="1"/>
          </a:p>
        </p:txBody>
      </p:sp>
      <p:sp>
        <p:nvSpPr>
          <p:cNvPr id="45" name="Line 137">
            <a:extLst>
              <a:ext uri="{FF2B5EF4-FFF2-40B4-BE49-F238E27FC236}">
                <a16:creationId xmlns:a16="http://schemas.microsoft.com/office/drawing/2014/main" id="{5B65CB37-2257-50EC-E011-C687F19E7DDE}"/>
              </a:ext>
            </a:extLst>
          </p:cNvPr>
          <p:cNvSpPr>
            <a:spLocks noChangeShapeType="1"/>
          </p:cNvSpPr>
          <p:nvPr/>
        </p:nvSpPr>
        <p:spPr bwMode="auto">
          <a:xfrm>
            <a:off x="2868331" y="3636541"/>
            <a:ext cx="2258854" cy="1015921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 sz="1400" b="1"/>
          </a:p>
        </p:txBody>
      </p:sp>
      <p:grpSp>
        <p:nvGrpSpPr>
          <p:cNvPr id="46" name="Group 133">
            <a:extLst>
              <a:ext uri="{FF2B5EF4-FFF2-40B4-BE49-F238E27FC236}">
                <a16:creationId xmlns:a16="http://schemas.microsoft.com/office/drawing/2014/main" id="{FE4E04F3-C6AB-0201-DBEE-B2FAE71FD149}"/>
              </a:ext>
            </a:extLst>
          </p:cNvPr>
          <p:cNvGrpSpPr>
            <a:grpSpLocks/>
          </p:cNvGrpSpPr>
          <p:nvPr/>
        </p:nvGrpSpPr>
        <p:grpSpPr bwMode="auto">
          <a:xfrm>
            <a:off x="11578008" y="3150869"/>
            <a:ext cx="447675" cy="466725"/>
            <a:chOff x="1695" y="6990"/>
            <a:chExt cx="420" cy="420"/>
          </a:xfrm>
        </p:grpSpPr>
        <p:sp>
          <p:nvSpPr>
            <p:cNvPr id="47" name="Oval 136">
              <a:extLst>
                <a:ext uri="{FF2B5EF4-FFF2-40B4-BE49-F238E27FC236}">
                  <a16:creationId xmlns:a16="http://schemas.microsoft.com/office/drawing/2014/main" id="{A68262A5-B20B-39A2-628E-E2FAAB80DD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5" y="6990"/>
              <a:ext cx="420" cy="42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  <p:sp>
          <p:nvSpPr>
            <p:cNvPr id="48" name="Line 135">
              <a:extLst>
                <a:ext uri="{FF2B5EF4-FFF2-40B4-BE49-F238E27FC236}">
                  <a16:creationId xmlns:a16="http://schemas.microsoft.com/office/drawing/2014/main" id="{D71A3C7F-9849-2CDD-E881-3B6C51B444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0" y="7125"/>
              <a:ext cx="39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  <p:sp>
          <p:nvSpPr>
            <p:cNvPr id="49" name="Line 134">
              <a:extLst>
                <a:ext uri="{FF2B5EF4-FFF2-40B4-BE49-F238E27FC236}">
                  <a16:creationId xmlns:a16="http://schemas.microsoft.com/office/drawing/2014/main" id="{EBADAE85-F820-4F81-DAD6-2C463EDE57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5" y="7125"/>
              <a:ext cx="0" cy="28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</p:grpSp>
      <p:sp>
        <p:nvSpPr>
          <p:cNvPr id="50" name="Text Box 132">
            <a:extLst>
              <a:ext uri="{FF2B5EF4-FFF2-40B4-BE49-F238E27FC236}">
                <a16:creationId xmlns:a16="http://schemas.microsoft.com/office/drawing/2014/main" id="{702C0AA6-13DB-B72B-904A-AED4F271E5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4496" y="5460123"/>
            <a:ext cx="687388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s-ES_tradnl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1" name="Text Box 131">
            <a:extLst>
              <a:ext uri="{FF2B5EF4-FFF2-40B4-BE49-F238E27FC236}">
                <a16:creationId xmlns:a16="http://schemas.microsoft.com/office/drawing/2014/main" id="{0CB0A3D9-39F0-1D84-B7DF-C452C6644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5767" y="2279582"/>
            <a:ext cx="862012" cy="265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400" b="1" dirty="0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A-2</a:t>
            </a:r>
            <a:endParaRPr lang="es-ES_tradnl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Text Box 129">
            <a:extLst>
              <a:ext uri="{FF2B5EF4-FFF2-40B4-BE49-F238E27FC236}">
                <a16:creationId xmlns:a16="http://schemas.microsoft.com/office/drawing/2014/main" id="{C911AD96-216E-C4B5-507E-5E4753CFA1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381" y="1600535"/>
            <a:ext cx="698500" cy="254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400" b="1" dirty="0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C-4</a:t>
            </a:r>
            <a:endParaRPr lang="es-ES_tradnl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4" name="Text Box 128">
            <a:extLst>
              <a:ext uri="{FF2B5EF4-FFF2-40B4-BE49-F238E27FC236}">
                <a16:creationId xmlns:a16="http://schemas.microsoft.com/office/drawing/2014/main" id="{60649C29-34BA-1F99-CAC9-9477F70350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4739" y="3050103"/>
            <a:ext cx="5349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400" b="1" dirty="0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D-3</a:t>
            </a:r>
            <a:endParaRPr lang="es-ES_tradnl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5" name="Text Box 127">
            <a:extLst>
              <a:ext uri="{FF2B5EF4-FFF2-40B4-BE49-F238E27FC236}">
                <a16:creationId xmlns:a16="http://schemas.microsoft.com/office/drawing/2014/main" id="{74C3BB41-C293-AC21-0A83-D7AC48C8C1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6237" y="3083067"/>
            <a:ext cx="515144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400" b="1" dirty="0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E-2</a:t>
            </a:r>
            <a:endParaRPr lang="es-ES_tradnl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6" name="Text Box 179">
            <a:extLst>
              <a:ext uri="{FF2B5EF4-FFF2-40B4-BE49-F238E27FC236}">
                <a16:creationId xmlns:a16="http://schemas.microsoft.com/office/drawing/2014/main" id="{6059CB28-F8C7-D40D-6B50-5353D6CA29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6130" y="3163512"/>
            <a:ext cx="515144" cy="24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400" b="1" dirty="0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F-3</a:t>
            </a:r>
            <a:endParaRPr lang="es-ES_tradnl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7" name="Text Box 126">
            <a:extLst>
              <a:ext uri="{FF2B5EF4-FFF2-40B4-BE49-F238E27FC236}">
                <a16:creationId xmlns:a16="http://schemas.microsoft.com/office/drawing/2014/main" id="{131E96AD-BA24-811A-AD16-A6FC3C9248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0580" y="3970670"/>
            <a:ext cx="935037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400" b="1" dirty="0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G-1</a:t>
            </a:r>
            <a:endParaRPr lang="es-ES_tradnl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8" name="Text Box 125">
            <a:extLst>
              <a:ext uri="{FF2B5EF4-FFF2-40B4-BE49-F238E27FC236}">
                <a16:creationId xmlns:a16="http://schemas.microsoft.com/office/drawing/2014/main" id="{56020BD5-BDD0-5B1F-356E-455EDFA7A6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0279" y="3974556"/>
            <a:ext cx="4826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400" b="1" dirty="0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H-4</a:t>
            </a:r>
            <a:endParaRPr lang="es-ES_tradnl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 Box 124">
            <a:extLst>
              <a:ext uri="{FF2B5EF4-FFF2-40B4-BE49-F238E27FC236}">
                <a16:creationId xmlns:a16="http://schemas.microsoft.com/office/drawing/2014/main" id="{4CF60D91-688D-75F3-7213-E58863B36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86264" y="4346106"/>
            <a:ext cx="4349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400" b="1" dirty="0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I-3</a:t>
            </a:r>
            <a:endParaRPr lang="es-ES_tradnl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 Box 123">
            <a:extLst>
              <a:ext uri="{FF2B5EF4-FFF2-40B4-BE49-F238E27FC236}">
                <a16:creationId xmlns:a16="http://schemas.microsoft.com/office/drawing/2014/main" id="{FF7848F6-3736-022C-9328-EBEB1F12CE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7780" y="3140400"/>
            <a:ext cx="47625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400" b="1" dirty="0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J-2</a:t>
            </a:r>
            <a:endParaRPr lang="es-ES_tradnl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 Box 122">
            <a:extLst>
              <a:ext uri="{FF2B5EF4-FFF2-40B4-BE49-F238E27FC236}">
                <a16:creationId xmlns:a16="http://schemas.microsoft.com/office/drawing/2014/main" id="{25B91A85-4836-1304-E423-BF201080D6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54986" y="3110623"/>
            <a:ext cx="4810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400" b="1" dirty="0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K-3</a:t>
            </a:r>
            <a:endParaRPr lang="es-ES_tradnl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2" name="Text Box 121">
            <a:extLst>
              <a:ext uri="{FF2B5EF4-FFF2-40B4-BE49-F238E27FC236}">
                <a16:creationId xmlns:a16="http://schemas.microsoft.com/office/drawing/2014/main" id="{3888CDE8-E9B6-0C43-6AC8-B58BE070FB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55766" y="3129757"/>
            <a:ext cx="474663" cy="31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400" b="1" dirty="0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L-5</a:t>
            </a:r>
            <a:endParaRPr lang="es-ES_tradnl" sz="1400" b="1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63" name="Group 117">
            <a:extLst>
              <a:ext uri="{FF2B5EF4-FFF2-40B4-BE49-F238E27FC236}">
                <a16:creationId xmlns:a16="http://schemas.microsoft.com/office/drawing/2014/main" id="{1C9EDFC3-29B3-C192-E2A1-405AAF1C5D42}"/>
              </a:ext>
            </a:extLst>
          </p:cNvPr>
          <p:cNvGrpSpPr>
            <a:grpSpLocks/>
          </p:cNvGrpSpPr>
          <p:nvPr/>
        </p:nvGrpSpPr>
        <p:grpSpPr bwMode="auto">
          <a:xfrm>
            <a:off x="10378222" y="4441368"/>
            <a:ext cx="447675" cy="468313"/>
            <a:chOff x="1695" y="6990"/>
            <a:chExt cx="420" cy="420"/>
          </a:xfrm>
        </p:grpSpPr>
        <p:sp>
          <p:nvSpPr>
            <p:cNvPr id="64" name="Oval 120">
              <a:extLst>
                <a:ext uri="{FF2B5EF4-FFF2-40B4-BE49-F238E27FC236}">
                  <a16:creationId xmlns:a16="http://schemas.microsoft.com/office/drawing/2014/main" id="{01F1B4BB-09B6-7B75-0E47-0D49DDA96B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5" y="6990"/>
              <a:ext cx="420" cy="42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  <p:sp>
          <p:nvSpPr>
            <p:cNvPr id="65" name="Line 119">
              <a:extLst>
                <a:ext uri="{FF2B5EF4-FFF2-40B4-BE49-F238E27FC236}">
                  <a16:creationId xmlns:a16="http://schemas.microsoft.com/office/drawing/2014/main" id="{F10771E4-610A-C4A1-7917-4ACF274402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0" y="7125"/>
              <a:ext cx="39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  <p:sp>
          <p:nvSpPr>
            <p:cNvPr id="66" name="Line 118">
              <a:extLst>
                <a:ext uri="{FF2B5EF4-FFF2-40B4-BE49-F238E27FC236}">
                  <a16:creationId xmlns:a16="http://schemas.microsoft.com/office/drawing/2014/main" id="{BE18848E-B726-6FEA-9146-86567CD65E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5" y="7125"/>
              <a:ext cx="0" cy="28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</p:grpSp>
      <p:sp>
        <p:nvSpPr>
          <p:cNvPr id="67" name="Text Box 116">
            <a:extLst>
              <a:ext uri="{FF2B5EF4-FFF2-40B4-BE49-F238E27FC236}">
                <a16:creationId xmlns:a16="http://schemas.microsoft.com/office/drawing/2014/main" id="{AC57C2D2-43E7-5F23-9604-F058680956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7984" y="5522407"/>
            <a:ext cx="587375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s-ES_tradnl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8" name="Line 115">
            <a:extLst>
              <a:ext uri="{FF2B5EF4-FFF2-40B4-BE49-F238E27FC236}">
                <a16:creationId xmlns:a16="http://schemas.microsoft.com/office/drawing/2014/main" id="{15952493-4E4E-E2BF-C19B-633D061247B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53247" y="3442493"/>
            <a:ext cx="867548" cy="93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 sz="1400" b="1"/>
          </a:p>
        </p:txBody>
      </p:sp>
      <p:grpSp>
        <p:nvGrpSpPr>
          <p:cNvPr id="69" name="Group 111">
            <a:extLst>
              <a:ext uri="{FF2B5EF4-FFF2-40B4-BE49-F238E27FC236}">
                <a16:creationId xmlns:a16="http://schemas.microsoft.com/office/drawing/2014/main" id="{05CC7BD7-3DE2-3AF9-09F5-1EB62ED52E4E}"/>
              </a:ext>
            </a:extLst>
          </p:cNvPr>
          <p:cNvGrpSpPr>
            <a:grpSpLocks/>
          </p:cNvGrpSpPr>
          <p:nvPr/>
        </p:nvGrpSpPr>
        <p:grpSpPr bwMode="auto">
          <a:xfrm>
            <a:off x="10347021" y="3172242"/>
            <a:ext cx="447675" cy="468313"/>
            <a:chOff x="1695" y="6990"/>
            <a:chExt cx="420" cy="420"/>
          </a:xfrm>
        </p:grpSpPr>
        <p:sp>
          <p:nvSpPr>
            <p:cNvPr id="70" name="Oval 114">
              <a:extLst>
                <a:ext uri="{FF2B5EF4-FFF2-40B4-BE49-F238E27FC236}">
                  <a16:creationId xmlns:a16="http://schemas.microsoft.com/office/drawing/2014/main" id="{630AC843-E9F9-C03C-BCD7-33272C696B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5" y="6990"/>
              <a:ext cx="420" cy="42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  <p:sp>
          <p:nvSpPr>
            <p:cNvPr id="71" name="Line 113">
              <a:extLst>
                <a:ext uri="{FF2B5EF4-FFF2-40B4-BE49-F238E27FC236}">
                  <a16:creationId xmlns:a16="http://schemas.microsoft.com/office/drawing/2014/main" id="{4C66231D-8310-97C8-4C87-7345404213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0" y="7125"/>
              <a:ext cx="39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  <p:sp>
          <p:nvSpPr>
            <p:cNvPr id="72" name="Line 112">
              <a:extLst>
                <a:ext uri="{FF2B5EF4-FFF2-40B4-BE49-F238E27FC236}">
                  <a16:creationId xmlns:a16="http://schemas.microsoft.com/office/drawing/2014/main" id="{C635B899-C24D-DFBA-8744-8BAFAFCB8B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5" y="7125"/>
              <a:ext cx="0" cy="28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</p:grpSp>
      <p:sp>
        <p:nvSpPr>
          <p:cNvPr id="74" name="Line 109">
            <a:extLst>
              <a:ext uri="{FF2B5EF4-FFF2-40B4-BE49-F238E27FC236}">
                <a16:creationId xmlns:a16="http://schemas.microsoft.com/office/drawing/2014/main" id="{BA3A08EF-781F-55D5-21B5-268A5815D139}"/>
              </a:ext>
            </a:extLst>
          </p:cNvPr>
          <p:cNvSpPr>
            <a:spLocks noChangeShapeType="1"/>
          </p:cNvSpPr>
          <p:nvPr/>
        </p:nvSpPr>
        <p:spPr bwMode="auto">
          <a:xfrm>
            <a:off x="5553247" y="4652462"/>
            <a:ext cx="4845452" cy="32304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 sz="1400" b="1"/>
          </a:p>
        </p:txBody>
      </p:sp>
      <p:sp>
        <p:nvSpPr>
          <p:cNvPr id="76" name="Line 107">
            <a:extLst>
              <a:ext uri="{FF2B5EF4-FFF2-40B4-BE49-F238E27FC236}">
                <a16:creationId xmlns:a16="http://schemas.microsoft.com/office/drawing/2014/main" id="{28FAD12C-B912-79E3-6F9E-EB2CCE665452}"/>
              </a:ext>
            </a:extLst>
          </p:cNvPr>
          <p:cNvSpPr>
            <a:spLocks noChangeShapeType="1"/>
          </p:cNvSpPr>
          <p:nvPr/>
        </p:nvSpPr>
        <p:spPr bwMode="auto">
          <a:xfrm>
            <a:off x="2935472" y="3453051"/>
            <a:ext cx="795337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 sz="1400" b="1"/>
          </a:p>
        </p:txBody>
      </p:sp>
      <p:sp>
        <p:nvSpPr>
          <p:cNvPr id="82" name="Line 101">
            <a:extLst>
              <a:ext uri="{FF2B5EF4-FFF2-40B4-BE49-F238E27FC236}">
                <a16:creationId xmlns:a16="http://schemas.microsoft.com/office/drawing/2014/main" id="{F1E4EDCF-57BF-50DB-B150-4AE186615DB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83859" y="3442494"/>
            <a:ext cx="932772" cy="1055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 sz="1400" b="1"/>
          </a:p>
        </p:txBody>
      </p:sp>
      <p:sp>
        <p:nvSpPr>
          <p:cNvPr id="83" name="Line 100">
            <a:extLst>
              <a:ext uri="{FF2B5EF4-FFF2-40B4-BE49-F238E27FC236}">
                <a16:creationId xmlns:a16="http://schemas.microsoft.com/office/drawing/2014/main" id="{397CC8EC-83F8-4AB7-6DC4-7BDA7290E8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68958" y="1855892"/>
            <a:ext cx="7425039" cy="3781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 sz="1400" b="1"/>
          </a:p>
        </p:txBody>
      </p:sp>
      <p:sp>
        <p:nvSpPr>
          <p:cNvPr id="86" name="Line 97">
            <a:extLst>
              <a:ext uri="{FF2B5EF4-FFF2-40B4-BE49-F238E27FC236}">
                <a16:creationId xmlns:a16="http://schemas.microsoft.com/office/drawing/2014/main" id="{3512363D-DDA8-0EEA-78F1-03596E0A347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31584" y="2133392"/>
            <a:ext cx="10463" cy="1069111"/>
          </a:xfrm>
          <a:prstGeom prst="line">
            <a:avLst/>
          </a:prstGeom>
          <a:noFill/>
          <a:ln w="25400">
            <a:solidFill>
              <a:srgbClr val="000000"/>
            </a:solidFill>
            <a:prstDash val="dash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 sz="1400" b="1"/>
          </a:p>
        </p:txBody>
      </p:sp>
      <p:sp>
        <p:nvSpPr>
          <p:cNvPr id="87" name="Line 96">
            <a:extLst>
              <a:ext uri="{FF2B5EF4-FFF2-40B4-BE49-F238E27FC236}">
                <a16:creationId xmlns:a16="http://schemas.microsoft.com/office/drawing/2014/main" id="{D4EDFC9F-2317-C37D-F53F-43BA10C25B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64203" y="3641744"/>
            <a:ext cx="0" cy="789679"/>
          </a:xfrm>
          <a:prstGeom prst="line">
            <a:avLst/>
          </a:prstGeom>
          <a:noFill/>
          <a:ln w="25400">
            <a:solidFill>
              <a:srgbClr val="000000"/>
            </a:solidFill>
            <a:prstDash val="dash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 sz="1400" b="1"/>
          </a:p>
        </p:txBody>
      </p:sp>
      <p:sp>
        <p:nvSpPr>
          <p:cNvPr id="88" name="Line 95">
            <a:extLst>
              <a:ext uri="{FF2B5EF4-FFF2-40B4-BE49-F238E27FC236}">
                <a16:creationId xmlns:a16="http://schemas.microsoft.com/office/drawing/2014/main" id="{C4330E51-3B8D-EE85-C2C4-BE238C1DA5F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820084" y="3613304"/>
            <a:ext cx="901383" cy="94003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 sz="1400" b="1"/>
          </a:p>
        </p:txBody>
      </p:sp>
      <p:grpSp>
        <p:nvGrpSpPr>
          <p:cNvPr id="89" name="Group 91">
            <a:extLst>
              <a:ext uri="{FF2B5EF4-FFF2-40B4-BE49-F238E27FC236}">
                <a16:creationId xmlns:a16="http://schemas.microsoft.com/office/drawing/2014/main" id="{93350257-83AD-B02B-B2B8-7AE201392A8F}"/>
              </a:ext>
            </a:extLst>
          </p:cNvPr>
          <p:cNvGrpSpPr>
            <a:grpSpLocks/>
          </p:cNvGrpSpPr>
          <p:nvPr/>
        </p:nvGrpSpPr>
        <p:grpSpPr bwMode="auto">
          <a:xfrm>
            <a:off x="9077896" y="3178638"/>
            <a:ext cx="447675" cy="466725"/>
            <a:chOff x="1695" y="6990"/>
            <a:chExt cx="420" cy="420"/>
          </a:xfrm>
        </p:grpSpPr>
        <p:sp>
          <p:nvSpPr>
            <p:cNvPr id="90" name="Oval 94">
              <a:extLst>
                <a:ext uri="{FF2B5EF4-FFF2-40B4-BE49-F238E27FC236}">
                  <a16:creationId xmlns:a16="http://schemas.microsoft.com/office/drawing/2014/main" id="{02CBCA56-0B87-B1E2-F3D4-E55353F28F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5" y="6990"/>
              <a:ext cx="420" cy="42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  <p:sp>
          <p:nvSpPr>
            <p:cNvPr id="91" name="Line 93">
              <a:extLst>
                <a:ext uri="{FF2B5EF4-FFF2-40B4-BE49-F238E27FC236}">
                  <a16:creationId xmlns:a16="http://schemas.microsoft.com/office/drawing/2014/main" id="{D5CD2656-D135-5A87-36E6-AA6B9D0322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0" y="7125"/>
              <a:ext cx="39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  <p:sp>
          <p:nvSpPr>
            <p:cNvPr id="92" name="Line 92">
              <a:extLst>
                <a:ext uri="{FF2B5EF4-FFF2-40B4-BE49-F238E27FC236}">
                  <a16:creationId xmlns:a16="http://schemas.microsoft.com/office/drawing/2014/main" id="{E9CE99B0-BF4D-BFF3-5896-F1F1819177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5" y="7125"/>
              <a:ext cx="0" cy="28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1400" b="1"/>
            </a:p>
          </p:txBody>
        </p:sp>
      </p:grpSp>
      <p:sp>
        <p:nvSpPr>
          <p:cNvPr id="93" name="Text Box 90">
            <a:extLst>
              <a:ext uri="{FF2B5EF4-FFF2-40B4-BE49-F238E27FC236}">
                <a16:creationId xmlns:a16="http://schemas.microsoft.com/office/drawing/2014/main" id="{5E86E002-3A53-FE89-DABB-5324AFCED8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2696" y="4431423"/>
            <a:ext cx="687388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s-ES_tradnl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4" name="Line 89">
            <a:extLst>
              <a:ext uri="{FF2B5EF4-FFF2-40B4-BE49-F238E27FC236}">
                <a16:creationId xmlns:a16="http://schemas.microsoft.com/office/drawing/2014/main" id="{CA192131-89B7-47D2-B652-1AD069B45128}"/>
              </a:ext>
            </a:extLst>
          </p:cNvPr>
          <p:cNvSpPr>
            <a:spLocks noChangeShapeType="1"/>
          </p:cNvSpPr>
          <p:nvPr/>
        </p:nvSpPr>
        <p:spPr bwMode="auto">
          <a:xfrm>
            <a:off x="9536693" y="3425310"/>
            <a:ext cx="799306" cy="84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 sz="1400" b="1"/>
          </a:p>
        </p:txBody>
      </p:sp>
      <p:sp>
        <p:nvSpPr>
          <p:cNvPr id="95" name="Line 88">
            <a:extLst>
              <a:ext uri="{FF2B5EF4-FFF2-40B4-BE49-F238E27FC236}">
                <a16:creationId xmlns:a16="http://schemas.microsoft.com/office/drawing/2014/main" id="{22E07D75-C7FE-E319-5E78-A5858EE0A0C6}"/>
              </a:ext>
            </a:extLst>
          </p:cNvPr>
          <p:cNvSpPr>
            <a:spLocks noChangeShapeType="1"/>
          </p:cNvSpPr>
          <p:nvPr/>
        </p:nvSpPr>
        <p:spPr bwMode="auto">
          <a:xfrm>
            <a:off x="10825251" y="3434269"/>
            <a:ext cx="727369" cy="8224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 sz="1400" b="1"/>
          </a:p>
        </p:txBody>
      </p:sp>
      <p:sp>
        <p:nvSpPr>
          <p:cNvPr id="96" name="Text Box 87">
            <a:extLst>
              <a:ext uri="{FF2B5EF4-FFF2-40B4-BE49-F238E27FC236}">
                <a16:creationId xmlns:a16="http://schemas.microsoft.com/office/drawing/2014/main" id="{E07972B2-BCCC-A487-FFDE-2900930298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18360" y="3756320"/>
            <a:ext cx="546907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400" b="1" dirty="0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M-3</a:t>
            </a:r>
            <a:endParaRPr lang="es-ES_tradnl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8" name="Text Box 1">
            <a:extLst>
              <a:ext uri="{FF2B5EF4-FFF2-40B4-BE49-F238E27FC236}">
                <a16:creationId xmlns:a16="http://schemas.microsoft.com/office/drawing/2014/main" id="{C6633068-381D-8423-9D5C-F0A8D62D3F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3868" y="3328764"/>
            <a:ext cx="687388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400" b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</a:t>
            </a:r>
            <a:r>
              <a:rPr lang="es-ES_tradnl" sz="1400" b="1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0 </a:t>
            </a:r>
            <a:r>
              <a:rPr lang="es-ES_tradnl" sz="1400" b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 0</a:t>
            </a:r>
            <a:endParaRPr lang="es-ES_tradnl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9" name="Rectangle 220">
            <a:extLst>
              <a:ext uri="{FF2B5EF4-FFF2-40B4-BE49-F238E27FC236}">
                <a16:creationId xmlns:a16="http://schemas.microsoft.com/office/drawing/2014/main" id="{940F44CA-03F8-2498-BF00-7556B05A8F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7668" y="3134758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s-PE" sz="1400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100" name="Text Box 87">
            <a:extLst>
              <a:ext uri="{FF2B5EF4-FFF2-40B4-BE49-F238E27FC236}">
                <a16:creationId xmlns:a16="http://schemas.microsoft.com/office/drawing/2014/main" id="{67805D34-582F-C87E-C6A3-0603B46087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90421" y="2651826"/>
            <a:ext cx="470525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400" b="1" dirty="0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N-2</a:t>
            </a:r>
            <a:endParaRPr lang="es-ES_tradnl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2" name="Text Box 131">
            <a:extLst>
              <a:ext uri="{FF2B5EF4-FFF2-40B4-BE49-F238E27FC236}">
                <a16:creationId xmlns:a16="http://schemas.microsoft.com/office/drawing/2014/main" id="{B28157F1-7D47-F1CE-A4CB-403DC5169E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1256" y="3111417"/>
            <a:ext cx="862012" cy="265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400" b="1" dirty="0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B-3</a:t>
            </a:r>
            <a:endParaRPr lang="es-ES_tradnl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4" name="Line 95">
            <a:extLst>
              <a:ext uri="{FF2B5EF4-FFF2-40B4-BE49-F238E27FC236}">
                <a16:creationId xmlns:a16="http://schemas.microsoft.com/office/drawing/2014/main" id="{15029A80-D098-5F55-D2B8-08C9ABDE71F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37316" y="3523428"/>
            <a:ext cx="2279315" cy="110899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 sz="1400" b="1"/>
          </a:p>
        </p:txBody>
      </p:sp>
      <p:sp>
        <p:nvSpPr>
          <p:cNvPr id="109" name="Text Box 110">
            <a:extLst>
              <a:ext uri="{FF2B5EF4-FFF2-40B4-BE49-F238E27FC236}">
                <a16:creationId xmlns:a16="http://schemas.microsoft.com/office/drawing/2014/main" id="{B77CCC51-F65A-AD1B-AC97-444022E1AF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6997" y="4257592"/>
            <a:ext cx="687388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400" b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</a:t>
            </a:r>
            <a:endParaRPr lang="es-ES_tradnl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11" name="Line 115">
            <a:extLst>
              <a:ext uri="{FF2B5EF4-FFF2-40B4-BE49-F238E27FC236}">
                <a16:creationId xmlns:a16="http://schemas.microsoft.com/office/drawing/2014/main" id="{D614B0E9-BFED-E4C7-7516-90ABD9947F21}"/>
              </a:ext>
            </a:extLst>
          </p:cNvPr>
          <p:cNvSpPr>
            <a:spLocks noChangeShapeType="1"/>
          </p:cNvSpPr>
          <p:nvPr/>
        </p:nvSpPr>
        <p:spPr bwMode="auto">
          <a:xfrm>
            <a:off x="8268530" y="3427790"/>
            <a:ext cx="789736" cy="1470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 sz="1400" b="1"/>
          </a:p>
        </p:txBody>
      </p:sp>
      <p:sp>
        <p:nvSpPr>
          <p:cNvPr id="113" name="Line 89">
            <a:extLst>
              <a:ext uri="{FF2B5EF4-FFF2-40B4-BE49-F238E27FC236}">
                <a16:creationId xmlns:a16="http://schemas.microsoft.com/office/drawing/2014/main" id="{6254F88D-B998-E6A6-109C-96918CD0521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801846" y="2099302"/>
            <a:ext cx="15989" cy="1035456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 sz="1400" b="1"/>
          </a:p>
        </p:txBody>
      </p:sp>
      <p:sp>
        <p:nvSpPr>
          <p:cNvPr id="2" name="2 Marcador de contenido">
            <a:extLst>
              <a:ext uri="{FF2B5EF4-FFF2-40B4-BE49-F238E27FC236}">
                <a16:creationId xmlns:a16="http://schemas.microsoft.com/office/drawing/2014/main" id="{80BE4AAA-0370-F2B9-C47A-111BCBB7656D}"/>
              </a:ext>
            </a:extLst>
          </p:cNvPr>
          <p:cNvSpPr txBox="1">
            <a:spLocks/>
          </p:cNvSpPr>
          <p:nvPr/>
        </p:nvSpPr>
        <p:spPr>
          <a:xfrm>
            <a:off x="7862360" y="0"/>
            <a:ext cx="4319007" cy="1262853"/>
          </a:xfrm>
          <a:prstGeom prst="rect">
            <a:avLst/>
          </a:prstGeom>
          <a:solidFill>
            <a:srgbClr val="FFFF00"/>
          </a:solidFill>
        </p:spPr>
        <p:txBody>
          <a:bodyPr/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defRPr/>
            </a:pPr>
            <a:r>
              <a:rPr lang="es-PE" sz="2400" b="1" kern="0" dirty="0">
                <a:latin typeface="Arial Narrow" pitchFamily="34" charset="0"/>
              </a:rPr>
              <a:t>RESPUESTA: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defRPr/>
            </a:pPr>
            <a:r>
              <a:rPr lang="es-PE" sz="2400" b="1" kern="0" dirty="0">
                <a:latin typeface="Arial Narrow" pitchFamily="34" charset="0"/>
              </a:rPr>
              <a:t>Duración del proyecto:  23 min.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defRPr/>
            </a:pPr>
            <a:r>
              <a:rPr lang="es-PE" sz="2400" b="1" kern="0" dirty="0">
                <a:latin typeface="Arial Narrow" pitchFamily="34" charset="0"/>
              </a:rPr>
              <a:t>Rutas críticas: BDEFJKLN</a:t>
            </a:r>
          </a:p>
        </p:txBody>
      </p:sp>
      <p:sp>
        <p:nvSpPr>
          <p:cNvPr id="12" name="Text Box 140">
            <a:extLst>
              <a:ext uri="{FF2B5EF4-FFF2-40B4-BE49-F238E27FC236}">
                <a16:creationId xmlns:a16="http://schemas.microsoft.com/office/drawing/2014/main" id="{36D08D28-04B1-7276-1380-2327FCE24A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476" y="3326218"/>
            <a:ext cx="688975" cy="317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400" b="1" dirty="0">
                <a:latin typeface="Arial" pitchFamily="34" charset="0"/>
                <a:cs typeface="Arial" pitchFamily="34" charset="0"/>
              </a:rPr>
              <a:t>6  6 </a:t>
            </a:r>
          </a:p>
        </p:txBody>
      </p:sp>
      <p:sp>
        <p:nvSpPr>
          <p:cNvPr id="17" name="Text Box 140">
            <a:extLst>
              <a:ext uri="{FF2B5EF4-FFF2-40B4-BE49-F238E27FC236}">
                <a16:creationId xmlns:a16="http://schemas.microsoft.com/office/drawing/2014/main" id="{38C4458A-58CF-F1A3-0F46-03E21F6965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4323" y="3353019"/>
            <a:ext cx="688975" cy="317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400" b="1" dirty="0">
                <a:latin typeface="Arial" pitchFamily="34" charset="0"/>
                <a:cs typeface="Arial" pitchFamily="34" charset="0"/>
              </a:rPr>
              <a:t>8  8 </a:t>
            </a:r>
          </a:p>
        </p:txBody>
      </p:sp>
      <p:sp>
        <p:nvSpPr>
          <p:cNvPr id="22" name="Text Box 140">
            <a:extLst>
              <a:ext uri="{FF2B5EF4-FFF2-40B4-BE49-F238E27FC236}">
                <a16:creationId xmlns:a16="http://schemas.microsoft.com/office/drawing/2014/main" id="{1867D18E-062C-F4E7-ABCF-5907D2279D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6358" y="3300563"/>
            <a:ext cx="688975" cy="317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400" b="1" dirty="0">
                <a:latin typeface="Arial" pitchFamily="34" charset="0"/>
                <a:cs typeface="Arial" pitchFamily="34" charset="0"/>
              </a:rPr>
              <a:t>11 11 </a:t>
            </a:r>
          </a:p>
        </p:txBody>
      </p:sp>
      <p:sp>
        <p:nvSpPr>
          <p:cNvPr id="27" name="Text Box 140">
            <a:extLst>
              <a:ext uri="{FF2B5EF4-FFF2-40B4-BE49-F238E27FC236}">
                <a16:creationId xmlns:a16="http://schemas.microsoft.com/office/drawing/2014/main" id="{ACFBCBD1-72AC-28BC-3767-B925B5ABC0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5422" y="3300076"/>
            <a:ext cx="688975" cy="317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400" b="1" dirty="0">
                <a:latin typeface="Arial" pitchFamily="34" charset="0"/>
                <a:cs typeface="Arial" pitchFamily="34" charset="0"/>
              </a:rPr>
              <a:t>13 13 </a:t>
            </a:r>
          </a:p>
        </p:txBody>
      </p:sp>
      <p:sp>
        <p:nvSpPr>
          <p:cNvPr id="32" name="Text Box 140">
            <a:extLst>
              <a:ext uri="{FF2B5EF4-FFF2-40B4-BE49-F238E27FC236}">
                <a16:creationId xmlns:a16="http://schemas.microsoft.com/office/drawing/2014/main" id="{C06E4D8D-71DF-DBA6-4B24-9E3853FDE8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59477" y="3308397"/>
            <a:ext cx="688975" cy="317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400" b="1" dirty="0">
                <a:latin typeface="Arial" pitchFamily="34" charset="0"/>
                <a:cs typeface="Arial" pitchFamily="34" charset="0"/>
              </a:rPr>
              <a:t>16 16 </a:t>
            </a:r>
          </a:p>
        </p:txBody>
      </p:sp>
      <p:sp>
        <p:nvSpPr>
          <p:cNvPr id="37" name="Text Box 140">
            <a:extLst>
              <a:ext uri="{FF2B5EF4-FFF2-40B4-BE49-F238E27FC236}">
                <a16:creationId xmlns:a16="http://schemas.microsoft.com/office/drawing/2014/main" id="{D84C56C1-D98F-1D3C-3478-F7E0F9B5BA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83412" y="3264702"/>
            <a:ext cx="688975" cy="317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400" b="1" dirty="0">
                <a:latin typeface="Arial" pitchFamily="34" charset="0"/>
                <a:cs typeface="Arial" pitchFamily="34" charset="0"/>
              </a:rPr>
              <a:t>21 21 </a:t>
            </a:r>
          </a:p>
        </p:txBody>
      </p:sp>
      <p:sp>
        <p:nvSpPr>
          <p:cNvPr id="52" name="Text Box 140">
            <a:extLst>
              <a:ext uri="{FF2B5EF4-FFF2-40B4-BE49-F238E27FC236}">
                <a16:creationId xmlns:a16="http://schemas.microsoft.com/office/drawing/2014/main" id="{3E1A1BD7-F8F9-DF4F-38A7-889815380E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28236" y="1696113"/>
            <a:ext cx="688975" cy="317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400" b="1" dirty="0">
                <a:latin typeface="Arial" pitchFamily="34" charset="0"/>
                <a:cs typeface="Arial" pitchFamily="34" charset="0"/>
              </a:rPr>
              <a:t>23 23 </a:t>
            </a:r>
          </a:p>
        </p:txBody>
      </p:sp>
      <p:sp>
        <p:nvSpPr>
          <p:cNvPr id="73" name="Text Box 140">
            <a:extLst>
              <a:ext uri="{FF2B5EF4-FFF2-40B4-BE49-F238E27FC236}">
                <a16:creationId xmlns:a16="http://schemas.microsoft.com/office/drawing/2014/main" id="{EDEA3D24-2EC9-68DF-74EE-E463962713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3686" y="1777369"/>
            <a:ext cx="688975" cy="317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400" b="1" dirty="0">
                <a:latin typeface="Arial" pitchFamily="34" charset="0"/>
                <a:cs typeface="Arial" pitchFamily="34" charset="0"/>
              </a:rPr>
              <a:t>2  19 </a:t>
            </a:r>
          </a:p>
        </p:txBody>
      </p:sp>
      <p:sp>
        <p:nvSpPr>
          <p:cNvPr id="75" name="Text Box 140">
            <a:extLst>
              <a:ext uri="{FF2B5EF4-FFF2-40B4-BE49-F238E27FC236}">
                <a16:creationId xmlns:a16="http://schemas.microsoft.com/office/drawing/2014/main" id="{8DA654AD-E5ED-A3DE-0075-6F83EACD94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9324" y="4608778"/>
            <a:ext cx="688975" cy="317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400" b="1" dirty="0">
                <a:latin typeface="Arial" pitchFamily="34" charset="0"/>
                <a:cs typeface="Arial" pitchFamily="34" charset="0"/>
              </a:rPr>
              <a:t>1  7 </a:t>
            </a:r>
          </a:p>
        </p:txBody>
      </p:sp>
      <p:sp>
        <p:nvSpPr>
          <p:cNvPr id="77" name="Text Box 140">
            <a:extLst>
              <a:ext uri="{FF2B5EF4-FFF2-40B4-BE49-F238E27FC236}">
                <a16:creationId xmlns:a16="http://schemas.microsoft.com/office/drawing/2014/main" id="{7E484417-AB02-22D8-10D3-3F99020E73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23844" y="4565255"/>
            <a:ext cx="688975" cy="317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400" b="1" dirty="0">
                <a:latin typeface="Arial" pitchFamily="34" charset="0"/>
                <a:cs typeface="Arial" pitchFamily="34" charset="0"/>
              </a:rPr>
              <a:t>4  18 </a:t>
            </a:r>
          </a:p>
        </p:txBody>
      </p:sp>
    </p:spTree>
    <p:extLst>
      <p:ext uri="{BB962C8B-B14F-4D97-AF65-F5344CB8AC3E}">
        <p14:creationId xmlns:p14="http://schemas.microsoft.com/office/powerpoint/2010/main" val="449520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 animBg="1"/>
      <p:bldP spid="44" grpId="0" animBg="1"/>
      <p:bldP spid="45" grpId="0" animBg="1"/>
      <p:bldP spid="50" grpId="0"/>
      <p:bldP spid="51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7" grpId="0"/>
      <p:bldP spid="68" grpId="0" animBg="1"/>
      <p:bldP spid="74" grpId="0" animBg="1"/>
      <p:bldP spid="76" grpId="0" animBg="1"/>
      <p:bldP spid="82" grpId="0" animBg="1"/>
      <p:bldP spid="83" grpId="0" animBg="1"/>
      <p:bldP spid="86" grpId="0" animBg="1"/>
      <p:bldP spid="87" grpId="0" animBg="1"/>
      <p:bldP spid="88" grpId="0" animBg="1"/>
      <p:bldP spid="93" grpId="0"/>
      <p:bldP spid="94" grpId="0" animBg="1"/>
      <p:bldP spid="95" grpId="0" animBg="1"/>
      <p:bldP spid="96" grpId="0"/>
      <p:bldP spid="98" grpId="0"/>
      <p:bldP spid="99" grpId="0"/>
      <p:bldP spid="100" grpId="0"/>
      <p:bldP spid="102" grpId="0"/>
      <p:bldP spid="104" grpId="0" animBg="1"/>
      <p:bldP spid="109" grpId="0"/>
      <p:bldP spid="111" grpId="0" animBg="1"/>
      <p:bldP spid="113" grpId="0" animBg="1"/>
      <p:bldP spid="2" grpId="0" animBg="1"/>
      <p:bldP spid="12" grpId="0"/>
      <p:bldP spid="17" grpId="0"/>
      <p:bldP spid="22" grpId="0"/>
      <p:bldP spid="27" grpId="0"/>
      <p:bldP spid="32" grpId="0"/>
      <p:bldP spid="37" grpId="0"/>
      <p:bldP spid="52" grpId="0"/>
      <p:bldP spid="73" grpId="0"/>
      <p:bldP spid="75" grpId="0"/>
      <p:bldP spid="7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21</a:t>
            </a:fld>
            <a:endParaRPr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2049501" y="2276872"/>
            <a:ext cx="7920880" cy="1220754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  <p:txBody>
          <a:bodyPr spcFirstLastPara="1"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marL="87313" indent="-87313" algn="ctr"/>
            <a:r>
              <a:rPr lang="es-ES" sz="2800" b="0" dirty="0">
                <a:solidFill>
                  <a:srgbClr val="700000"/>
                </a:solidFill>
                <a:latin typeface="+mn-lt"/>
                <a:ea typeface="+mn-ea"/>
                <a:cs typeface="+mn-cs"/>
              </a:rPr>
              <a:t>Donde quiera que usted vea un negocio exitoso, alguien ha tomado una decisión valiente</a:t>
            </a:r>
            <a:r>
              <a:rPr lang="es-ES" sz="2400" b="0" dirty="0">
                <a:solidFill>
                  <a:srgbClr val="700000"/>
                </a:solidFill>
                <a:latin typeface="+mn-lt"/>
                <a:ea typeface="+mn-ea"/>
                <a:cs typeface="+mn-cs"/>
              </a:rPr>
              <a:t>.</a:t>
            </a:r>
            <a:br>
              <a:rPr lang="es-ES" sz="2400" b="0" dirty="0">
                <a:solidFill>
                  <a:srgbClr val="700000"/>
                </a:solidFill>
                <a:latin typeface="+mn-lt"/>
                <a:ea typeface="+mn-ea"/>
                <a:cs typeface="+mn-cs"/>
              </a:rPr>
            </a:br>
            <a:endParaRPr lang="es-PE" sz="2400" b="0" dirty="0">
              <a:solidFill>
                <a:srgbClr val="7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6096000" y="92279"/>
            <a:ext cx="6096000" cy="872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3200" i="1">
                <a:solidFill>
                  <a:schemeClr val="accent5">
                    <a:lumMod val="20000"/>
                    <a:lumOff val="80000"/>
                  </a:schemeClr>
                </a:solidFill>
                <a:latin typeface="Bauhaus 93" pitchFamily="82" charset="0"/>
              </a:defRPr>
            </a:lvl1pPr>
            <a:lvl2pPr algn="r" eaLnBrk="1" hangingPunct="1">
              <a:defRPr sz="2800" i="1">
                <a:latin typeface="Verdana" pitchFamily="34" charset="0"/>
              </a:defRPr>
            </a:lvl2pPr>
            <a:lvl3pPr algn="r" eaLnBrk="1" hangingPunct="1">
              <a:defRPr sz="2800" i="1">
                <a:latin typeface="Verdana" pitchFamily="34" charset="0"/>
              </a:defRPr>
            </a:lvl3pPr>
            <a:lvl4pPr algn="r" eaLnBrk="1" hangingPunct="1">
              <a:defRPr sz="2800" i="1">
                <a:latin typeface="Verdana" pitchFamily="34" charset="0"/>
              </a:defRPr>
            </a:lvl4pPr>
            <a:lvl5pPr algn="r" eaLnBrk="1" hangingPunct="1">
              <a:defRPr sz="2800" i="1">
                <a:latin typeface="Verdana" pitchFamily="34" charset="0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 sz="2800" i="1">
                <a:latin typeface="Verdana" pitchFamily="34" charset="0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 sz="2800" i="1">
                <a:latin typeface="Verdana" pitchFamily="34" charset="0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 sz="2800" i="1">
                <a:latin typeface="Verdana" pitchFamily="34" charset="0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 sz="2800" i="1">
                <a:latin typeface="Verdana" pitchFamily="34" charset="0"/>
              </a:defRPr>
            </a:lvl9pPr>
          </a:lstStyle>
          <a:p>
            <a:r>
              <a:rPr lang="es-MX" dirty="0">
                <a:solidFill>
                  <a:srgbClr val="FFFF00"/>
                </a:solidFill>
              </a:rPr>
              <a:t>Seamos dueños de nuestro propio destino</a:t>
            </a:r>
            <a:endParaRPr lang="es-ES" i="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345A401-5395-4861-90CC-1389B0CFAC65}"/>
              </a:ext>
            </a:extLst>
          </p:cNvPr>
          <p:cNvSpPr/>
          <p:nvPr/>
        </p:nvSpPr>
        <p:spPr>
          <a:xfrm>
            <a:off x="4958093" y="4125017"/>
            <a:ext cx="22758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Gracias</a:t>
            </a:r>
          </a:p>
        </p:txBody>
      </p:sp>
      <p:pic>
        <p:nvPicPr>
          <p:cNvPr id="6" name="Picture 5" descr="004">
            <a:extLst>
              <a:ext uri="{FF2B5EF4-FFF2-40B4-BE49-F238E27FC236}">
                <a16:creationId xmlns:a16="http://schemas.microsoft.com/office/drawing/2014/main" id="{10E9D79D-8D69-43FB-8635-4B0D7576B5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5506" y="3733101"/>
            <a:ext cx="2095281" cy="2793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24822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Tema de Office">
  <a:themeElements>
    <a:clrScheme name="Azul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4637</TotalTime>
  <Words>3522</Words>
  <Application>Microsoft Office PowerPoint</Application>
  <PresentationFormat>Panorámica</PresentationFormat>
  <Paragraphs>1456</Paragraphs>
  <Slides>21</Slides>
  <Notes>3</Notes>
  <HiddenSlides>0</HiddenSlides>
  <MMClips>0</MMClips>
  <ScaleCrop>false</ScaleCrop>
  <HeadingPairs>
    <vt:vector size="8" baseType="variant">
      <vt:variant>
        <vt:lpstr>Fuentes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2</vt:i4>
      </vt:variant>
      <vt:variant>
        <vt:lpstr>Títulos de diapositiva</vt:lpstr>
      </vt:variant>
      <vt:variant>
        <vt:i4>21</vt:i4>
      </vt:variant>
    </vt:vector>
  </HeadingPairs>
  <TitlesOfParts>
    <vt:vector size="35" baseType="lpstr">
      <vt:lpstr>Arial</vt:lpstr>
      <vt:lpstr>Arial Black</vt:lpstr>
      <vt:lpstr>Arial Narrow</vt:lpstr>
      <vt:lpstr>Bauhaus 93</vt:lpstr>
      <vt:lpstr>Bodoni MT Black</vt:lpstr>
      <vt:lpstr>Calibri</vt:lpstr>
      <vt:lpstr>Calibri Light</vt:lpstr>
      <vt:lpstr>Cambria Math</vt:lpstr>
      <vt:lpstr>Lexend Deca</vt:lpstr>
      <vt:lpstr>Signika</vt:lpstr>
      <vt:lpstr>Times New Roman</vt:lpstr>
      <vt:lpstr>Tema de Office</vt:lpstr>
      <vt:lpstr>Equation.DSMT4</vt:lpstr>
      <vt:lpstr>Ecuación</vt:lpstr>
      <vt:lpstr>Presentación de PowerPoint</vt:lpstr>
      <vt:lpstr>PROBLEMA DE REPASO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ANIVAL ALFREDO TORRE CAMONES</dc:creator>
  <cp:lastModifiedBy>ANIVAL ALFREDO TORRE CAMONES</cp:lastModifiedBy>
  <cp:revision>281</cp:revision>
  <dcterms:created xsi:type="dcterms:W3CDTF">2021-09-08T13:14:39Z</dcterms:created>
  <dcterms:modified xsi:type="dcterms:W3CDTF">2026-08-16T17:31:34Z</dcterms:modified>
</cp:coreProperties>
</file>
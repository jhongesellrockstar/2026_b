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481" r:id="rId2"/>
    <p:sldId id="398" r:id="rId3"/>
    <p:sldId id="406" r:id="rId4"/>
    <p:sldId id="304" r:id="rId5"/>
    <p:sldId id="305" r:id="rId6"/>
    <p:sldId id="284" r:id="rId7"/>
    <p:sldId id="286" r:id="rId8"/>
    <p:sldId id="306" r:id="rId9"/>
    <p:sldId id="308" r:id="rId10"/>
    <p:sldId id="310" r:id="rId11"/>
    <p:sldId id="342" r:id="rId12"/>
    <p:sldId id="330" r:id="rId13"/>
    <p:sldId id="341" r:id="rId14"/>
    <p:sldId id="332" r:id="rId15"/>
    <p:sldId id="313" r:id="rId16"/>
    <p:sldId id="323" r:id="rId17"/>
    <p:sldId id="424" r:id="rId18"/>
    <p:sldId id="392" r:id="rId19"/>
    <p:sldId id="396" r:id="rId20"/>
    <p:sldId id="386" r:id="rId21"/>
    <p:sldId id="395" r:id="rId22"/>
    <p:sldId id="394" r:id="rId23"/>
    <p:sldId id="287" r:id="rId24"/>
    <p:sldId id="393" r:id="rId25"/>
    <p:sldId id="387" r:id="rId26"/>
    <p:sldId id="423" r:id="rId27"/>
    <p:sldId id="444" r:id="rId28"/>
    <p:sldId id="443" r:id="rId29"/>
    <p:sldId id="275" r:id="rId30"/>
    <p:sldId id="278" r:id="rId31"/>
    <p:sldId id="277" r:id="rId32"/>
    <p:sldId id="280" r:id="rId3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956" autoAdjust="0"/>
    <p:restoredTop sz="94660"/>
  </p:normalViewPr>
  <p:slideViewPr>
    <p:cSldViewPr snapToGrid="0">
      <p:cViewPr varScale="1">
        <p:scale>
          <a:sx n="86" d="100"/>
          <a:sy n="86" d="100"/>
        </p:scale>
        <p:origin x="108" y="1656"/>
      </p:cViewPr>
      <p:guideLst>
        <p:guide orient="horz" pos="2160"/>
        <p:guide pos="3840"/>
      </p:guideLst>
    </p:cSldViewPr>
  </p:slideViewPr>
  <p:notesTextViewPr>
    <p:cViewPr>
      <p:scale>
        <a:sx n="1" d="1"/>
        <a:sy n="1" d="1"/>
      </p:scale>
      <p:origin x="0" y="0"/>
    </p:cViewPr>
  </p:notesTextViewPr>
  <p:sorterViewPr>
    <p:cViewPr varScale="1">
      <p:scale>
        <a:sx n="1" d="1"/>
        <a:sy n="1" d="1"/>
      </p:scale>
      <p:origin x="0" y="-11772"/>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B76F7C-271B-4E72-8E4F-0BB277D712D4}"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es-PE"/>
        </a:p>
      </dgm:t>
    </dgm:pt>
    <dgm:pt modelId="{7C470323-F852-4D1E-AAA9-C5FDF143C808}">
      <dgm:prSet custT="1"/>
      <dgm:spPr>
        <a:solidFill>
          <a:srgbClr val="00B0F0">
            <a:alpha val="50000"/>
          </a:srgbClr>
        </a:solidFill>
      </dgm:spPr>
      <dgm:t>
        <a:bodyPr/>
        <a:lstStyle/>
        <a:p>
          <a:pPr rtl="0"/>
          <a:r>
            <a:rPr lang="es-ES" sz="2000" b="1" dirty="0"/>
            <a:t>Contraste</a:t>
          </a:r>
          <a:endParaRPr lang="es-PE" sz="2000" dirty="0"/>
        </a:p>
      </dgm:t>
    </dgm:pt>
    <dgm:pt modelId="{00DE5FEB-8C56-4751-8689-C53C5235471C}" type="parTrans" cxnId="{A060436E-EBCF-426D-9AA5-67494AF57140}">
      <dgm:prSet/>
      <dgm:spPr/>
      <dgm:t>
        <a:bodyPr/>
        <a:lstStyle/>
        <a:p>
          <a:endParaRPr lang="es-PE" sz="2000"/>
        </a:p>
      </dgm:t>
    </dgm:pt>
    <dgm:pt modelId="{914348A8-902D-497F-9907-CD9B63F458F4}" type="sibTrans" cxnId="{A060436E-EBCF-426D-9AA5-67494AF57140}">
      <dgm:prSet/>
      <dgm:spPr/>
      <dgm:t>
        <a:bodyPr/>
        <a:lstStyle/>
        <a:p>
          <a:endParaRPr lang="es-PE" sz="2000"/>
        </a:p>
      </dgm:t>
    </dgm:pt>
    <dgm:pt modelId="{DCF4AC84-F862-40A7-943D-088527BDA373}">
      <dgm:prSet custT="1"/>
      <dgm:spPr>
        <a:solidFill>
          <a:srgbClr val="FF0000">
            <a:alpha val="50000"/>
          </a:srgbClr>
        </a:solidFill>
      </dgm:spPr>
      <dgm:t>
        <a:bodyPr/>
        <a:lstStyle/>
        <a:p>
          <a:pPr rtl="0"/>
          <a:r>
            <a:rPr lang="es-ES" sz="2000" b="1" dirty="0"/>
            <a:t>Revise</a:t>
          </a:r>
          <a:endParaRPr lang="es-PE" sz="2000" dirty="0"/>
        </a:p>
      </dgm:t>
    </dgm:pt>
    <dgm:pt modelId="{0808573E-CE32-40F3-A493-F9FFBD99B288}" type="parTrans" cxnId="{819FD404-52BA-40A4-B044-D12E881395A8}">
      <dgm:prSet/>
      <dgm:spPr/>
      <dgm:t>
        <a:bodyPr/>
        <a:lstStyle/>
        <a:p>
          <a:endParaRPr lang="es-PE" sz="2000"/>
        </a:p>
      </dgm:t>
    </dgm:pt>
    <dgm:pt modelId="{90C60FB2-25C0-45A5-A789-85825F8118E0}" type="sibTrans" cxnId="{819FD404-52BA-40A4-B044-D12E881395A8}">
      <dgm:prSet/>
      <dgm:spPr/>
      <dgm:t>
        <a:bodyPr/>
        <a:lstStyle/>
        <a:p>
          <a:endParaRPr lang="es-PE" sz="2000"/>
        </a:p>
      </dgm:t>
    </dgm:pt>
    <dgm:pt modelId="{AC65135C-2359-45B4-BCA9-E785EBAB6907}">
      <dgm:prSet custT="1"/>
      <dgm:spPr>
        <a:solidFill>
          <a:srgbClr val="FFFF00">
            <a:alpha val="50000"/>
          </a:srgbClr>
        </a:solidFill>
      </dgm:spPr>
      <dgm:t>
        <a:bodyPr/>
        <a:lstStyle/>
        <a:p>
          <a:pPr rtl="0"/>
          <a:r>
            <a:rPr lang="es-ES" sz="2000" b="1" dirty="0"/>
            <a:t>Practique</a:t>
          </a:r>
          <a:endParaRPr lang="es-PE" sz="2000" dirty="0"/>
        </a:p>
      </dgm:t>
    </dgm:pt>
    <dgm:pt modelId="{E027C827-95A0-4A82-A2F9-98B310B29207}" type="parTrans" cxnId="{0B4A0144-7F29-4923-9AE9-DF0CEFF0F609}">
      <dgm:prSet/>
      <dgm:spPr/>
      <dgm:t>
        <a:bodyPr/>
        <a:lstStyle/>
        <a:p>
          <a:endParaRPr lang="es-PE" sz="2000"/>
        </a:p>
      </dgm:t>
    </dgm:pt>
    <dgm:pt modelId="{B1A96F23-438B-4817-90C6-6CEF853CE3D7}" type="sibTrans" cxnId="{0B4A0144-7F29-4923-9AE9-DF0CEFF0F609}">
      <dgm:prSet/>
      <dgm:spPr/>
      <dgm:t>
        <a:bodyPr/>
        <a:lstStyle/>
        <a:p>
          <a:endParaRPr lang="es-PE" sz="2000"/>
        </a:p>
      </dgm:t>
    </dgm:pt>
    <dgm:pt modelId="{7416D1A2-30A4-4C03-B863-2983C670386D}" type="pres">
      <dgm:prSet presAssocID="{CCB76F7C-271B-4E72-8E4F-0BB277D712D4}" presName="compositeShape" presStyleCnt="0">
        <dgm:presLayoutVars>
          <dgm:chMax val="7"/>
          <dgm:dir/>
          <dgm:resizeHandles val="exact"/>
        </dgm:presLayoutVars>
      </dgm:prSet>
      <dgm:spPr/>
    </dgm:pt>
    <dgm:pt modelId="{2F04D462-7B9A-4F29-9073-E37133CFB47F}" type="pres">
      <dgm:prSet presAssocID="{7C470323-F852-4D1E-AAA9-C5FDF143C808}" presName="circ1" presStyleLbl="vennNode1" presStyleIdx="0" presStyleCnt="3"/>
      <dgm:spPr/>
    </dgm:pt>
    <dgm:pt modelId="{698A5370-77C7-46B0-A702-15BA0E7DFB3C}" type="pres">
      <dgm:prSet presAssocID="{7C470323-F852-4D1E-AAA9-C5FDF143C808}" presName="circ1Tx" presStyleLbl="revTx" presStyleIdx="0" presStyleCnt="0">
        <dgm:presLayoutVars>
          <dgm:chMax val="0"/>
          <dgm:chPref val="0"/>
          <dgm:bulletEnabled val="1"/>
        </dgm:presLayoutVars>
      </dgm:prSet>
      <dgm:spPr/>
    </dgm:pt>
    <dgm:pt modelId="{CAF6FE4A-C64F-4BFF-9C41-7AFEB812D949}" type="pres">
      <dgm:prSet presAssocID="{DCF4AC84-F862-40A7-943D-088527BDA373}" presName="circ2" presStyleLbl="vennNode1" presStyleIdx="1" presStyleCnt="3" custLinFactNeighborX="2296"/>
      <dgm:spPr/>
    </dgm:pt>
    <dgm:pt modelId="{142C0CC3-F53E-4A2E-97D9-1100684CB31F}" type="pres">
      <dgm:prSet presAssocID="{DCF4AC84-F862-40A7-943D-088527BDA373}" presName="circ2Tx" presStyleLbl="revTx" presStyleIdx="0" presStyleCnt="0">
        <dgm:presLayoutVars>
          <dgm:chMax val="0"/>
          <dgm:chPref val="0"/>
          <dgm:bulletEnabled val="1"/>
        </dgm:presLayoutVars>
      </dgm:prSet>
      <dgm:spPr/>
    </dgm:pt>
    <dgm:pt modelId="{6CD12DBA-5B7A-4A3D-86C4-1A33937EC5C0}" type="pres">
      <dgm:prSet presAssocID="{AC65135C-2359-45B4-BCA9-E785EBAB6907}" presName="circ3" presStyleLbl="vennNode1" presStyleIdx="2" presStyleCnt="3" custLinFactNeighborX="-1968"/>
      <dgm:spPr/>
    </dgm:pt>
    <dgm:pt modelId="{A3843677-C28A-4A30-8C25-B58D237E2D4F}" type="pres">
      <dgm:prSet presAssocID="{AC65135C-2359-45B4-BCA9-E785EBAB6907}" presName="circ3Tx" presStyleLbl="revTx" presStyleIdx="0" presStyleCnt="0">
        <dgm:presLayoutVars>
          <dgm:chMax val="0"/>
          <dgm:chPref val="0"/>
          <dgm:bulletEnabled val="1"/>
        </dgm:presLayoutVars>
      </dgm:prSet>
      <dgm:spPr/>
    </dgm:pt>
  </dgm:ptLst>
  <dgm:cxnLst>
    <dgm:cxn modelId="{819FD404-52BA-40A4-B044-D12E881395A8}" srcId="{CCB76F7C-271B-4E72-8E4F-0BB277D712D4}" destId="{DCF4AC84-F862-40A7-943D-088527BDA373}" srcOrd="1" destOrd="0" parTransId="{0808573E-CE32-40F3-A493-F9FFBD99B288}" sibTransId="{90C60FB2-25C0-45A5-A789-85825F8118E0}"/>
    <dgm:cxn modelId="{42EB3E0B-E30B-46F9-8872-D0789CE3874F}" type="presOf" srcId="{CCB76F7C-271B-4E72-8E4F-0BB277D712D4}" destId="{7416D1A2-30A4-4C03-B863-2983C670386D}" srcOrd="0" destOrd="0" presId="urn:microsoft.com/office/officeart/2005/8/layout/venn1"/>
    <dgm:cxn modelId="{B42EB018-18B5-4C63-BD69-D8D96C310433}" type="presOf" srcId="{DCF4AC84-F862-40A7-943D-088527BDA373}" destId="{CAF6FE4A-C64F-4BFF-9C41-7AFEB812D949}" srcOrd="0" destOrd="0" presId="urn:microsoft.com/office/officeart/2005/8/layout/venn1"/>
    <dgm:cxn modelId="{670C2D1F-5D6C-4619-A7DD-215F2C841083}" type="presOf" srcId="{7C470323-F852-4D1E-AAA9-C5FDF143C808}" destId="{698A5370-77C7-46B0-A702-15BA0E7DFB3C}" srcOrd="1" destOrd="0" presId="urn:microsoft.com/office/officeart/2005/8/layout/venn1"/>
    <dgm:cxn modelId="{0B4A0144-7F29-4923-9AE9-DF0CEFF0F609}" srcId="{CCB76F7C-271B-4E72-8E4F-0BB277D712D4}" destId="{AC65135C-2359-45B4-BCA9-E785EBAB6907}" srcOrd="2" destOrd="0" parTransId="{E027C827-95A0-4A82-A2F9-98B310B29207}" sibTransId="{B1A96F23-438B-4817-90C6-6CEF853CE3D7}"/>
    <dgm:cxn modelId="{A060436E-EBCF-426D-9AA5-67494AF57140}" srcId="{CCB76F7C-271B-4E72-8E4F-0BB277D712D4}" destId="{7C470323-F852-4D1E-AAA9-C5FDF143C808}" srcOrd="0" destOrd="0" parTransId="{00DE5FEB-8C56-4751-8689-C53C5235471C}" sibTransId="{914348A8-902D-497F-9907-CD9B63F458F4}"/>
    <dgm:cxn modelId="{6F47A259-790E-4EE9-A853-66405167F47B}" type="presOf" srcId="{7C470323-F852-4D1E-AAA9-C5FDF143C808}" destId="{2F04D462-7B9A-4F29-9073-E37133CFB47F}" srcOrd="0" destOrd="0" presId="urn:microsoft.com/office/officeart/2005/8/layout/venn1"/>
    <dgm:cxn modelId="{E0EBBEB2-3500-4D4A-8BDE-FDDAE2239905}" type="presOf" srcId="{AC65135C-2359-45B4-BCA9-E785EBAB6907}" destId="{6CD12DBA-5B7A-4A3D-86C4-1A33937EC5C0}" srcOrd="0" destOrd="0" presId="urn:microsoft.com/office/officeart/2005/8/layout/venn1"/>
    <dgm:cxn modelId="{74C5C0BD-F2D5-4DBC-B857-F8F144C019C8}" type="presOf" srcId="{AC65135C-2359-45B4-BCA9-E785EBAB6907}" destId="{A3843677-C28A-4A30-8C25-B58D237E2D4F}" srcOrd="1" destOrd="0" presId="urn:microsoft.com/office/officeart/2005/8/layout/venn1"/>
    <dgm:cxn modelId="{D6B87BF5-3AE2-4FE5-A4A8-C38C31B6AB0D}" type="presOf" srcId="{DCF4AC84-F862-40A7-943D-088527BDA373}" destId="{142C0CC3-F53E-4A2E-97D9-1100684CB31F}" srcOrd="1" destOrd="0" presId="urn:microsoft.com/office/officeart/2005/8/layout/venn1"/>
    <dgm:cxn modelId="{AEBE3C02-FDAA-4AE8-B15A-71A93F1B452C}" type="presParOf" srcId="{7416D1A2-30A4-4C03-B863-2983C670386D}" destId="{2F04D462-7B9A-4F29-9073-E37133CFB47F}" srcOrd="0" destOrd="0" presId="urn:microsoft.com/office/officeart/2005/8/layout/venn1"/>
    <dgm:cxn modelId="{7FE70CE4-82EC-49E2-BF54-466CEC50FCBE}" type="presParOf" srcId="{7416D1A2-30A4-4C03-B863-2983C670386D}" destId="{698A5370-77C7-46B0-A702-15BA0E7DFB3C}" srcOrd="1" destOrd="0" presId="urn:microsoft.com/office/officeart/2005/8/layout/venn1"/>
    <dgm:cxn modelId="{B15D2595-4C3F-4ABF-8B2A-AF50578D79C1}" type="presParOf" srcId="{7416D1A2-30A4-4C03-B863-2983C670386D}" destId="{CAF6FE4A-C64F-4BFF-9C41-7AFEB812D949}" srcOrd="2" destOrd="0" presId="urn:microsoft.com/office/officeart/2005/8/layout/venn1"/>
    <dgm:cxn modelId="{A2BAEDEF-A498-40EA-9ECD-F24D401B0533}" type="presParOf" srcId="{7416D1A2-30A4-4C03-B863-2983C670386D}" destId="{142C0CC3-F53E-4A2E-97D9-1100684CB31F}" srcOrd="3" destOrd="0" presId="urn:microsoft.com/office/officeart/2005/8/layout/venn1"/>
    <dgm:cxn modelId="{8AA32EEC-A6C3-4370-833A-0362EF17474C}" type="presParOf" srcId="{7416D1A2-30A4-4C03-B863-2983C670386D}" destId="{6CD12DBA-5B7A-4A3D-86C4-1A33937EC5C0}" srcOrd="4" destOrd="0" presId="urn:microsoft.com/office/officeart/2005/8/layout/venn1"/>
    <dgm:cxn modelId="{E8CB2A54-8A8D-4CFE-A134-75CDACC55664}" type="presParOf" srcId="{7416D1A2-30A4-4C03-B863-2983C670386D}" destId="{A3843677-C28A-4A30-8C25-B58D237E2D4F}" srcOrd="5" destOrd="0" presId="urn:microsoft.com/office/officeart/2005/8/layout/ven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04D462-7B9A-4F29-9073-E37133CFB47F}">
      <dsp:nvSpPr>
        <dsp:cNvPr id="0" name=""/>
        <dsp:cNvSpPr/>
      </dsp:nvSpPr>
      <dsp:spPr>
        <a:xfrm>
          <a:off x="1670585" y="63907"/>
          <a:ext cx="3067540" cy="3067540"/>
        </a:xfrm>
        <a:prstGeom prst="ellipse">
          <a:avLst/>
        </a:prstGeom>
        <a:solidFill>
          <a:srgbClr val="00B0F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rtl="0">
            <a:lnSpc>
              <a:spcPct val="90000"/>
            </a:lnSpc>
            <a:spcBef>
              <a:spcPct val="0"/>
            </a:spcBef>
            <a:spcAft>
              <a:spcPct val="35000"/>
            </a:spcAft>
            <a:buNone/>
          </a:pPr>
          <a:r>
            <a:rPr lang="es-ES" sz="2000" b="1" kern="1200" dirty="0"/>
            <a:t>Contraste</a:t>
          </a:r>
          <a:endParaRPr lang="es-PE" sz="2000" kern="1200" dirty="0"/>
        </a:p>
      </dsp:txBody>
      <dsp:txXfrm>
        <a:off x="2079591" y="600726"/>
        <a:ext cx="2249529" cy="1380393"/>
      </dsp:txXfrm>
    </dsp:sp>
    <dsp:sp modelId="{CAF6FE4A-C64F-4BFF-9C41-7AFEB812D949}">
      <dsp:nvSpPr>
        <dsp:cNvPr id="0" name=""/>
        <dsp:cNvSpPr/>
      </dsp:nvSpPr>
      <dsp:spPr>
        <a:xfrm>
          <a:off x="2847887" y="1981120"/>
          <a:ext cx="3067540" cy="3067540"/>
        </a:xfrm>
        <a:prstGeom prst="ellipse">
          <a:avLst/>
        </a:prstGeom>
        <a:solidFill>
          <a:srgbClr val="FF000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rtl="0">
            <a:lnSpc>
              <a:spcPct val="90000"/>
            </a:lnSpc>
            <a:spcBef>
              <a:spcPct val="0"/>
            </a:spcBef>
            <a:spcAft>
              <a:spcPct val="35000"/>
            </a:spcAft>
            <a:buNone/>
          </a:pPr>
          <a:r>
            <a:rPr lang="es-ES" sz="2000" b="1" kern="1200" dirty="0"/>
            <a:t>Revise</a:t>
          </a:r>
          <a:endParaRPr lang="es-PE" sz="2000" kern="1200" dirty="0"/>
        </a:p>
      </dsp:txBody>
      <dsp:txXfrm>
        <a:off x="3786043" y="2773568"/>
        <a:ext cx="1840524" cy="1687147"/>
      </dsp:txXfrm>
    </dsp:sp>
    <dsp:sp modelId="{6CD12DBA-5B7A-4A3D-86C4-1A33937EC5C0}">
      <dsp:nvSpPr>
        <dsp:cNvPr id="0" name=""/>
        <dsp:cNvSpPr/>
      </dsp:nvSpPr>
      <dsp:spPr>
        <a:xfrm>
          <a:off x="503345" y="1981120"/>
          <a:ext cx="3067540" cy="3067540"/>
        </a:xfrm>
        <a:prstGeom prst="ellipse">
          <a:avLst/>
        </a:prstGeom>
        <a:solidFill>
          <a:srgbClr val="FFFF0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89000" rtl="0">
            <a:lnSpc>
              <a:spcPct val="90000"/>
            </a:lnSpc>
            <a:spcBef>
              <a:spcPct val="0"/>
            </a:spcBef>
            <a:spcAft>
              <a:spcPct val="35000"/>
            </a:spcAft>
            <a:buNone/>
          </a:pPr>
          <a:r>
            <a:rPr lang="es-ES" sz="2000" b="1" kern="1200" dirty="0"/>
            <a:t>Practique</a:t>
          </a:r>
          <a:endParaRPr lang="es-PE" sz="2000" kern="1200" dirty="0"/>
        </a:p>
      </dsp:txBody>
      <dsp:txXfrm>
        <a:off x="792205" y="2773568"/>
        <a:ext cx="1840524" cy="1687147"/>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178B7CE-16B1-4D5A-BEDA-E05D7C0F0E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E5CE36C0-2D64-40DB-852E-EFE530BD79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03D107-6AA0-4BB9-B3AF-2511759F0087}" type="datetimeFigureOut">
              <a:rPr lang="es-PE" smtClean="0"/>
              <a:t>16/08/2026</a:t>
            </a:fld>
            <a:endParaRPr lang="es-PE"/>
          </a:p>
        </p:txBody>
      </p:sp>
      <p:sp>
        <p:nvSpPr>
          <p:cNvPr id="4" name="Marcador de pie de página 3">
            <a:extLst>
              <a:ext uri="{FF2B5EF4-FFF2-40B4-BE49-F238E27FC236}">
                <a16:creationId xmlns:a16="http://schemas.microsoft.com/office/drawing/2014/main" id="{CBB9BBA3-CB3B-42EF-AC1C-A77E63AFD7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B59A3671-5C2E-4C01-9181-86F707851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4CDB2B-DC05-4B7E-84A4-8E8FE9CBF710}" type="slidenum">
              <a:rPr lang="es-PE" smtClean="0"/>
              <a:t>‹Nº›</a:t>
            </a:fld>
            <a:endParaRPr lang="es-PE"/>
          </a:p>
        </p:txBody>
      </p:sp>
    </p:spTree>
    <p:extLst>
      <p:ext uri="{BB962C8B-B14F-4D97-AF65-F5344CB8AC3E}">
        <p14:creationId xmlns:p14="http://schemas.microsoft.com/office/powerpoint/2010/main" val="2967450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D54B5-B035-46F5-86D2-1F43704B1BDB}" type="datetimeFigureOut">
              <a:rPr lang="es-PE" smtClean="0"/>
              <a:t>16/08/2026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836FA3-1F11-49F4-B68F-8771EDD4DFA8}" type="slidenum">
              <a:rPr lang="es-PE" smtClean="0"/>
              <a:t>‹Nº›</a:t>
            </a:fld>
            <a:endParaRPr lang="es-PE"/>
          </a:p>
        </p:txBody>
      </p:sp>
    </p:spTree>
    <p:extLst>
      <p:ext uri="{BB962C8B-B14F-4D97-AF65-F5344CB8AC3E}">
        <p14:creationId xmlns:p14="http://schemas.microsoft.com/office/powerpoint/2010/main" val="308199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a:xfrm>
            <a:off x="3884613" y="8685213"/>
            <a:ext cx="2971800" cy="457200"/>
          </a:xfrm>
          <a:prstGeom prst="rect">
            <a:avLst/>
          </a:prstGeom>
        </p:spPr>
        <p:txBody>
          <a:bodyPr/>
          <a:lstStyle/>
          <a:p>
            <a:fld id="{937FDB4C-8DB5-4895-9E8B-EB4F1648811C}" type="slidenum">
              <a:rPr lang="es-ES" smtClean="0"/>
              <a:pPr/>
              <a:t>4</a:t>
            </a:fld>
            <a:endParaRPr lang="es-ES" dirty="0"/>
          </a:p>
        </p:txBody>
      </p:sp>
    </p:spTree>
    <p:extLst>
      <p:ext uri="{BB962C8B-B14F-4D97-AF65-F5344CB8AC3E}">
        <p14:creationId xmlns:p14="http://schemas.microsoft.com/office/powerpoint/2010/main" val="672980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19459"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2401095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21507"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1861184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21507"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dirty="0"/>
          </a:p>
        </p:txBody>
      </p:sp>
    </p:spTree>
    <p:extLst>
      <p:ext uri="{BB962C8B-B14F-4D97-AF65-F5344CB8AC3E}">
        <p14:creationId xmlns:p14="http://schemas.microsoft.com/office/powerpoint/2010/main" val="3750698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29</a:t>
            </a:fld>
            <a:endParaRPr lang="es-ES" noProof="0" dirty="0"/>
          </a:p>
        </p:txBody>
      </p:sp>
    </p:spTree>
    <p:extLst>
      <p:ext uri="{BB962C8B-B14F-4D97-AF65-F5344CB8AC3E}">
        <p14:creationId xmlns:p14="http://schemas.microsoft.com/office/powerpoint/2010/main" val="4141653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30</a:t>
            </a:fld>
            <a:endParaRPr lang="es-ES" noProof="0" dirty="0"/>
          </a:p>
        </p:txBody>
      </p:sp>
    </p:spTree>
    <p:extLst>
      <p:ext uri="{BB962C8B-B14F-4D97-AF65-F5344CB8AC3E}">
        <p14:creationId xmlns:p14="http://schemas.microsoft.com/office/powerpoint/2010/main" val="1577527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noProof="0" dirty="0"/>
          </a:p>
        </p:txBody>
      </p:sp>
      <p:sp>
        <p:nvSpPr>
          <p:cNvPr id="4" name="Marcador de número de diapositiva 3"/>
          <p:cNvSpPr>
            <a:spLocks noGrp="1"/>
          </p:cNvSpPr>
          <p:nvPr>
            <p:ph type="sldNum" sz="quarter" idx="10"/>
          </p:nvPr>
        </p:nvSpPr>
        <p:spPr/>
        <p:txBody>
          <a:bodyPr/>
          <a:lstStyle/>
          <a:p>
            <a:pPr rtl="0"/>
            <a:fld id="{DED491D0-8E1B-49C7-849B-A28568D94497}" type="slidenum">
              <a:rPr lang="es-ES" noProof="0" smtClean="0"/>
              <a:t>31</a:t>
            </a:fld>
            <a:endParaRPr lang="es-ES" noProof="0" dirty="0"/>
          </a:p>
        </p:txBody>
      </p:sp>
    </p:spTree>
    <p:extLst>
      <p:ext uri="{BB962C8B-B14F-4D97-AF65-F5344CB8AC3E}">
        <p14:creationId xmlns:p14="http://schemas.microsoft.com/office/powerpoint/2010/main" val="3299312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0E13C-61E5-46CC-960D-63C41DAD061E}"/>
              </a:ext>
            </a:extLst>
          </p:cNvPr>
          <p:cNvSpPr>
            <a:spLocks noGrp="1"/>
          </p:cNvSpPr>
          <p:nvPr>
            <p:ph type="ctrTitle"/>
          </p:nvPr>
        </p:nvSpPr>
        <p:spPr>
          <a:xfrm>
            <a:off x="1524000" y="1263684"/>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6267FC4-894E-4993-BA18-2C880EE5C7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CFA1ECE-8248-44B1-88C7-8265017B783A}"/>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4C7FFCCB-2285-4BA7-B745-4CE0B16C5B2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C464D61-7B3F-4D44-B814-04BD0FE4C3C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88484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F9EE1-AB02-439C-A953-D0BD302CF3B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F391F11-EC76-4F7E-AC56-EAD0CEBCAEA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B378AEF-A6A9-47DF-9C5C-6B50070076FC}"/>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B8D63CA0-8BC2-4AA4-81B5-97227686EA4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EA60248-016B-4028-85F2-75F83EB913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273057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EA209-C4D8-4196-890A-95A7CD4C068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7D6A4D1-0438-48FA-ADCC-AC432CD76F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A542E60-612D-41CC-9EE5-C343BC61B2E7}"/>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9BA065A3-6AD0-4723-847E-57B36A32A33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6EC95E3-1973-401E-B849-5F2F2C4250A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283726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DB3A3-9D86-449F-A088-128C6B5F0AB9}"/>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28EF8CB9-38CA-4EBF-8F62-EE68B4D6F6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F5BC23C3-AE0F-4F5F-B104-BC7EA7551C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7FCBCC75-FAFB-4988-ADC8-1E30F0A4E93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9A7CF524-1AD2-4D6E-AF46-445C3506EF8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FB533D9-E06A-43BB-8FFF-B7E7E56A37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23971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725AD-02A9-499A-B864-01AF086F41AE}"/>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A753734-FC45-4B55-9A29-B26B4CA13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98FBB3-E4E6-411C-A6B3-B26D063353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EBACB3A-C4CB-4902-9988-B007A97C9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E2010D-8FDA-4E19-9A31-23C0FE9DC25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D1D191B-5CF0-419F-BF5B-EA606AC8D5E6}"/>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8" name="Marcador de pie de página 7">
            <a:extLst>
              <a:ext uri="{FF2B5EF4-FFF2-40B4-BE49-F238E27FC236}">
                <a16:creationId xmlns:a16="http://schemas.microsoft.com/office/drawing/2014/main" id="{3D8A4629-604A-46AD-BB45-292C54D7C6BA}"/>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C5A188A-724B-44E9-BEF7-9E257530ECA1}"/>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74927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4FFE6-E44F-47FD-8C64-C1FC42A7E75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168DDD2-028A-4549-9EB3-E843188772B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4" name="Marcador de pie de página 3">
            <a:extLst>
              <a:ext uri="{FF2B5EF4-FFF2-40B4-BE49-F238E27FC236}">
                <a16:creationId xmlns:a16="http://schemas.microsoft.com/office/drawing/2014/main" id="{ED50669B-5EDE-4060-A1CA-FE7DBD964491}"/>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6F429BDB-A623-46DB-A3B7-8B68CD92E4DB}"/>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57664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78ADCC-78DF-44C4-A2C7-A7CF2426998D}"/>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3" name="Marcador de pie de página 2">
            <a:extLst>
              <a:ext uri="{FF2B5EF4-FFF2-40B4-BE49-F238E27FC236}">
                <a16:creationId xmlns:a16="http://schemas.microsoft.com/office/drawing/2014/main" id="{BB7367FB-6CD9-4469-A229-B61F0DC4339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301C5A5-C7FD-466A-934B-60249339DC95}"/>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05219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1FB1A-74AA-4E0D-83B3-1170F865B31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5D0C1AE-BAE4-48E0-88AC-F6958D0E85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F3CCC19-652F-4628-8819-4FD180AB8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3BD21F-BC06-43CD-9F66-5FD87304EEC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B82DF95C-F515-4AB8-9206-5F559DA0B4D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3A0F4A3-A4A8-4405-B84F-C1D44A15E05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478757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93BB7-CA9F-4940-8C7F-2CBF43BB503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3045E52B-AEB7-42F1-BC8E-CA7E0DDCD4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193A4FC1-5C27-4983-99E0-60D4F82D5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FB805C-3A94-453E-BC4E-88A5F9C856A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C448EB1F-6B71-43D0-B4BB-2F47A94BAF6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90476AE-7DAC-4DCA-A6E4-E2E505CBF2B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51975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5B00E-0B7A-4AA1-B637-DC7127C42E77}"/>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82176F4-1231-4795-897F-95458CBCE8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06A9332-3346-4724-9DEE-503B007FAF0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86A3589D-3073-43DA-AEA2-6F6C05DA511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FEE47B5-2AEE-4851-B029-9988B8B57A7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771582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4AFE1D6-7CA5-4A02-A9CE-8A394A8F3E8F}"/>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218F9D7-F895-4417-B97E-7076B31845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8AE240-89B5-46F0-94D1-CF5205BCB4DE}"/>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E4EB6FE0-843B-48B7-80F0-57541432768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CE9982-F23C-426D-A95A-1B50FADAB460}"/>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67027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974400" y="3986567"/>
            <a:ext cx="5629600" cy="1220400"/>
          </a:xfrm>
          <a:prstGeom prst="rect">
            <a:avLst/>
          </a:prstGeom>
        </p:spPr>
        <p:txBody>
          <a:bodyPr spcFirstLastPara="1" wrap="square" lIns="0" tIns="0" rIns="0" bIns="0" anchor="ctr" anchorCtr="0">
            <a:noAutofit/>
          </a:bodyPr>
          <a:lstStyle>
            <a:lvl1pPr lvl="0" rtl="0">
              <a:spcBef>
                <a:spcPts val="0"/>
              </a:spcBef>
              <a:spcAft>
                <a:spcPts val="0"/>
              </a:spcAft>
              <a:buSzPts val="9400"/>
              <a:buNone/>
              <a:defRPr sz="12535"/>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s-ES"/>
              <a:t>Haga clic para modificar el estilo de título del patrón</a:t>
            </a:r>
          </a:p>
        </p:txBody>
      </p:sp>
      <p:grpSp>
        <p:nvGrpSpPr>
          <p:cNvPr id="10" name="Google Shape;10;p2"/>
          <p:cNvGrpSpPr/>
          <p:nvPr/>
        </p:nvGrpSpPr>
        <p:grpSpPr>
          <a:xfrm>
            <a:off x="4658468" y="-60667"/>
            <a:ext cx="7533533" cy="6979333"/>
            <a:chOff x="970375" y="238125"/>
            <a:chExt cx="5650150" cy="5234500"/>
          </a:xfrm>
        </p:grpSpPr>
        <p:sp>
          <p:nvSpPr>
            <p:cNvPr id="11" name="Google Shape;11;p2"/>
            <p:cNvSpPr/>
            <p:nvPr/>
          </p:nvSpPr>
          <p:spPr>
            <a:xfrm>
              <a:off x="970375" y="238125"/>
              <a:ext cx="1456750" cy="5234500"/>
            </a:xfrm>
            <a:custGeom>
              <a:avLst/>
              <a:gdLst/>
              <a:ahLst/>
              <a:cxnLst/>
              <a:rect l="l" t="t" r="r" b="b"/>
              <a:pathLst>
                <a:path w="58270" h="209380" extrusionOk="0">
                  <a:moveTo>
                    <a:pt x="55587" y="0"/>
                  </a:moveTo>
                  <a:lnTo>
                    <a:pt x="7833" y="82697"/>
                  </a:lnTo>
                  <a:cubicBezTo>
                    <a:pt x="0" y="96268"/>
                    <a:pt x="16" y="113111"/>
                    <a:pt x="7833" y="126682"/>
                  </a:cubicBezTo>
                  <a:lnTo>
                    <a:pt x="55587" y="209379"/>
                  </a:lnTo>
                  <a:lnTo>
                    <a:pt x="58270" y="209379"/>
                  </a:lnTo>
                  <a:lnTo>
                    <a:pt x="9849" y="125519"/>
                  </a:lnTo>
                  <a:cubicBezTo>
                    <a:pt x="2435" y="112677"/>
                    <a:pt x="2435" y="96718"/>
                    <a:pt x="9849" y="83860"/>
                  </a:cubicBezTo>
                  <a:lnTo>
                    <a:pt x="58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607825" y="238125"/>
              <a:ext cx="5012700" cy="5234500"/>
            </a:xfrm>
            <a:custGeom>
              <a:avLst/>
              <a:gdLst/>
              <a:ahLst/>
              <a:cxnLst/>
              <a:rect l="l" t="t" r="r" b="b"/>
              <a:pathLst>
                <a:path w="200508" h="209380" extrusionOk="0">
                  <a:moveTo>
                    <a:pt x="58300" y="0"/>
                  </a:moveTo>
                  <a:lnTo>
                    <a:pt x="3490" y="94919"/>
                  </a:lnTo>
                  <a:cubicBezTo>
                    <a:pt x="0" y="100967"/>
                    <a:pt x="0" y="108412"/>
                    <a:pt x="3490" y="114461"/>
                  </a:cubicBezTo>
                  <a:lnTo>
                    <a:pt x="58300" y="209379"/>
                  </a:lnTo>
                  <a:lnTo>
                    <a:pt x="200507" y="209379"/>
                  </a:lnTo>
                  <a:lnTo>
                    <a:pt x="200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 name="Google Shape;13;p2"/>
          <p:cNvSpPr/>
          <p:nvPr/>
        </p:nvSpPr>
        <p:spPr>
          <a:xfrm rot="1799984">
            <a:off x="7317323" y="61421"/>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rot="1799984">
            <a:off x="8289458" y="-929179"/>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a:off x="1016002" y="1081899"/>
            <a:ext cx="620999" cy="573676"/>
            <a:chOff x="1877325" y="757774"/>
            <a:chExt cx="581969" cy="537619"/>
          </a:xfrm>
        </p:grpSpPr>
        <p:sp>
          <p:nvSpPr>
            <p:cNvPr id="16" name="Google Shape;16;p2"/>
            <p:cNvSpPr/>
            <p:nvPr/>
          </p:nvSpPr>
          <p:spPr>
            <a:xfrm>
              <a:off x="187732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1" y="10387"/>
                    <a:pt x="13311" y="6656"/>
                  </a:cubicBezTo>
                  <a:cubicBezTo>
                    <a:pt x="13311"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50274" y="757774"/>
              <a:ext cx="63598" cy="63598"/>
            </a:xfrm>
            <a:custGeom>
              <a:avLst/>
              <a:gdLst/>
              <a:ahLst/>
              <a:cxnLst/>
              <a:rect l="l" t="t" r="r" b="b"/>
              <a:pathLst>
                <a:path w="13312" h="13312" extrusionOk="0">
                  <a:moveTo>
                    <a:pt x="6656" y="0"/>
                  </a:moveTo>
                  <a:cubicBezTo>
                    <a:pt x="3026" y="0"/>
                    <a:pt x="1" y="3026"/>
                    <a:pt x="1" y="6656"/>
                  </a:cubicBezTo>
                  <a:cubicBezTo>
                    <a:pt x="1" y="10387"/>
                    <a:pt x="3026" y="13312"/>
                    <a:pt x="6656" y="13312"/>
                  </a:cubicBezTo>
                  <a:cubicBezTo>
                    <a:pt x="10287" y="13312"/>
                    <a:pt x="13312" y="10387"/>
                    <a:pt x="13312" y="6656"/>
                  </a:cubicBezTo>
                  <a:cubicBezTo>
                    <a:pt x="13312" y="3026"/>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223224" y="757774"/>
              <a:ext cx="63603" cy="63598"/>
            </a:xfrm>
            <a:custGeom>
              <a:avLst/>
              <a:gdLst/>
              <a:ahLst/>
              <a:cxnLst/>
              <a:rect l="l" t="t" r="r" b="b"/>
              <a:pathLst>
                <a:path w="13313" h="13312" extrusionOk="0">
                  <a:moveTo>
                    <a:pt x="6657" y="0"/>
                  </a:moveTo>
                  <a:cubicBezTo>
                    <a:pt x="2925" y="0"/>
                    <a:pt x="1" y="3026"/>
                    <a:pt x="1" y="6656"/>
                  </a:cubicBezTo>
                  <a:cubicBezTo>
                    <a:pt x="1" y="10387"/>
                    <a:pt x="2925" y="13312"/>
                    <a:pt x="6657" y="13312"/>
                  </a:cubicBezTo>
                  <a:cubicBezTo>
                    <a:pt x="10287" y="13312"/>
                    <a:pt x="13312" y="10387"/>
                    <a:pt x="13312" y="6656"/>
                  </a:cubicBezTo>
                  <a:cubicBezTo>
                    <a:pt x="13312" y="3026"/>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39569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2" y="10387"/>
                    <a:pt x="13312" y="6656"/>
                  </a:cubicBezTo>
                  <a:cubicBezTo>
                    <a:pt x="13312"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87732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1" y="103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50274" y="915780"/>
              <a:ext cx="63598" cy="63598"/>
            </a:xfrm>
            <a:custGeom>
              <a:avLst/>
              <a:gdLst/>
              <a:ahLst/>
              <a:cxnLst/>
              <a:rect l="l" t="t" r="r" b="b"/>
              <a:pathLst>
                <a:path w="13312" h="13312" extrusionOk="0">
                  <a:moveTo>
                    <a:pt x="6656" y="1"/>
                  </a:moveTo>
                  <a:cubicBezTo>
                    <a:pt x="3026" y="1"/>
                    <a:pt x="1" y="3026"/>
                    <a:pt x="1" y="6656"/>
                  </a:cubicBezTo>
                  <a:cubicBezTo>
                    <a:pt x="1" y="10387"/>
                    <a:pt x="3026" y="13312"/>
                    <a:pt x="6656" y="13312"/>
                  </a:cubicBezTo>
                  <a:cubicBezTo>
                    <a:pt x="10287" y="13312"/>
                    <a:pt x="13312" y="103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2223224" y="915780"/>
              <a:ext cx="63603" cy="63598"/>
            </a:xfrm>
            <a:custGeom>
              <a:avLst/>
              <a:gdLst/>
              <a:ahLst/>
              <a:cxnLst/>
              <a:rect l="l" t="t" r="r" b="b"/>
              <a:pathLst>
                <a:path w="13313" h="13312" extrusionOk="0">
                  <a:moveTo>
                    <a:pt x="6657" y="1"/>
                  </a:moveTo>
                  <a:cubicBezTo>
                    <a:pt x="2925" y="1"/>
                    <a:pt x="1" y="3026"/>
                    <a:pt x="1" y="6656"/>
                  </a:cubicBezTo>
                  <a:cubicBezTo>
                    <a:pt x="1" y="10387"/>
                    <a:pt x="2925" y="13312"/>
                    <a:pt x="6657" y="13312"/>
                  </a:cubicBezTo>
                  <a:cubicBezTo>
                    <a:pt x="10287" y="13312"/>
                    <a:pt x="13312" y="103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239569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2" y="103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87732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1" y="102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2050274" y="1073785"/>
              <a:ext cx="63598" cy="63603"/>
            </a:xfrm>
            <a:custGeom>
              <a:avLst/>
              <a:gdLst/>
              <a:ahLst/>
              <a:cxnLst/>
              <a:rect l="l" t="t" r="r" b="b"/>
              <a:pathLst>
                <a:path w="13312" h="13313" extrusionOk="0">
                  <a:moveTo>
                    <a:pt x="6656" y="1"/>
                  </a:moveTo>
                  <a:cubicBezTo>
                    <a:pt x="3026" y="1"/>
                    <a:pt x="1" y="3026"/>
                    <a:pt x="1" y="6656"/>
                  </a:cubicBezTo>
                  <a:cubicBezTo>
                    <a:pt x="1" y="10287"/>
                    <a:pt x="3026" y="13312"/>
                    <a:pt x="6656" y="13312"/>
                  </a:cubicBezTo>
                  <a:cubicBezTo>
                    <a:pt x="10287" y="13312"/>
                    <a:pt x="13312" y="102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223224" y="1073785"/>
              <a:ext cx="63603" cy="63603"/>
            </a:xfrm>
            <a:custGeom>
              <a:avLst/>
              <a:gdLst/>
              <a:ahLst/>
              <a:cxnLst/>
              <a:rect l="l" t="t" r="r" b="b"/>
              <a:pathLst>
                <a:path w="13313" h="13313" extrusionOk="0">
                  <a:moveTo>
                    <a:pt x="6657" y="1"/>
                  </a:moveTo>
                  <a:cubicBezTo>
                    <a:pt x="2925" y="1"/>
                    <a:pt x="1" y="3026"/>
                    <a:pt x="1" y="6656"/>
                  </a:cubicBezTo>
                  <a:cubicBezTo>
                    <a:pt x="1" y="10287"/>
                    <a:pt x="2925" y="13312"/>
                    <a:pt x="6657" y="13312"/>
                  </a:cubicBezTo>
                  <a:cubicBezTo>
                    <a:pt x="10287" y="13312"/>
                    <a:pt x="13312" y="102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39569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2" y="102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87732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1" y="10286"/>
                    <a:pt x="13311" y="6656"/>
                  </a:cubicBezTo>
                  <a:cubicBezTo>
                    <a:pt x="13311"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2050274" y="1231796"/>
              <a:ext cx="63598" cy="63598"/>
            </a:xfrm>
            <a:custGeom>
              <a:avLst/>
              <a:gdLst/>
              <a:ahLst/>
              <a:cxnLst/>
              <a:rect l="l" t="t" r="r" b="b"/>
              <a:pathLst>
                <a:path w="13312" h="13312" extrusionOk="0">
                  <a:moveTo>
                    <a:pt x="6656" y="0"/>
                  </a:moveTo>
                  <a:cubicBezTo>
                    <a:pt x="3026" y="0"/>
                    <a:pt x="1" y="2925"/>
                    <a:pt x="1" y="6656"/>
                  </a:cubicBezTo>
                  <a:cubicBezTo>
                    <a:pt x="1" y="10286"/>
                    <a:pt x="3026" y="13311"/>
                    <a:pt x="6656" y="13311"/>
                  </a:cubicBezTo>
                  <a:cubicBezTo>
                    <a:pt x="10287" y="13311"/>
                    <a:pt x="13312" y="10286"/>
                    <a:pt x="13312" y="6656"/>
                  </a:cubicBezTo>
                  <a:cubicBezTo>
                    <a:pt x="13312" y="2925"/>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223224" y="1231796"/>
              <a:ext cx="63603" cy="63598"/>
            </a:xfrm>
            <a:custGeom>
              <a:avLst/>
              <a:gdLst/>
              <a:ahLst/>
              <a:cxnLst/>
              <a:rect l="l" t="t" r="r" b="b"/>
              <a:pathLst>
                <a:path w="13313" h="13312" extrusionOk="0">
                  <a:moveTo>
                    <a:pt x="6657" y="0"/>
                  </a:moveTo>
                  <a:cubicBezTo>
                    <a:pt x="2925" y="0"/>
                    <a:pt x="1" y="2925"/>
                    <a:pt x="1" y="6656"/>
                  </a:cubicBezTo>
                  <a:cubicBezTo>
                    <a:pt x="1" y="10286"/>
                    <a:pt x="2925" y="13311"/>
                    <a:pt x="6657" y="13311"/>
                  </a:cubicBezTo>
                  <a:cubicBezTo>
                    <a:pt x="10287" y="13311"/>
                    <a:pt x="13312" y="10286"/>
                    <a:pt x="13312" y="6656"/>
                  </a:cubicBezTo>
                  <a:cubicBezTo>
                    <a:pt x="13312" y="2925"/>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239569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2" y="10286"/>
                    <a:pt x="13312" y="6656"/>
                  </a:cubicBezTo>
                  <a:cubicBezTo>
                    <a:pt x="13312"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p:nvPr/>
        </p:nvSpPr>
        <p:spPr>
          <a:xfrm>
            <a:off x="7726169" y="5880102"/>
            <a:ext cx="947851" cy="117881"/>
          </a:xfrm>
          <a:custGeom>
            <a:avLst/>
            <a:gdLst/>
            <a:ahLst/>
            <a:cxnLst/>
            <a:rect l="l" t="t" r="r" b="b"/>
            <a:pathLst>
              <a:path w="178391" h="22186" extrusionOk="0">
                <a:moveTo>
                  <a:pt x="173752" y="13009"/>
                </a:moveTo>
                <a:cubicBezTo>
                  <a:pt x="172743" y="13009"/>
                  <a:pt x="171836" y="12807"/>
                  <a:pt x="171130" y="12202"/>
                </a:cubicBezTo>
                <a:cubicBezTo>
                  <a:pt x="170525" y="11698"/>
                  <a:pt x="170020" y="10992"/>
                  <a:pt x="169718" y="9883"/>
                </a:cubicBezTo>
                <a:cubicBezTo>
                  <a:pt x="168911" y="6958"/>
                  <a:pt x="167298" y="4437"/>
                  <a:pt x="165079" y="2723"/>
                </a:cubicBezTo>
                <a:cubicBezTo>
                  <a:pt x="162760" y="1009"/>
                  <a:pt x="159936" y="0"/>
                  <a:pt x="156911" y="0"/>
                </a:cubicBezTo>
                <a:cubicBezTo>
                  <a:pt x="153785" y="0"/>
                  <a:pt x="150961" y="1009"/>
                  <a:pt x="148642" y="2723"/>
                </a:cubicBezTo>
                <a:cubicBezTo>
                  <a:pt x="146423" y="4437"/>
                  <a:pt x="144810" y="6958"/>
                  <a:pt x="144003" y="9883"/>
                </a:cubicBezTo>
                <a:cubicBezTo>
                  <a:pt x="143701" y="10992"/>
                  <a:pt x="143196" y="11698"/>
                  <a:pt x="142591" y="12202"/>
                </a:cubicBezTo>
                <a:cubicBezTo>
                  <a:pt x="141885" y="12807"/>
                  <a:pt x="140978" y="13009"/>
                  <a:pt x="139969" y="13009"/>
                </a:cubicBezTo>
                <a:cubicBezTo>
                  <a:pt x="138961" y="13009"/>
                  <a:pt x="138053" y="12807"/>
                  <a:pt x="137348" y="12202"/>
                </a:cubicBezTo>
                <a:cubicBezTo>
                  <a:pt x="136642" y="11698"/>
                  <a:pt x="136137" y="10891"/>
                  <a:pt x="135936" y="9883"/>
                </a:cubicBezTo>
                <a:cubicBezTo>
                  <a:pt x="135129" y="6958"/>
                  <a:pt x="133516" y="4437"/>
                  <a:pt x="131196" y="2723"/>
                </a:cubicBezTo>
                <a:cubicBezTo>
                  <a:pt x="128877" y="1009"/>
                  <a:pt x="126053" y="0"/>
                  <a:pt x="123028" y="0"/>
                </a:cubicBezTo>
                <a:cubicBezTo>
                  <a:pt x="120003" y="0"/>
                  <a:pt x="117179" y="1009"/>
                  <a:pt x="114860" y="2723"/>
                </a:cubicBezTo>
                <a:cubicBezTo>
                  <a:pt x="112540" y="4437"/>
                  <a:pt x="110927" y="6958"/>
                  <a:pt x="110120" y="9883"/>
                </a:cubicBezTo>
                <a:cubicBezTo>
                  <a:pt x="109918" y="10992"/>
                  <a:pt x="109414" y="11698"/>
                  <a:pt x="108708" y="12202"/>
                </a:cubicBezTo>
                <a:cubicBezTo>
                  <a:pt x="108002" y="12807"/>
                  <a:pt x="107095" y="13009"/>
                  <a:pt x="106086" y="13009"/>
                </a:cubicBezTo>
                <a:cubicBezTo>
                  <a:pt x="105078" y="13009"/>
                  <a:pt x="104170" y="12807"/>
                  <a:pt x="103465" y="12202"/>
                </a:cubicBezTo>
                <a:cubicBezTo>
                  <a:pt x="102859" y="11698"/>
                  <a:pt x="102355" y="10992"/>
                  <a:pt x="102053" y="9883"/>
                </a:cubicBezTo>
                <a:cubicBezTo>
                  <a:pt x="101246" y="6958"/>
                  <a:pt x="99633" y="4437"/>
                  <a:pt x="97313" y="2723"/>
                </a:cubicBezTo>
                <a:cubicBezTo>
                  <a:pt x="95095" y="1009"/>
                  <a:pt x="92271" y="0"/>
                  <a:pt x="89145" y="0"/>
                </a:cubicBezTo>
                <a:cubicBezTo>
                  <a:pt x="86120" y="0"/>
                  <a:pt x="83296" y="1009"/>
                  <a:pt x="80977" y="2723"/>
                </a:cubicBezTo>
                <a:cubicBezTo>
                  <a:pt x="78758" y="4437"/>
                  <a:pt x="77044" y="6958"/>
                  <a:pt x="76338" y="9883"/>
                </a:cubicBezTo>
                <a:cubicBezTo>
                  <a:pt x="76035" y="10891"/>
                  <a:pt x="75531" y="11698"/>
                  <a:pt x="74926" y="12202"/>
                </a:cubicBezTo>
                <a:cubicBezTo>
                  <a:pt x="74220" y="12807"/>
                  <a:pt x="73313" y="13009"/>
                  <a:pt x="72304" y="13009"/>
                </a:cubicBezTo>
                <a:cubicBezTo>
                  <a:pt x="71195" y="13009"/>
                  <a:pt x="70287" y="12807"/>
                  <a:pt x="69682" y="12202"/>
                </a:cubicBezTo>
                <a:cubicBezTo>
                  <a:pt x="68977" y="11698"/>
                  <a:pt x="68472" y="10891"/>
                  <a:pt x="68170" y="9883"/>
                </a:cubicBezTo>
                <a:cubicBezTo>
                  <a:pt x="67464" y="6958"/>
                  <a:pt x="65750" y="4437"/>
                  <a:pt x="63531" y="2723"/>
                </a:cubicBezTo>
                <a:cubicBezTo>
                  <a:pt x="61212" y="1009"/>
                  <a:pt x="58388" y="0"/>
                  <a:pt x="55363" y="0"/>
                </a:cubicBezTo>
                <a:cubicBezTo>
                  <a:pt x="52237" y="0"/>
                  <a:pt x="49413" y="1009"/>
                  <a:pt x="47195" y="2723"/>
                </a:cubicBezTo>
                <a:cubicBezTo>
                  <a:pt x="44875" y="4437"/>
                  <a:pt x="43262" y="6958"/>
                  <a:pt x="42455" y="9883"/>
                </a:cubicBezTo>
                <a:cubicBezTo>
                  <a:pt x="42153" y="10992"/>
                  <a:pt x="41749" y="11698"/>
                  <a:pt x="41043" y="12202"/>
                </a:cubicBezTo>
                <a:cubicBezTo>
                  <a:pt x="40337" y="12807"/>
                  <a:pt x="39430" y="13009"/>
                  <a:pt x="38421" y="13009"/>
                </a:cubicBezTo>
                <a:cubicBezTo>
                  <a:pt x="37413" y="13009"/>
                  <a:pt x="36505" y="12807"/>
                  <a:pt x="35799" y="12202"/>
                </a:cubicBezTo>
                <a:cubicBezTo>
                  <a:pt x="35094" y="11698"/>
                  <a:pt x="34589" y="10992"/>
                  <a:pt x="34388" y="9883"/>
                </a:cubicBezTo>
                <a:cubicBezTo>
                  <a:pt x="33581" y="6958"/>
                  <a:pt x="31967" y="4437"/>
                  <a:pt x="29648" y="2723"/>
                </a:cubicBezTo>
                <a:cubicBezTo>
                  <a:pt x="27329" y="1009"/>
                  <a:pt x="24505" y="0"/>
                  <a:pt x="21480" y="0"/>
                </a:cubicBezTo>
                <a:cubicBezTo>
                  <a:pt x="18455" y="0"/>
                  <a:pt x="15631" y="1009"/>
                  <a:pt x="13312" y="2723"/>
                </a:cubicBezTo>
                <a:cubicBezTo>
                  <a:pt x="10992" y="4437"/>
                  <a:pt x="9379" y="6958"/>
                  <a:pt x="8572" y="9883"/>
                </a:cubicBezTo>
                <a:cubicBezTo>
                  <a:pt x="8370" y="10891"/>
                  <a:pt x="7866" y="11698"/>
                  <a:pt x="7160" y="12202"/>
                </a:cubicBezTo>
                <a:cubicBezTo>
                  <a:pt x="6555" y="12807"/>
                  <a:pt x="5648" y="13009"/>
                  <a:pt x="4538" y="13009"/>
                </a:cubicBezTo>
                <a:cubicBezTo>
                  <a:pt x="2017" y="13009"/>
                  <a:pt x="0" y="15127"/>
                  <a:pt x="0" y="17648"/>
                </a:cubicBezTo>
                <a:cubicBezTo>
                  <a:pt x="0" y="20169"/>
                  <a:pt x="2017" y="22186"/>
                  <a:pt x="4538" y="22186"/>
                </a:cubicBezTo>
                <a:cubicBezTo>
                  <a:pt x="7664" y="22186"/>
                  <a:pt x="10488" y="21278"/>
                  <a:pt x="12707" y="19463"/>
                </a:cubicBezTo>
                <a:cubicBezTo>
                  <a:pt x="15026" y="17748"/>
                  <a:pt x="16639" y="15227"/>
                  <a:pt x="17446" y="12303"/>
                </a:cubicBezTo>
                <a:cubicBezTo>
                  <a:pt x="17749" y="11295"/>
                  <a:pt x="18152" y="10488"/>
                  <a:pt x="18858" y="9984"/>
                </a:cubicBezTo>
                <a:cubicBezTo>
                  <a:pt x="19564" y="9479"/>
                  <a:pt x="20471" y="9177"/>
                  <a:pt x="21480" y="9177"/>
                </a:cubicBezTo>
                <a:cubicBezTo>
                  <a:pt x="22488" y="9177"/>
                  <a:pt x="23396" y="9479"/>
                  <a:pt x="24102" y="9984"/>
                </a:cubicBezTo>
                <a:cubicBezTo>
                  <a:pt x="24808" y="10488"/>
                  <a:pt x="25211" y="11295"/>
                  <a:pt x="25514" y="12303"/>
                </a:cubicBezTo>
                <a:cubicBezTo>
                  <a:pt x="26320" y="15227"/>
                  <a:pt x="27934" y="17748"/>
                  <a:pt x="30253" y="19463"/>
                </a:cubicBezTo>
                <a:cubicBezTo>
                  <a:pt x="32472" y="21278"/>
                  <a:pt x="35396" y="22186"/>
                  <a:pt x="38421" y="22186"/>
                </a:cubicBezTo>
                <a:cubicBezTo>
                  <a:pt x="41447" y="22186"/>
                  <a:pt x="44270" y="21278"/>
                  <a:pt x="46590" y="19463"/>
                </a:cubicBezTo>
                <a:cubicBezTo>
                  <a:pt x="48909" y="17748"/>
                  <a:pt x="50522" y="15227"/>
                  <a:pt x="51329" y="12303"/>
                </a:cubicBezTo>
                <a:cubicBezTo>
                  <a:pt x="51531" y="11295"/>
                  <a:pt x="52035" y="10488"/>
                  <a:pt x="52741" y="9984"/>
                </a:cubicBezTo>
                <a:cubicBezTo>
                  <a:pt x="53346" y="9479"/>
                  <a:pt x="54254" y="9177"/>
                  <a:pt x="55363" y="9177"/>
                </a:cubicBezTo>
                <a:cubicBezTo>
                  <a:pt x="56371" y="9177"/>
                  <a:pt x="57279" y="9479"/>
                  <a:pt x="57985" y="9984"/>
                </a:cubicBezTo>
                <a:cubicBezTo>
                  <a:pt x="58590" y="10488"/>
                  <a:pt x="59094" y="11295"/>
                  <a:pt x="59397" y="12303"/>
                </a:cubicBezTo>
                <a:cubicBezTo>
                  <a:pt x="60203" y="15227"/>
                  <a:pt x="61817" y="17748"/>
                  <a:pt x="64035" y="19463"/>
                </a:cubicBezTo>
                <a:cubicBezTo>
                  <a:pt x="66355" y="21278"/>
                  <a:pt x="69178" y="22186"/>
                  <a:pt x="72203" y="22186"/>
                </a:cubicBezTo>
                <a:cubicBezTo>
                  <a:pt x="75330" y="22186"/>
                  <a:pt x="78153" y="21278"/>
                  <a:pt x="80473" y="19463"/>
                </a:cubicBezTo>
                <a:cubicBezTo>
                  <a:pt x="82691" y="17748"/>
                  <a:pt x="84305" y="15227"/>
                  <a:pt x="85111" y="12303"/>
                </a:cubicBezTo>
                <a:cubicBezTo>
                  <a:pt x="85414" y="11295"/>
                  <a:pt x="85918" y="10488"/>
                  <a:pt x="86523" y="9984"/>
                </a:cubicBezTo>
                <a:cubicBezTo>
                  <a:pt x="87229" y="9479"/>
                  <a:pt x="88137" y="9177"/>
                  <a:pt x="89145" y="9177"/>
                </a:cubicBezTo>
                <a:cubicBezTo>
                  <a:pt x="90254" y="9177"/>
                  <a:pt x="91162" y="9479"/>
                  <a:pt x="91767" y="9984"/>
                </a:cubicBezTo>
                <a:cubicBezTo>
                  <a:pt x="92473" y="10488"/>
                  <a:pt x="92977" y="11295"/>
                  <a:pt x="93179" y="12303"/>
                </a:cubicBezTo>
                <a:cubicBezTo>
                  <a:pt x="93985" y="15227"/>
                  <a:pt x="95599" y="17748"/>
                  <a:pt x="97918" y="19463"/>
                </a:cubicBezTo>
                <a:cubicBezTo>
                  <a:pt x="100238" y="21278"/>
                  <a:pt x="103061" y="22186"/>
                  <a:pt x="106086" y="22186"/>
                </a:cubicBezTo>
                <a:cubicBezTo>
                  <a:pt x="109112" y="22186"/>
                  <a:pt x="112036" y="21278"/>
                  <a:pt x="114255" y="19463"/>
                </a:cubicBezTo>
                <a:cubicBezTo>
                  <a:pt x="116574" y="17748"/>
                  <a:pt x="118187" y="15227"/>
                  <a:pt x="118994" y="12303"/>
                </a:cubicBezTo>
                <a:cubicBezTo>
                  <a:pt x="119297" y="11295"/>
                  <a:pt x="119700" y="10488"/>
                  <a:pt x="120406" y="9984"/>
                </a:cubicBezTo>
                <a:cubicBezTo>
                  <a:pt x="121112" y="9479"/>
                  <a:pt x="122019" y="9177"/>
                  <a:pt x="123028" y="9177"/>
                </a:cubicBezTo>
                <a:cubicBezTo>
                  <a:pt x="124036" y="9177"/>
                  <a:pt x="124944" y="9479"/>
                  <a:pt x="125650" y="9984"/>
                </a:cubicBezTo>
                <a:cubicBezTo>
                  <a:pt x="126356" y="10488"/>
                  <a:pt x="126759" y="11295"/>
                  <a:pt x="127062" y="12303"/>
                </a:cubicBezTo>
                <a:cubicBezTo>
                  <a:pt x="127868" y="15227"/>
                  <a:pt x="129482" y="17748"/>
                  <a:pt x="131801" y="19463"/>
                </a:cubicBezTo>
                <a:cubicBezTo>
                  <a:pt x="134020" y="21278"/>
                  <a:pt x="136843" y="22186"/>
                  <a:pt x="139969" y="22186"/>
                </a:cubicBezTo>
                <a:cubicBezTo>
                  <a:pt x="142995" y="22186"/>
                  <a:pt x="145818" y="21278"/>
                  <a:pt x="148138" y="19463"/>
                </a:cubicBezTo>
                <a:cubicBezTo>
                  <a:pt x="150356" y="17748"/>
                  <a:pt x="152070" y="15227"/>
                  <a:pt x="152776" y="12303"/>
                </a:cubicBezTo>
                <a:cubicBezTo>
                  <a:pt x="153079" y="11295"/>
                  <a:pt x="153583" y="10488"/>
                  <a:pt x="154289" y="9984"/>
                </a:cubicBezTo>
                <a:cubicBezTo>
                  <a:pt x="154894" y="9479"/>
                  <a:pt x="155802" y="9177"/>
                  <a:pt x="156911" y="9177"/>
                </a:cubicBezTo>
                <a:cubicBezTo>
                  <a:pt x="157919" y="9177"/>
                  <a:pt x="158827" y="9479"/>
                  <a:pt x="159533" y="9984"/>
                </a:cubicBezTo>
                <a:cubicBezTo>
                  <a:pt x="160138" y="10488"/>
                  <a:pt x="160642" y="11295"/>
                  <a:pt x="160945" y="12303"/>
                </a:cubicBezTo>
                <a:cubicBezTo>
                  <a:pt x="161751" y="15227"/>
                  <a:pt x="163365" y="17748"/>
                  <a:pt x="165583" y="19463"/>
                </a:cubicBezTo>
                <a:cubicBezTo>
                  <a:pt x="167903" y="21278"/>
                  <a:pt x="170726" y="22186"/>
                  <a:pt x="173752" y="22186"/>
                </a:cubicBezTo>
                <a:cubicBezTo>
                  <a:pt x="176273" y="22186"/>
                  <a:pt x="178390" y="20169"/>
                  <a:pt x="178390" y="17648"/>
                </a:cubicBezTo>
                <a:cubicBezTo>
                  <a:pt x="178390" y="15127"/>
                  <a:pt x="176273" y="13009"/>
                  <a:pt x="173752" y="1300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1016000" y="5406567"/>
            <a:ext cx="838000" cy="11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2"/>
          <p:cNvSpPr txBox="1">
            <a:spLocks noGrp="1"/>
          </p:cNvSpPr>
          <p:nvPr>
            <p:ph type="subTitle" idx="1"/>
          </p:nvPr>
        </p:nvSpPr>
        <p:spPr>
          <a:xfrm>
            <a:off x="974400" y="2720472"/>
            <a:ext cx="5706000" cy="11620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300"/>
              <a:buNone/>
              <a:defRPr sz="5465" b="1">
                <a:solidFill>
                  <a:schemeClr val="dk1"/>
                </a:solidFill>
                <a:latin typeface="Signika"/>
                <a:ea typeface="Signika"/>
                <a:cs typeface="Signika"/>
                <a:sym typeface="Signika"/>
              </a:defRPr>
            </a:lvl1pPr>
            <a:lvl2pPr lvl="1">
              <a:lnSpc>
                <a:spcPct val="100000"/>
              </a:lnSpc>
              <a:spcBef>
                <a:spcPts val="0"/>
              </a:spcBef>
              <a:spcAft>
                <a:spcPts val="0"/>
              </a:spcAft>
              <a:buSzPts val="2800"/>
              <a:buNone/>
              <a:defRPr sz="3735"/>
            </a:lvl2pPr>
            <a:lvl3pPr lvl="2">
              <a:lnSpc>
                <a:spcPct val="100000"/>
              </a:lnSpc>
              <a:spcBef>
                <a:spcPts val="0"/>
              </a:spcBef>
              <a:spcAft>
                <a:spcPts val="0"/>
              </a:spcAft>
              <a:buSzPts val="2800"/>
              <a:buNone/>
              <a:defRPr sz="3735"/>
            </a:lvl3pPr>
            <a:lvl4pPr lvl="3">
              <a:lnSpc>
                <a:spcPct val="100000"/>
              </a:lnSpc>
              <a:spcBef>
                <a:spcPts val="0"/>
              </a:spcBef>
              <a:spcAft>
                <a:spcPts val="0"/>
              </a:spcAft>
              <a:buSzPts val="2800"/>
              <a:buNone/>
              <a:defRPr sz="3735"/>
            </a:lvl4pPr>
            <a:lvl5pPr lvl="4">
              <a:lnSpc>
                <a:spcPct val="100000"/>
              </a:lnSpc>
              <a:spcBef>
                <a:spcPts val="0"/>
              </a:spcBef>
              <a:spcAft>
                <a:spcPts val="0"/>
              </a:spcAft>
              <a:buSzPts val="2800"/>
              <a:buNone/>
              <a:defRPr sz="3735"/>
            </a:lvl5pPr>
            <a:lvl6pPr lvl="5">
              <a:lnSpc>
                <a:spcPct val="100000"/>
              </a:lnSpc>
              <a:spcBef>
                <a:spcPts val="0"/>
              </a:spcBef>
              <a:spcAft>
                <a:spcPts val="0"/>
              </a:spcAft>
              <a:buSzPts val="2800"/>
              <a:buNone/>
              <a:defRPr sz="3735"/>
            </a:lvl6pPr>
            <a:lvl7pPr lvl="6">
              <a:lnSpc>
                <a:spcPct val="100000"/>
              </a:lnSpc>
              <a:spcBef>
                <a:spcPts val="0"/>
              </a:spcBef>
              <a:spcAft>
                <a:spcPts val="0"/>
              </a:spcAft>
              <a:buSzPts val="2800"/>
              <a:buNone/>
              <a:defRPr sz="3735"/>
            </a:lvl7pPr>
            <a:lvl8pPr lvl="7">
              <a:lnSpc>
                <a:spcPct val="100000"/>
              </a:lnSpc>
              <a:spcBef>
                <a:spcPts val="0"/>
              </a:spcBef>
              <a:spcAft>
                <a:spcPts val="0"/>
              </a:spcAft>
              <a:buSzPts val="2800"/>
              <a:buNone/>
              <a:defRPr sz="3735"/>
            </a:lvl8pPr>
            <a:lvl9pPr lvl="8">
              <a:lnSpc>
                <a:spcPct val="100000"/>
              </a:lnSpc>
              <a:spcBef>
                <a:spcPts val="0"/>
              </a:spcBef>
              <a:spcAft>
                <a:spcPts val="0"/>
              </a:spcAft>
              <a:buSzPts val="2800"/>
              <a:buNone/>
              <a:defRPr sz="3735"/>
            </a:lvl9pPr>
          </a:lstStyle>
          <a:p>
            <a:r>
              <a:rPr lang="es-ES"/>
              <a:t>Haga clic para editar el estilo de subtítulo del patrón</a:t>
            </a:r>
          </a:p>
        </p:txBody>
      </p:sp>
      <p:sp>
        <p:nvSpPr>
          <p:cNvPr id="35" name="Google Shape;35;p2"/>
          <p:cNvSpPr txBox="1">
            <a:spLocks noGrp="1"/>
          </p:cNvSpPr>
          <p:nvPr>
            <p:ph type="subTitle" idx="2"/>
          </p:nvPr>
        </p:nvSpPr>
        <p:spPr>
          <a:xfrm>
            <a:off x="974400" y="5716467"/>
            <a:ext cx="4996800" cy="3164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2135">
                <a:latin typeface="Signika"/>
                <a:ea typeface="Signika"/>
                <a:cs typeface="Signika"/>
                <a:sym typeface="Signika"/>
              </a:defRPr>
            </a:lvl1pPr>
            <a:lvl2pPr lvl="1">
              <a:spcBef>
                <a:spcPts val="0"/>
              </a:spcBef>
              <a:spcAft>
                <a:spcPts val="0"/>
              </a:spcAft>
              <a:buSzPts val="1400"/>
              <a:buNone/>
              <a:defRPr/>
            </a:lvl2pPr>
            <a:lvl3pPr lvl="2">
              <a:spcBef>
                <a:spcPts val="2135"/>
              </a:spcBef>
              <a:spcAft>
                <a:spcPts val="0"/>
              </a:spcAft>
              <a:buSzPts val="1400"/>
              <a:buNone/>
              <a:defRPr/>
            </a:lvl3pPr>
            <a:lvl4pPr lvl="3">
              <a:spcBef>
                <a:spcPts val="2135"/>
              </a:spcBef>
              <a:spcAft>
                <a:spcPts val="0"/>
              </a:spcAft>
              <a:buSzPts val="1400"/>
              <a:buNone/>
              <a:defRPr/>
            </a:lvl4pPr>
            <a:lvl5pPr lvl="4">
              <a:spcBef>
                <a:spcPts val="2135"/>
              </a:spcBef>
              <a:spcAft>
                <a:spcPts val="0"/>
              </a:spcAft>
              <a:buSzPts val="1400"/>
              <a:buNone/>
              <a:defRPr/>
            </a:lvl5pPr>
            <a:lvl6pPr lvl="5">
              <a:spcBef>
                <a:spcPts val="2135"/>
              </a:spcBef>
              <a:spcAft>
                <a:spcPts val="0"/>
              </a:spcAft>
              <a:buSzPts val="1400"/>
              <a:buNone/>
              <a:defRPr/>
            </a:lvl6pPr>
            <a:lvl7pPr lvl="6">
              <a:spcBef>
                <a:spcPts val="2135"/>
              </a:spcBef>
              <a:spcAft>
                <a:spcPts val="0"/>
              </a:spcAft>
              <a:buSzPts val="1400"/>
              <a:buNone/>
              <a:defRPr/>
            </a:lvl7pPr>
            <a:lvl8pPr lvl="7">
              <a:spcBef>
                <a:spcPts val="2135"/>
              </a:spcBef>
              <a:spcAft>
                <a:spcPts val="0"/>
              </a:spcAft>
              <a:buSzPts val="1400"/>
              <a:buNone/>
              <a:defRPr/>
            </a:lvl8pPr>
            <a:lvl9pPr lvl="8">
              <a:spcBef>
                <a:spcPts val="2135"/>
              </a:spcBef>
              <a:spcAft>
                <a:spcPts val="2135"/>
              </a:spcAft>
              <a:buSzPts val="1400"/>
              <a:buNone/>
              <a:defRPr/>
            </a:lvl9pPr>
          </a:lstStyle>
          <a:p>
            <a:r>
              <a:rPr lang="es-ES"/>
              <a:t>Haga clic para editar el estilo de subtítulo del patrón</a:t>
            </a:r>
          </a:p>
        </p:txBody>
      </p:sp>
    </p:spTree>
    <p:extLst>
      <p:ext uri="{BB962C8B-B14F-4D97-AF65-F5344CB8AC3E}">
        <p14:creationId xmlns:p14="http://schemas.microsoft.com/office/powerpoint/2010/main" val="1622341512"/>
      </p:ext>
    </p:extLst>
  </p:cSld>
  <p:clrMapOvr>
    <a:masterClrMapping/>
  </p:clrMapOvr>
  <p:transition>
    <p:fade thruBlk="1"/>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 name="Google Shape;14;p3"/>
          <p:cNvSpPr txBox="1">
            <a:spLocks noGrp="1"/>
          </p:cNvSpPr>
          <p:nvPr>
            <p:ph type="ctrTitle"/>
          </p:nvPr>
        </p:nvSpPr>
        <p:spPr>
          <a:xfrm>
            <a:off x="914400" y="2212733"/>
            <a:ext cx="5685200" cy="15464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914400" y="3888339"/>
            <a:ext cx="56852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extLst>
      <p:ext uri="{BB962C8B-B14F-4D97-AF65-F5344CB8AC3E}">
        <p14:creationId xmlns:p14="http://schemas.microsoft.com/office/powerpoint/2010/main" val="37085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 Big circuit">
  <p:cSld name="Blank · Big circuit">
    <p:spTree>
      <p:nvGrpSpPr>
        <p:cNvPr id="1" name="Shape 51"/>
        <p:cNvGrpSpPr/>
        <p:nvPr/>
      </p:nvGrpSpPr>
      <p:grpSpPr>
        <a:xfrm>
          <a:off x="0" y="0"/>
          <a:ext cx="0" cy="0"/>
          <a:chOff x="0" y="0"/>
          <a:chExt cx="0" cy="0"/>
        </a:xfrm>
      </p:grpSpPr>
      <p:sp>
        <p:nvSpPr>
          <p:cNvPr id="53" name="Google Shape;53;p11"/>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s-PE" smtClean="0"/>
              <a:pPr/>
              <a:t>‹Nº›</a:t>
            </a:fld>
            <a:endParaRPr lang="es-PE" dirty="0"/>
          </a:p>
        </p:txBody>
      </p:sp>
    </p:spTree>
    <p:extLst>
      <p:ext uri="{BB962C8B-B14F-4D97-AF65-F5344CB8AC3E}">
        <p14:creationId xmlns:p14="http://schemas.microsoft.com/office/powerpoint/2010/main" val="1350575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F1AAE89-7064-421D-9916-420AA2E7F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7A6A12CE-274A-4C60-9546-77A9682AF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2573BBF9-6C16-49C0-B59C-BBB728D49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950E9423-4AA5-436D-A3A1-72E3B0769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BA379-2009-4338-BF9E-30C0A8FACAF6}" type="slidenum">
              <a:rPr lang="es-PE" smtClean="0"/>
              <a:t>‹Nº›</a:t>
            </a:fld>
            <a:endParaRPr lang="es-PE"/>
          </a:p>
        </p:txBody>
      </p:sp>
      <p:sp>
        <p:nvSpPr>
          <p:cNvPr id="8" name="Rectángulo 7">
            <a:extLst>
              <a:ext uri="{FF2B5EF4-FFF2-40B4-BE49-F238E27FC236}">
                <a16:creationId xmlns:a16="http://schemas.microsoft.com/office/drawing/2014/main" id="{91A87426-75BB-4DA5-A531-460DD7508A1B}"/>
              </a:ext>
            </a:extLst>
          </p:cNvPr>
          <p:cNvSpPr/>
          <p:nvPr userDrawn="1"/>
        </p:nvSpPr>
        <p:spPr>
          <a:xfrm>
            <a:off x="6096000" y="-9331"/>
            <a:ext cx="6096000" cy="107325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E90ED3DD-A7C3-4095-9269-329F194BB6AC}"/>
              </a:ext>
            </a:extLst>
          </p:cNvPr>
          <p:cNvSpPr/>
          <p:nvPr userDrawn="1"/>
        </p:nvSpPr>
        <p:spPr>
          <a:xfrm>
            <a:off x="0" y="1073257"/>
            <a:ext cx="12192000" cy="151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1" name="Imagen 10" descr="Resultado de imagen para LOGO UNAC">
            <a:extLst>
              <a:ext uri="{FF2B5EF4-FFF2-40B4-BE49-F238E27FC236}">
                <a16:creationId xmlns:a16="http://schemas.microsoft.com/office/drawing/2014/main" id="{C8363EE3-3A68-4118-94B3-883E5C704F10}"/>
              </a:ext>
            </a:extLst>
          </p:cNvPr>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52732" y="188233"/>
            <a:ext cx="537224" cy="684603"/>
          </a:xfrm>
          <a:prstGeom prst="rect">
            <a:avLst/>
          </a:prstGeom>
          <a:noFill/>
          <a:ln>
            <a:noFill/>
          </a:ln>
        </p:spPr>
      </p:pic>
    </p:spTree>
    <p:extLst>
      <p:ext uri="{BB962C8B-B14F-4D97-AF65-F5344CB8AC3E}">
        <p14:creationId xmlns:p14="http://schemas.microsoft.com/office/powerpoint/2010/main" val="2480173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 id="214748366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9.jfif"/><Relationship Id="rId7" Type="http://schemas.openxmlformats.org/officeDocument/2006/relationships/diagramQuickStyle" Target="../diagrams/quickStyle1.xml"/><Relationship Id="rId2" Type="http://schemas.openxmlformats.org/officeDocument/2006/relationships/image" Target="../media/image8.jfif"/><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0.jp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7235024" y="2518396"/>
            <a:ext cx="4913785" cy="2916657"/>
          </a:xfrm>
          <a:prstGeom prst="rect">
            <a:avLst/>
          </a:prstGeom>
          <a:solidFill>
            <a:srgbClr val="FFFFFF">
              <a:shade val="85000"/>
            </a:srgbClr>
          </a:solidFill>
          <a:ln w="88900" cap="sq">
            <a:solidFill>
              <a:srgbClr val="FFFFFF"/>
            </a:solidFill>
            <a:miter lim="800000"/>
            <a:headEnd/>
            <a:tailEnd/>
          </a:ln>
          <a:effectLst/>
          <a:scene3d>
            <a:camera prst="orthographicFront"/>
            <a:lightRig rig="twoPt" dir="t">
              <a:rot lat="0" lon="0" rev="7200000"/>
            </a:lightRig>
          </a:scene3d>
          <a:sp3d>
            <a:bevelT w="25400" h="19050"/>
            <a:contourClr>
              <a:srgbClr val="FFFFFF"/>
            </a:contourClr>
          </a:sp3d>
        </p:spPr>
      </p:pic>
      <p:pic>
        <p:nvPicPr>
          <p:cNvPr id="5" name="Picture 2" descr="UN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71" y="190477"/>
            <a:ext cx="2855333" cy="674048"/>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p:cNvSpPr/>
          <p:nvPr/>
        </p:nvSpPr>
        <p:spPr>
          <a:xfrm>
            <a:off x="7261461" y="5795306"/>
            <a:ext cx="467139" cy="450222"/>
          </a:xfrm>
          <a:prstGeom prst="rect">
            <a:avLst/>
          </a:prstGeom>
          <a:solidFill>
            <a:srgbClr val="D7E7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Título 2"/>
          <p:cNvSpPr txBox="1"/>
          <p:nvPr/>
        </p:nvSpPr>
        <p:spPr>
          <a:xfrm>
            <a:off x="8321150" y="5795306"/>
            <a:ext cx="2803628" cy="697178"/>
          </a:xfrm>
          <a:prstGeom prst="roundRect">
            <a:avLst/>
          </a:prstGeom>
          <a:solidFill>
            <a:schemeClr val="bg1"/>
          </a:solidFill>
          <a:ln w="28575">
            <a:noFill/>
            <a:prstDash val="lgDashDot"/>
          </a:ln>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bg1"/>
                </a:solidFill>
                <a:latin typeface="+mj-lt"/>
                <a:ea typeface="+mj-ea"/>
                <a:cs typeface="+mj-cs"/>
              </a:defRPr>
            </a:lvl1pPr>
          </a:lstStyle>
          <a:p>
            <a:pPr algn="ctr"/>
            <a:r>
              <a:rPr lang="es-PE" sz="1800" dirty="0">
                <a:solidFill>
                  <a:srgbClr val="002060"/>
                </a:solidFill>
                <a:latin typeface="Bodoni MT Black" panose="02070A03080606020203" pitchFamily="18" charset="0"/>
                <a:cs typeface="Leelawadee UI" panose="020B0502040204020203" pitchFamily="34" charset="-34"/>
              </a:rPr>
              <a:t>SEMESTRE ACADÉMICO 2026 B</a:t>
            </a:r>
            <a:endParaRPr lang="es-ES" sz="1800" dirty="0">
              <a:solidFill>
                <a:srgbClr val="002060"/>
              </a:solidFill>
              <a:latin typeface="Bodoni MT Black" panose="02070A03080606020203" pitchFamily="18" charset="0"/>
              <a:cs typeface="Leelawadee UI" panose="020B0502040204020203" pitchFamily="34" charset="-34"/>
            </a:endParaRPr>
          </a:p>
        </p:txBody>
      </p:sp>
      <p:pic>
        <p:nvPicPr>
          <p:cNvPr id="26" name="Imagen 25"/>
          <p:cNvPicPr>
            <a:picLocks noChangeAspect="1"/>
          </p:cNvPicPr>
          <p:nvPr/>
        </p:nvPicPr>
        <p:blipFill>
          <a:blip r:embed="rId4"/>
          <a:stretch>
            <a:fillRect/>
          </a:stretch>
        </p:blipFill>
        <p:spPr>
          <a:xfrm>
            <a:off x="7261461" y="0"/>
            <a:ext cx="4923006" cy="1400220"/>
          </a:xfrm>
          <a:prstGeom prst="rect">
            <a:avLst/>
          </a:prstGeom>
        </p:spPr>
      </p:pic>
      <p:sp>
        <p:nvSpPr>
          <p:cNvPr id="15" name="4 CuadroTexto">
            <a:extLst>
              <a:ext uri="{FF2B5EF4-FFF2-40B4-BE49-F238E27FC236}">
                <a16:creationId xmlns:a16="http://schemas.microsoft.com/office/drawing/2014/main" id="{4365F436-E173-4817-8107-4110CE39FADE}"/>
              </a:ext>
            </a:extLst>
          </p:cNvPr>
          <p:cNvSpPr txBox="1"/>
          <p:nvPr/>
        </p:nvSpPr>
        <p:spPr>
          <a:xfrm>
            <a:off x="0" y="4134513"/>
            <a:ext cx="6096000" cy="830997"/>
          </a:xfrm>
          <a:prstGeom prst="rect">
            <a:avLst/>
          </a:prstGeom>
          <a:noFill/>
        </p:spPr>
        <p:txBody>
          <a:bodyPr wrap="square" rtlCol="0">
            <a:spAutoFit/>
          </a:bodyPr>
          <a:lstStyle/>
          <a:p>
            <a:pPr algn="ctr"/>
            <a:r>
              <a:rPr lang="es-ES" sz="2400" b="1" dirty="0">
                <a:solidFill>
                  <a:srgbClr val="700000"/>
                </a:solidFill>
              </a:rPr>
              <a:t>Docente:</a:t>
            </a:r>
          </a:p>
          <a:p>
            <a:pPr algn="ctr"/>
            <a:r>
              <a:rPr lang="es-ES" sz="2400" b="1" dirty="0" err="1">
                <a:solidFill>
                  <a:srgbClr val="700000"/>
                </a:solidFill>
              </a:rPr>
              <a:t>ANIVAL</a:t>
            </a:r>
            <a:r>
              <a:rPr lang="es-ES" sz="2400" b="1" dirty="0">
                <a:solidFill>
                  <a:srgbClr val="700000"/>
                </a:solidFill>
              </a:rPr>
              <a:t> TORRE CAMONES</a:t>
            </a:r>
            <a:endParaRPr lang="es-PE" sz="2400" b="1" dirty="0">
              <a:solidFill>
                <a:srgbClr val="700000"/>
              </a:solidFill>
            </a:endParaRPr>
          </a:p>
        </p:txBody>
      </p:sp>
      <p:sp>
        <p:nvSpPr>
          <p:cNvPr id="2" name="5 Rectángulo">
            <a:extLst>
              <a:ext uri="{FF2B5EF4-FFF2-40B4-BE49-F238E27FC236}">
                <a16:creationId xmlns:a16="http://schemas.microsoft.com/office/drawing/2014/main" id="{3267FC93-B427-4E7C-B243-BE63C44CB29D}"/>
              </a:ext>
            </a:extLst>
          </p:cNvPr>
          <p:cNvSpPr/>
          <p:nvPr/>
        </p:nvSpPr>
        <p:spPr>
          <a:xfrm>
            <a:off x="390" y="2394096"/>
            <a:ext cx="6096000" cy="1323439"/>
          </a:xfrm>
          <a:prstGeom prst="rect">
            <a:avLst/>
          </a:prstGeom>
          <a:noFill/>
        </p:spPr>
        <p:txBody>
          <a:bodyPr wrap="square" rtlCol="0">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4000" b="1" dirty="0">
                <a:solidFill>
                  <a:srgbClr val="700000"/>
                </a:solidFill>
              </a:rPr>
              <a:t>INVESTIGACION DE OPERACIONES</a:t>
            </a:r>
            <a:endParaRPr lang="es-PE" sz="4000" b="1" dirty="0">
              <a:solidFill>
                <a:srgbClr val="700000"/>
              </a:solidFill>
            </a:endParaRPr>
          </a:p>
        </p:txBody>
      </p:sp>
      <p:pic>
        <p:nvPicPr>
          <p:cNvPr id="4" name="Imagen 3">
            <a:extLst>
              <a:ext uri="{FF2B5EF4-FFF2-40B4-BE49-F238E27FC236}">
                <a16:creationId xmlns:a16="http://schemas.microsoft.com/office/drawing/2014/main" id="{EF291808-C582-26D7-9A61-E42C7376A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7736" y="3366595"/>
            <a:ext cx="1097308" cy="1097308"/>
          </a:xfrm>
          <a:prstGeom prst="rect">
            <a:avLst/>
          </a:prstGeom>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3" name="2 Título"/>
          <p:cNvSpPr>
            <a:spLocks noGrp="1"/>
          </p:cNvSpPr>
          <p:nvPr>
            <p:ph type="ctrTitle"/>
          </p:nvPr>
        </p:nvSpPr>
        <p:spPr>
          <a:xfrm>
            <a:off x="0" y="2892103"/>
            <a:ext cx="6096000" cy="1546400"/>
          </a:xfrm>
        </p:spPr>
        <p:txBody>
          <a:bodyPr/>
          <a:lstStyle/>
          <a:p>
            <a:pPr algn="ctr"/>
            <a:r>
              <a:rPr lang="es-PE" sz="4400" dirty="0">
                <a:solidFill>
                  <a:srgbClr val="FF0000"/>
                </a:solidFill>
                <a:latin typeface="Bauhaus 93" pitchFamily="82" charset="0"/>
              </a:rPr>
              <a:t>PROBLEMAS DE ASIGNACIÓN</a:t>
            </a:r>
            <a:endParaRPr lang="es-ES" sz="4400" dirty="0">
              <a:solidFill>
                <a:srgbClr val="0064AE"/>
              </a:solidFill>
              <a:effectLst>
                <a:outerShdw blurRad="38100" dist="38100" dir="2700000" algn="tl">
                  <a:srgbClr val="000000">
                    <a:alpha val="43137"/>
                  </a:srgbClr>
                </a:outerShdw>
              </a:effectLst>
              <a:latin typeface="Arial Black" panose="020B0A04020102020204" pitchFamily="34" charset="0"/>
            </a:endParaRPr>
          </a:p>
        </p:txBody>
      </p:sp>
      <p:sp>
        <p:nvSpPr>
          <p:cNvPr id="83" name="Google Shape;83;p15"/>
          <p:cNvSpPr txBox="1">
            <a:spLocks noGrp="1"/>
          </p:cNvSpPr>
          <p:nvPr>
            <p:ph type="sldNum" idx="4294967295"/>
          </p:nvPr>
        </p:nvSpPr>
        <p:spPr>
          <a:xfrm>
            <a:off x="10118726" y="633253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2</a:t>
            </a:fld>
            <a:endParaRPr dirty="0"/>
          </a:p>
        </p:txBody>
      </p:sp>
      <p:sp>
        <p:nvSpPr>
          <p:cNvPr id="7" name="Rectangle 2"/>
          <p:cNvSpPr txBox="1">
            <a:spLocks noChangeArrowheads="1"/>
          </p:cNvSpPr>
          <p:nvPr/>
        </p:nvSpPr>
        <p:spPr bwMode="black">
          <a:xfrm>
            <a:off x="6096000" y="109243"/>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Semana 12</a:t>
            </a:r>
          </a:p>
        </p:txBody>
      </p:sp>
      <p:pic>
        <p:nvPicPr>
          <p:cNvPr id="8" name="Google Shape;61;p13"/>
          <p:cNvPicPr preferRelativeResize="0"/>
          <p:nvPr/>
        </p:nvPicPr>
        <p:blipFill>
          <a:blip r:embed="rId3">
            <a:alphaModFix/>
          </a:blip>
          <a:stretch>
            <a:fillRect/>
          </a:stretch>
        </p:blipFill>
        <p:spPr>
          <a:xfrm>
            <a:off x="9058003" y="1676383"/>
            <a:ext cx="1782850" cy="1988920"/>
          </a:xfrm>
          <a:prstGeom prst="rect">
            <a:avLst/>
          </a:prstGeom>
          <a:noFill/>
          <a:ln>
            <a:noFill/>
          </a:ln>
        </p:spPr>
      </p:pic>
    </p:spTree>
    <p:extLst>
      <p:ext uri="{BB962C8B-B14F-4D97-AF65-F5344CB8AC3E}">
        <p14:creationId xmlns:p14="http://schemas.microsoft.com/office/powerpoint/2010/main" val="3172296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26887584-455C-4A6C-AF0A-668B022614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1007" y="4336781"/>
            <a:ext cx="1547499" cy="1096439"/>
          </a:xfrm>
          <a:prstGeom prst="rect">
            <a:avLst/>
          </a:prstGeom>
        </p:spPr>
      </p:pic>
      <p:pic>
        <p:nvPicPr>
          <p:cNvPr id="7" name="Imagen 6">
            <a:extLst>
              <a:ext uri="{FF2B5EF4-FFF2-40B4-BE49-F238E27FC236}">
                <a16:creationId xmlns:a16="http://schemas.microsoft.com/office/drawing/2014/main" id="{A6E34F78-B24E-4BD4-89FA-3A052C5796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69769" y="4328155"/>
            <a:ext cx="1547969" cy="1086390"/>
          </a:xfrm>
          <a:prstGeom prst="rect">
            <a:avLst/>
          </a:prstGeom>
        </p:spPr>
      </p:pic>
      <p:pic>
        <p:nvPicPr>
          <p:cNvPr id="8" name="Imagen 7">
            <a:extLst>
              <a:ext uri="{FF2B5EF4-FFF2-40B4-BE49-F238E27FC236}">
                <a16:creationId xmlns:a16="http://schemas.microsoft.com/office/drawing/2014/main" id="{EB7E1E10-FA07-4C87-BAC2-2BA7289CB5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7298" y="2004898"/>
            <a:ext cx="1537404" cy="1086390"/>
          </a:xfrm>
          <a:prstGeom prst="rect">
            <a:avLst/>
          </a:prstGeom>
        </p:spPr>
      </p:pic>
      <p:graphicFrame>
        <p:nvGraphicFramePr>
          <p:cNvPr id="3" name="2 Diagrama"/>
          <p:cNvGraphicFramePr/>
          <p:nvPr/>
        </p:nvGraphicFramePr>
        <p:xfrm>
          <a:off x="2902510" y="1268760"/>
          <a:ext cx="6408712" cy="51125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Rectangle 2">
            <a:extLst>
              <a:ext uri="{FF2B5EF4-FFF2-40B4-BE49-F238E27FC236}">
                <a16:creationId xmlns:a16="http://schemas.microsoft.com/office/drawing/2014/main" id="{470FC0F9-7E8A-49F6-A61F-06EBD9F874CF}"/>
              </a:ext>
            </a:extLst>
          </p:cNvPr>
          <p:cNvSpPr txBox="1">
            <a:spLocks noChangeArrowheads="1"/>
          </p:cNvSpPr>
          <p:nvPr/>
        </p:nvSpPr>
        <p:spPr bwMode="black">
          <a:xfrm>
            <a:off x="6096000" y="109243"/>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Recomendaciones</a:t>
            </a:r>
          </a:p>
        </p:txBody>
      </p:sp>
    </p:spTree>
    <p:extLst>
      <p:ext uri="{BB962C8B-B14F-4D97-AF65-F5344CB8AC3E}">
        <p14:creationId xmlns:p14="http://schemas.microsoft.com/office/powerpoint/2010/main" val="3783248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587" name="Group 3"/>
          <p:cNvGrpSpPr>
            <a:grpSpLocks/>
          </p:cNvGrpSpPr>
          <p:nvPr/>
        </p:nvGrpSpPr>
        <p:grpSpPr bwMode="auto">
          <a:xfrm>
            <a:off x="2635074" y="2037150"/>
            <a:ext cx="762000" cy="665163"/>
            <a:chOff x="1110" y="2656"/>
            <a:chExt cx="1549" cy="1351"/>
          </a:xfrm>
          <a:solidFill>
            <a:schemeClr val="accent6">
              <a:lumMod val="75000"/>
            </a:schemeClr>
          </a:solidFill>
        </p:grpSpPr>
        <p:sp>
          <p:nvSpPr>
            <p:cNvPr id="67588" name="AutoShape 4"/>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3200" b="1" dirty="0"/>
            </a:p>
          </p:txBody>
        </p:sp>
        <p:sp>
          <p:nvSpPr>
            <p:cNvPr id="67589" name="AutoShape 5"/>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3200" b="1" dirty="0"/>
            </a:p>
          </p:txBody>
        </p:sp>
        <p:sp>
          <p:nvSpPr>
            <p:cNvPr id="67590" name="AutoShape 6"/>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3200" b="1" dirty="0"/>
            </a:p>
          </p:txBody>
        </p:sp>
      </p:grpSp>
      <p:grpSp>
        <p:nvGrpSpPr>
          <p:cNvPr id="67591" name="Group 7"/>
          <p:cNvGrpSpPr>
            <a:grpSpLocks/>
          </p:cNvGrpSpPr>
          <p:nvPr/>
        </p:nvGrpSpPr>
        <p:grpSpPr bwMode="auto">
          <a:xfrm>
            <a:off x="2627879" y="2945666"/>
            <a:ext cx="762000" cy="665163"/>
            <a:chOff x="3174" y="2656"/>
            <a:chExt cx="1549" cy="1351"/>
          </a:xfrm>
        </p:grpSpPr>
        <p:sp>
          <p:nvSpPr>
            <p:cNvPr id="67592" name="AutoShape 8"/>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3200" b="1" dirty="0"/>
            </a:p>
          </p:txBody>
        </p:sp>
        <p:sp>
          <p:nvSpPr>
            <p:cNvPr id="67593" name="AutoShape 9"/>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3200" b="1" dirty="0"/>
            </a:p>
          </p:txBody>
        </p:sp>
        <p:sp>
          <p:nvSpPr>
            <p:cNvPr id="67594" name="AutoShape 10"/>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3200" b="1" dirty="0"/>
            </a:p>
          </p:txBody>
        </p:sp>
      </p:grpSp>
      <p:sp>
        <p:nvSpPr>
          <p:cNvPr id="67595" name="Line 11"/>
          <p:cNvSpPr>
            <a:spLocks noChangeShapeType="1"/>
          </p:cNvSpPr>
          <p:nvPr/>
        </p:nvSpPr>
        <p:spPr bwMode="auto">
          <a:xfrm>
            <a:off x="3791744" y="2643767"/>
            <a:ext cx="5760640" cy="0"/>
          </a:xfrm>
          <a:prstGeom prst="line">
            <a:avLst/>
          </a:prstGeom>
          <a:noFill/>
          <a:ln w="25400">
            <a:solidFill>
              <a:schemeClr val="tx2"/>
            </a:solidFill>
            <a:prstDash val="sysDot"/>
            <a:round/>
            <a:headEnd/>
            <a:tailEnd type="oval" w="med" len="med"/>
          </a:ln>
          <a:effectLst/>
        </p:spPr>
        <p:txBody>
          <a:bodyPr wrap="none" anchor="ctr"/>
          <a:lstStyle/>
          <a:p>
            <a:endParaRPr lang="es-ES" sz="3200" b="1" dirty="0"/>
          </a:p>
        </p:txBody>
      </p:sp>
      <p:sp>
        <p:nvSpPr>
          <p:cNvPr id="67596" name="Text Box 12"/>
          <p:cNvSpPr txBox="1">
            <a:spLocks noChangeArrowheads="1"/>
          </p:cNvSpPr>
          <p:nvPr/>
        </p:nvSpPr>
        <p:spPr bwMode="auto">
          <a:xfrm>
            <a:off x="3647728" y="2134166"/>
            <a:ext cx="4235262" cy="584775"/>
          </a:xfrm>
          <a:prstGeom prst="rect">
            <a:avLst/>
          </a:prstGeom>
          <a:noFill/>
          <a:ln w="9525" algn="ctr">
            <a:noFill/>
            <a:miter lim="800000"/>
            <a:headEnd/>
            <a:tailEnd/>
          </a:ln>
          <a:effectLst/>
        </p:spPr>
        <p:txBody>
          <a:bodyPr wrap="none">
            <a:spAutoFit/>
          </a:bodyPr>
          <a:lstStyle/>
          <a:p>
            <a:pPr eaLnBrk="0" hangingPunct="0"/>
            <a:r>
              <a:rPr lang="es-ES_tradnl" sz="3200" b="1" dirty="0">
                <a:solidFill>
                  <a:schemeClr val="bg2">
                    <a:lumMod val="25000"/>
                  </a:schemeClr>
                </a:solidFill>
              </a:rPr>
              <a:t>Problema de asignación</a:t>
            </a:r>
          </a:p>
        </p:txBody>
      </p:sp>
      <p:sp>
        <p:nvSpPr>
          <p:cNvPr id="67597" name="Text Box 13"/>
          <p:cNvSpPr txBox="1">
            <a:spLocks noChangeArrowheads="1"/>
          </p:cNvSpPr>
          <p:nvPr/>
        </p:nvSpPr>
        <p:spPr bwMode="gray">
          <a:xfrm>
            <a:off x="2822744" y="2122490"/>
            <a:ext cx="393057" cy="584775"/>
          </a:xfrm>
          <a:prstGeom prst="rect">
            <a:avLst/>
          </a:prstGeom>
          <a:noFill/>
          <a:ln w="9525" algn="ctr">
            <a:noFill/>
            <a:miter lim="800000"/>
            <a:headEnd/>
            <a:tailEnd/>
          </a:ln>
          <a:effectLst/>
        </p:spPr>
        <p:txBody>
          <a:bodyPr wrap="none">
            <a:spAutoFit/>
          </a:bodyPr>
          <a:lstStyle/>
          <a:p>
            <a:pPr algn="ctr" eaLnBrk="0" hangingPunct="0"/>
            <a:r>
              <a:rPr lang="en-US" sz="3200" b="1" dirty="0">
                <a:solidFill>
                  <a:schemeClr val="bg1"/>
                </a:solidFill>
              </a:rPr>
              <a:t>1</a:t>
            </a:r>
          </a:p>
        </p:txBody>
      </p:sp>
      <p:sp>
        <p:nvSpPr>
          <p:cNvPr id="67598" name="Line 14"/>
          <p:cNvSpPr>
            <a:spLocks noChangeShapeType="1"/>
          </p:cNvSpPr>
          <p:nvPr/>
        </p:nvSpPr>
        <p:spPr bwMode="auto">
          <a:xfrm>
            <a:off x="3791744" y="3548063"/>
            <a:ext cx="5760640" cy="0"/>
          </a:xfrm>
          <a:prstGeom prst="line">
            <a:avLst/>
          </a:prstGeom>
          <a:noFill/>
          <a:ln w="25400">
            <a:solidFill>
              <a:schemeClr val="tx2"/>
            </a:solidFill>
            <a:prstDash val="sysDot"/>
            <a:round/>
            <a:headEnd/>
            <a:tailEnd type="oval" w="med" len="med"/>
          </a:ln>
          <a:effectLst/>
        </p:spPr>
        <p:txBody>
          <a:bodyPr wrap="none" anchor="ctr"/>
          <a:lstStyle/>
          <a:p>
            <a:endParaRPr lang="es-ES" sz="3200" b="1" dirty="0"/>
          </a:p>
        </p:txBody>
      </p:sp>
      <p:sp>
        <p:nvSpPr>
          <p:cNvPr id="67599" name="Text Box 15"/>
          <p:cNvSpPr txBox="1">
            <a:spLocks noChangeArrowheads="1"/>
          </p:cNvSpPr>
          <p:nvPr/>
        </p:nvSpPr>
        <p:spPr bwMode="auto">
          <a:xfrm>
            <a:off x="3666522" y="3032425"/>
            <a:ext cx="3921266" cy="584775"/>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2">
                    <a:lumMod val="25000"/>
                  </a:schemeClr>
                </a:solidFill>
              </a:defRPr>
            </a:lvl1pPr>
          </a:lstStyle>
          <a:p>
            <a:r>
              <a:rPr lang="es-ES_tradnl" sz="3200" b="1" dirty="0"/>
              <a:t>Modelo de asignación</a:t>
            </a:r>
          </a:p>
        </p:txBody>
      </p:sp>
      <p:sp>
        <p:nvSpPr>
          <p:cNvPr id="67600" name="Text Box 16"/>
          <p:cNvSpPr txBox="1">
            <a:spLocks noChangeArrowheads="1"/>
          </p:cNvSpPr>
          <p:nvPr/>
        </p:nvSpPr>
        <p:spPr bwMode="gray">
          <a:xfrm>
            <a:off x="2867018" y="3036890"/>
            <a:ext cx="393057" cy="584775"/>
          </a:xfrm>
          <a:prstGeom prst="rect">
            <a:avLst/>
          </a:prstGeom>
          <a:noFill/>
          <a:ln w="9525" algn="ctr">
            <a:noFill/>
            <a:miter lim="800000"/>
            <a:headEnd/>
            <a:tailEnd/>
          </a:ln>
          <a:effectLst/>
        </p:spPr>
        <p:txBody>
          <a:bodyPr wrap="none">
            <a:spAutoFit/>
          </a:bodyPr>
          <a:lstStyle/>
          <a:p>
            <a:pPr algn="ctr" eaLnBrk="0" hangingPunct="0"/>
            <a:r>
              <a:rPr lang="en-US" sz="3200" b="1" dirty="0">
                <a:solidFill>
                  <a:schemeClr val="bg1"/>
                </a:solidFill>
              </a:rPr>
              <a:t>2</a:t>
            </a:r>
          </a:p>
        </p:txBody>
      </p:sp>
      <p:grpSp>
        <p:nvGrpSpPr>
          <p:cNvPr id="67601" name="Group 17"/>
          <p:cNvGrpSpPr>
            <a:grpSpLocks/>
          </p:cNvGrpSpPr>
          <p:nvPr/>
        </p:nvGrpSpPr>
        <p:grpSpPr bwMode="auto">
          <a:xfrm>
            <a:off x="2641469" y="3841962"/>
            <a:ext cx="762000" cy="665163"/>
            <a:chOff x="1110" y="2656"/>
            <a:chExt cx="1549" cy="1351"/>
          </a:xfrm>
          <a:solidFill>
            <a:schemeClr val="accent6">
              <a:lumMod val="75000"/>
            </a:schemeClr>
          </a:solidFill>
        </p:grpSpPr>
        <p:sp>
          <p:nvSpPr>
            <p:cNvPr id="67602" name="AutoShape 18"/>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sz="3200" b="1" dirty="0"/>
            </a:p>
          </p:txBody>
        </p:sp>
        <p:sp>
          <p:nvSpPr>
            <p:cNvPr id="67603" name="AutoShape 19"/>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sz="3200" b="1" dirty="0"/>
            </a:p>
          </p:txBody>
        </p:sp>
        <p:sp>
          <p:nvSpPr>
            <p:cNvPr id="67604" name="AutoShape 20"/>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sz="3200" b="1" dirty="0"/>
            </a:p>
          </p:txBody>
        </p:sp>
      </p:grpSp>
      <p:grpSp>
        <p:nvGrpSpPr>
          <p:cNvPr id="67605" name="Group 21"/>
          <p:cNvGrpSpPr>
            <a:grpSpLocks/>
          </p:cNvGrpSpPr>
          <p:nvPr/>
        </p:nvGrpSpPr>
        <p:grpSpPr bwMode="auto">
          <a:xfrm>
            <a:off x="2635074" y="4719490"/>
            <a:ext cx="762000" cy="665163"/>
            <a:chOff x="3174" y="2656"/>
            <a:chExt cx="1549" cy="1351"/>
          </a:xfrm>
        </p:grpSpPr>
        <p:sp>
          <p:nvSpPr>
            <p:cNvPr id="67606" name="AutoShape 22"/>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sz="3200" b="1" dirty="0"/>
            </a:p>
          </p:txBody>
        </p:sp>
        <p:sp>
          <p:nvSpPr>
            <p:cNvPr id="67607" name="AutoShape 23"/>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sz="3200" b="1" dirty="0"/>
            </a:p>
          </p:txBody>
        </p:sp>
        <p:sp>
          <p:nvSpPr>
            <p:cNvPr id="67608" name="AutoShape 24"/>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sz="3200" b="1" dirty="0"/>
            </a:p>
          </p:txBody>
        </p:sp>
      </p:grpSp>
      <p:sp>
        <p:nvSpPr>
          <p:cNvPr id="67609" name="Line 25"/>
          <p:cNvSpPr>
            <a:spLocks noChangeShapeType="1"/>
          </p:cNvSpPr>
          <p:nvPr/>
        </p:nvSpPr>
        <p:spPr bwMode="auto">
          <a:xfrm>
            <a:off x="3791744" y="4444292"/>
            <a:ext cx="5760640" cy="51509"/>
          </a:xfrm>
          <a:prstGeom prst="line">
            <a:avLst/>
          </a:prstGeom>
          <a:noFill/>
          <a:ln w="25400">
            <a:solidFill>
              <a:schemeClr val="tx2"/>
            </a:solidFill>
            <a:prstDash val="sysDot"/>
            <a:round/>
            <a:headEnd/>
            <a:tailEnd type="oval" w="med" len="med"/>
          </a:ln>
          <a:effectLst/>
        </p:spPr>
        <p:txBody>
          <a:bodyPr wrap="none" anchor="ctr"/>
          <a:lstStyle/>
          <a:p>
            <a:endParaRPr lang="es-ES" sz="3200" b="1" dirty="0"/>
          </a:p>
        </p:txBody>
      </p:sp>
      <p:sp>
        <p:nvSpPr>
          <p:cNvPr id="67610" name="Text Box 26"/>
          <p:cNvSpPr txBox="1">
            <a:spLocks noChangeArrowheads="1"/>
          </p:cNvSpPr>
          <p:nvPr/>
        </p:nvSpPr>
        <p:spPr bwMode="auto">
          <a:xfrm>
            <a:off x="3691480" y="3938049"/>
            <a:ext cx="3091295" cy="584775"/>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2">
                    <a:lumMod val="25000"/>
                  </a:schemeClr>
                </a:solidFill>
              </a:defRPr>
            </a:lvl1pPr>
          </a:lstStyle>
          <a:p>
            <a:r>
              <a:rPr lang="es-ES_tradnl" sz="3200" b="1" dirty="0"/>
              <a:t>Método Húngaro</a:t>
            </a:r>
          </a:p>
        </p:txBody>
      </p:sp>
      <p:sp>
        <p:nvSpPr>
          <p:cNvPr id="67611" name="Text Box 27"/>
          <p:cNvSpPr txBox="1">
            <a:spLocks noChangeArrowheads="1"/>
          </p:cNvSpPr>
          <p:nvPr/>
        </p:nvSpPr>
        <p:spPr bwMode="gray">
          <a:xfrm>
            <a:off x="2829139" y="3951607"/>
            <a:ext cx="393057" cy="584775"/>
          </a:xfrm>
          <a:prstGeom prst="rect">
            <a:avLst/>
          </a:prstGeom>
          <a:noFill/>
          <a:ln w="9525" algn="ctr">
            <a:noFill/>
            <a:miter lim="800000"/>
            <a:headEnd/>
            <a:tailEnd/>
          </a:ln>
          <a:effectLst/>
        </p:spPr>
        <p:txBody>
          <a:bodyPr wrap="none">
            <a:spAutoFit/>
          </a:bodyPr>
          <a:lstStyle/>
          <a:p>
            <a:pPr algn="ctr" eaLnBrk="0" hangingPunct="0"/>
            <a:r>
              <a:rPr lang="en-US" sz="3200" b="1" dirty="0">
                <a:solidFill>
                  <a:schemeClr val="bg1"/>
                </a:solidFill>
              </a:rPr>
              <a:t>3</a:t>
            </a:r>
          </a:p>
        </p:txBody>
      </p:sp>
      <p:sp>
        <p:nvSpPr>
          <p:cNvPr id="67612" name="Line 28"/>
          <p:cNvSpPr>
            <a:spLocks noChangeShapeType="1"/>
          </p:cNvSpPr>
          <p:nvPr/>
        </p:nvSpPr>
        <p:spPr bwMode="auto">
          <a:xfrm>
            <a:off x="3791744" y="5342518"/>
            <a:ext cx="5760640" cy="30811"/>
          </a:xfrm>
          <a:prstGeom prst="line">
            <a:avLst/>
          </a:prstGeom>
          <a:noFill/>
          <a:ln w="25400">
            <a:solidFill>
              <a:schemeClr val="tx2"/>
            </a:solidFill>
            <a:prstDash val="sysDot"/>
            <a:round/>
            <a:headEnd/>
            <a:tailEnd type="oval" w="med" len="med"/>
          </a:ln>
          <a:effectLst/>
        </p:spPr>
        <p:txBody>
          <a:bodyPr wrap="none" anchor="ctr"/>
          <a:lstStyle/>
          <a:p>
            <a:endParaRPr lang="es-ES" sz="3200" b="1" dirty="0"/>
          </a:p>
        </p:txBody>
      </p:sp>
      <p:sp>
        <p:nvSpPr>
          <p:cNvPr id="67613" name="Text Box 29"/>
          <p:cNvSpPr txBox="1">
            <a:spLocks noChangeArrowheads="1"/>
          </p:cNvSpPr>
          <p:nvPr/>
        </p:nvSpPr>
        <p:spPr bwMode="auto">
          <a:xfrm>
            <a:off x="3691478" y="4837457"/>
            <a:ext cx="1991058" cy="584775"/>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2">
                    <a:lumMod val="25000"/>
                  </a:schemeClr>
                </a:solidFill>
              </a:defRPr>
            </a:lvl1pPr>
          </a:lstStyle>
          <a:p>
            <a:r>
              <a:rPr lang="es-ES_tradnl" sz="3200" b="1" dirty="0"/>
              <a:t>Problemas</a:t>
            </a:r>
          </a:p>
        </p:txBody>
      </p:sp>
      <p:sp>
        <p:nvSpPr>
          <p:cNvPr id="67614" name="Text Box 30"/>
          <p:cNvSpPr txBox="1">
            <a:spLocks noChangeArrowheads="1"/>
          </p:cNvSpPr>
          <p:nvPr/>
        </p:nvSpPr>
        <p:spPr bwMode="gray">
          <a:xfrm>
            <a:off x="2821269" y="4832917"/>
            <a:ext cx="393057" cy="584775"/>
          </a:xfrm>
          <a:prstGeom prst="rect">
            <a:avLst/>
          </a:prstGeom>
          <a:noFill/>
          <a:ln w="9525" algn="ctr">
            <a:noFill/>
            <a:miter lim="800000"/>
            <a:headEnd/>
            <a:tailEnd/>
          </a:ln>
          <a:effectLst/>
        </p:spPr>
        <p:txBody>
          <a:bodyPr wrap="none">
            <a:spAutoFit/>
          </a:bodyPr>
          <a:lstStyle/>
          <a:p>
            <a:pPr algn="ctr" eaLnBrk="0" hangingPunct="0"/>
            <a:r>
              <a:rPr lang="en-US" sz="3200" b="1" dirty="0">
                <a:solidFill>
                  <a:schemeClr val="bg1"/>
                </a:solidFill>
              </a:rPr>
              <a:t>4</a:t>
            </a:r>
          </a:p>
        </p:txBody>
      </p:sp>
      <p:sp>
        <p:nvSpPr>
          <p:cNvPr id="67615" name="Text Box 31"/>
          <p:cNvSpPr txBox="1">
            <a:spLocks noChangeArrowheads="1"/>
          </p:cNvSpPr>
          <p:nvPr/>
        </p:nvSpPr>
        <p:spPr bwMode="auto">
          <a:xfrm>
            <a:off x="3184527" y="722314"/>
            <a:ext cx="184731" cy="369332"/>
          </a:xfrm>
          <a:prstGeom prst="rect">
            <a:avLst/>
          </a:prstGeom>
          <a:noFill/>
          <a:ln w="9525">
            <a:noFill/>
            <a:miter lim="800000"/>
            <a:headEnd/>
            <a:tailEnd/>
          </a:ln>
          <a:effectLst/>
        </p:spPr>
        <p:txBody>
          <a:bodyPr wrap="none">
            <a:spAutoFit/>
          </a:bodyPr>
          <a:lstStyle/>
          <a:p>
            <a:endParaRPr lang="es-ES" dirty="0"/>
          </a:p>
        </p:txBody>
      </p:sp>
      <p:sp>
        <p:nvSpPr>
          <p:cNvPr id="32" name="Rectangle 2">
            <a:extLst>
              <a:ext uri="{FF2B5EF4-FFF2-40B4-BE49-F238E27FC236}">
                <a16:creationId xmlns:a16="http://schemas.microsoft.com/office/drawing/2014/main" id="{483A48B0-615B-48A5-A61A-36298DBB8E44}"/>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a:solidFill>
                  <a:schemeClr val="bg1"/>
                </a:solidFill>
                <a:latin typeface="Bauhaus 93" pitchFamily="82" charset="0"/>
                <a:ea typeface="+mn-ea"/>
                <a:cs typeface="+mn-cs"/>
              </a:rPr>
              <a:t>Contenido</a:t>
            </a:r>
            <a:endParaRPr lang="es-ES" sz="3200" dirty="0">
              <a:solidFill>
                <a:schemeClr val="bg1"/>
              </a:solidFill>
              <a:latin typeface="Bauhaus 93" pitchFamily="82" charset="0"/>
              <a:ea typeface="+mn-ea"/>
              <a:cs typeface="+mn-cs"/>
            </a:endParaRPr>
          </a:p>
        </p:txBody>
      </p:sp>
    </p:spTree>
    <p:extLst>
      <p:ext uri="{BB962C8B-B14F-4D97-AF65-F5344CB8AC3E}">
        <p14:creationId xmlns:p14="http://schemas.microsoft.com/office/powerpoint/2010/main" val="1392834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98408" y="1535496"/>
            <a:ext cx="5897592" cy="1465095"/>
          </a:xfrm>
          <a:solidFill>
            <a:schemeClr val="accent1">
              <a:lumMod val="40000"/>
              <a:lumOff val="60000"/>
            </a:schemeClr>
          </a:solidFill>
        </p:spPr>
        <p:txBody>
          <a:bodyPr>
            <a:noAutofit/>
          </a:bodyPr>
          <a:lstStyle/>
          <a:p>
            <a:pPr algn="just">
              <a:spcAft>
                <a:spcPts val="1000"/>
              </a:spcAft>
            </a:pPr>
            <a:r>
              <a:rPr lang="es-PE" sz="2400" b="1" dirty="0">
                <a:latin typeface="Arial Narrow" panose="020B0606020202030204" pitchFamily="34" charset="0"/>
                <a:cs typeface="Times New Roman" panose="02020603050405020304" pitchFamily="18" charset="0"/>
              </a:rPr>
              <a:t>El problema de asignación busca determinar un </a:t>
            </a:r>
            <a:r>
              <a:rPr lang="es-PE" sz="2400" b="1" dirty="0">
                <a:solidFill>
                  <a:srgbClr val="FF0000"/>
                </a:solidFill>
                <a:latin typeface="Arial Narrow" panose="020B0606020202030204" pitchFamily="34" charset="0"/>
                <a:cs typeface="Times New Roman" panose="02020603050405020304" pitchFamily="18" charset="0"/>
              </a:rPr>
              <a:t>plan de asignación </a:t>
            </a:r>
            <a:r>
              <a:rPr lang="es-PE" sz="2400" b="1" dirty="0">
                <a:latin typeface="Arial Narrow" panose="020B0606020202030204" pitchFamily="34" charset="0"/>
                <a:cs typeface="Times New Roman" panose="02020603050405020304" pitchFamily="18" charset="0"/>
              </a:rPr>
              <a:t>par</a:t>
            </a:r>
            <a:r>
              <a:rPr lang="es-PE" sz="2400" b="1" dirty="0">
                <a:latin typeface="Arial Narrow" panose="020B0606020202030204" pitchFamily="34" charset="0"/>
                <a:ea typeface="Calibri" panose="020F0502020204030204" pitchFamily="34" charset="0"/>
                <a:cs typeface="Times New Roman" panose="02020603050405020304" pitchFamily="18" charset="0"/>
              </a:rPr>
              <a:t>a que cada trabajador realice una tarea al menor costo total. </a:t>
            </a:r>
          </a:p>
        </p:txBody>
      </p:sp>
      <p:sp>
        <p:nvSpPr>
          <p:cNvPr id="4" name="Text Box 12"/>
          <p:cNvSpPr txBox="1">
            <a:spLocks noChangeArrowheads="1"/>
          </p:cNvSpPr>
          <p:nvPr/>
        </p:nvSpPr>
        <p:spPr bwMode="auto">
          <a:xfrm>
            <a:off x="6096000" y="200991"/>
            <a:ext cx="6096000" cy="584775"/>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ctr">
              <a:spcBef>
                <a:spcPct val="0"/>
              </a:spcBef>
              <a:buNone/>
              <a:defRPr sz="3200" b="0">
                <a:solidFill>
                  <a:schemeClr val="bg1"/>
                </a:solidFill>
                <a:latin typeface="Bauhaus 93" pitchFamily="82" charset="0"/>
              </a:defRPr>
            </a:lvl1pPr>
          </a:lstStyle>
          <a:p>
            <a:r>
              <a:rPr lang="es-ES_tradnl" dirty="0"/>
              <a:t>Problema de asignación</a:t>
            </a:r>
          </a:p>
        </p:txBody>
      </p:sp>
      <p:sp>
        <p:nvSpPr>
          <p:cNvPr id="2" name="Rectángulo 1">
            <a:extLst>
              <a:ext uri="{FF2B5EF4-FFF2-40B4-BE49-F238E27FC236}">
                <a16:creationId xmlns:a16="http://schemas.microsoft.com/office/drawing/2014/main" id="{E7F7B99D-9A02-469A-A779-7AF8D890C3F7}"/>
              </a:ext>
            </a:extLst>
          </p:cNvPr>
          <p:cNvSpPr/>
          <p:nvPr/>
        </p:nvSpPr>
        <p:spPr>
          <a:xfrm>
            <a:off x="175204" y="4329030"/>
            <a:ext cx="5903344" cy="1200329"/>
          </a:xfrm>
          <a:prstGeom prst="rect">
            <a:avLst/>
          </a:prstGeom>
          <a:solidFill>
            <a:schemeClr val="accent1">
              <a:lumMod val="40000"/>
              <a:lumOff val="60000"/>
            </a:schemeClr>
          </a:solidFill>
        </p:spPr>
        <p:txBody>
          <a:bodyPr wrap="square">
            <a:spAutoFit/>
          </a:bodyPr>
          <a:lstStyle/>
          <a:p>
            <a:pPr marL="285750" indent="-285750" algn="just">
              <a:spcAft>
                <a:spcPts val="1000"/>
              </a:spcAft>
              <a:buFont typeface="Arial" panose="020B0604020202020204" pitchFamily="34" charset="0"/>
              <a:buChar char="•"/>
            </a:pPr>
            <a:r>
              <a:rPr lang="es-PE" sz="2400" b="1" dirty="0">
                <a:latin typeface="Arial Narrow" panose="020B0606020202030204" pitchFamily="34" charset="0"/>
                <a:ea typeface="Calibri" panose="020F0502020204030204" pitchFamily="34" charset="0"/>
                <a:cs typeface="Times New Roman" panose="02020603050405020304" pitchFamily="18" charset="0"/>
              </a:rPr>
              <a:t>Cuando a un trabajador i (=1,2,……,m) se asigna a la Tarea j (=1,2,…..,n) incurre en un costo </a:t>
            </a:r>
            <a:r>
              <a:rPr lang="es-PE" sz="2400" b="1" dirty="0" err="1">
                <a:latin typeface="Arial Narrow" panose="020B0606020202030204" pitchFamily="34" charset="0"/>
                <a:ea typeface="Calibri" panose="020F0502020204030204" pitchFamily="34" charset="0"/>
                <a:cs typeface="Times New Roman" panose="02020603050405020304" pitchFamily="18" charset="0"/>
              </a:rPr>
              <a:t>Cij</a:t>
            </a:r>
            <a:r>
              <a:rPr lang="es-PE" sz="2400" b="1" dirty="0">
                <a:latin typeface="Arial Narrow" panose="020B0606020202030204" pitchFamily="34" charset="0"/>
                <a:ea typeface="Calibri" panose="020F0502020204030204" pitchFamily="34" charset="0"/>
                <a:cs typeface="Times New Roman" panose="02020603050405020304" pitchFamily="18" charset="0"/>
              </a:rPr>
              <a:t>. </a:t>
            </a:r>
          </a:p>
        </p:txBody>
      </p:sp>
      <p:cxnSp>
        <p:nvCxnSpPr>
          <p:cNvPr id="12" name="Conector recto 11">
            <a:extLst>
              <a:ext uri="{FF2B5EF4-FFF2-40B4-BE49-F238E27FC236}">
                <a16:creationId xmlns:a16="http://schemas.microsoft.com/office/drawing/2014/main" id="{265DC853-8EDC-4851-8174-47DFDFC0A196}"/>
              </a:ext>
            </a:extLst>
          </p:cNvPr>
          <p:cNvCxnSpPr>
            <a:cxnSpLocks/>
          </p:cNvCxnSpPr>
          <p:nvPr/>
        </p:nvCxnSpPr>
        <p:spPr>
          <a:xfrm flipV="1">
            <a:off x="10576205" y="1517300"/>
            <a:ext cx="44904" cy="3632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3" name="4 Tabla">
            <a:extLst>
              <a:ext uri="{FF2B5EF4-FFF2-40B4-BE49-F238E27FC236}">
                <a16:creationId xmlns:a16="http://schemas.microsoft.com/office/drawing/2014/main" id="{4C018604-5780-41C4-8D2A-1E89BF6755A8}"/>
              </a:ext>
            </a:extLst>
          </p:cNvPr>
          <p:cNvGraphicFramePr>
            <a:graphicFrameLocks noGrp="1"/>
          </p:cNvGraphicFramePr>
          <p:nvPr>
            <p:extLst>
              <p:ext uri="{D42A27DB-BD31-4B8C-83A1-F6EECF244321}">
                <p14:modId xmlns:p14="http://schemas.microsoft.com/office/powerpoint/2010/main" val="1751548612"/>
              </p:ext>
            </p:extLst>
          </p:nvPr>
        </p:nvGraphicFramePr>
        <p:xfrm>
          <a:off x="7004648" y="1764190"/>
          <a:ext cx="4390844" cy="3825727"/>
        </p:xfrm>
        <a:graphic>
          <a:graphicData uri="http://schemas.openxmlformats.org/drawingml/2006/table">
            <a:tbl>
              <a:tblPr firstRow="1" bandRow="1">
                <a:tableStyleId>{5C22544A-7EE6-4342-B048-85BDC9FD1C3A}</a:tableStyleId>
              </a:tblPr>
              <a:tblGrid>
                <a:gridCol w="1464749">
                  <a:extLst>
                    <a:ext uri="{9D8B030D-6E8A-4147-A177-3AD203B41FA5}">
                      <a16:colId xmlns:a16="http://schemas.microsoft.com/office/drawing/2014/main" val="20000"/>
                    </a:ext>
                  </a:extLst>
                </a:gridCol>
                <a:gridCol w="975365">
                  <a:extLst>
                    <a:ext uri="{9D8B030D-6E8A-4147-A177-3AD203B41FA5}">
                      <a16:colId xmlns:a16="http://schemas.microsoft.com/office/drawing/2014/main" val="20001"/>
                    </a:ext>
                  </a:extLst>
                </a:gridCol>
                <a:gridCol w="975365">
                  <a:extLst>
                    <a:ext uri="{9D8B030D-6E8A-4147-A177-3AD203B41FA5}">
                      <a16:colId xmlns:a16="http://schemas.microsoft.com/office/drawing/2014/main" val="20002"/>
                    </a:ext>
                  </a:extLst>
                </a:gridCol>
                <a:gridCol w="975365">
                  <a:extLst>
                    <a:ext uri="{9D8B030D-6E8A-4147-A177-3AD203B41FA5}">
                      <a16:colId xmlns:a16="http://schemas.microsoft.com/office/drawing/2014/main" val="20003"/>
                    </a:ext>
                  </a:extLst>
                </a:gridCol>
              </a:tblGrid>
              <a:tr h="1008112">
                <a:tc>
                  <a:txBody>
                    <a:bodyPr/>
                    <a:lstStyle/>
                    <a:p>
                      <a:pPr algn="ctr"/>
                      <a:endParaRPr lang="es-PE" sz="2000" b="1" dirty="0">
                        <a:latin typeface="Arial Narrow" pitchFamily="34" charset="0"/>
                      </a:endParaRPr>
                    </a:p>
                  </a:txBody>
                  <a:tcPr anchor="ctr">
                    <a:solidFill>
                      <a:schemeClr val="accent2"/>
                    </a:solidFill>
                  </a:tcPr>
                </a:tc>
                <a:tc>
                  <a:txBody>
                    <a:bodyPr/>
                    <a:lstStyle/>
                    <a:p>
                      <a:pPr algn="ctr"/>
                      <a:r>
                        <a:rPr lang="es-ES" sz="2000" b="1" kern="1200" dirty="0">
                          <a:solidFill>
                            <a:schemeClr val="bg1"/>
                          </a:solidFill>
                          <a:latin typeface="Arial Narrow" pitchFamily="34" charset="0"/>
                          <a:ea typeface="+mn-ea"/>
                          <a:cs typeface="+mn-cs"/>
                        </a:rPr>
                        <a:t>Tarea 1</a:t>
                      </a:r>
                      <a:endParaRPr lang="es-PE" sz="2000" b="1" kern="1200" dirty="0">
                        <a:solidFill>
                          <a:schemeClr val="bg1"/>
                        </a:solidFill>
                        <a:latin typeface="Arial Narrow" pitchFamily="34" charset="0"/>
                        <a:ea typeface="+mn-ea"/>
                        <a:cs typeface="+mn-cs"/>
                      </a:endParaRPr>
                    </a:p>
                  </a:txBody>
                  <a:tcPr anchor="ctr">
                    <a:solidFill>
                      <a:schemeClr val="accent2"/>
                    </a:solidFill>
                  </a:tcPr>
                </a:tc>
                <a:tc>
                  <a:txBody>
                    <a:bodyPr/>
                    <a:lstStyle/>
                    <a:p>
                      <a:pPr algn="ctr"/>
                      <a:r>
                        <a:rPr lang="es-ES" sz="2000" b="1" kern="1200" dirty="0">
                          <a:solidFill>
                            <a:schemeClr val="bg1"/>
                          </a:solidFill>
                          <a:latin typeface="Arial Narrow" pitchFamily="34" charset="0"/>
                          <a:ea typeface="+mn-ea"/>
                          <a:cs typeface="+mn-cs"/>
                        </a:rPr>
                        <a:t>Tarea 2</a:t>
                      </a:r>
                      <a:endParaRPr lang="es-PE" sz="2000" b="1" kern="1200" dirty="0">
                        <a:solidFill>
                          <a:schemeClr val="bg1"/>
                        </a:solidFill>
                        <a:latin typeface="Arial Narrow" pitchFamily="34" charset="0"/>
                        <a:ea typeface="+mn-ea"/>
                        <a:cs typeface="+mn-cs"/>
                      </a:endParaRPr>
                    </a:p>
                  </a:txBody>
                  <a:tcPr anchor="ctr">
                    <a:solidFill>
                      <a:schemeClr val="accent2"/>
                    </a:solidFill>
                  </a:tcPr>
                </a:tc>
                <a:tc>
                  <a:txBody>
                    <a:bodyPr/>
                    <a:lstStyle/>
                    <a:p>
                      <a:pPr algn="ctr"/>
                      <a:r>
                        <a:rPr lang="es-ES" sz="2000" b="1" kern="1200" dirty="0">
                          <a:solidFill>
                            <a:schemeClr val="bg1"/>
                          </a:solidFill>
                          <a:latin typeface="Arial Narrow" pitchFamily="34" charset="0"/>
                          <a:ea typeface="+mn-ea"/>
                          <a:cs typeface="+mn-cs"/>
                        </a:rPr>
                        <a:t>Tarea 3</a:t>
                      </a:r>
                      <a:endParaRPr lang="es-PE" sz="2000" b="1" kern="1200" dirty="0">
                        <a:solidFill>
                          <a:schemeClr val="bg1"/>
                        </a:solidFill>
                        <a:latin typeface="Arial Narrow" pitchFamily="34" charset="0"/>
                        <a:ea typeface="+mn-ea"/>
                        <a:cs typeface="+mn-cs"/>
                      </a:endParaRPr>
                    </a:p>
                  </a:txBody>
                  <a:tcPr anchor="ctr">
                    <a:solidFill>
                      <a:schemeClr val="accent2"/>
                    </a:solidFill>
                  </a:tcPr>
                </a:tc>
                <a:extLst>
                  <a:ext uri="{0D108BD9-81ED-4DB2-BD59-A6C34878D82A}">
                    <a16:rowId xmlns:a16="http://schemas.microsoft.com/office/drawing/2014/main" val="10000"/>
                  </a:ext>
                </a:extLst>
              </a:tr>
              <a:tr h="997441">
                <a:tc>
                  <a:txBody>
                    <a:bodyPr/>
                    <a:lstStyle/>
                    <a:p>
                      <a:pPr algn="ctr"/>
                      <a:r>
                        <a:rPr lang="es-ES" sz="2000" b="1" dirty="0">
                          <a:solidFill>
                            <a:schemeClr val="bg1"/>
                          </a:solidFill>
                          <a:latin typeface="Arial Narrow" pitchFamily="34" charset="0"/>
                        </a:rPr>
                        <a:t>Trabajador 1</a:t>
                      </a:r>
                    </a:p>
                    <a:p>
                      <a:pPr algn="ctr"/>
                      <a:endParaRPr lang="es-PE" sz="2000" b="1" dirty="0">
                        <a:solidFill>
                          <a:schemeClr val="bg1"/>
                        </a:solidFill>
                        <a:latin typeface="Arial Narrow" pitchFamily="34" charset="0"/>
                      </a:endParaRPr>
                    </a:p>
                  </a:txBody>
                  <a:tcPr anchor="ctr">
                    <a:solidFill>
                      <a:schemeClr val="accent2"/>
                    </a:solidFill>
                  </a:tcPr>
                </a:tc>
                <a:tc>
                  <a:txBody>
                    <a:bodyPr/>
                    <a:lstStyle/>
                    <a:p>
                      <a:pPr algn="ctr"/>
                      <a:r>
                        <a:rPr lang="es-ES" sz="2000" b="1" dirty="0" err="1">
                          <a:latin typeface="Arial Narrow" pitchFamily="34" charset="0"/>
                        </a:rPr>
                        <a:t>X11</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X12</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X13</a:t>
                      </a:r>
                      <a:endParaRPr lang="es-PE" sz="2000" b="1" dirty="0">
                        <a:latin typeface="Arial Narrow" pitchFamily="34" charset="0"/>
                      </a:endParaRPr>
                    </a:p>
                  </a:txBody>
                  <a:tcPr anchor="ctr">
                    <a:solidFill>
                      <a:schemeClr val="accent2">
                        <a:lumMod val="20000"/>
                        <a:lumOff val="80000"/>
                      </a:schemeClr>
                    </a:solidFill>
                  </a:tcPr>
                </a:tc>
                <a:extLst>
                  <a:ext uri="{0D108BD9-81ED-4DB2-BD59-A6C34878D82A}">
                    <a16:rowId xmlns:a16="http://schemas.microsoft.com/office/drawing/2014/main" val="10001"/>
                  </a:ext>
                </a:extLst>
              </a:tr>
              <a:tr h="957532">
                <a:tc>
                  <a:txBody>
                    <a:bodyPr/>
                    <a:lstStyle/>
                    <a:p>
                      <a:pPr algn="ctr"/>
                      <a:r>
                        <a:rPr lang="es-ES" sz="2000" b="1" dirty="0">
                          <a:solidFill>
                            <a:schemeClr val="bg1"/>
                          </a:solidFill>
                          <a:latin typeface="Arial Narrow" pitchFamily="34" charset="0"/>
                        </a:rPr>
                        <a:t>Trabajador 2</a:t>
                      </a:r>
                    </a:p>
                    <a:p>
                      <a:pPr algn="ctr"/>
                      <a:endParaRPr lang="es-PE" sz="2000" b="1" dirty="0">
                        <a:solidFill>
                          <a:schemeClr val="bg1"/>
                        </a:solidFill>
                        <a:latin typeface="Arial Narrow" pitchFamily="34" charset="0"/>
                      </a:endParaRPr>
                    </a:p>
                  </a:txBody>
                  <a:tcPr anchor="ctr">
                    <a:solidFill>
                      <a:schemeClr val="accent2"/>
                    </a:solidFill>
                  </a:tcPr>
                </a:tc>
                <a:tc>
                  <a:txBody>
                    <a:bodyPr/>
                    <a:lstStyle/>
                    <a:p>
                      <a:pPr algn="ctr"/>
                      <a:r>
                        <a:rPr lang="es-ES" sz="2000" b="1" dirty="0" err="1">
                          <a:latin typeface="Arial Narrow" pitchFamily="34" charset="0"/>
                        </a:rPr>
                        <a:t>X21</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X22</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X23</a:t>
                      </a:r>
                      <a:endParaRPr lang="es-PE" sz="2000" b="1" dirty="0">
                        <a:latin typeface="Arial Narrow" pitchFamily="34" charset="0"/>
                      </a:endParaRPr>
                    </a:p>
                  </a:txBody>
                  <a:tcPr anchor="ctr">
                    <a:solidFill>
                      <a:schemeClr val="accent2">
                        <a:lumMod val="20000"/>
                        <a:lumOff val="80000"/>
                      </a:schemeClr>
                    </a:solidFill>
                  </a:tcPr>
                </a:tc>
                <a:extLst>
                  <a:ext uri="{0D108BD9-81ED-4DB2-BD59-A6C34878D82A}">
                    <a16:rowId xmlns:a16="http://schemas.microsoft.com/office/drawing/2014/main" val="10002"/>
                  </a:ext>
                </a:extLst>
              </a:tr>
              <a:tr h="862642">
                <a:tc>
                  <a:txBody>
                    <a:bodyPr/>
                    <a:lstStyle/>
                    <a:p>
                      <a:pPr algn="ctr"/>
                      <a:r>
                        <a:rPr lang="es-ES" sz="2000" b="1" dirty="0">
                          <a:solidFill>
                            <a:schemeClr val="bg1"/>
                          </a:solidFill>
                          <a:latin typeface="Arial Narrow" pitchFamily="34" charset="0"/>
                        </a:rPr>
                        <a:t>Trabajador 3</a:t>
                      </a:r>
                    </a:p>
                    <a:p>
                      <a:pPr algn="ctr"/>
                      <a:endParaRPr lang="es-PE" sz="2000" b="1" dirty="0">
                        <a:solidFill>
                          <a:schemeClr val="bg1"/>
                        </a:solidFill>
                        <a:latin typeface="Arial Narrow" pitchFamily="34" charset="0"/>
                      </a:endParaRPr>
                    </a:p>
                  </a:txBody>
                  <a:tcPr anchor="ctr">
                    <a:solidFill>
                      <a:schemeClr val="accent2"/>
                    </a:solidFill>
                  </a:tcPr>
                </a:tc>
                <a:tc>
                  <a:txBody>
                    <a:bodyPr/>
                    <a:lstStyle/>
                    <a:p>
                      <a:pPr algn="ctr"/>
                      <a:r>
                        <a:rPr lang="es-ES" sz="2000" b="1" dirty="0" err="1">
                          <a:latin typeface="Arial Narrow" pitchFamily="34" charset="0"/>
                        </a:rPr>
                        <a:t>X31</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X32</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X33</a:t>
                      </a:r>
                      <a:endParaRPr lang="es-PE" sz="2000" b="1" dirty="0">
                        <a:latin typeface="Arial Narrow" pitchFamily="34" charset="0"/>
                      </a:endParaRPr>
                    </a:p>
                  </a:txBody>
                  <a:tcPr anchor="ctr">
                    <a:solidFill>
                      <a:schemeClr val="accent2">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14" name="Tabla 13">
            <a:extLst>
              <a:ext uri="{FF2B5EF4-FFF2-40B4-BE49-F238E27FC236}">
                <a16:creationId xmlns:a16="http://schemas.microsoft.com/office/drawing/2014/main" id="{8A53BBB9-BC5B-4628-8E35-4F03F7182057}"/>
              </a:ext>
            </a:extLst>
          </p:cNvPr>
          <p:cNvGraphicFramePr>
            <a:graphicFrameLocks noGrp="1"/>
          </p:cNvGraphicFramePr>
          <p:nvPr/>
        </p:nvGraphicFramePr>
        <p:xfrm>
          <a:off x="11404121" y="2812214"/>
          <a:ext cx="384682" cy="2700070"/>
        </p:xfrm>
        <a:graphic>
          <a:graphicData uri="http://schemas.openxmlformats.org/drawingml/2006/table">
            <a:tbl>
              <a:tblPr>
                <a:tableStyleId>{5C22544A-7EE6-4342-B048-85BDC9FD1C3A}</a:tableStyleId>
              </a:tblPr>
              <a:tblGrid>
                <a:gridCol w="384682">
                  <a:extLst>
                    <a:ext uri="{9D8B030D-6E8A-4147-A177-3AD203B41FA5}">
                      <a16:colId xmlns:a16="http://schemas.microsoft.com/office/drawing/2014/main" val="422554086"/>
                    </a:ext>
                  </a:extLst>
                </a:gridCol>
              </a:tblGrid>
              <a:tr h="540014">
                <a:tc>
                  <a:txBody>
                    <a:bodyPr/>
                    <a:lstStyle/>
                    <a:p>
                      <a:pPr algn="ctr" fontAlgn="b"/>
                      <a:r>
                        <a:rPr lang="es-PE" sz="2400" b="1" u="none" strike="noStrike" dirty="0">
                          <a:solidFill>
                            <a:srgbClr val="FF0000"/>
                          </a:solidFill>
                          <a:effectLst/>
                        </a:rPr>
                        <a:t>1</a:t>
                      </a:r>
                      <a:endParaRPr lang="es-PE" sz="2400" b="1" i="0" u="none" strike="noStrike" dirty="0">
                        <a:solidFill>
                          <a:srgbClr val="FF0000"/>
                        </a:solidFill>
                        <a:effectLst/>
                        <a:latin typeface="Arial Narrow"/>
                      </a:endParaRPr>
                    </a:p>
                  </a:txBody>
                  <a:tcPr marL="8527" marR="8527" marT="8527" marB="0" anchor="b">
                    <a:solidFill>
                      <a:schemeClr val="bg1"/>
                    </a:solidFill>
                  </a:tcPr>
                </a:tc>
                <a:extLst>
                  <a:ext uri="{0D108BD9-81ED-4DB2-BD59-A6C34878D82A}">
                    <a16:rowId xmlns:a16="http://schemas.microsoft.com/office/drawing/2014/main" val="2122393719"/>
                  </a:ext>
                </a:extLst>
              </a:tr>
              <a:tr h="540014">
                <a:tc>
                  <a:txBody>
                    <a:bodyPr/>
                    <a:lstStyle/>
                    <a:p>
                      <a:pPr algn="ctr" fontAlgn="b"/>
                      <a:endParaRPr lang="es-PE" sz="2400" b="1" i="0" u="none" strike="noStrike" dirty="0">
                        <a:solidFill>
                          <a:srgbClr val="FF0000"/>
                        </a:solidFill>
                        <a:effectLst/>
                        <a:latin typeface="Arial Narrow"/>
                      </a:endParaRPr>
                    </a:p>
                  </a:txBody>
                  <a:tcPr marL="8527" marR="8527" marT="8527" marB="0" anchor="b">
                    <a:solidFill>
                      <a:schemeClr val="bg1"/>
                    </a:solidFill>
                  </a:tcPr>
                </a:tc>
                <a:extLst>
                  <a:ext uri="{0D108BD9-81ED-4DB2-BD59-A6C34878D82A}">
                    <a16:rowId xmlns:a16="http://schemas.microsoft.com/office/drawing/2014/main" val="1195523714"/>
                  </a:ext>
                </a:extLst>
              </a:tr>
              <a:tr h="540014">
                <a:tc>
                  <a:txBody>
                    <a:bodyPr/>
                    <a:lstStyle/>
                    <a:p>
                      <a:pPr marL="0" algn="ctr" defTabSz="914400" rtl="0" eaLnBrk="1" fontAlgn="b" latinLnBrk="0" hangingPunct="1"/>
                      <a:r>
                        <a:rPr lang="es-ES" sz="2400" b="1" u="none" strike="noStrike" kern="1200" dirty="0">
                          <a:solidFill>
                            <a:srgbClr val="FF0000"/>
                          </a:solidFill>
                          <a:effectLst/>
                          <a:latin typeface="+mn-lt"/>
                          <a:ea typeface="+mn-ea"/>
                          <a:cs typeface="+mn-cs"/>
                        </a:rPr>
                        <a:t>1</a:t>
                      </a:r>
                      <a:endParaRPr lang="es-PE" sz="2400" b="1" u="none" strike="noStrike" kern="1200" dirty="0">
                        <a:solidFill>
                          <a:srgbClr val="FF0000"/>
                        </a:solidFill>
                        <a:effectLst/>
                        <a:latin typeface="+mn-lt"/>
                        <a:ea typeface="+mn-ea"/>
                        <a:cs typeface="+mn-cs"/>
                      </a:endParaRPr>
                    </a:p>
                  </a:txBody>
                  <a:tcPr marL="8527" marR="8527" marT="8527" marB="0" anchor="b">
                    <a:solidFill>
                      <a:schemeClr val="bg1"/>
                    </a:solidFill>
                  </a:tcPr>
                </a:tc>
                <a:extLst>
                  <a:ext uri="{0D108BD9-81ED-4DB2-BD59-A6C34878D82A}">
                    <a16:rowId xmlns:a16="http://schemas.microsoft.com/office/drawing/2014/main" val="1161037490"/>
                  </a:ext>
                </a:extLst>
              </a:tr>
              <a:tr h="540014">
                <a:tc>
                  <a:txBody>
                    <a:bodyPr/>
                    <a:lstStyle/>
                    <a:p>
                      <a:pPr marL="0" algn="ctr" defTabSz="914400" rtl="0" eaLnBrk="1" fontAlgn="b" latinLnBrk="0" hangingPunct="1"/>
                      <a:endParaRPr lang="es-PE" sz="2400" b="1" u="none" strike="noStrike" kern="1200" dirty="0">
                        <a:solidFill>
                          <a:srgbClr val="FF0000"/>
                        </a:solidFill>
                        <a:effectLst/>
                        <a:latin typeface="+mn-lt"/>
                        <a:ea typeface="+mn-ea"/>
                        <a:cs typeface="+mn-cs"/>
                      </a:endParaRPr>
                    </a:p>
                  </a:txBody>
                  <a:tcPr marL="8527" marR="8527" marT="8527" marB="0" anchor="b">
                    <a:solidFill>
                      <a:schemeClr val="bg1"/>
                    </a:solidFill>
                  </a:tcPr>
                </a:tc>
                <a:extLst>
                  <a:ext uri="{0D108BD9-81ED-4DB2-BD59-A6C34878D82A}">
                    <a16:rowId xmlns:a16="http://schemas.microsoft.com/office/drawing/2014/main" val="443433927"/>
                  </a:ext>
                </a:extLst>
              </a:tr>
              <a:tr h="540014">
                <a:tc>
                  <a:txBody>
                    <a:bodyPr/>
                    <a:lstStyle/>
                    <a:p>
                      <a:pPr marL="0" algn="ctr" defTabSz="914400" rtl="0" eaLnBrk="1" fontAlgn="b" latinLnBrk="0" hangingPunct="1"/>
                      <a:r>
                        <a:rPr lang="es-ES" sz="2400" b="1" u="none" strike="noStrike" kern="1200" dirty="0">
                          <a:solidFill>
                            <a:srgbClr val="FF0000"/>
                          </a:solidFill>
                          <a:effectLst/>
                          <a:latin typeface="+mn-lt"/>
                          <a:ea typeface="+mn-ea"/>
                          <a:cs typeface="+mn-cs"/>
                        </a:rPr>
                        <a:t>1</a:t>
                      </a:r>
                      <a:endParaRPr lang="es-PE" sz="2400" b="1" u="none" strike="noStrike" kern="1200" dirty="0">
                        <a:solidFill>
                          <a:srgbClr val="FF0000"/>
                        </a:solidFill>
                        <a:effectLst/>
                        <a:latin typeface="+mn-lt"/>
                        <a:ea typeface="+mn-ea"/>
                        <a:cs typeface="+mn-cs"/>
                      </a:endParaRPr>
                    </a:p>
                  </a:txBody>
                  <a:tcPr marL="8527" marR="8527" marT="8527" marB="0" anchor="b">
                    <a:solidFill>
                      <a:schemeClr val="bg1"/>
                    </a:solidFill>
                  </a:tcPr>
                </a:tc>
                <a:extLst>
                  <a:ext uri="{0D108BD9-81ED-4DB2-BD59-A6C34878D82A}">
                    <a16:rowId xmlns:a16="http://schemas.microsoft.com/office/drawing/2014/main" val="1005561604"/>
                  </a:ext>
                </a:extLst>
              </a:tr>
            </a:tbl>
          </a:graphicData>
        </a:graphic>
      </p:graphicFrame>
      <p:sp>
        <p:nvSpPr>
          <p:cNvPr id="15" name="Rectangle 3">
            <a:extLst>
              <a:ext uri="{FF2B5EF4-FFF2-40B4-BE49-F238E27FC236}">
                <a16:creationId xmlns:a16="http://schemas.microsoft.com/office/drawing/2014/main" id="{0859C81F-A359-482B-8951-7F6405CB7370}"/>
              </a:ext>
            </a:extLst>
          </p:cNvPr>
          <p:cNvSpPr>
            <a:spLocks noChangeArrowheads="1"/>
          </p:cNvSpPr>
          <p:nvPr/>
        </p:nvSpPr>
        <p:spPr bwMode="auto">
          <a:xfrm>
            <a:off x="8220973" y="5667680"/>
            <a:ext cx="2984740" cy="443198"/>
          </a:xfrm>
          <a:prstGeom prst="rect">
            <a:avLst/>
          </a:prstGeom>
          <a:noFill/>
          <a:ln w="12700">
            <a:noFill/>
            <a:miter lim="800000"/>
            <a:headEnd type="none" w="sm" len="sm"/>
            <a:tailEnd type="none" w="sm" len="sm"/>
          </a:ln>
        </p:spPr>
        <p:txBody>
          <a:bodyPr wrap="square" anchor="ctr">
            <a:spAutoFit/>
          </a:bodyPr>
          <a:lstStyle/>
          <a:p>
            <a:pPr algn="ctr" fontAlgn="b">
              <a:lnSpc>
                <a:spcPct val="95000"/>
              </a:lnSpc>
            </a:pPr>
            <a:r>
              <a:rPr lang="es-ES" sz="2400" b="1" dirty="0">
                <a:solidFill>
                  <a:srgbClr val="FF0000"/>
                </a:solidFill>
              </a:rPr>
              <a:t>     1 	       1         1</a:t>
            </a:r>
          </a:p>
        </p:txBody>
      </p:sp>
      <p:sp>
        <p:nvSpPr>
          <p:cNvPr id="16" name="CuadroTexto 15">
            <a:extLst>
              <a:ext uri="{FF2B5EF4-FFF2-40B4-BE49-F238E27FC236}">
                <a16:creationId xmlns:a16="http://schemas.microsoft.com/office/drawing/2014/main" id="{5A0E9788-33D0-4424-B2A2-DF5553838227}"/>
              </a:ext>
            </a:extLst>
          </p:cNvPr>
          <p:cNvSpPr txBox="1"/>
          <p:nvPr/>
        </p:nvSpPr>
        <p:spPr>
          <a:xfrm rot="16200000">
            <a:off x="5899448" y="4049177"/>
            <a:ext cx="1790069" cy="523220"/>
          </a:xfrm>
          <a:prstGeom prst="rect">
            <a:avLst/>
          </a:prstGeom>
          <a:noFill/>
        </p:spPr>
        <p:txBody>
          <a:bodyPr wrap="square" rtlCol="0">
            <a:spAutoFit/>
          </a:bodyPr>
          <a:lstStyle/>
          <a:p>
            <a:pPr algn="ctr"/>
            <a:r>
              <a:rPr lang="es-ES" sz="2800" b="1" dirty="0">
                <a:solidFill>
                  <a:srgbClr val="FF0000"/>
                </a:solidFill>
              </a:rPr>
              <a:t>Origen</a:t>
            </a:r>
            <a:endParaRPr lang="es-PE" sz="2800" b="1" dirty="0">
              <a:solidFill>
                <a:srgbClr val="FF0000"/>
              </a:solidFill>
            </a:endParaRPr>
          </a:p>
        </p:txBody>
      </p:sp>
      <p:sp>
        <p:nvSpPr>
          <p:cNvPr id="17" name="CuadroTexto 16">
            <a:extLst>
              <a:ext uri="{FF2B5EF4-FFF2-40B4-BE49-F238E27FC236}">
                <a16:creationId xmlns:a16="http://schemas.microsoft.com/office/drawing/2014/main" id="{6443D9B2-6272-4D5E-A881-C91A42E15901}"/>
              </a:ext>
            </a:extLst>
          </p:cNvPr>
          <p:cNvSpPr txBox="1"/>
          <p:nvPr/>
        </p:nvSpPr>
        <p:spPr>
          <a:xfrm>
            <a:off x="8380987" y="1234105"/>
            <a:ext cx="1790069" cy="523220"/>
          </a:xfrm>
          <a:prstGeom prst="rect">
            <a:avLst/>
          </a:prstGeom>
          <a:noFill/>
        </p:spPr>
        <p:txBody>
          <a:bodyPr wrap="square" rtlCol="0">
            <a:spAutoFit/>
          </a:bodyPr>
          <a:lstStyle/>
          <a:p>
            <a:pPr algn="ctr"/>
            <a:r>
              <a:rPr lang="es-ES" sz="2800" b="1" dirty="0">
                <a:solidFill>
                  <a:srgbClr val="FF0000"/>
                </a:solidFill>
              </a:rPr>
              <a:t>Destino</a:t>
            </a:r>
            <a:endParaRPr lang="es-PE" sz="2800" b="1" dirty="0">
              <a:solidFill>
                <a:srgbClr val="FF0000"/>
              </a:solidFill>
            </a:endParaRPr>
          </a:p>
        </p:txBody>
      </p:sp>
      <p:sp>
        <p:nvSpPr>
          <p:cNvPr id="18" name="CuadroTexto 17">
            <a:extLst>
              <a:ext uri="{FF2B5EF4-FFF2-40B4-BE49-F238E27FC236}">
                <a16:creationId xmlns:a16="http://schemas.microsoft.com/office/drawing/2014/main" id="{6C9D9051-2599-44DC-9E62-4D5BE305746A}"/>
              </a:ext>
            </a:extLst>
          </p:cNvPr>
          <p:cNvSpPr txBox="1"/>
          <p:nvPr/>
        </p:nvSpPr>
        <p:spPr>
          <a:xfrm>
            <a:off x="8876581" y="2777706"/>
            <a:ext cx="552091" cy="369332"/>
          </a:xfrm>
          <a:prstGeom prst="rect">
            <a:avLst/>
          </a:prstGeom>
          <a:noFill/>
          <a:ln>
            <a:solidFill>
              <a:schemeClr val="accent2">
                <a:lumMod val="75000"/>
              </a:schemeClr>
            </a:solidFill>
          </a:ln>
        </p:spPr>
        <p:txBody>
          <a:bodyPr wrap="square" rtlCol="0">
            <a:spAutoFit/>
          </a:bodyPr>
          <a:lstStyle/>
          <a:p>
            <a:r>
              <a:rPr lang="es-ES" b="1" dirty="0" err="1"/>
              <a:t>C11</a:t>
            </a:r>
            <a:endParaRPr lang="es-PE" b="1" dirty="0"/>
          </a:p>
        </p:txBody>
      </p:sp>
      <p:sp>
        <p:nvSpPr>
          <p:cNvPr id="19" name="CuadroTexto 18">
            <a:extLst>
              <a:ext uri="{FF2B5EF4-FFF2-40B4-BE49-F238E27FC236}">
                <a16:creationId xmlns:a16="http://schemas.microsoft.com/office/drawing/2014/main" id="{5E62822B-E586-4C57-9764-9B8C7FE467FB}"/>
              </a:ext>
            </a:extLst>
          </p:cNvPr>
          <p:cNvSpPr txBox="1"/>
          <p:nvPr/>
        </p:nvSpPr>
        <p:spPr>
          <a:xfrm>
            <a:off x="9836988" y="2797835"/>
            <a:ext cx="552091" cy="369332"/>
          </a:xfrm>
          <a:prstGeom prst="rect">
            <a:avLst/>
          </a:prstGeom>
          <a:noFill/>
          <a:ln>
            <a:solidFill>
              <a:schemeClr val="accent2">
                <a:lumMod val="75000"/>
              </a:schemeClr>
            </a:solidFill>
          </a:ln>
        </p:spPr>
        <p:txBody>
          <a:bodyPr wrap="square" rtlCol="0">
            <a:spAutoFit/>
          </a:bodyPr>
          <a:lstStyle/>
          <a:p>
            <a:r>
              <a:rPr lang="es-ES" b="1" dirty="0" err="1"/>
              <a:t>C12</a:t>
            </a:r>
            <a:endParaRPr lang="es-PE" b="1" dirty="0"/>
          </a:p>
        </p:txBody>
      </p:sp>
      <p:sp>
        <p:nvSpPr>
          <p:cNvPr id="20" name="CuadroTexto 19">
            <a:extLst>
              <a:ext uri="{FF2B5EF4-FFF2-40B4-BE49-F238E27FC236}">
                <a16:creationId xmlns:a16="http://schemas.microsoft.com/office/drawing/2014/main" id="{946E7B86-8857-4EEE-B275-D3823DEAF677}"/>
              </a:ext>
            </a:extLst>
          </p:cNvPr>
          <p:cNvSpPr txBox="1"/>
          <p:nvPr/>
        </p:nvSpPr>
        <p:spPr>
          <a:xfrm>
            <a:off x="10826151" y="2803586"/>
            <a:ext cx="552091" cy="369332"/>
          </a:xfrm>
          <a:prstGeom prst="rect">
            <a:avLst/>
          </a:prstGeom>
          <a:noFill/>
          <a:ln>
            <a:solidFill>
              <a:schemeClr val="accent2">
                <a:lumMod val="75000"/>
              </a:schemeClr>
            </a:solidFill>
          </a:ln>
        </p:spPr>
        <p:txBody>
          <a:bodyPr wrap="square" rtlCol="0">
            <a:spAutoFit/>
          </a:bodyPr>
          <a:lstStyle/>
          <a:p>
            <a:r>
              <a:rPr lang="es-ES" b="1" dirty="0" err="1"/>
              <a:t>C13</a:t>
            </a:r>
            <a:endParaRPr lang="es-PE" b="1" dirty="0"/>
          </a:p>
        </p:txBody>
      </p:sp>
      <p:sp>
        <p:nvSpPr>
          <p:cNvPr id="21" name="CuadroTexto 20">
            <a:extLst>
              <a:ext uri="{FF2B5EF4-FFF2-40B4-BE49-F238E27FC236}">
                <a16:creationId xmlns:a16="http://schemas.microsoft.com/office/drawing/2014/main" id="{E29EA287-3AB9-4E45-9E55-2D03EE1FAEF1}"/>
              </a:ext>
            </a:extLst>
          </p:cNvPr>
          <p:cNvSpPr txBox="1"/>
          <p:nvPr/>
        </p:nvSpPr>
        <p:spPr>
          <a:xfrm>
            <a:off x="9831237" y="3775495"/>
            <a:ext cx="552091" cy="369332"/>
          </a:xfrm>
          <a:prstGeom prst="rect">
            <a:avLst/>
          </a:prstGeom>
          <a:noFill/>
          <a:ln>
            <a:solidFill>
              <a:schemeClr val="accent2">
                <a:lumMod val="75000"/>
              </a:schemeClr>
            </a:solidFill>
          </a:ln>
        </p:spPr>
        <p:txBody>
          <a:bodyPr wrap="square" rtlCol="0">
            <a:spAutoFit/>
          </a:bodyPr>
          <a:lstStyle/>
          <a:p>
            <a:r>
              <a:rPr lang="es-ES" b="1" dirty="0" err="1"/>
              <a:t>C22</a:t>
            </a:r>
            <a:endParaRPr lang="es-PE" b="1" dirty="0"/>
          </a:p>
        </p:txBody>
      </p:sp>
      <p:sp>
        <p:nvSpPr>
          <p:cNvPr id="22" name="CuadroTexto 21">
            <a:extLst>
              <a:ext uri="{FF2B5EF4-FFF2-40B4-BE49-F238E27FC236}">
                <a16:creationId xmlns:a16="http://schemas.microsoft.com/office/drawing/2014/main" id="{10EEEAF4-1148-4FF3-A63B-1B2A2FC65C79}"/>
              </a:ext>
            </a:extLst>
          </p:cNvPr>
          <p:cNvSpPr txBox="1"/>
          <p:nvPr/>
        </p:nvSpPr>
        <p:spPr>
          <a:xfrm>
            <a:off x="10837653" y="3781246"/>
            <a:ext cx="552091" cy="369332"/>
          </a:xfrm>
          <a:prstGeom prst="rect">
            <a:avLst/>
          </a:prstGeom>
          <a:noFill/>
          <a:ln>
            <a:solidFill>
              <a:schemeClr val="accent2">
                <a:lumMod val="75000"/>
              </a:schemeClr>
            </a:solidFill>
          </a:ln>
        </p:spPr>
        <p:txBody>
          <a:bodyPr wrap="square" rtlCol="0">
            <a:spAutoFit/>
          </a:bodyPr>
          <a:lstStyle/>
          <a:p>
            <a:r>
              <a:rPr lang="es-ES" b="1" dirty="0" err="1"/>
              <a:t>C23</a:t>
            </a:r>
            <a:endParaRPr lang="es-PE" b="1" dirty="0"/>
          </a:p>
        </p:txBody>
      </p:sp>
      <p:sp>
        <p:nvSpPr>
          <p:cNvPr id="23" name="CuadroTexto 22">
            <a:extLst>
              <a:ext uri="{FF2B5EF4-FFF2-40B4-BE49-F238E27FC236}">
                <a16:creationId xmlns:a16="http://schemas.microsoft.com/office/drawing/2014/main" id="{65984E63-0207-490E-BF50-9FC9F174D246}"/>
              </a:ext>
            </a:extLst>
          </p:cNvPr>
          <p:cNvSpPr txBox="1"/>
          <p:nvPr/>
        </p:nvSpPr>
        <p:spPr>
          <a:xfrm>
            <a:off x="10817524" y="4744529"/>
            <a:ext cx="552091" cy="369332"/>
          </a:xfrm>
          <a:prstGeom prst="rect">
            <a:avLst/>
          </a:prstGeom>
          <a:noFill/>
          <a:ln>
            <a:solidFill>
              <a:schemeClr val="accent2">
                <a:lumMod val="75000"/>
              </a:schemeClr>
            </a:solidFill>
          </a:ln>
        </p:spPr>
        <p:txBody>
          <a:bodyPr wrap="square" rtlCol="0">
            <a:spAutoFit/>
          </a:bodyPr>
          <a:lstStyle/>
          <a:p>
            <a:r>
              <a:rPr lang="es-ES" b="1" dirty="0" err="1"/>
              <a:t>C33</a:t>
            </a:r>
            <a:endParaRPr lang="es-PE" b="1" dirty="0"/>
          </a:p>
        </p:txBody>
      </p:sp>
      <p:sp>
        <p:nvSpPr>
          <p:cNvPr id="24" name="CuadroTexto 23">
            <a:extLst>
              <a:ext uri="{FF2B5EF4-FFF2-40B4-BE49-F238E27FC236}">
                <a16:creationId xmlns:a16="http://schemas.microsoft.com/office/drawing/2014/main" id="{A432B497-19A2-4B57-B98F-B23F2D49BACC}"/>
              </a:ext>
            </a:extLst>
          </p:cNvPr>
          <p:cNvSpPr txBox="1"/>
          <p:nvPr/>
        </p:nvSpPr>
        <p:spPr>
          <a:xfrm>
            <a:off x="9831238" y="4750279"/>
            <a:ext cx="552091" cy="369332"/>
          </a:xfrm>
          <a:prstGeom prst="rect">
            <a:avLst/>
          </a:prstGeom>
          <a:noFill/>
          <a:ln>
            <a:solidFill>
              <a:schemeClr val="accent2">
                <a:lumMod val="75000"/>
              </a:schemeClr>
            </a:solidFill>
          </a:ln>
        </p:spPr>
        <p:txBody>
          <a:bodyPr wrap="square" rtlCol="0">
            <a:spAutoFit/>
          </a:bodyPr>
          <a:lstStyle/>
          <a:p>
            <a:r>
              <a:rPr lang="es-ES" b="1" dirty="0" err="1"/>
              <a:t>C32</a:t>
            </a:r>
            <a:endParaRPr lang="es-PE" b="1" dirty="0"/>
          </a:p>
        </p:txBody>
      </p:sp>
      <p:sp>
        <p:nvSpPr>
          <p:cNvPr id="25" name="CuadroTexto 24">
            <a:extLst>
              <a:ext uri="{FF2B5EF4-FFF2-40B4-BE49-F238E27FC236}">
                <a16:creationId xmlns:a16="http://schemas.microsoft.com/office/drawing/2014/main" id="{F568BC04-E42E-44E2-8824-943EF2529BA2}"/>
              </a:ext>
            </a:extLst>
          </p:cNvPr>
          <p:cNvSpPr txBox="1"/>
          <p:nvPr/>
        </p:nvSpPr>
        <p:spPr>
          <a:xfrm>
            <a:off x="8879456" y="3781245"/>
            <a:ext cx="552091" cy="369332"/>
          </a:xfrm>
          <a:prstGeom prst="rect">
            <a:avLst/>
          </a:prstGeom>
          <a:noFill/>
          <a:ln>
            <a:solidFill>
              <a:schemeClr val="accent2">
                <a:lumMod val="75000"/>
              </a:schemeClr>
            </a:solidFill>
          </a:ln>
        </p:spPr>
        <p:txBody>
          <a:bodyPr wrap="square" rtlCol="0">
            <a:spAutoFit/>
          </a:bodyPr>
          <a:lstStyle/>
          <a:p>
            <a:r>
              <a:rPr lang="es-ES" b="1" dirty="0" err="1"/>
              <a:t>C21</a:t>
            </a:r>
            <a:endParaRPr lang="es-PE" b="1" dirty="0"/>
          </a:p>
        </p:txBody>
      </p:sp>
      <p:sp>
        <p:nvSpPr>
          <p:cNvPr id="26" name="CuadroTexto 25">
            <a:extLst>
              <a:ext uri="{FF2B5EF4-FFF2-40B4-BE49-F238E27FC236}">
                <a16:creationId xmlns:a16="http://schemas.microsoft.com/office/drawing/2014/main" id="{5858F806-083B-4439-AACD-D572379F2876}"/>
              </a:ext>
            </a:extLst>
          </p:cNvPr>
          <p:cNvSpPr txBox="1"/>
          <p:nvPr/>
        </p:nvSpPr>
        <p:spPr>
          <a:xfrm>
            <a:off x="8876581" y="4735903"/>
            <a:ext cx="552091" cy="369332"/>
          </a:xfrm>
          <a:prstGeom prst="rect">
            <a:avLst/>
          </a:prstGeom>
          <a:noFill/>
          <a:ln>
            <a:solidFill>
              <a:schemeClr val="accent2">
                <a:lumMod val="75000"/>
              </a:schemeClr>
            </a:solidFill>
          </a:ln>
        </p:spPr>
        <p:txBody>
          <a:bodyPr wrap="square" rtlCol="0">
            <a:spAutoFit/>
          </a:bodyPr>
          <a:lstStyle/>
          <a:p>
            <a:r>
              <a:rPr lang="es-ES" b="1" dirty="0" err="1"/>
              <a:t>C31</a:t>
            </a:r>
            <a:endParaRPr lang="es-PE" b="1" dirty="0"/>
          </a:p>
        </p:txBody>
      </p:sp>
      <p:sp>
        <p:nvSpPr>
          <p:cNvPr id="5" name="Rectángulo 4">
            <a:extLst>
              <a:ext uri="{FF2B5EF4-FFF2-40B4-BE49-F238E27FC236}">
                <a16:creationId xmlns:a16="http://schemas.microsoft.com/office/drawing/2014/main" id="{232615E5-43AE-4425-9BF4-4F29A6149A48}"/>
              </a:ext>
            </a:extLst>
          </p:cNvPr>
          <p:cNvSpPr/>
          <p:nvPr/>
        </p:nvSpPr>
        <p:spPr>
          <a:xfrm>
            <a:off x="192656" y="3054727"/>
            <a:ext cx="5903344" cy="1200329"/>
          </a:xfrm>
          <a:prstGeom prst="rect">
            <a:avLst/>
          </a:prstGeom>
          <a:solidFill>
            <a:schemeClr val="accent1">
              <a:lumMod val="40000"/>
              <a:lumOff val="60000"/>
            </a:schemeClr>
          </a:solidFill>
        </p:spPr>
        <p:txBody>
          <a:bodyPr wrap="square">
            <a:spAutoFit/>
          </a:bodyPr>
          <a:lstStyle/>
          <a:p>
            <a:pPr marL="285750" indent="-285750" algn="just">
              <a:spcAft>
                <a:spcPts val="1000"/>
              </a:spcAft>
              <a:buFont typeface="Arial" panose="020B0604020202020204" pitchFamily="34" charset="0"/>
              <a:buChar char="•"/>
            </a:pPr>
            <a:r>
              <a:rPr lang="es-PE" sz="2400" b="1" dirty="0">
                <a:latin typeface="Arial Narrow" panose="020B0606020202030204" pitchFamily="34" charset="0"/>
                <a:cs typeface="Times New Roman" panose="02020603050405020304" pitchFamily="18" charset="0"/>
              </a:rPr>
              <a:t>Se debe tratar que </a:t>
            </a:r>
            <a:r>
              <a:rPr lang="es-PE" sz="2400" b="1" dirty="0">
                <a:solidFill>
                  <a:srgbClr val="FF0000"/>
                </a:solidFill>
                <a:latin typeface="Arial Narrow" panose="020B0606020202030204" pitchFamily="34" charset="0"/>
                <a:cs typeface="Times New Roman" panose="02020603050405020304" pitchFamily="18" charset="0"/>
              </a:rPr>
              <a:t>n = m. </a:t>
            </a:r>
            <a:r>
              <a:rPr lang="es-PE" sz="2400" b="1" dirty="0">
                <a:latin typeface="Arial Narrow" panose="020B0606020202030204" pitchFamily="34" charset="0"/>
                <a:cs typeface="Times New Roman" panose="02020603050405020304" pitchFamily="18" charset="0"/>
              </a:rPr>
              <a:t>Caso contrario quedarán tareas por realizarse o trabajadores sin tareas. </a:t>
            </a:r>
          </a:p>
        </p:txBody>
      </p:sp>
    </p:spTree>
    <p:extLst>
      <p:ext uri="{BB962C8B-B14F-4D97-AF65-F5344CB8AC3E}">
        <p14:creationId xmlns:p14="http://schemas.microsoft.com/office/powerpoint/2010/main" val="189894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500" fill="hold"/>
                                        <p:tgtEl>
                                          <p:spTgt spid="15"/>
                                        </p:tgtEl>
                                        <p:attrNameLst>
                                          <p:attrName>ppt_w</p:attrName>
                                        </p:attrNameLst>
                                      </p:cBhvr>
                                      <p:tavLst>
                                        <p:tav tm="0">
                                          <p:val>
                                            <p:fltVal val="0"/>
                                          </p:val>
                                        </p:tav>
                                        <p:tav tm="100000">
                                          <p:val>
                                            <p:strVal val="#ppt_w"/>
                                          </p:val>
                                        </p:tav>
                                      </p:tavLst>
                                    </p:anim>
                                    <p:anim calcmode="lin" valueType="num">
                                      <p:cBhvr>
                                        <p:cTn id="25" dur="500" fill="hold"/>
                                        <p:tgtEl>
                                          <p:spTgt spid="15"/>
                                        </p:tgtEl>
                                        <p:attrNameLst>
                                          <p:attrName>ppt_h</p:attrName>
                                        </p:attrNameLst>
                                      </p:cBhvr>
                                      <p:tavLst>
                                        <p:tav tm="0">
                                          <p:val>
                                            <p:fltVal val="0"/>
                                          </p:val>
                                        </p:tav>
                                        <p:tav tm="100000">
                                          <p:val>
                                            <p:strVal val="#ppt_h"/>
                                          </p:val>
                                        </p:tav>
                                      </p:tavLst>
                                    </p:anim>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p:bldP spid="16" grpId="0"/>
      <p:bldP spid="17" grpId="0"/>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AE9F304-DA1B-4E6B-8BDF-6F23EE611011}"/>
              </a:ext>
            </a:extLst>
          </p:cNvPr>
          <p:cNvSpPr txBox="1"/>
          <p:nvPr/>
        </p:nvSpPr>
        <p:spPr>
          <a:xfrm>
            <a:off x="993058" y="1433171"/>
            <a:ext cx="5102941" cy="1069870"/>
          </a:xfrm>
          <a:prstGeom prst="rect">
            <a:avLst/>
          </a:prstGeom>
          <a:solidFill>
            <a:schemeClr val="accent1">
              <a:lumMod val="40000"/>
              <a:lumOff val="60000"/>
            </a:schemeClr>
          </a:solidFill>
        </p:spPr>
        <p:txBody>
          <a:bodyPr vert="horz" lIns="91440" tIns="45720" rIns="91440" bIns="45720" rtlCol="0">
            <a:noAutofit/>
          </a:bodyPr>
          <a:lstStyle>
            <a:defPPr>
              <a:defRPr lang="es-PE"/>
            </a:defPPr>
            <a:lvl1pPr marL="228600" indent="-228600" algn="just">
              <a:lnSpc>
                <a:spcPct val="90000"/>
              </a:lnSpc>
              <a:spcBef>
                <a:spcPts val="1000"/>
              </a:spcBef>
              <a:spcAft>
                <a:spcPts val="1000"/>
              </a:spcAft>
              <a:buFont typeface="Arial" panose="020B0604020202020204" pitchFamily="34" charset="0"/>
              <a:buChar char="•"/>
              <a:defRPr sz="2400" b="1">
                <a:latin typeface="Arial Narrow" panose="020B0606020202030204" pitchFamily="34" charset="0"/>
                <a:cs typeface="Times New Roman" panose="02020603050405020304" pitchFamily="18"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s-PE" dirty="0"/>
              <a:t>El Modelo de asignación puede considerarse como un caso especial del modelo de transporte. </a:t>
            </a:r>
          </a:p>
        </p:txBody>
      </p:sp>
      <p:sp>
        <p:nvSpPr>
          <p:cNvPr id="6" name="Text Box 12">
            <a:extLst>
              <a:ext uri="{FF2B5EF4-FFF2-40B4-BE49-F238E27FC236}">
                <a16:creationId xmlns:a16="http://schemas.microsoft.com/office/drawing/2014/main" id="{3F9EAD1B-5DE4-4DF1-9700-33D09E33D914}"/>
              </a:ext>
            </a:extLst>
          </p:cNvPr>
          <p:cNvSpPr txBox="1">
            <a:spLocks noChangeArrowheads="1"/>
          </p:cNvSpPr>
          <p:nvPr/>
        </p:nvSpPr>
        <p:spPr bwMode="auto">
          <a:xfrm>
            <a:off x="6096000" y="200991"/>
            <a:ext cx="6096000" cy="584775"/>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ctr">
              <a:spcBef>
                <a:spcPct val="0"/>
              </a:spcBef>
              <a:buNone/>
              <a:defRPr sz="3200" b="0">
                <a:solidFill>
                  <a:schemeClr val="bg1"/>
                </a:solidFill>
                <a:latin typeface="Bauhaus 93" pitchFamily="82" charset="0"/>
              </a:defRPr>
            </a:lvl1pPr>
          </a:lstStyle>
          <a:p>
            <a:r>
              <a:rPr lang="es-ES_tradnl" dirty="0"/>
              <a:t>Problema de asignación</a:t>
            </a:r>
          </a:p>
        </p:txBody>
      </p:sp>
      <p:cxnSp>
        <p:nvCxnSpPr>
          <p:cNvPr id="3" name="Conector recto 2">
            <a:extLst>
              <a:ext uri="{FF2B5EF4-FFF2-40B4-BE49-F238E27FC236}">
                <a16:creationId xmlns:a16="http://schemas.microsoft.com/office/drawing/2014/main" id="{E15944EC-9572-449B-9222-35CD530F4625}"/>
              </a:ext>
            </a:extLst>
          </p:cNvPr>
          <p:cNvCxnSpPr>
            <a:cxnSpLocks/>
          </p:cNvCxnSpPr>
          <p:nvPr/>
        </p:nvCxnSpPr>
        <p:spPr>
          <a:xfrm flipV="1">
            <a:off x="10576205" y="1517300"/>
            <a:ext cx="44904" cy="3632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4 Tabla">
            <a:extLst>
              <a:ext uri="{FF2B5EF4-FFF2-40B4-BE49-F238E27FC236}">
                <a16:creationId xmlns:a16="http://schemas.microsoft.com/office/drawing/2014/main" id="{49CDB8D5-5C67-48F5-8E39-EF2432DEC751}"/>
              </a:ext>
            </a:extLst>
          </p:cNvPr>
          <p:cNvGraphicFramePr>
            <a:graphicFrameLocks noGrp="1"/>
          </p:cNvGraphicFramePr>
          <p:nvPr>
            <p:extLst>
              <p:ext uri="{D42A27DB-BD31-4B8C-83A1-F6EECF244321}">
                <p14:modId xmlns:p14="http://schemas.microsoft.com/office/powerpoint/2010/main" val="4148610413"/>
              </p:ext>
            </p:extLst>
          </p:nvPr>
        </p:nvGraphicFramePr>
        <p:xfrm>
          <a:off x="7004648" y="1764190"/>
          <a:ext cx="4390844" cy="3825727"/>
        </p:xfrm>
        <a:graphic>
          <a:graphicData uri="http://schemas.openxmlformats.org/drawingml/2006/table">
            <a:tbl>
              <a:tblPr firstRow="1" bandRow="1">
                <a:tableStyleId>{5C22544A-7EE6-4342-B048-85BDC9FD1C3A}</a:tableStyleId>
              </a:tblPr>
              <a:tblGrid>
                <a:gridCol w="1464749">
                  <a:extLst>
                    <a:ext uri="{9D8B030D-6E8A-4147-A177-3AD203B41FA5}">
                      <a16:colId xmlns:a16="http://schemas.microsoft.com/office/drawing/2014/main" val="20000"/>
                    </a:ext>
                  </a:extLst>
                </a:gridCol>
                <a:gridCol w="975365">
                  <a:extLst>
                    <a:ext uri="{9D8B030D-6E8A-4147-A177-3AD203B41FA5}">
                      <a16:colId xmlns:a16="http://schemas.microsoft.com/office/drawing/2014/main" val="20001"/>
                    </a:ext>
                  </a:extLst>
                </a:gridCol>
                <a:gridCol w="975365">
                  <a:extLst>
                    <a:ext uri="{9D8B030D-6E8A-4147-A177-3AD203B41FA5}">
                      <a16:colId xmlns:a16="http://schemas.microsoft.com/office/drawing/2014/main" val="20002"/>
                    </a:ext>
                  </a:extLst>
                </a:gridCol>
                <a:gridCol w="975365">
                  <a:extLst>
                    <a:ext uri="{9D8B030D-6E8A-4147-A177-3AD203B41FA5}">
                      <a16:colId xmlns:a16="http://schemas.microsoft.com/office/drawing/2014/main" val="20003"/>
                    </a:ext>
                  </a:extLst>
                </a:gridCol>
              </a:tblGrid>
              <a:tr h="1008112">
                <a:tc>
                  <a:txBody>
                    <a:bodyPr/>
                    <a:lstStyle/>
                    <a:p>
                      <a:pPr algn="ctr"/>
                      <a:endParaRPr lang="es-PE" sz="2000" b="1" dirty="0">
                        <a:solidFill>
                          <a:schemeClr val="bg1"/>
                        </a:solidFill>
                        <a:latin typeface="Arial Narrow" pitchFamily="34" charset="0"/>
                      </a:endParaRPr>
                    </a:p>
                  </a:txBody>
                  <a:tcPr anchor="ctr">
                    <a:solidFill>
                      <a:schemeClr val="accent2"/>
                    </a:solidFill>
                  </a:tcPr>
                </a:tc>
                <a:tc>
                  <a:txBody>
                    <a:bodyPr/>
                    <a:lstStyle/>
                    <a:p>
                      <a:pPr algn="ctr"/>
                      <a:r>
                        <a:rPr lang="es-ES" sz="2000" b="1" kern="1200" dirty="0">
                          <a:solidFill>
                            <a:schemeClr val="bg1"/>
                          </a:solidFill>
                          <a:latin typeface="Arial Narrow" pitchFamily="34" charset="0"/>
                          <a:ea typeface="+mn-ea"/>
                          <a:cs typeface="+mn-cs"/>
                        </a:rPr>
                        <a:t>Tarea 1</a:t>
                      </a:r>
                      <a:endParaRPr lang="es-PE" sz="2000" b="1" kern="1200" dirty="0">
                        <a:solidFill>
                          <a:schemeClr val="bg1"/>
                        </a:solidFill>
                        <a:latin typeface="Arial Narrow" pitchFamily="34" charset="0"/>
                        <a:ea typeface="+mn-ea"/>
                        <a:cs typeface="+mn-cs"/>
                      </a:endParaRPr>
                    </a:p>
                  </a:txBody>
                  <a:tcPr anchor="ctr">
                    <a:solidFill>
                      <a:schemeClr val="accent2"/>
                    </a:solidFill>
                  </a:tcPr>
                </a:tc>
                <a:tc>
                  <a:txBody>
                    <a:bodyPr/>
                    <a:lstStyle/>
                    <a:p>
                      <a:pPr algn="ctr"/>
                      <a:r>
                        <a:rPr lang="es-ES" sz="2000" b="1" kern="1200" dirty="0">
                          <a:solidFill>
                            <a:schemeClr val="bg1"/>
                          </a:solidFill>
                          <a:latin typeface="Arial Narrow" pitchFamily="34" charset="0"/>
                          <a:ea typeface="+mn-ea"/>
                          <a:cs typeface="+mn-cs"/>
                        </a:rPr>
                        <a:t>Tarea 2</a:t>
                      </a:r>
                      <a:endParaRPr lang="es-PE" sz="2000" b="1" kern="1200" dirty="0">
                        <a:solidFill>
                          <a:schemeClr val="bg1"/>
                        </a:solidFill>
                        <a:latin typeface="Arial Narrow" pitchFamily="34" charset="0"/>
                        <a:ea typeface="+mn-ea"/>
                        <a:cs typeface="+mn-cs"/>
                      </a:endParaRPr>
                    </a:p>
                  </a:txBody>
                  <a:tcPr anchor="ctr">
                    <a:solidFill>
                      <a:schemeClr val="accent2"/>
                    </a:solidFill>
                  </a:tcPr>
                </a:tc>
                <a:tc>
                  <a:txBody>
                    <a:bodyPr/>
                    <a:lstStyle/>
                    <a:p>
                      <a:pPr algn="ctr"/>
                      <a:r>
                        <a:rPr lang="es-ES" sz="2000" b="1" kern="1200" dirty="0">
                          <a:solidFill>
                            <a:schemeClr val="bg1"/>
                          </a:solidFill>
                          <a:latin typeface="Arial Narrow" pitchFamily="34" charset="0"/>
                          <a:ea typeface="+mn-ea"/>
                          <a:cs typeface="+mn-cs"/>
                        </a:rPr>
                        <a:t>Tarea 3</a:t>
                      </a:r>
                      <a:endParaRPr lang="es-PE" sz="2000" b="1" kern="1200" dirty="0">
                        <a:solidFill>
                          <a:schemeClr val="bg1"/>
                        </a:solidFill>
                        <a:latin typeface="Arial Narrow" pitchFamily="34" charset="0"/>
                        <a:ea typeface="+mn-ea"/>
                        <a:cs typeface="+mn-cs"/>
                      </a:endParaRPr>
                    </a:p>
                  </a:txBody>
                  <a:tcPr anchor="ctr">
                    <a:solidFill>
                      <a:schemeClr val="accent2"/>
                    </a:solidFill>
                  </a:tcPr>
                </a:tc>
                <a:extLst>
                  <a:ext uri="{0D108BD9-81ED-4DB2-BD59-A6C34878D82A}">
                    <a16:rowId xmlns:a16="http://schemas.microsoft.com/office/drawing/2014/main" val="10000"/>
                  </a:ext>
                </a:extLst>
              </a:tr>
              <a:tr h="997441">
                <a:tc>
                  <a:txBody>
                    <a:bodyPr/>
                    <a:lstStyle/>
                    <a:p>
                      <a:pPr algn="ctr"/>
                      <a:r>
                        <a:rPr lang="es-ES" sz="2000" b="1" dirty="0">
                          <a:solidFill>
                            <a:schemeClr val="bg1"/>
                          </a:solidFill>
                          <a:latin typeface="Arial Narrow" pitchFamily="34" charset="0"/>
                        </a:rPr>
                        <a:t>Trabajador 1</a:t>
                      </a:r>
                    </a:p>
                    <a:p>
                      <a:pPr algn="ctr"/>
                      <a:endParaRPr lang="es-PE" sz="2000" b="1" dirty="0">
                        <a:solidFill>
                          <a:schemeClr val="bg1"/>
                        </a:solidFill>
                        <a:latin typeface="Arial Narrow" pitchFamily="34" charset="0"/>
                      </a:endParaRPr>
                    </a:p>
                  </a:txBody>
                  <a:tcPr anchor="ctr">
                    <a:solidFill>
                      <a:schemeClr val="accent2"/>
                    </a:solidFill>
                  </a:tcPr>
                </a:tc>
                <a:tc>
                  <a:txBody>
                    <a:bodyPr/>
                    <a:lstStyle/>
                    <a:p>
                      <a:pPr algn="ctr"/>
                      <a:r>
                        <a:rPr lang="es-ES" sz="2000" b="1" dirty="0" err="1">
                          <a:latin typeface="Arial Narrow" pitchFamily="34" charset="0"/>
                        </a:rPr>
                        <a:t>X11</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X12</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X13</a:t>
                      </a:r>
                      <a:endParaRPr lang="es-PE" sz="2000" b="1" dirty="0">
                        <a:latin typeface="Arial Narrow" pitchFamily="34" charset="0"/>
                      </a:endParaRPr>
                    </a:p>
                  </a:txBody>
                  <a:tcPr anchor="ctr">
                    <a:solidFill>
                      <a:schemeClr val="accent2">
                        <a:lumMod val="20000"/>
                        <a:lumOff val="80000"/>
                      </a:schemeClr>
                    </a:solidFill>
                  </a:tcPr>
                </a:tc>
                <a:extLst>
                  <a:ext uri="{0D108BD9-81ED-4DB2-BD59-A6C34878D82A}">
                    <a16:rowId xmlns:a16="http://schemas.microsoft.com/office/drawing/2014/main" val="10001"/>
                  </a:ext>
                </a:extLst>
              </a:tr>
              <a:tr h="957532">
                <a:tc>
                  <a:txBody>
                    <a:bodyPr/>
                    <a:lstStyle/>
                    <a:p>
                      <a:pPr algn="ctr"/>
                      <a:r>
                        <a:rPr lang="es-ES" sz="2000" b="1" dirty="0">
                          <a:solidFill>
                            <a:schemeClr val="bg1"/>
                          </a:solidFill>
                          <a:latin typeface="Arial Narrow" pitchFamily="34" charset="0"/>
                        </a:rPr>
                        <a:t>Trabajador 2</a:t>
                      </a:r>
                    </a:p>
                    <a:p>
                      <a:pPr algn="ctr"/>
                      <a:endParaRPr lang="es-PE" sz="2000" b="1" dirty="0">
                        <a:solidFill>
                          <a:schemeClr val="bg1"/>
                        </a:solidFill>
                        <a:latin typeface="Arial Narrow" pitchFamily="34" charset="0"/>
                      </a:endParaRPr>
                    </a:p>
                  </a:txBody>
                  <a:tcPr anchor="ctr">
                    <a:solidFill>
                      <a:schemeClr val="accent2"/>
                    </a:solidFill>
                  </a:tcPr>
                </a:tc>
                <a:tc>
                  <a:txBody>
                    <a:bodyPr/>
                    <a:lstStyle/>
                    <a:p>
                      <a:pPr algn="ctr"/>
                      <a:r>
                        <a:rPr lang="es-ES" sz="2000" b="1" dirty="0" err="1">
                          <a:latin typeface="Arial Narrow" pitchFamily="34" charset="0"/>
                        </a:rPr>
                        <a:t>X21</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X22</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X23</a:t>
                      </a:r>
                      <a:endParaRPr lang="es-PE" sz="2000" b="1" dirty="0">
                        <a:latin typeface="Arial Narrow" pitchFamily="34" charset="0"/>
                      </a:endParaRPr>
                    </a:p>
                  </a:txBody>
                  <a:tcPr anchor="ctr">
                    <a:solidFill>
                      <a:schemeClr val="accent2">
                        <a:lumMod val="20000"/>
                        <a:lumOff val="80000"/>
                      </a:schemeClr>
                    </a:solidFill>
                  </a:tcPr>
                </a:tc>
                <a:extLst>
                  <a:ext uri="{0D108BD9-81ED-4DB2-BD59-A6C34878D82A}">
                    <a16:rowId xmlns:a16="http://schemas.microsoft.com/office/drawing/2014/main" val="10002"/>
                  </a:ext>
                </a:extLst>
              </a:tr>
              <a:tr h="862642">
                <a:tc>
                  <a:txBody>
                    <a:bodyPr/>
                    <a:lstStyle/>
                    <a:p>
                      <a:pPr algn="ctr"/>
                      <a:r>
                        <a:rPr lang="es-ES" sz="2000" b="1" dirty="0">
                          <a:solidFill>
                            <a:schemeClr val="bg1"/>
                          </a:solidFill>
                          <a:latin typeface="Arial Narrow" pitchFamily="34" charset="0"/>
                        </a:rPr>
                        <a:t>Trabajador 3</a:t>
                      </a:r>
                    </a:p>
                    <a:p>
                      <a:pPr algn="ctr"/>
                      <a:endParaRPr lang="es-PE" sz="2000" b="1" dirty="0">
                        <a:solidFill>
                          <a:schemeClr val="bg1"/>
                        </a:solidFill>
                        <a:latin typeface="Arial Narrow" pitchFamily="34" charset="0"/>
                      </a:endParaRPr>
                    </a:p>
                  </a:txBody>
                  <a:tcPr anchor="ctr">
                    <a:solidFill>
                      <a:schemeClr val="accent2"/>
                    </a:solidFill>
                  </a:tcPr>
                </a:tc>
                <a:tc>
                  <a:txBody>
                    <a:bodyPr/>
                    <a:lstStyle/>
                    <a:p>
                      <a:pPr algn="ctr"/>
                      <a:r>
                        <a:rPr lang="es-ES" sz="2000" b="1" dirty="0" err="1">
                          <a:latin typeface="Arial Narrow" pitchFamily="34" charset="0"/>
                        </a:rPr>
                        <a:t>X31</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X32</a:t>
                      </a:r>
                      <a:endParaRPr lang="es-PE" sz="2000" b="1" dirty="0">
                        <a:latin typeface="Arial Narrow" pitchFamily="34" charset="0"/>
                      </a:endParaRPr>
                    </a:p>
                  </a:txBody>
                  <a:tcPr anchor="ctr">
                    <a:solidFill>
                      <a:schemeClr val="accent2">
                        <a:lumMod val="20000"/>
                        <a:lumOff val="80000"/>
                      </a:schemeClr>
                    </a:solidFill>
                  </a:tcPr>
                </a:tc>
                <a:tc>
                  <a:txBody>
                    <a:bodyPr/>
                    <a:lstStyle/>
                    <a:p>
                      <a:pPr algn="ctr"/>
                      <a:r>
                        <a:rPr lang="es-ES" sz="2000" b="1" dirty="0" err="1">
                          <a:latin typeface="Arial Narrow" pitchFamily="34" charset="0"/>
                        </a:rPr>
                        <a:t>X33</a:t>
                      </a:r>
                      <a:endParaRPr lang="es-PE" sz="2000" b="1" dirty="0">
                        <a:latin typeface="Arial Narrow" pitchFamily="34" charset="0"/>
                      </a:endParaRPr>
                    </a:p>
                  </a:txBody>
                  <a:tcPr anchor="ctr">
                    <a:solidFill>
                      <a:schemeClr val="accent2">
                        <a:lumMod val="20000"/>
                        <a:lumOff val="80000"/>
                      </a:schemeClr>
                    </a:solidFill>
                  </a:tcPr>
                </a:tc>
                <a:extLst>
                  <a:ext uri="{0D108BD9-81ED-4DB2-BD59-A6C34878D82A}">
                    <a16:rowId xmlns:a16="http://schemas.microsoft.com/office/drawing/2014/main" val="10003"/>
                  </a:ext>
                </a:extLst>
              </a:tr>
            </a:tbl>
          </a:graphicData>
        </a:graphic>
      </p:graphicFrame>
      <p:graphicFrame>
        <p:nvGraphicFramePr>
          <p:cNvPr id="2" name="Tabla 1">
            <a:extLst>
              <a:ext uri="{FF2B5EF4-FFF2-40B4-BE49-F238E27FC236}">
                <a16:creationId xmlns:a16="http://schemas.microsoft.com/office/drawing/2014/main" id="{E3EF5A0E-9917-4104-B146-C83E5BCC3033}"/>
              </a:ext>
            </a:extLst>
          </p:cNvPr>
          <p:cNvGraphicFramePr>
            <a:graphicFrameLocks noGrp="1"/>
          </p:cNvGraphicFramePr>
          <p:nvPr/>
        </p:nvGraphicFramePr>
        <p:xfrm>
          <a:off x="11404121" y="2812214"/>
          <a:ext cx="384682" cy="2700070"/>
        </p:xfrm>
        <a:graphic>
          <a:graphicData uri="http://schemas.openxmlformats.org/drawingml/2006/table">
            <a:tbl>
              <a:tblPr>
                <a:tableStyleId>{5C22544A-7EE6-4342-B048-85BDC9FD1C3A}</a:tableStyleId>
              </a:tblPr>
              <a:tblGrid>
                <a:gridCol w="384682">
                  <a:extLst>
                    <a:ext uri="{9D8B030D-6E8A-4147-A177-3AD203B41FA5}">
                      <a16:colId xmlns:a16="http://schemas.microsoft.com/office/drawing/2014/main" val="422554086"/>
                    </a:ext>
                  </a:extLst>
                </a:gridCol>
              </a:tblGrid>
              <a:tr h="540014">
                <a:tc>
                  <a:txBody>
                    <a:bodyPr/>
                    <a:lstStyle/>
                    <a:p>
                      <a:pPr algn="ctr" fontAlgn="b"/>
                      <a:r>
                        <a:rPr lang="es-PE" sz="2400" b="1" u="none" strike="noStrike" dirty="0">
                          <a:solidFill>
                            <a:srgbClr val="FF0000"/>
                          </a:solidFill>
                          <a:effectLst/>
                        </a:rPr>
                        <a:t>1</a:t>
                      </a:r>
                      <a:endParaRPr lang="es-PE" sz="2400" b="1" i="0" u="none" strike="noStrike" dirty="0">
                        <a:solidFill>
                          <a:srgbClr val="FF0000"/>
                        </a:solidFill>
                        <a:effectLst/>
                        <a:latin typeface="Arial Narrow"/>
                      </a:endParaRPr>
                    </a:p>
                  </a:txBody>
                  <a:tcPr marL="8527" marR="8527" marT="8527" marB="0" anchor="b">
                    <a:solidFill>
                      <a:schemeClr val="bg1"/>
                    </a:solidFill>
                  </a:tcPr>
                </a:tc>
                <a:extLst>
                  <a:ext uri="{0D108BD9-81ED-4DB2-BD59-A6C34878D82A}">
                    <a16:rowId xmlns:a16="http://schemas.microsoft.com/office/drawing/2014/main" val="2122393719"/>
                  </a:ext>
                </a:extLst>
              </a:tr>
              <a:tr h="540014">
                <a:tc>
                  <a:txBody>
                    <a:bodyPr/>
                    <a:lstStyle/>
                    <a:p>
                      <a:pPr algn="ctr" fontAlgn="b"/>
                      <a:endParaRPr lang="es-PE" sz="2400" b="1" i="0" u="none" strike="noStrike" dirty="0">
                        <a:solidFill>
                          <a:srgbClr val="FF0000"/>
                        </a:solidFill>
                        <a:effectLst/>
                        <a:latin typeface="Arial Narrow"/>
                      </a:endParaRPr>
                    </a:p>
                  </a:txBody>
                  <a:tcPr marL="8527" marR="8527" marT="8527" marB="0" anchor="b">
                    <a:solidFill>
                      <a:schemeClr val="bg1"/>
                    </a:solidFill>
                  </a:tcPr>
                </a:tc>
                <a:extLst>
                  <a:ext uri="{0D108BD9-81ED-4DB2-BD59-A6C34878D82A}">
                    <a16:rowId xmlns:a16="http://schemas.microsoft.com/office/drawing/2014/main" val="1195523714"/>
                  </a:ext>
                </a:extLst>
              </a:tr>
              <a:tr h="540014">
                <a:tc>
                  <a:txBody>
                    <a:bodyPr/>
                    <a:lstStyle/>
                    <a:p>
                      <a:pPr marL="0" algn="ctr" defTabSz="914400" rtl="0" eaLnBrk="1" fontAlgn="b" latinLnBrk="0" hangingPunct="1"/>
                      <a:r>
                        <a:rPr lang="es-ES" sz="2400" b="1" u="none" strike="noStrike" kern="1200" dirty="0">
                          <a:solidFill>
                            <a:srgbClr val="FF0000"/>
                          </a:solidFill>
                          <a:effectLst/>
                          <a:latin typeface="+mn-lt"/>
                          <a:ea typeface="+mn-ea"/>
                          <a:cs typeface="+mn-cs"/>
                        </a:rPr>
                        <a:t>1</a:t>
                      </a:r>
                      <a:endParaRPr lang="es-PE" sz="2400" b="1" u="none" strike="noStrike" kern="1200" dirty="0">
                        <a:solidFill>
                          <a:srgbClr val="FF0000"/>
                        </a:solidFill>
                        <a:effectLst/>
                        <a:latin typeface="+mn-lt"/>
                        <a:ea typeface="+mn-ea"/>
                        <a:cs typeface="+mn-cs"/>
                      </a:endParaRPr>
                    </a:p>
                  </a:txBody>
                  <a:tcPr marL="8527" marR="8527" marT="8527" marB="0" anchor="b">
                    <a:solidFill>
                      <a:schemeClr val="bg1"/>
                    </a:solidFill>
                  </a:tcPr>
                </a:tc>
                <a:extLst>
                  <a:ext uri="{0D108BD9-81ED-4DB2-BD59-A6C34878D82A}">
                    <a16:rowId xmlns:a16="http://schemas.microsoft.com/office/drawing/2014/main" val="1161037490"/>
                  </a:ext>
                </a:extLst>
              </a:tr>
              <a:tr h="540014">
                <a:tc>
                  <a:txBody>
                    <a:bodyPr/>
                    <a:lstStyle/>
                    <a:p>
                      <a:pPr marL="0" algn="ctr" defTabSz="914400" rtl="0" eaLnBrk="1" fontAlgn="b" latinLnBrk="0" hangingPunct="1"/>
                      <a:endParaRPr lang="es-PE" sz="2400" b="1" u="none" strike="noStrike" kern="1200" dirty="0">
                        <a:solidFill>
                          <a:srgbClr val="FF0000"/>
                        </a:solidFill>
                        <a:effectLst/>
                        <a:latin typeface="+mn-lt"/>
                        <a:ea typeface="+mn-ea"/>
                        <a:cs typeface="+mn-cs"/>
                      </a:endParaRPr>
                    </a:p>
                  </a:txBody>
                  <a:tcPr marL="8527" marR="8527" marT="8527" marB="0" anchor="b">
                    <a:solidFill>
                      <a:schemeClr val="bg1"/>
                    </a:solidFill>
                  </a:tcPr>
                </a:tc>
                <a:extLst>
                  <a:ext uri="{0D108BD9-81ED-4DB2-BD59-A6C34878D82A}">
                    <a16:rowId xmlns:a16="http://schemas.microsoft.com/office/drawing/2014/main" val="443433927"/>
                  </a:ext>
                </a:extLst>
              </a:tr>
              <a:tr h="540014">
                <a:tc>
                  <a:txBody>
                    <a:bodyPr/>
                    <a:lstStyle/>
                    <a:p>
                      <a:pPr marL="0" algn="ctr" defTabSz="914400" rtl="0" eaLnBrk="1" fontAlgn="b" latinLnBrk="0" hangingPunct="1"/>
                      <a:r>
                        <a:rPr lang="es-ES" sz="2400" b="1" u="none" strike="noStrike" kern="1200" dirty="0">
                          <a:solidFill>
                            <a:srgbClr val="FF0000"/>
                          </a:solidFill>
                          <a:effectLst/>
                          <a:latin typeface="+mn-lt"/>
                          <a:ea typeface="+mn-ea"/>
                          <a:cs typeface="+mn-cs"/>
                        </a:rPr>
                        <a:t>1</a:t>
                      </a:r>
                      <a:endParaRPr lang="es-PE" sz="2400" b="1" u="none" strike="noStrike" kern="1200" dirty="0">
                        <a:solidFill>
                          <a:srgbClr val="FF0000"/>
                        </a:solidFill>
                        <a:effectLst/>
                        <a:latin typeface="+mn-lt"/>
                        <a:ea typeface="+mn-ea"/>
                        <a:cs typeface="+mn-cs"/>
                      </a:endParaRPr>
                    </a:p>
                  </a:txBody>
                  <a:tcPr marL="8527" marR="8527" marT="8527" marB="0" anchor="b">
                    <a:solidFill>
                      <a:schemeClr val="bg1"/>
                    </a:solidFill>
                  </a:tcPr>
                </a:tc>
                <a:extLst>
                  <a:ext uri="{0D108BD9-81ED-4DB2-BD59-A6C34878D82A}">
                    <a16:rowId xmlns:a16="http://schemas.microsoft.com/office/drawing/2014/main" val="1005561604"/>
                  </a:ext>
                </a:extLst>
              </a:tr>
            </a:tbl>
          </a:graphicData>
        </a:graphic>
      </p:graphicFrame>
      <p:sp>
        <p:nvSpPr>
          <p:cNvPr id="7" name="Rectangle 3">
            <a:extLst>
              <a:ext uri="{FF2B5EF4-FFF2-40B4-BE49-F238E27FC236}">
                <a16:creationId xmlns:a16="http://schemas.microsoft.com/office/drawing/2014/main" id="{99335AF4-3855-4623-A8D3-6C3AA694529C}"/>
              </a:ext>
            </a:extLst>
          </p:cNvPr>
          <p:cNvSpPr>
            <a:spLocks noChangeArrowheads="1"/>
          </p:cNvSpPr>
          <p:nvPr/>
        </p:nvSpPr>
        <p:spPr bwMode="auto">
          <a:xfrm>
            <a:off x="8220973" y="5667680"/>
            <a:ext cx="2984740" cy="443198"/>
          </a:xfrm>
          <a:prstGeom prst="rect">
            <a:avLst/>
          </a:prstGeom>
          <a:noFill/>
          <a:ln w="12700">
            <a:noFill/>
            <a:miter lim="800000"/>
            <a:headEnd type="none" w="sm" len="sm"/>
            <a:tailEnd type="none" w="sm" len="sm"/>
          </a:ln>
        </p:spPr>
        <p:txBody>
          <a:bodyPr wrap="square" anchor="ctr">
            <a:spAutoFit/>
          </a:bodyPr>
          <a:lstStyle/>
          <a:p>
            <a:pPr algn="ctr" fontAlgn="b">
              <a:lnSpc>
                <a:spcPct val="95000"/>
              </a:lnSpc>
            </a:pPr>
            <a:r>
              <a:rPr lang="es-ES" sz="2400" b="1" dirty="0">
                <a:solidFill>
                  <a:srgbClr val="FF0000"/>
                </a:solidFill>
              </a:rPr>
              <a:t>     1 	       1         1</a:t>
            </a:r>
          </a:p>
        </p:txBody>
      </p:sp>
      <p:sp>
        <p:nvSpPr>
          <p:cNvPr id="4" name="CuadroTexto 3">
            <a:extLst>
              <a:ext uri="{FF2B5EF4-FFF2-40B4-BE49-F238E27FC236}">
                <a16:creationId xmlns:a16="http://schemas.microsoft.com/office/drawing/2014/main" id="{4C14D0F2-9290-4894-A466-C1F1DE733BFF}"/>
              </a:ext>
            </a:extLst>
          </p:cNvPr>
          <p:cNvSpPr txBox="1"/>
          <p:nvPr/>
        </p:nvSpPr>
        <p:spPr>
          <a:xfrm rot="16200000">
            <a:off x="5899448" y="4049177"/>
            <a:ext cx="1790069" cy="523220"/>
          </a:xfrm>
          <a:prstGeom prst="rect">
            <a:avLst/>
          </a:prstGeom>
          <a:noFill/>
        </p:spPr>
        <p:txBody>
          <a:bodyPr wrap="square" rtlCol="0">
            <a:spAutoFit/>
          </a:bodyPr>
          <a:lstStyle/>
          <a:p>
            <a:pPr algn="ctr"/>
            <a:r>
              <a:rPr lang="es-ES" sz="2800" b="1" dirty="0">
                <a:solidFill>
                  <a:srgbClr val="FF0000"/>
                </a:solidFill>
              </a:rPr>
              <a:t>Origen</a:t>
            </a:r>
            <a:endParaRPr lang="es-PE" sz="2800" b="1" dirty="0">
              <a:solidFill>
                <a:srgbClr val="FF0000"/>
              </a:solidFill>
            </a:endParaRPr>
          </a:p>
        </p:txBody>
      </p:sp>
      <p:sp>
        <p:nvSpPr>
          <p:cNvPr id="9" name="CuadroTexto 8">
            <a:extLst>
              <a:ext uri="{FF2B5EF4-FFF2-40B4-BE49-F238E27FC236}">
                <a16:creationId xmlns:a16="http://schemas.microsoft.com/office/drawing/2014/main" id="{1EC5DE33-C5AF-450E-94EA-A28784637053}"/>
              </a:ext>
            </a:extLst>
          </p:cNvPr>
          <p:cNvSpPr txBox="1"/>
          <p:nvPr/>
        </p:nvSpPr>
        <p:spPr>
          <a:xfrm>
            <a:off x="8380987" y="1234105"/>
            <a:ext cx="1790069" cy="523220"/>
          </a:xfrm>
          <a:prstGeom prst="rect">
            <a:avLst/>
          </a:prstGeom>
          <a:noFill/>
        </p:spPr>
        <p:txBody>
          <a:bodyPr wrap="square" rtlCol="0">
            <a:spAutoFit/>
          </a:bodyPr>
          <a:lstStyle/>
          <a:p>
            <a:pPr algn="ctr"/>
            <a:r>
              <a:rPr lang="es-ES" sz="2800" b="1" dirty="0">
                <a:solidFill>
                  <a:srgbClr val="FF0000"/>
                </a:solidFill>
              </a:rPr>
              <a:t>Destino</a:t>
            </a:r>
            <a:endParaRPr lang="es-PE" sz="2800" b="1" dirty="0">
              <a:solidFill>
                <a:srgbClr val="FF0000"/>
              </a:solidFill>
            </a:endParaRPr>
          </a:p>
        </p:txBody>
      </p:sp>
      <p:sp>
        <p:nvSpPr>
          <p:cNvPr id="10" name="CuadroTexto 9">
            <a:extLst>
              <a:ext uri="{FF2B5EF4-FFF2-40B4-BE49-F238E27FC236}">
                <a16:creationId xmlns:a16="http://schemas.microsoft.com/office/drawing/2014/main" id="{7585095D-62D4-4246-879F-B91DA0CEA90A}"/>
              </a:ext>
            </a:extLst>
          </p:cNvPr>
          <p:cNvSpPr txBox="1"/>
          <p:nvPr/>
        </p:nvSpPr>
        <p:spPr>
          <a:xfrm>
            <a:off x="8876581" y="2777706"/>
            <a:ext cx="552091" cy="369332"/>
          </a:xfrm>
          <a:prstGeom prst="rect">
            <a:avLst/>
          </a:prstGeom>
          <a:noFill/>
          <a:ln>
            <a:solidFill>
              <a:schemeClr val="accent2">
                <a:lumMod val="75000"/>
              </a:schemeClr>
            </a:solidFill>
          </a:ln>
        </p:spPr>
        <p:txBody>
          <a:bodyPr wrap="square" rtlCol="0">
            <a:spAutoFit/>
          </a:bodyPr>
          <a:lstStyle/>
          <a:p>
            <a:r>
              <a:rPr lang="es-ES" b="1" dirty="0" err="1"/>
              <a:t>C11</a:t>
            </a:r>
            <a:endParaRPr lang="es-PE" b="1" dirty="0"/>
          </a:p>
        </p:txBody>
      </p:sp>
      <p:sp>
        <p:nvSpPr>
          <p:cNvPr id="12" name="CuadroTexto 11">
            <a:extLst>
              <a:ext uri="{FF2B5EF4-FFF2-40B4-BE49-F238E27FC236}">
                <a16:creationId xmlns:a16="http://schemas.microsoft.com/office/drawing/2014/main" id="{3C5FE3CE-DB2C-4E57-8A83-FA96E92E6F43}"/>
              </a:ext>
            </a:extLst>
          </p:cNvPr>
          <p:cNvSpPr txBox="1"/>
          <p:nvPr/>
        </p:nvSpPr>
        <p:spPr>
          <a:xfrm>
            <a:off x="9836988" y="2797835"/>
            <a:ext cx="552091" cy="369332"/>
          </a:xfrm>
          <a:prstGeom prst="rect">
            <a:avLst/>
          </a:prstGeom>
          <a:noFill/>
          <a:ln>
            <a:solidFill>
              <a:schemeClr val="accent2">
                <a:lumMod val="75000"/>
              </a:schemeClr>
            </a:solidFill>
          </a:ln>
        </p:spPr>
        <p:txBody>
          <a:bodyPr wrap="square" rtlCol="0">
            <a:spAutoFit/>
          </a:bodyPr>
          <a:lstStyle/>
          <a:p>
            <a:r>
              <a:rPr lang="es-ES" b="1" dirty="0" err="1"/>
              <a:t>C12</a:t>
            </a:r>
            <a:endParaRPr lang="es-PE" b="1" dirty="0"/>
          </a:p>
        </p:txBody>
      </p:sp>
      <p:sp>
        <p:nvSpPr>
          <p:cNvPr id="13" name="CuadroTexto 12">
            <a:extLst>
              <a:ext uri="{FF2B5EF4-FFF2-40B4-BE49-F238E27FC236}">
                <a16:creationId xmlns:a16="http://schemas.microsoft.com/office/drawing/2014/main" id="{F95B5A25-AC83-4C2A-A079-34721B91A7A0}"/>
              </a:ext>
            </a:extLst>
          </p:cNvPr>
          <p:cNvSpPr txBox="1"/>
          <p:nvPr/>
        </p:nvSpPr>
        <p:spPr>
          <a:xfrm>
            <a:off x="10826151" y="2803586"/>
            <a:ext cx="552091" cy="369332"/>
          </a:xfrm>
          <a:prstGeom prst="rect">
            <a:avLst/>
          </a:prstGeom>
          <a:noFill/>
          <a:ln>
            <a:solidFill>
              <a:schemeClr val="accent2">
                <a:lumMod val="75000"/>
              </a:schemeClr>
            </a:solidFill>
          </a:ln>
        </p:spPr>
        <p:txBody>
          <a:bodyPr wrap="square" rtlCol="0">
            <a:spAutoFit/>
          </a:bodyPr>
          <a:lstStyle/>
          <a:p>
            <a:r>
              <a:rPr lang="es-ES" b="1" dirty="0" err="1"/>
              <a:t>C13</a:t>
            </a:r>
            <a:endParaRPr lang="es-PE" b="1" dirty="0"/>
          </a:p>
        </p:txBody>
      </p:sp>
      <p:sp>
        <p:nvSpPr>
          <p:cNvPr id="14" name="CuadroTexto 13">
            <a:extLst>
              <a:ext uri="{FF2B5EF4-FFF2-40B4-BE49-F238E27FC236}">
                <a16:creationId xmlns:a16="http://schemas.microsoft.com/office/drawing/2014/main" id="{4E0D5513-F8B8-4549-A649-088FA3103CCC}"/>
              </a:ext>
            </a:extLst>
          </p:cNvPr>
          <p:cNvSpPr txBox="1"/>
          <p:nvPr/>
        </p:nvSpPr>
        <p:spPr>
          <a:xfrm>
            <a:off x="9831237" y="3775495"/>
            <a:ext cx="552091" cy="369332"/>
          </a:xfrm>
          <a:prstGeom prst="rect">
            <a:avLst/>
          </a:prstGeom>
          <a:noFill/>
          <a:ln>
            <a:solidFill>
              <a:schemeClr val="accent2">
                <a:lumMod val="75000"/>
              </a:schemeClr>
            </a:solidFill>
          </a:ln>
        </p:spPr>
        <p:txBody>
          <a:bodyPr wrap="square" rtlCol="0">
            <a:spAutoFit/>
          </a:bodyPr>
          <a:lstStyle/>
          <a:p>
            <a:r>
              <a:rPr lang="es-ES" b="1" dirty="0" err="1"/>
              <a:t>C22</a:t>
            </a:r>
            <a:endParaRPr lang="es-PE" b="1" dirty="0"/>
          </a:p>
        </p:txBody>
      </p:sp>
      <p:sp>
        <p:nvSpPr>
          <p:cNvPr id="15" name="CuadroTexto 14">
            <a:extLst>
              <a:ext uri="{FF2B5EF4-FFF2-40B4-BE49-F238E27FC236}">
                <a16:creationId xmlns:a16="http://schemas.microsoft.com/office/drawing/2014/main" id="{49270BDF-B18F-454D-A7BA-9DCE16EF54B3}"/>
              </a:ext>
            </a:extLst>
          </p:cNvPr>
          <p:cNvSpPr txBox="1"/>
          <p:nvPr/>
        </p:nvSpPr>
        <p:spPr>
          <a:xfrm>
            <a:off x="10837653" y="3781246"/>
            <a:ext cx="552091" cy="369332"/>
          </a:xfrm>
          <a:prstGeom prst="rect">
            <a:avLst/>
          </a:prstGeom>
          <a:noFill/>
          <a:ln>
            <a:solidFill>
              <a:schemeClr val="accent2">
                <a:lumMod val="75000"/>
              </a:schemeClr>
            </a:solidFill>
          </a:ln>
        </p:spPr>
        <p:txBody>
          <a:bodyPr wrap="square" rtlCol="0">
            <a:spAutoFit/>
          </a:bodyPr>
          <a:lstStyle/>
          <a:p>
            <a:r>
              <a:rPr lang="es-ES" b="1" dirty="0" err="1"/>
              <a:t>C23</a:t>
            </a:r>
            <a:endParaRPr lang="es-PE" b="1" dirty="0"/>
          </a:p>
        </p:txBody>
      </p:sp>
      <p:sp>
        <p:nvSpPr>
          <p:cNvPr id="16" name="CuadroTexto 15">
            <a:extLst>
              <a:ext uri="{FF2B5EF4-FFF2-40B4-BE49-F238E27FC236}">
                <a16:creationId xmlns:a16="http://schemas.microsoft.com/office/drawing/2014/main" id="{558BF70B-244C-4FD2-A237-4A924548F8B1}"/>
              </a:ext>
            </a:extLst>
          </p:cNvPr>
          <p:cNvSpPr txBox="1"/>
          <p:nvPr/>
        </p:nvSpPr>
        <p:spPr>
          <a:xfrm>
            <a:off x="10817524" y="4744529"/>
            <a:ext cx="552091" cy="369332"/>
          </a:xfrm>
          <a:prstGeom prst="rect">
            <a:avLst/>
          </a:prstGeom>
          <a:noFill/>
          <a:ln>
            <a:solidFill>
              <a:schemeClr val="accent2">
                <a:lumMod val="75000"/>
              </a:schemeClr>
            </a:solidFill>
          </a:ln>
        </p:spPr>
        <p:txBody>
          <a:bodyPr wrap="square" rtlCol="0">
            <a:spAutoFit/>
          </a:bodyPr>
          <a:lstStyle/>
          <a:p>
            <a:r>
              <a:rPr lang="es-ES" b="1" dirty="0" err="1"/>
              <a:t>C33</a:t>
            </a:r>
            <a:endParaRPr lang="es-PE" b="1" dirty="0"/>
          </a:p>
        </p:txBody>
      </p:sp>
      <p:sp>
        <p:nvSpPr>
          <p:cNvPr id="17" name="CuadroTexto 16">
            <a:extLst>
              <a:ext uri="{FF2B5EF4-FFF2-40B4-BE49-F238E27FC236}">
                <a16:creationId xmlns:a16="http://schemas.microsoft.com/office/drawing/2014/main" id="{EE38C9AF-8A63-4D66-9ADC-4DFAD2BB21A0}"/>
              </a:ext>
            </a:extLst>
          </p:cNvPr>
          <p:cNvSpPr txBox="1"/>
          <p:nvPr/>
        </p:nvSpPr>
        <p:spPr>
          <a:xfrm>
            <a:off x="9831238" y="4750279"/>
            <a:ext cx="552091" cy="369332"/>
          </a:xfrm>
          <a:prstGeom prst="rect">
            <a:avLst/>
          </a:prstGeom>
          <a:noFill/>
          <a:ln>
            <a:solidFill>
              <a:schemeClr val="accent2">
                <a:lumMod val="75000"/>
              </a:schemeClr>
            </a:solidFill>
          </a:ln>
        </p:spPr>
        <p:txBody>
          <a:bodyPr wrap="square" rtlCol="0">
            <a:spAutoFit/>
          </a:bodyPr>
          <a:lstStyle/>
          <a:p>
            <a:r>
              <a:rPr lang="es-ES" b="1" dirty="0" err="1"/>
              <a:t>C32</a:t>
            </a:r>
            <a:endParaRPr lang="es-PE" b="1" dirty="0"/>
          </a:p>
        </p:txBody>
      </p:sp>
      <p:sp>
        <p:nvSpPr>
          <p:cNvPr id="18" name="CuadroTexto 17">
            <a:extLst>
              <a:ext uri="{FF2B5EF4-FFF2-40B4-BE49-F238E27FC236}">
                <a16:creationId xmlns:a16="http://schemas.microsoft.com/office/drawing/2014/main" id="{11886D80-83B3-4221-8AF7-A133EF3E653E}"/>
              </a:ext>
            </a:extLst>
          </p:cNvPr>
          <p:cNvSpPr txBox="1"/>
          <p:nvPr/>
        </p:nvSpPr>
        <p:spPr>
          <a:xfrm>
            <a:off x="8879456" y="3781245"/>
            <a:ext cx="552091" cy="369332"/>
          </a:xfrm>
          <a:prstGeom prst="rect">
            <a:avLst/>
          </a:prstGeom>
          <a:noFill/>
          <a:ln>
            <a:solidFill>
              <a:schemeClr val="accent2">
                <a:lumMod val="75000"/>
              </a:schemeClr>
            </a:solidFill>
          </a:ln>
        </p:spPr>
        <p:txBody>
          <a:bodyPr wrap="square" rtlCol="0">
            <a:spAutoFit/>
          </a:bodyPr>
          <a:lstStyle/>
          <a:p>
            <a:r>
              <a:rPr lang="es-ES" b="1" dirty="0" err="1"/>
              <a:t>C21</a:t>
            </a:r>
            <a:endParaRPr lang="es-PE" b="1" dirty="0"/>
          </a:p>
        </p:txBody>
      </p:sp>
      <p:sp>
        <p:nvSpPr>
          <p:cNvPr id="19" name="CuadroTexto 18">
            <a:extLst>
              <a:ext uri="{FF2B5EF4-FFF2-40B4-BE49-F238E27FC236}">
                <a16:creationId xmlns:a16="http://schemas.microsoft.com/office/drawing/2014/main" id="{83B17E79-C298-4949-A268-F1935FB7F2BD}"/>
              </a:ext>
            </a:extLst>
          </p:cNvPr>
          <p:cNvSpPr txBox="1"/>
          <p:nvPr/>
        </p:nvSpPr>
        <p:spPr>
          <a:xfrm>
            <a:off x="8876581" y="4735903"/>
            <a:ext cx="552091" cy="369332"/>
          </a:xfrm>
          <a:prstGeom prst="rect">
            <a:avLst/>
          </a:prstGeom>
          <a:noFill/>
          <a:ln>
            <a:solidFill>
              <a:schemeClr val="accent2">
                <a:lumMod val="75000"/>
              </a:schemeClr>
            </a:solidFill>
          </a:ln>
        </p:spPr>
        <p:txBody>
          <a:bodyPr wrap="square" rtlCol="0">
            <a:spAutoFit/>
          </a:bodyPr>
          <a:lstStyle/>
          <a:p>
            <a:r>
              <a:rPr lang="es-ES" b="1" dirty="0" err="1"/>
              <a:t>C31</a:t>
            </a:r>
            <a:endParaRPr lang="es-PE" b="1" dirty="0"/>
          </a:p>
        </p:txBody>
      </p:sp>
      <p:sp>
        <p:nvSpPr>
          <p:cNvPr id="20" name="Rectángulo 19">
            <a:extLst>
              <a:ext uri="{FF2B5EF4-FFF2-40B4-BE49-F238E27FC236}">
                <a16:creationId xmlns:a16="http://schemas.microsoft.com/office/drawing/2014/main" id="{F3048548-53BE-4E01-996A-FBD7406B71FB}"/>
              </a:ext>
            </a:extLst>
          </p:cNvPr>
          <p:cNvSpPr/>
          <p:nvPr/>
        </p:nvSpPr>
        <p:spPr>
          <a:xfrm>
            <a:off x="986287" y="5473780"/>
            <a:ext cx="5109713" cy="830997"/>
          </a:xfrm>
          <a:prstGeom prst="rect">
            <a:avLst/>
          </a:prstGeom>
          <a:solidFill>
            <a:schemeClr val="accent1">
              <a:lumMod val="40000"/>
              <a:lumOff val="60000"/>
            </a:schemeClr>
          </a:solidFill>
        </p:spPr>
        <p:txBody>
          <a:bodyPr vert="horz" lIns="91440" tIns="45720" rIns="91440" bIns="45720" rtlCol="0">
            <a:noAutofit/>
          </a:bodyPr>
          <a:lstStyle/>
          <a:p>
            <a:pPr algn="just">
              <a:lnSpc>
                <a:spcPct val="90000"/>
              </a:lnSpc>
              <a:spcBef>
                <a:spcPts val="1000"/>
              </a:spcBef>
              <a:spcAft>
                <a:spcPts val="1000"/>
              </a:spcAft>
            </a:pPr>
            <a:r>
              <a:rPr lang="es-PE" sz="2400" b="1" dirty="0">
                <a:latin typeface="Arial Narrow" panose="020B0606020202030204" pitchFamily="34" charset="0"/>
                <a:cs typeface="Times New Roman" panose="02020603050405020304" pitchFamily="18" charset="0"/>
              </a:rPr>
              <a:t>El costo de “asignar” al trabajador i la Tarea j es </a:t>
            </a:r>
            <a:r>
              <a:rPr lang="es-PE" sz="2400" b="1" dirty="0" err="1">
                <a:latin typeface="Arial Narrow" panose="020B0606020202030204" pitchFamily="34" charset="0"/>
                <a:cs typeface="Times New Roman" panose="02020603050405020304" pitchFamily="18" charset="0"/>
              </a:rPr>
              <a:t>Cij</a:t>
            </a:r>
            <a:r>
              <a:rPr lang="es-PE" sz="2400" b="1" dirty="0">
                <a:latin typeface="Arial Narrow" panose="020B0606020202030204" pitchFamily="34" charset="0"/>
                <a:cs typeface="Times New Roman" panose="02020603050405020304" pitchFamily="18" charset="0"/>
              </a:rPr>
              <a:t>. </a:t>
            </a:r>
          </a:p>
        </p:txBody>
      </p:sp>
      <p:sp>
        <p:nvSpPr>
          <p:cNvPr id="21" name="Rectángulo 20">
            <a:extLst>
              <a:ext uri="{FF2B5EF4-FFF2-40B4-BE49-F238E27FC236}">
                <a16:creationId xmlns:a16="http://schemas.microsoft.com/office/drawing/2014/main" id="{1895DE76-4AEC-4E98-9C95-64C4426734CD}"/>
              </a:ext>
            </a:extLst>
          </p:cNvPr>
          <p:cNvSpPr/>
          <p:nvPr/>
        </p:nvSpPr>
        <p:spPr>
          <a:xfrm>
            <a:off x="993058" y="4515228"/>
            <a:ext cx="5102942" cy="830997"/>
          </a:xfrm>
          <a:prstGeom prst="rect">
            <a:avLst/>
          </a:prstGeom>
          <a:solidFill>
            <a:schemeClr val="accent1">
              <a:lumMod val="40000"/>
              <a:lumOff val="60000"/>
            </a:schemeClr>
          </a:solidFill>
        </p:spPr>
        <p:txBody>
          <a:bodyPr vert="horz" lIns="91440" tIns="45720" rIns="91440" bIns="45720" rtlCol="0">
            <a:noAutofit/>
          </a:bodyPr>
          <a:lstStyle/>
          <a:p>
            <a:pPr algn="just">
              <a:lnSpc>
                <a:spcPct val="90000"/>
              </a:lnSpc>
              <a:spcBef>
                <a:spcPts val="1000"/>
              </a:spcBef>
              <a:spcAft>
                <a:spcPts val="1000"/>
              </a:spcAft>
            </a:pPr>
            <a:r>
              <a:rPr lang="es-PE" sz="2400" b="1" dirty="0">
                <a:latin typeface="Arial Narrow" panose="020B0606020202030204" pitchFamily="34" charset="0"/>
                <a:cs typeface="Times New Roman" panose="02020603050405020304" pitchFamily="18" charset="0"/>
              </a:rPr>
              <a:t>La demanda requerida en cada destino es 1; esto es </a:t>
            </a:r>
            <a:r>
              <a:rPr lang="es-PE" sz="2400" b="1" dirty="0" err="1">
                <a:latin typeface="Arial Narrow" panose="020B0606020202030204" pitchFamily="34" charset="0"/>
                <a:cs typeface="Times New Roman" panose="02020603050405020304" pitchFamily="18" charset="0"/>
              </a:rPr>
              <a:t>bj</a:t>
            </a:r>
            <a:r>
              <a:rPr lang="es-PE" sz="2400" b="1" dirty="0">
                <a:latin typeface="Arial Narrow" panose="020B0606020202030204" pitchFamily="34" charset="0"/>
                <a:cs typeface="Times New Roman" panose="02020603050405020304" pitchFamily="18" charset="0"/>
              </a:rPr>
              <a:t>=1 para toda j. </a:t>
            </a:r>
          </a:p>
        </p:txBody>
      </p:sp>
      <p:sp>
        <p:nvSpPr>
          <p:cNvPr id="22" name="Rectángulo 21">
            <a:extLst>
              <a:ext uri="{FF2B5EF4-FFF2-40B4-BE49-F238E27FC236}">
                <a16:creationId xmlns:a16="http://schemas.microsoft.com/office/drawing/2014/main" id="{DE04A9F3-5DB8-4F3E-A54C-CF940FF48196}"/>
              </a:ext>
            </a:extLst>
          </p:cNvPr>
          <p:cNvSpPr/>
          <p:nvPr/>
        </p:nvSpPr>
        <p:spPr>
          <a:xfrm>
            <a:off x="993058" y="3556676"/>
            <a:ext cx="5102942" cy="830997"/>
          </a:xfrm>
          <a:prstGeom prst="rect">
            <a:avLst/>
          </a:prstGeom>
          <a:solidFill>
            <a:schemeClr val="accent1">
              <a:lumMod val="40000"/>
              <a:lumOff val="60000"/>
            </a:schemeClr>
          </a:solidFill>
        </p:spPr>
        <p:txBody>
          <a:bodyPr vert="horz" lIns="91440" tIns="45720" rIns="91440" bIns="45720" rtlCol="0">
            <a:noAutofit/>
          </a:bodyPr>
          <a:lstStyle/>
          <a:p>
            <a:pPr algn="just">
              <a:lnSpc>
                <a:spcPct val="90000"/>
              </a:lnSpc>
              <a:spcBef>
                <a:spcPts val="1000"/>
              </a:spcBef>
              <a:spcAft>
                <a:spcPts val="1000"/>
              </a:spcAft>
            </a:pPr>
            <a:r>
              <a:rPr lang="es-PE" sz="2400" b="1" dirty="0">
                <a:latin typeface="Arial Narrow" panose="020B0606020202030204" pitchFamily="34" charset="0"/>
                <a:cs typeface="Times New Roman" panose="02020603050405020304" pitchFamily="18" charset="0"/>
              </a:rPr>
              <a:t>La oferta disponible en cada origen es 1; es decir, </a:t>
            </a:r>
            <a:r>
              <a:rPr lang="es-PE" sz="2400" b="1" dirty="0" err="1">
                <a:latin typeface="Arial Narrow" panose="020B0606020202030204" pitchFamily="34" charset="0"/>
                <a:cs typeface="Times New Roman" panose="02020603050405020304" pitchFamily="18" charset="0"/>
              </a:rPr>
              <a:t>ai</a:t>
            </a:r>
            <a:r>
              <a:rPr lang="es-PE" sz="2400" b="1" dirty="0">
                <a:latin typeface="Arial Narrow" panose="020B0606020202030204" pitchFamily="34" charset="0"/>
                <a:cs typeface="Times New Roman" panose="02020603050405020304" pitchFamily="18" charset="0"/>
              </a:rPr>
              <a:t>=1 para toda i. </a:t>
            </a:r>
          </a:p>
        </p:txBody>
      </p:sp>
      <p:sp>
        <p:nvSpPr>
          <p:cNvPr id="23" name="Rectángulo 22">
            <a:extLst>
              <a:ext uri="{FF2B5EF4-FFF2-40B4-BE49-F238E27FC236}">
                <a16:creationId xmlns:a16="http://schemas.microsoft.com/office/drawing/2014/main" id="{DA2693EA-611C-4906-AA84-9A7B6281CD2E}"/>
              </a:ext>
            </a:extLst>
          </p:cNvPr>
          <p:cNvSpPr/>
          <p:nvPr/>
        </p:nvSpPr>
        <p:spPr>
          <a:xfrm>
            <a:off x="998483" y="2614360"/>
            <a:ext cx="5102941" cy="830997"/>
          </a:xfrm>
          <a:prstGeom prst="rect">
            <a:avLst/>
          </a:prstGeom>
          <a:solidFill>
            <a:schemeClr val="accent1">
              <a:lumMod val="40000"/>
              <a:lumOff val="60000"/>
            </a:schemeClr>
          </a:solidFill>
        </p:spPr>
        <p:txBody>
          <a:bodyPr vert="horz" lIns="91440" tIns="45720" rIns="91440" bIns="45720" rtlCol="0">
            <a:noAutofit/>
          </a:bodyPr>
          <a:lstStyle/>
          <a:p>
            <a:pPr algn="just">
              <a:lnSpc>
                <a:spcPct val="90000"/>
              </a:lnSpc>
              <a:spcBef>
                <a:spcPts val="1000"/>
              </a:spcBef>
              <a:spcAft>
                <a:spcPts val="1000"/>
              </a:spcAft>
            </a:pPr>
            <a:r>
              <a:rPr lang="es-PE" sz="2400" b="1" dirty="0">
                <a:latin typeface="Arial Narrow" panose="020B0606020202030204" pitchFamily="34" charset="0"/>
                <a:cs typeface="Times New Roman" panose="02020603050405020304" pitchFamily="18" charset="0"/>
              </a:rPr>
              <a:t>Los trabajadores representan “orígenes” y las Tareas representan “destinos”.</a:t>
            </a:r>
          </a:p>
        </p:txBody>
      </p:sp>
    </p:spTree>
    <p:extLst>
      <p:ext uri="{BB962C8B-B14F-4D97-AF65-F5344CB8AC3E}">
        <p14:creationId xmlns:p14="http://schemas.microsoft.com/office/powerpoint/2010/main" val="1534000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
            <a:extLst>
              <a:ext uri="{FF2B5EF4-FFF2-40B4-BE49-F238E27FC236}">
                <a16:creationId xmlns:a16="http://schemas.microsoft.com/office/drawing/2014/main" id="{2797D851-4978-4FBE-99A8-80002969489C}"/>
              </a:ext>
            </a:extLst>
          </p:cNvPr>
          <p:cNvSpPr txBox="1">
            <a:spLocks noChangeArrowheads="1"/>
          </p:cNvSpPr>
          <p:nvPr/>
        </p:nvSpPr>
        <p:spPr bwMode="auto">
          <a:xfrm>
            <a:off x="6096000" y="200991"/>
            <a:ext cx="6096000" cy="584775"/>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ctr">
              <a:spcBef>
                <a:spcPct val="0"/>
              </a:spcBef>
              <a:buNone/>
              <a:defRPr sz="3200" b="0">
                <a:solidFill>
                  <a:schemeClr val="bg1"/>
                </a:solidFill>
                <a:latin typeface="Bauhaus 93" pitchFamily="82" charset="0"/>
              </a:defRPr>
            </a:lvl1pPr>
          </a:lstStyle>
          <a:p>
            <a:r>
              <a:rPr lang="es-ES_tradnl" dirty="0"/>
              <a:t>Modelo de asignación</a:t>
            </a:r>
          </a:p>
        </p:txBody>
      </p:sp>
      <p:pic>
        <p:nvPicPr>
          <p:cNvPr id="8" name="Imagen 7">
            <a:extLst>
              <a:ext uri="{FF2B5EF4-FFF2-40B4-BE49-F238E27FC236}">
                <a16:creationId xmlns:a16="http://schemas.microsoft.com/office/drawing/2014/main" id="{8A9D121F-B2E2-4814-98AC-4A88CDD16A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9442" y="1802297"/>
            <a:ext cx="4335501" cy="958156"/>
          </a:xfrm>
          <a:prstGeom prst="rect">
            <a:avLst/>
          </a:prstGeom>
        </p:spPr>
      </p:pic>
      <p:sp>
        <p:nvSpPr>
          <p:cNvPr id="9" name="CuadroTexto 8">
            <a:extLst>
              <a:ext uri="{FF2B5EF4-FFF2-40B4-BE49-F238E27FC236}">
                <a16:creationId xmlns:a16="http://schemas.microsoft.com/office/drawing/2014/main" id="{56086A9B-0911-4CF3-88BC-C1A0AE2737D2}"/>
              </a:ext>
            </a:extLst>
          </p:cNvPr>
          <p:cNvSpPr txBox="1"/>
          <p:nvPr/>
        </p:nvSpPr>
        <p:spPr>
          <a:xfrm>
            <a:off x="343727" y="2855343"/>
            <a:ext cx="5479103" cy="3209027"/>
          </a:xfrm>
          <a:prstGeom prst="rect">
            <a:avLst/>
          </a:prstGeom>
        </p:spPr>
        <p:txBody>
          <a:bodyPr vert="horz" lIns="91440" tIns="45720" rIns="91440" bIns="45720" rtlCol="0">
            <a:noAutofit/>
          </a:bodyPr>
          <a:lstStyle>
            <a:defPPr>
              <a:defRPr lang="es-PE"/>
            </a:defPPr>
            <a:lvl1pPr marL="228600" indent="-228600" algn="just">
              <a:lnSpc>
                <a:spcPct val="90000"/>
              </a:lnSpc>
              <a:spcBef>
                <a:spcPts val="1000"/>
              </a:spcBef>
              <a:spcAft>
                <a:spcPts val="1000"/>
              </a:spcAft>
              <a:buFont typeface="Arial" panose="020B0604020202020204" pitchFamily="34" charset="0"/>
              <a:buChar char="•"/>
              <a:defRPr sz="2000" b="1">
                <a:latin typeface="Tahoma" panose="020B0604030504040204" pitchFamily="34" charset="0"/>
                <a:cs typeface="Times New Roman" panose="02020603050405020304" pitchFamily="18"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indent="0">
              <a:buNone/>
            </a:pPr>
            <a:r>
              <a:rPr lang="es-PE" dirty="0">
                <a:solidFill>
                  <a:srgbClr val="FF0000"/>
                </a:solidFill>
              </a:rPr>
              <a:t>Identificación de las variables</a:t>
            </a:r>
          </a:p>
          <a:p>
            <a:pPr marL="0" indent="0">
              <a:buNone/>
            </a:pPr>
            <a:r>
              <a:rPr lang="es-PE" dirty="0"/>
              <a:t>	        </a:t>
            </a:r>
            <a:r>
              <a:rPr lang="es-PE" dirty="0">
                <a:solidFill>
                  <a:srgbClr val="FF0000"/>
                </a:solidFill>
              </a:rPr>
              <a:t>0</a:t>
            </a:r>
            <a:r>
              <a:rPr lang="es-PE" dirty="0"/>
              <a:t>, si al i-</a:t>
            </a:r>
            <a:r>
              <a:rPr lang="es-PE" dirty="0" err="1"/>
              <a:t>ésimo</a:t>
            </a:r>
            <a:r>
              <a:rPr lang="es-PE" dirty="0"/>
              <a:t> trabajador no</a:t>
            </a:r>
          </a:p>
          <a:p>
            <a:pPr marL="1371600" lvl="3" indent="0">
              <a:buNone/>
            </a:pPr>
            <a:r>
              <a:rPr lang="es-PE" dirty="0"/>
              <a:t>       </a:t>
            </a:r>
            <a:r>
              <a:rPr lang="es-PE" sz="2000" b="1" dirty="0">
                <a:latin typeface="Tahoma" panose="020B0604030504040204" pitchFamily="34" charset="0"/>
                <a:cs typeface="Times New Roman" panose="02020603050405020304" pitchFamily="18" charset="0"/>
              </a:rPr>
              <a:t>se asigna a la j-</a:t>
            </a:r>
            <a:r>
              <a:rPr lang="es-PE" sz="2000" b="1" dirty="0" err="1">
                <a:latin typeface="Tahoma" panose="020B0604030504040204" pitchFamily="34" charset="0"/>
                <a:cs typeface="Times New Roman" panose="02020603050405020304" pitchFamily="18" charset="0"/>
              </a:rPr>
              <a:t>ésima</a:t>
            </a:r>
            <a:r>
              <a:rPr lang="es-PE" sz="2000" b="1" dirty="0">
                <a:latin typeface="Tahoma" panose="020B0604030504040204" pitchFamily="34" charset="0"/>
                <a:cs typeface="Times New Roman" panose="02020603050405020304" pitchFamily="18" charset="0"/>
              </a:rPr>
              <a:t> Tarea</a:t>
            </a:r>
          </a:p>
          <a:p>
            <a:pPr marL="0" indent="0">
              <a:buNone/>
            </a:pPr>
            <a:r>
              <a:rPr lang="es-PE" dirty="0" err="1"/>
              <a:t>Xij</a:t>
            </a:r>
            <a:r>
              <a:rPr lang="es-PE" dirty="0"/>
              <a:t>  =  </a:t>
            </a:r>
          </a:p>
          <a:p>
            <a:pPr marL="0" indent="0">
              <a:buNone/>
            </a:pPr>
            <a:r>
              <a:rPr lang="es-PE" dirty="0"/>
              <a:t>	        </a:t>
            </a:r>
            <a:r>
              <a:rPr lang="es-PE" dirty="0">
                <a:solidFill>
                  <a:srgbClr val="FF0000"/>
                </a:solidFill>
              </a:rPr>
              <a:t>1</a:t>
            </a:r>
            <a:r>
              <a:rPr lang="es-PE" dirty="0"/>
              <a:t>,  si al i-</a:t>
            </a:r>
            <a:r>
              <a:rPr lang="es-PE" dirty="0" err="1"/>
              <a:t>ésimo</a:t>
            </a:r>
            <a:r>
              <a:rPr lang="es-PE" dirty="0"/>
              <a:t> trabajador se</a:t>
            </a:r>
          </a:p>
          <a:p>
            <a:pPr marL="0" indent="0">
              <a:buNone/>
            </a:pPr>
            <a:r>
              <a:rPr lang="es-PE" dirty="0"/>
              <a:t>                         asigna a la j-</a:t>
            </a:r>
            <a:r>
              <a:rPr lang="es-PE" dirty="0" err="1"/>
              <a:t>ésima</a:t>
            </a:r>
            <a:r>
              <a:rPr lang="es-PE" dirty="0"/>
              <a:t> Tarea</a:t>
            </a:r>
          </a:p>
        </p:txBody>
      </p:sp>
      <p:sp>
        <p:nvSpPr>
          <p:cNvPr id="10" name="Abrir llave 9">
            <a:extLst>
              <a:ext uri="{FF2B5EF4-FFF2-40B4-BE49-F238E27FC236}">
                <a16:creationId xmlns:a16="http://schemas.microsoft.com/office/drawing/2014/main" id="{89C50A2B-2A0A-4DDB-9B05-02779C5C8885}"/>
              </a:ext>
            </a:extLst>
          </p:cNvPr>
          <p:cNvSpPr/>
          <p:nvPr/>
        </p:nvSpPr>
        <p:spPr>
          <a:xfrm>
            <a:off x="1282338" y="3214618"/>
            <a:ext cx="632592" cy="2398143"/>
          </a:xfrm>
          <a:prstGeom prst="lef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PE"/>
          </a:p>
        </p:txBody>
      </p:sp>
      <p:sp>
        <p:nvSpPr>
          <p:cNvPr id="5" name="Rectángulo 4">
            <a:extLst>
              <a:ext uri="{FF2B5EF4-FFF2-40B4-BE49-F238E27FC236}">
                <a16:creationId xmlns:a16="http://schemas.microsoft.com/office/drawing/2014/main" id="{98D4B9E7-452C-4B16-AF53-CDACE6D59909}"/>
              </a:ext>
            </a:extLst>
          </p:cNvPr>
          <p:cNvSpPr/>
          <p:nvPr/>
        </p:nvSpPr>
        <p:spPr>
          <a:xfrm>
            <a:off x="6295344" y="1303391"/>
            <a:ext cx="4971233" cy="400110"/>
          </a:xfrm>
          <a:prstGeom prst="rect">
            <a:avLst/>
          </a:prstGeom>
        </p:spPr>
        <p:txBody>
          <a:bodyPr wrap="none">
            <a:spAutoFit/>
          </a:bodyPr>
          <a:lstStyle/>
          <a:p>
            <a:r>
              <a:rPr lang="es-PE" sz="2000" b="1" dirty="0">
                <a:solidFill>
                  <a:srgbClr val="FF0000"/>
                </a:solidFill>
                <a:latin typeface="Tahoma" panose="020B0604030504040204" pitchFamily="34" charset="0"/>
                <a:cs typeface="Times New Roman" panose="02020603050405020304" pitchFamily="18" charset="0"/>
              </a:rPr>
              <a:t>Identificación de la Función objetivo</a:t>
            </a:r>
          </a:p>
        </p:txBody>
      </p:sp>
      <p:pic>
        <p:nvPicPr>
          <p:cNvPr id="11" name="Imagen 10">
            <a:extLst>
              <a:ext uri="{FF2B5EF4-FFF2-40B4-BE49-F238E27FC236}">
                <a16:creationId xmlns:a16="http://schemas.microsoft.com/office/drawing/2014/main" id="{E6D4B97F-7E2D-4B4F-A2C6-39FF0BA884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1570" y="3269410"/>
            <a:ext cx="4871069" cy="3148643"/>
          </a:xfrm>
          <a:prstGeom prst="rect">
            <a:avLst/>
          </a:prstGeom>
        </p:spPr>
      </p:pic>
      <p:sp>
        <p:nvSpPr>
          <p:cNvPr id="14" name="Rectángulo 13">
            <a:extLst>
              <a:ext uri="{FF2B5EF4-FFF2-40B4-BE49-F238E27FC236}">
                <a16:creationId xmlns:a16="http://schemas.microsoft.com/office/drawing/2014/main" id="{2BA4FBB0-74CB-4FAF-9A31-984C60CF1E02}"/>
              </a:ext>
            </a:extLst>
          </p:cNvPr>
          <p:cNvSpPr/>
          <p:nvPr/>
        </p:nvSpPr>
        <p:spPr>
          <a:xfrm>
            <a:off x="6275215" y="3028890"/>
            <a:ext cx="4507965" cy="400110"/>
          </a:xfrm>
          <a:prstGeom prst="rect">
            <a:avLst/>
          </a:prstGeom>
        </p:spPr>
        <p:txBody>
          <a:bodyPr wrap="none">
            <a:spAutoFit/>
          </a:bodyPr>
          <a:lstStyle/>
          <a:p>
            <a:r>
              <a:rPr lang="es-PE" sz="2000" b="1" dirty="0">
                <a:solidFill>
                  <a:srgbClr val="FF0000"/>
                </a:solidFill>
                <a:latin typeface="Tahoma" panose="020B0604030504040204" pitchFamily="34" charset="0"/>
                <a:cs typeface="Times New Roman" panose="02020603050405020304" pitchFamily="18" charset="0"/>
              </a:rPr>
              <a:t>Identificación de las restricciones</a:t>
            </a:r>
          </a:p>
        </p:txBody>
      </p:sp>
      <p:sp>
        <p:nvSpPr>
          <p:cNvPr id="15" name="Rectángulo 14">
            <a:extLst>
              <a:ext uri="{FF2B5EF4-FFF2-40B4-BE49-F238E27FC236}">
                <a16:creationId xmlns:a16="http://schemas.microsoft.com/office/drawing/2014/main" id="{72D2A7EE-F702-4319-82DC-C465B2D18CE0}"/>
              </a:ext>
            </a:extLst>
          </p:cNvPr>
          <p:cNvSpPr/>
          <p:nvPr/>
        </p:nvSpPr>
        <p:spPr>
          <a:xfrm>
            <a:off x="157655" y="1354195"/>
            <a:ext cx="5938345" cy="1157777"/>
          </a:xfrm>
          <a:prstGeom prst="rect">
            <a:avLst/>
          </a:prstGeom>
          <a:solidFill>
            <a:schemeClr val="accent1">
              <a:lumMod val="40000"/>
              <a:lumOff val="60000"/>
            </a:schemeClr>
          </a:solidFill>
        </p:spPr>
        <p:txBody>
          <a:bodyPr vert="horz" lIns="91440" tIns="45720" rIns="91440" bIns="45720" rtlCol="0">
            <a:noAutofit/>
          </a:bodyPr>
          <a:lstStyle/>
          <a:p>
            <a:pPr algn="just">
              <a:lnSpc>
                <a:spcPct val="90000"/>
              </a:lnSpc>
              <a:spcBef>
                <a:spcPts val="1000"/>
              </a:spcBef>
              <a:spcAft>
                <a:spcPts val="1000"/>
              </a:spcAft>
            </a:pPr>
            <a:r>
              <a:rPr lang="es-PE" sz="2400" b="1" dirty="0">
                <a:latin typeface="Arial Narrow" panose="020B0606020202030204" pitchFamily="34" charset="0"/>
                <a:cs typeface="Times New Roman" panose="02020603050405020304" pitchFamily="18" charset="0"/>
              </a:rPr>
              <a:t>Antes de resolver un modelo, es necesario balancear el problema añadiendo trabajadores o Tareas ficticios. Por lo tanto, m=n</a:t>
            </a:r>
          </a:p>
        </p:txBody>
      </p:sp>
    </p:spTree>
    <p:extLst>
      <p:ext uri="{BB962C8B-B14F-4D97-AF65-F5344CB8AC3E}">
        <p14:creationId xmlns:p14="http://schemas.microsoft.com/office/powerpoint/2010/main" val="2850246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5"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999656" y="692696"/>
            <a:ext cx="6048672" cy="490066"/>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r>
              <a:rPr lang="es-ES" sz="3200" dirty="0">
                <a:solidFill>
                  <a:schemeClr val="bg1"/>
                </a:solidFill>
                <a:latin typeface="Bauhaus 93" pitchFamily="82" charset="0"/>
                <a:ea typeface="+mn-ea"/>
                <a:cs typeface="+mn-cs"/>
              </a:rPr>
              <a:t>Problema N°1</a:t>
            </a:r>
            <a:endParaRPr lang="es-PE" sz="3200" dirty="0">
              <a:solidFill>
                <a:schemeClr val="bg1"/>
              </a:solidFill>
              <a:latin typeface="Bauhaus 93" pitchFamily="82" charset="0"/>
              <a:ea typeface="+mn-ea"/>
              <a:cs typeface="+mn-cs"/>
            </a:endParaRPr>
          </a:p>
        </p:txBody>
      </p:sp>
      <p:sp>
        <p:nvSpPr>
          <p:cNvPr id="6" name="Text Box 12">
            <a:extLst>
              <a:ext uri="{FF2B5EF4-FFF2-40B4-BE49-F238E27FC236}">
                <a16:creationId xmlns:a16="http://schemas.microsoft.com/office/drawing/2014/main" id="{F89E8796-3C6C-4342-8160-709EF3DF2717}"/>
              </a:ext>
            </a:extLst>
          </p:cNvPr>
          <p:cNvSpPr txBox="1">
            <a:spLocks noChangeArrowheads="1"/>
          </p:cNvSpPr>
          <p:nvPr/>
        </p:nvSpPr>
        <p:spPr bwMode="auto">
          <a:xfrm>
            <a:off x="6096000" y="200991"/>
            <a:ext cx="6096000" cy="584775"/>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ctr">
              <a:spcBef>
                <a:spcPct val="0"/>
              </a:spcBef>
              <a:buNone/>
              <a:defRPr sz="3200" b="0">
                <a:solidFill>
                  <a:schemeClr val="bg1"/>
                </a:solidFill>
                <a:latin typeface="Bauhaus 93" pitchFamily="82" charset="0"/>
              </a:defRPr>
            </a:lvl1pPr>
          </a:lstStyle>
          <a:p>
            <a:r>
              <a:rPr lang="es-ES_tradnl" dirty="0"/>
              <a:t>Problema 1</a:t>
            </a:r>
          </a:p>
        </p:txBody>
      </p:sp>
      <p:sp>
        <p:nvSpPr>
          <p:cNvPr id="7" name="TextShape 2">
            <a:extLst>
              <a:ext uri="{FF2B5EF4-FFF2-40B4-BE49-F238E27FC236}">
                <a16:creationId xmlns:a16="http://schemas.microsoft.com/office/drawing/2014/main" id="{EB75EF0E-A303-477C-8418-552857C48049}"/>
              </a:ext>
            </a:extLst>
          </p:cNvPr>
          <p:cNvSpPr txBox="1"/>
          <p:nvPr/>
        </p:nvSpPr>
        <p:spPr>
          <a:xfrm>
            <a:off x="6357670" y="1214640"/>
            <a:ext cx="5268273" cy="1166251"/>
          </a:xfrm>
          <a:prstGeom prst="rect">
            <a:avLst/>
          </a:prstGeom>
          <a:solidFill>
            <a:schemeClr val="accent4">
              <a:lumMod val="40000"/>
              <a:lumOff val="60000"/>
            </a:schemeClr>
          </a:solidFill>
          <a:ln w="9360">
            <a:noFill/>
          </a:ln>
        </p:spPr>
        <p:txBody>
          <a:bodyPr>
            <a:noAutofit/>
          </a:bodyPr>
          <a:lstStyle/>
          <a:p>
            <a:pPr marL="343080" indent="-342720"/>
            <a:r>
              <a:rPr lang="es-ES" sz="2400" b="1" spc="-1" dirty="0">
                <a:solidFill>
                  <a:srgbClr val="FF0000"/>
                </a:solidFill>
                <a:latin typeface="Arial Narrow" panose="020B0606020202030204" pitchFamily="34" charset="0"/>
              </a:rPr>
              <a:t>I.	Identificación de variables. </a:t>
            </a:r>
          </a:p>
          <a:p>
            <a:pPr lvl="0"/>
            <a:r>
              <a:rPr lang="es-PE" sz="2400" dirty="0">
                <a:solidFill>
                  <a:schemeClr val="bg2">
                    <a:lumMod val="25000"/>
                  </a:schemeClr>
                </a:solidFill>
              </a:rPr>
              <a:t>     </a:t>
            </a:r>
            <a:r>
              <a:rPr lang="es-PE" sz="2400" dirty="0" err="1">
                <a:solidFill>
                  <a:schemeClr val="bg2">
                    <a:lumMod val="25000"/>
                  </a:schemeClr>
                </a:solidFill>
              </a:rPr>
              <a:t>Xij</a:t>
            </a:r>
            <a:r>
              <a:rPr lang="es-PE" sz="2400" dirty="0">
                <a:solidFill>
                  <a:schemeClr val="bg2">
                    <a:lumMod val="25000"/>
                  </a:schemeClr>
                </a:solidFill>
              </a:rPr>
              <a:t>=0 Al hijo i no se le asigna la tarea j</a:t>
            </a:r>
          </a:p>
          <a:p>
            <a:pPr lvl="0"/>
            <a:r>
              <a:rPr lang="es-PE" sz="2400" dirty="0">
                <a:solidFill>
                  <a:schemeClr val="bg2">
                    <a:lumMod val="25000"/>
                  </a:schemeClr>
                </a:solidFill>
              </a:rPr>
              <a:t>     </a:t>
            </a:r>
            <a:r>
              <a:rPr lang="es-PE" sz="2400" dirty="0" err="1">
                <a:solidFill>
                  <a:schemeClr val="bg2">
                    <a:lumMod val="25000"/>
                  </a:schemeClr>
                </a:solidFill>
              </a:rPr>
              <a:t>Xij</a:t>
            </a:r>
            <a:r>
              <a:rPr lang="es-PE" sz="2400" dirty="0">
                <a:solidFill>
                  <a:schemeClr val="bg2">
                    <a:lumMod val="25000"/>
                  </a:schemeClr>
                </a:solidFill>
              </a:rPr>
              <a:t>=1 Al hijo i se le asigna la tarea j</a:t>
            </a:r>
          </a:p>
          <a:p>
            <a:pPr marL="343080" indent="-342720"/>
            <a:endParaRPr lang="es-ES" sz="2400" b="1" spc="-1" dirty="0">
              <a:solidFill>
                <a:schemeClr val="accent1">
                  <a:lumMod val="75000"/>
                </a:schemeClr>
              </a:solidFill>
              <a:latin typeface="Arial Narrow" panose="020B0606020202030204" pitchFamily="34" charset="0"/>
            </a:endParaRPr>
          </a:p>
        </p:txBody>
      </p:sp>
      <p:sp>
        <p:nvSpPr>
          <p:cNvPr id="8" name="Rectángulo 7">
            <a:extLst>
              <a:ext uri="{FF2B5EF4-FFF2-40B4-BE49-F238E27FC236}">
                <a16:creationId xmlns:a16="http://schemas.microsoft.com/office/drawing/2014/main" id="{3C9BA5B6-4CDA-42EF-950A-131F216FBAFE}"/>
              </a:ext>
            </a:extLst>
          </p:cNvPr>
          <p:cNvSpPr/>
          <p:nvPr/>
        </p:nvSpPr>
        <p:spPr>
          <a:xfrm>
            <a:off x="6351913" y="3810348"/>
            <a:ext cx="5268273" cy="3046988"/>
          </a:xfrm>
          <a:prstGeom prst="rect">
            <a:avLst/>
          </a:prstGeom>
          <a:solidFill>
            <a:schemeClr val="accent4">
              <a:lumMod val="40000"/>
              <a:lumOff val="60000"/>
            </a:schemeClr>
          </a:solidFill>
        </p:spPr>
        <p:txBody>
          <a:bodyPr wrap="square">
            <a:spAutoFit/>
          </a:bodyPr>
          <a:lstStyle/>
          <a:p>
            <a:pPr marL="343080" indent="-342720"/>
            <a:r>
              <a:rPr lang="es-ES" sz="2400" b="1" spc="-1" dirty="0">
                <a:solidFill>
                  <a:srgbClr val="FF0000"/>
                </a:solidFill>
                <a:latin typeface="Arial Narrow" panose="020B0606020202030204" pitchFamily="34" charset="0"/>
              </a:rPr>
              <a:t>III	Identificación de Restricciones.</a:t>
            </a:r>
          </a:p>
          <a:p>
            <a:pPr lvl="0"/>
            <a:r>
              <a:rPr lang="es-ES" sz="2400" b="1" spc="-1" dirty="0">
                <a:solidFill>
                  <a:schemeClr val="accent1">
                    <a:lumMod val="75000"/>
                  </a:schemeClr>
                </a:solidFill>
                <a:latin typeface="Arial Narrow" panose="020B0606020202030204" pitchFamily="34" charset="0"/>
              </a:rPr>
              <a:t>		</a:t>
            </a:r>
            <a:r>
              <a:rPr lang="es-PE" sz="2400" dirty="0" err="1">
                <a:solidFill>
                  <a:srgbClr val="7030A0"/>
                </a:solidFill>
              </a:rPr>
              <a:t>X11+X12+X13</a:t>
            </a:r>
            <a:r>
              <a:rPr lang="es-PE" sz="2400" dirty="0">
                <a:solidFill>
                  <a:srgbClr val="7030A0"/>
                </a:solidFill>
              </a:rPr>
              <a:t>=1			</a:t>
            </a:r>
            <a:r>
              <a:rPr lang="es-PE" sz="2400" dirty="0" err="1">
                <a:solidFill>
                  <a:srgbClr val="7030A0"/>
                </a:solidFill>
              </a:rPr>
              <a:t>X21+X22+X23</a:t>
            </a:r>
            <a:r>
              <a:rPr lang="es-PE" sz="2400" dirty="0">
                <a:solidFill>
                  <a:srgbClr val="7030A0"/>
                </a:solidFill>
              </a:rPr>
              <a:t>=1 			</a:t>
            </a:r>
            <a:r>
              <a:rPr lang="es-PE" sz="2400" dirty="0" err="1">
                <a:solidFill>
                  <a:srgbClr val="7030A0"/>
                </a:solidFill>
              </a:rPr>
              <a:t>X31+X32+X33</a:t>
            </a:r>
            <a:r>
              <a:rPr lang="es-PE" sz="2400" dirty="0">
                <a:solidFill>
                  <a:srgbClr val="7030A0"/>
                </a:solidFill>
              </a:rPr>
              <a:t>=1 </a:t>
            </a:r>
            <a:r>
              <a:rPr lang="es-PE" sz="2400" dirty="0">
                <a:solidFill>
                  <a:schemeClr val="bg2">
                    <a:lumMod val="25000"/>
                  </a:schemeClr>
                </a:solidFill>
              </a:rPr>
              <a:t>			</a:t>
            </a:r>
            <a:r>
              <a:rPr lang="es-PE" sz="2400" dirty="0" err="1">
                <a:solidFill>
                  <a:schemeClr val="bg2">
                    <a:lumMod val="25000"/>
                  </a:schemeClr>
                </a:solidFill>
              </a:rPr>
              <a:t>X11+X21+X31</a:t>
            </a:r>
            <a:r>
              <a:rPr lang="es-PE" sz="2400" dirty="0">
                <a:solidFill>
                  <a:schemeClr val="bg2">
                    <a:lumMod val="25000"/>
                  </a:schemeClr>
                </a:solidFill>
              </a:rPr>
              <a:t>=1</a:t>
            </a:r>
          </a:p>
          <a:p>
            <a:pPr lvl="0"/>
            <a:r>
              <a:rPr lang="es-PE" sz="2400" dirty="0">
                <a:solidFill>
                  <a:schemeClr val="bg2">
                    <a:lumMod val="25000"/>
                  </a:schemeClr>
                </a:solidFill>
              </a:rPr>
              <a:t>		</a:t>
            </a:r>
            <a:r>
              <a:rPr lang="es-PE" sz="2400" dirty="0" err="1">
                <a:solidFill>
                  <a:schemeClr val="bg2">
                    <a:lumMod val="25000"/>
                  </a:schemeClr>
                </a:solidFill>
              </a:rPr>
              <a:t>X12+X22+X32</a:t>
            </a:r>
            <a:r>
              <a:rPr lang="es-PE" sz="2400" dirty="0">
                <a:solidFill>
                  <a:schemeClr val="bg2">
                    <a:lumMod val="25000"/>
                  </a:schemeClr>
                </a:solidFill>
              </a:rPr>
              <a:t>=1</a:t>
            </a:r>
          </a:p>
          <a:p>
            <a:pPr lvl="0"/>
            <a:r>
              <a:rPr lang="es-PE" sz="2400" dirty="0">
                <a:solidFill>
                  <a:schemeClr val="bg2">
                    <a:lumMod val="25000"/>
                  </a:schemeClr>
                </a:solidFill>
              </a:rPr>
              <a:t>		</a:t>
            </a:r>
            <a:r>
              <a:rPr lang="es-PE" sz="2400" dirty="0" err="1">
                <a:solidFill>
                  <a:schemeClr val="bg2">
                    <a:lumMod val="25000"/>
                  </a:schemeClr>
                </a:solidFill>
              </a:rPr>
              <a:t>X13+X23+X33</a:t>
            </a:r>
            <a:r>
              <a:rPr lang="es-PE" sz="2400" dirty="0">
                <a:solidFill>
                  <a:schemeClr val="bg2">
                    <a:lumMod val="25000"/>
                  </a:schemeClr>
                </a:solidFill>
              </a:rPr>
              <a:t>=1</a:t>
            </a:r>
          </a:p>
          <a:p>
            <a:pPr lvl="0"/>
            <a:r>
              <a:rPr lang="es-ES" sz="2400" dirty="0">
                <a:solidFill>
                  <a:schemeClr val="bg2">
                    <a:lumMod val="25000"/>
                  </a:schemeClr>
                </a:solidFill>
              </a:rPr>
              <a:t>			    </a:t>
            </a:r>
            <a:r>
              <a:rPr lang="es-ES" sz="2400" dirty="0" err="1">
                <a:solidFill>
                  <a:schemeClr val="bg2">
                    <a:lumMod val="25000"/>
                  </a:schemeClr>
                </a:solidFill>
              </a:rPr>
              <a:t>Xij</a:t>
            </a:r>
            <a:r>
              <a:rPr lang="es-ES" sz="2400" dirty="0">
                <a:solidFill>
                  <a:schemeClr val="bg2">
                    <a:lumMod val="25000"/>
                  </a:schemeClr>
                </a:solidFill>
              </a:rPr>
              <a:t> &gt;=0, </a:t>
            </a:r>
            <a:r>
              <a:rPr lang="es-ES" sz="2400" dirty="0">
                <a:solidFill>
                  <a:srgbClr val="FF0000"/>
                </a:solidFill>
              </a:rPr>
              <a:t>BINARIO</a:t>
            </a:r>
            <a:endParaRPr lang="es-PE" sz="2400" dirty="0">
              <a:solidFill>
                <a:srgbClr val="FF0000"/>
              </a:solidFill>
            </a:endParaRPr>
          </a:p>
        </p:txBody>
      </p:sp>
      <p:sp>
        <p:nvSpPr>
          <p:cNvPr id="9" name="Rectángulo 8">
            <a:extLst>
              <a:ext uri="{FF2B5EF4-FFF2-40B4-BE49-F238E27FC236}">
                <a16:creationId xmlns:a16="http://schemas.microsoft.com/office/drawing/2014/main" id="{F91290FA-B677-4ECF-9F51-F0608E5CE52A}"/>
              </a:ext>
            </a:extLst>
          </p:cNvPr>
          <p:cNvSpPr/>
          <p:nvPr/>
        </p:nvSpPr>
        <p:spPr>
          <a:xfrm>
            <a:off x="6351916" y="2342253"/>
            <a:ext cx="5274027" cy="1569660"/>
          </a:xfrm>
          <a:prstGeom prst="rect">
            <a:avLst/>
          </a:prstGeom>
          <a:solidFill>
            <a:schemeClr val="accent4">
              <a:lumMod val="40000"/>
              <a:lumOff val="60000"/>
            </a:schemeClr>
          </a:solidFill>
        </p:spPr>
        <p:txBody>
          <a:bodyPr wrap="square">
            <a:spAutoFit/>
          </a:bodyPr>
          <a:lstStyle/>
          <a:p>
            <a:pPr marL="343080" indent="-342720"/>
            <a:r>
              <a:rPr lang="es-ES" sz="2400" b="1" spc="-1" dirty="0">
                <a:solidFill>
                  <a:srgbClr val="FF0000"/>
                </a:solidFill>
                <a:latin typeface="Arial Narrow" panose="020B0606020202030204" pitchFamily="34" charset="0"/>
              </a:rPr>
              <a:t>II.	Identificación de la función objetivo.</a:t>
            </a:r>
          </a:p>
          <a:p>
            <a:pPr lvl="0"/>
            <a:r>
              <a:rPr lang="es-ES" sz="2400" b="1" spc="-1" dirty="0">
                <a:solidFill>
                  <a:schemeClr val="accent1">
                    <a:lumMod val="75000"/>
                  </a:schemeClr>
                </a:solidFill>
                <a:latin typeface="Arial Narrow" panose="020B0606020202030204" pitchFamily="34" charset="0"/>
              </a:rPr>
              <a:t>	</a:t>
            </a:r>
            <a:r>
              <a:rPr lang="es-PE" sz="2400" dirty="0">
                <a:solidFill>
                  <a:schemeClr val="bg2">
                    <a:lumMod val="25000"/>
                  </a:schemeClr>
                </a:solidFill>
              </a:rPr>
              <a:t>Min 	</a:t>
            </a:r>
            <a:r>
              <a:rPr lang="es-PE" sz="2400" dirty="0" err="1">
                <a:solidFill>
                  <a:schemeClr val="bg2">
                    <a:lumMod val="25000"/>
                  </a:schemeClr>
                </a:solidFill>
              </a:rPr>
              <a:t>13X11+14X12+11X13</a:t>
            </a:r>
            <a:r>
              <a:rPr lang="es-PE" sz="2400" dirty="0">
                <a:solidFill>
                  <a:schemeClr val="bg2">
                    <a:lumMod val="25000"/>
                  </a:schemeClr>
                </a:solidFill>
              </a:rPr>
              <a:t>+</a:t>
            </a:r>
            <a:endParaRPr lang="es-PE" sz="2400" b="1" dirty="0">
              <a:solidFill>
                <a:schemeClr val="bg2">
                  <a:lumMod val="25000"/>
                </a:schemeClr>
              </a:solidFill>
            </a:endParaRPr>
          </a:p>
          <a:p>
            <a:pPr lvl="1"/>
            <a:r>
              <a:rPr lang="es-PE" sz="2400" dirty="0">
                <a:solidFill>
                  <a:schemeClr val="bg2">
                    <a:lumMod val="25000"/>
                  </a:schemeClr>
                </a:solidFill>
              </a:rPr>
              <a:t>		</a:t>
            </a:r>
            <a:r>
              <a:rPr lang="es-PE" sz="2400" dirty="0" err="1">
                <a:solidFill>
                  <a:schemeClr val="bg2">
                    <a:lumMod val="25000"/>
                  </a:schemeClr>
                </a:solidFill>
              </a:rPr>
              <a:t>12X21+15X22+14X23</a:t>
            </a:r>
            <a:r>
              <a:rPr lang="es-PE" sz="2400" dirty="0">
                <a:solidFill>
                  <a:schemeClr val="bg2">
                    <a:lumMod val="25000"/>
                  </a:schemeClr>
                </a:solidFill>
              </a:rPr>
              <a:t>+</a:t>
            </a:r>
            <a:endParaRPr lang="es-PE" sz="2400" b="1" dirty="0">
              <a:solidFill>
                <a:schemeClr val="bg2">
                  <a:lumMod val="25000"/>
                </a:schemeClr>
              </a:solidFill>
            </a:endParaRPr>
          </a:p>
          <a:p>
            <a:pPr lvl="2"/>
            <a:r>
              <a:rPr lang="es-PE" sz="2400" dirty="0">
                <a:solidFill>
                  <a:schemeClr val="bg2">
                    <a:lumMod val="25000"/>
                  </a:schemeClr>
                </a:solidFill>
              </a:rPr>
              <a:t>	</a:t>
            </a:r>
            <a:r>
              <a:rPr lang="es-PE" sz="2400" dirty="0" err="1">
                <a:solidFill>
                  <a:schemeClr val="bg2">
                    <a:lumMod val="25000"/>
                  </a:schemeClr>
                </a:solidFill>
              </a:rPr>
              <a:t>13X31+16X32+12X33</a:t>
            </a:r>
            <a:endParaRPr lang="es-ES" sz="2400" b="1" spc="-1" dirty="0">
              <a:solidFill>
                <a:srgbClr val="FF0000"/>
              </a:solidFill>
              <a:latin typeface="Arial Narrow" panose="020B0606020202030204" pitchFamily="34" charset="0"/>
            </a:endParaRPr>
          </a:p>
        </p:txBody>
      </p:sp>
      <p:sp>
        <p:nvSpPr>
          <p:cNvPr id="12" name="2 Marcador de contenido">
            <a:extLst>
              <a:ext uri="{FF2B5EF4-FFF2-40B4-BE49-F238E27FC236}">
                <a16:creationId xmlns:a16="http://schemas.microsoft.com/office/drawing/2014/main" id="{AE43DDAD-296E-1726-8225-8D59E01A4DC7}"/>
              </a:ext>
            </a:extLst>
          </p:cNvPr>
          <p:cNvSpPr>
            <a:spLocks noGrp="1"/>
          </p:cNvSpPr>
          <p:nvPr>
            <p:ph idx="1"/>
          </p:nvPr>
        </p:nvSpPr>
        <p:spPr>
          <a:xfrm>
            <a:off x="0" y="1332781"/>
            <a:ext cx="6096000" cy="3083921"/>
          </a:xfrm>
          <a:solidFill>
            <a:schemeClr val="accent1">
              <a:lumMod val="40000"/>
              <a:lumOff val="60000"/>
            </a:schemeClr>
          </a:solidFill>
        </p:spPr>
        <p:txBody>
          <a:bodyPr wrap="square">
            <a:spAutoFit/>
          </a:bodyPr>
          <a:lstStyle/>
          <a:p>
            <a:pPr marL="0" indent="0" algn="just">
              <a:buNone/>
            </a:pPr>
            <a:r>
              <a:rPr lang="es-ES" sz="2400" b="1" dirty="0"/>
              <a:t>El Señor Klyne tiene tres hijos que estudian en la Universidad. Los hijos solicitan una propina para realizar un paseo con sus compañeros de la Universidad. El Padre les asigna tres tareas y les pide que presenten sus proformas (secretas). Queda entendido que la decisión del padre debe ser respetado. Tomando en cuenta los datos presentados por los hijos, ¿Qué decisión debe tomar el padre?</a:t>
            </a:r>
            <a:endParaRPr lang="es-PE" sz="2400" b="1" dirty="0"/>
          </a:p>
        </p:txBody>
      </p:sp>
      <p:graphicFrame>
        <p:nvGraphicFramePr>
          <p:cNvPr id="13" name="3 Tabla">
            <a:extLst>
              <a:ext uri="{FF2B5EF4-FFF2-40B4-BE49-F238E27FC236}">
                <a16:creationId xmlns:a16="http://schemas.microsoft.com/office/drawing/2014/main" id="{5E82AFDB-8AA2-CD45-2BD5-CA451F8AE956}"/>
              </a:ext>
            </a:extLst>
          </p:cNvPr>
          <p:cNvGraphicFramePr>
            <a:graphicFrameLocks noGrp="1"/>
          </p:cNvGraphicFramePr>
          <p:nvPr>
            <p:extLst>
              <p:ext uri="{D42A27DB-BD31-4B8C-83A1-F6EECF244321}">
                <p14:modId xmlns:p14="http://schemas.microsoft.com/office/powerpoint/2010/main" val="2578778793"/>
              </p:ext>
            </p:extLst>
          </p:nvPr>
        </p:nvGraphicFramePr>
        <p:xfrm>
          <a:off x="2556588" y="4481699"/>
          <a:ext cx="3467404" cy="1880527"/>
        </p:xfrm>
        <a:graphic>
          <a:graphicData uri="http://schemas.openxmlformats.org/drawingml/2006/table">
            <a:tbl>
              <a:tblPr firstRow="1" bandRow="1">
                <a:tableStyleId>{5C22544A-7EE6-4342-B048-85BDC9FD1C3A}</a:tableStyleId>
              </a:tblPr>
              <a:tblGrid>
                <a:gridCol w="783771">
                  <a:extLst>
                    <a:ext uri="{9D8B030D-6E8A-4147-A177-3AD203B41FA5}">
                      <a16:colId xmlns:a16="http://schemas.microsoft.com/office/drawing/2014/main" val="20000"/>
                    </a:ext>
                  </a:extLst>
                </a:gridCol>
                <a:gridCol w="839755">
                  <a:extLst>
                    <a:ext uri="{9D8B030D-6E8A-4147-A177-3AD203B41FA5}">
                      <a16:colId xmlns:a16="http://schemas.microsoft.com/office/drawing/2014/main" val="20001"/>
                    </a:ext>
                  </a:extLst>
                </a:gridCol>
                <a:gridCol w="886408">
                  <a:extLst>
                    <a:ext uri="{9D8B030D-6E8A-4147-A177-3AD203B41FA5}">
                      <a16:colId xmlns:a16="http://schemas.microsoft.com/office/drawing/2014/main" val="20002"/>
                    </a:ext>
                  </a:extLst>
                </a:gridCol>
                <a:gridCol w="957470">
                  <a:extLst>
                    <a:ext uri="{9D8B030D-6E8A-4147-A177-3AD203B41FA5}">
                      <a16:colId xmlns:a16="http://schemas.microsoft.com/office/drawing/2014/main" val="20003"/>
                    </a:ext>
                  </a:extLst>
                </a:gridCol>
              </a:tblGrid>
              <a:tr h="382046">
                <a:tc>
                  <a:txBody>
                    <a:bodyPr/>
                    <a:lstStyle/>
                    <a:p>
                      <a:pPr algn="ctr"/>
                      <a:endParaRPr lang="es-PE" sz="1600" b="1" dirty="0">
                        <a:latin typeface="Arial Narrow"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600" b="1" dirty="0">
                          <a:solidFill>
                            <a:schemeClr val="tx1"/>
                          </a:solidFill>
                          <a:latin typeface="Arial Narrow" pitchFamily="34" charset="0"/>
                        </a:rPr>
                        <a:t>Podar el césped</a:t>
                      </a:r>
                      <a:endParaRPr lang="es-PE" sz="1600" b="1" dirty="0"/>
                    </a:p>
                  </a:txBody>
                  <a:tcPr/>
                </a:tc>
                <a:tc>
                  <a:txBody>
                    <a:bodyPr/>
                    <a:lstStyle/>
                    <a:p>
                      <a:pPr algn="ctr"/>
                      <a:r>
                        <a:rPr lang="es-ES" sz="1600" b="1" dirty="0">
                          <a:solidFill>
                            <a:schemeClr val="tx1"/>
                          </a:solidFill>
                          <a:latin typeface="Arial Narrow" pitchFamily="34" charset="0"/>
                        </a:rPr>
                        <a:t>Pintar la fachada</a:t>
                      </a:r>
                      <a:endParaRPr lang="es-PE" sz="1600" b="1" dirty="0">
                        <a:solidFill>
                          <a:schemeClr val="tx1"/>
                        </a:solidFill>
                        <a:latin typeface="Arial Narrow" pitchFamily="34" charset="0"/>
                      </a:endParaRPr>
                    </a:p>
                  </a:txBody>
                  <a:tcPr/>
                </a:tc>
                <a:tc>
                  <a:txBody>
                    <a:bodyPr/>
                    <a:lstStyle/>
                    <a:p>
                      <a:pPr algn="ctr"/>
                      <a:r>
                        <a:rPr lang="es-ES" sz="1600" b="1" dirty="0">
                          <a:solidFill>
                            <a:schemeClr val="tx1"/>
                          </a:solidFill>
                          <a:latin typeface="Arial Narrow" pitchFamily="34" charset="0"/>
                        </a:rPr>
                        <a:t>Lavar los carros</a:t>
                      </a:r>
                      <a:endParaRPr lang="es-PE" sz="1600" b="1" dirty="0">
                        <a:solidFill>
                          <a:schemeClr val="tx1"/>
                        </a:solidFill>
                        <a:latin typeface="Arial Narrow" pitchFamily="34" charset="0"/>
                      </a:endParaRPr>
                    </a:p>
                  </a:txBody>
                  <a:tcPr/>
                </a:tc>
                <a:extLst>
                  <a:ext uri="{0D108BD9-81ED-4DB2-BD59-A6C34878D82A}">
                    <a16:rowId xmlns:a16="http://schemas.microsoft.com/office/drawing/2014/main" val="10000"/>
                  </a:ext>
                </a:extLst>
              </a:tr>
              <a:tr h="438727">
                <a:tc>
                  <a:txBody>
                    <a:bodyPr/>
                    <a:lstStyle/>
                    <a:p>
                      <a:pPr algn="ctr"/>
                      <a:r>
                        <a:rPr lang="es-ES" sz="2000" b="1" dirty="0">
                          <a:latin typeface="Arial Narrow" pitchFamily="34" charset="0"/>
                        </a:rPr>
                        <a:t>Abby</a:t>
                      </a:r>
                      <a:endParaRPr lang="es-PE" sz="2000" b="1" dirty="0">
                        <a:latin typeface="Arial Narrow" pitchFamily="34" charset="0"/>
                      </a:endParaRPr>
                    </a:p>
                  </a:txBody>
                  <a:tcPr anchor="ctr"/>
                </a:tc>
                <a:tc>
                  <a:txBody>
                    <a:bodyPr/>
                    <a:lstStyle/>
                    <a:p>
                      <a:pPr algn="ctr" fontAlgn="b"/>
                      <a:r>
                        <a:rPr lang="es-PE" sz="2000" b="1" u="none" strike="noStrike" dirty="0">
                          <a:effectLst/>
                          <a:latin typeface="Arial Narrow" pitchFamily="34" charset="0"/>
                        </a:rPr>
                        <a:t>13</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14</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11</a:t>
                      </a:r>
                      <a:endParaRPr lang="es-PE" sz="2000" b="1" i="0" u="none" strike="noStrike" dirty="0">
                        <a:solidFill>
                          <a:srgbClr val="000000"/>
                        </a:solidFill>
                        <a:effectLst/>
                        <a:latin typeface="Arial Narrow" pitchFamily="34" charset="0"/>
                      </a:endParaRPr>
                    </a:p>
                  </a:txBody>
                  <a:tcPr marL="9525" marR="9525" marT="9525" marB="0" anchor="ctr"/>
                </a:tc>
                <a:extLst>
                  <a:ext uri="{0D108BD9-81ED-4DB2-BD59-A6C34878D82A}">
                    <a16:rowId xmlns:a16="http://schemas.microsoft.com/office/drawing/2014/main" val="10001"/>
                  </a:ext>
                </a:extLst>
              </a:tr>
              <a:tr h="371119">
                <a:tc>
                  <a:txBody>
                    <a:bodyPr/>
                    <a:lstStyle/>
                    <a:p>
                      <a:pPr algn="ctr"/>
                      <a:r>
                        <a:rPr lang="es-ES" sz="2000" b="1" dirty="0">
                          <a:latin typeface="Arial Narrow" pitchFamily="34" charset="0"/>
                        </a:rPr>
                        <a:t>John</a:t>
                      </a:r>
                      <a:endParaRPr lang="es-PE" sz="2000" b="1" dirty="0">
                        <a:latin typeface="Arial Narrow" pitchFamily="34" charset="0"/>
                      </a:endParaRPr>
                    </a:p>
                  </a:txBody>
                  <a:tcPr anchor="ctr"/>
                </a:tc>
                <a:tc>
                  <a:txBody>
                    <a:bodyPr/>
                    <a:lstStyle/>
                    <a:p>
                      <a:pPr algn="ctr" fontAlgn="b"/>
                      <a:r>
                        <a:rPr lang="es-PE" sz="2000" b="1" u="none" strike="noStrike" dirty="0">
                          <a:effectLst/>
                          <a:latin typeface="Arial Narrow" pitchFamily="34" charset="0"/>
                        </a:rPr>
                        <a:t>12</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15</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14</a:t>
                      </a:r>
                      <a:endParaRPr lang="es-PE" sz="2000" b="1" i="0" u="none" strike="noStrike" dirty="0">
                        <a:solidFill>
                          <a:srgbClr val="000000"/>
                        </a:solidFill>
                        <a:effectLst/>
                        <a:latin typeface="Arial Narrow" pitchFamily="34" charset="0"/>
                      </a:endParaRPr>
                    </a:p>
                  </a:txBody>
                  <a:tcPr marL="9525" marR="9525" marT="9525" marB="0" anchor="ctr"/>
                </a:tc>
                <a:extLst>
                  <a:ext uri="{0D108BD9-81ED-4DB2-BD59-A6C34878D82A}">
                    <a16:rowId xmlns:a16="http://schemas.microsoft.com/office/drawing/2014/main" val="10002"/>
                  </a:ext>
                </a:extLst>
              </a:tr>
              <a:tr h="466440">
                <a:tc>
                  <a:txBody>
                    <a:bodyPr/>
                    <a:lstStyle/>
                    <a:p>
                      <a:pPr marL="0" algn="ctr" defTabSz="914400" rtl="0" eaLnBrk="1" latinLnBrk="0" hangingPunct="1"/>
                      <a:r>
                        <a:rPr lang="es-ES" sz="2000" b="1" kern="1200" dirty="0">
                          <a:solidFill>
                            <a:schemeClr val="dk1"/>
                          </a:solidFill>
                          <a:latin typeface="Arial Narrow" pitchFamily="34" charset="0"/>
                          <a:ea typeface="+mn-ea"/>
                          <a:cs typeface="+mn-cs"/>
                        </a:rPr>
                        <a:t>Karen</a:t>
                      </a:r>
                      <a:endParaRPr lang="es-PE" sz="2000" b="1" kern="1200" dirty="0">
                        <a:solidFill>
                          <a:schemeClr val="dk1"/>
                        </a:solidFill>
                        <a:latin typeface="Arial Narrow" pitchFamily="34" charset="0"/>
                        <a:ea typeface="+mn-ea"/>
                        <a:cs typeface="+mn-cs"/>
                      </a:endParaRPr>
                    </a:p>
                  </a:txBody>
                  <a:tcPr anchor="ctr"/>
                </a:tc>
                <a:tc>
                  <a:txBody>
                    <a:bodyPr/>
                    <a:lstStyle/>
                    <a:p>
                      <a:pPr algn="ctr" fontAlgn="b"/>
                      <a:r>
                        <a:rPr lang="es-PE" sz="2000" b="1" u="none" strike="noStrike" dirty="0">
                          <a:effectLst/>
                          <a:latin typeface="Arial Narrow" pitchFamily="34" charset="0"/>
                        </a:rPr>
                        <a:t>13</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16</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12</a:t>
                      </a:r>
                      <a:endParaRPr lang="es-PE" sz="2000" b="1" i="0" u="none" strike="noStrike" dirty="0">
                        <a:solidFill>
                          <a:srgbClr val="000000"/>
                        </a:solidFill>
                        <a:effectLst/>
                        <a:latin typeface="Arial Narrow" pitchFamily="34" charset="0"/>
                      </a:endParaRPr>
                    </a:p>
                  </a:txBody>
                  <a:tcPr marL="9525" marR="9525" marT="9525" marB="0" anchor="ctr"/>
                </a:tc>
                <a:extLst>
                  <a:ext uri="{0D108BD9-81ED-4DB2-BD59-A6C34878D82A}">
                    <a16:rowId xmlns:a16="http://schemas.microsoft.com/office/drawing/2014/main" val="10003"/>
                  </a:ext>
                </a:extLst>
              </a:tr>
            </a:tbl>
          </a:graphicData>
        </a:graphic>
      </p:graphicFrame>
      <p:pic>
        <p:nvPicPr>
          <p:cNvPr id="14" name="Picture 2" descr="Guía para padres de adolescentes">
            <a:extLst>
              <a:ext uri="{FF2B5EF4-FFF2-40B4-BE49-F238E27FC236}">
                <a16:creationId xmlns:a16="http://schemas.microsoft.com/office/drawing/2014/main" id="{2834B575-FE9F-85B0-86E7-1B2C5E5841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479822"/>
            <a:ext cx="2499751" cy="1613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6290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13472" y="764705"/>
            <a:ext cx="7354937" cy="364431"/>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r>
              <a:rPr lang="es-PE" sz="3200" dirty="0">
                <a:solidFill>
                  <a:schemeClr val="bg1"/>
                </a:solidFill>
                <a:latin typeface="Bauhaus 93" pitchFamily="82" charset="0"/>
                <a:ea typeface="+mn-ea"/>
                <a:cs typeface="+mn-cs"/>
              </a:rPr>
              <a:t>Lindo</a:t>
            </a:r>
          </a:p>
        </p:txBody>
      </p:sp>
      <p:sp>
        <p:nvSpPr>
          <p:cNvPr id="4" name="3 Rectángulo"/>
          <p:cNvSpPr/>
          <p:nvPr/>
        </p:nvSpPr>
        <p:spPr>
          <a:xfrm>
            <a:off x="0" y="1231278"/>
            <a:ext cx="6096000" cy="5663089"/>
          </a:xfrm>
          <a:prstGeom prst="rect">
            <a:avLst/>
          </a:prstGeom>
          <a:solidFill>
            <a:srgbClr val="FFFF00"/>
          </a:solidFill>
        </p:spPr>
        <p:txBody>
          <a:bodyPr wrap="square">
            <a:spAutoFit/>
          </a:bodyPr>
          <a:lstStyle/>
          <a:p>
            <a:r>
              <a:rPr lang="es-PE" sz="2000" b="1" dirty="0">
                <a:solidFill>
                  <a:schemeClr val="bg2">
                    <a:lumMod val="25000"/>
                  </a:schemeClr>
                </a:solidFill>
                <a:latin typeface="Arial Narrow" panose="020B0606020202030204" pitchFamily="34" charset="0"/>
              </a:rPr>
              <a:t>Min </a:t>
            </a:r>
            <a:r>
              <a:rPr lang="es-PE" sz="2000" b="1" dirty="0" err="1">
                <a:solidFill>
                  <a:schemeClr val="bg2">
                    <a:lumMod val="25000"/>
                  </a:schemeClr>
                </a:solidFill>
                <a:latin typeface="Arial Narrow" panose="020B0606020202030204" pitchFamily="34" charset="0"/>
              </a:rPr>
              <a:t>13X11</a:t>
            </a:r>
            <a:r>
              <a:rPr lang="es-PE" sz="2000" b="1" dirty="0">
                <a:solidFill>
                  <a:schemeClr val="bg2">
                    <a:lumMod val="25000"/>
                  </a:schemeClr>
                </a:solidFill>
                <a:latin typeface="Arial Narrow" panose="020B0606020202030204" pitchFamily="34" charset="0"/>
              </a:rPr>
              <a:t> + </a:t>
            </a:r>
            <a:r>
              <a:rPr lang="es-PE" sz="2000" b="1" dirty="0" err="1">
                <a:solidFill>
                  <a:schemeClr val="bg2">
                    <a:lumMod val="25000"/>
                  </a:schemeClr>
                </a:solidFill>
                <a:latin typeface="Arial Narrow" panose="020B0606020202030204" pitchFamily="34" charset="0"/>
              </a:rPr>
              <a:t>14X12</a:t>
            </a:r>
            <a:r>
              <a:rPr lang="es-PE" sz="2000" b="1" dirty="0">
                <a:solidFill>
                  <a:schemeClr val="bg2">
                    <a:lumMod val="25000"/>
                  </a:schemeClr>
                </a:solidFill>
                <a:latin typeface="Arial Narrow" panose="020B0606020202030204" pitchFamily="34" charset="0"/>
              </a:rPr>
              <a:t> + </a:t>
            </a:r>
            <a:r>
              <a:rPr lang="es-PE" sz="2000" b="1" dirty="0" err="1">
                <a:solidFill>
                  <a:schemeClr val="bg2">
                    <a:lumMod val="25000"/>
                  </a:schemeClr>
                </a:solidFill>
                <a:latin typeface="Arial Narrow" panose="020B0606020202030204" pitchFamily="34" charset="0"/>
              </a:rPr>
              <a:t>11X13</a:t>
            </a:r>
            <a:r>
              <a:rPr lang="es-PE" sz="2000" b="1" dirty="0">
                <a:solidFill>
                  <a:schemeClr val="bg2">
                    <a:lumMod val="25000"/>
                  </a:schemeClr>
                </a:solidFill>
                <a:latin typeface="Arial Narrow" panose="020B0606020202030204" pitchFamily="34" charset="0"/>
              </a:rPr>
              <a:t> + </a:t>
            </a:r>
            <a:r>
              <a:rPr lang="es-PE" sz="2000" b="1" dirty="0" err="1">
                <a:solidFill>
                  <a:schemeClr val="bg2">
                    <a:lumMod val="25000"/>
                  </a:schemeClr>
                </a:solidFill>
                <a:latin typeface="Arial Narrow" panose="020B0606020202030204" pitchFamily="34" charset="0"/>
              </a:rPr>
              <a:t>12X21</a:t>
            </a:r>
            <a:r>
              <a:rPr lang="es-PE" sz="2000" b="1" dirty="0">
                <a:solidFill>
                  <a:schemeClr val="bg2">
                    <a:lumMod val="25000"/>
                  </a:schemeClr>
                </a:solidFill>
                <a:latin typeface="Arial Narrow" panose="020B0606020202030204" pitchFamily="34" charset="0"/>
              </a:rPr>
              <a:t> + </a:t>
            </a:r>
            <a:r>
              <a:rPr lang="es-PE" sz="2000" b="1" dirty="0" err="1">
                <a:solidFill>
                  <a:schemeClr val="bg2">
                    <a:lumMod val="25000"/>
                  </a:schemeClr>
                </a:solidFill>
                <a:latin typeface="Arial Narrow" panose="020B0606020202030204" pitchFamily="34" charset="0"/>
              </a:rPr>
              <a:t>15X22</a:t>
            </a:r>
            <a:r>
              <a:rPr lang="es-PE" sz="2000" b="1" dirty="0">
                <a:solidFill>
                  <a:schemeClr val="bg2">
                    <a:lumMod val="25000"/>
                  </a:schemeClr>
                </a:solidFill>
                <a:latin typeface="Arial Narrow" panose="020B0606020202030204" pitchFamily="34" charset="0"/>
              </a:rPr>
              <a:t> +</a:t>
            </a:r>
          </a:p>
          <a:p>
            <a:r>
              <a:rPr lang="es-PE" sz="2000" b="1" dirty="0">
                <a:solidFill>
                  <a:schemeClr val="bg2">
                    <a:lumMod val="25000"/>
                  </a:schemeClr>
                </a:solidFill>
                <a:latin typeface="Arial Narrow" panose="020B0606020202030204" pitchFamily="34" charset="0"/>
              </a:rPr>
              <a:t>        </a:t>
            </a:r>
            <a:r>
              <a:rPr lang="es-PE" sz="2000" b="1" dirty="0" err="1">
                <a:solidFill>
                  <a:schemeClr val="bg2">
                    <a:lumMod val="25000"/>
                  </a:schemeClr>
                </a:solidFill>
                <a:latin typeface="Arial Narrow" panose="020B0606020202030204" pitchFamily="34" charset="0"/>
              </a:rPr>
              <a:t>14X23</a:t>
            </a:r>
            <a:r>
              <a:rPr lang="es-PE" sz="2000" b="1" dirty="0">
                <a:solidFill>
                  <a:schemeClr val="bg2">
                    <a:lumMod val="25000"/>
                  </a:schemeClr>
                </a:solidFill>
                <a:latin typeface="Arial Narrow" panose="020B0606020202030204" pitchFamily="34" charset="0"/>
              </a:rPr>
              <a:t> + </a:t>
            </a:r>
            <a:r>
              <a:rPr lang="es-PE" sz="2000" b="1" dirty="0" err="1">
                <a:solidFill>
                  <a:schemeClr val="bg2">
                    <a:lumMod val="25000"/>
                  </a:schemeClr>
                </a:solidFill>
                <a:latin typeface="Arial Narrow" panose="020B0606020202030204" pitchFamily="34" charset="0"/>
              </a:rPr>
              <a:t>13X31</a:t>
            </a:r>
            <a:r>
              <a:rPr lang="es-PE" sz="2000" b="1" dirty="0">
                <a:solidFill>
                  <a:schemeClr val="bg2">
                    <a:lumMod val="25000"/>
                  </a:schemeClr>
                </a:solidFill>
                <a:latin typeface="Arial Narrow" panose="020B0606020202030204" pitchFamily="34" charset="0"/>
              </a:rPr>
              <a:t> + </a:t>
            </a:r>
            <a:r>
              <a:rPr lang="es-PE" sz="2000" b="1" dirty="0" err="1">
                <a:solidFill>
                  <a:schemeClr val="bg2">
                    <a:lumMod val="25000"/>
                  </a:schemeClr>
                </a:solidFill>
                <a:latin typeface="Arial Narrow" panose="020B0606020202030204" pitchFamily="34" charset="0"/>
              </a:rPr>
              <a:t>16X32</a:t>
            </a:r>
            <a:r>
              <a:rPr lang="es-PE" sz="2000" b="1" dirty="0">
                <a:solidFill>
                  <a:schemeClr val="bg2">
                    <a:lumMod val="25000"/>
                  </a:schemeClr>
                </a:solidFill>
                <a:latin typeface="Arial Narrow" panose="020B0606020202030204" pitchFamily="34" charset="0"/>
              </a:rPr>
              <a:t> + </a:t>
            </a:r>
            <a:r>
              <a:rPr lang="es-PE" sz="2000" b="1" dirty="0" err="1">
                <a:solidFill>
                  <a:schemeClr val="bg2">
                    <a:lumMod val="25000"/>
                  </a:schemeClr>
                </a:solidFill>
                <a:latin typeface="Arial Narrow" panose="020B0606020202030204" pitchFamily="34" charset="0"/>
              </a:rPr>
              <a:t>12X33</a:t>
            </a:r>
            <a:endParaRPr lang="es-PE" sz="2000" b="1" dirty="0">
              <a:solidFill>
                <a:schemeClr val="bg2">
                  <a:lumMod val="25000"/>
                </a:schemeClr>
              </a:solidFill>
              <a:latin typeface="Arial Narrow" panose="020B0606020202030204" pitchFamily="34" charset="0"/>
            </a:endParaRPr>
          </a:p>
          <a:p>
            <a:pPr lvl="0"/>
            <a:r>
              <a:rPr lang="es-ES" sz="2000" b="1" dirty="0" err="1">
                <a:latin typeface="Arial Narrow" panose="020B0606020202030204" pitchFamily="34" charset="0"/>
              </a:rPr>
              <a:t>ST</a:t>
            </a:r>
            <a:endParaRPr lang="es-ES" sz="2000" b="1" dirty="0">
              <a:latin typeface="Arial Narrow" panose="020B0606020202030204" pitchFamily="34" charset="0"/>
            </a:endParaRPr>
          </a:p>
          <a:p>
            <a:pPr lvl="0"/>
            <a:r>
              <a:rPr lang="es-PE" sz="2000" b="1" dirty="0" err="1">
                <a:solidFill>
                  <a:schemeClr val="bg2">
                    <a:lumMod val="25000"/>
                  </a:schemeClr>
                </a:solidFill>
                <a:latin typeface="Arial Narrow" panose="020B0606020202030204" pitchFamily="34" charset="0"/>
              </a:rPr>
              <a:t>X11+X12+X13</a:t>
            </a:r>
            <a:r>
              <a:rPr lang="es-PE" sz="2000" b="1" dirty="0">
                <a:solidFill>
                  <a:schemeClr val="bg2">
                    <a:lumMod val="25000"/>
                  </a:schemeClr>
                </a:solidFill>
                <a:latin typeface="Arial Narrow" panose="020B0606020202030204" pitchFamily="34" charset="0"/>
              </a:rPr>
              <a:t>=1		</a:t>
            </a:r>
          </a:p>
          <a:p>
            <a:pPr lvl="0"/>
            <a:r>
              <a:rPr lang="es-PE" sz="2000" b="1" dirty="0" err="1">
                <a:solidFill>
                  <a:schemeClr val="bg2">
                    <a:lumMod val="25000"/>
                  </a:schemeClr>
                </a:solidFill>
                <a:latin typeface="Arial Narrow" panose="020B0606020202030204" pitchFamily="34" charset="0"/>
              </a:rPr>
              <a:t>X21+X22+X23</a:t>
            </a:r>
            <a:r>
              <a:rPr lang="es-PE" sz="2000" b="1" dirty="0">
                <a:solidFill>
                  <a:schemeClr val="bg2">
                    <a:lumMod val="25000"/>
                  </a:schemeClr>
                </a:solidFill>
                <a:latin typeface="Arial Narrow" panose="020B0606020202030204" pitchFamily="34" charset="0"/>
              </a:rPr>
              <a:t>=1		</a:t>
            </a:r>
          </a:p>
          <a:p>
            <a:pPr lvl="0"/>
            <a:r>
              <a:rPr lang="es-PE" sz="2000" b="1" dirty="0" err="1">
                <a:solidFill>
                  <a:schemeClr val="bg2">
                    <a:lumMod val="25000"/>
                  </a:schemeClr>
                </a:solidFill>
                <a:latin typeface="Arial Narrow" panose="020B0606020202030204" pitchFamily="34" charset="0"/>
              </a:rPr>
              <a:t>X31+X32+X33</a:t>
            </a:r>
            <a:r>
              <a:rPr lang="es-PE" sz="2000" b="1" dirty="0">
                <a:solidFill>
                  <a:schemeClr val="bg2">
                    <a:lumMod val="25000"/>
                  </a:schemeClr>
                </a:solidFill>
                <a:latin typeface="Arial Narrow" panose="020B0606020202030204" pitchFamily="34" charset="0"/>
              </a:rPr>
              <a:t>=1		</a:t>
            </a:r>
          </a:p>
          <a:p>
            <a:pPr lvl="0"/>
            <a:r>
              <a:rPr lang="es-PE" sz="2000" b="1" dirty="0" err="1">
                <a:solidFill>
                  <a:schemeClr val="bg2">
                    <a:lumMod val="25000"/>
                  </a:schemeClr>
                </a:solidFill>
                <a:latin typeface="Arial Narrow" panose="020B0606020202030204" pitchFamily="34" charset="0"/>
              </a:rPr>
              <a:t>X11+X21+X31</a:t>
            </a:r>
            <a:r>
              <a:rPr lang="es-PE" sz="2000" b="1" dirty="0">
                <a:solidFill>
                  <a:schemeClr val="bg2">
                    <a:lumMod val="25000"/>
                  </a:schemeClr>
                </a:solidFill>
                <a:latin typeface="Arial Narrow" panose="020B0606020202030204" pitchFamily="34" charset="0"/>
              </a:rPr>
              <a:t>=1</a:t>
            </a:r>
          </a:p>
          <a:p>
            <a:pPr lvl="0"/>
            <a:r>
              <a:rPr lang="es-PE" sz="2000" b="1" dirty="0" err="1">
                <a:solidFill>
                  <a:schemeClr val="bg2">
                    <a:lumMod val="25000"/>
                  </a:schemeClr>
                </a:solidFill>
                <a:latin typeface="Arial Narrow" panose="020B0606020202030204" pitchFamily="34" charset="0"/>
              </a:rPr>
              <a:t>X12+X22+X32</a:t>
            </a:r>
            <a:r>
              <a:rPr lang="es-PE" sz="2000" b="1" dirty="0">
                <a:solidFill>
                  <a:schemeClr val="bg2">
                    <a:lumMod val="25000"/>
                  </a:schemeClr>
                </a:solidFill>
                <a:latin typeface="Arial Narrow" panose="020B0606020202030204" pitchFamily="34" charset="0"/>
              </a:rPr>
              <a:t>=1</a:t>
            </a:r>
          </a:p>
          <a:p>
            <a:pPr lvl="0"/>
            <a:r>
              <a:rPr lang="es-PE" sz="2000" b="1" dirty="0" err="1">
                <a:solidFill>
                  <a:schemeClr val="bg2">
                    <a:lumMod val="25000"/>
                  </a:schemeClr>
                </a:solidFill>
                <a:latin typeface="Arial Narrow" panose="020B0606020202030204" pitchFamily="34" charset="0"/>
              </a:rPr>
              <a:t>X13+X23+X33</a:t>
            </a:r>
            <a:r>
              <a:rPr lang="es-PE" sz="2000" b="1" dirty="0">
                <a:solidFill>
                  <a:schemeClr val="bg2">
                    <a:lumMod val="25000"/>
                  </a:schemeClr>
                </a:solidFill>
                <a:latin typeface="Arial Narrow" panose="020B0606020202030204" pitchFamily="34" charset="0"/>
              </a:rPr>
              <a:t>=1</a:t>
            </a:r>
          </a:p>
          <a:p>
            <a:pPr lvl="0"/>
            <a:r>
              <a:rPr lang="es-ES" sz="2000" b="1" dirty="0" err="1">
                <a:latin typeface="Arial Narrow" panose="020B0606020202030204" pitchFamily="34" charset="0"/>
              </a:rPr>
              <a:t>END</a:t>
            </a:r>
            <a:endParaRPr lang="es-ES" sz="2000" b="1" dirty="0">
              <a:latin typeface="Arial Narrow" panose="020B0606020202030204" pitchFamily="34" charset="0"/>
            </a:endParaRPr>
          </a:p>
          <a:p>
            <a:pPr lvl="0"/>
            <a:r>
              <a:rPr lang="es-PE" b="1" dirty="0" err="1">
                <a:solidFill>
                  <a:schemeClr val="bg2">
                    <a:lumMod val="25000"/>
                  </a:schemeClr>
                </a:solidFill>
                <a:latin typeface="Arial Narrow" panose="020B0606020202030204" pitchFamily="34" charset="0"/>
              </a:rPr>
              <a:t>INT</a:t>
            </a:r>
            <a:r>
              <a:rPr lang="es-PE" b="1" dirty="0">
                <a:solidFill>
                  <a:schemeClr val="bg2">
                    <a:lumMod val="25000"/>
                  </a:schemeClr>
                </a:solidFill>
                <a:latin typeface="Arial Narrow" panose="020B0606020202030204" pitchFamily="34" charset="0"/>
              </a:rPr>
              <a:t>  </a:t>
            </a:r>
            <a:r>
              <a:rPr lang="es-PE" b="1" dirty="0" err="1">
                <a:solidFill>
                  <a:schemeClr val="bg2">
                    <a:lumMod val="25000"/>
                  </a:schemeClr>
                </a:solidFill>
                <a:latin typeface="Arial Narrow" panose="020B0606020202030204" pitchFamily="34" charset="0"/>
              </a:rPr>
              <a:t>X11</a:t>
            </a:r>
            <a:endParaRPr lang="es-PE" b="1" dirty="0">
              <a:solidFill>
                <a:schemeClr val="bg2">
                  <a:lumMod val="25000"/>
                </a:schemeClr>
              </a:solidFill>
              <a:latin typeface="Arial Narrow" panose="020B0606020202030204" pitchFamily="34" charset="0"/>
            </a:endParaRPr>
          </a:p>
          <a:p>
            <a:pPr lvl="0"/>
            <a:r>
              <a:rPr lang="es-PE" b="1" dirty="0" err="1">
                <a:solidFill>
                  <a:schemeClr val="bg2">
                    <a:lumMod val="25000"/>
                  </a:schemeClr>
                </a:solidFill>
                <a:latin typeface="Arial Narrow" panose="020B0606020202030204" pitchFamily="34" charset="0"/>
              </a:rPr>
              <a:t>INT</a:t>
            </a:r>
            <a:r>
              <a:rPr lang="es-PE" b="1" dirty="0">
                <a:solidFill>
                  <a:schemeClr val="bg2">
                    <a:lumMod val="25000"/>
                  </a:schemeClr>
                </a:solidFill>
                <a:latin typeface="Arial Narrow" panose="020B0606020202030204" pitchFamily="34" charset="0"/>
              </a:rPr>
              <a:t>  </a:t>
            </a:r>
            <a:r>
              <a:rPr lang="es-PE" b="1" dirty="0" err="1">
                <a:solidFill>
                  <a:schemeClr val="bg2">
                    <a:lumMod val="25000"/>
                  </a:schemeClr>
                </a:solidFill>
                <a:latin typeface="Arial Narrow" panose="020B0606020202030204" pitchFamily="34" charset="0"/>
              </a:rPr>
              <a:t>X12</a:t>
            </a:r>
            <a:endParaRPr lang="es-PE" b="1" dirty="0">
              <a:solidFill>
                <a:schemeClr val="bg2">
                  <a:lumMod val="25000"/>
                </a:schemeClr>
              </a:solidFill>
              <a:latin typeface="Arial Narrow" panose="020B0606020202030204" pitchFamily="34" charset="0"/>
            </a:endParaRPr>
          </a:p>
          <a:p>
            <a:pPr lvl="0"/>
            <a:r>
              <a:rPr lang="es-PE" b="1" dirty="0" err="1">
                <a:solidFill>
                  <a:schemeClr val="bg2">
                    <a:lumMod val="25000"/>
                  </a:schemeClr>
                </a:solidFill>
                <a:latin typeface="Arial Narrow" panose="020B0606020202030204" pitchFamily="34" charset="0"/>
              </a:rPr>
              <a:t>INT</a:t>
            </a:r>
            <a:r>
              <a:rPr lang="es-PE" b="1" dirty="0">
                <a:solidFill>
                  <a:schemeClr val="bg2">
                    <a:lumMod val="25000"/>
                  </a:schemeClr>
                </a:solidFill>
                <a:latin typeface="Arial Narrow" panose="020B0606020202030204" pitchFamily="34" charset="0"/>
              </a:rPr>
              <a:t>  </a:t>
            </a:r>
            <a:r>
              <a:rPr lang="es-PE" b="1" dirty="0" err="1">
                <a:solidFill>
                  <a:schemeClr val="bg2">
                    <a:lumMod val="25000"/>
                  </a:schemeClr>
                </a:solidFill>
                <a:latin typeface="Arial Narrow" panose="020B0606020202030204" pitchFamily="34" charset="0"/>
              </a:rPr>
              <a:t>X13</a:t>
            </a:r>
            <a:endParaRPr lang="es-PE" b="1" dirty="0">
              <a:solidFill>
                <a:schemeClr val="bg2">
                  <a:lumMod val="25000"/>
                </a:schemeClr>
              </a:solidFill>
              <a:latin typeface="Arial Narrow" panose="020B0606020202030204" pitchFamily="34" charset="0"/>
            </a:endParaRPr>
          </a:p>
          <a:p>
            <a:pPr lvl="0"/>
            <a:r>
              <a:rPr lang="es-PE" b="1" dirty="0" err="1">
                <a:solidFill>
                  <a:schemeClr val="bg2">
                    <a:lumMod val="25000"/>
                  </a:schemeClr>
                </a:solidFill>
                <a:latin typeface="Arial Narrow" panose="020B0606020202030204" pitchFamily="34" charset="0"/>
              </a:rPr>
              <a:t>INT</a:t>
            </a:r>
            <a:r>
              <a:rPr lang="es-PE" b="1" dirty="0">
                <a:solidFill>
                  <a:schemeClr val="bg2">
                    <a:lumMod val="25000"/>
                  </a:schemeClr>
                </a:solidFill>
                <a:latin typeface="Arial Narrow" panose="020B0606020202030204" pitchFamily="34" charset="0"/>
              </a:rPr>
              <a:t>  </a:t>
            </a:r>
            <a:r>
              <a:rPr lang="es-PE" b="1" dirty="0" err="1">
                <a:solidFill>
                  <a:schemeClr val="bg2">
                    <a:lumMod val="25000"/>
                  </a:schemeClr>
                </a:solidFill>
                <a:latin typeface="Arial Narrow" panose="020B0606020202030204" pitchFamily="34" charset="0"/>
              </a:rPr>
              <a:t>X21</a:t>
            </a:r>
            <a:endParaRPr lang="es-PE" b="1" dirty="0">
              <a:solidFill>
                <a:schemeClr val="bg2">
                  <a:lumMod val="25000"/>
                </a:schemeClr>
              </a:solidFill>
              <a:latin typeface="Arial Narrow" panose="020B0606020202030204" pitchFamily="34" charset="0"/>
            </a:endParaRPr>
          </a:p>
          <a:p>
            <a:pPr lvl="0"/>
            <a:r>
              <a:rPr lang="es-PE" b="1" dirty="0" err="1">
                <a:solidFill>
                  <a:schemeClr val="bg2">
                    <a:lumMod val="25000"/>
                  </a:schemeClr>
                </a:solidFill>
                <a:latin typeface="Arial Narrow" panose="020B0606020202030204" pitchFamily="34" charset="0"/>
              </a:rPr>
              <a:t>INT</a:t>
            </a:r>
            <a:r>
              <a:rPr lang="es-PE" b="1" dirty="0">
                <a:solidFill>
                  <a:schemeClr val="bg2">
                    <a:lumMod val="25000"/>
                  </a:schemeClr>
                </a:solidFill>
                <a:latin typeface="Arial Narrow" panose="020B0606020202030204" pitchFamily="34" charset="0"/>
              </a:rPr>
              <a:t>  </a:t>
            </a:r>
            <a:r>
              <a:rPr lang="es-PE" b="1" dirty="0" err="1">
                <a:solidFill>
                  <a:schemeClr val="bg2">
                    <a:lumMod val="25000"/>
                  </a:schemeClr>
                </a:solidFill>
                <a:latin typeface="Arial Narrow" panose="020B0606020202030204" pitchFamily="34" charset="0"/>
              </a:rPr>
              <a:t>X22</a:t>
            </a:r>
            <a:endParaRPr lang="es-PE" b="1" dirty="0">
              <a:solidFill>
                <a:schemeClr val="bg2">
                  <a:lumMod val="25000"/>
                </a:schemeClr>
              </a:solidFill>
              <a:latin typeface="Arial Narrow" panose="020B0606020202030204" pitchFamily="34" charset="0"/>
            </a:endParaRPr>
          </a:p>
          <a:p>
            <a:pPr lvl="0"/>
            <a:r>
              <a:rPr lang="es-PE" b="1" dirty="0" err="1">
                <a:solidFill>
                  <a:schemeClr val="bg2">
                    <a:lumMod val="25000"/>
                  </a:schemeClr>
                </a:solidFill>
                <a:latin typeface="Arial Narrow" panose="020B0606020202030204" pitchFamily="34" charset="0"/>
              </a:rPr>
              <a:t>INT</a:t>
            </a:r>
            <a:r>
              <a:rPr lang="es-PE" b="1" dirty="0">
                <a:solidFill>
                  <a:schemeClr val="bg2">
                    <a:lumMod val="25000"/>
                  </a:schemeClr>
                </a:solidFill>
                <a:latin typeface="Arial Narrow" panose="020B0606020202030204" pitchFamily="34" charset="0"/>
              </a:rPr>
              <a:t>  </a:t>
            </a:r>
            <a:r>
              <a:rPr lang="es-PE" b="1" dirty="0" err="1">
                <a:solidFill>
                  <a:schemeClr val="bg2">
                    <a:lumMod val="25000"/>
                  </a:schemeClr>
                </a:solidFill>
                <a:latin typeface="Arial Narrow" panose="020B0606020202030204" pitchFamily="34" charset="0"/>
              </a:rPr>
              <a:t>X23</a:t>
            </a:r>
            <a:endParaRPr lang="es-PE" b="1" dirty="0">
              <a:solidFill>
                <a:schemeClr val="bg2">
                  <a:lumMod val="25000"/>
                </a:schemeClr>
              </a:solidFill>
              <a:latin typeface="Arial Narrow" panose="020B0606020202030204" pitchFamily="34" charset="0"/>
            </a:endParaRPr>
          </a:p>
          <a:p>
            <a:pPr lvl="0"/>
            <a:r>
              <a:rPr lang="es-PE" b="1" dirty="0" err="1">
                <a:solidFill>
                  <a:schemeClr val="bg2">
                    <a:lumMod val="25000"/>
                  </a:schemeClr>
                </a:solidFill>
                <a:latin typeface="Arial Narrow" panose="020B0606020202030204" pitchFamily="34" charset="0"/>
              </a:rPr>
              <a:t>INT</a:t>
            </a:r>
            <a:r>
              <a:rPr lang="es-PE" b="1" dirty="0">
                <a:solidFill>
                  <a:schemeClr val="bg2">
                    <a:lumMod val="25000"/>
                  </a:schemeClr>
                </a:solidFill>
                <a:latin typeface="Arial Narrow" panose="020B0606020202030204" pitchFamily="34" charset="0"/>
              </a:rPr>
              <a:t>  </a:t>
            </a:r>
            <a:r>
              <a:rPr lang="es-PE" b="1" dirty="0" err="1">
                <a:solidFill>
                  <a:schemeClr val="bg2">
                    <a:lumMod val="25000"/>
                  </a:schemeClr>
                </a:solidFill>
                <a:latin typeface="Arial Narrow" panose="020B0606020202030204" pitchFamily="34" charset="0"/>
              </a:rPr>
              <a:t>X31</a:t>
            </a:r>
            <a:endParaRPr lang="es-PE" b="1" dirty="0">
              <a:solidFill>
                <a:schemeClr val="bg2">
                  <a:lumMod val="25000"/>
                </a:schemeClr>
              </a:solidFill>
              <a:latin typeface="Arial Narrow" panose="020B0606020202030204" pitchFamily="34" charset="0"/>
            </a:endParaRPr>
          </a:p>
          <a:p>
            <a:pPr lvl="0"/>
            <a:r>
              <a:rPr lang="es-PE" b="1" dirty="0" err="1">
                <a:solidFill>
                  <a:schemeClr val="bg2">
                    <a:lumMod val="25000"/>
                  </a:schemeClr>
                </a:solidFill>
                <a:latin typeface="Arial Narrow" panose="020B0606020202030204" pitchFamily="34" charset="0"/>
              </a:rPr>
              <a:t>INT</a:t>
            </a:r>
            <a:r>
              <a:rPr lang="es-PE" b="1" dirty="0">
                <a:solidFill>
                  <a:schemeClr val="bg2">
                    <a:lumMod val="25000"/>
                  </a:schemeClr>
                </a:solidFill>
                <a:latin typeface="Arial Narrow" panose="020B0606020202030204" pitchFamily="34" charset="0"/>
              </a:rPr>
              <a:t>  </a:t>
            </a:r>
            <a:r>
              <a:rPr lang="es-PE" b="1" dirty="0" err="1">
                <a:solidFill>
                  <a:schemeClr val="bg2">
                    <a:lumMod val="25000"/>
                  </a:schemeClr>
                </a:solidFill>
                <a:latin typeface="Arial Narrow" panose="020B0606020202030204" pitchFamily="34" charset="0"/>
              </a:rPr>
              <a:t>X32</a:t>
            </a:r>
            <a:endParaRPr lang="es-PE" b="1" dirty="0">
              <a:solidFill>
                <a:schemeClr val="bg2">
                  <a:lumMod val="25000"/>
                </a:schemeClr>
              </a:solidFill>
              <a:latin typeface="Arial Narrow" panose="020B0606020202030204" pitchFamily="34" charset="0"/>
            </a:endParaRPr>
          </a:p>
          <a:p>
            <a:pPr lvl="0"/>
            <a:r>
              <a:rPr lang="es-PE" b="1" dirty="0" err="1">
                <a:solidFill>
                  <a:schemeClr val="bg2">
                    <a:lumMod val="25000"/>
                  </a:schemeClr>
                </a:solidFill>
                <a:latin typeface="Arial Narrow" panose="020B0606020202030204" pitchFamily="34" charset="0"/>
              </a:rPr>
              <a:t>INT</a:t>
            </a:r>
            <a:r>
              <a:rPr lang="es-PE" b="1" dirty="0">
                <a:solidFill>
                  <a:schemeClr val="bg2">
                    <a:lumMod val="25000"/>
                  </a:schemeClr>
                </a:solidFill>
                <a:latin typeface="Arial Narrow" panose="020B0606020202030204" pitchFamily="34" charset="0"/>
              </a:rPr>
              <a:t>  </a:t>
            </a:r>
            <a:r>
              <a:rPr lang="es-PE" b="1" dirty="0" err="1">
                <a:solidFill>
                  <a:schemeClr val="bg2">
                    <a:lumMod val="25000"/>
                  </a:schemeClr>
                </a:solidFill>
                <a:latin typeface="Arial Narrow" panose="020B0606020202030204" pitchFamily="34" charset="0"/>
              </a:rPr>
              <a:t>X33</a:t>
            </a:r>
            <a:endParaRPr lang="es-PE" b="1" dirty="0">
              <a:latin typeface="Arial Narrow" panose="020B0606020202030204" pitchFamily="34" charset="0"/>
            </a:endParaRPr>
          </a:p>
        </p:txBody>
      </p:sp>
      <p:sp>
        <p:nvSpPr>
          <p:cNvPr id="6" name="5 Rectángulo"/>
          <p:cNvSpPr/>
          <p:nvPr/>
        </p:nvSpPr>
        <p:spPr>
          <a:xfrm>
            <a:off x="6943006" y="1256438"/>
            <a:ext cx="4401987" cy="3785652"/>
          </a:xfrm>
          <a:prstGeom prst="rect">
            <a:avLst/>
          </a:prstGeom>
          <a:solidFill>
            <a:schemeClr val="accent4">
              <a:lumMod val="40000"/>
              <a:lumOff val="60000"/>
            </a:schemeClr>
          </a:solidFill>
        </p:spPr>
        <p:txBody>
          <a:bodyPr wrap="square">
            <a:spAutoFit/>
          </a:bodyPr>
          <a:lstStyle/>
          <a:p>
            <a:r>
              <a:rPr lang="en-US" sz="2000" b="1" dirty="0"/>
              <a:t>OBJECTIVE FUNCTION VALUE</a:t>
            </a:r>
          </a:p>
          <a:p>
            <a:r>
              <a:rPr lang="en-US" sz="2000" b="1" dirty="0"/>
              <a:t>        1)      38.00000</a:t>
            </a:r>
          </a:p>
          <a:p>
            <a:r>
              <a:rPr lang="en-US" sz="2000" b="1" dirty="0"/>
              <a:t>  VARIABLE     VALUE      REDUCED COST</a:t>
            </a:r>
          </a:p>
          <a:p>
            <a:r>
              <a:rPr lang="en-US" sz="2000" b="1" dirty="0"/>
              <a:t>       </a:t>
            </a:r>
            <a:r>
              <a:rPr lang="en-US" sz="2000" b="1" dirty="0" err="1"/>
              <a:t>X11</a:t>
            </a:r>
            <a:r>
              <a:rPr lang="en-US" sz="2000" b="1" dirty="0"/>
              <a:t>         0.000000         13.000000</a:t>
            </a:r>
          </a:p>
          <a:p>
            <a:r>
              <a:rPr lang="en-US" sz="2000" b="1" dirty="0"/>
              <a:t>       </a:t>
            </a:r>
            <a:r>
              <a:rPr lang="en-US" sz="2000" b="1" dirty="0" err="1">
                <a:solidFill>
                  <a:srgbClr val="FF0000"/>
                </a:solidFill>
              </a:rPr>
              <a:t>X12</a:t>
            </a:r>
            <a:r>
              <a:rPr lang="en-US" sz="2000" b="1" dirty="0">
                <a:solidFill>
                  <a:srgbClr val="FF0000"/>
                </a:solidFill>
              </a:rPr>
              <a:t>         1.000000         </a:t>
            </a:r>
            <a:r>
              <a:rPr lang="en-US" sz="2000" b="1" dirty="0"/>
              <a:t>14.000000</a:t>
            </a:r>
          </a:p>
          <a:p>
            <a:r>
              <a:rPr lang="en-US" sz="2000" b="1" dirty="0"/>
              <a:t>       </a:t>
            </a:r>
            <a:r>
              <a:rPr lang="en-US" sz="2000" b="1" dirty="0" err="1"/>
              <a:t>X13</a:t>
            </a:r>
            <a:r>
              <a:rPr lang="en-US" sz="2000" b="1" dirty="0"/>
              <a:t>         0.000000         11.000000</a:t>
            </a:r>
          </a:p>
          <a:p>
            <a:r>
              <a:rPr lang="en-US" sz="2000" b="1" dirty="0">
                <a:solidFill>
                  <a:srgbClr val="FF0000"/>
                </a:solidFill>
              </a:rPr>
              <a:t>       </a:t>
            </a:r>
            <a:r>
              <a:rPr lang="en-US" sz="2000" b="1" dirty="0" err="1">
                <a:solidFill>
                  <a:srgbClr val="FF0000"/>
                </a:solidFill>
              </a:rPr>
              <a:t>X21</a:t>
            </a:r>
            <a:r>
              <a:rPr lang="en-US" sz="2000" b="1" dirty="0">
                <a:solidFill>
                  <a:srgbClr val="FF0000"/>
                </a:solidFill>
              </a:rPr>
              <a:t>         1.000000         </a:t>
            </a:r>
            <a:r>
              <a:rPr lang="en-US" sz="2000" b="1" dirty="0"/>
              <a:t>12.000000</a:t>
            </a:r>
          </a:p>
          <a:p>
            <a:r>
              <a:rPr lang="en-US" sz="2000" b="1" dirty="0"/>
              <a:t>       </a:t>
            </a:r>
            <a:r>
              <a:rPr lang="en-US" sz="2000" b="1" dirty="0" err="1"/>
              <a:t>X22</a:t>
            </a:r>
            <a:r>
              <a:rPr lang="en-US" sz="2000" b="1" dirty="0"/>
              <a:t>         0.000000         15.000000</a:t>
            </a:r>
          </a:p>
          <a:p>
            <a:r>
              <a:rPr lang="en-US" sz="2000" b="1" dirty="0"/>
              <a:t>       </a:t>
            </a:r>
            <a:r>
              <a:rPr lang="en-US" sz="2000" b="1" dirty="0" err="1"/>
              <a:t>X23</a:t>
            </a:r>
            <a:r>
              <a:rPr lang="en-US" sz="2000" b="1" dirty="0"/>
              <a:t>         0.000000         14.000000</a:t>
            </a:r>
          </a:p>
          <a:p>
            <a:r>
              <a:rPr lang="en-US" sz="2000" b="1" dirty="0"/>
              <a:t>       </a:t>
            </a:r>
            <a:r>
              <a:rPr lang="en-US" sz="2000" b="1" dirty="0" err="1"/>
              <a:t>X31</a:t>
            </a:r>
            <a:r>
              <a:rPr lang="en-US" sz="2000" b="1" dirty="0"/>
              <a:t>         0.000000         13.000000</a:t>
            </a:r>
          </a:p>
          <a:p>
            <a:r>
              <a:rPr lang="en-US" sz="2000" b="1" dirty="0"/>
              <a:t>       </a:t>
            </a:r>
            <a:r>
              <a:rPr lang="en-US" sz="2000" b="1" dirty="0" err="1"/>
              <a:t>X32</a:t>
            </a:r>
            <a:r>
              <a:rPr lang="en-US" sz="2000" b="1" dirty="0"/>
              <a:t>         0.000000         16.000000</a:t>
            </a:r>
          </a:p>
          <a:p>
            <a:r>
              <a:rPr lang="en-US" sz="2000" b="1" dirty="0"/>
              <a:t>       </a:t>
            </a:r>
            <a:r>
              <a:rPr lang="en-US" sz="2000" b="1" dirty="0" err="1">
                <a:solidFill>
                  <a:srgbClr val="FF0000"/>
                </a:solidFill>
              </a:rPr>
              <a:t>X33</a:t>
            </a:r>
            <a:r>
              <a:rPr lang="en-US" sz="2000" b="1" dirty="0">
                <a:solidFill>
                  <a:srgbClr val="FF0000"/>
                </a:solidFill>
              </a:rPr>
              <a:t>         1.000000         </a:t>
            </a:r>
            <a:r>
              <a:rPr lang="en-US" sz="2000" b="1" dirty="0"/>
              <a:t>12.000000</a:t>
            </a:r>
            <a:endParaRPr lang="es-PE" sz="2000" b="1" dirty="0"/>
          </a:p>
        </p:txBody>
      </p:sp>
      <p:sp>
        <p:nvSpPr>
          <p:cNvPr id="5" name="Título 1">
            <a:extLst>
              <a:ext uri="{FF2B5EF4-FFF2-40B4-BE49-F238E27FC236}">
                <a16:creationId xmlns:a16="http://schemas.microsoft.com/office/drawing/2014/main" id="{EB854B89-66A3-40D9-90BF-150AE4F34C0D}"/>
              </a:ext>
            </a:extLst>
          </p:cNvPr>
          <p:cNvSpPr txBox="1">
            <a:spLocks/>
          </p:cNvSpPr>
          <p:nvPr/>
        </p:nvSpPr>
        <p:spPr>
          <a:xfrm>
            <a:off x="6096000" y="324758"/>
            <a:ext cx="6096000" cy="364431"/>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PE" sz="3200" dirty="0">
                <a:solidFill>
                  <a:schemeClr val="bg1"/>
                </a:solidFill>
                <a:latin typeface="Bauhaus 93" pitchFamily="82" charset="0"/>
                <a:ea typeface="+mn-ea"/>
                <a:cs typeface="+mn-cs"/>
              </a:rPr>
              <a:t>Lindo</a:t>
            </a:r>
          </a:p>
        </p:txBody>
      </p:sp>
      <p:graphicFrame>
        <p:nvGraphicFramePr>
          <p:cNvPr id="8" name="Tabla 7">
            <a:extLst>
              <a:ext uri="{FF2B5EF4-FFF2-40B4-BE49-F238E27FC236}">
                <a16:creationId xmlns:a16="http://schemas.microsoft.com/office/drawing/2014/main" id="{6D2A5FB3-3217-4389-BB81-12B8E9E7D61C}"/>
              </a:ext>
            </a:extLst>
          </p:cNvPr>
          <p:cNvGraphicFramePr>
            <a:graphicFrameLocks noGrp="1"/>
          </p:cNvGraphicFramePr>
          <p:nvPr>
            <p:extLst>
              <p:ext uri="{D42A27DB-BD31-4B8C-83A1-F6EECF244321}">
                <p14:modId xmlns:p14="http://schemas.microsoft.com/office/powerpoint/2010/main" val="1413774963"/>
              </p:ext>
            </p:extLst>
          </p:nvPr>
        </p:nvGraphicFramePr>
        <p:xfrm>
          <a:off x="7420154" y="5169393"/>
          <a:ext cx="3664788" cy="1571625"/>
        </p:xfrm>
        <a:graphic>
          <a:graphicData uri="http://schemas.openxmlformats.org/drawingml/2006/table">
            <a:tbl>
              <a:tblPr>
                <a:tableStyleId>{5C22544A-7EE6-4342-B048-85BDC9FD1C3A}</a:tableStyleId>
              </a:tblPr>
              <a:tblGrid>
                <a:gridCol w="635512">
                  <a:extLst>
                    <a:ext uri="{9D8B030D-6E8A-4147-A177-3AD203B41FA5}">
                      <a16:colId xmlns:a16="http://schemas.microsoft.com/office/drawing/2014/main" val="848170678"/>
                    </a:ext>
                  </a:extLst>
                </a:gridCol>
                <a:gridCol w="635512">
                  <a:extLst>
                    <a:ext uri="{9D8B030D-6E8A-4147-A177-3AD203B41FA5}">
                      <a16:colId xmlns:a16="http://schemas.microsoft.com/office/drawing/2014/main" val="3615104591"/>
                    </a:ext>
                  </a:extLst>
                </a:gridCol>
                <a:gridCol w="635512">
                  <a:extLst>
                    <a:ext uri="{9D8B030D-6E8A-4147-A177-3AD203B41FA5}">
                      <a16:colId xmlns:a16="http://schemas.microsoft.com/office/drawing/2014/main" val="3121758900"/>
                    </a:ext>
                  </a:extLst>
                </a:gridCol>
                <a:gridCol w="728931">
                  <a:extLst>
                    <a:ext uri="{9D8B030D-6E8A-4147-A177-3AD203B41FA5}">
                      <a16:colId xmlns:a16="http://schemas.microsoft.com/office/drawing/2014/main" val="1496261260"/>
                    </a:ext>
                  </a:extLst>
                </a:gridCol>
                <a:gridCol w="1029321">
                  <a:extLst>
                    <a:ext uri="{9D8B030D-6E8A-4147-A177-3AD203B41FA5}">
                      <a16:colId xmlns:a16="http://schemas.microsoft.com/office/drawing/2014/main" val="2213391138"/>
                    </a:ext>
                  </a:extLst>
                </a:gridCol>
              </a:tblGrid>
              <a:tr h="231799">
                <a:tc gridSpan="5">
                  <a:txBody>
                    <a:bodyPr/>
                    <a:lstStyle/>
                    <a:p>
                      <a:pPr algn="ctr" fontAlgn="b"/>
                      <a:r>
                        <a:rPr lang="es-PE" sz="2000" b="1" u="none" strike="noStrike" dirty="0">
                          <a:solidFill>
                            <a:srgbClr val="FF0000"/>
                          </a:solidFill>
                          <a:effectLst/>
                          <a:latin typeface="Arial Narrow" pitchFamily="34" charset="0"/>
                        </a:rPr>
                        <a:t>Respuesta</a:t>
                      </a:r>
                      <a:endParaRPr lang="es-PE" sz="2000" b="1" i="0" u="none" strike="noStrike" dirty="0">
                        <a:solidFill>
                          <a:srgbClr val="FF0000"/>
                        </a:solidFill>
                        <a:effectLst/>
                        <a:latin typeface="Arial Narrow" pitchFamily="34" charset="0"/>
                      </a:endParaRPr>
                    </a:p>
                  </a:txBody>
                  <a:tcPr marL="9525" marR="9525" marT="9525" marB="0" anchor="b">
                    <a:solidFill>
                      <a:schemeClr val="bg1"/>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410217992"/>
                  </a:ext>
                </a:extLst>
              </a:tr>
              <a:tr h="240545">
                <a:tc gridSpan="4">
                  <a:txBody>
                    <a:bodyPr/>
                    <a:lstStyle/>
                    <a:p>
                      <a:pPr algn="l" fontAlgn="b"/>
                      <a:r>
                        <a:rPr lang="es-PE" sz="2000" b="1" u="none" strike="noStrike" dirty="0">
                          <a:effectLst/>
                          <a:latin typeface="Arial Narrow" pitchFamily="34" charset="0"/>
                        </a:rPr>
                        <a:t>A Abby se le asigna Pintar</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latin typeface="Arial Narrow" pitchFamily="34" charset="0"/>
                        </a:rPr>
                        <a:t>14</a:t>
                      </a:r>
                      <a:endParaRPr lang="es-PE" sz="2000" b="1" i="0" u="none" strike="noStrike" dirty="0">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2129442733"/>
                  </a:ext>
                </a:extLst>
              </a:tr>
              <a:tr h="240545">
                <a:tc gridSpan="4">
                  <a:txBody>
                    <a:bodyPr/>
                    <a:lstStyle/>
                    <a:p>
                      <a:pPr algn="l" fontAlgn="b"/>
                      <a:r>
                        <a:rPr lang="es-PE" sz="2000" b="1" u="none" strike="noStrike" dirty="0">
                          <a:effectLst/>
                          <a:latin typeface="Arial Narrow" pitchFamily="34" charset="0"/>
                        </a:rPr>
                        <a:t>A </a:t>
                      </a:r>
                      <a:r>
                        <a:rPr lang="es-PE" sz="2000" b="1" u="none" strike="noStrike" dirty="0" err="1">
                          <a:effectLst/>
                          <a:latin typeface="Arial Narrow" pitchFamily="34" charset="0"/>
                        </a:rPr>
                        <a:t>Jhon</a:t>
                      </a:r>
                      <a:r>
                        <a:rPr lang="es-PE" sz="2000" b="1" u="none" strike="noStrike" dirty="0">
                          <a:effectLst/>
                          <a:latin typeface="Arial Narrow" pitchFamily="34" charset="0"/>
                        </a:rPr>
                        <a:t> se le asigna Podar</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latin typeface="Arial Narrow" pitchFamily="34" charset="0"/>
                        </a:rPr>
                        <a:t>12</a:t>
                      </a:r>
                      <a:endParaRPr lang="es-PE" sz="2000" b="1" i="0" u="none" strike="noStrike" dirty="0">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2227419128"/>
                  </a:ext>
                </a:extLst>
              </a:tr>
              <a:tr h="258053">
                <a:tc gridSpan="4">
                  <a:txBody>
                    <a:bodyPr/>
                    <a:lstStyle/>
                    <a:p>
                      <a:pPr algn="l" fontAlgn="b"/>
                      <a:r>
                        <a:rPr lang="it-IT" sz="2000" b="1" u="none" strike="noStrike" dirty="0">
                          <a:effectLst/>
                          <a:latin typeface="Arial Narrow" pitchFamily="34" charset="0"/>
                        </a:rPr>
                        <a:t>A karen se le asigna lavar</a:t>
                      </a:r>
                      <a:endParaRPr lang="it-IT"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latin typeface="Arial Narrow" pitchFamily="34" charset="0"/>
                        </a:rPr>
                        <a:t>12</a:t>
                      </a:r>
                      <a:endParaRPr lang="es-PE" sz="2000" b="1" i="0" u="none" strike="noStrike" dirty="0">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372440071"/>
                  </a:ext>
                </a:extLst>
              </a:tr>
              <a:tr h="240545">
                <a:tc>
                  <a:txBody>
                    <a:bodyPr/>
                    <a:lstStyle/>
                    <a:p>
                      <a:pPr algn="l" fontAlgn="b"/>
                      <a:r>
                        <a:rPr lang="es-PE" sz="2000" b="1" u="none" strike="noStrike" dirty="0">
                          <a:effectLst/>
                          <a:latin typeface="Arial Narrow" pitchFamily="34" charset="0"/>
                        </a:rPr>
                        <a:t> </a:t>
                      </a:r>
                      <a:endParaRPr lang="es-PE" sz="2000" b="1"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l" fontAlgn="b"/>
                      <a:r>
                        <a:rPr lang="es-PE" sz="2000" b="1" u="none" strike="noStrike" dirty="0">
                          <a:effectLst/>
                          <a:latin typeface="Arial Narrow" pitchFamily="34" charset="0"/>
                        </a:rPr>
                        <a:t> </a:t>
                      </a:r>
                      <a:endParaRPr lang="es-PE" sz="2000" b="1"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l" fontAlgn="b"/>
                      <a:r>
                        <a:rPr lang="es-PE" sz="2000" b="1" u="none" strike="noStrike" dirty="0">
                          <a:effectLst/>
                          <a:latin typeface="Arial Narrow" pitchFamily="34" charset="0"/>
                        </a:rPr>
                        <a:t> </a:t>
                      </a:r>
                      <a:endParaRPr lang="es-PE" sz="2000" b="1"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l" fontAlgn="b"/>
                      <a:r>
                        <a:rPr lang="es-PE" sz="2000" b="1" u="none" strike="noStrike" dirty="0">
                          <a:effectLst/>
                          <a:latin typeface="Arial Narrow" pitchFamily="34" charset="0"/>
                        </a:rPr>
                        <a:t>TOTAL</a:t>
                      </a:r>
                      <a:endParaRPr lang="es-PE" sz="2000" b="1"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ctr" fontAlgn="b"/>
                      <a:r>
                        <a:rPr lang="es-PE" sz="2000" b="1" u="none" strike="noStrike" dirty="0">
                          <a:effectLst/>
                          <a:latin typeface="Arial Narrow" pitchFamily="34" charset="0"/>
                        </a:rPr>
                        <a:t>38</a:t>
                      </a:r>
                      <a:endParaRPr lang="es-PE" sz="2000" b="1" i="0" u="none" strike="noStrike" dirty="0">
                        <a:solidFill>
                          <a:srgbClr val="000000"/>
                        </a:solidFill>
                        <a:effectLst/>
                        <a:latin typeface="Arial Narrow" pitchFamily="34" charset="0"/>
                      </a:endParaRPr>
                    </a:p>
                  </a:txBody>
                  <a:tcPr marL="9525" marR="9525" marT="9525" marB="0" anchor="b">
                    <a:solidFill>
                      <a:schemeClr val="bg1"/>
                    </a:solidFill>
                  </a:tcPr>
                </a:tc>
                <a:extLst>
                  <a:ext uri="{0D108BD9-81ED-4DB2-BD59-A6C34878D82A}">
                    <a16:rowId xmlns:a16="http://schemas.microsoft.com/office/drawing/2014/main" val="754769760"/>
                  </a:ext>
                </a:extLst>
              </a:tr>
            </a:tbl>
          </a:graphicData>
        </a:graphic>
      </p:graphicFrame>
      <p:graphicFrame>
        <p:nvGraphicFramePr>
          <p:cNvPr id="7" name="3 Tabla">
            <a:extLst>
              <a:ext uri="{FF2B5EF4-FFF2-40B4-BE49-F238E27FC236}">
                <a16:creationId xmlns:a16="http://schemas.microsoft.com/office/drawing/2014/main" id="{159C7577-EDFB-8414-7B4E-D52E91B048C0}"/>
              </a:ext>
            </a:extLst>
          </p:cNvPr>
          <p:cNvGraphicFramePr>
            <a:graphicFrameLocks noGrp="1"/>
          </p:cNvGraphicFramePr>
          <p:nvPr>
            <p:extLst>
              <p:ext uri="{D42A27DB-BD31-4B8C-83A1-F6EECF244321}">
                <p14:modId xmlns:p14="http://schemas.microsoft.com/office/powerpoint/2010/main" val="2566783855"/>
              </p:ext>
            </p:extLst>
          </p:nvPr>
        </p:nvGraphicFramePr>
        <p:xfrm>
          <a:off x="2556588" y="4481699"/>
          <a:ext cx="3467404" cy="1880527"/>
        </p:xfrm>
        <a:graphic>
          <a:graphicData uri="http://schemas.openxmlformats.org/drawingml/2006/table">
            <a:tbl>
              <a:tblPr firstRow="1" bandRow="1">
                <a:tableStyleId>{5C22544A-7EE6-4342-B048-85BDC9FD1C3A}</a:tableStyleId>
              </a:tblPr>
              <a:tblGrid>
                <a:gridCol w="783771">
                  <a:extLst>
                    <a:ext uri="{9D8B030D-6E8A-4147-A177-3AD203B41FA5}">
                      <a16:colId xmlns:a16="http://schemas.microsoft.com/office/drawing/2014/main" val="20000"/>
                    </a:ext>
                  </a:extLst>
                </a:gridCol>
                <a:gridCol w="839755">
                  <a:extLst>
                    <a:ext uri="{9D8B030D-6E8A-4147-A177-3AD203B41FA5}">
                      <a16:colId xmlns:a16="http://schemas.microsoft.com/office/drawing/2014/main" val="20001"/>
                    </a:ext>
                  </a:extLst>
                </a:gridCol>
                <a:gridCol w="886408">
                  <a:extLst>
                    <a:ext uri="{9D8B030D-6E8A-4147-A177-3AD203B41FA5}">
                      <a16:colId xmlns:a16="http://schemas.microsoft.com/office/drawing/2014/main" val="20002"/>
                    </a:ext>
                  </a:extLst>
                </a:gridCol>
                <a:gridCol w="957470">
                  <a:extLst>
                    <a:ext uri="{9D8B030D-6E8A-4147-A177-3AD203B41FA5}">
                      <a16:colId xmlns:a16="http://schemas.microsoft.com/office/drawing/2014/main" val="20003"/>
                    </a:ext>
                  </a:extLst>
                </a:gridCol>
              </a:tblGrid>
              <a:tr h="382046">
                <a:tc>
                  <a:txBody>
                    <a:bodyPr/>
                    <a:lstStyle/>
                    <a:p>
                      <a:pPr algn="ctr"/>
                      <a:endParaRPr lang="es-PE" sz="1600" b="1" dirty="0">
                        <a:latin typeface="Arial Narrow"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600" b="1" dirty="0">
                          <a:solidFill>
                            <a:schemeClr val="tx1"/>
                          </a:solidFill>
                          <a:latin typeface="Arial Narrow" pitchFamily="34" charset="0"/>
                        </a:rPr>
                        <a:t>Podar el césped</a:t>
                      </a:r>
                      <a:endParaRPr lang="es-PE" sz="1600" b="1" dirty="0"/>
                    </a:p>
                  </a:txBody>
                  <a:tcPr/>
                </a:tc>
                <a:tc>
                  <a:txBody>
                    <a:bodyPr/>
                    <a:lstStyle/>
                    <a:p>
                      <a:pPr algn="ctr"/>
                      <a:r>
                        <a:rPr lang="es-ES" sz="1600" b="1" dirty="0">
                          <a:solidFill>
                            <a:schemeClr val="tx1"/>
                          </a:solidFill>
                          <a:latin typeface="Arial Narrow" pitchFamily="34" charset="0"/>
                        </a:rPr>
                        <a:t>Pintar la fachada</a:t>
                      </a:r>
                      <a:endParaRPr lang="es-PE" sz="1600" b="1" dirty="0">
                        <a:solidFill>
                          <a:schemeClr val="tx1"/>
                        </a:solidFill>
                        <a:latin typeface="Arial Narrow" pitchFamily="34" charset="0"/>
                      </a:endParaRPr>
                    </a:p>
                  </a:txBody>
                  <a:tcPr/>
                </a:tc>
                <a:tc>
                  <a:txBody>
                    <a:bodyPr/>
                    <a:lstStyle/>
                    <a:p>
                      <a:pPr algn="ctr"/>
                      <a:r>
                        <a:rPr lang="es-ES" sz="1600" b="1" dirty="0">
                          <a:solidFill>
                            <a:schemeClr val="tx1"/>
                          </a:solidFill>
                          <a:latin typeface="Arial Narrow" pitchFamily="34" charset="0"/>
                        </a:rPr>
                        <a:t>Lavar los carros</a:t>
                      </a:r>
                      <a:endParaRPr lang="es-PE" sz="1600" b="1" dirty="0">
                        <a:solidFill>
                          <a:schemeClr val="tx1"/>
                        </a:solidFill>
                        <a:latin typeface="Arial Narrow" pitchFamily="34" charset="0"/>
                      </a:endParaRPr>
                    </a:p>
                  </a:txBody>
                  <a:tcPr/>
                </a:tc>
                <a:extLst>
                  <a:ext uri="{0D108BD9-81ED-4DB2-BD59-A6C34878D82A}">
                    <a16:rowId xmlns:a16="http://schemas.microsoft.com/office/drawing/2014/main" val="10000"/>
                  </a:ext>
                </a:extLst>
              </a:tr>
              <a:tr h="438727">
                <a:tc>
                  <a:txBody>
                    <a:bodyPr/>
                    <a:lstStyle/>
                    <a:p>
                      <a:pPr algn="ctr"/>
                      <a:r>
                        <a:rPr lang="es-ES" sz="2000" b="1" dirty="0">
                          <a:latin typeface="Arial Narrow" pitchFamily="34" charset="0"/>
                        </a:rPr>
                        <a:t>Abby</a:t>
                      </a:r>
                      <a:endParaRPr lang="es-PE" sz="2000" b="1" dirty="0">
                        <a:latin typeface="Arial Narrow" pitchFamily="34" charset="0"/>
                      </a:endParaRPr>
                    </a:p>
                  </a:txBody>
                  <a:tcPr anchor="ctr"/>
                </a:tc>
                <a:tc>
                  <a:txBody>
                    <a:bodyPr/>
                    <a:lstStyle/>
                    <a:p>
                      <a:pPr algn="ctr" fontAlgn="b"/>
                      <a:r>
                        <a:rPr lang="es-PE" sz="2000" b="1" u="none" strike="noStrike" dirty="0">
                          <a:effectLst/>
                          <a:latin typeface="Arial Narrow" pitchFamily="34" charset="0"/>
                        </a:rPr>
                        <a:t>13</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14</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11</a:t>
                      </a:r>
                      <a:endParaRPr lang="es-PE" sz="2000" b="1" i="0" u="none" strike="noStrike" dirty="0">
                        <a:solidFill>
                          <a:srgbClr val="000000"/>
                        </a:solidFill>
                        <a:effectLst/>
                        <a:latin typeface="Arial Narrow" pitchFamily="34" charset="0"/>
                      </a:endParaRPr>
                    </a:p>
                  </a:txBody>
                  <a:tcPr marL="9525" marR="9525" marT="9525" marB="0" anchor="ctr"/>
                </a:tc>
                <a:extLst>
                  <a:ext uri="{0D108BD9-81ED-4DB2-BD59-A6C34878D82A}">
                    <a16:rowId xmlns:a16="http://schemas.microsoft.com/office/drawing/2014/main" val="10001"/>
                  </a:ext>
                </a:extLst>
              </a:tr>
              <a:tr h="371119">
                <a:tc>
                  <a:txBody>
                    <a:bodyPr/>
                    <a:lstStyle/>
                    <a:p>
                      <a:pPr algn="ctr"/>
                      <a:r>
                        <a:rPr lang="es-ES" sz="2000" b="1" dirty="0">
                          <a:latin typeface="Arial Narrow" pitchFamily="34" charset="0"/>
                        </a:rPr>
                        <a:t>John</a:t>
                      </a:r>
                      <a:endParaRPr lang="es-PE" sz="2000" b="1" dirty="0">
                        <a:latin typeface="Arial Narrow" pitchFamily="34" charset="0"/>
                      </a:endParaRPr>
                    </a:p>
                  </a:txBody>
                  <a:tcPr anchor="ctr"/>
                </a:tc>
                <a:tc>
                  <a:txBody>
                    <a:bodyPr/>
                    <a:lstStyle/>
                    <a:p>
                      <a:pPr algn="ctr" fontAlgn="b"/>
                      <a:r>
                        <a:rPr lang="es-PE" sz="2000" b="1" u="none" strike="noStrike" dirty="0">
                          <a:effectLst/>
                          <a:latin typeface="Arial Narrow" pitchFamily="34" charset="0"/>
                        </a:rPr>
                        <a:t>12</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15</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14</a:t>
                      </a:r>
                      <a:endParaRPr lang="es-PE" sz="2000" b="1" i="0" u="none" strike="noStrike" dirty="0">
                        <a:solidFill>
                          <a:srgbClr val="000000"/>
                        </a:solidFill>
                        <a:effectLst/>
                        <a:latin typeface="Arial Narrow" pitchFamily="34" charset="0"/>
                      </a:endParaRPr>
                    </a:p>
                  </a:txBody>
                  <a:tcPr marL="9525" marR="9525" marT="9525" marB="0" anchor="ctr"/>
                </a:tc>
                <a:extLst>
                  <a:ext uri="{0D108BD9-81ED-4DB2-BD59-A6C34878D82A}">
                    <a16:rowId xmlns:a16="http://schemas.microsoft.com/office/drawing/2014/main" val="10002"/>
                  </a:ext>
                </a:extLst>
              </a:tr>
              <a:tr h="466440">
                <a:tc>
                  <a:txBody>
                    <a:bodyPr/>
                    <a:lstStyle/>
                    <a:p>
                      <a:pPr marL="0" algn="ctr" defTabSz="914400" rtl="0" eaLnBrk="1" latinLnBrk="0" hangingPunct="1"/>
                      <a:r>
                        <a:rPr lang="es-ES" sz="2000" b="1" kern="1200" dirty="0">
                          <a:solidFill>
                            <a:schemeClr val="dk1"/>
                          </a:solidFill>
                          <a:latin typeface="Arial Narrow" pitchFamily="34" charset="0"/>
                          <a:ea typeface="+mn-ea"/>
                          <a:cs typeface="+mn-cs"/>
                        </a:rPr>
                        <a:t>Karen</a:t>
                      </a:r>
                      <a:endParaRPr lang="es-PE" sz="2000" b="1" kern="1200" dirty="0">
                        <a:solidFill>
                          <a:schemeClr val="dk1"/>
                        </a:solidFill>
                        <a:latin typeface="Arial Narrow" pitchFamily="34" charset="0"/>
                        <a:ea typeface="+mn-ea"/>
                        <a:cs typeface="+mn-cs"/>
                      </a:endParaRPr>
                    </a:p>
                  </a:txBody>
                  <a:tcPr anchor="ctr"/>
                </a:tc>
                <a:tc>
                  <a:txBody>
                    <a:bodyPr/>
                    <a:lstStyle/>
                    <a:p>
                      <a:pPr algn="ctr" fontAlgn="b"/>
                      <a:r>
                        <a:rPr lang="es-PE" sz="2000" b="1" u="none" strike="noStrike" dirty="0">
                          <a:effectLst/>
                          <a:latin typeface="Arial Narrow" pitchFamily="34" charset="0"/>
                        </a:rPr>
                        <a:t>13</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16</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12</a:t>
                      </a:r>
                      <a:endParaRPr lang="es-PE" sz="2000" b="1" i="0" u="none" strike="noStrike" dirty="0">
                        <a:solidFill>
                          <a:srgbClr val="000000"/>
                        </a:solidFill>
                        <a:effectLst/>
                        <a:latin typeface="Arial Narrow" pitchFamily="34" charset="0"/>
                      </a:endParaRPr>
                    </a:p>
                  </a:txBody>
                  <a:tcPr marL="9525" marR="9525" marT="9525"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32179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096000" y="304507"/>
            <a:ext cx="6096000" cy="490066"/>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 sz="3200" dirty="0">
                <a:solidFill>
                  <a:schemeClr val="bg1"/>
                </a:solidFill>
                <a:latin typeface="Bauhaus 93" pitchFamily="82" charset="0"/>
                <a:ea typeface="+mn-ea"/>
                <a:cs typeface="+mn-cs"/>
              </a:rPr>
              <a:t>Método Húngaro</a:t>
            </a:r>
            <a:endParaRPr lang="es-PE" sz="3200" dirty="0">
              <a:solidFill>
                <a:schemeClr val="bg1"/>
              </a:solidFill>
              <a:latin typeface="Bauhaus 93" pitchFamily="82" charset="0"/>
              <a:ea typeface="+mn-ea"/>
              <a:cs typeface="+mn-cs"/>
            </a:endParaRPr>
          </a:p>
        </p:txBody>
      </p:sp>
      <p:sp>
        <p:nvSpPr>
          <p:cNvPr id="7" name="Forma libre: forma 6">
            <a:extLst>
              <a:ext uri="{FF2B5EF4-FFF2-40B4-BE49-F238E27FC236}">
                <a16:creationId xmlns:a16="http://schemas.microsoft.com/office/drawing/2014/main" id="{E8F5DF99-8D86-4626-9019-4EEE0E5D233F}"/>
              </a:ext>
            </a:extLst>
          </p:cNvPr>
          <p:cNvSpPr/>
          <p:nvPr/>
        </p:nvSpPr>
        <p:spPr>
          <a:xfrm>
            <a:off x="171760" y="1273671"/>
            <a:ext cx="1476498" cy="5000770"/>
          </a:xfrm>
          <a:custGeom>
            <a:avLst/>
            <a:gdLst>
              <a:gd name="connsiteX0" fmla="*/ 0 w 1476498"/>
              <a:gd name="connsiteY0" fmla="*/ 246088 h 5000770"/>
              <a:gd name="connsiteX1" fmla="*/ 246088 w 1476498"/>
              <a:gd name="connsiteY1" fmla="*/ 0 h 5000770"/>
              <a:gd name="connsiteX2" fmla="*/ 1230410 w 1476498"/>
              <a:gd name="connsiteY2" fmla="*/ 0 h 5000770"/>
              <a:gd name="connsiteX3" fmla="*/ 1476498 w 1476498"/>
              <a:gd name="connsiteY3" fmla="*/ 246088 h 5000770"/>
              <a:gd name="connsiteX4" fmla="*/ 1476498 w 1476498"/>
              <a:gd name="connsiteY4" fmla="*/ 4754682 h 5000770"/>
              <a:gd name="connsiteX5" fmla="*/ 1230410 w 1476498"/>
              <a:gd name="connsiteY5" fmla="*/ 5000770 h 5000770"/>
              <a:gd name="connsiteX6" fmla="*/ 246088 w 1476498"/>
              <a:gd name="connsiteY6" fmla="*/ 5000770 h 5000770"/>
              <a:gd name="connsiteX7" fmla="*/ 0 w 1476498"/>
              <a:gd name="connsiteY7" fmla="*/ 4754682 h 5000770"/>
              <a:gd name="connsiteX8" fmla="*/ 0 w 1476498"/>
              <a:gd name="connsiteY8" fmla="*/ 246088 h 500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498" h="5000770">
                <a:moveTo>
                  <a:pt x="0" y="246088"/>
                </a:moveTo>
                <a:cubicBezTo>
                  <a:pt x="0" y="110177"/>
                  <a:pt x="110177" y="0"/>
                  <a:pt x="246088" y="0"/>
                </a:cubicBezTo>
                <a:lnTo>
                  <a:pt x="1230410" y="0"/>
                </a:lnTo>
                <a:cubicBezTo>
                  <a:pt x="1366321" y="0"/>
                  <a:pt x="1476498" y="110177"/>
                  <a:pt x="1476498" y="246088"/>
                </a:cubicBezTo>
                <a:lnTo>
                  <a:pt x="1476498" y="4754682"/>
                </a:lnTo>
                <a:cubicBezTo>
                  <a:pt x="1476498" y="4890593"/>
                  <a:pt x="1366321" y="5000770"/>
                  <a:pt x="1230410" y="5000770"/>
                </a:cubicBezTo>
                <a:lnTo>
                  <a:pt x="246088" y="5000770"/>
                </a:lnTo>
                <a:cubicBezTo>
                  <a:pt x="110177" y="5000770"/>
                  <a:pt x="0" y="4890593"/>
                  <a:pt x="0" y="4754682"/>
                </a:cubicBezTo>
                <a:lnTo>
                  <a:pt x="0" y="246088"/>
                </a:lnTo>
                <a:close/>
              </a:path>
            </a:pathLst>
          </a:custGeom>
          <a:solidFill>
            <a:schemeClr val="tx2">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277" tIns="110177" rIns="148277" bIns="110177" numCol="1" spcCol="1270" anchor="ctr" anchorCtr="0">
            <a:noAutofit/>
          </a:bodyPr>
          <a:lstStyle/>
          <a:p>
            <a:pPr marL="0" lvl="0" indent="0" algn="ctr" defTabSz="889000" rtl="0">
              <a:lnSpc>
                <a:spcPct val="150000"/>
              </a:lnSpc>
              <a:spcBef>
                <a:spcPct val="0"/>
              </a:spcBef>
              <a:spcAft>
                <a:spcPct val="35000"/>
              </a:spcAft>
              <a:buNone/>
            </a:pPr>
            <a:r>
              <a:rPr lang="es-ES" sz="2000" b="0" kern="1200" dirty="0">
                <a:latin typeface="Arial Narrow" panose="020B0606020202030204" pitchFamily="34" charset="0"/>
              </a:rPr>
              <a:t>Es un algoritmo matemático que nos permite resolver problemas de asignación</a:t>
            </a:r>
            <a:endParaRPr lang="es-PE" sz="2000" kern="1200" dirty="0">
              <a:latin typeface="Arial Narrow" panose="020B0606020202030204" pitchFamily="34" charset="0"/>
            </a:endParaRPr>
          </a:p>
        </p:txBody>
      </p:sp>
      <p:sp>
        <p:nvSpPr>
          <p:cNvPr id="11" name="Forma libre: forma 10">
            <a:extLst>
              <a:ext uri="{FF2B5EF4-FFF2-40B4-BE49-F238E27FC236}">
                <a16:creationId xmlns:a16="http://schemas.microsoft.com/office/drawing/2014/main" id="{3EFFBFC3-FB66-4B5B-86B8-1E3AED576014}"/>
              </a:ext>
            </a:extLst>
          </p:cNvPr>
          <p:cNvSpPr/>
          <p:nvPr/>
        </p:nvSpPr>
        <p:spPr>
          <a:xfrm>
            <a:off x="6269135" y="1273403"/>
            <a:ext cx="1476155" cy="5035815"/>
          </a:xfrm>
          <a:custGeom>
            <a:avLst/>
            <a:gdLst>
              <a:gd name="connsiteX0" fmla="*/ 0 w 1476155"/>
              <a:gd name="connsiteY0" fmla="*/ 246031 h 5035815"/>
              <a:gd name="connsiteX1" fmla="*/ 246031 w 1476155"/>
              <a:gd name="connsiteY1" fmla="*/ 0 h 5035815"/>
              <a:gd name="connsiteX2" fmla="*/ 1230124 w 1476155"/>
              <a:gd name="connsiteY2" fmla="*/ 0 h 5035815"/>
              <a:gd name="connsiteX3" fmla="*/ 1476155 w 1476155"/>
              <a:gd name="connsiteY3" fmla="*/ 246031 h 5035815"/>
              <a:gd name="connsiteX4" fmla="*/ 1476155 w 1476155"/>
              <a:gd name="connsiteY4" fmla="*/ 4789784 h 5035815"/>
              <a:gd name="connsiteX5" fmla="*/ 1230124 w 1476155"/>
              <a:gd name="connsiteY5" fmla="*/ 5035815 h 5035815"/>
              <a:gd name="connsiteX6" fmla="*/ 246031 w 1476155"/>
              <a:gd name="connsiteY6" fmla="*/ 5035815 h 5035815"/>
              <a:gd name="connsiteX7" fmla="*/ 0 w 1476155"/>
              <a:gd name="connsiteY7" fmla="*/ 4789784 h 5035815"/>
              <a:gd name="connsiteX8" fmla="*/ 0 w 1476155"/>
              <a:gd name="connsiteY8" fmla="*/ 246031 h 503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155" h="5035815">
                <a:moveTo>
                  <a:pt x="0" y="246031"/>
                </a:moveTo>
                <a:cubicBezTo>
                  <a:pt x="0" y="110152"/>
                  <a:pt x="110152" y="0"/>
                  <a:pt x="246031" y="0"/>
                </a:cubicBezTo>
                <a:lnTo>
                  <a:pt x="1230124" y="0"/>
                </a:lnTo>
                <a:cubicBezTo>
                  <a:pt x="1366003" y="0"/>
                  <a:pt x="1476155" y="110152"/>
                  <a:pt x="1476155" y="246031"/>
                </a:cubicBezTo>
                <a:lnTo>
                  <a:pt x="1476155" y="4789784"/>
                </a:lnTo>
                <a:cubicBezTo>
                  <a:pt x="1476155" y="4925663"/>
                  <a:pt x="1366003" y="5035815"/>
                  <a:pt x="1230124" y="5035815"/>
                </a:cubicBezTo>
                <a:lnTo>
                  <a:pt x="246031" y="5035815"/>
                </a:lnTo>
                <a:cubicBezTo>
                  <a:pt x="110152" y="5035815"/>
                  <a:pt x="0" y="4925663"/>
                  <a:pt x="0" y="4789784"/>
                </a:cubicBezTo>
                <a:lnTo>
                  <a:pt x="0" y="246031"/>
                </a:lnTo>
                <a:close/>
              </a:path>
            </a:pathLst>
          </a:custGeom>
          <a:solidFill>
            <a:schemeClr val="tx2">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260" tIns="110160" rIns="148260" bIns="110160" numCol="1" spcCol="1270" anchor="ctr" anchorCtr="0">
            <a:noAutofit/>
          </a:bodyPr>
          <a:lstStyle/>
          <a:p>
            <a:pPr marL="0" lvl="0" indent="0" algn="ctr" defTabSz="889000" rtl="0">
              <a:lnSpc>
                <a:spcPct val="150000"/>
              </a:lnSpc>
              <a:spcBef>
                <a:spcPct val="0"/>
              </a:spcBef>
              <a:spcAft>
                <a:spcPct val="35000"/>
              </a:spcAft>
              <a:buNone/>
            </a:pPr>
            <a:r>
              <a:rPr lang="es-ES" sz="2000" b="0" kern="1200" dirty="0">
                <a:solidFill>
                  <a:schemeClr val="bg1"/>
                </a:solidFill>
                <a:latin typeface="Arial Narrow" pitchFamily="34" charset="0"/>
              </a:rPr>
              <a:t>PASO </a:t>
            </a:r>
            <a:r>
              <a:rPr lang="es-ES" sz="2000" b="0" kern="1200" dirty="0" err="1">
                <a:solidFill>
                  <a:schemeClr val="bg1"/>
                </a:solidFill>
                <a:latin typeface="Arial Narrow" pitchFamily="34" charset="0"/>
              </a:rPr>
              <a:t>2a</a:t>
            </a:r>
            <a:endParaRPr lang="es-ES" sz="2000" b="0" kern="1200" dirty="0">
              <a:solidFill>
                <a:schemeClr val="bg1"/>
              </a:solidFill>
              <a:latin typeface="Arial Narrow" pitchFamily="34" charset="0"/>
            </a:endParaRPr>
          </a:p>
          <a:p>
            <a:pPr marL="0" lvl="0" indent="0" algn="ctr" defTabSz="889000" rtl="0">
              <a:lnSpc>
                <a:spcPct val="150000"/>
              </a:lnSpc>
              <a:spcBef>
                <a:spcPct val="0"/>
              </a:spcBef>
              <a:spcAft>
                <a:spcPct val="35000"/>
              </a:spcAft>
              <a:buNone/>
            </a:pPr>
            <a:r>
              <a:rPr lang="es-ES" sz="2000" b="0" kern="1200" dirty="0">
                <a:solidFill>
                  <a:schemeClr val="bg1"/>
                </a:solidFill>
                <a:latin typeface="Arial Narrow" pitchFamily="34" charset="0"/>
              </a:rPr>
              <a:t>Se aplica c</a:t>
            </a:r>
            <a:r>
              <a:rPr lang="es-ES" sz="2000" b="0" kern="1200" dirty="0">
                <a:latin typeface="Arial Narrow" pitchFamily="34" charset="0"/>
              </a:rPr>
              <a:t>uando no se puede asignar con el paso 3.</a:t>
            </a:r>
          </a:p>
        </p:txBody>
      </p:sp>
      <p:sp>
        <p:nvSpPr>
          <p:cNvPr id="8" name="Forma libre: forma 7">
            <a:extLst>
              <a:ext uri="{FF2B5EF4-FFF2-40B4-BE49-F238E27FC236}">
                <a16:creationId xmlns:a16="http://schemas.microsoft.com/office/drawing/2014/main" id="{7C3C18D8-DAD8-4B3B-B3B1-F538B1E4CD40}"/>
              </a:ext>
            </a:extLst>
          </p:cNvPr>
          <p:cNvSpPr/>
          <p:nvPr/>
        </p:nvSpPr>
        <p:spPr>
          <a:xfrm>
            <a:off x="1648258" y="1295913"/>
            <a:ext cx="4447742" cy="5562087"/>
          </a:xfrm>
          <a:custGeom>
            <a:avLst/>
            <a:gdLst>
              <a:gd name="connsiteX0" fmla="*/ 724426 w 4956284"/>
              <a:gd name="connsiteY0" fmla="*/ 0 h 4346467"/>
              <a:gd name="connsiteX1" fmla="*/ 4231858 w 4956284"/>
              <a:gd name="connsiteY1" fmla="*/ 0 h 4346467"/>
              <a:gd name="connsiteX2" fmla="*/ 4956284 w 4956284"/>
              <a:gd name="connsiteY2" fmla="*/ 724426 h 4346467"/>
              <a:gd name="connsiteX3" fmla="*/ 4956284 w 4956284"/>
              <a:gd name="connsiteY3" fmla="*/ 4346467 h 4346467"/>
              <a:gd name="connsiteX4" fmla="*/ 4956284 w 4956284"/>
              <a:gd name="connsiteY4" fmla="*/ 4346467 h 4346467"/>
              <a:gd name="connsiteX5" fmla="*/ 0 w 4956284"/>
              <a:gd name="connsiteY5" fmla="*/ 4346467 h 4346467"/>
              <a:gd name="connsiteX6" fmla="*/ 0 w 4956284"/>
              <a:gd name="connsiteY6" fmla="*/ 4346467 h 4346467"/>
              <a:gd name="connsiteX7" fmla="*/ 0 w 4956284"/>
              <a:gd name="connsiteY7" fmla="*/ 724426 h 4346467"/>
              <a:gd name="connsiteX8" fmla="*/ 724426 w 4956284"/>
              <a:gd name="connsiteY8" fmla="*/ 0 h 434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6284" h="4346467">
                <a:moveTo>
                  <a:pt x="4956283" y="635294"/>
                </a:moveTo>
                <a:lnTo>
                  <a:pt x="4956283" y="3711173"/>
                </a:lnTo>
                <a:cubicBezTo>
                  <a:pt x="4956283" y="4062036"/>
                  <a:pt x="4586441" y="4346467"/>
                  <a:pt x="4130219" y="4346467"/>
                </a:cubicBezTo>
                <a:lnTo>
                  <a:pt x="1" y="4346467"/>
                </a:lnTo>
                <a:lnTo>
                  <a:pt x="1" y="4346467"/>
                </a:lnTo>
                <a:lnTo>
                  <a:pt x="1" y="0"/>
                </a:lnTo>
                <a:lnTo>
                  <a:pt x="1" y="0"/>
                </a:lnTo>
                <a:lnTo>
                  <a:pt x="4130219" y="0"/>
                </a:lnTo>
                <a:cubicBezTo>
                  <a:pt x="4586441" y="0"/>
                  <a:pt x="4956283" y="284431"/>
                  <a:pt x="4956283" y="6352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36003" rIns="459827" bIns="336002" numCol="1" spcCol="1270" anchor="ctr" anchorCtr="0">
            <a:noAutofit/>
          </a:bodyPr>
          <a:lstStyle/>
          <a:p>
            <a:pPr marL="0" lvl="1" algn="just" defTabSz="889000" rtl="0">
              <a:spcBef>
                <a:spcPct val="0"/>
              </a:spcBef>
              <a:spcAft>
                <a:spcPts val="600"/>
              </a:spcAft>
            </a:pPr>
            <a:r>
              <a:rPr lang="es-ES" sz="2400" b="1" kern="1200" dirty="0">
                <a:solidFill>
                  <a:srgbClr val="FF0000"/>
                </a:solidFill>
                <a:latin typeface="Arial Narrow" panose="020B0606020202030204" pitchFamily="34" charset="0"/>
              </a:rPr>
              <a:t>Pasos:</a:t>
            </a:r>
            <a:endParaRPr lang="es-PE" sz="2400" b="1" kern="1200" dirty="0">
              <a:solidFill>
                <a:srgbClr val="FF0000"/>
              </a:solidFill>
              <a:latin typeface="Arial Narrow" panose="020B0606020202030204" pitchFamily="34" charset="0"/>
            </a:endParaRPr>
          </a:p>
          <a:p>
            <a:pPr marL="269875" lvl="1" indent="-269875" algn="just" defTabSz="889000" rtl="0">
              <a:spcBef>
                <a:spcPct val="0"/>
              </a:spcBef>
              <a:spcAft>
                <a:spcPts val="600"/>
              </a:spcAft>
            </a:pPr>
            <a:r>
              <a:rPr lang="es-ES" sz="2400" b="1" kern="1200" dirty="0">
                <a:latin typeface="Arial Narrow" panose="020B0606020202030204" pitchFamily="34" charset="0"/>
              </a:rPr>
              <a:t>1. Identifique el menor de cada fila y réstelo a los valores de dicha fila</a:t>
            </a:r>
            <a:endParaRPr lang="es-PE" sz="2400" b="1" kern="1200" dirty="0">
              <a:latin typeface="Arial Narrow" panose="020B0606020202030204" pitchFamily="34" charset="0"/>
            </a:endParaRPr>
          </a:p>
          <a:p>
            <a:pPr marL="269875" lvl="1" indent="-269875" algn="just" defTabSz="889000" rtl="0">
              <a:spcBef>
                <a:spcPct val="0"/>
              </a:spcBef>
              <a:spcAft>
                <a:spcPts val="600"/>
              </a:spcAft>
            </a:pPr>
            <a:r>
              <a:rPr lang="es-ES" sz="2400" b="1" kern="1200" dirty="0">
                <a:latin typeface="Arial Narrow" panose="020B0606020202030204" pitchFamily="34" charset="0"/>
              </a:rPr>
              <a:t>2. Identifique el menor de cada columna y réstelo a los valores de dicha columna</a:t>
            </a:r>
            <a:endParaRPr lang="es-PE" sz="2400" b="1" kern="1200" dirty="0">
              <a:latin typeface="Arial Narrow" panose="020B0606020202030204" pitchFamily="34" charset="0"/>
            </a:endParaRPr>
          </a:p>
          <a:p>
            <a:pPr marL="269875" lvl="1" indent="-269875" algn="just" defTabSz="889000" rtl="0">
              <a:spcBef>
                <a:spcPct val="0"/>
              </a:spcBef>
              <a:spcAft>
                <a:spcPts val="600"/>
              </a:spcAft>
            </a:pPr>
            <a:r>
              <a:rPr lang="es-ES" sz="2400" b="1" kern="1200" dirty="0">
                <a:latin typeface="Arial Narrow" panose="020B0606020202030204" pitchFamily="34" charset="0"/>
              </a:rPr>
              <a:t>3. Asigne tomando en cuenta los casilleros donde se hallan los ceros. Recordando que a cada trabajador se le asigna una tarea y cada tarea debe ser realizado por un trabajador.</a:t>
            </a:r>
            <a:endParaRPr lang="es-PE" sz="2400" b="1" kern="1200" dirty="0">
              <a:latin typeface="Arial Narrow" panose="020B0606020202030204" pitchFamily="34" charset="0"/>
            </a:endParaRPr>
          </a:p>
        </p:txBody>
      </p:sp>
      <p:sp>
        <p:nvSpPr>
          <p:cNvPr id="12" name="Forma libre: forma 11">
            <a:extLst>
              <a:ext uri="{FF2B5EF4-FFF2-40B4-BE49-F238E27FC236}">
                <a16:creationId xmlns:a16="http://schemas.microsoft.com/office/drawing/2014/main" id="{291A99D9-AF8B-4E70-8598-FAE9E3194363}"/>
              </a:ext>
            </a:extLst>
          </p:cNvPr>
          <p:cNvSpPr/>
          <p:nvPr/>
        </p:nvSpPr>
        <p:spPr>
          <a:xfrm>
            <a:off x="7745291" y="1291945"/>
            <a:ext cx="4385749" cy="5562087"/>
          </a:xfrm>
          <a:custGeom>
            <a:avLst/>
            <a:gdLst>
              <a:gd name="connsiteX0" fmla="*/ 724257 w 4998731"/>
              <a:gd name="connsiteY0" fmla="*/ 0 h 4345457"/>
              <a:gd name="connsiteX1" fmla="*/ 4274474 w 4998731"/>
              <a:gd name="connsiteY1" fmla="*/ 0 h 4345457"/>
              <a:gd name="connsiteX2" fmla="*/ 4998731 w 4998731"/>
              <a:gd name="connsiteY2" fmla="*/ 724257 h 4345457"/>
              <a:gd name="connsiteX3" fmla="*/ 4998731 w 4998731"/>
              <a:gd name="connsiteY3" fmla="*/ 4345457 h 4345457"/>
              <a:gd name="connsiteX4" fmla="*/ 4998731 w 4998731"/>
              <a:gd name="connsiteY4" fmla="*/ 4345457 h 4345457"/>
              <a:gd name="connsiteX5" fmla="*/ 0 w 4998731"/>
              <a:gd name="connsiteY5" fmla="*/ 4345457 h 4345457"/>
              <a:gd name="connsiteX6" fmla="*/ 0 w 4998731"/>
              <a:gd name="connsiteY6" fmla="*/ 4345457 h 4345457"/>
              <a:gd name="connsiteX7" fmla="*/ 0 w 4998731"/>
              <a:gd name="connsiteY7" fmla="*/ 724257 h 4345457"/>
              <a:gd name="connsiteX8" fmla="*/ 724257 w 4998731"/>
              <a:gd name="connsiteY8" fmla="*/ 0 h 434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98731" h="4345457">
                <a:moveTo>
                  <a:pt x="4998731" y="629605"/>
                </a:moveTo>
                <a:lnTo>
                  <a:pt x="4998731" y="3715852"/>
                </a:lnTo>
                <a:cubicBezTo>
                  <a:pt x="4998731" y="4063573"/>
                  <a:pt x="4625722" y="4345457"/>
                  <a:pt x="4165593" y="4345457"/>
                </a:cubicBezTo>
                <a:lnTo>
                  <a:pt x="0" y="4345457"/>
                </a:lnTo>
                <a:lnTo>
                  <a:pt x="0" y="4345457"/>
                </a:lnTo>
                <a:lnTo>
                  <a:pt x="0" y="0"/>
                </a:lnTo>
                <a:lnTo>
                  <a:pt x="0" y="0"/>
                </a:lnTo>
                <a:lnTo>
                  <a:pt x="4165593" y="0"/>
                </a:lnTo>
                <a:cubicBezTo>
                  <a:pt x="4625722" y="0"/>
                  <a:pt x="4998731" y="281884"/>
                  <a:pt x="4998731" y="629605"/>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36003" rIns="459827" bIns="336002" numCol="1" spcCol="1270" anchor="ctr" anchorCtr="0">
            <a:noAutofit/>
          </a:bodyPr>
          <a:lstStyle/>
          <a:p>
            <a:pPr marL="0" lvl="1" algn="just" defTabSz="889000">
              <a:spcBef>
                <a:spcPct val="0"/>
              </a:spcBef>
              <a:spcAft>
                <a:spcPts val="600"/>
              </a:spcAft>
            </a:pPr>
            <a:r>
              <a:rPr lang="es-ES" sz="2400" b="1" dirty="0">
                <a:solidFill>
                  <a:srgbClr val="FF0000"/>
                </a:solidFill>
                <a:latin typeface="Arial Narrow" panose="020B0606020202030204" pitchFamily="34" charset="0"/>
              </a:rPr>
              <a:t>Pasos:</a:t>
            </a:r>
            <a:endParaRPr lang="es-PE" sz="2400" b="1" dirty="0">
              <a:solidFill>
                <a:srgbClr val="FF0000"/>
              </a:solidFill>
              <a:latin typeface="Arial Narrow" panose="020B0606020202030204" pitchFamily="34" charset="0"/>
            </a:endParaRPr>
          </a:p>
          <a:p>
            <a:pPr marL="0" lvl="1" algn="just" defTabSz="889000">
              <a:spcBef>
                <a:spcPct val="0"/>
              </a:spcBef>
              <a:spcAft>
                <a:spcPts val="600"/>
              </a:spcAft>
            </a:pPr>
            <a:r>
              <a:rPr lang="es-ES" sz="2400" b="1" dirty="0">
                <a:solidFill>
                  <a:schemeClr val="tx1"/>
                </a:solidFill>
                <a:latin typeface="Arial Narrow" panose="020B0606020202030204" pitchFamily="34" charset="0"/>
              </a:rPr>
              <a:t>i Trace la menor cantidad de líneas horizontales o verticales que cubran los valores ceros.</a:t>
            </a:r>
          </a:p>
          <a:p>
            <a:pPr marL="0" lvl="1" algn="just" defTabSz="889000">
              <a:spcBef>
                <a:spcPct val="0"/>
              </a:spcBef>
              <a:spcAft>
                <a:spcPts val="600"/>
              </a:spcAft>
            </a:pPr>
            <a:r>
              <a:rPr lang="es-ES" sz="2400" b="1" dirty="0" err="1">
                <a:solidFill>
                  <a:schemeClr val="tx1"/>
                </a:solidFill>
                <a:latin typeface="Arial Narrow" panose="020B0606020202030204" pitchFamily="34" charset="0"/>
              </a:rPr>
              <a:t>ii</a:t>
            </a:r>
            <a:r>
              <a:rPr lang="es-ES" sz="2400" b="1" dirty="0">
                <a:solidFill>
                  <a:schemeClr val="tx1"/>
                </a:solidFill>
                <a:latin typeface="Arial Narrow" panose="020B0606020202030204" pitchFamily="34" charset="0"/>
              </a:rPr>
              <a:t>  Identifique el menor de los números no cubiertos y réstelo a todos los números no cubiertos, luego, sume este número a las intersecciones  y los demás números cópielos sin cambiar.</a:t>
            </a:r>
            <a:endParaRPr lang="es-PE" sz="2400" b="1" dirty="0">
              <a:solidFill>
                <a:schemeClr val="tx1"/>
              </a:solidFill>
              <a:latin typeface="Arial Narrow" panose="020B0606020202030204" pitchFamily="34" charset="0"/>
            </a:endParaRPr>
          </a:p>
          <a:p>
            <a:pPr marL="0" lvl="1" algn="just" defTabSz="889000">
              <a:spcBef>
                <a:spcPct val="0"/>
              </a:spcBef>
              <a:spcAft>
                <a:spcPts val="600"/>
              </a:spcAft>
            </a:pPr>
            <a:r>
              <a:rPr lang="es-ES" sz="2400" b="1" dirty="0" err="1">
                <a:solidFill>
                  <a:schemeClr val="tx1"/>
                </a:solidFill>
                <a:latin typeface="Arial Narrow" panose="020B0606020202030204" pitchFamily="34" charset="0"/>
              </a:rPr>
              <a:t>iii</a:t>
            </a:r>
            <a:r>
              <a:rPr lang="es-ES" sz="2400" b="1" dirty="0">
                <a:solidFill>
                  <a:schemeClr val="tx1"/>
                </a:solidFill>
                <a:latin typeface="Arial Narrow" panose="020B0606020202030204" pitchFamily="34" charset="0"/>
              </a:rPr>
              <a:t> Repita el paso 3</a:t>
            </a:r>
            <a:endParaRPr lang="es-PE" sz="2400" b="1" dirty="0">
              <a:solidFill>
                <a:schemeClr val="tx1"/>
              </a:solidFill>
              <a:latin typeface="Arial Narrow" panose="020B0606020202030204" pitchFamily="34" charset="0"/>
            </a:endParaRPr>
          </a:p>
        </p:txBody>
      </p:sp>
    </p:spTree>
    <p:extLst>
      <p:ext uri="{BB962C8B-B14F-4D97-AF65-F5344CB8AC3E}">
        <p14:creationId xmlns:p14="http://schemas.microsoft.com/office/powerpoint/2010/main" val="3917790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8" grpId="0" animBg="1"/>
      <p:bldP spid="1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extLst>
              <p:ext uri="{D42A27DB-BD31-4B8C-83A1-F6EECF244321}">
                <p14:modId xmlns:p14="http://schemas.microsoft.com/office/powerpoint/2010/main" val="1140336851"/>
              </p:ext>
            </p:extLst>
          </p:nvPr>
        </p:nvGraphicFramePr>
        <p:xfrm>
          <a:off x="6228264" y="1871932"/>
          <a:ext cx="1878608" cy="2005710"/>
        </p:xfrm>
        <a:graphic>
          <a:graphicData uri="http://schemas.openxmlformats.org/drawingml/2006/table">
            <a:tbl>
              <a:tblPr>
                <a:tableStyleId>{5C22544A-7EE6-4342-B048-85BDC9FD1C3A}</a:tableStyleId>
              </a:tblPr>
              <a:tblGrid>
                <a:gridCol w="663786">
                  <a:extLst>
                    <a:ext uri="{9D8B030D-6E8A-4147-A177-3AD203B41FA5}">
                      <a16:colId xmlns:a16="http://schemas.microsoft.com/office/drawing/2014/main" val="20002"/>
                    </a:ext>
                  </a:extLst>
                </a:gridCol>
                <a:gridCol w="663786">
                  <a:extLst>
                    <a:ext uri="{9D8B030D-6E8A-4147-A177-3AD203B41FA5}">
                      <a16:colId xmlns:a16="http://schemas.microsoft.com/office/drawing/2014/main" val="20003"/>
                    </a:ext>
                  </a:extLst>
                </a:gridCol>
                <a:gridCol w="551036">
                  <a:extLst>
                    <a:ext uri="{9D8B030D-6E8A-4147-A177-3AD203B41FA5}">
                      <a16:colId xmlns:a16="http://schemas.microsoft.com/office/drawing/2014/main" val="20004"/>
                    </a:ext>
                  </a:extLst>
                </a:gridCol>
              </a:tblGrid>
              <a:tr h="400218">
                <a:tc>
                  <a:txBody>
                    <a:bodyPr/>
                    <a:lstStyle/>
                    <a:p>
                      <a:pPr algn="ctr" fontAlgn="b"/>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ctr" fontAlgn="b"/>
                      <a:r>
                        <a:rPr lang="es-PE" sz="2000" u="none" strike="noStrike" dirty="0">
                          <a:effectLst/>
                          <a:latin typeface="Arial Narrow" pitchFamily="34" charset="0"/>
                        </a:rPr>
                        <a:t>Paso I</a:t>
                      </a:r>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extLst>
                  <a:ext uri="{0D108BD9-81ED-4DB2-BD59-A6C34878D82A}">
                    <a16:rowId xmlns:a16="http://schemas.microsoft.com/office/drawing/2014/main" val="10006"/>
                  </a:ext>
                </a:extLst>
              </a:tr>
              <a:tr h="401373">
                <a:tc>
                  <a:txBody>
                    <a:bodyPr/>
                    <a:lstStyle/>
                    <a:p>
                      <a:pPr algn="ctr" fontAlgn="b"/>
                      <a:r>
                        <a:rPr lang="es-PE" sz="2000" u="none" strike="noStrike" dirty="0">
                          <a:effectLst/>
                          <a:latin typeface="Arial Narrow" pitchFamily="34" charset="0"/>
                        </a:rPr>
                        <a:t>13</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14</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11</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extLst>
                  <a:ext uri="{0D108BD9-81ED-4DB2-BD59-A6C34878D82A}">
                    <a16:rowId xmlns:a16="http://schemas.microsoft.com/office/drawing/2014/main" val="10007"/>
                  </a:ext>
                </a:extLst>
              </a:tr>
              <a:tr h="401373">
                <a:tc>
                  <a:txBody>
                    <a:bodyPr/>
                    <a:lstStyle/>
                    <a:p>
                      <a:pPr algn="ctr" fontAlgn="b"/>
                      <a:r>
                        <a:rPr lang="es-PE" sz="2000" u="none" strike="noStrike">
                          <a:effectLst/>
                          <a:latin typeface="Arial Narrow" pitchFamily="34" charset="0"/>
                        </a:rPr>
                        <a:t>12</a:t>
                      </a:r>
                      <a:endParaRPr lang="es-PE" sz="2000" b="0" i="0" u="none" strike="noStrike">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a:effectLst/>
                          <a:latin typeface="Arial Narrow" pitchFamily="34" charset="0"/>
                        </a:rPr>
                        <a:t>15</a:t>
                      </a:r>
                      <a:endParaRPr lang="es-PE" sz="2000" b="0" i="0" u="none" strike="noStrike">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14</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extLst>
                  <a:ext uri="{0D108BD9-81ED-4DB2-BD59-A6C34878D82A}">
                    <a16:rowId xmlns:a16="http://schemas.microsoft.com/office/drawing/2014/main" val="10008"/>
                  </a:ext>
                </a:extLst>
              </a:tr>
              <a:tr h="401373">
                <a:tc>
                  <a:txBody>
                    <a:bodyPr/>
                    <a:lstStyle/>
                    <a:p>
                      <a:pPr algn="ctr" fontAlgn="b"/>
                      <a:r>
                        <a:rPr lang="es-PE" sz="2000" u="none" strike="noStrike">
                          <a:effectLst/>
                          <a:latin typeface="Arial Narrow" pitchFamily="34" charset="0"/>
                        </a:rPr>
                        <a:t>13</a:t>
                      </a:r>
                      <a:endParaRPr lang="es-PE" sz="2000" b="0" i="0" u="none" strike="noStrike">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16</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12</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extLst>
                  <a:ext uri="{0D108BD9-81ED-4DB2-BD59-A6C34878D82A}">
                    <a16:rowId xmlns:a16="http://schemas.microsoft.com/office/drawing/2014/main" val="10009"/>
                  </a:ext>
                </a:extLst>
              </a:tr>
              <a:tr h="401373">
                <a:tc>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extLst>
                  <a:ext uri="{0D108BD9-81ED-4DB2-BD59-A6C34878D82A}">
                    <a16:rowId xmlns:a16="http://schemas.microsoft.com/office/drawing/2014/main" val="10010"/>
                  </a:ext>
                </a:extLst>
              </a:tr>
            </a:tbl>
          </a:graphicData>
        </a:graphic>
      </p:graphicFrame>
      <p:sp>
        <p:nvSpPr>
          <p:cNvPr id="5" name="1 Título"/>
          <p:cNvSpPr>
            <a:spLocks noGrp="1"/>
          </p:cNvSpPr>
          <p:nvPr>
            <p:ph type="title"/>
          </p:nvPr>
        </p:nvSpPr>
        <p:spPr>
          <a:xfrm>
            <a:off x="2999656" y="692696"/>
            <a:ext cx="6048672" cy="490066"/>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r>
              <a:rPr lang="es-ES" sz="3200" dirty="0">
                <a:solidFill>
                  <a:schemeClr val="bg1"/>
                </a:solidFill>
                <a:latin typeface="Bauhaus 93" pitchFamily="82" charset="0"/>
                <a:ea typeface="+mn-ea"/>
                <a:cs typeface="+mn-cs"/>
              </a:rPr>
              <a:t>Problema N°1</a:t>
            </a:r>
            <a:endParaRPr lang="es-PE" sz="3200" dirty="0">
              <a:solidFill>
                <a:schemeClr val="bg1"/>
              </a:solidFill>
              <a:latin typeface="Bauhaus 93" pitchFamily="82" charset="0"/>
              <a:ea typeface="+mn-ea"/>
              <a:cs typeface="+mn-cs"/>
            </a:endParaRPr>
          </a:p>
        </p:txBody>
      </p:sp>
      <p:sp>
        <p:nvSpPr>
          <p:cNvPr id="6" name="1 Título">
            <a:extLst>
              <a:ext uri="{FF2B5EF4-FFF2-40B4-BE49-F238E27FC236}">
                <a16:creationId xmlns:a16="http://schemas.microsoft.com/office/drawing/2014/main" id="{23E00B34-8928-4E89-9956-CECACB78E75B}"/>
              </a:ext>
            </a:extLst>
          </p:cNvPr>
          <p:cNvSpPr txBox="1">
            <a:spLocks/>
          </p:cNvSpPr>
          <p:nvPr/>
        </p:nvSpPr>
        <p:spPr>
          <a:xfrm>
            <a:off x="6096000" y="304507"/>
            <a:ext cx="6096000" cy="490066"/>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Problema 1</a:t>
            </a:r>
            <a:endParaRPr lang="es-PE" sz="3200" dirty="0">
              <a:solidFill>
                <a:schemeClr val="bg1"/>
              </a:solidFill>
              <a:latin typeface="Bauhaus 93" pitchFamily="82" charset="0"/>
              <a:ea typeface="+mn-ea"/>
              <a:cs typeface="+mn-cs"/>
            </a:endParaRPr>
          </a:p>
        </p:txBody>
      </p:sp>
      <p:sp>
        <p:nvSpPr>
          <p:cNvPr id="7" name="Rectángulo 6">
            <a:extLst>
              <a:ext uri="{FF2B5EF4-FFF2-40B4-BE49-F238E27FC236}">
                <a16:creationId xmlns:a16="http://schemas.microsoft.com/office/drawing/2014/main" id="{DB45A68C-EC20-4645-A7C5-554207B27284}"/>
              </a:ext>
            </a:extLst>
          </p:cNvPr>
          <p:cNvSpPr/>
          <p:nvPr/>
        </p:nvSpPr>
        <p:spPr>
          <a:xfrm>
            <a:off x="7596732" y="1251632"/>
            <a:ext cx="1173719" cy="369332"/>
          </a:xfrm>
          <a:prstGeom prst="rect">
            <a:avLst/>
          </a:prstGeom>
        </p:spPr>
        <p:txBody>
          <a:bodyPr wrap="none">
            <a:spAutoFit/>
          </a:bodyPr>
          <a:lstStyle/>
          <a:p>
            <a:pPr fontAlgn="b"/>
            <a:r>
              <a:rPr lang="es-PE" dirty="0">
                <a:solidFill>
                  <a:srgbClr val="FF0000"/>
                </a:solidFill>
                <a:latin typeface="Arial Narrow" pitchFamily="34" charset="0"/>
              </a:rPr>
              <a:t>SOLUCIÓN</a:t>
            </a:r>
          </a:p>
        </p:txBody>
      </p:sp>
      <p:graphicFrame>
        <p:nvGraphicFramePr>
          <p:cNvPr id="8" name="Tabla 7">
            <a:extLst>
              <a:ext uri="{FF2B5EF4-FFF2-40B4-BE49-F238E27FC236}">
                <a16:creationId xmlns:a16="http://schemas.microsoft.com/office/drawing/2014/main" id="{7CEE0E28-2E5A-4979-8047-26C7588DF33E}"/>
              </a:ext>
            </a:extLst>
          </p:cNvPr>
          <p:cNvGraphicFramePr>
            <a:graphicFrameLocks noGrp="1"/>
          </p:cNvGraphicFramePr>
          <p:nvPr/>
        </p:nvGraphicFramePr>
        <p:xfrm>
          <a:off x="10301385" y="1861176"/>
          <a:ext cx="1611702" cy="1604337"/>
        </p:xfrm>
        <a:graphic>
          <a:graphicData uri="http://schemas.openxmlformats.org/drawingml/2006/table">
            <a:tbl>
              <a:tblPr>
                <a:tableStyleId>{5C22544A-7EE6-4342-B048-85BDC9FD1C3A}</a:tableStyleId>
              </a:tblPr>
              <a:tblGrid>
                <a:gridCol w="537234">
                  <a:extLst>
                    <a:ext uri="{9D8B030D-6E8A-4147-A177-3AD203B41FA5}">
                      <a16:colId xmlns:a16="http://schemas.microsoft.com/office/drawing/2014/main" val="2434928513"/>
                    </a:ext>
                  </a:extLst>
                </a:gridCol>
                <a:gridCol w="537234">
                  <a:extLst>
                    <a:ext uri="{9D8B030D-6E8A-4147-A177-3AD203B41FA5}">
                      <a16:colId xmlns:a16="http://schemas.microsoft.com/office/drawing/2014/main" val="4186715675"/>
                    </a:ext>
                  </a:extLst>
                </a:gridCol>
                <a:gridCol w="537234">
                  <a:extLst>
                    <a:ext uri="{9D8B030D-6E8A-4147-A177-3AD203B41FA5}">
                      <a16:colId xmlns:a16="http://schemas.microsoft.com/office/drawing/2014/main" val="2645046430"/>
                    </a:ext>
                  </a:extLst>
                </a:gridCol>
              </a:tblGrid>
              <a:tr h="400218">
                <a:tc>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tc gridSpan="2">
                  <a:txBody>
                    <a:bodyPr/>
                    <a:lstStyle/>
                    <a:p>
                      <a:pPr algn="l" fontAlgn="b"/>
                      <a:r>
                        <a:rPr lang="es-PE" sz="2000" u="none" strike="noStrike" dirty="0">
                          <a:effectLst/>
                          <a:latin typeface="Arial Narrow" pitchFamily="34" charset="0"/>
                        </a:rPr>
                        <a:t>Paso III</a:t>
                      </a:r>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tc hMerge="1">
                  <a:txBody>
                    <a:bodyPr/>
                    <a:lstStyle/>
                    <a:p>
                      <a:endParaRPr lang="es-PE"/>
                    </a:p>
                  </a:txBody>
                  <a:tcPr/>
                </a:tc>
                <a:extLst>
                  <a:ext uri="{0D108BD9-81ED-4DB2-BD59-A6C34878D82A}">
                    <a16:rowId xmlns:a16="http://schemas.microsoft.com/office/drawing/2014/main" val="304611786"/>
                  </a:ext>
                </a:extLst>
              </a:tr>
              <a:tr h="401373">
                <a:tc>
                  <a:txBody>
                    <a:bodyPr/>
                    <a:lstStyle/>
                    <a:p>
                      <a:pPr algn="ctr" fontAlgn="b"/>
                      <a:r>
                        <a:rPr lang="es-PE" sz="2000" u="none" strike="noStrike" dirty="0">
                          <a:effectLst/>
                          <a:latin typeface="Arial Narrow" pitchFamily="34" charset="0"/>
                        </a:rPr>
                        <a:t>2</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0</a:t>
                      </a:r>
                      <a:endParaRPr lang="es-PE" sz="2000" b="0" i="0" u="none" strike="noStrike" dirty="0">
                        <a:solidFill>
                          <a:srgbClr val="FF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0</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extLst>
                  <a:ext uri="{0D108BD9-81ED-4DB2-BD59-A6C34878D82A}">
                    <a16:rowId xmlns:a16="http://schemas.microsoft.com/office/drawing/2014/main" val="2834608753"/>
                  </a:ext>
                </a:extLst>
              </a:tr>
              <a:tr h="401373">
                <a:tc>
                  <a:txBody>
                    <a:bodyPr/>
                    <a:lstStyle/>
                    <a:p>
                      <a:pPr algn="ctr" fontAlgn="b"/>
                      <a:r>
                        <a:rPr lang="es-PE" sz="2000" u="none" strike="noStrike" dirty="0">
                          <a:effectLst/>
                          <a:latin typeface="Arial Narrow" pitchFamily="34" charset="0"/>
                        </a:rPr>
                        <a:t>0</a:t>
                      </a:r>
                      <a:endParaRPr lang="es-PE" sz="2000" b="0" i="0" u="none" strike="noStrike" dirty="0">
                        <a:solidFill>
                          <a:srgbClr val="FF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0</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2</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extLst>
                  <a:ext uri="{0D108BD9-81ED-4DB2-BD59-A6C34878D82A}">
                    <a16:rowId xmlns:a16="http://schemas.microsoft.com/office/drawing/2014/main" val="929713638"/>
                  </a:ext>
                </a:extLst>
              </a:tr>
              <a:tr h="401373">
                <a:tc>
                  <a:txBody>
                    <a:bodyPr/>
                    <a:lstStyle/>
                    <a:p>
                      <a:pPr algn="ctr" fontAlgn="b"/>
                      <a:r>
                        <a:rPr lang="es-PE" sz="2000" u="none" strike="noStrike">
                          <a:effectLst/>
                          <a:latin typeface="Arial Narrow" pitchFamily="34" charset="0"/>
                        </a:rPr>
                        <a:t>1</a:t>
                      </a:r>
                      <a:endParaRPr lang="es-PE" sz="2000" b="0" i="0" u="none" strike="noStrike">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1</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0</a:t>
                      </a:r>
                      <a:endParaRPr lang="es-PE" sz="2000" b="0" i="0" u="none" strike="noStrike" dirty="0">
                        <a:solidFill>
                          <a:srgbClr val="FF0000"/>
                        </a:solidFill>
                        <a:effectLst/>
                        <a:latin typeface="Arial Narrow" pitchFamily="34" charset="0"/>
                      </a:endParaRPr>
                    </a:p>
                  </a:txBody>
                  <a:tcPr marL="9525" marR="9525" marT="9525" marB="0" anchor="b">
                    <a:solidFill>
                      <a:srgbClr val="FFFF00"/>
                    </a:solidFill>
                  </a:tcPr>
                </a:tc>
                <a:extLst>
                  <a:ext uri="{0D108BD9-81ED-4DB2-BD59-A6C34878D82A}">
                    <a16:rowId xmlns:a16="http://schemas.microsoft.com/office/drawing/2014/main" val="2386143562"/>
                  </a:ext>
                </a:extLst>
              </a:tr>
            </a:tbl>
          </a:graphicData>
        </a:graphic>
      </p:graphicFrame>
      <p:graphicFrame>
        <p:nvGraphicFramePr>
          <p:cNvPr id="9" name="Tabla 8">
            <a:extLst>
              <a:ext uri="{FF2B5EF4-FFF2-40B4-BE49-F238E27FC236}">
                <a16:creationId xmlns:a16="http://schemas.microsoft.com/office/drawing/2014/main" id="{421C6EEC-306A-4133-822B-DD3B77D6543D}"/>
              </a:ext>
            </a:extLst>
          </p:cNvPr>
          <p:cNvGraphicFramePr>
            <a:graphicFrameLocks noGrp="1"/>
          </p:cNvGraphicFramePr>
          <p:nvPr/>
        </p:nvGraphicFramePr>
        <p:xfrm>
          <a:off x="8532966" y="1877389"/>
          <a:ext cx="1639931" cy="1604337"/>
        </p:xfrm>
        <a:graphic>
          <a:graphicData uri="http://schemas.openxmlformats.org/drawingml/2006/table">
            <a:tbl>
              <a:tblPr>
                <a:tableStyleId>{5C22544A-7EE6-4342-B048-85BDC9FD1C3A}</a:tableStyleId>
              </a:tblPr>
              <a:tblGrid>
                <a:gridCol w="453157">
                  <a:extLst>
                    <a:ext uri="{9D8B030D-6E8A-4147-A177-3AD203B41FA5}">
                      <a16:colId xmlns:a16="http://schemas.microsoft.com/office/drawing/2014/main" val="706641424"/>
                    </a:ext>
                  </a:extLst>
                </a:gridCol>
                <a:gridCol w="663786">
                  <a:extLst>
                    <a:ext uri="{9D8B030D-6E8A-4147-A177-3AD203B41FA5}">
                      <a16:colId xmlns:a16="http://schemas.microsoft.com/office/drawing/2014/main" val="3189686593"/>
                    </a:ext>
                  </a:extLst>
                </a:gridCol>
                <a:gridCol w="522988">
                  <a:extLst>
                    <a:ext uri="{9D8B030D-6E8A-4147-A177-3AD203B41FA5}">
                      <a16:colId xmlns:a16="http://schemas.microsoft.com/office/drawing/2014/main" val="3743204566"/>
                    </a:ext>
                  </a:extLst>
                </a:gridCol>
              </a:tblGrid>
              <a:tr h="400218">
                <a:tc>
                  <a:txBody>
                    <a:bodyPr/>
                    <a:lstStyle/>
                    <a:p>
                      <a:pPr algn="l" fontAlgn="b"/>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tc gridSpan="2">
                  <a:txBody>
                    <a:bodyPr/>
                    <a:lstStyle/>
                    <a:p>
                      <a:pPr algn="l" fontAlgn="b"/>
                      <a:r>
                        <a:rPr lang="es-PE" sz="2000" u="none" strike="noStrike" dirty="0">
                          <a:effectLst/>
                          <a:latin typeface="Arial Narrow" pitchFamily="34" charset="0"/>
                        </a:rPr>
                        <a:t>Paso II</a:t>
                      </a:r>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tc hMerge="1">
                  <a:txBody>
                    <a:bodyPr/>
                    <a:lstStyle/>
                    <a:p>
                      <a:endParaRPr lang="es-PE"/>
                    </a:p>
                  </a:txBody>
                  <a:tcPr/>
                </a:tc>
                <a:extLst>
                  <a:ext uri="{0D108BD9-81ED-4DB2-BD59-A6C34878D82A}">
                    <a16:rowId xmlns:a16="http://schemas.microsoft.com/office/drawing/2014/main" val="3582230339"/>
                  </a:ext>
                </a:extLst>
              </a:tr>
              <a:tr h="401373">
                <a:tc>
                  <a:txBody>
                    <a:bodyPr/>
                    <a:lstStyle/>
                    <a:p>
                      <a:pPr algn="ctr" fontAlgn="b"/>
                      <a:r>
                        <a:rPr lang="es-PE" sz="2000" u="none" strike="noStrike" dirty="0">
                          <a:effectLst/>
                          <a:latin typeface="Arial Narrow" pitchFamily="34" charset="0"/>
                        </a:rPr>
                        <a:t>2</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3</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0</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extLst>
                  <a:ext uri="{0D108BD9-81ED-4DB2-BD59-A6C34878D82A}">
                    <a16:rowId xmlns:a16="http://schemas.microsoft.com/office/drawing/2014/main" val="1698268307"/>
                  </a:ext>
                </a:extLst>
              </a:tr>
              <a:tr h="401373">
                <a:tc>
                  <a:txBody>
                    <a:bodyPr/>
                    <a:lstStyle/>
                    <a:p>
                      <a:pPr algn="ctr" fontAlgn="b"/>
                      <a:r>
                        <a:rPr lang="es-PE" sz="2000" u="none" strike="noStrike" dirty="0">
                          <a:effectLst/>
                          <a:latin typeface="Arial Narrow" pitchFamily="34" charset="0"/>
                        </a:rPr>
                        <a:t>0</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3</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2</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extLst>
                  <a:ext uri="{0D108BD9-81ED-4DB2-BD59-A6C34878D82A}">
                    <a16:rowId xmlns:a16="http://schemas.microsoft.com/office/drawing/2014/main" val="3808278145"/>
                  </a:ext>
                </a:extLst>
              </a:tr>
              <a:tr h="401373">
                <a:tc>
                  <a:txBody>
                    <a:bodyPr/>
                    <a:lstStyle/>
                    <a:p>
                      <a:pPr algn="ctr" fontAlgn="b"/>
                      <a:r>
                        <a:rPr lang="es-PE" sz="2000" u="none" strike="noStrike" dirty="0">
                          <a:effectLst/>
                          <a:latin typeface="Arial Narrow" pitchFamily="34" charset="0"/>
                        </a:rPr>
                        <a:t>1</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4</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tc>
                  <a:txBody>
                    <a:bodyPr/>
                    <a:lstStyle/>
                    <a:p>
                      <a:pPr algn="ctr" fontAlgn="b"/>
                      <a:r>
                        <a:rPr lang="es-PE" sz="2000" u="none" strike="noStrike" dirty="0">
                          <a:effectLst/>
                          <a:latin typeface="Arial Narrow" pitchFamily="34" charset="0"/>
                        </a:rPr>
                        <a:t>0</a:t>
                      </a:r>
                      <a:endParaRPr lang="es-PE" sz="2000" b="0" i="0" u="none" strike="noStrike" dirty="0">
                        <a:solidFill>
                          <a:srgbClr val="000000"/>
                        </a:solidFill>
                        <a:effectLst/>
                        <a:latin typeface="Arial Narrow" pitchFamily="34" charset="0"/>
                      </a:endParaRPr>
                    </a:p>
                  </a:txBody>
                  <a:tcPr marL="9525" marR="9525" marT="9525" marB="0" anchor="b">
                    <a:solidFill>
                      <a:srgbClr val="FFFF00"/>
                    </a:solidFill>
                  </a:tcPr>
                </a:tc>
                <a:extLst>
                  <a:ext uri="{0D108BD9-81ED-4DB2-BD59-A6C34878D82A}">
                    <a16:rowId xmlns:a16="http://schemas.microsoft.com/office/drawing/2014/main" val="4109487286"/>
                  </a:ext>
                </a:extLst>
              </a:tr>
            </a:tbl>
          </a:graphicData>
        </a:graphic>
      </p:graphicFrame>
      <p:graphicFrame>
        <p:nvGraphicFramePr>
          <p:cNvPr id="10" name="Tabla 9">
            <a:extLst>
              <a:ext uri="{FF2B5EF4-FFF2-40B4-BE49-F238E27FC236}">
                <a16:creationId xmlns:a16="http://schemas.microsoft.com/office/drawing/2014/main" id="{24AE774E-A2A6-4F1E-95DF-6AFDEC553128}"/>
              </a:ext>
            </a:extLst>
          </p:cNvPr>
          <p:cNvGraphicFramePr>
            <a:graphicFrameLocks noGrp="1"/>
          </p:cNvGraphicFramePr>
          <p:nvPr/>
        </p:nvGraphicFramePr>
        <p:xfrm>
          <a:off x="8144771" y="1887054"/>
          <a:ext cx="334988" cy="1604337"/>
        </p:xfrm>
        <a:graphic>
          <a:graphicData uri="http://schemas.openxmlformats.org/drawingml/2006/table">
            <a:tbl>
              <a:tblPr>
                <a:tableStyleId>{5C22544A-7EE6-4342-B048-85BDC9FD1C3A}</a:tableStyleId>
              </a:tblPr>
              <a:tblGrid>
                <a:gridCol w="334988">
                  <a:extLst>
                    <a:ext uri="{9D8B030D-6E8A-4147-A177-3AD203B41FA5}">
                      <a16:colId xmlns:a16="http://schemas.microsoft.com/office/drawing/2014/main" val="2144577642"/>
                    </a:ext>
                  </a:extLst>
                </a:gridCol>
              </a:tblGrid>
              <a:tr h="400218">
                <a:tc>
                  <a:txBody>
                    <a:bodyPr/>
                    <a:lstStyle/>
                    <a:p>
                      <a:pPr algn="ctr" fontAlgn="b"/>
                      <a:endParaRPr lang="es-PE" sz="2000" b="0" i="0" u="none" strike="noStrike" dirty="0">
                        <a:solidFill>
                          <a:srgbClr val="000000"/>
                        </a:solidFill>
                        <a:effectLst/>
                        <a:latin typeface="Arial Narrow" pitchFamily="34" charset="0"/>
                      </a:endParaRPr>
                    </a:p>
                  </a:txBody>
                  <a:tcPr marL="9525" marR="9525" marT="9525" marB="0" anchor="b">
                    <a:solidFill>
                      <a:schemeClr val="bg1"/>
                    </a:solidFill>
                  </a:tcPr>
                </a:tc>
                <a:extLst>
                  <a:ext uri="{0D108BD9-81ED-4DB2-BD59-A6C34878D82A}">
                    <a16:rowId xmlns:a16="http://schemas.microsoft.com/office/drawing/2014/main" val="2650847751"/>
                  </a:ext>
                </a:extLst>
              </a:tr>
              <a:tr h="401373">
                <a:tc>
                  <a:txBody>
                    <a:bodyPr/>
                    <a:lstStyle/>
                    <a:p>
                      <a:pPr algn="l" fontAlgn="b"/>
                      <a:r>
                        <a:rPr lang="es-PE" sz="2000" u="none" strike="noStrike" dirty="0">
                          <a:solidFill>
                            <a:srgbClr val="FF0000"/>
                          </a:solidFill>
                          <a:effectLst/>
                          <a:latin typeface="Arial Narrow" pitchFamily="34" charset="0"/>
                        </a:rPr>
                        <a:t>11</a:t>
                      </a:r>
                      <a:endParaRPr lang="es-PE" sz="2000" b="0" i="0" u="none" strike="noStrike" dirty="0">
                        <a:solidFill>
                          <a:srgbClr val="FF0000"/>
                        </a:solidFill>
                        <a:effectLst/>
                        <a:latin typeface="Arial Narrow" pitchFamily="34" charset="0"/>
                      </a:endParaRPr>
                    </a:p>
                  </a:txBody>
                  <a:tcPr marL="9525" marR="9525" marT="9525" marB="0" anchor="b">
                    <a:solidFill>
                      <a:schemeClr val="bg1"/>
                    </a:solidFill>
                  </a:tcPr>
                </a:tc>
                <a:extLst>
                  <a:ext uri="{0D108BD9-81ED-4DB2-BD59-A6C34878D82A}">
                    <a16:rowId xmlns:a16="http://schemas.microsoft.com/office/drawing/2014/main" val="3721033519"/>
                  </a:ext>
                </a:extLst>
              </a:tr>
              <a:tr h="401373">
                <a:tc>
                  <a:txBody>
                    <a:bodyPr/>
                    <a:lstStyle/>
                    <a:p>
                      <a:pPr algn="l" fontAlgn="b"/>
                      <a:r>
                        <a:rPr lang="es-PE" sz="2000" u="none" strike="noStrike" dirty="0">
                          <a:solidFill>
                            <a:srgbClr val="FF0000"/>
                          </a:solidFill>
                          <a:effectLst/>
                          <a:latin typeface="Arial Narrow" pitchFamily="34" charset="0"/>
                        </a:rPr>
                        <a:t>12</a:t>
                      </a:r>
                      <a:endParaRPr lang="es-PE" sz="2000" b="0" i="0" u="none" strike="noStrike" dirty="0">
                        <a:solidFill>
                          <a:srgbClr val="FF0000"/>
                        </a:solidFill>
                        <a:effectLst/>
                        <a:latin typeface="Arial Narrow" pitchFamily="34" charset="0"/>
                      </a:endParaRPr>
                    </a:p>
                  </a:txBody>
                  <a:tcPr marL="9525" marR="9525" marT="9525" marB="0" anchor="b">
                    <a:solidFill>
                      <a:schemeClr val="bg1"/>
                    </a:solidFill>
                  </a:tcPr>
                </a:tc>
                <a:extLst>
                  <a:ext uri="{0D108BD9-81ED-4DB2-BD59-A6C34878D82A}">
                    <a16:rowId xmlns:a16="http://schemas.microsoft.com/office/drawing/2014/main" val="29670111"/>
                  </a:ext>
                </a:extLst>
              </a:tr>
              <a:tr h="401373">
                <a:tc>
                  <a:txBody>
                    <a:bodyPr/>
                    <a:lstStyle/>
                    <a:p>
                      <a:pPr algn="l" fontAlgn="b"/>
                      <a:r>
                        <a:rPr lang="es-PE" sz="2000" u="none" strike="noStrike" dirty="0">
                          <a:solidFill>
                            <a:srgbClr val="FF0000"/>
                          </a:solidFill>
                          <a:effectLst/>
                          <a:latin typeface="Arial Narrow" pitchFamily="34" charset="0"/>
                        </a:rPr>
                        <a:t>12</a:t>
                      </a:r>
                      <a:endParaRPr lang="es-PE" sz="2000" b="0" i="0" u="none" strike="noStrike" dirty="0">
                        <a:solidFill>
                          <a:srgbClr val="FF0000"/>
                        </a:solidFill>
                        <a:effectLst/>
                        <a:latin typeface="Arial Narrow" pitchFamily="34" charset="0"/>
                      </a:endParaRPr>
                    </a:p>
                  </a:txBody>
                  <a:tcPr marL="9525" marR="9525" marT="9525" marB="0" anchor="b">
                    <a:solidFill>
                      <a:schemeClr val="bg1"/>
                    </a:solidFill>
                  </a:tcPr>
                </a:tc>
                <a:extLst>
                  <a:ext uri="{0D108BD9-81ED-4DB2-BD59-A6C34878D82A}">
                    <a16:rowId xmlns:a16="http://schemas.microsoft.com/office/drawing/2014/main" val="1149750793"/>
                  </a:ext>
                </a:extLst>
              </a:tr>
            </a:tbl>
          </a:graphicData>
        </a:graphic>
      </p:graphicFrame>
      <p:graphicFrame>
        <p:nvGraphicFramePr>
          <p:cNvPr id="11" name="Tabla 10">
            <a:extLst>
              <a:ext uri="{FF2B5EF4-FFF2-40B4-BE49-F238E27FC236}">
                <a16:creationId xmlns:a16="http://schemas.microsoft.com/office/drawing/2014/main" id="{BDBEA056-0382-4702-A034-15E3FA04B6F3}"/>
              </a:ext>
            </a:extLst>
          </p:cNvPr>
          <p:cNvGraphicFramePr>
            <a:graphicFrameLocks noGrp="1"/>
          </p:cNvGraphicFramePr>
          <p:nvPr/>
        </p:nvGraphicFramePr>
        <p:xfrm>
          <a:off x="8558841" y="3465513"/>
          <a:ext cx="1639931" cy="401373"/>
        </p:xfrm>
        <a:graphic>
          <a:graphicData uri="http://schemas.openxmlformats.org/drawingml/2006/table">
            <a:tbl>
              <a:tblPr>
                <a:tableStyleId>{5C22544A-7EE6-4342-B048-85BDC9FD1C3A}</a:tableStyleId>
              </a:tblPr>
              <a:tblGrid>
                <a:gridCol w="453157">
                  <a:extLst>
                    <a:ext uri="{9D8B030D-6E8A-4147-A177-3AD203B41FA5}">
                      <a16:colId xmlns:a16="http://schemas.microsoft.com/office/drawing/2014/main" val="2927875365"/>
                    </a:ext>
                  </a:extLst>
                </a:gridCol>
                <a:gridCol w="663786">
                  <a:extLst>
                    <a:ext uri="{9D8B030D-6E8A-4147-A177-3AD203B41FA5}">
                      <a16:colId xmlns:a16="http://schemas.microsoft.com/office/drawing/2014/main" val="2569662253"/>
                    </a:ext>
                  </a:extLst>
                </a:gridCol>
                <a:gridCol w="522988">
                  <a:extLst>
                    <a:ext uri="{9D8B030D-6E8A-4147-A177-3AD203B41FA5}">
                      <a16:colId xmlns:a16="http://schemas.microsoft.com/office/drawing/2014/main" val="2318314728"/>
                    </a:ext>
                  </a:extLst>
                </a:gridCol>
              </a:tblGrid>
              <a:tr h="401373">
                <a:tc>
                  <a:txBody>
                    <a:bodyPr/>
                    <a:lstStyle/>
                    <a:p>
                      <a:pPr algn="ctr" fontAlgn="b"/>
                      <a:r>
                        <a:rPr lang="es-PE" sz="2000" u="none" strike="noStrike" dirty="0">
                          <a:solidFill>
                            <a:srgbClr val="FF0000"/>
                          </a:solidFill>
                          <a:effectLst/>
                          <a:latin typeface="Arial Narrow" pitchFamily="34" charset="0"/>
                        </a:rPr>
                        <a:t>0</a:t>
                      </a:r>
                      <a:endParaRPr lang="es-PE" sz="2000" b="0" i="0" u="none" strike="noStrike" dirty="0">
                        <a:solidFill>
                          <a:srgbClr val="FF0000"/>
                        </a:solidFill>
                        <a:effectLst/>
                        <a:latin typeface="Arial Narrow"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latin typeface="Arial Narrow" pitchFamily="34" charset="0"/>
                        </a:rPr>
                        <a:t>3</a:t>
                      </a:r>
                      <a:endParaRPr lang="es-PE" sz="2000" b="0" i="0" u="none" strike="noStrike" dirty="0">
                        <a:solidFill>
                          <a:srgbClr val="FF0000"/>
                        </a:solidFill>
                        <a:effectLst/>
                        <a:latin typeface="Arial Narrow"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latin typeface="Arial Narrow" pitchFamily="34" charset="0"/>
                        </a:rPr>
                        <a:t>0</a:t>
                      </a:r>
                      <a:endParaRPr lang="es-PE" sz="2000" b="0" i="0" u="none" strike="noStrike" dirty="0">
                        <a:solidFill>
                          <a:srgbClr val="FF0000"/>
                        </a:solidFill>
                        <a:effectLst/>
                        <a:latin typeface="Arial Narrow" pitchFamily="34" charset="0"/>
                      </a:endParaRPr>
                    </a:p>
                  </a:txBody>
                  <a:tcPr marL="9525" marR="9525" marT="9525" marB="0" anchor="b">
                    <a:solidFill>
                      <a:schemeClr val="bg1"/>
                    </a:solidFill>
                  </a:tcPr>
                </a:tc>
                <a:extLst>
                  <a:ext uri="{0D108BD9-81ED-4DB2-BD59-A6C34878D82A}">
                    <a16:rowId xmlns:a16="http://schemas.microsoft.com/office/drawing/2014/main" val="4174253745"/>
                  </a:ext>
                </a:extLst>
              </a:tr>
            </a:tbl>
          </a:graphicData>
        </a:graphic>
      </p:graphicFrame>
      <p:sp>
        <p:nvSpPr>
          <p:cNvPr id="12" name="Oval 6">
            <a:extLst>
              <a:ext uri="{FF2B5EF4-FFF2-40B4-BE49-F238E27FC236}">
                <a16:creationId xmlns:a16="http://schemas.microsoft.com/office/drawing/2014/main" id="{5EC8CD1F-8E51-48C8-917E-0AF09AD0F8FB}"/>
              </a:ext>
            </a:extLst>
          </p:cNvPr>
          <p:cNvSpPr>
            <a:spLocks noChangeArrowheads="1"/>
          </p:cNvSpPr>
          <p:nvPr/>
        </p:nvSpPr>
        <p:spPr bwMode="auto">
          <a:xfrm>
            <a:off x="11465253" y="3117681"/>
            <a:ext cx="344309" cy="330580"/>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13" name="Oval 6">
            <a:extLst>
              <a:ext uri="{FF2B5EF4-FFF2-40B4-BE49-F238E27FC236}">
                <a16:creationId xmlns:a16="http://schemas.microsoft.com/office/drawing/2014/main" id="{A035E4ED-E2B2-4CB4-A31E-F99A475F0FC8}"/>
              </a:ext>
            </a:extLst>
          </p:cNvPr>
          <p:cNvSpPr>
            <a:spLocks noChangeArrowheads="1"/>
          </p:cNvSpPr>
          <p:nvPr/>
        </p:nvSpPr>
        <p:spPr bwMode="auto">
          <a:xfrm>
            <a:off x="10384077" y="2735253"/>
            <a:ext cx="344309" cy="330580"/>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14" name="Oval 6">
            <a:extLst>
              <a:ext uri="{FF2B5EF4-FFF2-40B4-BE49-F238E27FC236}">
                <a16:creationId xmlns:a16="http://schemas.microsoft.com/office/drawing/2014/main" id="{E9A002C6-44BB-4138-B811-489347B32102}"/>
              </a:ext>
            </a:extLst>
          </p:cNvPr>
          <p:cNvSpPr>
            <a:spLocks noChangeArrowheads="1"/>
          </p:cNvSpPr>
          <p:nvPr/>
        </p:nvSpPr>
        <p:spPr bwMode="auto">
          <a:xfrm>
            <a:off x="10927551" y="2321183"/>
            <a:ext cx="344309" cy="330580"/>
          </a:xfrm>
          <a:prstGeom prst="ellipse">
            <a:avLst/>
          </a:prstGeom>
          <a:noFill/>
          <a:ln w="12700">
            <a:solidFill>
              <a:schemeClr val="tx1"/>
            </a:solidFill>
            <a:round/>
            <a:headEnd type="none" w="sm" len="sm"/>
            <a:tailEnd type="none" w="sm" len="sm"/>
          </a:ln>
        </p:spPr>
        <p:txBody>
          <a:bodyPr wrap="none" anchor="ctr"/>
          <a:lstStyle/>
          <a:p>
            <a:endParaRPr lang="es-PE" dirty="0"/>
          </a:p>
        </p:txBody>
      </p:sp>
      <p:graphicFrame>
        <p:nvGraphicFramePr>
          <p:cNvPr id="18" name="Tabla 17">
            <a:extLst>
              <a:ext uri="{FF2B5EF4-FFF2-40B4-BE49-F238E27FC236}">
                <a16:creationId xmlns:a16="http://schemas.microsoft.com/office/drawing/2014/main" id="{A9A6F66D-2D92-4B2D-8793-ABE17617F417}"/>
              </a:ext>
            </a:extLst>
          </p:cNvPr>
          <p:cNvGraphicFramePr>
            <a:graphicFrameLocks noGrp="1"/>
          </p:cNvGraphicFramePr>
          <p:nvPr>
            <p:extLst>
              <p:ext uri="{D42A27DB-BD31-4B8C-83A1-F6EECF244321}">
                <p14:modId xmlns:p14="http://schemas.microsoft.com/office/powerpoint/2010/main" val="4124869970"/>
              </p:ext>
            </p:extLst>
          </p:nvPr>
        </p:nvGraphicFramePr>
        <p:xfrm>
          <a:off x="7420154" y="5169393"/>
          <a:ext cx="3664788" cy="1571625"/>
        </p:xfrm>
        <a:graphic>
          <a:graphicData uri="http://schemas.openxmlformats.org/drawingml/2006/table">
            <a:tbl>
              <a:tblPr>
                <a:tableStyleId>{5C22544A-7EE6-4342-B048-85BDC9FD1C3A}</a:tableStyleId>
              </a:tblPr>
              <a:tblGrid>
                <a:gridCol w="635512">
                  <a:extLst>
                    <a:ext uri="{9D8B030D-6E8A-4147-A177-3AD203B41FA5}">
                      <a16:colId xmlns:a16="http://schemas.microsoft.com/office/drawing/2014/main" val="848170678"/>
                    </a:ext>
                  </a:extLst>
                </a:gridCol>
                <a:gridCol w="635512">
                  <a:extLst>
                    <a:ext uri="{9D8B030D-6E8A-4147-A177-3AD203B41FA5}">
                      <a16:colId xmlns:a16="http://schemas.microsoft.com/office/drawing/2014/main" val="3615104591"/>
                    </a:ext>
                  </a:extLst>
                </a:gridCol>
                <a:gridCol w="635512">
                  <a:extLst>
                    <a:ext uri="{9D8B030D-6E8A-4147-A177-3AD203B41FA5}">
                      <a16:colId xmlns:a16="http://schemas.microsoft.com/office/drawing/2014/main" val="3121758900"/>
                    </a:ext>
                  </a:extLst>
                </a:gridCol>
                <a:gridCol w="728931">
                  <a:extLst>
                    <a:ext uri="{9D8B030D-6E8A-4147-A177-3AD203B41FA5}">
                      <a16:colId xmlns:a16="http://schemas.microsoft.com/office/drawing/2014/main" val="1496261260"/>
                    </a:ext>
                  </a:extLst>
                </a:gridCol>
                <a:gridCol w="1029321">
                  <a:extLst>
                    <a:ext uri="{9D8B030D-6E8A-4147-A177-3AD203B41FA5}">
                      <a16:colId xmlns:a16="http://schemas.microsoft.com/office/drawing/2014/main" val="2213391138"/>
                    </a:ext>
                  </a:extLst>
                </a:gridCol>
              </a:tblGrid>
              <a:tr h="231799">
                <a:tc gridSpan="5">
                  <a:txBody>
                    <a:bodyPr/>
                    <a:lstStyle/>
                    <a:p>
                      <a:pPr algn="ctr" fontAlgn="b"/>
                      <a:r>
                        <a:rPr lang="es-PE" sz="2000" b="1" u="none" strike="noStrike" dirty="0">
                          <a:solidFill>
                            <a:srgbClr val="FF0000"/>
                          </a:solidFill>
                          <a:effectLst/>
                          <a:latin typeface="Arial Narrow" pitchFamily="34" charset="0"/>
                        </a:rPr>
                        <a:t>Respuesta</a:t>
                      </a:r>
                      <a:endParaRPr lang="es-PE" sz="2000" b="1" i="0" u="none" strike="noStrike" dirty="0">
                        <a:solidFill>
                          <a:srgbClr val="FF0000"/>
                        </a:solidFill>
                        <a:effectLst/>
                        <a:latin typeface="Arial Narrow" pitchFamily="34" charset="0"/>
                      </a:endParaRPr>
                    </a:p>
                  </a:txBody>
                  <a:tcPr marL="9525" marR="9525" marT="9525" marB="0" anchor="b">
                    <a:solidFill>
                      <a:schemeClr val="bg1"/>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410217992"/>
                  </a:ext>
                </a:extLst>
              </a:tr>
              <a:tr h="240545">
                <a:tc gridSpan="4">
                  <a:txBody>
                    <a:bodyPr/>
                    <a:lstStyle/>
                    <a:p>
                      <a:pPr algn="l" fontAlgn="b"/>
                      <a:r>
                        <a:rPr lang="es-PE" sz="2000" b="1" u="none" strike="noStrike" dirty="0">
                          <a:effectLst/>
                          <a:latin typeface="Arial Narrow" pitchFamily="34" charset="0"/>
                        </a:rPr>
                        <a:t>A Abby se le asigna Pintar</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latin typeface="Arial Narrow" pitchFamily="34" charset="0"/>
                        </a:rPr>
                        <a:t>14</a:t>
                      </a:r>
                      <a:endParaRPr lang="es-PE" sz="2000" b="1" i="0" u="none" strike="noStrike" dirty="0">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2129442733"/>
                  </a:ext>
                </a:extLst>
              </a:tr>
              <a:tr h="240545">
                <a:tc gridSpan="4">
                  <a:txBody>
                    <a:bodyPr/>
                    <a:lstStyle/>
                    <a:p>
                      <a:pPr algn="l" fontAlgn="b"/>
                      <a:r>
                        <a:rPr lang="es-PE" sz="2000" b="1" u="none" strike="noStrike" dirty="0">
                          <a:effectLst/>
                          <a:latin typeface="Arial Narrow" pitchFamily="34" charset="0"/>
                        </a:rPr>
                        <a:t>A </a:t>
                      </a:r>
                      <a:r>
                        <a:rPr lang="es-PE" sz="2000" b="1" u="none" strike="noStrike" dirty="0" err="1">
                          <a:effectLst/>
                          <a:latin typeface="Arial Narrow" pitchFamily="34" charset="0"/>
                        </a:rPr>
                        <a:t>Jhon</a:t>
                      </a:r>
                      <a:r>
                        <a:rPr lang="es-PE" sz="2000" b="1" u="none" strike="noStrike" dirty="0">
                          <a:effectLst/>
                          <a:latin typeface="Arial Narrow" pitchFamily="34" charset="0"/>
                        </a:rPr>
                        <a:t> se le asigna Podar</a:t>
                      </a:r>
                      <a:endParaRPr lang="es-PE"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latin typeface="Arial Narrow" pitchFamily="34" charset="0"/>
                        </a:rPr>
                        <a:t>12</a:t>
                      </a:r>
                      <a:endParaRPr lang="es-PE" sz="2000" b="1" i="0" u="none" strike="noStrike" dirty="0">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2227419128"/>
                  </a:ext>
                </a:extLst>
              </a:tr>
              <a:tr h="258053">
                <a:tc gridSpan="4">
                  <a:txBody>
                    <a:bodyPr/>
                    <a:lstStyle/>
                    <a:p>
                      <a:pPr algn="l" fontAlgn="b"/>
                      <a:r>
                        <a:rPr lang="it-IT" sz="2000" b="1" u="none" strike="noStrike" dirty="0">
                          <a:effectLst/>
                          <a:latin typeface="Arial Narrow" pitchFamily="34" charset="0"/>
                        </a:rPr>
                        <a:t>A karen se le asigna lavar</a:t>
                      </a:r>
                      <a:endParaRPr lang="it-IT" sz="2000" b="1" i="0" u="none" strike="noStrike" dirty="0">
                        <a:solidFill>
                          <a:srgbClr val="000000"/>
                        </a:solidFill>
                        <a:effectLst/>
                        <a:latin typeface="Arial Narrow"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latin typeface="Arial Narrow" pitchFamily="34" charset="0"/>
                        </a:rPr>
                        <a:t>12</a:t>
                      </a:r>
                      <a:endParaRPr lang="es-PE" sz="2000" b="1" i="0" u="none" strike="noStrike" dirty="0">
                        <a:solidFill>
                          <a:srgbClr val="000000"/>
                        </a:solidFill>
                        <a:effectLst/>
                        <a:latin typeface="Arial Narrow" pitchFamily="34" charset="0"/>
                      </a:endParaRPr>
                    </a:p>
                  </a:txBody>
                  <a:tcPr marL="9525" marR="9525" marT="9525" marB="0" anchor="b"/>
                </a:tc>
                <a:extLst>
                  <a:ext uri="{0D108BD9-81ED-4DB2-BD59-A6C34878D82A}">
                    <a16:rowId xmlns:a16="http://schemas.microsoft.com/office/drawing/2014/main" val="1372440071"/>
                  </a:ext>
                </a:extLst>
              </a:tr>
              <a:tr h="240545">
                <a:tc>
                  <a:txBody>
                    <a:bodyPr/>
                    <a:lstStyle/>
                    <a:p>
                      <a:pPr algn="l" fontAlgn="b"/>
                      <a:r>
                        <a:rPr lang="es-PE" sz="2000" b="1" u="none" strike="noStrike" dirty="0">
                          <a:effectLst/>
                          <a:latin typeface="Arial Narrow" pitchFamily="34" charset="0"/>
                        </a:rPr>
                        <a:t> </a:t>
                      </a:r>
                      <a:endParaRPr lang="es-PE" sz="2000" b="1"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l" fontAlgn="b"/>
                      <a:r>
                        <a:rPr lang="es-PE" sz="2000" b="1" u="none" strike="noStrike" dirty="0">
                          <a:effectLst/>
                          <a:latin typeface="Arial Narrow" pitchFamily="34" charset="0"/>
                        </a:rPr>
                        <a:t> </a:t>
                      </a:r>
                      <a:endParaRPr lang="es-PE" sz="2000" b="1"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l" fontAlgn="b"/>
                      <a:r>
                        <a:rPr lang="es-PE" sz="2000" b="1" u="none" strike="noStrike" dirty="0">
                          <a:effectLst/>
                          <a:latin typeface="Arial Narrow" pitchFamily="34" charset="0"/>
                        </a:rPr>
                        <a:t> </a:t>
                      </a:r>
                      <a:endParaRPr lang="es-PE" sz="2000" b="1"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l" fontAlgn="b"/>
                      <a:r>
                        <a:rPr lang="es-PE" sz="2000" b="1" u="none" strike="noStrike" dirty="0">
                          <a:effectLst/>
                          <a:latin typeface="Arial Narrow" pitchFamily="34" charset="0"/>
                        </a:rPr>
                        <a:t>TOTAL</a:t>
                      </a:r>
                      <a:endParaRPr lang="es-PE" sz="2000" b="1" i="0" u="none" strike="noStrike" dirty="0">
                        <a:solidFill>
                          <a:srgbClr val="000000"/>
                        </a:solidFill>
                        <a:effectLst/>
                        <a:latin typeface="Arial Narrow" pitchFamily="34" charset="0"/>
                      </a:endParaRPr>
                    </a:p>
                  </a:txBody>
                  <a:tcPr marL="9525" marR="9525" marT="9525" marB="0" anchor="b">
                    <a:solidFill>
                      <a:schemeClr val="bg1"/>
                    </a:solidFill>
                  </a:tcPr>
                </a:tc>
                <a:tc>
                  <a:txBody>
                    <a:bodyPr/>
                    <a:lstStyle/>
                    <a:p>
                      <a:pPr algn="ctr" fontAlgn="b"/>
                      <a:r>
                        <a:rPr lang="es-PE" sz="2000" b="1" u="none" strike="noStrike" dirty="0">
                          <a:effectLst/>
                          <a:latin typeface="Arial Narrow" pitchFamily="34" charset="0"/>
                        </a:rPr>
                        <a:t>38</a:t>
                      </a:r>
                      <a:endParaRPr lang="es-PE" sz="2000" b="1" i="0" u="none" strike="noStrike" dirty="0">
                        <a:solidFill>
                          <a:srgbClr val="000000"/>
                        </a:solidFill>
                        <a:effectLst/>
                        <a:latin typeface="Arial Narrow" pitchFamily="34" charset="0"/>
                      </a:endParaRPr>
                    </a:p>
                  </a:txBody>
                  <a:tcPr marL="9525" marR="9525" marT="9525" marB="0" anchor="b">
                    <a:solidFill>
                      <a:schemeClr val="bg1"/>
                    </a:solidFill>
                  </a:tcPr>
                </a:tc>
                <a:extLst>
                  <a:ext uri="{0D108BD9-81ED-4DB2-BD59-A6C34878D82A}">
                    <a16:rowId xmlns:a16="http://schemas.microsoft.com/office/drawing/2014/main" val="754769760"/>
                  </a:ext>
                </a:extLst>
              </a:tr>
            </a:tbl>
          </a:graphicData>
        </a:graphic>
      </p:graphicFrame>
      <p:sp>
        <p:nvSpPr>
          <p:cNvPr id="19" name="2 Marcador de contenido">
            <a:extLst>
              <a:ext uri="{FF2B5EF4-FFF2-40B4-BE49-F238E27FC236}">
                <a16:creationId xmlns:a16="http://schemas.microsoft.com/office/drawing/2014/main" id="{90174341-61AC-FA18-7F66-F6D325D3EB38}"/>
              </a:ext>
            </a:extLst>
          </p:cNvPr>
          <p:cNvSpPr>
            <a:spLocks noGrp="1"/>
          </p:cNvSpPr>
          <p:nvPr>
            <p:ph idx="1"/>
          </p:nvPr>
        </p:nvSpPr>
        <p:spPr>
          <a:xfrm>
            <a:off x="0" y="1332781"/>
            <a:ext cx="6096000" cy="3083921"/>
          </a:xfrm>
          <a:solidFill>
            <a:schemeClr val="accent1">
              <a:lumMod val="40000"/>
              <a:lumOff val="60000"/>
            </a:schemeClr>
          </a:solidFill>
        </p:spPr>
        <p:txBody>
          <a:bodyPr wrap="square">
            <a:spAutoFit/>
          </a:bodyPr>
          <a:lstStyle/>
          <a:p>
            <a:pPr marL="0" indent="0" algn="just">
              <a:buNone/>
            </a:pPr>
            <a:r>
              <a:rPr lang="es-ES" sz="2400" b="1" dirty="0"/>
              <a:t>El Señor Klyne tiene tres hijos que estudian en la Universidad. Los hijos solicitan una propina para realizar un paseo con sus compañeros de la Universidad. El Padre les asigna tres tareas y les pide que presenten sus proformas (secretas). Queda entendido que la decisión del padre debe ser respetado. Tomando en cuenta los datos presentados por los hijos, ¿Qué decisión debe tomar el padre?</a:t>
            </a:r>
            <a:endParaRPr lang="es-PE" sz="2400" b="1" dirty="0"/>
          </a:p>
        </p:txBody>
      </p:sp>
      <p:graphicFrame>
        <p:nvGraphicFramePr>
          <p:cNvPr id="20" name="3 Tabla">
            <a:extLst>
              <a:ext uri="{FF2B5EF4-FFF2-40B4-BE49-F238E27FC236}">
                <a16:creationId xmlns:a16="http://schemas.microsoft.com/office/drawing/2014/main" id="{01333245-E2B9-88C9-955A-1D85BE29D115}"/>
              </a:ext>
            </a:extLst>
          </p:cNvPr>
          <p:cNvGraphicFramePr>
            <a:graphicFrameLocks noGrp="1"/>
          </p:cNvGraphicFramePr>
          <p:nvPr>
            <p:extLst>
              <p:ext uri="{D42A27DB-BD31-4B8C-83A1-F6EECF244321}">
                <p14:modId xmlns:p14="http://schemas.microsoft.com/office/powerpoint/2010/main" val="887120823"/>
              </p:ext>
            </p:extLst>
          </p:nvPr>
        </p:nvGraphicFramePr>
        <p:xfrm>
          <a:off x="2556588" y="4481699"/>
          <a:ext cx="3467404" cy="1880527"/>
        </p:xfrm>
        <a:graphic>
          <a:graphicData uri="http://schemas.openxmlformats.org/drawingml/2006/table">
            <a:tbl>
              <a:tblPr firstRow="1" bandRow="1">
                <a:tableStyleId>{5C22544A-7EE6-4342-B048-85BDC9FD1C3A}</a:tableStyleId>
              </a:tblPr>
              <a:tblGrid>
                <a:gridCol w="783771">
                  <a:extLst>
                    <a:ext uri="{9D8B030D-6E8A-4147-A177-3AD203B41FA5}">
                      <a16:colId xmlns:a16="http://schemas.microsoft.com/office/drawing/2014/main" val="20000"/>
                    </a:ext>
                  </a:extLst>
                </a:gridCol>
                <a:gridCol w="839755">
                  <a:extLst>
                    <a:ext uri="{9D8B030D-6E8A-4147-A177-3AD203B41FA5}">
                      <a16:colId xmlns:a16="http://schemas.microsoft.com/office/drawing/2014/main" val="20001"/>
                    </a:ext>
                  </a:extLst>
                </a:gridCol>
                <a:gridCol w="886408">
                  <a:extLst>
                    <a:ext uri="{9D8B030D-6E8A-4147-A177-3AD203B41FA5}">
                      <a16:colId xmlns:a16="http://schemas.microsoft.com/office/drawing/2014/main" val="20002"/>
                    </a:ext>
                  </a:extLst>
                </a:gridCol>
                <a:gridCol w="957470">
                  <a:extLst>
                    <a:ext uri="{9D8B030D-6E8A-4147-A177-3AD203B41FA5}">
                      <a16:colId xmlns:a16="http://schemas.microsoft.com/office/drawing/2014/main" val="20003"/>
                    </a:ext>
                  </a:extLst>
                </a:gridCol>
              </a:tblGrid>
              <a:tr h="382046">
                <a:tc>
                  <a:txBody>
                    <a:bodyPr/>
                    <a:lstStyle/>
                    <a:p>
                      <a:pPr algn="ctr"/>
                      <a:endParaRPr lang="es-PE" sz="1600" b="1" dirty="0">
                        <a:latin typeface="Arial Narrow"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600" b="1" dirty="0">
                          <a:solidFill>
                            <a:schemeClr val="tx1"/>
                          </a:solidFill>
                          <a:latin typeface="Arial Narrow" pitchFamily="34" charset="0"/>
                        </a:rPr>
                        <a:t>Podar el césped</a:t>
                      </a:r>
                      <a:endParaRPr lang="es-PE" sz="1600" b="1" dirty="0"/>
                    </a:p>
                  </a:txBody>
                  <a:tcPr/>
                </a:tc>
                <a:tc>
                  <a:txBody>
                    <a:bodyPr/>
                    <a:lstStyle/>
                    <a:p>
                      <a:pPr algn="ctr"/>
                      <a:r>
                        <a:rPr lang="es-ES" sz="1600" b="1" dirty="0">
                          <a:solidFill>
                            <a:schemeClr val="tx1"/>
                          </a:solidFill>
                          <a:latin typeface="Arial Narrow" pitchFamily="34" charset="0"/>
                        </a:rPr>
                        <a:t>Pintar la fachada</a:t>
                      </a:r>
                      <a:endParaRPr lang="es-PE" sz="1600" b="1" dirty="0">
                        <a:solidFill>
                          <a:schemeClr val="tx1"/>
                        </a:solidFill>
                        <a:latin typeface="Arial Narrow" pitchFamily="34" charset="0"/>
                      </a:endParaRPr>
                    </a:p>
                  </a:txBody>
                  <a:tcPr/>
                </a:tc>
                <a:tc>
                  <a:txBody>
                    <a:bodyPr/>
                    <a:lstStyle/>
                    <a:p>
                      <a:pPr algn="ctr"/>
                      <a:r>
                        <a:rPr lang="es-ES" sz="1600" b="1" dirty="0">
                          <a:solidFill>
                            <a:schemeClr val="tx1"/>
                          </a:solidFill>
                          <a:latin typeface="Arial Narrow" pitchFamily="34" charset="0"/>
                        </a:rPr>
                        <a:t>Lavar los carros</a:t>
                      </a:r>
                      <a:endParaRPr lang="es-PE" sz="1600" b="1" dirty="0">
                        <a:solidFill>
                          <a:schemeClr val="tx1"/>
                        </a:solidFill>
                        <a:latin typeface="Arial Narrow" pitchFamily="34" charset="0"/>
                      </a:endParaRPr>
                    </a:p>
                  </a:txBody>
                  <a:tcPr/>
                </a:tc>
                <a:extLst>
                  <a:ext uri="{0D108BD9-81ED-4DB2-BD59-A6C34878D82A}">
                    <a16:rowId xmlns:a16="http://schemas.microsoft.com/office/drawing/2014/main" val="10000"/>
                  </a:ext>
                </a:extLst>
              </a:tr>
              <a:tr h="438727">
                <a:tc>
                  <a:txBody>
                    <a:bodyPr/>
                    <a:lstStyle/>
                    <a:p>
                      <a:pPr algn="ctr"/>
                      <a:r>
                        <a:rPr lang="es-ES" sz="2000" b="1" dirty="0">
                          <a:latin typeface="Arial Narrow" pitchFamily="34" charset="0"/>
                        </a:rPr>
                        <a:t>Abby</a:t>
                      </a:r>
                      <a:endParaRPr lang="es-PE" sz="2000" b="1" dirty="0">
                        <a:latin typeface="Arial Narrow" pitchFamily="34" charset="0"/>
                      </a:endParaRPr>
                    </a:p>
                  </a:txBody>
                  <a:tcPr anchor="ctr"/>
                </a:tc>
                <a:tc>
                  <a:txBody>
                    <a:bodyPr/>
                    <a:lstStyle/>
                    <a:p>
                      <a:pPr algn="ctr" fontAlgn="b"/>
                      <a:r>
                        <a:rPr lang="es-PE" sz="2000" b="1" u="none" strike="noStrike" dirty="0">
                          <a:effectLst/>
                          <a:latin typeface="Arial Narrow" pitchFamily="34" charset="0"/>
                        </a:rPr>
                        <a:t>13</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14</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11</a:t>
                      </a:r>
                      <a:endParaRPr lang="es-PE" sz="2000" b="1" i="0" u="none" strike="noStrike" dirty="0">
                        <a:solidFill>
                          <a:srgbClr val="000000"/>
                        </a:solidFill>
                        <a:effectLst/>
                        <a:latin typeface="Arial Narrow" pitchFamily="34" charset="0"/>
                      </a:endParaRPr>
                    </a:p>
                  </a:txBody>
                  <a:tcPr marL="9525" marR="9525" marT="9525" marB="0" anchor="ctr"/>
                </a:tc>
                <a:extLst>
                  <a:ext uri="{0D108BD9-81ED-4DB2-BD59-A6C34878D82A}">
                    <a16:rowId xmlns:a16="http://schemas.microsoft.com/office/drawing/2014/main" val="10001"/>
                  </a:ext>
                </a:extLst>
              </a:tr>
              <a:tr h="371119">
                <a:tc>
                  <a:txBody>
                    <a:bodyPr/>
                    <a:lstStyle/>
                    <a:p>
                      <a:pPr algn="ctr"/>
                      <a:r>
                        <a:rPr lang="es-ES" sz="2000" b="1" dirty="0">
                          <a:latin typeface="Arial Narrow" pitchFamily="34" charset="0"/>
                        </a:rPr>
                        <a:t>John</a:t>
                      </a:r>
                      <a:endParaRPr lang="es-PE" sz="2000" b="1" dirty="0">
                        <a:latin typeface="Arial Narrow" pitchFamily="34" charset="0"/>
                      </a:endParaRPr>
                    </a:p>
                  </a:txBody>
                  <a:tcPr anchor="ctr"/>
                </a:tc>
                <a:tc>
                  <a:txBody>
                    <a:bodyPr/>
                    <a:lstStyle/>
                    <a:p>
                      <a:pPr algn="ctr" fontAlgn="b"/>
                      <a:r>
                        <a:rPr lang="es-PE" sz="2000" b="1" u="none" strike="noStrike" dirty="0">
                          <a:effectLst/>
                          <a:latin typeface="Arial Narrow" pitchFamily="34" charset="0"/>
                        </a:rPr>
                        <a:t>12</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15</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14</a:t>
                      </a:r>
                      <a:endParaRPr lang="es-PE" sz="2000" b="1" i="0" u="none" strike="noStrike" dirty="0">
                        <a:solidFill>
                          <a:srgbClr val="000000"/>
                        </a:solidFill>
                        <a:effectLst/>
                        <a:latin typeface="Arial Narrow" pitchFamily="34" charset="0"/>
                      </a:endParaRPr>
                    </a:p>
                  </a:txBody>
                  <a:tcPr marL="9525" marR="9525" marT="9525" marB="0" anchor="ctr"/>
                </a:tc>
                <a:extLst>
                  <a:ext uri="{0D108BD9-81ED-4DB2-BD59-A6C34878D82A}">
                    <a16:rowId xmlns:a16="http://schemas.microsoft.com/office/drawing/2014/main" val="10002"/>
                  </a:ext>
                </a:extLst>
              </a:tr>
              <a:tr h="466440">
                <a:tc>
                  <a:txBody>
                    <a:bodyPr/>
                    <a:lstStyle/>
                    <a:p>
                      <a:pPr marL="0" algn="ctr" defTabSz="914400" rtl="0" eaLnBrk="1" latinLnBrk="0" hangingPunct="1"/>
                      <a:r>
                        <a:rPr lang="es-ES" sz="2000" b="1" kern="1200" dirty="0">
                          <a:solidFill>
                            <a:schemeClr val="dk1"/>
                          </a:solidFill>
                          <a:latin typeface="Arial Narrow" pitchFamily="34" charset="0"/>
                          <a:ea typeface="+mn-ea"/>
                          <a:cs typeface="+mn-cs"/>
                        </a:rPr>
                        <a:t>Karen</a:t>
                      </a:r>
                      <a:endParaRPr lang="es-PE" sz="2000" b="1" kern="1200" dirty="0">
                        <a:solidFill>
                          <a:schemeClr val="dk1"/>
                        </a:solidFill>
                        <a:latin typeface="Arial Narrow" pitchFamily="34" charset="0"/>
                        <a:ea typeface="+mn-ea"/>
                        <a:cs typeface="+mn-cs"/>
                      </a:endParaRPr>
                    </a:p>
                  </a:txBody>
                  <a:tcPr anchor="ctr"/>
                </a:tc>
                <a:tc>
                  <a:txBody>
                    <a:bodyPr/>
                    <a:lstStyle/>
                    <a:p>
                      <a:pPr algn="ctr" fontAlgn="b"/>
                      <a:r>
                        <a:rPr lang="es-PE" sz="2000" b="1" u="none" strike="noStrike" dirty="0">
                          <a:effectLst/>
                          <a:latin typeface="Arial Narrow" pitchFamily="34" charset="0"/>
                        </a:rPr>
                        <a:t>13</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16</a:t>
                      </a:r>
                      <a:endParaRPr lang="es-PE" sz="2000" b="1" i="0" u="none" strike="noStrike" dirty="0">
                        <a:solidFill>
                          <a:srgbClr val="000000"/>
                        </a:solidFill>
                        <a:effectLst/>
                        <a:latin typeface="Arial Narrow" pitchFamily="34" charset="0"/>
                      </a:endParaRPr>
                    </a:p>
                  </a:txBody>
                  <a:tcPr marL="9525" marR="9525" marT="9525" marB="0" anchor="ctr"/>
                </a:tc>
                <a:tc>
                  <a:txBody>
                    <a:bodyPr/>
                    <a:lstStyle/>
                    <a:p>
                      <a:pPr algn="ctr" fontAlgn="b"/>
                      <a:r>
                        <a:rPr lang="es-PE" sz="2000" b="1" u="none" strike="noStrike" dirty="0">
                          <a:effectLst/>
                          <a:latin typeface="Arial Narrow" pitchFamily="34" charset="0"/>
                        </a:rPr>
                        <a:t>12</a:t>
                      </a:r>
                      <a:endParaRPr lang="es-PE" sz="2000" b="1" i="0" u="none" strike="noStrike" dirty="0">
                        <a:solidFill>
                          <a:srgbClr val="000000"/>
                        </a:solidFill>
                        <a:effectLst/>
                        <a:latin typeface="Arial Narrow" pitchFamily="34" charset="0"/>
                      </a:endParaRPr>
                    </a:p>
                  </a:txBody>
                  <a:tcPr marL="9525" marR="9525" marT="9525" marB="0" anchor="ctr"/>
                </a:tc>
                <a:extLst>
                  <a:ext uri="{0D108BD9-81ED-4DB2-BD59-A6C34878D82A}">
                    <a16:rowId xmlns:a16="http://schemas.microsoft.com/office/drawing/2014/main" val="10003"/>
                  </a:ext>
                </a:extLst>
              </a:tr>
            </a:tbl>
          </a:graphicData>
        </a:graphic>
      </p:graphicFrame>
      <p:pic>
        <p:nvPicPr>
          <p:cNvPr id="1026" name="Picture 2" descr="Guía para padres de adolescentes">
            <a:extLst>
              <a:ext uri="{FF2B5EF4-FFF2-40B4-BE49-F238E27FC236}">
                <a16:creationId xmlns:a16="http://schemas.microsoft.com/office/drawing/2014/main" id="{2D64A294-3400-6242-8F62-580D64D59F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479822"/>
            <a:ext cx="2499751" cy="1613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266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5"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2000"/>
                                        <p:tgtEl>
                                          <p:spTgt spid="12"/>
                                        </p:tgtEl>
                                      </p:cBhvr>
                                    </p:animEffect>
                                    <p:anim calcmode="lin" valueType="num">
                                      <p:cBhvr>
                                        <p:cTn id="30" dur="2000" fill="hold"/>
                                        <p:tgtEl>
                                          <p:spTgt spid="12"/>
                                        </p:tgtEl>
                                        <p:attrNameLst>
                                          <p:attrName>ppt_w</p:attrName>
                                        </p:attrNameLst>
                                      </p:cBhvr>
                                      <p:tavLst>
                                        <p:tav tm="0" fmla="#ppt_w*sin(2.5*pi*$)">
                                          <p:val>
                                            <p:fltVal val="0"/>
                                          </p:val>
                                        </p:tav>
                                        <p:tav tm="100000">
                                          <p:val>
                                            <p:fltVal val="1"/>
                                          </p:val>
                                        </p:tav>
                                      </p:tavLst>
                                    </p:anim>
                                    <p:anim calcmode="lin" valueType="num">
                                      <p:cBhvr>
                                        <p:cTn id="31" dur="20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45"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2000"/>
                                        <p:tgtEl>
                                          <p:spTgt spid="13"/>
                                        </p:tgtEl>
                                      </p:cBhvr>
                                    </p:animEffect>
                                    <p:anim calcmode="lin" valueType="num">
                                      <p:cBhvr>
                                        <p:cTn id="37" dur="2000" fill="hold"/>
                                        <p:tgtEl>
                                          <p:spTgt spid="13"/>
                                        </p:tgtEl>
                                        <p:attrNameLst>
                                          <p:attrName>ppt_w</p:attrName>
                                        </p:attrNameLst>
                                      </p:cBhvr>
                                      <p:tavLst>
                                        <p:tav tm="0" fmla="#ppt_w*sin(2.5*pi*$)">
                                          <p:val>
                                            <p:fltVal val="0"/>
                                          </p:val>
                                        </p:tav>
                                        <p:tav tm="100000">
                                          <p:val>
                                            <p:fltVal val="1"/>
                                          </p:val>
                                        </p:tav>
                                      </p:tavLst>
                                    </p:anim>
                                    <p:anim calcmode="lin" valueType="num">
                                      <p:cBhvr>
                                        <p:cTn id="38" dur="20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45"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2000"/>
                                        <p:tgtEl>
                                          <p:spTgt spid="14"/>
                                        </p:tgtEl>
                                      </p:cBhvr>
                                    </p:animEffect>
                                    <p:anim calcmode="lin" valueType="num">
                                      <p:cBhvr>
                                        <p:cTn id="44" dur="2000" fill="hold"/>
                                        <p:tgtEl>
                                          <p:spTgt spid="14"/>
                                        </p:tgtEl>
                                        <p:attrNameLst>
                                          <p:attrName>ppt_w</p:attrName>
                                        </p:attrNameLst>
                                      </p:cBhvr>
                                      <p:tavLst>
                                        <p:tav tm="0" fmla="#ppt_w*sin(2.5*pi*$)">
                                          <p:val>
                                            <p:fltVal val="0"/>
                                          </p:val>
                                        </p:tav>
                                        <p:tav tm="100000">
                                          <p:val>
                                            <p:fltVal val="1"/>
                                          </p:val>
                                        </p:tav>
                                      </p:tavLst>
                                    </p:anim>
                                    <p:anim calcmode="lin" valueType="num">
                                      <p:cBhvr>
                                        <p:cTn id="45" dur="2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4 Tabla"/>
          <p:cNvGraphicFramePr>
            <a:graphicFrameLocks noGrp="1"/>
          </p:cNvGraphicFramePr>
          <p:nvPr>
            <p:extLst>
              <p:ext uri="{D42A27DB-BD31-4B8C-83A1-F6EECF244321}">
                <p14:modId xmlns:p14="http://schemas.microsoft.com/office/powerpoint/2010/main" val="2794453846"/>
              </p:ext>
            </p:extLst>
          </p:nvPr>
        </p:nvGraphicFramePr>
        <p:xfrm>
          <a:off x="340138" y="1330526"/>
          <a:ext cx="4536504" cy="4624829"/>
        </p:xfrm>
        <a:graphic>
          <a:graphicData uri="http://schemas.openxmlformats.org/drawingml/2006/table">
            <a:tbl>
              <a:tblPr>
                <a:tableStyleId>{5C22544A-7EE6-4342-B048-85BDC9FD1C3A}</a:tableStyleId>
              </a:tblPr>
              <a:tblGrid>
                <a:gridCol w="756084">
                  <a:extLst>
                    <a:ext uri="{9D8B030D-6E8A-4147-A177-3AD203B41FA5}">
                      <a16:colId xmlns:a16="http://schemas.microsoft.com/office/drawing/2014/main" val="20000"/>
                    </a:ext>
                  </a:extLst>
                </a:gridCol>
                <a:gridCol w="756084">
                  <a:extLst>
                    <a:ext uri="{9D8B030D-6E8A-4147-A177-3AD203B41FA5}">
                      <a16:colId xmlns:a16="http://schemas.microsoft.com/office/drawing/2014/main" val="20001"/>
                    </a:ext>
                  </a:extLst>
                </a:gridCol>
                <a:gridCol w="756084">
                  <a:extLst>
                    <a:ext uri="{9D8B030D-6E8A-4147-A177-3AD203B41FA5}">
                      <a16:colId xmlns:a16="http://schemas.microsoft.com/office/drawing/2014/main" val="20002"/>
                    </a:ext>
                  </a:extLst>
                </a:gridCol>
                <a:gridCol w="756084">
                  <a:extLst>
                    <a:ext uri="{9D8B030D-6E8A-4147-A177-3AD203B41FA5}">
                      <a16:colId xmlns:a16="http://schemas.microsoft.com/office/drawing/2014/main" val="20003"/>
                    </a:ext>
                  </a:extLst>
                </a:gridCol>
                <a:gridCol w="756084">
                  <a:extLst>
                    <a:ext uri="{9D8B030D-6E8A-4147-A177-3AD203B41FA5}">
                      <a16:colId xmlns:a16="http://schemas.microsoft.com/office/drawing/2014/main" val="20004"/>
                    </a:ext>
                  </a:extLst>
                </a:gridCol>
                <a:gridCol w="756084">
                  <a:extLst>
                    <a:ext uri="{9D8B030D-6E8A-4147-A177-3AD203B41FA5}">
                      <a16:colId xmlns:a16="http://schemas.microsoft.com/office/drawing/2014/main" val="20005"/>
                    </a:ext>
                  </a:extLst>
                </a:gridCol>
              </a:tblGrid>
              <a:tr h="449648">
                <a:tc>
                  <a:txBody>
                    <a:bodyPr/>
                    <a:lstStyle/>
                    <a:p>
                      <a:pPr marL="0" algn="ctr" defTabSz="914400" rtl="0" eaLnBrk="1" fontAlgn="b" latinLnBrk="0" hangingPunct="1"/>
                      <a:endParaRPr lang="es-PE" sz="2000" u="none" strike="noStrike" kern="1200" dirty="0">
                        <a:solidFill>
                          <a:schemeClr val="bg1"/>
                        </a:solidFill>
                        <a:effectLst/>
                        <a:latin typeface="+mn-lt"/>
                        <a:ea typeface="+mn-ea"/>
                        <a:cs typeface="+mn-cs"/>
                      </a:endParaRPr>
                    </a:p>
                  </a:txBody>
                  <a:tcPr marL="9525" marR="9525" marT="9525" marB="0" anchor="b">
                    <a:solidFill>
                      <a:schemeClr val="bg2">
                        <a:lumMod val="25000"/>
                      </a:schemeClr>
                    </a:solidFill>
                  </a:tcPr>
                </a:tc>
                <a:tc>
                  <a:txBody>
                    <a:bodyPr/>
                    <a:lstStyle/>
                    <a:p>
                      <a:pPr marL="0" algn="ctr" defTabSz="914400" rtl="0" eaLnBrk="1" fontAlgn="b" latinLnBrk="0" hangingPunct="1"/>
                      <a:r>
                        <a:rPr lang="es-PE" sz="2000" u="none" strike="noStrike" kern="1200" dirty="0" err="1">
                          <a:solidFill>
                            <a:schemeClr val="bg1"/>
                          </a:solidFill>
                          <a:effectLst/>
                          <a:latin typeface="+mn-lt"/>
                          <a:ea typeface="+mn-ea"/>
                          <a:cs typeface="+mn-cs"/>
                        </a:rPr>
                        <a:t>Tar1</a:t>
                      </a:r>
                      <a:endParaRPr lang="es-PE" sz="2000" u="none" strike="noStrike" kern="1200" dirty="0">
                        <a:solidFill>
                          <a:schemeClr val="bg1"/>
                        </a:solidFill>
                        <a:effectLst/>
                        <a:latin typeface="+mn-lt"/>
                        <a:ea typeface="+mn-ea"/>
                        <a:cs typeface="+mn-cs"/>
                      </a:endParaRPr>
                    </a:p>
                  </a:txBody>
                  <a:tcPr marL="9525" marR="9525" marT="9525" marB="0" anchor="b">
                    <a:solidFill>
                      <a:schemeClr val="bg2">
                        <a:lumMod val="25000"/>
                      </a:schemeClr>
                    </a:solidFill>
                  </a:tcPr>
                </a:tc>
                <a:tc>
                  <a:txBody>
                    <a:bodyPr/>
                    <a:lstStyle/>
                    <a:p>
                      <a:pPr marL="0" algn="ctr" defTabSz="914400" rtl="0" eaLnBrk="1" fontAlgn="b" latinLnBrk="0" hangingPunct="1"/>
                      <a:r>
                        <a:rPr lang="es-PE" sz="2000" u="none" strike="noStrike" kern="1200" dirty="0" err="1">
                          <a:solidFill>
                            <a:schemeClr val="bg1"/>
                          </a:solidFill>
                          <a:effectLst/>
                          <a:latin typeface="+mn-lt"/>
                          <a:ea typeface="+mn-ea"/>
                          <a:cs typeface="+mn-cs"/>
                        </a:rPr>
                        <a:t>Tar2</a:t>
                      </a:r>
                      <a:endParaRPr lang="es-PE" sz="2000" u="none" strike="noStrike" kern="1200" dirty="0">
                        <a:solidFill>
                          <a:schemeClr val="bg1"/>
                        </a:solidFill>
                        <a:effectLst/>
                        <a:latin typeface="+mn-lt"/>
                        <a:ea typeface="+mn-ea"/>
                        <a:cs typeface="+mn-cs"/>
                      </a:endParaRPr>
                    </a:p>
                  </a:txBody>
                  <a:tcPr marL="9525" marR="9525" marT="9525" marB="0" anchor="b">
                    <a:solidFill>
                      <a:schemeClr val="bg2">
                        <a:lumMod val="25000"/>
                      </a:schemeClr>
                    </a:solidFill>
                  </a:tcPr>
                </a:tc>
                <a:tc>
                  <a:txBody>
                    <a:bodyPr/>
                    <a:lstStyle/>
                    <a:p>
                      <a:pPr marL="0" algn="ctr" defTabSz="914400" rtl="0" eaLnBrk="1" fontAlgn="b" latinLnBrk="0" hangingPunct="1"/>
                      <a:r>
                        <a:rPr lang="es-PE" sz="2000" u="none" strike="noStrike" kern="1200" dirty="0" err="1">
                          <a:solidFill>
                            <a:schemeClr val="bg1"/>
                          </a:solidFill>
                          <a:effectLst/>
                          <a:latin typeface="+mn-lt"/>
                          <a:ea typeface="+mn-ea"/>
                          <a:cs typeface="+mn-cs"/>
                        </a:rPr>
                        <a:t>Tar3</a:t>
                      </a:r>
                      <a:endParaRPr lang="es-PE" sz="2000" u="none" strike="noStrike" kern="1200" dirty="0">
                        <a:solidFill>
                          <a:schemeClr val="bg1"/>
                        </a:solidFill>
                        <a:effectLst/>
                        <a:latin typeface="+mn-lt"/>
                        <a:ea typeface="+mn-ea"/>
                        <a:cs typeface="+mn-cs"/>
                      </a:endParaRPr>
                    </a:p>
                  </a:txBody>
                  <a:tcPr marL="9525" marR="9525" marT="9525" marB="0" anchor="b">
                    <a:solidFill>
                      <a:schemeClr val="bg2">
                        <a:lumMod val="25000"/>
                      </a:schemeClr>
                    </a:solidFill>
                  </a:tcPr>
                </a:tc>
                <a:tc>
                  <a:txBody>
                    <a:bodyPr/>
                    <a:lstStyle/>
                    <a:p>
                      <a:pPr marL="0" algn="ctr" defTabSz="914400" rtl="0" eaLnBrk="1" fontAlgn="b" latinLnBrk="0" hangingPunct="1"/>
                      <a:r>
                        <a:rPr lang="es-PE" sz="2000" u="none" strike="noStrike" kern="1200" dirty="0" err="1">
                          <a:solidFill>
                            <a:schemeClr val="bg1"/>
                          </a:solidFill>
                          <a:effectLst/>
                          <a:latin typeface="+mn-lt"/>
                          <a:ea typeface="+mn-ea"/>
                          <a:cs typeface="+mn-cs"/>
                        </a:rPr>
                        <a:t>Tar4</a:t>
                      </a:r>
                      <a:endParaRPr lang="es-PE" sz="2000" u="none" strike="noStrike" kern="1200" dirty="0">
                        <a:solidFill>
                          <a:schemeClr val="bg1"/>
                        </a:solidFill>
                        <a:effectLst/>
                        <a:latin typeface="+mn-lt"/>
                        <a:ea typeface="+mn-ea"/>
                        <a:cs typeface="+mn-cs"/>
                      </a:endParaRPr>
                    </a:p>
                  </a:txBody>
                  <a:tcPr marL="9525" marR="9525" marT="9525" marB="0" anchor="b">
                    <a:solidFill>
                      <a:schemeClr val="bg2">
                        <a:lumMod val="25000"/>
                      </a:schemeClr>
                    </a:solidFill>
                  </a:tcPr>
                </a:tc>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0"/>
                  </a:ext>
                </a:extLst>
              </a:tr>
              <a:tr h="472131">
                <a:tc>
                  <a:txBody>
                    <a:bodyPr/>
                    <a:lstStyle/>
                    <a:p>
                      <a:pPr marL="0" algn="ctr" defTabSz="914400" rtl="0" eaLnBrk="1" fontAlgn="b" latinLnBrk="0" hangingPunct="1"/>
                      <a:r>
                        <a:rPr lang="es-PE" sz="2000" u="none" strike="noStrike" kern="1200" dirty="0" err="1">
                          <a:solidFill>
                            <a:schemeClr val="bg1"/>
                          </a:solidFill>
                          <a:effectLst/>
                          <a:latin typeface="+mn-lt"/>
                          <a:ea typeface="+mn-ea"/>
                          <a:cs typeface="+mn-cs"/>
                        </a:rPr>
                        <a:t>Tra1</a:t>
                      </a:r>
                      <a:endParaRPr lang="es-PE" sz="2000" u="none" strike="noStrike" kern="1200" dirty="0">
                        <a:solidFill>
                          <a:schemeClr val="bg1"/>
                        </a:solidFill>
                        <a:effectLst/>
                        <a:latin typeface="+mn-lt"/>
                        <a:ea typeface="+mn-ea"/>
                        <a:cs typeface="+mn-cs"/>
                      </a:endParaRPr>
                    </a:p>
                  </a:txBody>
                  <a:tcPr marL="9525" marR="9525" marT="9525" marB="0" anchor="b">
                    <a:solidFill>
                      <a:schemeClr val="bg2">
                        <a:lumMod val="25000"/>
                      </a:schemeClr>
                    </a:solidFill>
                  </a:tcPr>
                </a:tc>
                <a:tc>
                  <a:txBody>
                    <a:bodyPr/>
                    <a:lstStyle/>
                    <a:p>
                      <a:pPr algn="ctr" fontAlgn="ctr"/>
                      <a:r>
                        <a:rPr lang="es-PE" sz="2400" u="none" strike="noStrike" dirty="0">
                          <a:effectLst/>
                        </a:rPr>
                        <a:t>14</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6</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10</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13</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1"/>
                  </a:ext>
                </a:extLst>
              </a:tr>
              <a:tr h="472131">
                <a:tc>
                  <a:txBody>
                    <a:bodyPr/>
                    <a:lstStyle/>
                    <a:p>
                      <a:pPr marL="0" algn="ctr" defTabSz="914400" rtl="0" eaLnBrk="1" fontAlgn="b" latinLnBrk="0" hangingPunct="1"/>
                      <a:r>
                        <a:rPr lang="es-PE" sz="2000" u="none" strike="noStrike" kern="1200" dirty="0" err="1">
                          <a:solidFill>
                            <a:schemeClr val="bg1"/>
                          </a:solidFill>
                          <a:effectLst/>
                          <a:latin typeface="+mn-lt"/>
                          <a:ea typeface="+mn-ea"/>
                          <a:cs typeface="+mn-cs"/>
                        </a:rPr>
                        <a:t>Tra2</a:t>
                      </a:r>
                      <a:endParaRPr lang="es-PE" sz="2000" u="none" strike="noStrike" kern="1200" dirty="0">
                        <a:solidFill>
                          <a:schemeClr val="bg1"/>
                        </a:solidFill>
                        <a:effectLst/>
                        <a:latin typeface="+mn-lt"/>
                        <a:ea typeface="+mn-ea"/>
                        <a:cs typeface="+mn-cs"/>
                      </a:endParaRPr>
                    </a:p>
                  </a:txBody>
                  <a:tcPr marL="9525" marR="9525" marT="9525" marB="0" anchor="b">
                    <a:solidFill>
                      <a:schemeClr val="bg2">
                        <a:lumMod val="25000"/>
                      </a:schemeClr>
                    </a:solidFill>
                  </a:tcPr>
                </a:tc>
                <a:tc>
                  <a:txBody>
                    <a:bodyPr/>
                    <a:lstStyle/>
                    <a:p>
                      <a:pPr algn="ctr" fontAlgn="ctr"/>
                      <a:r>
                        <a:rPr lang="es-PE" sz="2400" u="none" strike="noStrike" dirty="0">
                          <a:effectLst/>
                        </a:rPr>
                        <a:t>10</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8</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12</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6</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2"/>
                  </a:ext>
                </a:extLst>
              </a:tr>
              <a:tr h="472131">
                <a:tc>
                  <a:txBody>
                    <a:bodyPr/>
                    <a:lstStyle/>
                    <a:p>
                      <a:pPr marL="0" algn="ctr" defTabSz="914400" rtl="0" eaLnBrk="1" fontAlgn="b" latinLnBrk="0" hangingPunct="1"/>
                      <a:r>
                        <a:rPr lang="es-PE" sz="2000" u="none" strike="noStrike" kern="1200" dirty="0" err="1">
                          <a:solidFill>
                            <a:schemeClr val="bg1"/>
                          </a:solidFill>
                          <a:effectLst/>
                          <a:latin typeface="+mn-lt"/>
                          <a:ea typeface="+mn-ea"/>
                          <a:cs typeface="+mn-cs"/>
                        </a:rPr>
                        <a:t>Tra3</a:t>
                      </a:r>
                      <a:endParaRPr lang="es-PE" sz="2000" u="none" strike="noStrike" kern="1200" dirty="0">
                        <a:solidFill>
                          <a:schemeClr val="bg1"/>
                        </a:solidFill>
                        <a:effectLst/>
                        <a:latin typeface="+mn-lt"/>
                        <a:ea typeface="+mn-ea"/>
                        <a:cs typeface="+mn-cs"/>
                      </a:endParaRPr>
                    </a:p>
                  </a:txBody>
                  <a:tcPr marL="9525" marR="9525" marT="9525" marB="0" anchor="b">
                    <a:solidFill>
                      <a:schemeClr val="bg2">
                        <a:lumMod val="25000"/>
                      </a:schemeClr>
                    </a:solidFill>
                  </a:tcPr>
                </a:tc>
                <a:tc>
                  <a:txBody>
                    <a:bodyPr/>
                    <a:lstStyle/>
                    <a:p>
                      <a:pPr algn="ctr" fontAlgn="ctr"/>
                      <a:r>
                        <a:rPr lang="es-PE" sz="2400" u="none" strike="noStrike">
                          <a:effectLst/>
                        </a:rPr>
                        <a:t>7</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14</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10</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14</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3"/>
                  </a:ext>
                </a:extLst>
              </a:tr>
              <a:tr h="472131">
                <a:tc>
                  <a:txBody>
                    <a:bodyPr/>
                    <a:lstStyle/>
                    <a:p>
                      <a:pPr marL="0" algn="ctr" defTabSz="914400" rtl="0" eaLnBrk="1" fontAlgn="b" latinLnBrk="0" hangingPunct="1"/>
                      <a:r>
                        <a:rPr lang="es-PE" sz="2000" u="none" strike="noStrike" kern="1200" dirty="0" err="1">
                          <a:solidFill>
                            <a:schemeClr val="bg1"/>
                          </a:solidFill>
                          <a:effectLst/>
                          <a:latin typeface="+mn-lt"/>
                          <a:ea typeface="+mn-ea"/>
                          <a:cs typeface="+mn-cs"/>
                        </a:rPr>
                        <a:t>Tra4</a:t>
                      </a:r>
                      <a:endParaRPr lang="es-PE" sz="2000" u="none" strike="noStrike" kern="1200" dirty="0">
                        <a:solidFill>
                          <a:schemeClr val="bg1"/>
                        </a:solidFill>
                        <a:effectLst/>
                        <a:latin typeface="+mn-lt"/>
                        <a:ea typeface="+mn-ea"/>
                        <a:cs typeface="+mn-cs"/>
                      </a:endParaRPr>
                    </a:p>
                  </a:txBody>
                  <a:tcPr marL="9525" marR="9525" marT="9525" marB="0" anchor="b">
                    <a:solidFill>
                      <a:schemeClr val="bg2">
                        <a:lumMod val="25000"/>
                      </a:schemeClr>
                    </a:solidFill>
                  </a:tcPr>
                </a:tc>
                <a:tc>
                  <a:txBody>
                    <a:bodyPr/>
                    <a:lstStyle/>
                    <a:p>
                      <a:pPr algn="ctr" fontAlgn="ctr"/>
                      <a:r>
                        <a:rPr lang="es-PE" sz="2400" u="none" strike="noStrike">
                          <a:effectLst/>
                        </a:rPr>
                        <a:t>9</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8</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10</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11</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4"/>
                  </a:ext>
                </a:extLst>
              </a:tr>
              <a:tr h="398133">
                <a:tc gridSpan="3">
                  <a:txBody>
                    <a:bodyPr/>
                    <a:lstStyle/>
                    <a:p>
                      <a:pPr algn="l" fontAlgn="b"/>
                      <a:r>
                        <a:rPr lang="es-PE" sz="2400" u="none" strike="noStrike" dirty="0">
                          <a:solidFill>
                            <a:srgbClr val="FF0000"/>
                          </a:solidFill>
                          <a:effectLst/>
                        </a:rPr>
                        <a:t>SOLUCIÓN</a:t>
                      </a:r>
                      <a:endParaRPr lang="es-PE" sz="2400" b="0" i="0" u="none" strike="noStrike" dirty="0">
                        <a:solidFill>
                          <a:srgbClr val="FF0000"/>
                        </a:solidFill>
                        <a:effectLst/>
                        <a:latin typeface="Calibri"/>
                      </a:endParaRPr>
                    </a:p>
                  </a:txBody>
                  <a:tcPr marL="9525" marR="9525" marT="9525" marB="0" anchor="b">
                    <a:solidFill>
                      <a:schemeClr val="bg1"/>
                    </a:solidFill>
                  </a:tcPr>
                </a:tc>
                <a:tc hMerge="1">
                  <a:txBody>
                    <a:bodyPr/>
                    <a:lstStyle/>
                    <a:p>
                      <a:pPr algn="l" fontAlgn="b"/>
                      <a:endParaRPr lang="es-PE" sz="2400" b="0" i="0" u="none" strike="noStrike" dirty="0">
                        <a:solidFill>
                          <a:srgbClr val="FF0000"/>
                        </a:solidFill>
                        <a:effectLst/>
                        <a:latin typeface="Calibri"/>
                      </a:endParaRPr>
                    </a:p>
                  </a:txBody>
                  <a:tcPr marL="9525" marR="9525" marT="9525" marB="0" anchor="b"/>
                </a:tc>
                <a:tc hMerge="1">
                  <a:txBody>
                    <a:bodyPr/>
                    <a:lstStyle/>
                    <a:p>
                      <a:pPr algn="l" fontAlgn="b"/>
                      <a:endParaRPr lang="es-PE" sz="2400" b="0" i="0" u="none" strike="noStrike" dirty="0">
                        <a:solidFill>
                          <a:srgbClr val="000000"/>
                        </a:solidFill>
                        <a:effectLst/>
                        <a:latin typeface="Calibri"/>
                      </a:endParaRPr>
                    </a:p>
                  </a:txBody>
                  <a:tcPr marL="9525" marR="9525" marT="9525" marB="0" anchor="b"/>
                </a:tc>
                <a:tc>
                  <a:txBody>
                    <a:bodyPr/>
                    <a:lstStyle/>
                    <a:p>
                      <a:pPr algn="l" fontAlgn="b"/>
                      <a:endParaRPr lang="es-PE" sz="2400" b="0" i="0" u="none" strike="noStrike" dirty="0">
                        <a:solidFill>
                          <a:srgbClr val="FF0000"/>
                        </a:solidFill>
                        <a:effectLst/>
                        <a:latin typeface="Calibri"/>
                      </a:endParaRPr>
                    </a:p>
                  </a:txBody>
                  <a:tcPr marL="9525" marR="9525" marT="9525" marB="0" anchor="b">
                    <a:solidFill>
                      <a:schemeClr val="bg1"/>
                    </a:solidFill>
                  </a:tcPr>
                </a:tc>
                <a:tc>
                  <a:txBody>
                    <a:bodyPr/>
                    <a:lstStyle/>
                    <a:p>
                      <a:pPr algn="l" fontAlgn="b"/>
                      <a:endParaRPr lang="es-PE" sz="2400" b="0" i="0" u="none" strike="noStrike" dirty="0">
                        <a:solidFill>
                          <a:srgbClr val="FF0000"/>
                        </a:solidFill>
                        <a:effectLst/>
                        <a:latin typeface="Calibri"/>
                      </a:endParaRPr>
                    </a:p>
                  </a:txBody>
                  <a:tcPr marL="9525" marR="9525" marT="9525" marB="0" anchor="b">
                    <a:solidFill>
                      <a:schemeClr val="bg1"/>
                    </a:solidFill>
                  </a:tcPr>
                </a:tc>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5"/>
                  </a:ext>
                </a:extLst>
              </a:tr>
              <a:tr h="472131">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ctr"/>
                      <a:r>
                        <a:rPr lang="es-PE" sz="2400" u="none" strike="noStrike" dirty="0">
                          <a:effectLst/>
                        </a:rPr>
                        <a:t>14</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6</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10</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13</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b"/>
                      <a:r>
                        <a:rPr lang="es-PE" sz="2400" u="none" strike="noStrike" dirty="0">
                          <a:solidFill>
                            <a:srgbClr val="FF0000"/>
                          </a:solidFill>
                          <a:effectLst/>
                        </a:rPr>
                        <a:t>6</a:t>
                      </a:r>
                      <a:endParaRPr lang="es-PE" sz="2400" b="0" i="0" u="none" strike="noStrike" dirty="0">
                        <a:solidFill>
                          <a:srgbClr val="FF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6"/>
                  </a:ext>
                </a:extLst>
              </a:tr>
              <a:tr h="472131">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ctr"/>
                      <a:r>
                        <a:rPr lang="es-PE" sz="2400" u="none" strike="noStrike">
                          <a:effectLst/>
                        </a:rPr>
                        <a:t>10</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8</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12</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6</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b"/>
                      <a:r>
                        <a:rPr lang="es-PE" sz="2400" u="none" strike="noStrike" dirty="0">
                          <a:solidFill>
                            <a:srgbClr val="FF0000"/>
                          </a:solidFill>
                          <a:effectLst/>
                        </a:rPr>
                        <a:t>6</a:t>
                      </a:r>
                      <a:endParaRPr lang="es-PE" sz="2400" b="0" i="0" u="none" strike="noStrike" dirty="0">
                        <a:solidFill>
                          <a:srgbClr val="FF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7"/>
                  </a:ext>
                </a:extLst>
              </a:tr>
              <a:tr h="472131">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ctr"/>
                      <a:r>
                        <a:rPr lang="es-PE" sz="2400" u="none" strike="noStrike">
                          <a:effectLst/>
                        </a:rPr>
                        <a:t>7</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14</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10</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14</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b"/>
                      <a:r>
                        <a:rPr lang="es-PE" sz="2400" u="none" strike="noStrike" dirty="0">
                          <a:solidFill>
                            <a:srgbClr val="FF0000"/>
                          </a:solidFill>
                          <a:effectLst/>
                        </a:rPr>
                        <a:t>7</a:t>
                      </a:r>
                      <a:endParaRPr lang="es-PE" sz="2400" b="0" i="0" u="none" strike="noStrike" dirty="0">
                        <a:solidFill>
                          <a:srgbClr val="FF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8"/>
                  </a:ext>
                </a:extLst>
              </a:tr>
              <a:tr h="472131">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ctr"/>
                      <a:r>
                        <a:rPr lang="es-PE" sz="2400" u="none" strike="noStrike">
                          <a:effectLst/>
                        </a:rPr>
                        <a:t>9</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8</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10</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11</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b"/>
                      <a:r>
                        <a:rPr lang="es-PE" sz="2400" u="none" strike="noStrike" dirty="0">
                          <a:solidFill>
                            <a:srgbClr val="FF0000"/>
                          </a:solidFill>
                          <a:effectLst/>
                        </a:rPr>
                        <a:t>8</a:t>
                      </a:r>
                      <a:endParaRPr lang="es-PE" sz="2400" b="0" i="0" u="none" strike="noStrike" dirty="0">
                        <a:solidFill>
                          <a:srgbClr val="FF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9"/>
                  </a:ext>
                </a:extLst>
              </a:tr>
            </a:tbl>
          </a:graphicData>
        </a:graphic>
      </p:graphicFrame>
      <p:graphicFrame>
        <p:nvGraphicFramePr>
          <p:cNvPr id="6" name="5 Tabla"/>
          <p:cNvGraphicFramePr>
            <a:graphicFrameLocks noGrp="1"/>
          </p:cNvGraphicFramePr>
          <p:nvPr>
            <p:extLst>
              <p:ext uri="{D42A27DB-BD31-4B8C-83A1-F6EECF244321}">
                <p14:modId xmlns:p14="http://schemas.microsoft.com/office/powerpoint/2010/main" val="3439543860"/>
              </p:ext>
            </p:extLst>
          </p:nvPr>
        </p:nvGraphicFramePr>
        <p:xfrm>
          <a:off x="5180420" y="4070441"/>
          <a:ext cx="3024336" cy="2804812"/>
        </p:xfrm>
        <a:graphic>
          <a:graphicData uri="http://schemas.openxmlformats.org/drawingml/2006/table">
            <a:tbl>
              <a:tblPr>
                <a:tableStyleId>{5C22544A-7EE6-4342-B048-85BDC9FD1C3A}</a:tableStyleId>
              </a:tblPr>
              <a:tblGrid>
                <a:gridCol w="756084">
                  <a:extLst>
                    <a:ext uri="{9D8B030D-6E8A-4147-A177-3AD203B41FA5}">
                      <a16:colId xmlns:a16="http://schemas.microsoft.com/office/drawing/2014/main" val="20000"/>
                    </a:ext>
                  </a:extLst>
                </a:gridCol>
                <a:gridCol w="756084">
                  <a:extLst>
                    <a:ext uri="{9D8B030D-6E8A-4147-A177-3AD203B41FA5}">
                      <a16:colId xmlns:a16="http://schemas.microsoft.com/office/drawing/2014/main" val="20001"/>
                    </a:ext>
                  </a:extLst>
                </a:gridCol>
                <a:gridCol w="756084">
                  <a:extLst>
                    <a:ext uri="{9D8B030D-6E8A-4147-A177-3AD203B41FA5}">
                      <a16:colId xmlns:a16="http://schemas.microsoft.com/office/drawing/2014/main" val="20002"/>
                    </a:ext>
                  </a:extLst>
                </a:gridCol>
                <a:gridCol w="756084">
                  <a:extLst>
                    <a:ext uri="{9D8B030D-6E8A-4147-A177-3AD203B41FA5}">
                      <a16:colId xmlns:a16="http://schemas.microsoft.com/office/drawing/2014/main" val="20003"/>
                    </a:ext>
                  </a:extLst>
                </a:gridCol>
              </a:tblGrid>
              <a:tr h="478340">
                <a:tc>
                  <a:txBody>
                    <a:bodyPr/>
                    <a:lstStyle/>
                    <a:p>
                      <a:pPr algn="ctr" fontAlgn="ctr"/>
                      <a:r>
                        <a:rPr lang="es-PE" sz="2400" u="none" strike="noStrike" dirty="0">
                          <a:effectLst/>
                        </a:rPr>
                        <a:t>8</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0</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4</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7</a:t>
                      </a:r>
                      <a:endParaRPr lang="es-PE" sz="2400" b="1" i="0" u="none" strike="noStrike">
                        <a:solidFill>
                          <a:srgbClr val="000000"/>
                        </a:solidFill>
                        <a:effectLst/>
                        <a:latin typeface="Calibri"/>
                      </a:endParaRPr>
                    </a:p>
                  </a:txBody>
                  <a:tcPr marL="9525" marR="9525" marT="9525" marB="0" anchor="ctr">
                    <a:solidFill>
                      <a:srgbClr val="FFFF00"/>
                    </a:solidFill>
                  </a:tcPr>
                </a:tc>
                <a:extLst>
                  <a:ext uri="{0D108BD9-81ED-4DB2-BD59-A6C34878D82A}">
                    <a16:rowId xmlns:a16="http://schemas.microsoft.com/office/drawing/2014/main" val="10000"/>
                  </a:ext>
                </a:extLst>
              </a:tr>
              <a:tr h="478340">
                <a:tc>
                  <a:txBody>
                    <a:bodyPr/>
                    <a:lstStyle/>
                    <a:p>
                      <a:pPr algn="ctr" fontAlgn="ctr"/>
                      <a:r>
                        <a:rPr lang="es-PE" sz="2400" u="none" strike="noStrike" dirty="0">
                          <a:effectLst/>
                        </a:rPr>
                        <a:t>4</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2</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6</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0</a:t>
                      </a:r>
                      <a:endParaRPr lang="es-PE" sz="2400" b="1" i="0" u="none" strike="noStrike">
                        <a:solidFill>
                          <a:srgbClr val="000000"/>
                        </a:solidFill>
                        <a:effectLst/>
                        <a:latin typeface="Calibri"/>
                      </a:endParaRPr>
                    </a:p>
                  </a:txBody>
                  <a:tcPr marL="9525" marR="9525" marT="9525" marB="0" anchor="ctr">
                    <a:solidFill>
                      <a:srgbClr val="FFFF00"/>
                    </a:solidFill>
                  </a:tcPr>
                </a:tc>
                <a:extLst>
                  <a:ext uri="{0D108BD9-81ED-4DB2-BD59-A6C34878D82A}">
                    <a16:rowId xmlns:a16="http://schemas.microsoft.com/office/drawing/2014/main" val="10001"/>
                  </a:ext>
                </a:extLst>
              </a:tr>
              <a:tr h="478340">
                <a:tc>
                  <a:txBody>
                    <a:bodyPr/>
                    <a:lstStyle/>
                    <a:p>
                      <a:pPr algn="ctr" fontAlgn="ctr"/>
                      <a:r>
                        <a:rPr lang="es-PE" sz="2400" u="none" strike="noStrike" dirty="0">
                          <a:effectLst/>
                        </a:rPr>
                        <a:t>0</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7</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3</a:t>
                      </a:r>
                      <a:endParaRPr lang="es-PE" sz="2400" b="1" i="0" u="none" strike="noStrike">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a:effectLst/>
                        </a:rPr>
                        <a:t>7</a:t>
                      </a:r>
                      <a:endParaRPr lang="es-PE" sz="2400" b="1" i="0" u="none" strike="noStrike">
                        <a:solidFill>
                          <a:srgbClr val="000000"/>
                        </a:solidFill>
                        <a:effectLst/>
                        <a:latin typeface="Calibri"/>
                      </a:endParaRPr>
                    </a:p>
                  </a:txBody>
                  <a:tcPr marL="9525" marR="9525" marT="9525" marB="0" anchor="ctr">
                    <a:solidFill>
                      <a:srgbClr val="FFFF00"/>
                    </a:solidFill>
                  </a:tcPr>
                </a:tc>
                <a:extLst>
                  <a:ext uri="{0D108BD9-81ED-4DB2-BD59-A6C34878D82A}">
                    <a16:rowId xmlns:a16="http://schemas.microsoft.com/office/drawing/2014/main" val="10002"/>
                  </a:ext>
                </a:extLst>
              </a:tr>
              <a:tr h="478340">
                <a:tc>
                  <a:txBody>
                    <a:bodyPr/>
                    <a:lstStyle/>
                    <a:p>
                      <a:pPr algn="ctr" fontAlgn="ctr"/>
                      <a:r>
                        <a:rPr lang="es-PE" sz="2400" u="none" strike="noStrike" dirty="0">
                          <a:effectLst/>
                        </a:rPr>
                        <a:t>1</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0</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2</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3</a:t>
                      </a:r>
                      <a:endParaRPr lang="es-PE" sz="2400" b="1" i="0" u="none" strike="noStrike" dirty="0">
                        <a:solidFill>
                          <a:srgbClr val="000000"/>
                        </a:solidFill>
                        <a:effectLst/>
                        <a:latin typeface="Calibri"/>
                      </a:endParaRPr>
                    </a:p>
                  </a:txBody>
                  <a:tcPr marL="9525" marR="9525" marT="9525" marB="0" anchor="ctr">
                    <a:solidFill>
                      <a:srgbClr val="FFFF00"/>
                    </a:solidFill>
                  </a:tcPr>
                </a:tc>
                <a:extLst>
                  <a:ext uri="{0D108BD9-81ED-4DB2-BD59-A6C34878D82A}">
                    <a16:rowId xmlns:a16="http://schemas.microsoft.com/office/drawing/2014/main" val="10003"/>
                  </a:ext>
                </a:extLst>
              </a:tr>
              <a:tr h="434854">
                <a:tc>
                  <a:txBody>
                    <a:bodyPr/>
                    <a:lstStyle/>
                    <a:p>
                      <a:pPr algn="ctr" fontAlgn="b"/>
                      <a:r>
                        <a:rPr lang="es-PE" sz="2400" u="none" strike="noStrike" dirty="0">
                          <a:solidFill>
                            <a:srgbClr val="FF0000"/>
                          </a:solidFill>
                          <a:effectLst/>
                        </a:rPr>
                        <a:t>0</a:t>
                      </a:r>
                      <a:endParaRPr lang="es-PE" sz="2400" b="0" i="0" u="none" strike="noStrike" dirty="0">
                        <a:solidFill>
                          <a:srgbClr val="FF0000"/>
                        </a:solidFill>
                        <a:effectLst/>
                        <a:latin typeface="Calibri"/>
                      </a:endParaRPr>
                    </a:p>
                  </a:txBody>
                  <a:tcPr marL="9525" marR="9525" marT="9525" marB="0" anchor="b">
                    <a:solidFill>
                      <a:schemeClr val="bg1"/>
                    </a:solidFill>
                  </a:tcPr>
                </a:tc>
                <a:tc>
                  <a:txBody>
                    <a:bodyPr/>
                    <a:lstStyle/>
                    <a:p>
                      <a:pPr algn="ctr" fontAlgn="b"/>
                      <a:r>
                        <a:rPr lang="es-PE" sz="2400" u="none" strike="noStrike" dirty="0">
                          <a:solidFill>
                            <a:srgbClr val="FF0000"/>
                          </a:solidFill>
                          <a:effectLst/>
                        </a:rPr>
                        <a:t>0</a:t>
                      </a:r>
                      <a:endParaRPr lang="es-PE" sz="2400" b="0" i="0" u="none" strike="noStrike" dirty="0">
                        <a:solidFill>
                          <a:srgbClr val="FF0000"/>
                        </a:solidFill>
                        <a:effectLst/>
                        <a:latin typeface="Calibri"/>
                      </a:endParaRPr>
                    </a:p>
                  </a:txBody>
                  <a:tcPr marL="9525" marR="9525" marT="9525" marB="0" anchor="b">
                    <a:solidFill>
                      <a:schemeClr val="bg1"/>
                    </a:solidFill>
                  </a:tcPr>
                </a:tc>
                <a:tc>
                  <a:txBody>
                    <a:bodyPr/>
                    <a:lstStyle/>
                    <a:p>
                      <a:pPr algn="ctr" fontAlgn="b"/>
                      <a:r>
                        <a:rPr lang="es-PE" sz="2400" u="none" strike="noStrike" dirty="0">
                          <a:solidFill>
                            <a:srgbClr val="FF0000"/>
                          </a:solidFill>
                          <a:effectLst/>
                        </a:rPr>
                        <a:t>2</a:t>
                      </a:r>
                      <a:endParaRPr lang="es-PE" sz="2400" b="0" i="0" u="none" strike="noStrike" dirty="0">
                        <a:solidFill>
                          <a:srgbClr val="FF0000"/>
                        </a:solidFill>
                        <a:effectLst/>
                        <a:latin typeface="Calibri"/>
                      </a:endParaRPr>
                    </a:p>
                  </a:txBody>
                  <a:tcPr marL="9525" marR="9525" marT="9525" marB="0" anchor="b">
                    <a:solidFill>
                      <a:schemeClr val="bg1"/>
                    </a:solidFill>
                  </a:tcPr>
                </a:tc>
                <a:tc>
                  <a:txBody>
                    <a:bodyPr/>
                    <a:lstStyle/>
                    <a:p>
                      <a:pPr algn="ctr" fontAlgn="b"/>
                      <a:r>
                        <a:rPr lang="es-PE" sz="2400" u="none" strike="noStrike" dirty="0">
                          <a:solidFill>
                            <a:srgbClr val="FF0000"/>
                          </a:solidFill>
                          <a:effectLst/>
                        </a:rPr>
                        <a:t>0</a:t>
                      </a:r>
                      <a:endParaRPr lang="es-PE" sz="2400" b="0" i="0" u="none" strike="noStrike" dirty="0">
                        <a:solidFill>
                          <a:srgbClr val="FF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4"/>
                  </a:ext>
                </a:extLst>
              </a:tr>
              <a:tr h="456598">
                <a:tc>
                  <a:txBody>
                    <a:bodyPr/>
                    <a:lstStyle/>
                    <a:p>
                      <a:pPr algn="l" fontAlgn="b"/>
                      <a:endParaRPr lang="es-PE" sz="2400" b="0" i="0" u="none" strike="noStrike">
                        <a:solidFill>
                          <a:srgbClr val="000000"/>
                        </a:solidFill>
                        <a:effectLst/>
                        <a:latin typeface="Calibri"/>
                      </a:endParaRPr>
                    </a:p>
                  </a:txBody>
                  <a:tcPr marL="9525" marR="9525" marT="9525" marB="0" anchor="b">
                    <a:solidFill>
                      <a:schemeClr val="bg1"/>
                    </a:solidFill>
                  </a:tcPr>
                </a:tc>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tc>
                  <a:txBody>
                    <a:bodyPr/>
                    <a:lstStyle/>
                    <a:p>
                      <a:pPr algn="l" fontAlgn="b"/>
                      <a:endParaRPr lang="es-PE" sz="24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5"/>
                  </a:ext>
                </a:extLst>
              </a:tr>
            </a:tbl>
          </a:graphicData>
        </a:graphic>
      </p:graphicFrame>
      <p:sp>
        <p:nvSpPr>
          <p:cNvPr id="7" name="6 Elipse"/>
          <p:cNvSpPr/>
          <p:nvPr/>
        </p:nvSpPr>
        <p:spPr>
          <a:xfrm>
            <a:off x="2272455" y="6209928"/>
            <a:ext cx="576064" cy="6480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1</a:t>
            </a:r>
            <a:endParaRPr lang="es-PE" dirty="0"/>
          </a:p>
        </p:txBody>
      </p:sp>
      <p:sp>
        <p:nvSpPr>
          <p:cNvPr id="8" name="7 Elipse"/>
          <p:cNvSpPr/>
          <p:nvPr/>
        </p:nvSpPr>
        <p:spPr>
          <a:xfrm>
            <a:off x="10234399" y="6209928"/>
            <a:ext cx="576064" cy="6480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3</a:t>
            </a:r>
            <a:endParaRPr lang="es-PE" dirty="0"/>
          </a:p>
        </p:txBody>
      </p:sp>
      <p:sp>
        <p:nvSpPr>
          <p:cNvPr id="9" name="8 Elipse"/>
          <p:cNvSpPr/>
          <p:nvPr/>
        </p:nvSpPr>
        <p:spPr>
          <a:xfrm>
            <a:off x="6430160" y="6209928"/>
            <a:ext cx="576064" cy="6480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2</a:t>
            </a:r>
            <a:endParaRPr lang="es-PE" dirty="0"/>
          </a:p>
        </p:txBody>
      </p:sp>
      <p:sp>
        <p:nvSpPr>
          <p:cNvPr id="10" name="1 Título"/>
          <p:cNvSpPr>
            <a:spLocks noGrp="1"/>
          </p:cNvSpPr>
          <p:nvPr>
            <p:ph type="title"/>
          </p:nvPr>
        </p:nvSpPr>
        <p:spPr>
          <a:xfrm>
            <a:off x="2999656" y="692696"/>
            <a:ext cx="6048672" cy="490066"/>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r>
              <a:rPr lang="es-ES" sz="3200" dirty="0">
                <a:solidFill>
                  <a:schemeClr val="bg1"/>
                </a:solidFill>
                <a:latin typeface="Bauhaus 93" pitchFamily="82" charset="0"/>
                <a:ea typeface="+mn-ea"/>
                <a:cs typeface="+mn-cs"/>
              </a:rPr>
              <a:t>Problema </a:t>
            </a:r>
            <a:r>
              <a:rPr lang="es-ES" sz="3200" dirty="0" err="1">
                <a:solidFill>
                  <a:schemeClr val="bg1"/>
                </a:solidFill>
                <a:latin typeface="Bauhaus 93" pitchFamily="82" charset="0"/>
                <a:ea typeface="+mn-ea"/>
                <a:cs typeface="+mn-cs"/>
              </a:rPr>
              <a:t>N°2</a:t>
            </a:r>
            <a:endParaRPr lang="es-PE" sz="3200" dirty="0">
              <a:solidFill>
                <a:schemeClr val="bg1"/>
              </a:solidFill>
              <a:latin typeface="Bauhaus 93" pitchFamily="82" charset="0"/>
              <a:ea typeface="+mn-ea"/>
              <a:cs typeface="+mn-cs"/>
            </a:endParaRPr>
          </a:p>
        </p:txBody>
      </p:sp>
      <p:sp>
        <p:nvSpPr>
          <p:cNvPr id="11" name="1 Título">
            <a:extLst>
              <a:ext uri="{FF2B5EF4-FFF2-40B4-BE49-F238E27FC236}">
                <a16:creationId xmlns:a16="http://schemas.microsoft.com/office/drawing/2014/main" id="{A478A43B-539A-4525-9E58-BF65E8A5B6E4}"/>
              </a:ext>
            </a:extLst>
          </p:cNvPr>
          <p:cNvSpPr txBox="1">
            <a:spLocks/>
          </p:cNvSpPr>
          <p:nvPr/>
        </p:nvSpPr>
        <p:spPr>
          <a:xfrm>
            <a:off x="6096000" y="304507"/>
            <a:ext cx="6096000" cy="490066"/>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Problema 2</a:t>
            </a:r>
            <a:endParaRPr lang="es-PE" sz="3200" dirty="0">
              <a:solidFill>
                <a:schemeClr val="bg1"/>
              </a:solidFill>
              <a:latin typeface="Bauhaus 93" pitchFamily="82" charset="0"/>
              <a:ea typeface="+mn-ea"/>
              <a:cs typeface="+mn-cs"/>
            </a:endParaRPr>
          </a:p>
        </p:txBody>
      </p:sp>
      <p:graphicFrame>
        <p:nvGraphicFramePr>
          <p:cNvPr id="2" name="Tabla 1">
            <a:extLst>
              <a:ext uri="{FF2B5EF4-FFF2-40B4-BE49-F238E27FC236}">
                <a16:creationId xmlns:a16="http://schemas.microsoft.com/office/drawing/2014/main" id="{34EA8F2B-0697-4C66-AFA6-7C4214677C84}"/>
              </a:ext>
            </a:extLst>
          </p:cNvPr>
          <p:cNvGraphicFramePr>
            <a:graphicFrameLocks noGrp="1"/>
          </p:cNvGraphicFramePr>
          <p:nvPr>
            <p:extLst>
              <p:ext uri="{D42A27DB-BD31-4B8C-83A1-F6EECF244321}">
                <p14:modId xmlns:p14="http://schemas.microsoft.com/office/powerpoint/2010/main" val="826155460"/>
              </p:ext>
            </p:extLst>
          </p:nvPr>
        </p:nvGraphicFramePr>
        <p:xfrm>
          <a:off x="8834875" y="4085754"/>
          <a:ext cx="3024336" cy="1810488"/>
        </p:xfrm>
        <a:graphic>
          <a:graphicData uri="http://schemas.openxmlformats.org/drawingml/2006/table">
            <a:tbl>
              <a:tblPr>
                <a:tableStyleId>{5C22544A-7EE6-4342-B048-85BDC9FD1C3A}</a:tableStyleId>
              </a:tblPr>
              <a:tblGrid>
                <a:gridCol w="756084">
                  <a:extLst>
                    <a:ext uri="{9D8B030D-6E8A-4147-A177-3AD203B41FA5}">
                      <a16:colId xmlns:a16="http://schemas.microsoft.com/office/drawing/2014/main" val="3404910585"/>
                    </a:ext>
                  </a:extLst>
                </a:gridCol>
                <a:gridCol w="756084">
                  <a:extLst>
                    <a:ext uri="{9D8B030D-6E8A-4147-A177-3AD203B41FA5}">
                      <a16:colId xmlns:a16="http://schemas.microsoft.com/office/drawing/2014/main" val="1037229600"/>
                    </a:ext>
                  </a:extLst>
                </a:gridCol>
                <a:gridCol w="756084">
                  <a:extLst>
                    <a:ext uri="{9D8B030D-6E8A-4147-A177-3AD203B41FA5}">
                      <a16:colId xmlns:a16="http://schemas.microsoft.com/office/drawing/2014/main" val="567067076"/>
                    </a:ext>
                  </a:extLst>
                </a:gridCol>
                <a:gridCol w="756084">
                  <a:extLst>
                    <a:ext uri="{9D8B030D-6E8A-4147-A177-3AD203B41FA5}">
                      <a16:colId xmlns:a16="http://schemas.microsoft.com/office/drawing/2014/main" val="1789199283"/>
                    </a:ext>
                  </a:extLst>
                </a:gridCol>
              </a:tblGrid>
              <a:tr h="452622">
                <a:tc>
                  <a:txBody>
                    <a:bodyPr/>
                    <a:lstStyle/>
                    <a:p>
                      <a:pPr algn="ctr" fontAlgn="ctr"/>
                      <a:r>
                        <a:rPr lang="es-PE" sz="2400" u="none" strike="noStrike" dirty="0">
                          <a:effectLst/>
                        </a:rPr>
                        <a:t>8</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0</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2</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7</a:t>
                      </a:r>
                      <a:endParaRPr lang="es-PE" sz="2400" b="1" i="0" u="none" strike="noStrike" dirty="0">
                        <a:solidFill>
                          <a:srgbClr val="000000"/>
                        </a:solidFill>
                        <a:effectLst/>
                        <a:latin typeface="Calibri"/>
                      </a:endParaRPr>
                    </a:p>
                  </a:txBody>
                  <a:tcPr marL="9525" marR="9525" marT="9525" marB="0" anchor="ctr">
                    <a:solidFill>
                      <a:srgbClr val="FFFF00"/>
                    </a:solidFill>
                  </a:tcPr>
                </a:tc>
                <a:extLst>
                  <a:ext uri="{0D108BD9-81ED-4DB2-BD59-A6C34878D82A}">
                    <a16:rowId xmlns:a16="http://schemas.microsoft.com/office/drawing/2014/main" val="1573072367"/>
                  </a:ext>
                </a:extLst>
              </a:tr>
              <a:tr h="452622">
                <a:tc>
                  <a:txBody>
                    <a:bodyPr/>
                    <a:lstStyle/>
                    <a:p>
                      <a:pPr algn="ctr" fontAlgn="ctr"/>
                      <a:r>
                        <a:rPr lang="es-PE" sz="2400" u="none" strike="noStrike" dirty="0">
                          <a:effectLst/>
                        </a:rPr>
                        <a:t>4</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2</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4</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0</a:t>
                      </a:r>
                      <a:endParaRPr lang="es-PE" sz="2400" b="1" i="0" u="none" strike="noStrike" dirty="0">
                        <a:solidFill>
                          <a:srgbClr val="000000"/>
                        </a:solidFill>
                        <a:effectLst/>
                        <a:latin typeface="Calibri"/>
                      </a:endParaRPr>
                    </a:p>
                  </a:txBody>
                  <a:tcPr marL="9525" marR="9525" marT="9525" marB="0" anchor="ctr">
                    <a:solidFill>
                      <a:srgbClr val="FFFF00"/>
                    </a:solidFill>
                  </a:tcPr>
                </a:tc>
                <a:extLst>
                  <a:ext uri="{0D108BD9-81ED-4DB2-BD59-A6C34878D82A}">
                    <a16:rowId xmlns:a16="http://schemas.microsoft.com/office/drawing/2014/main" val="984807747"/>
                  </a:ext>
                </a:extLst>
              </a:tr>
              <a:tr h="452622">
                <a:tc>
                  <a:txBody>
                    <a:bodyPr/>
                    <a:lstStyle/>
                    <a:p>
                      <a:pPr algn="ctr" fontAlgn="ctr"/>
                      <a:r>
                        <a:rPr lang="es-PE" sz="2400" u="none" strike="noStrike" dirty="0">
                          <a:effectLst/>
                        </a:rPr>
                        <a:t>0</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7</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1</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7</a:t>
                      </a:r>
                      <a:endParaRPr lang="es-PE" sz="2400" b="1" i="0" u="none" strike="noStrike" dirty="0">
                        <a:solidFill>
                          <a:srgbClr val="000000"/>
                        </a:solidFill>
                        <a:effectLst/>
                        <a:latin typeface="Calibri"/>
                      </a:endParaRPr>
                    </a:p>
                  </a:txBody>
                  <a:tcPr marL="9525" marR="9525" marT="9525" marB="0" anchor="ctr">
                    <a:solidFill>
                      <a:srgbClr val="FFFF00"/>
                    </a:solidFill>
                  </a:tcPr>
                </a:tc>
                <a:extLst>
                  <a:ext uri="{0D108BD9-81ED-4DB2-BD59-A6C34878D82A}">
                    <a16:rowId xmlns:a16="http://schemas.microsoft.com/office/drawing/2014/main" val="3115575370"/>
                  </a:ext>
                </a:extLst>
              </a:tr>
              <a:tr h="452622">
                <a:tc>
                  <a:txBody>
                    <a:bodyPr/>
                    <a:lstStyle/>
                    <a:p>
                      <a:pPr algn="ctr" fontAlgn="ctr"/>
                      <a:r>
                        <a:rPr lang="es-PE" sz="2400" u="none" strike="noStrike" dirty="0">
                          <a:effectLst/>
                        </a:rPr>
                        <a:t>1</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0</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0</a:t>
                      </a:r>
                      <a:endParaRPr lang="es-PE" sz="2400" b="1" i="0" u="none" strike="noStrike" dirty="0">
                        <a:solidFill>
                          <a:srgbClr val="000000"/>
                        </a:solidFill>
                        <a:effectLst/>
                        <a:latin typeface="Calibri"/>
                      </a:endParaRPr>
                    </a:p>
                  </a:txBody>
                  <a:tcPr marL="9525" marR="9525" marT="9525" marB="0" anchor="ctr">
                    <a:solidFill>
                      <a:srgbClr val="FFFF00"/>
                    </a:solidFill>
                  </a:tcPr>
                </a:tc>
                <a:tc>
                  <a:txBody>
                    <a:bodyPr/>
                    <a:lstStyle/>
                    <a:p>
                      <a:pPr algn="ctr" fontAlgn="ctr"/>
                      <a:r>
                        <a:rPr lang="es-PE" sz="2400" u="none" strike="noStrike" dirty="0">
                          <a:effectLst/>
                        </a:rPr>
                        <a:t>3</a:t>
                      </a:r>
                      <a:endParaRPr lang="es-PE" sz="2400" b="1" i="0" u="none" strike="noStrike" dirty="0">
                        <a:solidFill>
                          <a:srgbClr val="000000"/>
                        </a:solidFill>
                        <a:effectLst/>
                        <a:latin typeface="Calibri"/>
                      </a:endParaRPr>
                    </a:p>
                  </a:txBody>
                  <a:tcPr marL="9525" marR="9525" marT="9525" marB="0" anchor="ctr">
                    <a:solidFill>
                      <a:srgbClr val="FFFF00"/>
                    </a:solidFill>
                  </a:tcPr>
                </a:tc>
                <a:extLst>
                  <a:ext uri="{0D108BD9-81ED-4DB2-BD59-A6C34878D82A}">
                    <a16:rowId xmlns:a16="http://schemas.microsoft.com/office/drawing/2014/main" val="401522800"/>
                  </a:ext>
                </a:extLst>
              </a:tr>
            </a:tbl>
          </a:graphicData>
        </a:graphic>
      </p:graphicFrame>
      <p:sp>
        <p:nvSpPr>
          <p:cNvPr id="12" name="Oval 6">
            <a:extLst>
              <a:ext uri="{FF2B5EF4-FFF2-40B4-BE49-F238E27FC236}">
                <a16:creationId xmlns:a16="http://schemas.microsoft.com/office/drawing/2014/main" id="{A306210C-DA26-4F58-9DDD-C085795B8755}"/>
              </a:ext>
            </a:extLst>
          </p:cNvPr>
          <p:cNvSpPr>
            <a:spLocks noChangeArrowheads="1"/>
          </p:cNvSpPr>
          <p:nvPr/>
        </p:nvSpPr>
        <p:spPr bwMode="auto">
          <a:xfrm flipH="1">
            <a:off x="9811683" y="4145387"/>
            <a:ext cx="332981" cy="330580"/>
          </a:xfrm>
          <a:prstGeom prst="ellipse">
            <a:avLst/>
          </a:prstGeom>
          <a:noFill/>
          <a:ln w="38100">
            <a:solidFill>
              <a:srgbClr val="FF0000">
                <a:alpha val="99000"/>
              </a:srgbClr>
            </a:solidFill>
            <a:round/>
            <a:headEnd type="none" w="sm" len="sm"/>
            <a:tailEnd type="none" w="sm" len="sm"/>
          </a:ln>
        </p:spPr>
        <p:txBody>
          <a:bodyPr wrap="none" anchor="ctr"/>
          <a:lstStyle/>
          <a:p>
            <a:endParaRPr lang="es-PE" dirty="0"/>
          </a:p>
        </p:txBody>
      </p:sp>
      <p:sp>
        <p:nvSpPr>
          <p:cNvPr id="13" name="Oval 6">
            <a:extLst>
              <a:ext uri="{FF2B5EF4-FFF2-40B4-BE49-F238E27FC236}">
                <a16:creationId xmlns:a16="http://schemas.microsoft.com/office/drawing/2014/main" id="{C310D0BF-7C79-463B-B248-D3FCDB3166F1}"/>
              </a:ext>
            </a:extLst>
          </p:cNvPr>
          <p:cNvSpPr>
            <a:spLocks noChangeArrowheads="1"/>
          </p:cNvSpPr>
          <p:nvPr/>
        </p:nvSpPr>
        <p:spPr bwMode="auto">
          <a:xfrm>
            <a:off x="11293300" y="4608335"/>
            <a:ext cx="344309" cy="330580"/>
          </a:xfrm>
          <a:prstGeom prst="ellipse">
            <a:avLst/>
          </a:prstGeom>
          <a:noFill/>
          <a:ln w="38100">
            <a:solidFill>
              <a:srgbClr val="FF0000">
                <a:alpha val="99000"/>
              </a:srgbClr>
            </a:solidFill>
            <a:round/>
            <a:headEnd type="none" w="sm" len="sm"/>
            <a:tailEnd type="none" w="sm" len="sm"/>
          </a:ln>
        </p:spPr>
        <p:txBody>
          <a:bodyPr wrap="none" anchor="ctr"/>
          <a:lstStyle/>
          <a:p>
            <a:endParaRPr lang="es-PE" dirty="0"/>
          </a:p>
        </p:txBody>
      </p:sp>
      <p:sp>
        <p:nvSpPr>
          <p:cNvPr id="14" name="Oval 6">
            <a:extLst>
              <a:ext uri="{FF2B5EF4-FFF2-40B4-BE49-F238E27FC236}">
                <a16:creationId xmlns:a16="http://schemas.microsoft.com/office/drawing/2014/main" id="{163E23C8-C854-495C-BA1E-DB392F3675A0}"/>
              </a:ext>
            </a:extLst>
          </p:cNvPr>
          <p:cNvSpPr>
            <a:spLocks noChangeArrowheads="1"/>
          </p:cNvSpPr>
          <p:nvPr/>
        </p:nvSpPr>
        <p:spPr bwMode="auto">
          <a:xfrm>
            <a:off x="9021677" y="5062659"/>
            <a:ext cx="344309" cy="330580"/>
          </a:xfrm>
          <a:prstGeom prst="ellipse">
            <a:avLst/>
          </a:prstGeom>
          <a:noFill/>
          <a:ln w="38100">
            <a:solidFill>
              <a:srgbClr val="FF0000">
                <a:alpha val="99000"/>
              </a:srgbClr>
            </a:solidFill>
            <a:round/>
            <a:headEnd type="none" w="sm" len="sm"/>
            <a:tailEnd type="none" w="sm" len="sm"/>
          </a:ln>
        </p:spPr>
        <p:txBody>
          <a:bodyPr wrap="none" anchor="ctr"/>
          <a:lstStyle/>
          <a:p>
            <a:endParaRPr lang="es-PE" dirty="0"/>
          </a:p>
        </p:txBody>
      </p:sp>
      <p:sp>
        <p:nvSpPr>
          <p:cNvPr id="15" name="Oval 6">
            <a:extLst>
              <a:ext uri="{FF2B5EF4-FFF2-40B4-BE49-F238E27FC236}">
                <a16:creationId xmlns:a16="http://schemas.microsoft.com/office/drawing/2014/main" id="{07F98E7A-0A00-40C0-A591-D237F0528CDE}"/>
              </a:ext>
            </a:extLst>
          </p:cNvPr>
          <p:cNvSpPr>
            <a:spLocks noChangeArrowheads="1"/>
          </p:cNvSpPr>
          <p:nvPr/>
        </p:nvSpPr>
        <p:spPr bwMode="auto">
          <a:xfrm>
            <a:off x="10554304" y="5499731"/>
            <a:ext cx="344309" cy="330580"/>
          </a:xfrm>
          <a:prstGeom prst="ellipse">
            <a:avLst/>
          </a:prstGeom>
          <a:noFill/>
          <a:ln w="38100">
            <a:solidFill>
              <a:srgbClr val="FF0000">
                <a:alpha val="99000"/>
              </a:srgbClr>
            </a:solidFill>
            <a:round/>
            <a:headEnd type="none" w="sm" len="sm"/>
            <a:tailEnd type="none" w="sm" len="sm"/>
          </a:ln>
        </p:spPr>
        <p:txBody>
          <a:bodyPr wrap="none" anchor="ctr"/>
          <a:lstStyle/>
          <a:p>
            <a:endParaRPr lang="es-PE" dirty="0"/>
          </a:p>
        </p:txBody>
      </p:sp>
      <p:graphicFrame>
        <p:nvGraphicFramePr>
          <p:cNvPr id="16" name="1 Tabla">
            <a:extLst>
              <a:ext uri="{FF2B5EF4-FFF2-40B4-BE49-F238E27FC236}">
                <a16:creationId xmlns:a16="http://schemas.microsoft.com/office/drawing/2014/main" id="{A6D7F140-77CA-4416-B509-34633F6572A9}"/>
              </a:ext>
            </a:extLst>
          </p:cNvPr>
          <p:cNvGraphicFramePr>
            <a:graphicFrameLocks noGrp="1"/>
          </p:cNvGraphicFramePr>
          <p:nvPr>
            <p:extLst>
              <p:ext uri="{D42A27DB-BD31-4B8C-83A1-F6EECF244321}">
                <p14:modId xmlns:p14="http://schemas.microsoft.com/office/powerpoint/2010/main" val="16409192"/>
              </p:ext>
            </p:extLst>
          </p:nvPr>
        </p:nvGraphicFramePr>
        <p:xfrm>
          <a:off x="6418054" y="1969965"/>
          <a:ext cx="5047576" cy="1876425"/>
        </p:xfrm>
        <a:graphic>
          <a:graphicData uri="http://schemas.openxmlformats.org/drawingml/2006/table">
            <a:tbl>
              <a:tblPr>
                <a:tableStyleId>{5C22544A-7EE6-4342-B048-85BDC9FD1C3A}</a:tableStyleId>
              </a:tblPr>
              <a:tblGrid>
                <a:gridCol w="2287183">
                  <a:extLst>
                    <a:ext uri="{9D8B030D-6E8A-4147-A177-3AD203B41FA5}">
                      <a16:colId xmlns:a16="http://schemas.microsoft.com/office/drawing/2014/main" val="20000"/>
                    </a:ext>
                  </a:extLst>
                </a:gridCol>
                <a:gridCol w="2276189">
                  <a:extLst>
                    <a:ext uri="{9D8B030D-6E8A-4147-A177-3AD203B41FA5}">
                      <a16:colId xmlns:a16="http://schemas.microsoft.com/office/drawing/2014/main" val="20001"/>
                    </a:ext>
                  </a:extLst>
                </a:gridCol>
                <a:gridCol w="89862">
                  <a:extLst>
                    <a:ext uri="{9D8B030D-6E8A-4147-A177-3AD203B41FA5}">
                      <a16:colId xmlns:a16="http://schemas.microsoft.com/office/drawing/2014/main" val="20002"/>
                    </a:ext>
                  </a:extLst>
                </a:gridCol>
                <a:gridCol w="394342">
                  <a:extLst>
                    <a:ext uri="{9D8B030D-6E8A-4147-A177-3AD203B41FA5}">
                      <a16:colId xmlns:a16="http://schemas.microsoft.com/office/drawing/2014/main" val="20003"/>
                    </a:ext>
                  </a:extLst>
                </a:gridCol>
              </a:tblGrid>
              <a:tr h="209550">
                <a:tc gridSpan="3">
                  <a:txBody>
                    <a:bodyPr/>
                    <a:lstStyle/>
                    <a:p>
                      <a:pPr algn="l" fontAlgn="b"/>
                      <a:r>
                        <a:rPr lang="es-ES" sz="2400" u="none" strike="noStrike" dirty="0">
                          <a:effectLst/>
                        </a:rPr>
                        <a:t>Al trabajador 1 se le asigna la tarea 2</a:t>
                      </a:r>
                      <a:endParaRPr lang="es-ES" sz="2400" b="0" i="0" u="none" strike="noStrike" dirty="0">
                        <a:solidFill>
                          <a:srgbClr val="000000"/>
                        </a:solidFill>
                        <a:effectLst/>
                        <a:latin typeface="Calibri"/>
                      </a:endParaRPr>
                    </a:p>
                  </a:txBody>
                  <a:tcPr marL="9525" marR="9525" marT="9525" marB="0" anchor="b"/>
                </a:tc>
                <a:tc hMerge="1">
                  <a:txBody>
                    <a:bodyPr/>
                    <a:lstStyle/>
                    <a:p>
                      <a:endParaRPr lang="es-PE"/>
                    </a:p>
                  </a:txBody>
                  <a:tcPr/>
                </a:tc>
                <a:tc hMerge="1">
                  <a:txBody>
                    <a:bodyPr/>
                    <a:lstStyle/>
                    <a:p>
                      <a:endParaRPr lang="es-PE"/>
                    </a:p>
                  </a:txBody>
                  <a:tcPr/>
                </a:tc>
                <a:tc>
                  <a:txBody>
                    <a:bodyPr/>
                    <a:lstStyle/>
                    <a:p>
                      <a:pPr algn="r" fontAlgn="b"/>
                      <a:r>
                        <a:rPr lang="es-PE" sz="2400" u="none" strike="noStrike">
                          <a:effectLst/>
                        </a:rPr>
                        <a:t>6</a:t>
                      </a:r>
                      <a:endParaRPr lang="es-PE" sz="24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0"/>
                  </a:ext>
                </a:extLst>
              </a:tr>
              <a:tr h="209550">
                <a:tc gridSpan="3">
                  <a:txBody>
                    <a:bodyPr/>
                    <a:lstStyle/>
                    <a:p>
                      <a:pPr algn="l" fontAlgn="b"/>
                      <a:r>
                        <a:rPr lang="es-ES" sz="2400" u="none" strike="noStrike" dirty="0">
                          <a:effectLst/>
                        </a:rPr>
                        <a:t>Al trabajador 2 se le asigna la tarea 4</a:t>
                      </a:r>
                      <a:endParaRPr lang="es-ES" sz="2400" b="0" i="0" u="none" strike="noStrike" dirty="0">
                        <a:solidFill>
                          <a:srgbClr val="000000"/>
                        </a:solidFill>
                        <a:effectLst/>
                        <a:latin typeface="Calibri"/>
                      </a:endParaRPr>
                    </a:p>
                  </a:txBody>
                  <a:tcPr marL="9525" marR="9525" marT="9525" marB="0" anchor="b"/>
                </a:tc>
                <a:tc hMerge="1">
                  <a:txBody>
                    <a:bodyPr/>
                    <a:lstStyle/>
                    <a:p>
                      <a:endParaRPr lang="es-PE"/>
                    </a:p>
                  </a:txBody>
                  <a:tcPr/>
                </a:tc>
                <a:tc hMerge="1">
                  <a:txBody>
                    <a:bodyPr/>
                    <a:lstStyle/>
                    <a:p>
                      <a:endParaRPr lang="es-PE"/>
                    </a:p>
                  </a:txBody>
                  <a:tcPr/>
                </a:tc>
                <a:tc>
                  <a:txBody>
                    <a:bodyPr/>
                    <a:lstStyle/>
                    <a:p>
                      <a:pPr algn="r" fontAlgn="b"/>
                      <a:r>
                        <a:rPr lang="es-PE" sz="2400" u="none" strike="noStrike">
                          <a:effectLst/>
                        </a:rPr>
                        <a:t>6</a:t>
                      </a:r>
                      <a:endParaRPr lang="es-PE" sz="24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1"/>
                  </a:ext>
                </a:extLst>
              </a:tr>
              <a:tr h="209550">
                <a:tc gridSpan="3">
                  <a:txBody>
                    <a:bodyPr/>
                    <a:lstStyle/>
                    <a:p>
                      <a:pPr algn="l" fontAlgn="b"/>
                      <a:r>
                        <a:rPr lang="es-ES" sz="2400" u="none" strike="noStrike" dirty="0">
                          <a:effectLst/>
                        </a:rPr>
                        <a:t>Al trabajador 3 se le asigna la tarea 1</a:t>
                      </a:r>
                      <a:endParaRPr lang="es-ES" sz="2400" b="0" i="0" u="none" strike="noStrike" dirty="0">
                        <a:solidFill>
                          <a:srgbClr val="000000"/>
                        </a:solidFill>
                        <a:effectLst/>
                        <a:latin typeface="Calibri"/>
                      </a:endParaRPr>
                    </a:p>
                  </a:txBody>
                  <a:tcPr marL="9525" marR="9525" marT="9525" marB="0" anchor="b"/>
                </a:tc>
                <a:tc hMerge="1">
                  <a:txBody>
                    <a:bodyPr/>
                    <a:lstStyle/>
                    <a:p>
                      <a:endParaRPr lang="es-PE"/>
                    </a:p>
                  </a:txBody>
                  <a:tcPr/>
                </a:tc>
                <a:tc hMerge="1">
                  <a:txBody>
                    <a:bodyPr/>
                    <a:lstStyle/>
                    <a:p>
                      <a:endParaRPr lang="es-PE"/>
                    </a:p>
                  </a:txBody>
                  <a:tcPr/>
                </a:tc>
                <a:tc>
                  <a:txBody>
                    <a:bodyPr/>
                    <a:lstStyle/>
                    <a:p>
                      <a:pPr algn="r" fontAlgn="b"/>
                      <a:r>
                        <a:rPr lang="es-PE" sz="2400" u="none" strike="noStrike">
                          <a:effectLst/>
                        </a:rPr>
                        <a:t>7</a:t>
                      </a:r>
                      <a:endParaRPr lang="es-PE" sz="24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2"/>
                  </a:ext>
                </a:extLst>
              </a:tr>
              <a:tr h="209550">
                <a:tc gridSpan="3">
                  <a:txBody>
                    <a:bodyPr/>
                    <a:lstStyle/>
                    <a:p>
                      <a:pPr algn="l" fontAlgn="b"/>
                      <a:r>
                        <a:rPr lang="es-ES" sz="2400" u="none" strike="noStrike" dirty="0">
                          <a:effectLst/>
                        </a:rPr>
                        <a:t>Al trabajador 4 se le asigna la tarea 3</a:t>
                      </a:r>
                      <a:endParaRPr lang="es-ES" sz="2400" b="0" i="0" u="none" strike="noStrike" dirty="0">
                        <a:solidFill>
                          <a:srgbClr val="000000"/>
                        </a:solidFill>
                        <a:effectLst/>
                        <a:latin typeface="Calibri"/>
                      </a:endParaRPr>
                    </a:p>
                  </a:txBody>
                  <a:tcPr marL="9525" marR="9525" marT="9525" marB="0" anchor="b"/>
                </a:tc>
                <a:tc hMerge="1">
                  <a:txBody>
                    <a:bodyPr/>
                    <a:lstStyle/>
                    <a:p>
                      <a:endParaRPr lang="es-PE"/>
                    </a:p>
                  </a:txBody>
                  <a:tcPr/>
                </a:tc>
                <a:tc hMerge="1">
                  <a:txBody>
                    <a:bodyPr/>
                    <a:lstStyle/>
                    <a:p>
                      <a:endParaRPr lang="es-PE"/>
                    </a:p>
                  </a:txBody>
                  <a:tcPr/>
                </a:tc>
                <a:tc>
                  <a:txBody>
                    <a:bodyPr/>
                    <a:lstStyle/>
                    <a:p>
                      <a:pPr algn="r" fontAlgn="b"/>
                      <a:r>
                        <a:rPr lang="es-PE" sz="2400" u="sng" strike="noStrike" dirty="0">
                          <a:effectLst/>
                        </a:rPr>
                        <a:t>10</a:t>
                      </a:r>
                      <a:endParaRPr lang="es-PE" sz="2400" b="0" i="0" u="sng"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03"/>
                  </a:ext>
                </a:extLst>
              </a:tr>
              <a:tr h="200025">
                <a:tc>
                  <a:txBody>
                    <a:bodyPr/>
                    <a:lstStyle/>
                    <a:p>
                      <a:pPr algn="l" fontAlgn="b"/>
                      <a:endParaRPr lang="es-PE" sz="2400" b="0" i="0" u="none" strike="noStrike" dirty="0">
                        <a:solidFill>
                          <a:srgbClr val="000000"/>
                        </a:solidFill>
                        <a:effectLst/>
                        <a:latin typeface="Calibri"/>
                      </a:endParaRPr>
                    </a:p>
                  </a:txBody>
                  <a:tcPr marL="9525" marR="9525" marT="9525" marB="0" anchor="b"/>
                </a:tc>
                <a:tc>
                  <a:txBody>
                    <a:bodyPr/>
                    <a:lstStyle/>
                    <a:p>
                      <a:pPr algn="r" fontAlgn="b"/>
                      <a:r>
                        <a:rPr lang="es-ES" sz="2400" b="0" i="0" u="none" strike="noStrike" dirty="0">
                          <a:solidFill>
                            <a:srgbClr val="7030A0"/>
                          </a:solidFill>
                          <a:effectLst/>
                          <a:latin typeface="Calibri"/>
                        </a:rPr>
                        <a:t>Costo total=</a:t>
                      </a:r>
                      <a:endParaRPr lang="es-PE" sz="2400" b="0" i="0" u="none" strike="noStrike" dirty="0">
                        <a:solidFill>
                          <a:srgbClr val="7030A0"/>
                        </a:solidFill>
                        <a:effectLst/>
                        <a:latin typeface="Calibri"/>
                      </a:endParaRPr>
                    </a:p>
                  </a:txBody>
                  <a:tcPr marL="9525" marR="9525" marT="9525" marB="0" anchor="b"/>
                </a:tc>
                <a:tc>
                  <a:txBody>
                    <a:bodyPr/>
                    <a:lstStyle/>
                    <a:p>
                      <a:pPr algn="l" fontAlgn="b"/>
                      <a:endParaRPr lang="es-PE" sz="2400" b="0" i="0" u="none" strike="noStrike" dirty="0">
                        <a:solidFill>
                          <a:srgbClr val="7030A0"/>
                        </a:solidFill>
                        <a:effectLst/>
                        <a:latin typeface="Calibri"/>
                      </a:endParaRPr>
                    </a:p>
                  </a:txBody>
                  <a:tcPr marL="9525" marR="9525" marT="9525" marB="0" anchor="b"/>
                </a:tc>
                <a:tc>
                  <a:txBody>
                    <a:bodyPr/>
                    <a:lstStyle/>
                    <a:p>
                      <a:pPr algn="r" fontAlgn="b"/>
                      <a:r>
                        <a:rPr lang="es-PE" sz="2400" u="none" strike="noStrike" dirty="0">
                          <a:solidFill>
                            <a:srgbClr val="7030A0"/>
                          </a:solidFill>
                          <a:effectLst/>
                        </a:rPr>
                        <a:t>29</a:t>
                      </a:r>
                      <a:endParaRPr lang="es-PE" sz="2400" b="0" i="0" u="none" strike="noStrike" dirty="0">
                        <a:solidFill>
                          <a:srgbClr val="7030A0"/>
                        </a:solidFill>
                        <a:effectLst/>
                        <a:latin typeface="Calibri"/>
                      </a:endParaRPr>
                    </a:p>
                  </a:txBody>
                  <a:tcPr marL="9525" marR="9525" marT="9525" marB="0" anchor="b"/>
                </a:tc>
                <a:extLst>
                  <a:ext uri="{0D108BD9-81ED-4DB2-BD59-A6C34878D82A}">
                    <a16:rowId xmlns:a16="http://schemas.microsoft.com/office/drawing/2014/main" val="10004"/>
                  </a:ext>
                </a:extLst>
              </a:tr>
            </a:tbl>
          </a:graphicData>
        </a:graphic>
      </p:graphicFrame>
      <p:sp>
        <p:nvSpPr>
          <p:cNvPr id="17" name="Rectángulo 16">
            <a:extLst>
              <a:ext uri="{FF2B5EF4-FFF2-40B4-BE49-F238E27FC236}">
                <a16:creationId xmlns:a16="http://schemas.microsoft.com/office/drawing/2014/main" id="{1BE79CDD-2176-4F2C-A12F-EE132C384352}"/>
              </a:ext>
            </a:extLst>
          </p:cNvPr>
          <p:cNvSpPr/>
          <p:nvPr/>
        </p:nvSpPr>
        <p:spPr>
          <a:xfrm>
            <a:off x="6276988" y="1294771"/>
            <a:ext cx="1673856" cy="523220"/>
          </a:xfrm>
          <a:prstGeom prst="rect">
            <a:avLst/>
          </a:prstGeom>
        </p:spPr>
        <p:txBody>
          <a:bodyPr wrap="none">
            <a:spAutoFit/>
          </a:bodyPr>
          <a:lstStyle/>
          <a:p>
            <a:pPr algn="ctr" fontAlgn="b"/>
            <a:r>
              <a:rPr lang="es-PE" sz="2800" dirty="0">
                <a:solidFill>
                  <a:srgbClr val="FF0000"/>
                </a:solidFill>
                <a:latin typeface="Arial Narrow" pitchFamily="34" charset="0"/>
              </a:rPr>
              <a:t>Respuesta:</a:t>
            </a:r>
          </a:p>
        </p:txBody>
      </p:sp>
      <p:sp>
        <p:nvSpPr>
          <p:cNvPr id="3" name="CuadroTexto 2">
            <a:extLst>
              <a:ext uri="{FF2B5EF4-FFF2-40B4-BE49-F238E27FC236}">
                <a16:creationId xmlns:a16="http://schemas.microsoft.com/office/drawing/2014/main" id="{ADD09F2E-CB4A-4DCD-B0FD-1120B13274DE}"/>
              </a:ext>
            </a:extLst>
          </p:cNvPr>
          <p:cNvSpPr txBox="1"/>
          <p:nvPr/>
        </p:nvSpPr>
        <p:spPr>
          <a:xfrm>
            <a:off x="4247345" y="1371599"/>
            <a:ext cx="1848655" cy="2308324"/>
          </a:xfrm>
          <a:prstGeom prst="rect">
            <a:avLst/>
          </a:prstGeom>
          <a:noFill/>
        </p:spPr>
        <p:txBody>
          <a:bodyPr wrap="square" rtlCol="0">
            <a:spAutoFit/>
          </a:bodyPr>
          <a:lstStyle/>
          <a:p>
            <a:r>
              <a:rPr lang="es-ES" sz="2400" b="1" dirty="0">
                <a:solidFill>
                  <a:srgbClr val="7030A0"/>
                </a:solidFill>
              </a:rPr>
              <a:t>Asignar las tareas a los trabajadores tomando en cuenta los </a:t>
            </a:r>
            <a:r>
              <a:rPr lang="es-ES" sz="2400" b="1" dirty="0">
                <a:solidFill>
                  <a:srgbClr val="FF0000"/>
                </a:solidFill>
              </a:rPr>
              <a:t>costos</a:t>
            </a:r>
            <a:r>
              <a:rPr lang="es-ES" sz="2400" b="1" dirty="0">
                <a:solidFill>
                  <a:srgbClr val="7030A0"/>
                </a:solidFill>
              </a:rPr>
              <a:t>.</a:t>
            </a:r>
            <a:endParaRPr lang="es-PE" sz="2400" b="1" dirty="0">
              <a:solidFill>
                <a:srgbClr val="7030A0"/>
              </a:solidFill>
            </a:endParaRPr>
          </a:p>
        </p:txBody>
      </p:sp>
    </p:spTree>
    <p:extLst>
      <p:ext uri="{BB962C8B-B14F-4D97-AF65-F5344CB8AC3E}">
        <p14:creationId xmlns:p14="http://schemas.microsoft.com/office/powerpoint/2010/main" val="3348647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5"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2000"/>
                                        <p:tgtEl>
                                          <p:spTgt spid="12"/>
                                        </p:tgtEl>
                                      </p:cBhvr>
                                    </p:animEffect>
                                    <p:anim calcmode="lin" valueType="num">
                                      <p:cBhvr>
                                        <p:cTn id="20" dur="2000" fill="hold"/>
                                        <p:tgtEl>
                                          <p:spTgt spid="12"/>
                                        </p:tgtEl>
                                        <p:attrNameLst>
                                          <p:attrName>ppt_w</p:attrName>
                                        </p:attrNameLst>
                                      </p:cBhvr>
                                      <p:tavLst>
                                        <p:tav tm="0" fmla="#ppt_w*sin(2.5*pi*$)">
                                          <p:val>
                                            <p:fltVal val="0"/>
                                          </p:val>
                                        </p:tav>
                                        <p:tav tm="100000">
                                          <p:val>
                                            <p:fltVal val="1"/>
                                          </p:val>
                                        </p:tav>
                                      </p:tavLst>
                                    </p:anim>
                                    <p:anim calcmode="lin" valueType="num">
                                      <p:cBhvr>
                                        <p:cTn id="21" dur="20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45"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2000"/>
                                        <p:tgtEl>
                                          <p:spTgt spid="13"/>
                                        </p:tgtEl>
                                      </p:cBhvr>
                                    </p:animEffect>
                                    <p:anim calcmode="lin" valueType="num">
                                      <p:cBhvr>
                                        <p:cTn id="27" dur="2000" fill="hold"/>
                                        <p:tgtEl>
                                          <p:spTgt spid="13"/>
                                        </p:tgtEl>
                                        <p:attrNameLst>
                                          <p:attrName>ppt_w</p:attrName>
                                        </p:attrNameLst>
                                      </p:cBhvr>
                                      <p:tavLst>
                                        <p:tav tm="0" fmla="#ppt_w*sin(2.5*pi*$)">
                                          <p:val>
                                            <p:fltVal val="0"/>
                                          </p:val>
                                        </p:tav>
                                        <p:tav tm="100000">
                                          <p:val>
                                            <p:fltVal val="1"/>
                                          </p:val>
                                        </p:tav>
                                      </p:tavLst>
                                    </p:anim>
                                    <p:anim calcmode="lin" valueType="num">
                                      <p:cBhvr>
                                        <p:cTn id="28" dur="20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45"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000"/>
                                        <p:tgtEl>
                                          <p:spTgt spid="14"/>
                                        </p:tgtEl>
                                      </p:cBhvr>
                                    </p:animEffect>
                                    <p:anim calcmode="lin" valueType="num">
                                      <p:cBhvr>
                                        <p:cTn id="34" dur="2000" fill="hold"/>
                                        <p:tgtEl>
                                          <p:spTgt spid="14"/>
                                        </p:tgtEl>
                                        <p:attrNameLst>
                                          <p:attrName>ppt_w</p:attrName>
                                        </p:attrNameLst>
                                      </p:cBhvr>
                                      <p:tavLst>
                                        <p:tav tm="0" fmla="#ppt_w*sin(2.5*pi*$)">
                                          <p:val>
                                            <p:fltVal val="0"/>
                                          </p:val>
                                        </p:tav>
                                        <p:tav tm="100000">
                                          <p:val>
                                            <p:fltVal val="1"/>
                                          </p:val>
                                        </p:tav>
                                      </p:tavLst>
                                    </p:anim>
                                    <p:anim calcmode="lin" valueType="num">
                                      <p:cBhvr>
                                        <p:cTn id="35" dur="2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45"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2000"/>
                                        <p:tgtEl>
                                          <p:spTgt spid="15"/>
                                        </p:tgtEl>
                                      </p:cBhvr>
                                    </p:animEffect>
                                    <p:anim calcmode="lin" valueType="num">
                                      <p:cBhvr>
                                        <p:cTn id="41" dur="2000" fill="hold"/>
                                        <p:tgtEl>
                                          <p:spTgt spid="15"/>
                                        </p:tgtEl>
                                        <p:attrNameLst>
                                          <p:attrName>ppt_w</p:attrName>
                                        </p:attrNameLst>
                                      </p:cBhvr>
                                      <p:tavLst>
                                        <p:tav tm="0" fmla="#ppt_w*sin(2.5*pi*$)">
                                          <p:val>
                                            <p:fltVal val="0"/>
                                          </p:val>
                                        </p:tav>
                                        <p:tav tm="100000">
                                          <p:val>
                                            <p:fltVal val="1"/>
                                          </p:val>
                                        </p:tav>
                                      </p:tavLst>
                                    </p:anim>
                                    <p:anim calcmode="lin" valueType="num">
                                      <p:cBhvr>
                                        <p:cTn id="42" dur="2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4" grpId="0" animBg="1"/>
      <p:bldP spid="15" grpId="0" animBg="1"/>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nvGraphicFramePr>
        <p:xfrm>
          <a:off x="1559496" y="1252684"/>
          <a:ext cx="4218579" cy="3791326"/>
        </p:xfrm>
        <a:graphic>
          <a:graphicData uri="http://schemas.openxmlformats.org/drawingml/2006/table">
            <a:tbl>
              <a:tblPr>
                <a:tableStyleId>{5C22544A-7EE6-4342-B048-85BDC9FD1C3A}</a:tableStyleId>
              </a:tblPr>
              <a:tblGrid>
                <a:gridCol w="829459">
                  <a:extLst>
                    <a:ext uri="{9D8B030D-6E8A-4147-A177-3AD203B41FA5}">
                      <a16:colId xmlns:a16="http://schemas.microsoft.com/office/drawing/2014/main" val="20000"/>
                    </a:ext>
                  </a:extLst>
                </a:gridCol>
                <a:gridCol w="723519">
                  <a:extLst>
                    <a:ext uri="{9D8B030D-6E8A-4147-A177-3AD203B41FA5}">
                      <a16:colId xmlns:a16="http://schemas.microsoft.com/office/drawing/2014/main" val="20001"/>
                    </a:ext>
                  </a:extLst>
                </a:gridCol>
                <a:gridCol w="761600">
                  <a:extLst>
                    <a:ext uri="{9D8B030D-6E8A-4147-A177-3AD203B41FA5}">
                      <a16:colId xmlns:a16="http://schemas.microsoft.com/office/drawing/2014/main" val="20002"/>
                    </a:ext>
                  </a:extLst>
                </a:gridCol>
                <a:gridCol w="761600">
                  <a:extLst>
                    <a:ext uri="{9D8B030D-6E8A-4147-A177-3AD203B41FA5}">
                      <a16:colId xmlns:a16="http://schemas.microsoft.com/office/drawing/2014/main" val="20003"/>
                    </a:ext>
                  </a:extLst>
                </a:gridCol>
                <a:gridCol w="761600">
                  <a:extLst>
                    <a:ext uri="{9D8B030D-6E8A-4147-A177-3AD203B41FA5}">
                      <a16:colId xmlns:a16="http://schemas.microsoft.com/office/drawing/2014/main" val="20004"/>
                    </a:ext>
                  </a:extLst>
                </a:gridCol>
                <a:gridCol w="380801">
                  <a:extLst>
                    <a:ext uri="{9D8B030D-6E8A-4147-A177-3AD203B41FA5}">
                      <a16:colId xmlns:a16="http://schemas.microsoft.com/office/drawing/2014/main" val="20005"/>
                    </a:ext>
                  </a:extLst>
                </a:gridCol>
              </a:tblGrid>
              <a:tr h="249163">
                <a:tc rowSpan="2">
                  <a:txBody>
                    <a:bodyPr/>
                    <a:lstStyle/>
                    <a:p>
                      <a:pPr algn="ctr" fontAlgn="b"/>
                      <a:r>
                        <a:rPr lang="es-PE" sz="2000" u="none" strike="noStrike" dirty="0" err="1">
                          <a:solidFill>
                            <a:schemeClr val="bg1"/>
                          </a:solidFill>
                          <a:effectLst/>
                        </a:rPr>
                        <a:t>TRAB</a:t>
                      </a:r>
                      <a:endParaRPr lang="es-PE" sz="2000" b="0" i="0" u="none" strike="noStrike" dirty="0">
                        <a:solidFill>
                          <a:schemeClr val="bg1"/>
                        </a:solidFill>
                        <a:effectLst/>
                        <a:latin typeface="Calibri"/>
                      </a:endParaRPr>
                    </a:p>
                  </a:txBody>
                  <a:tcPr marL="9525" marR="9525" marT="9525" marB="0" anchor="b">
                    <a:solidFill>
                      <a:schemeClr val="accent1">
                        <a:lumMod val="75000"/>
                      </a:schemeClr>
                    </a:solidFill>
                  </a:tcPr>
                </a:tc>
                <a:tc gridSpan="4">
                  <a:txBody>
                    <a:bodyPr/>
                    <a:lstStyle/>
                    <a:p>
                      <a:pPr algn="ctr" fontAlgn="b"/>
                      <a:r>
                        <a:rPr lang="es-PE" sz="2000" u="none" strike="noStrike" dirty="0">
                          <a:solidFill>
                            <a:schemeClr val="bg1"/>
                          </a:solidFill>
                          <a:effectLst/>
                        </a:rPr>
                        <a:t>TAREAS</a:t>
                      </a:r>
                      <a:endParaRPr lang="es-PE" sz="2000" b="0" i="0" u="none" strike="noStrike" dirty="0">
                        <a:solidFill>
                          <a:schemeClr val="bg1"/>
                        </a:solidFill>
                        <a:effectLst/>
                        <a:latin typeface="Calibri"/>
                      </a:endParaRPr>
                    </a:p>
                  </a:txBody>
                  <a:tcPr marL="9525" marR="9525" marT="9525" marB="0" anchor="b">
                    <a:solidFill>
                      <a:schemeClr val="accent1">
                        <a:lumMod val="75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0"/>
                  </a:ext>
                </a:extLst>
              </a:tr>
              <a:tr h="333751">
                <a:tc vMerge="1">
                  <a:txBody>
                    <a:bodyPr/>
                    <a:lstStyle/>
                    <a:p>
                      <a:endParaRPr lang="es-PE"/>
                    </a:p>
                  </a:txBody>
                  <a:tcPr/>
                </a:tc>
                <a:tc>
                  <a:txBody>
                    <a:bodyPr/>
                    <a:lstStyle/>
                    <a:p>
                      <a:pPr algn="ctr" fontAlgn="b"/>
                      <a:r>
                        <a:rPr lang="es-PE" sz="2000" u="none" strike="noStrike" dirty="0">
                          <a:solidFill>
                            <a:schemeClr val="bg1"/>
                          </a:solidFill>
                          <a:effectLst/>
                        </a:rPr>
                        <a:t>1</a:t>
                      </a:r>
                      <a:endParaRPr lang="es-PE" sz="2000" b="0" i="0" u="none" strike="noStrike" dirty="0">
                        <a:solidFill>
                          <a:schemeClr val="bg1"/>
                        </a:solidFill>
                        <a:effectLst/>
                        <a:latin typeface="Calibri"/>
                      </a:endParaRPr>
                    </a:p>
                  </a:txBody>
                  <a:tcPr marL="9525" marR="9525" marT="9525" marB="0" anchor="b">
                    <a:solidFill>
                      <a:schemeClr val="accent1">
                        <a:lumMod val="75000"/>
                      </a:schemeClr>
                    </a:solidFill>
                  </a:tcPr>
                </a:tc>
                <a:tc>
                  <a:txBody>
                    <a:bodyPr/>
                    <a:lstStyle/>
                    <a:p>
                      <a:pPr algn="ctr" fontAlgn="b"/>
                      <a:r>
                        <a:rPr lang="es-PE" sz="2000" u="none" strike="noStrike" dirty="0">
                          <a:solidFill>
                            <a:schemeClr val="bg1"/>
                          </a:solidFill>
                          <a:effectLst/>
                        </a:rPr>
                        <a:t>2</a:t>
                      </a:r>
                      <a:endParaRPr lang="es-PE" sz="2000" b="0" i="0" u="none" strike="noStrike" dirty="0">
                        <a:solidFill>
                          <a:schemeClr val="bg1"/>
                        </a:solidFill>
                        <a:effectLst/>
                        <a:latin typeface="Calibri"/>
                      </a:endParaRPr>
                    </a:p>
                  </a:txBody>
                  <a:tcPr marL="9525" marR="9525" marT="9525" marB="0" anchor="b">
                    <a:solidFill>
                      <a:schemeClr val="accent1">
                        <a:lumMod val="75000"/>
                      </a:schemeClr>
                    </a:solidFill>
                  </a:tcPr>
                </a:tc>
                <a:tc>
                  <a:txBody>
                    <a:bodyPr/>
                    <a:lstStyle/>
                    <a:p>
                      <a:pPr algn="ctr" fontAlgn="b"/>
                      <a:r>
                        <a:rPr lang="es-PE" sz="2000" u="none" strike="noStrike" dirty="0">
                          <a:solidFill>
                            <a:schemeClr val="bg1"/>
                          </a:solidFill>
                          <a:effectLst/>
                        </a:rPr>
                        <a:t>3</a:t>
                      </a:r>
                      <a:endParaRPr lang="es-PE" sz="2000" b="0" i="0" u="none" strike="noStrike" dirty="0">
                        <a:solidFill>
                          <a:schemeClr val="bg1"/>
                        </a:solidFill>
                        <a:effectLst/>
                        <a:latin typeface="Calibri"/>
                      </a:endParaRPr>
                    </a:p>
                  </a:txBody>
                  <a:tcPr marL="9525" marR="9525" marT="9525" marB="0" anchor="b">
                    <a:solidFill>
                      <a:schemeClr val="accent1">
                        <a:lumMod val="75000"/>
                      </a:schemeClr>
                    </a:solidFill>
                  </a:tcPr>
                </a:tc>
                <a:tc>
                  <a:txBody>
                    <a:bodyPr/>
                    <a:lstStyle/>
                    <a:p>
                      <a:pPr algn="ctr" fontAlgn="b"/>
                      <a:r>
                        <a:rPr lang="es-PE" sz="2000" u="none" strike="noStrike" dirty="0">
                          <a:solidFill>
                            <a:schemeClr val="bg1"/>
                          </a:solidFill>
                          <a:effectLst/>
                        </a:rPr>
                        <a:t>4</a:t>
                      </a:r>
                      <a:endParaRPr lang="es-PE" sz="2000" b="0" i="0" u="none" strike="noStrike" dirty="0">
                        <a:solidFill>
                          <a:schemeClr val="bg1"/>
                        </a:solidFill>
                        <a:effectLst/>
                        <a:latin typeface="Calibri"/>
                      </a:endParaRPr>
                    </a:p>
                  </a:txBody>
                  <a:tcPr marL="9525" marR="9525" marT="9525" marB="0" anchor="b">
                    <a:solidFill>
                      <a:schemeClr val="accent1">
                        <a:lumMod val="75000"/>
                      </a:schemeClr>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1"/>
                  </a:ext>
                </a:extLst>
              </a:tr>
              <a:tr h="249163">
                <a:tc>
                  <a:txBody>
                    <a:bodyPr/>
                    <a:lstStyle/>
                    <a:p>
                      <a:pPr algn="ctr" fontAlgn="b"/>
                      <a:r>
                        <a:rPr lang="es-PE" sz="2000" u="none" strike="noStrike" dirty="0">
                          <a:solidFill>
                            <a:schemeClr val="bg1"/>
                          </a:solidFill>
                          <a:effectLst/>
                        </a:rPr>
                        <a:t>1</a:t>
                      </a:r>
                      <a:endParaRPr lang="es-PE" sz="2000" b="0" i="0" u="none" strike="noStrike" dirty="0">
                        <a:solidFill>
                          <a:schemeClr val="bg1"/>
                        </a:solidFill>
                        <a:effectLst/>
                        <a:latin typeface="Calibri"/>
                      </a:endParaRPr>
                    </a:p>
                  </a:txBody>
                  <a:tcPr marL="9525" marR="9525" marT="9525" marB="0" anchor="b">
                    <a:solidFill>
                      <a:schemeClr val="accent1">
                        <a:lumMod val="75000"/>
                      </a:schemeClr>
                    </a:solidFill>
                  </a:tcPr>
                </a:tc>
                <a:tc>
                  <a:txBody>
                    <a:bodyPr/>
                    <a:lstStyle/>
                    <a:p>
                      <a:pPr algn="ctr" fontAlgn="b"/>
                      <a:r>
                        <a:rPr lang="es-PE" sz="2000" u="none" strike="noStrike" dirty="0">
                          <a:effectLst/>
                        </a:rPr>
                        <a:t>12</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13</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16</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18</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2"/>
                  </a:ext>
                </a:extLst>
              </a:tr>
              <a:tr h="249163">
                <a:tc>
                  <a:txBody>
                    <a:bodyPr/>
                    <a:lstStyle/>
                    <a:p>
                      <a:pPr algn="ctr" fontAlgn="b"/>
                      <a:r>
                        <a:rPr lang="es-PE" sz="2000" u="none" strike="noStrike" dirty="0">
                          <a:solidFill>
                            <a:schemeClr val="bg1"/>
                          </a:solidFill>
                          <a:effectLst/>
                        </a:rPr>
                        <a:t>2</a:t>
                      </a:r>
                      <a:endParaRPr lang="es-PE" sz="2000" b="0" i="0" u="none" strike="noStrike" dirty="0">
                        <a:solidFill>
                          <a:schemeClr val="bg1"/>
                        </a:solidFill>
                        <a:effectLst/>
                        <a:latin typeface="Calibri"/>
                      </a:endParaRPr>
                    </a:p>
                  </a:txBody>
                  <a:tcPr marL="9525" marR="9525" marT="9525" marB="0" anchor="b">
                    <a:solidFill>
                      <a:schemeClr val="accent1">
                        <a:lumMod val="75000"/>
                      </a:schemeClr>
                    </a:solidFill>
                  </a:tcPr>
                </a:tc>
                <a:tc>
                  <a:txBody>
                    <a:bodyPr/>
                    <a:lstStyle/>
                    <a:p>
                      <a:pPr algn="ctr" fontAlgn="b"/>
                      <a:r>
                        <a:rPr lang="es-PE" sz="2000" u="none" strike="noStrike" dirty="0">
                          <a:effectLst/>
                        </a:rPr>
                        <a:t>18</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15</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10</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20</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3"/>
                  </a:ext>
                </a:extLst>
              </a:tr>
              <a:tr h="249163">
                <a:tc>
                  <a:txBody>
                    <a:bodyPr/>
                    <a:lstStyle/>
                    <a:p>
                      <a:pPr algn="ctr" fontAlgn="b"/>
                      <a:r>
                        <a:rPr lang="es-PE" sz="2000" u="none" strike="noStrike" dirty="0">
                          <a:solidFill>
                            <a:schemeClr val="bg1"/>
                          </a:solidFill>
                          <a:effectLst/>
                        </a:rPr>
                        <a:t>3</a:t>
                      </a:r>
                      <a:endParaRPr lang="es-PE" sz="2000" b="0" i="0" u="none" strike="noStrike" dirty="0">
                        <a:solidFill>
                          <a:schemeClr val="bg1"/>
                        </a:solidFill>
                        <a:effectLst/>
                        <a:latin typeface="Calibri"/>
                      </a:endParaRPr>
                    </a:p>
                  </a:txBody>
                  <a:tcPr marL="9525" marR="9525" marT="9525" marB="0" anchor="b">
                    <a:solidFill>
                      <a:schemeClr val="accent1">
                        <a:lumMod val="75000"/>
                      </a:schemeClr>
                    </a:solidFill>
                  </a:tcPr>
                </a:tc>
                <a:tc>
                  <a:txBody>
                    <a:bodyPr/>
                    <a:lstStyle/>
                    <a:p>
                      <a:pPr algn="ctr" fontAlgn="b"/>
                      <a:r>
                        <a:rPr lang="es-PE" sz="2000" u="none" strike="noStrike" dirty="0">
                          <a:effectLst/>
                        </a:rPr>
                        <a:t>12</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11</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11</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12</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endParaRPr lang="es-PE" sz="2000" b="0" i="0" u="none" strike="noStrike">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4"/>
                  </a:ext>
                </a:extLst>
              </a:tr>
              <a:tr h="249163">
                <a:tc>
                  <a:txBody>
                    <a:bodyPr/>
                    <a:lstStyle/>
                    <a:p>
                      <a:pPr algn="ctr" fontAlgn="b"/>
                      <a:r>
                        <a:rPr lang="es-PE" sz="2000" u="none" strike="noStrike" dirty="0">
                          <a:solidFill>
                            <a:schemeClr val="bg1"/>
                          </a:solidFill>
                          <a:effectLst/>
                        </a:rPr>
                        <a:t>4</a:t>
                      </a:r>
                      <a:endParaRPr lang="es-PE" sz="2000" b="0" i="0" u="none" strike="noStrike" dirty="0">
                        <a:solidFill>
                          <a:schemeClr val="bg1"/>
                        </a:solidFill>
                        <a:effectLst/>
                        <a:latin typeface="Calibri"/>
                      </a:endParaRPr>
                    </a:p>
                  </a:txBody>
                  <a:tcPr marL="9525" marR="9525" marT="9525" marB="0" anchor="b">
                    <a:solidFill>
                      <a:schemeClr val="accent1">
                        <a:lumMod val="75000"/>
                      </a:schemeClr>
                    </a:solidFill>
                  </a:tcPr>
                </a:tc>
                <a:tc>
                  <a:txBody>
                    <a:bodyPr/>
                    <a:lstStyle/>
                    <a:p>
                      <a:pPr algn="ctr" fontAlgn="b"/>
                      <a:r>
                        <a:rPr lang="es-PE" sz="2000" u="none" strike="noStrike" dirty="0">
                          <a:effectLst/>
                        </a:rPr>
                        <a:t>15</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16</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17</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14</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endParaRPr lang="es-PE" sz="2000" b="0" i="0" u="none" strike="noStrike">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5"/>
                  </a:ext>
                </a:extLst>
              </a:tr>
              <a:tr h="249163">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endParaRPr lang="es-PE" sz="2000" b="0" i="0" u="none" strike="noStrike">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6"/>
                  </a:ext>
                </a:extLst>
              </a:tr>
              <a:tr h="249163">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r>
                        <a:rPr lang="es-PE" sz="2000" u="none" strike="noStrike" dirty="0">
                          <a:effectLst/>
                        </a:rPr>
                        <a:t>12</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13</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16</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18</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12</a:t>
                      </a:r>
                      <a:endParaRPr lang="es-PE" sz="2000" b="0" i="0" u="none" strike="noStrike" dirty="0">
                        <a:solidFill>
                          <a:srgbClr val="FF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7"/>
                  </a:ext>
                </a:extLst>
              </a:tr>
              <a:tr h="249163">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r>
                        <a:rPr lang="es-PE" sz="2000" u="none" strike="noStrike" dirty="0">
                          <a:effectLst/>
                        </a:rPr>
                        <a:t>18</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15</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10</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20</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10</a:t>
                      </a:r>
                      <a:endParaRPr lang="es-PE" sz="2000" b="0" i="0" u="none" strike="noStrike" dirty="0">
                        <a:solidFill>
                          <a:srgbClr val="FF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8"/>
                  </a:ext>
                </a:extLst>
              </a:tr>
              <a:tr h="249163">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r>
                        <a:rPr lang="es-PE" sz="2000" u="none" strike="noStrike" dirty="0">
                          <a:effectLst/>
                        </a:rPr>
                        <a:t>12</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11</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11</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12</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11</a:t>
                      </a:r>
                      <a:endParaRPr lang="es-PE" sz="2000" b="0" i="0" u="none" strike="noStrike" dirty="0">
                        <a:solidFill>
                          <a:srgbClr val="FF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09"/>
                  </a:ext>
                </a:extLst>
              </a:tr>
              <a:tr h="249163">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r>
                        <a:rPr lang="es-PE" sz="2000" u="none" strike="noStrike" dirty="0">
                          <a:effectLst/>
                        </a:rPr>
                        <a:t>15</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16</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17</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14</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14</a:t>
                      </a:r>
                      <a:endParaRPr lang="es-PE" sz="2000" b="0" i="0" u="none" strike="noStrike" dirty="0">
                        <a:solidFill>
                          <a:srgbClr val="FF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10"/>
                  </a:ext>
                </a:extLst>
              </a:tr>
              <a:tr h="249163">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0011"/>
                  </a:ext>
                </a:extLst>
              </a:tr>
            </a:tbl>
          </a:graphicData>
        </a:graphic>
      </p:graphicFrame>
      <p:graphicFrame>
        <p:nvGraphicFramePr>
          <p:cNvPr id="5" name="4 Tabla"/>
          <p:cNvGraphicFramePr>
            <a:graphicFrameLocks noGrp="1"/>
          </p:cNvGraphicFramePr>
          <p:nvPr/>
        </p:nvGraphicFramePr>
        <p:xfrm>
          <a:off x="1559497" y="5285133"/>
          <a:ext cx="7848871" cy="1566635"/>
        </p:xfrm>
        <a:graphic>
          <a:graphicData uri="http://schemas.openxmlformats.org/drawingml/2006/table">
            <a:tbl>
              <a:tblPr>
                <a:tableStyleId>{5C22544A-7EE6-4342-B048-85BDC9FD1C3A}</a:tableStyleId>
              </a:tblPr>
              <a:tblGrid>
                <a:gridCol w="454217">
                  <a:extLst>
                    <a:ext uri="{9D8B030D-6E8A-4147-A177-3AD203B41FA5}">
                      <a16:colId xmlns:a16="http://schemas.microsoft.com/office/drawing/2014/main" val="20000"/>
                    </a:ext>
                  </a:extLst>
                </a:gridCol>
                <a:gridCol w="454217">
                  <a:extLst>
                    <a:ext uri="{9D8B030D-6E8A-4147-A177-3AD203B41FA5}">
                      <a16:colId xmlns:a16="http://schemas.microsoft.com/office/drawing/2014/main" val="20001"/>
                    </a:ext>
                  </a:extLst>
                </a:gridCol>
                <a:gridCol w="454217">
                  <a:extLst>
                    <a:ext uri="{9D8B030D-6E8A-4147-A177-3AD203B41FA5}">
                      <a16:colId xmlns:a16="http://schemas.microsoft.com/office/drawing/2014/main" val="20002"/>
                    </a:ext>
                  </a:extLst>
                </a:gridCol>
                <a:gridCol w="454217">
                  <a:extLst>
                    <a:ext uri="{9D8B030D-6E8A-4147-A177-3AD203B41FA5}">
                      <a16:colId xmlns:a16="http://schemas.microsoft.com/office/drawing/2014/main" val="20003"/>
                    </a:ext>
                  </a:extLst>
                </a:gridCol>
                <a:gridCol w="454217">
                  <a:extLst>
                    <a:ext uri="{9D8B030D-6E8A-4147-A177-3AD203B41FA5}">
                      <a16:colId xmlns:a16="http://schemas.microsoft.com/office/drawing/2014/main" val="20004"/>
                    </a:ext>
                  </a:extLst>
                </a:gridCol>
                <a:gridCol w="51910">
                  <a:extLst>
                    <a:ext uri="{9D8B030D-6E8A-4147-A177-3AD203B41FA5}">
                      <a16:colId xmlns:a16="http://schemas.microsoft.com/office/drawing/2014/main" val="20005"/>
                    </a:ext>
                  </a:extLst>
                </a:gridCol>
                <a:gridCol w="595218">
                  <a:extLst>
                    <a:ext uri="{9D8B030D-6E8A-4147-A177-3AD203B41FA5}">
                      <a16:colId xmlns:a16="http://schemas.microsoft.com/office/drawing/2014/main" val="20006"/>
                    </a:ext>
                  </a:extLst>
                </a:gridCol>
                <a:gridCol w="2532391">
                  <a:extLst>
                    <a:ext uri="{9D8B030D-6E8A-4147-A177-3AD203B41FA5}">
                      <a16:colId xmlns:a16="http://schemas.microsoft.com/office/drawing/2014/main" val="20007"/>
                    </a:ext>
                  </a:extLst>
                </a:gridCol>
                <a:gridCol w="454217">
                  <a:extLst>
                    <a:ext uri="{9D8B030D-6E8A-4147-A177-3AD203B41FA5}">
                      <a16:colId xmlns:a16="http://schemas.microsoft.com/office/drawing/2014/main" val="20008"/>
                    </a:ext>
                  </a:extLst>
                </a:gridCol>
                <a:gridCol w="1362651">
                  <a:extLst>
                    <a:ext uri="{9D8B030D-6E8A-4147-A177-3AD203B41FA5}">
                      <a16:colId xmlns:a16="http://schemas.microsoft.com/office/drawing/2014/main" val="20009"/>
                    </a:ext>
                  </a:extLst>
                </a:gridCol>
                <a:gridCol w="581399">
                  <a:extLst>
                    <a:ext uri="{9D8B030D-6E8A-4147-A177-3AD203B41FA5}">
                      <a16:colId xmlns:a16="http://schemas.microsoft.com/office/drawing/2014/main" val="20010"/>
                    </a:ext>
                  </a:extLst>
                </a:gridCol>
              </a:tblGrid>
              <a:tr h="255157">
                <a:tc gridSpan="6">
                  <a:txBody>
                    <a:bodyPr/>
                    <a:lstStyle/>
                    <a:p>
                      <a:pPr algn="ctr" fontAlgn="b"/>
                      <a:r>
                        <a:rPr lang="es-PE" sz="2000" u="none" strike="noStrike" dirty="0">
                          <a:effectLst/>
                          <a:latin typeface="Arial Narrow" pitchFamily="34" charset="0"/>
                        </a:rPr>
                        <a:t>Al Trabajador</a:t>
                      </a:r>
                      <a:endParaRPr lang="es-PE" sz="2000" b="0" i="0" u="none" strike="noStrike" dirty="0">
                        <a:solidFill>
                          <a:srgbClr val="000000"/>
                        </a:solidFill>
                        <a:effectLst/>
                        <a:latin typeface="Arial Narrow" pitchFamily="34" charset="0"/>
                      </a:endParaRPr>
                    </a:p>
                  </a:txBody>
                  <a:tcPr marL="8527" marR="8527" marT="8527"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u="none" strike="noStrike" dirty="0">
                          <a:effectLst/>
                          <a:latin typeface="Arial Narrow" pitchFamily="34" charset="0"/>
                        </a:rPr>
                        <a:t>1</a:t>
                      </a:r>
                      <a:endParaRPr lang="es-PE" sz="2000" b="0" i="0" u="none" strike="noStrike" dirty="0">
                        <a:solidFill>
                          <a:srgbClr val="FF0000"/>
                        </a:solidFill>
                        <a:effectLst/>
                        <a:latin typeface="Arial Narrow" pitchFamily="34" charset="0"/>
                      </a:endParaRPr>
                    </a:p>
                  </a:txBody>
                  <a:tcPr marL="8527" marR="8527" marT="8527" marB="0" anchor="ctr"/>
                </a:tc>
                <a:tc>
                  <a:txBody>
                    <a:bodyPr/>
                    <a:lstStyle/>
                    <a:p>
                      <a:pPr algn="ctr" fontAlgn="ctr"/>
                      <a:r>
                        <a:rPr lang="it-IT" sz="2000" u="none" strike="noStrike" dirty="0">
                          <a:effectLst/>
                          <a:latin typeface="Arial Narrow" pitchFamily="34" charset="0"/>
                        </a:rPr>
                        <a:t>Se le asigna la tarea</a:t>
                      </a:r>
                      <a:endParaRPr lang="it-IT" sz="2000" b="0" i="0" u="none" strike="noStrike" dirty="0">
                        <a:solidFill>
                          <a:srgbClr val="000000"/>
                        </a:solidFill>
                        <a:effectLst/>
                        <a:latin typeface="Arial Narrow" pitchFamily="34" charset="0"/>
                      </a:endParaRPr>
                    </a:p>
                  </a:txBody>
                  <a:tcPr marL="8527" marR="8527" marT="8527" marB="0" anchor="ctr"/>
                </a:tc>
                <a:tc>
                  <a:txBody>
                    <a:bodyPr/>
                    <a:lstStyle/>
                    <a:p>
                      <a:pPr algn="ctr" fontAlgn="b"/>
                      <a:r>
                        <a:rPr lang="es-PE" sz="2000" u="none" strike="noStrike">
                          <a:effectLst/>
                          <a:latin typeface="Arial Narrow" pitchFamily="34" charset="0"/>
                        </a:rPr>
                        <a:t>1</a:t>
                      </a:r>
                      <a:endParaRPr lang="es-PE" sz="2000" b="0" i="0" u="none" strike="noStrike">
                        <a:solidFill>
                          <a:srgbClr val="000000"/>
                        </a:solidFill>
                        <a:effectLst/>
                        <a:latin typeface="Arial Narrow" pitchFamily="34" charset="0"/>
                      </a:endParaRPr>
                    </a:p>
                  </a:txBody>
                  <a:tcPr marL="8527" marR="8527" marT="8527" marB="0" anchor="ctr"/>
                </a:tc>
                <a:tc>
                  <a:txBody>
                    <a:bodyPr/>
                    <a:lstStyle/>
                    <a:p>
                      <a:pPr algn="l" fontAlgn="b"/>
                      <a:r>
                        <a:rPr lang="es-PE" sz="2000" u="none" strike="noStrike">
                          <a:effectLst/>
                          <a:latin typeface="Arial Narrow" pitchFamily="34" charset="0"/>
                        </a:rPr>
                        <a:t>El costo es</a:t>
                      </a:r>
                      <a:endParaRPr lang="es-PE" sz="2000" b="0" i="0" u="none" strike="noStrike">
                        <a:solidFill>
                          <a:srgbClr val="000000"/>
                        </a:solidFill>
                        <a:effectLst/>
                        <a:latin typeface="Arial Narrow" pitchFamily="34" charset="0"/>
                      </a:endParaRPr>
                    </a:p>
                  </a:txBody>
                  <a:tcPr marL="8527" marR="8527" marT="8527" marB="0" anchor="ctr"/>
                </a:tc>
                <a:tc>
                  <a:txBody>
                    <a:bodyPr/>
                    <a:lstStyle/>
                    <a:p>
                      <a:pPr algn="ctr" fontAlgn="b"/>
                      <a:r>
                        <a:rPr lang="es-PE" sz="2000" u="none" strike="noStrike" dirty="0">
                          <a:effectLst/>
                          <a:latin typeface="Arial Narrow" pitchFamily="34" charset="0"/>
                        </a:rPr>
                        <a:t>12</a:t>
                      </a:r>
                      <a:endParaRPr lang="es-PE" sz="2000" b="0" i="0" u="none" strike="noStrike" dirty="0">
                        <a:solidFill>
                          <a:srgbClr val="000000"/>
                        </a:solidFill>
                        <a:effectLst/>
                        <a:latin typeface="Arial Narrow" pitchFamily="34" charset="0"/>
                      </a:endParaRPr>
                    </a:p>
                  </a:txBody>
                  <a:tcPr marL="8527" marR="8527" marT="8527" marB="0" anchor="ctr"/>
                </a:tc>
                <a:extLst>
                  <a:ext uri="{0D108BD9-81ED-4DB2-BD59-A6C34878D82A}">
                    <a16:rowId xmlns:a16="http://schemas.microsoft.com/office/drawing/2014/main" val="10000"/>
                  </a:ext>
                </a:extLst>
              </a:tr>
              <a:tr h="234401">
                <a:tc gridSpan="6">
                  <a:txBody>
                    <a:bodyPr/>
                    <a:lstStyle/>
                    <a:p>
                      <a:pPr algn="ctr" fontAlgn="b"/>
                      <a:r>
                        <a:rPr lang="es-PE" sz="2000" u="none" strike="noStrike" dirty="0">
                          <a:effectLst/>
                          <a:latin typeface="Arial Narrow" pitchFamily="34" charset="0"/>
                        </a:rPr>
                        <a:t>Al Trabajador</a:t>
                      </a:r>
                      <a:endParaRPr lang="es-PE" sz="2000" b="0" i="0" u="none" strike="noStrike" dirty="0">
                        <a:solidFill>
                          <a:srgbClr val="000000"/>
                        </a:solidFill>
                        <a:effectLst/>
                        <a:latin typeface="Arial Narrow" pitchFamily="34" charset="0"/>
                      </a:endParaRPr>
                    </a:p>
                  </a:txBody>
                  <a:tcPr marL="8527" marR="8527" marT="8527"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u="none" strike="noStrike">
                          <a:effectLst/>
                          <a:latin typeface="Arial Narrow" pitchFamily="34" charset="0"/>
                        </a:rPr>
                        <a:t>2</a:t>
                      </a:r>
                      <a:endParaRPr lang="es-PE" sz="2000" b="0" i="0" u="none" strike="noStrike">
                        <a:solidFill>
                          <a:srgbClr val="000000"/>
                        </a:solidFill>
                        <a:effectLst/>
                        <a:latin typeface="Arial Narrow" pitchFamily="34" charset="0"/>
                      </a:endParaRPr>
                    </a:p>
                  </a:txBody>
                  <a:tcPr marL="8527" marR="8527" marT="8527" marB="0" anchor="ctr"/>
                </a:tc>
                <a:tc>
                  <a:txBody>
                    <a:bodyPr/>
                    <a:lstStyle/>
                    <a:p>
                      <a:pPr algn="ctr" fontAlgn="ctr"/>
                      <a:r>
                        <a:rPr lang="it-IT" sz="2000" u="none" strike="noStrike">
                          <a:effectLst/>
                          <a:latin typeface="Arial Narrow" pitchFamily="34" charset="0"/>
                        </a:rPr>
                        <a:t>Se le asigna la tarea</a:t>
                      </a:r>
                      <a:endParaRPr lang="it-IT" sz="2000" b="0" i="0" u="none" strike="noStrike">
                        <a:solidFill>
                          <a:srgbClr val="000000"/>
                        </a:solidFill>
                        <a:effectLst/>
                        <a:latin typeface="Arial Narrow" pitchFamily="34" charset="0"/>
                      </a:endParaRPr>
                    </a:p>
                  </a:txBody>
                  <a:tcPr marL="8527" marR="8527" marT="8527" marB="0" anchor="ctr"/>
                </a:tc>
                <a:tc>
                  <a:txBody>
                    <a:bodyPr/>
                    <a:lstStyle/>
                    <a:p>
                      <a:pPr algn="ctr" fontAlgn="b"/>
                      <a:r>
                        <a:rPr lang="es-PE" sz="2000" u="none" strike="noStrike" dirty="0">
                          <a:effectLst/>
                          <a:latin typeface="Arial Narrow" pitchFamily="34" charset="0"/>
                        </a:rPr>
                        <a:t>3</a:t>
                      </a:r>
                      <a:endParaRPr lang="es-PE" sz="2000" b="0" i="0" u="none" strike="noStrike" dirty="0">
                        <a:solidFill>
                          <a:srgbClr val="000000"/>
                        </a:solidFill>
                        <a:effectLst/>
                        <a:latin typeface="Arial Narrow" pitchFamily="34" charset="0"/>
                      </a:endParaRPr>
                    </a:p>
                  </a:txBody>
                  <a:tcPr marL="8527" marR="8527" marT="8527" marB="0" anchor="ctr"/>
                </a:tc>
                <a:tc>
                  <a:txBody>
                    <a:bodyPr/>
                    <a:lstStyle/>
                    <a:p>
                      <a:pPr algn="l" fontAlgn="b"/>
                      <a:r>
                        <a:rPr lang="es-PE" sz="2000" u="none" strike="noStrike">
                          <a:effectLst/>
                          <a:latin typeface="Arial Narrow" pitchFamily="34" charset="0"/>
                        </a:rPr>
                        <a:t>El costo es</a:t>
                      </a:r>
                      <a:endParaRPr lang="es-PE" sz="2000" b="0" i="0" u="none" strike="noStrike">
                        <a:solidFill>
                          <a:srgbClr val="000000"/>
                        </a:solidFill>
                        <a:effectLst/>
                        <a:latin typeface="Arial Narrow" pitchFamily="34" charset="0"/>
                      </a:endParaRPr>
                    </a:p>
                  </a:txBody>
                  <a:tcPr marL="8527" marR="8527" marT="8527" marB="0" anchor="ctr"/>
                </a:tc>
                <a:tc>
                  <a:txBody>
                    <a:bodyPr/>
                    <a:lstStyle/>
                    <a:p>
                      <a:pPr algn="ctr" fontAlgn="b"/>
                      <a:r>
                        <a:rPr lang="es-PE" sz="2000" u="none" strike="noStrike" dirty="0">
                          <a:effectLst/>
                          <a:latin typeface="Arial Narrow" pitchFamily="34" charset="0"/>
                        </a:rPr>
                        <a:t>10</a:t>
                      </a:r>
                      <a:endParaRPr lang="es-PE" sz="2000" b="0" i="0" u="none" strike="noStrike" dirty="0">
                        <a:solidFill>
                          <a:srgbClr val="000000"/>
                        </a:solidFill>
                        <a:effectLst/>
                        <a:latin typeface="Arial Narrow" pitchFamily="34" charset="0"/>
                      </a:endParaRPr>
                    </a:p>
                  </a:txBody>
                  <a:tcPr marL="8527" marR="8527" marT="8527" marB="0" anchor="ctr"/>
                </a:tc>
                <a:extLst>
                  <a:ext uri="{0D108BD9-81ED-4DB2-BD59-A6C34878D82A}">
                    <a16:rowId xmlns:a16="http://schemas.microsoft.com/office/drawing/2014/main" val="10001"/>
                  </a:ext>
                </a:extLst>
              </a:tr>
              <a:tr h="234401">
                <a:tc gridSpan="6">
                  <a:txBody>
                    <a:bodyPr/>
                    <a:lstStyle/>
                    <a:p>
                      <a:pPr algn="ctr" fontAlgn="b"/>
                      <a:r>
                        <a:rPr lang="es-PE" sz="2000" u="none" strike="noStrike" dirty="0">
                          <a:effectLst/>
                          <a:latin typeface="Arial Narrow" pitchFamily="34" charset="0"/>
                        </a:rPr>
                        <a:t>Al Trabajador</a:t>
                      </a:r>
                      <a:endParaRPr lang="es-PE" sz="2000" b="0" i="0" u="none" strike="noStrike" dirty="0">
                        <a:solidFill>
                          <a:srgbClr val="000000"/>
                        </a:solidFill>
                        <a:effectLst/>
                        <a:latin typeface="Arial Narrow" pitchFamily="34" charset="0"/>
                      </a:endParaRPr>
                    </a:p>
                  </a:txBody>
                  <a:tcPr marL="8527" marR="8527" marT="8527"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u="none" strike="noStrike">
                          <a:effectLst/>
                          <a:latin typeface="Arial Narrow" pitchFamily="34" charset="0"/>
                        </a:rPr>
                        <a:t>3</a:t>
                      </a:r>
                      <a:endParaRPr lang="es-PE" sz="2000" b="0" i="0" u="none" strike="noStrike">
                        <a:solidFill>
                          <a:srgbClr val="000000"/>
                        </a:solidFill>
                        <a:effectLst/>
                        <a:latin typeface="Arial Narrow" pitchFamily="34" charset="0"/>
                      </a:endParaRPr>
                    </a:p>
                  </a:txBody>
                  <a:tcPr marL="8527" marR="8527" marT="8527" marB="0" anchor="ctr"/>
                </a:tc>
                <a:tc>
                  <a:txBody>
                    <a:bodyPr/>
                    <a:lstStyle/>
                    <a:p>
                      <a:pPr algn="ctr" fontAlgn="ctr"/>
                      <a:r>
                        <a:rPr lang="it-IT" sz="2000" u="none" strike="noStrike">
                          <a:effectLst/>
                          <a:latin typeface="Arial Narrow" pitchFamily="34" charset="0"/>
                        </a:rPr>
                        <a:t>Se le asigna la tarea</a:t>
                      </a:r>
                      <a:endParaRPr lang="it-IT" sz="2000" b="0" i="0" u="none" strike="noStrike">
                        <a:solidFill>
                          <a:srgbClr val="000000"/>
                        </a:solidFill>
                        <a:effectLst/>
                        <a:latin typeface="Arial Narrow" pitchFamily="34" charset="0"/>
                      </a:endParaRPr>
                    </a:p>
                  </a:txBody>
                  <a:tcPr marL="8527" marR="8527" marT="8527" marB="0" anchor="ctr"/>
                </a:tc>
                <a:tc>
                  <a:txBody>
                    <a:bodyPr/>
                    <a:lstStyle/>
                    <a:p>
                      <a:pPr algn="ctr" fontAlgn="b"/>
                      <a:r>
                        <a:rPr lang="es-PE" sz="2000" u="none" strike="noStrike" dirty="0">
                          <a:effectLst/>
                          <a:latin typeface="Arial Narrow" pitchFamily="34" charset="0"/>
                        </a:rPr>
                        <a:t>2</a:t>
                      </a:r>
                      <a:endParaRPr lang="es-PE" sz="2000" b="0" i="0" u="none" strike="noStrike" dirty="0">
                        <a:solidFill>
                          <a:srgbClr val="000000"/>
                        </a:solidFill>
                        <a:effectLst/>
                        <a:latin typeface="Arial Narrow" pitchFamily="34" charset="0"/>
                      </a:endParaRPr>
                    </a:p>
                  </a:txBody>
                  <a:tcPr marL="8527" marR="8527" marT="8527" marB="0" anchor="ctr"/>
                </a:tc>
                <a:tc>
                  <a:txBody>
                    <a:bodyPr/>
                    <a:lstStyle/>
                    <a:p>
                      <a:pPr algn="l" fontAlgn="b"/>
                      <a:r>
                        <a:rPr lang="es-PE" sz="2000" u="none" strike="noStrike">
                          <a:effectLst/>
                          <a:latin typeface="Arial Narrow" pitchFamily="34" charset="0"/>
                        </a:rPr>
                        <a:t>El costo es</a:t>
                      </a:r>
                      <a:endParaRPr lang="es-PE" sz="2000" b="0" i="0" u="none" strike="noStrike">
                        <a:solidFill>
                          <a:srgbClr val="000000"/>
                        </a:solidFill>
                        <a:effectLst/>
                        <a:latin typeface="Arial Narrow" pitchFamily="34" charset="0"/>
                      </a:endParaRPr>
                    </a:p>
                  </a:txBody>
                  <a:tcPr marL="8527" marR="8527" marT="8527" marB="0" anchor="ctr"/>
                </a:tc>
                <a:tc>
                  <a:txBody>
                    <a:bodyPr/>
                    <a:lstStyle/>
                    <a:p>
                      <a:pPr algn="ctr" fontAlgn="b"/>
                      <a:r>
                        <a:rPr lang="es-PE" sz="2000" u="none" strike="noStrike" dirty="0">
                          <a:effectLst/>
                          <a:latin typeface="Arial Narrow" pitchFamily="34" charset="0"/>
                        </a:rPr>
                        <a:t>11</a:t>
                      </a:r>
                      <a:endParaRPr lang="es-PE" sz="2000" b="0" i="0" u="none" strike="noStrike" dirty="0">
                        <a:solidFill>
                          <a:srgbClr val="000000"/>
                        </a:solidFill>
                        <a:effectLst/>
                        <a:latin typeface="Arial Narrow" pitchFamily="34" charset="0"/>
                      </a:endParaRPr>
                    </a:p>
                  </a:txBody>
                  <a:tcPr marL="8527" marR="8527" marT="8527" marB="0" anchor="ctr"/>
                </a:tc>
                <a:extLst>
                  <a:ext uri="{0D108BD9-81ED-4DB2-BD59-A6C34878D82A}">
                    <a16:rowId xmlns:a16="http://schemas.microsoft.com/office/drawing/2014/main" val="10002"/>
                  </a:ext>
                </a:extLst>
              </a:tr>
              <a:tr h="203989">
                <a:tc gridSpan="6">
                  <a:txBody>
                    <a:bodyPr/>
                    <a:lstStyle/>
                    <a:p>
                      <a:pPr algn="ctr" fontAlgn="b"/>
                      <a:r>
                        <a:rPr lang="es-PE" sz="2000" u="none" strike="noStrike" dirty="0">
                          <a:effectLst/>
                          <a:latin typeface="Arial Narrow" pitchFamily="34" charset="0"/>
                        </a:rPr>
                        <a:t>Al Trabajador</a:t>
                      </a:r>
                      <a:endParaRPr lang="es-PE" sz="2000" b="0" i="0" u="none" strike="noStrike" dirty="0">
                        <a:solidFill>
                          <a:srgbClr val="000000"/>
                        </a:solidFill>
                        <a:effectLst/>
                        <a:latin typeface="Arial Narrow" pitchFamily="34" charset="0"/>
                      </a:endParaRPr>
                    </a:p>
                  </a:txBody>
                  <a:tcPr marL="8527" marR="8527" marT="8527"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u="none" strike="noStrike" dirty="0">
                          <a:effectLst/>
                          <a:latin typeface="Arial Narrow" pitchFamily="34" charset="0"/>
                        </a:rPr>
                        <a:t>4</a:t>
                      </a:r>
                      <a:endParaRPr lang="es-PE" sz="2000" b="0" i="0" u="none" strike="noStrike" dirty="0">
                        <a:solidFill>
                          <a:srgbClr val="000000"/>
                        </a:solidFill>
                        <a:effectLst/>
                        <a:latin typeface="Arial Narrow" pitchFamily="34" charset="0"/>
                      </a:endParaRPr>
                    </a:p>
                  </a:txBody>
                  <a:tcPr marL="8527" marR="8527" marT="8527" marB="0" anchor="ctr"/>
                </a:tc>
                <a:tc>
                  <a:txBody>
                    <a:bodyPr/>
                    <a:lstStyle/>
                    <a:p>
                      <a:pPr algn="ctr" fontAlgn="ctr"/>
                      <a:r>
                        <a:rPr lang="it-IT" sz="2000" u="none" strike="noStrike" dirty="0">
                          <a:effectLst/>
                          <a:latin typeface="Arial Narrow" pitchFamily="34" charset="0"/>
                        </a:rPr>
                        <a:t>Se le asigna la tarea</a:t>
                      </a:r>
                      <a:endParaRPr lang="it-IT" sz="2000" b="0" i="0" u="none" strike="noStrike" dirty="0">
                        <a:solidFill>
                          <a:srgbClr val="000000"/>
                        </a:solidFill>
                        <a:effectLst/>
                        <a:latin typeface="Arial Narrow" pitchFamily="34" charset="0"/>
                      </a:endParaRPr>
                    </a:p>
                  </a:txBody>
                  <a:tcPr marL="8527" marR="8527" marT="8527" marB="0" anchor="ctr"/>
                </a:tc>
                <a:tc>
                  <a:txBody>
                    <a:bodyPr/>
                    <a:lstStyle/>
                    <a:p>
                      <a:pPr algn="ctr" fontAlgn="b"/>
                      <a:r>
                        <a:rPr lang="es-PE" sz="2000" u="none" strike="noStrike" dirty="0">
                          <a:effectLst/>
                          <a:latin typeface="Arial Narrow" pitchFamily="34" charset="0"/>
                        </a:rPr>
                        <a:t>4</a:t>
                      </a:r>
                      <a:endParaRPr lang="es-PE" sz="2000" b="0" i="0" u="none" strike="noStrike" dirty="0">
                        <a:solidFill>
                          <a:srgbClr val="000000"/>
                        </a:solidFill>
                        <a:effectLst/>
                        <a:latin typeface="Arial Narrow" pitchFamily="34" charset="0"/>
                      </a:endParaRPr>
                    </a:p>
                  </a:txBody>
                  <a:tcPr marL="8527" marR="8527" marT="8527" marB="0" anchor="ctr"/>
                </a:tc>
                <a:tc>
                  <a:txBody>
                    <a:bodyPr/>
                    <a:lstStyle/>
                    <a:p>
                      <a:pPr algn="l" fontAlgn="b"/>
                      <a:r>
                        <a:rPr lang="es-PE" sz="2000" u="none" strike="noStrike">
                          <a:effectLst/>
                          <a:latin typeface="Arial Narrow" pitchFamily="34" charset="0"/>
                        </a:rPr>
                        <a:t>El costo es</a:t>
                      </a:r>
                      <a:endParaRPr lang="es-PE" sz="2000" b="0" i="0" u="none" strike="noStrike">
                        <a:solidFill>
                          <a:srgbClr val="000000"/>
                        </a:solidFill>
                        <a:effectLst/>
                        <a:latin typeface="Arial Narrow" pitchFamily="34" charset="0"/>
                      </a:endParaRPr>
                    </a:p>
                  </a:txBody>
                  <a:tcPr marL="8527" marR="8527" marT="8527" marB="0" anchor="ctr"/>
                </a:tc>
                <a:tc>
                  <a:txBody>
                    <a:bodyPr/>
                    <a:lstStyle/>
                    <a:p>
                      <a:pPr algn="ctr" fontAlgn="b"/>
                      <a:r>
                        <a:rPr lang="es-PE" sz="2000" u="sng" strike="noStrike" dirty="0">
                          <a:effectLst/>
                          <a:latin typeface="Arial Narrow" pitchFamily="34" charset="0"/>
                        </a:rPr>
                        <a:t>14</a:t>
                      </a:r>
                      <a:endParaRPr lang="es-PE" sz="2000" b="0" i="0" u="sng" strike="noStrike" dirty="0">
                        <a:solidFill>
                          <a:srgbClr val="000000"/>
                        </a:solidFill>
                        <a:effectLst/>
                        <a:latin typeface="Arial Narrow" pitchFamily="34" charset="0"/>
                      </a:endParaRPr>
                    </a:p>
                  </a:txBody>
                  <a:tcPr marL="8527" marR="8527" marT="8527" marB="0" anchor="ctr"/>
                </a:tc>
                <a:extLst>
                  <a:ext uri="{0D108BD9-81ED-4DB2-BD59-A6C34878D82A}">
                    <a16:rowId xmlns:a16="http://schemas.microsoft.com/office/drawing/2014/main" val="10003"/>
                  </a:ext>
                </a:extLst>
              </a:tr>
              <a:tr h="203989">
                <a:tc>
                  <a:txBody>
                    <a:bodyPr/>
                    <a:lstStyle/>
                    <a:p>
                      <a:endParaRPr lang="es-PE" dirty="0">
                        <a:latin typeface="Arial Narrow" pitchFamily="34" charset="0"/>
                      </a:endParaRPr>
                    </a:p>
                  </a:txBody>
                  <a:tcPr marL="8527" marR="8527" marT="8527" marB="0" anchor="ctr"/>
                </a:tc>
                <a:tc>
                  <a:txBody>
                    <a:bodyPr/>
                    <a:lstStyle/>
                    <a:p>
                      <a:pPr algn="ctr" fontAlgn="b"/>
                      <a:endParaRPr lang="es-PE" sz="2000" b="1" i="0" u="none" strike="noStrike">
                        <a:solidFill>
                          <a:srgbClr val="000000"/>
                        </a:solidFill>
                        <a:effectLst/>
                        <a:latin typeface="Arial Narrow" pitchFamily="34" charset="0"/>
                      </a:endParaRPr>
                    </a:p>
                  </a:txBody>
                  <a:tcPr marL="8527" marR="8527" marT="8527" marB="0" anchor="ctr"/>
                </a:tc>
                <a:tc>
                  <a:txBody>
                    <a:bodyPr/>
                    <a:lstStyle/>
                    <a:p>
                      <a:pPr algn="ctr" fontAlgn="b"/>
                      <a:endParaRPr lang="es-PE" sz="2000" b="1" i="0" u="none" strike="noStrike">
                        <a:solidFill>
                          <a:srgbClr val="000000"/>
                        </a:solidFill>
                        <a:effectLst/>
                        <a:latin typeface="Arial Narrow" pitchFamily="34" charset="0"/>
                      </a:endParaRPr>
                    </a:p>
                  </a:txBody>
                  <a:tcPr marL="8527" marR="8527" marT="8527" marB="0" anchor="ctr"/>
                </a:tc>
                <a:tc>
                  <a:txBody>
                    <a:bodyPr/>
                    <a:lstStyle/>
                    <a:p>
                      <a:pPr algn="ctr" fontAlgn="b"/>
                      <a:endParaRPr lang="es-PE" sz="2000" b="1" i="0" u="none" strike="noStrike">
                        <a:solidFill>
                          <a:srgbClr val="000000"/>
                        </a:solidFill>
                        <a:effectLst/>
                        <a:latin typeface="Arial Narrow" pitchFamily="34" charset="0"/>
                      </a:endParaRPr>
                    </a:p>
                  </a:txBody>
                  <a:tcPr marL="8527" marR="8527" marT="8527" marB="0" anchor="ctr"/>
                </a:tc>
                <a:tc>
                  <a:txBody>
                    <a:bodyPr/>
                    <a:lstStyle/>
                    <a:p>
                      <a:pPr algn="ctr" fontAlgn="b"/>
                      <a:endParaRPr lang="es-PE" sz="2000" b="1" i="0" u="none" strike="noStrike">
                        <a:solidFill>
                          <a:srgbClr val="000000"/>
                        </a:solidFill>
                        <a:effectLst/>
                        <a:latin typeface="Arial Narrow" pitchFamily="34" charset="0"/>
                      </a:endParaRPr>
                    </a:p>
                  </a:txBody>
                  <a:tcPr marL="8527" marR="8527" marT="8527" marB="0" anchor="ctr"/>
                </a:tc>
                <a:tc>
                  <a:txBody>
                    <a:bodyPr/>
                    <a:lstStyle/>
                    <a:p>
                      <a:pPr algn="ctr" fontAlgn="b"/>
                      <a:endParaRPr lang="es-PE" sz="2000" b="1" i="0" u="none" strike="noStrike">
                        <a:solidFill>
                          <a:srgbClr val="000000"/>
                        </a:solidFill>
                        <a:effectLst/>
                        <a:latin typeface="Arial Narrow" pitchFamily="34" charset="0"/>
                      </a:endParaRPr>
                    </a:p>
                  </a:txBody>
                  <a:tcPr marL="8527" marR="8527" marT="8527" marB="0" anchor="ctr"/>
                </a:tc>
                <a:tc>
                  <a:txBody>
                    <a:bodyPr/>
                    <a:lstStyle/>
                    <a:p>
                      <a:pPr algn="ctr" fontAlgn="b"/>
                      <a:endParaRPr lang="es-PE" sz="2000" b="1" i="0" u="none" strike="noStrike">
                        <a:solidFill>
                          <a:srgbClr val="000000"/>
                        </a:solidFill>
                        <a:effectLst/>
                        <a:latin typeface="Arial Narrow" pitchFamily="34" charset="0"/>
                      </a:endParaRPr>
                    </a:p>
                  </a:txBody>
                  <a:tcPr marL="8527" marR="8527" marT="8527" marB="0" anchor="ctr"/>
                </a:tc>
                <a:tc gridSpan="3">
                  <a:txBody>
                    <a:bodyPr/>
                    <a:lstStyle/>
                    <a:p>
                      <a:pPr algn="ctr" fontAlgn="b"/>
                      <a:r>
                        <a:rPr lang="es-PE" sz="2000" u="none" strike="noStrike" dirty="0">
                          <a:effectLst/>
                          <a:latin typeface="Arial Narrow" pitchFamily="34" charset="0"/>
                        </a:rPr>
                        <a:t>DISTANCIA TOTAL</a:t>
                      </a:r>
                      <a:endParaRPr lang="es-PE" sz="2000" b="1" i="0" u="none" strike="noStrike" dirty="0">
                        <a:solidFill>
                          <a:srgbClr val="000000"/>
                        </a:solidFill>
                        <a:effectLst/>
                        <a:latin typeface="Arial Narrow" pitchFamily="34" charset="0"/>
                      </a:endParaRPr>
                    </a:p>
                  </a:txBody>
                  <a:tcPr marL="8527" marR="8527" marT="8527" marB="0" anchor="ctr"/>
                </a:tc>
                <a:tc hMerge="1">
                  <a:txBody>
                    <a:bodyPr/>
                    <a:lstStyle/>
                    <a:p>
                      <a:pPr algn="ctr" fontAlgn="b"/>
                      <a:endParaRPr lang="es-PE" sz="1300" b="1" i="0" u="none" strike="noStrike">
                        <a:solidFill>
                          <a:srgbClr val="000000"/>
                        </a:solidFill>
                        <a:effectLst/>
                        <a:latin typeface="Arial"/>
                      </a:endParaRPr>
                    </a:p>
                  </a:txBody>
                  <a:tcPr marL="8527" marR="8527" marT="8527" marB="0" anchor="b"/>
                </a:tc>
                <a:tc hMerge="1">
                  <a:txBody>
                    <a:bodyPr/>
                    <a:lstStyle/>
                    <a:p>
                      <a:pPr algn="ctr" fontAlgn="b"/>
                      <a:endParaRPr lang="es-PE" sz="1300" b="1" i="0" u="none" strike="noStrike">
                        <a:solidFill>
                          <a:srgbClr val="000000"/>
                        </a:solidFill>
                        <a:effectLst/>
                        <a:latin typeface="Arial"/>
                      </a:endParaRPr>
                    </a:p>
                  </a:txBody>
                  <a:tcPr marL="8527" marR="8527" marT="8527" marB="0" anchor="b"/>
                </a:tc>
                <a:tc>
                  <a:txBody>
                    <a:bodyPr/>
                    <a:lstStyle/>
                    <a:p>
                      <a:pPr algn="ctr" fontAlgn="b"/>
                      <a:r>
                        <a:rPr lang="es-PE" sz="2000" u="none" strike="noStrike" dirty="0">
                          <a:effectLst/>
                          <a:latin typeface="Arial Narrow" pitchFamily="34" charset="0"/>
                        </a:rPr>
                        <a:t>47</a:t>
                      </a:r>
                      <a:endParaRPr lang="es-PE" sz="2000" b="1" i="0" u="none" strike="noStrike" dirty="0">
                        <a:solidFill>
                          <a:srgbClr val="FF0000"/>
                        </a:solidFill>
                        <a:effectLst/>
                        <a:latin typeface="Arial Narrow" pitchFamily="34" charset="0"/>
                      </a:endParaRPr>
                    </a:p>
                  </a:txBody>
                  <a:tcPr marL="8527" marR="8527" marT="8527" marB="0" anchor="ctr"/>
                </a:tc>
                <a:extLst>
                  <a:ext uri="{0D108BD9-81ED-4DB2-BD59-A6C34878D82A}">
                    <a16:rowId xmlns:a16="http://schemas.microsoft.com/office/drawing/2014/main" val="10004"/>
                  </a:ext>
                </a:extLst>
              </a:tr>
            </a:tbl>
          </a:graphicData>
        </a:graphic>
      </p:graphicFrame>
      <p:sp>
        <p:nvSpPr>
          <p:cNvPr id="7" name="1 Título">
            <a:extLst>
              <a:ext uri="{FF2B5EF4-FFF2-40B4-BE49-F238E27FC236}">
                <a16:creationId xmlns:a16="http://schemas.microsoft.com/office/drawing/2014/main" id="{B3174446-71D1-4503-A1D4-DF043E4A95D7}"/>
              </a:ext>
            </a:extLst>
          </p:cNvPr>
          <p:cNvSpPr>
            <a:spLocks noGrp="1"/>
          </p:cNvSpPr>
          <p:nvPr>
            <p:ph type="title"/>
          </p:nvPr>
        </p:nvSpPr>
        <p:spPr>
          <a:xfrm>
            <a:off x="6096000" y="304507"/>
            <a:ext cx="6096000" cy="490066"/>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 sz="3200" dirty="0">
                <a:solidFill>
                  <a:schemeClr val="bg1"/>
                </a:solidFill>
                <a:latin typeface="Bauhaus 93" pitchFamily="82" charset="0"/>
                <a:ea typeface="+mn-ea"/>
                <a:cs typeface="+mn-cs"/>
              </a:rPr>
              <a:t>Problema 3</a:t>
            </a:r>
            <a:endParaRPr lang="es-PE" sz="3200" dirty="0">
              <a:solidFill>
                <a:schemeClr val="bg1"/>
              </a:solidFill>
              <a:latin typeface="Bauhaus 93" pitchFamily="82" charset="0"/>
              <a:ea typeface="+mn-ea"/>
              <a:cs typeface="+mn-cs"/>
            </a:endParaRPr>
          </a:p>
        </p:txBody>
      </p:sp>
      <p:graphicFrame>
        <p:nvGraphicFramePr>
          <p:cNvPr id="2" name="Tabla 1">
            <a:extLst>
              <a:ext uri="{FF2B5EF4-FFF2-40B4-BE49-F238E27FC236}">
                <a16:creationId xmlns:a16="http://schemas.microsoft.com/office/drawing/2014/main" id="{BAE61B42-570F-4D3E-A370-59ED80F9693C}"/>
              </a:ext>
            </a:extLst>
          </p:cNvPr>
          <p:cNvGraphicFramePr>
            <a:graphicFrameLocks noGrp="1"/>
          </p:cNvGraphicFramePr>
          <p:nvPr/>
        </p:nvGraphicFramePr>
        <p:xfrm>
          <a:off x="6557513" y="3490523"/>
          <a:ext cx="2868693" cy="1571625"/>
        </p:xfrm>
        <a:graphic>
          <a:graphicData uri="http://schemas.openxmlformats.org/drawingml/2006/table">
            <a:tbl>
              <a:tblPr>
                <a:tableStyleId>{5C22544A-7EE6-4342-B048-85BDC9FD1C3A}</a:tableStyleId>
              </a:tblPr>
              <a:tblGrid>
                <a:gridCol w="761600">
                  <a:extLst>
                    <a:ext uri="{9D8B030D-6E8A-4147-A177-3AD203B41FA5}">
                      <a16:colId xmlns:a16="http://schemas.microsoft.com/office/drawing/2014/main" val="20685064"/>
                    </a:ext>
                  </a:extLst>
                </a:gridCol>
                <a:gridCol w="761600">
                  <a:extLst>
                    <a:ext uri="{9D8B030D-6E8A-4147-A177-3AD203B41FA5}">
                      <a16:colId xmlns:a16="http://schemas.microsoft.com/office/drawing/2014/main" val="4254023863"/>
                    </a:ext>
                  </a:extLst>
                </a:gridCol>
                <a:gridCol w="583893">
                  <a:extLst>
                    <a:ext uri="{9D8B030D-6E8A-4147-A177-3AD203B41FA5}">
                      <a16:colId xmlns:a16="http://schemas.microsoft.com/office/drawing/2014/main" val="2997487561"/>
                    </a:ext>
                  </a:extLst>
                </a:gridCol>
                <a:gridCol w="761600">
                  <a:extLst>
                    <a:ext uri="{9D8B030D-6E8A-4147-A177-3AD203B41FA5}">
                      <a16:colId xmlns:a16="http://schemas.microsoft.com/office/drawing/2014/main" val="1671888722"/>
                    </a:ext>
                  </a:extLst>
                </a:gridCol>
              </a:tblGrid>
              <a:tr h="249163">
                <a:tc>
                  <a:txBody>
                    <a:bodyPr/>
                    <a:lstStyle/>
                    <a:p>
                      <a:pPr algn="ctr" fontAlgn="b"/>
                      <a:r>
                        <a:rPr lang="es-PE" sz="2000" u="none" strike="noStrike" dirty="0">
                          <a:effectLst/>
                        </a:rPr>
                        <a:t>0</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4</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6</a:t>
                      </a:r>
                      <a:endParaRPr lang="es-PE" sz="2000" b="0" i="0" u="none" strike="noStrike">
                        <a:solidFill>
                          <a:srgbClr val="000000"/>
                        </a:solidFill>
                        <a:effectLst/>
                        <a:latin typeface="Calibri"/>
                      </a:endParaRPr>
                    </a:p>
                  </a:txBody>
                  <a:tcPr marL="9525" marR="9525" marT="9525" marB="0" anchor="b">
                    <a:solidFill>
                      <a:srgbClr val="FFFF00"/>
                    </a:solidFill>
                  </a:tcPr>
                </a:tc>
                <a:extLst>
                  <a:ext uri="{0D108BD9-81ED-4DB2-BD59-A6C34878D82A}">
                    <a16:rowId xmlns:a16="http://schemas.microsoft.com/office/drawing/2014/main" val="1932491304"/>
                  </a:ext>
                </a:extLst>
              </a:tr>
              <a:tr h="249163">
                <a:tc>
                  <a:txBody>
                    <a:bodyPr/>
                    <a:lstStyle/>
                    <a:p>
                      <a:pPr algn="ctr" fontAlgn="b"/>
                      <a:r>
                        <a:rPr lang="es-PE" sz="2000" u="none" strike="noStrike" dirty="0">
                          <a:effectLst/>
                        </a:rPr>
                        <a:t>8</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5</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10</a:t>
                      </a:r>
                      <a:endParaRPr lang="es-PE" sz="2000" b="0" i="0" u="none" strike="noStrike" dirty="0">
                        <a:solidFill>
                          <a:srgbClr val="000000"/>
                        </a:solidFill>
                        <a:effectLst/>
                        <a:latin typeface="Calibri"/>
                      </a:endParaRPr>
                    </a:p>
                  </a:txBody>
                  <a:tcPr marL="9525" marR="9525" marT="9525" marB="0" anchor="b">
                    <a:solidFill>
                      <a:srgbClr val="FFFF00"/>
                    </a:solidFill>
                  </a:tcPr>
                </a:tc>
                <a:extLst>
                  <a:ext uri="{0D108BD9-81ED-4DB2-BD59-A6C34878D82A}">
                    <a16:rowId xmlns:a16="http://schemas.microsoft.com/office/drawing/2014/main" val="3498688551"/>
                  </a:ext>
                </a:extLst>
              </a:tr>
              <a:tr h="249163">
                <a:tc>
                  <a:txBody>
                    <a:bodyPr/>
                    <a:lstStyle/>
                    <a:p>
                      <a:pPr algn="ctr" fontAlgn="b"/>
                      <a:r>
                        <a:rPr lang="es-PE" sz="2000" u="none" strike="noStrike" dirty="0">
                          <a:effectLst/>
                        </a:rPr>
                        <a:t>1</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a:effectLst/>
                        </a:rPr>
                        <a:t>0</a:t>
                      </a:r>
                      <a:endParaRPr lang="es-PE" sz="2000" b="0" i="0" u="none" strike="noStrike">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a:endParaRPr>
                    </a:p>
                  </a:txBody>
                  <a:tcPr marL="9525" marR="9525" marT="9525" marB="0" anchor="b">
                    <a:solidFill>
                      <a:srgbClr val="FFFF00"/>
                    </a:solidFill>
                  </a:tcPr>
                </a:tc>
                <a:extLst>
                  <a:ext uri="{0D108BD9-81ED-4DB2-BD59-A6C34878D82A}">
                    <a16:rowId xmlns:a16="http://schemas.microsoft.com/office/drawing/2014/main" val="1701403297"/>
                  </a:ext>
                </a:extLst>
              </a:tr>
              <a:tr h="249163">
                <a:tc>
                  <a:txBody>
                    <a:bodyPr/>
                    <a:lstStyle/>
                    <a:p>
                      <a:pPr algn="ctr" fontAlgn="b"/>
                      <a:r>
                        <a:rPr lang="es-PE" sz="2000" u="none" strike="noStrike" dirty="0">
                          <a:effectLst/>
                        </a:rPr>
                        <a:t>1</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2</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3</a:t>
                      </a:r>
                      <a:endParaRPr lang="es-PE" sz="2000" b="0" i="0" u="none" strike="noStrike" dirty="0">
                        <a:solidFill>
                          <a:srgbClr val="000000"/>
                        </a:solidFill>
                        <a:effectLst/>
                        <a:latin typeface="Calibri"/>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a:endParaRPr>
                    </a:p>
                  </a:txBody>
                  <a:tcPr marL="9525" marR="9525" marT="9525" marB="0" anchor="b">
                    <a:solidFill>
                      <a:srgbClr val="FFFF00"/>
                    </a:solidFill>
                  </a:tcPr>
                </a:tc>
                <a:extLst>
                  <a:ext uri="{0D108BD9-81ED-4DB2-BD59-A6C34878D82A}">
                    <a16:rowId xmlns:a16="http://schemas.microsoft.com/office/drawing/2014/main" val="2970776278"/>
                  </a:ext>
                </a:extLst>
              </a:tr>
              <a:tr h="249163">
                <a:tc>
                  <a:txBody>
                    <a:bodyPr/>
                    <a:lstStyle/>
                    <a:p>
                      <a:pPr algn="ctr" fontAlgn="b"/>
                      <a:r>
                        <a:rPr lang="es-PE" sz="2000" u="none" strike="noStrike" dirty="0">
                          <a:effectLst/>
                        </a:rPr>
                        <a:t>0</a:t>
                      </a:r>
                      <a:endParaRPr lang="es-PE" sz="2000" b="0" i="0" u="none" strike="noStrike" dirty="0">
                        <a:solidFill>
                          <a:srgbClr val="FF0000"/>
                        </a:solidFill>
                        <a:effectLst/>
                        <a:latin typeface="Calibri"/>
                      </a:endParaRPr>
                    </a:p>
                  </a:txBody>
                  <a:tcPr marL="9525" marR="9525" marT="9525" marB="0" anchor="b">
                    <a:solidFill>
                      <a:schemeClr val="bg1"/>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a:endParaRPr>
                    </a:p>
                  </a:txBody>
                  <a:tcPr marL="9525" marR="9525" marT="9525" marB="0" anchor="b">
                    <a:solidFill>
                      <a:schemeClr val="bg1"/>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a:endParaRPr>
                    </a:p>
                  </a:txBody>
                  <a:tcPr marL="9525" marR="9525" marT="9525" marB="0" anchor="b">
                    <a:solidFill>
                      <a:schemeClr val="bg1"/>
                    </a:solidFill>
                  </a:tcPr>
                </a:tc>
                <a:tc>
                  <a:txBody>
                    <a:bodyPr/>
                    <a:lstStyle/>
                    <a:p>
                      <a:pPr algn="ctr" fontAlgn="b"/>
                      <a:r>
                        <a:rPr lang="es-PE" sz="2000" u="none" strike="noStrike" dirty="0">
                          <a:effectLst/>
                        </a:rPr>
                        <a:t>0</a:t>
                      </a:r>
                      <a:endParaRPr lang="es-PE" sz="2000" b="0" i="0" u="none" strike="noStrike" dirty="0">
                        <a:solidFill>
                          <a:srgbClr val="FF0000"/>
                        </a:solidFill>
                        <a:effectLst/>
                        <a:latin typeface="Calibri"/>
                      </a:endParaRPr>
                    </a:p>
                  </a:txBody>
                  <a:tcPr marL="9525" marR="9525" marT="9525" marB="0" anchor="b">
                    <a:solidFill>
                      <a:schemeClr val="bg1"/>
                    </a:solidFill>
                  </a:tcPr>
                </a:tc>
                <a:extLst>
                  <a:ext uri="{0D108BD9-81ED-4DB2-BD59-A6C34878D82A}">
                    <a16:rowId xmlns:a16="http://schemas.microsoft.com/office/drawing/2014/main" val="1953737733"/>
                  </a:ext>
                </a:extLst>
              </a:tr>
            </a:tbl>
          </a:graphicData>
        </a:graphic>
      </p:graphicFrame>
      <p:sp>
        <p:nvSpPr>
          <p:cNvPr id="6" name="Oval 6">
            <a:extLst>
              <a:ext uri="{FF2B5EF4-FFF2-40B4-BE49-F238E27FC236}">
                <a16:creationId xmlns:a16="http://schemas.microsoft.com/office/drawing/2014/main" id="{6599C20F-F210-4F61-A2D4-D01F62A872B0}"/>
              </a:ext>
            </a:extLst>
          </p:cNvPr>
          <p:cNvSpPr>
            <a:spLocks noChangeArrowheads="1"/>
          </p:cNvSpPr>
          <p:nvPr/>
        </p:nvSpPr>
        <p:spPr bwMode="auto">
          <a:xfrm>
            <a:off x="6767318" y="3498402"/>
            <a:ext cx="344309" cy="330580"/>
          </a:xfrm>
          <a:prstGeom prst="ellipse">
            <a:avLst/>
          </a:prstGeom>
          <a:noFill/>
          <a:ln w="38100">
            <a:solidFill>
              <a:srgbClr val="FF0000">
                <a:alpha val="99000"/>
              </a:srgbClr>
            </a:solidFill>
            <a:round/>
            <a:headEnd type="none" w="sm" len="sm"/>
            <a:tailEnd type="none" w="sm" len="sm"/>
          </a:ln>
        </p:spPr>
        <p:txBody>
          <a:bodyPr wrap="none" anchor="ctr"/>
          <a:lstStyle/>
          <a:p>
            <a:endParaRPr lang="es-PE" dirty="0"/>
          </a:p>
        </p:txBody>
      </p:sp>
      <p:sp>
        <p:nvSpPr>
          <p:cNvPr id="8" name="Oval 6">
            <a:extLst>
              <a:ext uri="{FF2B5EF4-FFF2-40B4-BE49-F238E27FC236}">
                <a16:creationId xmlns:a16="http://schemas.microsoft.com/office/drawing/2014/main" id="{65D3686D-5E62-4424-8DDA-2C4813EB52FC}"/>
              </a:ext>
            </a:extLst>
          </p:cNvPr>
          <p:cNvSpPr>
            <a:spLocks noChangeArrowheads="1"/>
          </p:cNvSpPr>
          <p:nvPr/>
        </p:nvSpPr>
        <p:spPr bwMode="auto">
          <a:xfrm>
            <a:off x="8205054" y="3797451"/>
            <a:ext cx="344309" cy="330580"/>
          </a:xfrm>
          <a:prstGeom prst="ellipse">
            <a:avLst/>
          </a:prstGeom>
          <a:noFill/>
          <a:ln w="38100">
            <a:solidFill>
              <a:srgbClr val="FF0000">
                <a:alpha val="99000"/>
              </a:srgbClr>
            </a:solidFill>
            <a:round/>
            <a:headEnd type="none" w="sm" len="sm"/>
            <a:tailEnd type="none" w="sm" len="sm"/>
          </a:ln>
        </p:spPr>
        <p:txBody>
          <a:bodyPr wrap="none" anchor="ctr"/>
          <a:lstStyle/>
          <a:p>
            <a:endParaRPr lang="es-PE" dirty="0"/>
          </a:p>
        </p:txBody>
      </p:sp>
      <p:sp>
        <p:nvSpPr>
          <p:cNvPr id="9" name="Oval 6">
            <a:extLst>
              <a:ext uri="{FF2B5EF4-FFF2-40B4-BE49-F238E27FC236}">
                <a16:creationId xmlns:a16="http://schemas.microsoft.com/office/drawing/2014/main" id="{598D35C1-7942-410C-AFE5-2DA270FC1510}"/>
              </a:ext>
            </a:extLst>
          </p:cNvPr>
          <p:cNvSpPr>
            <a:spLocks noChangeArrowheads="1"/>
          </p:cNvSpPr>
          <p:nvPr/>
        </p:nvSpPr>
        <p:spPr bwMode="auto">
          <a:xfrm>
            <a:off x="7520692" y="4122379"/>
            <a:ext cx="344309" cy="330580"/>
          </a:xfrm>
          <a:prstGeom prst="ellipse">
            <a:avLst/>
          </a:prstGeom>
          <a:noFill/>
          <a:ln w="38100">
            <a:solidFill>
              <a:srgbClr val="FF0000">
                <a:alpha val="99000"/>
              </a:srgbClr>
            </a:solidFill>
            <a:round/>
            <a:headEnd type="none" w="sm" len="sm"/>
            <a:tailEnd type="none" w="sm" len="sm"/>
          </a:ln>
        </p:spPr>
        <p:txBody>
          <a:bodyPr wrap="none" anchor="ctr"/>
          <a:lstStyle/>
          <a:p>
            <a:endParaRPr lang="es-PE" dirty="0"/>
          </a:p>
        </p:txBody>
      </p:sp>
      <p:sp>
        <p:nvSpPr>
          <p:cNvPr id="10" name="Oval 6">
            <a:extLst>
              <a:ext uri="{FF2B5EF4-FFF2-40B4-BE49-F238E27FC236}">
                <a16:creationId xmlns:a16="http://schemas.microsoft.com/office/drawing/2014/main" id="{C667C417-2EE9-45F4-8194-39E3509D1846}"/>
              </a:ext>
            </a:extLst>
          </p:cNvPr>
          <p:cNvSpPr>
            <a:spLocks noChangeArrowheads="1"/>
          </p:cNvSpPr>
          <p:nvPr/>
        </p:nvSpPr>
        <p:spPr bwMode="auto">
          <a:xfrm>
            <a:off x="8880790" y="4438682"/>
            <a:ext cx="344309" cy="330580"/>
          </a:xfrm>
          <a:prstGeom prst="ellipse">
            <a:avLst/>
          </a:prstGeom>
          <a:noFill/>
          <a:ln w="38100">
            <a:solidFill>
              <a:srgbClr val="FF0000">
                <a:alpha val="99000"/>
              </a:srgbClr>
            </a:solidFill>
            <a:round/>
            <a:headEnd type="none" w="sm" len="sm"/>
            <a:tailEnd type="none" w="sm" len="sm"/>
          </a:ln>
        </p:spPr>
        <p:txBody>
          <a:bodyPr wrap="none" anchor="ctr"/>
          <a:lstStyle/>
          <a:p>
            <a:endParaRPr lang="es-PE" dirty="0"/>
          </a:p>
        </p:txBody>
      </p:sp>
      <p:sp>
        <p:nvSpPr>
          <p:cNvPr id="11" name="CuadroTexto 10">
            <a:extLst>
              <a:ext uri="{FF2B5EF4-FFF2-40B4-BE49-F238E27FC236}">
                <a16:creationId xmlns:a16="http://schemas.microsoft.com/office/drawing/2014/main" id="{E8F4655D-24B7-4EF5-AA98-0484D8CE3209}"/>
              </a:ext>
            </a:extLst>
          </p:cNvPr>
          <p:cNvSpPr txBox="1"/>
          <p:nvPr/>
        </p:nvSpPr>
        <p:spPr>
          <a:xfrm>
            <a:off x="6095999" y="1242202"/>
            <a:ext cx="1802675" cy="2308324"/>
          </a:xfrm>
          <a:prstGeom prst="rect">
            <a:avLst/>
          </a:prstGeom>
          <a:noFill/>
        </p:spPr>
        <p:txBody>
          <a:bodyPr wrap="square" rtlCol="0">
            <a:spAutoFit/>
          </a:bodyPr>
          <a:lstStyle/>
          <a:p>
            <a:r>
              <a:rPr lang="es-ES" sz="2400" b="1" dirty="0">
                <a:solidFill>
                  <a:srgbClr val="7030A0"/>
                </a:solidFill>
              </a:rPr>
              <a:t>Asignar las tareas a los trabajadores tomando en cuenta las </a:t>
            </a:r>
            <a:r>
              <a:rPr lang="es-ES" sz="2400" b="1" dirty="0">
                <a:solidFill>
                  <a:srgbClr val="FF0000"/>
                </a:solidFill>
              </a:rPr>
              <a:t>distancias</a:t>
            </a:r>
            <a:r>
              <a:rPr lang="es-ES" sz="2400" b="1" dirty="0">
                <a:solidFill>
                  <a:srgbClr val="7030A0"/>
                </a:solidFill>
              </a:rPr>
              <a:t>.</a:t>
            </a:r>
            <a:endParaRPr lang="es-PE" sz="2400" b="1" dirty="0">
              <a:solidFill>
                <a:srgbClr val="7030A0"/>
              </a:solidFill>
            </a:endParaRPr>
          </a:p>
        </p:txBody>
      </p:sp>
    </p:spTree>
    <p:extLst>
      <p:ext uri="{BB962C8B-B14F-4D97-AF65-F5344CB8AC3E}">
        <p14:creationId xmlns:p14="http://schemas.microsoft.com/office/powerpoint/2010/main" val="3019860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000"/>
                                        <p:tgtEl>
                                          <p:spTgt spid="6"/>
                                        </p:tgtEl>
                                      </p:cBhvr>
                                    </p:animEffect>
                                    <p:anim calcmode="lin" valueType="num">
                                      <p:cBhvr>
                                        <p:cTn id="12" dur="2000" fill="hold"/>
                                        <p:tgtEl>
                                          <p:spTgt spid="6"/>
                                        </p:tgtEl>
                                        <p:attrNameLst>
                                          <p:attrName>ppt_w</p:attrName>
                                        </p:attrNameLst>
                                      </p:cBhvr>
                                      <p:tavLst>
                                        <p:tav tm="0" fmla="#ppt_w*sin(2.5*pi*$)">
                                          <p:val>
                                            <p:fltVal val="0"/>
                                          </p:val>
                                        </p:tav>
                                        <p:tav tm="100000">
                                          <p:val>
                                            <p:fltVal val="1"/>
                                          </p:val>
                                        </p:tav>
                                      </p:tavLst>
                                    </p:anim>
                                    <p:anim calcmode="lin" valueType="num">
                                      <p:cBhvr>
                                        <p:cTn id="13"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5"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0"/>
                                        <p:tgtEl>
                                          <p:spTgt spid="8"/>
                                        </p:tgtEl>
                                      </p:cBhvr>
                                    </p:animEffect>
                                    <p:anim calcmode="lin" valueType="num">
                                      <p:cBhvr>
                                        <p:cTn id="19" dur="2000" fill="hold"/>
                                        <p:tgtEl>
                                          <p:spTgt spid="8"/>
                                        </p:tgtEl>
                                        <p:attrNameLst>
                                          <p:attrName>ppt_w</p:attrName>
                                        </p:attrNameLst>
                                      </p:cBhvr>
                                      <p:tavLst>
                                        <p:tav tm="0" fmla="#ppt_w*sin(2.5*pi*$)">
                                          <p:val>
                                            <p:fltVal val="0"/>
                                          </p:val>
                                        </p:tav>
                                        <p:tav tm="100000">
                                          <p:val>
                                            <p:fltVal val="1"/>
                                          </p:val>
                                        </p:tav>
                                      </p:tavLst>
                                    </p:anim>
                                    <p:anim calcmode="lin" valueType="num">
                                      <p:cBhvr>
                                        <p:cTn id="20" dur="20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2000"/>
                                        <p:tgtEl>
                                          <p:spTgt spid="9"/>
                                        </p:tgtEl>
                                      </p:cBhvr>
                                    </p:animEffect>
                                    <p:anim calcmode="lin" valueType="num">
                                      <p:cBhvr>
                                        <p:cTn id="26" dur="2000" fill="hold"/>
                                        <p:tgtEl>
                                          <p:spTgt spid="9"/>
                                        </p:tgtEl>
                                        <p:attrNameLst>
                                          <p:attrName>ppt_w</p:attrName>
                                        </p:attrNameLst>
                                      </p:cBhvr>
                                      <p:tavLst>
                                        <p:tav tm="0" fmla="#ppt_w*sin(2.5*pi*$)">
                                          <p:val>
                                            <p:fltVal val="0"/>
                                          </p:val>
                                        </p:tav>
                                        <p:tav tm="100000">
                                          <p:val>
                                            <p:fltVal val="1"/>
                                          </p:val>
                                        </p:tav>
                                      </p:tavLst>
                                    </p:anim>
                                    <p:anim calcmode="lin" valueType="num">
                                      <p:cBhvr>
                                        <p:cTn id="27" dur="2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45"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000"/>
                                        <p:tgtEl>
                                          <p:spTgt spid="10"/>
                                        </p:tgtEl>
                                      </p:cBhvr>
                                    </p:animEffect>
                                    <p:anim calcmode="lin" valueType="num">
                                      <p:cBhvr>
                                        <p:cTn id="33" dur="2000" fill="hold"/>
                                        <p:tgtEl>
                                          <p:spTgt spid="10"/>
                                        </p:tgtEl>
                                        <p:attrNameLst>
                                          <p:attrName>ppt_w</p:attrName>
                                        </p:attrNameLst>
                                      </p:cBhvr>
                                      <p:tavLst>
                                        <p:tav tm="0" fmla="#ppt_w*sin(2.5*pi*$)">
                                          <p:val>
                                            <p:fltVal val="0"/>
                                          </p:val>
                                        </p:tav>
                                        <p:tav tm="100000">
                                          <p:val>
                                            <p:fltVal val="1"/>
                                          </p:val>
                                        </p:tav>
                                      </p:tavLst>
                                    </p:anim>
                                    <p:anim calcmode="lin" valueType="num">
                                      <p:cBhvr>
                                        <p:cTn id="34" dur="2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extLst>
              <p:ext uri="{D42A27DB-BD31-4B8C-83A1-F6EECF244321}">
                <p14:modId xmlns:p14="http://schemas.microsoft.com/office/powerpoint/2010/main" val="2111326196"/>
              </p:ext>
            </p:extLst>
          </p:nvPr>
        </p:nvGraphicFramePr>
        <p:xfrm>
          <a:off x="1979936" y="1324101"/>
          <a:ext cx="8424923" cy="2737986"/>
        </p:xfrm>
        <a:graphic>
          <a:graphicData uri="http://schemas.openxmlformats.org/drawingml/2006/table">
            <a:tbl>
              <a:tblPr>
                <a:tableStyleId>{5C22544A-7EE6-4342-B048-85BDC9FD1C3A}</a:tableStyleId>
              </a:tblPr>
              <a:tblGrid>
                <a:gridCol w="460882">
                  <a:extLst>
                    <a:ext uri="{9D8B030D-6E8A-4147-A177-3AD203B41FA5}">
                      <a16:colId xmlns:a16="http://schemas.microsoft.com/office/drawing/2014/main" val="20000"/>
                    </a:ext>
                  </a:extLst>
                </a:gridCol>
                <a:gridCol w="460882">
                  <a:extLst>
                    <a:ext uri="{9D8B030D-6E8A-4147-A177-3AD203B41FA5}">
                      <a16:colId xmlns:a16="http://schemas.microsoft.com/office/drawing/2014/main" val="20001"/>
                    </a:ext>
                  </a:extLst>
                </a:gridCol>
                <a:gridCol w="460882">
                  <a:extLst>
                    <a:ext uri="{9D8B030D-6E8A-4147-A177-3AD203B41FA5}">
                      <a16:colId xmlns:a16="http://schemas.microsoft.com/office/drawing/2014/main" val="20002"/>
                    </a:ext>
                  </a:extLst>
                </a:gridCol>
                <a:gridCol w="460882">
                  <a:extLst>
                    <a:ext uri="{9D8B030D-6E8A-4147-A177-3AD203B41FA5}">
                      <a16:colId xmlns:a16="http://schemas.microsoft.com/office/drawing/2014/main" val="20003"/>
                    </a:ext>
                  </a:extLst>
                </a:gridCol>
                <a:gridCol w="460882">
                  <a:extLst>
                    <a:ext uri="{9D8B030D-6E8A-4147-A177-3AD203B41FA5}">
                      <a16:colId xmlns:a16="http://schemas.microsoft.com/office/drawing/2014/main" val="20004"/>
                    </a:ext>
                  </a:extLst>
                </a:gridCol>
                <a:gridCol w="460882">
                  <a:extLst>
                    <a:ext uri="{9D8B030D-6E8A-4147-A177-3AD203B41FA5}">
                      <a16:colId xmlns:a16="http://schemas.microsoft.com/office/drawing/2014/main" val="20005"/>
                    </a:ext>
                  </a:extLst>
                </a:gridCol>
                <a:gridCol w="460882">
                  <a:extLst>
                    <a:ext uri="{9D8B030D-6E8A-4147-A177-3AD203B41FA5}">
                      <a16:colId xmlns:a16="http://schemas.microsoft.com/office/drawing/2014/main" val="20006"/>
                    </a:ext>
                  </a:extLst>
                </a:gridCol>
                <a:gridCol w="460882">
                  <a:extLst>
                    <a:ext uri="{9D8B030D-6E8A-4147-A177-3AD203B41FA5}">
                      <a16:colId xmlns:a16="http://schemas.microsoft.com/office/drawing/2014/main" val="20007"/>
                    </a:ext>
                  </a:extLst>
                </a:gridCol>
                <a:gridCol w="460882">
                  <a:extLst>
                    <a:ext uri="{9D8B030D-6E8A-4147-A177-3AD203B41FA5}">
                      <a16:colId xmlns:a16="http://schemas.microsoft.com/office/drawing/2014/main" val="20008"/>
                    </a:ext>
                  </a:extLst>
                </a:gridCol>
                <a:gridCol w="460882">
                  <a:extLst>
                    <a:ext uri="{9D8B030D-6E8A-4147-A177-3AD203B41FA5}">
                      <a16:colId xmlns:a16="http://schemas.microsoft.com/office/drawing/2014/main" val="20009"/>
                    </a:ext>
                  </a:extLst>
                </a:gridCol>
                <a:gridCol w="460882">
                  <a:extLst>
                    <a:ext uri="{9D8B030D-6E8A-4147-A177-3AD203B41FA5}">
                      <a16:colId xmlns:a16="http://schemas.microsoft.com/office/drawing/2014/main" val="20010"/>
                    </a:ext>
                  </a:extLst>
                </a:gridCol>
                <a:gridCol w="460882">
                  <a:extLst>
                    <a:ext uri="{9D8B030D-6E8A-4147-A177-3AD203B41FA5}">
                      <a16:colId xmlns:a16="http://schemas.microsoft.com/office/drawing/2014/main" val="20011"/>
                    </a:ext>
                  </a:extLst>
                </a:gridCol>
                <a:gridCol w="460882">
                  <a:extLst>
                    <a:ext uri="{9D8B030D-6E8A-4147-A177-3AD203B41FA5}">
                      <a16:colId xmlns:a16="http://schemas.microsoft.com/office/drawing/2014/main" val="20012"/>
                    </a:ext>
                  </a:extLst>
                </a:gridCol>
                <a:gridCol w="460882">
                  <a:extLst>
                    <a:ext uri="{9D8B030D-6E8A-4147-A177-3AD203B41FA5}">
                      <a16:colId xmlns:a16="http://schemas.microsoft.com/office/drawing/2014/main" val="20013"/>
                    </a:ext>
                  </a:extLst>
                </a:gridCol>
                <a:gridCol w="460882">
                  <a:extLst>
                    <a:ext uri="{9D8B030D-6E8A-4147-A177-3AD203B41FA5}">
                      <a16:colId xmlns:a16="http://schemas.microsoft.com/office/drawing/2014/main" val="20014"/>
                    </a:ext>
                  </a:extLst>
                </a:gridCol>
                <a:gridCol w="460882">
                  <a:extLst>
                    <a:ext uri="{9D8B030D-6E8A-4147-A177-3AD203B41FA5}">
                      <a16:colId xmlns:a16="http://schemas.microsoft.com/office/drawing/2014/main" val="20015"/>
                    </a:ext>
                  </a:extLst>
                </a:gridCol>
                <a:gridCol w="589929">
                  <a:extLst>
                    <a:ext uri="{9D8B030D-6E8A-4147-A177-3AD203B41FA5}">
                      <a16:colId xmlns:a16="http://schemas.microsoft.com/office/drawing/2014/main" val="20016"/>
                    </a:ext>
                  </a:extLst>
                </a:gridCol>
                <a:gridCol w="460882">
                  <a:extLst>
                    <a:ext uri="{9D8B030D-6E8A-4147-A177-3AD203B41FA5}">
                      <a16:colId xmlns:a16="http://schemas.microsoft.com/office/drawing/2014/main" val="20017"/>
                    </a:ext>
                  </a:extLst>
                </a:gridCol>
              </a:tblGrid>
              <a:tr h="456331">
                <a:tc>
                  <a:txBody>
                    <a:bodyPr/>
                    <a:lstStyle/>
                    <a:p>
                      <a:pPr algn="ctr" rtl="0" fontAlgn="ctr"/>
                      <a:r>
                        <a:rPr lang="es-PE" sz="2000" u="none" strike="noStrike" dirty="0">
                          <a:effectLst/>
                        </a:rPr>
                        <a:t>25</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27</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28</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34</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35</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dirty="0">
                        <a:solidFill>
                          <a:srgbClr val="FF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a:solidFill>
                          <a:srgbClr val="000000"/>
                        </a:solidFill>
                        <a:effectLst/>
                        <a:latin typeface="Arial Narrow"/>
                      </a:endParaRPr>
                    </a:p>
                  </a:txBody>
                  <a:tcPr marL="8527" marR="8527" marT="8527" marB="0" anchor="b"/>
                </a:tc>
                <a:tc>
                  <a:txBody>
                    <a:bodyPr/>
                    <a:lstStyle/>
                    <a:p>
                      <a:pPr algn="ctr" rtl="0" fontAlgn="ctr"/>
                      <a:endParaRPr lang="es-PE" sz="2000" b="1" i="0" u="none" strike="noStrike" dirty="0">
                        <a:solidFill>
                          <a:srgbClr val="C9211E"/>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10000"/>
                  </a:ext>
                </a:extLst>
              </a:tr>
              <a:tr h="456331">
                <a:tc>
                  <a:txBody>
                    <a:bodyPr/>
                    <a:lstStyle/>
                    <a:p>
                      <a:pPr algn="ctr" rtl="0" fontAlgn="ctr"/>
                      <a:r>
                        <a:rPr lang="es-PE" sz="2000" u="none" strike="noStrike" dirty="0">
                          <a:effectLst/>
                        </a:rPr>
                        <a:t>28</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20</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26</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24</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27</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dirty="0">
                        <a:solidFill>
                          <a:srgbClr val="FF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a:solidFill>
                          <a:srgbClr val="000000"/>
                        </a:solidFill>
                        <a:effectLst/>
                        <a:latin typeface="Arial Narrow"/>
                      </a:endParaRPr>
                    </a:p>
                  </a:txBody>
                  <a:tcPr marL="8527" marR="8527" marT="8527" marB="0" anchor="b"/>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dirty="0">
                        <a:solidFill>
                          <a:srgbClr val="C9211E"/>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10001"/>
                  </a:ext>
                </a:extLst>
              </a:tr>
              <a:tr h="456331">
                <a:tc>
                  <a:txBody>
                    <a:bodyPr/>
                    <a:lstStyle/>
                    <a:p>
                      <a:pPr algn="ctr" rtl="0" fontAlgn="ctr"/>
                      <a:r>
                        <a:rPr lang="es-PE" sz="2000" u="none" strike="noStrike">
                          <a:effectLst/>
                        </a:rPr>
                        <a:t>26</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27</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21</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25</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30</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dirty="0">
                        <a:solidFill>
                          <a:srgbClr val="FF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a:solidFill>
                          <a:srgbClr val="000000"/>
                        </a:solidFill>
                        <a:effectLst/>
                        <a:latin typeface="Arial Narrow"/>
                      </a:endParaRPr>
                    </a:p>
                  </a:txBody>
                  <a:tcPr marL="8527" marR="8527" marT="8527" marB="0" anchor="b"/>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C9211E"/>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10002"/>
                  </a:ext>
                </a:extLst>
              </a:tr>
              <a:tr h="456331">
                <a:tc>
                  <a:txBody>
                    <a:bodyPr/>
                    <a:lstStyle/>
                    <a:p>
                      <a:pPr algn="ctr" rtl="0" fontAlgn="ctr"/>
                      <a:r>
                        <a:rPr lang="es-PE" sz="2000" u="none" strike="noStrike">
                          <a:effectLst/>
                        </a:rPr>
                        <a:t>30</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22</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29</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29</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31</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dirty="0">
                        <a:solidFill>
                          <a:srgbClr val="FF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a:solidFill>
                          <a:srgbClr val="000000"/>
                        </a:solidFill>
                        <a:effectLst/>
                        <a:latin typeface="Arial Narrow"/>
                      </a:endParaRPr>
                    </a:p>
                  </a:txBody>
                  <a:tcPr marL="8527" marR="8527" marT="8527" marB="0" anchor="b"/>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C9211E"/>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10003"/>
                  </a:ext>
                </a:extLst>
              </a:tr>
              <a:tr h="456331">
                <a:tc>
                  <a:txBody>
                    <a:bodyPr/>
                    <a:lstStyle/>
                    <a:p>
                      <a:pPr algn="ctr" rtl="0" fontAlgn="ctr"/>
                      <a:r>
                        <a:rPr lang="es-PE" sz="2000" u="none" strike="noStrike">
                          <a:effectLst/>
                        </a:rPr>
                        <a:t>30</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36</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32</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23</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33</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dirty="0">
                        <a:solidFill>
                          <a:srgbClr val="FF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a:solidFill>
                          <a:srgbClr val="000000"/>
                        </a:solidFill>
                        <a:effectLst/>
                        <a:latin typeface="Arial Narrow"/>
                      </a:endParaRPr>
                    </a:p>
                  </a:txBody>
                  <a:tcPr marL="8527" marR="8527" marT="8527" marB="0" anchor="b"/>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endParaRPr lang="es-PE" sz="2000" b="1" i="0" u="none" strike="noStrike" dirty="0">
                        <a:solidFill>
                          <a:srgbClr val="C9211E"/>
                        </a:solidFill>
                        <a:effectLst/>
                        <a:latin typeface="Arial Narrow"/>
                      </a:endParaRPr>
                    </a:p>
                  </a:txBody>
                  <a:tcPr marL="8527" marR="8527" marT="8527" marB="0" anchor="ctr">
                    <a:solidFill>
                      <a:srgbClr val="FFFF00"/>
                    </a:solidFill>
                  </a:tcPr>
                </a:tc>
                <a:tc>
                  <a:txBody>
                    <a:bodyPr/>
                    <a:lstStyle/>
                    <a:p>
                      <a:pPr algn="ctr" fontAlgn="b"/>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10004"/>
                  </a:ext>
                </a:extLst>
              </a:tr>
              <a:tr h="456331">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l" fontAlgn="b"/>
                      <a:endParaRPr lang="es-PE" sz="2000" b="1" i="0" u="none" strike="noStrike">
                        <a:solidFill>
                          <a:srgbClr val="000000"/>
                        </a:solidFill>
                        <a:effectLst/>
                        <a:latin typeface="Arial Narrow"/>
                      </a:endParaRPr>
                    </a:p>
                  </a:txBody>
                  <a:tcPr marL="8527" marR="8527" marT="8527" marB="0" anchor="b"/>
                </a:tc>
                <a:tc>
                  <a:txBody>
                    <a:bodyPr/>
                    <a:lstStyle/>
                    <a:p>
                      <a:pPr algn="ctr" fontAlgn="b"/>
                      <a:endParaRPr lang="es-PE" sz="2000" b="1" i="0" u="none" strike="noStrike" dirty="0">
                        <a:solidFill>
                          <a:srgbClr val="FF0000"/>
                        </a:solidFill>
                        <a:effectLst/>
                        <a:latin typeface="Arial Narrow"/>
                      </a:endParaRPr>
                    </a:p>
                  </a:txBody>
                  <a:tcPr marL="8527" marR="8527" marT="8527" marB="0" anchor="b"/>
                </a:tc>
                <a:tc>
                  <a:txBody>
                    <a:bodyPr/>
                    <a:lstStyle/>
                    <a:p>
                      <a:pPr algn="ctr" fontAlgn="b"/>
                      <a:endParaRPr lang="es-PE" sz="2000" b="1" i="0" u="none" strike="noStrike" dirty="0">
                        <a:solidFill>
                          <a:srgbClr val="FF0000"/>
                        </a:solidFill>
                        <a:effectLst/>
                        <a:latin typeface="Arial Narrow"/>
                      </a:endParaRPr>
                    </a:p>
                  </a:txBody>
                  <a:tcPr marL="8527" marR="8527" marT="8527" marB="0" anchor="b"/>
                </a:tc>
                <a:tc>
                  <a:txBody>
                    <a:bodyPr/>
                    <a:lstStyle/>
                    <a:p>
                      <a:pPr algn="ctr" fontAlgn="b"/>
                      <a:endParaRPr lang="es-PE" sz="2000" b="1" i="0" u="none" strike="noStrike" dirty="0">
                        <a:solidFill>
                          <a:srgbClr val="FF0000"/>
                        </a:solidFill>
                        <a:effectLst/>
                        <a:latin typeface="Arial Narrow"/>
                      </a:endParaRPr>
                    </a:p>
                  </a:txBody>
                  <a:tcPr marL="8527" marR="8527" marT="8527" marB="0" anchor="b"/>
                </a:tc>
                <a:tc>
                  <a:txBody>
                    <a:bodyPr/>
                    <a:lstStyle/>
                    <a:p>
                      <a:pPr algn="ctr" fontAlgn="b"/>
                      <a:endParaRPr lang="es-PE" sz="2000" b="1" i="0" u="none" strike="noStrike" dirty="0">
                        <a:solidFill>
                          <a:srgbClr val="FF0000"/>
                        </a:solidFill>
                        <a:effectLst/>
                        <a:latin typeface="Arial Narrow"/>
                      </a:endParaRPr>
                    </a:p>
                  </a:txBody>
                  <a:tcPr marL="8527" marR="8527" marT="8527" marB="0" anchor="b"/>
                </a:tc>
                <a:tc>
                  <a:txBody>
                    <a:bodyPr/>
                    <a:lstStyle/>
                    <a:p>
                      <a:pPr algn="ctr" fontAlgn="b"/>
                      <a:endParaRPr lang="es-PE" sz="2000" b="1" i="0" u="none" strike="noStrike" dirty="0">
                        <a:solidFill>
                          <a:srgbClr val="FF0000"/>
                        </a:solidFill>
                        <a:effectLst/>
                        <a:latin typeface="Arial Narrow"/>
                      </a:endParaRPr>
                    </a:p>
                  </a:txBody>
                  <a:tcPr marL="8527" marR="8527" marT="8527" marB="0" anchor="b"/>
                </a:tc>
                <a:tc>
                  <a:txBody>
                    <a:bodyPr/>
                    <a:lstStyle/>
                    <a:p>
                      <a:pPr algn="ctr" fontAlgn="b"/>
                      <a:endParaRPr lang="es-PE" sz="2000" b="1" i="0" u="none" strike="noStrike" dirty="0">
                        <a:solidFill>
                          <a:srgbClr val="000000"/>
                        </a:solidFill>
                        <a:effectLst/>
                        <a:latin typeface="Arial Narrow"/>
                      </a:endParaRPr>
                    </a:p>
                  </a:txBody>
                  <a:tcPr marL="8527" marR="8527" marT="8527" marB="0" anchor="b"/>
                </a:tc>
                <a:tc>
                  <a:txBody>
                    <a:bodyPr/>
                    <a:lstStyle/>
                    <a:p>
                      <a:pPr algn="ctr" fontAlgn="b"/>
                      <a:endParaRPr lang="es-PE" sz="2000" b="1" i="0" u="none" strike="noStrike" dirty="0">
                        <a:solidFill>
                          <a:srgbClr val="000000"/>
                        </a:solidFill>
                        <a:effectLst/>
                        <a:latin typeface="Arial Narrow"/>
                      </a:endParaRPr>
                    </a:p>
                  </a:txBody>
                  <a:tcPr marL="8527" marR="8527" marT="8527" marB="0" anchor="b"/>
                </a:tc>
                <a:tc>
                  <a:txBody>
                    <a:bodyPr/>
                    <a:lstStyle/>
                    <a:p>
                      <a:pPr algn="ctr" fontAlgn="b"/>
                      <a:endParaRPr lang="es-PE" sz="2000" b="1" i="0" u="none" strike="noStrike" dirty="0">
                        <a:solidFill>
                          <a:srgbClr val="000000"/>
                        </a:solidFill>
                        <a:effectLst/>
                        <a:latin typeface="Arial Narrow"/>
                      </a:endParaRPr>
                    </a:p>
                  </a:txBody>
                  <a:tcPr marL="8527" marR="8527" marT="8527" marB="0" anchor="b"/>
                </a:tc>
                <a:tc>
                  <a:txBody>
                    <a:bodyPr/>
                    <a:lstStyle/>
                    <a:p>
                      <a:pPr algn="ctr" fontAlgn="b"/>
                      <a:endParaRPr lang="es-PE" sz="2000" b="1" i="0" u="none" strike="noStrike" dirty="0">
                        <a:solidFill>
                          <a:srgbClr val="000000"/>
                        </a:solidFill>
                        <a:effectLst/>
                        <a:latin typeface="Arial Narrow"/>
                      </a:endParaRPr>
                    </a:p>
                  </a:txBody>
                  <a:tcPr marL="8527" marR="8527" marT="8527" marB="0" anchor="b"/>
                </a:tc>
                <a:tc>
                  <a:txBody>
                    <a:bodyPr/>
                    <a:lstStyle/>
                    <a:p>
                      <a:pPr algn="ctr" fontAlgn="b"/>
                      <a:endParaRPr lang="es-PE" sz="2000" b="1" i="0" u="none" strike="noStrike" dirty="0">
                        <a:solidFill>
                          <a:srgbClr val="000000"/>
                        </a:solidFill>
                        <a:effectLst/>
                        <a:latin typeface="Arial Narrow"/>
                      </a:endParaRPr>
                    </a:p>
                  </a:txBody>
                  <a:tcPr marL="8527" marR="8527" marT="8527" marB="0" anchor="b"/>
                </a:tc>
                <a:tc>
                  <a:txBody>
                    <a:bodyPr/>
                    <a:lstStyle/>
                    <a:p>
                      <a:pPr algn="ctr" fontAlgn="b"/>
                      <a:endParaRPr lang="es-PE" sz="2000" b="1" i="0" u="none" strike="noStrike" dirty="0">
                        <a:solidFill>
                          <a:srgbClr val="000000"/>
                        </a:solidFill>
                        <a:effectLst/>
                        <a:latin typeface="Arial Narrow"/>
                      </a:endParaRPr>
                    </a:p>
                  </a:txBody>
                  <a:tcPr marL="8527" marR="8527" marT="8527" marB="0" anchor="b"/>
                </a:tc>
                <a:extLst>
                  <a:ext uri="{0D108BD9-81ED-4DB2-BD59-A6C34878D82A}">
                    <a16:rowId xmlns:a16="http://schemas.microsoft.com/office/drawing/2014/main" val="10005"/>
                  </a:ext>
                </a:extLst>
              </a:tr>
            </a:tbl>
          </a:graphicData>
        </a:graphic>
      </p:graphicFrame>
      <p:sp>
        <p:nvSpPr>
          <p:cNvPr id="3" name="1 Título"/>
          <p:cNvSpPr>
            <a:spLocks noGrp="1"/>
          </p:cNvSpPr>
          <p:nvPr>
            <p:ph type="title"/>
          </p:nvPr>
        </p:nvSpPr>
        <p:spPr>
          <a:xfrm>
            <a:off x="2999656" y="692696"/>
            <a:ext cx="6048672" cy="490066"/>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r>
              <a:rPr lang="es-ES" sz="3200" dirty="0">
                <a:solidFill>
                  <a:schemeClr val="bg1"/>
                </a:solidFill>
                <a:latin typeface="Bauhaus 93" pitchFamily="82" charset="0"/>
                <a:ea typeface="+mn-ea"/>
                <a:cs typeface="+mn-cs"/>
              </a:rPr>
              <a:t>Problema </a:t>
            </a:r>
            <a:r>
              <a:rPr lang="es-ES" sz="3200" dirty="0" err="1">
                <a:solidFill>
                  <a:schemeClr val="bg1"/>
                </a:solidFill>
                <a:latin typeface="Bauhaus 93" pitchFamily="82" charset="0"/>
                <a:ea typeface="+mn-ea"/>
                <a:cs typeface="+mn-cs"/>
              </a:rPr>
              <a:t>N°4</a:t>
            </a:r>
            <a:endParaRPr lang="es-PE" sz="3200" dirty="0">
              <a:solidFill>
                <a:schemeClr val="bg1"/>
              </a:solidFill>
              <a:latin typeface="Bauhaus 93" pitchFamily="82" charset="0"/>
              <a:ea typeface="+mn-ea"/>
              <a:cs typeface="+mn-cs"/>
            </a:endParaRPr>
          </a:p>
        </p:txBody>
      </p:sp>
      <p:sp>
        <p:nvSpPr>
          <p:cNvPr id="5" name="1 Título">
            <a:extLst>
              <a:ext uri="{FF2B5EF4-FFF2-40B4-BE49-F238E27FC236}">
                <a16:creationId xmlns:a16="http://schemas.microsoft.com/office/drawing/2014/main" id="{75BB5010-06B6-4866-89ED-697181DE2269}"/>
              </a:ext>
            </a:extLst>
          </p:cNvPr>
          <p:cNvSpPr txBox="1">
            <a:spLocks/>
          </p:cNvSpPr>
          <p:nvPr/>
        </p:nvSpPr>
        <p:spPr>
          <a:xfrm>
            <a:off x="6096000" y="304507"/>
            <a:ext cx="6096000" cy="490066"/>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Problema 4</a:t>
            </a:r>
            <a:endParaRPr lang="es-PE" sz="3200" dirty="0">
              <a:solidFill>
                <a:schemeClr val="bg1"/>
              </a:solidFill>
              <a:latin typeface="Bauhaus 93" pitchFamily="82" charset="0"/>
              <a:ea typeface="+mn-ea"/>
              <a:cs typeface="+mn-cs"/>
            </a:endParaRPr>
          </a:p>
        </p:txBody>
      </p:sp>
      <p:graphicFrame>
        <p:nvGraphicFramePr>
          <p:cNvPr id="2" name="Tabla 1">
            <a:extLst>
              <a:ext uri="{FF2B5EF4-FFF2-40B4-BE49-F238E27FC236}">
                <a16:creationId xmlns:a16="http://schemas.microsoft.com/office/drawing/2014/main" id="{2A5FD421-90EA-48A0-97DB-99064AFBCF7A}"/>
              </a:ext>
            </a:extLst>
          </p:cNvPr>
          <p:cNvGraphicFramePr>
            <a:graphicFrameLocks noGrp="1"/>
          </p:cNvGraphicFramePr>
          <p:nvPr>
            <p:extLst>
              <p:ext uri="{D42A27DB-BD31-4B8C-83A1-F6EECF244321}">
                <p14:modId xmlns:p14="http://schemas.microsoft.com/office/powerpoint/2010/main" val="2641114548"/>
              </p:ext>
            </p:extLst>
          </p:nvPr>
        </p:nvGraphicFramePr>
        <p:xfrm>
          <a:off x="1918042" y="4223769"/>
          <a:ext cx="8424923" cy="2263296"/>
        </p:xfrm>
        <a:graphic>
          <a:graphicData uri="http://schemas.openxmlformats.org/drawingml/2006/table">
            <a:tbl>
              <a:tblPr>
                <a:tableStyleId>{5C22544A-7EE6-4342-B048-85BDC9FD1C3A}</a:tableStyleId>
              </a:tblPr>
              <a:tblGrid>
                <a:gridCol w="460882">
                  <a:extLst>
                    <a:ext uri="{9D8B030D-6E8A-4147-A177-3AD203B41FA5}">
                      <a16:colId xmlns:a16="http://schemas.microsoft.com/office/drawing/2014/main" val="1508950435"/>
                    </a:ext>
                  </a:extLst>
                </a:gridCol>
                <a:gridCol w="460882">
                  <a:extLst>
                    <a:ext uri="{9D8B030D-6E8A-4147-A177-3AD203B41FA5}">
                      <a16:colId xmlns:a16="http://schemas.microsoft.com/office/drawing/2014/main" val="523921720"/>
                    </a:ext>
                  </a:extLst>
                </a:gridCol>
                <a:gridCol w="460882">
                  <a:extLst>
                    <a:ext uri="{9D8B030D-6E8A-4147-A177-3AD203B41FA5}">
                      <a16:colId xmlns:a16="http://schemas.microsoft.com/office/drawing/2014/main" val="3687586359"/>
                    </a:ext>
                  </a:extLst>
                </a:gridCol>
                <a:gridCol w="460882">
                  <a:extLst>
                    <a:ext uri="{9D8B030D-6E8A-4147-A177-3AD203B41FA5}">
                      <a16:colId xmlns:a16="http://schemas.microsoft.com/office/drawing/2014/main" val="1566012305"/>
                    </a:ext>
                  </a:extLst>
                </a:gridCol>
                <a:gridCol w="460882">
                  <a:extLst>
                    <a:ext uri="{9D8B030D-6E8A-4147-A177-3AD203B41FA5}">
                      <a16:colId xmlns:a16="http://schemas.microsoft.com/office/drawing/2014/main" val="2667300801"/>
                    </a:ext>
                  </a:extLst>
                </a:gridCol>
                <a:gridCol w="460882">
                  <a:extLst>
                    <a:ext uri="{9D8B030D-6E8A-4147-A177-3AD203B41FA5}">
                      <a16:colId xmlns:a16="http://schemas.microsoft.com/office/drawing/2014/main" val="2094323107"/>
                    </a:ext>
                  </a:extLst>
                </a:gridCol>
                <a:gridCol w="460882">
                  <a:extLst>
                    <a:ext uri="{9D8B030D-6E8A-4147-A177-3AD203B41FA5}">
                      <a16:colId xmlns:a16="http://schemas.microsoft.com/office/drawing/2014/main" val="751346198"/>
                    </a:ext>
                  </a:extLst>
                </a:gridCol>
                <a:gridCol w="2304410">
                  <a:extLst>
                    <a:ext uri="{9D8B030D-6E8A-4147-A177-3AD203B41FA5}">
                      <a16:colId xmlns:a16="http://schemas.microsoft.com/office/drawing/2014/main" val="3169721103"/>
                    </a:ext>
                  </a:extLst>
                </a:gridCol>
                <a:gridCol w="460882">
                  <a:extLst>
                    <a:ext uri="{9D8B030D-6E8A-4147-A177-3AD203B41FA5}">
                      <a16:colId xmlns:a16="http://schemas.microsoft.com/office/drawing/2014/main" val="2583130285"/>
                    </a:ext>
                  </a:extLst>
                </a:gridCol>
                <a:gridCol w="1382646">
                  <a:extLst>
                    <a:ext uri="{9D8B030D-6E8A-4147-A177-3AD203B41FA5}">
                      <a16:colId xmlns:a16="http://schemas.microsoft.com/office/drawing/2014/main" val="1969803002"/>
                    </a:ext>
                  </a:extLst>
                </a:gridCol>
                <a:gridCol w="589929">
                  <a:extLst>
                    <a:ext uri="{9D8B030D-6E8A-4147-A177-3AD203B41FA5}">
                      <a16:colId xmlns:a16="http://schemas.microsoft.com/office/drawing/2014/main" val="2964939984"/>
                    </a:ext>
                  </a:extLst>
                </a:gridCol>
                <a:gridCol w="460882">
                  <a:extLst>
                    <a:ext uri="{9D8B030D-6E8A-4147-A177-3AD203B41FA5}">
                      <a16:colId xmlns:a16="http://schemas.microsoft.com/office/drawing/2014/main" val="654368032"/>
                    </a:ext>
                  </a:extLst>
                </a:gridCol>
              </a:tblGrid>
              <a:tr h="413457">
                <a:tc gridSpan="6">
                  <a:txBody>
                    <a:bodyPr/>
                    <a:lstStyle/>
                    <a:p>
                      <a:pPr algn="ctr" fontAlgn="b"/>
                      <a:r>
                        <a:rPr lang="es-PE" sz="2000" b="1" u="none" strike="noStrike" dirty="0">
                          <a:effectLst/>
                        </a:rPr>
                        <a:t>Al Trabajador</a:t>
                      </a:r>
                      <a:endParaRPr lang="es-PE" sz="2000" b="1" i="0" u="none" strike="noStrike" dirty="0">
                        <a:solidFill>
                          <a:srgbClr val="000000"/>
                        </a:solidFill>
                        <a:effectLst/>
                        <a:latin typeface="Arial"/>
                      </a:endParaRPr>
                    </a:p>
                  </a:txBody>
                  <a:tcPr marL="8527" marR="8527" marT="8527"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rPr>
                        <a:t>1</a:t>
                      </a:r>
                      <a:endParaRPr lang="es-PE" sz="2000" b="1" i="0" u="none" strike="noStrike" dirty="0">
                        <a:solidFill>
                          <a:srgbClr val="FF0000"/>
                        </a:solidFill>
                        <a:effectLst/>
                        <a:latin typeface="Arial"/>
                      </a:endParaRPr>
                    </a:p>
                  </a:txBody>
                  <a:tcPr marL="8527" marR="8527" marT="8527" marB="0" anchor="ctr"/>
                </a:tc>
                <a:tc>
                  <a:txBody>
                    <a:bodyPr/>
                    <a:lstStyle/>
                    <a:p>
                      <a:pPr algn="ctr" fontAlgn="ctr"/>
                      <a:r>
                        <a:rPr lang="it-IT" sz="2000" b="1" u="none" strike="noStrike" dirty="0">
                          <a:effectLst/>
                        </a:rPr>
                        <a:t>Se le asigna la tarea</a:t>
                      </a:r>
                      <a:endParaRPr lang="it-IT" sz="2000" b="1" i="0" u="none" strike="noStrike" dirty="0">
                        <a:solidFill>
                          <a:srgbClr val="000000"/>
                        </a:solidFill>
                        <a:effectLst/>
                        <a:latin typeface="Arial"/>
                      </a:endParaRPr>
                    </a:p>
                  </a:txBody>
                  <a:tcPr marL="8527" marR="8527" marT="8527" marB="0" anchor="ctr"/>
                </a:tc>
                <a:tc>
                  <a:txBody>
                    <a:bodyPr/>
                    <a:lstStyle/>
                    <a:p>
                      <a:pPr algn="ctr" fontAlgn="b"/>
                      <a:r>
                        <a:rPr lang="es-PE" sz="2000" b="1" u="none" strike="noStrike" dirty="0">
                          <a:effectLst/>
                        </a:rPr>
                        <a:t>1</a:t>
                      </a:r>
                      <a:endParaRPr lang="es-PE" sz="2000" b="1" i="0" u="none" strike="noStrike" dirty="0">
                        <a:solidFill>
                          <a:srgbClr val="000000"/>
                        </a:solidFill>
                        <a:effectLst/>
                        <a:latin typeface="Arial"/>
                      </a:endParaRPr>
                    </a:p>
                  </a:txBody>
                  <a:tcPr marL="8527" marR="8527" marT="8527" marB="0" anchor="ctr"/>
                </a:tc>
                <a:tc>
                  <a:txBody>
                    <a:bodyPr/>
                    <a:lstStyle/>
                    <a:p>
                      <a:pPr algn="l" fontAlgn="b"/>
                      <a:r>
                        <a:rPr lang="es-PE" sz="2000" b="1" u="none" strike="noStrike" dirty="0">
                          <a:effectLst/>
                        </a:rPr>
                        <a:t>El costo es</a:t>
                      </a:r>
                      <a:endParaRPr lang="es-PE" sz="2000" b="1" i="0" u="none" strike="noStrike" dirty="0">
                        <a:solidFill>
                          <a:srgbClr val="000000"/>
                        </a:solidFill>
                        <a:effectLst/>
                        <a:latin typeface="Arial"/>
                      </a:endParaRPr>
                    </a:p>
                  </a:txBody>
                  <a:tcPr marL="8527" marR="8527" marT="8527" marB="0" anchor="ctr"/>
                </a:tc>
                <a:tc>
                  <a:txBody>
                    <a:bodyPr/>
                    <a:lstStyle/>
                    <a:p>
                      <a:pPr algn="ctr" fontAlgn="b"/>
                      <a:r>
                        <a:rPr lang="es-PE" sz="2000" b="1" u="none" strike="noStrike">
                          <a:effectLst/>
                        </a:rPr>
                        <a:t>25</a:t>
                      </a:r>
                      <a:endParaRPr lang="es-PE" sz="2000" b="1" i="0" u="none" strike="noStrike">
                        <a:solidFill>
                          <a:srgbClr val="000000"/>
                        </a:solidFill>
                        <a:effectLst/>
                        <a:latin typeface="Arial"/>
                      </a:endParaRPr>
                    </a:p>
                  </a:txBody>
                  <a:tcPr marL="8527" marR="8527" marT="8527" marB="0" anchor="ctr"/>
                </a:tc>
                <a:tc>
                  <a:txBody>
                    <a:bodyPr/>
                    <a:lstStyle/>
                    <a:p>
                      <a:pPr algn="l" fontAlgn="b"/>
                      <a:endParaRPr lang="es-PE" sz="2000" b="1" i="0" u="none" strike="noStrike" dirty="0">
                        <a:solidFill>
                          <a:srgbClr val="000000"/>
                        </a:solidFill>
                        <a:effectLst/>
                        <a:latin typeface="Arial Narrow"/>
                      </a:endParaRPr>
                    </a:p>
                  </a:txBody>
                  <a:tcPr marL="8527" marR="8527" marT="8527" marB="0" anchor="ctr"/>
                </a:tc>
                <a:extLst>
                  <a:ext uri="{0D108BD9-81ED-4DB2-BD59-A6C34878D82A}">
                    <a16:rowId xmlns:a16="http://schemas.microsoft.com/office/drawing/2014/main" val="114014896"/>
                  </a:ext>
                </a:extLst>
              </a:tr>
              <a:tr h="379824">
                <a:tc gridSpan="6">
                  <a:txBody>
                    <a:bodyPr/>
                    <a:lstStyle/>
                    <a:p>
                      <a:pPr algn="ctr" fontAlgn="b"/>
                      <a:r>
                        <a:rPr lang="es-PE" sz="2000" b="1" u="none" strike="noStrike" dirty="0">
                          <a:effectLst/>
                        </a:rPr>
                        <a:t>Al Trabajador</a:t>
                      </a:r>
                      <a:endParaRPr lang="es-PE" sz="2000" b="1" i="0" u="none" strike="noStrike" dirty="0">
                        <a:solidFill>
                          <a:srgbClr val="000000"/>
                        </a:solidFill>
                        <a:effectLst/>
                        <a:latin typeface="Arial"/>
                      </a:endParaRPr>
                    </a:p>
                  </a:txBody>
                  <a:tcPr marL="8527" marR="8527" marT="8527"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a:effectLst/>
                        </a:rPr>
                        <a:t>2</a:t>
                      </a:r>
                      <a:endParaRPr lang="es-PE" sz="2000" b="1" i="0" u="none" strike="noStrike">
                        <a:solidFill>
                          <a:srgbClr val="000000"/>
                        </a:solidFill>
                        <a:effectLst/>
                        <a:latin typeface="Arial"/>
                      </a:endParaRPr>
                    </a:p>
                  </a:txBody>
                  <a:tcPr marL="8527" marR="8527" marT="8527" marB="0" anchor="ctr"/>
                </a:tc>
                <a:tc>
                  <a:txBody>
                    <a:bodyPr/>
                    <a:lstStyle/>
                    <a:p>
                      <a:pPr algn="ctr" fontAlgn="ctr"/>
                      <a:r>
                        <a:rPr lang="it-IT" sz="2000" b="1" u="none" strike="noStrike">
                          <a:effectLst/>
                        </a:rPr>
                        <a:t>Se le asigna la tarea</a:t>
                      </a:r>
                      <a:endParaRPr lang="it-IT" sz="2000" b="1" i="0" u="none" strike="noStrike">
                        <a:solidFill>
                          <a:srgbClr val="000000"/>
                        </a:solidFill>
                        <a:effectLst/>
                        <a:latin typeface="Arial"/>
                      </a:endParaRPr>
                    </a:p>
                  </a:txBody>
                  <a:tcPr marL="8527" marR="8527" marT="8527" marB="0" anchor="ctr"/>
                </a:tc>
                <a:tc>
                  <a:txBody>
                    <a:bodyPr/>
                    <a:lstStyle/>
                    <a:p>
                      <a:pPr algn="ctr" fontAlgn="b"/>
                      <a:r>
                        <a:rPr lang="es-PE" sz="2000" b="1" u="none" strike="noStrike">
                          <a:effectLst/>
                        </a:rPr>
                        <a:t>5</a:t>
                      </a:r>
                      <a:endParaRPr lang="es-PE" sz="2000" b="1" i="0" u="none" strike="noStrike">
                        <a:solidFill>
                          <a:srgbClr val="000000"/>
                        </a:solidFill>
                        <a:effectLst/>
                        <a:latin typeface="Arial"/>
                      </a:endParaRPr>
                    </a:p>
                  </a:txBody>
                  <a:tcPr marL="8527" marR="8527" marT="8527" marB="0" anchor="ctr"/>
                </a:tc>
                <a:tc>
                  <a:txBody>
                    <a:bodyPr/>
                    <a:lstStyle/>
                    <a:p>
                      <a:pPr algn="l" fontAlgn="b"/>
                      <a:r>
                        <a:rPr lang="es-PE" sz="2000" b="1" u="none" strike="noStrike" dirty="0">
                          <a:effectLst/>
                        </a:rPr>
                        <a:t>El costo es</a:t>
                      </a:r>
                      <a:endParaRPr lang="es-PE" sz="2000" b="1" i="0" u="none" strike="noStrike" dirty="0">
                        <a:solidFill>
                          <a:srgbClr val="000000"/>
                        </a:solidFill>
                        <a:effectLst/>
                        <a:latin typeface="Arial"/>
                      </a:endParaRPr>
                    </a:p>
                  </a:txBody>
                  <a:tcPr marL="8527" marR="8527" marT="8527" marB="0" anchor="ctr"/>
                </a:tc>
                <a:tc>
                  <a:txBody>
                    <a:bodyPr/>
                    <a:lstStyle/>
                    <a:p>
                      <a:pPr algn="ctr" fontAlgn="b"/>
                      <a:r>
                        <a:rPr lang="es-PE" sz="2000" b="1" u="none" strike="noStrike" dirty="0">
                          <a:effectLst/>
                        </a:rPr>
                        <a:t>27</a:t>
                      </a:r>
                      <a:endParaRPr lang="es-PE" sz="2000" b="1" i="0" u="none" strike="noStrike" dirty="0">
                        <a:solidFill>
                          <a:srgbClr val="000000"/>
                        </a:solidFill>
                        <a:effectLst/>
                        <a:latin typeface="Arial"/>
                      </a:endParaRPr>
                    </a:p>
                  </a:txBody>
                  <a:tcPr marL="8527" marR="8527" marT="8527" marB="0" anchor="ctr"/>
                </a:tc>
                <a:tc>
                  <a:txBody>
                    <a:bodyPr/>
                    <a:lstStyle/>
                    <a:p>
                      <a:pPr algn="l" fontAlgn="b"/>
                      <a:endParaRPr lang="es-PE" sz="2000" b="1" i="0" u="none" strike="noStrike">
                        <a:solidFill>
                          <a:srgbClr val="000000"/>
                        </a:solidFill>
                        <a:effectLst/>
                        <a:latin typeface="Arial Narrow"/>
                      </a:endParaRPr>
                    </a:p>
                  </a:txBody>
                  <a:tcPr marL="8527" marR="8527" marT="8527" marB="0" anchor="ctr"/>
                </a:tc>
                <a:extLst>
                  <a:ext uri="{0D108BD9-81ED-4DB2-BD59-A6C34878D82A}">
                    <a16:rowId xmlns:a16="http://schemas.microsoft.com/office/drawing/2014/main" val="2916303594"/>
                  </a:ext>
                </a:extLst>
              </a:tr>
              <a:tr h="379824">
                <a:tc gridSpan="6">
                  <a:txBody>
                    <a:bodyPr/>
                    <a:lstStyle/>
                    <a:p>
                      <a:pPr algn="ctr" fontAlgn="b"/>
                      <a:r>
                        <a:rPr lang="es-PE" sz="2000" b="1" u="none" strike="noStrike" dirty="0">
                          <a:effectLst/>
                        </a:rPr>
                        <a:t>Al Trabajador</a:t>
                      </a:r>
                      <a:endParaRPr lang="es-PE" sz="2000" b="1" i="0" u="none" strike="noStrike" dirty="0">
                        <a:solidFill>
                          <a:srgbClr val="000000"/>
                        </a:solidFill>
                        <a:effectLst/>
                        <a:latin typeface="Arial"/>
                      </a:endParaRPr>
                    </a:p>
                  </a:txBody>
                  <a:tcPr marL="8527" marR="8527" marT="8527"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a:effectLst/>
                        </a:rPr>
                        <a:t>3</a:t>
                      </a:r>
                      <a:endParaRPr lang="es-PE" sz="2000" b="1" i="0" u="none" strike="noStrike">
                        <a:solidFill>
                          <a:srgbClr val="000000"/>
                        </a:solidFill>
                        <a:effectLst/>
                        <a:latin typeface="Arial"/>
                      </a:endParaRPr>
                    </a:p>
                  </a:txBody>
                  <a:tcPr marL="8527" marR="8527" marT="8527" marB="0" anchor="ctr"/>
                </a:tc>
                <a:tc>
                  <a:txBody>
                    <a:bodyPr/>
                    <a:lstStyle/>
                    <a:p>
                      <a:pPr algn="ctr" fontAlgn="ctr"/>
                      <a:r>
                        <a:rPr lang="it-IT" sz="2000" b="1" u="none" strike="noStrike">
                          <a:effectLst/>
                        </a:rPr>
                        <a:t>Se le asigna la tarea</a:t>
                      </a:r>
                      <a:endParaRPr lang="it-IT" sz="2000" b="1" i="0" u="none" strike="noStrike">
                        <a:solidFill>
                          <a:srgbClr val="000000"/>
                        </a:solidFill>
                        <a:effectLst/>
                        <a:latin typeface="Arial"/>
                      </a:endParaRPr>
                    </a:p>
                  </a:txBody>
                  <a:tcPr marL="8527" marR="8527" marT="8527" marB="0" anchor="ctr"/>
                </a:tc>
                <a:tc>
                  <a:txBody>
                    <a:bodyPr/>
                    <a:lstStyle/>
                    <a:p>
                      <a:pPr algn="ctr" fontAlgn="b"/>
                      <a:r>
                        <a:rPr lang="es-PE" sz="2000" b="1" u="none" strike="noStrike">
                          <a:effectLst/>
                        </a:rPr>
                        <a:t>3</a:t>
                      </a:r>
                      <a:endParaRPr lang="es-PE" sz="2000" b="1" i="0" u="none" strike="noStrike">
                        <a:solidFill>
                          <a:srgbClr val="000000"/>
                        </a:solidFill>
                        <a:effectLst/>
                        <a:latin typeface="Arial"/>
                      </a:endParaRPr>
                    </a:p>
                  </a:txBody>
                  <a:tcPr marL="8527" marR="8527" marT="8527" marB="0" anchor="ctr"/>
                </a:tc>
                <a:tc>
                  <a:txBody>
                    <a:bodyPr/>
                    <a:lstStyle/>
                    <a:p>
                      <a:pPr algn="l" fontAlgn="b"/>
                      <a:r>
                        <a:rPr lang="es-PE" sz="2000" b="1" u="none" strike="noStrike">
                          <a:effectLst/>
                        </a:rPr>
                        <a:t>El costo es</a:t>
                      </a:r>
                      <a:endParaRPr lang="es-PE" sz="2000" b="1" i="0" u="none" strike="noStrike">
                        <a:solidFill>
                          <a:srgbClr val="000000"/>
                        </a:solidFill>
                        <a:effectLst/>
                        <a:latin typeface="Arial"/>
                      </a:endParaRPr>
                    </a:p>
                  </a:txBody>
                  <a:tcPr marL="8527" marR="8527" marT="8527" marB="0" anchor="ctr"/>
                </a:tc>
                <a:tc>
                  <a:txBody>
                    <a:bodyPr/>
                    <a:lstStyle/>
                    <a:p>
                      <a:pPr algn="ctr" fontAlgn="b"/>
                      <a:r>
                        <a:rPr lang="es-PE" sz="2000" b="1" u="none" strike="noStrike" dirty="0">
                          <a:effectLst/>
                        </a:rPr>
                        <a:t>21</a:t>
                      </a:r>
                      <a:endParaRPr lang="es-PE" sz="2000" b="1" i="0" u="none" strike="noStrike" dirty="0">
                        <a:solidFill>
                          <a:srgbClr val="000000"/>
                        </a:solidFill>
                        <a:effectLst/>
                        <a:latin typeface="Arial"/>
                      </a:endParaRPr>
                    </a:p>
                  </a:txBody>
                  <a:tcPr marL="8527" marR="8527" marT="8527" marB="0" anchor="ctr"/>
                </a:tc>
                <a:tc>
                  <a:txBody>
                    <a:bodyPr/>
                    <a:lstStyle/>
                    <a:p>
                      <a:pPr algn="l" fontAlgn="b"/>
                      <a:endParaRPr lang="es-PE" sz="2000" b="1" i="0" u="none" strike="noStrike">
                        <a:solidFill>
                          <a:srgbClr val="000000"/>
                        </a:solidFill>
                        <a:effectLst/>
                        <a:latin typeface="Arial Narrow"/>
                      </a:endParaRPr>
                    </a:p>
                  </a:txBody>
                  <a:tcPr marL="8527" marR="8527" marT="8527" marB="0" anchor="ctr"/>
                </a:tc>
                <a:extLst>
                  <a:ext uri="{0D108BD9-81ED-4DB2-BD59-A6C34878D82A}">
                    <a16:rowId xmlns:a16="http://schemas.microsoft.com/office/drawing/2014/main" val="332398452"/>
                  </a:ext>
                </a:extLst>
              </a:tr>
              <a:tr h="330544">
                <a:tc gridSpan="6">
                  <a:txBody>
                    <a:bodyPr/>
                    <a:lstStyle/>
                    <a:p>
                      <a:pPr algn="ctr" fontAlgn="b"/>
                      <a:r>
                        <a:rPr lang="es-PE" sz="2000" b="1" u="none" strike="noStrike" dirty="0">
                          <a:effectLst/>
                        </a:rPr>
                        <a:t>Al Trabajador</a:t>
                      </a:r>
                      <a:endParaRPr lang="es-PE" sz="2000" b="1" i="0" u="none" strike="noStrike" dirty="0">
                        <a:solidFill>
                          <a:srgbClr val="000000"/>
                        </a:solidFill>
                        <a:effectLst/>
                        <a:latin typeface="Arial"/>
                      </a:endParaRPr>
                    </a:p>
                  </a:txBody>
                  <a:tcPr marL="8527" marR="8527" marT="8527"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rPr>
                        <a:t>4</a:t>
                      </a:r>
                      <a:endParaRPr lang="es-PE" sz="2000" b="1" i="0" u="none" strike="noStrike" dirty="0">
                        <a:solidFill>
                          <a:srgbClr val="000000"/>
                        </a:solidFill>
                        <a:effectLst/>
                        <a:latin typeface="Arial"/>
                      </a:endParaRPr>
                    </a:p>
                  </a:txBody>
                  <a:tcPr marL="8527" marR="8527" marT="8527" marB="0" anchor="ctr"/>
                </a:tc>
                <a:tc>
                  <a:txBody>
                    <a:bodyPr/>
                    <a:lstStyle/>
                    <a:p>
                      <a:pPr algn="ctr" fontAlgn="ctr"/>
                      <a:r>
                        <a:rPr lang="it-IT" sz="2000" b="1" u="none" strike="noStrike" dirty="0">
                          <a:effectLst/>
                        </a:rPr>
                        <a:t>Se le asigna la tarea</a:t>
                      </a:r>
                      <a:endParaRPr lang="it-IT" sz="2000" b="1" i="0" u="none" strike="noStrike" dirty="0">
                        <a:solidFill>
                          <a:srgbClr val="000000"/>
                        </a:solidFill>
                        <a:effectLst/>
                        <a:latin typeface="Arial"/>
                      </a:endParaRPr>
                    </a:p>
                  </a:txBody>
                  <a:tcPr marL="8527" marR="8527" marT="8527" marB="0" anchor="ctr"/>
                </a:tc>
                <a:tc>
                  <a:txBody>
                    <a:bodyPr/>
                    <a:lstStyle/>
                    <a:p>
                      <a:pPr algn="ctr" fontAlgn="b"/>
                      <a:r>
                        <a:rPr lang="es-PE" sz="2000" b="1" u="none" strike="noStrike">
                          <a:effectLst/>
                        </a:rPr>
                        <a:t>2</a:t>
                      </a:r>
                      <a:endParaRPr lang="es-PE" sz="2000" b="1" i="0" u="none" strike="noStrike">
                        <a:solidFill>
                          <a:srgbClr val="000000"/>
                        </a:solidFill>
                        <a:effectLst/>
                        <a:latin typeface="Arial"/>
                      </a:endParaRPr>
                    </a:p>
                  </a:txBody>
                  <a:tcPr marL="8527" marR="8527" marT="8527" marB="0" anchor="ctr"/>
                </a:tc>
                <a:tc>
                  <a:txBody>
                    <a:bodyPr/>
                    <a:lstStyle/>
                    <a:p>
                      <a:pPr algn="l" fontAlgn="b"/>
                      <a:r>
                        <a:rPr lang="es-PE" sz="2000" b="1" u="none" strike="noStrike">
                          <a:effectLst/>
                        </a:rPr>
                        <a:t>El costo es</a:t>
                      </a:r>
                      <a:endParaRPr lang="es-PE" sz="2000" b="1" i="0" u="none" strike="noStrike">
                        <a:solidFill>
                          <a:srgbClr val="000000"/>
                        </a:solidFill>
                        <a:effectLst/>
                        <a:latin typeface="Arial"/>
                      </a:endParaRPr>
                    </a:p>
                  </a:txBody>
                  <a:tcPr marL="8527" marR="8527" marT="8527" marB="0" anchor="ctr"/>
                </a:tc>
                <a:tc>
                  <a:txBody>
                    <a:bodyPr/>
                    <a:lstStyle/>
                    <a:p>
                      <a:pPr algn="ctr" fontAlgn="b"/>
                      <a:r>
                        <a:rPr lang="es-PE" sz="2000" b="1" u="none" strike="noStrike" dirty="0">
                          <a:effectLst/>
                        </a:rPr>
                        <a:t>22</a:t>
                      </a:r>
                      <a:endParaRPr lang="es-PE" sz="2000" b="1" i="0" u="none" strike="noStrike" dirty="0">
                        <a:solidFill>
                          <a:srgbClr val="000000"/>
                        </a:solidFill>
                        <a:effectLst/>
                        <a:latin typeface="Arial"/>
                      </a:endParaRPr>
                    </a:p>
                  </a:txBody>
                  <a:tcPr marL="8527" marR="8527" marT="8527" marB="0" anchor="ctr"/>
                </a:tc>
                <a:tc>
                  <a:txBody>
                    <a:bodyPr/>
                    <a:lstStyle/>
                    <a:p>
                      <a:pPr algn="l" fontAlgn="b"/>
                      <a:endParaRPr lang="es-PE" sz="2000" b="1" i="0" u="none" strike="noStrike" dirty="0">
                        <a:solidFill>
                          <a:srgbClr val="000000"/>
                        </a:solidFill>
                        <a:effectLst/>
                        <a:latin typeface="Arial Narrow"/>
                      </a:endParaRPr>
                    </a:p>
                  </a:txBody>
                  <a:tcPr marL="8527" marR="8527" marT="8527" marB="0" anchor="ctr"/>
                </a:tc>
                <a:extLst>
                  <a:ext uri="{0D108BD9-81ED-4DB2-BD59-A6C34878D82A}">
                    <a16:rowId xmlns:a16="http://schemas.microsoft.com/office/drawing/2014/main" val="2879345552"/>
                  </a:ext>
                </a:extLst>
              </a:tr>
              <a:tr h="429103">
                <a:tc gridSpan="6">
                  <a:txBody>
                    <a:bodyPr/>
                    <a:lstStyle/>
                    <a:p>
                      <a:pPr algn="ctr" fontAlgn="b"/>
                      <a:r>
                        <a:rPr lang="es-PE" sz="2000" b="1" u="none" strike="noStrike" dirty="0">
                          <a:effectLst/>
                        </a:rPr>
                        <a:t>Al Trabajador</a:t>
                      </a:r>
                      <a:endParaRPr lang="es-PE" sz="2000" b="1" i="0" u="none" strike="noStrike" dirty="0">
                        <a:solidFill>
                          <a:srgbClr val="000000"/>
                        </a:solidFill>
                        <a:effectLst/>
                        <a:latin typeface="Arial"/>
                      </a:endParaRPr>
                    </a:p>
                  </a:txBody>
                  <a:tcPr marL="8527" marR="8527" marT="8527"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rPr>
                        <a:t>5</a:t>
                      </a:r>
                      <a:endParaRPr lang="es-PE" sz="2000" b="1" i="0" u="none" strike="noStrike" dirty="0">
                        <a:solidFill>
                          <a:srgbClr val="000000"/>
                        </a:solidFill>
                        <a:effectLst/>
                        <a:latin typeface="Arial"/>
                      </a:endParaRPr>
                    </a:p>
                  </a:txBody>
                  <a:tcPr marL="8527" marR="8527" marT="8527" marB="0" anchor="ctr"/>
                </a:tc>
                <a:tc>
                  <a:txBody>
                    <a:bodyPr/>
                    <a:lstStyle/>
                    <a:p>
                      <a:pPr algn="ctr" fontAlgn="ctr"/>
                      <a:r>
                        <a:rPr lang="it-IT" sz="2000" b="1" u="none" strike="noStrike" dirty="0">
                          <a:effectLst/>
                        </a:rPr>
                        <a:t>Se le asigna la tarea</a:t>
                      </a:r>
                      <a:endParaRPr lang="it-IT" sz="2000" b="1" i="0" u="none" strike="noStrike" dirty="0">
                        <a:solidFill>
                          <a:srgbClr val="000000"/>
                        </a:solidFill>
                        <a:effectLst/>
                        <a:latin typeface="Arial"/>
                      </a:endParaRPr>
                    </a:p>
                  </a:txBody>
                  <a:tcPr marL="8527" marR="8527" marT="8527" marB="0" anchor="ctr"/>
                </a:tc>
                <a:tc>
                  <a:txBody>
                    <a:bodyPr/>
                    <a:lstStyle/>
                    <a:p>
                      <a:pPr algn="ctr" fontAlgn="b"/>
                      <a:r>
                        <a:rPr lang="es-PE" sz="2000" b="1" u="none" strike="noStrike">
                          <a:effectLst/>
                        </a:rPr>
                        <a:t>4</a:t>
                      </a:r>
                      <a:endParaRPr lang="es-PE" sz="2000" b="1" i="0" u="none" strike="noStrike">
                        <a:solidFill>
                          <a:srgbClr val="000000"/>
                        </a:solidFill>
                        <a:effectLst/>
                        <a:latin typeface="Arial"/>
                      </a:endParaRPr>
                    </a:p>
                  </a:txBody>
                  <a:tcPr marL="8527" marR="8527" marT="8527" marB="0" anchor="ctr"/>
                </a:tc>
                <a:tc>
                  <a:txBody>
                    <a:bodyPr/>
                    <a:lstStyle/>
                    <a:p>
                      <a:pPr algn="l" fontAlgn="b"/>
                      <a:r>
                        <a:rPr lang="es-PE" sz="2000" b="1" u="none" strike="noStrike">
                          <a:effectLst/>
                        </a:rPr>
                        <a:t>El costo es</a:t>
                      </a:r>
                      <a:endParaRPr lang="es-PE" sz="2000" b="1" i="0" u="none" strike="noStrike">
                        <a:solidFill>
                          <a:srgbClr val="000000"/>
                        </a:solidFill>
                        <a:effectLst/>
                        <a:latin typeface="Arial"/>
                      </a:endParaRPr>
                    </a:p>
                  </a:txBody>
                  <a:tcPr marL="8527" marR="8527" marT="8527" marB="0" anchor="ctr"/>
                </a:tc>
                <a:tc>
                  <a:txBody>
                    <a:bodyPr/>
                    <a:lstStyle/>
                    <a:p>
                      <a:pPr algn="ctr" fontAlgn="b"/>
                      <a:r>
                        <a:rPr lang="es-PE" sz="2000" b="1" u="none" strike="noStrike">
                          <a:effectLst/>
                        </a:rPr>
                        <a:t>23</a:t>
                      </a:r>
                      <a:endParaRPr lang="es-PE" sz="2000" b="1" i="0" u="none" strike="noStrike">
                        <a:solidFill>
                          <a:srgbClr val="000000"/>
                        </a:solidFill>
                        <a:effectLst/>
                        <a:latin typeface="Arial"/>
                      </a:endParaRPr>
                    </a:p>
                  </a:txBody>
                  <a:tcPr marL="8527" marR="8527" marT="8527" marB="0" anchor="ctr"/>
                </a:tc>
                <a:tc>
                  <a:txBody>
                    <a:bodyPr/>
                    <a:lstStyle/>
                    <a:p>
                      <a:pPr algn="l" fontAlgn="b"/>
                      <a:endParaRPr lang="es-PE" sz="2000" b="1" i="0" u="none" strike="noStrike" dirty="0">
                        <a:solidFill>
                          <a:srgbClr val="000000"/>
                        </a:solidFill>
                        <a:effectLst/>
                        <a:latin typeface="Arial Narrow"/>
                      </a:endParaRPr>
                    </a:p>
                  </a:txBody>
                  <a:tcPr marL="8527" marR="8527" marT="8527" marB="0" anchor="ctr"/>
                </a:tc>
                <a:extLst>
                  <a:ext uri="{0D108BD9-81ED-4DB2-BD59-A6C34878D82A}">
                    <a16:rowId xmlns:a16="http://schemas.microsoft.com/office/drawing/2014/main" val="3983149443"/>
                  </a:ext>
                </a:extLst>
              </a:tr>
              <a:tr h="330544">
                <a:tc>
                  <a:txBody>
                    <a:bodyPr/>
                    <a:lstStyle/>
                    <a:p>
                      <a:endParaRPr lang="es-PE" sz="2000" b="1"/>
                    </a:p>
                  </a:txBody>
                  <a:tcPr marL="8527" marR="8527" marT="8527" marB="0" anchor="ctr"/>
                </a:tc>
                <a:tc>
                  <a:txBody>
                    <a:bodyPr/>
                    <a:lstStyle/>
                    <a:p>
                      <a:pPr algn="ctr" fontAlgn="b"/>
                      <a:endParaRPr lang="es-PE" sz="2000" b="1" i="0" u="none" strike="noStrike">
                        <a:solidFill>
                          <a:srgbClr val="000000"/>
                        </a:solidFill>
                        <a:effectLst/>
                        <a:latin typeface="Arial"/>
                      </a:endParaRPr>
                    </a:p>
                  </a:txBody>
                  <a:tcPr marL="8527" marR="8527" marT="8527" marB="0" anchor="ctr"/>
                </a:tc>
                <a:tc>
                  <a:txBody>
                    <a:bodyPr/>
                    <a:lstStyle/>
                    <a:p>
                      <a:pPr algn="ctr" fontAlgn="b"/>
                      <a:endParaRPr lang="es-PE" sz="2000" b="1" i="0" u="none" strike="noStrike">
                        <a:solidFill>
                          <a:srgbClr val="000000"/>
                        </a:solidFill>
                        <a:effectLst/>
                        <a:latin typeface="Arial"/>
                      </a:endParaRPr>
                    </a:p>
                  </a:txBody>
                  <a:tcPr marL="8527" marR="8527" marT="8527" marB="0" anchor="ctr"/>
                </a:tc>
                <a:tc>
                  <a:txBody>
                    <a:bodyPr/>
                    <a:lstStyle/>
                    <a:p>
                      <a:pPr algn="ctr" fontAlgn="b"/>
                      <a:endParaRPr lang="es-PE" sz="2000" b="1" i="0" u="none" strike="noStrike">
                        <a:solidFill>
                          <a:srgbClr val="000000"/>
                        </a:solidFill>
                        <a:effectLst/>
                        <a:latin typeface="Arial"/>
                      </a:endParaRPr>
                    </a:p>
                  </a:txBody>
                  <a:tcPr marL="8527" marR="8527" marT="8527" marB="0" anchor="ctr"/>
                </a:tc>
                <a:tc>
                  <a:txBody>
                    <a:bodyPr/>
                    <a:lstStyle/>
                    <a:p>
                      <a:pPr algn="ctr" fontAlgn="b"/>
                      <a:endParaRPr lang="es-PE" sz="2000" b="1" i="0" u="none" strike="noStrike">
                        <a:solidFill>
                          <a:srgbClr val="000000"/>
                        </a:solidFill>
                        <a:effectLst/>
                        <a:latin typeface="Arial"/>
                      </a:endParaRPr>
                    </a:p>
                  </a:txBody>
                  <a:tcPr marL="8527" marR="8527" marT="8527" marB="0" anchor="ctr"/>
                </a:tc>
                <a:tc>
                  <a:txBody>
                    <a:bodyPr/>
                    <a:lstStyle/>
                    <a:p>
                      <a:pPr algn="ctr" fontAlgn="b"/>
                      <a:endParaRPr lang="es-PE" sz="2000" b="1" i="0" u="none" strike="noStrike">
                        <a:solidFill>
                          <a:srgbClr val="000000"/>
                        </a:solidFill>
                        <a:effectLst/>
                        <a:latin typeface="Arial"/>
                      </a:endParaRPr>
                    </a:p>
                  </a:txBody>
                  <a:tcPr marL="8527" marR="8527" marT="8527" marB="0" anchor="ctr"/>
                </a:tc>
                <a:tc>
                  <a:txBody>
                    <a:bodyPr/>
                    <a:lstStyle/>
                    <a:p>
                      <a:pPr algn="ctr" fontAlgn="b"/>
                      <a:endParaRPr lang="es-PE" sz="2000" b="1" i="0" u="none" strike="noStrike">
                        <a:solidFill>
                          <a:srgbClr val="000000"/>
                        </a:solidFill>
                        <a:effectLst/>
                        <a:latin typeface="Arial"/>
                      </a:endParaRPr>
                    </a:p>
                  </a:txBody>
                  <a:tcPr marL="8527" marR="8527" marT="8527" marB="0" anchor="ctr"/>
                </a:tc>
                <a:tc gridSpan="3">
                  <a:txBody>
                    <a:bodyPr/>
                    <a:lstStyle/>
                    <a:p>
                      <a:pPr algn="ctr" fontAlgn="b"/>
                      <a:r>
                        <a:rPr lang="es-PE" sz="2000" b="1" u="none" strike="noStrike" dirty="0">
                          <a:effectLst/>
                        </a:rPr>
                        <a:t>COSTO TOTAL</a:t>
                      </a:r>
                      <a:endParaRPr lang="es-PE" sz="2000" b="1" i="0" u="none" strike="noStrike" dirty="0">
                        <a:solidFill>
                          <a:srgbClr val="000000"/>
                        </a:solidFill>
                        <a:effectLst/>
                        <a:latin typeface="Arial"/>
                      </a:endParaRPr>
                    </a:p>
                  </a:txBody>
                  <a:tcPr marL="8527" marR="8527" marT="8527" marB="0" anchor="ctr"/>
                </a:tc>
                <a:tc hMerge="1">
                  <a:txBody>
                    <a:bodyPr/>
                    <a:lstStyle/>
                    <a:p>
                      <a:pPr algn="ctr" fontAlgn="b"/>
                      <a:endParaRPr lang="es-PE" sz="1300" b="1" i="0" u="none" strike="noStrike">
                        <a:solidFill>
                          <a:srgbClr val="000000"/>
                        </a:solidFill>
                        <a:effectLst/>
                        <a:latin typeface="Arial"/>
                      </a:endParaRPr>
                    </a:p>
                  </a:txBody>
                  <a:tcPr marL="8527" marR="8527" marT="8527" marB="0" anchor="b"/>
                </a:tc>
                <a:tc hMerge="1">
                  <a:txBody>
                    <a:bodyPr/>
                    <a:lstStyle/>
                    <a:p>
                      <a:pPr algn="ctr" fontAlgn="b"/>
                      <a:endParaRPr lang="es-PE" sz="1300" b="1" i="0" u="none" strike="noStrike">
                        <a:solidFill>
                          <a:srgbClr val="000000"/>
                        </a:solidFill>
                        <a:effectLst/>
                        <a:latin typeface="Arial"/>
                      </a:endParaRPr>
                    </a:p>
                  </a:txBody>
                  <a:tcPr marL="8527" marR="8527" marT="8527" marB="0" anchor="b"/>
                </a:tc>
                <a:tc>
                  <a:txBody>
                    <a:bodyPr/>
                    <a:lstStyle/>
                    <a:p>
                      <a:pPr algn="ctr" fontAlgn="b"/>
                      <a:r>
                        <a:rPr lang="es-PE" sz="2000" b="1" u="none" strike="noStrike" dirty="0">
                          <a:effectLst/>
                        </a:rPr>
                        <a:t>118</a:t>
                      </a:r>
                      <a:endParaRPr lang="es-PE" sz="2000" b="1" i="0" u="none" strike="noStrike" dirty="0">
                        <a:solidFill>
                          <a:srgbClr val="FF0000"/>
                        </a:solidFill>
                        <a:effectLst/>
                        <a:latin typeface="Arial"/>
                      </a:endParaRPr>
                    </a:p>
                  </a:txBody>
                  <a:tcPr marL="8527" marR="8527" marT="8527" marB="0" anchor="ctr"/>
                </a:tc>
                <a:tc>
                  <a:txBody>
                    <a:bodyPr/>
                    <a:lstStyle/>
                    <a:p>
                      <a:pPr algn="ctr" fontAlgn="b"/>
                      <a:endParaRPr lang="es-PE" sz="2000" b="1" i="0" u="none" strike="noStrike" dirty="0">
                        <a:solidFill>
                          <a:srgbClr val="000000"/>
                        </a:solidFill>
                        <a:effectLst/>
                        <a:latin typeface="Calibri"/>
                      </a:endParaRPr>
                    </a:p>
                  </a:txBody>
                  <a:tcPr marL="8527" marR="8527" marT="8527" marB="0" anchor="ctr"/>
                </a:tc>
                <a:extLst>
                  <a:ext uri="{0D108BD9-81ED-4DB2-BD59-A6C34878D82A}">
                    <a16:rowId xmlns:a16="http://schemas.microsoft.com/office/drawing/2014/main" val="2161097570"/>
                  </a:ext>
                </a:extLst>
              </a:tr>
            </a:tbl>
          </a:graphicData>
        </a:graphic>
      </p:graphicFrame>
      <p:sp>
        <p:nvSpPr>
          <p:cNvPr id="12" name="CuadroTexto 11">
            <a:extLst>
              <a:ext uri="{FF2B5EF4-FFF2-40B4-BE49-F238E27FC236}">
                <a16:creationId xmlns:a16="http://schemas.microsoft.com/office/drawing/2014/main" id="{B337E436-DB8A-4142-8299-9A5F5B056A9C}"/>
              </a:ext>
            </a:extLst>
          </p:cNvPr>
          <p:cNvSpPr txBox="1"/>
          <p:nvPr/>
        </p:nvSpPr>
        <p:spPr>
          <a:xfrm>
            <a:off x="130629" y="1362973"/>
            <a:ext cx="1797551" cy="2308324"/>
          </a:xfrm>
          <a:prstGeom prst="rect">
            <a:avLst/>
          </a:prstGeom>
          <a:noFill/>
        </p:spPr>
        <p:txBody>
          <a:bodyPr wrap="square" rtlCol="0">
            <a:spAutoFit/>
          </a:bodyPr>
          <a:lstStyle/>
          <a:p>
            <a:r>
              <a:rPr lang="es-ES" sz="2400" b="1" dirty="0">
                <a:solidFill>
                  <a:srgbClr val="7030A0"/>
                </a:solidFill>
              </a:rPr>
              <a:t>Asignar las tareas a los trabajadores tomando en cuenta los </a:t>
            </a:r>
            <a:r>
              <a:rPr lang="es-ES" sz="2400" b="1" dirty="0">
                <a:solidFill>
                  <a:srgbClr val="FF0000"/>
                </a:solidFill>
              </a:rPr>
              <a:t>costos</a:t>
            </a:r>
            <a:r>
              <a:rPr lang="es-ES" sz="2400" b="1" dirty="0">
                <a:solidFill>
                  <a:srgbClr val="7030A0"/>
                </a:solidFill>
              </a:rPr>
              <a:t>.</a:t>
            </a:r>
            <a:endParaRPr lang="es-PE" sz="2400" b="1" dirty="0">
              <a:solidFill>
                <a:srgbClr val="7030A0"/>
              </a:solidFill>
            </a:endParaRPr>
          </a:p>
        </p:txBody>
      </p:sp>
      <p:graphicFrame>
        <p:nvGraphicFramePr>
          <p:cNvPr id="9" name="Tabla 8">
            <a:extLst>
              <a:ext uri="{FF2B5EF4-FFF2-40B4-BE49-F238E27FC236}">
                <a16:creationId xmlns:a16="http://schemas.microsoft.com/office/drawing/2014/main" id="{63B8F7C8-2D4A-4979-B532-CE42B07B1F35}"/>
              </a:ext>
            </a:extLst>
          </p:cNvPr>
          <p:cNvGraphicFramePr>
            <a:graphicFrameLocks noGrp="1"/>
          </p:cNvGraphicFramePr>
          <p:nvPr>
            <p:extLst>
              <p:ext uri="{D42A27DB-BD31-4B8C-83A1-F6EECF244321}">
                <p14:modId xmlns:p14="http://schemas.microsoft.com/office/powerpoint/2010/main" val="3082292019"/>
              </p:ext>
            </p:extLst>
          </p:nvPr>
        </p:nvGraphicFramePr>
        <p:xfrm>
          <a:off x="5203163" y="1325293"/>
          <a:ext cx="2304410" cy="2281655"/>
        </p:xfrm>
        <a:graphic>
          <a:graphicData uri="http://schemas.openxmlformats.org/drawingml/2006/table">
            <a:tbl>
              <a:tblPr>
                <a:tableStyleId>{5C22544A-7EE6-4342-B048-85BDC9FD1C3A}</a:tableStyleId>
              </a:tblPr>
              <a:tblGrid>
                <a:gridCol w="460882">
                  <a:extLst>
                    <a:ext uri="{9D8B030D-6E8A-4147-A177-3AD203B41FA5}">
                      <a16:colId xmlns:a16="http://schemas.microsoft.com/office/drawing/2014/main" val="2301570448"/>
                    </a:ext>
                  </a:extLst>
                </a:gridCol>
                <a:gridCol w="460882">
                  <a:extLst>
                    <a:ext uri="{9D8B030D-6E8A-4147-A177-3AD203B41FA5}">
                      <a16:colId xmlns:a16="http://schemas.microsoft.com/office/drawing/2014/main" val="2242024231"/>
                    </a:ext>
                  </a:extLst>
                </a:gridCol>
                <a:gridCol w="460882">
                  <a:extLst>
                    <a:ext uri="{9D8B030D-6E8A-4147-A177-3AD203B41FA5}">
                      <a16:colId xmlns:a16="http://schemas.microsoft.com/office/drawing/2014/main" val="3458535978"/>
                    </a:ext>
                  </a:extLst>
                </a:gridCol>
                <a:gridCol w="460882">
                  <a:extLst>
                    <a:ext uri="{9D8B030D-6E8A-4147-A177-3AD203B41FA5}">
                      <a16:colId xmlns:a16="http://schemas.microsoft.com/office/drawing/2014/main" val="1539073165"/>
                    </a:ext>
                  </a:extLst>
                </a:gridCol>
                <a:gridCol w="460882">
                  <a:extLst>
                    <a:ext uri="{9D8B030D-6E8A-4147-A177-3AD203B41FA5}">
                      <a16:colId xmlns:a16="http://schemas.microsoft.com/office/drawing/2014/main" val="824858015"/>
                    </a:ext>
                  </a:extLst>
                </a:gridCol>
              </a:tblGrid>
              <a:tr h="456331">
                <a:tc>
                  <a:txBody>
                    <a:bodyPr/>
                    <a:lstStyle/>
                    <a:p>
                      <a:pPr algn="ctr" rtl="0" fontAlgn="ctr"/>
                      <a:r>
                        <a:rPr lang="es-PE" sz="2000" u="none" strike="noStrike" dirty="0">
                          <a:effectLst/>
                        </a:rPr>
                        <a:t>0</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3</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9</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10</a:t>
                      </a:r>
                      <a:endParaRPr lang="es-PE" sz="2000" b="1" i="0" u="none" strike="noStrike">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3377217402"/>
                  </a:ext>
                </a:extLst>
              </a:tr>
              <a:tr h="456331">
                <a:tc>
                  <a:txBody>
                    <a:bodyPr/>
                    <a:lstStyle/>
                    <a:p>
                      <a:pPr algn="ctr" rtl="0" fontAlgn="ctr"/>
                      <a:r>
                        <a:rPr lang="es-PE" sz="2000" u="none" strike="noStrike" dirty="0">
                          <a:effectLst/>
                        </a:rPr>
                        <a:t>8</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0</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6</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4</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7</a:t>
                      </a:r>
                      <a:endParaRPr lang="es-PE" sz="2000" b="1" i="0" u="none" strike="noStrike">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3477086791"/>
                  </a:ext>
                </a:extLst>
              </a:tr>
              <a:tr h="456331">
                <a:tc>
                  <a:txBody>
                    <a:bodyPr/>
                    <a:lstStyle/>
                    <a:p>
                      <a:pPr algn="ctr" rtl="0" fontAlgn="ctr"/>
                      <a:r>
                        <a:rPr lang="es-PE" sz="2000" u="none" strike="noStrike" dirty="0">
                          <a:effectLst/>
                        </a:rPr>
                        <a:t>5</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6</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0</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4</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9</a:t>
                      </a:r>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1991937210"/>
                  </a:ext>
                </a:extLst>
              </a:tr>
              <a:tr h="456331">
                <a:tc>
                  <a:txBody>
                    <a:bodyPr/>
                    <a:lstStyle/>
                    <a:p>
                      <a:pPr algn="ctr" rtl="0" fontAlgn="ctr"/>
                      <a:r>
                        <a:rPr lang="es-PE" sz="2000" u="none" strike="noStrike" dirty="0">
                          <a:effectLst/>
                        </a:rPr>
                        <a:t>8</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0</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7</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7</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9</a:t>
                      </a:r>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3513000766"/>
                  </a:ext>
                </a:extLst>
              </a:tr>
              <a:tr h="456331">
                <a:tc>
                  <a:txBody>
                    <a:bodyPr/>
                    <a:lstStyle/>
                    <a:p>
                      <a:pPr algn="ctr" rtl="0" fontAlgn="ctr"/>
                      <a:r>
                        <a:rPr lang="es-PE" sz="2000" u="none" strike="noStrike">
                          <a:effectLst/>
                        </a:rPr>
                        <a:t>7</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13</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9</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0</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10</a:t>
                      </a:r>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3404484305"/>
                  </a:ext>
                </a:extLst>
              </a:tr>
            </a:tbl>
          </a:graphicData>
        </a:graphic>
      </p:graphicFrame>
      <p:graphicFrame>
        <p:nvGraphicFramePr>
          <p:cNvPr id="13" name="Tabla 12">
            <a:extLst>
              <a:ext uri="{FF2B5EF4-FFF2-40B4-BE49-F238E27FC236}">
                <a16:creationId xmlns:a16="http://schemas.microsoft.com/office/drawing/2014/main" id="{58D752C8-A855-49A3-B976-6C729B5A8E0A}"/>
              </a:ext>
            </a:extLst>
          </p:cNvPr>
          <p:cNvGraphicFramePr>
            <a:graphicFrameLocks noGrp="1"/>
          </p:cNvGraphicFramePr>
          <p:nvPr>
            <p:extLst>
              <p:ext uri="{D42A27DB-BD31-4B8C-83A1-F6EECF244321}">
                <p14:modId xmlns:p14="http://schemas.microsoft.com/office/powerpoint/2010/main" val="4051111384"/>
              </p:ext>
            </p:extLst>
          </p:nvPr>
        </p:nvGraphicFramePr>
        <p:xfrm>
          <a:off x="5151408" y="3594041"/>
          <a:ext cx="2304410" cy="456331"/>
        </p:xfrm>
        <a:graphic>
          <a:graphicData uri="http://schemas.openxmlformats.org/drawingml/2006/table">
            <a:tbl>
              <a:tblPr>
                <a:tableStyleId>{5C22544A-7EE6-4342-B048-85BDC9FD1C3A}</a:tableStyleId>
              </a:tblPr>
              <a:tblGrid>
                <a:gridCol w="460882">
                  <a:extLst>
                    <a:ext uri="{9D8B030D-6E8A-4147-A177-3AD203B41FA5}">
                      <a16:colId xmlns:a16="http://schemas.microsoft.com/office/drawing/2014/main" val="2575580197"/>
                    </a:ext>
                  </a:extLst>
                </a:gridCol>
                <a:gridCol w="460882">
                  <a:extLst>
                    <a:ext uri="{9D8B030D-6E8A-4147-A177-3AD203B41FA5}">
                      <a16:colId xmlns:a16="http://schemas.microsoft.com/office/drawing/2014/main" val="3334582927"/>
                    </a:ext>
                  </a:extLst>
                </a:gridCol>
                <a:gridCol w="460882">
                  <a:extLst>
                    <a:ext uri="{9D8B030D-6E8A-4147-A177-3AD203B41FA5}">
                      <a16:colId xmlns:a16="http://schemas.microsoft.com/office/drawing/2014/main" val="1718051215"/>
                    </a:ext>
                  </a:extLst>
                </a:gridCol>
                <a:gridCol w="460882">
                  <a:extLst>
                    <a:ext uri="{9D8B030D-6E8A-4147-A177-3AD203B41FA5}">
                      <a16:colId xmlns:a16="http://schemas.microsoft.com/office/drawing/2014/main" val="428520980"/>
                    </a:ext>
                  </a:extLst>
                </a:gridCol>
                <a:gridCol w="460882">
                  <a:extLst>
                    <a:ext uri="{9D8B030D-6E8A-4147-A177-3AD203B41FA5}">
                      <a16:colId xmlns:a16="http://schemas.microsoft.com/office/drawing/2014/main" val="3231182848"/>
                    </a:ext>
                  </a:extLst>
                </a:gridCol>
              </a:tblGrid>
              <a:tr h="456331">
                <a:tc>
                  <a:txBody>
                    <a:bodyPr/>
                    <a:lstStyle/>
                    <a:p>
                      <a:pPr algn="ctr" fontAlgn="b"/>
                      <a:r>
                        <a:rPr lang="es-PE" sz="2000" u="none" strike="noStrike" dirty="0">
                          <a:solidFill>
                            <a:srgbClr val="FF0000"/>
                          </a:solidFill>
                          <a:effectLst/>
                        </a:rPr>
                        <a:t>0</a:t>
                      </a:r>
                      <a:endParaRPr lang="es-PE" sz="2000" b="1" i="0" u="none" strike="noStrike" dirty="0">
                        <a:solidFill>
                          <a:srgbClr val="FF0000"/>
                        </a:solidFill>
                        <a:effectLst/>
                        <a:latin typeface="Arial Narrow"/>
                      </a:endParaRPr>
                    </a:p>
                  </a:txBody>
                  <a:tcPr marL="8527" marR="8527" marT="8527" marB="0" anchor="b"/>
                </a:tc>
                <a:tc>
                  <a:txBody>
                    <a:bodyPr/>
                    <a:lstStyle/>
                    <a:p>
                      <a:pPr algn="ctr" fontAlgn="b"/>
                      <a:r>
                        <a:rPr lang="es-PE" sz="2000" u="none" strike="noStrike" dirty="0">
                          <a:solidFill>
                            <a:srgbClr val="FF0000"/>
                          </a:solidFill>
                          <a:effectLst/>
                        </a:rPr>
                        <a:t>0</a:t>
                      </a:r>
                      <a:endParaRPr lang="es-PE" sz="2000" b="1" i="0" u="none" strike="noStrike" dirty="0">
                        <a:solidFill>
                          <a:srgbClr val="FF0000"/>
                        </a:solidFill>
                        <a:effectLst/>
                        <a:latin typeface="Arial Narrow"/>
                      </a:endParaRPr>
                    </a:p>
                  </a:txBody>
                  <a:tcPr marL="8527" marR="8527" marT="8527" marB="0" anchor="b"/>
                </a:tc>
                <a:tc>
                  <a:txBody>
                    <a:bodyPr/>
                    <a:lstStyle/>
                    <a:p>
                      <a:pPr algn="ctr" fontAlgn="b"/>
                      <a:r>
                        <a:rPr lang="es-PE" sz="2000" u="none" strike="noStrike" dirty="0">
                          <a:solidFill>
                            <a:srgbClr val="FF0000"/>
                          </a:solidFill>
                          <a:effectLst/>
                        </a:rPr>
                        <a:t>0</a:t>
                      </a:r>
                      <a:endParaRPr lang="es-PE" sz="2000" b="1" i="0" u="none" strike="noStrike" dirty="0">
                        <a:solidFill>
                          <a:srgbClr val="FF0000"/>
                        </a:solidFill>
                        <a:effectLst/>
                        <a:latin typeface="Arial Narrow"/>
                      </a:endParaRPr>
                    </a:p>
                  </a:txBody>
                  <a:tcPr marL="8527" marR="8527" marT="8527" marB="0" anchor="b"/>
                </a:tc>
                <a:tc>
                  <a:txBody>
                    <a:bodyPr/>
                    <a:lstStyle/>
                    <a:p>
                      <a:pPr algn="ctr" fontAlgn="b"/>
                      <a:r>
                        <a:rPr lang="es-PE" sz="2000" u="none" strike="noStrike" dirty="0">
                          <a:solidFill>
                            <a:srgbClr val="FF0000"/>
                          </a:solidFill>
                          <a:effectLst/>
                        </a:rPr>
                        <a:t>0</a:t>
                      </a:r>
                      <a:endParaRPr lang="es-PE" sz="2000" b="1" i="0" u="none" strike="noStrike" dirty="0">
                        <a:solidFill>
                          <a:srgbClr val="FF0000"/>
                        </a:solidFill>
                        <a:effectLst/>
                        <a:latin typeface="Arial Narrow"/>
                      </a:endParaRPr>
                    </a:p>
                  </a:txBody>
                  <a:tcPr marL="8527" marR="8527" marT="8527" marB="0" anchor="b"/>
                </a:tc>
                <a:tc>
                  <a:txBody>
                    <a:bodyPr/>
                    <a:lstStyle/>
                    <a:p>
                      <a:pPr algn="ctr" fontAlgn="b"/>
                      <a:r>
                        <a:rPr lang="es-PE" sz="2000" u="none" strike="noStrike" dirty="0">
                          <a:solidFill>
                            <a:srgbClr val="FF0000"/>
                          </a:solidFill>
                          <a:effectLst/>
                        </a:rPr>
                        <a:t>7</a:t>
                      </a:r>
                      <a:endParaRPr lang="es-PE" sz="2000" b="1" i="0" u="none" strike="noStrike" dirty="0">
                        <a:solidFill>
                          <a:srgbClr val="FF0000"/>
                        </a:solidFill>
                        <a:effectLst/>
                        <a:latin typeface="Arial Narrow"/>
                      </a:endParaRPr>
                    </a:p>
                  </a:txBody>
                  <a:tcPr marL="8527" marR="8527" marT="8527" marB="0" anchor="b"/>
                </a:tc>
                <a:extLst>
                  <a:ext uri="{0D108BD9-81ED-4DB2-BD59-A6C34878D82A}">
                    <a16:rowId xmlns:a16="http://schemas.microsoft.com/office/drawing/2014/main" val="3327115847"/>
                  </a:ext>
                </a:extLst>
              </a:tr>
            </a:tbl>
          </a:graphicData>
        </a:graphic>
      </p:graphicFrame>
      <p:graphicFrame>
        <p:nvGraphicFramePr>
          <p:cNvPr id="14" name="Tabla 13">
            <a:extLst>
              <a:ext uri="{FF2B5EF4-FFF2-40B4-BE49-F238E27FC236}">
                <a16:creationId xmlns:a16="http://schemas.microsoft.com/office/drawing/2014/main" id="{E5E6ED0C-12A8-4E40-9489-9722EEC9BFC2}"/>
              </a:ext>
            </a:extLst>
          </p:cNvPr>
          <p:cNvGraphicFramePr>
            <a:graphicFrameLocks noGrp="1"/>
          </p:cNvGraphicFramePr>
          <p:nvPr>
            <p:extLst>
              <p:ext uri="{D42A27DB-BD31-4B8C-83A1-F6EECF244321}">
                <p14:modId xmlns:p14="http://schemas.microsoft.com/office/powerpoint/2010/main" val="3508487081"/>
              </p:ext>
            </p:extLst>
          </p:nvPr>
        </p:nvGraphicFramePr>
        <p:xfrm>
          <a:off x="7964249" y="1316668"/>
          <a:ext cx="2433457" cy="2281655"/>
        </p:xfrm>
        <a:graphic>
          <a:graphicData uri="http://schemas.openxmlformats.org/drawingml/2006/table">
            <a:tbl>
              <a:tblPr>
                <a:tableStyleId>{5C22544A-7EE6-4342-B048-85BDC9FD1C3A}</a:tableStyleId>
              </a:tblPr>
              <a:tblGrid>
                <a:gridCol w="460882">
                  <a:extLst>
                    <a:ext uri="{9D8B030D-6E8A-4147-A177-3AD203B41FA5}">
                      <a16:colId xmlns:a16="http://schemas.microsoft.com/office/drawing/2014/main" val="2340985037"/>
                    </a:ext>
                  </a:extLst>
                </a:gridCol>
                <a:gridCol w="460882">
                  <a:extLst>
                    <a:ext uri="{9D8B030D-6E8A-4147-A177-3AD203B41FA5}">
                      <a16:colId xmlns:a16="http://schemas.microsoft.com/office/drawing/2014/main" val="2027450677"/>
                    </a:ext>
                  </a:extLst>
                </a:gridCol>
                <a:gridCol w="460882">
                  <a:extLst>
                    <a:ext uri="{9D8B030D-6E8A-4147-A177-3AD203B41FA5}">
                      <a16:colId xmlns:a16="http://schemas.microsoft.com/office/drawing/2014/main" val="3274751361"/>
                    </a:ext>
                  </a:extLst>
                </a:gridCol>
                <a:gridCol w="589929">
                  <a:extLst>
                    <a:ext uri="{9D8B030D-6E8A-4147-A177-3AD203B41FA5}">
                      <a16:colId xmlns:a16="http://schemas.microsoft.com/office/drawing/2014/main" val="832491590"/>
                    </a:ext>
                  </a:extLst>
                </a:gridCol>
                <a:gridCol w="460882">
                  <a:extLst>
                    <a:ext uri="{9D8B030D-6E8A-4147-A177-3AD203B41FA5}">
                      <a16:colId xmlns:a16="http://schemas.microsoft.com/office/drawing/2014/main" val="3329968613"/>
                    </a:ext>
                  </a:extLst>
                </a:gridCol>
              </a:tblGrid>
              <a:tr h="456331">
                <a:tc>
                  <a:txBody>
                    <a:bodyPr/>
                    <a:lstStyle/>
                    <a:p>
                      <a:pPr algn="ctr" rtl="0" fontAlgn="ctr"/>
                      <a:r>
                        <a:rPr lang="es-PE" sz="2000" u="none" strike="noStrike" dirty="0">
                          <a:effectLst/>
                        </a:rPr>
                        <a:t>0</a:t>
                      </a:r>
                      <a:endParaRPr lang="es-PE" sz="2000" b="1" i="0" u="none" strike="noStrike" dirty="0">
                        <a:solidFill>
                          <a:srgbClr val="C9211E"/>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2</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3</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9</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fontAlgn="b"/>
                      <a:r>
                        <a:rPr lang="es-PE" sz="2000" u="none" strike="noStrike" dirty="0">
                          <a:effectLst/>
                        </a:rPr>
                        <a:t>3</a:t>
                      </a:r>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3541529310"/>
                  </a:ext>
                </a:extLst>
              </a:tr>
              <a:tr h="456331">
                <a:tc>
                  <a:txBody>
                    <a:bodyPr/>
                    <a:lstStyle/>
                    <a:p>
                      <a:pPr algn="ctr" rtl="0" fontAlgn="ctr"/>
                      <a:r>
                        <a:rPr lang="es-PE" sz="2000" u="none" strike="noStrike" dirty="0">
                          <a:effectLst/>
                        </a:rPr>
                        <a:t>8</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0</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6</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4</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fontAlgn="b"/>
                      <a:r>
                        <a:rPr lang="es-PE" sz="2000" u="none" strike="noStrike" dirty="0">
                          <a:effectLst/>
                        </a:rPr>
                        <a:t>0</a:t>
                      </a:r>
                      <a:endParaRPr lang="es-PE" sz="2000" b="1" i="0" u="none" strike="noStrike" dirty="0">
                        <a:solidFill>
                          <a:srgbClr val="C9211E"/>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3090230519"/>
                  </a:ext>
                </a:extLst>
              </a:tr>
              <a:tr h="456331">
                <a:tc>
                  <a:txBody>
                    <a:bodyPr/>
                    <a:lstStyle/>
                    <a:p>
                      <a:pPr algn="ctr" rtl="0" fontAlgn="ctr"/>
                      <a:r>
                        <a:rPr lang="es-PE" sz="2000" u="none" strike="noStrike" dirty="0">
                          <a:effectLst/>
                        </a:rPr>
                        <a:t>5</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6</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0</a:t>
                      </a:r>
                      <a:endParaRPr lang="es-PE" sz="2000" b="1" i="0" u="none" strike="noStrike" dirty="0">
                        <a:solidFill>
                          <a:srgbClr val="C9211E"/>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a:effectLst/>
                        </a:rPr>
                        <a:t>4</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fontAlgn="b"/>
                      <a:r>
                        <a:rPr lang="es-PE" sz="2000" u="none" strike="noStrike" dirty="0">
                          <a:effectLst/>
                        </a:rPr>
                        <a:t>2</a:t>
                      </a:r>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3293715958"/>
                  </a:ext>
                </a:extLst>
              </a:tr>
              <a:tr h="456331">
                <a:tc>
                  <a:txBody>
                    <a:bodyPr/>
                    <a:lstStyle/>
                    <a:p>
                      <a:pPr algn="ctr" rtl="0" fontAlgn="ctr"/>
                      <a:r>
                        <a:rPr lang="es-PE" sz="2000" u="none" strike="noStrike">
                          <a:effectLst/>
                        </a:rPr>
                        <a:t>8</a:t>
                      </a:r>
                      <a:endParaRPr lang="es-PE" sz="2000" b="1" i="0" u="none" strike="noStrike">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0</a:t>
                      </a:r>
                      <a:endParaRPr lang="es-PE" sz="2000" b="1" i="0" u="none" strike="noStrike" dirty="0">
                        <a:solidFill>
                          <a:srgbClr val="C9211E"/>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7</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7</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fontAlgn="b"/>
                      <a:r>
                        <a:rPr lang="es-PE" sz="2000" u="none" strike="noStrike" dirty="0">
                          <a:effectLst/>
                        </a:rPr>
                        <a:t>2</a:t>
                      </a:r>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2152599875"/>
                  </a:ext>
                </a:extLst>
              </a:tr>
              <a:tr h="456331">
                <a:tc>
                  <a:txBody>
                    <a:bodyPr/>
                    <a:lstStyle/>
                    <a:p>
                      <a:pPr algn="ctr" rtl="0" fontAlgn="ctr"/>
                      <a:r>
                        <a:rPr lang="es-PE" sz="2000" u="none" strike="noStrike" dirty="0">
                          <a:effectLst/>
                        </a:rPr>
                        <a:t>7</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13</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9</a:t>
                      </a:r>
                      <a:endParaRPr lang="es-PE" sz="2000" b="1" i="0" u="none" strike="noStrike" dirty="0">
                        <a:solidFill>
                          <a:srgbClr val="000000"/>
                        </a:solidFill>
                        <a:effectLst/>
                        <a:latin typeface="Arial Narrow"/>
                      </a:endParaRPr>
                    </a:p>
                  </a:txBody>
                  <a:tcPr marL="8527" marR="8527" marT="8527" marB="0" anchor="ctr">
                    <a:solidFill>
                      <a:srgbClr val="FFFF00"/>
                    </a:solidFill>
                  </a:tcPr>
                </a:tc>
                <a:tc>
                  <a:txBody>
                    <a:bodyPr/>
                    <a:lstStyle/>
                    <a:p>
                      <a:pPr algn="ctr" rtl="0" fontAlgn="ctr"/>
                      <a:r>
                        <a:rPr lang="es-PE" sz="2000" u="none" strike="noStrike" dirty="0">
                          <a:effectLst/>
                        </a:rPr>
                        <a:t>0</a:t>
                      </a:r>
                      <a:endParaRPr lang="es-PE" sz="2000" b="1" i="0" u="none" strike="noStrike" dirty="0">
                        <a:solidFill>
                          <a:srgbClr val="C9211E"/>
                        </a:solidFill>
                        <a:effectLst/>
                        <a:latin typeface="Arial Narrow"/>
                      </a:endParaRPr>
                    </a:p>
                  </a:txBody>
                  <a:tcPr marL="8527" marR="8527" marT="8527" marB="0" anchor="ctr">
                    <a:solidFill>
                      <a:srgbClr val="FFFF00"/>
                    </a:solidFill>
                  </a:tcPr>
                </a:tc>
                <a:tc>
                  <a:txBody>
                    <a:bodyPr/>
                    <a:lstStyle/>
                    <a:p>
                      <a:pPr algn="ctr" fontAlgn="b"/>
                      <a:r>
                        <a:rPr lang="es-PE" sz="2000" u="none" strike="noStrike" dirty="0">
                          <a:effectLst/>
                        </a:rPr>
                        <a:t>3</a:t>
                      </a:r>
                      <a:endParaRPr lang="es-PE" sz="2000" b="1" i="0" u="none" strike="noStrike" dirty="0">
                        <a:solidFill>
                          <a:srgbClr val="000000"/>
                        </a:solidFill>
                        <a:effectLst/>
                        <a:latin typeface="Arial Narrow"/>
                      </a:endParaRPr>
                    </a:p>
                  </a:txBody>
                  <a:tcPr marL="8527" marR="8527" marT="8527" marB="0" anchor="ctr">
                    <a:solidFill>
                      <a:srgbClr val="FFFF00"/>
                    </a:solidFill>
                  </a:tcPr>
                </a:tc>
                <a:extLst>
                  <a:ext uri="{0D108BD9-81ED-4DB2-BD59-A6C34878D82A}">
                    <a16:rowId xmlns:a16="http://schemas.microsoft.com/office/drawing/2014/main" val="2010932742"/>
                  </a:ext>
                </a:extLst>
              </a:tr>
            </a:tbl>
          </a:graphicData>
        </a:graphic>
      </p:graphicFrame>
      <p:graphicFrame>
        <p:nvGraphicFramePr>
          <p:cNvPr id="15" name="Tabla 14">
            <a:extLst>
              <a:ext uri="{FF2B5EF4-FFF2-40B4-BE49-F238E27FC236}">
                <a16:creationId xmlns:a16="http://schemas.microsoft.com/office/drawing/2014/main" id="{2653E3B1-91C6-4A8D-814D-CA1A2CAB36DA}"/>
              </a:ext>
            </a:extLst>
          </p:cNvPr>
          <p:cNvGraphicFramePr>
            <a:graphicFrameLocks noGrp="1"/>
          </p:cNvGraphicFramePr>
          <p:nvPr>
            <p:extLst>
              <p:ext uri="{D42A27DB-BD31-4B8C-83A1-F6EECF244321}">
                <p14:modId xmlns:p14="http://schemas.microsoft.com/office/powerpoint/2010/main" val="172147318"/>
              </p:ext>
            </p:extLst>
          </p:nvPr>
        </p:nvGraphicFramePr>
        <p:xfrm>
          <a:off x="4288766" y="1325293"/>
          <a:ext cx="460882" cy="2281655"/>
        </p:xfrm>
        <a:graphic>
          <a:graphicData uri="http://schemas.openxmlformats.org/drawingml/2006/table">
            <a:tbl>
              <a:tblPr>
                <a:tableStyleId>{5C22544A-7EE6-4342-B048-85BDC9FD1C3A}</a:tableStyleId>
              </a:tblPr>
              <a:tblGrid>
                <a:gridCol w="460882">
                  <a:extLst>
                    <a:ext uri="{9D8B030D-6E8A-4147-A177-3AD203B41FA5}">
                      <a16:colId xmlns:a16="http://schemas.microsoft.com/office/drawing/2014/main" val="3753346300"/>
                    </a:ext>
                  </a:extLst>
                </a:gridCol>
              </a:tblGrid>
              <a:tr h="456331">
                <a:tc>
                  <a:txBody>
                    <a:bodyPr/>
                    <a:lstStyle/>
                    <a:p>
                      <a:pPr algn="ctr" fontAlgn="b"/>
                      <a:r>
                        <a:rPr lang="es-PE" sz="2000" u="none" strike="noStrike" dirty="0">
                          <a:solidFill>
                            <a:srgbClr val="FF0000"/>
                          </a:solidFill>
                          <a:effectLst/>
                        </a:rPr>
                        <a:t>25</a:t>
                      </a:r>
                      <a:endParaRPr lang="es-PE" sz="2000" b="1" i="0" u="none" strike="noStrike" dirty="0">
                        <a:solidFill>
                          <a:srgbClr val="FF0000"/>
                        </a:solidFill>
                        <a:effectLst/>
                        <a:latin typeface="Arial Narrow"/>
                      </a:endParaRPr>
                    </a:p>
                  </a:txBody>
                  <a:tcPr marL="8527" marR="8527" marT="8527" marB="0" anchor="b"/>
                </a:tc>
                <a:extLst>
                  <a:ext uri="{0D108BD9-81ED-4DB2-BD59-A6C34878D82A}">
                    <a16:rowId xmlns:a16="http://schemas.microsoft.com/office/drawing/2014/main" val="957425504"/>
                  </a:ext>
                </a:extLst>
              </a:tr>
              <a:tr h="456331">
                <a:tc>
                  <a:txBody>
                    <a:bodyPr/>
                    <a:lstStyle/>
                    <a:p>
                      <a:pPr algn="ctr" fontAlgn="b"/>
                      <a:r>
                        <a:rPr lang="es-PE" sz="2000" u="none" strike="noStrike" dirty="0">
                          <a:solidFill>
                            <a:srgbClr val="FF0000"/>
                          </a:solidFill>
                          <a:effectLst/>
                        </a:rPr>
                        <a:t>20</a:t>
                      </a:r>
                      <a:endParaRPr lang="es-PE" sz="2000" b="1" i="0" u="none" strike="noStrike" dirty="0">
                        <a:solidFill>
                          <a:srgbClr val="FF0000"/>
                        </a:solidFill>
                        <a:effectLst/>
                        <a:latin typeface="Arial Narrow"/>
                      </a:endParaRPr>
                    </a:p>
                  </a:txBody>
                  <a:tcPr marL="8527" marR="8527" marT="8527" marB="0" anchor="b"/>
                </a:tc>
                <a:extLst>
                  <a:ext uri="{0D108BD9-81ED-4DB2-BD59-A6C34878D82A}">
                    <a16:rowId xmlns:a16="http://schemas.microsoft.com/office/drawing/2014/main" val="3096335674"/>
                  </a:ext>
                </a:extLst>
              </a:tr>
              <a:tr h="456331">
                <a:tc>
                  <a:txBody>
                    <a:bodyPr/>
                    <a:lstStyle/>
                    <a:p>
                      <a:pPr algn="ctr" fontAlgn="b"/>
                      <a:r>
                        <a:rPr lang="es-PE" sz="2000" u="none" strike="noStrike" dirty="0">
                          <a:solidFill>
                            <a:srgbClr val="FF0000"/>
                          </a:solidFill>
                          <a:effectLst/>
                        </a:rPr>
                        <a:t>21</a:t>
                      </a:r>
                      <a:endParaRPr lang="es-PE" sz="2000" b="1" i="0" u="none" strike="noStrike" dirty="0">
                        <a:solidFill>
                          <a:srgbClr val="FF0000"/>
                        </a:solidFill>
                        <a:effectLst/>
                        <a:latin typeface="Arial Narrow"/>
                      </a:endParaRPr>
                    </a:p>
                  </a:txBody>
                  <a:tcPr marL="8527" marR="8527" marT="8527" marB="0" anchor="b"/>
                </a:tc>
                <a:extLst>
                  <a:ext uri="{0D108BD9-81ED-4DB2-BD59-A6C34878D82A}">
                    <a16:rowId xmlns:a16="http://schemas.microsoft.com/office/drawing/2014/main" val="2544815720"/>
                  </a:ext>
                </a:extLst>
              </a:tr>
              <a:tr h="456331">
                <a:tc>
                  <a:txBody>
                    <a:bodyPr/>
                    <a:lstStyle/>
                    <a:p>
                      <a:pPr algn="ctr" fontAlgn="b"/>
                      <a:r>
                        <a:rPr lang="es-PE" sz="2000" u="none" strike="noStrike" dirty="0">
                          <a:solidFill>
                            <a:srgbClr val="FF0000"/>
                          </a:solidFill>
                          <a:effectLst/>
                        </a:rPr>
                        <a:t>22</a:t>
                      </a:r>
                      <a:endParaRPr lang="es-PE" sz="2000" b="1" i="0" u="none" strike="noStrike" dirty="0">
                        <a:solidFill>
                          <a:srgbClr val="FF0000"/>
                        </a:solidFill>
                        <a:effectLst/>
                        <a:latin typeface="Arial Narrow"/>
                      </a:endParaRPr>
                    </a:p>
                  </a:txBody>
                  <a:tcPr marL="8527" marR="8527" marT="8527" marB="0" anchor="b"/>
                </a:tc>
                <a:extLst>
                  <a:ext uri="{0D108BD9-81ED-4DB2-BD59-A6C34878D82A}">
                    <a16:rowId xmlns:a16="http://schemas.microsoft.com/office/drawing/2014/main" val="2209939133"/>
                  </a:ext>
                </a:extLst>
              </a:tr>
              <a:tr h="456331">
                <a:tc>
                  <a:txBody>
                    <a:bodyPr/>
                    <a:lstStyle/>
                    <a:p>
                      <a:pPr algn="ctr" fontAlgn="b"/>
                      <a:r>
                        <a:rPr lang="es-PE" sz="2000" u="none" strike="noStrike" dirty="0">
                          <a:solidFill>
                            <a:srgbClr val="FF0000"/>
                          </a:solidFill>
                          <a:effectLst/>
                        </a:rPr>
                        <a:t>23</a:t>
                      </a:r>
                      <a:endParaRPr lang="es-PE" sz="2000" b="1" i="0" u="none" strike="noStrike" dirty="0">
                        <a:solidFill>
                          <a:srgbClr val="FF0000"/>
                        </a:solidFill>
                        <a:effectLst/>
                        <a:latin typeface="Arial Narrow"/>
                      </a:endParaRPr>
                    </a:p>
                  </a:txBody>
                  <a:tcPr marL="8527" marR="8527" marT="8527" marB="0" anchor="b"/>
                </a:tc>
                <a:extLst>
                  <a:ext uri="{0D108BD9-81ED-4DB2-BD59-A6C34878D82A}">
                    <a16:rowId xmlns:a16="http://schemas.microsoft.com/office/drawing/2014/main" val="3650222338"/>
                  </a:ext>
                </a:extLst>
              </a:tr>
            </a:tbl>
          </a:graphicData>
        </a:graphic>
      </p:graphicFrame>
      <p:sp>
        <p:nvSpPr>
          <p:cNvPr id="6" name="Oval 6">
            <a:extLst>
              <a:ext uri="{FF2B5EF4-FFF2-40B4-BE49-F238E27FC236}">
                <a16:creationId xmlns:a16="http://schemas.microsoft.com/office/drawing/2014/main" id="{AA5C75FC-E3AE-4B3D-BE55-62C2CEA891E7}"/>
              </a:ext>
            </a:extLst>
          </p:cNvPr>
          <p:cNvSpPr>
            <a:spLocks noChangeArrowheads="1"/>
          </p:cNvSpPr>
          <p:nvPr/>
        </p:nvSpPr>
        <p:spPr bwMode="auto">
          <a:xfrm>
            <a:off x="8061281" y="1376302"/>
            <a:ext cx="344309" cy="330580"/>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8" name="Oval 6">
            <a:extLst>
              <a:ext uri="{FF2B5EF4-FFF2-40B4-BE49-F238E27FC236}">
                <a16:creationId xmlns:a16="http://schemas.microsoft.com/office/drawing/2014/main" id="{704789DA-84F5-41ED-8732-0853D4AD8C86}"/>
              </a:ext>
            </a:extLst>
          </p:cNvPr>
          <p:cNvSpPr>
            <a:spLocks noChangeArrowheads="1"/>
          </p:cNvSpPr>
          <p:nvPr/>
        </p:nvSpPr>
        <p:spPr bwMode="auto">
          <a:xfrm>
            <a:off x="8970121" y="2296262"/>
            <a:ext cx="344309" cy="330580"/>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7" name="Oval 6">
            <a:extLst>
              <a:ext uri="{FF2B5EF4-FFF2-40B4-BE49-F238E27FC236}">
                <a16:creationId xmlns:a16="http://schemas.microsoft.com/office/drawing/2014/main" id="{03E5A76D-0DBA-413B-B9D7-7B995D38C296}"/>
              </a:ext>
            </a:extLst>
          </p:cNvPr>
          <p:cNvSpPr>
            <a:spLocks noChangeArrowheads="1"/>
          </p:cNvSpPr>
          <p:nvPr/>
        </p:nvSpPr>
        <p:spPr bwMode="auto">
          <a:xfrm>
            <a:off x="8515989" y="2747903"/>
            <a:ext cx="344309" cy="330580"/>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10" name="Oval 6">
            <a:extLst>
              <a:ext uri="{FF2B5EF4-FFF2-40B4-BE49-F238E27FC236}">
                <a16:creationId xmlns:a16="http://schemas.microsoft.com/office/drawing/2014/main" id="{1535CFBF-A7C8-430B-A08D-9A1A016CD841}"/>
              </a:ext>
            </a:extLst>
          </p:cNvPr>
          <p:cNvSpPr>
            <a:spLocks noChangeArrowheads="1"/>
          </p:cNvSpPr>
          <p:nvPr/>
        </p:nvSpPr>
        <p:spPr bwMode="auto">
          <a:xfrm>
            <a:off x="9481189" y="3263710"/>
            <a:ext cx="344309" cy="330580"/>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11" name="Oval 6">
            <a:extLst>
              <a:ext uri="{FF2B5EF4-FFF2-40B4-BE49-F238E27FC236}">
                <a16:creationId xmlns:a16="http://schemas.microsoft.com/office/drawing/2014/main" id="{6BF8CB7E-6ED6-442D-A4BB-E6FD2A0A04D8}"/>
              </a:ext>
            </a:extLst>
          </p:cNvPr>
          <p:cNvSpPr>
            <a:spLocks noChangeArrowheads="1"/>
          </p:cNvSpPr>
          <p:nvPr/>
        </p:nvSpPr>
        <p:spPr bwMode="auto">
          <a:xfrm>
            <a:off x="10019668" y="1843663"/>
            <a:ext cx="344309" cy="330580"/>
          </a:xfrm>
          <a:prstGeom prst="ellipse">
            <a:avLst/>
          </a:prstGeom>
          <a:noFill/>
          <a:ln w="12700">
            <a:solidFill>
              <a:schemeClr val="tx1"/>
            </a:solidFill>
            <a:round/>
            <a:headEnd type="none" w="sm" len="sm"/>
            <a:tailEnd type="none" w="sm" len="sm"/>
          </a:ln>
        </p:spPr>
        <p:txBody>
          <a:bodyPr wrap="none" anchor="ctr"/>
          <a:lstStyle/>
          <a:p>
            <a:endParaRPr lang="es-PE" dirty="0"/>
          </a:p>
        </p:txBody>
      </p:sp>
    </p:spTree>
    <p:extLst>
      <p:ext uri="{BB962C8B-B14F-4D97-AF65-F5344CB8AC3E}">
        <p14:creationId xmlns:p14="http://schemas.microsoft.com/office/powerpoint/2010/main" val="1747112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5"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2000"/>
                                        <p:tgtEl>
                                          <p:spTgt spid="6"/>
                                        </p:tgtEl>
                                      </p:cBhvr>
                                    </p:animEffect>
                                    <p:anim calcmode="lin" valueType="num">
                                      <p:cBhvr>
                                        <p:cTn id="24" dur="2000" fill="hold"/>
                                        <p:tgtEl>
                                          <p:spTgt spid="6"/>
                                        </p:tgtEl>
                                        <p:attrNameLst>
                                          <p:attrName>ppt_w</p:attrName>
                                        </p:attrNameLst>
                                      </p:cBhvr>
                                      <p:tavLst>
                                        <p:tav tm="0" fmla="#ppt_w*sin(2.5*pi*$)">
                                          <p:val>
                                            <p:fltVal val="0"/>
                                          </p:val>
                                        </p:tav>
                                        <p:tav tm="100000">
                                          <p:val>
                                            <p:fltVal val="1"/>
                                          </p:val>
                                        </p:tav>
                                      </p:tavLst>
                                    </p:anim>
                                    <p:anim calcmode="lin" valueType="num">
                                      <p:cBhvr>
                                        <p:cTn id="25"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45"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2000"/>
                                        <p:tgtEl>
                                          <p:spTgt spid="8"/>
                                        </p:tgtEl>
                                      </p:cBhvr>
                                    </p:animEffect>
                                    <p:anim calcmode="lin" valueType="num">
                                      <p:cBhvr>
                                        <p:cTn id="31" dur="2000" fill="hold"/>
                                        <p:tgtEl>
                                          <p:spTgt spid="8"/>
                                        </p:tgtEl>
                                        <p:attrNameLst>
                                          <p:attrName>ppt_w</p:attrName>
                                        </p:attrNameLst>
                                      </p:cBhvr>
                                      <p:tavLst>
                                        <p:tav tm="0" fmla="#ppt_w*sin(2.5*pi*$)">
                                          <p:val>
                                            <p:fltVal val="0"/>
                                          </p:val>
                                        </p:tav>
                                        <p:tav tm="100000">
                                          <p:val>
                                            <p:fltVal val="1"/>
                                          </p:val>
                                        </p:tav>
                                      </p:tavLst>
                                    </p:anim>
                                    <p:anim calcmode="lin" valueType="num">
                                      <p:cBhvr>
                                        <p:cTn id="32" dur="20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45"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2000"/>
                                        <p:tgtEl>
                                          <p:spTgt spid="7"/>
                                        </p:tgtEl>
                                      </p:cBhvr>
                                    </p:animEffect>
                                    <p:anim calcmode="lin" valueType="num">
                                      <p:cBhvr>
                                        <p:cTn id="38" dur="2000" fill="hold"/>
                                        <p:tgtEl>
                                          <p:spTgt spid="7"/>
                                        </p:tgtEl>
                                        <p:attrNameLst>
                                          <p:attrName>ppt_w</p:attrName>
                                        </p:attrNameLst>
                                      </p:cBhvr>
                                      <p:tavLst>
                                        <p:tav tm="0" fmla="#ppt_w*sin(2.5*pi*$)">
                                          <p:val>
                                            <p:fltVal val="0"/>
                                          </p:val>
                                        </p:tav>
                                        <p:tav tm="100000">
                                          <p:val>
                                            <p:fltVal val="1"/>
                                          </p:val>
                                        </p:tav>
                                      </p:tavLst>
                                    </p:anim>
                                    <p:anim calcmode="lin" valueType="num">
                                      <p:cBhvr>
                                        <p:cTn id="39"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45" presetClass="entr" presetSubtype="0"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2000"/>
                                        <p:tgtEl>
                                          <p:spTgt spid="10"/>
                                        </p:tgtEl>
                                      </p:cBhvr>
                                    </p:animEffect>
                                    <p:anim calcmode="lin" valueType="num">
                                      <p:cBhvr>
                                        <p:cTn id="45" dur="2000" fill="hold"/>
                                        <p:tgtEl>
                                          <p:spTgt spid="10"/>
                                        </p:tgtEl>
                                        <p:attrNameLst>
                                          <p:attrName>ppt_w</p:attrName>
                                        </p:attrNameLst>
                                      </p:cBhvr>
                                      <p:tavLst>
                                        <p:tav tm="0" fmla="#ppt_w*sin(2.5*pi*$)">
                                          <p:val>
                                            <p:fltVal val="0"/>
                                          </p:val>
                                        </p:tav>
                                        <p:tav tm="100000">
                                          <p:val>
                                            <p:fltVal val="1"/>
                                          </p:val>
                                        </p:tav>
                                      </p:tavLst>
                                    </p:anim>
                                    <p:anim calcmode="lin" valueType="num">
                                      <p:cBhvr>
                                        <p:cTn id="46" dur="2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45"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2000"/>
                                        <p:tgtEl>
                                          <p:spTgt spid="11"/>
                                        </p:tgtEl>
                                      </p:cBhvr>
                                    </p:animEffect>
                                    <p:anim calcmode="lin" valueType="num">
                                      <p:cBhvr>
                                        <p:cTn id="52" dur="2000" fill="hold"/>
                                        <p:tgtEl>
                                          <p:spTgt spid="11"/>
                                        </p:tgtEl>
                                        <p:attrNameLst>
                                          <p:attrName>ppt_w</p:attrName>
                                        </p:attrNameLst>
                                      </p:cBhvr>
                                      <p:tavLst>
                                        <p:tav tm="0" fmla="#ppt_w*sin(2.5*pi*$)">
                                          <p:val>
                                            <p:fltVal val="0"/>
                                          </p:val>
                                        </p:tav>
                                        <p:tav tm="100000">
                                          <p:val>
                                            <p:fltVal val="1"/>
                                          </p:val>
                                        </p:tav>
                                      </p:tavLst>
                                    </p:anim>
                                    <p:anim calcmode="lin" valueType="num">
                                      <p:cBhvr>
                                        <p:cTn id="53" dur="20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7"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a:spLocks noGrp="1"/>
          </p:cNvSpPr>
          <p:nvPr>
            <p:ph type="title"/>
          </p:nvPr>
        </p:nvSpPr>
        <p:spPr>
          <a:xfrm>
            <a:off x="2999656" y="692696"/>
            <a:ext cx="6048672" cy="490066"/>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r>
              <a:rPr lang="es-ES" sz="3200" dirty="0">
                <a:solidFill>
                  <a:schemeClr val="bg1"/>
                </a:solidFill>
                <a:latin typeface="Bauhaus 93" pitchFamily="82" charset="0"/>
                <a:ea typeface="+mn-ea"/>
                <a:cs typeface="+mn-cs"/>
              </a:rPr>
              <a:t>PROBLEMA </a:t>
            </a:r>
            <a:r>
              <a:rPr lang="es-ES" sz="3200" dirty="0" err="1">
                <a:solidFill>
                  <a:schemeClr val="bg1"/>
                </a:solidFill>
                <a:latin typeface="Bauhaus 93" pitchFamily="82" charset="0"/>
                <a:ea typeface="+mn-ea"/>
                <a:cs typeface="+mn-cs"/>
              </a:rPr>
              <a:t>N°5</a:t>
            </a:r>
            <a:endParaRPr lang="es-PE" sz="3200" dirty="0">
              <a:solidFill>
                <a:schemeClr val="bg1"/>
              </a:solidFill>
              <a:latin typeface="Bauhaus 93" pitchFamily="82" charset="0"/>
              <a:ea typeface="+mn-ea"/>
              <a:cs typeface="+mn-cs"/>
            </a:endParaRPr>
          </a:p>
        </p:txBody>
      </p:sp>
      <p:sp>
        <p:nvSpPr>
          <p:cNvPr id="4" name="1 Título">
            <a:extLst>
              <a:ext uri="{FF2B5EF4-FFF2-40B4-BE49-F238E27FC236}">
                <a16:creationId xmlns:a16="http://schemas.microsoft.com/office/drawing/2014/main" id="{6C7A1183-50EA-46A4-8E99-48237DB27510}"/>
              </a:ext>
            </a:extLst>
          </p:cNvPr>
          <p:cNvSpPr txBox="1">
            <a:spLocks/>
          </p:cNvSpPr>
          <p:nvPr/>
        </p:nvSpPr>
        <p:spPr>
          <a:xfrm>
            <a:off x="6096000" y="304507"/>
            <a:ext cx="6096000" cy="490066"/>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Problema 5</a:t>
            </a:r>
            <a:endParaRPr lang="es-PE" sz="3200" dirty="0">
              <a:solidFill>
                <a:schemeClr val="bg1"/>
              </a:solidFill>
              <a:latin typeface="Bauhaus 93" pitchFamily="82" charset="0"/>
              <a:ea typeface="+mn-ea"/>
              <a:cs typeface="+mn-cs"/>
            </a:endParaRPr>
          </a:p>
        </p:txBody>
      </p:sp>
      <p:graphicFrame>
        <p:nvGraphicFramePr>
          <p:cNvPr id="5" name="Group 27">
            <a:extLst>
              <a:ext uri="{FF2B5EF4-FFF2-40B4-BE49-F238E27FC236}">
                <a16:creationId xmlns:a16="http://schemas.microsoft.com/office/drawing/2014/main" id="{A0C6283A-A8BB-4B1F-94BC-84E4634C98A2}"/>
              </a:ext>
            </a:extLst>
          </p:cNvPr>
          <p:cNvGraphicFramePr>
            <a:graphicFrameLocks noGrp="1"/>
          </p:cNvGraphicFramePr>
          <p:nvPr/>
        </p:nvGraphicFramePr>
        <p:xfrm>
          <a:off x="6340419" y="2544786"/>
          <a:ext cx="5651327" cy="3207702"/>
        </p:xfrm>
        <a:graphic>
          <a:graphicData uri="http://schemas.openxmlformats.org/drawingml/2006/table">
            <a:tbl>
              <a:tblPr/>
              <a:tblGrid>
                <a:gridCol w="2038230">
                  <a:extLst>
                    <a:ext uri="{9D8B030D-6E8A-4147-A177-3AD203B41FA5}">
                      <a16:colId xmlns:a16="http://schemas.microsoft.com/office/drawing/2014/main" val="20000"/>
                    </a:ext>
                  </a:extLst>
                </a:gridCol>
                <a:gridCol w="712442">
                  <a:extLst>
                    <a:ext uri="{9D8B030D-6E8A-4147-A177-3AD203B41FA5}">
                      <a16:colId xmlns:a16="http://schemas.microsoft.com/office/drawing/2014/main" val="20001"/>
                    </a:ext>
                  </a:extLst>
                </a:gridCol>
                <a:gridCol w="712442">
                  <a:extLst>
                    <a:ext uri="{9D8B030D-6E8A-4147-A177-3AD203B41FA5}">
                      <a16:colId xmlns:a16="http://schemas.microsoft.com/office/drawing/2014/main" val="20002"/>
                    </a:ext>
                  </a:extLst>
                </a:gridCol>
                <a:gridCol w="732474">
                  <a:extLst>
                    <a:ext uri="{9D8B030D-6E8A-4147-A177-3AD203B41FA5}">
                      <a16:colId xmlns:a16="http://schemas.microsoft.com/office/drawing/2014/main" val="20003"/>
                    </a:ext>
                  </a:extLst>
                </a:gridCol>
                <a:gridCol w="743152">
                  <a:extLst>
                    <a:ext uri="{9D8B030D-6E8A-4147-A177-3AD203B41FA5}">
                      <a16:colId xmlns:a16="http://schemas.microsoft.com/office/drawing/2014/main" val="20004"/>
                    </a:ext>
                  </a:extLst>
                </a:gridCol>
                <a:gridCol w="712587">
                  <a:extLst>
                    <a:ext uri="{9D8B030D-6E8A-4147-A177-3AD203B41FA5}">
                      <a16:colId xmlns:a16="http://schemas.microsoft.com/office/drawing/2014/main" val="20005"/>
                    </a:ext>
                  </a:extLst>
                </a:gridCol>
              </a:tblGrid>
              <a:tr h="834520">
                <a:tc>
                  <a:txBody>
                    <a:bodyPr/>
                    <a:lstStyle/>
                    <a:p>
                      <a:pPr marL="0" marR="0" lvl="0" indent="0" algn="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Tarea</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l"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Trabajador </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1</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3</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4</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5</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305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01</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02</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03</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04</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05</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20</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16</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8</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20</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4</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14</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8</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6</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22</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16</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6</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22</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24</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22</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10</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20</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14</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8</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6</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22</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10</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12</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6</a:t>
                      </a:r>
                      <a:endParaRPr kumimoji="0" lang="es-ES" sz="2800" b="0" i="0" u="none" strike="noStrike" cap="none" normalizeH="0" baseline="0" dirty="0">
                        <a:ln>
                          <a:noFill/>
                        </a:ln>
                        <a:solidFill>
                          <a:schemeClr val="tx1"/>
                        </a:solidFill>
                        <a:effectLst/>
                        <a:latin typeface="Arial" charset="0"/>
                        <a:cs typeface="Times New Roman" pitchFamily="18" charset="0"/>
                      </a:endParaRPr>
                    </a:p>
                    <a:p>
                      <a:pPr marL="0" marR="0" lvl="0" indent="0" algn="ctr" defTabSz="762000" rtl="0" eaLnBrk="0" fontAlgn="base" latinLnBrk="0" hangingPunct="0">
                        <a:lnSpc>
                          <a:spcPct val="95000"/>
                        </a:lnSpc>
                        <a:spcBef>
                          <a:spcPct val="0"/>
                        </a:spcBef>
                        <a:spcAft>
                          <a:spcPct val="0"/>
                        </a:spcAft>
                        <a:buClrTx/>
                        <a:buSzTx/>
                        <a:buFontTx/>
                        <a:buNone/>
                        <a:tabLst/>
                      </a:pPr>
                      <a:r>
                        <a:rPr kumimoji="0" lang="es-ES" sz="2800" b="1" i="0" u="none" strike="noStrike" cap="none" normalizeH="0" baseline="0" dirty="0">
                          <a:ln>
                            <a:noFill/>
                          </a:ln>
                          <a:solidFill>
                            <a:schemeClr val="tx1"/>
                          </a:solidFill>
                          <a:effectLst/>
                          <a:latin typeface="Arial" charset="0"/>
                          <a:cs typeface="Times New Roman" pitchFamily="18" charset="0"/>
                        </a:rPr>
                        <a:t>24</a:t>
                      </a:r>
                      <a:endParaRPr kumimoji="0" lang="es-E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Rectangle 2">
            <a:extLst>
              <a:ext uri="{FF2B5EF4-FFF2-40B4-BE49-F238E27FC236}">
                <a16:creationId xmlns:a16="http://schemas.microsoft.com/office/drawing/2014/main" id="{2331663A-227F-4AE1-BF8C-98BF109F1174}"/>
              </a:ext>
            </a:extLst>
          </p:cNvPr>
          <p:cNvSpPr txBox="1">
            <a:spLocks noChangeArrowheads="1"/>
          </p:cNvSpPr>
          <p:nvPr/>
        </p:nvSpPr>
        <p:spPr>
          <a:xfrm>
            <a:off x="6096000" y="1710613"/>
            <a:ext cx="6096000" cy="436439"/>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rgbClr val="002060"/>
                </a:solidFill>
                <a:latin typeface="Bauhaus 93" pitchFamily="82" charset="0"/>
                <a:ea typeface="+mn-ea"/>
                <a:cs typeface="+mn-cs"/>
              </a:rPr>
              <a:t>Distancias (cuadras)</a:t>
            </a:r>
          </a:p>
        </p:txBody>
      </p:sp>
      <p:sp>
        <p:nvSpPr>
          <p:cNvPr id="8" name="CuadroTexto 7">
            <a:extLst>
              <a:ext uri="{FF2B5EF4-FFF2-40B4-BE49-F238E27FC236}">
                <a16:creationId xmlns:a16="http://schemas.microsoft.com/office/drawing/2014/main" id="{02F610A8-438E-9DE0-8706-F594D6704EC5}"/>
              </a:ext>
            </a:extLst>
          </p:cNvPr>
          <p:cNvSpPr txBox="1"/>
          <p:nvPr/>
        </p:nvSpPr>
        <p:spPr>
          <a:xfrm>
            <a:off x="0" y="1271657"/>
            <a:ext cx="6100354" cy="4893647"/>
          </a:xfrm>
          <a:prstGeom prst="rect">
            <a:avLst/>
          </a:prstGeom>
          <a:solidFill>
            <a:schemeClr val="accent1">
              <a:lumMod val="40000"/>
              <a:lumOff val="60000"/>
            </a:schemeClr>
          </a:solidFill>
        </p:spPr>
        <p:txBody>
          <a:bodyPr wrap="square">
            <a:spAutoFit/>
          </a:bodyPr>
          <a:lstStyle/>
          <a:p>
            <a:pPr lvl="0" algn="just" rtl="0"/>
            <a:r>
              <a:rPr lang="es-ES" sz="2400" b="1" dirty="0"/>
              <a:t>Una compañía se dedica a la reparación de lavadoras y secadoras domésticas en la ciudad.  Con el objeto de ahorrar tiempo de manejo y costos al inicio de cada día, el trabajador de servicio se dirige  directamente de sus casas a los lugares donde se les requiere. </a:t>
            </a:r>
          </a:p>
          <a:p>
            <a:pPr lvl="0" algn="just" rtl="0"/>
            <a:r>
              <a:rPr lang="es-ES" sz="2400" b="1" dirty="0"/>
              <a:t>La tabla siguiente presenta las distancias asociadas con las 5 primeras tareas que deben llevarse a cabo.  A cada trabajador de servicio se les paga por conducir.  Determinar la asignación del personal de servicio a su primer trabajo del día de manera que la distancia sea lo menor posible. </a:t>
            </a:r>
            <a:endParaRPr lang="es-PE" sz="2400" b="1" dirty="0"/>
          </a:p>
        </p:txBody>
      </p:sp>
    </p:spTree>
    <p:extLst>
      <p:ext uri="{BB962C8B-B14F-4D97-AF65-F5344CB8AC3E}">
        <p14:creationId xmlns:p14="http://schemas.microsoft.com/office/powerpoint/2010/main" val="280810049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0" y="436901"/>
            <a:ext cx="6096000" cy="364431"/>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PE" sz="3200" dirty="0">
                <a:solidFill>
                  <a:schemeClr val="bg1"/>
                </a:solidFill>
                <a:latin typeface="Bauhaus 93" pitchFamily="82" charset="0"/>
                <a:ea typeface="+mn-ea"/>
                <a:cs typeface="+mn-cs"/>
              </a:rPr>
              <a:t>Modelo Matemático</a:t>
            </a:r>
          </a:p>
        </p:txBody>
      </p:sp>
      <p:sp>
        <p:nvSpPr>
          <p:cNvPr id="5" name="TextShape 2">
            <a:extLst>
              <a:ext uri="{FF2B5EF4-FFF2-40B4-BE49-F238E27FC236}">
                <a16:creationId xmlns:a16="http://schemas.microsoft.com/office/drawing/2014/main" id="{BC7AD4EE-7B04-4E67-A3B6-66CBAADA8AA1}"/>
              </a:ext>
            </a:extLst>
          </p:cNvPr>
          <p:cNvSpPr txBox="1"/>
          <p:nvPr/>
        </p:nvSpPr>
        <p:spPr>
          <a:xfrm>
            <a:off x="152400" y="1378542"/>
            <a:ext cx="5933254" cy="4970500"/>
          </a:xfrm>
          <a:prstGeom prst="rect">
            <a:avLst/>
          </a:prstGeom>
          <a:solidFill>
            <a:schemeClr val="accent1">
              <a:lumMod val="40000"/>
              <a:lumOff val="60000"/>
            </a:schemeClr>
          </a:solidFill>
          <a:ln w="9360">
            <a:noFill/>
          </a:ln>
        </p:spPr>
        <p:txBody>
          <a:bodyPr>
            <a:noAutofit/>
          </a:bodyPr>
          <a:lstStyle/>
          <a:p>
            <a:pPr marL="343080" indent="-342720"/>
            <a:r>
              <a:rPr lang="es-ES" sz="2000" b="1" spc="-1" dirty="0">
                <a:solidFill>
                  <a:srgbClr val="FF0000"/>
                </a:solidFill>
                <a:latin typeface="Arial Narrow" panose="020B0606020202030204" pitchFamily="34" charset="0"/>
              </a:rPr>
              <a:t>I.	Identificación de variables. </a:t>
            </a:r>
          </a:p>
          <a:p>
            <a:pPr lvl="0"/>
            <a:r>
              <a:rPr lang="es-ES"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Xij</a:t>
            </a:r>
            <a:r>
              <a:rPr lang="es-PE" sz="2000" b="1" spc="-1" dirty="0">
                <a:solidFill>
                  <a:schemeClr val="accent1">
                    <a:lumMod val="75000"/>
                  </a:schemeClr>
                </a:solidFill>
                <a:latin typeface="Arial Narrow" panose="020B0606020202030204" pitchFamily="34" charset="0"/>
              </a:rPr>
              <a:t>=0 Al trabajador i no se le asigna la tarea j</a:t>
            </a:r>
          </a:p>
          <a:p>
            <a:pPr marL="343080" indent="-342720"/>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Xij</a:t>
            </a:r>
            <a:r>
              <a:rPr lang="es-PE" sz="2000" b="1" spc="-1" dirty="0">
                <a:solidFill>
                  <a:schemeClr val="accent1">
                    <a:lumMod val="75000"/>
                  </a:schemeClr>
                </a:solidFill>
                <a:latin typeface="Arial Narrow" panose="020B0606020202030204" pitchFamily="34" charset="0"/>
              </a:rPr>
              <a:t>=1 Al trabajador i se le asigna la tarea j</a:t>
            </a:r>
          </a:p>
          <a:p>
            <a:pPr marL="343080" indent="-342720"/>
            <a:r>
              <a:rPr lang="es-ES" sz="2000" b="1" spc="-1" dirty="0">
                <a:solidFill>
                  <a:srgbClr val="FF0000"/>
                </a:solidFill>
                <a:latin typeface="Arial Narrow" panose="020B0606020202030204" pitchFamily="34" charset="0"/>
              </a:rPr>
              <a:t>II.	Identificación de la función objetivo.</a:t>
            </a:r>
          </a:p>
          <a:p>
            <a:r>
              <a:rPr lang="es-ES" sz="2000" b="1" spc="-1" dirty="0">
                <a:solidFill>
                  <a:schemeClr val="accent1">
                    <a:lumMod val="75000"/>
                  </a:schemeClr>
                </a:solidFill>
                <a:latin typeface="Arial Narrow" panose="020B0606020202030204" pitchFamily="34" charset="0"/>
              </a:rPr>
              <a:t>	</a:t>
            </a:r>
            <a:r>
              <a:rPr lang="es-PE" sz="2000" b="1" spc="-1" dirty="0">
                <a:solidFill>
                  <a:schemeClr val="accent1">
                    <a:lumMod val="75000"/>
                  </a:schemeClr>
                </a:solidFill>
                <a:latin typeface="Arial Narrow" panose="020B0606020202030204" pitchFamily="34" charset="0"/>
              </a:rPr>
              <a:t>Min </a:t>
            </a:r>
            <a:r>
              <a:rPr lang="es-PE" sz="2000" b="1" spc="-1" dirty="0" err="1">
                <a:solidFill>
                  <a:schemeClr val="accent1">
                    <a:lumMod val="75000"/>
                  </a:schemeClr>
                </a:solidFill>
                <a:latin typeface="Arial Narrow" panose="020B0606020202030204" pitchFamily="34" charset="0"/>
              </a:rPr>
              <a:t>20X11+14X12+6X13+10X14</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22X15</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16X21</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8X22</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22X23+20X24</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10X25</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8X31</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6X32</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24X33</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14X34+12X35</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20X41+22X42+2X43</a:t>
            </a:r>
            <a:r>
              <a:rPr lang="es-PE" sz="2000" b="1" spc="-1" dirty="0">
                <a:solidFill>
                  <a:schemeClr val="accent1">
                    <a:lumMod val="75000"/>
                  </a:schemeClr>
                </a:solidFill>
                <a:latin typeface="Arial Narrow" panose="020B0606020202030204" pitchFamily="34" charset="0"/>
              </a:rPr>
              <a:t> +   </a:t>
            </a:r>
            <a:r>
              <a:rPr lang="es-PE" sz="2000" b="1" spc="-1" dirty="0" err="1">
                <a:solidFill>
                  <a:schemeClr val="accent1">
                    <a:lumMod val="75000"/>
                  </a:schemeClr>
                </a:solidFill>
                <a:latin typeface="Arial Narrow" panose="020B0606020202030204" pitchFamily="34" charset="0"/>
              </a:rPr>
              <a:t>8X44</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6X45</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4X51+16X52</a:t>
            </a:r>
            <a:r>
              <a:rPr lang="es-PE" sz="2000" b="1" spc="-1" dirty="0">
                <a:solidFill>
                  <a:schemeClr val="accent1">
                    <a:lumMod val="75000"/>
                  </a:schemeClr>
                </a:solidFill>
                <a:latin typeface="Arial Narrow" panose="020B0606020202030204" pitchFamily="34" charset="0"/>
              </a:rPr>
              <a:t>+ </a:t>
            </a:r>
            <a:r>
              <a:rPr lang="es-PE" sz="2000" b="1" spc="-1" dirty="0" err="1">
                <a:solidFill>
                  <a:schemeClr val="accent1">
                    <a:lumMod val="75000"/>
                  </a:schemeClr>
                </a:solidFill>
                <a:latin typeface="Arial Narrow" panose="020B0606020202030204" pitchFamily="34" charset="0"/>
              </a:rPr>
              <a:t>22X53+6X54+24X55</a:t>
            </a:r>
            <a:endParaRPr lang="es-PE" sz="2000" b="1" spc="-1" dirty="0">
              <a:solidFill>
                <a:schemeClr val="accent1">
                  <a:lumMod val="75000"/>
                </a:schemeClr>
              </a:solidFill>
              <a:latin typeface="Arial Narrow" panose="020B0606020202030204" pitchFamily="34" charset="0"/>
            </a:endParaRPr>
          </a:p>
          <a:p>
            <a:pPr marL="343080" indent="-342720"/>
            <a:r>
              <a:rPr lang="es-ES" sz="2000" b="1" spc="-1" dirty="0">
                <a:solidFill>
                  <a:srgbClr val="FF0000"/>
                </a:solidFill>
                <a:latin typeface="Arial Narrow" panose="020B0606020202030204" pitchFamily="34" charset="0"/>
              </a:rPr>
              <a:t>III	Identificación de Restricciones.</a:t>
            </a:r>
          </a:p>
          <a:p>
            <a:pPr lvl="0"/>
            <a:r>
              <a:rPr lang="es-PE" sz="2000" b="1" spc="-1" dirty="0" err="1">
                <a:solidFill>
                  <a:schemeClr val="accent1">
                    <a:lumMod val="75000"/>
                  </a:schemeClr>
                </a:solidFill>
                <a:latin typeface="Arial Narrow" panose="020B0606020202030204" pitchFamily="34" charset="0"/>
              </a:rPr>
              <a:t>X11+X12+X13+X14+X15</a:t>
            </a:r>
            <a:r>
              <a:rPr lang="es-PE" sz="2000" b="1" spc="-1" dirty="0">
                <a:solidFill>
                  <a:schemeClr val="accent1">
                    <a:lumMod val="75000"/>
                  </a:schemeClr>
                </a:solidFill>
                <a:latin typeface="Arial Narrow" panose="020B0606020202030204" pitchFamily="34" charset="0"/>
              </a:rPr>
              <a:t>=1	  </a:t>
            </a:r>
            <a:r>
              <a:rPr lang="es-PE" sz="2000" b="1" spc="-1" dirty="0" err="1">
                <a:solidFill>
                  <a:schemeClr val="accent1">
                    <a:lumMod val="75000"/>
                  </a:schemeClr>
                </a:solidFill>
                <a:latin typeface="Arial Narrow" panose="020B0606020202030204" pitchFamily="34" charset="0"/>
              </a:rPr>
              <a:t>X11+X21+X31+X41+X51</a:t>
            </a:r>
            <a:r>
              <a:rPr lang="es-PE" sz="2000" b="1" spc="-1" dirty="0">
                <a:solidFill>
                  <a:schemeClr val="accent1">
                    <a:lumMod val="75000"/>
                  </a:schemeClr>
                </a:solidFill>
                <a:latin typeface="Arial Narrow" panose="020B0606020202030204" pitchFamily="34" charset="0"/>
              </a:rPr>
              <a:t>=1</a:t>
            </a:r>
          </a:p>
          <a:p>
            <a:pPr lvl="0"/>
            <a:r>
              <a:rPr lang="es-PE" sz="2000" b="1" spc="-1" dirty="0" err="1">
                <a:solidFill>
                  <a:schemeClr val="accent1">
                    <a:lumMod val="75000"/>
                  </a:schemeClr>
                </a:solidFill>
                <a:latin typeface="Arial Narrow" panose="020B0606020202030204" pitchFamily="34" charset="0"/>
              </a:rPr>
              <a:t>X21+X22+X23+X24+X25</a:t>
            </a:r>
            <a:r>
              <a:rPr lang="es-PE" sz="2000" b="1" spc="-1" dirty="0">
                <a:solidFill>
                  <a:schemeClr val="accent1">
                    <a:lumMod val="75000"/>
                  </a:schemeClr>
                </a:solidFill>
                <a:latin typeface="Arial Narrow" panose="020B0606020202030204" pitchFamily="34" charset="0"/>
              </a:rPr>
              <a:t>=1	  </a:t>
            </a:r>
            <a:r>
              <a:rPr lang="es-PE" sz="2000" b="1" spc="-1" dirty="0" err="1">
                <a:solidFill>
                  <a:schemeClr val="accent1">
                    <a:lumMod val="75000"/>
                  </a:schemeClr>
                </a:solidFill>
                <a:latin typeface="Arial Narrow" panose="020B0606020202030204" pitchFamily="34" charset="0"/>
              </a:rPr>
              <a:t>X12+X22+X32+X42+X52</a:t>
            </a:r>
            <a:r>
              <a:rPr lang="es-PE" sz="2000" b="1" spc="-1" dirty="0">
                <a:solidFill>
                  <a:schemeClr val="accent1">
                    <a:lumMod val="75000"/>
                  </a:schemeClr>
                </a:solidFill>
                <a:latin typeface="Arial Narrow" panose="020B0606020202030204" pitchFamily="34" charset="0"/>
              </a:rPr>
              <a:t>=1</a:t>
            </a:r>
          </a:p>
          <a:p>
            <a:pPr lvl="0"/>
            <a:r>
              <a:rPr lang="es-PE" sz="2000" b="1" spc="-1" dirty="0" err="1">
                <a:solidFill>
                  <a:schemeClr val="accent1">
                    <a:lumMod val="75000"/>
                  </a:schemeClr>
                </a:solidFill>
                <a:latin typeface="Arial Narrow" panose="020B0606020202030204" pitchFamily="34" charset="0"/>
              </a:rPr>
              <a:t>X31+X32+X33+X34+X35</a:t>
            </a:r>
            <a:r>
              <a:rPr lang="es-PE" sz="2000" b="1" spc="-1" dirty="0">
                <a:solidFill>
                  <a:schemeClr val="accent1">
                    <a:lumMod val="75000"/>
                  </a:schemeClr>
                </a:solidFill>
                <a:latin typeface="Arial Narrow" panose="020B0606020202030204" pitchFamily="34" charset="0"/>
              </a:rPr>
              <a:t>=1	  </a:t>
            </a:r>
            <a:r>
              <a:rPr lang="es-PE" sz="2000" b="1" spc="-1" dirty="0" err="1">
                <a:solidFill>
                  <a:schemeClr val="accent1">
                    <a:lumMod val="75000"/>
                  </a:schemeClr>
                </a:solidFill>
                <a:latin typeface="Arial Narrow" panose="020B0606020202030204" pitchFamily="34" charset="0"/>
              </a:rPr>
              <a:t>X13+X23+X33+X43+X53</a:t>
            </a:r>
            <a:r>
              <a:rPr lang="es-PE" sz="2000" b="1" spc="-1" dirty="0">
                <a:solidFill>
                  <a:schemeClr val="accent1">
                    <a:lumMod val="75000"/>
                  </a:schemeClr>
                </a:solidFill>
                <a:latin typeface="Arial Narrow" panose="020B0606020202030204" pitchFamily="34" charset="0"/>
              </a:rPr>
              <a:t>=1</a:t>
            </a:r>
          </a:p>
          <a:p>
            <a:pPr lvl="0"/>
            <a:r>
              <a:rPr lang="es-PE" sz="2000" b="1" spc="-1" dirty="0" err="1">
                <a:solidFill>
                  <a:schemeClr val="accent1">
                    <a:lumMod val="75000"/>
                  </a:schemeClr>
                </a:solidFill>
                <a:latin typeface="Arial Narrow" panose="020B0606020202030204" pitchFamily="34" charset="0"/>
              </a:rPr>
              <a:t>X41+X42+X43+X44+X45</a:t>
            </a:r>
            <a:r>
              <a:rPr lang="es-PE" sz="2000" b="1" spc="-1" dirty="0">
                <a:solidFill>
                  <a:schemeClr val="accent1">
                    <a:lumMod val="75000"/>
                  </a:schemeClr>
                </a:solidFill>
                <a:latin typeface="Arial Narrow" panose="020B0606020202030204" pitchFamily="34" charset="0"/>
              </a:rPr>
              <a:t>=1	  </a:t>
            </a:r>
            <a:r>
              <a:rPr lang="es-PE" sz="2000" b="1" spc="-1" dirty="0" err="1">
                <a:solidFill>
                  <a:schemeClr val="accent1">
                    <a:lumMod val="75000"/>
                  </a:schemeClr>
                </a:solidFill>
                <a:latin typeface="Arial Narrow" panose="020B0606020202030204" pitchFamily="34" charset="0"/>
              </a:rPr>
              <a:t>X14+X24+X34+X44+X54</a:t>
            </a:r>
            <a:r>
              <a:rPr lang="es-PE" sz="2000" b="1" spc="-1" dirty="0">
                <a:solidFill>
                  <a:schemeClr val="accent1">
                    <a:lumMod val="75000"/>
                  </a:schemeClr>
                </a:solidFill>
                <a:latin typeface="Arial Narrow" panose="020B0606020202030204" pitchFamily="34" charset="0"/>
              </a:rPr>
              <a:t>=1</a:t>
            </a:r>
          </a:p>
          <a:p>
            <a:pPr lvl="0"/>
            <a:r>
              <a:rPr lang="es-PE" sz="2000" b="1" spc="-1" dirty="0" err="1">
                <a:solidFill>
                  <a:schemeClr val="accent1">
                    <a:lumMod val="75000"/>
                  </a:schemeClr>
                </a:solidFill>
                <a:latin typeface="Arial Narrow" panose="020B0606020202030204" pitchFamily="34" charset="0"/>
              </a:rPr>
              <a:t>X51+X52+X53+X54+X55</a:t>
            </a:r>
            <a:r>
              <a:rPr lang="es-PE" sz="2000" b="1" spc="-1" dirty="0">
                <a:solidFill>
                  <a:schemeClr val="accent1">
                    <a:lumMod val="75000"/>
                  </a:schemeClr>
                </a:solidFill>
                <a:latin typeface="Arial Narrow" panose="020B0606020202030204" pitchFamily="34" charset="0"/>
              </a:rPr>
              <a:t>=1	  </a:t>
            </a:r>
            <a:r>
              <a:rPr lang="es-PE" sz="2000" b="1" spc="-1" dirty="0" err="1">
                <a:solidFill>
                  <a:schemeClr val="accent1">
                    <a:lumMod val="75000"/>
                  </a:schemeClr>
                </a:solidFill>
                <a:latin typeface="Arial Narrow" panose="020B0606020202030204" pitchFamily="34" charset="0"/>
              </a:rPr>
              <a:t>X15+X25+X35+X45+X55</a:t>
            </a:r>
            <a:r>
              <a:rPr lang="es-PE" sz="2000" b="1" spc="-1" dirty="0">
                <a:solidFill>
                  <a:schemeClr val="accent1">
                    <a:lumMod val="75000"/>
                  </a:schemeClr>
                </a:solidFill>
                <a:latin typeface="Arial Narrow" panose="020B0606020202030204" pitchFamily="34" charset="0"/>
              </a:rPr>
              <a:t>=1</a:t>
            </a:r>
          </a:p>
          <a:p>
            <a:pPr lvl="0"/>
            <a:r>
              <a:rPr lang="es-ES" sz="2000" b="1" spc="-1" dirty="0" err="1">
                <a:solidFill>
                  <a:schemeClr val="accent1">
                    <a:lumMod val="75000"/>
                  </a:schemeClr>
                </a:solidFill>
                <a:latin typeface="Arial Narrow" panose="020B0606020202030204" pitchFamily="34" charset="0"/>
              </a:rPr>
              <a:t>Xij</a:t>
            </a:r>
            <a:r>
              <a:rPr lang="es-ES" sz="2000" b="1" spc="-1" dirty="0">
                <a:solidFill>
                  <a:schemeClr val="accent1">
                    <a:lumMod val="75000"/>
                  </a:schemeClr>
                </a:solidFill>
                <a:latin typeface="Arial Narrow" panose="020B0606020202030204" pitchFamily="34" charset="0"/>
              </a:rPr>
              <a:t> &gt;=0, BINARIO</a:t>
            </a:r>
            <a:endParaRPr lang="es-PE" sz="2000" b="1" spc="-1" dirty="0">
              <a:solidFill>
                <a:schemeClr val="accent1">
                  <a:lumMod val="75000"/>
                </a:schemeClr>
              </a:solidFill>
              <a:latin typeface="Arial Narrow" panose="020B0606020202030204" pitchFamily="34" charset="0"/>
            </a:endParaRPr>
          </a:p>
          <a:p>
            <a:pPr marL="343080" indent="-342720"/>
            <a:endParaRPr lang="es-ES" sz="2000" b="1" spc="-1" dirty="0">
              <a:solidFill>
                <a:schemeClr val="accent1">
                  <a:lumMod val="75000"/>
                </a:schemeClr>
              </a:solidFill>
              <a:latin typeface="Arial Narrow" panose="020B0606020202030204" pitchFamily="34" charset="0"/>
            </a:endParaRPr>
          </a:p>
        </p:txBody>
      </p:sp>
      <p:sp>
        <p:nvSpPr>
          <p:cNvPr id="7" name="3 Rectángulo">
            <a:extLst>
              <a:ext uri="{FF2B5EF4-FFF2-40B4-BE49-F238E27FC236}">
                <a16:creationId xmlns:a16="http://schemas.microsoft.com/office/drawing/2014/main" id="{56E944E0-EB59-49C8-ABFE-49A4A92B8752}"/>
              </a:ext>
            </a:extLst>
          </p:cNvPr>
          <p:cNvSpPr/>
          <p:nvPr/>
        </p:nvSpPr>
        <p:spPr>
          <a:xfrm>
            <a:off x="6106347" y="1225689"/>
            <a:ext cx="6085653" cy="5632311"/>
          </a:xfrm>
          <a:prstGeom prst="rect">
            <a:avLst/>
          </a:prstGeom>
          <a:solidFill>
            <a:srgbClr val="FFFF00"/>
          </a:solidFill>
        </p:spPr>
        <p:txBody>
          <a:bodyPr wrap="square">
            <a:spAutoFit/>
          </a:bodyPr>
          <a:lstStyle/>
          <a:p>
            <a:r>
              <a:rPr lang="es-PE" b="1" dirty="0">
                <a:latin typeface="Arial Narrow" pitchFamily="34" charset="0"/>
              </a:rPr>
              <a:t>Min 20X11+14X12+6X13+10X14+ 22X15+ 16X21+8X22+ 22X23+ 20X24+ 10X25+  8X31+6X32+24X33+ 14X34+12X35+ 20X41+ 22X42+2X43+8X44+ 6X45+ 4X51+16X52+ 22X53+6X54+24X55</a:t>
            </a:r>
          </a:p>
          <a:p>
            <a:r>
              <a:rPr lang="es-PE" b="1" dirty="0">
                <a:latin typeface="Arial Narrow" pitchFamily="34" charset="0"/>
              </a:rPr>
              <a:t>ST</a:t>
            </a:r>
          </a:p>
          <a:p>
            <a:r>
              <a:rPr lang="es-PE" b="1" dirty="0">
                <a:latin typeface="Arial Narrow" pitchFamily="34" charset="0"/>
              </a:rPr>
              <a:t>X11+X12+X13+X14+X15=1	</a:t>
            </a:r>
          </a:p>
          <a:p>
            <a:r>
              <a:rPr lang="es-PE" b="1" dirty="0">
                <a:latin typeface="Arial Narrow" pitchFamily="34" charset="0"/>
              </a:rPr>
              <a:t>X21+X22+X23+X24+X25=1 </a:t>
            </a:r>
          </a:p>
          <a:p>
            <a:r>
              <a:rPr lang="es-PE" b="1" dirty="0">
                <a:latin typeface="Arial Narrow" pitchFamily="34" charset="0"/>
              </a:rPr>
              <a:t>X31+X32+X33+X34+X35=1</a:t>
            </a:r>
          </a:p>
          <a:p>
            <a:r>
              <a:rPr lang="es-PE" b="1" dirty="0">
                <a:latin typeface="Arial Narrow" pitchFamily="34" charset="0"/>
              </a:rPr>
              <a:t>X41+X42+X43+X44+X45=1 </a:t>
            </a:r>
          </a:p>
          <a:p>
            <a:r>
              <a:rPr lang="es-PE" b="1" dirty="0">
                <a:latin typeface="Arial Narrow" pitchFamily="34" charset="0"/>
              </a:rPr>
              <a:t>X51+X52+X53+X54+X55=1	</a:t>
            </a:r>
          </a:p>
          <a:p>
            <a:r>
              <a:rPr lang="es-PE" b="1" dirty="0" err="1">
                <a:latin typeface="Arial Narrow" pitchFamily="34" charset="0"/>
              </a:rPr>
              <a:t>X11+X21+X31+X41+X51</a:t>
            </a:r>
            <a:r>
              <a:rPr lang="es-PE" b="1" dirty="0">
                <a:latin typeface="Arial Narrow" pitchFamily="34" charset="0"/>
              </a:rPr>
              <a:t>=1</a:t>
            </a:r>
          </a:p>
          <a:p>
            <a:r>
              <a:rPr lang="es-PE" b="1" dirty="0">
                <a:latin typeface="Arial Narrow" pitchFamily="34" charset="0"/>
              </a:rPr>
              <a:t>X12+X22+X32+X42+X52=1</a:t>
            </a:r>
          </a:p>
          <a:p>
            <a:r>
              <a:rPr lang="es-PE" b="1" dirty="0">
                <a:latin typeface="Arial Narrow" pitchFamily="34" charset="0"/>
              </a:rPr>
              <a:t>X13+X23+X33+X43+X53=1</a:t>
            </a:r>
          </a:p>
          <a:p>
            <a:r>
              <a:rPr lang="es-PE" b="1" dirty="0">
                <a:latin typeface="Arial Narrow" pitchFamily="34" charset="0"/>
              </a:rPr>
              <a:t>X14+X24+X34+X44+X54=1</a:t>
            </a:r>
          </a:p>
          <a:p>
            <a:r>
              <a:rPr lang="es-PE" b="1" dirty="0" err="1">
                <a:latin typeface="Arial Narrow" pitchFamily="34" charset="0"/>
              </a:rPr>
              <a:t>X15+X25+X35+X45+X55</a:t>
            </a:r>
            <a:r>
              <a:rPr lang="es-PE" b="1" dirty="0">
                <a:latin typeface="Arial Narrow" pitchFamily="34" charset="0"/>
              </a:rPr>
              <a:t>=1</a:t>
            </a:r>
          </a:p>
          <a:p>
            <a:r>
              <a:rPr lang="es-ES" b="1" dirty="0" err="1">
                <a:latin typeface="Arial Narrow" pitchFamily="34" charset="0"/>
              </a:rPr>
              <a:t>END</a:t>
            </a:r>
            <a:endParaRPr lang="es-ES" b="1" dirty="0">
              <a:latin typeface="Arial Narrow" pitchFamily="34" charset="0"/>
            </a:endParaRPr>
          </a:p>
          <a:p>
            <a:r>
              <a:rPr lang="es-ES" b="1" dirty="0" err="1">
                <a:latin typeface="Arial Narrow" pitchFamily="34" charset="0"/>
              </a:rPr>
              <a:t>INT</a:t>
            </a:r>
            <a:r>
              <a:rPr lang="es-ES" b="1" dirty="0">
                <a:latin typeface="Arial Narrow" pitchFamily="34" charset="0"/>
              </a:rPr>
              <a:t> </a:t>
            </a:r>
            <a:r>
              <a:rPr lang="es-ES" b="1" dirty="0" err="1">
                <a:latin typeface="Arial Narrow" pitchFamily="34" charset="0"/>
              </a:rPr>
              <a:t>X11</a:t>
            </a:r>
            <a:endParaRPr lang="es-ES" b="1" dirty="0">
              <a:latin typeface="Arial Narrow" pitchFamily="34" charset="0"/>
            </a:endParaRPr>
          </a:p>
          <a:p>
            <a:r>
              <a:rPr lang="es-ES" b="1" dirty="0" err="1">
                <a:latin typeface="Arial Narrow" pitchFamily="34" charset="0"/>
              </a:rPr>
              <a:t>INT</a:t>
            </a:r>
            <a:r>
              <a:rPr lang="es-ES" b="1" dirty="0">
                <a:latin typeface="Arial Narrow" pitchFamily="34" charset="0"/>
              </a:rPr>
              <a:t> </a:t>
            </a:r>
            <a:r>
              <a:rPr lang="es-ES" b="1" dirty="0" err="1">
                <a:latin typeface="Arial Narrow" pitchFamily="34" charset="0"/>
              </a:rPr>
              <a:t>X12</a:t>
            </a:r>
            <a:endParaRPr lang="es-ES" b="1" dirty="0">
              <a:latin typeface="Arial Narrow" pitchFamily="34" charset="0"/>
            </a:endParaRPr>
          </a:p>
          <a:p>
            <a:r>
              <a:rPr lang="es-ES" b="1" dirty="0">
                <a:latin typeface="Arial Narrow" pitchFamily="34" charset="0"/>
              </a:rPr>
              <a:t>INT X13</a:t>
            </a:r>
          </a:p>
          <a:p>
            <a:r>
              <a:rPr lang="es-ES" b="1" dirty="0">
                <a:latin typeface="Arial Narrow" pitchFamily="34" charset="0"/>
              </a:rPr>
              <a:t>INT X14</a:t>
            </a:r>
          </a:p>
          <a:p>
            <a:r>
              <a:rPr lang="es-ES" b="1" dirty="0">
                <a:latin typeface="Arial Narrow" pitchFamily="34" charset="0"/>
              </a:rPr>
              <a:t>INT X15</a:t>
            </a:r>
            <a:r>
              <a:rPr lang="es-PE" b="1" dirty="0">
                <a:latin typeface="Arial Narrow" pitchFamily="34" charset="0"/>
              </a:rPr>
              <a:t>……..</a:t>
            </a:r>
          </a:p>
        </p:txBody>
      </p:sp>
      <p:sp>
        <p:nvSpPr>
          <p:cNvPr id="8" name="2 Rectángulo">
            <a:extLst>
              <a:ext uri="{FF2B5EF4-FFF2-40B4-BE49-F238E27FC236}">
                <a16:creationId xmlns:a16="http://schemas.microsoft.com/office/drawing/2014/main" id="{819AE513-B3A0-4405-97CB-4FB50B98476A}"/>
              </a:ext>
            </a:extLst>
          </p:cNvPr>
          <p:cNvSpPr/>
          <p:nvPr/>
        </p:nvSpPr>
        <p:spPr>
          <a:xfrm>
            <a:off x="8597462" y="4826675"/>
            <a:ext cx="3594538" cy="2031325"/>
          </a:xfrm>
          <a:prstGeom prst="rect">
            <a:avLst/>
          </a:prstGeom>
          <a:solidFill>
            <a:schemeClr val="accent4">
              <a:lumMod val="40000"/>
              <a:lumOff val="60000"/>
            </a:schemeClr>
          </a:solidFill>
        </p:spPr>
        <p:txBody>
          <a:bodyPr wrap="square">
            <a:spAutoFit/>
          </a:bodyPr>
          <a:lstStyle/>
          <a:p>
            <a:r>
              <a:rPr lang="en-US" b="1" dirty="0">
                <a:latin typeface="Arial Narrow" panose="020B0606020202030204" pitchFamily="34" charset="0"/>
              </a:rPr>
              <a:t> 1)      32.00000</a:t>
            </a:r>
          </a:p>
          <a:p>
            <a:r>
              <a:rPr lang="en-US" b="1" dirty="0">
                <a:latin typeface="Arial Narrow" panose="020B0606020202030204" pitchFamily="34" charset="0"/>
              </a:rPr>
              <a:t>VARIABLE   VALUE   REDUCED COST</a:t>
            </a:r>
          </a:p>
          <a:p>
            <a:r>
              <a:rPr lang="en-US" b="1" dirty="0">
                <a:solidFill>
                  <a:srgbClr val="FF0000"/>
                </a:solidFill>
                <a:latin typeface="Arial Narrow" panose="020B0606020202030204" pitchFamily="34" charset="0"/>
              </a:rPr>
              <a:t>X14         1.000000</a:t>
            </a:r>
            <a:r>
              <a:rPr lang="en-US" b="1" dirty="0">
                <a:latin typeface="Arial Narrow" panose="020B0606020202030204" pitchFamily="34" charset="0"/>
              </a:rPr>
              <a:t>          0.000000</a:t>
            </a:r>
          </a:p>
          <a:p>
            <a:r>
              <a:rPr lang="en-US" b="1" dirty="0">
                <a:solidFill>
                  <a:srgbClr val="FF0000"/>
                </a:solidFill>
                <a:latin typeface="Arial Narrow" panose="020B0606020202030204" pitchFamily="34" charset="0"/>
              </a:rPr>
              <a:t>X25         1.000000          </a:t>
            </a:r>
            <a:r>
              <a:rPr lang="en-US" b="1" dirty="0">
                <a:latin typeface="Arial Narrow" panose="020B0606020202030204" pitchFamily="34" charset="0"/>
              </a:rPr>
              <a:t>0.000000</a:t>
            </a:r>
          </a:p>
          <a:p>
            <a:r>
              <a:rPr lang="en-US" b="1" dirty="0">
                <a:solidFill>
                  <a:srgbClr val="FF0000"/>
                </a:solidFill>
                <a:latin typeface="Arial Narrow" panose="020B0606020202030204" pitchFamily="34" charset="0"/>
              </a:rPr>
              <a:t>X32         1.000000          </a:t>
            </a:r>
            <a:r>
              <a:rPr lang="en-US" b="1" dirty="0">
                <a:latin typeface="Arial Narrow" panose="020B0606020202030204" pitchFamily="34" charset="0"/>
              </a:rPr>
              <a:t>0.000000</a:t>
            </a:r>
          </a:p>
          <a:p>
            <a:r>
              <a:rPr lang="en-US" b="1" dirty="0">
                <a:solidFill>
                  <a:srgbClr val="FF0000"/>
                </a:solidFill>
                <a:latin typeface="Arial Narrow" panose="020B0606020202030204" pitchFamily="34" charset="0"/>
              </a:rPr>
              <a:t>X43         1.000000          </a:t>
            </a:r>
            <a:r>
              <a:rPr lang="en-US" b="1" dirty="0">
                <a:latin typeface="Arial Narrow" panose="020B0606020202030204" pitchFamily="34" charset="0"/>
              </a:rPr>
              <a:t>0.000000</a:t>
            </a:r>
          </a:p>
          <a:p>
            <a:r>
              <a:rPr lang="en-US" b="1" dirty="0">
                <a:solidFill>
                  <a:srgbClr val="FF0000"/>
                </a:solidFill>
                <a:latin typeface="Arial Narrow" panose="020B0606020202030204" pitchFamily="34" charset="0"/>
              </a:rPr>
              <a:t>X51         1.000000          </a:t>
            </a:r>
            <a:r>
              <a:rPr lang="en-US" b="1" dirty="0">
                <a:latin typeface="Arial Narrow" panose="020B0606020202030204" pitchFamily="34" charset="0"/>
              </a:rPr>
              <a:t>0.000000</a:t>
            </a:r>
          </a:p>
        </p:txBody>
      </p:sp>
    </p:spTree>
    <p:extLst>
      <p:ext uri="{BB962C8B-B14F-4D97-AF65-F5344CB8AC3E}">
        <p14:creationId xmlns:p14="http://schemas.microsoft.com/office/powerpoint/2010/main" val="3883101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096000" y="304507"/>
            <a:ext cx="6096000" cy="490066"/>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 sz="3200" dirty="0">
                <a:solidFill>
                  <a:schemeClr val="bg1"/>
                </a:solidFill>
                <a:latin typeface="Bauhaus 93" pitchFamily="82" charset="0"/>
                <a:ea typeface="+mn-ea"/>
                <a:cs typeface="+mn-cs"/>
              </a:rPr>
              <a:t>Método Húngaro</a:t>
            </a:r>
            <a:endParaRPr lang="es-PE" sz="3200" dirty="0">
              <a:solidFill>
                <a:schemeClr val="bg1"/>
              </a:solidFill>
              <a:latin typeface="Bauhaus 93" pitchFamily="82" charset="0"/>
              <a:ea typeface="+mn-ea"/>
              <a:cs typeface="+mn-cs"/>
            </a:endParaRPr>
          </a:p>
        </p:txBody>
      </p:sp>
      <p:sp>
        <p:nvSpPr>
          <p:cNvPr id="7" name="Forma libre: forma 6">
            <a:extLst>
              <a:ext uri="{FF2B5EF4-FFF2-40B4-BE49-F238E27FC236}">
                <a16:creationId xmlns:a16="http://schemas.microsoft.com/office/drawing/2014/main" id="{E8F5DF99-8D86-4626-9019-4EEE0E5D233F}"/>
              </a:ext>
            </a:extLst>
          </p:cNvPr>
          <p:cNvSpPr/>
          <p:nvPr/>
        </p:nvSpPr>
        <p:spPr>
          <a:xfrm>
            <a:off x="171760" y="1273670"/>
            <a:ext cx="1476498" cy="5562087"/>
          </a:xfrm>
          <a:custGeom>
            <a:avLst/>
            <a:gdLst>
              <a:gd name="connsiteX0" fmla="*/ 0 w 1476498"/>
              <a:gd name="connsiteY0" fmla="*/ 246088 h 5000770"/>
              <a:gd name="connsiteX1" fmla="*/ 246088 w 1476498"/>
              <a:gd name="connsiteY1" fmla="*/ 0 h 5000770"/>
              <a:gd name="connsiteX2" fmla="*/ 1230410 w 1476498"/>
              <a:gd name="connsiteY2" fmla="*/ 0 h 5000770"/>
              <a:gd name="connsiteX3" fmla="*/ 1476498 w 1476498"/>
              <a:gd name="connsiteY3" fmla="*/ 246088 h 5000770"/>
              <a:gd name="connsiteX4" fmla="*/ 1476498 w 1476498"/>
              <a:gd name="connsiteY4" fmla="*/ 4754682 h 5000770"/>
              <a:gd name="connsiteX5" fmla="*/ 1230410 w 1476498"/>
              <a:gd name="connsiteY5" fmla="*/ 5000770 h 5000770"/>
              <a:gd name="connsiteX6" fmla="*/ 246088 w 1476498"/>
              <a:gd name="connsiteY6" fmla="*/ 5000770 h 5000770"/>
              <a:gd name="connsiteX7" fmla="*/ 0 w 1476498"/>
              <a:gd name="connsiteY7" fmla="*/ 4754682 h 5000770"/>
              <a:gd name="connsiteX8" fmla="*/ 0 w 1476498"/>
              <a:gd name="connsiteY8" fmla="*/ 246088 h 5000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498" h="5000770">
                <a:moveTo>
                  <a:pt x="0" y="246088"/>
                </a:moveTo>
                <a:cubicBezTo>
                  <a:pt x="0" y="110177"/>
                  <a:pt x="110177" y="0"/>
                  <a:pt x="246088" y="0"/>
                </a:cubicBezTo>
                <a:lnTo>
                  <a:pt x="1230410" y="0"/>
                </a:lnTo>
                <a:cubicBezTo>
                  <a:pt x="1366321" y="0"/>
                  <a:pt x="1476498" y="110177"/>
                  <a:pt x="1476498" y="246088"/>
                </a:cubicBezTo>
                <a:lnTo>
                  <a:pt x="1476498" y="4754682"/>
                </a:lnTo>
                <a:cubicBezTo>
                  <a:pt x="1476498" y="4890593"/>
                  <a:pt x="1366321" y="5000770"/>
                  <a:pt x="1230410" y="5000770"/>
                </a:cubicBezTo>
                <a:lnTo>
                  <a:pt x="246088" y="5000770"/>
                </a:lnTo>
                <a:cubicBezTo>
                  <a:pt x="110177" y="5000770"/>
                  <a:pt x="0" y="4890593"/>
                  <a:pt x="0" y="4754682"/>
                </a:cubicBezTo>
                <a:lnTo>
                  <a:pt x="0" y="246088"/>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277" tIns="110177" rIns="148277" bIns="110177" numCol="1" spcCol="1270" anchor="ctr" anchorCtr="0">
            <a:noAutofit/>
          </a:bodyPr>
          <a:lstStyle/>
          <a:p>
            <a:pPr marL="0" lvl="0" indent="0" algn="ctr" defTabSz="889000" rtl="0">
              <a:lnSpc>
                <a:spcPct val="150000"/>
              </a:lnSpc>
              <a:spcBef>
                <a:spcPct val="0"/>
              </a:spcBef>
              <a:spcAft>
                <a:spcPct val="35000"/>
              </a:spcAft>
              <a:buNone/>
            </a:pPr>
            <a:r>
              <a:rPr lang="es-ES" sz="2000" b="0" kern="1200" dirty="0">
                <a:latin typeface="Arial Narrow" panose="020B0606020202030204" pitchFamily="34" charset="0"/>
              </a:rPr>
              <a:t>Es un algoritmo matemático que nos permite resolver problemas de asignación</a:t>
            </a:r>
            <a:endParaRPr lang="es-PE" sz="2000" kern="1200" dirty="0">
              <a:latin typeface="Arial Narrow" panose="020B0606020202030204" pitchFamily="34" charset="0"/>
            </a:endParaRPr>
          </a:p>
        </p:txBody>
      </p:sp>
      <p:sp>
        <p:nvSpPr>
          <p:cNvPr id="11" name="Forma libre: forma 10">
            <a:extLst>
              <a:ext uri="{FF2B5EF4-FFF2-40B4-BE49-F238E27FC236}">
                <a16:creationId xmlns:a16="http://schemas.microsoft.com/office/drawing/2014/main" id="{3EFFBFC3-FB66-4B5B-86B8-1E3AED576014}"/>
              </a:ext>
            </a:extLst>
          </p:cNvPr>
          <p:cNvSpPr/>
          <p:nvPr/>
        </p:nvSpPr>
        <p:spPr>
          <a:xfrm>
            <a:off x="6269135" y="1273403"/>
            <a:ext cx="1476155" cy="5035815"/>
          </a:xfrm>
          <a:custGeom>
            <a:avLst/>
            <a:gdLst>
              <a:gd name="connsiteX0" fmla="*/ 0 w 1476155"/>
              <a:gd name="connsiteY0" fmla="*/ 246031 h 5035815"/>
              <a:gd name="connsiteX1" fmla="*/ 246031 w 1476155"/>
              <a:gd name="connsiteY1" fmla="*/ 0 h 5035815"/>
              <a:gd name="connsiteX2" fmla="*/ 1230124 w 1476155"/>
              <a:gd name="connsiteY2" fmla="*/ 0 h 5035815"/>
              <a:gd name="connsiteX3" fmla="*/ 1476155 w 1476155"/>
              <a:gd name="connsiteY3" fmla="*/ 246031 h 5035815"/>
              <a:gd name="connsiteX4" fmla="*/ 1476155 w 1476155"/>
              <a:gd name="connsiteY4" fmla="*/ 4789784 h 5035815"/>
              <a:gd name="connsiteX5" fmla="*/ 1230124 w 1476155"/>
              <a:gd name="connsiteY5" fmla="*/ 5035815 h 5035815"/>
              <a:gd name="connsiteX6" fmla="*/ 246031 w 1476155"/>
              <a:gd name="connsiteY6" fmla="*/ 5035815 h 5035815"/>
              <a:gd name="connsiteX7" fmla="*/ 0 w 1476155"/>
              <a:gd name="connsiteY7" fmla="*/ 4789784 h 5035815"/>
              <a:gd name="connsiteX8" fmla="*/ 0 w 1476155"/>
              <a:gd name="connsiteY8" fmla="*/ 246031 h 503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76155" h="5035815">
                <a:moveTo>
                  <a:pt x="0" y="246031"/>
                </a:moveTo>
                <a:cubicBezTo>
                  <a:pt x="0" y="110152"/>
                  <a:pt x="110152" y="0"/>
                  <a:pt x="246031" y="0"/>
                </a:cubicBezTo>
                <a:lnTo>
                  <a:pt x="1230124" y="0"/>
                </a:lnTo>
                <a:cubicBezTo>
                  <a:pt x="1366003" y="0"/>
                  <a:pt x="1476155" y="110152"/>
                  <a:pt x="1476155" y="246031"/>
                </a:cubicBezTo>
                <a:lnTo>
                  <a:pt x="1476155" y="4789784"/>
                </a:lnTo>
                <a:cubicBezTo>
                  <a:pt x="1476155" y="4925663"/>
                  <a:pt x="1366003" y="5035815"/>
                  <a:pt x="1230124" y="5035815"/>
                </a:cubicBezTo>
                <a:lnTo>
                  <a:pt x="246031" y="5035815"/>
                </a:lnTo>
                <a:cubicBezTo>
                  <a:pt x="110152" y="5035815"/>
                  <a:pt x="0" y="4925663"/>
                  <a:pt x="0" y="4789784"/>
                </a:cubicBezTo>
                <a:lnTo>
                  <a:pt x="0" y="24603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8260" tIns="110160" rIns="148260" bIns="110160" numCol="1" spcCol="1270" anchor="ctr" anchorCtr="0">
            <a:noAutofit/>
          </a:bodyPr>
          <a:lstStyle/>
          <a:p>
            <a:pPr marL="0" lvl="0" indent="0" algn="ctr" defTabSz="889000" rtl="0">
              <a:lnSpc>
                <a:spcPct val="150000"/>
              </a:lnSpc>
              <a:spcBef>
                <a:spcPct val="0"/>
              </a:spcBef>
              <a:spcAft>
                <a:spcPct val="35000"/>
              </a:spcAft>
              <a:buNone/>
            </a:pPr>
            <a:r>
              <a:rPr lang="es-ES" sz="2000" b="0" kern="1200" dirty="0">
                <a:solidFill>
                  <a:schemeClr val="bg1"/>
                </a:solidFill>
                <a:latin typeface="Arial Narrow" pitchFamily="34" charset="0"/>
              </a:rPr>
              <a:t>PASO </a:t>
            </a:r>
            <a:r>
              <a:rPr lang="es-ES" sz="2000" b="0" kern="1200" dirty="0" err="1">
                <a:solidFill>
                  <a:schemeClr val="bg1"/>
                </a:solidFill>
                <a:latin typeface="Arial Narrow" pitchFamily="34" charset="0"/>
              </a:rPr>
              <a:t>2a</a:t>
            </a:r>
            <a:endParaRPr lang="es-ES" sz="2000" b="0" kern="1200" dirty="0">
              <a:solidFill>
                <a:schemeClr val="bg1"/>
              </a:solidFill>
              <a:latin typeface="Arial Narrow" pitchFamily="34" charset="0"/>
            </a:endParaRPr>
          </a:p>
          <a:p>
            <a:pPr marL="0" lvl="0" indent="0" algn="ctr" defTabSz="889000" rtl="0">
              <a:lnSpc>
                <a:spcPct val="150000"/>
              </a:lnSpc>
              <a:spcBef>
                <a:spcPct val="0"/>
              </a:spcBef>
              <a:spcAft>
                <a:spcPct val="35000"/>
              </a:spcAft>
              <a:buNone/>
            </a:pPr>
            <a:r>
              <a:rPr lang="es-ES" sz="2000" b="0" kern="1200" dirty="0">
                <a:solidFill>
                  <a:schemeClr val="bg1"/>
                </a:solidFill>
                <a:latin typeface="Arial Narrow" pitchFamily="34" charset="0"/>
              </a:rPr>
              <a:t>Se aplica c</a:t>
            </a:r>
            <a:r>
              <a:rPr lang="es-ES" sz="2000" b="0" kern="1200" dirty="0">
                <a:latin typeface="Arial Narrow" pitchFamily="34" charset="0"/>
              </a:rPr>
              <a:t>uando no se puede asignar con el paso 3.</a:t>
            </a:r>
          </a:p>
        </p:txBody>
      </p:sp>
      <p:sp>
        <p:nvSpPr>
          <p:cNvPr id="8" name="Forma libre: forma 7">
            <a:extLst>
              <a:ext uri="{FF2B5EF4-FFF2-40B4-BE49-F238E27FC236}">
                <a16:creationId xmlns:a16="http://schemas.microsoft.com/office/drawing/2014/main" id="{7C3C18D8-DAD8-4B3B-B3B1-F538B1E4CD40}"/>
              </a:ext>
            </a:extLst>
          </p:cNvPr>
          <p:cNvSpPr/>
          <p:nvPr/>
        </p:nvSpPr>
        <p:spPr>
          <a:xfrm>
            <a:off x="1648258" y="1295913"/>
            <a:ext cx="4447742" cy="5562087"/>
          </a:xfrm>
          <a:custGeom>
            <a:avLst/>
            <a:gdLst>
              <a:gd name="connsiteX0" fmla="*/ 724426 w 4956284"/>
              <a:gd name="connsiteY0" fmla="*/ 0 h 4346467"/>
              <a:gd name="connsiteX1" fmla="*/ 4231858 w 4956284"/>
              <a:gd name="connsiteY1" fmla="*/ 0 h 4346467"/>
              <a:gd name="connsiteX2" fmla="*/ 4956284 w 4956284"/>
              <a:gd name="connsiteY2" fmla="*/ 724426 h 4346467"/>
              <a:gd name="connsiteX3" fmla="*/ 4956284 w 4956284"/>
              <a:gd name="connsiteY3" fmla="*/ 4346467 h 4346467"/>
              <a:gd name="connsiteX4" fmla="*/ 4956284 w 4956284"/>
              <a:gd name="connsiteY4" fmla="*/ 4346467 h 4346467"/>
              <a:gd name="connsiteX5" fmla="*/ 0 w 4956284"/>
              <a:gd name="connsiteY5" fmla="*/ 4346467 h 4346467"/>
              <a:gd name="connsiteX6" fmla="*/ 0 w 4956284"/>
              <a:gd name="connsiteY6" fmla="*/ 4346467 h 4346467"/>
              <a:gd name="connsiteX7" fmla="*/ 0 w 4956284"/>
              <a:gd name="connsiteY7" fmla="*/ 724426 h 4346467"/>
              <a:gd name="connsiteX8" fmla="*/ 724426 w 4956284"/>
              <a:gd name="connsiteY8" fmla="*/ 0 h 434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6284" h="4346467">
                <a:moveTo>
                  <a:pt x="4956283" y="635294"/>
                </a:moveTo>
                <a:lnTo>
                  <a:pt x="4956283" y="3711173"/>
                </a:lnTo>
                <a:cubicBezTo>
                  <a:pt x="4956283" y="4062036"/>
                  <a:pt x="4586441" y="4346467"/>
                  <a:pt x="4130219" y="4346467"/>
                </a:cubicBezTo>
                <a:lnTo>
                  <a:pt x="1" y="4346467"/>
                </a:lnTo>
                <a:lnTo>
                  <a:pt x="1" y="4346467"/>
                </a:lnTo>
                <a:lnTo>
                  <a:pt x="1" y="0"/>
                </a:lnTo>
                <a:lnTo>
                  <a:pt x="1" y="0"/>
                </a:lnTo>
                <a:lnTo>
                  <a:pt x="4130219" y="0"/>
                </a:lnTo>
                <a:cubicBezTo>
                  <a:pt x="4586441" y="0"/>
                  <a:pt x="4956283" y="284431"/>
                  <a:pt x="4956283" y="635294"/>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36003" rIns="459827" bIns="336002" numCol="1" spcCol="1270" anchor="ctr" anchorCtr="0">
            <a:noAutofit/>
          </a:bodyPr>
          <a:lstStyle/>
          <a:p>
            <a:pPr marL="0" lvl="1" algn="just" defTabSz="889000" rtl="0">
              <a:spcBef>
                <a:spcPct val="0"/>
              </a:spcBef>
              <a:spcAft>
                <a:spcPts val="600"/>
              </a:spcAft>
            </a:pPr>
            <a:r>
              <a:rPr lang="es-ES" sz="2400" b="1" kern="1200" dirty="0">
                <a:solidFill>
                  <a:srgbClr val="FF0000"/>
                </a:solidFill>
                <a:latin typeface="Arial Narrow" panose="020B0606020202030204" pitchFamily="34" charset="0"/>
              </a:rPr>
              <a:t>Pasos:</a:t>
            </a:r>
            <a:endParaRPr lang="es-PE" sz="2400" b="1" kern="1200" dirty="0">
              <a:solidFill>
                <a:srgbClr val="FF0000"/>
              </a:solidFill>
              <a:latin typeface="Arial Narrow" panose="020B0606020202030204" pitchFamily="34" charset="0"/>
            </a:endParaRPr>
          </a:p>
          <a:p>
            <a:pPr marL="269875" lvl="1" indent="-269875" algn="just" defTabSz="889000" rtl="0">
              <a:spcBef>
                <a:spcPct val="0"/>
              </a:spcBef>
              <a:spcAft>
                <a:spcPts val="600"/>
              </a:spcAft>
            </a:pPr>
            <a:r>
              <a:rPr lang="es-ES" sz="2400" b="1" kern="1200" dirty="0">
                <a:latin typeface="Arial Narrow" panose="020B0606020202030204" pitchFamily="34" charset="0"/>
              </a:rPr>
              <a:t>1. Identifique el menor de cada fila y réstelo a los valores de dicha fila</a:t>
            </a:r>
            <a:endParaRPr lang="es-PE" sz="2400" b="1" kern="1200" dirty="0">
              <a:latin typeface="Arial Narrow" panose="020B0606020202030204" pitchFamily="34" charset="0"/>
            </a:endParaRPr>
          </a:p>
          <a:p>
            <a:pPr marL="269875" lvl="1" indent="-269875" algn="just" defTabSz="889000" rtl="0">
              <a:spcBef>
                <a:spcPct val="0"/>
              </a:spcBef>
              <a:spcAft>
                <a:spcPts val="600"/>
              </a:spcAft>
            </a:pPr>
            <a:r>
              <a:rPr lang="es-ES" sz="2400" b="1" kern="1200" dirty="0">
                <a:latin typeface="Arial Narrow" panose="020B0606020202030204" pitchFamily="34" charset="0"/>
              </a:rPr>
              <a:t>2. Identifique el menor de cada columna y réstelo a los valores de dicha columna</a:t>
            </a:r>
            <a:endParaRPr lang="es-PE" sz="2400" b="1" kern="1200" dirty="0">
              <a:latin typeface="Arial Narrow" panose="020B0606020202030204" pitchFamily="34" charset="0"/>
            </a:endParaRPr>
          </a:p>
          <a:p>
            <a:pPr marL="269875" lvl="1" indent="-269875" algn="just" defTabSz="889000" rtl="0">
              <a:spcBef>
                <a:spcPct val="0"/>
              </a:spcBef>
              <a:spcAft>
                <a:spcPts val="600"/>
              </a:spcAft>
            </a:pPr>
            <a:r>
              <a:rPr lang="es-ES" sz="2400" b="1" kern="1200" dirty="0">
                <a:latin typeface="Arial Narrow" panose="020B0606020202030204" pitchFamily="34" charset="0"/>
              </a:rPr>
              <a:t>3. Asigne tomando en cuenta los casilleros donde se hallan los ceros. Recordando que a cada trabajador se le asigna una tarea y cada tarea debe ser realizado por un trabajador.</a:t>
            </a:r>
            <a:endParaRPr lang="es-PE" sz="2400" b="1" kern="1200" dirty="0">
              <a:latin typeface="Arial Narrow" panose="020B0606020202030204" pitchFamily="34" charset="0"/>
            </a:endParaRPr>
          </a:p>
        </p:txBody>
      </p:sp>
      <p:sp>
        <p:nvSpPr>
          <p:cNvPr id="12" name="Forma libre: forma 11">
            <a:extLst>
              <a:ext uri="{FF2B5EF4-FFF2-40B4-BE49-F238E27FC236}">
                <a16:creationId xmlns:a16="http://schemas.microsoft.com/office/drawing/2014/main" id="{291A99D9-AF8B-4E70-8598-FAE9E3194363}"/>
              </a:ext>
            </a:extLst>
          </p:cNvPr>
          <p:cNvSpPr/>
          <p:nvPr/>
        </p:nvSpPr>
        <p:spPr>
          <a:xfrm>
            <a:off x="7745291" y="1291945"/>
            <a:ext cx="4345457" cy="5566055"/>
          </a:xfrm>
          <a:custGeom>
            <a:avLst/>
            <a:gdLst>
              <a:gd name="connsiteX0" fmla="*/ 724257 w 4998731"/>
              <a:gd name="connsiteY0" fmla="*/ 0 h 4345457"/>
              <a:gd name="connsiteX1" fmla="*/ 4274474 w 4998731"/>
              <a:gd name="connsiteY1" fmla="*/ 0 h 4345457"/>
              <a:gd name="connsiteX2" fmla="*/ 4998731 w 4998731"/>
              <a:gd name="connsiteY2" fmla="*/ 724257 h 4345457"/>
              <a:gd name="connsiteX3" fmla="*/ 4998731 w 4998731"/>
              <a:gd name="connsiteY3" fmla="*/ 4345457 h 4345457"/>
              <a:gd name="connsiteX4" fmla="*/ 4998731 w 4998731"/>
              <a:gd name="connsiteY4" fmla="*/ 4345457 h 4345457"/>
              <a:gd name="connsiteX5" fmla="*/ 0 w 4998731"/>
              <a:gd name="connsiteY5" fmla="*/ 4345457 h 4345457"/>
              <a:gd name="connsiteX6" fmla="*/ 0 w 4998731"/>
              <a:gd name="connsiteY6" fmla="*/ 4345457 h 4345457"/>
              <a:gd name="connsiteX7" fmla="*/ 0 w 4998731"/>
              <a:gd name="connsiteY7" fmla="*/ 724257 h 4345457"/>
              <a:gd name="connsiteX8" fmla="*/ 724257 w 4998731"/>
              <a:gd name="connsiteY8" fmla="*/ 0 h 4345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98731" h="4345457">
                <a:moveTo>
                  <a:pt x="4998731" y="629605"/>
                </a:moveTo>
                <a:lnTo>
                  <a:pt x="4998731" y="3715852"/>
                </a:lnTo>
                <a:cubicBezTo>
                  <a:pt x="4998731" y="4063573"/>
                  <a:pt x="4625722" y="4345457"/>
                  <a:pt x="4165593" y="4345457"/>
                </a:cubicBezTo>
                <a:lnTo>
                  <a:pt x="0" y="4345457"/>
                </a:lnTo>
                <a:lnTo>
                  <a:pt x="0" y="4345457"/>
                </a:lnTo>
                <a:lnTo>
                  <a:pt x="0" y="0"/>
                </a:lnTo>
                <a:lnTo>
                  <a:pt x="0" y="0"/>
                </a:lnTo>
                <a:lnTo>
                  <a:pt x="4165593" y="0"/>
                </a:lnTo>
                <a:cubicBezTo>
                  <a:pt x="4625722" y="0"/>
                  <a:pt x="4998731" y="281884"/>
                  <a:pt x="4998731" y="629605"/>
                </a:cubicBezTo>
                <a:close/>
              </a:path>
            </a:pathLst>
          </a:custGeom>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47651" tIns="336003" rIns="459827" bIns="336002" numCol="1" spcCol="1270" anchor="ctr" anchorCtr="0">
            <a:noAutofit/>
          </a:bodyPr>
          <a:lstStyle/>
          <a:p>
            <a:pPr marL="0" lvl="1" algn="just" defTabSz="889000">
              <a:spcBef>
                <a:spcPct val="0"/>
              </a:spcBef>
              <a:spcAft>
                <a:spcPts val="600"/>
              </a:spcAft>
            </a:pPr>
            <a:r>
              <a:rPr lang="es-ES" sz="2400" b="1" dirty="0">
                <a:solidFill>
                  <a:srgbClr val="FF0000"/>
                </a:solidFill>
                <a:latin typeface="Arial Narrow" panose="020B0606020202030204" pitchFamily="34" charset="0"/>
              </a:rPr>
              <a:t>Pasos:</a:t>
            </a:r>
            <a:endParaRPr lang="es-PE" sz="2400" b="1" dirty="0">
              <a:solidFill>
                <a:srgbClr val="FF0000"/>
              </a:solidFill>
              <a:latin typeface="Arial Narrow" panose="020B0606020202030204" pitchFamily="34" charset="0"/>
            </a:endParaRPr>
          </a:p>
          <a:p>
            <a:pPr marL="0" lvl="1" algn="just" defTabSz="889000">
              <a:spcBef>
                <a:spcPct val="0"/>
              </a:spcBef>
              <a:spcAft>
                <a:spcPts val="600"/>
              </a:spcAft>
            </a:pPr>
            <a:r>
              <a:rPr lang="es-ES" sz="2400" b="1" dirty="0">
                <a:solidFill>
                  <a:schemeClr val="tx1"/>
                </a:solidFill>
                <a:latin typeface="Arial Narrow" panose="020B0606020202030204" pitchFamily="34" charset="0"/>
              </a:rPr>
              <a:t>i Trace la menor cantidad de líneas horizontales o verticales que cubran los valores ceros.</a:t>
            </a:r>
          </a:p>
          <a:p>
            <a:pPr marL="0" lvl="1" algn="just" defTabSz="889000">
              <a:spcBef>
                <a:spcPct val="0"/>
              </a:spcBef>
              <a:spcAft>
                <a:spcPts val="600"/>
              </a:spcAft>
            </a:pPr>
            <a:r>
              <a:rPr lang="es-ES" sz="2400" b="1" dirty="0" err="1">
                <a:solidFill>
                  <a:schemeClr val="tx1"/>
                </a:solidFill>
                <a:latin typeface="Arial Narrow" panose="020B0606020202030204" pitchFamily="34" charset="0"/>
              </a:rPr>
              <a:t>ii</a:t>
            </a:r>
            <a:r>
              <a:rPr lang="es-ES" sz="2400" b="1" dirty="0">
                <a:solidFill>
                  <a:schemeClr val="tx1"/>
                </a:solidFill>
                <a:latin typeface="Arial Narrow" panose="020B0606020202030204" pitchFamily="34" charset="0"/>
              </a:rPr>
              <a:t>  Identifique el menor de los números no cubiertos y réstelo a todos los números no cubiertos, luego, sume este número a las intersecciones  y los demás números cópielos sin cambiar.</a:t>
            </a:r>
            <a:endParaRPr lang="es-PE" sz="2400" b="1" dirty="0">
              <a:solidFill>
                <a:schemeClr val="tx1"/>
              </a:solidFill>
              <a:latin typeface="Arial Narrow" panose="020B0606020202030204" pitchFamily="34" charset="0"/>
            </a:endParaRPr>
          </a:p>
          <a:p>
            <a:pPr marL="0" lvl="1" algn="just" defTabSz="889000">
              <a:spcBef>
                <a:spcPct val="0"/>
              </a:spcBef>
              <a:spcAft>
                <a:spcPts val="600"/>
              </a:spcAft>
            </a:pPr>
            <a:r>
              <a:rPr lang="es-ES" sz="2400" b="1" dirty="0" err="1">
                <a:solidFill>
                  <a:schemeClr val="tx1"/>
                </a:solidFill>
                <a:latin typeface="Arial Narrow" panose="020B0606020202030204" pitchFamily="34" charset="0"/>
              </a:rPr>
              <a:t>iii</a:t>
            </a:r>
            <a:r>
              <a:rPr lang="es-ES" sz="2400" b="1" dirty="0">
                <a:solidFill>
                  <a:schemeClr val="tx1"/>
                </a:solidFill>
                <a:latin typeface="Arial Narrow" panose="020B0606020202030204" pitchFamily="34" charset="0"/>
              </a:rPr>
              <a:t> Repita el paso 3</a:t>
            </a:r>
            <a:endParaRPr lang="es-PE" sz="2400" b="1" dirty="0">
              <a:solidFill>
                <a:schemeClr val="tx1"/>
              </a:solidFill>
              <a:latin typeface="Arial Narrow" panose="020B0606020202030204" pitchFamily="34" charset="0"/>
            </a:endParaRPr>
          </a:p>
        </p:txBody>
      </p:sp>
    </p:spTree>
    <p:extLst>
      <p:ext uri="{BB962C8B-B14F-4D97-AF65-F5344CB8AC3E}">
        <p14:creationId xmlns:p14="http://schemas.microsoft.com/office/powerpoint/2010/main" val="2157777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8"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096000" y="321761"/>
            <a:ext cx="6096000" cy="504825"/>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 sz="3200" dirty="0">
                <a:solidFill>
                  <a:schemeClr val="bg1"/>
                </a:solidFill>
                <a:latin typeface="Bauhaus 93" pitchFamily="82" charset="0"/>
                <a:ea typeface="+mn-ea"/>
                <a:cs typeface="+mn-cs"/>
              </a:rPr>
              <a:t>Solución</a:t>
            </a:r>
          </a:p>
        </p:txBody>
      </p:sp>
      <p:graphicFrame>
        <p:nvGraphicFramePr>
          <p:cNvPr id="1231876" name="Group 4"/>
          <p:cNvGraphicFramePr>
            <a:graphicFrameLocks noGrp="1"/>
          </p:cNvGraphicFramePr>
          <p:nvPr/>
        </p:nvGraphicFramePr>
        <p:xfrm>
          <a:off x="346168" y="1421404"/>
          <a:ext cx="2737700" cy="2592289"/>
        </p:xfrm>
        <a:graphic>
          <a:graphicData uri="http://schemas.openxmlformats.org/drawingml/2006/table">
            <a:tbl>
              <a:tblPr/>
              <a:tblGrid>
                <a:gridCol w="547540">
                  <a:extLst>
                    <a:ext uri="{9D8B030D-6E8A-4147-A177-3AD203B41FA5}">
                      <a16:colId xmlns:a16="http://schemas.microsoft.com/office/drawing/2014/main" val="20000"/>
                    </a:ext>
                  </a:extLst>
                </a:gridCol>
                <a:gridCol w="547540">
                  <a:extLst>
                    <a:ext uri="{9D8B030D-6E8A-4147-A177-3AD203B41FA5}">
                      <a16:colId xmlns:a16="http://schemas.microsoft.com/office/drawing/2014/main" val="20001"/>
                    </a:ext>
                  </a:extLst>
                </a:gridCol>
                <a:gridCol w="547540">
                  <a:extLst>
                    <a:ext uri="{9D8B030D-6E8A-4147-A177-3AD203B41FA5}">
                      <a16:colId xmlns:a16="http://schemas.microsoft.com/office/drawing/2014/main" val="20002"/>
                    </a:ext>
                  </a:extLst>
                </a:gridCol>
                <a:gridCol w="547540">
                  <a:extLst>
                    <a:ext uri="{9D8B030D-6E8A-4147-A177-3AD203B41FA5}">
                      <a16:colId xmlns:a16="http://schemas.microsoft.com/office/drawing/2014/main" val="20003"/>
                    </a:ext>
                  </a:extLst>
                </a:gridCol>
                <a:gridCol w="547540">
                  <a:extLst>
                    <a:ext uri="{9D8B030D-6E8A-4147-A177-3AD203B41FA5}">
                      <a16:colId xmlns:a16="http://schemas.microsoft.com/office/drawing/2014/main" val="20004"/>
                    </a:ext>
                  </a:extLst>
                </a:gridCol>
              </a:tblGrid>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517697">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4"/>
                  </a:ext>
                </a:extLst>
              </a:tr>
            </a:tbl>
          </a:graphicData>
        </a:graphic>
      </p:graphicFrame>
      <p:graphicFrame>
        <p:nvGraphicFramePr>
          <p:cNvPr id="2" name="Tabla 1">
            <a:extLst>
              <a:ext uri="{FF2B5EF4-FFF2-40B4-BE49-F238E27FC236}">
                <a16:creationId xmlns:a16="http://schemas.microsoft.com/office/drawing/2014/main" id="{980278E4-D8E8-4B84-B194-95ECB082C18F}"/>
              </a:ext>
            </a:extLst>
          </p:cNvPr>
          <p:cNvGraphicFramePr>
            <a:graphicFrameLocks noGrp="1"/>
          </p:cNvGraphicFramePr>
          <p:nvPr/>
        </p:nvGraphicFramePr>
        <p:xfrm>
          <a:off x="3081068" y="1437436"/>
          <a:ext cx="541202" cy="2592289"/>
        </p:xfrm>
        <a:graphic>
          <a:graphicData uri="http://schemas.openxmlformats.org/drawingml/2006/table">
            <a:tbl>
              <a:tblPr/>
              <a:tblGrid>
                <a:gridCol w="541202">
                  <a:extLst>
                    <a:ext uri="{9D8B030D-6E8A-4147-A177-3AD203B41FA5}">
                      <a16:colId xmlns:a16="http://schemas.microsoft.com/office/drawing/2014/main" val="889526359"/>
                    </a:ext>
                  </a:extLst>
                </a:gridCol>
              </a:tblGrid>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rgbClr val="FF0000"/>
                          </a:solidFill>
                          <a:effectLst/>
                          <a:latin typeface="Arial" charset="0"/>
                          <a:cs typeface="Times New Roman" pitchFamily="18" charset="0"/>
                        </a:rPr>
                        <a:t>6</a:t>
                      </a:r>
                      <a:endParaRPr kumimoji="0" lang="es-ES" sz="2400" b="0"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373985978"/>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rgbClr val="FF0000"/>
                          </a:solidFill>
                          <a:effectLst/>
                          <a:latin typeface="Arial" charset="0"/>
                          <a:cs typeface="Times New Roman" pitchFamily="18" charset="0"/>
                        </a:rPr>
                        <a:t>8</a:t>
                      </a:r>
                      <a:endParaRPr kumimoji="0" lang="es-ES" sz="2400" b="0"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37637521"/>
                  </a:ext>
                </a:extLst>
              </a:tr>
              <a:tr h="517697">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rgbClr val="FF0000"/>
                          </a:solidFill>
                          <a:effectLst/>
                          <a:latin typeface="Arial" charset="0"/>
                          <a:cs typeface="Times New Roman" pitchFamily="18" charset="0"/>
                        </a:rPr>
                        <a:t>6</a:t>
                      </a:r>
                      <a:endParaRPr kumimoji="0" lang="es-ES" sz="2400" b="0"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03750414"/>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rgbClr val="FF0000"/>
                          </a:solidFill>
                          <a:effectLst/>
                          <a:latin typeface="Arial" charset="0"/>
                          <a:cs typeface="Times New Roman" pitchFamily="18" charset="0"/>
                        </a:rPr>
                        <a:t>2</a:t>
                      </a:r>
                      <a:endParaRPr kumimoji="0" lang="es-ES" sz="2400" b="0"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942132448"/>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rgbClr val="FF0000"/>
                          </a:solidFill>
                          <a:effectLst/>
                          <a:latin typeface="Arial" charset="0"/>
                          <a:cs typeface="Times New Roman" pitchFamily="18" charset="0"/>
                        </a:rPr>
                        <a:t>4</a:t>
                      </a:r>
                      <a:endParaRPr kumimoji="0" lang="es-ES" sz="2400" b="0"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416179207"/>
                  </a:ext>
                </a:extLst>
              </a:tr>
            </a:tbl>
          </a:graphicData>
        </a:graphic>
      </p:graphicFrame>
      <p:graphicFrame>
        <p:nvGraphicFramePr>
          <p:cNvPr id="3" name="Tabla 2">
            <a:extLst>
              <a:ext uri="{FF2B5EF4-FFF2-40B4-BE49-F238E27FC236}">
                <a16:creationId xmlns:a16="http://schemas.microsoft.com/office/drawing/2014/main" id="{EAB9508C-0298-4C77-AD03-A14CEE28822E}"/>
              </a:ext>
            </a:extLst>
          </p:cNvPr>
          <p:cNvGraphicFramePr>
            <a:graphicFrameLocks noGrp="1"/>
          </p:cNvGraphicFramePr>
          <p:nvPr/>
        </p:nvGraphicFramePr>
        <p:xfrm>
          <a:off x="3693524" y="1420191"/>
          <a:ext cx="2743853" cy="2592289"/>
        </p:xfrm>
        <a:graphic>
          <a:graphicData uri="http://schemas.openxmlformats.org/drawingml/2006/table">
            <a:tbl>
              <a:tblPr/>
              <a:tblGrid>
                <a:gridCol w="525049">
                  <a:extLst>
                    <a:ext uri="{9D8B030D-6E8A-4147-A177-3AD203B41FA5}">
                      <a16:colId xmlns:a16="http://schemas.microsoft.com/office/drawing/2014/main" val="4078679076"/>
                    </a:ext>
                  </a:extLst>
                </a:gridCol>
                <a:gridCol w="554701">
                  <a:extLst>
                    <a:ext uri="{9D8B030D-6E8A-4147-A177-3AD203B41FA5}">
                      <a16:colId xmlns:a16="http://schemas.microsoft.com/office/drawing/2014/main" val="3084014500"/>
                    </a:ext>
                  </a:extLst>
                </a:gridCol>
                <a:gridCol w="554701">
                  <a:extLst>
                    <a:ext uri="{9D8B030D-6E8A-4147-A177-3AD203B41FA5}">
                      <a16:colId xmlns:a16="http://schemas.microsoft.com/office/drawing/2014/main" val="2892689288"/>
                    </a:ext>
                  </a:extLst>
                </a:gridCol>
                <a:gridCol w="554701">
                  <a:extLst>
                    <a:ext uri="{9D8B030D-6E8A-4147-A177-3AD203B41FA5}">
                      <a16:colId xmlns:a16="http://schemas.microsoft.com/office/drawing/2014/main" val="132044987"/>
                    </a:ext>
                  </a:extLst>
                </a:gridCol>
                <a:gridCol w="554701">
                  <a:extLst>
                    <a:ext uri="{9D8B030D-6E8A-4147-A177-3AD203B41FA5}">
                      <a16:colId xmlns:a16="http://schemas.microsoft.com/office/drawing/2014/main" val="3991035249"/>
                    </a:ext>
                  </a:extLst>
                </a:gridCol>
              </a:tblGrid>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1418831905"/>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2945258950"/>
                  </a:ext>
                </a:extLst>
              </a:tr>
              <a:tr h="517697">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3639868229"/>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1340148561"/>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2320406639"/>
                  </a:ext>
                </a:extLst>
              </a:tr>
            </a:tbl>
          </a:graphicData>
        </a:graphic>
      </p:graphicFrame>
      <p:sp>
        <p:nvSpPr>
          <p:cNvPr id="7" name="Rectangle 3">
            <a:extLst>
              <a:ext uri="{FF2B5EF4-FFF2-40B4-BE49-F238E27FC236}">
                <a16:creationId xmlns:a16="http://schemas.microsoft.com/office/drawing/2014/main" id="{B0BB5329-EEDA-4A74-878A-35289D79DF92}"/>
              </a:ext>
            </a:extLst>
          </p:cNvPr>
          <p:cNvSpPr>
            <a:spLocks noChangeArrowheads="1"/>
          </p:cNvSpPr>
          <p:nvPr/>
        </p:nvSpPr>
        <p:spPr bwMode="auto">
          <a:xfrm>
            <a:off x="3687412" y="4077072"/>
            <a:ext cx="2868664" cy="501650"/>
          </a:xfrm>
          <a:prstGeom prst="rect">
            <a:avLst/>
          </a:prstGeom>
          <a:noFill/>
          <a:ln w="12700">
            <a:noFill/>
            <a:miter lim="800000"/>
            <a:headEnd type="none" w="sm" len="sm"/>
            <a:tailEnd type="none" w="sm" len="sm"/>
          </a:ln>
        </p:spPr>
        <p:txBody>
          <a:bodyPr wrap="square" anchor="ctr">
            <a:spAutoFit/>
          </a:bodyPr>
          <a:lstStyle/>
          <a:p>
            <a:pPr defTabSz="762000">
              <a:lnSpc>
                <a:spcPct val="95000"/>
              </a:lnSpc>
            </a:pPr>
            <a:r>
              <a:rPr lang="es-ES" sz="2800" b="1" dirty="0">
                <a:solidFill>
                  <a:schemeClr val="hlink"/>
                </a:solidFill>
                <a:cs typeface="Times New Roman" pitchFamily="18" charset="0"/>
              </a:rPr>
              <a:t> </a:t>
            </a:r>
            <a:r>
              <a:rPr lang="es-ES" sz="2800" b="1" dirty="0">
                <a:solidFill>
                  <a:srgbClr val="FF0000"/>
                </a:solidFill>
                <a:cs typeface="Times New Roman" pitchFamily="18" charset="0"/>
              </a:rPr>
              <a:t>0     0     0     2     2</a:t>
            </a:r>
          </a:p>
        </p:txBody>
      </p:sp>
      <p:graphicFrame>
        <p:nvGraphicFramePr>
          <p:cNvPr id="4" name="Tabla 3">
            <a:extLst>
              <a:ext uri="{FF2B5EF4-FFF2-40B4-BE49-F238E27FC236}">
                <a16:creationId xmlns:a16="http://schemas.microsoft.com/office/drawing/2014/main" id="{80A2B718-E9BF-4BD4-B2F1-68E9CD6387A4}"/>
              </a:ext>
            </a:extLst>
          </p:cNvPr>
          <p:cNvGraphicFramePr>
            <a:graphicFrameLocks noGrp="1"/>
          </p:cNvGraphicFramePr>
          <p:nvPr/>
        </p:nvGraphicFramePr>
        <p:xfrm>
          <a:off x="7178611" y="1411559"/>
          <a:ext cx="2724341" cy="2582470"/>
        </p:xfrm>
        <a:graphic>
          <a:graphicData uri="http://schemas.openxmlformats.org/drawingml/2006/table">
            <a:tbl>
              <a:tblPr/>
              <a:tblGrid>
                <a:gridCol w="545116">
                  <a:extLst>
                    <a:ext uri="{9D8B030D-6E8A-4147-A177-3AD203B41FA5}">
                      <a16:colId xmlns:a16="http://schemas.microsoft.com/office/drawing/2014/main" val="1406677081"/>
                    </a:ext>
                  </a:extLst>
                </a:gridCol>
                <a:gridCol w="543869">
                  <a:extLst>
                    <a:ext uri="{9D8B030D-6E8A-4147-A177-3AD203B41FA5}">
                      <a16:colId xmlns:a16="http://schemas.microsoft.com/office/drawing/2014/main" val="2524891060"/>
                    </a:ext>
                  </a:extLst>
                </a:gridCol>
                <a:gridCol w="546371">
                  <a:extLst>
                    <a:ext uri="{9D8B030D-6E8A-4147-A177-3AD203B41FA5}">
                      <a16:colId xmlns:a16="http://schemas.microsoft.com/office/drawing/2014/main" val="1267280688"/>
                    </a:ext>
                  </a:extLst>
                </a:gridCol>
                <a:gridCol w="543869">
                  <a:extLst>
                    <a:ext uri="{9D8B030D-6E8A-4147-A177-3AD203B41FA5}">
                      <a16:colId xmlns:a16="http://schemas.microsoft.com/office/drawing/2014/main" val="2809736144"/>
                    </a:ext>
                  </a:extLst>
                </a:gridCol>
                <a:gridCol w="545116">
                  <a:extLst>
                    <a:ext uri="{9D8B030D-6E8A-4147-A177-3AD203B41FA5}">
                      <a16:colId xmlns:a16="http://schemas.microsoft.com/office/drawing/2014/main" val="2781788826"/>
                    </a:ext>
                  </a:extLst>
                </a:gridCol>
              </a:tblGrid>
              <a:tr h="516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 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69080629"/>
                  </a:ext>
                </a:extLst>
              </a:tr>
              <a:tr h="516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77434081"/>
                  </a:ext>
                </a:extLst>
              </a:tr>
              <a:tr h="516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6</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66610451"/>
                  </a:ext>
                </a:extLst>
              </a:tr>
              <a:tr h="516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 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71207334"/>
                  </a:ext>
                </a:extLst>
              </a:tr>
              <a:tr h="516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51666915"/>
                  </a:ext>
                </a:extLst>
              </a:tr>
            </a:tbl>
          </a:graphicData>
        </a:graphic>
      </p:graphicFrame>
    </p:spTree>
    <p:extLst>
      <p:ext uri="{BB962C8B-B14F-4D97-AF65-F5344CB8AC3E}">
        <p14:creationId xmlns:p14="http://schemas.microsoft.com/office/powerpoint/2010/main" val="264953813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Line 8">
            <a:extLst>
              <a:ext uri="{FF2B5EF4-FFF2-40B4-BE49-F238E27FC236}">
                <a16:creationId xmlns:a16="http://schemas.microsoft.com/office/drawing/2014/main" id="{0C754CBF-7D00-4BD2-B138-DA352D1418AB}"/>
              </a:ext>
            </a:extLst>
          </p:cNvPr>
          <p:cNvSpPr>
            <a:spLocks noChangeShapeType="1"/>
          </p:cNvSpPr>
          <p:nvPr/>
        </p:nvSpPr>
        <p:spPr bwMode="auto">
          <a:xfrm>
            <a:off x="8562150" y="1242822"/>
            <a:ext cx="11874" cy="2951226"/>
          </a:xfrm>
          <a:prstGeom prst="line">
            <a:avLst/>
          </a:prstGeom>
          <a:noFill/>
          <a:ln w="88900">
            <a:solidFill>
              <a:srgbClr val="FFFF00"/>
            </a:solidFill>
            <a:prstDash val="solid"/>
            <a:round/>
            <a:headEnd/>
            <a:tailEnd/>
          </a:ln>
        </p:spPr>
        <p:txBody>
          <a:bodyPr/>
          <a:lstStyle/>
          <a:p>
            <a:endParaRPr lang="es-PE" dirty="0"/>
          </a:p>
        </p:txBody>
      </p:sp>
      <p:sp>
        <p:nvSpPr>
          <p:cNvPr id="11" name="Line 8">
            <a:extLst>
              <a:ext uri="{FF2B5EF4-FFF2-40B4-BE49-F238E27FC236}">
                <a16:creationId xmlns:a16="http://schemas.microsoft.com/office/drawing/2014/main" id="{8F4F034F-2468-4A17-BF40-06FCBDFBC72A}"/>
              </a:ext>
            </a:extLst>
          </p:cNvPr>
          <p:cNvSpPr>
            <a:spLocks noChangeShapeType="1"/>
          </p:cNvSpPr>
          <p:nvPr/>
        </p:nvSpPr>
        <p:spPr bwMode="auto">
          <a:xfrm>
            <a:off x="7961694" y="1245870"/>
            <a:ext cx="11874" cy="2951226"/>
          </a:xfrm>
          <a:prstGeom prst="line">
            <a:avLst/>
          </a:prstGeom>
          <a:noFill/>
          <a:ln w="88900">
            <a:solidFill>
              <a:srgbClr val="FFFF00"/>
            </a:solidFill>
            <a:prstDash val="solid"/>
            <a:round/>
            <a:headEnd/>
            <a:tailEnd/>
          </a:ln>
        </p:spPr>
        <p:txBody>
          <a:bodyPr/>
          <a:lstStyle/>
          <a:p>
            <a:endParaRPr lang="es-PE" dirty="0"/>
          </a:p>
        </p:txBody>
      </p:sp>
      <p:sp>
        <p:nvSpPr>
          <p:cNvPr id="9" name="Line 10">
            <a:extLst>
              <a:ext uri="{FF2B5EF4-FFF2-40B4-BE49-F238E27FC236}">
                <a16:creationId xmlns:a16="http://schemas.microsoft.com/office/drawing/2014/main" id="{D5867F71-64E5-4B7F-86B3-15FA102269EB}"/>
              </a:ext>
            </a:extLst>
          </p:cNvPr>
          <p:cNvSpPr>
            <a:spLocks noChangeShapeType="1"/>
          </p:cNvSpPr>
          <p:nvPr/>
        </p:nvSpPr>
        <p:spPr bwMode="auto">
          <a:xfrm flipH="1">
            <a:off x="6931152" y="2121408"/>
            <a:ext cx="3557016" cy="9145"/>
          </a:xfrm>
          <a:prstGeom prst="line">
            <a:avLst/>
          </a:prstGeom>
          <a:noFill/>
          <a:ln w="88900">
            <a:solidFill>
              <a:srgbClr val="FFFF00"/>
            </a:solidFill>
            <a:prstDash val="solid"/>
            <a:round/>
            <a:headEnd/>
            <a:tailEnd/>
          </a:ln>
        </p:spPr>
        <p:txBody>
          <a:bodyPr/>
          <a:lstStyle/>
          <a:p>
            <a:endParaRPr lang="es-PE" dirty="0"/>
          </a:p>
        </p:txBody>
      </p:sp>
      <p:sp>
        <p:nvSpPr>
          <p:cNvPr id="10" name="Line 10">
            <a:extLst>
              <a:ext uri="{FF2B5EF4-FFF2-40B4-BE49-F238E27FC236}">
                <a16:creationId xmlns:a16="http://schemas.microsoft.com/office/drawing/2014/main" id="{E70C9243-3FE9-4F1F-B0D6-2DE410DF3E1A}"/>
              </a:ext>
            </a:extLst>
          </p:cNvPr>
          <p:cNvSpPr>
            <a:spLocks noChangeShapeType="1"/>
          </p:cNvSpPr>
          <p:nvPr/>
        </p:nvSpPr>
        <p:spPr bwMode="auto">
          <a:xfrm flipH="1">
            <a:off x="6958583" y="3694176"/>
            <a:ext cx="3511296" cy="9144"/>
          </a:xfrm>
          <a:prstGeom prst="line">
            <a:avLst/>
          </a:prstGeom>
          <a:noFill/>
          <a:ln w="88900">
            <a:solidFill>
              <a:srgbClr val="FFFF00"/>
            </a:solidFill>
            <a:prstDash val="solid"/>
            <a:round/>
            <a:headEnd/>
            <a:tailEnd/>
          </a:ln>
        </p:spPr>
        <p:txBody>
          <a:bodyPr/>
          <a:lstStyle/>
          <a:p>
            <a:endParaRPr lang="es-PE" dirty="0"/>
          </a:p>
        </p:txBody>
      </p:sp>
      <p:sp>
        <p:nvSpPr>
          <p:cNvPr id="9218" name="Rectangle 2"/>
          <p:cNvSpPr>
            <a:spLocks noGrp="1" noChangeArrowheads="1"/>
          </p:cNvSpPr>
          <p:nvPr>
            <p:ph type="title"/>
          </p:nvPr>
        </p:nvSpPr>
        <p:spPr>
          <a:xfrm>
            <a:off x="6096000" y="321761"/>
            <a:ext cx="6096000" cy="504825"/>
          </a:xfr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p>
            <a:pPr algn="ctr"/>
            <a:r>
              <a:rPr lang="es-ES" sz="3200" dirty="0">
                <a:solidFill>
                  <a:schemeClr val="bg1"/>
                </a:solidFill>
                <a:latin typeface="Bauhaus 93" pitchFamily="82" charset="0"/>
                <a:ea typeface="+mn-ea"/>
                <a:cs typeface="+mn-cs"/>
              </a:rPr>
              <a:t>Solución</a:t>
            </a:r>
          </a:p>
        </p:txBody>
      </p:sp>
      <p:graphicFrame>
        <p:nvGraphicFramePr>
          <p:cNvPr id="1231876" name="Group 4"/>
          <p:cNvGraphicFramePr>
            <a:graphicFrameLocks noGrp="1"/>
          </p:cNvGraphicFramePr>
          <p:nvPr/>
        </p:nvGraphicFramePr>
        <p:xfrm>
          <a:off x="346168" y="1421404"/>
          <a:ext cx="2737700" cy="2592289"/>
        </p:xfrm>
        <a:graphic>
          <a:graphicData uri="http://schemas.openxmlformats.org/drawingml/2006/table">
            <a:tbl>
              <a:tblPr/>
              <a:tblGrid>
                <a:gridCol w="547540">
                  <a:extLst>
                    <a:ext uri="{9D8B030D-6E8A-4147-A177-3AD203B41FA5}">
                      <a16:colId xmlns:a16="http://schemas.microsoft.com/office/drawing/2014/main" val="20000"/>
                    </a:ext>
                  </a:extLst>
                </a:gridCol>
                <a:gridCol w="547540">
                  <a:extLst>
                    <a:ext uri="{9D8B030D-6E8A-4147-A177-3AD203B41FA5}">
                      <a16:colId xmlns:a16="http://schemas.microsoft.com/office/drawing/2014/main" val="20001"/>
                    </a:ext>
                  </a:extLst>
                </a:gridCol>
                <a:gridCol w="547540">
                  <a:extLst>
                    <a:ext uri="{9D8B030D-6E8A-4147-A177-3AD203B41FA5}">
                      <a16:colId xmlns:a16="http://schemas.microsoft.com/office/drawing/2014/main" val="20002"/>
                    </a:ext>
                  </a:extLst>
                </a:gridCol>
                <a:gridCol w="547540">
                  <a:extLst>
                    <a:ext uri="{9D8B030D-6E8A-4147-A177-3AD203B41FA5}">
                      <a16:colId xmlns:a16="http://schemas.microsoft.com/office/drawing/2014/main" val="20003"/>
                    </a:ext>
                  </a:extLst>
                </a:gridCol>
                <a:gridCol w="547540">
                  <a:extLst>
                    <a:ext uri="{9D8B030D-6E8A-4147-A177-3AD203B41FA5}">
                      <a16:colId xmlns:a16="http://schemas.microsoft.com/office/drawing/2014/main" val="20004"/>
                    </a:ext>
                  </a:extLst>
                </a:gridCol>
              </a:tblGrid>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517697">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2"/>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3"/>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kern="1200" cap="none" normalizeH="0" baseline="0" dirty="0">
                          <a:ln>
                            <a:noFill/>
                          </a:ln>
                          <a:solidFill>
                            <a:schemeClr val="tx1"/>
                          </a:solidFill>
                          <a:effectLst/>
                          <a:latin typeface="Arial" charset="0"/>
                          <a:ea typeface="+mn-ea"/>
                          <a:cs typeface="Times New Roman" pitchFamily="18" charset="0"/>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4"/>
                  </a:ext>
                </a:extLst>
              </a:tr>
            </a:tbl>
          </a:graphicData>
        </a:graphic>
      </p:graphicFrame>
      <p:graphicFrame>
        <p:nvGraphicFramePr>
          <p:cNvPr id="2" name="Tabla 1">
            <a:extLst>
              <a:ext uri="{FF2B5EF4-FFF2-40B4-BE49-F238E27FC236}">
                <a16:creationId xmlns:a16="http://schemas.microsoft.com/office/drawing/2014/main" id="{980278E4-D8E8-4B84-B194-95ECB082C18F}"/>
              </a:ext>
            </a:extLst>
          </p:cNvPr>
          <p:cNvGraphicFramePr>
            <a:graphicFrameLocks noGrp="1"/>
          </p:cNvGraphicFramePr>
          <p:nvPr/>
        </p:nvGraphicFramePr>
        <p:xfrm>
          <a:off x="3081068" y="1437436"/>
          <a:ext cx="541202" cy="2592289"/>
        </p:xfrm>
        <a:graphic>
          <a:graphicData uri="http://schemas.openxmlformats.org/drawingml/2006/table">
            <a:tbl>
              <a:tblPr/>
              <a:tblGrid>
                <a:gridCol w="541202">
                  <a:extLst>
                    <a:ext uri="{9D8B030D-6E8A-4147-A177-3AD203B41FA5}">
                      <a16:colId xmlns:a16="http://schemas.microsoft.com/office/drawing/2014/main" val="889526359"/>
                    </a:ext>
                  </a:extLst>
                </a:gridCol>
              </a:tblGrid>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rgbClr val="FF0000"/>
                          </a:solidFill>
                          <a:effectLst/>
                          <a:latin typeface="Arial" charset="0"/>
                          <a:cs typeface="Times New Roman" pitchFamily="18" charset="0"/>
                        </a:rPr>
                        <a:t>6</a:t>
                      </a:r>
                      <a:endParaRPr kumimoji="0" lang="es-ES" sz="2400" b="0"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373985978"/>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rgbClr val="FF0000"/>
                          </a:solidFill>
                          <a:effectLst/>
                          <a:latin typeface="Arial" charset="0"/>
                          <a:cs typeface="Times New Roman" pitchFamily="18" charset="0"/>
                        </a:rPr>
                        <a:t>8</a:t>
                      </a:r>
                      <a:endParaRPr kumimoji="0" lang="es-ES" sz="2400" b="0"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37637521"/>
                  </a:ext>
                </a:extLst>
              </a:tr>
              <a:tr h="517697">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rgbClr val="FF0000"/>
                          </a:solidFill>
                          <a:effectLst/>
                          <a:latin typeface="Arial" charset="0"/>
                          <a:cs typeface="Times New Roman" pitchFamily="18" charset="0"/>
                        </a:rPr>
                        <a:t>6</a:t>
                      </a:r>
                      <a:endParaRPr kumimoji="0" lang="es-ES" sz="2400" b="0"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03750414"/>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rgbClr val="FF0000"/>
                          </a:solidFill>
                          <a:effectLst/>
                          <a:latin typeface="Arial" charset="0"/>
                          <a:cs typeface="Times New Roman" pitchFamily="18" charset="0"/>
                        </a:rPr>
                        <a:t>2</a:t>
                      </a:r>
                      <a:endParaRPr kumimoji="0" lang="es-ES" sz="2400" b="0"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942132448"/>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rgbClr val="FF0000"/>
                          </a:solidFill>
                          <a:effectLst/>
                          <a:latin typeface="Arial" charset="0"/>
                          <a:cs typeface="Times New Roman" pitchFamily="18" charset="0"/>
                        </a:rPr>
                        <a:t>4</a:t>
                      </a:r>
                      <a:endParaRPr kumimoji="0" lang="es-ES" sz="2400" b="0"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noFill/>
                      <a:prstDash val="solid"/>
                      <a:round/>
                      <a:headEnd type="none" w="sm" len="sm"/>
                      <a:tailEnd type="none" w="sm" len="sm"/>
                    </a:lnR>
                    <a:lnT w="12700" cap="flat" cmpd="sng" algn="ctr">
                      <a:noFill/>
                      <a:prstDash val="solid"/>
                      <a:round/>
                      <a:headEnd type="none" w="sm" len="sm"/>
                      <a:tailEnd type="none" w="sm" len="sm"/>
                    </a:lnT>
                    <a:lnB w="12700" cap="flat" cmpd="sng" algn="ctr">
                      <a:no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416179207"/>
                  </a:ext>
                </a:extLst>
              </a:tr>
            </a:tbl>
          </a:graphicData>
        </a:graphic>
      </p:graphicFrame>
      <p:graphicFrame>
        <p:nvGraphicFramePr>
          <p:cNvPr id="3" name="Tabla 2">
            <a:extLst>
              <a:ext uri="{FF2B5EF4-FFF2-40B4-BE49-F238E27FC236}">
                <a16:creationId xmlns:a16="http://schemas.microsoft.com/office/drawing/2014/main" id="{EAB9508C-0298-4C77-AD03-A14CEE28822E}"/>
              </a:ext>
            </a:extLst>
          </p:cNvPr>
          <p:cNvGraphicFramePr>
            <a:graphicFrameLocks noGrp="1"/>
          </p:cNvGraphicFramePr>
          <p:nvPr/>
        </p:nvGraphicFramePr>
        <p:xfrm>
          <a:off x="3693524" y="1420191"/>
          <a:ext cx="2743853" cy="2592289"/>
        </p:xfrm>
        <a:graphic>
          <a:graphicData uri="http://schemas.openxmlformats.org/drawingml/2006/table">
            <a:tbl>
              <a:tblPr/>
              <a:tblGrid>
                <a:gridCol w="525049">
                  <a:extLst>
                    <a:ext uri="{9D8B030D-6E8A-4147-A177-3AD203B41FA5}">
                      <a16:colId xmlns:a16="http://schemas.microsoft.com/office/drawing/2014/main" val="4078679076"/>
                    </a:ext>
                  </a:extLst>
                </a:gridCol>
                <a:gridCol w="554701">
                  <a:extLst>
                    <a:ext uri="{9D8B030D-6E8A-4147-A177-3AD203B41FA5}">
                      <a16:colId xmlns:a16="http://schemas.microsoft.com/office/drawing/2014/main" val="3084014500"/>
                    </a:ext>
                  </a:extLst>
                </a:gridCol>
                <a:gridCol w="554701">
                  <a:extLst>
                    <a:ext uri="{9D8B030D-6E8A-4147-A177-3AD203B41FA5}">
                      <a16:colId xmlns:a16="http://schemas.microsoft.com/office/drawing/2014/main" val="2892689288"/>
                    </a:ext>
                  </a:extLst>
                </a:gridCol>
                <a:gridCol w="554701">
                  <a:extLst>
                    <a:ext uri="{9D8B030D-6E8A-4147-A177-3AD203B41FA5}">
                      <a16:colId xmlns:a16="http://schemas.microsoft.com/office/drawing/2014/main" val="132044987"/>
                    </a:ext>
                  </a:extLst>
                </a:gridCol>
                <a:gridCol w="554701">
                  <a:extLst>
                    <a:ext uri="{9D8B030D-6E8A-4147-A177-3AD203B41FA5}">
                      <a16:colId xmlns:a16="http://schemas.microsoft.com/office/drawing/2014/main" val="3991035249"/>
                    </a:ext>
                  </a:extLst>
                </a:gridCol>
              </a:tblGrid>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1418831905"/>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2945258950"/>
                  </a:ext>
                </a:extLst>
              </a:tr>
              <a:tr h="517697">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3639868229"/>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6</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4</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1340148561"/>
                  </a:ext>
                </a:extLst>
              </a:tr>
              <a:tr h="518648">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18</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tx1"/>
                          </a:solidFill>
                          <a:effectLst/>
                          <a:latin typeface="Arial" charset="0"/>
                          <a:cs typeface="Times New Roman" pitchFamily="18" charset="0"/>
                        </a:rPr>
                        <a:t>20</a:t>
                      </a:r>
                      <a:endParaRPr kumimoji="0" lang="es-ES" sz="24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FFFF00"/>
                    </a:solidFill>
                  </a:tcPr>
                </a:tc>
                <a:extLst>
                  <a:ext uri="{0D108BD9-81ED-4DB2-BD59-A6C34878D82A}">
                    <a16:rowId xmlns:a16="http://schemas.microsoft.com/office/drawing/2014/main" val="2320406639"/>
                  </a:ext>
                </a:extLst>
              </a:tr>
            </a:tbl>
          </a:graphicData>
        </a:graphic>
      </p:graphicFrame>
      <p:sp>
        <p:nvSpPr>
          <p:cNvPr id="7" name="Rectangle 3">
            <a:extLst>
              <a:ext uri="{FF2B5EF4-FFF2-40B4-BE49-F238E27FC236}">
                <a16:creationId xmlns:a16="http://schemas.microsoft.com/office/drawing/2014/main" id="{B0BB5329-EEDA-4A74-878A-35289D79DF92}"/>
              </a:ext>
            </a:extLst>
          </p:cNvPr>
          <p:cNvSpPr>
            <a:spLocks noChangeArrowheads="1"/>
          </p:cNvSpPr>
          <p:nvPr/>
        </p:nvSpPr>
        <p:spPr bwMode="auto">
          <a:xfrm>
            <a:off x="3687412" y="4077072"/>
            <a:ext cx="2868664" cy="501650"/>
          </a:xfrm>
          <a:prstGeom prst="rect">
            <a:avLst/>
          </a:prstGeom>
          <a:noFill/>
          <a:ln w="12700">
            <a:noFill/>
            <a:miter lim="800000"/>
            <a:headEnd type="none" w="sm" len="sm"/>
            <a:tailEnd type="none" w="sm" len="sm"/>
          </a:ln>
        </p:spPr>
        <p:txBody>
          <a:bodyPr wrap="square" anchor="ctr">
            <a:spAutoFit/>
          </a:bodyPr>
          <a:lstStyle/>
          <a:p>
            <a:pPr defTabSz="762000">
              <a:lnSpc>
                <a:spcPct val="95000"/>
              </a:lnSpc>
            </a:pPr>
            <a:r>
              <a:rPr lang="es-ES" sz="2800" b="1" dirty="0">
                <a:solidFill>
                  <a:schemeClr val="hlink"/>
                </a:solidFill>
                <a:cs typeface="Times New Roman" pitchFamily="18" charset="0"/>
              </a:rPr>
              <a:t> </a:t>
            </a:r>
            <a:r>
              <a:rPr lang="es-ES" sz="2800" b="1" dirty="0">
                <a:solidFill>
                  <a:srgbClr val="FF0000"/>
                </a:solidFill>
                <a:cs typeface="Times New Roman" pitchFamily="18" charset="0"/>
              </a:rPr>
              <a:t>0     0     0     2     2</a:t>
            </a:r>
          </a:p>
        </p:txBody>
      </p:sp>
      <p:graphicFrame>
        <p:nvGraphicFramePr>
          <p:cNvPr id="4" name="Tabla 3">
            <a:extLst>
              <a:ext uri="{FF2B5EF4-FFF2-40B4-BE49-F238E27FC236}">
                <a16:creationId xmlns:a16="http://schemas.microsoft.com/office/drawing/2014/main" id="{80A2B718-E9BF-4BD4-B2F1-68E9CD6387A4}"/>
              </a:ext>
            </a:extLst>
          </p:cNvPr>
          <p:cNvGraphicFramePr>
            <a:graphicFrameLocks noGrp="1"/>
          </p:cNvGraphicFramePr>
          <p:nvPr/>
        </p:nvGraphicFramePr>
        <p:xfrm>
          <a:off x="7178611" y="1411559"/>
          <a:ext cx="2724341" cy="2582470"/>
        </p:xfrm>
        <a:graphic>
          <a:graphicData uri="http://schemas.openxmlformats.org/drawingml/2006/table">
            <a:tbl>
              <a:tblPr/>
              <a:tblGrid>
                <a:gridCol w="545116">
                  <a:extLst>
                    <a:ext uri="{9D8B030D-6E8A-4147-A177-3AD203B41FA5}">
                      <a16:colId xmlns:a16="http://schemas.microsoft.com/office/drawing/2014/main" val="1406677081"/>
                    </a:ext>
                  </a:extLst>
                </a:gridCol>
                <a:gridCol w="543869">
                  <a:extLst>
                    <a:ext uri="{9D8B030D-6E8A-4147-A177-3AD203B41FA5}">
                      <a16:colId xmlns:a16="http://schemas.microsoft.com/office/drawing/2014/main" val="2524891060"/>
                    </a:ext>
                  </a:extLst>
                </a:gridCol>
                <a:gridCol w="546371">
                  <a:extLst>
                    <a:ext uri="{9D8B030D-6E8A-4147-A177-3AD203B41FA5}">
                      <a16:colId xmlns:a16="http://schemas.microsoft.com/office/drawing/2014/main" val="1267280688"/>
                    </a:ext>
                  </a:extLst>
                </a:gridCol>
                <a:gridCol w="543869">
                  <a:extLst>
                    <a:ext uri="{9D8B030D-6E8A-4147-A177-3AD203B41FA5}">
                      <a16:colId xmlns:a16="http://schemas.microsoft.com/office/drawing/2014/main" val="2809736144"/>
                    </a:ext>
                  </a:extLst>
                </a:gridCol>
                <a:gridCol w="545116">
                  <a:extLst>
                    <a:ext uri="{9D8B030D-6E8A-4147-A177-3AD203B41FA5}">
                      <a16:colId xmlns:a16="http://schemas.microsoft.com/office/drawing/2014/main" val="2781788826"/>
                    </a:ext>
                  </a:extLst>
                </a:gridCol>
              </a:tblGrid>
              <a:tr h="516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 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69080629"/>
                  </a:ext>
                </a:extLst>
              </a:tr>
              <a:tr h="516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77434081"/>
                  </a:ext>
                </a:extLst>
              </a:tr>
              <a:tr h="516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6</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66610451"/>
                  </a:ext>
                </a:extLst>
              </a:tr>
              <a:tr h="516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 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71207334"/>
                  </a:ext>
                </a:extLst>
              </a:tr>
              <a:tr h="516494">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51666915"/>
                  </a:ext>
                </a:extLst>
              </a:tr>
            </a:tbl>
          </a:graphicData>
        </a:graphic>
      </p:graphicFrame>
      <p:graphicFrame>
        <p:nvGraphicFramePr>
          <p:cNvPr id="5" name="Tabla 4">
            <a:extLst>
              <a:ext uri="{FF2B5EF4-FFF2-40B4-BE49-F238E27FC236}">
                <a16:creationId xmlns:a16="http://schemas.microsoft.com/office/drawing/2014/main" id="{A3BDFB58-FDA9-44A2-B368-538B5A70A1F3}"/>
              </a:ext>
            </a:extLst>
          </p:cNvPr>
          <p:cNvGraphicFramePr>
            <a:graphicFrameLocks noGrp="1"/>
          </p:cNvGraphicFramePr>
          <p:nvPr/>
        </p:nvGraphicFramePr>
        <p:xfrm>
          <a:off x="7184136" y="4157344"/>
          <a:ext cx="2737104" cy="2590925"/>
        </p:xfrm>
        <a:graphic>
          <a:graphicData uri="http://schemas.openxmlformats.org/drawingml/2006/table">
            <a:tbl>
              <a:tblPr/>
              <a:tblGrid>
                <a:gridCol w="535018">
                  <a:extLst>
                    <a:ext uri="{9D8B030D-6E8A-4147-A177-3AD203B41FA5}">
                      <a16:colId xmlns:a16="http://schemas.microsoft.com/office/drawing/2014/main" val="1581502538"/>
                    </a:ext>
                  </a:extLst>
                </a:gridCol>
                <a:gridCol w="526468">
                  <a:extLst>
                    <a:ext uri="{9D8B030D-6E8A-4147-A177-3AD203B41FA5}">
                      <a16:colId xmlns:a16="http://schemas.microsoft.com/office/drawing/2014/main" val="2196293917"/>
                    </a:ext>
                  </a:extLst>
                </a:gridCol>
                <a:gridCol w="533800">
                  <a:extLst>
                    <a:ext uri="{9D8B030D-6E8A-4147-A177-3AD203B41FA5}">
                      <a16:colId xmlns:a16="http://schemas.microsoft.com/office/drawing/2014/main" val="2208495343"/>
                    </a:ext>
                  </a:extLst>
                </a:gridCol>
                <a:gridCol w="533800">
                  <a:extLst>
                    <a:ext uri="{9D8B030D-6E8A-4147-A177-3AD203B41FA5}">
                      <a16:colId xmlns:a16="http://schemas.microsoft.com/office/drawing/2014/main" val="1364938443"/>
                    </a:ext>
                  </a:extLst>
                </a:gridCol>
                <a:gridCol w="608018">
                  <a:extLst>
                    <a:ext uri="{9D8B030D-6E8A-4147-A177-3AD203B41FA5}">
                      <a16:colId xmlns:a16="http://schemas.microsoft.com/office/drawing/2014/main" val="2115413437"/>
                    </a:ext>
                  </a:extLst>
                </a:gridCol>
              </a:tblGrid>
              <a:tr h="518185">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132714067"/>
                  </a:ext>
                </a:extLst>
              </a:tr>
              <a:tr h="518185">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16</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741079722"/>
                  </a:ext>
                </a:extLst>
              </a:tr>
              <a:tr h="518185">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4175942972"/>
                  </a:ext>
                </a:extLst>
              </a:tr>
              <a:tr h="518185">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16</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762000" rtl="0" eaLnBrk="0" fontAlgn="base" latinLnBrk="0" hangingPunct="0">
                        <a:lnSpc>
                          <a:spcPct val="95000"/>
                        </a:lnSpc>
                        <a:spcBef>
                          <a:spcPct val="0"/>
                        </a:spcBef>
                        <a:spcAft>
                          <a:spcPct val="0"/>
                        </a:spcAft>
                        <a:buClrTx/>
                        <a:buSzTx/>
                        <a:buFontTx/>
                        <a:buNone/>
                        <a:tabLst>
                          <a:tab pos="173038" algn="ctr"/>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	20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2146546538"/>
                  </a:ext>
                </a:extLst>
              </a:tr>
              <a:tr h="518185">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14</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20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0</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762000" rtl="0" eaLnBrk="0" fontAlgn="base" latinLnBrk="0" hangingPunct="0">
                        <a:lnSpc>
                          <a:spcPct val="95000"/>
                        </a:lnSpc>
                        <a:spcBef>
                          <a:spcPct val="0"/>
                        </a:spcBef>
                        <a:spcAft>
                          <a:spcPct val="0"/>
                        </a:spcAft>
                        <a:buClrTx/>
                        <a:buSzTx/>
                        <a:buFontTx/>
                        <a:buNone/>
                        <a:tabLst/>
                      </a:pPr>
                      <a:r>
                        <a:rPr kumimoji="0" lang="es-ES" sz="2400" b="1" i="0" u="none" strike="noStrike" cap="none" normalizeH="0" baseline="0" dirty="0">
                          <a:ln>
                            <a:noFill/>
                          </a:ln>
                          <a:solidFill>
                            <a:schemeClr val="bg2">
                              <a:lumMod val="25000"/>
                            </a:schemeClr>
                          </a:solidFill>
                          <a:effectLst/>
                          <a:latin typeface="Arial" charset="0"/>
                          <a:cs typeface="Times New Roman" pitchFamily="18" charset="0"/>
                        </a:rPr>
                        <a:t>18</a:t>
                      </a:r>
                      <a:endParaRPr kumimoji="0" lang="es-ES" sz="2400" b="0" i="0" u="none" strike="noStrike" cap="none" normalizeH="0" baseline="0" dirty="0">
                        <a:ln>
                          <a:noFill/>
                        </a:ln>
                        <a:solidFill>
                          <a:schemeClr val="bg2">
                            <a:lumMod val="25000"/>
                          </a:schemeClr>
                        </a:solidFill>
                        <a:effectLst/>
                        <a:latin typeface="Arial" charset="0"/>
                      </a:endParaRPr>
                    </a:p>
                  </a:txBody>
                  <a:tcP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144031894"/>
                  </a:ext>
                </a:extLst>
              </a:tr>
            </a:tbl>
          </a:graphicData>
        </a:graphic>
      </p:graphicFrame>
      <p:sp>
        <p:nvSpPr>
          <p:cNvPr id="15" name="Oval 6">
            <a:extLst>
              <a:ext uri="{FF2B5EF4-FFF2-40B4-BE49-F238E27FC236}">
                <a16:creationId xmlns:a16="http://schemas.microsoft.com/office/drawing/2014/main" id="{7E713C32-A503-4392-ABEA-5D891046D3C5}"/>
              </a:ext>
            </a:extLst>
          </p:cNvPr>
          <p:cNvSpPr>
            <a:spLocks noChangeArrowheads="1"/>
          </p:cNvSpPr>
          <p:nvPr/>
        </p:nvSpPr>
        <p:spPr bwMode="auto">
          <a:xfrm>
            <a:off x="9360408" y="4684014"/>
            <a:ext cx="503238" cy="503238"/>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16" name="13 CuadroTexto">
            <a:extLst>
              <a:ext uri="{FF2B5EF4-FFF2-40B4-BE49-F238E27FC236}">
                <a16:creationId xmlns:a16="http://schemas.microsoft.com/office/drawing/2014/main" id="{3B6EB3A5-08AC-4F1C-8A84-0920EE531FA3}"/>
              </a:ext>
            </a:extLst>
          </p:cNvPr>
          <p:cNvSpPr txBox="1"/>
          <p:nvPr/>
        </p:nvSpPr>
        <p:spPr>
          <a:xfrm>
            <a:off x="10140696" y="1698529"/>
            <a:ext cx="1810512" cy="830997"/>
          </a:xfrm>
          <a:prstGeom prst="rect">
            <a:avLst/>
          </a:prstGeom>
          <a:noFill/>
        </p:spPr>
        <p:txBody>
          <a:bodyPr wrap="square" rtlCol="0">
            <a:spAutoFit/>
          </a:bodyPr>
          <a:lstStyle/>
          <a:p>
            <a:pPr algn="ctr"/>
            <a:r>
              <a:rPr lang="es-ES" sz="2400" b="1" dirty="0"/>
              <a:t>Aplicando el paso </a:t>
            </a:r>
            <a:r>
              <a:rPr lang="es-ES" sz="2400" b="1" dirty="0" err="1"/>
              <a:t>2a</a:t>
            </a:r>
            <a:endParaRPr lang="es-PE" sz="2400" b="1" dirty="0"/>
          </a:p>
        </p:txBody>
      </p:sp>
      <p:sp>
        <p:nvSpPr>
          <p:cNvPr id="17" name="Oval 6">
            <a:extLst>
              <a:ext uri="{FF2B5EF4-FFF2-40B4-BE49-F238E27FC236}">
                <a16:creationId xmlns:a16="http://schemas.microsoft.com/office/drawing/2014/main" id="{9D92C405-80BE-4267-A2F8-C942E551E8B8}"/>
              </a:ext>
            </a:extLst>
          </p:cNvPr>
          <p:cNvSpPr>
            <a:spLocks noChangeArrowheads="1"/>
          </p:cNvSpPr>
          <p:nvPr/>
        </p:nvSpPr>
        <p:spPr bwMode="auto">
          <a:xfrm>
            <a:off x="7738872" y="5193030"/>
            <a:ext cx="503238" cy="503238"/>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18" name="Oval 6">
            <a:extLst>
              <a:ext uri="{FF2B5EF4-FFF2-40B4-BE49-F238E27FC236}">
                <a16:creationId xmlns:a16="http://schemas.microsoft.com/office/drawing/2014/main" id="{2E56233A-00BA-4DD8-9984-CEB7E7E4391E}"/>
              </a:ext>
            </a:extLst>
          </p:cNvPr>
          <p:cNvSpPr>
            <a:spLocks noChangeArrowheads="1"/>
          </p:cNvSpPr>
          <p:nvPr/>
        </p:nvSpPr>
        <p:spPr bwMode="auto">
          <a:xfrm>
            <a:off x="7196328" y="6232398"/>
            <a:ext cx="503238" cy="503238"/>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19" name="Oval 6">
            <a:extLst>
              <a:ext uri="{FF2B5EF4-FFF2-40B4-BE49-F238E27FC236}">
                <a16:creationId xmlns:a16="http://schemas.microsoft.com/office/drawing/2014/main" id="{580EE814-CD83-4289-AEFE-6033067ED292}"/>
              </a:ext>
            </a:extLst>
          </p:cNvPr>
          <p:cNvSpPr>
            <a:spLocks noChangeArrowheads="1"/>
          </p:cNvSpPr>
          <p:nvPr/>
        </p:nvSpPr>
        <p:spPr bwMode="auto">
          <a:xfrm>
            <a:off x="8799576" y="4159758"/>
            <a:ext cx="503238" cy="503238"/>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20" name="Oval 6">
            <a:extLst>
              <a:ext uri="{FF2B5EF4-FFF2-40B4-BE49-F238E27FC236}">
                <a16:creationId xmlns:a16="http://schemas.microsoft.com/office/drawing/2014/main" id="{34815C81-81C2-4527-8800-1D35058B3F6F}"/>
              </a:ext>
            </a:extLst>
          </p:cNvPr>
          <p:cNvSpPr>
            <a:spLocks noChangeArrowheads="1"/>
          </p:cNvSpPr>
          <p:nvPr/>
        </p:nvSpPr>
        <p:spPr bwMode="auto">
          <a:xfrm>
            <a:off x="8266176" y="5711190"/>
            <a:ext cx="503238" cy="503238"/>
          </a:xfrm>
          <a:prstGeom prst="ellipse">
            <a:avLst/>
          </a:prstGeom>
          <a:noFill/>
          <a:ln w="12700">
            <a:solidFill>
              <a:schemeClr val="tx1"/>
            </a:solidFill>
            <a:round/>
            <a:headEnd type="none" w="sm" len="sm"/>
            <a:tailEnd type="none" w="sm" len="sm"/>
          </a:ln>
        </p:spPr>
        <p:txBody>
          <a:bodyPr wrap="none" anchor="ctr"/>
          <a:lstStyle/>
          <a:p>
            <a:endParaRPr lang="es-PE" dirty="0"/>
          </a:p>
        </p:txBody>
      </p:sp>
      <p:sp>
        <p:nvSpPr>
          <p:cNvPr id="21" name="Rectangle 3">
            <a:extLst>
              <a:ext uri="{FF2B5EF4-FFF2-40B4-BE49-F238E27FC236}">
                <a16:creationId xmlns:a16="http://schemas.microsoft.com/office/drawing/2014/main" id="{EDDF24A8-0103-48BE-A4F1-854B85B9898C}"/>
              </a:ext>
            </a:extLst>
          </p:cNvPr>
          <p:cNvSpPr txBox="1">
            <a:spLocks noChangeArrowheads="1"/>
          </p:cNvSpPr>
          <p:nvPr/>
        </p:nvSpPr>
        <p:spPr>
          <a:xfrm>
            <a:off x="300407" y="4680411"/>
            <a:ext cx="5519551" cy="187566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nSpc>
                <a:spcPct val="100000"/>
              </a:lnSpc>
              <a:spcBef>
                <a:spcPts val="0"/>
              </a:spcBef>
            </a:pPr>
            <a:r>
              <a:rPr lang="es-ES" sz="2000" dirty="0">
                <a:solidFill>
                  <a:schemeClr val="bg2">
                    <a:lumMod val="25000"/>
                  </a:schemeClr>
                </a:solidFill>
              </a:rPr>
              <a:t>Al empleado 1 se le asigna  el trabajo 4 </a:t>
            </a:r>
            <a:r>
              <a:rPr lang="es-ES" sz="2000" dirty="0">
                <a:solidFill>
                  <a:schemeClr val="bg2">
                    <a:lumMod val="25000"/>
                  </a:schemeClr>
                </a:solidFill>
                <a:sym typeface="Wingdings" panose="05000000000000000000" pitchFamily="2" charset="2"/>
              </a:rPr>
              <a:t></a:t>
            </a:r>
            <a:r>
              <a:rPr lang="es-ES" sz="2000" dirty="0">
                <a:solidFill>
                  <a:schemeClr val="bg2">
                    <a:lumMod val="25000"/>
                  </a:schemeClr>
                </a:solidFill>
              </a:rPr>
              <a:t>	    10</a:t>
            </a:r>
          </a:p>
          <a:p>
            <a:pPr marL="0">
              <a:lnSpc>
                <a:spcPct val="100000"/>
              </a:lnSpc>
              <a:spcBef>
                <a:spcPts val="0"/>
              </a:spcBef>
            </a:pPr>
            <a:r>
              <a:rPr lang="es-ES" sz="2000" dirty="0">
                <a:solidFill>
                  <a:schemeClr val="bg2">
                    <a:lumMod val="25000"/>
                  </a:schemeClr>
                </a:solidFill>
              </a:rPr>
              <a:t>Al empleado 2 se le asigna  el trabajo 5 </a:t>
            </a:r>
            <a:r>
              <a:rPr lang="es-ES" sz="2000" dirty="0">
                <a:solidFill>
                  <a:schemeClr val="bg2">
                    <a:lumMod val="25000"/>
                  </a:schemeClr>
                </a:solidFill>
                <a:sym typeface="Wingdings" panose="05000000000000000000" pitchFamily="2" charset="2"/>
              </a:rPr>
              <a:t></a:t>
            </a:r>
            <a:r>
              <a:rPr lang="es-ES" sz="2000" dirty="0">
                <a:solidFill>
                  <a:schemeClr val="bg2">
                    <a:lumMod val="25000"/>
                  </a:schemeClr>
                </a:solidFill>
              </a:rPr>
              <a:t>	    10</a:t>
            </a:r>
          </a:p>
          <a:p>
            <a:pPr marL="0">
              <a:lnSpc>
                <a:spcPct val="100000"/>
              </a:lnSpc>
              <a:spcBef>
                <a:spcPts val="0"/>
              </a:spcBef>
            </a:pPr>
            <a:r>
              <a:rPr lang="es-ES" sz="2000" dirty="0">
                <a:solidFill>
                  <a:schemeClr val="bg2">
                    <a:lumMod val="25000"/>
                  </a:schemeClr>
                </a:solidFill>
              </a:rPr>
              <a:t>Al empleado 3 se le asigna  el trabajo 2 </a:t>
            </a:r>
            <a:r>
              <a:rPr lang="es-ES" sz="2000" dirty="0">
                <a:solidFill>
                  <a:schemeClr val="bg2">
                    <a:lumMod val="25000"/>
                  </a:schemeClr>
                </a:solidFill>
                <a:sym typeface="Wingdings" panose="05000000000000000000" pitchFamily="2" charset="2"/>
              </a:rPr>
              <a:t></a:t>
            </a:r>
            <a:r>
              <a:rPr lang="es-ES" sz="2000" dirty="0">
                <a:solidFill>
                  <a:schemeClr val="bg2">
                    <a:lumMod val="25000"/>
                  </a:schemeClr>
                </a:solidFill>
              </a:rPr>
              <a:t>	      6</a:t>
            </a:r>
          </a:p>
          <a:p>
            <a:pPr marL="0">
              <a:lnSpc>
                <a:spcPct val="100000"/>
              </a:lnSpc>
              <a:spcBef>
                <a:spcPts val="0"/>
              </a:spcBef>
            </a:pPr>
            <a:r>
              <a:rPr lang="es-ES" sz="2000" dirty="0">
                <a:solidFill>
                  <a:schemeClr val="bg2">
                    <a:lumMod val="25000"/>
                  </a:schemeClr>
                </a:solidFill>
              </a:rPr>
              <a:t>Al empleado 4 se le asigna  el trabajo 3 </a:t>
            </a:r>
            <a:r>
              <a:rPr lang="es-ES" sz="2000" dirty="0">
                <a:solidFill>
                  <a:schemeClr val="bg2">
                    <a:lumMod val="25000"/>
                  </a:schemeClr>
                </a:solidFill>
                <a:sym typeface="Wingdings" panose="05000000000000000000" pitchFamily="2" charset="2"/>
              </a:rPr>
              <a:t></a:t>
            </a:r>
            <a:r>
              <a:rPr lang="es-ES" sz="2000" dirty="0">
                <a:solidFill>
                  <a:schemeClr val="bg2">
                    <a:lumMod val="25000"/>
                  </a:schemeClr>
                </a:solidFill>
              </a:rPr>
              <a:t>	      2</a:t>
            </a:r>
          </a:p>
          <a:p>
            <a:pPr marL="0">
              <a:lnSpc>
                <a:spcPct val="100000"/>
              </a:lnSpc>
              <a:spcBef>
                <a:spcPts val="0"/>
              </a:spcBef>
            </a:pPr>
            <a:r>
              <a:rPr lang="es-ES" sz="2000" dirty="0">
                <a:solidFill>
                  <a:schemeClr val="bg2">
                    <a:lumMod val="25000"/>
                  </a:schemeClr>
                </a:solidFill>
              </a:rPr>
              <a:t>Al empleado 5 se le asigna  el trabajo 1 </a:t>
            </a:r>
            <a:r>
              <a:rPr lang="es-ES" sz="2000" dirty="0">
                <a:solidFill>
                  <a:schemeClr val="bg2">
                    <a:lumMod val="25000"/>
                  </a:schemeClr>
                </a:solidFill>
                <a:sym typeface="Wingdings" panose="05000000000000000000" pitchFamily="2" charset="2"/>
              </a:rPr>
              <a:t></a:t>
            </a:r>
            <a:r>
              <a:rPr lang="es-ES" sz="2000" dirty="0">
                <a:solidFill>
                  <a:schemeClr val="bg2">
                    <a:lumMod val="25000"/>
                  </a:schemeClr>
                </a:solidFill>
              </a:rPr>
              <a:t>	      </a:t>
            </a:r>
            <a:r>
              <a:rPr lang="es-ES" sz="2000" u="sng" dirty="0">
                <a:solidFill>
                  <a:schemeClr val="bg2">
                    <a:lumMod val="25000"/>
                  </a:schemeClr>
                </a:solidFill>
              </a:rPr>
              <a:t>4</a:t>
            </a:r>
            <a:endParaRPr lang="es-ES" sz="2000" dirty="0">
              <a:solidFill>
                <a:schemeClr val="bg2">
                  <a:lumMod val="25000"/>
                </a:schemeClr>
              </a:solidFill>
            </a:endParaRPr>
          </a:p>
          <a:p>
            <a:pPr marL="0">
              <a:lnSpc>
                <a:spcPct val="100000"/>
              </a:lnSpc>
              <a:spcBef>
                <a:spcPts val="0"/>
              </a:spcBef>
              <a:buFont typeface="Wingdings" pitchFamily="2" charset="2"/>
              <a:buNone/>
            </a:pPr>
            <a:r>
              <a:rPr lang="es-ES" sz="2000" dirty="0">
                <a:solidFill>
                  <a:schemeClr val="bg2">
                    <a:lumMod val="25000"/>
                  </a:schemeClr>
                </a:solidFill>
              </a:rPr>
              <a:t>		DISTANCIA MÍNIMA	    32</a:t>
            </a:r>
          </a:p>
        </p:txBody>
      </p:sp>
    </p:spTree>
    <p:extLst>
      <p:ext uri="{BB962C8B-B14F-4D97-AF65-F5344CB8AC3E}">
        <p14:creationId xmlns:p14="http://schemas.microsoft.com/office/powerpoint/2010/main" val="29347711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2000"/>
                                        <p:tgtEl>
                                          <p:spTgt spid="15"/>
                                        </p:tgtEl>
                                      </p:cBhvr>
                                    </p:animEffect>
                                    <p:anim calcmode="lin" valueType="num">
                                      <p:cBhvr>
                                        <p:cTn id="12" dur="2000" fill="hold"/>
                                        <p:tgtEl>
                                          <p:spTgt spid="15"/>
                                        </p:tgtEl>
                                        <p:attrNameLst>
                                          <p:attrName>ppt_w</p:attrName>
                                        </p:attrNameLst>
                                      </p:cBhvr>
                                      <p:tavLst>
                                        <p:tav tm="0" fmla="#ppt_w*sin(2.5*pi*$)">
                                          <p:val>
                                            <p:fltVal val="0"/>
                                          </p:val>
                                        </p:tav>
                                        <p:tav tm="100000">
                                          <p:val>
                                            <p:fltVal val="1"/>
                                          </p:val>
                                        </p:tav>
                                      </p:tavLst>
                                    </p:anim>
                                    <p:anim calcmode="lin" valueType="num">
                                      <p:cBhvr>
                                        <p:cTn id="13" dur="2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5"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2000"/>
                                        <p:tgtEl>
                                          <p:spTgt spid="20"/>
                                        </p:tgtEl>
                                      </p:cBhvr>
                                    </p:animEffect>
                                    <p:anim calcmode="lin" valueType="num">
                                      <p:cBhvr>
                                        <p:cTn id="19" dur="2000" fill="hold"/>
                                        <p:tgtEl>
                                          <p:spTgt spid="20"/>
                                        </p:tgtEl>
                                        <p:attrNameLst>
                                          <p:attrName>ppt_w</p:attrName>
                                        </p:attrNameLst>
                                      </p:cBhvr>
                                      <p:tavLst>
                                        <p:tav tm="0" fmla="#ppt_w*sin(2.5*pi*$)">
                                          <p:val>
                                            <p:fltVal val="0"/>
                                          </p:val>
                                        </p:tav>
                                        <p:tav tm="100000">
                                          <p:val>
                                            <p:fltVal val="1"/>
                                          </p:val>
                                        </p:tav>
                                      </p:tavLst>
                                    </p:anim>
                                    <p:anim calcmode="lin" valueType="num">
                                      <p:cBhvr>
                                        <p:cTn id="20" dur="20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2000"/>
                                        <p:tgtEl>
                                          <p:spTgt spid="17"/>
                                        </p:tgtEl>
                                      </p:cBhvr>
                                    </p:animEffect>
                                    <p:anim calcmode="lin" valueType="num">
                                      <p:cBhvr>
                                        <p:cTn id="26" dur="2000" fill="hold"/>
                                        <p:tgtEl>
                                          <p:spTgt spid="17"/>
                                        </p:tgtEl>
                                        <p:attrNameLst>
                                          <p:attrName>ppt_w</p:attrName>
                                        </p:attrNameLst>
                                      </p:cBhvr>
                                      <p:tavLst>
                                        <p:tav tm="0" fmla="#ppt_w*sin(2.5*pi*$)">
                                          <p:val>
                                            <p:fltVal val="0"/>
                                          </p:val>
                                        </p:tav>
                                        <p:tav tm="100000">
                                          <p:val>
                                            <p:fltVal val="1"/>
                                          </p:val>
                                        </p:tav>
                                      </p:tavLst>
                                    </p:anim>
                                    <p:anim calcmode="lin" valueType="num">
                                      <p:cBhvr>
                                        <p:cTn id="27" dur="20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45"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2000"/>
                                        <p:tgtEl>
                                          <p:spTgt spid="18"/>
                                        </p:tgtEl>
                                      </p:cBhvr>
                                    </p:animEffect>
                                    <p:anim calcmode="lin" valueType="num">
                                      <p:cBhvr>
                                        <p:cTn id="33" dur="2000" fill="hold"/>
                                        <p:tgtEl>
                                          <p:spTgt spid="18"/>
                                        </p:tgtEl>
                                        <p:attrNameLst>
                                          <p:attrName>ppt_w</p:attrName>
                                        </p:attrNameLst>
                                      </p:cBhvr>
                                      <p:tavLst>
                                        <p:tav tm="0" fmla="#ppt_w*sin(2.5*pi*$)">
                                          <p:val>
                                            <p:fltVal val="0"/>
                                          </p:val>
                                        </p:tav>
                                        <p:tav tm="100000">
                                          <p:val>
                                            <p:fltVal val="1"/>
                                          </p:val>
                                        </p:tav>
                                      </p:tavLst>
                                    </p:anim>
                                    <p:anim calcmode="lin" valueType="num">
                                      <p:cBhvr>
                                        <p:cTn id="34" dur="20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45"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2000"/>
                                        <p:tgtEl>
                                          <p:spTgt spid="19"/>
                                        </p:tgtEl>
                                      </p:cBhvr>
                                    </p:animEffect>
                                    <p:anim calcmode="lin" valueType="num">
                                      <p:cBhvr>
                                        <p:cTn id="40" dur="2000" fill="hold"/>
                                        <p:tgtEl>
                                          <p:spTgt spid="19"/>
                                        </p:tgtEl>
                                        <p:attrNameLst>
                                          <p:attrName>ppt_w</p:attrName>
                                        </p:attrNameLst>
                                      </p:cBhvr>
                                      <p:tavLst>
                                        <p:tav tm="0" fmla="#ppt_w*sin(2.5*pi*$)">
                                          <p:val>
                                            <p:fltVal val="0"/>
                                          </p:val>
                                        </p:tav>
                                        <p:tav tm="100000">
                                          <p:val>
                                            <p:fltVal val="1"/>
                                          </p:val>
                                        </p:tav>
                                      </p:tavLst>
                                    </p:anim>
                                    <p:anim calcmode="lin" valueType="num">
                                      <p:cBhvr>
                                        <p:cTn id="41" dur="20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P spid="19" grpId="0" animBg="1"/>
      <p:bldP spid="20" grpId="0" animBg="1"/>
      <p:bldP spid="2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49856D21-B2CE-4E95-8EB4-72C3C16278FC}"/>
              </a:ext>
            </a:extLst>
          </p:cNvPr>
          <p:cNvSpPr/>
          <p:nvPr/>
        </p:nvSpPr>
        <p:spPr>
          <a:xfrm>
            <a:off x="270294" y="1285667"/>
            <a:ext cx="9158378" cy="369332"/>
          </a:xfrm>
          <a:prstGeom prst="rect">
            <a:avLst/>
          </a:prstGeom>
        </p:spPr>
        <p:txBody>
          <a:bodyPr wrap="square">
            <a:spAutoFit/>
          </a:bodyPr>
          <a:lstStyle/>
          <a:p>
            <a:r>
              <a:rPr lang="es-PE" dirty="0"/>
              <a:t>PROBLEMA: Asignar las 4 tareas(columnas) a los 5 trabajadores (filas) según los costos</a:t>
            </a:r>
          </a:p>
        </p:txBody>
      </p:sp>
      <p:graphicFrame>
        <p:nvGraphicFramePr>
          <p:cNvPr id="6" name="Tabla 5">
            <a:extLst>
              <a:ext uri="{FF2B5EF4-FFF2-40B4-BE49-F238E27FC236}">
                <a16:creationId xmlns:a16="http://schemas.microsoft.com/office/drawing/2014/main" id="{3D710975-ABBB-464A-9EB0-B5C31B061190}"/>
              </a:ext>
            </a:extLst>
          </p:cNvPr>
          <p:cNvGraphicFramePr>
            <a:graphicFrameLocks noGrp="1"/>
          </p:cNvGraphicFramePr>
          <p:nvPr/>
        </p:nvGraphicFramePr>
        <p:xfrm>
          <a:off x="327804" y="1613137"/>
          <a:ext cx="4257477" cy="2284715"/>
        </p:xfrm>
        <a:graphic>
          <a:graphicData uri="http://schemas.openxmlformats.org/drawingml/2006/table">
            <a:tbl>
              <a:tblPr>
                <a:tableStyleId>{5C22544A-7EE6-4342-B048-85BDC9FD1C3A}</a:tableStyleId>
              </a:tblPr>
              <a:tblGrid>
                <a:gridCol w="1346552">
                  <a:extLst>
                    <a:ext uri="{9D8B030D-6E8A-4147-A177-3AD203B41FA5}">
                      <a16:colId xmlns:a16="http://schemas.microsoft.com/office/drawing/2014/main" val="2404967853"/>
                    </a:ext>
                  </a:extLst>
                </a:gridCol>
                <a:gridCol w="422447">
                  <a:extLst>
                    <a:ext uri="{9D8B030D-6E8A-4147-A177-3AD203B41FA5}">
                      <a16:colId xmlns:a16="http://schemas.microsoft.com/office/drawing/2014/main" val="3099366177"/>
                    </a:ext>
                  </a:extLst>
                </a:gridCol>
                <a:gridCol w="422447">
                  <a:extLst>
                    <a:ext uri="{9D8B030D-6E8A-4147-A177-3AD203B41FA5}">
                      <a16:colId xmlns:a16="http://schemas.microsoft.com/office/drawing/2014/main" val="3098022493"/>
                    </a:ext>
                  </a:extLst>
                </a:gridCol>
                <a:gridCol w="422447">
                  <a:extLst>
                    <a:ext uri="{9D8B030D-6E8A-4147-A177-3AD203B41FA5}">
                      <a16:colId xmlns:a16="http://schemas.microsoft.com/office/drawing/2014/main" val="3457206701"/>
                    </a:ext>
                  </a:extLst>
                </a:gridCol>
                <a:gridCol w="422447">
                  <a:extLst>
                    <a:ext uri="{9D8B030D-6E8A-4147-A177-3AD203B41FA5}">
                      <a16:colId xmlns:a16="http://schemas.microsoft.com/office/drawing/2014/main" val="4209393905"/>
                    </a:ext>
                  </a:extLst>
                </a:gridCol>
                <a:gridCol w="422447">
                  <a:extLst>
                    <a:ext uri="{9D8B030D-6E8A-4147-A177-3AD203B41FA5}">
                      <a16:colId xmlns:a16="http://schemas.microsoft.com/office/drawing/2014/main" val="1712712120"/>
                    </a:ext>
                  </a:extLst>
                </a:gridCol>
                <a:gridCol w="422447">
                  <a:extLst>
                    <a:ext uri="{9D8B030D-6E8A-4147-A177-3AD203B41FA5}">
                      <a16:colId xmlns:a16="http://schemas.microsoft.com/office/drawing/2014/main" val="3995000172"/>
                    </a:ext>
                  </a:extLst>
                </a:gridCol>
                <a:gridCol w="376243">
                  <a:extLst>
                    <a:ext uri="{9D8B030D-6E8A-4147-A177-3AD203B41FA5}">
                      <a16:colId xmlns:a16="http://schemas.microsoft.com/office/drawing/2014/main" val="1031007861"/>
                    </a:ext>
                  </a:extLst>
                </a:gridCol>
              </a:tblGrid>
              <a:tr h="327407">
                <a:tc>
                  <a:txBody>
                    <a:bodyPr/>
                    <a:lstStyle/>
                    <a:p>
                      <a:pPr algn="l" fontAlgn="b"/>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PE" sz="2000" u="none" strike="noStrike">
                          <a:effectLst/>
                        </a:rPr>
                        <a:t>T1</a:t>
                      </a:r>
                      <a:endParaRPr lang="es-PE" sz="2000" b="0" i="0" u="none" strike="noStrike">
                        <a:solidFill>
                          <a:srgbClr val="FF0000"/>
                        </a:solidFill>
                        <a:effectLst/>
                        <a:latin typeface="Calibri" panose="020F0502020204030204" pitchFamily="34" charset="0"/>
                      </a:endParaRPr>
                    </a:p>
                  </a:txBody>
                  <a:tcPr marL="9525" marR="9525" marT="9525" marB="0" anchor="b"/>
                </a:tc>
                <a:tc>
                  <a:txBody>
                    <a:bodyPr/>
                    <a:lstStyle/>
                    <a:p>
                      <a:pPr algn="l" fontAlgn="b"/>
                      <a:r>
                        <a:rPr lang="es-PE" sz="2000" u="none" strike="noStrike">
                          <a:effectLst/>
                        </a:rPr>
                        <a:t>T2</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PE" sz="2000" u="none" strike="noStrike">
                          <a:effectLst/>
                        </a:rPr>
                        <a:t>T3</a:t>
                      </a:r>
                      <a:endParaRPr lang="es-PE" sz="2000" b="0" i="0" u="none" strike="noStrike">
                        <a:solidFill>
                          <a:srgbClr val="FF0000"/>
                        </a:solidFill>
                        <a:effectLst/>
                        <a:latin typeface="Calibri" panose="020F0502020204030204" pitchFamily="34" charset="0"/>
                      </a:endParaRPr>
                    </a:p>
                  </a:txBody>
                  <a:tcPr marL="9525" marR="9525" marT="9525" marB="0" anchor="b"/>
                </a:tc>
                <a:tc>
                  <a:txBody>
                    <a:bodyPr/>
                    <a:lstStyle/>
                    <a:p>
                      <a:pPr algn="l" fontAlgn="b"/>
                      <a:r>
                        <a:rPr lang="es-PE" sz="2000" u="none" strike="noStrike">
                          <a:effectLst/>
                        </a:rPr>
                        <a:t>T4</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PE" sz="2000" u="none" strike="noStrike" dirty="0" err="1">
                          <a:solidFill>
                            <a:srgbClr val="FF0000"/>
                          </a:solidFill>
                          <a:effectLst/>
                        </a:rPr>
                        <a:t>T5</a:t>
                      </a:r>
                      <a:endParaRPr lang="es-PE" sz="2000" b="0" i="0" u="none" strike="noStrike" dirty="0">
                        <a:solidFill>
                          <a:srgbClr val="FF0000"/>
                        </a:solidFill>
                        <a:effectLst/>
                        <a:latin typeface="Calibri" panose="020F0502020204030204" pitchFamily="34" charset="0"/>
                      </a:endParaRPr>
                    </a:p>
                  </a:txBody>
                  <a:tcPr marL="9525" marR="9525" marT="9525"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4252835609"/>
                  </a:ext>
                </a:extLst>
              </a:tr>
              <a:tr h="327407">
                <a:tc>
                  <a:txBody>
                    <a:bodyPr/>
                    <a:lstStyle/>
                    <a:p>
                      <a:pPr algn="l" fontAlgn="b"/>
                      <a:r>
                        <a:rPr lang="es-PE" sz="2000" u="none" strike="noStrike">
                          <a:effectLst/>
                        </a:rPr>
                        <a:t>Trabador1</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u="none" strike="noStrike" dirty="0">
                          <a:effectLst/>
                        </a:rPr>
                        <a:t>6</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5</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7</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4210080308"/>
                  </a:ext>
                </a:extLst>
              </a:tr>
              <a:tr h="327407">
                <a:tc>
                  <a:txBody>
                    <a:bodyPr/>
                    <a:lstStyle/>
                    <a:p>
                      <a:pPr algn="l" fontAlgn="b"/>
                      <a:r>
                        <a:rPr lang="es-PE" sz="2000" u="none" strike="noStrike">
                          <a:effectLst/>
                        </a:rPr>
                        <a:t>Trabador2</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u="none" strike="noStrike">
                          <a:effectLst/>
                        </a:rPr>
                        <a:t>7</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7</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9</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11</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524403956"/>
                  </a:ext>
                </a:extLst>
              </a:tr>
              <a:tr h="327407">
                <a:tc>
                  <a:txBody>
                    <a:bodyPr/>
                    <a:lstStyle/>
                    <a:p>
                      <a:pPr algn="l" fontAlgn="b"/>
                      <a:r>
                        <a:rPr lang="es-PE" sz="2000" u="none" strike="noStrike">
                          <a:effectLst/>
                        </a:rPr>
                        <a:t>Trabador3</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u="none" strike="noStrike">
                          <a:effectLst/>
                        </a:rPr>
                        <a:t>5</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6</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7</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10</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2582723039"/>
                  </a:ext>
                </a:extLst>
              </a:tr>
              <a:tr h="327407">
                <a:tc>
                  <a:txBody>
                    <a:bodyPr/>
                    <a:lstStyle/>
                    <a:p>
                      <a:pPr algn="l" fontAlgn="b"/>
                      <a:r>
                        <a:rPr lang="es-PE" sz="2000" u="none" strike="noStrike">
                          <a:effectLst/>
                        </a:rPr>
                        <a:t>Trabador4</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u="none" strike="noStrike">
                          <a:effectLst/>
                        </a:rPr>
                        <a:t>4</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5</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8</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9</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915508588"/>
                  </a:ext>
                </a:extLst>
              </a:tr>
              <a:tr h="327407">
                <a:tc>
                  <a:txBody>
                    <a:bodyPr/>
                    <a:lstStyle/>
                    <a:p>
                      <a:pPr algn="l" fontAlgn="b"/>
                      <a:r>
                        <a:rPr lang="es-PE" sz="2000" u="none" strike="noStrike">
                          <a:effectLst/>
                        </a:rPr>
                        <a:t>Trabador5</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u="none" strike="noStrike">
                          <a:effectLst/>
                        </a:rPr>
                        <a:t>6</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6</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10</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11</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736092011"/>
                  </a:ext>
                </a:extLst>
              </a:tr>
              <a:tr h="320273">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rPr>
                        <a:t>4</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rPr>
                        <a:t>5</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rPr>
                        <a:t>7</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rPr>
                        <a:t>9</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4122384364"/>
                  </a:ext>
                </a:extLst>
              </a:tr>
            </a:tbl>
          </a:graphicData>
        </a:graphic>
      </p:graphicFrame>
      <p:sp>
        <p:nvSpPr>
          <p:cNvPr id="5" name="1 Título">
            <a:extLst>
              <a:ext uri="{FF2B5EF4-FFF2-40B4-BE49-F238E27FC236}">
                <a16:creationId xmlns:a16="http://schemas.microsoft.com/office/drawing/2014/main" id="{1582260C-75D4-4903-8CA3-85D6BDC92636}"/>
              </a:ext>
            </a:extLst>
          </p:cNvPr>
          <p:cNvSpPr txBox="1">
            <a:spLocks/>
          </p:cNvSpPr>
          <p:nvPr/>
        </p:nvSpPr>
        <p:spPr>
          <a:xfrm>
            <a:off x="6096000" y="304507"/>
            <a:ext cx="6096000" cy="490066"/>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Problema 6</a:t>
            </a:r>
            <a:endParaRPr lang="es-PE" sz="3200" dirty="0">
              <a:solidFill>
                <a:schemeClr val="bg1"/>
              </a:solidFill>
              <a:latin typeface="Bauhaus 93" pitchFamily="82" charset="0"/>
              <a:ea typeface="+mn-ea"/>
              <a:cs typeface="+mn-cs"/>
            </a:endParaRPr>
          </a:p>
        </p:txBody>
      </p:sp>
      <p:graphicFrame>
        <p:nvGraphicFramePr>
          <p:cNvPr id="3" name="Tabla 2">
            <a:extLst>
              <a:ext uri="{FF2B5EF4-FFF2-40B4-BE49-F238E27FC236}">
                <a16:creationId xmlns:a16="http://schemas.microsoft.com/office/drawing/2014/main" id="{CBDB2677-F8C3-49A3-84C1-9DFE4B6B24BA}"/>
              </a:ext>
            </a:extLst>
          </p:cNvPr>
          <p:cNvGraphicFramePr>
            <a:graphicFrameLocks noGrp="1"/>
          </p:cNvGraphicFramePr>
          <p:nvPr/>
        </p:nvGraphicFramePr>
        <p:xfrm>
          <a:off x="4573441" y="1946396"/>
          <a:ext cx="2112235" cy="1957308"/>
        </p:xfrm>
        <a:graphic>
          <a:graphicData uri="http://schemas.openxmlformats.org/drawingml/2006/table">
            <a:tbl>
              <a:tblPr>
                <a:tableStyleId>{5C22544A-7EE6-4342-B048-85BDC9FD1C3A}</a:tableStyleId>
              </a:tblPr>
              <a:tblGrid>
                <a:gridCol w="422447">
                  <a:extLst>
                    <a:ext uri="{9D8B030D-6E8A-4147-A177-3AD203B41FA5}">
                      <a16:colId xmlns:a16="http://schemas.microsoft.com/office/drawing/2014/main" val="2611959766"/>
                    </a:ext>
                  </a:extLst>
                </a:gridCol>
                <a:gridCol w="422447">
                  <a:extLst>
                    <a:ext uri="{9D8B030D-6E8A-4147-A177-3AD203B41FA5}">
                      <a16:colId xmlns:a16="http://schemas.microsoft.com/office/drawing/2014/main" val="4207134205"/>
                    </a:ext>
                  </a:extLst>
                </a:gridCol>
                <a:gridCol w="422447">
                  <a:extLst>
                    <a:ext uri="{9D8B030D-6E8A-4147-A177-3AD203B41FA5}">
                      <a16:colId xmlns:a16="http://schemas.microsoft.com/office/drawing/2014/main" val="2708889542"/>
                    </a:ext>
                  </a:extLst>
                </a:gridCol>
                <a:gridCol w="422447">
                  <a:extLst>
                    <a:ext uri="{9D8B030D-6E8A-4147-A177-3AD203B41FA5}">
                      <a16:colId xmlns:a16="http://schemas.microsoft.com/office/drawing/2014/main" val="2989735050"/>
                    </a:ext>
                  </a:extLst>
                </a:gridCol>
                <a:gridCol w="422447">
                  <a:extLst>
                    <a:ext uri="{9D8B030D-6E8A-4147-A177-3AD203B41FA5}">
                      <a16:colId xmlns:a16="http://schemas.microsoft.com/office/drawing/2014/main" val="2487535585"/>
                    </a:ext>
                  </a:extLst>
                </a:gridCol>
              </a:tblGrid>
              <a:tr h="327407">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3</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4069119462"/>
                  </a:ext>
                </a:extLst>
              </a:tr>
              <a:tr h="327407">
                <a:tc>
                  <a:txBody>
                    <a:bodyPr/>
                    <a:lstStyle/>
                    <a:p>
                      <a:pPr algn="ctr" fontAlgn="b"/>
                      <a:r>
                        <a:rPr lang="es-PE" sz="2000" u="none" strike="noStrike" dirty="0">
                          <a:effectLst/>
                        </a:rPr>
                        <a:t>3</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2452357714"/>
                  </a:ext>
                </a:extLst>
              </a:tr>
              <a:tr h="327407">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2756083451"/>
                  </a:ext>
                </a:extLst>
              </a:tr>
              <a:tr h="327407">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626330604"/>
                  </a:ext>
                </a:extLst>
              </a:tr>
              <a:tr h="327407">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FF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3</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507480963"/>
                  </a:ext>
                </a:extLst>
              </a:tr>
              <a:tr h="320273">
                <a:tc gridSpan="5">
                  <a:txBody>
                    <a:bodyPr/>
                    <a:lstStyle/>
                    <a:p>
                      <a:pPr algn="ctr" fontAlgn="b"/>
                      <a:r>
                        <a:rPr lang="es-PE" sz="2000" u="none" strike="noStrike" dirty="0">
                          <a:effectLst/>
                        </a:rPr>
                        <a:t>Paso 2ª</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11309800"/>
                  </a:ext>
                </a:extLst>
              </a:tr>
            </a:tbl>
          </a:graphicData>
        </a:graphic>
      </p:graphicFrame>
    </p:spTree>
    <p:extLst>
      <p:ext uri="{BB962C8B-B14F-4D97-AF65-F5344CB8AC3E}">
        <p14:creationId xmlns:p14="http://schemas.microsoft.com/office/powerpoint/2010/main" val="2968102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49856D21-B2CE-4E95-8EB4-72C3C16278FC}"/>
              </a:ext>
            </a:extLst>
          </p:cNvPr>
          <p:cNvSpPr/>
          <p:nvPr/>
        </p:nvSpPr>
        <p:spPr>
          <a:xfrm>
            <a:off x="270294" y="1285667"/>
            <a:ext cx="9158378" cy="369332"/>
          </a:xfrm>
          <a:prstGeom prst="rect">
            <a:avLst/>
          </a:prstGeom>
        </p:spPr>
        <p:txBody>
          <a:bodyPr wrap="square">
            <a:spAutoFit/>
          </a:bodyPr>
          <a:lstStyle/>
          <a:p>
            <a:r>
              <a:rPr lang="es-PE" dirty="0"/>
              <a:t>PROBLEMA: Asignar las 4 tareas(columnas) a los 5 trabajadores (filas) según los costos</a:t>
            </a:r>
          </a:p>
        </p:txBody>
      </p:sp>
      <p:graphicFrame>
        <p:nvGraphicFramePr>
          <p:cNvPr id="6" name="Tabla 5">
            <a:extLst>
              <a:ext uri="{FF2B5EF4-FFF2-40B4-BE49-F238E27FC236}">
                <a16:creationId xmlns:a16="http://schemas.microsoft.com/office/drawing/2014/main" id="{3D710975-ABBB-464A-9EB0-B5C31B061190}"/>
              </a:ext>
            </a:extLst>
          </p:cNvPr>
          <p:cNvGraphicFramePr>
            <a:graphicFrameLocks noGrp="1"/>
          </p:cNvGraphicFramePr>
          <p:nvPr/>
        </p:nvGraphicFramePr>
        <p:xfrm>
          <a:off x="327804" y="1613137"/>
          <a:ext cx="6504317" cy="2284715"/>
        </p:xfrm>
        <a:graphic>
          <a:graphicData uri="http://schemas.openxmlformats.org/drawingml/2006/table">
            <a:tbl>
              <a:tblPr>
                <a:tableStyleId>{5C22544A-7EE6-4342-B048-85BDC9FD1C3A}</a:tableStyleId>
              </a:tblPr>
              <a:tblGrid>
                <a:gridCol w="1346552">
                  <a:extLst>
                    <a:ext uri="{9D8B030D-6E8A-4147-A177-3AD203B41FA5}">
                      <a16:colId xmlns:a16="http://schemas.microsoft.com/office/drawing/2014/main" val="2404967853"/>
                    </a:ext>
                  </a:extLst>
                </a:gridCol>
                <a:gridCol w="422447">
                  <a:extLst>
                    <a:ext uri="{9D8B030D-6E8A-4147-A177-3AD203B41FA5}">
                      <a16:colId xmlns:a16="http://schemas.microsoft.com/office/drawing/2014/main" val="3099366177"/>
                    </a:ext>
                  </a:extLst>
                </a:gridCol>
                <a:gridCol w="422447">
                  <a:extLst>
                    <a:ext uri="{9D8B030D-6E8A-4147-A177-3AD203B41FA5}">
                      <a16:colId xmlns:a16="http://schemas.microsoft.com/office/drawing/2014/main" val="3098022493"/>
                    </a:ext>
                  </a:extLst>
                </a:gridCol>
                <a:gridCol w="422447">
                  <a:extLst>
                    <a:ext uri="{9D8B030D-6E8A-4147-A177-3AD203B41FA5}">
                      <a16:colId xmlns:a16="http://schemas.microsoft.com/office/drawing/2014/main" val="3457206701"/>
                    </a:ext>
                  </a:extLst>
                </a:gridCol>
                <a:gridCol w="422447">
                  <a:extLst>
                    <a:ext uri="{9D8B030D-6E8A-4147-A177-3AD203B41FA5}">
                      <a16:colId xmlns:a16="http://schemas.microsoft.com/office/drawing/2014/main" val="4209393905"/>
                    </a:ext>
                  </a:extLst>
                </a:gridCol>
                <a:gridCol w="422447">
                  <a:extLst>
                    <a:ext uri="{9D8B030D-6E8A-4147-A177-3AD203B41FA5}">
                      <a16:colId xmlns:a16="http://schemas.microsoft.com/office/drawing/2014/main" val="1712712120"/>
                    </a:ext>
                  </a:extLst>
                </a:gridCol>
                <a:gridCol w="422447">
                  <a:extLst>
                    <a:ext uri="{9D8B030D-6E8A-4147-A177-3AD203B41FA5}">
                      <a16:colId xmlns:a16="http://schemas.microsoft.com/office/drawing/2014/main" val="3995000172"/>
                    </a:ext>
                  </a:extLst>
                </a:gridCol>
                <a:gridCol w="376243">
                  <a:extLst>
                    <a:ext uri="{9D8B030D-6E8A-4147-A177-3AD203B41FA5}">
                      <a16:colId xmlns:a16="http://schemas.microsoft.com/office/drawing/2014/main" val="1031007861"/>
                    </a:ext>
                  </a:extLst>
                </a:gridCol>
                <a:gridCol w="422447">
                  <a:extLst>
                    <a:ext uri="{9D8B030D-6E8A-4147-A177-3AD203B41FA5}">
                      <a16:colId xmlns:a16="http://schemas.microsoft.com/office/drawing/2014/main" val="1356185458"/>
                    </a:ext>
                  </a:extLst>
                </a:gridCol>
                <a:gridCol w="422447">
                  <a:extLst>
                    <a:ext uri="{9D8B030D-6E8A-4147-A177-3AD203B41FA5}">
                      <a16:colId xmlns:a16="http://schemas.microsoft.com/office/drawing/2014/main" val="767057827"/>
                    </a:ext>
                  </a:extLst>
                </a:gridCol>
                <a:gridCol w="422447">
                  <a:extLst>
                    <a:ext uri="{9D8B030D-6E8A-4147-A177-3AD203B41FA5}">
                      <a16:colId xmlns:a16="http://schemas.microsoft.com/office/drawing/2014/main" val="1030404601"/>
                    </a:ext>
                  </a:extLst>
                </a:gridCol>
                <a:gridCol w="422447">
                  <a:extLst>
                    <a:ext uri="{9D8B030D-6E8A-4147-A177-3AD203B41FA5}">
                      <a16:colId xmlns:a16="http://schemas.microsoft.com/office/drawing/2014/main" val="1229217703"/>
                    </a:ext>
                  </a:extLst>
                </a:gridCol>
                <a:gridCol w="422447">
                  <a:extLst>
                    <a:ext uri="{9D8B030D-6E8A-4147-A177-3AD203B41FA5}">
                      <a16:colId xmlns:a16="http://schemas.microsoft.com/office/drawing/2014/main" val="54461884"/>
                    </a:ext>
                  </a:extLst>
                </a:gridCol>
                <a:gridCol w="134605">
                  <a:extLst>
                    <a:ext uri="{9D8B030D-6E8A-4147-A177-3AD203B41FA5}">
                      <a16:colId xmlns:a16="http://schemas.microsoft.com/office/drawing/2014/main" val="1341777944"/>
                    </a:ext>
                  </a:extLst>
                </a:gridCol>
              </a:tblGrid>
              <a:tr h="327407">
                <a:tc>
                  <a:txBody>
                    <a:bodyPr/>
                    <a:lstStyle/>
                    <a:p>
                      <a:pPr algn="l" fontAlgn="b"/>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PE" sz="2000" u="none" strike="noStrike">
                          <a:effectLst/>
                        </a:rPr>
                        <a:t>T1</a:t>
                      </a:r>
                      <a:endParaRPr lang="es-PE" sz="2000" b="0" i="0" u="none" strike="noStrike">
                        <a:solidFill>
                          <a:srgbClr val="FF0000"/>
                        </a:solidFill>
                        <a:effectLst/>
                        <a:latin typeface="Calibri" panose="020F0502020204030204" pitchFamily="34" charset="0"/>
                      </a:endParaRPr>
                    </a:p>
                  </a:txBody>
                  <a:tcPr marL="9525" marR="9525" marT="9525" marB="0" anchor="b"/>
                </a:tc>
                <a:tc>
                  <a:txBody>
                    <a:bodyPr/>
                    <a:lstStyle/>
                    <a:p>
                      <a:pPr algn="l" fontAlgn="b"/>
                      <a:r>
                        <a:rPr lang="es-PE" sz="2000" u="none" strike="noStrike">
                          <a:effectLst/>
                        </a:rPr>
                        <a:t>T2</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PE" sz="2000" u="none" strike="noStrike">
                          <a:effectLst/>
                        </a:rPr>
                        <a:t>T3</a:t>
                      </a:r>
                      <a:endParaRPr lang="es-PE" sz="2000" b="0" i="0" u="none" strike="noStrike">
                        <a:solidFill>
                          <a:srgbClr val="FF0000"/>
                        </a:solidFill>
                        <a:effectLst/>
                        <a:latin typeface="Calibri" panose="020F0502020204030204" pitchFamily="34" charset="0"/>
                      </a:endParaRPr>
                    </a:p>
                  </a:txBody>
                  <a:tcPr marL="9525" marR="9525" marT="9525" marB="0" anchor="b"/>
                </a:tc>
                <a:tc>
                  <a:txBody>
                    <a:bodyPr/>
                    <a:lstStyle/>
                    <a:p>
                      <a:pPr algn="l" fontAlgn="b"/>
                      <a:r>
                        <a:rPr lang="es-PE" sz="2000" u="none" strike="noStrike">
                          <a:effectLst/>
                        </a:rPr>
                        <a:t>T4</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PE" sz="2000" u="none" strike="noStrike" dirty="0" err="1">
                          <a:solidFill>
                            <a:srgbClr val="FF0000"/>
                          </a:solidFill>
                          <a:effectLst/>
                        </a:rPr>
                        <a:t>T5</a:t>
                      </a:r>
                      <a:endParaRPr lang="es-PE" sz="2000" b="0" i="0" u="none" strike="noStrike" dirty="0">
                        <a:solidFill>
                          <a:srgbClr val="FF0000"/>
                        </a:solidFill>
                        <a:effectLst/>
                        <a:latin typeface="Calibri" panose="020F0502020204030204" pitchFamily="34" charset="0"/>
                      </a:endParaRPr>
                    </a:p>
                  </a:txBody>
                  <a:tcPr marL="9525" marR="9525" marT="9525" marB="0" anchor="b"/>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4252835609"/>
                  </a:ext>
                </a:extLst>
              </a:tr>
              <a:tr h="327407">
                <a:tc>
                  <a:txBody>
                    <a:bodyPr/>
                    <a:lstStyle/>
                    <a:p>
                      <a:pPr algn="l" fontAlgn="b"/>
                      <a:r>
                        <a:rPr lang="es-PE" sz="2000" u="none" strike="noStrike">
                          <a:effectLst/>
                        </a:rPr>
                        <a:t>Trabador1</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u="none" strike="noStrike" dirty="0">
                          <a:effectLst/>
                        </a:rPr>
                        <a:t>6</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5</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7</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3</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4210080308"/>
                  </a:ext>
                </a:extLst>
              </a:tr>
              <a:tr h="327407">
                <a:tc>
                  <a:txBody>
                    <a:bodyPr/>
                    <a:lstStyle/>
                    <a:p>
                      <a:pPr algn="l" fontAlgn="b"/>
                      <a:r>
                        <a:rPr lang="es-PE" sz="2000" u="none" strike="noStrike">
                          <a:effectLst/>
                        </a:rPr>
                        <a:t>Trabador2</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u="none" strike="noStrike">
                          <a:effectLst/>
                        </a:rPr>
                        <a:t>7</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7</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9</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11</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a:effectLst/>
                        </a:rPr>
                        <a:t>3</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2</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524403956"/>
                  </a:ext>
                </a:extLst>
              </a:tr>
              <a:tr h="327407">
                <a:tc>
                  <a:txBody>
                    <a:bodyPr/>
                    <a:lstStyle/>
                    <a:p>
                      <a:pPr algn="l" fontAlgn="b"/>
                      <a:r>
                        <a:rPr lang="es-PE" sz="2000" u="none" strike="noStrike">
                          <a:effectLst/>
                        </a:rPr>
                        <a:t>Trabador3</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u="none" strike="noStrike">
                          <a:effectLst/>
                        </a:rPr>
                        <a:t>5</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6</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7</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10</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a:effectLst/>
                        </a:rPr>
                        <a:t>1</a:t>
                      </a:r>
                      <a:endParaRPr lang="es-PE" sz="2000" b="0" i="0" u="none" strike="noStrike">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2582723039"/>
                  </a:ext>
                </a:extLst>
              </a:tr>
              <a:tr h="327407">
                <a:tc>
                  <a:txBody>
                    <a:bodyPr/>
                    <a:lstStyle/>
                    <a:p>
                      <a:pPr algn="l" fontAlgn="b"/>
                      <a:r>
                        <a:rPr lang="es-PE" sz="2000" u="none" strike="noStrike">
                          <a:effectLst/>
                        </a:rPr>
                        <a:t>Trabador4</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u="none" strike="noStrike">
                          <a:effectLst/>
                        </a:rPr>
                        <a:t>4</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5</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8</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9</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915508588"/>
                  </a:ext>
                </a:extLst>
              </a:tr>
              <a:tr h="327407">
                <a:tc>
                  <a:txBody>
                    <a:bodyPr/>
                    <a:lstStyle/>
                    <a:p>
                      <a:pPr algn="l" fontAlgn="b"/>
                      <a:r>
                        <a:rPr lang="es-PE" sz="2000" u="none" strike="noStrike">
                          <a:effectLst/>
                        </a:rPr>
                        <a:t>Trabador5</a:t>
                      </a:r>
                      <a:endParaRPr lang="es-PE" sz="2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u="none" strike="noStrike">
                          <a:effectLst/>
                        </a:rPr>
                        <a:t>6</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6</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10</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11</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a:effectLst/>
                        </a:rPr>
                        <a:t>2</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1</a:t>
                      </a:r>
                      <a:endParaRPr lang="es-PE" sz="2000" b="0" i="0" u="none" strike="noStrike">
                        <a:solidFill>
                          <a:srgbClr val="FF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3</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736092011"/>
                  </a:ext>
                </a:extLst>
              </a:tr>
              <a:tr h="320273">
                <a:tc>
                  <a:txBody>
                    <a:bodyPr/>
                    <a:lstStyle/>
                    <a:p>
                      <a:pPr algn="l"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rPr>
                        <a:t>4</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rPr>
                        <a:t>5</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rPr>
                        <a:t>7</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rPr>
                        <a:t>9</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u="none" strike="noStrike" dirty="0">
                          <a:solidFill>
                            <a:srgbClr val="FF0000"/>
                          </a:solidFill>
                          <a:effectLst/>
                        </a:rPr>
                        <a:t>0</a:t>
                      </a:r>
                      <a:endParaRPr lang="es-PE" sz="2000" b="0"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gridSpan="5">
                  <a:txBody>
                    <a:bodyPr/>
                    <a:lstStyle/>
                    <a:p>
                      <a:pPr algn="ctr" fontAlgn="b"/>
                      <a:r>
                        <a:rPr lang="es-PE" sz="2000" u="none" strike="noStrike" dirty="0">
                          <a:effectLst/>
                        </a:rPr>
                        <a:t>Paso </a:t>
                      </a:r>
                      <a:r>
                        <a:rPr lang="es-PE" sz="2000" u="none" strike="noStrike" dirty="0" err="1">
                          <a:effectLst/>
                        </a:rPr>
                        <a:t>2a</a:t>
                      </a:r>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4122384364"/>
                  </a:ext>
                </a:extLst>
              </a:tr>
            </a:tbl>
          </a:graphicData>
        </a:graphic>
      </p:graphicFrame>
      <p:sp>
        <p:nvSpPr>
          <p:cNvPr id="5" name="1 Título">
            <a:extLst>
              <a:ext uri="{FF2B5EF4-FFF2-40B4-BE49-F238E27FC236}">
                <a16:creationId xmlns:a16="http://schemas.microsoft.com/office/drawing/2014/main" id="{1582260C-75D4-4903-8CA3-85D6BDC92636}"/>
              </a:ext>
            </a:extLst>
          </p:cNvPr>
          <p:cNvSpPr txBox="1">
            <a:spLocks/>
          </p:cNvSpPr>
          <p:nvPr/>
        </p:nvSpPr>
        <p:spPr>
          <a:xfrm>
            <a:off x="6096000" y="304507"/>
            <a:ext cx="6096000" cy="490066"/>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Problema 6</a:t>
            </a:r>
            <a:endParaRPr lang="es-PE" sz="3200" dirty="0">
              <a:solidFill>
                <a:schemeClr val="bg1"/>
              </a:solidFill>
              <a:latin typeface="Bauhaus 93" pitchFamily="82" charset="0"/>
              <a:ea typeface="+mn-ea"/>
              <a:cs typeface="+mn-cs"/>
            </a:endParaRPr>
          </a:p>
        </p:txBody>
      </p:sp>
      <p:graphicFrame>
        <p:nvGraphicFramePr>
          <p:cNvPr id="2" name="Tabla 1">
            <a:extLst>
              <a:ext uri="{FF2B5EF4-FFF2-40B4-BE49-F238E27FC236}">
                <a16:creationId xmlns:a16="http://schemas.microsoft.com/office/drawing/2014/main" id="{95D44F6B-975C-4324-B970-1E340FFE5EE8}"/>
              </a:ext>
            </a:extLst>
          </p:cNvPr>
          <p:cNvGraphicFramePr>
            <a:graphicFrameLocks noGrp="1"/>
          </p:cNvGraphicFramePr>
          <p:nvPr>
            <p:extLst>
              <p:ext uri="{D42A27DB-BD31-4B8C-83A1-F6EECF244321}">
                <p14:modId xmlns:p14="http://schemas.microsoft.com/office/powerpoint/2010/main" val="1135914778"/>
              </p:ext>
            </p:extLst>
          </p:nvPr>
        </p:nvGraphicFramePr>
        <p:xfrm>
          <a:off x="7040593" y="1946405"/>
          <a:ext cx="2112235" cy="1637035"/>
        </p:xfrm>
        <a:graphic>
          <a:graphicData uri="http://schemas.openxmlformats.org/drawingml/2006/table">
            <a:tbl>
              <a:tblPr>
                <a:tableStyleId>{5C22544A-7EE6-4342-B048-85BDC9FD1C3A}</a:tableStyleId>
              </a:tblPr>
              <a:tblGrid>
                <a:gridCol w="422447">
                  <a:extLst>
                    <a:ext uri="{9D8B030D-6E8A-4147-A177-3AD203B41FA5}">
                      <a16:colId xmlns:a16="http://schemas.microsoft.com/office/drawing/2014/main" val="1871252103"/>
                    </a:ext>
                  </a:extLst>
                </a:gridCol>
                <a:gridCol w="422447">
                  <a:extLst>
                    <a:ext uri="{9D8B030D-6E8A-4147-A177-3AD203B41FA5}">
                      <a16:colId xmlns:a16="http://schemas.microsoft.com/office/drawing/2014/main" val="374887817"/>
                    </a:ext>
                  </a:extLst>
                </a:gridCol>
                <a:gridCol w="422447">
                  <a:extLst>
                    <a:ext uri="{9D8B030D-6E8A-4147-A177-3AD203B41FA5}">
                      <a16:colId xmlns:a16="http://schemas.microsoft.com/office/drawing/2014/main" val="795786295"/>
                    </a:ext>
                  </a:extLst>
                </a:gridCol>
                <a:gridCol w="422447">
                  <a:extLst>
                    <a:ext uri="{9D8B030D-6E8A-4147-A177-3AD203B41FA5}">
                      <a16:colId xmlns:a16="http://schemas.microsoft.com/office/drawing/2014/main" val="1529887532"/>
                    </a:ext>
                  </a:extLst>
                </a:gridCol>
                <a:gridCol w="422447">
                  <a:extLst>
                    <a:ext uri="{9D8B030D-6E8A-4147-A177-3AD203B41FA5}">
                      <a16:colId xmlns:a16="http://schemas.microsoft.com/office/drawing/2014/main" val="1156828269"/>
                    </a:ext>
                  </a:extLst>
                </a:gridCol>
              </a:tblGrid>
              <a:tr h="327407">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3</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1165768071"/>
                  </a:ext>
                </a:extLst>
              </a:tr>
              <a:tr h="327407">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a:effectLst/>
                        </a:rPr>
                        <a:t>1</a:t>
                      </a:r>
                      <a:endParaRPr lang="es-PE" sz="2000" b="0"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2575931621"/>
                  </a:ext>
                </a:extLst>
              </a:tr>
              <a:tr h="327407">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FF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527730217"/>
                  </a:ext>
                </a:extLst>
              </a:tr>
              <a:tr h="327407">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850945098"/>
                  </a:ext>
                </a:extLst>
              </a:tr>
              <a:tr h="327407">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2</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1</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u="none" strike="noStrike" dirty="0">
                          <a:effectLst/>
                        </a:rPr>
                        <a:t>0</a:t>
                      </a:r>
                      <a:endParaRPr lang="es-PE" sz="2000" b="0" i="0" u="none" strike="noStrike" dirty="0">
                        <a:solidFill>
                          <a:srgbClr val="000000"/>
                        </a:solidFill>
                        <a:effectLst/>
                        <a:latin typeface="Calibri" panose="020F0502020204030204" pitchFamily="34" charset="0"/>
                      </a:endParaRPr>
                    </a:p>
                  </a:txBody>
                  <a:tcPr marL="9525" marR="9525" marT="9525" marB="0" anchor="b">
                    <a:solidFill>
                      <a:srgbClr val="FFFF00"/>
                    </a:solidFill>
                  </a:tcPr>
                </a:tc>
                <a:extLst>
                  <a:ext uri="{0D108BD9-81ED-4DB2-BD59-A6C34878D82A}">
                    <a16:rowId xmlns:a16="http://schemas.microsoft.com/office/drawing/2014/main" val="3594091016"/>
                  </a:ext>
                </a:extLst>
              </a:tr>
            </a:tbl>
          </a:graphicData>
        </a:graphic>
      </p:graphicFrame>
      <p:sp>
        <p:nvSpPr>
          <p:cNvPr id="3" name="Elipse 2">
            <a:extLst>
              <a:ext uri="{FF2B5EF4-FFF2-40B4-BE49-F238E27FC236}">
                <a16:creationId xmlns:a16="http://schemas.microsoft.com/office/drawing/2014/main" id="{CBFEFEBD-2D96-47EE-BDB6-C014EE52F655}"/>
              </a:ext>
            </a:extLst>
          </p:cNvPr>
          <p:cNvSpPr/>
          <p:nvPr/>
        </p:nvSpPr>
        <p:spPr>
          <a:xfrm>
            <a:off x="9897779" y="2317623"/>
            <a:ext cx="310551" cy="267418"/>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Elipse 6">
            <a:extLst>
              <a:ext uri="{FF2B5EF4-FFF2-40B4-BE49-F238E27FC236}">
                <a16:creationId xmlns:a16="http://schemas.microsoft.com/office/drawing/2014/main" id="{22236E1B-D2F7-D9C7-9A31-2B69F30F1C85}"/>
              </a:ext>
            </a:extLst>
          </p:cNvPr>
          <p:cNvSpPr/>
          <p:nvPr/>
        </p:nvSpPr>
        <p:spPr>
          <a:xfrm>
            <a:off x="9897778" y="1766002"/>
            <a:ext cx="310551" cy="267418"/>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Elipse 7">
            <a:extLst>
              <a:ext uri="{FF2B5EF4-FFF2-40B4-BE49-F238E27FC236}">
                <a16:creationId xmlns:a16="http://schemas.microsoft.com/office/drawing/2014/main" id="{EE571F9E-643D-4441-0E5A-4DE4F9AB6572}"/>
              </a:ext>
            </a:extLst>
          </p:cNvPr>
          <p:cNvSpPr/>
          <p:nvPr/>
        </p:nvSpPr>
        <p:spPr>
          <a:xfrm>
            <a:off x="9897780" y="3004849"/>
            <a:ext cx="310551" cy="267418"/>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53230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49856D21-B2CE-4E95-8EB4-72C3C16278FC}"/>
              </a:ext>
            </a:extLst>
          </p:cNvPr>
          <p:cNvSpPr/>
          <p:nvPr/>
        </p:nvSpPr>
        <p:spPr>
          <a:xfrm>
            <a:off x="270294" y="1285667"/>
            <a:ext cx="9158378" cy="707886"/>
          </a:xfrm>
          <a:prstGeom prst="rect">
            <a:avLst/>
          </a:prstGeom>
        </p:spPr>
        <p:txBody>
          <a:bodyPr wrap="square">
            <a:spAutoFit/>
          </a:bodyPr>
          <a:lstStyle/>
          <a:p>
            <a:r>
              <a:rPr lang="es-PE" sz="2000" b="1" dirty="0"/>
              <a:t>PROBLEMA: Asignar las 4 tareas(columnas) a los 5 trabajadores (filas) según los costos</a:t>
            </a:r>
          </a:p>
        </p:txBody>
      </p:sp>
      <p:graphicFrame>
        <p:nvGraphicFramePr>
          <p:cNvPr id="6" name="Tabla 5">
            <a:extLst>
              <a:ext uri="{FF2B5EF4-FFF2-40B4-BE49-F238E27FC236}">
                <a16:creationId xmlns:a16="http://schemas.microsoft.com/office/drawing/2014/main" id="{3D710975-ABBB-464A-9EB0-B5C31B061190}"/>
              </a:ext>
            </a:extLst>
          </p:cNvPr>
          <p:cNvGraphicFramePr>
            <a:graphicFrameLocks noGrp="1"/>
          </p:cNvGraphicFramePr>
          <p:nvPr>
            <p:extLst>
              <p:ext uri="{D42A27DB-BD31-4B8C-83A1-F6EECF244321}">
                <p14:modId xmlns:p14="http://schemas.microsoft.com/office/powerpoint/2010/main" val="4002233089"/>
              </p:ext>
            </p:extLst>
          </p:nvPr>
        </p:nvGraphicFramePr>
        <p:xfrm>
          <a:off x="327804" y="1613137"/>
          <a:ext cx="11524887" cy="2284715"/>
        </p:xfrm>
        <a:graphic>
          <a:graphicData uri="http://schemas.openxmlformats.org/drawingml/2006/table">
            <a:tbl>
              <a:tblPr>
                <a:tableStyleId>{5C22544A-7EE6-4342-B048-85BDC9FD1C3A}</a:tableStyleId>
              </a:tblPr>
              <a:tblGrid>
                <a:gridCol w="1346552">
                  <a:extLst>
                    <a:ext uri="{9D8B030D-6E8A-4147-A177-3AD203B41FA5}">
                      <a16:colId xmlns:a16="http://schemas.microsoft.com/office/drawing/2014/main" val="2404967853"/>
                    </a:ext>
                  </a:extLst>
                </a:gridCol>
                <a:gridCol w="422447">
                  <a:extLst>
                    <a:ext uri="{9D8B030D-6E8A-4147-A177-3AD203B41FA5}">
                      <a16:colId xmlns:a16="http://schemas.microsoft.com/office/drawing/2014/main" val="3099366177"/>
                    </a:ext>
                  </a:extLst>
                </a:gridCol>
                <a:gridCol w="422447">
                  <a:extLst>
                    <a:ext uri="{9D8B030D-6E8A-4147-A177-3AD203B41FA5}">
                      <a16:colId xmlns:a16="http://schemas.microsoft.com/office/drawing/2014/main" val="3098022493"/>
                    </a:ext>
                  </a:extLst>
                </a:gridCol>
                <a:gridCol w="422447">
                  <a:extLst>
                    <a:ext uri="{9D8B030D-6E8A-4147-A177-3AD203B41FA5}">
                      <a16:colId xmlns:a16="http://schemas.microsoft.com/office/drawing/2014/main" val="3457206701"/>
                    </a:ext>
                  </a:extLst>
                </a:gridCol>
                <a:gridCol w="422447">
                  <a:extLst>
                    <a:ext uri="{9D8B030D-6E8A-4147-A177-3AD203B41FA5}">
                      <a16:colId xmlns:a16="http://schemas.microsoft.com/office/drawing/2014/main" val="4209393905"/>
                    </a:ext>
                  </a:extLst>
                </a:gridCol>
                <a:gridCol w="422447">
                  <a:extLst>
                    <a:ext uri="{9D8B030D-6E8A-4147-A177-3AD203B41FA5}">
                      <a16:colId xmlns:a16="http://schemas.microsoft.com/office/drawing/2014/main" val="1712712120"/>
                    </a:ext>
                  </a:extLst>
                </a:gridCol>
                <a:gridCol w="422447">
                  <a:extLst>
                    <a:ext uri="{9D8B030D-6E8A-4147-A177-3AD203B41FA5}">
                      <a16:colId xmlns:a16="http://schemas.microsoft.com/office/drawing/2014/main" val="3995000172"/>
                    </a:ext>
                  </a:extLst>
                </a:gridCol>
                <a:gridCol w="376243">
                  <a:extLst>
                    <a:ext uri="{9D8B030D-6E8A-4147-A177-3AD203B41FA5}">
                      <a16:colId xmlns:a16="http://schemas.microsoft.com/office/drawing/2014/main" val="1031007861"/>
                    </a:ext>
                  </a:extLst>
                </a:gridCol>
                <a:gridCol w="422447">
                  <a:extLst>
                    <a:ext uri="{9D8B030D-6E8A-4147-A177-3AD203B41FA5}">
                      <a16:colId xmlns:a16="http://schemas.microsoft.com/office/drawing/2014/main" val="1356185458"/>
                    </a:ext>
                  </a:extLst>
                </a:gridCol>
                <a:gridCol w="422447">
                  <a:extLst>
                    <a:ext uri="{9D8B030D-6E8A-4147-A177-3AD203B41FA5}">
                      <a16:colId xmlns:a16="http://schemas.microsoft.com/office/drawing/2014/main" val="767057827"/>
                    </a:ext>
                  </a:extLst>
                </a:gridCol>
                <a:gridCol w="422447">
                  <a:extLst>
                    <a:ext uri="{9D8B030D-6E8A-4147-A177-3AD203B41FA5}">
                      <a16:colId xmlns:a16="http://schemas.microsoft.com/office/drawing/2014/main" val="1030404601"/>
                    </a:ext>
                  </a:extLst>
                </a:gridCol>
                <a:gridCol w="422447">
                  <a:extLst>
                    <a:ext uri="{9D8B030D-6E8A-4147-A177-3AD203B41FA5}">
                      <a16:colId xmlns:a16="http://schemas.microsoft.com/office/drawing/2014/main" val="1229217703"/>
                    </a:ext>
                  </a:extLst>
                </a:gridCol>
                <a:gridCol w="422447">
                  <a:extLst>
                    <a:ext uri="{9D8B030D-6E8A-4147-A177-3AD203B41FA5}">
                      <a16:colId xmlns:a16="http://schemas.microsoft.com/office/drawing/2014/main" val="54461884"/>
                    </a:ext>
                  </a:extLst>
                </a:gridCol>
                <a:gridCol w="290433">
                  <a:extLst>
                    <a:ext uri="{9D8B030D-6E8A-4147-A177-3AD203B41FA5}">
                      <a16:colId xmlns:a16="http://schemas.microsoft.com/office/drawing/2014/main" val="1341777944"/>
                    </a:ext>
                  </a:extLst>
                </a:gridCol>
                <a:gridCol w="422447">
                  <a:extLst>
                    <a:ext uri="{9D8B030D-6E8A-4147-A177-3AD203B41FA5}">
                      <a16:colId xmlns:a16="http://schemas.microsoft.com/office/drawing/2014/main" val="1256618568"/>
                    </a:ext>
                  </a:extLst>
                </a:gridCol>
                <a:gridCol w="422447">
                  <a:extLst>
                    <a:ext uri="{9D8B030D-6E8A-4147-A177-3AD203B41FA5}">
                      <a16:colId xmlns:a16="http://schemas.microsoft.com/office/drawing/2014/main" val="3426148121"/>
                    </a:ext>
                  </a:extLst>
                </a:gridCol>
                <a:gridCol w="422447">
                  <a:extLst>
                    <a:ext uri="{9D8B030D-6E8A-4147-A177-3AD203B41FA5}">
                      <a16:colId xmlns:a16="http://schemas.microsoft.com/office/drawing/2014/main" val="1088009221"/>
                    </a:ext>
                  </a:extLst>
                </a:gridCol>
                <a:gridCol w="422447">
                  <a:extLst>
                    <a:ext uri="{9D8B030D-6E8A-4147-A177-3AD203B41FA5}">
                      <a16:colId xmlns:a16="http://schemas.microsoft.com/office/drawing/2014/main" val="2561188905"/>
                    </a:ext>
                  </a:extLst>
                </a:gridCol>
                <a:gridCol w="422447">
                  <a:extLst>
                    <a:ext uri="{9D8B030D-6E8A-4147-A177-3AD203B41FA5}">
                      <a16:colId xmlns:a16="http://schemas.microsoft.com/office/drawing/2014/main" val="498149379"/>
                    </a:ext>
                  </a:extLst>
                </a:gridCol>
                <a:gridCol w="217825">
                  <a:extLst>
                    <a:ext uri="{9D8B030D-6E8A-4147-A177-3AD203B41FA5}">
                      <a16:colId xmlns:a16="http://schemas.microsoft.com/office/drawing/2014/main" val="2918343680"/>
                    </a:ext>
                  </a:extLst>
                </a:gridCol>
                <a:gridCol w="422447">
                  <a:extLst>
                    <a:ext uri="{9D8B030D-6E8A-4147-A177-3AD203B41FA5}">
                      <a16:colId xmlns:a16="http://schemas.microsoft.com/office/drawing/2014/main" val="2347732463"/>
                    </a:ext>
                  </a:extLst>
                </a:gridCol>
                <a:gridCol w="422447">
                  <a:extLst>
                    <a:ext uri="{9D8B030D-6E8A-4147-A177-3AD203B41FA5}">
                      <a16:colId xmlns:a16="http://schemas.microsoft.com/office/drawing/2014/main" val="1631987516"/>
                    </a:ext>
                  </a:extLst>
                </a:gridCol>
                <a:gridCol w="422447">
                  <a:extLst>
                    <a:ext uri="{9D8B030D-6E8A-4147-A177-3AD203B41FA5}">
                      <a16:colId xmlns:a16="http://schemas.microsoft.com/office/drawing/2014/main" val="1024138361"/>
                    </a:ext>
                  </a:extLst>
                </a:gridCol>
                <a:gridCol w="422447">
                  <a:extLst>
                    <a:ext uri="{9D8B030D-6E8A-4147-A177-3AD203B41FA5}">
                      <a16:colId xmlns:a16="http://schemas.microsoft.com/office/drawing/2014/main" val="1340093944"/>
                    </a:ext>
                  </a:extLst>
                </a:gridCol>
                <a:gridCol w="422447">
                  <a:extLst>
                    <a:ext uri="{9D8B030D-6E8A-4147-A177-3AD203B41FA5}">
                      <a16:colId xmlns:a16="http://schemas.microsoft.com/office/drawing/2014/main" val="3223557162"/>
                    </a:ext>
                  </a:extLst>
                </a:gridCol>
                <a:gridCol w="422447">
                  <a:extLst>
                    <a:ext uri="{9D8B030D-6E8A-4147-A177-3AD203B41FA5}">
                      <a16:colId xmlns:a16="http://schemas.microsoft.com/office/drawing/2014/main" val="3789100810"/>
                    </a:ext>
                  </a:extLst>
                </a:gridCol>
              </a:tblGrid>
              <a:tr h="327407">
                <a:tc>
                  <a:txBody>
                    <a:bodyPr/>
                    <a:lstStyle/>
                    <a:p>
                      <a:pPr algn="l" fontAlgn="b"/>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PE" sz="2000" b="1" u="none" strike="noStrike">
                          <a:effectLst/>
                        </a:rPr>
                        <a:t>T1</a:t>
                      </a:r>
                      <a:endParaRPr lang="es-PE" sz="2000" b="1" i="0" u="none" strike="noStrike">
                        <a:solidFill>
                          <a:srgbClr val="FF0000"/>
                        </a:solidFill>
                        <a:effectLst/>
                        <a:latin typeface="Calibri" panose="020F0502020204030204" pitchFamily="34" charset="0"/>
                      </a:endParaRPr>
                    </a:p>
                  </a:txBody>
                  <a:tcPr marL="9525" marR="9525" marT="9525" marB="0" anchor="b"/>
                </a:tc>
                <a:tc>
                  <a:txBody>
                    <a:bodyPr/>
                    <a:lstStyle/>
                    <a:p>
                      <a:pPr algn="l" fontAlgn="b"/>
                      <a:r>
                        <a:rPr lang="es-PE" sz="2000" b="1" u="none" strike="noStrike">
                          <a:effectLst/>
                        </a:rPr>
                        <a:t>T2</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PE" sz="2000" b="1" u="none" strike="noStrike">
                          <a:effectLst/>
                        </a:rPr>
                        <a:t>T3</a:t>
                      </a:r>
                      <a:endParaRPr lang="es-PE" sz="2000" b="1" i="0" u="none" strike="noStrike">
                        <a:solidFill>
                          <a:srgbClr val="FF0000"/>
                        </a:solidFill>
                        <a:effectLst/>
                        <a:latin typeface="Calibri" panose="020F0502020204030204" pitchFamily="34" charset="0"/>
                      </a:endParaRPr>
                    </a:p>
                  </a:txBody>
                  <a:tcPr marL="9525" marR="9525" marT="9525" marB="0" anchor="b"/>
                </a:tc>
                <a:tc>
                  <a:txBody>
                    <a:bodyPr/>
                    <a:lstStyle/>
                    <a:p>
                      <a:pPr algn="l" fontAlgn="b"/>
                      <a:r>
                        <a:rPr lang="es-PE" sz="2000" b="1" u="none" strike="noStrike">
                          <a:effectLst/>
                        </a:rPr>
                        <a:t>T4</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PE" sz="2000" b="1" u="none" strike="noStrike" dirty="0" err="1">
                          <a:solidFill>
                            <a:srgbClr val="FF0000"/>
                          </a:solidFill>
                          <a:effectLst/>
                        </a:rPr>
                        <a:t>T5</a:t>
                      </a:r>
                      <a:endParaRPr lang="es-PE" sz="2000" b="1" i="0" u="none" strike="noStrike" dirty="0">
                        <a:solidFill>
                          <a:srgbClr val="FF0000"/>
                        </a:solidFill>
                        <a:effectLst/>
                        <a:latin typeface="Calibri" panose="020F0502020204030204" pitchFamily="34" charset="0"/>
                      </a:endParaRPr>
                    </a:p>
                  </a:txBody>
                  <a:tcPr marL="9525" marR="9525" marT="9525" marB="0" anchor="b"/>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4252835609"/>
                  </a:ext>
                </a:extLst>
              </a:tr>
              <a:tr h="327407">
                <a:tc>
                  <a:txBody>
                    <a:bodyPr/>
                    <a:lstStyle/>
                    <a:p>
                      <a:pPr algn="l" fontAlgn="b"/>
                      <a:r>
                        <a:rPr lang="es-PE" sz="2000" b="1" u="none" strike="noStrike">
                          <a:effectLst/>
                        </a:rPr>
                        <a:t>Trabador1</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6</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5</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7</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12</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solidFill>
                            <a:srgbClr val="FF0000"/>
                          </a:solidFill>
                          <a:effectLst/>
                        </a:rPr>
                        <a:t>0</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3</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a:effectLst/>
                        </a:rPr>
                        <a:t>3</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4210080308"/>
                  </a:ext>
                </a:extLst>
              </a:tr>
              <a:tr h="327407">
                <a:tc>
                  <a:txBody>
                    <a:bodyPr/>
                    <a:lstStyle/>
                    <a:p>
                      <a:pPr algn="l" fontAlgn="b"/>
                      <a:r>
                        <a:rPr lang="es-PE" sz="2000" b="1" u="none" strike="noStrike">
                          <a:effectLst/>
                        </a:rPr>
                        <a:t>Trabador2</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7</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7</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9</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11</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solidFill>
                            <a:srgbClr val="FF0000"/>
                          </a:solidFill>
                          <a:effectLst/>
                        </a:rPr>
                        <a:t>0</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a:effectLst/>
                        </a:rPr>
                        <a:t>3</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524403956"/>
                  </a:ext>
                </a:extLst>
              </a:tr>
              <a:tr h="327407">
                <a:tc>
                  <a:txBody>
                    <a:bodyPr/>
                    <a:lstStyle/>
                    <a:p>
                      <a:pPr algn="l" fontAlgn="b"/>
                      <a:r>
                        <a:rPr lang="es-PE" sz="2000" b="1" u="none" strike="noStrike">
                          <a:effectLst/>
                        </a:rPr>
                        <a:t>Trabador3</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6</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7</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10</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solidFill>
                            <a:srgbClr val="FF0000"/>
                          </a:solidFill>
                          <a:effectLst/>
                        </a:rPr>
                        <a:t>0</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1</a:t>
                      </a:r>
                      <a:endParaRPr lang="es-PE" sz="2000" b="1" i="0" u="none" strike="noStrike" dirty="0">
                        <a:solidFill>
                          <a:srgbClr val="FF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2582723039"/>
                  </a:ext>
                </a:extLst>
              </a:tr>
              <a:tr h="327407">
                <a:tc>
                  <a:txBody>
                    <a:bodyPr/>
                    <a:lstStyle/>
                    <a:p>
                      <a:pPr algn="l" fontAlgn="b"/>
                      <a:r>
                        <a:rPr lang="es-PE" sz="2000" b="1" u="none" strike="noStrike">
                          <a:effectLst/>
                        </a:rPr>
                        <a:t>Trabador4</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4</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8</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9</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solidFill>
                            <a:srgbClr val="FF0000"/>
                          </a:solidFill>
                          <a:effectLst/>
                        </a:rPr>
                        <a:t>0</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915508588"/>
                  </a:ext>
                </a:extLst>
              </a:tr>
              <a:tr h="327407">
                <a:tc>
                  <a:txBody>
                    <a:bodyPr/>
                    <a:lstStyle/>
                    <a:p>
                      <a:pPr algn="l" fontAlgn="b"/>
                      <a:r>
                        <a:rPr lang="es-PE" sz="2000" b="1" u="none" strike="noStrike">
                          <a:effectLst/>
                        </a:rPr>
                        <a:t>Trabador5</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10</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11</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solidFill>
                            <a:srgbClr val="FF0000"/>
                          </a:solidFill>
                          <a:effectLst/>
                        </a:rPr>
                        <a:t>0</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1</a:t>
                      </a:r>
                      <a:endParaRPr lang="es-PE" sz="2000" b="1" i="0" u="none" strike="noStrike">
                        <a:solidFill>
                          <a:srgbClr val="FF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3</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accent6">
                        <a:lumMod val="75000"/>
                      </a:schemeClr>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9525" marR="9525" marT="9525" marB="0" anchor="b">
                    <a:solidFill>
                      <a:srgbClr val="FFFF00"/>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736092011"/>
                  </a:ext>
                </a:extLst>
              </a:tr>
              <a:tr h="320273">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solidFill>
                            <a:srgbClr val="FF0000"/>
                          </a:solidFill>
                          <a:effectLst/>
                        </a:rPr>
                        <a:t>4</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solidFill>
                            <a:srgbClr val="FF0000"/>
                          </a:solidFill>
                          <a:effectLst/>
                        </a:rPr>
                        <a:t>5</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solidFill>
                            <a:srgbClr val="FF0000"/>
                          </a:solidFill>
                          <a:effectLst/>
                        </a:rPr>
                        <a:t>7</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solidFill>
                            <a:srgbClr val="FF0000"/>
                          </a:solidFill>
                          <a:effectLst/>
                        </a:rPr>
                        <a:t>9</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r>
                        <a:rPr lang="es-PE" sz="2000" b="1" u="none" strike="noStrike" dirty="0">
                          <a:solidFill>
                            <a:srgbClr val="FF0000"/>
                          </a:solidFill>
                          <a:effectLst/>
                        </a:rPr>
                        <a:t>0</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gridSpan="5">
                  <a:txBody>
                    <a:bodyPr/>
                    <a:lstStyle/>
                    <a:p>
                      <a:pPr algn="ctr" fontAlgn="b"/>
                      <a:r>
                        <a:rPr lang="es-PE" sz="2000" b="1" u="none" strike="noStrike" dirty="0">
                          <a:effectLst/>
                        </a:rPr>
                        <a:t>Paso </a:t>
                      </a:r>
                      <a:r>
                        <a:rPr lang="es-PE" sz="2000" b="1" u="none" strike="noStrike" dirty="0" err="1">
                          <a:effectLst/>
                        </a:rPr>
                        <a:t>2a</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gridSpan="5">
                  <a:txBody>
                    <a:bodyPr/>
                    <a:lstStyle/>
                    <a:p>
                      <a:pPr algn="ctr" fontAlgn="b"/>
                      <a:r>
                        <a:rPr lang="es-PE" sz="2000" b="1" u="none" strike="noStrike" dirty="0">
                          <a:effectLst/>
                        </a:rPr>
                        <a:t>Paso </a:t>
                      </a:r>
                      <a:r>
                        <a:rPr lang="es-PE" sz="2000" b="1" u="none" strike="noStrike" dirty="0" err="1">
                          <a:effectLst/>
                        </a:rPr>
                        <a:t>2a</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gridSpan="5">
                  <a:txBody>
                    <a:bodyPr/>
                    <a:lstStyle/>
                    <a:p>
                      <a:pPr algn="ctr" fontAlgn="b"/>
                      <a:r>
                        <a:rPr lang="es-PE" sz="2000" b="1" u="none" strike="noStrike" dirty="0">
                          <a:effectLst/>
                        </a:rPr>
                        <a:t>Paso 3</a:t>
                      </a:r>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4122384364"/>
                  </a:ext>
                </a:extLst>
              </a:tr>
            </a:tbl>
          </a:graphicData>
        </a:graphic>
      </p:graphicFrame>
      <p:sp>
        <p:nvSpPr>
          <p:cNvPr id="5" name="1 Título">
            <a:extLst>
              <a:ext uri="{FF2B5EF4-FFF2-40B4-BE49-F238E27FC236}">
                <a16:creationId xmlns:a16="http://schemas.microsoft.com/office/drawing/2014/main" id="{1582260C-75D4-4903-8CA3-85D6BDC92636}"/>
              </a:ext>
            </a:extLst>
          </p:cNvPr>
          <p:cNvSpPr txBox="1">
            <a:spLocks/>
          </p:cNvSpPr>
          <p:nvPr/>
        </p:nvSpPr>
        <p:spPr>
          <a:xfrm>
            <a:off x="6096000" y="304507"/>
            <a:ext cx="6096000" cy="490066"/>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Problema 6</a:t>
            </a:r>
            <a:endParaRPr lang="es-PE" sz="3200" dirty="0">
              <a:solidFill>
                <a:schemeClr val="bg1"/>
              </a:solidFill>
              <a:latin typeface="Bauhaus 93" pitchFamily="82" charset="0"/>
              <a:ea typeface="+mn-ea"/>
              <a:cs typeface="+mn-cs"/>
            </a:endParaRPr>
          </a:p>
        </p:txBody>
      </p:sp>
      <p:sp>
        <p:nvSpPr>
          <p:cNvPr id="7" name="Oval 6">
            <a:extLst>
              <a:ext uri="{FF2B5EF4-FFF2-40B4-BE49-F238E27FC236}">
                <a16:creationId xmlns:a16="http://schemas.microsoft.com/office/drawing/2014/main" id="{5346167A-3D81-49CD-AA79-9BFA900C115E}"/>
              </a:ext>
            </a:extLst>
          </p:cNvPr>
          <p:cNvSpPr>
            <a:spLocks noChangeArrowheads="1"/>
          </p:cNvSpPr>
          <p:nvPr/>
        </p:nvSpPr>
        <p:spPr bwMode="auto">
          <a:xfrm>
            <a:off x="9772663" y="1948813"/>
            <a:ext cx="344309" cy="330580"/>
          </a:xfrm>
          <a:prstGeom prst="ellipse">
            <a:avLst/>
          </a:prstGeom>
          <a:noFill/>
          <a:ln w="12700">
            <a:solidFill>
              <a:schemeClr val="tx1"/>
            </a:solidFill>
            <a:round/>
            <a:headEnd type="none" w="sm" len="sm"/>
            <a:tailEnd type="none" w="sm" len="sm"/>
          </a:ln>
        </p:spPr>
        <p:txBody>
          <a:bodyPr wrap="none" anchor="ctr"/>
          <a:lstStyle/>
          <a:p>
            <a:endParaRPr lang="es-PE" sz="2000" b="1" dirty="0"/>
          </a:p>
        </p:txBody>
      </p:sp>
      <p:sp>
        <p:nvSpPr>
          <p:cNvPr id="8" name="Oval 6">
            <a:extLst>
              <a:ext uri="{FF2B5EF4-FFF2-40B4-BE49-F238E27FC236}">
                <a16:creationId xmlns:a16="http://schemas.microsoft.com/office/drawing/2014/main" id="{D2C0059E-D05B-4A95-8800-AD1466A526F5}"/>
              </a:ext>
            </a:extLst>
          </p:cNvPr>
          <p:cNvSpPr>
            <a:spLocks noChangeArrowheads="1"/>
          </p:cNvSpPr>
          <p:nvPr/>
        </p:nvSpPr>
        <p:spPr bwMode="auto">
          <a:xfrm>
            <a:off x="10208108" y="2591094"/>
            <a:ext cx="344309" cy="330580"/>
          </a:xfrm>
          <a:prstGeom prst="ellipse">
            <a:avLst/>
          </a:prstGeom>
          <a:noFill/>
          <a:ln w="12700">
            <a:solidFill>
              <a:schemeClr val="tx1"/>
            </a:solidFill>
            <a:round/>
            <a:headEnd type="none" w="sm" len="sm"/>
            <a:tailEnd type="none" w="sm" len="sm"/>
          </a:ln>
        </p:spPr>
        <p:txBody>
          <a:bodyPr wrap="none" anchor="ctr"/>
          <a:lstStyle/>
          <a:p>
            <a:endParaRPr lang="es-PE" sz="2000" b="1" dirty="0"/>
          </a:p>
        </p:txBody>
      </p:sp>
      <p:sp>
        <p:nvSpPr>
          <p:cNvPr id="9" name="Oval 6">
            <a:extLst>
              <a:ext uri="{FF2B5EF4-FFF2-40B4-BE49-F238E27FC236}">
                <a16:creationId xmlns:a16="http://schemas.microsoft.com/office/drawing/2014/main" id="{56C1D503-1D6A-4A05-8081-C43BD5546A81}"/>
              </a:ext>
            </a:extLst>
          </p:cNvPr>
          <p:cNvSpPr>
            <a:spLocks noChangeArrowheads="1"/>
          </p:cNvSpPr>
          <p:nvPr/>
        </p:nvSpPr>
        <p:spPr bwMode="auto">
          <a:xfrm>
            <a:off x="10634444" y="2279393"/>
            <a:ext cx="344309" cy="330580"/>
          </a:xfrm>
          <a:prstGeom prst="ellipse">
            <a:avLst/>
          </a:prstGeom>
          <a:noFill/>
          <a:ln w="12700">
            <a:solidFill>
              <a:schemeClr val="tx1"/>
            </a:solidFill>
            <a:round/>
            <a:headEnd type="none" w="sm" len="sm"/>
            <a:tailEnd type="none" w="sm" len="sm"/>
          </a:ln>
        </p:spPr>
        <p:txBody>
          <a:bodyPr wrap="none" anchor="ctr"/>
          <a:lstStyle/>
          <a:p>
            <a:endParaRPr lang="es-PE" sz="2000" b="1" dirty="0"/>
          </a:p>
        </p:txBody>
      </p:sp>
      <p:sp>
        <p:nvSpPr>
          <p:cNvPr id="10" name="Oval 6">
            <a:extLst>
              <a:ext uri="{FF2B5EF4-FFF2-40B4-BE49-F238E27FC236}">
                <a16:creationId xmlns:a16="http://schemas.microsoft.com/office/drawing/2014/main" id="{08422643-745B-48C8-8610-0FB3B50EBBD9}"/>
              </a:ext>
            </a:extLst>
          </p:cNvPr>
          <p:cNvSpPr>
            <a:spLocks noChangeArrowheads="1"/>
          </p:cNvSpPr>
          <p:nvPr/>
        </p:nvSpPr>
        <p:spPr bwMode="auto">
          <a:xfrm>
            <a:off x="11052155" y="3263710"/>
            <a:ext cx="344309" cy="330580"/>
          </a:xfrm>
          <a:prstGeom prst="ellipse">
            <a:avLst/>
          </a:prstGeom>
          <a:noFill/>
          <a:ln w="12700">
            <a:solidFill>
              <a:schemeClr val="tx1"/>
            </a:solidFill>
            <a:round/>
            <a:headEnd type="none" w="sm" len="sm"/>
            <a:tailEnd type="none" w="sm" len="sm"/>
          </a:ln>
        </p:spPr>
        <p:txBody>
          <a:bodyPr wrap="none" anchor="ctr"/>
          <a:lstStyle/>
          <a:p>
            <a:endParaRPr lang="es-PE" sz="2000" b="1" dirty="0"/>
          </a:p>
        </p:txBody>
      </p:sp>
      <p:sp>
        <p:nvSpPr>
          <p:cNvPr id="11" name="Oval 6">
            <a:extLst>
              <a:ext uri="{FF2B5EF4-FFF2-40B4-BE49-F238E27FC236}">
                <a16:creationId xmlns:a16="http://schemas.microsoft.com/office/drawing/2014/main" id="{019FAC1B-65FB-44CF-BC23-99725E66F219}"/>
              </a:ext>
            </a:extLst>
          </p:cNvPr>
          <p:cNvSpPr>
            <a:spLocks noChangeArrowheads="1"/>
          </p:cNvSpPr>
          <p:nvPr/>
        </p:nvSpPr>
        <p:spPr bwMode="auto">
          <a:xfrm>
            <a:off x="9380536" y="2944532"/>
            <a:ext cx="344309" cy="330580"/>
          </a:xfrm>
          <a:prstGeom prst="ellipse">
            <a:avLst/>
          </a:prstGeom>
          <a:noFill/>
          <a:ln w="12700">
            <a:solidFill>
              <a:schemeClr val="tx1"/>
            </a:solidFill>
            <a:round/>
            <a:headEnd type="none" w="sm" len="sm"/>
            <a:tailEnd type="none" w="sm" len="sm"/>
          </a:ln>
        </p:spPr>
        <p:txBody>
          <a:bodyPr wrap="none" anchor="ctr"/>
          <a:lstStyle/>
          <a:p>
            <a:endParaRPr lang="es-PE" sz="2000" b="1" dirty="0"/>
          </a:p>
        </p:txBody>
      </p:sp>
      <p:graphicFrame>
        <p:nvGraphicFramePr>
          <p:cNvPr id="2" name="Tabla 1">
            <a:extLst>
              <a:ext uri="{FF2B5EF4-FFF2-40B4-BE49-F238E27FC236}">
                <a16:creationId xmlns:a16="http://schemas.microsoft.com/office/drawing/2014/main" id="{3442BD3C-CF5C-4126-88A1-FBC352EFBA88}"/>
              </a:ext>
            </a:extLst>
          </p:cNvPr>
          <p:cNvGraphicFramePr>
            <a:graphicFrameLocks noGrp="1"/>
          </p:cNvGraphicFramePr>
          <p:nvPr>
            <p:extLst>
              <p:ext uri="{D42A27DB-BD31-4B8C-83A1-F6EECF244321}">
                <p14:modId xmlns:p14="http://schemas.microsoft.com/office/powerpoint/2010/main" val="68056197"/>
              </p:ext>
            </p:extLst>
          </p:nvPr>
        </p:nvGraphicFramePr>
        <p:xfrm>
          <a:off x="3134951" y="4166568"/>
          <a:ext cx="8347659" cy="2336990"/>
        </p:xfrm>
        <a:graphic>
          <a:graphicData uri="http://schemas.openxmlformats.org/drawingml/2006/table">
            <a:tbl>
              <a:tblPr>
                <a:tableStyleId>{5C22544A-7EE6-4342-B048-85BDC9FD1C3A}</a:tableStyleId>
              </a:tblPr>
              <a:tblGrid>
                <a:gridCol w="44450">
                  <a:extLst>
                    <a:ext uri="{9D8B030D-6E8A-4147-A177-3AD203B41FA5}">
                      <a16:colId xmlns:a16="http://schemas.microsoft.com/office/drawing/2014/main" val="3361776364"/>
                    </a:ext>
                  </a:extLst>
                </a:gridCol>
                <a:gridCol w="375817">
                  <a:extLst>
                    <a:ext uri="{9D8B030D-6E8A-4147-A177-3AD203B41FA5}">
                      <a16:colId xmlns:a16="http://schemas.microsoft.com/office/drawing/2014/main" val="145547175"/>
                    </a:ext>
                  </a:extLst>
                </a:gridCol>
                <a:gridCol w="375817">
                  <a:extLst>
                    <a:ext uri="{9D8B030D-6E8A-4147-A177-3AD203B41FA5}">
                      <a16:colId xmlns:a16="http://schemas.microsoft.com/office/drawing/2014/main" val="946860643"/>
                    </a:ext>
                  </a:extLst>
                </a:gridCol>
                <a:gridCol w="375817">
                  <a:extLst>
                    <a:ext uri="{9D8B030D-6E8A-4147-A177-3AD203B41FA5}">
                      <a16:colId xmlns:a16="http://schemas.microsoft.com/office/drawing/2014/main" val="1756967802"/>
                    </a:ext>
                  </a:extLst>
                </a:gridCol>
                <a:gridCol w="375817">
                  <a:extLst>
                    <a:ext uri="{9D8B030D-6E8A-4147-A177-3AD203B41FA5}">
                      <a16:colId xmlns:a16="http://schemas.microsoft.com/office/drawing/2014/main" val="4169494029"/>
                    </a:ext>
                  </a:extLst>
                </a:gridCol>
                <a:gridCol w="375817">
                  <a:extLst>
                    <a:ext uri="{9D8B030D-6E8A-4147-A177-3AD203B41FA5}">
                      <a16:colId xmlns:a16="http://schemas.microsoft.com/office/drawing/2014/main" val="3241007644"/>
                    </a:ext>
                  </a:extLst>
                </a:gridCol>
                <a:gridCol w="334713">
                  <a:extLst>
                    <a:ext uri="{9D8B030D-6E8A-4147-A177-3AD203B41FA5}">
                      <a16:colId xmlns:a16="http://schemas.microsoft.com/office/drawing/2014/main" val="2580416801"/>
                    </a:ext>
                  </a:extLst>
                </a:gridCol>
                <a:gridCol w="375817">
                  <a:extLst>
                    <a:ext uri="{9D8B030D-6E8A-4147-A177-3AD203B41FA5}">
                      <a16:colId xmlns:a16="http://schemas.microsoft.com/office/drawing/2014/main" val="1020254407"/>
                    </a:ext>
                  </a:extLst>
                </a:gridCol>
                <a:gridCol w="375817">
                  <a:extLst>
                    <a:ext uri="{9D8B030D-6E8A-4147-A177-3AD203B41FA5}">
                      <a16:colId xmlns:a16="http://schemas.microsoft.com/office/drawing/2014/main" val="825102916"/>
                    </a:ext>
                  </a:extLst>
                </a:gridCol>
                <a:gridCol w="375817">
                  <a:extLst>
                    <a:ext uri="{9D8B030D-6E8A-4147-A177-3AD203B41FA5}">
                      <a16:colId xmlns:a16="http://schemas.microsoft.com/office/drawing/2014/main" val="1947358489"/>
                    </a:ext>
                  </a:extLst>
                </a:gridCol>
                <a:gridCol w="1294882">
                  <a:extLst>
                    <a:ext uri="{9D8B030D-6E8A-4147-A177-3AD203B41FA5}">
                      <a16:colId xmlns:a16="http://schemas.microsoft.com/office/drawing/2014/main" val="3474606832"/>
                    </a:ext>
                  </a:extLst>
                </a:gridCol>
                <a:gridCol w="586596">
                  <a:extLst>
                    <a:ext uri="{9D8B030D-6E8A-4147-A177-3AD203B41FA5}">
                      <a16:colId xmlns:a16="http://schemas.microsoft.com/office/drawing/2014/main" val="3846659036"/>
                    </a:ext>
                  </a:extLst>
                </a:gridCol>
                <a:gridCol w="1577214">
                  <a:extLst>
                    <a:ext uri="{9D8B030D-6E8A-4147-A177-3AD203B41FA5}">
                      <a16:colId xmlns:a16="http://schemas.microsoft.com/office/drawing/2014/main" val="2853963190"/>
                    </a:ext>
                  </a:extLst>
                </a:gridCol>
                <a:gridCol w="375817">
                  <a:extLst>
                    <a:ext uri="{9D8B030D-6E8A-4147-A177-3AD203B41FA5}">
                      <a16:colId xmlns:a16="http://schemas.microsoft.com/office/drawing/2014/main" val="340296413"/>
                    </a:ext>
                  </a:extLst>
                </a:gridCol>
                <a:gridCol w="375817">
                  <a:extLst>
                    <a:ext uri="{9D8B030D-6E8A-4147-A177-3AD203B41FA5}">
                      <a16:colId xmlns:a16="http://schemas.microsoft.com/office/drawing/2014/main" val="23282027"/>
                    </a:ext>
                  </a:extLst>
                </a:gridCol>
                <a:gridCol w="375817">
                  <a:extLst>
                    <a:ext uri="{9D8B030D-6E8A-4147-A177-3AD203B41FA5}">
                      <a16:colId xmlns:a16="http://schemas.microsoft.com/office/drawing/2014/main" val="813738420"/>
                    </a:ext>
                  </a:extLst>
                </a:gridCol>
                <a:gridCol w="375817">
                  <a:extLst>
                    <a:ext uri="{9D8B030D-6E8A-4147-A177-3AD203B41FA5}">
                      <a16:colId xmlns:a16="http://schemas.microsoft.com/office/drawing/2014/main" val="865113690"/>
                    </a:ext>
                  </a:extLst>
                </a:gridCol>
              </a:tblGrid>
              <a:tr h="404533">
                <a:tc gridSpan="6">
                  <a:txBody>
                    <a:bodyPr/>
                    <a:lstStyle/>
                    <a:p>
                      <a:pPr algn="ctr" fontAlgn="b"/>
                      <a:r>
                        <a:rPr lang="es-PE" sz="2000" b="1" u="none" strike="noStrike" dirty="0">
                          <a:effectLst/>
                        </a:rPr>
                        <a:t>Al Trabajador</a:t>
                      </a:r>
                      <a:endParaRPr lang="es-PE"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tc>
                <a:tc gridSpan="4">
                  <a:txBody>
                    <a:bodyPr/>
                    <a:lstStyle/>
                    <a:p>
                      <a:pPr algn="ctr" fontAlgn="b"/>
                      <a:r>
                        <a:rPr lang="it-IT" sz="2000" b="1" u="none" strike="noStrike">
                          <a:effectLst/>
                        </a:rPr>
                        <a:t>Se le asigna la tarea</a:t>
                      </a:r>
                      <a:endParaRPr lang="it-IT" sz="2000" b="1"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El costo es   5</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 </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5</a:t>
                      </a:r>
                      <a:endParaRPr lang="es-PE"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968082519"/>
                  </a:ext>
                </a:extLst>
              </a:tr>
              <a:tr h="404533">
                <a:tc gridSpan="6">
                  <a:txBody>
                    <a:bodyPr/>
                    <a:lstStyle/>
                    <a:p>
                      <a:pPr algn="ctr" fontAlgn="b"/>
                      <a:r>
                        <a:rPr lang="es-PE" sz="2000" b="1" u="none" strike="noStrike" dirty="0">
                          <a:effectLst/>
                        </a:rPr>
                        <a:t>Al Trabajador</a:t>
                      </a:r>
                      <a:endParaRPr lang="es-PE"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9525" marR="9525" marT="9525" marB="0" anchor="b"/>
                </a:tc>
                <a:tc gridSpan="4">
                  <a:txBody>
                    <a:bodyPr/>
                    <a:lstStyle/>
                    <a:p>
                      <a:pPr algn="ctr" fontAlgn="b"/>
                      <a:r>
                        <a:rPr lang="es-PE" sz="2000" b="1" u="none" strike="noStrike">
                          <a:effectLst/>
                        </a:rPr>
                        <a:t>No se le asigna</a:t>
                      </a:r>
                      <a:endParaRPr lang="es-PE" sz="2000" b="1" i="0" u="none" strike="noStrike">
                        <a:solidFill>
                          <a:srgbClr val="FF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El costo es 11</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 </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no</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no</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11</a:t>
                      </a:r>
                      <a:endParaRPr lang="es-PE"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97392797"/>
                  </a:ext>
                </a:extLst>
              </a:tr>
              <a:tr h="404533">
                <a:tc gridSpan="6">
                  <a:txBody>
                    <a:bodyPr/>
                    <a:lstStyle/>
                    <a:p>
                      <a:pPr algn="ctr" fontAlgn="b"/>
                      <a:r>
                        <a:rPr lang="es-PE" sz="2000" b="1" u="none" strike="noStrike" dirty="0">
                          <a:effectLst/>
                        </a:rPr>
                        <a:t>Al Trabajador</a:t>
                      </a:r>
                      <a:endParaRPr lang="es-PE"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rPr>
                        <a:t>3</a:t>
                      </a:r>
                      <a:endParaRPr lang="es-PE" sz="2000" b="1" i="0" u="none" strike="noStrike" dirty="0">
                        <a:solidFill>
                          <a:srgbClr val="000000"/>
                        </a:solidFill>
                        <a:effectLst/>
                        <a:latin typeface="Calibri" panose="020F0502020204030204" pitchFamily="34" charset="0"/>
                      </a:endParaRPr>
                    </a:p>
                  </a:txBody>
                  <a:tcPr marL="9525" marR="9525" marT="9525" marB="0" anchor="b"/>
                </a:tc>
                <a:tc gridSpan="4">
                  <a:txBody>
                    <a:bodyPr/>
                    <a:lstStyle/>
                    <a:p>
                      <a:pPr algn="ctr" fontAlgn="b"/>
                      <a:r>
                        <a:rPr lang="it-IT" sz="2000" b="1" u="none" strike="noStrike" dirty="0">
                          <a:effectLst/>
                        </a:rPr>
                        <a:t>Se le asigna la tarea</a:t>
                      </a:r>
                      <a:endParaRPr lang="it-IT"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a:effectLst/>
                        </a:rPr>
                        <a:t>3</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El costo es   7</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7</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7</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7</a:t>
                      </a:r>
                      <a:endParaRPr lang="es-PE"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48759400"/>
                  </a:ext>
                </a:extLst>
              </a:tr>
              <a:tr h="404533">
                <a:tc gridSpan="6">
                  <a:txBody>
                    <a:bodyPr/>
                    <a:lstStyle/>
                    <a:p>
                      <a:pPr algn="ctr" fontAlgn="b"/>
                      <a:r>
                        <a:rPr lang="es-PE" sz="2000" b="1" u="none" strike="noStrike" dirty="0">
                          <a:effectLst/>
                        </a:rPr>
                        <a:t>Al Trabajador</a:t>
                      </a:r>
                      <a:endParaRPr lang="es-PE"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9525" marR="9525" marT="9525" marB="0" anchor="b"/>
                </a:tc>
                <a:tc gridSpan="4">
                  <a:txBody>
                    <a:bodyPr/>
                    <a:lstStyle/>
                    <a:p>
                      <a:pPr algn="ctr" fontAlgn="b"/>
                      <a:r>
                        <a:rPr lang="it-IT" sz="2000" b="1" u="none" strike="noStrike" dirty="0">
                          <a:effectLst/>
                        </a:rPr>
                        <a:t>Se le asigna la tarea</a:t>
                      </a:r>
                      <a:endParaRPr lang="it-IT"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El costo es   4</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 </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4</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97657952"/>
                  </a:ext>
                </a:extLst>
              </a:tr>
              <a:tr h="404533">
                <a:tc gridSpan="6">
                  <a:txBody>
                    <a:bodyPr/>
                    <a:lstStyle/>
                    <a:p>
                      <a:pPr algn="ctr" fontAlgn="b"/>
                      <a:r>
                        <a:rPr lang="es-PE" sz="2000" b="1" u="none" strike="noStrike">
                          <a:effectLst/>
                        </a:rPr>
                        <a:t>Al Trabajador</a:t>
                      </a:r>
                      <a:endParaRPr lang="es-PE" sz="2000" b="1"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b"/>
                </a:tc>
                <a:tc gridSpan="4">
                  <a:txBody>
                    <a:bodyPr/>
                    <a:lstStyle/>
                    <a:p>
                      <a:pPr algn="ctr" fontAlgn="b"/>
                      <a:r>
                        <a:rPr lang="it-IT" sz="2000" b="1" u="none" strike="noStrike" dirty="0">
                          <a:effectLst/>
                        </a:rPr>
                        <a:t>Se le asigna la tarea</a:t>
                      </a:r>
                      <a:endParaRPr lang="it-IT" sz="20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effectLst/>
                        </a:rPr>
                        <a:t>No</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El costo es  0</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 </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11</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6</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no</a:t>
                      </a:r>
                      <a:endParaRPr lang="es-PE" sz="20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9097448"/>
                  </a:ext>
                </a:extLst>
              </a:tr>
              <a:tr h="305275">
                <a:tc>
                  <a:txBody>
                    <a:bodyPr/>
                    <a:lstStyle/>
                    <a:p>
                      <a:endParaRPr lang="es-PE" b="1"/>
                    </a:p>
                  </a:txBody>
                  <a:tcPr marL="9525" marR="9525" marT="9525" marB="0" anchor="b"/>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endParaRPr lang="es-PE" sz="2000" b="1" i="0" u="none" strike="noStrike">
                        <a:solidFill>
                          <a:srgbClr val="000000"/>
                        </a:solidFill>
                        <a:effectLst/>
                        <a:latin typeface="Calibri" panose="020F0502020204030204" pitchFamily="34" charset="0"/>
                      </a:endParaRPr>
                    </a:p>
                  </a:txBody>
                  <a:tcPr marL="9525" marR="9525" marT="9525" marB="0" anchor="b"/>
                </a:tc>
                <a:tc gridSpan="4">
                  <a:txBody>
                    <a:bodyPr/>
                    <a:lstStyle/>
                    <a:p>
                      <a:pPr algn="ctr" fontAlgn="b"/>
                      <a:r>
                        <a:rPr lang="es-PE" sz="2000" b="1" u="none" strike="noStrike" dirty="0">
                          <a:effectLst/>
                        </a:rPr>
                        <a:t>COSTO TOTAL                         </a:t>
                      </a:r>
                      <a:r>
                        <a:rPr lang="es-PE" sz="2000" b="1" u="none" strike="noStrike" dirty="0">
                          <a:solidFill>
                            <a:srgbClr val="FF0000"/>
                          </a:solidFill>
                          <a:effectLst/>
                        </a:rPr>
                        <a:t>27</a:t>
                      </a:r>
                      <a:endParaRPr lang="es-PE" sz="2000" b="1" i="0" u="none" strike="noStrike" dirty="0">
                        <a:solidFill>
                          <a:srgbClr val="FF0000"/>
                        </a:solidFill>
                        <a:effectLst/>
                        <a:latin typeface="Calibri" panose="020F0502020204030204" pitchFamily="34" charset="0"/>
                      </a:endParaRPr>
                    </a:p>
                  </a:txBody>
                  <a:tcPr marL="9525" marR="9525" marT="9525" marB="0" anchor="b"/>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2000" b="1" u="none" strike="noStrike" dirty="0">
                          <a:solidFill>
                            <a:srgbClr val="FF0000"/>
                          </a:solidFill>
                          <a:effectLst/>
                        </a:rPr>
                        <a:t>27</a:t>
                      </a:r>
                      <a:endParaRPr lang="es-PE" sz="2000" b="1" i="0" u="none" strike="noStrike" dirty="0">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solidFill>
                            <a:srgbClr val="FF0000"/>
                          </a:solidFill>
                          <a:effectLst/>
                        </a:rPr>
                        <a:t>27</a:t>
                      </a:r>
                      <a:endParaRPr lang="es-PE" sz="2000" b="1" i="0" u="none" strike="noStrike" dirty="0">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solidFill>
                            <a:srgbClr val="FF0000"/>
                          </a:solidFill>
                          <a:effectLst/>
                        </a:rPr>
                        <a:t>27</a:t>
                      </a:r>
                      <a:endParaRPr lang="es-PE" sz="2000" b="1" i="0" u="none" strike="noStrike" dirty="0">
                        <a:solidFill>
                          <a:srgbClr val="FF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3547874"/>
                  </a:ext>
                </a:extLst>
              </a:tr>
            </a:tbl>
          </a:graphicData>
        </a:graphic>
      </p:graphicFrame>
    </p:spTree>
    <p:extLst>
      <p:ext uri="{BB962C8B-B14F-4D97-AF65-F5344CB8AC3E}">
        <p14:creationId xmlns:p14="http://schemas.microsoft.com/office/powerpoint/2010/main" val="1531012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anim calcmode="lin" valueType="num">
                                      <p:cBhvr>
                                        <p:cTn id="8" dur="2000" fill="hold"/>
                                        <p:tgtEl>
                                          <p:spTgt spid="7"/>
                                        </p:tgtEl>
                                        <p:attrNameLst>
                                          <p:attrName>ppt_w</p:attrName>
                                        </p:attrNameLst>
                                      </p:cBhvr>
                                      <p:tavLst>
                                        <p:tav tm="0" fmla="#ppt_w*sin(2.5*pi*$)">
                                          <p:val>
                                            <p:fltVal val="0"/>
                                          </p:val>
                                        </p:tav>
                                        <p:tav tm="100000">
                                          <p:val>
                                            <p:fltVal val="1"/>
                                          </p:val>
                                        </p:tav>
                                      </p:tavLst>
                                    </p:anim>
                                    <p:anim calcmode="lin" valueType="num">
                                      <p:cBhvr>
                                        <p:cTn id="9" dur="2000" fill="hold"/>
                                        <p:tgtEl>
                                          <p:spTgt spid="7"/>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2000"/>
                                        <p:tgtEl>
                                          <p:spTgt spid="8"/>
                                        </p:tgtEl>
                                      </p:cBhvr>
                                    </p:animEffect>
                                    <p:anim calcmode="lin" valueType="num">
                                      <p:cBhvr>
                                        <p:cTn id="15" dur="2000" fill="hold"/>
                                        <p:tgtEl>
                                          <p:spTgt spid="8"/>
                                        </p:tgtEl>
                                        <p:attrNameLst>
                                          <p:attrName>ppt_w</p:attrName>
                                        </p:attrNameLst>
                                      </p:cBhvr>
                                      <p:tavLst>
                                        <p:tav tm="0" fmla="#ppt_w*sin(2.5*pi*$)">
                                          <p:val>
                                            <p:fltVal val="0"/>
                                          </p:val>
                                        </p:tav>
                                        <p:tav tm="100000">
                                          <p:val>
                                            <p:fltVal val="1"/>
                                          </p:val>
                                        </p:tav>
                                      </p:tavLst>
                                    </p:anim>
                                    <p:anim calcmode="lin" valueType="num">
                                      <p:cBhvr>
                                        <p:cTn id="16" dur="20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0"/>
                                        <p:tgtEl>
                                          <p:spTgt spid="9"/>
                                        </p:tgtEl>
                                      </p:cBhvr>
                                    </p:animEffect>
                                    <p:anim calcmode="lin" valueType="num">
                                      <p:cBhvr>
                                        <p:cTn id="22" dur="2000" fill="hold"/>
                                        <p:tgtEl>
                                          <p:spTgt spid="9"/>
                                        </p:tgtEl>
                                        <p:attrNameLst>
                                          <p:attrName>ppt_w</p:attrName>
                                        </p:attrNameLst>
                                      </p:cBhvr>
                                      <p:tavLst>
                                        <p:tav tm="0" fmla="#ppt_w*sin(2.5*pi*$)">
                                          <p:val>
                                            <p:fltVal val="0"/>
                                          </p:val>
                                        </p:tav>
                                        <p:tav tm="100000">
                                          <p:val>
                                            <p:fltVal val="1"/>
                                          </p:val>
                                        </p:tav>
                                      </p:tavLst>
                                    </p:anim>
                                    <p:anim calcmode="lin" valueType="num">
                                      <p:cBhvr>
                                        <p:cTn id="23" dur="2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45"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2000"/>
                                        <p:tgtEl>
                                          <p:spTgt spid="10"/>
                                        </p:tgtEl>
                                      </p:cBhvr>
                                    </p:animEffect>
                                    <p:anim calcmode="lin" valueType="num">
                                      <p:cBhvr>
                                        <p:cTn id="29" dur="2000" fill="hold"/>
                                        <p:tgtEl>
                                          <p:spTgt spid="10"/>
                                        </p:tgtEl>
                                        <p:attrNameLst>
                                          <p:attrName>ppt_w</p:attrName>
                                        </p:attrNameLst>
                                      </p:cBhvr>
                                      <p:tavLst>
                                        <p:tav tm="0" fmla="#ppt_w*sin(2.5*pi*$)">
                                          <p:val>
                                            <p:fltVal val="0"/>
                                          </p:val>
                                        </p:tav>
                                        <p:tav tm="100000">
                                          <p:val>
                                            <p:fltVal val="1"/>
                                          </p:val>
                                        </p:tav>
                                      </p:tavLst>
                                    </p:anim>
                                    <p:anim calcmode="lin" valueType="num">
                                      <p:cBhvr>
                                        <p:cTn id="30" dur="2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45"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2000"/>
                                        <p:tgtEl>
                                          <p:spTgt spid="11"/>
                                        </p:tgtEl>
                                      </p:cBhvr>
                                    </p:animEffect>
                                    <p:anim calcmode="lin" valueType="num">
                                      <p:cBhvr>
                                        <p:cTn id="36" dur="2000" fill="hold"/>
                                        <p:tgtEl>
                                          <p:spTgt spid="11"/>
                                        </p:tgtEl>
                                        <p:attrNameLst>
                                          <p:attrName>ppt_w</p:attrName>
                                        </p:attrNameLst>
                                      </p:cBhvr>
                                      <p:tavLst>
                                        <p:tav tm="0" fmla="#ppt_w*sin(2.5*pi*$)">
                                          <p:val>
                                            <p:fltVal val="0"/>
                                          </p:val>
                                        </p:tav>
                                        <p:tav tm="100000">
                                          <p:val>
                                            <p:fltVal val="1"/>
                                          </p:val>
                                        </p:tav>
                                      </p:tavLst>
                                    </p:anim>
                                    <p:anim calcmode="lin" valueType="num">
                                      <p:cBhvr>
                                        <p:cTn id="37" dur="20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6B97943-DBC4-49C2-AC1C-F2B399CECB4D}"/>
              </a:ext>
            </a:extLst>
          </p:cNvPr>
          <p:cNvSpPr txBox="1"/>
          <p:nvPr/>
        </p:nvSpPr>
        <p:spPr>
          <a:xfrm>
            <a:off x="307790" y="1225986"/>
            <a:ext cx="5520906" cy="1323439"/>
          </a:xfrm>
          <a:prstGeom prst="rect">
            <a:avLst/>
          </a:prstGeom>
          <a:noFill/>
        </p:spPr>
        <p:txBody>
          <a:bodyPr wrap="square" rtlCol="0">
            <a:spAutoFit/>
          </a:bodyPr>
          <a:lstStyle/>
          <a:p>
            <a:r>
              <a:rPr lang="es-ES" sz="2000" b="1" u="sng" dirty="0">
                <a:latin typeface="Arial Narrow" panose="020B0606020202030204" pitchFamily="34" charset="0"/>
              </a:rPr>
              <a:t>Ejemplo:</a:t>
            </a:r>
          </a:p>
          <a:p>
            <a:r>
              <a:rPr lang="es-ES" sz="2000" b="1" dirty="0">
                <a:latin typeface="Arial Narrow" panose="020B0606020202030204" pitchFamily="34" charset="0"/>
              </a:rPr>
              <a:t>Existen 5 operarios A, B, C, D y E para llevar a 5 cargos F, G, H, I y J. La matriz de costos que caracteriza al problema de asignación es la siguiente:</a:t>
            </a:r>
            <a:endParaRPr lang="es-PE" sz="2000" b="1" dirty="0">
              <a:latin typeface="Arial Narrow" panose="020B0606020202030204" pitchFamily="34" charset="0"/>
            </a:endParaRPr>
          </a:p>
        </p:txBody>
      </p:sp>
      <p:graphicFrame>
        <p:nvGraphicFramePr>
          <p:cNvPr id="5" name="Tabla 5">
            <a:extLst>
              <a:ext uri="{FF2B5EF4-FFF2-40B4-BE49-F238E27FC236}">
                <a16:creationId xmlns:a16="http://schemas.microsoft.com/office/drawing/2014/main" id="{47AC67A5-A48F-468F-ADCE-2161AF709D6A}"/>
              </a:ext>
            </a:extLst>
          </p:cNvPr>
          <p:cNvGraphicFramePr>
            <a:graphicFrameLocks noGrp="1"/>
          </p:cNvGraphicFramePr>
          <p:nvPr>
            <p:extLst>
              <p:ext uri="{D42A27DB-BD31-4B8C-83A1-F6EECF244321}">
                <p14:modId xmlns:p14="http://schemas.microsoft.com/office/powerpoint/2010/main" val="3098210703"/>
              </p:ext>
            </p:extLst>
          </p:nvPr>
        </p:nvGraphicFramePr>
        <p:xfrm>
          <a:off x="1638501" y="2609243"/>
          <a:ext cx="2948316" cy="2377440"/>
        </p:xfrm>
        <a:graphic>
          <a:graphicData uri="http://schemas.openxmlformats.org/drawingml/2006/table">
            <a:tbl>
              <a:tblPr firstRow="1" bandRow="1">
                <a:tableStyleId>{5C22544A-7EE6-4342-B048-85BDC9FD1C3A}</a:tableStyleId>
              </a:tblPr>
              <a:tblGrid>
                <a:gridCol w="491386">
                  <a:extLst>
                    <a:ext uri="{9D8B030D-6E8A-4147-A177-3AD203B41FA5}">
                      <a16:colId xmlns:a16="http://schemas.microsoft.com/office/drawing/2014/main" val="2191001564"/>
                    </a:ext>
                  </a:extLst>
                </a:gridCol>
                <a:gridCol w="491386">
                  <a:extLst>
                    <a:ext uri="{9D8B030D-6E8A-4147-A177-3AD203B41FA5}">
                      <a16:colId xmlns:a16="http://schemas.microsoft.com/office/drawing/2014/main" val="249600686"/>
                    </a:ext>
                  </a:extLst>
                </a:gridCol>
                <a:gridCol w="491386">
                  <a:extLst>
                    <a:ext uri="{9D8B030D-6E8A-4147-A177-3AD203B41FA5}">
                      <a16:colId xmlns:a16="http://schemas.microsoft.com/office/drawing/2014/main" val="1546522247"/>
                    </a:ext>
                  </a:extLst>
                </a:gridCol>
                <a:gridCol w="491386">
                  <a:extLst>
                    <a:ext uri="{9D8B030D-6E8A-4147-A177-3AD203B41FA5}">
                      <a16:colId xmlns:a16="http://schemas.microsoft.com/office/drawing/2014/main" val="1943056112"/>
                    </a:ext>
                  </a:extLst>
                </a:gridCol>
                <a:gridCol w="491386">
                  <a:extLst>
                    <a:ext uri="{9D8B030D-6E8A-4147-A177-3AD203B41FA5}">
                      <a16:colId xmlns:a16="http://schemas.microsoft.com/office/drawing/2014/main" val="225105020"/>
                    </a:ext>
                  </a:extLst>
                </a:gridCol>
                <a:gridCol w="491386">
                  <a:extLst>
                    <a:ext uri="{9D8B030D-6E8A-4147-A177-3AD203B41FA5}">
                      <a16:colId xmlns:a16="http://schemas.microsoft.com/office/drawing/2014/main" val="333048736"/>
                    </a:ext>
                  </a:extLst>
                </a:gridCol>
              </a:tblGrid>
              <a:tr h="362771">
                <a:tc>
                  <a:txBody>
                    <a:bodyPr/>
                    <a:lstStyle/>
                    <a:p>
                      <a:endParaRPr lang="es-PE" sz="2000" dirty="0"/>
                    </a:p>
                  </a:txBody>
                  <a:tcPr>
                    <a:solidFill>
                      <a:schemeClr val="bg1"/>
                    </a:solidFill>
                  </a:tcPr>
                </a:tc>
                <a:tc>
                  <a:txBody>
                    <a:bodyPr/>
                    <a:lstStyle/>
                    <a:p>
                      <a:pPr algn="ctr"/>
                      <a:r>
                        <a:rPr lang="es-ES" sz="2000" dirty="0">
                          <a:solidFill>
                            <a:schemeClr val="tx1"/>
                          </a:solidFill>
                        </a:rPr>
                        <a:t>F</a:t>
                      </a:r>
                      <a:endParaRPr lang="es-PE" sz="2000" dirty="0">
                        <a:solidFill>
                          <a:schemeClr val="tx1"/>
                        </a:solidFill>
                      </a:endParaRPr>
                    </a:p>
                  </a:txBody>
                  <a:tcPr>
                    <a:solidFill>
                      <a:schemeClr val="bg1"/>
                    </a:solidFill>
                  </a:tcPr>
                </a:tc>
                <a:tc>
                  <a:txBody>
                    <a:bodyPr/>
                    <a:lstStyle/>
                    <a:p>
                      <a:pPr algn="ctr"/>
                      <a:r>
                        <a:rPr lang="es-ES" sz="2000" dirty="0">
                          <a:solidFill>
                            <a:schemeClr val="tx1"/>
                          </a:solidFill>
                        </a:rPr>
                        <a:t>G</a:t>
                      </a:r>
                      <a:endParaRPr lang="es-PE" sz="2000" dirty="0">
                        <a:solidFill>
                          <a:schemeClr val="tx1"/>
                        </a:solidFill>
                      </a:endParaRPr>
                    </a:p>
                  </a:txBody>
                  <a:tcPr>
                    <a:solidFill>
                      <a:schemeClr val="bg1"/>
                    </a:solidFill>
                  </a:tcPr>
                </a:tc>
                <a:tc>
                  <a:txBody>
                    <a:bodyPr/>
                    <a:lstStyle/>
                    <a:p>
                      <a:pPr algn="ctr"/>
                      <a:r>
                        <a:rPr lang="es-ES" sz="2000" dirty="0">
                          <a:solidFill>
                            <a:schemeClr val="tx1"/>
                          </a:solidFill>
                        </a:rPr>
                        <a:t>H</a:t>
                      </a:r>
                      <a:endParaRPr lang="es-PE" sz="2000" dirty="0">
                        <a:solidFill>
                          <a:schemeClr val="tx1"/>
                        </a:solidFill>
                      </a:endParaRPr>
                    </a:p>
                  </a:txBody>
                  <a:tcPr>
                    <a:solidFill>
                      <a:schemeClr val="bg1"/>
                    </a:solidFill>
                  </a:tcPr>
                </a:tc>
                <a:tc>
                  <a:txBody>
                    <a:bodyPr/>
                    <a:lstStyle/>
                    <a:p>
                      <a:pPr algn="ctr"/>
                      <a:r>
                        <a:rPr lang="es-ES" sz="2000" dirty="0">
                          <a:solidFill>
                            <a:schemeClr val="tx1"/>
                          </a:solidFill>
                        </a:rPr>
                        <a:t>I</a:t>
                      </a:r>
                      <a:endParaRPr lang="es-PE" sz="2000" dirty="0">
                        <a:solidFill>
                          <a:schemeClr val="tx1"/>
                        </a:solidFill>
                      </a:endParaRPr>
                    </a:p>
                  </a:txBody>
                  <a:tcPr>
                    <a:solidFill>
                      <a:schemeClr val="bg1"/>
                    </a:solidFill>
                  </a:tcPr>
                </a:tc>
                <a:tc>
                  <a:txBody>
                    <a:bodyPr/>
                    <a:lstStyle/>
                    <a:p>
                      <a:pPr algn="ctr"/>
                      <a:r>
                        <a:rPr lang="es-ES" sz="2000" dirty="0">
                          <a:solidFill>
                            <a:schemeClr val="tx1"/>
                          </a:solidFill>
                        </a:rPr>
                        <a:t>J</a:t>
                      </a:r>
                      <a:endParaRPr lang="es-PE" sz="2000" dirty="0">
                        <a:solidFill>
                          <a:schemeClr val="tx1"/>
                        </a:solidFill>
                      </a:endParaRPr>
                    </a:p>
                  </a:txBody>
                  <a:tcPr>
                    <a:solidFill>
                      <a:schemeClr val="bg1"/>
                    </a:solidFill>
                  </a:tcPr>
                </a:tc>
                <a:extLst>
                  <a:ext uri="{0D108BD9-81ED-4DB2-BD59-A6C34878D82A}">
                    <a16:rowId xmlns:a16="http://schemas.microsoft.com/office/drawing/2014/main" val="2465028119"/>
                  </a:ext>
                </a:extLst>
              </a:tr>
              <a:tr h="362771">
                <a:tc>
                  <a:txBody>
                    <a:bodyPr/>
                    <a:lstStyle/>
                    <a:p>
                      <a:pPr algn="ctr"/>
                      <a:r>
                        <a:rPr lang="es-ES" sz="2000" b="1" dirty="0"/>
                        <a:t>A</a:t>
                      </a:r>
                      <a:endParaRPr lang="es-PE" sz="2000" b="1" dirty="0"/>
                    </a:p>
                  </a:txBody>
                  <a:tcPr>
                    <a:solidFill>
                      <a:schemeClr val="bg1"/>
                    </a:solidFill>
                  </a:tcPr>
                </a:tc>
                <a:tc>
                  <a:txBody>
                    <a:bodyPr/>
                    <a:lstStyle/>
                    <a:p>
                      <a:pPr algn="ctr"/>
                      <a:r>
                        <a:rPr lang="es-ES" sz="2000" b="1" dirty="0"/>
                        <a:t>5</a:t>
                      </a:r>
                      <a:endParaRPr lang="es-PE" sz="2000" b="1" dirty="0"/>
                    </a:p>
                  </a:txBody>
                  <a:tcPr>
                    <a:solidFill>
                      <a:schemeClr val="bg1"/>
                    </a:solidFill>
                  </a:tcPr>
                </a:tc>
                <a:tc>
                  <a:txBody>
                    <a:bodyPr/>
                    <a:lstStyle/>
                    <a:p>
                      <a:pPr algn="ctr"/>
                      <a:r>
                        <a:rPr lang="es-ES" sz="2000" b="1" dirty="0"/>
                        <a:t>3</a:t>
                      </a:r>
                      <a:endParaRPr lang="es-PE" sz="2000" b="1" dirty="0"/>
                    </a:p>
                  </a:txBody>
                  <a:tcPr>
                    <a:solidFill>
                      <a:schemeClr val="bg1"/>
                    </a:solidFill>
                  </a:tcPr>
                </a:tc>
                <a:tc>
                  <a:txBody>
                    <a:bodyPr/>
                    <a:lstStyle/>
                    <a:p>
                      <a:pPr algn="ctr"/>
                      <a:r>
                        <a:rPr lang="es-ES" sz="2000" b="1" dirty="0"/>
                        <a:t>7</a:t>
                      </a:r>
                      <a:endParaRPr lang="es-PE" sz="2000" b="1" dirty="0"/>
                    </a:p>
                  </a:txBody>
                  <a:tcPr>
                    <a:solidFill>
                      <a:schemeClr val="bg1"/>
                    </a:solidFill>
                  </a:tcPr>
                </a:tc>
                <a:tc>
                  <a:txBody>
                    <a:bodyPr/>
                    <a:lstStyle/>
                    <a:p>
                      <a:pPr algn="ctr"/>
                      <a:r>
                        <a:rPr lang="es-ES" sz="2000" b="1" dirty="0"/>
                        <a:t>3</a:t>
                      </a:r>
                      <a:endParaRPr lang="es-PE" sz="2000" b="1" dirty="0"/>
                    </a:p>
                  </a:txBody>
                  <a:tcPr>
                    <a:solidFill>
                      <a:schemeClr val="bg1"/>
                    </a:solidFill>
                  </a:tcPr>
                </a:tc>
                <a:tc>
                  <a:txBody>
                    <a:bodyPr/>
                    <a:lstStyle/>
                    <a:p>
                      <a:pPr algn="ctr"/>
                      <a:r>
                        <a:rPr lang="es-ES" sz="2000" b="1" dirty="0"/>
                        <a:t>5</a:t>
                      </a:r>
                      <a:endParaRPr lang="es-PE" sz="2000" b="1" dirty="0"/>
                    </a:p>
                  </a:txBody>
                  <a:tcPr>
                    <a:solidFill>
                      <a:schemeClr val="bg1"/>
                    </a:solidFill>
                  </a:tcPr>
                </a:tc>
                <a:extLst>
                  <a:ext uri="{0D108BD9-81ED-4DB2-BD59-A6C34878D82A}">
                    <a16:rowId xmlns:a16="http://schemas.microsoft.com/office/drawing/2014/main" val="139256725"/>
                  </a:ext>
                </a:extLst>
              </a:tr>
              <a:tr h="362771">
                <a:tc>
                  <a:txBody>
                    <a:bodyPr/>
                    <a:lstStyle/>
                    <a:p>
                      <a:pPr algn="ctr"/>
                      <a:r>
                        <a:rPr lang="es-ES" sz="2000" b="1" dirty="0"/>
                        <a:t>B</a:t>
                      </a:r>
                      <a:endParaRPr lang="es-PE" sz="2000" b="1" dirty="0"/>
                    </a:p>
                  </a:txBody>
                  <a:tcPr>
                    <a:solidFill>
                      <a:schemeClr val="bg1"/>
                    </a:solidFill>
                  </a:tcPr>
                </a:tc>
                <a:tc>
                  <a:txBody>
                    <a:bodyPr/>
                    <a:lstStyle/>
                    <a:p>
                      <a:pPr algn="ctr"/>
                      <a:r>
                        <a:rPr lang="es-ES" sz="2000" b="1" dirty="0"/>
                        <a:t>5</a:t>
                      </a:r>
                      <a:endParaRPr lang="es-PE" sz="2000" b="1" dirty="0"/>
                    </a:p>
                  </a:txBody>
                  <a:tcPr>
                    <a:solidFill>
                      <a:schemeClr val="bg1"/>
                    </a:solidFill>
                  </a:tcPr>
                </a:tc>
                <a:tc>
                  <a:txBody>
                    <a:bodyPr/>
                    <a:lstStyle/>
                    <a:p>
                      <a:pPr algn="ctr"/>
                      <a:r>
                        <a:rPr lang="es-ES" sz="2000" b="1" dirty="0"/>
                        <a:t>6</a:t>
                      </a:r>
                      <a:endParaRPr lang="es-PE" sz="2000" b="1" dirty="0"/>
                    </a:p>
                  </a:txBody>
                  <a:tcPr>
                    <a:solidFill>
                      <a:schemeClr val="bg1"/>
                    </a:solidFill>
                  </a:tcPr>
                </a:tc>
                <a:tc>
                  <a:txBody>
                    <a:bodyPr/>
                    <a:lstStyle/>
                    <a:p>
                      <a:pPr algn="ctr"/>
                      <a:r>
                        <a:rPr lang="es-ES" sz="2000" b="1" dirty="0"/>
                        <a:t>12</a:t>
                      </a:r>
                      <a:endParaRPr lang="es-PE" sz="2000" b="1" dirty="0"/>
                    </a:p>
                  </a:txBody>
                  <a:tcPr>
                    <a:solidFill>
                      <a:schemeClr val="bg1"/>
                    </a:solidFill>
                  </a:tcPr>
                </a:tc>
                <a:tc>
                  <a:txBody>
                    <a:bodyPr/>
                    <a:lstStyle/>
                    <a:p>
                      <a:pPr algn="ctr"/>
                      <a:r>
                        <a:rPr lang="es-ES" sz="2000" b="1" dirty="0"/>
                        <a:t>7</a:t>
                      </a:r>
                      <a:endParaRPr lang="es-PE" sz="2000" b="1" dirty="0"/>
                    </a:p>
                  </a:txBody>
                  <a:tcPr>
                    <a:solidFill>
                      <a:schemeClr val="bg1"/>
                    </a:solidFill>
                  </a:tcPr>
                </a:tc>
                <a:tc>
                  <a:txBody>
                    <a:bodyPr/>
                    <a:lstStyle/>
                    <a:p>
                      <a:pPr algn="ctr"/>
                      <a:r>
                        <a:rPr lang="es-ES" sz="2000" b="1" dirty="0"/>
                        <a:t>9</a:t>
                      </a:r>
                      <a:endParaRPr lang="es-PE" sz="2000" b="1" dirty="0"/>
                    </a:p>
                  </a:txBody>
                  <a:tcPr>
                    <a:solidFill>
                      <a:schemeClr val="bg1"/>
                    </a:solidFill>
                  </a:tcPr>
                </a:tc>
                <a:extLst>
                  <a:ext uri="{0D108BD9-81ED-4DB2-BD59-A6C34878D82A}">
                    <a16:rowId xmlns:a16="http://schemas.microsoft.com/office/drawing/2014/main" val="3538508993"/>
                  </a:ext>
                </a:extLst>
              </a:tr>
              <a:tr h="362771">
                <a:tc>
                  <a:txBody>
                    <a:bodyPr/>
                    <a:lstStyle/>
                    <a:p>
                      <a:pPr algn="ctr"/>
                      <a:r>
                        <a:rPr lang="es-ES" sz="2000" b="1" dirty="0"/>
                        <a:t>C</a:t>
                      </a:r>
                      <a:endParaRPr lang="es-PE" sz="2000" b="1" dirty="0"/>
                    </a:p>
                  </a:txBody>
                  <a:tcPr>
                    <a:solidFill>
                      <a:schemeClr val="bg1"/>
                    </a:solidFill>
                  </a:tcPr>
                </a:tc>
                <a:tc>
                  <a:txBody>
                    <a:bodyPr/>
                    <a:lstStyle/>
                    <a:p>
                      <a:pPr algn="ctr"/>
                      <a:r>
                        <a:rPr lang="es-ES" sz="2000" b="1" dirty="0"/>
                        <a:t>2</a:t>
                      </a:r>
                      <a:endParaRPr lang="es-PE" sz="2000" b="1" dirty="0"/>
                    </a:p>
                  </a:txBody>
                  <a:tcPr>
                    <a:solidFill>
                      <a:schemeClr val="bg1"/>
                    </a:solidFill>
                  </a:tcPr>
                </a:tc>
                <a:tc>
                  <a:txBody>
                    <a:bodyPr/>
                    <a:lstStyle/>
                    <a:p>
                      <a:pPr algn="ctr"/>
                      <a:r>
                        <a:rPr lang="es-ES" sz="2000" b="1" dirty="0"/>
                        <a:t>8</a:t>
                      </a:r>
                      <a:endParaRPr lang="es-PE" sz="2000" b="1" dirty="0"/>
                    </a:p>
                  </a:txBody>
                  <a:tcPr>
                    <a:solidFill>
                      <a:schemeClr val="bg1"/>
                    </a:solidFill>
                  </a:tcPr>
                </a:tc>
                <a:tc>
                  <a:txBody>
                    <a:bodyPr/>
                    <a:lstStyle/>
                    <a:p>
                      <a:pPr algn="ctr"/>
                      <a:r>
                        <a:rPr lang="es-ES" sz="2000" b="1" dirty="0"/>
                        <a:t>3</a:t>
                      </a:r>
                      <a:endParaRPr lang="es-PE" sz="2000" b="1" dirty="0"/>
                    </a:p>
                  </a:txBody>
                  <a:tcPr>
                    <a:solidFill>
                      <a:schemeClr val="bg1"/>
                    </a:solidFill>
                  </a:tcPr>
                </a:tc>
                <a:tc>
                  <a:txBody>
                    <a:bodyPr/>
                    <a:lstStyle/>
                    <a:p>
                      <a:pPr algn="ctr"/>
                      <a:r>
                        <a:rPr lang="es-ES" sz="2000" b="1" dirty="0"/>
                        <a:t>4</a:t>
                      </a:r>
                      <a:endParaRPr lang="es-PE" sz="2000" b="1" dirty="0"/>
                    </a:p>
                  </a:txBody>
                  <a:tcPr>
                    <a:solidFill>
                      <a:schemeClr val="bg1"/>
                    </a:solidFill>
                  </a:tcPr>
                </a:tc>
                <a:tc>
                  <a:txBody>
                    <a:bodyPr/>
                    <a:lstStyle/>
                    <a:p>
                      <a:pPr algn="ctr"/>
                      <a:r>
                        <a:rPr lang="es-ES" sz="2000" b="1" dirty="0"/>
                        <a:t>6</a:t>
                      </a:r>
                      <a:endParaRPr lang="es-PE" sz="2000" b="1" dirty="0"/>
                    </a:p>
                  </a:txBody>
                  <a:tcPr>
                    <a:solidFill>
                      <a:schemeClr val="bg1"/>
                    </a:solidFill>
                  </a:tcPr>
                </a:tc>
                <a:extLst>
                  <a:ext uri="{0D108BD9-81ED-4DB2-BD59-A6C34878D82A}">
                    <a16:rowId xmlns:a16="http://schemas.microsoft.com/office/drawing/2014/main" val="951743671"/>
                  </a:ext>
                </a:extLst>
              </a:tr>
              <a:tr h="362771">
                <a:tc>
                  <a:txBody>
                    <a:bodyPr/>
                    <a:lstStyle/>
                    <a:p>
                      <a:pPr algn="ctr"/>
                      <a:r>
                        <a:rPr lang="es-ES" sz="2000" b="1" dirty="0"/>
                        <a:t>D</a:t>
                      </a:r>
                      <a:endParaRPr lang="es-PE" sz="2000" b="1" dirty="0"/>
                    </a:p>
                  </a:txBody>
                  <a:tcPr>
                    <a:solidFill>
                      <a:schemeClr val="bg1"/>
                    </a:solidFill>
                  </a:tcPr>
                </a:tc>
                <a:tc>
                  <a:txBody>
                    <a:bodyPr/>
                    <a:lstStyle/>
                    <a:p>
                      <a:pPr algn="ctr"/>
                      <a:r>
                        <a:rPr lang="es-ES" sz="2000" b="1" dirty="0"/>
                        <a:t>9</a:t>
                      </a:r>
                      <a:endParaRPr lang="es-PE" sz="2000" b="1" dirty="0"/>
                    </a:p>
                  </a:txBody>
                  <a:tcPr>
                    <a:solidFill>
                      <a:schemeClr val="bg1"/>
                    </a:solidFill>
                  </a:tcPr>
                </a:tc>
                <a:tc>
                  <a:txBody>
                    <a:bodyPr/>
                    <a:lstStyle/>
                    <a:p>
                      <a:pPr algn="ctr"/>
                      <a:r>
                        <a:rPr lang="es-ES" sz="2000" b="1" dirty="0"/>
                        <a:t>6</a:t>
                      </a:r>
                      <a:endParaRPr lang="es-PE" sz="2000" b="1" dirty="0"/>
                    </a:p>
                  </a:txBody>
                  <a:tcPr>
                    <a:solidFill>
                      <a:schemeClr val="bg1"/>
                    </a:solidFill>
                  </a:tcPr>
                </a:tc>
                <a:tc>
                  <a:txBody>
                    <a:bodyPr/>
                    <a:lstStyle/>
                    <a:p>
                      <a:pPr algn="ctr"/>
                      <a:r>
                        <a:rPr lang="es-ES" sz="2000" b="1" dirty="0"/>
                        <a:t>10</a:t>
                      </a:r>
                      <a:endParaRPr lang="es-PE" sz="2000" b="1" dirty="0"/>
                    </a:p>
                  </a:txBody>
                  <a:tcPr>
                    <a:solidFill>
                      <a:schemeClr val="bg1"/>
                    </a:solidFill>
                  </a:tcPr>
                </a:tc>
                <a:tc>
                  <a:txBody>
                    <a:bodyPr/>
                    <a:lstStyle/>
                    <a:p>
                      <a:pPr algn="ctr"/>
                      <a:r>
                        <a:rPr lang="es-ES" sz="2000" b="1" dirty="0"/>
                        <a:t>5</a:t>
                      </a:r>
                      <a:endParaRPr lang="es-PE" sz="2000" b="1" dirty="0"/>
                    </a:p>
                  </a:txBody>
                  <a:tcPr>
                    <a:solidFill>
                      <a:schemeClr val="bg1"/>
                    </a:solidFill>
                  </a:tcPr>
                </a:tc>
                <a:tc>
                  <a:txBody>
                    <a:bodyPr/>
                    <a:lstStyle/>
                    <a:p>
                      <a:pPr algn="ctr"/>
                      <a:r>
                        <a:rPr lang="es-ES" sz="2000" b="1" dirty="0"/>
                        <a:t>7</a:t>
                      </a:r>
                      <a:endParaRPr lang="es-PE" sz="2000" b="1" dirty="0"/>
                    </a:p>
                  </a:txBody>
                  <a:tcPr>
                    <a:solidFill>
                      <a:schemeClr val="bg1"/>
                    </a:solidFill>
                  </a:tcPr>
                </a:tc>
                <a:extLst>
                  <a:ext uri="{0D108BD9-81ED-4DB2-BD59-A6C34878D82A}">
                    <a16:rowId xmlns:a16="http://schemas.microsoft.com/office/drawing/2014/main" val="1156088139"/>
                  </a:ext>
                </a:extLst>
              </a:tr>
              <a:tr h="362771">
                <a:tc>
                  <a:txBody>
                    <a:bodyPr/>
                    <a:lstStyle/>
                    <a:p>
                      <a:pPr algn="ctr"/>
                      <a:r>
                        <a:rPr lang="es-ES" sz="2000" b="1" dirty="0"/>
                        <a:t>E</a:t>
                      </a:r>
                      <a:endParaRPr lang="es-PE" sz="2000" b="1" dirty="0"/>
                    </a:p>
                  </a:txBody>
                  <a:tcPr>
                    <a:solidFill>
                      <a:schemeClr val="bg1"/>
                    </a:solidFill>
                  </a:tcPr>
                </a:tc>
                <a:tc>
                  <a:txBody>
                    <a:bodyPr/>
                    <a:lstStyle/>
                    <a:p>
                      <a:pPr algn="ctr"/>
                      <a:r>
                        <a:rPr lang="es-ES" sz="2000" b="1" dirty="0"/>
                        <a:t>4</a:t>
                      </a:r>
                      <a:endParaRPr lang="es-PE" sz="2000" b="1" dirty="0"/>
                    </a:p>
                  </a:txBody>
                  <a:tcPr>
                    <a:solidFill>
                      <a:schemeClr val="bg1"/>
                    </a:solidFill>
                  </a:tcPr>
                </a:tc>
                <a:tc>
                  <a:txBody>
                    <a:bodyPr/>
                    <a:lstStyle/>
                    <a:p>
                      <a:pPr algn="ctr"/>
                      <a:r>
                        <a:rPr lang="es-ES" sz="2000" b="1" dirty="0"/>
                        <a:t>7</a:t>
                      </a:r>
                      <a:endParaRPr lang="es-PE" sz="2000" b="1" dirty="0"/>
                    </a:p>
                  </a:txBody>
                  <a:tcPr>
                    <a:solidFill>
                      <a:schemeClr val="bg1"/>
                    </a:solidFill>
                  </a:tcPr>
                </a:tc>
                <a:tc>
                  <a:txBody>
                    <a:bodyPr/>
                    <a:lstStyle/>
                    <a:p>
                      <a:pPr algn="ctr"/>
                      <a:r>
                        <a:rPr lang="es-ES" sz="2000" b="1" dirty="0"/>
                        <a:t>6</a:t>
                      </a:r>
                      <a:endParaRPr lang="es-PE" sz="2000" b="1" dirty="0"/>
                    </a:p>
                  </a:txBody>
                  <a:tcPr>
                    <a:solidFill>
                      <a:schemeClr val="bg1"/>
                    </a:solidFill>
                  </a:tcPr>
                </a:tc>
                <a:tc>
                  <a:txBody>
                    <a:bodyPr/>
                    <a:lstStyle/>
                    <a:p>
                      <a:pPr algn="ctr"/>
                      <a:r>
                        <a:rPr lang="es-ES" sz="2000" b="1" dirty="0"/>
                        <a:t>8</a:t>
                      </a:r>
                      <a:endParaRPr lang="es-PE" sz="2000" b="1" dirty="0"/>
                    </a:p>
                  </a:txBody>
                  <a:tcPr>
                    <a:solidFill>
                      <a:schemeClr val="bg1"/>
                    </a:solidFill>
                  </a:tcPr>
                </a:tc>
                <a:tc>
                  <a:txBody>
                    <a:bodyPr/>
                    <a:lstStyle/>
                    <a:p>
                      <a:pPr algn="ctr"/>
                      <a:r>
                        <a:rPr lang="es-ES" sz="2000" b="1" dirty="0"/>
                        <a:t>11</a:t>
                      </a:r>
                      <a:endParaRPr lang="es-PE" sz="2000" b="1" dirty="0"/>
                    </a:p>
                  </a:txBody>
                  <a:tcPr>
                    <a:solidFill>
                      <a:schemeClr val="bg1"/>
                    </a:solidFill>
                  </a:tcPr>
                </a:tc>
                <a:extLst>
                  <a:ext uri="{0D108BD9-81ED-4DB2-BD59-A6C34878D82A}">
                    <a16:rowId xmlns:a16="http://schemas.microsoft.com/office/drawing/2014/main" val="4113543357"/>
                  </a:ext>
                </a:extLst>
              </a:tr>
            </a:tbl>
          </a:graphicData>
        </a:graphic>
      </p:graphicFrame>
      <p:sp>
        <p:nvSpPr>
          <p:cNvPr id="7" name="Rectángulo 6">
            <a:extLst>
              <a:ext uri="{FF2B5EF4-FFF2-40B4-BE49-F238E27FC236}">
                <a16:creationId xmlns:a16="http://schemas.microsoft.com/office/drawing/2014/main" id="{C589DAAE-FEA2-4DD6-AE5C-2061BBFB3DE6}"/>
              </a:ext>
            </a:extLst>
          </p:cNvPr>
          <p:cNvSpPr/>
          <p:nvPr/>
        </p:nvSpPr>
        <p:spPr>
          <a:xfrm>
            <a:off x="2190246" y="2930737"/>
            <a:ext cx="2355011" cy="20559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000" dirty="0">
              <a:latin typeface="Arial Narrow" panose="020B0606020202030204" pitchFamily="34" charset="0"/>
            </a:endParaRPr>
          </a:p>
        </p:txBody>
      </p:sp>
      <p:sp>
        <p:nvSpPr>
          <p:cNvPr id="8" name="CuadroTexto 7">
            <a:extLst>
              <a:ext uri="{FF2B5EF4-FFF2-40B4-BE49-F238E27FC236}">
                <a16:creationId xmlns:a16="http://schemas.microsoft.com/office/drawing/2014/main" id="{394A7F27-99AC-4585-AAAC-9CFA7584C536}"/>
              </a:ext>
            </a:extLst>
          </p:cNvPr>
          <p:cNvSpPr txBox="1"/>
          <p:nvPr/>
        </p:nvSpPr>
        <p:spPr>
          <a:xfrm>
            <a:off x="348152" y="5278071"/>
            <a:ext cx="5520906" cy="707886"/>
          </a:xfrm>
          <a:prstGeom prst="rect">
            <a:avLst/>
          </a:prstGeom>
          <a:noFill/>
        </p:spPr>
        <p:txBody>
          <a:bodyPr wrap="square" rtlCol="0">
            <a:spAutoFit/>
          </a:bodyPr>
          <a:lstStyle/>
          <a:p>
            <a:r>
              <a:rPr lang="es-ES" sz="2000" b="1" dirty="0">
                <a:latin typeface="Arial Narrow" panose="020B0606020202030204" pitchFamily="34" charset="0"/>
              </a:rPr>
              <a:t>Se pide resolver el problema de asignación usando el Método Húngaro</a:t>
            </a:r>
            <a:endParaRPr lang="es-PE" sz="2000" b="1" dirty="0">
              <a:latin typeface="Arial Narrow" panose="020B0606020202030204" pitchFamily="34" charset="0"/>
            </a:endParaRPr>
          </a:p>
        </p:txBody>
      </p:sp>
      <p:graphicFrame>
        <p:nvGraphicFramePr>
          <p:cNvPr id="3" name="Tabla 2">
            <a:extLst>
              <a:ext uri="{FF2B5EF4-FFF2-40B4-BE49-F238E27FC236}">
                <a16:creationId xmlns:a16="http://schemas.microsoft.com/office/drawing/2014/main" id="{C85BA6E8-EB5C-4AA2-B302-A6F035FDEA24}"/>
              </a:ext>
            </a:extLst>
          </p:cNvPr>
          <p:cNvGraphicFramePr>
            <a:graphicFrameLocks noGrp="1"/>
          </p:cNvGraphicFramePr>
          <p:nvPr>
            <p:extLst>
              <p:ext uri="{D42A27DB-BD31-4B8C-83A1-F6EECF244321}">
                <p14:modId xmlns:p14="http://schemas.microsoft.com/office/powerpoint/2010/main" val="4107257612"/>
              </p:ext>
            </p:extLst>
          </p:nvPr>
        </p:nvGraphicFramePr>
        <p:xfrm>
          <a:off x="6017633" y="1483417"/>
          <a:ext cx="3664913" cy="1885950"/>
        </p:xfrm>
        <a:graphic>
          <a:graphicData uri="http://schemas.openxmlformats.org/drawingml/2006/table">
            <a:tbl>
              <a:tblPr>
                <a:tableStyleId>{5C22544A-7EE6-4342-B048-85BDC9FD1C3A}</a:tableStyleId>
              </a:tblPr>
              <a:tblGrid>
                <a:gridCol w="1164586">
                  <a:extLst>
                    <a:ext uri="{9D8B030D-6E8A-4147-A177-3AD203B41FA5}">
                      <a16:colId xmlns:a16="http://schemas.microsoft.com/office/drawing/2014/main" val="2797273586"/>
                    </a:ext>
                  </a:extLst>
                </a:gridCol>
                <a:gridCol w="509951">
                  <a:extLst>
                    <a:ext uri="{9D8B030D-6E8A-4147-A177-3AD203B41FA5}">
                      <a16:colId xmlns:a16="http://schemas.microsoft.com/office/drawing/2014/main" val="3658015268"/>
                    </a:ext>
                  </a:extLst>
                </a:gridCol>
                <a:gridCol w="476251">
                  <a:extLst>
                    <a:ext uri="{9D8B030D-6E8A-4147-A177-3AD203B41FA5}">
                      <a16:colId xmlns:a16="http://schemas.microsoft.com/office/drawing/2014/main" val="2055624014"/>
                    </a:ext>
                  </a:extLst>
                </a:gridCol>
                <a:gridCol w="504709">
                  <a:extLst>
                    <a:ext uri="{9D8B030D-6E8A-4147-A177-3AD203B41FA5}">
                      <a16:colId xmlns:a16="http://schemas.microsoft.com/office/drawing/2014/main" val="348173308"/>
                    </a:ext>
                  </a:extLst>
                </a:gridCol>
                <a:gridCol w="514604">
                  <a:extLst>
                    <a:ext uri="{9D8B030D-6E8A-4147-A177-3AD203B41FA5}">
                      <a16:colId xmlns:a16="http://schemas.microsoft.com/office/drawing/2014/main" val="1488380195"/>
                    </a:ext>
                  </a:extLst>
                </a:gridCol>
                <a:gridCol w="494812">
                  <a:extLst>
                    <a:ext uri="{9D8B030D-6E8A-4147-A177-3AD203B41FA5}">
                      <a16:colId xmlns:a16="http://schemas.microsoft.com/office/drawing/2014/main" val="2457182815"/>
                    </a:ext>
                  </a:extLst>
                </a:gridCol>
              </a:tblGrid>
              <a:tr h="266700">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err="1">
                          <a:effectLst/>
                        </a:rPr>
                        <a:t>C1</a:t>
                      </a:r>
                      <a:endParaRPr lang="es-PE" sz="2000" b="1" i="0" u="none" strike="noStrike" dirty="0">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err="1">
                          <a:effectLst/>
                        </a:rPr>
                        <a:t>C2</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err="1">
                          <a:effectLst/>
                        </a:rPr>
                        <a:t>C3</a:t>
                      </a:r>
                      <a:endParaRPr lang="es-PE" sz="2000" b="1" i="0" u="none" strike="noStrike" dirty="0">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err="1">
                          <a:effectLst/>
                        </a:rPr>
                        <a:t>C4</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err="1">
                          <a:effectLst/>
                        </a:rPr>
                        <a:t>C5</a:t>
                      </a:r>
                      <a:endParaRPr lang="es-PE" sz="2000" b="1" i="0" u="none" strike="noStrike" dirty="0">
                        <a:solidFill>
                          <a:srgbClr val="FF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65261146"/>
                  </a:ext>
                </a:extLst>
              </a:tr>
              <a:tr h="295275">
                <a:tc>
                  <a:txBody>
                    <a:bodyPr/>
                    <a:lstStyle/>
                    <a:p>
                      <a:pPr algn="l" fontAlgn="b"/>
                      <a:r>
                        <a:rPr lang="es-PE" sz="2000" b="1" u="none" strike="noStrike" dirty="0">
                          <a:effectLst/>
                        </a:rPr>
                        <a:t>Operario 1</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rtl="0" fontAlgn="ctr"/>
                      <a:r>
                        <a:rPr lang="es-PE" sz="2000" b="1" u="none" strike="noStrike" dirty="0">
                          <a:effectLst/>
                        </a:rPr>
                        <a:t>5</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3</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7</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3</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2989210390"/>
                  </a:ext>
                </a:extLst>
              </a:tr>
              <a:tr h="2952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PE" sz="2000" b="1" i="0" u="none" strike="noStrike" kern="1200" cap="none" spc="0" normalizeH="0" baseline="0" noProof="0" dirty="0">
                          <a:ln>
                            <a:noFill/>
                          </a:ln>
                          <a:solidFill>
                            <a:prstClr val="black"/>
                          </a:solidFill>
                          <a:effectLst/>
                          <a:uLnTx/>
                          <a:uFillTx/>
                          <a:latin typeface="Calibri" panose="020F0502020204030204"/>
                          <a:ea typeface="+mn-ea"/>
                          <a:cs typeface="+mn-cs"/>
                        </a:rPr>
                        <a:t>Operario 2</a:t>
                      </a:r>
                      <a:endParaRPr kumimoji="0" lang="es-PE"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9525" marR="9525" marT="9525" marB="0" anchor="b"/>
                </a:tc>
                <a:tc>
                  <a:txBody>
                    <a:bodyPr/>
                    <a:lstStyle/>
                    <a:p>
                      <a:pPr algn="ctr" rtl="0" fontAlgn="ctr"/>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12</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7</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9</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4281854159"/>
                  </a:ext>
                </a:extLst>
              </a:tr>
              <a:tr h="2952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PE" sz="2000" b="1" i="0" u="none" strike="noStrike" kern="1200" cap="none" spc="0" normalizeH="0" baseline="0" noProof="0" dirty="0">
                          <a:ln>
                            <a:noFill/>
                          </a:ln>
                          <a:solidFill>
                            <a:prstClr val="black"/>
                          </a:solidFill>
                          <a:effectLst/>
                          <a:uLnTx/>
                          <a:uFillTx/>
                          <a:latin typeface="Calibri" panose="020F0502020204030204"/>
                          <a:ea typeface="+mn-ea"/>
                          <a:cs typeface="+mn-cs"/>
                        </a:rPr>
                        <a:t>Operario 3</a:t>
                      </a:r>
                      <a:endParaRPr kumimoji="0" lang="es-PE"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9525" marR="9525" marT="9525" marB="0" anchor="b"/>
                </a:tc>
                <a:tc>
                  <a:txBody>
                    <a:bodyPr/>
                    <a:lstStyle/>
                    <a:p>
                      <a:pPr algn="ctr" rtl="0" fontAlgn="ctr"/>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8</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3</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1418073351"/>
                  </a:ext>
                </a:extLst>
              </a:tr>
              <a:tr h="2952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PE" sz="2000" b="1" i="0" u="none" strike="noStrike" kern="1200" cap="none" spc="0" normalizeH="0" baseline="0" noProof="0" dirty="0">
                          <a:ln>
                            <a:noFill/>
                          </a:ln>
                          <a:solidFill>
                            <a:prstClr val="black"/>
                          </a:solidFill>
                          <a:effectLst/>
                          <a:uLnTx/>
                          <a:uFillTx/>
                          <a:latin typeface="Calibri" panose="020F0502020204030204"/>
                          <a:ea typeface="+mn-ea"/>
                          <a:cs typeface="+mn-cs"/>
                        </a:rPr>
                        <a:t>Operario 4</a:t>
                      </a:r>
                      <a:endParaRPr kumimoji="0" lang="es-PE"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9525" marR="9525" marT="9525" marB="0" anchor="b"/>
                </a:tc>
                <a:tc>
                  <a:txBody>
                    <a:bodyPr/>
                    <a:lstStyle/>
                    <a:p>
                      <a:pPr algn="ctr" rtl="0" fontAlgn="ctr"/>
                      <a:r>
                        <a:rPr lang="es-PE" sz="2000" b="1" u="none" strike="noStrike">
                          <a:effectLst/>
                        </a:rPr>
                        <a:t>9</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10</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5</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7</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3543970244"/>
                  </a:ext>
                </a:extLst>
              </a:tr>
              <a:tr h="2952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PE" sz="2000" b="1" i="0" u="none" strike="noStrike" kern="1200" cap="none" spc="0" normalizeH="0" baseline="0" noProof="0" dirty="0">
                          <a:ln>
                            <a:noFill/>
                          </a:ln>
                          <a:solidFill>
                            <a:prstClr val="black"/>
                          </a:solidFill>
                          <a:effectLst/>
                          <a:uLnTx/>
                          <a:uFillTx/>
                          <a:latin typeface="Calibri" panose="020F0502020204030204"/>
                          <a:ea typeface="+mn-ea"/>
                          <a:cs typeface="+mn-cs"/>
                        </a:rPr>
                        <a:t>Operario 5</a:t>
                      </a:r>
                      <a:endParaRPr kumimoji="0" lang="es-PE"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9525" marR="9525" marT="9525" marB="0" anchor="b"/>
                </a:tc>
                <a:tc>
                  <a:txBody>
                    <a:bodyPr/>
                    <a:lstStyle/>
                    <a:p>
                      <a:pPr algn="ctr" rtl="0" fontAlgn="ctr"/>
                      <a:r>
                        <a:rPr lang="es-PE" sz="2000" b="1" u="none" strike="noStrike">
                          <a:effectLst/>
                        </a:rPr>
                        <a:t>4</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7</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8</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11</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2591226923"/>
                  </a:ext>
                </a:extLst>
              </a:tr>
            </a:tbl>
          </a:graphicData>
        </a:graphic>
      </p:graphicFrame>
      <p:graphicFrame>
        <p:nvGraphicFramePr>
          <p:cNvPr id="6" name="Tabla 5">
            <a:extLst>
              <a:ext uri="{FF2B5EF4-FFF2-40B4-BE49-F238E27FC236}">
                <a16:creationId xmlns:a16="http://schemas.microsoft.com/office/drawing/2014/main" id="{C13A7B9F-C5CC-4548-810D-DC0B440C43BB}"/>
              </a:ext>
            </a:extLst>
          </p:cNvPr>
          <p:cNvGraphicFramePr>
            <a:graphicFrameLocks noGrp="1"/>
          </p:cNvGraphicFramePr>
          <p:nvPr>
            <p:extLst>
              <p:ext uri="{D42A27DB-BD31-4B8C-83A1-F6EECF244321}">
                <p14:modId xmlns:p14="http://schemas.microsoft.com/office/powerpoint/2010/main" val="2007495932"/>
              </p:ext>
            </p:extLst>
          </p:nvPr>
        </p:nvGraphicFramePr>
        <p:xfrm>
          <a:off x="9677241" y="1759789"/>
          <a:ext cx="381000" cy="1571625"/>
        </p:xfrm>
        <a:graphic>
          <a:graphicData uri="http://schemas.openxmlformats.org/drawingml/2006/table">
            <a:tbl>
              <a:tblPr>
                <a:tableStyleId>{5C22544A-7EE6-4342-B048-85BDC9FD1C3A}</a:tableStyleId>
              </a:tblPr>
              <a:tblGrid>
                <a:gridCol w="381000">
                  <a:extLst>
                    <a:ext uri="{9D8B030D-6E8A-4147-A177-3AD203B41FA5}">
                      <a16:colId xmlns:a16="http://schemas.microsoft.com/office/drawing/2014/main" val="4126492465"/>
                    </a:ext>
                  </a:extLst>
                </a:gridCol>
              </a:tblGrid>
              <a:tr h="289848">
                <a:tc>
                  <a:txBody>
                    <a:bodyPr/>
                    <a:lstStyle/>
                    <a:p>
                      <a:pPr algn="ctr" fontAlgn="b">
                        <a:lnSpc>
                          <a:spcPct val="100000"/>
                        </a:lnSpc>
                      </a:pPr>
                      <a:r>
                        <a:rPr lang="es-PE" sz="2000" b="1" u="none" strike="noStrike" dirty="0">
                          <a:solidFill>
                            <a:srgbClr val="FF0000"/>
                          </a:solidFill>
                          <a:effectLst/>
                        </a:rPr>
                        <a:t>3</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527553154"/>
                  </a:ext>
                </a:extLst>
              </a:tr>
              <a:tr h="289848">
                <a:tc>
                  <a:txBody>
                    <a:bodyPr/>
                    <a:lstStyle/>
                    <a:p>
                      <a:pPr algn="ctr" fontAlgn="b">
                        <a:lnSpc>
                          <a:spcPct val="100000"/>
                        </a:lnSpc>
                      </a:pPr>
                      <a:r>
                        <a:rPr lang="es-PE" sz="2000" b="1" u="none" strike="noStrike" dirty="0">
                          <a:solidFill>
                            <a:srgbClr val="FF0000"/>
                          </a:solidFill>
                          <a:effectLst/>
                        </a:rPr>
                        <a:t>5</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724153338"/>
                  </a:ext>
                </a:extLst>
              </a:tr>
              <a:tr h="289848">
                <a:tc>
                  <a:txBody>
                    <a:bodyPr/>
                    <a:lstStyle/>
                    <a:p>
                      <a:pPr algn="ctr" fontAlgn="b">
                        <a:lnSpc>
                          <a:spcPct val="100000"/>
                        </a:lnSpc>
                      </a:pPr>
                      <a:r>
                        <a:rPr lang="es-PE" sz="2000" b="1" u="none" strike="noStrike" dirty="0">
                          <a:solidFill>
                            <a:srgbClr val="FF0000"/>
                          </a:solidFill>
                          <a:effectLst/>
                        </a:rPr>
                        <a:t>2</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2043931033"/>
                  </a:ext>
                </a:extLst>
              </a:tr>
              <a:tr h="289848">
                <a:tc>
                  <a:txBody>
                    <a:bodyPr/>
                    <a:lstStyle/>
                    <a:p>
                      <a:pPr algn="ctr" fontAlgn="b">
                        <a:lnSpc>
                          <a:spcPct val="100000"/>
                        </a:lnSpc>
                      </a:pPr>
                      <a:r>
                        <a:rPr lang="es-PE" sz="2000" b="1" u="none" strike="noStrike" dirty="0">
                          <a:solidFill>
                            <a:srgbClr val="FF0000"/>
                          </a:solidFill>
                          <a:effectLst/>
                        </a:rPr>
                        <a:t>5</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58849624"/>
                  </a:ext>
                </a:extLst>
              </a:tr>
              <a:tr h="289848">
                <a:tc>
                  <a:txBody>
                    <a:bodyPr/>
                    <a:lstStyle/>
                    <a:p>
                      <a:pPr algn="ctr" fontAlgn="b">
                        <a:lnSpc>
                          <a:spcPct val="100000"/>
                        </a:lnSpc>
                      </a:pPr>
                      <a:r>
                        <a:rPr lang="es-PE" sz="2000" b="1" u="none" strike="noStrike" dirty="0">
                          <a:solidFill>
                            <a:srgbClr val="FF0000"/>
                          </a:solidFill>
                          <a:effectLst/>
                        </a:rPr>
                        <a:t>4</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2935710262"/>
                  </a:ext>
                </a:extLst>
              </a:tr>
            </a:tbl>
          </a:graphicData>
        </a:graphic>
      </p:graphicFrame>
      <p:graphicFrame>
        <p:nvGraphicFramePr>
          <p:cNvPr id="9" name="Tabla 8">
            <a:extLst>
              <a:ext uri="{FF2B5EF4-FFF2-40B4-BE49-F238E27FC236}">
                <a16:creationId xmlns:a16="http://schemas.microsoft.com/office/drawing/2014/main" id="{178CE6E6-411B-4A5D-B2F5-5F5FB91954C2}"/>
              </a:ext>
            </a:extLst>
          </p:cNvPr>
          <p:cNvGraphicFramePr>
            <a:graphicFrameLocks noGrp="1"/>
          </p:cNvGraphicFramePr>
          <p:nvPr>
            <p:extLst>
              <p:ext uri="{D42A27DB-BD31-4B8C-83A1-F6EECF244321}">
                <p14:modId xmlns:p14="http://schemas.microsoft.com/office/powerpoint/2010/main" val="2577047567"/>
              </p:ext>
            </p:extLst>
          </p:nvPr>
        </p:nvGraphicFramePr>
        <p:xfrm>
          <a:off x="10179139" y="1737777"/>
          <a:ext cx="1905000" cy="1571625"/>
        </p:xfrm>
        <a:graphic>
          <a:graphicData uri="http://schemas.openxmlformats.org/drawingml/2006/table">
            <a:tbl>
              <a:tblPr>
                <a:tableStyleId>{5C22544A-7EE6-4342-B048-85BDC9FD1C3A}</a:tableStyleId>
              </a:tblPr>
              <a:tblGrid>
                <a:gridCol w="381000">
                  <a:extLst>
                    <a:ext uri="{9D8B030D-6E8A-4147-A177-3AD203B41FA5}">
                      <a16:colId xmlns:a16="http://schemas.microsoft.com/office/drawing/2014/main" val="1900622454"/>
                    </a:ext>
                  </a:extLst>
                </a:gridCol>
                <a:gridCol w="381000">
                  <a:extLst>
                    <a:ext uri="{9D8B030D-6E8A-4147-A177-3AD203B41FA5}">
                      <a16:colId xmlns:a16="http://schemas.microsoft.com/office/drawing/2014/main" val="2547183938"/>
                    </a:ext>
                  </a:extLst>
                </a:gridCol>
                <a:gridCol w="381000">
                  <a:extLst>
                    <a:ext uri="{9D8B030D-6E8A-4147-A177-3AD203B41FA5}">
                      <a16:colId xmlns:a16="http://schemas.microsoft.com/office/drawing/2014/main" val="3591311864"/>
                    </a:ext>
                  </a:extLst>
                </a:gridCol>
                <a:gridCol w="381000">
                  <a:extLst>
                    <a:ext uri="{9D8B030D-6E8A-4147-A177-3AD203B41FA5}">
                      <a16:colId xmlns:a16="http://schemas.microsoft.com/office/drawing/2014/main" val="2001863770"/>
                    </a:ext>
                  </a:extLst>
                </a:gridCol>
                <a:gridCol w="381000">
                  <a:extLst>
                    <a:ext uri="{9D8B030D-6E8A-4147-A177-3AD203B41FA5}">
                      <a16:colId xmlns:a16="http://schemas.microsoft.com/office/drawing/2014/main" val="105026371"/>
                    </a:ext>
                  </a:extLst>
                </a:gridCol>
              </a:tblGrid>
              <a:tr h="295275">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2</a:t>
                      </a:r>
                    </a:p>
                  </a:txBody>
                  <a:tcPr marL="9525" marR="9525" marT="9525" marB="0" anchor="b">
                    <a:solidFill>
                      <a:srgbClr val="FFFF00"/>
                    </a:solidFill>
                  </a:tcPr>
                </a:tc>
                <a:extLst>
                  <a:ext uri="{0D108BD9-81ED-4DB2-BD59-A6C34878D82A}">
                    <a16:rowId xmlns:a16="http://schemas.microsoft.com/office/drawing/2014/main" val="3654046141"/>
                  </a:ext>
                </a:extLst>
              </a:tr>
              <a:tr h="295275">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7</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4</a:t>
                      </a:r>
                    </a:p>
                  </a:txBody>
                  <a:tcPr marL="9525" marR="9525" marT="9525" marB="0" anchor="b">
                    <a:solidFill>
                      <a:srgbClr val="FFFF00"/>
                    </a:solidFill>
                  </a:tcPr>
                </a:tc>
                <a:extLst>
                  <a:ext uri="{0D108BD9-81ED-4DB2-BD59-A6C34878D82A}">
                    <a16:rowId xmlns:a16="http://schemas.microsoft.com/office/drawing/2014/main" val="1899293115"/>
                  </a:ext>
                </a:extLst>
              </a:tr>
              <a:tr h="295275">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6</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4</a:t>
                      </a:r>
                    </a:p>
                  </a:txBody>
                  <a:tcPr marL="9525" marR="9525" marT="9525" marB="0" anchor="b">
                    <a:solidFill>
                      <a:srgbClr val="FFFF00"/>
                    </a:solidFill>
                  </a:tcPr>
                </a:tc>
                <a:extLst>
                  <a:ext uri="{0D108BD9-81ED-4DB2-BD59-A6C34878D82A}">
                    <a16:rowId xmlns:a16="http://schemas.microsoft.com/office/drawing/2014/main" val="3106603850"/>
                  </a:ext>
                </a:extLst>
              </a:tr>
              <a:tr h="295275">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5</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2</a:t>
                      </a:r>
                    </a:p>
                  </a:txBody>
                  <a:tcPr marL="9525" marR="9525" marT="9525" marB="0" anchor="b">
                    <a:solidFill>
                      <a:srgbClr val="FFFF00"/>
                    </a:solidFill>
                  </a:tcPr>
                </a:tc>
                <a:extLst>
                  <a:ext uri="{0D108BD9-81ED-4DB2-BD59-A6C34878D82A}">
                    <a16:rowId xmlns:a16="http://schemas.microsoft.com/office/drawing/2014/main" val="807147523"/>
                  </a:ext>
                </a:extLst>
              </a:tr>
              <a:tr h="295275">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3</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7</a:t>
                      </a:r>
                    </a:p>
                  </a:txBody>
                  <a:tcPr marL="9525" marR="9525" marT="9525" marB="0" anchor="b">
                    <a:solidFill>
                      <a:srgbClr val="FFFF00"/>
                    </a:solidFill>
                  </a:tcPr>
                </a:tc>
                <a:extLst>
                  <a:ext uri="{0D108BD9-81ED-4DB2-BD59-A6C34878D82A}">
                    <a16:rowId xmlns:a16="http://schemas.microsoft.com/office/drawing/2014/main" val="104841741"/>
                  </a:ext>
                </a:extLst>
              </a:tr>
            </a:tbl>
          </a:graphicData>
        </a:graphic>
      </p:graphicFrame>
      <p:sp>
        <p:nvSpPr>
          <p:cNvPr id="11" name="Rectángulo 10">
            <a:extLst>
              <a:ext uri="{FF2B5EF4-FFF2-40B4-BE49-F238E27FC236}">
                <a16:creationId xmlns:a16="http://schemas.microsoft.com/office/drawing/2014/main" id="{AB6DCED4-A327-45F4-BDCB-2A0C5AE821A8}"/>
              </a:ext>
            </a:extLst>
          </p:cNvPr>
          <p:cNvSpPr/>
          <p:nvPr/>
        </p:nvSpPr>
        <p:spPr>
          <a:xfrm>
            <a:off x="10124717" y="3238233"/>
            <a:ext cx="1955665" cy="400110"/>
          </a:xfrm>
          <a:prstGeom prst="rect">
            <a:avLst/>
          </a:prstGeom>
        </p:spPr>
        <p:txBody>
          <a:bodyPr wrap="square">
            <a:spAutoFit/>
          </a:bodyPr>
          <a:lstStyle/>
          <a:p>
            <a:r>
              <a:rPr lang="es-PE" sz="2000" dirty="0">
                <a:solidFill>
                  <a:srgbClr val="FF0000"/>
                </a:solidFill>
                <a:latin typeface="Arial Narrow" panose="020B0606020202030204" pitchFamily="34" charset="0"/>
              </a:rPr>
              <a:t>  </a:t>
            </a:r>
            <a:r>
              <a:rPr lang="es-PE" sz="2000" b="1" dirty="0">
                <a:solidFill>
                  <a:srgbClr val="FF0000"/>
                </a:solidFill>
              </a:rPr>
              <a:t>0    0     1    0    2 </a:t>
            </a:r>
          </a:p>
        </p:txBody>
      </p:sp>
      <p:graphicFrame>
        <p:nvGraphicFramePr>
          <p:cNvPr id="12" name="Tabla 11">
            <a:extLst>
              <a:ext uri="{FF2B5EF4-FFF2-40B4-BE49-F238E27FC236}">
                <a16:creationId xmlns:a16="http://schemas.microsoft.com/office/drawing/2014/main" id="{663DAF2A-A76F-400A-9552-4C7301E90CF9}"/>
              </a:ext>
            </a:extLst>
          </p:cNvPr>
          <p:cNvGraphicFramePr>
            <a:graphicFrameLocks noGrp="1"/>
          </p:cNvGraphicFramePr>
          <p:nvPr>
            <p:extLst>
              <p:ext uri="{D42A27DB-BD31-4B8C-83A1-F6EECF244321}">
                <p14:modId xmlns:p14="http://schemas.microsoft.com/office/powerpoint/2010/main" val="365266793"/>
              </p:ext>
            </p:extLst>
          </p:nvPr>
        </p:nvGraphicFramePr>
        <p:xfrm>
          <a:off x="7151297" y="3664330"/>
          <a:ext cx="2525945" cy="1571625"/>
        </p:xfrm>
        <a:graphic>
          <a:graphicData uri="http://schemas.openxmlformats.org/drawingml/2006/table">
            <a:tbl>
              <a:tblPr>
                <a:tableStyleId>{5C22544A-7EE6-4342-B048-85BDC9FD1C3A}</a:tableStyleId>
              </a:tblPr>
              <a:tblGrid>
                <a:gridCol w="505189">
                  <a:extLst>
                    <a:ext uri="{9D8B030D-6E8A-4147-A177-3AD203B41FA5}">
                      <a16:colId xmlns:a16="http://schemas.microsoft.com/office/drawing/2014/main" val="2020951169"/>
                    </a:ext>
                  </a:extLst>
                </a:gridCol>
                <a:gridCol w="505189">
                  <a:extLst>
                    <a:ext uri="{9D8B030D-6E8A-4147-A177-3AD203B41FA5}">
                      <a16:colId xmlns:a16="http://schemas.microsoft.com/office/drawing/2014/main" val="3809074069"/>
                    </a:ext>
                  </a:extLst>
                </a:gridCol>
                <a:gridCol w="505189">
                  <a:extLst>
                    <a:ext uri="{9D8B030D-6E8A-4147-A177-3AD203B41FA5}">
                      <a16:colId xmlns:a16="http://schemas.microsoft.com/office/drawing/2014/main" val="2267256506"/>
                    </a:ext>
                  </a:extLst>
                </a:gridCol>
                <a:gridCol w="505189">
                  <a:extLst>
                    <a:ext uri="{9D8B030D-6E8A-4147-A177-3AD203B41FA5}">
                      <a16:colId xmlns:a16="http://schemas.microsoft.com/office/drawing/2014/main" val="3609452411"/>
                    </a:ext>
                  </a:extLst>
                </a:gridCol>
                <a:gridCol w="505189">
                  <a:extLst>
                    <a:ext uri="{9D8B030D-6E8A-4147-A177-3AD203B41FA5}">
                      <a16:colId xmlns:a16="http://schemas.microsoft.com/office/drawing/2014/main" val="972140215"/>
                    </a:ext>
                  </a:extLst>
                </a:gridCol>
              </a:tblGrid>
              <a:tr h="308814">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3</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extLst>
                  <a:ext uri="{0D108BD9-81ED-4DB2-BD59-A6C34878D82A}">
                    <a16:rowId xmlns:a16="http://schemas.microsoft.com/office/drawing/2014/main" val="1214358166"/>
                  </a:ext>
                </a:extLst>
              </a:tr>
              <a:tr h="308814">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6</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rgbClr val="FFFF00"/>
                    </a:solidFill>
                  </a:tcPr>
                </a:tc>
                <a:extLst>
                  <a:ext uri="{0D108BD9-81ED-4DB2-BD59-A6C34878D82A}">
                    <a16:rowId xmlns:a16="http://schemas.microsoft.com/office/drawing/2014/main" val="770786110"/>
                  </a:ext>
                </a:extLst>
              </a:tr>
              <a:tr h="308814">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6</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rgbClr val="FFFF00"/>
                    </a:solidFill>
                  </a:tcPr>
                </a:tc>
                <a:extLst>
                  <a:ext uri="{0D108BD9-81ED-4DB2-BD59-A6C34878D82A}">
                    <a16:rowId xmlns:a16="http://schemas.microsoft.com/office/drawing/2014/main" val="3089096124"/>
                  </a:ext>
                </a:extLst>
              </a:tr>
              <a:tr h="308814">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extLst>
                  <a:ext uri="{0D108BD9-81ED-4DB2-BD59-A6C34878D82A}">
                    <a16:rowId xmlns:a16="http://schemas.microsoft.com/office/drawing/2014/main" val="675532447"/>
                  </a:ext>
                </a:extLst>
              </a:tr>
              <a:tr h="308814">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3</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5</a:t>
                      </a:r>
                    </a:p>
                  </a:txBody>
                  <a:tcPr marL="9525" marR="9525" marT="9525" marB="0" anchor="b">
                    <a:solidFill>
                      <a:srgbClr val="FFFF00"/>
                    </a:solidFill>
                  </a:tcPr>
                </a:tc>
                <a:extLst>
                  <a:ext uri="{0D108BD9-81ED-4DB2-BD59-A6C34878D82A}">
                    <a16:rowId xmlns:a16="http://schemas.microsoft.com/office/drawing/2014/main" val="2430558272"/>
                  </a:ext>
                </a:extLst>
              </a:tr>
            </a:tbl>
          </a:graphicData>
        </a:graphic>
      </p:graphicFrame>
      <p:sp>
        <p:nvSpPr>
          <p:cNvPr id="15" name="1 Título">
            <a:extLst>
              <a:ext uri="{FF2B5EF4-FFF2-40B4-BE49-F238E27FC236}">
                <a16:creationId xmlns:a16="http://schemas.microsoft.com/office/drawing/2014/main" id="{A1816F5E-4E3E-4D84-B38D-0E8380F1E8AF}"/>
              </a:ext>
            </a:extLst>
          </p:cNvPr>
          <p:cNvSpPr txBox="1">
            <a:spLocks/>
          </p:cNvSpPr>
          <p:nvPr/>
        </p:nvSpPr>
        <p:spPr>
          <a:xfrm>
            <a:off x="6096000" y="304507"/>
            <a:ext cx="6096000" cy="490066"/>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Problema 6</a:t>
            </a:r>
            <a:endParaRPr lang="es-PE" sz="3200" dirty="0">
              <a:solidFill>
                <a:schemeClr val="bg1"/>
              </a:solidFill>
              <a:latin typeface="Bauhaus 93" pitchFamily="82" charset="0"/>
              <a:ea typeface="+mn-ea"/>
              <a:cs typeface="+mn-cs"/>
            </a:endParaRPr>
          </a:p>
        </p:txBody>
      </p:sp>
    </p:spTree>
    <p:extLst>
      <p:ext uri="{BB962C8B-B14F-4D97-AF65-F5344CB8AC3E}">
        <p14:creationId xmlns:p14="http://schemas.microsoft.com/office/powerpoint/2010/main" val="21302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a 13">
            <a:extLst>
              <a:ext uri="{FF2B5EF4-FFF2-40B4-BE49-F238E27FC236}">
                <a16:creationId xmlns:a16="http://schemas.microsoft.com/office/drawing/2014/main" id="{3AE8149F-DE23-4526-9B03-5628D3D103DD}"/>
              </a:ext>
            </a:extLst>
          </p:cNvPr>
          <p:cNvGraphicFramePr>
            <a:graphicFrameLocks noGrp="1"/>
          </p:cNvGraphicFramePr>
          <p:nvPr>
            <p:extLst>
              <p:ext uri="{D42A27DB-BD31-4B8C-83A1-F6EECF244321}">
                <p14:modId xmlns:p14="http://schemas.microsoft.com/office/powerpoint/2010/main" val="2813697190"/>
              </p:ext>
            </p:extLst>
          </p:nvPr>
        </p:nvGraphicFramePr>
        <p:xfrm>
          <a:off x="5869058" y="5080376"/>
          <a:ext cx="5724842" cy="1811161"/>
        </p:xfrm>
        <a:graphic>
          <a:graphicData uri="http://schemas.openxmlformats.org/drawingml/2006/table">
            <a:tbl>
              <a:tblPr>
                <a:tableStyleId>{5C22544A-7EE6-4342-B048-85BDC9FD1C3A}</a:tableStyleId>
              </a:tblPr>
              <a:tblGrid>
                <a:gridCol w="260220">
                  <a:extLst>
                    <a:ext uri="{9D8B030D-6E8A-4147-A177-3AD203B41FA5}">
                      <a16:colId xmlns:a16="http://schemas.microsoft.com/office/drawing/2014/main" val="3770269509"/>
                    </a:ext>
                  </a:extLst>
                </a:gridCol>
                <a:gridCol w="260220">
                  <a:extLst>
                    <a:ext uri="{9D8B030D-6E8A-4147-A177-3AD203B41FA5}">
                      <a16:colId xmlns:a16="http://schemas.microsoft.com/office/drawing/2014/main" val="2773337223"/>
                    </a:ext>
                  </a:extLst>
                </a:gridCol>
                <a:gridCol w="260220">
                  <a:extLst>
                    <a:ext uri="{9D8B030D-6E8A-4147-A177-3AD203B41FA5}">
                      <a16:colId xmlns:a16="http://schemas.microsoft.com/office/drawing/2014/main" val="3213656595"/>
                    </a:ext>
                  </a:extLst>
                </a:gridCol>
                <a:gridCol w="260220">
                  <a:extLst>
                    <a:ext uri="{9D8B030D-6E8A-4147-A177-3AD203B41FA5}">
                      <a16:colId xmlns:a16="http://schemas.microsoft.com/office/drawing/2014/main" val="2533358079"/>
                    </a:ext>
                  </a:extLst>
                </a:gridCol>
                <a:gridCol w="260220">
                  <a:extLst>
                    <a:ext uri="{9D8B030D-6E8A-4147-A177-3AD203B41FA5}">
                      <a16:colId xmlns:a16="http://schemas.microsoft.com/office/drawing/2014/main" val="1800986370"/>
                    </a:ext>
                  </a:extLst>
                </a:gridCol>
                <a:gridCol w="260220">
                  <a:extLst>
                    <a:ext uri="{9D8B030D-6E8A-4147-A177-3AD203B41FA5}">
                      <a16:colId xmlns:a16="http://schemas.microsoft.com/office/drawing/2014/main" val="901089796"/>
                    </a:ext>
                  </a:extLst>
                </a:gridCol>
                <a:gridCol w="260220">
                  <a:extLst>
                    <a:ext uri="{9D8B030D-6E8A-4147-A177-3AD203B41FA5}">
                      <a16:colId xmlns:a16="http://schemas.microsoft.com/office/drawing/2014/main" val="3699239969"/>
                    </a:ext>
                  </a:extLst>
                </a:gridCol>
                <a:gridCol w="260220">
                  <a:extLst>
                    <a:ext uri="{9D8B030D-6E8A-4147-A177-3AD203B41FA5}">
                      <a16:colId xmlns:a16="http://schemas.microsoft.com/office/drawing/2014/main" val="3705809381"/>
                    </a:ext>
                  </a:extLst>
                </a:gridCol>
                <a:gridCol w="260220">
                  <a:extLst>
                    <a:ext uri="{9D8B030D-6E8A-4147-A177-3AD203B41FA5}">
                      <a16:colId xmlns:a16="http://schemas.microsoft.com/office/drawing/2014/main" val="3109609364"/>
                    </a:ext>
                  </a:extLst>
                </a:gridCol>
                <a:gridCol w="260220">
                  <a:extLst>
                    <a:ext uri="{9D8B030D-6E8A-4147-A177-3AD203B41FA5}">
                      <a16:colId xmlns:a16="http://schemas.microsoft.com/office/drawing/2014/main" val="1167148638"/>
                    </a:ext>
                  </a:extLst>
                </a:gridCol>
                <a:gridCol w="1301101">
                  <a:extLst>
                    <a:ext uri="{9D8B030D-6E8A-4147-A177-3AD203B41FA5}">
                      <a16:colId xmlns:a16="http://schemas.microsoft.com/office/drawing/2014/main" val="1354503024"/>
                    </a:ext>
                  </a:extLst>
                </a:gridCol>
                <a:gridCol w="260220">
                  <a:extLst>
                    <a:ext uri="{9D8B030D-6E8A-4147-A177-3AD203B41FA5}">
                      <a16:colId xmlns:a16="http://schemas.microsoft.com/office/drawing/2014/main" val="3799795847"/>
                    </a:ext>
                  </a:extLst>
                </a:gridCol>
                <a:gridCol w="1040881">
                  <a:extLst>
                    <a:ext uri="{9D8B030D-6E8A-4147-A177-3AD203B41FA5}">
                      <a16:colId xmlns:a16="http://schemas.microsoft.com/office/drawing/2014/main" val="1707583669"/>
                    </a:ext>
                  </a:extLst>
                </a:gridCol>
                <a:gridCol w="260220">
                  <a:extLst>
                    <a:ext uri="{9D8B030D-6E8A-4147-A177-3AD203B41FA5}">
                      <a16:colId xmlns:a16="http://schemas.microsoft.com/office/drawing/2014/main" val="885106049"/>
                    </a:ext>
                  </a:extLst>
                </a:gridCol>
                <a:gridCol w="260220">
                  <a:extLst>
                    <a:ext uri="{9D8B030D-6E8A-4147-A177-3AD203B41FA5}">
                      <a16:colId xmlns:a16="http://schemas.microsoft.com/office/drawing/2014/main" val="1250990620"/>
                    </a:ext>
                  </a:extLst>
                </a:gridCol>
              </a:tblGrid>
              <a:tr h="391936">
                <a:tc gridSpan="6">
                  <a:txBody>
                    <a:bodyPr/>
                    <a:lstStyle/>
                    <a:p>
                      <a:pPr algn="ctr" fontAlgn="b"/>
                      <a:r>
                        <a:rPr lang="es-PE" sz="1800" b="1" u="none" strike="noStrike" dirty="0">
                          <a:effectLst/>
                        </a:rPr>
                        <a:t>Al Operador</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1</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gridSpan="4">
                  <a:txBody>
                    <a:bodyPr/>
                    <a:lstStyle/>
                    <a:p>
                      <a:pPr algn="ctr" fontAlgn="b"/>
                      <a:r>
                        <a:rPr lang="it-IT" sz="1800" b="1" u="none" strike="noStrike" dirty="0">
                          <a:effectLst/>
                        </a:rPr>
                        <a:t>Se le asigna el cargo</a:t>
                      </a:r>
                      <a:endParaRPr lang="it-IT"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5</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El costo es</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 </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5</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2692366946"/>
                  </a:ext>
                </a:extLst>
              </a:tr>
              <a:tr h="190500">
                <a:tc gridSpan="6">
                  <a:txBody>
                    <a:bodyPr/>
                    <a:lstStyle/>
                    <a:p>
                      <a:pPr algn="ctr" fontAlgn="b"/>
                      <a:r>
                        <a:rPr lang="es-PE" sz="1800" b="1" u="none" strike="noStrike" dirty="0">
                          <a:effectLst/>
                        </a:rPr>
                        <a:t>Al Operador</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2</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gridSpan="4">
                  <a:txBody>
                    <a:bodyPr/>
                    <a:lstStyle/>
                    <a:p>
                      <a:pPr algn="ctr" fontAlgn="b"/>
                      <a:r>
                        <a:rPr lang="it-IT" sz="1800" b="1" u="none" strike="noStrike" dirty="0">
                          <a:effectLst/>
                        </a:rPr>
                        <a:t>Se le asigna el cargo</a:t>
                      </a:r>
                      <a:endParaRPr lang="it-IT"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2</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El costo es</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a:effectLst/>
                        </a:rPr>
                        <a:t> </a:t>
                      </a:r>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6</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3096104512"/>
                  </a:ext>
                </a:extLst>
              </a:tr>
              <a:tr h="190500">
                <a:tc gridSpan="6">
                  <a:txBody>
                    <a:bodyPr/>
                    <a:lstStyle/>
                    <a:p>
                      <a:pPr algn="ctr" fontAlgn="b"/>
                      <a:r>
                        <a:rPr lang="es-PE" sz="1800" b="1" u="none" strike="noStrike" dirty="0">
                          <a:effectLst/>
                        </a:rPr>
                        <a:t>Al Operador</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3</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gridSpan="4">
                  <a:txBody>
                    <a:bodyPr/>
                    <a:lstStyle/>
                    <a:p>
                      <a:pPr algn="ctr" fontAlgn="b"/>
                      <a:r>
                        <a:rPr lang="it-IT" sz="1800" b="1" u="none" strike="noStrike" dirty="0">
                          <a:effectLst/>
                        </a:rPr>
                        <a:t>Se le asigna el cargo</a:t>
                      </a:r>
                      <a:endParaRPr lang="it-IT"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3</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El costo es</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3</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4057905772"/>
                  </a:ext>
                </a:extLst>
              </a:tr>
              <a:tr h="190500">
                <a:tc gridSpan="6">
                  <a:txBody>
                    <a:bodyPr/>
                    <a:lstStyle/>
                    <a:p>
                      <a:pPr algn="ctr" fontAlgn="b"/>
                      <a:r>
                        <a:rPr lang="es-PE" sz="1800" b="1" u="none" strike="noStrike" dirty="0">
                          <a:effectLst/>
                        </a:rPr>
                        <a:t>Al Operador</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4</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gridSpan="4">
                  <a:txBody>
                    <a:bodyPr/>
                    <a:lstStyle/>
                    <a:p>
                      <a:pPr algn="ctr" fontAlgn="b"/>
                      <a:r>
                        <a:rPr lang="it-IT" sz="1800" b="1" u="none" strike="noStrike" dirty="0">
                          <a:effectLst/>
                        </a:rPr>
                        <a:t>Se le asigna el cargo</a:t>
                      </a:r>
                      <a:endParaRPr lang="it-IT"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4</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El costo es</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a:effectLst/>
                        </a:rPr>
                        <a:t> </a:t>
                      </a:r>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5</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3166255971"/>
                  </a:ext>
                </a:extLst>
              </a:tr>
              <a:tr h="190500">
                <a:tc gridSpan="6">
                  <a:txBody>
                    <a:bodyPr/>
                    <a:lstStyle/>
                    <a:p>
                      <a:pPr algn="ctr" fontAlgn="b"/>
                      <a:r>
                        <a:rPr lang="es-PE" sz="1800" b="1" u="none" strike="noStrike" dirty="0">
                          <a:effectLst/>
                        </a:rPr>
                        <a:t>Al Operador</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5</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gridSpan="4">
                  <a:txBody>
                    <a:bodyPr/>
                    <a:lstStyle/>
                    <a:p>
                      <a:pPr algn="ctr" fontAlgn="b"/>
                      <a:r>
                        <a:rPr lang="it-IT" sz="1800" b="1" u="none" strike="noStrike" dirty="0">
                          <a:effectLst/>
                        </a:rPr>
                        <a:t>Se le asigna el cargo</a:t>
                      </a:r>
                      <a:endParaRPr lang="it-IT"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1</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El costo es</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a:effectLst/>
                        </a:rPr>
                        <a:t> </a:t>
                      </a:r>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r>
                        <a:rPr lang="es-PE" sz="1800" b="1" u="none" strike="noStrike" dirty="0">
                          <a:effectLst/>
                        </a:rPr>
                        <a:t>4</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1124620430"/>
                  </a:ext>
                </a:extLst>
              </a:tr>
              <a:tr h="190500">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a:txBody>
                    <a:bodyPr/>
                    <a:lstStyle/>
                    <a:p>
                      <a:pPr algn="ctr" fontAlgn="b"/>
                      <a:endParaRPr lang="es-PE" sz="1800" b="1" i="0" u="none" strike="noStrike">
                        <a:solidFill>
                          <a:srgbClr val="000000"/>
                        </a:solidFill>
                        <a:effectLst/>
                        <a:latin typeface="Calibri" panose="020F0502020204030204" pitchFamily="34" charset="0"/>
                      </a:endParaRPr>
                    </a:p>
                  </a:txBody>
                  <a:tcPr marL="9525" marR="9525" marT="9525" marB="0" anchor="b">
                    <a:noFill/>
                  </a:tcPr>
                </a:tc>
                <a:tc gridSpan="4">
                  <a:txBody>
                    <a:bodyPr/>
                    <a:lstStyle/>
                    <a:p>
                      <a:pPr algn="ctr" fontAlgn="b"/>
                      <a:r>
                        <a:rPr lang="es-PE" sz="1800" b="1" u="none" strike="noStrike" dirty="0">
                          <a:effectLst/>
                        </a:rPr>
                        <a:t>COSTO TOTAL</a:t>
                      </a:r>
                      <a:endParaRPr lang="es-PE" sz="1800" b="1" i="0" u="none" strike="noStrike" dirty="0">
                        <a:solidFill>
                          <a:srgbClr val="000000"/>
                        </a:solidFill>
                        <a:effectLst/>
                        <a:latin typeface="Calibri" panose="020F0502020204030204" pitchFamily="34" charset="0"/>
                      </a:endParaRPr>
                    </a:p>
                  </a:txBody>
                  <a:tcPr marL="9525" marR="9525" marT="9525" marB="0" anchor="b">
                    <a:no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800" b="1" u="none" strike="noStrike" dirty="0">
                          <a:effectLst/>
                        </a:rPr>
                        <a:t>23</a:t>
                      </a:r>
                      <a:endParaRPr lang="es-PE" sz="1800" b="1" i="0" u="none" strike="noStrike" dirty="0">
                        <a:solidFill>
                          <a:srgbClr val="FF0000"/>
                        </a:solidFill>
                        <a:effectLst/>
                        <a:latin typeface="Calibri" panose="020F0502020204030204" pitchFamily="34" charset="0"/>
                      </a:endParaRPr>
                    </a:p>
                  </a:txBody>
                  <a:tcPr marL="9525" marR="9525" marT="9525" marB="0" anchor="b">
                    <a:noFill/>
                  </a:tcPr>
                </a:tc>
                <a:extLst>
                  <a:ext uri="{0D108BD9-81ED-4DB2-BD59-A6C34878D82A}">
                    <a16:rowId xmlns:a16="http://schemas.microsoft.com/office/drawing/2014/main" val="927505998"/>
                  </a:ext>
                </a:extLst>
              </a:tr>
            </a:tbl>
          </a:graphicData>
        </a:graphic>
      </p:graphicFrame>
      <p:graphicFrame>
        <p:nvGraphicFramePr>
          <p:cNvPr id="12" name="Tabla 11">
            <a:extLst>
              <a:ext uri="{FF2B5EF4-FFF2-40B4-BE49-F238E27FC236}">
                <a16:creationId xmlns:a16="http://schemas.microsoft.com/office/drawing/2014/main" id="{663DAF2A-A76F-400A-9552-4C7301E90CF9}"/>
              </a:ext>
            </a:extLst>
          </p:cNvPr>
          <p:cNvGraphicFramePr>
            <a:graphicFrameLocks noGrp="1"/>
          </p:cNvGraphicFramePr>
          <p:nvPr>
            <p:extLst>
              <p:ext uri="{D42A27DB-BD31-4B8C-83A1-F6EECF244321}">
                <p14:modId xmlns:p14="http://schemas.microsoft.com/office/powerpoint/2010/main" val="2123676255"/>
              </p:ext>
            </p:extLst>
          </p:nvPr>
        </p:nvGraphicFramePr>
        <p:xfrm>
          <a:off x="7151297" y="3664330"/>
          <a:ext cx="2525945" cy="1571625"/>
        </p:xfrm>
        <a:graphic>
          <a:graphicData uri="http://schemas.openxmlformats.org/drawingml/2006/table">
            <a:tbl>
              <a:tblPr>
                <a:tableStyleId>{5C22544A-7EE6-4342-B048-85BDC9FD1C3A}</a:tableStyleId>
              </a:tblPr>
              <a:tblGrid>
                <a:gridCol w="505189">
                  <a:extLst>
                    <a:ext uri="{9D8B030D-6E8A-4147-A177-3AD203B41FA5}">
                      <a16:colId xmlns:a16="http://schemas.microsoft.com/office/drawing/2014/main" val="2020951169"/>
                    </a:ext>
                  </a:extLst>
                </a:gridCol>
                <a:gridCol w="505189">
                  <a:extLst>
                    <a:ext uri="{9D8B030D-6E8A-4147-A177-3AD203B41FA5}">
                      <a16:colId xmlns:a16="http://schemas.microsoft.com/office/drawing/2014/main" val="3809074069"/>
                    </a:ext>
                  </a:extLst>
                </a:gridCol>
                <a:gridCol w="505189">
                  <a:extLst>
                    <a:ext uri="{9D8B030D-6E8A-4147-A177-3AD203B41FA5}">
                      <a16:colId xmlns:a16="http://schemas.microsoft.com/office/drawing/2014/main" val="2267256506"/>
                    </a:ext>
                  </a:extLst>
                </a:gridCol>
                <a:gridCol w="505189">
                  <a:extLst>
                    <a:ext uri="{9D8B030D-6E8A-4147-A177-3AD203B41FA5}">
                      <a16:colId xmlns:a16="http://schemas.microsoft.com/office/drawing/2014/main" val="3609452411"/>
                    </a:ext>
                  </a:extLst>
                </a:gridCol>
                <a:gridCol w="505189">
                  <a:extLst>
                    <a:ext uri="{9D8B030D-6E8A-4147-A177-3AD203B41FA5}">
                      <a16:colId xmlns:a16="http://schemas.microsoft.com/office/drawing/2014/main" val="972140215"/>
                    </a:ext>
                  </a:extLst>
                </a:gridCol>
              </a:tblGrid>
              <a:tr h="295275">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3</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lumMod val="60000"/>
                        <a:lumOff val="40000"/>
                      </a:schemeClr>
                    </a:solidFill>
                  </a:tcPr>
                </a:tc>
                <a:extLst>
                  <a:ext uri="{0D108BD9-81ED-4DB2-BD59-A6C34878D82A}">
                    <a16:rowId xmlns:a16="http://schemas.microsoft.com/office/drawing/2014/main" val="1214358166"/>
                  </a:ext>
                </a:extLst>
              </a:tr>
              <a:tr h="295275">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6</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rgbClr val="FFFF00"/>
                    </a:solidFill>
                  </a:tcPr>
                </a:tc>
                <a:extLst>
                  <a:ext uri="{0D108BD9-81ED-4DB2-BD59-A6C34878D82A}">
                    <a16:rowId xmlns:a16="http://schemas.microsoft.com/office/drawing/2014/main" val="770786110"/>
                  </a:ext>
                </a:extLst>
              </a:tr>
              <a:tr h="295275">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6</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chemeClr val="accent6">
                        <a:lumMod val="60000"/>
                        <a:lumOff val="40000"/>
                      </a:schemeClr>
                    </a:solidFill>
                  </a:tcPr>
                </a:tc>
                <a:extLst>
                  <a:ext uri="{0D108BD9-81ED-4DB2-BD59-A6C34878D82A}">
                    <a16:rowId xmlns:a16="http://schemas.microsoft.com/office/drawing/2014/main" val="3089096124"/>
                  </a:ext>
                </a:extLst>
              </a:tr>
              <a:tr h="295275">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4</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1</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4</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lumMod val="60000"/>
                        <a:lumOff val="40000"/>
                      </a:schemeClr>
                    </a:solidFill>
                  </a:tcPr>
                </a:tc>
                <a:extLst>
                  <a:ext uri="{0D108BD9-81ED-4DB2-BD59-A6C34878D82A}">
                    <a16:rowId xmlns:a16="http://schemas.microsoft.com/office/drawing/2014/main" val="675532447"/>
                  </a:ext>
                </a:extLst>
              </a:tr>
              <a:tr h="295275">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lumMod val="60000"/>
                        <a:lumOff val="40000"/>
                      </a:schemeClr>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3</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5</a:t>
                      </a:r>
                    </a:p>
                  </a:txBody>
                  <a:tcPr marL="9525" marR="9525" marT="9525" marB="0" anchor="b">
                    <a:solidFill>
                      <a:srgbClr val="FFFF00"/>
                    </a:solidFill>
                  </a:tcPr>
                </a:tc>
                <a:extLst>
                  <a:ext uri="{0D108BD9-81ED-4DB2-BD59-A6C34878D82A}">
                    <a16:rowId xmlns:a16="http://schemas.microsoft.com/office/drawing/2014/main" val="2430558272"/>
                  </a:ext>
                </a:extLst>
              </a:tr>
            </a:tbl>
          </a:graphicData>
        </a:graphic>
      </p:graphicFrame>
      <p:graphicFrame>
        <p:nvGraphicFramePr>
          <p:cNvPr id="13" name="Tabla 12">
            <a:extLst>
              <a:ext uri="{FF2B5EF4-FFF2-40B4-BE49-F238E27FC236}">
                <a16:creationId xmlns:a16="http://schemas.microsoft.com/office/drawing/2014/main" id="{E13AD398-DD35-4196-A535-7E3164D1AEC1}"/>
              </a:ext>
            </a:extLst>
          </p:cNvPr>
          <p:cNvGraphicFramePr>
            <a:graphicFrameLocks noGrp="1"/>
          </p:cNvGraphicFramePr>
          <p:nvPr>
            <p:extLst>
              <p:ext uri="{D42A27DB-BD31-4B8C-83A1-F6EECF244321}">
                <p14:modId xmlns:p14="http://schemas.microsoft.com/office/powerpoint/2010/main" val="715646554"/>
              </p:ext>
            </p:extLst>
          </p:nvPr>
        </p:nvGraphicFramePr>
        <p:xfrm>
          <a:off x="10166261" y="3638572"/>
          <a:ext cx="1905000" cy="1571625"/>
        </p:xfrm>
        <a:graphic>
          <a:graphicData uri="http://schemas.openxmlformats.org/drawingml/2006/table">
            <a:tbl>
              <a:tblPr>
                <a:tableStyleId>{5C22544A-7EE6-4342-B048-85BDC9FD1C3A}</a:tableStyleId>
              </a:tblPr>
              <a:tblGrid>
                <a:gridCol w="381000">
                  <a:extLst>
                    <a:ext uri="{9D8B030D-6E8A-4147-A177-3AD203B41FA5}">
                      <a16:colId xmlns:a16="http://schemas.microsoft.com/office/drawing/2014/main" val="1600156720"/>
                    </a:ext>
                  </a:extLst>
                </a:gridCol>
                <a:gridCol w="381000">
                  <a:extLst>
                    <a:ext uri="{9D8B030D-6E8A-4147-A177-3AD203B41FA5}">
                      <a16:colId xmlns:a16="http://schemas.microsoft.com/office/drawing/2014/main" val="232583451"/>
                    </a:ext>
                  </a:extLst>
                </a:gridCol>
                <a:gridCol w="381000">
                  <a:extLst>
                    <a:ext uri="{9D8B030D-6E8A-4147-A177-3AD203B41FA5}">
                      <a16:colId xmlns:a16="http://schemas.microsoft.com/office/drawing/2014/main" val="1494727212"/>
                    </a:ext>
                  </a:extLst>
                </a:gridCol>
                <a:gridCol w="381000">
                  <a:extLst>
                    <a:ext uri="{9D8B030D-6E8A-4147-A177-3AD203B41FA5}">
                      <a16:colId xmlns:a16="http://schemas.microsoft.com/office/drawing/2014/main" val="3170914149"/>
                    </a:ext>
                  </a:extLst>
                </a:gridCol>
                <a:gridCol w="381000">
                  <a:extLst>
                    <a:ext uri="{9D8B030D-6E8A-4147-A177-3AD203B41FA5}">
                      <a16:colId xmlns:a16="http://schemas.microsoft.com/office/drawing/2014/main" val="663257002"/>
                    </a:ext>
                  </a:extLst>
                </a:gridCol>
              </a:tblGrid>
              <a:tr h="295275">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3</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3</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0</a:t>
                      </a:r>
                    </a:p>
                  </a:txBody>
                  <a:tcPr marL="9525" marR="9525" marT="9525" marB="0" anchor="b">
                    <a:solidFill>
                      <a:srgbClr val="FFFF00"/>
                    </a:solidFill>
                  </a:tcPr>
                </a:tc>
                <a:extLst>
                  <a:ext uri="{0D108BD9-81ED-4DB2-BD59-A6C34878D82A}">
                    <a16:rowId xmlns:a16="http://schemas.microsoft.com/office/drawing/2014/main" val="1404971389"/>
                  </a:ext>
                </a:extLst>
              </a:tr>
              <a:tr h="295275">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5</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1</a:t>
                      </a:r>
                    </a:p>
                  </a:txBody>
                  <a:tcPr marL="9525" marR="9525" marT="9525" marB="0" anchor="b">
                    <a:solidFill>
                      <a:srgbClr val="FFFF00"/>
                    </a:solidFill>
                  </a:tcPr>
                </a:tc>
                <a:extLst>
                  <a:ext uri="{0D108BD9-81ED-4DB2-BD59-A6C34878D82A}">
                    <a16:rowId xmlns:a16="http://schemas.microsoft.com/office/drawing/2014/main" val="1335380658"/>
                  </a:ext>
                </a:extLst>
              </a:tr>
              <a:tr h="295275">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6</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2</a:t>
                      </a:r>
                    </a:p>
                  </a:txBody>
                  <a:tcPr marL="9525" marR="9525" marT="9525" marB="0" anchor="b">
                    <a:solidFill>
                      <a:srgbClr val="FFFF00"/>
                    </a:solidFill>
                  </a:tcPr>
                </a:tc>
                <a:extLst>
                  <a:ext uri="{0D108BD9-81ED-4DB2-BD59-A6C34878D82A}">
                    <a16:rowId xmlns:a16="http://schemas.microsoft.com/office/drawing/2014/main" val="273602879"/>
                  </a:ext>
                </a:extLst>
              </a:tr>
              <a:tr h="295275">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5</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rgbClr val="FFFF00"/>
                    </a:solidFill>
                  </a:tcPr>
                </a:tc>
                <a:extLst>
                  <a:ext uri="{0D108BD9-81ED-4DB2-BD59-A6C34878D82A}">
                    <a16:rowId xmlns:a16="http://schemas.microsoft.com/office/drawing/2014/main" val="2795516656"/>
                  </a:ext>
                </a:extLst>
              </a:tr>
              <a:tr h="295275">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a:solidFill>
                            <a:schemeClr val="dk1"/>
                          </a:solidFill>
                          <a:effectLst/>
                          <a:latin typeface="+mn-lt"/>
                          <a:ea typeface="+mn-ea"/>
                          <a:cs typeface="+mn-cs"/>
                        </a:rPr>
                        <a:t>3</a:t>
                      </a:r>
                    </a:p>
                  </a:txBody>
                  <a:tcPr marL="9525" marR="9525" marT="9525" marB="0" anchor="b">
                    <a:solidFill>
                      <a:srgbClr val="FFFF00"/>
                    </a:solidFill>
                  </a:tcPr>
                </a:tc>
                <a:tc>
                  <a:txBody>
                    <a:bodyPr/>
                    <a:lstStyle/>
                    <a:p>
                      <a:pPr marL="0" algn="ctr" defTabSz="914400" rtl="0" eaLnBrk="1" fontAlgn="ctr" latinLnBrk="0" hangingPunct="1"/>
                      <a:r>
                        <a:rPr lang="es-PE" sz="2000" b="1" u="none" strike="noStrike" kern="1200" dirty="0">
                          <a:solidFill>
                            <a:schemeClr val="dk1"/>
                          </a:solidFill>
                          <a:effectLst/>
                          <a:latin typeface="+mn-lt"/>
                          <a:ea typeface="+mn-ea"/>
                          <a:cs typeface="+mn-cs"/>
                        </a:rPr>
                        <a:t>4</a:t>
                      </a:r>
                    </a:p>
                  </a:txBody>
                  <a:tcPr marL="9525" marR="9525" marT="9525" marB="0" anchor="b">
                    <a:solidFill>
                      <a:srgbClr val="FFFF00"/>
                    </a:solidFill>
                  </a:tcPr>
                </a:tc>
                <a:extLst>
                  <a:ext uri="{0D108BD9-81ED-4DB2-BD59-A6C34878D82A}">
                    <a16:rowId xmlns:a16="http://schemas.microsoft.com/office/drawing/2014/main" val="2998693413"/>
                  </a:ext>
                </a:extLst>
              </a:tr>
            </a:tbl>
          </a:graphicData>
        </a:graphic>
      </p:graphicFrame>
      <p:sp>
        <p:nvSpPr>
          <p:cNvPr id="15" name="1 Título">
            <a:extLst>
              <a:ext uri="{FF2B5EF4-FFF2-40B4-BE49-F238E27FC236}">
                <a16:creationId xmlns:a16="http://schemas.microsoft.com/office/drawing/2014/main" id="{A1816F5E-4E3E-4D84-B38D-0E8380F1E8AF}"/>
              </a:ext>
            </a:extLst>
          </p:cNvPr>
          <p:cNvSpPr txBox="1">
            <a:spLocks/>
          </p:cNvSpPr>
          <p:nvPr/>
        </p:nvSpPr>
        <p:spPr>
          <a:xfrm>
            <a:off x="6096000" y="304507"/>
            <a:ext cx="6096000" cy="490066"/>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Problema 6</a:t>
            </a:r>
            <a:endParaRPr lang="es-PE" sz="3200" dirty="0">
              <a:solidFill>
                <a:schemeClr val="bg1"/>
              </a:solidFill>
              <a:latin typeface="Bauhaus 93" pitchFamily="82" charset="0"/>
              <a:ea typeface="+mn-ea"/>
              <a:cs typeface="+mn-cs"/>
            </a:endParaRPr>
          </a:p>
        </p:txBody>
      </p:sp>
      <p:sp>
        <p:nvSpPr>
          <p:cNvPr id="16" name="Oval 6">
            <a:extLst>
              <a:ext uri="{FF2B5EF4-FFF2-40B4-BE49-F238E27FC236}">
                <a16:creationId xmlns:a16="http://schemas.microsoft.com/office/drawing/2014/main" id="{547C245A-D164-444A-95E2-6207B3741208}"/>
              </a:ext>
            </a:extLst>
          </p:cNvPr>
          <p:cNvSpPr>
            <a:spLocks noChangeArrowheads="1"/>
          </p:cNvSpPr>
          <p:nvPr/>
        </p:nvSpPr>
        <p:spPr bwMode="auto">
          <a:xfrm>
            <a:off x="10921675" y="4228108"/>
            <a:ext cx="361676" cy="369111"/>
          </a:xfrm>
          <a:prstGeom prst="ellipse">
            <a:avLst/>
          </a:prstGeom>
          <a:noFill/>
          <a:ln w="12700">
            <a:solidFill>
              <a:schemeClr val="tx1"/>
            </a:solidFill>
            <a:round/>
            <a:headEnd type="none" w="sm" len="sm"/>
            <a:tailEnd type="none" w="sm" len="sm"/>
          </a:ln>
        </p:spPr>
        <p:txBody>
          <a:bodyPr wrap="none" anchor="ctr"/>
          <a:lstStyle/>
          <a:p>
            <a:endParaRPr lang="es-PE" sz="2000" b="1" dirty="0"/>
          </a:p>
        </p:txBody>
      </p:sp>
      <p:sp>
        <p:nvSpPr>
          <p:cNvPr id="18" name="Oval 6">
            <a:extLst>
              <a:ext uri="{FF2B5EF4-FFF2-40B4-BE49-F238E27FC236}">
                <a16:creationId xmlns:a16="http://schemas.microsoft.com/office/drawing/2014/main" id="{9971EEF7-0274-4A1E-A9F4-5E8FA930C4A3}"/>
              </a:ext>
            </a:extLst>
          </p:cNvPr>
          <p:cNvSpPr>
            <a:spLocks noChangeArrowheads="1"/>
          </p:cNvSpPr>
          <p:nvPr/>
        </p:nvSpPr>
        <p:spPr bwMode="auto">
          <a:xfrm>
            <a:off x="10168301" y="4846830"/>
            <a:ext cx="361676" cy="369111"/>
          </a:xfrm>
          <a:prstGeom prst="ellipse">
            <a:avLst/>
          </a:prstGeom>
          <a:noFill/>
          <a:ln w="12700">
            <a:solidFill>
              <a:schemeClr val="tx1"/>
            </a:solidFill>
            <a:round/>
            <a:headEnd type="none" w="sm" len="sm"/>
            <a:tailEnd type="none" w="sm" len="sm"/>
          </a:ln>
        </p:spPr>
        <p:txBody>
          <a:bodyPr wrap="none" anchor="ctr"/>
          <a:lstStyle/>
          <a:p>
            <a:endParaRPr lang="es-PE" sz="2000" b="1" dirty="0"/>
          </a:p>
        </p:txBody>
      </p:sp>
      <p:sp>
        <p:nvSpPr>
          <p:cNvPr id="19" name="Oval 6">
            <a:extLst>
              <a:ext uri="{FF2B5EF4-FFF2-40B4-BE49-F238E27FC236}">
                <a16:creationId xmlns:a16="http://schemas.microsoft.com/office/drawing/2014/main" id="{2086327A-A63D-40EB-A1C0-E932718BDD71}"/>
              </a:ext>
            </a:extLst>
          </p:cNvPr>
          <p:cNvSpPr>
            <a:spLocks noChangeArrowheads="1"/>
          </p:cNvSpPr>
          <p:nvPr/>
        </p:nvSpPr>
        <p:spPr bwMode="auto">
          <a:xfrm>
            <a:off x="10544989" y="3929059"/>
            <a:ext cx="361676" cy="369111"/>
          </a:xfrm>
          <a:prstGeom prst="ellipse">
            <a:avLst/>
          </a:prstGeom>
          <a:noFill/>
          <a:ln w="12700">
            <a:solidFill>
              <a:schemeClr val="tx1"/>
            </a:solidFill>
            <a:round/>
            <a:headEnd type="none" w="sm" len="sm"/>
            <a:tailEnd type="none" w="sm" len="sm"/>
          </a:ln>
        </p:spPr>
        <p:txBody>
          <a:bodyPr wrap="none" anchor="ctr"/>
          <a:lstStyle/>
          <a:p>
            <a:endParaRPr lang="es-PE" sz="2000" b="1" dirty="0"/>
          </a:p>
        </p:txBody>
      </p:sp>
      <p:sp>
        <p:nvSpPr>
          <p:cNvPr id="20" name="Oval 6">
            <a:extLst>
              <a:ext uri="{FF2B5EF4-FFF2-40B4-BE49-F238E27FC236}">
                <a16:creationId xmlns:a16="http://schemas.microsoft.com/office/drawing/2014/main" id="{935E29E9-A714-4966-8317-4C3357B54B1D}"/>
              </a:ext>
            </a:extLst>
          </p:cNvPr>
          <p:cNvSpPr>
            <a:spLocks noChangeArrowheads="1"/>
          </p:cNvSpPr>
          <p:nvPr/>
        </p:nvSpPr>
        <p:spPr bwMode="auto">
          <a:xfrm>
            <a:off x="11672173" y="3624258"/>
            <a:ext cx="361676" cy="369111"/>
          </a:xfrm>
          <a:prstGeom prst="ellipse">
            <a:avLst/>
          </a:prstGeom>
          <a:noFill/>
          <a:ln w="12700">
            <a:solidFill>
              <a:schemeClr val="tx1"/>
            </a:solidFill>
            <a:round/>
            <a:headEnd type="none" w="sm" len="sm"/>
            <a:tailEnd type="none" w="sm" len="sm"/>
          </a:ln>
        </p:spPr>
        <p:txBody>
          <a:bodyPr wrap="none" anchor="ctr"/>
          <a:lstStyle/>
          <a:p>
            <a:endParaRPr lang="es-PE" sz="2000" b="1" dirty="0"/>
          </a:p>
        </p:txBody>
      </p:sp>
      <p:sp>
        <p:nvSpPr>
          <p:cNvPr id="21" name="Oval 6">
            <a:extLst>
              <a:ext uri="{FF2B5EF4-FFF2-40B4-BE49-F238E27FC236}">
                <a16:creationId xmlns:a16="http://schemas.microsoft.com/office/drawing/2014/main" id="{26E3566A-E193-4654-8AFA-B812193BC814}"/>
              </a:ext>
            </a:extLst>
          </p:cNvPr>
          <p:cNvSpPr>
            <a:spLocks noChangeArrowheads="1"/>
          </p:cNvSpPr>
          <p:nvPr/>
        </p:nvSpPr>
        <p:spPr bwMode="auto">
          <a:xfrm>
            <a:off x="11306989" y="4536279"/>
            <a:ext cx="361676" cy="369111"/>
          </a:xfrm>
          <a:prstGeom prst="ellipse">
            <a:avLst/>
          </a:prstGeom>
          <a:noFill/>
          <a:ln w="12700">
            <a:solidFill>
              <a:schemeClr val="tx1"/>
            </a:solidFill>
            <a:round/>
            <a:headEnd type="none" w="sm" len="sm"/>
            <a:tailEnd type="none" w="sm" len="sm"/>
          </a:ln>
        </p:spPr>
        <p:txBody>
          <a:bodyPr wrap="none" anchor="ctr"/>
          <a:lstStyle/>
          <a:p>
            <a:endParaRPr lang="es-PE" sz="2000" b="1" dirty="0"/>
          </a:p>
        </p:txBody>
      </p:sp>
      <p:sp>
        <p:nvSpPr>
          <p:cNvPr id="4" name="CuadroTexto 3">
            <a:extLst>
              <a:ext uri="{FF2B5EF4-FFF2-40B4-BE49-F238E27FC236}">
                <a16:creationId xmlns:a16="http://schemas.microsoft.com/office/drawing/2014/main" id="{AFCD2A1C-E0D4-4490-3085-D8F9D2AAC19A}"/>
              </a:ext>
            </a:extLst>
          </p:cNvPr>
          <p:cNvSpPr txBox="1"/>
          <p:nvPr/>
        </p:nvSpPr>
        <p:spPr>
          <a:xfrm>
            <a:off x="307790" y="1225986"/>
            <a:ext cx="5520906" cy="1323439"/>
          </a:xfrm>
          <a:prstGeom prst="rect">
            <a:avLst/>
          </a:prstGeom>
          <a:noFill/>
        </p:spPr>
        <p:txBody>
          <a:bodyPr wrap="square" rtlCol="0">
            <a:spAutoFit/>
          </a:bodyPr>
          <a:lstStyle/>
          <a:p>
            <a:r>
              <a:rPr lang="es-ES" sz="2000" b="1" u="sng" dirty="0">
                <a:latin typeface="Arial Narrow" panose="020B0606020202030204" pitchFamily="34" charset="0"/>
              </a:rPr>
              <a:t>Ejemplo:</a:t>
            </a:r>
          </a:p>
          <a:p>
            <a:r>
              <a:rPr lang="es-ES" sz="2000" b="1" dirty="0">
                <a:latin typeface="Arial Narrow" panose="020B0606020202030204" pitchFamily="34" charset="0"/>
              </a:rPr>
              <a:t>Existen 5 operarios A, B, C, D y E para llevar a 5 cargos F, G, H, I y J. La matriz de costos que caracteriza al problema de asignación es la siguiente:</a:t>
            </a:r>
            <a:endParaRPr lang="es-PE" sz="2000" b="1" dirty="0">
              <a:latin typeface="Arial Narrow" panose="020B0606020202030204" pitchFamily="34" charset="0"/>
            </a:endParaRPr>
          </a:p>
        </p:txBody>
      </p:sp>
      <p:graphicFrame>
        <p:nvGraphicFramePr>
          <p:cNvPr id="10" name="Tabla 5">
            <a:extLst>
              <a:ext uri="{FF2B5EF4-FFF2-40B4-BE49-F238E27FC236}">
                <a16:creationId xmlns:a16="http://schemas.microsoft.com/office/drawing/2014/main" id="{0A3105BE-1279-239C-CC79-2B23905FECDC}"/>
              </a:ext>
            </a:extLst>
          </p:cNvPr>
          <p:cNvGraphicFramePr>
            <a:graphicFrameLocks noGrp="1"/>
          </p:cNvGraphicFramePr>
          <p:nvPr>
            <p:extLst>
              <p:ext uri="{D42A27DB-BD31-4B8C-83A1-F6EECF244321}">
                <p14:modId xmlns:p14="http://schemas.microsoft.com/office/powerpoint/2010/main" val="837308392"/>
              </p:ext>
            </p:extLst>
          </p:nvPr>
        </p:nvGraphicFramePr>
        <p:xfrm>
          <a:off x="1638501" y="2609243"/>
          <a:ext cx="2948316" cy="2377440"/>
        </p:xfrm>
        <a:graphic>
          <a:graphicData uri="http://schemas.openxmlformats.org/drawingml/2006/table">
            <a:tbl>
              <a:tblPr firstRow="1" bandRow="1">
                <a:tableStyleId>{5C22544A-7EE6-4342-B048-85BDC9FD1C3A}</a:tableStyleId>
              </a:tblPr>
              <a:tblGrid>
                <a:gridCol w="491386">
                  <a:extLst>
                    <a:ext uri="{9D8B030D-6E8A-4147-A177-3AD203B41FA5}">
                      <a16:colId xmlns:a16="http://schemas.microsoft.com/office/drawing/2014/main" val="2191001564"/>
                    </a:ext>
                  </a:extLst>
                </a:gridCol>
                <a:gridCol w="491386">
                  <a:extLst>
                    <a:ext uri="{9D8B030D-6E8A-4147-A177-3AD203B41FA5}">
                      <a16:colId xmlns:a16="http://schemas.microsoft.com/office/drawing/2014/main" val="249600686"/>
                    </a:ext>
                  </a:extLst>
                </a:gridCol>
                <a:gridCol w="491386">
                  <a:extLst>
                    <a:ext uri="{9D8B030D-6E8A-4147-A177-3AD203B41FA5}">
                      <a16:colId xmlns:a16="http://schemas.microsoft.com/office/drawing/2014/main" val="1546522247"/>
                    </a:ext>
                  </a:extLst>
                </a:gridCol>
                <a:gridCol w="491386">
                  <a:extLst>
                    <a:ext uri="{9D8B030D-6E8A-4147-A177-3AD203B41FA5}">
                      <a16:colId xmlns:a16="http://schemas.microsoft.com/office/drawing/2014/main" val="1943056112"/>
                    </a:ext>
                  </a:extLst>
                </a:gridCol>
                <a:gridCol w="491386">
                  <a:extLst>
                    <a:ext uri="{9D8B030D-6E8A-4147-A177-3AD203B41FA5}">
                      <a16:colId xmlns:a16="http://schemas.microsoft.com/office/drawing/2014/main" val="225105020"/>
                    </a:ext>
                  </a:extLst>
                </a:gridCol>
                <a:gridCol w="491386">
                  <a:extLst>
                    <a:ext uri="{9D8B030D-6E8A-4147-A177-3AD203B41FA5}">
                      <a16:colId xmlns:a16="http://schemas.microsoft.com/office/drawing/2014/main" val="333048736"/>
                    </a:ext>
                  </a:extLst>
                </a:gridCol>
              </a:tblGrid>
              <a:tr h="362771">
                <a:tc>
                  <a:txBody>
                    <a:bodyPr/>
                    <a:lstStyle/>
                    <a:p>
                      <a:endParaRPr lang="es-PE" sz="2000" dirty="0"/>
                    </a:p>
                  </a:txBody>
                  <a:tcPr>
                    <a:solidFill>
                      <a:schemeClr val="bg1"/>
                    </a:solidFill>
                  </a:tcPr>
                </a:tc>
                <a:tc>
                  <a:txBody>
                    <a:bodyPr/>
                    <a:lstStyle/>
                    <a:p>
                      <a:pPr algn="ctr"/>
                      <a:r>
                        <a:rPr lang="es-ES" sz="2000" dirty="0">
                          <a:solidFill>
                            <a:schemeClr val="tx1"/>
                          </a:solidFill>
                        </a:rPr>
                        <a:t>F</a:t>
                      </a:r>
                      <a:endParaRPr lang="es-PE" sz="2000" dirty="0">
                        <a:solidFill>
                          <a:schemeClr val="tx1"/>
                        </a:solidFill>
                      </a:endParaRPr>
                    </a:p>
                  </a:txBody>
                  <a:tcPr>
                    <a:solidFill>
                      <a:schemeClr val="bg1"/>
                    </a:solidFill>
                  </a:tcPr>
                </a:tc>
                <a:tc>
                  <a:txBody>
                    <a:bodyPr/>
                    <a:lstStyle/>
                    <a:p>
                      <a:pPr algn="ctr"/>
                      <a:r>
                        <a:rPr lang="es-ES" sz="2000" dirty="0">
                          <a:solidFill>
                            <a:schemeClr val="tx1"/>
                          </a:solidFill>
                        </a:rPr>
                        <a:t>G</a:t>
                      </a:r>
                      <a:endParaRPr lang="es-PE" sz="2000" dirty="0">
                        <a:solidFill>
                          <a:schemeClr val="tx1"/>
                        </a:solidFill>
                      </a:endParaRPr>
                    </a:p>
                  </a:txBody>
                  <a:tcPr>
                    <a:solidFill>
                      <a:schemeClr val="bg1"/>
                    </a:solidFill>
                  </a:tcPr>
                </a:tc>
                <a:tc>
                  <a:txBody>
                    <a:bodyPr/>
                    <a:lstStyle/>
                    <a:p>
                      <a:pPr algn="ctr"/>
                      <a:r>
                        <a:rPr lang="es-ES" sz="2000" dirty="0">
                          <a:solidFill>
                            <a:schemeClr val="tx1"/>
                          </a:solidFill>
                        </a:rPr>
                        <a:t>H</a:t>
                      </a:r>
                      <a:endParaRPr lang="es-PE" sz="2000" dirty="0">
                        <a:solidFill>
                          <a:schemeClr val="tx1"/>
                        </a:solidFill>
                      </a:endParaRPr>
                    </a:p>
                  </a:txBody>
                  <a:tcPr>
                    <a:solidFill>
                      <a:schemeClr val="bg1"/>
                    </a:solidFill>
                  </a:tcPr>
                </a:tc>
                <a:tc>
                  <a:txBody>
                    <a:bodyPr/>
                    <a:lstStyle/>
                    <a:p>
                      <a:pPr algn="ctr"/>
                      <a:r>
                        <a:rPr lang="es-ES" sz="2000" dirty="0">
                          <a:solidFill>
                            <a:schemeClr val="tx1"/>
                          </a:solidFill>
                        </a:rPr>
                        <a:t>I</a:t>
                      </a:r>
                      <a:endParaRPr lang="es-PE" sz="2000" dirty="0">
                        <a:solidFill>
                          <a:schemeClr val="tx1"/>
                        </a:solidFill>
                      </a:endParaRPr>
                    </a:p>
                  </a:txBody>
                  <a:tcPr>
                    <a:solidFill>
                      <a:schemeClr val="bg1"/>
                    </a:solidFill>
                  </a:tcPr>
                </a:tc>
                <a:tc>
                  <a:txBody>
                    <a:bodyPr/>
                    <a:lstStyle/>
                    <a:p>
                      <a:pPr algn="ctr"/>
                      <a:r>
                        <a:rPr lang="es-ES" sz="2000" dirty="0">
                          <a:solidFill>
                            <a:schemeClr val="tx1"/>
                          </a:solidFill>
                        </a:rPr>
                        <a:t>J</a:t>
                      </a:r>
                      <a:endParaRPr lang="es-PE" sz="2000" dirty="0">
                        <a:solidFill>
                          <a:schemeClr val="tx1"/>
                        </a:solidFill>
                      </a:endParaRPr>
                    </a:p>
                  </a:txBody>
                  <a:tcPr>
                    <a:solidFill>
                      <a:schemeClr val="bg1"/>
                    </a:solidFill>
                  </a:tcPr>
                </a:tc>
                <a:extLst>
                  <a:ext uri="{0D108BD9-81ED-4DB2-BD59-A6C34878D82A}">
                    <a16:rowId xmlns:a16="http://schemas.microsoft.com/office/drawing/2014/main" val="2465028119"/>
                  </a:ext>
                </a:extLst>
              </a:tr>
              <a:tr h="362771">
                <a:tc>
                  <a:txBody>
                    <a:bodyPr/>
                    <a:lstStyle/>
                    <a:p>
                      <a:pPr algn="ctr"/>
                      <a:r>
                        <a:rPr lang="es-ES" sz="2000" b="1" dirty="0"/>
                        <a:t>A</a:t>
                      </a:r>
                      <a:endParaRPr lang="es-PE" sz="2000" b="1" dirty="0"/>
                    </a:p>
                  </a:txBody>
                  <a:tcPr>
                    <a:solidFill>
                      <a:schemeClr val="bg1"/>
                    </a:solidFill>
                  </a:tcPr>
                </a:tc>
                <a:tc>
                  <a:txBody>
                    <a:bodyPr/>
                    <a:lstStyle/>
                    <a:p>
                      <a:pPr algn="ctr"/>
                      <a:r>
                        <a:rPr lang="es-ES" sz="2000" b="1" dirty="0"/>
                        <a:t>5</a:t>
                      </a:r>
                      <a:endParaRPr lang="es-PE" sz="2000" b="1" dirty="0"/>
                    </a:p>
                  </a:txBody>
                  <a:tcPr>
                    <a:solidFill>
                      <a:schemeClr val="bg1"/>
                    </a:solidFill>
                  </a:tcPr>
                </a:tc>
                <a:tc>
                  <a:txBody>
                    <a:bodyPr/>
                    <a:lstStyle/>
                    <a:p>
                      <a:pPr algn="ctr"/>
                      <a:r>
                        <a:rPr lang="es-ES" sz="2000" b="1" dirty="0"/>
                        <a:t>3</a:t>
                      </a:r>
                      <a:endParaRPr lang="es-PE" sz="2000" b="1" dirty="0"/>
                    </a:p>
                  </a:txBody>
                  <a:tcPr>
                    <a:solidFill>
                      <a:schemeClr val="bg1"/>
                    </a:solidFill>
                  </a:tcPr>
                </a:tc>
                <a:tc>
                  <a:txBody>
                    <a:bodyPr/>
                    <a:lstStyle/>
                    <a:p>
                      <a:pPr algn="ctr"/>
                      <a:r>
                        <a:rPr lang="es-ES" sz="2000" b="1" dirty="0"/>
                        <a:t>7</a:t>
                      </a:r>
                      <a:endParaRPr lang="es-PE" sz="2000" b="1" dirty="0"/>
                    </a:p>
                  </a:txBody>
                  <a:tcPr>
                    <a:solidFill>
                      <a:schemeClr val="bg1"/>
                    </a:solidFill>
                  </a:tcPr>
                </a:tc>
                <a:tc>
                  <a:txBody>
                    <a:bodyPr/>
                    <a:lstStyle/>
                    <a:p>
                      <a:pPr algn="ctr"/>
                      <a:r>
                        <a:rPr lang="es-ES" sz="2000" b="1" dirty="0"/>
                        <a:t>3</a:t>
                      </a:r>
                      <a:endParaRPr lang="es-PE" sz="2000" b="1" dirty="0"/>
                    </a:p>
                  </a:txBody>
                  <a:tcPr>
                    <a:solidFill>
                      <a:schemeClr val="bg1"/>
                    </a:solidFill>
                  </a:tcPr>
                </a:tc>
                <a:tc>
                  <a:txBody>
                    <a:bodyPr/>
                    <a:lstStyle/>
                    <a:p>
                      <a:pPr algn="ctr"/>
                      <a:r>
                        <a:rPr lang="es-ES" sz="2000" b="1" dirty="0"/>
                        <a:t>5</a:t>
                      </a:r>
                      <a:endParaRPr lang="es-PE" sz="2000" b="1" dirty="0"/>
                    </a:p>
                  </a:txBody>
                  <a:tcPr>
                    <a:solidFill>
                      <a:schemeClr val="bg1"/>
                    </a:solidFill>
                  </a:tcPr>
                </a:tc>
                <a:extLst>
                  <a:ext uri="{0D108BD9-81ED-4DB2-BD59-A6C34878D82A}">
                    <a16:rowId xmlns:a16="http://schemas.microsoft.com/office/drawing/2014/main" val="139256725"/>
                  </a:ext>
                </a:extLst>
              </a:tr>
              <a:tr h="362771">
                <a:tc>
                  <a:txBody>
                    <a:bodyPr/>
                    <a:lstStyle/>
                    <a:p>
                      <a:pPr algn="ctr"/>
                      <a:r>
                        <a:rPr lang="es-ES" sz="2000" b="1" dirty="0"/>
                        <a:t>B</a:t>
                      </a:r>
                      <a:endParaRPr lang="es-PE" sz="2000" b="1" dirty="0"/>
                    </a:p>
                  </a:txBody>
                  <a:tcPr>
                    <a:solidFill>
                      <a:schemeClr val="bg1"/>
                    </a:solidFill>
                  </a:tcPr>
                </a:tc>
                <a:tc>
                  <a:txBody>
                    <a:bodyPr/>
                    <a:lstStyle/>
                    <a:p>
                      <a:pPr algn="ctr"/>
                      <a:r>
                        <a:rPr lang="es-ES" sz="2000" b="1" dirty="0"/>
                        <a:t>5</a:t>
                      </a:r>
                      <a:endParaRPr lang="es-PE" sz="2000" b="1" dirty="0"/>
                    </a:p>
                  </a:txBody>
                  <a:tcPr>
                    <a:solidFill>
                      <a:schemeClr val="bg1"/>
                    </a:solidFill>
                  </a:tcPr>
                </a:tc>
                <a:tc>
                  <a:txBody>
                    <a:bodyPr/>
                    <a:lstStyle/>
                    <a:p>
                      <a:pPr algn="ctr"/>
                      <a:r>
                        <a:rPr lang="es-ES" sz="2000" b="1" dirty="0"/>
                        <a:t>6</a:t>
                      </a:r>
                      <a:endParaRPr lang="es-PE" sz="2000" b="1" dirty="0"/>
                    </a:p>
                  </a:txBody>
                  <a:tcPr>
                    <a:solidFill>
                      <a:schemeClr val="bg1"/>
                    </a:solidFill>
                  </a:tcPr>
                </a:tc>
                <a:tc>
                  <a:txBody>
                    <a:bodyPr/>
                    <a:lstStyle/>
                    <a:p>
                      <a:pPr algn="ctr"/>
                      <a:r>
                        <a:rPr lang="es-ES" sz="2000" b="1" dirty="0"/>
                        <a:t>12</a:t>
                      </a:r>
                      <a:endParaRPr lang="es-PE" sz="2000" b="1" dirty="0"/>
                    </a:p>
                  </a:txBody>
                  <a:tcPr>
                    <a:solidFill>
                      <a:schemeClr val="bg1"/>
                    </a:solidFill>
                  </a:tcPr>
                </a:tc>
                <a:tc>
                  <a:txBody>
                    <a:bodyPr/>
                    <a:lstStyle/>
                    <a:p>
                      <a:pPr algn="ctr"/>
                      <a:r>
                        <a:rPr lang="es-ES" sz="2000" b="1" dirty="0"/>
                        <a:t>7</a:t>
                      </a:r>
                      <a:endParaRPr lang="es-PE" sz="2000" b="1" dirty="0"/>
                    </a:p>
                  </a:txBody>
                  <a:tcPr>
                    <a:solidFill>
                      <a:schemeClr val="bg1"/>
                    </a:solidFill>
                  </a:tcPr>
                </a:tc>
                <a:tc>
                  <a:txBody>
                    <a:bodyPr/>
                    <a:lstStyle/>
                    <a:p>
                      <a:pPr algn="ctr"/>
                      <a:r>
                        <a:rPr lang="es-ES" sz="2000" b="1" dirty="0"/>
                        <a:t>9</a:t>
                      </a:r>
                      <a:endParaRPr lang="es-PE" sz="2000" b="1" dirty="0"/>
                    </a:p>
                  </a:txBody>
                  <a:tcPr>
                    <a:solidFill>
                      <a:schemeClr val="bg1"/>
                    </a:solidFill>
                  </a:tcPr>
                </a:tc>
                <a:extLst>
                  <a:ext uri="{0D108BD9-81ED-4DB2-BD59-A6C34878D82A}">
                    <a16:rowId xmlns:a16="http://schemas.microsoft.com/office/drawing/2014/main" val="3538508993"/>
                  </a:ext>
                </a:extLst>
              </a:tr>
              <a:tr h="362771">
                <a:tc>
                  <a:txBody>
                    <a:bodyPr/>
                    <a:lstStyle/>
                    <a:p>
                      <a:pPr algn="ctr"/>
                      <a:r>
                        <a:rPr lang="es-ES" sz="2000" b="1" dirty="0"/>
                        <a:t>C</a:t>
                      </a:r>
                      <a:endParaRPr lang="es-PE" sz="2000" b="1" dirty="0"/>
                    </a:p>
                  </a:txBody>
                  <a:tcPr>
                    <a:solidFill>
                      <a:schemeClr val="bg1"/>
                    </a:solidFill>
                  </a:tcPr>
                </a:tc>
                <a:tc>
                  <a:txBody>
                    <a:bodyPr/>
                    <a:lstStyle/>
                    <a:p>
                      <a:pPr algn="ctr"/>
                      <a:r>
                        <a:rPr lang="es-ES" sz="2000" b="1" dirty="0"/>
                        <a:t>2</a:t>
                      </a:r>
                      <a:endParaRPr lang="es-PE" sz="2000" b="1" dirty="0"/>
                    </a:p>
                  </a:txBody>
                  <a:tcPr>
                    <a:solidFill>
                      <a:schemeClr val="bg1"/>
                    </a:solidFill>
                  </a:tcPr>
                </a:tc>
                <a:tc>
                  <a:txBody>
                    <a:bodyPr/>
                    <a:lstStyle/>
                    <a:p>
                      <a:pPr algn="ctr"/>
                      <a:r>
                        <a:rPr lang="es-ES" sz="2000" b="1" dirty="0"/>
                        <a:t>8</a:t>
                      </a:r>
                      <a:endParaRPr lang="es-PE" sz="2000" b="1" dirty="0"/>
                    </a:p>
                  </a:txBody>
                  <a:tcPr>
                    <a:solidFill>
                      <a:schemeClr val="bg1"/>
                    </a:solidFill>
                  </a:tcPr>
                </a:tc>
                <a:tc>
                  <a:txBody>
                    <a:bodyPr/>
                    <a:lstStyle/>
                    <a:p>
                      <a:pPr algn="ctr"/>
                      <a:r>
                        <a:rPr lang="es-ES" sz="2000" b="1" dirty="0"/>
                        <a:t>3</a:t>
                      </a:r>
                      <a:endParaRPr lang="es-PE" sz="2000" b="1" dirty="0"/>
                    </a:p>
                  </a:txBody>
                  <a:tcPr>
                    <a:solidFill>
                      <a:schemeClr val="bg1"/>
                    </a:solidFill>
                  </a:tcPr>
                </a:tc>
                <a:tc>
                  <a:txBody>
                    <a:bodyPr/>
                    <a:lstStyle/>
                    <a:p>
                      <a:pPr algn="ctr"/>
                      <a:r>
                        <a:rPr lang="es-ES" sz="2000" b="1" dirty="0"/>
                        <a:t>4</a:t>
                      </a:r>
                      <a:endParaRPr lang="es-PE" sz="2000" b="1" dirty="0"/>
                    </a:p>
                  </a:txBody>
                  <a:tcPr>
                    <a:solidFill>
                      <a:schemeClr val="bg1"/>
                    </a:solidFill>
                  </a:tcPr>
                </a:tc>
                <a:tc>
                  <a:txBody>
                    <a:bodyPr/>
                    <a:lstStyle/>
                    <a:p>
                      <a:pPr algn="ctr"/>
                      <a:r>
                        <a:rPr lang="es-ES" sz="2000" b="1" dirty="0"/>
                        <a:t>6</a:t>
                      </a:r>
                      <a:endParaRPr lang="es-PE" sz="2000" b="1" dirty="0"/>
                    </a:p>
                  </a:txBody>
                  <a:tcPr>
                    <a:solidFill>
                      <a:schemeClr val="bg1"/>
                    </a:solidFill>
                  </a:tcPr>
                </a:tc>
                <a:extLst>
                  <a:ext uri="{0D108BD9-81ED-4DB2-BD59-A6C34878D82A}">
                    <a16:rowId xmlns:a16="http://schemas.microsoft.com/office/drawing/2014/main" val="951743671"/>
                  </a:ext>
                </a:extLst>
              </a:tr>
              <a:tr h="362771">
                <a:tc>
                  <a:txBody>
                    <a:bodyPr/>
                    <a:lstStyle/>
                    <a:p>
                      <a:pPr algn="ctr"/>
                      <a:r>
                        <a:rPr lang="es-ES" sz="2000" b="1" dirty="0"/>
                        <a:t>D</a:t>
                      </a:r>
                      <a:endParaRPr lang="es-PE" sz="2000" b="1" dirty="0"/>
                    </a:p>
                  </a:txBody>
                  <a:tcPr>
                    <a:solidFill>
                      <a:schemeClr val="bg1"/>
                    </a:solidFill>
                  </a:tcPr>
                </a:tc>
                <a:tc>
                  <a:txBody>
                    <a:bodyPr/>
                    <a:lstStyle/>
                    <a:p>
                      <a:pPr algn="ctr"/>
                      <a:r>
                        <a:rPr lang="es-ES" sz="2000" b="1" dirty="0"/>
                        <a:t>9</a:t>
                      </a:r>
                      <a:endParaRPr lang="es-PE" sz="2000" b="1" dirty="0"/>
                    </a:p>
                  </a:txBody>
                  <a:tcPr>
                    <a:solidFill>
                      <a:schemeClr val="bg1"/>
                    </a:solidFill>
                  </a:tcPr>
                </a:tc>
                <a:tc>
                  <a:txBody>
                    <a:bodyPr/>
                    <a:lstStyle/>
                    <a:p>
                      <a:pPr algn="ctr"/>
                      <a:r>
                        <a:rPr lang="es-ES" sz="2000" b="1" dirty="0"/>
                        <a:t>6</a:t>
                      </a:r>
                      <a:endParaRPr lang="es-PE" sz="2000" b="1" dirty="0"/>
                    </a:p>
                  </a:txBody>
                  <a:tcPr>
                    <a:solidFill>
                      <a:schemeClr val="bg1"/>
                    </a:solidFill>
                  </a:tcPr>
                </a:tc>
                <a:tc>
                  <a:txBody>
                    <a:bodyPr/>
                    <a:lstStyle/>
                    <a:p>
                      <a:pPr algn="ctr"/>
                      <a:r>
                        <a:rPr lang="es-ES" sz="2000" b="1" dirty="0"/>
                        <a:t>10</a:t>
                      </a:r>
                      <a:endParaRPr lang="es-PE" sz="2000" b="1" dirty="0"/>
                    </a:p>
                  </a:txBody>
                  <a:tcPr>
                    <a:solidFill>
                      <a:schemeClr val="bg1"/>
                    </a:solidFill>
                  </a:tcPr>
                </a:tc>
                <a:tc>
                  <a:txBody>
                    <a:bodyPr/>
                    <a:lstStyle/>
                    <a:p>
                      <a:pPr algn="ctr"/>
                      <a:r>
                        <a:rPr lang="es-ES" sz="2000" b="1" dirty="0"/>
                        <a:t>5</a:t>
                      </a:r>
                      <a:endParaRPr lang="es-PE" sz="2000" b="1" dirty="0"/>
                    </a:p>
                  </a:txBody>
                  <a:tcPr>
                    <a:solidFill>
                      <a:schemeClr val="bg1"/>
                    </a:solidFill>
                  </a:tcPr>
                </a:tc>
                <a:tc>
                  <a:txBody>
                    <a:bodyPr/>
                    <a:lstStyle/>
                    <a:p>
                      <a:pPr algn="ctr"/>
                      <a:r>
                        <a:rPr lang="es-ES" sz="2000" b="1" dirty="0"/>
                        <a:t>7</a:t>
                      </a:r>
                      <a:endParaRPr lang="es-PE" sz="2000" b="1" dirty="0"/>
                    </a:p>
                  </a:txBody>
                  <a:tcPr>
                    <a:solidFill>
                      <a:schemeClr val="bg1"/>
                    </a:solidFill>
                  </a:tcPr>
                </a:tc>
                <a:extLst>
                  <a:ext uri="{0D108BD9-81ED-4DB2-BD59-A6C34878D82A}">
                    <a16:rowId xmlns:a16="http://schemas.microsoft.com/office/drawing/2014/main" val="1156088139"/>
                  </a:ext>
                </a:extLst>
              </a:tr>
              <a:tr h="362771">
                <a:tc>
                  <a:txBody>
                    <a:bodyPr/>
                    <a:lstStyle/>
                    <a:p>
                      <a:pPr algn="ctr"/>
                      <a:r>
                        <a:rPr lang="es-ES" sz="2000" b="1" dirty="0"/>
                        <a:t>E</a:t>
                      </a:r>
                      <a:endParaRPr lang="es-PE" sz="2000" b="1" dirty="0"/>
                    </a:p>
                  </a:txBody>
                  <a:tcPr>
                    <a:solidFill>
                      <a:schemeClr val="bg1"/>
                    </a:solidFill>
                  </a:tcPr>
                </a:tc>
                <a:tc>
                  <a:txBody>
                    <a:bodyPr/>
                    <a:lstStyle/>
                    <a:p>
                      <a:pPr algn="ctr"/>
                      <a:r>
                        <a:rPr lang="es-ES" sz="2000" b="1" dirty="0"/>
                        <a:t>4</a:t>
                      </a:r>
                      <a:endParaRPr lang="es-PE" sz="2000" b="1" dirty="0"/>
                    </a:p>
                  </a:txBody>
                  <a:tcPr>
                    <a:solidFill>
                      <a:schemeClr val="bg1"/>
                    </a:solidFill>
                  </a:tcPr>
                </a:tc>
                <a:tc>
                  <a:txBody>
                    <a:bodyPr/>
                    <a:lstStyle/>
                    <a:p>
                      <a:pPr algn="ctr"/>
                      <a:r>
                        <a:rPr lang="es-ES" sz="2000" b="1" dirty="0"/>
                        <a:t>7</a:t>
                      </a:r>
                      <a:endParaRPr lang="es-PE" sz="2000" b="1" dirty="0"/>
                    </a:p>
                  </a:txBody>
                  <a:tcPr>
                    <a:solidFill>
                      <a:schemeClr val="bg1"/>
                    </a:solidFill>
                  </a:tcPr>
                </a:tc>
                <a:tc>
                  <a:txBody>
                    <a:bodyPr/>
                    <a:lstStyle/>
                    <a:p>
                      <a:pPr algn="ctr"/>
                      <a:r>
                        <a:rPr lang="es-ES" sz="2000" b="1" dirty="0"/>
                        <a:t>6</a:t>
                      </a:r>
                      <a:endParaRPr lang="es-PE" sz="2000" b="1" dirty="0"/>
                    </a:p>
                  </a:txBody>
                  <a:tcPr>
                    <a:solidFill>
                      <a:schemeClr val="bg1"/>
                    </a:solidFill>
                  </a:tcPr>
                </a:tc>
                <a:tc>
                  <a:txBody>
                    <a:bodyPr/>
                    <a:lstStyle/>
                    <a:p>
                      <a:pPr algn="ctr"/>
                      <a:r>
                        <a:rPr lang="es-ES" sz="2000" b="1" dirty="0"/>
                        <a:t>8</a:t>
                      </a:r>
                      <a:endParaRPr lang="es-PE" sz="2000" b="1" dirty="0"/>
                    </a:p>
                  </a:txBody>
                  <a:tcPr>
                    <a:solidFill>
                      <a:schemeClr val="bg1"/>
                    </a:solidFill>
                  </a:tcPr>
                </a:tc>
                <a:tc>
                  <a:txBody>
                    <a:bodyPr/>
                    <a:lstStyle/>
                    <a:p>
                      <a:pPr algn="ctr"/>
                      <a:r>
                        <a:rPr lang="es-ES" sz="2000" b="1" dirty="0"/>
                        <a:t>11</a:t>
                      </a:r>
                      <a:endParaRPr lang="es-PE" sz="2000" b="1" dirty="0"/>
                    </a:p>
                  </a:txBody>
                  <a:tcPr>
                    <a:solidFill>
                      <a:schemeClr val="bg1"/>
                    </a:solidFill>
                  </a:tcPr>
                </a:tc>
                <a:extLst>
                  <a:ext uri="{0D108BD9-81ED-4DB2-BD59-A6C34878D82A}">
                    <a16:rowId xmlns:a16="http://schemas.microsoft.com/office/drawing/2014/main" val="4113543357"/>
                  </a:ext>
                </a:extLst>
              </a:tr>
            </a:tbl>
          </a:graphicData>
        </a:graphic>
      </p:graphicFrame>
      <p:sp>
        <p:nvSpPr>
          <p:cNvPr id="17" name="Rectángulo 16">
            <a:extLst>
              <a:ext uri="{FF2B5EF4-FFF2-40B4-BE49-F238E27FC236}">
                <a16:creationId xmlns:a16="http://schemas.microsoft.com/office/drawing/2014/main" id="{08DBD634-653C-A28D-AB0F-A5C261EE4DC9}"/>
              </a:ext>
            </a:extLst>
          </p:cNvPr>
          <p:cNvSpPr/>
          <p:nvPr/>
        </p:nvSpPr>
        <p:spPr>
          <a:xfrm>
            <a:off x="2190246" y="2930737"/>
            <a:ext cx="2355011" cy="20559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sz="2000" dirty="0">
              <a:latin typeface="Arial Narrow" panose="020B0606020202030204" pitchFamily="34" charset="0"/>
            </a:endParaRPr>
          </a:p>
        </p:txBody>
      </p:sp>
      <p:sp>
        <p:nvSpPr>
          <p:cNvPr id="22" name="CuadroTexto 21">
            <a:extLst>
              <a:ext uri="{FF2B5EF4-FFF2-40B4-BE49-F238E27FC236}">
                <a16:creationId xmlns:a16="http://schemas.microsoft.com/office/drawing/2014/main" id="{F3909F3C-0C4A-C130-150E-E8A3EC293B09}"/>
              </a:ext>
            </a:extLst>
          </p:cNvPr>
          <p:cNvSpPr txBox="1"/>
          <p:nvPr/>
        </p:nvSpPr>
        <p:spPr>
          <a:xfrm>
            <a:off x="348152" y="5278071"/>
            <a:ext cx="5520906" cy="707886"/>
          </a:xfrm>
          <a:prstGeom prst="rect">
            <a:avLst/>
          </a:prstGeom>
          <a:noFill/>
        </p:spPr>
        <p:txBody>
          <a:bodyPr wrap="square" rtlCol="0">
            <a:spAutoFit/>
          </a:bodyPr>
          <a:lstStyle/>
          <a:p>
            <a:r>
              <a:rPr lang="es-ES" sz="2000" b="1" dirty="0">
                <a:latin typeface="Arial Narrow" panose="020B0606020202030204" pitchFamily="34" charset="0"/>
              </a:rPr>
              <a:t>Se pide resolver el problema de asignación usando el Método Húngaro</a:t>
            </a:r>
            <a:endParaRPr lang="es-PE" sz="2000" b="1" dirty="0">
              <a:latin typeface="Arial Narrow" panose="020B0606020202030204" pitchFamily="34" charset="0"/>
            </a:endParaRPr>
          </a:p>
        </p:txBody>
      </p:sp>
      <p:graphicFrame>
        <p:nvGraphicFramePr>
          <p:cNvPr id="23" name="Tabla 22">
            <a:extLst>
              <a:ext uri="{FF2B5EF4-FFF2-40B4-BE49-F238E27FC236}">
                <a16:creationId xmlns:a16="http://schemas.microsoft.com/office/drawing/2014/main" id="{857BB6D4-A1C2-71A6-E9C1-D5E33D0ACE4A}"/>
              </a:ext>
            </a:extLst>
          </p:cNvPr>
          <p:cNvGraphicFramePr>
            <a:graphicFrameLocks noGrp="1"/>
          </p:cNvGraphicFramePr>
          <p:nvPr>
            <p:extLst>
              <p:ext uri="{D42A27DB-BD31-4B8C-83A1-F6EECF244321}">
                <p14:modId xmlns:p14="http://schemas.microsoft.com/office/powerpoint/2010/main" val="197698762"/>
              </p:ext>
            </p:extLst>
          </p:nvPr>
        </p:nvGraphicFramePr>
        <p:xfrm>
          <a:off x="6017633" y="1483417"/>
          <a:ext cx="3664913" cy="1885950"/>
        </p:xfrm>
        <a:graphic>
          <a:graphicData uri="http://schemas.openxmlformats.org/drawingml/2006/table">
            <a:tbl>
              <a:tblPr>
                <a:tableStyleId>{5C22544A-7EE6-4342-B048-85BDC9FD1C3A}</a:tableStyleId>
              </a:tblPr>
              <a:tblGrid>
                <a:gridCol w="1164586">
                  <a:extLst>
                    <a:ext uri="{9D8B030D-6E8A-4147-A177-3AD203B41FA5}">
                      <a16:colId xmlns:a16="http://schemas.microsoft.com/office/drawing/2014/main" val="2797273586"/>
                    </a:ext>
                  </a:extLst>
                </a:gridCol>
                <a:gridCol w="509951">
                  <a:extLst>
                    <a:ext uri="{9D8B030D-6E8A-4147-A177-3AD203B41FA5}">
                      <a16:colId xmlns:a16="http://schemas.microsoft.com/office/drawing/2014/main" val="3658015268"/>
                    </a:ext>
                  </a:extLst>
                </a:gridCol>
                <a:gridCol w="476251">
                  <a:extLst>
                    <a:ext uri="{9D8B030D-6E8A-4147-A177-3AD203B41FA5}">
                      <a16:colId xmlns:a16="http://schemas.microsoft.com/office/drawing/2014/main" val="2055624014"/>
                    </a:ext>
                  </a:extLst>
                </a:gridCol>
                <a:gridCol w="504709">
                  <a:extLst>
                    <a:ext uri="{9D8B030D-6E8A-4147-A177-3AD203B41FA5}">
                      <a16:colId xmlns:a16="http://schemas.microsoft.com/office/drawing/2014/main" val="348173308"/>
                    </a:ext>
                  </a:extLst>
                </a:gridCol>
                <a:gridCol w="514604">
                  <a:extLst>
                    <a:ext uri="{9D8B030D-6E8A-4147-A177-3AD203B41FA5}">
                      <a16:colId xmlns:a16="http://schemas.microsoft.com/office/drawing/2014/main" val="1488380195"/>
                    </a:ext>
                  </a:extLst>
                </a:gridCol>
                <a:gridCol w="494812">
                  <a:extLst>
                    <a:ext uri="{9D8B030D-6E8A-4147-A177-3AD203B41FA5}">
                      <a16:colId xmlns:a16="http://schemas.microsoft.com/office/drawing/2014/main" val="2457182815"/>
                    </a:ext>
                  </a:extLst>
                </a:gridCol>
              </a:tblGrid>
              <a:tr h="266700">
                <a:tc>
                  <a:txBody>
                    <a:bodyPr/>
                    <a:lstStyle/>
                    <a:p>
                      <a:pPr algn="l" fontAlgn="b"/>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err="1">
                          <a:effectLst/>
                        </a:rPr>
                        <a:t>C1</a:t>
                      </a:r>
                      <a:endParaRPr lang="es-PE" sz="2000" b="1" i="0" u="none" strike="noStrike" dirty="0">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err="1">
                          <a:effectLst/>
                        </a:rPr>
                        <a:t>C2</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err="1">
                          <a:effectLst/>
                        </a:rPr>
                        <a:t>C3</a:t>
                      </a:r>
                      <a:endParaRPr lang="es-PE" sz="2000" b="1" i="0" u="none" strike="noStrike" dirty="0">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err="1">
                          <a:effectLst/>
                        </a:rPr>
                        <a:t>C4</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err="1">
                          <a:effectLst/>
                        </a:rPr>
                        <a:t>C5</a:t>
                      </a:r>
                      <a:endParaRPr lang="es-PE" sz="2000" b="1" i="0" u="none" strike="noStrike" dirty="0">
                        <a:solidFill>
                          <a:srgbClr val="FF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65261146"/>
                  </a:ext>
                </a:extLst>
              </a:tr>
              <a:tr h="295275">
                <a:tc>
                  <a:txBody>
                    <a:bodyPr/>
                    <a:lstStyle/>
                    <a:p>
                      <a:pPr algn="l" fontAlgn="b"/>
                      <a:r>
                        <a:rPr lang="es-PE" sz="2000" b="1" u="none" strike="noStrike" dirty="0">
                          <a:effectLst/>
                        </a:rPr>
                        <a:t>Operario 1</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rtl="0" fontAlgn="ctr"/>
                      <a:r>
                        <a:rPr lang="es-PE" sz="2000" b="1" u="none" strike="noStrike" dirty="0">
                          <a:effectLst/>
                        </a:rPr>
                        <a:t>5</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3</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7</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3</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2989210390"/>
                  </a:ext>
                </a:extLst>
              </a:tr>
              <a:tr h="2952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PE" sz="2000" b="1" i="0" u="none" strike="noStrike" kern="1200" cap="none" spc="0" normalizeH="0" baseline="0" noProof="0" dirty="0">
                          <a:ln>
                            <a:noFill/>
                          </a:ln>
                          <a:solidFill>
                            <a:prstClr val="black"/>
                          </a:solidFill>
                          <a:effectLst/>
                          <a:uLnTx/>
                          <a:uFillTx/>
                          <a:latin typeface="Calibri" panose="020F0502020204030204"/>
                          <a:ea typeface="+mn-ea"/>
                          <a:cs typeface="+mn-cs"/>
                        </a:rPr>
                        <a:t>Operario 2</a:t>
                      </a:r>
                      <a:endParaRPr kumimoji="0" lang="es-PE"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9525" marR="9525" marT="9525" marB="0" anchor="b"/>
                </a:tc>
                <a:tc>
                  <a:txBody>
                    <a:bodyPr/>
                    <a:lstStyle/>
                    <a:p>
                      <a:pPr algn="ctr" rtl="0" fontAlgn="ctr"/>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12</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7</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9</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4281854159"/>
                  </a:ext>
                </a:extLst>
              </a:tr>
              <a:tr h="2952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PE" sz="2000" b="1" i="0" u="none" strike="noStrike" kern="1200" cap="none" spc="0" normalizeH="0" baseline="0" noProof="0" dirty="0">
                          <a:ln>
                            <a:noFill/>
                          </a:ln>
                          <a:solidFill>
                            <a:prstClr val="black"/>
                          </a:solidFill>
                          <a:effectLst/>
                          <a:uLnTx/>
                          <a:uFillTx/>
                          <a:latin typeface="Calibri" panose="020F0502020204030204"/>
                          <a:ea typeface="+mn-ea"/>
                          <a:cs typeface="+mn-cs"/>
                        </a:rPr>
                        <a:t>Operario 3</a:t>
                      </a:r>
                      <a:endParaRPr kumimoji="0" lang="es-PE"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9525" marR="9525" marT="9525" marB="0" anchor="b"/>
                </a:tc>
                <a:tc>
                  <a:txBody>
                    <a:bodyPr/>
                    <a:lstStyle/>
                    <a:p>
                      <a:pPr algn="ctr" rtl="0" fontAlgn="ctr"/>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8</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3</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1418073351"/>
                  </a:ext>
                </a:extLst>
              </a:tr>
              <a:tr h="2952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PE" sz="2000" b="1" i="0" u="none" strike="noStrike" kern="1200" cap="none" spc="0" normalizeH="0" baseline="0" noProof="0" dirty="0">
                          <a:ln>
                            <a:noFill/>
                          </a:ln>
                          <a:solidFill>
                            <a:prstClr val="black"/>
                          </a:solidFill>
                          <a:effectLst/>
                          <a:uLnTx/>
                          <a:uFillTx/>
                          <a:latin typeface="Calibri" panose="020F0502020204030204"/>
                          <a:ea typeface="+mn-ea"/>
                          <a:cs typeface="+mn-cs"/>
                        </a:rPr>
                        <a:t>Operario 4</a:t>
                      </a:r>
                      <a:endParaRPr kumimoji="0" lang="es-PE"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9525" marR="9525" marT="9525" marB="0" anchor="b"/>
                </a:tc>
                <a:tc>
                  <a:txBody>
                    <a:bodyPr/>
                    <a:lstStyle/>
                    <a:p>
                      <a:pPr algn="ctr" rtl="0" fontAlgn="ctr"/>
                      <a:r>
                        <a:rPr lang="es-PE" sz="2000" b="1" u="none" strike="noStrike">
                          <a:effectLst/>
                        </a:rPr>
                        <a:t>9</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10</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5</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7</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3543970244"/>
                  </a:ext>
                </a:extLst>
              </a:tr>
              <a:tr h="29527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s-PE" sz="2000" b="1" i="0" u="none" strike="noStrike" kern="1200" cap="none" spc="0" normalizeH="0" baseline="0" noProof="0" dirty="0">
                          <a:ln>
                            <a:noFill/>
                          </a:ln>
                          <a:solidFill>
                            <a:prstClr val="black"/>
                          </a:solidFill>
                          <a:effectLst/>
                          <a:uLnTx/>
                          <a:uFillTx/>
                          <a:latin typeface="Calibri" panose="020F0502020204030204"/>
                          <a:ea typeface="+mn-ea"/>
                          <a:cs typeface="+mn-cs"/>
                        </a:rPr>
                        <a:t>Operario 5</a:t>
                      </a:r>
                      <a:endParaRPr kumimoji="0" lang="es-PE"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9525" marR="9525" marT="9525" marB="0" anchor="b"/>
                </a:tc>
                <a:tc>
                  <a:txBody>
                    <a:bodyPr/>
                    <a:lstStyle/>
                    <a:p>
                      <a:pPr algn="ctr" rtl="0" fontAlgn="ctr"/>
                      <a:r>
                        <a:rPr lang="es-PE" sz="2000" b="1" u="none" strike="noStrike">
                          <a:effectLst/>
                        </a:rPr>
                        <a:t>4</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7</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a:effectLst/>
                        </a:rPr>
                        <a:t>8</a:t>
                      </a:r>
                      <a:endParaRPr lang="es-PE" sz="2000" b="1"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rtl="0" fontAlgn="ctr"/>
                      <a:r>
                        <a:rPr lang="es-PE" sz="2000" b="1" u="none" strike="noStrike" dirty="0">
                          <a:effectLst/>
                        </a:rPr>
                        <a:t>11</a:t>
                      </a:r>
                      <a:endParaRPr lang="es-PE" sz="2000" b="1"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2591226923"/>
                  </a:ext>
                </a:extLst>
              </a:tr>
            </a:tbl>
          </a:graphicData>
        </a:graphic>
      </p:graphicFrame>
      <p:graphicFrame>
        <p:nvGraphicFramePr>
          <p:cNvPr id="24" name="Tabla 23">
            <a:extLst>
              <a:ext uri="{FF2B5EF4-FFF2-40B4-BE49-F238E27FC236}">
                <a16:creationId xmlns:a16="http://schemas.microsoft.com/office/drawing/2014/main" id="{68ED7510-5CC1-F6E2-84CC-57DF4CE63999}"/>
              </a:ext>
            </a:extLst>
          </p:cNvPr>
          <p:cNvGraphicFramePr>
            <a:graphicFrameLocks noGrp="1"/>
          </p:cNvGraphicFramePr>
          <p:nvPr>
            <p:extLst>
              <p:ext uri="{D42A27DB-BD31-4B8C-83A1-F6EECF244321}">
                <p14:modId xmlns:p14="http://schemas.microsoft.com/office/powerpoint/2010/main" val="3413135513"/>
              </p:ext>
            </p:extLst>
          </p:nvPr>
        </p:nvGraphicFramePr>
        <p:xfrm>
          <a:off x="9677241" y="1759789"/>
          <a:ext cx="381000" cy="1571625"/>
        </p:xfrm>
        <a:graphic>
          <a:graphicData uri="http://schemas.openxmlformats.org/drawingml/2006/table">
            <a:tbl>
              <a:tblPr>
                <a:tableStyleId>{5C22544A-7EE6-4342-B048-85BDC9FD1C3A}</a:tableStyleId>
              </a:tblPr>
              <a:tblGrid>
                <a:gridCol w="381000">
                  <a:extLst>
                    <a:ext uri="{9D8B030D-6E8A-4147-A177-3AD203B41FA5}">
                      <a16:colId xmlns:a16="http://schemas.microsoft.com/office/drawing/2014/main" val="4126492465"/>
                    </a:ext>
                  </a:extLst>
                </a:gridCol>
              </a:tblGrid>
              <a:tr h="289848">
                <a:tc>
                  <a:txBody>
                    <a:bodyPr/>
                    <a:lstStyle/>
                    <a:p>
                      <a:pPr algn="ctr" fontAlgn="b">
                        <a:lnSpc>
                          <a:spcPct val="100000"/>
                        </a:lnSpc>
                      </a:pPr>
                      <a:r>
                        <a:rPr lang="es-PE" sz="2000" b="1" u="none" strike="noStrike" dirty="0">
                          <a:solidFill>
                            <a:srgbClr val="FF0000"/>
                          </a:solidFill>
                          <a:effectLst/>
                        </a:rPr>
                        <a:t>3</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527553154"/>
                  </a:ext>
                </a:extLst>
              </a:tr>
              <a:tr h="289848">
                <a:tc>
                  <a:txBody>
                    <a:bodyPr/>
                    <a:lstStyle/>
                    <a:p>
                      <a:pPr algn="ctr" fontAlgn="b">
                        <a:lnSpc>
                          <a:spcPct val="100000"/>
                        </a:lnSpc>
                      </a:pPr>
                      <a:r>
                        <a:rPr lang="es-PE" sz="2000" b="1" u="none" strike="noStrike" dirty="0">
                          <a:solidFill>
                            <a:srgbClr val="FF0000"/>
                          </a:solidFill>
                          <a:effectLst/>
                        </a:rPr>
                        <a:t>5</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724153338"/>
                  </a:ext>
                </a:extLst>
              </a:tr>
              <a:tr h="289848">
                <a:tc>
                  <a:txBody>
                    <a:bodyPr/>
                    <a:lstStyle/>
                    <a:p>
                      <a:pPr algn="ctr" fontAlgn="b">
                        <a:lnSpc>
                          <a:spcPct val="100000"/>
                        </a:lnSpc>
                      </a:pPr>
                      <a:r>
                        <a:rPr lang="es-PE" sz="2000" b="1" u="none" strike="noStrike" dirty="0">
                          <a:solidFill>
                            <a:srgbClr val="FF0000"/>
                          </a:solidFill>
                          <a:effectLst/>
                        </a:rPr>
                        <a:t>2</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2043931033"/>
                  </a:ext>
                </a:extLst>
              </a:tr>
              <a:tr h="289848">
                <a:tc>
                  <a:txBody>
                    <a:bodyPr/>
                    <a:lstStyle/>
                    <a:p>
                      <a:pPr algn="ctr" fontAlgn="b">
                        <a:lnSpc>
                          <a:spcPct val="100000"/>
                        </a:lnSpc>
                      </a:pPr>
                      <a:r>
                        <a:rPr lang="es-PE" sz="2000" b="1" u="none" strike="noStrike" dirty="0">
                          <a:solidFill>
                            <a:srgbClr val="FF0000"/>
                          </a:solidFill>
                          <a:effectLst/>
                        </a:rPr>
                        <a:t>5</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158849624"/>
                  </a:ext>
                </a:extLst>
              </a:tr>
              <a:tr h="289848">
                <a:tc>
                  <a:txBody>
                    <a:bodyPr/>
                    <a:lstStyle/>
                    <a:p>
                      <a:pPr algn="ctr" fontAlgn="b">
                        <a:lnSpc>
                          <a:spcPct val="100000"/>
                        </a:lnSpc>
                      </a:pPr>
                      <a:r>
                        <a:rPr lang="es-PE" sz="2000" b="1" u="none" strike="noStrike" dirty="0">
                          <a:solidFill>
                            <a:srgbClr val="FF0000"/>
                          </a:solidFill>
                          <a:effectLst/>
                        </a:rPr>
                        <a:t>4</a:t>
                      </a:r>
                      <a:endParaRPr lang="es-PE" sz="2000" b="1" i="0" u="none" strike="noStrike" dirty="0">
                        <a:solidFill>
                          <a:srgbClr val="FF0000"/>
                        </a:solidFill>
                        <a:effectLst/>
                        <a:latin typeface="Calibri" panose="020F0502020204030204" pitchFamily="34" charset="0"/>
                      </a:endParaRPr>
                    </a:p>
                  </a:txBody>
                  <a:tcPr marL="9525" marR="9525" marT="9525" marB="0" anchor="b">
                    <a:solidFill>
                      <a:schemeClr val="bg1"/>
                    </a:solidFill>
                  </a:tcPr>
                </a:tc>
                <a:extLst>
                  <a:ext uri="{0D108BD9-81ED-4DB2-BD59-A6C34878D82A}">
                    <a16:rowId xmlns:a16="http://schemas.microsoft.com/office/drawing/2014/main" val="2935710262"/>
                  </a:ext>
                </a:extLst>
              </a:tr>
            </a:tbl>
          </a:graphicData>
        </a:graphic>
      </p:graphicFrame>
      <p:graphicFrame>
        <p:nvGraphicFramePr>
          <p:cNvPr id="25" name="Tabla 24">
            <a:extLst>
              <a:ext uri="{FF2B5EF4-FFF2-40B4-BE49-F238E27FC236}">
                <a16:creationId xmlns:a16="http://schemas.microsoft.com/office/drawing/2014/main" id="{B3AA28D5-7287-B20E-21A0-C79C9910E34D}"/>
              </a:ext>
            </a:extLst>
          </p:cNvPr>
          <p:cNvGraphicFramePr>
            <a:graphicFrameLocks noGrp="1"/>
          </p:cNvGraphicFramePr>
          <p:nvPr>
            <p:extLst>
              <p:ext uri="{D42A27DB-BD31-4B8C-83A1-F6EECF244321}">
                <p14:modId xmlns:p14="http://schemas.microsoft.com/office/powerpoint/2010/main" val="999538402"/>
              </p:ext>
            </p:extLst>
          </p:nvPr>
        </p:nvGraphicFramePr>
        <p:xfrm>
          <a:off x="10179139" y="1737777"/>
          <a:ext cx="1905000" cy="1571625"/>
        </p:xfrm>
        <a:graphic>
          <a:graphicData uri="http://schemas.openxmlformats.org/drawingml/2006/table">
            <a:tbl>
              <a:tblPr>
                <a:tableStyleId>{5C22544A-7EE6-4342-B048-85BDC9FD1C3A}</a:tableStyleId>
              </a:tblPr>
              <a:tblGrid>
                <a:gridCol w="381000">
                  <a:extLst>
                    <a:ext uri="{9D8B030D-6E8A-4147-A177-3AD203B41FA5}">
                      <a16:colId xmlns:a16="http://schemas.microsoft.com/office/drawing/2014/main" val="1900622454"/>
                    </a:ext>
                  </a:extLst>
                </a:gridCol>
                <a:gridCol w="381000">
                  <a:extLst>
                    <a:ext uri="{9D8B030D-6E8A-4147-A177-3AD203B41FA5}">
                      <a16:colId xmlns:a16="http://schemas.microsoft.com/office/drawing/2014/main" val="2547183938"/>
                    </a:ext>
                  </a:extLst>
                </a:gridCol>
                <a:gridCol w="381000">
                  <a:extLst>
                    <a:ext uri="{9D8B030D-6E8A-4147-A177-3AD203B41FA5}">
                      <a16:colId xmlns:a16="http://schemas.microsoft.com/office/drawing/2014/main" val="3591311864"/>
                    </a:ext>
                  </a:extLst>
                </a:gridCol>
                <a:gridCol w="381000">
                  <a:extLst>
                    <a:ext uri="{9D8B030D-6E8A-4147-A177-3AD203B41FA5}">
                      <a16:colId xmlns:a16="http://schemas.microsoft.com/office/drawing/2014/main" val="2001863770"/>
                    </a:ext>
                  </a:extLst>
                </a:gridCol>
                <a:gridCol w="381000">
                  <a:extLst>
                    <a:ext uri="{9D8B030D-6E8A-4147-A177-3AD203B41FA5}">
                      <a16:colId xmlns:a16="http://schemas.microsoft.com/office/drawing/2014/main" val="105026371"/>
                    </a:ext>
                  </a:extLst>
                </a:gridCol>
              </a:tblGrid>
              <a:tr h="295275">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2</a:t>
                      </a:r>
                    </a:p>
                  </a:txBody>
                  <a:tcPr marL="9525" marR="9525" marT="9525" marB="0" anchor="b">
                    <a:solidFill>
                      <a:srgbClr val="FFFF00"/>
                    </a:solidFill>
                  </a:tcPr>
                </a:tc>
                <a:extLst>
                  <a:ext uri="{0D108BD9-81ED-4DB2-BD59-A6C34878D82A}">
                    <a16:rowId xmlns:a16="http://schemas.microsoft.com/office/drawing/2014/main" val="3654046141"/>
                  </a:ext>
                </a:extLst>
              </a:tr>
              <a:tr h="295275">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7</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4</a:t>
                      </a:r>
                    </a:p>
                  </a:txBody>
                  <a:tcPr marL="9525" marR="9525" marT="9525" marB="0" anchor="b">
                    <a:solidFill>
                      <a:srgbClr val="FFFF00"/>
                    </a:solidFill>
                  </a:tcPr>
                </a:tc>
                <a:extLst>
                  <a:ext uri="{0D108BD9-81ED-4DB2-BD59-A6C34878D82A}">
                    <a16:rowId xmlns:a16="http://schemas.microsoft.com/office/drawing/2014/main" val="1899293115"/>
                  </a:ext>
                </a:extLst>
              </a:tr>
              <a:tr h="295275">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6</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4</a:t>
                      </a:r>
                    </a:p>
                  </a:txBody>
                  <a:tcPr marL="9525" marR="9525" marT="9525" marB="0" anchor="b">
                    <a:solidFill>
                      <a:srgbClr val="FFFF00"/>
                    </a:solidFill>
                  </a:tcPr>
                </a:tc>
                <a:extLst>
                  <a:ext uri="{0D108BD9-81ED-4DB2-BD59-A6C34878D82A}">
                    <a16:rowId xmlns:a16="http://schemas.microsoft.com/office/drawing/2014/main" val="3106603850"/>
                  </a:ext>
                </a:extLst>
              </a:tr>
              <a:tr h="295275">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1</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5</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2</a:t>
                      </a:r>
                    </a:p>
                  </a:txBody>
                  <a:tcPr marL="9525" marR="9525" marT="9525" marB="0" anchor="b">
                    <a:solidFill>
                      <a:srgbClr val="FFFF00"/>
                    </a:solidFill>
                  </a:tcPr>
                </a:tc>
                <a:extLst>
                  <a:ext uri="{0D108BD9-81ED-4DB2-BD59-A6C34878D82A}">
                    <a16:rowId xmlns:a16="http://schemas.microsoft.com/office/drawing/2014/main" val="807147523"/>
                  </a:ext>
                </a:extLst>
              </a:tr>
              <a:tr h="295275">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0</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3</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a:solidFill>
                            <a:schemeClr val="tx1"/>
                          </a:solidFill>
                          <a:effectLst/>
                          <a:latin typeface="+mn-lt"/>
                          <a:ea typeface="+mn-ea"/>
                          <a:cs typeface="+mn-cs"/>
                        </a:rPr>
                        <a:t>2</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4</a:t>
                      </a:r>
                    </a:p>
                  </a:txBody>
                  <a:tcPr marL="9525" marR="9525" marT="9525" marB="0" anchor="b">
                    <a:solidFill>
                      <a:srgbClr val="FFFF00"/>
                    </a:solidFill>
                  </a:tcPr>
                </a:tc>
                <a:tc>
                  <a:txBody>
                    <a:bodyPr/>
                    <a:lstStyle/>
                    <a:p>
                      <a:pPr marL="0" algn="ctr" defTabSz="914400" rtl="0" eaLnBrk="1" fontAlgn="b" latinLnBrk="0" hangingPunct="1">
                        <a:lnSpc>
                          <a:spcPct val="100000"/>
                        </a:lnSpc>
                      </a:pPr>
                      <a:r>
                        <a:rPr lang="es-PE" sz="2000" b="1" u="none" strike="noStrike" kern="1200" dirty="0">
                          <a:solidFill>
                            <a:schemeClr val="tx1"/>
                          </a:solidFill>
                          <a:effectLst/>
                          <a:latin typeface="+mn-lt"/>
                          <a:ea typeface="+mn-ea"/>
                          <a:cs typeface="+mn-cs"/>
                        </a:rPr>
                        <a:t>7</a:t>
                      </a:r>
                    </a:p>
                  </a:txBody>
                  <a:tcPr marL="9525" marR="9525" marT="9525" marB="0" anchor="b">
                    <a:solidFill>
                      <a:srgbClr val="FFFF00"/>
                    </a:solidFill>
                  </a:tcPr>
                </a:tc>
                <a:extLst>
                  <a:ext uri="{0D108BD9-81ED-4DB2-BD59-A6C34878D82A}">
                    <a16:rowId xmlns:a16="http://schemas.microsoft.com/office/drawing/2014/main" val="104841741"/>
                  </a:ext>
                </a:extLst>
              </a:tr>
            </a:tbl>
          </a:graphicData>
        </a:graphic>
      </p:graphicFrame>
      <p:sp>
        <p:nvSpPr>
          <p:cNvPr id="26" name="Rectángulo 25">
            <a:extLst>
              <a:ext uri="{FF2B5EF4-FFF2-40B4-BE49-F238E27FC236}">
                <a16:creationId xmlns:a16="http://schemas.microsoft.com/office/drawing/2014/main" id="{F609ECD5-59B5-8829-8B4B-16CF92AD943B}"/>
              </a:ext>
            </a:extLst>
          </p:cNvPr>
          <p:cNvSpPr/>
          <p:nvPr/>
        </p:nvSpPr>
        <p:spPr>
          <a:xfrm>
            <a:off x="10124717" y="3238233"/>
            <a:ext cx="1955665" cy="400110"/>
          </a:xfrm>
          <a:prstGeom prst="rect">
            <a:avLst/>
          </a:prstGeom>
        </p:spPr>
        <p:txBody>
          <a:bodyPr wrap="square">
            <a:spAutoFit/>
          </a:bodyPr>
          <a:lstStyle/>
          <a:p>
            <a:r>
              <a:rPr lang="es-PE" sz="2000" dirty="0">
                <a:solidFill>
                  <a:srgbClr val="FF0000"/>
                </a:solidFill>
                <a:latin typeface="Arial Narrow" panose="020B0606020202030204" pitchFamily="34" charset="0"/>
              </a:rPr>
              <a:t>  </a:t>
            </a:r>
            <a:r>
              <a:rPr lang="es-PE" sz="2000" b="1" dirty="0">
                <a:solidFill>
                  <a:srgbClr val="FF0000"/>
                </a:solidFill>
              </a:rPr>
              <a:t>0    0     1    0    2 </a:t>
            </a:r>
          </a:p>
        </p:txBody>
      </p:sp>
    </p:spTree>
    <p:extLst>
      <p:ext uri="{BB962C8B-B14F-4D97-AF65-F5344CB8AC3E}">
        <p14:creationId xmlns:p14="http://schemas.microsoft.com/office/powerpoint/2010/main" val="1231825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5"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fade">
                                      <p:cBhvr>
                                        <p:cTn id="11" dur="2000"/>
                                        <p:tgtEl>
                                          <p:spTgt spid="16"/>
                                        </p:tgtEl>
                                      </p:cBhvr>
                                    </p:animEffect>
                                    <p:anim calcmode="lin" valueType="num">
                                      <p:cBhvr>
                                        <p:cTn id="12" dur="2000" fill="hold"/>
                                        <p:tgtEl>
                                          <p:spTgt spid="16"/>
                                        </p:tgtEl>
                                        <p:attrNameLst>
                                          <p:attrName>ppt_w</p:attrName>
                                        </p:attrNameLst>
                                      </p:cBhvr>
                                      <p:tavLst>
                                        <p:tav tm="0" fmla="#ppt_w*sin(2.5*pi*$)">
                                          <p:val>
                                            <p:fltVal val="0"/>
                                          </p:val>
                                        </p:tav>
                                        <p:tav tm="100000">
                                          <p:val>
                                            <p:fltVal val="1"/>
                                          </p:val>
                                        </p:tav>
                                      </p:tavLst>
                                    </p:anim>
                                    <p:anim calcmode="lin" valueType="num">
                                      <p:cBhvr>
                                        <p:cTn id="13" dur="20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5"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2000"/>
                                        <p:tgtEl>
                                          <p:spTgt spid="18"/>
                                        </p:tgtEl>
                                      </p:cBhvr>
                                    </p:animEffect>
                                    <p:anim calcmode="lin" valueType="num">
                                      <p:cBhvr>
                                        <p:cTn id="19" dur="2000" fill="hold"/>
                                        <p:tgtEl>
                                          <p:spTgt spid="18"/>
                                        </p:tgtEl>
                                        <p:attrNameLst>
                                          <p:attrName>ppt_w</p:attrName>
                                        </p:attrNameLst>
                                      </p:cBhvr>
                                      <p:tavLst>
                                        <p:tav tm="0" fmla="#ppt_w*sin(2.5*pi*$)">
                                          <p:val>
                                            <p:fltVal val="0"/>
                                          </p:val>
                                        </p:tav>
                                        <p:tav tm="100000">
                                          <p:val>
                                            <p:fltVal val="1"/>
                                          </p:val>
                                        </p:tav>
                                      </p:tavLst>
                                    </p:anim>
                                    <p:anim calcmode="lin" valueType="num">
                                      <p:cBhvr>
                                        <p:cTn id="20" dur="20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2000"/>
                                        <p:tgtEl>
                                          <p:spTgt spid="19"/>
                                        </p:tgtEl>
                                      </p:cBhvr>
                                    </p:animEffect>
                                    <p:anim calcmode="lin" valueType="num">
                                      <p:cBhvr>
                                        <p:cTn id="26" dur="2000" fill="hold"/>
                                        <p:tgtEl>
                                          <p:spTgt spid="19"/>
                                        </p:tgtEl>
                                        <p:attrNameLst>
                                          <p:attrName>ppt_w</p:attrName>
                                        </p:attrNameLst>
                                      </p:cBhvr>
                                      <p:tavLst>
                                        <p:tav tm="0" fmla="#ppt_w*sin(2.5*pi*$)">
                                          <p:val>
                                            <p:fltVal val="0"/>
                                          </p:val>
                                        </p:tav>
                                        <p:tav tm="100000">
                                          <p:val>
                                            <p:fltVal val="1"/>
                                          </p:val>
                                        </p:tav>
                                      </p:tavLst>
                                    </p:anim>
                                    <p:anim calcmode="lin" valueType="num">
                                      <p:cBhvr>
                                        <p:cTn id="27" dur="20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45"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2000"/>
                                        <p:tgtEl>
                                          <p:spTgt spid="20"/>
                                        </p:tgtEl>
                                      </p:cBhvr>
                                    </p:animEffect>
                                    <p:anim calcmode="lin" valueType="num">
                                      <p:cBhvr>
                                        <p:cTn id="33" dur="2000" fill="hold"/>
                                        <p:tgtEl>
                                          <p:spTgt spid="20"/>
                                        </p:tgtEl>
                                        <p:attrNameLst>
                                          <p:attrName>ppt_w</p:attrName>
                                        </p:attrNameLst>
                                      </p:cBhvr>
                                      <p:tavLst>
                                        <p:tav tm="0" fmla="#ppt_w*sin(2.5*pi*$)">
                                          <p:val>
                                            <p:fltVal val="0"/>
                                          </p:val>
                                        </p:tav>
                                        <p:tav tm="100000">
                                          <p:val>
                                            <p:fltVal val="1"/>
                                          </p:val>
                                        </p:tav>
                                      </p:tavLst>
                                    </p:anim>
                                    <p:anim calcmode="lin" valueType="num">
                                      <p:cBhvr>
                                        <p:cTn id="34" dur="20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45"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2000"/>
                                        <p:tgtEl>
                                          <p:spTgt spid="21"/>
                                        </p:tgtEl>
                                      </p:cBhvr>
                                    </p:animEffect>
                                    <p:anim calcmode="lin" valueType="num">
                                      <p:cBhvr>
                                        <p:cTn id="40" dur="2000" fill="hold"/>
                                        <p:tgtEl>
                                          <p:spTgt spid="21"/>
                                        </p:tgtEl>
                                        <p:attrNameLst>
                                          <p:attrName>ppt_w</p:attrName>
                                        </p:attrNameLst>
                                      </p:cBhvr>
                                      <p:tavLst>
                                        <p:tav tm="0" fmla="#ppt_w*sin(2.5*pi*$)">
                                          <p:val>
                                            <p:fltVal val="0"/>
                                          </p:val>
                                        </p:tav>
                                        <p:tav tm="100000">
                                          <p:val>
                                            <p:fltVal val="1"/>
                                          </p:val>
                                        </p:tav>
                                      </p:tavLst>
                                    </p:anim>
                                    <p:anim calcmode="lin" valueType="num">
                                      <p:cBhvr>
                                        <p:cTn id="41" dur="2000" fill="hold"/>
                                        <p:tgtEl>
                                          <p:spTgt spid="21"/>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down)">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8" grpId="0" animBg="1"/>
      <p:bldP spid="19" grpId="0" animBg="1"/>
      <p:bldP spid="20"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a 17">
            <a:extLst>
              <a:ext uri="{FF2B5EF4-FFF2-40B4-BE49-F238E27FC236}">
                <a16:creationId xmlns:a16="http://schemas.microsoft.com/office/drawing/2014/main" id="{49531DFB-1DEC-4A71-B22B-B08E85E5D85B}"/>
              </a:ext>
            </a:extLst>
          </p:cNvPr>
          <p:cNvGraphicFramePr>
            <a:graphicFrameLocks noGrp="1"/>
          </p:cNvGraphicFramePr>
          <p:nvPr>
            <p:extLst>
              <p:ext uri="{D42A27DB-BD31-4B8C-83A1-F6EECF244321}">
                <p14:modId xmlns:p14="http://schemas.microsoft.com/office/powerpoint/2010/main" val="4241095086"/>
              </p:ext>
            </p:extLst>
          </p:nvPr>
        </p:nvGraphicFramePr>
        <p:xfrm>
          <a:off x="8714118" y="4335911"/>
          <a:ext cx="3205745" cy="1941245"/>
        </p:xfrm>
        <a:graphic>
          <a:graphicData uri="http://schemas.openxmlformats.org/drawingml/2006/table">
            <a:tbl>
              <a:tblPr>
                <a:tableStyleId>{5C22544A-7EE6-4342-B048-85BDC9FD1C3A}</a:tableStyleId>
              </a:tblPr>
              <a:tblGrid>
                <a:gridCol w="641149">
                  <a:extLst>
                    <a:ext uri="{9D8B030D-6E8A-4147-A177-3AD203B41FA5}">
                      <a16:colId xmlns:a16="http://schemas.microsoft.com/office/drawing/2014/main" val="1508485913"/>
                    </a:ext>
                  </a:extLst>
                </a:gridCol>
                <a:gridCol w="641149">
                  <a:extLst>
                    <a:ext uri="{9D8B030D-6E8A-4147-A177-3AD203B41FA5}">
                      <a16:colId xmlns:a16="http://schemas.microsoft.com/office/drawing/2014/main" val="4129306200"/>
                    </a:ext>
                  </a:extLst>
                </a:gridCol>
                <a:gridCol w="641149">
                  <a:extLst>
                    <a:ext uri="{9D8B030D-6E8A-4147-A177-3AD203B41FA5}">
                      <a16:colId xmlns:a16="http://schemas.microsoft.com/office/drawing/2014/main" val="1755861307"/>
                    </a:ext>
                  </a:extLst>
                </a:gridCol>
                <a:gridCol w="641149">
                  <a:extLst>
                    <a:ext uri="{9D8B030D-6E8A-4147-A177-3AD203B41FA5}">
                      <a16:colId xmlns:a16="http://schemas.microsoft.com/office/drawing/2014/main" val="24269539"/>
                    </a:ext>
                  </a:extLst>
                </a:gridCol>
                <a:gridCol w="641149">
                  <a:extLst>
                    <a:ext uri="{9D8B030D-6E8A-4147-A177-3AD203B41FA5}">
                      <a16:colId xmlns:a16="http://schemas.microsoft.com/office/drawing/2014/main" val="3845661494"/>
                    </a:ext>
                  </a:extLst>
                </a:gridCol>
              </a:tblGrid>
              <a:tr h="388249">
                <a:tc>
                  <a:txBody>
                    <a:bodyPr/>
                    <a:lstStyle/>
                    <a:p>
                      <a:pPr algn="ctr" fontAlgn="b"/>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16</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22</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2154295191"/>
                  </a:ext>
                </a:extLst>
              </a:tr>
              <a:tr h="388249">
                <a:tc>
                  <a:txBody>
                    <a:bodyPr/>
                    <a:lstStyle/>
                    <a:p>
                      <a:pPr algn="ctr" fontAlgn="b"/>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6</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14</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3054572918"/>
                  </a:ext>
                </a:extLst>
              </a:tr>
              <a:tr h="388249">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6</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3734511"/>
                  </a:ext>
                </a:extLst>
              </a:tr>
              <a:tr h="388249">
                <a:tc>
                  <a:txBody>
                    <a:bodyPr/>
                    <a:lstStyle/>
                    <a:p>
                      <a:pPr algn="ctr" fontAlgn="b"/>
                      <a:r>
                        <a:rPr lang="es-PE" sz="2000" b="1" u="none" strike="noStrike">
                          <a:effectLst/>
                        </a:rPr>
                        <a:t>14</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12</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22</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2700250366"/>
                  </a:ext>
                </a:extLst>
              </a:tr>
              <a:tr h="388249">
                <a:tc>
                  <a:txBody>
                    <a:bodyPr/>
                    <a:lstStyle/>
                    <a:p>
                      <a:pPr algn="ctr" fontAlgn="b"/>
                      <a:r>
                        <a:rPr lang="es-PE" sz="2000" b="1" u="none" strike="noStrike">
                          <a:effectLst/>
                        </a:rPr>
                        <a:t>3</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12</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13</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81402353"/>
                  </a:ext>
                </a:extLst>
              </a:tr>
            </a:tbl>
          </a:graphicData>
        </a:graphic>
      </p:graphicFrame>
      <p:sp>
        <p:nvSpPr>
          <p:cNvPr id="2" name="Rectángulo 1">
            <a:extLst>
              <a:ext uri="{FF2B5EF4-FFF2-40B4-BE49-F238E27FC236}">
                <a16:creationId xmlns:a16="http://schemas.microsoft.com/office/drawing/2014/main" id="{D0F6BF18-9B42-44B9-A4E9-57E9BD408BED}"/>
              </a:ext>
            </a:extLst>
          </p:cNvPr>
          <p:cNvSpPr/>
          <p:nvPr/>
        </p:nvSpPr>
        <p:spPr>
          <a:xfrm>
            <a:off x="320615" y="1256857"/>
            <a:ext cx="11728601" cy="461665"/>
          </a:xfrm>
          <a:prstGeom prst="rect">
            <a:avLst/>
          </a:prstGeom>
        </p:spPr>
        <p:txBody>
          <a:bodyPr wrap="square">
            <a:spAutoFit/>
          </a:bodyPr>
          <a:lstStyle/>
          <a:p>
            <a:r>
              <a:rPr lang="es-PE" sz="2400" b="1" dirty="0"/>
              <a:t>Asignar a los trabajadores (filas) las tareas (columnas) tomando en cuenta la productividad.</a:t>
            </a:r>
          </a:p>
        </p:txBody>
      </p:sp>
      <p:graphicFrame>
        <p:nvGraphicFramePr>
          <p:cNvPr id="3" name="Tabla 2">
            <a:extLst>
              <a:ext uri="{FF2B5EF4-FFF2-40B4-BE49-F238E27FC236}">
                <a16:creationId xmlns:a16="http://schemas.microsoft.com/office/drawing/2014/main" id="{DAD01D2C-EC73-410D-862C-3281E843C1CD}"/>
              </a:ext>
            </a:extLst>
          </p:cNvPr>
          <p:cNvGraphicFramePr>
            <a:graphicFrameLocks noGrp="1"/>
          </p:cNvGraphicFramePr>
          <p:nvPr>
            <p:extLst>
              <p:ext uri="{D42A27DB-BD31-4B8C-83A1-F6EECF244321}">
                <p14:modId xmlns:p14="http://schemas.microsoft.com/office/powerpoint/2010/main" val="2699585599"/>
              </p:ext>
            </p:extLst>
          </p:nvPr>
        </p:nvGraphicFramePr>
        <p:xfrm>
          <a:off x="370936" y="1733908"/>
          <a:ext cx="3205745" cy="2571099"/>
        </p:xfrm>
        <a:graphic>
          <a:graphicData uri="http://schemas.openxmlformats.org/drawingml/2006/table">
            <a:tbl>
              <a:tblPr>
                <a:tableStyleId>{5C22544A-7EE6-4342-B048-85BDC9FD1C3A}</a:tableStyleId>
              </a:tblPr>
              <a:tblGrid>
                <a:gridCol w="641149">
                  <a:extLst>
                    <a:ext uri="{9D8B030D-6E8A-4147-A177-3AD203B41FA5}">
                      <a16:colId xmlns:a16="http://schemas.microsoft.com/office/drawing/2014/main" val="1721322294"/>
                    </a:ext>
                  </a:extLst>
                </a:gridCol>
                <a:gridCol w="641149">
                  <a:extLst>
                    <a:ext uri="{9D8B030D-6E8A-4147-A177-3AD203B41FA5}">
                      <a16:colId xmlns:a16="http://schemas.microsoft.com/office/drawing/2014/main" val="106007241"/>
                    </a:ext>
                  </a:extLst>
                </a:gridCol>
                <a:gridCol w="641149">
                  <a:extLst>
                    <a:ext uri="{9D8B030D-6E8A-4147-A177-3AD203B41FA5}">
                      <a16:colId xmlns:a16="http://schemas.microsoft.com/office/drawing/2014/main" val="2742635070"/>
                    </a:ext>
                  </a:extLst>
                </a:gridCol>
                <a:gridCol w="641149">
                  <a:extLst>
                    <a:ext uri="{9D8B030D-6E8A-4147-A177-3AD203B41FA5}">
                      <a16:colId xmlns:a16="http://schemas.microsoft.com/office/drawing/2014/main" val="1843883793"/>
                    </a:ext>
                  </a:extLst>
                </a:gridCol>
                <a:gridCol w="641149">
                  <a:extLst>
                    <a:ext uri="{9D8B030D-6E8A-4147-A177-3AD203B41FA5}">
                      <a16:colId xmlns:a16="http://schemas.microsoft.com/office/drawing/2014/main" val="2016949927"/>
                    </a:ext>
                  </a:extLst>
                </a:gridCol>
              </a:tblGrid>
              <a:tr h="383226">
                <a:tc>
                  <a:txBody>
                    <a:bodyPr/>
                    <a:lstStyle/>
                    <a:p>
                      <a:pPr algn="ctr" fontAlgn="t"/>
                      <a:r>
                        <a:rPr lang="es-PE" sz="2000" b="1" u="none" strike="noStrike" dirty="0">
                          <a:effectLst/>
                        </a:rPr>
                        <a:t>12</a:t>
                      </a:r>
                      <a:endParaRPr lang="es-PE" sz="2000" b="1" i="0" u="none" strike="noStrike" dirty="0">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24</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8</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2</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extLst>
                  <a:ext uri="{0D108BD9-81ED-4DB2-BD59-A6C34878D82A}">
                    <a16:rowId xmlns:a16="http://schemas.microsoft.com/office/drawing/2014/main" val="551562236"/>
                  </a:ext>
                </a:extLst>
              </a:tr>
              <a:tr h="383226">
                <a:tc>
                  <a:txBody>
                    <a:bodyPr/>
                    <a:lstStyle/>
                    <a:p>
                      <a:pPr algn="ctr" fontAlgn="t"/>
                      <a:r>
                        <a:rPr lang="es-PE" sz="2000" b="1" u="none" strike="noStrike" dirty="0">
                          <a:effectLst/>
                        </a:rPr>
                        <a:t>6</a:t>
                      </a:r>
                      <a:endParaRPr lang="es-PE" sz="2000" b="1" i="0" u="none" strike="noStrike" dirty="0">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8</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20</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14</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6</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extLst>
                  <a:ext uri="{0D108BD9-81ED-4DB2-BD59-A6C34878D82A}">
                    <a16:rowId xmlns:a16="http://schemas.microsoft.com/office/drawing/2014/main" val="2415791545"/>
                  </a:ext>
                </a:extLst>
              </a:tr>
              <a:tr h="383226">
                <a:tc>
                  <a:txBody>
                    <a:bodyPr/>
                    <a:lstStyle/>
                    <a:p>
                      <a:pPr algn="ctr" fontAlgn="t"/>
                      <a:r>
                        <a:rPr lang="es-PE" sz="2000" b="1" u="none" strike="noStrike" dirty="0">
                          <a:effectLst/>
                        </a:rPr>
                        <a:t>10</a:t>
                      </a:r>
                      <a:endParaRPr lang="es-PE" sz="2000" b="1" i="0" u="none" strike="noStrike" dirty="0">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dirty="0">
                          <a:effectLst/>
                        </a:rPr>
                        <a:t>6</a:t>
                      </a:r>
                      <a:endParaRPr lang="es-PE" sz="2000" b="1" i="0" u="none" strike="noStrike" dirty="0">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12</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extLst>
                  <a:ext uri="{0D108BD9-81ED-4DB2-BD59-A6C34878D82A}">
                    <a16:rowId xmlns:a16="http://schemas.microsoft.com/office/drawing/2014/main" val="4390148"/>
                  </a:ext>
                </a:extLst>
              </a:tr>
              <a:tr h="383226">
                <a:tc>
                  <a:txBody>
                    <a:bodyPr/>
                    <a:lstStyle/>
                    <a:p>
                      <a:pPr algn="ctr" fontAlgn="t"/>
                      <a:r>
                        <a:rPr lang="es-PE" sz="2000" b="1" u="none" strike="noStrike">
                          <a:effectLst/>
                        </a:rPr>
                        <a:t>2</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dirty="0">
                          <a:effectLst/>
                        </a:rPr>
                        <a:t>4</a:t>
                      </a:r>
                      <a:endParaRPr lang="es-PE" sz="2000" b="1" i="0" u="none" strike="noStrike" dirty="0">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2</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a:effectLst/>
                        </a:rPr>
                        <a:t>24</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dirty="0">
                          <a:effectLst/>
                        </a:rPr>
                        <a:t>20</a:t>
                      </a:r>
                      <a:endParaRPr lang="es-PE" sz="2000" b="1" i="0" u="none" strike="noStrike" dirty="0">
                        <a:solidFill>
                          <a:srgbClr val="000000"/>
                        </a:solidFill>
                        <a:effectLst/>
                        <a:latin typeface="Arial Narrow" panose="020B0606020202030204" pitchFamily="34" charset="0"/>
                      </a:endParaRPr>
                    </a:p>
                  </a:txBody>
                  <a:tcPr marL="0" marR="0" marT="0" marB="0">
                    <a:solidFill>
                      <a:srgbClr val="FFFF00"/>
                    </a:solidFill>
                  </a:tcPr>
                </a:tc>
                <a:extLst>
                  <a:ext uri="{0D108BD9-81ED-4DB2-BD59-A6C34878D82A}">
                    <a16:rowId xmlns:a16="http://schemas.microsoft.com/office/drawing/2014/main" val="835562085"/>
                  </a:ext>
                </a:extLst>
              </a:tr>
              <a:tr h="383226">
                <a:tc>
                  <a:txBody>
                    <a:bodyPr/>
                    <a:lstStyle/>
                    <a:p>
                      <a:pPr algn="ctr" fontAlgn="t"/>
                      <a:r>
                        <a:rPr lang="es-PE" sz="2000" b="1" u="none" strike="noStrike">
                          <a:effectLst/>
                        </a:rPr>
                        <a:t>7</a:t>
                      </a:r>
                      <a:endParaRPr lang="es-PE" sz="2000" b="1" i="0" u="none" strike="noStrike">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dirty="0">
                          <a:effectLst/>
                        </a:rPr>
                        <a:t>10</a:t>
                      </a:r>
                      <a:endParaRPr lang="es-PE" sz="2000" b="1" i="0" u="none" strike="noStrike" dirty="0">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dirty="0">
                          <a:effectLst/>
                        </a:rPr>
                        <a:t>6</a:t>
                      </a:r>
                      <a:endParaRPr lang="es-PE" sz="2000" b="1" i="0" u="none" strike="noStrike" dirty="0">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dirty="0">
                          <a:effectLst/>
                        </a:rPr>
                        <a:t>5</a:t>
                      </a:r>
                      <a:endParaRPr lang="es-PE" sz="2000" b="1" i="0" u="none" strike="noStrike" dirty="0">
                        <a:solidFill>
                          <a:srgbClr val="000000"/>
                        </a:solidFill>
                        <a:effectLst/>
                        <a:latin typeface="Arial Narrow" panose="020B0606020202030204" pitchFamily="34" charset="0"/>
                      </a:endParaRPr>
                    </a:p>
                  </a:txBody>
                  <a:tcPr marL="0" marR="0" marT="0" marB="0">
                    <a:solidFill>
                      <a:srgbClr val="FFFF00"/>
                    </a:solidFill>
                  </a:tcPr>
                </a:tc>
                <a:tc>
                  <a:txBody>
                    <a:bodyPr/>
                    <a:lstStyle/>
                    <a:p>
                      <a:pPr algn="ctr" fontAlgn="t"/>
                      <a:r>
                        <a:rPr lang="es-PE" sz="2000" b="1" u="none" strike="noStrike" dirty="0">
                          <a:effectLst/>
                        </a:rPr>
                        <a:t>18</a:t>
                      </a:r>
                      <a:endParaRPr lang="es-PE" sz="2000" b="1" i="0" u="none" strike="noStrike" dirty="0">
                        <a:solidFill>
                          <a:srgbClr val="000000"/>
                        </a:solidFill>
                        <a:effectLst/>
                        <a:latin typeface="Arial Narrow" panose="020B0606020202030204" pitchFamily="34" charset="0"/>
                      </a:endParaRPr>
                    </a:p>
                  </a:txBody>
                  <a:tcPr marL="0" marR="0" marT="0" marB="0">
                    <a:solidFill>
                      <a:srgbClr val="FFFF00"/>
                    </a:solidFill>
                  </a:tcPr>
                </a:tc>
                <a:extLst>
                  <a:ext uri="{0D108BD9-81ED-4DB2-BD59-A6C34878D82A}">
                    <a16:rowId xmlns:a16="http://schemas.microsoft.com/office/drawing/2014/main" val="691134683"/>
                  </a:ext>
                </a:extLst>
              </a:tr>
              <a:tr h="348388">
                <a:tc>
                  <a:txBody>
                    <a:bodyPr/>
                    <a:lstStyle/>
                    <a:p>
                      <a:pPr algn="ctr" fontAlgn="b"/>
                      <a:endParaRPr lang="es-PE" sz="20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000" b="1" i="0" u="none" strike="noStrike">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000" b="1" i="0" u="none" strike="noStrike">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000" b="1" i="0" u="none" strike="noStrike">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000" b="1" i="0" u="none" strike="noStrike">
                        <a:solidFill>
                          <a:srgbClr val="000000"/>
                        </a:solidFill>
                        <a:effectLst/>
                        <a:latin typeface="Calibri" panose="020F0502020204030204" pitchFamily="34" charset="0"/>
                      </a:endParaRPr>
                    </a:p>
                  </a:txBody>
                  <a:tcPr marL="0" marR="0" marT="0" marB="0" anchor="b">
                    <a:solidFill>
                      <a:schemeClr val="bg1"/>
                    </a:solidFill>
                  </a:tcPr>
                </a:tc>
                <a:extLst>
                  <a:ext uri="{0D108BD9-81ED-4DB2-BD59-A6C34878D82A}">
                    <a16:rowId xmlns:a16="http://schemas.microsoft.com/office/drawing/2014/main" val="3928427051"/>
                  </a:ext>
                </a:extLst>
              </a:tr>
              <a:tr h="306581">
                <a:tc>
                  <a:txBody>
                    <a:bodyPr/>
                    <a:lstStyle/>
                    <a:p>
                      <a:pPr algn="ctr" fontAlgn="b"/>
                      <a:endParaRPr lang="es-PE" sz="20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000" b="1" i="0" u="none" strike="noStrike" dirty="0">
                        <a:solidFill>
                          <a:srgbClr val="000000"/>
                        </a:solidFill>
                        <a:effectLst/>
                        <a:latin typeface="Calibri" panose="020F0502020204030204" pitchFamily="34" charset="0"/>
                      </a:endParaRPr>
                    </a:p>
                  </a:txBody>
                  <a:tcPr marL="0" marR="0" marT="0" marB="0" anchor="b">
                    <a:solidFill>
                      <a:schemeClr val="bg1"/>
                    </a:solidFill>
                  </a:tcPr>
                </a:tc>
                <a:extLst>
                  <a:ext uri="{0D108BD9-81ED-4DB2-BD59-A6C34878D82A}">
                    <a16:rowId xmlns:a16="http://schemas.microsoft.com/office/drawing/2014/main" val="3085375342"/>
                  </a:ext>
                </a:extLst>
              </a:tr>
            </a:tbl>
          </a:graphicData>
        </a:graphic>
      </p:graphicFrame>
      <p:sp>
        <p:nvSpPr>
          <p:cNvPr id="4" name="1 Flecha derecha">
            <a:extLst>
              <a:ext uri="{FF2B5EF4-FFF2-40B4-BE49-F238E27FC236}">
                <a16:creationId xmlns:a16="http://schemas.microsoft.com/office/drawing/2014/main" id="{00000000-0008-0000-0300-000002000000}"/>
              </a:ext>
            </a:extLst>
          </p:cNvPr>
          <p:cNvSpPr/>
          <p:nvPr/>
        </p:nvSpPr>
        <p:spPr>
          <a:xfrm>
            <a:off x="3782565" y="2333625"/>
            <a:ext cx="217948" cy="1666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2400" b="1"/>
          </a:p>
        </p:txBody>
      </p:sp>
      <p:sp>
        <p:nvSpPr>
          <p:cNvPr id="5" name="2 Flecha derecha">
            <a:extLst>
              <a:ext uri="{FF2B5EF4-FFF2-40B4-BE49-F238E27FC236}">
                <a16:creationId xmlns:a16="http://schemas.microsoft.com/office/drawing/2014/main" id="{00000000-0008-0000-0300-000003000000}"/>
              </a:ext>
            </a:extLst>
          </p:cNvPr>
          <p:cNvSpPr/>
          <p:nvPr/>
        </p:nvSpPr>
        <p:spPr>
          <a:xfrm>
            <a:off x="8211918" y="2328863"/>
            <a:ext cx="219540" cy="1666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2400" b="1"/>
          </a:p>
        </p:txBody>
      </p:sp>
      <p:sp>
        <p:nvSpPr>
          <p:cNvPr id="6" name="3 Flecha derecha">
            <a:extLst>
              <a:ext uri="{FF2B5EF4-FFF2-40B4-BE49-F238E27FC236}">
                <a16:creationId xmlns:a16="http://schemas.microsoft.com/office/drawing/2014/main" id="{00000000-0008-0000-0300-000004000000}"/>
              </a:ext>
            </a:extLst>
          </p:cNvPr>
          <p:cNvSpPr/>
          <p:nvPr/>
        </p:nvSpPr>
        <p:spPr>
          <a:xfrm rot="5400000">
            <a:off x="10220702" y="4003605"/>
            <a:ext cx="219075" cy="168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2400" b="1"/>
          </a:p>
        </p:txBody>
      </p:sp>
      <p:sp>
        <p:nvSpPr>
          <p:cNvPr id="7" name="4 Flecha derecha">
            <a:extLst>
              <a:ext uri="{FF2B5EF4-FFF2-40B4-BE49-F238E27FC236}">
                <a16:creationId xmlns:a16="http://schemas.microsoft.com/office/drawing/2014/main" id="{00000000-0008-0000-0300-000005000000}"/>
              </a:ext>
            </a:extLst>
          </p:cNvPr>
          <p:cNvSpPr/>
          <p:nvPr/>
        </p:nvSpPr>
        <p:spPr>
          <a:xfrm rot="10800000">
            <a:off x="8262940" y="5165280"/>
            <a:ext cx="219540" cy="1666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s-PE" sz="2400" b="1"/>
          </a:p>
        </p:txBody>
      </p:sp>
      <p:sp>
        <p:nvSpPr>
          <p:cNvPr id="8" name="Rectangle 2">
            <a:extLst>
              <a:ext uri="{FF2B5EF4-FFF2-40B4-BE49-F238E27FC236}">
                <a16:creationId xmlns:a16="http://schemas.microsoft.com/office/drawing/2014/main" id="{4CF382D0-3D6A-4BC0-B043-9257DDA6F254}"/>
              </a:ext>
            </a:extLst>
          </p:cNvPr>
          <p:cNvSpPr txBox="1">
            <a:spLocks noChangeArrowheads="1"/>
          </p:cNvSpPr>
          <p:nvPr/>
        </p:nvSpPr>
        <p:spPr>
          <a:xfrm>
            <a:off x="6096000" y="339014"/>
            <a:ext cx="6096000" cy="504825"/>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Maximizar</a:t>
            </a:r>
          </a:p>
        </p:txBody>
      </p:sp>
      <p:sp>
        <p:nvSpPr>
          <p:cNvPr id="9" name="Oval 6">
            <a:extLst>
              <a:ext uri="{FF2B5EF4-FFF2-40B4-BE49-F238E27FC236}">
                <a16:creationId xmlns:a16="http://schemas.microsoft.com/office/drawing/2014/main" id="{0B436719-02F6-4C80-B3A4-FBEEAC915F2B}"/>
              </a:ext>
            </a:extLst>
          </p:cNvPr>
          <p:cNvSpPr>
            <a:spLocks noChangeArrowheads="1"/>
          </p:cNvSpPr>
          <p:nvPr/>
        </p:nvSpPr>
        <p:spPr bwMode="auto">
          <a:xfrm>
            <a:off x="10124911" y="4759583"/>
            <a:ext cx="345039" cy="330580"/>
          </a:xfrm>
          <a:prstGeom prst="ellipse">
            <a:avLst/>
          </a:prstGeom>
          <a:noFill/>
          <a:ln w="12700">
            <a:solidFill>
              <a:schemeClr val="tx1"/>
            </a:solidFill>
            <a:round/>
            <a:headEnd type="none" w="sm" len="sm"/>
            <a:tailEnd type="none" w="sm" len="sm"/>
          </a:ln>
        </p:spPr>
        <p:txBody>
          <a:bodyPr wrap="none" anchor="ctr"/>
          <a:lstStyle/>
          <a:p>
            <a:endParaRPr lang="es-PE" sz="2400" b="1" dirty="0"/>
          </a:p>
        </p:txBody>
      </p:sp>
      <p:sp>
        <p:nvSpPr>
          <p:cNvPr id="10" name="Oval 6">
            <a:extLst>
              <a:ext uri="{FF2B5EF4-FFF2-40B4-BE49-F238E27FC236}">
                <a16:creationId xmlns:a16="http://schemas.microsoft.com/office/drawing/2014/main" id="{ECBF062A-1145-48B9-908A-99AB54B6F4AD}"/>
              </a:ext>
            </a:extLst>
          </p:cNvPr>
          <p:cNvSpPr>
            <a:spLocks noChangeArrowheads="1"/>
          </p:cNvSpPr>
          <p:nvPr/>
        </p:nvSpPr>
        <p:spPr bwMode="auto">
          <a:xfrm>
            <a:off x="10764991" y="5541903"/>
            <a:ext cx="345039" cy="330580"/>
          </a:xfrm>
          <a:prstGeom prst="ellipse">
            <a:avLst/>
          </a:prstGeom>
          <a:noFill/>
          <a:ln w="12700">
            <a:solidFill>
              <a:schemeClr val="tx1"/>
            </a:solidFill>
            <a:round/>
            <a:headEnd type="none" w="sm" len="sm"/>
            <a:tailEnd type="none" w="sm" len="sm"/>
          </a:ln>
        </p:spPr>
        <p:txBody>
          <a:bodyPr wrap="none" anchor="ctr"/>
          <a:lstStyle/>
          <a:p>
            <a:endParaRPr lang="es-PE" sz="2400" b="1" dirty="0"/>
          </a:p>
        </p:txBody>
      </p:sp>
      <p:sp>
        <p:nvSpPr>
          <p:cNvPr id="11" name="Oval 6">
            <a:extLst>
              <a:ext uri="{FF2B5EF4-FFF2-40B4-BE49-F238E27FC236}">
                <a16:creationId xmlns:a16="http://schemas.microsoft.com/office/drawing/2014/main" id="{ADB90FE5-8E12-4079-BADA-41F84F32F9B5}"/>
              </a:ext>
            </a:extLst>
          </p:cNvPr>
          <p:cNvSpPr>
            <a:spLocks noChangeArrowheads="1"/>
          </p:cNvSpPr>
          <p:nvPr/>
        </p:nvSpPr>
        <p:spPr bwMode="auto">
          <a:xfrm>
            <a:off x="8841684" y="5162916"/>
            <a:ext cx="345039" cy="330580"/>
          </a:xfrm>
          <a:prstGeom prst="ellipse">
            <a:avLst/>
          </a:prstGeom>
          <a:noFill/>
          <a:ln w="12700">
            <a:solidFill>
              <a:schemeClr val="tx1"/>
            </a:solidFill>
            <a:round/>
            <a:headEnd type="none" w="sm" len="sm"/>
            <a:tailEnd type="none" w="sm" len="sm"/>
          </a:ln>
        </p:spPr>
        <p:txBody>
          <a:bodyPr wrap="none" anchor="ctr"/>
          <a:lstStyle/>
          <a:p>
            <a:endParaRPr lang="es-PE" sz="2400" b="1" dirty="0"/>
          </a:p>
        </p:txBody>
      </p:sp>
      <p:sp>
        <p:nvSpPr>
          <p:cNvPr id="12" name="Oval 6">
            <a:extLst>
              <a:ext uri="{FF2B5EF4-FFF2-40B4-BE49-F238E27FC236}">
                <a16:creationId xmlns:a16="http://schemas.microsoft.com/office/drawing/2014/main" id="{8A4DE5DD-184E-4E9F-AD34-0D6D7B0E4137}"/>
              </a:ext>
            </a:extLst>
          </p:cNvPr>
          <p:cNvSpPr>
            <a:spLocks noChangeArrowheads="1"/>
          </p:cNvSpPr>
          <p:nvPr/>
        </p:nvSpPr>
        <p:spPr bwMode="auto">
          <a:xfrm>
            <a:off x="11405071" y="5948303"/>
            <a:ext cx="345039" cy="330580"/>
          </a:xfrm>
          <a:prstGeom prst="ellipse">
            <a:avLst/>
          </a:prstGeom>
          <a:noFill/>
          <a:ln w="12700">
            <a:solidFill>
              <a:schemeClr val="tx1"/>
            </a:solidFill>
            <a:round/>
            <a:headEnd type="none" w="sm" len="sm"/>
            <a:tailEnd type="none" w="sm" len="sm"/>
          </a:ln>
        </p:spPr>
        <p:txBody>
          <a:bodyPr wrap="none" anchor="ctr"/>
          <a:lstStyle/>
          <a:p>
            <a:endParaRPr lang="es-PE" sz="2400" b="1" dirty="0"/>
          </a:p>
        </p:txBody>
      </p:sp>
      <p:sp>
        <p:nvSpPr>
          <p:cNvPr id="13" name="Oval 6">
            <a:extLst>
              <a:ext uri="{FF2B5EF4-FFF2-40B4-BE49-F238E27FC236}">
                <a16:creationId xmlns:a16="http://schemas.microsoft.com/office/drawing/2014/main" id="{DA66800F-9D1C-4E1F-8E76-72803C5F3EA0}"/>
              </a:ext>
            </a:extLst>
          </p:cNvPr>
          <p:cNvSpPr>
            <a:spLocks noChangeArrowheads="1"/>
          </p:cNvSpPr>
          <p:nvPr/>
        </p:nvSpPr>
        <p:spPr bwMode="auto">
          <a:xfrm>
            <a:off x="9499017" y="4406475"/>
            <a:ext cx="345039" cy="330580"/>
          </a:xfrm>
          <a:prstGeom prst="ellipse">
            <a:avLst/>
          </a:prstGeom>
          <a:noFill/>
          <a:ln w="12700">
            <a:solidFill>
              <a:schemeClr val="tx1"/>
            </a:solidFill>
            <a:round/>
            <a:headEnd type="none" w="sm" len="sm"/>
            <a:tailEnd type="none" w="sm" len="sm"/>
          </a:ln>
        </p:spPr>
        <p:txBody>
          <a:bodyPr wrap="none" anchor="ctr"/>
          <a:lstStyle/>
          <a:p>
            <a:endParaRPr lang="es-PE" sz="2400" b="1" dirty="0"/>
          </a:p>
        </p:txBody>
      </p:sp>
      <p:graphicFrame>
        <p:nvGraphicFramePr>
          <p:cNvPr id="14" name="Tabla 13">
            <a:extLst>
              <a:ext uri="{FF2B5EF4-FFF2-40B4-BE49-F238E27FC236}">
                <a16:creationId xmlns:a16="http://schemas.microsoft.com/office/drawing/2014/main" id="{4B3E28AD-28B4-43FF-A858-9687BAAAFDBD}"/>
              </a:ext>
            </a:extLst>
          </p:cNvPr>
          <p:cNvGraphicFramePr>
            <a:graphicFrameLocks noGrp="1"/>
          </p:cNvGraphicFramePr>
          <p:nvPr>
            <p:extLst>
              <p:ext uri="{D42A27DB-BD31-4B8C-83A1-F6EECF244321}">
                <p14:modId xmlns:p14="http://schemas.microsoft.com/office/powerpoint/2010/main" val="505293528"/>
              </p:ext>
            </p:extLst>
          </p:nvPr>
        </p:nvGraphicFramePr>
        <p:xfrm>
          <a:off x="4151480" y="1664898"/>
          <a:ext cx="3205745" cy="1984075"/>
        </p:xfrm>
        <a:graphic>
          <a:graphicData uri="http://schemas.openxmlformats.org/drawingml/2006/table">
            <a:tbl>
              <a:tblPr>
                <a:tableStyleId>{5C22544A-7EE6-4342-B048-85BDC9FD1C3A}</a:tableStyleId>
              </a:tblPr>
              <a:tblGrid>
                <a:gridCol w="641149">
                  <a:extLst>
                    <a:ext uri="{9D8B030D-6E8A-4147-A177-3AD203B41FA5}">
                      <a16:colId xmlns:a16="http://schemas.microsoft.com/office/drawing/2014/main" val="1295497742"/>
                    </a:ext>
                  </a:extLst>
                </a:gridCol>
                <a:gridCol w="641149">
                  <a:extLst>
                    <a:ext uri="{9D8B030D-6E8A-4147-A177-3AD203B41FA5}">
                      <a16:colId xmlns:a16="http://schemas.microsoft.com/office/drawing/2014/main" val="2268072658"/>
                    </a:ext>
                  </a:extLst>
                </a:gridCol>
                <a:gridCol w="641149">
                  <a:extLst>
                    <a:ext uri="{9D8B030D-6E8A-4147-A177-3AD203B41FA5}">
                      <a16:colId xmlns:a16="http://schemas.microsoft.com/office/drawing/2014/main" val="2509840726"/>
                    </a:ext>
                  </a:extLst>
                </a:gridCol>
                <a:gridCol w="641149">
                  <a:extLst>
                    <a:ext uri="{9D8B030D-6E8A-4147-A177-3AD203B41FA5}">
                      <a16:colId xmlns:a16="http://schemas.microsoft.com/office/drawing/2014/main" val="2436289805"/>
                    </a:ext>
                  </a:extLst>
                </a:gridCol>
                <a:gridCol w="641149">
                  <a:extLst>
                    <a:ext uri="{9D8B030D-6E8A-4147-A177-3AD203B41FA5}">
                      <a16:colId xmlns:a16="http://schemas.microsoft.com/office/drawing/2014/main" val="1275922790"/>
                    </a:ext>
                  </a:extLst>
                </a:gridCol>
              </a:tblGrid>
              <a:tr h="396815">
                <a:tc>
                  <a:txBody>
                    <a:bodyPr/>
                    <a:lstStyle/>
                    <a:p>
                      <a:pPr algn="ctr" fontAlgn="b"/>
                      <a:r>
                        <a:rPr lang="es-PE" sz="2000" b="1" u="none" strike="noStrike" dirty="0">
                          <a:effectLst/>
                        </a:rPr>
                        <a:t>-12</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-16</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-24</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-8</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697610164"/>
                  </a:ext>
                </a:extLst>
              </a:tr>
              <a:tr h="396815">
                <a:tc>
                  <a:txBody>
                    <a:bodyPr/>
                    <a:lstStyle/>
                    <a:p>
                      <a:pPr algn="ctr" fontAlgn="b"/>
                      <a:r>
                        <a:rPr lang="es-PE" sz="2000" b="1" u="none" strike="noStrike" dirty="0">
                          <a:effectLst/>
                        </a:rPr>
                        <a:t>-6</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-8</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-20</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-14</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-6</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3978069445"/>
                  </a:ext>
                </a:extLst>
              </a:tr>
              <a:tr h="396815">
                <a:tc>
                  <a:txBody>
                    <a:bodyPr/>
                    <a:lstStyle/>
                    <a:p>
                      <a:pPr algn="ctr" fontAlgn="b"/>
                      <a:r>
                        <a:rPr lang="es-PE" sz="2000" b="1" u="none" strike="noStrike" dirty="0">
                          <a:effectLst/>
                        </a:rPr>
                        <a:t>-10</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-16</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-18</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-12</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1215825946"/>
                  </a:ext>
                </a:extLst>
              </a:tr>
              <a:tr h="396815">
                <a:tc>
                  <a:txBody>
                    <a:bodyPr/>
                    <a:lstStyle/>
                    <a:p>
                      <a:pPr algn="ctr" fontAlgn="b"/>
                      <a:r>
                        <a:rPr lang="es-PE" sz="2000" b="1" u="none" strike="noStrike" dirty="0">
                          <a:effectLst/>
                        </a:rPr>
                        <a:t>-2</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-24</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-20</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3587062680"/>
                  </a:ext>
                </a:extLst>
              </a:tr>
              <a:tr h="396815">
                <a:tc>
                  <a:txBody>
                    <a:bodyPr/>
                    <a:lstStyle/>
                    <a:p>
                      <a:pPr algn="ctr" fontAlgn="b"/>
                      <a:r>
                        <a:rPr lang="es-PE" sz="2000" b="1" u="none" strike="noStrike">
                          <a:effectLst/>
                        </a:rPr>
                        <a:t>-7</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-10</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-6</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-5</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-18</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636971375"/>
                  </a:ext>
                </a:extLst>
              </a:tr>
            </a:tbl>
          </a:graphicData>
        </a:graphic>
      </p:graphicFrame>
      <p:graphicFrame>
        <p:nvGraphicFramePr>
          <p:cNvPr id="15" name="Tabla 14">
            <a:extLst>
              <a:ext uri="{FF2B5EF4-FFF2-40B4-BE49-F238E27FC236}">
                <a16:creationId xmlns:a16="http://schemas.microsoft.com/office/drawing/2014/main" id="{6DAA46C5-5A57-4DA7-8B74-C68E4B7FDD4F}"/>
              </a:ext>
            </a:extLst>
          </p:cNvPr>
          <p:cNvGraphicFramePr>
            <a:graphicFrameLocks noGrp="1"/>
          </p:cNvGraphicFramePr>
          <p:nvPr>
            <p:extLst>
              <p:ext uri="{D42A27DB-BD31-4B8C-83A1-F6EECF244321}">
                <p14:modId xmlns:p14="http://schemas.microsoft.com/office/powerpoint/2010/main" val="2599078400"/>
              </p:ext>
            </p:extLst>
          </p:nvPr>
        </p:nvGraphicFramePr>
        <p:xfrm>
          <a:off x="7377023" y="1713482"/>
          <a:ext cx="641149" cy="1941245"/>
        </p:xfrm>
        <a:graphic>
          <a:graphicData uri="http://schemas.openxmlformats.org/drawingml/2006/table">
            <a:tbl>
              <a:tblPr>
                <a:tableStyleId>{5C22544A-7EE6-4342-B048-85BDC9FD1C3A}</a:tableStyleId>
              </a:tblPr>
              <a:tblGrid>
                <a:gridCol w="641149">
                  <a:extLst>
                    <a:ext uri="{9D8B030D-6E8A-4147-A177-3AD203B41FA5}">
                      <a16:colId xmlns:a16="http://schemas.microsoft.com/office/drawing/2014/main" val="507450383"/>
                    </a:ext>
                  </a:extLst>
                </a:gridCol>
              </a:tblGrid>
              <a:tr h="388249">
                <a:tc>
                  <a:txBody>
                    <a:bodyPr/>
                    <a:lstStyle/>
                    <a:p>
                      <a:pPr algn="ctr" fontAlgn="b"/>
                      <a:r>
                        <a:rPr lang="es-PE" sz="2000" b="1" u="none" strike="noStrike" dirty="0">
                          <a:solidFill>
                            <a:srgbClr val="FF0000"/>
                          </a:solidFill>
                          <a:effectLst/>
                        </a:rPr>
                        <a:t>-24</a:t>
                      </a:r>
                      <a:endParaRPr lang="es-PE" sz="2000" b="1" i="0" u="none" strike="noStrike" dirty="0">
                        <a:solidFill>
                          <a:srgbClr val="FF0000"/>
                        </a:solidFill>
                        <a:effectLst/>
                        <a:latin typeface="Calibri" panose="020F0502020204030204" pitchFamily="34" charset="0"/>
                      </a:endParaRPr>
                    </a:p>
                  </a:txBody>
                  <a:tcPr marL="0" marR="0" marT="0" marB="0" anchor="b">
                    <a:solidFill>
                      <a:schemeClr val="bg1"/>
                    </a:solidFill>
                  </a:tcPr>
                </a:tc>
                <a:extLst>
                  <a:ext uri="{0D108BD9-81ED-4DB2-BD59-A6C34878D82A}">
                    <a16:rowId xmlns:a16="http://schemas.microsoft.com/office/drawing/2014/main" val="3887318153"/>
                  </a:ext>
                </a:extLst>
              </a:tr>
              <a:tr h="388249">
                <a:tc>
                  <a:txBody>
                    <a:bodyPr/>
                    <a:lstStyle/>
                    <a:p>
                      <a:pPr algn="ctr" fontAlgn="b"/>
                      <a:r>
                        <a:rPr lang="es-PE" sz="2000" b="1" u="none" strike="noStrike" dirty="0">
                          <a:solidFill>
                            <a:srgbClr val="FF0000"/>
                          </a:solidFill>
                          <a:effectLst/>
                        </a:rPr>
                        <a:t>-20</a:t>
                      </a:r>
                      <a:endParaRPr lang="es-PE" sz="2000" b="1" i="0" u="none" strike="noStrike" dirty="0">
                        <a:solidFill>
                          <a:srgbClr val="FF0000"/>
                        </a:solidFill>
                        <a:effectLst/>
                        <a:latin typeface="Calibri" panose="020F0502020204030204" pitchFamily="34" charset="0"/>
                      </a:endParaRPr>
                    </a:p>
                  </a:txBody>
                  <a:tcPr marL="0" marR="0" marT="0" marB="0" anchor="b">
                    <a:solidFill>
                      <a:schemeClr val="bg1"/>
                    </a:solidFill>
                  </a:tcPr>
                </a:tc>
                <a:extLst>
                  <a:ext uri="{0D108BD9-81ED-4DB2-BD59-A6C34878D82A}">
                    <a16:rowId xmlns:a16="http://schemas.microsoft.com/office/drawing/2014/main" val="1003605001"/>
                  </a:ext>
                </a:extLst>
              </a:tr>
              <a:tr h="388249">
                <a:tc>
                  <a:txBody>
                    <a:bodyPr/>
                    <a:lstStyle/>
                    <a:p>
                      <a:pPr algn="ctr" fontAlgn="b"/>
                      <a:r>
                        <a:rPr lang="es-PE" sz="2000" b="1" u="none" strike="noStrike" dirty="0">
                          <a:solidFill>
                            <a:srgbClr val="FF0000"/>
                          </a:solidFill>
                          <a:effectLst/>
                        </a:rPr>
                        <a:t>-18</a:t>
                      </a:r>
                      <a:endParaRPr lang="es-PE" sz="2000" b="1" i="0" u="none" strike="noStrike" dirty="0">
                        <a:solidFill>
                          <a:srgbClr val="FF0000"/>
                        </a:solidFill>
                        <a:effectLst/>
                        <a:latin typeface="Calibri" panose="020F0502020204030204" pitchFamily="34" charset="0"/>
                      </a:endParaRPr>
                    </a:p>
                  </a:txBody>
                  <a:tcPr marL="0" marR="0" marT="0" marB="0" anchor="b">
                    <a:solidFill>
                      <a:schemeClr val="bg1"/>
                    </a:solidFill>
                  </a:tcPr>
                </a:tc>
                <a:extLst>
                  <a:ext uri="{0D108BD9-81ED-4DB2-BD59-A6C34878D82A}">
                    <a16:rowId xmlns:a16="http://schemas.microsoft.com/office/drawing/2014/main" val="1953193887"/>
                  </a:ext>
                </a:extLst>
              </a:tr>
              <a:tr h="388249">
                <a:tc>
                  <a:txBody>
                    <a:bodyPr/>
                    <a:lstStyle/>
                    <a:p>
                      <a:pPr algn="ctr" fontAlgn="b"/>
                      <a:r>
                        <a:rPr lang="es-PE" sz="2000" b="1" u="none" strike="noStrike" dirty="0">
                          <a:solidFill>
                            <a:srgbClr val="FF0000"/>
                          </a:solidFill>
                          <a:effectLst/>
                        </a:rPr>
                        <a:t>-24</a:t>
                      </a:r>
                      <a:endParaRPr lang="es-PE" sz="2000" b="1" i="0" u="none" strike="noStrike" dirty="0">
                        <a:solidFill>
                          <a:srgbClr val="FF0000"/>
                        </a:solidFill>
                        <a:effectLst/>
                        <a:latin typeface="Calibri" panose="020F0502020204030204" pitchFamily="34" charset="0"/>
                      </a:endParaRPr>
                    </a:p>
                  </a:txBody>
                  <a:tcPr marL="0" marR="0" marT="0" marB="0" anchor="b">
                    <a:solidFill>
                      <a:schemeClr val="bg1"/>
                    </a:solidFill>
                  </a:tcPr>
                </a:tc>
                <a:extLst>
                  <a:ext uri="{0D108BD9-81ED-4DB2-BD59-A6C34878D82A}">
                    <a16:rowId xmlns:a16="http://schemas.microsoft.com/office/drawing/2014/main" val="36530778"/>
                  </a:ext>
                </a:extLst>
              </a:tr>
              <a:tr h="388249">
                <a:tc>
                  <a:txBody>
                    <a:bodyPr/>
                    <a:lstStyle/>
                    <a:p>
                      <a:pPr algn="ctr" fontAlgn="b"/>
                      <a:r>
                        <a:rPr lang="es-PE" sz="2000" b="1" u="none" strike="noStrike" dirty="0">
                          <a:solidFill>
                            <a:srgbClr val="FF0000"/>
                          </a:solidFill>
                          <a:effectLst/>
                        </a:rPr>
                        <a:t>-18</a:t>
                      </a:r>
                      <a:endParaRPr lang="es-PE" sz="2000" b="1" i="0" u="none" strike="noStrike" dirty="0">
                        <a:solidFill>
                          <a:srgbClr val="FF0000"/>
                        </a:solidFill>
                        <a:effectLst/>
                        <a:latin typeface="Calibri" panose="020F0502020204030204" pitchFamily="34" charset="0"/>
                      </a:endParaRPr>
                    </a:p>
                  </a:txBody>
                  <a:tcPr marL="0" marR="0" marT="0" marB="0" anchor="b">
                    <a:solidFill>
                      <a:schemeClr val="bg1"/>
                    </a:solidFill>
                  </a:tcPr>
                </a:tc>
                <a:extLst>
                  <a:ext uri="{0D108BD9-81ED-4DB2-BD59-A6C34878D82A}">
                    <a16:rowId xmlns:a16="http://schemas.microsoft.com/office/drawing/2014/main" val="554434718"/>
                  </a:ext>
                </a:extLst>
              </a:tr>
            </a:tbl>
          </a:graphicData>
        </a:graphic>
      </p:graphicFrame>
      <p:graphicFrame>
        <p:nvGraphicFramePr>
          <p:cNvPr id="16" name="Tabla 15">
            <a:extLst>
              <a:ext uri="{FF2B5EF4-FFF2-40B4-BE49-F238E27FC236}">
                <a16:creationId xmlns:a16="http://schemas.microsoft.com/office/drawing/2014/main" id="{C9816577-DECC-4DCE-8560-58F8F6DC6897}"/>
              </a:ext>
            </a:extLst>
          </p:cNvPr>
          <p:cNvGraphicFramePr>
            <a:graphicFrameLocks noGrp="1"/>
          </p:cNvGraphicFramePr>
          <p:nvPr>
            <p:extLst>
              <p:ext uri="{D42A27DB-BD31-4B8C-83A1-F6EECF244321}">
                <p14:modId xmlns:p14="http://schemas.microsoft.com/office/powerpoint/2010/main" val="3482229271"/>
              </p:ext>
            </p:extLst>
          </p:nvPr>
        </p:nvGraphicFramePr>
        <p:xfrm>
          <a:off x="8679611" y="1668901"/>
          <a:ext cx="3205745" cy="1980075"/>
        </p:xfrm>
        <a:graphic>
          <a:graphicData uri="http://schemas.openxmlformats.org/drawingml/2006/table">
            <a:tbl>
              <a:tblPr>
                <a:tableStyleId>{5C22544A-7EE6-4342-B048-85BDC9FD1C3A}</a:tableStyleId>
              </a:tblPr>
              <a:tblGrid>
                <a:gridCol w="641149">
                  <a:extLst>
                    <a:ext uri="{9D8B030D-6E8A-4147-A177-3AD203B41FA5}">
                      <a16:colId xmlns:a16="http://schemas.microsoft.com/office/drawing/2014/main" val="3389342208"/>
                    </a:ext>
                  </a:extLst>
                </a:gridCol>
                <a:gridCol w="641149">
                  <a:extLst>
                    <a:ext uri="{9D8B030D-6E8A-4147-A177-3AD203B41FA5}">
                      <a16:colId xmlns:a16="http://schemas.microsoft.com/office/drawing/2014/main" val="2497571715"/>
                    </a:ext>
                  </a:extLst>
                </a:gridCol>
                <a:gridCol w="641149">
                  <a:extLst>
                    <a:ext uri="{9D8B030D-6E8A-4147-A177-3AD203B41FA5}">
                      <a16:colId xmlns:a16="http://schemas.microsoft.com/office/drawing/2014/main" val="2881948378"/>
                    </a:ext>
                  </a:extLst>
                </a:gridCol>
                <a:gridCol w="641149">
                  <a:extLst>
                    <a:ext uri="{9D8B030D-6E8A-4147-A177-3AD203B41FA5}">
                      <a16:colId xmlns:a16="http://schemas.microsoft.com/office/drawing/2014/main" val="3769726039"/>
                    </a:ext>
                  </a:extLst>
                </a:gridCol>
                <a:gridCol w="641149">
                  <a:extLst>
                    <a:ext uri="{9D8B030D-6E8A-4147-A177-3AD203B41FA5}">
                      <a16:colId xmlns:a16="http://schemas.microsoft.com/office/drawing/2014/main" val="1916308629"/>
                    </a:ext>
                  </a:extLst>
                </a:gridCol>
              </a:tblGrid>
              <a:tr h="396015">
                <a:tc>
                  <a:txBody>
                    <a:bodyPr/>
                    <a:lstStyle/>
                    <a:p>
                      <a:pPr algn="ctr" fontAlgn="b"/>
                      <a:r>
                        <a:rPr lang="es-PE" sz="2000" b="1" u="none" strike="noStrike" dirty="0">
                          <a:effectLst/>
                        </a:rPr>
                        <a:t>12</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8</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16</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22</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526362552"/>
                  </a:ext>
                </a:extLst>
              </a:tr>
              <a:tr h="396015">
                <a:tc>
                  <a:txBody>
                    <a:bodyPr/>
                    <a:lstStyle/>
                    <a:p>
                      <a:pPr algn="ctr" fontAlgn="b"/>
                      <a:r>
                        <a:rPr lang="es-PE" sz="2000" b="1" u="none" strike="noStrike" dirty="0">
                          <a:effectLst/>
                        </a:rPr>
                        <a:t>14</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12</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14</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1045679126"/>
                  </a:ext>
                </a:extLst>
              </a:tr>
              <a:tr h="396015">
                <a:tc>
                  <a:txBody>
                    <a:bodyPr/>
                    <a:lstStyle/>
                    <a:p>
                      <a:pPr algn="ctr" fontAlgn="b"/>
                      <a:r>
                        <a:rPr lang="es-PE" sz="2000" b="1" u="none" strike="noStrike" dirty="0">
                          <a:effectLst/>
                        </a:rPr>
                        <a:t>8</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12</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586483595"/>
                  </a:ext>
                </a:extLst>
              </a:tr>
              <a:tr h="396015">
                <a:tc>
                  <a:txBody>
                    <a:bodyPr/>
                    <a:lstStyle/>
                    <a:p>
                      <a:pPr algn="ctr" fontAlgn="b"/>
                      <a:r>
                        <a:rPr lang="es-PE" sz="2000" b="1" u="none" strike="noStrike" dirty="0">
                          <a:effectLst/>
                        </a:rPr>
                        <a:t>22</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20</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22</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a:effectLst/>
                        </a:rPr>
                        <a:t>4</a:t>
                      </a:r>
                      <a:endParaRPr lang="es-PE" sz="2000" b="1" i="0" u="none" strike="noStrike">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2465375851"/>
                  </a:ext>
                </a:extLst>
              </a:tr>
              <a:tr h="396015">
                <a:tc>
                  <a:txBody>
                    <a:bodyPr/>
                    <a:lstStyle/>
                    <a:p>
                      <a:pPr algn="ctr" fontAlgn="b"/>
                      <a:r>
                        <a:rPr lang="es-PE" sz="2000" b="1" u="none" strike="noStrike" dirty="0">
                          <a:effectLst/>
                        </a:rPr>
                        <a:t>11</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8</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12</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13</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Calibri" panose="020F0502020204030204" pitchFamily="34" charset="0"/>
                      </a:endParaRPr>
                    </a:p>
                  </a:txBody>
                  <a:tcPr marL="0" marR="0" marT="0" marB="0" anchor="b">
                    <a:solidFill>
                      <a:srgbClr val="FFFF00"/>
                    </a:solidFill>
                  </a:tcPr>
                </a:tc>
                <a:extLst>
                  <a:ext uri="{0D108BD9-81ED-4DB2-BD59-A6C34878D82A}">
                    <a16:rowId xmlns:a16="http://schemas.microsoft.com/office/drawing/2014/main" val="3813827774"/>
                  </a:ext>
                </a:extLst>
              </a:tr>
            </a:tbl>
          </a:graphicData>
        </a:graphic>
      </p:graphicFrame>
      <p:graphicFrame>
        <p:nvGraphicFramePr>
          <p:cNvPr id="17" name="Tabla 16">
            <a:extLst>
              <a:ext uri="{FF2B5EF4-FFF2-40B4-BE49-F238E27FC236}">
                <a16:creationId xmlns:a16="http://schemas.microsoft.com/office/drawing/2014/main" id="{D1DA57FE-BE6C-444F-8480-7DE7C67F3934}"/>
              </a:ext>
            </a:extLst>
          </p:cNvPr>
          <p:cNvGraphicFramePr>
            <a:graphicFrameLocks noGrp="1"/>
          </p:cNvGraphicFramePr>
          <p:nvPr>
            <p:extLst>
              <p:ext uri="{D42A27DB-BD31-4B8C-83A1-F6EECF244321}">
                <p14:modId xmlns:p14="http://schemas.microsoft.com/office/powerpoint/2010/main" val="3591176679"/>
              </p:ext>
            </p:extLst>
          </p:nvPr>
        </p:nvGraphicFramePr>
        <p:xfrm>
          <a:off x="8722744" y="3628540"/>
          <a:ext cx="3205745" cy="352954"/>
        </p:xfrm>
        <a:graphic>
          <a:graphicData uri="http://schemas.openxmlformats.org/drawingml/2006/table">
            <a:tbl>
              <a:tblPr>
                <a:tableStyleId>{5C22544A-7EE6-4342-B048-85BDC9FD1C3A}</a:tableStyleId>
              </a:tblPr>
              <a:tblGrid>
                <a:gridCol w="641149">
                  <a:extLst>
                    <a:ext uri="{9D8B030D-6E8A-4147-A177-3AD203B41FA5}">
                      <a16:colId xmlns:a16="http://schemas.microsoft.com/office/drawing/2014/main" val="4251265719"/>
                    </a:ext>
                  </a:extLst>
                </a:gridCol>
                <a:gridCol w="641149">
                  <a:extLst>
                    <a:ext uri="{9D8B030D-6E8A-4147-A177-3AD203B41FA5}">
                      <a16:colId xmlns:a16="http://schemas.microsoft.com/office/drawing/2014/main" val="1768793099"/>
                    </a:ext>
                  </a:extLst>
                </a:gridCol>
                <a:gridCol w="641149">
                  <a:extLst>
                    <a:ext uri="{9D8B030D-6E8A-4147-A177-3AD203B41FA5}">
                      <a16:colId xmlns:a16="http://schemas.microsoft.com/office/drawing/2014/main" val="4087045991"/>
                    </a:ext>
                  </a:extLst>
                </a:gridCol>
                <a:gridCol w="641149">
                  <a:extLst>
                    <a:ext uri="{9D8B030D-6E8A-4147-A177-3AD203B41FA5}">
                      <a16:colId xmlns:a16="http://schemas.microsoft.com/office/drawing/2014/main" val="2811147668"/>
                    </a:ext>
                  </a:extLst>
                </a:gridCol>
                <a:gridCol w="641149">
                  <a:extLst>
                    <a:ext uri="{9D8B030D-6E8A-4147-A177-3AD203B41FA5}">
                      <a16:colId xmlns:a16="http://schemas.microsoft.com/office/drawing/2014/main" val="1034210302"/>
                    </a:ext>
                  </a:extLst>
                </a:gridCol>
              </a:tblGrid>
              <a:tr h="352954">
                <a:tc>
                  <a:txBody>
                    <a:bodyPr/>
                    <a:lstStyle/>
                    <a:p>
                      <a:pPr algn="ctr" fontAlgn="b"/>
                      <a:r>
                        <a:rPr lang="es-PE" sz="2000" b="1" u="none" strike="noStrike" dirty="0">
                          <a:solidFill>
                            <a:srgbClr val="FF0000"/>
                          </a:solidFill>
                          <a:effectLst/>
                        </a:rPr>
                        <a:t>8</a:t>
                      </a:r>
                      <a:endParaRPr lang="es-PE" sz="2000" b="1" i="0" u="none" strike="noStrike" dirty="0">
                        <a:solidFill>
                          <a:srgbClr val="FF0000"/>
                        </a:solidFill>
                        <a:effectLst/>
                        <a:latin typeface="Calibri" panose="020F0502020204030204" pitchFamily="34" charset="0"/>
                      </a:endParaRPr>
                    </a:p>
                  </a:txBody>
                  <a:tcPr marL="0" marR="0" marT="0" marB="0" anchor="ctr">
                    <a:solidFill>
                      <a:schemeClr val="bg1"/>
                    </a:solidFill>
                  </a:tcPr>
                </a:tc>
                <a:tc>
                  <a:txBody>
                    <a:bodyPr/>
                    <a:lstStyle/>
                    <a:p>
                      <a:pPr algn="ctr" fontAlgn="b"/>
                      <a:r>
                        <a:rPr lang="es-PE" sz="2000" b="1" u="none" strike="noStrike" dirty="0">
                          <a:solidFill>
                            <a:srgbClr val="FF0000"/>
                          </a:solidFill>
                          <a:effectLst/>
                        </a:rPr>
                        <a:t>8</a:t>
                      </a:r>
                      <a:endParaRPr lang="es-PE" sz="2000" b="1" i="0" u="none" strike="noStrike" dirty="0">
                        <a:solidFill>
                          <a:srgbClr val="FF0000"/>
                        </a:solidFill>
                        <a:effectLst/>
                        <a:latin typeface="Calibri" panose="020F0502020204030204" pitchFamily="34" charset="0"/>
                      </a:endParaRPr>
                    </a:p>
                  </a:txBody>
                  <a:tcPr marL="0" marR="0" marT="0" marB="0" anchor="ctr">
                    <a:solidFill>
                      <a:schemeClr val="bg1"/>
                    </a:solidFill>
                  </a:tcPr>
                </a:tc>
                <a:tc>
                  <a:txBody>
                    <a:bodyPr/>
                    <a:lstStyle/>
                    <a:p>
                      <a:pPr algn="ctr" fontAlgn="b"/>
                      <a:r>
                        <a:rPr lang="es-PE" sz="2000" b="1" u="none" strike="noStrike" dirty="0">
                          <a:solidFill>
                            <a:srgbClr val="FF0000"/>
                          </a:solidFill>
                          <a:effectLst/>
                        </a:rPr>
                        <a:t>0</a:t>
                      </a:r>
                      <a:endParaRPr lang="es-PE" sz="2000" b="1" i="0" u="none" strike="noStrike" dirty="0">
                        <a:solidFill>
                          <a:srgbClr val="FF0000"/>
                        </a:solidFill>
                        <a:effectLst/>
                        <a:latin typeface="Calibri" panose="020F0502020204030204" pitchFamily="34" charset="0"/>
                      </a:endParaRPr>
                    </a:p>
                  </a:txBody>
                  <a:tcPr marL="0" marR="0" marT="0" marB="0" anchor="ctr">
                    <a:solidFill>
                      <a:schemeClr val="bg1"/>
                    </a:solidFill>
                  </a:tcPr>
                </a:tc>
                <a:tc>
                  <a:txBody>
                    <a:bodyPr/>
                    <a:lstStyle/>
                    <a:p>
                      <a:pPr algn="ctr" fontAlgn="b"/>
                      <a:r>
                        <a:rPr lang="es-PE" sz="2000" b="1" u="none" strike="noStrike" dirty="0">
                          <a:solidFill>
                            <a:srgbClr val="FF0000"/>
                          </a:solidFill>
                          <a:effectLst/>
                        </a:rPr>
                        <a:t>0</a:t>
                      </a:r>
                      <a:endParaRPr lang="es-PE" sz="2000" b="1" i="0" u="none" strike="noStrike" dirty="0">
                        <a:solidFill>
                          <a:srgbClr val="FF0000"/>
                        </a:solidFill>
                        <a:effectLst/>
                        <a:latin typeface="Calibri" panose="020F0502020204030204" pitchFamily="34" charset="0"/>
                      </a:endParaRPr>
                    </a:p>
                  </a:txBody>
                  <a:tcPr marL="0" marR="0" marT="0" marB="0" anchor="ctr">
                    <a:solidFill>
                      <a:schemeClr val="bg1"/>
                    </a:solidFill>
                  </a:tcPr>
                </a:tc>
                <a:tc>
                  <a:txBody>
                    <a:bodyPr/>
                    <a:lstStyle/>
                    <a:p>
                      <a:pPr algn="ctr" fontAlgn="b"/>
                      <a:r>
                        <a:rPr lang="es-PE" sz="2000" b="1" u="none" strike="noStrike" dirty="0">
                          <a:solidFill>
                            <a:srgbClr val="FF0000"/>
                          </a:solidFill>
                          <a:effectLst/>
                        </a:rPr>
                        <a:t>0</a:t>
                      </a:r>
                      <a:endParaRPr lang="es-PE" sz="2000" b="1" i="0" u="none" strike="noStrike" dirty="0">
                        <a:solidFill>
                          <a:srgbClr val="FF0000"/>
                        </a:solidFill>
                        <a:effectLst/>
                        <a:latin typeface="Calibri" panose="020F0502020204030204" pitchFamily="34" charset="0"/>
                      </a:endParaRPr>
                    </a:p>
                  </a:txBody>
                  <a:tcPr marL="0" marR="0" marT="0" marB="0" anchor="ctr">
                    <a:solidFill>
                      <a:schemeClr val="bg1"/>
                    </a:solidFill>
                  </a:tcPr>
                </a:tc>
                <a:extLst>
                  <a:ext uri="{0D108BD9-81ED-4DB2-BD59-A6C34878D82A}">
                    <a16:rowId xmlns:a16="http://schemas.microsoft.com/office/drawing/2014/main" val="3582544994"/>
                  </a:ext>
                </a:extLst>
              </a:tr>
            </a:tbl>
          </a:graphicData>
        </a:graphic>
      </p:graphicFrame>
      <p:graphicFrame>
        <p:nvGraphicFramePr>
          <p:cNvPr id="19" name="Tabla 18">
            <a:extLst>
              <a:ext uri="{FF2B5EF4-FFF2-40B4-BE49-F238E27FC236}">
                <a16:creationId xmlns:a16="http://schemas.microsoft.com/office/drawing/2014/main" id="{1EA4CFF6-FD30-4B96-A2D8-1D41D770A09B}"/>
              </a:ext>
            </a:extLst>
          </p:cNvPr>
          <p:cNvGraphicFramePr>
            <a:graphicFrameLocks noGrp="1"/>
          </p:cNvGraphicFramePr>
          <p:nvPr>
            <p:extLst>
              <p:ext uri="{D42A27DB-BD31-4B8C-83A1-F6EECF244321}">
                <p14:modId xmlns:p14="http://schemas.microsoft.com/office/powerpoint/2010/main" val="274921604"/>
              </p:ext>
            </p:extLst>
          </p:nvPr>
        </p:nvGraphicFramePr>
        <p:xfrm>
          <a:off x="320615" y="4370417"/>
          <a:ext cx="7693789" cy="2307005"/>
        </p:xfrm>
        <a:graphic>
          <a:graphicData uri="http://schemas.openxmlformats.org/drawingml/2006/table">
            <a:tbl>
              <a:tblPr>
                <a:tableStyleId>{5C22544A-7EE6-4342-B048-85BDC9FD1C3A}</a:tableStyleId>
              </a:tblPr>
              <a:tblGrid>
                <a:gridCol w="641149">
                  <a:extLst>
                    <a:ext uri="{9D8B030D-6E8A-4147-A177-3AD203B41FA5}">
                      <a16:colId xmlns:a16="http://schemas.microsoft.com/office/drawing/2014/main" val="730471560"/>
                    </a:ext>
                  </a:extLst>
                </a:gridCol>
                <a:gridCol w="641149">
                  <a:extLst>
                    <a:ext uri="{9D8B030D-6E8A-4147-A177-3AD203B41FA5}">
                      <a16:colId xmlns:a16="http://schemas.microsoft.com/office/drawing/2014/main" val="194403795"/>
                    </a:ext>
                  </a:extLst>
                </a:gridCol>
                <a:gridCol w="641149">
                  <a:extLst>
                    <a:ext uri="{9D8B030D-6E8A-4147-A177-3AD203B41FA5}">
                      <a16:colId xmlns:a16="http://schemas.microsoft.com/office/drawing/2014/main" val="853095981"/>
                    </a:ext>
                  </a:extLst>
                </a:gridCol>
                <a:gridCol w="641149">
                  <a:extLst>
                    <a:ext uri="{9D8B030D-6E8A-4147-A177-3AD203B41FA5}">
                      <a16:colId xmlns:a16="http://schemas.microsoft.com/office/drawing/2014/main" val="1023984946"/>
                    </a:ext>
                  </a:extLst>
                </a:gridCol>
                <a:gridCol w="641149">
                  <a:extLst>
                    <a:ext uri="{9D8B030D-6E8A-4147-A177-3AD203B41FA5}">
                      <a16:colId xmlns:a16="http://schemas.microsoft.com/office/drawing/2014/main" val="2731250556"/>
                    </a:ext>
                  </a:extLst>
                </a:gridCol>
                <a:gridCol w="3205746">
                  <a:extLst>
                    <a:ext uri="{9D8B030D-6E8A-4147-A177-3AD203B41FA5}">
                      <a16:colId xmlns:a16="http://schemas.microsoft.com/office/drawing/2014/main" val="1248205424"/>
                    </a:ext>
                  </a:extLst>
                </a:gridCol>
                <a:gridCol w="641149">
                  <a:extLst>
                    <a:ext uri="{9D8B030D-6E8A-4147-A177-3AD203B41FA5}">
                      <a16:colId xmlns:a16="http://schemas.microsoft.com/office/drawing/2014/main" val="4065968619"/>
                    </a:ext>
                  </a:extLst>
                </a:gridCol>
                <a:gridCol w="641149">
                  <a:extLst>
                    <a:ext uri="{9D8B030D-6E8A-4147-A177-3AD203B41FA5}">
                      <a16:colId xmlns:a16="http://schemas.microsoft.com/office/drawing/2014/main" val="522975937"/>
                    </a:ext>
                  </a:extLst>
                </a:gridCol>
              </a:tblGrid>
              <a:tr h="388249">
                <a:tc gridSpan="4">
                  <a:txBody>
                    <a:bodyPr/>
                    <a:lstStyle/>
                    <a:p>
                      <a:pPr algn="ctr" fontAlgn="b"/>
                      <a:r>
                        <a:rPr lang="es-PE" sz="2400" b="1" u="none" strike="noStrike" dirty="0">
                          <a:effectLst/>
                        </a:rPr>
                        <a:t>Al trabajador </a:t>
                      </a:r>
                      <a:endParaRPr lang="es-PE" sz="2400" b="1"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t"/>
                      <a:r>
                        <a:rPr lang="es-PE" sz="2400" b="1" u="none" strike="noStrike" dirty="0">
                          <a:effectLst/>
                        </a:rPr>
                        <a:t>1</a:t>
                      </a:r>
                      <a:endParaRPr lang="es-PE" sz="2400" b="1" i="0" u="none" strike="noStrike" dirty="0">
                        <a:solidFill>
                          <a:srgbClr val="000000"/>
                        </a:solidFill>
                        <a:effectLst/>
                        <a:latin typeface="Arial Narrow" panose="020B0606020202030204" pitchFamily="34" charset="0"/>
                      </a:endParaRPr>
                    </a:p>
                  </a:txBody>
                  <a:tcPr marL="0" marR="0" marT="0" marB="0">
                    <a:solidFill>
                      <a:schemeClr val="accent1">
                        <a:lumMod val="40000"/>
                        <a:lumOff val="60000"/>
                      </a:schemeClr>
                    </a:solidFill>
                  </a:tcPr>
                </a:tc>
                <a:tc>
                  <a:txBody>
                    <a:bodyPr/>
                    <a:lstStyle/>
                    <a:p>
                      <a:pPr algn="ctr" fontAlgn="b"/>
                      <a:r>
                        <a:rPr lang="it-IT" sz="2400" b="1" u="none" strike="noStrike" dirty="0">
                          <a:effectLst/>
                        </a:rPr>
                        <a:t>se le asigna la tarea</a:t>
                      </a:r>
                      <a:endParaRPr lang="it-IT" sz="2400" b="1"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tc>
                  <a:txBody>
                    <a:bodyPr/>
                    <a:lstStyle/>
                    <a:p>
                      <a:pPr algn="ctr" fontAlgn="t"/>
                      <a:r>
                        <a:rPr lang="es-PE" sz="2400" b="1" u="none" strike="noStrike">
                          <a:effectLst/>
                        </a:rPr>
                        <a:t>2</a:t>
                      </a:r>
                      <a:endParaRPr lang="es-PE" sz="2400" b="1" i="0" u="none" strike="noStrike">
                        <a:solidFill>
                          <a:srgbClr val="000000"/>
                        </a:solidFill>
                        <a:effectLst/>
                        <a:latin typeface="Arial Narrow" panose="020B0606020202030204" pitchFamily="34" charset="0"/>
                      </a:endParaRPr>
                    </a:p>
                  </a:txBody>
                  <a:tcPr marL="0" marR="0" marT="0" marB="0">
                    <a:solidFill>
                      <a:schemeClr val="accent1">
                        <a:lumMod val="40000"/>
                        <a:lumOff val="60000"/>
                      </a:schemeClr>
                    </a:solidFill>
                  </a:tcPr>
                </a:tc>
                <a:tc>
                  <a:txBody>
                    <a:bodyPr/>
                    <a:lstStyle/>
                    <a:p>
                      <a:pPr algn="ctr" fontAlgn="b"/>
                      <a:r>
                        <a:rPr lang="es-PE" sz="2400" b="1" u="none" strike="noStrike">
                          <a:effectLst/>
                        </a:rPr>
                        <a:t>16</a:t>
                      </a:r>
                      <a:endParaRPr lang="es-PE" sz="2400" b="1" i="0" u="none" strike="noStrike">
                        <a:solidFill>
                          <a:srgbClr val="7030A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622770924"/>
                  </a:ext>
                </a:extLst>
              </a:tr>
              <a:tr h="388249">
                <a:tc gridSpan="4">
                  <a:txBody>
                    <a:bodyPr/>
                    <a:lstStyle/>
                    <a:p>
                      <a:pPr algn="ctr" fontAlgn="b"/>
                      <a:r>
                        <a:rPr lang="es-PE" sz="2400" b="1" u="none" strike="noStrike" dirty="0">
                          <a:effectLst/>
                        </a:rPr>
                        <a:t>Al trabajador </a:t>
                      </a:r>
                      <a:endParaRPr lang="es-PE" sz="2400" b="1"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t"/>
                      <a:r>
                        <a:rPr lang="es-PE" sz="2400" b="1" u="none" strike="noStrike">
                          <a:effectLst/>
                        </a:rPr>
                        <a:t>2</a:t>
                      </a:r>
                      <a:endParaRPr lang="es-PE" sz="2400" b="1" i="0" u="none" strike="noStrike">
                        <a:solidFill>
                          <a:srgbClr val="000000"/>
                        </a:solidFill>
                        <a:effectLst/>
                        <a:latin typeface="Arial Narrow" panose="020B0606020202030204" pitchFamily="34" charset="0"/>
                      </a:endParaRPr>
                    </a:p>
                  </a:txBody>
                  <a:tcPr marL="0" marR="0" marT="0" marB="0">
                    <a:solidFill>
                      <a:schemeClr val="accent1">
                        <a:lumMod val="40000"/>
                        <a:lumOff val="60000"/>
                      </a:schemeClr>
                    </a:solidFill>
                  </a:tcPr>
                </a:tc>
                <a:tc>
                  <a:txBody>
                    <a:bodyPr/>
                    <a:lstStyle/>
                    <a:p>
                      <a:pPr algn="ctr" fontAlgn="b"/>
                      <a:r>
                        <a:rPr lang="it-IT" sz="2400" b="1" u="none" strike="noStrike" dirty="0">
                          <a:effectLst/>
                        </a:rPr>
                        <a:t>se le asigna la tarea</a:t>
                      </a:r>
                      <a:endParaRPr lang="it-IT" sz="2400" b="1"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tc>
                  <a:txBody>
                    <a:bodyPr/>
                    <a:lstStyle/>
                    <a:p>
                      <a:pPr algn="ctr" fontAlgn="t"/>
                      <a:r>
                        <a:rPr lang="es-PE" sz="2400" b="1" u="none" strike="noStrike" dirty="0">
                          <a:effectLst/>
                        </a:rPr>
                        <a:t>3</a:t>
                      </a:r>
                      <a:endParaRPr lang="es-PE" sz="2400" b="1" i="0" u="none" strike="noStrike" dirty="0">
                        <a:solidFill>
                          <a:srgbClr val="000000"/>
                        </a:solidFill>
                        <a:effectLst/>
                        <a:latin typeface="Arial Narrow" panose="020B0606020202030204" pitchFamily="34" charset="0"/>
                      </a:endParaRPr>
                    </a:p>
                  </a:txBody>
                  <a:tcPr marL="0" marR="0" marT="0" marB="0">
                    <a:solidFill>
                      <a:schemeClr val="accent1">
                        <a:lumMod val="40000"/>
                        <a:lumOff val="60000"/>
                      </a:schemeClr>
                    </a:solidFill>
                  </a:tcPr>
                </a:tc>
                <a:tc>
                  <a:txBody>
                    <a:bodyPr/>
                    <a:lstStyle/>
                    <a:p>
                      <a:pPr algn="ctr" fontAlgn="b"/>
                      <a:r>
                        <a:rPr lang="es-PE" sz="2400" b="1" u="none" strike="noStrike" dirty="0">
                          <a:effectLst/>
                        </a:rPr>
                        <a:t>20</a:t>
                      </a:r>
                      <a:endParaRPr lang="es-PE" sz="2400" b="1" i="0" u="none" strike="noStrike" dirty="0">
                        <a:solidFill>
                          <a:srgbClr val="7030A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581335395"/>
                  </a:ext>
                </a:extLst>
              </a:tr>
              <a:tr h="388249">
                <a:tc gridSpan="4">
                  <a:txBody>
                    <a:bodyPr/>
                    <a:lstStyle/>
                    <a:p>
                      <a:pPr algn="ctr" fontAlgn="b"/>
                      <a:r>
                        <a:rPr lang="es-PE" sz="2400" b="1" u="none" strike="noStrike" dirty="0">
                          <a:effectLst/>
                        </a:rPr>
                        <a:t>Al trabajador </a:t>
                      </a:r>
                      <a:endParaRPr lang="es-PE" sz="2400" b="1"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t"/>
                      <a:r>
                        <a:rPr lang="es-PE" sz="2400" b="1" u="none" strike="noStrike" dirty="0">
                          <a:effectLst/>
                        </a:rPr>
                        <a:t>3</a:t>
                      </a:r>
                      <a:endParaRPr lang="es-PE" sz="2400" b="1" i="0" u="none" strike="noStrike" dirty="0">
                        <a:solidFill>
                          <a:srgbClr val="000000"/>
                        </a:solidFill>
                        <a:effectLst/>
                        <a:latin typeface="Arial Narrow" panose="020B0606020202030204" pitchFamily="34" charset="0"/>
                      </a:endParaRPr>
                    </a:p>
                  </a:txBody>
                  <a:tcPr marL="0" marR="0" marT="0" marB="0">
                    <a:solidFill>
                      <a:schemeClr val="accent1">
                        <a:lumMod val="40000"/>
                        <a:lumOff val="60000"/>
                      </a:schemeClr>
                    </a:solidFill>
                  </a:tcPr>
                </a:tc>
                <a:tc>
                  <a:txBody>
                    <a:bodyPr/>
                    <a:lstStyle/>
                    <a:p>
                      <a:pPr algn="ctr" fontAlgn="b"/>
                      <a:r>
                        <a:rPr lang="it-IT" sz="2400" b="1" u="none" strike="noStrike">
                          <a:effectLst/>
                        </a:rPr>
                        <a:t>se le asigna la tarea</a:t>
                      </a:r>
                      <a:endParaRPr lang="it-IT" sz="2400" b="1" i="0" u="none" strike="noStrike">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tc>
                  <a:txBody>
                    <a:bodyPr/>
                    <a:lstStyle/>
                    <a:p>
                      <a:pPr algn="ctr" fontAlgn="t"/>
                      <a:r>
                        <a:rPr lang="es-PE" sz="2400" b="1" u="none" strike="noStrike">
                          <a:effectLst/>
                        </a:rPr>
                        <a:t>1</a:t>
                      </a:r>
                      <a:endParaRPr lang="es-PE" sz="2400" b="1" i="0" u="none" strike="noStrike">
                        <a:solidFill>
                          <a:srgbClr val="000000"/>
                        </a:solidFill>
                        <a:effectLst/>
                        <a:latin typeface="Arial Narrow" panose="020B0606020202030204" pitchFamily="34" charset="0"/>
                      </a:endParaRPr>
                    </a:p>
                  </a:txBody>
                  <a:tcPr marL="0" marR="0" marT="0" marB="0">
                    <a:solidFill>
                      <a:schemeClr val="accent1">
                        <a:lumMod val="40000"/>
                        <a:lumOff val="60000"/>
                      </a:schemeClr>
                    </a:solidFill>
                  </a:tcPr>
                </a:tc>
                <a:tc>
                  <a:txBody>
                    <a:bodyPr/>
                    <a:lstStyle/>
                    <a:p>
                      <a:pPr algn="ctr" fontAlgn="b"/>
                      <a:r>
                        <a:rPr lang="es-PE" sz="2400" b="1" u="none" strike="noStrike" dirty="0">
                          <a:effectLst/>
                        </a:rPr>
                        <a:t>10</a:t>
                      </a:r>
                      <a:endParaRPr lang="es-PE" sz="2400" b="1" i="0" u="none" strike="noStrike" dirty="0">
                        <a:solidFill>
                          <a:srgbClr val="000000"/>
                        </a:solidFill>
                        <a:effectLst/>
                        <a:latin typeface="Calibri" panose="020F0502020204030204" pitchFamily="34" charset="0"/>
                      </a:endParaRPr>
                    </a:p>
                  </a:txBody>
                  <a:tcPr marL="0" marR="0" marT="0" marB="0">
                    <a:solidFill>
                      <a:schemeClr val="accent1">
                        <a:lumMod val="40000"/>
                        <a:lumOff val="60000"/>
                      </a:schemeClr>
                    </a:solidFill>
                  </a:tcPr>
                </a:tc>
                <a:extLst>
                  <a:ext uri="{0D108BD9-81ED-4DB2-BD59-A6C34878D82A}">
                    <a16:rowId xmlns:a16="http://schemas.microsoft.com/office/drawing/2014/main" val="3590388222"/>
                  </a:ext>
                </a:extLst>
              </a:tr>
              <a:tr h="388249">
                <a:tc gridSpan="4">
                  <a:txBody>
                    <a:bodyPr/>
                    <a:lstStyle/>
                    <a:p>
                      <a:pPr algn="ctr" fontAlgn="b"/>
                      <a:r>
                        <a:rPr lang="es-PE" sz="2400" b="1" u="none" strike="noStrike">
                          <a:effectLst/>
                        </a:rPr>
                        <a:t>Al trabajador </a:t>
                      </a:r>
                      <a:endParaRPr lang="es-PE" sz="2400" b="1" i="0" u="none" strike="noStrike">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t"/>
                      <a:r>
                        <a:rPr lang="es-PE" sz="2400" b="1" u="none" strike="noStrike" dirty="0">
                          <a:effectLst/>
                        </a:rPr>
                        <a:t>4</a:t>
                      </a:r>
                      <a:endParaRPr lang="es-PE" sz="2400" b="1" i="0" u="none" strike="noStrike" dirty="0">
                        <a:solidFill>
                          <a:srgbClr val="000000"/>
                        </a:solidFill>
                        <a:effectLst/>
                        <a:latin typeface="Arial Narrow" panose="020B0606020202030204" pitchFamily="34" charset="0"/>
                      </a:endParaRPr>
                    </a:p>
                  </a:txBody>
                  <a:tcPr marL="0" marR="0" marT="0" marB="0">
                    <a:solidFill>
                      <a:schemeClr val="accent1">
                        <a:lumMod val="40000"/>
                        <a:lumOff val="60000"/>
                      </a:schemeClr>
                    </a:solidFill>
                  </a:tcPr>
                </a:tc>
                <a:tc>
                  <a:txBody>
                    <a:bodyPr/>
                    <a:lstStyle/>
                    <a:p>
                      <a:pPr algn="ctr" fontAlgn="b"/>
                      <a:r>
                        <a:rPr lang="it-IT" sz="2400" b="1" u="none" strike="noStrike" dirty="0">
                          <a:effectLst/>
                        </a:rPr>
                        <a:t>se le asigna la tarea</a:t>
                      </a:r>
                      <a:endParaRPr lang="it-IT" sz="2400" b="1"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tc>
                  <a:txBody>
                    <a:bodyPr/>
                    <a:lstStyle/>
                    <a:p>
                      <a:pPr algn="ctr" fontAlgn="t"/>
                      <a:r>
                        <a:rPr lang="es-PE" sz="2400" b="1" u="none" strike="noStrike">
                          <a:effectLst/>
                        </a:rPr>
                        <a:t>4</a:t>
                      </a:r>
                      <a:endParaRPr lang="es-PE" sz="2400" b="1" i="0" u="none" strike="noStrike">
                        <a:solidFill>
                          <a:srgbClr val="000000"/>
                        </a:solidFill>
                        <a:effectLst/>
                        <a:latin typeface="Arial Narrow" panose="020B0606020202030204" pitchFamily="34" charset="0"/>
                      </a:endParaRPr>
                    </a:p>
                  </a:txBody>
                  <a:tcPr marL="0" marR="0" marT="0" marB="0">
                    <a:solidFill>
                      <a:schemeClr val="accent1">
                        <a:lumMod val="40000"/>
                        <a:lumOff val="60000"/>
                      </a:schemeClr>
                    </a:solidFill>
                  </a:tcPr>
                </a:tc>
                <a:tc>
                  <a:txBody>
                    <a:bodyPr/>
                    <a:lstStyle/>
                    <a:p>
                      <a:pPr algn="ctr" fontAlgn="b"/>
                      <a:r>
                        <a:rPr lang="es-PE" sz="2400" b="1" u="none" strike="noStrike" dirty="0">
                          <a:effectLst/>
                        </a:rPr>
                        <a:t>24</a:t>
                      </a:r>
                      <a:endParaRPr lang="es-PE" sz="2400" b="1" i="0" u="none" strike="noStrike" dirty="0">
                        <a:solidFill>
                          <a:srgbClr val="7030A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2561219656"/>
                  </a:ext>
                </a:extLst>
              </a:tr>
              <a:tr h="388249">
                <a:tc gridSpan="4">
                  <a:txBody>
                    <a:bodyPr/>
                    <a:lstStyle/>
                    <a:p>
                      <a:pPr algn="ctr" fontAlgn="b"/>
                      <a:r>
                        <a:rPr lang="es-PE" sz="2400" b="1" u="none" strike="noStrike">
                          <a:effectLst/>
                        </a:rPr>
                        <a:t>Al trabajador </a:t>
                      </a:r>
                      <a:endParaRPr lang="es-PE" sz="2400" b="1" i="0" u="none" strike="noStrike">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t"/>
                      <a:r>
                        <a:rPr lang="es-PE" sz="2400" b="1" u="none" strike="noStrike">
                          <a:effectLst/>
                        </a:rPr>
                        <a:t>5</a:t>
                      </a:r>
                      <a:endParaRPr lang="es-PE" sz="2400" b="1" i="0" u="none" strike="noStrike">
                        <a:solidFill>
                          <a:srgbClr val="000000"/>
                        </a:solidFill>
                        <a:effectLst/>
                        <a:latin typeface="Arial Narrow" panose="020B0606020202030204" pitchFamily="34" charset="0"/>
                      </a:endParaRPr>
                    </a:p>
                  </a:txBody>
                  <a:tcPr marL="0" marR="0" marT="0" marB="0">
                    <a:solidFill>
                      <a:schemeClr val="accent1">
                        <a:lumMod val="40000"/>
                        <a:lumOff val="60000"/>
                      </a:schemeClr>
                    </a:solidFill>
                  </a:tcPr>
                </a:tc>
                <a:tc>
                  <a:txBody>
                    <a:bodyPr/>
                    <a:lstStyle/>
                    <a:p>
                      <a:pPr algn="ctr" fontAlgn="b"/>
                      <a:r>
                        <a:rPr lang="it-IT" sz="2400" b="1" u="none" strike="noStrike" dirty="0">
                          <a:effectLst/>
                        </a:rPr>
                        <a:t>se le asigna la tarea</a:t>
                      </a:r>
                      <a:endParaRPr lang="it-IT" sz="2400" b="1" i="0" u="none" strike="noStrike" dirty="0">
                        <a:solidFill>
                          <a:srgbClr val="000000"/>
                        </a:solidFill>
                        <a:effectLst/>
                        <a:latin typeface="Calibri" panose="020F0502020204030204" pitchFamily="34" charset="0"/>
                      </a:endParaRPr>
                    </a:p>
                  </a:txBody>
                  <a:tcPr marL="0" marR="0" marT="0" marB="0" anchor="b">
                    <a:solidFill>
                      <a:schemeClr val="accent1">
                        <a:lumMod val="40000"/>
                        <a:lumOff val="60000"/>
                      </a:schemeClr>
                    </a:solidFill>
                  </a:tcPr>
                </a:tc>
                <a:tc>
                  <a:txBody>
                    <a:bodyPr/>
                    <a:lstStyle/>
                    <a:p>
                      <a:pPr algn="ctr" fontAlgn="t"/>
                      <a:r>
                        <a:rPr lang="es-PE" sz="2400" b="1" u="none" strike="noStrike">
                          <a:effectLst/>
                        </a:rPr>
                        <a:t>5</a:t>
                      </a:r>
                      <a:endParaRPr lang="es-PE" sz="2400" b="1" i="0" u="none" strike="noStrike">
                        <a:solidFill>
                          <a:srgbClr val="000000"/>
                        </a:solidFill>
                        <a:effectLst/>
                        <a:latin typeface="Arial Narrow" panose="020B0606020202030204" pitchFamily="34" charset="0"/>
                      </a:endParaRPr>
                    </a:p>
                  </a:txBody>
                  <a:tcPr marL="0" marR="0" marT="0" marB="0">
                    <a:solidFill>
                      <a:schemeClr val="accent1">
                        <a:lumMod val="40000"/>
                        <a:lumOff val="60000"/>
                      </a:schemeClr>
                    </a:solidFill>
                  </a:tcPr>
                </a:tc>
                <a:tc>
                  <a:txBody>
                    <a:bodyPr/>
                    <a:lstStyle/>
                    <a:p>
                      <a:pPr algn="ctr" fontAlgn="b"/>
                      <a:r>
                        <a:rPr lang="es-PE" sz="2400" b="1" u="none" strike="noStrike" dirty="0">
                          <a:effectLst/>
                        </a:rPr>
                        <a:t>18</a:t>
                      </a:r>
                      <a:endParaRPr lang="es-PE" sz="2400" b="1" i="0" u="none" strike="noStrike" dirty="0">
                        <a:solidFill>
                          <a:srgbClr val="7030A0"/>
                        </a:solidFill>
                        <a:effectLst/>
                        <a:latin typeface="Calibri" panose="020F0502020204030204" pitchFamily="34" charset="0"/>
                      </a:endParaRPr>
                    </a:p>
                  </a:txBody>
                  <a:tcPr marL="0" marR="0" marT="0" marB="0" anchor="b">
                    <a:solidFill>
                      <a:schemeClr val="accent1">
                        <a:lumMod val="40000"/>
                        <a:lumOff val="60000"/>
                      </a:schemeClr>
                    </a:solidFill>
                  </a:tcPr>
                </a:tc>
                <a:extLst>
                  <a:ext uri="{0D108BD9-81ED-4DB2-BD59-A6C34878D82A}">
                    <a16:rowId xmlns:a16="http://schemas.microsoft.com/office/drawing/2014/main" val="321011351"/>
                  </a:ext>
                </a:extLst>
              </a:tr>
              <a:tr h="352954">
                <a:tc>
                  <a:txBody>
                    <a:bodyPr/>
                    <a:lstStyle/>
                    <a:p>
                      <a:pPr algn="ctr" fontAlgn="b"/>
                      <a:endParaRPr lang="es-PE" sz="24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4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4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4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4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r>
                        <a:rPr lang="es-PE" sz="2400" b="1" u="none" strike="noStrike" dirty="0">
                          <a:effectLst/>
                        </a:rPr>
                        <a:t>Productividad total=</a:t>
                      </a:r>
                      <a:endParaRPr lang="es-PE" sz="24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endParaRPr lang="es-PE" sz="2400" b="1" i="0" u="none" strike="noStrike" dirty="0">
                        <a:solidFill>
                          <a:srgbClr val="000000"/>
                        </a:solidFill>
                        <a:effectLst/>
                        <a:latin typeface="Calibri" panose="020F0502020204030204" pitchFamily="34" charset="0"/>
                      </a:endParaRPr>
                    </a:p>
                  </a:txBody>
                  <a:tcPr marL="0" marR="0" marT="0" marB="0" anchor="b">
                    <a:solidFill>
                      <a:schemeClr val="bg1"/>
                    </a:solidFill>
                  </a:tcPr>
                </a:tc>
                <a:tc>
                  <a:txBody>
                    <a:bodyPr/>
                    <a:lstStyle/>
                    <a:p>
                      <a:pPr algn="ctr" fontAlgn="b"/>
                      <a:r>
                        <a:rPr lang="es-PE" sz="2400" b="1" u="none" strike="noStrike" dirty="0">
                          <a:effectLst/>
                        </a:rPr>
                        <a:t>88</a:t>
                      </a:r>
                      <a:endParaRPr lang="es-PE" sz="2400" b="1" i="0" u="none" strike="noStrike" dirty="0">
                        <a:solidFill>
                          <a:srgbClr val="000000"/>
                        </a:solidFill>
                        <a:effectLst/>
                        <a:latin typeface="Calibri" panose="020F0502020204030204" pitchFamily="34" charset="0"/>
                      </a:endParaRPr>
                    </a:p>
                  </a:txBody>
                  <a:tcPr marL="0" marR="0" marT="0" marB="0" anchor="b">
                    <a:solidFill>
                      <a:schemeClr val="bg1"/>
                    </a:solidFill>
                  </a:tcPr>
                </a:tc>
                <a:extLst>
                  <a:ext uri="{0D108BD9-81ED-4DB2-BD59-A6C34878D82A}">
                    <a16:rowId xmlns:a16="http://schemas.microsoft.com/office/drawing/2014/main" val="2311559670"/>
                  </a:ext>
                </a:extLst>
              </a:tr>
            </a:tbl>
          </a:graphicData>
        </a:graphic>
      </p:graphicFrame>
    </p:spTree>
    <p:extLst>
      <p:ext uri="{BB962C8B-B14F-4D97-AF65-F5344CB8AC3E}">
        <p14:creationId xmlns:p14="http://schemas.microsoft.com/office/powerpoint/2010/main" val="135349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45"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2000"/>
                                        <p:tgtEl>
                                          <p:spTgt spid="9"/>
                                        </p:tgtEl>
                                      </p:cBhvr>
                                    </p:animEffect>
                                    <p:anim calcmode="lin" valueType="num">
                                      <p:cBhvr>
                                        <p:cTn id="34" dur="2000" fill="hold"/>
                                        <p:tgtEl>
                                          <p:spTgt spid="9"/>
                                        </p:tgtEl>
                                        <p:attrNameLst>
                                          <p:attrName>ppt_w</p:attrName>
                                        </p:attrNameLst>
                                      </p:cBhvr>
                                      <p:tavLst>
                                        <p:tav tm="0" fmla="#ppt_w*sin(2.5*pi*$)">
                                          <p:val>
                                            <p:fltVal val="0"/>
                                          </p:val>
                                        </p:tav>
                                        <p:tav tm="100000">
                                          <p:val>
                                            <p:fltVal val="1"/>
                                          </p:val>
                                        </p:tav>
                                      </p:tavLst>
                                    </p:anim>
                                    <p:anim calcmode="lin" valueType="num">
                                      <p:cBhvr>
                                        <p:cTn id="35" dur="20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45"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2000"/>
                                        <p:tgtEl>
                                          <p:spTgt spid="10"/>
                                        </p:tgtEl>
                                      </p:cBhvr>
                                    </p:animEffect>
                                    <p:anim calcmode="lin" valueType="num">
                                      <p:cBhvr>
                                        <p:cTn id="41" dur="2000" fill="hold"/>
                                        <p:tgtEl>
                                          <p:spTgt spid="10"/>
                                        </p:tgtEl>
                                        <p:attrNameLst>
                                          <p:attrName>ppt_w</p:attrName>
                                        </p:attrNameLst>
                                      </p:cBhvr>
                                      <p:tavLst>
                                        <p:tav tm="0" fmla="#ppt_w*sin(2.5*pi*$)">
                                          <p:val>
                                            <p:fltVal val="0"/>
                                          </p:val>
                                        </p:tav>
                                        <p:tav tm="100000">
                                          <p:val>
                                            <p:fltVal val="1"/>
                                          </p:val>
                                        </p:tav>
                                      </p:tavLst>
                                    </p:anim>
                                    <p:anim calcmode="lin" valueType="num">
                                      <p:cBhvr>
                                        <p:cTn id="42" dur="2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45"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2000"/>
                                        <p:tgtEl>
                                          <p:spTgt spid="11"/>
                                        </p:tgtEl>
                                      </p:cBhvr>
                                    </p:animEffect>
                                    <p:anim calcmode="lin" valueType="num">
                                      <p:cBhvr>
                                        <p:cTn id="48" dur="2000" fill="hold"/>
                                        <p:tgtEl>
                                          <p:spTgt spid="11"/>
                                        </p:tgtEl>
                                        <p:attrNameLst>
                                          <p:attrName>ppt_w</p:attrName>
                                        </p:attrNameLst>
                                      </p:cBhvr>
                                      <p:tavLst>
                                        <p:tav tm="0" fmla="#ppt_w*sin(2.5*pi*$)">
                                          <p:val>
                                            <p:fltVal val="0"/>
                                          </p:val>
                                        </p:tav>
                                        <p:tav tm="100000">
                                          <p:val>
                                            <p:fltVal val="1"/>
                                          </p:val>
                                        </p:tav>
                                      </p:tavLst>
                                    </p:anim>
                                    <p:anim calcmode="lin" valueType="num">
                                      <p:cBhvr>
                                        <p:cTn id="49" dur="20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45"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2000"/>
                                        <p:tgtEl>
                                          <p:spTgt spid="12"/>
                                        </p:tgtEl>
                                      </p:cBhvr>
                                    </p:animEffect>
                                    <p:anim calcmode="lin" valueType="num">
                                      <p:cBhvr>
                                        <p:cTn id="55" dur="2000" fill="hold"/>
                                        <p:tgtEl>
                                          <p:spTgt spid="12"/>
                                        </p:tgtEl>
                                        <p:attrNameLst>
                                          <p:attrName>ppt_w</p:attrName>
                                        </p:attrNameLst>
                                      </p:cBhvr>
                                      <p:tavLst>
                                        <p:tav tm="0" fmla="#ppt_w*sin(2.5*pi*$)">
                                          <p:val>
                                            <p:fltVal val="0"/>
                                          </p:val>
                                        </p:tav>
                                        <p:tav tm="100000">
                                          <p:val>
                                            <p:fltVal val="1"/>
                                          </p:val>
                                        </p:tav>
                                      </p:tavLst>
                                    </p:anim>
                                    <p:anim calcmode="lin" valueType="num">
                                      <p:cBhvr>
                                        <p:cTn id="56" dur="20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45"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2000"/>
                                        <p:tgtEl>
                                          <p:spTgt spid="13"/>
                                        </p:tgtEl>
                                      </p:cBhvr>
                                    </p:animEffect>
                                    <p:anim calcmode="lin" valueType="num">
                                      <p:cBhvr>
                                        <p:cTn id="62" dur="2000" fill="hold"/>
                                        <p:tgtEl>
                                          <p:spTgt spid="13"/>
                                        </p:tgtEl>
                                        <p:attrNameLst>
                                          <p:attrName>ppt_w</p:attrName>
                                        </p:attrNameLst>
                                      </p:cBhvr>
                                      <p:tavLst>
                                        <p:tav tm="0" fmla="#ppt_w*sin(2.5*pi*$)">
                                          <p:val>
                                            <p:fltVal val="0"/>
                                          </p:val>
                                        </p:tav>
                                        <p:tav tm="100000">
                                          <p:val>
                                            <p:fltVal val="1"/>
                                          </p:val>
                                        </p:tav>
                                      </p:tavLst>
                                    </p:anim>
                                    <p:anim calcmode="lin" valueType="num">
                                      <p:cBhvr>
                                        <p:cTn id="63" dur="20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1" presetClass="entr" presetSubtype="1" fill="hold" grpId="0" nodeType="click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wheel(1)">
                                      <p:cBhvr>
                                        <p:cTn id="68" dur="2000"/>
                                        <p:tgtEl>
                                          <p:spTgt spid="7"/>
                                        </p:tgtEl>
                                      </p:cBhvr>
                                    </p:animEffect>
                                  </p:childTnLst>
                                </p:cTn>
                              </p:par>
                              <p:par>
                                <p:cTn id="69" presetID="21" presetClass="entr" presetSubtype="1" fill="hold" nodeType="with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wheel(1)">
                                      <p:cBhvr>
                                        <p:cTn id="71"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ECEA968-1C03-4DBD-998C-A64C9D7B7A24}"/>
              </a:ext>
            </a:extLst>
          </p:cNvPr>
          <p:cNvSpPr/>
          <p:nvPr/>
        </p:nvSpPr>
        <p:spPr>
          <a:xfrm>
            <a:off x="253318" y="1187396"/>
            <a:ext cx="2359572" cy="923330"/>
          </a:xfrm>
          <a:prstGeom prst="rect">
            <a:avLst/>
          </a:prstGeom>
        </p:spPr>
        <p:txBody>
          <a:bodyPr wrap="square">
            <a:spAutoFit/>
          </a:bodyPr>
          <a:lstStyle/>
          <a:p>
            <a:r>
              <a:rPr lang="es-ES" b="1" dirty="0">
                <a:solidFill>
                  <a:srgbClr val="000000"/>
                </a:solidFill>
                <a:latin typeface="Arial Narrow" panose="020B0606020202030204" pitchFamily="34" charset="0"/>
              </a:rPr>
              <a:t>Asignar la tareas a los trabajadores tomando los datos de habilidad</a:t>
            </a:r>
            <a:r>
              <a:rPr lang="es-ES" dirty="0"/>
              <a:t> </a:t>
            </a:r>
            <a:endParaRPr lang="es-PE" dirty="0"/>
          </a:p>
        </p:txBody>
      </p:sp>
      <p:graphicFrame>
        <p:nvGraphicFramePr>
          <p:cNvPr id="3" name="Tabla 2">
            <a:extLst>
              <a:ext uri="{FF2B5EF4-FFF2-40B4-BE49-F238E27FC236}">
                <a16:creationId xmlns:a16="http://schemas.microsoft.com/office/drawing/2014/main" id="{2385A417-98B7-457C-B695-DDEAB8596570}"/>
              </a:ext>
            </a:extLst>
          </p:cNvPr>
          <p:cNvGraphicFramePr>
            <a:graphicFrameLocks noGrp="1"/>
          </p:cNvGraphicFramePr>
          <p:nvPr/>
        </p:nvGraphicFramePr>
        <p:xfrm>
          <a:off x="366548" y="2128838"/>
          <a:ext cx="1905000" cy="1885950"/>
        </p:xfrm>
        <a:graphic>
          <a:graphicData uri="http://schemas.openxmlformats.org/drawingml/2006/table">
            <a:tbl>
              <a:tblPr>
                <a:tableStyleId>{5C22544A-7EE6-4342-B048-85BDC9FD1C3A}</a:tableStyleId>
              </a:tblPr>
              <a:tblGrid>
                <a:gridCol w="317500">
                  <a:extLst>
                    <a:ext uri="{9D8B030D-6E8A-4147-A177-3AD203B41FA5}">
                      <a16:colId xmlns:a16="http://schemas.microsoft.com/office/drawing/2014/main" val="2698916891"/>
                    </a:ext>
                  </a:extLst>
                </a:gridCol>
                <a:gridCol w="317500">
                  <a:extLst>
                    <a:ext uri="{9D8B030D-6E8A-4147-A177-3AD203B41FA5}">
                      <a16:colId xmlns:a16="http://schemas.microsoft.com/office/drawing/2014/main" val="2774285244"/>
                    </a:ext>
                  </a:extLst>
                </a:gridCol>
                <a:gridCol w="317500">
                  <a:extLst>
                    <a:ext uri="{9D8B030D-6E8A-4147-A177-3AD203B41FA5}">
                      <a16:colId xmlns:a16="http://schemas.microsoft.com/office/drawing/2014/main" val="3411130944"/>
                    </a:ext>
                  </a:extLst>
                </a:gridCol>
                <a:gridCol w="317500">
                  <a:extLst>
                    <a:ext uri="{9D8B030D-6E8A-4147-A177-3AD203B41FA5}">
                      <a16:colId xmlns:a16="http://schemas.microsoft.com/office/drawing/2014/main" val="688280503"/>
                    </a:ext>
                  </a:extLst>
                </a:gridCol>
                <a:gridCol w="317500">
                  <a:extLst>
                    <a:ext uri="{9D8B030D-6E8A-4147-A177-3AD203B41FA5}">
                      <a16:colId xmlns:a16="http://schemas.microsoft.com/office/drawing/2014/main" val="2218513858"/>
                    </a:ext>
                  </a:extLst>
                </a:gridCol>
                <a:gridCol w="317500">
                  <a:extLst>
                    <a:ext uri="{9D8B030D-6E8A-4147-A177-3AD203B41FA5}">
                      <a16:colId xmlns:a16="http://schemas.microsoft.com/office/drawing/2014/main" val="3510120052"/>
                    </a:ext>
                  </a:extLst>
                </a:gridCol>
              </a:tblGrid>
              <a:tr h="228600">
                <a:tc>
                  <a:txBody>
                    <a:bodyPr/>
                    <a:lstStyle/>
                    <a:p>
                      <a:pPr algn="ctr" fontAlgn="ctr"/>
                      <a:r>
                        <a:rPr lang="es-PE" sz="2000" b="1" u="none" strike="noStrike" dirty="0">
                          <a:effectLst/>
                        </a:rPr>
                        <a:t>32</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24</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22</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21</a:t>
                      </a:r>
                      <a:endParaRPr lang="es-PE" sz="2000" b="1" i="0" u="none" strike="noStrike">
                        <a:solidFill>
                          <a:srgbClr val="000000"/>
                        </a:solidFill>
                        <a:effectLst/>
                        <a:latin typeface="Arial Narrow" panose="020B0606020202030204" pitchFamily="34" charset="0"/>
                      </a:endParaRPr>
                    </a:p>
                  </a:txBody>
                  <a:tcPr marL="9525" marR="9525" marT="9525" marB="0" anchor="ctr"/>
                </a:tc>
                <a:extLst>
                  <a:ext uri="{0D108BD9-81ED-4DB2-BD59-A6C34878D82A}">
                    <a16:rowId xmlns:a16="http://schemas.microsoft.com/office/drawing/2014/main" val="1929144395"/>
                  </a:ext>
                </a:extLst>
              </a:tr>
              <a:tr h="228600">
                <a:tc>
                  <a:txBody>
                    <a:bodyPr/>
                    <a:lstStyle/>
                    <a:p>
                      <a:pPr algn="ctr" fontAlgn="ctr"/>
                      <a:r>
                        <a:rPr lang="es-PE" sz="2000" b="1" u="none" strike="noStrike" dirty="0">
                          <a:effectLst/>
                        </a:rPr>
                        <a:t>22</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20</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24</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26</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23</a:t>
                      </a:r>
                      <a:endParaRPr lang="es-PE" sz="2000" b="1" i="0" u="none" strike="noStrike">
                        <a:solidFill>
                          <a:srgbClr val="000000"/>
                        </a:solidFill>
                        <a:effectLst/>
                        <a:latin typeface="Arial Narrow" panose="020B0606020202030204" pitchFamily="34" charset="0"/>
                      </a:endParaRPr>
                    </a:p>
                  </a:txBody>
                  <a:tcPr marL="9525" marR="9525" marT="9525" marB="0" anchor="ctr"/>
                </a:tc>
                <a:extLst>
                  <a:ext uri="{0D108BD9-81ED-4DB2-BD59-A6C34878D82A}">
                    <a16:rowId xmlns:a16="http://schemas.microsoft.com/office/drawing/2014/main" val="3928776430"/>
                  </a:ext>
                </a:extLst>
              </a:tr>
              <a:tr h="228600">
                <a:tc>
                  <a:txBody>
                    <a:bodyPr/>
                    <a:lstStyle/>
                    <a:p>
                      <a:pPr algn="ctr" fontAlgn="ctr"/>
                      <a:r>
                        <a:rPr lang="es-PE" sz="2000" b="1" u="none" strike="noStrike" dirty="0">
                          <a:effectLst/>
                        </a:rPr>
                        <a:t>36</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dirty="0">
                          <a:effectLst/>
                        </a:rPr>
                        <a:t>16</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22</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24</a:t>
                      </a:r>
                      <a:endParaRPr lang="es-PE" sz="2000" b="1" i="0" u="none" strike="noStrike">
                        <a:solidFill>
                          <a:srgbClr val="000000"/>
                        </a:solidFill>
                        <a:effectLst/>
                        <a:latin typeface="Arial Narrow" panose="020B0606020202030204" pitchFamily="34" charset="0"/>
                      </a:endParaRPr>
                    </a:p>
                  </a:txBody>
                  <a:tcPr marL="9525" marR="9525" marT="9525" marB="0" anchor="ctr"/>
                </a:tc>
                <a:extLst>
                  <a:ext uri="{0D108BD9-81ED-4DB2-BD59-A6C34878D82A}">
                    <a16:rowId xmlns:a16="http://schemas.microsoft.com/office/drawing/2014/main" val="3269014282"/>
                  </a:ext>
                </a:extLst>
              </a:tr>
              <a:tr h="228600">
                <a:tc>
                  <a:txBody>
                    <a:bodyPr/>
                    <a:lstStyle/>
                    <a:p>
                      <a:pPr algn="ctr" fontAlgn="ctr"/>
                      <a:r>
                        <a:rPr lang="es-PE" sz="2000" b="1" u="none" strike="noStrike" dirty="0">
                          <a:effectLst/>
                        </a:rPr>
                        <a:t>29</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dirty="0">
                          <a:effectLst/>
                        </a:rPr>
                        <a:t>14</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22</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24</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20</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20</a:t>
                      </a:r>
                      <a:endParaRPr lang="es-PE" sz="2000" b="1" i="0" u="none" strike="noStrike">
                        <a:solidFill>
                          <a:srgbClr val="000000"/>
                        </a:solidFill>
                        <a:effectLst/>
                        <a:latin typeface="Arial Narrow" panose="020B0606020202030204" pitchFamily="34" charset="0"/>
                      </a:endParaRPr>
                    </a:p>
                  </a:txBody>
                  <a:tcPr marL="9525" marR="9525" marT="9525" marB="0" anchor="ctr"/>
                </a:tc>
                <a:extLst>
                  <a:ext uri="{0D108BD9-81ED-4DB2-BD59-A6C34878D82A}">
                    <a16:rowId xmlns:a16="http://schemas.microsoft.com/office/drawing/2014/main" val="209450280"/>
                  </a:ext>
                </a:extLst>
              </a:tr>
              <a:tr h="228600">
                <a:tc>
                  <a:txBody>
                    <a:bodyPr/>
                    <a:lstStyle/>
                    <a:p>
                      <a:pPr algn="ctr" fontAlgn="ctr"/>
                      <a:r>
                        <a:rPr lang="es-PE" sz="2000" b="1" u="none" strike="noStrike">
                          <a:effectLst/>
                        </a:rPr>
                        <a:t>32</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dirty="0">
                          <a:effectLst/>
                        </a:rPr>
                        <a:t>20</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25</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ctr"/>
                </a:tc>
                <a:extLst>
                  <a:ext uri="{0D108BD9-81ED-4DB2-BD59-A6C34878D82A}">
                    <a16:rowId xmlns:a16="http://schemas.microsoft.com/office/drawing/2014/main" val="1795177273"/>
                  </a:ext>
                </a:extLst>
              </a:tr>
              <a:tr h="228600">
                <a:tc>
                  <a:txBody>
                    <a:bodyPr/>
                    <a:lstStyle/>
                    <a:p>
                      <a:pPr algn="ctr" fontAlgn="ctr"/>
                      <a:r>
                        <a:rPr lang="es-PE" sz="2000" b="1" u="none" strike="noStrike">
                          <a:effectLst/>
                        </a:rPr>
                        <a:t>25</a:t>
                      </a:r>
                      <a:endParaRPr lang="es-PE" sz="2000" b="1" i="0" u="none" strike="noStrike">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dirty="0">
                          <a:effectLst/>
                        </a:rPr>
                        <a:t>12</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dirty="0">
                          <a:effectLst/>
                        </a:rPr>
                        <a:t>15</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dirty="0">
                          <a:effectLst/>
                        </a:rPr>
                        <a:t>21</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dirty="0">
                          <a:effectLst/>
                        </a:rPr>
                        <a:t>19</a:t>
                      </a:r>
                      <a:endParaRPr lang="es-PE" sz="2000" b="1" i="0" u="none" strike="noStrike" dirty="0">
                        <a:solidFill>
                          <a:srgbClr val="000000"/>
                        </a:solidFill>
                        <a:effectLst/>
                        <a:latin typeface="Arial Narrow" panose="020B0606020202030204" pitchFamily="34" charset="0"/>
                      </a:endParaRPr>
                    </a:p>
                  </a:txBody>
                  <a:tcPr marL="9525" marR="9525" marT="9525" marB="0" anchor="ctr"/>
                </a:tc>
                <a:tc>
                  <a:txBody>
                    <a:bodyPr/>
                    <a:lstStyle/>
                    <a:p>
                      <a:pPr algn="ctr" fontAlgn="ctr"/>
                      <a:r>
                        <a:rPr lang="es-PE" sz="2000" b="1" u="none" strike="noStrike" dirty="0">
                          <a:effectLst/>
                        </a:rPr>
                        <a:t>19</a:t>
                      </a:r>
                      <a:endParaRPr lang="es-PE" sz="2000" b="1" i="0" u="none" strike="noStrike" dirty="0">
                        <a:solidFill>
                          <a:srgbClr val="000000"/>
                        </a:solidFill>
                        <a:effectLst/>
                        <a:latin typeface="Arial Narrow" panose="020B0606020202030204" pitchFamily="34" charset="0"/>
                      </a:endParaRPr>
                    </a:p>
                  </a:txBody>
                  <a:tcPr marL="9525" marR="9525" marT="9525" marB="0" anchor="ctr"/>
                </a:tc>
                <a:extLst>
                  <a:ext uri="{0D108BD9-81ED-4DB2-BD59-A6C34878D82A}">
                    <a16:rowId xmlns:a16="http://schemas.microsoft.com/office/drawing/2014/main" val="2370786409"/>
                  </a:ext>
                </a:extLst>
              </a:tr>
            </a:tbl>
          </a:graphicData>
        </a:graphic>
      </p:graphicFrame>
      <p:graphicFrame>
        <p:nvGraphicFramePr>
          <p:cNvPr id="4" name="Tabla 3">
            <a:extLst>
              <a:ext uri="{FF2B5EF4-FFF2-40B4-BE49-F238E27FC236}">
                <a16:creationId xmlns:a16="http://schemas.microsoft.com/office/drawing/2014/main" id="{D21C21F6-660C-41EF-92F4-35222898ED0A}"/>
              </a:ext>
            </a:extLst>
          </p:cNvPr>
          <p:cNvGraphicFramePr>
            <a:graphicFrameLocks noGrp="1"/>
          </p:cNvGraphicFramePr>
          <p:nvPr/>
        </p:nvGraphicFramePr>
        <p:xfrm>
          <a:off x="3146797" y="2128838"/>
          <a:ext cx="2155932" cy="1885950"/>
        </p:xfrm>
        <a:graphic>
          <a:graphicData uri="http://schemas.openxmlformats.org/drawingml/2006/table">
            <a:tbl>
              <a:tblPr>
                <a:tableStyleId>{5C22544A-7EE6-4342-B048-85BDC9FD1C3A}</a:tableStyleId>
              </a:tblPr>
              <a:tblGrid>
                <a:gridCol w="359322">
                  <a:extLst>
                    <a:ext uri="{9D8B030D-6E8A-4147-A177-3AD203B41FA5}">
                      <a16:colId xmlns:a16="http://schemas.microsoft.com/office/drawing/2014/main" val="1265048065"/>
                    </a:ext>
                  </a:extLst>
                </a:gridCol>
                <a:gridCol w="359322">
                  <a:extLst>
                    <a:ext uri="{9D8B030D-6E8A-4147-A177-3AD203B41FA5}">
                      <a16:colId xmlns:a16="http://schemas.microsoft.com/office/drawing/2014/main" val="515276271"/>
                    </a:ext>
                  </a:extLst>
                </a:gridCol>
                <a:gridCol w="359322">
                  <a:extLst>
                    <a:ext uri="{9D8B030D-6E8A-4147-A177-3AD203B41FA5}">
                      <a16:colId xmlns:a16="http://schemas.microsoft.com/office/drawing/2014/main" val="2379982800"/>
                    </a:ext>
                  </a:extLst>
                </a:gridCol>
                <a:gridCol w="359322">
                  <a:extLst>
                    <a:ext uri="{9D8B030D-6E8A-4147-A177-3AD203B41FA5}">
                      <a16:colId xmlns:a16="http://schemas.microsoft.com/office/drawing/2014/main" val="2239511121"/>
                    </a:ext>
                  </a:extLst>
                </a:gridCol>
                <a:gridCol w="359322">
                  <a:extLst>
                    <a:ext uri="{9D8B030D-6E8A-4147-A177-3AD203B41FA5}">
                      <a16:colId xmlns:a16="http://schemas.microsoft.com/office/drawing/2014/main" val="4239399956"/>
                    </a:ext>
                  </a:extLst>
                </a:gridCol>
                <a:gridCol w="359322">
                  <a:extLst>
                    <a:ext uri="{9D8B030D-6E8A-4147-A177-3AD203B41FA5}">
                      <a16:colId xmlns:a16="http://schemas.microsoft.com/office/drawing/2014/main" val="1556175084"/>
                    </a:ext>
                  </a:extLst>
                </a:gridCol>
              </a:tblGrid>
              <a:tr h="228600">
                <a:tc>
                  <a:txBody>
                    <a:bodyPr/>
                    <a:lstStyle/>
                    <a:p>
                      <a:pPr algn="ctr" fontAlgn="b"/>
                      <a:r>
                        <a:rPr lang="es-PE" sz="2000" b="1" u="none" strike="noStrike">
                          <a:effectLst/>
                        </a:rPr>
                        <a:t>-32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-24</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-21</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3698106201"/>
                  </a:ext>
                </a:extLst>
              </a:tr>
              <a:tr h="228600">
                <a:tc>
                  <a:txBody>
                    <a:bodyPr/>
                    <a:lstStyle/>
                    <a:p>
                      <a:pPr algn="ctr" fontAlgn="b"/>
                      <a:r>
                        <a:rPr lang="es-PE" sz="2000" b="1" u="none" strike="noStrike">
                          <a:effectLst/>
                        </a:rPr>
                        <a:t>-22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-26</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-23</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2976853867"/>
                  </a:ext>
                </a:extLst>
              </a:tr>
              <a:tr h="228600">
                <a:tc>
                  <a:txBody>
                    <a:bodyPr/>
                    <a:lstStyle/>
                    <a:p>
                      <a:pPr algn="ctr" fontAlgn="b"/>
                      <a:r>
                        <a:rPr lang="es-PE" sz="2000" b="1" u="none" strike="noStrike">
                          <a:effectLst/>
                        </a:rPr>
                        <a:t>-36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-24</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1688891482"/>
                  </a:ext>
                </a:extLst>
              </a:tr>
              <a:tr h="228600">
                <a:tc>
                  <a:txBody>
                    <a:bodyPr/>
                    <a:lstStyle/>
                    <a:p>
                      <a:pPr algn="ctr" fontAlgn="b"/>
                      <a:r>
                        <a:rPr lang="es-PE" sz="2000" b="1" u="none" strike="noStrike">
                          <a:effectLst/>
                        </a:rPr>
                        <a:t>-29</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-20</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1855023420"/>
                  </a:ext>
                </a:extLst>
              </a:tr>
              <a:tr h="228600">
                <a:tc>
                  <a:txBody>
                    <a:bodyPr/>
                    <a:lstStyle/>
                    <a:p>
                      <a:pPr algn="ctr" fontAlgn="b"/>
                      <a:r>
                        <a:rPr lang="es-PE" sz="2000" b="1" u="none" strike="noStrike">
                          <a:effectLst/>
                        </a:rPr>
                        <a:t>-32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-25</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2260626469"/>
                  </a:ext>
                </a:extLst>
              </a:tr>
              <a:tr h="228600">
                <a:tc>
                  <a:txBody>
                    <a:bodyPr/>
                    <a:lstStyle/>
                    <a:p>
                      <a:pPr algn="ctr" fontAlgn="b"/>
                      <a:r>
                        <a:rPr lang="es-PE" sz="2000" b="1" u="none" strike="noStrike">
                          <a:effectLst/>
                        </a:rPr>
                        <a:t>-25</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-15</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-21</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-19</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-19</a:t>
                      </a:r>
                      <a:endParaRPr lang="es-PE" sz="2000" b="1" i="0" u="none" strike="noStrike" dirty="0">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1769413788"/>
                  </a:ext>
                </a:extLst>
              </a:tr>
            </a:tbl>
          </a:graphicData>
        </a:graphic>
      </p:graphicFrame>
      <p:graphicFrame>
        <p:nvGraphicFramePr>
          <p:cNvPr id="5" name="Tabla 4">
            <a:extLst>
              <a:ext uri="{FF2B5EF4-FFF2-40B4-BE49-F238E27FC236}">
                <a16:creationId xmlns:a16="http://schemas.microsoft.com/office/drawing/2014/main" id="{3CB437DC-5791-4633-B6D4-42736279B738}"/>
              </a:ext>
            </a:extLst>
          </p:cNvPr>
          <p:cNvGraphicFramePr>
            <a:graphicFrameLocks noGrp="1"/>
          </p:cNvGraphicFramePr>
          <p:nvPr/>
        </p:nvGraphicFramePr>
        <p:xfrm>
          <a:off x="5403676" y="2118080"/>
          <a:ext cx="450850" cy="1885950"/>
        </p:xfrm>
        <a:graphic>
          <a:graphicData uri="http://schemas.openxmlformats.org/drawingml/2006/table">
            <a:tbl>
              <a:tblPr>
                <a:tableStyleId>{5C22544A-7EE6-4342-B048-85BDC9FD1C3A}</a:tableStyleId>
              </a:tblPr>
              <a:tblGrid>
                <a:gridCol w="450850">
                  <a:extLst>
                    <a:ext uri="{9D8B030D-6E8A-4147-A177-3AD203B41FA5}">
                      <a16:colId xmlns:a16="http://schemas.microsoft.com/office/drawing/2014/main" val="476698173"/>
                    </a:ext>
                  </a:extLst>
                </a:gridCol>
              </a:tblGrid>
              <a:tr h="228600">
                <a:tc>
                  <a:txBody>
                    <a:bodyPr/>
                    <a:lstStyle/>
                    <a:p>
                      <a:pPr algn="ctr" fontAlgn="b"/>
                      <a:r>
                        <a:rPr lang="es-PE" sz="2000" b="1" u="none" strike="noStrike" dirty="0">
                          <a:solidFill>
                            <a:srgbClr val="FF0000"/>
                          </a:solidFill>
                          <a:effectLst/>
                        </a:rPr>
                        <a:t>-32</a:t>
                      </a:r>
                      <a:endParaRPr lang="es-PE" sz="2000" b="1" i="0" u="none" strike="noStrike" dirty="0">
                        <a:solidFill>
                          <a:srgbClr val="FF0000"/>
                        </a:solidFill>
                        <a:effectLst/>
                        <a:latin typeface="Arial Narrow" panose="020B0606020202030204" pitchFamily="34" charset="0"/>
                      </a:endParaRPr>
                    </a:p>
                  </a:txBody>
                  <a:tcPr marL="9525" marR="9525" marT="9525" marB="0" anchor="b">
                    <a:solidFill>
                      <a:schemeClr val="bg1"/>
                    </a:solidFill>
                  </a:tcPr>
                </a:tc>
                <a:extLst>
                  <a:ext uri="{0D108BD9-81ED-4DB2-BD59-A6C34878D82A}">
                    <a16:rowId xmlns:a16="http://schemas.microsoft.com/office/drawing/2014/main" val="2402796603"/>
                  </a:ext>
                </a:extLst>
              </a:tr>
              <a:tr h="228600">
                <a:tc>
                  <a:txBody>
                    <a:bodyPr/>
                    <a:lstStyle/>
                    <a:p>
                      <a:pPr algn="ctr" fontAlgn="b"/>
                      <a:r>
                        <a:rPr lang="es-PE" sz="2000" b="1" u="none" strike="noStrike" dirty="0">
                          <a:solidFill>
                            <a:srgbClr val="FF0000"/>
                          </a:solidFill>
                          <a:effectLst/>
                        </a:rPr>
                        <a:t>-26</a:t>
                      </a:r>
                      <a:endParaRPr lang="es-PE" sz="2000" b="1" i="0" u="none" strike="noStrike" dirty="0">
                        <a:solidFill>
                          <a:srgbClr val="FF0000"/>
                        </a:solidFill>
                        <a:effectLst/>
                        <a:latin typeface="Arial Narrow" panose="020B0606020202030204" pitchFamily="34" charset="0"/>
                      </a:endParaRPr>
                    </a:p>
                  </a:txBody>
                  <a:tcPr marL="9525" marR="9525" marT="9525" marB="0" anchor="b">
                    <a:solidFill>
                      <a:schemeClr val="bg1"/>
                    </a:solidFill>
                  </a:tcPr>
                </a:tc>
                <a:extLst>
                  <a:ext uri="{0D108BD9-81ED-4DB2-BD59-A6C34878D82A}">
                    <a16:rowId xmlns:a16="http://schemas.microsoft.com/office/drawing/2014/main" val="1645188904"/>
                  </a:ext>
                </a:extLst>
              </a:tr>
              <a:tr h="228600">
                <a:tc>
                  <a:txBody>
                    <a:bodyPr/>
                    <a:lstStyle/>
                    <a:p>
                      <a:pPr algn="ctr" fontAlgn="b"/>
                      <a:r>
                        <a:rPr lang="es-PE" sz="2000" b="1" u="none" strike="noStrike" dirty="0">
                          <a:solidFill>
                            <a:srgbClr val="FF0000"/>
                          </a:solidFill>
                          <a:effectLst/>
                        </a:rPr>
                        <a:t>-36</a:t>
                      </a:r>
                      <a:endParaRPr lang="es-PE" sz="2000" b="1" i="0" u="none" strike="noStrike" dirty="0">
                        <a:solidFill>
                          <a:srgbClr val="FF0000"/>
                        </a:solidFill>
                        <a:effectLst/>
                        <a:latin typeface="Arial Narrow" panose="020B0606020202030204" pitchFamily="34" charset="0"/>
                      </a:endParaRPr>
                    </a:p>
                  </a:txBody>
                  <a:tcPr marL="9525" marR="9525" marT="9525" marB="0" anchor="b">
                    <a:solidFill>
                      <a:schemeClr val="bg1"/>
                    </a:solidFill>
                  </a:tcPr>
                </a:tc>
                <a:extLst>
                  <a:ext uri="{0D108BD9-81ED-4DB2-BD59-A6C34878D82A}">
                    <a16:rowId xmlns:a16="http://schemas.microsoft.com/office/drawing/2014/main" val="3392842815"/>
                  </a:ext>
                </a:extLst>
              </a:tr>
              <a:tr h="228600">
                <a:tc>
                  <a:txBody>
                    <a:bodyPr/>
                    <a:lstStyle/>
                    <a:p>
                      <a:pPr algn="ctr" fontAlgn="b"/>
                      <a:r>
                        <a:rPr lang="es-PE" sz="2000" b="1" u="none" strike="noStrike" dirty="0">
                          <a:solidFill>
                            <a:srgbClr val="FF0000"/>
                          </a:solidFill>
                          <a:effectLst/>
                        </a:rPr>
                        <a:t>-29</a:t>
                      </a:r>
                      <a:endParaRPr lang="es-PE" sz="2000" b="1" i="0" u="none" strike="noStrike" dirty="0">
                        <a:solidFill>
                          <a:srgbClr val="FF0000"/>
                        </a:solidFill>
                        <a:effectLst/>
                        <a:latin typeface="Arial Narrow" panose="020B0606020202030204" pitchFamily="34" charset="0"/>
                      </a:endParaRPr>
                    </a:p>
                  </a:txBody>
                  <a:tcPr marL="9525" marR="9525" marT="9525" marB="0" anchor="b">
                    <a:solidFill>
                      <a:schemeClr val="bg1"/>
                    </a:solidFill>
                  </a:tcPr>
                </a:tc>
                <a:extLst>
                  <a:ext uri="{0D108BD9-81ED-4DB2-BD59-A6C34878D82A}">
                    <a16:rowId xmlns:a16="http://schemas.microsoft.com/office/drawing/2014/main" val="3645342712"/>
                  </a:ext>
                </a:extLst>
              </a:tr>
              <a:tr h="228600">
                <a:tc>
                  <a:txBody>
                    <a:bodyPr/>
                    <a:lstStyle/>
                    <a:p>
                      <a:pPr algn="ctr" fontAlgn="b"/>
                      <a:r>
                        <a:rPr lang="es-PE" sz="2000" b="1" u="none" strike="noStrike" dirty="0">
                          <a:solidFill>
                            <a:srgbClr val="FF0000"/>
                          </a:solidFill>
                          <a:effectLst/>
                        </a:rPr>
                        <a:t>-32</a:t>
                      </a:r>
                      <a:endParaRPr lang="es-PE" sz="2000" b="1" i="0" u="none" strike="noStrike" dirty="0">
                        <a:solidFill>
                          <a:srgbClr val="FF0000"/>
                        </a:solidFill>
                        <a:effectLst/>
                        <a:latin typeface="Arial Narrow" panose="020B0606020202030204" pitchFamily="34" charset="0"/>
                      </a:endParaRPr>
                    </a:p>
                  </a:txBody>
                  <a:tcPr marL="9525" marR="9525" marT="9525" marB="0" anchor="b">
                    <a:solidFill>
                      <a:schemeClr val="bg1"/>
                    </a:solidFill>
                  </a:tcPr>
                </a:tc>
                <a:extLst>
                  <a:ext uri="{0D108BD9-81ED-4DB2-BD59-A6C34878D82A}">
                    <a16:rowId xmlns:a16="http://schemas.microsoft.com/office/drawing/2014/main" val="2696991614"/>
                  </a:ext>
                </a:extLst>
              </a:tr>
              <a:tr h="228600">
                <a:tc>
                  <a:txBody>
                    <a:bodyPr/>
                    <a:lstStyle/>
                    <a:p>
                      <a:pPr algn="ctr" fontAlgn="b"/>
                      <a:r>
                        <a:rPr lang="es-PE" sz="2000" b="1" u="none" strike="noStrike" dirty="0">
                          <a:solidFill>
                            <a:srgbClr val="FF0000"/>
                          </a:solidFill>
                          <a:effectLst/>
                        </a:rPr>
                        <a:t>-25</a:t>
                      </a:r>
                      <a:endParaRPr lang="es-PE" sz="2000" b="1" i="0" u="none" strike="noStrike" dirty="0">
                        <a:solidFill>
                          <a:srgbClr val="FF0000"/>
                        </a:solidFill>
                        <a:effectLst/>
                        <a:latin typeface="Arial Narrow" panose="020B0606020202030204" pitchFamily="34" charset="0"/>
                      </a:endParaRPr>
                    </a:p>
                  </a:txBody>
                  <a:tcPr marL="9525" marR="9525" marT="9525" marB="0" anchor="b">
                    <a:solidFill>
                      <a:schemeClr val="bg1"/>
                    </a:solidFill>
                  </a:tcPr>
                </a:tc>
                <a:extLst>
                  <a:ext uri="{0D108BD9-81ED-4DB2-BD59-A6C34878D82A}">
                    <a16:rowId xmlns:a16="http://schemas.microsoft.com/office/drawing/2014/main" val="2838638495"/>
                  </a:ext>
                </a:extLst>
              </a:tr>
            </a:tbl>
          </a:graphicData>
        </a:graphic>
      </p:graphicFrame>
      <p:graphicFrame>
        <p:nvGraphicFramePr>
          <p:cNvPr id="6" name="Tabla 5">
            <a:extLst>
              <a:ext uri="{FF2B5EF4-FFF2-40B4-BE49-F238E27FC236}">
                <a16:creationId xmlns:a16="http://schemas.microsoft.com/office/drawing/2014/main" id="{BB7E56C0-7CD6-4AE3-8BCB-24515EB318C9}"/>
              </a:ext>
            </a:extLst>
          </p:cNvPr>
          <p:cNvGraphicFramePr>
            <a:graphicFrameLocks noGrp="1"/>
          </p:cNvGraphicFramePr>
          <p:nvPr/>
        </p:nvGraphicFramePr>
        <p:xfrm>
          <a:off x="6096000" y="2081540"/>
          <a:ext cx="1881354" cy="1885950"/>
        </p:xfrm>
        <a:graphic>
          <a:graphicData uri="http://schemas.openxmlformats.org/drawingml/2006/table">
            <a:tbl>
              <a:tblPr>
                <a:tableStyleId>{5C22544A-7EE6-4342-B048-85BDC9FD1C3A}</a:tableStyleId>
              </a:tblPr>
              <a:tblGrid>
                <a:gridCol w="313559">
                  <a:extLst>
                    <a:ext uri="{9D8B030D-6E8A-4147-A177-3AD203B41FA5}">
                      <a16:colId xmlns:a16="http://schemas.microsoft.com/office/drawing/2014/main" val="2309722284"/>
                    </a:ext>
                  </a:extLst>
                </a:gridCol>
                <a:gridCol w="313559">
                  <a:extLst>
                    <a:ext uri="{9D8B030D-6E8A-4147-A177-3AD203B41FA5}">
                      <a16:colId xmlns:a16="http://schemas.microsoft.com/office/drawing/2014/main" val="1840538027"/>
                    </a:ext>
                  </a:extLst>
                </a:gridCol>
                <a:gridCol w="313559">
                  <a:extLst>
                    <a:ext uri="{9D8B030D-6E8A-4147-A177-3AD203B41FA5}">
                      <a16:colId xmlns:a16="http://schemas.microsoft.com/office/drawing/2014/main" val="1899356092"/>
                    </a:ext>
                  </a:extLst>
                </a:gridCol>
                <a:gridCol w="313559">
                  <a:extLst>
                    <a:ext uri="{9D8B030D-6E8A-4147-A177-3AD203B41FA5}">
                      <a16:colId xmlns:a16="http://schemas.microsoft.com/office/drawing/2014/main" val="776116208"/>
                    </a:ext>
                  </a:extLst>
                </a:gridCol>
                <a:gridCol w="313559">
                  <a:extLst>
                    <a:ext uri="{9D8B030D-6E8A-4147-A177-3AD203B41FA5}">
                      <a16:colId xmlns:a16="http://schemas.microsoft.com/office/drawing/2014/main" val="1009077308"/>
                    </a:ext>
                  </a:extLst>
                </a:gridCol>
                <a:gridCol w="313559">
                  <a:extLst>
                    <a:ext uri="{9D8B030D-6E8A-4147-A177-3AD203B41FA5}">
                      <a16:colId xmlns:a16="http://schemas.microsoft.com/office/drawing/2014/main" val="27496079"/>
                    </a:ext>
                  </a:extLst>
                </a:gridCol>
              </a:tblGrid>
              <a:tr h="228600">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8</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11</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3346332435"/>
                  </a:ext>
                </a:extLst>
              </a:tr>
              <a:tr h="228600">
                <a:tc>
                  <a:txBody>
                    <a:bodyPr/>
                    <a:lstStyle/>
                    <a:p>
                      <a:pPr algn="ctr" fontAlgn="b"/>
                      <a:r>
                        <a:rPr lang="es-PE" sz="2000" b="1" u="none" strike="noStrike">
                          <a:effectLst/>
                        </a:rPr>
                        <a:t>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8</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3</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3038457943"/>
                  </a:ext>
                </a:extLst>
              </a:tr>
              <a:tr h="228600">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18</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12</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2305489054"/>
                  </a:ext>
                </a:extLst>
              </a:tr>
              <a:tr h="228600">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15</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7</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5</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3902003131"/>
                  </a:ext>
                </a:extLst>
              </a:tr>
              <a:tr h="228600">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7</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14</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2842602322"/>
                  </a:ext>
                </a:extLst>
              </a:tr>
              <a:tr h="228600">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13</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6</a:t>
                      </a:r>
                      <a:endParaRPr lang="es-PE" sz="2000" b="1" i="0" u="none" strike="noStrike" dirty="0">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3235018039"/>
                  </a:ext>
                </a:extLst>
              </a:tr>
            </a:tbl>
          </a:graphicData>
        </a:graphic>
      </p:graphicFrame>
      <p:sp>
        <p:nvSpPr>
          <p:cNvPr id="7" name="Rectángulo 6">
            <a:extLst>
              <a:ext uri="{FF2B5EF4-FFF2-40B4-BE49-F238E27FC236}">
                <a16:creationId xmlns:a16="http://schemas.microsoft.com/office/drawing/2014/main" id="{A6B9EEB9-E17A-4212-A66B-F647490CFEC2}"/>
              </a:ext>
            </a:extLst>
          </p:cNvPr>
          <p:cNvSpPr/>
          <p:nvPr/>
        </p:nvSpPr>
        <p:spPr>
          <a:xfrm>
            <a:off x="6096000" y="3972911"/>
            <a:ext cx="1930337" cy="369332"/>
          </a:xfrm>
          <a:prstGeom prst="rect">
            <a:avLst/>
          </a:prstGeom>
        </p:spPr>
        <p:txBody>
          <a:bodyPr wrap="none">
            <a:spAutoFit/>
          </a:bodyPr>
          <a:lstStyle/>
          <a:p>
            <a:r>
              <a:rPr lang="es-PE" b="1" dirty="0">
                <a:solidFill>
                  <a:srgbClr val="FF0000"/>
                </a:solidFill>
                <a:latin typeface="Arial Narrow" panose="020B0606020202030204" pitchFamily="34" charset="0"/>
              </a:rPr>
              <a:t>0</a:t>
            </a:r>
            <a:r>
              <a:rPr lang="es-PE" dirty="0"/>
              <a:t>     </a:t>
            </a:r>
            <a:r>
              <a:rPr lang="es-PE" b="1" dirty="0">
                <a:solidFill>
                  <a:srgbClr val="FF0000"/>
                </a:solidFill>
                <a:latin typeface="Arial Narrow" panose="020B0606020202030204" pitchFamily="34" charset="0"/>
              </a:rPr>
              <a:t>8</a:t>
            </a:r>
            <a:r>
              <a:rPr lang="es-PE" dirty="0"/>
              <a:t>     </a:t>
            </a:r>
            <a:r>
              <a:rPr lang="es-PE" b="1" dirty="0">
                <a:solidFill>
                  <a:srgbClr val="FF0000"/>
                </a:solidFill>
                <a:latin typeface="Arial Narrow" panose="020B0606020202030204" pitchFamily="34" charset="0"/>
              </a:rPr>
              <a:t>6  </a:t>
            </a:r>
            <a:r>
              <a:rPr lang="es-PE" dirty="0"/>
              <a:t> </a:t>
            </a:r>
            <a:r>
              <a:rPr lang="es-PE" b="1" dirty="0">
                <a:solidFill>
                  <a:srgbClr val="FF0000"/>
                </a:solidFill>
                <a:latin typeface="Arial Narrow" panose="020B0606020202030204" pitchFamily="34" charset="0"/>
              </a:rPr>
              <a:t>2   </a:t>
            </a:r>
            <a:r>
              <a:rPr lang="es-PE" dirty="0"/>
              <a:t> </a:t>
            </a:r>
            <a:r>
              <a:rPr lang="es-PE" b="1" dirty="0">
                <a:solidFill>
                  <a:srgbClr val="FF0000"/>
                </a:solidFill>
                <a:latin typeface="Arial Narrow" panose="020B0606020202030204" pitchFamily="34" charset="0"/>
              </a:rPr>
              <a:t>0</a:t>
            </a:r>
            <a:r>
              <a:rPr lang="es-PE" dirty="0"/>
              <a:t>   </a:t>
            </a:r>
            <a:r>
              <a:rPr lang="es-PE" b="1" dirty="0">
                <a:solidFill>
                  <a:srgbClr val="FF0000"/>
                </a:solidFill>
                <a:latin typeface="Arial Narrow" panose="020B0606020202030204" pitchFamily="34" charset="0"/>
              </a:rPr>
              <a:t>3</a:t>
            </a:r>
            <a:r>
              <a:rPr lang="es-PE" dirty="0"/>
              <a:t> </a:t>
            </a:r>
          </a:p>
        </p:txBody>
      </p:sp>
      <p:graphicFrame>
        <p:nvGraphicFramePr>
          <p:cNvPr id="8" name="Tabla 7">
            <a:extLst>
              <a:ext uri="{FF2B5EF4-FFF2-40B4-BE49-F238E27FC236}">
                <a16:creationId xmlns:a16="http://schemas.microsoft.com/office/drawing/2014/main" id="{A9366CCF-A44E-411D-86F8-83CE8969C3FA}"/>
              </a:ext>
            </a:extLst>
          </p:cNvPr>
          <p:cNvGraphicFramePr>
            <a:graphicFrameLocks noGrp="1"/>
          </p:cNvGraphicFramePr>
          <p:nvPr/>
        </p:nvGraphicFramePr>
        <p:xfrm>
          <a:off x="8282151" y="2097306"/>
          <a:ext cx="1829412" cy="1885950"/>
        </p:xfrm>
        <a:graphic>
          <a:graphicData uri="http://schemas.openxmlformats.org/drawingml/2006/table">
            <a:tbl>
              <a:tblPr>
                <a:tableStyleId>{5C22544A-7EE6-4342-B048-85BDC9FD1C3A}</a:tableStyleId>
              </a:tblPr>
              <a:tblGrid>
                <a:gridCol w="304902">
                  <a:extLst>
                    <a:ext uri="{9D8B030D-6E8A-4147-A177-3AD203B41FA5}">
                      <a16:colId xmlns:a16="http://schemas.microsoft.com/office/drawing/2014/main" val="1481997258"/>
                    </a:ext>
                  </a:extLst>
                </a:gridCol>
                <a:gridCol w="304902">
                  <a:extLst>
                    <a:ext uri="{9D8B030D-6E8A-4147-A177-3AD203B41FA5}">
                      <a16:colId xmlns:a16="http://schemas.microsoft.com/office/drawing/2014/main" val="3939972621"/>
                    </a:ext>
                  </a:extLst>
                </a:gridCol>
                <a:gridCol w="304902">
                  <a:extLst>
                    <a:ext uri="{9D8B030D-6E8A-4147-A177-3AD203B41FA5}">
                      <a16:colId xmlns:a16="http://schemas.microsoft.com/office/drawing/2014/main" val="2259478886"/>
                    </a:ext>
                  </a:extLst>
                </a:gridCol>
                <a:gridCol w="304902">
                  <a:extLst>
                    <a:ext uri="{9D8B030D-6E8A-4147-A177-3AD203B41FA5}">
                      <a16:colId xmlns:a16="http://schemas.microsoft.com/office/drawing/2014/main" val="2077627174"/>
                    </a:ext>
                  </a:extLst>
                </a:gridCol>
                <a:gridCol w="304902">
                  <a:extLst>
                    <a:ext uri="{9D8B030D-6E8A-4147-A177-3AD203B41FA5}">
                      <a16:colId xmlns:a16="http://schemas.microsoft.com/office/drawing/2014/main" val="909547896"/>
                    </a:ext>
                  </a:extLst>
                </a:gridCol>
                <a:gridCol w="304902">
                  <a:extLst>
                    <a:ext uri="{9D8B030D-6E8A-4147-A177-3AD203B41FA5}">
                      <a16:colId xmlns:a16="http://schemas.microsoft.com/office/drawing/2014/main" val="46217774"/>
                    </a:ext>
                  </a:extLst>
                </a:gridCol>
              </a:tblGrid>
              <a:tr h="228600">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8</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8</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530081805"/>
                  </a:ext>
                </a:extLst>
              </a:tr>
              <a:tr h="228600">
                <a:tc>
                  <a:txBody>
                    <a:bodyPr/>
                    <a:lstStyle/>
                    <a:p>
                      <a:pPr algn="ctr" fontAlgn="b"/>
                      <a:r>
                        <a:rPr lang="es-PE" sz="2000" b="1" u="none" strike="noStrike" dirty="0">
                          <a:effectLst/>
                        </a:rPr>
                        <a:t>4</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extLst>
                  <a:ext uri="{0D108BD9-81ED-4DB2-BD59-A6C34878D82A}">
                    <a16:rowId xmlns:a16="http://schemas.microsoft.com/office/drawing/2014/main" val="3900505744"/>
                  </a:ext>
                </a:extLst>
              </a:tr>
              <a:tr h="228600">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12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467942132"/>
                  </a:ext>
                </a:extLst>
              </a:tr>
              <a:tr h="228600">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7</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3</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6</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3741143347"/>
                  </a:ext>
                </a:extLst>
              </a:tr>
              <a:tr h="228600">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10</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5</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11</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3535644678"/>
                  </a:ext>
                </a:extLst>
              </a:tr>
              <a:tr h="228600">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5</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6</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3</a:t>
                      </a:r>
                      <a:endParaRPr lang="es-PE" sz="2000" b="1" i="0" u="none" strike="noStrike" dirty="0">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913822014"/>
                  </a:ext>
                </a:extLst>
              </a:tr>
            </a:tbl>
          </a:graphicData>
        </a:graphic>
      </p:graphicFrame>
      <p:graphicFrame>
        <p:nvGraphicFramePr>
          <p:cNvPr id="9" name="Tabla 8">
            <a:extLst>
              <a:ext uri="{FF2B5EF4-FFF2-40B4-BE49-F238E27FC236}">
                <a16:creationId xmlns:a16="http://schemas.microsoft.com/office/drawing/2014/main" id="{E2D9D17C-9370-409E-9D94-BEDC82AEEDC5}"/>
              </a:ext>
            </a:extLst>
          </p:cNvPr>
          <p:cNvGraphicFramePr>
            <a:graphicFrameLocks noGrp="1"/>
          </p:cNvGraphicFramePr>
          <p:nvPr/>
        </p:nvGraphicFramePr>
        <p:xfrm>
          <a:off x="10315903" y="2097306"/>
          <a:ext cx="1744716" cy="1885950"/>
        </p:xfrm>
        <a:graphic>
          <a:graphicData uri="http://schemas.openxmlformats.org/drawingml/2006/table">
            <a:tbl>
              <a:tblPr>
                <a:tableStyleId>{5C22544A-7EE6-4342-B048-85BDC9FD1C3A}</a:tableStyleId>
              </a:tblPr>
              <a:tblGrid>
                <a:gridCol w="290786">
                  <a:extLst>
                    <a:ext uri="{9D8B030D-6E8A-4147-A177-3AD203B41FA5}">
                      <a16:colId xmlns:a16="http://schemas.microsoft.com/office/drawing/2014/main" val="4261792889"/>
                    </a:ext>
                  </a:extLst>
                </a:gridCol>
                <a:gridCol w="290786">
                  <a:extLst>
                    <a:ext uri="{9D8B030D-6E8A-4147-A177-3AD203B41FA5}">
                      <a16:colId xmlns:a16="http://schemas.microsoft.com/office/drawing/2014/main" val="1642031096"/>
                    </a:ext>
                  </a:extLst>
                </a:gridCol>
                <a:gridCol w="290786">
                  <a:extLst>
                    <a:ext uri="{9D8B030D-6E8A-4147-A177-3AD203B41FA5}">
                      <a16:colId xmlns:a16="http://schemas.microsoft.com/office/drawing/2014/main" val="1439548937"/>
                    </a:ext>
                  </a:extLst>
                </a:gridCol>
                <a:gridCol w="290786">
                  <a:extLst>
                    <a:ext uri="{9D8B030D-6E8A-4147-A177-3AD203B41FA5}">
                      <a16:colId xmlns:a16="http://schemas.microsoft.com/office/drawing/2014/main" val="575292856"/>
                    </a:ext>
                  </a:extLst>
                </a:gridCol>
                <a:gridCol w="290786">
                  <a:extLst>
                    <a:ext uri="{9D8B030D-6E8A-4147-A177-3AD203B41FA5}">
                      <a16:colId xmlns:a16="http://schemas.microsoft.com/office/drawing/2014/main" val="3008246403"/>
                    </a:ext>
                  </a:extLst>
                </a:gridCol>
                <a:gridCol w="290786">
                  <a:extLst>
                    <a:ext uri="{9D8B030D-6E8A-4147-A177-3AD203B41FA5}">
                      <a16:colId xmlns:a16="http://schemas.microsoft.com/office/drawing/2014/main" val="1700371459"/>
                    </a:ext>
                  </a:extLst>
                </a:gridCol>
              </a:tblGrid>
              <a:tr h="228600">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7</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11</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7</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2590418538"/>
                  </a:ext>
                </a:extLst>
              </a:tr>
              <a:tr h="228600">
                <a:tc>
                  <a:txBody>
                    <a:bodyPr/>
                    <a:lstStyle/>
                    <a:p>
                      <a:pPr algn="ctr" fontAlgn="b"/>
                      <a:r>
                        <a:rPr lang="es-PE" sz="2000" b="1" u="none" strike="noStrike">
                          <a:effectLst/>
                        </a:rPr>
                        <a:t>5</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extLst>
                  <a:ext uri="{0D108BD9-81ED-4DB2-BD59-A6C34878D82A}">
                    <a16:rowId xmlns:a16="http://schemas.microsoft.com/office/drawing/2014/main" val="315500368"/>
                  </a:ext>
                </a:extLst>
              </a:tr>
              <a:tr h="228600">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11</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13</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15</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13</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8</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213998564"/>
                  </a:ext>
                </a:extLst>
              </a:tr>
              <a:tr h="228600">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8</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5</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3686251979"/>
                  </a:ext>
                </a:extLst>
              </a:tr>
              <a:tr h="228600">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3</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13</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10</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671415809"/>
                  </a:ext>
                </a:extLst>
              </a:tr>
              <a:tr h="228600">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3</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1</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5</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2</a:t>
                      </a:r>
                      <a:endParaRPr lang="es-PE" sz="2000" b="1" i="0" u="none" strike="noStrike" dirty="0">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4264643632"/>
                  </a:ext>
                </a:extLst>
              </a:tr>
            </a:tbl>
          </a:graphicData>
        </a:graphic>
      </p:graphicFrame>
      <p:graphicFrame>
        <p:nvGraphicFramePr>
          <p:cNvPr id="10" name="Tabla 9">
            <a:extLst>
              <a:ext uri="{FF2B5EF4-FFF2-40B4-BE49-F238E27FC236}">
                <a16:creationId xmlns:a16="http://schemas.microsoft.com/office/drawing/2014/main" id="{EC9099FF-AE34-48C0-A987-4D447981B3A8}"/>
              </a:ext>
            </a:extLst>
          </p:cNvPr>
          <p:cNvGraphicFramePr>
            <a:graphicFrameLocks noGrp="1"/>
          </p:cNvGraphicFramePr>
          <p:nvPr>
            <p:extLst>
              <p:ext uri="{D42A27DB-BD31-4B8C-83A1-F6EECF244321}">
                <p14:modId xmlns:p14="http://schemas.microsoft.com/office/powerpoint/2010/main" val="1695824619"/>
              </p:ext>
            </p:extLst>
          </p:nvPr>
        </p:nvGraphicFramePr>
        <p:xfrm>
          <a:off x="345010" y="4827097"/>
          <a:ext cx="1905000" cy="1885950"/>
        </p:xfrm>
        <a:graphic>
          <a:graphicData uri="http://schemas.openxmlformats.org/drawingml/2006/table">
            <a:tbl>
              <a:tblPr>
                <a:tableStyleId>{5C22544A-7EE6-4342-B048-85BDC9FD1C3A}</a:tableStyleId>
              </a:tblPr>
              <a:tblGrid>
                <a:gridCol w="317500">
                  <a:extLst>
                    <a:ext uri="{9D8B030D-6E8A-4147-A177-3AD203B41FA5}">
                      <a16:colId xmlns:a16="http://schemas.microsoft.com/office/drawing/2014/main" val="420824486"/>
                    </a:ext>
                  </a:extLst>
                </a:gridCol>
                <a:gridCol w="317500">
                  <a:extLst>
                    <a:ext uri="{9D8B030D-6E8A-4147-A177-3AD203B41FA5}">
                      <a16:colId xmlns:a16="http://schemas.microsoft.com/office/drawing/2014/main" val="1922613549"/>
                    </a:ext>
                  </a:extLst>
                </a:gridCol>
                <a:gridCol w="317500">
                  <a:extLst>
                    <a:ext uri="{9D8B030D-6E8A-4147-A177-3AD203B41FA5}">
                      <a16:colId xmlns:a16="http://schemas.microsoft.com/office/drawing/2014/main" val="15213864"/>
                    </a:ext>
                  </a:extLst>
                </a:gridCol>
                <a:gridCol w="317500">
                  <a:extLst>
                    <a:ext uri="{9D8B030D-6E8A-4147-A177-3AD203B41FA5}">
                      <a16:colId xmlns:a16="http://schemas.microsoft.com/office/drawing/2014/main" val="2991529806"/>
                    </a:ext>
                  </a:extLst>
                </a:gridCol>
                <a:gridCol w="317500">
                  <a:extLst>
                    <a:ext uri="{9D8B030D-6E8A-4147-A177-3AD203B41FA5}">
                      <a16:colId xmlns:a16="http://schemas.microsoft.com/office/drawing/2014/main" val="357225692"/>
                    </a:ext>
                  </a:extLst>
                </a:gridCol>
                <a:gridCol w="317500">
                  <a:extLst>
                    <a:ext uri="{9D8B030D-6E8A-4147-A177-3AD203B41FA5}">
                      <a16:colId xmlns:a16="http://schemas.microsoft.com/office/drawing/2014/main" val="3280429508"/>
                    </a:ext>
                  </a:extLst>
                </a:gridCol>
              </a:tblGrid>
              <a:tr h="238125">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6</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1</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10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8</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6</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3631797825"/>
                  </a:ext>
                </a:extLst>
              </a:tr>
              <a:tr h="238125">
                <a:tc>
                  <a:txBody>
                    <a:bodyPr/>
                    <a:lstStyle/>
                    <a:p>
                      <a:pPr algn="ctr" fontAlgn="b"/>
                      <a:r>
                        <a:rPr lang="es-PE" sz="2000" b="1" u="none" strike="noStrike" dirty="0">
                          <a:effectLst/>
                        </a:rPr>
                        <a:t>6</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extLst>
                  <a:ext uri="{0D108BD9-81ED-4DB2-BD59-A6C34878D82A}">
                    <a16:rowId xmlns:a16="http://schemas.microsoft.com/office/drawing/2014/main" val="21031913"/>
                  </a:ext>
                </a:extLst>
              </a:tr>
              <a:tr h="238125">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10</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13</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14</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12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7</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2996713590"/>
                  </a:ext>
                </a:extLst>
              </a:tr>
              <a:tr h="238125">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5</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0</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7</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4</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2748347647"/>
                  </a:ext>
                </a:extLst>
              </a:tr>
              <a:tr h="238125">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3</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12</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1045451519"/>
                  </a:ext>
                </a:extLst>
              </a:tr>
              <a:tr h="238125">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3</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3</a:t>
                      </a:r>
                      <a:endParaRPr lang="es-PE" sz="2000" b="1" i="0" u="none" strike="noStrike">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1</a:t>
                      </a:r>
                      <a:endParaRPr lang="es-PE" sz="2000" b="1" i="0" u="none" strike="noStrike" dirty="0">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2901645170"/>
                  </a:ext>
                </a:extLst>
              </a:tr>
            </a:tbl>
          </a:graphicData>
        </a:graphic>
      </p:graphicFrame>
      <p:graphicFrame>
        <p:nvGraphicFramePr>
          <p:cNvPr id="11" name="Tabla 10">
            <a:extLst>
              <a:ext uri="{FF2B5EF4-FFF2-40B4-BE49-F238E27FC236}">
                <a16:creationId xmlns:a16="http://schemas.microsoft.com/office/drawing/2014/main" id="{931613F3-31C4-4DAE-982D-C7078B6A36E4}"/>
              </a:ext>
            </a:extLst>
          </p:cNvPr>
          <p:cNvGraphicFramePr>
            <a:graphicFrameLocks noGrp="1"/>
          </p:cNvGraphicFramePr>
          <p:nvPr>
            <p:extLst>
              <p:ext uri="{D42A27DB-BD31-4B8C-83A1-F6EECF244321}">
                <p14:modId xmlns:p14="http://schemas.microsoft.com/office/powerpoint/2010/main" val="340450951"/>
              </p:ext>
            </p:extLst>
          </p:nvPr>
        </p:nvGraphicFramePr>
        <p:xfrm>
          <a:off x="2360761" y="4816467"/>
          <a:ext cx="1878420" cy="1885950"/>
        </p:xfrm>
        <a:graphic>
          <a:graphicData uri="http://schemas.openxmlformats.org/drawingml/2006/table">
            <a:tbl>
              <a:tblPr>
                <a:tableStyleId>{5C22544A-7EE6-4342-B048-85BDC9FD1C3A}</a:tableStyleId>
              </a:tblPr>
              <a:tblGrid>
                <a:gridCol w="313070">
                  <a:extLst>
                    <a:ext uri="{9D8B030D-6E8A-4147-A177-3AD203B41FA5}">
                      <a16:colId xmlns:a16="http://schemas.microsoft.com/office/drawing/2014/main" val="2273432780"/>
                    </a:ext>
                  </a:extLst>
                </a:gridCol>
                <a:gridCol w="313070">
                  <a:extLst>
                    <a:ext uri="{9D8B030D-6E8A-4147-A177-3AD203B41FA5}">
                      <a16:colId xmlns:a16="http://schemas.microsoft.com/office/drawing/2014/main" val="66119598"/>
                    </a:ext>
                  </a:extLst>
                </a:gridCol>
                <a:gridCol w="313070">
                  <a:extLst>
                    <a:ext uri="{9D8B030D-6E8A-4147-A177-3AD203B41FA5}">
                      <a16:colId xmlns:a16="http://schemas.microsoft.com/office/drawing/2014/main" val="678552660"/>
                    </a:ext>
                  </a:extLst>
                </a:gridCol>
                <a:gridCol w="313070">
                  <a:extLst>
                    <a:ext uri="{9D8B030D-6E8A-4147-A177-3AD203B41FA5}">
                      <a16:colId xmlns:a16="http://schemas.microsoft.com/office/drawing/2014/main" val="2678537597"/>
                    </a:ext>
                  </a:extLst>
                </a:gridCol>
                <a:gridCol w="313070">
                  <a:extLst>
                    <a:ext uri="{9D8B030D-6E8A-4147-A177-3AD203B41FA5}">
                      <a16:colId xmlns:a16="http://schemas.microsoft.com/office/drawing/2014/main" val="436944913"/>
                    </a:ext>
                  </a:extLst>
                </a:gridCol>
                <a:gridCol w="313070">
                  <a:extLst>
                    <a:ext uri="{9D8B030D-6E8A-4147-A177-3AD203B41FA5}">
                      <a16:colId xmlns:a16="http://schemas.microsoft.com/office/drawing/2014/main" val="1850941166"/>
                    </a:ext>
                  </a:extLst>
                </a:gridCol>
              </a:tblGrid>
              <a:tr h="238125">
                <a:tc>
                  <a:txBody>
                    <a:bodyPr/>
                    <a:lstStyle/>
                    <a:p>
                      <a:pPr algn="ctr" fontAlgn="b"/>
                      <a:r>
                        <a:rPr lang="es-PE" sz="2000" b="1" u="none" strike="noStrike" dirty="0">
                          <a:effectLst/>
                        </a:rPr>
                        <a:t>0</a:t>
                      </a:r>
                      <a:endParaRPr lang="es-PE" sz="2000" b="1" i="0" u="none" strike="noStrike" dirty="0">
                        <a:solidFill>
                          <a:srgbClr val="FF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5</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1</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10</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7</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5</a:t>
                      </a:r>
                      <a:endParaRPr lang="es-PE" sz="2000" b="1" i="0" u="none" strike="noStrike" dirty="0">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520268824"/>
                  </a:ext>
                </a:extLst>
              </a:tr>
              <a:tr h="238125">
                <a:tc>
                  <a:txBody>
                    <a:bodyPr/>
                    <a:lstStyle/>
                    <a:p>
                      <a:pPr algn="ctr" fontAlgn="b"/>
                      <a:r>
                        <a:rPr lang="es-PE" sz="2000" b="1" u="none" strike="noStrike" dirty="0">
                          <a:effectLst/>
                        </a:rPr>
                        <a:t>7</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1</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extLst>
                  <a:ext uri="{0D108BD9-81ED-4DB2-BD59-A6C34878D82A}">
                    <a16:rowId xmlns:a16="http://schemas.microsoft.com/office/drawing/2014/main" val="1560349637"/>
                  </a:ext>
                </a:extLst>
              </a:tr>
              <a:tr h="238125">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9</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13</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14</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11</a:t>
                      </a:r>
                      <a:endParaRPr lang="es-PE" sz="2000" b="1" i="0" u="none" strike="noStrike" dirty="0">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6</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1415888991"/>
                  </a:ext>
                </a:extLst>
              </a:tr>
              <a:tr h="238125">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4</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1</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6</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3</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4214438186"/>
                  </a:ext>
                </a:extLst>
              </a:tr>
              <a:tr h="238125">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1</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dirty="0">
                          <a:effectLst/>
                        </a:rPr>
                        <a:t>9</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a:effectLst/>
                        </a:rPr>
                        <a:t>3</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11</a:t>
                      </a:r>
                      <a:endParaRPr lang="es-PE" sz="2000" b="1" i="0" u="none" strike="noStrike">
                        <a:solidFill>
                          <a:srgbClr val="000000"/>
                        </a:solidFill>
                        <a:effectLst/>
                        <a:latin typeface="Arial Narrow" panose="020B0606020202030204" pitchFamily="34" charset="0"/>
                      </a:endParaRPr>
                    </a:p>
                  </a:txBody>
                  <a:tcPr marL="9525" marR="9525" marT="9525" marB="0" anchor="b"/>
                </a:tc>
                <a:tc>
                  <a:txBody>
                    <a:bodyPr/>
                    <a:lstStyle/>
                    <a:p>
                      <a:pPr algn="ctr" fontAlgn="b"/>
                      <a:r>
                        <a:rPr lang="es-PE" sz="2000" b="1" u="none" strike="noStrike">
                          <a:effectLst/>
                        </a:rPr>
                        <a:t>8</a:t>
                      </a:r>
                      <a:endParaRPr lang="es-PE" sz="2000" b="1" i="0" u="none" strike="noStrike">
                        <a:solidFill>
                          <a:srgbClr val="000000"/>
                        </a:solidFill>
                        <a:effectLst/>
                        <a:latin typeface="Arial Narrow" panose="020B0606020202030204" pitchFamily="34" charset="0"/>
                      </a:endParaRPr>
                    </a:p>
                  </a:txBody>
                  <a:tcPr marL="9525" marR="9525" marT="9525" marB="0" anchor="b"/>
                </a:tc>
                <a:extLst>
                  <a:ext uri="{0D108BD9-81ED-4DB2-BD59-A6C34878D82A}">
                    <a16:rowId xmlns:a16="http://schemas.microsoft.com/office/drawing/2014/main" val="2177905228"/>
                  </a:ext>
                </a:extLst>
              </a:tr>
              <a:tr h="238125">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2</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3</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3</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tc>
                  <a:txBody>
                    <a:bodyPr/>
                    <a:lstStyle/>
                    <a:p>
                      <a:pPr algn="ctr" fontAlgn="b"/>
                      <a:r>
                        <a:rPr lang="es-PE" sz="2000" b="1" u="none" strike="noStrike" dirty="0">
                          <a:effectLst/>
                        </a:rPr>
                        <a:t>0</a:t>
                      </a:r>
                      <a:endParaRPr lang="es-PE" sz="2000" b="1" i="0" u="none" strike="noStrike" dirty="0">
                        <a:solidFill>
                          <a:srgbClr val="000000"/>
                        </a:solidFill>
                        <a:effectLst/>
                        <a:latin typeface="Arial Narrow" panose="020B0606020202030204" pitchFamily="34" charset="0"/>
                      </a:endParaRPr>
                    </a:p>
                  </a:txBody>
                  <a:tcPr marL="9525" marR="9525" marT="9525" marB="0" anchor="b">
                    <a:solidFill>
                      <a:schemeClr val="accent6"/>
                    </a:solidFill>
                  </a:tcPr>
                </a:tc>
                <a:extLst>
                  <a:ext uri="{0D108BD9-81ED-4DB2-BD59-A6C34878D82A}">
                    <a16:rowId xmlns:a16="http://schemas.microsoft.com/office/drawing/2014/main" val="1609117437"/>
                  </a:ext>
                </a:extLst>
              </a:tr>
            </a:tbl>
          </a:graphicData>
        </a:graphic>
      </p:graphicFrame>
      <p:graphicFrame>
        <p:nvGraphicFramePr>
          <p:cNvPr id="12" name="Tabla 11">
            <a:extLst>
              <a:ext uri="{FF2B5EF4-FFF2-40B4-BE49-F238E27FC236}">
                <a16:creationId xmlns:a16="http://schemas.microsoft.com/office/drawing/2014/main" id="{4E562AB9-DF47-42EE-B81E-4DAD517F79B4}"/>
              </a:ext>
            </a:extLst>
          </p:cNvPr>
          <p:cNvGraphicFramePr>
            <a:graphicFrameLocks noGrp="1"/>
          </p:cNvGraphicFramePr>
          <p:nvPr>
            <p:extLst>
              <p:ext uri="{D42A27DB-BD31-4B8C-83A1-F6EECF244321}">
                <p14:modId xmlns:p14="http://schemas.microsoft.com/office/powerpoint/2010/main" val="2834257395"/>
              </p:ext>
            </p:extLst>
          </p:nvPr>
        </p:nvGraphicFramePr>
        <p:xfrm>
          <a:off x="4349593" y="4816467"/>
          <a:ext cx="1811082" cy="1885950"/>
        </p:xfrm>
        <a:graphic>
          <a:graphicData uri="http://schemas.openxmlformats.org/drawingml/2006/table">
            <a:tbl>
              <a:tblPr>
                <a:tableStyleId>{5C22544A-7EE6-4342-B048-85BDC9FD1C3A}</a:tableStyleId>
              </a:tblPr>
              <a:tblGrid>
                <a:gridCol w="301847">
                  <a:extLst>
                    <a:ext uri="{9D8B030D-6E8A-4147-A177-3AD203B41FA5}">
                      <a16:colId xmlns:a16="http://schemas.microsoft.com/office/drawing/2014/main" val="1553747060"/>
                    </a:ext>
                  </a:extLst>
                </a:gridCol>
                <a:gridCol w="301847">
                  <a:extLst>
                    <a:ext uri="{9D8B030D-6E8A-4147-A177-3AD203B41FA5}">
                      <a16:colId xmlns:a16="http://schemas.microsoft.com/office/drawing/2014/main" val="2023212121"/>
                    </a:ext>
                  </a:extLst>
                </a:gridCol>
                <a:gridCol w="301847">
                  <a:extLst>
                    <a:ext uri="{9D8B030D-6E8A-4147-A177-3AD203B41FA5}">
                      <a16:colId xmlns:a16="http://schemas.microsoft.com/office/drawing/2014/main" val="408959274"/>
                    </a:ext>
                  </a:extLst>
                </a:gridCol>
                <a:gridCol w="301847">
                  <a:extLst>
                    <a:ext uri="{9D8B030D-6E8A-4147-A177-3AD203B41FA5}">
                      <a16:colId xmlns:a16="http://schemas.microsoft.com/office/drawing/2014/main" val="2151189276"/>
                    </a:ext>
                  </a:extLst>
                </a:gridCol>
                <a:gridCol w="301847">
                  <a:extLst>
                    <a:ext uri="{9D8B030D-6E8A-4147-A177-3AD203B41FA5}">
                      <a16:colId xmlns:a16="http://schemas.microsoft.com/office/drawing/2014/main" val="1613280994"/>
                    </a:ext>
                  </a:extLst>
                </a:gridCol>
                <a:gridCol w="301847">
                  <a:extLst>
                    <a:ext uri="{9D8B030D-6E8A-4147-A177-3AD203B41FA5}">
                      <a16:colId xmlns:a16="http://schemas.microsoft.com/office/drawing/2014/main" val="3986729164"/>
                    </a:ext>
                  </a:extLst>
                </a:gridCol>
              </a:tblGrid>
              <a:tr h="300702">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4</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1</a:t>
                      </a:r>
                    </a:p>
                  </a:txBody>
                  <a:tcPr marL="9525" marR="9525" marT="9525" marB="0" anchor="b"/>
                </a:tc>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9</a:t>
                      </a:r>
                    </a:p>
                  </a:txBody>
                  <a:tcPr marL="9525" marR="9525" marT="9525" marB="0" anchor="b"/>
                </a:tc>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6</a:t>
                      </a:r>
                    </a:p>
                  </a:txBody>
                  <a:tcPr marL="9525" marR="9525" marT="9525" marB="0" anchor="b"/>
                </a:tc>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4</a:t>
                      </a:r>
                    </a:p>
                  </a:txBody>
                  <a:tcPr marL="9525" marR="9525" marT="9525" marB="0" anchor="b"/>
                </a:tc>
                <a:extLst>
                  <a:ext uri="{0D108BD9-81ED-4DB2-BD59-A6C34878D82A}">
                    <a16:rowId xmlns:a16="http://schemas.microsoft.com/office/drawing/2014/main" val="1650861229"/>
                  </a:ext>
                </a:extLst>
              </a:tr>
              <a:tr h="300702">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8</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3</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1</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solidFill>
                  </a:tcPr>
                </a:tc>
                <a:extLst>
                  <a:ext uri="{0D108BD9-81ED-4DB2-BD59-A6C34878D82A}">
                    <a16:rowId xmlns:a16="http://schemas.microsoft.com/office/drawing/2014/main" val="1937595115"/>
                  </a:ext>
                </a:extLst>
              </a:tr>
              <a:tr h="300702">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0</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8</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13</a:t>
                      </a:r>
                    </a:p>
                  </a:txBody>
                  <a:tcPr marL="9525" marR="9525" marT="9525" marB="0" anchor="b"/>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13</a:t>
                      </a:r>
                    </a:p>
                  </a:txBody>
                  <a:tcPr marL="9525" marR="9525" marT="9525" marB="0" anchor="b"/>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10</a:t>
                      </a:r>
                    </a:p>
                  </a:txBody>
                  <a:tcPr marL="9525" marR="9525" marT="9525" marB="0" anchor="b"/>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5</a:t>
                      </a:r>
                    </a:p>
                  </a:txBody>
                  <a:tcPr marL="9525" marR="9525" marT="9525" marB="0" anchor="b"/>
                </a:tc>
                <a:extLst>
                  <a:ext uri="{0D108BD9-81ED-4DB2-BD59-A6C34878D82A}">
                    <a16:rowId xmlns:a16="http://schemas.microsoft.com/office/drawing/2014/main" val="98487155"/>
                  </a:ext>
                </a:extLst>
              </a:tr>
              <a:tr h="300702">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0</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3</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0</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0</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5</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chemeClr val="accent6"/>
                    </a:solidFill>
                  </a:tcPr>
                </a:tc>
                <a:extLst>
                  <a:ext uri="{0D108BD9-81ED-4DB2-BD59-A6C34878D82A}">
                    <a16:rowId xmlns:a16="http://schemas.microsoft.com/office/drawing/2014/main" val="4208453531"/>
                  </a:ext>
                </a:extLst>
              </a:tr>
              <a:tr h="300702">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0</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9</a:t>
                      </a:r>
                    </a:p>
                  </a:txBody>
                  <a:tcPr marL="9525" marR="9525" marT="9525" marB="0" anchor="b"/>
                </a:tc>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2</a:t>
                      </a:r>
                    </a:p>
                  </a:txBody>
                  <a:tcPr marL="9525" marR="9525" marT="9525" marB="0" anchor="b"/>
                </a:tc>
                <a:tc>
                  <a:txBody>
                    <a:bodyPr/>
                    <a:lstStyle/>
                    <a:p>
                      <a:pPr marL="0" algn="ctr" defTabSz="914400" rtl="0" eaLnBrk="1" fontAlgn="b" latinLnBrk="0" hangingPunct="1"/>
                      <a:r>
                        <a:rPr lang="es-ES" sz="2000" b="1" u="none" strike="noStrike" kern="1200" dirty="0">
                          <a:solidFill>
                            <a:schemeClr val="dk1"/>
                          </a:solidFill>
                          <a:effectLst/>
                          <a:latin typeface="+mn-lt"/>
                          <a:ea typeface="+mn-ea"/>
                          <a:cs typeface="+mn-cs"/>
                        </a:rPr>
                        <a:t>1</a:t>
                      </a:r>
                      <a:r>
                        <a:rPr lang="es-PE" sz="2000" b="1" u="none" strike="noStrike" kern="1200" dirty="0">
                          <a:solidFill>
                            <a:schemeClr val="dk1"/>
                          </a:solidFill>
                          <a:effectLst/>
                          <a:latin typeface="+mn-lt"/>
                          <a:ea typeface="+mn-ea"/>
                          <a:cs typeface="+mn-cs"/>
                        </a:rPr>
                        <a:t>0</a:t>
                      </a:r>
                    </a:p>
                  </a:txBody>
                  <a:tcPr marL="9525" marR="9525" marT="9525" marB="0" anchor="b"/>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7</a:t>
                      </a:r>
                    </a:p>
                  </a:txBody>
                  <a:tcPr marL="9525" marR="9525" marT="9525" marB="0" anchor="b"/>
                </a:tc>
                <a:extLst>
                  <a:ext uri="{0D108BD9-81ED-4DB2-BD59-A6C34878D82A}">
                    <a16:rowId xmlns:a16="http://schemas.microsoft.com/office/drawing/2014/main" val="809905588"/>
                  </a:ext>
                </a:extLst>
              </a:tr>
              <a:tr h="300702">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1</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2</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4</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a:solidFill>
                            <a:schemeClr val="dk1"/>
                          </a:solidFill>
                          <a:effectLst/>
                          <a:latin typeface="+mn-lt"/>
                          <a:ea typeface="+mn-ea"/>
                          <a:cs typeface="+mn-cs"/>
                        </a:rPr>
                        <a:t>0</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3</a:t>
                      </a:r>
                    </a:p>
                  </a:txBody>
                  <a:tcPr marL="9525" marR="9525" marT="9525" marB="0" anchor="b">
                    <a:solidFill>
                      <a:schemeClr val="accent6"/>
                    </a:solidFill>
                  </a:tcPr>
                </a:tc>
                <a:tc>
                  <a:txBody>
                    <a:bodyPr/>
                    <a:lstStyle/>
                    <a:p>
                      <a:pPr marL="0" algn="ctr" defTabSz="914400" rtl="0" eaLnBrk="1" fontAlgn="b" latinLnBrk="0" hangingPunct="1"/>
                      <a:r>
                        <a:rPr lang="es-PE" sz="2000" b="1" u="none" strike="noStrike" kern="1200" dirty="0">
                          <a:solidFill>
                            <a:schemeClr val="dk1"/>
                          </a:solidFill>
                          <a:effectLst/>
                          <a:latin typeface="+mn-lt"/>
                          <a:ea typeface="+mn-ea"/>
                          <a:cs typeface="+mn-cs"/>
                        </a:rPr>
                        <a:t>0</a:t>
                      </a:r>
                    </a:p>
                  </a:txBody>
                  <a:tcPr marL="9525" marR="9525" marT="9525" marB="0" anchor="b">
                    <a:solidFill>
                      <a:schemeClr val="accent6"/>
                    </a:solidFill>
                  </a:tcPr>
                </a:tc>
                <a:extLst>
                  <a:ext uri="{0D108BD9-81ED-4DB2-BD59-A6C34878D82A}">
                    <a16:rowId xmlns:a16="http://schemas.microsoft.com/office/drawing/2014/main" val="315249916"/>
                  </a:ext>
                </a:extLst>
              </a:tr>
            </a:tbl>
          </a:graphicData>
        </a:graphic>
      </p:graphicFrame>
      <p:graphicFrame>
        <p:nvGraphicFramePr>
          <p:cNvPr id="13" name="Tabla 12">
            <a:extLst>
              <a:ext uri="{FF2B5EF4-FFF2-40B4-BE49-F238E27FC236}">
                <a16:creationId xmlns:a16="http://schemas.microsoft.com/office/drawing/2014/main" id="{7A882AF2-9409-4284-94CB-B0E8C41B980B}"/>
              </a:ext>
            </a:extLst>
          </p:cNvPr>
          <p:cNvGraphicFramePr>
            <a:graphicFrameLocks noGrp="1"/>
          </p:cNvGraphicFramePr>
          <p:nvPr>
            <p:extLst>
              <p:ext uri="{D42A27DB-BD31-4B8C-83A1-F6EECF244321}">
                <p14:modId xmlns:p14="http://schemas.microsoft.com/office/powerpoint/2010/main" val="2810277554"/>
              </p:ext>
            </p:extLst>
          </p:nvPr>
        </p:nvGraphicFramePr>
        <p:xfrm>
          <a:off x="6274894" y="4816467"/>
          <a:ext cx="1715388" cy="1885950"/>
        </p:xfrm>
        <a:graphic>
          <a:graphicData uri="http://schemas.openxmlformats.org/drawingml/2006/table">
            <a:tbl>
              <a:tblPr>
                <a:tableStyleId>{5C22544A-7EE6-4342-B048-85BDC9FD1C3A}</a:tableStyleId>
              </a:tblPr>
              <a:tblGrid>
                <a:gridCol w="285898">
                  <a:extLst>
                    <a:ext uri="{9D8B030D-6E8A-4147-A177-3AD203B41FA5}">
                      <a16:colId xmlns:a16="http://schemas.microsoft.com/office/drawing/2014/main" val="1069291354"/>
                    </a:ext>
                  </a:extLst>
                </a:gridCol>
                <a:gridCol w="285898">
                  <a:extLst>
                    <a:ext uri="{9D8B030D-6E8A-4147-A177-3AD203B41FA5}">
                      <a16:colId xmlns:a16="http://schemas.microsoft.com/office/drawing/2014/main" val="987561468"/>
                    </a:ext>
                  </a:extLst>
                </a:gridCol>
                <a:gridCol w="285898">
                  <a:extLst>
                    <a:ext uri="{9D8B030D-6E8A-4147-A177-3AD203B41FA5}">
                      <a16:colId xmlns:a16="http://schemas.microsoft.com/office/drawing/2014/main" val="2033203920"/>
                    </a:ext>
                  </a:extLst>
                </a:gridCol>
                <a:gridCol w="285898">
                  <a:extLst>
                    <a:ext uri="{9D8B030D-6E8A-4147-A177-3AD203B41FA5}">
                      <a16:colId xmlns:a16="http://schemas.microsoft.com/office/drawing/2014/main" val="754887703"/>
                    </a:ext>
                  </a:extLst>
                </a:gridCol>
                <a:gridCol w="285898">
                  <a:extLst>
                    <a:ext uri="{9D8B030D-6E8A-4147-A177-3AD203B41FA5}">
                      <a16:colId xmlns:a16="http://schemas.microsoft.com/office/drawing/2014/main" val="4085056081"/>
                    </a:ext>
                  </a:extLst>
                </a:gridCol>
                <a:gridCol w="285898">
                  <a:extLst>
                    <a:ext uri="{9D8B030D-6E8A-4147-A177-3AD203B41FA5}">
                      <a16:colId xmlns:a16="http://schemas.microsoft.com/office/drawing/2014/main" val="3271672957"/>
                    </a:ext>
                  </a:extLst>
                </a:gridCol>
              </a:tblGrid>
              <a:tr h="238125">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4</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0</a:t>
                      </a:r>
                      <a:endParaRPr lang="es-PE" sz="2000" b="1" i="0" u="none" strike="noStrike">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8</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3</a:t>
                      </a:r>
                      <a:endParaRPr lang="es-PE" sz="20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56086331"/>
                  </a:ext>
                </a:extLst>
              </a:tr>
              <a:tr h="238125">
                <a:tc>
                  <a:txBody>
                    <a:bodyPr/>
                    <a:lstStyle/>
                    <a:p>
                      <a:pPr algn="ctr" fontAlgn="b"/>
                      <a:r>
                        <a:rPr lang="es-PE" sz="2000" b="1" u="none" strike="noStrike">
                          <a:effectLst/>
                        </a:rPr>
                        <a:t>9</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3</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0</a:t>
                      </a:r>
                      <a:endParaRPr lang="es-PE" sz="2000" b="1" i="0" u="none" strike="noStrike">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2078107"/>
                  </a:ext>
                </a:extLst>
              </a:tr>
              <a:tr h="238125">
                <a:tc>
                  <a:txBody>
                    <a:bodyPr/>
                    <a:lstStyle/>
                    <a:p>
                      <a:pPr algn="ctr" fontAlgn="b"/>
                      <a:r>
                        <a:rPr lang="es-PE" sz="2000" b="1" u="none" strike="noStrike">
                          <a:effectLst/>
                        </a:rPr>
                        <a:t>0</a:t>
                      </a:r>
                      <a:endParaRPr lang="es-PE" sz="2000" b="1" i="0" u="none" strike="noStrike">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8</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ES" sz="2000" b="1" i="0" u="none" strike="noStrike" dirty="0">
                          <a:solidFill>
                            <a:srgbClr val="000000"/>
                          </a:solidFill>
                          <a:effectLst/>
                          <a:latin typeface="Calibri" panose="020F0502020204030204" pitchFamily="34" charset="0"/>
                        </a:rPr>
                        <a:t>12</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ES" sz="2000" b="1" i="0" u="none" strike="noStrike" dirty="0">
                          <a:solidFill>
                            <a:srgbClr val="000000"/>
                          </a:solidFill>
                          <a:effectLst/>
                          <a:latin typeface="Calibri" panose="020F0502020204030204" pitchFamily="34" charset="0"/>
                        </a:rPr>
                        <a:t>12</a:t>
                      </a:r>
                      <a:endParaRPr lang="es-PE" sz="20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4</a:t>
                      </a:r>
                      <a:endParaRPr lang="es-PE" sz="20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29251145"/>
                  </a:ext>
                </a:extLst>
              </a:tr>
              <a:tr h="238125">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4</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0</a:t>
                      </a:r>
                      <a:endParaRPr lang="es-PE" sz="2000" b="1" i="0" u="none" strike="noStrike">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5</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83963698"/>
                  </a:ext>
                </a:extLst>
              </a:tr>
              <a:tr h="238125">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0</a:t>
                      </a:r>
                      <a:endParaRPr lang="es-PE" sz="2000" b="1" i="0" u="none" strike="noStrike">
                        <a:solidFill>
                          <a:srgbClr val="FF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8</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1</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9</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6</a:t>
                      </a:r>
                      <a:endParaRPr lang="es-PE" sz="20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17440821"/>
                  </a:ext>
                </a:extLst>
              </a:tr>
              <a:tr h="238125">
                <a:tc>
                  <a:txBody>
                    <a:bodyPr/>
                    <a:lstStyle/>
                    <a:p>
                      <a:pPr algn="ctr" fontAlgn="b"/>
                      <a:r>
                        <a:rPr lang="es-PE" sz="2000" b="1" u="none" strike="noStrike">
                          <a:effectLst/>
                        </a:rPr>
                        <a:t>2</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3</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4</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0</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a:effectLst/>
                        </a:rPr>
                        <a:t>3</a:t>
                      </a:r>
                      <a:endParaRPr lang="es-PE" sz="20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s-PE" sz="2000" b="1" u="none" strike="noStrike" dirty="0">
                          <a:effectLst/>
                        </a:rPr>
                        <a:t>0</a:t>
                      </a:r>
                      <a:endParaRPr lang="es-PE" sz="2000" b="1" i="0" u="none" strike="noStrike" dirty="0">
                        <a:solidFill>
                          <a:srgbClr val="FF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83635447"/>
                  </a:ext>
                </a:extLst>
              </a:tr>
            </a:tbl>
          </a:graphicData>
        </a:graphic>
      </p:graphicFrame>
      <p:sp>
        <p:nvSpPr>
          <p:cNvPr id="14" name="Elipse 13">
            <a:extLst>
              <a:ext uri="{FF2B5EF4-FFF2-40B4-BE49-F238E27FC236}">
                <a16:creationId xmlns:a16="http://schemas.microsoft.com/office/drawing/2014/main" id="{56B7EC22-290E-47B1-8541-080C41B581F6}"/>
              </a:ext>
            </a:extLst>
          </p:cNvPr>
          <p:cNvSpPr/>
          <p:nvPr/>
        </p:nvSpPr>
        <p:spPr>
          <a:xfrm>
            <a:off x="6863230" y="4845043"/>
            <a:ext cx="233916" cy="2445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lipse 14">
            <a:extLst>
              <a:ext uri="{FF2B5EF4-FFF2-40B4-BE49-F238E27FC236}">
                <a16:creationId xmlns:a16="http://schemas.microsoft.com/office/drawing/2014/main" id="{E9350B2D-5AC8-46A0-9A49-5038F082301B}"/>
              </a:ext>
            </a:extLst>
          </p:cNvPr>
          <p:cNvSpPr/>
          <p:nvPr/>
        </p:nvSpPr>
        <p:spPr>
          <a:xfrm>
            <a:off x="7440934" y="5167564"/>
            <a:ext cx="233916" cy="2445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Elipse 15">
            <a:extLst>
              <a:ext uri="{FF2B5EF4-FFF2-40B4-BE49-F238E27FC236}">
                <a16:creationId xmlns:a16="http://schemas.microsoft.com/office/drawing/2014/main" id="{7969968A-F6A8-4F15-A287-6BEBD2742997}"/>
              </a:ext>
            </a:extLst>
          </p:cNvPr>
          <p:cNvSpPr/>
          <p:nvPr/>
        </p:nvSpPr>
        <p:spPr>
          <a:xfrm>
            <a:off x="7157399" y="5787796"/>
            <a:ext cx="233916" cy="2445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Elipse 16">
            <a:extLst>
              <a:ext uri="{FF2B5EF4-FFF2-40B4-BE49-F238E27FC236}">
                <a16:creationId xmlns:a16="http://schemas.microsoft.com/office/drawing/2014/main" id="{05C64EFA-A15F-4223-B5CA-EF62BB7C2996}"/>
              </a:ext>
            </a:extLst>
          </p:cNvPr>
          <p:cNvSpPr/>
          <p:nvPr/>
        </p:nvSpPr>
        <p:spPr>
          <a:xfrm>
            <a:off x="7724468" y="6418662"/>
            <a:ext cx="233916" cy="2445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8" name="Elipse 17">
            <a:extLst>
              <a:ext uri="{FF2B5EF4-FFF2-40B4-BE49-F238E27FC236}">
                <a16:creationId xmlns:a16="http://schemas.microsoft.com/office/drawing/2014/main" id="{B14FD6E2-D32D-46E7-BAE0-EC3998A6DE9D}"/>
              </a:ext>
            </a:extLst>
          </p:cNvPr>
          <p:cNvSpPr/>
          <p:nvPr/>
        </p:nvSpPr>
        <p:spPr>
          <a:xfrm>
            <a:off x="6579696" y="6103229"/>
            <a:ext cx="233916" cy="2445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Elipse 18">
            <a:extLst>
              <a:ext uri="{FF2B5EF4-FFF2-40B4-BE49-F238E27FC236}">
                <a16:creationId xmlns:a16="http://schemas.microsoft.com/office/drawing/2014/main" id="{4B88F074-1125-4169-8651-29B5C7868FE0}"/>
              </a:ext>
            </a:extLst>
          </p:cNvPr>
          <p:cNvSpPr/>
          <p:nvPr/>
        </p:nvSpPr>
        <p:spPr>
          <a:xfrm>
            <a:off x="6306794" y="5468820"/>
            <a:ext cx="233916" cy="24454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20" name="Tabla 19">
            <a:extLst>
              <a:ext uri="{FF2B5EF4-FFF2-40B4-BE49-F238E27FC236}">
                <a16:creationId xmlns:a16="http://schemas.microsoft.com/office/drawing/2014/main" id="{9B7D5299-1B6A-4DB1-B238-A0B83862F9D5}"/>
              </a:ext>
            </a:extLst>
          </p:cNvPr>
          <p:cNvGraphicFramePr>
            <a:graphicFrameLocks noGrp="1"/>
          </p:cNvGraphicFramePr>
          <p:nvPr>
            <p:extLst>
              <p:ext uri="{D42A27DB-BD31-4B8C-83A1-F6EECF244321}">
                <p14:modId xmlns:p14="http://schemas.microsoft.com/office/powerpoint/2010/main" val="1397236331"/>
              </p:ext>
            </p:extLst>
          </p:nvPr>
        </p:nvGraphicFramePr>
        <p:xfrm>
          <a:off x="8097203" y="5034695"/>
          <a:ext cx="3922269" cy="1618992"/>
        </p:xfrm>
        <a:graphic>
          <a:graphicData uri="http://schemas.openxmlformats.org/drawingml/2006/table">
            <a:tbl>
              <a:tblPr>
                <a:tableStyleId>{5C22544A-7EE6-4342-B048-85BDC9FD1C3A}</a:tableStyleId>
              </a:tblPr>
              <a:tblGrid>
                <a:gridCol w="712382">
                  <a:extLst>
                    <a:ext uri="{9D8B030D-6E8A-4147-A177-3AD203B41FA5}">
                      <a16:colId xmlns:a16="http://schemas.microsoft.com/office/drawing/2014/main" val="3410513883"/>
                    </a:ext>
                  </a:extLst>
                </a:gridCol>
                <a:gridCol w="1488558">
                  <a:extLst>
                    <a:ext uri="{9D8B030D-6E8A-4147-A177-3AD203B41FA5}">
                      <a16:colId xmlns:a16="http://schemas.microsoft.com/office/drawing/2014/main" val="3704331992"/>
                    </a:ext>
                  </a:extLst>
                </a:gridCol>
                <a:gridCol w="223284">
                  <a:extLst>
                    <a:ext uri="{9D8B030D-6E8A-4147-A177-3AD203B41FA5}">
                      <a16:colId xmlns:a16="http://schemas.microsoft.com/office/drawing/2014/main" val="3325370426"/>
                    </a:ext>
                  </a:extLst>
                </a:gridCol>
                <a:gridCol w="1095272">
                  <a:extLst>
                    <a:ext uri="{9D8B030D-6E8A-4147-A177-3AD203B41FA5}">
                      <a16:colId xmlns:a16="http://schemas.microsoft.com/office/drawing/2014/main" val="1243072177"/>
                    </a:ext>
                  </a:extLst>
                </a:gridCol>
                <a:gridCol w="116840">
                  <a:extLst>
                    <a:ext uri="{9D8B030D-6E8A-4147-A177-3AD203B41FA5}">
                      <a16:colId xmlns:a16="http://schemas.microsoft.com/office/drawing/2014/main" val="2846076774"/>
                    </a:ext>
                  </a:extLst>
                </a:gridCol>
                <a:gridCol w="285933">
                  <a:extLst>
                    <a:ext uri="{9D8B030D-6E8A-4147-A177-3AD203B41FA5}">
                      <a16:colId xmlns:a16="http://schemas.microsoft.com/office/drawing/2014/main" val="2674651150"/>
                    </a:ext>
                  </a:extLst>
                </a:gridCol>
              </a:tblGrid>
              <a:tr h="180723">
                <a:tc>
                  <a:txBody>
                    <a:bodyPr/>
                    <a:lstStyle/>
                    <a:p>
                      <a:pPr algn="l" fontAlgn="b"/>
                      <a:r>
                        <a:rPr lang="es-PE" sz="1400" b="1" u="none" strike="noStrike" dirty="0">
                          <a:solidFill>
                            <a:srgbClr val="7030A0"/>
                          </a:solidFill>
                          <a:effectLst/>
                          <a:latin typeface="Arial Narrow" panose="020B0606020202030204" pitchFamily="34" charset="0"/>
                        </a:rPr>
                        <a:t>Al </a:t>
                      </a:r>
                      <a:r>
                        <a:rPr lang="es-PE" sz="1400" b="1" u="none" strike="noStrike" dirty="0" err="1">
                          <a:solidFill>
                            <a:srgbClr val="7030A0"/>
                          </a:solidFill>
                          <a:effectLst/>
                          <a:latin typeface="Arial Narrow" panose="020B0606020202030204" pitchFamily="34" charset="0"/>
                        </a:rPr>
                        <a:t>Trab</a:t>
                      </a:r>
                      <a:r>
                        <a:rPr lang="es-PE" sz="1400" b="1" u="none" strike="noStrike" dirty="0">
                          <a:solidFill>
                            <a:srgbClr val="7030A0"/>
                          </a:solidFill>
                          <a:effectLst/>
                          <a:latin typeface="Arial Narrow" panose="020B0606020202030204" pitchFamily="34" charset="0"/>
                        </a:rPr>
                        <a:t>. 1</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it-IT" sz="1400" b="1" u="none" strike="noStrike" dirty="0">
                          <a:solidFill>
                            <a:srgbClr val="7030A0"/>
                          </a:solidFill>
                          <a:effectLst/>
                          <a:latin typeface="Arial Narrow" panose="020B0606020202030204" pitchFamily="34" charset="0"/>
                        </a:rPr>
                        <a:t>Se le asigna la tarea</a:t>
                      </a:r>
                      <a:endParaRPr lang="it-IT"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a:solidFill>
                            <a:srgbClr val="7030A0"/>
                          </a:solidFill>
                          <a:effectLst/>
                          <a:latin typeface="Arial Narrow" panose="020B0606020202030204" pitchFamily="34" charset="0"/>
                        </a:rPr>
                        <a:t>3</a:t>
                      </a:r>
                      <a:endParaRPr lang="es-PE" sz="1400" b="1" i="0" u="none" strike="noStrike">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a:solidFill>
                            <a:srgbClr val="7030A0"/>
                          </a:solidFill>
                          <a:effectLst/>
                          <a:latin typeface="Arial Narrow" panose="020B0606020202030204" pitchFamily="34" charset="0"/>
                        </a:rPr>
                        <a:t>La habilidad es</a:t>
                      </a:r>
                      <a:endParaRPr lang="es-PE" sz="1400" b="1" i="0" u="none" strike="noStrike">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 </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a:solidFill>
                            <a:srgbClr val="7030A0"/>
                          </a:solidFill>
                          <a:effectLst/>
                          <a:latin typeface="Arial Narrow" panose="020B0606020202030204" pitchFamily="34" charset="0"/>
                        </a:rPr>
                        <a:t>24</a:t>
                      </a:r>
                      <a:endParaRPr lang="es-PE" sz="1400" b="1" i="0" u="none" strike="noStrike">
                        <a:solidFill>
                          <a:srgbClr val="7030A0"/>
                        </a:solidFill>
                        <a:effectLst/>
                        <a:latin typeface="Arial Narrow" panose="020B0606020202030204" pitchFamily="34" charset="0"/>
                      </a:endParaRPr>
                    </a:p>
                  </a:txBody>
                  <a:tcPr marL="5672" marR="5672" marT="5672" marB="0" anchor="b"/>
                </a:tc>
                <a:extLst>
                  <a:ext uri="{0D108BD9-81ED-4DB2-BD59-A6C34878D82A}">
                    <a16:rowId xmlns:a16="http://schemas.microsoft.com/office/drawing/2014/main" val="3602386410"/>
                  </a:ext>
                </a:extLst>
              </a:tr>
              <a:tr h="180723">
                <a:tc>
                  <a:txBody>
                    <a:bodyPr/>
                    <a:lstStyle/>
                    <a:p>
                      <a:pPr algn="l" fontAlgn="b"/>
                      <a:r>
                        <a:rPr lang="es-PE" sz="1400" b="1" u="none" strike="noStrike" dirty="0">
                          <a:solidFill>
                            <a:srgbClr val="7030A0"/>
                          </a:solidFill>
                          <a:effectLst/>
                          <a:latin typeface="Arial Narrow" panose="020B0606020202030204" pitchFamily="34" charset="0"/>
                        </a:rPr>
                        <a:t>Al </a:t>
                      </a:r>
                      <a:r>
                        <a:rPr lang="es-PE" sz="1400" b="1" u="none" strike="noStrike" dirty="0" err="1">
                          <a:solidFill>
                            <a:srgbClr val="7030A0"/>
                          </a:solidFill>
                          <a:effectLst/>
                          <a:latin typeface="Arial Narrow" panose="020B0606020202030204" pitchFamily="34" charset="0"/>
                        </a:rPr>
                        <a:t>Trab</a:t>
                      </a:r>
                      <a:r>
                        <a:rPr lang="es-PE" sz="1400" b="1" u="none" strike="noStrike" dirty="0">
                          <a:solidFill>
                            <a:srgbClr val="7030A0"/>
                          </a:solidFill>
                          <a:effectLst/>
                          <a:latin typeface="Arial Narrow" panose="020B0606020202030204" pitchFamily="34" charset="0"/>
                        </a:rPr>
                        <a:t>. 2</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it-IT" sz="1400" b="1" u="none" strike="noStrike" dirty="0">
                          <a:solidFill>
                            <a:srgbClr val="7030A0"/>
                          </a:solidFill>
                          <a:effectLst/>
                          <a:latin typeface="Arial Narrow" panose="020B0606020202030204" pitchFamily="34" charset="0"/>
                        </a:rPr>
                        <a:t>Se le asigna la tarea</a:t>
                      </a:r>
                      <a:endParaRPr lang="it-IT"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dirty="0">
                          <a:solidFill>
                            <a:srgbClr val="7030A0"/>
                          </a:solidFill>
                          <a:effectLst/>
                          <a:latin typeface="Arial Narrow" panose="020B0606020202030204" pitchFamily="34" charset="0"/>
                        </a:rPr>
                        <a:t>5</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La habilidad es</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 </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a:solidFill>
                            <a:srgbClr val="7030A0"/>
                          </a:solidFill>
                          <a:effectLst/>
                          <a:latin typeface="Arial Narrow" panose="020B0606020202030204" pitchFamily="34" charset="0"/>
                        </a:rPr>
                        <a:t>26</a:t>
                      </a:r>
                      <a:endParaRPr lang="es-PE" sz="1400" b="1" i="0" u="none" strike="noStrike">
                        <a:solidFill>
                          <a:srgbClr val="7030A0"/>
                        </a:solidFill>
                        <a:effectLst/>
                        <a:latin typeface="Arial Narrow" panose="020B0606020202030204" pitchFamily="34" charset="0"/>
                      </a:endParaRPr>
                    </a:p>
                  </a:txBody>
                  <a:tcPr marL="5672" marR="5672" marT="5672" marB="0" anchor="b"/>
                </a:tc>
                <a:extLst>
                  <a:ext uri="{0D108BD9-81ED-4DB2-BD59-A6C34878D82A}">
                    <a16:rowId xmlns:a16="http://schemas.microsoft.com/office/drawing/2014/main" val="1670279110"/>
                  </a:ext>
                </a:extLst>
              </a:tr>
              <a:tr h="180723">
                <a:tc>
                  <a:txBody>
                    <a:bodyPr/>
                    <a:lstStyle/>
                    <a:p>
                      <a:pPr algn="l" fontAlgn="b"/>
                      <a:r>
                        <a:rPr lang="es-PE" sz="1400" b="1" u="none" strike="noStrike" dirty="0">
                          <a:solidFill>
                            <a:srgbClr val="7030A0"/>
                          </a:solidFill>
                          <a:effectLst/>
                          <a:latin typeface="Arial Narrow" panose="020B0606020202030204" pitchFamily="34" charset="0"/>
                        </a:rPr>
                        <a:t>Al </a:t>
                      </a:r>
                      <a:r>
                        <a:rPr lang="es-PE" sz="1400" b="1" u="none" strike="noStrike" dirty="0" err="1">
                          <a:solidFill>
                            <a:srgbClr val="7030A0"/>
                          </a:solidFill>
                          <a:effectLst/>
                          <a:latin typeface="Arial Narrow" panose="020B0606020202030204" pitchFamily="34" charset="0"/>
                        </a:rPr>
                        <a:t>Trab</a:t>
                      </a:r>
                      <a:r>
                        <a:rPr lang="es-PE" sz="1400" b="1" u="none" strike="noStrike" dirty="0">
                          <a:solidFill>
                            <a:srgbClr val="7030A0"/>
                          </a:solidFill>
                          <a:effectLst/>
                          <a:latin typeface="Arial Narrow" panose="020B0606020202030204" pitchFamily="34" charset="0"/>
                        </a:rPr>
                        <a:t>. 3</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it-IT" sz="1400" b="1" u="none" strike="noStrike" dirty="0">
                          <a:solidFill>
                            <a:srgbClr val="7030A0"/>
                          </a:solidFill>
                          <a:effectLst/>
                          <a:latin typeface="Arial Narrow" panose="020B0606020202030204" pitchFamily="34" charset="0"/>
                        </a:rPr>
                        <a:t>Se le asigna la tarea</a:t>
                      </a:r>
                      <a:endParaRPr lang="it-IT"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a:solidFill>
                            <a:srgbClr val="7030A0"/>
                          </a:solidFill>
                          <a:effectLst/>
                          <a:latin typeface="Arial Narrow" panose="020B0606020202030204" pitchFamily="34" charset="0"/>
                        </a:rPr>
                        <a:t>1</a:t>
                      </a:r>
                      <a:endParaRPr lang="es-PE" sz="1400" b="1" i="0" u="none" strike="noStrike">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La habilidad es</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 </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a:solidFill>
                            <a:srgbClr val="7030A0"/>
                          </a:solidFill>
                          <a:effectLst/>
                          <a:latin typeface="Arial Narrow" panose="020B0606020202030204" pitchFamily="34" charset="0"/>
                        </a:rPr>
                        <a:t>36</a:t>
                      </a:r>
                      <a:endParaRPr lang="es-PE" sz="1400" b="1" i="0" u="none" strike="noStrike">
                        <a:solidFill>
                          <a:srgbClr val="7030A0"/>
                        </a:solidFill>
                        <a:effectLst/>
                        <a:latin typeface="Arial Narrow" panose="020B0606020202030204" pitchFamily="34" charset="0"/>
                      </a:endParaRPr>
                    </a:p>
                  </a:txBody>
                  <a:tcPr marL="5672" marR="5672" marT="5672" marB="0" anchor="b"/>
                </a:tc>
                <a:extLst>
                  <a:ext uri="{0D108BD9-81ED-4DB2-BD59-A6C34878D82A}">
                    <a16:rowId xmlns:a16="http://schemas.microsoft.com/office/drawing/2014/main" val="3165231471"/>
                  </a:ext>
                </a:extLst>
              </a:tr>
              <a:tr h="180723">
                <a:tc>
                  <a:txBody>
                    <a:bodyPr/>
                    <a:lstStyle/>
                    <a:p>
                      <a:pPr algn="l" fontAlgn="b"/>
                      <a:r>
                        <a:rPr lang="es-PE" sz="1400" b="1" u="none" strike="noStrike" dirty="0">
                          <a:solidFill>
                            <a:srgbClr val="7030A0"/>
                          </a:solidFill>
                          <a:effectLst/>
                          <a:latin typeface="Arial Narrow" panose="020B0606020202030204" pitchFamily="34" charset="0"/>
                        </a:rPr>
                        <a:t>Al </a:t>
                      </a:r>
                      <a:r>
                        <a:rPr lang="es-PE" sz="1400" b="1" u="none" strike="noStrike" dirty="0" err="1">
                          <a:solidFill>
                            <a:srgbClr val="7030A0"/>
                          </a:solidFill>
                          <a:effectLst/>
                          <a:latin typeface="Arial Narrow" panose="020B0606020202030204" pitchFamily="34" charset="0"/>
                        </a:rPr>
                        <a:t>Trab</a:t>
                      </a:r>
                      <a:r>
                        <a:rPr lang="es-PE" sz="1400" b="1" u="none" strike="noStrike" dirty="0">
                          <a:solidFill>
                            <a:srgbClr val="7030A0"/>
                          </a:solidFill>
                          <a:effectLst/>
                          <a:latin typeface="Arial Narrow" panose="020B0606020202030204" pitchFamily="34" charset="0"/>
                        </a:rPr>
                        <a:t>. 4</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it-IT" sz="1400" b="1" u="none" strike="noStrike" dirty="0">
                          <a:solidFill>
                            <a:srgbClr val="7030A0"/>
                          </a:solidFill>
                          <a:effectLst/>
                          <a:latin typeface="Arial Narrow" panose="020B0606020202030204" pitchFamily="34" charset="0"/>
                        </a:rPr>
                        <a:t>Se le asigna la tarea</a:t>
                      </a:r>
                      <a:endParaRPr lang="it-IT"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dirty="0">
                          <a:solidFill>
                            <a:srgbClr val="7030A0"/>
                          </a:solidFill>
                          <a:effectLst/>
                          <a:latin typeface="Arial Narrow" panose="020B0606020202030204" pitchFamily="34" charset="0"/>
                        </a:rPr>
                        <a:t>4</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La habilidad es</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 </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a:solidFill>
                            <a:srgbClr val="7030A0"/>
                          </a:solidFill>
                          <a:effectLst/>
                          <a:latin typeface="Arial Narrow" panose="020B0606020202030204" pitchFamily="34" charset="0"/>
                        </a:rPr>
                        <a:t>24</a:t>
                      </a:r>
                      <a:endParaRPr lang="es-PE" sz="1400" b="1" i="0" u="none" strike="noStrike">
                        <a:solidFill>
                          <a:srgbClr val="7030A0"/>
                        </a:solidFill>
                        <a:effectLst/>
                        <a:latin typeface="Arial Narrow" panose="020B0606020202030204" pitchFamily="34" charset="0"/>
                      </a:endParaRPr>
                    </a:p>
                  </a:txBody>
                  <a:tcPr marL="5672" marR="5672" marT="5672" marB="0" anchor="b"/>
                </a:tc>
                <a:extLst>
                  <a:ext uri="{0D108BD9-81ED-4DB2-BD59-A6C34878D82A}">
                    <a16:rowId xmlns:a16="http://schemas.microsoft.com/office/drawing/2014/main" val="1592212333"/>
                  </a:ext>
                </a:extLst>
              </a:tr>
              <a:tr h="180723">
                <a:tc>
                  <a:txBody>
                    <a:bodyPr/>
                    <a:lstStyle/>
                    <a:p>
                      <a:pPr algn="l" fontAlgn="b"/>
                      <a:r>
                        <a:rPr lang="es-PE" sz="1400" b="1" u="none" strike="noStrike" dirty="0">
                          <a:solidFill>
                            <a:srgbClr val="7030A0"/>
                          </a:solidFill>
                          <a:effectLst/>
                          <a:latin typeface="Arial Narrow" panose="020B0606020202030204" pitchFamily="34" charset="0"/>
                        </a:rPr>
                        <a:t>Al </a:t>
                      </a:r>
                      <a:r>
                        <a:rPr lang="es-PE" sz="1400" b="1" u="none" strike="noStrike" dirty="0" err="1">
                          <a:solidFill>
                            <a:srgbClr val="7030A0"/>
                          </a:solidFill>
                          <a:effectLst/>
                          <a:latin typeface="Arial Narrow" panose="020B0606020202030204" pitchFamily="34" charset="0"/>
                        </a:rPr>
                        <a:t>Trab</a:t>
                      </a:r>
                      <a:r>
                        <a:rPr lang="es-PE" sz="1400" b="1" u="none" strike="noStrike" dirty="0">
                          <a:solidFill>
                            <a:srgbClr val="7030A0"/>
                          </a:solidFill>
                          <a:effectLst/>
                          <a:latin typeface="Arial Narrow" panose="020B0606020202030204" pitchFamily="34" charset="0"/>
                        </a:rPr>
                        <a:t>. 5</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it-IT" sz="1400" b="1" u="none" strike="noStrike">
                          <a:solidFill>
                            <a:srgbClr val="7030A0"/>
                          </a:solidFill>
                          <a:effectLst/>
                          <a:latin typeface="Arial Narrow" panose="020B0606020202030204" pitchFamily="34" charset="0"/>
                        </a:rPr>
                        <a:t>Se le asigna la tarea</a:t>
                      </a:r>
                      <a:endParaRPr lang="it-IT" sz="1400" b="1" i="0" u="none" strike="noStrike">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dirty="0">
                          <a:solidFill>
                            <a:srgbClr val="7030A0"/>
                          </a:solidFill>
                          <a:effectLst/>
                          <a:latin typeface="Arial Narrow" panose="020B0606020202030204" pitchFamily="34" charset="0"/>
                        </a:rPr>
                        <a:t>2</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La habilidad es</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 </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a:solidFill>
                            <a:srgbClr val="7030A0"/>
                          </a:solidFill>
                          <a:effectLst/>
                          <a:latin typeface="Arial Narrow" panose="020B0606020202030204" pitchFamily="34" charset="0"/>
                        </a:rPr>
                        <a:t>20</a:t>
                      </a:r>
                      <a:endParaRPr lang="es-PE" sz="1400" b="1" i="0" u="none" strike="noStrike">
                        <a:solidFill>
                          <a:srgbClr val="7030A0"/>
                        </a:solidFill>
                        <a:effectLst/>
                        <a:latin typeface="Arial Narrow" panose="020B0606020202030204" pitchFamily="34" charset="0"/>
                      </a:endParaRPr>
                    </a:p>
                  </a:txBody>
                  <a:tcPr marL="5672" marR="5672" marT="5672" marB="0" anchor="b"/>
                </a:tc>
                <a:extLst>
                  <a:ext uri="{0D108BD9-81ED-4DB2-BD59-A6C34878D82A}">
                    <a16:rowId xmlns:a16="http://schemas.microsoft.com/office/drawing/2014/main" val="535331623"/>
                  </a:ext>
                </a:extLst>
              </a:tr>
              <a:tr h="180723">
                <a:tc>
                  <a:txBody>
                    <a:bodyPr/>
                    <a:lstStyle/>
                    <a:p>
                      <a:pPr algn="l" fontAlgn="b"/>
                      <a:r>
                        <a:rPr lang="es-PE" sz="1400" b="1" u="none" strike="noStrike" dirty="0">
                          <a:solidFill>
                            <a:srgbClr val="7030A0"/>
                          </a:solidFill>
                          <a:effectLst/>
                          <a:latin typeface="Arial Narrow" panose="020B0606020202030204" pitchFamily="34" charset="0"/>
                        </a:rPr>
                        <a:t>Al </a:t>
                      </a:r>
                      <a:r>
                        <a:rPr lang="es-PE" sz="1400" b="1" u="none" strike="noStrike" dirty="0" err="1">
                          <a:solidFill>
                            <a:srgbClr val="7030A0"/>
                          </a:solidFill>
                          <a:effectLst/>
                          <a:latin typeface="Arial Narrow" panose="020B0606020202030204" pitchFamily="34" charset="0"/>
                        </a:rPr>
                        <a:t>Trab</a:t>
                      </a:r>
                      <a:r>
                        <a:rPr lang="es-PE" sz="1400" b="1" u="none" strike="noStrike" dirty="0">
                          <a:solidFill>
                            <a:srgbClr val="7030A0"/>
                          </a:solidFill>
                          <a:effectLst/>
                          <a:latin typeface="Arial Narrow" panose="020B0606020202030204" pitchFamily="34" charset="0"/>
                        </a:rPr>
                        <a:t>. 6</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it-IT" sz="1400" b="1" u="none" strike="noStrike">
                          <a:solidFill>
                            <a:srgbClr val="7030A0"/>
                          </a:solidFill>
                          <a:effectLst/>
                          <a:latin typeface="Arial Narrow" panose="020B0606020202030204" pitchFamily="34" charset="0"/>
                        </a:rPr>
                        <a:t>Se le asigna la tarea</a:t>
                      </a:r>
                      <a:endParaRPr lang="it-IT" sz="1400" b="1" i="0" u="none" strike="noStrike">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a:solidFill>
                            <a:srgbClr val="7030A0"/>
                          </a:solidFill>
                          <a:effectLst/>
                          <a:latin typeface="Arial Narrow" panose="020B0606020202030204" pitchFamily="34" charset="0"/>
                        </a:rPr>
                        <a:t>6</a:t>
                      </a:r>
                      <a:endParaRPr lang="es-PE" sz="1400" b="1" i="0" u="none" strike="noStrike">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La habilidad es</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l" fontAlgn="b"/>
                      <a:r>
                        <a:rPr lang="es-PE" sz="1400" b="1" u="none" strike="noStrike" dirty="0">
                          <a:solidFill>
                            <a:srgbClr val="7030A0"/>
                          </a:solidFill>
                          <a:effectLst/>
                          <a:latin typeface="Arial Narrow" panose="020B0606020202030204" pitchFamily="34" charset="0"/>
                        </a:rPr>
                        <a:t> </a:t>
                      </a:r>
                      <a:endParaRPr lang="es-PE" sz="1400" b="1" i="0" u="none" strike="noStrike" dirty="0">
                        <a:solidFill>
                          <a:srgbClr val="7030A0"/>
                        </a:solidFill>
                        <a:effectLst/>
                        <a:latin typeface="Arial Narrow" panose="020B0606020202030204" pitchFamily="34" charset="0"/>
                      </a:endParaRPr>
                    </a:p>
                  </a:txBody>
                  <a:tcPr marL="5672" marR="5672" marT="5672" marB="0" anchor="b"/>
                </a:tc>
                <a:tc>
                  <a:txBody>
                    <a:bodyPr/>
                    <a:lstStyle/>
                    <a:p>
                      <a:pPr algn="ctr" fontAlgn="b"/>
                      <a:r>
                        <a:rPr lang="es-PE" sz="1400" b="1" u="none" strike="noStrike">
                          <a:solidFill>
                            <a:srgbClr val="7030A0"/>
                          </a:solidFill>
                          <a:effectLst/>
                          <a:latin typeface="Arial Narrow" panose="020B0606020202030204" pitchFamily="34" charset="0"/>
                        </a:rPr>
                        <a:t>19</a:t>
                      </a:r>
                      <a:endParaRPr lang="es-PE" sz="1400" b="1" i="0" u="none" strike="noStrike">
                        <a:solidFill>
                          <a:srgbClr val="7030A0"/>
                        </a:solidFill>
                        <a:effectLst/>
                        <a:latin typeface="Arial Narrow" panose="020B0606020202030204" pitchFamily="34" charset="0"/>
                      </a:endParaRPr>
                    </a:p>
                  </a:txBody>
                  <a:tcPr marL="5672" marR="5672" marT="5672" marB="0" anchor="b"/>
                </a:tc>
                <a:extLst>
                  <a:ext uri="{0D108BD9-81ED-4DB2-BD59-A6C34878D82A}">
                    <a16:rowId xmlns:a16="http://schemas.microsoft.com/office/drawing/2014/main" val="2424163985"/>
                  </a:ext>
                </a:extLst>
              </a:tr>
              <a:tr h="251489">
                <a:tc>
                  <a:txBody>
                    <a:bodyPr/>
                    <a:lstStyle/>
                    <a:p>
                      <a:pPr algn="l" fontAlgn="b"/>
                      <a:endParaRPr lang="es-PE" sz="1400" b="1" i="0" u="none" strike="noStrike">
                        <a:solidFill>
                          <a:srgbClr val="7030A0"/>
                        </a:solidFill>
                        <a:effectLst/>
                        <a:latin typeface="Arial Narrow" panose="020B0606020202030204" pitchFamily="34" charset="0"/>
                      </a:endParaRPr>
                    </a:p>
                  </a:txBody>
                  <a:tcPr marL="5672" marR="5672" marT="5672" marB="0" anchor="b"/>
                </a:tc>
                <a:tc>
                  <a:txBody>
                    <a:bodyPr/>
                    <a:lstStyle/>
                    <a:p>
                      <a:pPr algn="l" fontAlgn="b"/>
                      <a:endParaRPr lang="es-PE" sz="1400" b="1" i="0" u="none" strike="noStrike" dirty="0">
                        <a:solidFill>
                          <a:srgbClr val="7030A0"/>
                        </a:solidFill>
                        <a:effectLst/>
                        <a:latin typeface="Arial Narrow" panose="020B0606020202030204" pitchFamily="34" charset="0"/>
                      </a:endParaRPr>
                    </a:p>
                  </a:txBody>
                  <a:tcPr marL="5672" marR="5672" marT="5672" marB="0" anchor="b"/>
                </a:tc>
                <a:tc gridSpan="3">
                  <a:txBody>
                    <a:bodyPr/>
                    <a:lstStyle/>
                    <a:p>
                      <a:pPr algn="r"/>
                      <a:r>
                        <a:rPr lang="es-ES" sz="1400" b="1" dirty="0">
                          <a:solidFill>
                            <a:srgbClr val="7030A0"/>
                          </a:solidFill>
                          <a:latin typeface="Arial Narrow" panose="020B0606020202030204" pitchFamily="34" charset="0"/>
                        </a:rPr>
                        <a:t>Total:</a:t>
                      </a:r>
                      <a:endParaRPr lang="es-PE" sz="1400" b="1" dirty="0">
                        <a:solidFill>
                          <a:srgbClr val="7030A0"/>
                        </a:solidFill>
                        <a:latin typeface="Arial Narrow" panose="020B0606020202030204" pitchFamily="34" charset="0"/>
                      </a:endParaRPr>
                    </a:p>
                  </a:txBody>
                  <a:tcPr/>
                </a:tc>
                <a:tc hMerge="1">
                  <a:txBody>
                    <a:bodyPr/>
                    <a:lstStyle/>
                    <a:p>
                      <a:endParaRPr lang="es-PE"/>
                    </a:p>
                  </a:txBody>
                  <a:tcPr/>
                </a:tc>
                <a:tc hMerge="1">
                  <a:txBody>
                    <a:bodyPr/>
                    <a:lstStyle/>
                    <a:p>
                      <a:endParaRPr lang="es-PE"/>
                    </a:p>
                  </a:txBody>
                  <a:tcPr/>
                </a:tc>
                <a:tc>
                  <a:txBody>
                    <a:bodyPr/>
                    <a:lstStyle/>
                    <a:p>
                      <a:pPr algn="ctr" fontAlgn="b"/>
                      <a:r>
                        <a:rPr lang="es-PE" sz="1400" b="1" u="none" strike="noStrike" dirty="0">
                          <a:solidFill>
                            <a:srgbClr val="7030A0"/>
                          </a:solidFill>
                          <a:effectLst/>
                          <a:latin typeface="Arial Narrow" panose="020B0606020202030204" pitchFamily="34" charset="0"/>
                        </a:rPr>
                        <a:t>149</a:t>
                      </a:r>
                      <a:endParaRPr lang="es-PE" sz="1400" b="1" i="0" u="none" strike="noStrike" dirty="0">
                        <a:solidFill>
                          <a:srgbClr val="7030A0"/>
                        </a:solidFill>
                        <a:effectLst/>
                        <a:latin typeface="Arial Narrow" panose="020B0606020202030204" pitchFamily="34" charset="0"/>
                      </a:endParaRPr>
                    </a:p>
                  </a:txBody>
                  <a:tcPr marL="5672" marR="5672" marT="5672" marB="0" anchor="b"/>
                </a:tc>
                <a:extLst>
                  <a:ext uri="{0D108BD9-81ED-4DB2-BD59-A6C34878D82A}">
                    <a16:rowId xmlns:a16="http://schemas.microsoft.com/office/drawing/2014/main" val="1651523373"/>
                  </a:ext>
                </a:extLst>
              </a:tr>
            </a:tbl>
          </a:graphicData>
        </a:graphic>
      </p:graphicFrame>
      <p:sp>
        <p:nvSpPr>
          <p:cNvPr id="21" name="Elipse 20">
            <a:extLst>
              <a:ext uri="{FF2B5EF4-FFF2-40B4-BE49-F238E27FC236}">
                <a16:creationId xmlns:a16="http://schemas.microsoft.com/office/drawing/2014/main" id="{E7E5018D-2669-46EE-B6EE-A1E5ADE886D1}"/>
              </a:ext>
            </a:extLst>
          </p:cNvPr>
          <p:cNvSpPr/>
          <p:nvPr/>
        </p:nvSpPr>
        <p:spPr>
          <a:xfrm>
            <a:off x="4029735" y="1605516"/>
            <a:ext cx="393416" cy="382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1</a:t>
            </a:r>
            <a:endParaRPr lang="es-PE" dirty="0"/>
          </a:p>
        </p:txBody>
      </p:sp>
      <p:sp>
        <p:nvSpPr>
          <p:cNvPr id="23" name="Elipse 22">
            <a:extLst>
              <a:ext uri="{FF2B5EF4-FFF2-40B4-BE49-F238E27FC236}">
                <a16:creationId xmlns:a16="http://schemas.microsoft.com/office/drawing/2014/main" id="{F79AFFDE-F56A-4896-ABCC-CB68A4A19D26}"/>
              </a:ext>
            </a:extLst>
          </p:cNvPr>
          <p:cNvSpPr/>
          <p:nvPr/>
        </p:nvSpPr>
        <p:spPr>
          <a:xfrm>
            <a:off x="6819013" y="1577162"/>
            <a:ext cx="393416" cy="382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2</a:t>
            </a:r>
            <a:endParaRPr lang="es-PE" dirty="0"/>
          </a:p>
        </p:txBody>
      </p:sp>
      <p:sp>
        <p:nvSpPr>
          <p:cNvPr id="24" name="Elipse 23">
            <a:extLst>
              <a:ext uri="{FF2B5EF4-FFF2-40B4-BE49-F238E27FC236}">
                <a16:creationId xmlns:a16="http://schemas.microsoft.com/office/drawing/2014/main" id="{1AB94AFF-CD6E-48BE-8452-46B661BA110A}"/>
              </a:ext>
            </a:extLst>
          </p:cNvPr>
          <p:cNvSpPr/>
          <p:nvPr/>
        </p:nvSpPr>
        <p:spPr>
          <a:xfrm>
            <a:off x="8991600" y="1580706"/>
            <a:ext cx="393416" cy="382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3</a:t>
            </a:r>
            <a:endParaRPr lang="es-PE" dirty="0"/>
          </a:p>
        </p:txBody>
      </p:sp>
      <p:sp>
        <p:nvSpPr>
          <p:cNvPr id="25" name="Elipse 24">
            <a:extLst>
              <a:ext uri="{FF2B5EF4-FFF2-40B4-BE49-F238E27FC236}">
                <a16:creationId xmlns:a16="http://schemas.microsoft.com/office/drawing/2014/main" id="{FB9C7572-CA01-4BA2-A899-45BD1D3CD47F}"/>
              </a:ext>
            </a:extLst>
          </p:cNvPr>
          <p:cNvSpPr/>
          <p:nvPr/>
        </p:nvSpPr>
        <p:spPr>
          <a:xfrm>
            <a:off x="10983433" y="1573618"/>
            <a:ext cx="393416" cy="382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4</a:t>
            </a:r>
            <a:endParaRPr lang="es-PE" dirty="0"/>
          </a:p>
        </p:txBody>
      </p:sp>
      <p:sp>
        <p:nvSpPr>
          <p:cNvPr id="26" name="Elipse 25">
            <a:extLst>
              <a:ext uri="{FF2B5EF4-FFF2-40B4-BE49-F238E27FC236}">
                <a16:creationId xmlns:a16="http://schemas.microsoft.com/office/drawing/2014/main" id="{16199368-451E-4522-9BC1-CFDB32C53448}"/>
              </a:ext>
            </a:extLst>
          </p:cNvPr>
          <p:cNvSpPr/>
          <p:nvPr/>
        </p:nvSpPr>
        <p:spPr>
          <a:xfrm>
            <a:off x="6951835" y="4306316"/>
            <a:ext cx="393416" cy="382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8</a:t>
            </a:r>
            <a:endParaRPr lang="es-PE" dirty="0"/>
          </a:p>
        </p:txBody>
      </p:sp>
      <p:sp>
        <p:nvSpPr>
          <p:cNvPr id="27" name="Elipse 26">
            <a:extLst>
              <a:ext uri="{FF2B5EF4-FFF2-40B4-BE49-F238E27FC236}">
                <a16:creationId xmlns:a16="http://schemas.microsoft.com/office/drawing/2014/main" id="{EA61903A-F1E7-4A01-BB98-88A55CEB7DED}"/>
              </a:ext>
            </a:extLst>
          </p:cNvPr>
          <p:cNvSpPr/>
          <p:nvPr/>
        </p:nvSpPr>
        <p:spPr>
          <a:xfrm>
            <a:off x="5051344" y="4309860"/>
            <a:ext cx="393416" cy="382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7</a:t>
            </a:r>
            <a:endParaRPr lang="es-PE" dirty="0"/>
          </a:p>
        </p:txBody>
      </p:sp>
      <p:sp>
        <p:nvSpPr>
          <p:cNvPr id="28" name="Elipse 27">
            <a:extLst>
              <a:ext uri="{FF2B5EF4-FFF2-40B4-BE49-F238E27FC236}">
                <a16:creationId xmlns:a16="http://schemas.microsoft.com/office/drawing/2014/main" id="{DC0F77D2-CF50-4C1B-B3A4-842876959953}"/>
              </a:ext>
            </a:extLst>
          </p:cNvPr>
          <p:cNvSpPr/>
          <p:nvPr/>
        </p:nvSpPr>
        <p:spPr>
          <a:xfrm>
            <a:off x="3101499" y="4345310"/>
            <a:ext cx="393416" cy="382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6</a:t>
            </a:r>
            <a:endParaRPr lang="es-PE" dirty="0"/>
          </a:p>
        </p:txBody>
      </p:sp>
      <p:sp>
        <p:nvSpPr>
          <p:cNvPr id="29" name="Elipse 28">
            <a:extLst>
              <a:ext uri="{FF2B5EF4-FFF2-40B4-BE49-F238E27FC236}">
                <a16:creationId xmlns:a16="http://schemas.microsoft.com/office/drawing/2014/main" id="{678D81CB-F98C-4A55-855D-0AD29B3A4B7F}"/>
              </a:ext>
            </a:extLst>
          </p:cNvPr>
          <p:cNvSpPr/>
          <p:nvPr/>
        </p:nvSpPr>
        <p:spPr>
          <a:xfrm>
            <a:off x="1106121" y="4316953"/>
            <a:ext cx="393416" cy="382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5</a:t>
            </a:r>
            <a:endParaRPr lang="es-PE" dirty="0"/>
          </a:p>
        </p:txBody>
      </p:sp>
      <p:sp>
        <p:nvSpPr>
          <p:cNvPr id="30" name="Elipse 29">
            <a:extLst>
              <a:ext uri="{FF2B5EF4-FFF2-40B4-BE49-F238E27FC236}">
                <a16:creationId xmlns:a16="http://schemas.microsoft.com/office/drawing/2014/main" id="{04A23619-C64E-48BE-BECB-C6820B8995DC}"/>
              </a:ext>
            </a:extLst>
          </p:cNvPr>
          <p:cNvSpPr/>
          <p:nvPr/>
        </p:nvSpPr>
        <p:spPr>
          <a:xfrm>
            <a:off x="9908997" y="4292612"/>
            <a:ext cx="393416" cy="3827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600" b="1" dirty="0">
                <a:latin typeface="Arial Narrow" panose="020B0606020202030204" pitchFamily="34" charset="0"/>
              </a:rPr>
              <a:t>9</a:t>
            </a:r>
            <a:endParaRPr lang="es-PE" sz="1600" b="1" dirty="0">
              <a:latin typeface="Arial Narrow" panose="020B0606020202030204" pitchFamily="34" charset="0"/>
            </a:endParaRPr>
          </a:p>
        </p:txBody>
      </p:sp>
      <p:sp>
        <p:nvSpPr>
          <p:cNvPr id="31" name="Rectangle 2">
            <a:extLst>
              <a:ext uri="{FF2B5EF4-FFF2-40B4-BE49-F238E27FC236}">
                <a16:creationId xmlns:a16="http://schemas.microsoft.com/office/drawing/2014/main" id="{3908278C-ABC9-40C7-BECC-75139AAC485D}"/>
              </a:ext>
            </a:extLst>
          </p:cNvPr>
          <p:cNvSpPr txBox="1">
            <a:spLocks noChangeArrowheads="1"/>
          </p:cNvSpPr>
          <p:nvPr/>
        </p:nvSpPr>
        <p:spPr>
          <a:xfrm>
            <a:off x="6096000" y="339014"/>
            <a:ext cx="6096000" cy="504825"/>
          </a:xfrm>
          <a:prstGeom prst="rect">
            <a:avLst/>
          </a:prstGeom>
          <a:noFill/>
          <a:ln w="9525">
            <a:noFill/>
            <a:miter lim="800000"/>
            <a:headEnd/>
            <a:tailEnd/>
          </a:ln>
          <a:effectLst/>
        </p:spPr>
        <p:txBody>
          <a:bodyPr spcFirstLastPara="1" vert="horz" wrap="square" lIns="91440" tIns="45720" rIns="91440" bIns="45720" numCol="1" rtlCol="0" anchor="ctr" anchorCtr="0" compatLnSpc="1">
            <a:prstTxWarp prst="textNoShape">
              <a:avLst/>
            </a:prstTxWarp>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200" dirty="0">
                <a:solidFill>
                  <a:schemeClr val="bg1"/>
                </a:solidFill>
                <a:latin typeface="Bauhaus 93" pitchFamily="82" charset="0"/>
                <a:ea typeface="+mn-ea"/>
                <a:cs typeface="+mn-cs"/>
              </a:rPr>
              <a:t>Maximizar</a:t>
            </a:r>
          </a:p>
        </p:txBody>
      </p:sp>
      <p:sp>
        <p:nvSpPr>
          <p:cNvPr id="22" name="CuadroTexto 21">
            <a:extLst>
              <a:ext uri="{FF2B5EF4-FFF2-40B4-BE49-F238E27FC236}">
                <a16:creationId xmlns:a16="http://schemas.microsoft.com/office/drawing/2014/main" id="{BDFD20E3-0E05-43E3-A95A-4A7385302D04}"/>
              </a:ext>
            </a:extLst>
          </p:cNvPr>
          <p:cNvSpPr txBox="1"/>
          <p:nvPr/>
        </p:nvSpPr>
        <p:spPr>
          <a:xfrm>
            <a:off x="8402129" y="4571999"/>
            <a:ext cx="3364302" cy="461665"/>
          </a:xfrm>
          <a:prstGeom prst="rect">
            <a:avLst/>
          </a:prstGeom>
          <a:noFill/>
        </p:spPr>
        <p:txBody>
          <a:bodyPr wrap="square" rtlCol="0">
            <a:spAutoFit/>
          </a:bodyPr>
          <a:lstStyle/>
          <a:p>
            <a:pPr algn="ctr"/>
            <a:r>
              <a:rPr lang="es-ES" sz="2400" b="1" dirty="0">
                <a:solidFill>
                  <a:srgbClr val="FF0000"/>
                </a:solidFill>
              </a:rPr>
              <a:t>RESPUESTA</a:t>
            </a:r>
            <a:endParaRPr lang="es-PE" sz="2400" b="1" dirty="0">
              <a:solidFill>
                <a:srgbClr val="FF0000"/>
              </a:solidFill>
            </a:endParaRPr>
          </a:p>
        </p:txBody>
      </p:sp>
    </p:spTree>
    <p:extLst>
      <p:ext uri="{BB962C8B-B14F-4D97-AF65-F5344CB8AC3E}">
        <p14:creationId xmlns:p14="http://schemas.microsoft.com/office/powerpoint/2010/main" val="2677803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5"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fade">
                                      <p:cBhvr>
                                        <p:cTn id="63" dur="2000"/>
                                        <p:tgtEl>
                                          <p:spTgt spid="19"/>
                                        </p:tgtEl>
                                      </p:cBhvr>
                                    </p:animEffect>
                                    <p:anim calcmode="lin" valueType="num">
                                      <p:cBhvr>
                                        <p:cTn id="64" dur="2000" fill="hold"/>
                                        <p:tgtEl>
                                          <p:spTgt spid="19"/>
                                        </p:tgtEl>
                                        <p:attrNameLst>
                                          <p:attrName>ppt_w</p:attrName>
                                        </p:attrNameLst>
                                      </p:cBhvr>
                                      <p:tavLst>
                                        <p:tav tm="0" fmla="#ppt_w*sin(2.5*pi*$)">
                                          <p:val>
                                            <p:fltVal val="0"/>
                                          </p:val>
                                        </p:tav>
                                        <p:tav tm="100000">
                                          <p:val>
                                            <p:fltVal val="1"/>
                                          </p:val>
                                        </p:tav>
                                      </p:tavLst>
                                    </p:anim>
                                    <p:anim calcmode="lin" valueType="num">
                                      <p:cBhvr>
                                        <p:cTn id="65" dur="20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45" presetClass="entr" presetSubtype="0"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000"/>
                                        <p:tgtEl>
                                          <p:spTgt spid="18"/>
                                        </p:tgtEl>
                                      </p:cBhvr>
                                    </p:animEffect>
                                    <p:anim calcmode="lin" valueType="num">
                                      <p:cBhvr>
                                        <p:cTn id="71" dur="2000" fill="hold"/>
                                        <p:tgtEl>
                                          <p:spTgt spid="18"/>
                                        </p:tgtEl>
                                        <p:attrNameLst>
                                          <p:attrName>ppt_w</p:attrName>
                                        </p:attrNameLst>
                                      </p:cBhvr>
                                      <p:tavLst>
                                        <p:tav tm="0" fmla="#ppt_w*sin(2.5*pi*$)">
                                          <p:val>
                                            <p:fltVal val="0"/>
                                          </p:val>
                                        </p:tav>
                                        <p:tav tm="100000">
                                          <p:val>
                                            <p:fltVal val="1"/>
                                          </p:val>
                                        </p:tav>
                                      </p:tavLst>
                                    </p:anim>
                                    <p:anim calcmode="lin" valueType="num">
                                      <p:cBhvr>
                                        <p:cTn id="72" dur="20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45" presetClass="entr" presetSubtype="0"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2000"/>
                                        <p:tgtEl>
                                          <p:spTgt spid="15"/>
                                        </p:tgtEl>
                                      </p:cBhvr>
                                    </p:animEffect>
                                    <p:anim calcmode="lin" valueType="num">
                                      <p:cBhvr>
                                        <p:cTn id="78" dur="2000" fill="hold"/>
                                        <p:tgtEl>
                                          <p:spTgt spid="15"/>
                                        </p:tgtEl>
                                        <p:attrNameLst>
                                          <p:attrName>ppt_w</p:attrName>
                                        </p:attrNameLst>
                                      </p:cBhvr>
                                      <p:tavLst>
                                        <p:tav tm="0" fmla="#ppt_w*sin(2.5*pi*$)">
                                          <p:val>
                                            <p:fltVal val="0"/>
                                          </p:val>
                                        </p:tav>
                                        <p:tav tm="100000">
                                          <p:val>
                                            <p:fltVal val="1"/>
                                          </p:val>
                                        </p:tav>
                                      </p:tavLst>
                                    </p:anim>
                                    <p:anim calcmode="lin" valueType="num">
                                      <p:cBhvr>
                                        <p:cTn id="79" dur="2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45" presetClass="entr" presetSubtype="0" fill="hold" grpId="0" nodeType="clickEffect">
                                  <p:stCondLst>
                                    <p:cond delay="0"/>
                                  </p:stCondLst>
                                  <p:childTnLst>
                                    <p:set>
                                      <p:cBhvr>
                                        <p:cTn id="83" dur="1" fill="hold">
                                          <p:stCondLst>
                                            <p:cond delay="0"/>
                                          </p:stCondLst>
                                        </p:cTn>
                                        <p:tgtEl>
                                          <p:spTgt spid="17"/>
                                        </p:tgtEl>
                                        <p:attrNameLst>
                                          <p:attrName>style.visibility</p:attrName>
                                        </p:attrNameLst>
                                      </p:cBhvr>
                                      <p:to>
                                        <p:strVal val="visible"/>
                                      </p:to>
                                    </p:set>
                                    <p:animEffect transition="in" filter="fade">
                                      <p:cBhvr>
                                        <p:cTn id="84" dur="2000"/>
                                        <p:tgtEl>
                                          <p:spTgt spid="17"/>
                                        </p:tgtEl>
                                      </p:cBhvr>
                                    </p:animEffect>
                                    <p:anim calcmode="lin" valueType="num">
                                      <p:cBhvr>
                                        <p:cTn id="85" dur="2000" fill="hold"/>
                                        <p:tgtEl>
                                          <p:spTgt spid="17"/>
                                        </p:tgtEl>
                                        <p:attrNameLst>
                                          <p:attrName>ppt_w</p:attrName>
                                        </p:attrNameLst>
                                      </p:cBhvr>
                                      <p:tavLst>
                                        <p:tav tm="0" fmla="#ppt_w*sin(2.5*pi*$)">
                                          <p:val>
                                            <p:fltVal val="0"/>
                                          </p:val>
                                        </p:tav>
                                        <p:tav tm="100000">
                                          <p:val>
                                            <p:fltVal val="1"/>
                                          </p:val>
                                        </p:tav>
                                      </p:tavLst>
                                    </p:anim>
                                    <p:anim calcmode="lin" valueType="num">
                                      <p:cBhvr>
                                        <p:cTn id="86" dur="20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87" fill="hold">
                      <p:stCondLst>
                        <p:cond delay="indefinite"/>
                      </p:stCondLst>
                      <p:childTnLst>
                        <p:par>
                          <p:cTn id="88" fill="hold">
                            <p:stCondLst>
                              <p:cond delay="0"/>
                            </p:stCondLst>
                            <p:childTnLst>
                              <p:par>
                                <p:cTn id="89" presetID="45" presetClass="entr" presetSubtype="0" fill="hold" grpId="0" nodeType="click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2000"/>
                                        <p:tgtEl>
                                          <p:spTgt spid="16"/>
                                        </p:tgtEl>
                                      </p:cBhvr>
                                    </p:animEffect>
                                    <p:anim calcmode="lin" valueType="num">
                                      <p:cBhvr>
                                        <p:cTn id="92" dur="2000" fill="hold"/>
                                        <p:tgtEl>
                                          <p:spTgt spid="16"/>
                                        </p:tgtEl>
                                        <p:attrNameLst>
                                          <p:attrName>ppt_w</p:attrName>
                                        </p:attrNameLst>
                                      </p:cBhvr>
                                      <p:tavLst>
                                        <p:tav tm="0" fmla="#ppt_w*sin(2.5*pi*$)">
                                          <p:val>
                                            <p:fltVal val="0"/>
                                          </p:val>
                                        </p:tav>
                                        <p:tav tm="100000">
                                          <p:val>
                                            <p:fltVal val="1"/>
                                          </p:val>
                                        </p:tav>
                                      </p:tavLst>
                                    </p:anim>
                                    <p:anim calcmode="lin" valueType="num">
                                      <p:cBhvr>
                                        <p:cTn id="93" dur="20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94" fill="hold">
                      <p:stCondLst>
                        <p:cond delay="indefinite"/>
                      </p:stCondLst>
                      <p:childTnLst>
                        <p:par>
                          <p:cTn id="95" fill="hold">
                            <p:stCondLst>
                              <p:cond delay="0"/>
                            </p:stCondLst>
                            <p:childTnLst>
                              <p:par>
                                <p:cTn id="96" presetID="45" presetClass="entr" presetSubtype="0" fill="hold" grpId="0" nodeType="clickEffect">
                                  <p:stCondLst>
                                    <p:cond delay="0"/>
                                  </p:stCondLst>
                                  <p:childTnLst>
                                    <p:set>
                                      <p:cBhvr>
                                        <p:cTn id="97" dur="1" fill="hold">
                                          <p:stCondLst>
                                            <p:cond delay="0"/>
                                          </p:stCondLst>
                                        </p:cTn>
                                        <p:tgtEl>
                                          <p:spTgt spid="14"/>
                                        </p:tgtEl>
                                        <p:attrNameLst>
                                          <p:attrName>style.visibility</p:attrName>
                                        </p:attrNameLst>
                                      </p:cBhvr>
                                      <p:to>
                                        <p:strVal val="visible"/>
                                      </p:to>
                                    </p:set>
                                    <p:animEffect transition="in" filter="fade">
                                      <p:cBhvr>
                                        <p:cTn id="98" dur="2000"/>
                                        <p:tgtEl>
                                          <p:spTgt spid="14"/>
                                        </p:tgtEl>
                                      </p:cBhvr>
                                    </p:animEffect>
                                    <p:anim calcmode="lin" valueType="num">
                                      <p:cBhvr>
                                        <p:cTn id="99" dur="2000" fill="hold"/>
                                        <p:tgtEl>
                                          <p:spTgt spid="14"/>
                                        </p:tgtEl>
                                        <p:attrNameLst>
                                          <p:attrName>ppt_w</p:attrName>
                                        </p:attrNameLst>
                                      </p:cBhvr>
                                      <p:tavLst>
                                        <p:tav tm="0" fmla="#ppt_w*sin(2.5*pi*$)">
                                          <p:val>
                                            <p:fltVal val="0"/>
                                          </p:val>
                                        </p:tav>
                                        <p:tav tm="100000">
                                          <p:val>
                                            <p:fltVal val="1"/>
                                          </p:val>
                                        </p:tav>
                                      </p:tavLst>
                                    </p:anim>
                                    <p:anim calcmode="lin" valueType="num">
                                      <p:cBhvr>
                                        <p:cTn id="100" dur="2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0"/>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2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animBg="1"/>
      <p:bldP spid="15" grpId="0" animBg="1"/>
      <p:bldP spid="16" grpId="0" animBg="1"/>
      <p:bldP spid="17" grpId="0" animBg="1"/>
      <p:bldP spid="18" grpId="0" animBg="1"/>
      <p:bldP spid="19" grpId="0" animBg="1"/>
      <p:bldP spid="21" grpId="0" animBg="1"/>
      <p:bldP spid="23" grpId="0" animBg="1"/>
      <p:bldP spid="24" grpId="0" animBg="1"/>
      <p:bldP spid="25" grpId="0" animBg="1"/>
      <p:bldP spid="26" grpId="0" animBg="1"/>
      <p:bldP spid="27" grpId="0" animBg="1"/>
      <p:bldP spid="28" grpId="0" animBg="1"/>
      <p:bldP spid="29" grpId="0" animBg="1"/>
      <p:bldP spid="30" grpId="0" animBg="1"/>
      <p:bldP spid="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8A43130A-9242-40A1-96FA-6CFDC91C62D7}"/>
              </a:ext>
            </a:extLst>
          </p:cNvPr>
          <p:cNvSpPr/>
          <p:nvPr/>
        </p:nvSpPr>
        <p:spPr>
          <a:xfrm>
            <a:off x="0" y="1213125"/>
            <a:ext cx="6096000" cy="2620204"/>
          </a:xfrm>
          <a:prstGeom prst="rect">
            <a:avLst/>
          </a:prstGeom>
        </p:spPr>
        <p:txBody>
          <a:bodyPr>
            <a:spAutoFit/>
          </a:bodyPr>
          <a:lstStyle/>
          <a:p>
            <a:pPr algn="just">
              <a:lnSpc>
                <a:spcPct val="115000"/>
              </a:lnSpc>
              <a:spcAft>
                <a:spcPts val="800"/>
              </a:spcAft>
            </a:pPr>
            <a:r>
              <a:rPr lang="es-PE" dirty="0">
                <a:latin typeface="Arial" panose="020B0604020202020204" pitchFamily="34" charset="0"/>
                <a:ea typeface="Calibri" panose="020F0502020204030204" pitchFamily="34" charset="0"/>
                <a:cs typeface="Times New Roman" panose="02020603050405020304" pitchFamily="18" charset="0"/>
              </a:rPr>
              <a:t>CI fabrica contenedores de muchos tamaños y formas.  Recientemente ha recibido pedidos para producir diversas cantidades de contenedores de cocinas de cinco diferentes tamaños.  Cada tamaño de contenedor puede producirse en cualquiera de cuatro máquinas.  Debido a las distintas tecnologías y tiempo de disposición necesarias para procesar cada tamaño de contenedor en cada máquina varía como se muestra en la tabla.</a:t>
            </a:r>
            <a:endParaRPr lang="es-PE" dirty="0">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agen 3" descr="Tabla&#10;&#10;Descripción generada automáticamente">
            <a:extLst>
              <a:ext uri="{FF2B5EF4-FFF2-40B4-BE49-F238E27FC236}">
                <a16:creationId xmlns:a16="http://schemas.microsoft.com/office/drawing/2014/main" id="{6B74260C-6D0F-4B22-AFB9-B62D0094199C}"/>
              </a:ext>
            </a:extLst>
          </p:cNvPr>
          <p:cNvPicPr/>
          <p:nvPr/>
        </p:nvPicPr>
        <p:blipFill>
          <a:blip r:embed="rId2">
            <a:extLst>
              <a:ext uri="{28A0092B-C50C-407E-A947-70E740481C1C}">
                <a14:useLocalDpi xmlns:a14="http://schemas.microsoft.com/office/drawing/2010/main" val="0"/>
              </a:ext>
            </a:extLst>
          </a:blip>
          <a:stretch>
            <a:fillRect/>
          </a:stretch>
        </p:blipFill>
        <p:spPr>
          <a:xfrm>
            <a:off x="286917" y="4150617"/>
            <a:ext cx="5286375" cy="2093595"/>
          </a:xfrm>
          <a:prstGeom prst="rect">
            <a:avLst/>
          </a:prstGeom>
        </p:spPr>
      </p:pic>
      <p:sp>
        <p:nvSpPr>
          <p:cNvPr id="5" name="Rectángulo 4">
            <a:extLst>
              <a:ext uri="{FF2B5EF4-FFF2-40B4-BE49-F238E27FC236}">
                <a16:creationId xmlns:a16="http://schemas.microsoft.com/office/drawing/2014/main" id="{DF6750EC-D011-4EC4-8733-E2A3B13396D3}"/>
              </a:ext>
            </a:extLst>
          </p:cNvPr>
          <p:cNvSpPr/>
          <p:nvPr/>
        </p:nvSpPr>
        <p:spPr>
          <a:xfrm>
            <a:off x="5739442" y="1284650"/>
            <a:ext cx="6096000" cy="5168594"/>
          </a:xfrm>
          <a:prstGeom prst="rect">
            <a:avLst/>
          </a:prstGeom>
        </p:spPr>
        <p:txBody>
          <a:bodyPr>
            <a:spAutoFit/>
          </a:bodyPr>
          <a:lstStyle/>
          <a:p>
            <a:pPr marL="457200" algn="just">
              <a:lnSpc>
                <a:spcPct val="115000"/>
              </a:lnSpc>
              <a:spcAft>
                <a:spcPts val="0"/>
              </a:spcAft>
            </a:pPr>
            <a:r>
              <a:rPr lang="es-PE" dirty="0">
                <a:latin typeface="Arial" panose="020B0604020202020204" pitchFamily="34" charset="0"/>
                <a:ea typeface="Calibri" panose="020F0502020204030204" pitchFamily="34" charset="0"/>
                <a:cs typeface="Times New Roman" panose="02020603050405020304" pitchFamily="18" charset="0"/>
              </a:rPr>
              <a:t>Adecuar una máquina para que cambie el tamaño de un contenedor toma largo tiempo, así que la gerencia ha decidido que cada máquina producirá contenedores de un solo tamaño.  Por tanto, sólo se producirán cuatro de los cinco tamaños en las cuatro máquinas disponibles dentro de la fecha límite designado.  Como los ingresos por cada tamaño de contenedor son aproximadamente iguales, a la gerencia le es indiferente en cuanto a cuál de los cinco pedidos no satisfacer.</a:t>
            </a:r>
            <a:endParaRPr lang="es-PE" dirty="0">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800"/>
              </a:spcAft>
            </a:pPr>
            <a:r>
              <a:rPr lang="es-PE" dirty="0">
                <a:latin typeface="Arial" panose="020B0604020202020204" pitchFamily="34" charset="0"/>
                <a:ea typeface="Calibri" panose="020F0502020204030204" pitchFamily="34" charset="0"/>
                <a:cs typeface="Times New Roman" panose="02020603050405020304" pitchFamily="18" charset="0"/>
              </a:rPr>
              <a:t>Como gerente del departamento de producción, se le hace el pedido de determinar cuáles cuatro de los cinco pedidos aceptar y desarrollar un plan de producción que minimice el tiempo de procesamiento total para satisfacer esos pedidos. Use el Método Húngaro.</a:t>
            </a:r>
            <a:endParaRPr lang="es-PE"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2">
            <a:extLst>
              <a:ext uri="{FF2B5EF4-FFF2-40B4-BE49-F238E27FC236}">
                <a16:creationId xmlns:a16="http://schemas.microsoft.com/office/drawing/2014/main" id="{E6F38FEA-C50F-4E02-8274-EFB00F4D8C04}"/>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5</a:t>
            </a:r>
          </a:p>
        </p:txBody>
      </p:sp>
    </p:spTree>
    <p:extLst>
      <p:ext uri="{BB962C8B-B14F-4D97-AF65-F5344CB8AC3E}">
        <p14:creationId xmlns:p14="http://schemas.microsoft.com/office/powerpoint/2010/main" val="3242042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919B9B49-FF3B-48C4-9B38-1773058CE269}"/>
              </a:ext>
            </a:extLst>
          </p:cNvPr>
          <p:cNvGraphicFramePr>
            <a:graphicFrameLocks noGrp="1"/>
          </p:cNvGraphicFramePr>
          <p:nvPr/>
        </p:nvGraphicFramePr>
        <p:xfrm>
          <a:off x="0" y="1320800"/>
          <a:ext cx="11927850" cy="4850094"/>
        </p:xfrm>
        <a:graphic>
          <a:graphicData uri="http://schemas.openxmlformats.org/drawingml/2006/table">
            <a:tbl>
              <a:tblPr>
                <a:tableStyleId>{5C22544A-7EE6-4342-B048-85BDC9FD1C3A}</a:tableStyleId>
              </a:tblPr>
              <a:tblGrid>
                <a:gridCol w="397595">
                  <a:extLst>
                    <a:ext uri="{9D8B030D-6E8A-4147-A177-3AD203B41FA5}">
                      <a16:colId xmlns:a16="http://schemas.microsoft.com/office/drawing/2014/main" val="3708387472"/>
                    </a:ext>
                  </a:extLst>
                </a:gridCol>
                <a:gridCol w="397595">
                  <a:extLst>
                    <a:ext uri="{9D8B030D-6E8A-4147-A177-3AD203B41FA5}">
                      <a16:colId xmlns:a16="http://schemas.microsoft.com/office/drawing/2014/main" val="4145039991"/>
                    </a:ext>
                  </a:extLst>
                </a:gridCol>
                <a:gridCol w="397595">
                  <a:extLst>
                    <a:ext uri="{9D8B030D-6E8A-4147-A177-3AD203B41FA5}">
                      <a16:colId xmlns:a16="http://schemas.microsoft.com/office/drawing/2014/main" val="3988177750"/>
                    </a:ext>
                  </a:extLst>
                </a:gridCol>
                <a:gridCol w="397595">
                  <a:extLst>
                    <a:ext uri="{9D8B030D-6E8A-4147-A177-3AD203B41FA5}">
                      <a16:colId xmlns:a16="http://schemas.microsoft.com/office/drawing/2014/main" val="3873682324"/>
                    </a:ext>
                  </a:extLst>
                </a:gridCol>
                <a:gridCol w="397595">
                  <a:extLst>
                    <a:ext uri="{9D8B030D-6E8A-4147-A177-3AD203B41FA5}">
                      <a16:colId xmlns:a16="http://schemas.microsoft.com/office/drawing/2014/main" val="1192273619"/>
                    </a:ext>
                  </a:extLst>
                </a:gridCol>
                <a:gridCol w="397595">
                  <a:extLst>
                    <a:ext uri="{9D8B030D-6E8A-4147-A177-3AD203B41FA5}">
                      <a16:colId xmlns:a16="http://schemas.microsoft.com/office/drawing/2014/main" val="640174230"/>
                    </a:ext>
                  </a:extLst>
                </a:gridCol>
                <a:gridCol w="397595">
                  <a:extLst>
                    <a:ext uri="{9D8B030D-6E8A-4147-A177-3AD203B41FA5}">
                      <a16:colId xmlns:a16="http://schemas.microsoft.com/office/drawing/2014/main" val="1525770920"/>
                    </a:ext>
                  </a:extLst>
                </a:gridCol>
                <a:gridCol w="397595">
                  <a:extLst>
                    <a:ext uri="{9D8B030D-6E8A-4147-A177-3AD203B41FA5}">
                      <a16:colId xmlns:a16="http://schemas.microsoft.com/office/drawing/2014/main" val="3316308802"/>
                    </a:ext>
                  </a:extLst>
                </a:gridCol>
                <a:gridCol w="397595">
                  <a:extLst>
                    <a:ext uri="{9D8B030D-6E8A-4147-A177-3AD203B41FA5}">
                      <a16:colId xmlns:a16="http://schemas.microsoft.com/office/drawing/2014/main" val="1782382848"/>
                    </a:ext>
                  </a:extLst>
                </a:gridCol>
                <a:gridCol w="397595">
                  <a:extLst>
                    <a:ext uri="{9D8B030D-6E8A-4147-A177-3AD203B41FA5}">
                      <a16:colId xmlns:a16="http://schemas.microsoft.com/office/drawing/2014/main" val="4124690196"/>
                    </a:ext>
                  </a:extLst>
                </a:gridCol>
                <a:gridCol w="397595">
                  <a:extLst>
                    <a:ext uri="{9D8B030D-6E8A-4147-A177-3AD203B41FA5}">
                      <a16:colId xmlns:a16="http://schemas.microsoft.com/office/drawing/2014/main" val="2790458056"/>
                    </a:ext>
                  </a:extLst>
                </a:gridCol>
                <a:gridCol w="397595">
                  <a:extLst>
                    <a:ext uri="{9D8B030D-6E8A-4147-A177-3AD203B41FA5}">
                      <a16:colId xmlns:a16="http://schemas.microsoft.com/office/drawing/2014/main" val="3434990395"/>
                    </a:ext>
                  </a:extLst>
                </a:gridCol>
                <a:gridCol w="397595">
                  <a:extLst>
                    <a:ext uri="{9D8B030D-6E8A-4147-A177-3AD203B41FA5}">
                      <a16:colId xmlns:a16="http://schemas.microsoft.com/office/drawing/2014/main" val="3369847554"/>
                    </a:ext>
                  </a:extLst>
                </a:gridCol>
                <a:gridCol w="397595">
                  <a:extLst>
                    <a:ext uri="{9D8B030D-6E8A-4147-A177-3AD203B41FA5}">
                      <a16:colId xmlns:a16="http://schemas.microsoft.com/office/drawing/2014/main" val="2455614733"/>
                    </a:ext>
                  </a:extLst>
                </a:gridCol>
                <a:gridCol w="397595">
                  <a:extLst>
                    <a:ext uri="{9D8B030D-6E8A-4147-A177-3AD203B41FA5}">
                      <a16:colId xmlns:a16="http://schemas.microsoft.com/office/drawing/2014/main" val="312816878"/>
                    </a:ext>
                  </a:extLst>
                </a:gridCol>
                <a:gridCol w="397595">
                  <a:extLst>
                    <a:ext uri="{9D8B030D-6E8A-4147-A177-3AD203B41FA5}">
                      <a16:colId xmlns:a16="http://schemas.microsoft.com/office/drawing/2014/main" val="135347179"/>
                    </a:ext>
                  </a:extLst>
                </a:gridCol>
                <a:gridCol w="397595">
                  <a:extLst>
                    <a:ext uri="{9D8B030D-6E8A-4147-A177-3AD203B41FA5}">
                      <a16:colId xmlns:a16="http://schemas.microsoft.com/office/drawing/2014/main" val="3269694037"/>
                    </a:ext>
                  </a:extLst>
                </a:gridCol>
                <a:gridCol w="397595">
                  <a:extLst>
                    <a:ext uri="{9D8B030D-6E8A-4147-A177-3AD203B41FA5}">
                      <a16:colId xmlns:a16="http://schemas.microsoft.com/office/drawing/2014/main" val="1090982381"/>
                    </a:ext>
                  </a:extLst>
                </a:gridCol>
                <a:gridCol w="397595">
                  <a:extLst>
                    <a:ext uri="{9D8B030D-6E8A-4147-A177-3AD203B41FA5}">
                      <a16:colId xmlns:a16="http://schemas.microsoft.com/office/drawing/2014/main" val="221029128"/>
                    </a:ext>
                  </a:extLst>
                </a:gridCol>
                <a:gridCol w="397595">
                  <a:extLst>
                    <a:ext uri="{9D8B030D-6E8A-4147-A177-3AD203B41FA5}">
                      <a16:colId xmlns:a16="http://schemas.microsoft.com/office/drawing/2014/main" val="2962091468"/>
                    </a:ext>
                  </a:extLst>
                </a:gridCol>
                <a:gridCol w="397595">
                  <a:extLst>
                    <a:ext uri="{9D8B030D-6E8A-4147-A177-3AD203B41FA5}">
                      <a16:colId xmlns:a16="http://schemas.microsoft.com/office/drawing/2014/main" val="1274317532"/>
                    </a:ext>
                  </a:extLst>
                </a:gridCol>
                <a:gridCol w="397595">
                  <a:extLst>
                    <a:ext uri="{9D8B030D-6E8A-4147-A177-3AD203B41FA5}">
                      <a16:colId xmlns:a16="http://schemas.microsoft.com/office/drawing/2014/main" val="3651278660"/>
                    </a:ext>
                  </a:extLst>
                </a:gridCol>
                <a:gridCol w="397595">
                  <a:extLst>
                    <a:ext uri="{9D8B030D-6E8A-4147-A177-3AD203B41FA5}">
                      <a16:colId xmlns:a16="http://schemas.microsoft.com/office/drawing/2014/main" val="3639300607"/>
                    </a:ext>
                  </a:extLst>
                </a:gridCol>
                <a:gridCol w="397595">
                  <a:extLst>
                    <a:ext uri="{9D8B030D-6E8A-4147-A177-3AD203B41FA5}">
                      <a16:colId xmlns:a16="http://schemas.microsoft.com/office/drawing/2014/main" val="3273144508"/>
                    </a:ext>
                  </a:extLst>
                </a:gridCol>
                <a:gridCol w="397595">
                  <a:extLst>
                    <a:ext uri="{9D8B030D-6E8A-4147-A177-3AD203B41FA5}">
                      <a16:colId xmlns:a16="http://schemas.microsoft.com/office/drawing/2014/main" val="3265567275"/>
                    </a:ext>
                  </a:extLst>
                </a:gridCol>
                <a:gridCol w="397595">
                  <a:extLst>
                    <a:ext uri="{9D8B030D-6E8A-4147-A177-3AD203B41FA5}">
                      <a16:colId xmlns:a16="http://schemas.microsoft.com/office/drawing/2014/main" val="1472155331"/>
                    </a:ext>
                  </a:extLst>
                </a:gridCol>
                <a:gridCol w="397595">
                  <a:extLst>
                    <a:ext uri="{9D8B030D-6E8A-4147-A177-3AD203B41FA5}">
                      <a16:colId xmlns:a16="http://schemas.microsoft.com/office/drawing/2014/main" val="2873838757"/>
                    </a:ext>
                  </a:extLst>
                </a:gridCol>
                <a:gridCol w="397595">
                  <a:extLst>
                    <a:ext uri="{9D8B030D-6E8A-4147-A177-3AD203B41FA5}">
                      <a16:colId xmlns:a16="http://schemas.microsoft.com/office/drawing/2014/main" val="930841930"/>
                    </a:ext>
                  </a:extLst>
                </a:gridCol>
                <a:gridCol w="397595">
                  <a:extLst>
                    <a:ext uri="{9D8B030D-6E8A-4147-A177-3AD203B41FA5}">
                      <a16:colId xmlns:a16="http://schemas.microsoft.com/office/drawing/2014/main" val="640786000"/>
                    </a:ext>
                  </a:extLst>
                </a:gridCol>
                <a:gridCol w="397595">
                  <a:extLst>
                    <a:ext uri="{9D8B030D-6E8A-4147-A177-3AD203B41FA5}">
                      <a16:colId xmlns:a16="http://schemas.microsoft.com/office/drawing/2014/main" val="1061701563"/>
                    </a:ext>
                  </a:extLst>
                </a:gridCol>
              </a:tblGrid>
              <a:tr h="385415">
                <a:tc>
                  <a:txBody>
                    <a:bodyPr/>
                    <a:lstStyle/>
                    <a:p>
                      <a:pPr algn="ctr" fontAlgn="b"/>
                      <a:r>
                        <a:rPr lang="es-PE" sz="1600" u="none" strike="noStrike" dirty="0" err="1">
                          <a:effectLst/>
                        </a:rPr>
                        <a:t>M1</a:t>
                      </a:r>
                      <a:endParaRPr lang="es-PE" sz="16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s-PE" sz="1600" u="none" strike="noStrike" dirty="0" err="1">
                          <a:effectLst/>
                        </a:rPr>
                        <a:t>M2</a:t>
                      </a:r>
                      <a:endParaRPr lang="es-PE" sz="16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s-PE" sz="1600" u="none" strike="noStrike">
                          <a:effectLst/>
                        </a:rPr>
                        <a:t>M3</a:t>
                      </a:r>
                      <a:endParaRPr lang="es-PE" sz="16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r>
                        <a:rPr lang="es-PE" sz="1600" u="none" strike="noStrike">
                          <a:effectLst/>
                        </a:rPr>
                        <a:t>M4</a:t>
                      </a:r>
                      <a:endParaRPr lang="es-PE" sz="16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a:solidFill>
                          <a:srgbClr val="FF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14737555"/>
                  </a:ext>
                </a:extLst>
              </a:tr>
              <a:tr h="399180">
                <a:tc>
                  <a:txBody>
                    <a:bodyPr/>
                    <a:lstStyle/>
                    <a:p>
                      <a:pPr algn="ctr" fontAlgn="ctr"/>
                      <a:r>
                        <a:rPr lang="es-PE" sz="1100" u="none" strike="noStrike" dirty="0">
                          <a:effectLst/>
                        </a:rPr>
                        <a:t>25</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dirty="0">
                          <a:effectLst/>
                        </a:rPr>
                        <a:t>20</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dirty="0">
                          <a:effectLst/>
                        </a:rPr>
                        <a:t>28</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a:effectLst/>
                        </a:rPr>
                        <a:t>30</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dirty="0">
                          <a:effectLst/>
                        </a:rPr>
                        <a:t>25</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20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28</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30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dirty="0">
                          <a:effectLst/>
                        </a:rPr>
                        <a:t>1</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3</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a:effectLst/>
                        </a:rPr>
                        <a:t>7</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dirty="0">
                          <a:effectLst/>
                        </a:rPr>
                        <a:t>1</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a:effectLst/>
                        </a:rPr>
                        <a:t>3</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a:effectLst/>
                        </a:rPr>
                        <a:t>7</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2</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dirty="0">
                          <a:effectLst/>
                        </a:rPr>
                        <a:t>1</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a:effectLst/>
                        </a:rPr>
                        <a:t>3</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7</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3</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1534271755"/>
                  </a:ext>
                </a:extLst>
              </a:tr>
              <a:tr h="399180">
                <a:tc>
                  <a:txBody>
                    <a:bodyPr/>
                    <a:lstStyle/>
                    <a:p>
                      <a:pPr algn="ctr" fontAlgn="ctr"/>
                      <a:r>
                        <a:rPr lang="es-PE" sz="1100" u="none" strike="noStrike" dirty="0">
                          <a:effectLst/>
                        </a:rPr>
                        <a:t>24</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dirty="0">
                          <a:effectLst/>
                        </a:rPr>
                        <a:t>22</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dirty="0">
                          <a:effectLst/>
                        </a:rPr>
                        <a:t>25</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dirty="0">
                          <a:effectLst/>
                        </a:rPr>
                        <a:t>23</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dirty="0">
                          <a:effectLst/>
                        </a:rPr>
                        <a:t>24</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22</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25</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23</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2</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2</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a:effectLst/>
                        </a:rPr>
                        <a:t>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a:effectLst/>
                        </a:rPr>
                        <a:t>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2</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2</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3</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2548105894"/>
                  </a:ext>
                </a:extLst>
              </a:tr>
              <a:tr h="399180">
                <a:tc>
                  <a:txBody>
                    <a:bodyPr/>
                    <a:lstStyle/>
                    <a:p>
                      <a:pPr algn="ctr" fontAlgn="ctr"/>
                      <a:r>
                        <a:rPr lang="es-PE" sz="1100" u="none" strike="noStrike">
                          <a:effectLst/>
                        </a:rPr>
                        <a:t>30</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dirty="0">
                          <a:effectLst/>
                        </a:rPr>
                        <a:t>30</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a:effectLst/>
                        </a:rPr>
                        <a:t>28</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dirty="0">
                          <a:effectLst/>
                        </a:rPr>
                        <a:t>25</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30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30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28</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25</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6</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10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3</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2</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4</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8</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1</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4</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8</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1</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dirty="0">
                          <a:effectLst/>
                        </a:rPr>
                        <a:t>1</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612438432"/>
                  </a:ext>
                </a:extLst>
              </a:tr>
              <a:tr h="399180">
                <a:tc>
                  <a:txBody>
                    <a:bodyPr/>
                    <a:lstStyle/>
                    <a:p>
                      <a:pPr algn="ctr" fontAlgn="ctr"/>
                      <a:r>
                        <a:rPr lang="es-PE" sz="1100" u="none" strike="noStrike">
                          <a:effectLst/>
                        </a:rPr>
                        <a:t>38</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dirty="0">
                          <a:effectLst/>
                        </a:rPr>
                        <a:t>32</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dirty="0">
                          <a:effectLst/>
                        </a:rPr>
                        <a:t>30</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dirty="0">
                          <a:effectLst/>
                        </a:rPr>
                        <a:t>30</a:t>
                      </a:r>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38</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32</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30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30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14</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12</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5</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7</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12</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10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3</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5</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11</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9</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2</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4</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extLst>
                  <a:ext uri="{0D108BD9-81ED-4DB2-BD59-A6C34878D82A}">
                    <a16:rowId xmlns:a16="http://schemas.microsoft.com/office/drawing/2014/main" val="2586209557"/>
                  </a:ext>
                </a:extLst>
              </a:tr>
              <a:tr h="399180">
                <a:tc>
                  <a:txBody>
                    <a:bodyPr/>
                    <a:lstStyle/>
                    <a:p>
                      <a:pPr algn="ctr" fontAlgn="ctr"/>
                      <a:r>
                        <a:rPr lang="es-PE" sz="1100" u="none" strike="noStrike">
                          <a:effectLst/>
                        </a:rPr>
                        <a:t>40</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a:effectLst/>
                        </a:rPr>
                        <a:t>40</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a:effectLst/>
                        </a:rPr>
                        <a:t>28</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s-PE" sz="1100" u="none" strike="noStrike">
                          <a:effectLst/>
                        </a:rPr>
                        <a:t>30</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6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40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40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28</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30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16</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20</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3</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7</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14</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18</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1</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5</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13</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a:effectLst/>
                        </a:rPr>
                        <a:t>17</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92D050"/>
                    </a:solidFill>
                  </a:tcPr>
                </a:tc>
                <a:tc>
                  <a:txBody>
                    <a:bodyPr/>
                    <a:lstStyle/>
                    <a:p>
                      <a:pPr algn="ctr" fontAlgn="b"/>
                      <a:r>
                        <a:rPr lang="es-PE" sz="1400" u="none" strike="noStrike">
                          <a:effectLst/>
                        </a:rPr>
                        <a:t>4</a:t>
                      </a:r>
                      <a:endParaRPr lang="es-PE" sz="1400" b="0" i="0" u="none" strike="noStrike">
                        <a:solidFill>
                          <a:srgbClr val="000000"/>
                        </a:solidFill>
                        <a:effectLst/>
                        <a:latin typeface="Calibri" panose="020F0502020204030204" pitchFamily="34" charset="0"/>
                      </a:endParaRPr>
                    </a:p>
                  </a:txBody>
                  <a:tcPr marL="9525" marR="9525" marT="9525" marB="0" anchor="ctr">
                    <a:solidFill>
                      <a:srgbClr val="FFFF00"/>
                    </a:solidFill>
                  </a:tcPr>
                </a:tc>
                <a:tc>
                  <a:txBody>
                    <a:bodyPr/>
                    <a:lstStyle/>
                    <a:p>
                      <a:pPr algn="ctr" fontAlgn="b"/>
                      <a:r>
                        <a:rPr lang="es-PE" sz="1400" u="none" strike="noStrike" dirty="0">
                          <a:effectLst/>
                        </a:rPr>
                        <a:t>0</a:t>
                      </a:r>
                      <a:endParaRPr lang="es-PE" sz="1400" b="0" i="0" u="none" strike="noStrike" dirty="0">
                        <a:solidFill>
                          <a:srgbClr val="000000"/>
                        </a:solidFill>
                        <a:effectLst/>
                        <a:latin typeface="Calibri" panose="020F0502020204030204" pitchFamily="34" charset="0"/>
                      </a:endParaRPr>
                    </a:p>
                  </a:txBody>
                  <a:tcPr marL="9525" marR="9525" marT="9525" marB="0" anchor="ctr">
                    <a:solidFill>
                      <a:srgbClr val="FFFF00"/>
                    </a:solidFill>
                  </a:tcPr>
                </a:tc>
                <a:extLst>
                  <a:ext uri="{0D108BD9-81ED-4DB2-BD59-A6C34878D82A}">
                    <a16:rowId xmlns:a16="http://schemas.microsoft.com/office/drawing/2014/main" val="682942861"/>
                  </a:ext>
                </a:extLst>
              </a:tr>
              <a:tr h="404059">
                <a:tc>
                  <a:txBody>
                    <a:bodyPr/>
                    <a:lstStyle/>
                    <a:p>
                      <a:pPr algn="ctr" fontAlgn="b"/>
                      <a:endParaRPr lang="es-PE" sz="11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s-PE" sz="1400" u="none" strike="noStrike" dirty="0">
                          <a:effectLst/>
                        </a:rPr>
                        <a:t>24</a:t>
                      </a:r>
                      <a:endParaRPr lang="es-PE" sz="1400" b="0"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20</a:t>
                      </a:r>
                      <a:endParaRPr lang="es-PE" sz="14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25</a:t>
                      </a:r>
                      <a:endParaRPr lang="es-PE" sz="14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23</a:t>
                      </a:r>
                      <a:endParaRPr lang="es-PE" sz="14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r>
                        <a:rPr lang="es-PE" sz="1400" u="none" strike="noStrike">
                          <a:effectLst/>
                        </a:rPr>
                        <a:t>0</a:t>
                      </a:r>
                      <a:endParaRPr lang="es-PE" sz="1400" b="0" i="0" u="none" strike="noStrike">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gridSpan="5">
                  <a:txBody>
                    <a:bodyPr/>
                    <a:lstStyle/>
                    <a:p>
                      <a:pPr algn="ctr" fontAlgn="b"/>
                      <a:r>
                        <a:rPr lang="es-PE" sz="1400" u="none" strike="noStrike" dirty="0">
                          <a:effectLst/>
                        </a:rPr>
                        <a:t>Paso </a:t>
                      </a:r>
                      <a:r>
                        <a:rPr lang="es-PE" sz="1400" u="none" strike="noStrike" dirty="0" err="1">
                          <a:effectLst/>
                        </a:rPr>
                        <a:t>2a</a:t>
                      </a:r>
                      <a:endParaRPr lang="es-PE"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s-PE" sz="14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14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14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gridSpan="5">
                  <a:txBody>
                    <a:bodyPr/>
                    <a:lstStyle/>
                    <a:p>
                      <a:pPr algn="ctr" fontAlgn="b"/>
                      <a:r>
                        <a:rPr lang="es-PE" sz="1400" u="none" strike="noStrike" dirty="0">
                          <a:effectLst/>
                        </a:rPr>
                        <a:t>Paso 3</a:t>
                      </a:r>
                      <a:endParaRPr lang="es-PE" sz="14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pPr algn="ctr" fontAlgn="b"/>
                      <a:endParaRPr lang="es-PE" sz="14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14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1400" b="0" i="0" u="none" strike="noStrike" dirty="0">
                        <a:solidFill>
                          <a:srgbClr val="000000"/>
                        </a:solidFill>
                        <a:effectLst/>
                        <a:latin typeface="Calibri" panose="020F0502020204030204" pitchFamily="34" charset="0"/>
                      </a:endParaRPr>
                    </a:p>
                  </a:txBody>
                  <a:tcPr marL="9525" marR="9525" marT="9525" marB="0" anchor="b"/>
                </a:tc>
                <a:tc hMerge="1">
                  <a:txBody>
                    <a:bodyPr/>
                    <a:lstStyle/>
                    <a:p>
                      <a:pPr algn="ctr" fontAlgn="b"/>
                      <a:endParaRPr lang="es-PE"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57250896"/>
                  </a:ext>
                </a:extLst>
              </a:tr>
              <a:tr h="344120">
                <a:tc gridSpan="6">
                  <a:txBody>
                    <a:bodyPr/>
                    <a:lstStyle/>
                    <a:p>
                      <a:pPr algn="ctr" fontAlgn="b"/>
                      <a:r>
                        <a:rPr lang="es-PE" sz="1100" u="none" strike="noStrike">
                          <a:effectLst/>
                        </a:rPr>
                        <a:t>Al Trabajador</a:t>
                      </a:r>
                      <a:endParaRPr lang="es-PE"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1</a:t>
                      </a:r>
                      <a:endParaRPr lang="es-PE" sz="1100" b="0" i="0" u="none" strike="noStrike">
                        <a:solidFill>
                          <a:srgbClr val="000000"/>
                        </a:solidFill>
                        <a:effectLst/>
                        <a:latin typeface="Calibri" panose="020F0502020204030204" pitchFamily="34" charset="0"/>
                      </a:endParaRPr>
                    </a:p>
                  </a:txBody>
                  <a:tcPr marL="9525" marR="9525" marT="9525" marB="0" anchor="ctr"/>
                </a:tc>
                <a:tc gridSpan="8">
                  <a:txBody>
                    <a:bodyPr/>
                    <a:lstStyle/>
                    <a:p>
                      <a:pPr algn="ctr" fontAlgn="b"/>
                      <a:r>
                        <a:rPr lang="it-IT" sz="1100" u="none" strike="noStrike" dirty="0">
                          <a:effectLst/>
                        </a:rPr>
                        <a:t>Se le asigna la tarea</a:t>
                      </a:r>
                      <a:endParaRPr lang="it-IT"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2</a:t>
                      </a:r>
                      <a:endParaRPr lang="es-PE" sz="1100" b="0" i="0" u="none" strike="noStrike">
                        <a:solidFill>
                          <a:srgbClr val="000000"/>
                        </a:solidFill>
                        <a:effectLst/>
                        <a:latin typeface="Calibri" panose="020F0502020204030204" pitchFamily="34" charset="0"/>
                      </a:endParaRPr>
                    </a:p>
                  </a:txBody>
                  <a:tcPr marL="9525" marR="9525" marT="9525" marB="0" anchor="ctr"/>
                </a:tc>
                <a:tc gridSpan="4">
                  <a:txBody>
                    <a:bodyPr/>
                    <a:lstStyle/>
                    <a:p>
                      <a:pPr algn="ctr" fontAlgn="b"/>
                      <a:r>
                        <a:rPr lang="es-PE" sz="1100" u="none" strike="noStrike">
                          <a:effectLst/>
                        </a:rPr>
                        <a:t>El TIEMPO es</a:t>
                      </a:r>
                      <a:endParaRPr lang="es-PE"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 </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100" u="none" strike="noStrike">
                          <a:effectLst/>
                        </a:rPr>
                        <a:t>20</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5464154"/>
                  </a:ext>
                </a:extLst>
              </a:tr>
              <a:tr h="344120">
                <a:tc gridSpan="6">
                  <a:txBody>
                    <a:bodyPr/>
                    <a:lstStyle/>
                    <a:p>
                      <a:pPr algn="ctr" fontAlgn="b"/>
                      <a:r>
                        <a:rPr lang="es-PE" sz="1100" u="none" strike="noStrike">
                          <a:effectLst/>
                        </a:rPr>
                        <a:t>Al Trabajador</a:t>
                      </a:r>
                      <a:endParaRPr lang="es-PE"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2</a:t>
                      </a:r>
                      <a:endParaRPr lang="es-PE" sz="1100" b="0" i="0" u="none" strike="noStrike">
                        <a:solidFill>
                          <a:srgbClr val="000000"/>
                        </a:solidFill>
                        <a:effectLst/>
                        <a:latin typeface="Calibri" panose="020F0502020204030204" pitchFamily="34" charset="0"/>
                      </a:endParaRPr>
                    </a:p>
                  </a:txBody>
                  <a:tcPr marL="9525" marR="9525" marT="9525" marB="0" anchor="ctr"/>
                </a:tc>
                <a:tc gridSpan="8">
                  <a:txBody>
                    <a:bodyPr/>
                    <a:lstStyle/>
                    <a:p>
                      <a:pPr algn="ctr" fontAlgn="b"/>
                      <a:r>
                        <a:rPr lang="it-IT" sz="1100" u="none" strike="noStrike" dirty="0">
                          <a:effectLst/>
                        </a:rPr>
                        <a:t>Se le asigna la tarea</a:t>
                      </a:r>
                      <a:endParaRPr lang="it-IT"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1</a:t>
                      </a:r>
                      <a:endParaRPr lang="es-PE" sz="1100" b="0" i="0" u="none" strike="noStrike">
                        <a:solidFill>
                          <a:srgbClr val="000000"/>
                        </a:solidFill>
                        <a:effectLst/>
                        <a:latin typeface="Calibri" panose="020F0502020204030204" pitchFamily="34" charset="0"/>
                      </a:endParaRPr>
                    </a:p>
                  </a:txBody>
                  <a:tcPr marL="9525" marR="9525" marT="9525" marB="0" anchor="ctr"/>
                </a:tc>
                <a:tc gridSpan="4">
                  <a:txBody>
                    <a:bodyPr/>
                    <a:lstStyle/>
                    <a:p>
                      <a:pPr algn="ctr" fontAlgn="b"/>
                      <a:r>
                        <a:rPr lang="es-PE" sz="1100" u="none" strike="noStrike">
                          <a:effectLst/>
                        </a:rPr>
                        <a:t>El TIEMPO es</a:t>
                      </a:r>
                      <a:endParaRPr lang="es-PE"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 </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100" u="none" strike="noStrike">
                          <a:effectLst/>
                        </a:rPr>
                        <a:t>24</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20497806"/>
                  </a:ext>
                </a:extLst>
              </a:tr>
              <a:tr h="344120">
                <a:tc gridSpan="6">
                  <a:txBody>
                    <a:bodyPr/>
                    <a:lstStyle/>
                    <a:p>
                      <a:pPr algn="ctr" fontAlgn="b"/>
                      <a:r>
                        <a:rPr lang="es-PE" sz="1100" u="none" strike="noStrike">
                          <a:effectLst/>
                        </a:rPr>
                        <a:t>Al Trabajador</a:t>
                      </a:r>
                      <a:endParaRPr lang="es-PE"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3</a:t>
                      </a:r>
                      <a:endParaRPr lang="es-PE" sz="1100" b="0" i="0" u="none" strike="noStrike">
                        <a:solidFill>
                          <a:srgbClr val="000000"/>
                        </a:solidFill>
                        <a:effectLst/>
                        <a:latin typeface="Calibri" panose="020F0502020204030204" pitchFamily="34" charset="0"/>
                      </a:endParaRPr>
                    </a:p>
                  </a:txBody>
                  <a:tcPr marL="9525" marR="9525" marT="9525" marB="0" anchor="ctr"/>
                </a:tc>
                <a:tc gridSpan="8">
                  <a:txBody>
                    <a:bodyPr/>
                    <a:lstStyle/>
                    <a:p>
                      <a:pPr algn="ctr" fontAlgn="b"/>
                      <a:r>
                        <a:rPr lang="it-IT" sz="1100" u="none" strike="noStrike" dirty="0">
                          <a:effectLst/>
                        </a:rPr>
                        <a:t>Se le asigna la tarea</a:t>
                      </a:r>
                      <a:endParaRPr lang="it-IT"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4</a:t>
                      </a:r>
                      <a:endParaRPr lang="es-PE" sz="1100" b="0" i="0" u="none" strike="noStrike">
                        <a:solidFill>
                          <a:srgbClr val="000000"/>
                        </a:solidFill>
                        <a:effectLst/>
                        <a:latin typeface="Calibri" panose="020F0502020204030204" pitchFamily="34" charset="0"/>
                      </a:endParaRPr>
                    </a:p>
                  </a:txBody>
                  <a:tcPr marL="9525" marR="9525" marT="9525" marB="0" anchor="ctr"/>
                </a:tc>
                <a:tc gridSpan="4">
                  <a:txBody>
                    <a:bodyPr/>
                    <a:lstStyle/>
                    <a:p>
                      <a:pPr algn="ctr" fontAlgn="b"/>
                      <a:r>
                        <a:rPr lang="es-PE" sz="1100" u="none" strike="noStrike">
                          <a:effectLst/>
                        </a:rPr>
                        <a:t>El TIEMPO es</a:t>
                      </a:r>
                      <a:endParaRPr lang="es-PE"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100" u="none" strike="noStrike">
                          <a:effectLst/>
                        </a:rPr>
                        <a:t>25</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33595834"/>
                  </a:ext>
                </a:extLst>
              </a:tr>
              <a:tr h="344120">
                <a:tc gridSpan="6">
                  <a:txBody>
                    <a:bodyPr/>
                    <a:lstStyle/>
                    <a:p>
                      <a:pPr algn="ctr" fontAlgn="b"/>
                      <a:r>
                        <a:rPr lang="es-PE" sz="1100" u="none" strike="noStrike">
                          <a:effectLst/>
                        </a:rPr>
                        <a:t>Al Trabajador</a:t>
                      </a:r>
                      <a:endParaRPr lang="es-PE"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4</a:t>
                      </a:r>
                      <a:endParaRPr lang="es-PE" sz="1100" b="0" i="0" u="none" strike="noStrike">
                        <a:solidFill>
                          <a:srgbClr val="000000"/>
                        </a:solidFill>
                        <a:effectLst/>
                        <a:latin typeface="Calibri" panose="020F0502020204030204" pitchFamily="34" charset="0"/>
                      </a:endParaRPr>
                    </a:p>
                  </a:txBody>
                  <a:tcPr marL="9525" marR="9525" marT="9525" marB="0" anchor="ctr"/>
                </a:tc>
                <a:tc gridSpan="8">
                  <a:txBody>
                    <a:bodyPr/>
                    <a:lstStyle/>
                    <a:p>
                      <a:pPr algn="ctr" fontAlgn="b"/>
                      <a:r>
                        <a:rPr lang="it-IT" sz="1100" u="none" strike="noStrike" dirty="0">
                          <a:effectLst/>
                        </a:rPr>
                        <a:t>Se le asigna la tarea</a:t>
                      </a:r>
                      <a:endParaRPr lang="it-IT"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5</a:t>
                      </a:r>
                      <a:endParaRPr lang="es-PE" sz="1100" b="0" i="0" u="none" strike="noStrike">
                        <a:solidFill>
                          <a:srgbClr val="FF0000"/>
                        </a:solidFill>
                        <a:effectLst/>
                        <a:latin typeface="Calibri" panose="020F0502020204030204" pitchFamily="34" charset="0"/>
                      </a:endParaRPr>
                    </a:p>
                  </a:txBody>
                  <a:tcPr marL="9525" marR="9525" marT="9525" marB="0" anchor="ctr"/>
                </a:tc>
                <a:tc gridSpan="4">
                  <a:txBody>
                    <a:bodyPr/>
                    <a:lstStyle/>
                    <a:p>
                      <a:pPr algn="ctr" fontAlgn="b"/>
                      <a:r>
                        <a:rPr lang="es-PE" sz="1100" u="none" strike="noStrike">
                          <a:effectLst/>
                        </a:rPr>
                        <a:t>El TIEMPO es</a:t>
                      </a:r>
                      <a:endParaRPr lang="es-PE"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 </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100" u="none" strike="noStrike">
                          <a:effectLst/>
                        </a:rPr>
                        <a:t>0</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02089574"/>
                  </a:ext>
                </a:extLst>
              </a:tr>
              <a:tr h="344120">
                <a:tc gridSpan="6">
                  <a:txBody>
                    <a:bodyPr/>
                    <a:lstStyle/>
                    <a:p>
                      <a:pPr algn="ctr" fontAlgn="b"/>
                      <a:r>
                        <a:rPr lang="es-PE" sz="1100" u="none" strike="noStrike">
                          <a:effectLst/>
                        </a:rPr>
                        <a:t>Al Trabajador</a:t>
                      </a:r>
                      <a:endParaRPr lang="es-PE" sz="1100" b="0" i="0" u="none" strike="noStrike">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5</a:t>
                      </a:r>
                      <a:endParaRPr lang="es-PE" sz="1100" b="0" i="0" u="none" strike="noStrike">
                        <a:solidFill>
                          <a:srgbClr val="000000"/>
                        </a:solidFill>
                        <a:effectLst/>
                        <a:latin typeface="Calibri" panose="020F0502020204030204" pitchFamily="34" charset="0"/>
                      </a:endParaRPr>
                    </a:p>
                  </a:txBody>
                  <a:tcPr marL="9525" marR="9525" marT="9525" marB="0" anchor="ctr"/>
                </a:tc>
                <a:tc gridSpan="8">
                  <a:txBody>
                    <a:bodyPr/>
                    <a:lstStyle/>
                    <a:p>
                      <a:pPr algn="ctr" fontAlgn="b"/>
                      <a:r>
                        <a:rPr lang="it-IT" sz="1100" u="none" strike="noStrike" dirty="0">
                          <a:effectLst/>
                        </a:rPr>
                        <a:t>Se le asigna la tarea</a:t>
                      </a:r>
                      <a:endParaRPr lang="it-IT"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dirty="0">
                          <a:effectLst/>
                        </a:rPr>
                        <a:t>3</a:t>
                      </a:r>
                      <a:endParaRPr lang="es-PE" sz="1100" b="0" i="0" u="none" strike="noStrike" dirty="0">
                        <a:solidFill>
                          <a:srgbClr val="000000"/>
                        </a:solidFill>
                        <a:effectLst/>
                        <a:latin typeface="Calibri" panose="020F0502020204030204" pitchFamily="34" charset="0"/>
                      </a:endParaRPr>
                    </a:p>
                  </a:txBody>
                  <a:tcPr marL="9525" marR="9525" marT="9525" marB="0" anchor="ctr"/>
                </a:tc>
                <a:tc gridSpan="4">
                  <a:txBody>
                    <a:bodyPr/>
                    <a:lstStyle/>
                    <a:p>
                      <a:pPr algn="ctr" fontAlgn="b"/>
                      <a:r>
                        <a:rPr lang="es-PE" sz="1100" u="none" strike="noStrike" dirty="0">
                          <a:effectLst/>
                        </a:rPr>
                        <a:t>El TIEMPO es</a:t>
                      </a:r>
                      <a:endParaRPr lang="es-PE"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a:effectLst/>
                        </a:rPr>
                        <a:t> </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PE" sz="1100" u="none" strike="noStrike">
                          <a:effectLst/>
                        </a:rPr>
                        <a:t>28</a:t>
                      </a:r>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96252089"/>
                  </a:ext>
                </a:extLst>
              </a:tr>
              <a:tr h="344120">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100" b="0" i="0" u="none" strike="noStrike">
                        <a:solidFill>
                          <a:srgbClr val="000000"/>
                        </a:solidFill>
                        <a:effectLst/>
                        <a:latin typeface="Calibri" panose="020F0502020204030204" pitchFamily="34" charset="0"/>
                      </a:endParaRPr>
                    </a:p>
                  </a:txBody>
                  <a:tcPr marL="9525" marR="9525" marT="9525" marB="0" anchor="ctr"/>
                </a:tc>
                <a:tc gridSpan="11">
                  <a:txBody>
                    <a:bodyPr/>
                    <a:lstStyle/>
                    <a:p>
                      <a:pPr algn="ctr" fontAlgn="b"/>
                      <a:r>
                        <a:rPr lang="es-PE" sz="1100" u="none" strike="noStrike" dirty="0">
                          <a:effectLst/>
                        </a:rPr>
                        <a:t>COSTO TOTAL</a:t>
                      </a:r>
                      <a:endParaRPr lang="es-PE" sz="1100" b="0" i="0" u="none" strike="noStrike" dirty="0">
                        <a:solidFill>
                          <a:srgbClr val="000000"/>
                        </a:solidFill>
                        <a:effectLst/>
                        <a:latin typeface="Calibri" panose="020F0502020204030204" pitchFamily="34" charset="0"/>
                      </a:endParaRPr>
                    </a:p>
                  </a:txBody>
                  <a:tcPr marL="9525" marR="9525" marT="9525"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a:txBody>
                    <a:bodyPr/>
                    <a:lstStyle/>
                    <a:p>
                      <a:pPr algn="ctr" fontAlgn="b"/>
                      <a:r>
                        <a:rPr lang="es-PE" sz="1100" u="none" strike="noStrike" dirty="0">
                          <a:effectLst/>
                        </a:rPr>
                        <a:t>97</a:t>
                      </a:r>
                      <a:endParaRPr lang="es-PE" sz="1100" b="1" i="0" u="none" strike="noStrike" dirty="0">
                        <a:solidFill>
                          <a:srgbClr val="FF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endParaRPr lang="es-PE" sz="14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l" fontAlgn="b"/>
                      <a:endParaRPr lang="es-PE"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59292778"/>
                  </a:ext>
                </a:extLst>
              </a:tr>
            </a:tbl>
          </a:graphicData>
        </a:graphic>
      </p:graphicFrame>
      <p:sp>
        <p:nvSpPr>
          <p:cNvPr id="4" name="Rectangle 2">
            <a:extLst>
              <a:ext uri="{FF2B5EF4-FFF2-40B4-BE49-F238E27FC236}">
                <a16:creationId xmlns:a16="http://schemas.microsoft.com/office/drawing/2014/main" id="{C1FCFA3D-0517-4A31-A4D8-5603B6EABFA0}"/>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5</a:t>
            </a:r>
          </a:p>
        </p:txBody>
      </p:sp>
    </p:spTree>
    <p:extLst>
      <p:ext uri="{BB962C8B-B14F-4D97-AF65-F5344CB8AC3E}">
        <p14:creationId xmlns:p14="http://schemas.microsoft.com/office/powerpoint/2010/main" val="39141066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31AE6ED-3941-48D3-8A81-A7865F2BF09E}"/>
              </a:ext>
            </a:extLst>
          </p:cNvPr>
          <p:cNvSpPr txBox="1"/>
          <p:nvPr/>
        </p:nvSpPr>
        <p:spPr>
          <a:xfrm>
            <a:off x="585187" y="1576170"/>
            <a:ext cx="5194512" cy="2862322"/>
          </a:xfrm>
          <a:prstGeom prst="rect">
            <a:avLst/>
          </a:prstGeom>
          <a:noFill/>
        </p:spPr>
        <p:txBody>
          <a:bodyPr wrap="square" rtlCol="0">
            <a:spAutoFit/>
          </a:bodyPr>
          <a:lstStyle/>
          <a:p>
            <a:pPr algn="just"/>
            <a:r>
              <a:rPr lang="es-PE" sz="18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CI fabrica contenedores de muchos tamaños y formas.  Recientemente ha recibido pedidos para producir diversas cantidades de contenedores de cocinas de cinco diferentes tamaños.  Cada tamaño de contenedor puede producirse en cualquiera de cuatro máquinas.  Debido a las distintas tecnologías y tiempo de disposición necesarias para procesar cada tamaño de contenedor en cada máquina varía como se muestra en la tabla.</a:t>
            </a:r>
            <a:endParaRPr lang="es-PE" dirty="0"/>
          </a:p>
        </p:txBody>
      </p:sp>
      <p:pic>
        <p:nvPicPr>
          <p:cNvPr id="6" name="Imagen 5" descr="Tabla&#10;&#10;Descripción generada automáticamente">
            <a:extLst>
              <a:ext uri="{FF2B5EF4-FFF2-40B4-BE49-F238E27FC236}">
                <a16:creationId xmlns:a16="http://schemas.microsoft.com/office/drawing/2014/main" id="{E821E58B-CA7B-4739-A9F2-71A461F5D4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7003" y="1626208"/>
            <a:ext cx="5058727" cy="2842275"/>
          </a:xfrm>
          <a:prstGeom prst="rect">
            <a:avLst/>
          </a:prstGeom>
        </p:spPr>
      </p:pic>
      <p:sp>
        <p:nvSpPr>
          <p:cNvPr id="7" name="CuadroTexto 6">
            <a:extLst>
              <a:ext uri="{FF2B5EF4-FFF2-40B4-BE49-F238E27FC236}">
                <a16:creationId xmlns:a16="http://schemas.microsoft.com/office/drawing/2014/main" id="{FED42CF4-2701-45F1-B205-3945B1DD0AD6}"/>
              </a:ext>
            </a:extLst>
          </p:cNvPr>
          <p:cNvSpPr txBox="1"/>
          <p:nvPr/>
        </p:nvSpPr>
        <p:spPr>
          <a:xfrm>
            <a:off x="551912" y="4472460"/>
            <a:ext cx="10998857" cy="2308324"/>
          </a:xfrm>
          <a:prstGeom prst="rect">
            <a:avLst/>
          </a:prstGeom>
          <a:noFill/>
        </p:spPr>
        <p:txBody>
          <a:bodyPr wrap="square" rtlCol="0">
            <a:spAutoFit/>
          </a:bodyPr>
          <a:lstStyle>
            <a:defPPr>
              <a:defRPr lang="es-PE"/>
            </a:defPPr>
            <a:lvl1pPr algn="just">
              <a:defRPr>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defRPr>
            </a:lvl1pPr>
          </a:lstStyle>
          <a:p>
            <a:r>
              <a:rPr lang="es-PE" dirty="0"/>
              <a:t>Adecuar una máquina para que cambie el tamaño de un contenedor toma largo tiempo, así que la gerencia ha decidido que cada máquina producirá contenedores de un solo tamaño.  Por tanto, sólo se producirán cuatro de los cinco tamaños en las cuatro máquinas disponibles dentro de la fecha límite designado.  Como los ingresos por cada tamaño de contenedor son aproximadamente iguales, a la gerencia CI le es indiferente en cuanto a cuál de los cinco pedidos no satisfacer.</a:t>
            </a:r>
          </a:p>
          <a:p>
            <a:r>
              <a:rPr lang="es-PE" dirty="0"/>
              <a:t>Como gerente del departamento de producción, se le hace el pedido de determinar cuáles cuatro de los cinco pedidos aceptar y desarrollar un plan de producción que minimice el tiempo de procesamiento total para satisfacer esos pedidos.</a:t>
            </a:r>
          </a:p>
        </p:txBody>
      </p:sp>
    </p:spTree>
    <p:extLst>
      <p:ext uri="{BB962C8B-B14F-4D97-AF65-F5344CB8AC3E}">
        <p14:creationId xmlns:p14="http://schemas.microsoft.com/office/powerpoint/2010/main" val="67483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4E8F5CF-B59D-4353-9914-3C863054FE6E}"/>
              </a:ext>
            </a:extLst>
          </p:cNvPr>
          <p:cNvSpPr txBox="1"/>
          <p:nvPr/>
        </p:nvSpPr>
        <p:spPr>
          <a:xfrm>
            <a:off x="445537" y="247509"/>
            <a:ext cx="6097554" cy="372731"/>
          </a:xfrm>
          <a:prstGeom prst="rect">
            <a:avLst/>
          </a:prstGeom>
          <a:noFill/>
        </p:spPr>
        <p:txBody>
          <a:bodyPr wrap="square">
            <a:spAutoFit/>
          </a:bodyPr>
          <a:lstStyle/>
          <a:p>
            <a:pPr>
              <a:lnSpc>
                <a:spcPct val="107000"/>
              </a:lnSpc>
              <a:spcAft>
                <a:spcPts val="800"/>
              </a:spcAft>
            </a:pPr>
            <a:r>
              <a:rPr lang="es-PE" sz="1800" b="1" u="sng" dirty="0">
                <a:effectLst/>
                <a:latin typeface="Tahoma" panose="020B0604030504040204" pitchFamily="34" charset="0"/>
                <a:ea typeface="Calibri" panose="020F0502020204030204" pitchFamily="34" charset="0"/>
                <a:cs typeface="Times New Roman" panose="02020603050405020304" pitchFamily="18" charset="0"/>
              </a:rPr>
              <a:t>Solución Problema 5: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Imagen 6" descr="Tabla&#10;&#10;Descripción generada automáticamente">
            <a:extLst>
              <a:ext uri="{FF2B5EF4-FFF2-40B4-BE49-F238E27FC236}">
                <a16:creationId xmlns:a16="http://schemas.microsoft.com/office/drawing/2014/main" id="{FA67A784-DD5F-4934-B255-912BB55D6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2236" y="1268083"/>
            <a:ext cx="9426757" cy="5589917"/>
          </a:xfrm>
          <a:prstGeom prst="rect">
            <a:avLst/>
          </a:prstGeom>
        </p:spPr>
      </p:pic>
    </p:spTree>
    <p:extLst>
      <p:ext uri="{BB962C8B-B14F-4D97-AF65-F5344CB8AC3E}">
        <p14:creationId xmlns:p14="http://schemas.microsoft.com/office/powerpoint/2010/main" val="270217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magen que contiene Tabla&#10;&#10;Descripción generada automáticamente">
            <a:extLst>
              <a:ext uri="{FF2B5EF4-FFF2-40B4-BE49-F238E27FC236}">
                <a16:creationId xmlns:a16="http://schemas.microsoft.com/office/drawing/2014/main" id="{D2F98817-D225-4FD3-B9A0-AC118D69CD27}"/>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27010" y="1233892"/>
            <a:ext cx="8431058" cy="5624108"/>
          </a:xfrm>
          <a:prstGeom prst="rect">
            <a:avLst/>
          </a:prstGeom>
        </p:spPr>
      </p:pic>
    </p:spTree>
    <p:extLst>
      <p:ext uri="{BB962C8B-B14F-4D97-AF65-F5344CB8AC3E}">
        <p14:creationId xmlns:p14="http://schemas.microsoft.com/office/powerpoint/2010/main" val="2832098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23"/>
          <p:cNvSpPr txBox="1">
            <a:spLocks noGrp="1"/>
          </p:cNvSpPr>
          <p:nvPr>
            <p:ph type="sldNum" idx="12"/>
          </p:nvPr>
        </p:nvSpPr>
        <p:spPr>
          <a:prstGeom prst="rect">
            <a:avLst/>
          </a:prstGeom>
        </p:spPr>
        <p:txBody>
          <a:bodyPr spcFirstLastPara="1" vert="horz" wrap="square" lIns="0" tIns="0" rIns="0" bIns="0" rtlCol="0" anchor="ctr" anchorCtr="0">
            <a:noAutofit/>
          </a:bodyPr>
          <a:lstStyle/>
          <a:p>
            <a:fld id="{00000000-1234-1234-1234-123412341234}" type="slidenum">
              <a:rPr lang="en"/>
              <a:pPr/>
              <a:t>32</a:t>
            </a:fld>
            <a:endParaRPr dirty="0"/>
          </a:p>
        </p:txBody>
      </p:sp>
      <p:sp>
        <p:nvSpPr>
          <p:cNvPr id="4" name="Rectangle 2"/>
          <p:cNvSpPr txBox="1">
            <a:spLocks noChangeArrowheads="1"/>
          </p:cNvSpPr>
          <p:nvPr/>
        </p:nvSpPr>
        <p:spPr bwMode="auto">
          <a:xfrm>
            <a:off x="2049501" y="2276872"/>
            <a:ext cx="7920880" cy="1220754"/>
          </a:xfrm>
          <a:prstGeom prst="rect">
            <a:avLst/>
          </a:prstGeom>
          <a:noFill/>
          <a:ln>
            <a:noFill/>
            <a:miter lim="800000"/>
            <a:headEnd/>
            <a:tailEnd/>
          </a:ln>
        </p:spPr>
        <p:txBody>
          <a:bodyPr spcFirstLastPara="1" vert="horz" wrap="square" lIns="91440" tIns="45720" rIns="91440" bIns="45720" numCol="1"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marL="87313" indent="-87313" algn="ctr"/>
            <a:r>
              <a:rPr lang="es-ES" sz="2800" b="0" dirty="0">
                <a:solidFill>
                  <a:srgbClr val="700000"/>
                </a:solidFill>
                <a:latin typeface="+mn-lt"/>
                <a:ea typeface="+mn-ea"/>
                <a:cs typeface="+mn-cs"/>
              </a:rPr>
              <a:t>Donde quiera que usted vea un negocio exitoso, alguien ha tomado una decisión valiente</a:t>
            </a:r>
            <a:r>
              <a:rPr lang="es-ES" sz="2400" b="0" dirty="0">
                <a:solidFill>
                  <a:srgbClr val="700000"/>
                </a:solidFill>
                <a:latin typeface="+mn-lt"/>
                <a:ea typeface="+mn-ea"/>
                <a:cs typeface="+mn-cs"/>
              </a:rPr>
              <a:t>.</a:t>
            </a:r>
            <a:br>
              <a:rPr lang="es-ES" sz="2400" b="0" dirty="0">
                <a:solidFill>
                  <a:srgbClr val="700000"/>
                </a:solidFill>
                <a:latin typeface="+mn-lt"/>
                <a:ea typeface="+mn-ea"/>
                <a:cs typeface="+mn-cs"/>
              </a:rPr>
            </a:br>
            <a:endParaRPr lang="es-PE" sz="2400" b="0" dirty="0">
              <a:solidFill>
                <a:srgbClr val="700000"/>
              </a:solidFill>
              <a:latin typeface="+mn-lt"/>
              <a:ea typeface="+mn-ea"/>
              <a:cs typeface="+mn-cs"/>
            </a:endParaRPr>
          </a:p>
        </p:txBody>
      </p:sp>
      <p:sp>
        <p:nvSpPr>
          <p:cNvPr id="5" name="Rectangle 2"/>
          <p:cNvSpPr txBox="1">
            <a:spLocks noChangeArrowheads="1"/>
          </p:cNvSpPr>
          <p:nvPr/>
        </p:nvSpPr>
        <p:spPr>
          <a:xfrm>
            <a:off x="6096000" y="92279"/>
            <a:ext cx="6096000" cy="8724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3200" i="1">
                <a:solidFill>
                  <a:schemeClr val="accent5">
                    <a:lumMod val="20000"/>
                    <a:lumOff val="80000"/>
                  </a:schemeClr>
                </a:solidFill>
                <a:latin typeface="Bauhaus 93" pitchFamily="82" charset="0"/>
              </a:defRPr>
            </a:lvl1pPr>
            <a:lvl2pPr algn="r" eaLnBrk="1" hangingPunct="1">
              <a:defRPr sz="2800" i="1">
                <a:latin typeface="Verdana" pitchFamily="34" charset="0"/>
              </a:defRPr>
            </a:lvl2pPr>
            <a:lvl3pPr algn="r" eaLnBrk="1" hangingPunct="1">
              <a:defRPr sz="2800" i="1">
                <a:latin typeface="Verdana" pitchFamily="34" charset="0"/>
              </a:defRPr>
            </a:lvl3pPr>
            <a:lvl4pPr algn="r" eaLnBrk="1" hangingPunct="1">
              <a:defRPr sz="2800" i="1">
                <a:latin typeface="Verdana" pitchFamily="34" charset="0"/>
              </a:defRPr>
            </a:lvl4pPr>
            <a:lvl5pPr algn="r" eaLnBrk="1" hangingPunct="1">
              <a:defRPr sz="2800" i="1">
                <a:latin typeface="Verdana" pitchFamily="34" charset="0"/>
              </a:defRPr>
            </a:lvl5pPr>
            <a:lvl6pPr marL="457200" algn="r" fontAlgn="base">
              <a:spcBef>
                <a:spcPct val="0"/>
              </a:spcBef>
              <a:spcAft>
                <a:spcPct val="0"/>
              </a:spcAft>
              <a:defRPr sz="2800" i="1">
                <a:latin typeface="Verdana" pitchFamily="34" charset="0"/>
              </a:defRPr>
            </a:lvl6pPr>
            <a:lvl7pPr marL="914400" algn="r" fontAlgn="base">
              <a:spcBef>
                <a:spcPct val="0"/>
              </a:spcBef>
              <a:spcAft>
                <a:spcPct val="0"/>
              </a:spcAft>
              <a:defRPr sz="2800" i="1">
                <a:latin typeface="Verdana" pitchFamily="34" charset="0"/>
              </a:defRPr>
            </a:lvl7pPr>
            <a:lvl8pPr marL="1371600" algn="r" fontAlgn="base">
              <a:spcBef>
                <a:spcPct val="0"/>
              </a:spcBef>
              <a:spcAft>
                <a:spcPct val="0"/>
              </a:spcAft>
              <a:defRPr sz="2800" i="1">
                <a:latin typeface="Verdana" pitchFamily="34" charset="0"/>
              </a:defRPr>
            </a:lvl8pPr>
            <a:lvl9pPr marL="1828800" algn="r" fontAlgn="base">
              <a:spcBef>
                <a:spcPct val="0"/>
              </a:spcBef>
              <a:spcAft>
                <a:spcPct val="0"/>
              </a:spcAft>
              <a:defRPr sz="2800" i="1">
                <a:latin typeface="Verdana" pitchFamily="34" charset="0"/>
              </a:defRPr>
            </a:lvl9pPr>
          </a:lstStyle>
          <a:p>
            <a:r>
              <a:rPr lang="es-MX" dirty="0">
                <a:solidFill>
                  <a:srgbClr val="FFFF00"/>
                </a:solidFill>
              </a:rPr>
              <a:t>Seamos dueños de nuestro propio destino</a:t>
            </a:r>
            <a:endParaRPr lang="es-ES" i="0" dirty="0"/>
          </a:p>
        </p:txBody>
      </p:sp>
      <p:sp>
        <p:nvSpPr>
          <p:cNvPr id="2" name="Rectángulo 1">
            <a:extLst>
              <a:ext uri="{FF2B5EF4-FFF2-40B4-BE49-F238E27FC236}">
                <a16:creationId xmlns:a16="http://schemas.microsoft.com/office/drawing/2014/main" id="{A345A401-5395-4861-90CC-1389B0CFAC65}"/>
              </a:ext>
            </a:extLst>
          </p:cNvPr>
          <p:cNvSpPr/>
          <p:nvPr/>
        </p:nvSpPr>
        <p:spPr>
          <a:xfrm>
            <a:off x="4958093" y="4125017"/>
            <a:ext cx="2275816" cy="923330"/>
          </a:xfrm>
          <a:prstGeom prst="rect">
            <a:avLst/>
          </a:prstGeom>
          <a:noFill/>
        </p:spPr>
        <p:txBody>
          <a:bodyPr wrap="none" lIns="91440" tIns="45720" rIns="91440" bIns="45720">
            <a:spAutoFit/>
          </a:bodyPr>
          <a:lstStyle/>
          <a:p>
            <a:pPr algn="ctr"/>
            <a:r>
              <a:rPr lang="es-ES" sz="5400" b="1" cap="none" spc="0" dirty="0">
                <a:ln w="22225">
                  <a:solidFill>
                    <a:schemeClr val="accent2"/>
                  </a:solidFill>
                  <a:prstDash val="solid"/>
                </a:ln>
                <a:solidFill>
                  <a:schemeClr val="accent2">
                    <a:lumMod val="40000"/>
                    <a:lumOff val="60000"/>
                  </a:schemeClr>
                </a:solidFill>
                <a:effectLst/>
              </a:rPr>
              <a:t>Gracias</a:t>
            </a:r>
          </a:p>
        </p:txBody>
      </p:sp>
      <p:pic>
        <p:nvPicPr>
          <p:cNvPr id="6" name="Picture 5" descr="004">
            <a:extLst>
              <a:ext uri="{FF2B5EF4-FFF2-40B4-BE49-F238E27FC236}">
                <a16:creationId xmlns:a16="http://schemas.microsoft.com/office/drawing/2014/main" id="{10E9D79D-8D69-43FB-8635-4B0D7576B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5506" y="3733101"/>
            <a:ext cx="2095281" cy="279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482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68" decel="100000"/>
                                        <p:tgtEl>
                                          <p:spTgt spid="4"/>
                                        </p:tgtEl>
                                      </p:cBhvr>
                                    </p:animEffect>
                                    <p:animScale>
                                      <p:cBhvr>
                                        <p:cTn id="8" dur="768" decel="100000"/>
                                        <p:tgtEl>
                                          <p:spTgt spid="4"/>
                                        </p:tgtEl>
                                      </p:cBhvr>
                                      <p:from x="10000" y="10000"/>
                                      <p:to x="200000" y="450000"/>
                                    </p:animScale>
                                    <p:animScale>
                                      <p:cBhvr>
                                        <p:cTn id="9" dur="1230" accel="100000" fill="hold">
                                          <p:stCondLst>
                                            <p:cond delay="768"/>
                                          </p:stCondLst>
                                        </p:cTn>
                                        <p:tgtEl>
                                          <p:spTgt spid="4"/>
                                        </p:tgtEl>
                                      </p:cBhvr>
                                      <p:from x="200000" y="450000"/>
                                      <p:to x="100000" y="100000"/>
                                    </p:animScale>
                                    <p:set>
                                      <p:cBhvr>
                                        <p:cTn id="10" dur="768" fill="hold"/>
                                        <p:tgtEl>
                                          <p:spTgt spid="4"/>
                                        </p:tgtEl>
                                        <p:attrNameLst>
                                          <p:attrName>ppt_x</p:attrName>
                                        </p:attrNameLst>
                                      </p:cBhvr>
                                      <p:to>
                                        <p:strVal val="(0.5)"/>
                                      </p:to>
                                    </p:set>
                                    <p:anim from="(0.5)" to="(#ppt_x)" calcmode="lin" valueType="num">
                                      <p:cBhvr>
                                        <p:cTn id="11" dur="1230" accel="100000" fill="hold">
                                          <p:stCondLst>
                                            <p:cond delay="768"/>
                                          </p:stCondLst>
                                        </p:cTn>
                                        <p:tgtEl>
                                          <p:spTgt spid="4"/>
                                        </p:tgtEl>
                                        <p:attrNameLst>
                                          <p:attrName>ppt_x</p:attrName>
                                        </p:attrNameLst>
                                      </p:cBhvr>
                                    </p:anim>
                                    <p:set>
                                      <p:cBhvr>
                                        <p:cTn id="12" dur="768" fill="hold"/>
                                        <p:tgtEl>
                                          <p:spTgt spid="4"/>
                                        </p:tgtEl>
                                        <p:attrNameLst>
                                          <p:attrName>ppt_y</p:attrName>
                                        </p:attrNameLst>
                                      </p:cBhvr>
                                      <p:to>
                                        <p:strVal val="(#ppt_y+0.4)"/>
                                      </p:to>
                                    </p:set>
                                    <p:anim from="(#ppt_y+0.4)" to="(#ppt_y)" calcmode="lin" valueType="num">
                                      <p:cBhvr>
                                        <p:cTn id="13" dur="1230" accel="100000" fill="hold">
                                          <p:stCondLst>
                                            <p:cond delay="768"/>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4879</TotalTime>
  <Words>4698</Words>
  <Application>Microsoft Office PowerPoint</Application>
  <PresentationFormat>Panorámica</PresentationFormat>
  <Paragraphs>2238</Paragraphs>
  <Slides>32</Slides>
  <Notes>9</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32</vt:i4>
      </vt:variant>
    </vt:vector>
  </HeadingPairs>
  <TitlesOfParts>
    <vt:vector size="44" baseType="lpstr">
      <vt:lpstr>Arial</vt:lpstr>
      <vt:lpstr>Arial Black</vt:lpstr>
      <vt:lpstr>Arial Narrow</vt:lpstr>
      <vt:lpstr>Bauhaus 93</vt:lpstr>
      <vt:lpstr>Bodoni MT Black</vt:lpstr>
      <vt:lpstr>Calibri</vt:lpstr>
      <vt:lpstr>Calibri Light</vt:lpstr>
      <vt:lpstr>Lexend Deca</vt:lpstr>
      <vt:lpstr>Signika</vt:lpstr>
      <vt:lpstr>Tahoma</vt:lpstr>
      <vt:lpstr>Wingdings</vt:lpstr>
      <vt:lpstr>Tema de Office</vt:lpstr>
      <vt:lpstr>Presentación de PowerPoint</vt:lpstr>
      <vt:lpstr>PROBLEMAS DE ASIGNACIÓN</vt:lpstr>
      <vt:lpstr>Presentación de PowerPoint</vt:lpstr>
      <vt:lpstr>Presentación de PowerPoint</vt:lpstr>
      <vt:lpstr>Presentación de PowerPoint</vt:lpstr>
      <vt:lpstr>Presentación de PowerPoint</vt:lpstr>
      <vt:lpstr>Presentación de PowerPoint</vt:lpstr>
      <vt:lpstr>Problema N°1</vt:lpstr>
      <vt:lpstr>Lindo</vt:lpstr>
      <vt:lpstr>Método Húngaro</vt:lpstr>
      <vt:lpstr>Problema N°1</vt:lpstr>
      <vt:lpstr>Problema N°2</vt:lpstr>
      <vt:lpstr>Problema 3</vt:lpstr>
      <vt:lpstr>Problema N°4</vt:lpstr>
      <vt:lpstr>PROBLEMA N°5</vt:lpstr>
      <vt:lpstr>Modelo Matemático</vt:lpstr>
      <vt:lpstr>Método Húngaro</vt:lpstr>
      <vt:lpstr>Solución</vt:lpstr>
      <vt:lpstr>Solución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ANIVAL ALFREDO TORRE CAMONES</dc:creator>
  <cp:lastModifiedBy>ANIVAL ALFREDO TORRE CAMONES</cp:lastModifiedBy>
  <cp:revision>299</cp:revision>
  <dcterms:created xsi:type="dcterms:W3CDTF">2021-09-08T13:14:39Z</dcterms:created>
  <dcterms:modified xsi:type="dcterms:W3CDTF">2026-08-16T17:32:33Z</dcterms:modified>
</cp:coreProperties>
</file>
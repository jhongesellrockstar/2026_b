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481" r:id="rId2"/>
    <p:sldId id="384" r:id="rId3"/>
    <p:sldId id="304" r:id="rId4"/>
    <p:sldId id="413" r:id="rId5"/>
    <p:sldId id="389" r:id="rId6"/>
    <p:sldId id="302" r:id="rId7"/>
    <p:sldId id="306" r:id="rId8"/>
    <p:sldId id="344" r:id="rId9"/>
    <p:sldId id="312" r:id="rId10"/>
    <p:sldId id="371" r:id="rId11"/>
    <p:sldId id="317" r:id="rId12"/>
    <p:sldId id="318" r:id="rId13"/>
    <p:sldId id="412" r:id="rId14"/>
    <p:sldId id="323" r:id="rId15"/>
    <p:sldId id="324" r:id="rId16"/>
    <p:sldId id="336" r:id="rId17"/>
    <p:sldId id="372" r:id="rId18"/>
    <p:sldId id="357" r:id="rId19"/>
    <p:sldId id="378" r:id="rId20"/>
    <p:sldId id="374" r:id="rId21"/>
    <p:sldId id="376" r:id="rId22"/>
    <p:sldId id="401" r:id="rId23"/>
    <p:sldId id="402" r:id="rId24"/>
    <p:sldId id="403" r:id="rId25"/>
    <p:sldId id="404" r:id="rId26"/>
    <p:sldId id="405" r:id="rId27"/>
    <p:sldId id="406" r:id="rId28"/>
    <p:sldId id="407" r:id="rId29"/>
    <p:sldId id="408" r:id="rId30"/>
    <p:sldId id="327" r:id="rId31"/>
    <p:sldId id="394" r:id="rId32"/>
    <p:sldId id="395" r:id="rId33"/>
    <p:sldId id="316" r:id="rId34"/>
    <p:sldId id="320" r:id="rId35"/>
    <p:sldId id="398" r:id="rId36"/>
    <p:sldId id="332" r:id="rId37"/>
    <p:sldId id="360" r:id="rId38"/>
    <p:sldId id="362" r:id="rId39"/>
    <p:sldId id="363" r:id="rId40"/>
    <p:sldId id="399" r:id="rId41"/>
    <p:sldId id="280" r:id="rId4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59" d="100"/>
          <a:sy n="159" d="100"/>
        </p:scale>
        <p:origin x="300" y="132"/>
      </p:cViewPr>
      <p:guideLst>
        <p:guide orient="horz" pos="2160"/>
        <p:guide pos="3840"/>
      </p:guideLst>
    </p:cSldViewPr>
  </p:slideViewPr>
  <p:notesTextViewPr>
    <p:cViewPr>
      <p:scale>
        <a:sx n="1" d="1"/>
        <a:sy n="1" d="1"/>
      </p:scale>
      <p:origin x="0" y="0"/>
    </p:cViewPr>
  </p:notesTextViewPr>
  <p:sorterViewPr>
    <p:cViewPr varScale="1">
      <p:scale>
        <a:sx n="1" d="1"/>
        <a:sy n="1" d="1"/>
      </p:scale>
      <p:origin x="0" y="-11772"/>
    </p:cViewPr>
  </p:sorterViewPr>
  <p:notesViewPr>
    <p:cSldViewPr snapToGrid="0">
      <p:cViewPr varScale="1">
        <p:scale>
          <a:sx n="87" d="100"/>
          <a:sy n="87" d="100"/>
        </p:scale>
        <p:origin x="3840"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1725F1-0D6D-4941-938F-B4C145BB443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AFA81394-7113-4E09-B429-F859492FD6A0}">
      <dgm:prSet custT="1"/>
      <dgm:spPr>
        <a:solidFill>
          <a:schemeClr val="accent4">
            <a:lumMod val="50000"/>
          </a:schemeClr>
        </a:solidFill>
      </dgm:spPr>
      <dgm:t>
        <a:bodyPr/>
        <a:lstStyle/>
        <a:p>
          <a:pPr algn="ctr" rtl="0"/>
          <a:r>
            <a:rPr lang="es-MX" sz="2800" dirty="0"/>
            <a:t>RESPUESTA</a:t>
          </a:r>
        </a:p>
        <a:p>
          <a:pPr algn="ctr" rtl="0"/>
          <a:r>
            <a:rPr lang="es-MX" sz="2800" dirty="0"/>
            <a:t>A=3    B=6     Z=390</a:t>
          </a:r>
        </a:p>
      </dgm:t>
    </dgm:pt>
    <dgm:pt modelId="{64CA4187-5F07-4FF5-BB6B-6A0B7E89DCF5}" type="parTrans" cxnId="{68325C2C-8033-4DC6-95F3-376018BF7489}">
      <dgm:prSet/>
      <dgm:spPr/>
      <dgm:t>
        <a:bodyPr/>
        <a:lstStyle/>
        <a:p>
          <a:endParaRPr lang="es-PE" sz="1600"/>
        </a:p>
      </dgm:t>
    </dgm:pt>
    <dgm:pt modelId="{B8EB2219-1A2E-4940-8093-CD819089D421}" type="sibTrans" cxnId="{68325C2C-8033-4DC6-95F3-376018BF7489}">
      <dgm:prSet/>
      <dgm:spPr/>
      <dgm:t>
        <a:bodyPr/>
        <a:lstStyle/>
        <a:p>
          <a:endParaRPr lang="es-PE" sz="1600"/>
        </a:p>
      </dgm:t>
    </dgm:pt>
    <dgm:pt modelId="{62A909DD-ED51-446D-B8D7-8896484A9238}" type="pres">
      <dgm:prSet presAssocID="{AC1725F1-0D6D-4941-938F-B4C145BB4432}" presName="linear" presStyleCnt="0">
        <dgm:presLayoutVars>
          <dgm:animLvl val="lvl"/>
          <dgm:resizeHandles val="exact"/>
        </dgm:presLayoutVars>
      </dgm:prSet>
      <dgm:spPr/>
    </dgm:pt>
    <dgm:pt modelId="{C1187814-C5DF-4C3F-B7A1-CE884366F5B8}" type="pres">
      <dgm:prSet presAssocID="{AFA81394-7113-4E09-B429-F859492FD6A0}" presName="parentText" presStyleLbl="node1" presStyleIdx="0" presStyleCnt="1" custScaleY="224395" custLinFactY="-5183" custLinFactNeighborX="5218" custLinFactNeighborY="-100000">
        <dgm:presLayoutVars>
          <dgm:chMax val="0"/>
          <dgm:bulletEnabled val="1"/>
        </dgm:presLayoutVars>
      </dgm:prSet>
      <dgm:spPr/>
    </dgm:pt>
  </dgm:ptLst>
  <dgm:cxnLst>
    <dgm:cxn modelId="{68325C2C-8033-4DC6-95F3-376018BF7489}" srcId="{AC1725F1-0D6D-4941-938F-B4C145BB4432}" destId="{AFA81394-7113-4E09-B429-F859492FD6A0}" srcOrd="0" destOrd="0" parTransId="{64CA4187-5F07-4FF5-BB6B-6A0B7E89DCF5}" sibTransId="{B8EB2219-1A2E-4940-8093-CD819089D421}"/>
    <dgm:cxn modelId="{9D50E59B-4399-47B6-BBC4-100D7FFAA818}" type="presOf" srcId="{AFA81394-7113-4E09-B429-F859492FD6A0}" destId="{C1187814-C5DF-4C3F-B7A1-CE884366F5B8}" srcOrd="0" destOrd="0" presId="urn:microsoft.com/office/officeart/2005/8/layout/vList2"/>
    <dgm:cxn modelId="{117097ED-4526-4228-B490-2E456D179DA6}" type="presOf" srcId="{AC1725F1-0D6D-4941-938F-B4C145BB4432}" destId="{62A909DD-ED51-446D-B8D7-8896484A9238}" srcOrd="0" destOrd="0" presId="urn:microsoft.com/office/officeart/2005/8/layout/vList2"/>
    <dgm:cxn modelId="{6129F09E-F506-4BE2-A972-5BD7CF00CAB4}" type="presParOf" srcId="{62A909DD-ED51-446D-B8D7-8896484A9238}" destId="{C1187814-C5DF-4C3F-B7A1-CE884366F5B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8E1CCC8-601A-4EE5-B8D6-A73C1F7BF67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2E71A164-92CD-4061-B54B-B4DF8C682D71}">
      <dgm:prSet custT="1"/>
      <dgm:spPr>
        <a:solidFill>
          <a:schemeClr val="accent1">
            <a:lumMod val="60000"/>
            <a:lumOff val="40000"/>
          </a:schemeClr>
        </a:solidFill>
      </dgm:spPr>
      <dgm:t>
        <a:bodyPr/>
        <a:lstStyle/>
        <a:p>
          <a:pPr rtl="0"/>
          <a:r>
            <a:rPr lang="es-PE" sz="1800" b="1" dirty="0">
              <a:solidFill>
                <a:schemeClr val="tx1"/>
              </a:solidFill>
              <a:latin typeface="Arial Narrow" pitchFamily="34" charset="0"/>
            </a:rPr>
            <a:t>MAX   -</a:t>
          </a:r>
          <a:r>
            <a:rPr lang="es-PE" sz="1800" b="1" dirty="0" err="1">
              <a:solidFill>
                <a:schemeClr val="tx1"/>
              </a:solidFill>
              <a:latin typeface="Arial Narrow" pitchFamily="34" charset="0"/>
            </a:rPr>
            <a:t>2X1</a:t>
          </a:r>
          <a:r>
            <a:rPr lang="es-PE" sz="1800" b="1" dirty="0">
              <a:solidFill>
                <a:schemeClr val="tx1"/>
              </a:solidFill>
              <a:latin typeface="Arial Narrow" pitchFamily="34" charset="0"/>
            </a:rPr>
            <a:t>  +  </a:t>
          </a:r>
          <a:r>
            <a:rPr lang="es-PE" sz="1800" b="1" dirty="0" err="1">
              <a:solidFill>
                <a:schemeClr val="tx1"/>
              </a:solidFill>
              <a:latin typeface="Arial Narrow" pitchFamily="34" charset="0"/>
            </a:rPr>
            <a:t>3X2</a:t>
          </a:r>
          <a:endParaRPr lang="es-PE" sz="1800" b="1" dirty="0">
            <a:solidFill>
              <a:schemeClr val="tx1"/>
            </a:solidFill>
            <a:latin typeface="Arial Narrow" pitchFamily="34" charset="0"/>
          </a:endParaRPr>
        </a:p>
        <a:p>
          <a:r>
            <a:rPr lang="es-PE" sz="1800" b="1" dirty="0" err="1">
              <a:solidFill>
                <a:schemeClr val="tx1"/>
              </a:solidFill>
              <a:latin typeface="Arial Narrow" pitchFamily="34" charset="0"/>
            </a:rPr>
            <a:t>ST</a:t>
          </a:r>
          <a:endParaRPr lang="es-PE" sz="1800" b="1" dirty="0">
            <a:solidFill>
              <a:schemeClr val="tx1"/>
            </a:solidFill>
            <a:latin typeface="Arial Narrow" pitchFamily="34" charset="0"/>
          </a:endParaRPr>
        </a:p>
        <a:p>
          <a:r>
            <a:rPr lang="es-PE" sz="1800" b="1" dirty="0" err="1">
              <a:solidFill>
                <a:schemeClr val="tx1"/>
              </a:solidFill>
              <a:latin typeface="Arial Narrow" pitchFamily="34" charset="0"/>
            </a:rPr>
            <a:t>7X1</a:t>
          </a:r>
          <a:r>
            <a:rPr lang="es-PE" sz="1800" b="1" dirty="0">
              <a:solidFill>
                <a:schemeClr val="tx1"/>
              </a:solidFill>
              <a:latin typeface="Arial Narrow" pitchFamily="34" charset="0"/>
            </a:rPr>
            <a:t> + </a:t>
          </a:r>
          <a:r>
            <a:rPr lang="es-PE" sz="1800" b="1" dirty="0" err="1">
              <a:solidFill>
                <a:schemeClr val="tx1"/>
              </a:solidFill>
              <a:latin typeface="Arial Narrow" pitchFamily="34" charset="0"/>
            </a:rPr>
            <a:t>24X2</a:t>
          </a:r>
          <a:r>
            <a:rPr lang="es-PE" sz="1800" b="1" dirty="0">
              <a:solidFill>
                <a:schemeClr val="tx1"/>
              </a:solidFill>
              <a:latin typeface="Arial Narrow" pitchFamily="34" charset="0"/>
            </a:rPr>
            <a:t> &lt;= 45</a:t>
          </a:r>
        </a:p>
        <a:p>
          <a:r>
            <a:rPr lang="es-PE" sz="1800" b="1" dirty="0">
              <a:solidFill>
                <a:schemeClr val="tx1"/>
              </a:solidFill>
              <a:latin typeface="Arial Narrow" pitchFamily="34" charset="0"/>
            </a:rPr>
            <a:t>-</a:t>
          </a:r>
          <a:r>
            <a:rPr lang="es-PE" sz="1800" b="1" dirty="0" err="1">
              <a:solidFill>
                <a:schemeClr val="tx1"/>
              </a:solidFill>
              <a:latin typeface="Arial Narrow" pitchFamily="34" charset="0"/>
            </a:rPr>
            <a:t>X1</a:t>
          </a:r>
          <a:r>
            <a:rPr lang="es-PE" sz="1800" b="1" dirty="0">
              <a:solidFill>
                <a:schemeClr val="tx1"/>
              </a:solidFill>
              <a:latin typeface="Arial Narrow" pitchFamily="34" charset="0"/>
            </a:rPr>
            <a:t>  + </a:t>
          </a:r>
          <a:r>
            <a:rPr lang="es-PE" sz="1800" b="1" dirty="0" err="1">
              <a:solidFill>
                <a:schemeClr val="tx1"/>
              </a:solidFill>
              <a:latin typeface="Arial Narrow" pitchFamily="34" charset="0"/>
            </a:rPr>
            <a:t>4X2</a:t>
          </a:r>
          <a:r>
            <a:rPr lang="es-PE" sz="1800" b="1" dirty="0">
              <a:solidFill>
                <a:schemeClr val="tx1"/>
              </a:solidFill>
              <a:latin typeface="Arial Narrow" pitchFamily="34" charset="0"/>
            </a:rPr>
            <a:t> &gt;=  5  </a:t>
          </a:r>
        </a:p>
        <a:p>
          <a:r>
            <a:rPr lang="es-PE" sz="1800" b="1" dirty="0" err="1">
              <a:solidFill>
                <a:schemeClr val="tx1"/>
              </a:solidFill>
              <a:latin typeface="Arial Narrow" pitchFamily="34" charset="0"/>
            </a:rPr>
            <a:t>END</a:t>
          </a:r>
          <a:endParaRPr lang="es-PE" sz="1800" b="1" dirty="0">
            <a:solidFill>
              <a:schemeClr val="tx1"/>
            </a:solidFill>
            <a:latin typeface="Arial Narrow" pitchFamily="34" charset="0"/>
          </a:endParaRPr>
        </a:p>
        <a:p>
          <a:r>
            <a:rPr lang="es-PE" sz="1800" b="1" dirty="0" err="1">
              <a:solidFill>
                <a:schemeClr val="tx1"/>
              </a:solidFill>
              <a:latin typeface="Arial Narrow" pitchFamily="34" charset="0"/>
            </a:rPr>
            <a:t>GIN</a:t>
          </a:r>
          <a:r>
            <a:rPr lang="es-PE" sz="1800" b="1" dirty="0">
              <a:solidFill>
                <a:schemeClr val="tx1"/>
              </a:solidFill>
              <a:latin typeface="Arial Narrow" pitchFamily="34" charset="0"/>
            </a:rPr>
            <a:t> </a:t>
          </a:r>
          <a:r>
            <a:rPr lang="es-PE" sz="1800" b="1" dirty="0" err="1">
              <a:solidFill>
                <a:schemeClr val="tx1"/>
              </a:solidFill>
              <a:latin typeface="Arial Narrow" pitchFamily="34" charset="0"/>
            </a:rPr>
            <a:t>X1</a:t>
          </a:r>
          <a:endParaRPr lang="es-PE" sz="1800" b="1" dirty="0">
            <a:solidFill>
              <a:schemeClr val="tx1"/>
            </a:solidFill>
            <a:latin typeface="Arial Narrow" pitchFamily="34" charset="0"/>
          </a:endParaRPr>
        </a:p>
        <a:p>
          <a:r>
            <a:rPr lang="es-PE" sz="1800" b="1" dirty="0" err="1">
              <a:solidFill>
                <a:schemeClr val="tx1"/>
              </a:solidFill>
              <a:latin typeface="Arial Narrow" pitchFamily="34" charset="0"/>
            </a:rPr>
            <a:t>GIN</a:t>
          </a:r>
          <a:r>
            <a:rPr lang="es-PE" sz="1800" b="1" dirty="0">
              <a:solidFill>
                <a:schemeClr val="tx1"/>
              </a:solidFill>
              <a:latin typeface="Arial Narrow" pitchFamily="34" charset="0"/>
            </a:rPr>
            <a:t> </a:t>
          </a:r>
          <a:r>
            <a:rPr lang="es-PE" sz="1800" b="1" dirty="0" err="1">
              <a:solidFill>
                <a:schemeClr val="tx1"/>
              </a:solidFill>
              <a:latin typeface="Arial Narrow" pitchFamily="34" charset="0"/>
            </a:rPr>
            <a:t>X2</a:t>
          </a:r>
          <a:endParaRPr lang="es-PE" sz="1800" b="1" dirty="0">
            <a:solidFill>
              <a:schemeClr val="tx1"/>
            </a:solidFill>
            <a:latin typeface="Arial Narrow" pitchFamily="34" charset="0"/>
          </a:endParaRPr>
        </a:p>
      </dgm:t>
    </dgm:pt>
    <dgm:pt modelId="{82FD3480-A247-4C16-8105-CFA7D7147C05}" type="parTrans" cxnId="{EE395E7E-4593-4284-90E5-AD02C837DADB}">
      <dgm:prSet/>
      <dgm:spPr/>
      <dgm:t>
        <a:bodyPr/>
        <a:lstStyle/>
        <a:p>
          <a:endParaRPr lang="es-PE" sz="1800">
            <a:solidFill>
              <a:srgbClr val="FF0000"/>
            </a:solidFill>
          </a:endParaRPr>
        </a:p>
      </dgm:t>
    </dgm:pt>
    <dgm:pt modelId="{5BDD781A-2A76-4E2B-B9AF-1A1711C23270}" type="sibTrans" cxnId="{EE395E7E-4593-4284-90E5-AD02C837DADB}">
      <dgm:prSet/>
      <dgm:spPr/>
      <dgm:t>
        <a:bodyPr/>
        <a:lstStyle/>
        <a:p>
          <a:endParaRPr lang="es-PE" sz="1800">
            <a:solidFill>
              <a:srgbClr val="FF0000"/>
            </a:solidFill>
          </a:endParaRPr>
        </a:p>
      </dgm:t>
    </dgm:pt>
    <dgm:pt modelId="{AFEFAB4F-D43C-4AC8-B2AB-FB6FC68FC736}" type="pres">
      <dgm:prSet presAssocID="{98E1CCC8-601A-4EE5-B8D6-A73C1F7BF67A}" presName="linear" presStyleCnt="0">
        <dgm:presLayoutVars>
          <dgm:animLvl val="lvl"/>
          <dgm:resizeHandles val="exact"/>
        </dgm:presLayoutVars>
      </dgm:prSet>
      <dgm:spPr/>
    </dgm:pt>
    <dgm:pt modelId="{CCE99B1B-7CA8-4D43-9340-567AE1A9DFF8}" type="pres">
      <dgm:prSet presAssocID="{2E71A164-92CD-4061-B54B-B4DF8C682D71}" presName="parentText" presStyleLbl="node1" presStyleIdx="0" presStyleCnt="1" custScaleY="281988" custLinFactNeighborY="-85570">
        <dgm:presLayoutVars>
          <dgm:chMax val="0"/>
          <dgm:bulletEnabled val="1"/>
        </dgm:presLayoutVars>
      </dgm:prSet>
      <dgm:spPr/>
    </dgm:pt>
  </dgm:ptLst>
  <dgm:cxnLst>
    <dgm:cxn modelId="{EE395E7E-4593-4284-90E5-AD02C837DADB}" srcId="{98E1CCC8-601A-4EE5-B8D6-A73C1F7BF67A}" destId="{2E71A164-92CD-4061-B54B-B4DF8C682D71}" srcOrd="0" destOrd="0" parTransId="{82FD3480-A247-4C16-8105-CFA7D7147C05}" sibTransId="{5BDD781A-2A76-4E2B-B9AF-1A1711C23270}"/>
    <dgm:cxn modelId="{3E1D69CE-CCEC-4CD5-96BA-74E4CBDCFFEB}" type="presOf" srcId="{2E71A164-92CD-4061-B54B-B4DF8C682D71}" destId="{CCE99B1B-7CA8-4D43-9340-567AE1A9DFF8}" srcOrd="0" destOrd="0" presId="urn:microsoft.com/office/officeart/2005/8/layout/vList2"/>
    <dgm:cxn modelId="{01300EFC-9F77-488A-A054-A02EFEA8653B}" type="presOf" srcId="{98E1CCC8-601A-4EE5-B8D6-A73C1F7BF67A}" destId="{AFEFAB4F-D43C-4AC8-B2AB-FB6FC68FC736}" srcOrd="0" destOrd="0" presId="urn:microsoft.com/office/officeart/2005/8/layout/vList2"/>
    <dgm:cxn modelId="{486B088F-C310-49B0-8F65-18FE503DAE72}" type="presParOf" srcId="{AFEFAB4F-D43C-4AC8-B2AB-FB6FC68FC736}" destId="{CCE99B1B-7CA8-4D43-9340-567AE1A9DFF8}" srcOrd="0"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91DE33A-AB70-4BEB-AA6C-579CD5211F9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2029D584-DA0D-42D7-8A58-46256B6EC1D0}">
      <dgm:prSet custT="1"/>
      <dgm:spPr>
        <a:solidFill>
          <a:srgbClr val="3E8853">
            <a:lumMod val="40000"/>
            <a:lumOff val="60000"/>
          </a:srgbClr>
        </a:solidFill>
        <a:ln w="12700" cap="flat" cmpd="sng" algn="ctr">
          <a:solidFill>
            <a:prstClr val="white">
              <a:hueOff val="0"/>
              <a:satOff val="0"/>
              <a:lumOff val="0"/>
              <a:alphaOff val="0"/>
            </a:prstClr>
          </a:solidFill>
          <a:prstDash val="solid"/>
          <a:miter lim="800000"/>
        </a:ln>
        <a:effectLst/>
      </dgm:spPr>
      <dgm:t>
        <a:bodyPr spcFirstLastPara="0" vert="horz" wrap="square" lIns="76200" tIns="76200" rIns="76200" bIns="76200" numCol="1" spcCol="1270" anchor="ctr" anchorCtr="0"/>
        <a:lstStyle/>
        <a:p>
          <a:pPr rtl="0">
            <a:lnSpc>
              <a:spcPct val="100000"/>
            </a:lnSpc>
            <a:spcBef>
              <a:spcPts val="0"/>
            </a:spcBef>
            <a:spcAft>
              <a:spcPts val="0"/>
            </a:spcAft>
          </a:pPr>
          <a:r>
            <a:rPr lang="es-PE" sz="2000" b="1" kern="1200" dirty="0">
              <a:solidFill>
                <a:prstClr val="black"/>
              </a:solidFill>
              <a:latin typeface="Arial Narrow" pitchFamily="34" charset="0"/>
              <a:ea typeface="+mn-ea"/>
              <a:cs typeface="+mn-cs"/>
            </a:rPr>
            <a:t>MAX   </a:t>
          </a:r>
          <a:r>
            <a:rPr lang="es-PE" sz="2000" b="1" kern="1200" dirty="0" err="1">
              <a:solidFill>
                <a:prstClr val="black"/>
              </a:solidFill>
              <a:latin typeface="Arial Narrow" pitchFamily="34" charset="0"/>
              <a:ea typeface="+mn-ea"/>
              <a:cs typeface="+mn-cs"/>
            </a:rPr>
            <a:t>12X1</a:t>
          </a:r>
          <a:r>
            <a:rPr lang="es-PE" sz="2000" b="1" kern="1200" dirty="0">
              <a:solidFill>
                <a:prstClr val="black"/>
              </a:solidFill>
              <a:latin typeface="Arial Narrow" pitchFamily="34" charset="0"/>
              <a:ea typeface="+mn-ea"/>
              <a:cs typeface="+mn-cs"/>
            </a:rPr>
            <a:t>     +   </a:t>
          </a:r>
          <a:r>
            <a:rPr lang="es-PE" sz="2000" b="1" kern="1200" dirty="0" err="1">
              <a:solidFill>
                <a:prstClr val="black"/>
              </a:solidFill>
              <a:latin typeface="Arial Narrow" pitchFamily="34" charset="0"/>
              <a:ea typeface="+mn-ea"/>
              <a:cs typeface="+mn-cs"/>
            </a:rPr>
            <a:t>4X2</a:t>
          </a:r>
          <a:endParaRPr lang="es-PE" sz="2000" b="1" kern="1200" dirty="0">
            <a:solidFill>
              <a:prstClr val="black"/>
            </a:solidFill>
            <a:latin typeface="Arial Narrow" pitchFamily="34" charset="0"/>
            <a:ea typeface="+mn-ea"/>
            <a:cs typeface="+mn-cs"/>
          </a:endParaRPr>
        </a:p>
        <a:p>
          <a:pPr rtl="0">
            <a:lnSpc>
              <a:spcPct val="100000"/>
            </a:lnSpc>
            <a:spcBef>
              <a:spcPts val="0"/>
            </a:spcBef>
            <a:spcAft>
              <a:spcPts val="0"/>
            </a:spcAft>
          </a:pPr>
          <a:r>
            <a:rPr lang="es-ES" sz="2000" b="1" kern="1200" dirty="0" err="1">
              <a:solidFill>
                <a:prstClr val="black"/>
              </a:solidFill>
              <a:latin typeface="Arial Narrow" pitchFamily="34" charset="0"/>
              <a:ea typeface="+mn-ea"/>
              <a:cs typeface="+mn-cs"/>
            </a:rPr>
            <a:t>ST</a:t>
          </a:r>
          <a:endParaRPr lang="es-ES" sz="2000" b="1" kern="1200" dirty="0">
            <a:solidFill>
              <a:prstClr val="black"/>
            </a:solidFill>
            <a:latin typeface="Arial Narrow" pitchFamily="34" charset="0"/>
            <a:ea typeface="+mn-ea"/>
            <a:cs typeface="+mn-cs"/>
          </a:endParaRPr>
        </a:p>
        <a:p>
          <a:pPr rtl="0">
            <a:lnSpc>
              <a:spcPct val="100000"/>
            </a:lnSpc>
            <a:spcBef>
              <a:spcPts val="0"/>
            </a:spcBef>
            <a:spcAft>
              <a:spcPts val="0"/>
            </a:spcAft>
          </a:pPr>
          <a:r>
            <a:rPr lang="es-MX" sz="2000" b="1" kern="1200" dirty="0" err="1">
              <a:solidFill>
                <a:prstClr val="black"/>
              </a:solidFill>
              <a:latin typeface="Arial Narrow" pitchFamily="34" charset="0"/>
              <a:ea typeface="+mn-ea"/>
              <a:cs typeface="+mn-cs"/>
            </a:rPr>
            <a:t>30X1</a:t>
          </a:r>
          <a:r>
            <a:rPr lang="es-MX" sz="2000" b="1" kern="1200" dirty="0">
              <a:solidFill>
                <a:prstClr val="black"/>
              </a:solidFill>
              <a:latin typeface="Arial Narrow" pitchFamily="34" charset="0"/>
              <a:ea typeface="+mn-ea"/>
              <a:cs typeface="+mn-cs"/>
            </a:rPr>
            <a:t>  +  </a:t>
          </a:r>
          <a:r>
            <a:rPr lang="es-MX" sz="2000" b="1" kern="1200" dirty="0" err="1">
              <a:solidFill>
                <a:prstClr val="black"/>
              </a:solidFill>
              <a:latin typeface="Arial Narrow" pitchFamily="34" charset="0"/>
              <a:ea typeface="+mn-ea"/>
              <a:cs typeface="+mn-cs"/>
            </a:rPr>
            <a:t>8X2</a:t>
          </a:r>
          <a:r>
            <a:rPr lang="es-MX" sz="2000" b="1" kern="1200" dirty="0">
              <a:solidFill>
                <a:prstClr val="black"/>
              </a:solidFill>
              <a:latin typeface="Arial Narrow" pitchFamily="34" charset="0"/>
              <a:ea typeface="+mn-ea"/>
              <a:cs typeface="+mn-cs"/>
            </a:rPr>
            <a:t>  &lt;= 105</a:t>
          </a:r>
        </a:p>
        <a:p>
          <a:pPr rtl="0">
            <a:lnSpc>
              <a:spcPct val="100000"/>
            </a:lnSpc>
            <a:spcBef>
              <a:spcPts val="0"/>
            </a:spcBef>
            <a:spcAft>
              <a:spcPts val="0"/>
            </a:spcAft>
          </a:pPr>
          <a:r>
            <a:rPr lang="es-MX" sz="2000" b="1" kern="1200" dirty="0" err="1">
              <a:solidFill>
                <a:prstClr val="black"/>
              </a:solidFill>
              <a:latin typeface="Arial Narrow" pitchFamily="34" charset="0"/>
              <a:ea typeface="+mn-ea"/>
              <a:cs typeface="+mn-cs"/>
            </a:rPr>
            <a:t>4X1</a:t>
          </a:r>
          <a:r>
            <a:rPr lang="es-MX" sz="2000" b="1" kern="1200" dirty="0">
              <a:solidFill>
                <a:prstClr val="black"/>
              </a:solidFill>
              <a:latin typeface="Arial Narrow" pitchFamily="34" charset="0"/>
              <a:ea typeface="+mn-ea"/>
              <a:cs typeface="+mn-cs"/>
            </a:rPr>
            <a:t>    +  </a:t>
          </a:r>
          <a:r>
            <a:rPr lang="es-MX" sz="2000" b="1" kern="1200" dirty="0" err="1">
              <a:solidFill>
                <a:prstClr val="black"/>
              </a:solidFill>
              <a:latin typeface="Arial Narrow" pitchFamily="34" charset="0"/>
              <a:ea typeface="+mn-ea"/>
              <a:cs typeface="+mn-cs"/>
            </a:rPr>
            <a:t>4X2</a:t>
          </a:r>
          <a:r>
            <a:rPr lang="es-MX" sz="2000" b="1" kern="1200" dirty="0">
              <a:solidFill>
                <a:prstClr val="black"/>
              </a:solidFill>
              <a:latin typeface="Arial Narrow" pitchFamily="34" charset="0"/>
              <a:ea typeface="+mn-ea"/>
              <a:cs typeface="+mn-cs"/>
            </a:rPr>
            <a:t>  &lt;=   21</a:t>
          </a:r>
        </a:p>
        <a:p>
          <a:pPr rtl="0">
            <a:lnSpc>
              <a:spcPct val="100000"/>
            </a:lnSpc>
            <a:spcBef>
              <a:spcPts val="0"/>
            </a:spcBef>
            <a:spcAft>
              <a:spcPts val="0"/>
            </a:spcAft>
          </a:pPr>
          <a:r>
            <a:rPr lang="es-MX" sz="2000" b="1" kern="1200" dirty="0">
              <a:solidFill>
                <a:prstClr val="black"/>
              </a:solidFill>
              <a:latin typeface="Arial Narrow" pitchFamily="34" charset="0"/>
              <a:ea typeface="+mn-ea"/>
              <a:cs typeface="+mn-cs"/>
            </a:rPr>
            <a:t>               </a:t>
          </a:r>
          <a:r>
            <a:rPr lang="es-MX" sz="2000" b="1" kern="1200" dirty="0" err="1">
              <a:solidFill>
                <a:prstClr val="black"/>
              </a:solidFill>
              <a:latin typeface="Arial Narrow" pitchFamily="34" charset="0"/>
              <a:ea typeface="+mn-ea"/>
              <a:cs typeface="+mn-cs"/>
            </a:rPr>
            <a:t>4X2</a:t>
          </a:r>
          <a:r>
            <a:rPr lang="es-MX" sz="2000" b="1" kern="1200" dirty="0">
              <a:solidFill>
                <a:prstClr val="black"/>
              </a:solidFill>
              <a:latin typeface="Arial Narrow" pitchFamily="34" charset="0"/>
              <a:ea typeface="+mn-ea"/>
              <a:cs typeface="+mn-cs"/>
            </a:rPr>
            <a:t>  &lt;=   17</a:t>
          </a:r>
        </a:p>
        <a:p>
          <a:pPr rtl="0">
            <a:lnSpc>
              <a:spcPct val="100000"/>
            </a:lnSpc>
            <a:spcBef>
              <a:spcPts val="0"/>
            </a:spcBef>
            <a:spcAft>
              <a:spcPts val="0"/>
            </a:spcAft>
          </a:pPr>
          <a:r>
            <a:rPr lang="es-PE" sz="2000" b="1" kern="1200" dirty="0" err="1">
              <a:solidFill>
                <a:prstClr val="black"/>
              </a:solidFill>
              <a:latin typeface="Arial Narrow" pitchFamily="34" charset="0"/>
              <a:ea typeface="+mn-ea"/>
              <a:cs typeface="+mn-cs"/>
            </a:rPr>
            <a:t>END</a:t>
          </a:r>
          <a:endParaRPr lang="es-PE" sz="2000" b="1" kern="1200" dirty="0">
            <a:solidFill>
              <a:prstClr val="black"/>
            </a:solidFill>
            <a:latin typeface="Arial Narrow" pitchFamily="34" charset="0"/>
            <a:ea typeface="+mn-ea"/>
            <a:cs typeface="+mn-cs"/>
          </a:endParaRPr>
        </a:p>
        <a:p>
          <a:pPr rtl="0">
            <a:lnSpc>
              <a:spcPct val="100000"/>
            </a:lnSpc>
            <a:spcBef>
              <a:spcPts val="0"/>
            </a:spcBef>
            <a:spcAft>
              <a:spcPts val="0"/>
            </a:spcAft>
          </a:pPr>
          <a:r>
            <a:rPr lang="es-PE" sz="2000" b="1" kern="1200" dirty="0" err="1">
              <a:solidFill>
                <a:prstClr val="black"/>
              </a:solidFill>
              <a:latin typeface="Arial Narrow" pitchFamily="34" charset="0"/>
              <a:ea typeface="+mn-ea"/>
              <a:cs typeface="+mn-cs"/>
            </a:rPr>
            <a:t>GIN</a:t>
          </a:r>
          <a:r>
            <a:rPr lang="es-PE" sz="2000" b="1" kern="1200" dirty="0">
              <a:solidFill>
                <a:prstClr val="black"/>
              </a:solidFill>
              <a:latin typeface="Arial Narrow" pitchFamily="34" charset="0"/>
              <a:ea typeface="+mn-ea"/>
              <a:cs typeface="+mn-cs"/>
            </a:rPr>
            <a:t> </a:t>
          </a:r>
          <a:r>
            <a:rPr lang="es-PE" sz="2000" b="1" kern="1200" dirty="0" err="1">
              <a:solidFill>
                <a:prstClr val="black"/>
              </a:solidFill>
              <a:latin typeface="Arial Narrow" pitchFamily="34" charset="0"/>
              <a:ea typeface="+mn-ea"/>
              <a:cs typeface="+mn-cs"/>
            </a:rPr>
            <a:t>X1</a:t>
          </a:r>
          <a:endParaRPr lang="es-PE" sz="2000" b="1" kern="1200" dirty="0">
            <a:solidFill>
              <a:prstClr val="black"/>
            </a:solidFill>
            <a:latin typeface="Arial Narrow" pitchFamily="34" charset="0"/>
            <a:ea typeface="+mn-ea"/>
            <a:cs typeface="+mn-cs"/>
          </a:endParaRPr>
        </a:p>
        <a:p>
          <a:pPr rtl="0">
            <a:lnSpc>
              <a:spcPct val="100000"/>
            </a:lnSpc>
            <a:spcBef>
              <a:spcPts val="0"/>
            </a:spcBef>
            <a:spcAft>
              <a:spcPts val="0"/>
            </a:spcAft>
          </a:pPr>
          <a:r>
            <a:rPr lang="es-PE" sz="2000" b="1" kern="1200" dirty="0" err="1">
              <a:solidFill>
                <a:prstClr val="black"/>
              </a:solidFill>
              <a:latin typeface="Arial Narrow" pitchFamily="34" charset="0"/>
              <a:ea typeface="+mn-ea"/>
              <a:cs typeface="+mn-cs"/>
            </a:rPr>
            <a:t>GIN</a:t>
          </a:r>
          <a:r>
            <a:rPr lang="es-PE" sz="2000" b="1" kern="1200" dirty="0">
              <a:solidFill>
                <a:prstClr val="black"/>
              </a:solidFill>
              <a:latin typeface="Arial Narrow" pitchFamily="34" charset="0"/>
              <a:ea typeface="+mn-ea"/>
              <a:cs typeface="+mn-cs"/>
            </a:rPr>
            <a:t> </a:t>
          </a:r>
          <a:r>
            <a:rPr lang="es-PE" sz="2000" b="1" kern="1200" dirty="0" err="1">
              <a:solidFill>
                <a:prstClr val="black"/>
              </a:solidFill>
              <a:latin typeface="Arial Narrow" pitchFamily="34" charset="0"/>
              <a:ea typeface="+mn-ea"/>
              <a:cs typeface="+mn-cs"/>
            </a:rPr>
            <a:t>X2</a:t>
          </a:r>
          <a:endParaRPr lang="es-PE" sz="2000" b="1" kern="1200" dirty="0">
            <a:solidFill>
              <a:prstClr val="black"/>
            </a:solidFill>
            <a:latin typeface="Arial Narrow" pitchFamily="34" charset="0"/>
            <a:ea typeface="+mn-ea"/>
            <a:cs typeface="+mn-cs"/>
          </a:endParaRPr>
        </a:p>
      </dgm:t>
    </dgm:pt>
    <dgm:pt modelId="{B0E2BA8D-F3D7-4D9E-9F6B-30FF6B9F66A1}" type="parTrans" cxnId="{37B92E7D-AC79-4602-84E3-6294B32B66A6}">
      <dgm:prSet/>
      <dgm:spPr/>
      <dgm:t>
        <a:bodyPr/>
        <a:lstStyle/>
        <a:p>
          <a:pPr>
            <a:lnSpc>
              <a:spcPct val="100000"/>
            </a:lnSpc>
            <a:spcBef>
              <a:spcPts val="0"/>
            </a:spcBef>
            <a:spcAft>
              <a:spcPts val="0"/>
            </a:spcAft>
          </a:pPr>
          <a:endParaRPr lang="es-PE" sz="2000" b="1">
            <a:solidFill>
              <a:schemeClr val="tx1"/>
            </a:solidFill>
            <a:latin typeface="Arial Narrow" pitchFamily="34" charset="0"/>
          </a:endParaRPr>
        </a:p>
      </dgm:t>
    </dgm:pt>
    <dgm:pt modelId="{CDDF76CA-853D-47BE-9E20-C56FF7043D26}" type="sibTrans" cxnId="{37B92E7D-AC79-4602-84E3-6294B32B66A6}">
      <dgm:prSet/>
      <dgm:spPr/>
      <dgm:t>
        <a:bodyPr/>
        <a:lstStyle/>
        <a:p>
          <a:pPr>
            <a:lnSpc>
              <a:spcPct val="100000"/>
            </a:lnSpc>
            <a:spcBef>
              <a:spcPts val="0"/>
            </a:spcBef>
            <a:spcAft>
              <a:spcPts val="0"/>
            </a:spcAft>
          </a:pPr>
          <a:endParaRPr lang="es-PE" sz="2000" b="1">
            <a:solidFill>
              <a:schemeClr val="tx1"/>
            </a:solidFill>
            <a:latin typeface="Arial Narrow" pitchFamily="34" charset="0"/>
          </a:endParaRPr>
        </a:p>
      </dgm:t>
    </dgm:pt>
    <dgm:pt modelId="{4F219758-F43A-4529-83AF-23561E96CB04}" type="pres">
      <dgm:prSet presAssocID="{C91DE33A-AB70-4BEB-AA6C-579CD5211F9F}" presName="linear" presStyleCnt="0">
        <dgm:presLayoutVars>
          <dgm:animLvl val="lvl"/>
          <dgm:resizeHandles val="exact"/>
        </dgm:presLayoutVars>
      </dgm:prSet>
      <dgm:spPr/>
    </dgm:pt>
    <dgm:pt modelId="{75C82268-1110-43A5-ACBC-1B38DCD97435}" type="pres">
      <dgm:prSet presAssocID="{2029D584-DA0D-42D7-8A58-46256B6EC1D0}" presName="parentText" presStyleLbl="node1" presStyleIdx="0" presStyleCnt="1" custScaleY="296749" custLinFactNeighborX="338" custLinFactNeighborY="-55">
        <dgm:presLayoutVars>
          <dgm:chMax val="0"/>
          <dgm:bulletEnabled val="1"/>
        </dgm:presLayoutVars>
      </dgm:prSet>
      <dgm:spPr>
        <a:xfrm>
          <a:off x="0" y="728"/>
          <a:ext cx="2622787" cy="2400900"/>
        </a:xfrm>
        <a:prstGeom prst="roundRect">
          <a:avLst/>
        </a:prstGeom>
      </dgm:spPr>
    </dgm:pt>
  </dgm:ptLst>
  <dgm:cxnLst>
    <dgm:cxn modelId="{4D3CFB35-9221-4BA6-8264-D5F3F29D16C5}" type="presOf" srcId="{2029D584-DA0D-42D7-8A58-46256B6EC1D0}" destId="{75C82268-1110-43A5-ACBC-1B38DCD97435}" srcOrd="0" destOrd="0" presId="urn:microsoft.com/office/officeart/2005/8/layout/vList2"/>
    <dgm:cxn modelId="{37B92E7D-AC79-4602-84E3-6294B32B66A6}" srcId="{C91DE33A-AB70-4BEB-AA6C-579CD5211F9F}" destId="{2029D584-DA0D-42D7-8A58-46256B6EC1D0}" srcOrd="0" destOrd="0" parTransId="{B0E2BA8D-F3D7-4D9E-9F6B-30FF6B9F66A1}" sibTransId="{CDDF76CA-853D-47BE-9E20-C56FF7043D26}"/>
    <dgm:cxn modelId="{B449668A-4557-47C0-86A6-7E8D21307555}" type="presOf" srcId="{C91DE33A-AB70-4BEB-AA6C-579CD5211F9F}" destId="{4F219758-F43A-4529-83AF-23561E96CB04}" srcOrd="0" destOrd="0" presId="urn:microsoft.com/office/officeart/2005/8/layout/vList2"/>
    <dgm:cxn modelId="{1B0D12D4-B146-43C9-9023-620C0CDD19D7}" type="presParOf" srcId="{4F219758-F43A-4529-83AF-23561E96CB04}" destId="{75C82268-1110-43A5-ACBC-1B38DCD97435}" srcOrd="0" destOrd="0" presId="urn:microsoft.com/office/officeart/2005/8/layout/vList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7BE38D-6E64-47FD-9ACE-518E167F6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67ECF661-7BCD-4B17-A791-FC18C61112BE}">
      <dgm:prSet custT="1"/>
      <dgm:spPr>
        <a:solidFill>
          <a:schemeClr val="accent5">
            <a:lumMod val="40000"/>
            <a:lumOff val="60000"/>
          </a:schemeClr>
        </a:solidFill>
      </dgm:spPr>
      <dgm:t>
        <a:bodyPr/>
        <a:lstStyle/>
        <a:p>
          <a:pPr rtl="0"/>
          <a:r>
            <a:rPr lang="en-US" sz="2000" b="1" dirty="0">
              <a:solidFill>
                <a:schemeClr val="tx1"/>
              </a:solidFill>
              <a:latin typeface="Arial Narrow" panose="020B0606020202030204" pitchFamily="34" charset="0"/>
            </a:rPr>
            <a:t>OBJECTIVE FUNCTION VALUE</a:t>
          </a:r>
        </a:p>
        <a:p>
          <a:pPr rtl="0"/>
          <a:r>
            <a:rPr lang="en-US" sz="2000" b="1" dirty="0">
              <a:solidFill>
                <a:schemeClr val="tx1"/>
              </a:solidFill>
              <a:latin typeface="Arial Narrow" panose="020B0606020202030204" pitchFamily="34" charset="0"/>
            </a:rPr>
            <a:t>1)      40.00000</a:t>
          </a:r>
        </a:p>
        <a:p>
          <a:pPr rtl="0"/>
          <a:r>
            <a:rPr lang="en-US" sz="1700" b="1" dirty="0">
              <a:solidFill>
                <a:schemeClr val="tx1"/>
              </a:solidFill>
              <a:latin typeface="Arial Narrow" panose="020B0606020202030204" pitchFamily="34" charset="0"/>
            </a:rPr>
            <a:t>VARIABLE VALUE  REDUCED COST</a:t>
          </a:r>
        </a:p>
        <a:p>
          <a:pPr rtl="0"/>
          <a:r>
            <a:rPr lang="en-US" sz="2000" b="1" dirty="0">
              <a:solidFill>
                <a:schemeClr val="tx1"/>
              </a:solidFill>
              <a:latin typeface="Arial Narrow" panose="020B0606020202030204" pitchFamily="34" charset="0"/>
            </a:rPr>
            <a:t>X1        	 3.000000  -12.000000</a:t>
          </a:r>
        </a:p>
        <a:p>
          <a:pPr rtl="0"/>
          <a:r>
            <a:rPr lang="en-US" sz="2000" b="1" dirty="0">
              <a:solidFill>
                <a:schemeClr val="tx1"/>
              </a:solidFill>
              <a:latin typeface="Arial Narrow" panose="020B0606020202030204" pitchFamily="34" charset="0"/>
            </a:rPr>
            <a:t>X2       	 1.000000   -4.000000</a:t>
          </a:r>
          <a:endParaRPr lang="es-PE" sz="2000" b="1" dirty="0">
            <a:solidFill>
              <a:schemeClr val="tx1"/>
            </a:solidFill>
            <a:latin typeface="Arial Narrow" panose="020B0606020202030204" pitchFamily="34" charset="0"/>
          </a:endParaRPr>
        </a:p>
      </dgm:t>
    </dgm:pt>
    <dgm:pt modelId="{55189C42-1583-4413-8EB8-79F5ADF8B346}" type="parTrans" cxnId="{764442E9-5ADF-40CA-BF64-28CDEA48E2E0}">
      <dgm:prSet/>
      <dgm:spPr/>
      <dgm:t>
        <a:bodyPr/>
        <a:lstStyle/>
        <a:p>
          <a:endParaRPr lang="es-PE" sz="1400">
            <a:latin typeface="Arial Narrow" panose="020B0606020202030204" pitchFamily="34" charset="0"/>
          </a:endParaRPr>
        </a:p>
      </dgm:t>
    </dgm:pt>
    <dgm:pt modelId="{55D72524-22DD-4131-B01D-5706C3A20302}" type="sibTrans" cxnId="{764442E9-5ADF-40CA-BF64-28CDEA48E2E0}">
      <dgm:prSet/>
      <dgm:spPr/>
      <dgm:t>
        <a:bodyPr/>
        <a:lstStyle/>
        <a:p>
          <a:endParaRPr lang="es-PE" sz="1400">
            <a:latin typeface="Arial Narrow" panose="020B0606020202030204" pitchFamily="34" charset="0"/>
          </a:endParaRPr>
        </a:p>
      </dgm:t>
    </dgm:pt>
    <dgm:pt modelId="{19ED059B-689E-4564-BE1D-4EDCDDF57D09}" type="pres">
      <dgm:prSet presAssocID="{727BE38D-6E64-47FD-9ACE-518E167F6A71}" presName="linear" presStyleCnt="0">
        <dgm:presLayoutVars>
          <dgm:animLvl val="lvl"/>
          <dgm:resizeHandles val="exact"/>
        </dgm:presLayoutVars>
      </dgm:prSet>
      <dgm:spPr/>
    </dgm:pt>
    <dgm:pt modelId="{53C88357-1788-4FE9-A445-190C6A15CAF1}" type="pres">
      <dgm:prSet presAssocID="{67ECF661-7BCD-4B17-A791-FC18C61112BE}" presName="parentText" presStyleLbl="node1" presStyleIdx="0" presStyleCnt="1" custScaleY="267476" custLinFactX="100000" custLinFactNeighborX="123779" custLinFactNeighborY="-16044">
        <dgm:presLayoutVars>
          <dgm:chMax val="0"/>
          <dgm:bulletEnabled val="1"/>
        </dgm:presLayoutVars>
      </dgm:prSet>
      <dgm:spPr/>
    </dgm:pt>
  </dgm:ptLst>
  <dgm:cxnLst>
    <dgm:cxn modelId="{4DE03F18-7629-4541-9071-97F26DF49DBC}" type="presOf" srcId="{727BE38D-6E64-47FD-9ACE-518E167F6A71}" destId="{19ED059B-689E-4564-BE1D-4EDCDDF57D09}" srcOrd="0" destOrd="0" presId="urn:microsoft.com/office/officeart/2005/8/layout/vList2"/>
    <dgm:cxn modelId="{3E7DE8B7-4ED5-4E15-BAB2-BD9012139F1E}" type="presOf" srcId="{67ECF661-7BCD-4B17-A791-FC18C61112BE}" destId="{53C88357-1788-4FE9-A445-190C6A15CAF1}" srcOrd="0" destOrd="0" presId="urn:microsoft.com/office/officeart/2005/8/layout/vList2"/>
    <dgm:cxn modelId="{764442E9-5ADF-40CA-BF64-28CDEA48E2E0}" srcId="{727BE38D-6E64-47FD-9ACE-518E167F6A71}" destId="{67ECF661-7BCD-4B17-A791-FC18C61112BE}" srcOrd="0" destOrd="0" parTransId="{55189C42-1583-4413-8EB8-79F5ADF8B346}" sibTransId="{55D72524-22DD-4131-B01D-5706C3A20302}"/>
    <dgm:cxn modelId="{A2069B0A-DABF-418B-A200-483E67D46EAF}" type="presParOf" srcId="{19ED059B-689E-4564-BE1D-4EDCDDF57D09}" destId="{53C88357-1788-4FE9-A445-190C6A15CAF1}" srcOrd="0" destOrd="0" presId="urn:microsoft.com/office/officeart/2005/8/layout/vList2"/>
  </dgm:cxnLst>
  <dgm:bg>
    <a:noFill/>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F638BA-B765-474C-BFAD-788E6F64151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FCD6DF40-A5EE-47DC-8C02-AAF15C52B86F}">
      <dgm:prSet custT="1"/>
      <dgm:spPr/>
      <dgm:t>
        <a:bodyPr/>
        <a:lstStyle/>
        <a:p>
          <a:pPr rtl="0"/>
          <a:r>
            <a:rPr lang="es-MX" sz="1800" dirty="0">
              <a:latin typeface="Arial Narrow" pitchFamily="34" charset="0"/>
            </a:rPr>
            <a:t>MAX    </a:t>
          </a:r>
          <a:r>
            <a:rPr lang="es-MX" sz="1800" dirty="0" err="1">
              <a:latin typeface="Arial Narrow" pitchFamily="34" charset="0"/>
            </a:rPr>
            <a:t>X1</a:t>
          </a:r>
          <a:r>
            <a:rPr lang="es-MX" sz="1800" baseline="-25000" dirty="0">
              <a:latin typeface="Arial Narrow" pitchFamily="34" charset="0"/>
            </a:rPr>
            <a:t>     </a:t>
          </a:r>
          <a:r>
            <a:rPr lang="es-MX" sz="1800" dirty="0">
              <a:latin typeface="Arial Narrow" pitchFamily="34" charset="0"/>
            </a:rPr>
            <a:t>-   </a:t>
          </a:r>
          <a:r>
            <a:rPr lang="es-MX" sz="1800" dirty="0" err="1">
              <a:latin typeface="Arial Narrow" pitchFamily="34" charset="0"/>
            </a:rPr>
            <a:t>X2</a:t>
          </a:r>
          <a:endParaRPr lang="es-MX" sz="1800" dirty="0">
            <a:latin typeface="Arial Narrow" pitchFamily="34" charset="0"/>
          </a:endParaRPr>
        </a:p>
        <a:p>
          <a:pPr rtl="0"/>
          <a:r>
            <a:rPr lang="es-MX" sz="1800" dirty="0" err="1">
              <a:latin typeface="Arial Narrow" pitchFamily="34" charset="0"/>
            </a:rPr>
            <a:t>ST</a:t>
          </a:r>
          <a:endParaRPr lang="es-MX" sz="1800" dirty="0">
            <a:latin typeface="Arial Narrow" pitchFamily="34" charset="0"/>
          </a:endParaRPr>
        </a:p>
        <a:p>
          <a:pPr rtl="0"/>
          <a:r>
            <a:rPr lang="es-PE" sz="1800" dirty="0" err="1">
              <a:latin typeface="Arial Narrow" pitchFamily="34" charset="0"/>
            </a:rPr>
            <a:t>2X1</a:t>
          </a:r>
          <a:r>
            <a:rPr lang="es-PE" sz="1800" dirty="0">
              <a:latin typeface="Arial Narrow" pitchFamily="34" charset="0"/>
            </a:rPr>
            <a:t> </a:t>
          </a:r>
          <a:r>
            <a:rPr lang="es-PE" sz="1800" baseline="-25000" dirty="0">
              <a:latin typeface="Arial Narrow" pitchFamily="34" charset="0"/>
            </a:rPr>
            <a:t>    </a:t>
          </a:r>
          <a:r>
            <a:rPr lang="es-PE" sz="1800" dirty="0">
              <a:latin typeface="Arial Narrow" pitchFamily="34" charset="0"/>
            </a:rPr>
            <a:t>-  </a:t>
          </a:r>
          <a:r>
            <a:rPr lang="es-PE" sz="1800" dirty="0" err="1">
              <a:latin typeface="Arial Narrow" pitchFamily="34" charset="0"/>
            </a:rPr>
            <a:t>2X2</a:t>
          </a:r>
          <a:r>
            <a:rPr lang="es-PE" sz="1800" dirty="0">
              <a:latin typeface="Arial Narrow" pitchFamily="34" charset="0"/>
            </a:rPr>
            <a:t>&lt;=  1</a:t>
          </a:r>
        </a:p>
        <a:p>
          <a:pPr rtl="0"/>
          <a:r>
            <a:rPr lang="es-PE" sz="1800" dirty="0">
              <a:latin typeface="Arial Narrow" pitchFamily="34" charset="0"/>
            </a:rPr>
            <a:t>-</a:t>
          </a:r>
          <a:r>
            <a:rPr lang="es-PE" sz="1800" dirty="0" err="1">
              <a:latin typeface="Arial Narrow" pitchFamily="34" charset="0"/>
            </a:rPr>
            <a:t>4X1</a:t>
          </a:r>
          <a:r>
            <a:rPr lang="es-PE" sz="1800" baseline="-25000" dirty="0">
              <a:latin typeface="Arial Narrow" pitchFamily="34" charset="0"/>
            </a:rPr>
            <a:t>   </a:t>
          </a:r>
          <a:r>
            <a:rPr lang="es-PE" sz="1800" dirty="0">
              <a:latin typeface="Arial Narrow" pitchFamily="34" charset="0"/>
            </a:rPr>
            <a:t>+  </a:t>
          </a:r>
          <a:r>
            <a:rPr lang="es-PE" sz="1800" dirty="0" err="1">
              <a:latin typeface="Arial Narrow" pitchFamily="34" charset="0"/>
            </a:rPr>
            <a:t>4X2</a:t>
          </a:r>
          <a:r>
            <a:rPr lang="es-PE" sz="1800" dirty="0">
              <a:latin typeface="Arial Narrow" pitchFamily="34" charset="0"/>
            </a:rPr>
            <a:t>&lt;= -1</a:t>
          </a:r>
        </a:p>
        <a:p>
          <a:pPr rtl="0"/>
          <a:r>
            <a:rPr lang="es-PE" sz="1800" dirty="0" err="1">
              <a:latin typeface="Arial Narrow" pitchFamily="34" charset="0"/>
            </a:rPr>
            <a:t>END</a:t>
          </a:r>
          <a:endParaRPr lang="es-PE" sz="1800" dirty="0">
            <a:latin typeface="Arial Narrow" pitchFamily="34" charset="0"/>
          </a:endParaRPr>
        </a:p>
        <a:p>
          <a:pPr rtl="0"/>
          <a:r>
            <a:rPr lang="es-PE" sz="1800" dirty="0" err="1">
              <a:latin typeface="Arial Narrow" pitchFamily="34" charset="0"/>
            </a:rPr>
            <a:t>GIN</a:t>
          </a:r>
          <a:r>
            <a:rPr lang="es-PE" sz="1800" dirty="0">
              <a:latin typeface="Arial Narrow" pitchFamily="34" charset="0"/>
            </a:rPr>
            <a:t> </a:t>
          </a:r>
          <a:r>
            <a:rPr lang="es-PE" sz="1800" dirty="0" err="1">
              <a:latin typeface="Arial Narrow" pitchFamily="34" charset="0"/>
            </a:rPr>
            <a:t>X1</a:t>
          </a:r>
          <a:endParaRPr lang="es-PE" sz="1800" dirty="0">
            <a:latin typeface="Arial Narrow" pitchFamily="34" charset="0"/>
          </a:endParaRPr>
        </a:p>
        <a:p>
          <a:pPr rtl="0"/>
          <a:r>
            <a:rPr lang="es-PE" sz="1800" dirty="0" err="1">
              <a:latin typeface="Arial Narrow" pitchFamily="34" charset="0"/>
            </a:rPr>
            <a:t>GIN</a:t>
          </a:r>
          <a:r>
            <a:rPr lang="es-PE" sz="1800" dirty="0">
              <a:latin typeface="Arial Narrow" pitchFamily="34" charset="0"/>
            </a:rPr>
            <a:t> </a:t>
          </a:r>
          <a:r>
            <a:rPr lang="es-PE" sz="1800" dirty="0" err="1">
              <a:latin typeface="Arial Narrow" pitchFamily="34" charset="0"/>
            </a:rPr>
            <a:t>X2</a:t>
          </a:r>
          <a:r>
            <a:rPr lang="es-PE" sz="1800" dirty="0">
              <a:latin typeface="Arial Narrow" pitchFamily="34" charset="0"/>
            </a:rPr>
            <a:t>	</a:t>
          </a:r>
        </a:p>
      </dgm:t>
    </dgm:pt>
    <dgm:pt modelId="{E16CCC89-B84F-4D40-AC49-0D0634981A03}" type="parTrans" cxnId="{374FA366-FBE6-43B7-A9AE-5FE749EE4693}">
      <dgm:prSet/>
      <dgm:spPr/>
      <dgm:t>
        <a:bodyPr/>
        <a:lstStyle/>
        <a:p>
          <a:endParaRPr lang="es-PE" sz="2400"/>
        </a:p>
      </dgm:t>
    </dgm:pt>
    <dgm:pt modelId="{365EC003-A9DE-4C3A-9870-124BFB7F9C1B}" type="sibTrans" cxnId="{374FA366-FBE6-43B7-A9AE-5FE749EE4693}">
      <dgm:prSet/>
      <dgm:spPr/>
      <dgm:t>
        <a:bodyPr/>
        <a:lstStyle/>
        <a:p>
          <a:endParaRPr lang="es-PE" sz="2400"/>
        </a:p>
      </dgm:t>
    </dgm:pt>
    <dgm:pt modelId="{04313332-7C6C-452D-B953-CFA0C2AAB6DE}" type="pres">
      <dgm:prSet presAssocID="{7EF638BA-B765-474C-BFAD-788E6F641517}" presName="linear" presStyleCnt="0">
        <dgm:presLayoutVars>
          <dgm:animLvl val="lvl"/>
          <dgm:resizeHandles val="exact"/>
        </dgm:presLayoutVars>
      </dgm:prSet>
      <dgm:spPr/>
    </dgm:pt>
    <dgm:pt modelId="{BEDF1F00-4E24-4077-8EDF-BB6DE4E18C65}" type="pres">
      <dgm:prSet presAssocID="{FCD6DF40-A5EE-47DC-8C02-AAF15C52B86F}" presName="parentText" presStyleLbl="node1" presStyleIdx="0" presStyleCnt="1" custScaleY="352031" custLinFactX="-30435" custLinFactY="-100000" custLinFactNeighborX="-100000" custLinFactNeighborY="-153769">
        <dgm:presLayoutVars>
          <dgm:chMax val="0"/>
          <dgm:bulletEnabled val="1"/>
        </dgm:presLayoutVars>
      </dgm:prSet>
      <dgm:spPr/>
    </dgm:pt>
  </dgm:ptLst>
  <dgm:cxnLst>
    <dgm:cxn modelId="{374FA366-FBE6-43B7-A9AE-5FE749EE4693}" srcId="{7EF638BA-B765-474C-BFAD-788E6F641517}" destId="{FCD6DF40-A5EE-47DC-8C02-AAF15C52B86F}" srcOrd="0" destOrd="0" parTransId="{E16CCC89-B84F-4D40-AC49-0D0634981A03}" sibTransId="{365EC003-A9DE-4C3A-9870-124BFB7F9C1B}"/>
    <dgm:cxn modelId="{BB62BD93-82D8-41A0-B126-E3DDAE8E0C93}" type="presOf" srcId="{FCD6DF40-A5EE-47DC-8C02-AAF15C52B86F}" destId="{BEDF1F00-4E24-4077-8EDF-BB6DE4E18C65}" srcOrd="0" destOrd="0" presId="urn:microsoft.com/office/officeart/2005/8/layout/vList2"/>
    <dgm:cxn modelId="{077AD9F4-7947-4AB0-AA64-E03DF8B1A445}" type="presOf" srcId="{7EF638BA-B765-474C-BFAD-788E6F641517}" destId="{04313332-7C6C-452D-B953-CFA0C2AAB6DE}" srcOrd="0" destOrd="0" presId="urn:microsoft.com/office/officeart/2005/8/layout/vList2"/>
    <dgm:cxn modelId="{8A48D46D-8A51-4A2A-8CED-406B2D43EF23}" type="presParOf" srcId="{04313332-7C6C-452D-B953-CFA0C2AAB6DE}" destId="{BEDF1F00-4E24-4077-8EDF-BB6DE4E18C65}"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22DC86-78C9-4F30-A450-4896FEF5C27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s-PE"/>
        </a:p>
      </dgm:t>
    </dgm:pt>
    <dgm:pt modelId="{C9AFC40D-37E4-44C9-B397-6242BBBFAAF1}">
      <dgm:prSet custT="1"/>
      <dgm:spPr/>
      <dgm:t>
        <a:bodyPr/>
        <a:lstStyle/>
        <a:p>
          <a:pPr algn="ctr" rtl="0"/>
          <a:r>
            <a:rPr lang="en-US" sz="1800" b="1" dirty="0"/>
            <a:t>NO INTEGER SOLUTION WAS FOUND.</a:t>
          </a:r>
          <a:endParaRPr lang="es-PE" sz="1800" b="1" dirty="0"/>
        </a:p>
      </dgm:t>
    </dgm:pt>
    <dgm:pt modelId="{18BB658B-B942-4AC3-A694-6BC6EC359B5B}" type="parTrans" cxnId="{CCFA8180-137D-4E02-BEEE-5545B5EDEE32}">
      <dgm:prSet/>
      <dgm:spPr/>
      <dgm:t>
        <a:bodyPr/>
        <a:lstStyle/>
        <a:p>
          <a:endParaRPr lang="es-PE" sz="1800"/>
        </a:p>
      </dgm:t>
    </dgm:pt>
    <dgm:pt modelId="{E41B9C96-49F5-4098-A391-BB0E029D40C2}" type="sibTrans" cxnId="{CCFA8180-137D-4E02-BEEE-5545B5EDEE32}">
      <dgm:prSet/>
      <dgm:spPr/>
      <dgm:t>
        <a:bodyPr/>
        <a:lstStyle/>
        <a:p>
          <a:endParaRPr lang="es-PE" sz="1800"/>
        </a:p>
      </dgm:t>
    </dgm:pt>
    <dgm:pt modelId="{D18B097D-4EE0-4B6A-A8F2-D19EC8488F9D}" type="pres">
      <dgm:prSet presAssocID="{5822DC86-78C9-4F30-A450-4896FEF5C27A}" presName="linear" presStyleCnt="0">
        <dgm:presLayoutVars>
          <dgm:animLvl val="lvl"/>
          <dgm:resizeHandles val="exact"/>
        </dgm:presLayoutVars>
      </dgm:prSet>
      <dgm:spPr/>
    </dgm:pt>
    <dgm:pt modelId="{610AE652-564A-4692-B5BA-ACA820D7F040}" type="pres">
      <dgm:prSet presAssocID="{C9AFC40D-37E4-44C9-B397-6242BBBFAAF1}" presName="parentText" presStyleLbl="node1" presStyleIdx="0" presStyleCnt="1" custLinFactY="-11266" custLinFactNeighborX="-7176" custLinFactNeighborY="-100000">
        <dgm:presLayoutVars>
          <dgm:chMax val="0"/>
          <dgm:bulletEnabled val="1"/>
        </dgm:presLayoutVars>
      </dgm:prSet>
      <dgm:spPr/>
    </dgm:pt>
  </dgm:ptLst>
  <dgm:cxnLst>
    <dgm:cxn modelId="{CCFA8180-137D-4E02-BEEE-5545B5EDEE32}" srcId="{5822DC86-78C9-4F30-A450-4896FEF5C27A}" destId="{C9AFC40D-37E4-44C9-B397-6242BBBFAAF1}" srcOrd="0" destOrd="0" parTransId="{18BB658B-B942-4AC3-A694-6BC6EC359B5B}" sibTransId="{E41B9C96-49F5-4098-A391-BB0E029D40C2}"/>
    <dgm:cxn modelId="{F83B8884-742C-47F0-84ED-A08F69C43EB0}" type="presOf" srcId="{C9AFC40D-37E4-44C9-B397-6242BBBFAAF1}" destId="{610AE652-564A-4692-B5BA-ACA820D7F040}" srcOrd="0" destOrd="0" presId="urn:microsoft.com/office/officeart/2005/8/layout/vList2"/>
    <dgm:cxn modelId="{985FD4DA-D9ED-4818-9323-88F676990016}" type="presOf" srcId="{5822DC86-78C9-4F30-A450-4896FEF5C27A}" destId="{D18B097D-4EE0-4B6A-A8F2-D19EC8488F9D}" srcOrd="0" destOrd="0" presId="urn:microsoft.com/office/officeart/2005/8/layout/vList2"/>
    <dgm:cxn modelId="{70E735F0-7973-44C7-9B49-F9552B74B421}" type="presParOf" srcId="{D18B097D-4EE0-4B6A-A8F2-D19EC8488F9D}" destId="{610AE652-564A-4692-B5BA-ACA820D7F040}"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1725F1-0D6D-4941-938F-B4C145BB443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PE"/>
        </a:p>
      </dgm:t>
    </dgm:pt>
    <dgm:pt modelId="{AFA81394-7113-4E09-B429-F859492FD6A0}">
      <dgm:prSet custT="1"/>
      <dgm:spPr/>
      <dgm:t>
        <a:bodyPr/>
        <a:lstStyle/>
        <a:p>
          <a:pPr algn="ctr" rtl="0"/>
          <a:r>
            <a:rPr lang="es-MX" sz="2000" dirty="0"/>
            <a:t>SOLUCIÓN OPTIMA</a:t>
          </a:r>
        </a:p>
        <a:p>
          <a:pPr algn="ctr" rtl="0"/>
          <a:r>
            <a:rPr lang="es-MX" sz="2000" dirty="0" err="1">
              <a:solidFill>
                <a:srgbClr val="FFFF00"/>
              </a:solidFill>
            </a:rPr>
            <a:t>X1</a:t>
          </a:r>
          <a:r>
            <a:rPr lang="es-MX" sz="2000" dirty="0">
              <a:solidFill>
                <a:srgbClr val="FFFF00"/>
              </a:solidFill>
            </a:rPr>
            <a:t>=4  	</a:t>
          </a:r>
          <a:r>
            <a:rPr lang="es-MX" sz="2000" dirty="0" err="1">
              <a:solidFill>
                <a:srgbClr val="FFFF00"/>
              </a:solidFill>
            </a:rPr>
            <a:t>X1</a:t>
          </a:r>
          <a:r>
            <a:rPr lang="es-MX" sz="2000" dirty="0">
              <a:solidFill>
                <a:srgbClr val="FFFF00"/>
              </a:solidFill>
            </a:rPr>
            <a:t>=4.5	</a:t>
          </a:r>
          <a:r>
            <a:rPr lang="es-MX" sz="2000" dirty="0" err="1">
              <a:solidFill>
                <a:srgbClr val="FFFF00"/>
              </a:solidFill>
            </a:rPr>
            <a:t>X1</a:t>
          </a:r>
          <a:r>
            <a:rPr lang="es-MX" sz="2000" dirty="0">
              <a:solidFill>
                <a:srgbClr val="FFFF00"/>
              </a:solidFill>
            </a:rPr>
            <a:t>=5  </a:t>
          </a:r>
        </a:p>
        <a:p>
          <a:pPr algn="ctr" rtl="0"/>
          <a:r>
            <a:rPr lang="es-MX" sz="2000" dirty="0" err="1">
              <a:solidFill>
                <a:srgbClr val="FFFF00"/>
              </a:solidFill>
            </a:rPr>
            <a:t>X2</a:t>
          </a:r>
          <a:r>
            <a:rPr lang="es-MX" sz="2000" dirty="0">
              <a:solidFill>
                <a:srgbClr val="FFFF00"/>
              </a:solidFill>
            </a:rPr>
            <a:t>=2	</a:t>
          </a:r>
          <a:r>
            <a:rPr lang="es-MX" sz="2000" dirty="0" err="1">
              <a:solidFill>
                <a:srgbClr val="FFFF00"/>
              </a:solidFill>
            </a:rPr>
            <a:t>X2</a:t>
          </a:r>
          <a:r>
            <a:rPr lang="es-MX" sz="2000" dirty="0">
              <a:solidFill>
                <a:srgbClr val="FFFF00"/>
              </a:solidFill>
            </a:rPr>
            <a:t>=1	</a:t>
          </a:r>
          <a:r>
            <a:rPr lang="es-MX" sz="2000" dirty="0" err="1">
              <a:solidFill>
                <a:srgbClr val="FFFF00"/>
              </a:solidFill>
            </a:rPr>
            <a:t>X2</a:t>
          </a:r>
          <a:r>
            <a:rPr lang="es-MX" sz="2000" dirty="0">
              <a:solidFill>
                <a:srgbClr val="FFFF00"/>
              </a:solidFill>
            </a:rPr>
            <a:t>=0</a:t>
          </a:r>
        </a:p>
        <a:p>
          <a:pPr algn="ctr" rtl="0"/>
          <a:r>
            <a:rPr lang="es-MX" sz="2000" dirty="0">
              <a:solidFill>
                <a:srgbClr val="FFFF00"/>
              </a:solidFill>
            </a:rPr>
            <a:t>Z=40  	Z=40	Z=40</a:t>
          </a:r>
          <a:endParaRPr lang="es-PE" sz="2000" dirty="0"/>
        </a:p>
      </dgm:t>
    </dgm:pt>
    <dgm:pt modelId="{64CA4187-5F07-4FF5-BB6B-6A0B7E89DCF5}" type="parTrans" cxnId="{68325C2C-8033-4DC6-95F3-376018BF7489}">
      <dgm:prSet/>
      <dgm:spPr/>
      <dgm:t>
        <a:bodyPr/>
        <a:lstStyle/>
        <a:p>
          <a:endParaRPr lang="es-PE" sz="2000"/>
        </a:p>
      </dgm:t>
    </dgm:pt>
    <dgm:pt modelId="{B8EB2219-1A2E-4940-8093-CD819089D421}" type="sibTrans" cxnId="{68325C2C-8033-4DC6-95F3-376018BF7489}">
      <dgm:prSet/>
      <dgm:spPr/>
      <dgm:t>
        <a:bodyPr/>
        <a:lstStyle/>
        <a:p>
          <a:endParaRPr lang="es-PE" sz="2000"/>
        </a:p>
      </dgm:t>
    </dgm:pt>
    <dgm:pt modelId="{62A909DD-ED51-446D-B8D7-8896484A9238}" type="pres">
      <dgm:prSet presAssocID="{AC1725F1-0D6D-4941-938F-B4C145BB4432}" presName="linear" presStyleCnt="0">
        <dgm:presLayoutVars>
          <dgm:animLvl val="lvl"/>
          <dgm:resizeHandles val="exact"/>
        </dgm:presLayoutVars>
      </dgm:prSet>
      <dgm:spPr/>
    </dgm:pt>
    <dgm:pt modelId="{C1187814-C5DF-4C3F-B7A1-CE884366F5B8}" type="pres">
      <dgm:prSet presAssocID="{AFA81394-7113-4E09-B429-F859492FD6A0}" presName="parentText" presStyleLbl="node1" presStyleIdx="0" presStyleCnt="1" custScaleY="305995">
        <dgm:presLayoutVars>
          <dgm:chMax val="0"/>
          <dgm:bulletEnabled val="1"/>
        </dgm:presLayoutVars>
      </dgm:prSet>
      <dgm:spPr/>
    </dgm:pt>
  </dgm:ptLst>
  <dgm:cxnLst>
    <dgm:cxn modelId="{68325C2C-8033-4DC6-95F3-376018BF7489}" srcId="{AC1725F1-0D6D-4941-938F-B4C145BB4432}" destId="{AFA81394-7113-4E09-B429-F859492FD6A0}" srcOrd="0" destOrd="0" parTransId="{64CA4187-5F07-4FF5-BB6B-6A0B7E89DCF5}" sibTransId="{B8EB2219-1A2E-4940-8093-CD819089D421}"/>
    <dgm:cxn modelId="{EC299A4B-4F88-432B-AC67-BCA623EF5255}" type="presOf" srcId="{AC1725F1-0D6D-4941-938F-B4C145BB4432}" destId="{62A909DD-ED51-446D-B8D7-8896484A9238}" srcOrd="0" destOrd="0" presId="urn:microsoft.com/office/officeart/2005/8/layout/vList2"/>
    <dgm:cxn modelId="{F7561E7B-C947-4CE5-A444-1F6E30B1A617}" type="presOf" srcId="{AFA81394-7113-4E09-B429-F859492FD6A0}" destId="{C1187814-C5DF-4C3F-B7A1-CE884366F5B8}" srcOrd="0" destOrd="0" presId="urn:microsoft.com/office/officeart/2005/8/layout/vList2"/>
    <dgm:cxn modelId="{EEA71EB9-E295-4EBA-985B-F1B359F5795D}" type="presParOf" srcId="{62A909DD-ED51-446D-B8D7-8896484A9238}" destId="{C1187814-C5DF-4C3F-B7A1-CE884366F5B8}"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501FAB0-86EE-40D4-B47D-B1EC52A18F2F}"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4A9BC301-4843-461A-8A8B-A0669C207EC2}">
      <dgm:prSet custT="1"/>
      <dgm:spPr/>
      <dgm:t>
        <a:bodyPr/>
        <a:lstStyle/>
        <a:p>
          <a:r>
            <a:rPr lang="es-ES" sz="2400"/>
            <a:t>Programación Entero Puro (PEP)</a:t>
          </a:r>
          <a:endParaRPr lang="es-PE" sz="2400"/>
        </a:p>
      </dgm:t>
    </dgm:pt>
    <dgm:pt modelId="{150CFE73-E2D2-46FD-92F0-BDE518A2A965}" type="parTrans" cxnId="{085035FD-354C-4D4F-8E39-C78D4B152FFF}">
      <dgm:prSet/>
      <dgm:spPr/>
      <dgm:t>
        <a:bodyPr/>
        <a:lstStyle/>
        <a:p>
          <a:endParaRPr lang="es-PE" sz="2400"/>
        </a:p>
      </dgm:t>
    </dgm:pt>
    <dgm:pt modelId="{652669F7-5191-4F22-9B1E-387AB7300035}" type="sibTrans" cxnId="{085035FD-354C-4D4F-8E39-C78D4B152FFF}">
      <dgm:prSet/>
      <dgm:spPr/>
      <dgm:t>
        <a:bodyPr/>
        <a:lstStyle/>
        <a:p>
          <a:endParaRPr lang="es-PE" sz="2400"/>
        </a:p>
      </dgm:t>
    </dgm:pt>
    <dgm:pt modelId="{2BCDFE7F-9CA1-403A-BDA2-B4FD2AC99273}">
      <dgm:prSet custT="1"/>
      <dgm:spPr/>
      <dgm:t>
        <a:bodyPr/>
        <a:lstStyle/>
        <a:p>
          <a:r>
            <a:rPr lang="es-ES" sz="2400" dirty="0"/>
            <a:t>Es un problema en el que se exige que todas las variables de decisión tengan valores enteros.</a:t>
          </a:r>
          <a:endParaRPr lang="es-PE" sz="2400" dirty="0"/>
        </a:p>
      </dgm:t>
    </dgm:pt>
    <dgm:pt modelId="{8D69F5DB-9670-4BBF-BF09-71DEADFB5724}" type="parTrans" cxnId="{E50BD6E0-16C5-405E-92F4-4620F87EACE8}">
      <dgm:prSet/>
      <dgm:spPr/>
      <dgm:t>
        <a:bodyPr/>
        <a:lstStyle/>
        <a:p>
          <a:endParaRPr lang="es-PE" sz="2400"/>
        </a:p>
      </dgm:t>
    </dgm:pt>
    <dgm:pt modelId="{03ABD994-CF5D-461C-83F5-3554F836FC2C}" type="sibTrans" cxnId="{E50BD6E0-16C5-405E-92F4-4620F87EACE8}">
      <dgm:prSet/>
      <dgm:spPr/>
      <dgm:t>
        <a:bodyPr/>
        <a:lstStyle/>
        <a:p>
          <a:endParaRPr lang="es-PE" sz="2400"/>
        </a:p>
      </dgm:t>
    </dgm:pt>
    <dgm:pt modelId="{75998D6C-242A-4772-853B-575584A5833F}" type="pres">
      <dgm:prSet presAssocID="{7501FAB0-86EE-40D4-B47D-B1EC52A18F2F}" presName="Name0" presStyleCnt="0">
        <dgm:presLayoutVars>
          <dgm:dir/>
          <dgm:animLvl val="lvl"/>
          <dgm:resizeHandles val="exact"/>
        </dgm:presLayoutVars>
      </dgm:prSet>
      <dgm:spPr/>
    </dgm:pt>
    <dgm:pt modelId="{38466F35-C404-49B1-AE98-558FDA252880}" type="pres">
      <dgm:prSet presAssocID="{4A9BC301-4843-461A-8A8B-A0669C207EC2}" presName="linNode" presStyleCnt="0"/>
      <dgm:spPr/>
    </dgm:pt>
    <dgm:pt modelId="{3DF4D673-BB44-466B-9320-8D3BB9DF0EDE}" type="pres">
      <dgm:prSet presAssocID="{4A9BC301-4843-461A-8A8B-A0669C207EC2}" presName="parentText" presStyleLbl="node1" presStyleIdx="0" presStyleCnt="1">
        <dgm:presLayoutVars>
          <dgm:chMax val="1"/>
          <dgm:bulletEnabled val="1"/>
        </dgm:presLayoutVars>
      </dgm:prSet>
      <dgm:spPr/>
    </dgm:pt>
    <dgm:pt modelId="{34F0BC99-C35F-427A-99E3-13CFB686C0E8}" type="pres">
      <dgm:prSet presAssocID="{4A9BC301-4843-461A-8A8B-A0669C207EC2}" presName="descendantText" presStyleLbl="alignAccFollowNode1" presStyleIdx="0" presStyleCnt="1" custScaleX="100098" custScaleY="121003">
        <dgm:presLayoutVars>
          <dgm:bulletEnabled val="1"/>
        </dgm:presLayoutVars>
      </dgm:prSet>
      <dgm:spPr/>
    </dgm:pt>
  </dgm:ptLst>
  <dgm:cxnLst>
    <dgm:cxn modelId="{9265E42F-BDA1-44AC-A43A-9DD8005D335F}" type="presOf" srcId="{4A9BC301-4843-461A-8A8B-A0669C207EC2}" destId="{3DF4D673-BB44-466B-9320-8D3BB9DF0EDE}" srcOrd="0" destOrd="0" presId="urn:microsoft.com/office/officeart/2005/8/layout/vList5"/>
    <dgm:cxn modelId="{236B255D-9953-43F5-A073-953527C82A15}" type="presOf" srcId="{7501FAB0-86EE-40D4-B47D-B1EC52A18F2F}" destId="{75998D6C-242A-4772-853B-575584A5833F}" srcOrd="0" destOrd="0" presId="urn:microsoft.com/office/officeart/2005/8/layout/vList5"/>
    <dgm:cxn modelId="{6AE68867-0CB3-4B9B-8583-BD88DFF8AF70}" type="presOf" srcId="{2BCDFE7F-9CA1-403A-BDA2-B4FD2AC99273}" destId="{34F0BC99-C35F-427A-99E3-13CFB686C0E8}" srcOrd="0" destOrd="0" presId="urn:microsoft.com/office/officeart/2005/8/layout/vList5"/>
    <dgm:cxn modelId="{E50BD6E0-16C5-405E-92F4-4620F87EACE8}" srcId="{4A9BC301-4843-461A-8A8B-A0669C207EC2}" destId="{2BCDFE7F-9CA1-403A-BDA2-B4FD2AC99273}" srcOrd="0" destOrd="0" parTransId="{8D69F5DB-9670-4BBF-BF09-71DEADFB5724}" sibTransId="{03ABD994-CF5D-461C-83F5-3554F836FC2C}"/>
    <dgm:cxn modelId="{085035FD-354C-4D4F-8E39-C78D4B152FFF}" srcId="{7501FAB0-86EE-40D4-B47D-B1EC52A18F2F}" destId="{4A9BC301-4843-461A-8A8B-A0669C207EC2}" srcOrd="0" destOrd="0" parTransId="{150CFE73-E2D2-46FD-92F0-BDE518A2A965}" sibTransId="{652669F7-5191-4F22-9B1E-387AB7300035}"/>
    <dgm:cxn modelId="{977B5D19-0200-43C6-B073-4FE6D3853145}" type="presParOf" srcId="{75998D6C-242A-4772-853B-575584A5833F}" destId="{38466F35-C404-49B1-AE98-558FDA252880}" srcOrd="0" destOrd="0" presId="urn:microsoft.com/office/officeart/2005/8/layout/vList5"/>
    <dgm:cxn modelId="{7E20BA3F-1566-4551-82DC-DEC94496B41D}" type="presParOf" srcId="{38466F35-C404-49B1-AE98-558FDA252880}" destId="{3DF4D673-BB44-466B-9320-8D3BB9DF0EDE}" srcOrd="0" destOrd="0" presId="urn:microsoft.com/office/officeart/2005/8/layout/vList5"/>
    <dgm:cxn modelId="{5F9F64AE-42BD-4ADA-A687-D2D55DE48014}" type="presParOf" srcId="{38466F35-C404-49B1-AE98-558FDA252880}" destId="{34F0BC99-C35F-427A-99E3-13CFB686C0E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1CBBA9A-A6BF-4327-9696-BD67A3E35B7B}"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PE"/>
        </a:p>
      </dgm:t>
    </dgm:pt>
    <dgm:pt modelId="{9F0A7C06-5B96-49D0-A5F1-664FD8C1FC82}">
      <dgm:prSet/>
      <dgm:spPr/>
      <dgm:t>
        <a:bodyPr/>
        <a:lstStyle/>
        <a:p>
          <a:r>
            <a:rPr lang="es-ES"/>
            <a:t>Programación Lineal Entero (PLE)</a:t>
          </a:r>
          <a:endParaRPr lang="es-PE"/>
        </a:p>
      </dgm:t>
    </dgm:pt>
    <dgm:pt modelId="{49D8311B-CB28-4148-B562-8357EAEEF984}" type="parTrans" cxnId="{7EC8F2A8-B971-43D3-910F-A0C02A3469BA}">
      <dgm:prSet/>
      <dgm:spPr/>
      <dgm:t>
        <a:bodyPr/>
        <a:lstStyle/>
        <a:p>
          <a:endParaRPr lang="es-PE"/>
        </a:p>
      </dgm:t>
    </dgm:pt>
    <dgm:pt modelId="{F912D7AE-5BB5-4B11-BE77-E5CCDC0C4CE9}" type="sibTrans" cxnId="{7EC8F2A8-B971-43D3-910F-A0C02A3469BA}">
      <dgm:prSet/>
      <dgm:spPr/>
      <dgm:t>
        <a:bodyPr/>
        <a:lstStyle/>
        <a:p>
          <a:endParaRPr lang="es-PE"/>
        </a:p>
      </dgm:t>
    </dgm:pt>
    <dgm:pt modelId="{EC6E7C1E-26E4-4A66-A285-D1A82D605ECB}">
      <dgm:prSet custT="1"/>
      <dgm:spPr>
        <a:solidFill>
          <a:srgbClr val="1CADE4">
            <a:alpha val="90000"/>
            <a:tint val="40000"/>
            <a:hueOff val="0"/>
            <a:satOff val="0"/>
            <a:lumOff val="0"/>
            <a:alphaOff val="0"/>
          </a:srgbClr>
        </a:solidFill>
        <a:ln w="12700" cap="flat" cmpd="sng" algn="ctr">
          <a:solidFill>
            <a:srgbClr val="1CADE4">
              <a:alpha val="90000"/>
              <a:tint val="40000"/>
              <a:hueOff val="0"/>
              <a:satOff val="0"/>
              <a:lumOff val="0"/>
              <a:alphaOff val="0"/>
            </a:srgbClr>
          </a:solidFill>
          <a:prstDash val="solid"/>
          <a:miter lim="800000"/>
        </a:ln>
        <a:effectLst/>
      </dgm:spPr>
      <dgm:t>
        <a:bodyPr spcFirstLastPara="0" vert="horz" wrap="square" lIns="247650" tIns="123825" rIns="247650" bIns="123825" numCol="1" spcCol="1270" anchor="ctr" anchorCtr="0"/>
        <a:lstStyle/>
        <a:p>
          <a:pPr marL="0" indent="0"/>
          <a:r>
            <a:rPr lang="es-ES" sz="2400" dirty="0"/>
            <a:t>Cuando algunas variables de decisión son enteros, mientras que otras pueden asumir cualquier número no negativo.</a:t>
          </a:r>
          <a:endParaRPr lang="es-PE" sz="2400" dirty="0"/>
        </a:p>
      </dgm:t>
    </dgm:pt>
    <dgm:pt modelId="{B40C1B7B-58A0-45AF-8774-EF66F80B178C}" type="parTrans" cxnId="{E542614C-5452-41FB-A45C-7987D01EF584}">
      <dgm:prSet/>
      <dgm:spPr/>
      <dgm:t>
        <a:bodyPr/>
        <a:lstStyle/>
        <a:p>
          <a:endParaRPr lang="es-PE"/>
        </a:p>
      </dgm:t>
    </dgm:pt>
    <dgm:pt modelId="{D4DAF14D-B567-4FFD-B350-3744015F4179}" type="sibTrans" cxnId="{E542614C-5452-41FB-A45C-7987D01EF584}">
      <dgm:prSet/>
      <dgm:spPr/>
      <dgm:t>
        <a:bodyPr/>
        <a:lstStyle/>
        <a:p>
          <a:endParaRPr lang="es-PE"/>
        </a:p>
      </dgm:t>
    </dgm:pt>
    <dgm:pt modelId="{0126E178-8F55-4A3E-BA33-E0D664ADC221}" type="pres">
      <dgm:prSet presAssocID="{01CBBA9A-A6BF-4327-9696-BD67A3E35B7B}" presName="Name0" presStyleCnt="0">
        <dgm:presLayoutVars>
          <dgm:dir/>
          <dgm:animLvl val="lvl"/>
          <dgm:resizeHandles val="exact"/>
        </dgm:presLayoutVars>
      </dgm:prSet>
      <dgm:spPr/>
    </dgm:pt>
    <dgm:pt modelId="{58DBAA43-516A-40B5-9253-C8EB168C7451}" type="pres">
      <dgm:prSet presAssocID="{9F0A7C06-5B96-49D0-A5F1-664FD8C1FC82}" presName="linNode" presStyleCnt="0"/>
      <dgm:spPr/>
    </dgm:pt>
    <dgm:pt modelId="{79E5E296-B3E5-44CA-BD53-79D40CEAD722}" type="pres">
      <dgm:prSet presAssocID="{9F0A7C06-5B96-49D0-A5F1-664FD8C1FC82}" presName="parentText" presStyleLbl="node1" presStyleIdx="0" presStyleCnt="1" custScaleX="87906">
        <dgm:presLayoutVars>
          <dgm:chMax val="1"/>
          <dgm:bulletEnabled val="1"/>
        </dgm:presLayoutVars>
      </dgm:prSet>
      <dgm:spPr/>
    </dgm:pt>
    <dgm:pt modelId="{1348E79A-82E6-4E6A-9C3C-0860FB487BBC}" type="pres">
      <dgm:prSet presAssocID="{9F0A7C06-5B96-49D0-A5F1-664FD8C1FC82}" presName="descendantText" presStyleLbl="alignAccFollowNode1" presStyleIdx="0" presStyleCnt="1" custScaleX="107645" custScaleY="124910">
        <dgm:presLayoutVars>
          <dgm:bulletEnabled val="1"/>
        </dgm:presLayoutVars>
      </dgm:prSet>
      <dgm:spPr>
        <a:xfrm rot="5400000">
          <a:off x="3037659" y="-1022504"/>
          <a:ext cx="1409647" cy="3522337"/>
        </a:xfrm>
        <a:prstGeom prst="round2SameRect">
          <a:avLst/>
        </a:prstGeom>
      </dgm:spPr>
    </dgm:pt>
  </dgm:ptLst>
  <dgm:cxnLst>
    <dgm:cxn modelId="{E542614C-5452-41FB-A45C-7987D01EF584}" srcId="{9F0A7C06-5B96-49D0-A5F1-664FD8C1FC82}" destId="{EC6E7C1E-26E4-4A66-A285-D1A82D605ECB}" srcOrd="0" destOrd="0" parTransId="{B40C1B7B-58A0-45AF-8774-EF66F80B178C}" sibTransId="{D4DAF14D-B567-4FFD-B350-3744015F4179}"/>
    <dgm:cxn modelId="{172E3E90-0B6F-4DB8-A22D-9E5DED8CDF2F}" type="presOf" srcId="{EC6E7C1E-26E4-4A66-A285-D1A82D605ECB}" destId="{1348E79A-82E6-4E6A-9C3C-0860FB487BBC}" srcOrd="0" destOrd="0" presId="urn:microsoft.com/office/officeart/2005/8/layout/vList5"/>
    <dgm:cxn modelId="{7EC8F2A8-B971-43D3-910F-A0C02A3469BA}" srcId="{01CBBA9A-A6BF-4327-9696-BD67A3E35B7B}" destId="{9F0A7C06-5B96-49D0-A5F1-664FD8C1FC82}" srcOrd="0" destOrd="0" parTransId="{49D8311B-CB28-4148-B562-8357EAEEF984}" sibTransId="{F912D7AE-5BB5-4B11-BE77-E5CCDC0C4CE9}"/>
    <dgm:cxn modelId="{19A4C0D7-09D6-4615-87B1-060A30B62791}" type="presOf" srcId="{9F0A7C06-5B96-49D0-A5F1-664FD8C1FC82}" destId="{79E5E296-B3E5-44CA-BD53-79D40CEAD722}" srcOrd="0" destOrd="0" presId="urn:microsoft.com/office/officeart/2005/8/layout/vList5"/>
    <dgm:cxn modelId="{1CC296FA-BE0C-4B6B-A3F6-6B04E0D44667}" type="presOf" srcId="{01CBBA9A-A6BF-4327-9696-BD67A3E35B7B}" destId="{0126E178-8F55-4A3E-BA33-E0D664ADC221}" srcOrd="0" destOrd="0" presId="urn:microsoft.com/office/officeart/2005/8/layout/vList5"/>
    <dgm:cxn modelId="{6F369587-0644-40E9-ABCA-3FD048DAFE1D}" type="presParOf" srcId="{0126E178-8F55-4A3E-BA33-E0D664ADC221}" destId="{58DBAA43-516A-40B5-9253-C8EB168C7451}" srcOrd="0" destOrd="0" presId="urn:microsoft.com/office/officeart/2005/8/layout/vList5"/>
    <dgm:cxn modelId="{2F2C9E5D-C752-415A-95A5-DF43606B3B79}" type="presParOf" srcId="{58DBAA43-516A-40B5-9253-C8EB168C7451}" destId="{79E5E296-B3E5-44CA-BD53-79D40CEAD722}" srcOrd="0" destOrd="0" presId="urn:microsoft.com/office/officeart/2005/8/layout/vList5"/>
    <dgm:cxn modelId="{1863ACDE-935C-4760-8396-0CA0CC1CDB71}" type="presParOf" srcId="{58DBAA43-516A-40B5-9253-C8EB168C7451}" destId="{1348E79A-82E6-4E6A-9C3C-0860FB487BBC}" srcOrd="1" destOrd="0" presId="urn:microsoft.com/office/officeart/2005/8/layout/vList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87814-C5DF-4C3F-B7A1-CE884366F5B8}">
      <dsp:nvSpPr>
        <dsp:cNvPr id="0" name=""/>
        <dsp:cNvSpPr/>
      </dsp:nvSpPr>
      <dsp:spPr>
        <a:xfrm>
          <a:off x="0" y="0"/>
          <a:ext cx="3310901" cy="944228"/>
        </a:xfrm>
        <a:prstGeom prst="roundRect">
          <a:avLst/>
        </a:prstGeom>
        <a:solidFill>
          <a:schemeClr val="accent4">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s-MX" sz="2800" kern="1200" dirty="0"/>
            <a:t>RESPUESTA</a:t>
          </a:r>
        </a:p>
        <a:p>
          <a:pPr marL="0" lvl="0" indent="0" algn="ctr" defTabSz="1244600" rtl="0">
            <a:lnSpc>
              <a:spcPct val="90000"/>
            </a:lnSpc>
            <a:spcBef>
              <a:spcPct val="0"/>
            </a:spcBef>
            <a:spcAft>
              <a:spcPct val="35000"/>
            </a:spcAft>
            <a:buNone/>
          </a:pPr>
          <a:r>
            <a:rPr lang="es-MX" sz="2800" kern="1200" dirty="0"/>
            <a:t>A=3    B=6     Z=390</a:t>
          </a:r>
        </a:p>
      </dsp:txBody>
      <dsp:txXfrm>
        <a:off x="46093" y="46093"/>
        <a:ext cx="3218715" cy="8520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E99B1B-7CA8-4D43-9340-567AE1A9DFF8}">
      <dsp:nvSpPr>
        <dsp:cNvPr id="0" name=""/>
        <dsp:cNvSpPr/>
      </dsp:nvSpPr>
      <dsp:spPr>
        <a:xfrm>
          <a:off x="0" y="0"/>
          <a:ext cx="2343912" cy="2373147"/>
        </a:xfrm>
        <a:prstGeom prst="roundRect">
          <a:avLst/>
        </a:prstGeom>
        <a:solidFill>
          <a:schemeClr val="accent1">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PE" sz="1800" b="1" kern="1200" dirty="0">
              <a:solidFill>
                <a:schemeClr val="tx1"/>
              </a:solidFill>
              <a:latin typeface="Arial Narrow" pitchFamily="34" charset="0"/>
            </a:rPr>
            <a:t>MAX   -</a:t>
          </a:r>
          <a:r>
            <a:rPr lang="es-PE" sz="1800" b="1" kern="1200" dirty="0" err="1">
              <a:solidFill>
                <a:schemeClr val="tx1"/>
              </a:solidFill>
              <a:latin typeface="Arial Narrow" pitchFamily="34" charset="0"/>
            </a:rPr>
            <a:t>2X1</a:t>
          </a:r>
          <a:r>
            <a:rPr lang="es-PE" sz="1800" b="1" kern="1200" dirty="0">
              <a:solidFill>
                <a:schemeClr val="tx1"/>
              </a:solidFill>
              <a:latin typeface="Arial Narrow" pitchFamily="34" charset="0"/>
            </a:rPr>
            <a:t>  +  </a:t>
          </a:r>
          <a:r>
            <a:rPr lang="es-PE" sz="1800" b="1" kern="1200" dirty="0" err="1">
              <a:solidFill>
                <a:schemeClr val="tx1"/>
              </a:solidFill>
              <a:latin typeface="Arial Narrow" pitchFamily="34" charset="0"/>
            </a:rPr>
            <a:t>3X2</a:t>
          </a:r>
          <a:endParaRPr lang="es-PE" sz="1800" b="1" kern="1200" dirty="0">
            <a:solidFill>
              <a:schemeClr val="tx1"/>
            </a:solidFill>
            <a:latin typeface="Arial Narrow" pitchFamily="34" charset="0"/>
          </a:endParaRPr>
        </a:p>
        <a:p>
          <a:pPr marL="0" lvl="0" indent="0" algn="l" defTabSz="800100">
            <a:lnSpc>
              <a:spcPct val="90000"/>
            </a:lnSpc>
            <a:spcBef>
              <a:spcPct val="0"/>
            </a:spcBef>
            <a:spcAft>
              <a:spcPct val="35000"/>
            </a:spcAft>
            <a:buNone/>
          </a:pPr>
          <a:r>
            <a:rPr lang="es-PE" sz="1800" b="1" kern="1200" dirty="0" err="1">
              <a:solidFill>
                <a:schemeClr val="tx1"/>
              </a:solidFill>
              <a:latin typeface="Arial Narrow" pitchFamily="34" charset="0"/>
            </a:rPr>
            <a:t>ST</a:t>
          </a:r>
          <a:endParaRPr lang="es-PE" sz="1800" b="1" kern="1200" dirty="0">
            <a:solidFill>
              <a:schemeClr val="tx1"/>
            </a:solidFill>
            <a:latin typeface="Arial Narrow" pitchFamily="34" charset="0"/>
          </a:endParaRPr>
        </a:p>
        <a:p>
          <a:pPr marL="0" lvl="0" indent="0" algn="l" defTabSz="800100">
            <a:lnSpc>
              <a:spcPct val="90000"/>
            </a:lnSpc>
            <a:spcBef>
              <a:spcPct val="0"/>
            </a:spcBef>
            <a:spcAft>
              <a:spcPct val="35000"/>
            </a:spcAft>
            <a:buNone/>
          </a:pPr>
          <a:r>
            <a:rPr lang="es-PE" sz="1800" b="1" kern="1200" dirty="0" err="1">
              <a:solidFill>
                <a:schemeClr val="tx1"/>
              </a:solidFill>
              <a:latin typeface="Arial Narrow" pitchFamily="34" charset="0"/>
            </a:rPr>
            <a:t>7X1</a:t>
          </a:r>
          <a:r>
            <a:rPr lang="es-PE" sz="1800" b="1" kern="1200" dirty="0">
              <a:solidFill>
                <a:schemeClr val="tx1"/>
              </a:solidFill>
              <a:latin typeface="Arial Narrow" pitchFamily="34" charset="0"/>
            </a:rPr>
            <a:t> + </a:t>
          </a:r>
          <a:r>
            <a:rPr lang="es-PE" sz="1800" b="1" kern="1200" dirty="0" err="1">
              <a:solidFill>
                <a:schemeClr val="tx1"/>
              </a:solidFill>
              <a:latin typeface="Arial Narrow" pitchFamily="34" charset="0"/>
            </a:rPr>
            <a:t>24X2</a:t>
          </a:r>
          <a:r>
            <a:rPr lang="es-PE" sz="1800" b="1" kern="1200" dirty="0">
              <a:solidFill>
                <a:schemeClr val="tx1"/>
              </a:solidFill>
              <a:latin typeface="Arial Narrow" pitchFamily="34" charset="0"/>
            </a:rPr>
            <a:t> &lt;= 45</a:t>
          </a:r>
        </a:p>
        <a:p>
          <a:pPr marL="0" lvl="0" indent="0" algn="l" defTabSz="800100">
            <a:lnSpc>
              <a:spcPct val="90000"/>
            </a:lnSpc>
            <a:spcBef>
              <a:spcPct val="0"/>
            </a:spcBef>
            <a:spcAft>
              <a:spcPct val="35000"/>
            </a:spcAft>
            <a:buNone/>
          </a:pPr>
          <a:r>
            <a:rPr lang="es-PE" sz="1800" b="1" kern="1200" dirty="0">
              <a:solidFill>
                <a:schemeClr val="tx1"/>
              </a:solidFill>
              <a:latin typeface="Arial Narrow" pitchFamily="34" charset="0"/>
            </a:rPr>
            <a:t>-</a:t>
          </a:r>
          <a:r>
            <a:rPr lang="es-PE" sz="1800" b="1" kern="1200" dirty="0" err="1">
              <a:solidFill>
                <a:schemeClr val="tx1"/>
              </a:solidFill>
              <a:latin typeface="Arial Narrow" pitchFamily="34" charset="0"/>
            </a:rPr>
            <a:t>X1</a:t>
          </a:r>
          <a:r>
            <a:rPr lang="es-PE" sz="1800" b="1" kern="1200" dirty="0">
              <a:solidFill>
                <a:schemeClr val="tx1"/>
              </a:solidFill>
              <a:latin typeface="Arial Narrow" pitchFamily="34" charset="0"/>
            </a:rPr>
            <a:t>  + </a:t>
          </a:r>
          <a:r>
            <a:rPr lang="es-PE" sz="1800" b="1" kern="1200" dirty="0" err="1">
              <a:solidFill>
                <a:schemeClr val="tx1"/>
              </a:solidFill>
              <a:latin typeface="Arial Narrow" pitchFamily="34" charset="0"/>
            </a:rPr>
            <a:t>4X2</a:t>
          </a:r>
          <a:r>
            <a:rPr lang="es-PE" sz="1800" b="1" kern="1200" dirty="0">
              <a:solidFill>
                <a:schemeClr val="tx1"/>
              </a:solidFill>
              <a:latin typeface="Arial Narrow" pitchFamily="34" charset="0"/>
            </a:rPr>
            <a:t> &gt;=  5  </a:t>
          </a:r>
        </a:p>
        <a:p>
          <a:pPr marL="0" lvl="0" indent="0" algn="l" defTabSz="800100">
            <a:lnSpc>
              <a:spcPct val="90000"/>
            </a:lnSpc>
            <a:spcBef>
              <a:spcPct val="0"/>
            </a:spcBef>
            <a:spcAft>
              <a:spcPct val="35000"/>
            </a:spcAft>
            <a:buNone/>
          </a:pPr>
          <a:r>
            <a:rPr lang="es-PE" sz="1800" b="1" kern="1200" dirty="0" err="1">
              <a:solidFill>
                <a:schemeClr val="tx1"/>
              </a:solidFill>
              <a:latin typeface="Arial Narrow" pitchFamily="34" charset="0"/>
            </a:rPr>
            <a:t>END</a:t>
          </a:r>
          <a:endParaRPr lang="es-PE" sz="1800" b="1" kern="1200" dirty="0">
            <a:solidFill>
              <a:schemeClr val="tx1"/>
            </a:solidFill>
            <a:latin typeface="Arial Narrow" pitchFamily="34" charset="0"/>
          </a:endParaRPr>
        </a:p>
        <a:p>
          <a:pPr marL="0" lvl="0" indent="0" algn="l" defTabSz="800100">
            <a:lnSpc>
              <a:spcPct val="90000"/>
            </a:lnSpc>
            <a:spcBef>
              <a:spcPct val="0"/>
            </a:spcBef>
            <a:spcAft>
              <a:spcPct val="35000"/>
            </a:spcAft>
            <a:buNone/>
          </a:pPr>
          <a:r>
            <a:rPr lang="es-PE" sz="1800" b="1" kern="1200" dirty="0" err="1">
              <a:solidFill>
                <a:schemeClr val="tx1"/>
              </a:solidFill>
              <a:latin typeface="Arial Narrow" pitchFamily="34" charset="0"/>
            </a:rPr>
            <a:t>GIN</a:t>
          </a:r>
          <a:r>
            <a:rPr lang="es-PE" sz="1800" b="1" kern="1200" dirty="0">
              <a:solidFill>
                <a:schemeClr val="tx1"/>
              </a:solidFill>
              <a:latin typeface="Arial Narrow" pitchFamily="34" charset="0"/>
            </a:rPr>
            <a:t> </a:t>
          </a:r>
          <a:r>
            <a:rPr lang="es-PE" sz="1800" b="1" kern="1200" dirty="0" err="1">
              <a:solidFill>
                <a:schemeClr val="tx1"/>
              </a:solidFill>
              <a:latin typeface="Arial Narrow" pitchFamily="34" charset="0"/>
            </a:rPr>
            <a:t>X1</a:t>
          </a:r>
          <a:endParaRPr lang="es-PE" sz="1800" b="1" kern="1200" dirty="0">
            <a:solidFill>
              <a:schemeClr val="tx1"/>
            </a:solidFill>
            <a:latin typeface="Arial Narrow" pitchFamily="34" charset="0"/>
          </a:endParaRPr>
        </a:p>
        <a:p>
          <a:pPr marL="0" lvl="0" indent="0" algn="l" defTabSz="800100">
            <a:lnSpc>
              <a:spcPct val="90000"/>
            </a:lnSpc>
            <a:spcBef>
              <a:spcPct val="0"/>
            </a:spcBef>
            <a:spcAft>
              <a:spcPct val="35000"/>
            </a:spcAft>
            <a:buNone/>
          </a:pPr>
          <a:r>
            <a:rPr lang="es-PE" sz="1800" b="1" kern="1200" dirty="0" err="1">
              <a:solidFill>
                <a:schemeClr val="tx1"/>
              </a:solidFill>
              <a:latin typeface="Arial Narrow" pitchFamily="34" charset="0"/>
            </a:rPr>
            <a:t>GIN</a:t>
          </a:r>
          <a:r>
            <a:rPr lang="es-PE" sz="1800" b="1" kern="1200" dirty="0">
              <a:solidFill>
                <a:schemeClr val="tx1"/>
              </a:solidFill>
              <a:latin typeface="Arial Narrow" pitchFamily="34" charset="0"/>
            </a:rPr>
            <a:t> </a:t>
          </a:r>
          <a:r>
            <a:rPr lang="es-PE" sz="1800" b="1" kern="1200" dirty="0" err="1">
              <a:solidFill>
                <a:schemeClr val="tx1"/>
              </a:solidFill>
              <a:latin typeface="Arial Narrow" pitchFamily="34" charset="0"/>
            </a:rPr>
            <a:t>X2</a:t>
          </a:r>
          <a:endParaRPr lang="es-PE" sz="1800" b="1" kern="1200" dirty="0">
            <a:solidFill>
              <a:schemeClr val="tx1"/>
            </a:solidFill>
            <a:latin typeface="Arial Narrow" pitchFamily="34" charset="0"/>
          </a:endParaRPr>
        </a:p>
      </dsp:txBody>
      <dsp:txXfrm>
        <a:off x="114420" y="114420"/>
        <a:ext cx="2115072" cy="21443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C82268-1110-43A5-ACBC-1B38DCD97435}">
      <dsp:nvSpPr>
        <dsp:cNvPr id="0" name=""/>
        <dsp:cNvSpPr/>
      </dsp:nvSpPr>
      <dsp:spPr>
        <a:xfrm>
          <a:off x="0" y="728"/>
          <a:ext cx="2622787" cy="2400900"/>
        </a:xfrm>
        <a:prstGeom prst="roundRect">
          <a:avLst/>
        </a:prstGeom>
        <a:solidFill>
          <a:srgbClr val="3E8853">
            <a:lumMod val="40000"/>
            <a:lumOff val="60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100000"/>
            </a:lnSpc>
            <a:spcBef>
              <a:spcPct val="0"/>
            </a:spcBef>
            <a:spcAft>
              <a:spcPts val="0"/>
            </a:spcAft>
            <a:buNone/>
          </a:pPr>
          <a:r>
            <a:rPr lang="es-PE" sz="2000" b="1" kern="1200" dirty="0">
              <a:solidFill>
                <a:prstClr val="black"/>
              </a:solidFill>
              <a:latin typeface="Arial Narrow" pitchFamily="34" charset="0"/>
              <a:ea typeface="+mn-ea"/>
              <a:cs typeface="+mn-cs"/>
            </a:rPr>
            <a:t>MAX   </a:t>
          </a:r>
          <a:r>
            <a:rPr lang="es-PE" sz="2000" b="1" kern="1200" dirty="0" err="1">
              <a:solidFill>
                <a:prstClr val="black"/>
              </a:solidFill>
              <a:latin typeface="Arial Narrow" pitchFamily="34" charset="0"/>
              <a:ea typeface="+mn-ea"/>
              <a:cs typeface="+mn-cs"/>
            </a:rPr>
            <a:t>12X1</a:t>
          </a:r>
          <a:r>
            <a:rPr lang="es-PE" sz="2000" b="1" kern="1200" dirty="0">
              <a:solidFill>
                <a:prstClr val="black"/>
              </a:solidFill>
              <a:latin typeface="Arial Narrow" pitchFamily="34" charset="0"/>
              <a:ea typeface="+mn-ea"/>
              <a:cs typeface="+mn-cs"/>
            </a:rPr>
            <a:t>     +   </a:t>
          </a:r>
          <a:r>
            <a:rPr lang="es-PE" sz="2000" b="1" kern="1200" dirty="0" err="1">
              <a:solidFill>
                <a:prstClr val="black"/>
              </a:solidFill>
              <a:latin typeface="Arial Narrow" pitchFamily="34" charset="0"/>
              <a:ea typeface="+mn-ea"/>
              <a:cs typeface="+mn-cs"/>
            </a:rPr>
            <a:t>4X2</a:t>
          </a:r>
          <a:endParaRPr lang="es-PE" sz="2000" b="1" kern="1200" dirty="0">
            <a:solidFill>
              <a:prstClr val="black"/>
            </a:solidFill>
            <a:latin typeface="Arial Narrow" pitchFamily="34" charset="0"/>
            <a:ea typeface="+mn-ea"/>
            <a:cs typeface="+mn-cs"/>
          </a:endParaRPr>
        </a:p>
        <a:p>
          <a:pPr marL="0" lvl="0" indent="0" algn="l" defTabSz="889000" rtl="0">
            <a:lnSpc>
              <a:spcPct val="100000"/>
            </a:lnSpc>
            <a:spcBef>
              <a:spcPct val="0"/>
            </a:spcBef>
            <a:spcAft>
              <a:spcPts val="0"/>
            </a:spcAft>
            <a:buNone/>
          </a:pPr>
          <a:r>
            <a:rPr lang="es-ES" sz="2000" b="1" kern="1200" dirty="0" err="1">
              <a:solidFill>
                <a:prstClr val="black"/>
              </a:solidFill>
              <a:latin typeface="Arial Narrow" pitchFamily="34" charset="0"/>
              <a:ea typeface="+mn-ea"/>
              <a:cs typeface="+mn-cs"/>
            </a:rPr>
            <a:t>ST</a:t>
          </a:r>
          <a:endParaRPr lang="es-ES" sz="2000" b="1" kern="1200" dirty="0">
            <a:solidFill>
              <a:prstClr val="black"/>
            </a:solidFill>
            <a:latin typeface="Arial Narrow" pitchFamily="34" charset="0"/>
            <a:ea typeface="+mn-ea"/>
            <a:cs typeface="+mn-cs"/>
          </a:endParaRPr>
        </a:p>
        <a:p>
          <a:pPr marL="0" lvl="0" indent="0" algn="l" defTabSz="889000" rtl="0">
            <a:lnSpc>
              <a:spcPct val="100000"/>
            </a:lnSpc>
            <a:spcBef>
              <a:spcPct val="0"/>
            </a:spcBef>
            <a:spcAft>
              <a:spcPts val="0"/>
            </a:spcAft>
            <a:buNone/>
          </a:pPr>
          <a:r>
            <a:rPr lang="es-MX" sz="2000" b="1" kern="1200" dirty="0" err="1">
              <a:solidFill>
                <a:prstClr val="black"/>
              </a:solidFill>
              <a:latin typeface="Arial Narrow" pitchFamily="34" charset="0"/>
              <a:ea typeface="+mn-ea"/>
              <a:cs typeface="+mn-cs"/>
            </a:rPr>
            <a:t>30X1</a:t>
          </a:r>
          <a:r>
            <a:rPr lang="es-MX" sz="2000" b="1" kern="1200" dirty="0">
              <a:solidFill>
                <a:prstClr val="black"/>
              </a:solidFill>
              <a:latin typeface="Arial Narrow" pitchFamily="34" charset="0"/>
              <a:ea typeface="+mn-ea"/>
              <a:cs typeface="+mn-cs"/>
            </a:rPr>
            <a:t>  +  </a:t>
          </a:r>
          <a:r>
            <a:rPr lang="es-MX" sz="2000" b="1" kern="1200" dirty="0" err="1">
              <a:solidFill>
                <a:prstClr val="black"/>
              </a:solidFill>
              <a:latin typeface="Arial Narrow" pitchFamily="34" charset="0"/>
              <a:ea typeface="+mn-ea"/>
              <a:cs typeface="+mn-cs"/>
            </a:rPr>
            <a:t>8X2</a:t>
          </a:r>
          <a:r>
            <a:rPr lang="es-MX" sz="2000" b="1" kern="1200" dirty="0">
              <a:solidFill>
                <a:prstClr val="black"/>
              </a:solidFill>
              <a:latin typeface="Arial Narrow" pitchFamily="34" charset="0"/>
              <a:ea typeface="+mn-ea"/>
              <a:cs typeface="+mn-cs"/>
            </a:rPr>
            <a:t>  &lt;= 105</a:t>
          </a:r>
        </a:p>
        <a:p>
          <a:pPr marL="0" lvl="0" indent="0" algn="l" defTabSz="889000" rtl="0">
            <a:lnSpc>
              <a:spcPct val="100000"/>
            </a:lnSpc>
            <a:spcBef>
              <a:spcPct val="0"/>
            </a:spcBef>
            <a:spcAft>
              <a:spcPts val="0"/>
            </a:spcAft>
            <a:buNone/>
          </a:pPr>
          <a:r>
            <a:rPr lang="es-MX" sz="2000" b="1" kern="1200" dirty="0" err="1">
              <a:solidFill>
                <a:prstClr val="black"/>
              </a:solidFill>
              <a:latin typeface="Arial Narrow" pitchFamily="34" charset="0"/>
              <a:ea typeface="+mn-ea"/>
              <a:cs typeface="+mn-cs"/>
            </a:rPr>
            <a:t>4X1</a:t>
          </a:r>
          <a:r>
            <a:rPr lang="es-MX" sz="2000" b="1" kern="1200" dirty="0">
              <a:solidFill>
                <a:prstClr val="black"/>
              </a:solidFill>
              <a:latin typeface="Arial Narrow" pitchFamily="34" charset="0"/>
              <a:ea typeface="+mn-ea"/>
              <a:cs typeface="+mn-cs"/>
            </a:rPr>
            <a:t>    +  </a:t>
          </a:r>
          <a:r>
            <a:rPr lang="es-MX" sz="2000" b="1" kern="1200" dirty="0" err="1">
              <a:solidFill>
                <a:prstClr val="black"/>
              </a:solidFill>
              <a:latin typeface="Arial Narrow" pitchFamily="34" charset="0"/>
              <a:ea typeface="+mn-ea"/>
              <a:cs typeface="+mn-cs"/>
            </a:rPr>
            <a:t>4X2</a:t>
          </a:r>
          <a:r>
            <a:rPr lang="es-MX" sz="2000" b="1" kern="1200" dirty="0">
              <a:solidFill>
                <a:prstClr val="black"/>
              </a:solidFill>
              <a:latin typeface="Arial Narrow" pitchFamily="34" charset="0"/>
              <a:ea typeface="+mn-ea"/>
              <a:cs typeface="+mn-cs"/>
            </a:rPr>
            <a:t>  &lt;=   21</a:t>
          </a:r>
        </a:p>
        <a:p>
          <a:pPr marL="0" lvl="0" indent="0" algn="l" defTabSz="889000" rtl="0">
            <a:lnSpc>
              <a:spcPct val="100000"/>
            </a:lnSpc>
            <a:spcBef>
              <a:spcPct val="0"/>
            </a:spcBef>
            <a:spcAft>
              <a:spcPts val="0"/>
            </a:spcAft>
            <a:buNone/>
          </a:pPr>
          <a:r>
            <a:rPr lang="es-MX" sz="2000" b="1" kern="1200" dirty="0">
              <a:solidFill>
                <a:prstClr val="black"/>
              </a:solidFill>
              <a:latin typeface="Arial Narrow" pitchFamily="34" charset="0"/>
              <a:ea typeface="+mn-ea"/>
              <a:cs typeface="+mn-cs"/>
            </a:rPr>
            <a:t>               </a:t>
          </a:r>
          <a:r>
            <a:rPr lang="es-MX" sz="2000" b="1" kern="1200" dirty="0" err="1">
              <a:solidFill>
                <a:prstClr val="black"/>
              </a:solidFill>
              <a:latin typeface="Arial Narrow" pitchFamily="34" charset="0"/>
              <a:ea typeface="+mn-ea"/>
              <a:cs typeface="+mn-cs"/>
            </a:rPr>
            <a:t>4X2</a:t>
          </a:r>
          <a:r>
            <a:rPr lang="es-MX" sz="2000" b="1" kern="1200" dirty="0">
              <a:solidFill>
                <a:prstClr val="black"/>
              </a:solidFill>
              <a:latin typeface="Arial Narrow" pitchFamily="34" charset="0"/>
              <a:ea typeface="+mn-ea"/>
              <a:cs typeface="+mn-cs"/>
            </a:rPr>
            <a:t>  &lt;=   17</a:t>
          </a:r>
        </a:p>
        <a:p>
          <a:pPr marL="0" lvl="0" indent="0" algn="l" defTabSz="889000" rtl="0">
            <a:lnSpc>
              <a:spcPct val="100000"/>
            </a:lnSpc>
            <a:spcBef>
              <a:spcPct val="0"/>
            </a:spcBef>
            <a:spcAft>
              <a:spcPts val="0"/>
            </a:spcAft>
            <a:buNone/>
          </a:pPr>
          <a:r>
            <a:rPr lang="es-PE" sz="2000" b="1" kern="1200" dirty="0" err="1">
              <a:solidFill>
                <a:prstClr val="black"/>
              </a:solidFill>
              <a:latin typeface="Arial Narrow" pitchFamily="34" charset="0"/>
              <a:ea typeface="+mn-ea"/>
              <a:cs typeface="+mn-cs"/>
            </a:rPr>
            <a:t>END</a:t>
          </a:r>
          <a:endParaRPr lang="es-PE" sz="2000" b="1" kern="1200" dirty="0">
            <a:solidFill>
              <a:prstClr val="black"/>
            </a:solidFill>
            <a:latin typeface="Arial Narrow" pitchFamily="34" charset="0"/>
            <a:ea typeface="+mn-ea"/>
            <a:cs typeface="+mn-cs"/>
          </a:endParaRPr>
        </a:p>
        <a:p>
          <a:pPr marL="0" lvl="0" indent="0" algn="l" defTabSz="889000" rtl="0">
            <a:lnSpc>
              <a:spcPct val="100000"/>
            </a:lnSpc>
            <a:spcBef>
              <a:spcPct val="0"/>
            </a:spcBef>
            <a:spcAft>
              <a:spcPts val="0"/>
            </a:spcAft>
            <a:buNone/>
          </a:pPr>
          <a:r>
            <a:rPr lang="es-PE" sz="2000" b="1" kern="1200" dirty="0" err="1">
              <a:solidFill>
                <a:prstClr val="black"/>
              </a:solidFill>
              <a:latin typeface="Arial Narrow" pitchFamily="34" charset="0"/>
              <a:ea typeface="+mn-ea"/>
              <a:cs typeface="+mn-cs"/>
            </a:rPr>
            <a:t>GIN</a:t>
          </a:r>
          <a:r>
            <a:rPr lang="es-PE" sz="2000" b="1" kern="1200" dirty="0">
              <a:solidFill>
                <a:prstClr val="black"/>
              </a:solidFill>
              <a:latin typeface="Arial Narrow" pitchFamily="34" charset="0"/>
              <a:ea typeface="+mn-ea"/>
              <a:cs typeface="+mn-cs"/>
            </a:rPr>
            <a:t> </a:t>
          </a:r>
          <a:r>
            <a:rPr lang="es-PE" sz="2000" b="1" kern="1200" dirty="0" err="1">
              <a:solidFill>
                <a:prstClr val="black"/>
              </a:solidFill>
              <a:latin typeface="Arial Narrow" pitchFamily="34" charset="0"/>
              <a:ea typeface="+mn-ea"/>
              <a:cs typeface="+mn-cs"/>
            </a:rPr>
            <a:t>X1</a:t>
          </a:r>
          <a:endParaRPr lang="es-PE" sz="2000" b="1" kern="1200" dirty="0">
            <a:solidFill>
              <a:prstClr val="black"/>
            </a:solidFill>
            <a:latin typeface="Arial Narrow" pitchFamily="34" charset="0"/>
            <a:ea typeface="+mn-ea"/>
            <a:cs typeface="+mn-cs"/>
          </a:endParaRPr>
        </a:p>
        <a:p>
          <a:pPr marL="0" lvl="0" indent="0" algn="l" defTabSz="889000" rtl="0">
            <a:lnSpc>
              <a:spcPct val="100000"/>
            </a:lnSpc>
            <a:spcBef>
              <a:spcPct val="0"/>
            </a:spcBef>
            <a:spcAft>
              <a:spcPts val="0"/>
            </a:spcAft>
            <a:buNone/>
          </a:pPr>
          <a:r>
            <a:rPr lang="es-PE" sz="2000" b="1" kern="1200" dirty="0" err="1">
              <a:solidFill>
                <a:prstClr val="black"/>
              </a:solidFill>
              <a:latin typeface="Arial Narrow" pitchFamily="34" charset="0"/>
              <a:ea typeface="+mn-ea"/>
              <a:cs typeface="+mn-cs"/>
            </a:rPr>
            <a:t>GIN</a:t>
          </a:r>
          <a:r>
            <a:rPr lang="es-PE" sz="2000" b="1" kern="1200" dirty="0">
              <a:solidFill>
                <a:prstClr val="black"/>
              </a:solidFill>
              <a:latin typeface="Arial Narrow" pitchFamily="34" charset="0"/>
              <a:ea typeface="+mn-ea"/>
              <a:cs typeface="+mn-cs"/>
            </a:rPr>
            <a:t> </a:t>
          </a:r>
          <a:r>
            <a:rPr lang="es-PE" sz="2000" b="1" kern="1200" dirty="0" err="1">
              <a:solidFill>
                <a:prstClr val="black"/>
              </a:solidFill>
              <a:latin typeface="Arial Narrow" pitchFamily="34" charset="0"/>
              <a:ea typeface="+mn-ea"/>
              <a:cs typeface="+mn-cs"/>
            </a:rPr>
            <a:t>X2</a:t>
          </a:r>
          <a:endParaRPr lang="es-PE" sz="2000" b="1" kern="1200" dirty="0">
            <a:solidFill>
              <a:prstClr val="black"/>
            </a:solidFill>
            <a:latin typeface="Arial Narrow" pitchFamily="34" charset="0"/>
            <a:ea typeface="+mn-ea"/>
            <a:cs typeface="+mn-cs"/>
          </a:endParaRPr>
        </a:p>
      </dsp:txBody>
      <dsp:txXfrm>
        <a:off x="117202" y="117930"/>
        <a:ext cx="2388383" cy="216649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C88357-1788-4FE9-A445-190C6A15CAF1}">
      <dsp:nvSpPr>
        <dsp:cNvPr id="0" name=""/>
        <dsp:cNvSpPr/>
      </dsp:nvSpPr>
      <dsp:spPr>
        <a:xfrm>
          <a:off x="0" y="12271"/>
          <a:ext cx="3418396" cy="1750791"/>
        </a:xfrm>
        <a:prstGeom prst="roundRect">
          <a:avLst/>
        </a:prstGeom>
        <a:solidFill>
          <a:schemeClr val="accent5">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1" kern="1200" dirty="0">
              <a:solidFill>
                <a:schemeClr val="tx1"/>
              </a:solidFill>
              <a:latin typeface="Arial Narrow" panose="020B0606020202030204" pitchFamily="34" charset="0"/>
            </a:rPr>
            <a:t>OBJECTIVE FUNCTION VALUE</a:t>
          </a:r>
        </a:p>
        <a:p>
          <a:pPr marL="0" lvl="0" indent="0" algn="l" defTabSz="889000" rtl="0">
            <a:lnSpc>
              <a:spcPct val="90000"/>
            </a:lnSpc>
            <a:spcBef>
              <a:spcPct val="0"/>
            </a:spcBef>
            <a:spcAft>
              <a:spcPct val="35000"/>
            </a:spcAft>
            <a:buNone/>
          </a:pPr>
          <a:r>
            <a:rPr lang="en-US" sz="2000" b="1" kern="1200" dirty="0">
              <a:solidFill>
                <a:schemeClr val="tx1"/>
              </a:solidFill>
              <a:latin typeface="Arial Narrow" panose="020B0606020202030204" pitchFamily="34" charset="0"/>
            </a:rPr>
            <a:t>1)      40.00000</a:t>
          </a:r>
        </a:p>
        <a:p>
          <a:pPr marL="0" lvl="0" indent="0" algn="l" defTabSz="889000" rtl="0">
            <a:lnSpc>
              <a:spcPct val="90000"/>
            </a:lnSpc>
            <a:spcBef>
              <a:spcPct val="0"/>
            </a:spcBef>
            <a:spcAft>
              <a:spcPct val="35000"/>
            </a:spcAft>
            <a:buNone/>
          </a:pPr>
          <a:r>
            <a:rPr lang="en-US" sz="1700" b="1" kern="1200" dirty="0">
              <a:solidFill>
                <a:schemeClr val="tx1"/>
              </a:solidFill>
              <a:latin typeface="Arial Narrow" panose="020B0606020202030204" pitchFamily="34" charset="0"/>
            </a:rPr>
            <a:t>VARIABLE VALUE  REDUCED COST</a:t>
          </a:r>
        </a:p>
        <a:p>
          <a:pPr marL="0" lvl="0" indent="0" algn="l" defTabSz="889000" rtl="0">
            <a:lnSpc>
              <a:spcPct val="90000"/>
            </a:lnSpc>
            <a:spcBef>
              <a:spcPct val="0"/>
            </a:spcBef>
            <a:spcAft>
              <a:spcPct val="35000"/>
            </a:spcAft>
            <a:buNone/>
          </a:pPr>
          <a:r>
            <a:rPr lang="en-US" sz="2000" b="1" kern="1200" dirty="0">
              <a:solidFill>
                <a:schemeClr val="tx1"/>
              </a:solidFill>
              <a:latin typeface="Arial Narrow" panose="020B0606020202030204" pitchFamily="34" charset="0"/>
            </a:rPr>
            <a:t>X1        	 3.000000  -12.000000</a:t>
          </a:r>
        </a:p>
        <a:p>
          <a:pPr marL="0" lvl="0" indent="0" algn="l" defTabSz="889000" rtl="0">
            <a:lnSpc>
              <a:spcPct val="90000"/>
            </a:lnSpc>
            <a:spcBef>
              <a:spcPct val="0"/>
            </a:spcBef>
            <a:spcAft>
              <a:spcPct val="35000"/>
            </a:spcAft>
            <a:buNone/>
          </a:pPr>
          <a:r>
            <a:rPr lang="en-US" sz="2000" b="1" kern="1200" dirty="0">
              <a:solidFill>
                <a:schemeClr val="tx1"/>
              </a:solidFill>
              <a:latin typeface="Arial Narrow" panose="020B0606020202030204" pitchFamily="34" charset="0"/>
            </a:rPr>
            <a:t>X2       	 1.000000   -4.000000</a:t>
          </a:r>
          <a:endParaRPr lang="es-PE" sz="2000" b="1" kern="1200" dirty="0">
            <a:solidFill>
              <a:schemeClr val="tx1"/>
            </a:solidFill>
            <a:latin typeface="Arial Narrow" panose="020B0606020202030204" pitchFamily="34" charset="0"/>
          </a:endParaRPr>
        </a:p>
      </dsp:txBody>
      <dsp:txXfrm>
        <a:off x="85467" y="97738"/>
        <a:ext cx="3247462" cy="15798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F1F00-4E24-4077-8EDF-BB6DE4E18C65}">
      <dsp:nvSpPr>
        <dsp:cNvPr id="0" name=""/>
        <dsp:cNvSpPr/>
      </dsp:nvSpPr>
      <dsp:spPr>
        <a:xfrm>
          <a:off x="0" y="0"/>
          <a:ext cx="2165548" cy="239223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rtl="0">
            <a:lnSpc>
              <a:spcPct val="90000"/>
            </a:lnSpc>
            <a:spcBef>
              <a:spcPct val="0"/>
            </a:spcBef>
            <a:spcAft>
              <a:spcPct val="35000"/>
            </a:spcAft>
            <a:buNone/>
          </a:pPr>
          <a:r>
            <a:rPr lang="es-MX" sz="1800" kern="1200" dirty="0">
              <a:latin typeface="Arial Narrow" pitchFamily="34" charset="0"/>
            </a:rPr>
            <a:t>MAX    </a:t>
          </a:r>
          <a:r>
            <a:rPr lang="es-MX" sz="1800" kern="1200" dirty="0" err="1">
              <a:latin typeface="Arial Narrow" pitchFamily="34" charset="0"/>
            </a:rPr>
            <a:t>X1</a:t>
          </a:r>
          <a:r>
            <a:rPr lang="es-MX" sz="1800" kern="1200" baseline="-25000" dirty="0">
              <a:latin typeface="Arial Narrow" pitchFamily="34" charset="0"/>
            </a:rPr>
            <a:t>     </a:t>
          </a:r>
          <a:r>
            <a:rPr lang="es-MX" sz="1800" kern="1200" dirty="0">
              <a:latin typeface="Arial Narrow" pitchFamily="34" charset="0"/>
            </a:rPr>
            <a:t>-   </a:t>
          </a:r>
          <a:r>
            <a:rPr lang="es-MX" sz="1800" kern="1200" dirty="0" err="1">
              <a:latin typeface="Arial Narrow" pitchFamily="34" charset="0"/>
            </a:rPr>
            <a:t>X2</a:t>
          </a:r>
          <a:endParaRPr lang="es-MX" sz="1800" kern="1200" dirty="0">
            <a:latin typeface="Arial Narrow" pitchFamily="34" charset="0"/>
          </a:endParaRPr>
        </a:p>
        <a:p>
          <a:pPr marL="0" lvl="0" indent="0" algn="l" defTabSz="800100" rtl="0">
            <a:lnSpc>
              <a:spcPct val="90000"/>
            </a:lnSpc>
            <a:spcBef>
              <a:spcPct val="0"/>
            </a:spcBef>
            <a:spcAft>
              <a:spcPct val="35000"/>
            </a:spcAft>
            <a:buNone/>
          </a:pPr>
          <a:r>
            <a:rPr lang="es-MX" sz="1800" kern="1200" dirty="0" err="1">
              <a:latin typeface="Arial Narrow" pitchFamily="34" charset="0"/>
            </a:rPr>
            <a:t>ST</a:t>
          </a:r>
          <a:endParaRPr lang="es-MX" sz="1800" kern="1200" dirty="0">
            <a:latin typeface="Arial Narrow" pitchFamily="34" charset="0"/>
          </a:endParaRPr>
        </a:p>
        <a:p>
          <a:pPr marL="0" lvl="0" indent="0" algn="l" defTabSz="800100" rtl="0">
            <a:lnSpc>
              <a:spcPct val="90000"/>
            </a:lnSpc>
            <a:spcBef>
              <a:spcPct val="0"/>
            </a:spcBef>
            <a:spcAft>
              <a:spcPct val="35000"/>
            </a:spcAft>
            <a:buNone/>
          </a:pPr>
          <a:r>
            <a:rPr lang="es-PE" sz="1800" kern="1200" dirty="0" err="1">
              <a:latin typeface="Arial Narrow" pitchFamily="34" charset="0"/>
            </a:rPr>
            <a:t>2X1</a:t>
          </a:r>
          <a:r>
            <a:rPr lang="es-PE" sz="1800" kern="1200" dirty="0">
              <a:latin typeface="Arial Narrow" pitchFamily="34" charset="0"/>
            </a:rPr>
            <a:t> </a:t>
          </a:r>
          <a:r>
            <a:rPr lang="es-PE" sz="1800" kern="1200" baseline="-25000" dirty="0">
              <a:latin typeface="Arial Narrow" pitchFamily="34" charset="0"/>
            </a:rPr>
            <a:t>    </a:t>
          </a:r>
          <a:r>
            <a:rPr lang="es-PE" sz="1800" kern="1200" dirty="0">
              <a:latin typeface="Arial Narrow" pitchFamily="34" charset="0"/>
            </a:rPr>
            <a:t>-  </a:t>
          </a:r>
          <a:r>
            <a:rPr lang="es-PE" sz="1800" kern="1200" dirty="0" err="1">
              <a:latin typeface="Arial Narrow" pitchFamily="34" charset="0"/>
            </a:rPr>
            <a:t>2X2</a:t>
          </a:r>
          <a:r>
            <a:rPr lang="es-PE" sz="1800" kern="1200" dirty="0">
              <a:latin typeface="Arial Narrow" pitchFamily="34" charset="0"/>
            </a:rPr>
            <a:t>&lt;=  1</a:t>
          </a:r>
        </a:p>
        <a:p>
          <a:pPr marL="0" lvl="0" indent="0" algn="l" defTabSz="800100" rtl="0">
            <a:lnSpc>
              <a:spcPct val="90000"/>
            </a:lnSpc>
            <a:spcBef>
              <a:spcPct val="0"/>
            </a:spcBef>
            <a:spcAft>
              <a:spcPct val="35000"/>
            </a:spcAft>
            <a:buNone/>
          </a:pPr>
          <a:r>
            <a:rPr lang="es-PE" sz="1800" kern="1200" dirty="0">
              <a:latin typeface="Arial Narrow" pitchFamily="34" charset="0"/>
            </a:rPr>
            <a:t>-</a:t>
          </a:r>
          <a:r>
            <a:rPr lang="es-PE" sz="1800" kern="1200" dirty="0" err="1">
              <a:latin typeface="Arial Narrow" pitchFamily="34" charset="0"/>
            </a:rPr>
            <a:t>4X1</a:t>
          </a:r>
          <a:r>
            <a:rPr lang="es-PE" sz="1800" kern="1200" baseline="-25000" dirty="0">
              <a:latin typeface="Arial Narrow" pitchFamily="34" charset="0"/>
            </a:rPr>
            <a:t>   </a:t>
          </a:r>
          <a:r>
            <a:rPr lang="es-PE" sz="1800" kern="1200" dirty="0">
              <a:latin typeface="Arial Narrow" pitchFamily="34" charset="0"/>
            </a:rPr>
            <a:t>+  </a:t>
          </a:r>
          <a:r>
            <a:rPr lang="es-PE" sz="1800" kern="1200" dirty="0" err="1">
              <a:latin typeface="Arial Narrow" pitchFamily="34" charset="0"/>
            </a:rPr>
            <a:t>4X2</a:t>
          </a:r>
          <a:r>
            <a:rPr lang="es-PE" sz="1800" kern="1200" dirty="0">
              <a:latin typeface="Arial Narrow" pitchFamily="34" charset="0"/>
            </a:rPr>
            <a:t>&lt;= -1</a:t>
          </a:r>
        </a:p>
        <a:p>
          <a:pPr marL="0" lvl="0" indent="0" algn="l" defTabSz="800100" rtl="0">
            <a:lnSpc>
              <a:spcPct val="90000"/>
            </a:lnSpc>
            <a:spcBef>
              <a:spcPct val="0"/>
            </a:spcBef>
            <a:spcAft>
              <a:spcPct val="35000"/>
            </a:spcAft>
            <a:buNone/>
          </a:pPr>
          <a:r>
            <a:rPr lang="es-PE" sz="1800" kern="1200" dirty="0" err="1">
              <a:latin typeface="Arial Narrow" pitchFamily="34" charset="0"/>
            </a:rPr>
            <a:t>END</a:t>
          </a:r>
          <a:endParaRPr lang="es-PE" sz="1800" kern="1200" dirty="0">
            <a:latin typeface="Arial Narrow" pitchFamily="34" charset="0"/>
          </a:endParaRPr>
        </a:p>
        <a:p>
          <a:pPr marL="0" lvl="0" indent="0" algn="l" defTabSz="800100" rtl="0">
            <a:lnSpc>
              <a:spcPct val="90000"/>
            </a:lnSpc>
            <a:spcBef>
              <a:spcPct val="0"/>
            </a:spcBef>
            <a:spcAft>
              <a:spcPct val="35000"/>
            </a:spcAft>
            <a:buNone/>
          </a:pPr>
          <a:r>
            <a:rPr lang="es-PE" sz="1800" kern="1200" dirty="0" err="1">
              <a:latin typeface="Arial Narrow" pitchFamily="34" charset="0"/>
            </a:rPr>
            <a:t>GIN</a:t>
          </a:r>
          <a:r>
            <a:rPr lang="es-PE" sz="1800" kern="1200" dirty="0">
              <a:latin typeface="Arial Narrow" pitchFamily="34" charset="0"/>
            </a:rPr>
            <a:t> </a:t>
          </a:r>
          <a:r>
            <a:rPr lang="es-PE" sz="1800" kern="1200" dirty="0" err="1">
              <a:latin typeface="Arial Narrow" pitchFamily="34" charset="0"/>
            </a:rPr>
            <a:t>X1</a:t>
          </a:r>
          <a:endParaRPr lang="es-PE" sz="1800" kern="1200" dirty="0">
            <a:latin typeface="Arial Narrow" pitchFamily="34" charset="0"/>
          </a:endParaRPr>
        </a:p>
        <a:p>
          <a:pPr marL="0" lvl="0" indent="0" algn="l" defTabSz="800100" rtl="0">
            <a:lnSpc>
              <a:spcPct val="90000"/>
            </a:lnSpc>
            <a:spcBef>
              <a:spcPct val="0"/>
            </a:spcBef>
            <a:spcAft>
              <a:spcPct val="35000"/>
            </a:spcAft>
            <a:buNone/>
          </a:pPr>
          <a:r>
            <a:rPr lang="es-PE" sz="1800" kern="1200" dirty="0" err="1">
              <a:latin typeface="Arial Narrow" pitchFamily="34" charset="0"/>
            </a:rPr>
            <a:t>GIN</a:t>
          </a:r>
          <a:r>
            <a:rPr lang="es-PE" sz="1800" kern="1200" dirty="0">
              <a:latin typeface="Arial Narrow" pitchFamily="34" charset="0"/>
            </a:rPr>
            <a:t> </a:t>
          </a:r>
          <a:r>
            <a:rPr lang="es-PE" sz="1800" kern="1200" dirty="0" err="1">
              <a:latin typeface="Arial Narrow" pitchFamily="34" charset="0"/>
            </a:rPr>
            <a:t>X2</a:t>
          </a:r>
          <a:r>
            <a:rPr lang="es-PE" sz="1800" kern="1200" dirty="0">
              <a:latin typeface="Arial Narrow" pitchFamily="34" charset="0"/>
            </a:rPr>
            <a:t>	</a:t>
          </a:r>
        </a:p>
      </dsp:txBody>
      <dsp:txXfrm>
        <a:off x="105713" y="105713"/>
        <a:ext cx="1954122" cy="21808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0AE652-564A-4692-B5BA-ACA820D7F040}">
      <dsp:nvSpPr>
        <dsp:cNvPr id="0" name=""/>
        <dsp:cNvSpPr/>
      </dsp:nvSpPr>
      <dsp:spPr>
        <a:xfrm>
          <a:off x="0" y="0"/>
          <a:ext cx="2654660" cy="58197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b="1" kern="1200" dirty="0"/>
            <a:t>NO INTEGER SOLUTION WAS FOUND.</a:t>
          </a:r>
          <a:endParaRPr lang="es-PE" sz="1800" b="1" kern="1200" dirty="0"/>
        </a:p>
      </dsp:txBody>
      <dsp:txXfrm>
        <a:off x="28410" y="28410"/>
        <a:ext cx="2597840" cy="5251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187814-C5DF-4C3F-B7A1-CE884366F5B8}">
      <dsp:nvSpPr>
        <dsp:cNvPr id="0" name=""/>
        <dsp:cNvSpPr/>
      </dsp:nvSpPr>
      <dsp:spPr>
        <a:xfrm>
          <a:off x="0" y="780"/>
          <a:ext cx="3326648" cy="159792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MX" sz="2000" kern="1200" dirty="0"/>
            <a:t>SOLUCIÓN OPTIMA</a:t>
          </a:r>
        </a:p>
        <a:p>
          <a:pPr marL="0" lvl="0" indent="0" algn="ctr" defTabSz="889000" rtl="0">
            <a:lnSpc>
              <a:spcPct val="90000"/>
            </a:lnSpc>
            <a:spcBef>
              <a:spcPct val="0"/>
            </a:spcBef>
            <a:spcAft>
              <a:spcPct val="35000"/>
            </a:spcAft>
            <a:buNone/>
          </a:pPr>
          <a:r>
            <a:rPr lang="es-MX" sz="2000" kern="1200" dirty="0" err="1">
              <a:solidFill>
                <a:srgbClr val="FFFF00"/>
              </a:solidFill>
            </a:rPr>
            <a:t>X1</a:t>
          </a:r>
          <a:r>
            <a:rPr lang="es-MX" sz="2000" kern="1200" dirty="0">
              <a:solidFill>
                <a:srgbClr val="FFFF00"/>
              </a:solidFill>
            </a:rPr>
            <a:t>=4  	</a:t>
          </a:r>
          <a:r>
            <a:rPr lang="es-MX" sz="2000" kern="1200" dirty="0" err="1">
              <a:solidFill>
                <a:srgbClr val="FFFF00"/>
              </a:solidFill>
            </a:rPr>
            <a:t>X1</a:t>
          </a:r>
          <a:r>
            <a:rPr lang="es-MX" sz="2000" kern="1200" dirty="0">
              <a:solidFill>
                <a:srgbClr val="FFFF00"/>
              </a:solidFill>
            </a:rPr>
            <a:t>=4.5	</a:t>
          </a:r>
          <a:r>
            <a:rPr lang="es-MX" sz="2000" kern="1200" dirty="0" err="1">
              <a:solidFill>
                <a:srgbClr val="FFFF00"/>
              </a:solidFill>
            </a:rPr>
            <a:t>X1</a:t>
          </a:r>
          <a:r>
            <a:rPr lang="es-MX" sz="2000" kern="1200" dirty="0">
              <a:solidFill>
                <a:srgbClr val="FFFF00"/>
              </a:solidFill>
            </a:rPr>
            <a:t>=5  </a:t>
          </a:r>
        </a:p>
        <a:p>
          <a:pPr marL="0" lvl="0" indent="0" algn="ctr" defTabSz="889000" rtl="0">
            <a:lnSpc>
              <a:spcPct val="90000"/>
            </a:lnSpc>
            <a:spcBef>
              <a:spcPct val="0"/>
            </a:spcBef>
            <a:spcAft>
              <a:spcPct val="35000"/>
            </a:spcAft>
            <a:buNone/>
          </a:pPr>
          <a:r>
            <a:rPr lang="es-MX" sz="2000" kern="1200" dirty="0" err="1">
              <a:solidFill>
                <a:srgbClr val="FFFF00"/>
              </a:solidFill>
            </a:rPr>
            <a:t>X2</a:t>
          </a:r>
          <a:r>
            <a:rPr lang="es-MX" sz="2000" kern="1200" dirty="0">
              <a:solidFill>
                <a:srgbClr val="FFFF00"/>
              </a:solidFill>
            </a:rPr>
            <a:t>=2	</a:t>
          </a:r>
          <a:r>
            <a:rPr lang="es-MX" sz="2000" kern="1200" dirty="0" err="1">
              <a:solidFill>
                <a:srgbClr val="FFFF00"/>
              </a:solidFill>
            </a:rPr>
            <a:t>X2</a:t>
          </a:r>
          <a:r>
            <a:rPr lang="es-MX" sz="2000" kern="1200" dirty="0">
              <a:solidFill>
                <a:srgbClr val="FFFF00"/>
              </a:solidFill>
            </a:rPr>
            <a:t>=1	</a:t>
          </a:r>
          <a:r>
            <a:rPr lang="es-MX" sz="2000" kern="1200" dirty="0" err="1">
              <a:solidFill>
                <a:srgbClr val="FFFF00"/>
              </a:solidFill>
            </a:rPr>
            <a:t>X2</a:t>
          </a:r>
          <a:r>
            <a:rPr lang="es-MX" sz="2000" kern="1200" dirty="0">
              <a:solidFill>
                <a:srgbClr val="FFFF00"/>
              </a:solidFill>
            </a:rPr>
            <a:t>=0</a:t>
          </a:r>
        </a:p>
        <a:p>
          <a:pPr marL="0" lvl="0" indent="0" algn="ctr" defTabSz="889000" rtl="0">
            <a:lnSpc>
              <a:spcPct val="90000"/>
            </a:lnSpc>
            <a:spcBef>
              <a:spcPct val="0"/>
            </a:spcBef>
            <a:spcAft>
              <a:spcPct val="35000"/>
            </a:spcAft>
            <a:buNone/>
          </a:pPr>
          <a:r>
            <a:rPr lang="es-MX" sz="2000" kern="1200" dirty="0">
              <a:solidFill>
                <a:srgbClr val="FFFF00"/>
              </a:solidFill>
            </a:rPr>
            <a:t>Z=40  	Z=40	Z=40</a:t>
          </a:r>
          <a:endParaRPr lang="es-PE" sz="2000" kern="1200" dirty="0"/>
        </a:p>
      </dsp:txBody>
      <dsp:txXfrm>
        <a:off x="78004" y="78784"/>
        <a:ext cx="3170640" cy="14419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0BC99-C35F-427A-99E3-13CFB686C0E8}">
      <dsp:nvSpPr>
        <dsp:cNvPr id="0" name=""/>
        <dsp:cNvSpPr/>
      </dsp:nvSpPr>
      <dsp:spPr>
        <a:xfrm rot="5400000">
          <a:off x="3235337" y="-1084286"/>
          <a:ext cx="1557248" cy="3778832"/>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lang="es-ES" sz="2400" kern="1200" dirty="0"/>
            <a:t>Es un problema en el que se exige que todas las variables de decisión tengan valores enteros.</a:t>
          </a:r>
          <a:endParaRPr lang="es-PE" sz="2400" kern="1200" dirty="0"/>
        </a:p>
      </dsp:txBody>
      <dsp:txXfrm rot="-5400000">
        <a:off x="2124546" y="102524"/>
        <a:ext cx="3702813" cy="1405210"/>
      </dsp:txXfrm>
    </dsp:sp>
    <dsp:sp modelId="{3DF4D673-BB44-466B-9320-8D3BB9DF0EDE}">
      <dsp:nvSpPr>
        <dsp:cNvPr id="0" name=""/>
        <dsp:cNvSpPr/>
      </dsp:nvSpPr>
      <dsp:spPr>
        <a:xfrm>
          <a:off x="1033" y="786"/>
          <a:ext cx="2123512" cy="160868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s-ES" sz="2400" kern="1200"/>
            <a:t>Programación Entero Puro (PEP)</a:t>
          </a:r>
          <a:endParaRPr lang="es-PE" sz="2400" kern="1200"/>
        </a:p>
      </dsp:txBody>
      <dsp:txXfrm>
        <a:off x="79563" y="79316"/>
        <a:ext cx="1966452" cy="14516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8E79A-82E6-4E6A-9C3C-0860FB487BBC}">
      <dsp:nvSpPr>
        <dsp:cNvPr id="0" name=""/>
        <dsp:cNvSpPr/>
      </dsp:nvSpPr>
      <dsp:spPr>
        <a:xfrm rot="5400000">
          <a:off x="3072986" y="-1223569"/>
          <a:ext cx="1570215" cy="4020022"/>
        </a:xfrm>
        <a:prstGeom prst="round2SameRect">
          <a:avLst/>
        </a:prstGeom>
        <a:solidFill>
          <a:srgbClr val="1CADE4">
            <a:alpha val="90000"/>
            <a:tint val="40000"/>
            <a:hueOff val="0"/>
            <a:satOff val="0"/>
            <a:lumOff val="0"/>
            <a:alphaOff val="0"/>
          </a:srgbClr>
        </a:solidFill>
        <a:ln w="12700" cap="flat" cmpd="sng" algn="ctr">
          <a:solidFill>
            <a:srgbClr val="1CADE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0" lvl="1" indent="0" algn="l" defTabSz="1066800">
            <a:lnSpc>
              <a:spcPct val="90000"/>
            </a:lnSpc>
            <a:spcBef>
              <a:spcPct val="0"/>
            </a:spcBef>
            <a:spcAft>
              <a:spcPct val="15000"/>
            </a:spcAft>
            <a:buChar char="•"/>
          </a:pPr>
          <a:r>
            <a:rPr lang="es-ES" sz="2400" kern="1200" dirty="0"/>
            <a:t>Cuando algunas variables de decisión son enteros, mientras que otras pueden asumir cualquier número no negativo.</a:t>
          </a:r>
          <a:endParaRPr lang="es-PE" sz="2400" kern="1200" dirty="0"/>
        </a:p>
      </dsp:txBody>
      <dsp:txXfrm rot="-5400000">
        <a:off x="1848083" y="77986"/>
        <a:ext cx="3943370" cy="1416911"/>
      </dsp:txXfrm>
    </dsp:sp>
    <dsp:sp modelId="{79E5E296-B3E5-44CA-BD53-79D40CEAD722}">
      <dsp:nvSpPr>
        <dsp:cNvPr id="0" name=""/>
        <dsp:cNvSpPr/>
      </dsp:nvSpPr>
      <dsp:spPr>
        <a:xfrm>
          <a:off x="1471" y="768"/>
          <a:ext cx="1846611" cy="157134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s-ES" sz="2100" kern="1200"/>
            <a:t>Programación Lineal Entero (PLE)</a:t>
          </a:r>
          <a:endParaRPr lang="es-PE" sz="2100" kern="1200"/>
        </a:p>
      </dsp:txBody>
      <dsp:txXfrm>
        <a:off x="78178" y="77475"/>
        <a:ext cx="1693197" cy="14179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178B7CE-16B1-4D5A-BEDA-E05D7C0F0E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a:extLst>
              <a:ext uri="{FF2B5EF4-FFF2-40B4-BE49-F238E27FC236}">
                <a16:creationId xmlns:a16="http://schemas.microsoft.com/office/drawing/2014/main" id="{E5CE36C0-2D64-40DB-852E-EFE530BD79E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703D107-6AA0-4BB9-B3AF-2511759F0087}" type="datetimeFigureOut">
              <a:rPr lang="es-PE" smtClean="0"/>
              <a:t>16/08/2026</a:t>
            </a:fld>
            <a:endParaRPr lang="es-PE"/>
          </a:p>
        </p:txBody>
      </p:sp>
      <p:sp>
        <p:nvSpPr>
          <p:cNvPr id="4" name="Marcador de pie de página 3">
            <a:extLst>
              <a:ext uri="{FF2B5EF4-FFF2-40B4-BE49-F238E27FC236}">
                <a16:creationId xmlns:a16="http://schemas.microsoft.com/office/drawing/2014/main" id="{CBB9BBA3-CB3B-42EF-AC1C-A77E63AFD7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5" name="Marcador de número de diapositiva 4">
            <a:extLst>
              <a:ext uri="{FF2B5EF4-FFF2-40B4-BE49-F238E27FC236}">
                <a16:creationId xmlns:a16="http://schemas.microsoft.com/office/drawing/2014/main" id="{B59A3671-5C2E-4C01-9181-86F7078515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4CDB2B-DC05-4B7E-84A4-8E8FE9CBF710}" type="slidenum">
              <a:rPr lang="es-PE" smtClean="0"/>
              <a:t>‹Nº›</a:t>
            </a:fld>
            <a:endParaRPr lang="es-PE"/>
          </a:p>
        </p:txBody>
      </p:sp>
    </p:spTree>
    <p:extLst>
      <p:ext uri="{BB962C8B-B14F-4D97-AF65-F5344CB8AC3E}">
        <p14:creationId xmlns:p14="http://schemas.microsoft.com/office/powerpoint/2010/main" val="2967450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D54B5-B035-46F5-86D2-1F43704B1BDB}" type="datetimeFigureOut">
              <a:rPr lang="es-PE" smtClean="0"/>
              <a:t>16/08/2026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836FA3-1F11-49F4-B68F-8771EDD4DFA8}" type="slidenum">
              <a:rPr lang="es-PE" smtClean="0"/>
              <a:t>‹Nº›</a:t>
            </a:fld>
            <a:endParaRPr lang="es-PE"/>
          </a:p>
        </p:txBody>
      </p:sp>
    </p:spTree>
    <p:extLst>
      <p:ext uri="{BB962C8B-B14F-4D97-AF65-F5344CB8AC3E}">
        <p14:creationId xmlns:p14="http://schemas.microsoft.com/office/powerpoint/2010/main" val="308199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a:xfrm>
            <a:off x="3884613" y="8685213"/>
            <a:ext cx="2971800" cy="457200"/>
          </a:xfrm>
          <a:prstGeom prst="rect">
            <a:avLst/>
          </a:prstGeom>
        </p:spPr>
        <p:txBody>
          <a:bodyPr/>
          <a:lstStyle/>
          <a:p>
            <a:fld id="{937FDB4C-8DB5-4895-9E8B-EB4F1648811C}" type="slidenum">
              <a:rPr lang="es-ES" smtClean="0"/>
              <a:pPr/>
              <a:t>3</a:t>
            </a:fld>
            <a:endParaRPr lang="es-ES" dirty="0"/>
          </a:p>
        </p:txBody>
      </p:sp>
    </p:spTree>
    <p:extLst>
      <p:ext uri="{BB962C8B-B14F-4D97-AF65-F5344CB8AC3E}">
        <p14:creationId xmlns:p14="http://schemas.microsoft.com/office/powerpoint/2010/main" val="672980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bwMode="auto">
          <a:xfrm>
            <a:off x="592138" y="804863"/>
            <a:ext cx="5673725" cy="3192462"/>
          </a:xfrm>
          <a:noFill/>
          <a:ln>
            <a:solidFill>
              <a:srgbClr val="000000"/>
            </a:solidFill>
            <a:miter lim="800000"/>
            <a:headEnd/>
            <a:tailEnd/>
          </a:ln>
        </p:spPr>
      </p:sp>
      <p:sp>
        <p:nvSpPr>
          <p:cNvPr id="50179" name="Rectangle 3"/>
          <p:cNvSpPr>
            <a:spLocks noGrp="1" noChangeArrowheads="1"/>
          </p:cNvSpPr>
          <p:nvPr>
            <p:ph type="body" idx="1"/>
          </p:nvPr>
        </p:nvSpPr>
        <p:spPr bwMode="auto">
          <a:xfrm>
            <a:off x="912813" y="4344988"/>
            <a:ext cx="5032375" cy="3849687"/>
          </a:xfrm>
          <a:noFill/>
        </p:spPr>
        <p:txBody>
          <a:bodyPr wrap="square" numCol="1" anchor="t" anchorCtr="0" compatLnSpc="1">
            <a:prstTxWarp prst="textNoShape">
              <a:avLst/>
            </a:prstTxWarp>
          </a:bodyPr>
          <a:lstStyle/>
          <a:p>
            <a:endParaRPr lang="es-PE"/>
          </a:p>
        </p:txBody>
      </p:sp>
    </p:spTree>
    <p:extLst>
      <p:ext uri="{BB962C8B-B14F-4D97-AF65-F5344CB8AC3E}">
        <p14:creationId xmlns:p14="http://schemas.microsoft.com/office/powerpoint/2010/main" val="1287501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5f391192_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5f391192_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20E13C-61E5-46CC-960D-63C41DAD061E}"/>
              </a:ext>
            </a:extLst>
          </p:cNvPr>
          <p:cNvSpPr>
            <a:spLocks noGrp="1"/>
          </p:cNvSpPr>
          <p:nvPr>
            <p:ph type="ctrTitle"/>
          </p:nvPr>
        </p:nvSpPr>
        <p:spPr>
          <a:xfrm>
            <a:off x="1524000" y="1263684"/>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E6267FC4-894E-4993-BA18-2C880EE5C7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0CFA1ECE-8248-44B1-88C7-8265017B783A}"/>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4C7FFCCB-2285-4BA7-B745-4CE0B16C5B27}"/>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7C464D61-7B3F-4D44-B814-04BD0FE4C3C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884842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2F9EE1-AB02-439C-A953-D0BD302CF3B0}"/>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F391F11-EC76-4F7E-AC56-EAD0CEBCAEA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B378AEF-A6A9-47DF-9C5C-6B50070076FC}"/>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B8D63CA0-8BC2-4AA4-81B5-97227686EA4A}"/>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2EA60248-016B-4028-85F2-75F83EB913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273057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0EA209-C4D8-4196-890A-95A7CD4C068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7D6A4D1-0438-48FA-ADCC-AC432CD76F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A542E60-612D-41CC-9EE5-C343BC61B2E7}"/>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9BA065A3-6AD0-4723-847E-57B36A32A33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6EC95E3-1973-401E-B849-5F2F2C4250A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2837268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FDB3A3-9D86-449F-A088-128C6B5F0AB9}"/>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8EF8CB9-38CA-4EBF-8F62-EE68B4D6F6A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F5BC23C3-AE0F-4F5F-B104-BC7EA7551CA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7FCBCC75-FAFB-4988-ADC8-1E30F0A4E93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9A7CF524-1AD2-4D6E-AF46-445C3506EF87}"/>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1FB533D9-E06A-43BB-8FFF-B7E7E56A373C}"/>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239711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725AD-02A9-499A-B864-01AF086F41AE}"/>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0A753734-FC45-4B55-9A29-B26B4CA130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198FBB3-E4E6-411C-A6B3-B26D0633537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0EBACB3A-C4CB-4902-9988-B007A97C901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EE2010D-8FDA-4E19-9A31-23C0FE9DC25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D1D191B-5CF0-419F-BF5B-EA606AC8D5E6}"/>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8" name="Marcador de pie de página 7">
            <a:extLst>
              <a:ext uri="{FF2B5EF4-FFF2-40B4-BE49-F238E27FC236}">
                <a16:creationId xmlns:a16="http://schemas.microsoft.com/office/drawing/2014/main" id="{3D8A4629-604A-46AD-BB45-292C54D7C6BA}"/>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5C5A188A-724B-44E9-BEF7-9E257530ECA1}"/>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749276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94FFE6-E44F-47FD-8C64-C1FC42A7E758}"/>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A168DDD2-028A-4549-9EB3-E843188772B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4" name="Marcador de pie de página 3">
            <a:extLst>
              <a:ext uri="{FF2B5EF4-FFF2-40B4-BE49-F238E27FC236}">
                <a16:creationId xmlns:a16="http://schemas.microsoft.com/office/drawing/2014/main" id="{ED50669B-5EDE-4060-A1CA-FE7DBD96449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6F429BDB-A623-46DB-A3B7-8B68CD92E4DB}"/>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57664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578ADCC-78DF-44C4-A2C7-A7CF2426998D}"/>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3" name="Marcador de pie de página 2">
            <a:extLst>
              <a:ext uri="{FF2B5EF4-FFF2-40B4-BE49-F238E27FC236}">
                <a16:creationId xmlns:a16="http://schemas.microsoft.com/office/drawing/2014/main" id="{BB7367FB-6CD9-4469-A229-B61F0DC43390}"/>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C301C5A5-C7FD-466A-934B-60249339DC95}"/>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052191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11FB1A-74AA-4E0D-83B3-1170F865B31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5D0C1AE-BAE4-48E0-88AC-F6958D0E85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F3CCC19-652F-4628-8819-4FD180AB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033BD21F-BC06-43CD-9F66-5FD87304EEC4}"/>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B82DF95C-F515-4AB8-9206-5F559DA0B4D2}"/>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3A0F4A3-A4A8-4405-B84F-C1D44A15E05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478757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93BB7-CA9F-4940-8C7F-2CBF43BB503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3045E52B-AEB7-42F1-BC8E-CA7E0DDCD4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193A4FC1-5C27-4983-99E0-60D4F82D50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FFB805C-3A94-453E-BC4E-88A5F9C856A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6" name="Marcador de pie de página 5">
            <a:extLst>
              <a:ext uri="{FF2B5EF4-FFF2-40B4-BE49-F238E27FC236}">
                <a16:creationId xmlns:a16="http://schemas.microsoft.com/office/drawing/2014/main" id="{C448EB1F-6B71-43D0-B4BB-2F47A94BAF6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F90476AE-7DAC-4DCA-A6E4-E2E505CBF2BE}"/>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151975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5B00E-0B7A-4AA1-B637-DC7127C42E77}"/>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882176F4-1231-4795-897F-95458CBCE8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06A9332-3346-4724-9DEE-503B007FAF02}"/>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86A3589D-3073-43DA-AEA2-6F6C05DA511B}"/>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FEE47B5-2AEE-4851-B029-9988B8B57A77}"/>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771582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4AFE1D6-7CA5-4A02-A9CE-8A394A8F3E8F}"/>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218F9D7-F895-4417-B97E-7076B318453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8AE240-89B5-46F0-94D1-CF5205BCB4DE}"/>
              </a:ext>
            </a:extLst>
          </p:cNvPr>
          <p:cNvSpPr>
            <a:spLocks noGrp="1"/>
          </p:cNvSpPr>
          <p:nvPr>
            <p:ph type="dt" sz="half" idx="10"/>
          </p:nvPr>
        </p:nvSpPr>
        <p:spPr/>
        <p:txBody>
          <a:body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E4EB6FE0-843B-48B7-80F0-575414327683}"/>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2CE9982-F23C-426D-A95A-1B50FADAB460}"/>
              </a:ext>
            </a:extLst>
          </p:cNvPr>
          <p:cNvSpPr>
            <a:spLocks noGrp="1"/>
          </p:cNvSpPr>
          <p:nvPr>
            <p:ph type="sldNum" sz="quarter" idx="12"/>
          </p:nvPr>
        </p:nvSpPr>
        <p:spPr/>
        <p:txBody>
          <a:bodyPr/>
          <a:lstStyle/>
          <a:p>
            <a:fld id="{AA7BA379-2009-4338-BF9E-30C0A8FACAF6}" type="slidenum">
              <a:rPr lang="es-PE" smtClean="0"/>
              <a:t>‹Nº›</a:t>
            </a:fld>
            <a:endParaRPr lang="es-PE"/>
          </a:p>
        </p:txBody>
      </p:sp>
    </p:spTree>
    <p:extLst>
      <p:ext uri="{BB962C8B-B14F-4D97-AF65-F5344CB8AC3E}">
        <p14:creationId xmlns:p14="http://schemas.microsoft.com/office/powerpoint/2010/main" val="367027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title"/>
          </p:nvPr>
        </p:nvSpPr>
        <p:spPr>
          <a:xfrm>
            <a:off x="974400" y="3986567"/>
            <a:ext cx="5629600" cy="1220400"/>
          </a:xfrm>
          <a:prstGeom prst="rect">
            <a:avLst/>
          </a:prstGeom>
        </p:spPr>
        <p:txBody>
          <a:bodyPr spcFirstLastPara="1" wrap="square" lIns="0" tIns="0" rIns="0" bIns="0" anchor="ctr" anchorCtr="0">
            <a:noAutofit/>
          </a:bodyPr>
          <a:lstStyle>
            <a:lvl1pPr lvl="0" rtl="0">
              <a:spcBef>
                <a:spcPts val="0"/>
              </a:spcBef>
              <a:spcAft>
                <a:spcPts val="0"/>
              </a:spcAft>
              <a:buSzPts val="9400"/>
              <a:buNone/>
              <a:defRPr sz="12535"/>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r>
              <a:rPr lang="es-ES"/>
              <a:t>Haga clic para modificar el estilo de título del patrón</a:t>
            </a:r>
          </a:p>
        </p:txBody>
      </p:sp>
      <p:grpSp>
        <p:nvGrpSpPr>
          <p:cNvPr id="10" name="Google Shape;10;p2"/>
          <p:cNvGrpSpPr/>
          <p:nvPr/>
        </p:nvGrpSpPr>
        <p:grpSpPr>
          <a:xfrm>
            <a:off x="4658468" y="-60667"/>
            <a:ext cx="7533533" cy="6979333"/>
            <a:chOff x="970375" y="238125"/>
            <a:chExt cx="5650150" cy="5234500"/>
          </a:xfrm>
        </p:grpSpPr>
        <p:sp>
          <p:nvSpPr>
            <p:cNvPr id="11" name="Google Shape;11;p2"/>
            <p:cNvSpPr/>
            <p:nvPr/>
          </p:nvSpPr>
          <p:spPr>
            <a:xfrm>
              <a:off x="970375" y="238125"/>
              <a:ext cx="1456750" cy="5234500"/>
            </a:xfrm>
            <a:custGeom>
              <a:avLst/>
              <a:gdLst/>
              <a:ahLst/>
              <a:cxnLst/>
              <a:rect l="l" t="t" r="r" b="b"/>
              <a:pathLst>
                <a:path w="58270" h="209380" extrusionOk="0">
                  <a:moveTo>
                    <a:pt x="55587" y="0"/>
                  </a:moveTo>
                  <a:lnTo>
                    <a:pt x="7833" y="82697"/>
                  </a:lnTo>
                  <a:cubicBezTo>
                    <a:pt x="0" y="96268"/>
                    <a:pt x="16" y="113111"/>
                    <a:pt x="7833" y="126682"/>
                  </a:cubicBezTo>
                  <a:lnTo>
                    <a:pt x="55587" y="209379"/>
                  </a:lnTo>
                  <a:lnTo>
                    <a:pt x="58270" y="209379"/>
                  </a:lnTo>
                  <a:lnTo>
                    <a:pt x="9849" y="125519"/>
                  </a:lnTo>
                  <a:cubicBezTo>
                    <a:pt x="2435" y="112677"/>
                    <a:pt x="2435" y="96718"/>
                    <a:pt x="9849" y="83860"/>
                  </a:cubicBezTo>
                  <a:lnTo>
                    <a:pt x="58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607825" y="238125"/>
              <a:ext cx="5012700" cy="5234500"/>
            </a:xfrm>
            <a:custGeom>
              <a:avLst/>
              <a:gdLst/>
              <a:ahLst/>
              <a:cxnLst/>
              <a:rect l="l" t="t" r="r" b="b"/>
              <a:pathLst>
                <a:path w="200508" h="209380" extrusionOk="0">
                  <a:moveTo>
                    <a:pt x="58300" y="0"/>
                  </a:moveTo>
                  <a:lnTo>
                    <a:pt x="3490" y="94919"/>
                  </a:lnTo>
                  <a:cubicBezTo>
                    <a:pt x="0" y="100967"/>
                    <a:pt x="0" y="108412"/>
                    <a:pt x="3490" y="114461"/>
                  </a:cubicBezTo>
                  <a:lnTo>
                    <a:pt x="58300" y="209379"/>
                  </a:lnTo>
                  <a:lnTo>
                    <a:pt x="200507" y="209379"/>
                  </a:lnTo>
                  <a:lnTo>
                    <a:pt x="20050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 name="Google Shape;13;p2"/>
          <p:cNvSpPr/>
          <p:nvPr/>
        </p:nvSpPr>
        <p:spPr>
          <a:xfrm rot="1799984">
            <a:off x="7317323" y="61421"/>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rot="1799984">
            <a:off x="8289458" y="-929179"/>
            <a:ext cx="28460" cy="2319628"/>
          </a:xfrm>
          <a:custGeom>
            <a:avLst/>
            <a:gdLst/>
            <a:ahLst/>
            <a:cxnLst/>
            <a:rect l="l" t="t" r="r" b="b"/>
            <a:pathLst>
              <a:path w="2187" h="207239" extrusionOk="0">
                <a:moveTo>
                  <a:pt x="1094" y="0"/>
                </a:moveTo>
                <a:cubicBezTo>
                  <a:pt x="500" y="0"/>
                  <a:pt x="1" y="469"/>
                  <a:pt x="1" y="1063"/>
                </a:cubicBezTo>
                <a:lnTo>
                  <a:pt x="1" y="206145"/>
                </a:lnTo>
                <a:cubicBezTo>
                  <a:pt x="1" y="206739"/>
                  <a:pt x="500" y="207239"/>
                  <a:pt x="1094" y="207239"/>
                </a:cubicBezTo>
                <a:cubicBezTo>
                  <a:pt x="1281" y="207239"/>
                  <a:pt x="1469" y="207176"/>
                  <a:pt x="1625" y="207083"/>
                </a:cubicBezTo>
                <a:cubicBezTo>
                  <a:pt x="1968" y="206895"/>
                  <a:pt x="2187" y="206552"/>
                  <a:pt x="2187" y="206145"/>
                </a:cubicBezTo>
                <a:lnTo>
                  <a:pt x="2187" y="1063"/>
                </a:lnTo>
                <a:cubicBezTo>
                  <a:pt x="2187" y="469"/>
                  <a:pt x="1687" y="0"/>
                  <a:pt x="109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a:off x="1016002" y="1081899"/>
            <a:ext cx="620999" cy="573676"/>
            <a:chOff x="1877325" y="757774"/>
            <a:chExt cx="581969" cy="537619"/>
          </a:xfrm>
        </p:grpSpPr>
        <p:sp>
          <p:nvSpPr>
            <p:cNvPr id="16" name="Google Shape;16;p2"/>
            <p:cNvSpPr/>
            <p:nvPr/>
          </p:nvSpPr>
          <p:spPr>
            <a:xfrm>
              <a:off x="187732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1" y="10387"/>
                    <a:pt x="13311" y="6656"/>
                  </a:cubicBezTo>
                  <a:cubicBezTo>
                    <a:pt x="13311"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50274" y="757774"/>
              <a:ext cx="63598" cy="63598"/>
            </a:xfrm>
            <a:custGeom>
              <a:avLst/>
              <a:gdLst/>
              <a:ahLst/>
              <a:cxnLst/>
              <a:rect l="l" t="t" r="r" b="b"/>
              <a:pathLst>
                <a:path w="13312" h="13312" extrusionOk="0">
                  <a:moveTo>
                    <a:pt x="6656" y="0"/>
                  </a:moveTo>
                  <a:cubicBezTo>
                    <a:pt x="3026" y="0"/>
                    <a:pt x="1" y="3026"/>
                    <a:pt x="1" y="6656"/>
                  </a:cubicBezTo>
                  <a:cubicBezTo>
                    <a:pt x="1" y="10387"/>
                    <a:pt x="3026" y="13312"/>
                    <a:pt x="6656" y="13312"/>
                  </a:cubicBezTo>
                  <a:cubicBezTo>
                    <a:pt x="10287" y="13312"/>
                    <a:pt x="13312" y="10387"/>
                    <a:pt x="13312" y="6656"/>
                  </a:cubicBezTo>
                  <a:cubicBezTo>
                    <a:pt x="13312" y="3026"/>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223224" y="757774"/>
              <a:ext cx="63603" cy="63598"/>
            </a:xfrm>
            <a:custGeom>
              <a:avLst/>
              <a:gdLst/>
              <a:ahLst/>
              <a:cxnLst/>
              <a:rect l="l" t="t" r="r" b="b"/>
              <a:pathLst>
                <a:path w="13313" h="13312" extrusionOk="0">
                  <a:moveTo>
                    <a:pt x="6657" y="0"/>
                  </a:moveTo>
                  <a:cubicBezTo>
                    <a:pt x="2925" y="0"/>
                    <a:pt x="1" y="3026"/>
                    <a:pt x="1" y="6656"/>
                  </a:cubicBezTo>
                  <a:cubicBezTo>
                    <a:pt x="1" y="10387"/>
                    <a:pt x="2925" y="13312"/>
                    <a:pt x="6657" y="13312"/>
                  </a:cubicBezTo>
                  <a:cubicBezTo>
                    <a:pt x="10287" y="13312"/>
                    <a:pt x="13312" y="10387"/>
                    <a:pt x="13312" y="6656"/>
                  </a:cubicBezTo>
                  <a:cubicBezTo>
                    <a:pt x="13312" y="3026"/>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2395695" y="757774"/>
              <a:ext cx="63598" cy="63598"/>
            </a:xfrm>
            <a:custGeom>
              <a:avLst/>
              <a:gdLst/>
              <a:ahLst/>
              <a:cxnLst/>
              <a:rect l="l" t="t" r="r" b="b"/>
              <a:pathLst>
                <a:path w="13312" h="13312" extrusionOk="0">
                  <a:moveTo>
                    <a:pt x="6656" y="0"/>
                  </a:moveTo>
                  <a:cubicBezTo>
                    <a:pt x="3026" y="0"/>
                    <a:pt x="0" y="3026"/>
                    <a:pt x="0" y="6656"/>
                  </a:cubicBezTo>
                  <a:cubicBezTo>
                    <a:pt x="0" y="10387"/>
                    <a:pt x="3026" y="13312"/>
                    <a:pt x="6656" y="13312"/>
                  </a:cubicBezTo>
                  <a:cubicBezTo>
                    <a:pt x="10387" y="13312"/>
                    <a:pt x="13312" y="10387"/>
                    <a:pt x="13312" y="6656"/>
                  </a:cubicBezTo>
                  <a:cubicBezTo>
                    <a:pt x="13312" y="3026"/>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87732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1" y="103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50274" y="915780"/>
              <a:ext cx="63598" cy="63598"/>
            </a:xfrm>
            <a:custGeom>
              <a:avLst/>
              <a:gdLst/>
              <a:ahLst/>
              <a:cxnLst/>
              <a:rect l="l" t="t" r="r" b="b"/>
              <a:pathLst>
                <a:path w="13312" h="13312" extrusionOk="0">
                  <a:moveTo>
                    <a:pt x="6656" y="1"/>
                  </a:moveTo>
                  <a:cubicBezTo>
                    <a:pt x="3026" y="1"/>
                    <a:pt x="1" y="3026"/>
                    <a:pt x="1" y="6656"/>
                  </a:cubicBezTo>
                  <a:cubicBezTo>
                    <a:pt x="1" y="10387"/>
                    <a:pt x="3026" y="13312"/>
                    <a:pt x="6656" y="13312"/>
                  </a:cubicBezTo>
                  <a:cubicBezTo>
                    <a:pt x="10287" y="13312"/>
                    <a:pt x="13312" y="103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2223224" y="915780"/>
              <a:ext cx="63603" cy="63598"/>
            </a:xfrm>
            <a:custGeom>
              <a:avLst/>
              <a:gdLst/>
              <a:ahLst/>
              <a:cxnLst/>
              <a:rect l="l" t="t" r="r" b="b"/>
              <a:pathLst>
                <a:path w="13313" h="13312" extrusionOk="0">
                  <a:moveTo>
                    <a:pt x="6657" y="1"/>
                  </a:moveTo>
                  <a:cubicBezTo>
                    <a:pt x="2925" y="1"/>
                    <a:pt x="1" y="3026"/>
                    <a:pt x="1" y="6656"/>
                  </a:cubicBezTo>
                  <a:cubicBezTo>
                    <a:pt x="1" y="10387"/>
                    <a:pt x="2925" y="13312"/>
                    <a:pt x="6657" y="13312"/>
                  </a:cubicBezTo>
                  <a:cubicBezTo>
                    <a:pt x="10287" y="13312"/>
                    <a:pt x="13312" y="103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395695" y="915780"/>
              <a:ext cx="63598" cy="63598"/>
            </a:xfrm>
            <a:custGeom>
              <a:avLst/>
              <a:gdLst/>
              <a:ahLst/>
              <a:cxnLst/>
              <a:rect l="l" t="t" r="r" b="b"/>
              <a:pathLst>
                <a:path w="13312" h="13312" extrusionOk="0">
                  <a:moveTo>
                    <a:pt x="6656" y="1"/>
                  </a:moveTo>
                  <a:cubicBezTo>
                    <a:pt x="3026" y="1"/>
                    <a:pt x="0" y="3026"/>
                    <a:pt x="0" y="6656"/>
                  </a:cubicBezTo>
                  <a:cubicBezTo>
                    <a:pt x="0" y="10387"/>
                    <a:pt x="3026" y="13312"/>
                    <a:pt x="6656" y="13312"/>
                  </a:cubicBezTo>
                  <a:cubicBezTo>
                    <a:pt x="10387" y="13312"/>
                    <a:pt x="13312" y="103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187732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1" y="10287"/>
                    <a:pt x="13311" y="6656"/>
                  </a:cubicBezTo>
                  <a:cubicBezTo>
                    <a:pt x="13311"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2050274" y="1073785"/>
              <a:ext cx="63598" cy="63603"/>
            </a:xfrm>
            <a:custGeom>
              <a:avLst/>
              <a:gdLst/>
              <a:ahLst/>
              <a:cxnLst/>
              <a:rect l="l" t="t" r="r" b="b"/>
              <a:pathLst>
                <a:path w="13312" h="13313" extrusionOk="0">
                  <a:moveTo>
                    <a:pt x="6656" y="1"/>
                  </a:moveTo>
                  <a:cubicBezTo>
                    <a:pt x="3026" y="1"/>
                    <a:pt x="1" y="3026"/>
                    <a:pt x="1" y="6656"/>
                  </a:cubicBezTo>
                  <a:cubicBezTo>
                    <a:pt x="1" y="10287"/>
                    <a:pt x="3026" y="13312"/>
                    <a:pt x="6656" y="13312"/>
                  </a:cubicBezTo>
                  <a:cubicBezTo>
                    <a:pt x="10287" y="13312"/>
                    <a:pt x="13312" y="10287"/>
                    <a:pt x="13312" y="6656"/>
                  </a:cubicBezTo>
                  <a:cubicBezTo>
                    <a:pt x="13312" y="3026"/>
                    <a:pt x="102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223224" y="1073785"/>
              <a:ext cx="63603" cy="63603"/>
            </a:xfrm>
            <a:custGeom>
              <a:avLst/>
              <a:gdLst/>
              <a:ahLst/>
              <a:cxnLst/>
              <a:rect l="l" t="t" r="r" b="b"/>
              <a:pathLst>
                <a:path w="13313" h="13313" extrusionOk="0">
                  <a:moveTo>
                    <a:pt x="6657" y="1"/>
                  </a:moveTo>
                  <a:cubicBezTo>
                    <a:pt x="2925" y="1"/>
                    <a:pt x="1" y="3026"/>
                    <a:pt x="1" y="6656"/>
                  </a:cubicBezTo>
                  <a:cubicBezTo>
                    <a:pt x="1" y="10287"/>
                    <a:pt x="2925" y="13312"/>
                    <a:pt x="6657" y="13312"/>
                  </a:cubicBezTo>
                  <a:cubicBezTo>
                    <a:pt x="10287" y="13312"/>
                    <a:pt x="13312" y="10287"/>
                    <a:pt x="13312" y="6656"/>
                  </a:cubicBezTo>
                  <a:cubicBezTo>
                    <a:pt x="13312" y="3026"/>
                    <a:pt x="10287" y="1"/>
                    <a:pt x="66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395695" y="1073785"/>
              <a:ext cx="63598" cy="63603"/>
            </a:xfrm>
            <a:custGeom>
              <a:avLst/>
              <a:gdLst/>
              <a:ahLst/>
              <a:cxnLst/>
              <a:rect l="l" t="t" r="r" b="b"/>
              <a:pathLst>
                <a:path w="13312" h="13313" extrusionOk="0">
                  <a:moveTo>
                    <a:pt x="6656" y="1"/>
                  </a:moveTo>
                  <a:cubicBezTo>
                    <a:pt x="3026" y="1"/>
                    <a:pt x="0" y="3026"/>
                    <a:pt x="0" y="6656"/>
                  </a:cubicBezTo>
                  <a:cubicBezTo>
                    <a:pt x="0" y="10287"/>
                    <a:pt x="3026" y="13312"/>
                    <a:pt x="6656" y="13312"/>
                  </a:cubicBezTo>
                  <a:cubicBezTo>
                    <a:pt x="10387" y="13312"/>
                    <a:pt x="13312" y="10287"/>
                    <a:pt x="13312" y="6656"/>
                  </a:cubicBezTo>
                  <a:cubicBezTo>
                    <a:pt x="13312" y="3026"/>
                    <a:pt x="10387" y="1"/>
                    <a:pt x="66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87732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1" y="10286"/>
                    <a:pt x="13311" y="6656"/>
                  </a:cubicBezTo>
                  <a:cubicBezTo>
                    <a:pt x="13311"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2050274" y="1231796"/>
              <a:ext cx="63598" cy="63598"/>
            </a:xfrm>
            <a:custGeom>
              <a:avLst/>
              <a:gdLst/>
              <a:ahLst/>
              <a:cxnLst/>
              <a:rect l="l" t="t" r="r" b="b"/>
              <a:pathLst>
                <a:path w="13312" h="13312" extrusionOk="0">
                  <a:moveTo>
                    <a:pt x="6656" y="0"/>
                  </a:moveTo>
                  <a:cubicBezTo>
                    <a:pt x="3026" y="0"/>
                    <a:pt x="1" y="2925"/>
                    <a:pt x="1" y="6656"/>
                  </a:cubicBezTo>
                  <a:cubicBezTo>
                    <a:pt x="1" y="10286"/>
                    <a:pt x="3026" y="13311"/>
                    <a:pt x="6656" y="13311"/>
                  </a:cubicBezTo>
                  <a:cubicBezTo>
                    <a:pt x="10287" y="13311"/>
                    <a:pt x="13312" y="10286"/>
                    <a:pt x="13312" y="6656"/>
                  </a:cubicBezTo>
                  <a:cubicBezTo>
                    <a:pt x="13312" y="2925"/>
                    <a:pt x="102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223224" y="1231796"/>
              <a:ext cx="63603" cy="63598"/>
            </a:xfrm>
            <a:custGeom>
              <a:avLst/>
              <a:gdLst/>
              <a:ahLst/>
              <a:cxnLst/>
              <a:rect l="l" t="t" r="r" b="b"/>
              <a:pathLst>
                <a:path w="13313" h="13312" extrusionOk="0">
                  <a:moveTo>
                    <a:pt x="6657" y="0"/>
                  </a:moveTo>
                  <a:cubicBezTo>
                    <a:pt x="2925" y="0"/>
                    <a:pt x="1" y="2925"/>
                    <a:pt x="1" y="6656"/>
                  </a:cubicBezTo>
                  <a:cubicBezTo>
                    <a:pt x="1" y="10286"/>
                    <a:pt x="2925" y="13311"/>
                    <a:pt x="6657" y="13311"/>
                  </a:cubicBezTo>
                  <a:cubicBezTo>
                    <a:pt x="10287" y="13311"/>
                    <a:pt x="13312" y="10286"/>
                    <a:pt x="13312" y="6656"/>
                  </a:cubicBezTo>
                  <a:cubicBezTo>
                    <a:pt x="13312" y="2925"/>
                    <a:pt x="10287" y="0"/>
                    <a:pt x="66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395695" y="1231796"/>
              <a:ext cx="63598" cy="63598"/>
            </a:xfrm>
            <a:custGeom>
              <a:avLst/>
              <a:gdLst/>
              <a:ahLst/>
              <a:cxnLst/>
              <a:rect l="l" t="t" r="r" b="b"/>
              <a:pathLst>
                <a:path w="13312" h="13312" extrusionOk="0">
                  <a:moveTo>
                    <a:pt x="6656" y="0"/>
                  </a:moveTo>
                  <a:cubicBezTo>
                    <a:pt x="3026" y="0"/>
                    <a:pt x="0" y="2925"/>
                    <a:pt x="0" y="6656"/>
                  </a:cubicBezTo>
                  <a:cubicBezTo>
                    <a:pt x="0" y="10286"/>
                    <a:pt x="3026" y="13311"/>
                    <a:pt x="6656" y="13311"/>
                  </a:cubicBezTo>
                  <a:cubicBezTo>
                    <a:pt x="10387" y="13311"/>
                    <a:pt x="13312" y="10286"/>
                    <a:pt x="13312" y="6656"/>
                  </a:cubicBezTo>
                  <a:cubicBezTo>
                    <a:pt x="13312" y="2925"/>
                    <a:pt x="10387" y="0"/>
                    <a:pt x="66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 name="Google Shape;32;p2"/>
          <p:cNvSpPr/>
          <p:nvPr/>
        </p:nvSpPr>
        <p:spPr>
          <a:xfrm>
            <a:off x="7726169" y="5880102"/>
            <a:ext cx="947851" cy="117881"/>
          </a:xfrm>
          <a:custGeom>
            <a:avLst/>
            <a:gdLst/>
            <a:ahLst/>
            <a:cxnLst/>
            <a:rect l="l" t="t" r="r" b="b"/>
            <a:pathLst>
              <a:path w="178391" h="22186" extrusionOk="0">
                <a:moveTo>
                  <a:pt x="173752" y="13009"/>
                </a:moveTo>
                <a:cubicBezTo>
                  <a:pt x="172743" y="13009"/>
                  <a:pt x="171836" y="12807"/>
                  <a:pt x="171130" y="12202"/>
                </a:cubicBezTo>
                <a:cubicBezTo>
                  <a:pt x="170525" y="11698"/>
                  <a:pt x="170020" y="10992"/>
                  <a:pt x="169718" y="9883"/>
                </a:cubicBezTo>
                <a:cubicBezTo>
                  <a:pt x="168911" y="6958"/>
                  <a:pt x="167298" y="4437"/>
                  <a:pt x="165079" y="2723"/>
                </a:cubicBezTo>
                <a:cubicBezTo>
                  <a:pt x="162760" y="1009"/>
                  <a:pt x="159936" y="0"/>
                  <a:pt x="156911" y="0"/>
                </a:cubicBezTo>
                <a:cubicBezTo>
                  <a:pt x="153785" y="0"/>
                  <a:pt x="150961" y="1009"/>
                  <a:pt x="148642" y="2723"/>
                </a:cubicBezTo>
                <a:cubicBezTo>
                  <a:pt x="146423" y="4437"/>
                  <a:pt x="144810" y="6958"/>
                  <a:pt x="144003" y="9883"/>
                </a:cubicBezTo>
                <a:cubicBezTo>
                  <a:pt x="143701" y="10992"/>
                  <a:pt x="143196" y="11698"/>
                  <a:pt x="142591" y="12202"/>
                </a:cubicBezTo>
                <a:cubicBezTo>
                  <a:pt x="141885" y="12807"/>
                  <a:pt x="140978" y="13009"/>
                  <a:pt x="139969" y="13009"/>
                </a:cubicBezTo>
                <a:cubicBezTo>
                  <a:pt x="138961" y="13009"/>
                  <a:pt x="138053" y="12807"/>
                  <a:pt x="137348" y="12202"/>
                </a:cubicBezTo>
                <a:cubicBezTo>
                  <a:pt x="136642" y="11698"/>
                  <a:pt x="136137" y="10891"/>
                  <a:pt x="135936" y="9883"/>
                </a:cubicBezTo>
                <a:cubicBezTo>
                  <a:pt x="135129" y="6958"/>
                  <a:pt x="133516" y="4437"/>
                  <a:pt x="131196" y="2723"/>
                </a:cubicBezTo>
                <a:cubicBezTo>
                  <a:pt x="128877" y="1009"/>
                  <a:pt x="126053" y="0"/>
                  <a:pt x="123028" y="0"/>
                </a:cubicBezTo>
                <a:cubicBezTo>
                  <a:pt x="120003" y="0"/>
                  <a:pt x="117179" y="1009"/>
                  <a:pt x="114860" y="2723"/>
                </a:cubicBezTo>
                <a:cubicBezTo>
                  <a:pt x="112540" y="4437"/>
                  <a:pt x="110927" y="6958"/>
                  <a:pt x="110120" y="9883"/>
                </a:cubicBezTo>
                <a:cubicBezTo>
                  <a:pt x="109918" y="10992"/>
                  <a:pt x="109414" y="11698"/>
                  <a:pt x="108708" y="12202"/>
                </a:cubicBezTo>
                <a:cubicBezTo>
                  <a:pt x="108002" y="12807"/>
                  <a:pt x="107095" y="13009"/>
                  <a:pt x="106086" y="13009"/>
                </a:cubicBezTo>
                <a:cubicBezTo>
                  <a:pt x="105078" y="13009"/>
                  <a:pt x="104170" y="12807"/>
                  <a:pt x="103465" y="12202"/>
                </a:cubicBezTo>
                <a:cubicBezTo>
                  <a:pt x="102859" y="11698"/>
                  <a:pt x="102355" y="10992"/>
                  <a:pt x="102053" y="9883"/>
                </a:cubicBezTo>
                <a:cubicBezTo>
                  <a:pt x="101246" y="6958"/>
                  <a:pt x="99633" y="4437"/>
                  <a:pt x="97313" y="2723"/>
                </a:cubicBezTo>
                <a:cubicBezTo>
                  <a:pt x="95095" y="1009"/>
                  <a:pt x="92271" y="0"/>
                  <a:pt x="89145" y="0"/>
                </a:cubicBezTo>
                <a:cubicBezTo>
                  <a:pt x="86120" y="0"/>
                  <a:pt x="83296" y="1009"/>
                  <a:pt x="80977" y="2723"/>
                </a:cubicBezTo>
                <a:cubicBezTo>
                  <a:pt x="78758" y="4437"/>
                  <a:pt x="77044" y="6958"/>
                  <a:pt x="76338" y="9883"/>
                </a:cubicBezTo>
                <a:cubicBezTo>
                  <a:pt x="76035" y="10891"/>
                  <a:pt x="75531" y="11698"/>
                  <a:pt x="74926" y="12202"/>
                </a:cubicBezTo>
                <a:cubicBezTo>
                  <a:pt x="74220" y="12807"/>
                  <a:pt x="73313" y="13009"/>
                  <a:pt x="72304" y="13009"/>
                </a:cubicBezTo>
                <a:cubicBezTo>
                  <a:pt x="71195" y="13009"/>
                  <a:pt x="70287" y="12807"/>
                  <a:pt x="69682" y="12202"/>
                </a:cubicBezTo>
                <a:cubicBezTo>
                  <a:pt x="68977" y="11698"/>
                  <a:pt x="68472" y="10891"/>
                  <a:pt x="68170" y="9883"/>
                </a:cubicBezTo>
                <a:cubicBezTo>
                  <a:pt x="67464" y="6958"/>
                  <a:pt x="65750" y="4437"/>
                  <a:pt x="63531" y="2723"/>
                </a:cubicBezTo>
                <a:cubicBezTo>
                  <a:pt x="61212" y="1009"/>
                  <a:pt x="58388" y="0"/>
                  <a:pt x="55363" y="0"/>
                </a:cubicBezTo>
                <a:cubicBezTo>
                  <a:pt x="52237" y="0"/>
                  <a:pt x="49413" y="1009"/>
                  <a:pt x="47195" y="2723"/>
                </a:cubicBezTo>
                <a:cubicBezTo>
                  <a:pt x="44875" y="4437"/>
                  <a:pt x="43262" y="6958"/>
                  <a:pt x="42455" y="9883"/>
                </a:cubicBezTo>
                <a:cubicBezTo>
                  <a:pt x="42153" y="10992"/>
                  <a:pt x="41749" y="11698"/>
                  <a:pt x="41043" y="12202"/>
                </a:cubicBezTo>
                <a:cubicBezTo>
                  <a:pt x="40337" y="12807"/>
                  <a:pt x="39430" y="13009"/>
                  <a:pt x="38421" y="13009"/>
                </a:cubicBezTo>
                <a:cubicBezTo>
                  <a:pt x="37413" y="13009"/>
                  <a:pt x="36505" y="12807"/>
                  <a:pt x="35799" y="12202"/>
                </a:cubicBezTo>
                <a:cubicBezTo>
                  <a:pt x="35094" y="11698"/>
                  <a:pt x="34589" y="10992"/>
                  <a:pt x="34388" y="9883"/>
                </a:cubicBezTo>
                <a:cubicBezTo>
                  <a:pt x="33581" y="6958"/>
                  <a:pt x="31967" y="4437"/>
                  <a:pt x="29648" y="2723"/>
                </a:cubicBezTo>
                <a:cubicBezTo>
                  <a:pt x="27329" y="1009"/>
                  <a:pt x="24505" y="0"/>
                  <a:pt x="21480" y="0"/>
                </a:cubicBezTo>
                <a:cubicBezTo>
                  <a:pt x="18455" y="0"/>
                  <a:pt x="15631" y="1009"/>
                  <a:pt x="13312" y="2723"/>
                </a:cubicBezTo>
                <a:cubicBezTo>
                  <a:pt x="10992" y="4437"/>
                  <a:pt x="9379" y="6958"/>
                  <a:pt x="8572" y="9883"/>
                </a:cubicBezTo>
                <a:cubicBezTo>
                  <a:pt x="8370" y="10891"/>
                  <a:pt x="7866" y="11698"/>
                  <a:pt x="7160" y="12202"/>
                </a:cubicBezTo>
                <a:cubicBezTo>
                  <a:pt x="6555" y="12807"/>
                  <a:pt x="5648" y="13009"/>
                  <a:pt x="4538" y="13009"/>
                </a:cubicBezTo>
                <a:cubicBezTo>
                  <a:pt x="2017" y="13009"/>
                  <a:pt x="0" y="15127"/>
                  <a:pt x="0" y="17648"/>
                </a:cubicBezTo>
                <a:cubicBezTo>
                  <a:pt x="0" y="20169"/>
                  <a:pt x="2017" y="22186"/>
                  <a:pt x="4538" y="22186"/>
                </a:cubicBezTo>
                <a:cubicBezTo>
                  <a:pt x="7664" y="22186"/>
                  <a:pt x="10488" y="21278"/>
                  <a:pt x="12707" y="19463"/>
                </a:cubicBezTo>
                <a:cubicBezTo>
                  <a:pt x="15026" y="17748"/>
                  <a:pt x="16639" y="15227"/>
                  <a:pt x="17446" y="12303"/>
                </a:cubicBezTo>
                <a:cubicBezTo>
                  <a:pt x="17749" y="11295"/>
                  <a:pt x="18152" y="10488"/>
                  <a:pt x="18858" y="9984"/>
                </a:cubicBezTo>
                <a:cubicBezTo>
                  <a:pt x="19564" y="9479"/>
                  <a:pt x="20471" y="9177"/>
                  <a:pt x="21480" y="9177"/>
                </a:cubicBezTo>
                <a:cubicBezTo>
                  <a:pt x="22488" y="9177"/>
                  <a:pt x="23396" y="9479"/>
                  <a:pt x="24102" y="9984"/>
                </a:cubicBezTo>
                <a:cubicBezTo>
                  <a:pt x="24808" y="10488"/>
                  <a:pt x="25211" y="11295"/>
                  <a:pt x="25514" y="12303"/>
                </a:cubicBezTo>
                <a:cubicBezTo>
                  <a:pt x="26320" y="15227"/>
                  <a:pt x="27934" y="17748"/>
                  <a:pt x="30253" y="19463"/>
                </a:cubicBezTo>
                <a:cubicBezTo>
                  <a:pt x="32472" y="21278"/>
                  <a:pt x="35396" y="22186"/>
                  <a:pt x="38421" y="22186"/>
                </a:cubicBezTo>
                <a:cubicBezTo>
                  <a:pt x="41447" y="22186"/>
                  <a:pt x="44270" y="21278"/>
                  <a:pt x="46590" y="19463"/>
                </a:cubicBezTo>
                <a:cubicBezTo>
                  <a:pt x="48909" y="17748"/>
                  <a:pt x="50522" y="15227"/>
                  <a:pt x="51329" y="12303"/>
                </a:cubicBezTo>
                <a:cubicBezTo>
                  <a:pt x="51531" y="11295"/>
                  <a:pt x="52035" y="10488"/>
                  <a:pt x="52741" y="9984"/>
                </a:cubicBezTo>
                <a:cubicBezTo>
                  <a:pt x="53346" y="9479"/>
                  <a:pt x="54254" y="9177"/>
                  <a:pt x="55363" y="9177"/>
                </a:cubicBezTo>
                <a:cubicBezTo>
                  <a:pt x="56371" y="9177"/>
                  <a:pt x="57279" y="9479"/>
                  <a:pt x="57985" y="9984"/>
                </a:cubicBezTo>
                <a:cubicBezTo>
                  <a:pt x="58590" y="10488"/>
                  <a:pt x="59094" y="11295"/>
                  <a:pt x="59397" y="12303"/>
                </a:cubicBezTo>
                <a:cubicBezTo>
                  <a:pt x="60203" y="15227"/>
                  <a:pt x="61817" y="17748"/>
                  <a:pt x="64035" y="19463"/>
                </a:cubicBezTo>
                <a:cubicBezTo>
                  <a:pt x="66355" y="21278"/>
                  <a:pt x="69178" y="22186"/>
                  <a:pt x="72203" y="22186"/>
                </a:cubicBezTo>
                <a:cubicBezTo>
                  <a:pt x="75330" y="22186"/>
                  <a:pt x="78153" y="21278"/>
                  <a:pt x="80473" y="19463"/>
                </a:cubicBezTo>
                <a:cubicBezTo>
                  <a:pt x="82691" y="17748"/>
                  <a:pt x="84305" y="15227"/>
                  <a:pt x="85111" y="12303"/>
                </a:cubicBezTo>
                <a:cubicBezTo>
                  <a:pt x="85414" y="11295"/>
                  <a:pt x="85918" y="10488"/>
                  <a:pt x="86523" y="9984"/>
                </a:cubicBezTo>
                <a:cubicBezTo>
                  <a:pt x="87229" y="9479"/>
                  <a:pt x="88137" y="9177"/>
                  <a:pt x="89145" y="9177"/>
                </a:cubicBezTo>
                <a:cubicBezTo>
                  <a:pt x="90254" y="9177"/>
                  <a:pt x="91162" y="9479"/>
                  <a:pt x="91767" y="9984"/>
                </a:cubicBezTo>
                <a:cubicBezTo>
                  <a:pt x="92473" y="10488"/>
                  <a:pt x="92977" y="11295"/>
                  <a:pt x="93179" y="12303"/>
                </a:cubicBezTo>
                <a:cubicBezTo>
                  <a:pt x="93985" y="15227"/>
                  <a:pt x="95599" y="17748"/>
                  <a:pt x="97918" y="19463"/>
                </a:cubicBezTo>
                <a:cubicBezTo>
                  <a:pt x="100238" y="21278"/>
                  <a:pt x="103061" y="22186"/>
                  <a:pt x="106086" y="22186"/>
                </a:cubicBezTo>
                <a:cubicBezTo>
                  <a:pt x="109112" y="22186"/>
                  <a:pt x="112036" y="21278"/>
                  <a:pt x="114255" y="19463"/>
                </a:cubicBezTo>
                <a:cubicBezTo>
                  <a:pt x="116574" y="17748"/>
                  <a:pt x="118187" y="15227"/>
                  <a:pt x="118994" y="12303"/>
                </a:cubicBezTo>
                <a:cubicBezTo>
                  <a:pt x="119297" y="11295"/>
                  <a:pt x="119700" y="10488"/>
                  <a:pt x="120406" y="9984"/>
                </a:cubicBezTo>
                <a:cubicBezTo>
                  <a:pt x="121112" y="9479"/>
                  <a:pt x="122019" y="9177"/>
                  <a:pt x="123028" y="9177"/>
                </a:cubicBezTo>
                <a:cubicBezTo>
                  <a:pt x="124036" y="9177"/>
                  <a:pt x="124944" y="9479"/>
                  <a:pt x="125650" y="9984"/>
                </a:cubicBezTo>
                <a:cubicBezTo>
                  <a:pt x="126356" y="10488"/>
                  <a:pt x="126759" y="11295"/>
                  <a:pt x="127062" y="12303"/>
                </a:cubicBezTo>
                <a:cubicBezTo>
                  <a:pt x="127868" y="15227"/>
                  <a:pt x="129482" y="17748"/>
                  <a:pt x="131801" y="19463"/>
                </a:cubicBezTo>
                <a:cubicBezTo>
                  <a:pt x="134020" y="21278"/>
                  <a:pt x="136843" y="22186"/>
                  <a:pt x="139969" y="22186"/>
                </a:cubicBezTo>
                <a:cubicBezTo>
                  <a:pt x="142995" y="22186"/>
                  <a:pt x="145818" y="21278"/>
                  <a:pt x="148138" y="19463"/>
                </a:cubicBezTo>
                <a:cubicBezTo>
                  <a:pt x="150356" y="17748"/>
                  <a:pt x="152070" y="15227"/>
                  <a:pt x="152776" y="12303"/>
                </a:cubicBezTo>
                <a:cubicBezTo>
                  <a:pt x="153079" y="11295"/>
                  <a:pt x="153583" y="10488"/>
                  <a:pt x="154289" y="9984"/>
                </a:cubicBezTo>
                <a:cubicBezTo>
                  <a:pt x="154894" y="9479"/>
                  <a:pt x="155802" y="9177"/>
                  <a:pt x="156911" y="9177"/>
                </a:cubicBezTo>
                <a:cubicBezTo>
                  <a:pt x="157919" y="9177"/>
                  <a:pt x="158827" y="9479"/>
                  <a:pt x="159533" y="9984"/>
                </a:cubicBezTo>
                <a:cubicBezTo>
                  <a:pt x="160138" y="10488"/>
                  <a:pt x="160642" y="11295"/>
                  <a:pt x="160945" y="12303"/>
                </a:cubicBezTo>
                <a:cubicBezTo>
                  <a:pt x="161751" y="15227"/>
                  <a:pt x="163365" y="17748"/>
                  <a:pt x="165583" y="19463"/>
                </a:cubicBezTo>
                <a:cubicBezTo>
                  <a:pt x="167903" y="21278"/>
                  <a:pt x="170726" y="22186"/>
                  <a:pt x="173752" y="22186"/>
                </a:cubicBezTo>
                <a:cubicBezTo>
                  <a:pt x="176273" y="22186"/>
                  <a:pt x="178390" y="20169"/>
                  <a:pt x="178390" y="17648"/>
                </a:cubicBezTo>
                <a:cubicBezTo>
                  <a:pt x="178390" y="15127"/>
                  <a:pt x="176273" y="13009"/>
                  <a:pt x="173752" y="13009"/>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1016000" y="5406567"/>
            <a:ext cx="838000" cy="119600"/>
          </a:xfrm>
          <a:prstGeom prst="rect">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2"/>
          <p:cNvSpPr txBox="1">
            <a:spLocks noGrp="1"/>
          </p:cNvSpPr>
          <p:nvPr>
            <p:ph type="subTitle" idx="1"/>
          </p:nvPr>
        </p:nvSpPr>
        <p:spPr>
          <a:xfrm>
            <a:off x="974400" y="2720472"/>
            <a:ext cx="5706000" cy="1162000"/>
          </a:xfrm>
          <a:prstGeom prst="rect">
            <a:avLst/>
          </a:prstGeom>
        </p:spPr>
        <p:txBody>
          <a:bodyPr spcFirstLastPara="1" wrap="square" lIns="0" tIns="0" rIns="0" bIns="0" anchor="b" anchorCtr="0">
            <a:noAutofit/>
          </a:bodyPr>
          <a:lstStyle>
            <a:lvl1pPr lvl="0">
              <a:lnSpc>
                <a:spcPct val="100000"/>
              </a:lnSpc>
              <a:spcBef>
                <a:spcPts val="0"/>
              </a:spcBef>
              <a:spcAft>
                <a:spcPts val="0"/>
              </a:spcAft>
              <a:buClr>
                <a:schemeClr val="dk1"/>
              </a:buClr>
              <a:buSzPts val="2300"/>
              <a:buNone/>
              <a:defRPr sz="5465" b="1">
                <a:solidFill>
                  <a:schemeClr val="dk1"/>
                </a:solidFill>
                <a:latin typeface="Signika"/>
                <a:ea typeface="Signika"/>
                <a:cs typeface="Signika"/>
                <a:sym typeface="Signika"/>
              </a:defRPr>
            </a:lvl1pPr>
            <a:lvl2pPr lvl="1">
              <a:lnSpc>
                <a:spcPct val="100000"/>
              </a:lnSpc>
              <a:spcBef>
                <a:spcPts val="0"/>
              </a:spcBef>
              <a:spcAft>
                <a:spcPts val="0"/>
              </a:spcAft>
              <a:buSzPts val="2800"/>
              <a:buNone/>
              <a:defRPr sz="3735"/>
            </a:lvl2pPr>
            <a:lvl3pPr lvl="2">
              <a:lnSpc>
                <a:spcPct val="100000"/>
              </a:lnSpc>
              <a:spcBef>
                <a:spcPts val="0"/>
              </a:spcBef>
              <a:spcAft>
                <a:spcPts val="0"/>
              </a:spcAft>
              <a:buSzPts val="2800"/>
              <a:buNone/>
              <a:defRPr sz="3735"/>
            </a:lvl3pPr>
            <a:lvl4pPr lvl="3">
              <a:lnSpc>
                <a:spcPct val="100000"/>
              </a:lnSpc>
              <a:spcBef>
                <a:spcPts val="0"/>
              </a:spcBef>
              <a:spcAft>
                <a:spcPts val="0"/>
              </a:spcAft>
              <a:buSzPts val="2800"/>
              <a:buNone/>
              <a:defRPr sz="3735"/>
            </a:lvl4pPr>
            <a:lvl5pPr lvl="4">
              <a:lnSpc>
                <a:spcPct val="100000"/>
              </a:lnSpc>
              <a:spcBef>
                <a:spcPts val="0"/>
              </a:spcBef>
              <a:spcAft>
                <a:spcPts val="0"/>
              </a:spcAft>
              <a:buSzPts val="2800"/>
              <a:buNone/>
              <a:defRPr sz="3735"/>
            </a:lvl5pPr>
            <a:lvl6pPr lvl="5">
              <a:lnSpc>
                <a:spcPct val="100000"/>
              </a:lnSpc>
              <a:spcBef>
                <a:spcPts val="0"/>
              </a:spcBef>
              <a:spcAft>
                <a:spcPts val="0"/>
              </a:spcAft>
              <a:buSzPts val="2800"/>
              <a:buNone/>
              <a:defRPr sz="3735"/>
            </a:lvl6pPr>
            <a:lvl7pPr lvl="6">
              <a:lnSpc>
                <a:spcPct val="100000"/>
              </a:lnSpc>
              <a:spcBef>
                <a:spcPts val="0"/>
              </a:spcBef>
              <a:spcAft>
                <a:spcPts val="0"/>
              </a:spcAft>
              <a:buSzPts val="2800"/>
              <a:buNone/>
              <a:defRPr sz="3735"/>
            </a:lvl7pPr>
            <a:lvl8pPr lvl="7">
              <a:lnSpc>
                <a:spcPct val="100000"/>
              </a:lnSpc>
              <a:spcBef>
                <a:spcPts val="0"/>
              </a:spcBef>
              <a:spcAft>
                <a:spcPts val="0"/>
              </a:spcAft>
              <a:buSzPts val="2800"/>
              <a:buNone/>
              <a:defRPr sz="3735"/>
            </a:lvl8pPr>
            <a:lvl9pPr lvl="8">
              <a:lnSpc>
                <a:spcPct val="100000"/>
              </a:lnSpc>
              <a:spcBef>
                <a:spcPts val="0"/>
              </a:spcBef>
              <a:spcAft>
                <a:spcPts val="0"/>
              </a:spcAft>
              <a:buSzPts val="2800"/>
              <a:buNone/>
              <a:defRPr sz="3735"/>
            </a:lvl9pPr>
          </a:lstStyle>
          <a:p>
            <a:r>
              <a:rPr lang="es-ES"/>
              <a:t>Haga clic para editar el estilo de subtítulo del patrón</a:t>
            </a:r>
          </a:p>
        </p:txBody>
      </p:sp>
      <p:sp>
        <p:nvSpPr>
          <p:cNvPr id="35" name="Google Shape;35;p2"/>
          <p:cNvSpPr txBox="1">
            <a:spLocks noGrp="1"/>
          </p:cNvSpPr>
          <p:nvPr>
            <p:ph type="subTitle" idx="2"/>
          </p:nvPr>
        </p:nvSpPr>
        <p:spPr>
          <a:xfrm>
            <a:off x="974400" y="5716467"/>
            <a:ext cx="4996800" cy="3164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2135">
                <a:latin typeface="Signika"/>
                <a:ea typeface="Signika"/>
                <a:cs typeface="Signika"/>
                <a:sym typeface="Signika"/>
              </a:defRPr>
            </a:lvl1pPr>
            <a:lvl2pPr lvl="1">
              <a:spcBef>
                <a:spcPts val="0"/>
              </a:spcBef>
              <a:spcAft>
                <a:spcPts val="0"/>
              </a:spcAft>
              <a:buSzPts val="1400"/>
              <a:buNone/>
              <a:defRPr/>
            </a:lvl2pPr>
            <a:lvl3pPr lvl="2">
              <a:spcBef>
                <a:spcPts val="2135"/>
              </a:spcBef>
              <a:spcAft>
                <a:spcPts val="0"/>
              </a:spcAft>
              <a:buSzPts val="1400"/>
              <a:buNone/>
              <a:defRPr/>
            </a:lvl3pPr>
            <a:lvl4pPr lvl="3">
              <a:spcBef>
                <a:spcPts val="2135"/>
              </a:spcBef>
              <a:spcAft>
                <a:spcPts val="0"/>
              </a:spcAft>
              <a:buSzPts val="1400"/>
              <a:buNone/>
              <a:defRPr/>
            </a:lvl4pPr>
            <a:lvl5pPr lvl="4">
              <a:spcBef>
                <a:spcPts val="2135"/>
              </a:spcBef>
              <a:spcAft>
                <a:spcPts val="0"/>
              </a:spcAft>
              <a:buSzPts val="1400"/>
              <a:buNone/>
              <a:defRPr/>
            </a:lvl5pPr>
            <a:lvl6pPr lvl="5">
              <a:spcBef>
                <a:spcPts val="2135"/>
              </a:spcBef>
              <a:spcAft>
                <a:spcPts val="0"/>
              </a:spcAft>
              <a:buSzPts val="1400"/>
              <a:buNone/>
              <a:defRPr/>
            </a:lvl6pPr>
            <a:lvl7pPr lvl="6">
              <a:spcBef>
                <a:spcPts val="2135"/>
              </a:spcBef>
              <a:spcAft>
                <a:spcPts val="0"/>
              </a:spcAft>
              <a:buSzPts val="1400"/>
              <a:buNone/>
              <a:defRPr/>
            </a:lvl7pPr>
            <a:lvl8pPr lvl="7">
              <a:spcBef>
                <a:spcPts val="2135"/>
              </a:spcBef>
              <a:spcAft>
                <a:spcPts val="0"/>
              </a:spcAft>
              <a:buSzPts val="1400"/>
              <a:buNone/>
              <a:defRPr/>
            </a:lvl8pPr>
            <a:lvl9pPr lvl="8">
              <a:spcBef>
                <a:spcPts val="2135"/>
              </a:spcBef>
              <a:spcAft>
                <a:spcPts val="2135"/>
              </a:spcAft>
              <a:buSzPts val="1400"/>
              <a:buNone/>
              <a:defRPr/>
            </a:lvl9pPr>
          </a:lstStyle>
          <a:p>
            <a:r>
              <a:rPr lang="es-ES"/>
              <a:t>Haga clic para editar el estilo de subtítulo del patrón</a:t>
            </a:r>
          </a:p>
        </p:txBody>
      </p:sp>
    </p:spTree>
    <p:extLst>
      <p:ext uri="{BB962C8B-B14F-4D97-AF65-F5344CB8AC3E}">
        <p14:creationId xmlns:p14="http://schemas.microsoft.com/office/powerpoint/2010/main" val="1622341512"/>
      </p:ext>
    </p:extLst>
  </p:cSld>
  <p:clrMapOvr>
    <a:masterClrMapping/>
  </p:clrMapOvr>
  <p:transition>
    <p:fade thruBlk="1"/>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2"/>
        <p:cNvGrpSpPr/>
        <p:nvPr/>
      </p:nvGrpSpPr>
      <p:grpSpPr>
        <a:xfrm>
          <a:off x="0" y="0"/>
          <a:ext cx="0" cy="0"/>
          <a:chOff x="0" y="0"/>
          <a:chExt cx="0" cy="0"/>
        </a:xfrm>
      </p:grpSpPr>
      <p:pic>
        <p:nvPicPr>
          <p:cNvPr id="13" name="Google Shape;13;p3"/>
          <p:cNvPicPr preferRelativeResize="0"/>
          <p:nvPr/>
        </p:nvPicPr>
        <p:blipFill>
          <a:blip r:embed="rId2">
            <a:alphaModFix/>
          </a:blip>
          <a:stretch>
            <a:fillRect/>
          </a:stretch>
        </p:blipFill>
        <p:spPr>
          <a:xfrm>
            <a:off x="0" y="0"/>
            <a:ext cx="12192000" cy="6858000"/>
          </a:xfrm>
          <a:prstGeom prst="rect">
            <a:avLst/>
          </a:prstGeom>
          <a:noFill/>
          <a:ln>
            <a:noFill/>
          </a:ln>
        </p:spPr>
      </p:pic>
      <p:sp>
        <p:nvSpPr>
          <p:cNvPr id="14" name="Google Shape;14;p3"/>
          <p:cNvSpPr txBox="1">
            <a:spLocks noGrp="1"/>
          </p:cNvSpPr>
          <p:nvPr>
            <p:ph type="ctrTitle"/>
          </p:nvPr>
        </p:nvSpPr>
        <p:spPr>
          <a:xfrm>
            <a:off x="914400" y="2212733"/>
            <a:ext cx="5685200" cy="1546400"/>
          </a:xfrm>
          <a:prstGeom prst="rect">
            <a:avLst/>
          </a:prstGeom>
        </p:spPr>
        <p:txBody>
          <a:bodyPr spcFirstLastPara="1" wrap="square" lIns="0" tIns="0" rIns="0" bIns="0"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a:off x="914400" y="3888339"/>
            <a:ext cx="5685200" cy="1046400"/>
          </a:xfrm>
          <a:prstGeom prst="rect">
            <a:avLst/>
          </a:prstGeom>
        </p:spPr>
        <p:txBody>
          <a:bodyPr spcFirstLastPara="1" wrap="square" lIns="0" tIns="0" rIns="0" bIns="0" anchor="t" anchorCtr="0">
            <a:noAutofit/>
          </a:bodyPr>
          <a:lstStyle>
            <a:lvl1pPr lvl="0" rtl="0">
              <a:spcBef>
                <a:spcPts val="0"/>
              </a:spcBef>
              <a:spcAft>
                <a:spcPts val="0"/>
              </a:spcAft>
              <a:buClr>
                <a:schemeClr val="accent4"/>
              </a:buClr>
              <a:buSzPts val="1800"/>
              <a:buNone/>
              <a:defRPr sz="1800">
                <a:solidFill>
                  <a:schemeClr val="accent4"/>
                </a:solidFill>
              </a:defRPr>
            </a:lvl1pPr>
            <a:lvl2pPr lvl="1" rtl="0">
              <a:spcBef>
                <a:spcPts val="0"/>
              </a:spcBef>
              <a:spcAft>
                <a:spcPts val="0"/>
              </a:spcAft>
              <a:buClr>
                <a:schemeClr val="accent4"/>
              </a:buClr>
              <a:buSzPts val="1800"/>
              <a:buNone/>
              <a:defRPr sz="1800">
                <a:solidFill>
                  <a:schemeClr val="accent4"/>
                </a:solidFill>
              </a:defRPr>
            </a:lvl2pPr>
            <a:lvl3pPr lvl="2" rtl="0">
              <a:spcBef>
                <a:spcPts val="0"/>
              </a:spcBef>
              <a:spcAft>
                <a:spcPts val="0"/>
              </a:spcAft>
              <a:buClr>
                <a:schemeClr val="accent4"/>
              </a:buClr>
              <a:buSzPts val="1800"/>
              <a:buNone/>
              <a:defRPr sz="1800">
                <a:solidFill>
                  <a:schemeClr val="accent4"/>
                </a:solidFill>
              </a:defRPr>
            </a:lvl3pPr>
            <a:lvl4pPr lvl="3" rtl="0">
              <a:spcBef>
                <a:spcPts val="0"/>
              </a:spcBef>
              <a:spcAft>
                <a:spcPts val="0"/>
              </a:spcAft>
              <a:buClr>
                <a:schemeClr val="accent4"/>
              </a:buClr>
              <a:buSzPts val="1800"/>
              <a:buNone/>
              <a:defRPr sz="1800">
                <a:solidFill>
                  <a:schemeClr val="accent4"/>
                </a:solidFill>
              </a:defRPr>
            </a:lvl4pPr>
            <a:lvl5pPr lvl="4" rtl="0">
              <a:spcBef>
                <a:spcPts val="0"/>
              </a:spcBef>
              <a:spcAft>
                <a:spcPts val="0"/>
              </a:spcAft>
              <a:buClr>
                <a:schemeClr val="accent4"/>
              </a:buClr>
              <a:buSzPts val="1800"/>
              <a:buNone/>
              <a:defRPr sz="1800">
                <a:solidFill>
                  <a:schemeClr val="accent4"/>
                </a:solidFill>
              </a:defRPr>
            </a:lvl5pPr>
            <a:lvl6pPr lvl="5" rtl="0">
              <a:spcBef>
                <a:spcPts val="0"/>
              </a:spcBef>
              <a:spcAft>
                <a:spcPts val="0"/>
              </a:spcAft>
              <a:buClr>
                <a:schemeClr val="accent4"/>
              </a:buClr>
              <a:buSzPts val="1800"/>
              <a:buNone/>
              <a:defRPr sz="1800">
                <a:solidFill>
                  <a:schemeClr val="accent4"/>
                </a:solidFill>
              </a:defRPr>
            </a:lvl6pPr>
            <a:lvl7pPr lvl="6" rtl="0">
              <a:spcBef>
                <a:spcPts val="0"/>
              </a:spcBef>
              <a:spcAft>
                <a:spcPts val="0"/>
              </a:spcAft>
              <a:buClr>
                <a:schemeClr val="accent4"/>
              </a:buClr>
              <a:buSzPts val="1800"/>
              <a:buNone/>
              <a:defRPr sz="1800">
                <a:solidFill>
                  <a:schemeClr val="accent4"/>
                </a:solidFill>
              </a:defRPr>
            </a:lvl7pPr>
            <a:lvl8pPr lvl="7" rtl="0">
              <a:spcBef>
                <a:spcPts val="0"/>
              </a:spcBef>
              <a:spcAft>
                <a:spcPts val="0"/>
              </a:spcAft>
              <a:buClr>
                <a:schemeClr val="accent4"/>
              </a:buClr>
              <a:buSzPts val="1800"/>
              <a:buNone/>
              <a:defRPr sz="1800">
                <a:solidFill>
                  <a:schemeClr val="accent4"/>
                </a:solidFill>
              </a:defRPr>
            </a:lvl8pPr>
            <a:lvl9pPr lvl="8" rtl="0">
              <a:spcBef>
                <a:spcPts val="0"/>
              </a:spcBef>
              <a:spcAft>
                <a:spcPts val="0"/>
              </a:spcAft>
              <a:buClr>
                <a:schemeClr val="accent4"/>
              </a:buClr>
              <a:buSzPts val="1800"/>
              <a:buNone/>
              <a:defRPr sz="1800">
                <a:solidFill>
                  <a:schemeClr val="accent4"/>
                </a:solidFill>
              </a:defRPr>
            </a:lvl9pPr>
          </a:lstStyle>
          <a:p>
            <a:endParaRPr/>
          </a:p>
        </p:txBody>
      </p:sp>
    </p:spTree>
    <p:extLst>
      <p:ext uri="{BB962C8B-B14F-4D97-AF65-F5344CB8AC3E}">
        <p14:creationId xmlns:p14="http://schemas.microsoft.com/office/powerpoint/2010/main" val="3345071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 Big circuit">
  <p:cSld name="Blank · Big circuit">
    <p:spTree>
      <p:nvGrpSpPr>
        <p:cNvPr id="1" name="Shape 51"/>
        <p:cNvGrpSpPr/>
        <p:nvPr/>
      </p:nvGrpSpPr>
      <p:grpSpPr>
        <a:xfrm>
          <a:off x="0" y="0"/>
          <a:ext cx="0" cy="0"/>
          <a:chOff x="0" y="0"/>
          <a:chExt cx="0" cy="0"/>
        </a:xfrm>
      </p:grpSpPr>
      <p:sp>
        <p:nvSpPr>
          <p:cNvPr id="53" name="Google Shape;53;p11"/>
          <p:cNvSpPr txBox="1">
            <a:spLocks noGrp="1"/>
          </p:cNvSpPr>
          <p:nvPr>
            <p:ph type="sldNum" idx="12"/>
          </p:nvPr>
        </p:nvSpPr>
        <p:spPr>
          <a:xfrm>
            <a:off x="11307445" y="6333135"/>
            <a:ext cx="731600" cy="5248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s-PE" smtClean="0"/>
              <a:pPr/>
              <a:t>‹Nº›</a:t>
            </a:fld>
            <a:endParaRPr lang="es-PE" dirty="0"/>
          </a:p>
        </p:txBody>
      </p:sp>
    </p:spTree>
    <p:extLst>
      <p:ext uri="{BB962C8B-B14F-4D97-AF65-F5344CB8AC3E}">
        <p14:creationId xmlns:p14="http://schemas.microsoft.com/office/powerpoint/2010/main" val="313050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AF1AAE89-7064-421D-9916-420AA2E7F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4" name="Marcador de fecha 3">
            <a:extLst>
              <a:ext uri="{FF2B5EF4-FFF2-40B4-BE49-F238E27FC236}">
                <a16:creationId xmlns:a16="http://schemas.microsoft.com/office/drawing/2014/main" id="{7A6A12CE-274A-4C60-9546-77A9682AF5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76F228-02F9-4429-9899-9A5028B2939C}" type="datetimeFigureOut">
              <a:rPr lang="es-PE" smtClean="0"/>
              <a:t>16/08/2026</a:t>
            </a:fld>
            <a:endParaRPr lang="es-PE"/>
          </a:p>
        </p:txBody>
      </p:sp>
      <p:sp>
        <p:nvSpPr>
          <p:cNvPr id="5" name="Marcador de pie de página 4">
            <a:extLst>
              <a:ext uri="{FF2B5EF4-FFF2-40B4-BE49-F238E27FC236}">
                <a16:creationId xmlns:a16="http://schemas.microsoft.com/office/drawing/2014/main" id="{2573BBF9-6C16-49C0-B59C-BBB728D49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950E9423-4AA5-436D-A3A1-72E3B0769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7BA379-2009-4338-BF9E-30C0A8FACAF6}" type="slidenum">
              <a:rPr lang="es-PE" smtClean="0"/>
              <a:t>‹Nº›</a:t>
            </a:fld>
            <a:endParaRPr lang="es-PE"/>
          </a:p>
        </p:txBody>
      </p:sp>
      <p:sp>
        <p:nvSpPr>
          <p:cNvPr id="8" name="Rectángulo 7">
            <a:extLst>
              <a:ext uri="{FF2B5EF4-FFF2-40B4-BE49-F238E27FC236}">
                <a16:creationId xmlns:a16="http://schemas.microsoft.com/office/drawing/2014/main" id="{91A87426-75BB-4DA5-A531-460DD7508A1B}"/>
              </a:ext>
            </a:extLst>
          </p:cNvPr>
          <p:cNvSpPr/>
          <p:nvPr userDrawn="1"/>
        </p:nvSpPr>
        <p:spPr>
          <a:xfrm>
            <a:off x="6096000" y="-9331"/>
            <a:ext cx="6096000" cy="107325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Rectángulo 9">
            <a:extLst>
              <a:ext uri="{FF2B5EF4-FFF2-40B4-BE49-F238E27FC236}">
                <a16:creationId xmlns:a16="http://schemas.microsoft.com/office/drawing/2014/main" id="{E90ED3DD-A7C3-4095-9269-329F194BB6AC}"/>
              </a:ext>
            </a:extLst>
          </p:cNvPr>
          <p:cNvSpPr/>
          <p:nvPr userDrawn="1"/>
        </p:nvSpPr>
        <p:spPr>
          <a:xfrm>
            <a:off x="0" y="1073257"/>
            <a:ext cx="12192000" cy="1515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1" name="Imagen 10" descr="Resultado de imagen para LOGO UNAC">
            <a:extLst>
              <a:ext uri="{FF2B5EF4-FFF2-40B4-BE49-F238E27FC236}">
                <a16:creationId xmlns:a16="http://schemas.microsoft.com/office/drawing/2014/main" id="{C8363EE3-3A68-4118-94B3-883E5C704F10}"/>
              </a:ext>
            </a:extLst>
          </p:cNvPr>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2732" y="188233"/>
            <a:ext cx="537224" cy="684603"/>
          </a:xfrm>
          <a:prstGeom prst="rect">
            <a:avLst/>
          </a:prstGeom>
          <a:noFill/>
          <a:ln>
            <a:noFill/>
          </a:ln>
        </p:spPr>
      </p:pic>
    </p:spTree>
    <p:extLst>
      <p:ext uri="{BB962C8B-B14F-4D97-AF65-F5344CB8AC3E}">
        <p14:creationId xmlns:p14="http://schemas.microsoft.com/office/powerpoint/2010/main" val="2480173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5" r:id="rId12"/>
    <p:sldLayoutId id="2147483666" r:id="rId13"/>
    <p:sldLayoutId id="2147483667"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oleObject" Target="../embeddings/oleObject1.bin"/><Relationship Id="rId7" Type="http://schemas.openxmlformats.org/officeDocument/2006/relationships/diagramQuickStyle" Target="../diagrams/quickStyle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wmf"/><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6.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stretch>
            <a:fillRect/>
          </a:stretch>
        </p:blipFill>
        <p:spPr>
          <a:xfrm>
            <a:off x="7235024" y="2518396"/>
            <a:ext cx="4913785" cy="2916657"/>
          </a:xfrm>
          <a:prstGeom prst="rect">
            <a:avLst/>
          </a:prstGeom>
          <a:solidFill>
            <a:srgbClr val="FFFFFF">
              <a:shade val="85000"/>
            </a:srgbClr>
          </a:solidFill>
          <a:ln w="88900" cap="sq">
            <a:solidFill>
              <a:srgbClr val="FFFFFF"/>
            </a:solidFill>
            <a:miter lim="800000"/>
            <a:headEnd/>
            <a:tailEnd/>
          </a:ln>
          <a:effectLst/>
          <a:scene3d>
            <a:camera prst="orthographicFront"/>
            <a:lightRig rig="twoPt" dir="t">
              <a:rot lat="0" lon="0" rev="7200000"/>
            </a:lightRig>
          </a:scene3d>
          <a:sp3d>
            <a:bevelT w="25400" h="19050"/>
            <a:contourClr>
              <a:srgbClr val="FFFFFF"/>
            </a:contourClr>
          </a:sp3d>
        </p:spPr>
      </p:pic>
      <p:pic>
        <p:nvPicPr>
          <p:cNvPr id="5" name="Picture 2" descr="UNA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071" y="190477"/>
            <a:ext cx="2855333" cy="674048"/>
          </a:xfrm>
          <a:prstGeom prst="rect">
            <a:avLst/>
          </a:prstGeom>
          <a:noFill/>
          <a:extLst>
            <a:ext uri="{909E8E84-426E-40DD-AFC4-6F175D3DCCD1}">
              <a14:hiddenFill xmlns:a14="http://schemas.microsoft.com/office/drawing/2010/main">
                <a:solidFill>
                  <a:srgbClr val="FFFFFF"/>
                </a:solidFill>
              </a14:hiddenFill>
            </a:ext>
          </a:extLst>
        </p:spPr>
      </p:pic>
      <p:sp>
        <p:nvSpPr>
          <p:cNvPr id="19" name="Rectángulo 18"/>
          <p:cNvSpPr/>
          <p:nvPr/>
        </p:nvSpPr>
        <p:spPr>
          <a:xfrm>
            <a:off x="7261461" y="5795306"/>
            <a:ext cx="467139" cy="450222"/>
          </a:xfrm>
          <a:prstGeom prst="rect">
            <a:avLst/>
          </a:prstGeom>
          <a:solidFill>
            <a:srgbClr val="D7E7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10" name="Título 2"/>
          <p:cNvSpPr txBox="1"/>
          <p:nvPr/>
        </p:nvSpPr>
        <p:spPr>
          <a:xfrm>
            <a:off x="8321150" y="5795306"/>
            <a:ext cx="2803628" cy="697178"/>
          </a:xfrm>
          <a:prstGeom prst="roundRect">
            <a:avLst/>
          </a:prstGeom>
          <a:solidFill>
            <a:schemeClr val="bg1"/>
          </a:solidFill>
          <a:ln w="28575">
            <a:noFill/>
            <a:prstDash val="lgDashDot"/>
          </a:ln>
        </p:spPr>
        <p:txBody>
          <a:bodyPr vert="horz" lIns="91440" tIns="45720" rIns="91440" bIns="45720" rtlCol="0" anchor="ctr">
            <a:noAutofit/>
          </a:bodyPr>
          <a:lstStyle>
            <a:lvl1pPr algn="l" defTabSz="914400" rtl="0" eaLnBrk="1" latinLnBrk="0" hangingPunct="1">
              <a:lnSpc>
                <a:spcPct val="90000"/>
              </a:lnSpc>
              <a:spcBef>
                <a:spcPct val="0"/>
              </a:spcBef>
              <a:buNone/>
              <a:defRPr sz="6000" b="1" kern="1200">
                <a:solidFill>
                  <a:schemeClr val="bg1"/>
                </a:solidFill>
                <a:latin typeface="+mj-lt"/>
                <a:ea typeface="+mj-ea"/>
                <a:cs typeface="+mj-cs"/>
              </a:defRPr>
            </a:lvl1pPr>
          </a:lstStyle>
          <a:p>
            <a:pPr algn="ctr"/>
            <a:r>
              <a:rPr lang="es-PE" sz="1800" dirty="0">
                <a:solidFill>
                  <a:srgbClr val="002060"/>
                </a:solidFill>
                <a:latin typeface="Bodoni MT Black" panose="02070A03080606020203" pitchFamily="18" charset="0"/>
                <a:cs typeface="Leelawadee UI" panose="020B0502040204020203" pitchFamily="34" charset="-34"/>
              </a:rPr>
              <a:t>SEMESTRE ACADÉMICO 2026 B</a:t>
            </a:r>
            <a:endParaRPr lang="es-ES" sz="1800" dirty="0">
              <a:solidFill>
                <a:srgbClr val="002060"/>
              </a:solidFill>
              <a:latin typeface="Bodoni MT Black" panose="02070A03080606020203" pitchFamily="18" charset="0"/>
              <a:cs typeface="Leelawadee UI" panose="020B0502040204020203" pitchFamily="34" charset="-34"/>
            </a:endParaRPr>
          </a:p>
        </p:txBody>
      </p:sp>
      <p:pic>
        <p:nvPicPr>
          <p:cNvPr id="26" name="Imagen 25"/>
          <p:cNvPicPr>
            <a:picLocks noChangeAspect="1"/>
          </p:cNvPicPr>
          <p:nvPr/>
        </p:nvPicPr>
        <p:blipFill>
          <a:blip r:embed="rId4"/>
          <a:stretch>
            <a:fillRect/>
          </a:stretch>
        </p:blipFill>
        <p:spPr>
          <a:xfrm>
            <a:off x="7261461" y="0"/>
            <a:ext cx="4923006" cy="1400220"/>
          </a:xfrm>
          <a:prstGeom prst="rect">
            <a:avLst/>
          </a:prstGeom>
        </p:spPr>
      </p:pic>
      <p:sp>
        <p:nvSpPr>
          <p:cNvPr id="15" name="4 CuadroTexto">
            <a:extLst>
              <a:ext uri="{FF2B5EF4-FFF2-40B4-BE49-F238E27FC236}">
                <a16:creationId xmlns:a16="http://schemas.microsoft.com/office/drawing/2014/main" id="{4365F436-E173-4817-8107-4110CE39FADE}"/>
              </a:ext>
            </a:extLst>
          </p:cNvPr>
          <p:cNvSpPr txBox="1"/>
          <p:nvPr/>
        </p:nvSpPr>
        <p:spPr>
          <a:xfrm>
            <a:off x="0" y="4134513"/>
            <a:ext cx="6096000" cy="830997"/>
          </a:xfrm>
          <a:prstGeom prst="rect">
            <a:avLst/>
          </a:prstGeom>
          <a:noFill/>
        </p:spPr>
        <p:txBody>
          <a:bodyPr wrap="square" rtlCol="0">
            <a:spAutoFit/>
          </a:bodyPr>
          <a:lstStyle/>
          <a:p>
            <a:pPr algn="ctr"/>
            <a:r>
              <a:rPr lang="es-ES" sz="2400" b="1" dirty="0">
                <a:solidFill>
                  <a:srgbClr val="700000"/>
                </a:solidFill>
              </a:rPr>
              <a:t>Docente:</a:t>
            </a:r>
          </a:p>
          <a:p>
            <a:pPr algn="ctr"/>
            <a:r>
              <a:rPr lang="es-ES" sz="2400" b="1" dirty="0" err="1">
                <a:solidFill>
                  <a:srgbClr val="700000"/>
                </a:solidFill>
              </a:rPr>
              <a:t>ANIVAL</a:t>
            </a:r>
            <a:r>
              <a:rPr lang="es-ES" sz="2400" b="1" dirty="0">
                <a:solidFill>
                  <a:srgbClr val="700000"/>
                </a:solidFill>
              </a:rPr>
              <a:t> TORRE CAMONES</a:t>
            </a:r>
            <a:endParaRPr lang="es-PE" sz="2400" b="1" dirty="0">
              <a:solidFill>
                <a:srgbClr val="700000"/>
              </a:solidFill>
            </a:endParaRPr>
          </a:p>
        </p:txBody>
      </p:sp>
      <p:sp>
        <p:nvSpPr>
          <p:cNvPr id="2" name="5 Rectángulo">
            <a:extLst>
              <a:ext uri="{FF2B5EF4-FFF2-40B4-BE49-F238E27FC236}">
                <a16:creationId xmlns:a16="http://schemas.microsoft.com/office/drawing/2014/main" id="{3267FC93-B427-4E7C-B243-BE63C44CB29D}"/>
              </a:ext>
            </a:extLst>
          </p:cNvPr>
          <p:cNvSpPr/>
          <p:nvPr/>
        </p:nvSpPr>
        <p:spPr>
          <a:xfrm>
            <a:off x="390" y="2394096"/>
            <a:ext cx="6096000" cy="1323439"/>
          </a:xfrm>
          <a:prstGeom prst="rect">
            <a:avLst/>
          </a:prstGeom>
          <a:noFill/>
        </p:spPr>
        <p:txBody>
          <a:bodyPr wrap="square" rtlCol="0">
            <a:spAutoFit/>
          </a:bodyPr>
          <a:ls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4000" b="1" dirty="0">
                <a:solidFill>
                  <a:srgbClr val="700000"/>
                </a:solidFill>
              </a:rPr>
              <a:t>INVESTIGACION DE OPERACIONES</a:t>
            </a:r>
            <a:endParaRPr lang="es-PE" sz="4000" b="1" dirty="0">
              <a:solidFill>
                <a:srgbClr val="700000"/>
              </a:solidFill>
            </a:endParaRPr>
          </a:p>
        </p:txBody>
      </p:sp>
      <p:pic>
        <p:nvPicPr>
          <p:cNvPr id="4" name="Imagen 3">
            <a:extLst>
              <a:ext uri="{FF2B5EF4-FFF2-40B4-BE49-F238E27FC236}">
                <a16:creationId xmlns:a16="http://schemas.microsoft.com/office/drawing/2014/main" id="{EF291808-C582-26D7-9A61-E42C7376AD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47736" y="3366595"/>
            <a:ext cx="1097308" cy="1097308"/>
          </a:xfrm>
          <a:prstGeom prst="rect">
            <a:avLst/>
          </a:prstGeom>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 name="2 Título"/>
          <p:cNvSpPr>
            <a:spLocks noGrp="1"/>
          </p:cNvSpPr>
          <p:nvPr>
            <p:ph type="ctrTitle"/>
          </p:nvPr>
        </p:nvSpPr>
        <p:spPr>
          <a:xfrm>
            <a:off x="1100914" y="2889840"/>
            <a:ext cx="4066309" cy="1153954"/>
          </a:xfrm>
        </p:spPr>
        <p:txBody>
          <a:bodyPr/>
          <a:lstStyle/>
          <a:p>
            <a:pPr algn="ctr"/>
            <a:r>
              <a:rPr lang="es-PE" dirty="0">
                <a:solidFill>
                  <a:srgbClr val="FF0000"/>
                </a:solidFill>
                <a:latin typeface="Bauhaus 93" pitchFamily="82" charset="0"/>
              </a:rPr>
              <a:t>PROGRAMACIÓN ENTERA</a:t>
            </a:r>
            <a:endParaRPr lang="es-ES" dirty="0">
              <a:solidFill>
                <a:srgbClr val="0064AE"/>
              </a:solidFill>
              <a:effectLst>
                <a:outerShdw blurRad="38100" dist="38100" dir="2700000" algn="tl">
                  <a:srgbClr val="000000">
                    <a:alpha val="43137"/>
                  </a:srgbClr>
                </a:outerShdw>
              </a:effectLst>
              <a:latin typeface="Arial Black" panose="020B0A04020102020204" pitchFamily="34" charset="0"/>
            </a:endParaRPr>
          </a:p>
        </p:txBody>
      </p:sp>
      <p:sp>
        <p:nvSpPr>
          <p:cNvPr id="83" name="Google Shape;83;p15"/>
          <p:cNvSpPr txBox="1">
            <a:spLocks noGrp="1"/>
          </p:cNvSpPr>
          <p:nvPr>
            <p:ph type="sldNum" idx="4294967295"/>
          </p:nvPr>
        </p:nvSpPr>
        <p:spPr>
          <a:xfrm>
            <a:off x="10118726" y="6332538"/>
            <a:ext cx="549275" cy="525462"/>
          </a:xfrm>
          <a:prstGeom prst="rect">
            <a:avLst/>
          </a:prstGeom>
        </p:spPr>
        <p:txBody>
          <a:bodyPr spcFirstLastPara="1" vert="horz" wrap="square" lIns="0" tIns="0" rIns="0" bIns="0" rtlCol="0" anchor="ctr" anchorCtr="0">
            <a:noAutofit/>
          </a:bodyPr>
          <a:lstStyle/>
          <a:p>
            <a:fld id="{00000000-1234-1234-1234-123412341234}" type="slidenum">
              <a:rPr lang="en"/>
              <a:pPr/>
              <a:t>2</a:t>
            </a:fld>
            <a:endParaRPr dirty="0"/>
          </a:p>
        </p:txBody>
      </p:sp>
      <p:sp>
        <p:nvSpPr>
          <p:cNvPr id="7" name="Rectangle 2"/>
          <p:cNvSpPr txBox="1">
            <a:spLocks noChangeArrowheads="1"/>
          </p:cNvSpPr>
          <p:nvPr/>
        </p:nvSpPr>
        <p:spPr bwMode="black">
          <a:xfrm>
            <a:off x="6096000" y="109243"/>
            <a:ext cx="6096000" cy="8583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rtl="0" eaLnBrk="1" fontAlgn="base" hangingPunct="1">
              <a:spcBef>
                <a:spcPct val="0"/>
              </a:spcBef>
              <a:spcAft>
                <a:spcPct val="0"/>
              </a:spcAft>
              <a:defRPr sz="2800" b="1" i="1">
                <a:solidFill>
                  <a:schemeClr val="tx1"/>
                </a:solidFill>
                <a:latin typeface="+mj-lt"/>
                <a:ea typeface="+mj-ea"/>
                <a:cs typeface="+mj-cs"/>
              </a:defRPr>
            </a:lvl1pPr>
            <a:lvl2pPr algn="r" rtl="0" eaLnBrk="1" fontAlgn="base" hangingPunct="1">
              <a:spcBef>
                <a:spcPct val="0"/>
              </a:spcBef>
              <a:spcAft>
                <a:spcPct val="0"/>
              </a:spcAft>
              <a:defRPr sz="2800" b="1" i="1">
                <a:solidFill>
                  <a:schemeClr val="tx1"/>
                </a:solidFill>
                <a:latin typeface="Verdana" pitchFamily="34" charset="0"/>
              </a:defRPr>
            </a:lvl2pPr>
            <a:lvl3pPr algn="r" rtl="0" eaLnBrk="1" fontAlgn="base" hangingPunct="1">
              <a:spcBef>
                <a:spcPct val="0"/>
              </a:spcBef>
              <a:spcAft>
                <a:spcPct val="0"/>
              </a:spcAft>
              <a:defRPr sz="2800" b="1" i="1">
                <a:solidFill>
                  <a:schemeClr val="tx1"/>
                </a:solidFill>
                <a:latin typeface="Verdana" pitchFamily="34" charset="0"/>
              </a:defRPr>
            </a:lvl3pPr>
            <a:lvl4pPr algn="r" rtl="0" eaLnBrk="1" fontAlgn="base" hangingPunct="1">
              <a:spcBef>
                <a:spcPct val="0"/>
              </a:spcBef>
              <a:spcAft>
                <a:spcPct val="0"/>
              </a:spcAft>
              <a:defRPr sz="2800" b="1" i="1">
                <a:solidFill>
                  <a:schemeClr val="tx1"/>
                </a:solidFill>
                <a:latin typeface="Verdana" pitchFamily="34" charset="0"/>
              </a:defRPr>
            </a:lvl4pPr>
            <a:lvl5pPr algn="r" rtl="0" eaLnBrk="1" fontAlgn="base" hangingPunct="1">
              <a:spcBef>
                <a:spcPct val="0"/>
              </a:spcBef>
              <a:spcAft>
                <a:spcPct val="0"/>
              </a:spcAft>
              <a:defRPr sz="2800" b="1" i="1">
                <a:solidFill>
                  <a:schemeClr val="tx1"/>
                </a:solidFill>
                <a:latin typeface="Verdana" pitchFamily="34" charset="0"/>
              </a:defRPr>
            </a:lvl5pPr>
            <a:lvl6pPr marL="457200" algn="r" rtl="0" eaLnBrk="1" fontAlgn="base" hangingPunct="1">
              <a:spcBef>
                <a:spcPct val="0"/>
              </a:spcBef>
              <a:spcAft>
                <a:spcPct val="0"/>
              </a:spcAft>
              <a:defRPr sz="2800" b="1" i="1">
                <a:solidFill>
                  <a:schemeClr val="tx1"/>
                </a:solidFill>
                <a:latin typeface="Verdana" pitchFamily="34" charset="0"/>
              </a:defRPr>
            </a:lvl6pPr>
            <a:lvl7pPr marL="914400" algn="r" rtl="0" eaLnBrk="1" fontAlgn="base" hangingPunct="1">
              <a:spcBef>
                <a:spcPct val="0"/>
              </a:spcBef>
              <a:spcAft>
                <a:spcPct val="0"/>
              </a:spcAft>
              <a:defRPr sz="2800" b="1" i="1">
                <a:solidFill>
                  <a:schemeClr val="tx1"/>
                </a:solidFill>
                <a:latin typeface="Verdana" pitchFamily="34" charset="0"/>
              </a:defRPr>
            </a:lvl7pPr>
            <a:lvl8pPr marL="1371600" algn="r" rtl="0" eaLnBrk="1" fontAlgn="base" hangingPunct="1">
              <a:spcBef>
                <a:spcPct val="0"/>
              </a:spcBef>
              <a:spcAft>
                <a:spcPct val="0"/>
              </a:spcAft>
              <a:defRPr sz="2800" b="1" i="1">
                <a:solidFill>
                  <a:schemeClr val="tx1"/>
                </a:solidFill>
                <a:latin typeface="Verdana" pitchFamily="34" charset="0"/>
              </a:defRPr>
            </a:lvl8pPr>
            <a:lvl9pPr marL="1828800" algn="r" rtl="0" eaLnBrk="1" fontAlgn="base" hangingPunct="1">
              <a:spcBef>
                <a:spcPct val="0"/>
              </a:spcBef>
              <a:spcAft>
                <a:spcPct val="0"/>
              </a:spcAft>
              <a:defRPr sz="2800" b="1" i="1">
                <a:solidFill>
                  <a:schemeClr val="tx1"/>
                </a:solidFill>
                <a:latin typeface="Verdana" pitchFamily="34" charset="0"/>
              </a:defRPr>
            </a:lvl9pPr>
          </a:lstStyle>
          <a:p>
            <a:pPr algn="ctr"/>
            <a:r>
              <a:rPr lang="es-ES_tradnl" sz="3200" b="0" i="0" dirty="0">
                <a:solidFill>
                  <a:schemeClr val="bg1"/>
                </a:solidFill>
                <a:latin typeface="Bauhaus 93" pitchFamily="82" charset="0"/>
                <a:ea typeface="+mn-ea"/>
                <a:cs typeface="+mn-cs"/>
              </a:rPr>
              <a:t>Semana 7</a:t>
            </a:r>
          </a:p>
        </p:txBody>
      </p:sp>
      <p:pic>
        <p:nvPicPr>
          <p:cNvPr id="8" name="Google Shape;61;p13"/>
          <p:cNvPicPr preferRelativeResize="0"/>
          <p:nvPr/>
        </p:nvPicPr>
        <p:blipFill>
          <a:blip r:embed="rId3">
            <a:alphaModFix/>
          </a:blip>
          <a:stretch>
            <a:fillRect/>
          </a:stretch>
        </p:blipFill>
        <p:spPr>
          <a:xfrm>
            <a:off x="8255747" y="1857538"/>
            <a:ext cx="1782850" cy="1988920"/>
          </a:xfrm>
          <a:prstGeom prst="rect">
            <a:avLst/>
          </a:prstGeom>
          <a:noFill/>
          <a:ln>
            <a:noFill/>
          </a:ln>
        </p:spPr>
      </p:pic>
    </p:spTree>
    <p:extLst>
      <p:ext uri="{BB962C8B-B14F-4D97-AF65-F5344CB8AC3E}">
        <p14:creationId xmlns:p14="http://schemas.microsoft.com/office/powerpoint/2010/main" val="2826427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15" name="Text Box 31"/>
          <p:cNvSpPr txBox="1">
            <a:spLocks noChangeArrowheads="1"/>
          </p:cNvSpPr>
          <p:nvPr/>
        </p:nvSpPr>
        <p:spPr bwMode="auto">
          <a:xfrm>
            <a:off x="3184527" y="722314"/>
            <a:ext cx="184731" cy="369332"/>
          </a:xfrm>
          <a:prstGeom prst="rect">
            <a:avLst/>
          </a:prstGeom>
          <a:noFill/>
          <a:ln w="9525">
            <a:noFill/>
            <a:miter lim="800000"/>
            <a:headEnd/>
            <a:tailEnd/>
          </a:ln>
          <a:effectLst/>
        </p:spPr>
        <p:txBody>
          <a:bodyPr wrap="none">
            <a:spAutoFit/>
          </a:bodyPr>
          <a:lstStyle/>
          <a:p>
            <a:endParaRPr lang="es-ES" dirty="0"/>
          </a:p>
        </p:txBody>
      </p:sp>
      <p:sp>
        <p:nvSpPr>
          <p:cNvPr id="32" name="Rectangle 2">
            <a:extLst>
              <a:ext uri="{FF2B5EF4-FFF2-40B4-BE49-F238E27FC236}">
                <a16:creationId xmlns:a16="http://schemas.microsoft.com/office/drawing/2014/main" id="{483A48B0-615B-48A5-A61A-36298DBB8E4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Contenido</a:t>
            </a:r>
          </a:p>
        </p:txBody>
      </p:sp>
      <p:grpSp>
        <p:nvGrpSpPr>
          <p:cNvPr id="33" name="Group 3">
            <a:extLst>
              <a:ext uri="{FF2B5EF4-FFF2-40B4-BE49-F238E27FC236}">
                <a16:creationId xmlns:a16="http://schemas.microsoft.com/office/drawing/2014/main" id="{5B61D062-FBEE-48C3-A75B-8C61106281A1}"/>
              </a:ext>
            </a:extLst>
          </p:cNvPr>
          <p:cNvGrpSpPr>
            <a:grpSpLocks/>
          </p:cNvGrpSpPr>
          <p:nvPr/>
        </p:nvGrpSpPr>
        <p:grpSpPr bwMode="auto">
          <a:xfrm>
            <a:off x="2635074" y="2037150"/>
            <a:ext cx="762000" cy="665163"/>
            <a:chOff x="1110" y="2656"/>
            <a:chExt cx="1549" cy="1351"/>
          </a:xfrm>
          <a:solidFill>
            <a:schemeClr val="accent6">
              <a:lumMod val="75000"/>
            </a:schemeClr>
          </a:solidFill>
        </p:grpSpPr>
        <p:sp>
          <p:nvSpPr>
            <p:cNvPr id="34" name="AutoShape 4">
              <a:extLst>
                <a:ext uri="{FF2B5EF4-FFF2-40B4-BE49-F238E27FC236}">
                  <a16:creationId xmlns:a16="http://schemas.microsoft.com/office/drawing/2014/main" id="{B8C0FBAC-0E93-44D7-8FCE-24A6555FB389}"/>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dirty="0"/>
            </a:p>
          </p:txBody>
        </p:sp>
        <p:sp>
          <p:nvSpPr>
            <p:cNvPr id="35" name="AutoShape 5">
              <a:extLst>
                <a:ext uri="{FF2B5EF4-FFF2-40B4-BE49-F238E27FC236}">
                  <a16:creationId xmlns:a16="http://schemas.microsoft.com/office/drawing/2014/main" id="{4DACE944-DC51-4015-89F7-3E7595C72D7A}"/>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dirty="0"/>
            </a:p>
          </p:txBody>
        </p:sp>
        <p:sp>
          <p:nvSpPr>
            <p:cNvPr id="36" name="AutoShape 6">
              <a:extLst>
                <a:ext uri="{FF2B5EF4-FFF2-40B4-BE49-F238E27FC236}">
                  <a16:creationId xmlns:a16="http://schemas.microsoft.com/office/drawing/2014/main" id="{2F3DBC2B-0406-4F1D-B850-E0F4C8DEEBA2}"/>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dirty="0"/>
            </a:p>
          </p:txBody>
        </p:sp>
      </p:grpSp>
      <p:grpSp>
        <p:nvGrpSpPr>
          <p:cNvPr id="37" name="Group 7">
            <a:extLst>
              <a:ext uri="{FF2B5EF4-FFF2-40B4-BE49-F238E27FC236}">
                <a16:creationId xmlns:a16="http://schemas.microsoft.com/office/drawing/2014/main" id="{F9C58DD1-E9EE-45EB-A40D-D5A7705B8DAA}"/>
              </a:ext>
            </a:extLst>
          </p:cNvPr>
          <p:cNvGrpSpPr>
            <a:grpSpLocks/>
          </p:cNvGrpSpPr>
          <p:nvPr/>
        </p:nvGrpSpPr>
        <p:grpSpPr bwMode="auto">
          <a:xfrm>
            <a:off x="2627879" y="2945666"/>
            <a:ext cx="762000" cy="665163"/>
            <a:chOff x="3174" y="2656"/>
            <a:chExt cx="1549" cy="1351"/>
          </a:xfrm>
        </p:grpSpPr>
        <p:sp>
          <p:nvSpPr>
            <p:cNvPr id="38" name="AutoShape 8">
              <a:extLst>
                <a:ext uri="{FF2B5EF4-FFF2-40B4-BE49-F238E27FC236}">
                  <a16:creationId xmlns:a16="http://schemas.microsoft.com/office/drawing/2014/main" id="{0B943929-2F43-4043-BB57-F64E300B07E6}"/>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39" name="AutoShape 9">
              <a:extLst>
                <a:ext uri="{FF2B5EF4-FFF2-40B4-BE49-F238E27FC236}">
                  <a16:creationId xmlns:a16="http://schemas.microsoft.com/office/drawing/2014/main" id="{B8AF94C4-E811-42F0-B797-0E6682FD4006}"/>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40" name="AutoShape 10">
              <a:extLst>
                <a:ext uri="{FF2B5EF4-FFF2-40B4-BE49-F238E27FC236}">
                  <a16:creationId xmlns:a16="http://schemas.microsoft.com/office/drawing/2014/main" id="{A04D3265-623C-4C12-BA84-5BDD08CEFA1C}"/>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41" name="Line 11">
            <a:extLst>
              <a:ext uri="{FF2B5EF4-FFF2-40B4-BE49-F238E27FC236}">
                <a16:creationId xmlns:a16="http://schemas.microsoft.com/office/drawing/2014/main" id="{45281CEC-ED06-4BA4-BB7F-8ABF33370CE2}"/>
              </a:ext>
            </a:extLst>
          </p:cNvPr>
          <p:cNvSpPr>
            <a:spLocks noChangeShapeType="1"/>
          </p:cNvSpPr>
          <p:nvPr/>
        </p:nvSpPr>
        <p:spPr bwMode="auto">
          <a:xfrm>
            <a:off x="3791744" y="2643767"/>
            <a:ext cx="576064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42" name="Text Box 12">
            <a:extLst>
              <a:ext uri="{FF2B5EF4-FFF2-40B4-BE49-F238E27FC236}">
                <a16:creationId xmlns:a16="http://schemas.microsoft.com/office/drawing/2014/main" id="{2E9563F9-DDD2-49DF-AFEF-32286DEFAEA4}"/>
              </a:ext>
            </a:extLst>
          </p:cNvPr>
          <p:cNvSpPr txBox="1">
            <a:spLocks noChangeArrowheads="1"/>
          </p:cNvSpPr>
          <p:nvPr/>
        </p:nvSpPr>
        <p:spPr bwMode="auto">
          <a:xfrm>
            <a:off x="3647728" y="2134166"/>
            <a:ext cx="5233740" cy="523220"/>
          </a:xfrm>
          <a:prstGeom prst="rect">
            <a:avLst/>
          </a:prstGeom>
          <a:noFill/>
          <a:ln w="9525" algn="ctr">
            <a:noFill/>
            <a:miter lim="800000"/>
            <a:headEnd/>
            <a:tailEnd/>
          </a:ln>
          <a:effectLst/>
        </p:spPr>
        <p:txBody>
          <a:bodyPr wrap="none">
            <a:spAutoFit/>
          </a:bodyPr>
          <a:lstStyle>
            <a:defPPr>
              <a:defRPr lang="es-ES"/>
            </a:defPPr>
            <a:lvl1pPr eaLnBrk="0" hangingPunct="0">
              <a:defRPr sz="2800" b="0">
                <a:solidFill>
                  <a:schemeClr val="bg1"/>
                </a:solidFill>
              </a:defRPr>
            </a:lvl1pPr>
          </a:lstStyle>
          <a:p>
            <a:r>
              <a:rPr lang="es-ES_tradnl" dirty="0">
                <a:solidFill>
                  <a:srgbClr val="700000"/>
                </a:solidFill>
              </a:rPr>
              <a:t>Definición de Programación Entera</a:t>
            </a:r>
          </a:p>
        </p:txBody>
      </p:sp>
      <p:sp>
        <p:nvSpPr>
          <p:cNvPr id="43" name="Text Box 13">
            <a:extLst>
              <a:ext uri="{FF2B5EF4-FFF2-40B4-BE49-F238E27FC236}">
                <a16:creationId xmlns:a16="http://schemas.microsoft.com/office/drawing/2014/main" id="{F9334EE2-F751-43CA-A2B1-AF71799B7B24}"/>
              </a:ext>
            </a:extLst>
          </p:cNvPr>
          <p:cNvSpPr txBox="1">
            <a:spLocks noChangeArrowheads="1"/>
          </p:cNvSpPr>
          <p:nvPr/>
        </p:nvSpPr>
        <p:spPr bwMode="gray">
          <a:xfrm>
            <a:off x="2849193" y="2122490"/>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1</a:t>
            </a:r>
          </a:p>
        </p:txBody>
      </p:sp>
      <p:sp>
        <p:nvSpPr>
          <p:cNvPr id="44" name="Line 14">
            <a:extLst>
              <a:ext uri="{FF2B5EF4-FFF2-40B4-BE49-F238E27FC236}">
                <a16:creationId xmlns:a16="http://schemas.microsoft.com/office/drawing/2014/main" id="{06ECABC2-6CC8-4E23-B2BE-B0712E2BBCFA}"/>
              </a:ext>
            </a:extLst>
          </p:cNvPr>
          <p:cNvSpPr>
            <a:spLocks noChangeShapeType="1"/>
          </p:cNvSpPr>
          <p:nvPr/>
        </p:nvSpPr>
        <p:spPr bwMode="auto">
          <a:xfrm>
            <a:off x="3791744" y="3548063"/>
            <a:ext cx="5760640" cy="0"/>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45" name="Text Box 15">
            <a:extLst>
              <a:ext uri="{FF2B5EF4-FFF2-40B4-BE49-F238E27FC236}">
                <a16:creationId xmlns:a16="http://schemas.microsoft.com/office/drawing/2014/main" id="{F37BCFFB-CF2E-4B7C-A749-C588CB77B45C}"/>
              </a:ext>
            </a:extLst>
          </p:cNvPr>
          <p:cNvSpPr txBox="1">
            <a:spLocks noChangeArrowheads="1"/>
          </p:cNvSpPr>
          <p:nvPr/>
        </p:nvSpPr>
        <p:spPr bwMode="auto">
          <a:xfrm>
            <a:off x="3666523" y="3032425"/>
            <a:ext cx="5042919" cy="523220"/>
          </a:xfrm>
          <a:prstGeom prst="rect">
            <a:avLst/>
          </a:prstGeom>
          <a:noFill/>
          <a:ln w="9525" algn="ctr">
            <a:noFill/>
            <a:miter lim="800000"/>
            <a:headEnd/>
            <a:tailEnd/>
          </a:ln>
          <a:effectLst/>
        </p:spPr>
        <p:txBody>
          <a:bodyPr wrap="none">
            <a:spAutoFit/>
          </a:bodyPr>
          <a:lstStyle>
            <a:defPPr>
              <a:defRPr lang="es-PE"/>
            </a:defPPr>
            <a:lvl1pPr eaLnBrk="0" hangingPunct="0">
              <a:defRPr sz="2800" b="0">
                <a:solidFill>
                  <a:srgbClr val="700000"/>
                </a:solidFill>
              </a:defRPr>
            </a:lvl1pPr>
          </a:lstStyle>
          <a:p>
            <a:r>
              <a:rPr lang="es-ES_tradnl" dirty="0"/>
              <a:t>Modelos de Programación entera</a:t>
            </a:r>
          </a:p>
        </p:txBody>
      </p:sp>
      <p:sp>
        <p:nvSpPr>
          <p:cNvPr id="46" name="Text Box 16">
            <a:extLst>
              <a:ext uri="{FF2B5EF4-FFF2-40B4-BE49-F238E27FC236}">
                <a16:creationId xmlns:a16="http://schemas.microsoft.com/office/drawing/2014/main" id="{083093D9-9CC2-425A-83D5-8201FD98D4D1}"/>
              </a:ext>
            </a:extLst>
          </p:cNvPr>
          <p:cNvSpPr txBox="1">
            <a:spLocks noChangeArrowheads="1"/>
          </p:cNvSpPr>
          <p:nvPr/>
        </p:nvSpPr>
        <p:spPr bwMode="gray">
          <a:xfrm>
            <a:off x="2893467" y="3036890"/>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2</a:t>
            </a:r>
          </a:p>
        </p:txBody>
      </p:sp>
      <p:grpSp>
        <p:nvGrpSpPr>
          <p:cNvPr id="47" name="Group 17">
            <a:extLst>
              <a:ext uri="{FF2B5EF4-FFF2-40B4-BE49-F238E27FC236}">
                <a16:creationId xmlns:a16="http://schemas.microsoft.com/office/drawing/2014/main" id="{52FA8E60-7675-4735-BFF7-98229BFB5288}"/>
              </a:ext>
            </a:extLst>
          </p:cNvPr>
          <p:cNvGrpSpPr>
            <a:grpSpLocks/>
          </p:cNvGrpSpPr>
          <p:nvPr/>
        </p:nvGrpSpPr>
        <p:grpSpPr bwMode="auto">
          <a:xfrm>
            <a:off x="2641469" y="3841962"/>
            <a:ext cx="762000" cy="665163"/>
            <a:chOff x="1110" y="2656"/>
            <a:chExt cx="1549" cy="1351"/>
          </a:xfrm>
          <a:solidFill>
            <a:schemeClr val="accent6">
              <a:lumMod val="75000"/>
            </a:schemeClr>
          </a:solidFill>
        </p:grpSpPr>
        <p:sp>
          <p:nvSpPr>
            <p:cNvPr id="48" name="AutoShape 18">
              <a:extLst>
                <a:ext uri="{FF2B5EF4-FFF2-40B4-BE49-F238E27FC236}">
                  <a16:creationId xmlns:a16="http://schemas.microsoft.com/office/drawing/2014/main" id="{88794187-A390-41CE-A58B-0CD4FA29C8A6}"/>
                </a:ext>
              </a:extLst>
            </p:cNvPr>
            <p:cNvSpPr>
              <a:spLocks noChangeArrowheads="1"/>
            </p:cNvSpPr>
            <p:nvPr/>
          </p:nvSpPr>
          <p:spPr bwMode="gray">
            <a:xfrm>
              <a:off x="1123" y="2679"/>
              <a:ext cx="1536" cy="1328"/>
            </a:xfrm>
            <a:prstGeom prst="hexagon">
              <a:avLst>
                <a:gd name="adj" fmla="val 28916"/>
                <a:gd name="vf" fmla="val 115470"/>
              </a:avLst>
            </a:prstGeom>
            <a:grpFill/>
            <a:ln w="9525">
              <a:noFill/>
              <a:miter lim="800000"/>
              <a:headEnd/>
              <a:tailEnd/>
            </a:ln>
            <a:effectLst/>
          </p:spPr>
          <p:txBody>
            <a:bodyPr wrap="none" anchor="ctr"/>
            <a:lstStyle/>
            <a:p>
              <a:endParaRPr lang="es-ES" dirty="0"/>
            </a:p>
          </p:txBody>
        </p:sp>
        <p:sp>
          <p:nvSpPr>
            <p:cNvPr id="49" name="AutoShape 19">
              <a:extLst>
                <a:ext uri="{FF2B5EF4-FFF2-40B4-BE49-F238E27FC236}">
                  <a16:creationId xmlns:a16="http://schemas.microsoft.com/office/drawing/2014/main" id="{51C7348C-04A6-4DEB-89CA-6AA4A67ECFC4}"/>
                </a:ext>
              </a:extLst>
            </p:cNvPr>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p:spPr>
          <p:txBody>
            <a:bodyPr wrap="none" anchor="ctr"/>
            <a:lstStyle/>
            <a:p>
              <a:endParaRPr lang="es-ES" dirty="0"/>
            </a:p>
          </p:txBody>
        </p:sp>
        <p:sp>
          <p:nvSpPr>
            <p:cNvPr id="50" name="AutoShape 20">
              <a:extLst>
                <a:ext uri="{FF2B5EF4-FFF2-40B4-BE49-F238E27FC236}">
                  <a16:creationId xmlns:a16="http://schemas.microsoft.com/office/drawing/2014/main" id="{E95E7183-E2C6-4674-961B-0C513969C0C9}"/>
                </a:ext>
              </a:extLst>
            </p:cNvPr>
            <p:cNvSpPr>
              <a:spLocks noChangeArrowheads="1"/>
            </p:cNvSpPr>
            <p:nvPr/>
          </p:nvSpPr>
          <p:spPr bwMode="gray">
            <a:xfrm>
              <a:off x="1200" y="2736"/>
              <a:ext cx="1350" cy="1168"/>
            </a:xfrm>
            <a:prstGeom prst="hexagon">
              <a:avLst>
                <a:gd name="adj" fmla="val 28896"/>
                <a:gd name="vf" fmla="val 115470"/>
              </a:avLst>
            </a:prstGeom>
            <a:grpFill/>
            <a:ln w="9525">
              <a:solidFill>
                <a:schemeClr val="tx1"/>
              </a:solidFill>
              <a:miter lim="800000"/>
              <a:headEnd/>
              <a:tailEnd/>
            </a:ln>
            <a:effectLst/>
          </p:spPr>
          <p:txBody>
            <a:bodyPr wrap="none" anchor="ctr"/>
            <a:lstStyle/>
            <a:p>
              <a:endParaRPr lang="es-ES" dirty="0"/>
            </a:p>
          </p:txBody>
        </p:sp>
      </p:grpSp>
      <p:sp>
        <p:nvSpPr>
          <p:cNvPr id="51" name="Line 25">
            <a:extLst>
              <a:ext uri="{FF2B5EF4-FFF2-40B4-BE49-F238E27FC236}">
                <a16:creationId xmlns:a16="http://schemas.microsoft.com/office/drawing/2014/main" id="{0DFD3606-7106-4371-B139-E7665F05C3ED}"/>
              </a:ext>
            </a:extLst>
          </p:cNvPr>
          <p:cNvSpPr>
            <a:spLocks noChangeShapeType="1"/>
          </p:cNvSpPr>
          <p:nvPr/>
        </p:nvSpPr>
        <p:spPr bwMode="auto">
          <a:xfrm>
            <a:off x="3800370" y="4452920"/>
            <a:ext cx="5852588" cy="15564"/>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52" name="Text Box 26">
            <a:extLst>
              <a:ext uri="{FF2B5EF4-FFF2-40B4-BE49-F238E27FC236}">
                <a16:creationId xmlns:a16="http://schemas.microsoft.com/office/drawing/2014/main" id="{5AE75EDA-2271-492A-8DCE-AC425B74149D}"/>
              </a:ext>
            </a:extLst>
          </p:cNvPr>
          <p:cNvSpPr txBox="1">
            <a:spLocks noChangeArrowheads="1"/>
          </p:cNvSpPr>
          <p:nvPr/>
        </p:nvSpPr>
        <p:spPr bwMode="auto">
          <a:xfrm>
            <a:off x="3700106" y="3946676"/>
            <a:ext cx="4851200" cy="523220"/>
          </a:xfrm>
          <a:prstGeom prst="rect">
            <a:avLst/>
          </a:prstGeom>
          <a:noFill/>
          <a:ln w="9525" algn="ctr">
            <a:noFill/>
            <a:miter lim="800000"/>
            <a:headEnd/>
            <a:tailEnd/>
          </a:ln>
          <a:effectLst/>
        </p:spPr>
        <p:txBody>
          <a:bodyPr wrap="none">
            <a:spAutoFit/>
          </a:bodyPr>
          <a:lstStyle>
            <a:defPPr>
              <a:defRPr lang="es-PE"/>
            </a:defPPr>
            <a:lvl1pPr eaLnBrk="0" hangingPunct="0">
              <a:defRPr sz="2800" b="0">
                <a:solidFill>
                  <a:srgbClr val="700000"/>
                </a:solidFill>
              </a:defRPr>
            </a:lvl1pPr>
          </a:lstStyle>
          <a:p>
            <a:r>
              <a:rPr lang="es-ES_tradnl" dirty="0"/>
              <a:t>Programación entera puro (PEP)</a:t>
            </a:r>
          </a:p>
        </p:txBody>
      </p:sp>
      <p:sp>
        <p:nvSpPr>
          <p:cNvPr id="53" name="Text Box 27">
            <a:extLst>
              <a:ext uri="{FF2B5EF4-FFF2-40B4-BE49-F238E27FC236}">
                <a16:creationId xmlns:a16="http://schemas.microsoft.com/office/drawing/2014/main" id="{0AE4878B-7976-4B0F-8E81-6AE48A449F82}"/>
              </a:ext>
            </a:extLst>
          </p:cNvPr>
          <p:cNvSpPr txBox="1">
            <a:spLocks noChangeArrowheads="1"/>
          </p:cNvSpPr>
          <p:nvPr/>
        </p:nvSpPr>
        <p:spPr bwMode="gray">
          <a:xfrm>
            <a:off x="2855588" y="3951607"/>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3</a:t>
            </a:r>
          </a:p>
        </p:txBody>
      </p:sp>
      <p:grpSp>
        <p:nvGrpSpPr>
          <p:cNvPr id="25" name="Group 7">
            <a:extLst>
              <a:ext uri="{FF2B5EF4-FFF2-40B4-BE49-F238E27FC236}">
                <a16:creationId xmlns:a16="http://schemas.microsoft.com/office/drawing/2014/main" id="{769ED66D-A9AA-4346-BA46-2D323393C1AA}"/>
              </a:ext>
            </a:extLst>
          </p:cNvPr>
          <p:cNvGrpSpPr>
            <a:grpSpLocks/>
          </p:cNvGrpSpPr>
          <p:nvPr/>
        </p:nvGrpSpPr>
        <p:grpSpPr bwMode="auto">
          <a:xfrm>
            <a:off x="2642263" y="4771582"/>
            <a:ext cx="762000" cy="665163"/>
            <a:chOff x="3174" y="2656"/>
            <a:chExt cx="1549" cy="1351"/>
          </a:xfrm>
        </p:grpSpPr>
        <p:sp>
          <p:nvSpPr>
            <p:cNvPr id="26" name="AutoShape 8">
              <a:extLst>
                <a:ext uri="{FF2B5EF4-FFF2-40B4-BE49-F238E27FC236}">
                  <a16:creationId xmlns:a16="http://schemas.microsoft.com/office/drawing/2014/main" id="{0374B3F4-EACB-4296-93C2-52135F879D10}"/>
                </a:ext>
              </a:extLst>
            </p:cNvPr>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a:effectLst/>
          </p:spPr>
          <p:txBody>
            <a:bodyPr wrap="none" anchor="ctr"/>
            <a:lstStyle/>
            <a:p>
              <a:endParaRPr lang="es-ES" dirty="0"/>
            </a:p>
          </p:txBody>
        </p:sp>
        <p:sp>
          <p:nvSpPr>
            <p:cNvPr id="27" name="AutoShape 9">
              <a:extLst>
                <a:ext uri="{FF2B5EF4-FFF2-40B4-BE49-F238E27FC236}">
                  <a16:creationId xmlns:a16="http://schemas.microsoft.com/office/drawing/2014/main" id="{2A74D996-4D86-43A3-BE6F-CFD5E392334E}"/>
                </a:ext>
              </a:extLst>
            </p:cNvPr>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p:spPr>
          <p:txBody>
            <a:bodyPr wrap="none" anchor="ctr"/>
            <a:lstStyle/>
            <a:p>
              <a:endParaRPr lang="es-ES" dirty="0"/>
            </a:p>
          </p:txBody>
        </p:sp>
        <p:sp>
          <p:nvSpPr>
            <p:cNvPr id="28" name="AutoShape 10">
              <a:extLst>
                <a:ext uri="{FF2B5EF4-FFF2-40B4-BE49-F238E27FC236}">
                  <a16:creationId xmlns:a16="http://schemas.microsoft.com/office/drawing/2014/main" id="{A8F7EF72-BEF8-4914-9B0B-8EFCA55A760F}"/>
                </a:ext>
              </a:extLst>
            </p:cNvPr>
            <p:cNvSpPr>
              <a:spLocks noChangeArrowheads="1"/>
            </p:cNvSpPr>
            <p:nvPr/>
          </p:nvSpPr>
          <p:spPr bwMode="gray">
            <a:xfrm>
              <a:off x="3264" y="2736"/>
              <a:ext cx="1350" cy="1168"/>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endParaRPr lang="es-ES" dirty="0"/>
            </a:p>
          </p:txBody>
        </p:sp>
      </p:grpSp>
      <p:sp>
        <p:nvSpPr>
          <p:cNvPr id="29" name="Text Box 16">
            <a:extLst>
              <a:ext uri="{FF2B5EF4-FFF2-40B4-BE49-F238E27FC236}">
                <a16:creationId xmlns:a16="http://schemas.microsoft.com/office/drawing/2014/main" id="{B99D2824-9163-4073-A75E-011FD25DE3AE}"/>
              </a:ext>
            </a:extLst>
          </p:cNvPr>
          <p:cNvSpPr txBox="1">
            <a:spLocks noChangeArrowheads="1"/>
          </p:cNvSpPr>
          <p:nvPr/>
        </p:nvSpPr>
        <p:spPr bwMode="gray">
          <a:xfrm>
            <a:off x="2907851" y="4862806"/>
            <a:ext cx="340158" cy="461665"/>
          </a:xfrm>
          <a:prstGeom prst="rect">
            <a:avLst/>
          </a:prstGeom>
          <a:noFill/>
          <a:ln w="9525" algn="ctr">
            <a:noFill/>
            <a:miter lim="800000"/>
            <a:headEnd/>
            <a:tailEnd/>
          </a:ln>
          <a:effectLst/>
        </p:spPr>
        <p:txBody>
          <a:bodyPr wrap="none">
            <a:spAutoFit/>
          </a:bodyPr>
          <a:lstStyle/>
          <a:p>
            <a:pPr algn="ctr" eaLnBrk="0" hangingPunct="0"/>
            <a:r>
              <a:rPr lang="en-US" sz="2400" dirty="0">
                <a:solidFill>
                  <a:schemeClr val="bg1"/>
                </a:solidFill>
              </a:rPr>
              <a:t>2</a:t>
            </a:r>
          </a:p>
        </p:txBody>
      </p:sp>
      <p:sp>
        <p:nvSpPr>
          <p:cNvPr id="30" name="Line 25">
            <a:extLst>
              <a:ext uri="{FF2B5EF4-FFF2-40B4-BE49-F238E27FC236}">
                <a16:creationId xmlns:a16="http://schemas.microsoft.com/office/drawing/2014/main" id="{8D4EBD67-1E52-4330-B3D9-E3929D90CA5D}"/>
              </a:ext>
            </a:extLst>
          </p:cNvPr>
          <p:cNvSpPr>
            <a:spLocks noChangeShapeType="1"/>
          </p:cNvSpPr>
          <p:nvPr/>
        </p:nvSpPr>
        <p:spPr bwMode="auto">
          <a:xfrm>
            <a:off x="3806128" y="5416206"/>
            <a:ext cx="5852588" cy="15564"/>
          </a:xfrm>
          <a:prstGeom prst="line">
            <a:avLst/>
          </a:prstGeom>
          <a:noFill/>
          <a:ln w="25400">
            <a:solidFill>
              <a:schemeClr val="tx2"/>
            </a:solidFill>
            <a:prstDash val="sysDot"/>
            <a:round/>
            <a:headEnd/>
            <a:tailEnd type="oval" w="med" len="med"/>
          </a:ln>
          <a:effectLst/>
        </p:spPr>
        <p:txBody>
          <a:bodyPr wrap="none" anchor="ctr"/>
          <a:lstStyle/>
          <a:p>
            <a:endParaRPr lang="es-ES" dirty="0"/>
          </a:p>
        </p:txBody>
      </p:sp>
      <p:sp>
        <p:nvSpPr>
          <p:cNvPr id="31" name="Text Box 26">
            <a:extLst>
              <a:ext uri="{FF2B5EF4-FFF2-40B4-BE49-F238E27FC236}">
                <a16:creationId xmlns:a16="http://schemas.microsoft.com/office/drawing/2014/main" id="{FB760A40-D195-42FD-A8C2-B8DCBD882ECD}"/>
              </a:ext>
            </a:extLst>
          </p:cNvPr>
          <p:cNvSpPr txBox="1">
            <a:spLocks noChangeArrowheads="1"/>
          </p:cNvSpPr>
          <p:nvPr/>
        </p:nvSpPr>
        <p:spPr bwMode="auto">
          <a:xfrm>
            <a:off x="3705864" y="4909962"/>
            <a:ext cx="5099025" cy="523220"/>
          </a:xfrm>
          <a:prstGeom prst="rect">
            <a:avLst/>
          </a:prstGeom>
          <a:noFill/>
          <a:ln w="9525" algn="ctr">
            <a:noFill/>
            <a:miter lim="800000"/>
            <a:headEnd/>
            <a:tailEnd/>
          </a:ln>
          <a:effectLst/>
        </p:spPr>
        <p:txBody>
          <a:bodyPr wrap="none">
            <a:spAutoFit/>
          </a:bodyPr>
          <a:lstStyle>
            <a:defPPr>
              <a:defRPr lang="es-PE"/>
            </a:defPPr>
            <a:lvl1pPr eaLnBrk="0" hangingPunct="0">
              <a:defRPr sz="2800" b="0">
                <a:solidFill>
                  <a:srgbClr val="700000"/>
                </a:solidFill>
              </a:defRPr>
            </a:lvl1pPr>
          </a:lstStyle>
          <a:p>
            <a:r>
              <a:rPr lang="es-ES_tradnl" dirty="0"/>
              <a:t>Programación lineal entera (PLE)</a:t>
            </a:r>
          </a:p>
        </p:txBody>
      </p:sp>
    </p:spTree>
    <p:extLst>
      <p:ext uri="{BB962C8B-B14F-4D97-AF65-F5344CB8AC3E}">
        <p14:creationId xmlns:p14="http://schemas.microsoft.com/office/powerpoint/2010/main" val="1392834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Rectángulo">
            <a:extLst>
              <a:ext uri="{FF2B5EF4-FFF2-40B4-BE49-F238E27FC236}">
                <a16:creationId xmlns:a16="http://schemas.microsoft.com/office/drawing/2014/main" id="{6626C5AC-78AE-6712-2049-39456FBF93B7}"/>
              </a:ext>
            </a:extLst>
          </p:cNvPr>
          <p:cNvSpPr/>
          <p:nvPr/>
        </p:nvSpPr>
        <p:spPr>
          <a:xfrm>
            <a:off x="6156139" y="1631580"/>
            <a:ext cx="2867545" cy="1938992"/>
          </a:xfrm>
          <a:prstGeom prst="rect">
            <a:avLst/>
          </a:prstGeom>
          <a:solidFill>
            <a:srgbClr val="FFFF00"/>
          </a:solidFill>
        </p:spPr>
        <p:txBody>
          <a:bodyPr wrap="square">
            <a:spAutoFit/>
          </a:bodyPr>
          <a:lstStyle/>
          <a:p>
            <a:pPr lvl="0"/>
            <a:r>
              <a:rPr lang="es-ES" sz="2400" b="1" dirty="0"/>
              <a:t>MAX  </a:t>
            </a:r>
            <a:r>
              <a:rPr lang="es-ES" sz="2400" b="1" dirty="0" err="1"/>
              <a:t>30A</a:t>
            </a:r>
            <a:r>
              <a:rPr lang="es-ES" sz="2400" b="1" dirty="0"/>
              <a:t>+ </a:t>
            </a:r>
            <a:r>
              <a:rPr lang="es-ES" sz="2400" b="1" dirty="0" err="1"/>
              <a:t>50B</a:t>
            </a:r>
            <a:endParaRPr lang="es-ES" sz="2400" b="1" dirty="0"/>
          </a:p>
          <a:p>
            <a:pPr lvl="0"/>
            <a:r>
              <a:rPr lang="es-ES" sz="2400" b="1" dirty="0"/>
              <a:t>Sujeto a:</a:t>
            </a:r>
          </a:p>
          <a:p>
            <a:pPr lvl="0"/>
            <a:r>
              <a:rPr lang="es-ES" sz="2400" b="1" dirty="0" err="1"/>
              <a:t>3A+3B</a:t>
            </a:r>
            <a:r>
              <a:rPr lang="es-ES" sz="2400" b="1" dirty="0"/>
              <a:t> &lt;= 27       (I)</a:t>
            </a:r>
          </a:p>
          <a:p>
            <a:pPr lvl="0"/>
            <a:r>
              <a:rPr lang="es-ES" sz="2400" b="1" dirty="0" err="1"/>
              <a:t>2A+4B</a:t>
            </a:r>
            <a:r>
              <a:rPr lang="es-ES" sz="2400" b="1" dirty="0"/>
              <a:t>&lt;=30         (II)</a:t>
            </a:r>
          </a:p>
          <a:p>
            <a:pPr lvl="0"/>
            <a:r>
              <a:rPr lang="es-ES" sz="2400" b="1" dirty="0"/>
              <a:t>A,     B  </a:t>
            </a:r>
            <a:r>
              <a:rPr lang="es-ES" sz="2400" b="1" dirty="0">
                <a:sym typeface="Symbol"/>
              </a:rPr>
              <a:t></a:t>
            </a:r>
            <a:r>
              <a:rPr lang="es-ES" sz="2400" b="1" dirty="0"/>
              <a:t>  0, </a:t>
            </a:r>
            <a:r>
              <a:rPr lang="es-ES" sz="2400" b="1" dirty="0">
                <a:solidFill>
                  <a:srgbClr val="FF0000"/>
                </a:solidFill>
              </a:rPr>
              <a:t>ENTERAS</a:t>
            </a:r>
            <a:endParaRPr lang="es-ES" sz="2400" b="1" dirty="0"/>
          </a:p>
        </p:txBody>
      </p:sp>
      <p:sp>
        <p:nvSpPr>
          <p:cNvPr id="5" name="CuadroTexto 4">
            <a:extLst>
              <a:ext uri="{FF2B5EF4-FFF2-40B4-BE49-F238E27FC236}">
                <a16:creationId xmlns:a16="http://schemas.microsoft.com/office/drawing/2014/main" id="{D01120B8-BB4C-C64E-EF16-6E34D557A75E}"/>
              </a:ext>
            </a:extLst>
          </p:cNvPr>
          <p:cNvSpPr txBox="1"/>
          <p:nvPr/>
        </p:nvSpPr>
        <p:spPr>
          <a:xfrm>
            <a:off x="6096000" y="1189230"/>
            <a:ext cx="5361786" cy="400110"/>
          </a:xfrm>
          <a:prstGeom prst="rect">
            <a:avLst/>
          </a:prstGeom>
          <a:noFill/>
        </p:spPr>
        <p:txBody>
          <a:bodyPr wrap="square" rtlCol="0">
            <a:spAutoFit/>
          </a:bodyPr>
          <a:lstStyle/>
          <a:p>
            <a:r>
              <a:rPr lang="es-ES" sz="2000" b="1" dirty="0">
                <a:solidFill>
                  <a:srgbClr val="FF0000"/>
                </a:solidFill>
                <a:latin typeface="Arial Narrow" panose="020B0606020202030204" pitchFamily="34" charset="0"/>
                <a:cs typeface="Times New Roman" panose="02020603050405020304" pitchFamily="18" charset="0"/>
              </a:rPr>
              <a:t>Problema 1</a:t>
            </a:r>
            <a:r>
              <a:rPr lang="es-ES" sz="2000" b="1" dirty="0">
                <a:latin typeface="Arial Narrow" panose="020B0606020202030204" pitchFamily="34" charset="0"/>
                <a:cs typeface="Times New Roman" panose="02020603050405020304" pitchFamily="18" charset="0"/>
              </a:rPr>
              <a:t>:Resolver usando el método gráfico.</a:t>
            </a:r>
            <a:endParaRPr lang="es-PE" sz="2000" b="1" dirty="0">
              <a:latin typeface="Arial Narrow" panose="020B0606020202030204" pitchFamily="34" charset="0"/>
              <a:cs typeface="Times New Roman" panose="02020603050405020304" pitchFamily="18" charset="0"/>
            </a:endParaRPr>
          </a:p>
        </p:txBody>
      </p:sp>
      <p:sp>
        <p:nvSpPr>
          <p:cNvPr id="6" name="2 Rectángulo">
            <a:extLst>
              <a:ext uri="{FF2B5EF4-FFF2-40B4-BE49-F238E27FC236}">
                <a16:creationId xmlns:a16="http://schemas.microsoft.com/office/drawing/2014/main" id="{39E5F9E6-BAE2-2203-BBC3-01AA6933CF36}"/>
              </a:ext>
            </a:extLst>
          </p:cNvPr>
          <p:cNvSpPr/>
          <p:nvPr/>
        </p:nvSpPr>
        <p:spPr>
          <a:xfrm>
            <a:off x="9468852" y="1623011"/>
            <a:ext cx="2212237" cy="2677656"/>
          </a:xfrm>
          <a:prstGeom prst="rect">
            <a:avLst/>
          </a:prstGeom>
          <a:solidFill>
            <a:srgbClr val="FFFF00"/>
          </a:solidFill>
        </p:spPr>
        <p:txBody>
          <a:bodyPr wrap="square">
            <a:spAutoFit/>
          </a:bodyPr>
          <a:lstStyle/>
          <a:p>
            <a:pPr lvl="0"/>
            <a:r>
              <a:rPr lang="es-ES" sz="2400" b="1" dirty="0"/>
              <a:t>MAX  </a:t>
            </a:r>
            <a:r>
              <a:rPr lang="es-ES" sz="2400" b="1" dirty="0" err="1"/>
              <a:t>30A</a:t>
            </a:r>
            <a:r>
              <a:rPr lang="es-ES" sz="2400" b="1" dirty="0"/>
              <a:t>+ </a:t>
            </a:r>
            <a:r>
              <a:rPr lang="es-ES" sz="2400" b="1" dirty="0" err="1"/>
              <a:t>50B</a:t>
            </a:r>
            <a:endParaRPr lang="es-ES" sz="2400" b="1" dirty="0"/>
          </a:p>
          <a:p>
            <a:pPr lvl="0"/>
            <a:r>
              <a:rPr lang="es-ES" sz="2400" b="1" dirty="0"/>
              <a:t>ST</a:t>
            </a:r>
          </a:p>
          <a:p>
            <a:pPr lvl="0"/>
            <a:r>
              <a:rPr lang="es-ES" sz="2400" b="1" dirty="0"/>
              <a:t>3A+3B &lt;= 27</a:t>
            </a:r>
          </a:p>
          <a:p>
            <a:pPr lvl="0"/>
            <a:r>
              <a:rPr lang="es-ES" sz="2400" b="1" dirty="0"/>
              <a:t>2A+4B &lt;=30         </a:t>
            </a:r>
          </a:p>
          <a:p>
            <a:pPr lvl="0"/>
            <a:r>
              <a:rPr lang="es-ES" sz="2400" b="1" dirty="0">
                <a:solidFill>
                  <a:srgbClr val="FF0000"/>
                </a:solidFill>
              </a:rPr>
              <a:t>END</a:t>
            </a:r>
          </a:p>
          <a:p>
            <a:pPr lvl="0"/>
            <a:r>
              <a:rPr lang="es-ES" sz="2400" b="1" dirty="0">
                <a:solidFill>
                  <a:srgbClr val="FF0000"/>
                </a:solidFill>
              </a:rPr>
              <a:t>GIN A</a:t>
            </a:r>
          </a:p>
          <a:p>
            <a:pPr lvl="0"/>
            <a:r>
              <a:rPr lang="es-ES" sz="2400" b="1" dirty="0">
                <a:solidFill>
                  <a:srgbClr val="FF0000"/>
                </a:solidFill>
              </a:rPr>
              <a:t>GIN B</a:t>
            </a:r>
            <a:endParaRPr lang="es-ES" sz="2400" b="1" dirty="0"/>
          </a:p>
        </p:txBody>
      </p:sp>
      <p:sp>
        <p:nvSpPr>
          <p:cNvPr id="8" name="CuadroTexto 7">
            <a:extLst>
              <a:ext uri="{FF2B5EF4-FFF2-40B4-BE49-F238E27FC236}">
                <a16:creationId xmlns:a16="http://schemas.microsoft.com/office/drawing/2014/main" id="{98E0414D-4AF1-38EF-E953-A78C4F48BA6F}"/>
              </a:ext>
            </a:extLst>
          </p:cNvPr>
          <p:cNvSpPr txBox="1"/>
          <p:nvPr/>
        </p:nvSpPr>
        <p:spPr>
          <a:xfrm>
            <a:off x="6096000" y="4303455"/>
            <a:ext cx="5251188" cy="2554545"/>
          </a:xfrm>
          <a:prstGeom prst="rect">
            <a:avLst/>
          </a:prstGeom>
          <a:solidFill>
            <a:schemeClr val="accent3"/>
          </a:solidFill>
        </p:spPr>
        <p:txBody>
          <a:bodyPr wrap="square">
            <a:spAutoFit/>
          </a:bodyPr>
          <a:lstStyle/>
          <a:p>
            <a:r>
              <a:rPr lang="es-PE" sz="2000" b="1" dirty="0"/>
              <a:t> OBJECTIVE FUNCTION VALUE</a:t>
            </a:r>
          </a:p>
          <a:p>
            <a:r>
              <a:rPr lang="es-PE" sz="2000" b="1" dirty="0"/>
              <a:t>        1)      390.0000</a:t>
            </a:r>
          </a:p>
          <a:p>
            <a:r>
              <a:rPr lang="es-PE" sz="2000" b="1" dirty="0"/>
              <a:t>  VARIABLE        VALUE          REDUCED COST</a:t>
            </a:r>
          </a:p>
          <a:p>
            <a:r>
              <a:rPr lang="es-PE" sz="2000" b="1" dirty="0"/>
              <a:t>         A         3.000000        -30.000000</a:t>
            </a:r>
          </a:p>
          <a:p>
            <a:r>
              <a:rPr lang="es-PE" sz="2000" b="1" dirty="0"/>
              <a:t>         B         6.000000        -50.000000</a:t>
            </a:r>
          </a:p>
          <a:p>
            <a:r>
              <a:rPr lang="es-PE" sz="2000" b="1" dirty="0"/>
              <a:t>       ROW   SLACK OR SURPLUS     DUAL PRICES</a:t>
            </a:r>
          </a:p>
          <a:p>
            <a:r>
              <a:rPr lang="es-PE" sz="2000" b="1" dirty="0"/>
              <a:t>        2)         0.000000          0.000000</a:t>
            </a:r>
          </a:p>
          <a:p>
            <a:r>
              <a:rPr lang="es-PE" sz="2000" b="1" dirty="0"/>
              <a:t>        3)         0.000000          0.000000</a:t>
            </a:r>
          </a:p>
        </p:txBody>
      </p:sp>
      <p:sp>
        <p:nvSpPr>
          <p:cNvPr id="2" name="2 Marcador de contenido">
            <a:extLst>
              <a:ext uri="{FF2B5EF4-FFF2-40B4-BE49-F238E27FC236}">
                <a16:creationId xmlns:a16="http://schemas.microsoft.com/office/drawing/2014/main" id="{5FD18D5B-0C20-A497-DD40-38C8CA45B37E}"/>
              </a:ext>
            </a:extLst>
          </p:cNvPr>
          <p:cNvSpPr txBox="1">
            <a:spLocks/>
          </p:cNvSpPr>
          <p:nvPr/>
        </p:nvSpPr>
        <p:spPr>
          <a:xfrm>
            <a:off x="210553" y="1268078"/>
            <a:ext cx="5576377" cy="5487654"/>
          </a:xfrm>
          <a:prstGeom prst="rect">
            <a:avLst/>
          </a:prstGeom>
          <a:solidFill>
            <a:schemeClr val="accent3">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s-ES" sz="1600" dirty="0"/>
              <a:t>La </a:t>
            </a:r>
            <a:r>
              <a:rPr lang="es-ES" sz="1600" b="1" dirty="0"/>
              <a:t>programación entera</a:t>
            </a:r>
            <a:r>
              <a:rPr lang="es-ES" sz="1600" dirty="0"/>
              <a:t> (</a:t>
            </a:r>
            <a:r>
              <a:rPr lang="es-ES" sz="1600" i="1" dirty="0" err="1"/>
              <a:t>Integer</a:t>
            </a:r>
            <a:r>
              <a:rPr lang="es-ES" sz="1600" i="1" dirty="0"/>
              <a:t> </a:t>
            </a:r>
            <a:r>
              <a:rPr lang="es-ES" sz="1600" i="1" dirty="0" err="1"/>
              <a:t>Programming</a:t>
            </a:r>
            <a:r>
              <a:rPr lang="es-ES" sz="1600" dirty="0"/>
              <a:t> en inglés) es una </a:t>
            </a:r>
            <a:r>
              <a:rPr lang="es-ES" sz="1600" b="1" dirty="0"/>
              <a:t>técnica de optimización</a:t>
            </a:r>
            <a:r>
              <a:rPr lang="es-ES" sz="1600" dirty="0"/>
              <a:t> dentro del campo de la </a:t>
            </a:r>
            <a:r>
              <a:rPr lang="es-ES" sz="1600" b="1" dirty="0"/>
              <a:t>investigación de operaciones</a:t>
            </a:r>
            <a:r>
              <a:rPr lang="es-ES" sz="1600" dirty="0"/>
              <a:t> que se utiliza cuando algunas o todas las variables de decisión del modelo deben tomar </a:t>
            </a:r>
            <a:r>
              <a:rPr lang="es-ES" sz="1600" b="1" dirty="0"/>
              <a:t>valores enteros</a:t>
            </a:r>
            <a:r>
              <a:rPr lang="es-ES" sz="1600" dirty="0"/>
              <a:t>.</a:t>
            </a:r>
          </a:p>
          <a:p>
            <a:pPr marL="0" indent="0">
              <a:buNone/>
            </a:pPr>
            <a:r>
              <a:rPr lang="es-ES" sz="1600" dirty="0"/>
              <a:t>Esto es importante en situaciones reales donde </a:t>
            </a:r>
            <a:r>
              <a:rPr lang="es-ES" sz="1600" b="1" dirty="0"/>
              <a:t>no tiene sentido tener soluciones fraccionarias</a:t>
            </a:r>
            <a:r>
              <a:rPr lang="es-ES" sz="1600" dirty="0"/>
              <a:t>, como:</a:t>
            </a:r>
          </a:p>
          <a:p>
            <a:pPr>
              <a:buFont typeface="Arial" panose="020B0604020202020204" pitchFamily="34" charset="0"/>
              <a:buChar char="•"/>
            </a:pPr>
            <a:r>
              <a:rPr lang="es-ES" sz="1600" dirty="0"/>
              <a:t>Cantidad de productos, número de personas o equipos.</a:t>
            </a:r>
          </a:p>
          <a:p>
            <a:pPr>
              <a:buFont typeface="Arial" panose="020B0604020202020204" pitchFamily="34" charset="0"/>
              <a:buChar char="•"/>
            </a:pPr>
            <a:r>
              <a:rPr lang="es-ES" sz="1600" dirty="0"/>
              <a:t>Decisiones de sí o no (variables binarias).</a:t>
            </a:r>
          </a:p>
          <a:p>
            <a:pPr marL="0" indent="0" algn="just">
              <a:lnSpc>
                <a:spcPct val="100000"/>
              </a:lnSpc>
              <a:buFont typeface="Arial" panose="020B0604020202020204" pitchFamily="34" charset="0"/>
              <a:buNone/>
            </a:pPr>
            <a:r>
              <a:rPr lang="es-ES" sz="1600" b="1" dirty="0">
                <a:latin typeface="Arial Narrow" panose="020B0606020202030204" pitchFamily="34" charset="0"/>
                <a:cs typeface="Times New Roman" panose="02020603050405020304" pitchFamily="18" charset="0"/>
              </a:rPr>
              <a:t>Su tratamiento es similar a las variables reales con la diferencia que las variables toman solamente valores enteros.</a:t>
            </a:r>
          </a:p>
          <a:p>
            <a:r>
              <a:rPr lang="es-ES" sz="1600" b="1" dirty="0"/>
              <a:t>Tipos de programación entera</a:t>
            </a:r>
          </a:p>
          <a:p>
            <a:pPr>
              <a:buFont typeface="+mj-lt"/>
              <a:buAutoNum type="arabicPeriod"/>
            </a:pPr>
            <a:r>
              <a:rPr lang="es-ES" sz="1600" b="1" dirty="0"/>
              <a:t>Programación Entera Pura</a:t>
            </a:r>
            <a:r>
              <a:rPr lang="es-ES" sz="1600" dirty="0"/>
              <a:t>:</a:t>
            </a:r>
            <a:br>
              <a:rPr lang="es-ES" sz="1600" dirty="0"/>
            </a:br>
            <a:r>
              <a:rPr lang="es-ES" sz="1600" dirty="0"/>
              <a:t>Todas las variables deben ser enteras.</a:t>
            </a:r>
          </a:p>
          <a:p>
            <a:pPr>
              <a:buFont typeface="+mj-lt"/>
              <a:buAutoNum type="arabicPeriod"/>
            </a:pPr>
            <a:r>
              <a:rPr lang="es-ES" sz="1600" b="1" dirty="0"/>
              <a:t>Programación Entera Mixta (</a:t>
            </a:r>
            <a:r>
              <a:rPr lang="es-ES" sz="1600" b="1" dirty="0" err="1"/>
              <a:t>Mixed</a:t>
            </a:r>
            <a:r>
              <a:rPr lang="es-ES" sz="1600" b="1" dirty="0"/>
              <a:t> </a:t>
            </a:r>
            <a:r>
              <a:rPr lang="es-ES" sz="1600" b="1" dirty="0" err="1"/>
              <a:t>Integer</a:t>
            </a:r>
            <a:r>
              <a:rPr lang="es-ES" sz="1600" b="1" dirty="0"/>
              <a:t> </a:t>
            </a:r>
            <a:r>
              <a:rPr lang="es-ES" sz="1600" b="1" dirty="0" err="1"/>
              <a:t>Programming</a:t>
            </a:r>
            <a:r>
              <a:rPr lang="es-ES" sz="1600" b="1" dirty="0"/>
              <a:t>)</a:t>
            </a:r>
            <a:r>
              <a:rPr lang="es-ES" sz="1600" dirty="0"/>
              <a:t>:</a:t>
            </a:r>
            <a:br>
              <a:rPr lang="es-ES" sz="1600" dirty="0"/>
            </a:br>
            <a:r>
              <a:rPr lang="es-ES" sz="1600" dirty="0"/>
              <a:t>Algunas variables son enteras, otras pueden ser continuas </a:t>
            </a:r>
          </a:p>
          <a:p>
            <a:pPr>
              <a:buFont typeface="+mj-lt"/>
              <a:buAutoNum type="arabicPeriod"/>
            </a:pPr>
            <a:r>
              <a:rPr lang="es-ES" sz="1600" b="1" dirty="0"/>
              <a:t>Programación Binaria (o 0-1)</a:t>
            </a:r>
            <a:r>
              <a:rPr lang="es-ES" sz="1600" dirty="0"/>
              <a:t>:</a:t>
            </a:r>
            <a:br>
              <a:rPr lang="es-ES" sz="1600" dirty="0"/>
            </a:br>
            <a:r>
              <a:rPr lang="es-ES" sz="1600" dirty="0"/>
              <a:t>Las variables solo pueden tomar los valores 0 o 1, útil para decisiones tipo “sí o no”, como seleccionar proyectos, rutas, etc.</a:t>
            </a:r>
          </a:p>
          <a:p>
            <a:pPr marL="0" indent="0" algn="just">
              <a:lnSpc>
                <a:spcPct val="100000"/>
              </a:lnSpc>
              <a:buFont typeface="Arial" panose="020B0604020202020204" pitchFamily="34" charset="0"/>
              <a:buNone/>
            </a:pPr>
            <a:endParaRPr lang="es-ES" sz="1600" b="1" dirty="0">
              <a:latin typeface="Arial Narrow" panose="020B0606020202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6A256C73-9E02-601A-1DC4-8EDC44195725}"/>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Programación entera</a:t>
            </a:r>
          </a:p>
        </p:txBody>
      </p:sp>
    </p:spTree>
    <p:extLst>
      <p:ext uri="{BB962C8B-B14F-4D97-AF65-F5344CB8AC3E}">
        <p14:creationId xmlns:p14="http://schemas.microsoft.com/office/powerpoint/2010/main" val="410439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rma libre: forma 6">
            <a:extLst>
              <a:ext uri="{FF2B5EF4-FFF2-40B4-BE49-F238E27FC236}">
                <a16:creationId xmlns:a16="http://schemas.microsoft.com/office/drawing/2014/main" id="{E2C586F2-AF82-4012-B9BC-D8E67E9DEAE2}"/>
              </a:ext>
            </a:extLst>
          </p:cNvPr>
          <p:cNvSpPr/>
          <p:nvPr/>
        </p:nvSpPr>
        <p:spPr>
          <a:xfrm>
            <a:off x="6159258" y="2122102"/>
            <a:ext cx="3226279" cy="2682815"/>
          </a:xfrm>
          <a:custGeom>
            <a:avLst/>
            <a:gdLst>
              <a:gd name="connsiteX0" fmla="*/ 0 w 3226279"/>
              <a:gd name="connsiteY0" fmla="*/ 0 h 2682815"/>
              <a:gd name="connsiteX1" fmla="*/ 8626 w 3226279"/>
              <a:gd name="connsiteY1" fmla="*/ 2674189 h 2682815"/>
              <a:gd name="connsiteX2" fmla="*/ 3226279 w 3226279"/>
              <a:gd name="connsiteY2" fmla="*/ 2682815 h 2682815"/>
              <a:gd name="connsiteX3" fmla="*/ 1069675 w 3226279"/>
              <a:gd name="connsiteY3" fmla="*/ 526211 h 2682815"/>
              <a:gd name="connsiteX4" fmla="*/ 0 w 3226279"/>
              <a:gd name="connsiteY4" fmla="*/ 0 h 2682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6279" h="2682815">
                <a:moveTo>
                  <a:pt x="0" y="0"/>
                </a:moveTo>
                <a:cubicBezTo>
                  <a:pt x="2875" y="891396"/>
                  <a:pt x="5751" y="1782793"/>
                  <a:pt x="8626" y="2674189"/>
                </a:cubicBezTo>
                <a:lnTo>
                  <a:pt x="3226279" y="2682815"/>
                </a:lnTo>
                <a:lnTo>
                  <a:pt x="1069675" y="526211"/>
                </a:lnTo>
                <a:lnTo>
                  <a:pt x="0" y="0"/>
                </a:lnTo>
                <a:close/>
              </a:path>
            </a:pathLst>
          </a:cu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2" name="1 Diagrama"/>
          <p:cNvGraphicFramePr/>
          <p:nvPr>
            <p:extLst>
              <p:ext uri="{D42A27DB-BD31-4B8C-83A1-F6EECF244321}">
                <p14:modId xmlns:p14="http://schemas.microsoft.com/office/powerpoint/2010/main" val="1887161880"/>
              </p:ext>
            </p:extLst>
          </p:nvPr>
        </p:nvGraphicFramePr>
        <p:xfrm>
          <a:off x="8067614" y="5369888"/>
          <a:ext cx="3310901" cy="10139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197" name="Rectangle 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cxnSp>
        <p:nvCxnSpPr>
          <p:cNvPr id="8" name="7 Conector recto"/>
          <p:cNvCxnSpPr/>
          <p:nvPr/>
        </p:nvCxnSpPr>
        <p:spPr>
          <a:xfrm>
            <a:off x="7234056" y="1752458"/>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p:nvPr/>
        </p:nvCxnSpPr>
        <p:spPr>
          <a:xfrm>
            <a:off x="9758112" y="1757456"/>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p:nvPr/>
        </p:nvCxnSpPr>
        <p:spPr>
          <a:xfrm>
            <a:off x="6134999" y="2303779"/>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p:nvPr/>
        </p:nvCxnSpPr>
        <p:spPr>
          <a:xfrm flipV="1">
            <a:off x="5894783" y="4822828"/>
            <a:ext cx="6235030"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18 Conector recto de flecha"/>
          <p:cNvCxnSpPr/>
          <p:nvPr/>
        </p:nvCxnSpPr>
        <p:spPr>
          <a:xfrm flipV="1">
            <a:off x="6149719" y="1351367"/>
            <a:ext cx="0" cy="3548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21 Conector recto"/>
          <p:cNvCxnSpPr/>
          <p:nvPr/>
        </p:nvCxnSpPr>
        <p:spPr>
          <a:xfrm>
            <a:off x="5927448" y="4822827"/>
            <a:ext cx="3672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6143791" y="3742102"/>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17 Conector recto"/>
          <p:cNvCxnSpPr/>
          <p:nvPr/>
        </p:nvCxnSpPr>
        <p:spPr>
          <a:xfrm>
            <a:off x="6120901" y="1576606"/>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19 Conector recto"/>
          <p:cNvCxnSpPr/>
          <p:nvPr/>
        </p:nvCxnSpPr>
        <p:spPr>
          <a:xfrm>
            <a:off x="6138457" y="3018845"/>
            <a:ext cx="428513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20 Conector recto"/>
          <p:cNvCxnSpPr/>
          <p:nvPr/>
        </p:nvCxnSpPr>
        <p:spPr>
          <a:xfrm flipV="1">
            <a:off x="6134999" y="4463881"/>
            <a:ext cx="4183093" cy="4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23 Conector recto"/>
          <p:cNvCxnSpPr/>
          <p:nvPr/>
        </p:nvCxnSpPr>
        <p:spPr>
          <a:xfrm>
            <a:off x="7953618" y="1766251"/>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24 Conector recto"/>
          <p:cNvCxnSpPr/>
          <p:nvPr/>
        </p:nvCxnSpPr>
        <p:spPr>
          <a:xfrm>
            <a:off x="9039252" y="1757463"/>
            <a:ext cx="0" cy="3070523"/>
          </a:xfrm>
          <a:prstGeom prst="line">
            <a:avLst/>
          </a:prstGeom>
        </p:spPr>
        <p:style>
          <a:lnRef idx="1">
            <a:schemeClr val="accent1"/>
          </a:lnRef>
          <a:fillRef idx="0">
            <a:schemeClr val="accent1"/>
          </a:fillRef>
          <a:effectRef idx="0">
            <a:schemeClr val="accent1"/>
          </a:effectRef>
          <a:fontRef idx="minor">
            <a:schemeClr val="tx1"/>
          </a:fontRef>
        </p:style>
      </p:cxnSp>
      <p:sp>
        <p:nvSpPr>
          <p:cNvPr id="6" name="5 CuadroTexto"/>
          <p:cNvSpPr txBox="1"/>
          <p:nvPr/>
        </p:nvSpPr>
        <p:spPr>
          <a:xfrm>
            <a:off x="5447928" y="1449741"/>
            <a:ext cx="648072" cy="3554819"/>
          </a:xfrm>
          <a:prstGeom prst="rect">
            <a:avLst/>
          </a:prstGeom>
          <a:noFill/>
        </p:spPr>
        <p:txBody>
          <a:bodyPr wrap="square" rtlCol="0">
            <a:spAutoFit/>
          </a:bodyPr>
          <a:lstStyle/>
          <a:p>
            <a:pPr algn="r">
              <a:spcAft>
                <a:spcPts val="600"/>
              </a:spcAft>
            </a:pPr>
            <a:r>
              <a:rPr lang="es-PE" dirty="0">
                <a:latin typeface="Arial Narrow" pitchFamily="34" charset="0"/>
              </a:rPr>
              <a:t>9</a:t>
            </a:r>
          </a:p>
          <a:p>
            <a:pPr algn="r">
              <a:spcAft>
                <a:spcPts val="600"/>
              </a:spcAft>
            </a:pPr>
            <a:r>
              <a:rPr lang="es-PE" dirty="0">
                <a:latin typeface="Arial Narrow" pitchFamily="34" charset="0"/>
              </a:rPr>
              <a:t>8</a:t>
            </a:r>
          </a:p>
          <a:p>
            <a:pPr algn="r">
              <a:spcAft>
                <a:spcPts val="600"/>
              </a:spcAft>
            </a:pPr>
            <a:r>
              <a:rPr lang="es-PE" dirty="0">
                <a:latin typeface="Arial Narrow" pitchFamily="34" charset="0"/>
              </a:rPr>
              <a:t>7</a:t>
            </a:r>
          </a:p>
          <a:p>
            <a:pPr algn="r">
              <a:spcAft>
                <a:spcPts val="600"/>
              </a:spcAft>
            </a:pPr>
            <a:r>
              <a:rPr lang="es-PE" dirty="0">
                <a:latin typeface="Arial Narrow" pitchFamily="34" charset="0"/>
              </a:rPr>
              <a:t>6</a:t>
            </a:r>
          </a:p>
          <a:p>
            <a:pPr algn="r">
              <a:spcAft>
                <a:spcPts val="600"/>
              </a:spcAft>
            </a:pPr>
            <a:r>
              <a:rPr lang="es-PE" dirty="0">
                <a:latin typeface="Arial Narrow" pitchFamily="34" charset="0"/>
              </a:rPr>
              <a:t>5</a:t>
            </a:r>
          </a:p>
          <a:p>
            <a:pPr algn="r">
              <a:spcAft>
                <a:spcPts val="600"/>
              </a:spcAft>
            </a:pPr>
            <a:r>
              <a:rPr lang="es-PE" dirty="0">
                <a:latin typeface="Arial Narrow" pitchFamily="34" charset="0"/>
              </a:rPr>
              <a:t>4</a:t>
            </a:r>
          </a:p>
          <a:p>
            <a:pPr algn="r">
              <a:spcAft>
                <a:spcPts val="600"/>
              </a:spcAft>
            </a:pPr>
            <a:r>
              <a:rPr lang="es-PE" dirty="0">
                <a:latin typeface="Arial Narrow" pitchFamily="34" charset="0"/>
              </a:rPr>
              <a:t>3</a:t>
            </a:r>
          </a:p>
          <a:p>
            <a:pPr algn="r">
              <a:spcAft>
                <a:spcPts val="600"/>
              </a:spcAft>
            </a:pPr>
            <a:r>
              <a:rPr lang="es-PE" dirty="0">
                <a:latin typeface="Arial Narrow" pitchFamily="34" charset="0"/>
              </a:rPr>
              <a:t>2</a:t>
            </a:r>
          </a:p>
          <a:p>
            <a:pPr algn="r">
              <a:spcAft>
                <a:spcPts val="600"/>
              </a:spcAft>
            </a:pPr>
            <a:r>
              <a:rPr lang="es-PE" dirty="0">
                <a:latin typeface="Arial Narrow" pitchFamily="34" charset="0"/>
              </a:rPr>
              <a:t>1</a:t>
            </a:r>
          </a:p>
          <a:p>
            <a:pPr algn="r">
              <a:spcAft>
                <a:spcPts val="600"/>
              </a:spcAft>
            </a:pPr>
            <a:endParaRPr lang="es-PE" dirty="0">
              <a:latin typeface="Arial Narrow" pitchFamily="34" charset="0"/>
            </a:endParaRPr>
          </a:p>
        </p:txBody>
      </p:sp>
      <p:sp>
        <p:nvSpPr>
          <p:cNvPr id="10" name="9 CuadroTexto"/>
          <p:cNvSpPr txBox="1"/>
          <p:nvPr/>
        </p:nvSpPr>
        <p:spPr>
          <a:xfrm>
            <a:off x="6096000" y="4822996"/>
            <a:ext cx="5922087" cy="369332"/>
          </a:xfrm>
          <a:prstGeom prst="rect">
            <a:avLst/>
          </a:prstGeom>
          <a:noFill/>
        </p:spPr>
        <p:txBody>
          <a:bodyPr wrap="square" rtlCol="0">
            <a:spAutoFit/>
          </a:bodyPr>
          <a:lstStyle/>
          <a:p>
            <a:r>
              <a:rPr lang="es-PE" dirty="0"/>
              <a:t>      1    2     3     4    5     6    7     8     9    10   11   12  13   14 15   </a:t>
            </a:r>
          </a:p>
        </p:txBody>
      </p:sp>
      <p:cxnSp>
        <p:nvCxnSpPr>
          <p:cNvPr id="30" name="29 Conector recto"/>
          <p:cNvCxnSpPr/>
          <p:nvPr/>
        </p:nvCxnSpPr>
        <p:spPr>
          <a:xfrm>
            <a:off x="10115875" y="1757457"/>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28 Conector recto"/>
          <p:cNvCxnSpPr>
            <a:cxnSpLocks/>
          </p:cNvCxnSpPr>
          <p:nvPr/>
        </p:nvCxnSpPr>
        <p:spPr>
          <a:xfrm>
            <a:off x="6147756" y="2115785"/>
            <a:ext cx="5739444" cy="2870283"/>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192" name="8191 Conector recto"/>
          <p:cNvCxnSpPr>
            <a:cxnSpLocks/>
          </p:cNvCxnSpPr>
          <p:nvPr/>
        </p:nvCxnSpPr>
        <p:spPr>
          <a:xfrm>
            <a:off x="6143792" y="1583247"/>
            <a:ext cx="3386082" cy="33727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3 Conector recto de flecha"/>
          <p:cNvCxnSpPr>
            <a:cxnSpLocks/>
          </p:cNvCxnSpPr>
          <p:nvPr/>
        </p:nvCxnSpPr>
        <p:spPr>
          <a:xfrm flipH="1">
            <a:off x="5968823" y="1601362"/>
            <a:ext cx="183057" cy="207203"/>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30 Conector recto de flecha"/>
          <p:cNvCxnSpPr/>
          <p:nvPr/>
        </p:nvCxnSpPr>
        <p:spPr>
          <a:xfrm flipH="1">
            <a:off x="11710420" y="4932904"/>
            <a:ext cx="81862" cy="250984"/>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3" name="22 Elipse"/>
          <p:cNvSpPr/>
          <p:nvPr/>
        </p:nvSpPr>
        <p:spPr>
          <a:xfrm>
            <a:off x="6132136" y="479645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4" name="33 Elipse"/>
          <p:cNvSpPr/>
          <p:nvPr/>
        </p:nvSpPr>
        <p:spPr>
          <a:xfrm>
            <a:off x="6121585" y="444687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5" name="34 Elipse"/>
          <p:cNvSpPr/>
          <p:nvPr/>
        </p:nvSpPr>
        <p:spPr>
          <a:xfrm>
            <a:off x="6133116" y="299992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35 Elipse"/>
          <p:cNvSpPr/>
          <p:nvPr/>
        </p:nvSpPr>
        <p:spPr>
          <a:xfrm>
            <a:off x="7214490" y="445010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36 Elipse"/>
          <p:cNvSpPr/>
          <p:nvPr/>
        </p:nvSpPr>
        <p:spPr>
          <a:xfrm>
            <a:off x="8657645" y="446099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37 Elipse"/>
          <p:cNvSpPr/>
          <p:nvPr/>
        </p:nvSpPr>
        <p:spPr>
          <a:xfrm>
            <a:off x="6493259" y="445039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38 Elipse"/>
          <p:cNvSpPr/>
          <p:nvPr/>
        </p:nvSpPr>
        <p:spPr>
          <a:xfrm>
            <a:off x="6860209" y="444511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39 Elipse"/>
          <p:cNvSpPr/>
          <p:nvPr/>
        </p:nvSpPr>
        <p:spPr>
          <a:xfrm>
            <a:off x="7219766" y="480980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1" name="40 Elipse"/>
          <p:cNvSpPr/>
          <p:nvPr/>
        </p:nvSpPr>
        <p:spPr>
          <a:xfrm>
            <a:off x="7579162" y="445025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41 Elipse"/>
          <p:cNvSpPr/>
          <p:nvPr/>
        </p:nvSpPr>
        <p:spPr>
          <a:xfrm>
            <a:off x="6139163" y="408349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3" name="42 Elipse"/>
          <p:cNvSpPr/>
          <p:nvPr/>
        </p:nvSpPr>
        <p:spPr>
          <a:xfrm>
            <a:off x="6860209" y="480782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4" name="43 Elipse"/>
          <p:cNvSpPr/>
          <p:nvPr/>
        </p:nvSpPr>
        <p:spPr>
          <a:xfrm>
            <a:off x="6493260" y="479375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5" name="44 Elipse"/>
          <p:cNvSpPr/>
          <p:nvPr/>
        </p:nvSpPr>
        <p:spPr>
          <a:xfrm>
            <a:off x="6135646" y="372384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6" name="45 Elipse"/>
          <p:cNvSpPr/>
          <p:nvPr/>
        </p:nvSpPr>
        <p:spPr>
          <a:xfrm>
            <a:off x="7934026" y="371317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7" name="46 Elipse"/>
          <p:cNvSpPr/>
          <p:nvPr/>
        </p:nvSpPr>
        <p:spPr>
          <a:xfrm>
            <a:off x="7574408" y="336485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8" name="47 Elipse"/>
          <p:cNvSpPr/>
          <p:nvPr/>
        </p:nvSpPr>
        <p:spPr>
          <a:xfrm>
            <a:off x="6853751" y="407259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9" name="48 Elipse"/>
          <p:cNvSpPr/>
          <p:nvPr/>
        </p:nvSpPr>
        <p:spPr>
          <a:xfrm>
            <a:off x="7220696" y="407962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0" name="49 Elipse"/>
          <p:cNvSpPr/>
          <p:nvPr/>
        </p:nvSpPr>
        <p:spPr>
          <a:xfrm>
            <a:off x="7580834" y="480765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1" name="50 Elipse"/>
          <p:cNvSpPr/>
          <p:nvPr/>
        </p:nvSpPr>
        <p:spPr>
          <a:xfrm>
            <a:off x="7933741" y="336781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2" name="51 Elipse"/>
          <p:cNvSpPr/>
          <p:nvPr/>
        </p:nvSpPr>
        <p:spPr>
          <a:xfrm>
            <a:off x="7580577" y="300552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4" name="53 Elipse"/>
          <p:cNvSpPr/>
          <p:nvPr/>
        </p:nvSpPr>
        <p:spPr>
          <a:xfrm flipH="1" flipV="1">
            <a:off x="8287728" y="4785478"/>
            <a:ext cx="54819" cy="665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5" name="54 Elipse"/>
          <p:cNvSpPr/>
          <p:nvPr/>
        </p:nvSpPr>
        <p:spPr>
          <a:xfrm flipH="1" flipV="1">
            <a:off x="7935733" y="4443077"/>
            <a:ext cx="54819" cy="665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6" name="55 Elipse"/>
          <p:cNvSpPr/>
          <p:nvPr/>
        </p:nvSpPr>
        <p:spPr>
          <a:xfrm flipH="1" flipV="1">
            <a:off x="7932527" y="4795312"/>
            <a:ext cx="54819" cy="665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7" name="56 Elipse"/>
          <p:cNvSpPr/>
          <p:nvPr/>
        </p:nvSpPr>
        <p:spPr>
          <a:xfrm flipH="1" flipV="1">
            <a:off x="8289154" y="4425922"/>
            <a:ext cx="54819" cy="665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65" name="64 Conector recto"/>
          <p:cNvCxnSpPr>
            <a:cxnSpLocks/>
          </p:cNvCxnSpPr>
          <p:nvPr/>
        </p:nvCxnSpPr>
        <p:spPr>
          <a:xfrm>
            <a:off x="5274387" y="3206374"/>
            <a:ext cx="3308896" cy="1960849"/>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8" name="57 Conector recto"/>
          <p:cNvCxnSpPr/>
          <p:nvPr/>
        </p:nvCxnSpPr>
        <p:spPr>
          <a:xfrm>
            <a:off x="9399744" y="1751815"/>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58 Conector recto"/>
          <p:cNvCxnSpPr/>
          <p:nvPr/>
        </p:nvCxnSpPr>
        <p:spPr>
          <a:xfrm>
            <a:off x="8674216" y="1758621"/>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59 Conector recto"/>
          <p:cNvCxnSpPr/>
          <p:nvPr/>
        </p:nvCxnSpPr>
        <p:spPr>
          <a:xfrm>
            <a:off x="8317952" y="1765435"/>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60 Conector recto"/>
          <p:cNvCxnSpPr/>
          <p:nvPr/>
        </p:nvCxnSpPr>
        <p:spPr>
          <a:xfrm>
            <a:off x="7599450" y="1767531"/>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61 Conector recto"/>
          <p:cNvCxnSpPr/>
          <p:nvPr/>
        </p:nvCxnSpPr>
        <p:spPr>
          <a:xfrm>
            <a:off x="6876244" y="1749409"/>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62 Conector recto"/>
          <p:cNvCxnSpPr/>
          <p:nvPr/>
        </p:nvCxnSpPr>
        <p:spPr>
          <a:xfrm>
            <a:off x="6516117" y="1809231"/>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68 Conector recto"/>
          <p:cNvCxnSpPr/>
          <p:nvPr/>
        </p:nvCxnSpPr>
        <p:spPr>
          <a:xfrm>
            <a:off x="6156755" y="1940575"/>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69 Conector recto"/>
          <p:cNvCxnSpPr/>
          <p:nvPr/>
        </p:nvCxnSpPr>
        <p:spPr>
          <a:xfrm>
            <a:off x="6134500" y="2656869"/>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70 Conector recto"/>
          <p:cNvCxnSpPr/>
          <p:nvPr/>
        </p:nvCxnSpPr>
        <p:spPr>
          <a:xfrm>
            <a:off x="6147756" y="3384227"/>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71 Conector recto"/>
          <p:cNvCxnSpPr/>
          <p:nvPr/>
        </p:nvCxnSpPr>
        <p:spPr>
          <a:xfrm>
            <a:off x="6143789" y="4101075"/>
            <a:ext cx="4183093" cy="0"/>
          </a:xfrm>
          <a:prstGeom prst="line">
            <a:avLst/>
          </a:prstGeom>
        </p:spPr>
        <p:style>
          <a:lnRef idx="1">
            <a:schemeClr val="accent1"/>
          </a:lnRef>
          <a:fillRef idx="0">
            <a:schemeClr val="accent1"/>
          </a:fillRef>
          <a:effectRef idx="0">
            <a:schemeClr val="accent1"/>
          </a:effectRef>
          <a:fontRef idx="minor">
            <a:schemeClr val="tx1"/>
          </a:fontRef>
        </p:style>
      </p:cxnSp>
      <p:sp>
        <p:nvSpPr>
          <p:cNvPr id="74" name="73 Elipse"/>
          <p:cNvSpPr/>
          <p:nvPr/>
        </p:nvSpPr>
        <p:spPr>
          <a:xfrm>
            <a:off x="6493260" y="407731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5" name="74 Elipse"/>
          <p:cNvSpPr/>
          <p:nvPr/>
        </p:nvSpPr>
        <p:spPr>
          <a:xfrm>
            <a:off x="6499535" y="373287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6" name="75 Elipse"/>
          <p:cNvSpPr/>
          <p:nvPr/>
        </p:nvSpPr>
        <p:spPr>
          <a:xfrm>
            <a:off x="7218248" y="336076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7" name="76 Elipse"/>
          <p:cNvSpPr/>
          <p:nvPr/>
        </p:nvSpPr>
        <p:spPr>
          <a:xfrm>
            <a:off x="7577418" y="408258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8" name="77 Elipse"/>
          <p:cNvSpPr/>
          <p:nvPr/>
        </p:nvSpPr>
        <p:spPr>
          <a:xfrm>
            <a:off x="8299822" y="407953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9" name="78 Elipse"/>
          <p:cNvSpPr/>
          <p:nvPr/>
        </p:nvSpPr>
        <p:spPr>
          <a:xfrm>
            <a:off x="7220412" y="372209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2 Rectángulo"/>
          <p:cNvSpPr/>
          <p:nvPr/>
        </p:nvSpPr>
        <p:spPr>
          <a:xfrm>
            <a:off x="1409681" y="4243685"/>
            <a:ext cx="3876605" cy="2246769"/>
          </a:xfrm>
          <a:prstGeom prst="rect">
            <a:avLst/>
          </a:prstGeom>
          <a:solidFill>
            <a:srgbClr val="FFFF00"/>
          </a:solidFill>
        </p:spPr>
        <p:txBody>
          <a:bodyPr wrap="square">
            <a:spAutoFit/>
          </a:bodyPr>
          <a:lstStyle/>
          <a:p>
            <a:pPr lvl="0"/>
            <a:r>
              <a:rPr lang="es-ES" sz="2800" b="1" dirty="0"/>
              <a:t>MAX  </a:t>
            </a:r>
            <a:r>
              <a:rPr lang="es-ES" sz="2800" b="1" dirty="0" err="1"/>
              <a:t>30A</a:t>
            </a:r>
            <a:r>
              <a:rPr lang="es-ES" sz="2800" b="1" dirty="0"/>
              <a:t>+ </a:t>
            </a:r>
            <a:r>
              <a:rPr lang="es-ES" sz="2800" b="1" dirty="0" err="1"/>
              <a:t>50B</a:t>
            </a:r>
            <a:endParaRPr lang="es-ES" sz="2800" b="1" dirty="0"/>
          </a:p>
          <a:p>
            <a:pPr lvl="0"/>
            <a:r>
              <a:rPr lang="es-ES" sz="2800" b="1" dirty="0"/>
              <a:t>Sujeto a:</a:t>
            </a:r>
          </a:p>
          <a:p>
            <a:pPr lvl="0"/>
            <a:r>
              <a:rPr lang="es-ES" sz="2800" b="1" dirty="0" err="1"/>
              <a:t>3A+3B</a:t>
            </a:r>
            <a:r>
              <a:rPr lang="es-ES" sz="2800" b="1" dirty="0"/>
              <a:t> &lt;= 27       (I)</a:t>
            </a:r>
          </a:p>
          <a:p>
            <a:pPr lvl="0"/>
            <a:r>
              <a:rPr lang="es-ES" sz="2800" b="1" dirty="0" err="1"/>
              <a:t>2A+4B</a:t>
            </a:r>
            <a:r>
              <a:rPr lang="es-ES" sz="2800" b="1" dirty="0"/>
              <a:t>&lt;=30         (II)</a:t>
            </a:r>
          </a:p>
          <a:p>
            <a:pPr lvl="0"/>
            <a:r>
              <a:rPr lang="es-ES" sz="2800" b="1" dirty="0"/>
              <a:t>A,     B  </a:t>
            </a:r>
            <a:r>
              <a:rPr lang="es-ES" sz="2800" b="1" dirty="0">
                <a:sym typeface="Symbol"/>
              </a:rPr>
              <a:t></a:t>
            </a:r>
            <a:r>
              <a:rPr lang="es-ES" sz="2800" b="1" dirty="0"/>
              <a:t>  0, </a:t>
            </a:r>
            <a:r>
              <a:rPr lang="es-ES" sz="2800" b="1" dirty="0">
                <a:solidFill>
                  <a:srgbClr val="FF0000"/>
                </a:solidFill>
              </a:rPr>
              <a:t>ENTERAS</a:t>
            </a:r>
            <a:endParaRPr lang="es-ES" sz="2800" b="1" dirty="0"/>
          </a:p>
        </p:txBody>
      </p:sp>
      <p:sp>
        <p:nvSpPr>
          <p:cNvPr id="80" name="79 Elipse"/>
          <p:cNvSpPr/>
          <p:nvPr/>
        </p:nvSpPr>
        <p:spPr>
          <a:xfrm>
            <a:off x="6852948" y="372826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1" name="80 Elipse"/>
          <p:cNvSpPr/>
          <p:nvPr/>
        </p:nvSpPr>
        <p:spPr>
          <a:xfrm>
            <a:off x="6494580" y="336989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2" name="81 Elipse"/>
          <p:cNvSpPr/>
          <p:nvPr/>
        </p:nvSpPr>
        <p:spPr>
          <a:xfrm>
            <a:off x="6859636" y="336110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3" name="82 Elipse"/>
          <p:cNvSpPr/>
          <p:nvPr/>
        </p:nvSpPr>
        <p:spPr>
          <a:xfrm>
            <a:off x="6852948" y="263345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4" name="83 Elipse"/>
          <p:cNvSpPr/>
          <p:nvPr/>
        </p:nvSpPr>
        <p:spPr>
          <a:xfrm>
            <a:off x="7213445" y="263723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5" name="84 Elipse"/>
          <p:cNvSpPr/>
          <p:nvPr/>
        </p:nvSpPr>
        <p:spPr>
          <a:xfrm>
            <a:off x="6859636" y="301152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6" name="85 Elipse"/>
          <p:cNvSpPr/>
          <p:nvPr/>
        </p:nvSpPr>
        <p:spPr>
          <a:xfrm>
            <a:off x="6494580" y="300272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7" name="86 Elipse"/>
          <p:cNvSpPr/>
          <p:nvPr/>
        </p:nvSpPr>
        <p:spPr>
          <a:xfrm>
            <a:off x="7218004" y="300062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8" name="87 Elipse"/>
          <p:cNvSpPr/>
          <p:nvPr/>
        </p:nvSpPr>
        <p:spPr>
          <a:xfrm>
            <a:off x="6494580" y="264603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9" name="88 Elipse"/>
          <p:cNvSpPr/>
          <p:nvPr/>
        </p:nvSpPr>
        <p:spPr>
          <a:xfrm>
            <a:off x="6136212" y="337201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0" name="89 Elipse"/>
          <p:cNvSpPr/>
          <p:nvPr/>
        </p:nvSpPr>
        <p:spPr>
          <a:xfrm>
            <a:off x="6127420" y="264603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1" name="90 Elipse"/>
          <p:cNvSpPr/>
          <p:nvPr/>
        </p:nvSpPr>
        <p:spPr>
          <a:xfrm>
            <a:off x="6127420" y="229645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2" name="91 Elipse"/>
          <p:cNvSpPr/>
          <p:nvPr/>
        </p:nvSpPr>
        <p:spPr>
          <a:xfrm>
            <a:off x="7934740" y="407793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3" name="92 Elipse"/>
          <p:cNvSpPr/>
          <p:nvPr/>
        </p:nvSpPr>
        <p:spPr>
          <a:xfrm>
            <a:off x="7584421" y="373037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 name="4 CuadroTexto"/>
          <p:cNvSpPr txBox="1"/>
          <p:nvPr/>
        </p:nvSpPr>
        <p:spPr>
          <a:xfrm>
            <a:off x="6096000" y="5244396"/>
            <a:ext cx="1971614" cy="1200329"/>
          </a:xfrm>
          <a:prstGeom prst="rect">
            <a:avLst/>
          </a:prstGeom>
          <a:solidFill>
            <a:schemeClr val="bg1"/>
          </a:solidFill>
        </p:spPr>
        <p:txBody>
          <a:bodyPr wrap="square" rtlCol="0">
            <a:spAutoFit/>
          </a:bodyPr>
          <a:lstStyle/>
          <a:p>
            <a:r>
              <a:rPr lang="es-ES" dirty="0"/>
              <a:t>Graficando la </a:t>
            </a:r>
            <a:r>
              <a:rPr lang="es-ES" dirty="0" err="1"/>
              <a:t>F.O</a:t>
            </a:r>
            <a:r>
              <a:rPr lang="es-ES" dirty="0"/>
              <a:t>.</a:t>
            </a:r>
          </a:p>
          <a:p>
            <a:r>
              <a:rPr lang="es-ES" dirty="0" err="1"/>
              <a:t>30A+50B</a:t>
            </a:r>
            <a:r>
              <a:rPr lang="es-ES" dirty="0"/>
              <a:t>=150</a:t>
            </a:r>
          </a:p>
          <a:p>
            <a:r>
              <a:rPr lang="es-ES" dirty="0"/>
              <a:t>Si A=0 </a:t>
            </a:r>
            <a:r>
              <a:rPr lang="es-ES" dirty="0">
                <a:sym typeface="Wingdings" pitchFamily="2" charset="2"/>
              </a:rPr>
              <a:t> B=3</a:t>
            </a:r>
          </a:p>
          <a:p>
            <a:r>
              <a:rPr lang="es-ES" dirty="0">
                <a:sym typeface="Wingdings" pitchFamily="2" charset="2"/>
              </a:rPr>
              <a:t>Si B=0  A=5</a:t>
            </a:r>
            <a:endParaRPr lang="es-PE" dirty="0"/>
          </a:p>
        </p:txBody>
      </p:sp>
      <p:sp>
        <p:nvSpPr>
          <p:cNvPr id="94" name="45 Elipse">
            <a:extLst>
              <a:ext uri="{FF2B5EF4-FFF2-40B4-BE49-F238E27FC236}">
                <a16:creationId xmlns:a16="http://schemas.microsoft.com/office/drawing/2014/main" id="{99BF8F8A-3AAB-4713-8BC4-A96E7206D004}"/>
              </a:ext>
            </a:extLst>
          </p:cNvPr>
          <p:cNvSpPr/>
          <p:nvPr/>
        </p:nvSpPr>
        <p:spPr>
          <a:xfrm>
            <a:off x="8288649" y="372489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45 Elipse">
            <a:extLst>
              <a:ext uri="{FF2B5EF4-FFF2-40B4-BE49-F238E27FC236}">
                <a16:creationId xmlns:a16="http://schemas.microsoft.com/office/drawing/2014/main" id="{78EAC555-72FB-4644-A686-D32F194A7E8B}"/>
              </a:ext>
            </a:extLst>
          </p:cNvPr>
          <p:cNvSpPr/>
          <p:nvPr/>
        </p:nvSpPr>
        <p:spPr>
          <a:xfrm>
            <a:off x="9373034" y="480048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6" name="45 Elipse">
            <a:extLst>
              <a:ext uri="{FF2B5EF4-FFF2-40B4-BE49-F238E27FC236}">
                <a16:creationId xmlns:a16="http://schemas.microsoft.com/office/drawing/2014/main" id="{B7BF97CF-C2CA-46AB-92B3-8BB72E9D4145}"/>
              </a:ext>
            </a:extLst>
          </p:cNvPr>
          <p:cNvSpPr/>
          <p:nvPr/>
        </p:nvSpPr>
        <p:spPr>
          <a:xfrm>
            <a:off x="9015480" y="442534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7" name="2 Marcador de contenido">
            <a:extLst>
              <a:ext uri="{FF2B5EF4-FFF2-40B4-BE49-F238E27FC236}">
                <a16:creationId xmlns:a16="http://schemas.microsoft.com/office/drawing/2014/main" id="{1BCD8CB6-50F7-432C-8686-9388F0AF4171}"/>
              </a:ext>
            </a:extLst>
          </p:cNvPr>
          <p:cNvSpPr>
            <a:spLocks noGrp="1"/>
          </p:cNvSpPr>
          <p:nvPr>
            <p:ph idx="1"/>
          </p:nvPr>
        </p:nvSpPr>
        <p:spPr>
          <a:xfrm>
            <a:off x="10174088" y="1252713"/>
            <a:ext cx="2017912" cy="1440612"/>
          </a:xfrm>
          <a:solidFill>
            <a:schemeClr val="bg1"/>
          </a:solidFill>
        </p:spPr>
        <p:txBody>
          <a:bodyPr>
            <a:noAutofit/>
          </a:bodyPr>
          <a:lstStyle/>
          <a:p>
            <a:pPr marL="0" lvl="0" indent="0">
              <a:lnSpc>
                <a:spcPct val="100000"/>
              </a:lnSpc>
              <a:buNone/>
            </a:pPr>
            <a:r>
              <a:rPr lang="es-ES" sz="2000" b="1" dirty="0">
                <a:solidFill>
                  <a:srgbClr val="FF0000"/>
                </a:solidFill>
              </a:rPr>
              <a:t>Hallando la solución óptima:</a:t>
            </a:r>
          </a:p>
          <a:p>
            <a:pPr marL="0" lvl="0" indent="0">
              <a:lnSpc>
                <a:spcPct val="100000"/>
              </a:lnSpc>
              <a:buNone/>
            </a:pPr>
            <a:r>
              <a:rPr lang="es-ES" sz="2000" b="1" dirty="0" err="1">
                <a:solidFill>
                  <a:schemeClr val="tx1"/>
                </a:solidFill>
              </a:rPr>
              <a:t>3A+3B</a:t>
            </a:r>
            <a:r>
              <a:rPr lang="es-ES" sz="2000" b="1" dirty="0">
                <a:solidFill>
                  <a:schemeClr val="tx1"/>
                </a:solidFill>
              </a:rPr>
              <a:t> = 27    (I) </a:t>
            </a:r>
          </a:p>
          <a:p>
            <a:pPr marL="0" lvl="0" indent="0">
              <a:lnSpc>
                <a:spcPct val="100000"/>
              </a:lnSpc>
              <a:buNone/>
            </a:pPr>
            <a:r>
              <a:rPr lang="es-ES" sz="2000" b="1" u="sng" dirty="0" err="1">
                <a:solidFill>
                  <a:schemeClr val="tx1"/>
                </a:solidFill>
              </a:rPr>
              <a:t>2A+4B</a:t>
            </a:r>
            <a:r>
              <a:rPr lang="es-ES" sz="2000" b="1" u="sng" dirty="0">
                <a:solidFill>
                  <a:schemeClr val="tx1"/>
                </a:solidFill>
              </a:rPr>
              <a:t> =30     </a:t>
            </a:r>
            <a:r>
              <a:rPr lang="es-ES" sz="2000" b="1" dirty="0">
                <a:solidFill>
                  <a:schemeClr val="tx1"/>
                </a:solidFill>
              </a:rPr>
              <a:t>(II)     </a:t>
            </a:r>
          </a:p>
          <a:p>
            <a:pPr marL="3657600" lvl="8" indent="0">
              <a:lnSpc>
                <a:spcPct val="100000"/>
              </a:lnSpc>
              <a:buNone/>
            </a:pPr>
            <a:endParaRPr lang="es-PE" sz="2000" b="1" u="sng" dirty="0"/>
          </a:p>
          <a:p>
            <a:pPr marL="3657600" lvl="8" indent="0">
              <a:lnSpc>
                <a:spcPct val="100000"/>
              </a:lnSpc>
              <a:buNone/>
            </a:pPr>
            <a:endParaRPr lang="es-PE" sz="2000" b="1" u="sng" dirty="0"/>
          </a:p>
        </p:txBody>
      </p:sp>
      <p:sp>
        <p:nvSpPr>
          <p:cNvPr id="98" name="2 Marcador de contenido">
            <a:extLst>
              <a:ext uri="{FF2B5EF4-FFF2-40B4-BE49-F238E27FC236}">
                <a16:creationId xmlns:a16="http://schemas.microsoft.com/office/drawing/2014/main" id="{7BDF2509-F10E-4C6A-B42D-B72C1F86C74C}"/>
              </a:ext>
            </a:extLst>
          </p:cNvPr>
          <p:cNvSpPr txBox="1">
            <a:spLocks/>
          </p:cNvSpPr>
          <p:nvPr/>
        </p:nvSpPr>
        <p:spPr>
          <a:xfrm>
            <a:off x="90984" y="1268077"/>
            <a:ext cx="5276019" cy="2575497"/>
          </a:xfrm>
          <a:prstGeom prst="rect">
            <a:avLst/>
          </a:prstGeom>
          <a:solidFill>
            <a:schemeClr val="accent3">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s-ES" sz="2000" b="1" dirty="0">
                <a:latin typeface="Arial Narrow" panose="020B0606020202030204" pitchFamily="34" charset="0"/>
                <a:cs typeface="Times New Roman" panose="02020603050405020304" pitchFamily="18" charset="0"/>
              </a:rPr>
              <a:t>Los problemas de programación entera están referidos a problemas que tienen variables enteras.</a:t>
            </a:r>
          </a:p>
          <a:p>
            <a:pPr marL="0" indent="0" algn="just">
              <a:lnSpc>
                <a:spcPct val="100000"/>
              </a:lnSpc>
              <a:buFont typeface="Arial" panose="020B0604020202020204" pitchFamily="34" charset="0"/>
              <a:buNone/>
            </a:pPr>
            <a:r>
              <a:rPr lang="es-ES" sz="2000" b="1" dirty="0">
                <a:solidFill>
                  <a:srgbClr val="FF0000"/>
                </a:solidFill>
                <a:latin typeface="Arial Narrow" panose="020B0606020202030204" pitchFamily="34" charset="0"/>
                <a:cs typeface="Times New Roman" panose="02020603050405020304" pitchFamily="18" charset="0"/>
              </a:rPr>
              <a:t>Ejemplo:		</a:t>
            </a:r>
            <a:r>
              <a:rPr lang="es-ES" sz="2000" b="1" dirty="0">
                <a:latin typeface="Arial Narrow" panose="020B0606020202030204" pitchFamily="34" charset="0"/>
                <a:cs typeface="Times New Roman" panose="02020603050405020304" pitchFamily="18" charset="0"/>
              </a:rPr>
              <a:t>Número de ingenieros</a:t>
            </a:r>
          </a:p>
          <a:p>
            <a:pPr marL="457200" lvl="1" indent="0" algn="just">
              <a:lnSpc>
                <a:spcPct val="100000"/>
              </a:lnSpc>
              <a:buFont typeface="Arial" panose="020B0604020202020204" pitchFamily="34" charset="0"/>
              <a:buNone/>
            </a:pPr>
            <a:r>
              <a:rPr lang="es-ES" sz="2000" b="1" dirty="0">
                <a:latin typeface="Arial Narrow" panose="020B0606020202030204" pitchFamily="34" charset="0"/>
                <a:cs typeface="Times New Roman" panose="02020603050405020304" pitchFamily="18" charset="0"/>
              </a:rPr>
              <a:t>		Número de computadoras</a:t>
            </a:r>
          </a:p>
          <a:p>
            <a:pPr marL="0" indent="0" algn="just">
              <a:lnSpc>
                <a:spcPct val="100000"/>
              </a:lnSpc>
              <a:buFont typeface="Arial" panose="020B0604020202020204" pitchFamily="34" charset="0"/>
              <a:buNone/>
            </a:pPr>
            <a:r>
              <a:rPr lang="es-ES" sz="2000" b="1" dirty="0">
                <a:latin typeface="Arial Narrow" panose="020B0606020202030204" pitchFamily="34" charset="0"/>
                <a:cs typeface="Times New Roman" panose="02020603050405020304" pitchFamily="18" charset="0"/>
              </a:rPr>
              <a:t>Su tratamiento es similar a las variables reales con la diferencia que las variables toman solamente valores enteros.</a:t>
            </a:r>
          </a:p>
        </p:txBody>
      </p:sp>
      <p:sp>
        <p:nvSpPr>
          <p:cNvPr id="99" name="Rectangle 2">
            <a:extLst>
              <a:ext uri="{FF2B5EF4-FFF2-40B4-BE49-F238E27FC236}">
                <a16:creationId xmlns:a16="http://schemas.microsoft.com/office/drawing/2014/main" id="{16D75943-E763-4F83-A3CC-0E8F1A60925A}"/>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Programación entera</a:t>
            </a:r>
          </a:p>
        </p:txBody>
      </p:sp>
      <p:sp>
        <p:nvSpPr>
          <p:cNvPr id="100" name="87 Elipse">
            <a:extLst>
              <a:ext uri="{FF2B5EF4-FFF2-40B4-BE49-F238E27FC236}">
                <a16:creationId xmlns:a16="http://schemas.microsoft.com/office/drawing/2014/main" id="{E4A139D1-93A7-4F09-B46C-D81E5B1FD763}"/>
              </a:ext>
            </a:extLst>
          </p:cNvPr>
          <p:cNvSpPr/>
          <p:nvPr/>
        </p:nvSpPr>
        <p:spPr>
          <a:xfrm>
            <a:off x="8648308" y="408376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1" name="87 Elipse">
            <a:extLst>
              <a:ext uri="{FF2B5EF4-FFF2-40B4-BE49-F238E27FC236}">
                <a16:creationId xmlns:a16="http://schemas.microsoft.com/office/drawing/2014/main" id="{BC370EB2-AE44-442E-8DE0-7D0C087A38F6}"/>
              </a:ext>
            </a:extLst>
          </p:cNvPr>
          <p:cNvSpPr/>
          <p:nvPr/>
        </p:nvSpPr>
        <p:spPr>
          <a:xfrm>
            <a:off x="6488829" y="228659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4" name="77 Elipse">
            <a:extLst>
              <a:ext uri="{FF2B5EF4-FFF2-40B4-BE49-F238E27FC236}">
                <a16:creationId xmlns:a16="http://schemas.microsoft.com/office/drawing/2014/main" id="{0AB9CD3D-BD85-4693-A7FA-D109B3F92208}"/>
              </a:ext>
            </a:extLst>
          </p:cNvPr>
          <p:cNvSpPr/>
          <p:nvPr/>
        </p:nvSpPr>
        <p:spPr>
          <a:xfrm>
            <a:off x="9012939" y="478402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5" name="77 Elipse">
            <a:extLst>
              <a:ext uri="{FF2B5EF4-FFF2-40B4-BE49-F238E27FC236}">
                <a16:creationId xmlns:a16="http://schemas.microsoft.com/office/drawing/2014/main" id="{4712D400-FC01-475F-B30E-43F6A96375A0}"/>
              </a:ext>
            </a:extLst>
          </p:cNvPr>
          <p:cNvSpPr/>
          <p:nvPr/>
        </p:nvSpPr>
        <p:spPr>
          <a:xfrm>
            <a:off x="8647754" y="478114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106" name="64 Conector recto">
            <a:extLst>
              <a:ext uri="{FF2B5EF4-FFF2-40B4-BE49-F238E27FC236}">
                <a16:creationId xmlns:a16="http://schemas.microsoft.com/office/drawing/2014/main" id="{BADF4439-73DF-4B3B-BB44-B218BA2C68CE}"/>
              </a:ext>
            </a:extLst>
          </p:cNvPr>
          <p:cNvCxnSpPr>
            <a:cxnSpLocks/>
          </p:cNvCxnSpPr>
          <p:nvPr/>
        </p:nvCxnSpPr>
        <p:spPr>
          <a:xfrm>
            <a:off x="5426787" y="1573117"/>
            <a:ext cx="4206370" cy="2531086"/>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5F55A825-755A-49F5-97B3-E2FB0D3B9CF6}"/>
              </a:ext>
            </a:extLst>
          </p:cNvPr>
          <p:cNvSpPr txBox="1"/>
          <p:nvPr/>
        </p:nvSpPr>
        <p:spPr>
          <a:xfrm>
            <a:off x="87947" y="3843575"/>
            <a:ext cx="5361786" cy="400110"/>
          </a:xfrm>
          <a:prstGeom prst="rect">
            <a:avLst/>
          </a:prstGeom>
          <a:noFill/>
        </p:spPr>
        <p:txBody>
          <a:bodyPr wrap="square" rtlCol="0">
            <a:spAutoFit/>
          </a:bodyPr>
          <a:lstStyle/>
          <a:p>
            <a:r>
              <a:rPr lang="es-ES" sz="2000" b="1" dirty="0">
                <a:solidFill>
                  <a:srgbClr val="FF0000"/>
                </a:solidFill>
                <a:latin typeface="Arial Narrow" panose="020B0606020202030204" pitchFamily="34" charset="0"/>
                <a:cs typeface="Times New Roman" panose="02020603050405020304" pitchFamily="18" charset="0"/>
              </a:rPr>
              <a:t>Problema 1</a:t>
            </a:r>
            <a:r>
              <a:rPr lang="es-ES" sz="2000" b="1" dirty="0">
                <a:latin typeface="Arial Narrow" panose="020B0606020202030204" pitchFamily="34" charset="0"/>
                <a:cs typeface="Times New Roman" panose="02020603050405020304" pitchFamily="18" charset="0"/>
              </a:rPr>
              <a:t>:Resolver usando el método gráfico.</a:t>
            </a:r>
            <a:endParaRPr lang="es-PE" sz="2000" b="1" dirty="0">
              <a:latin typeface="Arial Narrow" panose="020B0606020202030204" pitchFamily="34" charset="0"/>
              <a:cs typeface="Times New Roman" panose="02020603050405020304" pitchFamily="18" charset="0"/>
            </a:endParaRPr>
          </a:p>
        </p:txBody>
      </p:sp>
      <p:sp>
        <p:nvSpPr>
          <p:cNvPr id="102" name="CuadroTexto 101">
            <a:extLst>
              <a:ext uri="{FF2B5EF4-FFF2-40B4-BE49-F238E27FC236}">
                <a16:creationId xmlns:a16="http://schemas.microsoft.com/office/drawing/2014/main" id="{9DA11482-4047-4FBD-AAAC-A72977CB9BEB}"/>
              </a:ext>
            </a:extLst>
          </p:cNvPr>
          <p:cNvSpPr txBox="1"/>
          <p:nvPr/>
        </p:nvSpPr>
        <p:spPr>
          <a:xfrm>
            <a:off x="7174286" y="1213458"/>
            <a:ext cx="1906438" cy="461665"/>
          </a:xfrm>
          <a:prstGeom prst="rect">
            <a:avLst/>
          </a:prstGeom>
          <a:noFill/>
        </p:spPr>
        <p:txBody>
          <a:bodyPr wrap="square" rtlCol="0">
            <a:spAutoFit/>
          </a:bodyPr>
          <a:lstStyle/>
          <a:p>
            <a:r>
              <a:rPr lang="es-ES" sz="2400" dirty="0">
                <a:solidFill>
                  <a:srgbClr val="FF0000"/>
                </a:solidFill>
              </a:rPr>
              <a:t>Solución</a:t>
            </a:r>
            <a:endParaRPr lang="es-PE" sz="2400" dirty="0">
              <a:solidFill>
                <a:srgbClr val="FF0000"/>
              </a:solidFill>
            </a:endParaRPr>
          </a:p>
        </p:txBody>
      </p:sp>
      <p:sp>
        <p:nvSpPr>
          <p:cNvPr id="13" name="Rectángulo 12">
            <a:extLst>
              <a:ext uri="{FF2B5EF4-FFF2-40B4-BE49-F238E27FC236}">
                <a16:creationId xmlns:a16="http://schemas.microsoft.com/office/drawing/2014/main" id="{2733B190-CDD6-44E1-A93D-CD989ABD8CE2}"/>
              </a:ext>
            </a:extLst>
          </p:cNvPr>
          <p:cNvSpPr/>
          <p:nvPr/>
        </p:nvSpPr>
        <p:spPr>
          <a:xfrm>
            <a:off x="10196036" y="2743707"/>
            <a:ext cx="1923691" cy="646331"/>
          </a:xfrm>
          <a:prstGeom prst="rect">
            <a:avLst/>
          </a:prstGeom>
        </p:spPr>
        <p:txBody>
          <a:bodyPr wrap="square">
            <a:spAutoFit/>
          </a:bodyPr>
          <a:lstStyle/>
          <a:p>
            <a:r>
              <a:rPr lang="es-ES" b="1" dirty="0" err="1"/>
              <a:t>6A+6B</a:t>
            </a:r>
            <a:r>
              <a:rPr lang="es-ES" b="1" dirty="0"/>
              <a:t>   =54  (III)</a:t>
            </a:r>
          </a:p>
          <a:p>
            <a:pPr lvl="0"/>
            <a:r>
              <a:rPr lang="es-ES" b="1" u="sng" dirty="0" err="1"/>
              <a:t>6A+12B</a:t>
            </a:r>
            <a:r>
              <a:rPr lang="es-ES" b="1" u="sng" dirty="0"/>
              <a:t> =90  (IV)</a:t>
            </a:r>
          </a:p>
        </p:txBody>
      </p:sp>
      <p:sp>
        <p:nvSpPr>
          <p:cNvPr id="14" name="Rectángulo 13">
            <a:extLst>
              <a:ext uri="{FF2B5EF4-FFF2-40B4-BE49-F238E27FC236}">
                <a16:creationId xmlns:a16="http://schemas.microsoft.com/office/drawing/2014/main" id="{B661C453-790E-4E73-AD04-DD247182767E}"/>
              </a:ext>
            </a:extLst>
          </p:cNvPr>
          <p:cNvSpPr/>
          <p:nvPr/>
        </p:nvSpPr>
        <p:spPr>
          <a:xfrm>
            <a:off x="10289229" y="3421796"/>
            <a:ext cx="1854679" cy="1015663"/>
          </a:xfrm>
          <a:prstGeom prst="rect">
            <a:avLst/>
          </a:prstGeom>
        </p:spPr>
        <p:txBody>
          <a:bodyPr wrap="square">
            <a:spAutoFit/>
          </a:bodyPr>
          <a:lstStyle/>
          <a:p>
            <a:r>
              <a:rPr lang="es-PE" sz="2000" b="1" dirty="0"/>
              <a:t>IV – III  </a:t>
            </a:r>
            <a:r>
              <a:rPr lang="es-PE" sz="2000" b="1" dirty="0" err="1"/>
              <a:t>6B</a:t>
            </a:r>
            <a:r>
              <a:rPr lang="es-PE" sz="2000" b="1" dirty="0"/>
              <a:t>=36</a:t>
            </a:r>
          </a:p>
          <a:p>
            <a:r>
              <a:rPr lang="es-PE" sz="2000" b="1" dirty="0"/>
              <a:t>                B=6  </a:t>
            </a:r>
          </a:p>
          <a:p>
            <a:r>
              <a:rPr lang="es-PE" sz="2000" b="1" dirty="0"/>
              <a:t>                A=3</a:t>
            </a:r>
          </a:p>
        </p:txBody>
      </p:sp>
      <p:sp>
        <p:nvSpPr>
          <p:cNvPr id="103" name="71 CuadroTexto">
            <a:extLst>
              <a:ext uri="{FF2B5EF4-FFF2-40B4-BE49-F238E27FC236}">
                <a16:creationId xmlns:a16="http://schemas.microsoft.com/office/drawing/2014/main" id="{3041A062-2822-4E14-B669-1EA3DAC13C24}"/>
              </a:ext>
            </a:extLst>
          </p:cNvPr>
          <p:cNvSpPr txBox="1"/>
          <p:nvPr/>
        </p:nvSpPr>
        <p:spPr>
          <a:xfrm>
            <a:off x="11878574" y="4890235"/>
            <a:ext cx="313426" cy="369332"/>
          </a:xfrm>
          <a:prstGeom prst="rect">
            <a:avLst/>
          </a:prstGeom>
          <a:noFill/>
        </p:spPr>
        <p:txBody>
          <a:bodyPr wrap="square" rtlCol="0">
            <a:spAutoFit/>
          </a:bodyPr>
          <a:lstStyle/>
          <a:p>
            <a:r>
              <a:rPr lang="es-ES" dirty="0">
                <a:solidFill>
                  <a:srgbClr val="FF0000"/>
                </a:solidFill>
              </a:rPr>
              <a:t>A</a:t>
            </a:r>
            <a:endParaRPr lang="es-PE" dirty="0">
              <a:solidFill>
                <a:srgbClr val="FF0000"/>
              </a:solidFill>
            </a:endParaRPr>
          </a:p>
        </p:txBody>
      </p:sp>
      <p:sp>
        <p:nvSpPr>
          <p:cNvPr id="107" name="71 CuadroTexto">
            <a:extLst>
              <a:ext uri="{FF2B5EF4-FFF2-40B4-BE49-F238E27FC236}">
                <a16:creationId xmlns:a16="http://schemas.microsoft.com/office/drawing/2014/main" id="{A5B071D2-CDB4-4418-9B67-82007D6112CA}"/>
              </a:ext>
            </a:extLst>
          </p:cNvPr>
          <p:cNvSpPr txBox="1"/>
          <p:nvPr/>
        </p:nvSpPr>
        <p:spPr>
          <a:xfrm>
            <a:off x="5779698" y="1169375"/>
            <a:ext cx="316302" cy="369332"/>
          </a:xfrm>
          <a:prstGeom prst="rect">
            <a:avLst/>
          </a:prstGeom>
          <a:noFill/>
        </p:spPr>
        <p:txBody>
          <a:bodyPr wrap="square" rtlCol="0">
            <a:spAutoFit/>
          </a:bodyPr>
          <a:lstStyle/>
          <a:p>
            <a:r>
              <a:rPr lang="es-ES" dirty="0">
                <a:solidFill>
                  <a:srgbClr val="FF0000"/>
                </a:solidFill>
              </a:rPr>
              <a:t>B</a:t>
            </a:r>
            <a:endParaRPr lang="es-PE" dirty="0">
              <a:solidFill>
                <a:srgbClr val="FF0000"/>
              </a:solidFill>
            </a:endParaRPr>
          </a:p>
        </p:txBody>
      </p:sp>
    </p:spTree>
    <p:extLst>
      <p:ext uri="{BB962C8B-B14F-4D97-AF65-F5344CB8AC3E}">
        <p14:creationId xmlns:p14="http://schemas.microsoft.com/office/powerpoint/2010/main" val="4102809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7">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7">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Graphic spid="2" grpId="0">
        <p:bldAsOne/>
      </p:bldGraphic>
      <p:bldP spid="5" grpId="0" animBg="1"/>
      <p:bldP spid="97" grpId="0" build="p" animBg="1"/>
      <p:bldP spid="13"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0" name="6 Tabla">
            <a:extLst>
              <a:ext uri="{FF2B5EF4-FFF2-40B4-BE49-F238E27FC236}">
                <a16:creationId xmlns:a16="http://schemas.microsoft.com/office/drawing/2014/main" id="{B1B43316-A07F-4660-B954-91F27C0E60AB}"/>
              </a:ext>
            </a:extLst>
          </p:cNvPr>
          <p:cNvGraphicFramePr>
            <a:graphicFrameLocks noGrp="1"/>
          </p:cNvGraphicFramePr>
          <p:nvPr/>
        </p:nvGraphicFramePr>
        <p:xfrm>
          <a:off x="782748" y="3753754"/>
          <a:ext cx="3751546" cy="2194560"/>
        </p:xfrm>
        <a:graphic>
          <a:graphicData uri="http://schemas.openxmlformats.org/drawingml/2006/table">
            <a:tbl>
              <a:tblPr firstRow="1" bandRow="1">
                <a:tableStyleId>{00A15C55-8517-42AA-B614-E9B94910E393}</a:tableStyleId>
              </a:tblPr>
              <a:tblGrid>
                <a:gridCol w="312629">
                  <a:extLst>
                    <a:ext uri="{9D8B030D-6E8A-4147-A177-3AD203B41FA5}">
                      <a16:colId xmlns:a16="http://schemas.microsoft.com/office/drawing/2014/main" val="20000"/>
                    </a:ext>
                  </a:extLst>
                </a:gridCol>
                <a:gridCol w="301706">
                  <a:extLst>
                    <a:ext uri="{9D8B030D-6E8A-4147-A177-3AD203B41FA5}">
                      <a16:colId xmlns:a16="http://schemas.microsoft.com/office/drawing/2014/main" val="20001"/>
                    </a:ext>
                  </a:extLst>
                </a:gridCol>
                <a:gridCol w="323550">
                  <a:extLst>
                    <a:ext uri="{9D8B030D-6E8A-4147-A177-3AD203B41FA5}">
                      <a16:colId xmlns:a16="http://schemas.microsoft.com/office/drawing/2014/main" val="20002"/>
                    </a:ext>
                  </a:extLst>
                </a:gridCol>
                <a:gridCol w="312629">
                  <a:extLst>
                    <a:ext uri="{9D8B030D-6E8A-4147-A177-3AD203B41FA5}">
                      <a16:colId xmlns:a16="http://schemas.microsoft.com/office/drawing/2014/main" val="20003"/>
                    </a:ext>
                  </a:extLst>
                </a:gridCol>
                <a:gridCol w="312629">
                  <a:extLst>
                    <a:ext uri="{9D8B030D-6E8A-4147-A177-3AD203B41FA5}">
                      <a16:colId xmlns:a16="http://schemas.microsoft.com/office/drawing/2014/main" val="20004"/>
                    </a:ext>
                  </a:extLst>
                </a:gridCol>
                <a:gridCol w="312629">
                  <a:extLst>
                    <a:ext uri="{9D8B030D-6E8A-4147-A177-3AD203B41FA5}">
                      <a16:colId xmlns:a16="http://schemas.microsoft.com/office/drawing/2014/main" val="20005"/>
                    </a:ext>
                  </a:extLst>
                </a:gridCol>
                <a:gridCol w="312629">
                  <a:extLst>
                    <a:ext uri="{9D8B030D-6E8A-4147-A177-3AD203B41FA5}">
                      <a16:colId xmlns:a16="http://schemas.microsoft.com/office/drawing/2014/main" val="20006"/>
                    </a:ext>
                  </a:extLst>
                </a:gridCol>
                <a:gridCol w="312629">
                  <a:extLst>
                    <a:ext uri="{9D8B030D-6E8A-4147-A177-3AD203B41FA5}">
                      <a16:colId xmlns:a16="http://schemas.microsoft.com/office/drawing/2014/main" val="20007"/>
                    </a:ext>
                  </a:extLst>
                </a:gridCol>
                <a:gridCol w="312629">
                  <a:extLst>
                    <a:ext uri="{9D8B030D-6E8A-4147-A177-3AD203B41FA5}">
                      <a16:colId xmlns:a16="http://schemas.microsoft.com/office/drawing/2014/main" val="20008"/>
                    </a:ext>
                  </a:extLst>
                </a:gridCol>
                <a:gridCol w="312629">
                  <a:extLst>
                    <a:ext uri="{9D8B030D-6E8A-4147-A177-3AD203B41FA5}">
                      <a16:colId xmlns:a16="http://schemas.microsoft.com/office/drawing/2014/main" val="20009"/>
                    </a:ext>
                  </a:extLst>
                </a:gridCol>
                <a:gridCol w="312629">
                  <a:extLst>
                    <a:ext uri="{9D8B030D-6E8A-4147-A177-3AD203B41FA5}">
                      <a16:colId xmlns:a16="http://schemas.microsoft.com/office/drawing/2014/main" val="20010"/>
                    </a:ext>
                  </a:extLst>
                </a:gridCol>
                <a:gridCol w="312629">
                  <a:extLst>
                    <a:ext uri="{9D8B030D-6E8A-4147-A177-3AD203B41FA5}">
                      <a16:colId xmlns:a16="http://schemas.microsoft.com/office/drawing/2014/main" val="20011"/>
                    </a:ext>
                  </a:extLst>
                </a:gridCol>
              </a:tblGrid>
              <a:tr h="354762">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354762">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354762">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354762">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354762">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354762">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10" name="Forma libre: forma 9">
            <a:extLst>
              <a:ext uri="{FF2B5EF4-FFF2-40B4-BE49-F238E27FC236}">
                <a16:creationId xmlns:a16="http://schemas.microsoft.com/office/drawing/2014/main" id="{EF2483E9-ED65-4D37-B654-45098DACDA85}"/>
              </a:ext>
            </a:extLst>
          </p:cNvPr>
          <p:cNvSpPr/>
          <p:nvPr/>
        </p:nvSpPr>
        <p:spPr>
          <a:xfrm>
            <a:off x="1362975" y="3429000"/>
            <a:ext cx="3717984" cy="1758852"/>
          </a:xfrm>
          <a:custGeom>
            <a:avLst/>
            <a:gdLst>
              <a:gd name="connsiteX0" fmla="*/ 785004 w 3269412"/>
              <a:gd name="connsiteY0" fmla="*/ 17253 h 1397479"/>
              <a:gd name="connsiteX1" fmla="*/ 0 w 3269412"/>
              <a:gd name="connsiteY1" fmla="*/ 1397479 h 1397479"/>
              <a:gd name="connsiteX2" fmla="*/ 655608 w 3269412"/>
              <a:gd name="connsiteY2" fmla="*/ 1397479 h 1397479"/>
              <a:gd name="connsiteX3" fmla="*/ 3269412 w 3269412"/>
              <a:gd name="connsiteY3" fmla="*/ 0 h 1397479"/>
              <a:gd name="connsiteX4" fmla="*/ 785004 w 3269412"/>
              <a:gd name="connsiteY4" fmla="*/ 17253 h 1397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9412" h="1397479">
                <a:moveTo>
                  <a:pt x="785004" y="17253"/>
                </a:moveTo>
                <a:lnTo>
                  <a:pt x="0" y="1397479"/>
                </a:lnTo>
                <a:lnTo>
                  <a:pt x="655608" y="1397479"/>
                </a:lnTo>
                <a:lnTo>
                  <a:pt x="3269412" y="0"/>
                </a:lnTo>
                <a:lnTo>
                  <a:pt x="785004" y="17253"/>
                </a:lnTo>
                <a:close/>
              </a:path>
            </a:pathLst>
          </a:cu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PE"/>
          </a:p>
        </p:txBody>
      </p:sp>
      <p:sp>
        <p:nvSpPr>
          <p:cNvPr id="50" name="Rectangle 2">
            <a:extLst>
              <a:ext uri="{FF2B5EF4-FFF2-40B4-BE49-F238E27FC236}">
                <a16:creationId xmlns:a16="http://schemas.microsoft.com/office/drawing/2014/main" id="{D990EA62-32FD-40DF-8434-5B7C19DCF9B9}"/>
              </a:ext>
            </a:extLst>
          </p:cNvPr>
          <p:cNvSpPr>
            <a:spLocks noChangeArrowheads="1"/>
          </p:cNvSpPr>
          <p:nvPr/>
        </p:nvSpPr>
        <p:spPr bwMode="auto">
          <a:xfrm>
            <a:off x="8997350" y="1260658"/>
            <a:ext cx="3088257" cy="1477328"/>
          </a:xfrm>
          <a:prstGeom prst="rect">
            <a:avLst/>
          </a:prstGeom>
          <a:solidFill>
            <a:schemeClr val="accent6">
              <a:lumMod val="20000"/>
              <a:lumOff val="80000"/>
            </a:schemeClr>
          </a:solidFill>
          <a:ln w="9525">
            <a:noFill/>
            <a:miter lim="800000"/>
            <a:headEnd/>
            <a:tailEnd/>
          </a:ln>
          <a:effectLst/>
        </p:spPr>
        <p:txBody>
          <a:bodyPr wrap="square" anchor="ctr">
            <a:spAutoFit/>
          </a:bodyPr>
          <a:lstStyle/>
          <a:p>
            <a:pPr eaLnBrk="0" hangingPunct="0">
              <a:tabLst>
                <a:tab pos="809625" algn="l"/>
              </a:tabLst>
              <a:defRPr/>
            </a:pPr>
            <a:r>
              <a:rPr lang="es-MX" b="1" dirty="0">
                <a:latin typeface="Arial Narrow" pitchFamily="34" charset="0"/>
                <a:ea typeface="MS Mincho" pitchFamily="49" charset="-128"/>
                <a:cs typeface="Arial" pitchFamily="34" charset="0"/>
              </a:rPr>
              <a:t>iv) Hallando la solución optima tomando soluciones factibles</a:t>
            </a:r>
            <a:r>
              <a:rPr lang="es-MX" b="1" dirty="0">
                <a:latin typeface="Arial Narrow" pitchFamily="34" charset="0"/>
                <a:ea typeface="MS Mincho" pitchFamily="49" charset="-128"/>
                <a:cs typeface="Arial" pitchFamily="34" charset="0"/>
                <a:sym typeface="Wingdings" panose="05000000000000000000" pitchFamily="2" charset="2"/>
              </a:rPr>
              <a:t>:</a:t>
            </a:r>
          </a:p>
          <a:p>
            <a:pPr eaLnBrk="0" hangingPunct="0">
              <a:tabLst>
                <a:tab pos="809625" algn="l"/>
              </a:tabLst>
              <a:defRPr/>
            </a:pPr>
            <a:r>
              <a:rPr lang="es-MX" b="1" dirty="0">
                <a:latin typeface="Arial Narrow" pitchFamily="34" charset="0"/>
                <a:ea typeface="MS Mincho" pitchFamily="49" charset="-128"/>
                <a:cs typeface="Arial" pitchFamily="34" charset="0"/>
                <a:sym typeface="Wingdings" panose="05000000000000000000" pitchFamily="2" charset="2"/>
              </a:rPr>
              <a:t>(0,0)    Z=-2(0)-3(0)=0  (Mayor)</a:t>
            </a:r>
          </a:p>
          <a:p>
            <a:pPr eaLnBrk="0" hangingPunct="0">
              <a:tabLst>
                <a:tab pos="809625" algn="l"/>
              </a:tabLst>
              <a:defRPr/>
            </a:pPr>
            <a:r>
              <a:rPr lang="es-MX" b="1" dirty="0">
                <a:latin typeface="Arial Narrow" pitchFamily="34" charset="0"/>
                <a:ea typeface="MS Mincho" pitchFamily="49" charset="-128"/>
                <a:cs typeface="Arial" pitchFamily="34" charset="0"/>
                <a:sym typeface="Wingdings" panose="05000000000000000000" pitchFamily="2" charset="2"/>
              </a:rPr>
              <a:t>(1,0)    Z=-2(1)-3(0)=-2</a:t>
            </a:r>
          </a:p>
          <a:p>
            <a:pPr eaLnBrk="0" hangingPunct="0">
              <a:tabLst>
                <a:tab pos="809625" algn="l"/>
              </a:tabLst>
              <a:defRPr/>
            </a:pPr>
            <a:r>
              <a:rPr lang="es-MX" b="1" dirty="0">
                <a:latin typeface="Arial Narrow" pitchFamily="34" charset="0"/>
                <a:ea typeface="MS Mincho" pitchFamily="49" charset="-128"/>
                <a:cs typeface="Arial" pitchFamily="34" charset="0"/>
                <a:sym typeface="Wingdings" panose="05000000000000000000" pitchFamily="2" charset="2"/>
              </a:rPr>
              <a:t>(1,1)    Z=-2(1)-3(1)=-5</a:t>
            </a:r>
            <a:endParaRPr lang="es-MX" b="1" dirty="0">
              <a:latin typeface="Arial Narrow" pitchFamily="34" charset="0"/>
            </a:endParaRPr>
          </a:p>
        </p:txBody>
      </p:sp>
      <p:cxnSp>
        <p:nvCxnSpPr>
          <p:cNvPr id="59" name="58 Conector recto de flecha"/>
          <p:cNvCxnSpPr/>
          <p:nvPr/>
        </p:nvCxnSpPr>
        <p:spPr>
          <a:xfrm>
            <a:off x="610911" y="5197988"/>
            <a:ext cx="3481468"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2 Marcador de contenido"/>
          <p:cNvSpPr>
            <a:spLocks noGrp="1"/>
          </p:cNvSpPr>
          <p:nvPr>
            <p:ph idx="1"/>
          </p:nvPr>
        </p:nvSpPr>
        <p:spPr>
          <a:xfrm>
            <a:off x="339514" y="1881236"/>
            <a:ext cx="4425351" cy="1456809"/>
          </a:xfrm>
          <a:solidFill>
            <a:srgbClr val="FFFF00"/>
          </a:solidFill>
        </p:spPr>
        <p:txBody>
          <a:bodyPr vert="horz" wrap="square" lIns="91440" tIns="45720" rIns="91440" bIns="45720" rtlCol="0">
            <a:spAutoFit/>
          </a:bodyPr>
          <a:lstStyle/>
          <a:p>
            <a:pPr marL="0" indent="0">
              <a:buNone/>
            </a:pPr>
            <a:r>
              <a:rPr lang="es-ES" sz="2000" b="1" dirty="0">
                <a:latin typeface="Arial Narrow" pitchFamily="34" charset="0"/>
              </a:rPr>
              <a:t>MAX   -2x1     -   3x2</a:t>
            </a:r>
            <a:endParaRPr lang="es-PE" sz="2000" b="1" dirty="0">
              <a:latin typeface="Arial Narrow" pitchFamily="34" charset="0"/>
            </a:endParaRPr>
          </a:p>
          <a:p>
            <a:pPr marL="0" indent="0">
              <a:buNone/>
            </a:pPr>
            <a:r>
              <a:rPr lang="es-PE" sz="2000" b="1" dirty="0">
                <a:latin typeface="Arial Narrow" pitchFamily="34" charset="0"/>
              </a:rPr>
              <a:t>Sujeto a      </a:t>
            </a:r>
            <a:r>
              <a:rPr lang="es-MX" sz="2000" b="1" dirty="0">
                <a:latin typeface="Arial Narrow" pitchFamily="34" charset="0"/>
              </a:rPr>
              <a:t>x1	-   2x2	≤ 2   (I)	</a:t>
            </a:r>
            <a:endParaRPr lang="es-PE" sz="2000" b="1" dirty="0">
              <a:latin typeface="Arial Narrow" pitchFamily="34" charset="0"/>
            </a:endParaRPr>
          </a:p>
          <a:p>
            <a:pPr marL="0" indent="0">
              <a:buNone/>
            </a:pPr>
            <a:r>
              <a:rPr lang="es-MX" sz="2000" b="1" dirty="0">
                <a:latin typeface="Arial Narrow" pitchFamily="34" charset="0"/>
              </a:rPr>
              <a:t>                  </a:t>
            </a:r>
            <a:r>
              <a:rPr lang="es-MX" sz="2000" b="1" dirty="0" err="1">
                <a:latin typeface="Arial Narrow" pitchFamily="34" charset="0"/>
              </a:rPr>
              <a:t>2x1</a:t>
            </a:r>
            <a:r>
              <a:rPr lang="es-MX" sz="2000" b="1" dirty="0">
                <a:latin typeface="Arial Narrow" pitchFamily="34" charset="0"/>
              </a:rPr>
              <a:t>	-     x2	≥ 0   (II)		      x1	,       x2 	≥ 0, enteras</a:t>
            </a:r>
            <a:endParaRPr lang="es-PE" sz="2000" b="1" dirty="0">
              <a:latin typeface="Arial Narrow" pitchFamily="34" charset="0"/>
            </a:endParaRPr>
          </a:p>
        </p:txBody>
      </p:sp>
      <p:sp>
        <p:nvSpPr>
          <p:cNvPr id="1030" name="Rectangle 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dirty="0"/>
          </a:p>
        </p:txBody>
      </p:sp>
      <p:sp>
        <p:nvSpPr>
          <p:cNvPr id="1031"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dirty="0"/>
          </a:p>
        </p:txBody>
      </p:sp>
      <p:sp>
        <p:nvSpPr>
          <p:cNvPr id="38" name="37 Elipse"/>
          <p:cNvSpPr/>
          <p:nvPr/>
        </p:nvSpPr>
        <p:spPr>
          <a:xfrm>
            <a:off x="1381253" y="514740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0" name="39 Elipse"/>
          <p:cNvSpPr/>
          <p:nvPr/>
        </p:nvSpPr>
        <p:spPr>
          <a:xfrm>
            <a:off x="2029325" y="517131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1" name="40 Elipse"/>
          <p:cNvSpPr/>
          <p:nvPr/>
        </p:nvSpPr>
        <p:spPr>
          <a:xfrm>
            <a:off x="1695574" y="484106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2" name="41 Elipse"/>
          <p:cNvSpPr/>
          <p:nvPr/>
        </p:nvSpPr>
        <p:spPr>
          <a:xfrm>
            <a:off x="2004577" y="482534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3" name="42 Elipse"/>
          <p:cNvSpPr/>
          <p:nvPr/>
        </p:nvSpPr>
        <p:spPr>
          <a:xfrm>
            <a:off x="1705000" y="447723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4" name="43 Elipse"/>
          <p:cNvSpPr/>
          <p:nvPr/>
        </p:nvSpPr>
        <p:spPr>
          <a:xfrm>
            <a:off x="2004577" y="446922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5" name="44 Elipse"/>
          <p:cNvSpPr/>
          <p:nvPr/>
        </p:nvSpPr>
        <p:spPr>
          <a:xfrm>
            <a:off x="2330012" y="448796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6" name="45 Elipse"/>
          <p:cNvSpPr/>
          <p:nvPr/>
        </p:nvSpPr>
        <p:spPr>
          <a:xfrm>
            <a:off x="2328383" y="483436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7" name="46 Elipse"/>
          <p:cNvSpPr/>
          <p:nvPr/>
        </p:nvSpPr>
        <p:spPr>
          <a:xfrm>
            <a:off x="2648098" y="482803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8" name="47 Elipse"/>
          <p:cNvSpPr/>
          <p:nvPr/>
        </p:nvSpPr>
        <p:spPr>
          <a:xfrm>
            <a:off x="2659395" y="413002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49" name="48 Elipse"/>
          <p:cNvSpPr/>
          <p:nvPr/>
        </p:nvSpPr>
        <p:spPr>
          <a:xfrm>
            <a:off x="2328384" y="412059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1" name="50 Elipse"/>
          <p:cNvSpPr/>
          <p:nvPr/>
        </p:nvSpPr>
        <p:spPr>
          <a:xfrm>
            <a:off x="3253461" y="448126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2" name="51 Elipse"/>
          <p:cNvSpPr/>
          <p:nvPr/>
        </p:nvSpPr>
        <p:spPr>
          <a:xfrm>
            <a:off x="2965429" y="448796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3" name="52 Elipse"/>
          <p:cNvSpPr/>
          <p:nvPr/>
        </p:nvSpPr>
        <p:spPr>
          <a:xfrm>
            <a:off x="2659552" y="446922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4" name="53 Elipse"/>
          <p:cNvSpPr/>
          <p:nvPr/>
        </p:nvSpPr>
        <p:spPr>
          <a:xfrm>
            <a:off x="2965429" y="413056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5" name="54 Elipse"/>
          <p:cNvSpPr/>
          <p:nvPr/>
        </p:nvSpPr>
        <p:spPr>
          <a:xfrm>
            <a:off x="3257466" y="412072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6" name="55 Elipse"/>
          <p:cNvSpPr/>
          <p:nvPr/>
        </p:nvSpPr>
        <p:spPr>
          <a:xfrm>
            <a:off x="3575793" y="412072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57" name="56 Elipse"/>
          <p:cNvSpPr/>
          <p:nvPr/>
        </p:nvSpPr>
        <p:spPr>
          <a:xfrm>
            <a:off x="3892907" y="411755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cxnSp>
        <p:nvCxnSpPr>
          <p:cNvPr id="58" name="57 Conector recto"/>
          <p:cNvCxnSpPr/>
          <p:nvPr/>
        </p:nvCxnSpPr>
        <p:spPr>
          <a:xfrm>
            <a:off x="843454" y="4095837"/>
            <a:ext cx="2789886" cy="2016897"/>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60" name="59 CuadroTexto"/>
          <p:cNvSpPr txBox="1"/>
          <p:nvPr/>
        </p:nvSpPr>
        <p:spPr>
          <a:xfrm>
            <a:off x="3580461" y="5289986"/>
            <a:ext cx="478879" cy="369332"/>
          </a:xfrm>
          <a:prstGeom prst="rect">
            <a:avLst/>
          </a:prstGeom>
          <a:noFill/>
        </p:spPr>
        <p:txBody>
          <a:bodyPr wrap="square" rtlCol="0">
            <a:spAutoFit/>
          </a:bodyPr>
          <a:lstStyle/>
          <a:p>
            <a:r>
              <a:rPr lang="es-PE" dirty="0" err="1">
                <a:solidFill>
                  <a:srgbClr val="FF0000"/>
                </a:solidFill>
              </a:rPr>
              <a:t>X1</a:t>
            </a:r>
            <a:endParaRPr lang="es-PE" dirty="0">
              <a:solidFill>
                <a:srgbClr val="FF0000"/>
              </a:solidFill>
            </a:endParaRPr>
          </a:p>
        </p:txBody>
      </p:sp>
      <p:cxnSp>
        <p:nvCxnSpPr>
          <p:cNvPr id="61" name="60 Conector recto de flecha"/>
          <p:cNvCxnSpPr/>
          <p:nvPr/>
        </p:nvCxnSpPr>
        <p:spPr>
          <a:xfrm flipV="1">
            <a:off x="1407130" y="3749196"/>
            <a:ext cx="0" cy="29454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2" name="61 CuadroTexto"/>
          <p:cNvSpPr txBox="1"/>
          <p:nvPr/>
        </p:nvSpPr>
        <p:spPr>
          <a:xfrm>
            <a:off x="869593" y="3819817"/>
            <a:ext cx="478879" cy="369332"/>
          </a:xfrm>
          <a:prstGeom prst="rect">
            <a:avLst/>
          </a:prstGeom>
          <a:noFill/>
        </p:spPr>
        <p:txBody>
          <a:bodyPr wrap="square" rtlCol="0">
            <a:spAutoFit/>
          </a:bodyPr>
          <a:lstStyle/>
          <a:p>
            <a:r>
              <a:rPr lang="es-PE" dirty="0" err="1">
                <a:solidFill>
                  <a:srgbClr val="FF0000"/>
                </a:solidFill>
              </a:rPr>
              <a:t>X2</a:t>
            </a:r>
            <a:endParaRPr lang="es-PE" dirty="0">
              <a:solidFill>
                <a:srgbClr val="FF0000"/>
              </a:solidFill>
            </a:endParaRPr>
          </a:p>
        </p:txBody>
      </p:sp>
      <p:sp>
        <p:nvSpPr>
          <p:cNvPr id="63" name="62 CuadroTexto"/>
          <p:cNvSpPr txBox="1"/>
          <p:nvPr/>
        </p:nvSpPr>
        <p:spPr>
          <a:xfrm>
            <a:off x="1078298" y="5289986"/>
            <a:ext cx="382312" cy="369332"/>
          </a:xfrm>
          <a:prstGeom prst="rect">
            <a:avLst/>
          </a:prstGeom>
          <a:noFill/>
        </p:spPr>
        <p:txBody>
          <a:bodyPr wrap="square" rtlCol="0">
            <a:spAutoFit/>
          </a:bodyPr>
          <a:lstStyle/>
          <a:p>
            <a:r>
              <a:rPr lang="es-PE" dirty="0"/>
              <a:t>-1</a:t>
            </a:r>
          </a:p>
        </p:txBody>
      </p:sp>
      <p:sp>
        <p:nvSpPr>
          <p:cNvPr id="64" name="63 CuadroTexto"/>
          <p:cNvSpPr txBox="1"/>
          <p:nvPr/>
        </p:nvSpPr>
        <p:spPr>
          <a:xfrm>
            <a:off x="1966474" y="5169509"/>
            <a:ext cx="409256" cy="369332"/>
          </a:xfrm>
          <a:prstGeom prst="rect">
            <a:avLst/>
          </a:prstGeom>
          <a:noFill/>
        </p:spPr>
        <p:txBody>
          <a:bodyPr wrap="square" rtlCol="0">
            <a:spAutoFit/>
          </a:bodyPr>
          <a:lstStyle/>
          <a:p>
            <a:r>
              <a:rPr lang="es-PE" dirty="0"/>
              <a:t>2</a:t>
            </a:r>
          </a:p>
        </p:txBody>
      </p:sp>
      <p:sp>
        <p:nvSpPr>
          <p:cNvPr id="65" name="64 Elipse"/>
          <p:cNvSpPr/>
          <p:nvPr/>
        </p:nvSpPr>
        <p:spPr>
          <a:xfrm>
            <a:off x="1381253" y="513671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66" name="65 Elipse"/>
          <p:cNvSpPr/>
          <p:nvPr/>
        </p:nvSpPr>
        <p:spPr>
          <a:xfrm>
            <a:off x="2011887" y="410230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9" name="38 Elipse"/>
          <p:cNvSpPr/>
          <p:nvPr/>
        </p:nvSpPr>
        <p:spPr>
          <a:xfrm>
            <a:off x="1701127" y="516951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2" name="Rectángulo 1">
            <a:extLst>
              <a:ext uri="{FF2B5EF4-FFF2-40B4-BE49-F238E27FC236}">
                <a16:creationId xmlns:a16="http://schemas.microsoft.com/office/drawing/2014/main" id="{9E9ACC09-A5D9-46A8-BA1E-B2945C10232D}"/>
              </a:ext>
            </a:extLst>
          </p:cNvPr>
          <p:cNvSpPr/>
          <p:nvPr/>
        </p:nvSpPr>
        <p:spPr>
          <a:xfrm>
            <a:off x="6096000" y="1266444"/>
            <a:ext cx="2823713" cy="1754326"/>
          </a:xfrm>
          <a:prstGeom prst="rect">
            <a:avLst/>
          </a:prstGeom>
          <a:solidFill>
            <a:schemeClr val="accent6">
              <a:lumMod val="20000"/>
              <a:lumOff val="80000"/>
            </a:schemeClr>
          </a:solidFill>
        </p:spPr>
        <p:txBody>
          <a:bodyPr wrap="square">
            <a:spAutoFit/>
          </a:bodyPr>
          <a:lstStyle/>
          <a:p>
            <a:pPr marL="266700" indent="-266700">
              <a:buAutoNum type="romanLcParenR"/>
            </a:pPr>
            <a:r>
              <a:rPr lang="es-MX" b="1" dirty="0">
                <a:latin typeface="Arial Narrow" pitchFamily="34" charset="0"/>
              </a:rPr>
              <a:t>Graficando las  restricciones</a:t>
            </a:r>
          </a:p>
          <a:p>
            <a:r>
              <a:rPr lang="es-MX" b="1" dirty="0">
                <a:latin typeface="Arial Narrow" pitchFamily="34" charset="0"/>
              </a:rPr>
              <a:t>        -</a:t>
            </a:r>
            <a:r>
              <a:rPr lang="es-MX" b="1" dirty="0" err="1">
                <a:latin typeface="Arial Narrow" pitchFamily="34" charset="0"/>
              </a:rPr>
              <a:t>X1</a:t>
            </a:r>
            <a:r>
              <a:rPr lang="es-MX" b="1" dirty="0">
                <a:latin typeface="Arial Narrow" pitchFamily="34" charset="0"/>
              </a:rPr>
              <a:t> + </a:t>
            </a:r>
            <a:r>
              <a:rPr lang="es-MX" b="1" dirty="0" err="1">
                <a:latin typeface="Arial Narrow" pitchFamily="34" charset="0"/>
              </a:rPr>
              <a:t>2X2</a:t>
            </a:r>
            <a:r>
              <a:rPr lang="es-MX" b="1" dirty="0">
                <a:latin typeface="Arial Narrow" pitchFamily="34" charset="0"/>
              </a:rPr>
              <a:t> &gt;= -2</a:t>
            </a:r>
          </a:p>
          <a:p>
            <a:r>
              <a:rPr lang="es-MX" b="1" dirty="0">
                <a:latin typeface="Arial Narrow" pitchFamily="34" charset="0"/>
              </a:rPr>
              <a:t>        -</a:t>
            </a:r>
            <a:r>
              <a:rPr lang="es-MX" b="1" dirty="0" err="1">
                <a:latin typeface="Arial Narrow" pitchFamily="34" charset="0"/>
              </a:rPr>
              <a:t>X1</a:t>
            </a:r>
            <a:r>
              <a:rPr lang="es-MX" b="1" dirty="0">
                <a:latin typeface="Arial Narrow" pitchFamily="34" charset="0"/>
              </a:rPr>
              <a:t> + </a:t>
            </a:r>
            <a:r>
              <a:rPr lang="es-MX" b="1" dirty="0" err="1">
                <a:latin typeface="Arial Narrow" pitchFamily="34" charset="0"/>
              </a:rPr>
              <a:t>2X2</a:t>
            </a:r>
            <a:r>
              <a:rPr lang="es-MX" b="1" dirty="0">
                <a:latin typeface="Arial Narrow" pitchFamily="34" charset="0"/>
              </a:rPr>
              <a:t>   = -2</a:t>
            </a:r>
          </a:p>
          <a:p>
            <a:r>
              <a:rPr lang="es-MX" b="1" dirty="0">
                <a:latin typeface="Arial Narrow" pitchFamily="34" charset="0"/>
              </a:rPr>
              <a:t>         Si </a:t>
            </a:r>
            <a:r>
              <a:rPr lang="es-MX" b="1" dirty="0" err="1">
                <a:latin typeface="Arial Narrow" pitchFamily="34" charset="0"/>
              </a:rPr>
              <a:t>X1</a:t>
            </a:r>
            <a:r>
              <a:rPr lang="es-MX" b="1" dirty="0">
                <a:latin typeface="Arial Narrow" pitchFamily="34" charset="0"/>
              </a:rPr>
              <a:t>=</a:t>
            </a:r>
            <a:r>
              <a:rPr lang="es-MX" b="1" dirty="0" err="1">
                <a:latin typeface="Arial Narrow" pitchFamily="34" charset="0"/>
              </a:rPr>
              <a:t>0</a:t>
            </a:r>
            <a:r>
              <a:rPr lang="es-MX" b="1" dirty="0" err="1">
                <a:latin typeface="Arial Narrow" pitchFamily="34" charset="0"/>
                <a:sym typeface="Wingdings" panose="05000000000000000000" pitchFamily="2" charset="2"/>
              </a:rPr>
              <a:t>X2</a:t>
            </a:r>
            <a:r>
              <a:rPr lang="es-MX" b="1" dirty="0">
                <a:latin typeface="Arial Narrow" pitchFamily="34" charset="0"/>
                <a:sym typeface="Wingdings" panose="05000000000000000000" pitchFamily="2" charset="2"/>
              </a:rPr>
              <a:t>=-1</a:t>
            </a:r>
          </a:p>
          <a:p>
            <a:r>
              <a:rPr lang="es-MX" b="1" dirty="0">
                <a:latin typeface="Arial Narrow" pitchFamily="34" charset="0"/>
              </a:rPr>
              <a:t>         Si </a:t>
            </a:r>
            <a:r>
              <a:rPr lang="es-MX" b="1" dirty="0" err="1">
                <a:latin typeface="Arial Narrow" pitchFamily="34" charset="0"/>
              </a:rPr>
              <a:t>X2</a:t>
            </a:r>
            <a:r>
              <a:rPr lang="es-MX" b="1" dirty="0">
                <a:latin typeface="Arial Narrow" pitchFamily="34" charset="0"/>
              </a:rPr>
              <a:t>=</a:t>
            </a:r>
            <a:r>
              <a:rPr lang="es-MX" b="1" dirty="0" err="1">
                <a:latin typeface="Arial Narrow" pitchFamily="34" charset="0"/>
              </a:rPr>
              <a:t>0</a:t>
            </a:r>
            <a:r>
              <a:rPr lang="es-MX" b="1" dirty="0" err="1">
                <a:latin typeface="Arial Narrow" pitchFamily="34" charset="0"/>
                <a:sym typeface="Wingdings" panose="05000000000000000000" pitchFamily="2" charset="2"/>
              </a:rPr>
              <a:t>X1</a:t>
            </a:r>
            <a:r>
              <a:rPr lang="es-MX" b="1" dirty="0">
                <a:latin typeface="Arial Narrow" pitchFamily="34" charset="0"/>
                <a:sym typeface="Wingdings" panose="05000000000000000000" pitchFamily="2" charset="2"/>
              </a:rPr>
              <a:t>= 2</a:t>
            </a:r>
            <a:r>
              <a:rPr lang="es-MX" b="1" dirty="0">
                <a:latin typeface="Arial Narrow" pitchFamily="34" charset="0"/>
              </a:rPr>
              <a:t> </a:t>
            </a:r>
            <a:endParaRPr lang="es-PE" b="1" dirty="0">
              <a:latin typeface="Arial Narrow" pitchFamily="34" charset="0"/>
            </a:endParaRPr>
          </a:p>
        </p:txBody>
      </p:sp>
      <p:sp>
        <p:nvSpPr>
          <p:cNvPr id="67" name="2 Marcador de contenido">
            <a:extLst>
              <a:ext uri="{FF2B5EF4-FFF2-40B4-BE49-F238E27FC236}">
                <a16:creationId xmlns:a16="http://schemas.microsoft.com/office/drawing/2014/main" id="{86931B54-D052-455E-B459-799540E2F2D2}"/>
              </a:ext>
            </a:extLst>
          </p:cNvPr>
          <p:cNvSpPr txBox="1">
            <a:spLocks/>
          </p:cNvSpPr>
          <p:nvPr/>
        </p:nvSpPr>
        <p:spPr>
          <a:xfrm>
            <a:off x="6095999" y="4910134"/>
            <a:ext cx="2789883" cy="1938992"/>
          </a:xfrm>
          <a:prstGeom prst="rect">
            <a:avLst/>
          </a:prstGeom>
          <a:solidFill>
            <a:schemeClr val="accent5">
              <a:lumMod val="40000"/>
              <a:lumOff val="60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s-ES" sz="2000" b="1" dirty="0">
                <a:latin typeface="Arial Narrow" pitchFamily="34" charset="0"/>
              </a:rPr>
              <a:t>MAX   -</a:t>
            </a:r>
            <a:r>
              <a:rPr lang="es-ES" sz="2000" b="1" dirty="0" err="1">
                <a:latin typeface="Arial Narrow" pitchFamily="34" charset="0"/>
              </a:rPr>
              <a:t>2X1</a:t>
            </a:r>
            <a:r>
              <a:rPr lang="es-ES" sz="2000" b="1" dirty="0">
                <a:latin typeface="Arial Narrow" pitchFamily="34" charset="0"/>
              </a:rPr>
              <a:t>  -  </a:t>
            </a:r>
            <a:r>
              <a:rPr lang="es-ES" sz="2000" b="1" dirty="0" err="1">
                <a:latin typeface="Arial Narrow" pitchFamily="34" charset="0"/>
              </a:rPr>
              <a:t>3X2</a:t>
            </a:r>
            <a:endParaRPr lang="es-PE" sz="2000" b="1" dirty="0">
              <a:latin typeface="Arial Narrow" pitchFamily="34" charset="0"/>
            </a:endParaRPr>
          </a:p>
          <a:p>
            <a:pPr marL="0" indent="0">
              <a:lnSpc>
                <a:spcPct val="100000"/>
              </a:lnSpc>
              <a:spcBef>
                <a:spcPts val="0"/>
              </a:spcBef>
              <a:buFont typeface="Arial" panose="020B0604020202020204" pitchFamily="34" charset="0"/>
              <a:buNone/>
            </a:pPr>
            <a:r>
              <a:rPr lang="es-PE" sz="2000" b="1" dirty="0">
                <a:latin typeface="Arial Narrow" pitchFamily="34" charset="0"/>
              </a:rPr>
              <a:t>ST      </a:t>
            </a:r>
            <a:r>
              <a:rPr lang="es-MX" sz="2000" b="1" dirty="0" err="1">
                <a:latin typeface="Arial Narrow" pitchFamily="34" charset="0"/>
              </a:rPr>
              <a:t>X1</a:t>
            </a:r>
            <a:r>
              <a:rPr lang="es-MX" sz="2000" b="1" dirty="0">
                <a:latin typeface="Arial Narrow" pitchFamily="34" charset="0"/>
              </a:rPr>
              <a:t> -  </a:t>
            </a:r>
            <a:r>
              <a:rPr lang="es-MX" sz="2000" b="1" dirty="0" err="1">
                <a:latin typeface="Arial Narrow" pitchFamily="34" charset="0"/>
              </a:rPr>
              <a:t>2X2</a:t>
            </a:r>
            <a:r>
              <a:rPr lang="es-MX" sz="2000" b="1" dirty="0">
                <a:latin typeface="Arial Narrow" pitchFamily="34" charset="0"/>
              </a:rPr>
              <a:t> &lt;= 2</a:t>
            </a:r>
            <a:endParaRPr lang="es-PE" sz="2000" b="1" dirty="0">
              <a:latin typeface="Arial Narrow" pitchFamily="34" charset="0"/>
            </a:endParaRPr>
          </a:p>
          <a:p>
            <a:pPr marL="0" indent="0">
              <a:lnSpc>
                <a:spcPct val="100000"/>
              </a:lnSpc>
              <a:spcBef>
                <a:spcPts val="0"/>
              </a:spcBef>
              <a:buFont typeface="Arial" panose="020B0604020202020204" pitchFamily="34" charset="0"/>
              <a:buNone/>
            </a:pPr>
            <a:r>
              <a:rPr lang="es-MX" sz="2000" b="1" dirty="0">
                <a:latin typeface="Arial Narrow" pitchFamily="34" charset="0"/>
              </a:rPr>
              <a:t>         2X1 -   X2  &gt;= 0</a:t>
            </a:r>
          </a:p>
          <a:p>
            <a:pPr marL="0" indent="0">
              <a:lnSpc>
                <a:spcPct val="100000"/>
              </a:lnSpc>
              <a:spcBef>
                <a:spcPts val="0"/>
              </a:spcBef>
              <a:buFont typeface="Arial" panose="020B0604020202020204" pitchFamily="34" charset="0"/>
              <a:buNone/>
            </a:pPr>
            <a:r>
              <a:rPr lang="es-MX" sz="2000" b="1" dirty="0" err="1">
                <a:latin typeface="Arial Narrow" pitchFamily="34" charset="0"/>
              </a:rPr>
              <a:t>END</a:t>
            </a:r>
            <a:endParaRPr lang="es-MX" sz="2000" b="1" dirty="0">
              <a:latin typeface="Arial Narrow" pitchFamily="34" charset="0"/>
            </a:endParaRPr>
          </a:p>
          <a:p>
            <a:pPr marL="0" indent="0">
              <a:lnSpc>
                <a:spcPct val="100000"/>
              </a:lnSpc>
              <a:spcBef>
                <a:spcPts val="0"/>
              </a:spcBef>
              <a:buFont typeface="Arial" panose="020B0604020202020204" pitchFamily="34" charset="0"/>
              <a:buNone/>
            </a:pPr>
            <a:r>
              <a:rPr lang="es-MX" sz="2000" b="1" dirty="0">
                <a:latin typeface="Arial Narrow" pitchFamily="34" charset="0"/>
              </a:rPr>
              <a:t>GIN </a:t>
            </a:r>
            <a:r>
              <a:rPr lang="es-MX" sz="2000" b="1" dirty="0" err="1">
                <a:latin typeface="Arial Narrow" pitchFamily="34" charset="0"/>
              </a:rPr>
              <a:t>X1</a:t>
            </a:r>
            <a:endParaRPr lang="es-MX" sz="2000" b="1" dirty="0">
              <a:latin typeface="Arial Narrow" pitchFamily="34" charset="0"/>
            </a:endParaRPr>
          </a:p>
          <a:p>
            <a:pPr marL="0" indent="0">
              <a:lnSpc>
                <a:spcPct val="100000"/>
              </a:lnSpc>
              <a:spcBef>
                <a:spcPts val="0"/>
              </a:spcBef>
              <a:buFont typeface="Arial" panose="020B0604020202020204" pitchFamily="34" charset="0"/>
              <a:buNone/>
            </a:pPr>
            <a:r>
              <a:rPr lang="es-MX" sz="2000" b="1" dirty="0">
                <a:latin typeface="Arial Narrow" pitchFamily="34" charset="0"/>
              </a:rPr>
              <a:t>GIN </a:t>
            </a:r>
            <a:r>
              <a:rPr lang="es-MX" sz="2000" b="1" dirty="0" err="1">
                <a:latin typeface="Arial Narrow" pitchFamily="34" charset="0"/>
              </a:rPr>
              <a:t>X2</a:t>
            </a:r>
            <a:endParaRPr lang="es-PE" sz="2000" b="1" dirty="0">
              <a:latin typeface="Arial Narrow" pitchFamily="34" charset="0"/>
            </a:endParaRPr>
          </a:p>
        </p:txBody>
      </p:sp>
      <p:sp>
        <p:nvSpPr>
          <p:cNvPr id="68" name="1 Rectángulo">
            <a:extLst>
              <a:ext uri="{FF2B5EF4-FFF2-40B4-BE49-F238E27FC236}">
                <a16:creationId xmlns:a16="http://schemas.microsoft.com/office/drawing/2014/main" id="{4E7CBB6D-0566-4599-872F-A8E8EE36DDED}"/>
              </a:ext>
            </a:extLst>
          </p:cNvPr>
          <p:cNvSpPr/>
          <p:nvPr/>
        </p:nvSpPr>
        <p:spPr>
          <a:xfrm>
            <a:off x="8916895" y="3979020"/>
            <a:ext cx="3174521" cy="2862322"/>
          </a:xfrm>
          <a:prstGeom prst="rect">
            <a:avLst/>
          </a:prstGeom>
          <a:solidFill>
            <a:schemeClr val="accent5">
              <a:lumMod val="40000"/>
              <a:lumOff val="60000"/>
            </a:schemeClr>
          </a:solidFill>
        </p:spPr>
        <p:txBody>
          <a:bodyPr wrap="square">
            <a:spAutoFit/>
          </a:bodyPr>
          <a:lstStyle/>
          <a:p>
            <a:r>
              <a:rPr lang="en-US" b="1" dirty="0">
                <a:latin typeface="Arial Narrow" pitchFamily="34" charset="0"/>
              </a:rPr>
              <a:t> OBJECTIVE FUNCTION VALUE</a:t>
            </a:r>
          </a:p>
          <a:p>
            <a:r>
              <a:rPr lang="en-US" b="1" dirty="0">
                <a:latin typeface="Arial Narrow" pitchFamily="34" charset="0"/>
              </a:rPr>
              <a:t>        1)     </a:t>
            </a:r>
            <a:r>
              <a:rPr lang="en-US" b="1" dirty="0" err="1">
                <a:latin typeface="Arial Narrow" pitchFamily="34" charset="0"/>
              </a:rPr>
              <a:t>0.0000000E+00</a:t>
            </a:r>
            <a:endParaRPr lang="en-US" b="1" dirty="0">
              <a:latin typeface="Arial Narrow" pitchFamily="34" charset="0"/>
            </a:endParaRPr>
          </a:p>
          <a:p>
            <a:r>
              <a:rPr lang="en-US" b="1" dirty="0">
                <a:latin typeface="Arial Narrow" pitchFamily="34" charset="0"/>
              </a:rPr>
              <a:t>VARIABLE   VALUE  REDUCED COST</a:t>
            </a:r>
          </a:p>
          <a:p>
            <a:r>
              <a:rPr lang="en-US" b="1" dirty="0">
                <a:latin typeface="Arial Narrow" pitchFamily="34" charset="0"/>
              </a:rPr>
              <a:t>     </a:t>
            </a:r>
            <a:r>
              <a:rPr lang="en-US" b="1" dirty="0" err="1">
                <a:latin typeface="Arial Narrow" pitchFamily="34" charset="0"/>
              </a:rPr>
              <a:t>X1</a:t>
            </a:r>
            <a:r>
              <a:rPr lang="en-US" b="1" dirty="0">
                <a:latin typeface="Arial Narrow" pitchFamily="34" charset="0"/>
              </a:rPr>
              <a:t>         0.0000          2.000000</a:t>
            </a:r>
          </a:p>
          <a:p>
            <a:r>
              <a:rPr lang="en-US" b="1" dirty="0">
                <a:latin typeface="Arial Narrow" pitchFamily="34" charset="0"/>
              </a:rPr>
              <a:t>     </a:t>
            </a:r>
            <a:r>
              <a:rPr lang="en-US" b="1" dirty="0" err="1">
                <a:latin typeface="Arial Narrow" pitchFamily="34" charset="0"/>
              </a:rPr>
              <a:t>X2</a:t>
            </a:r>
            <a:r>
              <a:rPr lang="en-US" b="1" dirty="0">
                <a:latin typeface="Arial Narrow" pitchFamily="34" charset="0"/>
              </a:rPr>
              <a:t>         0.0000          3.000000</a:t>
            </a:r>
          </a:p>
          <a:p>
            <a:r>
              <a:rPr lang="en-US" b="1" dirty="0">
                <a:latin typeface="Arial Narrow" pitchFamily="34" charset="0"/>
              </a:rPr>
              <a:t>ROW   SLACK OR SURPLUS  DUAL PRICES</a:t>
            </a:r>
          </a:p>
          <a:p>
            <a:r>
              <a:rPr lang="en-US" b="1" dirty="0">
                <a:latin typeface="Arial Narrow" pitchFamily="34" charset="0"/>
              </a:rPr>
              <a:t>        2)   2.000000          0.000000</a:t>
            </a:r>
          </a:p>
          <a:p>
            <a:r>
              <a:rPr lang="en-US" b="1" dirty="0">
                <a:latin typeface="Arial Narrow" pitchFamily="34" charset="0"/>
              </a:rPr>
              <a:t>        3)   0.000000          0.000000</a:t>
            </a:r>
            <a:endParaRPr lang="es-PE" b="1" dirty="0">
              <a:latin typeface="Arial Narrow" pitchFamily="34" charset="0"/>
            </a:endParaRPr>
          </a:p>
        </p:txBody>
      </p:sp>
      <p:sp>
        <p:nvSpPr>
          <p:cNvPr id="6" name="Rectángulo 5">
            <a:extLst>
              <a:ext uri="{FF2B5EF4-FFF2-40B4-BE49-F238E27FC236}">
                <a16:creationId xmlns:a16="http://schemas.microsoft.com/office/drawing/2014/main" id="{1C7600B4-1FB6-4B76-B439-CA3FDA74AA5A}"/>
              </a:ext>
            </a:extLst>
          </p:cNvPr>
          <p:cNvSpPr/>
          <p:nvPr/>
        </p:nvSpPr>
        <p:spPr>
          <a:xfrm>
            <a:off x="8997350" y="2716690"/>
            <a:ext cx="3088258" cy="1200329"/>
          </a:xfrm>
          <a:prstGeom prst="rect">
            <a:avLst/>
          </a:prstGeom>
          <a:solidFill>
            <a:schemeClr val="accent6">
              <a:lumMod val="20000"/>
              <a:lumOff val="80000"/>
            </a:schemeClr>
          </a:solidFill>
        </p:spPr>
        <p:txBody>
          <a:bodyPr wrap="square">
            <a:spAutoFit/>
          </a:bodyPr>
          <a:lstStyle/>
          <a:p>
            <a:pPr eaLnBrk="0" hangingPunct="0">
              <a:tabLst>
                <a:tab pos="809625" algn="l"/>
              </a:tabLst>
              <a:defRPr/>
            </a:pPr>
            <a:r>
              <a:rPr lang="es-MX" b="1" dirty="0">
                <a:latin typeface="Arial Narrow" pitchFamily="34" charset="0"/>
                <a:ea typeface="MS Mincho" pitchFamily="49" charset="-128"/>
                <a:cs typeface="Arial" pitchFamily="34" charset="0"/>
              </a:rPr>
              <a:t>La Solución óptima es: </a:t>
            </a:r>
          </a:p>
          <a:p>
            <a:pPr eaLnBrk="0" hangingPunct="0">
              <a:tabLst>
                <a:tab pos="809625" algn="l"/>
              </a:tabLst>
              <a:defRPr/>
            </a:pPr>
            <a:r>
              <a:rPr lang="es-MX" b="1" dirty="0">
                <a:latin typeface="Arial Narrow" pitchFamily="34" charset="0"/>
                <a:ea typeface="MS Mincho" pitchFamily="49" charset="-128"/>
                <a:cs typeface="Arial" pitchFamily="34" charset="0"/>
              </a:rPr>
              <a:t>       </a:t>
            </a:r>
            <a:r>
              <a:rPr lang="es-MX" b="1" dirty="0" err="1">
                <a:latin typeface="Arial Narrow" pitchFamily="34" charset="0"/>
                <a:ea typeface="MS Mincho" pitchFamily="49" charset="-128"/>
                <a:cs typeface="Arial" pitchFamily="34" charset="0"/>
              </a:rPr>
              <a:t>X1</a:t>
            </a:r>
            <a:r>
              <a:rPr lang="es-MX" b="1" dirty="0">
                <a:latin typeface="Arial Narrow" pitchFamily="34" charset="0"/>
                <a:ea typeface="MS Mincho" pitchFamily="49" charset="-128"/>
                <a:cs typeface="Arial" pitchFamily="34" charset="0"/>
              </a:rPr>
              <a:t> = 0        </a:t>
            </a:r>
            <a:r>
              <a:rPr lang="es-MX" b="1" dirty="0" err="1">
                <a:latin typeface="Arial Narrow" pitchFamily="34" charset="0"/>
                <a:ea typeface="MS Mincho" pitchFamily="49" charset="-128"/>
                <a:cs typeface="Arial" pitchFamily="34" charset="0"/>
              </a:rPr>
              <a:t>X2</a:t>
            </a:r>
            <a:r>
              <a:rPr lang="es-MX" b="1" dirty="0">
                <a:latin typeface="Arial Narrow" pitchFamily="34" charset="0"/>
                <a:ea typeface="MS Mincho" pitchFamily="49" charset="-128"/>
                <a:cs typeface="Arial" pitchFamily="34" charset="0"/>
              </a:rPr>
              <a:t> = 0</a:t>
            </a:r>
          </a:p>
          <a:p>
            <a:pPr marL="457200" indent="-457200" eaLnBrk="0" hangingPunct="0">
              <a:tabLst>
                <a:tab pos="809625" algn="l"/>
              </a:tabLst>
              <a:defRPr/>
            </a:pPr>
            <a:r>
              <a:rPr lang="es-MX" b="1" dirty="0">
                <a:latin typeface="Arial Narrow" pitchFamily="34" charset="0"/>
                <a:ea typeface="MS Mincho" pitchFamily="49" charset="-128"/>
                <a:cs typeface="Arial" pitchFamily="34" charset="0"/>
              </a:rPr>
              <a:t>El valor que toma la </a:t>
            </a:r>
            <a:r>
              <a:rPr lang="es-MX" b="1" dirty="0" err="1">
                <a:latin typeface="Arial Narrow" pitchFamily="34" charset="0"/>
                <a:ea typeface="MS Mincho" pitchFamily="49" charset="-128"/>
                <a:cs typeface="Arial" pitchFamily="34" charset="0"/>
              </a:rPr>
              <a:t>F.O</a:t>
            </a:r>
            <a:r>
              <a:rPr lang="es-MX" b="1" dirty="0">
                <a:latin typeface="Arial Narrow" pitchFamily="34" charset="0"/>
                <a:ea typeface="MS Mincho" pitchFamily="49" charset="-128"/>
                <a:cs typeface="Arial" pitchFamily="34" charset="0"/>
              </a:rPr>
              <a:t> es:  </a:t>
            </a:r>
          </a:p>
          <a:p>
            <a:pPr marL="457200" indent="-457200" eaLnBrk="0" hangingPunct="0">
              <a:tabLst>
                <a:tab pos="809625" algn="l"/>
              </a:tabLst>
              <a:defRPr/>
            </a:pPr>
            <a:r>
              <a:rPr lang="es-MX" b="1" dirty="0">
                <a:latin typeface="Arial Narrow" pitchFamily="34" charset="0"/>
                <a:ea typeface="MS Mincho" pitchFamily="49" charset="-128"/>
                <a:cs typeface="Arial" pitchFamily="34" charset="0"/>
              </a:rPr>
              <a:t>       Z = -2(0) - 3(0) = 0</a:t>
            </a:r>
            <a:endParaRPr lang="es-PE" b="1" dirty="0"/>
          </a:p>
        </p:txBody>
      </p:sp>
      <p:cxnSp>
        <p:nvCxnSpPr>
          <p:cNvPr id="7" name="Conector recto 6">
            <a:extLst>
              <a:ext uri="{FF2B5EF4-FFF2-40B4-BE49-F238E27FC236}">
                <a16:creationId xmlns:a16="http://schemas.microsoft.com/office/drawing/2014/main" id="{75CB3677-CDA4-4B13-8F0F-8247565A8585}"/>
              </a:ext>
            </a:extLst>
          </p:cNvPr>
          <p:cNvCxnSpPr>
            <a:cxnSpLocks/>
            <a:endCxn id="10" idx="0"/>
          </p:cNvCxnSpPr>
          <p:nvPr/>
        </p:nvCxnSpPr>
        <p:spPr>
          <a:xfrm flipV="1">
            <a:off x="1382054" y="3450714"/>
            <a:ext cx="873630" cy="1737140"/>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B2E773D4-321C-4CCE-9184-CBA110E4406E}"/>
              </a:ext>
            </a:extLst>
          </p:cNvPr>
          <p:cNvCxnSpPr>
            <a:cxnSpLocks/>
          </p:cNvCxnSpPr>
          <p:nvPr/>
        </p:nvCxnSpPr>
        <p:spPr>
          <a:xfrm flipV="1">
            <a:off x="1164566" y="3347049"/>
            <a:ext cx="4114800" cy="2355011"/>
          </a:xfrm>
          <a:prstGeom prst="line">
            <a:avLst/>
          </a:prstGeom>
          <a:ln w="25400"/>
        </p:spPr>
        <p:style>
          <a:lnRef idx="1">
            <a:schemeClr val="dk1"/>
          </a:lnRef>
          <a:fillRef idx="0">
            <a:schemeClr val="dk1"/>
          </a:fillRef>
          <a:effectRef idx="0">
            <a:schemeClr val="dk1"/>
          </a:effectRef>
          <a:fontRef idx="minor">
            <a:schemeClr val="tx1"/>
          </a:fontRef>
        </p:style>
      </p:cxnSp>
      <p:sp>
        <p:nvSpPr>
          <p:cNvPr id="69" name="Rectangle 2">
            <a:extLst>
              <a:ext uri="{FF2B5EF4-FFF2-40B4-BE49-F238E27FC236}">
                <a16:creationId xmlns:a16="http://schemas.microsoft.com/office/drawing/2014/main" id="{D8744EAA-D22B-4543-9B24-25433F399A0B}"/>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2</a:t>
            </a:r>
          </a:p>
        </p:txBody>
      </p:sp>
      <p:sp>
        <p:nvSpPr>
          <p:cNvPr id="4" name="Rectángulo 3">
            <a:extLst>
              <a:ext uri="{FF2B5EF4-FFF2-40B4-BE49-F238E27FC236}">
                <a16:creationId xmlns:a16="http://schemas.microsoft.com/office/drawing/2014/main" id="{93D4FA37-6C25-47BF-B4D9-9999876097A4}"/>
              </a:ext>
            </a:extLst>
          </p:cNvPr>
          <p:cNvSpPr/>
          <p:nvPr/>
        </p:nvSpPr>
        <p:spPr>
          <a:xfrm>
            <a:off x="6096000" y="2680426"/>
            <a:ext cx="2823713" cy="1200329"/>
          </a:xfrm>
          <a:prstGeom prst="rect">
            <a:avLst/>
          </a:prstGeom>
          <a:solidFill>
            <a:schemeClr val="accent3">
              <a:lumMod val="40000"/>
              <a:lumOff val="60000"/>
            </a:schemeClr>
          </a:solidFill>
        </p:spPr>
        <p:txBody>
          <a:bodyPr wrap="square">
            <a:spAutoFit/>
          </a:bodyPr>
          <a:lstStyle/>
          <a:p>
            <a:r>
              <a:rPr lang="es-MX" b="1" dirty="0">
                <a:latin typeface="Arial Narrow" pitchFamily="34" charset="0"/>
              </a:rPr>
              <a:t>          -</a:t>
            </a:r>
            <a:r>
              <a:rPr lang="es-MX" b="1" dirty="0" err="1">
                <a:latin typeface="Arial Narrow" pitchFamily="34" charset="0"/>
              </a:rPr>
              <a:t>2X1</a:t>
            </a:r>
            <a:r>
              <a:rPr lang="es-MX" b="1" dirty="0">
                <a:latin typeface="Arial Narrow" pitchFamily="34" charset="0"/>
              </a:rPr>
              <a:t> +  </a:t>
            </a:r>
            <a:r>
              <a:rPr lang="es-MX" b="1" dirty="0" err="1">
                <a:latin typeface="Arial Narrow" pitchFamily="34" charset="0"/>
              </a:rPr>
              <a:t>X2</a:t>
            </a:r>
            <a:r>
              <a:rPr lang="es-MX" b="1" dirty="0">
                <a:latin typeface="Arial Narrow" pitchFamily="34" charset="0"/>
              </a:rPr>
              <a:t> &lt;= 0</a:t>
            </a:r>
          </a:p>
          <a:p>
            <a:r>
              <a:rPr lang="es-MX" b="1" dirty="0">
                <a:latin typeface="Arial Narrow" pitchFamily="34" charset="0"/>
              </a:rPr>
              <a:t>          -</a:t>
            </a:r>
            <a:r>
              <a:rPr lang="es-MX" b="1" dirty="0" err="1">
                <a:latin typeface="Arial Narrow" pitchFamily="34" charset="0"/>
              </a:rPr>
              <a:t>2X1</a:t>
            </a:r>
            <a:r>
              <a:rPr lang="es-MX" b="1" dirty="0">
                <a:latin typeface="Arial Narrow" pitchFamily="34" charset="0"/>
              </a:rPr>
              <a:t> +  </a:t>
            </a:r>
            <a:r>
              <a:rPr lang="es-MX" b="1" dirty="0" err="1">
                <a:latin typeface="Arial Narrow" pitchFamily="34" charset="0"/>
              </a:rPr>
              <a:t>X2</a:t>
            </a:r>
            <a:r>
              <a:rPr lang="es-MX" b="1" dirty="0">
                <a:latin typeface="Arial Narrow" pitchFamily="34" charset="0"/>
              </a:rPr>
              <a:t>   = 0</a:t>
            </a:r>
          </a:p>
          <a:p>
            <a:r>
              <a:rPr lang="es-MX" b="1" dirty="0">
                <a:latin typeface="Arial Narrow" pitchFamily="34" charset="0"/>
              </a:rPr>
              <a:t>         Si </a:t>
            </a:r>
            <a:r>
              <a:rPr lang="es-MX" b="1" dirty="0" err="1">
                <a:latin typeface="Arial Narrow" pitchFamily="34" charset="0"/>
              </a:rPr>
              <a:t>X1</a:t>
            </a:r>
            <a:r>
              <a:rPr lang="es-MX" b="1" dirty="0">
                <a:latin typeface="Arial Narrow" pitchFamily="34" charset="0"/>
              </a:rPr>
              <a:t>=</a:t>
            </a:r>
            <a:r>
              <a:rPr lang="es-MX" b="1" dirty="0" err="1">
                <a:latin typeface="Arial Narrow" pitchFamily="34" charset="0"/>
              </a:rPr>
              <a:t>0</a:t>
            </a:r>
            <a:r>
              <a:rPr lang="es-MX" b="1" dirty="0" err="1">
                <a:latin typeface="Arial Narrow" pitchFamily="34" charset="0"/>
                <a:sym typeface="Wingdings" panose="05000000000000000000" pitchFamily="2" charset="2"/>
              </a:rPr>
              <a:t>X2</a:t>
            </a:r>
            <a:r>
              <a:rPr lang="es-MX" b="1" dirty="0">
                <a:latin typeface="Arial Narrow" pitchFamily="34" charset="0"/>
                <a:sym typeface="Wingdings" panose="05000000000000000000" pitchFamily="2" charset="2"/>
              </a:rPr>
              <a:t>= 0</a:t>
            </a:r>
          </a:p>
          <a:p>
            <a:r>
              <a:rPr lang="es-MX" b="1" dirty="0">
                <a:latin typeface="Arial Narrow" pitchFamily="34" charset="0"/>
              </a:rPr>
              <a:t>         Si </a:t>
            </a:r>
            <a:r>
              <a:rPr lang="es-MX" b="1" dirty="0" err="1">
                <a:latin typeface="Arial Narrow" pitchFamily="34" charset="0"/>
              </a:rPr>
              <a:t>X2</a:t>
            </a:r>
            <a:r>
              <a:rPr lang="es-MX" b="1" dirty="0">
                <a:latin typeface="Arial Narrow" pitchFamily="34" charset="0"/>
              </a:rPr>
              <a:t>=</a:t>
            </a:r>
            <a:r>
              <a:rPr lang="es-MX" b="1" dirty="0" err="1">
                <a:latin typeface="Arial Narrow" pitchFamily="34" charset="0"/>
              </a:rPr>
              <a:t>2</a:t>
            </a:r>
            <a:r>
              <a:rPr lang="es-MX" b="1" dirty="0" err="1">
                <a:latin typeface="Arial Narrow" pitchFamily="34" charset="0"/>
                <a:sym typeface="Wingdings" panose="05000000000000000000" pitchFamily="2" charset="2"/>
              </a:rPr>
              <a:t>X1</a:t>
            </a:r>
            <a:r>
              <a:rPr lang="es-MX" b="1" dirty="0">
                <a:latin typeface="Arial Narrow" pitchFamily="34" charset="0"/>
                <a:sym typeface="Wingdings" panose="05000000000000000000" pitchFamily="2" charset="2"/>
              </a:rPr>
              <a:t>= 1</a:t>
            </a:r>
            <a:endParaRPr lang="es-PE" b="1" dirty="0"/>
          </a:p>
        </p:txBody>
      </p:sp>
      <p:sp>
        <p:nvSpPr>
          <p:cNvPr id="71" name="Rectángulo 70">
            <a:extLst>
              <a:ext uri="{FF2B5EF4-FFF2-40B4-BE49-F238E27FC236}">
                <a16:creationId xmlns:a16="http://schemas.microsoft.com/office/drawing/2014/main" id="{4DFCD3A0-7894-44EC-A974-2BEC0C507269}"/>
              </a:ext>
            </a:extLst>
          </p:cNvPr>
          <p:cNvSpPr/>
          <p:nvPr/>
        </p:nvSpPr>
        <p:spPr>
          <a:xfrm>
            <a:off x="6110385" y="3823350"/>
            <a:ext cx="2817956" cy="1200329"/>
          </a:xfrm>
          <a:prstGeom prst="rect">
            <a:avLst/>
          </a:prstGeom>
          <a:solidFill>
            <a:schemeClr val="accent6">
              <a:lumMod val="20000"/>
              <a:lumOff val="80000"/>
            </a:schemeClr>
          </a:solidFill>
        </p:spPr>
        <p:txBody>
          <a:bodyPr wrap="square">
            <a:spAutoFit/>
          </a:bodyPr>
          <a:lstStyle/>
          <a:p>
            <a:pPr marL="400050" indent="-400050">
              <a:buAutoNum type="romanLcParenR" startAt="3"/>
            </a:pPr>
            <a:r>
              <a:rPr lang="es-MX" b="1" dirty="0">
                <a:latin typeface="Arial Narrow" pitchFamily="34" charset="0"/>
              </a:rPr>
              <a:t>Graficando la F. O. </a:t>
            </a:r>
          </a:p>
          <a:p>
            <a:r>
              <a:rPr lang="es-MX" b="1" dirty="0">
                <a:latin typeface="Arial Narrow" pitchFamily="34" charset="0"/>
              </a:rPr>
              <a:t>          -</a:t>
            </a:r>
            <a:r>
              <a:rPr lang="es-MX" b="1" dirty="0" err="1">
                <a:latin typeface="Arial Narrow" pitchFamily="34" charset="0"/>
              </a:rPr>
              <a:t>2X1</a:t>
            </a:r>
            <a:r>
              <a:rPr lang="es-MX" b="1" dirty="0">
                <a:latin typeface="Arial Narrow" pitchFamily="34" charset="0"/>
              </a:rPr>
              <a:t> -  </a:t>
            </a:r>
            <a:r>
              <a:rPr lang="es-MX" b="1" dirty="0" err="1">
                <a:latin typeface="Arial Narrow" pitchFamily="34" charset="0"/>
              </a:rPr>
              <a:t>3X2</a:t>
            </a:r>
            <a:r>
              <a:rPr lang="es-MX" b="1" dirty="0">
                <a:latin typeface="Arial Narrow" pitchFamily="34" charset="0"/>
              </a:rPr>
              <a:t>  = -6</a:t>
            </a:r>
          </a:p>
          <a:p>
            <a:r>
              <a:rPr lang="es-MX" b="1" dirty="0">
                <a:latin typeface="Arial Narrow" pitchFamily="34" charset="0"/>
              </a:rPr>
              <a:t>         Si </a:t>
            </a:r>
            <a:r>
              <a:rPr lang="es-MX" b="1" dirty="0" err="1">
                <a:latin typeface="Arial Narrow" pitchFamily="34" charset="0"/>
              </a:rPr>
              <a:t>X1</a:t>
            </a:r>
            <a:r>
              <a:rPr lang="es-MX" b="1" dirty="0">
                <a:latin typeface="Arial Narrow" pitchFamily="34" charset="0"/>
              </a:rPr>
              <a:t>=</a:t>
            </a:r>
            <a:r>
              <a:rPr lang="es-MX" b="1" dirty="0" err="1">
                <a:latin typeface="Arial Narrow" pitchFamily="34" charset="0"/>
              </a:rPr>
              <a:t>0</a:t>
            </a:r>
            <a:r>
              <a:rPr lang="es-MX" b="1" dirty="0" err="1">
                <a:latin typeface="Arial Narrow" pitchFamily="34" charset="0"/>
                <a:sym typeface="Wingdings" panose="05000000000000000000" pitchFamily="2" charset="2"/>
              </a:rPr>
              <a:t>X2</a:t>
            </a:r>
            <a:r>
              <a:rPr lang="es-MX" b="1" dirty="0">
                <a:latin typeface="Arial Narrow" pitchFamily="34" charset="0"/>
                <a:sym typeface="Wingdings" panose="05000000000000000000" pitchFamily="2" charset="2"/>
              </a:rPr>
              <a:t>= 2</a:t>
            </a:r>
          </a:p>
          <a:p>
            <a:r>
              <a:rPr lang="es-MX" b="1" dirty="0">
                <a:latin typeface="Arial Narrow" pitchFamily="34" charset="0"/>
              </a:rPr>
              <a:t>         Si </a:t>
            </a:r>
            <a:r>
              <a:rPr lang="es-MX" b="1" dirty="0" err="1">
                <a:latin typeface="Arial Narrow" pitchFamily="34" charset="0"/>
              </a:rPr>
              <a:t>X2</a:t>
            </a:r>
            <a:r>
              <a:rPr lang="es-MX" b="1" dirty="0">
                <a:latin typeface="Arial Narrow" pitchFamily="34" charset="0"/>
              </a:rPr>
              <a:t>=</a:t>
            </a:r>
            <a:r>
              <a:rPr lang="es-MX" b="1" dirty="0" err="1">
                <a:latin typeface="Arial Narrow" pitchFamily="34" charset="0"/>
              </a:rPr>
              <a:t>0</a:t>
            </a:r>
            <a:r>
              <a:rPr lang="es-MX" b="1" dirty="0" err="1">
                <a:latin typeface="Arial Narrow" pitchFamily="34" charset="0"/>
                <a:sym typeface="Wingdings" panose="05000000000000000000" pitchFamily="2" charset="2"/>
              </a:rPr>
              <a:t>X1</a:t>
            </a:r>
            <a:r>
              <a:rPr lang="es-MX" b="1" dirty="0">
                <a:latin typeface="Arial Narrow" pitchFamily="34" charset="0"/>
                <a:sym typeface="Wingdings" panose="05000000000000000000" pitchFamily="2" charset="2"/>
              </a:rPr>
              <a:t>= 3</a:t>
            </a:r>
            <a:endParaRPr lang="es-PE" b="1" dirty="0"/>
          </a:p>
        </p:txBody>
      </p:sp>
      <p:sp>
        <p:nvSpPr>
          <p:cNvPr id="72" name="CuadroTexto 71">
            <a:extLst>
              <a:ext uri="{FF2B5EF4-FFF2-40B4-BE49-F238E27FC236}">
                <a16:creationId xmlns:a16="http://schemas.microsoft.com/office/drawing/2014/main" id="{67A2911E-D186-4DD2-8D1F-8CE1C33F64B4}"/>
              </a:ext>
            </a:extLst>
          </p:cNvPr>
          <p:cNvSpPr txBox="1"/>
          <p:nvPr/>
        </p:nvSpPr>
        <p:spPr>
          <a:xfrm>
            <a:off x="192864" y="1386539"/>
            <a:ext cx="4718649" cy="461665"/>
          </a:xfrm>
          <a:prstGeom prst="rect">
            <a:avLst/>
          </a:prstGeom>
          <a:noFill/>
        </p:spPr>
        <p:txBody>
          <a:bodyPr wrap="square" rtlCol="0">
            <a:spAutoFit/>
          </a:bodyPr>
          <a:lstStyle/>
          <a:p>
            <a:r>
              <a:rPr lang="es-ES" sz="2400" dirty="0">
                <a:latin typeface="Arial Narrow" panose="020B0606020202030204" pitchFamily="34" charset="0"/>
              </a:rPr>
              <a:t>Resolver usando el método gráfico.</a:t>
            </a:r>
            <a:endParaRPr lang="es-PE" sz="2400" dirty="0">
              <a:solidFill>
                <a:srgbClr val="FF0000"/>
              </a:solidFill>
              <a:latin typeface="Arial Narrow" panose="020B0606020202030204" pitchFamily="34" charset="0"/>
            </a:endParaRPr>
          </a:p>
        </p:txBody>
      </p:sp>
      <p:cxnSp>
        <p:nvCxnSpPr>
          <p:cNvPr id="5" name="3 Conector recto de flecha">
            <a:extLst>
              <a:ext uri="{FF2B5EF4-FFF2-40B4-BE49-F238E27FC236}">
                <a16:creationId xmlns:a16="http://schemas.microsoft.com/office/drawing/2014/main" id="{58BB35F6-FEFE-2C1B-C521-8B3FDD1352B7}"/>
              </a:ext>
            </a:extLst>
          </p:cNvPr>
          <p:cNvCxnSpPr>
            <a:cxnSpLocks/>
          </p:cNvCxnSpPr>
          <p:nvPr/>
        </p:nvCxnSpPr>
        <p:spPr>
          <a:xfrm>
            <a:off x="2171597" y="3638767"/>
            <a:ext cx="202505" cy="2037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3 Conector recto de flecha">
            <a:extLst>
              <a:ext uri="{FF2B5EF4-FFF2-40B4-BE49-F238E27FC236}">
                <a16:creationId xmlns:a16="http://schemas.microsoft.com/office/drawing/2014/main" id="{81712CA0-C1BC-5D9C-AC9D-7E970C75D99D}"/>
              </a:ext>
            </a:extLst>
          </p:cNvPr>
          <p:cNvCxnSpPr>
            <a:cxnSpLocks/>
          </p:cNvCxnSpPr>
          <p:nvPr/>
        </p:nvCxnSpPr>
        <p:spPr>
          <a:xfrm flipH="1" flipV="1">
            <a:off x="4057110" y="3719063"/>
            <a:ext cx="152107" cy="240725"/>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2713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68"/>
                                        </p:tgtEl>
                                        <p:attrNameLst>
                                          <p:attrName>style.visibility</p:attrName>
                                        </p:attrNameLst>
                                      </p:cBhvr>
                                      <p:to>
                                        <p:strVal val="visible"/>
                                      </p:to>
                                    </p:set>
                                    <p:anim calcmode="lin" valueType="num">
                                      <p:cBhvr additive="base">
                                        <p:cTn id="47" dur="500" fill="hold"/>
                                        <p:tgtEl>
                                          <p:spTgt spid="68"/>
                                        </p:tgtEl>
                                        <p:attrNameLst>
                                          <p:attrName>ppt_x</p:attrName>
                                        </p:attrNameLst>
                                      </p:cBhvr>
                                      <p:tavLst>
                                        <p:tav tm="0">
                                          <p:val>
                                            <p:strVal val="#ppt_x"/>
                                          </p:val>
                                        </p:tav>
                                        <p:tav tm="100000">
                                          <p:val>
                                            <p:strVal val="#ppt_x"/>
                                          </p:val>
                                        </p:tav>
                                      </p:tavLst>
                                    </p:anim>
                                    <p:anim calcmode="lin" valueType="num">
                                      <p:cBhvr additive="base">
                                        <p:cTn id="48" dur="500" fill="hold"/>
                                        <p:tgtEl>
                                          <p:spTgt spid="68"/>
                                        </p:tgtEl>
                                        <p:attrNameLst>
                                          <p:attrName>ppt_y</p:attrName>
                                        </p:attrNameLst>
                                      </p:cBhvr>
                                      <p:tavLst>
                                        <p:tav tm="0">
                                          <p:val>
                                            <p:strVal val="1+#ppt_h/2"/>
                                          </p:val>
                                        </p:tav>
                                        <p:tav tm="100000">
                                          <p:val>
                                            <p:strVal val="#ppt_y"/>
                                          </p:val>
                                        </p:tav>
                                      </p:tavLst>
                                    </p:anim>
                                  </p:childTnLst>
                                </p:cTn>
                              </p:par>
                              <p:par>
                                <p:cTn id="49" presetID="1" presetClass="entr" presetSubtype="0" fill="hold" nodeType="withEffect">
                                  <p:stCondLst>
                                    <p:cond delay="0"/>
                                  </p:stCondLst>
                                  <p:childTnLst>
                                    <p:set>
                                      <p:cBhvr>
                                        <p:cTn id="50" dur="1" fill="hold">
                                          <p:stCondLst>
                                            <p:cond delay="0"/>
                                          </p:stCondLst>
                                        </p:cTn>
                                        <p:tgtEl>
                                          <p:spTgt spid="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50" grpId="0" animBg="1"/>
      <p:bldP spid="2" grpId="0" animBg="1"/>
      <p:bldP spid="67" grpId="0" animBg="1"/>
      <p:bldP spid="68" grpId="0" animBg="1"/>
      <p:bldP spid="6" grpId="0" animBg="1"/>
      <p:bldP spid="4" grpId="0" animBg="1"/>
      <p:bldP spid="7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Line 6"/>
          <p:cNvSpPr>
            <a:spLocks noChangeShapeType="1"/>
          </p:cNvSpPr>
          <p:nvPr/>
        </p:nvSpPr>
        <p:spPr bwMode="auto">
          <a:xfrm>
            <a:off x="859202" y="4695400"/>
            <a:ext cx="3313113" cy="1584325"/>
          </a:xfrm>
          <a:prstGeom prst="line">
            <a:avLst/>
          </a:prstGeom>
          <a:noFill/>
          <a:ln w="38100">
            <a:solidFill>
              <a:schemeClr val="bg2"/>
            </a:solidFill>
            <a:prstDash val="dash"/>
            <a:round/>
            <a:headEnd type="none" w="sm" len="sm"/>
            <a:tailEnd type="none" w="sm" len="sm"/>
          </a:ln>
        </p:spPr>
        <p:txBody>
          <a:bodyPr/>
          <a:lstStyle/>
          <a:p>
            <a:endParaRPr lang="es-PE"/>
          </a:p>
        </p:txBody>
      </p:sp>
      <p:graphicFrame>
        <p:nvGraphicFramePr>
          <p:cNvPr id="7" name="6 Tabla"/>
          <p:cNvGraphicFramePr>
            <a:graphicFrameLocks noGrp="1"/>
          </p:cNvGraphicFramePr>
          <p:nvPr/>
        </p:nvGraphicFramePr>
        <p:xfrm>
          <a:off x="613061" y="3198643"/>
          <a:ext cx="5073360" cy="2964954"/>
        </p:xfrm>
        <a:graphic>
          <a:graphicData uri="http://schemas.openxmlformats.org/drawingml/2006/table">
            <a:tbl>
              <a:tblPr firstRow="1" bandRow="1">
                <a:tableStyleId>{00A15C55-8517-42AA-B614-E9B94910E393}</a:tableStyleId>
              </a:tblPr>
              <a:tblGrid>
                <a:gridCol w="422780">
                  <a:extLst>
                    <a:ext uri="{9D8B030D-6E8A-4147-A177-3AD203B41FA5}">
                      <a16:colId xmlns:a16="http://schemas.microsoft.com/office/drawing/2014/main" val="20000"/>
                    </a:ext>
                  </a:extLst>
                </a:gridCol>
                <a:gridCol w="408009">
                  <a:extLst>
                    <a:ext uri="{9D8B030D-6E8A-4147-A177-3AD203B41FA5}">
                      <a16:colId xmlns:a16="http://schemas.microsoft.com/office/drawing/2014/main" val="20001"/>
                    </a:ext>
                  </a:extLst>
                </a:gridCol>
                <a:gridCol w="437551">
                  <a:extLst>
                    <a:ext uri="{9D8B030D-6E8A-4147-A177-3AD203B41FA5}">
                      <a16:colId xmlns:a16="http://schemas.microsoft.com/office/drawing/2014/main" val="20002"/>
                    </a:ext>
                  </a:extLst>
                </a:gridCol>
                <a:gridCol w="422780">
                  <a:extLst>
                    <a:ext uri="{9D8B030D-6E8A-4147-A177-3AD203B41FA5}">
                      <a16:colId xmlns:a16="http://schemas.microsoft.com/office/drawing/2014/main" val="20003"/>
                    </a:ext>
                  </a:extLst>
                </a:gridCol>
                <a:gridCol w="422780">
                  <a:extLst>
                    <a:ext uri="{9D8B030D-6E8A-4147-A177-3AD203B41FA5}">
                      <a16:colId xmlns:a16="http://schemas.microsoft.com/office/drawing/2014/main" val="20004"/>
                    </a:ext>
                  </a:extLst>
                </a:gridCol>
                <a:gridCol w="422780">
                  <a:extLst>
                    <a:ext uri="{9D8B030D-6E8A-4147-A177-3AD203B41FA5}">
                      <a16:colId xmlns:a16="http://schemas.microsoft.com/office/drawing/2014/main" val="20005"/>
                    </a:ext>
                  </a:extLst>
                </a:gridCol>
                <a:gridCol w="422780">
                  <a:extLst>
                    <a:ext uri="{9D8B030D-6E8A-4147-A177-3AD203B41FA5}">
                      <a16:colId xmlns:a16="http://schemas.microsoft.com/office/drawing/2014/main" val="20006"/>
                    </a:ext>
                  </a:extLst>
                </a:gridCol>
                <a:gridCol w="422780">
                  <a:extLst>
                    <a:ext uri="{9D8B030D-6E8A-4147-A177-3AD203B41FA5}">
                      <a16:colId xmlns:a16="http://schemas.microsoft.com/office/drawing/2014/main" val="20007"/>
                    </a:ext>
                  </a:extLst>
                </a:gridCol>
                <a:gridCol w="422780">
                  <a:extLst>
                    <a:ext uri="{9D8B030D-6E8A-4147-A177-3AD203B41FA5}">
                      <a16:colId xmlns:a16="http://schemas.microsoft.com/office/drawing/2014/main" val="20008"/>
                    </a:ext>
                  </a:extLst>
                </a:gridCol>
                <a:gridCol w="422780">
                  <a:extLst>
                    <a:ext uri="{9D8B030D-6E8A-4147-A177-3AD203B41FA5}">
                      <a16:colId xmlns:a16="http://schemas.microsoft.com/office/drawing/2014/main" val="20009"/>
                    </a:ext>
                  </a:extLst>
                </a:gridCol>
                <a:gridCol w="422780">
                  <a:extLst>
                    <a:ext uri="{9D8B030D-6E8A-4147-A177-3AD203B41FA5}">
                      <a16:colId xmlns:a16="http://schemas.microsoft.com/office/drawing/2014/main" val="20010"/>
                    </a:ext>
                  </a:extLst>
                </a:gridCol>
                <a:gridCol w="422780">
                  <a:extLst>
                    <a:ext uri="{9D8B030D-6E8A-4147-A177-3AD203B41FA5}">
                      <a16:colId xmlns:a16="http://schemas.microsoft.com/office/drawing/2014/main" val="20011"/>
                    </a:ext>
                  </a:extLst>
                </a:gridCol>
              </a:tblGrid>
              <a:tr h="494159">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494159">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494159">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494159">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494159">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494159">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cxnSp>
        <p:nvCxnSpPr>
          <p:cNvPr id="10" name="9 Conector recto de flecha"/>
          <p:cNvCxnSpPr/>
          <p:nvPr/>
        </p:nvCxnSpPr>
        <p:spPr>
          <a:xfrm flipV="1">
            <a:off x="2710472" y="3051484"/>
            <a:ext cx="0" cy="341290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10 Conector recto de flecha"/>
          <p:cNvCxnSpPr>
            <a:cxnSpLocks/>
          </p:cNvCxnSpPr>
          <p:nvPr/>
        </p:nvCxnSpPr>
        <p:spPr>
          <a:xfrm>
            <a:off x="164592" y="6135263"/>
            <a:ext cx="5858249"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 name="1 CuadroTexto"/>
          <p:cNvSpPr txBox="1"/>
          <p:nvPr/>
        </p:nvSpPr>
        <p:spPr>
          <a:xfrm>
            <a:off x="2655288" y="5006715"/>
            <a:ext cx="583100" cy="369332"/>
          </a:xfrm>
          <a:prstGeom prst="rect">
            <a:avLst/>
          </a:prstGeom>
          <a:noFill/>
        </p:spPr>
        <p:txBody>
          <a:bodyPr wrap="square" rtlCol="0">
            <a:spAutoFit/>
          </a:bodyPr>
          <a:lstStyle/>
          <a:p>
            <a:r>
              <a:rPr lang="en-US" dirty="0"/>
              <a:t>1,9</a:t>
            </a:r>
            <a:endParaRPr lang="es-ES" dirty="0"/>
          </a:p>
        </p:txBody>
      </p:sp>
      <p:sp>
        <p:nvSpPr>
          <p:cNvPr id="18" name="17 CuadroTexto"/>
          <p:cNvSpPr txBox="1"/>
          <p:nvPr/>
        </p:nvSpPr>
        <p:spPr>
          <a:xfrm>
            <a:off x="2673936" y="5520434"/>
            <a:ext cx="668659" cy="369332"/>
          </a:xfrm>
          <a:prstGeom prst="rect">
            <a:avLst/>
          </a:prstGeom>
          <a:noFill/>
        </p:spPr>
        <p:txBody>
          <a:bodyPr wrap="square" rtlCol="0">
            <a:spAutoFit/>
          </a:bodyPr>
          <a:lstStyle/>
          <a:p>
            <a:r>
              <a:rPr lang="en-US" dirty="0"/>
              <a:t>1,25</a:t>
            </a:r>
            <a:endParaRPr lang="es-ES" dirty="0"/>
          </a:p>
        </p:txBody>
      </p:sp>
      <p:sp>
        <p:nvSpPr>
          <p:cNvPr id="20" name="Line 4"/>
          <p:cNvSpPr>
            <a:spLocks noChangeShapeType="1"/>
          </p:cNvSpPr>
          <p:nvPr/>
        </p:nvSpPr>
        <p:spPr bwMode="auto">
          <a:xfrm flipV="1">
            <a:off x="603504" y="4960765"/>
            <a:ext cx="4261104" cy="1170432"/>
          </a:xfrm>
          <a:prstGeom prst="line">
            <a:avLst/>
          </a:prstGeom>
          <a:noFill/>
          <a:ln w="38100">
            <a:solidFill>
              <a:srgbClr val="7030A0"/>
            </a:solidFill>
            <a:prstDash val="solid"/>
            <a:round/>
            <a:headEnd type="none" w="sm" len="sm"/>
            <a:tailEnd type="none" w="sm" len="sm"/>
          </a:ln>
        </p:spPr>
        <p:txBody>
          <a:bodyPr/>
          <a:lstStyle/>
          <a:p>
            <a:endParaRPr lang="es-PE"/>
          </a:p>
        </p:txBody>
      </p:sp>
      <p:sp>
        <p:nvSpPr>
          <p:cNvPr id="21" name="Rectangle 2"/>
          <p:cNvSpPr>
            <a:spLocks noChangeArrowheads="1"/>
          </p:cNvSpPr>
          <p:nvPr/>
        </p:nvSpPr>
        <p:spPr bwMode="auto">
          <a:xfrm>
            <a:off x="6226629" y="4461481"/>
            <a:ext cx="3684814" cy="2062103"/>
          </a:xfrm>
          <a:prstGeom prst="rect">
            <a:avLst/>
          </a:prstGeom>
          <a:noFill/>
          <a:ln w="9525">
            <a:noFill/>
            <a:miter lim="800000"/>
            <a:headEnd/>
            <a:tailEnd/>
          </a:ln>
        </p:spPr>
        <p:txBody>
          <a:bodyPr wrap="square" anchor="ctr">
            <a:spAutoFit/>
          </a:bodyPr>
          <a:lstStyle/>
          <a:p>
            <a:pPr eaLnBrk="0" hangingPunct="0">
              <a:tabLst>
                <a:tab pos="809625" algn="l"/>
              </a:tabLst>
            </a:pPr>
            <a:r>
              <a:rPr lang="es-MX" sz="3200" b="1" dirty="0">
                <a:solidFill>
                  <a:srgbClr val="FF0000"/>
                </a:solidFill>
                <a:latin typeface="Arial Narrow" pitchFamily="34" charset="0"/>
                <a:ea typeface="MS Mincho" pitchFamily="49" charset="-128"/>
                <a:cs typeface="Arial" charset="0"/>
              </a:rPr>
              <a:t>Solución 	</a:t>
            </a:r>
          </a:p>
          <a:p>
            <a:pPr>
              <a:tabLst>
                <a:tab pos="809625" algn="l"/>
              </a:tabLst>
            </a:pPr>
            <a:r>
              <a:rPr lang="es-MX" sz="3200" b="1" dirty="0">
                <a:solidFill>
                  <a:srgbClr val="7030A0"/>
                </a:solidFill>
                <a:latin typeface="Arial Narrow" pitchFamily="34" charset="0"/>
                <a:ea typeface="MS Mincho" pitchFamily="49" charset="-128"/>
                <a:cs typeface="Arial" charset="0"/>
              </a:rPr>
              <a:t>No tiene solución óptima porque no tiene región factible..</a:t>
            </a:r>
            <a:endParaRPr lang="es-PE" sz="3200" b="1" dirty="0">
              <a:solidFill>
                <a:srgbClr val="7030A0"/>
              </a:solidFill>
              <a:latin typeface="Arial Narrow" pitchFamily="34" charset="0"/>
              <a:ea typeface="MS Mincho" pitchFamily="49" charset="-128"/>
              <a:cs typeface="Arial" charset="0"/>
            </a:endParaRPr>
          </a:p>
        </p:txBody>
      </p:sp>
      <p:sp>
        <p:nvSpPr>
          <p:cNvPr id="15364" name="Line 4"/>
          <p:cNvSpPr>
            <a:spLocks noChangeShapeType="1"/>
          </p:cNvSpPr>
          <p:nvPr/>
        </p:nvSpPr>
        <p:spPr bwMode="auto">
          <a:xfrm>
            <a:off x="1183821" y="4789393"/>
            <a:ext cx="4262955" cy="1358212"/>
          </a:xfrm>
          <a:prstGeom prst="line">
            <a:avLst/>
          </a:prstGeom>
          <a:noFill/>
          <a:ln w="38100">
            <a:solidFill>
              <a:srgbClr val="00B0F0"/>
            </a:solidFill>
            <a:prstDash val="solid"/>
            <a:round/>
            <a:headEnd type="none" w="sm" len="sm"/>
            <a:tailEnd type="none" w="sm" len="sm"/>
          </a:ln>
        </p:spPr>
        <p:txBody>
          <a:bodyPr/>
          <a:lstStyle/>
          <a:p>
            <a:endParaRPr lang="es-PE"/>
          </a:p>
        </p:txBody>
      </p:sp>
      <p:sp>
        <p:nvSpPr>
          <p:cNvPr id="3" name="2 CuadroTexto"/>
          <p:cNvSpPr txBox="1"/>
          <p:nvPr/>
        </p:nvSpPr>
        <p:spPr>
          <a:xfrm>
            <a:off x="392857" y="6176856"/>
            <a:ext cx="648618" cy="369332"/>
          </a:xfrm>
          <a:prstGeom prst="rect">
            <a:avLst/>
          </a:prstGeom>
          <a:noFill/>
        </p:spPr>
        <p:txBody>
          <a:bodyPr wrap="square" rtlCol="0">
            <a:spAutoFit/>
          </a:bodyPr>
          <a:lstStyle/>
          <a:p>
            <a:r>
              <a:rPr lang="es-PE" dirty="0"/>
              <a:t>-5</a:t>
            </a:r>
          </a:p>
        </p:txBody>
      </p:sp>
      <p:cxnSp>
        <p:nvCxnSpPr>
          <p:cNvPr id="5" name="4 Conector recto de flecha"/>
          <p:cNvCxnSpPr>
            <a:cxnSpLocks/>
          </p:cNvCxnSpPr>
          <p:nvPr/>
        </p:nvCxnSpPr>
        <p:spPr>
          <a:xfrm flipH="1">
            <a:off x="1129965" y="4773177"/>
            <a:ext cx="72008" cy="279706"/>
          </a:xfrm>
          <a:prstGeom prst="straightConnector1">
            <a:avLst/>
          </a:prstGeom>
          <a:noFill/>
          <a:ln w="38100">
            <a:solidFill>
              <a:srgbClr val="00B0F0"/>
            </a:solidFill>
            <a:prstDash val="solid"/>
            <a:round/>
            <a:headEnd type="none" w="sm" len="sm"/>
            <a:tailEnd type="none" w="sm" len="sm"/>
          </a:ln>
        </p:spPr>
      </p:cxnSp>
      <p:cxnSp>
        <p:nvCxnSpPr>
          <p:cNvPr id="22" name="21 Conector recto de flecha"/>
          <p:cNvCxnSpPr>
            <a:cxnSpLocks/>
          </p:cNvCxnSpPr>
          <p:nvPr/>
        </p:nvCxnSpPr>
        <p:spPr>
          <a:xfrm flipH="1" flipV="1">
            <a:off x="4763506" y="4669193"/>
            <a:ext cx="84232" cy="292608"/>
          </a:xfrm>
          <a:prstGeom prst="straightConnector1">
            <a:avLst/>
          </a:prstGeom>
          <a:noFill/>
          <a:ln w="38100">
            <a:solidFill>
              <a:srgbClr val="7030A0"/>
            </a:solidFill>
            <a:prstDash val="solid"/>
            <a:round/>
            <a:headEnd type="none" w="sm" len="sm"/>
            <a:tailEnd type="none" w="sm" len="sm"/>
          </a:ln>
        </p:spPr>
      </p:cxnSp>
      <p:sp>
        <p:nvSpPr>
          <p:cNvPr id="4" name="3 CuadroTexto"/>
          <p:cNvSpPr txBox="1"/>
          <p:nvPr/>
        </p:nvSpPr>
        <p:spPr>
          <a:xfrm>
            <a:off x="2116656" y="3183429"/>
            <a:ext cx="512452" cy="369332"/>
          </a:xfrm>
          <a:prstGeom prst="rect">
            <a:avLst/>
          </a:prstGeom>
          <a:noFill/>
        </p:spPr>
        <p:txBody>
          <a:bodyPr wrap="square" rtlCol="0">
            <a:spAutoFit/>
          </a:bodyPr>
          <a:lstStyle/>
          <a:p>
            <a:r>
              <a:rPr lang="es-ES" dirty="0" err="1">
                <a:solidFill>
                  <a:srgbClr val="FF0000"/>
                </a:solidFill>
              </a:rPr>
              <a:t>X2</a:t>
            </a:r>
            <a:endParaRPr lang="es-PE" dirty="0">
              <a:solidFill>
                <a:srgbClr val="FF0000"/>
              </a:solidFill>
            </a:endParaRPr>
          </a:p>
        </p:txBody>
      </p:sp>
      <p:sp>
        <p:nvSpPr>
          <p:cNvPr id="23" name="22 CuadroTexto"/>
          <p:cNvSpPr txBox="1"/>
          <p:nvPr/>
        </p:nvSpPr>
        <p:spPr>
          <a:xfrm>
            <a:off x="5623938" y="6279724"/>
            <a:ext cx="512452" cy="369332"/>
          </a:xfrm>
          <a:prstGeom prst="rect">
            <a:avLst/>
          </a:prstGeom>
          <a:noFill/>
        </p:spPr>
        <p:txBody>
          <a:bodyPr wrap="square" rtlCol="0">
            <a:spAutoFit/>
          </a:bodyPr>
          <a:lstStyle/>
          <a:p>
            <a:r>
              <a:rPr lang="es-ES" dirty="0" err="1">
                <a:solidFill>
                  <a:srgbClr val="FF0000"/>
                </a:solidFill>
              </a:rPr>
              <a:t>X1</a:t>
            </a:r>
            <a:endParaRPr lang="es-PE" dirty="0">
              <a:solidFill>
                <a:srgbClr val="FF0000"/>
              </a:solidFill>
            </a:endParaRPr>
          </a:p>
        </p:txBody>
      </p:sp>
      <p:sp>
        <p:nvSpPr>
          <p:cNvPr id="6" name="5 CuadroTexto"/>
          <p:cNvSpPr txBox="1"/>
          <p:nvPr/>
        </p:nvSpPr>
        <p:spPr>
          <a:xfrm>
            <a:off x="2924060" y="6167712"/>
            <a:ext cx="3001824" cy="369332"/>
          </a:xfrm>
          <a:prstGeom prst="rect">
            <a:avLst/>
          </a:prstGeom>
          <a:noFill/>
        </p:spPr>
        <p:txBody>
          <a:bodyPr wrap="square" rtlCol="0">
            <a:spAutoFit/>
          </a:bodyPr>
          <a:lstStyle/>
          <a:p>
            <a:r>
              <a:rPr lang="es-ES" dirty="0"/>
              <a:t> 1      2     3      4     5        6,4 </a:t>
            </a:r>
            <a:endParaRPr lang="es-PE" dirty="0"/>
          </a:p>
        </p:txBody>
      </p:sp>
      <p:graphicFrame>
        <p:nvGraphicFramePr>
          <p:cNvPr id="24" name="23 Objeto"/>
          <p:cNvGraphicFramePr>
            <a:graphicFrameLocks noChangeAspect="1"/>
          </p:cNvGraphicFramePr>
          <p:nvPr/>
        </p:nvGraphicFramePr>
        <p:xfrm>
          <a:off x="6324097" y="1534596"/>
          <a:ext cx="3136024" cy="2959100"/>
        </p:xfrm>
        <a:graphic>
          <a:graphicData uri="http://schemas.openxmlformats.org/presentationml/2006/ole">
            <mc:AlternateContent xmlns:mc="http://schemas.openxmlformats.org/markup-compatibility/2006">
              <mc:Choice xmlns:v="urn:schemas-microsoft-com:vml" Requires="v">
                <p:oleObj name="Ecuación" r:id="rId3" imgW="1841400" imgH="2006280" progId="Equation.3">
                  <p:embed/>
                </p:oleObj>
              </mc:Choice>
              <mc:Fallback>
                <p:oleObj name="Ecuación" r:id="rId3" imgW="1841400" imgH="2006280" progId="Equation.3">
                  <p:embed/>
                  <p:pic>
                    <p:nvPicPr>
                      <p:cNvPr id="24" name="2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097" y="1534596"/>
                        <a:ext cx="3136024" cy="2959100"/>
                      </a:xfrm>
                      <a:prstGeom prst="rect">
                        <a:avLst/>
                      </a:prstGeom>
                      <a:noFill/>
                      <a:ln>
                        <a:noFill/>
                      </a:ln>
                    </p:spPr>
                  </p:pic>
                </p:oleObj>
              </mc:Fallback>
            </mc:AlternateContent>
          </a:graphicData>
        </a:graphic>
      </p:graphicFrame>
      <p:sp>
        <p:nvSpPr>
          <p:cNvPr id="25" name="Rectángulo 24">
            <a:extLst>
              <a:ext uri="{FF2B5EF4-FFF2-40B4-BE49-F238E27FC236}">
                <a16:creationId xmlns:a16="http://schemas.microsoft.com/office/drawing/2014/main" id="{FE1E2FCD-8020-4ECE-8B01-E9139B20CE1E}"/>
              </a:ext>
            </a:extLst>
          </p:cNvPr>
          <p:cNvSpPr/>
          <p:nvPr/>
        </p:nvSpPr>
        <p:spPr>
          <a:xfrm>
            <a:off x="530168" y="2072850"/>
            <a:ext cx="3767328" cy="1631216"/>
          </a:xfrm>
          <a:prstGeom prst="rect">
            <a:avLst/>
          </a:prstGeom>
          <a:solidFill>
            <a:srgbClr val="FFFF00"/>
          </a:solidFill>
        </p:spPr>
        <p:txBody>
          <a:bodyPr wrap="square">
            <a:spAutoFit/>
          </a:bodyPr>
          <a:lstStyle/>
          <a:p>
            <a:pPr lvl="0"/>
            <a:r>
              <a:rPr lang="es-MX" sz="2000" dirty="0"/>
              <a:t>MAX   -</a:t>
            </a:r>
            <a:r>
              <a:rPr lang="es-MX" sz="2000" dirty="0" err="1"/>
              <a:t>2X1</a:t>
            </a:r>
            <a:r>
              <a:rPr lang="es-MX" sz="2000" dirty="0"/>
              <a:t>  +  </a:t>
            </a:r>
            <a:r>
              <a:rPr lang="es-MX" sz="2000" dirty="0" err="1"/>
              <a:t>3X2</a:t>
            </a:r>
            <a:endParaRPr lang="es-MX" sz="2000" dirty="0"/>
          </a:p>
          <a:p>
            <a:pPr lvl="0"/>
            <a:r>
              <a:rPr lang="es-ES" sz="2000" dirty="0"/>
              <a:t>SUJETO A</a:t>
            </a:r>
          </a:p>
          <a:p>
            <a:pPr lvl="0"/>
            <a:r>
              <a:rPr lang="es-PE" sz="2000" dirty="0" err="1"/>
              <a:t>7X1</a:t>
            </a:r>
            <a:r>
              <a:rPr lang="es-PE" sz="2000" dirty="0"/>
              <a:t> + </a:t>
            </a:r>
            <a:r>
              <a:rPr lang="es-PE" sz="2000" dirty="0" err="1"/>
              <a:t>24X2</a:t>
            </a:r>
            <a:r>
              <a:rPr lang="es-PE" sz="2000" dirty="0"/>
              <a:t> ≤ 45</a:t>
            </a:r>
          </a:p>
          <a:p>
            <a:pPr lvl="0"/>
            <a:r>
              <a:rPr lang="es-PE" sz="2000" dirty="0"/>
              <a:t>-</a:t>
            </a:r>
            <a:r>
              <a:rPr lang="es-PE" sz="2000" dirty="0" err="1"/>
              <a:t>X1</a:t>
            </a:r>
            <a:r>
              <a:rPr lang="es-PE" sz="2000" dirty="0"/>
              <a:t>  + </a:t>
            </a:r>
            <a:r>
              <a:rPr lang="es-PE" sz="2000" dirty="0" err="1"/>
              <a:t>4X2</a:t>
            </a:r>
            <a:r>
              <a:rPr lang="es-PE" sz="2000" dirty="0"/>
              <a:t>   ≥   5</a:t>
            </a:r>
          </a:p>
          <a:p>
            <a:pPr lvl="0"/>
            <a:r>
              <a:rPr lang="es-MX" sz="2000" dirty="0" err="1"/>
              <a:t>X1</a:t>
            </a:r>
            <a:r>
              <a:rPr lang="es-MX" sz="2000" dirty="0"/>
              <a:t> ,    </a:t>
            </a:r>
            <a:r>
              <a:rPr lang="es-MX" sz="2000" dirty="0" err="1"/>
              <a:t>X2</a:t>
            </a:r>
            <a:r>
              <a:rPr lang="es-MX" sz="2000" dirty="0"/>
              <a:t>    ≥   0 ,	</a:t>
            </a:r>
            <a:r>
              <a:rPr lang="es-MX" sz="2000" dirty="0">
                <a:solidFill>
                  <a:srgbClr val="FF0000"/>
                </a:solidFill>
              </a:rPr>
              <a:t>Enteras </a:t>
            </a:r>
            <a:endParaRPr lang="es-PE" sz="2000" dirty="0">
              <a:solidFill>
                <a:srgbClr val="FF0000"/>
              </a:solidFill>
            </a:endParaRPr>
          </a:p>
        </p:txBody>
      </p:sp>
      <p:graphicFrame>
        <p:nvGraphicFramePr>
          <p:cNvPr id="30" name="1 Marcador de contenido">
            <a:extLst>
              <a:ext uri="{FF2B5EF4-FFF2-40B4-BE49-F238E27FC236}">
                <a16:creationId xmlns:a16="http://schemas.microsoft.com/office/drawing/2014/main" id="{BED6D0D4-DD4D-4B5C-A737-FC0D91306C68}"/>
              </a:ext>
            </a:extLst>
          </p:cNvPr>
          <p:cNvGraphicFramePr>
            <a:graphicFrameLocks noGrp="1"/>
          </p:cNvGraphicFramePr>
          <p:nvPr>
            <p:ph idx="1"/>
            <p:extLst>
              <p:ext uri="{D42A27DB-BD31-4B8C-83A1-F6EECF244321}">
                <p14:modId xmlns:p14="http://schemas.microsoft.com/office/powerpoint/2010/main" val="1581512816"/>
              </p:ext>
            </p:extLst>
          </p:nvPr>
        </p:nvGraphicFramePr>
        <p:xfrm>
          <a:off x="9848088" y="1973347"/>
          <a:ext cx="2343912" cy="245059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31" name="Rectangle 2">
            <a:extLst>
              <a:ext uri="{FF2B5EF4-FFF2-40B4-BE49-F238E27FC236}">
                <a16:creationId xmlns:a16="http://schemas.microsoft.com/office/drawing/2014/main" id="{72466278-111C-459E-9A59-1A7521ADC3C5}"/>
              </a:ext>
            </a:extLst>
          </p:cNvPr>
          <p:cNvSpPr>
            <a:spLocks noChangeArrowheads="1"/>
          </p:cNvSpPr>
          <p:nvPr/>
        </p:nvSpPr>
        <p:spPr bwMode="auto">
          <a:xfrm>
            <a:off x="9917387" y="4574937"/>
            <a:ext cx="2274613" cy="1569660"/>
          </a:xfrm>
          <a:prstGeom prst="rect">
            <a:avLst/>
          </a:prstGeom>
          <a:solidFill>
            <a:schemeClr val="accent1">
              <a:lumMod val="60000"/>
              <a:lumOff val="40000"/>
            </a:schemeClr>
          </a:solidFill>
          <a:ln w="9525">
            <a:noFill/>
            <a:miter lim="800000"/>
            <a:headEnd/>
            <a:tailEnd/>
          </a:ln>
        </p:spPr>
        <p:txBody>
          <a:bodyPr wrap="square" anchor="ctr">
            <a:spAutoFit/>
          </a:bodyPr>
          <a:lstStyle/>
          <a:p>
            <a:pPr>
              <a:tabLst>
                <a:tab pos="809625" algn="l"/>
              </a:tabLst>
            </a:pPr>
            <a:r>
              <a:rPr lang="es-MX" sz="3200" b="1" dirty="0">
                <a:latin typeface="Arial Narrow" pitchFamily="34" charset="0"/>
                <a:ea typeface="MS Mincho" pitchFamily="49" charset="-128"/>
                <a:cs typeface="Arial" charset="0"/>
              </a:rPr>
              <a:t>No </a:t>
            </a:r>
            <a:r>
              <a:rPr lang="es-MX" sz="3200" b="1" dirty="0" err="1">
                <a:latin typeface="Arial Narrow" pitchFamily="34" charset="0"/>
                <a:ea typeface="MS Mincho" pitchFamily="49" charset="-128"/>
                <a:cs typeface="Arial" charset="0"/>
              </a:rPr>
              <a:t>integer</a:t>
            </a:r>
            <a:r>
              <a:rPr lang="es-MX" sz="3200" b="1" dirty="0">
                <a:latin typeface="Arial Narrow" pitchFamily="34" charset="0"/>
                <a:ea typeface="MS Mincho" pitchFamily="49" charset="-128"/>
                <a:cs typeface="Arial" charset="0"/>
              </a:rPr>
              <a:t> </a:t>
            </a:r>
            <a:r>
              <a:rPr lang="es-MX" sz="3200" b="1" dirty="0" err="1">
                <a:latin typeface="Arial Narrow" pitchFamily="34" charset="0"/>
                <a:ea typeface="MS Mincho" pitchFamily="49" charset="-128"/>
                <a:cs typeface="Arial" charset="0"/>
              </a:rPr>
              <a:t>solution</a:t>
            </a:r>
            <a:r>
              <a:rPr lang="es-MX" sz="3200" b="1" dirty="0">
                <a:latin typeface="Arial Narrow" pitchFamily="34" charset="0"/>
                <a:ea typeface="MS Mincho" pitchFamily="49" charset="-128"/>
                <a:cs typeface="Arial" charset="0"/>
              </a:rPr>
              <a:t> </a:t>
            </a:r>
            <a:r>
              <a:rPr lang="es-MX" sz="3200" b="1" dirty="0" err="1">
                <a:latin typeface="Arial Narrow" pitchFamily="34" charset="0"/>
                <a:ea typeface="MS Mincho" pitchFamily="49" charset="-128"/>
                <a:cs typeface="Arial" charset="0"/>
              </a:rPr>
              <a:t>was</a:t>
            </a:r>
            <a:r>
              <a:rPr lang="es-MX" sz="3200" b="1" dirty="0">
                <a:latin typeface="Arial Narrow" pitchFamily="34" charset="0"/>
                <a:ea typeface="MS Mincho" pitchFamily="49" charset="-128"/>
                <a:cs typeface="Arial" charset="0"/>
              </a:rPr>
              <a:t> </a:t>
            </a:r>
            <a:r>
              <a:rPr lang="es-MX" sz="3200" b="1" dirty="0" err="1">
                <a:latin typeface="Arial Narrow" pitchFamily="34" charset="0"/>
                <a:ea typeface="MS Mincho" pitchFamily="49" charset="-128"/>
                <a:cs typeface="Arial" charset="0"/>
              </a:rPr>
              <a:t>found</a:t>
            </a:r>
            <a:endParaRPr lang="es-PE" sz="3200" b="1" dirty="0">
              <a:latin typeface="Arial Narrow" pitchFamily="34" charset="0"/>
              <a:ea typeface="MS Mincho" pitchFamily="49" charset="-128"/>
              <a:cs typeface="Arial" charset="0"/>
            </a:endParaRPr>
          </a:p>
        </p:txBody>
      </p:sp>
      <p:sp>
        <p:nvSpPr>
          <p:cNvPr id="26" name="Rectangle 2">
            <a:extLst>
              <a:ext uri="{FF2B5EF4-FFF2-40B4-BE49-F238E27FC236}">
                <a16:creationId xmlns:a16="http://schemas.microsoft.com/office/drawing/2014/main" id="{4147CA5B-A07D-4BFD-B135-9792E6349853}"/>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3</a:t>
            </a:r>
          </a:p>
        </p:txBody>
      </p:sp>
      <p:sp>
        <p:nvSpPr>
          <p:cNvPr id="27" name="CuadroTexto 26">
            <a:extLst>
              <a:ext uri="{FF2B5EF4-FFF2-40B4-BE49-F238E27FC236}">
                <a16:creationId xmlns:a16="http://schemas.microsoft.com/office/drawing/2014/main" id="{EEC31A64-8853-474D-8ACD-AD404CCD104D}"/>
              </a:ext>
            </a:extLst>
          </p:cNvPr>
          <p:cNvSpPr txBox="1"/>
          <p:nvPr/>
        </p:nvSpPr>
        <p:spPr>
          <a:xfrm>
            <a:off x="314611" y="1341464"/>
            <a:ext cx="4718649" cy="461665"/>
          </a:xfrm>
          <a:prstGeom prst="rect">
            <a:avLst/>
          </a:prstGeom>
          <a:noFill/>
        </p:spPr>
        <p:txBody>
          <a:bodyPr wrap="square" rtlCol="0">
            <a:spAutoFit/>
          </a:bodyPr>
          <a:lstStyle/>
          <a:p>
            <a:r>
              <a:rPr lang="es-ES" sz="2400" dirty="0">
                <a:latin typeface="Arial Narrow" panose="020B0606020202030204" pitchFamily="34" charset="0"/>
              </a:rPr>
              <a:t>Resolver usando el método gráfico.</a:t>
            </a:r>
            <a:endParaRPr lang="es-PE" sz="2400" dirty="0">
              <a:solidFill>
                <a:srgbClr val="FF0000"/>
              </a:solidFill>
              <a:latin typeface="Arial Narrow" panose="020B0606020202030204" pitchFamily="34" charset="0"/>
            </a:endParaRPr>
          </a:p>
        </p:txBody>
      </p:sp>
    </p:spTree>
    <p:extLst>
      <p:ext uri="{BB962C8B-B14F-4D97-AF65-F5344CB8AC3E}">
        <p14:creationId xmlns:p14="http://schemas.microsoft.com/office/powerpoint/2010/main" val="14958041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p:bldP spid="15364" grpId="0" animBg="1"/>
      <p:bldGraphic spid="30" grpId="0">
        <p:bldAsOne/>
      </p:bldGraphic>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 name="6 Tabla">
            <a:extLst>
              <a:ext uri="{FF2B5EF4-FFF2-40B4-BE49-F238E27FC236}">
                <a16:creationId xmlns:a16="http://schemas.microsoft.com/office/drawing/2014/main" id="{C110A6AE-25A9-4D90-B93D-F87C9B3BAD1D}"/>
              </a:ext>
            </a:extLst>
          </p:cNvPr>
          <p:cNvGraphicFramePr>
            <a:graphicFrameLocks noGrp="1"/>
          </p:cNvGraphicFramePr>
          <p:nvPr>
            <p:extLst>
              <p:ext uri="{D42A27DB-BD31-4B8C-83A1-F6EECF244321}">
                <p14:modId xmlns:p14="http://schemas.microsoft.com/office/powerpoint/2010/main" val="4107932726"/>
              </p:ext>
            </p:extLst>
          </p:nvPr>
        </p:nvGraphicFramePr>
        <p:xfrm>
          <a:off x="816283" y="1696836"/>
          <a:ext cx="4800599" cy="2396886"/>
        </p:xfrm>
        <a:graphic>
          <a:graphicData uri="http://schemas.openxmlformats.org/drawingml/2006/table">
            <a:tbl>
              <a:tblPr firstRow="1" bandRow="1">
                <a:tableStyleId>{00A15C55-8517-42AA-B614-E9B94910E393}</a:tableStyleId>
              </a:tblPr>
              <a:tblGrid>
                <a:gridCol w="400050">
                  <a:extLst>
                    <a:ext uri="{9D8B030D-6E8A-4147-A177-3AD203B41FA5}">
                      <a16:colId xmlns:a16="http://schemas.microsoft.com/office/drawing/2014/main" val="20000"/>
                    </a:ext>
                  </a:extLst>
                </a:gridCol>
                <a:gridCol w="386073">
                  <a:extLst>
                    <a:ext uri="{9D8B030D-6E8A-4147-A177-3AD203B41FA5}">
                      <a16:colId xmlns:a16="http://schemas.microsoft.com/office/drawing/2014/main" val="20001"/>
                    </a:ext>
                  </a:extLst>
                </a:gridCol>
                <a:gridCol w="414026">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gridCol w="400050">
                  <a:extLst>
                    <a:ext uri="{9D8B030D-6E8A-4147-A177-3AD203B41FA5}">
                      <a16:colId xmlns:a16="http://schemas.microsoft.com/office/drawing/2014/main" val="20004"/>
                    </a:ext>
                  </a:extLst>
                </a:gridCol>
                <a:gridCol w="400050">
                  <a:extLst>
                    <a:ext uri="{9D8B030D-6E8A-4147-A177-3AD203B41FA5}">
                      <a16:colId xmlns:a16="http://schemas.microsoft.com/office/drawing/2014/main" val="20005"/>
                    </a:ext>
                  </a:extLst>
                </a:gridCol>
                <a:gridCol w="400050">
                  <a:extLst>
                    <a:ext uri="{9D8B030D-6E8A-4147-A177-3AD203B41FA5}">
                      <a16:colId xmlns:a16="http://schemas.microsoft.com/office/drawing/2014/main" val="20006"/>
                    </a:ext>
                  </a:extLst>
                </a:gridCol>
                <a:gridCol w="400050">
                  <a:extLst>
                    <a:ext uri="{9D8B030D-6E8A-4147-A177-3AD203B41FA5}">
                      <a16:colId xmlns:a16="http://schemas.microsoft.com/office/drawing/2014/main" val="20007"/>
                    </a:ext>
                  </a:extLst>
                </a:gridCol>
                <a:gridCol w="400050">
                  <a:extLst>
                    <a:ext uri="{9D8B030D-6E8A-4147-A177-3AD203B41FA5}">
                      <a16:colId xmlns:a16="http://schemas.microsoft.com/office/drawing/2014/main" val="20008"/>
                    </a:ext>
                  </a:extLst>
                </a:gridCol>
                <a:gridCol w="400050">
                  <a:extLst>
                    <a:ext uri="{9D8B030D-6E8A-4147-A177-3AD203B41FA5}">
                      <a16:colId xmlns:a16="http://schemas.microsoft.com/office/drawing/2014/main" val="20009"/>
                    </a:ext>
                  </a:extLst>
                </a:gridCol>
                <a:gridCol w="400050">
                  <a:extLst>
                    <a:ext uri="{9D8B030D-6E8A-4147-A177-3AD203B41FA5}">
                      <a16:colId xmlns:a16="http://schemas.microsoft.com/office/drawing/2014/main" val="20010"/>
                    </a:ext>
                  </a:extLst>
                </a:gridCol>
                <a:gridCol w="400050">
                  <a:extLst>
                    <a:ext uri="{9D8B030D-6E8A-4147-A177-3AD203B41FA5}">
                      <a16:colId xmlns:a16="http://schemas.microsoft.com/office/drawing/2014/main" val="20011"/>
                    </a:ext>
                  </a:extLst>
                </a:gridCol>
              </a:tblGrid>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399481">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399481">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43" name="6 Tabla">
            <a:extLst>
              <a:ext uri="{FF2B5EF4-FFF2-40B4-BE49-F238E27FC236}">
                <a16:creationId xmlns:a16="http://schemas.microsoft.com/office/drawing/2014/main" id="{44A9D469-91A8-4B6C-9288-209571A95676}"/>
              </a:ext>
            </a:extLst>
          </p:cNvPr>
          <p:cNvGraphicFramePr>
            <a:graphicFrameLocks noGrp="1"/>
          </p:cNvGraphicFramePr>
          <p:nvPr>
            <p:extLst>
              <p:ext uri="{D42A27DB-BD31-4B8C-83A1-F6EECF244321}">
                <p14:modId xmlns:p14="http://schemas.microsoft.com/office/powerpoint/2010/main" val="4031047752"/>
              </p:ext>
            </p:extLst>
          </p:nvPr>
        </p:nvGraphicFramePr>
        <p:xfrm>
          <a:off x="819151" y="4089231"/>
          <a:ext cx="4800599" cy="2396886"/>
        </p:xfrm>
        <a:graphic>
          <a:graphicData uri="http://schemas.openxmlformats.org/drawingml/2006/table">
            <a:tbl>
              <a:tblPr firstRow="1" bandRow="1">
                <a:tableStyleId>{00A15C55-8517-42AA-B614-E9B94910E393}</a:tableStyleId>
              </a:tblPr>
              <a:tblGrid>
                <a:gridCol w="400050">
                  <a:extLst>
                    <a:ext uri="{9D8B030D-6E8A-4147-A177-3AD203B41FA5}">
                      <a16:colId xmlns:a16="http://schemas.microsoft.com/office/drawing/2014/main" val="20000"/>
                    </a:ext>
                  </a:extLst>
                </a:gridCol>
                <a:gridCol w="386073">
                  <a:extLst>
                    <a:ext uri="{9D8B030D-6E8A-4147-A177-3AD203B41FA5}">
                      <a16:colId xmlns:a16="http://schemas.microsoft.com/office/drawing/2014/main" val="20001"/>
                    </a:ext>
                  </a:extLst>
                </a:gridCol>
                <a:gridCol w="414026">
                  <a:extLst>
                    <a:ext uri="{9D8B030D-6E8A-4147-A177-3AD203B41FA5}">
                      <a16:colId xmlns:a16="http://schemas.microsoft.com/office/drawing/2014/main" val="20002"/>
                    </a:ext>
                  </a:extLst>
                </a:gridCol>
                <a:gridCol w="400050">
                  <a:extLst>
                    <a:ext uri="{9D8B030D-6E8A-4147-A177-3AD203B41FA5}">
                      <a16:colId xmlns:a16="http://schemas.microsoft.com/office/drawing/2014/main" val="20003"/>
                    </a:ext>
                  </a:extLst>
                </a:gridCol>
                <a:gridCol w="400050">
                  <a:extLst>
                    <a:ext uri="{9D8B030D-6E8A-4147-A177-3AD203B41FA5}">
                      <a16:colId xmlns:a16="http://schemas.microsoft.com/office/drawing/2014/main" val="20004"/>
                    </a:ext>
                  </a:extLst>
                </a:gridCol>
                <a:gridCol w="400050">
                  <a:extLst>
                    <a:ext uri="{9D8B030D-6E8A-4147-A177-3AD203B41FA5}">
                      <a16:colId xmlns:a16="http://schemas.microsoft.com/office/drawing/2014/main" val="20005"/>
                    </a:ext>
                  </a:extLst>
                </a:gridCol>
                <a:gridCol w="400050">
                  <a:extLst>
                    <a:ext uri="{9D8B030D-6E8A-4147-A177-3AD203B41FA5}">
                      <a16:colId xmlns:a16="http://schemas.microsoft.com/office/drawing/2014/main" val="20006"/>
                    </a:ext>
                  </a:extLst>
                </a:gridCol>
                <a:gridCol w="400050">
                  <a:extLst>
                    <a:ext uri="{9D8B030D-6E8A-4147-A177-3AD203B41FA5}">
                      <a16:colId xmlns:a16="http://schemas.microsoft.com/office/drawing/2014/main" val="20007"/>
                    </a:ext>
                  </a:extLst>
                </a:gridCol>
                <a:gridCol w="400050">
                  <a:extLst>
                    <a:ext uri="{9D8B030D-6E8A-4147-A177-3AD203B41FA5}">
                      <a16:colId xmlns:a16="http://schemas.microsoft.com/office/drawing/2014/main" val="20008"/>
                    </a:ext>
                  </a:extLst>
                </a:gridCol>
                <a:gridCol w="400050">
                  <a:extLst>
                    <a:ext uri="{9D8B030D-6E8A-4147-A177-3AD203B41FA5}">
                      <a16:colId xmlns:a16="http://schemas.microsoft.com/office/drawing/2014/main" val="20009"/>
                    </a:ext>
                  </a:extLst>
                </a:gridCol>
                <a:gridCol w="400050">
                  <a:extLst>
                    <a:ext uri="{9D8B030D-6E8A-4147-A177-3AD203B41FA5}">
                      <a16:colId xmlns:a16="http://schemas.microsoft.com/office/drawing/2014/main" val="20010"/>
                    </a:ext>
                  </a:extLst>
                </a:gridCol>
                <a:gridCol w="400050">
                  <a:extLst>
                    <a:ext uri="{9D8B030D-6E8A-4147-A177-3AD203B41FA5}">
                      <a16:colId xmlns:a16="http://schemas.microsoft.com/office/drawing/2014/main" val="20011"/>
                    </a:ext>
                  </a:extLst>
                </a:gridCol>
              </a:tblGrid>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399481">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399481">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399481">
                <a:tc>
                  <a:txBody>
                    <a:bodyPr/>
                    <a:lstStyle/>
                    <a:p>
                      <a:endParaRPr lang="es-PE">
                        <a:solidFill>
                          <a:srgbClr val="FF0000"/>
                        </a:solidFill>
                      </a:endParaRPr>
                    </a:p>
                  </a:txBody>
                  <a:tcPr>
                    <a:solidFill>
                      <a:schemeClr val="accent1">
                        <a:lumMod val="40000"/>
                        <a:lumOff val="60000"/>
                      </a:schemeClr>
                    </a:solidFill>
                  </a:tcPr>
                </a:tc>
                <a:tc>
                  <a:txBody>
                    <a:bodyPr/>
                    <a:lstStyle/>
                    <a:p>
                      <a:endParaRPr lang="es-PE">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tc>
                  <a:txBody>
                    <a:bodyPr/>
                    <a:lstStyle/>
                    <a:p>
                      <a:endParaRPr lang="es-PE"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4101" name="Rectangle 2"/>
          <p:cNvSpPr>
            <a:spLocks noChangeArrowheads="1"/>
          </p:cNvSpPr>
          <p:nvPr/>
        </p:nvSpPr>
        <p:spPr bwMode="auto">
          <a:xfrm>
            <a:off x="1533526" y="1204494"/>
            <a:ext cx="184731" cy="369332"/>
          </a:xfrm>
          <a:prstGeom prst="rect">
            <a:avLst/>
          </a:prstGeom>
          <a:noFill/>
          <a:ln w="9525">
            <a:noFill/>
            <a:miter lim="800000"/>
            <a:headEnd/>
            <a:tailEnd/>
          </a:ln>
        </p:spPr>
        <p:txBody>
          <a:bodyPr wrap="none" anchor="ctr">
            <a:spAutoFit/>
          </a:bodyPr>
          <a:lstStyle/>
          <a:p>
            <a:endParaRPr lang="es-PE"/>
          </a:p>
        </p:txBody>
      </p:sp>
      <p:sp>
        <p:nvSpPr>
          <p:cNvPr id="2" name="1 Elipse"/>
          <p:cNvSpPr/>
          <p:nvPr/>
        </p:nvSpPr>
        <p:spPr>
          <a:xfrm>
            <a:off x="2820054" y="6433345"/>
            <a:ext cx="45719" cy="4914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 name="6 Elipse"/>
          <p:cNvSpPr/>
          <p:nvPr/>
        </p:nvSpPr>
        <p:spPr>
          <a:xfrm>
            <a:off x="3182194" y="5673022"/>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7 Elipse"/>
          <p:cNvSpPr/>
          <p:nvPr/>
        </p:nvSpPr>
        <p:spPr>
          <a:xfrm>
            <a:off x="3182194" y="6060309"/>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 name="8 Elipse"/>
          <p:cNvSpPr/>
          <p:nvPr/>
        </p:nvSpPr>
        <p:spPr>
          <a:xfrm>
            <a:off x="3600523" y="6448203"/>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0" name="9 Elipse"/>
          <p:cNvSpPr/>
          <p:nvPr/>
        </p:nvSpPr>
        <p:spPr>
          <a:xfrm>
            <a:off x="3182194" y="6447676"/>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10 Elipse"/>
          <p:cNvSpPr/>
          <p:nvPr/>
        </p:nvSpPr>
        <p:spPr>
          <a:xfrm>
            <a:off x="2820055" y="4886178"/>
            <a:ext cx="45719" cy="5157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2" name="11 Elipse"/>
          <p:cNvSpPr/>
          <p:nvPr/>
        </p:nvSpPr>
        <p:spPr>
          <a:xfrm>
            <a:off x="2821344" y="5281832"/>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3" name="12 Elipse"/>
          <p:cNvSpPr/>
          <p:nvPr/>
        </p:nvSpPr>
        <p:spPr>
          <a:xfrm>
            <a:off x="2816458" y="6053310"/>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4" name="13 Elipse"/>
          <p:cNvSpPr/>
          <p:nvPr/>
        </p:nvSpPr>
        <p:spPr>
          <a:xfrm>
            <a:off x="2814835" y="5675140"/>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15 Elipse"/>
          <p:cNvSpPr/>
          <p:nvPr/>
        </p:nvSpPr>
        <p:spPr>
          <a:xfrm flipH="1" flipV="1">
            <a:off x="3180868" y="5270540"/>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16 Elipse"/>
          <p:cNvSpPr/>
          <p:nvPr/>
        </p:nvSpPr>
        <p:spPr>
          <a:xfrm flipV="1">
            <a:off x="4008150" y="6456271"/>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17 Elipse"/>
          <p:cNvSpPr/>
          <p:nvPr/>
        </p:nvSpPr>
        <p:spPr>
          <a:xfrm>
            <a:off x="3180173" y="4883301"/>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2 CuadroTexto"/>
          <p:cNvSpPr txBox="1"/>
          <p:nvPr/>
        </p:nvSpPr>
        <p:spPr>
          <a:xfrm>
            <a:off x="2939453" y="6531206"/>
            <a:ext cx="2685259" cy="461665"/>
          </a:xfrm>
          <a:prstGeom prst="rect">
            <a:avLst/>
          </a:prstGeom>
          <a:noFill/>
        </p:spPr>
        <p:txBody>
          <a:bodyPr wrap="square" rtlCol="0">
            <a:spAutoFit/>
          </a:bodyPr>
          <a:lstStyle/>
          <a:p>
            <a:r>
              <a:rPr lang="es-PE" sz="2400" dirty="0"/>
              <a:t>  1   2    3   4    5   6</a:t>
            </a:r>
          </a:p>
        </p:txBody>
      </p:sp>
      <p:sp>
        <p:nvSpPr>
          <p:cNvPr id="5" name="4 CuadroTexto"/>
          <p:cNvSpPr txBox="1"/>
          <p:nvPr/>
        </p:nvSpPr>
        <p:spPr>
          <a:xfrm>
            <a:off x="2441274" y="3907751"/>
            <a:ext cx="146649" cy="2308324"/>
          </a:xfrm>
          <a:prstGeom prst="rect">
            <a:avLst/>
          </a:prstGeom>
          <a:noFill/>
        </p:spPr>
        <p:txBody>
          <a:bodyPr wrap="square" rtlCol="0">
            <a:spAutoFit/>
          </a:bodyPr>
          <a:lstStyle/>
          <a:p>
            <a:r>
              <a:rPr lang="es-PE" sz="2400" dirty="0"/>
              <a:t>6</a:t>
            </a:r>
          </a:p>
          <a:p>
            <a:r>
              <a:rPr lang="es-PE" sz="2400" dirty="0"/>
              <a:t>5</a:t>
            </a:r>
          </a:p>
          <a:p>
            <a:r>
              <a:rPr lang="es-PE" sz="2400" dirty="0"/>
              <a:t>4</a:t>
            </a:r>
          </a:p>
          <a:p>
            <a:r>
              <a:rPr lang="es-PE" sz="2400" dirty="0"/>
              <a:t>3</a:t>
            </a:r>
          </a:p>
          <a:p>
            <a:r>
              <a:rPr lang="es-PE" sz="2400" dirty="0"/>
              <a:t>2</a:t>
            </a:r>
          </a:p>
          <a:p>
            <a:r>
              <a:rPr lang="es-PE" sz="2400" dirty="0"/>
              <a:t>1</a:t>
            </a:r>
          </a:p>
        </p:txBody>
      </p:sp>
      <p:sp>
        <p:nvSpPr>
          <p:cNvPr id="22" name="21 CuadroTexto"/>
          <p:cNvSpPr txBox="1"/>
          <p:nvPr/>
        </p:nvSpPr>
        <p:spPr>
          <a:xfrm>
            <a:off x="6254636" y="1226631"/>
            <a:ext cx="2906617" cy="1200329"/>
          </a:xfrm>
          <a:prstGeom prst="rect">
            <a:avLst/>
          </a:prstGeom>
          <a:solidFill>
            <a:schemeClr val="accent1">
              <a:lumMod val="40000"/>
              <a:lumOff val="60000"/>
            </a:schemeClr>
          </a:solidFill>
        </p:spPr>
        <p:txBody>
          <a:bodyPr wrap="square" rtlCol="0">
            <a:spAutoFit/>
          </a:bodyPr>
          <a:lstStyle/>
          <a:p>
            <a:r>
              <a:rPr lang="es-ES" dirty="0"/>
              <a:t>i) Graficando las restricciones</a:t>
            </a:r>
          </a:p>
          <a:p>
            <a:r>
              <a:rPr lang="es-ES" dirty="0" err="1"/>
              <a:t>30X1+8X2</a:t>
            </a:r>
            <a:r>
              <a:rPr lang="es-ES" dirty="0"/>
              <a:t>=105</a:t>
            </a:r>
          </a:p>
          <a:p>
            <a:r>
              <a:rPr lang="es-ES" dirty="0"/>
              <a:t>Si </a:t>
            </a:r>
            <a:r>
              <a:rPr lang="es-ES" dirty="0" err="1"/>
              <a:t>X1</a:t>
            </a:r>
            <a:r>
              <a:rPr lang="es-ES" dirty="0"/>
              <a:t>=</a:t>
            </a:r>
            <a:r>
              <a:rPr lang="es-ES" dirty="0" err="1"/>
              <a:t>0</a:t>
            </a:r>
            <a:r>
              <a:rPr lang="es-ES" dirty="0" err="1">
                <a:sym typeface="Wingdings" pitchFamily="2" charset="2"/>
              </a:rPr>
              <a:t>X2</a:t>
            </a:r>
            <a:r>
              <a:rPr lang="es-ES" dirty="0">
                <a:sym typeface="Wingdings" pitchFamily="2" charset="2"/>
              </a:rPr>
              <a:t>=13,13</a:t>
            </a:r>
          </a:p>
          <a:p>
            <a:r>
              <a:rPr lang="es-ES" dirty="0">
                <a:sym typeface="Wingdings" pitchFamily="2" charset="2"/>
              </a:rPr>
              <a:t>Si </a:t>
            </a:r>
            <a:r>
              <a:rPr lang="es-ES" dirty="0" err="1">
                <a:sym typeface="Wingdings" pitchFamily="2" charset="2"/>
              </a:rPr>
              <a:t>X2</a:t>
            </a:r>
            <a:r>
              <a:rPr lang="es-ES" dirty="0">
                <a:sym typeface="Wingdings" pitchFamily="2" charset="2"/>
              </a:rPr>
              <a:t>=</a:t>
            </a:r>
            <a:r>
              <a:rPr lang="es-ES" dirty="0" err="1">
                <a:sym typeface="Wingdings" pitchFamily="2" charset="2"/>
              </a:rPr>
              <a:t>0X1</a:t>
            </a:r>
            <a:r>
              <a:rPr lang="es-ES" dirty="0">
                <a:sym typeface="Wingdings" pitchFamily="2" charset="2"/>
              </a:rPr>
              <a:t>=3,5</a:t>
            </a:r>
            <a:endParaRPr lang="es-PE" dirty="0"/>
          </a:p>
        </p:txBody>
      </p:sp>
      <p:cxnSp>
        <p:nvCxnSpPr>
          <p:cNvPr id="15" name="14 Conector recto de flecha"/>
          <p:cNvCxnSpPr>
            <a:cxnSpLocks/>
          </p:cNvCxnSpPr>
          <p:nvPr/>
        </p:nvCxnSpPr>
        <p:spPr>
          <a:xfrm flipV="1">
            <a:off x="2828027" y="491706"/>
            <a:ext cx="0" cy="629726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p:cNvCxnSpPr>
            <a:cxnSpLocks/>
          </p:cNvCxnSpPr>
          <p:nvPr/>
        </p:nvCxnSpPr>
        <p:spPr>
          <a:xfrm flipH="1" flipV="1">
            <a:off x="2803585" y="1276709"/>
            <a:ext cx="1521628" cy="5716162"/>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sp>
        <p:nvSpPr>
          <p:cNvPr id="24" name="23 CuadroTexto"/>
          <p:cNvSpPr txBox="1"/>
          <p:nvPr/>
        </p:nvSpPr>
        <p:spPr>
          <a:xfrm>
            <a:off x="2239439" y="1187869"/>
            <a:ext cx="722415" cy="369332"/>
          </a:xfrm>
          <a:prstGeom prst="rect">
            <a:avLst/>
          </a:prstGeom>
          <a:noFill/>
        </p:spPr>
        <p:txBody>
          <a:bodyPr wrap="square" rtlCol="0">
            <a:spAutoFit/>
          </a:bodyPr>
          <a:lstStyle/>
          <a:p>
            <a:r>
              <a:rPr lang="es-ES" dirty="0"/>
              <a:t>13.13</a:t>
            </a:r>
            <a:endParaRPr lang="es-PE" dirty="0"/>
          </a:p>
        </p:txBody>
      </p:sp>
      <p:sp>
        <p:nvSpPr>
          <p:cNvPr id="4" name="3 CuadroTexto"/>
          <p:cNvSpPr txBox="1"/>
          <p:nvPr/>
        </p:nvSpPr>
        <p:spPr>
          <a:xfrm>
            <a:off x="6260056" y="3570286"/>
            <a:ext cx="2909372" cy="1200329"/>
          </a:xfrm>
          <a:prstGeom prst="rect">
            <a:avLst/>
          </a:prstGeom>
          <a:solidFill>
            <a:schemeClr val="accent1">
              <a:lumMod val="40000"/>
              <a:lumOff val="60000"/>
            </a:schemeClr>
          </a:solidFill>
        </p:spPr>
        <p:txBody>
          <a:bodyPr wrap="square" rtlCol="0">
            <a:spAutoFit/>
          </a:bodyPr>
          <a:lstStyle/>
          <a:p>
            <a:r>
              <a:rPr lang="es-ES" dirty="0" err="1"/>
              <a:t>iii</a:t>
            </a:r>
            <a:r>
              <a:rPr lang="es-ES" dirty="0"/>
              <a:t>) Graficando la </a:t>
            </a:r>
            <a:r>
              <a:rPr lang="es-ES" dirty="0" err="1"/>
              <a:t>F.O</a:t>
            </a:r>
            <a:endParaRPr lang="es-ES" dirty="0"/>
          </a:p>
          <a:p>
            <a:r>
              <a:rPr lang="es-ES" dirty="0" err="1"/>
              <a:t>12X1+4X2</a:t>
            </a:r>
            <a:r>
              <a:rPr lang="es-ES" dirty="0"/>
              <a:t>=</a:t>
            </a:r>
            <a:r>
              <a:rPr lang="es-ES" dirty="0">
                <a:solidFill>
                  <a:srgbClr val="FF0000"/>
                </a:solidFill>
              </a:rPr>
              <a:t>12</a:t>
            </a:r>
          </a:p>
          <a:p>
            <a:r>
              <a:rPr lang="es-ES" dirty="0"/>
              <a:t>Si </a:t>
            </a:r>
            <a:r>
              <a:rPr lang="es-ES" dirty="0" err="1"/>
              <a:t>X1</a:t>
            </a:r>
            <a:r>
              <a:rPr lang="es-ES" dirty="0"/>
              <a:t>=0  </a:t>
            </a:r>
            <a:r>
              <a:rPr lang="es-ES" dirty="0">
                <a:sym typeface="Wingdings" pitchFamily="2" charset="2"/>
              </a:rPr>
              <a:t></a:t>
            </a:r>
            <a:r>
              <a:rPr lang="es-ES" dirty="0" err="1">
                <a:sym typeface="Wingdings" pitchFamily="2" charset="2"/>
              </a:rPr>
              <a:t>X2</a:t>
            </a:r>
            <a:r>
              <a:rPr lang="es-ES" dirty="0">
                <a:sym typeface="Wingdings" pitchFamily="2" charset="2"/>
              </a:rPr>
              <a:t>=3</a:t>
            </a:r>
          </a:p>
          <a:p>
            <a:r>
              <a:rPr lang="es-ES" dirty="0">
                <a:sym typeface="Wingdings" pitchFamily="2" charset="2"/>
              </a:rPr>
              <a:t>Si </a:t>
            </a:r>
            <a:r>
              <a:rPr lang="es-ES" dirty="0" err="1">
                <a:sym typeface="Wingdings" pitchFamily="2" charset="2"/>
              </a:rPr>
              <a:t>X2</a:t>
            </a:r>
            <a:r>
              <a:rPr lang="es-ES" dirty="0">
                <a:sym typeface="Wingdings" pitchFamily="2" charset="2"/>
              </a:rPr>
              <a:t>=0  </a:t>
            </a:r>
            <a:r>
              <a:rPr lang="es-ES" dirty="0" err="1">
                <a:sym typeface="Wingdings" pitchFamily="2" charset="2"/>
              </a:rPr>
              <a:t>X1</a:t>
            </a:r>
            <a:r>
              <a:rPr lang="es-ES" dirty="0">
                <a:sym typeface="Wingdings" pitchFamily="2" charset="2"/>
              </a:rPr>
              <a:t>=1</a:t>
            </a:r>
            <a:endParaRPr lang="es-PE" dirty="0"/>
          </a:p>
        </p:txBody>
      </p:sp>
      <p:cxnSp>
        <p:nvCxnSpPr>
          <p:cNvPr id="20" name="19 Conector recto"/>
          <p:cNvCxnSpPr>
            <a:cxnSpLocks/>
          </p:cNvCxnSpPr>
          <p:nvPr/>
        </p:nvCxnSpPr>
        <p:spPr>
          <a:xfrm>
            <a:off x="2453316" y="4145303"/>
            <a:ext cx="952500" cy="29241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6" name="Rectángulo 5">
            <a:extLst>
              <a:ext uri="{FF2B5EF4-FFF2-40B4-BE49-F238E27FC236}">
                <a16:creationId xmlns:a16="http://schemas.microsoft.com/office/drawing/2014/main" id="{C978D1D5-E8D5-4EAC-B87A-91FD9A9BE9D1}"/>
              </a:ext>
            </a:extLst>
          </p:cNvPr>
          <p:cNvSpPr/>
          <p:nvPr/>
        </p:nvSpPr>
        <p:spPr>
          <a:xfrm>
            <a:off x="68310" y="1287585"/>
            <a:ext cx="2078654" cy="1874037"/>
          </a:xfrm>
          <a:prstGeom prst="rect">
            <a:avLst/>
          </a:prstGeom>
          <a:solidFill>
            <a:srgbClr val="FFFF00"/>
          </a:solidFill>
          <a:ln w="12700" cap="flat" cmpd="sng" algn="ctr">
            <a:solidFill>
              <a:prstClr val="white">
                <a:hueOff val="0"/>
                <a:satOff val="0"/>
                <a:lumOff val="0"/>
                <a:alphaOff val="0"/>
              </a:prstClr>
            </a:solidFill>
            <a:prstDash val="solid"/>
            <a:miter lim="800000"/>
          </a:ln>
          <a:effectLst/>
        </p:spPr>
        <p:txBody>
          <a:bodyPr spcFirstLastPara="0" vert="horz" wrap="square" lIns="76200" tIns="76200" rIns="76200" bIns="76200" numCol="1" spcCol="1270" anchor="ctr" anchorCtr="0">
            <a:noAutofit/>
          </a:bodyPr>
          <a:lstStyle/>
          <a:p>
            <a:r>
              <a:rPr lang="es-PE" sz="2000" b="1" dirty="0">
                <a:solidFill>
                  <a:prstClr val="black"/>
                </a:solidFill>
                <a:latin typeface="Arial Narrow" pitchFamily="34" charset="0"/>
              </a:rPr>
              <a:t>MAX   </a:t>
            </a:r>
            <a:r>
              <a:rPr lang="es-PE" sz="2000" b="1" dirty="0" err="1">
                <a:solidFill>
                  <a:prstClr val="black"/>
                </a:solidFill>
                <a:latin typeface="Arial Narrow" pitchFamily="34" charset="0"/>
              </a:rPr>
              <a:t>12X1</a:t>
            </a:r>
            <a:r>
              <a:rPr lang="es-PE" sz="2000" b="1" dirty="0">
                <a:solidFill>
                  <a:prstClr val="black"/>
                </a:solidFill>
                <a:latin typeface="Arial Narrow" pitchFamily="34" charset="0"/>
              </a:rPr>
              <a:t> +  </a:t>
            </a:r>
            <a:r>
              <a:rPr lang="es-PE" sz="2000" b="1" dirty="0" err="1">
                <a:solidFill>
                  <a:prstClr val="black"/>
                </a:solidFill>
                <a:latin typeface="Arial Narrow" pitchFamily="34" charset="0"/>
              </a:rPr>
              <a:t>4X2</a:t>
            </a:r>
            <a:endParaRPr lang="es-PE" sz="2000" b="1" dirty="0">
              <a:solidFill>
                <a:prstClr val="black"/>
              </a:solidFill>
              <a:latin typeface="Arial Narrow" pitchFamily="34" charset="0"/>
            </a:endParaRPr>
          </a:p>
          <a:p>
            <a:r>
              <a:rPr lang="es-PE" sz="2000" b="1" dirty="0">
                <a:solidFill>
                  <a:srgbClr val="FF0000"/>
                </a:solidFill>
                <a:latin typeface="Arial Narrow" pitchFamily="34" charset="0"/>
              </a:rPr>
              <a:t>Sujeto a</a:t>
            </a:r>
          </a:p>
          <a:p>
            <a:r>
              <a:rPr lang="es-MX" sz="2000" b="1" dirty="0" err="1">
                <a:solidFill>
                  <a:prstClr val="black"/>
                </a:solidFill>
                <a:latin typeface="Arial Narrow" pitchFamily="34" charset="0"/>
              </a:rPr>
              <a:t>30X1</a:t>
            </a:r>
            <a:r>
              <a:rPr lang="es-MX" sz="2000" b="1" dirty="0">
                <a:solidFill>
                  <a:prstClr val="black"/>
                </a:solidFill>
                <a:latin typeface="Arial Narrow" pitchFamily="34" charset="0"/>
              </a:rPr>
              <a:t> + </a:t>
            </a:r>
            <a:r>
              <a:rPr lang="es-MX" sz="2000" b="1" dirty="0" err="1">
                <a:solidFill>
                  <a:prstClr val="black"/>
                </a:solidFill>
                <a:latin typeface="Arial Narrow" pitchFamily="34" charset="0"/>
              </a:rPr>
              <a:t>8X2</a:t>
            </a:r>
            <a:r>
              <a:rPr lang="es-MX" sz="2000" b="1" dirty="0">
                <a:solidFill>
                  <a:prstClr val="black"/>
                </a:solidFill>
                <a:latin typeface="Arial Narrow" pitchFamily="34" charset="0"/>
              </a:rPr>
              <a:t>  ≤ 105</a:t>
            </a:r>
          </a:p>
          <a:p>
            <a:r>
              <a:rPr lang="es-MX" sz="2000" b="1" dirty="0" err="1">
                <a:solidFill>
                  <a:prstClr val="black"/>
                </a:solidFill>
                <a:latin typeface="Arial Narrow" pitchFamily="34" charset="0"/>
              </a:rPr>
              <a:t>4X1</a:t>
            </a:r>
            <a:r>
              <a:rPr lang="es-MX" sz="2000" b="1" dirty="0">
                <a:solidFill>
                  <a:prstClr val="black"/>
                </a:solidFill>
                <a:latin typeface="Arial Narrow" pitchFamily="34" charset="0"/>
              </a:rPr>
              <a:t>   + </a:t>
            </a:r>
            <a:r>
              <a:rPr lang="es-MX" sz="2000" b="1" dirty="0" err="1">
                <a:solidFill>
                  <a:prstClr val="black"/>
                </a:solidFill>
                <a:latin typeface="Arial Narrow" pitchFamily="34" charset="0"/>
              </a:rPr>
              <a:t>4X2</a:t>
            </a:r>
            <a:r>
              <a:rPr lang="es-MX" sz="2000" b="1" dirty="0">
                <a:solidFill>
                  <a:prstClr val="black"/>
                </a:solidFill>
                <a:latin typeface="Arial Narrow" pitchFamily="34" charset="0"/>
              </a:rPr>
              <a:t>  ≤ 21</a:t>
            </a:r>
          </a:p>
          <a:p>
            <a:r>
              <a:rPr lang="es-MX" sz="2000" b="1" dirty="0">
                <a:solidFill>
                  <a:prstClr val="black"/>
                </a:solidFill>
                <a:latin typeface="Arial Narrow" pitchFamily="34" charset="0"/>
              </a:rPr>
              <a:t>              </a:t>
            </a:r>
            <a:r>
              <a:rPr lang="es-MX" sz="2000" b="1" dirty="0" err="1">
                <a:solidFill>
                  <a:prstClr val="black"/>
                </a:solidFill>
                <a:latin typeface="Arial Narrow" pitchFamily="34" charset="0"/>
              </a:rPr>
              <a:t>4X2</a:t>
            </a:r>
            <a:r>
              <a:rPr lang="es-MX" sz="2000" b="1" dirty="0">
                <a:solidFill>
                  <a:prstClr val="black"/>
                </a:solidFill>
                <a:latin typeface="Arial Narrow" pitchFamily="34" charset="0"/>
              </a:rPr>
              <a:t> ≤ 17</a:t>
            </a:r>
          </a:p>
          <a:p>
            <a:r>
              <a:rPr lang="es-MX" sz="2000" b="1" dirty="0" err="1">
                <a:solidFill>
                  <a:prstClr val="black"/>
                </a:solidFill>
                <a:latin typeface="Arial Narrow" pitchFamily="34" charset="0"/>
              </a:rPr>
              <a:t>X1</a:t>
            </a:r>
            <a:r>
              <a:rPr lang="es-MX" sz="2000" b="1" dirty="0">
                <a:solidFill>
                  <a:prstClr val="black"/>
                </a:solidFill>
                <a:latin typeface="Arial Narrow" pitchFamily="34" charset="0"/>
              </a:rPr>
              <a:t>, </a:t>
            </a:r>
            <a:r>
              <a:rPr lang="es-MX" sz="2000" b="1" dirty="0" err="1">
                <a:solidFill>
                  <a:prstClr val="black"/>
                </a:solidFill>
                <a:latin typeface="Arial Narrow" pitchFamily="34" charset="0"/>
              </a:rPr>
              <a:t>X2</a:t>
            </a:r>
            <a:r>
              <a:rPr lang="es-MX" sz="2000" b="1" dirty="0">
                <a:solidFill>
                  <a:prstClr val="black"/>
                </a:solidFill>
                <a:latin typeface="Arial Narrow" pitchFamily="34" charset="0"/>
              </a:rPr>
              <a:t> ≥ 0, </a:t>
            </a:r>
            <a:r>
              <a:rPr lang="es-PE" sz="2000" b="1" dirty="0">
                <a:solidFill>
                  <a:prstClr val="black"/>
                </a:solidFill>
                <a:latin typeface="Arial Narrow" pitchFamily="34" charset="0"/>
              </a:rPr>
              <a:t>Enteras</a:t>
            </a:r>
            <a:endParaRPr lang="es-ES" sz="2000" b="1" dirty="0">
              <a:solidFill>
                <a:prstClr val="black"/>
              </a:solidFill>
              <a:latin typeface="Arial Narrow" pitchFamily="34" charset="0"/>
            </a:endParaRPr>
          </a:p>
        </p:txBody>
      </p:sp>
      <p:sp>
        <p:nvSpPr>
          <p:cNvPr id="29" name="1 CuadroTexto">
            <a:extLst>
              <a:ext uri="{FF2B5EF4-FFF2-40B4-BE49-F238E27FC236}">
                <a16:creationId xmlns:a16="http://schemas.microsoft.com/office/drawing/2014/main" id="{C9C3EB72-CCED-41CC-9F20-CFBCB5A8B8E6}"/>
              </a:ext>
            </a:extLst>
          </p:cNvPr>
          <p:cNvSpPr txBox="1"/>
          <p:nvPr/>
        </p:nvSpPr>
        <p:spPr>
          <a:xfrm>
            <a:off x="9505950" y="1225549"/>
            <a:ext cx="2673302" cy="1477328"/>
          </a:xfrm>
          <a:prstGeom prst="rect">
            <a:avLst/>
          </a:prstGeom>
          <a:noFill/>
        </p:spPr>
        <p:txBody>
          <a:bodyPr wrap="square" rtlCol="0">
            <a:spAutoFit/>
          </a:bodyPr>
          <a:lstStyle/>
          <a:p>
            <a:r>
              <a:rPr lang="es-ES" dirty="0" err="1">
                <a:sym typeface="Wingdings" pitchFamily="2" charset="2"/>
              </a:rPr>
              <a:t>iv</a:t>
            </a:r>
            <a:r>
              <a:rPr lang="es-ES" dirty="0">
                <a:sym typeface="Wingdings" pitchFamily="2" charset="2"/>
              </a:rPr>
              <a:t>) Hallando la solución óptima. Trabajamos con las soluciones factibles:</a:t>
            </a:r>
          </a:p>
          <a:p>
            <a:pPr lvl="0"/>
            <a:r>
              <a:rPr lang="es-ES" dirty="0"/>
              <a:t>(3,1)      Z=12(3)+4(1)=40 (2,3)      Z=12(2)+4(3)=36</a:t>
            </a:r>
            <a:endParaRPr lang="es-PE" dirty="0"/>
          </a:p>
        </p:txBody>
      </p:sp>
      <p:sp>
        <p:nvSpPr>
          <p:cNvPr id="25" name="Rectángulo 24">
            <a:extLst>
              <a:ext uri="{FF2B5EF4-FFF2-40B4-BE49-F238E27FC236}">
                <a16:creationId xmlns:a16="http://schemas.microsoft.com/office/drawing/2014/main" id="{BF06BF31-FA03-4F0C-85FB-A8C6EAD9B0D7}"/>
              </a:ext>
            </a:extLst>
          </p:cNvPr>
          <p:cNvSpPr/>
          <p:nvPr/>
        </p:nvSpPr>
        <p:spPr>
          <a:xfrm>
            <a:off x="9514936" y="2702791"/>
            <a:ext cx="2677064" cy="1200329"/>
          </a:xfrm>
          <a:prstGeom prst="rect">
            <a:avLst/>
          </a:prstGeom>
        </p:spPr>
        <p:txBody>
          <a:bodyPr wrap="square">
            <a:spAutoFit/>
          </a:bodyPr>
          <a:lstStyle/>
          <a:p>
            <a:pPr lvl="0"/>
            <a:r>
              <a:rPr lang="es-ES" dirty="0"/>
              <a:t>Por lo tanto, la solución óptima es:  </a:t>
            </a:r>
            <a:r>
              <a:rPr lang="es-ES" dirty="0" err="1"/>
              <a:t>X1</a:t>
            </a:r>
            <a:r>
              <a:rPr lang="es-ES" dirty="0"/>
              <a:t>=3    </a:t>
            </a:r>
            <a:r>
              <a:rPr lang="es-ES" dirty="0" err="1"/>
              <a:t>X2</a:t>
            </a:r>
            <a:r>
              <a:rPr lang="es-ES" dirty="0"/>
              <a:t>=1</a:t>
            </a:r>
          </a:p>
          <a:p>
            <a:pPr lvl="0"/>
            <a:r>
              <a:rPr lang="es-ES" dirty="0"/>
              <a:t>El valor que toma la </a:t>
            </a:r>
            <a:r>
              <a:rPr lang="es-ES" dirty="0" err="1"/>
              <a:t>F.O</a:t>
            </a:r>
            <a:r>
              <a:rPr lang="es-ES" dirty="0"/>
              <a:t>. es:                 Z= 40</a:t>
            </a:r>
            <a:endParaRPr lang="es-PE" dirty="0"/>
          </a:p>
        </p:txBody>
      </p:sp>
      <p:graphicFrame>
        <p:nvGraphicFramePr>
          <p:cNvPr id="31" name="4 Marcador de contenido">
            <a:extLst>
              <a:ext uri="{FF2B5EF4-FFF2-40B4-BE49-F238E27FC236}">
                <a16:creationId xmlns:a16="http://schemas.microsoft.com/office/drawing/2014/main" id="{56F9DD97-BA68-4887-9C3B-2FC2D462C606}"/>
              </a:ext>
            </a:extLst>
          </p:cNvPr>
          <p:cNvGraphicFramePr>
            <a:graphicFrameLocks noGrp="1"/>
          </p:cNvGraphicFramePr>
          <p:nvPr>
            <p:ph idx="1"/>
            <p:extLst>
              <p:ext uri="{D42A27DB-BD31-4B8C-83A1-F6EECF244321}">
                <p14:modId xmlns:p14="http://schemas.microsoft.com/office/powerpoint/2010/main" val="1182362357"/>
              </p:ext>
            </p:extLst>
          </p:nvPr>
        </p:nvGraphicFramePr>
        <p:xfrm>
          <a:off x="9441680" y="4180119"/>
          <a:ext cx="2622787" cy="24032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2" name="26 Diagrama">
            <a:extLst>
              <a:ext uri="{FF2B5EF4-FFF2-40B4-BE49-F238E27FC236}">
                <a16:creationId xmlns:a16="http://schemas.microsoft.com/office/drawing/2014/main" id="{BBF3001B-F551-4ED2-97D8-549FBE8F51BB}"/>
              </a:ext>
            </a:extLst>
          </p:cNvPr>
          <p:cNvGraphicFramePr/>
          <p:nvPr>
            <p:extLst>
              <p:ext uri="{D42A27DB-BD31-4B8C-83A1-F6EECF244321}">
                <p14:modId xmlns:p14="http://schemas.microsoft.com/office/powerpoint/2010/main" val="1213550546"/>
              </p:ext>
            </p:extLst>
          </p:nvPr>
        </p:nvGraphicFramePr>
        <p:xfrm>
          <a:off x="5970019" y="4803606"/>
          <a:ext cx="3418396" cy="198536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cxnSp>
        <p:nvCxnSpPr>
          <p:cNvPr id="21" name="Conector recto de flecha 20">
            <a:extLst>
              <a:ext uri="{FF2B5EF4-FFF2-40B4-BE49-F238E27FC236}">
                <a16:creationId xmlns:a16="http://schemas.microsoft.com/office/drawing/2014/main" id="{CD12B381-A941-4464-8A59-2D6A1AF71321}"/>
              </a:ext>
            </a:extLst>
          </p:cNvPr>
          <p:cNvCxnSpPr/>
          <p:nvPr/>
        </p:nvCxnSpPr>
        <p:spPr>
          <a:xfrm>
            <a:off x="1510521" y="6487371"/>
            <a:ext cx="459500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11FBE12F-06F6-4EB7-95FC-1ADB796EE27F}"/>
              </a:ext>
            </a:extLst>
          </p:cNvPr>
          <p:cNvCxnSpPr>
            <a:cxnSpLocks/>
          </p:cNvCxnSpPr>
          <p:nvPr/>
        </p:nvCxnSpPr>
        <p:spPr>
          <a:xfrm>
            <a:off x="2346385" y="3916379"/>
            <a:ext cx="3001992" cy="301061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9" name="6 Elipse">
            <a:extLst>
              <a:ext uri="{FF2B5EF4-FFF2-40B4-BE49-F238E27FC236}">
                <a16:creationId xmlns:a16="http://schemas.microsoft.com/office/drawing/2014/main" id="{75FC2E39-29D2-4CE0-8D93-2DD204CD98DE}"/>
              </a:ext>
            </a:extLst>
          </p:cNvPr>
          <p:cNvSpPr/>
          <p:nvPr/>
        </p:nvSpPr>
        <p:spPr>
          <a:xfrm>
            <a:off x="3601294" y="5282497"/>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6 Elipse">
            <a:extLst>
              <a:ext uri="{FF2B5EF4-FFF2-40B4-BE49-F238E27FC236}">
                <a16:creationId xmlns:a16="http://schemas.microsoft.com/office/drawing/2014/main" id="{539D247B-2300-46BB-A16D-59A41B6A8E9A}"/>
              </a:ext>
            </a:extLst>
          </p:cNvPr>
          <p:cNvSpPr/>
          <p:nvPr/>
        </p:nvSpPr>
        <p:spPr>
          <a:xfrm>
            <a:off x="3591769" y="5673022"/>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1" name="6 Elipse">
            <a:extLst>
              <a:ext uri="{FF2B5EF4-FFF2-40B4-BE49-F238E27FC236}">
                <a16:creationId xmlns:a16="http://schemas.microsoft.com/office/drawing/2014/main" id="{A0B1BFE1-3167-45A4-867D-7CA88EF44377}"/>
              </a:ext>
            </a:extLst>
          </p:cNvPr>
          <p:cNvSpPr/>
          <p:nvPr/>
        </p:nvSpPr>
        <p:spPr>
          <a:xfrm flipH="1" flipV="1">
            <a:off x="3603200" y="6084503"/>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6 Elipse">
            <a:extLst>
              <a:ext uri="{FF2B5EF4-FFF2-40B4-BE49-F238E27FC236}">
                <a16:creationId xmlns:a16="http://schemas.microsoft.com/office/drawing/2014/main" id="{81A48968-01D5-4212-8DB8-4273172CC0D1}"/>
              </a:ext>
            </a:extLst>
          </p:cNvPr>
          <p:cNvSpPr/>
          <p:nvPr/>
        </p:nvSpPr>
        <p:spPr>
          <a:xfrm>
            <a:off x="4001344" y="6082597"/>
            <a:ext cx="45719" cy="45719"/>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8" name="19 Conector recto">
            <a:extLst>
              <a:ext uri="{FF2B5EF4-FFF2-40B4-BE49-F238E27FC236}">
                <a16:creationId xmlns:a16="http://schemas.microsoft.com/office/drawing/2014/main" id="{B8426D1B-6116-4A22-A732-6F64DD025D1E}"/>
              </a:ext>
            </a:extLst>
          </p:cNvPr>
          <p:cNvCxnSpPr>
            <a:cxnSpLocks/>
          </p:cNvCxnSpPr>
          <p:nvPr/>
        </p:nvCxnSpPr>
        <p:spPr>
          <a:xfrm>
            <a:off x="3448050" y="4317831"/>
            <a:ext cx="952500" cy="2924175"/>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0116D5DF-BDCE-4499-94F4-DC6BE695186F}"/>
              </a:ext>
            </a:extLst>
          </p:cNvPr>
          <p:cNvCxnSpPr/>
          <p:nvPr/>
        </p:nvCxnSpPr>
        <p:spPr>
          <a:xfrm flipH="1">
            <a:off x="2214830" y="3917781"/>
            <a:ext cx="142875" cy="161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F3B9AD4E-43FD-4212-A125-070BC421A91E}"/>
              </a:ext>
            </a:extLst>
          </p:cNvPr>
          <p:cNvCxnSpPr>
            <a:cxnSpLocks/>
          </p:cNvCxnSpPr>
          <p:nvPr/>
        </p:nvCxnSpPr>
        <p:spPr>
          <a:xfrm flipH="1">
            <a:off x="2558571" y="1485783"/>
            <a:ext cx="303036" cy="69766"/>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1" name="Rectángulo 50">
            <a:extLst>
              <a:ext uri="{FF2B5EF4-FFF2-40B4-BE49-F238E27FC236}">
                <a16:creationId xmlns:a16="http://schemas.microsoft.com/office/drawing/2014/main" id="{F30F0723-F597-4F6E-992B-EC61F0E211A7}"/>
              </a:ext>
            </a:extLst>
          </p:cNvPr>
          <p:cNvSpPr/>
          <p:nvPr/>
        </p:nvSpPr>
        <p:spPr>
          <a:xfrm>
            <a:off x="6254637" y="2315855"/>
            <a:ext cx="2906616" cy="923330"/>
          </a:xfrm>
          <a:prstGeom prst="rect">
            <a:avLst/>
          </a:prstGeom>
          <a:solidFill>
            <a:schemeClr val="accent1">
              <a:lumMod val="40000"/>
              <a:lumOff val="60000"/>
            </a:schemeClr>
          </a:solidFill>
        </p:spPr>
        <p:txBody>
          <a:bodyPr wrap="square">
            <a:spAutoFit/>
          </a:bodyPr>
          <a:lstStyle/>
          <a:p>
            <a:r>
              <a:rPr lang="es-ES" dirty="0" err="1"/>
              <a:t>4X1+4X2</a:t>
            </a:r>
            <a:r>
              <a:rPr lang="es-ES" dirty="0"/>
              <a:t>=21</a:t>
            </a:r>
          </a:p>
          <a:p>
            <a:r>
              <a:rPr lang="es-ES" dirty="0"/>
              <a:t>Si </a:t>
            </a:r>
            <a:r>
              <a:rPr lang="es-ES" dirty="0" err="1"/>
              <a:t>X1</a:t>
            </a:r>
            <a:r>
              <a:rPr lang="es-ES" dirty="0"/>
              <a:t>=</a:t>
            </a:r>
            <a:r>
              <a:rPr lang="es-ES" dirty="0" err="1"/>
              <a:t>0</a:t>
            </a:r>
            <a:r>
              <a:rPr lang="es-ES" dirty="0" err="1">
                <a:sym typeface="Wingdings" pitchFamily="2" charset="2"/>
              </a:rPr>
              <a:t>X2</a:t>
            </a:r>
            <a:r>
              <a:rPr lang="es-ES" dirty="0">
                <a:sym typeface="Wingdings" pitchFamily="2" charset="2"/>
              </a:rPr>
              <a:t>=5,25</a:t>
            </a:r>
          </a:p>
          <a:p>
            <a:r>
              <a:rPr lang="es-ES" dirty="0">
                <a:sym typeface="Wingdings" pitchFamily="2" charset="2"/>
              </a:rPr>
              <a:t>Si </a:t>
            </a:r>
            <a:r>
              <a:rPr lang="es-ES" dirty="0" err="1">
                <a:sym typeface="Wingdings" pitchFamily="2" charset="2"/>
              </a:rPr>
              <a:t>X2</a:t>
            </a:r>
            <a:r>
              <a:rPr lang="es-ES" dirty="0">
                <a:sym typeface="Wingdings" pitchFamily="2" charset="2"/>
              </a:rPr>
              <a:t>=</a:t>
            </a:r>
            <a:r>
              <a:rPr lang="es-ES" dirty="0" err="1">
                <a:sym typeface="Wingdings" pitchFamily="2" charset="2"/>
              </a:rPr>
              <a:t>0X1</a:t>
            </a:r>
            <a:r>
              <a:rPr lang="es-ES" dirty="0">
                <a:sym typeface="Wingdings" pitchFamily="2" charset="2"/>
              </a:rPr>
              <a:t>=5,25</a:t>
            </a:r>
          </a:p>
        </p:txBody>
      </p:sp>
      <p:cxnSp>
        <p:nvCxnSpPr>
          <p:cNvPr id="53" name="Conector recto 52">
            <a:extLst>
              <a:ext uri="{FF2B5EF4-FFF2-40B4-BE49-F238E27FC236}">
                <a16:creationId xmlns:a16="http://schemas.microsoft.com/office/drawing/2014/main" id="{03E60934-DA55-4E51-B323-8728392F15D0}"/>
              </a:ext>
            </a:extLst>
          </p:cNvPr>
          <p:cNvCxnSpPr/>
          <p:nvPr/>
        </p:nvCxnSpPr>
        <p:spPr>
          <a:xfrm>
            <a:off x="2438400" y="4803606"/>
            <a:ext cx="1781175"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5" name="Conector recto de flecha 54">
            <a:extLst>
              <a:ext uri="{FF2B5EF4-FFF2-40B4-BE49-F238E27FC236}">
                <a16:creationId xmlns:a16="http://schemas.microsoft.com/office/drawing/2014/main" id="{11DEF770-B280-42F0-81A2-F17E147F38A4}"/>
              </a:ext>
            </a:extLst>
          </p:cNvPr>
          <p:cNvCxnSpPr/>
          <p:nvPr/>
        </p:nvCxnSpPr>
        <p:spPr>
          <a:xfrm>
            <a:off x="2438400" y="4794081"/>
            <a:ext cx="0" cy="22860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8" name="Rectángulo 57">
            <a:extLst>
              <a:ext uri="{FF2B5EF4-FFF2-40B4-BE49-F238E27FC236}">
                <a16:creationId xmlns:a16="http://schemas.microsoft.com/office/drawing/2014/main" id="{C5164B18-16A0-41CC-A707-2D4B0C713319}"/>
              </a:ext>
            </a:extLst>
          </p:cNvPr>
          <p:cNvSpPr/>
          <p:nvPr/>
        </p:nvSpPr>
        <p:spPr>
          <a:xfrm>
            <a:off x="6263620" y="3239185"/>
            <a:ext cx="2906618" cy="369332"/>
          </a:xfrm>
          <a:prstGeom prst="rect">
            <a:avLst/>
          </a:prstGeom>
          <a:solidFill>
            <a:schemeClr val="accent1">
              <a:lumMod val="40000"/>
              <a:lumOff val="60000"/>
            </a:schemeClr>
          </a:solidFill>
        </p:spPr>
        <p:txBody>
          <a:bodyPr wrap="square">
            <a:spAutoFit/>
          </a:bodyPr>
          <a:lstStyle/>
          <a:p>
            <a:r>
              <a:rPr lang="es-ES" dirty="0">
                <a:sym typeface="Wingdings" pitchFamily="2" charset="2"/>
              </a:rPr>
              <a:t>4X2=17 X2=4,25</a:t>
            </a:r>
            <a:endParaRPr lang="es-PE" dirty="0"/>
          </a:p>
        </p:txBody>
      </p:sp>
      <p:sp>
        <p:nvSpPr>
          <p:cNvPr id="44" name="Rectangle 2">
            <a:extLst>
              <a:ext uri="{FF2B5EF4-FFF2-40B4-BE49-F238E27FC236}">
                <a16:creationId xmlns:a16="http://schemas.microsoft.com/office/drawing/2014/main" id="{9384B45F-F3AF-4B51-ADE3-798D9505D9A7}"/>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4</a:t>
            </a:r>
          </a:p>
        </p:txBody>
      </p:sp>
      <p:sp>
        <p:nvSpPr>
          <p:cNvPr id="30" name="CuadroTexto 29">
            <a:extLst>
              <a:ext uri="{FF2B5EF4-FFF2-40B4-BE49-F238E27FC236}">
                <a16:creationId xmlns:a16="http://schemas.microsoft.com/office/drawing/2014/main" id="{576D64C4-BF71-4AB2-ABD6-66C2596BB7F4}"/>
              </a:ext>
            </a:extLst>
          </p:cNvPr>
          <p:cNvSpPr txBox="1"/>
          <p:nvPr/>
        </p:nvSpPr>
        <p:spPr>
          <a:xfrm>
            <a:off x="2182483" y="655608"/>
            <a:ext cx="577970" cy="523220"/>
          </a:xfrm>
          <a:prstGeom prst="rect">
            <a:avLst/>
          </a:prstGeom>
          <a:noFill/>
        </p:spPr>
        <p:txBody>
          <a:bodyPr wrap="square" rtlCol="0">
            <a:spAutoFit/>
          </a:bodyPr>
          <a:lstStyle/>
          <a:p>
            <a:r>
              <a:rPr lang="es-ES" sz="2800" dirty="0" err="1">
                <a:solidFill>
                  <a:srgbClr val="FF0000"/>
                </a:solidFill>
              </a:rPr>
              <a:t>X2</a:t>
            </a:r>
            <a:endParaRPr lang="es-PE" sz="2800" dirty="0">
              <a:solidFill>
                <a:srgbClr val="FF0000"/>
              </a:solidFill>
            </a:endParaRPr>
          </a:p>
        </p:txBody>
      </p:sp>
      <p:sp>
        <p:nvSpPr>
          <p:cNvPr id="49" name="CuadroTexto 48">
            <a:extLst>
              <a:ext uri="{FF2B5EF4-FFF2-40B4-BE49-F238E27FC236}">
                <a16:creationId xmlns:a16="http://schemas.microsoft.com/office/drawing/2014/main" id="{A6FEE317-8D87-48AE-A2D6-8E320807F538}"/>
              </a:ext>
            </a:extLst>
          </p:cNvPr>
          <p:cNvSpPr txBox="1"/>
          <p:nvPr/>
        </p:nvSpPr>
        <p:spPr>
          <a:xfrm>
            <a:off x="5440392" y="6397925"/>
            <a:ext cx="577970" cy="523220"/>
          </a:xfrm>
          <a:prstGeom prst="rect">
            <a:avLst/>
          </a:prstGeom>
          <a:noFill/>
        </p:spPr>
        <p:txBody>
          <a:bodyPr wrap="square" rtlCol="0">
            <a:spAutoFit/>
          </a:bodyPr>
          <a:lstStyle/>
          <a:p>
            <a:r>
              <a:rPr lang="es-ES" sz="2800" dirty="0" err="1">
                <a:solidFill>
                  <a:srgbClr val="FF0000"/>
                </a:solidFill>
              </a:rPr>
              <a:t>X1</a:t>
            </a:r>
            <a:endParaRPr lang="es-PE" sz="2800" dirty="0">
              <a:solidFill>
                <a:srgbClr val="FF0000"/>
              </a:solidFill>
            </a:endParaRPr>
          </a:p>
        </p:txBody>
      </p:sp>
      <p:sp>
        <p:nvSpPr>
          <p:cNvPr id="52" name="4 CuadroTexto">
            <a:extLst>
              <a:ext uri="{FF2B5EF4-FFF2-40B4-BE49-F238E27FC236}">
                <a16:creationId xmlns:a16="http://schemas.microsoft.com/office/drawing/2014/main" id="{4880B4BF-EF01-4960-88FF-5EDADA8A72AA}"/>
              </a:ext>
            </a:extLst>
          </p:cNvPr>
          <p:cNvSpPr txBox="1"/>
          <p:nvPr/>
        </p:nvSpPr>
        <p:spPr>
          <a:xfrm>
            <a:off x="2415395" y="1506742"/>
            <a:ext cx="534837" cy="2308324"/>
          </a:xfrm>
          <a:prstGeom prst="rect">
            <a:avLst/>
          </a:prstGeom>
          <a:noFill/>
        </p:spPr>
        <p:txBody>
          <a:bodyPr wrap="square" rtlCol="0">
            <a:spAutoFit/>
          </a:bodyPr>
          <a:lstStyle/>
          <a:p>
            <a:r>
              <a:rPr lang="es-PE" sz="2400" dirty="0"/>
              <a:t>12</a:t>
            </a:r>
          </a:p>
          <a:p>
            <a:r>
              <a:rPr lang="es-PE" sz="2400" dirty="0"/>
              <a:t>11</a:t>
            </a:r>
          </a:p>
          <a:p>
            <a:r>
              <a:rPr lang="es-PE" sz="2400" dirty="0"/>
              <a:t>10</a:t>
            </a:r>
          </a:p>
          <a:p>
            <a:r>
              <a:rPr lang="es-PE" sz="2400" dirty="0"/>
              <a:t>9</a:t>
            </a:r>
          </a:p>
          <a:p>
            <a:r>
              <a:rPr lang="es-PE" sz="2400" dirty="0"/>
              <a:t>8</a:t>
            </a:r>
          </a:p>
          <a:p>
            <a:r>
              <a:rPr lang="es-PE" sz="2400" dirty="0"/>
              <a:t>7</a:t>
            </a:r>
          </a:p>
        </p:txBody>
      </p:sp>
    </p:spTree>
    <p:extLst>
      <p:ext uri="{BB962C8B-B14F-4D97-AF65-F5344CB8AC3E}">
        <p14:creationId xmlns:p14="http://schemas.microsoft.com/office/powerpoint/2010/main" val="52018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p:bldP spid="4" grpId="0" animBg="1"/>
      <p:bldP spid="29" grpId="0"/>
      <p:bldP spid="25" grpId="0"/>
      <p:bldGraphic spid="31" grpId="0">
        <p:bldAsOne/>
      </p:bldGraphic>
      <p:bldGraphic spid="32" grpId="0">
        <p:bldAsOne/>
      </p:bldGraphic>
      <p:bldP spid="51" grpId="0" animBg="1"/>
      <p:bldP spid="5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6 Tabla">
            <a:extLst>
              <a:ext uri="{FF2B5EF4-FFF2-40B4-BE49-F238E27FC236}">
                <a16:creationId xmlns:a16="http://schemas.microsoft.com/office/drawing/2014/main" id="{094DB884-A27A-4F60-9007-9488ED8C9BD2}"/>
              </a:ext>
            </a:extLst>
          </p:cNvPr>
          <p:cNvGraphicFramePr>
            <a:graphicFrameLocks noGrp="1"/>
          </p:cNvGraphicFramePr>
          <p:nvPr/>
        </p:nvGraphicFramePr>
        <p:xfrm>
          <a:off x="2695577" y="3691890"/>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19" name="6 Tabla">
            <a:extLst>
              <a:ext uri="{FF2B5EF4-FFF2-40B4-BE49-F238E27FC236}">
                <a16:creationId xmlns:a16="http://schemas.microsoft.com/office/drawing/2014/main" id="{2D43C445-D4D2-4365-A795-1FD2536180B0}"/>
              </a:ext>
            </a:extLst>
          </p:cNvPr>
          <p:cNvGraphicFramePr>
            <a:graphicFrameLocks noGrp="1"/>
          </p:cNvGraphicFramePr>
          <p:nvPr/>
        </p:nvGraphicFramePr>
        <p:xfrm>
          <a:off x="2695577" y="1986915"/>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6148" name="Rectangle 2"/>
          <p:cNvSpPr>
            <a:spLocks noChangeArrowheads="1"/>
          </p:cNvSpPr>
          <p:nvPr/>
        </p:nvSpPr>
        <p:spPr bwMode="auto">
          <a:xfrm>
            <a:off x="7108164" y="4942636"/>
            <a:ext cx="3502685" cy="1015663"/>
          </a:xfrm>
          <a:prstGeom prst="rect">
            <a:avLst/>
          </a:prstGeom>
          <a:noFill/>
          <a:ln w="9525">
            <a:noFill/>
            <a:miter lim="800000"/>
            <a:headEnd/>
            <a:tailEnd/>
          </a:ln>
        </p:spPr>
        <p:txBody>
          <a:bodyPr wrap="square" anchor="ctr">
            <a:spAutoFit/>
          </a:bodyPr>
          <a:lstStyle/>
          <a:p>
            <a:pPr eaLnBrk="0" hangingPunct="0">
              <a:tabLst>
                <a:tab pos="809625" algn="l"/>
              </a:tabLst>
            </a:pPr>
            <a:r>
              <a:rPr lang="es-MX" sz="2000" b="1" dirty="0">
                <a:solidFill>
                  <a:srgbClr val="FF0000"/>
                </a:solidFill>
                <a:latin typeface="Arial Narrow" pitchFamily="34" charset="0"/>
                <a:ea typeface="MS Mincho" pitchFamily="49" charset="-128"/>
                <a:cs typeface="Arial" charset="0"/>
              </a:rPr>
              <a:t>RESPUESTA</a:t>
            </a:r>
            <a:r>
              <a:rPr lang="es-MX" sz="2000" b="1" dirty="0">
                <a:solidFill>
                  <a:schemeClr val="accent4"/>
                </a:solidFill>
                <a:latin typeface="Arial Narrow" pitchFamily="34" charset="0"/>
                <a:ea typeface="MS Mincho" pitchFamily="49" charset="-128"/>
                <a:cs typeface="Arial" charset="0"/>
              </a:rPr>
              <a:t> 	</a:t>
            </a:r>
          </a:p>
          <a:p>
            <a:pPr>
              <a:tabLst>
                <a:tab pos="809625" algn="l"/>
              </a:tabLst>
            </a:pPr>
            <a:r>
              <a:rPr lang="es-MX" sz="2000" b="1" dirty="0">
                <a:latin typeface="Arial Narrow" pitchFamily="34" charset="0"/>
                <a:ea typeface="MS Mincho" pitchFamily="49" charset="-128"/>
                <a:cs typeface="Arial" charset="0"/>
              </a:rPr>
              <a:t>No tiene solución óptima, porque no hay región factible.</a:t>
            </a:r>
            <a:endParaRPr lang="es-PE" sz="2000" b="1" dirty="0">
              <a:latin typeface="Arial Narrow" pitchFamily="34" charset="0"/>
              <a:ea typeface="MS Mincho" pitchFamily="49" charset="-128"/>
              <a:cs typeface="Arial" charset="0"/>
            </a:endParaRPr>
          </a:p>
        </p:txBody>
      </p:sp>
      <p:sp>
        <p:nvSpPr>
          <p:cNvPr id="6149" name="Rectangle 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cxnSp>
        <p:nvCxnSpPr>
          <p:cNvPr id="5" name="4 Conector recto de flecha"/>
          <p:cNvCxnSpPr/>
          <p:nvPr/>
        </p:nvCxnSpPr>
        <p:spPr>
          <a:xfrm>
            <a:off x="4801554" y="1693190"/>
            <a:ext cx="216024" cy="72008"/>
          </a:xfrm>
          <a:prstGeom prst="straightConnector1">
            <a:avLst/>
          </a:prstGeom>
          <a:ln w="1905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8" name="7 CuadroTexto"/>
          <p:cNvSpPr txBox="1"/>
          <p:nvPr/>
        </p:nvSpPr>
        <p:spPr>
          <a:xfrm>
            <a:off x="2628900" y="2381114"/>
            <a:ext cx="408840" cy="3139321"/>
          </a:xfrm>
          <a:prstGeom prst="rect">
            <a:avLst/>
          </a:prstGeom>
          <a:noFill/>
        </p:spPr>
        <p:txBody>
          <a:bodyPr wrap="square" rtlCol="0">
            <a:spAutoFit/>
          </a:bodyPr>
          <a:lstStyle/>
          <a:p>
            <a:r>
              <a:rPr lang="es-ES" dirty="0"/>
              <a:t>5</a:t>
            </a:r>
            <a:endParaRPr lang="es-PE" dirty="0"/>
          </a:p>
          <a:p>
            <a:r>
              <a:rPr lang="es-PE" dirty="0"/>
              <a:t>4</a:t>
            </a:r>
          </a:p>
          <a:p>
            <a:r>
              <a:rPr lang="es-PE" dirty="0"/>
              <a:t>3</a:t>
            </a:r>
          </a:p>
          <a:p>
            <a:r>
              <a:rPr lang="es-PE" dirty="0"/>
              <a:t>2</a:t>
            </a:r>
          </a:p>
          <a:p>
            <a:r>
              <a:rPr lang="es-PE" dirty="0"/>
              <a:t>1</a:t>
            </a:r>
          </a:p>
          <a:p>
            <a:r>
              <a:rPr lang="es-PE" dirty="0"/>
              <a:t>0</a:t>
            </a:r>
          </a:p>
          <a:p>
            <a:r>
              <a:rPr lang="es-PE" dirty="0"/>
              <a:t>-1</a:t>
            </a:r>
          </a:p>
          <a:p>
            <a:r>
              <a:rPr lang="es-PE" dirty="0"/>
              <a:t>-2</a:t>
            </a:r>
          </a:p>
          <a:p>
            <a:r>
              <a:rPr lang="es-PE" dirty="0"/>
              <a:t>-3</a:t>
            </a:r>
          </a:p>
          <a:p>
            <a:r>
              <a:rPr lang="es-PE" dirty="0"/>
              <a:t>-4</a:t>
            </a:r>
          </a:p>
          <a:p>
            <a:r>
              <a:rPr lang="es-PE" dirty="0"/>
              <a:t>-5</a:t>
            </a:r>
          </a:p>
        </p:txBody>
      </p:sp>
      <p:sp>
        <p:nvSpPr>
          <p:cNvPr id="9" name="8 CuadroTexto"/>
          <p:cNvSpPr txBox="1"/>
          <p:nvPr/>
        </p:nvSpPr>
        <p:spPr>
          <a:xfrm>
            <a:off x="3116225" y="4002559"/>
            <a:ext cx="989050" cy="369332"/>
          </a:xfrm>
          <a:prstGeom prst="rect">
            <a:avLst/>
          </a:prstGeom>
          <a:noFill/>
        </p:spPr>
        <p:txBody>
          <a:bodyPr wrap="square" rtlCol="0">
            <a:spAutoFit/>
          </a:bodyPr>
          <a:lstStyle>
            <a:defPPr>
              <a:defRPr lang="es-PE"/>
            </a:defPPr>
          </a:lstStyle>
          <a:p>
            <a:r>
              <a:rPr lang="es-PE" dirty="0"/>
              <a:t>1.6   2.5</a:t>
            </a:r>
          </a:p>
        </p:txBody>
      </p:sp>
      <p:cxnSp>
        <p:nvCxnSpPr>
          <p:cNvPr id="11" name="10 Conector recto de flecha"/>
          <p:cNvCxnSpPr>
            <a:cxnSpLocks/>
          </p:cNvCxnSpPr>
          <p:nvPr/>
        </p:nvCxnSpPr>
        <p:spPr>
          <a:xfrm flipH="1">
            <a:off x="2473808" y="1692216"/>
            <a:ext cx="232190" cy="92848"/>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4" name="Rectángulo 3">
            <a:extLst>
              <a:ext uri="{FF2B5EF4-FFF2-40B4-BE49-F238E27FC236}">
                <a16:creationId xmlns:a16="http://schemas.microsoft.com/office/drawing/2014/main" id="{00254F96-547C-47D7-B61F-E4464EAEE7B0}"/>
              </a:ext>
            </a:extLst>
          </p:cNvPr>
          <p:cNvSpPr/>
          <p:nvPr/>
        </p:nvSpPr>
        <p:spPr>
          <a:xfrm>
            <a:off x="71887" y="1344616"/>
            <a:ext cx="2369388" cy="1477328"/>
          </a:xfrm>
          <a:prstGeom prst="rect">
            <a:avLst/>
          </a:prstGeom>
          <a:solidFill>
            <a:srgbClr val="FFFF00"/>
          </a:solidFill>
          <a:ln w="12700" cap="flat" cmpd="sng" algn="ctr">
            <a:solidFill>
              <a:prstClr val="white">
                <a:hueOff val="0"/>
                <a:satOff val="0"/>
                <a:lumOff val="0"/>
                <a:alphaOff val="0"/>
              </a:prstClr>
            </a:solidFill>
            <a:prstDash val="solid"/>
            <a:miter lim="800000"/>
          </a:ln>
          <a:effectLst/>
        </p:spPr>
        <p:txBody>
          <a:bodyPr spcFirstLastPara="0" vert="horz" wrap="square" lIns="76200" tIns="76200" rIns="76200" bIns="76200" numCol="1" spcCol="1270" anchor="ctr" anchorCtr="0">
            <a:noAutofit/>
          </a:bodyPr>
          <a:lstStyle/>
          <a:p>
            <a:r>
              <a:rPr lang="es-ES" sz="2000" b="1" dirty="0">
                <a:solidFill>
                  <a:prstClr val="black"/>
                </a:solidFill>
                <a:latin typeface="Arial Narrow" pitchFamily="34" charset="0"/>
              </a:rPr>
              <a:t>MIN   -</a:t>
            </a:r>
            <a:r>
              <a:rPr lang="es-ES" sz="2000" b="1" dirty="0" err="1">
                <a:solidFill>
                  <a:prstClr val="black"/>
                </a:solidFill>
                <a:latin typeface="Arial Narrow" pitchFamily="34" charset="0"/>
              </a:rPr>
              <a:t>2X1</a:t>
            </a:r>
            <a:r>
              <a:rPr lang="es-ES" sz="2000" b="1" dirty="0">
                <a:solidFill>
                  <a:prstClr val="black"/>
                </a:solidFill>
                <a:latin typeface="Arial Narrow" pitchFamily="34" charset="0"/>
              </a:rPr>
              <a:t>  -  </a:t>
            </a:r>
            <a:r>
              <a:rPr lang="es-ES" sz="2000" b="1" dirty="0" err="1">
                <a:solidFill>
                  <a:prstClr val="black"/>
                </a:solidFill>
                <a:latin typeface="Arial Narrow" pitchFamily="34" charset="0"/>
              </a:rPr>
              <a:t>5X2</a:t>
            </a:r>
            <a:endParaRPr lang="es-ES" sz="2000" b="1" dirty="0">
              <a:solidFill>
                <a:prstClr val="black"/>
              </a:solidFill>
              <a:latin typeface="Arial Narrow" pitchFamily="34" charset="0"/>
            </a:endParaRPr>
          </a:p>
          <a:p>
            <a:r>
              <a:rPr lang="es-ES" sz="2000" b="1" dirty="0">
                <a:solidFill>
                  <a:prstClr val="black"/>
                </a:solidFill>
                <a:latin typeface="Arial Narrow" pitchFamily="34" charset="0"/>
              </a:rPr>
              <a:t>SUJETO A</a:t>
            </a:r>
          </a:p>
          <a:p>
            <a:r>
              <a:rPr lang="es-MX" sz="2000" b="1" dirty="0" err="1">
                <a:solidFill>
                  <a:prstClr val="black"/>
                </a:solidFill>
                <a:latin typeface="Arial Narrow" pitchFamily="34" charset="0"/>
              </a:rPr>
              <a:t>4X1</a:t>
            </a:r>
            <a:r>
              <a:rPr lang="es-MX" sz="2000" b="1" dirty="0">
                <a:solidFill>
                  <a:prstClr val="black"/>
                </a:solidFill>
                <a:latin typeface="Arial Narrow" pitchFamily="34" charset="0"/>
              </a:rPr>
              <a:t> -  </a:t>
            </a:r>
            <a:r>
              <a:rPr lang="es-MX" sz="2000" b="1" dirty="0" err="1">
                <a:solidFill>
                  <a:prstClr val="black"/>
                </a:solidFill>
                <a:latin typeface="Arial Narrow" pitchFamily="34" charset="0"/>
              </a:rPr>
              <a:t>2X2</a:t>
            </a:r>
            <a:r>
              <a:rPr lang="es-MX" sz="2000" b="1" dirty="0">
                <a:solidFill>
                  <a:prstClr val="black"/>
                </a:solidFill>
                <a:latin typeface="Arial Narrow" pitchFamily="34" charset="0"/>
              </a:rPr>
              <a:t>  ≥ 10</a:t>
            </a:r>
          </a:p>
          <a:p>
            <a:r>
              <a:rPr lang="es-MX" sz="2000" b="1" dirty="0" err="1">
                <a:solidFill>
                  <a:prstClr val="black"/>
                </a:solidFill>
                <a:latin typeface="Arial Narrow" pitchFamily="34" charset="0"/>
              </a:rPr>
              <a:t>3X1</a:t>
            </a:r>
            <a:r>
              <a:rPr lang="es-MX" sz="2000" b="1" dirty="0">
                <a:solidFill>
                  <a:prstClr val="black"/>
                </a:solidFill>
                <a:latin typeface="Arial Narrow" pitchFamily="34" charset="0"/>
              </a:rPr>
              <a:t> +   </a:t>
            </a:r>
            <a:r>
              <a:rPr lang="es-MX" sz="2000" b="1" dirty="0" err="1">
                <a:solidFill>
                  <a:prstClr val="black"/>
                </a:solidFill>
                <a:latin typeface="Arial Narrow" pitchFamily="34" charset="0"/>
              </a:rPr>
              <a:t>X2</a:t>
            </a:r>
            <a:r>
              <a:rPr lang="es-MX" sz="2000" b="1" dirty="0">
                <a:solidFill>
                  <a:prstClr val="black"/>
                </a:solidFill>
                <a:latin typeface="Arial Narrow" pitchFamily="34" charset="0"/>
              </a:rPr>
              <a:t>  ≤   5</a:t>
            </a:r>
          </a:p>
          <a:p>
            <a:r>
              <a:rPr lang="es-MX" sz="2000" b="1" dirty="0">
                <a:solidFill>
                  <a:prstClr val="black"/>
                </a:solidFill>
                <a:latin typeface="Arial Narrow" pitchFamily="34" charset="0"/>
              </a:rPr>
              <a:t>  </a:t>
            </a:r>
            <a:r>
              <a:rPr lang="es-MX" sz="2000" b="1" dirty="0" err="1">
                <a:solidFill>
                  <a:prstClr val="black"/>
                </a:solidFill>
                <a:latin typeface="Arial Narrow" pitchFamily="34" charset="0"/>
              </a:rPr>
              <a:t>X1</a:t>
            </a:r>
            <a:r>
              <a:rPr lang="es-MX" sz="2000" b="1" dirty="0">
                <a:solidFill>
                  <a:prstClr val="black"/>
                </a:solidFill>
                <a:latin typeface="Arial Narrow" pitchFamily="34" charset="0"/>
              </a:rPr>
              <a:t>   ,  </a:t>
            </a:r>
            <a:r>
              <a:rPr lang="es-MX" sz="2000" b="1" dirty="0" err="1">
                <a:solidFill>
                  <a:prstClr val="black"/>
                </a:solidFill>
                <a:latin typeface="Arial Narrow" pitchFamily="34" charset="0"/>
              </a:rPr>
              <a:t>X2</a:t>
            </a:r>
            <a:r>
              <a:rPr lang="es-MX" sz="2000" b="1" dirty="0">
                <a:solidFill>
                  <a:prstClr val="black"/>
                </a:solidFill>
                <a:latin typeface="Arial Narrow" pitchFamily="34" charset="0"/>
              </a:rPr>
              <a:t>  ≥   0, Enteras</a:t>
            </a:r>
            <a:endParaRPr lang="es-PE" sz="2000" b="1" dirty="0">
              <a:solidFill>
                <a:prstClr val="black"/>
              </a:solidFill>
              <a:latin typeface="Arial Narrow" pitchFamily="34" charset="0"/>
            </a:endParaRPr>
          </a:p>
        </p:txBody>
      </p:sp>
      <p:cxnSp>
        <p:nvCxnSpPr>
          <p:cNvPr id="7" name="Conector recto 6">
            <a:extLst>
              <a:ext uri="{FF2B5EF4-FFF2-40B4-BE49-F238E27FC236}">
                <a16:creationId xmlns:a16="http://schemas.microsoft.com/office/drawing/2014/main" id="{8D798BA2-E370-4152-ACB3-E5F4CB84C1C1}"/>
              </a:ext>
            </a:extLst>
          </p:cNvPr>
          <p:cNvCxnSpPr>
            <a:cxnSpLocks/>
          </p:cNvCxnSpPr>
          <p:nvPr/>
        </p:nvCxnSpPr>
        <p:spPr>
          <a:xfrm>
            <a:off x="2695575" y="1685925"/>
            <a:ext cx="1495425" cy="4733925"/>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272DD3D9-987E-4D6F-A1A6-18491471E8C8}"/>
              </a:ext>
            </a:extLst>
          </p:cNvPr>
          <p:cNvCxnSpPr/>
          <p:nvPr/>
        </p:nvCxnSpPr>
        <p:spPr>
          <a:xfrm flipV="1">
            <a:off x="2343150" y="1685925"/>
            <a:ext cx="2457450" cy="499110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0" name="14 Conector recto de flecha">
            <a:extLst>
              <a:ext uri="{FF2B5EF4-FFF2-40B4-BE49-F238E27FC236}">
                <a16:creationId xmlns:a16="http://schemas.microsoft.com/office/drawing/2014/main" id="{796B2545-050B-4AEB-8207-E74AE8255A5E}"/>
              </a:ext>
            </a:extLst>
          </p:cNvPr>
          <p:cNvCxnSpPr>
            <a:cxnSpLocks/>
          </p:cNvCxnSpPr>
          <p:nvPr/>
        </p:nvCxnSpPr>
        <p:spPr>
          <a:xfrm flipV="1">
            <a:off x="2981325" y="1676400"/>
            <a:ext cx="0" cy="464820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5FB19D5B-D8C5-40C2-9605-C34DC47D09FC}"/>
              </a:ext>
            </a:extLst>
          </p:cNvPr>
          <p:cNvCxnSpPr/>
          <p:nvPr/>
        </p:nvCxnSpPr>
        <p:spPr>
          <a:xfrm>
            <a:off x="1634346" y="3969765"/>
            <a:ext cx="459500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D3AE2EA7-D9A2-47F1-96B8-62D2524ED24A}"/>
              </a:ext>
            </a:extLst>
          </p:cNvPr>
          <p:cNvSpPr/>
          <p:nvPr/>
        </p:nvSpPr>
        <p:spPr>
          <a:xfrm>
            <a:off x="7105650" y="1366361"/>
            <a:ext cx="3438525" cy="1631216"/>
          </a:xfrm>
          <a:prstGeom prst="rect">
            <a:avLst/>
          </a:prstGeom>
        </p:spPr>
        <p:txBody>
          <a:bodyPr wrap="square">
            <a:spAutoFit/>
          </a:bodyPr>
          <a:lstStyle/>
          <a:p>
            <a:pPr lvl="0"/>
            <a:r>
              <a:rPr lang="es-ES" sz="2000" dirty="0"/>
              <a:t>i) Graficando las restricciones</a:t>
            </a:r>
          </a:p>
          <a:p>
            <a:pPr lvl="0"/>
            <a:r>
              <a:rPr lang="es-MX" sz="2000" dirty="0"/>
              <a:t>- </a:t>
            </a:r>
            <a:r>
              <a:rPr lang="es-MX" sz="2000" dirty="0" err="1"/>
              <a:t>4X1</a:t>
            </a:r>
            <a:r>
              <a:rPr lang="es-MX" sz="2000" dirty="0"/>
              <a:t> +  </a:t>
            </a:r>
            <a:r>
              <a:rPr lang="es-MX" sz="2000" dirty="0" err="1"/>
              <a:t>2X2</a:t>
            </a:r>
            <a:r>
              <a:rPr lang="es-MX" sz="2000" dirty="0"/>
              <a:t>    ≤ -10        (I)</a:t>
            </a:r>
          </a:p>
          <a:p>
            <a:pPr lvl="0"/>
            <a:r>
              <a:rPr lang="es-MX" sz="2000" dirty="0"/>
              <a:t>- </a:t>
            </a:r>
            <a:r>
              <a:rPr lang="es-MX" sz="2000" dirty="0" err="1"/>
              <a:t>4X1</a:t>
            </a:r>
            <a:r>
              <a:rPr lang="es-MX" sz="2000" dirty="0"/>
              <a:t> +  </a:t>
            </a:r>
            <a:r>
              <a:rPr lang="es-MX" sz="2000" dirty="0" err="1"/>
              <a:t>2X2</a:t>
            </a:r>
            <a:r>
              <a:rPr lang="es-MX" sz="2000" dirty="0"/>
              <a:t>    = -10</a:t>
            </a:r>
          </a:p>
          <a:p>
            <a:pPr lvl="0"/>
            <a:r>
              <a:rPr lang="es-MX" sz="2000" dirty="0"/>
              <a:t>Si </a:t>
            </a:r>
            <a:r>
              <a:rPr lang="es-MX" sz="2000" dirty="0" err="1"/>
              <a:t>X1</a:t>
            </a:r>
            <a:r>
              <a:rPr lang="es-MX" sz="2000" dirty="0"/>
              <a:t>= 0     </a:t>
            </a:r>
            <a:r>
              <a:rPr lang="es-MX" sz="2000" dirty="0" err="1"/>
              <a:t>X2</a:t>
            </a:r>
            <a:r>
              <a:rPr lang="es-MX" sz="2000" dirty="0"/>
              <a:t>  = - 5 </a:t>
            </a:r>
          </a:p>
          <a:p>
            <a:pPr lvl="0"/>
            <a:r>
              <a:rPr lang="es-MX" sz="2000" dirty="0"/>
              <a:t>Si </a:t>
            </a:r>
            <a:r>
              <a:rPr lang="es-MX" sz="2000" dirty="0" err="1"/>
              <a:t>X2</a:t>
            </a:r>
            <a:r>
              <a:rPr lang="es-MX" sz="2000" dirty="0"/>
              <a:t>= 0     </a:t>
            </a:r>
            <a:r>
              <a:rPr lang="es-MX" sz="2000" dirty="0" err="1"/>
              <a:t>X1</a:t>
            </a:r>
            <a:r>
              <a:rPr lang="es-MX" sz="2000" dirty="0"/>
              <a:t>  = 2,5 </a:t>
            </a:r>
            <a:endParaRPr lang="es-PE" sz="2000" dirty="0"/>
          </a:p>
        </p:txBody>
      </p:sp>
      <p:sp>
        <p:nvSpPr>
          <p:cNvPr id="23" name="Rectángulo 22">
            <a:extLst>
              <a:ext uri="{FF2B5EF4-FFF2-40B4-BE49-F238E27FC236}">
                <a16:creationId xmlns:a16="http://schemas.microsoft.com/office/drawing/2014/main" id="{AD36DBEE-55AA-4B6A-BA64-34AF9718BD0A}"/>
              </a:ext>
            </a:extLst>
          </p:cNvPr>
          <p:cNvSpPr/>
          <p:nvPr/>
        </p:nvSpPr>
        <p:spPr>
          <a:xfrm>
            <a:off x="7134225" y="3176885"/>
            <a:ext cx="2914650" cy="1015663"/>
          </a:xfrm>
          <a:prstGeom prst="rect">
            <a:avLst/>
          </a:prstGeom>
        </p:spPr>
        <p:txBody>
          <a:bodyPr wrap="square">
            <a:spAutoFit/>
          </a:bodyPr>
          <a:lstStyle/>
          <a:p>
            <a:pPr lvl="0"/>
            <a:r>
              <a:rPr lang="es-MX" sz="2000" dirty="0" err="1"/>
              <a:t>3X1</a:t>
            </a:r>
            <a:r>
              <a:rPr lang="es-MX" sz="2000" dirty="0"/>
              <a:t> +  </a:t>
            </a:r>
            <a:r>
              <a:rPr lang="es-MX" sz="2000" dirty="0" err="1"/>
              <a:t>X2</a:t>
            </a:r>
            <a:r>
              <a:rPr lang="es-MX" sz="2000" dirty="0"/>
              <a:t>       = 5            (II)</a:t>
            </a:r>
          </a:p>
          <a:p>
            <a:pPr lvl="0"/>
            <a:r>
              <a:rPr lang="es-MX" sz="2000" dirty="0"/>
              <a:t>Si </a:t>
            </a:r>
            <a:r>
              <a:rPr lang="es-MX" sz="2000" dirty="0" err="1"/>
              <a:t>X1</a:t>
            </a:r>
            <a:r>
              <a:rPr lang="es-MX" sz="2000" dirty="0"/>
              <a:t>= 0   </a:t>
            </a:r>
            <a:r>
              <a:rPr lang="es-MX" sz="2000" dirty="0" err="1"/>
              <a:t>X2</a:t>
            </a:r>
            <a:r>
              <a:rPr lang="es-MX" sz="2000" dirty="0"/>
              <a:t>    = 5</a:t>
            </a:r>
          </a:p>
          <a:p>
            <a:pPr lvl="0"/>
            <a:r>
              <a:rPr lang="es-MX" sz="2000" dirty="0"/>
              <a:t>Si </a:t>
            </a:r>
            <a:r>
              <a:rPr lang="es-MX" sz="2000" dirty="0" err="1"/>
              <a:t>X2</a:t>
            </a:r>
            <a:r>
              <a:rPr lang="es-MX" sz="2000" dirty="0"/>
              <a:t>= 0   </a:t>
            </a:r>
            <a:r>
              <a:rPr lang="es-MX" sz="2000" dirty="0" err="1"/>
              <a:t>X1</a:t>
            </a:r>
            <a:r>
              <a:rPr lang="es-MX" sz="2000" dirty="0"/>
              <a:t>    = 1,6</a:t>
            </a:r>
            <a:endParaRPr lang="es-PE" sz="2000" dirty="0"/>
          </a:p>
        </p:txBody>
      </p:sp>
      <p:sp>
        <p:nvSpPr>
          <p:cNvPr id="17" name="Rectangle 2">
            <a:extLst>
              <a:ext uri="{FF2B5EF4-FFF2-40B4-BE49-F238E27FC236}">
                <a16:creationId xmlns:a16="http://schemas.microsoft.com/office/drawing/2014/main" id="{C4BF2553-08E1-4B26-9833-65AC25832E59}"/>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5</a:t>
            </a:r>
          </a:p>
        </p:txBody>
      </p:sp>
    </p:spTree>
    <p:extLst>
      <p:ext uri="{BB962C8B-B14F-4D97-AF65-F5344CB8AC3E}">
        <p14:creationId xmlns:p14="http://schemas.microsoft.com/office/powerpoint/2010/main" val="4234938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18" grpId="0"/>
      <p:bldP spid="2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6 Tabla">
            <a:extLst>
              <a:ext uri="{FF2B5EF4-FFF2-40B4-BE49-F238E27FC236}">
                <a16:creationId xmlns:a16="http://schemas.microsoft.com/office/drawing/2014/main" id="{E1451585-AFC8-499A-A00E-E2CDB52DC55E}"/>
              </a:ext>
            </a:extLst>
          </p:cNvPr>
          <p:cNvGraphicFramePr>
            <a:graphicFrameLocks noGrp="1"/>
          </p:cNvGraphicFramePr>
          <p:nvPr/>
        </p:nvGraphicFramePr>
        <p:xfrm>
          <a:off x="552452" y="3758565"/>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7174" name="Rectangle 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sp>
        <p:nvSpPr>
          <p:cNvPr id="7175"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sp>
        <p:nvSpPr>
          <p:cNvPr id="7176"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sp>
        <p:nvSpPr>
          <p:cNvPr id="7177"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sp>
        <p:nvSpPr>
          <p:cNvPr id="7178" name="Rectangle 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sp>
        <p:nvSpPr>
          <p:cNvPr id="7179"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sp>
        <p:nvSpPr>
          <p:cNvPr id="14" name="13 CuadroTexto"/>
          <p:cNvSpPr txBox="1"/>
          <p:nvPr/>
        </p:nvSpPr>
        <p:spPr>
          <a:xfrm>
            <a:off x="877021" y="5276514"/>
            <a:ext cx="648072" cy="338554"/>
          </a:xfrm>
          <a:prstGeom prst="rect">
            <a:avLst/>
          </a:prstGeom>
          <a:noFill/>
        </p:spPr>
        <p:txBody>
          <a:bodyPr wrap="square" rtlCol="0">
            <a:spAutoFit/>
          </a:bodyPr>
          <a:lstStyle>
            <a:defPPr>
              <a:defRPr lang="es-PE"/>
            </a:defPPr>
            <a:lvl1pPr>
              <a:defRPr sz="1600"/>
            </a:lvl1pPr>
          </a:lstStyle>
          <a:p>
            <a:r>
              <a:rPr lang="es-PE" dirty="0"/>
              <a:t>-0.5</a:t>
            </a:r>
          </a:p>
        </p:txBody>
      </p:sp>
      <p:sp>
        <p:nvSpPr>
          <p:cNvPr id="16" name="15 CuadroTexto"/>
          <p:cNvSpPr txBox="1"/>
          <p:nvPr/>
        </p:nvSpPr>
        <p:spPr>
          <a:xfrm>
            <a:off x="871266" y="4978779"/>
            <a:ext cx="638587" cy="338554"/>
          </a:xfrm>
          <a:prstGeom prst="rect">
            <a:avLst/>
          </a:prstGeom>
          <a:noFill/>
        </p:spPr>
        <p:txBody>
          <a:bodyPr wrap="square" rtlCol="0">
            <a:spAutoFit/>
          </a:bodyPr>
          <a:lstStyle/>
          <a:p>
            <a:r>
              <a:rPr lang="es-PE" sz="1600" dirty="0"/>
              <a:t>-0.25</a:t>
            </a:r>
          </a:p>
        </p:txBody>
      </p:sp>
      <p:sp>
        <p:nvSpPr>
          <p:cNvPr id="17" name="16 CuadroTexto"/>
          <p:cNvSpPr txBox="1"/>
          <p:nvPr/>
        </p:nvSpPr>
        <p:spPr>
          <a:xfrm>
            <a:off x="1413293" y="4792759"/>
            <a:ext cx="2682457" cy="338554"/>
          </a:xfrm>
          <a:prstGeom prst="rect">
            <a:avLst/>
          </a:prstGeom>
          <a:noFill/>
        </p:spPr>
        <p:txBody>
          <a:bodyPr wrap="square" rtlCol="0">
            <a:spAutoFit/>
          </a:bodyPr>
          <a:lstStyle/>
          <a:p>
            <a:r>
              <a:rPr lang="es-PE" sz="1600" dirty="0"/>
              <a:t>0.25 0,5       1         1,5        2</a:t>
            </a:r>
          </a:p>
        </p:txBody>
      </p:sp>
      <p:cxnSp>
        <p:nvCxnSpPr>
          <p:cNvPr id="22" name="21 Conector recto de flecha"/>
          <p:cNvCxnSpPr/>
          <p:nvPr/>
        </p:nvCxnSpPr>
        <p:spPr>
          <a:xfrm flipV="1">
            <a:off x="509316" y="4867757"/>
            <a:ext cx="4369718" cy="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22 Conector recto de flecha"/>
          <p:cNvCxnSpPr>
            <a:cxnSpLocks/>
          </p:cNvCxnSpPr>
          <p:nvPr/>
        </p:nvCxnSpPr>
        <p:spPr>
          <a:xfrm flipV="1">
            <a:off x="1413293" y="3217957"/>
            <a:ext cx="2043" cy="2617359"/>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 name="4 CuadroTexto"/>
          <p:cNvSpPr txBox="1"/>
          <p:nvPr/>
        </p:nvSpPr>
        <p:spPr>
          <a:xfrm>
            <a:off x="857177" y="3207495"/>
            <a:ext cx="510952" cy="369332"/>
          </a:xfrm>
          <a:prstGeom prst="rect">
            <a:avLst/>
          </a:prstGeom>
          <a:noFill/>
        </p:spPr>
        <p:txBody>
          <a:bodyPr wrap="square" rtlCol="0">
            <a:spAutoFit/>
          </a:bodyPr>
          <a:lstStyle/>
          <a:p>
            <a:r>
              <a:rPr lang="es-ES" b="1" dirty="0" err="1">
                <a:solidFill>
                  <a:srgbClr val="FF0000"/>
                </a:solidFill>
                <a:latin typeface="Arial" pitchFamily="34" charset="0"/>
                <a:cs typeface="Arial" pitchFamily="34" charset="0"/>
              </a:rPr>
              <a:t>X2</a:t>
            </a:r>
            <a:endParaRPr lang="es-PE" b="1" dirty="0">
              <a:solidFill>
                <a:srgbClr val="FF0000"/>
              </a:solidFill>
              <a:latin typeface="Arial" pitchFamily="34" charset="0"/>
              <a:cs typeface="Arial" pitchFamily="34" charset="0"/>
            </a:endParaRPr>
          </a:p>
        </p:txBody>
      </p:sp>
      <p:sp>
        <p:nvSpPr>
          <p:cNvPr id="25" name="24 CuadroTexto"/>
          <p:cNvSpPr txBox="1"/>
          <p:nvPr/>
        </p:nvSpPr>
        <p:spPr>
          <a:xfrm>
            <a:off x="4368082" y="4976130"/>
            <a:ext cx="510952" cy="369332"/>
          </a:xfrm>
          <a:prstGeom prst="rect">
            <a:avLst/>
          </a:prstGeom>
          <a:noFill/>
        </p:spPr>
        <p:txBody>
          <a:bodyPr wrap="square" rtlCol="0">
            <a:spAutoFit/>
          </a:bodyPr>
          <a:lstStyle/>
          <a:p>
            <a:r>
              <a:rPr lang="es-ES" b="1" dirty="0" err="1">
                <a:solidFill>
                  <a:srgbClr val="FF0000"/>
                </a:solidFill>
                <a:latin typeface="Arial" pitchFamily="34" charset="0"/>
                <a:cs typeface="Arial" pitchFamily="34" charset="0"/>
              </a:rPr>
              <a:t>X1</a:t>
            </a:r>
            <a:endParaRPr lang="es-PE" b="1" dirty="0">
              <a:solidFill>
                <a:srgbClr val="FF0000"/>
              </a:solidFill>
              <a:latin typeface="Arial" pitchFamily="34" charset="0"/>
              <a:cs typeface="Arial" pitchFamily="34" charset="0"/>
            </a:endParaRPr>
          </a:p>
        </p:txBody>
      </p:sp>
      <p:sp>
        <p:nvSpPr>
          <p:cNvPr id="27" name="Rectangle 2"/>
          <p:cNvSpPr>
            <a:spLocks noChangeArrowheads="1"/>
          </p:cNvSpPr>
          <p:nvPr/>
        </p:nvSpPr>
        <p:spPr bwMode="auto">
          <a:xfrm>
            <a:off x="2838091" y="5628833"/>
            <a:ext cx="2946999" cy="1015663"/>
          </a:xfrm>
          <a:prstGeom prst="rect">
            <a:avLst/>
          </a:prstGeom>
          <a:noFill/>
          <a:ln w="9525">
            <a:noFill/>
            <a:miter lim="800000"/>
            <a:headEnd/>
            <a:tailEnd/>
          </a:ln>
        </p:spPr>
        <p:txBody>
          <a:bodyPr wrap="square" anchor="ctr">
            <a:spAutoFit/>
          </a:bodyPr>
          <a:lstStyle/>
          <a:p>
            <a:pPr eaLnBrk="0" hangingPunct="0">
              <a:tabLst>
                <a:tab pos="809625" algn="l"/>
              </a:tabLst>
            </a:pPr>
            <a:r>
              <a:rPr lang="es-MX" sz="2000" dirty="0">
                <a:solidFill>
                  <a:srgbClr val="FF0000"/>
                </a:solidFill>
                <a:latin typeface="Arial Narrow" pitchFamily="34" charset="0"/>
                <a:ea typeface="MS Mincho" pitchFamily="49" charset="-128"/>
                <a:cs typeface="Arial" charset="0"/>
              </a:rPr>
              <a:t>RESPUESTA 	</a:t>
            </a:r>
          </a:p>
          <a:p>
            <a:pPr>
              <a:tabLst>
                <a:tab pos="809625" algn="l"/>
              </a:tabLst>
            </a:pPr>
            <a:r>
              <a:rPr lang="es-MX" sz="2000" dirty="0">
                <a:solidFill>
                  <a:srgbClr val="FF0000"/>
                </a:solidFill>
                <a:latin typeface="Arial Narrow" pitchFamily="34" charset="0"/>
                <a:ea typeface="MS Mincho" pitchFamily="49" charset="-128"/>
                <a:cs typeface="Arial" charset="0"/>
              </a:rPr>
              <a:t>No tiene solución óptima, porque no hay región factible.</a:t>
            </a:r>
            <a:endParaRPr lang="es-PE" sz="2000" dirty="0">
              <a:solidFill>
                <a:srgbClr val="FF0000"/>
              </a:solidFill>
              <a:latin typeface="Arial Narrow" pitchFamily="34" charset="0"/>
              <a:ea typeface="MS Mincho" pitchFamily="49" charset="-128"/>
              <a:cs typeface="Arial" charset="0"/>
            </a:endParaRPr>
          </a:p>
        </p:txBody>
      </p:sp>
      <p:sp>
        <p:nvSpPr>
          <p:cNvPr id="3" name="Rectángulo 2">
            <a:extLst>
              <a:ext uri="{FF2B5EF4-FFF2-40B4-BE49-F238E27FC236}">
                <a16:creationId xmlns:a16="http://schemas.microsoft.com/office/drawing/2014/main" id="{AD8055C4-5685-4965-A210-4157805270FD}"/>
              </a:ext>
            </a:extLst>
          </p:cNvPr>
          <p:cNvSpPr/>
          <p:nvPr/>
        </p:nvSpPr>
        <p:spPr>
          <a:xfrm>
            <a:off x="129191" y="1257298"/>
            <a:ext cx="2761323" cy="1938992"/>
          </a:xfrm>
          <a:prstGeom prst="rect">
            <a:avLst/>
          </a:prstGeom>
          <a:solidFill>
            <a:srgbClr val="FFFF00"/>
          </a:solidFill>
        </p:spPr>
        <p:txBody>
          <a:bodyPr wrap="square">
            <a:spAutoFit/>
          </a:bodyPr>
          <a:lstStyle/>
          <a:p>
            <a:pPr lvl="0"/>
            <a:r>
              <a:rPr lang="es-MX" sz="2000" b="1" dirty="0"/>
              <a:t>MAX    </a:t>
            </a:r>
            <a:r>
              <a:rPr lang="es-MX" sz="2000" b="1" dirty="0" err="1"/>
              <a:t>X</a:t>
            </a:r>
            <a:r>
              <a:rPr lang="es-MX" sz="2000" b="1" baseline="-25000" dirty="0" err="1"/>
              <a:t>1</a:t>
            </a:r>
            <a:r>
              <a:rPr lang="es-MX" sz="2000" b="1" baseline="-25000" dirty="0"/>
              <a:t>     </a:t>
            </a:r>
            <a:r>
              <a:rPr lang="es-MX" sz="2000" b="1" dirty="0"/>
              <a:t>-   </a:t>
            </a:r>
            <a:r>
              <a:rPr lang="es-MX" sz="2000" b="1" dirty="0" err="1"/>
              <a:t>X</a:t>
            </a:r>
            <a:r>
              <a:rPr lang="es-MX" sz="2000" b="1" baseline="-25000" dirty="0" err="1"/>
              <a:t>2</a:t>
            </a:r>
            <a:endParaRPr lang="es-MX" sz="2000" b="1" baseline="-25000" dirty="0"/>
          </a:p>
          <a:p>
            <a:pPr lvl="0"/>
            <a:r>
              <a:rPr lang="es-ES" sz="2000" b="1" dirty="0"/>
              <a:t>SUJETO A</a:t>
            </a:r>
          </a:p>
          <a:p>
            <a:pPr lvl="0"/>
            <a:r>
              <a:rPr lang="es-PE" sz="2000" b="1" dirty="0" err="1"/>
              <a:t>2X</a:t>
            </a:r>
            <a:r>
              <a:rPr lang="es-PE" sz="2000" b="1" baseline="-25000" dirty="0" err="1"/>
              <a:t>1</a:t>
            </a:r>
            <a:r>
              <a:rPr lang="es-PE" sz="2000" b="1" baseline="-25000" dirty="0"/>
              <a:t>   </a:t>
            </a:r>
            <a:r>
              <a:rPr lang="es-PE" sz="2000" b="1" dirty="0"/>
              <a:t>-  </a:t>
            </a:r>
            <a:r>
              <a:rPr lang="es-PE" sz="2000" b="1" dirty="0" err="1"/>
              <a:t>2X</a:t>
            </a:r>
            <a:r>
              <a:rPr lang="es-PE" sz="2000" b="1" baseline="-25000" dirty="0" err="1"/>
              <a:t>2</a:t>
            </a:r>
            <a:r>
              <a:rPr lang="es-PE" sz="2000" b="1" baseline="-25000" dirty="0"/>
              <a:t>  </a:t>
            </a:r>
            <a:r>
              <a:rPr lang="es-PE" sz="2000" b="1" dirty="0"/>
              <a:t>≤  1</a:t>
            </a:r>
          </a:p>
          <a:p>
            <a:pPr lvl="0"/>
            <a:r>
              <a:rPr lang="es-PE" sz="2000" b="1" dirty="0"/>
              <a:t>-</a:t>
            </a:r>
            <a:r>
              <a:rPr lang="es-PE" sz="2000" b="1" dirty="0" err="1"/>
              <a:t>4X</a:t>
            </a:r>
            <a:r>
              <a:rPr lang="es-PE" sz="2000" b="1" baseline="-25000" dirty="0" err="1"/>
              <a:t>1</a:t>
            </a:r>
            <a:r>
              <a:rPr lang="es-PE" sz="2000" b="1" dirty="0"/>
              <a:t>+ </a:t>
            </a:r>
            <a:r>
              <a:rPr lang="es-PE" sz="2000" b="1" dirty="0" err="1"/>
              <a:t>4X</a:t>
            </a:r>
            <a:r>
              <a:rPr lang="es-PE" sz="2000" b="1" baseline="-25000" dirty="0" err="1"/>
              <a:t>2</a:t>
            </a:r>
            <a:r>
              <a:rPr lang="es-PE" sz="2000" b="1" baseline="-25000" dirty="0"/>
              <a:t>   </a:t>
            </a:r>
            <a:r>
              <a:rPr lang="es-PE" sz="2000" b="1" dirty="0"/>
              <a:t>≤ -1</a:t>
            </a:r>
          </a:p>
          <a:p>
            <a:pPr lvl="0"/>
            <a:r>
              <a:rPr lang="es-MX" sz="2000" b="1" dirty="0"/>
              <a:t>    </a:t>
            </a:r>
            <a:r>
              <a:rPr lang="es-MX" sz="2000" b="1" dirty="0" err="1"/>
              <a:t>X</a:t>
            </a:r>
            <a:r>
              <a:rPr lang="es-MX" sz="2000" b="1" baseline="-25000" dirty="0" err="1"/>
              <a:t>1</a:t>
            </a:r>
            <a:r>
              <a:rPr lang="es-MX" sz="2000" b="1" baseline="-25000" dirty="0"/>
              <a:t>   </a:t>
            </a:r>
            <a:r>
              <a:rPr lang="es-MX" sz="2000" b="1" dirty="0"/>
              <a:t>,  </a:t>
            </a:r>
            <a:r>
              <a:rPr lang="es-MX" sz="2000" b="1" dirty="0" err="1"/>
              <a:t>X</a:t>
            </a:r>
            <a:r>
              <a:rPr lang="es-MX" sz="2000" b="1" baseline="-25000" dirty="0" err="1"/>
              <a:t>2</a:t>
            </a:r>
            <a:r>
              <a:rPr lang="es-MX" sz="2000" b="1" dirty="0"/>
              <a:t>  ≥  0 ,  </a:t>
            </a:r>
            <a:r>
              <a:rPr lang="es-MX" sz="2000" b="1" dirty="0">
                <a:solidFill>
                  <a:srgbClr val="FF0000"/>
                </a:solidFill>
              </a:rPr>
              <a:t>ENTERAS</a:t>
            </a:r>
            <a:endParaRPr lang="es-ES" sz="2000" b="1" dirty="0"/>
          </a:p>
        </p:txBody>
      </p:sp>
      <p:sp>
        <p:nvSpPr>
          <p:cNvPr id="4" name="Rectángulo 3">
            <a:extLst>
              <a:ext uri="{FF2B5EF4-FFF2-40B4-BE49-F238E27FC236}">
                <a16:creationId xmlns:a16="http://schemas.microsoft.com/office/drawing/2014/main" id="{E5E9DA1F-AFCF-4ABA-8868-DAE2FEC221DF}"/>
              </a:ext>
            </a:extLst>
          </p:cNvPr>
          <p:cNvSpPr/>
          <p:nvPr/>
        </p:nvSpPr>
        <p:spPr>
          <a:xfrm>
            <a:off x="6268103" y="1329809"/>
            <a:ext cx="3504547" cy="1477328"/>
          </a:xfrm>
          <a:prstGeom prst="rect">
            <a:avLst/>
          </a:prstGeom>
        </p:spPr>
        <p:txBody>
          <a:bodyPr wrap="square">
            <a:spAutoFit/>
          </a:bodyPr>
          <a:lstStyle/>
          <a:p>
            <a:pPr marL="400050" lvl="0" indent="-400050">
              <a:buAutoNum type="romanLcParenR"/>
            </a:pPr>
            <a:r>
              <a:rPr lang="es-ES" dirty="0"/>
              <a:t>Graficando las restricciones</a:t>
            </a:r>
          </a:p>
          <a:p>
            <a:r>
              <a:rPr lang="es-MX" dirty="0"/>
              <a:t>        - </a:t>
            </a:r>
            <a:r>
              <a:rPr lang="es-MX" dirty="0" err="1"/>
              <a:t>2X1</a:t>
            </a:r>
            <a:r>
              <a:rPr lang="es-MX" dirty="0"/>
              <a:t> +  </a:t>
            </a:r>
            <a:r>
              <a:rPr lang="es-MX" dirty="0" err="1"/>
              <a:t>2X2</a:t>
            </a:r>
            <a:r>
              <a:rPr lang="es-MX" dirty="0"/>
              <a:t>	</a:t>
            </a:r>
            <a:r>
              <a:rPr lang="es-MX" b="1" dirty="0"/>
              <a:t> ≥</a:t>
            </a:r>
            <a:r>
              <a:rPr lang="es-MX" dirty="0"/>
              <a:t> - 1          (I)</a:t>
            </a:r>
          </a:p>
          <a:p>
            <a:r>
              <a:rPr lang="es-MX" dirty="0"/>
              <a:t>        - </a:t>
            </a:r>
            <a:r>
              <a:rPr lang="es-MX" dirty="0" err="1"/>
              <a:t>2X1</a:t>
            </a:r>
            <a:r>
              <a:rPr lang="es-MX" dirty="0"/>
              <a:t> +  </a:t>
            </a:r>
            <a:r>
              <a:rPr lang="es-MX" dirty="0" err="1"/>
              <a:t>2X2</a:t>
            </a:r>
            <a:r>
              <a:rPr lang="es-MX" dirty="0"/>
              <a:t>	</a:t>
            </a:r>
            <a:r>
              <a:rPr lang="es-MX" b="1" dirty="0"/>
              <a:t> =</a:t>
            </a:r>
            <a:r>
              <a:rPr lang="es-MX" dirty="0"/>
              <a:t> - 1</a:t>
            </a:r>
          </a:p>
          <a:p>
            <a:r>
              <a:rPr lang="es-MX" dirty="0"/>
              <a:t>           Si </a:t>
            </a:r>
            <a:r>
              <a:rPr lang="es-MX" dirty="0" err="1"/>
              <a:t>X1</a:t>
            </a:r>
            <a:r>
              <a:rPr lang="es-MX" dirty="0"/>
              <a:t>= 0     </a:t>
            </a:r>
            <a:r>
              <a:rPr lang="es-MX" dirty="0" err="1"/>
              <a:t>X2</a:t>
            </a:r>
            <a:r>
              <a:rPr lang="es-MX" dirty="0"/>
              <a:t>	= - 0,5</a:t>
            </a:r>
          </a:p>
          <a:p>
            <a:r>
              <a:rPr lang="es-MX" dirty="0"/>
              <a:t>           Si </a:t>
            </a:r>
            <a:r>
              <a:rPr lang="es-MX" dirty="0" err="1"/>
              <a:t>X2</a:t>
            </a:r>
            <a:r>
              <a:rPr lang="es-MX" dirty="0"/>
              <a:t>= 0     </a:t>
            </a:r>
            <a:r>
              <a:rPr lang="es-MX" dirty="0" err="1"/>
              <a:t>X1</a:t>
            </a:r>
            <a:r>
              <a:rPr lang="es-MX" dirty="0"/>
              <a:t>	= 0,5 </a:t>
            </a:r>
            <a:endParaRPr lang="es-PE" dirty="0"/>
          </a:p>
        </p:txBody>
      </p:sp>
      <p:sp>
        <p:nvSpPr>
          <p:cNvPr id="6" name="Rectángulo 5">
            <a:extLst>
              <a:ext uri="{FF2B5EF4-FFF2-40B4-BE49-F238E27FC236}">
                <a16:creationId xmlns:a16="http://schemas.microsoft.com/office/drawing/2014/main" id="{43C11CD9-9BB5-436F-9A8D-833C16880496}"/>
              </a:ext>
            </a:extLst>
          </p:cNvPr>
          <p:cNvSpPr/>
          <p:nvPr/>
        </p:nvSpPr>
        <p:spPr>
          <a:xfrm>
            <a:off x="6404957" y="3006209"/>
            <a:ext cx="3211135" cy="923330"/>
          </a:xfrm>
          <a:prstGeom prst="rect">
            <a:avLst/>
          </a:prstGeom>
        </p:spPr>
        <p:txBody>
          <a:bodyPr wrap="none">
            <a:spAutoFit/>
          </a:bodyPr>
          <a:lstStyle/>
          <a:p>
            <a:pPr lvl="0"/>
            <a:r>
              <a:rPr lang="es-MX" dirty="0"/>
              <a:t>     - </a:t>
            </a:r>
            <a:r>
              <a:rPr lang="es-MX" dirty="0" err="1"/>
              <a:t>4X1</a:t>
            </a:r>
            <a:r>
              <a:rPr lang="es-MX" dirty="0"/>
              <a:t> +  </a:t>
            </a:r>
            <a:r>
              <a:rPr lang="es-MX" dirty="0" err="1"/>
              <a:t>4X2</a:t>
            </a:r>
            <a:r>
              <a:rPr lang="es-MX" dirty="0"/>
              <a:t>	= -1 	(II)</a:t>
            </a:r>
          </a:p>
          <a:p>
            <a:r>
              <a:rPr lang="es-MX" dirty="0"/>
              <a:t>        Si </a:t>
            </a:r>
            <a:r>
              <a:rPr lang="es-MX" dirty="0" err="1"/>
              <a:t>X1</a:t>
            </a:r>
            <a:r>
              <a:rPr lang="es-MX" dirty="0"/>
              <a:t>= 0   </a:t>
            </a:r>
            <a:r>
              <a:rPr lang="es-MX" dirty="0" err="1"/>
              <a:t>X2</a:t>
            </a:r>
            <a:r>
              <a:rPr lang="es-MX" dirty="0"/>
              <a:t>	= - 0,25</a:t>
            </a:r>
          </a:p>
          <a:p>
            <a:r>
              <a:rPr lang="es-MX" dirty="0"/>
              <a:t>        Si </a:t>
            </a:r>
            <a:r>
              <a:rPr lang="es-MX" dirty="0" err="1"/>
              <a:t>X2</a:t>
            </a:r>
            <a:r>
              <a:rPr lang="es-MX" dirty="0"/>
              <a:t>= 0   </a:t>
            </a:r>
            <a:r>
              <a:rPr lang="es-MX" dirty="0" err="1"/>
              <a:t>X1</a:t>
            </a:r>
            <a:r>
              <a:rPr lang="es-MX" dirty="0"/>
              <a:t>	= 0,25</a:t>
            </a:r>
            <a:endParaRPr lang="es-PE" dirty="0"/>
          </a:p>
        </p:txBody>
      </p:sp>
      <p:cxnSp>
        <p:nvCxnSpPr>
          <p:cNvPr id="9" name="Conector recto 8">
            <a:extLst>
              <a:ext uri="{FF2B5EF4-FFF2-40B4-BE49-F238E27FC236}">
                <a16:creationId xmlns:a16="http://schemas.microsoft.com/office/drawing/2014/main" id="{3D14FC46-9DF5-4821-ACED-C5DD48E57DE6}"/>
              </a:ext>
            </a:extLst>
          </p:cNvPr>
          <p:cNvCxnSpPr>
            <a:cxnSpLocks/>
          </p:cNvCxnSpPr>
          <p:nvPr/>
        </p:nvCxnSpPr>
        <p:spPr>
          <a:xfrm flipV="1">
            <a:off x="1000125" y="3429000"/>
            <a:ext cx="2143125" cy="2171702"/>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648BD79B-7A33-40FE-9A62-3FF16F8559D2}"/>
              </a:ext>
            </a:extLst>
          </p:cNvPr>
          <p:cNvCxnSpPr>
            <a:cxnSpLocks/>
          </p:cNvCxnSpPr>
          <p:nvPr/>
        </p:nvCxnSpPr>
        <p:spPr>
          <a:xfrm flipV="1">
            <a:off x="1209675" y="3524250"/>
            <a:ext cx="2143125" cy="2152651"/>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DB29F463-806D-4378-9F15-BE375C577430}"/>
              </a:ext>
            </a:extLst>
          </p:cNvPr>
          <p:cNvCxnSpPr/>
          <p:nvPr/>
        </p:nvCxnSpPr>
        <p:spPr>
          <a:xfrm flipH="1" flipV="1">
            <a:off x="3209925" y="3419475"/>
            <a:ext cx="133350" cy="10477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588F1081-675F-40E3-9FAD-F0B56FC43D8A}"/>
              </a:ext>
            </a:extLst>
          </p:cNvPr>
          <p:cNvCxnSpPr/>
          <p:nvPr/>
        </p:nvCxnSpPr>
        <p:spPr>
          <a:xfrm>
            <a:off x="1000125" y="5591175"/>
            <a:ext cx="114300" cy="123825"/>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1" name="13 CuadroTexto">
            <a:extLst>
              <a:ext uri="{FF2B5EF4-FFF2-40B4-BE49-F238E27FC236}">
                <a16:creationId xmlns:a16="http://schemas.microsoft.com/office/drawing/2014/main" id="{B22E45F6-808A-4044-A63A-BA1A102BE2AE}"/>
              </a:ext>
            </a:extLst>
          </p:cNvPr>
          <p:cNvSpPr txBox="1"/>
          <p:nvPr/>
        </p:nvSpPr>
        <p:spPr>
          <a:xfrm>
            <a:off x="942976" y="3552489"/>
            <a:ext cx="515442" cy="954107"/>
          </a:xfrm>
          <a:prstGeom prst="rect">
            <a:avLst/>
          </a:prstGeom>
          <a:noFill/>
        </p:spPr>
        <p:txBody>
          <a:bodyPr wrap="square" rtlCol="0">
            <a:spAutoFit/>
          </a:bodyPr>
          <a:lstStyle>
            <a:defPPr>
              <a:defRPr lang="es-PE"/>
            </a:defPPr>
            <a:lvl1pPr>
              <a:defRPr sz="1600"/>
            </a:lvl1pPr>
          </a:lstStyle>
          <a:p>
            <a:r>
              <a:rPr lang="es-PE" dirty="0"/>
              <a:t>   1</a:t>
            </a:r>
          </a:p>
          <a:p>
            <a:r>
              <a:rPr lang="es-PE" dirty="0"/>
              <a:t> </a:t>
            </a:r>
          </a:p>
          <a:p>
            <a:endParaRPr lang="es-PE" sz="800" dirty="0"/>
          </a:p>
          <a:p>
            <a:r>
              <a:rPr lang="es-PE" dirty="0"/>
              <a:t>0,5</a:t>
            </a:r>
          </a:p>
        </p:txBody>
      </p:sp>
      <p:graphicFrame>
        <p:nvGraphicFramePr>
          <p:cNvPr id="42" name="1 Marcador de contenido">
            <a:extLst>
              <a:ext uri="{FF2B5EF4-FFF2-40B4-BE49-F238E27FC236}">
                <a16:creationId xmlns:a16="http://schemas.microsoft.com/office/drawing/2014/main" id="{4E913C48-565D-4339-A7DA-E1BC1B476394}"/>
              </a:ext>
            </a:extLst>
          </p:cNvPr>
          <p:cNvGraphicFramePr>
            <a:graphicFrameLocks noGrp="1"/>
          </p:cNvGraphicFramePr>
          <p:nvPr>
            <p:ph idx="1"/>
          </p:nvPr>
        </p:nvGraphicFramePr>
        <p:xfrm>
          <a:off x="6740327" y="4371975"/>
          <a:ext cx="2165548" cy="23945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3" name="3 Diagrama">
            <a:extLst>
              <a:ext uri="{FF2B5EF4-FFF2-40B4-BE49-F238E27FC236}">
                <a16:creationId xmlns:a16="http://schemas.microsoft.com/office/drawing/2014/main" id="{9FF57979-830F-46C7-97F1-4D194A5D847C}"/>
              </a:ext>
            </a:extLst>
          </p:cNvPr>
          <p:cNvGraphicFramePr/>
          <p:nvPr/>
        </p:nvGraphicFramePr>
        <p:xfrm>
          <a:off x="9229725" y="5104128"/>
          <a:ext cx="2654660" cy="58229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9" name="Rectangle 2">
            <a:extLst>
              <a:ext uri="{FF2B5EF4-FFF2-40B4-BE49-F238E27FC236}">
                <a16:creationId xmlns:a16="http://schemas.microsoft.com/office/drawing/2014/main" id="{ACE61E5D-3410-415D-A4A8-70E5D36ECA7E}"/>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6</a:t>
            </a:r>
          </a:p>
        </p:txBody>
      </p:sp>
    </p:spTree>
    <p:extLst>
      <p:ext uri="{BB962C8B-B14F-4D97-AF65-F5344CB8AC3E}">
        <p14:creationId xmlns:p14="http://schemas.microsoft.com/office/powerpoint/2010/main" val="3085307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500" fill="hold"/>
                                        <p:tgtEl>
                                          <p:spTgt spid="27"/>
                                        </p:tgtEl>
                                        <p:attrNameLst>
                                          <p:attrName>ppt_w</p:attrName>
                                        </p:attrNameLst>
                                      </p:cBhvr>
                                      <p:tavLst>
                                        <p:tav tm="0">
                                          <p:val>
                                            <p:fltVal val="0"/>
                                          </p:val>
                                        </p:tav>
                                        <p:tav tm="100000">
                                          <p:val>
                                            <p:strVal val="#ppt_w"/>
                                          </p:val>
                                        </p:tav>
                                      </p:tavLst>
                                    </p:anim>
                                    <p:anim calcmode="lin" valueType="num">
                                      <p:cBhvr>
                                        <p:cTn id="28" dur="500" fill="hold"/>
                                        <p:tgtEl>
                                          <p:spTgt spid="27"/>
                                        </p:tgtEl>
                                        <p:attrNameLst>
                                          <p:attrName>ppt_h</p:attrName>
                                        </p:attrNameLst>
                                      </p:cBhvr>
                                      <p:tavLst>
                                        <p:tav tm="0">
                                          <p:val>
                                            <p:fltVal val="0"/>
                                          </p:val>
                                        </p:tav>
                                        <p:tav tm="100000">
                                          <p:val>
                                            <p:strVal val="#ppt_h"/>
                                          </p:val>
                                        </p:tav>
                                      </p:tavLst>
                                    </p:anim>
                                    <p:animEffect transition="in" filter="fade">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 grpId="0"/>
      <p:bldP spid="6" grpId="0"/>
      <p:bldGraphic spid="42" grpId="0">
        <p:bldAsOne/>
      </p:bldGraphic>
      <p:bldGraphic spid="4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6 Tabla">
            <a:extLst>
              <a:ext uri="{FF2B5EF4-FFF2-40B4-BE49-F238E27FC236}">
                <a16:creationId xmlns:a16="http://schemas.microsoft.com/office/drawing/2014/main" id="{D198C9FE-51F6-43F1-856C-4D1B02C3818D}"/>
              </a:ext>
            </a:extLst>
          </p:cNvPr>
          <p:cNvGraphicFramePr>
            <a:graphicFrameLocks noGrp="1"/>
          </p:cNvGraphicFramePr>
          <p:nvPr>
            <p:extLst>
              <p:ext uri="{D42A27DB-BD31-4B8C-83A1-F6EECF244321}">
                <p14:modId xmlns:p14="http://schemas.microsoft.com/office/powerpoint/2010/main" val="2501014788"/>
              </p:ext>
            </p:extLst>
          </p:nvPr>
        </p:nvGraphicFramePr>
        <p:xfrm>
          <a:off x="624126" y="3059515"/>
          <a:ext cx="6792674" cy="3248034"/>
        </p:xfrm>
        <a:graphic>
          <a:graphicData uri="http://schemas.openxmlformats.org/drawingml/2006/table">
            <a:tbl>
              <a:tblPr firstRow="1" bandRow="1">
                <a:tableStyleId>{00A15C55-8517-42AA-B614-E9B94910E393}</a:tableStyleId>
              </a:tblPr>
              <a:tblGrid>
                <a:gridCol w="566749">
                  <a:extLst>
                    <a:ext uri="{9D8B030D-6E8A-4147-A177-3AD203B41FA5}">
                      <a16:colId xmlns:a16="http://schemas.microsoft.com/office/drawing/2014/main" val="20000"/>
                    </a:ext>
                  </a:extLst>
                </a:gridCol>
                <a:gridCol w="566749">
                  <a:extLst>
                    <a:ext uri="{9D8B030D-6E8A-4147-A177-3AD203B41FA5}">
                      <a16:colId xmlns:a16="http://schemas.microsoft.com/office/drawing/2014/main" val="20001"/>
                    </a:ext>
                  </a:extLst>
                </a:gridCol>
                <a:gridCol w="585658">
                  <a:extLst>
                    <a:ext uri="{9D8B030D-6E8A-4147-A177-3AD203B41FA5}">
                      <a16:colId xmlns:a16="http://schemas.microsoft.com/office/drawing/2014/main" val="20002"/>
                    </a:ext>
                  </a:extLst>
                </a:gridCol>
                <a:gridCol w="566749">
                  <a:extLst>
                    <a:ext uri="{9D8B030D-6E8A-4147-A177-3AD203B41FA5}">
                      <a16:colId xmlns:a16="http://schemas.microsoft.com/office/drawing/2014/main" val="20003"/>
                    </a:ext>
                  </a:extLst>
                </a:gridCol>
                <a:gridCol w="566749">
                  <a:extLst>
                    <a:ext uri="{9D8B030D-6E8A-4147-A177-3AD203B41FA5}">
                      <a16:colId xmlns:a16="http://schemas.microsoft.com/office/drawing/2014/main" val="20004"/>
                    </a:ext>
                  </a:extLst>
                </a:gridCol>
                <a:gridCol w="566749">
                  <a:extLst>
                    <a:ext uri="{9D8B030D-6E8A-4147-A177-3AD203B41FA5}">
                      <a16:colId xmlns:a16="http://schemas.microsoft.com/office/drawing/2014/main" val="20005"/>
                    </a:ext>
                  </a:extLst>
                </a:gridCol>
                <a:gridCol w="566749">
                  <a:extLst>
                    <a:ext uri="{9D8B030D-6E8A-4147-A177-3AD203B41FA5}">
                      <a16:colId xmlns:a16="http://schemas.microsoft.com/office/drawing/2014/main" val="20006"/>
                    </a:ext>
                  </a:extLst>
                </a:gridCol>
                <a:gridCol w="566749">
                  <a:extLst>
                    <a:ext uri="{9D8B030D-6E8A-4147-A177-3AD203B41FA5}">
                      <a16:colId xmlns:a16="http://schemas.microsoft.com/office/drawing/2014/main" val="20007"/>
                    </a:ext>
                  </a:extLst>
                </a:gridCol>
                <a:gridCol w="566749">
                  <a:extLst>
                    <a:ext uri="{9D8B030D-6E8A-4147-A177-3AD203B41FA5}">
                      <a16:colId xmlns:a16="http://schemas.microsoft.com/office/drawing/2014/main" val="20008"/>
                    </a:ext>
                  </a:extLst>
                </a:gridCol>
                <a:gridCol w="566749">
                  <a:extLst>
                    <a:ext uri="{9D8B030D-6E8A-4147-A177-3AD203B41FA5}">
                      <a16:colId xmlns:a16="http://schemas.microsoft.com/office/drawing/2014/main" val="20009"/>
                    </a:ext>
                  </a:extLst>
                </a:gridCol>
                <a:gridCol w="566749">
                  <a:extLst>
                    <a:ext uri="{9D8B030D-6E8A-4147-A177-3AD203B41FA5}">
                      <a16:colId xmlns:a16="http://schemas.microsoft.com/office/drawing/2014/main" val="20010"/>
                    </a:ext>
                  </a:extLst>
                </a:gridCol>
                <a:gridCol w="539526">
                  <a:extLst>
                    <a:ext uri="{9D8B030D-6E8A-4147-A177-3AD203B41FA5}">
                      <a16:colId xmlns:a16="http://schemas.microsoft.com/office/drawing/2014/main" val="20011"/>
                    </a:ext>
                  </a:extLst>
                </a:gridCol>
              </a:tblGrid>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graphicFrame>
        <p:nvGraphicFramePr>
          <p:cNvPr id="2" name="1 Diagrama"/>
          <p:cNvGraphicFramePr/>
          <p:nvPr>
            <p:extLst>
              <p:ext uri="{D42A27DB-BD31-4B8C-83A1-F6EECF244321}">
                <p14:modId xmlns:p14="http://schemas.microsoft.com/office/powerpoint/2010/main" val="400877164"/>
              </p:ext>
            </p:extLst>
          </p:nvPr>
        </p:nvGraphicFramePr>
        <p:xfrm>
          <a:off x="8825055" y="5056632"/>
          <a:ext cx="3326648" cy="15994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197" name="Rectangle 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es-PE"/>
          </a:p>
        </p:txBody>
      </p:sp>
      <p:cxnSp>
        <p:nvCxnSpPr>
          <p:cNvPr id="22" name="21 Conector recto"/>
          <p:cNvCxnSpPr>
            <a:cxnSpLocks/>
          </p:cNvCxnSpPr>
          <p:nvPr/>
        </p:nvCxnSpPr>
        <p:spPr>
          <a:xfrm>
            <a:off x="1501246" y="5759544"/>
            <a:ext cx="3672408"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9 CuadroTexto"/>
          <p:cNvSpPr txBox="1"/>
          <p:nvPr/>
        </p:nvSpPr>
        <p:spPr>
          <a:xfrm>
            <a:off x="955569" y="6286783"/>
            <a:ext cx="8019097" cy="369332"/>
          </a:xfrm>
          <a:prstGeom prst="rect">
            <a:avLst/>
          </a:prstGeom>
          <a:noFill/>
        </p:spPr>
        <p:txBody>
          <a:bodyPr wrap="square" rtlCol="0">
            <a:spAutoFit/>
          </a:bodyPr>
          <a:lstStyle/>
          <a:p>
            <a:r>
              <a:rPr lang="es-PE" dirty="0"/>
              <a:t> 1         2         3        4        5          6         7       8          9      10      11       12        13        14   </a:t>
            </a:r>
          </a:p>
        </p:txBody>
      </p:sp>
      <p:cxnSp>
        <p:nvCxnSpPr>
          <p:cNvPr id="4" name="3 Conector recto de flecha"/>
          <p:cNvCxnSpPr>
            <a:cxnSpLocks/>
          </p:cNvCxnSpPr>
          <p:nvPr/>
        </p:nvCxnSpPr>
        <p:spPr>
          <a:xfrm flipV="1">
            <a:off x="438912" y="827895"/>
            <a:ext cx="230231" cy="150513"/>
          </a:xfrm>
          <a:prstGeom prst="straightConnector1">
            <a:avLst/>
          </a:prstGeom>
          <a:ln w="25400">
            <a:solidFill>
              <a:srgbClr val="00B050"/>
            </a:solidFill>
            <a:headEnd type="triangle"/>
          </a:ln>
        </p:spPr>
        <p:style>
          <a:lnRef idx="1">
            <a:schemeClr val="accent1"/>
          </a:lnRef>
          <a:fillRef idx="0">
            <a:schemeClr val="accent1"/>
          </a:fillRef>
          <a:effectRef idx="0">
            <a:schemeClr val="accent1"/>
          </a:effectRef>
          <a:fontRef idx="minor">
            <a:schemeClr val="tx1"/>
          </a:fontRef>
        </p:style>
      </p:cxnSp>
      <p:cxnSp>
        <p:nvCxnSpPr>
          <p:cNvPr id="9" name="8 Conector recto de flecha"/>
          <p:cNvCxnSpPr>
            <a:cxnSpLocks/>
          </p:cNvCxnSpPr>
          <p:nvPr/>
        </p:nvCxnSpPr>
        <p:spPr>
          <a:xfrm flipH="1">
            <a:off x="448056" y="3072108"/>
            <a:ext cx="177829" cy="265452"/>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1" name="30 Conector recto de flecha"/>
          <p:cNvCxnSpPr>
            <a:cxnSpLocks/>
          </p:cNvCxnSpPr>
          <p:nvPr/>
        </p:nvCxnSpPr>
        <p:spPr>
          <a:xfrm flipH="1">
            <a:off x="502920" y="3697101"/>
            <a:ext cx="103809" cy="25310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14 Conector recto de flecha"/>
          <p:cNvCxnSpPr>
            <a:cxnSpLocks/>
          </p:cNvCxnSpPr>
          <p:nvPr/>
        </p:nvCxnSpPr>
        <p:spPr>
          <a:xfrm>
            <a:off x="647384" y="6299042"/>
            <a:ext cx="8177671"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6" name="35 Tabla"/>
          <p:cNvGraphicFramePr>
            <a:graphicFrameLocks noGrp="1"/>
          </p:cNvGraphicFramePr>
          <p:nvPr>
            <p:extLst>
              <p:ext uri="{D42A27DB-BD31-4B8C-83A1-F6EECF244321}">
                <p14:modId xmlns:p14="http://schemas.microsoft.com/office/powerpoint/2010/main" val="2214082010"/>
              </p:ext>
            </p:extLst>
          </p:nvPr>
        </p:nvGraphicFramePr>
        <p:xfrm>
          <a:off x="8471772" y="1410700"/>
          <a:ext cx="3679931" cy="1944216"/>
        </p:xfrm>
        <a:graphic>
          <a:graphicData uri="http://schemas.openxmlformats.org/drawingml/2006/table">
            <a:tbl>
              <a:tblPr>
                <a:tableStyleId>{5C22544A-7EE6-4342-B048-85BDC9FD1C3A}</a:tableStyleId>
              </a:tblPr>
              <a:tblGrid>
                <a:gridCol w="987206">
                  <a:extLst>
                    <a:ext uri="{9D8B030D-6E8A-4147-A177-3AD203B41FA5}">
                      <a16:colId xmlns:a16="http://schemas.microsoft.com/office/drawing/2014/main" val="20000"/>
                    </a:ext>
                  </a:extLst>
                </a:gridCol>
                <a:gridCol w="871065">
                  <a:extLst>
                    <a:ext uri="{9D8B030D-6E8A-4147-A177-3AD203B41FA5}">
                      <a16:colId xmlns:a16="http://schemas.microsoft.com/office/drawing/2014/main" val="20001"/>
                    </a:ext>
                  </a:extLst>
                </a:gridCol>
                <a:gridCol w="1074900">
                  <a:extLst>
                    <a:ext uri="{9D8B030D-6E8A-4147-A177-3AD203B41FA5}">
                      <a16:colId xmlns:a16="http://schemas.microsoft.com/office/drawing/2014/main" val="20002"/>
                    </a:ext>
                  </a:extLst>
                </a:gridCol>
                <a:gridCol w="746760">
                  <a:extLst>
                    <a:ext uri="{9D8B030D-6E8A-4147-A177-3AD203B41FA5}">
                      <a16:colId xmlns:a16="http://schemas.microsoft.com/office/drawing/2014/main" val="20003"/>
                    </a:ext>
                  </a:extLst>
                </a:gridCol>
              </a:tblGrid>
              <a:tr h="506424">
                <a:tc>
                  <a:txBody>
                    <a:bodyPr/>
                    <a:lstStyle/>
                    <a:p>
                      <a:pPr marL="33020" algn="r">
                        <a:spcAft>
                          <a:spcPts val="0"/>
                        </a:spcAft>
                        <a:tabLst>
                          <a:tab pos="800100" algn="l"/>
                        </a:tabLst>
                      </a:pPr>
                      <a:r>
                        <a:rPr lang="es-ES_tradnl" sz="2000" dirty="0">
                          <a:effectLst/>
                        </a:rPr>
                        <a:t>Max</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8 </a:t>
                      </a:r>
                      <a:r>
                        <a:rPr lang="es-ES_tradnl" sz="2000" dirty="0" err="1">
                          <a:effectLst/>
                        </a:rPr>
                        <a:t>X1</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4 </a:t>
                      </a:r>
                      <a:r>
                        <a:rPr lang="es-ES_tradnl" sz="2000" dirty="0" err="1">
                          <a:effectLst/>
                        </a:rPr>
                        <a:t>X2</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a:effectLst/>
                        </a:rPr>
                        <a:t> </a:t>
                      </a:r>
                      <a:endParaRPr lang="es-PE" sz="2000">
                        <a:effectLst/>
                        <a:latin typeface="Times New Roman"/>
                        <a:ea typeface="Times New Roman"/>
                      </a:endParaRPr>
                    </a:p>
                  </a:txBody>
                  <a:tcPr marL="17780" marR="17780" marT="0" marB="0" anchor="ctr"/>
                </a:tc>
                <a:extLst>
                  <a:ext uri="{0D108BD9-81ED-4DB2-BD59-A6C34878D82A}">
                    <a16:rowId xmlns:a16="http://schemas.microsoft.com/office/drawing/2014/main" val="10000"/>
                  </a:ext>
                </a:extLst>
              </a:tr>
              <a:tr h="310456">
                <a:tc>
                  <a:txBody>
                    <a:bodyPr/>
                    <a:lstStyle/>
                    <a:p>
                      <a:pPr algn="r">
                        <a:spcAft>
                          <a:spcPts val="0"/>
                        </a:spcAft>
                        <a:tabLst>
                          <a:tab pos="800100" algn="l"/>
                        </a:tabLst>
                      </a:pPr>
                      <a:r>
                        <a:rPr lang="es-ES_tradnl" sz="2000" dirty="0">
                          <a:effectLst/>
                        </a:rPr>
                        <a:t> Sujeto a</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2 </a:t>
                      </a:r>
                      <a:r>
                        <a:rPr lang="es-ES_tradnl" sz="2000" dirty="0" err="1">
                          <a:effectLst/>
                        </a:rPr>
                        <a:t>X1</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a:t>
                      </a:r>
                      <a:r>
                        <a:rPr lang="es-ES_tradnl" sz="2000" dirty="0" err="1">
                          <a:effectLst/>
                        </a:rPr>
                        <a:t>X2</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sym typeface="Symbol"/>
                        </a:rPr>
                        <a:t></a:t>
                      </a:r>
                      <a:r>
                        <a:rPr lang="es-ES_tradnl" sz="2000" dirty="0">
                          <a:effectLst/>
                        </a:rPr>
                        <a:t> 10</a:t>
                      </a:r>
                      <a:endParaRPr lang="es-PE" sz="2000" dirty="0">
                        <a:effectLst/>
                        <a:latin typeface="Times New Roman"/>
                        <a:ea typeface="Times New Roman"/>
                      </a:endParaRPr>
                    </a:p>
                  </a:txBody>
                  <a:tcPr marL="17780" marR="17780" marT="0" marB="0" anchor="ctr"/>
                </a:tc>
                <a:extLst>
                  <a:ext uri="{0D108BD9-81ED-4DB2-BD59-A6C34878D82A}">
                    <a16:rowId xmlns:a16="http://schemas.microsoft.com/office/drawing/2014/main" val="10001"/>
                  </a:ext>
                </a:extLst>
              </a:tr>
              <a:tr h="310456">
                <a:tc>
                  <a:txBody>
                    <a:bodyPr/>
                    <a:lstStyle/>
                    <a:p>
                      <a:pPr>
                        <a:spcAft>
                          <a:spcPts val="0"/>
                        </a:spcAft>
                        <a:tabLst>
                          <a:tab pos="800100" algn="l"/>
                        </a:tabLst>
                      </a:pPr>
                      <a:r>
                        <a:rPr lang="es-ES_tradnl" sz="2000">
                          <a:effectLst/>
                        </a:rPr>
                        <a:t> </a:t>
                      </a:r>
                      <a:endParaRPr lang="es-PE" sz="200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err="1">
                          <a:effectLst/>
                        </a:rPr>
                        <a:t>X1</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3 </a:t>
                      </a:r>
                      <a:r>
                        <a:rPr lang="es-ES_tradnl" sz="2000" dirty="0" err="1">
                          <a:effectLst/>
                        </a:rPr>
                        <a:t>X2</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a:t>
                      </a:r>
                      <a:r>
                        <a:rPr lang="es-ES_tradnl" sz="2000" dirty="0">
                          <a:effectLst/>
                          <a:sym typeface="Symbol"/>
                        </a:rPr>
                        <a:t></a:t>
                      </a:r>
                      <a:r>
                        <a:rPr lang="es-ES_tradnl" sz="2000" dirty="0">
                          <a:effectLst/>
                        </a:rPr>
                        <a:t> 14</a:t>
                      </a:r>
                      <a:endParaRPr lang="es-PE" sz="2000" dirty="0">
                        <a:effectLst/>
                        <a:latin typeface="Times New Roman"/>
                        <a:ea typeface="Times New Roman"/>
                      </a:endParaRPr>
                    </a:p>
                  </a:txBody>
                  <a:tcPr marL="17780" marR="17780" marT="0" marB="0" anchor="ctr"/>
                </a:tc>
                <a:extLst>
                  <a:ext uri="{0D108BD9-81ED-4DB2-BD59-A6C34878D82A}">
                    <a16:rowId xmlns:a16="http://schemas.microsoft.com/office/drawing/2014/main" val="10002"/>
                  </a:ext>
                </a:extLst>
              </a:tr>
              <a:tr h="310456">
                <a:tc>
                  <a:txBody>
                    <a:bodyPr/>
                    <a:lstStyle/>
                    <a:p>
                      <a:pPr>
                        <a:spcAft>
                          <a:spcPts val="0"/>
                        </a:spcAft>
                        <a:tabLst>
                          <a:tab pos="800100" algn="l"/>
                        </a:tabLst>
                      </a:pPr>
                      <a:r>
                        <a:rPr lang="es-ES_tradnl" sz="2000">
                          <a:effectLst/>
                        </a:rPr>
                        <a:t> </a:t>
                      </a:r>
                      <a:endParaRPr lang="es-PE" sz="200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err="1">
                          <a:effectLst/>
                        </a:rPr>
                        <a:t>X1</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a:t>
                      </a:r>
                      <a:r>
                        <a:rPr lang="es-ES_tradnl" sz="2000" dirty="0" err="1">
                          <a:effectLst/>
                        </a:rPr>
                        <a:t>X2</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a:t>
                      </a:r>
                      <a:r>
                        <a:rPr lang="es-ES_tradnl" sz="2000" dirty="0">
                          <a:effectLst/>
                          <a:sym typeface="Symbol"/>
                        </a:rPr>
                        <a:t></a:t>
                      </a:r>
                      <a:r>
                        <a:rPr lang="es-ES_tradnl" sz="2000" dirty="0">
                          <a:effectLst/>
                        </a:rPr>
                        <a:t>   6</a:t>
                      </a:r>
                      <a:endParaRPr lang="es-PE" sz="2000" dirty="0">
                        <a:effectLst/>
                        <a:latin typeface="Times New Roman"/>
                        <a:ea typeface="Times New Roman"/>
                      </a:endParaRPr>
                    </a:p>
                  </a:txBody>
                  <a:tcPr marL="17780" marR="17780" marT="0" marB="0" anchor="ctr"/>
                </a:tc>
                <a:extLst>
                  <a:ext uri="{0D108BD9-81ED-4DB2-BD59-A6C34878D82A}">
                    <a16:rowId xmlns:a16="http://schemas.microsoft.com/office/drawing/2014/main" val="10003"/>
                  </a:ext>
                </a:extLst>
              </a:tr>
              <a:tr h="506424">
                <a:tc>
                  <a:txBody>
                    <a:bodyPr/>
                    <a:lstStyle/>
                    <a:p>
                      <a:pPr>
                        <a:spcAft>
                          <a:spcPts val="0"/>
                        </a:spcAft>
                        <a:tabLst>
                          <a:tab pos="800100" algn="l"/>
                        </a:tabLst>
                      </a:pPr>
                      <a:r>
                        <a:rPr lang="es-ES_tradnl" sz="2000" dirty="0">
                          <a:effectLst/>
                        </a:rPr>
                        <a:t> </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a:t>
                      </a:r>
                      <a:r>
                        <a:rPr lang="es-ES_tradnl" sz="2000" dirty="0" err="1">
                          <a:effectLst/>
                        </a:rPr>
                        <a:t>X1</a:t>
                      </a:r>
                      <a:r>
                        <a:rPr lang="es-ES_tradnl" sz="2000" dirty="0">
                          <a:effectLst/>
                        </a:rPr>
                        <a:t>  ,</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rPr>
                        <a:t>         </a:t>
                      </a:r>
                      <a:r>
                        <a:rPr lang="es-ES_tradnl" sz="2000" dirty="0" err="1">
                          <a:effectLst/>
                        </a:rPr>
                        <a:t>X2</a:t>
                      </a:r>
                      <a:endParaRPr lang="es-PE" sz="2000" dirty="0">
                        <a:effectLst/>
                        <a:latin typeface="Times New Roman"/>
                        <a:ea typeface="Times New Roman"/>
                      </a:endParaRPr>
                    </a:p>
                  </a:txBody>
                  <a:tcPr marL="17780" marR="17780" marT="0" marB="0" anchor="ctr"/>
                </a:tc>
                <a:tc>
                  <a:txBody>
                    <a:bodyPr/>
                    <a:lstStyle/>
                    <a:p>
                      <a:pPr algn="ctr">
                        <a:spcAft>
                          <a:spcPts val="0"/>
                        </a:spcAft>
                        <a:tabLst>
                          <a:tab pos="800100" algn="l"/>
                        </a:tabLst>
                      </a:pPr>
                      <a:r>
                        <a:rPr lang="es-ES_tradnl" sz="2000" dirty="0">
                          <a:effectLst/>
                          <a:sym typeface="Symbol"/>
                        </a:rPr>
                        <a:t>  </a:t>
                      </a:r>
                      <a:r>
                        <a:rPr lang="es-ES_tradnl" sz="2000" dirty="0">
                          <a:effectLst/>
                        </a:rPr>
                        <a:t>  0</a:t>
                      </a:r>
                      <a:endParaRPr lang="es-PE" sz="2000" dirty="0">
                        <a:effectLst/>
                        <a:latin typeface="Times New Roman"/>
                        <a:ea typeface="Times New Roman"/>
                      </a:endParaRPr>
                    </a:p>
                  </a:txBody>
                  <a:tcPr marL="17780" marR="17780" marT="0" marB="0" anchor="ctr"/>
                </a:tc>
                <a:extLst>
                  <a:ext uri="{0D108BD9-81ED-4DB2-BD59-A6C34878D82A}">
                    <a16:rowId xmlns:a16="http://schemas.microsoft.com/office/drawing/2014/main" val="10004"/>
                  </a:ext>
                </a:extLst>
              </a:tr>
            </a:tbl>
          </a:graphicData>
        </a:graphic>
      </p:graphicFrame>
      <p:cxnSp>
        <p:nvCxnSpPr>
          <p:cNvPr id="14" name="Conector recto 13">
            <a:extLst>
              <a:ext uri="{FF2B5EF4-FFF2-40B4-BE49-F238E27FC236}">
                <a16:creationId xmlns:a16="http://schemas.microsoft.com/office/drawing/2014/main" id="{6C209307-9A78-41FA-A769-079DEE45F9DF}"/>
              </a:ext>
            </a:extLst>
          </p:cNvPr>
          <p:cNvCxnSpPr/>
          <p:nvPr/>
        </p:nvCxnSpPr>
        <p:spPr>
          <a:xfrm>
            <a:off x="9067800" y="5482044"/>
            <a:ext cx="0" cy="10382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cto 34">
            <a:extLst>
              <a:ext uri="{FF2B5EF4-FFF2-40B4-BE49-F238E27FC236}">
                <a16:creationId xmlns:a16="http://schemas.microsoft.com/office/drawing/2014/main" id="{D68CE51E-FCE7-4612-AF6D-6D9A78F1B4DF}"/>
              </a:ext>
            </a:extLst>
          </p:cNvPr>
          <p:cNvCxnSpPr/>
          <p:nvPr/>
        </p:nvCxnSpPr>
        <p:spPr>
          <a:xfrm>
            <a:off x="9975342" y="5461635"/>
            <a:ext cx="0" cy="10382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
            <a:extLst>
              <a:ext uri="{FF2B5EF4-FFF2-40B4-BE49-F238E27FC236}">
                <a16:creationId xmlns:a16="http://schemas.microsoft.com/office/drawing/2014/main" id="{D75082D0-2B30-4A19-B320-6E043D1DE63F}"/>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7</a:t>
            </a:r>
          </a:p>
        </p:txBody>
      </p:sp>
      <p:sp>
        <p:nvSpPr>
          <p:cNvPr id="24" name="71 CuadroTexto">
            <a:extLst>
              <a:ext uri="{FF2B5EF4-FFF2-40B4-BE49-F238E27FC236}">
                <a16:creationId xmlns:a16="http://schemas.microsoft.com/office/drawing/2014/main" id="{1C6ADC1A-2365-409F-A07C-2323869D16B0}"/>
              </a:ext>
            </a:extLst>
          </p:cNvPr>
          <p:cNvSpPr txBox="1"/>
          <p:nvPr/>
        </p:nvSpPr>
        <p:spPr>
          <a:xfrm>
            <a:off x="6920688" y="6534947"/>
            <a:ext cx="604824" cy="461665"/>
          </a:xfrm>
          <a:prstGeom prst="rect">
            <a:avLst/>
          </a:prstGeom>
          <a:noFill/>
        </p:spPr>
        <p:txBody>
          <a:bodyPr wrap="square" rtlCol="0">
            <a:spAutoFit/>
          </a:bodyPr>
          <a:lstStyle/>
          <a:p>
            <a:r>
              <a:rPr lang="es-ES" sz="2400" dirty="0" err="1">
                <a:solidFill>
                  <a:srgbClr val="FF0000"/>
                </a:solidFill>
              </a:rPr>
              <a:t>X1</a:t>
            </a:r>
            <a:endParaRPr lang="es-PE" sz="2400" dirty="0">
              <a:solidFill>
                <a:srgbClr val="FF0000"/>
              </a:solidFill>
            </a:endParaRPr>
          </a:p>
        </p:txBody>
      </p:sp>
      <p:sp>
        <p:nvSpPr>
          <p:cNvPr id="25" name="71 CuadroTexto">
            <a:extLst>
              <a:ext uri="{FF2B5EF4-FFF2-40B4-BE49-F238E27FC236}">
                <a16:creationId xmlns:a16="http://schemas.microsoft.com/office/drawing/2014/main" id="{F92EF67F-5D8D-4001-948A-C01D93C7735C}"/>
              </a:ext>
            </a:extLst>
          </p:cNvPr>
          <p:cNvSpPr txBox="1"/>
          <p:nvPr/>
        </p:nvSpPr>
        <p:spPr>
          <a:xfrm>
            <a:off x="1152145" y="282695"/>
            <a:ext cx="605862" cy="461665"/>
          </a:xfrm>
          <a:prstGeom prst="rect">
            <a:avLst/>
          </a:prstGeom>
          <a:noFill/>
        </p:spPr>
        <p:txBody>
          <a:bodyPr wrap="square" rtlCol="0">
            <a:spAutoFit/>
          </a:bodyPr>
          <a:lstStyle>
            <a:defPPr>
              <a:defRPr lang="es-PE"/>
            </a:defPPr>
            <a:lvl1pPr>
              <a:defRPr sz="2400">
                <a:solidFill>
                  <a:srgbClr val="FF0000"/>
                </a:solidFill>
              </a:defRPr>
            </a:lvl1pPr>
          </a:lstStyle>
          <a:p>
            <a:r>
              <a:rPr lang="es-ES" dirty="0" err="1"/>
              <a:t>X2</a:t>
            </a:r>
            <a:endParaRPr lang="es-PE" dirty="0"/>
          </a:p>
        </p:txBody>
      </p:sp>
      <p:sp>
        <p:nvSpPr>
          <p:cNvPr id="3" name="Elipse 2">
            <a:extLst>
              <a:ext uri="{FF2B5EF4-FFF2-40B4-BE49-F238E27FC236}">
                <a16:creationId xmlns:a16="http://schemas.microsoft.com/office/drawing/2014/main" id="{E52473FC-4874-4C16-9DA0-D0A88846695B}"/>
              </a:ext>
            </a:extLst>
          </p:cNvPr>
          <p:cNvSpPr/>
          <p:nvPr/>
        </p:nvSpPr>
        <p:spPr>
          <a:xfrm>
            <a:off x="630933" y="4687763"/>
            <a:ext cx="45719"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Elipse 37">
            <a:extLst>
              <a:ext uri="{FF2B5EF4-FFF2-40B4-BE49-F238E27FC236}">
                <a16:creationId xmlns:a16="http://schemas.microsoft.com/office/drawing/2014/main" id="{39716CA3-67B0-40AF-A34B-40E19B198696}"/>
              </a:ext>
            </a:extLst>
          </p:cNvPr>
          <p:cNvSpPr/>
          <p:nvPr/>
        </p:nvSpPr>
        <p:spPr>
          <a:xfrm>
            <a:off x="1715966" y="6286927"/>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4" name="Elipse 43">
            <a:extLst>
              <a:ext uri="{FF2B5EF4-FFF2-40B4-BE49-F238E27FC236}">
                <a16:creationId xmlns:a16="http://schemas.microsoft.com/office/drawing/2014/main" id="{A144FBE7-23B9-42A2-BC69-0E8A1B72B36C}"/>
              </a:ext>
            </a:extLst>
          </p:cNvPr>
          <p:cNvSpPr/>
          <p:nvPr/>
        </p:nvSpPr>
        <p:spPr>
          <a:xfrm>
            <a:off x="1685314" y="5771995"/>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5" name="Elipse 44">
            <a:extLst>
              <a:ext uri="{FF2B5EF4-FFF2-40B4-BE49-F238E27FC236}">
                <a16:creationId xmlns:a16="http://schemas.microsoft.com/office/drawing/2014/main" id="{DF9AEA13-D8BB-496A-9D10-DAF652D1DCDB}"/>
              </a:ext>
            </a:extLst>
          </p:cNvPr>
          <p:cNvSpPr/>
          <p:nvPr/>
        </p:nvSpPr>
        <p:spPr>
          <a:xfrm>
            <a:off x="2903588" y="5228417"/>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6" name="Elipse 45">
            <a:extLst>
              <a:ext uri="{FF2B5EF4-FFF2-40B4-BE49-F238E27FC236}">
                <a16:creationId xmlns:a16="http://schemas.microsoft.com/office/drawing/2014/main" id="{FFE697E1-3B1D-4463-B4EA-0B4FF5246243}"/>
              </a:ext>
            </a:extLst>
          </p:cNvPr>
          <p:cNvSpPr/>
          <p:nvPr/>
        </p:nvSpPr>
        <p:spPr>
          <a:xfrm>
            <a:off x="1112979" y="6284690"/>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7" name="Elipse 46">
            <a:extLst>
              <a:ext uri="{FF2B5EF4-FFF2-40B4-BE49-F238E27FC236}">
                <a16:creationId xmlns:a16="http://schemas.microsoft.com/office/drawing/2014/main" id="{8280427E-CD60-469D-B0FC-7F0CBCE418FA}"/>
              </a:ext>
            </a:extLst>
          </p:cNvPr>
          <p:cNvSpPr/>
          <p:nvPr/>
        </p:nvSpPr>
        <p:spPr>
          <a:xfrm>
            <a:off x="1702048" y="5219385"/>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9" name="Elipse 48">
            <a:extLst>
              <a:ext uri="{FF2B5EF4-FFF2-40B4-BE49-F238E27FC236}">
                <a16:creationId xmlns:a16="http://schemas.microsoft.com/office/drawing/2014/main" id="{95E0620B-3806-4125-8B54-4E5BC76842C7}"/>
              </a:ext>
            </a:extLst>
          </p:cNvPr>
          <p:cNvSpPr/>
          <p:nvPr/>
        </p:nvSpPr>
        <p:spPr>
          <a:xfrm>
            <a:off x="1133798" y="5199429"/>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0" name="Elipse 49">
            <a:extLst>
              <a:ext uri="{FF2B5EF4-FFF2-40B4-BE49-F238E27FC236}">
                <a16:creationId xmlns:a16="http://schemas.microsoft.com/office/drawing/2014/main" id="{E1FAD6BB-E436-42AC-AAB4-4586261FC43A}"/>
              </a:ext>
            </a:extLst>
          </p:cNvPr>
          <p:cNvSpPr/>
          <p:nvPr/>
        </p:nvSpPr>
        <p:spPr>
          <a:xfrm>
            <a:off x="2312224" y="5715173"/>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1" name="Elipse 50">
            <a:extLst>
              <a:ext uri="{FF2B5EF4-FFF2-40B4-BE49-F238E27FC236}">
                <a16:creationId xmlns:a16="http://schemas.microsoft.com/office/drawing/2014/main" id="{9B44E22B-1CBC-4683-8DD3-1AAAD3E513E0}"/>
              </a:ext>
            </a:extLst>
          </p:cNvPr>
          <p:cNvSpPr/>
          <p:nvPr/>
        </p:nvSpPr>
        <p:spPr>
          <a:xfrm>
            <a:off x="597177" y="5738177"/>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2" name="Elipse 51">
            <a:extLst>
              <a:ext uri="{FF2B5EF4-FFF2-40B4-BE49-F238E27FC236}">
                <a16:creationId xmlns:a16="http://schemas.microsoft.com/office/drawing/2014/main" id="{76760509-BCCB-41E3-ADE8-4647E6E14C9B}"/>
              </a:ext>
            </a:extLst>
          </p:cNvPr>
          <p:cNvSpPr/>
          <p:nvPr/>
        </p:nvSpPr>
        <p:spPr>
          <a:xfrm>
            <a:off x="1135003" y="4682020"/>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3" name="Elipse 52">
            <a:extLst>
              <a:ext uri="{FF2B5EF4-FFF2-40B4-BE49-F238E27FC236}">
                <a16:creationId xmlns:a16="http://schemas.microsoft.com/office/drawing/2014/main" id="{AEB1C328-7FB9-4289-8039-507C4512CB68}"/>
              </a:ext>
            </a:extLst>
          </p:cNvPr>
          <p:cNvSpPr/>
          <p:nvPr/>
        </p:nvSpPr>
        <p:spPr>
          <a:xfrm>
            <a:off x="2311189" y="5198106"/>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4" name="Elipse 53">
            <a:extLst>
              <a:ext uri="{FF2B5EF4-FFF2-40B4-BE49-F238E27FC236}">
                <a16:creationId xmlns:a16="http://schemas.microsoft.com/office/drawing/2014/main" id="{942CBB40-F4AD-4CF7-BA6B-D839FCCCDEA7}"/>
              </a:ext>
            </a:extLst>
          </p:cNvPr>
          <p:cNvSpPr/>
          <p:nvPr/>
        </p:nvSpPr>
        <p:spPr>
          <a:xfrm rot="18391951">
            <a:off x="3415945" y="6286816"/>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5" name="Elipse 54">
            <a:extLst>
              <a:ext uri="{FF2B5EF4-FFF2-40B4-BE49-F238E27FC236}">
                <a16:creationId xmlns:a16="http://schemas.microsoft.com/office/drawing/2014/main" id="{1E01B534-C051-457D-9E02-4472CE59A933}"/>
              </a:ext>
            </a:extLst>
          </p:cNvPr>
          <p:cNvSpPr/>
          <p:nvPr/>
        </p:nvSpPr>
        <p:spPr>
          <a:xfrm>
            <a:off x="1150930" y="4134645"/>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6" name="Elipse 55">
            <a:extLst>
              <a:ext uri="{FF2B5EF4-FFF2-40B4-BE49-F238E27FC236}">
                <a16:creationId xmlns:a16="http://schemas.microsoft.com/office/drawing/2014/main" id="{D32C1716-8CBB-4BDD-8ABC-15833EC66F45}"/>
              </a:ext>
            </a:extLst>
          </p:cNvPr>
          <p:cNvSpPr/>
          <p:nvPr/>
        </p:nvSpPr>
        <p:spPr>
          <a:xfrm>
            <a:off x="3180956" y="5780105"/>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7" name="Elipse 56">
            <a:extLst>
              <a:ext uri="{FF2B5EF4-FFF2-40B4-BE49-F238E27FC236}">
                <a16:creationId xmlns:a16="http://schemas.microsoft.com/office/drawing/2014/main" id="{CA808D23-4C07-41BA-9520-342CD0C7425A}"/>
              </a:ext>
            </a:extLst>
          </p:cNvPr>
          <p:cNvSpPr/>
          <p:nvPr/>
        </p:nvSpPr>
        <p:spPr>
          <a:xfrm>
            <a:off x="2281796" y="4658729"/>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8" name="Elipse 57">
            <a:extLst>
              <a:ext uri="{FF2B5EF4-FFF2-40B4-BE49-F238E27FC236}">
                <a16:creationId xmlns:a16="http://schemas.microsoft.com/office/drawing/2014/main" id="{0B77CE64-0DDB-405C-BDC8-FA5EBBD2A671}"/>
              </a:ext>
            </a:extLst>
          </p:cNvPr>
          <p:cNvSpPr/>
          <p:nvPr/>
        </p:nvSpPr>
        <p:spPr>
          <a:xfrm>
            <a:off x="2864309" y="5732430"/>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Elipse 41">
            <a:extLst>
              <a:ext uri="{FF2B5EF4-FFF2-40B4-BE49-F238E27FC236}">
                <a16:creationId xmlns:a16="http://schemas.microsoft.com/office/drawing/2014/main" id="{67ECCC30-8A74-4BDD-9D98-6FD31C800A09}"/>
              </a:ext>
            </a:extLst>
          </p:cNvPr>
          <p:cNvSpPr/>
          <p:nvPr/>
        </p:nvSpPr>
        <p:spPr>
          <a:xfrm>
            <a:off x="621562" y="6271867"/>
            <a:ext cx="45719"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3" name="Elipse 42">
            <a:extLst>
              <a:ext uri="{FF2B5EF4-FFF2-40B4-BE49-F238E27FC236}">
                <a16:creationId xmlns:a16="http://schemas.microsoft.com/office/drawing/2014/main" id="{174D16AF-A21D-466C-BE09-61E4B0CAB319}"/>
              </a:ext>
            </a:extLst>
          </p:cNvPr>
          <p:cNvSpPr/>
          <p:nvPr/>
        </p:nvSpPr>
        <p:spPr>
          <a:xfrm>
            <a:off x="1151914" y="5750659"/>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9" name="Elipse 58">
            <a:extLst>
              <a:ext uri="{FF2B5EF4-FFF2-40B4-BE49-F238E27FC236}">
                <a16:creationId xmlns:a16="http://schemas.microsoft.com/office/drawing/2014/main" id="{A26943EE-8F57-4F91-9688-32E24457C5DE}"/>
              </a:ext>
            </a:extLst>
          </p:cNvPr>
          <p:cNvSpPr/>
          <p:nvPr/>
        </p:nvSpPr>
        <p:spPr>
          <a:xfrm>
            <a:off x="1718842" y="4662523"/>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 name="CuadroTexto 7">
            <a:extLst>
              <a:ext uri="{FF2B5EF4-FFF2-40B4-BE49-F238E27FC236}">
                <a16:creationId xmlns:a16="http://schemas.microsoft.com/office/drawing/2014/main" id="{365E4E94-2FD0-40F2-9B1D-E341F8AE8A9E}"/>
              </a:ext>
            </a:extLst>
          </p:cNvPr>
          <p:cNvSpPr txBox="1"/>
          <p:nvPr/>
        </p:nvSpPr>
        <p:spPr>
          <a:xfrm>
            <a:off x="8633006" y="3668697"/>
            <a:ext cx="1984248" cy="1200329"/>
          </a:xfrm>
          <a:prstGeom prst="rect">
            <a:avLst/>
          </a:prstGeom>
          <a:noFill/>
        </p:spPr>
        <p:txBody>
          <a:bodyPr wrap="square" rtlCol="0">
            <a:spAutoFit/>
          </a:bodyPr>
          <a:lstStyle/>
          <a:p>
            <a:r>
              <a:rPr lang="es-ES" dirty="0"/>
              <a:t>Graficando la F. O.</a:t>
            </a:r>
          </a:p>
          <a:p>
            <a:r>
              <a:rPr lang="es-ES" dirty="0" err="1"/>
              <a:t>8X1+4X2</a:t>
            </a:r>
            <a:r>
              <a:rPr lang="es-ES" dirty="0"/>
              <a:t>=16</a:t>
            </a:r>
          </a:p>
          <a:p>
            <a:r>
              <a:rPr lang="es-ES" dirty="0"/>
              <a:t>Si </a:t>
            </a:r>
            <a:r>
              <a:rPr lang="es-ES" dirty="0" err="1"/>
              <a:t>X1</a:t>
            </a:r>
            <a:r>
              <a:rPr lang="es-ES" dirty="0"/>
              <a:t>=0    </a:t>
            </a:r>
            <a:r>
              <a:rPr lang="es-ES" dirty="0">
                <a:sym typeface="Wingdings" panose="05000000000000000000" pitchFamily="2" charset="2"/>
              </a:rPr>
              <a:t></a:t>
            </a:r>
            <a:r>
              <a:rPr lang="es-ES" dirty="0" err="1"/>
              <a:t>X2</a:t>
            </a:r>
            <a:r>
              <a:rPr lang="es-ES" dirty="0"/>
              <a:t>=4</a:t>
            </a:r>
          </a:p>
          <a:p>
            <a:r>
              <a:rPr lang="es-ES" dirty="0"/>
              <a:t>Si </a:t>
            </a:r>
            <a:r>
              <a:rPr lang="es-ES" dirty="0" err="1"/>
              <a:t>X2</a:t>
            </a:r>
            <a:r>
              <a:rPr lang="es-ES" dirty="0"/>
              <a:t>=0    </a:t>
            </a:r>
            <a:r>
              <a:rPr lang="es-ES" dirty="0">
                <a:sym typeface="Wingdings" panose="05000000000000000000" pitchFamily="2" charset="2"/>
              </a:rPr>
              <a:t></a:t>
            </a:r>
            <a:r>
              <a:rPr lang="es-ES" dirty="0" err="1"/>
              <a:t>X1</a:t>
            </a:r>
            <a:r>
              <a:rPr lang="es-ES" dirty="0"/>
              <a:t>=2</a:t>
            </a:r>
            <a:endParaRPr lang="es-PE" dirty="0"/>
          </a:p>
        </p:txBody>
      </p:sp>
      <p:sp>
        <p:nvSpPr>
          <p:cNvPr id="60" name="Elipse 59">
            <a:extLst>
              <a:ext uri="{FF2B5EF4-FFF2-40B4-BE49-F238E27FC236}">
                <a16:creationId xmlns:a16="http://schemas.microsoft.com/office/drawing/2014/main" id="{1D955D49-402A-4D59-A76A-760AD6943DDE}"/>
              </a:ext>
            </a:extLst>
          </p:cNvPr>
          <p:cNvSpPr/>
          <p:nvPr/>
        </p:nvSpPr>
        <p:spPr>
          <a:xfrm>
            <a:off x="1731034" y="4171795"/>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61" name="6 Tabla">
            <a:extLst>
              <a:ext uri="{FF2B5EF4-FFF2-40B4-BE49-F238E27FC236}">
                <a16:creationId xmlns:a16="http://schemas.microsoft.com/office/drawing/2014/main" id="{ADD94E57-A041-4E81-AA52-20304F3D1283}"/>
              </a:ext>
            </a:extLst>
          </p:cNvPr>
          <p:cNvGraphicFramePr>
            <a:graphicFrameLocks noGrp="1"/>
          </p:cNvGraphicFramePr>
          <p:nvPr>
            <p:extLst>
              <p:ext uri="{D42A27DB-BD31-4B8C-83A1-F6EECF244321}">
                <p14:modId xmlns:p14="http://schemas.microsoft.com/office/powerpoint/2010/main" val="4271793379"/>
              </p:ext>
            </p:extLst>
          </p:nvPr>
        </p:nvGraphicFramePr>
        <p:xfrm>
          <a:off x="621357" y="1436649"/>
          <a:ext cx="6819897" cy="1624017"/>
        </p:xfrm>
        <a:graphic>
          <a:graphicData uri="http://schemas.openxmlformats.org/drawingml/2006/table">
            <a:tbl>
              <a:tblPr firstRow="1" bandRow="1">
                <a:tableStyleId>{00A15C55-8517-42AA-B614-E9B94910E393}</a:tableStyleId>
              </a:tblPr>
              <a:tblGrid>
                <a:gridCol w="566749">
                  <a:extLst>
                    <a:ext uri="{9D8B030D-6E8A-4147-A177-3AD203B41FA5}">
                      <a16:colId xmlns:a16="http://schemas.microsoft.com/office/drawing/2014/main" val="20000"/>
                    </a:ext>
                  </a:extLst>
                </a:gridCol>
                <a:gridCol w="566749">
                  <a:extLst>
                    <a:ext uri="{9D8B030D-6E8A-4147-A177-3AD203B41FA5}">
                      <a16:colId xmlns:a16="http://schemas.microsoft.com/office/drawing/2014/main" val="20001"/>
                    </a:ext>
                  </a:extLst>
                </a:gridCol>
                <a:gridCol w="585658">
                  <a:extLst>
                    <a:ext uri="{9D8B030D-6E8A-4147-A177-3AD203B41FA5}">
                      <a16:colId xmlns:a16="http://schemas.microsoft.com/office/drawing/2014/main" val="20002"/>
                    </a:ext>
                  </a:extLst>
                </a:gridCol>
                <a:gridCol w="566749">
                  <a:extLst>
                    <a:ext uri="{9D8B030D-6E8A-4147-A177-3AD203B41FA5}">
                      <a16:colId xmlns:a16="http://schemas.microsoft.com/office/drawing/2014/main" val="20003"/>
                    </a:ext>
                  </a:extLst>
                </a:gridCol>
                <a:gridCol w="566749">
                  <a:extLst>
                    <a:ext uri="{9D8B030D-6E8A-4147-A177-3AD203B41FA5}">
                      <a16:colId xmlns:a16="http://schemas.microsoft.com/office/drawing/2014/main" val="20004"/>
                    </a:ext>
                  </a:extLst>
                </a:gridCol>
                <a:gridCol w="566749">
                  <a:extLst>
                    <a:ext uri="{9D8B030D-6E8A-4147-A177-3AD203B41FA5}">
                      <a16:colId xmlns:a16="http://schemas.microsoft.com/office/drawing/2014/main" val="20005"/>
                    </a:ext>
                  </a:extLst>
                </a:gridCol>
                <a:gridCol w="566749">
                  <a:extLst>
                    <a:ext uri="{9D8B030D-6E8A-4147-A177-3AD203B41FA5}">
                      <a16:colId xmlns:a16="http://schemas.microsoft.com/office/drawing/2014/main" val="20006"/>
                    </a:ext>
                  </a:extLst>
                </a:gridCol>
                <a:gridCol w="566749">
                  <a:extLst>
                    <a:ext uri="{9D8B030D-6E8A-4147-A177-3AD203B41FA5}">
                      <a16:colId xmlns:a16="http://schemas.microsoft.com/office/drawing/2014/main" val="20007"/>
                    </a:ext>
                  </a:extLst>
                </a:gridCol>
                <a:gridCol w="566749">
                  <a:extLst>
                    <a:ext uri="{9D8B030D-6E8A-4147-A177-3AD203B41FA5}">
                      <a16:colId xmlns:a16="http://schemas.microsoft.com/office/drawing/2014/main" val="20008"/>
                    </a:ext>
                  </a:extLst>
                </a:gridCol>
                <a:gridCol w="566749">
                  <a:extLst>
                    <a:ext uri="{9D8B030D-6E8A-4147-A177-3AD203B41FA5}">
                      <a16:colId xmlns:a16="http://schemas.microsoft.com/office/drawing/2014/main" val="20009"/>
                    </a:ext>
                  </a:extLst>
                </a:gridCol>
                <a:gridCol w="566749">
                  <a:extLst>
                    <a:ext uri="{9D8B030D-6E8A-4147-A177-3AD203B41FA5}">
                      <a16:colId xmlns:a16="http://schemas.microsoft.com/office/drawing/2014/main" val="20010"/>
                    </a:ext>
                  </a:extLst>
                </a:gridCol>
                <a:gridCol w="566749">
                  <a:extLst>
                    <a:ext uri="{9D8B030D-6E8A-4147-A177-3AD203B41FA5}">
                      <a16:colId xmlns:a16="http://schemas.microsoft.com/office/drawing/2014/main" val="20011"/>
                    </a:ext>
                  </a:extLst>
                </a:gridCol>
              </a:tblGrid>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cxnSp>
        <p:nvCxnSpPr>
          <p:cNvPr id="19" name="18 Conector recto de flecha"/>
          <p:cNvCxnSpPr>
            <a:cxnSpLocks/>
          </p:cNvCxnSpPr>
          <p:nvPr/>
        </p:nvCxnSpPr>
        <p:spPr>
          <a:xfrm flipV="1">
            <a:off x="645316" y="320779"/>
            <a:ext cx="0" cy="621644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5 CuadroTexto"/>
          <p:cNvSpPr txBox="1"/>
          <p:nvPr/>
        </p:nvSpPr>
        <p:spPr>
          <a:xfrm>
            <a:off x="-8569" y="691571"/>
            <a:ext cx="648072" cy="5881867"/>
          </a:xfrm>
          <a:prstGeom prst="rect">
            <a:avLst/>
          </a:prstGeom>
          <a:noFill/>
        </p:spPr>
        <p:txBody>
          <a:bodyPr wrap="square" rtlCol="0">
            <a:spAutoFit/>
          </a:bodyPr>
          <a:lstStyle/>
          <a:p>
            <a:pPr algn="r">
              <a:lnSpc>
                <a:spcPct val="150000"/>
              </a:lnSpc>
              <a:spcAft>
                <a:spcPts val="600"/>
              </a:spcAft>
            </a:pPr>
            <a:r>
              <a:rPr lang="es-PE" sz="2000" dirty="0">
                <a:latin typeface="Arial Narrow" pitchFamily="34" charset="0"/>
              </a:rPr>
              <a:t>10</a:t>
            </a:r>
          </a:p>
          <a:p>
            <a:pPr algn="r">
              <a:lnSpc>
                <a:spcPct val="150000"/>
              </a:lnSpc>
              <a:spcAft>
                <a:spcPts val="600"/>
              </a:spcAft>
            </a:pPr>
            <a:r>
              <a:rPr lang="es-PE" sz="2000" dirty="0">
                <a:latin typeface="Arial Narrow" pitchFamily="34" charset="0"/>
              </a:rPr>
              <a:t>9</a:t>
            </a:r>
          </a:p>
          <a:p>
            <a:pPr algn="r">
              <a:lnSpc>
                <a:spcPct val="150000"/>
              </a:lnSpc>
              <a:spcAft>
                <a:spcPts val="600"/>
              </a:spcAft>
            </a:pPr>
            <a:r>
              <a:rPr lang="es-PE" sz="2000" dirty="0">
                <a:latin typeface="Arial Narrow" pitchFamily="34" charset="0"/>
              </a:rPr>
              <a:t>8</a:t>
            </a:r>
          </a:p>
          <a:p>
            <a:pPr algn="r">
              <a:lnSpc>
                <a:spcPct val="150000"/>
              </a:lnSpc>
              <a:spcAft>
                <a:spcPts val="600"/>
              </a:spcAft>
            </a:pPr>
            <a:r>
              <a:rPr lang="es-PE" sz="2000" dirty="0">
                <a:latin typeface="Arial Narrow" pitchFamily="34" charset="0"/>
              </a:rPr>
              <a:t>7</a:t>
            </a:r>
          </a:p>
          <a:p>
            <a:pPr algn="r">
              <a:lnSpc>
                <a:spcPct val="150000"/>
              </a:lnSpc>
              <a:spcAft>
                <a:spcPts val="600"/>
              </a:spcAft>
            </a:pPr>
            <a:r>
              <a:rPr lang="es-PE" sz="2000" dirty="0">
                <a:latin typeface="Arial Narrow" pitchFamily="34" charset="0"/>
              </a:rPr>
              <a:t>6</a:t>
            </a:r>
          </a:p>
          <a:p>
            <a:pPr algn="r">
              <a:lnSpc>
                <a:spcPct val="150000"/>
              </a:lnSpc>
              <a:spcAft>
                <a:spcPts val="600"/>
              </a:spcAft>
            </a:pPr>
            <a:r>
              <a:rPr lang="es-PE" sz="2000" dirty="0">
                <a:latin typeface="Arial Narrow" pitchFamily="34" charset="0"/>
              </a:rPr>
              <a:t>5</a:t>
            </a:r>
          </a:p>
          <a:p>
            <a:pPr algn="r">
              <a:lnSpc>
                <a:spcPct val="150000"/>
              </a:lnSpc>
              <a:spcAft>
                <a:spcPts val="600"/>
              </a:spcAft>
            </a:pPr>
            <a:r>
              <a:rPr lang="es-PE" sz="2000" dirty="0">
                <a:latin typeface="Arial Narrow" pitchFamily="34" charset="0"/>
              </a:rPr>
              <a:t>4</a:t>
            </a:r>
          </a:p>
          <a:p>
            <a:pPr algn="r">
              <a:lnSpc>
                <a:spcPct val="150000"/>
              </a:lnSpc>
              <a:spcAft>
                <a:spcPts val="600"/>
              </a:spcAft>
            </a:pPr>
            <a:r>
              <a:rPr lang="es-PE" sz="2000" dirty="0">
                <a:latin typeface="Arial Narrow" pitchFamily="34" charset="0"/>
              </a:rPr>
              <a:t>3</a:t>
            </a:r>
          </a:p>
          <a:p>
            <a:pPr algn="r">
              <a:lnSpc>
                <a:spcPct val="150000"/>
              </a:lnSpc>
              <a:spcAft>
                <a:spcPts val="600"/>
              </a:spcAft>
            </a:pPr>
            <a:r>
              <a:rPr lang="es-PE" sz="2000" dirty="0">
                <a:latin typeface="Arial Narrow" pitchFamily="34" charset="0"/>
              </a:rPr>
              <a:t>2</a:t>
            </a:r>
          </a:p>
          <a:p>
            <a:pPr algn="r">
              <a:lnSpc>
                <a:spcPct val="150000"/>
              </a:lnSpc>
              <a:spcAft>
                <a:spcPts val="600"/>
              </a:spcAft>
            </a:pPr>
            <a:r>
              <a:rPr lang="es-PE" sz="2000" dirty="0">
                <a:latin typeface="Arial Narrow" pitchFamily="34" charset="0"/>
              </a:rPr>
              <a:t>1</a:t>
            </a:r>
          </a:p>
          <a:p>
            <a:pPr algn="r">
              <a:lnSpc>
                <a:spcPct val="150000"/>
              </a:lnSpc>
              <a:spcAft>
                <a:spcPts val="600"/>
              </a:spcAft>
            </a:pPr>
            <a:endParaRPr lang="es-PE" sz="2000" dirty="0">
              <a:latin typeface="Arial Narrow" pitchFamily="34" charset="0"/>
            </a:endParaRPr>
          </a:p>
        </p:txBody>
      </p:sp>
      <p:sp>
        <p:nvSpPr>
          <p:cNvPr id="63" name="Elipse 62">
            <a:extLst>
              <a:ext uri="{FF2B5EF4-FFF2-40B4-BE49-F238E27FC236}">
                <a16:creationId xmlns:a16="http://schemas.microsoft.com/office/drawing/2014/main" id="{EE15C674-43AF-4FAB-B978-CCC54F600A29}"/>
              </a:ext>
            </a:extLst>
          </p:cNvPr>
          <p:cNvSpPr/>
          <p:nvPr/>
        </p:nvSpPr>
        <p:spPr>
          <a:xfrm>
            <a:off x="601720" y="5225481"/>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1" name="Rectángulo: esquinas redondeadas 40">
            <a:extLst>
              <a:ext uri="{FF2B5EF4-FFF2-40B4-BE49-F238E27FC236}">
                <a16:creationId xmlns:a16="http://schemas.microsoft.com/office/drawing/2014/main" id="{B47D5A1B-A904-4103-91DF-FFE34BF23EF1}"/>
              </a:ext>
            </a:extLst>
          </p:cNvPr>
          <p:cNvSpPr/>
          <p:nvPr/>
        </p:nvSpPr>
        <p:spPr>
          <a:xfrm>
            <a:off x="10442448" y="3666744"/>
            <a:ext cx="1335024" cy="11521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a:t>NO ES ENTERA</a:t>
            </a:r>
            <a:endParaRPr lang="es-PE" b="1" dirty="0"/>
          </a:p>
        </p:txBody>
      </p:sp>
      <p:cxnSp>
        <p:nvCxnSpPr>
          <p:cNvPr id="8192" name="8191 Conector recto"/>
          <p:cNvCxnSpPr>
            <a:cxnSpLocks/>
          </p:cNvCxnSpPr>
          <p:nvPr/>
        </p:nvCxnSpPr>
        <p:spPr>
          <a:xfrm>
            <a:off x="615696" y="3733834"/>
            <a:ext cx="7979520" cy="255085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Forma libre: forma 16">
            <a:extLst>
              <a:ext uri="{FF2B5EF4-FFF2-40B4-BE49-F238E27FC236}">
                <a16:creationId xmlns:a16="http://schemas.microsoft.com/office/drawing/2014/main" id="{97DA539E-93F4-46BB-30A8-CE5619FF9AC7}"/>
              </a:ext>
            </a:extLst>
          </p:cNvPr>
          <p:cNvSpPr/>
          <p:nvPr/>
        </p:nvSpPr>
        <p:spPr>
          <a:xfrm>
            <a:off x="634358" y="3750878"/>
            <a:ext cx="2794000" cy="2523067"/>
          </a:xfrm>
          <a:custGeom>
            <a:avLst/>
            <a:gdLst>
              <a:gd name="connsiteX0" fmla="*/ 0 w 2794000"/>
              <a:gd name="connsiteY0" fmla="*/ 0 h 2523067"/>
              <a:gd name="connsiteX1" fmla="*/ 25400 w 2794000"/>
              <a:gd name="connsiteY1" fmla="*/ 2514600 h 2523067"/>
              <a:gd name="connsiteX2" fmla="*/ 2794000 w 2794000"/>
              <a:gd name="connsiteY2" fmla="*/ 2523067 h 2523067"/>
              <a:gd name="connsiteX3" fmla="*/ 2252133 w 2794000"/>
              <a:gd name="connsiteY3" fmla="*/ 1439333 h 2523067"/>
              <a:gd name="connsiteX4" fmla="*/ 1117600 w 2794000"/>
              <a:gd name="connsiteY4" fmla="*/ 338667 h 2523067"/>
              <a:gd name="connsiteX5" fmla="*/ 0 w 2794000"/>
              <a:gd name="connsiteY5"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94000" h="2523067">
                <a:moveTo>
                  <a:pt x="0" y="0"/>
                </a:moveTo>
                <a:lnTo>
                  <a:pt x="25400" y="2514600"/>
                </a:lnTo>
                <a:lnTo>
                  <a:pt x="2794000" y="2523067"/>
                </a:lnTo>
                <a:lnTo>
                  <a:pt x="2252133" y="1439333"/>
                </a:lnTo>
                <a:lnTo>
                  <a:pt x="1117600" y="338667"/>
                </a:lnTo>
                <a:lnTo>
                  <a:pt x="0" y="0"/>
                </a:lnTo>
                <a:close/>
              </a:path>
            </a:pathLst>
          </a:cu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0" name="47 Conector recto">
            <a:extLst>
              <a:ext uri="{FF2B5EF4-FFF2-40B4-BE49-F238E27FC236}">
                <a16:creationId xmlns:a16="http://schemas.microsoft.com/office/drawing/2014/main" id="{0DB2E903-5987-454A-92FD-4E77B18D13EB}"/>
              </a:ext>
            </a:extLst>
          </p:cNvPr>
          <p:cNvCxnSpPr>
            <a:cxnSpLocks/>
          </p:cNvCxnSpPr>
          <p:nvPr/>
        </p:nvCxnSpPr>
        <p:spPr>
          <a:xfrm>
            <a:off x="272882" y="3429000"/>
            <a:ext cx="1974127" cy="378424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9" name="28 Conector recto"/>
          <p:cNvCxnSpPr>
            <a:cxnSpLocks/>
          </p:cNvCxnSpPr>
          <p:nvPr/>
        </p:nvCxnSpPr>
        <p:spPr>
          <a:xfrm>
            <a:off x="649224" y="3044952"/>
            <a:ext cx="3502152" cy="3346704"/>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6" name="15 Conector recto"/>
          <p:cNvCxnSpPr>
            <a:cxnSpLocks/>
          </p:cNvCxnSpPr>
          <p:nvPr/>
        </p:nvCxnSpPr>
        <p:spPr>
          <a:xfrm>
            <a:off x="640080" y="841248"/>
            <a:ext cx="2962656" cy="5742432"/>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2" name="47 Conector recto">
            <a:extLst>
              <a:ext uri="{FF2B5EF4-FFF2-40B4-BE49-F238E27FC236}">
                <a16:creationId xmlns:a16="http://schemas.microsoft.com/office/drawing/2014/main" id="{21E91E94-8A10-41A2-B941-E84635A30343}"/>
              </a:ext>
            </a:extLst>
          </p:cNvPr>
          <p:cNvCxnSpPr>
            <a:cxnSpLocks/>
          </p:cNvCxnSpPr>
          <p:nvPr/>
        </p:nvCxnSpPr>
        <p:spPr>
          <a:xfrm>
            <a:off x="1760306" y="3032760"/>
            <a:ext cx="1974127" cy="378424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 name="Conector recto 4">
            <a:extLst>
              <a:ext uri="{FF2B5EF4-FFF2-40B4-BE49-F238E27FC236}">
                <a16:creationId xmlns:a16="http://schemas.microsoft.com/office/drawing/2014/main" id="{B098C7AA-DFDA-9E8C-7488-D58EBD49A8AE}"/>
              </a:ext>
            </a:extLst>
          </p:cNvPr>
          <p:cNvCxnSpPr/>
          <p:nvPr/>
        </p:nvCxnSpPr>
        <p:spPr>
          <a:xfrm>
            <a:off x="11005468" y="5495100"/>
            <a:ext cx="0" cy="10382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Conector recto 6">
            <a:extLst>
              <a:ext uri="{FF2B5EF4-FFF2-40B4-BE49-F238E27FC236}">
                <a16:creationId xmlns:a16="http://schemas.microsoft.com/office/drawing/2014/main" id="{E9A83665-5D0E-70D2-83AA-A8040EB35DA0}"/>
              </a:ext>
            </a:extLst>
          </p:cNvPr>
          <p:cNvCxnSpPr/>
          <p:nvPr/>
        </p:nvCxnSpPr>
        <p:spPr>
          <a:xfrm>
            <a:off x="11906801" y="5499462"/>
            <a:ext cx="0" cy="10382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4349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41"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49006" y="1311892"/>
            <a:ext cx="5608328" cy="2932304"/>
          </a:xfrm>
        </p:spPr>
        <p:txBody>
          <a:bodyPr>
            <a:noAutofit/>
          </a:bodyPr>
          <a:lstStyle/>
          <a:p>
            <a:pPr marL="0" indent="0" algn="just">
              <a:buNone/>
            </a:pPr>
            <a:r>
              <a:rPr lang="es-ES_tradnl" sz="2000" dirty="0">
                <a:solidFill>
                  <a:schemeClr val="tx1"/>
                </a:solidFill>
                <a:latin typeface="Arial Narrow" pitchFamily="34" charset="0"/>
              </a:rPr>
              <a:t>TIENDAS ADAMS, vende dos tipos de casacas: A y B usando la misma calidad y color de cuero. Para la siguiente semana, la compañía tiene 27 metros de cuero y tiene programadas hasta 30 horas de tiempo de procesamiento para la confección. Cada casaca tipo A requiere 3 metros de cuero, 2 horas de confección y produce una ganancia de $ 30. Cada casaca tipo B requiere también 3 metros, pero necesita 4 horas de confección y produce una ganancia de $ 50. </a:t>
            </a:r>
            <a:r>
              <a:rPr lang="es-ES_tradnl" sz="2000" i="1" dirty="0">
                <a:solidFill>
                  <a:schemeClr val="tx1"/>
                </a:solidFill>
                <a:latin typeface="Arial Narrow" pitchFamily="34" charset="0"/>
              </a:rPr>
              <a:t>Formular el modelo y resolver usando el método gráfico.</a:t>
            </a:r>
          </a:p>
          <a:p>
            <a:pPr marL="0" indent="0" algn="just">
              <a:buNone/>
            </a:pPr>
            <a:r>
              <a:rPr lang="es-ES_tradnl" sz="2000" b="1" i="1" dirty="0">
                <a:solidFill>
                  <a:srgbClr val="FF0000"/>
                </a:solidFill>
                <a:latin typeface="Arial Narrow" pitchFamily="34" charset="0"/>
              </a:rPr>
              <a:t>SOLUCIÓN</a:t>
            </a:r>
            <a:endParaRPr lang="es-PE" sz="2000" b="1" dirty="0">
              <a:solidFill>
                <a:srgbClr val="FF0000"/>
              </a:solidFill>
              <a:latin typeface="Arial Narrow" pitchFamily="34" charset="0"/>
            </a:endParaRPr>
          </a:p>
        </p:txBody>
      </p:sp>
      <p:graphicFrame>
        <p:nvGraphicFramePr>
          <p:cNvPr id="5" name="4 Tabla"/>
          <p:cNvGraphicFramePr>
            <a:graphicFrameLocks noGrp="1"/>
          </p:cNvGraphicFramePr>
          <p:nvPr/>
        </p:nvGraphicFramePr>
        <p:xfrm>
          <a:off x="270349" y="4596111"/>
          <a:ext cx="5466217" cy="1882324"/>
        </p:xfrm>
        <a:graphic>
          <a:graphicData uri="http://schemas.openxmlformats.org/drawingml/2006/table">
            <a:tbl>
              <a:tblPr firstRow="1" bandRow="1">
                <a:tableStyleId>{5C22544A-7EE6-4342-B048-85BDC9FD1C3A}</a:tableStyleId>
              </a:tblPr>
              <a:tblGrid>
                <a:gridCol w="1157582">
                  <a:extLst>
                    <a:ext uri="{9D8B030D-6E8A-4147-A177-3AD203B41FA5}">
                      <a16:colId xmlns:a16="http://schemas.microsoft.com/office/drawing/2014/main" val="20000"/>
                    </a:ext>
                  </a:extLst>
                </a:gridCol>
                <a:gridCol w="1033853">
                  <a:extLst>
                    <a:ext uri="{9D8B030D-6E8A-4147-A177-3AD203B41FA5}">
                      <a16:colId xmlns:a16="http://schemas.microsoft.com/office/drawing/2014/main" val="20001"/>
                    </a:ext>
                  </a:extLst>
                </a:gridCol>
                <a:gridCol w="2032578">
                  <a:extLst>
                    <a:ext uri="{9D8B030D-6E8A-4147-A177-3AD203B41FA5}">
                      <a16:colId xmlns:a16="http://schemas.microsoft.com/office/drawing/2014/main" val="20002"/>
                    </a:ext>
                  </a:extLst>
                </a:gridCol>
                <a:gridCol w="1242204">
                  <a:extLst>
                    <a:ext uri="{9D8B030D-6E8A-4147-A177-3AD203B41FA5}">
                      <a16:colId xmlns:a16="http://schemas.microsoft.com/office/drawing/2014/main" val="20003"/>
                    </a:ext>
                  </a:extLst>
                </a:gridCol>
              </a:tblGrid>
              <a:tr h="470581">
                <a:tc>
                  <a:txBody>
                    <a:bodyPr/>
                    <a:lstStyle/>
                    <a:p>
                      <a:pPr algn="ctr"/>
                      <a:r>
                        <a:rPr lang="es-PE" sz="2000" dirty="0">
                          <a:latin typeface="Arial Narrow" pitchFamily="34" charset="0"/>
                        </a:rPr>
                        <a:t>TIPO</a:t>
                      </a:r>
                    </a:p>
                  </a:txBody>
                  <a:tcPr/>
                </a:tc>
                <a:tc>
                  <a:txBody>
                    <a:bodyPr/>
                    <a:lstStyle/>
                    <a:p>
                      <a:pPr algn="ctr"/>
                      <a:r>
                        <a:rPr lang="es-PE" sz="2000" dirty="0">
                          <a:latin typeface="Arial Narrow" pitchFamily="34" charset="0"/>
                        </a:rPr>
                        <a:t>CUERO</a:t>
                      </a:r>
                    </a:p>
                  </a:txBody>
                  <a:tcPr/>
                </a:tc>
                <a:tc>
                  <a:txBody>
                    <a:bodyPr/>
                    <a:lstStyle/>
                    <a:p>
                      <a:pPr algn="ctr"/>
                      <a:r>
                        <a:rPr lang="es-PE" sz="2000" dirty="0">
                          <a:latin typeface="Arial Narrow" pitchFamily="34" charset="0"/>
                        </a:rPr>
                        <a:t>PROCESAMIENTO</a:t>
                      </a:r>
                    </a:p>
                  </a:txBody>
                  <a:tcPr/>
                </a:tc>
                <a:tc>
                  <a:txBody>
                    <a:bodyPr/>
                    <a:lstStyle/>
                    <a:p>
                      <a:pPr algn="ctr"/>
                      <a:r>
                        <a:rPr lang="es-PE" sz="2000" dirty="0">
                          <a:latin typeface="Arial Narrow" pitchFamily="34" charset="0"/>
                        </a:rPr>
                        <a:t>UTILIDAD</a:t>
                      </a:r>
                    </a:p>
                  </a:txBody>
                  <a:tcPr/>
                </a:tc>
                <a:extLst>
                  <a:ext uri="{0D108BD9-81ED-4DB2-BD59-A6C34878D82A}">
                    <a16:rowId xmlns:a16="http://schemas.microsoft.com/office/drawing/2014/main" val="10000"/>
                  </a:ext>
                </a:extLst>
              </a:tr>
              <a:tr h="470581">
                <a:tc>
                  <a:txBody>
                    <a:bodyPr/>
                    <a:lstStyle/>
                    <a:p>
                      <a:pPr algn="ctr"/>
                      <a:r>
                        <a:rPr lang="es-PE" sz="2000" dirty="0">
                          <a:latin typeface="Arial Narrow" pitchFamily="34" charset="0"/>
                        </a:rPr>
                        <a:t>A</a:t>
                      </a:r>
                    </a:p>
                  </a:txBody>
                  <a:tcPr/>
                </a:tc>
                <a:tc>
                  <a:txBody>
                    <a:bodyPr/>
                    <a:lstStyle/>
                    <a:p>
                      <a:pPr algn="ctr"/>
                      <a:r>
                        <a:rPr lang="es-PE" sz="2000" dirty="0">
                          <a:latin typeface="Arial Narrow" pitchFamily="34" charset="0"/>
                        </a:rPr>
                        <a:t>3</a:t>
                      </a:r>
                    </a:p>
                  </a:txBody>
                  <a:tcPr/>
                </a:tc>
                <a:tc>
                  <a:txBody>
                    <a:bodyPr/>
                    <a:lstStyle/>
                    <a:p>
                      <a:pPr algn="ctr"/>
                      <a:r>
                        <a:rPr lang="es-PE" sz="2000" dirty="0">
                          <a:latin typeface="Arial Narrow" pitchFamily="34" charset="0"/>
                        </a:rPr>
                        <a:t>2</a:t>
                      </a:r>
                    </a:p>
                  </a:txBody>
                  <a:tcPr/>
                </a:tc>
                <a:tc>
                  <a:txBody>
                    <a:bodyPr/>
                    <a:lstStyle/>
                    <a:p>
                      <a:pPr algn="ctr"/>
                      <a:r>
                        <a:rPr lang="es-PE" sz="2000" dirty="0">
                          <a:latin typeface="Arial Narrow" pitchFamily="34" charset="0"/>
                        </a:rPr>
                        <a:t>30</a:t>
                      </a:r>
                    </a:p>
                  </a:txBody>
                  <a:tcPr/>
                </a:tc>
                <a:extLst>
                  <a:ext uri="{0D108BD9-81ED-4DB2-BD59-A6C34878D82A}">
                    <a16:rowId xmlns:a16="http://schemas.microsoft.com/office/drawing/2014/main" val="10001"/>
                  </a:ext>
                </a:extLst>
              </a:tr>
              <a:tr h="470581">
                <a:tc>
                  <a:txBody>
                    <a:bodyPr/>
                    <a:lstStyle/>
                    <a:p>
                      <a:pPr algn="ctr"/>
                      <a:r>
                        <a:rPr lang="es-PE" sz="2000" dirty="0">
                          <a:latin typeface="Arial Narrow" pitchFamily="34" charset="0"/>
                        </a:rPr>
                        <a:t>B</a:t>
                      </a:r>
                    </a:p>
                  </a:txBody>
                  <a:tcPr/>
                </a:tc>
                <a:tc>
                  <a:txBody>
                    <a:bodyPr/>
                    <a:lstStyle/>
                    <a:p>
                      <a:pPr algn="ctr"/>
                      <a:r>
                        <a:rPr lang="es-PE" sz="2000" dirty="0">
                          <a:latin typeface="Arial Narrow" pitchFamily="34" charset="0"/>
                        </a:rPr>
                        <a:t>3</a:t>
                      </a:r>
                    </a:p>
                  </a:txBody>
                  <a:tcPr/>
                </a:tc>
                <a:tc>
                  <a:txBody>
                    <a:bodyPr/>
                    <a:lstStyle/>
                    <a:p>
                      <a:pPr algn="ctr"/>
                      <a:r>
                        <a:rPr lang="es-PE" sz="2000" dirty="0">
                          <a:latin typeface="Arial Narrow" pitchFamily="34" charset="0"/>
                        </a:rPr>
                        <a:t>4</a:t>
                      </a:r>
                    </a:p>
                  </a:txBody>
                  <a:tcPr/>
                </a:tc>
                <a:tc>
                  <a:txBody>
                    <a:bodyPr/>
                    <a:lstStyle/>
                    <a:p>
                      <a:pPr algn="ctr"/>
                      <a:r>
                        <a:rPr lang="es-PE" sz="2000" dirty="0">
                          <a:latin typeface="Arial Narrow" pitchFamily="34" charset="0"/>
                        </a:rPr>
                        <a:t>50</a:t>
                      </a:r>
                    </a:p>
                  </a:txBody>
                  <a:tcPr/>
                </a:tc>
                <a:extLst>
                  <a:ext uri="{0D108BD9-81ED-4DB2-BD59-A6C34878D82A}">
                    <a16:rowId xmlns:a16="http://schemas.microsoft.com/office/drawing/2014/main" val="10002"/>
                  </a:ext>
                </a:extLst>
              </a:tr>
              <a:tr h="470581">
                <a:tc>
                  <a:txBody>
                    <a:bodyPr/>
                    <a:lstStyle/>
                    <a:p>
                      <a:pPr algn="ctr"/>
                      <a:r>
                        <a:rPr lang="es-PE" sz="2000" dirty="0">
                          <a:latin typeface="Arial Narrow" pitchFamily="34" charset="0"/>
                        </a:rPr>
                        <a:t>STOCK</a:t>
                      </a:r>
                    </a:p>
                  </a:txBody>
                  <a:tcPr/>
                </a:tc>
                <a:tc>
                  <a:txBody>
                    <a:bodyPr/>
                    <a:lstStyle/>
                    <a:p>
                      <a:pPr algn="ctr"/>
                      <a:r>
                        <a:rPr lang="es-PE" sz="2000" dirty="0">
                          <a:latin typeface="Arial Narrow" pitchFamily="34" charset="0"/>
                        </a:rPr>
                        <a:t>27</a:t>
                      </a:r>
                    </a:p>
                  </a:txBody>
                  <a:tcPr/>
                </a:tc>
                <a:tc>
                  <a:txBody>
                    <a:bodyPr/>
                    <a:lstStyle/>
                    <a:p>
                      <a:pPr algn="ctr"/>
                      <a:r>
                        <a:rPr lang="es-PE" sz="2000" dirty="0">
                          <a:latin typeface="Arial Narrow" pitchFamily="34" charset="0"/>
                        </a:rPr>
                        <a:t>30</a:t>
                      </a:r>
                    </a:p>
                  </a:txBody>
                  <a:tcPr/>
                </a:tc>
                <a:tc>
                  <a:txBody>
                    <a:bodyPr/>
                    <a:lstStyle/>
                    <a:p>
                      <a:pPr algn="ctr"/>
                      <a:endParaRPr lang="es-PE" sz="2000" dirty="0">
                        <a:latin typeface="Arial Narrow" pitchFamily="34" charset="0"/>
                      </a:endParaRPr>
                    </a:p>
                  </a:txBody>
                  <a:tcPr/>
                </a:tc>
                <a:extLst>
                  <a:ext uri="{0D108BD9-81ED-4DB2-BD59-A6C34878D82A}">
                    <a16:rowId xmlns:a16="http://schemas.microsoft.com/office/drawing/2014/main" val="10003"/>
                  </a:ext>
                </a:extLst>
              </a:tr>
            </a:tbl>
          </a:graphicData>
        </a:graphic>
      </p:graphicFrame>
      <p:sp>
        <p:nvSpPr>
          <p:cNvPr id="4" name="2 Marcador de contenido">
            <a:extLst>
              <a:ext uri="{FF2B5EF4-FFF2-40B4-BE49-F238E27FC236}">
                <a16:creationId xmlns:a16="http://schemas.microsoft.com/office/drawing/2014/main" id="{6F8A7D96-20A8-43CB-8F05-0414FBD1322C}"/>
              </a:ext>
            </a:extLst>
          </p:cNvPr>
          <p:cNvSpPr txBox="1">
            <a:spLocks/>
          </p:cNvSpPr>
          <p:nvPr/>
        </p:nvSpPr>
        <p:spPr>
          <a:xfrm>
            <a:off x="6297283" y="1340769"/>
            <a:ext cx="4830791" cy="1195397"/>
          </a:xfrm>
          <a:prstGeom prst="rect">
            <a:avLst/>
          </a:prstGeom>
          <a:solidFill>
            <a:schemeClr val="accent3">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defRPr/>
            </a:pPr>
            <a:r>
              <a:rPr lang="es-ES_tradnl" sz="2000" b="1" dirty="0">
                <a:solidFill>
                  <a:srgbClr val="FF0000"/>
                </a:solidFill>
              </a:rPr>
              <a:t>I    Identificación de las variable</a:t>
            </a:r>
          </a:p>
          <a:p>
            <a:pPr marL="0" lvl="0" indent="0">
              <a:buNone/>
            </a:pPr>
            <a:r>
              <a:rPr lang="es-ES" sz="2000" dirty="0"/>
              <a:t>     A=número de unidades de casaca tipo A</a:t>
            </a:r>
          </a:p>
          <a:p>
            <a:pPr marL="0" lvl="0" indent="0">
              <a:buNone/>
            </a:pPr>
            <a:r>
              <a:rPr lang="es-ES" sz="2000" dirty="0"/>
              <a:t>     B= número de unidades de casaca tipo B</a:t>
            </a:r>
          </a:p>
        </p:txBody>
      </p:sp>
      <p:sp>
        <p:nvSpPr>
          <p:cNvPr id="2" name="Rectángulo 1">
            <a:extLst>
              <a:ext uri="{FF2B5EF4-FFF2-40B4-BE49-F238E27FC236}">
                <a16:creationId xmlns:a16="http://schemas.microsoft.com/office/drawing/2014/main" id="{0361C5FA-4E1A-42AB-BBF3-25179503558C}"/>
              </a:ext>
            </a:extLst>
          </p:cNvPr>
          <p:cNvSpPr/>
          <p:nvPr/>
        </p:nvSpPr>
        <p:spPr>
          <a:xfrm>
            <a:off x="8379124" y="5249368"/>
            <a:ext cx="3709359" cy="1477328"/>
          </a:xfrm>
          <a:prstGeom prst="rect">
            <a:avLst/>
          </a:prstGeom>
          <a:solidFill>
            <a:schemeClr val="accent6">
              <a:lumMod val="60000"/>
              <a:lumOff val="40000"/>
            </a:schemeClr>
          </a:solidFill>
        </p:spPr>
        <p:txBody>
          <a:bodyPr wrap="square">
            <a:spAutoFit/>
          </a:bodyPr>
          <a:lstStyle/>
          <a:p>
            <a:r>
              <a:rPr lang="es-PE" dirty="0">
                <a:latin typeface="Arial Narrow" panose="020B0606020202030204" pitchFamily="34" charset="0"/>
              </a:rPr>
              <a:t> </a:t>
            </a:r>
            <a:r>
              <a:rPr lang="es-PE" dirty="0" err="1">
                <a:latin typeface="Arial Narrow" panose="020B0606020202030204" pitchFamily="34" charset="0"/>
              </a:rPr>
              <a:t>OBJECTIVE</a:t>
            </a:r>
            <a:r>
              <a:rPr lang="es-PE" dirty="0">
                <a:latin typeface="Arial Narrow" panose="020B0606020202030204" pitchFamily="34" charset="0"/>
              </a:rPr>
              <a:t> </a:t>
            </a:r>
            <a:r>
              <a:rPr lang="es-PE" dirty="0" err="1">
                <a:latin typeface="Arial Narrow" panose="020B0606020202030204" pitchFamily="34" charset="0"/>
              </a:rPr>
              <a:t>FUNCTION</a:t>
            </a:r>
            <a:r>
              <a:rPr lang="es-PE" dirty="0">
                <a:latin typeface="Arial Narrow" panose="020B0606020202030204" pitchFamily="34" charset="0"/>
              </a:rPr>
              <a:t> </a:t>
            </a:r>
            <a:r>
              <a:rPr lang="es-PE" dirty="0" err="1">
                <a:latin typeface="Arial Narrow" panose="020B0606020202030204" pitchFamily="34" charset="0"/>
              </a:rPr>
              <a:t>VALUE</a:t>
            </a:r>
            <a:endParaRPr lang="es-PE" dirty="0">
              <a:latin typeface="Arial Narrow" panose="020B0606020202030204" pitchFamily="34" charset="0"/>
            </a:endParaRPr>
          </a:p>
          <a:p>
            <a:r>
              <a:rPr lang="es-PE" dirty="0">
                <a:latin typeface="Arial Narrow" panose="020B0606020202030204" pitchFamily="34" charset="0"/>
              </a:rPr>
              <a:t>        1)      390.0000</a:t>
            </a:r>
          </a:p>
          <a:p>
            <a:r>
              <a:rPr lang="es-PE" dirty="0">
                <a:latin typeface="Arial Narrow" panose="020B0606020202030204" pitchFamily="34" charset="0"/>
              </a:rPr>
              <a:t>  VARIABLE  </a:t>
            </a:r>
            <a:r>
              <a:rPr lang="es-PE" dirty="0" err="1">
                <a:latin typeface="Arial Narrow" panose="020B0606020202030204" pitchFamily="34" charset="0"/>
              </a:rPr>
              <a:t>VALUE</a:t>
            </a:r>
            <a:r>
              <a:rPr lang="es-PE" dirty="0">
                <a:latin typeface="Arial Narrow" panose="020B0606020202030204" pitchFamily="34" charset="0"/>
              </a:rPr>
              <a:t>     </a:t>
            </a:r>
            <a:r>
              <a:rPr lang="es-PE" dirty="0" err="1">
                <a:latin typeface="Arial Narrow" panose="020B0606020202030204" pitchFamily="34" charset="0"/>
              </a:rPr>
              <a:t>REDUCED</a:t>
            </a:r>
            <a:r>
              <a:rPr lang="es-PE" dirty="0">
                <a:latin typeface="Arial Narrow" panose="020B0606020202030204" pitchFamily="34" charset="0"/>
              </a:rPr>
              <a:t> </a:t>
            </a:r>
            <a:r>
              <a:rPr lang="es-PE" dirty="0" err="1">
                <a:latin typeface="Arial Narrow" panose="020B0606020202030204" pitchFamily="34" charset="0"/>
              </a:rPr>
              <a:t>COST</a:t>
            </a:r>
            <a:endParaRPr lang="es-PE" dirty="0">
              <a:latin typeface="Arial Narrow" panose="020B0606020202030204" pitchFamily="34" charset="0"/>
            </a:endParaRPr>
          </a:p>
          <a:p>
            <a:r>
              <a:rPr lang="es-PE" dirty="0">
                <a:latin typeface="Arial Narrow" panose="020B0606020202030204" pitchFamily="34" charset="0"/>
              </a:rPr>
              <a:t>         A         3.000000          0.000000</a:t>
            </a:r>
          </a:p>
          <a:p>
            <a:r>
              <a:rPr lang="es-PE" dirty="0">
                <a:latin typeface="Arial Narrow" panose="020B0606020202030204" pitchFamily="34" charset="0"/>
              </a:rPr>
              <a:t>         B         6.000000          0.000000</a:t>
            </a:r>
          </a:p>
        </p:txBody>
      </p:sp>
      <p:sp>
        <p:nvSpPr>
          <p:cNvPr id="7" name="Rectangle 2">
            <a:extLst>
              <a:ext uri="{FF2B5EF4-FFF2-40B4-BE49-F238E27FC236}">
                <a16:creationId xmlns:a16="http://schemas.microsoft.com/office/drawing/2014/main" id="{A82E19CE-C326-4376-AFC5-3533BDA6084E}"/>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8</a:t>
            </a:r>
          </a:p>
        </p:txBody>
      </p:sp>
      <p:sp>
        <p:nvSpPr>
          <p:cNvPr id="8" name="Rectángulo 7">
            <a:extLst>
              <a:ext uri="{FF2B5EF4-FFF2-40B4-BE49-F238E27FC236}">
                <a16:creationId xmlns:a16="http://schemas.microsoft.com/office/drawing/2014/main" id="{3A5BCDA5-91E2-4C51-8F35-4B95FCD29CE8}"/>
              </a:ext>
            </a:extLst>
          </p:cNvPr>
          <p:cNvSpPr/>
          <p:nvPr/>
        </p:nvSpPr>
        <p:spPr>
          <a:xfrm>
            <a:off x="6291532" y="3225652"/>
            <a:ext cx="4836544" cy="1323439"/>
          </a:xfrm>
          <a:prstGeom prst="rect">
            <a:avLst/>
          </a:prstGeom>
          <a:solidFill>
            <a:schemeClr val="accent3">
              <a:lumMod val="20000"/>
              <a:lumOff val="80000"/>
            </a:schemeClr>
          </a:solidFill>
        </p:spPr>
        <p:txBody>
          <a:bodyPr wrap="square">
            <a:spAutoFit/>
          </a:bodyPr>
          <a:lstStyle/>
          <a:p>
            <a:pPr>
              <a:defRPr/>
            </a:pPr>
            <a:r>
              <a:rPr lang="es-ES_tradnl" sz="2000" b="1" dirty="0">
                <a:solidFill>
                  <a:srgbClr val="FF0000"/>
                </a:solidFill>
              </a:rPr>
              <a:t>III  Identificación de las restricciones</a:t>
            </a:r>
            <a:endParaRPr lang="es-ES_tradnl" sz="2000" b="1" i="1" dirty="0"/>
          </a:p>
          <a:p>
            <a:pPr lvl="0"/>
            <a:r>
              <a:rPr lang="es-ES" sz="2000" dirty="0"/>
              <a:t>	</a:t>
            </a:r>
            <a:r>
              <a:rPr lang="es-ES" sz="2000" dirty="0" err="1"/>
              <a:t>3A</a:t>
            </a:r>
            <a:r>
              <a:rPr lang="es-ES" sz="2000" dirty="0"/>
              <a:t> +3 B &lt;= 27</a:t>
            </a:r>
          </a:p>
          <a:p>
            <a:pPr lvl="0"/>
            <a:r>
              <a:rPr lang="es-ES" sz="2000" dirty="0"/>
              <a:t>	</a:t>
            </a:r>
            <a:r>
              <a:rPr lang="es-ES" sz="2000" dirty="0" err="1"/>
              <a:t>2A</a:t>
            </a:r>
            <a:r>
              <a:rPr lang="es-ES" sz="2000" dirty="0"/>
              <a:t> + </a:t>
            </a:r>
            <a:r>
              <a:rPr lang="es-ES" sz="2000" dirty="0" err="1"/>
              <a:t>4B</a:t>
            </a:r>
            <a:r>
              <a:rPr lang="es-ES" sz="2000" dirty="0"/>
              <a:t>&lt;=30</a:t>
            </a:r>
          </a:p>
          <a:p>
            <a:pPr lvl="0"/>
            <a:r>
              <a:rPr lang="es-ES" sz="2000" dirty="0"/>
              <a:t>	       A, </a:t>
            </a:r>
            <a:r>
              <a:rPr lang="es-ES" sz="2000" dirty="0" err="1"/>
              <a:t>B</a:t>
            </a:r>
            <a:r>
              <a:rPr lang="es-ES" sz="2000" dirty="0" err="1">
                <a:sym typeface="Symbol"/>
              </a:rPr>
              <a:t></a:t>
            </a:r>
            <a:r>
              <a:rPr lang="es-ES" sz="2000" dirty="0" err="1"/>
              <a:t>0</a:t>
            </a:r>
            <a:r>
              <a:rPr lang="es-ES" sz="2000" dirty="0"/>
              <a:t>, </a:t>
            </a:r>
            <a:r>
              <a:rPr lang="es-ES" sz="2000" b="1" dirty="0">
                <a:solidFill>
                  <a:srgbClr val="FF0000"/>
                </a:solidFill>
              </a:rPr>
              <a:t>ENTERAS</a:t>
            </a:r>
            <a:endParaRPr lang="es-PE" sz="2000" dirty="0"/>
          </a:p>
        </p:txBody>
      </p:sp>
      <p:sp>
        <p:nvSpPr>
          <p:cNvPr id="9" name="Rectángulo 8">
            <a:extLst>
              <a:ext uri="{FF2B5EF4-FFF2-40B4-BE49-F238E27FC236}">
                <a16:creationId xmlns:a16="http://schemas.microsoft.com/office/drawing/2014/main" id="{6FEC3A9C-A345-48D9-B699-D34A32DA303C}"/>
              </a:ext>
            </a:extLst>
          </p:cNvPr>
          <p:cNvSpPr/>
          <p:nvPr/>
        </p:nvSpPr>
        <p:spPr>
          <a:xfrm>
            <a:off x="6291532" y="2510612"/>
            <a:ext cx="4845170" cy="707886"/>
          </a:xfrm>
          <a:prstGeom prst="rect">
            <a:avLst/>
          </a:prstGeom>
          <a:solidFill>
            <a:schemeClr val="accent3">
              <a:lumMod val="20000"/>
              <a:lumOff val="80000"/>
            </a:schemeClr>
          </a:solidFill>
        </p:spPr>
        <p:txBody>
          <a:bodyPr wrap="square">
            <a:spAutoFit/>
          </a:bodyPr>
          <a:lstStyle/>
          <a:p>
            <a:pPr>
              <a:defRPr/>
            </a:pPr>
            <a:r>
              <a:rPr lang="es-ES_tradnl" sz="2000" b="1" dirty="0">
                <a:solidFill>
                  <a:srgbClr val="FF0000"/>
                </a:solidFill>
              </a:rPr>
              <a:t>II   Identificación de la función objetivo</a:t>
            </a:r>
          </a:p>
          <a:p>
            <a:pPr lvl="0"/>
            <a:r>
              <a:rPr lang="es-ES" sz="2000" dirty="0"/>
              <a:t>     MAX  </a:t>
            </a:r>
            <a:r>
              <a:rPr lang="es-ES" sz="2000" dirty="0" err="1"/>
              <a:t>30A</a:t>
            </a:r>
            <a:r>
              <a:rPr lang="es-ES" sz="2000" dirty="0"/>
              <a:t>+ </a:t>
            </a:r>
            <a:r>
              <a:rPr lang="es-ES" sz="2000" dirty="0" err="1"/>
              <a:t>50B</a:t>
            </a:r>
            <a:endParaRPr lang="es-ES" sz="2000" dirty="0"/>
          </a:p>
        </p:txBody>
      </p:sp>
      <p:sp>
        <p:nvSpPr>
          <p:cNvPr id="6" name="Rectángulo 5">
            <a:extLst>
              <a:ext uri="{FF2B5EF4-FFF2-40B4-BE49-F238E27FC236}">
                <a16:creationId xmlns:a16="http://schemas.microsoft.com/office/drawing/2014/main" id="{A3454128-9683-4C72-9ED0-BC5BF6779E2D}"/>
              </a:ext>
            </a:extLst>
          </p:cNvPr>
          <p:cNvSpPr/>
          <p:nvPr/>
        </p:nvSpPr>
        <p:spPr>
          <a:xfrm>
            <a:off x="10253932" y="3001355"/>
            <a:ext cx="1860431" cy="2246769"/>
          </a:xfrm>
          <a:prstGeom prst="rect">
            <a:avLst/>
          </a:prstGeom>
          <a:solidFill>
            <a:srgbClr val="FFFF00"/>
          </a:solidFill>
        </p:spPr>
        <p:txBody>
          <a:bodyPr wrap="square">
            <a:spAutoFit/>
          </a:bodyPr>
          <a:lstStyle/>
          <a:p>
            <a:r>
              <a:rPr lang="es-PE" sz="2000" dirty="0">
                <a:latin typeface="Arial Narrow" panose="020B0606020202030204" pitchFamily="34" charset="0"/>
              </a:rPr>
              <a:t>MAX  </a:t>
            </a:r>
            <a:r>
              <a:rPr lang="es-PE" sz="2000" dirty="0" err="1">
                <a:latin typeface="Arial Narrow" panose="020B0606020202030204" pitchFamily="34" charset="0"/>
              </a:rPr>
              <a:t>30A</a:t>
            </a:r>
            <a:r>
              <a:rPr lang="es-PE" sz="2000" dirty="0">
                <a:latin typeface="Arial Narrow" panose="020B0606020202030204" pitchFamily="34" charset="0"/>
              </a:rPr>
              <a:t>+ </a:t>
            </a:r>
            <a:r>
              <a:rPr lang="es-PE" sz="2000" dirty="0" err="1">
                <a:latin typeface="Arial Narrow" panose="020B0606020202030204" pitchFamily="34" charset="0"/>
              </a:rPr>
              <a:t>50B</a:t>
            </a:r>
            <a:endParaRPr lang="es-PE" sz="2000" dirty="0">
              <a:latin typeface="Arial Narrow" panose="020B0606020202030204" pitchFamily="34" charset="0"/>
            </a:endParaRPr>
          </a:p>
          <a:p>
            <a:r>
              <a:rPr lang="es-PE" sz="2000" dirty="0" err="1">
                <a:latin typeface="Arial Narrow" panose="020B0606020202030204" pitchFamily="34" charset="0"/>
              </a:rPr>
              <a:t>ST</a:t>
            </a:r>
            <a:endParaRPr lang="es-PE" sz="2000" dirty="0">
              <a:latin typeface="Arial Narrow" panose="020B0606020202030204" pitchFamily="34" charset="0"/>
            </a:endParaRPr>
          </a:p>
          <a:p>
            <a:r>
              <a:rPr lang="es-PE" sz="2000" dirty="0" err="1">
                <a:latin typeface="Arial Narrow" panose="020B0606020202030204" pitchFamily="34" charset="0"/>
              </a:rPr>
              <a:t>3A</a:t>
            </a:r>
            <a:r>
              <a:rPr lang="es-PE" sz="2000" dirty="0">
                <a:latin typeface="Arial Narrow" panose="020B0606020202030204" pitchFamily="34" charset="0"/>
              </a:rPr>
              <a:t> +3 B &lt;= 27</a:t>
            </a:r>
          </a:p>
          <a:p>
            <a:r>
              <a:rPr lang="es-PE" sz="2000" dirty="0" err="1">
                <a:latin typeface="Arial Narrow" panose="020B0606020202030204" pitchFamily="34" charset="0"/>
              </a:rPr>
              <a:t>2A</a:t>
            </a:r>
            <a:r>
              <a:rPr lang="es-PE" sz="2000" dirty="0">
                <a:latin typeface="Arial Narrow" panose="020B0606020202030204" pitchFamily="34" charset="0"/>
              </a:rPr>
              <a:t> + </a:t>
            </a:r>
            <a:r>
              <a:rPr lang="es-PE" sz="2000" dirty="0" err="1">
                <a:latin typeface="Arial Narrow" panose="020B0606020202030204" pitchFamily="34" charset="0"/>
              </a:rPr>
              <a:t>4B</a:t>
            </a:r>
            <a:r>
              <a:rPr lang="es-PE" sz="2000" dirty="0">
                <a:latin typeface="Arial Narrow" panose="020B0606020202030204" pitchFamily="34" charset="0"/>
              </a:rPr>
              <a:t>&lt;=30</a:t>
            </a:r>
          </a:p>
          <a:p>
            <a:r>
              <a:rPr lang="es-PE" sz="2000" dirty="0" err="1">
                <a:latin typeface="Arial Narrow" panose="020B0606020202030204" pitchFamily="34" charset="0"/>
              </a:rPr>
              <a:t>END</a:t>
            </a:r>
            <a:endParaRPr lang="es-PE" sz="2000" dirty="0">
              <a:latin typeface="Arial Narrow" panose="020B0606020202030204" pitchFamily="34" charset="0"/>
            </a:endParaRPr>
          </a:p>
          <a:p>
            <a:r>
              <a:rPr lang="es-PE" sz="2000" dirty="0">
                <a:latin typeface="Arial Narrow" panose="020B0606020202030204" pitchFamily="34" charset="0"/>
              </a:rPr>
              <a:t>GIN A</a:t>
            </a:r>
          </a:p>
          <a:p>
            <a:r>
              <a:rPr lang="es-PE" sz="2000" dirty="0">
                <a:latin typeface="Arial Narrow" panose="020B0606020202030204" pitchFamily="34" charset="0"/>
              </a:rPr>
              <a:t>GIN B</a:t>
            </a:r>
          </a:p>
        </p:txBody>
      </p:sp>
    </p:spTree>
    <p:extLst>
      <p:ext uri="{BB962C8B-B14F-4D97-AF65-F5344CB8AC3E}">
        <p14:creationId xmlns:p14="http://schemas.microsoft.com/office/powerpoint/2010/main" val="314172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8" grpId="0" animBg="1"/>
      <p:bldP spid="9"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6 Tabla">
            <a:extLst>
              <a:ext uri="{FF2B5EF4-FFF2-40B4-BE49-F238E27FC236}">
                <a16:creationId xmlns:a16="http://schemas.microsoft.com/office/drawing/2014/main" id="{47FE09EE-FCEA-D8E0-687A-B5D7C8274B9F}"/>
              </a:ext>
            </a:extLst>
          </p:cNvPr>
          <p:cNvGraphicFramePr>
            <a:graphicFrameLocks noGrp="1"/>
          </p:cNvGraphicFramePr>
          <p:nvPr>
            <p:extLst>
              <p:ext uri="{D42A27DB-BD31-4B8C-83A1-F6EECF244321}">
                <p14:modId xmlns:p14="http://schemas.microsoft.com/office/powerpoint/2010/main" val="1064750992"/>
              </p:ext>
            </p:extLst>
          </p:nvPr>
        </p:nvGraphicFramePr>
        <p:xfrm>
          <a:off x="624126" y="3059515"/>
          <a:ext cx="8494474" cy="3248034"/>
        </p:xfrm>
        <a:graphic>
          <a:graphicData uri="http://schemas.openxmlformats.org/drawingml/2006/table">
            <a:tbl>
              <a:tblPr firstRow="1" bandRow="1">
                <a:tableStyleId>{00A15C55-8517-42AA-B614-E9B94910E393}</a:tableStyleId>
              </a:tblPr>
              <a:tblGrid>
                <a:gridCol w="566749">
                  <a:extLst>
                    <a:ext uri="{9D8B030D-6E8A-4147-A177-3AD203B41FA5}">
                      <a16:colId xmlns:a16="http://schemas.microsoft.com/office/drawing/2014/main" val="20000"/>
                    </a:ext>
                  </a:extLst>
                </a:gridCol>
                <a:gridCol w="566749">
                  <a:extLst>
                    <a:ext uri="{9D8B030D-6E8A-4147-A177-3AD203B41FA5}">
                      <a16:colId xmlns:a16="http://schemas.microsoft.com/office/drawing/2014/main" val="20001"/>
                    </a:ext>
                  </a:extLst>
                </a:gridCol>
                <a:gridCol w="585658">
                  <a:extLst>
                    <a:ext uri="{9D8B030D-6E8A-4147-A177-3AD203B41FA5}">
                      <a16:colId xmlns:a16="http://schemas.microsoft.com/office/drawing/2014/main" val="20002"/>
                    </a:ext>
                  </a:extLst>
                </a:gridCol>
                <a:gridCol w="566749">
                  <a:extLst>
                    <a:ext uri="{9D8B030D-6E8A-4147-A177-3AD203B41FA5}">
                      <a16:colId xmlns:a16="http://schemas.microsoft.com/office/drawing/2014/main" val="20003"/>
                    </a:ext>
                  </a:extLst>
                </a:gridCol>
                <a:gridCol w="566749">
                  <a:extLst>
                    <a:ext uri="{9D8B030D-6E8A-4147-A177-3AD203B41FA5}">
                      <a16:colId xmlns:a16="http://schemas.microsoft.com/office/drawing/2014/main" val="20004"/>
                    </a:ext>
                  </a:extLst>
                </a:gridCol>
                <a:gridCol w="566749">
                  <a:extLst>
                    <a:ext uri="{9D8B030D-6E8A-4147-A177-3AD203B41FA5}">
                      <a16:colId xmlns:a16="http://schemas.microsoft.com/office/drawing/2014/main" val="20005"/>
                    </a:ext>
                  </a:extLst>
                </a:gridCol>
                <a:gridCol w="566749">
                  <a:extLst>
                    <a:ext uri="{9D8B030D-6E8A-4147-A177-3AD203B41FA5}">
                      <a16:colId xmlns:a16="http://schemas.microsoft.com/office/drawing/2014/main" val="20006"/>
                    </a:ext>
                  </a:extLst>
                </a:gridCol>
                <a:gridCol w="566749">
                  <a:extLst>
                    <a:ext uri="{9D8B030D-6E8A-4147-A177-3AD203B41FA5}">
                      <a16:colId xmlns:a16="http://schemas.microsoft.com/office/drawing/2014/main" val="20007"/>
                    </a:ext>
                  </a:extLst>
                </a:gridCol>
                <a:gridCol w="566749">
                  <a:extLst>
                    <a:ext uri="{9D8B030D-6E8A-4147-A177-3AD203B41FA5}">
                      <a16:colId xmlns:a16="http://schemas.microsoft.com/office/drawing/2014/main" val="20008"/>
                    </a:ext>
                  </a:extLst>
                </a:gridCol>
                <a:gridCol w="566749">
                  <a:extLst>
                    <a:ext uri="{9D8B030D-6E8A-4147-A177-3AD203B41FA5}">
                      <a16:colId xmlns:a16="http://schemas.microsoft.com/office/drawing/2014/main" val="20009"/>
                    </a:ext>
                  </a:extLst>
                </a:gridCol>
                <a:gridCol w="566749">
                  <a:extLst>
                    <a:ext uri="{9D8B030D-6E8A-4147-A177-3AD203B41FA5}">
                      <a16:colId xmlns:a16="http://schemas.microsoft.com/office/drawing/2014/main" val="20010"/>
                    </a:ext>
                  </a:extLst>
                </a:gridCol>
                <a:gridCol w="539526">
                  <a:extLst>
                    <a:ext uri="{9D8B030D-6E8A-4147-A177-3AD203B41FA5}">
                      <a16:colId xmlns:a16="http://schemas.microsoft.com/office/drawing/2014/main" val="20011"/>
                    </a:ext>
                  </a:extLst>
                </a:gridCol>
                <a:gridCol w="558800">
                  <a:extLst>
                    <a:ext uri="{9D8B030D-6E8A-4147-A177-3AD203B41FA5}">
                      <a16:colId xmlns:a16="http://schemas.microsoft.com/office/drawing/2014/main" val="2960354758"/>
                    </a:ext>
                  </a:extLst>
                </a:gridCol>
                <a:gridCol w="550333">
                  <a:extLst>
                    <a:ext uri="{9D8B030D-6E8A-4147-A177-3AD203B41FA5}">
                      <a16:colId xmlns:a16="http://schemas.microsoft.com/office/drawing/2014/main" val="2206954255"/>
                    </a:ext>
                  </a:extLst>
                </a:gridCol>
                <a:gridCol w="592667">
                  <a:extLst>
                    <a:ext uri="{9D8B030D-6E8A-4147-A177-3AD203B41FA5}">
                      <a16:colId xmlns:a16="http://schemas.microsoft.com/office/drawing/2014/main" val="51948892"/>
                    </a:ext>
                  </a:extLst>
                </a:gridCol>
              </a:tblGrid>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cxnSp>
        <p:nvCxnSpPr>
          <p:cNvPr id="5" name="21 Conector recto">
            <a:extLst>
              <a:ext uri="{FF2B5EF4-FFF2-40B4-BE49-F238E27FC236}">
                <a16:creationId xmlns:a16="http://schemas.microsoft.com/office/drawing/2014/main" id="{0BE98806-96D4-5AF0-5467-CC969784E54D}"/>
              </a:ext>
            </a:extLst>
          </p:cNvPr>
          <p:cNvCxnSpPr>
            <a:cxnSpLocks/>
          </p:cNvCxnSpPr>
          <p:nvPr/>
        </p:nvCxnSpPr>
        <p:spPr>
          <a:xfrm>
            <a:off x="1501246" y="5759544"/>
            <a:ext cx="3672408"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9 CuadroTexto">
            <a:extLst>
              <a:ext uri="{FF2B5EF4-FFF2-40B4-BE49-F238E27FC236}">
                <a16:creationId xmlns:a16="http://schemas.microsoft.com/office/drawing/2014/main" id="{71CCCF2B-FA19-1F83-47F7-75779E59B3EB}"/>
              </a:ext>
            </a:extLst>
          </p:cNvPr>
          <p:cNvSpPr txBox="1"/>
          <p:nvPr/>
        </p:nvSpPr>
        <p:spPr>
          <a:xfrm>
            <a:off x="955569" y="6286783"/>
            <a:ext cx="8494473" cy="369332"/>
          </a:xfrm>
          <a:prstGeom prst="rect">
            <a:avLst/>
          </a:prstGeom>
          <a:noFill/>
        </p:spPr>
        <p:txBody>
          <a:bodyPr wrap="square" rtlCol="0">
            <a:spAutoFit/>
          </a:bodyPr>
          <a:lstStyle/>
          <a:p>
            <a:r>
              <a:rPr lang="es-PE" b="1" dirty="0"/>
              <a:t> 1         2         3        4        5          6         7       8          9      10      11       12        13      14      15  </a:t>
            </a:r>
          </a:p>
        </p:txBody>
      </p:sp>
      <p:cxnSp>
        <p:nvCxnSpPr>
          <p:cNvPr id="7" name="3 Conector recto de flecha">
            <a:extLst>
              <a:ext uri="{FF2B5EF4-FFF2-40B4-BE49-F238E27FC236}">
                <a16:creationId xmlns:a16="http://schemas.microsoft.com/office/drawing/2014/main" id="{16809B98-393B-3C2C-F683-A207F62140B5}"/>
              </a:ext>
            </a:extLst>
          </p:cNvPr>
          <p:cNvCxnSpPr>
            <a:cxnSpLocks/>
          </p:cNvCxnSpPr>
          <p:nvPr/>
        </p:nvCxnSpPr>
        <p:spPr>
          <a:xfrm flipV="1">
            <a:off x="438912" y="827895"/>
            <a:ext cx="230231" cy="150513"/>
          </a:xfrm>
          <a:prstGeom prst="straightConnector1">
            <a:avLst/>
          </a:prstGeom>
          <a:ln w="25400">
            <a:solidFill>
              <a:srgbClr val="00B050"/>
            </a:solidFill>
            <a:headEnd type="triangle"/>
          </a:ln>
        </p:spPr>
        <p:style>
          <a:lnRef idx="1">
            <a:schemeClr val="accent1"/>
          </a:lnRef>
          <a:fillRef idx="0">
            <a:schemeClr val="accent1"/>
          </a:fillRef>
          <a:effectRef idx="0">
            <a:schemeClr val="accent1"/>
          </a:effectRef>
          <a:fontRef idx="minor">
            <a:schemeClr val="tx1"/>
          </a:fontRef>
        </p:style>
      </p:cxnSp>
      <p:cxnSp>
        <p:nvCxnSpPr>
          <p:cNvPr id="8" name="8 Conector recto de flecha">
            <a:extLst>
              <a:ext uri="{FF2B5EF4-FFF2-40B4-BE49-F238E27FC236}">
                <a16:creationId xmlns:a16="http://schemas.microsoft.com/office/drawing/2014/main" id="{E09756B8-7F88-367A-2890-02A2FC704A52}"/>
              </a:ext>
            </a:extLst>
          </p:cNvPr>
          <p:cNvCxnSpPr>
            <a:cxnSpLocks/>
          </p:cNvCxnSpPr>
          <p:nvPr/>
        </p:nvCxnSpPr>
        <p:spPr>
          <a:xfrm flipH="1">
            <a:off x="448056" y="3072108"/>
            <a:ext cx="177829" cy="265452"/>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9" name="30 Conector recto de flecha">
            <a:extLst>
              <a:ext uri="{FF2B5EF4-FFF2-40B4-BE49-F238E27FC236}">
                <a16:creationId xmlns:a16="http://schemas.microsoft.com/office/drawing/2014/main" id="{ED223D7A-47A3-6CD2-174E-04AE474C9518}"/>
              </a:ext>
            </a:extLst>
          </p:cNvPr>
          <p:cNvCxnSpPr>
            <a:cxnSpLocks/>
          </p:cNvCxnSpPr>
          <p:nvPr/>
        </p:nvCxnSpPr>
        <p:spPr>
          <a:xfrm flipH="1">
            <a:off x="502920" y="3697101"/>
            <a:ext cx="103809" cy="253107"/>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14 Conector recto de flecha">
            <a:extLst>
              <a:ext uri="{FF2B5EF4-FFF2-40B4-BE49-F238E27FC236}">
                <a16:creationId xmlns:a16="http://schemas.microsoft.com/office/drawing/2014/main" id="{306A0EDD-CBBD-74D6-4773-852E9A663620}"/>
              </a:ext>
            </a:extLst>
          </p:cNvPr>
          <p:cNvCxnSpPr>
            <a:cxnSpLocks/>
          </p:cNvCxnSpPr>
          <p:nvPr/>
        </p:nvCxnSpPr>
        <p:spPr>
          <a:xfrm>
            <a:off x="647384" y="6299042"/>
            <a:ext cx="9453349"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71 CuadroTexto">
            <a:extLst>
              <a:ext uri="{FF2B5EF4-FFF2-40B4-BE49-F238E27FC236}">
                <a16:creationId xmlns:a16="http://schemas.microsoft.com/office/drawing/2014/main" id="{C4297ABC-A0B4-5204-9493-4D0415E57439}"/>
              </a:ext>
            </a:extLst>
          </p:cNvPr>
          <p:cNvSpPr txBox="1"/>
          <p:nvPr/>
        </p:nvSpPr>
        <p:spPr>
          <a:xfrm>
            <a:off x="9951520" y="6396335"/>
            <a:ext cx="604824" cy="461665"/>
          </a:xfrm>
          <a:prstGeom prst="rect">
            <a:avLst/>
          </a:prstGeom>
          <a:noFill/>
        </p:spPr>
        <p:txBody>
          <a:bodyPr wrap="square" rtlCol="0">
            <a:spAutoFit/>
          </a:bodyPr>
          <a:lstStyle/>
          <a:p>
            <a:r>
              <a:rPr lang="es-ES" sz="2400" b="1" dirty="0" err="1">
                <a:solidFill>
                  <a:srgbClr val="FF0000"/>
                </a:solidFill>
              </a:rPr>
              <a:t>X1</a:t>
            </a:r>
            <a:endParaRPr lang="es-PE" sz="2400" b="1" dirty="0">
              <a:solidFill>
                <a:srgbClr val="FF0000"/>
              </a:solidFill>
            </a:endParaRPr>
          </a:p>
        </p:txBody>
      </p:sp>
      <p:sp>
        <p:nvSpPr>
          <p:cNvPr id="13" name="71 CuadroTexto">
            <a:extLst>
              <a:ext uri="{FF2B5EF4-FFF2-40B4-BE49-F238E27FC236}">
                <a16:creationId xmlns:a16="http://schemas.microsoft.com/office/drawing/2014/main" id="{B3CA9A0B-A9C0-D8AA-7FD7-FB78CD63880E}"/>
              </a:ext>
            </a:extLst>
          </p:cNvPr>
          <p:cNvSpPr txBox="1"/>
          <p:nvPr/>
        </p:nvSpPr>
        <p:spPr>
          <a:xfrm>
            <a:off x="676652" y="111048"/>
            <a:ext cx="605862" cy="461665"/>
          </a:xfrm>
          <a:prstGeom prst="rect">
            <a:avLst/>
          </a:prstGeom>
          <a:noFill/>
        </p:spPr>
        <p:txBody>
          <a:bodyPr wrap="square" rtlCol="0">
            <a:spAutoFit/>
          </a:bodyPr>
          <a:lstStyle>
            <a:defPPr>
              <a:defRPr lang="es-PE"/>
            </a:defPPr>
            <a:lvl1pPr>
              <a:defRPr sz="2400">
                <a:solidFill>
                  <a:srgbClr val="FF0000"/>
                </a:solidFill>
              </a:defRPr>
            </a:lvl1pPr>
          </a:lstStyle>
          <a:p>
            <a:r>
              <a:rPr lang="es-ES" b="1" dirty="0" err="1"/>
              <a:t>X2</a:t>
            </a:r>
            <a:endParaRPr lang="es-PE" b="1" dirty="0"/>
          </a:p>
        </p:txBody>
      </p:sp>
      <p:sp>
        <p:nvSpPr>
          <p:cNvPr id="14" name="Elipse 13">
            <a:extLst>
              <a:ext uri="{FF2B5EF4-FFF2-40B4-BE49-F238E27FC236}">
                <a16:creationId xmlns:a16="http://schemas.microsoft.com/office/drawing/2014/main" id="{9A701FC1-AEFD-6B7E-2DE1-A4538D409F4A}"/>
              </a:ext>
            </a:extLst>
          </p:cNvPr>
          <p:cNvSpPr/>
          <p:nvPr/>
        </p:nvSpPr>
        <p:spPr>
          <a:xfrm>
            <a:off x="630933" y="4687763"/>
            <a:ext cx="45719"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5" name="Elipse 14">
            <a:extLst>
              <a:ext uri="{FF2B5EF4-FFF2-40B4-BE49-F238E27FC236}">
                <a16:creationId xmlns:a16="http://schemas.microsoft.com/office/drawing/2014/main" id="{0145E1A4-C629-6AC0-5E00-9A29DE56658F}"/>
              </a:ext>
            </a:extLst>
          </p:cNvPr>
          <p:cNvSpPr/>
          <p:nvPr/>
        </p:nvSpPr>
        <p:spPr>
          <a:xfrm>
            <a:off x="1715966" y="6286927"/>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6" name="Elipse 15">
            <a:extLst>
              <a:ext uri="{FF2B5EF4-FFF2-40B4-BE49-F238E27FC236}">
                <a16:creationId xmlns:a16="http://schemas.microsoft.com/office/drawing/2014/main" id="{21DE8CE2-8C75-5883-73A0-96AD4215BA00}"/>
              </a:ext>
            </a:extLst>
          </p:cNvPr>
          <p:cNvSpPr/>
          <p:nvPr/>
        </p:nvSpPr>
        <p:spPr>
          <a:xfrm>
            <a:off x="1685314" y="5771995"/>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Elipse 16">
            <a:extLst>
              <a:ext uri="{FF2B5EF4-FFF2-40B4-BE49-F238E27FC236}">
                <a16:creationId xmlns:a16="http://schemas.microsoft.com/office/drawing/2014/main" id="{80609DCB-ADE0-06B1-F627-DDD2C3E8FCC0}"/>
              </a:ext>
            </a:extLst>
          </p:cNvPr>
          <p:cNvSpPr/>
          <p:nvPr/>
        </p:nvSpPr>
        <p:spPr>
          <a:xfrm>
            <a:off x="2903588" y="5228417"/>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8" name="Elipse 17">
            <a:extLst>
              <a:ext uri="{FF2B5EF4-FFF2-40B4-BE49-F238E27FC236}">
                <a16:creationId xmlns:a16="http://schemas.microsoft.com/office/drawing/2014/main" id="{7D46020A-D1D6-EA10-FA51-6CB4C23AB3CB}"/>
              </a:ext>
            </a:extLst>
          </p:cNvPr>
          <p:cNvSpPr/>
          <p:nvPr/>
        </p:nvSpPr>
        <p:spPr>
          <a:xfrm>
            <a:off x="1112979" y="628469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Elipse 18">
            <a:extLst>
              <a:ext uri="{FF2B5EF4-FFF2-40B4-BE49-F238E27FC236}">
                <a16:creationId xmlns:a16="http://schemas.microsoft.com/office/drawing/2014/main" id="{D46A955F-9B14-4CD4-E939-FF247DC5CAD2}"/>
              </a:ext>
            </a:extLst>
          </p:cNvPr>
          <p:cNvSpPr/>
          <p:nvPr/>
        </p:nvSpPr>
        <p:spPr>
          <a:xfrm>
            <a:off x="1702048" y="5219385"/>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0" name="Elipse 19">
            <a:extLst>
              <a:ext uri="{FF2B5EF4-FFF2-40B4-BE49-F238E27FC236}">
                <a16:creationId xmlns:a16="http://schemas.microsoft.com/office/drawing/2014/main" id="{67E2CD75-D006-E5CB-0095-46E5DD940D5E}"/>
              </a:ext>
            </a:extLst>
          </p:cNvPr>
          <p:cNvSpPr/>
          <p:nvPr/>
        </p:nvSpPr>
        <p:spPr>
          <a:xfrm>
            <a:off x="1133798" y="5199429"/>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1" name="Elipse 20">
            <a:extLst>
              <a:ext uri="{FF2B5EF4-FFF2-40B4-BE49-F238E27FC236}">
                <a16:creationId xmlns:a16="http://schemas.microsoft.com/office/drawing/2014/main" id="{13AC443C-A3E3-DE96-BB3A-B9595D2A6911}"/>
              </a:ext>
            </a:extLst>
          </p:cNvPr>
          <p:cNvSpPr/>
          <p:nvPr/>
        </p:nvSpPr>
        <p:spPr>
          <a:xfrm>
            <a:off x="2312224" y="5715173"/>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2" name="Elipse 21">
            <a:extLst>
              <a:ext uri="{FF2B5EF4-FFF2-40B4-BE49-F238E27FC236}">
                <a16:creationId xmlns:a16="http://schemas.microsoft.com/office/drawing/2014/main" id="{288C29FC-6993-D8AD-0761-19F2F5AE3F34}"/>
              </a:ext>
            </a:extLst>
          </p:cNvPr>
          <p:cNvSpPr/>
          <p:nvPr/>
        </p:nvSpPr>
        <p:spPr>
          <a:xfrm>
            <a:off x="597177" y="5738177"/>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Elipse 22">
            <a:extLst>
              <a:ext uri="{FF2B5EF4-FFF2-40B4-BE49-F238E27FC236}">
                <a16:creationId xmlns:a16="http://schemas.microsoft.com/office/drawing/2014/main" id="{1894B034-BFF8-3966-F44D-7A9C1A9CB488}"/>
              </a:ext>
            </a:extLst>
          </p:cNvPr>
          <p:cNvSpPr/>
          <p:nvPr/>
        </p:nvSpPr>
        <p:spPr>
          <a:xfrm>
            <a:off x="1135003" y="468202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Elipse 23">
            <a:extLst>
              <a:ext uri="{FF2B5EF4-FFF2-40B4-BE49-F238E27FC236}">
                <a16:creationId xmlns:a16="http://schemas.microsoft.com/office/drawing/2014/main" id="{D9D4C7F9-F06C-E151-33DB-0770DA10F383}"/>
              </a:ext>
            </a:extLst>
          </p:cNvPr>
          <p:cNvSpPr/>
          <p:nvPr/>
        </p:nvSpPr>
        <p:spPr>
          <a:xfrm>
            <a:off x="2311189" y="5198106"/>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5" name="Elipse 24">
            <a:extLst>
              <a:ext uri="{FF2B5EF4-FFF2-40B4-BE49-F238E27FC236}">
                <a16:creationId xmlns:a16="http://schemas.microsoft.com/office/drawing/2014/main" id="{FA092E3F-D59E-48D1-0F29-73EA3765FB0A}"/>
              </a:ext>
            </a:extLst>
          </p:cNvPr>
          <p:cNvSpPr/>
          <p:nvPr/>
        </p:nvSpPr>
        <p:spPr>
          <a:xfrm rot="18391951">
            <a:off x="3415945" y="6286816"/>
            <a:ext cx="69012"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lipse 25">
            <a:extLst>
              <a:ext uri="{FF2B5EF4-FFF2-40B4-BE49-F238E27FC236}">
                <a16:creationId xmlns:a16="http://schemas.microsoft.com/office/drawing/2014/main" id="{A51778EF-FF04-5A31-4225-C33DAB099AAA}"/>
              </a:ext>
            </a:extLst>
          </p:cNvPr>
          <p:cNvSpPr/>
          <p:nvPr/>
        </p:nvSpPr>
        <p:spPr>
          <a:xfrm rot="2671535">
            <a:off x="3451984" y="5743303"/>
            <a:ext cx="69012" cy="4571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lipse 26">
            <a:extLst>
              <a:ext uri="{FF2B5EF4-FFF2-40B4-BE49-F238E27FC236}">
                <a16:creationId xmlns:a16="http://schemas.microsoft.com/office/drawing/2014/main" id="{955AC2BE-4259-BD07-DCE9-99E3B7D2A293}"/>
              </a:ext>
            </a:extLst>
          </p:cNvPr>
          <p:cNvSpPr/>
          <p:nvPr/>
        </p:nvSpPr>
        <p:spPr>
          <a:xfrm>
            <a:off x="2876150" y="4654032"/>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8" name="Elipse 27">
            <a:extLst>
              <a:ext uri="{FF2B5EF4-FFF2-40B4-BE49-F238E27FC236}">
                <a16:creationId xmlns:a16="http://schemas.microsoft.com/office/drawing/2014/main" id="{575E9CB6-722E-22F4-7C20-D8E91762B039}"/>
              </a:ext>
            </a:extLst>
          </p:cNvPr>
          <p:cNvSpPr/>
          <p:nvPr/>
        </p:nvSpPr>
        <p:spPr>
          <a:xfrm>
            <a:off x="2281796" y="4658729"/>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9" name="Elipse 28">
            <a:extLst>
              <a:ext uri="{FF2B5EF4-FFF2-40B4-BE49-F238E27FC236}">
                <a16:creationId xmlns:a16="http://schemas.microsoft.com/office/drawing/2014/main" id="{DC5388E4-29AF-D53C-4006-7F2282BE83B7}"/>
              </a:ext>
            </a:extLst>
          </p:cNvPr>
          <p:cNvSpPr/>
          <p:nvPr/>
        </p:nvSpPr>
        <p:spPr>
          <a:xfrm>
            <a:off x="2864309" y="573243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0" name="Elipse 29">
            <a:extLst>
              <a:ext uri="{FF2B5EF4-FFF2-40B4-BE49-F238E27FC236}">
                <a16:creationId xmlns:a16="http://schemas.microsoft.com/office/drawing/2014/main" id="{49B6303C-C457-A2CA-0EC9-C1C1A3B7B554}"/>
              </a:ext>
            </a:extLst>
          </p:cNvPr>
          <p:cNvSpPr/>
          <p:nvPr/>
        </p:nvSpPr>
        <p:spPr>
          <a:xfrm>
            <a:off x="621562" y="6271867"/>
            <a:ext cx="45719" cy="45719"/>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1" name="Elipse 30">
            <a:extLst>
              <a:ext uri="{FF2B5EF4-FFF2-40B4-BE49-F238E27FC236}">
                <a16:creationId xmlns:a16="http://schemas.microsoft.com/office/drawing/2014/main" id="{461F64CD-FE58-0937-88C0-E28A63C1F6F5}"/>
              </a:ext>
            </a:extLst>
          </p:cNvPr>
          <p:cNvSpPr/>
          <p:nvPr/>
        </p:nvSpPr>
        <p:spPr>
          <a:xfrm>
            <a:off x="1151914" y="5750659"/>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2" name="Elipse 31">
            <a:extLst>
              <a:ext uri="{FF2B5EF4-FFF2-40B4-BE49-F238E27FC236}">
                <a16:creationId xmlns:a16="http://schemas.microsoft.com/office/drawing/2014/main" id="{745F5F68-75A7-3BF3-8AED-21DEBFB47705}"/>
              </a:ext>
            </a:extLst>
          </p:cNvPr>
          <p:cNvSpPr/>
          <p:nvPr/>
        </p:nvSpPr>
        <p:spPr>
          <a:xfrm>
            <a:off x="1718842" y="4662523"/>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Elipse 32">
            <a:extLst>
              <a:ext uri="{FF2B5EF4-FFF2-40B4-BE49-F238E27FC236}">
                <a16:creationId xmlns:a16="http://schemas.microsoft.com/office/drawing/2014/main" id="{75F2D2D4-B499-C3C2-B828-B584A1E503CC}"/>
              </a:ext>
            </a:extLst>
          </p:cNvPr>
          <p:cNvSpPr/>
          <p:nvPr/>
        </p:nvSpPr>
        <p:spPr>
          <a:xfrm>
            <a:off x="1722567" y="412946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aphicFrame>
        <p:nvGraphicFramePr>
          <p:cNvPr id="34" name="6 Tabla">
            <a:extLst>
              <a:ext uri="{FF2B5EF4-FFF2-40B4-BE49-F238E27FC236}">
                <a16:creationId xmlns:a16="http://schemas.microsoft.com/office/drawing/2014/main" id="{0D54AEEB-3B01-5F70-3177-4C0CE747BDB9}"/>
              </a:ext>
            </a:extLst>
          </p:cNvPr>
          <p:cNvGraphicFramePr>
            <a:graphicFrameLocks noGrp="1"/>
          </p:cNvGraphicFramePr>
          <p:nvPr>
            <p:extLst>
              <p:ext uri="{D42A27DB-BD31-4B8C-83A1-F6EECF244321}">
                <p14:modId xmlns:p14="http://schemas.microsoft.com/office/powerpoint/2010/main" val="763395619"/>
              </p:ext>
            </p:extLst>
          </p:nvPr>
        </p:nvGraphicFramePr>
        <p:xfrm>
          <a:off x="621357" y="1427938"/>
          <a:ext cx="6819897" cy="1624017"/>
        </p:xfrm>
        <a:graphic>
          <a:graphicData uri="http://schemas.openxmlformats.org/drawingml/2006/table">
            <a:tbl>
              <a:tblPr firstRow="1" bandRow="1">
                <a:tableStyleId>{00A15C55-8517-42AA-B614-E9B94910E393}</a:tableStyleId>
              </a:tblPr>
              <a:tblGrid>
                <a:gridCol w="566749">
                  <a:extLst>
                    <a:ext uri="{9D8B030D-6E8A-4147-A177-3AD203B41FA5}">
                      <a16:colId xmlns:a16="http://schemas.microsoft.com/office/drawing/2014/main" val="20000"/>
                    </a:ext>
                  </a:extLst>
                </a:gridCol>
                <a:gridCol w="566749">
                  <a:extLst>
                    <a:ext uri="{9D8B030D-6E8A-4147-A177-3AD203B41FA5}">
                      <a16:colId xmlns:a16="http://schemas.microsoft.com/office/drawing/2014/main" val="20001"/>
                    </a:ext>
                  </a:extLst>
                </a:gridCol>
                <a:gridCol w="585658">
                  <a:extLst>
                    <a:ext uri="{9D8B030D-6E8A-4147-A177-3AD203B41FA5}">
                      <a16:colId xmlns:a16="http://schemas.microsoft.com/office/drawing/2014/main" val="20002"/>
                    </a:ext>
                  </a:extLst>
                </a:gridCol>
                <a:gridCol w="566749">
                  <a:extLst>
                    <a:ext uri="{9D8B030D-6E8A-4147-A177-3AD203B41FA5}">
                      <a16:colId xmlns:a16="http://schemas.microsoft.com/office/drawing/2014/main" val="20003"/>
                    </a:ext>
                  </a:extLst>
                </a:gridCol>
                <a:gridCol w="566749">
                  <a:extLst>
                    <a:ext uri="{9D8B030D-6E8A-4147-A177-3AD203B41FA5}">
                      <a16:colId xmlns:a16="http://schemas.microsoft.com/office/drawing/2014/main" val="20004"/>
                    </a:ext>
                  </a:extLst>
                </a:gridCol>
                <a:gridCol w="566749">
                  <a:extLst>
                    <a:ext uri="{9D8B030D-6E8A-4147-A177-3AD203B41FA5}">
                      <a16:colId xmlns:a16="http://schemas.microsoft.com/office/drawing/2014/main" val="20005"/>
                    </a:ext>
                  </a:extLst>
                </a:gridCol>
                <a:gridCol w="566749">
                  <a:extLst>
                    <a:ext uri="{9D8B030D-6E8A-4147-A177-3AD203B41FA5}">
                      <a16:colId xmlns:a16="http://schemas.microsoft.com/office/drawing/2014/main" val="20006"/>
                    </a:ext>
                  </a:extLst>
                </a:gridCol>
                <a:gridCol w="566749">
                  <a:extLst>
                    <a:ext uri="{9D8B030D-6E8A-4147-A177-3AD203B41FA5}">
                      <a16:colId xmlns:a16="http://schemas.microsoft.com/office/drawing/2014/main" val="20007"/>
                    </a:ext>
                  </a:extLst>
                </a:gridCol>
                <a:gridCol w="566749">
                  <a:extLst>
                    <a:ext uri="{9D8B030D-6E8A-4147-A177-3AD203B41FA5}">
                      <a16:colId xmlns:a16="http://schemas.microsoft.com/office/drawing/2014/main" val="20008"/>
                    </a:ext>
                  </a:extLst>
                </a:gridCol>
                <a:gridCol w="566749">
                  <a:extLst>
                    <a:ext uri="{9D8B030D-6E8A-4147-A177-3AD203B41FA5}">
                      <a16:colId xmlns:a16="http://schemas.microsoft.com/office/drawing/2014/main" val="20009"/>
                    </a:ext>
                  </a:extLst>
                </a:gridCol>
                <a:gridCol w="566749">
                  <a:extLst>
                    <a:ext uri="{9D8B030D-6E8A-4147-A177-3AD203B41FA5}">
                      <a16:colId xmlns:a16="http://schemas.microsoft.com/office/drawing/2014/main" val="20010"/>
                    </a:ext>
                  </a:extLst>
                </a:gridCol>
                <a:gridCol w="566749">
                  <a:extLst>
                    <a:ext uri="{9D8B030D-6E8A-4147-A177-3AD203B41FA5}">
                      <a16:colId xmlns:a16="http://schemas.microsoft.com/office/drawing/2014/main" val="20011"/>
                    </a:ext>
                  </a:extLst>
                </a:gridCol>
              </a:tblGrid>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541339">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cxnSp>
        <p:nvCxnSpPr>
          <p:cNvPr id="35" name="18 Conector recto de flecha">
            <a:extLst>
              <a:ext uri="{FF2B5EF4-FFF2-40B4-BE49-F238E27FC236}">
                <a16:creationId xmlns:a16="http://schemas.microsoft.com/office/drawing/2014/main" id="{A226C5C9-9422-02C7-0144-3BD1B87E1D47}"/>
              </a:ext>
            </a:extLst>
          </p:cNvPr>
          <p:cNvCxnSpPr>
            <a:cxnSpLocks/>
          </p:cNvCxnSpPr>
          <p:nvPr/>
        </p:nvCxnSpPr>
        <p:spPr>
          <a:xfrm flipV="1">
            <a:off x="645316" y="320779"/>
            <a:ext cx="0" cy="6216442"/>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6" name="5 CuadroTexto">
            <a:extLst>
              <a:ext uri="{FF2B5EF4-FFF2-40B4-BE49-F238E27FC236}">
                <a16:creationId xmlns:a16="http://schemas.microsoft.com/office/drawing/2014/main" id="{E050FC7A-9906-0A8C-F6FF-A057C2E1A3E1}"/>
              </a:ext>
            </a:extLst>
          </p:cNvPr>
          <p:cNvSpPr txBox="1"/>
          <p:nvPr/>
        </p:nvSpPr>
        <p:spPr>
          <a:xfrm>
            <a:off x="-8569" y="691571"/>
            <a:ext cx="648072" cy="5881867"/>
          </a:xfrm>
          <a:prstGeom prst="rect">
            <a:avLst/>
          </a:prstGeom>
          <a:noFill/>
        </p:spPr>
        <p:txBody>
          <a:bodyPr wrap="square" rtlCol="0">
            <a:spAutoFit/>
          </a:bodyPr>
          <a:lstStyle/>
          <a:p>
            <a:pPr algn="r">
              <a:lnSpc>
                <a:spcPct val="150000"/>
              </a:lnSpc>
              <a:spcAft>
                <a:spcPts val="600"/>
              </a:spcAft>
            </a:pPr>
            <a:r>
              <a:rPr lang="es-PE" sz="2000" b="1" dirty="0">
                <a:latin typeface="Arial Narrow" pitchFamily="34" charset="0"/>
              </a:rPr>
              <a:t>10</a:t>
            </a:r>
          </a:p>
          <a:p>
            <a:pPr algn="r">
              <a:lnSpc>
                <a:spcPct val="150000"/>
              </a:lnSpc>
              <a:spcAft>
                <a:spcPts val="600"/>
              </a:spcAft>
            </a:pPr>
            <a:r>
              <a:rPr lang="es-PE" sz="2000" b="1" dirty="0">
                <a:latin typeface="Arial Narrow" pitchFamily="34" charset="0"/>
              </a:rPr>
              <a:t>9</a:t>
            </a:r>
          </a:p>
          <a:p>
            <a:pPr algn="r">
              <a:lnSpc>
                <a:spcPct val="150000"/>
              </a:lnSpc>
              <a:spcAft>
                <a:spcPts val="600"/>
              </a:spcAft>
            </a:pPr>
            <a:r>
              <a:rPr lang="es-PE" sz="2000" b="1" dirty="0">
                <a:latin typeface="Arial Narrow" pitchFamily="34" charset="0"/>
              </a:rPr>
              <a:t>8</a:t>
            </a:r>
          </a:p>
          <a:p>
            <a:pPr algn="r">
              <a:lnSpc>
                <a:spcPct val="150000"/>
              </a:lnSpc>
              <a:spcAft>
                <a:spcPts val="600"/>
              </a:spcAft>
            </a:pPr>
            <a:r>
              <a:rPr lang="es-PE" sz="2000" b="1" dirty="0">
                <a:latin typeface="Arial Narrow" pitchFamily="34" charset="0"/>
              </a:rPr>
              <a:t>7</a:t>
            </a:r>
          </a:p>
          <a:p>
            <a:pPr algn="r">
              <a:lnSpc>
                <a:spcPct val="150000"/>
              </a:lnSpc>
              <a:spcAft>
                <a:spcPts val="600"/>
              </a:spcAft>
            </a:pPr>
            <a:r>
              <a:rPr lang="es-PE" sz="2000" b="1" dirty="0">
                <a:latin typeface="Arial Narrow" pitchFamily="34" charset="0"/>
              </a:rPr>
              <a:t>6</a:t>
            </a:r>
          </a:p>
          <a:p>
            <a:pPr algn="r">
              <a:lnSpc>
                <a:spcPct val="150000"/>
              </a:lnSpc>
              <a:spcAft>
                <a:spcPts val="600"/>
              </a:spcAft>
            </a:pPr>
            <a:r>
              <a:rPr lang="es-PE" sz="2000" b="1" dirty="0">
                <a:latin typeface="Arial Narrow" pitchFamily="34" charset="0"/>
              </a:rPr>
              <a:t>5</a:t>
            </a:r>
          </a:p>
          <a:p>
            <a:pPr algn="r">
              <a:lnSpc>
                <a:spcPct val="150000"/>
              </a:lnSpc>
              <a:spcAft>
                <a:spcPts val="600"/>
              </a:spcAft>
            </a:pPr>
            <a:r>
              <a:rPr lang="es-PE" sz="2000" b="1" dirty="0">
                <a:latin typeface="Arial Narrow" pitchFamily="34" charset="0"/>
              </a:rPr>
              <a:t>4</a:t>
            </a:r>
          </a:p>
          <a:p>
            <a:pPr algn="r">
              <a:lnSpc>
                <a:spcPct val="150000"/>
              </a:lnSpc>
              <a:spcAft>
                <a:spcPts val="600"/>
              </a:spcAft>
            </a:pPr>
            <a:r>
              <a:rPr lang="es-PE" sz="2000" b="1" dirty="0">
                <a:latin typeface="Arial Narrow" pitchFamily="34" charset="0"/>
              </a:rPr>
              <a:t>3</a:t>
            </a:r>
          </a:p>
          <a:p>
            <a:pPr algn="r">
              <a:lnSpc>
                <a:spcPct val="150000"/>
              </a:lnSpc>
              <a:spcAft>
                <a:spcPts val="600"/>
              </a:spcAft>
            </a:pPr>
            <a:r>
              <a:rPr lang="es-PE" sz="2000" b="1" dirty="0">
                <a:latin typeface="Arial Narrow" pitchFamily="34" charset="0"/>
              </a:rPr>
              <a:t>2</a:t>
            </a:r>
          </a:p>
          <a:p>
            <a:pPr algn="r">
              <a:lnSpc>
                <a:spcPct val="150000"/>
              </a:lnSpc>
              <a:spcAft>
                <a:spcPts val="600"/>
              </a:spcAft>
            </a:pPr>
            <a:r>
              <a:rPr lang="es-PE" sz="2000" b="1" dirty="0">
                <a:latin typeface="Arial Narrow" pitchFamily="34" charset="0"/>
              </a:rPr>
              <a:t>1</a:t>
            </a:r>
          </a:p>
          <a:p>
            <a:pPr algn="r">
              <a:lnSpc>
                <a:spcPct val="150000"/>
              </a:lnSpc>
              <a:spcAft>
                <a:spcPts val="600"/>
              </a:spcAft>
            </a:pPr>
            <a:endParaRPr lang="es-PE" sz="2000" b="1" dirty="0">
              <a:latin typeface="Arial Narrow" pitchFamily="34" charset="0"/>
            </a:endParaRPr>
          </a:p>
        </p:txBody>
      </p:sp>
      <p:sp>
        <p:nvSpPr>
          <p:cNvPr id="37" name="Elipse 36">
            <a:extLst>
              <a:ext uri="{FF2B5EF4-FFF2-40B4-BE49-F238E27FC236}">
                <a16:creationId xmlns:a16="http://schemas.microsoft.com/office/drawing/2014/main" id="{A3D16418-BEFD-2583-8D45-C2E0424EB3B3}"/>
              </a:ext>
            </a:extLst>
          </p:cNvPr>
          <p:cNvSpPr/>
          <p:nvPr/>
        </p:nvSpPr>
        <p:spPr>
          <a:xfrm>
            <a:off x="601720" y="5225481"/>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38" name="8191 Conector recto">
            <a:extLst>
              <a:ext uri="{FF2B5EF4-FFF2-40B4-BE49-F238E27FC236}">
                <a16:creationId xmlns:a16="http://schemas.microsoft.com/office/drawing/2014/main" id="{7E2C6A7A-BA55-6360-00FC-3FCECA739E69}"/>
              </a:ext>
            </a:extLst>
          </p:cNvPr>
          <p:cNvCxnSpPr>
            <a:cxnSpLocks/>
          </p:cNvCxnSpPr>
          <p:nvPr/>
        </p:nvCxnSpPr>
        <p:spPr>
          <a:xfrm>
            <a:off x="662585" y="1403601"/>
            <a:ext cx="5077080" cy="492680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28 Conector recto">
            <a:extLst>
              <a:ext uri="{FF2B5EF4-FFF2-40B4-BE49-F238E27FC236}">
                <a16:creationId xmlns:a16="http://schemas.microsoft.com/office/drawing/2014/main" id="{C54F79DE-82B4-8811-2D00-79B3D0365194}"/>
              </a:ext>
            </a:extLst>
          </p:cNvPr>
          <p:cNvCxnSpPr>
            <a:cxnSpLocks/>
          </p:cNvCxnSpPr>
          <p:nvPr/>
        </p:nvCxnSpPr>
        <p:spPr>
          <a:xfrm>
            <a:off x="623050" y="2206993"/>
            <a:ext cx="8495160" cy="4133977"/>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43" name="47 Conector recto">
            <a:extLst>
              <a:ext uri="{FF2B5EF4-FFF2-40B4-BE49-F238E27FC236}">
                <a16:creationId xmlns:a16="http://schemas.microsoft.com/office/drawing/2014/main" id="{476FC9B1-487B-72B1-E583-8D089A6169C7}"/>
              </a:ext>
            </a:extLst>
          </p:cNvPr>
          <p:cNvCxnSpPr>
            <a:cxnSpLocks/>
          </p:cNvCxnSpPr>
          <p:nvPr/>
        </p:nvCxnSpPr>
        <p:spPr>
          <a:xfrm>
            <a:off x="256186" y="4448974"/>
            <a:ext cx="3846802" cy="2224571"/>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5" name="Rectángulo 44">
            <a:extLst>
              <a:ext uri="{FF2B5EF4-FFF2-40B4-BE49-F238E27FC236}">
                <a16:creationId xmlns:a16="http://schemas.microsoft.com/office/drawing/2014/main" id="{96BDE85D-7021-5981-F3F5-AE0DC8C6B937}"/>
              </a:ext>
            </a:extLst>
          </p:cNvPr>
          <p:cNvSpPr/>
          <p:nvPr/>
        </p:nvSpPr>
        <p:spPr>
          <a:xfrm>
            <a:off x="9696320" y="1383852"/>
            <a:ext cx="2473689" cy="2677656"/>
          </a:xfrm>
          <a:prstGeom prst="rect">
            <a:avLst/>
          </a:prstGeom>
          <a:solidFill>
            <a:srgbClr val="FFFF00"/>
          </a:solidFill>
        </p:spPr>
        <p:txBody>
          <a:bodyPr wrap="square">
            <a:spAutoFit/>
          </a:bodyPr>
          <a:lstStyle/>
          <a:p>
            <a:r>
              <a:rPr lang="es-PE" sz="2400" b="1" dirty="0">
                <a:latin typeface="Arial Narrow" panose="020B0606020202030204" pitchFamily="34" charset="0"/>
              </a:rPr>
              <a:t>MAX  </a:t>
            </a:r>
            <a:r>
              <a:rPr lang="es-PE" sz="2400" b="1" dirty="0" err="1">
                <a:latin typeface="Arial Narrow" panose="020B0606020202030204" pitchFamily="34" charset="0"/>
              </a:rPr>
              <a:t>30A</a:t>
            </a:r>
            <a:r>
              <a:rPr lang="es-PE" sz="2400" b="1" dirty="0">
                <a:latin typeface="Arial Narrow" panose="020B0606020202030204" pitchFamily="34" charset="0"/>
              </a:rPr>
              <a:t>+ </a:t>
            </a:r>
            <a:r>
              <a:rPr lang="es-PE" sz="2400" b="1" dirty="0" err="1">
                <a:latin typeface="Arial Narrow" panose="020B0606020202030204" pitchFamily="34" charset="0"/>
              </a:rPr>
              <a:t>50B</a:t>
            </a:r>
            <a:endParaRPr lang="es-PE" sz="2400" b="1" dirty="0">
              <a:latin typeface="Arial Narrow" panose="020B0606020202030204" pitchFamily="34" charset="0"/>
            </a:endParaRPr>
          </a:p>
          <a:p>
            <a:r>
              <a:rPr lang="es-PE" sz="2400" b="1" dirty="0" err="1">
                <a:latin typeface="Arial Narrow" panose="020B0606020202030204" pitchFamily="34" charset="0"/>
              </a:rPr>
              <a:t>ST</a:t>
            </a:r>
            <a:endParaRPr lang="es-PE" sz="2400" b="1" dirty="0">
              <a:latin typeface="Arial Narrow" panose="020B0606020202030204" pitchFamily="34" charset="0"/>
            </a:endParaRPr>
          </a:p>
          <a:p>
            <a:r>
              <a:rPr lang="es-PE" sz="2400" b="1" dirty="0" err="1">
                <a:latin typeface="Arial Narrow" panose="020B0606020202030204" pitchFamily="34" charset="0"/>
              </a:rPr>
              <a:t>3A</a:t>
            </a:r>
            <a:r>
              <a:rPr lang="es-PE" sz="2400" b="1" dirty="0">
                <a:latin typeface="Arial Narrow" panose="020B0606020202030204" pitchFamily="34" charset="0"/>
              </a:rPr>
              <a:t> +3 B &lt;= 27</a:t>
            </a:r>
          </a:p>
          <a:p>
            <a:r>
              <a:rPr lang="es-PE" sz="2400" b="1" dirty="0" err="1">
                <a:latin typeface="Arial Narrow" panose="020B0606020202030204" pitchFamily="34" charset="0"/>
              </a:rPr>
              <a:t>2A</a:t>
            </a:r>
            <a:r>
              <a:rPr lang="es-PE" sz="2400" b="1" dirty="0">
                <a:latin typeface="Arial Narrow" panose="020B0606020202030204" pitchFamily="34" charset="0"/>
              </a:rPr>
              <a:t> + </a:t>
            </a:r>
            <a:r>
              <a:rPr lang="es-PE" sz="2400" b="1" dirty="0" err="1">
                <a:latin typeface="Arial Narrow" panose="020B0606020202030204" pitchFamily="34" charset="0"/>
              </a:rPr>
              <a:t>4B</a:t>
            </a:r>
            <a:r>
              <a:rPr lang="es-PE" sz="2400" b="1" dirty="0">
                <a:latin typeface="Arial Narrow" panose="020B0606020202030204" pitchFamily="34" charset="0"/>
              </a:rPr>
              <a:t>&lt;=30</a:t>
            </a:r>
          </a:p>
          <a:p>
            <a:r>
              <a:rPr lang="es-PE" sz="2400" b="1" dirty="0" err="1">
                <a:latin typeface="Arial Narrow" panose="020B0606020202030204" pitchFamily="34" charset="0"/>
              </a:rPr>
              <a:t>END</a:t>
            </a:r>
            <a:endParaRPr lang="es-PE" sz="2400" b="1" dirty="0">
              <a:latin typeface="Arial Narrow" panose="020B0606020202030204" pitchFamily="34" charset="0"/>
            </a:endParaRPr>
          </a:p>
          <a:p>
            <a:r>
              <a:rPr lang="es-PE" sz="2400" b="1" dirty="0">
                <a:latin typeface="Arial Narrow" panose="020B0606020202030204" pitchFamily="34" charset="0"/>
              </a:rPr>
              <a:t>GIN A</a:t>
            </a:r>
          </a:p>
          <a:p>
            <a:r>
              <a:rPr lang="es-PE" sz="2400" b="1" dirty="0">
                <a:latin typeface="Arial Narrow" panose="020B0606020202030204" pitchFamily="34" charset="0"/>
              </a:rPr>
              <a:t>GIN B</a:t>
            </a:r>
          </a:p>
        </p:txBody>
      </p:sp>
      <p:cxnSp>
        <p:nvCxnSpPr>
          <p:cNvPr id="54" name="47 Conector recto">
            <a:extLst>
              <a:ext uri="{FF2B5EF4-FFF2-40B4-BE49-F238E27FC236}">
                <a16:creationId xmlns:a16="http://schemas.microsoft.com/office/drawing/2014/main" id="{E124A057-18B7-6ADF-6397-D26C58531096}"/>
              </a:ext>
            </a:extLst>
          </p:cNvPr>
          <p:cNvCxnSpPr>
            <a:cxnSpLocks/>
          </p:cNvCxnSpPr>
          <p:nvPr/>
        </p:nvCxnSpPr>
        <p:spPr>
          <a:xfrm>
            <a:off x="408586" y="1917436"/>
            <a:ext cx="3846802" cy="2224571"/>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6" name="Elipse 55">
            <a:extLst>
              <a:ext uri="{FF2B5EF4-FFF2-40B4-BE49-F238E27FC236}">
                <a16:creationId xmlns:a16="http://schemas.microsoft.com/office/drawing/2014/main" id="{4C5B7C69-DB0A-505E-3D4F-45D3C31379FE}"/>
              </a:ext>
            </a:extLst>
          </p:cNvPr>
          <p:cNvSpPr/>
          <p:nvPr/>
        </p:nvSpPr>
        <p:spPr>
          <a:xfrm>
            <a:off x="3434960" y="4654036"/>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7" name="Elipse 56">
            <a:extLst>
              <a:ext uri="{FF2B5EF4-FFF2-40B4-BE49-F238E27FC236}">
                <a16:creationId xmlns:a16="http://schemas.microsoft.com/office/drawing/2014/main" id="{9EEA5CEF-DAFA-7C2B-AE01-CD3EFF716BDD}"/>
              </a:ext>
            </a:extLst>
          </p:cNvPr>
          <p:cNvSpPr/>
          <p:nvPr/>
        </p:nvSpPr>
        <p:spPr>
          <a:xfrm>
            <a:off x="3443421" y="520437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8" name="Elipse 57">
            <a:extLst>
              <a:ext uri="{FF2B5EF4-FFF2-40B4-BE49-F238E27FC236}">
                <a16:creationId xmlns:a16="http://schemas.microsoft.com/office/drawing/2014/main" id="{E822F28A-85A7-74EA-B530-980D8D4E0C6D}"/>
              </a:ext>
            </a:extLst>
          </p:cNvPr>
          <p:cNvSpPr/>
          <p:nvPr/>
        </p:nvSpPr>
        <p:spPr>
          <a:xfrm>
            <a:off x="4010691" y="5204378"/>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59" name="Elipse 58">
            <a:extLst>
              <a:ext uri="{FF2B5EF4-FFF2-40B4-BE49-F238E27FC236}">
                <a16:creationId xmlns:a16="http://schemas.microsoft.com/office/drawing/2014/main" id="{F85D312B-666F-B7D9-2434-A94F7A41B177}"/>
              </a:ext>
            </a:extLst>
          </p:cNvPr>
          <p:cNvSpPr/>
          <p:nvPr/>
        </p:nvSpPr>
        <p:spPr>
          <a:xfrm>
            <a:off x="1722568" y="3587593"/>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0" name="Elipse 59">
            <a:extLst>
              <a:ext uri="{FF2B5EF4-FFF2-40B4-BE49-F238E27FC236}">
                <a16:creationId xmlns:a16="http://schemas.microsoft.com/office/drawing/2014/main" id="{A22A8AB5-A0B8-1CA8-1F45-918471B372FA}"/>
              </a:ext>
            </a:extLst>
          </p:cNvPr>
          <p:cNvSpPr/>
          <p:nvPr/>
        </p:nvSpPr>
        <p:spPr>
          <a:xfrm>
            <a:off x="4004651" y="5747909"/>
            <a:ext cx="69012" cy="4571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1" name="Elipse 60">
            <a:extLst>
              <a:ext uri="{FF2B5EF4-FFF2-40B4-BE49-F238E27FC236}">
                <a16:creationId xmlns:a16="http://schemas.microsoft.com/office/drawing/2014/main" id="{CD2ADE45-815F-93BE-2A90-21BD0B1CDE81}"/>
              </a:ext>
            </a:extLst>
          </p:cNvPr>
          <p:cNvSpPr/>
          <p:nvPr/>
        </p:nvSpPr>
        <p:spPr>
          <a:xfrm>
            <a:off x="2306772" y="3570657"/>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2" name="Elipse 61">
            <a:extLst>
              <a:ext uri="{FF2B5EF4-FFF2-40B4-BE49-F238E27FC236}">
                <a16:creationId xmlns:a16="http://schemas.microsoft.com/office/drawing/2014/main" id="{0FF8D8FF-EEC2-2A0A-AF5E-F79EE7232F0B}"/>
              </a:ext>
            </a:extLst>
          </p:cNvPr>
          <p:cNvSpPr/>
          <p:nvPr/>
        </p:nvSpPr>
        <p:spPr>
          <a:xfrm>
            <a:off x="2315233" y="4112527"/>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3" name="Elipse 62">
            <a:extLst>
              <a:ext uri="{FF2B5EF4-FFF2-40B4-BE49-F238E27FC236}">
                <a16:creationId xmlns:a16="http://schemas.microsoft.com/office/drawing/2014/main" id="{0668D6C4-D8BE-AF88-CB7A-1A9072FBE81B}"/>
              </a:ext>
            </a:extLst>
          </p:cNvPr>
          <p:cNvSpPr/>
          <p:nvPr/>
        </p:nvSpPr>
        <p:spPr>
          <a:xfrm>
            <a:off x="5122371" y="6261506"/>
            <a:ext cx="69012" cy="4571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4" name="Elipse 63">
            <a:extLst>
              <a:ext uri="{FF2B5EF4-FFF2-40B4-BE49-F238E27FC236}">
                <a16:creationId xmlns:a16="http://schemas.microsoft.com/office/drawing/2014/main" id="{7F7BB6CD-71B2-275A-0DED-93DAA9A863BC}"/>
              </a:ext>
            </a:extLst>
          </p:cNvPr>
          <p:cNvSpPr/>
          <p:nvPr/>
        </p:nvSpPr>
        <p:spPr>
          <a:xfrm>
            <a:off x="4006101" y="6295251"/>
            <a:ext cx="69012" cy="4571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5" name="Elipse 64">
            <a:extLst>
              <a:ext uri="{FF2B5EF4-FFF2-40B4-BE49-F238E27FC236}">
                <a16:creationId xmlns:a16="http://schemas.microsoft.com/office/drawing/2014/main" id="{B6B0F8AB-644A-AD58-7BBF-97D316853056}"/>
              </a:ext>
            </a:extLst>
          </p:cNvPr>
          <p:cNvSpPr/>
          <p:nvPr/>
        </p:nvSpPr>
        <p:spPr>
          <a:xfrm>
            <a:off x="4585223" y="6269701"/>
            <a:ext cx="69012" cy="4571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6" name="Elipse 65">
            <a:extLst>
              <a:ext uri="{FF2B5EF4-FFF2-40B4-BE49-F238E27FC236}">
                <a16:creationId xmlns:a16="http://schemas.microsoft.com/office/drawing/2014/main" id="{74C6F3A4-E13B-6527-7E2D-30A65D09F708}"/>
              </a:ext>
            </a:extLst>
          </p:cNvPr>
          <p:cNvSpPr/>
          <p:nvPr/>
        </p:nvSpPr>
        <p:spPr>
          <a:xfrm>
            <a:off x="4572768" y="5748131"/>
            <a:ext cx="69012" cy="45719"/>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7" name="CuadroTexto 66">
            <a:extLst>
              <a:ext uri="{FF2B5EF4-FFF2-40B4-BE49-F238E27FC236}">
                <a16:creationId xmlns:a16="http://schemas.microsoft.com/office/drawing/2014/main" id="{58179E74-01A8-7A1A-D444-A8F48EEDD538}"/>
              </a:ext>
            </a:extLst>
          </p:cNvPr>
          <p:cNvSpPr txBox="1"/>
          <p:nvPr/>
        </p:nvSpPr>
        <p:spPr>
          <a:xfrm>
            <a:off x="9633037" y="4117155"/>
            <a:ext cx="2382542" cy="707886"/>
          </a:xfrm>
          <a:prstGeom prst="rect">
            <a:avLst/>
          </a:prstGeom>
          <a:noFill/>
        </p:spPr>
        <p:txBody>
          <a:bodyPr wrap="square" rtlCol="0">
            <a:spAutoFit/>
          </a:bodyPr>
          <a:lstStyle/>
          <a:p>
            <a:r>
              <a:rPr lang="es-ES" sz="2000" b="1" dirty="0"/>
              <a:t>Del gráfico la solución optima es:</a:t>
            </a:r>
            <a:endParaRPr lang="es-PE" sz="2000" b="1" dirty="0"/>
          </a:p>
        </p:txBody>
      </p:sp>
      <p:grpSp>
        <p:nvGrpSpPr>
          <p:cNvPr id="68" name="Grupo 67">
            <a:extLst>
              <a:ext uri="{FF2B5EF4-FFF2-40B4-BE49-F238E27FC236}">
                <a16:creationId xmlns:a16="http://schemas.microsoft.com/office/drawing/2014/main" id="{1785129F-F6C2-88CF-593E-92F6987FB673}"/>
              </a:ext>
            </a:extLst>
          </p:cNvPr>
          <p:cNvGrpSpPr/>
          <p:nvPr/>
        </p:nvGrpSpPr>
        <p:grpSpPr>
          <a:xfrm>
            <a:off x="9074700" y="4990147"/>
            <a:ext cx="3153098" cy="1308895"/>
            <a:chOff x="231338" y="868"/>
            <a:chExt cx="3153098" cy="1308895"/>
          </a:xfrm>
        </p:grpSpPr>
        <p:sp>
          <p:nvSpPr>
            <p:cNvPr id="69" name="Rectángulo: esquinas redondeadas 68">
              <a:extLst>
                <a:ext uri="{FF2B5EF4-FFF2-40B4-BE49-F238E27FC236}">
                  <a16:creationId xmlns:a16="http://schemas.microsoft.com/office/drawing/2014/main" id="{AF2F3327-7BFE-63A6-DE3A-1FD7BD0DE17E}"/>
                </a:ext>
              </a:extLst>
            </p:cNvPr>
            <p:cNvSpPr/>
            <p:nvPr/>
          </p:nvSpPr>
          <p:spPr>
            <a:xfrm>
              <a:off x="1035244" y="868"/>
              <a:ext cx="2291403" cy="1308895"/>
            </a:xfrm>
            <a:prstGeom prst="round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s-PE"/>
            </a:p>
          </p:txBody>
        </p:sp>
        <p:sp>
          <p:nvSpPr>
            <p:cNvPr id="70" name="Rectángulo: esquinas redondeadas 4">
              <a:extLst>
                <a:ext uri="{FF2B5EF4-FFF2-40B4-BE49-F238E27FC236}">
                  <a16:creationId xmlns:a16="http://schemas.microsoft.com/office/drawing/2014/main" id="{D914DE09-BAB7-0C8E-2AD3-090F3E30A7B3}"/>
                </a:ext>
              </a:extLst>
            </p:cNvPr>
            <p:cNvSpPr txBox="1"/>
            <p:nvPr/>
          </p:nvSpPr>
          <p:spPr>
            <a:xfrm>
              <a:off x="231338" y="87643"/>
              <a:ext cx="3153098" cy="122212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rtl="0">
                <a:lnSpc>
                  <a:spcPct val="90000"/>
                </a:lnSpc>
                <a:spcBef>
                  <a:spcPct val="0"/>
                </a:spcBef>
                <a:spcAft>
                  <a:spcPct val="35000"/>
                </a:spcAft>
                <a:buNone/>
              </a:pPr>
              <a:r>
                <a:rPr lang="es-MX" sz="3200" kern="1200" dirty="0">
                  <a:solidFill>
                    <a:srgbClr val="FFFF00"/>
                  </a:solidFill>
                </a:rPr>
                <a:t>	X1=3,X2=6</a:t>
              </a:r>
            </a:p>
            <a:p>
              <a:pPr marL="0" lvl="0" indent="0" algn="ctr" defTabSz="889000" rtl="0">
                <a:lnSpc>
                  <a:spcPct val="90000"/>
                </a:lnSpc>
                <a:spcBef>
                  <a:spcPct val="0"/>
                </a:spcBef>
                <a:spcAft>
                  <a:spcPct val="35000"/>
                </a:spcAft>
                <a:buNone/>
              </a:pPr>
              <a:r>
                <a:rPr lang="es-MX" sz="3200" kern="1200" dirty="0">
                  <a:solidFill>
                    <a:srgbClr val="FFFF00"/>
                  </a:solidFill>
                </a:rPr>
                <a:t>	Z=390</a:t>
              </a:r>
              <a:endParaRPr lang="es-PE" sz="3200" kern="1200" dirty="0"/>
            </a:p>
          </p:txBody>
        </p:sp>
      </p:grpSp>
      <p:sp>
        <p:nvSpPr>
          <p:cNvPr id="71" name="Elipse 70">
            <a:extLst>
              <a:ext uri="{FF2B5EF4-FFF2-40B4-BE49-F238E27FC236}">
                <a16:creationId xmlns:a16="http://schemas.microsoft.com/office/drawing/2014/main" id="{475A6A05-8662-FE21-0405-A5AF7FC68D68}"/>
              </a:ext>
            </a:extLst>
          </p:cNvPr>
          <p:cNvSpPr/>
          <p:nvPr/>
        </p:nvSpPr>
        <p:spPr>
          <a:xfrm>
            <a:off x="1125775" y="417660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2" name="Elipse 71">
            <a:extLst>
              <a:ext uri="{FF2B5EF4-FFF2-40B4-BE49-F238E27FC236}">
                <a16:creationId xmlns:a16="http://schemas.microsoft.com/office/drawing/2014/main" id="{BC62D0B5-5215-0C6B-0364-F8C2D66A27DA}"/>
              </a:ext>
            </a:extLst>
          </p:cNvPr>
          <p:cNvSpPr/>
          <p:nvPr/>
        </p:nvSpPr>
        <p:spPr>
          <a:xfrm>
            <a:off x="1688948" y="3070741"/>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3" name="Elipse 72">
            <a:extLst>
              <a:ext uri="{FF2B5EF4-FFF2-40B4-BE49-F238E27FC236}">
                <a16:creationId xmlns:a16="http://schemas.microsoft.com/office/drawing/2014/main" id="{52C2383C-326B-6F53-03D2-F60506EBC012}"/>
              </a:ext>
            </a:extLst>
          </p:cNvPr>
          <p:cNvSpPr/>
          <p:nvPr/>
        </p:nvSpPr>
        <p:spPr>
          <a:xfrm>
            <a:off x="1113219" y="2503473"/>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4" name="Elipse 73">
            <a:extLst>
              <a:ext uri="{FF2B5EF4-FFF2-40B4-BE49-F238E27FC236}">
                <a16:creationId xmlns:a16="http://schemas.microsoft.com/office/drawing/2014/main" id="{9C951AF9-D655-B2F0-06B1-48AD6E27C8FC}"/>
              </a:ext>
            </a:extLst>
          </p:cNvPr>
          <p:cNvSpPr/>
          <p:nvPr/>
        </p:nvSpPr>
        <p:spPr>
          <a:xfrm>
            <a:off x="1121686" y="3079202"/>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5" name="Elipse 74">
            <a:extLst>
              <a:ext uri="{FF2B5EF4-FFF2-40B4-BE49-F238E27FC236}">
                <a16:creationId xmlns:a16="http://schemas.microsoft.com/office/drawing/2014/main" id="{C581EF68-DA8B-1F27-A2C0-65B4DA4BB113}"/>
              </a:ext>
            </a:extLst>
          </p:cNvPr>
          <p:cNvSpPr/>
          <p:nvPr/>
        </p:nvSpPr>
        <p:spPr>
          <a:xfrm>
            <a:off x="588277" y="2511940"/>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6" name="Elipse 75">
            <a:extLst>
              <a:ext uri="{FF2B5EF4-FFF2-40B4-BE49-F238E27FC236}">
                <a16:creationId xmlns:a16="http://schemas.microsoft.com/office/drawing/2014/main" id="{37A14A85-9797-CFAC-F3AE-D089501DD593}"/>
              </a:ext>
            </a:extLst>
          </p:cNvPr>
          <p:cNvSpPr/>
          <p:nvPr/>
        </p:nvSpPr>
        <p:spPr>
          <a:xfrm>
            <a:off x="1130144" y="3638006"/>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 name="Elipse 1">
            <a:extLst>
              <a:ext uri="{FF2B5EF4-FFF2-40B4-BE49-F238E27FC236}">
                <a16:creationId xmlns:a16="http://schemas.microsoft.com/office/drawing/2014/main" id="{AD833DE9-099D-3A47-F159-A9C585E48135}"/>
              </a:ext>
            </a:extLst>
          </p:cNvPr>
          <p:cNvSpPr/>
          <p:nvPr/>
        </p:nvSpPr>
        <p:spPr>
          <a:xfrm>
            <a:off x="2882412" y="4104668"/>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 name="Elipse 2">
            <a:extLst>
              <a:ext uri="{FF2B5EF4-FFF2-40B4-BE49-F238E27FC236}">
                <a16:creationId xmlns:a16="http://schemas.microsoft.com/office/drawing/2014/main" id="{9F9BC8EC-5819-105C-DEC0-2ED9AA56C61E}"/>
              </a:ext>
            </a:extLst>
          </p:cNvPr>
          <p:cNvSpPr/>
          <p:nvPr/>
        </p:nvSpPr>
        <p:spPr>
          <a:xfrm>
            <a:off x="754120" y="5377881"/>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1" name="Elipse 10">
            <a:extLst>
              <a:ext uri="{FF2B5EF4-FFF2-40B4-BE49-F238E27FC236}">
                <a16:creationId xmlns:a16="http://schemas.microsoft.com/office/drawing/2014/main" id="{795E3CAA-EFB7-5B12-D7AF-74DCE11495A7}"/>
              </a:ext>
            </a:extLst>
          </p:cNvPr>
          <p:cNvSpPr/>
          <p:nvPr/>
        </p:nvSpPr>
        <p:spPr>
          <a:xfrm>
            <a:off x="604860" y="6284424"/>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Elipse 38">
            <a:extLst>
              <a:ext uri="{FF2B5EF4-FFF2-40B4-BE49-F238E27FC236}">
                <a16:creationId xmlns:a16="http://schemas.microsoft.com/office/drawing/2014/main" id="{F6B749A5-E73D-08FE-2BEA-BBCCED74B33C}"/>
              </a:ext>
            </a:extLst>
          </p:cNvPr>
          <p:cNvSpPr/>
          <p:nvPr/>
        </p:nvSpPr>
        <p:spPr>
          <a:xfrm>
            <a:off x="597006" y="5729816"/>
            <a:ext cx="69012" cy="45719"/>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3056208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contenido"/>
          <p:cNvSpPr>
            <a:spLocks noGrp="1"/>
          </p:cNvSpPr>
          <p:nvPr>
            <p:ph sz="quarter" idx="1"/>
          </p:nvPr>
        </p:nvSpPr>
        <p:spPr>
          <a:xfrm>
            <a:off x="205514" y="1260134"/>
            <a:ext cx="5600064" cy="3915715"/>
          </a:xfrm>
        </p:spPr>
        <p:txBody>
          <a:bodyPr vert="horz" lIns="91440" tIns="45720" rIns="91440" bIns="45720" rtlCol="0">
            <a:noAutofit/>
          </a:bodyPr>
          <a:lstStyle/>
          <a:p>
            <a:pPr marL="0" indent="0" algn="just">
              <a:buNone/>
            </a:pPr>
            <a:r>
              <a:rPr lang="es-ES_tradnl" sz="2000" dirty="0">
                <a:solidFill>
                  <a:schemeClr val="tx1"/>
                </a:solidFill>
                <a:latin typeface="Arial Narrow" pitchFamily="34" charset="0"/>
              </a:rPr>
              <a:t>Farmacias </a:t>
            </a:r>
            <a:r>
              <a:rPr lang="es-ES_tradnl" sz="2000" dirty="0" err="1">
                <a:solidFill>
                  <a:schemeClr val="tx1"/>
                </a:solidFill>
                <a:latin typeface="Arial Narrow" pitchFamily="34" charset="0"/>
              </a:rPr>
              <a:t>INKAFARMA</a:t>
            </a:r>
            <a:r>
              <a:rPr lang="es-ES_tradnl" sz="2000" dirty="0">
                <a:solidFill>
                  <a:schemeClr val="tx1"/>
                </a:solidFill>
                <a:latin typeface="Arial Narrow" pitchFamily="34" charset="0"/>
              </a:rPr>
              <a:t> en sus 9 sucursales ha decidido ampliar su servicio a 24 horas, con la consiguiente necesidad de nuevo personal de atención al cliente. La gerencia de la Empresa ha estimado las necesidades mínimas de personal por tramos horarios para poder cubrir los requerimientos de los clientes que se presenten. Se definieron 6 tramos de 4 horas. La necesidad mínima de personal en cada tramo se indica en el Cuadro. Por otro lado, el departamento de recursos humanos ha informado a la gerencia que los contratos laborales han de ser de ocho horas seguidas, según normativa laboral, independientemente de los horarios de entrada y salida del personal. El problema es encontrar el número mínimo de personal necesario para cubrir la demanda.</a:t>
            </a:r>
          </a:p>
        </p:txBody>
      </p:sp>
      <p:graphicFrame>
        <p:nvGraphicFramePr>
          <p:cNvPr id="5" name="3 Marcador de contenido"/>
          <p:cNvGraphicFramePr>
            <a:graphicFrameLocks/>
          </p:cNvGraphicFramePr>
          <p:nvPr/>
        </p:nvGraphicFramePr>
        <p:xfrm>
          <a:off x="293304" y="5258441"/>
          <a:ext cx="5460522" cy="883566"/>
        </p:xfrm>
        <a:graphic>
          <a:graphicData uri="http://schemas.openxmlformats.org/drawingml/2006/table">
            <a:tbl>
              <a:tblPr firstRow="1" bandRow="1">
                <a:tableStyleId>{5C22544A-7EE6-4342-B048-85BDC9FD1C3A}</a:tableStyleId>
              </a:tblPr>
              <a:tblGrid>
                <a:gridCol w="1232967">
                  <a:extLst>
                    <a:ext uri="{9D8B030D-6E8A-4147-A177-3AD203B41FA5}">
                      <a16:colId xmlns:a16="http://schemas.microsoft.com/office/drawing/2014/main" val="20000"/>
                    </a:ext>
                  </a:extLst>
                </a:gridCol>
                <a:gridCol w="566410">
                  <a:extLst>
                    <a:ext uri="{9D8B030D-6E8A-4147-A177-3AD203B41FA5}">
                      <a16:colId xmlns:a16="http://schemas.microsoft.com/office/drawing/2014/main" val="20001"/>
                    </a:ext>
                  </a:extLst>
                </a:gridCol>
                <a:gridCol w="732229">
                  <a:extLst>
                    <a:ext uri="{9D8B030D-6E8A-4147-A177-3AD203B41FA5}">
                      <a16:colId xmlns:a16="http://schemas.microsoft.com/office/drawing/2014/main" val="20002"/>
                    </a:ext>
                  </a:extLst>
                </a:gridCol>
                <a:gridCol w="732229">
                  <a:extLst>
                    <a:ext uri="{9D8B030D-6E8A-4147-A177-3AD203B41FA5}">
                      <a16:colId xmlns:a16="http://schemas.microsoft.com/office/drawing/2014/main" val="20003"/>
                    </a:ext>
                  </a:extLst>
                </a:gridCol>
                <a:gridCol w="732229">
                  <a:extLst>
                    <a:ext uri="{9D8B030D-6E8A-4147-A177-3AD203B41FA5}">
                      <a16:colId xmlns:a16="http://schemas.microsoft.com/office/drawing/2014/main" val="20004"/>
                    </a:ext>
                  </a:extLst>
                </a:gridCol>
                <a:gridCol w="732229">
                  <a:extLst>
                    <a:ext uri="{9D8B030D-6E8A-4147-A177-3AD203B41FA5}">
                      <a16:colId xmlns:a16="http://schemas.microsoft.com/office/drawing/2014/main" val="20005"/>
                    </a:ext>
                  </a:extLst>
                </a:gridCol>
                <a:gridCol w="732229">
                  <a:extLst>
                    <a:ext uri="{9D8B030D-6E8A-4147-A177-3AD203B41FA5}">
                      <a16:colId xmlns:a16="http://schemas.microsoft.com/office/drawing/2014/main" val="20006"/>
                    </a:ext>
                  </a:extLst>
                </a:gridCol>
              </a:tblGrid>
              <a:tr h="460100">
                <a:tc>
                  <a:txBody>
                    <a:bodyPr/>
                    <a:lstStyle/>
                    <a:p>
                      <a:pPr algn="ctr"/>
                      <a:endParaRPr lang="es-ES_tradnl" sz="1800" dirty="0"/>
                    </a:p>
                  </a:txBody>
                  <a:tcPr marT="45758" marB="45758"/>
                </a:tc>
                <a:tc>
                  <a:txBody>
                    <a:bodyPr/>
                    <a:lstStyle/>
                    <a:p>
                      <a:pPr algn="ctr"/>
                      <a:r>
                        <a:rPr lang="es-ES_tradnl" sz="1800" dirty="0"/>
                        <a:t>0-4</a:t>
                      </a:r>
                    </a:p>
                  </a:txBody>
                  <a:tcPr marT="45758" marB="45758"/>
                </a:tc>
                <a:tc>
                  <a:txBody>
                    <a:bodyPr/>
                    <a:lstStyle/>
                    <a:p>
                      <a:pPr algn="ctr"/>
                      <a:r>
                        <a:rPr lang="es-ES_tradnl" sz="1800" dirty="0"/>
                        <a:t>4-8</a:t>
                      </a:r>
                    </a:p>
                  </a:txBody>
                  <a:tcPr marT="45758" marB="45758"/>
                </a:tc>
                <a:tc>
                  <a:txBody>
                    <a:bodyPr/>
                    <a:lstStyle/>
                    <a:p>
                      <a:pPr algn="ctr"/>
                      <a:r>
                        <a:rPr lang="es-ES_tradnl" sz="1800" dirty="0"/>
                        <a:t>8-12</a:t>
                      </a:r>
                    </a:p>
                  </a:txBody>
                  <a:tcPr marT="45758" marB="45758"/>
                </a:tc>
                <a:tc>
                  <a:txBody>
                    <a:bodyPr/>
                    <a:lstStyle/>
                    <a:p>
                      <a:pPr algn="ctr"/>
                      <a:r>
                        <a:rPr lang="es-ES_tradnl" sz="1800" dirty="0"/>
                        <a:t>12-16</a:t>
                      </a:r>
                    </a:p>
                  </a:txBody>
                  <a:tcPr marT="45758" marB="45758"/>
                </a:tc>
                <a:tc>
                  <a:txBody>
                    <a:bodyPr/>
                    <a:lstStyle/>
                    <a:p>
                      <a:pPr algn="ctr"/>
                      <a:r>
                        <a:rPr lang="es-ES_tradnl" sz="1800" dirty="0"/>
                        <a:t>16-20</a:t>
                      </a:r>
                    </a:p>
                  </a:txBody>
                  <a:tcPr marT="45758" marB="45758"/>
                </a:tc>
                <a:tc>
                  <a:txBody>
                    <a:bodyPr/>
                    <a:lstStyle/>
                    <a:p>
                      <a:pPr algn="ctr"/>
                      <a:r>
                        <a:rPr lang="es-ES_tradnl" sz="1800" dirty="0"/>
                        <a:t>20-24</a:t>
                      </a:r>
                    </a:p>
                  </a:txBody>
                  <a:tcPr marT="45758" marB="45758"/>
                </a:tc>
                <a:extLst>
                  <a:ext uri="{0D108BD9-81ED-4DB2-BD59-A6C34878D82A}">
                    <a16:rowId xmlns:a16="http://schemas.microsoft.com/office/drawing/2014/main" val="10000"/>
                  </a:ext>
                </a:extLst>
              </a:tr>
              <a:tr h="423466">
                <a:tc>
                  <a:txBody>
                    <a:bodyPr/>
                    <a:lstStyle/>
                    <a:p>
                      <a:r>
                        <a:rPr lang="es-ES_tradnl" sz="1800" dirty="0"/>
                        <a:t>PERSONAL</a:t>
                      </a:r>
                    </a:p>
                  </a:txBody>
                  <a:tcPr marT="45758" marB="45758"/>
                </a:tc>
                <a:tc>
                  <a:txBody>
                    <a:bodyPr/>
                    <a:lstStyle/>
                    <a:p>
                      <a:pPr algn="ctr"/>
                      <a:r>
                        <a:rPr lang="es-ES_tradnl" sz="1800" dirty="0"/>
                        <a:t>9</a:t>
                      </a:r>
                    </a:p>
                  </a:txBody>
                  <a:tcPr marT="45758" marB="45758"/>
                </a:tc>
                <a:tc>
                  <a:txBody>
                    <a:bodyPr/>
                    <a:lstStyle/>
                    <a:p>
                      <a:pPr algn="ctr"/>
                      <a:r>
                        <a:rPr lang="es-ES_tradnl" sz="1800" dirty="0"/>
                        <a:t>5</a:t>
                      </a:r>
                    </a:p>
                  </a:txBody>
                  <a:tcPr marT="45758" marB="45758"/>
                </a:tc>
                <a:tc>
                  <a:txBody>
                    <a:bodyPr/>
                    <a:lstStyle/>
                    <a:p>
                      <a:pPr algn="ctr"/>
                      <a:r>
                        <a:rPr lang="es-ES_tradnl" sz="1800" dirty="0"/>
                        <a:t>3</a:t>
                      </a:r>
                    </a:p>
                  </a:txBody>
                  <a:tcPr marT="45758" marB="45758"/>
                </a:tc>
                <a:tc>
                  <a:txBody>
                    <a:bodyPr/>
                    <a:lstStyle/>
                    <a:p>
                      <a:pPr algn="ctr"/>
                      <a:r>
                        <a:rPr lang="es-ES_tradnl" sz="1800" dirty="0"/>
                        <a:t>7</a:t>
                      </a:r>
                    </a:p>
                  </a:txBody>
                  <a:tcPr marT="45758" marB="45758"/>
                </a:tc>
                <a:tc>
                  <a:txBody>
                    <a:bodyPr/>
                    <a:lstStyle/>
                    <a:p>
                      <a:pPr algn="ctr"/>
                      <a:r>
                        <a:rPr lang="es-ES_tradnl" sz="1800" dirty="0"/>
                        <a:t>5</a:t>
                      </a:r>
                    </a:p>
                  </a:txBody>
                  <a:tcPr marT="45758" marB="45758"/>
                </a:tc>
                <a:tc>
                  <a:txBody>
                    <a:bodyPr/>
                    <a:lstStyle/>
                    <a:p>
                      <a:pPr algn="ctr"/>
                      <a:r>
                        <a:rPr lang="es-ES_tradnl" sz="1800" dirty="0"/>
                        <a:t>6</a:t>
                      </a:r>
                    </a:p>
                  </a:txBody>
                  <a:tcPr marT="45758" marB="45758"/>
                </a:tc>
                <a:extLst>
                  <a:ext uri="{0D108BD9-81ED-4DB2-BD59-A6C34878D82A}">
                    <a16:rowId xmlns:a16="http://schemas.microsoft.com/office/drawing/2014/main" val="10001"/>
                  </a:ext>
                </a:extLst>
              </a:tr>
            </a:tbl>
          </a:graphicData>
        </a:graphic>
      </p:graphicFrame>
      <p:sp>
        <p:nvSpPr>
          <p:cNvPr id="7" name="Rectangle 2">
            <a:extLst>
              <a:ext uri="{FF2B5EF4-FFF2-40B4-BE49-F238E27FC236}">
                <a16:creationId xmlns:a16="http://schemas.microsoft.com/office/drawing/2014/main" id="{21C239D2-36DE-4B18-A0EB-939584F1DAEE}"/>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9</a:t>
            </a:r>
          </a:p>
        </p:txBody>
      </p:sp>
      <p:graphicFrame>
        <p:nvGraphicFramePr>
          <p:cNvPr id="8" name="3 Marcador de contenido">
            <a:extLst>
              <a:ext uri="{FF2B5EF4-FFF2-40B4-BE49-F238E27FC236}">
                <a16:creationId xmlns:a16="http://schemas.microsoft.com/office/drawing/2014/main" id="{24AD4FE6-4A2C-4167-B0A9-D2F82390E3AB}"/>
              </a:ext>
            </a:extLst>
          </p:cNvPr>
          <p:cNvGraphicFramePr>
            <a:graphicFrameLocks/>
          </p:cNvGraphicFramePr>
          <p:nvPr/>
        </p:nvGraphicFramePr>
        <p:xfrm>
          <a:off x="6219650" y="1423689"/>
          <a:ext cx="5808600" cy="4416394"/>
        </p:xfrm>
        <a:graphic>
          <a:graphicData uri="http://schemas.openxmlformats.org/drawingml/2006/table">
            <a:tbl>
              <a:tblPr firstRow="1" bandRow="1">
                <a:tableStyleId>{5C22544A-7EE6-4342-B048-85BDC9FD1C3A}</a:tableStyleId>
              </a:tblPr>
              <a:tblGrid>
                <a:gridCol w="1148795">
                  <a:extLst>
                    <a:ext uri="{9D8B030D-6E8A-4147-A177-3AD203B41FA5}">
                      <a16:colId xmlns:a16="http://schemas.microsoft.com/office/drawing/2014/main" val="20000"/>
                    </a:ext>
                  </a:extLst>
                </a:gridCol>
                <a:gridCol w="765865">
                  <a:extLst>
                    <a:ext uri="{9D8B030D-6E8A-4147-A177-3AD203B41FA5}">
                      <a16:colId xmlns:a16="http://schemas.microsoft.com/office/drawing/2014/main" val="20001"/>
                    </a:ext>
                  </a:extLst>
                </a:gridCol>
                <a:gridCol w="765865">
                  <a:extLst>
                    <a:ext uri="{9D8B030D-6E8A-4147-A177-3AD203B41FA5}">
                      <a16:colId xmlns:a16="http://schemas.microsoft.com/office/drawing/2014/main" val="20002"/>
                    </a:ext>
                  </a:extLst>
                </a:gridCol>
                <a:gridCol w="813731">
                  <a:extLst>
                    <a:ext uri="{9D8B030D-6E8A-4147-A177-3AD203B41FA5}">
                      <a16:colId xmlns:a16="http://schemas.microsoft.com/office/drawing/2014/main" val="20003"/>
                    </a:ext>
                  </a:extLst>
                </a:gridCol>
                <a:gridCol w="765865">
                  <a:extLst>
                    <a:ext uri="{9D8B030D-6E8A-4147-A177-3AD203B41FA5}">
                      <a16:colId xmlns:a16="http://schemas.microsoft.com/office/drawing/2014/main" val="20004"/>
                    </a:ext>
                  </a:extLst>
                </a:gridCol>
                <a:gridCol w="765865">
                  <a:extLst>
                    <a:ext uri="{9D8B030D-6E8A-4147-A177-3AD203B41FA5}">
                      <a16:colId xmlns:a16="http://schemas.microsoft.com/office/drawing/2014/main" val="20005"/>
                    </a:ext>
                  </a:extLst>
                </a:gridCol>
                <a:gridCol w="782614">
                  <a:extLst>
                    <a:ext uri="{9D8B030D-6E8A-4147-A177-3AD203B41FA5}">
                      <a16:colId xmlns:a16="http://schemas.microsoft.com/office/drawing/2014/main" val="20006"/>
                    </a:ext>
                  </a:extLst>
                </a:gridCol>
              </a:tblGrid>
              <a:tr h="681951">
                <a:tc>
                  <a:txBody>
                    <a:bodyPr/>
                    <a:lstStyle/>
                    <a:p>
                      <a:pPr algn="ctr"/>
                      <a:endParaRPr lang="es-ES_tradnl" sz="2000" dirty="0">
                        <a:latin typeface="Arial Narrow" panose="020B0606020202030204" pitchFamily="34" charset="0"/>
                      </a:endParaRPr>
                    </a:p>
                  </a:txBody>
                  <a:tcPr marL="91434" marR="91434" marT="45705" marB="45705"/>
                </a:tc>
                <a:tc>
                  <a:txBody>
                    <a:bodyPr/>
                    <a:lstStyle/>
                    <a:p>
                      <a:pPr algn="ctr"/>
                      <a:r>
                        <a:rPr lang="es-ES_tradnl" sz="2000" dirty="0">
                          <a:latin typeface="Arial Narrow" panose="020B0606020202030204" pitchFamily="34" charset="0"/>
                        </a:rPr>
                        <a:t>0-4</a:t>
                      </a:r>
                    </a:p>
                  </a:txBody>
                  <a:tcPr marL="91434" marR="91434" marT="45705" marB="45705"/>
                </a:tc>
                <a:tc>
                  <a:txBody>
                    <a:bodyPr/>
                    <a:lstStyle/>
                    <a:p>
                      <a:pPr algn="ctr"/>
                      <a:r>
                        <a:rPr lang="es-ES_tradnl" sz="2000" dirty="0">
                          <a:latin typeface="Arial Narrow" panose="020B0606020202030204" pitchFamily="34" charset="0"/>
                        </a:rPr>
                        <a:t>4-8</a:t>
                      </a:r>
                    </a:p>
                  </a:txBody>
                  <a:tcPr marL="91434" marR="91434" marT="45705" marB="45705"/>
                </a:tc>
                <a:tc>
                  <a:txBody>
                    <a:bodyPr/>
                    <a:lstStyle/>
                    <a:p>
                      <a:pPr algn="ctr"/>
                      <a:r>
                        <a:rPr lang="es-ES_tradnl" sz="2000" dirty="0">
                          <a:latin typeface="Arial Narrow" panose="020B0606020202030204" pitchFamily="34" charset="0"/>
                        </a:rPr>
                        <a:t>8-12</a:t>
                      </a:r>
                    </a:p>
                  </a:txBody>
                  <a:tcPr marL="91434" marR="91434" marT="45705" marB="45705"/>
                </a:tc>
                <a:tc>
                  <a:txBody>
                    <a:bodyPr/>
                    <a:lstStyle/>
                    <a:p>
                      <a:pPr algn="ctr"/>
                      <a:r>
                        <a:rPr lang="es-ES_tradnl" sz="2000" dirty="0">
                          <a:latin typeface="Arial Narrow" panose="020B0606020202030204" pitchFamily="34" charset="0"/>
                        </a:rPr>
                        <a:t>12-16</a:t>
                      </a:r>
                    </a:p>
                  </a:txBody>
                  <a:tcPr marL="91434" marR="91434" marT="45705" marB="45705"/>
                </a:tc>
                <a:tc>
                  <a:txBody>
                    <a:bodyPr/>
                    <a:lstStyle/>
                    <a:p>
                      <a:pPr algn="ctr"/>
                      <a:r>
                        <a:rPr lang="es-ES_tradnl" sz="2000" dirty="0">
                          <a:latin typeface="Arial Narrow" panose="020B0606020202030204" pitchFamily="34" charset="0"/>
                        </a:rPr>
                        <a:t>16-20</a:t>
                      </a:r>
                    </a:p>
                  </a:txBody>
                  <a:tcPr marL="91434" marR="91434" marT="45705" marB="45705"/>
                </a:tc>
                <a:tc>
                  <a:txBody>
                    <a:bodyPr/>
                    <a:lstStyle/>
                    <a:p>
                      <a:pPr algn="ctr"/>
                      <a:r>
                        <a:rPr lang="es-ES_tradnl" sz="2000" dirty="0">
                          <a:latin typeface="Arial Narrow" panose="020B0606020202030204" pitchFamily="34" charset="0"/>
                        </a:rPr>
                        <a:t>20-24</a:t>
                      </a:r>
                    </a:p>
                  </a:txBody>
                  <a:tcPr marL="91434" marR="91434" marT="45705" marB="45705"/>
                </a:tc>
                <a:extLst>
                  <a:ext uri="{0D108BD9-81ED-4DB2-BD59-A6C34878D82A}">
                    <a16:rowId xmlns:a16="http://schemas.microsoft.com/office/drawing/2014/main" val="10000"/>
                  </a:ext>
                </a:extLst>
              </a:tr>
              <a:tr h="514392">
                <a:tc>
                  <a:txBody>
                    <a:bodyPr/>
                    <a:lstStyle/>
                    <a:p>
                      <a:pPr algn="ctr"/>
                      <a:r>
                        <a:rPr lang="es-ES_tradnl" sz="2000" b="1" dirty="0">
                          <a:latin typeface="Arial Narrow" panose="020B0606020202030204" pitchFamily="34" charset="0"/>
                        </a:rPr>
                        <a:t>0:00</a:t>
                      </a:r>
                    </a:p>
                  </a:txBody>
                  <a:tcPr marL="91434" marR="91434" marT="45722" marB="45722"/>
                </a:tc>
                <a:tc>
                  <a:txBody>
                    <a:bodyPr/>
                    <a:lstStyle/>
                    <a:p>
                      <a:pPr algn="ctr"/>
                      <a:r>
                        <a:rPr lang="es-ES_tradnl" sz="2000" b="1" dirty="0">
                          <a:latin typeface="Arial Narrow" panose="020B0606020202030204" pitchFamily="34" charset="0"/>
                        </a:rPr>
                        <a:t>X1</a:t>
                      </a:r>
                    </a:p>
                  </a:txBody>
                  <a:tcPr marL="91434" marR="91434" marT="45722" marB="45722"/>
                </a:tc>
                <a:tc>
                  <a:txBody>
                    <a:bodyPr/>
                    <a:lstStyle/>
                    <a:p>
                      <a:pPr algn="ctr"/>
                      <a:r>
                        <a:rPr lang="es-ES_tradnl" sz="2000" b="1" dirty="0">
                          <a:latin typeface="Arial Narrow" panose="020B0606020202030204" pitchFamily="34" charset="0"/>
                        </a:rPr>
                        <a:t>X1</a:t>
                      </a: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extLst>
                  <a:ext uri="{0D108BD9-81ED-4DB2-BD59-A6C34878D82A}">
                    <a16:rowId xmlns:a16="http://schemas.microsoft.com/office/drawing/2014/main" val="10001"/>
                  </a:ext>
                </a:extLst>
              </a:tr>
              <a:tr h="526979">
                <a:tc>
                  <a:txBody>
                    <a:bodyPr/>
                    <a:lstStyle/>
                    <a:p>
                      <a:pPr algn="ctr"/>
                      <a:r>
                        <a:rPr lang="es-ES_tradnl" sz="2000" b="1" dirty="0">
                          <a:latin typeface="Arial Narrow" panose="020B0606020202030204" pitchFamily="34" charset="0"/>
                        </a:rPr>
                        <a:t>04:00</a:t>
                      </a: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r>
                        <a:rPr lang="es-ES_tradnl" sz="2000" b="1" dirty="0">
                          <a:latin typeface="Arial Narrow" panose="020B0606020202030204" pitchFamily="34" charset="0"/>
                        </a:rPr>
                        <a:t>X2</a:t>
                      </a:r>
                    </a:p>
                  </a:txBody>
                  <a:tcPr marL="91434" marR="91434" marT="45722" marB="45722"/>
                </a:tc>
                <a:tc>
                  <a:txBody>
                    <a:bodyPr/>
                    <a:lstStyle/>
                    <a:p>
                      <a:pPr algn="ctr"/>
                      <a:r>
                        <a:rPr lang="es-ES_tradnl" sz="2000" b="1" dirty="0">
                          <a:latin typeface="Arial Narrow" panose="020B0606020202030204" pitchFamily="34" charset="0"/>
                        </a:rPr>
                        <a:t>X2</a:t>
                      </a: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extLst>
                  <a:ext uri="{0D108BD9-81ED-4DB2-BD59-A6C34878D82A}">
                    <a16:rowId xmlns:a16="http://schemas.microsoft.com/office/drawing/2014/main" val="10002"/>
                  </a:ext>
                </a:extLst>
              </a:tr>
              <a:tr h="592852">
                <a:tc>
                  <a:txBody>
                    <a:bodyPr/>
                    <a:lstStyle/>
                    <a:p>
                      <a:pPr algn="ctr"/>
                      <a:r>
                        <a:rPr lang="es-ES_tradnl" sz="2000" b="1" dirty="0">
                          <a:latin typeface="Arial Narrow" panose="020B0606020202030204" pitchFamily="34" charset="0"/>
                        </a:rPr>
                        <a:t>08:00</a:t>
                      </a: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r>
                        <a:rPr lang="es-ES_tradnl" sz="2000" b="1" dirty="0">
                          <a:latin typeface="Arial Narrow" panose="020B0606020202030204" pitchFamily="34" charset="0"/>
                        </a:rPr>
                        <a:t>X3</a:t>
                      </a:r>
                    </a:p>
                  </a:txBody>
                  <a:tcPr marL="91434" marR="91434" marT="45722" marB="45722"/>
                </a:tc>
                <a:tc>
                  <a:txBody>
                    <a:bodyPr/>
                    <a:lstStyle/>
                    <a:p>
                      <a:pPr algn="ctr"/>
                      <a:r>
                        <a:rPr lang="es-ES_tradnl" sz="2000" b="1" dirty="0">
                          <a:latin typeface="Arial Narrow" panose="020B0606020202030204" pitchFamily="34" charset="0"/>
                        </a:rPr>
                        <a:t>X3</a:t>
                      </a: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extLst>
                  <a:ext uri="{0D108BD9-81ED-4DB2-BD59-A6C34878D82A}">
                    <a16:rowId xmlns:a16="http://schemas.microsoft.com/office/drawing/2014/main" val="10003"/>
                  </a:ext>
                </a:extLst>
              </a:tr>
              <a:tr h="496820">
                <a:tc>
                  <a:txBody>
                    <a:bodyPr/>
                    <a:lstStyle/>
                    <a:p>
                      <a:pPr algn="ctr"/>
                      <a:r>
                        <a:rPr lang="es-ES_tradnl" sz="2000" b="1" dirty="0">
                          <a:latin typeface="Arial Narrow" panose="020B0606020202030204" pitchFamily="34" charset="0"/>
                        </a:rPr>
                        <a:t>12:00</a:t>
                      </a: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r>
                        <a:rPr lang="es-ES_tradnl" sz="2000" b="1" dirty="0">
                          <a:latin typeface="Arial Narrow" panose="020B0606020202030204" pitchFamily="34" charset="0"/>
                        </a:rPr>
                        <a:t>X4</a:t>
                      </a:r>
                    </a:p>
                  </a:txBody>
                  <a:tcPr marL="91434" marR="91434" marT="45722" marB="45722"/>
                </a:tc>
                <a:tc>
                  <a:txBody>
                    <a:bodyPr/>
                    <a:lstStyle/>
                    <a:p>
                      <a:pPr algn="ctr"/>
                      <a:r>
                        <a:rPr lang="es-ES_tradnl" sz="2000" b="1" dirty="0">
                          <a:latin typeface="Arial Narrow" panose="020B0606020202030204" pitchFamily="34" charset="0"/>
                        </a:rPr>
                        <a:t>X4</a:t>
                      </a: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extLst>
                  <a:ext uri="{0D108BD9-81ED-4DB2-BD59-A6C34878D82A}">
                    <a16:rowId xmlns:a16="http://schemas.microsoft.com/office/drawing/2014/main" val="10004"/>
                  </a:ext>
                </a:extLst>
              </a:tr>
              <a:tr h="580264">
                <a:tc>
                  <a:txBody>
                    <a:bodyPr/>
                    <a:lstStyle/>
                    <a:p>
                      <a:pPr algn="ctr"/>
                      <a:r>
                        <a:rPr lang="es-ES_tradnl" sz="2000" b="1" dirty="0">
                          <a:latin typeface="Arial Narrow" panose="020B0606020202030204" pitchFamily="34" charset="0"/>
                        </a:rPr>
                        <a:t>16:00</a:t>
                      </a: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a:latin typeface="Arial Narrow" panose="020B0606020202030204" pitchFamily="34" charset="0"/>
                      </a:endParaRP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r>
                        <a:rPr lang="es-ES_tradnl" sz="2000" b="1" dirty="0">
                          <a:latin typeface="Arial Narrow" panose="020B0606020202030204" pitchFamily="34" charset="0"/>
                        </a:rPr>
                        <a:t>X5</a:t>
                      </a:r>
                    </a:p>
                  </a:txBody>
                  <a:tcPr marL="91434" marR="91434" marT="45722" marB="45722"/>
                </a:tc>
                <a:tc>
                  <a:txBody>
                    <a:bodyPr/>
                    <a:lstStyle/>
                    <a:p>
                      <a:pPr algn="ctr"/>
                      <a:r>
                        <a:rPr lang="es-ES_tradnl" sz="2000" b="1" dirty="0">
                          <a:latin typeface="Arial Narrow" panose="020B0606020202030204" pitchFamily="34" charset="0"/>
                        </a:rPr>
                        <a:t>X5</a:t>
                      </a:r>
                    </a:p>
                  </a:txBody>
                  <a:tcPr marL="91434" marR="91434" marT="45722" marB="45722"/>
                </a:tc>
                <a:extLst>
                  <a:ext uri="{0D108BD9-81ED-4DB2-BD59-A6C34878D82A}">
                    <a16:rowId xmlns:a16="http://schemas.microsoft.com/office/drawing/2014/main" val="10005"/>
                  </a:ext>
                </a:extLst>
              </a:tr>
              <a:tr h="539565">
                <a:tc>
                  <a:txBody>
                    <a:bodyPr/>
                    <a:lstStyle/>
                    <a:p>
                      <a:pPr algn="ctr"/>
                      <a:r>
                        <a:rPr lang="es-ES_tradnl" sz="2000" b="1" dirty="0">
                          <a:latin typeface="Arial Narrow" panose="020B0606020202030204" pitchFamily="34" charset="0"/>
                        </a:rPr>
                        <a:t>20:00</a:t>
                      </a:r>
                    </a:p>
                  </a:txBody>
                  <a:tcPr marL="91434" marR="91434" marT="45722" marB="45722"/>
                </a:tc>
                <a:tc>
                  <a:txBody>
                    <a:bodyPr/>
                    <a:lstStyle/>
                    <a:p>
                      <a:pPr algn="ctr"/>
                      <a:r>
                        <a:rPr lang="es-ES_tradnl" sz="2000" b="1" dirty="0">
                          <a:latin typeface="Arial Narrow" panose="020B0606020202030204" pitchFamily="34" charset="0"/>
                        </a:rPr>
                        <a:t>X6</a:t>
                      </a: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endParaRPr lang="es-ES_tradnl" sz="2000" b="1" dirty="0">
                        <a:latin typeface="Arial Narrow" panose="020B0606020202030204" pitchFamily="34" charset="0"/>
                      </a:endParaRPr>
                    </a:p>
                  </a:txBody>
                  <a:tcPr marL="91434" marR="91434" marT="45722" marB="45722"/>
                </a:tc>
                <a:tc>
                  <a:txBody>
                    <a:bodyPr/>
                    <a:lstStyle/>
                    <a:p>
                      <a:pPr algn="ctr"/>
                      <a:r>
                        <a:rPr lang="es-ES_tradnl" sz="2000" b="1" dirty="0">
                          <a:latin typeface="Arial Narrow" panose="020B0606020202030204" pitchFamily="34" charset="0"/>
                        </a:rPr>
                        <a:t>X6</a:t>
                      </a:r>
                    </a:p>
                  </a:txBody>
                  <a:tcPr marL="91434" marR="91434" marT="45722" marB="45722"/>
                </a:tc>
                <a:extLst>
                  <a:ext uri="{0D108BD9-81ED-4DB2-BD59-A6C34878D82A}">
                    <a16:rowId xmlns:a16="http://schemas.microsoft.com/office/drawing/2014/main" val="10006"/>
                  </a:ext>
                </a:extLst>
              </a:tr>
              <a:tr h="483571">
                <a:tc>
                  <a:txBody>
                    <a:bodyPr/>
                    <a:lstStyle/>
                    <a:p>
                      <a:pPr algn="ctr"/>
                      <a:r>
                        <a:rPr lang="es-ES_tradnl" sz="2000" b="1" dirty="0">
                          <a:latin typeface="Arial Narrow" panose="020B0606020202030204" pitchFamily="34" charset="0"/>
                        </a:rPr>
                        <a:t>Personal</a:t>
                      </a:r>
                    </a:p>
                  </a:txBody>
                  <a:tcPr marL="91434" marR="91434" marT="45722" marB="45722"/>
                </a:tc>
                <a:tc>
                  <a:txBody>
                    <a:bodyPr/>
                    <a:lstStyle/>
                    <a:p>
                      <a:pPr algn="ctr"/>
                      <a:r>
                        <a:rPr lang="es-ES_tradnl" sz="2000" b="1" dirty="0">
                          <a:latin typeface="Arial Narrow" panose="020B0606020202030204" pitchFamily="34" charset="0"/>
                        </a:rPr>
                        <a:t>9</a:t>
                      </a:r>
                    </a:p>
                  </a:txBody>
                  <a:tcPr marL="91434" marR="91434" marT="45722" marB="45722"/>
                </a:tc>
                <a:tc>
                  <a:txBody>
                    <a:bodyPr/>
                    <a:lstStyle/>
                    <a:p>
                      <a:pPr algn="ctr"/>
                      <a:r>
                        <a:rPr lang="es-ES_tradnl" sz="2000" b="1" dirty="0">
                          <a:latin typeface="Arial Narrow" panose="020B0606020202030204" pitchFamily="34" charset="0"/>
                        </a:rPr>
                        <a:t>5</a:t>
                      </a:r>
                    </a:p>
                  </a:txBody>
                  <a:tcPr marL="91434" marR="91434" marT="45722" marB="45722"/>
                </a:tc>
                <a:tc>
                  <a:txBody>
                    <a:bodyPr/>
                    <a:lstStyle/>
                    <a:p>
                      <a:pPr algn="ctr"/>
                      <a:r>
                        <a:rPr lang="es-ES_tradnl" sz="2000" b="1" dirty="0">
                          <a:latin typeface="Arial Narrow" panose="020B0606020202030204" pitchFamily="34" charset="0"/>
                        </a:rPr>
                        <a:t>3</a:t>
                      </a:r>
                    </a:p>
                  </a:txBody>
                  <a:tcPr marL="91434" marR="91434" marT="45722" marB="45722"/>
                </a:tc>
                <a:tc>
                  <a:txBody>
                    <a:bodyPr/>
                    <a:lstStyle/>
                    <a:p>
                      <a:pPr algn="ctr"/>
                      <a:r>
                        <a:rPr lang="es-ES_tradnl" sz="2000" b="1" dirty="0">
                          <a:latin typeface="Arial Narrow" panose="020B0606020202030204" pitchFamily="34" charset="0"/>
                        </a:rPr>
                        <a:t>7</a:t>
                      </a:r>
                    </a:p>
                  </a:txBody>
                  <a:tcPr marL="91434" marR="91434" marT="45722" marB="45722"/>
                </a:tc>
                <a:tc>
                  <a:txBody>
                    <a:bodyPr/>
                    <a:lstStyle/>
                    <a:p>
                      <a:pPr algn="ctr"/>
                      <a:r>
                        <a:rPr lang="es-ES_tradnl" sz="2000" b="1" dirty="0">
                          <a:latin typeface="Arial Narrow" panose="020B0606020202030204" pitchFamily="34" charset="0"/>
                        </a:rPr>
                        <a:t>5</a:t>
                      </a:r>
                    </a:p>
                  </a:txBody>
                  <a:tcPr marL="91434" marR="91434" marT="45722" marB="45722"/>
                </a:tc>
                <a:tc>
                  <a:txBody>
                    <a:bodyPr/>
                    <a:lstStyle/>
                    <a:p>
                      <a:pPr algn="ctr"/>
                      <a:r>
                        <a:rPr lang="es-ES_tradnl" sz="2000" b="1" dirty="0">
                          <a:latin typeface="Arial Narrow" panose="020B0606020202030204" pitchFamily="34" charset="0"/>
                        </a:rPr>
                        <a:t>6</a:t>
                      </a:r>
                    </a:p>
                  </a:txBody>
                  <a:tcPr marL="91434" marR="91434" marT="45722" marB="45722"/>
                </a:tc>
                <a:extLst>
                  <a:ext uri="{0D108BD9-81ED-4DB2-BD59-A6C34878D82A}">
                    <a16:rowId xmlns:a16="http://schemas.microsoft.com/office/drawing/2014/main" val="10007"/>
                  </a:ext>
                </a:extLst>
              </a:tr>
            </a:tbl>
          </a:graphicData>
        </a:graphic>
      </p:graphicFrame>
      <p:cxnSp>
        <p:nvCxnSpPr>
          <p:cNvPr id="9" name="2 Conector recto de flecha">
            <a:extLst>
              <a:ext uri="{FF2B5EF4-FFF2-40B4-BE49-F238E27FC236}">
                <a16:creationId xmlns:a16="http://schemas.microsoft.com/office/drawing/2014/main" id="{6EFE5D2B-222C-4D69-B194-E1E6F26AD814}"/>
              </a:ext>
            </a:extLst>
          </p:cNvPr>
          <p:cNvCxnSpPr>
            <a:cxnSpLocks/>
          </p:cNvCxnSpPr>
          <p:nvPr/>
        </p:nvCxnSpPr>
        <p:spPr>
          <a:xfrm>
            <a:off x="6096000" y="5351059"/>
            <a:ext cx="6096000"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4 Conector recto de flecha">
            <a:extLst>
              <a:ext uri="{FF2B5EF4-FFF2-40B4-BE49-F238E27FC236}">
                <a16:creationId xmlns:a16="http://schemas.microsoft.com/office/drawing/2014/main" id="{D96B46CA-4008-4074-BA23-30F0A0A2F833}"/>
              </a:ext>
            </a:extLst>
          </p:cNvPr>
          <p:cNvCxnSpPr/>
          <p:nvPr/>
        </p:nvCxnSpPr>
        <p:spPr>
          <a:xfrm flipV="1">
            <a:off x="6218036" y="1280383"/>
            <a:ext cx="0" cy="4688904"/>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769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F8022202-20B3-4B37-9609-27F2968592B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9</a:t>
            </a:r>
          </a:p>
        </p:txBody>
      </p:sp>
      <p:sp>
        <p:nvSpPr>
          <p:cNvPr id="7" name="2 Marcador de contenido">
            <a:extLst>
              <a:ext uri="{FF2B5EF4-FFF2-40B4-BE49-F238E27FC236}">
                <a16:creationId xmlns:a16="http://schemas.microsoft.com/office/drawing/2014/main" id="{FB4C4AC5-8094-4ED5-A5F2-219D521F1D33}"/>
              </a:ext>
            </a:extLst>
          </p:cNvPr>
          <p:cNvSpPr txBox="1">
            <a:spLocks/>
          </p:cNvSpPr>
          <p:nvPr/>
        </p:nvSpPr>
        <p:spPr>
          <a:xfrm>
            <a:off x="345057" y="1409781"/>
            <a:ext cx="5316986" cy="11867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defRPr/>
            </a:pPr>
            <a:r>
              <a:rPr lang="es-ES_tradnl" sz="2400" dirty="0">
                <a:solidFill>
                  <a:srgbClr val="FF0000"/>
                </a:solidFill>
              </a:rPr>
              <a:t>I Identificación de las variable</a:t>
            </a:r>
          </a:p>
          <a:p>
            <a:pPr marL="0" indent="0">
              <a:lnSpc>
                <a:spcPct val="100000"/>
              </a:lnSpc>
              <a:spcBef>
                <a:spcPts val="0"/>
              </a:spcBef>
              <a:buFont typeface="Arial" panose="020B0604020202020204" pitchFamily="34" charset="0"/>
              <a:buNone/>
              <a:defRPr/>
            </a:pPr>
            <a:r>
              <a:rPr lang="es-ES_tradnl" sz="2400" dirty="0"/>
              <a:t>Xi= Números de trabajadores que inician en turno i (i=1-6)</a:t>
            </a:r>
          </a:p>
        </p:txBody>
      </p:sp>
      <p:sp>
        <p:nvSpPr>
          <p:cNvPr id="10" name="3 Rectángulo">
            <a:extLst>
              <a:ext uri="{FF2B5EF4-FFF2-40B4-BE49-F238E27FC236}">
                <a16:creationId xmlns:a16="http://schemas.microsoft.com/office/drawing/2014/main" id="{EC70A613-9571-429C-A8C5-4C6ADA803331}"/>
              </a:ext>
            </a:extLst>
          </p:cNvPr>
          <p:cNvSpPr/>
          <p:nvPr/>
        </p:nvSpPr>
        <p:spPr>
          <a:xfrm>
            <a:off x="5419599" y="1151020"/>
            <a:ext cx="3624427" cy="4708981"/>
          </a:xfrm>
          <a:prstGeom prst="rect">
            <a:avLst/>
          </a:prstGeom>
          <a:solidFill>
            <a:srgbClr val="FFFF00"/>
          </a:solidFill>
        </p:spPr>
        <p:txBody>
          <a:bodyPr wrap="square">
            <a:spAutoFit/>
          </a:bodyPr>
          <a:lstStyle/>
          <a:p>
            <a:r>
              <a:rPr lang="es-PE" sz="2000" dirty="0"/>
              <a:t>MIN </a:t>
            </a:r>
            <a:r>
              <a:rPr lang="es-PE" sz="2000" dirty="0" err="1"/>
              <a:t>X1</a:t>
            </a:r>
            <a:r>
              <a:rPr lang="es-PE" sz="2000" dirty="0"/>
              <a:t> +</a:t>
            </a:r>
            <a:r>
              <a:rPr lang="es-PE" sz="2000" dirty="0" err="1"/>
              <a:t>X2</a:t>
            </a:r>
            <a:r>
              <a:rPr lang="es-PE" sz="2000" dirty="0"/>
              <a:t> +</a:t>
            </a:r>
            <a:r>
              <a:rPr lang="es-PE" sz="2000" dirty="0" err="1"/>
              <a:t>X3</a:t>
            </a:r>
            <a:r>
              <a:rPr lang="es-PE" sz="2000" dirty="0"/>
              <a:t> +</a:t>
            </a:r>
            <a:r>
              <a:rPr lang="es-PE" sz="2000" dirty="0" err="1"/>
              <a:t>X4</a:t>
            </a:r>
            <a:r>
              <a:rPr lang="es-PE" sz="2000" dirty="0"/>
              <a:t> +</a:t>
            </a:r>
            <a:r>
              <a:rPr lang="es-PE" sz="2000" dirty="0" err="1"/>
              <a:t>X5</a:t>
            </a:r>
            <a:r>
              <a:rPr lang="es-PE" sz="2000" dirty="0"/>
              <a:t> +</a:t>
            </a:r>
            <a:r>
              <a:rPr lang="es-PE" sz="2000" dirty="0" err="1"/>
              <a:t>X6</a:t>
            </a:r>
            <a:r>
              <a:rPr lang="es-PE" sz="2000" dirty="0"/>
              <a:t> </a:t>
            </a:r>
          </a:p>
          <a:p>
            <a:r>
              <a:rPr lang="es-PE" sz="2000" dirty="0" err="1"/>
              <a:t>ST</a:t>
            </a:r>
            <a:endParaRPr lang="es-PE" sz="2000" dirty="0"/>
          </a:p>
          <a:p>
            <a:r>
              <a:rPr lang="es-PE" sz="2000" dirty="0" err="1"/>
              <a:t>X6</a:t>
            </a:r>
            <a:r>
              <a:rPr lang="es-PE" sz="2000" dirty="0"/>
              <a:t> + </a:t>
            </a:r>
            <a:r>
              <a:rPr lang="es-PE" sz="2000" dirty="0" err="1"/>
              <a:t>X1</a:t>
            </a:r>
            <a:r>
              <a:rPr lang="es-PE" sz="2000" dirty="0"/>
              <a:t> &gt;= 9 </a:t>
            </a:r>
          </a:p>
          <a:p>
            <a:r>
              <a:rPr lang="es-PE" sz="2000" dirty="0" err="1"/>
              <a:t>X1</a:t>
            </a:r>
            <a:r>
              <a:rPr lang="es-PE" sz="2000" dirty="0"/>
              <a:t> + </a:t>
            </a:r>
            <a:r>
              <a:rPr lang="es-PE" sz="2000" dirty="0" err="1"/>
              <a:t>X2</a:t>
            </a:r>
            <a:r>
              <a:rPr lang="es-PE" sz="2000" dirty="0"/>
              <a:t> &gt;= 5</a:t>
            </a:r>
          </a:p>
          <a:p>
            <a:r>
              <a:rPr lang="es-PE" sz="2000" dirty="0" err="1"/>
              <a:t>X2</a:t>
            </a:r>
            <a:r>
              <a:rPr lang="es-PE" sz="2000" dirty="0"/>
              <a:t> + </a:t>
            </a:r>
            <a:r>
              <a:rPr lang="es-PE" sz="2000" dirty="0" err="1"/>
              <a:t>X3</a:t>
            </a:r>
            <a:r>
              <a:rPr lang="es-PE" sz="2000" dirty="0"/>
              <a:t> &gt;= 3</a:t>
            </a:r>
          </a:p>
          <a:p>
            <a:r>
              <a:rPr lang="es-PE" sz="2000" dirty="0" err="1"/>
              <a:t>X3</a:t>
            </a:r>
            <a:r>
              <a:rPr lang="es-PE" sz="2000" dirty="0"/>
              <a:t> + </a:t>
            </a:r>
            <a:r>
              <a:rPr lang="es-PE" sz="2000" dirty="0" err="1"/>
              <a:t>X4</a:t>
            </a:r>
            <a:r>
              <a:rPr lang="es-PE" sz="2000" dirty="0"/>
              <a:t> &gt;= 7</a:t>
            </a:r>
          </a:p>
          <a:p>
            <a:r>
              <a:rPr lang="es-PE" sz="2000" dirty="0" err="1"/>
              <a:t>X4</a:t>
            </a:r>
            <a:r>
              <a:rPr lang="es-PE" sz="2000" dirty="0"/>
              <a:t> + </a:t>
            </a:r>
            <a:r>
              <a:rPr lang="es-PE" sz="2000" dirty="0" err="1"/>
              <a:t>X5</a:t>
            </a:r>
            <a:r>
              <a:rPr lang="es-PE" sz="2000" dirty="0"/>
              <a:t> &gt;= 5</a:t>
            </a:r>
          </a:p>
          <a:p>
            <a:r>
              <a:rPr lang="es-PE" sz="2000" dirty="0" err="1"/>
              <a:t>X5</a:t>
            </a:r>
            <a:r>
              <a:rPr lang="es-PE" sz="2000" dirty="0"/>
              <a:t> + </a:t>
            </a:r>
            <a:r>
              <a:rPr lang="es-PE" sz="2000" dirty="0" err="1"/>
              <a:t>X6</a:t>
            </a:r>
            <a:r>
              <a:rPr lang="es-PE" sz="2000" dirty="0"/>
              <a:t> &gt;= 6</a:t>
            </a:r>
          </a:p>
          <a:p>
            <a:r>
              <a:rPr lang="es-ES" sz="2000" dirty="0" err="1"/>
              <a:t>END</a:t>
            </a:r>
            <a:endParaRPr lang="es-ES" sz="2000" dirty="0"/>
          </a:p>
          <a:p>
            <a:r>
              <a:rPr lang="es-ES" sz="2000" dirty="0" err="1"/>
              <a:t>GIN</a:t>
            </a:r>
            <a:r>
              <a:rPr lang="es-ES" sz="2000" dirty="0"/>
              <a:t> </a:t>
            </a:r>
            <a:r>
              <a:rPr lang="es-ES" sz="2000" dirty="0" err="1"/>
              <a:t>X1</a:t>
            </a:r>
            <a:endParaRPr lang="es-ES" sz="2000" dirty="0"/>
          </a:p>
          <a:p>
            <a:r>
              <a:rPr lang="es-ES" sz="2000" dirty="0" err="1"/>
              <a:t>GIN</a:t>
            </a:r>
            <a:r>
              <a:rPr lang="es-ES" sz="2000" dirty="0"/>
              <a:t> </a:t>
            </a:r>
            <a:r>
              <a:rPr lang="es-ES" sz="2000" dirty="0" err="1"/>
              <a:t>X2</a:t>
            </a:r>
            <a:endParaRPr lang="es-ES" sz="2000" dirty="0"/>
          </a:p>
          <a:p>
            <a:r>
              <a:rPr lang="es-ES" sz="2000" dirty="0" err="1"/>
              <a:t>GIN</a:t>
            </a:r>
            <a:r>
              <a:rPr lang="es-ES" sz="2000" dirty="0"/>
              <a:t> </a:t>
            </a:r>
            <a:r>
              <a:rPr lang="es-ES" sz="2000" dirty="0" err="1"/>
              <a:t>X3</a:t>
            </a:r>
            <a:endParaRPr lang="es-ES" sz="2000" dirty="0"/>
          </a:p>
          <a:p>
            <a:r>
              <a:rPr lang="es-ES" sz="2000" dirty="0" err="1"/>
              <a:t>GIN</a:t>
            </a:r>
            <a:r>
              <a:rPr lang="es-ES" sz="2000" dirty="0"/>
              <a:t> </a:t>
            </a:r>
            <a:r>
              <a:rPr lang="es-ES" sz="2000" dirty="0" err="1"/>
              <a:t>X4</a:t>
            </a:r>
            <a:endParaRPr lang="es-ES" sz="2000" dirty="0"/>
          </a:p>
          <a:p>
            <a:r>
              <a:rPr lang="es-ES" sz="2000" dirty="0" err="1"/>
              <a:t>GIN</a:t>
            </a:r>
            <a:r>
              <a:rPr lang="es-ES" sz="2000" dirty="0"/>
              <a:t> </a:t>
            </a:r>
            <a:r>
              <a:rPr lang="es-ES" sz="2000" dirty="0" err="1"/>
              <a:t>X5</a:t>
            </a:r>
            <a:endParaRPr lang="es-ES" sz="2000" dirty="0"/>
          </a:p>
          <a:p>
            <a:r>
              <a:rPr lang="es-ES" sz="2000" dirty="0" err="1"/>
              <a:t>GIN</a:t>
            </a:r>
            <a:r>
              <a:rPr lang="es-ES" sz="2000" dirty="0"/>
              <a:t> </a:t>
            </a:r>
            <a:r>
              <a:rPr lang="es-ES" sz="2000" dirty="0" err="1"/>
              <a:t>X6</a:t>
            </a:r>
            <a:endParaRPr lang="es-PE" sz="2000" dirty="0"/>
          </a:p>
        </p:txBody>
      </p:sp>
      <p:sp>
        <p:nvSpPr>
          <p:cNvPr id="11" name="4 Rectángulo">
            <a:extLst>
              <a:ext uri="{FF2B5EF4-FFF2-40B4-BE49-F238E27FC236}">
                <a16:creationId xmlns:a16="http://schemas.microsoft.com/office/drawing/2014/main" id="{FA9E3B87-8E0C-4625-BFE1-EB97F598210C}"/>
              </a:ext>
            </a:extLst>
          </p:cNvPr>
          <p:cNvSpPr/>
          <p:nvPr/>
        </p:nvSpPr>
        <p:spPr>
          <a:xfrm>
            <a:off x="6969967" y="1999580"/>
            <a:ext cx="5222033" cy="4154984"/>
          </a:xfrm>
          <a:prstGeom prst="rect">
            <a:avLst/>
          </a:prstGeom>
          <a:solidFill>
            <a:srgbClr val="92D050"/>
          </a:solidFill>
        </p:spPr>
        <p:txBody>
          <a:bodyPr wrap="square">
            <a:spAutoFit/>
          </a:bodyPr>
          <a:lstStyle/>
          <a:p>
            <a:r>
              <a:rPr lang="en-US" sz="2400" dirty="0">
                <a:latin typeface="Arial Narrow" panose="020B0606020202030204" pitchFamily="34" charset="0"/>
              </a:rPr>
              <a:t> OBJECTIVE FUNCTION VALUE</a:t>
            </a:r>
          </a:p>
          <a:p>
            <a:endParaRPr lang="en-US" sz="2400" dirty="0">
              <a:latin typeface="Arial Narrow" panose="020B0606020202030204" pitchFamily="34" charset="0"/>
            </a:endParaRPr>
          </a:p>
          <a:p>
            <a:r>
              <a:rPr lang="en-US" sz="2400" dirty="0">
                <a:latin typeface="Arial Narrow" panose="020B0606020202030204" pitchFamily="34" charset="0"/>
              </a:rPr>
              <a:t>        1)      18.00000</a:t>
            </a:r>
          </a:p>
          <a:p>
            <a:endParaRPr lang="en-US" sz="2400" dirty="0">
              <a:latin typeface="Arial Narrow" panose="020B0606020202030204" pitchFamily="34" charset="0"/>
            </a:endParaRPr>
          </a:p>
          <a:p>
            <a:r>
              <a:rPr lang="en-US" sz="2400" dirty="0">
                <a:latin typeface="Arial Narrow" panose="020B0606020202030204" pitchFamily="34" charset="0"/>
              </a:rPr>
              <a:t>  VARIABLE     VALUE      REDUCED COST</a:t>
            </a:r>
          </a:p>
          <a:p>
            <a:r>
              <a:rPr lang="en-US" sz="2400" dirty="0">
                <a:latin typeface="Arial Narrow" panose="020B0606020202030204" pitchFamily="34" charset="0"/>
              </a:rPr>
              <a:t>        </a:t>
            </a:r>
            <a:r>
              <a:rPr lang="en-US" sz="2400" dirty="0" err="1">
                <a:latin typeface="Arial Narrow" panose="020B0606020202030204" pitchFamily="34" charset="0"/>
              </a:rPr>
              <a:t>X1</a:t>
            </a:r>
            <a:r>
              <a:rPr lang="en-US" sz="2400" dirty="0">
                <a:latin typeface="Arial Narrow" panose="020B0606020202030204" pitchFamily="34" charset="0"/>
              </a:rPr>
              <a:t>         5.000000          0.000000</a:t>
            </a:r>
          </a:p>
          <a:p>
            <a:r>
              <a:rPr lang="en-US" sz="2400" dirty="0">
                <a:latin typeface="Arial Narrow" panose="020B0606020202030204" pitchFamily="34" charset="0"/>
              </a:rPr>
              <a:t>        </a:t>
            </a:r>
            <a:r>
              <a:rPr lang="en-US" sz="2400" dirty="0" err="1">
                <a:latin typeface="Arial Narrow" panose="020B0606020202030204" pitchFamily="34" charset="0"/>
              </a:rPr>
              <a:t>X2</a:t>
            </a:r>
            <a:r>
              <a:rPr lang="en-US" sz="2400" dirty="0">
                <a:latin typeface="Arial Narrow" panose="020B0606020202030204" pitchFamily="34" charset="0"/>
              </a:rPr>
              <a:t>         0.000000          0.000000</a:t>
            </a:r>
          </a:p>
          <a:p>
            <a:r>
              <a:rPr lang="en-US" sz="2400" dirty="0">
                <a:latin typeface="Arial Narrow" panose="020B0606020202030204" pitchFamily="34" charset="0"/>
              </a:rPr>
              <a:t>        </a:t>
            </a:r>
            <a:r>
              <a:rPr lang="en-US" sz="2400" dirty="0" err="1">
                <a:latin typeface="Arial Narrow" panose="020B0606020202030204" pitchFamily="34" charset="0"/>
              </a:rPr>
              <a:t>X3</a:t>
            </a:r>
            <a:r>
              <a:rPr lang="en-US" sz="2400" dirty="0">
                <a:latin typeface="Arial Narrow" panose="020B0606020202030204" pitchFamily="34" charset="0"/>
              </a:rPr>
              <a:t>         4.000000          0.000000</a:t>
            </a:r>
          </a:p>
          <a:p>
            <a:r>
              <a:rPr lang="en-US" sz="2400" dirty="0">
                <a:latin typeface="Arial Narrow" panose="020B0606020202030204" pitchFamily="34" charset="0"/>
              </a:rPr>
              <a:t>        </a:t>
            </a:r>
            <a:r>
              <a:rPr lang="en-US" sz="2400" dirty="0" err="1">
                <a:latin typeface="Arial Narrow" panose="020B0606020202030204" pitchFamily="34" charset="0"/>
              </a:rPr>
              <a:t>X4</a:t>
            </a:r>
            <a:r>
              <a:rPr lang="en-US" sz="2400" dirty="0">
                <a:latin typeface="Arial Narrow" panose="020B0606020202030204" pitchFamily="34" charset="0"/>
              </a:rPr>
              <a:t>         3.000000          0.000000</a:t>
            </a:r>
          </a:p>
          <a:p>
            <a:r>
              <a:rPr lang="en-US" sz="2400" dirty="0">
                <a:latin typeface="Arial Narrow" panose="020B0606020202030204" pitchFamily="34" charset="0"/>
              </a:rPr>
              <a:t>        </a:t>
            </a:r>
            <a:r>
              <a:rPr lang="en-US" sz="2400" dirty="0" err="1">
                <a:latin typeface="Arial Narrow" panose="020B0606020202030204" pitchFamily="34" charset="0"/>
              </a:rPr>
              <a:t>X5</a:t>
            </a:r>
            <a:r>
              <a:rPr lang="en-US" sz="2400" dirty="0">
                <a:latin typeface="Arial Narrow" panose="020B0606020202030204" pitchFamily="34" charset="0"/>
              </a:rPr>
              <a:t>         2.000000          0.000000</a:t>
            </a:r>
          </a:p>
          <a:p>
            <a:r>
              <a:rPr lang="en-US" sz="2400" dirty="0">
                <a:latin typeface="Arial Narrow" panose="020B0606020202030204" pitchFamily="34" charset="0"/>
              </a:rPr>
              <a:t>        </a:t>
            </a:r>
            <a:r>
              <a:rPr lang="en-US" sz="2400" dirty="0" err="1">
                <a:latin typeface="Arial Narrow" panose="020B0606020202030204" pitchFamily="34" charset="0"/>
              </a:rPr>
              <a:t>X6</a:t>
            </a:r>
            <a:r>
              <a:rPr lang="en-US" sz="2400" dirty="0">
                <a:latin typeface="Arial Narrow" panose="020B0606020202030204" pitchFamily="34" charset="0"/>
              </a:rPr>
              <a:t>         4.000000          0.000000</a:t>
            </a:r>
            <a:endParaRPr lang="es-PE" sz="2400" dirty="0">
              <a:latin typeface="Arial Narrow" panose="020B0606020202030204" pitchFamily="34" charset="0"/>
            </a:endParaRPr>
          </a:p>
        </p:txBody>
      </p:sp>
      <p:sp>
        <p:nvSpPr>
          <p:cNvPr id="12" name="Rectángulo 11">
            <a:extLst>
              <a:ext uri="{FF2B5EF4-FFF2-40B4-BE49-F238E27FC236}">
                <a16:creationId xmlns:a16="http://schemas.microsoft.com/office/drawing/2014/main" id="{D94AC57A-9410-47D1-B484-E38C37811D81}"/>
              </a:ext>
            </a:extLst>
          </p:cNvPr>
          <p:cNvSpPr/>
          <p:nvPr/>
        </p:nvSpPr>
        <p:spPr>
          <a:xfrm>
            <a:off x="287546" y="3465513"/>
            <a:ext cx="4672643" cy="3046988"/>
          </a:xfrm>
          <a:prstGeom prst="rect">
            <a:avLst/>
          </a:prstGeom>
        </p:spPr>
        <p:txBody>
          <a:bodyPr wrap="square">
            <a:spAutoFit/>
          </a:bodyPr>
          <a:lstStyle/>
          <a:p>
            <a:pPr>
              <a:defRPr/>
            </a:pPr>
            <a:r>
              <a:rPr lang="es-ES_tradnl" sz="2400" dirty="0">
                <a:solidFill>
                  <a:srgbClr val="FF0000"/>
                </a:solidFill>
              </a:rPr>
              <a:t>III Identificación de las restricciones</a:t>
            </a:r>
            <a:endParaRPr lang="es-ES_tradnl" sz="2400" i="1" dirty="0"/>
          </a:p>
          <a:p>
            <a:pPr>
              <a:defRPr/>
            </a:pPr>
            <a:r>
              <a:rPr lang="es-ES_tradnl" sz="2400" i="1" dirty="0" err="1"/>
              <a:t>X6</a:t>
            </a:r>
            <a:r>
              <a:rPr lang="es-ES_tradnl" sz="2400" i="1" dirty="0"/>
              <a:t> + </a:t>
            </a:r>
            <a:r>
              <a:rPr lang="es-ES_tradnl" sz="2400" i="1" dirty="0" err="1"/>
              <a:t>X1</a:t>
            </a:r>
            <a:r>
              <a:rPr lang="es-ES_tradnl" sz="2400" i="1" dirty="0"/>
              <a:t> ≥ 9 </a:t>
            </a:r>
          </a:p>
          <a:p>
            <a:pPr>
              <a:defRPr/>
            </a:pPr>
            <a:r>
              <a:rPr lang="es-ES_tradnl" sz="2400" i="1" dirty="0" err="1"/>
              <a:t>X1</a:t>
            </a:r>
            <a:r>
              <a:rPr lang="es-ES_tradnl" sz="2400" i="1" dirty="0"/>
              <a:t> + </a:t>
            </a:r>
            <a:r>
              <a:rPr lang="es-ES_tradnl" sz="2400" i="1" dirty="0" err="1"/>
              <a:t>X2</a:t>
            </a:r>
            <a:r>
              <a:rPr lang="es-ES_tradnl" sz="2400" i="1" dirty="0"/>
              <a:t> ≥  5</a:t>
            </a:r>
          </a:p>
          <a:p>
            <a:pPr>
              <a:lnSpc>
                <a:spcPct val="100000"/>
              </a:lnSpc>
              <a:spcBef>
                <a:spcPts val="0"/>
              </a:spcBef>
              <a:buFont typeface="Wingdings 2" pitchFamily="18" charset="2"/>
              <a:buNone/>
              <a:defRPr/>
            </a:pPr>
            <a:r>
              <a:rPr lang="es-ES_tradnl" sz="2400" i="1" dirty="0" err="1"/>
              <a:t>X2</a:t>
            </a:r>
            <a:r>
              <a:rPr lang="es-ES_tradnl" sz="2400" i="1" dirty="0"/>
              <a:t> + </a:t>
            </a:r>
            <a:r>
              <a:rPr lang="es-ES_tradnl" sz="2400" i="1" dirty="0" err="1"/>
              <a:t>X3</a:t>
            </a:r>
            <a:r>
              <a:rPr lang="es-ES_tradnl" sz="2400" i="1" dirty="0"/>
              <a:t> ≥  3</a:t>
            </a:r>
          </a:p>
          <a:p>
            <a:pPr>
              <a:lnSpc>
                <a:spcPct val="100000"/>
              </a:lnSpc>
              <a:spcBef>
                <a:spcPts val="0"/>
              </a:spcBef>
              <a:buFont typeface="Wingdings 2" pitchFamily="18" charset="2"/>
              <a:buNone/>
              <a:defRPr/>
            </a:pPr>
            <a:r>
              <a:rPr lang="es-ES_tradnl" sz="2400" i="1" dirty="0" err="1"/>
              <a:t>X3</a:t>
            </a:r>
            <a:r>
              <a:rPr lang="es-ES_tradnl" sz="2400" i="1" dirty="0"/>
              <a:t> + </a:t>
            </a:r>
            <a:r>
              <a:rPr lang="es-ES_tradnl" sz="2400" i="1" dirty="0" err="1"/>
              <a:t>X4</a:t>
            </a:r>
            <a:r>
              <a:rPr lang="es-ES_tradnl" sz="2400" i="1" dirty="0"/>
              <a:t>  ≥ 7</a:t>
            </a:r>
          </a:p>
          <a:p>
            <a:pPr>
              <a:lnSpc>
                <a:spcPct val="100000"/>
              </a:lnSpc>
              <a:spcBef>
                <a:spcPts val="0"/>
              </a:spcBef>
              <a:buFont typeface="Wingdings 2" pitchFamily="18" charset="2"/>
              <a:buNone/>
              <a:defRPr/>
            </a:pPr>
            <a:r>
              <a:rPr lang="es-ES_tradnl" sz="2400" i="1" dirty="0" err="1"/>
              <a:t>X4</a:t>
            </a:r>
            <a:r>
              <a:rPr lang="es-ES_tradnl" sz="2400" i="1" dirty="0"/>
              <a:t> + </a:t>
            </a:r>
            <a:r>
              <a:rPr lang="es-ES_tradnl" sz="2400" i="1" dirty="0" err="1"/>
              <a:t>X5</a:t>
            </a:r>
            <a:r>
              <a:rPr lang="es-ES_tradnl" sz="2400" i="1" dirty="0"/>
              <a:t>  ≥ 5</a:t>
            </a:r>
          </a:p>
          <a:p>
            <a:pPr>
              <a:lnSpc>
                <a:spcPct val="100000"/>
              </a:lnSpc>
              <a:spcBef>
                <a:spcPts val="0"/>
              </a:spcBef>
              <a:buFont typeface="Wingdings 2" pitchFamily="18" charset="2"/>
              <a:buNone/>
              <a:defRPr/>
            </a:pPr>
            <a:r>
              <a:rPr lang="es-ES_tradnl" sz="2400" i="1" dirty="0" err="1"/>
              <a:t>X5</a:t>
            </a:r>
            <a:r>
              <a:rPr lang="es-ES_tradnl" sz="2400" i="1" dirty="0"/>
              <a:t> + </a:t>
            </a:r>
            <a:r>
              <a:rPr lang="es-ES_tradnl" sz="2400" i="1" dirty="0" err="1"/>
              <a:t>X6</a:t>
            </a:r>
            <a:r>
              <a:rPr lang="es-ES_tradnl" sz="2400" i="1" dirty="0"/>
              <a:t>  ≥ 6</a:t>
            </a:r>
          </a:p>
          <a:p>
            <a:pPr>
              <a:lnSpc>
                <a:spcPct val="100000"/>
              </a:lnSpc>
              <a:spcBef>
                <a:spcPts val="0"/>
              </a:spcBef>
              <a:buFont typeface="Arial" panose="020B0604020202020204" pitchFamily="34" charset="0"/>
              <a:buNone/>
              <a:defRPr/>
            </a:pPr>
            <a:r>
              <a:rPr lang="pl-PL" sz="2400" i="1" dirty="0"/>
              <a:t>X</a:t>
            </a:r>
            <a:r>
              <a:rPr lang="es-PE" sz="2400" i="1" dirty="0"/>
              <a:t>i</a:t>
            </a:r>
            <a:r>
              <a:rPr lang="pl-PL" sz="2400" i="1" dirty="0"/>
              <a:t> </a:t>
            </a:r>
            <a:r>
              <a:rPr lang="es-ES_tradnl" sz="2400" i="1" dirty="0"/>
              <a:t>≥</a:t>
            </a:r>
            <a:r>
              <a:rPr lang="pl-PL" sz="2400" i="1" dirty="0"/>
              <a:t> 0, </a:t>
            </a:r>
            <a:r>
              <a:rPr lang="es-PE" sz="2400" i="1" dirty="0"/>
              <a:t>ENTERAS</a:t>
            </a:r>
            <a:endParaRPr lang="es-ES_tradnl" sz="2400" dirty="0"/>
          </a:p>
        </p:txBody>
      </p:sp>
      <p:sp>
        <p:nvSpPr>
          <p:cNvPr id="13" name="Rectángulo 12">
            <a:extLst>
              <a:ext uri="{FF2B5EF4-FFF2-40B4-BE49-F238E27FC236}">
                <a16:creationId xmlns:a16="http://schemas.microsoft.com/office/drawing/2014/main" id="{18AC4E42-301F-4251-826D-A23F5008D92C}"/>
              </a:ext>
            </a:extLst>
          </p:cNvPr>
          <p:cNvSpPr/>
          <p:nvPr/>
        </p:nvSpPr>
        <p:spPr>
          <a:xfrm>
            <a:off x="347932" y="2674514"/>
            <a:ext cx="6096000" cy="830997"/>
          </a:xfrm>
          <a:prstGeom prst="rect">
            <a:avLst/>
          </a:prstGeom>
        </p:spPr>
        <p:txBody>
          <a:bodyPr>
            <a:spAutoFit/>
          </a:bodyPr>
          <a:lstStyle/>
          <a:p>
            <a:pPr>
              <a:defRPr/>
            </a:pPr>
            <a:r>
              <a:rPr lang="es-ES_tradnl" sz="2400" dirty="0">
                <a:solidFill>
                  <a:srgbClr val="FF0000"/>
                </a:solidFill>
              </a:rPr>
              <a:t>II Identificación de la </a:t>
            </a:r>
            <a:r>
              <a:rPr lang="es-ES_tradnl" sz="2400" dirty="0" err="1">
                <a:solidFill>
                  <a:srgbClr val="FF0000"/>
                </a:solidFill>
              </a:rPr>
              <a:t>funcion</a:t>
            </a:r>
            <a:r>
              <a:rPr lang="es-ES_tradnl" sz="2400" dirty="0">
                <a:solidFill>
                  <a:srgbClr val="FF0000"/>
                </a:solidFill>
              </a:rPr>
              <a:t> objetivo</a:t>
            </a:r>
          </a:p>
          <a:p>
            <a:pPr>
              <a:defRPr/>
            </a:pPr>
            <a:r>
              <a:rPr lang="es-ES_tradnl" sz="2400" dirty="0"/>
              <a:t>MIN </a:t>
            </a:r>
            <a:r>
              <a:rPr lang="es-ES_tradnl" sz="2400" i="1" dirty="0" err="1"/>
              <a:t>X1</a:t>
            </a:r>
            <a:r>
              <a:rPr lang="es-ES_tradnl" sz="2400" i="1" dirty="0"/>
              <a:t> +</a:t>
            </a:r>
            <a:r>
              <a:rPr lang="es-ES_tradnl" sz="2400" i="1" dirty="0" err="1"/>
              <a:t>X2</a:t>
            </a:r>
            <a:r>
              <a:rPr lang="es-ES_tradnl" sz="2400" i="1" dirty="0"/>
              <a:t> +</a:t>
            </a:r>
            <a:r>
              <a:rPr lang="es-ES_tradnl" sz="2400" i="1" dirty="0" err="1"/>
              <a:t>X3</a:t>
            </a:r>
            <a:r>
              <a:rPr lang="es-ES_tradnl" sz="2400" i="1" dirty="0"/>
              <a:t> </a:t>
            </a:r>
            <a:r>
              <a:rPr lang="es-ES_tradnl" sz="2400" dirty="0"/>
              <a:t>+</a:t>
            </a:r>
            <a:r>
              <a:rPr lang="es-ES_tradnl" sz="2400" i="1" dirty="0" err="1"/>
              <a:t>X4</a:t>
            </a:r>
            <a:r>
              <a:rPr lang="es-ES_tradnl" sz="2400" i="1" dirty="0"/>
              <a:t> +</a:t>
            </a:r>
            <a:r>
              <a:rPr lang="es-ES_tradnl" sz="2400" i="1" dirty="0" err="1"/>
              <a:t>X5</a:t>
            </a:r>
            <a:r>
              <a:rPr lang="es-ES_tradnl" sz="2400" i="1" dirty="0"/>
              <a:t> +</a:t>
            </a:r>
            <a:r>
              <a:rPr lang="es-ES_tradnl" sz="2400" i="1" dirty="0" err="1"/>
              <a:t>X6</a:t>
            </a:r>
            <a:r>
              <a:rPr lang="es-ES_tradnl" sz="2400" i="1" dirty="0"/>
              <a:t> </a:t>
            </a:r>
          </a:p>
        </p:txBody>
      </p:sp>
    </p:spTree>
    <p:extLst>
      <p:ext uri="{BB962C8B-B14F-4D97-AF65-F5344CB8AC3E}">
        <p14:creationId xmlns:p14="http://schemas.microsoft.com/office/powerpoint/2010/main" val="199823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2 Marcador de contenido"/>
          <p:cNvSpPr>
            <a:spLocks noGrp="1"/>
          </p:cNvSpPr>
          <p:nvPr>
            <p:ph sz="quarter" idx="1"/>
          </p:nvPr>
        </p:nvSpPr>
        <p:spPr>
          <a:xfrm>
            <a:off x="323582" y="1386533"/>
            <a:ext cx="5680403" cy="5204048"/>
          </a:xfrm>
        </p:spPr>
        <p:txBody>
          <a:bodyPr vert="horz" lIns="91440" tIns="45720" rIns="91440" bIns="45720" rtlCol="0">
            <a:noAutofit/>
          </a:bodyPr>
          <a:lstStyle/>
          <a:p>
            <a:pPr marL="0" indent="0" algn="just">
              <a:buNone/>
            </a:pPr>
            <a:r>
              <a:rPr lang="es-ES_tradnl" sz="2000" dirty="0" err="1">
                <a:latin typeface="Arial Narrow" pitchFamily="34" charset="0"/>
              </a:rPr>
              <a:t>Anatina</a:t>
            </a:r>
            <a:r>
              <a:rPr lang="es-ES_tradnl" sz="2000" dirty="0">
                <a:latin typeface="Arial Narrow" pitchFamily="34" charset="0"/>
              </a:rPr>
              <a:t> </a:t>
            </a:r>
            <a:r>
              <a:rPr lang="es-ES_tradnl" sz="2000" dirty="0" err="1">
                <a:latin typeface="Arial Narrow" pitchFamily="34" charset="0"/>
              </a:rPr>
              <a:t>Toys</a:t>
            </a:r>
            <a:r>
              <a:rPr lang="es-ES_tradnl" sz="2000" dirty="0">
                <a:latin typeface="Arial Narrow" pitchFamily="34" charset="0"/>
              </a:rPr>
              <a:t> fabrica 2 tipos de juguetes de madera, autitos y rompecabezas. Un autito se vende en S/. 54 y requiere 20 S/. de materia prima. Cada autito que se fabrica incrementa la mano de obra variable y los costos globales en S/. 28. Un rompecabezas se vende en S/. 42 y requiere S/. 18 de materia prima. Cada rompecabezas incrementa la mano de obra variable y costos globales en S/. 20. Para la fabricación se requiere mano de obra especializada: carpintera y acabados. Un autito requiere 2 h de acabado </a:t>
            </a:r>
            <a:r>
              <a:rPr lang="es-ES_tradnl" sz="2000" dirty="0" err="1">
                <a:latin typeface="Arial Narrow" pitchFamily="34" charset="0"/>
              </a:rPr>
              <a:t>y1</a:t>
            </a:r>
            <a:r>
              <a:rPr lang="es-ES_tradnl" sz="2000" dirty="0">
                <a:latin typeface="Arial Narrow" pitchFamily="34" charset="0"/>
              </a:rPr>
              <a:t> h de carpintería. Un rompecabezas requiere </a:t>
            </a:r>
            <a:r>
              <a:rPr lang="es-ES_tradnl" sz="2000" dirty="0" err="1">
                <a:latin typeface="Arial Narrow" pitchFamily="34" charset="0"/>
              </a:rPr>
              <a:t>1h</a:t>
            </a:r>
            <a:r>
              <a:rPr lang="es-ES_tradnl" sz="2000" dirty="0">
                <a:latin typeface="Arial Narrow" pitchFamily="34" charset="0"/>
              </a:rPr>
              <a:t> acabado y </a:t>
            </a:r>
            <a:r>
              <a:rPr lang="es-ES_tradnl" sz="2000" dirty="0" err="1">
                <a:latin typeface="Arial Narrow" pitchFamily="34" charset="0"/>
              </a:rPr>
              <a:t>1h</a:t>
            </a:r>
            <a:r>
              <a:rPr lang="es-ES_tradnl" sz="2000" dirty="0">
                <a:latin typeface="Arial Narrow" pitchFamily="34" charset="0"/>
              </a:rPr>
              <a:t> de carpintería. </a:t>
            </a:r>
          </a:p>
          <a:p>
            <a:pPr marL="0" indent="0" algn="just">
              <a:buNone/>
            </a:pPr>
            <a:r>
              <a:rPr lang="es-ES_tradnl" sz="2000" dirty="0">
                <a:latin typeface="Arial Narrow" pitchFamily="34" charset="0"/>
              </a:rPr>
              <a:t>Todas las semanas </a:t>
            </a:r>
            <a:r>
              <a:rPr lang="es-ES_tradnl" sz="2000" dirty="0" err="1">
                <a:latin typeface="Arial Narrow" pitchFamily="34" charset="0"/>
              </a:rPr>
              <a:t>Anatina</a:t>
            </a:r>
            <a:r>
              <a:rPr lang="es-ES_tradnl" sz="2000" dirty="0">
                <a:latin typeface="Arial Narrow" pitchFamily="34" charset="0"/>
              </a:rPr>
              <a:t> </a:t>
            </a:r>
            <a:r>
              <a:rPr lang="es-ES_tradnl" sz="2000" dirty="0" err="1">
                <a:latin typeface="Arial Narrow" pitchFamily="34" charset="0"/>
              </a:rPr>
              <a:t>Toys</a:t>
            </a:r>
            <a:r>
              <a:rPr lang="es-ES_tradnl" sz="2000" dirty="0">
                <a:latin typeface="Arial Narrow" pitchFamily="34" charset="0"/>
              </a:rPr>
              <a:t> consigue todo el material , pero solo </a:t>
            </a:r>
            <a:r>
              <a:rPr lang="es-ES_tradnl" sz="2000" dirty="0" err="1">
                <a:latin typeface="Arial Narrow" pitchFamily="34" charset="0"/>
              </a:rPr>
              <a:t>100h</a:t>
            </a:r>
            <a:r>
              <a:rPr lang="es-ES_tradnl" sz="2000" dirty="0">
                <a:latin typeface="Arial Narrow" pitchFamily="34" charset="0"/>
              </a:rPr>
              <a:t> de trabajo de acabado y </a:t>
            </a:r>
            <a:r>
              <a:rPr lang="es-ES_tradnl" sz="2000" dirty="0" err="1">
                <a:latin typeface="Arial Narrow" pitchFamily="34" charset="0"/>
              </a:rPr>
              <a:t>80h</a:t>
            </a:r>
            <a:r>
              <a:rPr lang="es-ES_tradnl" sz="2000" dirty="0">
                <a:latin typeface="Arial Narrow" pitchFamily="34" charset="0"/>
              </a:rPr>
              <a:t> de trabajo de carpintería. La demanda de rompecabezas es ilimitada y solo se vende a lo más 40 autitos por semana. </a:t>
            </a:r>
            <a:r>
              <a:rPr lang="es-ES_tradnl" sz="2000" dirty="0" err="1">
                <a:latin typeface="Arial Narrow" pitchFamily="34" charset="0"/>
              </a:rPr>
              <a:t>Anatina</a:t>
            </a:r>
            <a:r>
              <a:rPr lang="es-ES_tradnl" sz="2000" dirty="0">
                <a:latin typeface="Arial Narrow" pitchFamily="34" charset="0"/>
              </a:rPr>
              <a:t> </a:t>
            </a:r>
            <a:r>
              <a:rPr lang="es-ES_tradnl" sz="2000" dirty="0" err="1">
                <a:latin typeface="Arial Narrow" pitchFamily="34" charset="0"/>
              </a:rPr>
              <a:t>Toys</a:t>
            </a:r>
            <a:r>
              <a:rPr lang="es-ES_tradnl" sz="2000" dirty="0">
                <a:latin typeface="Arial Narrow" pitchFamily="34" charset="0"/>
              </a:rPr>
              <a:t> debe maximizar las utilidades semanales (ingresos – costos). Diseñar un modelo matemático y resolver por el método gráfico.</a:t>
            </a:r>
          </a:p>
        </p:txBody>
      </p:sp>
      <p:graphicFrame>
        <p:nvGraphicFramePr>
          <p:cNvPr id="3" name="3 Tabla">
            <a:extLst>
              <a:ext uri="{FF2B5EF4-FFF2-40B4-BE49-F238E27FC236}">
                <a16:creationId xmlns:a16="http://schemas.microsoft.com/office/drawing/2014/main" id="{394EA929-D326-4604-B3B4-FBB087F4D99F}"/>
              </a:ext>
            </a:extLst>
          </p:cNvPr>
          <p:cNvGraphicFramePr>
            <a:graphicFrameLocks noGrp="1"/>
          </p:cNvGraphicFramePr>
          <p:nvPr/>
        </p:nvGraphicFramePr>
        <p:xfrm>
          <a:off x="6176511" y="1271826"/>
          <a:ext cx="5934973" cy="1584960"/>
        </p:xfrm>
        <a:graphic>
          <a:graphicData uri="http://schemas.openxmlformats.org/drawingml/2006/table">
            <a:tbl>
              <a:tblPr firstRow="1" bandRow="1">
                <a:tableStyleId>{5C22544A-7EE6-4342-B048-85BDC9FD1C3A}</a:tableStyleId>
              </a:tblPr>
              <a:tblGrid>
                <a:gridCol w="819172">
                  <a:extLst>
                    <a:ext uri="{9D8B030D-6E8A-4147-A177-3AD203B41FA5}">
                      <a16:colId xmlns:a16="http://schemas.microsoft.com/office/drawing/2014/main" val="20000"/>
                    </a:ext>
                  </a:extLst>
                </a:gridCol>
                <a:gridCol w="700293">
                  <a:extLst>
                    <a:ext uri="{9D8B030D-6E8A-4147-A177-3AD203B41FA5}">
                      <a16:colId xmlns:a16="http://schemas.microsoft.com/office/drawing/2014/main" val="20001"/>
                    </a:ext>
                  </a:extLst>
                </a:gridCol>
                <a:gridCol w="657920">
                  <a:extLst>
                    <a:ext uri="{9D8B030D-6E8A-4147-A177-3AD203B41FA5}">
                      <a16:colId xmlns:a16="http://schemas.microsoft.com/office/drawing/2014/main" val="20002"/>
                    </a:ext>
                  </a:extLst>
                </a:gridCol>
                <a:gridCol w="703762">
                  <a:extLst>
                    <a:ext uri="{9D8B030D-6E8A-4147-A177-3AD203B41FA5}">
                      <a16:colId xmlns:a16="http://schemas.microsoft.com/office/drawing/2014/main" val="20003"/>
                    </a:ext>
                  </a:extLst>
                </a:gridCol>
                <a:gridCol w="703762">
                  <a:extLst>
                    <a:ext uri="{9D8B030D-6E8A-4147-A177-3AD203B41FA5}">
                      <a16:colId xmlns:a16="http://schemas.microsoft.com/office/drawing/2014/main" val="20004"/>
                    </a:ext>
                  </a:extLst>
                </a:gridCol>
                <a:gridCol w="718857">
                  <a:extLst>
                    <a:ext uri="{9D8B030D-6E8A-4147-A177-3AD203B41FA5}">
                      <a16:colId xmlns:a16="http://schemas.microsoft.com/office/drawing/2014/main" val="20005"/>
                    </a:ext>
                  </a:extLst>
                </a:gridCol>
                <a:gridCol w="818416">
                  <a:extLst>
                    <a:ext uri="{9D8B030D-6E8A-4147-A177-3AD203B41FA5}">
                      <a16:colId xmlns:a16="http://schemas.microsoft.com/office/drawing/2014/main" val="20006"/>
                    </a:ext>
                  </a:extLst>
                </a:gridCol>
                <a:gridCol w="812791">
                  <a:extLst>
                    <a:ext uri="{9D8B030D-6E8A-4147-A177-3AD203B41FA5}">
                      <a16:colId xmlns:a16="http://schemas.microsoft.com/office/drawing/2014/main" val="20007"/>
                    </a:ext>
                  </a:extLst>
                </a:gridCol>
              </a:tblGrid>
              <a:tr h="556529">
                <a:tc>
                  <a:txBody>
                    <a:bodyPr/>
                    <a:lstStyle/>
                    <a:p>
                      <a:pPr algn="ctr"/>
                      <a:r>
                        <a:rPr lang="es-ES" sz="1600" dirty="0">
                          <a:latin typeface="Arial Narrow" pitchFamily="34" charset="0"/>
                        </a:rPr>
                        <a:t>Tipo</a:t>
                      </a:r>
                      <a:endParaRPr lang="es-PE" sz="1600" dirty="0">
                        <a:latin typeface="Arial Narrow" pitchFamily="34" charset="0"/>
                      </a:endParaRPr>
                    </a:p>
                  </a:txBody>
                  <a:tcPr/>
                </a:tc>
                <a:tc>
                  <a:txBody>
                    <a:bodyPr/>
                    <a:lstStyle/>
                    <a:p>
                      <a:pPr algn="ctr"/>
                      <a:r>
                        <a:rPr lang="es-ES" sz="1600" dirty="0">
                          <a:latin typeface="Arial Narrow" pitchFamily="34" charset="0"/>
                        </a:rPr>
                        <a:t>Precio</a:t>
                      </a:r>
                      <a:endParaRPr lang="es-PE" sz="1600" dirty="0">
                        <a:latin typeface="Arial Narrow" pitchFamily="34" charset="0"/>
                      </a:endParaRPr>
                    </a:p>
                  </a:txBody>
                  <a:tcPr/>
                </a:tc>
                <a:tc>
                  <a:txBody>
                    <a:bodyPr/>
                    <a:lstStyle/>
                    <a:p>
                      <a:pPr algn="ctr"/>
                      <a:r>
                        <a:rPr lang="es-ES" sz="1600" dirty="0">
                          <a:latin typeface="Arial Narrow" pitchFamily="34" charset="0"/>
                        </a:rPr>
                        <a:t>M. P.</a:t>
                      </a:r>
                      <a:endParaRPr lang="es-PE" sz="1600" dirty="0">
                        <a:latin typeface="Arial Narrow" pitchFamily="34" charset="0"/>
                      </a:endParaRPr>
                    </a:p>
                  </a:txBody>
                  <a:tcPr/>
                </a:tc>
                <a:tc>
                  <a:txBody>
                    <a:bodyPr/>
                    <a:lstStyle/>
                    <a:p>
                      <a:pPr algn="ctr"/>
                      <a:r>
                        <a:rPr lang="es-ES" sz="1600" dirty="0">
                          <a:latin typeface="Arial Narrow" pitchFamily="34" charset="0"/>
                        </a:rPr>
                        <a:t>M.</a:t>
                      </a:r>
                      <a:r>
                        <a:rPr lang="es-ES" sz="1600" baseline="0" dirty="0">
                          <a:latin typeface="Arial Narrow" pitchFamily="34" charset="0"/>
                        </a:rPr>
                        <a:t> O. </a:t>
                      </a:r>
                      <a:endParaRPr lang="es-PE" sz="1600" dirty="0">
                        <a:latin typeface="Arial Narrow" pitchFamily="34" charset="0"/>
                      </a:endParaRPr>
                    </a:p>
                  </a:txBody>
                  <a:tcPr/>
                </a:tc>
                <a:tc>
                  <a:txBody>
                    <a:bodyPr/>
                    <a:lstStyle/>
                    <a:p>
                      <a:pPr algn="ctr"/>
                      <a:r>
                        <a:rPr lang="es-ES" sz="1600" dirty="0">
                          <a:latin typeface="Arial Narrow" pitchFamily="34" charset="0"/>
                        </a:rPr>
                        <a:t>Acabado</a:t>
                      </a:r>
                      <a:endParaRPr lang="es-PE" sz="1600" dirty="0">
                        <a:latin typeface="Arial Narrow" pitchFamily="34" charset="0"/>
                      </a:endParaRPr>
                    </a:p>
                  </a:txBody>
                  <a:tcPr/>
                </a:tc>
                <a:tc>
                  <a:txBody>
                    <a:bodyPr/>
                    <a:lstStyle/>
                    <a:p>
                      <a:pPr algn="ctr"/>
                      <a:r>
                        <a:rPr lang="es-ES" sz="1600" dirty="0">
                          <a:latin typeface="Arial Narrow" pitchFamily="34" charset="0"/>
                        </a:rPr>
                        <a:t>Carpintería</a:t>
                      </a:r>
                      <a:endParaRPr lang="es-PE" sz="1600" dirty="0">
                        <a:latin typeface="Arial Narrow" pitchFamily="34" charset="0"/>
                      </a:endParaRPr>
                    </a:p>
                  </a:txBody>
                  <a:tcPr/>
                </a:tc>
                <a:tc>
                  <a:txBody>
                    <a:bodyPr/>
                    <a:lstStyle/>
                    <a:p>
                      <a:pPr algn="ctr"/>
                      <a:r>
                        <a:rPr lang="es-ES" sz="1600" dirty="0">
                          <a:latin typeface="Arial Narrow" pitchFamily="34" charset="0"/>
                        </a:rPr>
                        <a:t>Demanda</a:t>
                      </a:r>
                      <a:endParaRPr lang="es-PE" sz="1600" dirty="0">
                        <a:latin typeface="Arial Narrow" pitchFamily="34" charset="0"/>
                      </a:endParaRPr>
                    </a:p>
                  </a:txBody>
                  <a:tcPr/>
                </a:tc>
                <a:tc>
                  <a:txBody>
                    <a:bodyPr/>
                    <a:lstStyle/>
                    <a:p>
                      <a:pPr algn="ctr"/>
                      <a:r>
                        <a:rPr lang="es-ES" sz="1600" dirty="0">
                          <a:latin typeface="Arial Narrow" pitchFamily="34" charset="0"/>
                        </a:rPr>
                        <a:t>Utilidad</a:t>
                      </a:r>
                      <a:endParaRPr lang="es-PE" sz="1600" dirty="0">
                        <a:latin typeface="Arial Narrow" pitchFamily="34" charset="0"/>
                      </a:endParaRPr>
                    </a:p>
                  </a:txBody>
                  <a:tcPr/>
                </a:tc>
                <a:extLst>
                  <a:ext uri="{0D108BD9-81ED-4DB2-BD59-A6C34878D82A}">
                    <a16:rowId xmlns:a16="http://schemas.microsoft.com/office/drawing/2014/main" val="10000"/>
                  </a:ext>
                </a:extLst>
              </a:tr>
              <a:tr h="322201">
                <a:tc>
                  <a:txBody>
                    <a:bodyPr/>
                    <a:lstStyle/>
                    <a:p>
                      <a:pPr algn="ctr"/>
                      <a:r>
                        <a:rPr lang="es-ES" sz="1600" dirty="0">
                          <a:latin typeface="Arial Narrow" pitchFamily="34" charset="0"/>
                        </a:rPr>
                        <a:t>Autito</a:t>
                      </a:r>
                      <a:endParaRPr lang="es-PE" sz="1600" dirty="0">
                        <a:latin typeface="Arial Narrow" pitchFamily="34" charset="0"/>
                      </a:endParaRPr>
                    </a:p>
                  </a:txBody>
                  <a:tcPr/>
                </a:tc>
                <a:tc>
                  <a:txBody>
                    <a:bodyPr/>
                    <a:lstStyle/>
                    <a:p>
                      <a:pPr algn="ctr"/>
                      <a:r>
                        <a:rPr lang="es-ES" sz="1600" dirty="0">
                          <a:latin typeface="Arial Narrow" pitchFamily="34" charset="0"/>
                        </a:rPr>
                        <a:t>54</a:t>
                      </a:r>
                      <a:endParaRPr lang="es-PE" sz="1600" dirty="0">
                        <a:latin typeface="Arial Narrow" pitchFamily="34" charset="0"/>
                      </a:endParaRPr>
                    </a:p>
                  </a:txBody>
                  <a:tcPr/>
                </a:tc>
                <a:tc>
                  <a:txBody>
                    <a:bodyPr/>
                    <a:lstStyle/>
                    <a:p>
                      <a:pPr algn="ctr"/>
                      <a:r>
                        <a:rPr lang="es-ES" sz="1600" dirty="0">
                          <a:latin typeface="Arial Narrow" pitchFamily="34" charset="0"/>
                        </a:rPr>
                        <a:t>20</a:t>
                      </a:r>
                      <a:endParaRPr lang="es-PE" sz="1600" dirty="0">
                        <a:latin typeface="Arial Narrow" pitchFamily="34" charset="0"/>
                      </a:endParaRPr>
                    </a:p>
                  </a:txBody>
                  <a:tcPr/>
                </a:tc>
                <a:tc>
                  <a:txBody>
                    <a:bodyPr/>
                    <a:lstStyle/>
                    <a:p>
                      <a:pPr algn="ctr"/>
                      <a:r>
                        <a:rPr lang="es-ES" sz="1600" dirty="0">
                          <a:latin typeface="Arial Narrow" pitchFamily="34" charset="0"/>
                        </a:rPr>
                        <a:t>28</a:t>
                      </a:r>
                      <a:endParaRPr lang="es-PE" sz="1600" dirty="0">
                        <a:latin typeface="Arial Narrow" pitchFamily="34" charset="0"/>
                      </a:endParaRPr>
                    </a:p>
                  </a:txBody>
                  <a:tcPr/>
                </a:tc>
                <a:tc>
                  <a:txBody>
                    <a:bodyPr/>
                    <a:lstStyle/>
                    <a:p>
                      <a:pPr algn="ctr"/>
                      <a:r>
                        <a:rPr lang="es-ES" sz="1600" dirty="0">
                          <a:latin typeface="Arial Narrow" pitchFamily="34" charset="0"/>
                        </a:rPr>
                        <a:t>2</a:t>
                      </a:r>
                      <a:endParaRPr lang="es-PE" sz="1600" dirty="0">
                        <a:latin typeface="Arial Narrow" pitchFamily="34" charset="0"/>
                      </a:endParaRPr>
                    </a:p>
                  </a:txBody>
                  <a:tcPr/>
                </a:tc>
                <a:tc>
                  <a:txBody>
                    <a:bodyPr/>
                    <a:lstStyle/>
                    <a:p>
                      <a:pPr algn="ctr"/>
                      <a:r>
                        <a:rPr lang="es-ES" sz="1600" dirty="0">
                          <a:latin typeface="Arial Narrow" pitchFamily="34" charset="0"/>
                        </a:rPr>
                        <a:t>1</a:t>
                      </a:r>
                      <a:endParaRPr lang="es-PE" sz="1600" dirty="0">
                        <a:latin typeface="Arial Narrow" pitchFamily="34" charset="0"/>
                      </a:endParaRPr>
                    </a:p>
                  </a:txBody>
                  <a:tcPr/>
                </a:tc>
                <a:tc>
                  <a:txBody>
                    <a:bodyPr/>
                    <a:lstStyle/>
                    <a:p>
                      <a:pPr algn="ctr"/>
                      <a:r>
                        <a:rPr lang="es-ES" sz="1600" dirty="0">
                          <a:latin typeface="Arial Narrow" pitchFamily="34" charset="0"/>
                        </a:rPr>
                        <a:t>40</a:t>
                      </a:r>
                      <a:endParaRPr lang="es-PE" sz="1600" dirty="0">
                        <a:latin typeface="Arial Narrow" pitchFamily="34" charset="0"/>
                      </a:endParaRPr>
                    </a:p>
                  </a:txBody>
                  <a:tcPr/>
                </a:tc>
                <a:tc>
                  <a:txBody>
                    <a:bodyPr/>
                    <a:lstStyle/>
                    <a:p>
                      <a:pPr algn="ctr"/>
                      <a:r>
                        <a:rPr lang="es-ES" sz="1600" dirty="0">
                          <a:latin typeface="Arial Narrow" pitchFamily="34" charset="0"/>
                        </a:rPr>
                        <a:t>6</a:t>
                      </a:r>
                      <a:endParaRPr lang="es-PE" sz="1600" dirty="0">
                        <a:latin typeface="Arial Narrow" pitchFamily="34" charset="0"/>
                      </a:endParaRPr>
                    </a:p>
                  </a:txBody>
                  <a:tcPr/>
                </a:tc>
                <a:extLst>
                  <a:ext uri="{0D108BD9-81ED-4DB2-BD59-A6C34878D82A}">
                    <a16:rowId xmlns:a16="http://schemas.microsoft.com/office/drawing/2014/main" val="10001"/>
                  </a:ext>
                </a:extLst>
              </a:tr>
              <a:tr h="322201">
                <a:tc>
                  <a:txBody>
                    <a:bodyPr/>
                    <a:lstStyle/>
                    <a:p>
                      <a:pPr algn="ctr"/>
                      <a:r>
                        <a:rPr lang="es-ES" sz="1600" dirty="0" err="1">
                          <a:latin typeface="Arial Narrow" pitchFamily="34" charset="0"/>
                        </a:rPr>
                        <a:t>Rompec</a:t>
                      </a:r>
                      <a:endParaRPr lang="es-PE" sz="1600" dirty="0">
                        <a:latin typeface="Arial Narrow" pitchFamily="34" charset="0"/>
                      </a:endParaRPr>
                    </a:p>
                  </a:txBody>
                  <a:tcPr/>
                </a:tc>
                <a:tc>
                  <a:txBody>
                    <a:bodyPr/>
                    <a:lstStyle/>
                    <a:p>
                      <a:pPr algn="ctr"/>
                      <a:r>
                        <a:rPr lang="es-ES" sz="1600" dirty="0">
                          <a:latin typeface="Arial Narrow" pitchFamily="34" charset="0"/>
                        </a:rPr>
                        <a:t>42</a:t>
                      </a:r>
                      <a:endParaRPr lang="es-PE" sz="1600" dirty="0">
                        <a:latin typeface="Arial Narrow" pitchFamily="34" charset="0"/>
                      </a:endParaRPr>
                    </a:p>
                  </a:txBody>
                  <a:tcPr/>
                </a:tc>
                <a:tc>
                  <a:txBody>
                    <a:bodyPr/>
                    <a:lstStyle/>
                    <a:p>
                      <a:pPr algn="ctr"/>
                      <a:r>
                        <a:rPr lang="es-ES" sz="1600" dirty="0">
                          <a:latin typeface="Arial Narrow" pitchFamily="34" charset="0"/>
                        </a:rPr>
                        <a:t>18</a:t>
                      </a:r>
                      <a:endParaRPr lang="es-PE" sz="1600" dirty="0">
                        <a:latin typeface="Arial Narrow" pitchFamily="34" charset="0"/>
                      </a:endParaRPr>
                    </a:p>
                  </a:txBody>
                  <a:tcPr/>
                </a:tc>
                <a:tc>
                  <a:txBody>
                    <a:bodyPr/>
                    <a:lstStyle/>
                    <a:p>
                      <a:pPr algn="ctr"/>
                      <a:r>
                        <a:rPr lang="es-ES" sz="1600" dirty="0">
                          <a:latin typeface="Arial Narrow" pitchFamily="34" charset="0"/>
                        </a:rPr>
                        <a:t>20</a:t>
                      </a:r>
                      <a:endParaRPr lang="es-PE" sz="1600" dirty="0">
                        <a:latin typeface="Arial Narrow" pitchFamily="34" charset="0"/>
                      </a:endParaRPr>
                    </a:p>
                  </a:txBody>
                  <a:tcPr/>
                </a:tc>
                <a:tc>
                  <a:txBody>
                    <a:bodyPr/>
                    <a:lstStyle/>
                    <a:p>
                      <a:pPr algn="ctr"/>
                      <a:r>
                        <a:rPr lang="es-ES" sz="1600" dirty="0">
                          <a:latin typeface="Arial Narrow" pitchFamily="34" charset="0"/>
                        </a:rPr>
                        <a:t>1</a:t>
                      </a:r>
                      <a:endParaRPr lang="es-PE" sz="1600" dirty="0">
                        <a:latin typeface="Arial Narrow" pitchFamily="34" charset="0"/>
                      </a:endParaRPr>
                    </a:p>
                  </a:txBody>
                  <a:tcPr/>
                </a:tc>
                <a:tc>
                  <a:txBody>
                    <a:bodyPr/>
                    <a:lstStyle/>
                    <a:p>
                      <a:pPr algn="ctr"/>
                      <a:r>
                        <a:rPr lang="es-ES" sz="1600" dirty="0">
                          <a:latin typeface="Arial Narrow" pitchFamily="34" charset="0"/>
                        </a:rPr>
                        <a:t>1</a:t>
                      </a:r>
                      <a:endParaRPr lang="es-PE" sz="1600" dirty="0">
                        <a:latin typeface="Arial Narrow" pitchFamily="34" charset="0"/>
                      </a:endParaRPr>
                    </a:p>
                  </a:txBody>
                  <a:tcPr/>
                </a:tc>
                <a:tc>
                  <a:txBody>
                    <a:bodyPr/>
                    <a:lstStyle/>
                    <a:p>
                      <a:pPr algn="ctr"/>
                      <a:r>
                        <a:rPr lang="es-PE" sz="1600" dirty="0">
                          <a:latin typeface="Arial Narrow" pitchFamily="34" charset="0"/>
                        </a:rPr>
                        <a:t>∞</a:t>
                      </a:r>
                    </a:p>
                  </a:txBody>
                  <a:tcPr/>
                </a:tc>
                <a:tc>
                  <a:txBody>
                    <a:bodyPr/>
                    <a:lstStyle/>
                    <a:p>
                      <a:pPr algn="ctr"/>
                      <a:r>
                        <a:rPr lang="es-ES" sz="1600" dirty="0">
                          <a:latin typeface="Arial Narrow" pitchFamily="34" charset="0"/>
                        </a:rPr>
                        <a:t>4</a:t>
                      </a:r>
                      <a:endParaRPr lang="es-PE" sz="1600" dirty="0">
                        <a:latin typeface="Arial Narrow" pitchFamily="34" charset="0"/>
                      </a:endParaRPr>
                    </a:p>
                  </a:txBody>
                  <a:tcPr/>
                </a:tc>
                <a:extLst>
                  <a:ext uri="{0D108BD9-81ED-4DB2-BD59-A6C34878D82A}">
                    <a16:rowId xmlns:a16="http://schemas.microsoft.com/office/drawing/2014/main" val="10002"/>
                  </a:ext>
                </a:extLst>
              </a:tr>
              <a:tr h="322201">
                <a:tc>
                  <a:txBody>
                    <a:bodyPr/>
                    <a:lstStyle/>
                    <a:p>
                      <a:pPr algn="ctr"/>
                      <a:endParaRPr lang="es-PE" sz="1600">
                        <a:latin typeface="Arial Narrow" pitchFamily="34" charset="0"/>
                      </a:endParaRPr>
                    </a:p>
                  </a:txBody>
                  <a:tcPr/>
                </a:tc>
                <a:tc>
                  <a:txBody>
                    <a:bodyPr/>
                    <a:lstStyle/>
                    <a:p>
                      <a:pPr algn="ctr"/>
                      <a:endParaRPr lang="es-PE" sz="1600" dirty="0">
                        <a:latin typeface="Arial Narrow" pitchFamily="34" charset="0"/>
                      </a:endParaRPr>
                    </a:p>
                  </a:txBody>
                  <a:tcPr/>
                </a:tc>
                <a:tc>
                  <a:txBody>
                    <a:bodyPr/>
                    <a:lstStyle/>
                    <a:p>
                      <a:pPr algn="ctr"/>
                      <a:endParaRPr lang="es-PE" sz="1600" dirty="0">
                        <a:latin typeface="Arial Narrow" pitchFamily="34" charset="0"/>
                      </a:endParaRPr>
                    </a:p>
                  </a:txBody>
                  <a:tcPr/>
                </a:tc>
                <a:tc>
                  <a:txBody>
                    <a:bodyPr/>
                    <a:lstStyle/>
                    <a:p>
                      <a:pPr algn="ctr"/>
                      <a:endParaRPr lang="es-PE" sz="1600">
                        <a:latin typeface="Arial Narrow" pitchFamily="34" charset="0"/>
                      </a:endParaRPr>
                    </a:p>
                  </a:txBody>
                  <a:tcPr/>
                </a:tc>
                <a:tc>
                  <a:txBody>
                    <a:bodyPr/>
                    <a:lstStyle/>
                    <a:p>
                      <a:pPr algn="ctr"/>
                      <a:r>
                        <a:rPr lang="es-ES" sz="1600" dirty="0">
                          <a:latin typeface="Arial Narrow" pitchFamily="34" charset="0"/>
                        </a:rPr>
                        <a:t>100</a:t>
                      </a:r>
                      <a:endParaRPr lang="es-PE" sz="1600" dirty="0">
                        <a:latin typeface="Arial Narrow" pitchFamily="34" charset="0"/>
                      </a:endParaRPr>
                    </a:p>
                  </a:txBody>
                  <a:tcPr/>
                </a:tc>
                <a:tc>
                  <a:txBody>
                    <a:bodyPr/>
                    <a:lstStyle/>
                    <a:p>
                      <a:pPr algn="ctr"/>
                      <a:r>
                        <a:rPr lang="es-ES" sz="1600" dirty="0">
                          <a:latin typeface="Arial Narrow" pitchFamily="34" charset="0"/>
                        </a:rPr>
                        <a:t>80</a:t>
                      </a:r>
                      <a:endParaRPr lang="es-PE" sz="1600" dirty="0">
                        <a:latin typeface="Arial Narrow" pitchFamily="34" charset="0"/>
                      </a:endParaRPr>
                    </a:p>
                  </a:txBody>
                  <a:tcPr/>
                </a:tc>
                <a:tc>
                  <a:txBody>
                    <a:bodyPr/>
                    <a:lstStyle/>
                    <a:p>
                      <a:pPr algn="ctr"/>
                      <a:endParaRPr lang="es-PE" sz="1600" dirty="0">
                        <a:latin typeface="Arial Narrow" pitchFamily="34" charset="0"/>
                      </a:endParaRPr>
                    </a:p>
                  </a:txBody>
                  <a:tcPr/>
                </a:tc>
                <a:tc>
                  <a:txBody>
                    <a:bodyPr/>
                    <a:lstStyle/>
                    <a:p>
                      <a:pPr algn="ctr"/>
                      <a:endParaRPr lang="es-PE" sz="1600" dirty="0">
                        <a:latin typeface="Arial Narrow" pitchFamily="34" charset="0"/>
                      </a:endParaRPr>
                    </a:p>
                  </a:txBody>
                  <a:tcPr/>
                </a:tc>
                <a:extLst>
                  <a:ext uri="{0D108BD9-81ED-4DB2-BD59-A6C34878D82A}">
                    <a16:rowId xmlns:a16="http://schemas.microsoft.com/office/drawing/2014/main" val="10003"/>
                  </a:ext>
                </a:extLst>
              </a:tr>
            </a:tbl>
          </a:graphicData>
        </a:graphic>
      </p:graphicFrame>
      <p:sp>
        <p:nvSpPr>
          <p:cNvPr id="4" name="4 Rectángulo">
            <a:extLst>
              <a:ext uri="{FF2B5EF4-FFF2-40B4-BE49-F238E27FC236}">
                <a16:creationId xmlns:a16="http://schemas.microsoft.com/office/drawing/2014/main" id="{8BF47A9B-1D51-4020-A717-F2E126DBA2CD}"/>
              </a:ext>
            </a:extLst>
          </p:cNvPr>
          <p:cNvSpPr/>
          <p:nvPr/>
        </p:nvSpPr>
        <p:spPr>
          <a:xfrm>
            <a:off x="6219646" y="2881812"/>
            <a:ext cx="5772108" cy="830997"/>
          </a:xfrm>
          <a:prstGeom prst="rect">
            <a:avLst/>
          </a:prstGeom>
          <a:solidFill>
            <a:schemeClr val="accent3">
              <a:lumMod val="20000"/>
              <a:lumOff val="80000"/>
            </a:schemeClr>
          </a:solidFill>
        </p:spPr>
        <p:txBody>
          <a:bodyPr wrap="square">
            <a:spAutoFit/>
          </a:bodyPr>
          <a:lstStyle/>
          <a:p>
            <a:pPr>
              <a:defRPr/>
            </a:pPr>
            <a:r>
              <a:rPr lang="es-ES_tradnl" sz="2400" b="1" dirty="0">
                <a:solidFill>
                  <a:srgbClr val="FF0000"/>
                </a:solidFill>
              </a:rPr>
              <a:t>I Identificación de las variable</a:t>
            </a:r>
          </a:p>
          <a:p>
            <a:pPr>
              <a:defRPr/>
            </a:pPr>
            <a:r>
              <a:rPr lang="es-ES_tradnl" sz="2400" b="1" dirty="0"/>
              <a:t>Xi= Números de juguetes tipo i  (i=1,2)</a:t>
            </a:r>
          </a:p>
        </p:txBody>
      </p:sp>
      <p:sp>
        <p:nvSpPr>
          <p:cNvPr id="2" name="Rectángulo 1">
            <a:extLst>
              <a:ext uri="{FF2B5EF4-FFF2-40B4-BE49-F238E27FC236}">
                <a16:creationId xmlns:a16="http://schemas.microsoft.com/office/drawing/2014/main" id="{BB3089CC-E530-4BA6-8F13-5E47D806ED89}"/>
              </a:ext>
            </a:extLst>
          </p:cNvPr>
          <p:cNvSpPr/>
          <p:nvPr/>
        </p:nvSpPr>
        <p:spPr>
          <a:xfrm>
            <a:off x="6208143" y="4519135"/>
            <a:ext cx="5765321" cy="1938992"/>
          </a:xfrm>
          <a:prstGeom prst="rect">
            <a:avLst/>
          </a:prstGeom>
          <a:solidFill>
            <a:schemeClr val="accent3">
              <a:lumMod val="20000"/>
              <a:lumOff val="80000"/>
            </a:schemeClr>
          </a:solidFill>
        </p:spPr>
        <p:txBody>
          <a:bodyPr wrap="square">
            <a:spAutoFit/>
          </a:bodyPr>
          <a:lstStyle/>
          <a:p>
            <a:pPr>
              <a:defRPr/>
            </a:pPr>
            <a:r>
              <a:rPr lang="es-ES_tradnl" sz="2400" b="1" dirty="0">
                <a:solidFill>
                  <a:srgbClr val="FF0000"/>
                </a:solidFill>
              </a:rPr>
              <a:t>III Identificación de las restricciones</a:t>
            </a:r>
          </a:p>
          <a:p>
            <a:pPr>
              <a:defRPr/>
            </a:pPr>
            <a:r>
              <a:rPr lang="es-ES_tradnl" sz="2400" b="1" dirty="0" err="1"/>
              <a:t>2X1+1X2</a:t>
            </a:r>
            <a:r>
              <a:rPr lang="es-ES_tradnl" sz="2400" b="1" dirty="0"/>
              <a:t> ≤ 100</a:t>
            </a:r>
          </a:p>
          <a:p>
            <a:pPr>
              <a:defRPr/>
            </a:pPr>
            <a:r>
              <a:rPr lang="es-ES_tradnl" sz="2400" b="1" dirty="0"/>
              <a:t>  </a:t>
            </a:r>
            <a:r>
              <a:rPr lang="es-ES_tradnl" sz="2400" b="1" dirty="0" err="1"/>
              <a:t>X1</a:t>
            </a:r>
            <a:r>
              <a:rPr lang="es-ES_tradnl" sz="2400" b="1" dirty="0"/>
              <a:t> + </a:t>
            </a:r>
            <a:r>
              <a:rPr lang="es-ES_tradnl" sz="2400" b="1" dirty="0" err="1"/>
              <a:t>X2</a:t>
            </a:r>
            <a:r>
              <a:rPr lang="es-ES_tradnl" sz="2400" b="1" dirty="0"/>
              <a:t> ≤  80</a:t>
            </a:r>
          </a:p>
          <a:p>
            <a:pPr>
              <a:defRPr/>
            </a:pPr>
            <a:r>
              <a:rPr lang="es-ES_tradnl" sz="2400" b="1" dirty="0"/>
              <a:t>           </a:t>
            </a:r>
            <a:r>
              <a:rPr lang="es-ES_tradnl" sz="2400" b="1" dirty="0" err="1"/>
              <a:t>X1</a:t>
            </a:r>
            <a:r>
              <a:rPr lang="es-ES_tradnl" sz="2400" b="1" dirty="0"/>
              <a:t> ≤  40</a:t>
            </a:r>
          </a:p>
          <a:p>
            <a:pPr>
              <a:defRPr/>
            </a:pPr>
            <a:r>
              <a:rPr lang="es-ES_tradnl" sz="2400" b="1" dirty="0"/>
              <a:t>    </a:t>
            </a:r>
            <a:r>
              <a:rPr lang="es-ES_tradnl" sz="2400" b="1" dirty="0" err="1"/>
              <a:t>X1</a:t>
            </a:r>
            <a:r>
              <a:rPr lang="es-ES_tradnl" sz="2400" b="1" dirty="0"/>
              <a:t>, </a:t>
            </a:r>
            <a:r>
              <a:rPr lang="es-ES_tradnl" sz="2400" b="1" dirty="0" err="1"/>
              <a:t>X2</a:t>
            </a:r>
            <a:r>
              <a:rPr lang="es-ES_tradnl" sz="2400" b="1" dirty="0"/>
              <a:t> ≥ 0, </a:t>
            </a:r>
            <a:r>
              <a:rPr lang="es-ES_tradnl" sz="2400" b="1" dirty="0">
                <a:solidFill>
                  <a:srgbClr val="FF0000"/>
                </a:solidFill>
              </a:rPr>
              <a:t>Enteras</a:t>
            </a:r>
          </a:p>
        </p:txBody>
      </p:sp>
      <p:sp>
        <p:nvSpPr>
          <p:cNvPr id="5" name="Rectángulo 4">
            <a:extLst>
              <a:ext uri="{FF2B5EF4-FFF2-40B4-BE49-F238E27FC236}">
                <a16:creationId xmlns:a16="http://schemas.microsoft.com/office/drawing/2014/main" id="{0611A83D-71D4-4884-9B0B-7CBEB2A657BC}"/>
              </a:ext>
            </a:extLst>
          </p:cNvPr>
          <p:cNvSpPr/>
          <p:nvPr/>
        </p:nvSpPr>
        <p:spPr>
          <a:xfrm>
            <a:off x="6222521" y="3692432"/>
            <a:ext cx="5759570" cy="830997"/>
          </a:xfrm>
          <a:prstGeom prst="rect">
            <a:avLst/>
          </a:prstGeom>
          <a:solidFill>
            <a:schemeClr val="accent3">
              <a:lumMod val="20000"/>
              <a:lumOff val="80000"/>
            </a:schemeClr>
          </a:solidFill>
        </p:spPr>
        <p:txBody>
          <a:bodyPr wrap="square">
            <a:spAutoFit/>
          </a:bodyPr>
          <a:lstStyle/>
          <a:p>
            <a:pPr>
              <a:defRPr/>
            </a:pPr>
            <a:r>
              <a:rPr lang="es-ES_tradnl" sz="2400" b="1" dirty="0">
                <a:solidFill>
                  <a:srgbClr val="FF0000"/>
                </a:solidFill>
              </a:rPr>
              <a:t>II Identificación de la </a:t>
            </a:r>
            <a:r>
              <a:rPr lang="es-ES_tradnl" sz="2400" b="1" dirty="0" err="1">
                <a:solidFill>
                  <a:srgbClr val="FF0000"/>
                </a:solidFill>
              </a:rPr>
              <a:t>funcion</a:t>
            </a:r>
            <a:r>
              <a:rPr lang="es-ES_tradnl" sz="2400" b="1" dirty="0">
                <a:solidFill>
                  <a:srgbClr val="FF0000"/>
                </a:solidFill>
              </a:rPr>
              <a:t> objetivo</a:t>
            </a:r>
          </a:p>
          <a:p>
            <a:pPr>
              <a:defRPr/>
            </a:pPr>
            <a:r>
              <a:rPr lang="es-ES_tradnl" sz="2400" b="1" dirty="0"/>
              <a:t>MAX </a:t>
            </a:r>
            <a:r>
              <a:rPr lang="es-ES_tradnl" sz="2400" b="1" dirty="0" err="1"/>
              <a:t>6X1</a:t>
            </a:r>
            <a:r>
              <a:rPr lang="es-ES_tradnl" sz="2400" b="1" dirty="0"/>
              <a:t> + </a:t>
            </a:r>
            <a:r>
              <a:rPr lang="es-ES_tradnl" sz="2400" b="1" dirty="0" err="1"/>
              <a:t>4X2</a:t>
            </a:r>
            <a:endParaRPr lang="es-ES_tradnl" sz="2400" b="1" i="1" dirty="0"/>
          </a:p>
        </p:txBody>
      </p:sp>
      <p:sp>
        <p:nvSpPr>
          <p:cNvPr id="7" name="Rectangle 2">
            <a:extLst>
              <a:ext uri="{FF2B5EF4-FFF2-40B4-BE49-F238E27FC236}">
                <a16:creationId xmlns:a16="http://schemas.microsoft.com/office/drawing/2014/main" id="{F863B3C4-A2A2-48D4-A6EA-2DA1853DE6C1}"/>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10</a:t>
            </a:r>
          </a:p>
        </p:txBody>
      </p:sp>
    </p:spTree>
    <p:extLst>
      <p:ext uri="{BB962C8B-B14F-4D97-AF65-F5344CB8AC3E}">
        <p14:creationId xmlns:p14="http://schemas.microsoft.com/office/powerpoint/2010/main" val="28438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animBg="1"/>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rma libre: forma 44">
            <a:extLst>
              <a:ext uri="{FF2B5EF4-FFF2-40B4-BE49-F238E27FC236}">
                <a16:creationId xmlns:a16="http://schemas.microsoft.com/office/drawing/2014/main" id="{D7D46C87-D24A-43C0-A5A8-50115D3C0499}"/>
              </a:ext>
            </a:extLst>
          </p:cNvPr>
          <p:cNvSpPr/>
          <p:nvPr/>
        </p:nvSpPr>
        <p:spPr>
          <a:xfrm>
            <a:off x="1257300" y="2371725"/>
            <a:ext cx="1152525" cy="2152650"/>
          </a:xfrm>
          <a:custGeom>
            <a:avLst/>
            <a:gdLst>
              <a:gd name="connsiteX0" fmla="*/ 9525 w 1152525"/>
              <a:gd name="connsiteY0" fmla="*/ 0 h 2152650"/>
              <a:gd name="connsiteX1" fmla="*/ 0 w 1152525"/>
              <a:gd name="connsiteY1" fmla="*/ 2143125 h 2152650"/>
              <a:gd name="connsiteX2" fmla="*/ 1152525 w 1152525"/>
              <a:gd name="connsiteY2" fmla="*/ 2152650 h 2152650"/>
              <a:gd name="connsiteX3" fmla="*/ 1152525 w 1152525"/>
              <a:gd name="connsiteY3" fmla="*/ 1628775 h 2152650"/>
              <a:gd name="connsiteX4" fmla="*/ 590550 w 1152525"/>
              <a:gd name="connsiteY4" fmla="*/ 533400 h 2152650"/>
              <a:gd name="connsiteX5" fmla="*/ 9525 w 1152525"/>
              <a:gd name="connsiteY5" fmla="*/ 0 h 2152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2525" h="2152650">
                <a:moveTo>
                  <a:pt x="9525" y="0"/>
                </a:moveTo>
                <a:lnTo>
                  <a:pt x="0" y="2143125"/>
                </a:lnTo>
                <a:lnTo>
                  <a:pt x="1152525" y="2152650"/>
                </a:lnTo>
                <a:lnTo>
                  <a:pt x="1152525" y="1628775"/>
                </a:lnTo>
                <a:lnTo>
                  <a:pt x="590550" y="533400"/>
                </a:lnTo>
                <a:lnTo>
                  <a:pt x="9525" y="0"/>
                </a:lnTo>
                <a:close/>
              </a:path>
            </a:pathLst>
          </a:cu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PE"/>
          </a:p>
        </p:txBody>
      </p:sp>
      <p:cxnSp>
        <p:nvCxnSpPr>
          <p:cNvPr id="9" name="8 Conector recto de flecha"/>
          <p:cNvCxnSpPr/>
          <p:nvPr/>
        </p:nvCxnSpPr>
        <p:spPr>
          <a:xfrm flipV="1">
            <a:off x="1264185" y="1490562"/>
            <a:ext cx="0" cy="354858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 name="3 Conector recto"/>
          <p:cNvCxnSpPr/>
          <p:nvPr/>
        </p:nvCxnSpPr>
        <p:spPr>
          <a:xfrm>
            <a:off x="2409910" y="1837235"/>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5 Conector recto"/>
          <p:cNvCxnSpPr/>
          <p:nvPr/>
        </p:nvCxnSpPr>
        <p:spPr>
          <a:xfrm>
            <a:off x="3562038" y="1837235"/>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6 Conector recto"/>
          <p:cNvCxnSpPr>
            <a:cxnSpLocks/>
          </p:cNvCxnSpPr>
          <p:nvPr/>
        </p:nvCxnSpPr>
        <p:spPr>
          <a:xfrm>
            <a:off x="5130" y="2342923"/>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7 Conector recto de flecha"/>
          <p:cNvCxnSpPr/>
          <p:nvPr/>
        </p:nvCxnSpPr>
        <p:spPr>
          <a:xfrm flipV="1">
            <a:off x="279337" y="4502225"/>
            <a:ext cx="5489057" cy="94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p:cNvCxnSpPr/>
          <p:nvPr/>
        </p:nvCxnSpPr>
        <p:spPr>
          <a:xfrm>
            <a:off x="1041758" y="4503163"/>
            <a:ext cx="36724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10 Conector recto"/>
          <p:cNvCxnSpPr>
            <a:cxnSpLocks/>
          </p:cNvCxnSpPr>
          <p:nvPr/>
        </p:nvCxnSpPr>
        <p:spPr>
          <a:xfrm>
            <a:off x="5130" y="3448814"/>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11 Conector recto"/>
          <p:cNvCxnSpPr>
            <a:cxnSpLocks/>
          </p:cNvCxnSpPr>
          <p:nvPr/>
        </p:nvCxnSpPr>
        <p:spPr>
          <a:xfrm>
            <a:off x="-7971" y="1766859"/>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12 Conector recto"/>
          <p:cNvCxnSpPr>
            <a:cxnSpLocks/>
          </p:cNvCxnSpPr>
          <p:nvPr/>
        </p:nvCxnSpPr>
        <p:spPr>
          <a:xfrm>
            <a:off x="0" y="2918987"/>
            <a:ext cx="41882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13 Conector recto"/>
          <p:cNvCxnSpPr>
            <a:cxnSpLocks/>
          </p:cNvCxnSpPr>
          <p:nvPr/>
        </p:nvCxnSpPr>
        <p:spPr>
          <a:xfrm>
            <a:off x="0" y="3994754"/>
            <a:ext cx="41882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14 Conector recto"/>
          <p:cNvCxnSpPr/>
          <p:nvPr/>
        </p:nvCxnSpPr>
        <p:spPr>
          <a:xfrm>
            <a:off x="2985974" y="1837235"/>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16 Conector recto"/>
          <p:cNvCxnSpPr/>
          <p:nvPr/>
        </p:nvCxnSpPr>
        <p:spPr>
          <a:xfrm>
            <a:off x="1833846" y="1815859"/>
            <a:ext cx="0" cy="3070523"/>
          </a:xfrm>
          <a:prstGeom prst="line">
            <a:avLst/>
          </a:prstGeom>
        </p:spPr>
        <p:style>
          <a:lnRef idx="1">
            <a:schemeClr val="accent1"/>
          </a:lnRef>
          <a:fillRef idx="0">
            <a:schemeClr val="accent1"/>
          </a:fillRef>
          <a:effectRef idx="0">
            <a:schemeClr val="accent1"/>
          </a:effectRef>
          <a:fontRef idx="minor">
            <a:schemeClr val="tx1"/>
          </a:fontRef>
        </p:style>
      </p:cxnSp>
      <p:sp>
        <p:nvSpPr>
          <p:cNvPr id="18" name="17 CuadroTexto"/>
          <p:cNvSpPr txBox="1"/>
          <p:nvPr/>
        </p:nvSpPr>
        <p:spPr>
          <a:xfrm>
            <a:off x="407166" y="1550835"/>
            <a:ext cx="778609" cy="2862322"/>
          </a:xfrm>
          <a:prstGeom prst="rect">
            <a:avLst/>
          </a:prstGeom>
          <a:noFill/>
        </p:spPr>
        <p:txBody>
          <a:bodyPr wrap="square" rtlCol="0">
            <a:spAutoFit/>
          </a:bodyPr>
          <a:lstStyle/>
          <a:p>
            <a:pPr algn="r"/>
            <a:r>
              <a:rPr lang="es-PE" b="1" dirty="0">
                <a:latin typeface="Arial Narrow" pitchFamily="34" charset="0"/>
              </a:rPr>
              <a:t>100</a:t>
            </a:r>
          </a:p>
          <a:p>
            <a:pPr algn="r"/>
            <a:endParaRPr lang="es-PE" b="1" dirty="0">
              <a:latin typeface="Arial Narrow" pitchFamily="34" charset="0"/>
            </a:endParaRPr>
          </a:p>
          <a:p>
            <a:pPr algn="r"/>
            <a:r>
              <a:rPr lang="es-PE" b="1" dirty="0">
                <a:latin typeface="Arial Narrow" pitchFamily="34" charset="0"/>
              </a:rPr>
              <a:t>80</a:t>
            </a:r>
          </a:p>
          <a:p>
            <a:pPr algn="r"/>
            <a:endParaRPr lang="es-PE" b="1" dirty="0">
              <a:latin typeface="Arial Narrow" pitchFamily="34" charset="0"/>
            </a:endParaRPr>
          </a:p>
          <a:p>
            <a:pPr algn="r"/>
            <a:r>
              <a:rPr lang="es-PE" b="1" dirty="0">
                <a:latin typeface="Arial Narrow" pitchFamily="34" charset="0"/>
              </a:rPr>
              <a:t>60</a:t>
            </a:r>
          </a:p>
          <a:p>
            <a:pPr algn="r"/>
            <a:endParaRPr lang="es-PE" b="1" dirty="0">
              <a:latin typeface="Arial Narrow" pitchFamily="34" charset="0"/>
            </a:endParaRPr>
          </a:p>
          <a:p>
            <a:pPr algn="r"/>
            <a:r>
              <a:rPr lang="es-PE" b="1" dirty="0">
                <a:latin typeface="Arial Narrow" pitchFamily="34" charset="0"/>
              </a:rPr>
              <a:t>40</a:t>
            </a:r>
          </a:p>
          <a:p>
            <a:pPr algn="r"/>
            <a:endParaRPr lang="es-PE" b="1" dirty="0">
              <a:latin typeface="Arial Narrow" pitchFamily="34" charset="0"/>
            </a:endParaRPr>
          </a:p>
          <a:p>
            <a:pPr algn="r"/>
            <a:r>
              <a:rPr lang="es-PE" b="1" dirty="0">
                <a:latin typeface="Arial Narrow" pitchFamily="34" charset="0"/>
              </a:rPr>
              <a:t>20</a:t>
            </a:r>
          </a:p>
          <a:p>
            <a:pPr algn="r"/>
            <a:endParaRPr lang="es-PE" b="1" dirty="0">
              <a:latin typeface="Arial Narrow" pitchFamily="34" charset="0"/>
            </a:endParaRPr>
          </a:p>
        </p:txBody>
      </p:sp>
      <p:sp>
        <p:nvSpPr>
          <p:cNvPr id="19" name="18 CuadroTexto"/>
          <p:cNvSpPr txBox="1"/>
          <p:nvPr/>
        </p:nvSpPr>
        <p:spPr>
          <a:xfrm>
            <a:off x="1574160" y="4503332"/>
            <a:ext cx="4364142" cy="369332"/>
          </a:xfrm>
          <a:prstGeom prst="rect">
            <a:avLst/>
          </a:prstGeom>
          <a:noFill/>
        </p:spPr>
        <p:txBody>
          <a:bodyPr wrap="square" rtlCol="0">
            <a:spAutoFit/>
          </a:bodyPr>
          <a:lstStyle/>
          <a:p>
            <a:r>
              <a:rPr lang="es-PE" dirty="0"/>
              <a:t> 20      40      60      80     100     120     </a:t>
            </a:r>
          </a:p>
        </p:txBody>
      </p:sp>
      <p:cxnSp>
        <p:nvCxnSpPr>
          <p:cNvPr id="23" name="22 Conector recto de flecha"/>
          <p:cNvCxnSpPr>
            <a:cxnSpLocks/>
          </p:cNvCxnSpPr>
          <p:nvPr/>
        </p:nvCxnSpPr>
        <p:spPr>
          <a:xfrm flipH="1">
            <a:off x="885825" y="1743033"/>
            <a:ext cx="370393" cy="228642"/>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4" name="23 Conector recto de flecha"/>
          <p:cNvCxnSpPr/>
          <p:nvPr/>
        </p:nvCxnSpPr>
        <p:spPr>
          <a:xfrm flipH="1">
            <a:off x="4031174" y="5127615"/>
            <a:ext cx="207086" cy="250984"/>
          </a:xfrm>
          <a:prstGeom prst="straightConnector1">
            <a:avLst/>
          </a:prstGeom>
          <a:ln w="2540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25" name="24 Elipse"/>
          <p:cNvSpPr/>
          <p:nvPr/>
        </p:nvSpPr>
        <p:spPr>
          <a:xfrm>
            <a:off x="1240531" y="445744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25 Elipse"/>
          <p:cNvSpPr/>
          <p:nvPr/>
        </p:nvSpPr>
        <p:spPr>
          <a:xfrm>
            <a:off x="1227103" y="421513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26 Elipse"/>
          <p:cNvSpPr/>
          <p:nvPr/>
        </p:nvSpPr>
        <p:spPr>
          <a:xfrm>
            <a:off x="1238966" y="396460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8" name="27 Elipse"/>
          <p:cNvSpPr/>
          <p:nvPr/>
        </p:nvSpPr>
        <p:spPr>
          <a:xfrm>
            <a:off x="2346384" y="420957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9" name="28 Elipse"/>
          <p:cNvSpPr/>
          <p:nvPr/>
        </p:nvSpPr>
        <p:spPr>
          <a:xfrm>
            <a:off x="2092454" y="42196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0" name="29 Elipse"/>
          <p:cNvSpPr/>
          <p:nvPr/>
        </p:nvSpPr>
        <p:spPr>
          <a:xfrm>
            <a:off x="1528441" y="422677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1" name="30 Elipse"/>
          <p:cNvSpPr/>
          <p:nvPr/>
        </p:nvSpPr>
        <p:spPr>
          <a:xfrm>
            <a:off x="1833847" y="421703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2" name="31 Elipse"/>
          <p:cNvSpPr/>
          <p:nvPr/>
        </p:nvSpPr>
        <p:spPr>
          <a:xfrm>
            <a:off x="2369244" y="446376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32 Elipse"/>
          <p:cNvSpPr/>
          <p:nvPr/>
        </p:nvSpPr>
        <p:spPr>
          <a:xfrm>
            <a:off x="2086797" y="446469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4" name="33 Elipse"/>
          <p:cNvSpPr/>
          <p:nvPr/>
        </p:nvSpPr>
        <p:spPr>
          <a:xfrm>
            <a:off x="1245179" y="368519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5" name="34 Elipse"/>
          <p:cNvSpPr/>
          <p:nvPr/>
        </p:nvSpPr>
        <p:spPr>
          <a:xfrm>
            <a:off x="1833847" y="447936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35 Elipse"/>
          <p:cNvSpPr/>
          <p:nvPr/>
        </p:nvSpPr>
        <p:spPr>
          <a:xfrm>
            <a:off x="1528442" y="445650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36 Elipse"/>
          <p:cNvSpPr/>
          <p:nvPr/>
        </p:nvSpPr>
        <p:spPr>
          <a:xfrm>
            <a:off x="1250786" y="341296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37 Elipse"/>
          <p:cNvSpPr/>
          <p:nvPr/>
        </p:nvSpPr>
        <p:spPr>
          <a:xfrm>
            <a:off x="2371328" y="3991388"/>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38 Elipse"/>
          <p:cNvSpPr/>
          <p:nvPr/>
        </p:nvSpPr>
        <p:spPr>
          <a:xfrm>
            <a:off x="2100127" y="3968875"/>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39 Elipse"/>
          <p:cNvSpPr/>
          <p:nvPr/>
        </p:nvSpPr>
        <p:spPr>
          <a:xfrm>
            <a:off x="1528442" y="397323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1" name="40 Elipse"/>
          <p:cNvSpPr/>
          <p:nvPr/>
        </p:nvSpPr>
        <p:spPr>
          <a:xfrm>
            <a:off x="1833847" y="395338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41 Elipse"/>
          <p:cNvSpPr/>
          <p:nvPr/>
        </p:nvSpPr>
        <p:spPr>
          <a:xfrm>
            <a:off x="1262330" y="260792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3" name="42 Elipse"/>
          <p:cNvSpPr/>
          <p:nvPr/>
        </p:nvSpPr>
        <p:spPr>
          <a:xfrm>
            <a:off x="2388628" y="4481297"/>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4" name="43 Elipse"/>
          <p:cNvSpPr/>
          <p:nvPr/>
        </p:nvSpPr>
        <p:spPr>
          <a:xfrm>
            <a:off x="1238011" y="289256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51" name="50 Conector recto"/>
          <p:cNvCxnSpPr/>
          <p:nvPr/>
        </p:nvCxnSpPr>
        <p:spPr>
          <a:xfrm>
            <a:off x="1041758" y="2634948"/>
            <a:ext cx="1836204" cy="2490466"/>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54" name="53 Conector recto"/>
          <p:cNvCxnSpPr/>
          <p:nvPr/>
        </p:nvCxnSpPr>
        <p:spPr>
          <a:xfrm>
            <a:off x="3274006" y="1454563"/>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54 Conector recto"/>
          <p:cNvCxnSpPr/>
          <p:nvPr/>
        </p:nvCxnSpPr>
        <p:spPr>
          <a:xfrm>
            <a:off x="2697942" y="1439241"/>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55 Conector recto"/>
          <p:cNvCxnSpPr/>
          <p:nvPr/>
        </p:nvCxnSpPr>
        <p:spPr>
          <a:xfrm>
            <a:off x="2122434" y="1463087"/>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56 Conector recto"/>
          <p:cNvCxnSpPr/>
          <p:nvPr/>
        </p:nvCxnSpPr>
        <p:spPr>
          <a:xfrm>
            <a:off x="1551299" y="1498193"/>
            <a:ext cx="0" cy="3070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58 Conector recto"/>
          <p:cNvCxnSpPr>
            <a:cxnSpLocks/>
          </p:cNvCxnSpPr>
          <p:nvPr/>
        </p:nvCxnSpPr>
        <p:spPr>
          <a:xfrm>
            <a:off x="-6458" y="2054891"/>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59 Conector recto"/>
          <p:cNvCxnSpPr>
            <a:cxnSpLocks/>
          </p:cNvCxnSpPr>
          <p:nvPr/>
        </p:nvCxnSpPr>
        <p:spPr>
          <a:xfrm>
            <a:off x="5127" y="2630955"/>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60 Conector recto"/>
          <p:cNvCxnSpPr>
            <a:cxnSpLocks/>
          </p:cNvCxnSpPr>
          <p:nvPr/>
        </p:nvCxnSpPr>
        <p:spPr>
          <a:xfrm>
            <a:off x="18616" y="3152483"/>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61 Conector recto"/>
          <p:cNvCxnSpPr>
            <a:cxnSpLocks/>
          </p:cNvCxnSpPr>
          <p:nvPr/>
        </p:nvCxnSpPr>
        <p:spPr>
          <a:xfrm>
            <a:off x="5128" y="3702449"/>
            <a:ext cx="418309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62 Conector recto"/>
          <p:cNvCxnSpPr>
            <a:cxnSpLocks/>
          </p:cNvCxnSpPr>
          <p:nvPr/>
        </p:nvCxnSpPr>
        <p:spPr>
          <a:xfrm>
            <a:off x="0" y="4241311"/>
            <a:ext cx="4183093" cy="0"/>
          </a:xfrm>
          <a:prstGeom prst="line">
            <a:avLst/>
          </a:prstGeom>
        </p:spPr>
        <p:style>
          <a:lnRef idx="1">
            <a:schemeClr val="accent1"/>
          </a:lnRef>
          <a:fillRef idx="0">
            <a:schemeClr val="accent1"/>
          </a:fillRef>
          <a:effectRef idx="0">
            <a:schemeClr val="accent1"/>
          </a:effectRef>
          <a:fontRef idx="minor">
            <a:schemeClr val="tx1"/>
          </a:fontRef>
        </p:style>
      </p:cxnSp>
      <p:sp>
        <p:nvSpPr>
          <p:cNvPr id="64" name="63 Elipse"/>
          <p:cNvSpPr/>
          <p:nvPr/>
        </p:nvSpPr>
        <p:spPr>
          <a:xfrm>
            <a:off x="1528442" y="3678520"/>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5" name="64 Elipse"/>
          <p:cNvSpPr/>
          <p:nvPr/>
        </p:nvSpPr>
        <p:spPr>
          <a:xfrm>
            <a:off x="1816061" y="3430796"/>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6" name="65 Elipse"/>
          <p:cNvSpPr/>
          <p:nvPr/>
        </p:nvSpPr>
        <p:spPr>
          <a:xfrm>
            <a:off x="2112924" y="3673983"/>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7" name="66 Elipse"/>
          <p:cNvSpPr/>
          <p:nvPr/>
        </p:nvSpPr>
        <p:spPr>
          <a:xfrm>
            <a:off x="1816595" y="3701381"/>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68" name="67 Elipse"/>
          <p:cNvSpPr/>
          <p:nvPr/>
        </p:nvSpPr>
        <p:spPr>
          <a:xfrm>
            <a:off x="1257783" y="3135012"/>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77" name="76 Conector recto"/>
          <p:cNvCxnSpPr/>
          <p:nvPr/>
        </p:nvCxnSpPr>
        <p:spPr>
          <a:xfrm>
            <a:off x="2409910" y="2634949"/>
            <a:ext cx="0" cy="2588295"/>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9" name="78 Conector recto de flecha"/>
          <p:cNvCxnSpPr/>
          <p:nvPr/>
        </p:nvCxnSpPr>
        <p:spPr>
          <a:xfrm flipH="1">
            <a:off x="2170840" y="5223243"/>
            <a:ext cx="239071" cy="0"/>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86" name="85 Elipse"/>
          <p:cNvSpPr/>
          <p:nvPr/>
        </p:nvSpPr>
        <p:spPr>
          <a:xfrm>
            <a:off x="1545815" y="342304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7" name="96 Triángulo rectángulo"/>
          <p:cNvSpPr/>
          <p:nvPr/>
        </p:nvSpPr>
        <p:spPr>
          <a:xfrm>
            <a:off x="1275156" y="1815859"/>
            <a:ext cx="270658" cy="528698"/>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8" name="97 Triángulo rectángulo"/>
          <p:cNvSpPr/>
          <p:nvPr/>
        </p:nvSpPr>
        <p:spPr>
          <a:xfrm flipH="1" flipV="1">
            <a:off x="1244890" y="2358449"/>
            <a:ext cx="588957" cy="560539"/>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1" name="20 Conector recto"/>
          <p:cNvCxnSpPr/>
          <p:nvPr/>
        </p:nvCxnSpPr>
        <p:spPr>
          <a:xfrm>
            <a:off x="1227102" y="2342923"/>
            <a:ext cx="3011158" cy="2784692"/>
          </a:xfrm>
          <a:prstGeom prst="line">
            <a:avLst/>
          </a:prstGeom>
          <a:ln w="254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4" name="83 Conector recto"/>
          <p:cNvCxnSpPr/>
          <p:nvPr/>
        </p:nvCxnSpPr>
        <p:spPr>
          <a:xfrm>
            <a:off x="1636574" y="2630955"/>
            <a:ext cx="1836204" cy="2490466"/>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0" name="99 Rectángulo"/>
          <p:cNvSpPr/>
          <p:nvPr/>
        </p:nvSpPr>
        <p:spPr>
          <a:xfrm>
            <a:off x="6226314" y="5521763"/>
            <a:ext cx="3340379" cy="1323439"/>
          </a:xfrm>
          <a:prstGeom prst="rect">
            <a:avLst/>
          </a:prstGeom>
          <a:solidFill>
            <a:schemeClr val="accent3">
              <a:lumMod val="20000"/>
              <a:lumOff val="80000"/>
            </a:schemeClr>
          </a:solidFill>
        </p:spPr>
        <p:txBody>
          <a:bodyPr wrap="square">
            <a:spAutoFit/>
          </a:bodyPr>
          <a:lstStyle/>
          <a:p>
            <a:pPr algn="just"/>
            <a:r>
              <a:rPr lang="es-ES_tradnl" sz="2000" dirty="0">
                <a:latin typeface="Arial Narrow" pitchFamily="34" charset="0"/>
              </a:rPr>
              <a:t>Solución óptima:</a:t>
            </a:r>
          </a:p>
          <a:p>
            <a:pPr algn="just"/>
            <a:r>
              <a:rPr lang="es-ES_tradnl" sz="2000" dirty="0" err="1">
                <a:latin typeface="Arial Narrow" pitchFamily="34" charset="0"/>
              </a:rPr>
              <a:t>X1</a:t>
            </a:r>
            <a:r>
              <a:rPr lang="es-ES_tradnl" sz="2000" dirty="0">
                <a:latin typeface="Arial Narrow" pitchFamily="34" charset="0"/>
              </a:rPr>
              <a:t> = 20        </a:t>
            </a:r>
            <a:r>
              <a:rPr lang="es-ES_tradnl" sz="2000" dirty="0" err="1">
                <a:latin typeface="Arial Narrow" pitchFamily="34" charset="0"/>
              </a:rPr>
              <a:t>X2</a:t>
            </a:r>
            <a:r>
              <a:rPr lang="es-ES_tradnl" sz="2000" dirty="0">
                <a:latin typeface="Arial Narrow" pitchFamily="34" charset="0"/>
              </a:rPr>
              <a:t> = 60</a:t>
            </a:r>
          </a:p>
          <a:p>
            <a:pPr algn="just"/>
            <a:r>
              <a:rPr lang="es-ES_tradnl" sz="2000" dirty="0">
                <a:latin typeface="Arial Narrow" pitchFamily="34" charset="0"/>
              </a:rPr>
              <a:t>El valor de la </a:t>
            </a:r>
            <a:r>
              <a:rPr lang="es-ES_tradnl" sz="2000" dirty="0" err="1">
                <a:latin typeface="Arial Narrow" pitchFamily="34" charset="0"/>
              </a:rPr>
              <a:t>F.O</a:t>
            </a:r>
            <a:endParaRPr lang="es-ES_tradnl" sz="2000" dirty="0">
              <a:latin typeface="Arial Narrow" pitchFamily="34" charset="0"/>
            </a:endParaRPr>
          </a:p>
          <a:p>
            <a:pPr algn="just"/>
            <a:r>
              <a:rPr lang="es-ES_tradnl" sz="2000" dirty="0">
                <a:latin typeface="Arial Narrow" pitchFamily="34" charset="0"/>
              </a:rPr>
              <a:t>Z = 6(20)+4(60)=360 </a:t>
            </a:r>
          </a:p>
        </p:txBody>
      </p:sp>
      <p:sp>
        <p:nvSpPr>
          <p:cNvPr id="101" name="100 Rectángulo"/>
          <p:cNvSpPr/>
          <p:nvPr/>
        </p:nvSpPr>
        <p:spPr>
          <a:xfrm>
            <a:off x="3630301" y="1268759"/>
            <a:ext cx="2390937" cy="1938992"/>
          </a:xfrm>
          <a:prstGeom prst="rect">
            <a:avLst/>
          </a:prstGeom>
          <a:solidFill>
            <a:srgbClr val="FFFF00"/>
          </a:solidFill>
        </p:spPr>
        <p:txBody>
          <a:bodyPr wrap="square">
            <a:spAutoFit/>
          </a:bodyPr>
          <a:lstStyle/>
          <a:p>
            <a:r>
              <a:rPr lang="es-ES_tradnl" sz="2000" dirty="0">
                <a:latin typeface="Arial Narrow" pitchFamily="34" charset="0"/>
              </a:rPr>
              <a:t>Max   6 </a:t>
            </a:r>
            <a:r>
              <a:rPr lang="es-ES_tradnl" sz="2000" dirty="0" err="1">
                <a:latin typeface="Arial Narrow" pitchFamily="34" charset="0"/>
              </a:rPr>
              <a:t>X1</a:t>
            </a:r>
            <a:r>
              <a:rPr lang="es-ES_tradnl" sz="2000" dirty="0">
                <a:latin typeface="Arial Narrow" pitchFamily="34" charset="0"/>
              </a:rPr>
              <a:t> + 4 </a:t>
            </a:r>
            <a:r>
              <a:rPr lang="es-ES_tradnl" sz="2000" dirty="0" err="1">
                <a:latin typeface="Arial Narrow" pitchFamily="34" charset="0"/>
              </a:rPr>
              <a:t>X2</a:t>
            </a:r>
            <a:endParaRPr lang="es-ES_tradnl" sz="2000" dirty="0">
              <a:latin typeface="Arial Narrow" pitchFamily="34" charset="0"/>
            </a:endParaRPr>
          </a:p>
          <a:p>
            <a:r>
              <a:rPr lang="es-ES_tradnl" sz="2000" b="1" dirty="0">
                <a:solidFill>
                  <a:srgbClr val="FF0000"/>
                </a:solidFill>
                <a:latin typeface="Arial Narrow" pitchFamily="34" charset="0"/>
              </a:rPr>
              <a:t>Sujeto a</a:t>
            </a:r>
          </a:p>
          <a:p>
            <a:r>
              <a:rPr lang="es-ES_tradnl" sz="2000" dirty="0">
                <a:latin typeface="Arial Narrow" pitchFamily="34" charset="0"/>
              </a:rPr>
              <a:t>2 </a:t>
            </a:r>
            <a:r>
              <a:rPr lang="es-ES_tradnl" sz="2000" dirty="0" err="1">
                <a:latin typeface="Arial Narrow" pitchFamily="34" charset="0"/>
              </a:rPr>
              <a:t>X1</a:t>
            </a:r>
            <a:r>
              <a:rPr lang="es-ES_tradnl" sz="2000" dirty="0">
                <a:latin typeface="Arial Narrow" pitchFamily="34" charset="0"/>
              </a:rPr>
              <a:t> + </a:t>
            </a:r>
            <a:r>
              <a:rPr lang="es-ES_tradnl" sz="2000" dirty="0" err="1">
                <a:latin typeface="Arial Narrow" pitchFamily="34" charset="0"/>
              </a:rPr>
              <a:t>X2</a:t>
            </a:r>
            <a:r>
              <a:rPr lang="es-ES_tradnl" sz="2000" dirty="0">
                <a:latin typeface="Arial Narrow" pitchFamily="34" charset="0"/>
              </a:rPr>
              <a:t> ≤ 100</a:t>
            </a:r>
          </a:p>
          <a:p>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a:t>
            </a:r>
            <a:r>
              <a:rPr lang="es-ES_tradnl" sz="2000" dirty="0" err="1">
                <a:latin typeface="Arial Narrow" pitchFamily="34" charset="0"/>
              </a:rPr>
              <a:t>X2</a:t>
            </a:r>
            <a:r>
              <a:rPr lang="es-ES_tradnl" sz="2000" dirty="0">
                <a:latin typeface="Arial Narrow" pitchFamily="34" charset="0"/>
              </a:rPr>
              <a:t> ≤ 80 	</a:t>
            </a:r>
          </a:p>
          <a:p>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40</a:t>
            </a:r>
          </a:p>
          <a:p>
            <a:r>
              <a:rPr lang="es-ES_tradnl" sz="2000" dirty="0">
                <a:latin typeface="Arial Narrow" pitchFamily="34" charset="0"/>
              </a:rPr>
              <a:t>            Xi  ≥ 0   Enteras</a:t>
            </a:r>
            <a:endParaRPr lang="es-PE" sz="2000" dirty="0"/>
          </a:p>
        </p:txBody>
      </p:sp>
      <p:sp>
        <p:nvSpPr>
          <p:cNvPr id="2" name="1 CuadroTexto"/>
          <p:cNvSpPr txBox="1"/>
          <p:nvPr/>
        </p:nvSpPr>
        <p:spPr>
          <a:xfrm>
            <a:off x="796470" y="1152176"/>
            <a:ext cx="543165" cy="369332"/>
          </a:xfrm>
          <a:prstGeom prst="rect">
            <a:avLst/>
          </a:prstGeom>
          <a:noFill/>
        </p:spPr>
        <p:txBody>
          <a:bodyPr wrap="square" rtlCol="0">
            <a:spAutoFit/>
          </a:bodyPr>
          <a:lstStyle/>
          <a:p>
            <a:r>
              <a:rPr lang="es-ES" dirty="0" err="1">
                <a:solidFill>
                  <a:srgbClr val="FF0000"/>
                </a:solidFill>
              </a:rPr>
              <a:t>X2</a:t>
            </a:r>
            <a:endParaRPr lang="es-PE" dirty="0">
              <a:solidFill>
                <a:srgbClr val="FF0000"/>
              </a:solidFill>
            </a:endParaRPr>
          </a:p>
        </p:txBody>
      </p:sp>
      <p:sp>
        <p:nvSpPr>
          <p:cNvPr id="72" name="71 CuadroTexto"/>
          <p:cNvSpPr txBox="1"/>
          <p:nvPr/>
        </p:nvSpPr>
        <p:spPr>
          <a:xfrm>
            <a:off x="5496812" y="4536552"/>
            <a:ext cx="543165" cy="369332"/>
          </a:xfrm>
          <a:prstGeom prst="rect">
            <a:avLst/>
          </a:prstGeom>
          <a:noFill/>
        </p:spPr>
        <p:txBody>
          <a:bodyPr wrap="square" rtlCol="0">
            <a:spAutoFit/>
          </a:bodyPr>
          <a:lstStyle/>
          <a:p>
            <a:r>
              <a:rPr lang="es-ES" dirty="0" err="1">
                <a:solidFill>
                  <a:srgbClr val="FF0000"/>
                </a:solidFill>
              </a:rPr>
              <a:t>X1</a:t>
            </a:r>
            <a:endParaRPr lang="es-PE" dirty="0">
              <a:solidFill>
                <a:srgbClr val="FF0000"/>
              </a:solidFill>
            </a:endParaRPr>
          </a:p>
        </p:txBody>
      </p:sp>
      <p:cxnSp>
        <p:nvCxnSpPr>
          <p:cNvPr id="22" name="21 Conector recto"/>
          <p:cNvCxnSpPr/>
          <p:nvPr/>
        </p:nvCxnSpPr>
        <p:spPr>
          <a:xfrm>
            <a:off x="1171519" y="1593305"/>
            <a:ext cx="1926545" cy="374441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46 CuadroTexto"/>
          <p:cNvSpPr txBox="1"/>
          <p:nvPr/>
        </p:nvSpPr>
        <p:spPr>
          <a:xfrm>
            <a:off x="6182263" y="1315558"/>
            <a:ext cx="3436190" cy="1323439"/>
          </a:xfrm>
          <a:prstGeom prst="rect">
            <a:avLst/>
          </a:prstGeom>
          <a:solidFill>
            <a:schemeClr val="accent3">
              <a:lumMod val="20000"/>
              <a:lumOff val="80000"/>
            </a:schemeClr>
          </a:solidFill>
        </p:spPr>
        <p:txBody>
          <a:bodyPr wrap="square" rtlCol="0">
            <a:spAutoFit/>
          </a:bodyPr>
          <a:lstStyle/>
          <a:p>
            <a:r>
              <a:rPr lang="es-ES" sz="2000" dirty="0"/>
              <a:t>Graficando las restricciones</a:t>
            </a:r>
          </a:p>
          <a:p>
            <a:r>
              <a:rPr lang="es-ES_tradnl" sz="2000" dirty="0">
                <a:latin typeface="Arial Narrow" pitchFamily="34" charset="0"/>
              </a:rPr>
              <a:t>2 </a:t>
            </a:r>
            <a:r>
              <a:rPr lang="es-ES_tradnl" sz="2000" dirty="0" err="1">
                <a:latin typeface="Arial Narrow" pitchFamily="34" charset="0"/>
              </a:rPr>
              <a:t>X1</a:t>
            </a:r>
            <a:r>
              <a:rPr lang="es-ES_tradnl" sz="2000" dirty="0">
                <a:latin typeface="Arial Narrow" pitchFamily="34" charset="0"/>
              </a:rPr>
              <a:t> + </a:t>
            </a:r>
            <a:r>
              <a:rPr lang="es-ES_tradnl" sz="2000" dirty="0" err="1">
                <a:latin typeface="Arial Narrow" pitchFamily="34" charset="0"/>
              </a:rPr>
              <a:t>X2</a:t>
            </a:r>
            <a:r>
              <a:rPr lang="es-ES_tradnl" sz="2000" dirty="0">
                <a:latin typeface="Arial Narrow" pitchFamily="34" charset="0"/>
              </a:rPr>
              <a:t>  = 100     I</a:t>
            </a:r>
          </a:p>
          <a:p>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a:t>
            </a:r>
            <a:r>
              <a:rPr lang="es-ES_tradnl" sz="2000" dirty="0" err="1">
                <a:latin typeface="Arial Narrow" pitchFamily="34" charset="0"/>
              </a:rPr>
              <a:t>X2</a:t>
            </a:r>
            <a:r>
              <a:rPr lang="es-ES_tradnl" sz="2000" dirty="0">
                <a:latin typeface="Arial Narrow" pitchFamily="34" charset="0"/>
              </a:rPr>
              <a:t>  =   80     II </a:t>
            </a:r>
          </a:p>
          <a:p>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40     III</a:t>
            </a:r>
            <a:endParaRPr lang="es-PE" sz="2000" dirty="0"/>
          </a:p>
        </p:txBody>
      </p:sp>
      <p:sp>
        <p:nvSpPr>
          <p:cNvPr id="48" name="47 CuadroTexto"/>
          <p:cNvSpPr txBox="1"/>
          <p:nvPr/>
        </p:nvSpPr>
        <p:spPr>
          <a:xfrm>
            <a:off x="6190506" y="3956360"/>
            <a:ext cx="3402068" cy="1631216"/>
          </a:xfrm>
          <a:prstGeom prst="rect">
            <a:avLst/>
          </a:prstGeom>
          <a:solidFill>
            <a:schemeClr val="accent3">
              <a:lumMod val="20000"/>
              <a:lumOff val="80000"/>
            </a:schemeClr>
          </a:solidFill>
        </p:spPr>
        <p:txBody>
          <a:bodyPr wrap="square" rtlCol="0">
            <a:spAutoFit/>
          </a:bodyPr>
          <a:lstStyle/>
          <a:p>
            <a:r>
              <a:rPr lang="es-ES" sz="2000" dirty="0"/>
              <a:t>Hallando la Solución óptima</a:t>
            </a:r>
          </a:p>
          <a:p>
            <a:r>
              <a:rPr lang="es-ES" sz="2000" dirty="0" err="1"/>
              <a:t>2X1+X2</a:t>
            </a:r>
            <a:r>
              <a:rPr lang="es-ES" sz="2000" dirty="0"/>
              <a:t> =100     I</a:t>
            </a:r>
          </a:p>
          <a:p>
            <a:r>
              <a:rPr lang="es-ES" sz="2000" u="sng" dirty="0"/>
              <a:t>   </a:t>
            </a:r>
            <a:r>
              <a:rPr lang="es-ES" sz="2000" u="sng" dirty="0" err="1"/>
              <a:t>X1+X2</a:t>
            </a:r>
            <a:r>
              <a:rPr lang="es-ES" sz="2000" u="sng" dirty="0"/>
              <a:t>=  80    II</a:t>
            </a:r>
          </a:p>
          <a:p>
            <a:r>
              <a:rPr lang="es-ES" sz="2000" dirty="0"/>
              <a:t>          </a:t>
            </a:r>
            <a:r>
              <a:rPr lang="es-ES" sz="2000" dirty="0" err="1"/>
              <a:t>X1</a:t>
            </a:r>
            <a:r>
              <a:rPr lang="es-ES" sz="2000" dirty="0"/>
              <a:t>=20       I-II</a:t>
            </a:r>
          </a:p>
          <a:p>
            <a:r>
              <a:rPr lang="es-ES" sz="2000" dirty="0"/>
              <a:t>          </a:t>
            </a:r>
            <a:r>
              <a:rPr lang="es-ES" sz="2000" dirty="0" err="1"/>
              <a:t>X2</a:t>
            </a:r>
            <a:r>
              <a:rPr lang="es-ES" sz="2000" dirty="0"/>
              <a:t>= 60 </a:t>
            </a:r>
            <a:endParaRPr lang="es-PE" sz="2000" u="sng" dirty="0"/>
          </a:p>
        </p:txBody>
      </p:sp>
      <p:sp>
        <p:nvSpPr>
          <p:cNvPr id="76" name="85 Elipse">
            <a:extLst>
              <a:ext uri="{FF2B5EF4-FFF2-40B4-BE49-F238E27FC236}">
                <a16:creationId xmlns:a16="http://schemas.microsoft.com/office/drawing/2014/main" id="{023972DF-DB9D-42D3-8116-43A054D2DCB0}"/>
              </a:ext>
            </a:extLst>
          </p:cNvPr>
          <p:cNvSpPr/>
          <p:nvPr/>
        </p:nvSpPr>
        <p:spPr>
          <a:xfrm>
            <a:off x="1536290" y="288964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78" name="85 Elipse">
            <a:extLst>
              <a:ext uri="{FF2B5EF4-FFF2-40B4-BE49-F238E27FC236}">
                <a16:creationId xmlns:a16="http://schemas.microsoft.com/office/drawing/2014/main" id="{0C954920-04BD-4A1B-8547-8D451E72FA3F}"/>
              </a:ext>
            </a:extLst>
          </p:cNvPr>
          <p:cNvSpPr/>
          <p:nvPr/>
        </p:nvSpPr>
        <p:spPr>
          <a:xfrm>
            <a:off x="1526765" y="3156344"/>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80" name="85 Elipse">
            <a:extLst>
              <a:ext uri="{FF2B5EF4-FFF2-40B4-BE49-F238E27FC236}">
                <a16:creationId xmlns:a16="http://schemas.microsoft.com/office/drawing/2014/main" id="{206FA8EB-508B-493D-A6F4-50AB82281284}"/>
              </a:ext>
            </a:extLst>
          </p:cNvPr>
          <p:cNvSpPr/>
          <p:nvPr/>
        </p:nvSpPr>
        <p:spPr>
          <a:xfrm>
            <a:off x="1822040" y="3146819"/>
            <a:ext cx="45719" cy="4571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95" name="Rectángulo 94">
            <a:extLst>
              <a:ext uri="{FF2B5EF4-FFF2-40B4-BE49-F238E27FC236}">
                <a16:creationId xmlns:a16="http://schemas.microsoft.com/office/drawing/2014/main" id="{035AACDB-C37D-4818-927E-91C12B1BA9FD}"/>
              </a:ext>
            </a:extLst>
          </p:cNvPr>
          <p:cNvSpPr/>
          <p:nvPr/>
        </p:nvSpPr>
        <p:spPr>
          <a:xfrm>
            <a:off x="6193765" y="2639055"/>
            <a:ext cx="3416061" cy="1323439"/>
          </a:xfrm>
          <a:prstGeom prst="rect">
            <a:avLst/>
          </a:prstGeom>
          <a:solidFill>
            <a:schemeClr val="accent3">
              <a:lumMod val="20000"/>
              <a:lumOff val="80000"/>
            </a:schemeClr>
          </a:solidFill>
        </p:spPr>
        <p:txBody>
          <a:bodyPr wrap="square">
            <a:spAutoFit/>
          </a:bodyPr>
          <a:lstStyle/>
          <a:p>
            <a:r>
              <a:rPr lang="es-ES" sz="2000" dirty="0"/>
              <a:t>Graficando la </a:t>
            </a:r>
            <a:r>
              <a:rPr lang="es-ES" sz="2000" dirty="0" err="1"/>
              <a:t>F.O</a:t>
            </a:r>
            <a:endParaRPr lang="es-ES" sz="2000" dirty="0"/>
          </a:p>
          <a:p>
            <a:r>
              <a:rPr lang="es-ES" sz="2000" dirty="0" err="1"/>
              <a:t>6X1+4X2</a:t>
            </a:r>
            <a:r>
              <a:rPr lang="es-ES" sz="2000" dirty="0"/>
              <a:t> = 240</a:t>
            </a:r>
          </a:p>
          <a:p>
            <a:r>
              <a:rPr lang="es-ES" sz="2000" dirty="0"/>
              <a:t>Si </a:t>
            </a:r>
            <a:r>
              <a:rPr lang="es-ES" sz="2000" dirty="0" err="1"/>
              <a:t>X1</a:t>
            </a:r>
            <a:r>
              <a:rPr lang="es-ES" sz="2000" dirty="0"/>
              <a:t>=</a:t>
            </a:r>
            <a:r>
              <a:rPr lang="es-ES" sz="2000" dirty="0" err="1"/>
              <a:t>0</a:t>
            </a:r>
            <a:r>
              <a:rPr lang="es-ES" sz="2000" dirty="0" err="1">
                <a:sym typeface="Wingdings" pitchFamily="2" charset="2"/>
              </a:rPr>
              <a:t>X2</a:t>
            </a:r>
            <a:r>
              <a:rPr lang="es-ES" sz="2000" dirty="0">
                <a:sym typeface="Wingdings" pitchFamily="2" charset="2"/>
              </a:rPr>
              <a:t>=60</a:t>
            </a:r>
          </a:p>
          <a:p>
            <a:r>
              <a:rPr lang="es-ES" sz="2000" dirty="0">
                <a:sym typeface="Wingdings" pitchFamily="2" charset="2"/>
              </a:rPr>
              <a:t>Si </a:t>
            </a:r>
            <a:r>
              <a:rPr lang="es-ES" sz="2000" dirty="0" err="1">
                <a:sym typeface="Wingdings" pitchFamily="2" charset="2"/>
              </a:rPr>
              <a:t>X2</a:t>
            </a:r>
            <a:r>
              <a:rPr lang="es-ES" sz="2000" dirty="0">
                <a:sym typeface="Wingdings" pitchFamily="2" charset="2"/>
              </a:rPr>
              <a:t>=</a:t>
            </a:r>
            <a:r>
              <a:rPr lang="es-ES" sz="2000" dirty="0" err="1">
                <a:sym typeface="Wingdings" pitchFamily="2" charset="2"/>
              </a:rPr>
              <a:t>0X1</a:t>
            </a:r>
            <a:r>
              <a:rPr lang="es-ES" sz="2000" dirty="0">
                <a:sym typeface="Wingdings" pitchFamily="2" charset="2"/>
              </a:rPr>
              <a:t>=40</a:t>
            </a:r>
            <a:endParaRPr lang="es-PE" sz="2000" dirty="0"/>
          </a:p>
        </p:txBody>
      </p:sp>
      <p:sp>
        <p:nvSpPr>
          <p:cNvPr id="73" name="Rectangle 2">
            <a:extLst>
              <a:ext uri="{FF2B5EF4-FFF2-40B4-BE49-F238E27FC236}">
                <a16:creationId xmlns:a16="http://schemas.microsoft.com/office/drawing/2014/main" id="{B54EDE4D-186D-4CD4-AAD4-A573F341C13C}"/>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10</a:t>
            </a:r>
          </a:p>
        </p:txBody>
      </p:sp>
      <p:sp>
        <p:nvSpPr>
          <p:cNvPr id="3" name="100 Rectángulo">
            <a:extLst>
              <a:ext uri="{FF2B5EF4-FFF2-40B4-BE49-F238E27FC236}">
                <a16:creationId xmlns:a16="http://schemas.microsoft.com/office/drawing/2014/main" id="{34C175AF-51E5-5DDD-57C5-6678AA4CF3AA}"/>
              </a:ext>
            </a:extLst>
          </p:cNvPr>
          <p:cNvSpPr/>
          <p:nvPr/>
        </p:nvSpPr>
        <p:spPr>
          <a:xfrm>
            <a:off x="9792487" y="1354983"/>
            <a:ext cx="2390937" cy="3170099"/>
          </a:xfrm>
          <a:prstGeom prst="rect">
            <a:avLst/>
          </a:prstGeom>
          <a:solidFill>
            <a:srgbClr val="FFFF00"/>
          </a:solidFill>
        </p:spPr>
        <p:txBody>
          <a:bodyPr wrap="square">
            <a:spAutoFit/>
          </a:bodyPr>
          <a:lstStyle/>
          <a:p>
            <a:r>
              <a:rPr lang="es-ES_tradnl" sz="2000" dirty="0">
                <a:latin typeface="Arial Narrow" pitchFamily="34" charset="0"/>
              </a:rPr>
              <a:t>Max   6 </a:t>
            </a:r>
            <a:r>
              <a:rPr lang="es-ES_tradnl" sz="2000" dirty="0" err="1">
                <a:latin typeface="Arial Narrow" pitchFamily="34" charset="0"/>
              </a:rPr>
              <a:t>X1</a:t>
            </a:r>
            <a:r>
              <a:rPr lang="es-ES_tradnl" sz="2000" dirty="0">
                <a:latin typeface="Arial Narrow" pitchFamily="34" charset="0"/>
              </a:rPr>
              <a:t> + 4 </a:t>
            </a:r>
            <a:r>
              <a:rPr lang="es-ES_tradnl" sz="2000" dirty="0" err="1">
                <a:latin typeface="Arial Narrow" pitchFamily="34" charset="0"/>
              </a:rPr>
              <a:t>X2</a:t>
            </a:r>
            <a:endParaRPr lang="es-ES_tradnl" sz="2000" dirty="0">
              <a:latin typeface="Arial Narrow" pitchFamily="34" charset="0"/>
            </a:endParaRPr>
          </a:p>
          <a:p>
            <a:r>
              <a:rPr lang="es-ES_tradnl" sz="2000" b="1" dirty="0" err="1">
                <a:solidFill>
                  <a:srgbClr val="FF0000"/>
                </a:solidFill>
                <a:latin typeface="Arial Narrow" pitchFamily="34" charset="0"/>
              </a:rPr>
              <a:t>ST</a:t>
            </a:r>
            <a:endParaRPr lang="es-ES_tradnl" sz="2000" b="1" dirty="0">
              <a:solidFill>
                <a:srgbClr val="FF0000"/>
              </a:solidFill>
              <a:latin typeface="Arial Narrow" pitchFamily="34" charset="0"/>
            </a:endParaRPr>
          </a:p>
          <a:p>
            <a:r>
              <a:rPr lang="es-ES_tradnl" sz="2000" dirty="0">
                <a:latin typeface="Arial Narrow" pitchFamily="34" charset="0"/>
              </a:rPr>
              <a:t>2 </a:t>
            </a:r>
            <a:r>
              <a:rPr lang="es-ES_tradnl" sz="2000" dirty="0" err="1">
                <a:latin typeface="Arial Narrow" pitchFamily="34" charset="0"/>
              </a:rPr>
              <a:t>X1</a:t>
            </a:r>
            <a:r>
              <a:rPr lang="es-ES_tradnl" sz="2000" dirty="0">
                <a:latin typeface="Arial Narrow" pitchFamily="34" charset="0"/>
              </a:rPr>
              <a:t> + </a:t>
            </a:r>
            <a:r>
              <a:rPr lang="es-ES_tradnl" sz="2000" dirty="0" err="1">
                <a:latin typeface="Arial Narrow" pitchFamily="34" charset="0"/>
              </a:rPr>
              <a:t>X2</a:t>
            </a:r>
            <a:r>
              <a:rPr lang="es-ES_tradnl" sz="2000" dirty="0">
                <a:latin typeface="Arial Narrow" pitchFamily="34" charset="0"/>
              </a:rPr>
              <a:t> ≤ 100</a:t>
            </a:r>
          </a:p>
          <a:p>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a:t>
            </a:r>
            <a:r>
              <a:rPr lang="es-ES_tradnl" sz="2000" dirty="0" err="1">
                <a:latin typeface="Arial Narrow" pitchFamily="34" charset="0"/>
              </a:rPr>
              <a:t>X2</a:t>
            </a:r>
            <a:r>
              <a:rPr lang="es-ES_tradnl" sz="2000" dirty="0">
                <a:latin typeface="Arial Narrow" pitchFamily="34" charset="0"/>
              </a:rPr>
              <a:t> ≤ 80 	</a:t>
            </a:r>
          </a:p>
          <a:p>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40</a:t>
            </a:r>
          </a:p>
          <a:p>
            <a:r>
              <a:rPr lang="es-ES_tradnl" sz="2000" b="1" dirty="0" err="1">
                <a:solidFill>
                  <a:srgbClr val="FF0000"/>
                </a:solidFill>
                <a:latin typeface="Arial Narrow" pitchFamily="34" charset="0"/>
              </a:rPr>
              <a:t>END</a:t>
            </a:r>
            <a:endParaRPr lang="es-ES_tradnl" sz="2000" b="1" dirty="0">
              <a:solidFill>
                <a:srgbClr val="FF0000"/>
              </a:solidFill>
              <a:latin typeface="Arial Narrow" pitchFamily="34" charset="0"/>
            </a:endParaRPr>
          </a:p>
          <a:p>
            <a:r>
              <a:rPr lang="es-ES_tradnl" sz="2000" b="1" dirty="0">
                <a:solidFill>
                  <a:srgbClr val="FF0000"/>
                </a:solidFill>
                <a:latin typeface="Arial Narrow" pitchFamily="34" charset="0"/>
              </a:rPr>
              <a:t>GIN </a:t>
            </a:r>
            <a:r>
              <a:rPr lang="es-ES_tradnl" sz="2000" b="1" dirty="0" err="1">
                <a:solidFill>
                  <a:srgbClr val="FF0000"/>
                </a:solidFill>
                <a:latin typeface="Arial Narrow" pitchFamily="34" charset="0"/>
              </a:rPr>
              <a:t>X1</a:t>
            </a:r>
            <a:endParaRPr lang="es-ES_tradnl" sz="2000" b="1" dirty="0">
              <a:solidFill>
                <a:srgbClr val="FF0000"/>
              </a:solidFill>
              <a:latin typeface="Arial Narrow" pitchFamily="34" charset="0"/>
            </a:endParaRPr>
          </a:p>
          <a:p>
            <a:r>
              <a:rPr lang="es-ES_tradnl" sz="2000" b="1" dirty="0">
                <a:solidFill>
                  <a:srgbClr val="FF0000"/>
                </a:solidFill>
                <a:latin typeface="Arial Narrow" pitchFamily="34" charset="0"/>
              </a:rPr>
              <a:t>GIN </a:t>
            </a:r>
            <a:r>
              <a:rPr lang="es-ES_tradnl" sz="2000" b="1" dirty="0" err="1">
                <a:solidFill>
                  <a:srgbClr val="FF0000"/>
                </a:solidFill>
                <a:latin typeface="Arial Narrow" pitchFamily="34" charset="0"/>
              </a:rPr>
              <a:t>X2</a:t>
            </a:r>
            <a:endParaRPr lang="es-ES_tradnl" sz="2000" b="1" dirty="0">
              <a:solidFill>
                <a:srgbClr val="FF0000"/>
              </a:solidFill>
              <a:latin typeface="Arial Narrow" pitchFamily="34" charset="0"/>
            </a:endParaRPr>
          </a:p>
          <a:p>
            <a:r>
              <a:rPr lang="es-ES_tradnl" sz="2000" dirty="0">
                <a:latin typeface="Arial Narrow" pitchFamily="34" charset="0"/>
              </a:rPr>
              <a:t>  </a:t>
            </a:r>
          </a:p>
          <a:p>
            <a:endParaRPr lang="es-PE" sz="2000" dirty="0"/>
          </a:p>
        </p:txBody>
      </p:sp>
    </p:spTree>
    <p:extLst>
      <p:ext uri="{BB962C8B-B14F-4D97-AF65-F5344CB8AC3E}">
        <p14:creationId xmlns:p14="http://schemas.microsoft.com/office/powerpoint/2010/main" val="298959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100" grpId="0" animBg="1"/>
      <p:bldP spid="47" grpId="0" animBg="1"/>
      <p:bldP spid="48" grpId="0" animBg="1"/>
      <p:bldP spid="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90784" y="1267617"/>
            <a:ext cx="5393270" cy="1323439"/>
          </a:xfrm>
          <a:prstGeom prst="rect">
            <a:avLst/>
          </a:prstGeom>
        </p:spPr>
        <p:txBody>
          <a:bodyPr wrap="square">
            <a:spAutoFit/>
          </a:bodyPr>
          <a:lstStyle/>
          <a:p>
            <a:pPr algn="just"/>
            <a:r>
              <a:rPr lang="es-PE" sz="2000" dirty="0" err="1"/>
              <a:t>NISAN</a:t>
            </a:r>
            <a:r>
              <a:rPr lang="es-PE" sz="2000" dirty="0"/>
              <a:t> fabrica carros compactos y subcompactos. La producción de cada carro requiere una cierta cantidad de materia prima y mano de obra, como se especifica en la siguiente tabla:</a:t>
            </a:r>
          </a:p>
        </p:txBody>
      </p:sp>
      <p:graphicFrame>
        <p:nvGraphicFramePr>
          <p:cNvPr id="3" name="2 Tabla"/>
          <p:cNvGraphicFramePr>
            <a:graphicFrameLocks noGrp="1"/>
          </p:cNvGraphicFramePr>
          <p:nvPr>
            <p:extLst>
              <p:ext uri="{D42A27DB-BD31-4B8C-83A1-F6EECF244321}">
                <p14:modId xmlns:p14="http://schemas.microsoft.com/office/powerpoint/2010/main" val="1771152879"/>
              </p:ext>
            </p:extLst>
          </p:nvPr>
        </p:nvGraphicFramePr>
        <p:xfrm>
          <a:off x="190784" y="2473424"/>
          <a:ext cx="5228059" cy="2040392"/>
        </p:xfrm>
        <a:graphic>
          <a:graphicData uri="http://schemas.openxmlformats.org/drawingml/2006/table">
            <a:tbl>
              <a:tblPr firstRow="1" firstCol="1" bandRow="1">
                <a:tableStyleId>{5C22544A-7EE6-4342-B048-85BDC9FD1C3A}</a:tableStyleId>
              </a:tblPr>
              <a:tblGrid>
                <a:gridCol w="1703624">
                  <a:extLst>
                    <a:ext uri="{9D8B030D-6E8A-4147-A177-3AD203B41FA5}">
                      <a16:colId xmlns:a16="http://schemas.microsoft.com/office/drawing/2014/main" val="20000"/>
                    </a:ext>
                  </a:extLst>
                </a:gridCol>
                <a:gridCol w="1685051">
                  <a:extLst>
                    <a:ext uri="{9D8B030D-6E8A-4147-A177-3AD203B41FA5}">
                      <a16:colId xmlns:a16="http://schemas.microsoft.com/office/drawing/2014/main" val="20001"/>
                    </a:ext>
                  </a:extLst>
                </a:gridCol>
                <a:gridCol w="1839384">
                  <a:extLst>
                    <a:ext uri="{9D8B030D-6E8A-4147-A177-3AD203B41FA5}">
                      <a16:colId xmlns:a16="http://schemas.microsoft.com/office/drawing/2014/main" val="20002"/>
                    </a:ext>
                  </a:extLst>
                </a:gridCol>
              </a:tblGrid>
              <a:tr h="410468">
                <a:tc>
                  <a:txBody>
                    <a:bodyPr/>
                    <a:lstStyle/>
                    <a:p>
                      <a:pPr algn="ctr">
                        <a:lnSpc>
                          <a:spcPct val="150000"/>
                        </a:lnSpc>
                        <a:spcAft>
                          <a:spcPts val="0"/>
                        </a:spcAft>
                      </a:pPr>
                      <a:r>
                        <a:rPr lang="es-ES" sz="1800" dirty="0">
                          <a:effectLst/>
                        </a:rPr>
                        <a:t> </a:t>
                      </a:r>
                      <a:endParaRPr lang="es-PE" sz="1800" dirty="0">
                        <a:effectLst/>
                        <a:latin typeface="Times New Roman"/>
                        <a:ea typeface="Calibri"/>
                      </a:endParaRPr>
                    </a:p>
                  </a:txBody>
                  <a:tcPr marL="68580" marR="68580" marT="0" marB="0"/>
                </a:tc>
                <a:tc>
                  <a:txBody>
                    <a:bodyPr/>
                    <a:lstStyle/>
                    <a:p>
                      <a:pPr algn="ctr">
                        <a:lnSpc>
                          <a:spcPct val="100000"/>
                        </a:lnSpc>
                        <a:spcAft>
                          <a:spcPts val="0"/>
                        </a:spcAft>
                      </a:pPr>
                      <a:r>
                        <a:rPr lang="es-ES" sz="1800" dirty="0">
                          <a:effectLst/>
                        </a:rPr>
                        <a:t>Materia prima(Lb)</a:t>
                      </a:r>
                      <a:endParaRPr lang="es-PE" sz="1800" dirty="0">
                        <a:effectLst/>
                        <a:latin typeface="Times New Roman"/>
                        <a:ea typeface="Calibri"/>
                      </a:endParaRPr>
                    </a:p>
                  </a:txBody>
                  <a:tcPr marL="68580" marR="68580" marT="0" marB="0"/>
                </a:tc>
                <a:tc>
                  <a:txBody>
                    <a:bodyPr/>
                    <a:lstStyle/>
                    <a:p>
                      <a:pPr algn="ctr">
                        <a:lnSpc>
                          <a:spcPct val="100000"/>
                        </a:lnSpc>
                        <a:spcAft>
                          <a:spcPts val="0"/>
                        </a:spcAft>
                      </a:pPr>
                      <a:r>
                        <a:rPr lang="es-ES" sz="1800" dirty="0">
                          <a:effectLst/>
                        </a:rPr>
                        <a:t>Mano de obra(</a:t>
                      </a:r>
                      <a:r>
                        <a:rPr lang="es-ES" sz="1800" dirty="0" err="1">
                          <a:effectLst/>
                        </a:rPr>
                        <a:t>Hr</a:t>
                      </a:r>
                      <a:r>
                        <a:rPr lang="es-ES" sz="1800" dirty="0">
                          <a:effectLst/>
                        </a:rPr>
                        <a:t>)</a:t>
                      </a:r>
                      <a:endParaRPr lang="es-PE" sz="1800" dirty="0">
                        <a:effectLst/>
                        <a:latin typeface="Times New Roman"/>
                        <a:ea typeface="Calibri"/>
                      </a:endParaRPr>
                    </a:p>
                  </a:txBody>
                  <a:tcPr marL="68580" marR="68580" marT="0" marB="0"/>
                </a:tc>
                <a:extLst>
                  <a:ext uri="{0D108BD9-81ED-4DB2-BD59-A6C34878D82A}">
                    <a16:rowId xmlns:a16="http://schemas.microsoft.com/office/drawing/2014/main" val="10000"/>
                  </a:ext>
                </a:extLst>
              </a:tr>
              <a:tr h="372938">
                <a:tc>
                  <a:txBody>
                    <a:bodyPr/>
                    <a:lstStyle/>
                    <a:p>
                      <a:pPr algn="l">
                        <a:lnSpc>
                          <a:spcPct val="150000"/>
                        </a:lnSpc>
                        <a:spcAft>
                          <a:spcPts val="0"/>
                        </a:spcAft>
                      </a:pPr>
                      <a:r>
                        <a:rPr lang="es-ES" sz="1800">
                          <a:effectLst/>
                        </a:rPr>
                        <a:t>Compactos</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a:effectLst/>
                        </a:rPr>
                        <a:t>200</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a:effectLst/>
                        </a:rPr>
                        <a:t>18</a:t>
                      </a:r>
                      <a:endParaRPr lang="es-PE" sz="1800">
                        <a:effectLst/>
                        <a:latin typeface="Times New Roman"/>
                        <a:ea typeface="Calibri"/>
                      </a:endParaRPr>
                    </a:p>
                  </a:txBody>
                  <a:tcPr marL="68580" marR="68580" marT="0" marB="0"/>
                </a:tc>
                <a:extLst>
                  <a:ext uri="{0D108BD9-81ED-4DB2-BD59-A6C34878D82A}">
                    <a16:rowId xmlns:a16="http://schemas.microsoft.com/office/drawing/2014/main" val="10001"/>
                  </a:ext>
                </a:extLst>
              </a:tr>
              <a:tr h="372938">
                <a:tc>
                  <a:txBody>
                    <a:bodyPr/>
                    <a:lstStyle/>
                    <a:p>
                      <a:pPr algn="l">
                        <a:lnSpc>
                          <a:spcPct val="150000"/>
                        </a:lnSpc>
                        <a:spcAft>
                          <a:spcPts val="0"/>
                        </a:spcAft>
                      </a:pPr>
                      <a:r>
                        <a:rPr lang="es-ES" sz="1800">
                          <a:effectLst/>
                        </a:rPr>
                        <a:t>Subcompactos</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a:effectLst/>
                        </a:rPr>
                        <a:t>150</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a:effectLst/>
                        </a:rPr>
                        <a:t>20</a:t>
                      </a:r>
                      <a:endParaRPr lang="es-PE" sz="1800">
                        <a:effectLst/>
                        <a:latin typeface="Times New Roman"/>
                        <a:ea typeface="Calibri"/>
                      </a:endParaRPr>
                    </a:p>
                  </a:txBody>
                  <a:tcPr marL="68580" marR="68580" marT="0" marB="0"/>
                </a:tc>
                <a:extLst>
                  <a:ext uri="{0D108BD9-81ED-4DB2-BD59-A6C34878D82A}">
                    <a16:rowId xmlns:a16="http://schemas.microsoft.com/office/drawing/2014/main" val="10002"/>
                  </a:ext>
                </a:extLst>
              </a:tr>
              <a:tr h="372938">
                <a:tc>
                  <a:txBody>
                    <a:bodyPr/>
                    <a:lstStyle/>
                    <a:p>
                      <a:pPr algn="l">
                        <a:lnSpc>
                          <a:spcPct val="150000"/>
                        </a:lnSpc>
                        <a:spcAft>
                          <a:spcPts val="0"/>
                        </a:spcAft>
                      </a:pPr>
                      <a:r>
                        <a:rPr lang="es-ES" sz="1800">
                          <a:effectLst/>
                        </a:rPr>
                        <a:t>Costo unitario</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a:effectLst/>
                        </a:rPr>
                        <a:t>10</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dirty="0">
                          <a:effectLst/>
                        </a:rPr>
                        <a:t>70</a:t>
                      </a:r>
                      <a:endParaRPr lang="es-PE" sz="1800" dirty="0">
                        <a:effectLst/>
                        <a:latin typeface="Times New Roman"/>
                        <a:ea typeface="Calibri"/>
                      </a:endParaRPr>
                    </a:p>
                  </a:txBody>
                  <a:tcPr marL="68580" marR="68580" marT="0" marB="0"/>
                </a:tc>
                <a:extLst>
                  <a:ext uri="{0D108BD9-81ED-4DB2-BD59-A6C34878D82A}">
                    <a16:rowId xmlns:a16="http://schemas.microsoft.com/office/drawing/2014/main" val="10003"/>
                  </a:ext>
                </a:extLst>
              </a:tr>
              <a:tr h="372938">
                <a:tc>
                  <a:txBody>
                    <a:bodyPr/>
                    <a:lstStyle/>
                    <a:p>
                      <a:pPr algn="ctr">
                        <a:lnSpc>
                          <a:spcPct val="150000"/>
                        </a:lnSpc>
                        <a:spcAft>
                          <a:spcPts val="0"/>
                        </a:spcAft>
                      </a:pPr>
                      <a:r>
                        <a:rPr lang="es-ES" sz="1800">
                          <a:effectLst/>
                        </a:rPr>
                        <a:t>Total disponible</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a:effectLst/>
                        </a:rPr>
                        <a:t>80000</a:t>
                      </a:r>
                      <a:endParaRPr lang="es-PE" sz="1800">
                        <a:effectLst/>
                        <a:latin typeface="Times New Roman"/>
                        <a:ea typeface="Calibri"/>
                      </a:endParaRPr>
                    </a:p>
                  </a:txBody>
                  <a:tcPr marL="68580" marR="68580" marT="0" marB="0"/>
                </a:tc>
                <a:tc>
                  <a:txBody>
                    <a:bodyPr/>
                    <a:lstStyle/>
                    <a:p>
                      <a:pPr algn="ctr">
                        <a:lnSpc>
                          <a:spcPct val="150000"/>
                        </a:lnSpc>
                        <a:spcAft>
                          <a:spcPts val="0"/>
                        </a:spcAft>
                      </a:pPr>
                      <a:r>
                        <a:rPr lang="es-ES" sz="1800" dirty="0">
                          <a:effectLst/>
                        </a:rPr>
                        <a:t>9000</a:t>
                      </a:r>
                      <a:endParaRPr lang="es-PE" sz="1800" dirty="0">
                        <a:effectLst/>
                        <a:latin typeface="Times New Roman"/>
                        <a:ea typeface="Calibri"/>
                      </a:endParaRPr>
                    </a:p>
                  </a:txBody>
                  <a:tcPr marL="68580" marR="68580" marT="0" marB="0"/>
                </a:tc>
                <a:extLst>
                  <a:ext uri="{0D108BD9-81ED-4DB2-BD59-A6C34878D82A}">
                    <a16:rowId xmlns:a16="http://schemas.microsoft.com/office/drawing/2014/main" val="10004"/>
                  </a:ext>
                </a:extLst>
              </a:tr>
            </a:tbl>
          </a:graphicData>
        </a:graphic>
      </p:graphicFrame>
      <p:sp>
        <p:nvSpPr>
          <p:cNvPr id="4" name="3 Rectángulo"/>
          <p:cNvSpPr/>
          <p:nvPr/>
        </p:nvSpPr>
        <p:spPr>
          <a:xfrm>
            <a:off x="142776" y="4601704"/>
            <a:ext cx="5773392" cy="2246769"/>
          </a:xfrm>
          <a:prstGeom prst="rect">
            <a:avLst/>
          </a:prstGeom>
        </p:spPr>
        <p:txBody>
          <a:bodyPr wrap="square">
            <a:spAutoFit/>
          </a:bodyPr>
          <a:lstStyle/>
          <a:p>
            <a:pPr algn="just"/>
            <a:r>
              <a:rPr lang="es-PE" sz="2000" dirty="0"/>
              <a:t>La división de comercialización ha estimado que a lo más 1500 compactos pueden venderse a $ 10000 cada uno y que a lo más 200 subcompactos pueden venderse a $ 8000 cada uno. Como vicepresidente de programación, formule un modelo para determinar la cantidad a fabricar de cada tipo de carro para maximizar la ganancia total (ingresos menos gastos).</a:t>
            </a:r>
          </a:p>
        </p:txBody>
      </p:sp>
      <p:sp>
        <p:nvSpPr>
          <p:cNvPr id="5" name="1 Rectángulo">
            <a:extLst>
              <a:ext uri="{FF2B5EF4-FFF2-40B4-BE49-F238E27FC236}">
                <a16:creationId xmlns:a16="http://schemas.microsoft.com/office/drawing/2014/main" id="{F7DAA455-3D44-440D-8B12-5052CDC9C309}"/>
              </a:ext>
            </a:extLst>
          </p:cNvPr>
          <p:cNvSpPr/>
          <p:nvPr/>
        </p:nvSpPr>
        <p:spPr>
          <a:xfrm>
            <a:off x="6106773" y="2368690"/>
            <a:ext cx="5228059" cy="1015663"/>
          </a:xfrm>
          <a:prstGeom prst="rect">
            <a:avLst/>
          </a:prstGeom>
          <a:solidFill>
            <a:schemeClr val="accent3">
              <a:lumMod val="20000"/>
              <a:lumOff val="80000"/>
            </a:schemeClr>
          </a:solidFill>
        </p:spPr>
        <p:txBody>
          <a:bodyPr wrap="square">
            <a:spAutoFit/>
          </a:bodyPr>
          <a:lstStyle/>
          <a:p>
            <a:pPr marL="514350" indent="-514350">
              <a:buAutoNum type="romanUcPeriod"/>
            </a:pPr>
            <a:r>
              <a:rPr lang="es-PE" sz="2000" dirty="0">
                <a:solidFill>
                  <a:srgbClr val="FF0000"/>
                </a:solidFill>
                <a:latin typeface="Arial Narrow" panose="020B0606020202030204" pitchFamily="34" charset="0"/>
                <a:cs typeface="Arial" pitchFamily="34" charset="0"/>
              </a:rPr>
              <a:t>Identificación de variables</a:t>
            </a:r>
          </a:p>
          <a:p>
            <a:r>
              <a:rPr lang="es-PE" sz="2000" dirty="0">
                <a:solidFill>
                  <a:srgbClr val="FF0000"/>
                </a:solidFill>
                <a:latin typeface="Arial Narrow" panose="020B0606020202030204" pitchFamily="34" charset="0"/>
                <a:cs typeface="Arial" pitchFamily="34" charset="0"/>
              </a:rPr>
              <a:t>        </a:t>
            </a:r>
            <a:r>
              <a:rPr lang="pt-BR" sz="2000" dirty="0">
                <a:latin typeface="Arial Narrow" panose="020B0606020202030204" pitchFamily="34" charset="0"/>
                <a:cs typeface="Arial" pitchFamily="34" charset="0"/>
              </a:rPr>
              <a:t>C =Número  de carros compactos por fabricar </a:t>
            </a:r>
          </a:p>
          <a:p>
            <a:r>
              <a:rPr lang="pt-BR" sz="2000" dirty="0">
                <a:latin typeface="Arial Narrow" panose="020B0606020202030204" pitchFamily="34" charset="0"/>
                <a:cs typeface="Arial" pitchFamily="34" charset="0"/>
              </a:rPr>
              <a:t>    </a:t>
            </a:r>
            <a:r>
              <a:rPr lang="es-PE" sz="2000" dirty="0">
                <a:latin typeface="Arial Narrow" panose="020B0606020202030204" pitchFamily="34" charset="0"/>
                <a:cs typeface="Arial" pitchFamily="34" charset="0"/>
              </a:rPr>
              <a:t>    </a:t>
            </a:r>
            <a:r>
              <a:rPr lang="pt-BR" sz="2000" dirty="0">
                <a:latin typeface="Arial Narrow" panose="020B0606020202030204" pitchFamily="34" charset="0"/>
                <a:cs typeface="Arial" pitchFamily="34" charset="0"/>
              </a:rPr>
              <a:t>S =Número  de carros </a:t>
            </a:r>
            <a:r>
              <a:rPr lang="pt-BR" sz="2000" dirty="0" err="1">
                <a:latin typeface="Arial Narrow" panose="020B0606020202030204" pitchFamily="34" charset="0"/>
                <a:cs typeface="Arial" pitchFamily="34" charset="0"/>
              </a:rPr>
              <a:t>subcompactos</a:t>
            </a:r>
            <a:r>
              <a:rPr lang="pt-BR" sz="2000" dirty="0">
                <a:latin typeface="Arial Narrow" panose="020B0606020202030204" pitchFamily="34" charset="0"/>
                <a:cs typeface="Arial" pitchFamily="34" charset="0"/>
              </a:rPr>
              <a:t> por fabricar</a:t>
            </a:r>
            <a:endParaRPr lang="es-PE" sz="2000" dirty="0">
              <a:latin typeface="Arial Narrow" panose="020B0606020202030204" pitchFamily="34" charset="0"/>
              <a:cs typeface="Arial" pitchFamily="34" charset="0"/>
            </a:endParaRPr>
          </a:p>
        </p:txBody>
      </p:sp>
      <p:sp>
        <p:nvSpPr>
          <p:cNvPr id="6" name="Rectángulo 5">
            <a:extLst>
              <a:ext uri="{FF2B5EF4-FFF2-40B4-BE49-F238E27FC236}">
                <a16:creationId xmlns:a16="http://schemas.microsoft.com/office/drawing/2014/main" id="{789B904F-317D-4FCC-B1D7-99401CC4081A}"/>
              </a:ext>
            </a:extLst>
          </p:cNvPr>
          <p:cNvSpPr/>
          <p:nvPr/>
        </p:nvSpPr>
        <p:spPr>
          <a:xfrm>
            <a:off x="6096000" y="1358032"/>
            <a:ext cx="5472363" cy="707886"/>
          </a:xfrm>
          <a:prstGeom prst="rect">
            <a:avLst/>
          </a:prstGeom>
        </p:spPr>
        <p:txBody>
          <a:bodyPr wrap="square">
            <a:spAutoFit/>
          </a:bodyPr>
          <a:lstStyle/>
          <a:p>
            <a:pPr marL="0" lvl="2"/>
            <a:r>
              <a:rPr lang="es-PE" sz="2000" dirty="0">
                <a:latin typeface="Arial Narrow" panose="020B0606020202030204" pitchFamily="34" charset="0"/>
                <a:cs typeface="Arial" pitchFamily="34" charset="0"/>
              </a:rPr>
              <a:t>COMPACTO:        U=10000-{(200)(10)+(18)(70)}=6740</a:t>
            </a:r>
          </a:p>
          <a:p>
            <a:pPr marL="0" lvl="2"/>
            <a:r>
              <a:rPr lang="es-PE" sz="2000" dirty="0">
                <a:latin typeface="Arial Narrow" panose="020B0606020202030204" pitchFamily="34" charset="0"/>
                <a:cs typeface="Arial" pitchFamily="34" charset="0"/>
              </a:rPr>
              <a:t>SUBCOMPACTO: U=  8000-{(150)(10)+(20)(70)}=5100</a:t>
            </a:r>
          </a:p>
        </p:txBody>
      </p:sp>
      <p:sp>
        <p:nvSpPr>
          <p:cNvPr id="7" name="Rectangle 2">
            <a:extLst>
              <a:ext uri="{FF2B5EF4-FFF2-40B4-BE49-F238E27FC236}">
                <a16:creationId xmlns:a16="http://schemas.microsoft.com/office/drawing/2014/main" id="{D38A6C45-A8A8-4F87-8CB7-1821AB36CED2}"/>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11</a:t>
            </a:r>
          </a:p>
        </p:txBody>
      </p:sp>
      <p:sp>
        <p:nvSpPr>
          <p:cNvPr id="8" name="Rectángulo 7">
            <a:extLst>
              <a:ext uri="{FF2B5EF4-FFF2-40B4-BE49-F238E27FC236}">
                <a16:creationId xmlns:a16="http://schemas.microsoft.com/office/drawing/2014/main" id="{68CF6DDA-A604-443E-9D5F-5C60078E2688}"/>
              </a:ext>
            </a:extLst>
          </p:cNvPr>
          <p:cNvSpPr/>
          <p:nvPr/>
        </p:nvSpPr>
        <p:spPr>
          <a:xfrm>
            <a:off x="6121261" y="4136886"/>
            <a:ext cx="5213571" cy="1938992"/>
          </a:xfrm>
          <a:prstGeom prst="rect">
            <a:avLst/>
          </a:prstGeom>
          <a:solidFill>
            <a:schemeClr val="accent3">
              <a:lumMod val="20000"/>
              <a:lumOff val="80000"/>
            </a:schemeClr>
          </a:solidFill>
        </p:spPr>
        <p:txBody>
          <a:bodyPr wrap="square">
            <a:spAutoFit/>
          </a:bodyPr>
          <a:lstStyle/>
          <a:p>
            <a:r>
              <a:rPr lang="es-PE" sz="2000" dirty="0">
                <a:solidFill>
                  <a:srgbClr val="FF0000"/>
                </a:solidFill>
                <a:latin typeface="Arial Narrow" panose="020B0606020202030204" pitchFamily="34" charset="0"/>
                <a:cs typeface="Arial" pitchFamily="34" charset="0"/>
              </a:rPr>
              <a:t>III.    Identificación de las restricciones</a:t>
            </a:r>
          </a:p>
          <a:p>
            <a:r>
              <a:rPr lang="es-ES" sz="2000" dirty="0">
                <a:latin typeface="Arial Narrow" panose="020B0606020202030204" pitchFamily="34" charset="0"/>
                <a:cs typeface="Arial" pitchFamily="34" charset="0"/>
              </a:rPr>
              <a:t>	</a:t>
            </a:r>
            <a:r>
              <a:rPr lang="en-US" sz="2000" dirty="0" err="1">
                <a:latin typeface="Arial Narrow" panose="020B0606020202030204" pitchFamily="34" charset="0"/>
                <a:cs typeface="Arial" pitchFamily="34" charset="0"/>
              </a:rPr>
              <a:t>200C</a:t>
            </a:r>
            <a:r>
              <a:rPr lang="en-US" sz="2000" dirty="0">
                <a:latin typeface="Arial Narrow" panose="020B0606020202030204" pitchFamily="34" charset="0"/>
                <a:cs typeface="Arial" pitchFamily="34" charset="0"/>
              </a:rPr>
              <a:t> +</a:t>
            </a:r>
            <a:r>
              <a:rPr lang="en-US" sz="2000" dirty="0" err="1">
                <a:latin typeface="Arial Narrow" panose="020B0606020202030204" pitchFamily="34" charset="0"/>
                <a:cs typeface="Arial" pitchFamily="34" charset="0"/>
              </a:rPr>
              <a:t>150S</a:t>
            </a:r>
            <a:r>
              <a:rPr lang="en-US" sz="2000" dirty="0">
                <a:latin typeface="Arial Narrow" panose="020B0606020202030204" pitchFamily="34" charset="0"/>
                <a:cs typeface="Arial" pitchFamily="34" charset="0"/>
              </a:rPr>
              <a:t> ≤ 80000</a:t>
            </a:r>
            <a:endParaRPr lang="es-PE" sz="2000" dirty="0">
              <a:latin typeface="Arial Narrow" panose="020B0606020202030204" pitchFamily="34" charset="0"/>
              <a:cs typeface="Arial" pitchFamily="34" charset="0"/>
            </a:endParaRPr>
          </a:p>
          <a:p>
            <a:r>
              <a:rPr lang="en-US" sz="2000" dirty="0">
                <a:latin typeface="Arial Narrow" panose="020B0606020202030204" pitchFamily="34" charset="0"/>
                <a:cs typeface="Arial" pitchFamily="34" charset="0"/>
              </a:rPr>
              <a:t>	  </a:t>
            </a:r>
            <a:r>
              <a:rPr lang="en-US" sz="2000" dirty="0" err="1">
                <a:latin typeface="Arial Narrow" panose="020B0606020202030204" pitchFamily="34" charset="0"/>
                <a:cs typeface="Arial" pitchFamily="34" charset="0"/>
              </a:rPr>
              <a:t>18C</a:t>
            </a:r>
            <a:r>
              <a:rPr lang="en-US" sz="2000" dirty="0">
                <a:latin typeface="Arial Narrow" panose="020B0606020202030204" pitchFamily="34" charset="0"/>
                <a:cs typeface="Arial" pitchFamily="34" charset="0"/>
              </a:rPr>
              <a:t> +  </a:t>
            </a:r>
            <a:r>
              <a:rPr lang="en-US" sz="2000" dirty="0" err="1">
                <a:latin typeface="Arial Narrow" panose="020B0606020202030204" pitchFamily="34" charset="0"/>
                <a:cs typeface="Arial" pitchFamily="34" charset="0"/>
              </a:rPr>
              <a:t>20S</a:t>
            </a:r>
            <a:r>
              <a:rPr lang="en-US" sz="2000" dirty="0">
                <a:latin typeface="Arial Narrow" panose="020B0606020202030204" pitchFamily="34" charset="0"/>
                <a:cs typeface="Arial" pitchFamily="34" charset="0"/>
              </a:rPr>
              <a:t> ≤   9000</a:t>
            </a:r>
            <a:endParaRPr lang="es-PE" sz="2000" dirty="0">
              <a:latin typeface="Arial Narrow" panose="020B0606020202030204" pitchFamily="34" charset="0"/>
              <a:cs typeface="Arial" pitchFamily="34" charset="0"/>
            </a:endParaRPr>
          </a:p>
          <a:p>
            <a:r>
              <a:rPr lang="en-US" sz="2000" dirty="0">
                <a:latin typeface="Arial Narrow" panose="020B0606020202030204" pitchFamily="34" charset="0"/>
                <a:cs typeface="Arial" pitchFamily="34" charset="0"/>
              </a:rPr>
              <a:t>	       	C   ≤   1500</a:t>
            </a:r>
            <a:endParaRPr lang="es-PE" sz="2000" dirty="0">
              <a:latin typeface="Arial Narrow" panose="020B0606020202030204" pitchFamily="34" charset="0"/>
              <a:cs typeface="Arial" pitchFamily="34" charset="0"/>
            </a:endParaRPr>
          </a:p>
          <a:p>
            <a:r>
              <a:rPr lang="en-US" sz="2000" dirty="0">
                <a:latin typeface="Arial Narrow" panose="020B0606020202030204" pitchFamily="34" charset="0"/>
                <a:cs typeface="Arial" pitchFamily="34" charset="0"/>
              </a:rPr>
              <a:t>		S   ≤    200</a:t>
            </a:r>
            <a:endParaRPr lang="es-PE" sz="2000" dirty="0">
              <a:latin typeface="Arial Narrow" panose="020B0606020202030204" pitchFamily="34" charset="0"/>
              <a:cs typeface="Arial" pitchFamily="34" charset="0"/>
            </a:endParaRPr>
          </a:p>
          <a:p>
            <a:r>
              <a:rPr lang="en-US" sz="2000" dirty="0">
                <a:latin typeface="Arial Narrow" panose="020B0606020202030204" pitchFamily="34" charset="0"/>
                <a:cs typeface="Arial" pitchFamily="34" charset="0"/>
              </a:rPr>
              <a:t>	          C,  S    ≥    0, </a:t>
            </a:r>
            <a:r>
              <a:rPr lang="en-US" sz="2000" dirty="0">
                <a:solidFill>
                  <a:srgbClr val="FF0000"/>
                </a:solidFill>
                <a:latin typeface="Arial Narrow" panose="020B0606020202030204" pitchFamily="34" charset="0"/>
                <a:cs typeface="Arial" pitchFamily="34" charset="0"/>
              </a:rPr>
              <a:t>ENTERO</a:t>
            </a:r>
            <a:endParaRPr lang="es-PE" sz="2000" dirty="0">
              <a:solidFill>
                <a:srgbClr val="FF0000"/>
              </a:solidFill>
              <a:latin typeface="Arial Narrow" panose="020B0606020202030204" pitchFamily="34" charset="0"/>
              <a:cs typeface="Arial" pitchFamily="34" charset="0"/>
            </a:endParaRPr>
          </a:p>
        </p:txBody>
      </p:sp>
      <p:sp>
        <p:nvSpPr>
          <p:cNvPr id="9" name="Rectángulo 8">
            <a:extLst>
              <a:ext uri="{FF2B5EF4-FFF2-40B4-BE49-F238E27FC236}">
                <a16:creationId xmlns:a16="http://schemas.microsoft.com/office/drawing/2014/main" id="{87164180-8C21-43CB-9B2B-C448A9ADDCE3}"/>
              </a:ext>
            </a:extLst>
          </p:cNvPr>
          <p:cNvSpPr/>
          <p:nvPr/>
        </p:nvSpPr>
        <p:spPr>
          <a:xfrm>
            <a:off x="6114691" y="3429000"/>
            <a:ext cx="5213569" cy="707886"/>
          </a:xfrm>
          <a:prstGeom prst="rect">
            <a:avLst/>
          </a:prstGeom>
          <a:solidFill>
            <a:schemeClr val="accent3">
              <a:lumMod val="20000"/>
              <a:lumOff val="80000"/>
            </a:schemeClr>
          </a:solidFill>
        </p:spPr>
        <p:txBody>
          <a:bodyPr wrap="square">
            <a:spAutoFit/>
          </a:bodyPr>
          <a:lstStyle/>
          <a:p>
            <a:r>
              <a:rPr lang="es-PE" sz="2000" dirty="0">
                <a:solidFill>
                  <a:srgbClr val="FF0000"/>
                </a:solidFill>
                <a:latin typeface="Arial Narrow" panose="020B0606020202030204" pitchFamily="34" charset="0"/>
                <a:cs typeface="Arial" pitchFamily="34" charset="0"/>
              </a:rPr>
              <a:t>II.     Identificación de la Función Objetivo</a:t>
            </a:r>
          </a:p>
          <a:p>
            <a:r>
              <a:rPr lang="es-PE" sz="2000" dirty="0">
                <a:latin typeface="Arial Narrow" panose="020B0606020202030204" pitchFamily="34" charset="0"/>
                <a:cs typeface="Arial" pitchFamily="34" charset="0"/>
              </a:rPr>
              <a:t>        MAX  </a:t>
            </a:r>
            <a:r>
              <a:rPr lang="es-PE" sz="2000" dirty="0" err="1">
                <a:latin typeface="Arial Narrow" panose="020B0606020202030204" pitchFamily="34" charset="0"/>
                <a:cs typeface="Arial" pitchFamily="34" charset="0"/>
              </a:rPr>
              <a:t>6740C</a:t>
            </a:r>
            <a:r>
              <a:rPr lang="es-PE" sz="2000" dirty="0">
                <a:latin typeface="Arial Narrow" panose="020B0606020202030204" pitchFamily="34" charset="0"/>
                <a:cs typeface="Arial" pitchFamily="34" charset="0"/>
              </a:rPr>
              <a:t> + </a:t>
            </a:r>
            <a:r>
              <a:rPr lang="es-PE" sz="2000" dirty="0" err="1">
                <a:latin typeface="Arial Narrow" panose="020B0606020202030204" pitchFamily="34" charset="0"/>
                <a:cs typeface="Arial" pitchFamily="34" charset="0"/>
              </a:rPr>
              <a:t>5100S</a:t>
            </a:r>
            <a:endParaRPr lang="es-PE" sz="2000" dirty="0">
              <a:latin typeface="Arial Narrow" panose="020B0606020202030204" pitchFamily="34" charset="0"/>
              <a:cs typeface="Arial" pitchFamily="34" charset="0"/>
            </a:endParaRPr>
          </a:p>
        </p:txBody>
      </p:sp>
      <p:sp>
        <p:nvSpPr>
          <p:cNvPr id="10" name="1 Rectángulo">
            <a:extLst>
              <a:ext uri="{FF2B5EF4-FFF2-40B4-BE49-F238E27FC236}">
                <a16:creationId xmlns:a16="http://schemas.microsoft.com/office/drawing/2014/main" id="{BEEACF45-2E81-D128-D3CF-36D5565C4384}"/>
              </a:ext>
            </a:extLst>
          </p:cNvPr>
          <p:cNvSpPr/>
          <p:nvPr/>
        </p:nvSpPr>
        <p:spPr>
          <a:xfrm>
            <a:off x="9981211" y="3394609"/>
            <a:ext cx="2210789" cy="2862322"/>
          </a:xfrm>
          <a:prstGeom prst="rect">
            <a:avLst/>
          </a:prstGeom>
          <a:solidFill>
            <a:srgbClr val="FFFF00"/>
          </a:solidFill>
        </p:spPr>
        <p:txBody>
          <a:bodyPr wrap="square">
            <a:spAutoFit/>
          </a:bodyPr>
          <a:lstStyle/>
          <a:p>
            <a:r>
              <a:rPr lang="en-US" sz="2000" dirty="0">
                <a:latin typeface="Arial Narrow" panose="020B0606020202030204" pitchFamily="34" charset="0"/>
              </a:rPr>
              <a:t>MAX  </a:t>
            </a:r>
            <a:r>
              <a:rPr lang="en-US" sz="2000" dirty="0" err="1">
                <a:latin typeface="Arial Narrow" panose="020B0606020202030204" pitchFamily="34" charset="0"/>
              </a:rPr>
              <a:t>6740C</a:t>
            </a:r>
            <a:r>
              <a:rPr lang="en-US" sz="2000" dirty="0">
                <a:latin typeface="Arial Narrow" panose="020B0606020202030204" pitchFamily="34" charset="0"/>
              </a:rPr>
              <a:t> + </a:t>
            </a:r>
            <a:r>
              <a:rPr lang="en-US" sz="2000" dirty="0" err="1">
                <a:latin typeface="Arial Narrow" panose="020B0606020202030204" pitchFamily="34" charset="0"/>
              </a:rPr>
              <a:t>5100S</a:t>
            </a:r>
            <a:endParaRPr lang="es-PE" sz="2000" dirty="0">
              <a:latin typeface="Arial Narrow" panose="020B0606020202030204" pitchFamily="34" charset="0"/>
            </a:endParaRPr>
          </a:p>
          <a:p>
            <a:r>
              <a:rPr lang="en-US" sz="2000" b="1" dirty="0">
                <a:latin typeface="Arial Narrow" panose="020B0606020202030204" pitchFamily="34" charset="0"/>
              </a:rPr>
              <a:t>SUBJECT TO</a:t>
            </a:r>
            <a:endParaRPr lang="es-PE" sz="2000" dirty="0">
              <a:latin typeface="Arial Narrow" panose="020B0606020202030204" pitchFamily="34" charset="0"/>
            </a:endParaRPr>
          </a:p>
          <a:p>
            <a:r>
              <a:rPr lang="en-US" sz="2000" dirty="0" err="1">
                <a:latin typeface="Arial Narrow" panose="020B0606020202030204" pitchFamily="34" charset="0"/>
              </a:rPr>
              <a:t>200C</a:t>
            </a:r>
            <a:r>
              <a:rPr lang="en-US" sz="2000" dirty="0">
                <a:latin typeface="Arial Narrow" panose="020B0606020202030204" pitchFamily="34" charset="0"/>
              </a:rPr>
              <a:t> +</a:t>
            </a:r>
            <a:r>
              <a:rPr lang="en-US" sz="2000" dirty="0" err="1">
                <a:latin typeface="Arial Narrow" panose="020B0606020202030204" pitchFamily="34" charset="0"/>
              </a:rPr>
              <a:t>150S</a:t>
            </a:r>
            <a:r>
              <a:rPr lang="en-US" sz="2000" dirty="0">
                <a:latin typeface="Arial Narrow" panose="020B0606020202030204" pitchFamily="34" charset="0"/>
              </a:rPr>
              <a:t> ≤ 80000</a:t>
            </a:r>
            <a:endParaRPr lang="es-PE" sz="2000" dirty="0">
              <a:latin typeface="Arial Narrow" panose="020B0606020202030204" pitchFamily="34" charset="0"/>
            </a:endParaRPr>
          </a:p>
          <a:p>
            <a:r>
              <a:rPr lang="en-US" sz="2000" dirty="0">
                <a:latin typeface="Arial Narrow" panose="020B0606020202030204" pitchFamily="34" charset="0"/>
              </a:rPr>
              <a:t>  </a:t>
            </a:r>
            <a:r>
              <a:rPr lang="en-US" sz="2000" dirty="0" err="1">
                <a:latin typeface="Arial Narrow" panose="020B0606020202030204" pitchFamily="34" charset="0"/>
              </a:rPr>
              <a:t>18C</a:t>
            </a:r>
            <a:r>
              <a:rPr lang="en-US" sz="2000" dirty="0">
                <a:latin typeface="Arial Narrow" panose="020B0606020202030204" pitchFamily="34" charset="0"/>
              </a:rPr>
              <a:t> +  </a:t>
            </a:r>
            <a:r>
              <a:rPr lang="en-US" sz="2000" dirty="0" err="1">
                <a:latin typeface="Arial Narrow" panose="020B0606020202030204" pitchFamily="34" charset="0"/>
              </a:rPr>
              <a:t>20S</a:t>
            </a:r>
            <a:r>
              <a:rPr lang="en-US" sz="2000" dirty="0">
                <a:latin typeface="Arial Narrow" panose="020B0606020202030204" pitchFamily="34" charset="0"/>
              </a:rPr>
              <a:t> ≤   9000</a:t>
            </a:r>
            <a:endParaRPr lang="es-PE" sz="2000" dirty="0">
              <a:latin typeface="Arial Narrow" panose="020B0606020202030204" pitchFamily="34" charset="0"/>
            </a:endParaRPr>
          </a:p>
          <a:p>
            <a:r>
              <a:rPr lang="en-US" sz="2000" dirty="0">
                <a:latin typeface="Arial Narrow" panose="020B0606020202030204" pitchFamily="34" charset="0"/>
              </a:rPr>
              <a:t>       	C   ≤   1500</a:t>
            </a:r>
            <a:endParaRPr lang="es-PE" sz="2000" dirty="0">
              <a:latin typeface="Arial Narrow" panose="020B0606020202030204" pitchFamily="34" charset="0"/>
            </a:endParaRPr>
          </a:p>
          <a:p>
            <a:r>
              <a:rPr lang="en-US" sz="2000" dirty="0">
                <a:latin typeface="Arial Narrow" panose="020B0606020202030204" pitchFamily="34" charset="0"/>
              </a:rPr>
              <a:t>	 S  ≤    200</a:t>
            </a:r>
            <a:endParaRPr lang="es-PE" sz="2000" dirty="0">
              <a:latin typeface="Arial Narrow" panose="020B0606020202030204" pitchFamily="34" charset="0"/>
            </a:endParaRPr>
          </a:p>
          <a:p>
            <a:r>
              <a:rPr lang="en-US" sz="2000" b="1" dirty="0">
                <a:latin typeface="Arial Narrow" panose="020B0606020202030204" pitchFamily="34" charset="0"/>
              </a:rPr>
              <a:t>END</a:t>
            </a:r>
            <a:endParaRPr lang="es-PE" sz="2000" dirty="0">
              <a:latin typeface="Arial Narrow" panose="020B0606020202030204" pitchFamily="34" charset="0"/>
            </a:endParaRPr>
          </a:p>
          <a:p>
            <a:r>
              <a:rPr lang="en-US" sz="2000" dirty="0">
                <a:latin typeface="Arial Narrow" panose="020B0606020202030204" pitchFamily="34" charset="0"/>
              </a:rPr>
              <a:t>GIN C</a:t>
            </a:r>
            <a:endParaRPr lang="es-PE" sz="2000" dirty="0">
              <a:latin typeface="Arial Narrow" panose="020B0606020202030204" pitchFamily="34" charset="0"/>
            </a:endParaRPr>
          </a:p>
          <a:p>
            <a:r>
              <a:rPr lang="es-PE" sz="2000" dirty="0">
                <a:latin typeface="Arial Narrow" panose="020B0606020202030204" pitchFamily="34" charset="0"/>
              </a:rPr>
              <a:t>GIN S</a:t>
            </a:r>
          </a:p>
        </p:txBody>
      </p:sp>
      <p:sp>
        <p:nvSpPr>
          <p:cNvPr id="11" name="Rectángulo 10">
            <a:extLst>
              <a:ext uri="{FF2B5EF4-FFF2-40B4-BE49-F238E27FC236}">
                <a16:creationId xmlns:a16="http://schemas.microsoft.com/office/drawing/2014/main" id="{D09FF6EB-F7EF-D887-2F7D-0BB8830DD932}"/>
              </a:ext>
            </a:extLst>
          </p:cNvPr>
          <p:cNvSpPr/>
          <p:nvPr/>
        </p:nvSpPr>
        <p:spPr>
          <a:xfrm>
            <a:off x="9250354" y="6150114"/>
            <a:ext cx="2941646" cy="707886"/>
          </a:xfrm>
          <a:prstGeom prst="rect">
            <a:avLst/>
          </a:prstGeom>
          <a:solidFill>
            <a:srgbClr val="92D050"/>
          </a:solidFill>
        </p:spPr>
        <p:txBody>
          <a:bodyPr wrap="square">
            <a:spAutoFit/>
          </a:bodyPr>
          <a:lstStyle/>
          <a:p>
            <a:r>
              <a:rPr lang="es-PE" sz="2000" dirty="0">
                <a:latin typeface="Arial Narrow" panose="020B0606020202030204" pitchFamily="34" charset="0"/>
              </a:rPr>
              <a:t>SOLUCIÓN  CON LINDO	</a:t>
            </a:r>
          </a:p>
          <a:p>
            <a:r>
              <a:rPr lang="es-PE" sz="2000" dirty="0">
                <a:latin typeface="Arial Narrow" panose="020B0606020202030204" pitchFamily="34" charset="0"/>
              </a:rPr>
              <a:t>1) 2705000  C=250 S=200</a:t>
            </a:r>
          </a:p>
        </p:txBody>
      </p:sp>
    </p:spTree>
    <p:extLst>
      <p:ext uri="{BB962C8B-B14F-4D97-AF65-F5344CB8AC3E}">
        <p14:creationId xmlns:p14="http://schemas.microsoft.com/office/powerpoint/2010/main" val="99096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animBg="1"/>
      <p:bldP spid="9"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3 Marcador de contenido"/>
          <p:cNvSpPr>
            <a:spLocks noGrp="1"/>
          </p:cNvSpPr>
          <p:nvPr>
            <p:ph sz="quarter" idx="1"/>
          </p:nvPr>
        </p:nvSpPr>
        <p:spPr>
          <a:xfrm>
            <a:off x="266131" y="1284760"/>
            <a:ext cx="5723190" cy="2857472"/>
          </a:xfrm>
        </p:spPr>
        <p:txBody>
          <a:bodyPr vert="horz" lIns="91440" tIns="45720" rIns="91440" bIns="45720" rtlCol="0">
            <a:noAutofit/>
          </a:bodyPr>
          <a:lstStyle/>
          <a:p>
            <a:pPr marL="0" indent="0" algn="just">
              <a:buNone/>
            </a:pPr>
            <a:r>
              <a:rPr lang="es-ES_tradnl" sz="2000" dirty="0">
                <a:solidFill>
                  <a:schemeClr val="tx1"/>
                </a:solidFill>
                <a:latin typeface="Arial Narrow" pitchFamily="34" charset="0"/>
              </a:rPr>
              <a:t>El Banco BBVA está preparando su plan de inversiones para los próximos dos años. Actualmente, la empresa tiene 1,5 millones de dólares para invertir y espera ingresar, gracias a inversiones pasadas, un flujo de dinero al final de los meses, 6 12 y 18 próximos. Por otra parte, la empresa quiere expandirse y tiene dos propuestas sobre la mesa. La primera es asociarse con la empresa Minera San </a:t>
            </a:r>
            <a:r>
              <a:rPr lang="es-ES_tradnl" sz="2000" dirty="0" err="1">
                <a:solidFill>
                  <a:schemeClr val="tx1"/>
                </a:solidFill>
                <a:latin typeface="Arial Narrow" pitchFamily="34" charset="0"/>
              </a:rPr>
              <a:t>Cristobal</a:t>
            </a:r>
            <a:r>
              <a:rPr lang="es-ES_tradnl" sz="2000" dirty="0">
                <a:solidFill>
                  <a:schemeClr val="tx1"/>
                </a:solidFill>
                <a:latin typeface="Arial Narrow" pitchFamily="34" charset="0"/>
              </a:rPr>
              <a:t> y la segunda con la empresa </a:t>
            </a:r>
            <a:r>
              <a:rPr lang="es-ES_tradnl" sz="2000" dirty="0" err="1">
                <a:solidFill>
                  <a:schemeClr val="tx1"/>
                </a:solidFill>
                <a:latin typeface="Arial Narrow" pitchFamily="34" charset="0"/>
              </a:rPr>
              <a:t>Gravetal</a:t>
            </a:r>
            <a:r>
              <a:rPr lang="es-ES_tradnl" sz="2000" dirty="0">
                <a:solidFill>
                  <a:schemeClr val="tx1"/>
                </a:solidFill>
                <a:latin typeface="Arial Narrow" pitchFamily="34" charset="0"/>
              </a:rPr>
              <a:t> S.A. En el Cuadro se muestra el flujo de caja (miles de dólares)del Banco BBVA si entrara con un 100% en cada uno de los proyectos.</a:t>
            </a:r>
          </a:p>
          <a:p>
            <a:pPr marL="0" indent="0" algn="just">
              <a:buNone/>
            </a:pPr>
            <a:endParaRPr lang="es-ES_tradnl" sz="2000" dirty="0">
              <a:solidFill>
                <a:schemeClr val="tx1"/>
              </a:solidFill>
              <a:latin typeface="Arial Narrow" pitchFamily="34" charset="0"/>
            </a:endParaRPr>
          </a:p>
        </p:txBody>
      </p:sp>
      <p:graphicFrame>
        <p:nvGraphicFramePr>
          <p:cNvPr id="4" name="3 Tabla"/>
          <p:cNvGraphicFramePr>
            <a:graphicFrameLocks noGrp="1"/>
          </p:cNvGraphicFramePr>
          <p:nvPr/>
        </p:nvGraphicFramePr>
        <p:xfrm>
          <a:off x="355912" y="4137040"/>
          <a:ext cx="5523680" cy="2499392"/>
        </p:xfrm>
        <a:graphic>
          <a:graphicData uri="http://schemas.openxmlformats.org/drawingml/2006/table">
            <a:tbl>
              <a:tblPr firstRow="1" bandRow="1">
                <a:tableStyleId>{5C22544A-7EE6-4342-B048-85BDC9FD1C3A}</a:tableStyleId>
              </a:tblPr>
              <a:tblGrid>
                <a:gridCol w="1436312">
                  <a:extLst>
                    <a:ext uri="{9D8B030D-6E8A-4147-A177-3AD203B41FA5}">
                      <a16:colId xmlns:a16="http://schemas.microsoft.com/office/drawing/2014/main" val="20000"/>
                    </a:ext>
                  </a:extLst>
                </a:gridCol>
                <a:gridCol w="804672">
                  <a:extLst>
                    <a:ext uri="{9D8B030D-6E8A-4147-A177-3AD203B41FA5}">
                      <a16:colId xmlns:a16="http://schemas.microsoft.com/office/drawing/2014/main" val="20001"/>
                    </a:ext>
                  </a:extLst>
                </a:gridCol>
                <a:gridCol w="832104">
                  <a:extLst>
                    <a:ext uri="{9D8B030D-6E8A-4147-A177-3AD203B41FA5}">
                      <a16:colId xmlns:a16="http://schemas.microsoft.com/office/drawing/2014/main" val="20002"/>
                    </a:ext>
                  </a:extLst>
                </a:gridCol>
                <a:gridCol w="832104">
                  <a:extLst>
                    <a:ext uri="{9D8B030D-6E8A-4147-A177-3AD203B41FA5}">
                      <a16:colId xmlns:a16="http://schemas.microsoft.com/office/drawing/2014/main" val="20003"/>
                    </a:ext>
                  </a:extLst>
                </a:gridCol>
                <a:gridCol w="813816">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tblGrid>
              <a:tr h="627539">
                <a:tc>
                  <a:txBody>
                    <a:bodyPr/>
                    <a:lstStyle/>
                    <a:p>
                      <a:endParaRPr lang="es-ES_tradnl" sz="2000" b="0" dirty="0">
                        <a:latin typeface="Arial Narrow" pitchFamily="34" charset="0"/>
                      </a:endParaRPr>
                    </a:p>
                  </a:txBody>
                  <a:tcPr marL="91439" marR="91439" marT="45724" marB="45724"/>
                </a:tc>
                <a:tc>
                  <a:txBody>
                    <a:bodyPr/>
                    <a:lstStyle/>
                    <a:p>
                      <a:pPr algn="ctr"/>
                      <a:r>
                        <a:rPr lang="es-ES_tradnl" sz="2000" b="0" dirty="0">
                          <a:latin typeface="Arial Narrow" pitchFamily="34" charset="0"/>
                        </a:rPr>
                        <a:t>Inicial</a:t>
                      </a:r>
                    </a:p>
                  </a:txBody>
                  <a:tcPr marL="91439" marR="91439" marT="45724" marB="45724"/>
                </a:tc>
                <a:tc>
                  <a:txBody>
                    <a:bodyPr/>
                    <a:lstStyle/>
                    <a:p>
                      <a:pPr algn="ctr"/>
                      <a:r>
                        <a:rPr lang="es-ES_tradnl" sz="2000" b="0" dirty="0">
                          <a:latin typeface="Arial Narrow" pitchFamily="34" charset="0"/>
                        </a:rPr>
                        <a:t>6</a:t>
                      </a:r>
                      <a:r>
                        <a:rPr lang="es-ES_tradnl" sz="2000" b="0" baseline="0" dirty="0">
                          <a:latin typeface="Arial Narrow" pitchFamily="34" charset="0"/>
                        </a:rPr>
                        <a:t> meses</a:t>
                      </a:r>
                      <a:endParaRPr lang="es-ES_tradnl" sz="2000" b="0" dirty="0">
                        <a:latin typeface="Arial Narrow" pitchFamily="34" charset="0"/>
                      </a:endParaRPr>
                    </a:p>
                  </a:txBody>
                  <a:tcPr marL="91439" marR="91439" marT="45724" marB="45724"/>
                </a:tc>
                <a:tc>
                  <a:txBody>
                    <a:bodyPr/>
                    <a:lstStyle/>
                    <a:p>
                      <a:pPr algn="ctr"/>
                      <a:r>
                        <a:rPr lang="es-ES_tradnl" sz="2000" b="0" dirty="0">
                          <a:latin typeface="Arial Narrow" pitchFamily="34" charset="0"/>
                        </a:rPr>
                        <a:t>12 meses</a:t>
                      </a:r>
                    </a:p>
                  </a:txBody>
                  <a:tcPr marL="91439" marR="91439" marT="45724" marB="45724"/>
                </a:tc>
                <a:tc>
                  <a:txBody>
                    <a:bodyPr/>
                    <a:lstStyle/>
                    <a:p>
                      <a:pPr algn="ctr"/>
                      <a:r>
                        <a:rPr lang="es-ES_tradnl" sz="2000" b="0" dirty="0">
                          <a:latin typeface="Arial Narrow" pitchFamily="34" charset="0"/>
                        </a:rPr>
                        <a:t>18 meses</a:t>
                      </a:r>
                    </a:p>
                  </a:txBody>
                  <a:tcPr marL="91439" marR="91439" marT="45724" marB="45724"/>
                </a:tc>
                <a:tc>
                  <a:txBody>
                    <a:bodyPr/>
                    <a:lstStyle/>
                    <a:p>
                      <a:pPr algn="ctr"/>
                      <a:r>
                        <a:rPr lang="es-ES_tradnl" sz="2000" b="0" dirty="0">
                          <a:latin typeface="Arial Narrow" pitchFamily="34" charset="0"/>
                        </a:rPr>
                        <a:t>24 meses</a:t>
                      </a:r>
                    </a:p>
                  </a:txBody>
                  <a:tcPr marL="91439" marR="91439" marT="45724" marB="45724"/>
                </a:tc>
                <a:extLst>
                  <a:ext uri="{0D108BD9-81ED-4DB2-BD59-A6C34878D82A}">
                    <a16:rowId xmlns:a16="http://schemas.microsoft.com/office/drawing/2014/main" val="10000"/>
                  </a:ext>
                </a:extLst>
              </a:tr>
              <a:tr h="627539">
                <a:tc>
                  <a:txBody>
                    <a:bodyPr/>
                    <a:lstStyle/>
                    <a:p>
                      <a:r>
                        <a:rPr lang="es-ES_tradnl" sz="2000" b="0" dirty="0">
                          <a:latin typeface="Arial Narrow" pitchFamily="34" charset="0"/>
                        </a:rPr>
                        <a:t>Inversiones  pasadas</a:t>
                      </a:r>
                    </a:p>
                  </a:txBody>
                  <a:tcPr marL="91439" marR="91439" marT="45724" marB="45724"/>
                </a:tc>
                <a:tc>
                  <a:txBody>
                    <a:bodyPr/>
                    <a:lstStyle/>
                    <a:p>
                      <a:pPr algn="ctr"/>
                      <a:endParaRPr lang="es-ES_tradnl" sz="2000" b="0" dirty="0">
                        <a:latin typeface="Arial Narrow" pitchFamily="34" charset="0"/>
                      </a:endParaRPr>
                    </a:p>
                  </a:txBody>
                  <a:tcPr marL="91439" marR="91439" marT="45724" marB="45724"/>
                </a:tc>
                <a:tc>
                  <a:txBody>
                    <a:bodyPr/>
                    <a:lstStyle/>
                    <a:p>
                      <a:pPr algn="ctr"/>
                      <a:r>
                        <a:rPr lang="es-ES_tradnl" sz="2000" b="0" dirty="0">
                          <a:latin typeface="Arial Narrow" pitchFamily="34" charset="0"/>
                        </a:rPr>
                        <a:t>500</a:t>
                      </a:r>
                    </a:p>
                  </a:txBody>
                  <a:tcPr marL="91439" marR="91439" marT="45724" marB="45724"/>
                </a:tc>
                <a:tc>
                  <a:txBody>
                    <a:bodyPr/>
                    <a:lstStyle/>
                    <a:p>
                      <a:pPr algn="ctr"/>
                      <a:r>
                        <a:rPr lang="es-ES_tradnl" sz="2000" b="0" dirty="0">
                          <a:latin typeface="Arial Narrow" pitchFamily="34" charset="0"/>
                        </a:rPr>
                        <a:t>400</a:t>
                      </a:r>
                    </a:p>
                  </a:txBody>
                  <a:tcPr marL="91439" marR="91439" marT="45724" marB="45724"/>
                </a:tc>
                <a:tc>
                  <a:txBody>
                    <a:bodyPr/>
                    <a:lstStyle/>
                    <a:p>
                      <a:pPr algn="ctr"/>
                      <a:r>
                        <a:rPr lang="es-ES_tradnl" sz="2000" b="0" dirty="0">
                          <a:latin typeface="Arial Narrow" pitchFamily="34" charset="0"/>
                        </a:rPr>
                        <a:t>380</a:t>
                      </a:r>
                    </a:p>
                  </a:txBody>
                  <a:tcPr marL="91439" marR="91439" marT="45724" marB="45724"/>
                </a:tc>
                <a:tc>
                  <a:txBody>
                    <a:bodyPr/>
                    <a:lstStyle/>
                    <a:p>
                      <a:pPr algn="ctr"/>
                      <a:endParaRPr lang="es-ES_tradnl" sz="2000" b="0" dirty="0">
                        <a:latin typeface="Arial Narrow" pitchFamily="34" charset="0"/>
                      </a:endParaRPr>
                    </a:p>
                  </a:txBody>
                  <a:tcPr marL="91439" marR="91439" marT="45724" marB="45724"/>
                </a:tc>
                <a:extLst>
                  <a:ext uri="{0D108BD9-81ED-4DB2-BD59-A6C34878D82A}">
                    <a16:rowId xmlns:a16="http://schemas.microsoft.com/office/drawing/2014/main" val="10001"/>
                  </a:ext>
                </a:extLst>
              </a:tr>
              <a:tr h="627539">
                <a:tc>
                  <a:txBody>
                    <a:bodyPr/>
                    <a:lstStyle/>
                    <a:p>
                      <a:r>
                        <a:rPr lang="es-ES_tradnl" sz="2000" b="0" dirty="0">
                          <a:latin typeface="Arial Narrow" pitchFamily="34" charset="0"/>
                        </a:rPr>
                        <a:t>Minera San </a:t>
                      </a:r>
                      <a:r>
                        <a:rPr lang="es-ES_tradnl" sz="2000" b="0" dirty="0" err="1">
                          <a:latin typeface="Arial Narrow" pitchFamily="34" charset="0"/>
                        </a:rPr>
                        <a:t>Cristobal</a:t>
                      </a:r>
                      <a:endParaRPr lang="es-ES_tradnl" sz="2000" b="0" dirty="0">
                        <a:latin typeface="Arial Narrow" pitchFamily="34" charset="0"/>
                      </a:endParaRPr>
                    </a:p>
                  </a:txBody>
                  <a:tcPr marL="91439" marR="91439" marT="45724" marB="45724"/>
                </a:tc>
                <a:tc>
                  <a:txBody>
                    <a:bodyPr/>
                    <a:lstStyle/>
                    <a:p>
                      <a:pPr algn="ctr"/>
                      <a:r>
                        <a:rPr lang="es-ES_tradnl" sz="2000" b="0" dirty="0">
                          <a:latin typeface="Arial Narrow" pitchFamily="34" charset="0"/>
                        </a:rPr>
                        <a:t>- 1000</a:t>
                      </a:r>
                    </a:p>
                  </a:txBody>
                  <a:tcPr marL="91439" marR="91439" marT="45724" marB="45724"/>
                </a:tc>
                <a:tc>
                  <a:txBody>
                    <a:bodyPr/>
                    <a:lstStyle/>
                    <a:p>
                      <a:pPr algn="ctr"/>
                      <a:r>
                        <a:rPr lang="es-ES_tradnl" sz="2000" b="0" dirty="0">
                          <a:latin typeface="Arial Narrow" pitchFamily="34" charset="0"/>
                        </a:rPr>
                        <a:t>- 700</a:t>
                      </a:r>
                    </a:p>
                  </a:txBody>
                  <a:tcPr marL="91439" marR="91439" marT="45724" marB="45724"/>
                </a:tc>
                <a:tc>
                  <a:txBody>
                    <a:bodyPr/>
                    <a:lstStyle/>
                    <a:p>
                      <a:pPr algn="ctr"/>
                      <a:r>
                        <a:rPr lang="es-ES_tradnl" sz="2000" b="0" dirty="0">
                          <a:latin typeface="Arial Narrow" pitchFamily="34" charset="0"/>
                        </a:rPr>
                        <a:t>1800</a:t>
                      </a:r>
                    </a:p>
                  </a:txBody>
                  <a:tcPr marL="91439" marR="91439" marT="45724" marB="45724"/>
                </a:tc>
                <a:tc>
                  <a:txBody>
                    <a:bodyPr/>
                    <a:lstStyle/>
                    <a:p>
                      <a:pPr algn="ctr"/>
                      <a:r>
                        <a:rPr lang="es-ES_tradnl" sz="2000" b="0" dirty="0">
                          <a:latin typeface="Arial Narrow" pitchFamily="34" charset="0"/>
                        </a:rPr>
                        <a:t>400</a:t>
                      </a:r>
                    </a:p>
                  </a:txBody>
                  <a:tcPr marL="91439" marR="91439" marT="45724" marB="45724"/>
                </a:tc>
                <a:tc>
                  <a:txBody>
                    <a:bodyPr/>
                    <a:lstStyle/>
                    <a:p>
                      <a:pPr algn="ctr"/>
                      <a:r>
                        <a:rPr lang="es-ES_tradnl" sz="2000" b="0" dirty="0">
                          <a:latin typeface="Arial Narrow" pitchFamily="34" charset="0"/>
                        </a:rPr>
                        <a:t>600</a:t>
                      </a:r>
                    </a:p>
                  </a:txBody>
                  <a:tcPr marL="91439" marR="91439" marT="45724" marB="45724"/>
                </a:tc>
                <a:extLst>
                  <a:ext uri="{0D108BD9-81ED-4DB2-BD59-A6C34878D82A}">
                    <a16:rowId xmlns:a16="http://schemas.microsoft.com/office/drawing/2014/main" val="10002"/>
                  </a:ext>
                </a:extLst>
              </a:tr>
              <a:tr h="393529">
                <a:tc>
                  <a:txBody>
                    <a:bodyPr/>
                    <a:lstStyle/>
                    <a:p>
                      <a:r>
                        <a:rPr lang="es-ES_tradnl" sz="2000" b="0" dirty="0" err="1">
                          <a:latin typeface="Arial Narrow" pitchFamily="34" charset="0"/>
                        </a:rPr>
                        <a:t>Gravetal</a:t>
                      </a:r>
                      <a:r>
                        <a:rPr lang="es-ES_tradnl" sz="2000" b="0" dirty="0">
                          <a:latin typeface="Arial Narrow" pitchFamily="34" charset="0"/>
                        </a:rPr>
                        <a:t> S.A.</a:t>
                      </a:r>
                    </a:p>
                  </a:txBody>
                  <a:tcPr marL="91439" marR="91439" marT="45724" marB="45724"/>
                </a:tc>
                <a:tc>
                  <a:txBody>
                    <a:bodyPr/>
                    <a:lstStyle/>
                    <a:p>
                      <a:pPr algn="ctr"/>
                      <a:r>
                        <a:rPr lang="es-ES_tradnl" sz="2000" b="0" dirty="0">
                          <a:latin typeface="Arial Narrow" pitchFamily="34" charset="0"/>
                        </a:rPr>
                        <a:t>- 800</a:t>
                      </a:r>
                    </a:p>
                  </a:txBody>
                  <a:tcPr marL="91439" marR="91439" marT="45724" marB="45724"/>
                </a:tc>
                <a:tc>
                  <a:txBody>
                    <a:bodyPr/>
                    <a:lstStyle/>
                    <a:p>
                      <a:pPr algn="ctr"/>
                      <a:r>
                        <a:rPr lang="es-ES_tradnl" sz="2000" b="0" dirty="0">
                          <a:latin typeface="Arial Narrow" pitchFamily="34" charset="0"/>
                        </a:rPr>
                        <a:t>500</a:t>
                      </a:r>
                    </a:p>
                  </a:txBody>
                  <a:tcPr marL="91439" marR="91439" marT="45724" marB="45724"/>
                </a:tc>
                <a:tc>
                  <a:txBody>
                    <a:bodyPr/>
                    <a:lstStyle/>
                    <a:p>
                      <a:pPr algn="ctr"/>
                      <a:r>
                        <a:rPr lang="es-ES_tradnl" sz="2000" b="0" dirty="0">
                          <a:latin typeface="Arial Narrow" pitchFamily="34" charset="0"/>
                        </a:rPr>
                        <a:t>-200</a:t>
                      </a:r>
                    </a:p>
                  </a:txBody>
                  <a:tcPr marL="91439" marR="91439" marT="45724" marB="45724"/>
                </a:tc>
                <a:tc>
                  <a:txBody>
                    <a:bodyPr/>
                    <a:lstStyle/>
                    <a:p>
                      <a:pPr algn="ctr"/>
                      <a:r>
                        <a:rPr lang="es-ES_tradnl" sz="2000" b="0" dirty="0">
                          <a:latin typeface="Arial Narrow" pitchFamily="34" charset="0"/>
                        </a:rPr>
                        <a:t>- 700</a:t>
                      </a:r>
                    </a:p>
                  </a:txBody>
                  <a:tcPr marL="91439" marR="91439" marT="45724" marB="45724"/>
                </a:tc>
                <a:tc>
                  <a:txBody>
                    <a:bodyPr/>
                    <a:lstStyle/>
                    <a:p>
                      <a:pPr algn="ctr"/>
                      <a:r>
                        <a:rPr lang="es-ES_tradnl" sz="2000" b="0" dirty="0">
                          <a:latin typeface="Arial Narrow" pitchFamily="34" charset="0"/>
                        </a:rPr>
                        <a:t>2000</a:t>
                      </a:r>
                    </a:p>
                  </a:txBody>
                  <a:tcPr marL="91439" marR="91439" marT="45724" marB="45724"/>
                </a:tc>
                <a:extLst>
                  <a:ext uri="{0D108BD9-81ED-4DB2-BD59-A6C34878D82A}">
                    <a16:rowId xmlns:a16="http://schemas.microsoft.com/office/drawing/2014/main" val="10003"/>
                  </a:ext>
                </a:extLst>
              </a:tr>
            </a:tbl>
          </a:graphicData>
        </a:graphic>
      </p:graphicFrame>
      <p:sp>
        <p:nvSpPr>
          <p:cNvPr id="5" name="2 Marcador de contenido">
            <a:extLst>
              <a:ext uri="{FF2B5EF4-FFF2-40B4-BE49-F238E27FC236}">
                <a16:creationId xmlns:a16="http://schemas.microsoft.com/office/drawing/2014/main" id="{27F5CF4D-A2A6-4D42-A92A-E03F43200CAC}"/>
              </a:ext>
            </a:extLst>
          </p:cNvPr>
          <p:cNvSpPr txBox="1">
            <a:spLocks/>
          </p:cNvSpPr>
          <p:nvPr/>
        </p:nvSpPr>
        <p:spPr>
          <a:xfrm>
            <a:off x="6306312" y="1232184"/>
            <a:ext cx="5654040" cy="43090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s-ES_tradnl" sz="2000">
                <a:latin typeface="Arial Narrow" pitchFamily="34" charset="0"/>
              </a:rPr>
              <a:t>Debido a regulaciones, al Banco BBVA no se le permite pedir préstamos directos. Pero si que puede,  cada seis meses, invertir sus fondos excedentes (es decir, aquellos que no ha invertido en ningún proyecto) en un fondo que le daría un 7% cada seis meses. </a:t>
            </a:r>
          </a:p>
          <a:p>
            <a:pPr marL="0" indent="0" algn="just">
              <a:buFont typeface="Arial" panose="020B0604020202020204" pitchFamily="34" charset="0"/>
              <a:buNone/>
            </a:pPr>
            <a:r>
              <a:rPr lang="es-ES_tradnl" sz="2000">
                <a:latin typeface="Arial Narrow" pitchFamily="34" charset="0"/>
              </a:rPr>
              <a:t>Por otro lado, BBVA puede participar en cada uno de los proyectos con un nivel inferior al 100% y, consecuentemente, el flujo de caja se reducirá en la misma proporción. Es decir, que si decide entrar por ejemplo con el 50% en el proyecto de Gravetal, el flujo correspondiente también se reducirá en la misma proporción. </a:t>
            </a:r>
          </a:p>
          <a:p>
            <a:pPr marL="0" indent="0" algn="just">
              <a:buFont typeface="Arial" panose="020B0604020202020204" pitchFamily="34" charset="0"/>
              <a:buNone/>
            </a:pPr>
            <a:r>
              <a:rPr lang="es-ES_tradnl" sz="2000">
                <a:latin typeface="Arial Narrow" pitchFamily="34" charset="0"/>
              </a:rPr>
              <a:t>El problema que se plantea BBVA es cuanto invertir en cada proyecto para maximizar el dinero en efectivo que tendrá la empresa en dos años</a:t>
            </a:r>
            <a:endParaRPr lang="es-ES_tradnl" sz="2000" dirty="0">
              <a:latin typeface="Arial Narrow" pitchFamily="34" charset="0"/>
            </a:endParaRPr>
          </a:p>
        </p:txBody>
      </p:sp>
      <p:sp>
        <p:nvSpPr>
          <p:cNvPr id="8" name="Rectangle 2">
            <a:extLst>
              <a:ext uri="{FF2B5EF4-FFF2-40B4-BE49-F238E27FC236}">
                <a16:creationId xmlns:a16="http://schemas.microsoft.com/office/drawing/2014/main" id="{1E085E30-30F2-464C-B884-39E5D71B8FD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12</a:t>
            </a:r>
          </a:p>
        </p:txBody>
      </p:sp>
    </p:spTree>
    <p:extLst>
      <p:ext uri="{BB962C8B-B14F-4D97-AF65-F5344CB8AC3E}">
        <p14:creationId xmlns:p14="http://schemas.microsoft.com/office/powerpoint/2010/main" val="228558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52626" y="697830"/>
            <a:ext cx="8258175" cy="642938"/>
          </a:xfrm>
        </p:spPr>
        <p:txBody>
          <a:bodyPr>
            <a:noAutofit/>
          </a:bodyPr>
          <a:lstStyle/>
          <a:p>
            <a:pPr>
              <a:defRPr/>
            </a:pPr>
            <a:br>
              <a:rPr lang="es-ES_tradnl" sz="3200" i="1" dirty="0">
                <a:solidFill>
                  <a:schemeClr val="bg1"/>
                </a:solidFill>
                <a:latin typeface="Arial" pitchFamily="34" charset="0"/>
                <a:cs typeface="Arial" pitchFamily="34" charset="0"/>
              </a:rPr>
            </a:br>
            <a:br>
              <a:rPr lang="es-ES_tradnl" sz="3200" i="1" dirty="0">
                <a:solidFill>
                  <a:schemeClr val="bg1"/>
                </a:solidFill>
                <a:latin typeface="Arial" pitchFamily="34" charset="0"/>
                <a:cs typeface="Arial" pitchFamily="34" charset="0"/>
              </a:rPr>
            </a:br>
            <a:br>
              <a:rPr lang="es-ES_tradnl" sz="3200" i="1" dirty="0">
                <a:solidFill>
                  <a:schemeClr val="bg1"/>
                </a:solidFill>
                <a:latin typeface="Arial" pitchFamily="34" charset="0"/>
                <a:cs typeface="Arial" pitchFamily="34" charset="0"/>
              </a:rPr>
            </a:br>
            <a:br>
              <a:rPr lang="es-ES_tradnl" sz="3200" i="1" dirty="0">
                <a:solidFill>
                  <a:schemeClr val="bg1"/>
                </a:solidFill>
                <a:latin typeface="Arial" pitchFamily="34" charset="0"/>
                <a:cs typeface="Arial" pitchFamily="34" charset="0"/>
              </a:rPr>
            </a:br>
            <a:br>
              <a:rPr lang="es-ES_tradnl" sz="3200" i="1" dirty="0">
                <a:solidFill>
                  <a:schemeClr val="bg1"/>
                </a:solidFill>
                <a:latin typeface="Arial" pitchFamily="34" charset="0"/>
                <a:cs typeface="Arial" pitchFamily="34" charset="0"/>
              </a:rPr>
            </a:br>
            <a:br>
              <a:rPr lang="es-ES_tradnl" sz="3200" i="1" dirty="0">
                <a:solidFill>
                  <a:schemeClr val="bg1"/>
                </a:solidFill>
                <a:latin typeface="Arial" pitchFamily="34" charset="0"/>
                <a:cs typeface="Arial" pitchFamily="34" charset="0"/>
              </a:rPr>
            </a:br>
            <a:br>
              <a:rPr lang="es-ES_tradnl" sz="3200" i="1" dirty="0">
                <a:solidFill>
                  <a:schemeClr val="bg1"/>
                </a:solidFill>
                <a:latin typeface="Arial" pitchFamily="34" charset="0"/>
                <a:cs typeface="Arial" pitchFamily="34" charset="0"/>
              </a:rPr>
            </a:br>
            <a:r>
              <a:rPr lang="es-ES_tradnl" sz="3200" i="1" dirty="0">
                <a:solidFill>
                  <a:schemeClr val="bg1"/>
                </a:solidFill>
                <a:latin typeface="Arial" pitchFamily="34" charset="0"/>
                <a:cs typeface="Arial" pitchFamily="34" charset="0"/>
              </a:rPr>
              <a:t> </a:t>
            </a:r>
            <a:r>
              <a:rPr lang="es-ES_tradnl" sz="3200" b="1" dirty="0">
                <a:solidFill>
                  <a:schemeClr val="bg1"/>
                </a:solidFill>
                <a:latin typeface="Arial" pitchFamily="34" charset="0"/>
                <a:cs typeface="Arial" pitchFamily="34" charset="0"/>
              </a:rPr>
              <a:t>Formulación del problema</a:t>
            </a:r>
          </a:p>
        </p:txBody>
      </p:sp>
      <p:sp>
        <p:nvSpPr>
          <p:cNvPr id="12291" name="2 Marcador de contenido"/>
          <p:cNvSpPr>
            <a:spLocks noGrp="1"/>
          </p:cNvSpPr>
          <p:nvPr>
            <p:ph sz="quarter" idx="1"/>
          </p:nvPr>
        </p:nvSpPr>
        <p:spPr>
          <a:xfrm>
            <a:off x="237227" y="1853582"/>
            <a:ext cx="5797296" cy="4508917"/>
          </a:xfrm>
        </p:spPr>
        <p:txBody>
          <a:bodyPr vert="horz" lIns="91440" tIns="45720" rIns="91440" bIns="45720" rtlCol="0">
            <a:noAutofit/>
          </a:bodyPr>
          <a:lstStyle/>
          <a:p>
            <a:pPr marL="0" indent="0" algn="just">
              <a:buNone/>
            </a:pPr>
            <a:r>
              <a:rPr lang="es-ES_tradnl" sz="2000" dirty="0">
                <a:solidFill>
                  <a:schemeClr val="tx1"/>
                </a:solidFill>
                <a:latin typeface="Arial Narrow" pitchFamily="34" charset="0"/>
              </a:rPr>
              <a:t>La empresa dispone de 1,5 millones de dólares hoy (periodo 0) y las quiere gastar considerando las opciones siguientes:</a:t>
            </a:r>
          </a:p>
          <a:p>
            <a:pPr marL="0" indent="0" algn="just">
              <a:buNone/>
            </a:pPr>
            <a:r>
              <a:rPr lang="es-ES_tradnl" sz="2000" dirty="0">
                <a:solidFill>
                  <a:schemeClr val="tx1"/>
                </a:solidFill>
                <a:latin typeface="Arial Narrow" pitchFamily="34" charset="0"/>
              </a:rPr>
              <a:t>1. Participar en el proyecto Minera San </a:t>
            </a:r>
            <a:r>
              <a:rPr lang="es-ES_tradnl" sz="2000" dirty="0" err="1">
                <a:solidFill>
                  <a:schemeClr val="tx1"/>
                </a:solidFill>
                <a:latin typeface="Arial Narrow" pitchFamily="34" charset="0"/>
              </a:rPr>
              <a:t>Cristobal</a:t>
            </a:r>
            <a:r>
              <a:rPr lang="es-ES_tradnl" sz="2000" dirty="0">
                <a:solidFill>
                  <a:schemeClr val="tx1"/>
                </a:solidFill>
                <a:latin typeface="Arial Narrow" pitchFamily="34" charset="0"/>
              </a:rPr>
              <a:t>, que implicaría desembolsar </a:t>
            </a:r>
            <a:r>
              <a:rPr lang="es-ES_tradnl" sz="2000" dirty="0" err="1">
                <a:solidFill>
                  <a:schemeClr val="tx1"/>
                </a:solidFill>
                <a:latin typeface="Arial Narrow" pitchFamily="34" charset="0"/>
              </a:rPr>
              <a:t>1000000X1</a:t>
            </a:r>
            <a:r>
              <a:rPr lang="es-ES_tradnl" sz="2000" dirty="0">
                <a:solidFill>
                  <a:schemeClr val="tx1"/>
                </a:solidFill>
                <a:latin typeface="Arial Narrow" pitchFamily="34" charset="0"/>
              </a:rPr>
              <a:t> dólares  en el periodo 0;</a:t>
            </a:r>
          </a:p>
          <a:p>
            <a:pPr marL="0" indent="0" algn="just">
              <a:buNone/>
            </a:pPr>
            <a:r>
              <a:rPr lang="es-ES_tradnl" sz="2000" dirty="0">
                <a:solidFill>
                  <a:schemeClr val="tx1"/>
                </a:solidFill>
                <a:latin typeface="Arial Narrow" pitchFamily="34" charset="0"/>
              </a:rPr>
              <a:t>2. Participar en el proyecto </a:t>
            </a:r>
            <a:r>
              <a:rPr lang="es-ES_tradnl" sz="2000" dirty="0" err="1">
                <a:solidFill>
                  <a:schemeClr val="tx1"/>
                </a:solidFill>
                <a:latin typeface="Arial Narrow" pitchFamily="34" charset="0"/>
              </a:rPr>
              <a:t>Gravetal</a:t>
            </a:r>
            <a:r>
              <a:rPr lang="es-ES_tradnl" sz="2000" dirty="0">
                <a:solidFill>
                  <a:schemeClr val="tx1"/>
                </a:solidFill>
                <a:latin typeface="Arial Narrow" pitchFamily="34" charset="0"/>
              </a:rPr>
              <a:t> SA, teniendo que gastar </a:t>
            </a:r>
            <a:r>
              <a:rPr lang="es-ES_tradnl" sz="2000" dirty="0" err="1">
                <a:solidFill>
                  <a:schemeClr val="tx1"/>
                </a:solidFill>
                <a:latin typeface="Arial Narrow" pitchFamily="34" charset="0"/>
              </a:rPr>
              <a:t>800000X2</a:t>
            </a:r>
            <a:r>
              <a:rPr lang="es-ES_tradnl" sz="2000" dirty="0">
                <a:solidFill>
                  <a:schemeClr val="tx1"/>
                </a:solidFill>
                <a:latin typeface="Arial Narrow" pitchFamily="34" charset="0"/>
              </a:rPr>
              <a:t>;</a:t>
            </a:r>
          </a:p>
          <a:p>
            <a:pPr marL="0" indent="0" algn="just">
              <a:buNone/>
            </a:pPr>
            <a:r>
              <a:rPr lang="es-ES_tradnl" sz="2000" dirty="0">
                <a:solidFill>
                  <a:schemeClr val="tx1"/>
                </a:solidFill>
                <a:latin typeface="Arial Narrow" pitchFamily="34" charset="0"/>
              </a:rPr>
              <a:t>3. Depositar el dinero al 7% (0 ≤ </a:t>
            </a:r>
            <a:r>
              <a:rPr lang="es-ES_tradnl" sz="2000" dirty="0" err="1">
                <a:solidFill>
                  <a:schemeClr val="tx1"/>
                </a:solidFill>
                <a:latin typeface="Arial Narrow" pitchFamily="34" charset="0"/>
              </a:rPr>
              <a:t>X1</a:t>
            </a:r>
            <a:r>
              <a:rPr lang="es-ES_tradnl" sz="2000" dirty="0">
                <a:solidFill>
                  <a:schemeClr val="tx1"/>
                </a:solidFill>
                <a:latin typeface="Arial Narrow" pitchFamily="34" charset="0"/>
              </a:rPr>
              <a:t> ≤ 1, 0 ≤ </a:t>
            </a:r>
            <a:r>
              <a:rPr lang="es-ES_tradnl" sz="2000" dirty="0" err="1">
                <a:solidFill>
                  <a:schemeClr val="tx1"/>
                </a:solidFill>
                <a:latin typeface="Arial Narrow" pitchFamily="34" charset="0"/>
              </a:rPr>
              <a:t>X2</a:t>
            </a:r>
            <a:r>
              <a:rPr lang="es-ES_tradnl" sz="2000" dirty="0">
                <a:solidFill>
                  <a:schemeClr val="tx1"/>
                </a:solidFill>
                <a:latin typeface="Arial Narrow" pitchFamily="34" charset="0"/>
              </a:rPr>
              <a:t> ≤ 1). </a:t>
            </a:r>
          </a:p>
          <a:p>
            <a:pPr marL="0" indent="0" algn="just">
              <a:buNone/>
            </a:pPr>
            <a:r>
              <a:rPr lang="es-ES_tradnl" sz="2000" dirty="0">
                <a:solidFill>
                  <a:schemeClr val="tx1"/>
                </a:solidFill>
                <a:latin typeface="Arial Narrow" pitchFamily="34" charset="0"/>
              </a:rPr>
              <a:t>Estas opciones no son excluyentes entre ellas. Por lo tanto, se tiene que cumplir la siguiente ecuación de equilibrio: 1500 000 = 1000 </a:t>
            </a:r>
            <a:r>
              <a:rPr lang="es-ES_tradnl" sz="2000" dirty="0" err="1">
                <a:solidFill>
                  <a:schemeClr val="tx1"/>
                </a:solidFill>
                <a:latin typeface="Arial Narrow" pitchFamily="34" charset="0"/>
              </a:rPr>
              <a:t>000X1</a:t>
            </a:r>
            <a:r>
              <a:rPr lang="es-ES_tradnl" sz="2000" dirty="0">
                <a:solidFill>
                  <a:schemeClr val="tx1"/>
                </a:solidFill>
                <a:latin typeface="Arial Narrow" pitchFamily="34" charset="0"/>
              </a:rPr>
              <a:t> + </a:t>
            </a:r>
            <a:r>
              <a:rPr lang="es-ES_tradnl" sz="2000" dirty="0" err="1">
                <a:solidFill>
                  <a:schemeClr val="tx1"/>
                </a:solidFill>
                <a:latin typeface="Arial Narrow" pitchFamily="34" charset="0"/>
              </a:rPr>
              <a:t>800000X2</a:t>
            </a:r>
            <a:r>
              <a:rPr lang="es-ES_tradnl" sz="2000" dirty="0">
                <a:solidFill>
                  <a:schemeClr val="tx1"/>
                </a:solidFill>
                <a:latin typeface="Arial Narrow" pitchFamily="34" charset="0"/>
              </a:rPr>
              <a:t> + </a:t>
            </a:r>
            <a:r>
              <a:rPr lang="es-ES_tradnl" sz="2000" dirty="0" err="1">
                <a:solidFill>
                  <a:schemeClr val="tx1"/>
                </a:solidFill>
                <a:latin typeface="Arial Narrow" pitchFamily="34" charset="0"/>
              </a:rPr>
              <a:t>S0</a:t>
            </a:r>
            <a:endParaRPr lang="es-ES_tradnl" sz="2000" dirty="0">
              <a:solidFill>
                <a:schemeClr val="tx1"/>
              </a:solidFill>
              <a:latin typeface="Arial Narrow" pitchFamily="34" charset="0"/>
            </a:endParaRPr>
          </a:p>
          <a:p>
            <a:pPr marL="0" indent="0" algn="just">
              <a:buNone/>
            </a:pPr>
            <a:r>
              <a:rPr lang="es-ES_tradnl" sz="2000" dirty="0">
                <a:latin typeface="Arial Narrow" pitchFamily="34" charset="0"/>
              </a:rPr>
              <a:t>Al cabo de seis meses, la empresa ingresará 500000 dólares,  gracias a inversiones realizadas anteriormente. </a:t>
            </a:r>
          </a:p>
          <a:p>
            <a:pPr marL="0" indent="0" algn="just">
              <a:buNone/>
            </a:pPr>
            <a:endParaRPr lang="es-ES_tradnl" sz="2000" dirty="0">
              <a:solidFill>
                <a:schemeClr val="tx1"/>
              </a:solidFill>
              <a:latin typeface="Arial Narrow" pitchFamily="34" charset="0"/>
            </a:endParaRPr>
          </a:p>
        </p:txBody>
      </p:sp>
      <p:sp>
        <p:nvSpPr>
          <p:cNvPr id="4" name="2 Marcador de contenido">
            <a:extLst>
              <a:ext uri="{FF2B5EF4-FFF2-40B4-BE49-F238E27FC236}">
                <a16:creationId xmlns:a16="http://schemas.microsoft.com/office/drawing/2014/main" id="{F306D341-8460-44F5-9680-CB56ECB758CA}"/>
              </a:ext>
            </a:extLst>
          </p:cNvPr>
          <p:cNvSpPr txBox="1">
            <a:spLocks/>
          </p:cNvSpPr>
          <p:nvPr/>
        </p:nvSpPr>
        <p:spPr>
          <a:xfrm>
            <a:off x="6304875" y="1880558"/>
            <a:ext cx="5610798" cy="48276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ts val="0"/>
              </a:spcBef>
              <a:buFont typeface="Arial" panose="020B0604020202020204" pitchFamily="34" charset="0"/>
              <a:buNone/>
            </a:pPr>
            <a:r>
              <a:rPr lang="es-ES_tradnl" sz="2000" dirty="0">
                <a:latin typeface="Arial Narrow" pitchFamily="34" charset="0"/>
              </a:rPr>
              <a:t>También el dinero depositado en el fondo en el periodo anterior estará a disposición junto con los intereses: </a:t>
            </a:r>
            <a:r>
              <a:rPr lang="es-ES_tradnl" sz="2000" dirty="0" err="1">
                <a:latin typeface="Arial Narrow" pitchFamily="34" charset="0"/>
              </a:rPr>
              <a:t>S0</a:t>
            </a:r>
            <a:r>
              <a:rPr lang="es-ES_tradnl" sz="2000" dirty="0">
                <a:latin typeface="Arial Narrow" pitchFamily="34" charset="0"/>
              </a:rPr>
              <a:t> + </a:t>
            </a:r>
            <a:r>
              <a:rPr lang="es-ES_tradnl" sz="2000" dirty="0" err="1">
                <a:latin typeface="Arial Narrow" pitchFamily="34" charset="0"/>
              </a:rPr>
              <a:t>0,07S0</a:t>
            </a:r>
            <a:r>
              <a:rPr lang="es-ES_tradnl" sz="2000" dirty="0">
                <a:latin typeface="Arial Narrow" pitchFamily="34" charset="0"/>
              </a:rPr>
              <a:t> .</a:t>
            </a:r>
          </a:p>
          <a:p>
            <a:pPr marL="0" indent="0" algn="just">
              <a:spcBef>
                <a:spcPts val="0"/>
              </a:spcBef>
              <a:buFont typeface="Arial" panose="020B0604020202020204" pitchFamily="34" charset="0"/>
              <a:buNone/>
            </a:pPr>
            <a:r>
              <a:rPr lang="es-ES_tradnl" sz="2000" dirty="0">
                <a:latin typeface="Arial Narrow" pitchFamily="34" charset="0"/>
              </a:rPr>
              <a:t>Por otra parte, el proyecto </a:t>
            </a:r>
            <a:r>
              <a:rPr lang="es-ES_tradnl" sz="2000" dirty="0" err="1">
                <a:latin typeface="Arial Narrow" pitchFamily="34" charset="0"/>
              </a:rPr>
              <a:t>Gravetal</a:t>
            </a:r>
            <a:r>
              <a:rPr lang="es-ES_tradnl" sz="2000" dirty="0">
                <a:latin typeface="Arial Narrow" pitchFamily="34" charset="0"/>
              </a:rPr>
              <a:t> SA dará una entrada de dinero igual a </a:t>
            </a:r>
            <a:r>
              <a:rPr lang="es-ES_tradnl" sz="2000" dirty="0" err="1">
                <a:latin typeface="Arial Narrow" pitchFamily="34" charset="0"/>
              </a:rPr>
              <a:t>500000X2</a:t>
            </a:r>
            <a:r>
              <a:rPr lang="es-ES_tradnl" sz="2000" dirty="0">
                <a:latin typeface="Arial Narrow" pitchFamily="34" charset="0"/>
              </a:rPr>
              <a:t>. Con este dinero tendrá que hacer frente al compromiso adquirido con Minera San </a:t>
            </a:r>
            <a:r>
              <a:rPr lang="es-ES_tradnl" sz="2000" dirty="0" err="1">
                <a:latin typeface="Arial Narrow" pitchFamily="34" charset="0"/>
              </a:rPr>
              <a:t>Cristobal</a:t>
            </a:r>
            <a:r>
              <a:rPr lang="es-ES_tradnl" sz="2000" dirty="0">
                <a:latin typeface="Arial Narrow" pitchFamily="34" charset="0"/>
              </a:rPr>
              <a:t>, </a:t>
            </a:r>
            <a:r>
              <a:rPr lang="es-ES_tradnl" sz="2000" dirty="0" err="1">
                <a:latin typeface="Arial Narrow" pitchFamily="34" charset="0"/>
              </a:rPr>
              <a:t>700000X1</a:t>
            </a:r>
            <a:r>
              <a:rPr lang="es-ES_tradnl" sz="2000" dirty="0">
                <a:latin typeface="Arial Narrow" pitchFamily="34" charset="0"/>
              </a:rPr>
              <a:t>, y depositar lo que quede al 7% una vez más. En términos matemáticos:</a:t>
            </a:r>
          </a:p>
          <a:p>
            <a:pPr marL="0" indent="0" algn="just">
              <a:spcBef>
                <a:spcPts val="0"/>
              </a:spcBef>
              <a:buFont typeface="Arial" panose="020B0604020202020204" pitchFamily="34" charset="0"/>
              <a:buNone/>
            </a:pPr>
            <a:r>
              <a:rPr lang="es-ES_tradnl" sz="2000" dirty="0">
                <a:latin typeface="Arial Narrow" pitchFamily="34" charset="0"/>
              </a:rPr>
              <a:t>	500 + </a:t>
            </a:r>
            <a:r>
              <a:rPr lang="es-ES_tradnl" sz="2000" dirty="0" err="1">
                <a:latin typeface="Arial Narrow" pitchFamily="34" charset="0"/>
              </a:rPr>
              <a:t>500X2</a:t>
            </a:r>
            <a:r>
              <a:rPr lang="es-ES_tradnl" sz="2000" dirty="0">
                <a:latin typeface="Arial Narrow" pitchFamily="34" charset="0"/>
              </a:rPr>
              <a:t> + </a:t>
            </a:r>
            <a:r>
              <a:rPr lang="es-ES_tradnl" sz="2000" dirty="0" err="1">
                <a:latin typeface="Arial Narrow" pitchFamily="34" charset="0"/>
              </a:rPr>
              <a:t>1,07S0</a:t>
            </a:r>
            <a:r>
              <a:rPr lang="es-ES_tradnl" sz="2000" dirty="0">
                <a:latin typeface="Arial Narrow" pitchFamily="34" charset="0"/>
              </a:rPr>
              <a:t> = </a:t>
            </a:r>
            <a:r>
              <a:rPr lang="es-ES_tradnl" sz="2000" dirty="0" err="1">
                <a:latin typeface="Arial Narrow" pitchFamily="34" charset="0"/>
              </a:rPr>
              <a:t>700X1</a:t>
            </a:r>
            <a:r>
              <a:rPr lang="es-ES_tradnl" sz="2000" dirty="0">
                <a:latin typeface="Arial Narrow" pitchFamily="34" charset="0"/>
              </a:rPr>
              <a:t> + </a:t>
            </a:r>
            <a:r>
              <a:rPr lang="es-ES_tradnl" sz="2000" dirty="0" err="1">
                <a:latin typeface="Arial Narrow" pitchFamily="34" charset="0"/>
              </a:rPr>
              <a:t>S6</a:t>
            </a:r>
            <a:endParaRPr lang="es-ES_tradnl" sz="2000" dirty="0">
              <a:latin typeface="Arial Narrow" pitchFamily="34" charset="0"/>
            </a:endParaRPr>
          </a:p>
          <a:p>
            <a:pPr marL="0" indent="0" algn="just">
              <a:spcBef>
                <a:spcPts val="0"/>
              </a:spcBef>
              <a:buFont typeface="Arial" panose="020B0604020202020204" pitchFamily="34" charset="0"/>
              <a:buNone/>
            </a:pPr>
            <a:r>
              <a:rPr lang="es-ES_tradnl" sz="2000" dirty="0">
                <a:latin typeface="Arial Narrow" pitchFamily="34" charset="0"/>
              </a:rPr>
              <a:t>En el periodo 12, la empresa recibirá 400000 dólares,  de inversiones anteriores,  y </a:t>
            </a:r>
            <a:r>
              <a:rPr lang="es-ES_tradnl" sz="2000" dirty="0" err="1">
                <a:latin typeface="Arial Narrow" pitchFamily="34" charset="0"/>
              </a:rPr>
              <a:t>1800000X1</a:t>
            </a:r>
            <a:r>
              <a:rPr lang="es-ES_tradnl" sz="2000" dirty="0">
                <a:latin typeface="Arial Narrow" pitchFamily="34" charset="0"/>
              </a:rPr>
              <a:t>  del proyecto Minera San </a:t>
            </a:r>
            <a:r>
              <a:rPr lang="es-ES_tradnl" sz="2000" dirty="0" err="1">
                <a:latin typeface="Arial Narrow" pitchFamily="34" charset="0"/>
              </a:rPr>
              <a:t>Cristobal</a:t>
            </a:r>
            <a:r>
              <a:rPr lang="es-ES_tradnl" sz="2000" dirty="0">
                <a:latin typeface="Arial Narrow" pitchFamily="34" charset="0"/>
              </a:rPr>
              <a:t> y el dinero del fondo junto con los intereses.</a:t>
            </a:r>
          </a:p>
          <a:p>
            <a:pPr marL="0" indent="0" algn="just">
              <a:spcBef>
                <a:spcPts val="0"/>
              </a:spcBef>
              <a:buFont typeface="Arial" panose="020B0604020202020204" pitchFamily="34" charset="0"/>
              <a:buNone/>
            </a:pPr>
            <a:r>
              <a:rPr lang="es-ES_tradnl" sz="2000" dirty="0">
                <a:latin typeface="Arial Narrow" pitchFamily="34" charset="0"/>
              </a:rPr>
              <a:t>Con estos ingresos tendrá que cubrir el compromiso del proyecto </a:t>
            </a:r>
            <a:r>
              <a:rPr lang="es-ES_tradnl" sz="2000" dirty="0" err="1">
                <a:latin typeface="Arial Narrow" pitchFamily="34" charset="0"/>
              </a:rPr>
              <a:t>Gravetal</a:t>
            </a:r>
            <a:r>
              <a:rPr lang="es-ES_tradnl" sz="2000" dirty="0">
                <a:latin typeface="Arial Narrow" pitchFamily="34" charset="0"/>
              </a:rPr>
              <a:t> SA, </a:t>
            </a:r>
            <a:r>
              <a:rPr lang="es-ES_tradnl" sz="2000" dirty="0" err="1">
                <a:latin typeface="Arial Narrow" pitchFamily="34" charset="0"/>
              </a:rPr>
              <a:t>200X2</a:t>
            </a:r>
            <a:r>
              <a:rPr lang="es-ES_tradnl" sz="2000" dirty="0">
                <a:latin typeface="Arial Narrow" pitchFamily="34" charset="0"/>
              </a:rPr>
              <a:t> y depositar </a:t>
            </a:r>
            <a:r>
              <a:rPr lang="es-ES_tradnl" sz="2000" dirty="0" err="1">
                <a:latin typeface="Arial Narrow" pitchFamily="34" charset="0"/>
              </a:rPr>
              <a:t>S12</a:t>
            </a:r>
            <a:r>
              <a:rPr lang="es-ES_tradnl" sz="2000" dirty="0">
                <a:latin typeface="Arial Narrow" pitchFamily="34" charset="0"/>
              </a:rPr>
              <a:t>  en el fondo.</a:t>
            </a:r>
          </a:p>
          <a:p>
            <a:pPr marL="0" indent="0" algn="just">
              <a:spcBef>
                <a:spcPts val="0"/>
              </a:spcBef>
              <a:buFont typeface="Arial" panose="020B0604020202020204" pitchFamily="34" charset="0"/>
              <a:buNone/>
            </a:pPr>
            <a:r>
              <a:rPr lang="es-ES_tradnl" sz="2000" dirty="0">
                <a:latin typeface="Arial Narrow" pitchFamily="34" charset="0"/>
              </a:rPr>
              <a:t> En términos matemáticos:    </a:t>
            </a:r>
          </a:p>
          <a:p>
            <a:pPr marL="0" indent="0" algn="just">
              <a:spcBef>
                <a:spcPts val="0"/>
              </a:spcBef>
              <a:buFont typeface="Arial" panose="020B0604020202020204" pitchFamily="34" charset="0"/>
              <a:buNone/>
            </a:pPr>
            <a:r>
              <a:rPr lang="es-ES_tradnl" sz="2000" dirty="0">
                <a:latin typeface="Arial Narrow" pitchFamily="34" charset="0"/>
              </a:rPr>
              <a:t>	400 + </a:t>
            </a:r>
            <a:r>
              <a:rPr lang="es-ES_tradnl" sz="2000" dirty="0" err="1">
                <a:latin typeface="Arial Narrow" pitchFamily="34" charset="0"/>
              </a:rPr>
              <a:t>1800X1</a:t>
            </a:r>
            <a:r>
              <a:rPr lang="es-ES_tradnl" sz="2000" dirty="0">
                <a:latin typeface="Arial Narrow" pitchFamily="34" charset="0"/>
              </a:rPr>
              <a:t> + </a:t>
            </a:r>
            <a:r>
              <a:rPr lang="es-ES_tradnl" sz="2000" dirty="0" err="1">
                <a:latin typeface="Arial Narrow" pitchFamily="34" charset="0"/>
              </a:rPr>
              <a:t>1,07S6</a:t>
            </a:r>
            <a:r>
              <a:rPr lang="es-ES_tradnl" sz="2000" dirty="0">
                <a:latin typeface="Arial Narrow" pitchFamily="34" charset="0"/>
              </a:rPr>
              <a:t> = </a:t>
            </a:r>
            <a:r>
              <a:rPr lang="es-ES_tradnl" sz="2000" dirty="0" err="1">
                <a:latin typeface="Arial Narrow" pitchFamily="34" charset="0"/>
              </a:rPr>
              <a:t>200X2</a:t>
            </a:r>
            <a:r>
              <a:rPr lang="es-ES_tradnl" sz="2000" dirty="0">
                <a:latin typeface="Arial Narrow" pitchFamily="34" charset="0"/>
              </a:rPr>
              <a:t> + </a:t>
            </a:r>
            <a:r>
              <a:rPr lang="es-ES_tradnl" sz="2000" dirty="0" err="1">
                <a:latin typeface="Arial Narrow" pitchFamily="34" charset="0"/>
              </a:rPr>
              <a:t>S12</a:t>
            </a:r>
            <a:endParaRPr lang="es-ES_tradnl" sz="2000" dirty="0">
              <a:latin typeface="Arial Narrow" pitchFamily="34" charset="0"/>
            </a:endParaRPr>
          </a:p>
          <a:p>
            <a:pPr marL="0" indent="0" algn="just">
              <a:spcBef>
                <a:spcPts val="0"/>
              </a:spcBef>
              <a:buFont typeface="Arial" panose="020B0604020202020204" pitchFamily="34" charset="0"/>
              <a:buNone/>
            </a:pPr>
            <a:endParaRPr lang="es-ES_tradnl" sz="2000" dirty="0">
              <a:latin typeface="Arial Narrow" pitchFamily="34" charset="0"/>
            </a:endParaRPr>
          </a:p>
        </p:txBody>
      </p:sp>
      <p:sp>
        <p:nvSpPr>
          <p:cNvPr id="5" name="Rectangle 2">
            <a:extLst>
              <a:ext uri="{FF2B5EF4-FFF2-40B4-BE49-F238E27FC236}">
                <a16:creationId xmlns:a16="http://schemas.microsoft.com/office/drawing/2014/main" id="{9D827023-3010-47FE-9827-1BA894EDC40C}"/>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12</a:t>
            </a:r>
          </a:p>
        </p:txBody>
      </p:sp>
      <p:sp>
        <p:nvSpPr>
          <p:cNvPr id="3" name="Rectángulo 2">
            <a:extLst>
              <a:ext uri="{FF2B5EF4-FFF2-40B4-BE49-F238E27FC236}">
                <a16:creationId xmlns:a16="http://schemas.microsoft.com/office/drawing/2014/main" id="{DFF855D8-D527-455C-A56A-213365BFC5E2}"/>
              </a:ext>
            </a:extLst>
          </p:cNvPr>
          <p:cNvSpPr/>
          <p:nvPr/>
        </p:nvSpPr>
        <p:spPr>
          <a:xfrm>
            <a:off x="220303" y="1398281"/>
            <a:ext cx="2072555" cy="369332"/>
          </a:xfrm>
          <a:prstGeom prst="rect">
            <a:avLst/>
          </a:prstGeom>
        </p:spPr>
        <p:txBody>
          <a:bodyPr wrap="none">
            <a:spAutoFit/>
          </a:bodyPr>
          <a:lstStyle/>
          <a:p>
            <a:pPr algn="just"/>
            <a:r>
              <a:rPr lang="es-ES_tradnl" b="1" dirty="0">
                <a:solidFill>
                  <a:srgbClr val="FF0000"/>
                </a:solidFill>
                <a:latin typeface="Arial Narrow" pitchFamily="34" charset="0"/>
              </a:rPr>
              <a:t>SOLUCIÓN:  Análisis</a:t>
            </a:r>
          </a:p>
        </p:txBody>
      </p:sp>
    </p:spTree>
    <p:extLst>
      <p:ext uri="{BB962C8B-B14F-4D97-AF65-F5344CB8AC3E}">
        <p14:creationId xmlns:p14="http://schemas.microsoft.com/office/powerpoint/2010/main" val="35940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2 Marcador de contenido"/>
          <p:cNvSpPr>
            <a:spLocks noGrp="1"/>
          </p:cNvSpPr>
          <p:nvPr>
            <p:ph sz="quarter" idx="1"/>
          </p:nvPr>
        </p:nvSpPr>
        <p:spPr>
          <a:xfrm>
            <a:off x="209622" y="1673520"/>
            <a:ext cx="5886378" cy="5184480"/>
          </a:xfrm>
        </p:spPr>
        <p:txBody>
          <a:bodyPr vert="horz" lIns="91440" tIns="45720" rIns="91440" bIns="45720" rtlCol="0">
            <a:noAutofit/>
          </a:bodyPr>
          <a:lstStyle/>
          <a:p>
            <a:pPr marL="0" indent="0" algn="just">
              <a:buNone/>
            </a:pPr>
            <a:r>
              <a:rPr lang="es-ES_tradnl" sz="2000" dirty="0">
                <a:solidFill>
                  <a:schemeClr val="tx1"/>
                </a:solidFill>
                <a:latin typeface="Arial Narrow" pitchFamily="34" charset="0"/>
              </a:rPr>
              <a:t>En el periodo 18, los ingresos que tendrá la empresa vendrán de inversiones anteriores (380000), del proyecto Minera San </a:t>
            </a:r>
            <a:r>
              <a:rPr lang="es-ES_tradnl" sz="2000" dirty="0" err="1">
                <a:solidFill>
                  <a:schemeClr val="tx1"/>
                </a:solidFill>
                <a:latin typeface="Arial Narrow" pitchFamily="34" charset="0"/>
              </a:rPr>
              <a:t>Cristobal</a:t>
            </a:r>
            <a:r>
              <a:rPr lang="es-ES_tradnl" sz="2000" dirty="0">
                <a:solidFill>
                  <a:schemeClr val="tx1"/>
                </a:solidFill>
                <a:latin typeface="Arial Narrow" pitchFamily="34" charset="0"/>
              </a:rPr>
              <a:t> (</a:t>
            </a:r>
            <a:r>
              <a:rPr lang="es-ES_tradnl" sz="2000" dirty="0" err="1">
                <a:solidFill>
                  <a:schemeClr val="tx1"/>
                </a:solidFill>
                <a:latin typeface="Arial Narrow" pitchFamily="34" charset="0"/>
              </a:rPr>
              <a:t>400000X1</a:t>
            </a:r>
            <a:r>
              <a:rPr lang="es-ES_tradnl" sz="2000" dirty="0">
                <a:solidFill>
                  <a:schemeClr val="tx1"/>
                </a:solidFill>
                <a:latin typeface="Arial Narrow" pitchFamily="34" charset="0"/>
              </a:rPr>
              <a:t>) y del depósito realizado en el periodo anterior incluyendo los intereses (</a:t>
            </a:r>
            <a:r>
              <a:rPr lang="es-ES_tradnl" sz="2000" dirty="0" err="1">
                <a:solidFill>
                  <a:schemeClr val="tx1"/>
                </a:solidFill>
                <a:latin typeface="Arial Narrow" pitchFamily="34" charset="0"/>
              </a:rPr>
              <a:t>1,07S12</a:t>
            </a:r>
            <a:r>
              <a:rPr lang="es-ES_tradnl" sz="2000" dirty="0">
                <a:solidFill>
                  <a:schemeClr val="tx1"/>
                </a:solidFill>
                <a:latin typeface="Arial Narrow" pitchFamily="34" charset="0"/>
              </a:rPr>
              <a:t> ). Con este dinero tendrá que realizar un gasto de </a:t>
            </a:r>
            <a:r>
              <a:rPr lang="es-ES_tradnl" sz="2000" dirty="0" err="1">
                <a:solidFill>
                  <a:schemeClr val="tx1"/>
                </a:solidFill>
                <a:latin typeface="Arial Narrow" pitchFamily="34" charset="0"/>
              </a:rPr>
              <a:t>700000X2</a:t>
            </a:r>
            <a:r>
              <a:rPr lang="es-ES_tradnl" sz="2000" dirty="0">
                <a:solidFill>
                  <a:schemeClr val="tx1"/>
                </a:solidFill>
                <a:latin typeface="Arial Narrow" pitchFamily="34" charset="0"/>
              </a:rPr>
              <a:t> en el proyecto </a:t>
            </a:r>
            <a:r>
              <a:rPr lang="es-ES_tradnl" sz="2000" dirty="0" err="1">
                <a:solidFill>
                  <a:schemeClr val="tx1"/>
                </a:solidFill>
                <a:latin typeface="Arial Narrow" pitchFamily="34" charset="0"/>
              </a:rPr>
              <a:t>Gravetal</a:t>
            </a:r>
            <a:r>
              <a:rPr lang="es-ES_tradnl" sz="2000" dirty="0">
                <a:solidFill>
                  <a:schemeClr val="tx1"/>
                </a:solidFill>
                <a:latin typeface="Arial Narrow" pitchFamily="34" charset="0"/>
              </a:rPr>
              <a:t> y el resto puede volver a ponerlo en el fondo (</a:t>
            </a:r>
            <a:r>
              <a:rPr lang="es-ES_tradnl" sz="2000" dirty="0" err="1">
                <a:solidFill>
                  <a:schemeClr val="tx1"/>
                </a:solidFill>
                <a:latin typeface="Arial Narrow" pitchFamily="34" charset="0"/>
              </a:rPr>
              <a:t>S18</a:t>
            </a:r>
            <a:r>
              <a:rPr lang="es-ES_tradnl" sz="2000" dirty="0">
                <a:solidFill>
                  <a:schemeClr val="tx1"/>
                </a:solidFill>
                <a:latin typeface="Arial Narrow" pitchFamily="34" charset="0"/>
              </a:rPr>
              <a:t>). Es decir:      380 + </a:t>
            </a:r>
            <a:r>
              <a:rPr lang="es-ES_tradnl" sz="2000" dirty="0" err="1">
                <a:solidFill>
                  <a:schemeClr val="tx1"/>
                </a:solidFill>
                <a:latin typeface="Arial Narrow" pitchFamily="34" charset="0"/>
              </a:rPr>
              <a:t>400X1</a:t>
            </a:r>
            <a:r>
              <a:rPr lang="es-ES_tradnl" sz="2000" dirty="0">
                <a:solidFill>
                  <a:schemeClr val="tx1"/>
                </a:solidFill>
                <a:latin typeface="Arial Narrow" pitchFamily="34" charset="0"/>
              </a:rPr>
              <a:t> + </a:t>
            </a:r>
            <a:r>
              <a:rPr lang="es-ES_tradnl" sz="2000" dirty="0" err="1">
                <a:solidFill>
                  <a:schemeClr val="tx1"/>
                </a:solidFill>
                <a:latin typeface="Arial Narrow" pitchFamily="34" charset="0"/>
              </a:rPr>
              <a:t>1,07S12</a:t>
            </a:r>
            <a:r>
              <a:rPr lang="es-ES_tradnl" sz="2000" dirty="0">
                <a:solidFill>
                  <a:schemeClr val="tx1"/>
                </a:solidFill>
                <a:latin typeface="Arial Narrow" pitchFamily="34" charset="0"/>
              </a:rPr>
              <a:t> = </a:t>
            </a:r>
            <a:r>
              <a:rPr lang="es-ES_tradnl" sz="2000" dirty="0" err="1">
                <a:solidFill>
                  <a:schemeClr val="tx1"/>
                </a:solidFill>
                <a:latin typeface="Arial Narrow" pitchFamily="34" charset="0"/>
              </a:rPr>
              <a:t>700X2</a:t>
            </a:r>
            <a:r>
              <a:rPr lang="es-ES_tradnl" sz="2000" dirty="0">
                <a:solidFill>
                  <a:schemeClr val="tx1"/>
                </a:solidFill>
                <a:latin typeface="Arial Narrow" pitchFamily="34" charset="0"/>
              </a:rPr>
              <a:t> + </a:t>
            </a:r>
            <a:r>
              <a:rPr lang="es-ES_tradnl" sz="2000" dirty="0" err="1">
                <a:solidFill>
                  <a:schemeClr val="tx1"/>
                </a:solidFill>
                <a:latin typeface="Arial Narrow" pitchFamily="34" charset="0"/>
              </a:rPr>
              <a:t>S18</a:t>
            </a:r>
            <a:endParaRPr lang="es-ES_tradnl" sz="2000" dirty="0">
              <a:solidFill>
                <a:schemeClr val="tx1"/>
              </a:solidFill>
              <a:latin typeface="Arial Narrow" pitchFamily="34" charset="0"/>
            </a:endParaRPr>
          </a:p>
          <a:p>
            <a:pPr marL="0" indent="0" algn="just">
              <a:buNone/>
            </a:pPr>
            <a:r>
              <a:rPr lang="es-ES_tradnl" sz="2000" dirty="0">
                <a:solidFill>
                  <a:schemeClr val="tx1"/>
                </a:solidFill>
                <a:latin typeface="Arial Narrow" pitchFamily="34" charset="0"/>
              </a:rPr>
              <a:t>Finalmente, al cabo de dos años (periodo 24), el BISA tendrá únicamente ingresos y no tendrá ningún gasto. Los ingresos provienen de los dos proyectos (</a:t>
            </a:r>
            <a:r>
              <a:rPr lang="es-ES_tradnl" sz="2000" dirty="0" err="1">
                <a:solidFill>
                  <a:schemeClr val="tx1"/>
                </a:solidFill>
                <a:latin typeface="Arial Narrow" pitchFamily="34" charset="0"/>
              </a:rPr>
              <a:t>600.000X1</a:t>
            </a:r>
            <a:r>
              <a:rPr lang="es-ES_tradnl" sz="2000" dirty="0">
                <a:solidFill>
                  <a:schemeClr val="tx1"/>
                </a:solidFill>
                <a:latin typeface="Arial Narrow" pitchFamily="34" charset="0"/>
              </a:rPr>
              <a:t> + </a:t>
            </a:r>
            <a:r>
              <a:rPr lang="es-ES_tradnl" sz="2000" dirty="0" err="1">
                <a:solidFill>
                  <a:schemeClr val="tx1"/>
                </a:solidFill>
                <a:latin typeface="Arial Narrow" pitchFamily="34" charset="0"/>
              </a:rPr>
              <a:t>2.000.000X2</a:t>
            </a:r>
            <a:r>
              <a:rPr lang="es-ES_tradnl" sz="2000" dirty="0">
                <a:solidFill>
                  <a:schemeClr val="tx1"/>
                </a:solidFill>
                <a:latin typeface="Arial Narrow" pitchFamily="34" charset="0"/>
              </a:rPr>
              <a:t>) y del dinero depositado en el periodo anterior, 1,07 </a:t>
            </a:r>
            <a:r>
              <a:rPr lang="es-ES_tradnl" sz="2000" dirty="0" err="1">
                <a:solidFill>
                  <a:schemeClr val="tx1"/>
                </a:solidFill>
                <a:latin typeface="Arial Narrow" pitchFamily="34" charset="0"/>
              </a:rPr>
              <a:t>S18</a:t>
            </a:r>
            <a:r>
              <a:rPr lang="es-ES_tradnl" sz="2000" dirty="0">
                <a:solidFill>
                  <a:schemeClr val="tx1"/>
                </a:solidFill>
                <a:latin typeface="Arial Narrow" pitchFamily="34" charset="0"/>
              </a:rPr>
              <a:t>.</a:t>
            </a:r>
          </a:p>
          <a:p>
            <a:pPr marL="0" indent="0" algn="just">
              <a:buNone/>
            </a:pPr>
            <a:r>
              <a:rPr lang="es-ES_tradnl" sz="2000" dirty="0">
                <a:solidFill>
                  <a:schemeClr val="tx1"/>
                </a:solidFill>
                <a:latin typeface="Arial Narrow" pitchFamily="34" charset="0"/>
              </a:rPr>
              <a:t>La Función objetivo es Maximizar los ingresos al cabo de dos años. Los ingresos realizados en el periodo 24 en miles de dólares, tendremos que: MAX  </a:t>
            </a:r>
            <a:r>
              <a:rPr lang="es-ES_tradnl" sz="2000" dirty="0" err="1">
                <a:solidFill>
                  <a:schemeClr val="tx1"/>
                </a:solidFill>
                <a:latin typeface="Arial Narrow" pitchFamily="34" charset="0"/>
              </a:rPr>
              <a:t>600X1+2000X2</a:t>
            </a:r>
            <a:r>
              <a:rPr lang="es-ES_tradnl" sz="2000" dirty="0">
                <a:solidFill>
                  <a:schemeClr val="tx1"/>
                </a:solidFill>
                <a:latin typeface="Arial Narrow" pitchFamily="34" charset="0"/>
              </a:rPr>
              <a:t>+ </a:t>
            </a:r>
            <a:r>
              <a:rPr lang="es-ES_tradnl" sz="2000" dirty="0" err="1">
                <a:solidFill>
                  <a:schemeClr val="tx1"/>
                </a:solidFill>
                <a:latin typeface="Arial Narrow" pitchFamily="34" charset="0"/>
              </a:rPr>
              <a:t>107S18</a:t>
            </a:r>
            <a:endParaRPr lang="es-ES_tradnl" sz="2000" dirty="0">
              <a:solidFill>
                <a:schemeClr val="tx1"/>
              </a:solidFill>
              <a:latin typeface="Arial Narrow" pitchFamily="34" charset="0"/>
            </a:endParaRPr>
          </a:p>
          <a:p>
            <a:pPr marL="0" indent="0" algn="just">
              <a:buNone/>
            </a:pPr>
            <a:r>
              <a:rPr lang="es-ES_tradnl" sz="2000" dirty="0">
                <a:latin typeface="Arial Narrow" pitchFamily="34" charset="0"/>
              </a:rPr>
              <a:t>Finalmente, como solo se puede invertir un máximo de 100% en cada proyecto, las variables </a:t>
            </a:r>
            <a:r>
              <a:rPr lang="es-ES_tradnl" sz="2000" dirty="0" err="1">
                <a:latin typeface="Arial Narrow" pitchFamily="34" charset="0"/>
              </a:rPr>
              <a:t>X1</a:t>
            </a:r>
            <a:r>
              <a:rPr lang="es-ES_tradnl" sz="2000" dirty="0">
                <a:latin typeface="Arial Narrow" pitchFamily="34" charset="0"/>
              </a:rPr>
              <a:t> y </a:t>
            </a:r>
            <a:r>
              <a:rPr lang="es-ES_tradnl" sz="2000" dirty="0" err="1">
                <a:latin typeface="Arial Narrow" pitchFamily="34" charset="0"/>
              </a:rPr>
              <a:t>X2</a:t>
            </a:r>
            <a:r>
              <a:rPr lang="es-ES_tradnl" sz="2000" dirty="0">
                <a:latin typeface="Arial Narrow" pitchFamily="34" charset="0"/>
              </a:rPr>
              <a:t> no pueden exceder la unidad.            </a:t>
            </a:r>
            <a:r>
              <a:rPr lang="es-ES_tradnl" sz="2000" dirty="0" err="1">
                <a:latin typeface="Arial Narrow" pitchFamily="34" charset="0"/>
              </a:rPr>
              <a:t>X1</a:t>
            </a:r>
            <a:r>
              <a:rPr lang="es-ES_tradnl" sz="2000" dirty="0">
                <a:latin typeface="Arial Narrow" pitchFamily="34" charset="0"/>
              </a:rPr>
              <a:t> ≤ 1                  </a:t>
            </a:r>
            <a:r>
              <a:rPr lang="es-ES_tradnl" sz="2000" dirty="0" err="1">
                <a:latin typeface="Arial Narrow" pitchFamily="34" charset="0"/>
              </a:rPr>
              <a:t>X2</a:t>
            </a:r>
            <a:r>
              <a:rPr lang="es-ES_tradnl" sz="2000" dirty="0">
                <a:latin typeface="Arial Narrow" pitchFamily="34" charset="0"/>
              </a:rPr>
              <a:t> ≤ 1</a:t>
            </a:r>
            <a:endParaRPr lang="es-ES_tradnl" sz="2000" dirty="0">
              <a:solidFill>
                <a:schemeClr val="tx1"/>
              </a:solidFill>
              <a:latin typeface="Arial Narrow" pitchFamily="34" charset="0"/>
            </a:endParaRPr>
          </a:p>
        </p:txBody>
      </p:sp>
      <p:sp>
        <p:nvSpPr>
          <p:cNvPr id="3" name="2 Marcador de contenido">
            <a:extLst>
              <a:ext uri="{FF2B5EF4-FFF2-40B4-BE49-F238E27FC236}">
                <a16:creationId xmlns:a16="http://schemas.microsoft.com/office/drawing/2014/main" id="{D1444052-3A78-4532-B9DD-128621393085}"/>
              </a:ext>
            </a:extLst>
          </p:cNvPr>
          <p:cNvSpPr txBox="1">
            <a:spLocks/>
          </p:cNvSpPr>
          <p:nvPr/>
        </p:nvSpPr>
        <p:spPr>
          <a:xfrm>
            <a:off x="6347490" y="1521795"/>
            <a:ext cx="5844510" cy="1907205"/>
          </a:xfrm>
          <a:prstGeom prst="rect">
            <a:avLst/>
          </a:prstGeom>
          <a:solidFill>
            <a:schemeClr val="accent1">
              <a:lumMod val="20000"/>
              <a:lumOff val="80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Font typeface="Arial" panose="020B0604020202020204" pitchFamily="34" charset="0"/>
              <a:buNone/>
            </a:pPr>
            <a:r>
              <a:rPr lang="es-ES_tradnl" sz="2000" b="1" dirty="0">
                <a:solidFill>
                  <a:srgbClr val="FF0000"/>
                </a:solidFill>
                <a:latin typeface="Arial Narrow" pitchFamily="34" charset="0"/>
              </a:rPr>
              <a:t>Identificación de las variables</a:t>
            </a:r>
          </a:p>
          <a:p>
            <a:pPr marL="0" indent="0" algn="just">
              <a:lnSpc>
                <a:spcPct val="100000"/>
              </a:lnSpc>
              <a:spcBef>
                <a:spcPts val="0"/>
              </a:spcBef>
              <a:buFont typeface="Arial" panose="020B0604020202020204" pitchFamily="34" charset="0"/>
              <a:buNone/>
            </a:pPr>
            <a:r>
              <a:rPr lang="es-ES_tradnl" sz="2000" dirty="0" err="1">
                <a:latin typeface="Arial Narrow" pitchFamily="34" charset="0"/>
              </a:rPr>
              <a:t>X1</a:t>
            </a:r>
            <a:r>
              <a:rPr lang="es-ES_tradnl" sz="2000" dirty="0">
                <a:latin typeface="Arial Narrow" pitchFamily="34" charset="0"/>
              </a:rPr>
              <a:t>= Porcentaje de participación en el proyecto Minera San </a:t>
            </a:r>
            <a:r>
              <a:rPr lang="es-ES_tradnl" sz="2000" dirty="0" err="1">
                <a:latin typeface="Arial Narrow" pitchFamily="34" charset="0"/>
              </a:rPr>
              <a:t>Cristobal</a:t>
            </a:r>
            <a:endParaRPr lang="es-ES_tradnl" sz="2000" dirty="0">
              <a:latin typeface="Arial Narrow" pitchFamily="34" charset="0"/>
            </a:endParaRPr>
          </a:p>
          <a:p>
            <a:pPr marL="0" indent="0" algn="just">
              <a:lnSpc>
                <a:spcPct val="100000"/>
              </a:lnSpc>
              <a:spcBef>
                <a:spcPts val="0"/>
              </a:spcBef>
              <a:buFont typeface="Arial" panose="020B0604020202020204" pitchFamily="34" charset="0"/>
              <a:buNone/>
            </a:pPr>
            <a:r>
              <a:rPr lang="es-ES_tradnl" sz="2000" dirty="0" err="1">
                <a:latin typeface="Arial Narrow" pitchFamily="34" charset="0"/>
              </a:rPr>
              <a:t>X2</a:t>
            </a:r>
            <a:r>
              <a:rPr lang="es-ES_tradnl" sz="2000" dirty="0">
                <a:latin typeface="Arial Narrow" pitchFamily="34" charset="0"/>
              </a:rPr>
              <a:t>= Porcentaje de participación en el proyecto </a:t>
            </a:r>
            <a:r>
              <a:rPr lang="es-ES_tradnl" sz="2000" dirty="0" err="1">
                <a:latin typeface="Arial Narrow" pitchFamily="34" charset="0"/>
              </a:rPr>
              <a:t>Gravetal</a:t>
            </a:r>
            <a:r>
              <a:rPr lang="es-ES_tradnl" sz="2000" dirty="0">
                <a:latin typeface="Arial Narrow" pitchFamily="34" charset="0"/>
              </a:rPr>
              <a:t> S.A.</a:t>
            </a:r>
          </a:p>
          <a:p>
            <a:pPr marL="0" indent="0" algn="just">
              <a:lnSpc>
                <a:spcPct val="100000"/>
              </a:lnSpc>
              <a:spcBef>
                <a:spcPts val="0"/>
              </a:spcBef>
              <a:buFont typeface="Arial" panose="020B0604020202020204" pitchFamily="34" charset="0"/>
              <a:buNone/>
            </a:pPr>
            <a:r>
              <a:rPr lang="es-ES_tradnl" sz="2000" dirty="0">
                <a:latin typeface="Arial Narrow" pitchFamily="34" charset="0"/>
              </a:rPr>
              <a:t>Si =Dinero que se depositará en el fondo del periodo i (i= 0, 6 12 y 18 )</a:t>
            </a:r>
          </a:p>
        </p:txBody>
      </p:sp>
      <p:sp>
        <p:nvSpPr>
          <p:cNvPr id="2" name="Rectángulo 1">
            <a:extLst>
              <a:ext uri="{FF2B5EF4-FFF2-40B4-BE49-F238E27FC236}">
                <a16:creationId xmlns:a16="http://schemas.microsoft.com/office/drawing/2014/main" id="{DF01377B-479D-4627-A9D4-C1618A5A10F2}"/>
              </a:ext>
            </a:extLst>
          </p:cNvPr>
          <p:cNvSpPr/>
          <p:nvPr/>
        </p:nvSpPr>
        <p:spPr>
          <a:xfrm>
            <a:off x="6343291" y="4147248"/>
            <a:ext cx="5848709" cy="2246769"/>
          </a:xfrm>
          <a:prstGeom prst="rect">
            <a:avLst/>
          </a:prstGeom>
          <a:solidFill>
            <a:schemeClr val="accent1">
              <a:lumMod val="20000"/>
              <a:lumOff val="80000"/>
            </a:schemeClr>
          </a:solidFill>
        </p:spPr>
        <p:txBody>
          <a:bodyPr wrap="square">
            <a:spAutoFit/>
          </a:bodyPr>
          <a:lstStyle/>
          <a:p>
            <a:pPr algn="just"/>
            <a:r>
              <a:rPr lang="es-ES_tradnl" sz="2000" b="1" dirty="0">
                <a:solidFill>
                  <a:srgbClr val="FF0000"/>
                </a:solidFill>
                <a:latin typeface="Arial Narrow" pitchFamily="34" charset="0"/>
              </a:rPr>
              <a:t>Identificación de las </a:t>
            </a:r>
            <a:r>
              <a:rPr lang="es-ES_tradnl" sz="2000" b="1" dirty="0" err="1">
                <a:solidFill>
                  <a:srgbClr val="FF0000"/>
                </a:solidFill>
                <a:latin typeface="Arial Narrow" pitchFamily="34" charset="0"/>
              </a:rPr>
              <a:t>resticciones</a:t>
            </a:r>
            <a:endParaRPr lang="es-ES_tradnl" sz="2000" b="1" dirty="0">
              <a:solidFill>
                <a:srgbClr val="FF0000"/>
              </a:solidFill>
              <a:latin typeface="Arial Narrow" pitchFamily="34" charset="0"/>
            </a:endParaRPr>
          </a:p>
          <a:p>
            <a:pPr algn="just"/>
            <a:r>
              <a:rPr lang="es-ES_tradnl" sz="2000" dirty="0">
                <a:latin typeface="Arial Narrow" pitchFamily="34" charset="0"/>
              </a:rPr>
              <a:t>                  </a:t>
            </a:r>
            <a:r>
              <a:rPr lang="es-ES_tradnl" sz="2000" dirty="0" err="1">
                <a:latin typeface="Arial Narrow" pitchFamily="34" charset="0"/>
              </a:rPr>
              <a:t>1000X1</a:t>
            </a:r>
            <a:r>
              <a:rPr lang="es-ES_tradnl" sz="2000" dirty="0">
                <a:latin typeface="Arial Narrow" pitchFamily="34" charset="0"/>
              </a:rPr>
              <a:t> + </a:t>
            </a:r>
            <a:r>
              <a:rPr lang="es-ES_tradnl" sz="2000" dirty="0" err="1">
                <a:latin typeface="Arial Narrow" pitchFamily="34" charset="0"/>
              </a:rPr>
              <a:t>800X2</a:t>
            </a:r>
            <a:r>
              <a:rPr lang="es-ES_tradnl" sz="2000" dirty="0">
                <a:latin typeface="Arial Narrow" pitchFamily="34" charset="0"/>
              </a:rPr>
              <a:t> + </a:t>
            </a:r>
            <a:r>
              <a:rPr lang="es-ES_tradnl" sz="2000" dirty="0" err="1">
                <a:latin typeface="Arial Narrow" pitchFamily="34" charset="0"/>
              </a:rPr>
              <a:t>S0</a:t>
            </a:r>
            <a:r>
              <a:rPr lang="es-ES_tradnl" sz="2000" dirty="0">
                <a:latin typeface="Arial Narrow" pitchFamily="34" charset="0"/>
              </a:rPr>
              <a:t> = 1.500</a:t>
            </a:r>
          </a:p>
          <a:p>
            <a:pPr algn="just"/>
            <a:r>
              <a:rPr lang="es-ES_tradnl" sz="2000" dirty="0">
                <a:latin typeface="Arial Narrow" pitchFamily="34" charset="0"/>
              </a:rPr>
              <a:t>        </a:t>
            </a:r>
            <a:r>
              <a:rPr lang="es-ES_tradnl" sz="2000" dirty="0" err="1">
                <a:latin typeface="Arial Narrow" pitchFamily="34" charset="0"/>
              </a:rPr>
              <a:t>700X1</a:t>
            </a:r>
            <a:r>
              <a:rPr lang="es-ES_tradnl" sz="2000" dirty="0">
                <a:latin typeface="Arial Narrow" pitchFamily="34" charset="0"/>
              </a:rPr>
              <a:t> -</a:t>
            </a:r>
            <a:r>
              <a:rPr lang="es-ES_tradnl" sz="2000" dirty="0" err="1">
                <a:latin typeface="Arial Narrow" pitchFamily="34" charset="0"/>
              </a:rPr>
              <a:t>500X2</a:t>
            </a:r>
            <a:r>
              <a:rPr lang="es-ES_tradnl" sz="2000" dirty="0">
                <a:latin typeface="Arial Narrow" pitchFamily="34" charset="0"/>
              </a:rPr>
              <a:t> -</a:t>
            </a:r>
            <a:r>
              <a:rPr lang="es-ES_tradnl" sz="2000" dirty="0" err="1">
                <a:latin typeface="Arial Narrow" pitchFamily="34" charset="0"/>
              </a:rPr>
              <a:t>1,07S0</a:t>
            </a:r>
            <a:r>
              <a:rPr lang="es-ES_tradnl" sz="2000" dirty="0">
                <a:latin typeface="Arial Narrow" pitchFamily="34" charset="0"/>
              </a:rPr>
              <a:t> + </a:t>
            </a:r>
            <a:r>
              <a:rPr lang="es-ES_tradnl" sz="2000" dirty="0" err="1">
                <a:latin typeface="Arial Narrow" pitchFamily="34" charset="0"/>
              </a:rPr>
              <a:t>S6</a:t>
            </a:r>
            <a:r>
              <a:rPr lang="es-ES_tradnl" sz="2000" dirty="0">
                <a:latin typeface="Arial Narrow" pitchFamily="34" charset="0"/>
              </a:rPr>
              <a:t> = 500</a:t>
            </a:r>
          </a:p>
          <a:p>
            <a:pPr algn="just"/>
            <a:r>
              <a:rPr lang="es-ES_tradnl" sz="2000" dirty="0">
                <a:latin typeface="Arial Narrow" pitchFamily="34" charset="0"/>
              </a:rPr>
              <a:t>-</a:t>
            </a:r>
            <a:r>
              <a:rPr lang="es-ES_tradnl" sz="2000" dirty="0" err="1">
                <a:latin typeface="Arial Narrow" pitchFamily="34" charset="0"/>
              </a:rPr>
              <a:t>1.800X1</a:t>
            </a:r>
            <a:r>
              <a:rPr lang="es-ES_tradnl" sz="2000" dirty="0">
                <a:latin typeface="Arial Narrow" pitchFamily="34" charset="0"/>
              </a:rPr>
              <a:t> + </a:t>
            </a:r>
            <a:r>
              <a:rPr lang="es-ES_tradnl" sz="2000" dirty="0" err="1">
                <a:latin typeface="Arial Narrow" pitchFamily="34" charset="0"/>
              </a:rPr>
              <a:t>200X2</a:t>
            </a:r>
            <a:r>
              <a:rPr lang="es-ES_tradnl" sz="2000" dirty="0">
                <a:latin typeface="Arial Narrow" pitchFamily="34" charset="0"/>
              </a:rPr>
              <a:t> -</a:t>
            </a:r>
            <a:r>
              <a:rPr lang="es-ES_tradnl" sz="2000" dirty="0" err="1">
                <a:latin typeface="Arial Narrow" pitchFamily="34" charset="0"/>
              </a:rPr>
              <a:t>1,07S6</a:t>
            </a:r>
            <a:r>
              <a:rPr lang="es-ES_tradnl" sz="2000" dirty="0">
                <a:latin typeface="Arial Narrow" pitchFamily="34" charset="0"/>
              </a:rPr>
              <a:t> + </a:t>
            </a:r>
            <a:r>
              <a:rPr lang="es-ES_tradnl" sz="2000" dirty="0" err="1">
                <a:latin typeface="Arial Narrow" pitchFamily="34" charset="0"/>
              </a:rPr>
              <a:t>S12</a:t>
            </a:r>
            <a:r>
              <a:rPr lang="es-ES_tradnl" sz="2000" dirty="0">
                <a:latin typeface="Arial Narrow" pitchFamily="34" charset="0"/>
              </a:rPr>
              <a:t> = 400</a:t>
            </a:r>
          </a:p>
          <a:p>
            <a:pPr algn="just"/>
            <a:r>
              <a:rPr lang="es-ES_tradnl" sz="2000" dirty="0">
                <a:latin typeface="Arial Narrow" pitchFamily="34" charset="0"/>
              </a:rPr>
              <a:t> -</a:t>
            </a:r>
            <a:r>
              <a:rPr lang="es-ES_tradnl" sz="2000" dirty="0" err="1">
                <a:latin typeface="Arial Narrow" pitchFamily="34" charset="0"/>
              </a:rPr>
              <a:t>400X1</a:t>
            </a:r>
            <a:r>
              <a:rPr lang="es-ES_tradnl" sz="2000" dirty="0">
                <a:latin typeface="Arial Narrow" pitchFamily="34" charset="0"/>
              </a:rPr>
              <a:t> + </a:t>
            </a:r>
            <a:r>
              <a:rPr lang="es-ES_tradnl" sz="2000" dirty="0" err="1">
                <a:latin typeface="Arial Narrow" pitchFamily="34" charset="0"/>
              </a:rPr>
              <a:t>700X2</a:t>
            </a:r>
            <a:r>
              <a:rPr lang="es-ES_tradnl" sz="2000" dirty="0">
                <a:latin typeface="Arial Narrow" pitchFamily="34" charset="0"/>
              </a:rPr>
              <a:t> -</a:t>
            </a:r>
            <a:r>
              <a:rPr lang="es-ES_tradnl" sz="2000" dirty="0" err="1">
                <a:latin typeface="Arial Narrow" pitchFamily="34" charset="0"/>
              </a:rPr>
              <a:t>1,07S12</a:t>
            </a:r>
            <a:r>
              <a:rPr lang="es-ES_tradnl" sz="2000" dirty="0">
                <a:latin typeface="Arial Narrow" pitchFamily="34" charset="0"/>
              </a:rPr>
              <a:t> + </a:t>
            </a:r>
            <a:r>
              <a:rPr lang="es-ES_tradnl" sz="2000" dirty="0" err="1">
                <a:latin typeface="Arial Narrow" pitchFamily="34" charset="0"/>
              </a:rPr>
              <a:t>S18</a:t>
            </a:r>
            <a:r>
              <a:rPr lang="es-ES_tradnl" sz="2000" dirty="0">
                <a:latin typeface="Arial Narrow" pitchFamily="34" charset="0"/>
              </a:rPr>
              <a:t> = 380</a:t>
            </a:r>
          </a:p>
          <a:p>
            <a:pPr algn="just"/>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  1   ;    </a:t>
            </a:r>
            <a:r>
              <a:rPr lang="es-ES_tradnl" sz="2000" dirty="0" err="1">
                <a:latin typeface="Arial Narrow" pitchFamily="34" charset="0"/>
              </a:rPr>
              <a:t>X2</a:t>
            </a:r>
            <a:r>
              <a:rPr lang="es-ES_tradnl" sz="2000" dirty="0">
                <a:latin typeface="Arial Narrow" pitchFamily="34" charset="0"/>
              </a:rPr>
              <a:t> ≤  1 ;   </a:t>
            </a:r>
          </a:p>
          <a:p>
            <a:pPr algn="just"/>
            <a:r>
              <a:rPr lang="es-ES_tradnl" sz="2000" dirty="0">
                <a:latin typeface="Arial Narrow" pitchFamily="34" charset="0"/>
              </a:rPr>
              <a:t>             </a:t>
            </a:r>
            <a:r>
              <a:rPr lang="es-ES_tradnl" sz="2000" dirty="0" err="1">
                <a:latin typeface="Arial Narrow" pitchFamily="34" charset="0"/>
              </a:rPr>
              <a:t>X1</a:t>
            </a:r>
            <a:r>
              <a:rPr lang="es-ES_tradnl" sz="2000" dirty="0">
                <a:latin typeface="Arial Narrow" pitchFamily="34" charset="0"/>
              </a:rPr>
              <a:t>, </a:t>
            </a:r>
            <a:r>
              <a:rPr lang="es-ES_tradnl" sz="2000" dirty="0" err="1">
                <a:latin typeface="Arial Narrow" pitchFamily="34" charset="0"/>
              </a:rPr>
              <a:t>X2</a:t>
            </a:r>
            <a:r>
              <a:rPr lang="es-ES_tradnl" sz="2000" dirty="0">
                <a:latin typeface="Arial Narrow" pitchFamily="34" charset="0"/>
              </a:rPr>
              <a:t>, </a:t>
            </a:r>
            <a:r>
              <a:rPr lang="es-ES_tradnl" sz="2000" dirty="0" err="1">
                <a:latin typeface="Arial Narrow" pitchFamily="34" charset="0"/>
              </a:rPr>
              <a:t>S0</a:t>
            </a:r>
            <a:r>
              <a:rPr lang="es-ES_tradnl" sz="2000" dirty="0">
                <a:latin typeface="Arial Narrow" pitchFamily="34" charset="0"/>
              </a:rPr>
              <a:t>, </a:t>
            </a:r>
            <a:r>
              <a:rPr lang="es-ES_tradnl" sz="2000" dirty="0" err="1">
                <a:latin typeface="Arial Narrow" pitchFamily="34" charset="0"/>
              </a:rPr>
              <a:t>S6</a:t>
            </a:r>
            <a:r>
              <a:rPr lang="es-ES_tradnl" sz="2000" dirty="0">
                <a:latin typeface="Arial Narrow" pitchFamily="34" charset="0"/>
              </a:rPr>
              <a:t>, </a:t>
            </a:r>
            <a:r>
              <a:rPr lang="es-ES_tradnl" sz="2000" dirty="0" err="1">
                <a:latin typeface="Arial Narrow" pitchFamily="34" charset="0"/>
              </a:rPr>
              <a:t>S12</a:t>
            </a:r>
            <a:r>
              <a:rPr lang="es-ES_tradnl" sz="2000" dirty="0">
                <a:latin typeface="Arial Narrow" pitchFamily="34" charset="0"/>
              </a:rPr>
              <a:t>, </a:t>
            </a:r>
            <a:r>
              <a:rPr lang="es-ES_tradnl" sz="2000" dirty="0" err="1">
                <a:latin typeface="Arial Narrow" pitchFamily="34" charset="0"/>
              </a:rPr>
              <a:t>S18</a:t>
            </a:r>
            <a:r>
              <a:rPr lang="es-ES_tradnl" sz="2000" dirty="0">
                <a:latin typeface="Arial Narrow" pitchFamily="34" charset="0"/>
              </a:rPr>
              <a:t> ≥ 0</a:t>
            </a:r>
            <a:endParaRPr lang="es-PE" sz="2000" dirty="0"/>
          </a:p>
        </p:txBody>
      </p:sp>
      <p:sp>
        <p:nvSpPr>
          <p:cNvPr id="4" name="Rectángulo 3">
            <a:extLst>
              <a:ext uri="{FF2B5EF4-FFF2-40B4-BE49-F238E27FC236}">
                <a16:creationId xmlns:a16="http://schemas.microsoft.com/office/drawing/2014/main" id="{0DC69ED4-9CFF-4368-A67D-00CD4DAFE876}"/>
              </a:ext>
            </a:extLst>
          </p:cNvPr>
          <p:cNvSpPr/>
          <p:nvPr/>
        </p:nvSpPr>
        <p:spPr>
          <a:xfrm>
            <a:off x="6343290" y="3429000"/>
            <a:ext cx="5848710" cy="707886"/>
          </a:xfrm>
          <a:prstGeom prst="rect">
            <a:avLst/>
          </a:prstGeom>
          <a:solidFill>
            <a:schemeClr val="accent1">
              <a:lumMod val="20000"/>
              <a:lumOff val="80000"/>
            </a:schemeClr>
          </a:solidFill>
        </p:spPr>
        <p:txBody>
          <a:bodyPr wrap="square">
            <a:spAutoFit/>
          </a:bodyPr>
          <a:lstStyle/>
          <a:p>
            <a:pPr algn="just"/>
            <a:r>
              <a:rPr lang="es-ES_tradnl" sz="2000" b="1" dirty="0">
                <a:solidFill>
                  <a:srgbClr val="FF0000"/>
                </a:solidFill>
                <a:latin typeface="Arial Narrow" pitchFamily="34" charset="0"/>
              </a:rPr>
              <a:t>Identificación de la Función objetivo</a:t>
            </a:r>
          </a:p>
          <a:p>
            <a:pPr algn="just"/>
            <a:r>
              <a:rPr lang="pl-PL" sz="2000" dirty="0">
                <a:latin typeface="Arial Narrow" pitchFamily="34" charset="0"/>
              </a:rPr>
              <a:t>Max 600X1 + 2.000X2 + 1,07S18</a:t>
            </a:r>
          </a:p>
        </p:txBody>
      </p:sp>
      <p:sp>
        <p:nvSpPr>
          <p:cNvPr id="6" name="Rectangle 2">
            <a:extLst>
              <a:ext uri="{FF2B5EF4-FFF2-40B4-BE49-F238E27FC236}">
                <a16:creationId xmlns:a16="http://schemas.microsoft.com/office/drawing/2014/main" id="{1F1AC906-CDC8-431B-8844-7F76797F0C36}"/>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12</a:t>
            </a:r>
          </a:p>
        </p:txBody>
      </p:sp>
      <p:sp>
        <p:nvSpPr>
          <p:cNvPr id="8" name="Rectángulo 7">
            <a:extLst>
              <a:ext uri="{FF2B5EF4-FFF2-40B4-BE49-F238E27FC236}">
                <a16:creationId xmlns:a16="http://schemas.microsoft.com/office/drawing/2014/main" id="{BB69CA35-881D-4DF3-9E8C-F32BC7EA2A1C}"/>
              </a:ext>
            </a:extLst>
          </p:cNvPr>
          <p:cNvSpPr/>
          <p:nvPr/>
        </p:nvSpPr>
        <p:spPr>
          <a:xfrm>
            <a:off x="220303" y="1398281"/>
            <a:ext cx="2072555" cy="369332"/>
          </a:xfrm>
          <a:prstGeom prst="rect">
            <a:avLst/>
          </a:prstGeom>
        </p:spPr>
        <p:txBody>
          <a:bodyPr wrap="none">
            <a:spAutoFit/>
          </a:bodyPr>
          <a:lstStyle/>
          <a:p>
            <a:pPr algn="just"/>
            <a:r>
              <a:rPr lang="es-ES_tradnl" b="1" dirty="0">
                <a:solidFill>
                  <a:srgbClr val="FF0000"/>
                </a:solidFill>
                <a:latin typeface="Arial Narrow" pitchFamily="34" charset="0"/>
              </a:rPr>
              <a:t>SOLUCIÓN:  Análisis</a:t>
            </a:r>
          </a:p>
        </p:txBody>
      </p:sp>
    </p:spTree>
    <p:extLst>
      <p:ext uri="{BB962C8B-B14F-4D97-AF65-F5344CB8AC3E}">
        <p14:creationId xmlns:p14="http://schemas.microsoft.com/office/powerpoint/2010/main" val="294029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70053DF-976F-4A44-BB4E-189E346B41F5}"/>
              </a:ext>
            </a:extLst>
          </p:cNvPr>
          <p:cNvSpPr/>
          <p:nvPr/>
        </p:nvSpPr>
        <p:spPr>
          <a:xfrm>
            <a:off x="106680" y="1243387"/>
            <a:ext cx="5958840" cy="5632311"/>
          </a:xfrm>
          <a:prstGeom prst="rect">
            <a:avLst/>
          </a:prstGeom>
        </p:spPr>
        <p:txBody>
          <a:bodyPr wrap="square">
            <a:spAutoFit/>
          </a:bodyPr>
          <a:lstStyle/>
          <a:p>
            <a:pPr marR="154940" algn="just">
              <a:spcAft>
                <a:spcPts val="0"/>
              </a:spcAft>
            </a:pPr>
            <a:r>
              <a:rPr lang="es-ES" sz="2000" dirty="0">
                <a:latin typeface="Arial Narrow" panose="020B0606020202030204" pitchFamily="34" charset="0"/>
                <a:ea typeface="Tahoma" panose="020B0604030504040204" pitchFamily="34" charset="0"/>
              </a:rPr>
              <a:t>Manufactura Acme recibió un contrato para entregar ventanas de vivienda durante los 6 meses siguientes. El contrato</a:t>
            </a:r>
            <a:r>
              <a:rPr lang="es-ES" sz="2000" spc="-30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estipula que Acme debe entregar en cada mes: 100, 250, 190, 140, 220 y 110 ventanas, respectivamente. El costo de</a:t>
            </a:r>
            <a:r>
              <a:rPr lang="es-ES" sz="2000" spc="-30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producción por ventana varía de un mes a otro, dependiendo de los costos de mano de obra, materiales y servicios.</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Acme</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estima</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que el</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costo de</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producción</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por</a:t>
            </a:r>
            <a:r>
              <a:rPr lang="es-ES" sz="2000" spc="2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ventana,</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durante</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los 6 meses</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siguientes, será</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$50, $45,</a:t>
            </a:r>
            <a:r>
              <a:rPr lang="es-ES" sz="2000" spc="1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$55, $48,</a:t>
            </a:r>
            <a:r>
              <a:rPr lang="es-ES" sz="2000" spc="1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$52</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y $50, respectivamente. Para aprovechar las fluctuaciones en el costo de manufactura. Acme podría optar por producir</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más de lo necesario en determinado mes, y guardar las unidades excedentes para entregar en meses posteriores. Sin</a:t>
            </a:r>
            <a:r>
              <a:rPr lang="es-ES" sz="2000" spc="-30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embargo, eso le ocasionará un costo de almacenamiento de $8 por ventana y por mes, evaluado con el inventario</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levantado</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en</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el</a:t>
            </a:r>
            <a:r>
              <a:rPr lang="es-ES" sz="2000" spc="-5"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fin</a:t>
            </a:r>
            <a:r>
              <a:rPr lang="es-ES" sz="2000" spc="-10" dirty="0">
                <a:latin typeface="Arial Narrow" panose="020B0606020202030204" pitchFamily="34" charset="0"/>
                <a:ea typeface="Tahoma" panose="020B0604030504040204" pitchFamily="34" charset="0"/>
              </a:rPr>
              <a:t> </a:t>
            </a:r>
            <a:r>
              <a:rPr lang="es-ES" sz="2000" dirty="0">
                <a:latin typeface="Arial Narrow" panose="020B0606020202030204" pitchFamily="34" charset="0"/>
                <a:ea typeface="Tahoma" panose="020B0604030504040204" pitchFamily="34" charset="0"/>
              </a:rPr>
              <a:t>de mes. </a:t>
            </a:r>
            <a:r>
              <a:rPr lang="en-US" sz="2000" dirty="0" err="1">
                <a:latin typeface="Arial Narrow" panose="020B0606020202030204" pitchFamily="34" charset="0"/>
                <a:ea typeface="Calibri" panose="020F0502020204030204" pitchFamily="34" charset="0"/>
                <a:cs typeface="Times New Roman" panose="02020603050405020304" pitchFamily="18" charset="0"/>
              </a:rPr>
              <a:t>Desarrolle</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un</a:t>
            </a:r>
            <a:r>
              <a:rPr lang="en-US" sz="2000" spc="-3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modelo</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de</a:t>
            </a:r>
            <a:r>
              <a:rPr lang="en-US" sz="2000" spc="-2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programación</a:t>
            </a:r>
            <a:r>
              <a:rPr lang="en-US" sz="2000" spc="-3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lineal</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en</a:t>
            </a:r>
            <a:r>
              <a:rPr lang="en-US" sz="2000" spc="-3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forma</a:t>
            </a:r>
            <a:r>
              <a:rPr lang="en-US" sz="2000" spc="-1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compacta</a:t>
            </a:r>
            <a:r>
              <a:rPr lang="en-US" sz="2000" spc="-2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para</a:t>
            </a:r>
            <a:r>
              <a:rPr lang="en-US" sz="2000" spc="-2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determinar</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el</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programa</a:t>
            </a:r>
            <a:r>
              <a:rPr lang="en-US" sz="2000" spc="-2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óptimo</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de</a:t>
            </a:r>
            <a:r>
              <a:rPr lang="en-US" sz="2000" spc="-2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producción</a:t>
            </a:r>
            <a:r>
              <a:rPr lang="en-US" sz="2000" spc="-3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e</a:t>
            </a:r>
            <a:r>
              <a:rPr lang="en-US" sz="2000" spc="-30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err="1">
                <a:latin typeface="Arial Narrow" panose="020B0606020202030204" pitchFamily="34" charset="0"/>
                <a:ea typeface="Calibri" panose="020F0502020204030204" pitchFamily="34" charset="0"/>
                <a:cs typeface="Times New Roman" panose="02020603050405020304" pitchFamily="18" charset="0"/>
              </a:rPr>
              <a:t>inventario</a:t>
            </a:r>
            <a:r>
              <a:rPr lang="en-US" sz="2000" spc="-25"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para</a:t>
            </a:r>
            <a:r>
              <a:rPr lang="en-US" sz="2000" spc="-20" dirty="0">
                <a:latin typeface="Arial Narrow" panose="020B0606020202030204" pitchFamily="34" charset="0"/>
                <a:ea typeface="Calibri" panose="020F0502020204030204" pitchFamily="34" charset="0"/>
                <a:cs typeface="Times New Roman" panose="02020603050405020304" pitchFamily="18" charset="0"/>
              </a:rPr>
              <a:t> </a:t>
            </a:r>
            <a:r>
              <a:rPr lang="en-US" sz="2000" dirty="0">
                <a:latin typeface="Arial Narrow" panose="020B0606020202030204" pitchFamily="34" charset="0"/>
                <a:ea typeface="Calibri" panose="020F0502020204030204" pitchFamily="34" charset="0"/>
                <a:cs typeface="Times New Roman" panose="02020603050405020304" pitchFamily="18" charset="0"/>
              </a:rPr>
              <a:t>Acme.</a:t>
            </a:r>
            <a:r>
              <a:rPr lang="en-US" sz="2000" spc="-15" dirty="0">
                <a:latin typeface="Arial Narrow" panose="020B0606020202030204" pitchFamily="34" charset="0"/>
                <a:ea typeface="Calibri" panose="020F0502020204030204" pitchFamily="34" charset="0"/>
                <a:cs typeface="Times New Roman" panose="02020603050405020304" pitchFamily="18" charset="0"/>
              </a:rPr>
              <a:t> </a:t>
            </a:r>
            <a:endParaRPr lang="es-PE" sz="2000" dirty="0">
              <a:latin typeface="Arial Narrow" panose="020B0606020202030204" pitchFamily="34" charset="0"/>
            </a:endParaRPr>
          </a:p>
        </p:txBody>
      </p:sp>
      <p:graphicFrame>
        <p:nvGraphicFramePr>
          <p:cNvPr id="3" name="Tabla 3">
            <a:extLst>
              <a:ext uri="{FF2B5EF4-FFF2-40B4-BE49-F238E27FC236}">
                <a16:creationId xmlns:a16="http://schemas.microsoft.com/office/drawing/2014/main" id="{0C2BDC6E-9C92-458F-BC03-61B73BCB6573}"/>
              </a:ext>
            </a:extLst>
          </p:cNvPr>
          <p:cNvGraphicFramePr>
            <a:graphicFrameLocks noGrp="1"/>
          </p:cNvGraphicFramePr>
          <p:nvPr/>
        </p:nvGraphicFramePr>
        <p:xfrm>
          <a:off x="6248400" y="1268306"/>
          <a:ext cx="5943602" cy="1097280"/>
        </p:xfrm>
        <a:graphic>
          <a:graphicData uri="http://schemas.openxmlformats.org/drawingml/2006/table">
            <a:tbl>
              <a:tblPr firstRow="1" bandRow="1">
                <a:tableStyleId>{5C22544A-7EE6-4342-B048-85BDC9FD1C3A}</a:tableStyleId>
              </a:tblPr>
              <a:tblGrid>
                <a:gridCol w="849086">
                  <a:extLst>
                    <a:ext uri="{9D8B030D-6E8A-4147-A177-3AD203B41FA5}">
                      <a16:colId xmlns:a16="http://schemas.microsoft.com/office/drawing/2014/main" val="3657008212"/>
                    </a:ext>
                  </a:extLst>
                </a:gridCol>
                <a:gridCol w="849086">
                  <a:extLst>
                    <a:ext uri="{9D8B030D-6E8A-4147-A177-3AD203B41FA5}">
                      <a16:colId xmlns:a16="http://schemas.microsoft.com/office/drawing/2014/main" val="2827318969"/>
                    </a:ext>
                  </a:extLst>
                </a:gridCol>
                <a:gridCol w="849086">
                  <a:extLst>
                    <a:ext uri="{9D8B030D-6E8A-4147-A177-3AD203B41FA5}">
                      <a16:colId xmlns:a16="http://schemas.microsoft.com/office/drawing/2014/main" val="3703731912"/>
                    </a:ext>
                  </a:extLst>
                </a:gridCol>
                <a:gridCol w="849086">
                  <a:extLst>
                    <a:ext uri="{9D8B030D-6E8A-4147-A177-3AD203B41FA5}">
                      <a16:colId xmlns:a16="http://schemas.microsoft.com/office/drawing/2014/main" val="3570121766"/>
                    </a:ext>
                  </a:extLst>
                </a:gridCol>
                <a:gridCol w="849086">
                  <a:extLst>
                    <a:ext uri="{9D8B030D-6E8A-4147-A177-3AD203B41FA5}">
                      <a16:colId xmlns:a16="http://schemas.microsoft.com/office/drawing/2014/main" val="4229159289"/>
                    </a:ext>
                  </a:extLst>
                </a:gridCol>
                <a:gridCol w="849086">
                  <a:extLst>
                    <a:ext uri="{9D8B030D-6E8A-4147-A177-3AD203B41FA5}">
                      <a16:colId xmlns:a16="http://schemas.microsoft.com/office/drawing/2014/main" val="3985281864"/>
                    </a:ext>
                  </a:extLst>
                </a:gridCol>
                <a:gridCol w="849086">
                  <a:extLst>
                    <a:ext uri="{9D8B030D-6E8A-4147-A177-3AD203B41FA5}">
                      <a16:colId xmlns:a16="http://schemas.microsoft.com/office/drawing/2014/main" val="3827400967"/>
                    </a:ext>
                  </a:extLst>
                </a:gridCol>
              </a:tblGrid>
              <a:tr h="346569">
                <a:tc>
                  <a:txBody>
                    <a:bodyPr/>
                    <a:lstStyle/>
                    <a:p>
                      <a:endParaRPr lang="es-PE" dirty="0"/>
                    </a:p>
                  </a:txBody>
                  <a:tcPr/>
                </a:tc>
                <a:tc>
                  <a:txBody>
                    <a:bodyPr/>
                    <a:lstStyle/>
                    <a:p>
                      <a:r>
                        <a:rPr lang="es-ES" dirty="0"/>
                        <a:t>1</a:t>
                      </a:r>
                      <a:endParaRPr lang="es-PE" dirty="0"/>
                    </a:p>
                  </a:txBody>
                  <a:tcPr/>
                </a:tc>
                <a:tc>
                  <a:txBody>
                    <a:bodyPr/>
                    <a:lstStyle/>
                    <a:p>
                      <a:r>
                        <a:rPr lang="es-ES" dirty="0"/>
                        <a:t>2</a:t>
                      </a:r>
                      <a:endParaRPr lang="es-PE" dirty="0"/>
                    </a:p>
                  </a:txBody>
                  <a:tcPr/>
                </a:tc>
                <a:tc>
                  <a:txBody>
                    <a:bodyPr/>
                    <a:lstStyle/>
                    <a:p>
                      <a:r>
                        <a:rPr lang="es-ES" dirty="0"/>
                        <a:t>3</a:t>
                      </a:r>
                      <a:endParaRPr lang="es-PE" dirty="0"/>
                    </a:p>
                  </a:txBody>
                  <a:tcPr/>
                </a:tc>
                <a:tc>
                  <a:txBody>
                    <a:bodyPr/>
                    <a:lstStyle/>
                    <a:p>
                      <a:r>
                        <a:rPr lang="es-ES" dirty="0"/>
                        <a:t>4</a:t>
                      </a:r>
                      <a:endParaRPr lang="es-PE" dirty="0"/>
                    </a:p>
                  </a:txBody>
                  <a:tcPr/>
                </a:tc>
                <a:tc>
                  <a:txBody>
                    <a:bodyPr/>
                    <a:lstStyle/>
                    <a:p>
                      <a:r>
                        <a:rPr lang="es-ES" dirty="0"/>
                        <a:t>5</a:t>
                      </a:r>
                      <a:endParaRPr lang="es-PE" dirty="0"/>
                    </a:p>
                  </a:txBody>
                  <a:tcPr/>
                </a:tc>
                <a:tc>
                  <a:txBody>
                    <a:bodyPr/>
                    <a:lstStyle/>
                    <a:p>
                      <a:r>
                        <a:rPr lang="es-ES" dirty="0"/>
                        <a:t>6</a:t>
                      </a:r>
                      <a:endParaRPr lang="es-PE" dirty="0"/>
                    </a:p>
                  </a:txBody>
                  <a:tcPr/>
                </a:tc>
                <a:extLst>
                  <a:ext uri="{0D108BD9-81ED-4DB2-BD59-A6C34878D82A}">
                    <a16:rowId xmlns:a16="http://schemas.microsoft.com/office/drawing/2014/main" val="1109600960"/>
                  </a:ext>
                </a:extLst>
              </a:tr>
              <a:tr h="346569">
                <a:tc>
                  <a:txBody>
                    <a:bodyPr/>
                    <a:lstStyle/>
                    <a:p>
                      <a:r>
                        <a:rPr lang="es-ES" dirty="0"/>
                        <a:t>Unid.</a:t>
                      </a:r>
                      <a:endParaRPr lang="es-PE" dirty="0"/>
                    </a:p>
                  </a:txBody>
                  <a:tcPr/>
                </a:tc>
                <a:tc>
                  <a:txBody>
                    <a:bodyPr/>
                    <a:lstStyle/>
                    <a:p>
                      <a:r>
                        <a:rPr lang="es-ES" dirty="0"/>
                        <a:t>100</a:t>
                      </a:r>
                      <a:endParaRPr lang="es-PE" dirty="0"/>
                    </a:p>
                  </a:txBody>
                  <a:tcPr/>
                </a:tc>
                <a:tc>
                  <a:txBody>
                    <a:bodyPr/>
                    <a:lstStyle/>
                    <a:p>
                      <a:r>
                        <a:rPr lang="es-ES" dirty="0"/>
                        <a:t>250</a:t>
                      </a:r>
                      <a:endParaRPr lang="es-PE" dirty="0"/>
                    </a:p>
                  </a:txBody>
                  <a:tcPr/>
                </a:tc>
                <a:tc>
                  <a:txBody>
                    <a:bodyPr/>
                    <a:lstStyle/>
                    <a:p>
                      <a:r>
                        <a:rPr lang="es-ES" dirty="0"/>
                        <a:t>190</a:t>
                      </a:r>
                      <a:endParaRPr lang="es-PE" dirty="0"/>
                    </a:p>
                  </a:txBody>
                  <a:tcPr/>
                </a:tc>
                <a:tc>
                  <a:txBody>
                    <a:bodyPr/>
                    <a:lstStyle/>
                    <a:p>
                      <a:r>
                        <a:rPr lang="es-ES" dirty="0"/>
                        <a:t>140</a:t>
                      </a:r>
                      <a:endParaRPr lang="es-PE" dirty="0"/>
                    </a:p>
                  </a:txBody>
                  <a:tcPr/>
                </a:tc>
                <a:tc>
                  <a:txBody>
                    <a:bodyPr/>
                    <a:lstStyle/>
                    <a:p>
                      <a:r>
                        <a:rPr lang="es-ES" dirty="0"/>
                        <a:t>220</a:t>
                      </a:r>
                      <a:endParaRPr lang="es-PE" dirty="0"/>
                    </a:p>
                  </a:txBody>
                  <a:tcPr/>
                </a:tc>
                <a:tc>
                  <a:txBody>
                    <a:bodyPr/>
                    <a:lstStyle/>
                    <a:p>
                      <a:r>
                        <a:rPr lang="es-ES" dirty="0"/>
                        <a:t>110</a:t>
                      </a:r>
                      <a:endParaRPr lang="es-PE" dirty="0"/>
                    </a:p>
                  </a:txBody>
                  <a:tcPr/>
                </a:tc>
                <a:extLst>
                  <a:ext uri="{0D108BD9-81ED-4DB2-BD59-A6C34878D82A}">
                    <a16:rowId xmlns:a16="http://schemas.microsoft.com/office/drawing/2014/main" val="4029769840"/>
                  </a:ext>
                </a:extLst>
              </a:tr>
              <a:tr h="346569">
                <a:tc>
                  <a:txBody>
                    <a:bodyPr/>
                    <a:lstStyle/>
                    <a:p>
                      <a:r>
                        <a:rPr lang="es-ES" dirty="0"/>
                        <a:t>Costo</a:t>
                      </a:r>
                      <a:endParaRPr lang="es-PE" dirty="0"/>
                    </a:p>
                  </a:txBody>
                  <a:tcPr/>
                </a:tc>
                <a:tc>
                  <a:txBody>
                    <a:bodyPr/>
                    <a:lstStyle/>
                    <a:p>
                      <a:r>
                        <a:rPr lang="es-ES" dirty="0"/>
                        <a:t>50</a:t>
                      </a:r>
                      <a:endParaRPr lang="es-PE" dirty="0"/>
                    </a:p>
                  </a:txBody>
                  <a:tcPr/>
                </a:tc>
                <a:tc>
                  <a:txBody>
                    <a:bodyPr/>
                    <a:lstStyle/>
                    <a:p>
                      <a:r>
                        <a:rPr lang="es-ES" dirty="0"/>
                        <a:t>45</a:t>
                      </a:r>
                      <a:endParaRPr lang="es-PE" dirty="0"/>
                    </a:p>
                  </a:txBody>
                  <a:tcPr/>
                </a:tc>
                <a:tc>
                  <a:txBody>
                    <a:bodyPr/>
                    <a:lstStyle/>
                    <a:p>
                      <a:r>
                        <a:rPr lang="es-ES" dirty="0"/>
                        <a:t>55</a:t>
                      </a:r>
                      <a:endParaRPr lang="es-PE" dirty="0"/>
                    </a:p>
                  </a:txBody>
                  <a:tcPr/>
                </a:tc>
                <a:tc>
                  <a:txBody>
                    <a:bodyPr/>
                    <a:lstStyle/>
                    <a:p>
                      <a:r>
                        <a:rPr lang="es-ES" dirty="0"/>
                        <a:t>48</a:t>
                      </a:r>
                      <a:endParaRPr lang="es-PE" dirty="0"/>
                    </a:p>
                  </a:txBody>
                  <a:tcPr/>
                </a:tc>
                <a:tc>
                  <a:txBody>
                    <a:bodyPr/>
                    <a:lstStyle/>
                    <a:p>
                      <a:r>
                        <a:rPr lang="es-ES" dirty="0"/>
                        <a:t>52</a:t>
                      </a:r>
                      <a:endParaRPr lang="es-PE" dirty="0"/>
                    </a:p>
                  </a:txBody>
                  <a:tcPr/>
                </a:tc>
                <a:tc>
                  <a:txBody>
                    <a:bodyPr/>
                    <a:lstStyle/>
                    <a:p>
                      <a:r>
                        <a:rPr lang="es-ES" dirty="0"/>
                        <a:t>50</a:t>
                      </a:r>
                      <a:endParaRPr lang="es-PE" dirty="0"/>
                    </a:p>
                  </a:txBody>
                  <a:tcPr/>
                </a:tc>
                <a:extLst>
                  <a:ext uri="{0D108BD9-81ED-4DB2-BD59-A6C34878D82A}">
                    <a16:rowId xmlns:a16="http://schemas.microsoft.com/office/drawing/2014/main" val="1948930801"/>
                  </a:ext>
                </a:extLst>
              </a:tr>
            </a:tbl>
          </a:graphicData>
        </a:graphic>
      </p:graphicFrame>
      <p:sp>
        <p:nvSpPr>
          <p:cNvPr id="5" name="Rectángulo 4">
            <a:extLst>
              <a:ext uri="{FF2B5EF4-FFF2-40B4-BE49-F238E27FC236}">
                <a16:creationId xmlns:a16="http://schemas.microsoft.com/office/drawing/2014/main" id="{7AA5DD5F-15C7-4F98-948C-8BE748A9B85F}"/>
              </a:ext>
            </a:extLst>
          </p:cNvPr>
          <p:cNvSpPr/>
          <p:nvPr/>
        </p:nvSpPr>
        <p:spPr>
          <a:xfrm>
            <a:off x="6247249" y="2428811"/>
            <a:ext cx="5944751" cy="1015663"/>
          </a:xfrm>
          <a:prstGeom prst="rect">
            <a:avLst/>
          </a:prstGeom>
          <a:solidFill>
            <a:schemeClr val="accent1">
              <a:lumMod val="20000"/>
              <a:lumOff val="80000"/>
            </a:schemeClr>
          </a:solidFill>
        </p:spPr>
        <p:txBody>
          <a:bodyPr wrap="square">
            <a:spAutoFit/>
          </a:bodyPr>
          <a:lstStyle/>
          <a:p>
            <a:pPr>
              <a:spcAft>
                <a:spcPts val="0"/>
              </a:spcAft>
            </a:pPr>
            <a:r>
              <a:rPr lang="es-PE" sz="2000" dirty="0">
                <a:solidFill>
                  <a:srgbClr val="FF0000"/>
                </a:solidFill>
                <a:latin typeface="Arial Narrow" panose="020B0606020202030204" pitchFamily="34" charset="0"/>
                <a:ea typeface="Times New Roman" panose="02020603050405020304" pitchFamily="18" charset="0"/>
              </a:rPr>
              <a:t>I   Identificación de las variables</a:t>
            </a:r>
            <a:endParaRPr lang="es-PE" sz="2000" dirty="0">
              <a:latin typeface="Arial Narrow" panose="020B0606020202030204" pitchFamily="34" charset="0"/>
              <a:ea typeface="Times New Roman" panose="02020603050405020304" pitchFamily="18" charset="0"/>
            </a:endParaRPr>
          </a:p>
          <a:p>
            <a:pPr>
              <a:spcAft>
                <a:spcPts val="0"/>
              </a:spcAft>
            </a:pPr>
            <a:r>
              <a:rPr lang="es-PE" sz="2000" dirty="0">
                <a:solidFill>
                  <a:srgbClr val="FF0000"/>
                </a:solidFill>
                <a:latin typeface="Arial Narrow" panose="020B0606020202030204" pitchFamily="34" charset="0"/>
                <a:ea typeface="Times New Roman" panose="02020603050405020304" pitchFamily="18" charset="0"/>
              </a:rPr>
              <a:t>    </a:t>
            </a:r>
            <a:r>
              <a:rPr lang="es-PE" sz="2000" b="1" dirty="0">
                <a:latin typeface="Arial Narrow" panose="020B0606020202030204" pitchFamily="34" charset="0"/>
                <a:ea typeface="Times New Roman" panose="02020603050405020304" pitchFamily="18" charset="0"/>
              </a:rPr>
              <a:t>Xi=Número unidades a producir</a:t>
            </a:r>
          </a:p>
          <a:p>
            <a:pPr>
              <a:spcAft>
                <a:spcPts val="0"/>
              </a:spcAft>
            </a:pPr>
            <a:r>
              <a:rPr lang="es-PE" sz="2000" b="1" dirty="0">
                <a:latin typeface="Arial Narrow" panose="020B0606020202030204" pitchFamily="34" charset="0"/>
                <a:ea typeface="Times New Roman" panose="02020603050405020304" pitchFamily="18" charset="0"/>
              </a:rPr>
              <a:t>    Yi=Número unidades </a:t>
            </a:r>
            <a:r>
              <a:rPr lang="es-PE" sz="2000" b="1" dirty="0">
                <a:solidFill>
                  <a:srgbClr val="FF0000"/>
                </a:solidFill>
                <a:latin typeface="Arial Narrow" panose="020B0606020202030204" pitchFamily="34" charset="0"/>
                <a:ea typeface="Times New Roman" panose="02020603050405020304" pitchFamily="18" charset="0"/>
              </a:rPr>
              <a:t>adicionales</a:t>
            </a:r>
            <a:r>
              <a:rPr lang="es-PE" sz="2000" b="1" dirty="0">
                <a:latin typeface="Arial Narrow" panose="020B0606020202030204" pitchFamily="34" charset="0"/>
                <a:ea typeface="Times New Roman" panose="02020603050405020304" pitchFamily="18" charset="0"/>
              </a:rPr>
              <a:t> a producir</a:t>
            </a:r>
            <a:endParaRPr lang="es-PE" sz="2000" dirty="0">
              <a:effectLst/>
              <a:latin typeface="Arial Narrow" panose="020B0606020202030204" pitchFamily="34" charset="0"/>
              <a:ea typeface="Times New Roman" panose="02020603050405020304" pitchFamily="18" charset="0"/>
            </a:endParaRPr>
          </a:p>
        </p:txBody>
      </p:sp>
      <p:sp>
        <p:nvSpPr>
          <p:cNvPr id="4" name="Rectángulo 3">
            <a:extLst>
              <a:ext uri="{FF2B5EF4-FFF2-40B4-BE49-F238E27FC236}">
                <a16:creationId xmlns:a16="http://schemas.microsoft.com/office/drawing/2014/main" id="{D8504EFF-048D-4ECD-BE88-6AB50BCA1DC9}"/>
              </a:ext>
            </a:extLst>
          </p:cNvPr>
          <p:cNvSpPr/>
          <p:nvPr/>
        </p:nvSpPr>
        <p:spPr>
          <a:xfrm>
            <a:off x="6254150" y="4437945"/>
            <a:ext cx="5937849" cy="2246769"/>
          </a:xfrm>
          <a:prstGeom prst="rect">
            <a:avLst/>
          </a:prstGeom>
          <a:solidFill>
            <a:schemeClr val="accent1">
              <a:lumMod val="20000"/>
              <a:lumOff val="80000"/>
            </a:schemeClr>
          </a:solidFill>
        </p:spPr>
        <p:txBody>
          <a:bodyPr wrap="square">
            <a:spAutoFit/>
          </a:bodyPr>
          <a:lstStyle/>
          <a:p>
            <a:pPr>
              <a:spcAft>
                <a:spcPts val="0"/>
              </a:spcAft>
            </a:pPr>
            <a:r>
              <a:rPr lang="es-PE" sz="2000" dirty="0">
                <a:solidFill>
                  <a:srgbClr val="FF0000"/>
                </a:solidFill>
                <a:latin typeface="Arial Narrow" panose="020B0606020202030204" pitchFamily="34" charset="0"/>
                <a:ea typeface="Times New Roman" panose="02020603050405020304" pitchFamily="18" charset="0"/>
              </a:rPr>
              <a:t>III  Identificación de las restricciones</a:t>
            </a:r>
            <a:endParaRPr lang="es-PE" sz="2000" dirty="0">
              <a:latin typeface="Arial Narrow" panose="020B0606020202030204" pitchFamily="34" charset="0"/>
              <a:ea typeface="Times New Roman" panose="02020603050405020304" pitchFamily="18" charset="0"/>
            </a:endParaRPr>
          </a:p>
          <a:p>
            <a:r>
              <a:rPr lang="es-PE" sz="2000" dirty="0">
                <a:latin typeface="Arial Narrow" panose="020B0606020202030204" pitchFamily="34" charset="0"/>
              </a:rPr>
              <a:t>	</a:t>
            </a:r>
            <a:r>
              <a:rPr lang="es-PE" sz="2000" dirty="0" err="1">
                <a:latin typeface="Arial Narrow" panose="020B0606020202030204" pitchFamily="34" charset="0"/>
              </a:rPr>
              <a:t>X1-Y1</a:t>
            </a:r>
            <a:r>
              <a:rPr lang="es-PE" sz="2000" dirty="0">
                <a:latin typeface="Arial Narrow" panose="020B0606020202030204" pitchFamily="34" charset="0"/>
              </a:rPr>
              <a:t>=100</a:t>
            </a:r>
          </a:p>
          <a:p>
            <a:r>
              <a:rPr lang="es-PE" sz="2000" dirty="0">
                <a:solidFill>
                  <a:srgbClr val="FF0000"/>
                </a:solidFill>
                <a:latin typeface="Arial Narrow" panose="020B0606020202030204" pitchFamily="34" charset="0"/>
              </a:rPr>
              <a:t>	</a:t>
            </a:r>
            <a:r>
              <a:rPr lang="es-PE" sz="2000" dirty="0" err="1">
                <a:solidFill>
                  <a:srgbClr val="FF0000"/>
                </a:solidFill>
                <a:latin typeface="Arial Narrow" panose="020B0606020202030204" pitchFamily="34" charset="0"/>
              </a:rPr>
              <a:t>X2+Y1-Y2</a:t>
            </a:r>
            <a:r>
              <a:rPr lang="es-PE" sz="2000" dirty="0">
                <a:solidFill>
                  <a:srgbClr val="FF0000"/>
                </a:solidFill>
                <a:latin typeface="Arial Narrow" panose="020B0606020202030204" pitchFamily="34" charset="0"/>
              </a:rPr>
              <a:t>=250</a:t>
            </a:r>
          </a:p>
          <a:p>
            <a:r>
              <a:rPr lang="es-PE" sz="2000" dirty="0">
                <a:latin typeface="Arial Narrow" panose="020B0606020202030204" pitchFamily="34" charset="0"/>
              </a:rPr>
              <a:t>	</a:t>
            </a:r>
            <a:r>
              <a:rPr lang="es-PE" sz="2000" dirty="0" err="1">
                <a:latin typeface="Arial Narrow" panose="020B0606020202030204" pitchFamily="34" charset="0"/>
              </a:rPr>
              <a:t>X3+Y2-Y3</a:t>
            </a:r>
            <a:r>
              <a:rPr lang="es-PE" sz="2000" dirty="0">
                <a:latin typeface="Arial Narrow" panose="020B0606020202030204" pitchFamily="34" charset="0"/>
              </a:rPr>
              <a:t>=190</a:t>
            </a:r>
          </a:p>
          <a:p>
            <a:r>
              <a:rPr lang="es-PE" sz="2000" dirty="0">
                <a:latin typeface="Arial Narrow" panose="020B0606020202030204" pitchFamily="34" charset="0"/>
              </a:rPr>
              <a:t>	</a:t>
            </a:r>
            <a:r>
              <a:rPr lang="es-PE" sz="2000" dirty="0" err="1">
                <a:latin typeface="Arial Narrow" panose="020B0606020202030204" pitchFamily="34" charset="0"/>
              </a:rPr>
              <a:t>X4+Y3-Y4</a:t>
            </a:r>
            <a:r>
              <a:rPr lang="es-PE" sz="2000" dirty="0">
                <a:latin typeface="Arial Narrow" panose="020B0606020202030204" pitchFamily="34" charset="0"/>
              </a:rPr>
              <a:t>=140</a:t>
            </a:r>
          </a:p>
          <a:p>
            <a:r>
              <a:rPr lang="es-PE" sz="2000" dirty="0">
                <a:latin typeface="Arial Narrow" panose="020B0606020202030204" pitchFamily="34" charset="0"/>
              </a:rPr>
              <a:t>	</a:t>
            </a:r>
            <a:r>
              <a:rPr lang="es-PE" sz="2000" dirty="0" err="1">
                <a:latin typeface="Arial Narrow" panose="020B0606020202030204" pitchFamily="34" charset="0"/>
              </a:rPr>
              <a:t>X5+Y4-Y5</a:t>
            </a:r>
            <a:r>
              <a:rPr lang="es-PE" sz="2000" dirty="0">
                <a:latin typeface="Arial Narrow" panose="020B0606020202030204" pitchFamily="34" charset="0"/>
              </a:rPr>
              <a:t>=220</a:t>
            </a:r>
          </a:p>
          <a:p>
            <a:r>
              <a:rPr lang="es-PE" sz="2000" dirty="0">
                <a:latin typeface="Arial Narrow" panose="020B0606020202030204" pitchFamily="34" charset="0"/>
              </a:rPr>
              <a:t>	</a:t>
            </a:r>
            <a:r>
              <a:rPr lang="es-PE" sz="2000" dirty="0" err="1">
                <a:latin typeface="Arial Narrow" panose="020B0606020202030204" pitchFamily="34" charset="0"/>
              </a:rPr>
              <a:t>X6+Y5</a:t>
            </a:r>
            <a:r>
              <a:rPr lang="es-PE" sz="2000" dirty="0">
                <a:latin typeface="Arial Narrow" panose="020B0606020202030204" pitchFamily="34" charset="0"/>
              </a:rPr>
              <a:t>=110</a:t>
            </a:r>
            <a:r>
              <a:rPr lang="es-PE" sz="2000" dirty="0">
                <a:latin typeface="Arial Narrow" panose="020B0606020202030204" pitchFamily="34" charset="0"/>
                <a:ea typeface="Times New Roman" panose="02020603050405020304" pitchFamily="18" charset="0"/>
              </a:rPr>
              <a:t>  Xi &gt;=0, entero</a:t>
            </a:r>
            <a:endParaRPr lang="es-PE" sz="2000" dirty="0">
              <a:latin typeface="Arial Narrow" panose="020B0606020202030204" pitchFamily="34" charset="0"/>
            </a:endParaRPr>
          </a:p>
        </p:txBody>
      </p:sp>
      <p:sp>
        <p:nvSpPr>
          <p:cNvPr id="6" name="Rectángulo 5">
            <a:extLst>
              <a:ext uri="{FF2B5EF4-FFF2-40B4-BE49-F238E27FC236}">
                <a16:creationId xmlns:a16="http://schemas.microsoft.com/office/drawing/2014/main" id="{8B183EFE-98FB-4A43-8C59-576BD30EA030}"/>
              </a:ext>
            </a:extLst>
          </p:cNvPr>
          <p:cNvSpPr/>
          <p:nvPr/>
        </p:nvSpPr>
        <p:spPr>
          <a:xfrm>
            <a:off x="6256067" y="3429000"/>
            <a:ext cx="5935933" cy="1015663"/>
          </a:xfrm>
          <a:prstGeom prst="rect">
            <a:avLst/>
          </a:prstGeom>
          <a:solidFill>
            <a:schemeClr val="accent1">
              <a:lumMod val="20000"/>
              <a:lumOff val="80000"/>
            </a:schemeClr>
          </a:solidFill>
        </p:spPr>
        <p:txBody>
          <a:bodyPr wrap="square">
            <a:spAutoFit/>
          </a:bodyPr>
          <a:lstStyle/>
          <a:p>
            <a:pPr>
              <a:spcAft>
                <a:spcPts val="0"/>
              </a:spcAft>
            </a:pPr>
            <a:r>
              <a:rPr lang="es-PE" sz="2000" dirty="0">
                <a:solidFill>
                  <a:srgbClr val="FF0000"/>
                </a:solidFill>
                <a:latin typeface="Arial Narrow" panose="020B0606020202030204" pitchFamily="34" charset="0"/>
                <a:ea typeface="Times New Roman" panose="02020603050405020304" pitchFamily="18" charset="0"/>
              </a:rPr>
              <a:t>II  Identificación de la </a:t>
            </a:r>
            <a:r>
              <a:rPr lang="es-PE" sz="2000" dirty="0" err="1">
                <a:solidFill>
                  <a:srgbClr val="FF0000"/>
                </a:solidFill>
                <a:latin typeface="Arial Narrow" panose="020B0606020202030204" pitchFamily="34" charset="0"/>
                <a:ea typeface="Times New Roman" panose="02020603050405020304" pitchFamily="18" charset="0"/>
              </a:rPr>
              <a:t>F.O</a:t>
            </a:r>
            <a:r>
              <a:rPr lang="es-PE" sz="2000" dirty="0">
                <a:solidFill>
                  <a:srgbClr val="FF0000"/>
                </a:solidFill>
                <a:latin typeface="Arial Narrow" panose="020B0606020202030204" pitchFamily="34" charset="0"/>
                <a:ea typeface="Times New Roman" panose="02020603050405020304" pitchFamily="18" charset="0"/>
              </a:rPr>
              <a:t>.</a:t>
            </a:r>
          </a:p>
          <a:p>
            <a:r>
              <a:rPr lang="es-PE" sz="2000" dirty="0">
                <a:latin typeface="Arial Narrow" panose="020B0606020202030204" pitchFamily="34" charset="0"/>
                <a:ea typeface="Times New Roman" panose="02020603050405020304" pitchFamily="18" charset="0"/>
              </a:rPr>
              <a:t>     MIN </a:t>
            </a:r>
            <a:r>
              <a:rPr lang="es-PE" sz="2000" dirty="0" err="1"/>
              <a:t>50X1+45X2+55X3+48X4+52X5+50X6</a:t>
            </a:r>
            <a:r>
              <a:rPr lang="es-PE" sz="2000" dirty="0"/>
              <a:t>+</a:t>
            </a:r>
          </a:p>
          <a:p>
            <a:r>
              <a:rPr lang="es-PE" sz="2000" dirty="0"/>
              <a:t>              </a:t>
            </a:r>
            <a:r>
              <a:rPr lang="es-PE" sz="2000" dirty="0" err="1"/>
              <a:t>58Y1+53Y2+63Y3+56Y4+60Y5</a:t>
            </a:r>
            <a:endParaRPr lang="es-PE" sz="2000" dirty="0"/>
          </a:p>
        </p:txBody>
      </p:sp>
      <p:sp>
        <p:nvSpPr>
          <p:cNvPr id="7" name="CuadroTexto 6">
            <a:extLst>
              <a:ext uri="{FF2B5EF4-FFF2-40B4-BE49-F238E27FC236}">
                <a16:creationId xmlns:a16="http://schemas.microsoft.com/office/drawing/2014/main" id="{7ABA8444-08E0-403A-B880-DADD1B3E2A8F}"/>
              </a:ext>
            </a:extLst>
          </p:cNvPr>
          <p:cNvSpPr txBox="1"/>
          <p:nvPr/>
        </p:nvSpPr>
        <p:spPr>
          <a:xfrm>
            <a:off x="10044022" y="4837969"/>
            <a:ext cx="2147977" cy="1200329"/>
          </a:xfrm>
          <a:prstGeom prst="rect">
            <a:avLst/>
          </a:prstGeom>
          <a:solidFill>
            <a:schemeClr val="accent1">
              <a:lumMod val="60000"/>
              <a:lumOff val="40000"/>
            </a:schemeClr>
          </a:solidFill>
        </p:spPr>
        <p:txBody>
          <a:bodyPr wrap="square" rtlCol="0">
            <a:spAutoFit/>
          </a:bodyPr>
          <a:lstStyle/>
          <a:p>
            <a:r>
              <a:rPr lang="es-ES" sz="2400" dirty="0" err="1"/>
              <a:t>I.F</a:t>
            </a:r>
            <a:r>
              <a:rPr lang="es-ES" sz="2400" dirty="0"/>
              <a:t>.=I.I.+</a:t>
            </a:r>
            <a:r>
              <a:rPr lang="es-ES" sz="2400" dirty="0" err="1"/>
              <a:t>Prod</a:t>
            </a:r>
            <a:r>
              <a:rPr lang="es-ES" sz="2400" dirty="0"/>
              <a:t>-D</a:t>
            </a:r>
          </a:p>
          <a:p>
            <a:r>
              <a:rPr lang="es-ES" sz="2400" dirty="0"/>
              <a:t>D=</a:t>
            </a:r>
            <a:r>
              <a:rPr lang="es-ES" sz="2400" dirty="0" err="1"/>
              <a:t>Prod+I.I-I.F</a:t>
            </a:r>
            <a:endParaRPr lang="es-ES" sz="2400" dirty="0"/>
          </a:p>
          <a:p>
            <a:r>
              <a:rPr lang="es-ES" sz="2400" dirty="0"/>
              <a:t>250=X2+Y1-Y2</a:t>
            </a:r>
          </a:p>
        </p:txBody>
      </p:sp>
      <p:sp>
        <p:nvSpPr>
          <p:cNvPr id="8" name="Rectangle 2">
            <a:extLst>
              <a:ext uri="{FF2B5EF4-FFF2-40B4-BE49-F238E27FC236}">
                <a16:creationId xmlns:a16="http://schemas.microsoft.com/office/drawing/2014/main" id="{07C7F482-ECC9-435D-A4F1-682F98140E63}"/>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13</a:t>
            </a:r>
          </a:p>
        </p:txBody>
      </p:sp>
      <p:sp>
        <p:nvSpPr>
          <p:cNvPr id="9" name="CuadroTexto 8">
            <a:extLst>
              <a:ext uri="{FF2B5EF4-FFF2-40B4-BE49-F238E27FC236}">
                <a16:creationId xmlns:a16="http://schemas.microsoft.com/office/drawing/2014/main" id="{0F61F574-C863-4CFB-9FA3-DA022B916CE8}"/>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196669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DA8EBAB-024B-447D-BC7B-33C3191F0629}"/>
              </a:ext>
            </a:extLst>
          </p:cNvPr>
          <p:cNvSpPr/>
          <p:nvPr/>
        </p:nvSpPr>
        <p:spPr>
          <a:xfrm>
            <a:off x="406399" y="1296020"/>
            <a:ext cx="4862287" cy="5324535"/>
          </a:xfrm>
          <a:prstGeom prst="rect">
            <a:avLst/>
          </a:prstGeom>
          <a:solidFill>
            <a:srgbClr val="FFFF00"/>
          </a:solidFill>
        </p:spPr>
        <p:txBody>
          <a:bodyPr wrap="square">
            <a:spAutoFit/>
          </a:bodyPr>
          <a:lstStyle/>
          <a:p>
            <a:r>
              <a:rPr lang="es-PE" sz="2000" dirty="0"/>
              <a:t>MIN </a:t>
            </a:r>
            <a:r>
              <a:rPr lang="es-PE" sz="2000" dirty="0" err="1"/>
              <a:t>50X1+45X2+55X3+48X4+52X5+50X6</a:t>
            </a:r>
            <a:r>
              <a:rPr lang="es-PE" sz="2000" dirty="0"/>
              <a:t>+</a:t>
            </a:r>
          </a:p>
          <a:p>
            <a:r>
              <a:rPr lang="es-PE" sz="2000" dirty="0"/>
              <a:t>         </a:t>
            </a:r>
            <a:r>
              <a:rPr lang="es-PE" sz="2000" dirty="0" err="1"/>
              <a:t>58Y1+53Y2+63Y3+56Y4+60Y5</a:t>
            </a:r>
            <a:endParaRPr lang="es-PE" sz="2000" dirty="0"/>
          </a:p>
          <a:p>
            <a:r>
              <a:rPr lang="es-PE" sz="2000" dirty="0" err="1"/>
              <a:t>ST</a:t>
            </a:r>
            <a:endParaRPr lang="es-PE" sz="2000" dirty="0"/>
          </a:p>
          <a:p>
            <a:r>
              <a:rPr lang="es-PE" sz="2000" dirty="0" err="1"/>
              <a:t>X1-Y1</a:t>
            </a:r>
            <a:r>
              <a:rPr lang="es-PE" sz="2000" dirty="0"/>
              <a:t>=100</a:t>
            </a:r>
          </a:p>
          <a:p>
            <a:r>
              <a:rPr lang="es-PE" sz="2000" dirty="0" err="1"/>
              <a:t>X2+Y1-Y2</a:t>
            </a:r>
            <a:r>
              <a:rPr lang="es-PE" sz="2000" dirty="0"/>
              <a:t>=250</a:t>
            </a:r>
          </a:p>
          <a:p>
            <a:r>
              <a:rPr lang="es-PE" sz="2000" dirty="0" err="1"/>
              <a:t>X3+Y2-Y3</a:t>
            </a:r>
            <a:r>
              <a:rPr lang="es-PE" sz="2000" dirty="0"/>
              <a:t>=190</a:t>
            </a:r>
          </a:p>
          <a:p>
            <a:r>
              <a:rPr lang="es-PE" sz="2000" dirty="0" err="1"/>
              <a:t>X4+Y3-Y4</a:t>
            </a:r>
            <a:r>
              <a:rPr lang="es-PE" sz="2000" dirty="0"/>
              <a:t>=140</a:t>
            </a:r>
          </a:p>
          <a:p>
            <a:r>
              <a:rPr lang="es-PE" sz="2000" dirty="0" err="1"/>
              <a:t>X5+Y4-Y5</a:t>
            </a:r>
            <a:r>
              <a:rPr lang="es-PE" sz="2000" dirty="0"/>
              <a:t>=220</a:t>
            </a:r>
          </a:p>
          <a:p>
            <a:r>
              <a:rPr lang="es-PE" sz="2000" dirty="0" err="1"/>
              <a:t>X6+Y5</a:t>
            </a:r>
            <a:r>
              <a:rPr lang="es-PE" sz="2000" dirty="0"/>
              <a:t>=110</a:t>
            </a:r>
          </a:p>
          <a:p>
            <a:r>
              <a:rPr lang="es-PE" sz="2000" dirty="0" err="1"/>
              <a:t>END</a:t>
            </a:r>
            <a:endParaRPr lang="es-PE" sz="2000" dirty="0"/>
          </a:p>
          <a:p>
            <a:r>
              <a:rPr lang="es-PE" sz="2000" dirty="0"/>
              <a:t>GIN </a:t>
            </a:r>
            <a:r>
              <a:rPr lang="es-PE" sz="2000" dirty="0" err="1"/>
              <a:t>X1</a:t>
            </a:r>
            <a:endParaRPr lang="es-PE" sz="2000" dirty="0"/>
          </a:p>
          <a:p>
            <a:r>
              <a:rPr lang="es-PE" sz="2000" dirty="0"/>
              <a:t>GIN </a:t>
            </a:r>
            <a:r>
              <a:rPr lang="es-PE" sz="2000" dirty="0" err="1"/>
              <a:t>X2</a:t>
            </a:r>
            <a:endParaRPr lang="es-PE" sz="2000" dirty="0"/>
          </a:p>
          <a:p>
            <a:r>
              <a:rPr lang="es-PE" sz="2000" dirty="0"/>
              <a:t>GIN </a:t>
            </a:r>
            <a:r>
              <a:rPr lang="es-PE" sz="2000" dirty="0" err="1"/>
              <a:t>X3</a:t>
            </a:r>
            <a:endParaRPr lang="es-PE" sz="2000" dirty="0"/>
          </a:p>
          <a:p>
            <a:r>
              <a:rPr lang="es-PE" sz="2000" dirty="0"/>
              <a:t>GIN </a:t>
            </a:r>
            <a:r>
              <a:rPr lang="es-PE" sz="2000" dirty="0" err="1"/>
              <a:t>X4</a:t>
            </a:r>
            <a:endParaRPr lang="es-PE" sz="2000" dirty="0"/>
          </a:p>
          <a:p>
            <a:r>
              <a:rPr lang="es-PE" sz="2000" dirty="0"/>
              <a:t>GIN </a:t>
            </a:r>
            <a:r>
              <a:rPr lang="es-PE" sz="2000" dirty="0" err="1"/>
              <a:t>X5</a:t>
            </a:r>
            <a:endParaRPr lang="es-PE" sz="2000" dirty="0"/>
          </a:p>
          <a:p>
            <a:r>
              <a:rPr lang="es-PE" sz="2000" dirty="0"/>
              <a:t>GIN </a:t>
            </a:r>
            <a:r>
              <a:rPr lang="es-PE" sz="2000" dirty="0" err="1"/>
              <a:t>X6</a:t>
            </a:r>
            <a:endParaRPr lang="es-PE" sz="2000" dirty="0"/>
          </a:p>
          <a:p>
            <a:r>
              <a:rPr lang="es-PE" sz="2000" dirty="0"/>
              <a:t>GIN </a:t>
            </a:r>
            <a:r>
              <a:rPr lang="es-PE" sz="2000" dirty="0" err="1"/>
              <a:t>Y1</a:t>
            </a:r>
            <a:r>
              <a:rPr lang="es-PE" sz="2000" dirty="0"/>
              <a:t>    ……….</a:t>
            </a:r>
          </a:p>
        </p:txBody>
      </p:sp>
      <p:sp>
        <p:nvSpPr>
          <p:cNvPr id="5" name="Rectángulo 4">
            <a:extLst>
              <a:ext uri="{FF2B5EF4-FFF2-40B4-BE49-F238E27FC236}">
                <a16:creationId xmlns:a16="http://schemas.microsoft.com/office/drawing/2014/main" id="{3F89493B-9A8B-4193-BB21-A0864807FFC7}"/>
              </a:ext>
            </a:extLst>
          </p:cNvPr>
          <p:cNvSpPr/>
          <p:nvPr/>
        </p:nvSpPr>
        <p:spPr>
          <a:xfrm>
            <a:off x="6705599" y="1318629"/>
            <a:ext cx="5080000" cy="5324535"/>
          </a:xfrm>
          <a:prstGeom prst="rect">
            <a:avLst/>
          </a:prstGeom>
          <a:solidFill>
            <a:schemeClr val="accent1">
              <a:lumMod val="20000"/>
              <a:lumOff val="80000"/>
            </a:schemeClr>
          </a:solidFill>
        </p:spPr>
        <p:txBody>
          <a:bodyPr wrap="square">
            <a:spAutoFit/>
          </a:bodyPr>
          <a:lstStyle/>
          <a:p>
            <a:r>
              <a:rPr lang="es-PE" sz="2000" dirty="0"/>
              <a:t> </a:t>
            </a:r>
            <a:r>
              <a:rPr lang="es-PE" sz="2000" dirty="0" err="1"/>
              <a:t>OBJECTIVE</a:t>
            </a:r>
            <a:r>
              <a:rPr lang="es-PE" sz="2000" dirty="0"/>
              <a:t> </a:t>
            </a:r>
            <a:r>
              <a:rPr lang="es-PE" sz="2000" dirty="0" err="1"/>
              <a:t>FUNCTION</a:t>
            </a:r>
            <a:r>
              <a:rPr lang="es-PE" sz="2000" dirty="0"/>
              <a:t> </a:t>
            </a:r>
            <a:r>
              <a:rPr lang="es-PE" sz="2000" dirty="0" err="1"/>
              <a:t>VALUE</a:t>
            </a:r>
            <a:endParaRPr lang="es-PE" sz="2000" dirty="0"/>
          </a:p>
          <a:p>
            <a:endParaRPr lang="es-PE" sz="2000" dirty="0"/>
          </a:p>
          <a:p>
            <a:r>
              <a:rPr lang="es-PE" sz="2000" dirty="0"/>
              <a:t>        1)      50360.00</a:t>
            </a:r>
          </a:p>
          <a:p>
            <a:endParaRPr lang="es-PE" sz="2000" dirty="0"/>
          </a:p>
          <a:p>
            <a:r>
              <a:rPr lang="es-PE" sz="2000" dirty="0"/>
              <a:t>  VARIABLE        </a:t>
            </a:r>
            <a:r>
              <a:rPr lang="es-PE" sz="2000" dirty="0" err="1"/>
              <a:t>VALUE</a:t>
            </a:r>
            <a:r>
              <a:rPr lang="es-PE" sz="2000" dirty="0"/>
              <a:t>          </a:t>
            </a:r>
            <a:r>
              <a:rPr lang="es-PE" sz="2000" dirty="0" err="1"/>
              <a:t>REDUCED</a:t>
            </a:r>
            <a:r>
              <a:rPr lang="es-PE" sz="2000" dirty="0"/>
              <a:t> </a:t>
            </a:r>
            <a:r>
              <a:rPr lang="es-PE" sz="2000" dirty="0" err="1"/>
              <a:t>COST</a:t>
            </a:r>
            <a:endParaRPr lang="es-PE" sz="2000" dirty="0"/>
          </a:p>
          <a:p>
            <a:r>
              <a:rPr lang="es-PE" sz="2000" dirty="0"/>
              <a:t>        </a:t>
            </a:r>
            <a:r>
              <a:rPr lang="es-PE" sz="2000" dirty="0" err="1"/>
              <a:t>X1</a:t>
            </a:r>
            <a:r>
              <a:rPr lang="es-PE" sz="2000" dirty="0"/>
              <a:t>       100.000000          0.000000</a:t>
            </a:r>
          </a:p>
          <a:p>
            <a:r>
              <a:rPr lang="es-PE" sz="2000" dirty="0"/>
              <a:t>        </a:t>
            </a:r>
            <a:r>
              <a:rPr lang="es-PE" sz="2000" dirty="0" err="1"/>
              <a:t>X2</a:t>
            </a:r>
            <a:r>
              <a:rPr lang="es-PE" sz="2000" dirty="0"/>
              <a:t>       250.000000          0.000000</a:t>
            </a:r>
          </a:p>
          <a:p>
            <a:r>
              <a:rPr lang="es-PE" sz="2000" dirty="0"/>
              <a:t>        </a:t>
            </a:r>
            <a:r>
              <a:rPr lang="es-PE" sz="2000" dirty="0" err="1"/>
              <a:t>X3</a:t>
            </a:r>
            <a:r>
              <a:rPr lang="es-PE" sz="2000" dirty="0"/>
              <a:t>       190.000000          0.000000</a:t>
            </a:r>
          </a:p>
          <a:p>
            <a:r>
              <a:rPr lang="es-PE" sz="2000" dirty="0"/>
              <a:t>        </a:t>
            </a:r>
            <a:r>
              <a:rPr lang="es-PE" sz="2000" dirty="0" err="1"/>
              <a:t>X4</a:t>
            </a:r>
            <a:r>
              <a:rPr lang="es-PE" sz="2000" dirty="0"/>
              <a:t>       140.000000          0.000000</a:t>
            </a:r>
          </a:p>
          <a:p>
            <a:r>
              <a:rPr lang="es-PE" sz="2000" dirty="0"/>
              <a:t>        </a:t>
            </a:r>
            <a:r>
              <a:rPr lang="es-PE" sz="2000" dirty="0" err="1"/>
              <a:t>X5</a:t>
            </a:r>
            <a:r>
              <a:rPr lang="es-PE" sz="2000" dirty="0"/>
              <a:t>       220.000000          0.000000</a:t>
            </a:r>
          </a:p>
          <a:p>
            <a:r>
              <a:rPr lang="es-PE" sz="2000" dirty="0"/>
              <a:t>        </a:t>
            </a:r>
            <a:r>
              <a:rPr lang="es-PE" sz="2000" dirty="0" err="1"/>
              <a:t>X6</a:t>
            </a:r>
            <a:r>
              <a:rPr lang="es-PE" sz="2000" dirty="0"/>
              <a:t>       110.000000          0.000000</a:t>
            </a:r>
          </a:p>
          <a:p>
            <a:r>
              <a:rPr lang="es-PE" sz="2000" dirty="0"/>
              <a:t>        </a:t>
            </a:r>
            <a:r>
              <a:rPr lang="es-PE" sz="2000" dirty="0" err="1"/>
              <a:t>Y1</a:t>
            </a:r>
            <a:r>
              <a:rPr lang="es-PE" sz="2000" dirty="0"/>
              <a:t>         0.000000         63.000000</a:t>
            </a:r>
          </a:p>
          <a:p>
            <a:r>
              <a:rPr lang="es-PE" sz="2000" dirty="0"/>
              <a:t>        </a:t>
            </a:r>
            <a:r>
              <a:rPr lang="es-PE" sz="2000" dirty="0" err="1"/>
              <a:t>Y2</a:t>
            </a:r>
            <a:r>
              <a:rPr lang="es-PE" sz="2000" dirty="0"/>
              <a:t>         0.000000         43.000000</a:t>
            </a:r>
          </a:p>
          <a:p>
            <a:r>
              <a:rPr lang="es-PE" sz="2000" dirty="0"/>
              <a:t>        </a:t>
            </a:r>
            <a:r>
              <a:rPr lang="es-PE" sz="2000" dirty="0" err="1"/>
              <a:t>Y3</a:t>
            </a:r>
            <a:r>
              <a:rPr lang="es-PE" sz="2000" dirty="0"/>
              <a:t>         0.000000         70.000000</a:t>
            </a:r>
          </a:p>
          <a:p>
            <a:r>
              <a:rPr lang="es-PE" sz="2000" dirty="0"/>
              <a:t>        </a:t>
            </a:r>
            <a:r>
              <a:rPr lang="es-PE" sz="2000" dirty="0" err="1"/>
              <a:t>Y4</a:t>
            </a:r>
            <a:r>
              <a:rPr lang="es-PE" sz="2000" dirty="0"/>
              <a:t>         0.000000         52.000000</a:t>
            </a:r>
          </a:p>
          <a:p>
            <a:r>
              <a:rPr lang="es-PE" sz="2000" dirty="0"/>
              <a:t>        </a:t>
            </a:r>
            <a:r>
              <a:rPr lang="es-PE" sz="2000" dirty="0" err="1"/>
              <a:t>Y5</a:t>
            </a:r>
            <a:r>
              <a:rPr lang="es-PE" sz="2000" dirty="0"/>
              <a:t>         0.000000         62.000000</a:t>
            </a:r>
          </a:p>
          <a:p>
            <a:r>
              <a:rPr lang="es-PE" sz="2000" dirty="0"/>
              <a:t>       </a:t>
            </a:r>
          </a:p>
        </p:txBody>
      </p:sp>
      <p:sp>
        <p:nvSpPr>
          <p:cNvPr id="6" name="Rectangle 2">
            <a:extLst>
              <a:ext uri="{FF2B5EF4-FFF2-40B4-BE49-F238E27FC236}">
                <a16:creationId xmlns:a16="http://schemas.microsoft.com/office/drawing/2014/main" id="{B1ECBEFE-13EA-4780-A227-5897A747FF45}"/>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13</a:t>
            </a:r>
          </a:p>
        </p:txBody>
      </p:sp>
      <p:sp>
        <p:nvSpPr>
          <p:cNvPr id="7" name="CuadroTexto 6">
            <a:extLst>
              <a:ext uri="{FF2B5EF4-FFF2-40B4-BE49-F238E27FC236}">
                <a16:creationId xmlns:a16="http://schemas.microsoft.com/office/drawing/2014/main" id="{8F4A1030-F2C1-450E-BBAC-B6BB23FBF0A3}"/>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182305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3F18938E-7FC6-46BB-BD31-D0716D7ABA91}"/>
              </a:ext>
            </a:extLst>
          </p:cNvPr>
          <p:cNvSpPr/>
          <p:nvPr/>
        </p:nvSpPr>
        <p:spPr>
          <a:xfrm>
            <a:off x="167640" y="1464439"/>
            <a:ext cx="6096000" cy="2862322"/>
          </a:xfrm>
          <a:prstGeom prst="rect">
            <a:avLst/>
          </a:prstGeom>
        </p:spPr>
        <p:txBody>
          <a:bodyPr>
            <a:spAutoFit/>
          </a:bodyPr>
          <a:lstStyle/>
          <a:p>
            <a:pPr marR="156210" algn="just">
              <a:spcAft>
                <a:spcPts val="0"/>
              </a:spcAft>
            </a:pPr>
            <a:r>
              <a:rPr lang="es-ES" dirty="0">
                <a:latin typeface="Tahoma" panose="020B0604030504040204" pitchFamily="34" charset="0"/>
                <a:ea typeface="Tahoma" panose="020B0604030504040204" pitchFamily="34" charset="0"/>
              </a:rPr>
              <a:t>James</a:t>
            </a:r>
            <a:r>
              <a:rPr lang="es-ES" spc="-70" dirty="0">
                <a:latin typeface="Tahoma" panose="020B0604030504040204" pitchFamily="34" charset="0"/>
                <a:ea typeface="Tahoma" panose="020B0604030504040204" pitchFamily="34" charset="0"/>
              </a:rPr>
              <a:t> </a:t>
            </a:r>
            <a:r>
              <a:rPr lang="es-ES" dirty="0" err="1">
                <a:latin typeface="Tahoma" panose="020B0604030504040204" pitchFamily="34" charset="0"/>
                <a:ea typeface="Tahoma" panose="020B0604030504040204" pitchFamily="34" charset="0"/>
              </a:rPr>
              <a:t>Beerd</a:t>
            </a:r>
            <a:r>
              <a:rPr lang="es-ES" spc="-6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hornea</a:t>
            </a:r>
            <a:r>
              <a:rPr lang="es-ES" spc="-6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pasteles</a:t>
            </a:r>
            <a:r>
              <a:rPr lang="es-ES" spc="-6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de</a:t>
            </a:r>
            <a:r>
              <a:rPr lang="es-ES" spc="-6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queso</a:t>
            </a:r>
            <a:r>
              <a:rPr lang="es-ES" spc="-6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y</a:t>
            </a:r>
            <a:r>
              <a:rPr lang="es-ES" spc="-7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pasteles</a:t>
            </a:r>
            <a:r>
              <a:rPr lang="es-ES" spc="-5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de</a:t>
            </a:r>
            <a:r>
              <a:rPr lang="es-ES" spc="-6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Selva</a:t>
            </a:r>
            <a:r>
              <a:rPr lang="es-ES" spc="-6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Negra.</a:t>
            </a:r>
            <a:r>
              <a:rPr lang="es-ES" spc="-6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Durante</a:t>
            </a:r>
            <a:r>
              <a:rPr lang="es-ES" spc="-5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cualquier</a:t>
            </a:r>
            <a:r>
              <a:rPr lang="es-ES" spc="-6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mes</a:t>
            </a:r>
            <a:r>
              <a:rPr lang="es-ES" spc="-7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puede</a:t>
            </a:r>
            <a:r>
              <a:rPr lang="es-ES" spc="-5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hornear</a:t>
            </a:r>
            <a:r>
              <a:rPr lang="es-ES" spc="-7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cuando</a:t>
            </a:r>
            <a:r>
              <a:rPr lang="es-ES" spc="-6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mucho</a:t>
            </a:r>
            <a:r>
              <a:rPr lang="es-ES" spc="-300" dirty="0">
                <a:latin typeface="Tahoma" panose="020B0604030504040204" pitchFamily="34" charset="0"/>
                <a:ea typeface="Tahoma" panose="020B0604030504040204" pitchFamily="34" charset="0"/>
              </a:rPr>
              <a:t> </a:t>
            </a:r>
            <a:r>
              <a:rPr lang="es-ES" dirty="0">
                <a:solidFill>
                  <a:srgbClr val="FF0000"/>
                </a:solidFill>
                <a:latin typeface="Tahoma" panose="020B0604030504040204" pitchFamily="34" charset="0"/>
                <a:ea typeface="Tahoma" panose="020B0604030504040204" pitchFamily="34" charset="0"/>
              </a:rPr>
              <a:t>65 pasteles</a:t>
            </a:r>
            <a:r>
              <a:rPr lang="es-ES" dirty="0">
                <a:latin typeface="Tahoma" panose="020B0604030504040204" pitchFamily="34" charset="0"/>
                <a:ea typeface="Tahoma" panose="020B0604030504040204" pitchFamily="34" charset="0"/>
              </a:rPr>
              <a:t>. Los costos por pastel y la demanda de pasteles, la cual se debe cumplir a tiempo, se proporcionan en la</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siguiente tabla. Cuesta 50 centavos conservar un pastel de queso y 40 centavos conservar un pastel de la selva negra</a:t>
            </a:r>
            <a:r>
              <a:rPr lang="es-ES" spc="-30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en inventario por un mes. Plantee un modelo de programación lineal para minimizar el costo total por cumplir la</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demanda de los</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tres</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meses</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siguientes:</a:t>
            </a:r>
            <a:endParaRPr lang="es-PE" dirty="0">
              <a:latin typeface="Tahoma" panose="020B0604030504040204" pitchFamily="34" charset="0"/>
              <a:ea typeface="Tahoma" panose="020B0604030504040204" pitchFamily="34" charset="0"/>
            </a:endParaRPr>
          </a:p>
        </p:txBody>
      </p:sp>
      <p:graphicFrame>
        <p:nvGraphicFramePr>
          <p:cNvPr id="4" name="Tabla 3">
            <a:extLst>
              <a:ext uri="{FF2B5EF4-FFF2-40B4-BE49-F238E27FC236}">
                <a16:creationId xmlns:a16="http://schemas.microsoft.com/office/drawing/2014/main" id="{DBAB565A-C821-40BA-8040-6808332D25D4}"/>
              </a:ext>
            </a:extLst>
          </p:cNvPr>
          <p:cNvGraphicFramePr>
            <a:graphicFrameLocks noGrp="1"/>
          </p:cNvGraphicFramePr>
          <p:nvPr/>
        </p:nvGraphicFramePr>
        <p:xfrm>
          <a:off x="195263" y="4459857"/>
          <a:ext cx="5857873" cy="1041314"/>
        </p:xfrm>
        <a:graphic>
          <a:graphicData uri="http://schemas.openxmlformats.org/drawingml/2006/table">
            <a:tbl>
              <a:tblPr firstRow="1" firstCol="1" lastRow="1" lastCol="1" bandRow="1" bandCol="1">
                <a:tableStyleId>{5C22544A-7EE6-4342-B048-85BDC9FD1C3A}</a:tableStyleId>
              </a:tblPr>
              <a:tblGrid>
                <a:gridCol w="1262601">
                  <a:extLst>
                    <a:ext uri="{9D8B030D-6E8A-4147-A177-3AD203B41FA5}">
                      <a16:colId xmlns:a16="http://schemas.microsoft.com/office/drawing/2014/main" val="3576854747"/>
                    </a:ext>
                  </a:extLst>
                </a:gridCol>
                <a:gridCol w="692962">
                  <a:extLst>
                    <a:ext uri="{9D8B030D-6E8A-4147-A177-3AD203B41FA5}">
                      <a16:colId xmlns:a16="http://schemas.microsoft.com/office/drawing/2014/main" val="1774879088"/>
                    </a:ext>
                  </a:extLst>
                </a:gridCol>
                <a:gridCol w="793306">
                  <a:extLst>
                    <a:ext uri="{9D8B030D-6E8A-4147-A177-3AD203B41FA5}">
                      <a16:colId xmlns:a16="http://schemas.microsoft.com/office/drawing/2014/main" val="2575008851"/>
                    </a:ext>
                  </a:extLst>
                </a:gridCol>
                <a:gridCol w="782479">
                  <a:extLst>
                    <a:ext uri="{9D8B030D-6E8A-4147-A177-3AD203B41FA5}">
                      <a16:colId xmlns:a16="http://schemas.microsoft.com/office/drawing/2014/main" val="4276374557"/>
                    </a:ext>
                  </a:extLst>
                </a:gridCol>
                <a:gridCol w="828136">
                  <a:extLst>
                    <a:ext uri="{9D8B030D-6E8A-4147-A177-3AD203B41FA5}">
                      <a16:colId xmlns:a16="http://schemas.microsoft.com/office/drawing/2014/main" val="901881598"/>
                    </a:ext>
                  </a:extLst>
                </a:gridCol>
                <a:gridCol w="745378">
                  <a:extLst>
                    <a:ext uri="{9D8B030D-6E8A-4147-A177-3AD203B41FA5}">
                      <a16:colId xmlns:a16="http://schemas.microsoft.com/office/drawing/2014/main" val="1129344502"/>
                    </a:ext>
                  </a:extLst>
                </a:gridCol>
                <a:gridCol w="753011">
                  <a:extLst>
                    <a:ext uri="{9D8B030D-6E8A-4147-A177-3AD203B41FA5}">
                      <a16:colId xmlns:a16="http://schemas.microsoft.com/office/drawing/2014/main" val="1419287294"/>
                    </a:ext>
                  </a:extLst>
                </a:gridCol>
              </a:tblGrid>
              <a:tr h="174490">
                <a:tc rowSpan="2">
                  <a:txBody>
                    <a:bodyPr/>
                    <a:lstStyle/>
                    <a:p>
                      <a:pPr algn="l">
                        <a:lnSpc>
                          <a:spcPts val="1110"/>
                        </a:lnSpc>
                        <a:spcBef>
                          <a:spcPts val="60"/>
                        </a:spcBef>
                        <a:spcAft>
                          <a:spcPts val="0"/>
                        </a:spcAft>
                      </a:pPr>
                      <a:r>
                        <a:rPr lang="es-ES" sz="1400" b="0" dirty="0">
                          <a:solidFill>
                            <a:schemeClr val="tx1"/>
                          </a:solidFill>
                          <a:effectLst/>
                          <a:latin typeface="Arial Narrow" panose="020B0606020202030204" pitchFamily="34" charset="0"/>
                        </a:rPr>
                        <a:t> </a:t>
                      </a:r>
                      <a:endParaRPr lang="es-PE" sz="1400" b="0" dirty="0">
                        <a:solidFill>
                          <a:schemeClr val="tx1"/>
                        </a:solidFill>
                        <a:effectLst/>
                        <a:latin typeface="Arial Narrow" panose="020B0606020202030204" pitchFamily="34" charset="0"/>
                      </a:endParaRPr>
                    </a:p>
                    <a:p>
                      <a:pPr marL="296545" algn="l">
                        <a:lnSpc>
                          <a:spcPts val="1110"/>
                        </a:lnSpc>
                        <a:spcAft>
                          <a:spcPts val="0"/>
                        </a:spcAft>
                      </a:pPr>
                      <a:r>
                        <a:rPr lang="es-ES" sz="1400" b="0" dirty="0">
                          <a:solidFill>
                            <a:schemeClr val="tx1"/>
                          </a:solidFill>
                          <a:effectLst/>
                          <a:latin typeface="Arial Narrow" panose="020B0606020202030204" pitchFamily="34" charset="0"/>
                        </a:rPr>
                        <a:t>Producto</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marL="0" marR="584835" indent="0" algn="ctr">
                        <a:lnSpc>
                          <a:spcPts val="1110"/>
                        </a:lnSpc>
                        <a:spcAft>
                          <a:spcPts val="0"/>
                        </a:spcAft>
                      </a:pPr>
                      <a:r>
                        <a:rPr lang="es-ES" sz="1400" b="0" dirty="0">
                          <a:solidFill>
                            <a:schemeClr val="tx1"/>
                          </a:solidFill>
                          <a:effectLst/>
                          <a:latin typeface="Arial Narrow" panose="020B0606020202030204" pitchFamily="34" charset="0"/>
                        </a:rPr>
                        <a:t>            Mes</a:t>
                      </a:r>
                      <a:r>
                        <a:rPr lang="es-ES" sz="1400" b="0" spc="-20" dirty="0">
                          <a:solidFill>
                            <a:schemeClr val="tx1"/>
                          </a:solidFill>
                          <a:effectLst/>
                          <a:latin typeface="Arial Narrow" panose="020B0606020202030204" pitchFamily="34" charset="0"/>
                        </a:rPr>
                        <a:t> </a:t>
                      </a:r>
                      <a:r>
                        <a:rPr lang="es-ES" sz="1400" b="0" dirty="0">
                          <a:solidFill>
                            <a:schemeClr val="tx1"/>
                          </a:solidFill>
                          <a:effectLst/>
                          <a:latin typeface="Arial Narrow" panose="020B0606020202030204" pitchFamily="34" charset="0"/>
                        </a:rPr>
                        <a:t>1</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PE"/>
                    </a:p>
                  </a:txBody>
                  <a:tcPr/>
                </a:tc>
                <a:tc gridSpan="2">
                  <a:txBody>
                    <a:bodyPr/>
                    <a:lstStyle/>
                    <a:p>
                      <a:pPr marL="587375" marR="585470" algn="ctr">
                        <a:lnSpc>
                          <a:spcPts val="1110"/>
                        </a:lnSpc>
                        <a:spcAft>
                          <a:spcPts val="0"/>
                        </a:spcAft>
                      </a:pPr>
                      <a:r>
                        <a:rPr lang="es-ES" sz="1400" b="0" dirty="0">
                          <a:solidFill>
                            <a:schemeClr val="tx1"/>
                          </a:solidFill>
                          <a:effectLst/>
                          <a:latin typeface="Arial Narrow" panose="020B0606020202030204" pitchFamily="34" charset="0"/>
                        </a:rPr>
                        <a:t>Mes</a:t>
                      </a:r>
                      <a:r>
                        <a:rPr lang="es-ES" sz="1400" b="0" spc="-20" dirty="0">
                          <a:solidFill>
                            <a:schemeClr val="tx1"/>
                          </a:solidFill>
                          <a:effectLst/>
                          <a:latin typeface="Arial Narrow" panose="020B0606020202030204" pitchFamily="34" charset="0"/>
                        </a:rPr>
                        <a:t> </a:t>
                      </a:r>
                      <a:r>
                        <a:rPr lang="es-ES" sz="1400" b="0" dirty="0">
                          <a:solidFill>
                            <a:schemeClr val="tx1"/>
                          </a:solidFill>
                          <a:effectLst/>
                          <a:latin typeface="Arial Narrow" panose="020B0606020202030204" pitchFamily="34" charset="0"/>
                        </a:rPr>
                        <a:t>2</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PE"/>
                    </a:p>
                  </a:txBody>
                  <a:tcPr/>
                </a:tc>
                <a:tc gridSpan="2">
                  <a:txBody>
                    <a:bodyPr/>
                    <a:lstStyle/>
                    <a:p>
                      <a:pPr marL="565150" marR="566420" indent="-565150" algn="ctr">
                        <a:lnSpc>
                          <a:spcPts val="1110"/>
                        </a:lnSpc>
                        <a:spcAft>
                          <a:spcPts val="0"/>
                        </a:spcAft>
                      </a:pPr>
                      <a:r>
                        <a:rPr lang="es-ES" sz="1400" b="0" dirty="0">
                          <a:solidFill>
                            <a:schemeClr val="tx1"/>
                          </a:solidFill>
                          <a:effectLst/>
                          <a:latin typeface="Arial Narrow" panose="020B0606020202030204" pitchFamily="34" charset="0"/>
                        </a:rPr>
                        <a:t>         Mes 3</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es-PE"/>
                    </a:p>
                  </a:txBody>
                  <a:tcPr/>
                </a:tc>
                <a:extLst>
                  <a:ext uri="{0D108BD9-81ED-4DB2-BD59-A6C34878D82A}">
                    <a16:rowId xmlns:a16="http://schemas.microsoft.com/office/drawing/2014/main" val="3714688618"/>
                  </a:ext>
                </a:extLst>
              </a:tr>
              <a:tr h="291552">
                <a:tc vMerge="1">
                  <a:txBody>
                    <a:bodyPr/>
                    <a:lstStyle/>
                    <a:p>
                      <a:endParaRPr lang="es-PE"/>
                    </a:p>
                  </a:txBody>
                  <a:tcPr/>
                </a:tc>
                <a:tc>
                  <a:txBody>
                    <a:bodyPr/>
                    <a:lstStyle/>
                    <a:p>
                      <a:pPr marL="82550" indent="-82550" algn="ctr">
                        <a:lnSpc>
                          <a:spcPts val="1110"/>
                        </a:lnSpc>
                        <a:spcBef>
                          <a:spcPts val="595"/>
                        </a:spcBef>
                        <a:spcAft>
                          <a:spcPts val="0"/>
                        </a:spcAft>
                      </a:pPr>
                      <a:r>
                        <a:rPr lang="es-ES" sz="1400" b="0" dirty="0">
                          <a:solidFill>
                            <a:schemeClr val="tx1"/>
                          </a:solidFill>
                          <a:effectLst/>
                          <a:latin typeface="Arial Narrow" panose="020B0606020202030204" pitchFamily="34" charset="0"/>
                        </a:rPr>
                        <a:t>Demanda</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0485" marR="59055" indent="149225" algn="ctr">
                        <a:lnSpc>
                          <a:spcPts val="1210"/>
                        </a:lnSpc>
                        <a:spcAft>
                          <a:spcPts val="0"/>
                        </a:spcAft>
                      </a:pPr>
                      <a:r>
                        <a:rPr lang="es-ES" sz="1400" b="0" dirty="0">
                          <a:solidFill>
                            <a:schemeClr val="tx1"/>
                          </a:solidFill>
                          <a:effectLst/>
                          <a:latin typeface="Arial Narrow" panose="020B0606020202030204" pitchFamily="34" charset="0"/>
                        </a:rPr>
                        <a:t>Costo</a:t>
                      </a:r>
                      <a:r>
                        <a:rPr lang="es-ES" sz="1400" b="0" spc="5" dirty="0">
                          <a:solidFill>
                            <a:schemeClr val="tx1"/>
                          </a:solidFill>
                          <a:effectLst/>
                          <a:latin typeface="Arial Narrow" panose="020B0606020202030204" pitchFamily="34" charset="0"/>
                        </a:rPr>
                        <a:t> </a:t>
                      </a:r>
                      <a:r>
                        <a:rPr lang="es-ES" sz="1400" b="0" spc="-5" dirty="0">
                          <a:solidFill>
                            <a:schemeClr val="tx1"/>
                          </a:solidFill>
                          <a:effectLst/>
                          <a:latin typeface="Arial Narrow" panose="020B0606020202030204" pitchFamily="34" charset="0"/>
                        </a:rPr>
                        <a:t>($/pastel)</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82550" algn="ctr">
                        <a:lnSpc>
                          <a:spcPts val="1110"/>
                        </a:lnSpc>
                        <a:spcBef>
                          <a:spcPts val="595"/>
                        </a:spcBef>
                        <a:spcAft>
                          <a:spcPts val="0"/>
                        </a:spcAft>
                      </a:pPr>
                      <a:r>
                        <a:rPr lang="es-ES" sz="1400" b="0" dirty="0">
                          <a:solidFill>
                            <a:schemeClr val="tx1"/>
                          </a:solidFill>
                          <a:effectLst/>
                          <a:latin typeface="Arial Narrow" panose="020B0606020202030204" pitchFamily="34" charset="0"/>
                        </a:rPr>
                        <a:t>Demanda</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70485" marR="59055" indent="149225" algn="ctr">
                        <a:lnSpc>
                          <a:spcPts val="1210"/>
                        </a:lnSpc>
                        <a:spcAft>
                          <a:spcPts val="0"/>
                        </a:spcAft>
                      </a:pPr>
                      <a:r>
                        <a:rPr lang="es-ES" sz="1400" b="0" dirty="0">
                          <a:solidFill>
                            <a:schemeClr val="tx1"/>
                          </a:solidFill>
                          <a:effectLst/>
                          <a:latin typeface="Arial Narrow" panose="020B0606020202030204" pitchFamily="34" charset="0"/>
                        </a:rPr>
                        <a:t>Costo</a:t>
                      </a:r>
                      <a:r>
                        <a:rPr lang="es-ES" sz="1400" b="0" spc="5" dirty="0">
                          <a:solidFill>
                            <a:schemeClr val="tx1"/>
                          </a:solidFill>
                          <a:effectLst/>
                          <a:latin typeface="Arial Narrow" panose="020B0606020202030204" pitchFamily="34" charset="0"/>
                        </a:rPr>
                        <a:t> </a:t>
                      </a:r>
                      <a:r>
                        <a:rPr lang="es-ES" sz="1400" b="0" spc="-5" dirty="0">
                          <a:solidFill>
                            <a:schemeClr val="tx1"/>
                          </a:solidFill>
                          <a:effectLst/>
                          <a:latin typeface="Arial Narrow" panose="020B0606020202030204" pitchFamily="34" charset="0"/>
                        </a:rPr>
                        <a:t>($/pastel)</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82550" algn="ctr">
                        <a:lnSpc>
                          <a:spcPts val="1110"/>
                        </a:lnSpc>
                        <a:spcBef>
                          <a:spcPts val="595"/>
                        </a:spcBef>
                        <a:spcAft>
                          <a:spcPts val="0"/>
                        </a:spcAft>
                      </a:pPr>
                      <a:r>
                        <a:rPr lang="es-ES" sz="1400" b="0" dirty="0">
                          <a:solidFill>
                            <a:schemeClr val="tx1"/>
                          </a:solidFill>
                          <a:effectLst/>
                          <a:latin typeface="Arial Narrow" panose="020B0606020202030204" pitchFamily="34" charset="0"/>
                        </a:rPr>
                        <a:t>Demanda</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48895" marR="40005" indent="149225" algn="ctr">
                        <a:lnSpc>
                          <a:spcPts val="1210"/>
                        </a:lnSpc>
                        <a:spcAft>
                          <a:spcPts val="0"/>
                        </a:spcAft>
                      </a:pPr>
                      <a:r>
                        <a:rPr lang="es-ES" sz="1400" b="0" dirty="0">
                          <a:solidFill>
                            <a:schemeClr val="tx1"/>
                          </a:solidFill>
                          <a:effectLst/>
                          <a:latin typeface="Arial Narrow" panose="020B0606020202030204" pitchFamily="34" charset="0"/>
                        </a:rPr>
                        <a:t>Costo</a:t>
                      </a:r>
                      <a:r>
                        <a:rPr lang="es-ES" sz="1400" b="0" spc="5" dirty="0">
                          <a:solidFill>
                            <a:schemeClr val="tx1"/>
                          </a:solidFill>
                          <a:effectLst/>
                          <a:latin typeface="Arial Narrow" panose="020B0606020202030204" pitchFamily="34" charset="0"/>
                        </a:rPr>
                        <a:t> </a:t>
                      </a:r>
                      <a:r>
                        <a:rPr lang="es-ES" sz="1400" b="0" spc="-5" dirty="0">
                          <a:solidFill>
                            <a:schemeClr val="tx1"/>
                          </a:solidFill>
                          <a:effectLst/>
                          <a:latin typeface="Arial Narrow" panose="020B0606020202030204" pitchFamily="34" charset="0"/>
                        </a:rPr>
                        <a:t>($/pastel)</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673364"/>
                  </a:ext>
                </a:extLst>
              </a:tr>
              <a:tr h="560500">
                <a:tc>
                  <a:txBody>
                    <a:bodyPr/>
                    <a:lstStyle/>
                    <a:p>
                      <a:pPr marL="201930" marR="80010" indent="-119380" algn="l">
                        <a:lnSpc>
                          <a:spcPts val="1210"/>
                        </a:lnSpc>
                        <a:spcAft>
                          <a:spcPts val="0"/>
                        </a:spcAft>
                      </a:pPr>
                      <a:r>
                        <a:rPr lang="es-ES" sz="1400" b="0" dirty="0">
                          <a:solidFill>
                            <a:schemeClr val="tx1"/>
                          </a:solidFill>
                          <a:effectLst/>
                          <a:latin typeface="Arial Narrow" panose="020B0606020202030204" pitchFamily="34" charset="0"/>
                        </a:rPr>
                        <a:t>Pastel</a:t>
                      </a:r>
                      <a:r>
                        <a:rPr lang="es-ES" sz="1400" b="0" spc="-45" dirty="0">
                          <a:solidFill>
                            <a:schemeClr val="tx1"/>
                          </a:solidFill>
                          <a:effectLst/>
                          <a:latin typeface="Arial Narrow" panose="020B0606020202030204" pitchFamily="34" charset="0"/>
                        </a:rPr>
                        <a:t> </a:t>
                      </a:r>
                      <a:r>
                        <a:rPr lang="es-ES" sz="1400" b="0" dirty="0">
                          <a:solidFill>
                            <a:schemeClr val="tx1"/>
                          </a:solidFill>
                          <a:effectLst/>
                          <a:latin typeface="Arial Narrow" panose="020B0606020202030204" pitchFamily="34" charset="0"/>
                        </a:rPr>
                        <a:t>de</a:t>
                      </a:r>
                      <a:r>
                        <a:rPr lang="es-ES" sz="1400" b="0" spc="-45" dirty="0">
                          <a:solidFill>
                            <a:schemeClr val="tx1"/>
                          </a:solidFill>
                          <a:effectLst/>
                          <a:latin typeface="Arial Narrow" panose="020B0606020202030204" pitchFamily="34" charset="0"/>
                        </a:rPr>
                        <a:t> </a:t>
                      </a:r>
                      <a:r>
                        <a:rPr lang="es-ES" sz="1400" b="0" dirty="0">
                          <a:solidFill>
                            <a:schemeClr val="tx1"/>
                          </a:solidFill>
                          <a:effectLst/>
                          <a:latin typeface="Arial Narrow" panose="020B0606020202030204" pitchFamily="34" charset="0"/>
                        </a:rPr>
                        <a:t>queso</a:t>
                      </a:r>
                      <a:r>
                        <a:rPr lang="es-ES" sz="1400" b="0" spc="-275" dirty="0">
                          <a:solidFill>
                            <a:schemeClr val="tx1"/>
                          </a:solidFill>
                          <a:effectLst/>
                          <a:latin typeface="Arial Narrow" panose="020B0606020202030204" pitchFamily="34" charset="0"/>
                        </a:rPr>
                        <a:t>  </a:t>
                      </a:r>
                      <a:r>
                        <a:rPr lang="es-ES" sz="1400" b="0" dirty="0">
                          <a:solidFill>
                            <a:schemeClr val="tx1"/>
                          </a:solidFill>
                          <a:effectLst/>
                          <a:latin typeface="Arial Narrow" panose="020B0606020202030204" pitchFamily="34" charset="0"/>
                        </a:rPr>
                        <a:t>Selva</a:t>
                      </a:r>
                      <a:r>
                        <a:rPr lang="es-ES" sz="1400" b="0" spc="-20" dirty="0">
                          <a:solidFill>
                            <a:schemeClr val="tx1"/>
                          </a:solidFill>
                          <a:effectLst/>
                          <a:latin typeface="Arial Narrow" panose="020B0606020202030204" pitchFamily="34" charset="0"/>
                        </a:rPr>
                        <a:t> </a:t>
                      </a:r>
                      <a:r>
                        <a:rPr lang="es-ES" sz="1400" b="0" dirty="0">
                          <a:solidFill>
                            <a:schemeClr val="tx1"/>
                          </a:solidFill>
                          <a:effectLst/>
                          <a:latin typeface="Arial Narrow" panose="020B0606020202030204" pitchFamily="34" charset="0"/>
                        </a:rPr>
                        <a:t>Negra</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03213" marR="299720" indent="-303213" algn="ctr">
                        <a:lnSpc>
                          <a:spcPts val="1190"/>
                        </a:lnSpc>
                        <a:spcAft>
                          <a:spcPts val="0"/>
                        </a:spcAft>
                      </a:pPr>
                      <a:r>
                        <a:rPr lang="es-ES" sz="1400" b="0" dirty="0">
                          <a:solidFill>
                            <a:schemeClr val="tx1"/>
                          </a:solidFill>
                          <a:effectLst/>
                          <a:latin typeface="Arial Narrow" panose="020B0606020202030204" pitchFamily="34" charset="0"/>
                        </a:rPr>
                        <a:t>40</a:t>
                      </a:r>
                      <a:endParaRPr lang="es-PE" sz="1400" b="0" dirty="0">
                        <a:solidFill>
                          <a:schemeClr val="tx1"/>
                        </a:solidFill>
                        <a:effectLst/>
                        <a:latin typeface="Arial Narrow" panose="020B0606020202030204" pitchFamily="34" charset="0"/>
                      </a:endParaRPr>
                    </a:p>
                    <a:p>
                      <a:pPr marL="303213" marR="299720" indent="-303213" algn="ctr">
                        <a:lnSpc>
                          <a:spcPts val="1115"/>
                        </a:lnSpc>
                        <a:spcBef>
                          <a:spcPts val="5"/>
                        </a:spcBef>
                        <a:spcAft>
                          <a:spcPts val="0"/>
                        </a:spcAft>
                      </a:pPr>
                      <a:r>
                        <a:rPr lang="es-ES" sz="1400" b="0" dirty="0">
                          <a:solidFill>
                            <a:schemeClr val="tx1"/>
                          </a:solidFill>
                          <a:effectLst/>
                          <a:latin typeface="Arial Narrow" panose="020B0606020202030204" pitchFamily="34" charset="0"/>
                        </a:rPr>
                        <a:t>20</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60350" marR="259080" indent="-260350" algn="ctr">
                        <a:lnSpc>
                          <a:spcPts val="1190"/>
                        </a:lnSpc>
                        <a:spcAft>
                          <a:spcPts val="0"/>
                        </a:spcAft>
                      </a:pPr>
                      <a:r>
                        <a:rPr lang="es-ES" sz="1400" b="0" dirty="0">
                          <a:solidFill>
                            <a:schemeClr val="tx1"/>
                          </a:solidFill>
                          <a:effectLst/>
                          <a:latin typeface="Arial Narrow" panose="020B0606020202030204" pitchFamily="34" charset="0"/>
                        </a:rPr>
                        <a:t>3.00</a:t>
                      </a:r>
                      <a:endParaRPr lang="es-PE" sz="1400" b="0" dirty="0">
                        <a:solidFill>
                          <a:schemeClr val="tx1"/>
                        </a:solidFill>
                        <a:effectLst/>
                        <a:latin typeface="Arial Narrow" panose="020B0606020202030204" pitchFamily="34" charset="0"/>
                      </a:endParaRPr>
                    </a:p>
                    <a:p>
                      <a:pPr marL="260350" marR="259080" indent="-260350" algn="ctr">
                        <a:lnSpc>
                          <a:spcPts val="1115"/>
                        </a:lnSpc>
                        <a:spcBef>
                          <a:spcPts val="5"/>
                        </a:spcBef>
                        <a:spcAft>
                          <a:spcPts val="0"/>
                        </a:spcAft>
                      </a:pPr>
                      <a:r>
                        <a:rPr lang="es-ES" sz="1400" b="0" dirty="0">
                          <a:solidFill>
                            <a:schemeClr val="tx1"/>
                          </a:solidFill>
                          <a:effectLst/>
                          <a:latin typeface="Arial Narrow" panose="020B0606020202030204" pitchFamily="34" charset="0"/>
                        </a:rPr>
                        <a:t>2.50</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03530" marR="300355" algn="ctr">
                        <a:lnSpc>
                          <a:spcPts val="1190"/>
                        </a:lnSpc>
                        <a:spcAft>
                          <a:spcPts val="0"/>
                        </a:spcAft>
                      </a:pPr>
                      <a:r>
                        <a:rPr lang="es-ES" sz="1400" b="0" dirty="0">
                          <a:solidFill>
                            <a:schemeClr val="tx1"/>
                          </a:solidFill>
                          <a:effectLst/>
                          <a:latin typeface="Arial Narrow" panose="020B0606020202030204" pitchFamily="34" charset="0"/>
                        </a:rPr>
                        <a:t>30</a:t>
                      </a:r>
                      <a:endParaRPr lang="es-PE" sz="1400" b="0" dirty="0">
                        <a:solidFill>
                          <a:schemeClr val="tx1"/>
                        </a:solidFill>
                        <a:effectLst/>
                        <a:latin typeface="Arial Narrow" panose="020B0606020202030204" pitchFamily="34" charset="0"/>
                      </a:endParaRPr>
                    </a:p>
                    <a:p>
                      <a:pPr marL="303530" marR="300355" algn="ctr">
                        <a:lnSpc>
                          <a:spcPts val="1115"/>
                        </a:lnSpc>
                        <a:spcBef>
                          <a:spcPts val="5"/>
                        </a:spcBef>
                        <a:spcAft>
                          <a:spcPts val="0"/>
                        </a:spcAft>
                      </a:pPr>
                      <a:r>
                        <a:rPr lang="es-ES" sz="1400" b="0" dirty="0">
                          <a:solidFill>
                            <a:schemeClr val="tx1"/>
                          </a:solidFill>
                          <a:effectLst/>
                          <a:latin typeface="Arial Narrow" panose="020B0606020202030204" pitchFamily="34" charset="0"/>
                        </a:rPr>
                        <a:t>30</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60985" marR="259715" algn="ctr">
                        <a:lnSpc>
                          <a:spcPts val="1190"/>
                        </a:lnSpc>
                        <a:spcAft>
                          <a:spcPts val="0"/>
                        </a:spcAft>
                      </a:pPr>
                      <a:r>
                        <a:rPr lang="es-ES" sz="1400" b="0" dirty="0">
                          <a:solidFill>
                            <a:schemeClr val="tx1"/>
                          </a:solidFill>
                          <a:effectLst/>
                          <a:latin typeface="Arial Narrow" panose="020B0606020202030204" pitchFamily="34" charset="0"/>
                        </a:rPr>
                        <a:t>3.40</a:t>
                      </a:r>
                      <a:endParaRPr lang="es-PE" sz="1400" b="0" dirty="0">
                        <a:solidFill>
                          <a:schemeClr val="tx1"/>
                        </a:solidFill>
                        <a:effectLst/>
                        <a:latin typeface="Arial Narrow" panose="020B0606020202030204" pitchFamily="34" charset="0"/>
                      </a:endParaRPr>
                    </a:p>
                    <a:p>
                      <a:pPr marL="260985" marR="259715" algn="ctr">
                        <a:lnSpc>
                          <a:spcPts val="1115"/>
                        </a:lnSpc>
                        <a:spcBef>
                          <a:spcPts val="5"/>
                        </a:spcBef>
                        <a:spcAft>
                          <a:spcPts val="0"/>
                        </a:spcAft>
                      </a:pPr>
                      <a:r>
                        <a:rPr lang="es-ES" sz="1400" b="0" dirty="0">
                          <a:solidFill>
                            <a:schemeClr val="tx1"/>
                          </a:solidFill>
                          <a:effectLst/>
                          <a:latin typeface="Arial Narrow" panose="020B0606020202030204" pitchFamily="34" charset="0"/>
                        </a:rPr>
                        <a:t>2.80</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01625" marR="300355" indent="-301625" algn="ctr">
                        <a:lnSpc>
                          <a:spcPts val="1190"/>
                        </a:lnSpc>
                        <a:spcAft>
                          <a:spcPts val="0"/>
                        </a:spcAft>
                      </a:pPr>
                      <a:r>
                        <a:rPr lang="es-ES" sz="1400" b="0" dirty="0">
                          <a:solidFill>
                            <a:schemeClr val="tx1"/>
                          </a:solidFill>
                          <a:effectLst/>
                          <a:latin typeface="Arial Narrow" panose="020B0606020202030204" pitchFamily="34" charset="0"/>
                        </a:rPr>
                        <a:t>20</a:t>
                      </a:r>
                      <a:endParaRPr lang="es-PE" sz="1400" b="0" dirty="0">
                        <a:solidFill>
                          <a:schemeClr val="tx1"/>
                        </a:solidFill>
                        <a:effectLst/>
                        <a:latin typeface="Arial Narrow" panose="020B0606020202030204" pitchFamily="34" charset="0"/>
                      </a:endParaRPr>
                    </a:p>
                    <a:p>
                      <a:pPr marL="301625" marR="300355" indent="-301625" algn="ctr">
                        <a:lnSpc>
                          <a:spcPts val="1115"/>
                        </a:lnSpc>
                        <a:spcBef>
                          <a:spcPts val="5"/>
                        </a:spcBef>
                        <a:spcAft>
                          <a:spcPts val="0"/>
                        </a:spcAft>
                      </a:pPr>
                      <a:r>
                        <a:rPr lang="es-ES" sz="1400" b="0" dirty="0">
                          <a:solidFill>
                            <a:schemeClr val="tx1"/>
                          </a:solidFill>
                          <a:effectLst/>
                          <a:latin typeface="Arial Narrow" panose="020B0606020202030204" pitchFamily="34" charset="0"/>
                        </a:rPr>
                        <a:t>10</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39713" marR="240665" indent="-239713" algn="ctr">
                        <a:lnSpc>
                          <a:spcPts val="1190"/>
                        </a:lnSpc>
                        <a:spcAft>
                          <a:spcPts val="0"/>
                        </a:spcAft>
                      </a:pPr>
                      <a:r>
                        <a:rPr lang="es-ES" sz="1400" b="0" dirty="0">
                          <a:solidFill>
                            <a:schemeClr val="tx1"/>
                          </a:solidFill>
                          <a:effectLst/>
                          <a:latin typeface="Arial Narrow" panose="020B0606020202030204" pitchFamily="34" charset="0"/>
                        </a:rPr>
                        <a:t>3.80</a:t>
                      </a:r>
                      <a:endParaRPr lang="es-PE" sz="1400" b="0" dirty="0">
                        <a:solidFill>
                          <a:schemeClr val="tx1"/>
                        </a:solidFill>
                        <a:effectLst/>
                        <a:latin typeface="Arial Narrow" panose="020B0606020202030204" pitchFamily="34" charset="0"/>
                      </a:endParaRPr>
                    </a:p>
                    <a:p>
                      <a:pPr marL="239713" marR="240665" indent="-239713" algn="ctr">
                        <a:lnSpc>
                          <a:spcPts val="1115"/>
                        </a:lnSpc>
                        <a:spcBef>
                          <a:spcPts val="5"/>
                        </a:spcBef>
                        <a:spcAft>
                          <a:spcPts val="0"/>
                        </a:spcAft>
                      </a:pPr>
                      <a:r>
                        <a:rPr lang="es-ES" sz="1400" b="0" dirty="0">
                          <a:solidFill>
                            <a:schemeClr val="tx1"/>
                          </a:solidFill>
                          <a:effectLst/>
                          <a:latin typeface="Arial Narrow" panose="020B0606020202030204" pitchFamily="34" charset="0"/>
                        </a:rPr>
                        <a:t>3.40</a:t>
                      </a:r>
                      <a:endParaRPr lang="es-PE" sz="1400" b="0" dirty="0">
                        <a:solidFill>
                          <a:schemeClr val="tx1"/>
                        </a:solidFill>
                        <a:effectLst/>
                        <a:latin typeface="Arial Narrow" panose="020B0606020202030204" pitchFamily="34" charset="0"/>
                        <a:ea typeface="Tahoma" panose="020B0604030504040204" pitchFamily="34"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53612242"/>
                  </a:ext>
                </a:extLst>
              </a:tr>
            </a:tbl>
          </a:graphicData>
        </a:graphic>
      </p:graphicFrame>
      <p:sp>
        <p:nvSpPr>
          <p:cNvPr id="5" name="Rectángulo 4">
            <a:extLst>
              <a:ext uri="{FF2B5EF4-FFF2-40B4-BE49-F238E27FC236}">
                <a16:creationId xmlns:a16="http://schemas.microsoft.com/office/drawing/2014/main" id="{A004D84B-CF0E-4608-A0DC-36033201F976}"/>
              </a:ext>
            </a:extLst>
          </p:cNvPr>
          <p:cNvSpPr/>
          <p:nvPr/>
        </p:nvSpPr>
        <p:spPr>
          <a:xfrm>
            <a:off x="6281755" y="1307376"/>
            <a:ext cx="5910245" cy="5016758"/>
          </a:xfrm>
          <a:prstGeom prst="rect">
            <a:avLst/>
          </a:prstGeom>
        </p:spPr>
        <p:txBody>
          <a:bodyPr wrap="square">
            <a:spAutoFit/>
          </a:bodyPr>
          <a:lstStyle/>
          <a:p>
            <a:pPr>
              <a:spcAft>
                <a:spcPts val="0"/>
              </a:spcAft>
            </a:pPr>
            <a:r>
              <a:rPr lang="es-PE" sz="2000" dirty="0">
                <a:solidFill>
                  <a:srgbClr val="FF0000"/>
                </a:solidFill>
                <a:latin typeface="Arial Narrow" panose="020B0606020202030204" pitchFamily="34" charset="0"/>
                <a:ea typeface="Times New Roman" panose="02020603050405020304" pitchFamily="18" charset="0"/>
              </a:rPr>
              <a:t>I   Identificación de las variables</a:t>
            </a:r>
            <a:endParaRPr lang="es-PE" sz="2000" dirty="0">
              <a:latin typeface="Arial Narrow" panose="020B0606020202030204" pitchFamily="34" charset="0"/>
              <a:ea typeface="Times New Roman" panose="02020603050405020304" pitchFamily="18" charset="0"/>
            </a:endParaRPr>
          </a:p>
          <a:p>
            <a:pPr>
              <a:spcAft>
                <a:spcPts val="0"/>
              </a:spcAft>
            </a:pPr>
            <a:r>
              <a:rPr lang="es-PE" sz="2000" dirty="0">
                <a:solidFill>
                  <a:srgbClr val="FF0000"/>
                </a:solidFill>
                <a:latin typeface="Arial Narrow" panose="020B0606020202030204" pitchFamily="34" charset="0"/>
                <a:ea typeface="Times New Roman" panose="02020603050405020304" pitchFamily="18" charset="0"/>
              </a:rPr>
              <a:t>    </a:t>
            </a:r>
            <a:r>
              <a:rPr lang="es-PE" sz="2000" b="1" dirty="0" err="1">
                <a:latin typeface="Arial Narrow" panose="020B0606020202030204" pitchFamily="34" charset="0"/>
                <a:ea typeface="Times New Roman" panose="02020603050405020304" pitchFamily="18" charset="0"/>
              </a:rPr>
              <a:t>Xij</a:t>
            </a:r>
            <a:r>
              <a:rPr lang="es-PE" sz="2000" b="1" dirty="0">
                <a:latin typeface="Arial Narrow" panose="020B0606020202030204" pitchFamily="34" charset="0"/>
                <a:ea typeface="Times New Roman" panose="02020603050405020304" pitchFamily="18" charset="0"/>
              </a:rPr>
              <a:t>=Número unidades a producir del producto i en el mes j</a:t>
            </a:r>
          </a:p>
          <a:p>
            <a:pPr>
              <a:spcAft>
                <a:spcPts val="0"/>
              </a:spcAft>
            </a:pPr>
            <a:r>
              <a:rPr lang="es-PE" sz="2000" b="1" dirty="0">
                <a:latin typeface="Arial Narrow" panose="020B0606020202030204" pitchFamily="34" charset="0"/>
                <a:ea typeface="Times New Roman" panose="02020603050405020304" pitchFamily="18" charset="0"/>
              </a:rPr>
              <a:t>    </a:t>
            </a:r>
            <a:r>
              <a:rPr lang="es-PE" sz="2000" b="1" dirty="0" err="1">
                <a:latin typeface="Arial Narrow" panose="020B0606020202030204" pitchFamily="34" charset="0"/>
                <a:ea typeface="Times New Roman" panose="02020603050405020304" pitchFamily="18" charset="0"/>
              </a:rPr>
              <a:t>Yij</a:t>
            </a:r>
            <a:r>
              <a:rPr lang="es-PE" sz="2000" b="1" dirty="0">
                <a:latin typeface="Arial Narrow" panose="020B0606020202030204" pitchFamily="34" charset="0"/>
                <a:ea typeface="Times New Roman" panose="02020603050405020304" pitchFamily="18" charset="0"/>
              </a:rPr>
              <a:t>=Número unidades adicionales a producir del producto i en el mes j</a:t>
            </a:r>
          </a:p>
          <a:p>
            <a:pPr>
              <a:spcAft>
                <a:spcPts val="0"/>
              </a:spcAft>
            </a:pPr>
            <a:r>
              <a:rPr lang="es-PE" sz="2000" dirty="0">
                <a:solidFill>
                  <a:srgbClr val="FF0000"/>
                </a:solidFill>
                <a:latin typeface="Arial Narrow" panose="020B0606020202030204" pitchFamily="34" charset="0"/>
                <a:ea typeface="Times New Roman" panose="02020603050405020304" pitchFamily="18" charset="0"/>
              </a:rPr>
              <a:t>II  Identificación de la </a:t>
            </a:r>
            <a:r>
              <a:rPr lang="es-PE" sz="2000" dirty="0" err="1">
                <a:solidFill>
                  <a:srgbClr val="FF0000"/>
                </a:solidFill>
                <a:latin typeface="Arial Narrow" panose="020B0606020202030204" pitchFamily="34" charset="0"/>
                <a:ea typeface="Times New Roman" panose="02020603050405020304" pitchFamily="18" charset="0"/>
              </a:rPr>
              <a:t>F.O</a:t>
            </a:r>
            <a:r>
              <a:rPr lang="es-PE" sz="2000" dirty="0">
                <a:solidFill>
                  <a:srgbClr val="FF0000"/>
                </a:solidFill>
                <a:latin typeface="Arial Narrow" panose="020B0606020202030204" pitchFamily="34" charset="0"/>
                <a:ea typeface="Times New Roman" panose="02020603050405020304" pitchFamily="18" charset="0"/>
              </a:rPr>
              <a:t>.</a:t>
            </a:r>
          </a:p>
          <a:p>
            <a:pPr>
              <a:spcAft>
                <a:spcPts val="0"/>
              </a:spcAft>
            </a:pPr>
            <a:r>
              <a:rPr lang="es-PE" sz="2000" dirty="0">
                <a:latin typeface="Arial Narrow" panose="020B0606020202030204" pitchFamily="34" charset="0"/>
                <a:ea typeface="Times New Roman" panose="02020603050405020304" pitchFamily="18" charset="0"/>
              </a:rPr>
              <a:t>     MIN </a:t>
            </a:r>
            <a:r>
              <a:rPr lang="es-PE" sz="2000" dirty="0" err="1">
                <a:latin typeface="Arial Narrow" panose="020B0606020202030204" pitchFamily="34" charset="0"/>
              </a:rPr>
              <a:t>3X11+3,40X12+3,80X13+2,5X21+2,80X22+3,40X23</a:t>
            </a:r>
            <a:r>
              <a:rPr lang="es-PE" sz="2000" dirty="0">
                <a:latin typeface="Arial Narrow" panose="020B0606020202030204" pitchFamily="34" charset="0"/>
              </a:rPr>
              <a:t>+</a:t>
            </a:r>
          </a:p>
          <a:p>
            <a:pPr>
              <a:spcAft>
                <a:spcPts val="0"/>
              </a:spcAft>
            </a:pPr>
            <a:r>
              <a:rPr lang="es-PE" sz="2000" dirty="0">
                <a:latin typeface="Arial Narrow" panose="020B0606020202030204" pitchFamily="34" charset="0"/>
              </a:rPr>
              <a:t>          </a:t>
            </a:r>
            <a:r>
              <a:rPr lang="es-PE" sz="2000" dirty="0" err="1">
                <a:latin typeface="Arial Narrow" panose="020B0606020202030204" pitchFamily="34" charset="0"/>
              </a:rPr>
              <a:t>3,50Y11+3,90Y12+2,90Y21+3,20Y22</a:t>
            </a:r>
            <a:endParaRPr lang="es-PE" sz="2000" dirty="0">
              <a:latin typeface="Arial Narrow" panose="020B0606020202030204" pitchFamily="34" charset="0"/>
              <a:ea typeface="Times New Roman" panose="02020603050405020304" pitchFamily="18" charset="0"/>
            </a:endParaRPr>
          </a:p>
          <a:p>
            <a:pPr>
              <a:spcAft>
                <a:spcPts val="0"/>
              </a:spcAft>
            </a:pPr>
            <a:r>
              <a:rPr lang="es-PE" sz="2000" dirty="0">
                <a:solidFill>
                  <a:srgbClr val="FF0000"/>
                </a:solidFill>
                <a:latin typeface="Arial Narrow" panose="020B0606020202030204" pitchFamily="34" charset="0"/>
                <a:ea typeface="Times New Roman" panose="02020603050405020304" pitchFamily="18" charset="0"/>
              </a:rPr>
              <a:t>III  Identificación de las restricciones</a:t>
            </a:r>
            <a:endParaRPr lang="es-PE" sz="2000" dirty="0">
              <a:latin typeface="Arial Narrow" panose="020B0606020202030204" pitchFamily="34" charset="0"/>
              <a:ea typeface="Times New Roman" panose="02020603050405020304" pitchFamily="18" charset="0"/>
            </a:endParaRPr>
          </a:p>
          <a:p>
            <a:r>
              <a:rPr lang="es-PE" sz="2000" dirty="0" err="1">
                <a:latin typeface="Arial Narrow" panose="020B0606020202030204" pitchFamily="34" charset="0"/>
              </a:rPr>
              <a:t>X11-Y11</a:t>
            </a:r>
            <a:r>
              <a:rPr lang="es-PE" sz="2000" dirty="0">
                <a:latin typeface="Arial Narrow" panose="020B0606020202030204" pitchFamily="34" charset="0"/>
              </a:rPr>
              <a:t>=40</a:t>
            </a:r>
          </a:p>
          <a:p>
            <a:r>
              <a:rPr lang="es-PE" sz="2000" dirty="0" err="1">
                <a:latin typeface="Arial Narrow" panose="020B0606020202030204" pitchFamily="34" charset="0"/>
              </a:rPr>
              <a:t>X12+Y11-Y12</a:t>
            </a:r>
            <a:r>
              <a:rPr lang="es-PE" sz="2000" dirty="0">
                <a:latin typeface="Arial Narrow" panose="020B0606020202030204" pitchFamily="34" charset="0"/>
              </a:rPr>
              <a:t>=30</a:t>
            </a:r>
          </a:p>
          <a:p>
            <a:r>
              <a:rPr lang="es-PE" sz="2000" dirty="0" err="1">
                <a:latin typeface="Arial Narrow" panose="020B0606020202030204" pitchFamily="34" charset="0"/>
              </a:rPr>
              <a:t>X13+Y12</a:t>
            </a:r>
            <a:r>
              <a:rPr lang="es-PE" sz="2000" dirty="0">
                <a:latin typeface="Arial Narrow" panose="020B0606020202030204" pitchFamily="34" charset="0"/>
              </a:rPr>
              <a:t> =20</a:t>
            </a:r>
          </a:p>
          <a:p>
            <a:r>
              <a:rPr lang="es-PE" sz="2000" dirty="0" err="1">
                <a:latin typeface="Arial Narrow" panose="020B0606020202030204" pitchFamily="34" charset="0"/>
              </a:rPr>
              <a:t>X21-Y21</a:t>
            </a:r>
            <a:r>
              <a:rPr lang="es-PE" sz="2000" dirty="0">
                <a:latin typeface="Arial Narrow" panose="020B0606020202030204" pitchFamily="34" charset="0"/>
              </a:rPr>
              <a:t>=20</a:t>
            </a:r>
          </a:p>
          <a:p>
            <a:r>
              <a:rPr lang="es-PE" sz="2000" dirty="0" err="1">
                <a:latin typeface="Arial Narrow" panose="020B0606020202030204" pitchFamily="34" charset="0"/>
              </a:rPr>
              <a:t>X22+Y21-Y22</a:t>
            </a:r>
            <a:r>
              <a:rPr lang="es-PE" sz="2000" dirty="0">
                <a:latin typeface="Arial Narrow" panose="020B0606020202030204" pitchFamily="34" charset="0"/>
              </a:rPr>
              <a:t>=30</a:t>
            </a:r>
          </a:p>
          <a:p>
            <a:r>
              <a:rPr lang="es-PE" sz="2000" dirty="0" err="1">
                <a:latin typeface="Arial Narrow" panose="020B0606020202030204" pitchFamily="34" charset="0"/>
              </a:rPr>
              <a:t>X23+Y22</a:t>
            </a:r>
            <a:r>
              <a:rPr lang="es-PE" sz="2000" dirty="0">
                <a:latin typeface="Arial Narrow" panose="020B0606020202030204" pitchFamily="34" charset="0"/>
              </a:rPr>
              <a:t>=10</a:t>
            </a:r>
            <a:r>
              <a:rPr lang="es-PE" sz="2000" dirty="0">
                <a:latin typeface="Arial Narrow" panose="020B0606020202030204" pitchFamily="34" charset="0"/>
                <a:ea typeface="Times New Roman" panose="02020603050405020304" pitchFamily="18" charset="0"/>
              </a:rPr>
              <a:t> </a:t>
            </a:r>
          </a:p>
          <a:p>
            <a:r>
              <a:rPr lang="es-PE" sz="2000" dirty="0">
                <a:latin typeface="Arial Narrow" panose="020B0606020202030204" pitchFamily="34" charset="0"/>
                <a:ea typeface="Times New Roman" panose="02020603050405020304" pitchFamily="18" charset="0"/>
              </a:rPr>
              <a:t>Xi &gt;=0, entero</a:t>
            </a:r>
            <a:endParaRPr lang="es-PE" sz="2000" dirty="0">
              <a:effectLst/>
              <a:latin typeface="Arial Narrow" panose="020B0606020202030204" pitchFamily="34" charset="0"/>
              <a:ea typeface="Times New Roman" panose="02020603050405020304" pitchFamily="18" charset="0"/>
            </a:endParaRPr>
          </a:p>
        </p:txBody>
      </p:sp>
      <p:sp>
        <p:nvSpPr>
          <p:cNvPr id="2" name="CuadroTexto 1">
            <a:extLst>
              <a:ext uri="{FF2B5EF4-FFF2-40B4-BE49-F238E27FC236}">
                <a16:creationId xmlns:a16="http://schemas.microsoft.com/office/drawing/2014/main" id="{F38110AC-C3BF-4AF7-8ABA-302BDECBEA1E}"/>
              </a:ext>
            </a:extLst>
          </p:cNvPr>
          <p:cNvSpPr txBox="1"/>
          <p:nvPr/>
        </p:nvSpPr>
        <p:spPr>
          <a:xfrm>
            <a:off x="8885208" y="4934309"/>
            <a:ext cx="2396810" cy="1200329"/>
          </a:xfrm>
          <a:prstGeom prst="rect">
            <a:avLst/>
          </a:prstGeom>
          <a:noFill/>
        </p:spPr>
        <p:txBody>
          <a:bodyPr wrap="none" rtlCol="0">
            <a:spAutoFit/>
          </a:bodyPr>
          <a:lstStyle/>
          <a:p>
            <a:r>
              <a:rPr lang="es-ES" dirty="0" err="1"/>
              <a:t>X11+Y11+X21+Y21</a:t>
            </a:r>
            <a:r>
              <a:rPr lang="es-ES" dirty="0"/>
              <a:t>&lt;=65</a:t>
            </a:r>
          </a:p>
          <a:p>
            <a:r>
              <a:rPr lang="es-ES" dirty="0" err="1"/>
              <a:t>X12+Y12+X22+Y22</a:t>
            </a:r>
            <a:r>
              <a:rPr lang="es-ES" dirty="0"/>
              <a:t>&lt;=65</a:t>
            </a:r>
          </a:p>
          <a:p>
            <a:r>
              <a:rPr lang="es-ES" dirty="0" err="1"/>
              <a:t>X13+X23</a:t>
            </a:r>
            <a:r>
              <a:rPr lang="es-ES" dirty="0"/>
              <a:t>&lt;=65</a:t>
            </a:r>
          </a:p>
          <a:p>
            <a:endParaRPr lang="es-PE" dirty="0"/>
          </a:p>
        </p:txBody>
      </p:sp>
      <p:sp>
        <p:nvSpPr>
          <p:cNvPr id="6" name="Rectangle 2">
            <a:extLst>
              <a:ext uri="{FF2B5EF4-FFF2-40B4-BE49-F238E27FC236}">
                <a16:creationId xmlns:a16="http://schemas.microsoft.com/office/drawing/2014/main" id="{EDC09599-DE75-43A2-A4C8-FF84D350AC48}"/>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14</a:t>
            </a:r>
          </a:p>
        </p:txBody>
      </p:sp>
      <p:sp>
        <p:nvSpPr>
          <p:cNvPr id="7" name="CuadroTexto 6">
            <a:extLst>
              <a:ext uri="{FF2B5EF4-FFF2-40B4-BE49-F238E27FC236}">
                <a16:creationId xmlns:a16="http://schemas.microsoft.com/office/drawing/2014/main" id="{4E55744A-900A-460E-AAB8-C8838E33D8A4}"/>
              </a:ext>
            </a:extLst>
          </p:cNvPr>
          <p:cNvSpPr txBox="1"/>
          <p:nvPr/>
        </p:nvSpPr>
        <p:spPr>
          <a:xfrm>
            <a:off x="2294627" y="5657671"/>
            <a:ext cx="2147977" cy="830997"/>
          </a:xfrm>
          <a:prstGeom prst="rect">
            <a:avLst/>
          </a:prstGeom>
          <a:solidFill>
            <a:schemeClr val="accent1">
              <a:lumMod val="60000"/>
              <a:lumOff val="40000"/>
            </a:schemeClr>
          </a:solidFill>
        </p:spPr>
        <p:txBody>
          <a:bodyPr wrap="square" rtlCol="0">
            <a:spAutoFit/>
          </a:bodyPr>
          <a:lstStyle/>
          <a:p>
            <a:r>
              <a:rPr lang="es-ES" sz="2400" dirty="0" err="1"/>
              <a:t>I.F</a:t>
            </a:r>
            <a:r>
              <a:rPr lang="es-ES" sz="2400" dirty="0"/>
              <a:t>.=I.I.+</a:t>
            </a:r>
            <a:r>
              <a:rPr lang="es-ES" sz="2400" dirty="0" err="1"/>
              <a:t>Prod</a:t>
            </a:r>
            <a:r>
              <a:rPr lang="es-ES" sz="2400" dirty="0"/>
              <a:t>-D</a:t>
            </a:r>
          </a:p>
          <a:p>
            <a:r>
              <a:rPr lang="es-ES" sz="2400" dirty="0"/>
              <a:t>D= </a:t>
            </a:r>
            <a:r>
              <a:rPr lang="es-ES" sz="2400" dirty="0" err="1"/>
              <a:t>Prod</a:t>
            </a:r>
            <a:r>
              <a:rPr lang="es-ES" sz="2400" dirty="0"/>
              <a:t> +I.I-I.F</a:t>
            </a:r>
          </a:p>
        </p:txBody>
      </p:sp>
      <p:sp>
        <p:nvSpPr>
          <p:cNvPr id="8" name="CuadroTexto 7">
            <a:extLst>
              <a:ext uri="{FF2B5EF4-FFF2-40B4-BE49-F238E27FC236}">
                <a16:creationId xmlns:a16="http://schemas.microsoft.com/office/drawing/2014/main" id="{9FC3F6CA-8168-4F7F-A82E-5B5B75C1E580}"/>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2672457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28828E8-8F94-4C85-9AD0-6E1C819AC99A}"/>
              </a:ext>
            </a:extLst>
          </p:cNvPr>
          <p:cNvSpPr/>
          <p:nvPr/>
        </p:nvSpPr>
        <p:spPr>
          <a:xfrm>
            <a:off x="166777" y="1636007"/>
            <a:ext cx="5811329" cy="5324535"/>
          </a:xfrm>
          <a:prstGeom prst="rect">
            <a:avLst/>
          </a:prstGeom>
          <a:solidFill>
            <a:srgbClr val="FFFF00"/>
          </a:solidFill>
        </p:spPr>
        <p:txBody>
          <a:bodyPr wrap="square">
            <a:spAutoFit/>
          </a:bodyPr>
          <a:lstStyle/>
          <a:p>
            <a:pPr>
              <a:spcAft>
                <a:spcPts val="0"/>
              </a:spcAft>
            </a:pPr>
            <a:r>
              <a:rPr lang="es-PE" sz="2000" dirty="0">
                <a:latin typeface="Arial Narrow" panose="020B0606020202030204" pitchFamily="34" charset="0"/>
                <a:ea typeface="Times New Roman" panose="02020603050405020304" pitchFamily="18" charset="0"/>
              </a:rPr>
              <a:t>MIN </a:t>
            </a:r>
            <a:r>
              <a:rPr lang="es-PE" sz="2000" dirty="0" err="1">
                <a:latin typeface="Arial Narrow" panose="020B0606020202030204" pitchFamily="34" charset="0"/>
              </a:rPr>
              <a:t>3X11+3,40X12+3,80X13+2,5X21+2,80X22+3,40X23</a:t>
            </a:r>
            <a:r>
              <a:rPr lang="es-PE" sz="2000" dirty="0">
                <a:latin typeface="Arial Narrow" panose="020B0606020202030204" pitchFamily="34" charset="0"/>
              </a:rPr>
              <a:t>+</a:t>
            </a:r>
          </a:p>
          <a:p>
            <a:pPr>
              <a:spcAft>
                <a:spcPts val="0"/>
              </a:spcAft>
            </a:pPr>
            <a:r>
              <a:rPr lang="es-PE" sz="2000" dirty="0">
                <a:latin typeface="Arial Narrow" panose="020B0606020202030204" pitchFamily="34" charset="0"/>
              </a:rPr>
              <a:t>          </a:t>
            </a:r>
            <a:r>
              <a:rPr lang="es-PE" sz="2000" dirty="0" err="1">
                <a:latin typeface="Arial Narrow" panose="020B0606020202030204" pitchFamily="34" charset="0"/>
              </a:rPr>
              <a:t>3,50Y11+3,90Y12+2,90Y21+3,20Y22</a:t>
            </a:r>
            <a:endParaRPr lang="es-PE" sz="2000" dirty="0">
              <a:latin typeface="Arial Narrow" panose="020B0606020202030204" pitchFamily="34" charset="0"/>
              <a:ea typeface="Times New Roman" panose="02020603050405020304" pitchFamily="18" charset="0"/>
            </a:endParaRPr>
          </a:p>
          <a:p>
            <a:r>
              <a:rPr lang="es-PE" sz="2000" dirty="0" err="1">
                <a:latin typeface="Arial Narrow" panose="020B0606020202030204" pitchFamily="34" charset="0"/>
              </a:rPr>
              <a:t>ST</a:t>
            </a:r>
            <a:endParaRPr lang="es-PE" sz="2000" dirty="0">
              <a:latin typeface="Arial Narrow" panose="020B0606020202030204" pitchFamily="34" charset="0"/>
            </a:endParaRPr>
          </a:p>
          <a:p>
            <a:r>
              <a:rPr lang="es-PE" sz="2000" dirty="0" err="1">
                <a:latin typeface="Arial Narrow" panose="020B0606020202030204" pitchFamily="34" charset="0"/>
              </a:rPr>
              <a:t>X11-Y11</a:t>
            </a:r>
            <a:r>
              <a:rPr lang="es-PE" sz="2000" dirty="0">
                <a:latin typeface="Arial Narrow" panose="020B0606020202030204" pitchFamily="34" charset="0"/>
              </a:rPr>
              <a:t>=40</a:t>
            </a:r>
          </a:p>
          <a:p>
            <a:r>
              <a:rPr lang="es-PE" sz="2000" dirty="0" err="1">
                <a:latin typeface="Arial Narrow" panose="020B0606020202030204" pitchFamily="34" charset="0"/>
              </a:rPr>
              <a:t>X12+Y11-Y12</a:t>
            </a:r>
            <a:r>
              <a:rPr lang="es-PE" sz="2000" dirty="0">
                <a:latin typeface="Arial Narrow" panose="020B0606020202030204" pitchFamily="34" charset="0"/>
              </a:rPr>
              <a:t>=30</a:t>
            </a:r>
          </a:p>
          <a:p>
            <a:r>
              <a:rPr lang="es-PE" sz="2000" dirty="0" err="1">
                <a:latin typeface="Arial Narrow" panose="020B0606020202030204" pitchFamily="34" charset="0"/>
              </a:rPr>
              <a:t>X13+Y12</a:t>
            </a:r>
            <a:r>
              <a:rPr lang="es-PE" sz="2000" dirty="0">
                <a:latin typeface="Arial Narrow" panose="020B0606020202030204" pitchFamily="34" charset="0"/>
              </a:rPr>
              <a:t> =20</a:t>
            </a:r>
          </a:p>
          <a:p>
            <a:r>
              <a:rPr lang="es-PE" sz="2000" dirty="0" err="1">
                <a:latin typeface="Arial Narrow" panose="020B0606020202030204" pitchFamily="34" charset="0"/>
              </a:rPr>
              <a:t>X21-Y21</a:t>
            </a:r>
            <a:r>
              <a:rPr lang="es-PE" sz="2000" dirty="0">
                <a:latin typeface="Arial Narrow" panose="020B0606020202030204" pitchFamily="34" charset="0"/>
              </a:rPr>
              <a:t>=20</a:t>
            </a:r>
          </a:p>
          <a:p>
            <a:r>
              <a:rPr lang="es-PE" sz="2000" dirty="0" err="1">
                <a:latin typeface="Arial Narrow" panose="020B0606020202030204" pitchFamily="34" charset="0"/>
              </a:rPr>
              <a:t>X22+Y21-Y22</a:t>
            </a:r>
            <a:r>
              <a:rPr lang="es-PE" sz="2000" dirty="0">
                <a:latin typeface="Arial Narrow" panose="020B0606020202030204" pitchFamily="34" charset="0"/>
              </a:rPr>
              <a:t>=30</a:t>
            </a:r>
          </a:p>
          <a:p>
            <a:r>
              <a:rPr lang="es-PE" sz="2000" dirty="0" err="1">
                <a:latin typeface="Arial Narrow" panose="020B0606020202030204" pitchFamily="34" charset="0"/>
              </a:rPr>
              <a:t>X23+Y22</a:t>
            </a:r>
            <a:r>
              <a:rPr lang="es-PE" sz="2000" dirty="0">
                <a:latin typeface="Arial Narrow" panose="020B0606020202030204" pitchFamily="34" charset="0"/>
              </a:rPr>
              <a:t>=10</a:t>
            </a:r>
            <a:r>
              <a:rPr lang="es-PE" sz="2000" dirty="0">
                <a:latin typeface="Arial Narrow" panose="020B0606020202030204" pitchFamily="34" charset="0"/>
                <a:ea typeface="Times New Roman" panose="02020603050405020304" pitchFamily="18" charset="0"/>
              </a:rPr>
              <a:t> </a:t>
            </a:r>
          </a:p>
          <a:p>
            <a:r>
              <a:rPr lang="es-ES" sz="2000" dirty="0" err="1"/>
              <a:t>X11+Y11+X21+Y21</a:t>
            </a:r>
            <a:r>
              <a:rPr lang="es-ES" sz="2000" dirty="0"/>
              <a:t>&lt;=65</a:t>
            </a:r>
          </a:p>
          <a:p>
            <a:r>
              <a:rPr lang="es-ES" sz="2000" dirty="0" err="1"/>
              <a:t>X12+Y12+X22+Y22</a:t>
            </a:r>
            <a:r>
              <a:rPr lang="es-ES" sz="2000" dirty="0"/>
              <a:t>&lt;=65</a:t>
            </a:r>
          </a:p>
          <a:p>
            <a:r>
              <a:rPr lang="es-ES" sz="2000" dirty="0" err="1"/>
              <a:t>X13+X23</a:t>
            </a:r>
            <a:r>
              <a:rPr lang="es-ES" sz="2000" dirty="0"/>
              <a:t>&lt;=65</a:t>
            </a:r>
          </a:p>
          <a:p>
            <a:r>
              <a:rPr lang="es-PE" sz="2000" dirty="0" err="1">
                <a:latin typeface="Arial Narrow" panose="020B0606020202030204" pitchFamily="34" charset="0"/>
                <a:ea typeface="Times New Roman" panose="02020603050405020304" pitchFamily="18" charset="0"/>
              </a:rPr>
              <a:t>END</a:t>
            </a:r>
            <a:endParaRPr lang="es-PE" sz="2000" dirty="0">
              <a:latin typeface="Arial Narrow" panose="020B0606020202030204" pitchFamily="34" charset="0"/>
              <a:ea typeface="Times New Roman" panose="02020603050405020304" pitchFamily="18" charset="0"/>
            </a:endParaRPr>
          </a:p>
          <a:p>
            <a:r>
              <a:rPr lang="es-PE" sz="2000" dirty="0">
                <a:latin typeface="Arial Narrow" panose="020B0606020202030204" pitchFamily="34" charset="0"/>
                <a:ea typeface="Times New Roman" panose="02020603050405020304" pitchFamily="18" charset="0"/>
              </a:rPr>
              <a:t>GIN </a:t>
            </a:r>
            <a:r>
              <a:rPr lang="es-PE" sz="2000" dirty="0" err="1">
                <a:latin typeface="Arial Narrow" panose="020B0606020202030204" pitchFamily="34" charset="0"/>
                <a:ea typeface="Times New Roman" panose="02020603050405020304" pitchFamily="18" charset="0"/>
              </a:rPr>
              <a:t>X11</a:t>
            </a:r>
            <a:endParaRPr lang="es-PE" sz="2000" dirty="0">
              <a:latin typeface="Arial Narrow" panose="020B0606020202030204" pitchFamily="34" charset="0"/>
              <a:ea typeface="Times New Roman" panose="02020603050405020304" pitchFamily="18" charset="0"/>
            </a:endParaRPr>
          </a:p>
          <a:p>
            <a:r>
              <a:rPr lang="es-PE" sz="2000" dirty="0">
                <a:latin typeface="Arial Narrow" panose="020B0606020202030204" pitchFamily="34" charset="0"/>
                <a:ea typeface="Times New Roman" panose="02020603050405020304" pitchFamily="18" charset="0"/>
              </a:rPr>
              <a:t>GIN </a:t>
            </a:r>
            <a:r>
              <a:rPr lang="es-PE" sz="2000" dirty="0" err="1">
                <a:latin typeface="Arial Narrow" panose="020B0606020202030204" pitchFamily="34" charset="0"/>
                <a:ea typeface="Times New Roman" panose="02020603050405020304" pitchFamily="18" charset="0"/>
              </a:rPr>
              <a:t>X12</a:t>
            </a:r>
            <a:endParaRPr lang="es-PE" sz="2000" dirty="0">
              <a:latin typeface="Arial Narrow" panose="020B0606020202030204" pitchFamily="34" charset="0"/>
              <a:ea typeface="Times New Roman" panose="02020603050405020304" pitchFamily="18" charset="0"/>
            </a:endParaRPr>
          </a:p>
          <a:p>
            <a:r>
              <a:rPr lang="es-PE" sz="2000" dirty="0">
                <a:latin typeface="Arial Narrow" panose="020B0606020202030204" pitchFamily="34" charset="0"/>
                <a:ea typeface="Times New Roman" panose="02020603050405020304" pitchFamily="18" charset="0"/>
              </a:rPr>
              <a:t>GIN </a:t>
            </a:r>
            <a:r>
              <a:rPr lang="es-PE" sz="2000" dirty="0" err="1">
                <a:latin typeface="Arial Narrow" panose="020B0606020202030204" pitchFamily="34" charset="0"/>
                <a:ea typeface="Times New Roman" panose="02020603050405020304" pitchFamily="18" charset="0"/>
              </a:rPr>
              <a:t>X13</a:t>
            </a:r>
            <a:endParaRPr lang="es-PE" sz="2000" dirty="0">
              <a:latin typeface="Arial Narrow" panose="020B0606020202030204" pitchFamily="34" charset="0"/>
              <a:ea typeface="Times New Roman" panose="02020603050405020304" pitchFamily="18" charset="0"/>
            </a:endParaRPr>
          </a:p>
          <a:p>
            <a:r>
              <a:rPr lang="es-PE" sz="2000" dirty="0">
                <a:latin typeface="Arial Narrow" panose="020B0606020202030204" pitchFamily="34" charset="0"/>
                <a:ea typeface="Times New Roman" panose="02020603050405020304" pitchFamily="18" charset="0"/>
              </a:rPr>
              <a:t> </a:t>
            </a:r>
          </a:p>
        </p:txBody>
      </p:sp>
      <p:sp>
        <p:nvSpPr>
          <p:cNvPr id="4" name="Rectángulo 3">
            <a:extLst>
              <a:ext uri="{FF2B5EF4-FFF2-40B4-BE49-F238E27FC236}">
                <a16:creationId xmlns:a16="http://schemas.microsoft.com/office/drawing/2014/main" id="{CE025BB8-DAE7-4ED5-9428-3EEE139475C1}"/>
              </a:ext>
            </a:extLst>
          </p:cNvPr>
          <p:cNvSpPr/>
          <p:nvPr/>
        </p:nvSpPr>
        <p:spPr>
          <a:xfrm>
            <a:off x="6866626" y="1337832"/>
            <a:ext cx="4727276" cy="5324535"/>
          </a:xfrm>
          <a:prstGeom prst="rect">
            <a:avLst/>
          </a:prstGeom>
          <a:solidFill>
            <a:schemeClr val="accent1">
              <a:lumMod val="20000"/>
              <a:lumOff val="80000"/>
            </a:schemeClr>
          </a:solidFill>
        </p:spPr>
        <p:txBody>
          <a:bodyPr wrap="square">
            <a:spAutoFit/>
          </a:bodyPr>
          <a:lstStyle/>
          <a:p>
            <a:r>
              <a:rPr lang="es-PE" sz="2000" dirty="0"/>
              <a:t> </a:t>
            </a:r>
            <a:r>
              <a:rPr lang="es-PE" sz="2000" dirty="0" err="1"/>
              <a:t>OBJECTIVE</a:t>
            </a:r>
            <a:r>
              <a:rPr lang="es-PE" sz="2000" dirty="0"/>
              <a:t> </a:t>
            </a:r>
            <a:r>
              <a:rPr lang="es-PE" sz="2000" dirty="0" err="1"/>
              <a:t>FUNCTION</a:t>
            </a:r>
            <a:r>
              <a:rPr lang="es-PE" sz="2000" dirty="0"/>
              <a:t> </a:t>
            </a:r>
            <a:r>
              <a:rPr lang="es-PE" sz="2000" dirty="0" err="1"/>
              <a:t>VALUE</a:t>
            </a:r>
            <a:endParaRPr lang="es-PE" sz="2000" dirty="0"/>
          </a:p>
          <a:p>
            <a:endParaRPr lang="es-PE" sz="2000" dirty="0"/>
          </a:p>
          <a:p>
            <a:r>
              <a:rPr lang="es-PE" sz="2000" dirty="0"/>
              <a:t>        1)      466.0000</a:t>
            </a:r>
          </a:p>
          <a:p>
            <a:endParaRPr lang="es-PE" sz="2000" dirty="0"/>
          </a:p>
          <a:p>
            <a:r>
              <a:rPr lang="es-PE" sz="2000" dirty="0"/>
              <a:t>  VARIABLE        </a:t>
            </a:r>
            <a:r>
              <a:rPr lang="es-PE" sz="2000" dirty="0" err="1"/>
              <a:t>VALUE</a:t>
            </a:r>
            <a:r>
              <a:rPr lang="es-PE" sz="2000" dirty="0"/>
              <a:t>          </a:t>
            </a:r>
            <a:r>
              <a:rPr lang="es-PE" sz="2000" dirty="0" err="1"/>
              <a:t>REDUCED</a:t>
            </a:r>
            <a:r>
              <a:rPr lang="es-PE" sz="2000" dirty="0"/>
              <a:t> </a:t>
            </a:r>
            <a:r>
              <a:rPr lang="es-PE" sz="2000" dirty="0" err="1"/>
              <a:t>COST</a:t>
            </a:r>
            <a:endParaRPr lang="es-PE" sz="2000" dirty="0"/>
          </a:p>
          <a:p>
            <a:r>
              <a:rPr lang="es-PE" sz="2000" dirty="0"/>
              <a:t>       </a:t>
            </a:r>
            <a:r>
              <a:rPr lang="es-PE" sz="2000" dirty="0" err="1"/>
              <a:t>X11</a:t>
            </a:r>
            <a:r>
              <a:rPr lang="es-PE" sz="2000" dirty="0"/>
              <a:t>        40.000000          0.000000</a:t>
            </a:r>
          </a:p>
          <a:p>
            <a:r>
              <a:rPr lang="es-PE" sz="2000" dirty="0"/>
              <a:t>       </a:t>
            </a:r>
            <a:r>
              <a:rPr lang="es-PE" sz="2000" dirty="0" err="1"/>
              <a:t>X12</a:t>
            </a:r>
            <a:r>
              <a:rPr lang="es-PE" sz="2000" dirty="0"/>
              <a:t>        30.000000          0.000000</a:t>
            </a:r>
          </a:p>
          <a:p>
            <a:r>
              <a:rPr lang="es-PE" sz="2000" dirty="0"/>
              <a:t>       </a:t>
            </a:r>
            <a:r>
              <a:rPr lang="es-PE" sz="2000" dirty="0" err="1"/>
              <a:t>X13</a:t>
            </a:r>
            <a:r>
              <a:rPr lang="es-PE" sz="2000" dirty="0"/>
              <a:t>        20.000000          0.000000</a:t>
            </a:r>
          </a:p>
          <a:p>
            <a:r>
              <a:rPr lang="es-PE" sz="2000" dirty="0"/>
              <a:t>       </a:t>
            </a:r>
            <a:r>
              <a:rPr lang="es-PE" sz="2000" dirty="0" err="1"/>
              <a:t>X21</a:t>
            </a:r>
            <a:r>
              <a:rPr lang="es-PE" sz="2000" dirty="0"/>
              <a:t>        20.000000          0.000000</a:t>
            </a:r>
          </a:p>
          <a:p>
            <a:r>
              <a:rPr lang="es-PE" sz="2000" dirty="0"/>
              <a:t>       </a:t>
            </a:r>
            <a:r>
              <a:rPr lang="es-PE" sz="2000" dirty="0" err="1"/>
              <a:t>X22</a:t>
            </a:r>
            <a:r>
              <a:rPr lang="es-PE" sz="2000" dirty="0"/>
              <a:t>        30.000000          0.000000</a:t>
            </a:r>
          </a:p>
          <a:p>
            <a:r>
              <a:rPr lang="es-PE" sz="2000" dirty="0"/>
              <a:t>       </a:t>
            </a:r>
            <a:r>
              <a:rPr lang="es-PE" sz="2000" dirty="0" err="1"/>
              <a:t>X23</a:t>
            </a:r>
            <a:r>
              <a:rPr lang="es-PE" sz="2000" dirty="0"/>
              <a:t>        10.000000          0.000000</a:t>
            </a:r>
          </a:p>
          <a:p>
            <a:r>
              <a:rPr lang="es-PE" sz="2000" dirty="0"/>
              <a:t>       </a:t>
            </a:r>
            <a:r>
              <a:rPr lang="es-PE" sz="2000" dirty="0" err="1"/>
              <a:t>Y11</a:t>
            </a:r>
            <a:r>
              <a:rPr lang="es-PE" sz="2000" dirty="0"/>
              <a:t>         0.000000          3.100000</a:t>
            </a:r>
          </a:p>
          <a:p>
            <a:r>
              <a:rPr lang="es-PE" sz="2000" dirty="0"/>
              <a:t>       </a:t>
            </a:r>
            <a:r>
              <a:rPr lang="es-PE" sz="2000" dirty="0" err="1"/>
              <a:t>Y12</a:t>
            </a:r>
            <a:r>
              <a:rPr lang="es-PE" sz="2000" dirty="0"/>
              <a:t>         0.000000          3.500000</a:t>
            </a:r>
          </a:p>
          <a:p>
            <a:r>
              <a:rPr lang="es-PE" sz="2000" dirty="0"/>
              <a:t>       </a:t>
            </a:r>
            <a:r>
              <a:rPr lang="es-PE" sz="2000" dirty="0" err="1"/>
              <a:t>Y13</a:t>
            </a:r>
            <a:r>
              <a:rPr lang="es-PE" sz="2000" dirty="0"/>
              <a:t>         0.000000          8.100000</a:t>
            </a:r>
          </a:p>
          <a:p>
            <a:r>
              <a:rPr lang="es-PE" sz="2000" dirty="0"/>
              <a:t>       </a:t>
            </a:r>
            <a:r>
              <a:rPr lang="es-PE" sz="2000" dirty="0" err="1"/>
              <a:t>Y21</a:t>
            </a:r>
            <a:r>
              <a:rPr lang="es-PE" sz="2000" dirty="0"/>
              <a:t>         0.000000          2.600000</a:t>
            </a:r>
          </a:p>
          <a:p>
            <a:r>
              <a:rPr lang="es-PE" sz="2000" dirty="0"/>
              <a:t>       </a:t>
            </a:r>
            <a:r>
              <a:rPr lang="es-PE" sz="2000" dirty="0" err="1"/>
              <a:t>Y22</a:t>
            </a:r>
            <a:r>
              <a:rPr lang="es-PE" sz="2000" dirty="0"/>
              <a:t>         0.000000          2.600000</a:t>
            </a:r>
          </a:p>
          <a:p>
            <a:r>
              <a:rPr lang="es-PE" sz="2000" dirty="0"/>
              <a:t>       </a:t>
            </a:r>
            <a:r>
              <a:rPr lang="es-PE" sz="2000" dirty="0" err="1"/>
              <a:t>Y23</a:t>
            </a:r>
            <a:r>
              <a:rPr lang="es-PE" sz="2000" dirty="0"/>
              <a:t>         0.000000          7.200000</a:t>
            </a:r>
          </a:p>
        </p:txBody>
      </p:sp>
      <p:sp>
        <p:nvSpPr>
          <p:cNvPr id="5" name="Rectangle 2">
            <a:extLst>
              <a:ext uri="{FF2B5EF4-FFF2-40B4-BE49-F238E27FC236}">
                <a16:creationId xmlns:a16="http://schemas.microsoft.com/office/drawing/2014/main" id="{4FF19212-66EB-4F54-AD68-C110AFDA1660}"/>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14</a:t>
            </a:r>
          </a:p>
        </p:txBody>
      </p:sp>
      <p:sp>
        <p:nvSpPr>
          <p:cNvPr id="6" name="CuadroTexto 5">
            <a:extLst>
              <a:ext uri="{FF2B5EF4-FFF2-40B4-BE49-F238E27FC236}">
                <a16:creationId xmlns:a16="http://schemas.microsoft.com/office/drawing/2014/main" id="{6D26FD28-E629-472C-83FD-22EE73ADD90A}"/>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4194997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B5A37F29-2B81-4622-8E04-394B0BACBE66}"/>
              </a:ext>
            </a:extLst>
          </p:cNvPr>
          <p:cNvSpPr/>
          <p:nvPr/>
        </p:nvSpPr>
        <p:spPr>
          <a:xfrm>
            <a:off x="253042" y="1379598"/>
            <a:ext cx="5828581" cy="1200329"/>
          </a:xfrm>
          <a:prstGeom prst="rect">
            <a:avLst/>
          </a:prstGeom>
        </p:spPr>
        <p:txBody>
          <a:bodyPr wrap="square">
            <a:spAutoFit/>
          </a:bodyPr>
          <a:lstStyle/>
          <a:p>
            <a:pPr marR="154940" algn="just">
              <a:spcAft>
                <a:spcPts val="0"/>
              </a:spcAft>
            </a:pPr>
            <a:r>
              <a:rPr lang="es-ES" dirty="0" err="1">
                <a:latin typeface="Tahoma" panose="020B0604030504040204" pitchFamily="34" charset="0"/>
                <a:ea typeface="Tahoma" panose="020B0604030504040204" pitchFamily="34" charset="0"/>
              </a:rPr>
              <a:t>Priceler</a:t>
            </a:r>
            <a:r>
              <a:rPr lang="es-ES" dirty="0">
                <a:latin typeface="Tahoma" panose="020B0604030504040204" pitchFamily="34" charset="0"/>
                <a:ea typeface="Tahoma" panose="020B0604030504040204" pitchFamily="34" charset="0"/>
              </a:rPr>
              <a:t> fabrica vehículos tipo sedán y camionetas. La cantidad de vehículos que </a:t>
            </a:r>
            <a:r>
              <a:rPr lang="es-ES" dirty="0">
                <a:solidFill>
                  <a:srgbClr val="7030A0"/>
                </a:solidFill>
                <a:latin typeface="Tahoma" panose="020B0604030504040204" pitchFamily="34" charset="0"/>
                <a:ea typeface="Tahoma" panose="020B0604030504040204" pitchFamily="34" charset="0"/>
              </a:rPr>
              <a:t>como máximo </a:t>
            </a:r>
            <a:r>
              <a:rPr lang="es-ES" dirty="0">
                <a:latin typeface="Tahoma" panose="020B0604030504040204" pitchFamily="34" charset="0"/>
                <a:ea typeface="Tahoma" panose="020B0604030504040204" pitchFamily="34" charset="0"/>
              </a:rPr>
              <a:t>se pueden vender en</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cada uno</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de</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los</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próximos</a:t>
            </a:r>
            <a:r>
              <a:rPr lang="es-ES" spc="-10"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tres</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meses</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se</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presenta a</a:t>
            </a:r>
            <a:r>
              <a:rPr lang="es-ES" spc="-5" dirty="0">
                <a:latin typeface="Tahoma" panose="020B0604030504040204" pitchFamily="34" charset="0"/>
                <a:ea typeface="Tahoma" panose="020B0604030504040204" pitchFamily="34" charset="0"/>
              </a:rPr>
              <a:t> </a:t>
            </a:r>
            <a:r>
              <a:rPr lang="es-ES" dirty="0">
                <a:latin typeface="Tahoma" panose="020B0604030504040204" pitchFamily="34" charset="0"/>
                <a:ea typeface="Tahoma" panose="020B0604030504040204" pitchFamily="34" charset="0"/>
              </a:rPr>
              <a:t>continuación:</a:t>
            </a:r>
            <a:endParaRPr lang="es-PE" dirty="0">
              <a:latin typeface="Tahoma" panose="020B0604030504040204" pitchFamily="34" charset="0"/>
              <a:ea typeface="Tahoma" panose="020B0604030504040204" pitchFamily="34" charset="0"/>
            </a:endParaRPr>
          </a:p>
        </p:txBody>
      </p:sp>
      <p:graphicFrame>
        <p:nvGraphicFramePr>
          <p:cNvPr id="4" name="Tabla 3">
            <a:extLst>
              <a:ext uri="{FF2B5EF4-FFF2-40B4-BE49-F238E27FC236}">
                <a16:creationId xmlns:a16="http://schemas.microsoft.com/office/drawing/2014/main" id="{BD402B18-E8CC-4F9B-86F5-4ECADF91CB82}"/>
              </a:ext>
            </a:extLst>
          </p:cNvPr>
          <p:cNvGraphicFramePr>
            <a:graphicFrameLocks noGrp="1"/>
          </p:cNvGraphicFramePr>
          <p:nvPr/>
        </p:nvGraphicFramePr>
        <p:xfrm>
          <a:off x="295214" y="2627407"/>
          <a:ext cx="5495984" cy="1125855"/>
        </p:xfrm>
        <a:graphic>
          <a:graphicData uri="http://schemas.openxmlformats.org/drawingml/2006/table">
            <a:tbl>
              <a:tblPr>
                <a:tableStyleId>{5C22544A-7EE6-4342-B048-85BDC9FD1C3A}</a:tableStyleId>
              </a:tblPr>
              <a:tblGrid>
                <a:gridCol w="1373996">
                  <a:extLst>
                    <a:ext uri="{9D8B030D-6E8A-4147-A177-3AD203B41FA5}">
                      <a16:colId xmlns:a16="http://schemas.microsoft.com/office/drawing/2014/main" val="840191923"/>
                    </a:ext>
                  </a:extLst>
                </a:gridCol>
                <a:gridCol w="1373996">
                  <a:extLst>
                    <a:ext uri="{9D8B030D-6E8A-4147-A177-3AD203B41FA5}">
                      <a16:colId xmlns:a16="http://schemas.microsoft.com/office/drawing/2014/main" val="2526263439"/>
                    </a:ext>
                  </a:extLst>
                </a:gridCol>
                <a:gridCol w="1373996">
                  <a:extLst>
                    <a:ext uri="{9D8B030D-6E8A-4147-A177-3AD203B41FA5}">
                      <a16:colId xmlns:a16="http://schemas.microsoft.com/office/drawing/2014/main" val="2809717140"/>
                    </a:ext>
                  </a:extLst>
                </a:gridCol>
                <a:gridCol w="1373996">
                  <a:extLst>
                    <a:ext uri="{9D8B030D-6E8A-4147-A177-3AD203B41FA5}">
                      <a16:colId xmlns:a16="http://schemas.microsoft.com/office/drawing/2014/main" val="3164904323"/>
                    </a:ext>
                  </a:extLst>
                </a:gridCol>
              </a:tblGrid>
              <a:tr h="364703">
                <a:tc>
                  <a:txBody>
                    <a:bodyPr/>
                    <a:lstStyle/>
                    <a:p>
                      <a:pPr algn="l" fontAlgn="ctr"/>
                      <a:r>
                        <a:rPr lang="es-ES" sz="1800" b="1" u="none" strike="noStrike" dirty="0">
                          <a:effectLst/>
                        </a:rPr>
                        <a:t>Tipo de vehículo</a:t>
                      </a:r>
                      <a:endParaRPr lang="es-PE" sz="1800" b="1"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dirty="0">
                          <a:effectLst/>
                        </a:rPr>
                        <a:t>Mes 1</a:t>
                      </a:r>
                      <a:endParaRPr lang="es-PE" sz="1800" b="1"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dirty="0">
                          <a:effectLst/>
                        </a:rPr>
                        <a:t>Mes 2</a:t>
                      </a:r>
                      <a:endParaRPr lang="es-PE" sz="1800" b="1"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dirty="0">
                          <a:effectLst/>
                        </a:rPr>
                        <a:t>Mes 3</a:t>
                      </a:r>
                      <a:endParaRPr lang="es-PE" sz="1800" b="1" i="0" u="none" strike="noStrike" dirty="0">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776259574"/>
                  </a:ext>
                </a:extLst>
              </a:tr>
              <a:tr h="218822">
                <a:tc>
                  <a:txBody>
                    <a:bodyPr/>
                    <a:lstStyle/>
                    <a:p>
                      <a:pPr algn="l" fontAlgn="ctr"/>
                      <a:r>
                        <a:rPr lang="es-ES" sz="1800" b="1" u="none" strike="noStrike">
                          <a:effectLst/>
                        </a:rPr>
                        <a:t>Sedán</a:t>
                      </a:r>
                      <a:endParaRPr lang="es-PE" sz="18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dirty="0">
                          <a:effectLst/>
                        </a:rPr>
                        <a:t>1100</a:t>
                      </a:r>
                      <a:endParaRPr lang="es-PE" sz="1800" b="1"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a:effectLst/>
                        </a:rPr>
                        <a:t>1500</a:t>
                      </a:r>
                      <a:endParaRPr lang="es-PE" sz="18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dirty="0">
                          <a:effectLst/>
                        </a:rPr>
                        <a:t>1200</a:t>
                      </a:r>
                      <a:endParaRPr lang="es-PE" sz="1800" b="1" i="0" u="none" strike="noStrike" dirty="0">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4010178447"/>
                  </a:ext>
                </a:extLst>
              </a:tr>
              <a:tr h="218822">
                <a:tc>
                  <a:txBody>
                    <a:bodyPr/>
                    <a:lstStyle/>
                    <a:p>
                      <a:pPr algn="l" fontAlgn="ctr"/>
                      <a:r>
                        <a:rPr lang="es-ES" sz="1800" b="1" u="none" strike="noStrike">
                          <a:effectLst/>
                        </a:rPr>
                        <a:t>Camioneta</a:t>
                      </a:r>
                      <a:endParaRPr lang="es-PE" sz="18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a:effectLst/>
                        </a:rPr>
                        <a:t>600</a:t>
                      </a:r>
                      <a:endParaRPr lang="es-PE" sz="18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a:effectLst/>
                        </a:rPr>
                        <a:t>700</a:t>
                      </a:r>
                      <a:endParaRPr lang="es-PE" sz="18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800" b="1" u="none" strike="noStrike" dirty="0">
                          <a:effectLst/>
                        </a:rPr>
                        <a:t>500</a:t>
                      </a:r>
                      <a:endParaRPr lang="es-PE" sz="1800" b="1" i="0" u="none" strike="noStrike" dirty="0">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2184374724"/>
                  </a:ext>
                </a:extLst>
              </a:tr>
            </a:tbl>
          </a:graphicData>
        </a:graphic>
      </p:graphicFrame>
      <p:sp>
        <p:nvSpPr>
          <p:cNvPr id="5" name="Rectángulo 4">
            <a:extLst>
              <a:ext uri="{FF2B5EF4-FFF2-40B4-BE49-F238E27FC236}">
                <a16:creationId xmlns:a16="http://schemas.microsoft.com/office/drawing/2014/main" id="{1E1F5B1C-86A4-4C8A-9BCF-D01959339CDE}"/>
              </a:ext>
            </a:extLst>
          </p:cNvPr>
          <p:cNvSpPr/>
          <p:nvPr/>
        </p:nvSpPr>
        <p:spPr>
          <a:xfrm>
            <a:off x="201283" y="3605120"/>
            <a:ext cx="5923472" cy="3046988"/>
          </a:xfrm>
          <a:prstGeom prst="rect">
            <a:avLst/>
          </a:prstGeom>
        </p:spPr>
        <p:txBody>
          <a:bodyPr wrap="square">
            <a:spAutoFit/>
          </a:bodyPr>
          <a:lstStyle/>
          <a:p>
            <a:pPr marR="154940" algn="just"/>
            <a:r>
              <a:rPr lang="es-ES" sz="1600" dirty="0">
                <a:latin typeface="Tahoma" panose="020B0604030504040204" pitchFamily="34" charset="0"/>
                <a:ea typeface="Tahoma" panose="020B0604030504040204" pitchFamily="34" charset="0"/>
              </a:rPr>
              <a:t> </a:t>
            </a:r>
            <a:endParaRPr lang="es-PE" sz="1600" dirty="0">
              <a:latin typeface="Tahoma" panose="020B0604030504040204" pitchFamily="34" charset="0"/>
              <a:ea typeface="Tahoma" panose="020B0604030504040204" pitchFamily="34" charset="0"/>
            </a:endParaRPr>
          </a:p>
          <a:p>
            <a:pPr marR="154940" algn="just"/>
            <a:r>
              <a:rPr lang="es-ES" sz="1600" dirty="0">
                <a:latin typeface="Tahoma" panose="020B0604030504040204" pitchFamily="34" charset="0"/>
                <a:ea typeface="Tahoma" panose="020B0604030504040204" pitchFamily="34" charset="0"/>
              </a:rPr>
              <a:t>Cada sedán se vende en $8000 y cada camioneta se vende en $9000. Para producir un sedán se requieren $6000 y para producir una camioneta se requiere $7500. Mantener por un mes en inventario un sedán y una camioneta cuesta $150 y $200 respectivamente. se pueden producir durante cada mes a lo más </a:t>
            </a:r>
            <a:r>
              <a:rPr lang="es-ES" sz="1600" dirty="0">
                <a:solidFill>
                  <a:srgbClr val="7030A0"/>
                </a:solidFill>
                <a:latin typeface="Tahoma" panose="020B0604030504040204" pitchFamily="34" charset="0"/>
                <a:ea typeface="Tahoma" panose="020B0604030504040204" pitchFamily="34" charset="0"/>
              </a:rPr>
              <a:t>1500 </a:t>
            </a:r>
            <a:r>
              <a:rPr lang="es-ES" sz="1600" dirty="0">
                <a:latin typeface="Tahoma" panose="020B0604030504040204" pitchFamily="34" charset="0"/>
                <a:ea typeface="Tahoma" panose="020B0604030504040204" pitchFamily="34" charset="0"/>
              </a:rPr>
              <a:t>vehículos en total. </a:t>
            </a:r>
            <a:r>
              <a:rPr lang="es-ES" sz="1600" dirty="0">
                <a:solidFill>
                  <a:srgbClr val="FF0000"/>
                </a:solidFill>
                <a:latin typeface="Tahoma" panose="020B0604030504040204" pitchFamily="34" charset="0"/>
                <a:ea typeface="Tahoma" panose="020B0604030504040204" pitchFamily="34" charset="0"/>
              </a:rPr>
              <a:t>Además, por lo menos dos tercios de la producción en el mes 1 deben ser sedanes</a:t>
            </a:r>
            <a:r>
              <a:rPr lang="es-ES" sz="1600" dirty="0">
                <a:latin typeface="Tahoma" panose="020B0604030504040204" pitchFamily="34" charset="0"/>
                <a:ea typeface="Tahoma" panose="020B0604030504040204" pitchFamily="34" charset="0"/>
              </a:rPr>
              <a:t>. El inventario al inicio del mes 1 es de 200 sedanes y 100 camionetas. Defina las variables de decisión y formule el modelo de programación lineal correspondiente en notación compacta. </a:t>
            </a:r>
            <a:r>
              <a:rPr lang="es-PE" sz="1600" dirty="0">
                <a:latin typeface="Tahoma" panose="020B0604030504040204" pitchFamily="34" charset="0"/>
                <a:ea typeface="Tahoma" panose="020B0604030504040204" pitchFamily="34" charset="0"/>
              </a:rPr>
              <a:t> </a:t>
            </a:r>
          </a:p>
        </p:txBody>
      </p:sp>
      <p:sp>
        <p:nvSpPr>
          <p:cNvPr id="6" name="Rectángulo 5">
            <a:extLst>
              <a:ext uri="{FF2B5EF4-FFF2-40B4-BE49-F238E27FC236}">
                <a16:creationId xmlns:a16="http://schemas.microsoft.com/office/drawing/2014/main" id="{812867BA-1A08-45CD-9D21-4D1518DADEC7}"/>
              </a:ext>
            </a:extLst>
          </p:cNvPr>
          <p:cNvSpPr/>
          <p:nvPr/>
        </p:nvSpPr>
        <p:spPr>
          <a:xfrm>
            <a:off x="6116128" y="2333685"/>
            <a:ext cx="6075872" cy="4524315"/>
          </a:xfrm>
          <a:prstGeom prst="rect">
            <a:avLst/>
          </a:prstGeom>
        </p:spPr>
        <p:txBody>
          <a:bodyPr wrap="square">
            <a:spAutoFit/>
          </a:bodyPr>
          <a:lstStyle/>
          <a:p>
            <a:pPr>
              <a:spcAft>
                <a:spcPts val="0"/>
              </a:spcAft>
            </a:pPr>
            <a:r>
              <a:rPr lang="es-PE" dirty="0">
                <a:solidFill>
                  <a:srgbClr val="FF0000"/>
                </a:solidFill>
                <a:latin typeface="Arial Narrow" panose="020B0606020202030204" pitchFamily="34" charset="0"/>
                <a:ea typeface="Times New Roman" panose="02020603050405020304" pitchFamily="18" charset="0"/>
              </a:rPr>
              <a:t>I   Identificación de las variables</a:t>
            </a:r>
            <a:endParaRPr lang="es-PE" dirty="0">
              <a:latin typeface="Arial Narrow" panose="020B0606020202030204" pitchFamily="34" charset="0"/>
              <a:ea typeface="Times New Roman" panose="02020603050405020304" pitchFamily="18" charset="0"/>
            </a:endParaRPr>
          </a:p>
          <a:p>
            <a:pPr>
              <a:spcAft>
                <a:spcPts val="0"/>
              </a:spcAft>
            </a:pPr>
            <a:r>
              <a:rPr lang="es-PE" dirty="0">
                <a:solidFill>
                  <a:srgbClr val="FF0000"/>
                </a:solidFill>
                <a:latin typeface="Arial Narrow" panose="020B0606020202030204" pitchFamily="34" charset="0"/>
                <a:ea typeface="Times New Roman" panose="02020603050405020304" pitchFamily="18" charset="0"/>
              </a:rPr>
              <a:t>    </a:t>
            </a:r>
            <a:r>
              <a:rPr lang="es-PE" dirty="0" err="1">
                <a:latin typeface="Arial Narrow" panose="020B0606020202030204" pitchFamily="34" charset="0"/>
                <a:ea typeface="Times New Roman" panose="02020603050405020304" pitchFamily="18" charset="0"/>
              </a:rPr>
              <a:t>Xij</a:t>
            </a:r>
            <a:r>
              <a:rPr lang="es-PE" dirty="0">
                <a:latin typeface="Arial Narrow" panose="020B0606020202030204" pitchFamily="34" charset="0"/>
                <a:ea typeface="Times New Roman" panose="02020603050405020304" pitchFamily="18" charset="0"/>
              </a:rPr>
              <a:t>=Número unidades a producir del producto i en el mes j</a:t>
            </a:r>
          </a:p>
          <a:p>
            <a:pPr>
              <a:spcAft>
                <a:spcPts val="0"/>
              </a:spcAft>
            </a:pPr>
            <a:r>
              <a:rPr lang="es-PE" dirty="0">
                <a:solidFill>
                  <a:srgbClr val="FF0000"/>
                </a:solidFill>
                <a:latin typeface="Arial Narrow" panose="020B0606020202030204" pitchFamily="34" charset="0"/>
                <a:ea typeface="Times New Roman" panose="02020603050405020304" pitchFamily="18" charset="0"/>
              </a:rPr>
              <a:t>    </a:t>
            </a:r>
            <a:r>
              <a:rPr lang="es-PE" dirty="0" err="1">
                <a:solidFill>
                  <a:srgbClr val="FF0000"/>
                </a:solidFill>
                <a:latin typeface="Arial Narrow" panose="020B0606020202030204" pitchFamily="34" charset="0"/>
                <a:ea typeface="Times New Roman" panose="02020603050405020304" pitchFamily="18" charset="0"/>
              </a:rPr>
              <a:t>Y</a:t>
            </a:r>
            <a:r>
              <a:rPr lang="es-PE" dirty="0" err="1">
                <a:latin typeface="Arial Narrow" panose="020B0606020202030204" pitchFamily="34" charset="0"/>
                <a:ea typeface="Times New Roman" panose="02020603050405020304" pitchFamily="18" charset="0"/>
              </a:rPr>
              <a:t>ij</a:t>
            </a:r>
            <a:r>
              <a:rPr lang="es-PE" dirty="0">
                <a:latin typeface="Arial Narrow" panose="020B0606020202030204" pitchFamily="34" charset="0"/>
                <a:ea typeface="Times New Roman" panose="02020603050405020304" pitchFamily="18" charset="0"/>
              </a:rPr>
              <a:t>=Número unidades adicionales a producir del producto i en el mes j</a:t>
            </a:r>
          </a:p>
          <a:p>
            <a:pPr>
              <a:spcAft>
                <a:spcPts val="0"/>
              </a:spcAft>
            </a:pPr>
            <a:r>
              <a:rPr lang="es-PE" dirty="0">
                <a:solidFill>
                  <a:srgbClr val="FF0000"/>
                </a:solidFill>
                <a:latin typeface="Arial Narrow" panose="020B0606020202030204" pitchFamily="34" charset="0"/>
                <a:ea typeface="Times New Roman" panose="02020603050405020304" pitchFamily="18" charset="0"/>
              </a:rPr>
              <a:t>II  Identificación de la </a:t>
            </a:r>
            <a:r>
              <a:rPr lang="es-PE" dirty="0" err="1">
                <a:solidFill>
                  <a:srgbClr val="FF0000"/>
                </a:solidFill>
                <a:latin typeface="Arial Narrow" panose="020B0606020202030204" pitchFamily="34" charset="0"/>
                <a:ea typeface="Times New Roman" panose="02020603050405020304" pitchFamily="18" charset="0"/>
              </a:rPr>
              <a:t>F.O</a:t>
            </a:r>
            <a:r>
              <a:rPr lang="es-PE" dirty="0">
                <a:solidFill>
                  <a:srgbClr val="FF0000"/>
                </a:solidFill>
                <a:latin typeface="Arial Narrow" panose="020B0606020202030204" pitchFamily="34" charset="0"/>
                <a:ea typeface="Times New Roman" panose="02020603050405020304" pitchFamily="18" charset="0"/>
              </a:rPr>
              <a:t>.</a:t>
            </a:r>
          </a:p>
          <a:p>
            <a:pPr>
              <a:spcAft>
                <a:spcPts val="0"/>
              </a:spcAft>
            </a:pPr>
            <a:r>
              <a:rPr lang="es-PE" dirty="0">
                <a:latin typeface="Arial Narrow" panose="020B0606020202030204" pitchFamily="34" charset="0"/>
                <a:ea typeface="Times New Roman" panose="02020603050405020304" pitchFamily="18" charset="0"/>
              </a:rPr>
              <a:t>     MAX </a:t>
            </a:r>
            <a:r>
              <a:rPr lang="es-PE" dirty="0" err="1">
                <a:latin typeface="Arial Narrow" panose="020B0606020202030204" pitchFamily="34" charset="0"/>
                <a:ea typeface="Times New Roman" panose="02020603050405020304" pitchFamily="18" charset="0"/>
              </a:rPr>
              <a:t>2000</a:t>
            </a:r>
            <a:r>
              <a:rPr lang="es-PE" dirty="0" err="1">
                <a:latin typeface="Arial Narrow" panose="020B0606020202030204" pitchFamily="34" charset="0"/>
              </a:rPr>
              <a:t>X11+2000X12+2000X13+1500X21+1500X22+1500X23</a:t>
            </a:r>
            <a:r>
              <a:rPr lang="es-PE" dirty="0">
                <a:latin typeface="Arial Narrow" panose="020B0606020202030204" pitchFamily="34" charset="0"/>
              </a:rPr>
              <a:t>+</a:t>
            </a:r>
          </a:p>
          <a:p>
            <a:pPr>
              <a:spcAft>
                <a:spcPts val="0"/>
              </a:spcAft>
            </a:pPr>
            <a:r>
              <a:rPr lang="es-PE" dirty="0">
                <a:latin typeface="Arial Narrow" panose="020B0606020202030204" pitchFamily="34" charset="0"/>
              </a:rPr>
              <a:t>          </a:t>
            </a:r>
            <a:r>
              <a:rPr lang="es-PE" dirty="0" err="1">
                <a:latin typeface="Arial Narrow" panose="020B0606020202030204" pitchFamily="34" charset="0"/>
              </a:rPr>
              <a:t>1850Y11+1850Y12+1300Y21+1300Y22</a:t>
            </a:r>
            <a:endParaRPr lang="es-PE" dirty="0">
              <a:latin typeface="Arial Narrow" panose="020B0606020202030204" pitchFamily="34" charset="0"/>
              <a:ea typeface="Times New Roman" panose="02020603050405020304" pitchFamily="18" charset="0"/>
            </a:endParaRPr>
          </a:p>
          <a:p>
            <a:pPr>
              <a:spcAft>
                <a:spcPts val="0"/>
              </a:spcAft>
            </a:pPr>
            <a:r>
              <a:rPr lang="es-PE" dirty="0">
                <a:solidFill>
                  <a:srgbClr val="FF0000"/>
                </a:solidFill>
                <a:latin typeface="Arial Narrow" panose="020B0606020202030204" pitchFamily="34" charset="0"/>
                <a:ea typeface="Times New Roman" panose="02020603050405020304" pitchFamily="18" charset="0"/>
              </a:rPr>
              <a:t>III  Identificación de las restricciones</a:t>
            </a:r>
            <a:endParaRPr lang="es-PE" dirty="0">
              <a:latin typeface="Arial Narrow" panose="020B0606020202030204" pitchFamily="34" charset="0"/>
              <a:ea typeface="Times New Roman" panose="02020603050405020304" pitchFamily="18" charset="0"/>
            </a:endParaRPr>
          </a:p>
          <a:p>
            <a:r>
              <a:rPr lang="es-PE" dirty="0" err="1">
                <a:latin typeface="Arial Narrow" panose="020B0606020202030204" pitchFamily="34" charset="0"/>
              </a:rPr>
              <a:t>X11+200-Y11</a:t>
            </a:r>
            <a:r>
              <a:rPr lang="es-PE" dirty="0">
                <a:latin typeface="Arial Narrow" panose="020B0606020202030204" pitchFamily="34" charset="0"/>
              </a:rPr>
              <a:t>&lt;=1100</a:t>
            </a:r>
          </a:p>
          <a:p>
            <a:r>
              <a:rPr lang="es-PE" dirty="0" err="1">
                <a:latin typeface="Arial Narrow" panose="020B0606020202030204" pitchFamily="34" charset="0"/>
              </a:rPr>
              <a:t>X12+Y11-Y12</a:t>
            </a:r>
            <a:r>
              <a:rPr lang="es-PE" dirty="0">
                <a:latin typeface="Arial Narrow" panose="020B0606020202030204" pitchFamily="34" charset="0"/>
              </a:rPr>
              <a:t>&lt;=1500</a:t>
            </a:r>
          </a:p>
          <a:p>
            <a:r>
              <a:rPr lang="es-PE" dirty="0" err="1">
                <a:latin typeface="Arial Narrow" panose="020B0606020202030204" pitchFamily="34" charset="0"/>
              </a:rPr>
              <a:t>X13+Y12</a:t>
            </a:r>
            <a:r>
              <a:rPr lang="es-PE" dirty="0">
                <a:latin typeface="Arial Narrow" panose="020B0606020202030204" pitchFamily="34" charset="0"/>
              </a:rPr>
              <a:t>&lt;=1200</a:t>
            </a:r>
          </a:p>
          <a:p>
            <a:r>
              <a:rPr lang="es-PE" dirty="0" err="1">
                <a:latin typeface="Arial Narrow" panose="020B0606020202030204" pitchFamily="34" charset="0"/>
              </a:rPr>
              <a:t>X21+100-Y21</a:t>
            </a:r>
            <a:r>
              <a:rPr lang="es-PE" dirty="0">
                <a:latin typeface="Arial Narrow" panose="020B0606020202030204" pitchFamily="34" charset="0"/>
              </a:rPr>
              <a:t>&lt;=600</a:t>
            </a:r>
          </a:p>
          <a:p>
            <a:r>
              <a:rPr lang="es-PE" dirty="0" err="1">
                <a:latin typeface="Arial Narrow" panose="020B0606020202030204" pitchFamily="34" charset="0"/>
              </a:rPr>
              <a:t>X22+Y21-Y22</a:t>
            </a:r>
            <a:r>
              <a:rPr lang="es-PE" dirty="0">
                <a:latin typeface="Arial Narrow" panose="020B0606020202030204" pitchFamily="34" charset="0"/>
              </a:rPr>
              <a:t>&lt;=700</a:t>
            </a:r>
          </a:p>
          <a:p>
            <a:r>
              <a:rPr lang="es-PE" dirty="0" err="1">
                <a:latin typeface="Arial Narrow" panose="020B0606020202030204" pitchFamily="34" charset="0"/>
              </a:rPr>
              <a:t>X23+Y22</a:t>
            </a:r>
            <a:r>
              <a:rPr lang="es-PE" dirty="0">
                <a:latin typeface="Arial Narrow" panose="020B0606020202030204" pitchFamily="34" charset="0"/>
              </a:rPr>
              <a:t>&lt;=500</a:t>
            </a:r>
          </a:p>
          <a:p>
            <a:r>
              <a:rPr lang="es-PE" dirty="0" err="1">
                <a:latin typeface="Arial Narrow" panose="020B0606020202030204" pitchFamily="34" charset="0"/>
              </a:rPr>
              <a:t>X11+Y11-2X21-2Y21</a:t>
            </a:r>
            <a:r>
              <a:rPr lang="es-PE" dirty="0">
                <a:latin typeface="Arial Narrow" panose="020B0606020202030204" pitchFamily="34" charset="0"/>
              </a:rPr>
              <a:t>&gt;=0</a:t>
            </a:r>
          </a:p>
          <a:p>
            <a:r>
              <a:rPr lang="es-PE" dirty="0">
                <a:latin typeface="Arial Narrow" panose="020B0606020202030204" pitchFamily="34" charset="0"/>
                <a:ea typeface="Times New Roman" panose="02020603050405020304" pitchFamily="18" charset="0"/>
              </a:rPr>
              <a:t>Xi &gt;=0, entero</a:t>
            </a:r>
            <a:endParaRPr lang="es-PE" dirty="0">
              <a:effectLst/>
              <a:latin typeface="Arial Narrow" panose="020B0606020202030204" pitchFamily="34" charset="0"/>
              <a:ea typeface="Times New Roman" panose="02020603050405020304" pitchFamily="18" charset="0"/>
            </a:endParaRPr>
          </a:p>
        </p:txBody>
      </p:sp>
      <p:sp>
        <p:nvSpPr>
          <p:cNvPr id="3" name="CuadroTexto 2">
            <a:extLst>
              <a:ext uri="{FF2B5EF4-FFF2-40B4-BE49-F238E27FC236}">
                <a16:creationId xmlns:a16="http://schemas.microsoft.com/office/drawing/2014/main" id="{867F6EF8-A145-4692-8981-7AF3B4F7615E}"/>
              </a:ext>
            </a:extLst>
          </p:cNvPr>
          <p:cNvSpPr txBox="1"/>
          <p:nvPr/>
        </p:nvSpPr>
        <p:spPr>
          <a:xfrm>
            <a:off x="8305038" y="4588949"/>
            <a:ext cx="3886962" cy="1015663"/>
          </a:xfrm>
          <a:prstGeom prst="rect">
            <a:avLst/>
          </a:prstGeom>
          <a:noFill/>
        </p:spPr>
        <p:txBody>
          <a:bodyPr wrap="none" rtlCol="0">
            <a:spAutoFit/>
          </a:bodyPr>
          <a:lstStyle/>
          <a:p>
            <a:r>
              <a:rPr lang="es-ES" sz="2000" b="1" dirty="0" err="1">
                <a:solidFill>
                  <a:srgbClr val="7030A0"/>
                </a:solidFill>
                <a:latin typeface="Arial Narrow" panose="020B0606020202030204" pitchFamily="34" charset="0"/>
              </a:rPr>
              <a:t>X11+Y11</a:t>
            </a:r>
            <a:r>
              <a:rPr lang="es-ES" sz="2000" b="1" dirty="0">
                <a:solidFill>
                  <a:srgbClr val="7030A0"/>
                </a:solidFill>
                <a:latin typeface="Arial Narrow" panose="020B0606020202030204" pitchFamily="34" charset="0"/>
              </a:rPr>
              <a:t>&gt;=(2/3)(</a:t>
            </a:r>
            <a:r>
              <a:rPr lang="es-ES" sz="2000" b="1" dirty="0" err="1">
                <a:solidFill>
                  <a:srgbClr val="7030A0"/>
                </a:solidFill>
                <a:latin typeface="Arial Narrow" panose="020B0606020202030204" pitchFamily="34" charset="0"/>
              </a:rPr>
              <a:t>X11+X21+Y11+Y21</a:t>
            </a:r>
            <a:r>
              <a:rPr lang="es-ES" sz="2000" b="1" dirty="0">
                <a:solidFill>
                  <a:srgbClr val="7030A0"/>
                </a:solidFill>
                <a:latin typeface="Arial Narrow" panose="020B0606020202030204" pitchFamily="34" charset="0"/>
              </a:rPr>
              <a:t>)</a:t>
            </a:r>
          </a:p>
          <a:p>
            <a:r>
              <a:rPr lang="es-ES" sz="2000" b="1" dirty="0" err="1">
                <a:solidFill>
                  <a:srgbClr val="7030A0"/>
                </a:solidFill>
                <a:latin typeface="Arial Narrow" panose="020B0606020202030204" pitchFamily="34" charset="0"/>
              </a:rPr>
              <a:t>3X11+3Y11</a:t>
            </a:r>
            <a:r>
              <a:rPr lang="es-ES" sz="2000" b="1" dirty="0">
                <a:solidFill>
                  <a:srgbClr val="7030A0"/>
                </a:solidFill>
                <a:latin typeface="Arial Narrow" panose="020B0606020202030204" pitchFamily="34" charset="0"/>
              </a:rPr>
              <a:t>&gt;=</a:t>
            </a:r>
            <a:r>
              <a:rPr lang="es-ES" sz="2000" b="1" dirty="0" err="1">
                <a:solidFill>
                  <a:srgbClr val="7030A0"/>
                </a:solidFill>
                <a:latin typeface="Arial Narrow" panose="020B0606020202030204" pitchFamily="34" charset="0"/>
              </a:rPr>
              <a:t>2X11+2X21+2Y11+2Y21</a:t>
            </a:r>
            <a:endParaRPr lang="es-ES" sz="2000" b="1" dirty="0">
              <a:solidFill>
                <a:srgbClr val="7030A0"/>
              </a:solidFill>
              <a:latin typeface="Arial Narrow" panose="020B0606020202030204" pitchFamily="34" charset="0"/>
            </a:endParaRPr>
          </a:p>
          <a:p>
            <a:r>
              <a:rPr lang="es-PE" sz="2000" b="1" dirty="0" err="1">
                <a:solidFill>
                  <a:srgbClr val="7030A0"/>
                </a:solidFill>
                <a:latin typeface="Arial Narrow" panose="020B0606020202030204" pitchFamily="34" charset="0"/>
              </a:rPr>
              <a:t>X11+Y11-2X21-2Y21</a:t>
            </a:r>
            <a:r>
              <a:rPr lang="es-PE" sz="2000" b="1" dirty="0">
                <a:solidFill>
                  <a:srgbClr val="7030A0"/>
                </a:solidFill>
                <a:latin typeface="Arial Narrow" panose="020B0606020202030204" pitchFamily="34" charset="0"/>
              </a:rPr>
              <a:t>&gt;=0</a:t>
            </a:r>
          </a:p>
        </p:txBody>
      </p:sp>
      <p:sp>
        <p:nvSpPr>
          <p:cNvPr id="7" name="Rectangle 2">
            <a:extLst>
              <a:ext uri="{FF2B5EF4-FFF2-40B4-BE49-F238E27FC236}">
                <a16:creationId xmlns:a16="http://schemas.microsoft.com/office/drawing/2014/main" id="{FB016039-B1B0-41BE-BDA8-FABBE243C4B1}"/>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15</a:t>
            </a:r>
          </a:p>
        </p:txBody>
      </p:sp>
      <p:graphicFrame>
        <p:nvGraphicFramePr>
          <p:cNvPr id="8" name="Tabla 8">
            <a:extLst>
              <a:ext uri="{FF2B5EF4-FFF2-40B4-BE49-F238E27FC236}">
                <a16:creationId xmlns:a16="http://schemas.microsoft.com/office/drawing/2014/main" id="{827ABD17-D0CC-415C-BF74-751C3606F98E}"/>
              </a:ext>
            </a:extLst>
          </p:cNvPr>
          <p:cNvGraphicFramePr>
            <a:graphicFrameLocks noGrp="1"/>
          </p:cNvGraphicFramePr>
          <p:nvPr>
            <p:extLst>
              <p:ext uri="{D42A27DB-BD31-4B8C-83A1-F6EECF244321}">
                <p14:modId xmlns:p14="http://schemas.microsoft.com/office/powerpoint/2010/main" val="3016278103"/>
              </p:ext>
            </p:extLst>
          </p:nvPr>
        </p:nvGraphicFramePr>
        <p:xfrm>
          <a:off x="6096000" y="1245877"/>
          <a:ext cx="6024112" cy="1371600"/>
        </p:xfrm>
        <a:graphic>
          <a:graphicData uri="http://schemas.openxmlformats.org/drawingml/2006/table">
            <a:tbl>
              <a:tblPr firstRow="1" bandRow="1">
                <a:tableStyleId>{5C22544A-7EE6-4342-B048-85BDC9FD1C3A}</a:tableStyleId>
              </a:tblPr>
              <a:tblGrid>
                <a:gridCol w="1506028">
                  <a:extLst>
                    <a:ext uri="{9D8B030D-6E8A-4147-A177-3AD203B41FA5}">
                      <a16:colId xmlns:a16="http://schemas.microsoft.com/office/drawing/2014/main" val="1250556931"/>
                    </a:ext>
                  </a:extLst>
                </a:gridCol>
                <a:gridCol w="1506028">
                  <a:extLst>
                    <a:ext uri="{9D8B030D-6E8A-4147-A177-3AD203B41FA5}">
                      <a16:colId xmlns:a16="http://schemas.microsoft.com/office/drawing/2014/main" val="1596530091"/>
                    </a:ext>
                  </a:extLst>
                </a:gridCol>
                <a:gridCol w="1506028">
                  <a:extLst>
                    <a:ext uri="{9D8B030D-6E8A-4147-A177-3AD203B41FA5}">
                      <a16:colId xmlns:a16="http://schemas.microsoft.com/office/drawing/2014/main" val="984490243"/>
                    </a:ext>
                  </a:extLst>
                </a:gridCol>
                <a:gridCol w="1506028">
                  <a:extLst>
                    <a:ext uri="{9D8B030D-6E8A-4147-A177-3AD203B41FA5}">
                      <a16:colId xmlns:a16="http://schemas.microsoft.com/office/drawing/2014/main" val="257366872"/>
                    </a:ext>
                  </a:extLst>
                </a:gridCol>
              </a:tblGrid>
              <a:tr h="316623">
                <a:tc>
                  <a:txBody>
                    <a:bodyPr/>
                    <a:lstStyle/>
                    <a:p>
                      <a:r>
                        <a:rPr lang="es-ES" dirty="0"/>
                        <a:t>Mes</a:t>
                      </a:r>
                      <a:endParaRPr lang="es-PE" dirty="0"/>
                    </a:p>
                  </a:txBody>
                  <a:tcPr/>
                </a:tc>
                <a:tc>
                  <a:txBody>
                    <a:bodyPr/>
                    <a:lstStyle/>
                    <a:p>
                      <a:r>
                        <a:rPr lang="es-ES" dirty="0"/>
                        <a:t>1</a:t>
                      </a:r>
                      <a:endParaRPr lang="es-PE" dirty="0"/>
                    </a:p>
                  </a:txBody>
                  <a:tcPr/>
                </a:tc>
                <a:tc>
                  <a:txBody>
                    <a:bodyPr/>
                    <a:lstStyle/>
                    <a:p>
                      <a:r>
                        <a:rPr lang="es-ES" dirty="0"/>
                        <a:t>2</a:t>
                      </a:r>
                      <a:endParaRPr lang="es-PE" dirty="0"/>
                    </a:p>
                  </a:txBody>
                  <a:tcPr/>
                </a:tc>
                <a:tc>
                  <a:txBody>
                    <a:bodyPr/>
                    <a:lstStyle/>
                    <a:p>
                      <a:r>
                        <a:rPr lang="es-ES" dirty="0"/>
                        <a:t>3</a:t>
                      </a:r>
                      <a:endParaRPr lang="es-PE" dirty="0"/>
                    </a:p>
                  </a:txBody>
                  <a:tcPr/>
                </a:tc>
                <a:extLst>
                  <a:ext uri="{0D108BD9-81ED-4DB2-BD59-A6C34878D82A}">
                    <a16:rowId xmlns:a16="http://schemas.microsoft.com/office/drawing/2014/main" val="852079200"/>
                  </a:ext>
                </a:extLst>
              </a:tr>
              <a:tr h="316623">
                <a:tc>
                  <a:txBody>
                    <a:bodyPr/>
                    <a:lstStyle/>
                    <a:p>
                      <a:r>
                        <a:rPr lang="es-ES" dirty="0"/>
                        <a:t>U. Sedan</a:t>
                      </a:r>
                      <a:endParaRPr lang="es-PE" dirty="0"/>
                    </a:p>
                  </a:txBody>
                  <a:tcPr/>
                </a:tc>
                <a:tc>
                  <a:txBody>
                    <a:bodyPr/>
                    <a:lstStyle/>
                    <a:p>
                      <a:r>
                        <a:rPr lang="es-ES" dirty="0"/>
                        <a:t>8000-6000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8000-6000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8000-6000</a:t>
                      </a:r>
                    </a:p>
                  </a:txBody>
                  <a:tcPr/>
                </a:tc>
                <a:extLst>
                  <a:ext uri="{0D108BD9-81ED-4DB2-BD59-A6C34878D82A}">
                    <a16:rowId xmlns:a16="http://schemas.microsoft.com/office/drawing/2014/main" val="635698512"/>
                  </a:ext>
                </a:extLst>
              </a:tr>
              <a:tr h="527648">
                <a:tc>
                  <a:txBody>
                    <a:bodyPr/>
                    <a:lstStyle/>
                    <a:p>
                      <a:r>
                        <a:rPr lang="es-ES" dirty="0"/>
                        <a:t>U. Camioneta</a:t>
                      </a:r>
                      <a:endParaRPr lang="es-PE" dirty="0"/>
                    </a:p>
                  </a:txBody>
                  <a:tcPr/>
                </a:tc>
                <a:tc>
                  <a:txBody>
                    <a:bodyPr/>
                    <a:lstStyle/>
                    <a:p>
                      <a:r>
                        <a:rPr lang="es-ES" dirty="0"/>
                        <a:t>9000-7500</a:t>
                      </a:r>
                      <a:endParaRPr lang="es-P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9000-7500</a:t>
                      </a:r>
                      <a:endParaRPr lang="es-PE" dirty="0"/>
                    </a:p>
                    <a:p>
                      <a:endParaRPr lang="es-P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9000-7500</a:t>
                      </a:r>
                      <a:endParaRPr lang="es-PE" dirty="0"/>
                    </a:p>
                  </a:txBody>
                  <a:tcPr/>
                </a:tc>
                <a:extLst>
                  <a:ext uri="{0D108BD9-81ED-4DB2-BD59-A6C34878D82A}">
                    <a16:rowId xmlns:a16="http://schemas.microsoft.com/office/drawing/2014/main" val="1868258582"/>
                  </a:ext>
                </a:extLst>
              </a:tr>
            </a:tbl>
          </a:graphicData>
        </a:graphic>
      </p:graphicFrame>
      <p:sp>
        <p:nvSpPr>
          <p:cNvPr id="11" name="CuadroTexto 10">
            <a:extLst>
              <a:ext uri="{FF2B5EF4-FFF2-40B4-BE49-F238E27FC236}">
                <a16:creationId xmlns:a16="http://schemas.microsoft.com/office/drawing/2014/main" id="{68FB27D6-38BF-40AD-BC03-678843090BA3}"/>
              </a:ext>
            </a:extLst>
          </p:cNvPr>
          <p:cNvSpPr txBox="1"/>
          <p:nvPr/>
        </p:nvSpPr>
        <p:spPr>
          <a:xfrm>
            <a:off x="3036499" y="6307729"/>
            <a:ext cx="2147977" cy="553998"/>
          </a:xfrm>
          <a:prstGeom prst="rect">
            <a:avLst/>
          </a:prstGeom>
          <a:solidFill>
            <a:schemeClr val="accent1">
              <a:lumMod val="60000"/>
              <a:lumOff val="40000"/>
            </a:schemeClr>
          </a:solidFill>
        </p:spPr>
        <p:txBody>
          <a:bodyPr wrap="square" rtlCol="0">
            <a:spAutoFit/>
          </a:bodyPr>
          <a:lstStyle/>
          <a:p>
            <a:r>
              <a:rPr lang="es-ES" sz="1500" dirty="0" err="1"/>
              <a:t>I.F</a:t>
            </a:r>
            <a:r>
              <a:rPr lang="es-ES" sz="1500" dirty="0"/>
              <a:t>.=I.I.+</a:t>
            </a:r>
            <a:r>
              <a:rPr lang="es-ES" sz="1500" dirty="0" err="1"/>
              <a:t>Prod</a:t>
            </a:r>
            <a:r>
              <a:rPr lang="es-ES" sz="1500" dirty="0"/>
              <a:t>-D</a:t>
            </a:r>
          </a:p>
          <a:p>
            <a:r>
              <a:rPr lang="es-ES" sz="1500" dirty="0"/>
              <a:t>D=</a:t>
            </a:r>
            <a:r>
              <a:rPr lang="es-ES" sz="1500" dirty="0" err="1"/>
              <a:t>I.I-I.F+Prod</a:t>
            </a:r>
            <a:endParaRPr lang="es-ES" sz="1500" dirty="0"/>
          </a:p>
        </p:txBody>
      </p:sp>
      <p:sp>
        <p:nvSpPr>
          <p:cNvPr id="12" name="CuadroTexto 11">
            <a:extLst>
              <a:ext uri="{FF2B5EF4-FFF2-40B4-BE49-F238E27FC236}">
                <a16:creationId xmlns:a16="http://schemas.microsoft.com/office/drawing/2014/main" id="{57EB3756-ECC0-4C71-A9AB-E5193EB4FBC1}"/>
              </a:ext>
            </a:extLst>
          </p:cNvPr>
          <p:cNvSpPr txBox="1"/>
          <p:nvPr/>
        </p:nvSpPr>
        <p:spPr>
          <a:xfrm>
            <a:off x="9083616" y="6027003"/>
            <a:ext cx="3108384" cy="830997"/>
          </a:xfrm>
          <a:prstGeom prst="rect">
            <a:avLst/>
          </a:prstGeom>
          <a:noFill/>
        </p:spPr>
        <p:txBody>
          <a:bodyPr wrap="square" rtlCol="0">
            <a:spAutoFit/>
          </a:bodyPr>
          <a:lstStyle/>
          <a:p>
            <a:r>
              <a:rPr lang="es-ES" sz="1600" dirty="0" err="1">
                <a:latin typeface="Arial Narrow" panose="020B0606020202030204" pitchFamily="34" charset="0"/>
              </a:rPr>
              <a:t>X11+Y11</a:t>
            </a:r>
            <a:r>
              <a:rPr lang="es-ES" sz="1600" dirty="0">
                <a:latin typeface="Arial Narrow" panose="020B0606020202030204" pitchFamily="34" charset="0"/>
              </a:rPr>
              <a:t>&gt;=2/3(</a:t>
            </a:r>
            <a:r>
              <a:rPr lang="es-ES" sz="1600" dirty="0" err="1">
                <a:latin typeface="Arial Narrow" panose="020B0606020202030204" pitchFamily="34" charset="0"/>
              </a:rPr>
              <a:t>X11+Y11+X21+Y21</a:t>
            </a:r>
            <a:r>
              <a:rPr lang="es-ES" sz="1600" dirty="0">
                <a:latin typeface="Arial Narrow" panose="020B0606020202030204" pitchFamily="34" charset="0"/>
              </a:rPr>
              <a:t>)</a:t>
            </a:r>
          </a:p>
          <a:p>
            <a:r>
              <a:rPr lang="es-ES" sz="1600" dirty="0" err="1">
                <a:latin typeface="Arial Narrow" panose="020B0606020202030204" pitchFamily="34" charset="0"/>
              </a:rPr>
              <a:t>3X11+3Y11</a:t>
            </a:r>
            <a:r>
              <a:rPr lang="es-ES" sz="1600" dirty="0">
                <a:latin typeface="Arial Narrow" panose="020B0606020202030204" pitchFamily="34" charset="0"/>
              </a:rPr>
              <a:t>&gt;=</a:t>
            </a:r>
            <a:r>
              <a:rPr lang="es-ES" sz="1600" dirty="0" err="1">
                <a:latin typeface="Arial Narrow" panose="020B0606020202030204" pitchFamily="34" charset="0"/>
              </a:rPr>
              <a:t>2X11+2Y11+2X21+2Y21</a:t>
            </a:r>
            <a:endParaRPr lang="es-ES" sz="1600" dirty="0">
              <a:latin typeface="Arial Narrow" panose="020B0606020202030204" pitchFamily="34" charset="0"/>
            </a:endParaRPr>
          </a:p>
          <a:p>
            <a:r>
              <a:rPr lang="es-ES" sz="1600" dirty="0" err="1">
                <a:latin typeface="Arial Narrow" panose="020B0606020202030204" pitchFamily="34" charset="0"/>
              </a:rPr>
              <a:t>X11+Y11-2X21-2Y21</a:t>
            </a:r>
            <a:r>
              <a:rPr lang="es-ES" sz="1600" dirty="0">
                <a:latin typeface="Arial Narrow" panose="020B0606020202030204" pitchFamily="34" charset="0"/>
              </a:rPr>
              <a:t>&gt;=0</a:t>
            </a:r>
            <a:endParaRPr lang="es-PE" sz="1600" dirty="0">
              <a:latin typeface="Arial Narrow" panose="020B0606020202030204" pitchFamily="34" charset="0"/>
            </a:endParaRPr>
          </a:p>
        </p:txBody>
      </p:sp>
      <p:sp>
        <p:nvSpPr>
          <p:cNvPr id="13" name="CuadroTexto 12">
            <a:extLst>
              <a:ext uri="{FF2B5EF4-FFF2-40B4-BE49-F238E27FC236}">
                <a16:creationId xmlns:a16="http://schemas.microsoft.com/office/drawing/2014/main" id="{DFA85A7B-4CFA-4AA9-B7AF-EA5668945AD7}"/>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7590273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5D2F985-2965-48C0-A36B-720EF7A54ED3}"/>
              </a:ext>
            </a:extLst>
          </p:cNvPr>
          <p:cNvSpPr/>
          <p:nvPr/>
        </p:nvSpPr>
        <p:spPr>
          <a:xfrm>
            <a:off x="217714" y="1895852"/>
            <a:ext cx="5536105" cy="3477875"/>
          </a:xfrm>
          <a:prstGeom prst="rect">
            <a:avLst/>
          </a:prstGeom>
        </p:spPr>
        <p:txBody>
          <a:bodyPr wrap="square">
            <a:spAutoFit/>
          </a:bodyPr>
          <a:lstStyle/>
          <a:p>
            <a:r>
              <a:rPr lang="es-PE" sz="2000" dirty="0"/>
              <a:t> MAX </a:t>
            </a:r>
            <a:r>
              <a:rPr lang="es-PE" sz="2000" dirty="0" err="1"/>
              <a:t>2000X11+2000X12+2000X13+1500X21</a:t>
            </a:r>
            <a:r>
              <a:rPr lang="es-PE" sz="2000" dirty="0"/>
              <a:t>+</a:t>
            </a:r>
          </a:p>
          <a:p>
            <a:r>
              <a:rPr lang="es-PE" sz="2000" dirty="0" err="1"/>
              <a:t>1500X22+1500X23+1850Y11+1850Y12+1300Y21+1300Y22</a:t>
            </a:r>
            <a:endParaRPr lang="es-PE" sz="2000" dirty="0"/>
          </a:p>
          <a:p>
            <a:r>
              <a:rPr lang="es-PE" sz="2000" dirty="0" err="1"/>
              <a:t>ST</a:t>
            </a:r>
            <a:endParaRPr lang="es-PE" sz="2000" dirty="0"/>
          </a:p>
          <a:p>
            <a:r>
              <a:rPr lang="es-PE" sz="2000" dirty="0" err="1"/>
              <a:t>X11-Y11</a:t>
            </a:r>
            <a:r>
              <a:rPr lang="es-PE" sz="2000" dirty="0"/>
              <a:t>=900</a:t>
            </a:r>
          </a:p>
          <a:p>
            <a:r>
              <a:rPr lang="es-PE" sz="2000" dirty="0" err="1"/>
              <a:t>X12+Y11-Y12</a:t>
            </a:r>
            <a:r>
              <a:rPr lang="es-PE" sz="2000" dirty="0"/>
              <a:t>=1500</a:t>
            </a:r>
          </a:p>
          <a:p>
            <a:r>
              <a:rPr lang="es-PE" sz="2000" dirty="0" err="1"/>
              <a:t>X13+Y12</a:t>
            </a:r>
            <a:r>
              <a:rPr lang="es-PE" sz="2000" dirty="0"/>
              <a:t>=1200</a:t>
            </a:r>
          </a:p>
          <a:p>
            <a:r>
              <a:rPr lang="es-PE" sz="2000" dirty="0" err="1"/>
              <a:t>X21-Y21</a:t>
            </a:r>
            <a:r>
              <a:rPr lang="es-PE" sz="2000" dirty="0"/>
              <a:t>=500</a:t>
            </a:r>
          </a:p>
          <a:p>
            <a:r>
              <a:rPr lang="es-PE" sz="2000" dirty="0" err="1"/>
              <a:t>X22+Y21-Y22</a:t>
            </a:r>
            <a:r>
              <a:rPr lang="es-PE" sz="2000" dirty="0"/>
              <a:t>=700</a:t>
            </a:r>
          </a:p>
          <a:p>
            <a:r>
              <a:rPr lang="es-PE" sz="2000" dirty="0" err="1"/>
              <a:t>X23+Y22</a:t>
            </a:r>
            <a:r>
              <a:rPr lang="es-PE" sz="2000" dirty="0"/>
              <a:t>=500</a:t>
            </a:r>
          </a:p>
          <a:p>
            <a:r>
              <a:rPr lang="es-PE" sz="2000" dirty="0" err="1"/>
              <a:t>X11+Y11-2X21-2Y21</a:t>
            </a:r>
            <a:r>
              <a:rPr lang="es-PE" sz="2000" dirty="0"/>
              <a:t>&gt;=0</a:t>
            </a:r>
          </a:p>
        </p:txBody>
      </p:sp>
      <p:sp>
        <p:nvSpPr>
          <p:cNvPr id="5" name="Rectángulo 4">
            <a:extLst>
              <a:ext uri="{FF2B5EF4-FFF2-40B4-BE49-F238E27FC236}">
                <a16:creationId xmlns:a16="http://schemas.microsoft.com/office/drawing/2014/main" id="{F0850AC6-6F3A-48FD-839E-B111B849B09A}"/>
              </a:ext>
            </a:extLst>
          </p:cNvPr>
          <p:cNvSpPr/>
          <p:nvPr/>
        </p:nvSpPr>
        <p:spPr>
          <a:xfrm>
            <a:off x="6342743" y="1574083"/>
            <a:ext cx="4833257" cy="4247317"/>
          </a:xfrm>
          <a:prstGeom prst="rect">
            <a:avLst/>
          </a:prstGeom>
        </p:spPr>
        <p:txBody>
          <a:bodyPr wrap="square">
            <a:spAutoFit/>
          </a:bodyPr>
          <a:lstStyle/>
          <a:p>
            <a:r>
              <a:rPr lang="es-PE" dirty="0"/>
              <a:t> </a:t>
            </a:r>
            <a:r>
              <a:rPr lang="es-PE" dirty="0" err="1"/>
              <a:t>OBJECTIVE</a:t>
            </a:r>
            <a:r>
              <a:rPr lang="es-PE" dirty="0"/>
              <a:t> </a:t>
            </a:r>
            <a:r>
              <a:rPr lang="es-PE" dirty="0" err="1"/>
              <a:t>FUNCTION</a:t>
            </a:r>
            <a:r>
              <a:rPr lang="es-PE" dirty="0"/>
              <a:t> </a:t>
            </a:r>
            <a:r>
              <a:rPr lang="es-PE" dirty="0" err="1"/>
              <a:t>VALUE</a:t>
            </a:r>
            <a:endParaRPr lang="es-PE" dirty="0"/>
          </a:p>
          <a:p>
            <a:endParaRPr lang="es-PE" dirty="0"/>
          </a:p>
          <a:p>
            <a:r>
              <a:rPr lang="es-PE" dirty="0"/>
              <a:t>        1)     </a:t>
            </a:r>
            <a:r>
              <a:rPr lang="es-PE" dirty="0" err="1"/>
              <a:t>0.1917500E+08</a:t>
            </a:r>
            <a:r>
              <a:rPr lang="es-PE" dirty="0"/>
              <a:t>     19’175000</a:t>
            </a:r>
          </a:p>
          <a:p>
            <a:endParaRPr lang="es-PE" dirty="0"/>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a:t>
            </a:r>
            <a:r>
              <a:rPr lang="es-PE" dirty="0" err="1"/>
              <a:t>X11</a:t>
            </a:r>
            <a:r>
              <a:rPr lang="es-PE" dirty="0"/>
              <a:t>      3600.000000          0.000000</a:t>
            </a:r>
          </a:p>
          <a:p>
            <a:r>
              <a:rPr lang="es-PE" dirty="0"/>
              <a:t>       </a:t>
            </a:r>
            <a:r>
              <a:rPr lang="es-PE" dirty="0" err="1"/>
              <a:t>X12</a:t>
            </a:r>
            <a:r>
              <a:rPr lang="es-PE" dirty="0"/>
              <a:t>         0.000000       1850.000000</a:t>
            </a:r>
          </a:p>
          <a:p>
            <a:r>
              <a:rPr lang="es-PE" dirty="0"/>
              <a:t>       </a:t>
            </a:r>
            <a:r>
              <a:rPr lang="es-PE" dirty="0" err="1"/>
              <a:t>X13</a:t>
            </a:r>
            <a:r>
              <a:rPr lang="es-PE" dirty="0"/>
              <a:t>         0.000000       3700.000000</a:t>
            </a:r>
          </a:p>
          <a:p>
            <a:r>
              <a:rPr lang="es-PE" dirty="0"/>
              <a:t>       </a:t>
            </a:r>
            <a:r>
              <a:rPr lang="es-PE" dirty="0" err="1"/>
              <a:t>X21</a:t>
            </a:r>
            <a:r>
              <a:rPr lang="es-PE" dirty="0"/>
              <a:t>      1700.000000          0.000000</a:t>
            </a:r>
          </a:p>
          <a:p>
            <a:r>
              <a:rPr lang="es-PE" dirty="0"/>
              <a:t>       </a:t>
            </a:r>
            <a:r>
              <a:rPr lang="es-PE" dirty="0" err="1"/>
              <a:t>X22</a:t>
            </a:r>
            <a:r>
              <a:rPr lang="es-PE" dirty="0"/>
              <a:t>         0.000000       1300.000000</a:t>
            </a:r>
          </a:p>
          <a:p>
            <a:r>
              <a:rPr lang="es-PE" dirty="0"/>
              <a:t>       </a:t>
            </a:r>
            <a:r>
              <a:rPr lang="es-PE" dirty="0" err="1"/>
              <a:t>X23</a:t>
            </a:r>
            <a:r>
              <a:rPr lang="es-PE" dirty="0"/>
              <a:t>         0.000000       2600.000000</a:t>
            </a:r>
          </a:p>
          <a:p>
            <a:r>
              <a:rPr lang="es-PE" dirty="0"/>
              <a:t>       </a:t>
            </a:r>
            <a:r>
              <a:rPr lang="es-PE" dirty="0" err="1"/>
              <a:t>Y11</a:t>
            </a:r>
            <a:r>
              <a:rPr lang="es-PE" dirty="0"/>
              <a:t>      2700.000000          0.000000</a:t>
            </a:r>
          </a:p>
          <a:p>
            <a:r>
              <a:rPr lang="es-PE" dirty="0"/>
              <a:t>       </a:t>
            </a:r>
            <a:r>
              <a:rPr lang="es-PE" dirty="0" err="1"/>
              <a:t>Y12</a:t>
            </a:r>
            <a:r>
              <a:rPr lang="es-PE" dirty="0"/>
              <a:t>      1200.000000          0.000000</a:t>
            </a:r>
          </a:p>
          <a:p>
            <a:r>
              <a:rPr lang="es-PE" dirty="0"/>
              <a:t>       </a:t>
            </a:r>
            <a:r>
              <a:rPr lang="es-PE" dirty="0" err="1"/>
              <a:t>Y21</a:t>
            </a:r>
            <a:r>
              <a:rPr lang="es-PE" dirty="0"/>
              <a:t>      1200.000000          0.000000</a:t>
            </a:r>
          </a:p>
          <a:p>
            <a:r>
              <a:rPr lang="es-PE" dirty="0"/>
              <a:t>       </a:t>
            </a:r>
            <a:r>
              <a:rPr lang="es-PE" dirty="0" err="1"/>
              <a:t>Y22</a:t>
            </a:r>
            <a:r>
              <a:rPr lang="es-PE" dirty="0"/>
              <a:t>       500.000000          0.000000</a:t>
            </a:r>
          </a:p>
        </p:txBody>
      </p:sp>
      <p:sp>
        <p:nvSpPr>
          <p:cNvPr id="4" name="Rectangle 2">
            <a:extLst>
              <a:ext uri="{FF2B5EF4-FFF2-40B4-BE49-F238E27FC236}">
                <a16:creationId xmlns:a16="http://schemas.microsoft.com/office/drawing/2014/main" id="{DBDC03EA-7F87-40A3-B7EB-C5AA2C2A5A59}"/>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15</a:t>
            </a:r>
          </a:p>
        </p:txBody>
      </p:sp>
      <p:sp>
        <p:nvSpPr>
          <p:cNvPr id="6" name="CuadroTexto 5">
            <a:extLst>
              <a:ext uri="{FF2B5EF4-FFF2-40B4-BE49-F238E27FC236}">
                <a16:creationId xmlns:a16="http://schemas.microsoft.com/office/drawing/2014/main" id="{A220A4BD-C9D9-40C6-8CF4-085154D66577}"/>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105936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3919147-71E3-4E33-A26A-13D572383836}"/>
              </a:ext>
            </a:extLst>
          </p:cNvPr>
          <p:cNvSpPr/>
          <p:nvPr/>
        </p:nvSpPr>
        <p:spPr>
          <a:xfrm>
            <a:off x="182880" y="1214735"/>
            <a:ext cx="6096000" cy="646331"/>
          </a:xfrm>
          <a:prstGeom prst="rect">
            <a:avLst/>
          </a:prstGeom>
        </p:spPr>
        <p:txBody>
          <a:bodyPr>
            <a:spAutoFit/>
          </a:bodyPr>
          <a:lstStyle/>
          <a:p>
            <a:pPr marR="153670" algn="just"/>
            <a:r>
              <a:rPr lang="es-ES" dirty="0">
                <a:latin typeface="Arial Narrow" panose="020B0606020202030204" pitchFamily="34" charset="0"/>
                <a:ea typeface="Tahoma" panose="020B0604030504040204" pitchFamily="34" charset="0"/>
              </a:rPr>
              <a:t>Gandhi Co. fabrica camisas y pantalones. La demanda en los próximos 3 meses, la cual se debe cumplir a tiempo, es la siguiente:</a:t>
            </a:r>
            <a:endParaRPr lang="es-PE" dirty="0">
              <a:latin typeface="Arial Narrow" panose="020B0606020202030204" pitchFamily="34" charset="0"/>
              <a:ea typeface="Tahoma" panose="020B0604030504040204" pitchFamily="34" charset="0"/>
            </a:endParaRPr>
          </a:p>
        </p:txBody>
      </p:sp>
      <p:sp>
        <p:nvSpPr>
          <p:cNvPr id="5" name="Rectángulo 4">
            <a:extLst>
              <a:ext uri="{FF2B5EF4-FFF2-40B4-BE49-F238E27FC236}">
                <a16:creationId xmlns:a16="http://schemas.microsoft.com/office/drawing/2014/main" id="{6DE82C31-0313-4F2A-B182-F5E9F81EBB76}"/>
              </a:ext>
            </a:extLst>
          </p:cNvPr>
          <p:cNvSpPr/>
          <p:nvPr/>
        </p:nvSpPr>
        <p:spPr>
          <a:xfrm>
            <a:off x="182880" y="2679621"/>
            <a:ext cx="6096000" cy="2585323"/>
          </a:xfrm>
          <a:prstGeom prst="rect">
            <a:avLst/>
          </a:prstGeom>
        </p:spPr>
        <p:txBody>
          <a:bodyPr>
            <a:spAutoFit/>
          </a:bodyPr>
          <a:lstStyle/>
          <a:p>
            <a:pPr marR="153670" algn="just">
              <a:spcAft>
                <a:spcPts val="0"/>
              </a:spcAft>
            </a:pPr>
            <a:r>
              <a:rPr lang="es-ES" dirty="0">
                <a:latin typeface="Arial Narrow" panose="020B0606020202030204" pitchFamily="34" charset="0"/>
                <a:ea typeface="Tahoma" panose="020B0604030504040204" pitchFamily="34" charset="0"/>
              </a:rPr>
              <a:t>Durante</a:t>
            </a:r>
            <a:r>
              <a:rPr lang="es-ES" spc="-3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cada</a:t>
            </a:r>
            <a:r>
              <a:rPr lang="es-ES" spc="-3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mes,</a:t>
            </a:r>
            <a:r>
              <a:rPr lang="es-ES" spc="-4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cuesta</a:t>
            </a:r>
            <a:r>
              <a:rPr lang="es-ES" spc="-3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$4</a:t>
            </a:r>
            <a:r>
              <a:rPr lang="es-ES" spc="-5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elaborar</a:t>
            </a:r>
            <a:r>
              <a:rPr lang="es-ES" spc="-4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una</a:t>
            </a:r>
            <a:r>
              <a:rPr lang="es-ES" spc="-4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prenda</a:t>
            </a:r>
            <a:r>
              <a:rPr lang="es-ES" spc="-3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cualquiera</a:t>
            </a:r>
            <a:r>
              <a:rPr lang="es-ES" spc="-4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en</a:t>
            </a:r>
            <a:r>
              <a:rPr lang="es-ES" spc="-4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turno</a:t>
            </a:r>
            <a:r>
              <a:rPr lang="es-ES" spc="-4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normal</a:t>
            </a:r>
            <a:r>
              <a:rPr lang="es-ES" spc="-4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y</a:t>
            </a:r>
            <a:r>
              <a:rPr lang="es-ES" spc="-3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cuesta</a:t>
            </a:r>
            <a:r>
              <a:rPr lang="es-ES" spc="-3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$8</a:t>
            </a:r>
            <a:r>
              <a:rPr lang="es-ES" spc="-5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en</a:t>
            </a:r>
            <a:r>
              <a:rPr lang="es-ES" spc="-4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turno</a:t>
            </a:r>
            <a:r>
              <a:rPr lang="es-ES" spc="-3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extra.</a:t>
            </a:r>
            <a:r>
              <a:rPr lang="es-ES" spc="-4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La</a:t>
            </a:r>
            <a:r>
              <a:rPr lang="es-ES" spc="-4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capacidad</a:t>
            </a:r>
            <a:r>
              <a:rPr lang="es-ES" spc="-30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mensual</a:t>
            </a:r>
            <a:r>
              <a:rPr lang="es-ES" spc="-7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de</a:t>
            </a:r>
            <a:r>
              <a:rPr lang="es-ES" spc="-6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producción</a:t>
            </a:r>
            <a:r>
              <a:rPr lang="es-ES" spc="-65"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en</a:t>
            </a:r>
            <a:r>
              <a:rPr lang="es-ES" spc="-75"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turno</a:t>
            </a:r>
            <a:r>
              <a:rPr lang="es-ES" spc="-55"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normal</a:t>
            </a:r>
            <a:r>
              <a:rPr lang="es-ES" spc="-65"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es</a:t>
            </a:r>
            <a:r>
              <a:rPr lang="es-ES" spc="-6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25</a:t>
            </a:r>
            <a:r>
              <a:rPr lang="es-ES" spc="-7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prendas</a:t>
            </a:r>
            <a:r>
              <a:rPr lang="es-ES" spc="-6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y</a:t>
            </a:r>
            <a:r>
              <a:rPr lang="es-ES" spc="-65"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la</a:t>
            </a:r>
            <a:r>
              <a:rPr lang="es-ES" spc="-60" dirty="0">
                <a:latin typeface="Arial Narrow" panose="020B0606020202030204" pitchFamily="34" charset="0"/>
                <a:ea typeface="Tahoma" panose="020B0604030504040204" pitchFamily="34" charset="0"/>
              </a:rPr>
              <a:t> </a:t>
            </a:r>
            <a:r>
              <a:rPr lang="es-ES" spc="-5" dirty="0">
                <a:latin typeface="Arial Narrow" panose="020B0606020202030204" pitchFamily="34" charset="0"/>
                <a:ea typeface="Tahoma" panose="020B0604030504040204" pitchFamily="34" charset="0"/>
              </a:rPr>
              <a:t>capacidad</a:t>
            </a:r>
            <a:r>
              <a:rPr lang="es-ES" spc="-7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mensual</a:t>
            </a:r>
            <a:r>
              <a:rPr lang="es-ES" spc="-6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de</a:t>
            </a:r>
            <a:r>
              <a:rPr lang="es-ES" spc="-6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producción</a:t>
            </a:r>
            <a:r>
              <a:rPr lang="es-ES" spc="-6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en</a:t>
            </a:r>
            <a:r>
              <a:rPr lang="es-ES" spc="-6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turno</a:t>
            </a:r>
            <a:r>
              <a:rPr lang="es-ES" spc="-6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extra</a:t>
            </a:r>
            <a:r>
              <a:rPr lang="es-ES" spc="-6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es</a:t>
            </a:r>
            <a:r>
              <a:rPr lang="es-ES" spc="-5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ilimitada.</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Es posible almacenar prendas, a un costo de inventario mensual de $3 por prenda. Al inicio del mes 1, en el almacén</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hay</a:t>
            </a:r>
            <a:r>
              <a:rPr lang="es-ES" spc="-1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una camisa y</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2</a:t>
            </a:r>
            <a:r>
              <a:rPr lang="es-ES" spc="-1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pantalones.</a:t>
            </a:r>
            <a:endParaRPr lang="es-PE" dirty="0">
              <a:latin typeface="Arial Narrow" panose="020B0606020202030204" pitchFamily="34" charset="0"/>
              <a:ea typeface="Tahoma" panose="020B0604030504040204" pitchFamily="34" charset="0"/>
            </a:endParaRPr>
          </a:p>
          <a:p>
            <a:pPr marR="149225" indent="-635" algn="just">
              <a:spcBef>
                <a:spcPts val="5"/>
              </a:spcBef>
              <a:spcAft>
                <a:spcPts val="0"/>
              </a:spcAft>
            </a:pPr>
            <a:r>
              <a:rPr lang="es-ES" dirty="0">
                <a:latin typeface="Arial Narrow" panose="020B0606020202030204" pitchFamily="34" charset="0"/>
                <a:ea typeface="Tahoma" panose="020B0604030504040204" pitchFamily="34" charset="0"/>
              </a:rPr>
              <a:t>Cada camisa requiere 2 </a:t>
            </a:r>
            <a:r>
              <a:rPr lang="es-ES" dirty="0" err="1"/>
              <a:t>yardas</a:t>
            </a:r>
            <a:r>
              <a:rPr lang="es-ES" baseline="30000" dirty="0" err="1"/>
              <a:t>2</a:t>
            </a:r>
            <a:r>
              <a:rPr lang="es-ES" sz="80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de tela y cada pantalón requiere 3 </a:t>
            </a:r>
            <a:r>
              <a:rPr lang="es-ES" dirty="0" err="1"/>
              <a:t>yardas</a:t>
            </a:r>
            <a:r>
              <a:rPr lang="es-ES" baseline="30000" dirty="0" err="1"/>
              <a:t>2</a:t>
            </a:r>
            <a:r>
              <a:rPr lang="es-ES" sz="80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de tela. Lo máximo de tela que se puede</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comprar</a:t>
            </a:r>
            <a:r>
              <a:rPr lang="es-ES" spc="-1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y</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el</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costo</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de</a:t>
            </a:r>
            <a:r>
              <a:rPr lang="es-ES" spc="1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compra</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se muestran</a:t>
            </a:r>
            <a:r>
              <a:rPr lang="es-ES" spc="-10"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a</a:t>
            </a:r>
            <a:r>
              <a:rPr lang="es-ES" spc="-5" dirty="0">
                <a:latin typeface="Arial Narrow" panose="020B0606020202030204" pitchFamily="34" charset="0"/>
                <a:ea typeface="Tahoma" panose="020B0604030504040204" pitchFamily="34" charset="0"/>
              </a:rPr>
              <a:t> </a:t>
            </a:r>
            <a:r>
              <a:rPr lang="es-ES" dirty="0">
                <a:latin typeface="Arial Narrow" panose="020B0606020202030204" pitchFamily="34" charset="0"/>
                <a:ea typeface="Tahoma" panose="020B0604030504040204" pitchFamily="34" charset="0"/>
              </a:rPr>
              <a:t>continuación:</a:t>
            </a:r>
            <a:endParaRPr lang="es-PE" dirty="0">
              <a:latin typeface="Arial Narrow" panose="020B0606020202030204" pitchFamily="34" charset="0"/>
              <a:ea typeface="Tahoma" panose="020B0604030504040204" pitchFamily="34" charset="0"/>
            </a:endParaRPr>
          </a:p>
        </p:txBody>
      </p:sp>
      <p:graphicFrame>
        <p:nvGraphicFramePr>
          <p:cNvPr id="6" name="Tabla 5">
            <a:extLst>
              <a:ext uri="{FF2B5EF4-FFF2-40B4-BE49-F238E27FC236}">
                <a16:creationId xmlns:a16="http://schemas.microsoft.com/office/drawing/2014/main" id="{EF25AE61-8503-494F-BFD8-CB377125A6F8}"/>
              </a:ext>
            </a:extLst>
          </p:cNvPr>
          <p:cNvGraphicFramePr>
            <a:graphicFrameLocks noGrp="1"/>
          </p:cNvGraphicFramePr>
          <p:nvPr/>
        </p:nvGraphicFramePr>
        <p:xfrm>
          <a:off x="247650" y="5235893"/>
          <a:ext cx="5711190" cy="863642"/>
        </p:xfrm>
        <a:graphic>
          <a:graphicData uri="http://schemas.openxmlformats.org/drawingml/2006/table">
            <a:tbl>
              <a:tblPr>
                <a:tableStyleId>{5C22544A-7EE6-4342-B048-85BDC9FD1C3A}</a:tableStyleId>
              </a:tblPr>
              <a:tblGrid>
                <a:gridCol w="2384283">
                  <a:extLst>
                    <a:ext uri="{9D8B030D-6E8A-4147-A177-3AD203B41FA5}">
                      <a16:colId xmlns:a16="http://schemas.microsoft.com/office/drawing/2014/main" val="1851106735"/>
                    </a:ext>
                  </a:extLst>
                </a:gridCol>
                <a:gridCol w="1108969">
                  <a:extLst>
                    <a:ext uri="{9D8B030D-6E8A-4147-A177-3AD203B41FA5}">
                      <a16:colId xmlns:a16="http://schemas.microsoft.com/office/drawing/2014/main" val="1354766123"/>
                    </a:ext>
                  </a:extLst>
                </a:gridCol>
                <a:gridCol w="1108969">
                  <a:extLst>
                    <a:ext uri="{9D8B030D-6E8A-4147-A177-3AD203B41FA5}">
                      <a16:colId xmlns:a16="http://schemas.microsoft.com/office/drawing/2014/main" val="1643743218"/>
                    </a:ext>
                  </a:extLst>
                </a:gridCol>
                <a:gridCol w="1108969">
                  <a:extLst>
                    <a:ext uri="{9D8B030D-6E8A-4147-A177-3AD203B41FA5}">
                      <a16:colId xmlns:a16="http://schemas.microsoft.com/office/drawing/2014/main" val="1542109268"/>
                    </a:ext>
                  </a:extLst>
                </a:gridCol>
              </a:tblGrid>
              <a:tr h="213498">
                <a:tc>
                  <a:txBody>
                    <a:bodyPr/>
                    <a:lstStyle/>
                    <a:p>
                      <a:pPr algn="ctr" fontAlgn="ctr"/>
                      <a:r>
                        <a:rPr lang="es-ES" sz="1400" u="none" strike="noStrike">
                          <a:effectLst/>
                        </a:rPr>
                        <a:t> </a:t>
                      </a:r>
                      <a:endParaRPr lang="es-PE"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s-ES" sz="1400" u="none" strike="noStrike">
                          <a:effectLst/>
                        </a:rPr>
                        <a:t>Mes 1</a:t>
                      </a:r>
                      <a:endParaRPr lang="es-PE"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Mes 2</a:t>
                      </a:r>
                      <a:endParaRPr lang="es-PE"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Mes 3</a:t>
                      </a:r>
                      <a:endParaRPr lang="es-PE" sz="1400" b="1" i="0" u="none" strike="noStrike">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2224493264"/>
                  </a:ext>
                </a:extLst>
              </a:tr>
              <a:tr h="417872">
                <a:tc>
                  <a:txBody>
                    <a:bodyPr/>
                    <a:lstStyle/>
                    <a:p>
                      <a:pPr algn="ctr" fontAlgn="ctr"/>
                      <a:r>
                        <a:rPr lang="es-ES" sz="1400" u="none" strike="noStrike" dirty="0">
                          <a:effectLst/>
                        </a:rPr>
                        <a:t>Máximo a comprar (</a:t>
                      </a:r>
                      <a:r>
                        <a:rPr lang="es-ES" sz="1400" u="none" strike="noStrike" dirty="0" err="1">
                          <a:effectLst/>
                        </a:rPr>
                        <a:t>yardas</a:t>
                      </a:r>
                      <a:r>
                        <a:rPr lang="es-ES" sz="1400" u="none" strike="noStrike" baseline="30000" dirty="0" err="1">
                          <a:effectLst/>
                        </a:rPr>
                        <a:t>2</a:t>
                      </a:r>
                      <a:r>
                        <a:rPr lang="es-ES" sz="1400" u="none" strike="noStrike" dirty="0">
                          <a:effectLst/>
                        </a:rPr>
                        <a:t>)</a:t>
                      </a:r>
                      <a:endParaRPr lang="es-PE" sz="1400" b="1"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90</a:t>
                      </a:r>
                      <a:endParaRPr lang="es-PE" sz="1400" b="0"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60</a:t>
                      </a:r>
                      <a:endParaRPr lang="es-PE" sz="1400" b="0"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80</a:t>
                      </a:r>
                      <a:endParaRPr lang="es-PE"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391614472"/>
                  </a:ext>
                </a:extLst>
              </a:tr>
              <a:tr h="213498">
                <a:tc>
                  <a:txBody>
                    <a:bodyPr/>
                    <a:lstStyle/>
                    <a:p>
                      <a:pPr algn="ctr" fontAlgn="ctr"/>
                      <a:r>
                        <a:rPr lang="es-ES" sz="1400" u="none" strike="noStrike">
                          <a:effectLst/>
                        </a:rPr>
                        <a:t>Costo ($/yarda</a:t>
                      </a:r>
                      <a:r>
                        <a:rPr lang="es-ES" sz="1400" u="none" strike="noStrike" baseline="30000">
                          <a:effectLst/>
                        </a:rPr>
                        <a:t>2</a:t>
                      </a:r>
                      <a:r>
                        <a:rPr lang="es-ES" sz="1400" u="none" strike="noStrike">
                          <a:effectLst/>
                        </a:rPr>
                        <a:t>) </a:t>
                      </a:r>
                      <a:endParaRPr lang="es-PE"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2</a:t>
                      </a:r>
                      <a:endParaRPr lang="es-PE" sz="1400" b="0" i="0" u="none" strike="noStrike">
                        <a:solidFill>
                          <a:srgbClr val="000000"/>
                        </a:solidFill>
                        <a:effectLst/>
                        <a:latin typeface="Times New Roman" panose="02020603050405020304" pitchFamily="18" charset="0"/>
                      </a:endParaRPr>
                    </a:p>
                  </a:txBody>
                  <a:tcPr marL="9525" marR="9525" marT="9525" marB="0" anchor="ctr"/>
                </a:tc>
                <a:tc>
                  <a:txBody>
                    <a:bodyPr/>
                    <a:lstStyle/>
                    <a:p>
                      <a:pPr algn="ctr" fontAlgn="ctr"/>
                      <a:r>
                        <a:rPr lang="es-ES" sz="1400" u="none" strike="noStrike">
                          <a:effectLst/>
                        </a:rPr>
                        <a:t>1.5</a:t>
                      </a:r>
                      <a:endParaRPr lang="es-PE" sz="1400" b="0"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dirty="0">
                          <a:effectLst/>
                        </a:rPr>
                        <a:t>1.8</a:t>
                      </a:r>
                      <a:endParaRPr lang="es-PE" sz="1400" b="0" i="0" u="none" strike="noStrike" dirty="0">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828980659"/>
                  </a:ext>
                </a:extLst>
              </a:tr>
            </a:tbl>
          </a:graphicData>
        </a:graphic>
      </p:graphicFrame>
      <p:graphicFrame>
        <p:nvGraphicFramePr>
          <p:cNvPr id="7" name="Tabla 6">
            <a:extLst>
              <a:ext uri="{FF2B5EF4-FFF2-40B4-BE49-F238E27FC236}">
                <a16:creationId xmlns:a16="http://schemas.microsoft.com/office/drawing/2014/main" id="{5E463005-444A-4788-8901-34FCDC6E8620}"/>
              </a:ext>
            </a:extLst>
          </p:cNvPr>
          <p:cNvGraphicFramePr>
            <a:graphicFrameLocks noGrp="1"/>
          </p:cNvGraphicFramePr>
          <p:nvPr/>
        </p:nvGraphicFramePr>
        <p:xfrm>
          <a:off x="278130" y="1863091"/>
          <a:ext cx="5772151" cy="873535"/>
        </p:xfrm>
        <a:graphic>
          <a:graphicData uri="http://schemas.openxmlformats.org/drawingml/2006/table">
            <a:tbl>
              <a:tblPr>
                <a:tableStyleId>{5C22544A-7EE6-4342-B048-85BDC9FD1C3A}</a:tableStyleId>
              </a:tblPr>
              <a:tblGrid>
                <a:gridCol w="1120806">
                  <a:extLst>
                    <a:ext uri="{9D8B030D-6E8A-4147-A177-3AD203B41FA5}">
                      <a16:colId xmlns:a16="http://schemas.microsoft.com/office/drawing/2014/main" val="1866833310"/>
                    </a:ext>
                  </a:extLst>
                </a:gridCol>
                <a:gridCol w="2409733">
                  <a:extLst>
                    <a:ext uri="{9D8B030D-6E8A-4147-A177-3AD203B41FA5}">
                      <a16:colId xmlns:a16="http://schemas.microsoft.com/office/drawing/2014/main" val="2790265385"/>
                    </a:ext>
                  </a:extLst>
                </a:gridCol>
                <a:gridCol w="1120806">
                  <a:extLst>
                    <a:ext uri="{9D8B030D-6E8A-4147-A177-3AD203B41FA5}">
                      <a16:colId xmlns:a16="http://schemas.microsoft.com/office/drawing/2014/main" val="3453092602"/>
                    </a:ext>
                  </a:extLst>
                </a:gridCol>
                <a:gridCol w="1120806">
                  <a:extLst>
                    <a:ext uri="{9D8B030D-6E8A-4147-A177-3AD203B41FA5}">
                      <a16:colId xmlns:a16="http://schemas.microsoft.com/office/drawing/2014/main" val="3369703451"/>
                    </a:ext>
                  </a:extLst>
                </a:gridCol>
              </a:tblGrid>
              <a:tr h="218552">
                <a:tc>
                  <a:txBody>
                    <a:bodyPr/>
                    <a:lstStyle/>
                    <a:p>
                      <a:pPr algn="ctr" fontAlgn="ctr"/>
                      <a:r>
                        <a:rPr lang="es-PE" sz="1400" u="none" strike="noStrike">
                          <a:effectLst/>
                        </a:rPr>
                        <a:t> </a:t>
                      </a:r>
                      <a:endParaRPr lang="es-PE"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dirty="0">
                          <a:effectLst/>
                        </a:rPr>
                        <a:t>Mes 1</a:t>
                      </a:r>
                      <a:endParaRPr lang="es-ES" sz="1400" b="1"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Mes 2</a:t>
                      </a:r>
                      <a:endParaRPr lang="es-ES"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Mes 3</a:t>
                      </a:r>
                      <a:endParaRPr lang="es-ES" sz="1400" b="1" i="0" u="none" strike="noStrike">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3669283670"/>
                  </a:ext>
                </a:extLst>
              </a:tr>
              <a:tr h="218552">
                <a:tc>
                  <a:txBody>
                    <a:bodyPr/>
                    <a:lstStyle/>
                    <a:p>
                      <a:pPr algn="ctr" fontAlgn="ctr"/>
                      <a:r>
                        <a:rPr lang="es-ES" sz="1400" u="none" strike="noStrike">
                          <a:effectLst/>
                        </a:rPr>
                        <a:t>Camisas </a:t>
                      </a:r>
                      <a:endParaRPr lang="es-ES"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10</a:t>
                      </a:r>
                      <a:endParaRPr lang="es-ES" sz="1400" b="0"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12</a:t>
                      </a:r>
                      <a:endParaRPr lang="es-ES" sz="1400" b="0"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14</a:t>
                      </a:r>
                      <a:endParaRPr lang="es-ES" sz="1400" b="0" i="0" u="none" strike="noStrike">
                        <a:solidFill>
                          <a:srgbClr val="000000"/>
                        </a:solidFill>
                        <a:effectLst/>
                        <a:latin typeface="Times New Roman" panose="02020603050405020304" pitchFamily="18" charset="0"/>
                      </a:endParaRPr>
                    </a:p>
                  </a:txBody>
                  <a:tcPr marL="9525" marR="9525" marT="9525" marB="0" anchor="ctr"/>
                </a:tc>
                <a:extLst>
                  <a:ext uri="{0D108BD9-81ED-4DB2-BD59-A6C34878D82A}">
                    <a16:rowId xmlns:a16="http://schemas.microsoft.com/office/drawing/2014/main" val="1757120173"/>
                  </a:ext>
                </a:extLst>
              </a:tr>
              <a:tr h="427765">
                <a:tc>
                  <a:txBody>
                    <a:bodyPr/>
                    <a:lstStyle/>
                    <a:p>
                      <a:pPr algn="ctr" fontAlgn="ctr"/>
                      <a:r>
                        <a:rPr lang="es-ES" sz="1400" u="none" strike="noStrike" spc="-5">
                          <a:effectLst/>
                        </a:rPr>
                        <a:t>Pantalones</a:t>
                      </a:r>
                      <a:endParaRPr lang="es-ES" sz="1400" b="1"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dirty="0">
                          <a:effectLst/>
                        </a:rPr>
                        <a:t>15</a:t>
                      </a:r>
                      <a:endParaRPr lang="es-ES" sz="1400" b="0" i="0" u="none" strike="noStrike" dirty="0">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a:effectLst/>
                        </a:rPr>
                        <a:t>14</a:t>
                      </a:r>
                      <a:endParaRPr lang="es-ES" sz="1400" b="0" i="0" u="none" strike="noStrike">
                        <a:solidFill>
                          <a:srgbClr val="000000"/>
                        </a:solidFill>
                        <a:effectLst/>
                        <a:latin typeface="Tahoma" panose="020B0604030504040204" pitchFamily="34" charset="0"/>
                      </a:endParaRPr>
                    </a:p>
                  </a:txBody>
                  <a:tcPr marL="9525" marR="9525" marT="9525" marB="0" anchor="ctr"/>
                </a:tc>
                <a:tc>
                  <a:txBody>
                    <a:bodyPr/>
                    <a:lstStyle/>
                    <a:p>
                      <a:pPr algn="ctr" fontAlgn="ctr"/>
                      <a:r>
                        <a:rPr lang="es-ES" sz="1400" u="none" strike="noStrike" dirty="0">
                          <a:effectLst/>
                        </a:rPr>
                        <a:t>13</a:t>
                      </a:r>
                      <a:endParaRPr lang="es-ES" sz="1400" b="0" i="0" u="none" strike="noStrike" dirty="0">
                        <a:solidFill>
                          <a:srgbClr val="000000"/>
                        </a:solidFill>
                        <a:effectLst/>
                        <a:latin typeface="Tahoma" panose="020B0604030504040204" pitchFamily="34" charset="0"/>
                      </a:endParaRPr>
                    </a:p>
                  </a:txBody>
                  <a:tcPr marL="9525" marR="9525" marT="9525" marB="0" anchor="ctr"/>
                </a:tc>
                <a:extLst>
                  <a:ext uri="{0D108BD9-81ED-4DB2-BD59-A6C34878D82A}">
                    <a16:rowId xmlns:a16="http://schemas.microsoft.com/office/drawing/2014/main" val="4074768809"/>
                  </a:ext>
                </a:extLst>
              </a:tr>
            </a:tbl>
          </a:graphicData>
        </a:graphic>
      </p:graphicFrame>
      <p:sp>
        <p:nvSpPr>
          <p:cNvPr id="8" name="Rectángulo 7">
            <a:extLst>
              <a:ext uri="{FF2B5EF4-FFF2-40B4-BE49-F238E27FC236}">
                <a16:creationId xmlns:a16="http://schemas.microsoft.com/office/drawing/2014/main" id="{AA13AEB0-DF86-426E-BEE6-1C0C88BF0106}"/>
              </a:ext>
            </a:extLst>
          </p:cNvPr>
          <p:cNvSpPr/>
          <p:nvPr/>
        </p:nvSpPr>
        <p:spPr>
          <a:xfrm>
            <a:off x="152400" y="6027003"/>
            <a:ext cx="6156960" cy="584775"/>
          </a:xfrm>
          <a:prstGeom prst="rect">
            <a:avLst/>
          </a:prstGeom>
        </p:spPr>
        <p:txBody>
          <a:bodyPr wrap="square">
            <a:spAutoFit/>
          </a:bodyPr>
          <a:lstStyle/>
          <a:p>
            <a:pPr algn="just"/>
            <a:r>
              <a:rPr lang="es-PE" sz="1600">
                <a:latin typeface="Calibri" panose="020F0502020204030204" pitchFamily="34" charset="0"/>
                <a:ea typeface="Calibri" panose="020F0502020204030204" pitchFamily="34" charset="0"/>
                <a:cs typeface="Times New Roman" panose="02020603050405020304" pitchFamily="18" charset="0"/>
              </a:rPr>
              <a:t>Es</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posible</a:t>
            </a:r>
            <a:r>
              <a:rPr lang="es-PE" sz="1600" spc="-2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almacenar</a:t>
            </a:r>
            <a:r>
              <a:rPr lang="es-PE" sz="1600" spc="-2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tela</a:t>
            </a:r>
            <a:r>
              <a:rPr lang="es-PE" sz="1600" spc="-2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en</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cada</a:t>
            </a:r>
            <a:r>
              <a:rPr lang="es-PE" sz="1600" spc="-2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mes,</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con</a:t>
            </a:r>
            <a:r>
              <a:rPr lang="es-PE" sz="1600" spc="-2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un</a:t>
            </a:r>
            <a:r>
              <a:rPr lang="es-PE" sz="1600" spc="-3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costo</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de</a:t>
            </a:r>
            <a:r>
              <a:rPr lang="es-PE" sz="1600" spc="-2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almacenamiento</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despreciable.</a:t>
            </a:r>
            <a:r>
              <a:rPr lang="es-PE" sz="1600" spc="-35">
                <a:latin typeface="Calibri" panose="020F0502020204030204" pitchFamily="34" charset="0"/>
                <a:ea typeface="Calibri" panose="020F0502020204030204" pitchFamily="34" charset="0"/>
                <a:cs typeface="Times New Roman" panose="02020603050405020304" pitchFamily="18" charset="0"/>
              </a:rPr>
              <a:t> Desarrolle</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el</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modelo</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que</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minimice</a:t>
            </a:r>
            <a:r>
              <a:rPr lang="es-PE" sz="1600" spc="-30">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el</a:t>
            </a:r>
            <a:r>
              <a:rPr lang="es-PE" sz="1600" spc="-2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costo</a:t>
            </a:r>
            <a:r>
              <a:rPr lang="es-PE" sz="1600" spc="-35">
                <a:latin typeface="Calibri" panose="020F0502020204030204" pitchFamily="34" charset="0"/>
                <a:ea typeface="Calibri" panose="020F0502020204030204" pitchFamily="34" charset="0"/>
                <a:cs typeface="Times New Roman" panose="02020603050405020304" pitchFamily="18" charset="0"/>
              </a:rPr>
              <a:t> </a:t>
            </a:r>
            <a:r>
              <a:rPr lang="es-PE" sz="1600">
                <a:latin typeface="Calibri" panose="020F0502020204030204" pitchFamily="34" charset="0"/>
                <a:ea typeface="Calibri" panose="020F0502020204030204" pitchFamily="34" charset="0"/>
                <a:cs typeface="Times New Roman" panose="02020603050405020304" pitchFamily="18" charset="0"/>
              </a:rPr>
              <a:t>total.</a:t>
            </a:r>
            <a:r>
              <a:rPr lang="es-PE" sz="1600" spc="5">
                <a:latin typeface="Calibri" panose="020F0502020204030204" pitchFamily="34" charset="0"/>
                <a:ea typeface="Calibri" panose="020F0502020204030204" pitchFamily="34" charset="0"/>
                <a:cs typeface="Times New Roman" panose="02020603050405020304" pitchFamily="18" charset="0"/>
              </a:rPr>
              <a:t> </a:t>
            </a:r>
            <a:endParaRPr lang="es-PE" sz="1600"/>
          </a:p>
        </p:txBody>
      </p:sp>
      <p:sp>
        <p:nvSpPr>
          <p:cNvPr id="9" name="Rectángulo 8">
            <a:extLst>
              <a:ext uri="{FF2B5EF4-FFF2-40B4-BE49-F238E27FC236}">
                <a16:creationId xmlns:a16="http://schemas.microsoft.com/office/drawing/2014/main" id="{D5AF7A1C-7980-4724-A679-DD6DDDCEAB1B}"/>
              </a:ext>
            </a:extLst>
          </p:cNvPr>
          <p:cNvSpPr/>
          <p:nvPr/>
        </p:nvSpPr>
        <p:spPr>
          <a:xfrm>
            <a:off x="6357667" y="1246992"/>
            <a:ext cx="5834333" cy="5509200"/>
          </a:xfrm>
          <a:prstGeom prst="rect">
            <a:avLst/>
          </a:prstGeom>
        </p:spPr>
        <p:txBody>
          <a:bodyPr wrap="square">
            <a:spAutoFit/>
          </a:bodyPr>
          <a:lstStyle/>
          <a:p>
            <a:pPr>
              <a:spcAft>
                <a:spcPts val="0"/>
              </a:spcAft>
            </a:pPr>
            <a:r>
              <a:rPr lang="es-PE" sz="1600" b="1" dirty="0">
                <a:solidFill>
                  <a:srgbClr val="FF0000"/>
                </a:solidFill>
                <a:latin typeface="Arial Narrow" panose="020B0606020202030204" pitchFamily="34" charset="0"/>
                <a:ea typeface="Times New Roman" panose="02020603050405020304" pitchFamily="18" charset="0"/>
              </a:rPr>
              <a:t>I   Identificación de las variables</a:t>
            </a:r>
            <a:endParaRPr lang="es-PE" sz="1600" b="1" dirty="0">
              <a:latin typeface="Arial Narrow" panose="020B0606020202030204" pitchFamily="34" charset="0"/>
              <a:ea typeface="Times New Roman" panose="02020603050405020304" pitchFamily="18" charset="0"/>
            </a:endParaRPr>
          </a:p>
          <a:p>
            <a:pPr>
              <a:spcAft>
                <a:spcPts val="0"/>
              </a:spcAft>
            </a:pPr>
            <a:r>
              <a:rPr lang="es-PE" sz="1600" b="1" dirty="0">
                <a:solidFill>
                  <a:srgbClr val="FF0000"/>
                </a:solidFill>
                <a:latin typeface="Arial Narrow" panose="020B0606020202030204" pitchFamily="34" charset="0"/>
                <a:ea typeface="Times New Roman" panose="02020603050405020304" pitchFamily="18" charset="0"/>
              </a:rPr>
              <a:t>    </a:t>
            </a:r>
            <a:r>
              <a:rPr lang="es-PE" sz="1600" b="1" dirty="0" err="1">
                <a:latin typeface="Arial Narrow" panose="020B0606020202030204" pitchFamily="34" charset="0"/>
                <a:ea typeface="Times New Roman" panose="02020603050405020304" pitchFamily="18" charset="0"/>
              </a:rPr>
              <a:t>Xij</a:t>
            </a:r>
            <a:r>
              <a:rPr lang="es-PE" sz="1600" b="1" dirty="0">
                <a:latin typeface="Arial Narrow" panose="020B0606020202030204" pitchFamily="34" charset="0"/>
                <a:ea typeface="Times New Roman" panose="02020603050405020304" pitchFamily="18" charset="0"/>
              </a:rPr>
              <a:t>=Unidades a producir del producto i en el mes j</a:t>
            </a:r>
          </a:p>
          <a:p>
            <a:r>
              <a:rPr lang="es-PE" sz="1600" b="1" dirty="0">
                <a:latin typeface="Arial Narrow" panose="020B0606020202030204" pitchFamily="34" charset="0"/>
                <a:ea typeface="Times New Roman" panose="02020603050405020304" pitchFamily="18" charset="0"/>
              </a:rPr>
              <a:t>    </a:t>
            </a:r>
            <a:r>
              <a:rPr lang="es-PE" sz="1600" b="1" dirty="0" err="1">
                <a:latin typeface="Arial Narrow" panose="020B0606020202030204" pitchFamily="34" charset="0"/>
                <a:ea typeface="Times New Roman" panose="02020603050405020304" pitchFamily="18" charset="0"/>
              </a:rPr>
              <a:t>Yij</a:t>
            </a:r>
            <a:r>
              <a:rPr lang="es-PE" sz="1600" b="1" dirty="0">
                <a:latin typeface="Arial Narrow" panose="020B0606020202030204" pitchFamily="34" charset="0"/>
                <a:ea typeface="Times New Roman" panose="02020603050405020304" pitchFamily="18" charset="0"/>
              </a:rPr>
              <a:t>=Unidades adicionales a producir del producto i en el mes j</a:t>
            </a:r>
          </a:p>
          <a:p>
            <a:r>
              <a:rPr lang="es-PE" sz="1600" b="1" dirty="0">
                <a:latin typeface="Arial Narrow" panose="020B0606020202030204" pitchFamily="34" charset="0"/>
                <a:ea typeface="Times New Roman" panose="02020603050405020304" pitchFamily="18" charset="0"/>
              </a:rPr>
              <a:t>    </a:t>
            </a:r>
            <a:r>
              <a:rPr lang="es-PE" sz="1600" b="1" dirty="0" err="1">
                <a:latin typeface="Arial Narrow" panose="020B0606020202030204" pitchFamily="34" charset="0"/>
                <a:ea typeface="Times New Roman" panose="02020603050405020304" pitchFamily="18" charset="0"/>
              </a:rPr>
              <a:t>Zij</a:t>
            </a:r>
            <a:r>
              <a:rPr lang="es-PE" sz="1600" b="1" dirty="0">
                <a:latin typeface="Arial Narrow" panose="020B0606020202030204" pitchFamily="34" charset="0"/>
                <a:ea typeface="Times New Roman" panose="02020603050405020304" pitchFamily="18" charset="0"/>
              </a:rPr>
              <a:t>=Unidades a producir en horas extras del producto i en el mes j</a:t>
            </a:r>
          </a:p>
          <a:p>
            <a:pPr>
              <a:spcAft>
                <a:spcPts val="0"/>
              </a:spcAft>
            </a:pPr>
            <a:r>
              <a:rPr lang="es-PE" sz="1600" b="1" dirty="0">
                <a:solidFill>
                  <a:srgbClr val="FF0000"/>
                </a:solidFill>
                <a:latin typeface="Arial Narrow" panose="020B0606020202030204" pitchFamily="34" charset="0"/>
                <a:ea typeface="Times New Roman" panose="02020603050405020304" pitchFamily="18" charset="0"/>
              </a:rPr>
              <a:t>II  Identificación de la </a:t>
            </a:r>
            <a:r>
              <a:rPr lang="es-PE" sz="1600" b="1" dirty="0" err="1">
                <a:solidFill>
                  <a:srgbClr val="FF0000"/>
                </a:solidFill>
                <a:latin typeface="Arial Narrow" panose="020B0606020202030204" pitchFamily="34" charset="0"/>
                <a:ea typeface="Times New Roman" panose="02020603050405020304" pitchFamily="18" charset="0"/>
              </a:rPr>
              <a:t>F.O</a:t>
            </a:r>
            <a:r>
              <a:rPr lang="es-PE" sz="1600" b="1" dirty="0">
                <a:solidFill>
                  <a:srgbClr val="FF0000"/>
                </a:solidFill>
                <a:latin typeface="Arial Narrow" panose="020B0606020202030204" pitchFamily="34" charset="0"/>
                <a:ea typeface="Times New Roman" panose="02020603050405020304" pitchFamily="18" charset="0"/>
              </a:rPr>
              <a:t>.</a:t>
            </a:r>
          </a:p>
          <a:p>
            <a:r>
              <a:rPr lang="es-PE" sz="1600" b="1" dirty="0">
                <a:latin typeface="Arial Narrow" panose="020B0606020202030204" pitchFamily="34" charset="0"/>
                <a:ea typeface="Times New Roman" panose="02020603050405020304" pitchFamily="18" charset="0"/>
              </a:rPr>
              <a:t>     MIN   </a:t>
            </a:r>
            <a:r>
              <a:rPr lang="es-PE" sz="1600" b="1" dirty="0" err="1"/>
              <a:t>8X11+7X12+7.6X13+10X21+8.5X22+9.4X23+11Y11</a:t>
            </a:r>
            <a:r>
              <a:rPr lang="es-PE" sz="1600" b="1" dirty="0"/>
              <a:t>+</a:t>
            </a:r>
          </a:p>
          <a:p>
            <a:r>
              <a:rPr lang="es-PE" sz="1600" b="1" dirty="0"/>
              <a:t>               </a:t>
            </a:r>
            <a:r>
              <a:rPr lang="es-PE" sz="1600" b="1" dirty="0" err="1"/>
              <a:t>10Y12+13Y21+11.5Y22</a:t>
            </a:r>
            <a:r>
              <a:rPr lang="es-PE" sz="1600" b="1" dirty="0"/>
              <a:t>+ </a:t>
            </a:r>
            <a:r>
              <a:rPr lang="es-PE" sz="1600" b="1" dirty="0" err="1"/>
              <a:t>12Z11+11Z12+11.6Z13+14Z21</a:t>
            </a:r>
            <a:r>
              <a:rPr lang="es-PE" sz="1600" b="1" dirty="0"/>
              <a:t>+</a:t>
            </a:r>
          </a:p>
          <a:p>
            <a:r>
              <a:rPr lang="es-PE" sz="1600" b="1" dirty="0"/>
              <a:t>               </a:t>
            </a:r>
            <a:r>
              <a:rPr lang="es-PE" sz="1600" b="1" dirty="0" err="1"/>
              <a:t>12.5Z22+13.4Z23</a:t>
            </a:r>
            <a:endParaRPr lang="es-PE" sz="1600" b="1" dirty="0"/>
          </a:p>
          <a:p>
            <a:pPr>
              <a:spcAft>
                <a:spcPts val="0"/>
              </a:spcAft>
            </a:pPr>
            <a:r>
              <a:rPr lang="es-PE" sz="1600" b="1" dirty="0">
                <a:solidFill>
                  <a:srgbClr val="FF0000"/>
                </a:solidFill>
                <a:latin typeface="Arial Narrow" panose="020B0606020202030204" pitchFamily="34" charset="0"/>
                <a:ea typeface="Times New Roman" panose="02020603050405020304" pitchFamily="18" charset="0"/>
              </a:rPr>
              <a:t>III  Identificación de las restricciones</a:t>
            </a:r>
            <a:endParaRPr lang="es-PE" sz="1600" b="1" dirty="0">
              <a:latin typeface="Arial Narrow" panose="020B0606020202030204" pitchFamily="34" charset="0"/>
              <a:ea typeface="Times New Roman" panose="02020603050405020304" pitchFamily="18" charset="0"/>
            </a:endParaRPr>
          </a:p>
          <a:p>
            <a:r>
              <a:rPr lang="es-PE" sz="1600" b="1" dirty="0" err="1"/>
              <a:t>X11+Z11-Y11</a:t>
            </a:r>
            <a:r>
              <a:rPr lang="es-PE" sz="1600" b="1" dirty="0"/>
              <a:t>=9</a:t>
            </a:r>
          </a:p>
          <a:p>
            <a:r>
              <a:rPr lang="es-PE" sz="1600" b="1" dirty="0" err="1"/>
              <a:t>X12+Y11+Z12-Y12</a:t>
            </a:r>
            <a:r>
              <a:rPr lang="es-PE" sz="1600" b="1" dirty="0"/>
              <a:t>=12</a:t>
            </a:r>
          </a:p>
          <a:p>
            <a:r>
              <a:rPr lang="es-PE" sz="1600" b="1" dirty="0" err="1"/>
              <a:t>X13+Y12+Z13</a:t>
            </a:r>
            <a:r>
              <a:rPr lang="es-PE" sz="1600" b="1" dirty="0"/>
              <a:t>=14</a:t>
            </a:r>
          </a:p>
          <a:p>
            <a:r>
              <a:rPr lang="es-PE" sz="1600" b="1" dirty="0" err="1"/>
              <a:t>X21+Z21-Y21</a:t>
            </a:r>
            <a:r>
              <a:rPr lang="es-PE" sz="1600" b="1" dirty="0"/>
              <a:t>=13</a:t>
            </a:r>
          </a:p>
          <a:p>
            <a:r>
              <a:rPr lang="es-PE" sz="1600" b="1" dirty="0" err="1"/>
              <a:t>X22+Y21+Z22-Y22</a:t>
            </a:r>
            <a:r>
              <a:rPr lang="es-PE" sz="1600" b="1" dirty="0"/>
              <a:t>=14</a:t>
            </a:r>
          </a:p>
          <a:p>
            <a:r>
              <a:rPr lang="es-PE" sz="1600" b="1" dirty="0" err="1"/>
              <a:t>X23+Y22+Z23</a:t>
            </a:r>
            <a:r>
              <a:rPr lang="es-PE" sz="1600" b="1" dirty="0"/>
              <a:t>=13</a:t>
            </a:r>
          </a:p>
          <a:p>
            <a:r>
              <a:rPr lang="es-PE" sz="1600" b="1" dirty="0" err="1"/>
              <a:t>X11+X21</a:t>
            </a:r>
            <a:r>
              <a:rPr lang="es-PE" sz="1600" b="1" dirty="0"/>
              <a:t>&lt;=25</a:t>
            </a:r>
          </a:p>
          <a:p>
            <a:r>
              <a:rPr lang="es-PE" sz="1600" b="1" dirty="0" err="1"/>
              <a:t>X12+X22</a:t>
            </a:r>
            <a:r>
              <a:rPr lang="es-PE" sz="1600" b="1" dirty="0"/>
              <a:t>&lt;=25</a:t>
            </a:r>
          </a:p>
          <a:p>
            <a:r>
              <a:rPr lang="es-PE" sz="1600" b="1" dirty="0" err="1"/>
              <a:t>X13+X23</a:t>
            </a:r>
            <a:r>
              <a:rPr lang="es-PE" sz="1600" b="1" dirty="0"/>
              <a:t>&lt;=25</a:t>
            </a:r>
          </a:p>
          <a:p>
            <a:r>
              <a:rPr lang="es-PE" sz="1600" b="1" dirty="0" err="1">
                <a:solidFill>
                  <a:srgbClr val="7030A0"/>
                </a:solidFill>
              </a:rPr>
              <a:t>2X11+2Y11+2Z11+3X21+3Y21+3Z21</a:t>
            </a:r>
            <a:r>
              <a:rPr lang="es-PE" sz="1600" b="1" dirty="0">
                <a:solidFill>
                  <a:srgbClr val="7030A0"/>
                </a:solidFill>
              </a:rPr>
              <a:t>&lt;=90</a:t>
            </a:r>
          </a:p>
          <a:p>
            <a:r>
              <a:rPr lang="es-PE" sz="1600" b="1" dirty="0" err="1">
                <a:solidFill>
                  <a:srgbClr val="7030A0"/>
                </a:solidFill>
              </a:rPr>
              <a:t>2X12+2Y12+2Z12+3X22+3Y22+3Z22</a:t>
            </a:r>
            <a:r>
              <a:rPr lang="es-PE" sz="1600" b="1" dirty="0">
                <a:solidFill>
                  <a:srgbClr val="7030A0"/>
                </a:solidFill>
              </a:rPr>
              <a:t>&lt;=60</a:t>
            </a:r>
          </a:p>
          <a:p>
            <a:r>
              <a:rPr lang="es-PE" sz="1600" b="1" dirty="0" err="1">
                <a:solidFill>
                  <a:srgbClr val="7030A0"/>
                </a:solidFill>
              </a:rPr>
              <a:t>2X13+2Z13+3X23+3Z23</a:t>
            </a:r>
            <a:r>
              <a:rPr lang="es-PE" sz="1600" b="1" dirty="0">
                <a:solidFill>
                  <a:srgbClr val="7030A0"/>
                </a:solidFill>
              </a:rPr>
              <a:t>&lt;=80</a:t>
            </a:r>
          </a:p>
          <a:p>
            <a:r>
              <a:rPr lang="es-PE" sz="1600" b="1" dirty="0">
                <a:latin typeface="Arial Narrow" panose="020B0606020202030204" pitchFamily="34" charset="0"/>
                <a:ea typeface="Times New Roman" panose="02020603050405020304" pitchFamily="18" charset="0"/>
              </a:rPr>
              <a:t>Xi &gt;=0, entero</a:t>
            </a:r>
            <a:endParaRPr lang="es-PE" sz="1600" b="1" dirty="0">
              <a:effectLst/>
              <a:latin typeface="Arial Narrow" panose="020B0606020202030204" pitchFamily="34" charset="0"/>
              <a:ea typeface="Times New Roman" panose="02020603050405020304" pitchFamily="18" charset="0"/>
            </a:endParaRPr>
          </a:p>
        </p:txBody>
      </p:sp>
      <p:graphicFrame>
        <p:nvGraphicFramePr>
          <p:cNvPr id="3" name="Tabla 3">
            <a:extLst>
              <a:ext uri="{FF2B5EF4-FFF2-40B4-BE49-F238E27FC236}">
                <a16:creationId xmlns:a16="http://schemas.microsoft.com/office/drawing/2014/main" id="{5AB65458-CC71-4423-824C-51F202FCE0A9}"/>
              </a:ext>
            </a:extLst>
          </p:cNvPr>
          <p:cNvGraphicFramePr>
            <a:graphicFrameLocks noGrp="1"/>
          </p:cNvGraphicFramePr>
          <p:nvPr>
            <p:extLst>
              <p:ext uri="{D42A27DB-BD31-4B8C-83A1-F6EECF244321}">
                <p14:modId xmlns:p14="http://schemas.microsoft.com/office/powerpoint/2010/main" val="3565508155"/>
              </p:ext>
            </p:extLst>
          </p:nvPr>
        </p:nvGraphicFramePr>
        <p:xfrm>
          <a:off x="8729933" y="3614467"/>
          <a:ext cx="3364301" cy="1463040"/>
        </p:xfrm>
        <a:graphic>
          <a:graphicData uri="http://schemas.openxmlformats.org/drawingml/2006/table">
            <a:tbl>
              <a:tblPr firstRow="1" bandRow="1">
                <a:tableStyleId>{5C22544A-7EE6-4342-B048-85BDC9FD1C3A}</a:tableStyleId>
              </a:tblPr>
              <a:tblGrid>
                <a:gridCol w="1874294">
                  <a:extLst>
                    <a:ext uri="{9D8B030D-6E8A-4147-A177-3AD203B41FA5}">
                      <a16:colId xmlns:a16="http://schemas.microsoft.com/office/drawing/2014/main" val="706487267"/>
                    </a:ext>
                  </a:extLst>
                </a:gridCol>
                <a:gridCol w="463463">
                  <a:extLst>
                    <a:ext uri="{9D8B030D-6E8A-4147-A177-3AD203B41FA5}">
                      <a16:colId xmlns:a16="http://schemas.microsoft.com/office/drawing/2014/main" val="2158731222"/>
                    </a:ext>
                  </a:extLst>
                </a:gridCol>
                <a:gridCol w="483080">
                  <a:extLst>
                    <a:ext uri="{9D8B030D-6E8A-4147-A177-3AD203B41FA5}">
                      <a16:colId xmlns:a16="http://schemas.microsoft.com/office/drawing/2014/main" val="447053765"/>
                    </a:ext>
                  </a:extLst>
                </a:gridCol>
                <a:gridCol w="543464">
                  <a:extLst>
                    <a:ext uri="{9D8B030D-6E8A-4147-A177-3AD203B41FA5}">
                      <a16:colId xmlns:a16="http://schemas.microsoft.com/office/drawing/2014/main" val="1868086051"/>
                    </a:ext>
                  </a:extLst>
                </a:gridCol>
              </a:tblGrid>
              <a:tr h="291142">
                <a:tc>
                  <a:txBody>
                    <a:bodyPr/>
                    <a:lstStyle/>
                    <a:p>
                      <a:endParaRPr lang="es-PE"/>
                    </a:p>
                  </a:txBody>
                  <a:tcPr/>
                </a:tc>
                <a:tc>
                  <a:txBody>
                    <a:bodyPr/>
                    <a:lstStyle/>
                    <a:p>
                      <a:r>
                        <a:rPr lang="es-ES" dirty="0"/>
                        <a:t>1</a:t>
                      </a:r>
                      <a:endParaRPr lang="es-PE" dirty="0"/>
                    </a:p>
                  </a:txBody>
                  <a:tcPr/>
                </a:tc>
                <a:tc>
                  <a:txBody>
                    <a:bodyPr/>
                    <a:lstStyle/>
                    <a:p>
                      <a:r>
                        <a:rPr lang="es-ES" dirty="0"/>
                        <a:t>2</a:t>
                      </a:r>
                      <a:endParaRPr lang="es-PE" dirty="0"/>
                    </a:p>
                  </a:txBody>
                  <a:tcPr/>
                </a:tc>
                <a:tc>
                  <a:txBody>
                    <a:bodyPr/>
                    <a:lstStyle/>
                    <a:p>
                      <a:r>
                        <a:rPr lang="es-ES" dirty="0"/>
                        <a:t>3</a:t>
                      </a:r>
                      <a:endParaRPr lang="es-PE" dirty="0"/>
                    </a:p>
                  </a:txBody>
                  <a:tcPr/>
                </a:tc>
                <a:extLst>
                  <a:ext uri="{0D108BD9-81ED-4DB2-BD59-A6C34878D82A}">
                    <a16:rowId xmlns:a16="http://schemas.microsoft.com/office/drawing/2014/main" val="1301191941"/>
                  </a:ext>
                </a:extLst>
              </a:tr>
              <a:tr h="291142">
                <a:tc>
                  <a:txBody>
                    <a:bodyPr/>
                    <a:lstStyle/>
                    <a:p>
                      <a:r>
                        <a:rPr lang="es-ES" dirty="0"/>
                        <a:t>CONFECCIÓN</a:t>
                      </a:r>
                      <a:endParaRPr lang="es-PE" dirty="0"/>
                    </a:p>
                  </a:txBody>
                  <a:tcPr/>
                </a:tc>
                <a:tc>
                  <a:txBody>
                    <a:bodyPr/>
                    <a:lstStyle/>
                    <a:p>
                      <a:r>
                        <a:rPr lang="es-ES" dirty="0"/>
                        <a:t>4</a:t>
                      </a:r>
                      <a:endParaRPr lang="es-PE" dirty="0"/>
                    </a:p>
                  </a:txBody>
                  <a:tcPr/>
                </a:tc>
                <a:tc>
                  <a:txBody>
                    <a:bodyPr/>
                    <a:lstStyle/>
                    <a:p>
                      <a:r>
                        <a:rPr lang="es-ES" dirty="0"/>
                        <a:t>4</a:t>
                      </a:r>
                      <a:endParaRPr lang="es-PE" dirty="0"/>
                    </a:p>
                  </a:txBody>
                  <a:tcPr/>
                </a:tc>
                <a:tc>
                  <a:txBody>
                    <a:bodyPr/>
                    <a:lstStyle/>
                    <a:p>
                      <a:r>
                        <a:rPr lang="es-ES" dirty="0"/>
                        <a:t>4</a:t>
                      </a:r>
                      <a:endParaRPr lang="es-PE" dirty="0"/>
                    </a:p>
                  </a:txBody>
                  <a:tcPr/>
                </a:tc>
                <a:extLst>
                  <a:ext uri="{0D108BD9-81ED-4DB2-BD59-A6C34878D82A}">
                    <a16:rowId xmlns:a16="http://schemas.microsoft.com/office/drawing/2014/main" val="2991913209"/>
                  </a:ext>
                </a:extLst>
              </a:tr>
              <a:tr h="291142">
                <a:tc>
                  <a:txBody>
                    <a:bodyPr/>
                    <a:lstStyle/>
                    <a:p>
                      <a:r>
                        <a:rPr lang="es-ES" dirty="0"/>
                        <a:t>TELA CAMISA</a:t>
                      </a:r>
                      <a:endParaRPr lang="es-PE" dirty="0"/>
                    </a:p>
                  </a:txBody>
                  <a:tcPr/>
                </a:tc>
                <a:tc>
                  <a:txBody>
                    <a:bodyPr/>
                    <a:lstStyle/>
                    <a:p>
                      <a:r>
                        <a:rPr lang="es-ES" dirty="0"/>
                        <a:t>4</a:t>
                      </a:r>
                      <a:endParaRPr lang="es-PE" dirty="0"/>
                    </a:p>
                  </a:txBody>
                  <a:tcPr/>
                </a:tc>
                <a:tc>
                  <a:txBody>
                    <a:bodyPr/>
                    <a:lstStyle/>
                    <a:p>
                      <a:r>
                        <a:rPr lang="es-ES" dirty="0"/>
                        <a:t>3</a:t>
                      </a:r>
                      <a:endParaRPr lang="es-PE" dirty="0"/>
                    </a:p>
                  </a:txBody>
                  <a:tcPr/>
                </a:tc>
                <a:tc>
                  <a:txBody>
                    <a:bodyPr/>
                    <a:lstStyle/>
                    <a:p>
                      <a:r>
                        <a:rPr lang="es-ES" dirty="0"/>
                        <a:t>3.6</a:t>
                      </a:r>
                      <a:endParaRPr lang="es-PE" dirty="0"/>
                    </a:p>
                  </a:txBody>
                  <a:tcPr/>
                </a:tc>
                <a:extLst>
                  <a:ext uri="{0D108BD9-81ED-4DB2-BD59-A6C34878D82A}">
                    <a16:rowId xmlns:a16="http://schemas.microsoft.com/office/drawing/2014/main" val="1933559799"/>
                  </a:ext>
                </a:extLst>
              </a:tr>
              <a:tr h="291142">
                <a:tc>
                  <a:txBody>
                    <a:bodyPr/>
                    <a:lstStyle/>
                    <a:p>
                      <a:r>
                        <a:rPr lang="es-ES" dirty="0"/>
                        <a:t>TELA PANTALÓN</a:t>
                      </a:r>
                      <a:endParaRPr lang="es-PE" dirty="0"/>
                    </a:p>
                  </a:txBody>
                  <a:tcPr/>
                </a:tc>
                <a:tc>
                  <a:txBody>
                    <a:bodyPr/>
                    <a:lstStyle/>
                    <a:p>
                      <a:r>
                        <a:rPr lang="es-ES" dirty="0"/>
                        <a:t>6</a:t>
                      </a:r>
                      <a:endParaRPr lang="es-PE" dirty="0"/>
                    </a:p>
                  </a:txBody>
                  <a:tcPr/>
                </a:tc>
                <a:tc>
                  <a:txBody>
                    <a:bodyPr/>
                    <a:lstStyle/>
                    <a:p>
                      <a:r>
                        <a:rPr lang="es-ES" dirty="0"/>
                        <a:t>4.5</a:t>
                      </a:r>
                      <a:endParaRPr lang="es-PE" dirty="0"/>
                    </a:p>
                  </a:txBody>
                  <a:tcPr/>
                </a:tc>
                <a:tc>
                  <a:txBody>
                    <a:bodyPr/>
                    <a:lstStyle/>
                    <a:p>
                      <a:r>
                        <a:rPr lang="es-ES" dirty="0"/>
                        <a:t>5.4</a:t>
                      </a:r>
                      <a:endParaRPr lang="es-PE" dirty="0"/>
                    </a:p>
                  </a:txBody>
                  <a:tcPr/>
                </a:tc>
                <a:extLst>
                  <a:ext uri="{0D108BD9-81ED-4DB2-BD59-A6C34878D82A}">
                    <a16:rowId xmlns:a16="http://schemas.microsoft.com/office/drawing/2014/main" val="436069207"/>
                  </a:ext>
                </a:extLst>
              </a:tr>
            </a:tbl>
          </a:graphicData>
        </a:graphic>
      </p:graphicFrame>
      <p:sp>
        <p:nvSpPr>
          <p:cNvPr id="10" name="Rectangle 2">
            <a:extLst>
              <a:ext uri="{FF2B5EF4-FFF2-40B4-BE49-F238E27FC236}">
                <a16:creationId xmlns:a16="http://schemas.microsoft.com/office/drawing/2014/main" id="{AAF7DA43-8318-4CB0-958D-CAFC092E9234}"/>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16</a:t>
            </a:r>
          </a:p>
        </p:txBody>
      </p:sp>
      <p:sp>
        <p:nvSpPr>
          <p:cNvPr id="11" name="CuadroTexto 10">
            <a:extLst>
              <a:ext uri="{FF2B5EF4-FFF2-40B4-BE49-F238E27FC236}">
                <a16:creationId xmlns:a16="http://schemas.microsoft.com/office/drawing/2014/main" id="{2B99E9EE-0FC5-45BE-A9EB-C3CB94D4C78D}"/>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2268230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5A44867-7D0C-4DE3-8B03-2869DD910CA2}"/>
              </a:ext>
            </a:extLst>
          </p:cNvPr>
          <p:cNvSpPr/>
          <p:nvPr/>
        </p:nvSpPr>
        <p:spPr>
          <a:xfrm>
            <a:off x="209909" y="1477394"/>
            <a:ext cx="5569789" cy="4524315"/>
          </a:xfrm>
          <a:prstGeom prst="rect">
            <a:avLst/>
          </a:prstGeom>
          <a:solidFill>
            <a:srgbClr val="FFFF00"/>
          </a:solidFill>
        </p:spPr>
        <p:txBody>
          <a:bodyPr wrap="square">
            <a:spAutoFit/>
          </a:bodyPr>
          <a:lstStyle/>
          <a:p>
            <a:r>
              <a:rPr lang="es-PE" dirty="0"/>
              <a:t>MIN   </a:t>
            </a:r>
            <a:r>
              <a:rPr lang="es-PE" dirty="0" err="1"/>
              <a:t>8X11+7X12+7.6X13+10X21+8.5X22+9.4X23</a:t>
            </a:r>
            <a:r>
              <a:rPr lang="es-PE" dirty="0"/>
              <a:t>+</a:t>
            </a:r>
          </a:p>
          <a:p>
            <a:r>
              <a:rPr lang="es-PE" dirty="0"/>
              <a:t>              </a:t>
            </a:r>
            <a:r>
              <a:rPr lang="es-PE" dirty="0" err="1"/>
              <a:t>11Y11+10Y12+13Y21+11.5Y22</a:t>
            </a:r>
            <a:r>
              <a:rPr lang="es-PE" dirty="0"/>
              <a:t>+</a:t>
            </a:r>
          </a:p>
          <a:p>
            <a:r>
              <a:rPr lang="es-PE" dirty="0" err="1"/>
              <a:t>12Z11+11Z12+11.6Z13+14Z21+12.5Z22+13.4Z23</a:t>
            </a:r>
            <a:endParaRPr lang="es-PE" dirty="0"/>
          </a:p>
          <a:p>
            <a:r>
              <a:rPr lang="es-PE" dirty="0" err="1"/>
              <a:t>ST</a:t>
            </a:r>
            <a:endParaRPr lang="es-PE" dirty="0"/>
          </a:p>
          <a:p>
            <a:r>
              <a:rPr lang="es-PE" dirty="0" err="1"/>
              <a:t>X11+Z11-Y11</a:t>
            </a:r>
            <a:r>
              <a:rPr lang="es-PE" dirty="0"/>
              <a:t>=9</a:t>
            </a:r>
          </a:p>
          <a:p>
            <a:r>
              <a:rPr lang="es-PE" dirty="0" err="1"/>
              <a:t>X12+Y11+Z12-Y12</a:t>
            </a:r>
            <a:r>
              <a:rPr lang="es-PE" dirty="0"/>
              <a:t>=12</a:t>
            </a:r>
          </a:p>
          <a:p>
            <a:r>
              <a:rPr lang="es-PE" dirty="0" err="1"/>
              <a:t>X13+Y12+Z13</a:t>
            </a:r>
            <a:r>
              <a:rPr lang="es-PE" dirty="0"/>
              <a:t>=14</a:t>
            </a:r>
          </a:p>
          <a:p>
            <a:r>
              <a:rPr lang="es-PE" dirty="0" err="1"/>
              <a:t>X21+Z21-Y21</a:t>
            </a:r>
            <a:r>
              <a:rPr lang="es-PE" dirty="0"/>
              <a:t>=13</a:t>
            </a:r>
          </a:p>
          <a:p>
            <a:r>
              <a:rPr lang="es-PE" dirty="0" err="1"/>
              <a:t>X22+Y21+Z22-Y22</a:t>
            </a:r>
            <a:r>
              <a:rPr lang="es-PE" dirty="0"/>
              <a:t>=14</a:t>
            </a:r>
          </a:p>
          <a:p>
            <a:r>
              <a:rPr lang="es-PE" dirty="0" err="1"/>
              <a:t>X23+Y22+Z23</a:t>
            </a:r>
            <a:r>
              <a:rPr lang="es-PE" dirty="0"/>
              <a:t>=13</a:t>
            </a:r>
          </a:p>
          <a:p>
            <a:r>
              <a:rPr lang="es-PE" dirty="0" err="1"/>
              <a:t>X11+X21</a:t>
            </a:r>
            <a:r>
              <a:rPr lang="es-PE" dirty="0"/>
              <a:t>&lt;=25</a:t>
            </a:r>
          </a:p>
          <a:p>
            <a:r>
              <a:rPr lang="es-PE" dirty="0" err="1"/>
              <a:t>X12+X22</a:t>
            </a:r>
            <a:r>
              <a:rPr lang="es-PE" dirty="0"/>
              <a:t>&lt;=25</a:t>
            </a:r>
          </a:p>
          <a:p>
            <a:r>
              <a:rPr lang="es-PE" dirty="0" err="1"/>
              <a:t>X13+X23</a:t>
            </a:r>
            <a:r>
              <a:rPr lang="es-PE" dirty="0"/>
              <a:t>&lt;=25</a:t>
            </a:r>
          </a:p>
          <a:p>
            <a:r>
              <a:rPr lang="es-PE" b="1" dirty="0" err="1">
                <a:solidFill>
                  <a:srgbClr val="7030A0"/>
                </a:solidFill>
              </a:rPr>
              <a:t>2X11+2Y11+2Z11+3X21+3Y21+3Z21</a:t>
            </a:r>
            <a:r>
              <a:rPr lang="es-PE" b="1" dirty="0">
                <a:solidFill>
                  <a:srgbClr val="7030A0"/>
                </a:solidFill>
              </a:rPr>
              <a:t>&lt;=90</a:t>
            </a:r>
          </a:p>
          <a:p>
            <a:r>
              <a:rPr lang="es-PE" b="1" dirty="0" err="1">
                <a:solidFill>
                  <a:srgbClr val="7030A0"/>
                </a:solidFill>
              </a:rPr>
              <a:t>2X12+2Y12+2Z12+3X22+3Y22+3Z22</a:t>
            </a:r>
            <a:r>
              <a:rPr lang="es-PE" b="1" dirty="0">
                <a:solidFill>
                  <a:srgbClr val="7030A0"/>
                </a:solidFill>
              </a:rPr>
              <a:t>&lt;=60</a:t>
            </a:r>
          </a:p>
          <a:p>
            <a:r>
              <a:rPr lang="es-PE" b="1" dirty="0" err="1">
                <a:solidFill>
                  <a:srgbClr val="7030A0"/>
                </a:solidFill>
              </a:rPr>
              <a:t>2X13+2Z13+3X23+3Z23</a:t>
            </a:r>
            <a:r>
              <a:rPr lang="es-PE" b="1" dirty="0">
                <a:solidFill>
                  <a:srgbClr val="7030A0"/>
                </a:solidFill>
              </a:rPr>
              <a:t>&lt;=80</a:t>
            </a:r>
          </a:p>
        </p:txBody>
      </p:sp>
      <p:sp>
        <p:nvSpPr>
          <p:cNvPr id="4" name="Rectangle 2">
            <a:extLst>
              <a:ext uri="{FF2B5EF4-FFF2-40B4-BE49-F238E27FC236}">
                <a16:creationId xmlns:a16="http://schemas.microsoft.com/office/drawing/2014/main" id="{993AC444-E317-4D70-9F99-37C568F93B7D}"/>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16</a:t>
            </a:r>
          </a:p>
        </p:txBody>
      </p:sp>
      <p:sp>
        <p:nvSpPr>
          <p:cNvPr id="5" name="Rectángulo 4">
            <a:extLst>
              <a:ext uri="{FF2B5EF4-FFF2-40B4-BE49-F238E27FC236}">
                <a16:creationId xmlns:a16="http://schemas.microsoft.com/office/drawing/2014/main" id="{1D580EEB-9C50-4D4F-9430-4CB318618006}"/>
              </a:ext>
            </a:extLst>
          </p:cNvPr>
          <p:cNvSpPr/>
          <p:nvPr/>
        </p:nvSpPr>
        <p:spPr>
          <a:xfrm>
            <a:off x="6714227" y="1397372"/>
            <a:ext cx="4183811" cy="5355312"/>
          </a:xfrm>
          <a:prstGeom prst="rect">
            <a:avLst/>
          </a:prstGeom>
        </p:spPr>
        <p:txBody>
          <a:bodyPr wrap="square">
            <a:spAutoFit/>
          </a:bodyPr>
          <a:lstStyle/>
          <a:p>
            <a:r>
              <a:rPr lang="es-PE" dirty="0"/>
              <a:t> </a:t>
            </a:r>
            <a:r>
              <a:rPr lang="es-PE" dirty="0" err="1"/>
              <a:t>OBJECTIVE</a:t>
            </a:r>
            <a:r>
              <a:rPr lang="es-PE" dirty="0"/>
              <a:t> </a:t>
            </a:r>
            <a:r>
              <a:rPr lang="es-PE" dirty="0" err="1"/>
              <a:t>FUNCTION</a:t>
            </a:r>
            <a:r>
              <a:rPr lang="es-PE" dirty="0"/>
              <a:t> </a:t>
            </a:r>
            <a:r>
              <a:rPr lang="es-PE" dirty="0" err="1"/>
              <a:t>VALUE</a:t>
            </a:r>
            <a:endParaRPr lang="es-PE" dirty="0"/>
          </a:p>
          <a:p>
            <a:r>
              <a:rPr lang="es-PE" dirty="0"/>
              <a:t>        1)      670.6000</a:t>
            </a:r>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a:t>
            </a:r>
            <a:r>
              <a:rPr lang="es-PE" dirty="0" err="1"/>
              <a:t>X11</a:t>
            </a:r>
            <a:r>
              <a:rPr lang="es-PE" dirty="0"/>
              <a:t>         9.000000          0.000000</a:t>
            </a:r>
          </a:p>
          <a:p>
            <a:r>
              <a:rPr lang="es-PE" dirty="0"/>
              <a:t>       </a:t>
            </a:r>
            <a:r>
              <a:rPr lang="es-PE" dirty="0" err="1"/>
              <a:t>X12</a:t>
            </a:r>
            <a:r>
              <a:rPr lang="es-PE" dirty="0"/>
              <a:t>        12.000000          0.000000</a:t>
            </a:r>
          </a:p>
          <a:p>
            <a:r>
              <a:rPr lang="es-PE" dirty="0"/>
              <a:t>       </a:t>
            </a:r>
            <a:r>
              <a:rPr lang="es-PE" dirty="0" err="1"/>
              <a:t>X13</a:t>
            </a:r>
            <a:r>
              <a:rPr lang="es-PE" dirty="0"/>
              <a:t>        14.000000          0.000000</a:t>
            </a:r>
          </a:p>
          <a:p>
            <a:r>
              <a:rPr lang="es-PE" dirty="0"/>
              <a:t>       </a:t>
            </a:r>
            <a:r>
              <a:rPr lang="es-PE" dirty="0" err="1"/>
              <a:t>X21</a:t>
            </a:r>
            <a:r>
              <a:rPr lang="es-PE" dirty="0"/>
              <a:t>        15.000000          0.000000</a:t>
            </a:r>
          </a:p>
          <a:p>
            <a:r>
              <a:rPr lang="es-PE" dirty="0"/>
              <a:t>       </a:t>
            </a:r>
            <a:r>
              <a:rPr lang="es-PE" dirty="0" err="1"/>
              <a:t>X22</a:t>
            </a:r>
            <a:r>
              <a:rPr lang="es-PE" dirty="0"/>
              <a:t>        12.000000          0.000000</a:t>
            </a:r>
          </a:p>
          <a:p>
            <a:r>
              <a:rPr lang="es-PE" dirty="0"/>
              <a:t>       </a:t>
            </a:r>
            <a:r>
              <a:rPr lang="es-PE" dirty="0" err="1"/>
              <a:t>X23</a:t>
            </a:r>
            <a:r>
              <a:rPr lang="es-PE" dirty="0"/>
              <a:t>        11.000000          0.000000</a:t>
            </a:r>
          </a:p>
          <a:p>
            <a:r>
              <a:rPr lang="es-PE" dirty="0"/>
              <a:t>       </a:t>
            </a:r>
            <a:r>
              <a:rPr lang="es-PE" dirty="0" err="1"/>
              <a:t>Y11</a:t>
            </a:r>
            <a:r>
              <a:rPr lang="es-PE" dirty="0"/>
              <a:t>         0.000000          2.333333</a:t>
            </a:r>
          </a:p>
          <a:p>
            <a:r>
              <a:rPr lang="es-PE" dirty="0"/>
              <a:t>       </a:t>
            </a:r>
            <a:r>
              <a:rPr lang="es-PE" dirty="0" err="1"/>
              <a:t>Y12</a:t>
            </a:r>
            <a:r>
              <a:rPr lang="es-PE" dirty="0"/>
              <a:t>         0.000000         24.733334</a:t>
            </a:r>
          </a:p>
          <a:p>
            <a:r>
              <a:rPr lang="es-PE" dirty="0"/>
              <a:t>       </a:t>
            </a:r>
            <a:r>
              <a:rPr lang="es-PE" dirty="0" err="1"/>
              <a:t>Y21</a:t>
            </a:r>
            <a:r>
              <a:rPr lang="es-PE" dirty="0"/>
              <a:t>         2.000000          0.000000</a:t>
            </a:r>
          </a:p>
          <a:p>
            <a:r>
              <a:rPr lang="es-PE" dirty="0"/>
              <a:t>       </a:t>
            </a:r>
            <a:r>
              <a:rPr lang="es-PE" dirty="0" err="1"/>
              <a:t>Y22</a:t>
            </a:r>
            <a:r>
              <a:rPr lang="es-PE" dirty="0"/>
              <a:t>         0.000000         35.599998</a:t>
            </a:r>
          </a:p>
          <a:p>
            <a:r>
              <a:rPr lang="es-PE" dirty="0"/>
              <a:t>       </a:t>
            </a:r>
            <a:r>
              <a:rPr lang="es-PE" dirty="0" err="1"/>
              <a:t>Z11</a:t>
            </a:r>
            <a:r>
              <a:rPr lang="es-PE" dirty="0"/>
              <a:t>         0.000000          4.000000</a:t>
            </a:r>
          </a:p>
          <a:p>
            <a:r>
              <a:rPr lang="es-PE" dirty="0"/>
              <a:t>       </a:t>
            </a:r>
            <a:r>
              <a:rPr lang="es-PE" dirty="0" err="1"/>
              <a:t>Z12</a:t>
            </a:r>
            <a:r>
              <a:rPr lang="es-PE" dirty="0"/>
              <a:t>         0.000000          4.000000</a:t>
            </a:r>
          </a:p>
          <a:p>
            <a:r>
              <a:rPr lang="es-PE" dirty="0"/>
              <a:t>       </a:t>
            </a:r>
            <a:r>
              <a:rPr lang="es-PE" dirty="0" err="1"/>
              <a:t>Z13</a:t>
            </a:r>
            <a:r>
              <a:rPr lang="es-PE" dirty="0"/>
              <a:t>         0.000000          0.000000</a:t>
            </a:r>
          </a:p>
          <a:p>
            <a:r>
              <a:rPr lang="es-PE" dirty="0"/>
              <a:t>       </a:t>
            </a:r>
            <a:r>
              <a:rPr lang="es-PE" dirty="0" err="1"/>
              <a:t>Z21</a:t>
            </a:r>
            <a:r>
              <a:rPr lang="es-PE" dirty="0"/>
              <a:t>         0.000000          4.000000</a:t>
            </a:r>
          </a:p>
          <a:p>
            <a:r>
              <a:rPr lang="es-PE" dirty="0"/>
              <a:t>       </a:t>
            </a:r>
            <a:r>
              <a:rPr lang="es-PE" dirty="0" err="1"/>
              <a:t>Z22</a:t>
            </a:r>
            <a:r>
              <a:rPr lang="es-PE" dirty="0"/>
              <a:t>         0.000000          4.000000</a:t>
            </a:r>
          </a:p>
          <a:p>
            <a:r>
              <a:rPr lang="es-PE" dirty="0"/>
              <a:t>       </a:t>
            </a:r>
            <a:r>
              <a:rPr lang="es-PE" dirty="0" err="1"/>
              <a:t>Z23</a:t>
            </a:r>
            <a:r>
              <a:rPr lang="es-PE" dirty="0"/>
              <a:t>         2.000000          0.000000</a:t>
            </a:r>
          </a:p>
        </p:txBody>
      </p:sp>
      <p:sp>
        <p:nvSpPr>
          <p:cNvPr id="6" name="CuadroTexto 5">
            <a:extLst>
              <a:ext uri="{FF2B5EF4-FFF2-40B4-BE49-F238E27FC236}">
                <a16:creationId xmlns:a16="http://schemas.microsoft.com/office/drawing/2014/main" id="{5BC12225-58FA-49B8-A494-860BE600BFFA}"/>
              </a:ext>
            </a:extLst>
          </p:cNvPr>
          <p:cNvSpPr txBox="1"/>
          <p:nvPr/>
        </p:nvSpPr>
        <p:spPr>
          <a:xfrm>
            <a:off x="1380227" y="189781"/>
            <a:ext cx="3761117" cy="523220"/>
          </a:xfrm>
          <a:prstGeom prst="rect">
            <a:avLst/>
          </a:prstGeom>
          <a:noFill/>
        </p:spPr>
        <p:txBody>
          <a:bodyPr wrap="square" rtlCol="0">
            <a:spAutoFit/>
          </a:bodyPr>
          <a:lstStyle/>
          <a:p>
            <a:pPr algn="ctr"/>
            <a:r>
              <a:rPr lang="es-ES" sz="2800" dirty="0">
                <a:solidFill>
                  <a:schemeClr val="accent1">
                    <a:lumMod val="75000"/>
                  </a:schemeClr>
                </a:solidFill>
              </a:rPr>
              <a:t>Control de inventarios</a:t>
            </a:r>
            <a:endParaRPr lang="es-PE" sz="2800" dirty="0">
              <a:solidFill>
                <a:schemeClr val="accent1">
                  <a:lumMod val="75000"/>
                </a:schemeClr>
              </a:solidFill>
            </a:endParaRPr>
          </a:p>
        </p:txBody>
      </p:sp>
    </p:spTree>
    <p:extLst>
      <p:ext uri="{BB962C8B-B14F-4D97-AF65-F5344CB8AC3E}">
        <p14:creationId xmlns:p14="http://schemas.microsoft.com/office/powerpoint/2010/main" val="21128142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6096000" y="55077"/>
            <a:ext cx="6096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s-PE"/>
            </a:defPPr>
            <a:lvl1pPr algn="ctr" fontAlgn="base">
              <a:lnSpc>
                <a:spcPct val="90000"/>
              </a:lnSpc>
              <a:spcBef>
                <a:spcPct val="0"/>
              </a:spcBef>
              <a:spcAft>
                <a:spcPct val="0"/>
              </a:spcAft>
              <a:buNone/>
              <a:defRPr sz="3200">
                <a:solidFill>
                  <a:schemeClr val="bg1"/>
                </a:solidFill>
                <a:latin typeface="Bauhaus 93" pitchFamily="82" charset="0"/>
              </a:defRPr>
            </a:lvl1pPr>
          </a:lstStyle>
          <a:p>
            <a:r>
              <a:rPr lang="es-PE" dirty="0"/>
              <a:t>Tipos de modelos para programación lineal entera</a:t>
            </a:r>
          </a:p>
        </p:txBody>
      </p:sp>
      <p:sp>
        <p:nvSpPr>
          <p:cNvPr id="3" name="Elipse 2">
            <a:extLst>
              <a:ext uri="{FF2B5EF4-FFF2-40B4-BE49-F238E27FC236}">
                <a16:creationId xmlns:a16="http://schemas.microsoft.com/office/drawing/2014/main" id="{18B96455-485D-4DE5-8C79-5C7365043713}"/>
              </a:ext>
            </a:extLst>
          </p:cNvPr>
          <p:cNvSpPr/>
          <p:nvPr/>
        </p:nvSpPr>
        <p:spPr>
          <a:xfrm>
            <a:off x="2517885" y="5727939"/>
            <a:ext cx="1147313" cy="11300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dirty="0"/>
              <a:t>PEP    </a:t>
            </a:r>
            <a:endParaRPr lang="es-PE" sz="3200" dirty="0"/>
          </a:p>
        </p:txBody>
      </p:sp>
      <p:sp>
        <p:nvSpPr>
          <p:cNvPr id="7" name="Elipse 6">
            <a:extLst>
              <a:ext uri="{FF2B5EF4-FFF2-40B4-BE49-F238E27FC236}">
                <a16:creationId xmlns:a16="http://schemas.microsoft.com/office/drawing/2014/main" id="{9FF04316-0A23-4798-97F1-518969EB3A62}"/>
              </a:ext>
            </a:extLst>
          </p:cNvPr>
          <p:cNvSpPr/>
          <p:nvPr/>
        </p:nvSpPr>
        <p:spPr>
          <a:xfrm>
            <a:off x="8452798" y="5718963"/>
            <a:ext cx="1147313" cy="11300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dirty="0"/>
              <a:t>PLE</a:t>
            </a:r>
            <a:endParaRPr lang="es-PE" sz="3200" dirty="0"/>
          </a:p>
        </p:txBody>
      </p:sp>
      <p:graphicFrame>
        <p:nvGraphicFramePr>
          <p:cNvPr id="10" name="Diagrama 9">
            <a:extLst>
              <a:ext uri="{FF2B5EF4-FFF2-40B4-BE49-F238E27FC236}">
                <a16:creationId xmlns:a16="http://schemas.microsoft.com/office/drawing/2014/main" id="{EB93FE4E-4E0E-4F10-935D-BCD25D8B3932}"/>
              </a:ext>
            </a:extLst>
          </p:cNvPr>
          <p:cNvGraphicFramePr/>
          <p:nvPr>
            <p:extLst>
              <p:ext uri="{D42A27DB-BD31-4B8C-83A1-F6EECF244321}">
                <p14:modId xmlns:p14="http://schemas.microsoft.com/office/powerpoint/2010/main" val="296153092"/>
              </p:ext>
            </p:extLst>
          </p:nvPr>
        </p:nvGraphicFramePr>
        <p:xfrm>
          <a:off x="87086" y="1437740"/>
          <a:ext cx="5904411" cy="1610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Diagrama 8">
            <a:extLst>
              <a:ext uri="{FF2B5EF4-FFF2-40B4-BE49-F238E27FC236}">
                <a16:creationId xmlns:a16="http://schemas.microsoft.com/office/drawing/2014/main" id="{F87845DE-8B74-4FAF-8FCB-C100D12BF2C4}"/>
              </a:ext>
            </a:extLst>
          </p:cNvPr>
          <p:cNvGraphicFramePr/>
          <p:nvPr>
            <p:extLst>
              <p:ext uri="{D42A27DB-BD31-4B8C-83A1-F6EECF244321}">
                <p14:modId xmlns:p14="http://schemas.microsoft.com/office/powerpoint/2010/main" val="4197209520"/>
              </p:ext>
            </p:extLst>
          </p:nvPr>
        </p:nvGraphicFramePr>
        <p:xfrm>
          <a:off x="6200504" y="1437739"/>
          <a:ext cx="5869577" cy="157288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5" name="CuadroTexto 4">
            <a:extLst>
              <a:ext uri="{FF2B5EF4-FFF2-40B4-BE49-F238E27FC236}">
                <a16:creationId xmlns:a16="http://schemas.microsoft.com/office/drawing/2014/main" id="{ED2108A7-D09E-7D16-A8E4-E2E23B261D1A}"/>
              </a:ext>
            </a:extLst>
          </p:cNvPr>
          <p:cNvSpPr txBox="1"/>
          <p:nvPr/>
        </p:nvSpPr>
        <p:spPr>
          <a:xfrm>
            <a:off x="87085" y="3476556"/>
            <a:ext cx="5891363" cy="2246769"/>
          </a:xfrm>
          <a:prstGeom prst="rect">
            <a:avLst/>
          </a:prstGeom>
          <a:solidFill>
            <a:schemeClr val="accent3">
              <a:lumMod val="20000"/>
              <a:lumOff val="80000"/>
            </a:schemeClr>
          </a:solidFill>
        </p:spPr>
        <p:txBody>
          <a:bodyPr wrap="square">
            <a:spAutoFit/>
          </a:bodyPr>
          <a:lstStyle/>
          <a:p>
            <a:r>
              <a:rPr lang="es-PE" sz="2800" dirty="0"/>
              <a:t>Minimizar Z=</a:t>
            </a:r>
            <a:r>
              <a:rPr lang="es-PE" sz="2800" dirty="0" err="1"/>
              <a:t>6x1</a:t>
            </a:r>
            <a:r>
              <a:rPr lang="es-PE" sz="2800" dirty="0"/>
              <a:t>​+</a:t>
            </a:r>
            <a:r>
              <a:rPr lang="es-PE" sz="2800" dirty="0" err="1"/>
              <a:t>5x2</a:t>
            </a:r>
            <a:r>
              <a:rPr lang="es-PE" sz="2800" dirty="0"/>
              <a:t>​+</a:t>
            </a:r>
            <a:r>
              <a:rPr lang="es-PE" sz="2800" dirty="0" err="1"/>
              <a:t>4x3</a:t>
            </a:r>
            <a:r>
              <a:rPr lang="es-PE" sz="2800" dirty="0"/>
              <a:t>​</a:t>
            </a:r>
          </a:p>
          <a:p>
            <a:r>
              <a:rPr lang="es-PE" sz="2800" dirty="0"/>
              <a:t>Sujeto a:</a:t>
            </a:r>
          </a:p>
          <a:p>
            <a:r>
              <a:rPr lang="es-PE" sz="2800" dirty="0" err="1"/>
              <a:t>108x1+92x2+58x3≥576</a:t>
            </a:r>
            <a:endParaRPr lang="es-PE" sz="2800" dirty="0"/>
          </a:p>
          <a:p>
            <a:r>
              <a:rPr lang="es-PE" sz="2800" dirty="0"/>
              <a:t>     </a:t>
            </a:r>
            <a:r>
              <a:rPr lang="es-PE" sz="2800" dirty="0" err="1"/>
              <a:t>7x1+18x2+22x3≥83</a:t>
            </a:r>
            <a:endParaRPr lang="es-PE" sz="2800" dirty="0"/>
          </a:p>
          <a:p>
            <a:r>
              <a:rPr lang="es-PE" sz="2800" dirty="0"/>
              <a:t>                </a:t>
            </a:r>
            <a:r>
              <a:rPr lang="es-PE" sz="2800" dirty="0" err="1"/>
              <a:t>x1,x2,x3≥0</a:t>
            </a:r>
            <a:r>
              <a:rPr lang="es-PE" sz="2800" dirty="0"/>
              <a:t>, son enteros </a:t>
            </a:r>
          </a:p>
        </p:txBody>
      </p:sp>
      <p:sp>
        <p:nvSpPr>
          <p:cNvPr id="6" name="CuadroTexto 5">
            <a:extLst>
              <a:ext uri="{FF2B5EF4-FFF2-40B4-BE49-F238E27FC236}">
                <a16:creationId xmlns:a16="http://schemas.microsoft.com/office/drawing/2014/main" id="{EE18D284-4F2D-5FDA-6307-978E04E54D01}"/>
              </a:ext>
            </a:extLst>
          </p:cNvPr>
          <p:cNvSpPr txBox="1"/>
          <p:nvPr/>
        </p:nvSpPr>
        <p:spPr>
          <a:xfrm>
            <a:off x="6204884" y="3472194"/>
            <a:ext cx="5869577" cy="2246769"/>
          </a:xfrm>
          <a:prstGeom prst="rect">
            <a:avLst/>
          </a:prstGeom>
          <a:solidFill>
            <a:schemeClr val="accent3">
              <a:lumMod val="20000"/>
              <a:lumOff val="80000"/>
            </a:schemeClr>
          </a:solidFill>
        </p:spPr>
        <p:txBody>
          <a:bodyPr wrap="square">
            <a:spAutoFit/>
          </a:bodyPr>
          <a:lstStyle>
            <a:defPPr>
              <a:defRPr lang="es-PE"/>
            </a:defPPr>
            <a:lvl1pPr>
              <a:defRPr sz="2800"/>
            </a:lvl1pPr>
          </a:lstStyle>
          <a:p>
            <a:r>
              <a:rPr lang="es-PE" dirty="0"/>
              <a:t>Minimizar Z=</a:t>
            </a:r>
            <a:r>
              <a:rPr lang="es-PE" dirty="0" err="1"/>
              <a:t>6x1</a:t>
            </a:r>
            <a:r>
              <a:rPr lang="es-PE" dirty="0"/>
              <a:t>​+</a:t>
            </a:r>
            <a:r>
              <a:rPr lang="es-PE" dirty="0" err="1"/>
              <a:t>5x2</a:t>
            </a:r>
            <a:r>
              <a:rPr lang="es-PE" dirty="0"/>
              <a:t>​+</a:t>
            </a:r>
            <a:r>
              <a:rPr lang="es-PE" dirty="0" err="1"/>
              <a:t>4x3</a:t>
            </a:r>
            <a:r>
              <a:rPr lang="es-PE" dirty="0"/>
              <a:t>​</a:t>
            </a:r>
          </a:p>
          <a:p>
            <a:r>
              <a:rPr lang="es-PE" dirty="0"/>
              <a:t>Sujeto a:</a:t>
            </a:r>
          </a:p>
          <a:p>
            <a:r>
              <a:rPr lang="es-PE" dirty="0" err="1"/>
              <a:t>108x1+92x2+58x3≥576</a:t>
            </a:r>
            <a:endParaRPr lang="es-PE" dirty="0"/>
          </a:p>
          <a:p>
            <a:r>
              <a:rPr lang="es-PE" dirty="0"/>
              <a:t>     </a:t>
            </a:r>
            <a:r>
              <a:rPr lang="es-PE" dirty="0" err="1"/>
              <a:t>7x1+18x2+22x3≥83</a:t>
            </a:r>
            <a:endParaRPr lang="es-PE" dirty="0"/>
          </a:p>
          <a:p>
            <a:r>
              <a:rPr lang="es-PE" dirty="0"/>
              <a:t>                </a:t>
            </a:r>
            <a:r>
              <a:rPr lang="es-PE" dirty="0" err="1"/>
              <a:t>x1,x2,x3≥0</a:t>
            </a:r>
            <a:r>
              <a:rPr lang="es-PE" dirty="0"/>
              <a:t>,  </a:t>
            </a:r>
            <a:r>
              <a:rPr lang="es-PE" dirty="0" err="1"/>
              <a:t>x1,x2</a:t>
            </a:r>
            <a:r>
              <a:rPr lang="es-PE" dirty="0"/>
              <a:t> son enteros   </a:t>
            </a:r>
          </a:p>
        </p:txBody>
      </p:sp>
    </p:spTree>
    <p:extLst>
      <p:ext uri="{BB962C8B-B14F-4D97-AF65-F5344CB8AC3E}">
        <p14:creationId xmlns:p14="http://schemas.microsoft.com/office/powerpoint/2010/main" val="3476551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AsOne/>
      </p:bldGraphic>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6096000" y="55077"/>
            <a:ext cx="6096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s-PE"/>
            </a:defPPr>
            <a:lvl1pPr algn="ctr" fontAlgn="base">
              <a:lnSpc>
                <a:spcPct val="90000"/>
              </a:lnSpc>
              <a:spcBef>
                <a:spcPct val="0"/>
              </a:spcBef>
              <a:spcAft>
                <a:spcPct val="0"/>
              </a:spcAft>
              <a:buNone/>
              <a:defRPr sz="3200">
                <a:solidFill>
                  <a:schemeClr val="bg1"/>
                </a:solidFill>
                <a:latin typeface="Bauhaus 93" pitchFamily="82" charset="0"/>
              </a:defRPr>
            </a:lvl1pPr>
          </a:lstStyle>
          <a:p>
            <a:r>
              <a:rPr lang="es-PE" dirty="0"/>
              <a:t>Tipos de modelos para programación lineal entera</a:t>
            </a:r>
          </a:p>
        </p:txBody>
      </p:sp>
      <p:sp>
        <p:nvSpPr>
          <p:cNvPr id="7" name="CuadroTexto 6">
            <a:extLst>
              <a:ext uri="{FF2B5EF4-FFF2-40B4-BE49-F238E27FC236}">
                <a16:creationId xmlns:a16="http://schemas.microsoft.com/office/drawing/2014/main" id="{9FA414A6-AC5E-46E8-91E9-568C32EE964B}"/>
              </a:ext>
            </a:extLst>
          </p:cNvPr>
          <p:cNvSpPr txBox="1"/>
          <p:nvPr/>
        </p:nvSpPr>
        <p:spPr>
          <a:xfrm>
            <a:off x="787879" y="1258641"/>
            <a:ext cx="3861745" cy="3046988"/>
          </a:xfrm>
          <a:prstGeom prst="rect">
            <a:avLst/>
          </a:prstGeom>
          <a:solidFill>
            <a:schemeClr val="accent6">
              <a:lumMod val="20000"/>
              <a:lumOff val="80000"/>
            </a:schemeClr>
          </a:solidFill>
        </p:spPr>
        <p:txBody>
          <a:bodyPr wrap="square" rtlCol="0">
            <a:spAutoFit/>
          </a:bodyPr>
          <a:lstStyle/>
          <a:p>
            <a:r>
              <a:rPr lang="es-ES" sz="2400" dirty="0"/>
              <a:t>MIN </a:t>
            </a:r>
            <a:r>
              <a:rPr lang="es-ES" sz="2400" dirty="0" err="1"/>
              <a:t>6X1+5X2+4X3</a:t>
            </a:r>
            <a:endParaRPr lang="es-ES" sz="2400" dirty="0"/>
          </a:p>
          <a:p>
            <a:r>
              <a:rPr lang="es-ES" sz="2400" dirty="0" err="1"/>
              <a:t>ST</a:t>
            </a:r>
            <a:endParaRPr lang="es-ES" sz="2400" dirty="0"/>
          </a:p>
          <a:p>
            <a:r>
              <a:rPr lang="es-ES" sz="2400" dirty="0" err="1"/>
              <a:t>108X1+92X2+58X3</a:t>
            </a:r>
            <a:r>
              <a:rPr lang="es-ES" sz="2400" dirty="0"/>
              <a:t>&gt;=576</a:t>
            </a:r>
          </a:p>
          <a:p>
            <a:r>
              <a:rPr lang="es-ES" sz="2400" dirty="0" err="1"/>
              <a:t>7X1+18X2+22X3</a:t>
            </a:r>
            <a:r>
              <a:rPr lang="es-ES" sz="2400" dirty="0"/>
              <a:t>&gt;=83</a:t>
            </a:r>
          </a:p>
          <a:p>
            <a:r>
              <a:rPr lang="es-ES" sz="2400" dirty="0" err="1"/>
              <a:t>END</a:t>
            </a:r>
            <a:endParaRPr lang="es-ES" sz="2400" dirty="0"/>
          </a:p>
          <a:p>
            <a:r>
              <a:rPr lang="es-ES" sz="2400" dirty="0"/>
              <a:t>GIN </a:t>
            </a:r>
            <a:r>
              <a:rPr lang="es-ES" sz="2400" dirty="0" err="1"/>
              <a:t>X1</a:t>
            </a:r>
            <a:endParaRPr lang="es-ES" sz="2400" dirty="0"/>
          </a:p>
          <a:p>
            <a:r>
              <a:rPr lang="es-ES" sz="2400" dirty="0"/>
              <a:t>GIN </a:t>
            </a:r>
            <a:r>
              <a:rPr lang="es-ES" sz="2400" dirty="0" err="1"/>
              <a:t>X2</a:t>
            </a:r>
            <a:endParaRPr lang="es-ES" sz="2400" dirty="0"/>
          </a:p>
          <a:p>
            <a:r>
              <a:rPr lang="es-ES" sz="2400" dirty="0"/>
              <a:t>GIN </a:t>
            </a:r>
            <a:r>
              <a:rPr lang="es-ES" sz="2400" dirty="0" err="1"/>
              <a:t>X3</a:t>
            </a:r>
            <a:endParaRPr lang="es-PE" sz="2400" dirty="0"/>
          </a:p>
        </p:txBody>
      </p:sp>
      <p:sp>
        <p:nvSpPr>
          <p:cNvPr id="5" name="Rectángulo 4">
            <a:extLst>
              <a:ext uri="{FF2B5EF4-FFF2-40B4-BE49-F238E27FC236}">
                <a16:creationId xmlns:a16="http://schemas.microsoft.com/office/drawing/2014/main" id="{046B88D3-6A52-442B-A959-D48A443DC7C3}"/>
              </a:ext>
            </a:extLst>
          </p:cNvPr>
          <p:cNvSpPr/>
          <p:nvPr/>
        </p:nvSpPr>
        <p:spPr>
          <a:xfrm>
            <a:off x="6837858" y="4161120"/>
            <a:ext cx="4485736" cy="2585323"/>
          </a:xfrm>
          <a:prstGeom prst="rect">
            <a:avLst/>
          </a:prstGeom>
          <a:solidFill>
            <a:schemeClr val="accent2">
              <a:lumMod val="40000"/>
              <a:lumOff val="60000"/>
            </a:schemeClr>
          </a:solidFill>
        </p:spPr>
        <p:txBody>
          <a:bodyPr wrap="square">
            <a:spAutoFit/>
          </a:bodyPr>
          <a:lstStyle/>
          <a:p>
            <a:r>
              <a:rPr lang="es-PE" dirty="0"/>
              <a:t> </a:t>
            </a:r>
            <a:r>
              <a:rPr lang="es-PE" dirty="0" err="1"/>
              <a:t>OBJECTIVE</a:t>
            </a:r>
            <a:r>
              <a:rPr lang="es-PE" dirty="0"/>
              <a:t> </a:t>
            </a:r>
            <a:r>
              <a:rPr lang="es-PE" dirty="0" err="1"/>
              <a:t>FUNCTION</a:t>
            </a:r>
            <a:r>
              <a:rPr lang="es-PE" dirty="0"/>
              <a:t> </a:t>
            </a:r>
            <a:r>
              <a:rPr lang="es-PE" dirty="0" err="1"/>
              <a:t>VALUE</a:t>
            </a:r>
            <a:endParaRPr lang="es-PE" dirty="0"/>
          </a:p>
          <a:p>
            <a:r>
              <a:rPr lang="es-PE" dirty="0"/>
              <a:t>        1)      31.55172</a:t>
            </a:r>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a:t>
            </a:r>
            <a:r>
              <a:rPr lang="es-PE" dirty="0" err="1"/>
              <a:t>X1</a:t>
            </a:r>
            <a:r>
              <a:rPr lang="es-PE" dirty="0"/>
              <a:t>         1.000000         -1.448276</a:t>
            </a:r>
          </a:p>
          <a:p>
            <a:r>
              <a:rPr lang="es-PE" dirty="0"/>
              <a:t>        </a:t>
            </a:r>
            <a:r>
              <a:rPr lang="es-PE" dirty="0" err="1"/>
              <a:t>X2</a:t>
            </a:r>
            <a:r>
              <a:rPr lang="es-PE" dirty="0"/>
              <a:t>         5.000000         -1.344828</a:t>
            </a:r>
          </a:p>
          <a:p>
            <a:r>
              <a:rPr lang="es-PE" dirty="0"/>
              <a:t>        </a:t>
            </a:r>
            <a:r>
              <a:rPr lang="es-PE" dirty="0" err="1"/>
              <a:t>X3</a:t>
            </a:r>
            <a:r>
              <a:rPr lang="es-PE" dirty="0"/>
              <a:t>         0.137931          0.000000</a:t>
            </a:r>
          </a:p>
          <a:p>
            <a:r>
              <a:rPr lang="es-PE" dirty="0"/>
              <a:t>       </a:t>
            </a:r>
            <a:r>
              <a:rPr lang="es-PE" dirty="0" err="1"/>
              <a:t>ROW</a:t>
            </a:r>
            <a:r>
              <a:rPr lang="es-PE" dirty="0"/>
              <a:t>   </a:t>
            </a:r>
            <a:r>
              <a:rPr lang="es-PE" dirty="0" err="1"/>
              <a:t>SLACK</a:t>
            </a:r>
            <a:r>
              <a:rPr lang="es-PE" dirty="0"/>
              <a:t> </a:t>
            </a:r>
            <a:r>
              <a:rPr lang="es-PE" dirty="0" err="1"/>
              <a:t>OR</a:t>
            </a:r>
            <a:r>
              <a:rPr lang="es-PE" dirty="0"/>
              <a:t> SURPLUS     DUAL </a:t>
            </a:r>
            <a:r>
              <a:rPr lang="es-PE" dirty="0" err="1"/>
              <a:t>PRICES</a:t>
            </a:r>
            <a:endParaRPr lang="es-PE" dirty="0"/>
          </a:p>
          <a:p>
            <a:r>
              <a:rPr lang="es-PE" dirty="0"/>
              <a:t>        2)         0.000000         -0.068966</a:t>
            </a:r>
          </a:p>
          <a:p>
            <a:r>
              <a:rPr lang="es-PE" dirty="0"/>
              <a:t>        3)        17.034483          0.000000</a:t>
            </a:r>
          </a:p>
        </p:txBody>
      </p:sp>
      <p:sp>
        <p:nvSpPr>
          <p:cNvPr id="8" name="Rectángulo 7">
            <a:extLst>
              <a:ext uri="{FF2B5EF4-FFF2-40B4-BE49-F238E27FC236}">
                <a16:creationId xmlns:a16="http://schemas.microsoft.com/office/drawing/2014/main" id="{28E62FAA-0B13-4C33-B7C6-3065C48D17D9}"/>
              </a:ext>
            </a:extLst>
          </p:cNvPr>
          <p:cNvSpPr/>
          <p:nvPr/>
        </p:nvSpPr>
        <p:spPr>
          <a:xfrm>
            <a:off x="6837858" y="1481682"/>
            <a:ext cx="3574211" cy="2677656"/>
          </a:xfrm>
          <a:prstGeom prst="rect">
            <a:avLst/>
          </a:prstGeom>
          <a:solidFill>
            <a:schemeClr val="accent6">
              <a:lumMod val="20000"/>
              <a:lumOff val="80000"/>
            </a:schemeClr>
          </a:solidFill>
        </p:spPr>
        <p:txBody>
          <a:bodyPr wrap="square" rtlCol="0">
            <a:spAutoFit/>
          </a:bodyPr>
          <a:lstStyle/>
          <a:p>
            <a:r>
              <a:rPr lang="es-PE" sz="2400" dirty="0"/>
              <a:t>MIN </a:t>
            </a:r>
            <a:r>
              <a:rPr lang="es-PE" sz="2400" dirty="0" err="1"/>
              <a:t>6X1+5X2+4X3</a:t>
            </a:r>
            <a:endParaRPr lang="es-PE" sz="2400" dirty="0"/>
          </a:p>
          <a:p>
            <a:r>
              <a:rPr lang="es-PE" sz="2400" dirty="0" err="1"/>
              <a:t>ST</a:t>
            </a:r>
            <a:endParaRPr lang="es-PE" sz="2400" dirty="0"/>
          </a:p>
          <a:p>
            <a:r>
              <a:rPr lang="es-PE" sz="2400" dirty="0" err="1"/>
              <a:t>108X1+92X2+58X3</a:t>
            </a:r>
            <a:r>
              <a:rPr lang="es-PE" sz="2400" dirty="0"/>
              <a:t>&gt;=576</a:t>
            </a:r>
          </a:p>
          <a:p>
            <a:r>
              <a:rPr lang="es-PE" sz="2400" dirty="0" err="1"/>
              <a:t>7X1+18X2+22X3</a:t>
            </a:r>
            <a:r>
              <a:rPr lang="es-PE" sz="2400" dirty="0"/>
              <a:t>&gt;=83</a:t>
            </a:r>
          </a:p>
          <a:p>
            <a:r>
              <a:rPr lang="es-PE" sz="2400" dirty="0" err="1"/>
              <a:t>END</a:t>
            </a:r>
            <a:endParaRPr lang="es-PE" sz="2400" dirty="0"/>
          </a:p>
          <a:p>
            <a:r>
              <a:rPr lang="es-PE" sz="2400" dirty="0"/>
              <a:t>GIN </a:t>
            </a:r>
            <a:r>
              <a:rPr lang="es-PE" sz="2400" dirty="0" err="1"/>
              <a:t>X1</a:t>
            </a:r>
            <a:endParaRPr lang="es-PE" sz="2400" dirty="0"/>
          </a:p>
          <a:p>
            <a:r>
              <a:rPr lang="es-PE" sz="2400" dirty="0"/>
              <a:t>GIN </a:t>
            </a:r>
            <a:r>
              <a:rPr lang="es-PE" sz="2400" dirty="0" err="1"/>
              <a:t>X2</a:t>
            </a:r>
            <a:endParaRPr lang="es-PE" sz="2400" dirty="0"/>
          </a:p>
        </p:txBody>
      </p:sp>
      <p:sp>
        <p:nvSpPr>
          <p:cNvPr id="9" name="Rectángulo 8">
            <a:extLst>
              <a:ext uri="{FF2B5EF4-FFF2-40B4-BE49-F238E27FC236}">
                <a16:creationId xmlns:a16="http://schemas.microsoft.com/office/drawing/2014/main" id="{82012A20-5F6D-4891-83BA-E508C3FCF1D8}"/>
              </a:ext>
            </a:extLst>
          </p:cNvPr>
          <p:cNvSpPr/>
          <p:nvPr/>
        </p:nvSpPr>
        <p:spPr>
          <a:xfrm>
            <a:off x="787879" y="4266717"/>
            <a:ext cx="4603630" cy="2585323"/>
          </a:xfrm>
          <a:prstGeom prst="rect">
            <a:avLst/>
          </a:prstGeom>
          <a:solidFill>
            <a:schemeClr val="accent6">
              <a:lumMod val="40000"/>
              <a:lumOff val="60000"/>
            </a:schemeClr>
          </a:solidFill>
        </p:spPr>
        <p:txBody>
          <a:bodyPr wrap="square">
            <a:spAutoFit/>
          </a:bodyPr>
          <a:lstStyle/>
          <a:p>
            <a:r>
              <a:rPr lang="es-PE" dirty="0"/>
              <a:t> </a:t>
            </a:r>
            <a:r>
              <a:rPr lang="es-PE" dirty="0" err="1"/>
              <a:t>OBJECTIVE</a:t>
            </a:r>
            <a:r>
              <a:rPr lang="es-PE" dirty="0"/>
              <a:t> </a:t>
            </a:r>
            <a:r>
              <a:rPr lang="es-PE" dirty="0" err="1"/>
              <a:t>FUNCTION</a:t>
            </a:r>
            <a:r>
              <a:rPr lang="es-PE" dirty="0"/>
              <a:t> </a:t>
            </a:r>
            <a:r>
              <a:rPr lang="es-PE" dirty="0" err="1"/>
              <a:t>VALUE</a:t>
            </a:r>
            <a:endParaRPr lang="es-PE" dirty="0"/>
          </a:p>
          <a:p>
            <a:r>
              <a:rPr lang="es-PE" dirty="0"/>
              <a:t>        1)      32.00000</a:t>
            </a:r>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a:t>
            </a:r>
            <a:r>
              <a:rPr lang="es-PE" dirty="0" err="1"/>
              <a:t>X1</a:t>
            </a:r>
            <a:r>
              <a:rPr lang="es-PE" dirty="0"/>
              <a:t>         2.000000          6.000000</a:t>
            </a:r>
          </a:p>
          <a:p>
            <a:r>
              <a:rPr lang="es-PE" dirty="0"/>
              <a:t>        </a:t>
            </a:r>
            <a:r>
              <a:rPr lang="es-PE" dirty="0" err="1"/>
              <a:t>X2</a:t>
            </a:r>
            <a:r>
              <a:rPr lang="es-PE" dirty="0"/>
              <a:t>         4.000000          5.000000</a:t>
            </a:r>
          </a:p>
          <a:p>
            <a:r>
              <a:rPr lang="es-PE" dirty="0"/>
              <a:t>        </a:t>
            </a:r>
            <a:r>
              <a:rPr lang="es-PE" dirty="0" err="1"/>
              <a:t>X3</a:t>
            </a:r>
            <a:r>
              <a:rPr lang="es-PE" dirty="0"/>
              <a:t>         0.000000          4.000000</a:t>
            </a:r>
          </a:p>
          <a:p>
            <a:r>
              <a:rPr lang="es-PE" dirty="0"/>
              <a:t>       </a:t>
            </a:r>
            <a:r>
              <a:rPr lang="es-PE" dirty="0" err="1"/>
              <a:t>ROW</a:t>
            </a:r>
            <a:r>
              <a:rPr lang="es-PE" dirty="0"/>
              <a:t>   </a:t>
            </a:r>
            <a:r>
              <a:rPr lang="es-PE" dirty="0" err="1"/>
              <a:t>SLACK</a:t>
            </a:r>
            <a:r>
              <a:rPr lang="es-PE" dirty="0"/>
              <a:t> </a:t>
            </a:r>
            <a:r>
              <a:rPr lang="es-PE" dirty="0" err="1"/>
              <a:t>OR</a:t>
            </a:r>
            <a:r>
              <a:rPr lang="es-PE" dirty="0"/>
              <a:t> SURPLUS     DUAL </a:t>
            </a:r>
            <a:r>
              <a:rPr lang="es-PE" dirty="0" err="1"/>
              <a:t>PRICES</a:t>
            </a:r>
            <a:endParaRPr lang="es-PE" dirty="0"/>
          </a:p>
          <a:p>
            <a:r>
              <a:rPr lang="es-PE" dirty="0"/>
              <a:t>        2)         8.000000          0.000000</a:t>
            </a:r>
          </a:p>
          <a:p>
            <a:r>
              <a:rPr lang="es-PE" dirty="0"/>
              <a:t>        3)         3.000000          0.000000</a:t>
            </a:r>
          </a:p>
        </p:txBody>
      </p:sp>
      <p:sp>
        <p:nvSpPr>
          <p:cNvPr id="10" name="Elipse 9">
            <a:extLst>
              <a:ext uri="{FF2B5EF4-FFF2-40B4-BE49-F238E27FC236}">
                <a16:creationId xmlns:a16="http://schemas.microsoft.com/office/drawing/2014/main" id="{D822D1D2-2E6C-4F60-9EC4-D2A646348573}"/>
              </a:ext>
            </a:extLst>
          </p:cNvPr>
          <p:cNvSpPr/>
          <p:nvPr/>
        </p:nvSpPr>
        <p:spPr>
          <a:xfrm>
            <a:off x="4761781" y="2682815"/>
            <a:ext cx="1147313" cy="11300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dirty="0"/>
              <a:t>PEP</a:t>
            </a:r>
            <a:endParaRPr lang="es-PE" sz="3200" dirty="0"/>
          </a:p>
        </p:txBody>
      </p:sp>
      <p:sp>
        <p:nvSpPr>
          <p:cNvPr id="11" name="Elipse 10">
            <a:extLst>
              <a:ext uri="{FF2B5EF4-FFF2-40B4-BE49-F238E27FC236}">
                <a16:creationId xmlns:a16="http://schemas.microsoft.com/office/drawing/2014/main" id="{2BDB996F-0BF9-4514-95FC-39AFFC886A54}"/>
              </a:ext>
            </a:extLst>
          </p:cNvPr>
          <p:cNvSpPr/>
          <p:nvPr/>
        </p:nvSpPr>
        <p:spPr>
          <a:xfrm>
            <a:off x="10581735" y="2662686"/>
            <a:ext cx="1147313" cy="113006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3200" dirty="0"/>
              <a:t>PLE</a:t>
            </a:r>
            <a:endParaRPr lang="es-PE" sz="3200" dirty="0"/>
          </a:p>
        </p:txBody>
      </p:sp>
    </p:spTree>
    <p:extLst>
      <p:ext uri="{BB962C8B-B14F-4D97-AF65-F5344CB8AC3E}">
        <p14:creationId xmlns:p14="http://schemas.microsoft.com/office/powerpoint/2010/main" val="4054203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Captura de pantalla de un celular&#10;&#10;Descripción generada automáticamente">
            <a:extLst>
              <a:ext uri="{FF2B5EF4-FFF2-40B4-BE49-F238E27FC236}">
                <a16:creationId xmlns:a16="http://schemas.microsoft.com/office/drawing/2014/main" id="{8C33C8DB-5D44-4365-ACA5-946902CBC26A}"/>
              </a:ext>
            </a:extLst>
          </p:cNvPr>
          <p:cNvPicPr>
            <a:picLocks noChangeAspect="1"/>
          </p:cNvPicPr>
          <p:nvPr/>
        </p:nvPicPr>
        <p:blipFill>
          <a:blip r:embed="rId2">
            <a:clrChange>
              <a:clrFrom>
                <a:srgbClr val="FFFFFF"/>
              </a:clrFrom>
              <a:clrTo>
                <a:srgbClr val="FFFFFF">
                  <a:alpha val="0"/>
                </a:srgbClr>
              </a:clrTo>
            </a:clrChange>
            <a:biLevel thresh="75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1216152"/>
            <a:ext cx="6096000" cy="5641848"/>
          </a:xfrm>
          <a:prstGeom prst="rect">
            <a:avLst/>
          </a:prstGeom>
        </p:spPr>
      </p:pic>
      <p:pic>
        <p:nvPicPr>
          <p:cNvPr id="7" name="Imagen 6">
            <a:extLst>
              <a:ext uri="{FF2B5EF4-FFF2-40B4-BE49-F238E27FC236}">
                <a16:creationId xmlns:a16="http://schemas.microsoft.com/office/drawing/2014/main" id="{E4B26437-67D7-4896-837C-ABB90269C2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224260"/>
            <a:ext cx="6096000" cy="5650992"/>
          </a:xfrm>
          <a:prstGeom prst="rect">
            <a:avLst/>
          </a:prstGeom>
        </p:spPr>
      </p:pic>
      <p:sp>
        <p:nvSpPr>
          <p:cNvPr id="2" name="Rectangle 2">
            <a:extLst>
              <a:ext uri="{FF2B5EF4-FFF2-40B4-BE49-F238E27FC236}">
                <a16:creationId xmlns:a16="http://schemas.microsoft.com/office/drawing/2014/main" id="{DD427F06-AF03-BD4E-EBE0-F38A3F96D986}"/>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17</a:t>
            </a:r>
          </a:p>
        </p:txBody>
      </p:sp>
    </p:spTree>
    <p:extLst>
      <p:ext uri="{BB962C8B-B14F-4D97-AF65-F5344CB8AC3E}">
        <p14:creationId xmlns:p14="http://schemas.microsoft.com/office/powerpoint/2010/main" val="283401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89746EB-48F5-4642-A595-D0DC23C5A912}"/>
              </a:ext>
            </a:extLst>
          </p:cNvPr>
          <p:cNvSpPr txBox="1"/>
          <p:nvPr/>
        </p:nvSpPr>
        <p:spPr>
          <a:xfrm>
            <a:off x="658368" y="1572768"/>
            <a:ext cx="5367528" cy="3785652"/>
          </a:xfrm>
          <a:prstGeom prst="rect">
            <a:avLst/>
          </a:prstGeom>
          <a:solidFill>
            <a:schemeClr val="accent2">
              <a:lumMod val="20000"/>
              <a:lumOff val="80000"/>
            </a:schemeClr>
          </a:solidFill>
        </p:spPr>
        <p:txBody>
          <a:bodyPr wrap="square" rtlCol="0">
            <a:spAutoFit/>
          </a:bodyPr>
          <a:lstStyle/>
          <a:p>
            <a:r>
              <a:rPr lang="es-ES" sz="2000" dirty="0"/>
              <a:t>MIN Z=60(</a:t>
            </a:r>
            <a:r>
              <a:rPr lang="es-ES" sz="2000" dirty="0" err="1"/>
              <a:t>X1+X2+X3+X4+X5+X6+X7</a:t>
            </a:r>
            <a:r>
              <a:rPr lang="es-ES" sz="2000" dirty="0"/>
              <a:t>)+200(</a:t>
            </a:r>
            <a:r>
              <a:rPr lang="es-ES" sz="2000" dirty="0" err="1"/>
              <a:t>Y1+Y2</a:t>
            </a:r>
            <a:r>
              <a:rPr lang="es-ES" sz="2000" dirty="0"/>
              <a:t>)</a:t>
            </a:r>
          </a:p>
          <a:p>
            <a:r>
              <a:rPr lang="es-ES" sz="2000" dirty="0"/>
              <a:t>S.A.</a:t>
            </a:r>
          </a:p>
          <a:p>
            <a:r>
              <a:rPr lang="es-ES" sz="2000" dirty="0" err="1"/>
              <a:t>X1+Y1</a:t>
            </a:r>
            <a:r>
              <a:rPr lang="es-ES" sz="2000" dirty="0"/>
              <a:t>&gt;=15</a:t>
            </a:r>
          </a:p>
          <a:p>
            <a:r>
              <a:rPr lang="es-ES" sz="2000" dirty="0" err="1"/>
              <a:t>X1+X2+Y1</a:t>
            </a:r>
            <a:r>
              <a:rPr lang="es-ES" sz="2000" dirty="0"/>
              <a:t>&gt;=18</a:t>
            </a:r>
          </a:p>
          <a:p>
            <a:r>
              <a:rPr lang="es-ES" sz="2000" dirty="0" err="1"/>
              <a:t>X2+X3+Y1</a:t>
            </a:r>
            <a:r>
              <a:rPr lang="es-ES" sz="2000" dirty="0"/>
              <a:t>&gt;=21</a:t>
            </a:r>
          </a:p>
          <a:p>
            <a:r>
              <a:rPr lang="es-ES" sz="2000" dirty="0" err="1"/>
              <a:t>X3+X4+Y1</a:t>
            </a:r>
            <a:r>
              <a:rPr lang="es-ES" sz="2000" dirty="0"/>
              <a:t>&gt;=24</a:t>
            </a:r>
          </a:p>
          <a:p>
            <a:r>
              <a:rPr lang="es-ES" sz="2000" dirty="0" err="1"/>
              <a:t>X4+X5+Y2</a:t>
            </a:r>
            <a:r>
              <a:rPr lang="es-ES" sz="2000" dirty="0"/>
              <a:t>&gt;=27</a:t>
            </a:r>
          </a:p>
          <a:p>
            <a:r>
              <a:rPr lang="es-ES" sz="2000" dirty="0" err="1"/>
              <a:t>X5+X6+Y2</a:t>
            </a:r>
            <a:r>
              <a:rPr lang="es-ES" sz="2000" dirty="0"/>
              <a:t>&gt;=25</a:t>
            </a:r>
          </a:p>
          <a:p>
            <a:r>
              <a:rPr lang="es-ES" sz="2000" dirty="0" err="1"/>
              <a:t>X6+X7+Y2</a:t>
            </a:r>
            <a:r>
              <a:rPr lang="es-ES" sz="2000" dirty="0"/>
              <a:t>&gt;=15</a:t>
            </a:r>
          </a:p>
          <a:p>
            <a:r>
              <a:rPr lang="es-ES" sz="2000" dirty="0"/>
              <a:t>       </a:t>
            </a:r>
            <a:r>
              <a:rPr lang="es-ES" sz="2000" dirty="0" err="1"/>
              <a:t>X7+Y2</a:t>
            </a:r>
            <a:r>
              <a:rPr lang="es-ES" sz="2000" dirty="0"/>
              <a:t>&gt;=15</a:t>
            </a:r>
          </a:p>
          <a:p>
            <a:r>
              <a:rPr lang="es-ES" sz="2000" dirty="0" err="1"/>
              <a:t>Y1+Y2</a:t>
            </a:r>
            <a:r>
              <a:rPr lang="es-ES" sz="2000" dirty="0"/>
              <a:t>&gt;=0,5(</a:t>
            </a:r>
            <a:r>
              <a:rPr lang="es-ES" sz="2000" dirty="0" err="1"/>
              <a:t>X1+X2+X3+X4+X5+X6+X7+Y1+Y2</a:t>
            </a:r>
            <a:r>
              <a:rPr lang="es-ES" sz="2000" dirty="0"/>
              <a:t>)</a:t>
            </a:r>
          </a:p>
          <a:p>
            <a:r>
              <a:rPr lang="es-ES" sz="2000" dirty="0"/>
              <a:t>Xi, </a:t>
            </a:r>
            <a:r>
              <a:rPr lang="es-ES" sz="2000" dirty="0" err="1"/>
              <a:t>Yj</a:t>
            </a:r>
            <a:r>
              <a:rPr lang="es-ES" sz="2000" dirty="0"/>
              <a:t> &gt;= 0, ENTEROS</a:t>
            </a:r>
            <a:endParaRPr lang="es-PE" sz="2000" dirty="0"/>
          </a:p>
        </p:txBody>
      </p:sp>
      <p:sp>
        <p:nvSpPr>
          <p:cNvPr id="5" name="Rectangle 2">
            <a:extLst>
              <a:ext uri="{FF2B5EF4-FFF2-40B4-BE49-F238E27FC236}">
                <a16:creationId xmlns:a16="http://schemas.microsoft.com/office/drawing/2014/main" id="{809E70F3-D4A6-47A9-B0B2-6997F79057CF}"/>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17</a:t>
            </a:r>
          </a:p>
        </p:txBody>
      </p:sp>
      <p:pic>
        <p:nvPicPr>
          <p:cNvPr id="6" name="Imagen 5">
            <a:extLst>
              <a:ext uri="{FF2B5EF4-FFF2-40B4-BE49-F238E27FC236}">
                <a16:creationId xmlns:a16="http://schemas.microsoft.com/office/drawing/2014/main" id="{45EDE307-EFEF-4A49-A64E-40D2DA9E19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224260"/>
            <a:ext cx="6096000" cy="5650992"/>
          </a:xfrm>
          <a:prstGeom prst="rect">
            <a:avLst/>
          </a:prstGeom>
        </p:spPr>
      </p:pic>
    </p:spTree>
    <p:extLst>
      <p:ext uri="{BB962C8B-B14F-4D97-AF65-F5344CB8AC3E}">
        <p14:creationId xmlns:p14="http://schemas.microsoft.com/office/powerpoint/2010/main" val="3181258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12CE75AE-82FD-4D77-8A12-524C8496F98A}"/>
              </a:ext>
            </a:extLst>
          </p:cNvPr>
          <p:cNvSpPr txBox="1"/>
          <p:nvPr/>
        </p:nvSpPr>
        <p:spPr>
          <a:xfrm>
            <a:off x="0" y="1228924"/>
            <a:ext cx="6096000" cy="5632311"/>
          </a:xfrm>
          <a:prstGeom prst="rect">
            <a:avLst/>
          </a:prstGeom>
          <a:solidFill>
            <a:srgbClr val="FFFF00"/>
          </a:solidFill>
        </p:spPr>
        <p:txBody>
          <a:bodyPr wrap="square" rtlCol="0">
            <a:spAutoFit/>
          </a:bodyPr>
          <a:lstStyle/>
          <a:p>
            <a:r>
              <a:rPr lang="es-ES" sz="2000" dirty="0">
                <a:latin typeface="Arial Narrow" panose="020B0606020202030204" pitchFamily="34" charset="0"/>
              </a:rPr>
              <a:t>MIN </a:t>
            </a:r>
            <a:r>
              <a:rPr lang="es-ES" sz="2000" dirty="0" err="1">
                <a:latin typeface="Arial Narrow" panose="020B0606020202030204" pitchFamily="34" charset="0"/>
              </a:rPr>
              <a:t>60X1+60X2+60X3+60X4+60X5+60X6+60X7+200Y1+200Y2</a:t>
            </a:r>
            <a:endParaRPr lang="es-ES" sz="2000" dirty="0">
              <a:latin typeface="Arial Narrow" panose="020B0606020202030204" pitchFamily="34" charset="0"/>
            </a:endParaRPr>
          </a:p>
          <a:p>
            <a:r>
              <a:rPr lang="es-ES" sz="2000" dirty="0" err="1">
                <a:latin typeface="Arial Narrow" panose="020B0606020202030204" pitchFamily="34" charset="0"/>
              </a:rPr>
              <a:t>ST</a:t>
            </a:r>
            <a:endParaRPr lang="es-ES" sz="2000" dirty="0">
              <a:latin typeface="Arial Narrow" panose="020B0606020202030204" pitchFamily="34" charset="0"/>
            </a:endParaRPr>
          </a:p>
          <a:p>
            <a:r>
              <a:rPr lang="es-ES" sz="2000" dirty="0" err="1">
                <a:latin typeface="Arial Narrow" panose="020B0606020202030204" pitchFamily="34" charset="0"/>
              </a:rPr>
              <a:t>X1+Y1</a:t>
            </a:r>
            <a:r>
              <a:rPr lang="es-ES" sz="2000" dirty="0">
                <a:latin typeface="Arial Narrow" panose="020B0606020202030204" pitchFamily="34" charset="0"/>
              </a:rPr>
              <a:t>&gt;=15</a:t>
            </a:r>
          </a:p>
          <a:p>
            <a:r>
              <a:rPr lang="es-ES" sz="2000" dirty="0" err="1">
                <a:latin typeface="Arial Narrow" panose="020B0606020202030204" pitchFamily="34" charset="0"/>
              </a:rPr>
              <a:t>X1+X2+Y1</a:t>
            </a:r>
            <a:r>
              <a:rPr lang="es-ES" sz="2000" dirty="0">
                <a:latin typeface="Arial Narrow" panose="020B0606020202030204" pitchFamily="34" charset="0"/>
              </a:rPr>
              <a:t>&gt;=18</a:t>
            </a:r>
          </a:p>
          <a:p>
            <a:r>
              <a:rPr lang="es-ES" sz="2000" dirty="0" err="1">
                <a:latin typeface="Arial Narrow" panose="020B0606020202030204" pitchFamily="34" charset="0"/>
              </a:rPr>
              <a:t>X2+X3+Y1</a:t>
            </a:r>
            <a:r>
              <a:rPr lang="es-ES" sz="2000" dirty="0">
                <a:latin typeface="Arial Narrow" panose="020B0606020202030204" pitchFamily="34" charset="0"/>
              </a:rPr>
              <a:t>&gt;=21</a:t>
            </a:r>
          </a:p>
          <a:p>
            <a:r>
              <a:rPr lang="es-ES" sz="2000" dirty="0" err="1">
                <a:latin typeface="Arial Narrow" panose="020B0606020202030204" pitchFamily="34" charset="0"/>
              </a:rPr>
              <a:t>X3+X4+Y1</a:t>
            </a:r>
            <a:r>
              <a:rPr lang="es-ES" sz="2000" dirty="0">
                <a:latin typeface="Arial Narrow" panose="020B0606020202030204" pitchFamily="34" charset="0"/>
              </a:rPr>
              <a:t>&gt;=24</a:t>
            </a:r>
          </a:p>
          <a:p>
            <a:r>
              <a:rPr lang="es-ES" sz="2000" dirty="0" err="1">
                <a:latin typeface="Arial Narrow" panose="020B0606020202030204" pitchFamily="34" charset="0"/>
              </a:rPr>
              <a:t>X4+X5+Y2</a:t>
            </a:r>
            <a:r>
              <a:rPr lang="es-ES" sz="2000" dirty="0">
                <a:latin typeface="Arial Narrow" panose="020B0606020202030204" pitchFamily="34" charset="0"/>
              </a:rPr>
              <a:t>&gt;=27</a:t>
            </a:r>
          </a:p>
          <a:p>
            <a:r>
              <a:rPr lang="es-ES" sz="2000" dirty="0" err="1">
                <a:latin typeface="Arial Narrow" panose="020B0606020202030204" pitchFamily="34" charset="0"/>
              </a:rPr>
              <a:t>X5+X6+Y2</a:t>
            </a:r>
            <a:r>
              <a:rPr lang="es-ES" sz="2000" dirty="0">
                <a:latin typeface="Arial Narrow" panose="020B0606020202030204" pitchFamily="34" charset="0"/>
              </a:rPr>
              <a:t>&gt;=25</a:t>
            </a:r>
          </a:p>
          <a:p>
            <a:r>
              <a:rPr lang="es-ES" sz="2000" dirty="0" err="1">
                <a:latin typeface="Arial Narrow" panose="020B0606020202030204" pitchFamily="34" charset="0"/>
              </a:rPr>
              <a:t>X6+X7+Y2</a:t>
            </a:r>
            <a:r>
              <a:rPr lang="es-ES" sz="2000" dirty="0">
                <a:latin typeface="Arial Narrow" panose="020B0606020202030204" pitchFamily="34" charset="0"/>
              </a:rPr>
              <a:t>&gt;=15</a:t>
            </a:r>
          </a:p>
          <a:p>
            <a:r>
              <a:rPr lang="es-ES" sz="2000" dirty="0">
                <a:latin typeface="Arial Narrow" panose="020B0606020202030204" pitchFamily="34" charset="0"/>
              </a:rPr>
              <a:t>       </a:t>
            </a:r>
            <a:r>
              <a:rPr lang="es-ES" sz="2000" dirty="0" err="1">
                <a:latin typeface="Arial Narrow" panose="020B0606020202030204" pitchFamily="34" charset="0"/>
              </a:rPr>
              <a:t>X7+Y2</a:t>
            </a:r>
            <a:r>
              <a:rPr lang="es-ES" sz="2000" dirty="0">
                <a:latin typeface="Arial Narrow" panose="020B0606020202030204" pitchFamily="34" charset="0"/>
              </a:rPr>
              <a:t>&gt;=15</a:t>
            </a:r>
          </a:p>
          <a:p>
            <a:r>
              <a:rPr lang="es-ES" sz="2000" dirty="0">
                <a:latin typeface="Arial Narrow" panose="020B0606020202030204" pitchFamily="34" charset="0"/>
              </a:rPr>
              <a:t>-</a:t>
            </a:r>
            <a:r>
              <a:rPr lang="es-ES" sz="2000" dirty="0" err="1">
                <a:latin typeface="Arial Narrow" panose="020B0606020202030204" pitchFamily="34" charset="0"/>
              </a:rPr>
              <a:t>0.5X1-0.5X2-0.5X3-0.5X4-0.5X5-0.5X6-0.5X7+0.5Y1+0.5Y2</a:t>
            </a:r>
            <a:r>
              <a:rPr lang="es-ES" sz="2000" dirty="0">
                <a:latin typeface="Arial Narrow" panose="020B0606020202030204" pitchFamily="34" charset="0"/>
              </a:rPr>
              <a:t>&gt;=0</a:t>
            </a:r>
          </a:p>
          <a:p>
            <a:r>
              <a:rPr lang="es-ES" sz="2000" dirty="0" err="1">
                <a:latin typeface="Arial Narrow" panose="020B0606020202030204" pitchFamily="34" charset="0"/>
              </a:rPr>
              <a:t>END</a:t>
            </a:r>
            <a:endParaRPr lang="es-ES" sz="2000" dirty="0">
              <a:latin typeface="Arial Narrow" panose="020B0606020202030204" pitchFamily="34" charset="0"/>
            </a:endParaRPr>
          </a:p>
          <a:p>
            <a:r>
              <a:rPr lang="es-ES" sz="2000" dirty="0">
                <a:latin typeface="Arial Narrow" panose="020B0606020202030204" pitchFamily="34" charset="0"/>
              </a:rPr>
              <a:t>GIN </a:t>
            </a:r>
            <a:r>
              <a:rPr lang="es-ES" sz="2000" dirty="0" err="1">
                <a:latin typeface="Arial Narrow" panose="020B0606020202030204" pitchFamily="34" charset="0"/>
              </a:rPr>
              <a:t>X1</a:t>
            </a:r>
            <a:r>
              <a:rPr lang="es-ES" sz="2000" dirty="0">
                <a:latin typeface="Arial Narrow" panose="020B0606020202030204" pitchFamily="34" charset="0"/>
              </a:rPr>
              <a:t>   </a:t>
            </a:r>
          </a:p>
          <a:p>
            <a:r>
              <a:rPr lang="es-ES" sz="2000" dirty="0">
                <a:latin typeface="Arial Narrow" panose="020B0606020202030204" pitchFamily="34" charset="0"/>
              </a:rPr>
              <a:t>GIN </a:t>
            </a:r>
            <a:r>
              <a:rPr lang="es-ES" sz="2000" dirty="0" err="1">
                <a:latin typeface="Arial Narrow" panose="020B0606020202030204" pitchFamily="34" charset="0"/>
              </a:rPr>
              <a:t>X2</a:t>
            </a:r>
            <a:r>
              <a:rPr lang="es-ES" sz="2000" dirty="0">
                <a:latin typeface="Arial Narrow" panose="020B0606020202030204" pitchFamily="34" charset="0"/>
              </a:rPr>
              <a:t> </a:t>
            </a:r>
          </a:p>
          <a:p>
            <a:r>
              <a:rPr lang="es-ES" sz="2000" dirty="0">
                <a:latin typeface="Arial Narrow" panose="020B0606020202030204" pitchFamily="34" charset="0"/>
              </a:rPr>
              <a:t>GIN </a:t>
            </a:r>
            <a:r>
              <a:rPr lang="es-ES" sz="2000" dirty="0" err="1">
                <a:latin typeface="Arial Narrow" panose="020B0606020202030204" pitchFamily="34" charset="0"/>
              </a:rPr>
              <a:t>X3</a:t>
            </a:r>
            <a:r>
              <a:rPr lang="es-ES" sz="2000" dirty="0">
                <a:latin typeface="Arial Narrow" panose="020B0606020202030204" pitchFamily="34" charset="0"/>
              </a:rPr>
              <a:t>   GIN </a:t>
            </a:r>
            <a:r>
              <a:rPr lang="es-ES" sz="2000" dirty="0" err="1">
                <a:latin typeface="Arial Narrow" panose="020B0606020202030204" pitchFamily="34" charset="0"/>
              </a:rPr>
              <a:t>X4</a:t>
            </a:r>
            <a:r>
              <a:rPr lang="es-ES" sz="2000" dirty="0">
                <a:latin typeface="Arial Narrow" panose="020B0606020202030204" pitchFamily="34" charset="0"/>
              </a:rPr>
              <a:t>  GIN </a:t>
            </a:r>
            <a:r>
              <a:rPr lang="es-ES" sz="2000" dirty="0" err="1">
                <a:latin typeface="Arial Narrow" panose="020B0606020202030204" pitchFamily="34" charset="0"/>
              </a:rPr>
              <a:t>X5</a:t>
            </a:r>
            <a:endParaRPr lang="es-ES" sz="2000" dirty="0">
              <a:latin typeface="Arial Narrow" panose="020B0606020202030204" pitchFamily="34" charset="0"/>
            </a:endParaRPr>
          </a:p>
          <a:p>
            <a:r>
              <a:rPr lang="es-ES" sz="2000" dirty="0">
                <a:latin typeface="Arial Narrow" panose="020B0606020202030204" pitchFamily="34" charset="0"/>
              </a:rPr>
              <a:t>GIN </a:t>
            </a:r>
            <a:r>
              <a:rPr lang="es-ES" sz="2000" dirty="0" err="1">
                <a:latin typeface="Arial Narrow" panose="020B0606020202030204" pitchFamily="34" charset="0"/>
              </a:rPr>
              <a:t>X6</a:t>
            </a:r>
            <a:r>
              <a:rPr lang="es-ES" sz="2000" dirty="0">
                <a:latin typeface="Arial Narrow" panose="020B0606020202030204" pitchFamily="34" charset="0"/>
              </a:rPr>
              <a:t>   GIN </a:t>
            </a:r>
            <a:r>
              <a:rPr lang="es-ES" sz="2000" dirty="0" err="1">
                <a:latin typeface="Arial Narrow" panose="020B0606020202030204" pitchFamily="34" charset="0"/>
              </a:rPr>
              <a:t>X7</a:t>
            </a:r>
            <a:r>
              <a:rPr lang="es-ES" sz="2000" dirty="0">
                <a:latin typeface="Arial Narrow" panose="020B0606020202030204" pitchFamily="34" charset="0"/>
              </a:rPr>
              <a:t>    GIN </a:t>
            </a:r>
            <a:r>
              <a:rPr lang="es-ES" sz="2000" dirty="0" err="1">
                <a:latin typeface="Arial Narrow" panose="020B0606020202030204" pitchFamily="34" charset="0"/>
              </a:rPr>
              <a:t>Y1</a:t>
            </a:r>
            <a:r>
              <a:rPr lang="es-ES" sz="2000" dirty="0">
                <a:latin typeface="Arial Narrow" panose="020B0606020202030204" pitchFamily="34" charset="0"/>
              </a:rPr>
              <a:t>   GIN </a:t>
            </a:r>
            <a:r>
              <a:rPr lang="es-ES" sz="2000" dirty="0" err="1">
                <a:latin typeface="Arial Narrow" panose="020B0606020202030204" pitchFamily="34" charset="0"/>
              </a:rPr>
              <a:t>Y2</a:t>
            </a:r>
            <a:endParaRPr lang="es-PE" sz="2000" dirty="0">
              <a:latin typeface="Arial Narrow" panose="020B0606020202030204" pitchFamily="34" charset="0"/>
            </a:endParaRPr>
          </a:p>
        </p:txBody>
      </p:sp>
      <p:sp>
        <p:nvSpPr>
          <p:cNvPr id="2" name="Rectángulo 1">
            <a:extLst>
              <a:ext uri="{FF2B5EF4-FFF2-40B4-BE49-F238E27FC236}">
                <a16:creationId xmlns:a16="http://schemas.microsoft.com/office/drawing/2014/main" id="{01A518FE-0F1C-4654-AE8B-264979CC3BCB}"/>
              </a:ext>
            </a:extLst>
          </p:cNvPr>
          <p:cNvSpPr/>
          <p:nvPr/>
        </p:nvSpPr>
        <p:spPr>
          <a:xfrm>
            <a:off x="6642338" y="3066396"/>
            <a:ext cx="4960190" cy="3785652"/>
          </a:xfrm>
          <a:prstGeom prst="rect">
            <a:avLst/>
          </a:prstGeom>
          <a:solidFill>
            <a:schemeClr val="accent2">
              <a:lumMod val="20000"/>
              <a:lumOff val="80000"/>
            </a:schemeClr>
          </a:solidFill>
        </p:spPr>
        <p:txBody>
          <a:bodyPr wrap="square">
            <a:spAutoFit/>
          </a:bodyPr>
          <a:lstStyle/>
          <a:p>
            <a:r>
              <a:rPr lang="es-PE" sz="2000" dirty="0"/>
              <a:t> 1)      7160.000</a:t>
            </a:r>
          </a:p>
          <a:p>
            <a:r>
              <a:rPr lang="es-PE" sz="2000" dirty="0"/>
              <a:t>  VARIABLE        </a:t>
            </a:r>
            <a:r>
              <a:rPr lang="es-PE" sz="2000" dirty="0" err="1"/>
              <a:t>VALUE</a:t>
            </a:r>
            <a:r>
              <a:rPr lang="es-PE" sz="2000" dirty="0"/>
              <a:t>          </a:t>
            </a:r>
            <a:r>
              <a:rPr lang="es-PE" sz="2000" dirty="0" err="1"/>
              <a:t>REDUCED</a:t>
            </a:r>
            <a:r>
              <a:rPr lang="es-PE" sz="2000" dirty="0"/>
              <a:t> </a:t>
            </a:r>
            <a:r>
              <a:rPr lang="es-PE" sz="2000" dirty="0" err="1"/>
              <a:t>COST</a:t>
            </a:r>
            <a:endParaRPr lang="es-PE" sz="2000" dirty="0"/>
          </a:p>
          <a:p>
            <a:r>
              <a:rPr lang="es-PE" sz="2000" dirty="0"/>
              <a:t>        </a:t>
            </a:r>
            <a:r>
              <a:rPr lang="es-PE" sz="2000" dirty="0" err="1"/>
              <a:t>X1</a:t>
            </a:r>
            <a:r>
              <a:rPr lang="es-PE" sz="2000" dirty="0"/>
              <a:t>         5.000000         60.000000</a:t>
            </a:r>
          </a:p>
          <a:p>
            <a:r>
              <a:rPr lang="es-PE" sz="2000" dirty="0"/>
              <a:t>        </a:t>
            </a:r>
            <a:r>
              <a:rPr lang="es-PE" sz="2000" dirty="0" err="1"/>
              <a:t>X2</a:t>
            </a:r>
            <a:r>
              <a:rPr lang="es-PE" sz="2000" dirty="0"/>
              <a:t>         0.000000         60.000000</a:t>
            </a:r>
          </a:p>
          <a:p>
            <a:r>
              <a:rPr lang="es-PE" sz="2000" dirty="0"/>
              <a:t>        </a:t>
            </a:r>
            <a:r>
              <a:rPr lang="es-PE" sz="2000" dirty="0" err="1"/>
              <a:t>X3</a:t>
            </a:r>
            <a:r>
              <a:rPr lang="es-PE" sz="2000" dirty="0"/>
              <a:t>         9.000000         60.000000</a:t>
            </a:r>
          </a:p>
          <a:p>
            <a:r>
              <a:rPr lang="es-PE" sz="2000" dirty="0"/>
              <a:t>        </a:t>
            </a:r>
            <a:r>
              <a:rPr lang="es-PE" sz="2000" dirty="0" err="1"/>
              <a:t>X4</a:t>
            </a:r>
            <a:r>
              <a:rPr lang="es-PE" sz="2000" dirty="0"/>
              <a:t>         2.000000         60.000000</a:t>
            </a:r>
          </a:p>
          <a:p>
            <a:r>
              <a:rPr lang="es-PE" sz="2000" dirty="0"/>
              <a:t>        </a:t>
            </a:r>
            <a:r>
              <a:rPr lang="es-PE" sz="2000" dirty="0" err="1"/>
              <a:t>X5</a:t>
            </a:r>
            <a:r>
              <a:rPr lang="es-PE" sz="2000" dirty="0"/>
              <a:t>        10.000000         60.000000</a:t>
            </a:r>
          </a:p>
          <a:p>
            <a:r>
              <a:rPr lang="es-PE" sz="2000" dirty="0"/>
              <a:t>        </a:t>
            </a:r>
            <a:r>
              <a:rPr lang="es-PE" sz="2000" dirty="0" err="1"/>
              <a:t>X6</a:t>
            </a:r>
            <a:r>
              <a:rPr lang="es-PE" sz="2000" dirty="0"/>
              <a:t>         0.000000         60.000000</a:t>
            </a:r>
          </a:p>
          <a:p>
            <a:r>
              <a:rPr lang="es-PE" sz="2000" dirty="0"/>
              <a:t>        </a:t>
            </a:r>
            <a:r>
              <a:rPr lang="es-PE" sz="2000" dirty="0" err="1"/>
              <a:t>X7</a:t>
            </a:r>
            <a:r>
              <a:rPr lang="es-PE" sz="2000" dirty="0"/>
              <a:t>         0.000000         60.000000</a:t>
            </a:r>
          </a:p>
          <a:p>
            <a:r>
              <a:rPr lang="es-PE" sz="2000" dirty="0"/>
              <a:t>        </a:t>
            </a:r>
            <a:r>
              <a:rPr lang="es-PE" sz="2000" dirty="0" err="1"/>
              <a:t>Y1</a:t>
            </a:r>
            <a:r>
              <a:rPr lang="es-PE" sz="2000" dirty="0"/>
              <a:t>        13.000000        200.000000</a:t>
            </a:r>
          </a:p>
          <a:p>
            <a:r>
              <a:rPr lang="es-PE" sz="2000" dirty="0"/>
              <a:t>        </a:t>
            </a:r>
            <a:r>
              <a:rPr lang="es-PE" sz="2000" dirty="0" err="1"/>
              <a:t>Y2</a:t>
            </a:r>
            <a:r>
              <a:rPr lang="es-PE" sz="2000" dirty="0"/>
              <a:t>        15.000000        200.000000</a:t>
            </a:r>
          </a:p>
          <a:p>
            <a:r>
              <a:rPr lang="es-PE" sz="2000" dirty="0"/>
              <a:t>       </a:t>
            </a:r>
          </a:p>
        </p:txBody>
      </p:sp>
      <p:sp>
        <p:nvSpPr>
          <p:cNvPr id="5" name="Rectangle 2">
            <a:extLst>
              <a:ext uri="{FF2B5EF4-FFF2-40B4-BE49-F238E27FC236}">
                <a16:creationId xmlns:a16="http://schemas.microsoft.com/office/drawing/2014/main" id="{E4FDDF62-6FEE-4D59-A7C2-924FBA570C2E}"/>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17</a:t>
            </a:r>
          </a:p>
        </p:txBody>
      </p:sp>
    </p:spTree>
    <p:extLst>
      <p:ext uri="{BB962C8B-B14F-4D97-AF65-F5344CB8AC3E}">
        <p14:creationId xmlns:p14="http://schemas.microsoft.com/office/powerpoint/2010/main" val="3536742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6 Tabla">
            <a:extLst>
              <a:ext uri="{FF2B5EF4-FFF2-40B4-BE49-F238E27FC236}">
                <a16:creationId xmlns:a16="http://schemas.microsoft.com/office/drawing/2014/main" id="{CE5B47C9-6E65-4A98-805D-A2C49D055E52}"/>
              </a:ext>
            </a:extLst>
          </p:cNvPr>
          <p:cNvGraphicFramePr>
            <a:graphicFrameLocks noGrp="1"/>
          </p:cNvGraphicFramePr>
          <p:nvPr/>
        </p:nvGraphicFramePr>
        <p:xfrm>
          <a:off x="1186817" y="2078355"/>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sp>
        <p:nvSpPr>
          <p:cNvPr id="3" name="CuadroTexto 2">
            <a:extLst>
              <a:ext uri="{FF2B5EF4-FFF2-40B4-BE49-F238E27FC236}">
                <a16:creationId xmlns:a16="http://schemas.microsoft.com/office/drawing/2014/main" id="{F4EE32F4-50D8-4A01-9B7B-B1F97C91EC2D}"/>
              </a:ext>
            </a:extLst>
          </p:cNvPr>
          <p:cNvSpPr txBox="1"/>
          <p:nvPr/>
        </p:nvSpPr>
        <p:spPr>
          <a:xfrm>
            <a:off x="2833950" y="1539630"/>
            <a:ext cx="3053751" cy="2246769"/>
          </a:xfrm>
          <a:prstGeom prst="rect">
            <a:avLst/>
          </a:prstGeom>
          <a:solidFill>
            <a:schemeClr val="accent4">
              <a:lumMod val="40000"/>
              <a:lumOff val="60000"/>
            </a:schemeClr>
          </a:solidFill>
        </p:spPr>
        <p:txBody>
          <a:bodyPr wrap="square" rtlCol="0">
            <a:spAutoFit/>
          </a:bodyPr>
          <a:lstStyle/>
          <a:p>
            <a:r>
              <a:rPr lang="es-ES" sz="2000" dirty="0"/>
              <a:t>MAX Z=</a:t>
            </a:r>
            <a:r>
              <a:rPr lang="es-ES" sz="2000" dirty="0" err="1"/>
              <a:t>18E+6F</a:t>
            </a:r>
            <a:endParaRPr lang="es-ES" sz="2000" dirty="0"/>
          </a:p>
          <a:p>
            <a:r>
              <a:rPr lang="es-ES" sz="2000" dirty="0"/>
              <a:t>S.A.</a:t>
            </a:r>
          </a:p>
          <a:p>
            <a:r>
              <a:rPr lang="es-ES" sz="2000" dirty="0" err="1"/>
              <a:t>42.8E</a:t>
            </a:r>
            <a:r>
              <a:rPr lang="es-ES" sz="2000" dirty="0"/>
              <a:t>  + </a:t>
            </a:r>
            <a:r>
              <a:rPr lang="es-ES" sz="2000" dirty="0" err="1"/>
              <a:t>100F</a:t>
            </a:r>
            <a:r>
              <a:rPr lang="es-ES" sz="2000" dirty="0"/>
              <a:t>&lt;=800</a:t>
            </a:r>
          </a:p>
          <a:p>
            <a:r>
              <a:rPr lang="es-ES" sz="2000" dirty="0"/>
              <a:t>   </a:t>
            </a:r>
            <a:r>
              <a:rPr lang="es-ES" sz="2000" dirty="0" err="1"/>
              <a:t>20E</a:t>
            </a:r>
            <a:r>
              <a:rPr lang="es-ES" sz="2000" dirty="0"/>
              <a:t>  +     </a:t>
            </a:r>
            <a:r>
              <a:rPr lang="es-ES" sz="2000" dirty="0" err="1"/>
              <a:t>6F</a:t>
            </a:r>
            <a:r>
              <a:rPr lang="es-ES" sz="2000" dirty="0"/>
              <a:t> &lt;=142</a:t>
            </a:r>
          </a:p>
          <a:p>
            <a:r>
              <a:rPr lang="es-ES" sz="2000" dirty="0"/>
              <a:t>   </a:t>
            </a:r>
            <a:r>
              <a:rPr lang="es-ES" sz="2000" dirty="0" err="1"/>
              <a:t>30E</a:t>
            </a:r>
            <a:r>
              <a:rPr lang="es-ES" sz="2000" dirty="0"/>
              <a:t>  +   </a:t>
            </a:r>
            <a:r>
              <a:rPr lang="es-ES" sz="2000" dirty="0" err="1"/>
              <a:t>10F</a:t>
            </a:r>
            <a:r>
              <a:rPr lang="es-ES" sz="2000" dirty="0"/>
              <a:t> &gt;=135</a:t>
            </a:r>
          </a:p>
          <a:p>
            <a:r>
              <a:rPr lang="es-ES" sz="2000" dirty="0"/>
              <a:t>        E  –     </a:t>
            </a:r>
            <a:r>
              <a:rPr lang="es-ES" sz="2000" dirty="0" err="1"/>
              <a:t>3F</a:t>
            </a:r>
            <a:r>
              <a:rPr lang="es-ES" sz="2000" dirty="0"/>
              <a:t> &lt;=0</a:t>
            </a:r>
          </a:p>
          <a:p>
            <a:r>
              <a:rPr lang="es-ES" sz="2000" dirty="0"/>
              <a:t>	E, F &gt;=0, </a:t>
            </a:r>
            <a:r>
              <a:rPr lang="es-ES" sz="2000" dirty="0">
                <a:solidFill>
                  <a:srgbClr val="FF0000"/>
                </a:solidFill>
              </a:rPr>
              <a:t>ENTERO</a:t>
            </a:r>
            <a:endParaRPr lang="es-PE" sz="2000" dirty="0">
              <a:solidFill>
                <a:srgbClr val="FF0000"/>
              </a:solidFill>
            </a:endParaRPr>
          </a:p>
        </p:txBody>
      </p:sp>
      <p:sp>
        <p:nvSpPr>
          <p:cNvPr id="5" name="CuadroTexto 4">
            <a:extLst>
              <a:ext uri="{FF2B5EF4-FFF2-40B4-BE49-F238E27FC236}">
                <a16:creationId xmlns:a16="http://schemas.microsoft.com/office/drawing/2014/main" id="{8FF44F74-C7B6-442A-9B4B-206C6C996F4F}"/>
              </a:ext>
            </a:extLst>
          </p:cNvPr>
          <p:cNvSpPr txBox="1"/>
          <p:nvPr/>
        </p:nvSpPr>
        <p:spPr>
          <a:xfrm>
            <a:off x="6198946" y="1310180"/>
            <a:ext cx="3191942" cy="1200329"/>
          </a:xfrm>
          <a:prstGeom prst="rect">
            <a:avLst/>
          </a:prstGeom>
          <a:noFill/>
        </p:spPr>
        <p:txBody>
          <a:bodyPr wrap="square" rtlCol="0">
            <a:spAutoFit/>
          </a:bodyPr>
          <a:lstStyle/>
          <a:p>
            <a:r>
              <a:rPr lang="es-ES" dirty="0"/>
              <a:t>Graficando las restricciones</a:t>
            </a:r>
          </a:p>
          <a:p>
            <a:r>
              <a:rPr lang="es-ES" dirty="0"/>
              <a:t>        </a:t>
            </a:r>
            <a:r>
              <a:rPr lang="es-ES" dirty="0" err="1"/>
              <a:t>42.8E+100F</a:t>
            </a:r>
            <a:r>
              <a:rPr lang="es-ES" dirty="0"/>
              <a:t>=800</a:t>
            </a:r>
            <a:r>
              <a:rPr lang="es-ES" dirty="0">
                <a:sym typeface="Wingdings" panose="05000000000000000000" pitchFamily="2" charset="2"/>
              </a:rPr>
              <a:t> </a:t>
            </a:r>
          </a:p>
          <a:p>
            <a:r>
              <a:rPr lang="es-ES" dirty="0">
                <a:sym typeface="Wingdings" panose="05000000000000000000" pitchFamily="2" charset="2"/>
              </a:rPr>
              <a:t>	Si E=</a:t>
            </a:r>
            <a:r>
              <a:rPr lang="es-ES" dirty="0" err="1">
                <a:sym typeface="Wingdings" panose="05000000000000000000" pitchFamily="2" charset="2"/>
              </a:rPr>
              <a:t>0F</a:t>
            </a:r>
            <a:r>
              <a:rPr lang="es-ES" dirty="0">
                <a:sym typeface="Wingdings" panose="05000000000000000000" pitchFamily="2" charset="2"/>
              </a:rPr>
              <a:t>=8</a:t>
            </a:r>
          </a:p>
          <a:p>
            <a:r>
              <a:rPr lang="es-ES" dirty="0">
                <a:sym typeface="Wingdings" panose="05000000000000000000" pitchFamily="2" charset="2"/>
              </a:rPr>
              <a:t>	Si F=</a:t>
            </a:r>
            <a:r>
              <a:rPr lang="es-ES" dirty="0" err="1">
                <a:sym typeface="Wingdings" panose="05000000000000000000" pitchFamily="2" charset="2"/>
              </a:rPr>
              <a:t>0E</a:t>
            </a:r>
            <a:r>
              <a:rPr lang="es-ES" dirty="0">
                <a:sym typeface="Wingdings" panose="05000000000000000000" pitchFamily="2" charset="2"/>
              </a:rPr>
              <a:t>=18,69</a:t>
            </a:r>
            <a:r>
              <a:rPr lang="es-ES" dirty="0"/>
              <a:t>          </a:t>
            </a:r>
            <a:endParaRPr lang="es-ES" dirty="0">
              <a:sym typeface="Wingdings" panose="05000000000000000000" pitchFamily="2" charset="2"/>
            </a:endParaRPr>
          </a:p>
        </p:txBody>
      </p:sp>
      <p:graphicFrame>
        <p:nvGraphicFramePr>
          <p:cNvPr id="6" name="6 Tabla">
            <a:extLst>
              <a:ext uri="{FF2B5EF4-FFF2-40B4-BE49-F238E27FC236}">
                <a16:creationId xmlns:a16="http://schemas.microsoft.com/office/drawing/2014/main" id="{CABA01C4-4ACF-4293-AB4B-650BB25F2799}"/>
              </a:ext>
            </a:extLst>
          </p:cNvPr>
          <p:cNvGraphicFramePr>
            <a:graphicFrameLocks noGrp="1"/>
          </p:cNvGraphicFramePr>
          <p:nvPr/>
        </p:nvGraphicFramePr>
        <p:xfrm>
          <a:off x="1186817" y="3783330"/>
          <a:ext cx="3400423" cy="1708788"/>
        </p:xfrm>
        <a:graphic>
          <a:graphicData uri="http://schemas.openxmlformats.org/drawingml/2006/table">
            <a:tbl>
              <a:tblPr firstRow="1" bandRow="1">
                <a:tableStyleId>{00A15C55-8517-42AA-B614-E9B94910E393}</a:tableStyleId>
              </a:tblPr>
              <a:tblGrid>
                <a:gridCol w="282583">
                  <a:extLst>
                    <a:ext uri="{9D8B030D-6E8A-4147-A177-3AD203B41FA5}">
                      <a16:colId xmlns:a16="http://schemas.microsoft.com/office/drawing/2014/main" val="20000"/>
                    </a:ext>
                  </a:extLst>
                </a:gridCol>
                <a:gridCol w="282583">
                  <a:extLst>
                    <a:ext uri="{9D8B030D-6E8A-4147-A177-3AD203B41FA5}">
                      <a16:colId xmlns:a16="http://schemas.microsoft.com/office/drawing/2014/main" val="20001"/>
                    </a:ext>
                  </a:extLst>
                </a:gridCol>
                <a:gridCol w="292010">
                  <a:extLst>
                    <a:ext uri="{9D8B030D-6E8A-4147-A177-3AD203B41FA5}">
                      <a16:colId xmlns:a16="http://schemas.microsoft.com/office/drawing/2014/main" val="20002"/>
                    </a:ext>
                  </a:extLst>
                </a:gridCol>
                <a:gridCol w="282583">
                  <a:extLst>
                    <a:ext uri="{9D8B030D-6E8A-4147-A177-3AD203B41FA5}">
                      <a16:colId xmlns:a16="http://schemas.microsoft.com/office/drawing/2014/main" val="20003"/>
                    </a:ext>
                  </a:extLst>
                </a:gridCol>
                <a:gridCol w="282583">
                  <a:extLst>
                    <a:ext uri="{9D8B030D-6E8A-4147-A177-3AD203B41FA5}">
                      <a16:colId xmlns:a16="http://schemas.microsoft.com/office/drawing/2014/main" val="20004"/>
                    </a:ext>
                  </a:extLst>
                </a:gridCol>
                <a:gridCol w="282583">
                  <a:extLst>
                    <a:ext uri="{9D8B030D-6E8A-4147-A177-3AD203B41FA5}">
                      <a16:colId xmlns:a16="http://schemas.microsoft.com/office/drawing/2014/main" val="20005"/>
                    </a:ext>
                  </a:extLst>
                </a:gridCol>
                <a:gridCol w="282583">
                  <a:extLst>
                    <a:ext uri="{9D8B030D-6E8A-4147-A177-3AD203B41FA5}">
                      <a16:colId xmlns:a16="http://schemas.microsoft.com/office/drawing/2014/main" val="20006"/>
                    </a:ext>
                  </a:extLst>
                </a:gridCol>
                <a:gridCol w="282583">
                  <a:extLst>
                    <a:ext uri="{9D8B030D-6E8A-4147-A177-3AD203B41FA5}">
                      <a16:colId xmlns:a16="http://schemas.microsoft.com/office/drawing/2014/main" val="20007"/>
                    </a:ext>
                  </a:extLst>
                </a:gridCol>
                <a:gridCol w="282583">
                  <a:extLst>
                    <a:ext uri="{9D8B030D-6E8A-4147-A177-3AD203B41FA5}">
                      <a16:colId xmlns:a16="http://schemas.microsoft.com/office/drawing/2014/main" val="20008"/>
                    </a:ext>
                  </a:extLst>
                </a:gridCol>
                <a:gridCol w="282583">
                  <a:extLst>
                    <a:ext uri="{9D8B030D-6E8A-4147-A177-3AD203B41FA5}">
                      <a16:colId xmlns:a16="http://schemas.microsoft.com/office/drawing/2014/main" val="20009"/>
                    </a:ext>
                  </a:extLst>
                </a:gridCol>
                <a:gridCol w="282583">
                  <a:extLst>
                    <a:ext uri="{9D8B030D-6E8A-4147-A177-3AD203B41FA5}">
                      <a16:colId xmlns:a16="http://schemas.microsoft.com/office/drawing/2014/main" val="20010"/>
                    </a:ext>
                  </a:extLst>
                </a:gridCol>
                <a:gridCol w="282583">
                  <a:extLst>
                    <a:ext uri="{9D8B030D-6E8A-4147-A177-3AD203B41FA5}">
                      <a16:colId xmlns:a16="http://schemas.microsoft.com/office/drawing/2014/main" val="20011"/>
                    </a:ext>
                  </a:extLst>
                </a:gridCol>
              </a:tblGrid>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0"/>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1"/>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2"/>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3"/>
                  </a:ext>
                </a:extLst>
              </a:tr>
              <a:tr h="284798">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4"/>
                  </a:ext>
                </a:extLst>
              </a:tr>
              <a:tr h="284798">
                <a:tc>
                  <a:txBody>
                    <a:bodyPr/>
                    <a:lstStyle/>
                    <a:p>
                      <a:endParaRPr lang="es-PE" sz="120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tc>
                  <a:txBody>
                    <a:bodyPr/>
                    <a:lstStyle/>
                    <a:p>
                      <a:endParaRPr lang="es-PE" sz="1200" dirty="0">
                        <a:solidFill>
                          <a:srgbClr val="FF0000"/>
                        </a:solidFill>
                      </a:endParaRPr>
                    </a:p>
                  </a:txBody>
                  <a:tcPr>
                    <a:solidFill>
                      <a:schemeClr val="accent1">
                        <a:lumMod val="40000"/>
                        <a:lumOff val="60000"/>
                      </a:schemeClr>
                    </a:solidFill>
                  </a:tcPr>
                </a:tc>
                <a:extLst>
                  <a:ext uri="{0D108BD9-81ED-4DB2-BD59-A6C34878D82A}">
                    <a16:rowId xmlns:a16="http://schemas.microsoft.com/office/drawing/2014/main" val="10005"/>
                  </a:ext>
                </a:extLst>
              </a:tr>
            </a:tbl>
          </a:graphicData>
        </a:graphic>
      </p:graphicFrame>
      <p:cxnSp>
        <p:nvCxnSpPr>
          <p:cNvPr id="8" name="4 Conector recto de flecha">
            <a:extLst>
              <a:ext uri="{FF2B5EF4-FFF2-40B4-BE49-F238E27FC236}">
                <a16:creationId xmlns:a16="http://schemas.microsoft.com/office/drawing/2014/main" id="{0F0C1F1E-1660-4F28-B636-E9963BCDA5AE}"/>
              </a:ext>
            </a:extLst>
          </p:cNvPr>
          <p:cNvCxnSpPr>
            <a:cxnSpLocks/>
          </p:cNvCxnSpPr>
          <p:nvPr/>
        </p:nvCxnSpPr>
        <p:spPr>
          <a:xfrm flipH="1">
            <a:off x="992038" y="2181446"/>
            <a:ext cx="191021" cy="70048"/>
          </a:xfrm>
          <a:prstGeom prst="straightConnector1">
            <a:avLst/>
          </a:prstGeom>
          <a:ln w="19050">
            <a:solidFill>
              <a:srgbClr val="7030A0"/>
            </a:solidFill>
            <a:tailEnd type="arrow"/>
          </a:ln>
        </p:spPr>
        <p:style>
          <a:lnRef idx="1">
            <a:schemeClr val="accent1"/>
          </a:lnRef>
          <a:fillRef idx="0">
            <a:schemeClr val="accent1"/>
          </a:fillRef>
          <a:effectRef idx="0">
            <a:schemeClr val="accent1"/>
          </a:effectRef>
          <a:fontRef idx="minor">
            <a:schemeClr val="tx1"/>
          </a:fontRef>
        </p:style>
      </p:cxnSp>
      <p:sp>
        <p:nvSpPr>
          <p:cNvPr id="9" name="7 CuadroTexto">
            <a:extLst>
              <a:ext uri="{FF2B5EF4-FFF2-40B4-BE49-F238E27FC236}">
                <a16:creationId xmlns:a16="http://schemas.microsoft.com/office/drawing/2014/main" id="{F4346BB2-45C8-437F-872B-282B14E3CF79}"/>
              </a:ext>
            </a:extLst>
          </p:cNvPr>
          <p:cNvSpPr txBox="1"/>
          <p:nvPr/>
        </p:nvSpPr>
        <p:spPr>
          <a:xfrm>
            <a:off x="585216" y="1817234"/>
            <a:ext cx="462180" cy="3600986"/>
          </a:xfrm>
          <a:prstGeom prst="rect">
            <a:avLst/>
          </a:prstGeom>
          <a:noFill/>
        </p:spPr>
        <p:txBody>
          <a:bodyPr wrap="square" rtlCol="0">
            <a:spAutoFit/>
          </a:bodyPr>
          <a:lstStyle/>
          <a:p>
            <a:r>
              <a:rPr lang="es-ES" sz="1900" dirty="0"/>
              <a:t>24</a:t>
            </a:r>
          </a:p>
          <a:p>
            <a:r>
              <a:rPr lang="es-ES" sz="1900" dirty="0"/>
              <a:t>22</a:t>
            </a:r>
            <a:endParaRPr lang="es-PE" sz="1900" dirty="0"/>
          </a:p>
          <a:p>
            <a:r>
              <a:rPr lang="es-PE" sz="1900" dirty="0"/>
              <a:t>20</a:t>
            </a:r>
          </a:p>
          <a:p>
            <a:r>
              <a:rPr lang="es-PE" sz="1900" dirty="0"/>
              <a:t>18</a:t>
            </a:r>
          </a:p>
          <a:p>
            <a:r>
              <a:rPr lang="es-PE" sz="1900" dirty="0"/>
              <a:t>16</a:t>
            </a:r>
          </a:p>
          <a:p>
            <a:r>
              <a:rPr lang="es-PE" sz="1900" dirty="0"/>
              <a:t>14</a:t>
            </a:r>
          </a:p>
          <a:p>
            <a:r>
              <a:rPr lang="es-PE" sz="1900" dirty="0"/>
              <a:t>12</a:t>
            </a:r>
          </a:p>
          <a:p>
            <a:r>
              <a:rPr lang="es-PE" sz="1900" dirty="0"/>
              <a:t>10</a:t>
            </a:r>
          </a:p>
          <a:p>
            <a:r>
              <a:rPr lang="es-PE" sz="1900" dirty="0"/>
              <a:t>8</a:t>
            </a:r>
          </a:p>
          <a:p>
            <a:r>
              <a:rPr lang="es-PE" sz="1900" dirty="0"/>
              <a:t>6</a:t>
            </a:r>
          </a:p>
          <a:p>
            <a:r>
              <a:rPr lang="es-PE" sz="1900" dirty="0"/>
              <a:t>4</a:t>
            </a:r>
          </a:p>
          <a:p>
            <a:r>
              <a:rPr lang="es-PE" sz="1900" dirty="0"/>
              <a:t>2</a:t>
            </a:r>
          </a:p>
        </p:txBody>
      </p:sp>
      <p:sp>
        <p:nvSpPr>
          <p:cNvPr id="10" name="8 CuadroTexto">
            <a:extLst>
              <a:ext uri="{FF2B5EF4-FFF2-40B4-BE49-F238E27FC236}">
                <a16:creationId xmlns:a16="http://schemas.microsoft.com/office/drawing/2014/main" id="{D82CE086-6A1C-4C39-8B75-0E2AAE0A6ECA}"/>
              </a:ext>
            </a:extLst>
          </p:cNvPr>
          <p:cNvSpPr txBox="1"/>
          <p:nvPr/>
        </p:nvSpPr>
        <p:spPr>
          <a:xfrm>
            <a:off x="1302664" y="5526559"/>
            <a:ext cx="3589376" cy="384721"/>
          </a:xfrm>
          <a:prstGeom prst="rect">
            <a:avLst/>
          </a:prstGeom>
          <a:noFill/>
        </p:spPr>
        <p:txBody>
          <a:bodyPr wrap="square" rtlCol="0">
            <a:spAutoFit/>
          </a:bodyPr>
          <a:lstStyle>
            <a:defPPr>
              <a:defRPr lang="es-PE"/>
            </a:defPPr>
          </a:lstStyle>
          <a:p>
            <a:r>
              <a:rPr lang="es-PE" sz="1900" dirty="0">
                <a:latin typeface="Arial Narrow" panose="020B0606020202030204" pitchFamily="34" charset="0"/>
              </a:rPr>
              <a:t>2   4    6   8  10 12 14  16 18  20 22 24</a:t>
            </a:r>
          </a:p>
        </p:txBody>
      </p:sp>
      <p:cxnSp>
        <p:nvCxnSpPr>
          <p:cNvPr id="11" name="10 Conector recto de flecha">
            <a:extLst>
              <a:ext uri="{FF2B5EF4-FFF2-40B4-BE49-F238E27FC236}">
                <a16:creationId xmlns:a16="http://schemas.microsoft.com/office/drawing/2014/main" id="{E3649BF5-F65E-4613-A987-86880304DDE5}"/>
              </a:ext>
            </a:extLst>
          </p:cNvPr>
          <p:cNvCxnSpPr>
            <a:cxnSpLocks/>
          </p:cNvCxnSpPr>
          <p:nvPr/>
        </p:nvCxnSpPr>
        <p:spPr>
          <a:xfrm flipH="1">
            <a:off x="1052423" y="4328445"/>
            <a:ext cx="96795" cy="243552"/>
          </a:xfrm>
          <a:prstGeom prst="straightConnector1">
            <a:avLst/>
          </a:prstGeom>
          <a:ln w="1905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3EFE15C4-DB42-4891-BCC0-339F54F89295}"/>
              </a:ext>
            </a:extLst>
          </p:cNvPr>
          <p:cNvCxnSpPr>
            <a:cxnSpLocks/>
          </p:cNvCxnSpPr>
          <p:nvPr/>
        </p:nvCxnSpPr>
        <p:spPr>
          <a:xfrm>
            <a:off x="1125855" y="4319855"/>
            <a:ext cx="2945813" cy="1304566"/>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0FAB92F2-BF30-4806-ADFA-BD5ECFD71026}"/>
              </a:ext>
            </a:extLst>
          </p:cNvPr>
          <p:cNvCxnSpPr>
            <a:cxnSpLocks/>
          </p:cNvCxnSpPr>
          <p:nvPr/>
        </p:nvCxnSpPr>
        <p:spPr>
          <a:xfrm flipH="1" flipV="1">
            <a:off x="1147602" y="2164082"/>
            <a:ext cx="1130808" cy="3669790"/>
          </a:xfrm>
          <a:prstGeom prst="line">
            <a:avLst/>
          </a:prstGeom>
          <a:ln w="1905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14 Conector recto de flecha">
            <a:extLst>
              <a:ext uri="{FF2B5EF4-FFF2-40B4-BE49-F238E27FC236}">
                <a16:creationId xmlns:a16="http://schemas.microsoft.com/office/drawing/2014/main" id="{6A200887-7F54-4937-B224-79710C977A04}"/>
              </a:ext>
            </a:extLst>
          </p:cNvPr>
          <p:cNvCxnSpPr>
            <a:cxnSpLocks/>
          </p:cNvCxnSpPr>
          <p:nvPr/>
        </p:nvCxnSpPr>
        <p:spPr>
          <a:xfrm flipV="1">
            <a:off x="1185017" y="1859280"/>
            <a:ext cx="0" cy="464820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61119B03-173E-49F5-BC94-DB31DCF85D2B}"/>
              </a:ext>
            </a:extLst>
          </p:cNvPr>
          <p:cNvCxnSpPr/>
          <p:nvPr/>
        </p:nvCxnSpPr>
        <p:spPr>
          <a:xfrm>
            <a:off x="308466" y="5493765"/>
            <a:ext cx="4595004" cy="0"/>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CuadroTexto 15">
            <a:extLst>
              <a:ext uri="{FF2B5EF4-FFF2-40B4-BE49-F238E27FC236}">
                <a16:creationId xmlns:a16="http://schemas.microsoft.com/office/drawing/2014/main" id="{E603247D-F85D-4C20-9F74-FC99D41414FE}"/>
              </a:ext>
            </a:extLst>
          </p:cNvPr>
          <p:cNvSpPr txBox="1"/>
          <p:nvPr/>
        </p:nvSpPr>
        <p:spPr>
          <a:xfrm>
            <a:off x="4846320" y="5501640"/>
            <a:ext cx="701040" cy="523220"/>
          </a:xfrm>
          <a:prstGeom prst="rect">
            <a:avLst/>
          </a:prstGeom>
          <a:noFill/>
        </p:spPr>
        <p:txBody>
          <a:bodyPr wrap="square" rtlCol="0">
            <a:spAutoFit/>
          </a:bodyPr>
          <a:lstStyle/>
          <a:p>
            <a:r>
              <a:rPr lang="es-ES" sz="2800" dirty="0">
                <a:solidFill>
                  <a:srgbClr val="FF0000"/>
                </a:solidFill>
              </a:rPr>
              <a:t>E</a:t>
            </a:r>
            <a:endParaRPr lang="es-PE" sz="2800" dirty="0">
              <a:solidFill>
                <a:srgbClr val="FF0000"/>
              </a:solidFill>
            </a:endParaRPr>
          </a:p>
        </p:txBody>
      </p:sp>
      <p:sp>
        <p:nvSpPr>
          <p:cNvPr id="17" name="CuadroTexto 16">
            <a:extLst>
              <a:ext uri="{FF2B5EF4-FFF2-40B4-BE49-F238E27FC236}">
                <a16:creationId xmlns:a16="http://schemas.microsoft.com/office/drawing/2014/main" id="{F768F3A9-4B7B-49E6-9046-1A1E1213A388}"/>
              </a:ext>
            </a:extLst>
          </p:cNvPr>
          <p:cNvSpPr txBox="1"/>
          <p:nvPr/>
        </p:nvSpPr>
        <p:spPr>
          <a:xfrm>
            <a:off x="609600" y="1203960"/>
            <a:ext cx="701040" cy="523220"/>
          </a:xfrm>
          <a:prstGeom prst="rect">
            <a:avLst/>
          </a:prstGeom>
          <a:noFill/>
        </p:spPr>
        <p:txBody>
          <a:bodyPr wrap="square" rtlCol="0">
            <a:spAutoFit/>
          </a:bodyPr>
          <a:lstStyle/>
          <a:p>
            <a:r>
              <a:rPr lang="es-ES" sz="2800" dirty="0">
                <a:solidFill>
                  <a:srgbClr val="FF0000"/>
                </a:solidFill>
              </a:rPr>
              <a:t>F</a:t>
            </a:r>
            <a:endParaRPr lang="es-PE" sz="2800" dirty="0">
              <a:solidFill>
                <a:srgbClr val="FF0000"/>
              </a:solidFill>
            </a:endParaRPr>
          </a:p>
        </p:txBody>
      </p:sp>
      <p:cxnSp>
        <p:nvCxnSpPr>
          <p:cNvPr id="18" name="Conector recto 17">
            <a:extLst>
              <a:ext uri="{FF2B5EF4-FFF2-40B4-BE49-F238E27FC236}">
                <a16:creationId xmlns:a16="http://schemas.microsoft.com/office/drawing/2014/main" id="{1F435FB1-EF78-47B1-ACFD-C18C9B2CCEC3}"/>
              </a:ext>
            </a:extLst>
          </p:cNvPr>
          <p:cNvCxnSpPr>
            <a:cxnSpLocks/>
          </p:cNvCxnSpPr>
          <p:nvPr/>
        </p:nvCxnSpPr>
        <p:spPr>
          <a:xfrm>
            <a:off x="1114532" y="3328416"/>
            <a:ext cx="737616" cy="2194560"/>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82F4E26D-CB49-4260-8615-F07C7B9DC76F}"/>
              </a:ext>
            </a:extLst>
          </p:cNvPr>
          <p:cNvCxnSpPr>
            <a:cxnSpLocks/>
          </p:cNvCxnSpPr>
          <p:nvPr/>
        </p:nvCxnSpPr>
        <p:spPr>
          <a:xfrm flipV="1">
            <a:off x="1188720" y="4356340"/>
            <a:ext cx="3383280" cy="1145302"/>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0" name="10 Conector recto de flecha">
            <a:extLst>
              <a:ext uri="{FF2B5EF4-FFF2-40B4-BE49-F238E27FC236}">
                <a16:creationId xmlns:a16="http://schemas.microsoft.com/office/drawing/2014/main" id="{4BC0E063-7D8D-4433-8C70-15DBF71CDAE3}"/>
              </a:ext>
            </a:extLst>
          </p:cNvPr>
          <p:cNvCxnSpPr>
            <a:cxnSpLocks/>
          </p:cNvCxnSpPr>
          <p:nvPr/>
        </p:nvCxnSpPr>
        <p:spPr>
          <a:xfrm flipV="1">
            <a:off x="1095248" y="3244703"/>
            <a:ext cx="251133" cy="90006"/>
          </a:xfrm>
          <a:prstGeom prst="straightConnector1">
            <a:avLst/>
          </a:prstGeom>
          <a:ln w="19050">
            <a:solidFill>
              <a:srgbClr val="00B0F0"/>
            </a:solidFill>
            <a:tailEnd type="arrow"/>
          </a:ln>
        </p:spPr>
        <p:style>
          <a:lnRef idx="1">
            <a:schemeClr val="accent1"/>
          </a:lnRef>
          <a:fillRef idx="0">
            <a:schemeClr val="accent1"/>
          </a:fillRef>
          <a:effectRef idx="0">
            <a:schemeClr val="accent1"/>
          </a:effectRef>
          <a:fontRef idx="minor">
            <a:schemeClr val="tx1"/>
          </a:fontRef>
        </p:style>
      </p:cxnSp>
      <p:cxnSp>
        <p:nvCxnSpPr>
          <p:cNvPr id="23" name="10 Conector recto de flecha">
            <a:extLst>
              <a:ext uri="{FF2B5EF4-FFF2-40B4-BE49-F238E27FC236}">
                <a16:creationId xmlns:a16="http://schemas.microsoft.com/office/drawing/2014/main" id="{FAF74571-0BDE-44BB-BFBB-89A65A95C01C}"/>
              </a:ext>
            </a:extLst>
          </p:cNvPr>
          <p:cNvCxnSpPr>
            <a:cxnSpLocks/>
          </p:cNvCxnSpPr>
          <p:nvPr/>
        </p:nvCxnSpPr>
        <p:spPr>
          <a:xfrm flipH="1" flipV="1">
            <a:off x="4459857" y="4123426"/>
            <a:ext cx="101397" cy="237241"/>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38B4CA7C-4508-4C84-8285-70D0D6D9E5C4}"/>
              </a:ext>
            </a:extLst>
          </p:cNvPr>
          <p:cNvSpPr/>
          <p:nvPr/>
        </p:nvSpPr>
        <p:spPr>
          <a:xfrm>
            <a:off x="1708031" y="4882551"/>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lipse 26">
            <a:extLst>
              <a:ext uri="{FF2B5EF4-FFF2-40B4-BE49-F238E27FC236}">
                <a16:creationId xmlns:a16="http://schemas.microsoft.com/office/drawing/2014/main" id="{834A075A-81DD-4A1C-9F42-4FE331B7FEEF}"/>
              </a:ext>
            </a:extLst>
          </p:cNvPr>
          <p:cNvSpPr/>
          <p:nvPr/>
        </p:nvSpPr>
        <p:spPr>
          <a:xfrm>
            <a:off x="1713781" y="5164347"/>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0" name="Elipse 29">
            <a:extLst>
              <a:ext uri="{FF2B5EF4-FFF2-40B4-BE49-F238E27FC236}">
                <a16:creationId xmlns:a16="http://schemas.microsoft.com/office/drawing/2014/main" id="{A00DC137-5D59-4019-A5FD-9B20481A2C7E}"/>
              </a:ext>
            </a:extLst>
          </p:cNvPr>
          <p:cNvSpPr/>
          <p:nvPr/>
        </p:nvSpPr>
        <p:spPr>
          <a:xfrm>
            <a:off x="1713781" y="4603630"/>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dirty="0"/>
          </a:p>
        </p:txBody>
      </p:sp>
      <p:sp>
        <p:nvSpPr>
          <p:cNvPr id="32" name="Elipse 31">
            <a:extLst>
              <a:ext uri="{FF2B5EF4-FFF2-40B4-BE49-F238E27FC236}">
                <a16:creationId xmlns:a16="http://schemas.microsoft.com/office/drawing/2014/main" id="{0A708197-147E-4D62-B2F8-C726CF47DEC4}"/>
              </a:ext>
            </a:extLst>
          </p:cNvPr>
          <p:cNvSpPr/>
          <p:nvPr/>
        </p:nvSpPr>
        <p:spPr>
          <a:xfrm>
            <a:off x="1866181" y="4756030"/>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Elipse 32">
            <a:extLst>
              <a:ext uri="{FF2B5EF4-FFF2-40B4-BE49-F238E27FC236}">
                <a16:creationId xmlns:a16="http://schemas.microsoft.com/office/drawing/2014/main" id="{F4BBA6DE-951E-4568-BFA3-D167D46D35AD}"/>
              </a:ext>
            </a:extLst>
          </p:cNvPr>
          <p:cNvSpPr/>
          <p:nvPr/>
        </p:nvSpPr>
        <p:spPr>
          <a:xfrm>
            <a:off x="2009955" y="5028158"/>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4" name="Elipse 33">
            <a:extLst>
              <a:ext uri="{FF2B5EF4-FFF2-40B4-BE49-F238E27FC236}">
                <a16:creationId xmlns:a16="http://schemas.microsoft.com/office/drawing/2014/main" id="{B5F96459-02AA-4D86-BC49-0A9EC91AFC8A}"/>
              </a:ext>
            </a:extLst>
          </p:cNvPr>
          <p:cNvSpPr/>
          <p:nvPr/>
        </p:nvSpPr>
        <p:spPr>
          <a:xfrm>
            <a:off x="1851804" y="5164347"/>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5" name="Elipse 34">
            <a:extLst>
              <a:ext uri="{FF2B5EF4-FFF2-40B4-BE49-F238E27FC236}">
                <a16:creationId xmlns:a16="http://schemas.microsoft.com/office/drawing/2014/main" id="{65C44F3E-E75A-4FC1-A3AA-73E728A79330}"/>
              </a:ext>
            </a:extLst>
          </p:cNvPr>
          <p:cNvSpPr/>
          <p:nvPr/>
        </p:nvSpPr>
        <p:spPr>
          <a:xfrm>
            <a:off x="1705154" y="4733024"/>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Elipse 35">
            <a:extLst>
              <a:ext uri="{FF2B5EF4-FFF2-40B4-BE49-F238E27FC236}">
                <a16:creationId xmlns:a16="http://schemas.microsoft.com/office/drawing/2014/main" id="{716022E7-B6FB-4542-AE5B-8C9E055E8B22}"/>
              </a:ext>
            </a:extLst>
          </p:cNvPr>
          <p:cNvSpPr/>
          <p:nvPr/>
        </p:nvSpPr>
        <p:spPr>
          <a:xfrm>
            <a:off x="1719532" y="5032074"/>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Elipse 36">
            <a:extLst>
              <a:ext uri="{FF2B5EF4-FFF2-40B4-BE49-F238E27FC236}">
                <a16:creationId xmlns:a16="http://schemas.microsoft.com/office/drawing/2014/main" id="{170F1B00-7D87-4B1B-9B53-9AEFD331E0BF}"/>
              </a:ext>
            </a:extLst>
          </p:cNvPr>
          <p:cNvSpPr/>
          <p:nvPr/>
        </p:nvSpPr>
        <p:spPr>
          <a:xfrm>
            <a:off x="1863305" y="4891175"/>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8" name="Elipse 37">
            <a:extLst>
              <a:ext uri="{FF2B5EF4-FFF2-40B4-BE49-F238E27FC236}">
                <a16:creationId xmlns:a16="http://schemas.microsoft.com/office/drawing/2014/main" id="{C8DDB77C-F3BD-48CE-829E-32889039D30C}"/>
              </a:ext>
            </a:extLst>
          </p:cNvPr>
          <p:cNvSpPr/>
          <p:nvPr/>
        </p:nvSpPr>
        <p:spPr>
          <a:xfrm>
            <a:off x="1860429" y="5026323"/>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9" name="Elipse 38">
            <a:extLst>
              <a:ext uri="{FF2B5EF4-FFF2-40B4-BE49-F238E27FC236}">
                <a16:creationId xmlns:a16="http://schemas.microsoft.com/office/drawing/2014/main" id="{08A2668C-EE39-4063-AD4A-B258320D0FC0}"/>
              </a:ext>
            </a:extLst>
          </p:cNvPr>
          <p:cNvSpPr/>
          <p:nvPr/>
        </p:nvSpPr>
        <p:spPr>
          <a:xfrm>
            <a:off x="1584384" y="4603628"/>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0" name="Elipse 39">
            <a:extLst>
              <a:ext uri="{FF2B5EF4-FFF2-40B4-BE49-F238E27FC236}">
                <a16:creationId xmlns:a16="http://schemas.microsoft.com/office/drawing/2014/main" id="{64557C17-0AF4-4493-A545-AE67393842C2}"/>
              </a:ext>
            </a:extLst>
          </p:cNvPr>
          <p:cNvSpPr/>
          <p:nvPr/>
        </p:nvSpPr>
        <p:spPr>
          <a:xfrm>
            <a:off x="2012831" y="5170098"/>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1" name="Elipse 40">
            <a:extLst>
              <a:ext uri="{FF2B5EF4-FFF2-40B4-BE49-F238E27FC236}">
                <a16:creationId xmlns:a16="http://schemas.microsoft.com/office/drawing/2014/main" id="{9A87BA96-A1A6-4C23-9A98-E110386CE070}"/>
              </a:ext>
            </a:extLst>
          </p:cNvPr>
          <p:cNvSpPr/>
          <p:nvPr/>
        </p:nvSpPr>
        <p:spPr>
          <a:xfrm>
            <a:off x="1871932" y="4606506"/>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42" name="CuadroTexto 41">
            <a:extLst>
              <a:ext uri="{FF2B5EF4-FFF2-40B4-BE49-F238E27FC236}">
                <a16:creationId xmlns:a16="http://schemas.microsoft.com/office/drawing/2014/main" id="{9E81542A-3539-485C-A5EC-FDEA5486183F}"/>
              </a:ext>
            </a:extLst>
          </p:cNvPr>
          <p:cNvSpPr txBox="1"/>
          <p:nvPr/>
        </p:nvSpPr>
        <p:spPr>
          <a:xfrm>
            <a:off x="9394166" y="1302588"/>
            <a:ext cx="2147978" cy="1200329"/>
          </a:xfrm>
          <a:prstGeom prst="rect">
            <a:avLst/>
          </a:prstGeom>
          <a:noFill/>
        </p:spPr>
        <p:txBody>
          <a:bodyPr wrap="square" rtlCol="0">
            <a:spAutoFit/>
          </a:bodyPr>
          <a:lstStyle/>
          <a:p>
            <a:r>
              <a:rPr lang="es-ES" dirty="0"/>
              <a:t>Graficando la </a:t>
            </a:r>
            <a:r>
              <a:rPr lang="es-ES" dirty="0" err="1"/>
              <a:t>F.O</a:t>
            </a:r>
            <a:r>
              <a:rPr lang="es-ES" dirty="0"/>
              <a:t>.</a:t>
            </a:r>
          </a:p>
          <a:p>
            <a:r>
              <a:rPr lang="es-ES" dirty="0" err="1"/>
              <a:t>18E+6F</a:t>
            </a:r>
            <a:r>
              <a:rPr lang="es-ES" dirty="0"/>
              <a:t>=36</a:t>
            </a:r>
          </a:p>
          <a:p>
            <a:r>
              <a:rPr lang="es-ES" dirty="0">
                <a:sym typeface="Wingdings" panose="05000000000000000000" pitchFamily="2" charset="2"/>
              </a:rPr>
              <a:t>Si E=</a:t>
            </a:r>
            <a:r>
              <a:rPr lang="es-ES" dirty="0" err="1">
                <a:sym typeface="Wingdings" panose="05000000000000000000" pitchFamily="2" charset="2"/>
              </a:rPr>
              <a:t>0F</a:t>
            </a:r>
            <a:r>
              <a:rPr lang="es-ES" dirty="0">
                <a:sym typeface="Wingdings" panose="05000000000000000000" pitchFamily="2" charset="2"/>
              </a:rPr>
              <a:t>=6</a:t>
            </a:r>
          </a:p>
          <a:p>
            <a:r>
              <a:rPr lang="es-ES" dirty="0">
                <a:sym typeface="Wingdings" panose="05000000000000000000" pitchFamily="2" charset="2"/>
              </a:rPr>
              <a:t>Si F=</a:t>
            </a:r>
            <a:r>
              <a:rPr lang="es-ES" dirty="0" err="1">
                <a:sym typeface="Wingdings" panose="05000000000000000000" pitchFamily="2" charset="2"/>
              </a:rPr>
              <a:t>0E</a:t>
            </a:r>
            <a:r>
              <a:rPr lang="es-ES" dirty="0">
                <a:sym typeface="Wingdings" panose="05000000000000000000" pitchFamily="2" charset="2"/>
              </a:rPr>
              <a:t>=2</a:t>
            </a:r>
          </a:p>
        </p:txBody>
      </p:sp>
      <p:cxnSp>
        <p:nvCxnSpPr>
          <p:cNvPr id="44" name="Conector recto 43">
            <a:extLst>
              <a:ext uri="{FF2B5EF4-FFF2-40B4-BE49-F238E27FC236}">
                <a16:creationId xmlns:a16="http://schemas.microsoft.com/office/drawing/2014/main" id="{13946283-53E3-4F32-974A-D0AA2700C709}"/>
              </a:ext>
            </a:extLst>
          </p:cNvPr>
          <p:cNvCxnSpPr>
            <a:cxnSpLocks/>
          </p:cNvCxnSpPr>
          <p:nvPr/>
        </p:nvCxnSpPr>
        <p:spPr>
          <a:xfrm flipH="1" flipV="1">
            <a:off x="1112691" y="4433247"/>
            <a:ext cx="578087" cy="1751892"/>
          </a:xfrm>
          <a:prstGeom prst="line">
            <a:avLst/>
          </a:prstGeom>
          <a:ln w="19050">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47" name="Elipse 46">
            <a:extLst>
              <a:ext uri="{FF2B5EF4-FFF2-40B4-BE49-F238E27FC236}">
                <a16:creationId xmlns:a16="http://schemas.microsoft.com/office/drawing/2014/main" id="{F7E02603-6997-4E3A-AF3D-3CA827356D1F}"/>
              </a:ext>
            </a:extLst>
          </p:cNvPr>
          <p:cNvSpPr/>
          <p:nvPr/>
        </p:nvSpPr>
        <p:spPr>
          <a:xfrm>
            <a:off x="1588468" y="4496084"/>
            <a:ext cx="60385" cy="5175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49" name="Conector recto 48">
            <a:extLst>
              <a:ext uri="{FF2B5EF4-FFF2-40B4-BE49-F238E27FC236}">
                <a16:creationId xmlns:a16="http://schemas.microsoft.com/office/drawing/2014/main" id="{C574B6AB-25B8-462C-86B1-D4F972C1C817}"/>
              </a:ext>
            </a:extLst>
          </p:cNvPr>
          <p:cNvCxnSpPr>
            <a:cxnSpLocks/>
          </p:cNvCxnSpPr>
          <p:nvPr/>
        </p:nvCxnSpPr>
        <p:spPr>
          <a:xfrm flipH="1" flipV="1">
            <a:off x="1732760" y="4077420"/>
            <a:ext cx="579119" cy="1762663"/>
          </a:xfrm>
          <a:prstGeom prst="line">
            <a:avLst/>
          </a:prstGeom>
          <a:ln w="19050">
            <a:solidFill>
              <a:srgbClr val="FF0000"/>
            </a:solidFill>
            <a:prstDash val="lgDash"/>
          </a:ln>
        </p:spPr>
        <p:style>
          <a:lnRef idx="1">
            <a:schemeClr val="accent1"/>
          </a:lnRef>
          <a:fillRef idx="0">
            <a:schemeClr val="accent1"/>
          </a:fillRef>
          <a:effectRef idx="0">
            <a:schemeClr val="accent1"/>
          </a:effectRef>
          <a:fontRef idx="minor">
            <a:schemeClr val="tx1"/>
          </a:fontRef>
        </p:style>
      </p:cxnSp>
      <p:sp>
        <p:nvSpPr>
          <p:cNvPr id="51" name="CuadroTexto 50">
            <a:extLst>
              <a:ext uri="{FF2B5EF4-FFF2-40B4-BE49-F238E27FC236}">
                <a16:creationId xmlns:a16="http://schemas.microsoft.com/office/drawing/2014/main" id="{29FF2078-A613-49E0-9BBF-27B3C2119986}"/>
              </a:ext>
            </a:extLst>
          </p:cNvPr>
          <p:cNvSpPr txBox="1"/>
          <p:nvPr/>
        </p:nvSpPr>
        <p:spPr>
          <a:xfrm>
            <a:off x="9402447" y="2847407"/>
            <a:ext cx="2221992" cy="1754326"/>
          </a:xfrm>
          <a:prstGeom prst="rect">
            <a:avLst/>
          </a:prstGeom>
          <a:noFill/>
        </p:spPr>
        <p:txBody>
          <a:bodyPr wrap="square" rtlCol="0">
            <a:spAutoFit/>
          </a:bodyPr>
          <a:lstStyle/>
          <a:p>
            <a:r>
              <a:rPr lang="es-ES" dirty="0"/>
              <a:t>Hallando la Solución optima trabajando con las soluciones factibles:</a:t>
            </a:r>
          </a:p>
          <a:p>
            <a:r>
              <a:rPr lang="es-ES" dirty="0"/>
              <a:t>(6,3)</a:t>
            </a:r>
            <a:r>
              <a:rPr lang="es-ES" dirty="0">
                <a:sym typeface="Wingdings" panose="05000000000000000000" pitchFamily="2" charset="2"/>
              </a:rPr>
              <a:t>Z=126</a:t>
            </a:r>
          </a:p>
          <a:p>
            <a:r>
              <a:rPr lang="es-ES" dirty="0">
                <a:sym typeface="Wingdings" panose="05000000000000000000" pitchFamily="2" charset="2"/>
              </a:rPr>
              <a:t>(5,6)z=126</a:t>
            </a:r>
          </a:p>
        </p:txBody>
      </p:sp>
      <p:sp>
        <p:nvSpPr>
          <p:cNvPr id="52" name="Rectángulo 51">
            <a:extLst>
              <a:ext uri="{FF2B5EF4-FFF2-40B4-BE49-F238E27FC236}">
                <a16:creationId xmlns:a16="http://schemas.microsoft.com/office/drawing/2014/main" id="{3FEBBEA6-FF6E-46F0-88E2-03A4E9533437}"/>
              </a:ext>
            </a:extLst>
          </p:cNvPr>
          <p:cNvSpPr/>
          <p:nvPr/>
        </p:nvSpPr>
        <p:spPr>
          <a:xfrm>
            <a:off x="6278880" y="4585823"/>
            <a:ext cx="2965704" cy="923330"/>
          </a:xfrm>
          <a:prstGeom prst="rect">
            <a:avLst/>
          </a:prstGeom>
        </p:spPr>
        <p:txBody>
          <a:bodyPr wrap="square">
            <a:spAutoFit/>
          </a:bodyPr>
          <a:lstStyle/>
          <a:p>
            <a:r>
              <a:rPr lang="es-ES" dirty="0"/>
              <a:t>          E  –  </a:t>
            </a:r>
            <a:r>
              <a:rPr lang="es-ES" dirty="0" err="1"/>
              <a:t>3F</a:t>
            </a:r>
            <a:r>
              <a:rPr lang="es-ES" dirty="0"/>
              <a:t> =0   </a:t>
            </a:r>
            <a:r>
              <a:rPr lang="es-ES" dirty="0">
                <a:sym typeface="Wingdings" panose="05000000000000000000" pitchFamily="2" charset="2"/>
              </a:rPr>
              <a:t>   </a:t>
            </a:r>
          </a:p>
          <a:p>
            <a:r>
              <a:rPr lang="es-ES" dirty="0">
                <a:sym typeface="Wingdings" panose="05000000000000000000" pitchFamily="2" charset="2"/>
              </a:rPr>
              <a:t>	Si E=</a:t>
            </a:r>
            <a:r>
              <a:rPr lang="es-ES" dirty="0" err="1">
                <a:sym typeface="Wingdings" panose="05000000000000000000" pitchFamily="2" charset="2"/>
              </a:rPr>
              <a:t>0F</a:t>
            </a:r>
            <a:r>
              <a:rPr lang="es-ES" dirty="0">
                <a:sym typeface="Wingdings" panose="05000000000000000000" pitchFamily="2" charset="2"/>
              </a:rPr>
              <a:t>=0</a:t>
            </a:r>
          </a:p>
          <a:p>
            <a:r>
              <a:rPr lang="es-ES" dirty="0">
                <a:sym typeface="Wingdings" panose="05000000000000000000" pitchFamily="2" charset="2"/>
              </a:rPr>
              <a:t>	Si F=</a:t>
            </a:r>
            <a:r>
              <a:rPr lang="es-ES" dirty="0" err="1">
                <a:sym typeface="Wingdings" panose="05000000000000000000" pitchFamily="2" charset="2"/>
              </a:rPr>
              <a:t>1E</a:t>
            </a:r>
            <a:r>
              <a:rPr lang="es-ES" dirty="0">
                <a:sym typeface="Wingdings" panose="05000000000000000000" pitchFamily="2" charset="2"/>
              </a:rPr>
              <a:t>=3</a:t>
            </a:r>
            <a:endParaRPr lang="es-PE" dirty="0"/>
          </a:p>
        </p:txBody>
      </p:sp>
      <p:sp>
        <p:nvSpPr>
          <p:cNvPr id="53" name="Rectángulo 52">
            <a:extLst>
              <a:ext uri="{FF2B5EF4-FFF2-40B4-BE49-F238E27FC236}">
                <a16:creationId xmlns:a16="http://schemas.microsoft.com/office/drawing/2014/main" id="{85F37E49-4FCC-40FE-A1C0-50082122858B}"/>
              </a:ext>
            </a:extLst>
          </p:cNvPr>
          <p:cNvSpPr/>
          <p:nvPr/>
        </p:nvSpPr>
        <p:spPr>
          <a:xfrm>
            <a:off x="6248400" y="3561695"/>
            <a:ext cx="3048000" cy="923330"/>
          </a:xfrm>
          <a:prstGeom prst="rect">
            <a:avLst/>
          </a:prstGeom>
        </p:spPr>
        <p:txBody>
          <a:bodyPr wrap="square">
            <a:spAutoFit/>
          </a:bodyPr>
          <a:lstStyle/>
          <a:p>
            <a:r>
              <a:rPr lang="es-ES" dirty="0"/>
              <a:t>        </a:t>
            </a:r>
            <a:r>
              <a:rPr lang="es-ES" dirty="0" err="1"/>
              <a:t>30E</a:t>
            </a:r>
            <a:r>
              <a:rPr lang="es-ES" dirty="0"/>
              <a:t>  + </a:t>
            </a:r>
            <a:r>
              <a:rPr lang="es-ES" dirty="0" err="1"/>
              <a:t>10F</a:t>
            </a:r>
            <a:r>
              <a:rPr lang="es-ES" dirty="0"/>
              <a:t> =135</a:t>
            </a:r>
            <a:r>
              <a:rPr lang="es-ES" dirty="0">
                <a:sym typeface="Wingdings" panose="05000000000000000000" pitchFamily="2" charset="2"/>
              </a:rPr>
              <a:t>  </a:t>
            </a:r>
          </a:p>
          <a:p>
            <a:r>
              <a:rPr lang="es-ES" dirty="0">
                <a:sym typeface="Wingdings" panose="05000000000000000000" pitchFamily="2" charset="2"/>
              </a:rPr>
              <a:t>	Si E=</a:t>
            </a:r>
            <a:r>
              <a:rPr lang="es-ES" dirty="0" err="1">
                <a:sym typeface="Wingdings" panose="05000000000000000000" pitchFamily="2" charset="2"/>
              </a:rPr>
              <a:t>0F</a:t>
            </a:r>
            <a:r>
              <a:rPr lang="es-ES" dirty="0">
                <a:sym typeface="Wingdings" panose="05000000000000000000" pitchFamily="2" charset="2"/>
              </a:rPr>
              <a:t>=13,5</a:t>
            </a:r>
          </a:p>
          <a:p>
            <a:r>
              <a:rPr lang="es-ES" dirty="0">
                <a:sym typeface="Wingdings" panose="05000000000000000000" pitchFamily="2" charset="2"/>
              </a:rPr>
              <a:t>	Si F=</a:t>
            </a:r>
            <a:r>
              <a:rPr lang="es-ES" dirty="0" err="1">
                <a:sym typeface="Wingdings" panose="05000000000000000000" pitchFamily="2" charset="2"/>
              </a:rPr>
              <a:t>0E</a:t>
            </a:r>
            <a:r>
              <a:rPr lang="es-ES" dirty="0">
                <a:sym typeface="Wingdings" panose="05000000000000000000" pitchFamily="2" charset="2"/>
              </a:rPr>
              <a:t>=4,5</a:t>
            </a:r>
            <a:endParaRPr lang="es-PE" dirty="0"/>
          </a:p>
        </p:txBody>
      </p:sp>
      <p:sp>
        <p:nvSpPr>
          <p:cNvPr id="54" name="Rectángulo 53">
            <a:extLst>
              <a:ext uri="{FF2B5EF4-FFF2-40B4-BE49-F238E27FC236}">
                <a16:creationId xmlns:a16="http://schemas.microsoft.com/office/drawing/2014/main" id="{0B3D387C-A328-4740-944E-C6C3C734D810}"/>
              </a:ext>
            </a:extLst>
          </p:cNvPr>
          <p:cNvSpPr/>
          <p:nvPr/>
        </p:nvSpPr>
        <p:spPr>
          <a:xfrm>
            <a:off x="6239256" y="2514751"/>
            <a:ext cx="3297936" cy="923330"/>
          </a:xfrm>
          <a:prstGeom prst="rect">
            <a:avLst/>
          </a:prstGeom>
        </p:spPr>
        <p:txBody>
          <a:bodyPr wrap="square">
            <a:spAutoFit/>
          </a:bodyPr>
          <a:lstStyle/>
          <a:p>
            <a:r>
              <a:rPr lang="es-ES" dirty="0"/>
              <a:t>        </a:t>
            </a:r>
            <a:r>
              <a:rPr lang="es-ES" dirty="0" err="1"/>
              <a:t>20E</a:t>
            </a:r>
            <a:r>
              <a:rPr lang="es-ES" dirty="0"/>
              <a:t> +   </a:t>
            </a:r>
            <a:r>
              <a:rPr lang="es-ES" dirty="0" err="1"/>
              <a:t>6F</a:t>
            </a:r>
            <a:r>
              <a:rPr lang="es-ES" dirty="0"/>
              <a:t>=142</a:t>
            </a:r>
            <a:r>
              <a:rPr lang="es-ES" dirty="0">
                <a:sym typeface="Wingdings" panose="05000000000000000000" pitchFamily="2" charset="2"/>
              </a:rPr>
              <a:t>  </a:t>
            </a:r>
          </a:p>
          <a:p>
            <a:r>
              <a:rPr lang="es-ES" dirty="0">
                <a:sym typeface="Wingdings" panose="05000000000000000000" pitchFamily="2" charset="2"/>
              </a:rPr>
              <a:t>	Si E=</a:t>
            </a:r>
            <a:r>
              <a:rPr lang="es-ES" dirty="0" err="1">
                <a:sym typeface="Wingdings" panose="05000000000000000000" pitchFamily="2" charset="2"/>
              </a:rPr>
              <a:t>0F</a:t>
            </a:r>
            <a:r>
              <a:rPr lang="es-ES" dirty="0">
                <a:sym typeface="Wingdings" panose="05000000000000000000" pitchFamily="2" charset="2"/>
              </a:rPr>
              <a:t>=23,67		Si F=</a:t>
            </a:r>
            <a:r>
              <a:rPr lang="es-ES" dirty="0" err="1">
                <a:sym typeface="Wingdings" panose="05000000000000000000" pitchFamily="2" charset="2"/>
              </a:rPr>
              <a:t>0E</a:t>
            </a:r>
            <a:r>
              <a:rPr lang="es-ES" dirty="0">
                <a:sym typeface="Wingdings" panose="05000000000000000000" pitchFamily="2" charset="2"/>
              </a:rPr>
              <a:t>=7,1</a:t>
            </a:r>
          </a:p>
        </p:txBody>
      </p:sp>
      <p:sp>
        <p:nvSpPr>
          <p:cNvPr id="55" name="Rectángulo 54">
            <a:extLst>
              <a:ext uri="{FF2B5EF4-FFF2-40B4-BE49-F238E27FC236}">
                <a16:creationId xmlns:a16="http://schemas.microsoft.com/office/drawing/2014/main" id="{A69833B0-D14D-4193-BB55-D8553213AF36}"/>
              </a:ext>
            </a:extLst>
          </p:cNvPr>
          <p:cNvSpPr/>
          <p:nvPr/>
        </p:nvSpPr>
        <p:spPr>
          <a:xfrm>
            <a:off x="9424302" y="4786301"/>
            <a:ext cx="2292096" cy="1200329"/>
          </a:xfrm>
          <a:prstGeom prst="rect">
            <a:avLst/>
          </a:prstGeom>
        </p:spPr>
        <p:txBody>
          <a:bodyPr wrap="square">
            <a:spAutoFit/>
          </a:bodyPr>
          <a:lstStyle/>
          <a:p>
            <a:r>
              <a:rPr lang="es-ES" dirty="0">
                <a:sym typeface="Wingdings" panose="05000000000000000000" pitchFamily="2" charset="2"/>
              </a:rPr>
              <a:t>La solución óptima es: E=5     F=6</a:t>
            </a:r>
          </a:p>
          <a:p>
            <a:r>
              <a:rPr lang="es-ES" dirty="0">
                <a:sym typeface="Wingdings" panose="05000000000000000000" pitchFamily="2" charset="2"/>
              </a:rPr>
              <a:t>El valor de la </a:t>
            </a:r>
            <a:r>
              <a:rPr lang="es-ES" dirty="0" err="1">
                <a:sym typeface="Wingdings" panose="05000000000000000000" pitchFamily="2" charset="2"/>
              </a:rPr>
              <a:t>F.O</a:t>
            </a:r>
            <a:r>
              <a:rPr lang="es-ES" dirty="0">
                <a:sym typeface="Wingdings" panose="05000000000000000000" pitchFamily="2" charset="2"/>
              </a:rPr>
              <a:t>. es:</a:t>
            </a:r>
          </a:p>
          <a:p>
            <a:r>
              <a:rPr lang="es-ES" dirty="0">
                <a:sym typeface="Wingdings" panose="05000000000000000000" pitchFamily="2" charset="2"/>
              </a:rPr>
              <a:t>Z=126</a:t>
            </a:r>
            <a:endParaRPr lang="es-PE" dirty="0"/>
          </a:p>
        </p:txBody>
      </p:sp>
      <p:sp>
        <p:nvSpPr>
          <p:cNvPr id="56" name="Rectangle 2">
            <a:extLst>
              <a:ext uri="{FF2B5EF4-FFF2-40B4-BE49-F238E27FC236}">
                <a16:creationId xmlns:a16="http://schemas.microsoft.com/office/drawing/2014/main" id="{714515CD-03DC-462D-8837-094925261DF6}"/>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18</a:t>
            </a:r>
          </a:p>
        </p:txBody>
      </p:sp>
    </p:spTree>
    <p:extLst>
      <p:ext uri="{BB962C8B-B14F-4D97-AF65-F5344CB8AC3E}">
        <p14:creationId xmlns:p14="http://schemas.microsoft.com/office/powerpoint/2010/main" val="3104900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2" grpId="0"/>
      <p:bldP spid="51" grpId="0"/>
      <p:bldP spid="52" grpId="0"/>
      <p:bldP spid="53" grpId="0"/>
      <p:bldP spid="54" grpId="0"/>
      <p:bldP spid="5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7EEE0E8-A44C-4B10-AFD9-E84812A18FB5}"/>
              </a:ext>
            </a:extLst>
          </p:cNvPr>
          <p:cNvSpPr/>
          <p:nvPr/>
        </p:nvSpPr>
        <p:spPr>
          <a:xfrm>
            <a:off x="6894576" y="1480354"/>
            <a:ext cx="5297424" cy="3970318"/>
          </a:xfrm>
          <a:prstGeom prst="rect">
            <a:avLst/>
          </a:prstGeom>
        </p:spPr>
        <p:txBody>
          <a:bodyPr wrap="square">
            <a:spAutoFit/>
          </a:bodyPr>
          <a:lstStyle/>
          <a:p>
            <a:r>
              <a:rPr lang="es-PE" dirty="0"/>
              <a:t> </a:t>
            </a:r>
            <a:r>
              <a:rPr lang="es-PE" dirty="0" err="1"/>
              <a:t>OBJECTIVE</a:t>
            </a:r>
            <a:r>
              <a:rPr lang="es-PE" dirty="0"/>
              <a:t> </a:t>
            </a:r>
            <a:r>
              <a:rPr lang="es-PE" dirty="0" err="1"/>
              <a:t>FUNCTION</a:t>
            </a:r>
            <a:r>
              <a:rPr lang="es-PE" dirty="0"/>
              <a:t> </a:t>
            </a:r>
            <a:r>
              <a:rPr lang="es-PE" dirty="0" err="1"/>
              <a:t>VALUE</a:t>
            </a:r>
            <a:endParaRPr lang="es-PE" dirty="0"/>
          </a:p>
          <a:p>
            <a:endParaRPr lang="es-PE" dirty="0"/>
          </a:p>
          <a:p>
            <a:r>
              <a:rPr lang="es-PE" dirty="0"/>
              <a:t>        1)      126.0000</a:t>
            </a:r>
          </a:p>
          <a:p>
            <a:endParaRPr lang="es-PE" dirty="0"/>
          </a:p>
          <a:p>
            <a:r>
              <a:rPr lang="es-PE" dirty="0"/>
              <a:t>  VARIABLE        </a:t>
            </a:r>
            <a:r>
              <a:rPr lang="es-PE" dirty="0" err="1"/>
              <a:t>VALUE</a:t>
            </a:r>
            <a:r>
              <a:rPr lang="es-PE" dirty="0"/>
              <a:t>          </a:t>
            </a:r>
            <a:r>
              <a:rPr lang="es-PE" dirty="0" err="1"/>
              <a:t>REDUCED</a:t>
            </a:r>
            <a:r>
              <a:rPr lang="es-PE" dirty="0"/>
              <a:t> </a:t>
            </a:r>
            <a:r>
              <a:rPr lang="es-PE" dirty="0" err="1"/>
              <a:t>COST</a:t>
            </a:r>
            <a:endParaRPr lang="es-PE" dirty="0"/>
          </a:p>
          <a:p>
            <a:r>
              <a:rPr lang="es-PE" dirty="0"/>
              <a:t>         E         6.000000        -18.000000</a:t>
            </a:r>
          </a:p>
          <a:p>
            <a:r>
              <a:rPr lang="es-PE" dirty="0"/>
              <a:t>         F         3.000000         -6.000000</a:t>
            </a:r>
          </a:p>
          <a:p>
            <a:endParaRPr lang="es-PE" dirty="0"/>
          </a:p>
          <a:p>
            <a:endParaRPr lang="es-PE" dirty="0"/>
          </a:p>
          <a:p>
            <a:r>
              <a:rPr lang="es-PE" dirty="0"/>
              <a:t>       </a:t>
            </a:r>
            <a:r>
              <a:rPr lang="es-PE" dirty="0" err="1"/>
              <a:t>ROW</a:t>
            </a:r>
            <a:r>
              <a:rPr lang="es-PE" dirty="0"/>
              <a:t>   </a:t>
            </a:r>
            <a:r>
              <a:rPr lang="es-PE" dirty="0" err="1"/>
              <a:t>SLACK</a:t>
            </a:r>
            <a:r>
              <a:rPr lang="es-PE" dirty="0"/>
              <a:t> </a:t>
            </a:r>
            <a:r>
              <a:rPr lang="es-PE" dirty="0" err="1"/>
              <a:t>OR</a:t>
            </a:r>
            <a:r>
              <a:rPr lang="es-PE" dirty="0"/>
              <a:t> SURPLUS     DUAL </a:t>
            </a:r>
            <a:r>
              <a:rPr lang="es-PE" dirty="0" err="1"/>
              <a:t>PRICES</a:t>
            </a:r>
            <a:endParaRPr lang="es-PE" dirty="0"/>
          </a:p>
          <a:p>
            <a:r>
              <a:rPr lang="es-PE" dirty="0"/>
              <a:t>        2)       243.200012          0.000000</a:t>
            </a:r>
          </a:p>
          <a:p>
            <a:r>
              <a:rPr lang="es-PE" dirty="0"/>
              <a:t>        3)           4.000000          0.000000</a:t>
            </a:r>
          </a:p>
          <a:p>
            <a:r>
              <a:rPr lang="es-PE" dirty="0"/>
              <a:t>        4)         75.000000          0.000000</a:t>
            </a:r>
          </a:p>
          <a:p>
            <a:r>
              <a:rPr lang="es-PE" dirty="0"/>
              <a:t>        5)           3.000000          0.000000</a:t>
            </a:r>
          </a:p>
        </p:txBody>
      </p:sp>
      <p:sp>
        <p:nvSpPr>
          <p:cNvPr id="5" name="CuadroTexto 4">
            <a:extLst>
              <a:ext uri="{FF2B5EF4-FFF2-40B4-BE49-F238E27FC236}">
                <a16:creationId xmlns:a16="http://schemas.microsoft.com/office/drawing/2014/main" id="{96425A62-2694-4FD0-8A82-EC6E878F0939}"/>
              </a:ext>
            </a:extLst>
          </p:cNvPr>
          <p:cNvSpPr txBox="1"/>
          <p:nvPr/>
        </p:nvSpPr>
        <p:spPr>
          <a:xfrm>
            <a:off x="2833950" y="1539630"/>
            <a:ext cx="3053751" cy="2862322"/>
          </a:xfrm>
          <a:prstGeom prst="rect">
            <a:avLst/>
          </a:prstGeom>
          <a:solidFill>
            <a:schemeClr val="accent4">
              <a:lumMod val="40000"/>
              <a:lumOff val="60000"/>
            </a:schemeClr>
          </a:solidFill>
        </p:spPr>
        <p:txBody>
          <a:bodyPr wrap="square" rtlCol="0">
            <a:spAutoFit/>
          </a:bodyPr>
          <a:lstStyle/>
          <a:p>
            <a:r>
              <a:rPr lang="es-ES" sz="2000" dirty="0"/>
              <a:t>MAX Z=</a:t>
            </a:r>
            <a:r>
              <a:rPr lang="es-ES" sz="2000" dirty="0" err="1"/>
              <a:t>18E+6F</a:t>
            </a:r>
            <a:endParaRPr lang="es-ES" sz="2000" dirty="0"/>
          </a:p>
          <a:p>
            <a:r>
              <a:rPr lang="es-ES" sz="2000" dirty="0" err="1"/>
              <a:t>ST</a:t>
            </a:r>
            <a:endParaRPr lang="es-ES" sz="2000" dirty="0"/>
          </a:p>
          <a:p>
            <a:r>
              <a:rPr lang="es-ES" sz="2000" dirty="0" err="1"/>
              <a:t>42.8E</a:t>
            </a:r>
            <a:r>
              <a:rPr lang="es-ES" sz="2000" dirty="0"/>
              <a:t>  + </a:t>
            </a:r>
            <a:r>
              <a:rPr lang="es-ES" sz="2000" dirty="0" err="1"/>
              <a:t>100F</a:t>
            </a:r>
            <a:r>
              <a:rPr lang="es-ES" sz="2000" dirty="0"/>
              <a:t>&lt;=800</a:t>
            </a:r>
          </a:p>
          <a:p>
            <a:r>
              <a:rPr lang="es-ES" sz="2000" dirty="0"/>
              <a:t>   </a:t>
            </a:r>
            <a:r>
              <a:rPr lang="es-ES" sz="2000" dirty="0" err="1"/>
              <a:t>20E</a:t>
            </a:r>
            <a:r>
              <a:rPr lang="es-ES" sz="2000" dirty="0"/>
              <a:t>  +     </a:t>
            </a:r>
            <a:r>
              <a:rPr lang="es-ES" sz="2000" dirty="0" err="1"/>
              <a:t>6F</a:t>
            </a:r>
            <a:r>
              <a:rPr lang="es-ES" sz="2000" dirty="0"/>
              <a:t> &lt;=142</a:t>
            </a:r>
          </a:p>
          <a:p>
            <a:r>
              <a:rPr lang="es-ES" sz="2000" dirty="0"/>
              <a:t>   </a:t>
            </a:r>
            <a:r>
              <a:rPr lang="es-ES" sz="2000" dirty="0" err="1"/>
              <a:t>30E</a:t>
            </a:r>
            <a:r>
              <a:rPr lang="es-ES" sz="2000" dirty="0"/>
              <a:t>  +   </a:t>
            </a:r>
            <a:r>
              <a:rPr lang="es-ES" sz="2000" dirty="0" err="1"/>
              <a:t>10F</a:t>
            </a:r>
            <a:r>
              <a:rPr lang="es-ES" sz="2000" dirty="0"/>
              <a:t> &gt;=135</a:t>
            </a:r>
          </a:p>
          <a:p>
            <a:r>
              <a:rPr lang="es-ES" sz="2000" dirty="0"/>
              <a:t>        E  –     </a:t>
            </a:r>
            <a:r>
              <a:rPr lang="es-ES" sz="2000" dirty="0" err="1"/>
              <a:t>3F</a:t>
            </a:r>
            <a:r>
              <a:rPr lang="es-ES" sz="2000" dirty="0"/>
              <a:t> &lt;=0</a:t>
            </a:r>
          </a:p>
          <a:p>
            <a:r>
              <a:rPr lang="es-ES" sz="2000" dirty="0" err="1">
                <a:solidFill>
                  <a:srgbClr val="FF0000"/>
                </a:solidFill>
              </a:rPr>
              <a:t>END</a:t>
            </a:r>
            <a:endParaRPr lang="es-ES" sz="2000" dirty="0">
              <a:solidFill>
                <a:srgbClr val="FF0000"/>
              </a:solidFill>
            </a:endParaRPr>
          </a:p>
          <a:p>
            <a:r>
              <a:rPr lang="es-ES" sz="2000" dirty="0">
                <a:solidFill>
                  <a:srgbClr val="FF0000"/>
                </a:solidFill>
              </a:rPr>
              <a:t>GIN E</a:t>
            </a:r>
          </a:p>
          <a:p>
            <a:r>
              <a:rPr lang="es-ES" sz="2000" dirty="0">
                <a:solidFill>
                  <a:srgbClr val="FF0000"/>
                </a:solidFill>
              </a:rPr>
              <a:t>GIN F</a:t>
            </a:r>
            <a:endParaRPr lang="es-PE" sz="2000" dirty="0">
              <a:solidFill>
                <a:srgbClr val="FF0000"/>
              </a:solidFill>
            </a:endParaRPr>
          </a:p>
        </p:txBody>
      </p:sp>
      <p:sp>
        <p:nvSpPr>
          <p:cNvPr id="3" name="Rectangle 2">
            <a:extLst>
              <a:ext uri="{FF2B5EF4-FFF2-40B4-BE49-F238E27FC236}">
                <a16:creationId xmlns:a16="http://schemas.microsoft.com/office/drawing/2014/main" id="{893A1136-31A2-A5EF-C0B8-6537611DB0BF}"/>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18</a:t>
            </a:r>
          </a:p>
        </p:txBody>
      </p:sp>
    </p:spTree>
    <p:extLst>
      <p:ext uri="{BB962C8B-B14F-4D97-AF65-F5344CB8AC3E}">
        <p14:creationId xmlns:p14="http://schemas.microsoft.com/office/powerpoint/2010/main" val="1400000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55920" y="1266473"/>
            <a:ext cx="5546140" cy="1631216"/>
          </a:xfrm>
          <a:prstGeom prst="rect">
            <a:avLst/>
          </a:prstGeom>
        </p:spPr>
        <p:txBody>
          <a:bodyPr wrap="square">
            <a:spAutoFit/>
          </a:bodyPr>
          <a:lstStyle/>
          <a:p>
            <a:pPr algn="just"/>
            <a:r>
              <a:rPr lang="es-PE" sz="2000" dirty="0" err="1">
                <a:latin typeface="Arial Narrow" panose="020B0606020202030204" pitchFamily="34" charset="0"/>
              </a:rPr>
              <a:t>MILKITO</a:t>
            </a:r>
            <a:r>
              <a:rPr lang="es-PE" sz="2000" dirty="0">
                <a:latin typeface="Arial Narrow" panose="020B0606020202030204" pitchFamily="34" charset="0"/>
              </a:rPr>
              <a:t> tiene dos máquinas distintas para procesar leche pura y producir leche descremada, mantequilla o queso. La cantidad de tiempo requerido en cada máquina para producir cada unidad de producto resultante y las ganancias netas se proporcionan en la siguiente tabla:</a:t>
            </a:r>
          </a:p>
        </p:txBody>
      </p:sp>
      <p:graphicFrame>
        <p:nvGraphicFramePr>
          <p:cNvPr id="3" name="2 Tabla"/>
          <p:cNvGraphicFramePr>
            <a:graphicFrameLocks noGrp="1"/>
          </p:cNvGraphicFramePr>
          <p:nvPr/>
        </p:nvGraphicFramePr>
        <p:xfrm>
          <a:off x="242752" y="2843884"/>
          <a:ext cx="5424802" cy="1736741"/>
        </p:xfrm>
        <a:graphic>
          <a:graphicData uri="http://schemas.openxmlformats.org/drawingml/2006/table">
            <a:tbl>
              <a:tblPr firstRow="1" firstCol="1" bandRow="1">
                <a:tableStyleId>{5C22544A-7EE6-4342-B048-85BDC9FD1C3A}</a:tableStyleId>
              </a:tblPr>
              <a:tblGrid>
                <a:gridCol w="1544561">
                  <a:extLst>
                    <a:ext uri="{9D8B030D-6E8A-4147-A177-3AD203B41FA5}">
                      <a16:colId xmlns:a16="http://schemas.microsoft.com/office/drawing/2014/main" val="20000"/>
                    </a:ext>
                  </a:extLst>
                </a:gridCol>
                <a:gridCol w="1456219">
                  <a:extLst>
                    <a:ext uri="{9D8B030D-6E8A-4147-A177-3AD203B41FA5}">
                      <a16:colId xmlns:a16="http://schemas.microsoft.com/office/drawing/2014/main" val="20001"/>
                    </a:ext>
                  </a:extLst>
                </a:gridCol>
                <a:gridCol w="1233577">
                  <a:extLst>
                    <a:ext uri="{9D8B030D-6E8A-4147-A177-3AD203B41FA5}">
                      <a16:colId xmlns:a16="http://schemas.microsoft.com/office/drawing/2014/main" val="20002"/>
                    </a:ext>
                  </a:extLst>
                </a:gridCol>
                <a:gridCol w="1190445">
                  <a:extLst>
                    <a:ext uri="{9D8B030D-6E8A-4147-A177-3AD203B41FA5}">
                      <a16:colId xmlns:a16="http://schemas.microsoft.com/office/drawing/2014/main" val="20003"/>
                    </a:ext>
                  </a:extLst>
                </a:gridCol>
              </a:tblGrid>
              <a:tr h="610643">
                <a:tc>
                  <a:txBody>
                    <a:bodyPr/>
                    <a:lstStyle/>
                    <a:p>
                      <a:pPr algn="just">
                        <a:lnSpc>
                          <a:spcPct val="100000"/>
                        </a:lnSpc>
                        <a:spcAft>
                          <a:spcPts val="0"/>
                        </a:spcAft>
                      </a:pPr>
                      <a:r>
                        <a:rPr lang="es-ES" sz="2000" b="0" dirty="0">
                          <a:effectLst/>
                          <a:latin typeface="Arial Narrow" panose="020B0606020202030204" pitchFamily="34" charset="0"/>
                        </a:rPr>
                        <a:t> </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Leche descremada</a:t>
                      </a:r>
                      <a:endParaRPr lang="es-PE" sz="2000" b="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Mantequilla</a:t>
                      </a:r>
                      <a:endParaRPr lang="es-PE" sz="2000" b="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dirty="0">
                          <a:effectLst/>
                          <a:latin typeface="Arial Narrow" panose="020B0606020202030204" pitchFamily="34" charset="0"/>
                        </a:rPr>
                        <a:t>Queso</a:t>
                      </a:r>
                      <a:endParaRPr lang="es-PE" sz="2000" b="0"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0"/>
                  </a:ext>
                </a:extLst>
              </a:tr>
              <a:tr h="305321">
                <a:tc>
                  <a:txBody>
                    <a:bodyPr/>
                    <a:lstStyle/>
                    <a:p>
                      <a:pPr algn="just">
                        <a:lnSpc>
                          <a:spcPct val="100000"/>
                        </a:lnSpc>
                        <a:spcAft>
                          <a:spcPts val="0"/>
                        </a:spcAft>
                      </a:pPr>
                      <a:r>
                        <a:rPr lang="es-ES" sz="2000" b="0" dirty="0">
                          <a:effectLst/>
                          <a:latin typeface="Arial Narrow" panose="020B0606020202030204" pitchFamily="34" charset="0"/>
                        </a:rPr>
                        <a:t>Máquina 1</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dirty="0">
                          <a:effectLst/>
                          <a:latin typeface="Arial Narrow" panose="020B0606020202030204" pitchFamily="34" charset="0"/>
                        </a:rPr>
                        <a:t>0.2 min / gal</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0.5 min / lb</a:t>
                      </a:r>
                      <a:endParaRPr lang="es-PE" sz="2000" b="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1.5 min / lb</a:t>
                      </a:r>
                      <a:endParaRPr lang="es-PE" sz="2000" b="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1"/>
                  </a:ext>
                </a:extLst>
              </a:tr>
              <a:tr h="305321">
                <a:tc>
                  <a:txBody>
                    <a:bodyPr/>
                    <a:lstStyle/>
                    <a:p>
                      <a:pPr algn="just">
                        <a:lnSpc>
                          <a:spcPct val="100000"/>
                        </a:lnSpc>
                        <a:spcAft>
                          <a:spcPts val="0"/>
                        </a:spcAft>
                      </a:pPr>
                      <a:r>
                        <a:rPr lang="es-ES" sz="2000" b="0" dirty="0">
                          <a:effectLst/>
                          <a:latin typeface="Arial Narrow" panose="020B0606020202030204" pitchFamily="34" charset="0"/>
                        </a:rPr>
                        <a:t>Máquina 2</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0.3 min / gal</a:t>
                      </a:r>
                      <a:endParaRPr lang="es-PE" sz="2000" b="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0.7 min / lb</a:t>
                      </a:r>
                      <a:endParaRPr lang="es-PE" sz="2000" b="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a:effectLst/>
                          <a:latin typeface="Arial Narrow" panose="020B0606020202030204" pitchFamily="34" charset="0"/>
                        </a:rPr>
                        <a:t>1.2 min / lb</a:t>
                      </a:r>
                      <a:endParaRPr lang="es-PE" sz="2000" b="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2"/>
                  </a:ext>
                </a:extLst>
              </a:tr>
              <a:tr h="515456">
                <a:tc>
                  <a:txBody>
                    <a:bodyPr/>
                    <a:lstStyle/>
                    <a:p>
                      <a:pPr algn="just">
                        <a:lnSpc>
                          <a:spcPct val="100000"/>
                        </a:lnSpc>
                        <a:spcAft>
                          <a:spcPts val="0"/>
                        </a:spcAft>
                      </a:pPr>
                      <a:r>
                        <a:rPr lang="es-ES" sz="2000" b="0" dirty="0">
                          <a:effectLst/>
                          <a:latin typeface="Arial Narrow" panose="020B0606020202030204" pitchFamily="34" charset="0"/>
                        </a:rPr>
                        <a:t>Ganancia neta</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dirty="0">
                          <a:effectLst/>
                          <a:latin typeface="Arial Narrow" panose="020B0606020202030204" pitchFamily="34" charset="0"/>
                        </a:rPr>
                        <a:t>0.22$/ gal</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dirty="0">
                          <a:effectLst/>
                          <a:latin typeface="Arial Narrow" panose="020B0606020202030204" pitchFamily="34" charset="0"/>
                        </a:rPr>
                        <a:t>0.38$/ lb</a:t>
                      </a:r>
                      <a:endParaRPr lang="es-PE" sz="2000" b="0" dirty="0">
                        <a:effectLst/>
                        <a:latin typeface="Arial Narrow" panose="020B0606020202030204" pitchFamily="34" charset="0"/>
                        <a:ea typeface="Calibri"/>
                      </a:endParaRPr>
                    </a:p>
                  </a:txBody>
                  <a:tcPr marL="68580" marR="68580" marT="0" marB="0"/>
                </a:tc>
                <a:tc>
                  <a:txBody>
                    <a:bodyPr/>
                    <a:lstStyle/>
                    <a:p>
                      <a:pPr algn="ctr">
                        <a:lnSpc>
                          <a:spcPct val="100000"/>
                        </a:lnSpc>
                        <a:spcAft>
                          <a:spcPts val="0"/>
                        </a:spcAft>
                      </a:pPr>
                      <a:r>
                        <a:rPr lang="es-ES" sz="2000" b="0" dirty="0">
                          <a:effectLst/>
                          <a:latin typeface="Arial Narrow" panose="020B0606020202030204" pitchFamily="34" charset="0"/>
                        </a:rPr>
                        <a:t>0.72$/ lb</a:t>
                      </a:r>
                      <a:endParaRPr lang="es-PE" sz="2000" b="0" dirty="0">
                        <a:effectLst/>
                        <a:latin typeface="Arial Narrow" panose="020B0606020202030204" pitchFamily="34" charset="0"/>
                        <a:ea typeface="Calibri"/>
                      </a:endParaRPr>
                    </a:p>
                  </a:txBody>
                  <a:tcPr marL="68580" marR="68580" marT="0" marB="0"/>
                </a:tc>
                <a:extLst>
                  <a:ext uri="{0D108BD9-81ED-4DB2-BD59-A6C34878D82A}">
                    <a16:rowId xmlns:a16="http://schemas.microsoft.com/office/drawing/2014/main" val="10003"/>
                  </a:ext>
                </a:extLst>
              </a:tr>
            </a:tbl>
          </a:graphicData>
        </a:graphic>
      </p:graphicFrame>
      <p:sp>
        <p:nvSpPr>
          <p:cNvPr id="4" name="3 Rectángulo"/>
          <p:cNvSpPr/>
          <p:nvPr/>
        </p:nvSpPr>
        <p:spPr>
          <a:xfrm>
            <a:off x="164028" y="4618596"/>
            <a:ext cx="5563912" cy="2246769"/>
          </a:xfrm>
          <a:prstGeom prst="rect">
            <a:avLst/>
          </a:prstGeom>
        </p:spPr>
        <p:txBody>
          <a:bodyPr wrap="square">
            <a:spAutoFit/>
          </a:bodyPr>
          <a:lstStyle/>
          <a:p>
            <a:pPr algn="just"/>
            <a:r>
              <a:rPr lang="es-PE" sz="2000" dirty="0">
                <a:latin typeface="Arial Narrow" panose="020B0606020202030204" pitchFamily="34" charset="0"/>
              </a:rPr>
              <a:t>Suponiendo que se dispone de 8 horas en cada máquina diariamente, como gerente del departamento de producción, formule un modelo para determinar un plan de producción diaria que maximice las ganancias corporativas netas y produzca un mínimo de 300 galones de leche descremada, 200 libras de mantequillas y 100 libras de queso.</a:t>
            </a:r>
          </a:p>
        </p:txBody>
      </p:sp>
      <p:sp>
        <p:nvSpPr>
          <p:cNvPr id="5" name="1 Rectángulo">
            <a:extLst>
              <a:ext uri="{FF2B5EF4-FFF2-40B4-BE49-F238E27FC236}">
                <a16:creationId xmlns:a16="http://schemas.microsoft.com/office/drawing/2014/main" id="{2FE7C681-D8B5-4F19-95D7-4D5A1847AA21}"/>
              </a:ext>
            </a:extLst>
          </p:cNvPr>
          <p:cNvSpPr/>
          <p:nvPr/>
        </p:nvSpPr>
        <p:spPr>
          <a:xfrm>
            <a:off x="6096000" y="1360201"/>
            <a:ext cx="6001512" cy="1200329"/>
          </a:xfrm>
          <a:prstGeom prst="rect">
            <a:avLst/>
          </a:prstGeom>
          <a:solidFill>
            <a:schemeClr val="accent3">
              <a:lumMod val="20000"/>
              <a:lumOff val="80000"/>
            </a:schemeClr>
          </a:solidFill>
        </p:spPr>
        <p:txBody>
          <a:bodyPr wrap="square">
            <a:spAutoFit/>
          </a:bodyPr>
          <a:lstStyle/>
          <a:p>
            <a:pPr marL="542925" indent="-542925"/>
            <a:r>
              <a:rPr lang="es-PE" b="1" dirty="0">
                <a:solidFill>
                  <a:srgbClr val="FF0000"/>
                </a:solidFill>
                <a:latin typeface="Arial Narrow" panose="020B0606020202030204" pitchFamily="34" charset="0"/>
              </a:rPr>
              <a:t>I.	Identificación de variables</a:t>
            </a:r>
          </a:p>
          <a:p>
            <a:pPr marL="989013" lvl="2" indent="-446088"/>
            <a:r>
              <a:rPr lang="es-PE" dirty="0">
                <a:latin typeface="Arial Narrow" panose="020B0606020202030204" pitchFamily="34" charset="0"/>
              </a:rPr>
              <a:t>Li =Número de </a:t>
            </a:r>
            <a:r>
              <a:rPr lang="es-PE" dirty="0" err="1">
                <a:latin typeface="Arial Narrow" panose="020B0606020202030204" pitchFamily="34" charset="0"/>
              </a:rPr>
              <a:t>gl</a:t>
            </a:r>
            <a:r>
              <a:rPr lang="es-PE" dirty="0">
                <a:latin typeface="Arial Narrow" panose="020B0606020202030204" pitchFamily="34" charset="0"/>
              </a:rPr>
              <a:t>. de leche descremada a producir en la </a:t>
            </a:r>
            <a:r>
              <a:rPr lang="es-PE" dirty="0" err="1">
                <a:latin typeface="Arial Narrow" panose="020B0606020202030204" pitchFamily="34" charset="0"/>
              </a:rPr>
              <a:t>máq</a:t>
            </a:r>
            <a:r>
              <a:rPr lang="es-PE" dirty="0">
                <a:latin typeface="Arial Narrow" panose="020B0606020202030204" pitchFamily="34" charset="0"/>
              </a:rPr>
              <a:t>. i</a:t>
            </a:r>
          </a:p>
          <a:p>
            <a:pPr marL="989013" lvl="2" indent="-446088"/>
            <a:r>
              <a:rPr lang="es-PE" dirty="0">
                <a:latin typeface="Arial Narrow" panose="020B0606020202030204" pitchFamily="34" charset="0"/>
              </a:rPr>
              <a:t>Mi=Número de lb. de mantequilla a producir de en la máquina i </a:t>
            </a:r>
          </a:p>
          <a:p>
            <a:pPr marL="989013" lvl="2" indent="-446088"/>
            <a:r>
              <a:rPr lang="es-PE" dirty="0" err="1">
                <a:latin typeface="Arial Narrow" panose="020B0606020202030204" pitchFamily="34" charset="0"/>
              </a:rPr>
              <a:t>Qi</a:t>
            </a:r>
            <a:r>
              <a:rPr lang="es-PE" dirty="0">
                <a:latin typeface="Arial Narrow" panose="020B0606020202030204" pitchFamily="34" charset="0"/>
              </a:rPr>
              <a:t> =Número de lb. de queso a producir en la máquina i</a:t>
            </a:r>
          </a:p>
        </p:txBody>
      </p:sp>
      <p:sp>
        <p:nvSpPr>
          <p:cNvPr id="6" name="Rectángulo 5">
            <a:extLst>
              <a:ext uri="{FF2B5EF4-FFF2-40B4-BE49-F238E27FC236}">
                <a16:creationId xmlns:a16="http://schemas.microsoft.com/office/drawing/2014/main" id="{A350DA7E-4783-40A7-B0A7-87E4618A91BE}"/>
              </a:ext>
            </a:extLst>
          </p:cNvPr>
          <p:cNvSpPr/>
          <p:nvPr/>
        </p:nvSpPr>
        <p:spPr>
          <a:xfrm>
            <a:off x="6096000" y="2565754"/>
            <a:ext cx="5998234" cy="646331"/>
          </a:xfrm>
          <a:prstGeom prst="rect">
            <a:avLst/>
          </a:prstGeom>
          <a:solidFill>
            <a:schemeClr val="accent3">
              <a:lumMod val="20000"/>
              <a:lumOff val="80000"/>
            </a:schemeClr>
          </a:solidFill>
        </p:spPr>
        <p:txBody>
          <a:bodyPr wrap="square">
            <a:spAutoFit/>
          </a:bodyPr>
          <a:lstStyle/>
          <a:p>
            <a:pPr marL="542925" indent="-542925"/>
            <a:r>
              <a:rPr lang="es-PE" b="1" dirty="0">
                <a:solidFill>
                  <a:srgbClr val="FF0000"/>
                </a:solidFill>
                <a:latin typeface="Arial Narrow" panose="020B0606020202030204" pitchFamily="34" charset="0"/>
              </a:rPr>
              <a:t>II.	Identificación de la Función Objetivo</a:t>
            </a:r>
          </a:p>
          <a:p>
            <a:pPr marL="542925" indent="-542925"/>
            <a:r>
              <a:rPr lang="es-PE" dirty="0">
                <a:latin typeface="Arial Narrow" panose="020B0606020202030204" pitchFamily="34" charset="0"/>
              </a:rPr>
              <a:t>	MAX 0.22(</a:t>
            </a:r>
            <a:r>
              <a:rPr lang="es-PE" dirty="0" err="1">
                <a:latin typeface="Arial Narrow" panose="020B0606020202030204" pitchFamily="34" charset="0"/>
              </a:rPr>
              <a:t>L1+L2</a:t>
            </a:r>
            <a:r>
              <a:rPr lang="es-PE" dirty="0">
                <a:latin typeface="Arial Narrow" panose="020B0606020202030204" pitchFamily="34" charset="0"/>
              </a:rPr>
              <a:t>) + 0.38(</a:t>
            </a:r>
            <a:r>
              <a:rPr lang="es-PE" dirty="0" err="1">
                <a:latin typeface="Arial Narrow" panose="020B0606020202030204" pitchFamily="34" charset="0"/>
              </a:rPr>
              <a:t>M1+M2</a:t>
            </a:r>
            <a:r>
              <a:rPr lang="es-PE" dirty="0">
                <a:latin typeface="Arial Narrow" panose="020B0606020202030204" pitchFamily="34" charset="0"/>
              </a:rPr>
              <a:t>) + 0.72(</a:t>
            </a:r>
            <a:r>
              <a:rPr lang="es-PE" dirty="0" err="1">
                <a:latin typeface="Arial Narrow" panose="020B0606020202030204" pitchFamily="34" charset="0"/>
              </a:rPr>
              <a:t>Q1+Q2</a:t>
            </a:r>
            <a:r>
              <a:rPr lang="es-PE" dirty="0">
                <a:latin typeface="Arial Narrow" panose="020B0606020202030204" pitchFamily="34" charset="0"/>
              </a:rPr>
              <a:t>)</a:t>
            </a:r>
          </a:p>
        </p:txBody>
      </p:sp>
      <p:sp>
        <p:nvSpPr>
          <p:cNvPr id="7" name="Rectángulo 6">
            <a:extLst>
              <a:ext uri="{FF2B5EF4-FFF2-40B4-BE49-F238E27FC236}">
                <a16:creationId xmlns:a16="http://schemas.microsoft.com/office/drawing/2014/main" id="{70E1DC8D-DC88-478C-9F84-2FB6E7CC16B1}"/>
              </a:ext>
            </a:extLst>
          </p:cNvPr>
          <p:cNvSpPr/>
          <p:nvPr/>
        </p:nvSpPr>
        <p:spPr>
          <a:xfrm>
            <a:off x="6096000" y="3206733"/>
            <a:ext cx="5998234" cy="2862322"/>
          </a:xfrm>
          <a:prstGeom prst="rect">
            <a:avLst/>
          </a:prstGeom>
          <a:solidFill>
            <a:schemeClr val="accent3">
              <a:lumMod val="20000"/>
              <a:lumOff val="80000"/>
            </a:schemeClr>
          </a:solidFill>
        </p:spPr>
        <p:txBody>
          <a:bodyPr wrap="square">
            <a:spAutoFit/>
          </a:bodyPr>
          <a:lstStyle/>
          <a:p>
            <a:pPr marL="542925" indent="-542925"/>
            <a:r>
              <a:rPr lang="es-PE" b="1" dirty="0">
                <a:solidFill>
                  <a:srgbClr val="FF0000"/>
                </a:solidFill>
                <a:latin typeface="Arial Narrow" panose="020B0606020202030204" pitchFamily="34" charset="0"/>
              </a:rPr>
              <a:t>III.	Identificación de las restricciones</a:t>
            </a:r>
          </a:p>
          <a:p>
            <a:pPr marL="542925" indent="-542925"/>
            <a:r>
              <a:rPr lang="es-PE" dirty="0">
                <a:latin typeface="Arial Narrow" panose="020B0606020202030204" pitchFamily="34" charset="0"/>
              </a:rPr>
              <a:t>	Con respecto a la cantidad a producir</a:t>
            </a:r>
          </a:p>
          <a:p>
            <a:pPr marL="542925" indent="-542925"/>
            <a:r>
              <a:rPr lang="es-PE" dirty="0">
                <a:latin typeface="Arial Narrow" panose="020B0606020202030204" pitchFamily="34" charset="0"/>
              </a:rPr>
              <a:t>		</a:t>
            </a:r>
            <a:r>
              <a:rPr lang="es-PE" dirty="0" err="1">
                <a:latin typeface="Arial Narrow" panose="020B0606020202030204" pitchFamily="34" charset="0"/>
              </a:rPr>
              <a:t>L1+L2</a:t>
            </a:r>
            <a:r>
              <a:rPr lang="es-PE" dirty="0">
                <a:latin typeface="Arial Narrow" panose="020B0606020202030204" pitchFamily="34" charset="0"/>
              </a:rPr>
              <a:t>	≥ 300</a:t>
            </a:r>
          </a:p>
          <a:p>
            <a:pPr marL="542925" indent="-542925"/>
            <a:r>
              <a:rPr lang="es-PE" dirty="0">
                <a:latin typeface="Arial Narrow" panose="020B0606020202030204" pitchFamily="34" charset="0"/>
              </a:rPr>
              <a:t>		</a:t>
            </a:r>
            <a:r>
              <a:rPr lang="es-PE" dirty="0" err="1">
                <a:latin typeface="Arial Narrow" panose="020B0606020202030204" pitchFamily="34" charset="0"/>
              </a:rPr>
              <a:t>M1+M2</a:t>
            </a:r>
            <a:r>
              <a:rPr lang="es-PE" dirty="0">
                <a:latin typeface="Arial Narrow" panose="020B0606020202030204" pitchFamily="34" charset="0"/>
              </a:rPr>
              <a:t>	≥ 200</a:t>
            </a:r>
          </a:p>
          <a:p>
            <a:pPr marL="542925" indent="-542925"/>
            <a:r>
              <a:rPr lang="es-PE" dirty="0">
                <a:latin typeface="Arial Narrow" panose="020B0606020202030204" pitchFamily="34" charset="0"/>
              </a:rPr>
              <a:t>		</a:t>
            </a:r>
            <a:r>
              <a:rPr lang="es-PE" dirty="0" err="1">
                <a:latin typeface="Arial Narrow" panose="020B0606020202030204" pitchFamily="34" charset="0"/>
              </a:rPr>
              <a:t>Q1+Q2</a:t>
            </a:r>
            <a:r>
              <a:rPr lang="es-PE" dirty="0">
                <a:latin typeface="Arial Narrow" panose="020B0606020202030204" pitchFamily="34" charset="0"/>
              </a:rPr>
              <a:t>	≥ 100</a:t>
            </a:r>
          </a:p>
          <a:p>
            <a:pPr marL="542925" indent="-542925"/>
            <a:r>
              <a:rPr lang="es-PE" dirty="0">
                <a:latin typeface="Arial Narrow" panose="020B0606020202030204" pitchFamily="34" charset="0"/>
              </a:rPr>
              <a:t>	Con respecto al tiempo requerido </a:t>
            </a:r>
          </a:p>
          <a:p>
            <a:pPr marL="893763" indent="-893763"/>
            <a:r>
              <a:rPr lang="es-PE" dirty="0">
                <a:latin typeface="Arial Narrow" panose="020B0606020202030204" pitchFamily="34" charset="0"/>
              </a:rPr>
              <a:t>	</a:t>
            </a:r>
            <a:r>
              <a:rPr lang="es-PE" dirty="0" err="1">
                <a:latin typeface="Arial Narrow" panose="020B0606020202030204" pitchFamily="34" charset="0"/>
              </a:rPr>
              <a:t>0.2L1</a:t>
            </a:r>
            <a:r>
              <a:rPr lang="es-PE" dirty="0">
                <a:latin typeface="Arial Narrow" panose="020B0606020202030204" pitchFamily="34" charset="0"/>
              </a:rPr>
              <a:t> + </a:t>
            </a:r>
            <a:r>
              <a:rPr lang="es-PE" dirty="0" err="1">
                <a:latin typeface="Arial Narrow" panose="020B0606020202030204" pitchFamily="34" charset="0"/>
              </a:rPr>
              <a:t>0.5M1</a:t>
            </a:r>
            <a:r>
              <a:rPr lang="es-PE" dirty="0">
                <a:latin typeface="Arial Narrow" panose="020B0606020202030204" pitchFamily="34" charset="0"/>
              </a:rPr>
              <a:t> +</a:t>
            </a:r>
            <a:r>
              <a:rPr lang="es-PE" dirty="0" err="1">
                <a:latin typeface="Arial Narrow" panose="020B0606020202030204" pitchFamily="34" charset="0"/>
              </a:rPr>
              <a:t>1.5Q1</a:t>
            </a:r>
            <a:r>
              <a:rPr lang="es-PE" dirty="0">
                <a:latin typeface="Arial Narrow" panose="020B0606020202030204" pitchFamily="34" charset="0"/>
              </a:rPr>
              <a:t>  ≤ 480</a:t>
            </a:r>
          </a:p>
          <a:p>
            <a:pPr marL="893763" indent="-893763"/>
            <a:r>
              <a:rPr lang="es-PE" dirty="0">
                <a:latin typeface="Arial Narrow" panose="020B0606020202030204" pitchFamily="34" charset="0"/>
              </a:rPr>
              <a:t>	</a:t>
            </a:r>
            <a:r>
              <a:rPr lang="es-PE" dirty="0" err="1">
                <a:latin typeface="Arial Narrow" panose="020B0606020202030204" pitchFamily="34" charset="0"/>
              </a:rPr>
              <a:t>0.3L2</a:t>
            </a:r>
            <a:r>
              <a:rPr lang="es-PE" dirty="0">
                <a:latin typeface="Arial Narrow" panose="020B0606020202030204" pitchFamily="34" charset="0"/>
              </a:rPr>
              <a:t> + </a:t>
            </a:r>
            <a:r>
              <a:rPr lang="es-PE" dirty="0" err="1">
                <a:latin typeface="Arial Narrow" panose="020B0606020202030204" pitchFamily="34" charset="0"/>
              </a:rPr>
              <a:t>0.7M2</a:t>
            </a:r>
            <a:r>
              <a:rPr lang="es-PE" dirty="0">
                <a:latin typeface="Arial Narrow" panose="020B0606020202030204" pitchFamily="34" charset="0"/>
              </a:rPr>
              <a:t> + </a:t>
            </a:r>
            <a:r>
              <a:rPr lang="es-PE" dirty="0" err="1">
                <a:latin typeface="Arial Narrow" panose="020B0606020202030204" pitchFamily="34" charset="0"/>
              </a:rPr>
              <a:t>1.2Q2</a:t>
            </a:r>
            <a:r>
              <a:rPr lang="es-PE" dirty="0">
                <a:latin typeface="Arial Narrow" panose="020B0606020202030204" pitchFamily="34" charset="0"/>
              </a:rPr>
              <a:t> ≤ 480</a:t>
            </a:r>
          </a:p>
          <a:p>
            <a:pPr marL="542925" indent="-542925"/>
            <a:r>
              <a:rPr lang="es-PE" dirty="0">
                <a:latin typeface="Arial Narrow" panose="020B0606020202030204" pitchFamily="34" charset="0"/>
              </a:rPr>
              <a:t>	Con respecto a la no negatividad</a:t>
            </a:r>
          </a:p>
          <a:p>
            <a:r>
              <a:rPr lang="es-PE" dirty="0">
                <a:latin typeface="Arial Narrow" panose="020B0606020202030204" pitchFamily="34" charset="0"/>
              </a:rPr>
              <a:t>		Li,  Mi,  </a:t>
            </a:r>
            <a:r>
              <a:rPr lang="es-PE" dirty="0" err="1">
                <a:latin typeface="Arial Narrow" panose="020B0606020202030204" pitchFamily="34" charset="0"/>
              </a:rPr>
              <a:t>Qi</a:t>
            </a:r>
            <a:r>
              <a:rPr lang="es-PE" dirty="0">
                <a:latin typeface="Arial Narrow" panose="020B0606020202030204" pitchFamily="34" charset="0"/>
              </a:rPr>
              <a:t>      ≥ 0</a:t>
            </a:r>
            <a:endParaRPr lang="es-PE" dirty="0"/>
          </a:p>
        </p:txBody>
      </p:sp>
      <p:sp>
        <p:nvSpPr>
          <p:cNvPr id="8" name="Rectangle 2">
            <a:extLst>
              <a:ext uri="{FF2B5EF4-FFF2-40B4-BE49-F238E27FC236}">
                <a16:creationId xmlns:a16="http://schemas.microsoft.com/office/drawing/2014/main" id="{7AE96003-C33F-2B31-C91F-32C1E6929CE6}"/>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19</a:t>
            </a:r>
          </a:p>
        </p:txBody>
      </p:sp>
    </p:spTree>
    <p:extLst>
      <p:ext uri="{BB962C8B-B14F-4D97-AF65-F5344CB8AC3E}">
        <p14:creationId xmlns:p14="http://schemas.microsoft.com/office/powerpoint/2010/main" val="3488980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500333" y="2125773"/>
            <a:ext cx="5115464" cy="2862322"/>
          </a:xfrm>
          <a:prstGeom prst="rect">
            <a:avLst/>
          </a:prstGeom>
          <a:solidFill>
            <a:schemeClr val="accent4">
              <a:lumMod val="60000"/>
              <a:lumOff val="40000"/>
            </a:schemeClr>
          </a:solidFill>
        </p:spPr>
        <p:txBody>
          <a:bodyPr wrap="square">
            <a:spAutoFit/>
          </a:bodyPr>
          <a:lstStyle/>
          <a:p>
            <a:r>
              <a:rPr lang="en-US" sz="2000" dirty="0"/>
              <a:t>MAX </a:t>
            </a:r>
            <a:r>
              <a:rPr lang="en-US" sz="2000" dirty="0" err="1"/>
              <a:t>0.22L1</a:t>
            </a:r>
            <a:r>
              <a:rPr lang="en-US" sz="2000" dirty="0"/>
              <a:t>+ </a:t>
            </a:r>
            <a:r>
              <a:rPr lang="en-US" sz="2000" dirty="0" err="1"/>
              <a:t>0.22L2</a:t>
            </a:r>
            <a:r>
              <a:rPr lang="en-US" sz="2000" dirty="0"/>
              <a:t> + </a:t>
            </a:r>
            <a:r>
              <a:rPr lang="en-US" sz="2000" dirty="0" err="1"/>
              <a:t>0.38M1+0.38M2</a:t>
            </a:r>
            <a:r>
              <a:rPr lang="en-US" sz="2000" dirty="0"/>
              <a:t> + </a:t>
            </a:r>
            <a:r>
              <a:rPr lang="en-US" sz="2000" dirty="0" err="1"/>
              <a:t>0.72Q1</a:t>
            </a:r>
            <a:r>
              <a:rPr lang="en-US" sz="2000" dirty="0"/>
              <a:t> + </a:t>
            </a:r>
            <a:r>
              <a:rPr lang="en-US" sz="2000" dirty="0" err="1"/>
              <a:t>0.72Q2</a:t>
            </a:r>
            <a:endParaRPr lang="es-PE" sz="2000" dirty="0"/>
          </a:p>
          <a:p>
            <a:r>
              <a:rPr lang="en-US" sz="2000" dirty="0"/>
              <a:t>SUBJECT TO</a:t>
            </a:r>
            <a:endParaRPr lang="es-PE" sz="2000" dirty="0"/>
          </a:p>
          <a:p>
            <a:r>
              <a:rPr lang="en-US" sz="2000" dirty="0"/>
              <a:t>		</a:t>
            </a:r>
            <a:r>
              <a:rPr lang="es-ES" sz="2000" dirty="0" err="1"/>
              <a:t>L1+L2</a:t>
            </a:r>
            <a:r>
              <a:rPr lang="es-ES" sz="2000" dirty="0"/>
              <a:t>	&gt;=300</a:t>
            </a:r>
            <a:endParaRPr lang="es-PE" sz="2000" dirty="0"/>
          </a:p>
          <a:p>
            <a:r>
              <a:rPr lang="es-ES" sz="2000" dirty="0"/>
              <a:t>		</a:t>
            </a:r>
            <a:r>
              <a:rPr lang="es-ES" sz="2000" dirty="0" err="1"/>
              <a:t>M1+M2</a:t>
            </a:r>
            <a:r>
              <a:rPr lang="es-ES" sz="2000" dirty="0"/>
              <a:t>	&gt;=200</a:t>
            </a:r>
            <a:endParaRPr lang="es-PE" sz="2000" dirty="0"/>
          </a:p>
          <a:p>
            <a:r>
              <a:rPr lang="es-ES" sz="2000" dirty="0"/>
              <a:t>		</a:t>
            </a:r>
            <a:r>
              <a:rPr lang="es-PE" sz="2000" dirty="0" err="1"/>
              <a:t>Q1+Q2</a:t>
            </a:r>
            <a:r>
              <a:rPr lang="es-PE" sz="2000" dirty="0"/>
              <a:t>	&gt;=100</a:t>
            </a:r>
          </a:p>
          <a:p>
            <a:r>
              <a:rPr lang="es-PE" sz="2000" dirty="0"/>
              <a:t> </a:t>
            </a:r>
            <a:r>
              <a:rPr lang="es-PE" sz="2000" dirty="0" err="1"/>
              <a:t>0.2L1</a:t>
            </a:r>
            <a:r>
              <a:rPr lang="es-PE" sz="2000" dirty="0"/>
              <a:t> + </a:t>
            </a:r>
            <a:r>
              <a:rPr lang="es-PE" sz="2000" dirty="0" err="1"/>
              <a:t>0.5M1</a:t>
            </a:r>
            <a:r>
              <a:rPr lang="es-PE" sz="2000" dirty="0"/>
              <a:t> +</a:t>
            </a:r>
            <a:r>
              <a:rPr lang="es-PE" sz="2000" dirty="0" err="1"/>
              <a:t>1.5Q1</a:t>
            </a:r>
            <a:r>
              <a:rPr lang="es-PE" sz="2000" dirty="0"/>
              <a:t>	&lt;=480</a:t>
            </a:r>
          </a:p>
          <a:p>
            <a:r>
              <a:rPr lang="es-PE" sz="2000" dirty="0" err="1"/>
              <a:t>0.3L2</a:t>
            </a:r>
            <a:r>
              <a:rPr lang="es-PE" sz="2000" dirty="0"/>
              <a:t> + </a:t>
            </a:r>
            <a:r>
              <a:rPr lang="es-PE" sz="2000" dirty="0" err="1"/>
              <a:t>0.7M2</a:t>
            </a:r>
            <a:r>
              <a:rPr lang="es-PE" sz="2000" dirty="0"/>
              <a:t> + </a:t>
            </a:r>
            <a:r>
              <a:rPr lang="es-PE" sz="2000" dirty="0" err="1"/>
              <a:t>1.2Q2</a:t>
            </a:r>
            <a:r>
              <a:rPr lang="es-PE" sz="2000" dirty="0"/>
              <a:t>	&lt;=480</a:t>
            </a:r>
          </a:p>
          <a:p>
            <a:r>
              <a:rPr lang="es-ES" sz="2000" dirty="0"/>
              <a:t> </a:t>
            </a:r>
            <a:endParaRPr lang="es-PE" sz="2000" dirty="0"/>
          </a:p>
        </p:txBody>
      </p:sp>
      <p:sp>
        <p:nvSpPr>
          <p:cNvPr id="3" name="Rectángulo 2">
            <a:extLst>
              <a:ext uri="{FF2B5EF4-FFF2-40B4-BE49-F238E27FC236}">
                <a16:creationId xmlns:a16="http://schemas.microsoft.com/office/drawing/2014/main" id="{F67EA5F7-CE49-48B1-9684-612D3505EE58}"/>
              </a:ext>
            </a:extLst>
          </p:cNvPr>
          <p:cNvSpPr/>
          <p:nvPr/>
        </p:nvSpPr>
        <p:spPr>
          <a:xfrm>
            <a:off x="6998899" y="2127713"/>
            <a:ext cx="4422475" cy="2862322"/>
          </a:xfrm>
          <a:prstGeom prst="rect">
            <a:avLst/>
          </a:prstGeom>
          <a:solidFill>
            <a:schemeClr val="accent4">
              <a:lumMod val="20000"/>
              <a:lumOff val="80000"/>
            </a:schemeClr>
          </a:solidFill>
        </p:spPr>
        <p:txBody>
          <a:bodyPr wrap="square">
            <a:spAutoFit/>
          </a:bodyPr>
          <a:lstStyle/>
          <a:p>
            <a:r>
              <a:rPr lang="es-PE" sz="2000" dirty="0"/>
              <a:t>SOLUCIÓN  CON LINDO	</a:t>
            </a:r>
          </a:p>
          <a:p>
            <a:r>
              <a:rPr lang="es-PE" sz="2000" dirty="0"/>
              <a:t>1) 837.33 	</a:t>
            </a:r>
          </a:p>
          <a:p>
            <a:r>
              <a:rPr lang="es-ES" sz="2000" dirty="0"/>
              <a:t>Variable           </a:t>
            </a:r>
            <a:r>
              <a:rPr lang="es-ES" sz="2000" dirty="0" err="1"/>
              <a:t>Value</a:t>
            </a:r>
            <a:r>
              <a:rPr lang="es-ES" sz="2000" dirty="0"/>
              <a:t>        </a:t>
            </a:r>
            <a:r>
              <a:rPr lang="es-ES" sz="2000" dirty="0" err="1"/>
              <a:t>Reduced</a:t>
            </a:r>
            <a:r>
              <a:rPr lang="es-ES" sz="2000" dirty="0"/>
              <a:t> </a:t>
            </a:r>
            <a:r>
              <a:rPr lang="es-ES" sz="2000" dirty="0" err="1"/>
              <a:t>Cost</a:t>
            </a:r>
            <a:endParaRPr lang="es-PE" sz="2000" dirty="0"/>
          </a:p>
          <a:p>
            <a:r>
              <a:rPr lang="es-ES" sz="2000" dirty="0"/>
              <a:t>          </a:t>
            </a:r>
            <a:r>
              <a:rPr lang="es-ES" sz="2000" dirty="0" err="1"/>
              <a:t>L1</a:t>
            </a:r>
            <a:r>
              <a:rPr lang="es-ES" sz="2000" dirty="0"/>
              <a:t>        2400.000           0.000000</a:t>
            </a:r>
            <a:endParaRPr lang="es-PE" sz="2000" dirty="0"/>
          </a:p>
          <a:p>
            <a:r>
              <a:rPr lang="es-ES" sz="2000" dirty="0"/>
              <a:t>          </a:t>
            </a:r>
            <a:r>
              <a:rPr lang="es-ES" sz="2000" dirty="0" err="1"/>
              <a:t>L2</a:t>
            </a:r>
            <a:r>
              <a:rPr lang="es-ES" sz="2000" dirty="0"/>
              <a:t>        733.3333           0.000000</a:t>
            </a:r>
            <a:endParaRPr lang="es-PE" sz="2000" dirty="0"/>
          </a:p>
          <a:p>
            <a:r>
              <a:rPr lang="es-ES" sz="2000" dirty="0"/>
              <a:t>          </a:t>
            </a:r>
            <a:r>
              <a:rPr lang="es-ES" sz="2000" dirty="0" err="1"/>
              <a:t>M1</a:t>
            </a:r>
            <a:r>
              <a:rPr lang="es-ES" sz="2000" dirty="0"/>
              <a:t>           0.0000          0.036667</a:t>
            </a:r>
            <a:endParaRPr lang="es-PE" sz="2000" dirty="0"/>
          </a:p>
          <a:p>
            <a:r>
              <a:rPr lang="es-ES" sz="2000" dirty="0"/>
              <a:t>          </a:t>
            </a:r>
            <a:r>
              <a:rPr lang="es-ES" sz="2000" dirty="0" err="1"/>
              <a:t>M2</a:t>
            </a:r>
            <a:r>
              <a:rPr lang="es-ES" sz="2000" dirty="0"/>
              <a:t>       200.0000          0.000000</a:t>
            </a:r>
            <a:endParaRPr lang="es-PE" sz="2000" dirty="0"/>
          </a:p>
          <a:p>
            <a:r>
              <a:rPr lang="es-ES" sz="2000" dirty="0"/>
              <a:t>          </a:t>
            </a:r>
            <a:r>
              <a:rPr lang="es-ES" sz="2000" dirty="0" err="1"/>
              <a:t>Q1</a:t>
            </a:r>
            <a:r>
              <a:rPr lang="es-ES" sz="2000" dirty="0"/>
              <a:t>             0.0000          0.770000</a:t>
            </a:r>
            <a:endParaRPr lang="es-PE" sz="2000" dirty="0"/>
          </a:p>
          <a:p>
            <a:r>
              <a:rPr lang="es-ES" sz="2000" dirty="0"/>
              <a:t>          </a:t>
            </a:r>
            <a:r>
              <a:rPr lang="es-ES" sz="2000" dirty="0" err="1"/>
              <a:t>Q2</a:t>
            </a:r>
            <a:r>
              <a:rPr lang="es-ES" sz="2000" dirty="0"/>
              <a:t>         100.0000          0.000000</a:t>
            </a:r>
            <a:endParaRPr lang="es-PE" sz="2000" dirty="0"/>
          </a:p>
        </p:txBody>
      </p:sp>
      <p:sp>
        <p:nvSpPr>
          <p:cNvPr id="4" name="Rectangle 2">
            <a:extLst>
              <a:ext uri="{FF2B5EF4-FFF2-40B4-BE49-F238E27FC236}">
                <a16:creationId xmlns:a16="http://schemas.microsoft.com/office/drawing/2014/main" id="{C1C0E8C4-0C3D-D6C8-4C7A-392406FA13BA}"/>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19</a:t>
            </a:r>
          </a:p>
        </p:txBody>
      </p:sp>
    </p:spTree>
    <p:extLst>
      <p:ext uri="{BB962C8B-B14F-4D97-AF65-F5344CB8AC3E}">
        <p14:creationId xmlns:p14="http://schemas.microsoft.com/office/powerpoint/2010/main" val="44035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154744" y="1277463"/>
            <a:ext cx="5852864" cy="2031325"/>
          </a:xfrm>
          <a:prstGeom prst="rect">
            <a:avLst/>
          </a:prstGeom>
        </p:spPr>
        <p:txBody>
          <a:bodyPr wrap="square">
            <a:spAutoFit/>
          </a:bodyPr>
          <a:lstStyle/>
          <a:p>
            <a:pPr algn="just"/>
            <a:r>
              <a:rPr lang="es-PE" dirty="0"/>
              <a:t>El Ministerio de Salud indica que cada galón de leche, libra de queso y libra de manzanas proporciona un número conocido de miligramos de proteínas y vitaminas A, B y C. La siguiente tabla incluye esos datos junto con los requerimientos diarios de los ingredientes nutricionales y la cantidad mínima de cada alimento que debe incluirse en la comida y su costo.</a:t>
            </a:r>
          </a:p>
        </p:txBody>
      </p:sp>
      <p:graphicFrame>
        <p:nvGraphicFramePr>
          <p:cNvPr id="3" name="2 Tabla"/>
          <p:cNvGraphicFramePr>
            <a:graphicFrameLocks noGrp="1"/>
          </p:cNvGraphicFramePr>
          <p:nvPr/>
        </p:nvGraphicFramePr>
        <p:xfrm>
          <a:off x="270184" y="3305396"/>
          <a:ext cx="5645984" cy="2457420"/>
        </p:xfrm>
        <a:graphic>
          <a:graphicData uri="http://schemas.openxmlformats.org/drawingml/2006/table">
            <a:tbl>
              <a:tblPr firstRow="1" firstCol="1" bandRow="1">
                <a:tableStyleId>{5C22544A-7EE6-4342-B048-85BDC9FD1C3A}</a:tableStyleId>
              </a:tblPr>
              <a:tblGrid>
                <a:gridCol w="1631514">
                  <a:extLst>
                    <a:ext uri="{9D8B030D-6E8A-4147-A177-3AD203B41FA5}">
                      <a16:colId xmlns:a16="http://schemas.microsoft.com/office/drawing/2014/main" val="20000"/>
                    </a:ext>
                  </a:extLst>
                </a:gridCol>
                <a:gridCol w="863822">
                  <a:extLst>
                    <a:ext uri="{9D8B030D-6E8A-4147-A177-3AD203B41FA5}">
                      <a16:colId xmlns:a16="http://schemas.microsoft.com/office/drawing/2014/main" val="20001"/>
                    </a:ext>
                  </a:extLst>
                </a:gridCol>
                <a:gridCol w="863145">
                  <a:extLst>
                    <a:ext uri="{9D8B030D-6E8A-4147-A177-3AD203B41FA5}">
                      <a16:colId xmlns:a16="http://schemas.microsoft.com/office/drawing/2014/main" val="20002"/>
                    </a:ext>
                  </a:extLst>
                </a:gridCol>
                <a:gridCol w="1003279">
                  <a:extLst>
                    <a:ext uri="{9D8B030D-6E8A-4147-A177-3AD203B41FA5}">
                      <a16:colId xmlns:a16="http://schemas.microsoft.com/office/drawing/2014/main" val="20003"/>
                    </a:ext>
                  </a:extLst>
                </a:gridCol>
                <a:gridCol w="1284224">
                  <a:extLst>
                    <a:ext uri="{9D8B030D-6E8A-4147-A177-3AD203B41FA5}">
                      <a16:colId xmlns:a16="http://schemas.microsoft.com/office/drawing/2014/main" val="20004"/>
                    </a:ext>
                  </a:extLst>
                </a:gridCol>
              </a:tblGrid>
              <a:tr h="452788">
                <a:tc>
                  <a:txBody>
                    <a:bodyPr/>
                    <a:lstStyle/>
                    <a:p>
                      <a:pPr algn="just">
                        <a:lnSpc>
                          <a:spcPct val="150000"/>
                        </a:lnSpc>
                        <a:spcAft>
                          <a:spcPts val="0"/>
                        </a:spcAft>
                      </a:pPr>
                      <a:r>
                        <a:rPr lang="es-ES" sz="1600" dirty="0">
                          <a:effectLst/>
                        </a:rPr>
                        <a:t> </a:t>
                      </a:r>
                      <a:endParaRPr lang="es-PE" sz="1600" dirty="0">
                        <a:effectLst/>
                        <a:latin typeface="Times New Roman"/>
                        <a:ea typeface="Calibri"/>
                      </a:endParaRPr>
                    </a:p>
                  </a:txBody>
                  <a:tcPr marL="68580" marR="68580" marT="0" marB="0"/>
                </a:tc>
                <a:tc>
                  <a:txBody>
                    <a:bodyPr/>
                    <a:lstStyle/>
                    <a:p>
                      <a:pPr algn="ctr">
                        <a:lnSpc>
                          <a:spcPct val="100000"/>
                        </a:lnSpc>
                        <a:spcAft>
                          <a:spcPts val="0"/>
                        </a:spcAft>
                      </a:pPr>
                      <a:r>
                        <a:rPr lang="es-ES" sz="1600" dirty="0">
                          <a:effectLst/>
                        </a:rPr>
                        <a:t>Leche (mg/gal)</a:t>
                      </a:r>
                      <a:endParaRPr lang="es-PE" sz="1600" dirty="0">
                        <a:effectLst/>
                        <a:latin typeface="Times New Roman"/>
                        <a:ea typeface="Calibri"/>
                      </a:endParaRPr>
                    </a:p>
                  </a:txBody>
                  <a:tcPr marL="68580" marR="68580" marT="0" marB="0"/>
                </a:tc>
                <a:tc>
                  <a:txBody>
                    <a:bodyPr/>
                    <a:lstStyle/>
                    <a:p>
                      <a:pPr algn="ctr">
                        <a:lnSpc>
                          <a:spcPct val="100000"/>
                        </a:lnSpc>
                        <a:spcAft>
                          <a:spcPts val="0"/>
                        </a:spcAft>
                      </a:pPr>
                      <a:r>
                        <a:rPr lang="es-ES" sz="1600" dirty="0">
                          <a:effectLst/>
                        </a:rPr>
                        <a:t>Queso (mg/lb)</a:t>
                      </a:r>
                      <a:endParaRPr lang="es-PE" sz="1600" dirty="0">
                        <a:effectLst/>
                        <a:latin typeface="Times New Roman"/>
                        <a:ea typeface="Calibri"/>
                      </a:endParaRPr>
                    </a:p>
                  </a:txBody>
                  <a:tcPr marL="68580" marR="68580" marT="0" marB="0"/>
                </a:tc>
                <a:tc>
                  <a:txBody>
                    <a:bodyPr/>
                    <a:lstStyle/>
                    <a:p>
                      <a:pPr algn="ctr">
                        <a:lnSpc>
                          <a:spcPct val="100000"/>
                        </a:lnSpc>
                        <a:spcAft>
                          <a:spcPts val="0"/>
                        </a:spcAft>
                      </a:pPr>
                      <a:r>
                        <a:rPr lang="es-ES" sz="1600" dirty="0">
                          <a:effectLst/>
                        </a:rPr>
                        <a:t>Manzanas (mg/lb)</a:t>
                      </a:r>
                      <a:endParaRPr lang="es-PE" sz="1600" dirty="0">
                        <a:effectLst/>
                        <a:latin typeface="Times New Roman"/>
                        <a:ea typeface="Calibri"/>
                      </a:endParaRPr>
                    </a:p>
                  </a:txBody>
                  <a:tcPr marL="68580" marR="68580" marT="0" marB="0"/>
                </a:tc>
                <a:tc>
                  <a:txBody>
                    <a:bodyPr/>
                    <a:lstStyle/>
                    <a:p>
                      <a:pPr algn="ctr">
                        <a:lnSpc>
                          <a:spcPct val="100000"/>
                        </a:lnSpc>
                        <a:spcAft>
                          <a:spcPts val="0"/>
                        </a:spcAft>
                      </a:pPr>
                      <a:r>
                        <a:rPr lang="es-ES" sz="1600" dirty="0">
                          <a:effectLst/>
                        </a:rPr>
                        <a:t>Requerimiento mín. (mg)</a:t>
                      </a:r>
                      <a:endParaRPr lang="es-PE" sz="1600" dirty="0">
                        <a:effectLst/>
                        <a:latin typeface="Times New Roman"/>
                        <a:ea typeface="Calibri"/>
                      </a:endParaRPr>
                    </a:p>
                  </a:txBody>
                  <a:tcPr marL="68580" marR="68580" marT="0" marB="0"/>
                </a:tc>
                <a:extLst>
                  <a:ext uri="{0D108BD9-81ED-4DB2-BD59-A6C34878D82A}">
                    <a16:rowId xmlns:a16="http://schemas.microsoft.com/office/drawing/2014/main" val="10000"/>
                  </a:ext>
                </a:extLst>
              </a:tr>
              <a:tr h="328290">
                <a:tc>
                  <a:txBody>
                    <a:bodyPr/>
                    <a:lstStyle/>
                    <a:p>
                      <a:pPr algn="just">
                        <a:lnSpc>
                          <a:spcPct val="150000"/>
                        </a:lnSpc>
                        <a:spcAft>
                          <a:spcPts val="0"/>
                        </a:spcAft>
                      </a:pPr>
                      <a:r>
                        <a:rPr lang="es-ES" sz="1600">
                          <a:effectLst/>
                        </a:rPr>
                        <a:t>Proteínas</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40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30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10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80</a:t>
                      </a:r>
                      <a:endParaRPr lang="es-PE" sz="1600">
                        <a:effectLst/>
                        <a:latin typeface="Times New Roman"/>
                        <a:ea typeface="Calibri"/>
                      </a:endParaRPr>
                    </a:p>
                  </a:txBody>
                  <a:tcPr marL="68580" marR="68580" marT="0" marB="0"/>
                </a:tc>
                <a:extLst>
                  <a:ext uri="{0D108BD9-81ED-4DB2-BD59-A6C34878D82A}">
                    <a16:rowId xmlns:a16="http://schemas.microsoft.com/office/drawing/2014/main" val="10001"/>
                  </a:ext>
                </a:extLst>
              </a:tr>
              <a:tr h="328290">
                <a:tc>
                  <a:txBody>
                    <a:bodyPr/>
                    <a:lstStyle/>
                    <a:p>
                      <a:pPr algn="just">
                        <a:lnSpc>
                          <a:spcPct val="150000"/>
                        </a:lnSpc>
                        <a:spcAft>
                          <a:spcPts val="0"/>
                        </a:spcAft>
                      </a:pPr>
                      <a:r>
                        <a:rPr lang="es-ES" sz="1600">
                          <a:effectLst/>
                        </a:rPr>
                        <a:t>Vitamina A</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5</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50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30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60</a:t>
                      </a:r>
                      <a:endParaRPr lang="es-PE" sz="1600">
                        <a:effectLst/>
                        <a:latin typeface="Times New Roman"/>
                        <a:ea typeface="Calibri"/>
                      </a:endParaRPr>
                    </a:p>
                  </a:txBody>
                  <a:tcPr marL="68580" marR="68580" marT="0" marB="0"/>
                </a:tc>
                <a:extLst>
                  <a:ext uri="{0D108BD9-81ED-4DB2-BD59-A6C34878D82A}">
                    <a16:rowId xmlns:a16="http://schemas.microsoft.com/office/drawing/2014/main" val="10002"/>
                  </a:ext>
                </a:extLst>
              </a:tr>
              <a:tr h="328290">
                <a:tc>
                  <a:txBody>
                    <a:bodyPr/>
                    <a:lstStyle/>
                    <a:p>
                      <a:pPr algn="just">
                        <a:lnSpc>
                          <a:spcPct val="150000"/>
                        </a:lnSpc>
                        <a:spcAft>
                          <a:spcPts val="0"/>
                        </a:spcAft>
                      </a:pPr>
                      <a:r>
                        <a:rPr lang="es-ES" sz="1600">
                          <a:effectLst/>
                        </a:rPr>
                        <a:t>Vitamina B</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20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30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40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50</a:t>
                      </a:r>
                      <a:endParaRPr lang="es-PE" sz="1600">
                        <a:effectLst/>
                        <a:latin typeface="Times New Roman"/>
                        <a:ea typeface="Calibri"/>
                      </a:endParaRPr>
                    </a:p>
                  </a:txBody>
                  <a:tcPr marL="68580" marR="68580" marT="0" marB="0"/>
                </a:tc>
                <a:extLst>
                  <a:ext uri="{0D108BD9-81ED-4DB2-BD59-A6C34878D82A}">
                    <a16:rowId xmlns:a16="http://schemas.microsoft.com/office/drawing/2014/main" val="10003"/>
                  </a:ext>
                </a:extLst>
              </a:tr>
              <a:tr h="328290">
                <a:tc>
                  <a:txBody>
                    <a:bodyPr/>
                    <a:lstStyle/>
                    <a:p>
                      <a:pPr algn="just">
                        <a:lnSpc>
                          <a:spcPct val="150000"/>
                        </a:lnSpc>
                        <a:spcAft>
                          <a:spcPts val="0"/>
                        </a:spcAft>
                      </a:pPr>
                      <a:r>
                        <a:rPr lang="es-ES" sz="1600">
                          <a:effectLst/>
                        </a:rPr>
                        <a:t>Vitamina C</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30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50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60</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30</a:t>
                      </a:r>
                      <a:endParaRPr lang="es-PE" sz="1600">
                        <a:effectLst/>
                        <a:latin typeface="Times New Roman"/>
                        <a:ea typeface="Calibri"/>
                      </a:endParaRPr>
                    </a:p>
                  </a:txBody>
                  <a:tcPr marL="68580" marR="68580" marT="0" marB="0"/>
                </a:tc>
                <a:extLst>
                  <a:ext uri="{0D108BD9-81ED-4DB2-BD59-A6C34878D82A}">
                    <a16:rowId xmlns:a16="http://schemas.microsoft.com/office/drawing/2014/main" val="10004"/>
                  </a:ext>
                </a:extLst>
              </a:tr>
              <a:tr h="328290">
                <a:tc>
                  <a:txBody>
                    <a:bodyPr/>
                    <a:lstStyle/>
                    <a:p>
                      <a:pPr algn="just">
                        <a:lnSpc>
                          <a:spcPct val="150000"/>
                        </a:lnSpc>
                        <a:spcAft>
                          <a:spcPts val="0"/>
                        </a:spcAft>
                      </a:pPr>
                      <a:r>
                        <a:rPr lang="es-ES" sz="1600" dirty="0">
                          <a:effectLst/>
                        </a:rPr>
                        <a:t>Cantidad mínima</a:t>
                      </a:r>
                      <a:endParaRPr lang="es-PE" sz="1600" dirty="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0,50 gal</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dirty="0">
                          <a:effectLst/>
                        </a:rPr>
                        <a:t>0,50 lb</a:t>
                      </a:r>
                      <a:endParaRPr lang="es-PE" sz="1600" dirty="0">
                        <a:effectLst/>
                        <a:latin typeface="Times New Roman"/>
                        <a:ea typeface="Calibri"/>
                      </a:endParaRPr>
                    </a:p>
                  </a:txBody>
                  <a:tcPr marL="68580" marR="68580" marT="0" marB="0"/>
                </a:tc>
                <a:tc>
                  <a:txBody>
                    <a:bodyPr/>
                    <a:lstStyle/>
                    <a:p>
                      <a:pPr algn="ctr">
                        <a:lnSpc>
                          <a:spcPct val="150000"/>
                        </a:lnSpc>
                        <a:spcAft>
                          <a:spcPts val="0"/>
                        </a:spcAft>
                      </a:pPr>
                      <a:r>
                        <a:rPr lang="es-ES" sz="1600" dirty="0">
                          <a:effectLst/>
                        </a:rPr>
                        <a:t>0,50 lb</a:t>
                      </a:r>
                      <a:endParaRPr lang="es-PE" sz="1600" dirty="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 </a:t>
                      </a:r>
                      <a:endParaRPr lang="es-PE" sz="1600">
                        <a:effectLst/>
                        <a:latin typeface="Times New Roman"/>
                        <a:ea typeface="Calibri"/>
                      </a:endParaRPr>
                    </a:p>
                  </a:txBody>
                  <a:tcPr marL="68580" marR="68580" marT="0" marB="0"/>
                </a:tc>
                <a:extLst>
                  <a:ext uri="{0D108BD9-81ED-4DB2-BD59-A6C34878D82A}">
                    <a16:rowId xmlns:a16="http://schemas.microsoft.com/office/drawing/2014/main" val="10005"/>
                  </a:ext>
                </a:extLst>
              </a:tr>
              <a:tr h="328290">
                <a:tc>
                  <a:txBody>
                    <a:bodyPr/>
                    <a:lstStyle/>
                    <a:p>
                      <a:pPr algn="just">
                        <a:lnSpc>
                          <a:spcPct val="150000"/>
                        </a:lnSpc>
                        <a:spcAft>
                          <a:spcPts val="0"/>
                        </a:spcAft>
                      </a:pPr>
                      <a:r>
                        <a:rPr lang="es-ES" sz="1600">
                          <a:effectLst/>
                        </a:rPr>
                        <a:t>Costo unitario</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2,15</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2,25</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a:effectLst/>
                        </a:rPr>
                        <a:t>1,25</a:t>
                      </a:r>
                      <a:endParaRPr lang="es-PE" sz="1600">
                        <a:effectLst/>
                        <a:latin typeface="Times New Roman"/>
                        <a:ea typeface="Calibri"/>
                      </a:endParaRPr>
                    </a:p>
                  </a:txBody>
                  <a:tcPr marL="68580" marR="68580" marT="0" marB="0"/>
                </a:tc>
                <a:tc>
                  <a:txBody>
                    <a:bodyPr/>
                    <a:lstStyle/>
                    <a:p>
                      <a:pPr algn="ctr">
                        <a:lnSpc>
                          <a:spcPct val="150000"/>
                        </a:lnSpc>
                        <a:spcAft>
                          <a:spcPts val="0"/>
                        </a:spcAft>
                      </a:pPr>
                      <a:r>
                        <a:rPr lang="es-ES" sz="1600" dirty="0">
                          <a:effectLst/>
                        </a:rPr>
                        <a:t> </a:t>
                      </a:r>
                      <a:endParaRPr lang="es-PE" sz="1600" dirty="0">
                        <a:effectLst/>
                        <a:latin typeface="Times New Roman"/>
                        <a:ea typeface="Calibri"/>
                      </a:endParaRPr>
                    </a:p>
                  </a:txBody>
                  <a:tcPr marL="68580" marR="68580" marT="0" marB="0"/>
                </a:tc>
                <a:extLst>
                  <a:ext uri="{0D108BD9-81ED-4DB2-BD59-A6C34878D82A}">
                    <a16:rowId xmlns:a16="http://schemas.microsoft.com/office/drawing/2014/main" val="10006"/>
                  </a:ext>
                </a:extLst>
              </a:tr>
            </a:tbl>
          </a:graphicData>
        </a:graphic>
      </p:graphicFrame>
      <p:sp>
        <p:nvSpPr>
          <p:cNvPr id="4" name="3 Rectángulo"/>
          <p:cNvSpPr/>
          <p:nvPr/>
        </p:nvSpPr>
        <p:spPr>
          <a:xfrm>
            <a:off x="173032" y="5802961"/>
            <a:ext cx="5816288" cy="1015663"/>
          </a:xfrm>
          <a:prstGeom prst="rect">
            <a:avLst/>
          </a:prstGeom>
        </p:spPr>
        <p:txBody>
          <a:bodyPr wrap="square">
            <a:spAutoFit/>
          </a:bodyPr>
          <a:lstStyle/>
          <a:p>
            <a:pPr algn="just"/>
            <a:r>
              <a:rPr lang="es-PE" sz="2000" dirty="0"/>
              <a:t>Como dietista de una escuela pública, formule un modelo para determinar la comida de costo mínimo que reúna todos los requerimientos nutricionales. </a:t>
            </a:r>
          </a:p>
        </p:txBody>
      </p:sp>
      <p:sp>
        <p:nvSpPr>
          <p:cNvPr id="5" name="1 Rectángulo">
            <a:extLst>
              <a:ext uri="{FF2B5EF4-FFF2-40B4-BE49-F238E27FC236}">
                <a16:creationId xmlns:a16="http://schemas.microsoft.com/office/drawing/2014/main" id="{93C82E90-10BC-4A8C-9F43-F2975078C82E}"/>
              </a:ext>
            </a:extLst>
          </p:cNvPr>
          <p:cNvSpPr/>
          <p:nvPr/>
        </p:nvSpPr>
        <p:spPr>
          <a:xfrm>
            <a:off x="6096000" y="1347694"/>
            <a:ext cx="5622736" cy="1200329"/>
          </a:xfrm>
          <a:prstGeom prst="rect">
            <a:avLst/>
          </a:prstGeom>
        </p:spPr>
        <p:txBody>
          <a:bodyPr wrap="square">
            <a:spAutoFit/>
          </a:bodyPr>
          <a:lstStyle/>
          <a:p>
            <a:r>
              <a:rPr lang="es-PE" dirty="0"/>
              <a:t>I. </a:t>
            </a:r>
            <a:r>
              <a:rPr lang="es-PE" dirty="0">
                <a:solidFill>
                  <a:srgbClr val="FF0000"/>
                </a:solidFill>
              </a:rPr>
              <a:t>Identificación de variables</a:t>
            </a:r>
          </a:p>
          <a:p>
            <a:r>
              <a:rPr lang="es-PE" dirty="0"/>
              <a:t>   L   =Número  Galones de leche a utilizar</a:t>
            </a:r>
          </a:p>
          <a:p>
            <a:r>
              <a:rPr lang="es-PE" dirty="0"/>
              <a:t>   Q  =Número  Libras de queso a utilizar  </a:t>
            </a:r>
          </a:p>
          <a:p>
            <a:r>
              <a:rPr lang="es-PE" dirty="0"/>
              <a:t>   M =Número  Libras de manzana a utilizar</a:t>
            </a:r>
          </a:p>
        </p:txBody>
      </p:sp>
      <p:sp>
        <p:nvSpPr>
          <p:cNvPr id="6" name="Rectángulo 5">
            <a:extLst>
              <a:ext uri="{FF2B5EF4-FFF2-40B4-BE49-F238E27FC236}">
                <a16:creationId xmlns:a16="http://schemas.microsoft.com/office/drawing/2014/main" id="{30CBEC4F-4584-40B1-913E-2813234CBC5B}"/>
              </a:ext>
            </a:extLst>
          </p:cNvPr>
          <p:cNvSpPr/>
          <p:nvPr/>
        </p:nvSpPr>
        <p:spPr>
          <a:xfrm>
            <a:off x="6096000" y="2478974"/>
            <a:ext cx="5917721" cy="646331"/>
          </a:xfrm>
          <a:prstGeom prst="rect">
            <a:avLst/>
          </a:prstGeom>
        </p:spPr>
        <p:txBody>
          <a:bodyPr wrap="square">
            <a:spAutoFit/>
          </a:bodyPr>
          <a:lstStyle/>
          <a:p>
            <a:r>
              <a:rPr lang="es-PE" dirty="0"/>
              <a:t>II. </a:t>
            </a:r>
            <a:r>
              <a:rPr lang="es-PE" dirty="0">
                <a:solidFill>
                  <a:srgbClr val="FF0000"/>
                </a:solidFill>
              </a:rPr>
              <a:t>Identificación de la Función Objetivo</a:t>
            </a:r>
          </a:p>
          <a:p>
            <a:r>
              <a:rPr lang="es-PE" dirty="0"/>
              <a:t>    MIN </a:t>
            </a:r>
            <a:r>
              <a:rPr lang="es-PE" dirty="0" err="1"/>
              <a:t>2.15L</a:t>
            </a:r>
            <a:r>
              <a:rPr lang="es-PE" dirty="0"/>
              <a:t> + </a:t>
            </a:r>
            <a:r>
              <a:rPr lang="es-PE" dirty="0" err="1"/>
              <a:t>2.25Q</a:t>
            </a:r>
            <a:r>
              <a:rPr lang="es-PE" dirty="0"/>
              <a:t> + </a:t>
            </a:r>
            <a:r>
              <a:rPr lang="es-PE" dirty="0" err="1"/>
              <a:t>1.25M</a:t>
            </a:r>
            <a:endParaRPr lang="es-PE" dirty="0"/>
          </a:p>
        </p:txBody>
      </p:sp>
      <p:sp>
        <p:nvSpPr>
          <p:cNvPr id="7" name="Rectángulo 6">
            <a:extLst>
              <a:ext uri="{FF2B5EF4-FFF2-40B4-BE49-F238E27FC236}">
                <a16:creationId xmlns:a16="http://schemas.microsoft.com/office/drawing/2014/main" id="{F41C29AE-7E59-406C-9335-2F0DA3A006F5}"/>
              </a:ext>
            </a:extLst>
          </p:cNvPr>
          <p:cNvSpPr/>
          <p:nvPr/>
        </p:nvSpPr>
        <p:spPr>
          <a:xfrm>
            <a:off x="6096000" y="3125305"/>
            <a:ext cx="3584449" cy="3416320"/>
          </a:xfrm>
          <a:prstGeom prst="rect">
            <a:avLst/>
          </a:prstGeom>
          <a:solidFill>
            <a:schemeClr val="accent5">
              <a:lumMod val="40000"/>
              <a:lumOff val="60000"/>
            </a:schemeClr>
          </a:solidFill>
        </p:spPr>
        <p:txBody>
          <a:bodyPr wrap="square">
            <a:spAutoFit/>
          </a:bodyPr>
          <a:lstStyle/>
          <a:p>
            <a:r>
              <a:rPr lang="es-PE" dirty="0"/>
              <a:t>III. </a:t>
            </a:r>
            <a:r>
              <a:rPr lang="es-PE" dirty="0">
                <a:solidFill>
                  <a:srgbClr val="FF0000"/>
                </a:solidFill>
              </a:rPr>
              <a:t>Identificación de las restricciones</a:t>
            </a:r>
          </a:p>
          <a:p>
            <a:r>
              <a:rPr lang="es-PE" dirty="0"/>
              <a:t>     Con respecto a los requerimiento </a:t>
            </a:r>
          </a:p>
          <a:p>
            <a:r>
              <a:rPr lang="es-PE" dirty="0"/>
              <a:t>                 </a:t>
            </a:r>
            <a:r>
              <a:rPr lang="es-PE" dirty="0" err="1"/>
              <a:t>40L</a:t>
            </a:r>
            <a:r>
              <a:rPr lang="es-PE" dirty="0"/>
              <a:t> + 	</a:t>
            </a:r>
            <a:r>
              <a:rPr lang="es-PE" dirty="0" err="1"/>
              <a:t>30Q</a:t>
            </a:r>
            <a:r>
              <a:rPr lang="es-PE" dirty="0"/>
              <a:t> + </a:t>
            </a:r>
            <a:r>
              <a:rPr lang="es-PE" dirty="0" err="1"/>
              <a:t>10M</a:t>
            </a:r>
            <a:r>
              <a:rPr lang="es-PE" dirty="0"/>
              <a:t> ≥80</a:t>
            </a:r>
          </a:p>
          <a:p>
            <a:r>
              <a:rPr lang="es-PE" dirty="0"/>
              <a:t>	</a:t>
            </a:r>
            <a:r>
              <a:rPr lang="es-PE" dirty="0" err="1"/>
              <a:t>5L</a:t>
            </a:r>
            <a:r>
              <a:rPr lang="es-PE" dirty="0"/>
              <a:t> + 	</a:t>
            </a:r>
            <a:r>
              <a:rPr lang="es-PE" dirty="0" err="1"/>
              <a:t>50Q</a:t>
            </a:r>
            <a:r>
              <a:rPr lang="es-PE" dirty="0"/>
              <a:t> + </a:t>
            </a:r>
            <a:r>
              <a:rPr lang="es-PE" dirty="0" err="1"/>
              <a:t>30M</a:t>
            </a:r>
            <a:r>
              <a:rPr lang="es-PE" dirty="0"/>
              <a:t> ≥60</a:t>
            </a:r>
          </a:p>
          <a:p>
            <a:r>
              <a:rPr lang="es-PE" dirty="0"/>
              <a:t>	</a:t>
            </a:r>
            <a:r>
              <a:rPr lang="es-PE" dirty="0" err="1"/>
              <a:t>20L</a:t>
            </a:r>
            <a:r>
              <a:rPr lang="es-PE" dirty="0"/>
              <a:t> + 	</a:t>
            </a:r>
            <a:r>
              <a:rPr lang="es-PE" dirty="0" err="1"/>
              <a:t>30Q</a:t>
            </a:r>
            <a:r>
              <a:rPr lang="es-PE" dirty="0"/>
              <a:t> + </a:t>
            </a:r>
            <a:r>
              <a:rPr lang="es-PE" dirty="0" err="1"/>
              <a:t>40M</a:t>
            </a:r>
            <a:r>
              <a:rPr lang="es-PE" dirty="0"/>
              <a:t> ≥50</a:t>
            </a:r>
          </a:p>
          <a:p>
            <a:r>
              <a:rPr lang="es-PE" dirty="0"/>
              <a:t>	</a:t>
            </a:r>
            <a:r>
              <a:rPr lang="es-PE" dirty="0" err="1"/>
              <a:t>30L</a:t>
            </a:r>
            <a:r>
              <a:rPr lang="es-PE" dirty="0"/>
              <a:t> + 	</a:t>
            </a:r>
            <a:r>
              <a:rPr lang="es-PE" dirty="0" err="1"/>
              <a:t>50Q</a:t>
            </a:r>
            <a:r>
              <a:rPr lang="es-PE" dirty="0"/>
              <a:t> + </a:t>
            </a:r>
            <a:r>
              <a:rPr lang="es-PE" dirty="0" err="1"/>
              <a:t>60M</a:t>
            </a:r>
            <a:r>
              <a:rPr lang="es-PE" dirty="0"/>
              <a:t> ≥30</a:t>
            </a:r>
          </a:p>
          <a:p>
            <a:r>
              <a:rPr lang="es-PE" dirty="0"/>
              <a:t>     Respecto a La cantidad mínima</a:t>
            </a:r>
          </a:p>
          <a:p>
            <a:r>
              <a:rPr lang="es-PE" dirty="0"/>
              <a:t>		 L	≥ 0.5</a:t>
            </a:r>
          </a:p>
          <a:p>
            <a:r>
              <a:rPr lang="es-PE" dirty="0"/>
              <a:t>		Q 	≥ 0.5</a:t>
            </a:r>
          </a:p>
          <a:p>
            <a:r>
              <a:rPr lang="es-PE" dirty="0"/>
              <a:t>		M 	≥ 0.5</a:t>
            </a:r>
          </a:p>
          <a:p>
            <a:r>
              <a:rPr lang="es-PE" dirty="0"/>
              <a:t>     Respecto a la no negatividad</a:t>
            </a:r>
          </a:p>
          <a:p>
            <a:r>
              <a:rPr lang="es-PE" dirty="0"/>
              <a:t>		L, Q,   M	≥ 0</a:t>
            </a:r>
          </a:p>
        </p:txBody>
      </p:sp>
      <p:sp>
        <p:nvSpPr>
          <p:cNvPr id="9" name="CuadroTexto 8">
            <a:extLst>
              <a:ext uri="{FF2B5EF4-FFF2-40B4-BE49-F238E27FC236}">
                <a16:creationId xmlns:a16="http://schemas.microsoft.com/office/drawing/2014/main" id="{A1E50D58-E8BF-F0B7-44B5-0F114C80284E}"/>
              </a:ext>
            </a:extLst>
          </p:cNvPr>
          <p:cNvSpPr txBox="1"/>
          <p:nvPr/>
        </p:nvSpPr>
        <p:spPr>
          <a:xfrm>
            <a:off x="9753601" y="5288340"/>
            <a:ext cx="2717074" cy="1384995"/>
          </a:xfrm>
          <a:prstGeom prst="rect">
            <a:avLst/>
          </a:prstGeom>
          <a:solidFill>
            <a:schemeClr val="accent3">
              <a:lumMod val="20000"/>
              <a:lumOff val="80000"/>
            </a:schemeClr>
          </a:solidFill>
        </p:spPr>
        <p:txBody>
          <a:bodyPr wrap="square">
            <a:spAutoFit/>
          </a:bodyPr>
          <a:lstStyle/>
          <a:p>
            <a:r>
              <a:rPr lang="en-US" sz="1400" dirty="0">
                <a:latin typeface="Arial Narrow" panose="020B0606020202030204" pitchFamily="34" charset="0"/>
              </a:rPr>
              <a:t>OBJECTIVE FUNCTION VALUE</a:t>
            </a:r>
          </a:p>
          <a:p>
            <a:r>
              <a:rPr lang="en-US" sz="1400" dirty="0">
                <a:latin typeface="Arial Narrow" panose="020B0606020202030204" pitchFamily="34" charset="0"/>
              </a:rPr>
              <a:t>        1)      5.147297</a:t>
            </a:r>
          </a:p>
          <a:p>
            <a:r>
              <a:rPr lang="en-US" sz="1400" dirty="0">
                <a:latin typeface="Arial Narrow" panose="020B0606020202030204" pitchFamily="34" charset="0"/>
              </a:rPr>
              <a:t>VARIABLE VALUE REDUCED COST</a:t>
            </a:r>
          </a:p>
          <a:p>
            <a:r>
              <a:rPr lang="en-US" sz="1400" dirty="0">
                <a:latin typeface="Arial Narrow" panose="020B0606020202030204" pitchFamily="34" charset="0"/>
              </a:rPr>
              <a:t>         L     1.297297          0.000000</a:t>
            </a:r>
          </a:p>
          <a:p>
            <a:r>
              <a:rPr lang="en-US" sz="1400" dirty="0">
                <a:latin typeface="Arial Narrow" panose="020B0606020202030204" pitchFamily="34" charset="0"/>
              </a:rPr>
              <a:t>         Q    0.770270          0.000000</a:t>
            </a:r>
          </a:p>
          <a:p>
            <a:r>
              <a:rPr lang="en-US" sz="1400" dirty="0">
                <a:latin typeface="Arial Narrow" panose="020B0606020202030204" pitchFamily="34" charset="0"/>
              </a:rPr>
              <a:t>         M    0.500000          0.000000</a:t>
            </a:r>
          </a:p>
        </p:txBody>
      </p:sp>
      <p:sp>
        <p:nvSpPr>
          <p:cNvPr id="8" name="Rectangle 2">
            <a:extLst>
              <a:ext uri="{FF2B5EF4-FFF2-40B4-BE49-F238E27FC236}">
                <a16:creationId xmlns:a16="http://schemas.microsoft.com/office/drawing/2014/main" id="{4DC1A6E6-9D95-BA7A-345D-091484AC1ADB}"/>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20</a:t>
            </a:r>
          </a:p>
        </p:txBody>
      </p:sp>
    </p:spTree>
    <p:extLst>
      <p:ext uri="{BB962C8B-B14F-4D97-AF65-F5344CB8AC3E}">
        <p14:creationId xmlns:p14="http://schemas.microsoft.com/office/powerpoint/2010/main" val="22162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A0320E1-0AB7-31EB-4F1F-9884F0C0E0BC}"/>
              </a:ext>
            </a:extLst>
          </p:cNvPr>
          <p:cNvSpPr txBox="1"/>
          <p:nvPr/>
        </p:nvSpPr>
        <p:spPr>
          <a:xfrm>
            <a:off x="89263" y="1251750"/>
            <a:ext cx="6100354" cy="4524315"/>
          </a:xfrm>
          <a:prstGeom prst="rect">
            <a:avLst/>
          </a:prstGeom>
          <a:noFill/>
        </p:spPr>
        <p:txBody>
          <a:bodyPr wrap="square">
            <a:spAutoFit/>
          </a:bodyPr>
          <a:lstStyle/>
          <a:p>
            <a:r>
              <a:rPr lang="es-ES" dirty="0"/>
              <a:t>La empresa </a:t>
            </a:r>
            <a:r>
              <a:rPr lang="es-ES" dirty="0" err="1"/>
              <a:t>XYZ</a:t>
            </a:r>
            <a:r>
              <a:rPr lang="es-ES" dirty="0"/>
              <a:t> produce tres tipos de moldes de plástico para exportación (A, B y C). El modelo de optimización considera tres productos (</a:t>
            </a:r>
            <a:r>
              <a:rPr lang="es-ES" dirty="0" err="1"/>
              <a:t>S1</a:t>
            </a:r>
            <a:r>
              <a:rPr lang="es-ES" dirty="0"/>
              <a:t>, </a:t>
            </a:r>
            <a:r>
              <a:rPr lang="es-ES" dirty="0" err="1"/>
              <a:t>S2</a:t>
            </a:r>
            <a:r>
              <a:rPr lang="es-ES" dirty="0"/>
              <a:t>, </a:t>
            </a:r>
            <a:r>
              <a:rPr lang="es-ES" dirty="0" err="1"/>
              <a:t>S3</a:t>
            </a:r>
            <a:r>
              <a:rPr lang="es-ES" dirty="0"/>
              <a:t>).</a:t>
            </a:r>
          </a:p>
          <a:p>
            <a:r>
              <a:rPr lang="es-ES" dirty="0"/>
              <a:t>Cada molde pasa por tres máquinas para su producción completa: la máquina A tiene 8 horas disponibles, la máquina B tiene 10 horas disponibles, y la máquina C tiene 12 horas disponibles.</a:t>
            </a:r>
          </a:p>
          <a:p>
            <a:r>
              <a:rPr lang="es-ES" dirty="0"/>
              <a:t>Para la producción de cada tipo de molde, se necesita el siguiente tiempo por máquina, que a su vez tiene un tipo de molde y el costo es:</a:t>
            </a:r>
          </a:p>
          <a:p>
            <a:r>
              <a:rPr lang="es-ES" dirty="0" err="1"/>
              <a:t>S1</a:t>
            </a:r>
            <a:r>
              <a:rPr lang="es-ES" dirty="0"/>
              <a:t>: 108 por máquina A, 92 por máquina B, 58 por máquina C</a:t>
            </a:r>
          </a:p>
          <a:p>
            <a:r>
              <a:rPr lang="es-ES" dirty="0" err="1"/>
              <a:t>S2</a:t>
            </a:r>
            <a:r>
              <a:rPr lang="es-ES" dirty="0"/>
              <a:t>: 7 por máquina A, 18 por máquina B, 22 por máquina C</a:t>
            </a:r>
          </a:p>
          <a:p>
            <a:r>
              <a:rPr lang="es-ES" dirty="0" err="1"/>
              <a:t>S3</a:t>
            </a:r>
            <a:r>
              <a:rPr lang="es-ES" dirty="0"/>
              <a:t>: 4 por máquina A, 5 por máquina B, 6 por máquina C</a:t>
            </a:r>
          </a:p>
          <a:p>
            <a:r>
              <a:rPr lang="es-ES" dirty="0"/>
              <a:t>La función objetivo se reduce al mínimo costo de producción de los moldes con el objetivo de maximizar la eficiencia de producción en el año.</a:t>
            </a:r>
          </a:p>
        </p:txBody>
      </p:sp>
      <p:pic>
        <p:nvPicPr>
          <p:cNvPr id="4" name="Imagen 3" descr="Captura de pantalla de un celular con texto&#10;&#10;Descripción generada automáticamente">
            <a:extLst>
              <a:ext uri="{FF2B5EF4-FFF2-40B4-BE49-F238E27FC236}">
                <a16:creationId xmlns:a16="http://schemas.microsoft.com/office/drawing/2014/main" id="{9B025910-BE7B-0159-3158-93541CCC9F6A}"/>
              </a:ext>
            </a:extLst>
          </p:cNvPr>
          <p:cNvPicPr>
            <a:picLocks noChangeAspect="1"/>
          </p:cNvPicPr>
          <p:nvPr/>
        </p:nvPicPr>
        <p:blipFill>
          <a:blip r:embed="rId2">
            <a:clrChange>
              <a:clrFrom>
                <a:srgbClr val="FFFFFF"/>
              </a:clrFrom>
              <a:clrTo>
                <a:srgbClr val="FFFFFF">
                  <a:alpha val="0"/>
                </a:srgbClr>
              </a:clrTo>
            </a:clrChange>
            <a:biLevel thresh="75000"/>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6096000" y="1580872"/>
            <a:ext cx="5930536" cy="4536504"/>
          </a:xfrm>
          <a:prstGeom prst="rect">
            <a:avLst/>
          </a:prstGeom>
        </p:spPr>
      </p:pic>
      <p:sp>
        <p:nvSpPr>
          <p:cNvPr id="2" name="Rectangle 2">
            <a:extLst>
              <a:ext uri="{FF2B5EF4-FFF2-40B4-BE49-F238E27FC236}">
                <a16:creationId xmlns:a16="http://schemas.microsoft.com/office/drawing/2014/main" id="{0479AD37-6527-E349-175A-99DB95BEAEF8}"/>
              </a:ext>
            </a:extLst>
          </p:cNvPr>
          <p:cNvSpPr txBox="1">
            <a:spLocks noChangeArrowheads="1"/>
          </p:cNvSpPr>
          <p:nvPr/>
        </p:nvSpPr>
        <p:spPr>
          <a:xfrm>
            <a:off x="6096000" y="274634"/>
            <a:ext cx="6096000" cy="581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base">
              <a:spcAft>
                <a:spcPct val="0"/>
              </a:spcAft>
            </a:pPr>
            <a:r>
              <a:rPr lang="es-ES" sz="3200" dirty="0">
                <a:solidFill>
                  <a:schemeClr val="bg1"/>
                </a:solidFill>
                <a:latin typeface="Bauhaus 93" pitchFamily="82" charset="0"/>
                <a:ea typeface="+mn-ea"/>
                <a:cs typeface="+mn-cs"/>
              </a:rPr>
              <a:t>Problema 21</a:t>
            </a:r>
          </a:p>
        </p:txBody>
      </p:sp>
    </p:spTree>
    <p:extLst>
      <p:ext uri="{BB962C8B-B14F-4D97-AF65-F5344CB8AC3E}">
        <p14:creationId xmlns:p14="http://schemas.microsoft.com/office/powerpoint/2010/main" val="209658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23"/>
          <p:cNvSpPr txBox="1">
            <a:spLocks noGrp="1"/>
          </p:cNvSpPr>
          <p:nvPr>
            <p:ph type="sldNum" idx="12"/>
          </p:nvPr>
        </p:nvSpPr>
        <p:spPr>
          <a:prstGeom prst="rect">
            <a:avLst/>
          </a:prstGeom>
        </p:spPr>
        <p:txBody>
          <a:bodyPr spcFirstLastPara="1" vert="horz" wrap="square" lIns="0" tIns="0" rIns="0" bIns="0" rtlCol="0" anchor="ctr" anchorCtr="0">
            <a:noAutofit/>
          </a:bodyPr>
          <a:lstStyle/>
          <a:p>
            <a:fld id="{00000000-1234-1234-1234-123412341234}" type="slidenum">
              <a:rPr lang="en"/>
              <a:pPr/>
              <a:t>41</a:t>
            </a:fld>
            <a:endParaRPr dirty="0"/>
          </a:p>
        </p:txBody>
      </p:sp>
      <p:sp>
        <p:nvSpPr>
          <p:cNvPr id="4" name="Rectangle 2"/>
          <p:cNvSpPr txBox="1">
            <a:spLocks noChangeArrowheads="1"/>
          </p:cNvSpPr>
          <p:nvPr/>
        </p:nvSpPr>
        <p:spPr bwMode="auto">
          <a:xfrm>
            <a:off x="2049501" y="2276872"/>
            <a:ext cx="7920880" cy="1220754"/>
          </a:xfrm>
          <a:prstGeom prst="rect">
            <a:avLst/>
          </a:prstGeom>
          <a:noFill/>
          <a:ln>
            <a:noFill/>
            <a:miter lim="800000"/>
            <a:headEnd/>
            <a:tailEnd/>
          </a:ln>
        </p:spPr>
        <p:txBody>
          <a:bodyPr spcFirstLastPara="1" vert="horz" wrap="square" lIns="91440" tIns="45720" rIns="91440" bIns="45720" numCol="1"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pPr marL="87313" indent="-87313" algn="ctr"/>
            <a:r>
              <a:rPr lang="es-ES" sz="2800" b="0" dirty="0">
                <a:solidFill>
                  <a:srgbClr val="700000"/>
                </a:solidFill>
                <a:latin typeface="+mn-lt"/>
                <a:ea typeface="+mn-ea"/>
                <a:cs typeface="+mn-cs"/>
              </a:rPr>
              <a:t>Donde quiera que usted vea un negocio exitoso, alguien ha tomado una decisión valiente</a:t>
            </a:r>
            <a:r>
              <a:rPr lang="es-ES" sz="2400" b="0" dirty="0">
                <a:solidFill>
                  <a:srgbClr val="700000"/>
                </a:solidFill>
                <a:latin typeface="+mn-lt"/>
                <a:ea typeface="+mn-ea"/>
                <a:cs typeface="+mn-cs"/>
              </a:rPr>
              <a:t>.</a:t>
            </a:r>
            <a:br>
              <a:rPr lang="es-ES" sz="2400" b="0" dirty="0">
                <a:solidFill>
                  <a:srgbClr val="700000"/>
                </a:solidFill>
                <a:latin typeface="+mn-lt"/>
                <a:ea typeface="+mn-ea"/>
                <a:cs typeface="+mn-cs"/>
              </a:rPr>
            </a:br>
            <a:endParaRPr lang="es-PE" sz="2400" b="0" dirty="0">
              <a:solidFill>
                <a:srgbClr val="700000"/>
              </a:solidFill>
              <a:latin typeface="+mn-lt"/>
              <a:ea typeface="+mn-ea"/>
              <a:cs typeface="+mn-cs"/>
            </a:endParaRPr>
          </a:p>
        </p:txBody>
      </p:sp>
      <p:sp>
        <p:nvSpPr>
          <p:cNvPr id="5" name="Rectangle 2"/>
          <p:cNvSpPr txBox="1">
            <a:spLocks noChangeArrowheads="1"/>
          </p:cNvSpPr>
          <p:nvPr/>
        </p:nvSpPr>
        <p:spPr>
          <a:xfrm>
            <a:off x="6096000" y="92279"/>
            <a:ext cx="6096000" cy="8724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3200" i="1">
                <a:solidFill>
                  <a:schemeClr val="accent5">
                    <a:lumMod val="20000"/>
                    <a:lumOff val="80000"/>
                  </a:schemeClr>
                </a:solidFill>
                <a:latin typeface="Bauhaus 93" pitchFamily="82" charset="0"/>
              </a:defRPr>
            </a:lvl1pPr>
            <a:lvl2pPr algn="r" eaLnBrk="1" hangingPunct="1">
              <a:defRPr sz="2800" i="1">
                <a:latin typeface="Verdana" pitchFamily="34" charset="0"/>
              </a:defRPr>
            </a:lvl2pPr>
            <a:lvl3pPr algn="r" eaLnBrk="1" hangingPunct="1">
              <a:defRPr sz="2800" i="1">
                <a:latin typeface="Verdana" pitchFamily="34" charset="0"/>
              </a:defRPr>
            </a:lvl3pPr>
            <a:lvl4pPr algn="r" eaLnBrk="1" hangingPunct="1">
              <a:defRPr sz="2800" i="1">
                <a:latin typeface="Verdana" pitchFamily="34" charset="0"/>
              </a:defRPr>
            </a:lvl4pPr>
            <a:lvl5pPr algn="r" eaLnBrk="1" hangingPunct="1">
              <a:defRPr sz="2800" i="1">
                <a:latin typeface="Verdana" pitchFamily="34" charset="0"/>
              </a:defRPr>
            </a:lvl5pPr>
            <a:lvl6pPr marL="457200" algn="r" fontAlgn="base">
              <a:spcBef>
                <a:spcPct val="0"/>
              </a:spcBef>
              <a:spcAft>
                <a:spcPct val="0"/>
              </a:spcAft>
              <a:defRPr sz="2800" i="1">
                <a:latin typeface="Verdana" pitchFamily="34" charset="0"/>
              </a:defRPr>
            </a:lvl6pPr>
            <a:lvl7pPr marL="914400" algn="r" fontAlgn="base">
              <a:spcBef>
                <a:spcPct val="0"/>
              </a:spcBef>
              <a:spcAft>
                <a:spcPct val="0"/>
              </a:spcAft>
              <a:defRPr sz="2800" i="1">
                <a:latin typeface="Verdana" pitchFamily="34" charset="0"/>
              </a:defRPr>
            </a:lvl7pPr>
            <a:lvl8pPr marL="1371600" algn="r" fontAlgn="base">
              <a:spcBef>
                <a:spcPct val="0"/>
              </a:spcBef>
              <a:spcAft>
                <a:spcPct val="0"/>
              </a:spcAft>
              <a:defRPr sz="2800" i="1">
                <a:latin typeface="Verdana" pitchFamily="34" charset="0"/>
              </a:defRPr>
            </a:lvl8pPr>
            <a:lvl9pPr marL="1828800" algn="r" fontAlgn="base">
              <a:spcBef>
                <a:spcPct val="0"/>
              </a:spcBef>
              <a:spcAft>
                <a:spcPct val="0"/>
              </a:spcAft>
              <a:defRPr sz="2800" i="1">
                <a:latin typeface="Verdana" pitchFamily="34" charset="0"/>
              </a:defRPr>
            </a:lvl9pPr>
          </a:lstStyle>
          <a:p>
            <a:r>
              <a:rPr lang="es-MX" dirty="0">
                <a:solidFill>
                  <a:srgbClr val="FFFF00"/>
                </a:solidFill>
              </a:rPr>
              <a:t>Seamos dueños de nuestro propio destino</a:t>
            </a:r>
            <a:endParaRPr lang="es-ES" i="0" dirty="0"/>
          </a:p>
        </p:txBody>
      </p:sp>
      <p:sp>
        <p:nvSpPr>
          <p:cNvPr id="2" name="Rectángulo 1">
            <a:extLst>
              <a:ext uri="{FF2B5EF4-FFF2-40B4-BE49-F238E27FC236}">
                <a16:creationId xmlns:a16="http://schemas.microsoft.com/office/drawing/2014/main" id="{A345A401-5395-4861-90CC-1389B0CFAC65}"/>
              </a:ext>
            </a:extLst>
          </p:cNvPr>
          <p:cNvSpPr/>
          <p:nvPr/>
        </p:nvSpPr>
        <p:spPr>
          <a:xfrm>
            <a:off x="4958093" y="4125017"/>
            <a:ext cx="2275816" cy="923330"/>
          </a:xfrm>
          <a:prstGeom prst="rect">
            <a:avLst/>
          </a:prstGeom>
          <a:noFill/>
        </p:spPr>
        <p:txBody>
          <a:bodyPr wrap="none" lIns="91440" tIns="45720" rIns="91440" bIns="45720">
            <a:spAutoFit/>
          </a:bodyPr>
          <a:lstStyle/>
          <a:p>
            <a:pPr algn="ctr"/>
            <a:r>
              <a:rPr lang="es-ES" sz="5400" b="1" cap="none" spc="0" dirty="0">
                <a:ln w="22225">
                  <a:solidFill>
                    <a:schemeClr val="accent2"/>
                  </a:solidFill>
                  <a:prstDash val="solid"/>
                </a:ln>
                <a:solidFill>
                  <a:schemeClr val="accent2">
                    <a:lumMod val="40000"/>
                    <a:lumOff val="60000"/>
                  </a:schemeClr>
                </a:solidFill>
                <a:effectLst/>
              </a:rPr>
              <a:t>Gracias</a:t>
            </a:r>
          </a:p>
        </p:txBody>
      </p:sp>
      <p:pic>
        <p:nvPicPr>
          <p:cNvPr id="6" name="Picture 5" descr="004">
            <a:extLst>
              <a:ext uri="{FF2B5EF4-FFF2-40B4-BE49-F238E27FC236}">
                <a16:creationId xmlns:a16="http://schemas.microsoft.com/office/drawing/2014/main" id="{10E9D79D-8D69-43FB-8635-4B0D7576B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5506" y="3733101"/>
            <a:ext cx="2095281" cy="279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48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68" decel="100000"/>
                                        <p:tgtEl>
                                          <p:spTgt spid="4"/>
                                        </p:tgtEl>
                                      </p:cBhvr>
                                    </p:animEffect>
                                    <p:animScale>
                                      <p:cBhvr>
                                        <p:cTn id="8" dur="768" decel="100000"/>
                                        <p:tgtEl>
                                          <p:spTgt spid="4"/>
                                        </p:tgtEl>
                                      </p:cBhvr>
                                      <p:from x="10000" y="10000"/>
                                      <p:to x="200000" y="450000"/>
                                    </p:animScale>
                                    <p:animScale>
                                      <p:cBhvr>
                                        <p:cTn id="9" dur="1230" accel="100000" fill="hold">
                                          <p:stCondLst>
                                            <p:cond delay="768"/>
                                          </p:stCondLst>
                                        </p:cTn>
                                        <p:tgtEl>
                                          <p:spTgt spid="4"/>
                                        </p:tgtEl>
                                      </p:cBhvr>
                                      <p:from x="200000" y="450000"/>
                                      <p:to x="100000" y="100000"/>
                                    </p:animScale>
                                    <p:set>
                                      <p:cBhvr>
                                        <p:cTn id="10" dur="768" fill="hold"/>
                                        <p:tgtEl>
                                          <p:spTgt spid="4"/>
                                        </p:tgtEl>
                                        <p:attrNameLst>
                                          <p:attrName>ppt_x</p:attrName>
                                        </p:attrNameLst>
                                      </p:cBhvr>
                                      <p:to>
                                        <p:strVal val="(0.5)"/>
                                      </p:to>
                                    </p:set>
                                    <p:anim from="(0.5)" to="(#ppt_x)" calcmode="lin" valueType="num">
                                      <p:cBhvr>
                                        <p:cTn id="11" dur="1230" accel="100000" fill="hold">
                                          <p:stCondLst>
                                            <p:cond delay="768"/>
                                          </p:stCondLst>
                                        </p:cTn>
                                        <p:tgtEl>
                                          <p:spTgt spid="4"/>
                                        </p:tgtEl>
                                        <p:attrNameLst>
                                          <p:attrName>ppt_x</p:attrName>
                                        </p:attrNameLst>
                                      </p:cBhvr>
                                    </p:anim>
                                    <p:set>
                                      <p:cBhvr>
                                        <p:cTn id="12" dur="768" fill="hold"/>
                                        <p:tgtEl>
                                          <p:spTgt spid="4"/>
                                        </p:tgtEl>
                                        <p:attrNameLst>
                                          <p:attrName>ppt_y</p:attrName>
                                        </p:attrNameLst>
                                      </p:cBhvr>
                                      <p:to>
                                        <p:strVal val="(#ppt_y+0.4)"/>
                                      </p:to>
                                    </p:set>
                                    <p:anim from="(#ppt_y+0.4)" to="(#ppt_y)" calcmode="lin" valueType="num">
                                      <p:cBhvr>
                                        <p:cTn id="13" dur="1230" accel="100000" fill="hold">
                                          <p:stCondLst>
                                            <p:cond delay="768"/>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ema de Office">
  <a:themeElements>
    <a:clrScheme name="Azul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5458</TotalTime>
  <Words>7149</Words>
  <Application>Microsoft Office PowerPoint</Application>
  <PresentationFormat>Panorámica</PresentationFormat>
  <Paragraphs>1274</Paragraphs>
  <Slides>41</Slides>
  <Notes>4</Notes>
  <HiddenSlides>0</HiddenSlides>
  <MMClips>0</MMClips>
  <ScaleCrop>false</ScaleCrop>
  <HeadingPairs>
    <vt:vector size="8" baseType="variant">
      <vt:variant>
        <vt:lpstr>Fuentes usadas</vt:lpstr>
      </vt:variant>
      <vt:variant>
        <vt:i4>13</vt:i4>
      </vt:variant>
      <vt:variant>
        <vt:lpstr>Tema</vt:lpstr>
      </vt:variant>
      <vt:variant>
        <vt:i4>1</vt:i4>
      </vt:variant>
      <vt:variant>
        <vt:lpstr>Servidores OLE incrustados</vt:lpstr>
      </vt:variant>
      <vt:variant>
        <vt:i4>1</vt:i4>
      </vt:variant>
      <vt:variant>
        <vt:lpstr>Títulos de diapositiva</vt:lpstr>
      </vt:variant>
      <vt:variant>
        <vt:i4>41</vt:i4>
      </vt:variant>
    </vt:vector>
  </HeadingPairs>
  <TitlesOfParts>
    <vt:vector size="56" baseType="lpstr">
      <vt:lpstr>Arial</vt:lpstr>
      <vt:lpstr>Arial Black</vt:lpstr>
      <vt:lpstr>Arial Narrow</vt:lpstr>
      <vt:lpstr>Bauhaus 93</vt:lpstr>
      <vt:lpstr>Bodoni MT Black</vt:lpstr>
      <vt:lpstr>Calibri</vt:lpstr>
      <vt:lpstr>Calibri Light</vt:lpstr>
      <vt:lpstr>Lexend Deca</vt:lpstr>
      <vt:lpstr>Signika</vt:lpstr>
      <vt:lpstr>Symbol</vt:lpstr>
      <vt:lpstr>Tahoma</vt:lpstr>
      <vt:lpstr>Times New Roman</vt:lpstr>
      <vt:lpstr>Wingdings 2</vt:lpstr>
      <vt:lpstr>Tema de Office</vt:lpstr>
      <vt:lpstr>Ecuación</vt:lpstr>
      <vt:lpstr>Presentación de PowerPoint</vt:lpstr>
      <vt:lpstr>PROGRAMACIÓN ENTERA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        Formulación del problema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ANIVAL ALFREDO TORRE CAMONES</dc:creator>
  <cp:lastModifiedBy>ANIVAL ALFREDO TORRE CAMONES</cp:lastModifiedBy>
  <cp:revision>310</cp:revision>
  <dcterms:created xsi:type="dcterms:W3CDTF">2021-09-08T13:14:39Z</dcterms:created>
  <dcterms:modified xsi:type="dcterms:W3CDTF">2026-08-16T17:22:30Z</dcterms:modified>
</cp:coreProperties>
</file>
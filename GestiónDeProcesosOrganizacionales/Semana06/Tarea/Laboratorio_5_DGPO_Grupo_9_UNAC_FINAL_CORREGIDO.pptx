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02920"/>
            <a:ext cx="1143000" cy="114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83080" y="566928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C2E5B"/>
                </a:solidFill>
              </a:defRPr>
            </a:pPr>
            <a:r>
              <a:t>Universidad Nacional del Callao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914400"/>
            <a:ext cx="9326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86069"/>
                </a:solidFill>
              </a:defRPr>
            </a:pPr>
            <a:r>
              <a:t>Escuela Profesional de Ingeniería de Sistemas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10881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C2E5B"/>
                </a:solidFill>
              </a:defRPr>
            </a:pPr>
            <a:r>
              <a:t>Laboratorio 5: Flujograma de Procesos y SIPOC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423160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C1F23"/>
                </a:solidFill>
              </a:defRPr>
            </a:pPr>
            <a:r>
              <a:t>Diseño y Gestión de Procesos Organizacionales · Semestre 2026-B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241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69B4"/>
                </a:solidFill>
              </a:defRPr>
            </a:pPr>
            <a:r>
              <a:t>Organización de estudio: Universidad Nacional del Callao (UNAC)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30752"/>
            <a:ext cx="5349240" cy="1463040"/>
          </a:xfrm>
          <a:prstGeom prst="roundRect">
            <a:avLst/>
          </a:prstGeom>
          <a:solidFill>
            <a:srgbClr val="E2EEFA"/>
          </a:solidFill>
          <a:ln w="13970"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849624"/>
            <a:ext cx="502005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20">
                <a:solidFill>
                  <a:srgbClr val="1E69B4"/>
                </a:solidFill>
              </a:defRPr>
            </a:pPr>
            <a:r>
              <a:t>Docente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4206240"/>
            <a:ext cx="5020055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1C1F23"/>
                </a:solidFill>
              </a:defRPr>
            </a:pPr>
            <a:r>
              <a:t>Ing. Eddie Malca Vicente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30752"/>
            <a:ext cx="5257800" cy="1463040"/>
          </a:xfrm>
          <a:prstGeom prst="roundRect">
            <a:avLst/>
          </a:prstGeom>
          <a:solidFill>
            <a:srgbClr val="E2EEFA"/>
          </a:solidFill>
          <a:ln w="13970"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3849624"/>
            <a:ext cx="49286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20">
                <a:solidFill>
                  <a:srgbClr val="1E69B4"/>
                </a:solidFill>
              </a:defRPr>
            </a:pPr>
            <a:r>
              <a:t>Grupo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4206240"/>
            <a:ext cx="4928616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1C1F23"/>
                </a:solidFill>
              </a:defRPr>
            </a:pPr>
            <a:r>
              <a:t>Pinto Pante Gabriela Betsabé</a:t>
            </a:r>
            <a:br/>
            <a:r>
              <a:t>Santos Benites Juan José</a:t>
            </a:r>
            <a:br/>
            <a:r>
              <a:t>Villanueva Portella Jhon Gesell</a:t>
            </a:r>
            <a:br/>
            <a:r>
              <a:t>Escalante Matta Juan José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6539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9"/>
                </a:solidFill>
              </a:defRPr>
            </a:pPr>
            <a:r>
              <a:t>DGPO · Grupo 9 · UNAC · Laboratorio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6539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9"/>
                </a:solidFill>
              </a:defRPr>
            </a:pPr>
            <a:r>
              <a:t>DGPO · Grupo 9 · UNAC · Laboratorio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0149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C2E5B"/>
                </a:solidFill>
              </a:defRPr>
            </a:pPr>
            <a:r>
              <a:t>Presentación del trabajo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2296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069"/>
                </a:solidFill>
              </a:defRPr>
            </a:pPr>
            <a:r>
              <a:t>Procesos seleccionados y sustento documental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C1F23"/>
                </a:solidFill>
              </a:defRPr>
            </a:pPr>
            <a:r>
              <a:t>El trabajo se desarrolla sobre procesos reales de la Universidad Nacional del Callao, tomando como base el mapa de procesos institucional y los procedimientos oficiales compartidos por el grupo.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828800"/>
          <a:ext cx="1065276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920"/>
                <a:gridCol w="3550920"/>
                <a:gridCol w="3550920"/>
              </a:tblGrid>
              <a:tr h="491490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 marL="36576" marR="36576" marT="27432" marB="27432" anchor="ctr">
                    <a:solidFill>
                      <a:srgbClr val="0C2E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Proceso trabajado</a:t>
                      </a:r>
                    </a:p>
                  </a:txBody>
                  <a:tcPr marL="36576" marR="36576" marT="27432" marB="27432" anchor="ctr">
                    <a:solidFill>
                      <a:srgbClr val="0C2E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Producto del laboratorio</a:t>
                      </a:r>
                    </a:p>
                  </a:txBody>
                  <a:tcPr marL="36576" marR="36576" marT="27432" marB="27432" anchor="ctr">
                    <a:solidFill>
                      <a:srgbClr val="0C2E5B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1C1F23"/>
                          </a:solidFill>
                        </a:defRPr>
                      </a:pPr>
                      <a:r>
                        <a:t>Estratégico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1C1F23"/>
                          </a:solidFill>
                        </a:defRPr>
                      </a:pPr>
                      <a:r>
                        <a:t>Gestión de Comunicación Institucional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1C1F23"/>
                          </a:solidFill>
                        </a:defRPr>
                      </a:pPr>
                      <a:r>
                        <a:t>Flujograma y ficha de caracterización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1C1F23"/>
                          </a:solidFill>
                        </a:defRPr>
                      </a:pPr>
                      <a:r>
                        <a:t>Misional / Core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1C1F23"/>
                          </a:solidFill>
                        </a:defRPr>
                      </a:pPr>
                      <a:r>
                        <a:t>Biblioteca – adquisición de material bibliográfico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1C1F23"/>
                          </a:solidFill>
                        </a:defRPr>
                      </a:pPr>
                      <a:r>
                        <a:t>Flujograma y ficha de caracterización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1C1F23"/>
                          </a:solidFill>
                        </a:defRPr>
                      </a:pPr>
                      <a:r>
                        <a:t>Apoyo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1C1F23"/>
                          </a:solidFill>
                        </a:defRPr>
                      </a:pPr>
                      <a:r>
                        <a:t>Gestión de Tecnologías de la Información – mantenimiento correctivo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1C1F23"/>
                          </a:solidFill>
                        </a:defRPr>
                      </a:pPr>
                      <a:r>
                        <a:t>Flujograma y ficha de caracterización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22960" y="4251960"/>
            <a:ext cx="3383280" cy="1051560"/>
          </a:xfrm>
          <a:prstGeom prst="roundRect">
            <a:avLst/>
          </a:prstGeom>
          <a:solidFill>
            <a:srgbClr val="E2EEFA"/>
          </a:solidFill>
          <a:ln w="13970"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370832"/>
            <a:ext cx="3054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20">
                <a:solidFill>
                  <a:srgbClr val="1E69B4"/>
                </a:solidFill>
              </a:defRPr>
            </a:pPr>
            <a:r>
              <a:t>Criterio usado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727448"/>
            <a:ext cx="3054096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1C1F23"/>
                </a:solidFill>
              </a:defRPr>
            </a:pPr>
            <a:r>
              <a:t>Procesos clasificados en el mapa institucional de la UNAC y respaldados por procedimientos aprobados.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4251960"/>
            <a:ext cx="3383280" cy="1051560"/>
          </a:xfrm>
          <a:prstGeom prst="roundRect">
            <a:avLst/>
          </a:prstGeom>
          <a:solidFill>
            <a:srgbClr val="E2EEFA"/>
          </a:solidFill>
          <a:ln w="13970"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1" y="4370832"/>
            <a:ext cx="3054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20">
                <a:solidFill>
                  <a:srgbClr val="1E69B4"/>
                </a:solidFill>
              </a:defRPr>
            </a:pPr>
            <a:r>
              <a:t>Diagramación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4727448"/>
            <a:ext cx="3054096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1C1F23"/>
                </a:solidFill>
              </a:defRPr>
            </a:pPr>
            <a:r>
              <a:t>Se modeló con carriles por responsable, evento de inicio, actividades, decisiones y fin.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251960"/>
            <a:ext cx="3383280" cy="1051560"/>
          </a:xfrm>
          <a:prstGeom prst="roundRect">
            <a:avLst/>
          </a:prstGeom>
          <a:solidFill>
            <a:srgbClr val="E2EEFA"/>
          </a:solidFill>
          <a:ln w="13970"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4370832"/>
            <a:ext cx="3054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20">
                <a:solidFill>
                  <a:srgbClr val="1E69B4"/>
                </a:solidFill>
              </a:defRPr>
            </a:pPr>
            <a:r>
              <a:t>Resultado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4727448"/>
            <a:ext cx="3054096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1C1F23"/>
                </a:solidFill>
              </a:defRPr>
            </a:pPr>
            <a:r>
              <a:t>El PPT integra los flujogramas, las caracterizaciones y las respuestas solicitadas por el laboratorio.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6539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9"/>
                </a:solidFill>
              </a:defRPr>
            </a:pPr>
            <a:r>
              <a:t>DGPO · Grupo 9 · UNAC · Laboratorio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0149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C2E5B"/>
                </a:solidFill>
              </a:defRPr>
            </a:pPr>
            <a:r>
              <a:t>Procesos seleccionados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2296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069"/>
                </a:solidFill>
              </a:defRPr>
            </a:pPr>
            <a:r>
              <a:t>Clasificación estratégica, misional y de apoyo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115568"/>
          <a:ext cx="108356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  <a:gridCol w="3611880"/>
              </a:tblGrid>
              <a:tr h="4800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Tipo de proceso</a:t>
                      </a:r>
                    </a:p>
                  </a:txBody>
                  <a:tcPr marL="36576" marR="36576" marT="27432" marB="27432" anchor="ctr">
                    <a:solidFill>
                      <a:srgbClr val="0C2E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Proceso elegido</a:t>
                      </a:r>
                    </a:p>
                  </a:txBody>
                  <a:tcPr marL="36576" marR="36576" marT="27432" marB="27432" anchor="ctr">
                    <a:solidFill>
                      <a:srgbClr val="0C2E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Documento base</a:t>
                      </a:r>
                    </a:p>
                  </a:txBody>
                  <a:tcPr marL="36576" marR="36576" marT="27432" marB="27432" anchor="ctr">
                    <a:solidFill>
                      <a:srgbClr val="0C2E5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C1F23"/>
                          </a:solidFill>
                        </a:defRPr>
                      </a:pPr>
                      <a:r>
                        <a:t>Estratégico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C1F23"/>
                          </a:solidFill>
                        </a:defRPr>
                      </a:pPr>
                      <a:r>
                        <a:t>Gestión de Comunicación Institucional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C1F23"/>
                          </a:solidFill>
                        </a:defRPr>
                      </a:pPr>
                      <a:r>
                        <a:t>E.PIN.02-PR-01 y E.PIN.02-OD.01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C1F23"/>
                          </a:solidFill>
                        </a:defRPr>
                      </a:pPr>
                      <a:r>
                        <a:t>Misional / Core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C1F23"/>
                          </a:solidFill>
                        </a:defRPr>
                      </a:pPr>
                      <a:r>
                        <a:t>Biblioteca – adquisición de material bibliográfico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C1F23"/>
                          </a:solidFill>
                        </a:defRPr>
                      </a:pPr>
                      <a:r>
                        <a:t>M.FAP.11-PR-01 y M.FAP.11-OD-01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C1F23"/>
                          </a:solidFill>
                        </a:defRPr>
                      </a:pPr>
                      <a:r>
                        <a:t>Apoyo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C1F23"/>
                          </a:solidFill>
                        </a:defRPr>
                      </a:pPr>
                      <a:r>
                        <a:t>GTI – mantenimiento correctivo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C1F23"/>
                          </a:solidFill>
                        </a:defRPr>
                      </a:pPr>
                      <a:r>
                        <a:t>A.GTI-PR-01 y matriz GTI del Laboratorio 4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342900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C2E5B"/>
                </a:solidFill>
              </a:defRPr>
            </a:pPr>
            <a:r>
              <a:t>Para construir los flujogramas se siguieron tres criterios: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86200"/>
            <a:ext cx="10241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C1F23"/>
                </a:solidFill>
              </a:defRPr>
            </a:pPr>
            <a:r>
              <a:t>• Mantener la secuencia oficial del procedimiento, sin agregar pasos no sustentados.</a:t>
            </a:r>
          </a:p>
          <a:p>
            <a:pPr>
              <a:spcAft>
                <a:spcPts val="500"/>
              </a:spcAft>
              <a:defRPr sz="1300">
                <a:solidFill>
                  <a:srgbClr val="1C1F23"/>
                </a:solidFill>
              </a:defRPr>
            </a:pPr>
            <a:r>
              <a:t>• Nombrar las actividades con verbo + objeto, como se trabajó en clase.</a:t>
            </a:r>
          </a:p>
          <a:p>
            <a:pPr>
              <a:spcAft>
                <a:spcPts val="500"/>
              </a:spcAft>
              <a:defRPr sz="1300">
                <a:solidFill>
                  <a:srgbClr val="1C1F23"/>
                </a:solidFill>
              </a:defRPr>
            </a:pPr>
            <a:r>
              <a:t>• Evitar flechas cruzadas o superpuestas para que el diagrama pueda leerse de izquierda a derecha.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440680"/>
            <a:ext cx="10652760" cy="594360"/>
          </a:xfrm>
          <a:prstGeom prst="roundRect">
            <a:avLst/>
          </a:prstGeom>
          <a:solidFill>
            <a:srgbClr val="E2EEFA"/>
          </a:solidFill>
          <a:ln w="13970"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559552"/>
            <a:ext cx="103235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20">
                <a:solidFill>
                  <a:srgbClr val="1E69B4"/>
                </a:solidFill>
              </a:defRPr>
            </a:pPr>
            <a:r>
              <a:t>Alcance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5916168"/>
            <a:ext cx="10323576" cy="64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1C1F23"/>
                </a:solidFill>
              </a:defRPr>
            </a:pPr>
            <a:r>
              <a:t>Los diagramas resumen los subprocesos seleccionados; no reemplazan los documentos oficiales de la UNAC.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9"/>
                </a:solidFill>
              </a:defRPr>
            </a:pPr>
            <a:r>
              <a:t>DGPO · Grupo 9 · UNAC · Laboratorio 5</a:t>
            </a:r>
          </a:p>
        </p:txBody>
      </p:sp>
      <p:pic>
        <p:nvPicPr>
          <p:cNvPr id="6" name="Picture 5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10149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C2E5B"/>
                </a:solidFill>
              </a:defRPr>
            </a:pPr>
            <a:r>
              <a:t>Flujograma 1 · Proceso estratégico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2296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069"/>
                </a:solidFill>
              </a:defRPr>
            </a:pPr>
            <a:r>
              <a:t>Gestión de Comunicación Institucional</a:t>
            </a:r>
          </a:p>
        </p:txBody>
      </p:sp>
      <p:pic>
        <p:nvPicPr>
          <p:cNvPr id="9" name="Picture 8" descr="01_Estrategico_Comunicacion_Institucional_UN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95181"/>
            <a:ext cx="11155680" cy="39818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349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C1F23"/>
                </a:solidFill>
              </a:defRPr>
            </a:pPr>
            <a:r>
              <a:t>• El flujo inicia con la elaboración del Plan/Cronograma anual de eventos y comunicación.</a:t>
            </a:r>
          </a:p>
          <a:p>
            <a:pPr>
              <a:spcAft>
                <a:spcPts val="400"/>
              </a:spcAft>
              <a:defRPr sz="1230">
                <a:solidFill>
                  <a:srgbClr val="1C1F23"/>
                </a:solidFill>
              </a:defRPr>
            </a:pPr>
            <a:r>
              <a:t>• Después pasa por revisión y aprobación; con el plan aprobado se gestionan recursos, piezas, cobertura y publicación.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9"/>
                </a:solidFill>
              </a:defRPr>
            </a:pPr>
            <a:r>
              <a:t>DGPO · Grupo 9 · UNAC · Laboratorio 5</a:t>
            </a:r>
          </a:p>
        </p:txBody>
      </p:sp>
      <p:pic>
        <p:nvPicPr>
          <p:cNvPr id="6" name="Picture 5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10149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Ficha de caracterización · Gestión de Comunicación Institucional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2296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Síntesis del proceso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051560"/>
          <a:ext cx="1101852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555171"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</a:defRPr>
                      </a:pPr>
                      <a:r>
                        <a:t>Elemento</a:t>
                      </a:r>
                    </a:p>
                  </a:txBody>
                  <a:tcPr marL="36576" marR="36576" marT="27432" marB="27432" anchor="ctr">
                    <a:solidFill>
                      <a:srgbClr val="0C2E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</a:defRPr>
                      </a:pPr>
                      <a:r>
                        <a:t>Contenido resumido</a:t>
                      </a:r>
                    </a:p>
                  </a:txBody>
                  <a:tcPr marL="36576" marR="36576" marT="27432" marB="27432" anchor="ctr">
                    <a:solidFill>
                      <a:srgbClr val="0C2E5B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Estratégico – Posicionamiento institucional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Responsable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Oficina de Comunicación e Imagen Institucional (OCII)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Objetivo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Facilitar una comunicación efectiva y estratégica dentro y fuera de la institución.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Entradas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Manual de identidad, actividades académicas/administrativas, solicitudes de cobertura y requerimientos de piezas gráficas.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Salidas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Plan anual, publicaciones, material gráfico/audiovisual, notas de prensa y registros de eventos.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</a:tr>
              <a:tr h="555174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Indicadores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Interacción en medios digitales, rendimiento del sitio web, actividades ejecutadas y eventos cubiertos.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5257800"/>
            <a:ext cx="10652760" cy="731520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5376672"/>
            <a:ext cx="10323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69B4"/>
                </a:solidFill>
              </a:defRPr>
            </a:pPr>
            <a:r>
              <a:t>Comentario del grupo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5760720"/>
            <a:ext cx="10323576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>
                <a:solidFill>
                  <a:srgbClr val="1C1F23"/>
                </a:solidFill>
              </a:defRPr>
            </a:pPr>
            <a:r>
              <a:t>Este proceso es estratégico porque fortalece la imagen institucional y articula la comunicación de eventos, mensajes y publicaciones hacia la comunidad universitaria y la sociedad.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9"/>
                </a:solidFill>
              </a:defRPr>
            </a:pPr>
            <a:r>
              <a:t>DGPO · Grupo 9 · UNAC · Laboratorio 5</a:t>
            </a:r>
          </a:p>
        </p:txBody>
      </p:sp>
      <p:pic>
        <p:nvPicPr>
          <p:cNvPr id="6" name="Picture 5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10149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C2E5B"/>
                </a:solidFill>
              </a:defRPr>
            </a:pPr>
            <a:r>
              <a:t>Flujograma 2 · Proceso misional /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2296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069"/>
                </a:solidFill>
              </a:defRPr>
            </a:pPr>
            <a:r>
              <a:t>Biblioteca – adquisición de material bibliográfico</a:t>
            </a:r>
          </a:p>
        </p:txBody>
      </p:sp>
      <p:pic>
        <p:nvPicPr>
          <p:cNvPr id="9" name="Picture 8" descr="02_Misional_Biblioteca_Adquisicion_UN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651" y="960120"/>
            <a:ext cx="7942217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44068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1C1F23"/>
                </a:solidFill>
              </a:defRPr>
            </a:pPr>
            <a:r>
              <a:t>• El proceso se modela con los responsables que aparecen en el procedimiento oficial: UBCBLL, procesos técnicos, Dirección de Asuntos Académicos y Vicerrectorado Académico.</a:t>
            </a:r>
          </a:p>
          <a:p>
            <a:pPr>
              <a:spcAft>
                <a:spcPts val="400"/>
              </a:spcAft>
              <a:defRPr sz="1220">
                <a:solidFill>
                  <a:srgbClr val="1C1F23"/>
                </a:solidFill>
              </a:defRPr>
            </a:pPr>
            <a:r>
              <a:t>• Se eligió adquisición de material bibliográfico porque conecta directamente con la formación profesional del estudiante.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9"/>
                </a:solidFill>
              </a:defRPr>
            </a:pPr>
            <a:r>
              <a:t>DGPO · Grupo 9 · UNAC · Laboratorio 5</a:t>
            </a:r>
          </a:p>
        </p:txBody>
      </p:sp>
      <p:pic>
        <p:nvPicPr>
          <p:cNvPr id="6" name="Picture 5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10149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Ficha de caracterización · Biblioteca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2296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Síntesis del proceso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051560"/>
          <a:ext cx="1101852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581297">
                <a:tc>
                  <a:txBody>
                    <a:bodyPr/>
                    <a:lstStyle/>
                    <a:p>
                      <a:pPr>
                        <a:defRPr sz="910" b="1">
                          <a:solidFill>
                            <a:srgbClr val="FFFFFF"/>
                          </a:solidFill>
                        </a:defRPr>
                      </a:pPr>
                      <a:r>
                        <a:t>Elemento</a:t>
                      </a:r>
                    </a:p>
                  </a:txBody>
                  <a:tcPr marL="36576" marR="36576" marT="27432" marB="27432" anchor="ctr">
                    <a:solidFill>
                      <a:srgbClr val="0C2E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1">
                          <a:solidFill>
                            <a:srgbClr val="FFFFFF"/>
                          </a:solidFill>
                        </a:defRPr>
                      </a:pPr>
                      <a:r>
                        <a:t>Contenido resumido</a:t>
                      </a:r>
                    </a:p>
                  </a:txBody>
                  <a:tcPr marL="36576" marR="36576" marT="27432" marB="27432" anchor="ctr">
                    <a:solidFill>
                      <a:srgbClr val="0C2E5B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1C1F23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1C1F23"/>
                          </a:solidFill>
                        </a:defRPr>
                      </a:pPr>
                      <a:r>
                        <a:t>Misional – Formación Académica y Profesional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1C1F23"/>
                          </a:solidFill>
                        </a:defRPr>
                      </a:pPr>
                      <a:r>
                        <a:t>Responsable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1C1F23"/>
                          </a:solidFill>
                        </a:defRPr>
                      </a:pPr>
                      <a:r>
                        <a:t>Jefe/a de la Unidad de Biblioteca Central, Banco de Libros y Librería; Biblioteca Especializada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1C1F23"/>
                          </a:solidFill>
                        </a:defRPr>
                      </a:pPr>
                      <a:r>
                        <a:t>Objetivo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1C1F23"/>
                          </a:solidFill>
                        </a:defRPr>
                      </a:pPr>
                      <a:r>
                        <a:t>Proveer acceso oportuno y pertinente a información bibliográfica para complementar la formación del estudiante.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1C1F23"/>
                          </a:solidFill>
                        </a:defRPr>
                      </a:pPr>
                      <a:r>
                        <a:t>Entradas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1C1F23"/>
                          </a:solidFill>
                        </a:defRPr>
                      </a:pPr>
                      <a:r>
                        <a:t>SIGB KOHA, informes de recomendación, solicitudes de adquisición, orden de compra, TDR/EE.TT, reportes de estado.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1C1F23"/>
                          </a:solidFill>
                        </a:defRPr>
                      </a:pPr>
                      <a:r>
                        <a:t>Salidas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1C1F23"/>
                          </a:solidFill>
                        </a:defRPr>
                      </a:pPr>
                      <a:r>
                        <a:t>Material bibliográfico disponible, reporte actualizado, carné de biblioteca, solicitudes de préstamo/devolución/reserva, informes de satisfacción.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</a:tr>
              <a:tr h="581298"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1C1F23"/>
                          </a:solidFill>
                        </a:defRPr>
                      </a:pPr>
                      <a:r>
                        <a:t>Indicadores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1C1F23"/>
                          </a:solidFill>
                        </a:defRPr>
                      </a:pPr>
                      <a:r>
                        <a:t>Usuarios satisfechos, estudiantes que usan biblioteca y estudiantes ingresantes que gestionan carné.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5349240"/>
            <a:ext cx="10652760" cy="594360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5468112"/>
            <a:ext cx="10323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69B4"/>
                </a:solidFill>
              </a:defRPr>
            </a:pPr>
            <a:r>
              <a:t>Comentario del grupo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5852159"/>
            <a:ext cx="10323576" cy="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>
                <a:solidFill>
                  <a:srgbClr val="1C1F23"/>
                </a:solidFill>
              </a:defRPr>
            </a:pPr>
            <a:r>
              <a:t>Lo consideramos core porque apoya directamente el proceso de enseñanza-aprendizaje y la disponibilidad de recursos bibliográficos para estudiantes y docentes.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9"/>
                </a:solidFill>
              </a:defRPr>
            </a:pPr>
            <a:r>
              <a:t>DGPO · Grupo 9 · UNAC · Laboratorio 5</a:t>
            </a:r>
          </a:p>
        </p:txBody>
      </p:sp>
      <p:pic>
        <p:nvPicPr>
          <p:cNvPr id="6" name="Picture 5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10149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C2E5B"/>
                </a:solidFill>
              </a:defRPr>
            </a:pPr>
            <a:r>
              <a:t>Flujograma 3 · Proceso de apoyo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2296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069"/>
                </a:solidFill>
              </a:defRPr>
            </a:pPr>
            <a:r>
              <a:t>GTI – mantenimiento correctivo</a:t>
            </a:r>
          </a:p>
        </p:txBody>
      </p:sp>
      <p:pic>
        <p:nvPicPr>
          <p:cNvPr id="9" name="Picture 8" descr="03_Apoyo_GTI_Mantenimiento_Correctivo_UN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082" y="960120"/>
            <a:ext cx="10319354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44068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1C1F23"/>
                </a:solidFill>
              </a:defRPr>
            </a:pPr>
            <a:r>
              <a:t>• El área usuaria reporta la falla; OTI/CTIC recibe, evalúa y decide el tipo de atención.</a:t>
            </a:r>
          </a:p>
          <a:p>
            <a:pPr>
              <a:spcAft>
                <a:spcPts val="400"/>
              </a:spcAft>
              <a:defRPr sz="1220">
                <a:solidFill>
                  <a:srgbClr val="1C1F23"/>
                </a:solidFill>
              </a:defRPr>
            </a:pPr>
            <a:r>
              <a:t>• El flujo separa tres rutas: reparación interna, garantía o repuesto, y todas cierran con informe técnico.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9"/>
                </a:solidFill>
              </a:defRPr>
            </a:pPr>
            <a:r>
              <a:t>DGPO · Grupo 9 · UNAC · Laboratorio 5</a:t>
            </a:r>
          </a:p>
        </p:txBody>
      </p:sp>
      <p:pic>
        <p:nvPicPr>
          <p:cNvPr id="6" name="Picture 5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10149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Ficha de caracterización · Gestión de Tecnologías de la Información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2296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Síntesis del proceso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051560"/>
          <a:ext cx="1101852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555171"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</a:defRPr>
                      </a:pPr>
                      <a:r>
                        <a:t>Elemento</a:t>
                      </a:r>
                    </a:p>
                  </a:txBody>
                  <a:tcPr marL="36576" marR="36576" marT="27432" marB="27432" anchor="ctr">
                    <a:solidFill>
                      <a:srgbClr val="0C2E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</a:defRPr>
                      </a:pPr>
                      <a:r>
                        <a:t>Contenido resumido</a:t>
                      </a:r>
                    </a:p>
                  </a:txBody>
                  <a:tcPr marL="36576" marR="36576" marT="27432" marB="27432" anchor="ctr">
                    <a:solidFill>
                      <a:srgbClr val="0C2E5B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Apoyo / soporte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Responsable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Oficina de Tecnologías de la Información (OTI) y CTIC de Facultad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Objetivo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Mantener operativos equipos, sistemas e infraestructura tecnológica mediante mantenimiento preventivo/correctivo y gestión de soluciones TI.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Entradas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Reporte o ticket de falla, solicitud de reparación, inventario de equipos y requerimientos de unidades usuarias.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Salidas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Equipo o sistema reparado, registro de intervención, informe técnico y cierre de atención.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</a:tr>
              <a:tr h="555174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Indicadores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1C1F23"/>
                          </a:solidFill>
                        </a:defRPr>
                      </a:pPr>
                      <a:r>
                        <a:t>Cumplimiento de mantenimiento preventivo y porcentaje de requerimientos correctivos atendidos.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5257800"/>
            <a:ext cx="10652760" cy="731520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5376672"/>
            <a:ext cx="10323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69B4"/>
                </a:solidFill>
              </a:defRPr>
            </a:pPr>
            <a:r>
              <a:t>Comentario del grupo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5760720"/>
            <a:ext cx="10323576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>
                <a:solidFill>
                  <a:srgbClr val="1C1F23"/>
                </a:solidFill>
              </a:defRPr>
            </a:pPr>
            <a:r>
              <a:t>Este proceso es de apoyo porque no produce directamente el servicio académico, pero permite que las áreas usuarias mantengan continuidad operativa mediante infraestructura tecnológica disponible.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9"/>
                </a:solidFill>
              </a:defRPr>
            </a:pPr>
            <a:r>
              <a:t>DGPO · Grupo 9 · UNAC · Laboratorio 5</a:t>
            </a:r>
          </a:p>
        </p:txBody>
      </p:sp>
      <p:pic>
        <p:nvPicPr>
          <p:cNvPr id="6" name="Picture 5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10149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Procesos más importantes de la UNAC y la FIIS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2296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069"/>
                </a:solidFill>
              </a:defRPr>
            </a:pPr>
            <a:r>
              <a:t>UNAC y Facultad de Ingeniería de Sistemas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Se priorizan los procesos que entregan valor directo al estudiante y los que sostienen la gestión académica, administrativa y tecnológica.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1737360"/>
          <a:ext cx="108356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  <a:gridCol w="3611880"/>
              </a:tblGrid>
              <a:tr h="765810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FFFFF"/>
                          </a:solidFill>
                        </a:defRPr>
                      </a:pPr>
                      <a:r>
                        <a:t>Ámbito</a:t>
                      </a:r>
                    </a:p>
                  </a:txBody>
                  <a:tcPr marL="36576" marR="36576" marT="27432" marB="27432" anchor="ctr">
                    <a:solidFill>
                      <a:srgbClr val="0C2E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FFFFF"/>
                          </a:solidFill>
                        </a:defRPr>
                      </a:pPr>
                      <a:r>
                        <a:t>Procesos más importantes</a:t>
                      </a:r>
                    </a:p>
                  </a:txBody>
                  <a:tcPr marL="36576" marR="36576" marT="27432" marB="27432" anchor="ctr">
                    <a:solidFill>
                      <a:srgbClr val="0C2E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FFFFF"/>
                          </a:solidFill>
                        </a:defRPr>
                      </a:pPr>
                      <a:r>
                        <a:t>Por qué son importantes</a:t>
                      </a:r>
                    </a:p>
                  </a:txBody>
                  <a:tcPr marL="36576" marR="36576" marT="27432" marB="27432" anchor="ctr">
                    <a:solidFill>
                      <a:srgbClr val="0C2E5B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1C1F23"/>
                          </a:solidFill>
                        </a:defRPr>
                      </a:pPr>
                      <a:r>
                        <a:t>UNAC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1C1F23"/>
                          </a:solidFill>
                        </a:defRPr>
                      </a:pPr>
                      <a:r>
                        <a:t>Formación académica y profesional; investigación; responsabilidad social; gestión institucional; soporte administrativo y tecnológico.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1C1F23"/>
                          </a:solidFill>
                        </a:defRPr>
                      </a:pPr>
                      <a:r>
                        <a:t>Representan la razón de ser de la universidad, la generación de conocimiento y las condiciones de soporte para que el servicio educativo funcione.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1C1F23"/>
                          </a:solidFill>
                        </a:defRPr>
                      </a:pPr>
                      <a:r>
                        <a:t>FIIS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1C1F23"/>
                          </a:solidFill>
                        </a:defRPr>
                      </a:pPr>
                      <a:r>
                        <a:t>Gestión curricular; matrícula y programación académica; enseñanza-aprendizaje; evaluación; investigación formativa; laboratorios y soporte TI.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1C1F23"/>
                          </a:solidFill>
                        </a:defRPr>
                      </a:pPr>
                      <a:r>
                        <a:t>Son los procesos que impactan directamente en el estudiante de Ingeniería de Sistemas, su avance académico y la calidad de su formación profesional.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1C1F23"/>
                          </a:solidFill>
                        </a:defRPr>
                      </a:pPr>
                      <a:r>
                        <a:t>Relación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1C1F23"/>
                          </a:solidFill>
                        </a:defRPr>
                      </a:pPr>
                      <a:r>
                        <a:t>Los procesos de la FIIS deben alinearse al mapa institucional de la UNAC.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1C1F23"/>
                          </a:solidFill>
                        </a:defRPr>
                      </a:pPr>
                      <a:r>
                        <a:t>La facultad ejecuta procesos específicos, pero bajo normas, planificación, recursos y lineamientos de la universidad.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8680" y="5166360"/>
            <a:ext cx="10469880" cy="685800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5285232"/>
            <a:ext cx="101406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69B4"/>
                </a:solidFill>
              </a:defRPr>
            </a:pPr>
            <a:r>
              <a:t>Respuesta breve para exposición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5669280"/>
            <a:ext cx="10140696" cy="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>
                <a:solidFill>
                  <a:srgbClr val="1C1F23"/>
                </a:solidFill>
              </a:defRPr>
            </a:pPr>
            <a:r>
              <a:t>En nuestro grupo consideramos que los procesos más importantes son los que entregan valor directo al estudiante y los que aseguran que la universidad pueda sostener ese servicio con calidad, información y recursos.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9"/>
                </a:solidFill>
              </a:defRPr>
            </a:pPr>
            <a:r>
              <a:t>DGPO · Grupo 9 · UNAC · Laboratorio 5</a:t>
            </a:r>
          </a:p>
        </p:txBody>
      </p:sp>
      <p:pic>
        <p:nvPicPr>
          <p:cNvPr id="6" name="Picture 5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10149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Fuentes para identificar procesos en una entidad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2296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069"/>
                </a:solidFill>
              </a:defRPr>
            </a:pPr>
            <a:r>
              <a:t>Fuentes que sustentan el análisis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3327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La información de procesos debe sustentarse en documentos institucionales aprobados y registros que evidencien la ejecución del servicio.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1645920"/>
          <a:ext cx="108356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7820"/>
                <a:gridCol w="5417820"/>
              </a:tblGrid>
              <a:tr h="556260">
                <a:tc>
                  <a:txBody>
                    <a:bodyPr/>
                    <a:lstStyle/>
                    <a:p>
                      <a:pPr>
                        <a:defRPr sz="1040" b="1">
                          <a:solidFill>
                            <a:srgbClr val="FFFFFF"/>
                          </a:solidFill>
                        </a:defRPr>
                      </a:pPr>
                      <a:r>
                        <a:t>Fuente</a:t>
                      </a:r>
                    </a:p>
                  </a:txBody>
                  <a:tcPr marL="36576" marR="36576" marT="27432" marB="27432" anchor="ctr">
                    <a:solidFill>
                      <a:srgbClr val="0C2E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40" b="1">
                          <a:solidFill>
                            <a:srgbClr val="FFFFFF"/>
                          </a:solidFill>
                        </a:defRPr>
                      </a:pPr>
                      <a:r>
                        <a:t>Qué información aporta</a:t>
                      </a:r>
                    </a:p>
                  </a:txBody>
                  <a:tcPr marL="36576" marR="36576" marT="27432" marB="27432" anchor="ctr">
                    <a:solidFill>
                      <a:srgbClr val="0C2E5B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040" b="0">
                          <a:solidFill>
                            <a:srgbClr val="1C1F23"/>
                          </a:solidFill>
                        </a:defRPr>
                      </a:pPr>
                      <a:r>
                        <a:t>Mapa de procesos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40" b="0">
                          <a:solidFill>
                            <a:srgbClr val="1C1F23"/>
                          </a:solidFill>
                        </a:defRPr>
                      </a:pPr>
                      <a:r>
                        <a:t>Clasifica procesos estratégicos, misionales y de apoyo; ubica macroprocesos y procesos nivel 1.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040" b="0">
                          <a:solidFill>
                            <a:srgbClr val="1C1F23"/>
                          </a:solidFill>
                        </a:defRPr>
                      </a:pPr>
                      <a:r>
                        <a:t>Caracterización del proceso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40" b="0">
                          <a:solidFill>
                            <a:srgbClr val="1C1F23"/>
                          </a:solidFill>
                        </a:defRPr>
                      </a:pPr>
                      <a:r>
                        <a:t>Define responsable, objetivo, entradas, salidas, clientes, controles, recursos e indicadores.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040" b="0">
                          <a:solidFill>
                            <a:srgbClr val="1C1F23"/>
                          </a:solidFill>
                        </a:defRPr>
                      </a:pPr>
                      <a:r>
                        <a:t>Procedimiento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40" b="0">
                          <a:solidFill>
                            <a:srgbClr val="1C1F23"/>
                          </a:solidFill>
                        </a:defRPr>
                      </a:pPr>
                      <a:r>
                        <a:t>Describe actividades, responsables, documentos generados y, cuando existe, diagrama de flujo.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040" b="0">
                          <a:solidFill>
                            <a:srgbClr val="1C1F23"/>
                          </a:solidFill>
                        </a:defRPr>
                      </a:pPr>
                      <a:r>
                        <a:t>ROF / Estatuto / Manuales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40" b="0">
                          <a:solidFill>
                            <a:srgbClr val="1C1F23"/>
                          </a:solidFill>
                        </a:defRPr>
                      </a:pPr>
                      <a:r>
                        <a:t>Ayudan a identificar unidades, funciones y responsabilidades formales.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040" b="0">
                          <a:solidFill>
                            <a:srgbClr val="1C1F23"/>
                          </a:solidFill>
                        </a:defRPr>
                      </a:pPr>
                      <a:r>
                        <a:t>Registros y sistemas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40" b="0">
                          <a:solidFill>
                            <a:srgbClr val="1C1F23"/>
                          </a:solidFill>
                        </a:defRPr>
                      </a:pPr>
                      <a:r>
                        <a:t>Evidencian ejecución: oficios, solicitudes, tickets, reportes, informes, KOHA, SGD, SGA u otros.</a:t>
                      </a:r>
                    </a:p>
                  </a:txBody>
                  <a:tcPr marL="36576" marR="36576" marT="27432" marB="27432" anchor="ctr">
                    <a:solidFill>
                      <a:srgbClr val="E2EEF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8680" y="5303520"/>
            <a:ext cx="10469880" cy="594360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5422392"/>
            <a:ext cx="101406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69B4"/>
                </a:solidFill>
              </a:defRPr>
            </a:pPr>
            <a:r>
              <a:t>Sustento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5806440"/>
            <a:ext cx="10140696" cy="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>
                <a:solidFill>
                  <a:srgbClr val="1C1F23"/>
                </a:solidFill>
              </a:defRPr>
            </a:pPr>
            <a:r>
              <a:t>En este laboratorio usamos documentos de caracterización, procedimientos y el mapa de procesos de la UNAC; por eso el trabajo queda trazable y no depende solo de opiniones del grupo.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6539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069"/>
                </a:solidFill>
              </a:defRPr>
            </a:pPr>
            <a:r>
              <a:t>DGPO · Grupo 9 · UNAC · Laboratorio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0149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C2E5B"/>
                </a:solidFill>
              </a:defRPr>
            </a:pPr>
            <a:r>
              <a:t>Conclusiones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2296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86069"/>
                </a:solidFill>
              </a:defRPr>
            </a:pPr>
            <a:r>
              <a:t>Síntesis final del Laboratorio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143000"/>
            <a:ext cx="10607040" cy="1005840"/>
          </a:xfrm>
          <a:prstGeom prst="roundRect">
            <a:avLst/>
          </a:prstGeom>
          <a:solidFill>
            <a:srgbClr val="E2EEFA"/>
          </a:solidFill>
          <a:ln w="13970"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261872"/>
            <a:ext cx="102778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20">
                <a:solidFill>
                  <a:srgbClr val="1E69B4"/>
                </a:solidFill>
              </a:defRPr>
            </a:pPr>
            <a:r>
              <a:t>1. Clasificación de procesos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618488"/>
            <a:ext cx="1027785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1C1F23"/>
                </a:solidFill>
              </a:defRPr>
            </a:pPr>
            <a:r>
              <a:t>La UNAC organiza sus procesos en estratégicos, misionales y de apoyo. Esta clasificación permite ubicar mejor el aporte de cada proceso dentro de la gestión universitaria.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423160"/>
            <a:ext cx="10607040" cy="1005840"/>
          </a:xfrm>
          <a:prstGeom prst="roundRect">
            <a:avLst/>
          </a:prstGeom>
          <a:solidFill>
            <a:srgbClr val="E2EEFA"/>
          </a:solidFill>
          <a:ln w="13970"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542032"/>
            <a:ext cx="102778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20">
                <a:solidFill>
                  <a:srgbClr val="1E69B4"/>
                </a:solidFill>
              </a:defRPr>
            </a:pPr>
            <a:r>
              <a:t>2. Flujogramas y responsabilidades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898648"/>
            <a:ext cx="1027785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1C1F23"/>
                </a:solidFill>
              </a:defRPr>
            </a:pPr>
            <a:r>
              <a:t>Los flujogramas permiten visualizar la secuencia de actividades, los responsables y los puntos de decisión. Por eso son útiles para detectar demoras, duplicidades o actividades que requieren control.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03320"/>
            <a:ext cx="10607040" cy="1005840"/>
          </a:xfrm>
          <a:prstGeom prst="roundRect">
            <a:avLst/>
          </a:prstGeom>
          <a:solidFill>
            <a:srgbClr val="E2EEFA"/>
          </a:solidFill>
          <a:ln w="13970"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822191"/>
            <a:ext cx="102778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20">
                <a:solidFill>
                  <a:srgbClr val="1E69B4"/>
                </a:solidFill>
              </a:defRPr>
            </a:pPr>
            <a:r>
              <a:t>3. SIPOC y caracterización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178808"/>
            <a:ext cx="1027785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1C1F23"/>
                </a:solidFill>
              </a:defRPr>
            </a:pPr>
            <a:r>
              <a:t>Las fichas de caracterización ayudan a relacionar proveedores, entradas, actividades, salidas, clientes, controles, recursos e indicadores; por ello complementan el diagrama de flujo.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983480"/>
            <a:ext cx="10607040" cy="868680"/>
          </a:xfrm>
          <a:prstGeom prst="roundRect">
            <a:avLst/>
          </a:prstGeom>
          <a:solidFill>
            <a:srgbClr val="E2EEFA"/>
          </a:solidFill>
          <a:ln w="13970"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5102352"/>
            <a:ext cx="102778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20">
                <a:solidFill>
                  <a:srgbClr val="1E69B4"/>
                </a:solidFill>
              </a:defRPr>
            </a:pPr>
            <a:r>
              <a:t>4. Sustento documental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5458968"/>
            <a:ext cx="1027785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1C1F23"/>
                </a:solidFill>
              </a:defRPr>
            </a:pPr>
            <a:r>
              <a:t>El trabajo se elaboró con mapa de procesos, procedimientos y caracterizaciones de la UNAC, evitando desarrollar flujos sin respaldo institucional.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DGPO · Grupo 9 · UNAC · Laboratorio 5</a:t>
            </a:r>
          </a:p>
        </p:txBody>
      </p:sp>
      <p:pic>
        <p:nvPicPr>
          <p:cNvPr id="6" name="Picture 5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18288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10149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Referencias y documentos utilizados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2296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Documentos institucionales y material del curso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515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Universidad Nacional del Callao. (2025). Mapa de Procesos Institucional de la UNAC, versión 04.</a:t>
            </a:r>
          </a:p>
          <a:p>
            <a:r>
              <a:t>• Universidad Nacional del Callao. (2025). Procedimiento de Gestión de Comunicación Institucional, código E.PIN.02-PR-01, versión 02.</a:t>
            </a:r>
          </a:p>
          <a:p>
            <a:r>
              <a:t>• Universidad Nacional del Callao. (2025). Caracterización del Proceso de Gestión de Comunicación Institucional, código E.PIN.02-OD.01, versión 02.</a:t>
            </a:r>
          </a:p>
          <a:p>
            <a:r>
              <a:t>• Universidad Nacional del Callao. (2026). Procedimiento de Biblioteca, código M.FAP.11-PR-01, versión 02.</a:t>
            </a:r>
          </a:p>
          <a:p>
            <a:r>
              <a:t>• Universidad Nacional del Callao. (2026). Caracterización del Proceso de Biblioteca, código M.FAP.11-OD-01, versión 02.</a:t>
            </a:r>
          </a:p>
          <a:p>
            <a:r>
              <a:t>• Universidad Nacional del Callao. (2026). Procedimiento de Gestión de Tecnologías de la Información, código A.GTI-PR-01, versión 02.</a:t>
            </a:r>
          </a:p>
          <a:p>
            <a:r>
              <a:t>• Malca Vicente, E. (2026). Material del curso Diseño y Gestión de Procesos Organizacionales: Gestión por Procesos y BPMN.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035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Los diagramas fueron reconstruidos en Bizagi Modeler a partir de los procedimientos oficiales revisados por el grupo.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
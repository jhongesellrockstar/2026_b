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pic>
        <p:nvPicPr>
          <p:cNvPr id="7" name="Picture 6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115568" cy="1115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594360"/>
            <a:ext cx="969264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700" b="1">
                <a:solidFill>
                  <a:srgbClr val="113765"/>
                </a:solidFill>
              </a:defRPr>
            </a:pPr>
            <a:r>
              <a:t>Universidad Nacional del Callao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932688"/>
            <a:ext cx="96926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rgbClr val="5F6770"/>
                </a:solidFill>
              </a:defRPr>
            </a:pPr>
            <a:r>
              <a:t>Escuela Profesional de Ingeniería de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27632"/>
            <a:ext cx="10972800" cy="685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3100" b="1">
                <a:solidFill>
                  <a:srgbClr val="113765"/>
                </a:solidFill>
              </a:defRPr>
            </a:pPr>
            <a:r>
              <a:t>Laboratorio 6 · Modelamiento de Procesos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1069848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1E2124"/>
                </a:solidFill>
              </a:defRPr>
            </a:pPr>
            <a:r>
              <a:t>Resolución de los 8 ejercicios mediante BPMN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6984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2563A3"/>
                </a:solidFill>
              </a:defRPr>
            </a:pPr>
            <a:r>
              <a:t>Docente: Ing. Eddie Malca Vicente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349240" cy="150876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13048"/>
            <a:ext cx="5020055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Grupo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142231"/>
            <a:ext cx="5020055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Pinto Pante Gabriela Betsabé</a:t>
            </a:r>
            <a:br/>
            <a:r>
              <a:t>Santos Benites Juan José</a:t>
            </a:r>
            <a:br/>
            <a:r>
              <a:t>Villanueva Portella Jhon Gesell</a:t>
            </a:r>
            <a:br/>
            <a:r>
              <a:t>Escalante Matta Juan José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212080" cy="150876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813048"/>
            <a:ext cx="488289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Criterio de resolución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142231"/>
            <a:ext cx="4882896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Modelos BPMN simplificados, legibles y coherentes con los materiales del docente. Se prioriza el flujo lógico, roles, decisiones y eventos relevantes.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687568"/>
            <a:ext cx="106984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5F6770"/>
                </a:solidFill>
              </a:defRPr>
            </a:pPr>
            <a:r>
              <a:t>Archivo editable para revisión final del grupo antes de subir a la plataforma.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1 · Solicitud de vacaciones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Empleado → Supervisor → Recursos Humanos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Solicitud de vacaciones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Empleado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563368"/>
            <a:ext cx="10927080" cy="14478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590799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Supervisor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40111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40386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Recursos Humanos</a:t>
            </a:r>
          </a:p>
        </p:txBody>
      </p:sp>
      <p:sp>
        <p:nvSpPr>
          <p:cNvPr id="17" name="Oval 16"/>
          <p:cNvSpPr/>
          <p:nvPr/>
        </p:nvSpPr>
        <p:spPr>
          <a:xfrm>
            <a:off x="1417320" y="150876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1874519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1353312"/>
            <a:ext cx="123444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solicitud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310128" y="1581912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94760" y="2240280"/>
            <a:ext cx="132588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Verificar días disponibles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370832" y="1993392"/>
            <a:ext cx="164592" cy="228600"/>
          </a:xfrm>
          <a:prstGeom prst="down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32120" y="2240280"/>
            <a:ext cx="128016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solicitud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58000" y="2468880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7342631" y="2331720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816352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¿Aprobada?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039112"/>
            <a:ext cx="36576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00" b="1">
                <a:solidFill>
                  <a:srgbClr val="5C992E"/>
                </a:solidFill>
              </a:defRPr>
            </a:pPr>
            <a:r>
              <a:t>Sí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770632"/>
            <a:ext cx="36576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800" b="1">
                <a:solidFill>
                  <a:srgbClr val="B93737"/>
                </a:solidFill>
              </a:defRPr>
            </a:pPr>
            <a: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90688" y="2560320"/>
            <a:ext cx="53035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39327" y="2971800"/>
            <a:ext cx="14173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Informar rechazo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71231" y="2788920"/>
            <a:ext cx="0" cy="48463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71231" y="3273552"/>
            <a:ext cx="768096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339327" y="3995928"/>
            <a:ext cx="14173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Completar trámite administrativo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0688" y="2450592"/>
            <a:ext cx="25603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46720" y="2450592"/>
            <a:ext cx="0" cy="184708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46720" y="4297680"/>
            <a:ext cx="292607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241280" y="2971800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333756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9756648" y="3136392"/>
            <a:ext cx="484632" cy="13716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756648" y="3136392"/>
            <a:ext cx="484632" cy="116128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La decisión principal es la aprobación del supervisor. Si rechaza, se informa el motivo; si aprueba, RR. HH. completa el trámite.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2 · Inscripción a examen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Alumno → Despacho de alumnos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Inscripción a examen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21717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Despacho de alumnos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287268"/>
            <a:ext cx="10927080" cy="21717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3314699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Alumno</a:t>
            </a:r>
          </a:p>
        </p:txBody>
      </p:sp>
      <p:sp>
        <p:nvSpPr>
          <p:cNvPr id="15" name="Oval 14"/>
          <p:cNvSpPr/>
          <p:nvPr/>
        </p:nvSpPr>
        <p:spPr>
          <a:xfrm>
            <a:off x="1234440" y="388620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5196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730752"/>
            <a:ext cx="1325880" cy="64008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Solicitar inscripción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00400" y="3968496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1828800"/>
            <a:ext cx="1417320" cy="68580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Recibir credencial y constancia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297680" y="2788920"/>
            <a:ext cx="164592" cy="777240"/>
          </a:xfrm>
          <a:prstGeom prst="down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1828800"/>
            <a:ext cx="1325880" cy="68580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Verificar documentos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76288" y="2084831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7333488" y="1947672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8896" y="2432304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¿Completos?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325880"/>
            <a:ext cx="1463040" cy="64008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inscripción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90688" y="2176272"/>
            <a:ext cx="21031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001000" y="1645920"/>
            <a:ext cx="0" cy="53035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001000" y="1645920"/>
            <a:ext cx="2743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75320" y="2788920"/>
            <a:ext cx="1463040" cy="64008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Informar faltantes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62088" y="2404872"/>
            <a:ext cx="0" cy="70408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62088" y="3108960"/>
            <a:ext cx="71323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95560" y="1490472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1856231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84080" y="1554480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5560" y="2816352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3182112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84080" y="303580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El trámite solo continúa cuando la credencial y la constancia de pago están completas y son válidas.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3 · Cuentas morosas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Proceso diario con revisión de BD, CRM y alertas por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Gestión de cuentas morosas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4288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Sistema / Operaciones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182880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9456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Mañana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1673352"/>
            <a:ext cx="109728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Respaldar BD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16352" y="1892807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1673352"/>
            <a:ext cx="128016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cuentas morosas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572000" y="1892807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5029200" y="1737360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221991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¿Nuevas?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1143000"/>
            <a:ext cx="123444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morosos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0" y="1965960"/>
            <a:ext cx="16459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650992" y="1426464"/>
            <a:ext cx="0" cy="53949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50992" y="1426464"/>
            <a:ext cx="246888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97880" y="2514600"/>
            <a:ext cx="123444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CRM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57800" y="2194560"/>
            <a:ext cx="0" cy="603504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57800" y="2798064"/>
            <a:ext cx="6400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7452360" y="1188720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1673352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¿Advertido?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59752" y="1380744"/>
            <a:ext cx="27432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1040" y="777240"/>
            <a:ext cx="137160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Enviar tabla a Administración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1417320"/>
            <a:ext cx="173736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83296" y="1060704"/>
            <a:ext cx="0" cy="35661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83296" y="1060704"/>
            <a:ext cx="237744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83879" y="2331720"/>
            <a:ext cx="13258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Conciliar devoluciones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0" y="2798064"/>
            <a:ext cx="6400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772400" y="2615184"/>
            <a:ext cx="0" cy="18288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615184"/>
            <a:ext cx="411479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921240" y="91440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39528" y="964692"/>
            <a:ext cx="274320" cy="128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0">
                <a:solidFill>
                  <a:srgbClr val="2563A3"/>
                </a:solidFill>
              </a:defRPr>
            </a:pPr>
            <a:r>
              <a:t>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1271016"/>
            <a:ext cx="777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0">
                <a:solidFill>
                  <a:srgbClr val="1E2124"/>
                </a:solidFill>
              </a:defRPr>
            </a:pPr>
            <a:r>
              <a:t>2:30 pm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914400"/>
            <a:ext cx="914400" cy="502920"/>
          </a:xfrm>
          <a:prstGeom prst="roundRect">
            <a:avLst/>
          </a:prstGeom>
          <a:solidFill>
            <a:srgbClr val="FAE0E0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Alertar supervisor</a:t>
            </a:r>
          </a:p>
        </p:txBody>
      </p:sp>
      <p:sp>
        <p:nvSpPr>
          <p:cNvPr id="43" name="Oval 42"/>
          <p:cNvSpPr/>
          <p:nvPr/>
        </p:nvSpPr>
        <p:spPr>
          <a:xfrm>
            <a:off x="9921240" y="246888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9528" y="2519172"/>
            <a:ext cx="274320" cy="128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0">
                <a:solidFill>
                  <a:srgbClr val="2563A3"/>
                </a:solidFill>
              </a:defRPr>
            </a:pPr>
            <a:r>
              <a:t>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2825496"/>
            <a:ext cx="777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0">
                <a:solidFill>
                  <a:srgbClr val="1E2124"/>
                </a:solidFill>
              </a:defRPr>
            </a:pPr>
            <a:r>
              <a:t>4:00 pm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32720" y="2468880"/>
            <a:ext cx="914400" cy="502920"/>
          </a:xfrm>
          <a:prstGeom prst="roundRect">
            <a:avLst/>
          </a:prstGeom>
          <a:solidFill>
            <a:srgbClr val="FAE0E0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Alertar supervisor</a:t>
            </a:r>
          </a:p>
        </p:txBody>
      </p:sp>
      <p:sp>
        <p:nvSpPr>
          <p:cNvPr id="47" name="Oval 46"/>
          <p:cNvSpPr/>
          <p:nvPr/>
        </p:nvSpPr>
        <p:spPr>
          <a:xfrm>
            <a:off x="10698480" y="4160520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45262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509760" y="2615184"/>
            <a:ext cx="8229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332720" y="2615184"/>
            <a:ext cx="0" cy="1700784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332720" y="4315968"/>
            <a:ext cx="3657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Se representan dos controles temporales: 2:30 p. m. y 4:00 p. m. Si el trabajo no se completa a tiempo, se genera una alerta al supervisor.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4 · Respuesta a organismo de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Director → Responsable asignado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Atención de requerimiento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21717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Director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287268"/>
            <a:ext cx="10927080" cy="21717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3314699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Responsable asignado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14173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7830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Carta recibida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1261872"/>
            <a:ext cx="132588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requerimiento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72384" y="1499616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1261872"/>
            <a:ext cx="141732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Asignar responsable y plazo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69663" y="1901952"/>
            <a:ext cx="164592" cy="502920"/>
          </a:xfrm>
          <a:prstGeom prst="down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2743200"/>
            <a:ext cx="141732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caso y redactar respuesta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44768" y="2971800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1261872"/>
            <a:ext cx="137160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respuesta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054096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309360" y="1572768"/>
            <a:ext cx="0" cy="148132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09360" y="1572768"/>
            <a:ext cx="3200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8366760" y="1344168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1828800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¿Definitiva?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01000" y="1572768"/>
            <a:ext cx="3657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0" y="896112"/>
            <a:ext cx="13258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Generar y enviar carta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23960" y="157276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61120" y="1170432"/>
            <a:ext cx="0" cy="402336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61120" y="1170432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95360" y="1801368"/>
            <a:ext cx="0" cy="126187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80760" y="3063240"/>
            <a:ext cx="2514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Left Arrow 35"/>
          <p:cNvSpPr/>
          <p:nvPr/>
        </p:nvSpPr>
        <p:spPr>
          <a:xfrm>
            <a:off x="6080760" y="2990088"/>
            <a:ext cx="320040" cy="164592"/>
          </a:xfrm>
          <a:prstGeom prst="lef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89920" y="1005840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137160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497312" y="1097280"/>
            <a:ext cx="256032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El responsable redacta; el director valida. Si la respuesta no es definitiva, vuelve al responsable para corregirla.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5 · Requerimiento con vencimiento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Escalamiento al Director cuando vence el tiempo otorgado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Atención de requerimiento con plazo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21717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Director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287268"/>
            <a:ext cx="10927080" cy="21717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3314699"/>
            <a:ext cx="822960" cy="2116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Responsable asignado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14173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7830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Carta recibida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1261872"/>
            <a:ext cx="132588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Registrar y asignar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63240" y="1499616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2743200"/>
            <a:ext cx="1463040" cy="621792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Responder requerimiento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285292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3248" y="2903220"/>
            <a:ext cx="274320" cy="128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0">
                <a:solidFill>
                  <a:srgbClr val="2563A3"/>
                </a:solidFill>
              </a:defRPr>
            </a:pPr>
            <a:r>
              <a:t>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09544"/>
            <a:ext cx="777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0">
                <a:solidFill>
                  <a:srgbClr val="1E2124"/>
                </a:solidFill>
              </a:defRPr>
            </a:pPr>
            <a:r>
              <a:t>Vence plazo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143000"/>
            <a:ext cx="1371600" cy="594360"/>
          </a:xfrm>
          <a:prstGeom prst="roundRect">
            <a:avLst/>
          </a:prstGeom>
          <a:solidFill>
            <a:srgbClr val="FAE0E0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Director asume respuesta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59552" y="3008376"/>
            <a:ext cx="155448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715000" y="1444752"/>
            <a:ext cx="0" cy="1563624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15000" y="1444752"/>
            <a:ext cx="2743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89320" y="2697480"/>
            <a:ext cx="132588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Revisar respuesta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360920" y="2907792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7845552" y="2770632"/>
            <a:ext cx="457200" cy="457200"/>
          </a:xfrm>
          <a:prstGeom prst="diamond">
            <a:avLst/>
          </a:prstGeom>
          <a:solidFill>
            <a:srgbClr val="FFFACD"/>
          </a:solidFill>
          <a:ln>
            <a:solidFill>
              <a:srgbClr val="A0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3255263"/>
            <a:ext cx="8229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69" b="0">
                <a:solidFill>
                  <a:srgbClr val="1E2124"/>
                </a:solidFill>
              </a:defRPr>
            </a:pPr>
            <a:r>
              <a:t>¿Definitiva?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2331720"/>
            <a:ext cx="13258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Generar y enviar carta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02752" y="2999232"/>
            <a:ext cx="201168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03920" y="2615184"/>
            <a:ext cx="0" cy="38404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03920" y="2615184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469880" y="2395728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7000" y="2761488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94976" y="2505456"/>
            <a:ext cx="32004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074152" y="3227832"/>
            <a:ext cx="0" cy="658368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120640" y="3886200"/>
            <a:ext cx="295351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120640" y="3063240"/>
            <a:ext cx="0" cy="82296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La diferencia frente al ejercicio 4 es el evento de tiempo: si vence el plazo, el Director asume la respuesta para no incumplir la fecha.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6 · Ofertas comerciales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Comercial independiente; jefes informados sin aprobar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Gestión de ofertas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Jefe comercial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563368"/>
            <a:ext cx="10927080" cy="14478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590799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Jefe comercial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40111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40386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Comercial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333756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3182112"/>
            <a:ext cx="128016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Crear oferta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90088" y="340156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3182112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Enviar oferta al cliente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09160" y="340156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12080" y="3273552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639312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 comercial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1143000"/>
            <a:ext cx="12801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Leer oferta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143000"/>
            <a:ext cx="12801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Anotar comentario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2148840"/>
            <a:ext cx="12801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Leer oferta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2148840"/>
            <a:ext cx="128016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Anotar comentario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896112"/>
            <a:ext cx="3840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50" b="1">
                <a:solidFill>
                  <a:srgbClr val="2563A3"/>
                </a:solidFill>
              </a:defRPr>
            </a:pPr>
            <a:r>
              <a:t>Notificación simultánea a ambos jefes (sin aprobación)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86000" y="1417320"/>
            <a:ext cx="0" cy="176479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86000" y="1417320"/>
            <a:ext cx="1371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86000" y="2423160"/>
            <a:ext cx="1371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983480" y="1344168"/>
            <a:ext cx="45720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983480" y="2350008"/>
            <a:ext cx="45720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El envío al cliente no depende de la revisión de los jefes. Los jefes solo reciben la oferta, la leen y pueden dejar comentarios.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7 · Atención médica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Paciente ↔ Recepcionista ↔ 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Consulta médica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Doctor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563368"/>
            <a:ext cx="10927080" cy="14478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590799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Recepcionista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40111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40386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Paciente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1605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Enfermedad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005072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Solicitar cita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34640" y="422452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256032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Consultar disponibilidad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4297680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71800" y="2852928"/>
            <a:ext cx="0" cy="144475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1800" y="2852928"/>
            <a:ext cx="27432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54880" y="1143000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Confirmar disponibilidad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34840" y="285292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72000" y="1435608"/>
            <a:ext cx="0" cy="14173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143560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54880" y="2560320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Reservar cita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21808" y="1737360"/>
            <a:ext cx="0" cy="82296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63640" y="4005072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Acudir a consulta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97880" y="285292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35040" y="2852928"/>
            <a:ext cx="0" cy="144475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35040" y="4297680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80960" y="114300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Atender y evaluar síntomas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06640" y="4297680"/>
            <a:ext cx="91439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98079" y="1435608"/>
            <a:ext cx="0" cy="286207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98079" y="1435608"/>
            <a:ext cx="182881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680960" y="256032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Preparar prescripción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75320" y="1737360"/>
            <a:ext cx="0" cy="82296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44000" y="4005072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Recoger medicina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69680" y="285292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06840" y="2852928"/>
            <a:ext cx="0" cy="144475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06840" y="4297680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652760" y="4087368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4453128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0332720" y="4187952"/>
            <a:ext cx="27432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El proceso combina coordinación de cita, consulta, prescripción y entrega de medicina. Cada rol participa solo en las tareas que le corresponden.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Ejercicio 8 · Venta de billetes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Cliente → Agencia → Agente / líneas aéreas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115568"/>
            <a:ext cx="320040" cy="4343400"/>
          </a:xfrm>
          <a:prstGeom prst="rect">
            <a:avLst/>
          </a:prstGeom>
          <a:solidFill>
            <a:srgbClr val="F7F9FC"/>
          </a:solidFill>
          <a:ln>
            <a:solidFill>
              <a:srgbClr val="5F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21208" y="1207008"/>
            <a:ext cx="228599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13765"/>
                </a:solidFill>
              </a:defRPr>
            </a:pPr>
            <a:r>
              <a:t>Venta de billetes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11155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22960" y="11430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Agente / líneas aéreas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563368"/>
            <a:ext cx="10927080" cy="1447800"/>
          </a:xfrm>
          <a:prstGeom prst="rect">
            <a:avLst/>
          </a:prstGeom>
          <a:solidFill>
            <a:srgbClr val="F7F9FC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822960" y="2590799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Agencia de viajes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4011168"/>
            <a:ext cx="1092708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CE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22960" y="4038600"/>
            <a:ext cx="822960" cy="1392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F6770"/>
                </a:solidFill>
              </a:defRPr>
            </a:pPr>
            <a:r>
              <a:t>Cliente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160520"/>
            <a:ext cx="329184" cy="329184"/>
          </a:xfrm>
          <a:prstGeom prst="ellipse">
            <a:avLst/>
          </a:prstGeom>
          <a:solidFill>
            <a:srgbClr val="E7F5D6"/>
          </a:solidFill>
          <a:ln w="22860">
            <a:solidFill>
              <a:srgbClr val="5C9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Inicio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4005072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Solicitar vuelo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743200" y="4224528"/>
            <a:ext cx="41148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80" y="2651760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Consultar vuelos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97480" y="4297680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26080" y="2944368"/>
            <a:ext cx="0" cy="135331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26080" y="2944368"/>
            <a:ext cx="22860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0" y="1234440"/>
            <a:ext cx="123444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Buscar disponibilidad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97680" y="294436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434840" y="1527048"/>
            <a:ext cx="0" cy="14173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34840" y="152704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35040" y="2651760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Mostrar opciones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06440" y="1527048"/>
            <a:ext cx="914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97880" y="1527048"/>
            <a:ext cx="0" cy="141732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97880" y="2944368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06640" y="4005072"/>
            <a:ext cx="114300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Seleccionar vuelo y pagar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78040" y="2944368"/>
            <a:ext cx="914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69480" y="2944368"/>
            <a:ext cx="0" cy="135331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69480" y="4297680"/>
            <a:ext cx="13716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823960" y="2651760"/>
            <a:ext cx="11887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Reservar y procesar pago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49640" y="4297680"/>
            <a:ext cx="9144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641080" y="2944368"/>
            <a:ext cx="0" cy="1353312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641080" y="2944368"/>
            <a:ext cx="182880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149840" y="2651760"/>
            <a:ext cx="960120" cy="594360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Imprimir billete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0040112" y="2862072"/>
            <a:ext cx="91440" cy="164592"/>
          </a:xfrm>
          <a:prstGeom prst="rightArrow">
            <a:avLst/>
          </a:prstGeom>
          <a:solidFill>
            <a:srgbClr val="1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44000" y="114300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2288" y="1193292"/>
            <a:ext cx="274320" cy="128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900" b="0">
                <a:solidFill>
                  <a:srgbClr val="2563A3"/>
                </a:solidFill>
              </a:defRPr>
            </a:pPr>
            <a:r>
              <a:t>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1499616"/>
            <a:ext cx="777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0">
                <a:solidFill>
                  <a:srgbClr val="1E2124"/>
                </a:solidFill>
              </a:defRPr>
            </a:pPr>
            <a:r>
              <a:t>Mensual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1051560"/>
            <a:ext cx="1325880" cy="566928"/>
          </a:xfrm>
          <a:prstGeom prst="roundRect">
            <a:avLst/>
          </a:prstGeom>
          <a:solidFill>
            <a:srgbClr val="E5EFFA"/>
          </a:solidFill>
          <a:ln w="15240"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30">
                <a:solidFill>
                  <a:srgbClr val="1E2124"/>
                </a:solidFill>
              </a:defRPr>
            </a:pPr>
            <a:r>
              <a:t>Pagar servicio al agente</a:t>
            </a:r>
          </a:p>
        </p:txBody>
      </p:sp>
      <p:sp>
        <p:nvSpPr>
          <p:cNvPr id="47" name="Oval 46"/>
          <p:cNvSpPr/>
          <p:nvPr/>
        </p:nvSpPr>
        <p:spPr>
          <a:xfrm>
            <a:off x="11292840" y="4096512"/>
            <a:ext cx="329184" cy="329184"/>
          </a:xfrm>
          <a:prstGeom prst="ellipse">
            <a:avLst/>
          </a:prstGeom>
          <a:solidFill>
            <a:srgbClr val="FAE0E0"/>
          </a:solidFill>
          <a:ln w="35560">
            <a:solidFill>
              <a:srgbClr val="B9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09960" y="4462272"/>
            <a:ext cx="685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50" b="0">
                <a:solidFill>
                  <a:srgbClr val="1E2124"/>
                </a:solidFill>
              </a:defRPr>
            </a:pPr>
            <a:r>
              <a:t>Fin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625328" y="3246120"/>
            <a:ext cx="0" cy="100584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25328" y="4251960"/>
            <a:ext cx="667512" cy="0"/>
          </a:xfrm>
          <a:prstGeom prst="line">
            <a:avLst/>
          </a:prstGeom>
          <a:ln w="15240">
            <a:solidFill>
              <a:srgbClr val="1E21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59" y="5824728"/>
            <a:ext cx="1055217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Interpretación del grupo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" y="6153912"/>
            <a:ext cx="10552176" cy="6400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El flujo principal termina con el billete emitido. El pago mensual al agente se modela como una actividad periódica independiente del viaje de un cliente.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3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5ea8243-f536-4e7d-82c9-725d5d68ca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64592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8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3765"/>
                </a:solidFill>
              </a:defRPr>
            </a:pPr>
            <a:r>
              <a:t>Fuentes utilizadas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1323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770"/>
                </a:solidFill>
              </a:defRPr>
            </a:pPr>
            <a:r>
              <a:t>Material oficial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770"/>
                </a:solidFill>
              </a:defRPr>
            </a:pPr>
            <a:r>
              <a:t>Diseño y Gestión de Procesos Organizacionales · Grupo 9 · UNAC · 2026-B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188720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627632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Laboratorio de DGPO - Modelamiento Procesos.pdf (8 casos).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86000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39572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724912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BPMN.pdf – conceptos, pool, lane, eventos, tareas, compuertas y conectores.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9300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822191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BPMN 2.0 Poster ES – referencia de símbolos.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80559"/>
            <a:ext cx="10515600" cy="777240"/>
          </a:xfrm>
          <a:prstGeom prst="roundRect">
            <a:avLst/>
          </a:prstGeom>
          <a:solidFill>
            <a:srgbClr val="E5EFFA"/>
          </a:solidFill>
          <a:ln>
            <a:solidFill>
              <a:srgbClr val="25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590288"/>
            <a:ext cx="10186416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1">
                <a:solidFill>
                  <a:srgbClr val="2563A3"/>
                </a:solidFill>
              </a:defRPr>
            </a:pPr>
            <a:r>
              <a:t>Fuente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19471"/>
            <a:ext cx="10186416" cy="2743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30" b="0">
                <a:solidFill>
                  <a:srgbClr val="1E2124"/>
                </a:solidFill>
              </a:defRPr>
            </a:pPr>
            <a:r>
              <a:t>Diagrama de Flujo-2026B.pdf – reglas de claridad, sentido del flujo y evitar cruces.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5F6770"/>
                </a:solidFill>
              </a:defRPr>
            </a:pPr>
            <a:r>
              <a:t>Los diagramas están simplificados para que sean legibles en una exposición. Pueden ampliarse en Bizagi si el docente solicita mayor nivel de detalle.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
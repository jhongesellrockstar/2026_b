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pic>
        <p:nvPicPr>
          <p:cNvPr id="7" name="Picture 6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1115568" cy="1115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594360"/>
            <a:ext cx="96926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1">
                <a:solidFill>
                  <a:srgbClr val="113765"/>
                </a:solidFill>
              </a:defRPr>
            </a:pPr>
            <a:r>
              <a:t>Universidad Nacional del Callao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932688"/>
            <a:ext cx="96926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5F6770"/>
                </a:solidFill>
              </a:defRPr>
            </a:pPr>
            <a:r>
              <a:t>Escuela Profesional de Ingeniería de Sistemas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27632"/>
            <a:ext cx="10972800" cy="685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3100" b="1">
                <a:solidFill>
                  <a:srgbClr val="113765"/>
                </a:solidFill>
              </a:defRPr>
            </a:pPr>
            <a:r>
              <a:t>Laboratorio 7 · BPMN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10698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1E2124"/>
                </a:solidFill>
              </a:defRPr>
            </a:pPr>
            <a:r>
              <a:t>Cita externa, urgencias y quirófano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69848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2563A3"/>
                </a:solidFill>
              </a:defRPr>
            </a:pPr>
            <a:r>
              <a:t>Docente: Ing. Eddie Malca Vicente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5349240" cy="150876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13048"/>
            <a:ext cx="5020055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Grupo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142231"/>
            <a:ext cx="5020055" cy="10058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Pinto Pante Gabriela Betsabé</a:t>
            </a:r>
            <a:br/>
            <a:r>
              <a:t>Santos Benites Juan José</a:t>
            </a:r>
            <a:br/>
            <a:r>
              <a:t>Villanueva Portella Jhon Gesell</a:t>
            </a:r>
            <a:br/>
            <a:r>
              <a:t>Escalante Matta Juan José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5212080" cy="150876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813048"/>
            <a:ext cx="488289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Criterio de resolución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142231"/>
            <a:ext cx="4882896" cy="10058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Modelos BPMN simplificados, legibles y coherentes con los materiales del docente. Se prioriza el flujo lógico, roles, decisiones y eventos relevantes.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687568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5F6770"/>
                </a:solidFill>
              </a:defRPr>
            </a:pPr>
            <a:r>
              <a:t>Archivo editable para revisión final del grupo antes de subir a la plataforma.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Caso 1A · Cita en consultorio externo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Programación de la cita y recordatorio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Programación de citas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21717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21168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Recepción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3287268"/>
            <a:ext cx="10927080" cy="217170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3314699"/>
            <a:ext cx="822960" cy="21168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Paciente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16052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Solicitud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4005072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Pedir cita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97480" y="422452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63240" y="2651760"/>
            <a:ext cx="128016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Consultar cuadro y disponibilidad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97480" y="4297680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880360" y="2944368"/>
            <a:ext cx="0" cy="135331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80360" y="294436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4709160" y="2724912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209544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¿Disponible?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43400" y="2944368"/>
            <a:ext cx="3657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77840" y="2240280"/>
            <a:ext cx="123444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Registrar cita en cuadrante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66360" y="294436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349240" y="2523744"/>
            <a:ext cx="0" cy="420624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49240" y="2523744"/>
            <a:ext cx="228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178040" y="2240280"/>
            <a:ext cx="10972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Confirmar cita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858000" y="2441448"/>
            <a:ext cx="27432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41080" y="235915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7" y="2409444"/>
            <a:ext cx="274320" cy="128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0">
                <a:solidFill>
                  <a:srgbClr val="2563A3"/>
                </a:solidFill>
              </a:defRPr>
            </a:pPr>
            <a:r>
              <a:t>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715768"/>
            <a:ext cx="777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0">
                <a:solidFill>
                  <a:srgbClr val="1E2124"/>
                </a:solidFill>
              </a:defRPr>
            </a:pPr>
            <a:r>
              <a:t>2 días antes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2240280"/>
            <a:ext cx="123444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Recordar por llamada o SMS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3429000"/>
            <a:ext cx="123444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Proponer otro horario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37760" y="3182112"/>
            <a:ext cx="0" cy="539496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937760" y="3721608"/>
            <a:ext cx="6400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812280" y="372160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995160" y="2944368"/>
            <a:ext cx="0" cy="77724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eft Arrow 40"/>
          <p:cNvSpPr/>
          <p:nvPr/>
        </p:nvSpPr>
        <p:spPr>
          <a:xfrm>
            <a:off x="4343400" y="2871216"/>
            <a:ext cx="365760" cy="164592"/>
          </a:xfrm>
          <a:prstGeom prst="lef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89920" y="2331720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07040" y="2697479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Cita programada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10469880" y="2414016"/>
            <a:ext cx="27432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La recepción gestiona indistintamente solicitudes telefónicas o presenciales, valida disponibilidad, registra la cita y envía recordatorio cuando corresponde.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Caso 1B · Cita en consultorio externo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Atención del paciente y cierre diario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Atención de cita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108585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Médico / Servicio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201418"/>
            <a:ext cx="10927080" cy="108585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2228849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Sala de espera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287268"/>
            <a:ext cx="10927080" cy="108585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22960" y="3314699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Recepción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" y="4373118"/>
            <a:ext cx="10927080" cy="108585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16200000">
            <a:off x="822960" y="4400550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Paciente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16052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Día de cita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4005072"/>
            <a:ext cx="11887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Confirmar llegada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97480" y="422452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63240" y="2560320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Indicar sala de espera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97480" y="4297680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880360" y="2852928"/>
            <a:ext cx="0" cy="144475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880360" y="285292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0" y="1143000"/>
            <a:ext cx="11887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Llamar al paciente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97680" y="285292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434840" y="1435608"/>
            <a:ext cx="0" cy="141732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34840" y="143560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89320" y="868680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Atender consulta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06440" y="1353312"/>
            <a:ext cx="164592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43800" y="868680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Elaborar informe / receta / volante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269480" y="1353312"/>
            <a:ext cx="22860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9144000" y="932688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9408" y="1417320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¿Prueba adicional?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2057400"/>
            <a:ext cx="118872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Programar prueba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72600" y="1389888"/>
            <a:ext cx="0" cy="950976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72600" y="2340864"/>
            <a:ext cx="5943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989320" y="2560320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Registrar asistencia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166360" y="1737360"/>
            <a:ext cx="0" cy="111556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66360" y="2852928"/>
            <a:ext cx="8229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89520" y="2560320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Entregar lista diaria a recepción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269480" y="2779776"/>
            <a:ext cx="27432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35640" y="3977639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52760" y="434340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23960" y="2852928"/>
            <a:ext cx="16002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424160" y="2852928"/>
            <a:ext cx="0" cy="1280159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424160" y="4133087"/>
            <a:ext cx="4114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El día de la consulta se registra la comparecencia, se atiende al paciente y se documenta el resultado. Si se requiere prueba adicional, se genera una nueva cita.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Caso 2 · Urgencias en un hospital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Prioridad clínica, pruebas y decisión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Atención de urgencias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Médico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563368"/>
            <a:ext cx="10927080" cy="144780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2590799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Enfermería / Triaje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40111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22960" y="40386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Admisión / Paciente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06908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Ingreso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913632"/>
            <a:ext cx="109728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Registrar datos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51760" y="4133087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17520" y="2788920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Realizar triaje / RAC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06040" y="4206240"/>
            <a:ext cx="228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834640" y="3081528"/>
            <a:ext cx="0" cy="112471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34640" y="308152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26280" y="2788920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Asignar prioridad y zona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297680" y="2999232"/>
            <a:ext cx="1828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89320" y="1143000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Evaluar paciente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60720" y="3081528"/>
            <a:ext cx="9144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852160" y="1435608"/>
            <a:ext cx="0" cy="164592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52160" y="143560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06640" y="2788920"/>
            <a:ext cx="11887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Realizar pruebas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65392" y="1737360"/>
            <a:ext cx="0" cy="134416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65392" y="3081528"/>
            <a:ext cx="841248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915400" y="1143000"/>
            <a:ext cx="11887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Revisar resultados y diagnosticar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95360" y="308152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32520" y="1435608"/>
            <a:ext cx="0" cy="164592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32520" y="143560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10469880" y="1188720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05288" y="1673352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Resultado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104120" y="1435608"/>
            <a:ext cx="3657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692640" y="1874519"/>
            <a:ext cx="192024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30" b="1">
                <a:solidFill>
                  <a:srgbClr val="113765"/>
                </a:solidFill>
              </a:defRPr>
            </a:pPr>
            <a:r>
              <a:t>Tratamiento · Observación · Ingreso · Alta</a:t>
            </a:r>
          </a:p>
        </p:txBody>
      </p:sp>
      <p:sp>
        <p:nvSpPr>
          <p:cNvPr id="42" name="Oval 41"/>
          <p:cNvSpPr/>
          <p:nvPr/>
        </p:nvSpPr>
        <p:spPr>
          <a:xfrm>
            <a:off x="11201400" y="3977639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18520" y="434340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698480" y="1645920"/>
            <a:ext cx="0" cy="2487167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698480" y="4133087"/>
            <a:ext cx="50292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La atención se ordena por prioridad clínica, no por llegada. Tras pruebas y diagnóstico, el médico decide tratamiento, observación, ingreso o alta.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Caso 3A · Quirófano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Versión 1: modelo simple y generalista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Intervención quirúrgica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428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Proceso quirúrgico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269748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Inicio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2542032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Programar cirugía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88920" y="276148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2542032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Evaluar preanestesia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80560" y="276148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892040" y="2606040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3090672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¿Apto?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011680"/>
            <a:ext cx="114300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Ingresar paciente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49240" y="2834640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532120" y="2286000"/>
            <a:ext cx="0" cy="54864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2286000"/>
            <a:ext cx="228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78040" y="2011680"/>
            <a:ext cx="114300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Realizar cirugía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49440" y="2221992"/>
            <a:ext cx="1828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95360" y="2011680"/>
            <a:ext cx="114300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Recuperar / UCI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66760" y="2221992"/>
            <a:ext cx="1828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0" y="2057400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242316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802368" y="2139696"/>
            <a:ext cx="292608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60720" y="3383280"/>
            <a:ext cx="128016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Solicitar nuevas pruebas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20640" y="3063240"/>
            <a:ext cx="0" cy="612647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20640" y="3675887"/>
            <a:ext cx="6400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40880" y="3675887"/>
            <a:ext cx="27432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315200" y="3200400"/>
            <a:ext cx="0" cy="475487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383280" y="3200400"/>
            <a:ext cx="393192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383280" y="3136392"/>
            <a:ext cx="0" cy="6400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Primera versión: solo se muestran las etapas principales y la decisión de aptitud anestésica, sin detallar roles ni tipos de tarea.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Caso 3B · Quirófano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Versión 2: sendas y tareas concretas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Intervención quirúrgica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108585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Cirugía / Admisión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201418"/>
            <a:ext cx="10927080" cy="108585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2228849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Anestesiología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287268"/>
            <a:ext cx="10927080" cy="108585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22960" y="3314699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Enfermería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" y="4373118"/>
            <a:ext cx="10927080" cy="108585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16200000">
            <a:off x="822960" y="4400550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Celadores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141732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78308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Inicio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1261872"/>
            <a:ext cx="10972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Programar intervención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578608" y="148132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26080" y="2331720"/>
            <a:ext cx="118872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Evaluar preanestesia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60320" y="1554480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43200" y="1554480"/>
            <a:ext cx="0" cy="1060704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43200" y="2615184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4434840" y="2395728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2880360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¿Apto?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1261872"/>
            <a:ext cx="10972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Ingresar paciente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92040" y="262432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074920" y="1545336"/>
            <a:ext cx="0" cy="107899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74920" y="1545336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29400" y="3401568"/>
            <a:ext cx="114300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Realizar controles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55080" y="1545336"/>
            <a:ext cx="9144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46520" y="1545336"/>
            <a:ext cx="0" cy="2139696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46520" y="3685032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mond 36"/>
          <p:cNvSpPr/>
          <p:nvPr/>
        </p:nvSpPr>
        <p:spPr>
          <a:xfrm>
            <a:off x="8092440" y="3474720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7848" y="3959352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¿Correcto?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4480560"/>
            <a:ext cx="10972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Trasladar a quirófano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49640" y="3703320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732520" y="3703320"/>
            <a:ext cx="0" cy="1060704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32520" y="4764024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241280" y="2331720"/>
            <a:ext cx="105156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Operar paciente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012680" y="4764024"/>
            <a:ext cx="4572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058400" y="2615184"/>
            <a:ext cx="0" cy="214884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58400" y="2615184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326880" y="1261872"/>
            <a:ext cx="100584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Recuperación / UCI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1292840" y="2615184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475720" y="1545336"/>
            <a:ext cx="0" cy="106984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0332720" y="1545336"/>
            <a:ext cx="11430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Segunda versión: se separan responsabilidades por carriles y se muestran controles antes del ingreso al quirófano.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Caso 3C · Quirófano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Versión 3: modelo operativo con tipos de tarea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Intervención quirúrgica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108585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Cirugía / Admisión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201418"/>
            <a:ext cx="10927080" cy="108585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2228849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Anestesiología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287268"/>
            <a:ext cx="10927080" cy="108585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22960" y="3314699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Enfermería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" y="4373118"/>
            <a:ext cx="10927080" cy="108585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16200000">
            <a:off x="822960" y="4400550"/>
            <a:ext cx="822960" cy="1030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Celadores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141732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8308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Inicio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1261872"/>
            <a:ext cx="10972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Programar intervención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1289304"/>
            <a:ext cx="438912" cy="182880"/>
          </a:xfrm>
          <a:prstGeom prst="round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USR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487168" y="148132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88920" y="2331720"/>
            <a:ext cx="114300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Valorar preanestesia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16351" y="2359151"/>
            <a:ext cx="438912" cy="182880"/>
          </a:xfrm>
          <a:prstGeom prst="round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USR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14600" y="1545336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51760" y="1545336"/>
            <a:ext cx="0" cy="106984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51760" y="2615184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4251960" y="2395728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87368" y="2880360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¿Apto?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1261872"/>
            <a:ext cx="105156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Registrar ingreso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56632" y="1289304"/>
            <a:ext cx="438912" cy="182880"/>
          </a:xfrm>
          <a:prstGeom prst="round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USR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09160" y="262432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892040" y="1545336"/>
            <a:ext cx="0" cy="107899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92040" y="1545336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355080" y="3246120"/>
            <a:ext cx="10972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Realizar controles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2512" y="3273551"/>
            <a:ext cx="438912" cy="182880"/>
          </a:xfrm>
          <a:prstGeom prst="round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MAN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80760" y="1545336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17920" y="1545336"/>
            <a:ext cx="0" cy="198424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217920" y="3529584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/>
          <p:cNvSpPr/>
          <p:nvPr/>
        </p:nvSpPr>
        <p:spPr>
          <a:xfrm>
            <a:off x="7818120" y="3310128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3528" y="3794760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¿Control OK?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4434840"/>
            <a:ext cx="10972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Trasladar paciente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22792" y="4462272"/>
            <a:ext cx="438912" cy="182880"/>
          </a:xfrm>
          <a:prstGeom prst="round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MAN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75320" y="353872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458200" y="3538728"/>
            <a:ext cx="0" cy="1179576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458200" y="4718304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66960" y="2331720"/>
            <a:ext cx="105156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Checklist quirófano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94392" y="2359151"/>
            <a:ext cx="438912" cy="182880"/>
          </a:xfrm>
          <a:prstGeom prst="round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MAN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92640" y="4718304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829800" y="2615184"/>
            <a:ext cx="0" cy="210312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29800" y="2615184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iamond 52"/>
          <p:cNvSpPr/>
          <p:nvPr/>
        </p:nvSpPr>
        <p:spPr>
          <a:xfrm>
            <a:off x="11201400" y="2395728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36808" y="2880360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¿Checklist OK?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66960" y="1261872"/>
            <a:ext cx="105156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Realizar cirugía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94392" y="1289304"/>
            <a:ext cx="438912" cy="182880"/>
          </a:xfrm>
          <a:prstGeom prst="round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MAN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1430000" y="262432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1567160" y="1545336"/>
            <a:ext cx="0" cy="107899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1018520" y="1545336"/>
            <a:ext cx="54864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138160" y="5257800"/>
            <a:ext cx="3383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1">
                <a:solidFill>
                  <a:srgbClr val="5F6770"/>
                </a:solidFill>
              </a:defRPr>
            </a:pPr>
            <a:r>
              <a:t>USR = tarea de usuario · MAN = tarea manual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Tercera versión: además de roles y decisiones, se caracterizan tareas de usuario y tareas manuales. En Bizagi se pueden sustituir estas etiquetas por los íconos BPMN correspondientes.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Resumen de los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Qué se ha resuelto en el Laboratorio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43000"/>
            <a:ext cx="3429000" cy="132588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252728"/>
            <a:ext cx="30998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Cita externa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581912"/>
            <a:ext cx="3099816" cy="8229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Programación, disponibilidad, recordatorio, comparecencia, atención, informe y posibilidad de prueba adicional.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3429000" cy="132588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252728"/>
            <a:ext cx="30998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Urgencias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581912"/>
            <a:ext cx="3099816" cy="8229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Registro, triaje, prioridad, zona, pruebas, diagnóstico y decisión clínica.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429000" cy="132588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252728"/>
            <a:ext cx="30998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Quirófano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581912"/>
            <a:ext cx="3099816" cy="8229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Tres niveles de detalle: simple, con sendas y operativo con tipos de tareas.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107442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081528"/>
            <a:ext cx="104150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Convenciones aplicadas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410712"/>
            <a:ext cx="10415016" cy="4114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Actividades con verbo + nombre; eventos de inicio/fin; compuertas solo para decisiones; carriles por rol; flujo de izquierda a derecha; sin cruces innecesarios.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60520"/>
            <a:ext cx="10744200" cy="91440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70248"/>
            <a:ext cx="104150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Criterio para Bizagi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1"/>
            <a:ext cx="10415016" cy="4114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Estos diagramas pueden replicarse directamente en Bizagi Modeler. Para la versión operativa conviene usar tareas de usuario/manual/servicio y eventos temporales según el caso.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5F6770"/>
                </a:solidFill>
              </a:defRPr>
            </a:pPr>
            <a:r>
              <a:t>No se añadieron pasos ajenos a la descripción del caso; cuando el texto permitía varias interpretaciones, se eligió la ruta más simple y coherente.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Fuentes utilizadas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Material oficial del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188720"/>
            <a:ext cx="10515600" cy="77724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298448"/>
            <a:ext cx="101864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Fuente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10186416" cy="2743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Laboratorio de DGPO - Modelamiento Procesos-2.pdf.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86000"/>
            <a:ext cx="10515600" cy="77724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95728"/>
            <a:ext cx="101864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Fuente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724912"/>
            <a:ext cx="10186416" cy="2743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BPMN.pdf – símbolos, tareas, eventos, gateways y conectores.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10515600" cy="77724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493008"/>
            <a:ext cx="101864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Fuente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822191"/>
            <a:ext cx="10186416" cy="2743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BPMN 2.0 Poster ES – referencia gráfica.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80559"/>
            <a:ext cx="10515600" cy="77724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590288"/>
            <a:ext cx="101864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Fuente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919471"/>
            <a:ext cx="10186416" cy="2743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Diagrama de Flujo-2026B.pdf – reglas de diagramación y legibilidad.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5F6770"/>
                </a:solidFill>
              </a:defRPr>
            </a:pPr>
            <a:r>
              <a:t>Los modelos fueron preparados como resolución académica del laboratorio y pueden editarse directamente en PowerPoint.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